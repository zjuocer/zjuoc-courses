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350" r:id="rId3"/>
    <p:sldId id="295" r:id="rId4"/>
    <p:sldId id="354" r:id="rId5"/>
    <p:sldId id="361" r:id="rId6"/>
    <p:sldId id="362" r:id="rId7"/>
    <p:sldId id="363" r:id="rId8"/>
    <p:sldId id="364" r:id="rId9"/>
    <p:sldId id="365" r:id="rId10"/>
    <p:sldId id="366" r:id="rId11"/>
    <p:sldId id="367" r:id="rId12"/>
    <p:sldId id="369" r:id="rId13"/>
    <p:sldId id="368" r:id="rId14"/>
    <p:sldId id="370" r:id="rId15"/>
    <p:sldId id="372" r:id="rId16"/>
    <p:sldId id="371" r:id="rId17"/>
    <p:sldId id="373" r:id="rId18"/>
    <p:sldId id="374" r:id="rId19"/>
    <p:sldId id="375" r:id="rId2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35" autoAdjust="0"/>
    <p:restoredTop sz="96310" autoAdjust="0"/>
  </p:normalViewPr>
  <p:slideViewPr>
    <p:cSldViewPr>
      <p:cViewPr>
        <p:scale>
          <a:sx n="70" d="100"/>
          <a:sy n="70" d="100"/>
        </p:scale>
        <p:origin x="-72" y="-3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w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4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04E47-DDCF-4C26-B61B-B7C48A7F62ED}" type="datetimeFigureOut">
              <a:rPr lang="zh-CN" altLang="en-US" smtClean="0"/>
              <a:t>2020/7/23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D4B3-F92E-4454-88A9-1B52D080D3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643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zh-CN" sz="1400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fld id="{F582D0BD-BC72-4371-A99D-2C93502AABF8}" type="slidenum">
              <a:rPr lang="en-GB" altLang="zh-CN">
                <a:solidFill>
                  <a:prstClr val="black"/>
                </a:solidFill>
              </a:rPr>
              <a:pPr/>
              <a:t>1</a:t>
            </a:fld>
            <a:endParaRPr lang="en-GB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3141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542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4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65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035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844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06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250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157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54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2D7D-2CD5-4023-AA6E-28D149C8CA3D}" type="datetimeFigureOut">
              <a:rPr lang="zh-CN" altLang="en-US" smtClean="0"/>
              <a:t>2020/7/23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832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>
            <a:spLocks/>
          </p:cNvSpPr>
          <p:nvPr/>
        </p:nvSpPr>
        <p:spPr bwMode="auto">
          <a:xfrm>
            <a:off x="285750" y="2803525"/>
            <a:ext cx="1588" cy="3035300"/>
          </a:xfrm>
          <a:custGeom>
            <a:avLst/>
            <a:gdLst>
              <a:gd name="T0" fmla="*/ 0 w 1588"/>
              <a:gd name="T1" fmla="*/ 0 h 1912"/>
              <a:gd name="T2" fmla="*/ 0 w 1588"/>
              <a:gd name="T3" fmla="*/ 2147483647 h 1912"/>
              <a:gd name="T4" fmla="*/ 0 w 1588"/>
              <a:gd name="T5" fmla="*/ 2147483647 h 1912"/>
              <a:gd name="T6" fmla="*/ 0 w 1588"/>
              <a:gd name="T7" fmla="*/ 2147483647 h 1912"/>
              <a:gd name="T8" fmla="*/ 0 w 1588"/>
              <a:gd name="T9" fmla="*/ 2147483647 h 1912"/>
              <a:gd name="T10" fmla="*/ 0 w 1588"/>
              <a:gd name="T11" fmla="*/ 2147483647 h 1912"/>
              <a:gd name="T12" fmla="*/ 0 w 1588"/>
              <a:gd name="T13" fmla="*/ 0 h 1912"/>
              <a:gd name="T14" fmla="*/ 0 w 1588"/>
              <a:gd name="T15" fmla="*/ 0 h 191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588" h="1912">
                <a:moveTo>
                  <a:pt x="0" y="0"/>
                </a:moveTo>
                <a:lnTo>
                  <a:pt x="0" y="6"/>
                </a:lnTo>
                <a:lnTo>
                  <a:pt x="0" y="60"/>
                </a:lnTo>
                <a:lnTo>
                  <a:pt x="0" y="1912"/>
                </a:lnTo>
                <a:lnTo>
                  <a:pt x="0" y="0"/>
                </a:lnTo>
                <a:close/>
              </a:path>
            </a:pathLst>
          </a:custGeom>
          <a:solidFill>
            <a:srgbClr val="6BBA2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mtClean="0">
              <a:solidFill>
                <a:srgbClr val="010199"/>
              </a:solidFill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997075"/>
            <a:ext cx="7772400" cy="1431925"/>
          </a:xfrm>
        </p:spPr>
        <p:txBody>
          <a:bodyPr anchor="b" anchorCtr="1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AB603-56F1-40C2-ACFD-A8C109FF9F16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741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44DE39-8B2C-41A3-9C16-35D5160EBD8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681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503062-EDEC-4C87-91EE-231FD9609B7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106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30A5ED-A6B5-4283-954A-ACC5A486AE07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19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B35C2-FF72-4D6E-AFCF-13F1BC21BC71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2759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71F221-A7A0-44E7-BF4D-E2D8DB48BAB6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5289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13BC7E-E1A6-4DFF-9C73-70C4CB633159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5135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2E17FB-1BB7-4D20-9E98-046EE7C33875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8779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A3EAF9-A129-405C-BB96-4BA5CE8D2CDF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7291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79E4B1-B749-43D6-8A03-8567B35D8808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844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92100"/>
            <a:ext cx="2057400" cy="57277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92100"/>
            <a:ext cx="6019800" cy="57277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3389D9-CE6B-4F64-8BC6-C1DFE512AADB}" type="slidenum">
              <a:rPr lang="en-US" altLang="zh-CN">
                <a:solidFill>
                  <a:srgbClr val="010199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91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F2D7D-2CD5-4023-AA6E-28D149C8CA3D}" type="datetimeFigureOut">
              <a:rPr lang="zh-CN" altLang="en-US" smtClean="0"/>
              <a:t>2020/7/23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FBD05-DAF7-476E-AC3A-FF9D90405B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651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92100"/>
            <a:ext cx="82296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10199"/>
              </a:solidFill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BE02CC3-7F54-4444-B682-87D61477DCDF}" type="slidenum">
              <a:rPr lang="en-US" altLang="zh-CN">
                <a:solidFill>
                  <a:srgbClr val="01019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101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468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Tahoma" pitchFamily="34" charset="0"/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Tahoma" pitchFamily="34" charset="0"/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2.bin"/><Relationship Id="rId12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hyperlink" Target="&#33292;&#23574;&#19978;&#30340;&#20013;&#22269;&#65288;&#31532;&#20845;&#38598;.rmvb" TargetMode="External"/><Relationship Id="rId11" Type="http://schemas.openxmlformats.org/officeDocument/2006/relationships/image" Target="../media/image6.emf"/><Relationship Id="rId5" Type="http://schemas.openxmlformats.org/officeDocument/2006/relationships/image" Target="../media/image7.png"/><Relationship Id="rId10" Type="http://schemas.openxmlformats.org/officeDocument/2006/relationships/oleObject" Target="../embeddings/oleObject3.bin"/><Relationship Id="rId4" Type="http://schemas.openxmlformats.org/officeDocument/2006/relationships/image" Target="../media/image4.emf"/><Relationship Id="rId9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1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2.png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3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7" Type="http://schemas.openxmlformats.org/officeDocument/2006/relationships/image" Target="../media/image27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7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7" Type="http://schemas.openxmlformats.org/officeDocument/2006/relationships/image" Target="../media/image3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33.jpeg"/><Relationship Id="rId4" Type="http://schemas.openxmlformats.org/officeDocument/2006/relationships/image" Target="../media/image31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1259632" y="1052736"/>
            <a:ext cx="6364288" cy="2884152"/>
          </a:xfrm>
        </p:spPr>
        <p:txBody>
          <a:bodyPr/>
          <a:lstStyle/>
          <a:p>
            <a:pPr eaLnBrk="1"/>
            <a:r>
              <a:rPr lang="zh-CN" altLang="en-US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  <a:t>海洋天然产物化学</a:t>
            </a:r>
            <a:r>
              <a:rPr lang="en-US" altLang="zh-CN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  <a:t/>
            </a:r>
            <a:br>
              <a:rPr lang="en-US" altLang="zh-CN" sz="5400" b="1" dirty="0" smtClean="0">
                <a:solidFill>
                  <a:schemeClr val="tx1"/>
                </a:solidFill>
                <a:effectLst/>
                <a:latin typeface="微软雅黑" pitchFamily="34" charset="-122"/>
                <a:ea typeface="微软雅黑" pitchFamily="34" charset="-122"/>
                <a:cs typeface="Calibri" pitchFamily="34" charset="0"/>
              </a:rPr>
            </a:br>
            <a:r>
              <a:rPr lang="en-US" altLang="zh-CN" sz="5400" b="1" dirty="0" smtClean="0">
                <a:solidFill>
                  <a:schemeClr val="tx1"/>
                </a:solidFill>
                <a:effectLst/>
                <a:latin typeface="Times New Roman" pitchFamily="18" charset="0"/>
                <a:ea typeface="华文楷体" pitchFamily="2" charset="-122"/>
                <a:cs typeface="Times New Roman" pitchFamily="18" charset="0"/>
              </a:rPr>
              <a:t>Marine Natural Product Chemistry</a:t>
            </a:r>
            <a:endParaRPr lang="en-GB" altLang="zh-CN" sz="5400" b="1" dirty="0" smtClean="0">
              <a:solidFill>
                <a:schemeClr val="tx1"/>
              </a:solidFill>
              <a:effectLst/>
              <a:latin typeface="Times New Roman" pitchFamily="18" charset="0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52003" y="4437112"/>
            <a:ext cx="8884890" cy="1970063"/>
          </a:xfrm>
        </p:spPr>
        <p:txBody>
          <a:bodyPr/>
          <a:lstStyle/>
          <a:p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徐金钟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r>
              <a:rPr lang="en-US" altLang="zh-CN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xujinzhong@zju.edu.cn</a:t>
            </a:r>
            <a:endParaRPr lang="en-GB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pPr eaLnBrk="1" hangingPunct="1"/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海洋生物与药物研究所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  <a:p>
            <a:pPr eaLnBrk="1" hangingPunct="1"/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浙江大学</a:t>
            </a:r>
            <a:r>
              <a:rPr lang="en-US" altLang="zh-CN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/</a:t>
            </a:r>
            <a:r>
              <a:rPr lang="zh-CN" altLang="en-US" sz="2400" b="1" dirty="0" smtClean="0">
                <a:effectLst/>
                <a:latin typeface="等线" pitchFamily="2" charset="-122"/>
                <a:ea typeface="等线" pitchFamily="2" charset="-122"/>
                <a:cs typeface="Calibri" pitchFamily="34" charset="0"/>
              </a:rPr>
              <a:t>海洋学院</a:t>
            </a:r>
            <a:endParaRPr lang="en-US" altLang="zh-CN" sz="2400" b="1" dirty="0" smtClean="0">
              <a:effectLst/>
              <a:latin typeface="等线" pitchFamily="2" charset="-122"/>
              <a:ea typeface="等线" pitchFamily="2" charset="-122"/>
              <a:cs typeface="Calibri" pitchFamily="34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43089"/>
            <a:ext cx="1152525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525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87365" y="980728"/>
            <a:ext cx="87129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 smtClean="0">
                <a:latin typeface="微软雅黑" pitchFamily="34" charset="-122"/>
                <a:ea typeface="微软雅黑" pitchFamily="34" charset="-122"/>
              </a:rPr>
              <a:t>海洋天然产物化学研究简史</a:t>
            </a:r>
            <a:endParaRPr lang="zh-CN" altLang="en-US" sz="5400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993206"/>
            <a:ext cx="5035277" cy="462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971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764704"/>
            <a:ext cx="8229600" cy="1143000"/>
          </a:xfrm>
        </p:spPr>
        <p:txBody>
          <a:bodyPr/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海洋天然产物化学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发展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简史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35696" y="2060848"/>
            <a:ext cx="5832648" cy="4104456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古代海洋生物药用经验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孕育期：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1960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年以前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形成期：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1960-1980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年间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快速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发展期：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1980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年代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成熟期：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1990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年以后</a:t>
            </a:r>
            <a:endParaRPr lang="zh-CN" altLang="en-US" sz="3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64088" y="6412686"/>
            <a:ext cx="3469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史清文 等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天然药物化学史话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》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9051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3" y="260648"/>
            <a:ext cx="7272808" cy="1080120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古代海洋生物药用经验，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主要是中国</a:t>
            </a:r>
            <a:endParaRPr lang="en-US" altLang="zh-CN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052736"/>
            <a:ext cx="7416824" cy="3718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123728" y="4941168"/>
            <a:ext cx="597666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latin typeface="微软雅黑" pitchFamily="34" charset="-122"/>
                <a:ea typeface="微软雅黑" pitchFamily="34" charset="-122"/>
              </a:rPr>
              <a:t>春秋战国：阜阳双谷堆简牍</a:t>
            </a:r>
            <a:r>
              <a:rPr lang="en-US" altLang="zh-CN" sz="2200" dirty="0" smtClean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2200" dirty="0" smtClean="0">
                <a:latin typeface="微软雅黑" pitchFamily="34" charset="-122"/>
                <a:ea typeface="微软雅黑" pitchFamily="34" charset="-122"/>
              </a:rPr>
              <a:t>万物</a:t>
            </a:r>
            <a:r>
              <a:rPr lang="en-US" altLang="zh-CN" sz="2200" dirty="0" smtClean="0">
                <a:latin typeface="微软雅黑" pitchFamily="34" charset="-122"/>
                <a:ea typeface="微软雅黑" pitchFamily="34" charset="-122"/>
              </a:rPr>
              <a:t>》</a:t>
            </a:r>
          </a:p>
          <a:p>
            <a:r>
              <a:rPr lang="zh-CN" altLang="en-US" sz="2200" dirty="0" smtClean="0">
                <a:latin typeface="微软雅黑" pitchFamily="34" charset="-122"/>
                <a:ea typeface="微软雅黑" pitchFamily="34" charset="-122"/>
              </a:rPr>
              <a:t>汉代：</a:t>
            </a:r>
            <a:r>
              <a:rPr lang="en-US" altLang="zh-CN" sz="2200" dirty="0" smtClean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2200" dirty="0" smtClean="0">
                <a:latin typeface="微软雅黑" pitchFamily="34" charset="-122"/>
                <a:ea typeface="微软雅黑" pitchFamily="34" charset="-122"/>
              </a:rPr>
              <a:t>神农本草金</a:t>
            </a:r>
            <a:r>
              <a:rPr lang="en-US" altLang="zh-CN" sz="2200" dirty="0" smtClean="0">
                <a:latin typeface="微软雅黑" pitchFamily="34" charset="-122"/>
                <a:ea typeface="微软雅黑" pitchFamily="34" charset="-122"/>
              </a:rPr>
              <a:t>》《</a:t>
            </a:r>
            <a:r>
              <a:rPr lang="zh-CN" altLang="en-US" sz="2200" dirty="0" smtClean="0">
                <a:latin typeface="微软雅黑" pitchFamily="34" charset="-122"/>
                <a:ea typeface="微软雅黑" pitchFamily="34" charset="-122"/>
              </a:rPr>
              <a:t>伤寒杂病论</a:t>
            </a:r>
            <a:r>
              <a:rPr lang="en-US" altLang="zh-CN" sz="2200" dirty="0" smtClean="0">
                <a:latin typeface="微软雅黑" pitchFamily="34" charset="-122"/>
                <a:ea typeface="微软雅黑" pitchFamily="34" charset="-122"/>
              </a:rPr>
              <a:t>》</a:t>
            </a:r>
          </a:p>
          <a:p>
            <a:r>
              <a:rPr lang="zh-CN" altLang="en-US" sz="2200" dirty="0" smtClean="0">
                <a:latin typeface="微软雅黑" pitchFamily="34" charset="-122"/>
                <a:ea typeface="微软雅黑" pitchFamily="34" charset="-122"/>
              </a:rPr>
              <a:t>唐代：</a:t>
            </a:r>
            <a:r>
              <a:rPr lang="en-US" altLang="zh-CN" sz="2200" dirty="0" smtClean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2200" dirty="0" smtClean="0">
                <a:latin typeface="微软雅黑" pitchFamily="34" charset="-122"/>
                <a:ea typeface="微软雅黑" pitchFamily="34" charset="-122"/>
              </a:rPr>
              <a:t>唐本草</a:t>
            </a:r>
            <a:r>
              <a:rPr lang="en-US" altLang="zh-CN" sz="2200" dirty="0" smtClean="0">
                <a:latin typeface="微软雅黑" pitchFamily="34" charset="-122"/>
                <a:ea typeface="微软雅黑" pitchFamily="34" charset="-122"/>
              </a:rPr>
              <a:t>》《</a:t>
            </a:r>
            <a:r>
              <a:rPr lang="zh-CN" altLang="en-US" sz="2200" dirty="0" smtClean="0">
                <a:latin typeface="微软雅黑" pitchFamily="34" charset="-122"/>
                <a:ea typeface="微软雅黑" pitchFamily="34" charset="-122"/>
              </a:rPr>
              <a:t>千金要方</a:t>
            </a:r>
            <a:r>
              <a:rPr lang="en-US" altLang="zh-CN" sz="2200" dirty="0" smtClean="0">
                <a:latin typeface="微软雅黑" pitchFamily="34" charset="-122"/>
                <a:ea typeface="微软雅黑" pitchFamily="34" charset="-122"/>
              </a:rPr>
              <a:t>》</a:t>
            </a:r>
          </a:p>
          <a:p>
            <a:r>
              <a:rPr lang="zh-CN" altLang="en-US" sz="2200" dirty="0" smtClean="0">
                <a:latin typeface="微软雅黑" pitchFamily="34" charset="-122"/>
                <a:ea typeface="微软雅黑" pitchFamily="34" charset="-122"/>
              </a:rPr>
              <a:t>宋代：</a:t>
            </a:r>
            <a:r>
              <a:rPr lang="en-US" altLang="zh-CN" sz="2200" dirty="0" smtClean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2200" dirty="0" smtClean="0">
                <a:latin typeface="微软雅黑" pitchFamily="34" charset="-122"/>
                <a:ea typeface="微软雅黑" pitchFamily="34" charset="-122"/>
              </a:rPr>
              <a:t>太平惠民合剂局方</a:t>
            </a:r>
            <a:r>
              <a:rPr lang="en-US" altLang="zh-CN" sz="2200" dirty="0" smtClean="0">
                <a:latin typeface="微软雅黑" pitchFamily="34" charset="-122"/>
                <a:ea typeface="微软雅黑" pitchFamily="34" charset="-122"/>
              </a:rPr>
              <a:t>》</a:t>
            </a:r>
          </a:p>
          <a:p>
            <a:r>
              <a:rPr lang="zh-CN" altLang="en-US" sz="2200" dirty="0" smtClean="0">
                <a:latin typeface="微软雅黑" pitchFamily="34" charset="-122"/>
                <a:ea typeface="微软雅黑" pitchFamily="34" charset="-122"/>
              </a:rPr>
              <a:t>明代</a:t>
            </a:r>
            <a:r>
              <a:rPr lang="zh-CN" altLang="en-US" sz="2200" dirty="0" smtClean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：</a:t>
            </a:r>
            <a:r>
              <a:rPr lang="en-US" altLang="zh-CN" sz="2200" dirty="0" smtClean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《</a:t>
            </a:r>
            <a:r>
              <a:rPr lang="zh-CN" altLang="en-US" sz="2200" dirty="0" smtClean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本草纲目</a:t>
            </a:r>
            <a:r>
              <a:rPr lang="en-US" altLang="zh-CN" sz="2200" dirty="0" smtClean="0">
                <a:latin typeface="微软雅黑" pitchFamily="34" charset="-122"/>
                <a:ea typeface="微软雅黑" pitchFamily="34" charset="-122"/>
                <a:sym typeface="Wingdings" pitchFamily="2" charset="2"/>
              </a:rPr>
              <a:t>》</a:t>
            </a:r>
            <a:endParaRPr lang="zh-CN" altLang="en-US" sz="2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020272" y="6534501"/>
            <a:ext cx="18517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i="1" dirty="0" smtClean="0"/>
              <a:t>中华医史杂志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2009.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4428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3" y="260648"/>
            <a:ext cx="7272808" cy="1080120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孕育期：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1960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以前，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零星发现</a:t>
            </a:r>
            <a:endParaRPr lang="en-US" altLang="zh-CN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5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2826576"/>
              </p:ext>
            </p:extLst>
          </p:nvPr>
        </p:nvGraphicFramePr>
        <p:xfrm>
          <a:off x="3774553" y="4201965"/>
          <a:ext cx="1798567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" name="CS ChemDraw Drawing" r:id="rId3" imgW="1264492" imgH="708210" progId="ChemDraw.Document.6.0">
                  <p:embed/>
                </p:oleObj>
              </mc:Choice>
              <mc:Fallback>
                <p:oleObj name="CS ChemDraw Drawing" r:id="rId3" imgW="1264492" imgH="708210" progId="ChemDraw.Document.6.0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4553" y="4201965"/>
                        <a:ext cx="1798567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23"/>
          <p:cNvSpPr txBox="1">
            <a:spLocks noChangeArrowheads="1"/>
          </p:cNvSpPr>
          <p:nvPr/>
        </p:nvSpPr>
        <p:spPr bwMode="auto">
          <a:xfrm>
            <a:off x="3846561" y="5402115"/>
            <a:ext cx="21403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沙蚕</a:t>
            </a:r>
            <a:r>
              <a:rPr lang="zh-CN" altLang="en-US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毒素（</a:t>
            </a:r>
            <a:r>
              <a:rPr lang="en-US" altLang="zh-CN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1934</a:t>
            </a:r>
            <a:r>
              <a:rPr lang="zh-CN" altLang="en-US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49" y="4009878"/>
            <a:ext cx="1997075" cy="1392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右箭头 19"/>
          <p:cNvSpPr>
            <a:spLocks noChangeArrowheads="1"/>
          </p:cNvSpPr>
          <p:nvPr/>
        </p:nvSpPr>
        <p:spPr bwMode="auto">
          <a:xfrm>
            <a:off x="2989287" y="4705203"/>
            <a:ext cx="576262" cy="338137"/>
          </a:xfrm>
          <a:prstGeom prst="rightArrow">
            <a:avLst>
              <a:gd name="adj1" fmla="val 50000"/>
              <a:gd name="adj2" fmla="val 49951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400">
              <a:solidFill>
                <a:srgbClr val="3399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26"/>
          <p:cNvSpPr txBox="1">
            <a:spLocks noChangeArrowheads="1"/>
          </p:cNvSpPr>
          <p:nvPr/>
        </p:nvSpPr>
        <p:spPr bwMode="auto">
          <a:xfrm>
            <a:off x="944587" y="5387828"/>
            <a:ext cx="1346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异足索沙蚕</a:t>
            </a:r>
          </a:p>
        </p:txBody>
      </p:sp>
      <p:graphicFrame>
        <p:nvGraphicFramePr>
          <p:cNvPr id="2" name="对象 1">
            <a:hlinkClick r:id="rId6" action="ppaction://hlinkfile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111095"/>
              </p:ext>
            </p:extLst>
          </p:nvPr>
        </p:nvGraphicFramePr>
        <p:xfrm>
          <a:off x="3693979" y="1820275"/>
          <a:ext cx="2220913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" name="CS ChemDraw Drawing" r:id="rId7" imgW="2219816" imgH="1103062" progId="ChemDraw.Document.6.0">
                  <p:embed/>
                </p:oleObj>
              </mc:Choice>
              <mc:Fallback>
                <p:oleObj name="CS ChemDraw Drawing" r:id="rId7" imgW="2219816" imgH="1103062" progId="ChemDraw.Document.6.0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3979" y="1820275"/>
                        <a:ext cx="2220913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右箭头 19"/>
          <p:cNvSpPr>
            <a:spLocks noChangeArrowheads="1"/>
          </p:cNvSpPr>
          <p:nvPr/>
        </p:nvSpPr>
        <p:spPr bwMode="auto">
          <a:xfrm>
            <a:off x="2901043" y="2203657"/>
            <a:ext cx="576262" cy="338137"/>
          </a:xfrm>
          <a:prstGeom prst="rightArrow">
            <a:avLst>
              <a:gd name="adj1" fmla="val 50000"/>
              <a:gd name="adj2" fmla="val 49951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400">
              <a:solidFill>
                <a:srgbClr val="3399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TextBox 23"/>
          <p:cNvSpPr txBox="1">
            <a:spLocks noChangeArrowheads="1"/>
          </p:cNvSpPr>
          <p:nvPr/>
        </p:nvSpPr>
        <p:spPr bwMode="auto">
          <a:xfrm>
            <a:off x="3910716" y="3047445"/>
            <a:ext cx="21403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谷氨酸钠（</a:t>
            </a:r>
            <a:r>
              <a:rPr lang="en-US" altLang="zh-CN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1908</a:t>
            </a:r>
            <a:r>
              <a:rPr lang="zh-CN" altLang="en-US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31" name="Picture 7" descr="https://timgsa.baidu.com/timg?image&amp;quality=80&amp;size=b9999_10000&amp;sec=1586409620087&amp;di=81f357c103ab66d1411491d14775900a&amp;imgtype=0&amp;src=http%3A%2F%2Fimg1.99114.com%2Fgroup1%2FM00%2F18%2FCE%2FwKgGTFXAgq-AVfILAAYeo2SqjxU099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V="1">
            <a:off x="963374" y="1450520"/>
            <a:ext cx="1659746" cy="1659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26"/>
          <p:cNvSpPr txBox="1">
            <a:spLocks noChangeArrowheads="1"/>
          </p:cNvSpPr>
          <p:nvPr/>
        </p:nvSpPr>
        <p:spPr bwMode="auto">
          <a:xfrm>
            <a:off x="1605774" y="3145669"/>
            <a:ext cx="6495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海带</a:t>
            </a:r>
            <a:endParaRPr lang="zh-CN" altLang="en-US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923413"/>
              </p:ext>
            </p:extLst>
          </p:nvPr>
        </p:nvGraphicFramePr>
        <p:xfrm>
          <a:off x="6416589" y="4365104"/>
          <a:ext cx="2369853" cy="90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9" name="CS ChemDraw Drawing" r:id="rId10" imgW="1691302" imgH="644220" progId="ChemDraw.Document.6.0">
                  <p:embed/>
                </p:oleObj>
              </mc:Choice>
              <mc:Fallback>
                <p:oleObj name="CS ChemDraw Drawing" r:id="rId10" imgW="1691302" imgH="64422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416589" y="4365104"/>
                        <a:ext cx="2369853" cy="903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23"/>
          <p:cNvSpPr txBox="1">
            <a:spLocks noChangeArrowheads="1"/>
          </p:cNvSpPr>
          <p:nvPr/>
        </p:nvSpPr>
        <p:spPr bwMode="auto">
          <a:xfrm>
            <a:off x="6932102" y="5403555"/>
            <a:ext cx="13388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杀虫剂巴丹</a:t>
            </a:r>
            <a:endParaRPr lang="zh-CN" altLang="en-US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右箭头 19"/>
          <p:cNvSpPr>
            <a:spLocks noChangeArrowheads="1"/>
          </p:cNvSpPr>
          <p:nvPr/>
        </p:nvSpPr>
        <p:spPr bwMode="auto">
          <a:xfrm>
            <a:off x="5698760" y="4683624"/>
            <a:ext cx="576262" cy="338137"/>
          </a:xfrm>
          <a:prstGeom prst="rightArrow">
            <a:avLst>
              <a:gd name="adj1" fmla="val 50000"/>
              <a:gd name="adj2" fmla="val 49951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400">
              <a:solidFill>
                <a:srgbClr val="3399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右箭头 19"/>
          <p:cNvSpPr>
            <a:spLocks noChangeArrowheads="1"/>
          </p:cNvSpPr>
          <p:nvPr/>
        </p:nvSpPr>
        <p:spPr bwMode="auto">
          <a:xfrm>
            <a:off x="6144198" y="2203657"/>
            <a:ext cx="576262" cy="338137"/>
          </a:xfrm>
          <a:prstGeom prst="rightArrow">
            <a:avLst>
              <a:gd name="adj1" fmla="val 50000"/>
              <a:gd name="adj2" fmla="val 49951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400">
              <a:solidFill>
                <a:srgbClr val="3399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61" name="Picture 37" descr="https://ss1.bdstatic.com/70cFvXSh_Q1YnxGkpoWK1HF6hhy/it/u=3350219773,2503281310&amp;fm=26&amp;gp=0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2668" y="1637372"/>
            <a:ext cx="1377118" cy="137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6"/>
          <p:cNvSpPr txBox="1">
            <a:spLocks noChangeArrowheads="1"/>
          </p:cNvSpPr>
          <p:nvPr/>
        </p:nvSpPr>
        <p:spPr bwMode="auto">
          <a:xfrm>
            <a:off x="7153975" y="3110265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商品味精</a:t>
            </a:r>
            <a:endParaRPr lang="zh-CN" altLang="en-US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579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3" y="260648"/>
            <a:ext cx="7272808" cy="1080120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孕育期：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1960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以前，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零星发现</a:t>
            </a:r>
            <a:endParaRPr lang="en-US" altLang="zh-CN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170787"/>
              </p:ext>
            </p:extLst>
          </p:nvPr>
        </p:nvGraphicFramePr>
        <p:xfrm>
          <a:off x="2101076" y="1412776"/>
          <a:ext cx="5040560" cy="185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CS ChemDraw Drawing" r:id="rId3" imgW="3332360" imgH="1224990" progId="ChemDraw.Document.6.0">
                  <p:embed/>
                </p:oleObj>
              </mc:Choice>
              <mc:Fallback>
                <p:oleObj name="CS ChemDraw Drawing" r:id="rId3" imgW="3332360" imgH="12249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01076" y="1412776"/>
                        <a:ext cx="5040560" cy="1853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23"/>
          <p:cNvSpPr txBox="1">
            <a:spLocks noChangeArrowheads="1"/>
          </p:cNvSpPr>
          <p:nvPr/>
        </p:nvSpPr>
        <p:spPr bwMode="auto">
          <a:xfrm>
            <a:off x="3707904" y="3363589"/>
            <a:ext cx="22958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头孢菌素</a:t>
            </a:r>
            <a:r>
              <a:rPr lang="en-US" altLang="zh-CN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1948</a:t>
            </a:r>
            <a:r>
              <a:rPr lang="zh-CN" altLang="en-US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087" y="4365104"/>
            <a:ext cx="2914650" cy="172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6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584040"/>
              </p:ext>
            </p:extLst>
          </p:nvPr>
        </p:nvGraphicFramePr>
        <p:xfrm>
          <a:off x="5892799" y="4204418"/>
          <a:ext cx="1739899" cy="1635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CS ChemDraw Drawing" r:id="rId6" imgW="1325542" imgH="1246050" progId="ChemDraw.Document.6.0">
                  <p:embed/>
                </p:oleObj>
              </mc:Choice>
              <mc:Fallback>
                <p:oleObj name="CS ChemDraw Drawing" r:id="rId6" imgW="1325542" imgH="1246050" progId="ChemDraw.Document.6.0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2799" y="4204418"/>
                        <a:ext cx="1739899" cy="16357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7"/>
          <p:cNvSpPr>
            <a:spLocks noChangeArrowheads="1"/>
          </p:cNvSpPr>
          <p:nvPr/>
        </p:nvSpPr>
        <p:spPr bwMode="auto">
          <a:xfrm>
            <a:off x="5722937" y="5901886"/>
            <a:ext cx="21403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海人</a:t>
            </a:r>
            <a:r>
              <a:rPr lang="zh-CN" altLang="en-US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草酸（</a:t>
            </a:r>
            <a:r>
              <a:rPr lang="en-US" altLang="zh-CN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1955</a:t>
            </a:r>
            <a:r>
              <a:rPr lang="zh-CN" altLang="en-US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右箭头 19"/>
          <p:cNvSpPr>
            <a:spLocks noChangeArrowheads="1"/>
          </p:cNvSpPr>
          <p:nvPr/>
        </p:nvSpPr>
        <p:spPr bwMode="auto">
          <a:xfrm>
            <a:off x="4932040" y="5060429"/>
            <a:ext cx="576262" cy="338137"/>
          </a:xfrm>
          <a:prstGeom prst="rightArrow">
            <a:avLst>
              <a:gd name="adj1" fmla="val 50000"/>
              <a:gd name="adj2" fmla="val 49951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400">
              <a:solidFill>
                <a:srgbClr val="3399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64980" y="6103649"/>
            <a:ext cx="27382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海人</a:t>
            </a:r>
            <a:r>
              <a:rPr lang="zh-CN" altLang="en-US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草</a:t>
            </a:r>
            <a:r>
              <a:rPr lang="en-US" altLang="zh-CN" b="1" i="1" dirty="0" err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Digenia</a:t>
            </a:r>
            <a:r>
              <a:rPr lang="en-US" altLang="zh-CN" b="1" i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i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simplex</a:t>
            </a:r>
            <a:endParaRPr lang="en-US" altLang="zh-CN" b="1" i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117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3" y="260648"/>
            <a:ext cx="7272808" cy="1080120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孕育期：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1960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以前，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零星发现</a:t>
            </a:r>
            <a:endParaRPr lang="en-US" altLang="zh-CN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8252332"/>
              </p:ext>
            </p:extLst>
          </p:nvPr>
        </p:nvGraphicFramePr>
        <p:xfrm>
          <a:off x="1763688" y="882088"/>
          <a:ext cx="2144712" cy="541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2" name="CS ChemDraw Drawing" r:id="rId3" imgW="1328514" imgH="3352320" progId="ChemDraw.Document.6.0">
                  <p:embed/>
                </p:oleObj>
              </mc:Choice>
              <mc:Fallback>
                <p:oleObj name="CS ChemDraw Drawing" r:id="rId3" imgW="1328514" imgH="335232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688" y="882088"/>
                        <a:ext cx="2144712" cy="5413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075862"/>
              </p:ext>
            </p:extLst>
          </p:nvPr>
        </p:nvGraphicFramePr>
        <p:xfrm>
          <a:off x="5436096" y="2462636"/>
          <a:ext cx="1731962" cy="221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3" name="CS ChemDraw Drawing" r:id="rId5" imgW="1182102" imgH="1512810" progId="ChemDraw.Document.6.0">
                  <p:embed/>
                </p:oleObj>
              </mc:Choice>
              <mc:Fallback>
                <p:oleObj name="CS ChemDraw Drawing" r:id="rId5" imgW="1182102" imgH="151281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436096" y="2462636"/>
                        <a:ext cx="1731962" cy="2216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右箭头 19"/>
          <p:cNvSpPr>
            <a:spLocks noChangeArrowheads="1"/>
          </p:cNvSpPr>
          <p:nvPr/>
        </p:nvSpPr>
        <p:spPr bwMode="auto">
          <a:xfrm>
            <a:off x="4311870" y="3604374"/>
            <a:ext cx="576262" cy="338137"/>
          </a:xfrm>
          <a:prstGeom prst="rightArrow">
            <a:avLst>
              <a:gd name="adj1" fmla="val 50000"/>
              <a:gd name="adj2" fmla="val 49951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2400">
              <a:solidFill>
                <a:srgbClr val="3399FF"/>
              </a:solidFill>
              <a:ea typeface="华文行楷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436096" y="4704163"/>
            <a:ext cx="19094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阿糖胞苷，</a:t>
            </a:r>
            <a:r>
              <a:rPr lang="en-US" altLang="zh-CN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1955</a:t>
            </a:r>
          </a:p>
          <a:p>
            <a:pPr algn="ctr"/>
            <a:r>
              <a:rPr lang="zh-CN" altLang="en-US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抗病毒药物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5282" y="34197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海绵核苷</a:t>
            </a:r>
            <a:endParaRPr lang="zh-CN" altLang="en-US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72676" y="630932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海绵尿苷</a:t>
            </a:r>
            <a:endParaRPr lang="zh-CN" altLang="en-US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33605" y="4057046"/>
            <a:ext cx="153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干扰</a:t>
            </a:r>
            <a:r>
              <a:rPr lang="en-US" altLang="zh-CN" dirty="0" smtClean="0">
                <a:solidFill>
                  <a:srgbClr val="0000FF"/>
                </a:solidFill>
              </a:rPr>
              <a:t>DNA</a:t>
            </a:r>
            <a:r>
              <a:rPr lang="zh-CN" altLang="en-US" dirty="0" smtClean="0">
                <a:solidFill>
                  <a:srgbClr val="0000FF"/>
                </a:solidFill>
              </a:rPr>
              <a:t>复制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909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332656"/>
            <a:ext cx="8640960" cy="1080120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形成期：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1960-1980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间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新理念 新学科</a:t>
            </a:r>
            <a:endParaRPr lang="en-US" altLang="zh-CN" i="1" dirty="0" smtClean="0">
              <a:solidFill>
                <a:srgbClr val="0000FF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749323"/>
              </p:ext>
            </p:extLst>
          </p:nvPr>
        </p:nvGraphicFramePr>
        <p:xfrm>
          <a:off x="611560" y="1824406"/>
          <a:ext cx="4815503" cy="2880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3" name="CS ChemDraw Drawing" r:id="rId3" imgW="2322333" imgH="1389420" progId="ChemDraw.Document.6.0">
                  <p:embed/>
                </p:oleObj>
              </mc:Choice>
              <mc:Fallback>
                <p:oleObj name="CS ChemDraw Drawing" r:id="rId3" imgW="2322333" imgH="1389420" progId="ChemDraw.Document.6.0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1824406"/>
                        <a:ext cx="4815503" cy="2880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9469711"/>
              </p:ext>
            </p:extLst>
          </p:nvPr>
        </p:nvGraphicFramePr>
        <p:xfrm>
          <a:off x="6012160" y="2508373"/>
          <a:ext cx="2286418" cy="2036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4" name="CS ChemDraw Drawing" r:id="rId5" imgW="987336" imgH="878850" progId="ChemDraw.Document.6.0">
                  <p:embed/>
                </p:oleObj>
              </mc:Choice>
              <mc:Fallback>
                <p:oleObj name="CS ChemDraw Drawing" r:id="rId5" imgW="987336" imgH="87885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12160" y="2508373"/>
                        <a:ext cx="2286418" cy="20364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35696" y="4832861"/>
            <a:ext cx="2832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河豚毒素结构确定，</a:t>
            </a:r>
            <a:r>
              <a:rPr lang="en-US" altLang="zh-CN" b="1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1964</a:t>
            </a:r>
            <a:endParaRPr lang="zh-CN" altLang="en-US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00192" y="464819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笼状金刚烷结构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711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332656"/>
            <a:ext cx="8640960" cy="1080120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形成期：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1960-1980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间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新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理念 新学科</a:t>
            </a:r>
            <a:endParaRPr lang="en-US" altLang="zh-CN" i="1" dirty="0" smtClean="0">
              <a:solidFill>
                <a:srgbClr val="0000FF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331745"/>
              </p:ext>
            </p:extLst>
          </p:nvPr>
        </p:nvGraphicFramePr>
        <p:xfrm>
          <a:off x="2555776" y="1484784"/>
          <a:ext cx="3312368" cy="2094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" name="CS ChemDraw Drawing" r:id="rId3" imgW="1829881" imgH="1158030" progId="ChemDraw.Document.6.0">
                  <p:embed/>
                </p:oleObj>
              </mc:Choice>
              <mc:Fallback>
                <p:oleObj name="CS ChemDraw Drawing" r:id="rId3" imgW="1829881" imgH="115803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5776" y="1484784"/>
                        <a:ext cx="3312368" cy="20942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73196" y="3943075"/>
            <a:ext cx="754405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柳珊瑚</a:t>
            </a:r>
            <a:r>
              <a:rPr lang="en-US" altLang="zh-CN" sz="2200" i="1" dirty="0" err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Plexaura</a:t>
            </a:r>
            <a:r>
              <a:rPr lang="en-US" altLang="zh-CN" sz="2200" i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200" i="1" dirty="0" err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homomalla</a:t>
            </a:r>
            <a:r>
              <a:rPr lang="zh-CN" altLang="en-US" sz="22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中发现高含量前列腺素，</a:t>
            </a:r>
            <a:r>
              <a:rPr lang="en-US" altLang="zh-CN" sz="22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1969</a:t>
            </a:r>
            <a:endParaRPr lang="zh-CN" altLang="en-US" sz="22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" name="下箭头 8"/>
          <p:cNvSpPr/>
          <p:nvPr/>
        </p:nvSpPr>
        <p:spPr>
          <a:xfrm>
            <a:off x="4274443" y="4581128"/>
            <a:ext cx="792088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411760" y="5311357"/>
            <a:ext cx="46834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latin typeface="微软雅黑" pitchFamily="34" charset="-122"/>
                <a:ea typeface="微软雅黑" pitchFamily="34" charset="-122"/>
              </a:rPr>
              <a:t>新理念 </a:t>
            </a:r>
            <a:r>
              <a:rPr lang="en-US" altLang="zh-CN" sz="3200" i="1" dirty="0" smtClean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Drugs </a:t>
            </a:r>
            <a:r>
              <a:rPr lang="en-US" altLang="zh-CN" sz="3200" i="1" dirty="0">
                <a:solidFill>
                  <a:srgbClr val="0000FF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from the sea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4572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6021"/>
            <a:ext cx="8640960" cy="1080120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形成期：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1960-1980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间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新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理念 新学科</a:t>
            </a:r>
            <a:endParaRPr lang="en-US" altLang="zh-CN" i="1" dirty="0" smtClean="0">
              <a:solidFill>
                <a:srgbClr val="0000FF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198285"/>
            <a:ext cx="2376264" cy="273630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 descr="Cover for Marine Natural Product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180769"/>
            <a:ext cx="1872208" cy="27736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4614267" y="4494093"/>
            <a:ext cx="318548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Paul J. </a:t>
            </a:r>
            <a:r>
              <a:rPr lang="en-US" altLang="zh-CN" dirty="0" err="1" smtClean="0"/>
              <a:t>Scheuer</a:t>
            </a:r>
            <a:endParaRPr lang="zh-CN" altLang="en-US" dirty="0"/>
          </a:p>
          <a:p>
            <a:r>
              <a:rPr lang="zh-CN" altLang="en-US" dirty="0" smtClean="0"/>
              <a:t>海洋天然产物化学研究开创者</a:t>
            </a:r>
            <a:endParaRPr lang="en-US" altLang="zh-CN" dirty="0" smtClean="0"/>
          </a:p>
          <a:p>
            <a:r>
              <a:rPr lang="zh-CN" altLang="en-US" dirty="0" smtClean="0"/>
              <a:t>夏威夷大学教授</a:t>
            </a:r>
            <a:endParaRPr lang="en-US" altLang="zh-CN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1691680" y="6021288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海洋天然产物化学成为独立的、多学科交叉的新学科。</a:t>
            </a:r>
            <a:endParaRPr lang="zh-CN" altLang="en-US" b="1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3903" y="4032843"/>
            <a:ext cx="1470099" cy="1906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416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6021"/>
            <a:ext cx="8640960" cy="1080120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快速发展期：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1980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年代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海洋毒素引领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582588"/>
              </p:ext>
            </p:extLst>
          </p:nvPr>
        </p:nvGraphicFramePr>
        <p:xfrm>
          <a:off x="1504628" y="3867690"/>
          <a:ext cx="5848715" cy="2015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6" name="CS ChemDraw Drawing" r:id="rId3" imgW="5431023" imgH="1871100" progId="ChemDraw.Document.6.0">
                  <p:embed/>
                </p:oleObj>
              </mc:Choice>
              <mc:Fallback>
                <p:oleObj name="CS ChemDraw Drawing" r:id="rId3" imgW="5431023" imgH="187110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04628" y="3867690"/>
                        <a:ext cx="5848715" cy="20156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720652" y="6062978"/>
            <a:ext cx="63032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西加毒素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CTX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，法国西加鱼中毒事件元凶（安元 健，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1989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4000kg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鳗鱼中纯化得到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0.35mg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，利用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NMR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技术鉴定结构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6217948"/>
              </p:ext>
            </p:extLst>
          </p:nvPr>
        </p:nvGraphicFramePr>
        <p:xfrm>
          <a:off x="1619673" y="908720"/>
          <a:ext cx="5328592" cy="2122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7" name="CS ChemDraw Drawing" r:id="rId5" imgW="4320236" imgH="1720170" progId="ChemDraw.Document.6.0">
                  <p:embed/>
                </p:oleObj>
              </mc:Choice>
              <mc:Fallback>
                <p:oleObj name="CS ChemDraw Drawing" r:id="rId5" imgW="4320236" imgH="172017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19673" y="908720"/>
                        <a:ext cx="5328592" cy="21228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672561" y="3061344"/>
            <a:ext cx="6399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短裸甲藻毒素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 BTX-B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（中西香尔，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1981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赤潮藻涡鞭毛藻</a:t>
            </a:r>
            <a:r>
              <a:rPr lang="en-US" altLang="zh-CN" i="1" dirty="0" err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Gymnodinium</a:t>
            </a:r>
            <a:r>
              <a:rPr lang="en-US" altLang="zh-CN" i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i="1" dirty="0" err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brevis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毒素，第一个梯状聚醚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165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6021"/>
            <a:ext cx="8640960" cy="1080120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快速发展期：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1980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年代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海洋毒素引领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44034"/>
              </p:ext>
            </p:extLst>
          </p:nvPr>
        </p:nvGraphicFramePr>
        <p:xfrm>
          <a:off x="1763688" y="1124744"/>
          <a:ext cx="5256584" cy="4226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0" name="CS ChemDraw Drawing" r:id="rId3" imgW="4782003" imgH="3873547" progId="ChemDraw.Document.6.0">
                  <p:embed/>
                </p:oleObj>
              </mc:Choice>
              <mc:Fallback>
                <p:oleObj name="CS ChemDraw Drawing" r:id="rId3" imgW="4782003" imgH="3873547" progId="ChemDraw.Document.6.0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1124744"/>
                        <a:ext cx="5256584" cy="42267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195736" y="5577780"/>
            <a:ext cx="49865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岩沙海葵毒素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PTX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（平田义正、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Moor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1982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岩沙海葵</a:t>
            </a:r>
            <a:r>
              <a:rPr lang="en-US" altLang="zh-CN" i="1" dirty="0" err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Palythoa</a:t>
            </a:r>
            <a:r>
              <a:rPr lang="en-US" altLang="zh-CN" i="1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i="1" dirty="0" err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toxicus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中的聚醚类毒素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226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6021"/>
            <a:ext cx="8640960" cy="1080120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快速发展期：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1980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年代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海洋毒素引领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074201" y="2647305"/>
            <a:ext cx="49955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海兔毒素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-10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George Robert Pettit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1987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从海兔中发现的实际为蓝藻生成的毒素，</a:t>
            </a:r>
            <a:endParaRPr lang="en-US" altLang="zh-CN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P388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白血病细胞毒性最强的天然产物之一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197921"/>
              </p:ext>
            </p:extLst>
          </p:nvPr>
        </p:nvGraphicFramePr>
        <p:xfrm>
          <a:off x="1763688" y="908720"/>
          <a:ext cx="4940300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0" name="CS ChemDraw Drawing" r:id="rId3" imgW="3734858" imgH="1253610" progId="ChemDraw.Document.6.0">
                  <p:embed/>
                </p:oleObj>
              </mc:Choice>
              <mc:Fallback>
                <p:oleObj name="CS ChemDraw Drawing" r:id="rId3" imgW="3734858" imgH="1253610" progId="ChemDraw.Document.6.0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908720"/>
                        <a:ext cx="4940300" cy="16446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9524734"/>
              </p:ext>
            </p:extLst>
          </p:nvPr>
        </p:nvGraphicFramePr>
        <p:xfrm>
          <a:off x="1979712" y="3717032"/>
          <a:ext cx="4905170" cy="2088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1" name="CS ChemDraw Drawing" r:id="rId5" imgW="4312575" imgH="1788850" progId="ChemDraw.Document.6.0">
                  <p:embed/>
                </p:oleObj>
              </mc:Choice>
              <mc:Fallback>
                <p:oleObj name="CS ChemDraw Drawing" r:id="rId5" imgW="4312575" imgH="1788850" progId="ChemDraw.Document.6.0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3717032"/>
                        <a:ext cx="4905170" cy="20882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083701" y="5819328"/>
            <a:ext cx="5623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大田软海绵素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（上村大辅，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1987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日本黑海绵</a:t>
            </a:r>
            <a:r>
              <a:rPr lang="en-US" altLang="zh-CN" dirty="0" err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Halichondria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err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okadai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聚醚类大环内酯毒素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2143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6951"/>
            <a:ext cx="8640960" cy="1080120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成熟期：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1990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以后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从天然产物到药物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2365907"/>
              </p:ext>
            </p:extLst>
          </p:nvPr>
        </p:nvGraphicFramePr>
        <p:xfrm>
          <a:off x="1259632" y="1052736"/>
          <a:ext cx="4680520" cy="1558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5" name="CS ChemDraw Drawing" r:id="rId3" imgW="3734858" imgH="1253610" progId="ChemDraw.Document.6.0">
                  <p:embed/>
                </p:oleObj>
              </mc:Choice>
              <mc:Fallback>
                <p:oleObj name="CS ChemDraw Drawing" r:id="rId3" imgW="3734858" imgH="1253610" progId="ChemDraw.Document.6.0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052736"/>
                        <a:ext cx="4680520" cy="15581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490677"/>
              </p:ext>
            </p:extLst>
          </p:nvPr>
        </p:nvGraphicFramePr>
        <p:xfrm>
          <a:off x="1043608" y="3573016"/>
          <a:ext cx="5581650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6" name="CS ChemDraw Drawing" r:id="rId5" imgW="6510204" imgH="2196990" progId="ChemDraw.Document.6.0">
                  <p:embed/>
                </p:oleObj>
              </mc:Choice>
              <mc:Fallback>
                <p:oleObj name="CS ChemDraw Drawing" r:id="rId5" imgW="6510204" imgH="2196990" progId="ChemDraw.Document.6.0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3573016"/>
                        <a:ext cx="5581650" cy="192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下箭头 10"/>
          <p:cNvSpPr/>
          <p:nvPr/>
        </p:nvSpPr>
        <p:spPr>
          <a:xfrm>
            <a:off x="5004048" y="2730660"/>
            <a:ext cx="720080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619672" y="5736788"/>
            <a:ext cx="49584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抗体偶联药本妥昔单抗</a:t>
            </a:r>
            <a:r>
              <a:rPr lang="en-US" altLang="zh-CN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dirty="0" err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brentuximab</a:t>
            </a:r>
            <a:r>
              <a:rPr lang="en-US" altLang="zh-CN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vedotin</a:t>
            </a:r>
            <a:r>
              <a:rPr lang="en-US" altLang="zh-CN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2320" name="Picture 32" descr="https://timgsa.baidu.com/timg?image&amp;quality=80&amp;size=b9999_10000&amp;sec=1593929040682&amp;di=b7aab79b59b55200d241be9fad07627c&amp;imgtype=0&amp;src=http%3A%2F%2Fn1.itc.cn%2Fimg8%2Fwb%2Frecom%2F2017%2F01%2F10%2F148397842741540527.JPE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198" y="4863578"/>
            <a:ext cx="2429802" cy="1746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489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6021"/>
            <a:ext cx="8640960" cy="1080120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成熟期：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1990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以后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从天然产物到药物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4924175"/>
              </p:ext>
            </p:extLst>
          </p:nvPr>
        </p:nvGraphicFramePr>
        <p:xfrm>
          <a:off x="395288" y="1198563"/>
          <a:ext cx="4903787" cy="208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2" name="CS ChemDraw Drawing" r:id="rId3" imgW="4312402" imgH="1788750" progId="ChemDraw.Document.6.0">
                  <p:embed/>
                </p:oleObj>
              </mc:Choice>
              <mc:Fallback>
                <p:oleObj name="CS ChemDraw Drawing" r:id="rId3" imgW="4312402" imgH="1788750" progId="ChemDraw.Document.6.0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198563"/>
                        <a:ext cx="4903787" cy="20875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197059"/>
              </p:ext>
            </p:extLst>
          </p:nvPr>
        </p:nvGraphicFramePr>
        <p:xfrm>
          <a:off x="5148064" y="3573016"/>
          <a:ext cx="3384376" cy="2678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3" name="CS ChemDraw Drawing" r:id="rId5" imgW="2412017" imgH="1907550" progId="ChemDraw.Document.6.0">
                  <p:embed/>
                </p:oleObj>
              </mc:Choice>
              <mc:Fallback>
                <p:oleObj name="CS ChemDraw Drawing" r:id="rId5" imgW="2412017" imgH="190755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48064" y="3573016"/>
                        <a:ext cx="3384376" cy="26780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右箭头 8"/>
          <p:cNvSpPr/>
          <p:nvPr/>
        </p:nvSpPr>
        <p:spPr>
          <a:xfrm rot="2931065">
            <a:off x="5172804" y="3035370"/>
            <a:ext cx="648072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056529" y="6309320"/>
            <a:ext cx="4075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抗癌药物甲磺酸</a:t>
            </a:r>
            <a:r>
              <a:rPr lang="zh-CN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艾日布林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 err="1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Halaven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403648" y="3059668"/>
            <a:ext cx="1713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大田软海绵素</a:t>
            </a:r>
            <a:r>
              <a:rPr lang="en-US" altLang="zh-CN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endParaRPr lang="zh-CN" altLang="en-US" dirty="0"/>
          </a:p>
        </p:txBody>
      </p:sp>
      <p:pic>
        <p:nvPicPr>
          <p:cNvPr id="11299" name="Picture 35" descr="https://timgsa.baidu.com/timg?image&amp;quality=80&amp;size=b9999_10000&amp;sec=1593929135469&amp;di=890aa292c2e37920a0ffe5d232090331&amp;imgtype=0&amp;src=http%3A%2F%2F10665746.s21i.faiusr.com%2F2%2FABUIABACGAAg1LWKvwUolMbJtgcwgAU42AM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756" y="4077073"/>
            <a:ext cx="3277171" cy="2416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7020272" y="5911128"/>
            <a:ext cx="76495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b="1" dirty="0"/>
              <a:t>E7389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784410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6021"/>
            <a:ext cx="8640960" cy="1080120"/>
          </a:xfrm>
        </p:spPr>
        <p:txBody>
          <a:bodyPr>
            <a:normAutofit/>
          </a:bodyPr>
          <a:lstStyle/>
          <a:p>
            <a:pPr>
              <a:lnSpc>
                <a:spcPts val="5600"/>
              </a:lnSpc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成熟期：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1990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以后 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从天然产物到药物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234035"/>
              </p:ext>
            </p:extLst>
          </p:nvPr>
        </p:nvGraphicFramePr>
        <p:xfrm>
          <a:off x="1293174" y="1017073"/>
          <a:ext cx="2927870" cy="21959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8" name="CS ChemDraw Drawing" r:id="rId3" imgW="2811544" imgH="2108700" progId="ChemDraw.Document.6.0">
                  <p:embed/>
                </p:oleObj>
              </mc:Choice>
              <mc:Fallback>
                <p:oleObj name="CS ChemDraw Drawing" r:id="rId3" imgW="2811544" imgH="2108700" progId="ChemDraw.Document.6.0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174" y="1017073"/>
                        <a:ext cx="2927870" cy="21959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398469" y="3356992"/>
            <a:ext cx="6257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天然产物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ET-743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以原型成药，治疗软组织</a:t>
            </a: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肉瘤药物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曲贝替定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3316" name="Picture 4" descr="https://timgsa.baidu.com/timg?image&amp;quality=80&amp;size=b9999_10000&amp;sec=1586446355191&amp;di=fe2e5bef2e6d0be31d9265a0e5ebffa7&amp;imgtype=0&amp;src=http%3A%2F%2F5b0988e595225.cdn.sohucs.com%2Fimages%2F20171024%2F7728cd2f71e94cc6ae0af531415c8956.jpe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1196752"/>
            <a:ext cx="2670494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2483768" y="6081067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柳珊瑚中天然产物假蕨素</a:t>
            </a:r>
            <a:r>
              <a:rPr lang="en-US" altLang="zh-CN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A</a:t>
            </a:r>
          </a:p>
          <a:p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具有抗皮肤衰老作用，用作化妆品添加剂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36652"/>
              </p:ext>
            </p:extLst>
          </p:nvPr>
        </p:nvGraphicFramePr>
        <p:xfrm>
          <a:off x="2704628" y="4049014"/>
          <a:ext cx="3058603" cy="2032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9" name="CS ChemDraw Drawing" r:id="rId6" imgW="2076782" imgH="1378890" progId="ChemDraw.Document.6.0">
                  <p:embed/>
                </p:oleObj>
              </mc:Choice>
              <mc:Fallback>
                <p:oleObj name="CS ChemDraw Drawing" r:id="rId6" imgW="2076782" imgH="1378890" progId="ChemDraw.Document.6.0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04628" y="4049014"/>
                        <a:ext cx="3058603" cy="20320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06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目前的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发展困境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新型、活性海洋天然产物的发现和利用</a:t>
            </a:r>
            <a:endParaRPr lang="en-US" altLang="zh-CN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Clr>
                <a:srgbClr val="0070C0"/>
              </a:buClr>
              <a:buNone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）海洋天然产物的重复发现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Clr>
                <a:srgbClr val="0070C0"/>
              </a:buClr>
              <a:buNone/>
            </a:pP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   2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）对于已发现的天然产物如何进行针对性的活性筛选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Clr>
                <a:srgbClr val="0070C0"/>
              </a:buClr>
              <a:buNone/>
            </a:pP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   3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）亟需开拓海洋药物以外的其他应用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Clr>
                <a:srgbClr val="0070C0"/>
              </a:buClr>
              <a:buNone/>
            </a:pP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海洋天然产物化学与新兴技术的结合</a:t>
            </a:r>
            <a:endParaRPr lang="en-US" altLang="zh-CN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Clr>
                <a:srgbClr val="0070C0"/>
              </a:buClr>
              <a:buNone/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提取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、分离、结构鉴定、活性筛选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的技术体系和研究内容亟待创新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Clr>
                <a:srgbClr val="0070C0"/>
              </a:buClr>
              <a:buNone/>
            </a:pP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   2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）研究对象需要拓展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918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今后的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发展新趋势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25963"/>
          </a:xfrm>
        </p:spPr>
        <p:txBody>
          <a:bodyPr>
            <a:normAutofit/>
          </a:bodyPr>
          <a:lstStyle/>
          <a:p>
            <a:pPr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海洋天然产物化学与海洋化学生态学</a:t>
            </a:r>
            <a:endParaRPr lang="en-US" altLang="zh-CN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Clr>
                <a:srgbClr val="0070C0"/>
              </a:buClr>
              <a:buNone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）海洋天然产物的生态学功能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Clr>
                <a:srgbClr val="0070C0"/>
              </a:buClr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   2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）基于化学生态学的活性天然产物发现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Clr>
                <a:srgbClr val="0070C0"/>
              </a:buClr>
              <a:buNone/>
            </a:pP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    3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）海洋生态现象的化学机制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>
              <a:buClr>
                <a:srgbClr val="0070C0"/>
              </a:buClr>
              <a:buFont typeface="Wingdings" pitchFamily="2" charset="2"/>
              <a:buChar char="u"/>
            </a:pPr>
            <a:r>
              <a:rPr lang="zh-CN" altLang="en-US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海洋天然产物化学与化学</a:t>
            </a:r>
            <a:r>
              <a:rPr lang="zh-CN" altLang="en-US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生物学</a:t>
            </a:r>
            <a:endParaRPr lang="en-US" altLang="zh-CN" dirty="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Clr>
                <a:srgbClr val="0070C0"/>
              </a:buClr>
              <a:buNone/>
            </a:pPr>
            <a:r>
              <a:rPr lang="en-US" altLang="zh-CN" sz="28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）海洋天然产物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的生物合成</a:t>
            </a:r>
            <a:endParaRPr lang="en-US" altLang="zh-CN" sz="2800" dirty="0" smtClean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Clr>
                <a:srgbClr val="0070C0"/>
              </a:buClr>
              <a:buNone/>
            </a:pP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）海洋生物的天然产物合成基因资源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  <a:p>
            <a:pPr marL="0" indent="0">
              <a:buClr>
                <a:srgbClr val="0070C0"/>
              </a:buClr>
              <a:buNone/>
            </a:pP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    3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）面向海洋天然产物的合成生物学</a:t>
            </a:r>
            <a:endParaRPr lang="zh-CN" altLang="en-US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83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cean">
  <a:themeElements>
    <a:clrScheme name="Ocean 1">
      <a:dk1>
        <a:srgbClr val="010199"/>
      </a:dk1>
      <a:lt1>
        <a:srgbClr val="FFFFFF"/>
      </a:lt1>
      <a:dk2>
        <a:srgbClr val="000099"/>
      </a:dk2>
      <a:lt2>
        <a:srgbClr val="FFFFFF"/>
      </a:lt2>
      <a:accent1>
        <a:srgbClr val="33CCCC"/>
      </a:accent1>
      <a:accent2>
        <a:srgbClr val="00C600"/>
      </a:accent2>
      <a:accent3>
        <a:srgbClr val="AAAACA"/>
      </a:accent3>
      <a:accent4>
        <a:srgbClr val="DADADA"/>
      </a:accent4>
      <a:accent5>
        <a:srgbClr val="ADE2E2"/>
      </a:accent5>
      <a:accent6>
        <a:srgbClr val="00B300"/>
      </a:accent6>
      <a:hlink>
        <a:srgbClr val="FFCC00"/>
      </a:hlink>
      <a:folHlink>
        <a:srgbClr val="6699FF"/>
      </a:folHlink>
    </a:clrScheme>
    <a:fontScheme name="Ocea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Ocean 1">
        <a:dk1>
          <a:srgbClr val="010199"/>
        </a:dk1>
        <a:lt1>
          <a:srgbClr val="FFFFFF"/>
        </a:lt1>
        <a:dk2>
          <a:srgbClr val="000099"/>
        </a:dk2>
        <a:lt2>
          <a:srgbClr val="FFFFFF"/>
        </a:lt2>
        <a:accent1>
          <a:srgbClr val="33CCCC"/>
        </a:accent1>
        <a:accent2>
          <a:srgbClr val="00C600"/>
        </a:accent2>
        <a:accent3>
          <a:srgbClr val="AAAACA"/>
        </a:accent3>
        <a:accent4>
          <a:srgbClr val="DADADA"/>
        </a:accent4>
        <a:accent5>
          <a:srgbClr val="ADE2E2"/>
        </a:accent5>
        <a:accent6>
          <a:srgbClr val="00B300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2">
        <a:dk1>
          <a:srgbClr val="000066"/>
        </a:dk1>
        <a:lt1>
          <a:srgbClr val="FFFFFF"/>
        </a:lt1>
        <a:dk2>
          <a:srgbClr val="5D93FF"/>
        </a:dk2>
        <a:lt2>
          <a:srgbClr val="FFFFFF"/>
        </a:lt2>
        <a:accent1>
          <a:srgbClr val="6666FF"/>
        </a:accent1>
        <a:accent2>
          <a:srgbClr val="9999FF"/>
        </a:accent2>
        <a:accent3>
          <a:srgbClr val="B6C8FF"/>
        </a:accent3>
        <a:accent4>
          <a:srgbClr val="DADADA"/>
        </a:accent4>
        <a:accent5>
          <a:srgbClr val="B8B8FF"/>
        </a:accent5>
        <a:accent6>
          <a:srgbClr val="8A8AE7"/>
        </a:accent6>
        <a:hlink>
          <a:srgbClr val="FF33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3">
        <a:dk1>
          <a:srgbClr val="000000"/>
        </a:dk1>
        <a:lt1>
          <a:srgbClr val="FFFFFF"/>
        </a:lt1>
        <a:dk2>
          <a:srgbClr val="572E88"/>
        </a:dk2>
        <a:lt2>
          <a:srgbClr val="FFFFFF"/>
        </a:lt2>
        <a:accent1>
          <a:srgbClr val="FF6600"/>
        </a:accent1>
        <a:accent2>
          <a:srgbClr val="FFCC00"/>
        </a:accent2>
        <a:accent3>
          <a:srgbClr val="B4ADC3"/>
        </a:accent3>
        <a:accent4>
          <a:srgbClr val="DADADA"/>
        </a:accent4>
        <a:accent5>
          <a:srgbClr val="FFB8AA"/>
        </a:accent5>
        <a:accent6>
          <a:srgbClr val="E7B900"/>
        </a:accent6>
        <a:hlink>
          <a:srgbClr val="33CCCC"/>
        </a:hlink>
        <a:folHlink>
          <a:srgbClr val="36CC6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4">
        <a:dk1>
          <a:srgbClr val="003366"/>
        </a:dk1>
        <a:lt1>
          <a:srgbClr val="FFFFFF"/>
        </a:lt1>
        <a:dk2>
          <a:srgbClr val="666699"/>
        </a:dk2>
        <a:lt2>
          <a:srgbClr val="FFFFFF"/>
        </a:lt2>
        <a:accent1>
          <a:srgbClr val="9966FF"/>
        </a:accent1>
        <a:accent2>
          <a:srgbClr val="00CC66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B95C"/>
        </a:accent6>
        <a:hlink>
          <a:srgbClr val="65C8FF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5">
        <a:dk1>
          <a:srgbClr val="000000"/>
        </a:dk1>
        <a:lt1>
          <a:srgbClr val="FFFFFF"/>
        </a:lt1>
        <a:dk2>
          <a:srgbClr val="336600"/>
        </a:dk2>
        <a:lt2>
          <a:srgbClr val="FFFFFF"/>
        </a:lt2>
        <a:accent1>
          <a:srgbClr val="B7C533"/>
        </a:accent1>
        <a:accent2>
          <a:srgbClr val="CCCCFF"/>
        </a:accent2>
        <a:accent3>
          <a:srgbClr val="ADB8AA"/>
        </a:accent3>
        <a:accent4>
          <a:srgbClr val="DADADA"/>
        </a:accent4>
        <a:accent5>
          <a:srgbClr val="D8DFAD"/>
        </a:accent5>
        <a:accent6>
          <a:srgbClr val="B9B9E7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6">
        <a:dk1>
          <a:srgbClr val="000000"/>
        </a:dk1>
        <a:lt1>
          <a:srgbClr val="FFFFFF"/>
        </a:lt1>
        <a:dk2>
          <a:srgbClr val="006B80"/>
        </a:dk2>
        <a:lt2>
          <a:srgbClr val="C1CB75"/>
        </a:lt2>
        <a:accent1>
          <a:srgbClr val="6F8406"/>
        </a:accent1>
        <a:accent2>
          <a:srgbClr val="D9E288"/>
        </a:accent2>
        <a:accent3>
          <a:srgbClr val="AABAC0"/>
        </a:accent3>
        <a:accent4>
          <a:srgbClr val="DADADA"/>
        </a:accent4>
        <a:accent5>
          <a:srgbClr val="BBC2AA"/>
        </a:accent5>
        <a:accent6>
          <a:srgbClr val="C4CD7B"/>
        </a:accent6>
        <a:hlink>
          <a:srgbClr val="00CC00"/>
        </a:hlink>
        <a:folHlink>
          <a:srgbClr val="C0FF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7">
        <a:dk1>
          <a:srgbClr val="5F5F5F"/>
        </a:dk1>
        <a:lt1>
          <a:srgbClr val="FFFFFF"/>
        </a:lt1>
        <a:dk2>
          <a:srgbClr val="FF6600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FFB8AA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FF99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8">
        <a:dk1>
          <a:srgbClr val="000000"/>
        </a:dk1>
        <a:lt1>
          <a:srgbClr val="FFFFFF"/>
        </a:lt1>
        <a:dk2>
          <a:srgbClr val="FFBA2F"/>
        </a:dk2>
        <a:lt2>
          <a:srgbClr val="A50021"/>
        </a:lt2>
        <a:accent1>
          <a:srgbClr val="FF6600"/>
        </a:accent1>
        <a:accent2>
          <a:srgbClr val="CC6600"/>
        </a:accent2>
        <a:accent3>
          <a:srgbClr val="FFD9AD"/>
        </a:accent3>
        <a:accent4>
          <a:srgbClr val="DADADA"/>
        </a:accent4>
        <a:accent5>
          <a:srgbClr val="FFB8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7093</TotalTime>
  <Words>652</Words>
  <Application>Microsoft Office PowerPoint</Application>
  <PresentationFormat>全屏显示(4:3)</PresentationFormat>
  <Paragraphs>90</Paragraphs>
  <Slides>18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Office 主题​​</vt:lpstr>
      <vt:lpstr>Ocean</vt:lpstr>
      <vt:lpstr>CS ChemDraw Drawing</vt:lpstr>
      <vt:lpstr>海洋天然产物化学 Marine Natural Product Chemistry</vt:lpstr>
      <vt:lpstr>PowerPoint 演示文稿</vt:lpstr>
      <vt:lpstr>海洋天然产物化学发展简史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目前的发展困境</vt:lpstr>
      <vt:lpstr>今后的发展新趋势</vt:lpstr>
    </vt:vector>
  </TitlesOfParts>
  <Company>ZJUOC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DYN</dc:creator>
  <cp:lastModifiedBy>备忘录</cp:lastModifiedBy>
  <cp:revision>226</cp:revision>
  <dcterms:created xsi:type="dcterms:W3CDTF">2015-01-27T02:40:20Z</dcterms:created>
  <dcterms:modified xsi:type="dcterms:W3CDTF">2020-07-23T01:41:03Z</dcterms:modified>
</cp:coreProperties>
</file>