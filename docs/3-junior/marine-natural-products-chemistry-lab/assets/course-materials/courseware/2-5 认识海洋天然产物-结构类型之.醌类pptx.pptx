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350" r:id="rId3"/>
    <p:sldId id="295" r:id="rId4"/>
    <p:sldId id="359" r:id="rId5"/>
    <p:sldId id="354" r:id="rId6"/>
    <p:sldId id="385" r:id="rId7"/>
    <p:sldId id="372" r:id="rId8"/>
    <p:sldId id="395" r:id="rId9"/>
    <p:sldId id="396" r:id="rId10"/>
    <p:sldId id="394" r:id="rId11"/>
    <p:sldId id="388" r:id="rId12"/>
    <p:sldId id="397" r:id="rId13"/>
    <p:sldId id="398" r:id="rId14"/>
    <p:sldId id="386" r:id="rId15"/>
    <p:sldId id="387" r:id="rId16"/>
    <p:sldId id="399"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35" autoAdjust="0"/>
    <p:restoredTop sz="96310" autoAdjust="0"/>
  </p:normalViewPr>
  <p:slideViewPr>
    <p:cSldViewPr>
      <p:cViewPr>
        <p:scale>
          <a:sx n="60" d="100"/>
          <a:sy n="60" d="100"/>
        </p:scale>
        <p:origin x="-36" y="-4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F04E47-DDCF-4C26-B61B-B7C48A7F62ED}" type="datetimeFigureOut">
              <a:rPr lang="zh-CN" altLang="en-US" smtClean="0"/>
              <a:t>2020/6/28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89D4B3-F92E-4454-88A9-1B52D080D39E}" type="slidenum">
              <a:rPr lang="zh-CN" altLang="en-US" smtClean="0"/>
              <a:t>‹#›</a:t>
            </a:fld>
            <a:endParaRPr lang="zh-CN" altLang="en-US"/>
          </a:p>
        </p:txBody>
      </p:sp>
    </p:spTree>
    <p:extLst>
      <p:ext uri="{BB962C8B-B14F-4D97-AF65-F5344CB8AC3E}">
        <p14:creationId xmlns:p14="http://schemas.microsoft.com/office/powerpoint/2010/main" val="1225643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zh-CN" sz="1400"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fld id="{F582D0BD-BC72-4371-A99D-2C93502AABF8}" type="slidenum">
              <a:rPr lang="en-GB" altLang="zh-CN">
                <a:solidFill>
                  <a:prstClr val="black"/>
                </a:solidFill>
              </a:rPr>
              <a:pPr/>
              <a:t>1</a:t>
            </a:fld>
            <a:endParaRPr lang="en-GB" altLang="zh-CN">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26314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571542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16634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77065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525035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350844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254067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365625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76215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16885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4143832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4"/>
          <p:cNvSpPr>
            <a:spLocks/>
          </p:cNvSpPr>
          <p:nvPr/>
        </p:nvSpPr>
        <p:spPr bwMode="auto">
          <a:xfrm>
            <a:off x="285750" y="2803525"/>
            <a:ext cx="1588" cy="3035300"/>
          </a:xfrm>
          <a:custGeom>
            <a:avLst/>
            <a:gdLst>
              <a:gd name="T0" fmla="*/ 0 w 1588"/>
              <a:gd name="T1" fmla="*/ 0 h 1912"/>
              <a:gd name="T2" fmla="*/ 0 w 1588"/>
              <a:gd name="T3" fmla="*/ 2147483647 h 1912"/>
              <a:gd name="T4" fmla="*/ 0 w 1588"/>
              <a:gd name="T5" fmla="*/ 2147483647 h 1912"/>
              <a:gd name="T6" fmla="*/ 0 w 1588"/>
              <a:gd name="T7" fmla="*/ 2147483647 h 1912"/>
              <a:gd name="T8" fmla="*/ 0 w 1588"/>
              <a:gd name="T9" fmla="*/ 2147483647 h 1912"/>
              <a:gd name="T10" fmla="*/ 0 w 1588"/>
              <a:gd name="T11" fmla="*/ 2147483647 h 1912"/>
              <a:gd name="T12" fmla="*/ 0 w 1588"/>
              <a:gd name="T13" fmla="*/ 0 h 1912"/>
              <a:gd name="T14" fmla="*/ 0 w 1588"/>
              <a:gd name="T15" fmla="*/ 0 h 191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88" h="1912">
                <a:moveTo>
                  <a:pt x="0" y="0"/>
                </a:moveTo>
                <a:lnTo>
                  <a:pt x="0" y="6"/>
                </a:lnTo>
                <a:lnTo>
                  <a:pt x="0" y="60"/>
                </a:lnTo>
                <a:lnTo>
                  <a:pt x="0" y="1912"/>
                </a:lnTo>
                <a:lnTo>
                  <a:pt x="0" y="0"/>
                </a:lnTo>
                <a:close/>
              </a:path>
            </a:pathLst>
          </a:custGeom>
          <a:solidFill>
            <a:srgbClr val="6BBA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mtClean="0">
              <a:solidFill>
                <a:srgbClr val="010199"/>
              </a:solidFill>
            </a:endParaRPr>
          </a:p>
        </p:txBody>
      </p:sp>
      <p:sp>
        <p:nvSpPr>
          <p:cNvPr id="5122" name="Rectangle 2"/>
          <p:cNvSpPr>
            <a:spLocks noGrp="1" noChangeArrowheads="1"/>
          </p:cNvSpPr>
          <p:nvPr>
            <p:ph type="ctrTitle" sz="quarter"/>
          </p:nvPr>
        </p:nvSpPr>
        <p:spPr>
          <a:xfrm>
            <a:off x="685800" y="1997075"/>
            <a:ext cx="7772400" cy="1431925"/>
          </a:xfrm>
        </p:spPr>
        <p:txBody>
          <a:bodyPr anchor="b" anchorCtr="1"/>
          <a:lstStyle>
            <a:lvl1pPr algn="ctr">
              <a:defRPr/>
            </a:lvl1pPr>
          </a:lstStyle>
          <a:p>
            <a:r>
              <a:rPr lang="en-US"/>
              <a:t>Click to edit Master title style</a:t>
            </a:r>
          </a:p>
        </p:txBody>
      </p:sp>
      <p:sp>
        <p:nvSpPr>
          <p:cNvPr id="5123"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ftr" sz="quarter" idx="10"/>
          </p:nvPr>
        </p:nvSpPr>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1"/>
          </p:nvPr>
        </p:nvSpPr>
        <p:spPr/>
        <p:txBody>
          <a:bodyPr/>
          <a:lstStyle>
            <a:lvl1pPr>
              <a:defRPr/>
            </a:lvl1pPr>
          </a:lstStyle>
          <a:p>
            <a:pPr>
              <a:defRPr/>
            </a:pPr>
            <a:fld id="{212AB603-56F1-40C2-ACFD-A8C109FF9F16}" type="slidenum">
              <a:rPr lang="en-US" altLang="zh-CN">
                <a:solidFill>
                  <a:srgbClr val="010199"/>
                </a:solidFill>
              </a:rPr>
              <a:pPr>
                <a:defRPr/>
              </a:pPr>
              <a:t>‹#›</a:t>
            </a:fld>
            <a:endParaRPr lang="en-US" altLang="zh-CN">
              <a:solidFill>
                <a:srgbClr val="010199"/>
              </a:solidFill>
            </a:endParaRPr>
          </a:p>
        </p:txBody>
      </p:sp>
      <p:sp>
        <p:nvSpPr>
          <p:cNvPr id="7" name="Rectangle 7"/>
          <p:cNvSpPr>
            <a:spLocks noGrp="1" noChangeArrowheads="1"/>
          </p:cNvSpPr>
          <p:nvPr>
            <p:ph type="dt" sz="quarter" idx="12"/>
          </p:nvPr>
        </p:nvSpPr>
        <p:spPr/>
        <p:txBody>
          <a:bodyPr/>
          <a:lstStyle>
            <a:lvl1pPr>
              <a:defRPr/>
            </a:lvl1pPr>
          </a:lstStyle>
          <a:p>
            <a:pPr>
              <a:defRPr/>
            </a:pPr>
            <a:endParaRPr lang="zh-CN" altLang="zh-CN">
              <a:solidFill>
                <a:srgbClr val="010199"/>
              </a:solidFill>
            </a:endParaRPr>
          </a:p>
        </p:txBody>
      </p:sp>
    </p:spTree>
    <p:extLst>
      <p:ext uri="{BB962C8B-B14F-4D97-AF65-F5344CB8AC3E}">
        <p14:creationId xmlns:p14="http://schemas.microsoft.com/office/powerpoint/2010/main" val="3946741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244DE39-8B2C-41A3-9C16-35D5160EBD8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59668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E503062-EDEC-4C87-91EE-231FD9609B7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134410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050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30A5ED-A6B5-4283-954A-ACC5A486AE07}"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22921984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FDCB35C2-FF72-4D6E-AFCF-13F1BC21BC71}"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4017275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9A71F221-A7A0-44E7-BF4D-E2D8DB48BAB6}"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1849528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1513BC7E-E1A6-4DFF-9C73-70C4CB633159}"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0285135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42E17FB-1BB7-4D20-9E98-046EE7C33875}"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0287790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DA3EAF9-A129-405C-BB96-4BA5CE8D2CDF}"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2937291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379E4B1-B749-43D6-8A03-8567B35D8808}"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124844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92100"/>
            <a:ext cx="2057400" cy="5727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92100"/>
            <a:ext cx="6019800" cy="57277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zh-CN" altLang="zh-CN">
              <a:solidFill>
                <a:srgbClr val="010199"/>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zh-CN" altLang="zh-CN">
              <a:solidFill>
                <a:srgbClr val="010199"/>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4C3389D9-CE6B-4F64-8BC6-C1DFE512AADB}" type="slidenum">
              <a:rPr lang="en-US" altLang="zh-CN">
                <a:solidFill>
                  <a:srgbClr val="010199"/>
                </a:solidFill>
              </a:rPr>
              <a:pPr>
                <a:defRPr/>
              </a:pPr>
              <a:t>‹#›</a:t>
            </a:fld>
            <a:endParaRPr lang="en-US" altLang="zh-CN">
              <a:solidFill>
                <a:srgbClr val="010199"/>
              </a:solidFill>
            </a:endParaRPr>
          </a:p>
        </p:txBody>
      </p:sp>
    </p:spTree>
    <p:extLst>
      <p:ext uri="{BB962C8B-B14F-4D97-AF65-F5344CB8AC3E}">
        <p14:creationId xmlns:p14="http://schemas.microsoft.com/office/powerpoint/2010/main" val="3607910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F2D7D-2CD5-4023-AA6E-28D149C8CA3D}" type="datetimeFigureOut">
              <a:rPr lang="zh-CN" altLang="en-US" smtClean="0"/>
              <a:t>2020/6/28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FBD05-DAF7-476E-AC3A-FF9D90405B14}" type="slidenum">
              <a:rPr lang="zh-CN" altLang="en-US" smtClean="0"/>
              <a:t>‹#›</a:t>
            </a:fld>
            <a:endParaRPr lang="zh-CN" altLang="en-US"/>
          </a:p>
        </p:txBody>
      </p:sp>
    </p:spTree>
    <p:extLst>
      <p:ext uri="{BB962C8B-B14F-4D97-AF65-F5344CB8AC3E}">
        <p14:creationId xmlns:p14="http://schemas.microsoft.com/office/powerpoint/2010/main" val="2316651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92100"/>
            <a:ext cx="8229600" cy="13843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457200" y="19050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endParaRPr lang="zh-CN" altLang="zh-CN">
              <a:solidFill>
                <a:srgbClr val="010199"/>
              </a:solidFill>
            </a:endParaRPr>
          </a:p>
        </p:txBody>
      </p:sp>
      <p:sp>
        <p:nvSpPr>
          <p:cNvPr id="41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endParaRPr lang="zh-CN" altLang="zh-CN">
              <a:solidFill>
                <a:srgbClr val="010199"/>
              </a:solidFill>
            </a:endParaRPr>
          </a:p>
        </p:txBody>
      </p:sp>
      <p:sp>
        <p:nvSpPr>
          <p:cNvPr id="410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charset="0"/>
                <a:ea typeface="宋体" charset="-122"/>
              </a:defRPr>
            </a:lvl1pPr>
          </a:lstStyle>
          <a:p>
            <a:pPr fontAlgn="base">
              <a:spcBef>
                <a:spcPct val="0"/>
              </a:spcBef>
              <a:spcAft>
                <a:spcPct val="0"/>
              </a:spcAft>
              <a:defRPr/>
            </a:pPr>
            <a:fld id="{1BE02CC3-7F54-4444-B682-87D61477DCDF}" type="slidenum">
              <a:rPr lang="en-US" altLang="zh-CN">
                <a:solidFill>
                  <a:srgbClr val="010199"/>
                </a:solidFill>
              </a:rPr>
              <a:pPr fontAlgn="base">
                <a:spcBef>
                  <a:spcPct val="0"/>
                </a:spcBef>
                <a:spcAft>
                  <a:spcPct val="0"/>
                </a:spcAft>
                <a:defRPr/>
              </a:pPr>
              <a:t>‹#›</a:t>
            </a:fld>
            <a:endParaRPr lang="en-US" altLang="zh-CN">
              <a:solidFill>
                <a:srgbClr val="010199"/>
              </a:solidFill>
            </a:endParaRPr>
          </a:p>
        </p:txBody>
      </p:sp>
    </p:spTree>
    <p:extLst>
      <p:ext uri="{BB962C8B-B14F-4D97-AF65-F5344CB8AC3E}">
        <p14:creationId xmlns:p14="http://schemas.microsoft.com/office/powerpoint/2010/main" val="25154686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l"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12000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Font typeface="Tahoma" pitchFamily="34" charset="0"/>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12000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Font typeface="Tahoma" pitchFamily="34" charset="0"/>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Wingdings" pitchFamily="2" charset="2"/>
        <a:buChar char="v"/>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6.bin"/><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emf"/><Relationship Id="rId5" Type="http://schemas.openxmlformats.org/officeDocument/2006/relationships/oleObject" Target="../embeddings/oleObject8.bin"/><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3.emf"/><Relationship Id="rId5" Type="http://schemas.openxmlformats.org/officeDocument/2006/relationships/oleObject" Target="../embeddings/oleObject10.bin"/><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1259632" y="1052736"/>
            <a:ext cx="6364288" cy="2884152"/>
          </a:xfrm>
        </p:spPr>
        <p:txBody>
          <a:bodyPr/>
          <a:lstStyle/>
          <a:p>
            <a:pPr eaLnBrk="1"/>
            <a:r>
              <a:rPr lang="zh-CN" altLang="en-US" sz="5400" b="1" dirty="0" smtClean="0">
                <a:solidFill>
                  <a:schemeClr val="tx1"/>
                </a:solidFill>
                <a:effectLst/>
                <a:latin typeface="微软雅黑" pitchFamily="34" charset="-122"/>
                <a:ea typeface="微软雅黑" pitchFamily="34" charset="-122"/>
                <a:cs typeface="Calibri" pitchFamily="34" charset="0"/>
              </a:rPr>
              <a:t>海洋天然产物化学</a:t>
            </a:r>
            <a:r>
              <a:rPr lang="en-US" altLang="zh-CN" sz="5400" b="1" dirty="0" smtClean="0">
                <a:solidFill>
                  <a:schemeClr val="tx1"/>
                </a:solidFill>
                <a:effectLst/>
                <a:latin typeface="微软雅黑" pitchFamily="34" charset="-122"/>
                <a:ea typeface="微软雅黑" pitchFamily="34" charset="-122"/>
                <a:cs typeface="Calibri" pitchFamily="34" charset="0"/>
              </a:rPr>
              <a:t/>
            </a:r>
            <a:br>
              <a:rPr lang="en-US" altLang="zh-CN" sz="5400" b="1" dirty="0" smtClean="0">
                <a:solidFill>
                  <a:schemeClr val="tx1"/>
                </a:solidFill>
                <a:effectLst/>
                <a:latin typeface="微软雅黑" pitchFamily="34" charset="-122"/>
                <a:ea typeface="微软雅黑" pitchFamily="34" charset="-122"/>
                <a:cs typeface="Calibri" pitchFamily="34" charset="0"/>
              </a:rPr>
            </a:br>
            <a:r>
              <a:rPr lang="en-US" altLang="zh-CN" sz="5400" b="1" dirty="0" smtClean="0">
                <a:solidFill>
                  <a:schemeClr val="tx1"/>
                </a:solidFill>
                <a:effectLst/>
                <a:latin typeface="Times New Roman" pitchFamily="18" charset="0"/>
                <a:ea typeface="华文楷体" pitchFamily="2" charset="-122"/>
                <a:cs typeface="Times New Roman" pitchFamily="18" charset="0"/>
              </a:rPr>
              <a:t>Marine Natural Product Chemistry</a:t>
            </a:r>
            <a:endParaRPr lang="en-GB" altLang="zh-CN" sz="5400" b="1" dirty="0" smtClean="0">
              <a:solidFill>
                <a:schemeClr val="tx1"/>
              </a:solidFill>
              <a:effectLst/>
              <a:latin typeface="Times New Roman" pitchFamily="18" charset="0"/>
              <a:ea typeface="华文楷体" pitchFamily="2" charset="-122"/>
              <a:cs typeface="Times New Roman" pitchFamily="18" charset="0"/>
            </a:endParaRPr>
          </a:p>
        </p:txBody>
      </p:sp>
      <p:sp>
        <p:nvSpPr>
          <p:cNvPr id="3075" name="Subtitle 2"/>
          <p:cNvSpPr>
            <a:spLocks noGrp="1"/>
          </p:cNvSpPr>
          <p:nvPr>
            <p:ph type="subTitle" idx="1"/>
          </p:nvPr>
        </p:nvSpPr>
        <p:spPr>
          <a:xfrm>
            <a:off x="152003" y="4437112"/>
            <a:ext cx="8884890" cy="1970063"/>
          </a:xfrm>
        </p:spPr>
        <p:txBody>
          <a:bodyPr/>
          <a:lstStyle/>
          <a:p>
            <a:r>
              <a:rPr lang="zh-CN" altLang="en-US" sz="2400" b="1" dirty="0" smtClean="0">
                <a:effectLst/>
                <a:latin typeface="等线" pitchFamily="2" charset="-122"/>
                <a:ea typeface="等线" pitchFamily="2" charset="-122"/>
                <a:cs typeface="Calibri" pitchFamily="34" charset="0"/>
              </a:rPr>
              <a:t>徐金钟</a:t>
            </a:r>
            <a:endParaRPr lang="en-US" altLang="zh-CN" sz="2400" b="1" dirty="0" smtClean="0">
              <a:effectLst/>
              <a:latin typeface="等线" pitchFamily="2" charset="-122"/>
              <a:ea typeface="等线" pitchFamily="2" charset="-122"/>
              <a:cs typeface="Calibri" pitchFamily="34" charset="0"/>
            </a:endParaRPr>
          </a:p>
          <a:p>
            <a:r>
              <a:rPr lang="en-US" altLang="zh-CN" sz="2400" b="1" dirty="0" smtClean="0">
                <a:effectLst/>
                <a:latin typeface="等线" pitchFamily="2" charset="-122"/>
                <a:ea typeface="等线" pitchFamily="2" charset="-122"/>
                <a:cs typeface="Calibri" pitchFamily="34" charset="0"/>
              </a:rPr>
              <a:t>xujinzhong@zju.edu.cn</a:t>
            </a:r>
            <a:endParaRPr lang="en-GB" altLang="zh-CN" sz="2400" b="1" dirty="0" smtClean="0">
              <a:effectLst/>
              <a:latin typeface="等线" pitchFamily="2" charset="-122"/>
              <a:ea typeface="等线" pitchFamily="2" charset="-122"/>
              <a:cs typeface="Calibri" pitchFamily="34" charset="0"/>
            </a:endParaRPr>
          </a:p>
          <a:p>
            <a:pPr eaLnBrk="1" hangingPunct="1"/>
            <a:r>
              <a:rPr lang="zh-CN" altLang="en-US" sz="2400" b="1" dirty="0" smtClean="0">
                <a:effectLst/>
                <a:latin typeface="等线" pitchFamily="2" charset="-122"/>
                <a:ea typeface="等线" pitchFamily="2" charset="-122"/>
                <a:cs typeface="Calibri" pitchFamily="34" charset="0"/>
              </a:rPr>
              <a:t>海洋生物与药物研究所</a:t>
            </a:r>
            <a:endParaRPr lang="en-US" altLang="zh-CN" sz="2400" b="1" dirty="0" smtClean="0">
              <a:effectLst/>
              <a:latin typeface="等线" pitchFamily="2" charset="-122"/>
              <a:ea typeface="等线" pitchFamily="2" charset="-122"/>
              <a:cs typeface="Calibri" pitchFamily="34" charset="0"/>
            </a:endParaRPr>
          </a:p>
          <a:p>
            <a:pPr eaLnBrk="1" hangingPunct="1"/>
            <a:r>
              <a:rPr lang="zh-CN" altLang="en-US" sz="2400" b="1" dirty="0" smtClean="0">
                <a:effectLst/>
                <a:latin typeface="等线" pitchFamily="2" charset="-122"/>
                <a:ea typeface="等线" pitchFamily="2" charset="-122"/>
                <a:cs typeface="Calibri" pitchFamily="34" charset="0"/>
              </a:rPr>
              <a:t>浙江大学</a:t>
            </a:r>
            <a:r>
              <a:rPr lang="en-US" altLang="zh-CN" sz="2400" b="1" dirty="0" smtClean="0">
                <a:effectLst/>
                <a:latin typeface="等线" pitchFamily="2" charset="-122"/>
                <a:ea typeface="等线" pitchFamily="2" charset="-122"/>
                <a:cs typeface="Calibri" pitchFamily="34" charset="0"/>
              </a:rPr>
              <a:t>/</a:t>
            </a:r>
            <a:r>
              <a:rPr lang="zh-CN" altLang="en-US" sz="2400" b="1" dirty="0" smtClean="0">
                <a:effectLst/>
                <a:latin typeface="等线" pitchFamily="2" charset="-122"/>
                <a:ea typeface="等线" pitchFamily="2" charset="-122"/>
                <a:cs typeface="Calibri" pitchFamily="34" charset="0"/>
              </a:rPr>
              <a:t>海洋学院</a:t>
            </a:r>
            <a:endParaRPr lang="en-US" altLang="zh-CN" sz="2400" b="1" dirty="0" smtClean="0">
              <a:effectLst/>
              <a:latin typeface="等线" pitchFamily="2" charset="-122"/>
              <a:ea typeface="等线" pitchFamily="2" charset="-122"/>
              <a:cs typeface="Calibri" pitchFamily="34"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4368" y="43089"/>
            <a:ext cx="1152525"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52560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00945" y="620688"/>
            <a:ext cx="8352928" cy="1754326"/>
          </a:xfrm>
          <a:prstGeom prst="rect">
            <a:avLst/>
          </a:prstGeom>
        </p:spPr>
        <p:txBody>
          <a:bodyPr wrap="square">
            <a:spAutoFit/>
          </a:bodyPr>
          <a:lstStyle/>
          <a:p>
            <a:pPr algn="ctr"/>
            <a:r>
              <a:rPr lang="zh-CN" altLang="en-US" sz="5400" b="1" dirty="0" smtClean="0">
                <a:latin typeface="微软雅黑" pitchFamily="34" charset="-122"/>
                <a:ea typeface="微软雅黑" pitchFamily="34" charset="-122"/>
              </a:rPr>
              <a:t>认识海洋天然产物</a:t>
            </a:r>
            <a:endParaRPr lang="en-US" altLang="zh-CN" sz="5400" b="1" dirty="0" smtClean="0">
              <a:latin typeface="微软雅黑" pitchFamily="34" charset="-122"/>
              <a:ea typeface="微软雅黑" pitchFamily="34" charset="-122"/>
            </a:endParaRPr>
          </a:p>
          <a:p>
            <a:pPr algn="ctr"/>
            <a:r>
              <a:rPr lang="en-US" altLang="zh-CN" sz="5400" b="1" dirty="0" smtClean="0">
                <a:latin typeface="微软雅黑" pitchFamily="34" charset="-122"/>
                <a:ea typeface="微软雅黑" pitchFamily="34" charset="-122"/>
              </a:rPr>
              <a:t>                  </a:t>
            </a:r>
            <a:r>
              <a:rPr lang="en-US" altLang="zh-CN" sz="4000" b="1" dirty="0" smtClean="0">
                <a:latin typeface="微软雅黑" pitchFamily="34" charset="-122"/>
                <a:ea typeface="微软雅黑" pitchFamily="34" charset="-122"/>
              </a:rPr>
              <a:t>——</a:t>
            </a:r>
            <a:r>
              <a:rPr lang="zh-CN" altLang="en-US" sz="4000" b="1" dirty="0" smtClean="0">
                <a:latin typeface="微软雅黑" pitchFamily="34" charset="-122"/>
                <a:ea typeface="微软雅黑" pitchFamily="34" charset="-122"/>
              </a:rPr>
              <a:t>结构类型</a:t>
            </a:r>
            <a:endParaRPr lang="zh-CN" altLang="en-US" sz="4000" b="1" dirty="0">
              <a:latin typeface="微软雅黑" pitchFamily="34" charset="-122"/>
              <a:ea typeface="微软雅黑" pitchFamily="34" charset="-122"/>
            </a:endParaRPr>
          </a:p>
        </p:txBody>
      </p:sp>
      <p:pic>
        <p:nvPicPr>
          <p:cNvPr id="1028" name="Picture 4" descr="Graphical abstract: Marine natural produc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439" y="2657737"/>
            <a:ext cx="6319940"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711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67771" y="2458302"/>
            <a:ext cx="1261884"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生物碱</a:t>
            </a:r>
            <a:endParaRPr lang="zh-CN" altLang="en-US" sz="2800" dirty="0">
              <a:latin typeface="微软雅黑" pitchFamily="34" charset="-122"/>
              <a:ea typeface="微软雅黑" pitchFamily="34" charset="-122"/>
            </a:endParaRPr>
          </a:p>
        </p:txBody>
      </p:sp>
      <p:sp>
        <p:nvSpPr>
          <p:cNvPr id="6" name="TextBox 5"/>
          <p:cNvSpPr txBox="1"/>
          <p:nvPr/>
        </p:nvSpPr>
        <p:spPr>
          <a:xfrm>
            <a:off x="3796236" y="1765750"/>
            <a:ext cx="902811"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肽类</a:t>
            </a:r>
            <a:endParaRPr lang="zh-CN" altLang="en-US" sz="2800" dirty="0">
              <a:latin typeface="微软雅黑" pitchFamily="34" charset="-122"/>
              <a:ea typeface="微软雅黑" pitchFamily="34" charset="-122"/>
            </a:endParaRPr>
          </a:p>
        </p:txBody>
      </p:sp>
      <p:sp>
        <p:nvSpPr>
          <p:cNvPr id="7" name="TextBox 6"/>
          <p:cNvSpPr txBox="1"/>
          <p:nvPr/>
        </p:nvSpPr>
        <p:spPr>
          <a:xfrm>
            <a:off x="3856096" y="3302800"/>
            <a:ext cx="902811"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萜类</a:t>
            </a:r>
            <a:endParaRPr lang="zh-CN" altLang="en-US" sz="2800" dirty="0">
              <a:latin typeface="微软雅黑" pitchFamily="34" charset="-122"/>
              <a:ea typeface="微软雅黑" pitchFamily="34" charset="-122"/>
            </a:endParaRPr>
          </a:p>
        </p:txBody>
      </p:sp>
      <p:sp>
        <p:nvSpPr>
          <p:cNvPr id="8" name="TextBox 7"/>
          <p:cNvSpPr txBox="1"/>
          <p:nvPr/>
        </p:nvSpPr>
        <p:spPr>
          <a:xfrm>
            <a:off x="4792200" y="3323122"/>
            <a:ext cx="902811"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甾类</a:t>
            </a:r>
            <a:endParaRPr lang="zh-CN" altLang="en-US" sz="2800" dirty="0">
              <a:latin typeface="微软雅黑" pitchFamily="34" charset="-122"/>
              <a:ea typeface="微软雅黑" pitchFamily="34" charset="-122"/>
            </a:endParaRPr>
          </a:p>
        </p:txBody>
      </p:sp>
      <p:sp>
        <p:nvSpPr>
          <p:cNvPr id="9" name="TextBox 8"/>
          <p:cNvSpPr txBox="1"/>
          <p:nvPr/>
        </p:nvSpPr>
        <p:spPr>
          <a:xfrm>
            <a:off x="520316" y="2719913"/>
            <a:ext cx="553998" cy="2259385"/>
          </a:xfrm>
          <a:prstGeom prst="rect">
            <a:avLst/>
          </a:prstGeom>
          <a:noFill/>
        </p:spPr>
        <p:txBody>
          <a:bodyPr vert="eaVert" wrap="square" rtlCol="0">
            <a:spAutoFit/>
          </a:bodyPr>
          <a:lstStyle/>
          <a:p>
            <a:r>
              <a:rPr lang="zh-CN" altLang="en-US" sz="2400" dirty="0" smtClean="0">
                <a:latin typeface="微软雅黑" pitchFamily="34" charset="-122"/>
                <a:ea typeface="微软雅黑" pitchFamily="34" charset="-122"/>
              </a:rPr>
              <a:t>是否含有氮原子</a:t>
            </a:r>
            <a:endParaRPr lang="zh-CN" altLang="en-US" sz="2400" dirty="0">
              <a:latin typeface="微软雅黑" pitchFamily="34" charset="-122"/>
              <a:ea typeface="微软雅黑" pitchFamily="34" charset="-122"/>
            </a:endParaRPr>
          </a:p>
        </p:txBody>
      </p:sp>
      <p:cxnSp>
        <p:nvCxnSpPr>
          <p:cNvPr id="12" name="直接箭头连接符 11"/>
          <p:cNvCxnSpPr/>
          <p:nvPr/>
        </p:nvCxnSpPr>
        <p:spPr>
          <a:xfrm flipV="1">
            <a:off x="1263808" y="2719913"/>
            <a:ext cx="1080120" cy="5232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1185600" y="4393183"/>
            <a:ext cx="10801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464441" y="2612190"/>
            <a:ext cx="415498" cy="369332"/>
          </a:xfrm>
          <a:prstGeom prst="rect">
            <a:avLst/>
          </a:prstGeom>
          <a:noFill/>
        </p:spPr>
        <p:txBody>
          <a:bodyPr wrap="none" rtlCol="0">
            <a:spAutoFit/>
          </a:bodyPr>
          <a:lstStyle/>
          <a:p>
            <a:r>
              <a:rPr lang="zh-CN" altLang="en-US" dirty="0" smtClean="0"/>
              <a:t>是</a:t>
            </a:r>
            <a:endParaRPr lang="zh-CN" altLang="en-US" dirty="0"/>
          </a:p>
        </p:txBody>
      </p:sp>
      <p:sp>
        <p:nvSpPr>
          <p:cNvPr id="17" name="TextBox 16"/>
          <p:cNvSpPr txBox="1"/>
          <p:nvPr/>
        </p:nvSpPr>
        <p:spPr>
          <a:xfrm>
            <a:off x="1464441" y="4406580"/>
            <a:ext cx="415498" cy="369332"/>
          </a:xfrm>
          <a:prstGeom prst="rect">
            <a:avLst/>
          </a:prstGeom>
          <a:noFill/>
        </p:spPr>
        <p:txBody>
          <a:bodyPr wrap="none" rtlCol="0">
            <a:spAutoFit/>
          </a:bodyPr>
          <a:lstStyle/>
          <a:p>
            <a:r>
              <a:rPr lang="zh-CN" altLang="en-US" dirty="0" smtClean="0"/>
              <a:t>否</a:t>
            </a:r>
            <a:endParaRPr lang="zh-CN" altLang="en-US" dirty="0"/>
          </a:p>
        </p:txBody>
      </p:sp>
      <p:cxnSp>
        <p:nvCxnSpPr>
          <p:cNvPr id="19" name="直接箭头连接符 18"/>
          <p:cNvCxnSpPr/>
          <p:nvPr/>
        </p:nvCxnSpPr>
        <p:spPr>
          <a:xfrm flipV="1">
            <a:off x="2775976" y="2156404"/>
            <a:ext cx="742392" cy="3018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257111" y="1758110"/>
            <a:ext cx="461665" cy="1708160"/>
          </a:xfrm>
          <a:prstGeom prst="rect">
            <a:avLst/>
          </a:prstGeom>
          <a:noFill/>
        </p:spPr>
        <p:txBody>
          <a:bodyPr vert="eaVert" wrap="none" rtlCol="0">
            <a:spAutoFit/>
          </a:bodyPr>
          <a:lstStyle/>
          <a:p>
            <a:r>
              <a:rPr lang="zh-CN" altLang="en-US" dirty="0" smtClean="0"/>
              <a:t>是否酰胺键连接</a:t>
            </a:r>
            <a:endParaRPr lang="zh-CN" altLang="en-US" dirty="0"/>
          </a:p>
        </p:txBody>
      </p:sp>
      <p:sp>
        <p:nvSpPr>
          <p:cNvPr id="24" name="TextBox 23"/>
          <p:cNvSpPr txBox="1"/>
          <p:nvPr/>
        </p:nvSpPr>
        <p:spPr>
          <a:xfrm>
            <a:off x="2892263" y="1971738"/>
            <a:ext cx="415498" cy="369332"/>
          </a:xfrm>
          <a:prstGeom prst="rect">
            <a:avLst/>
          </a:prstGeom>
          <a:noFill/>
        </p:spPr>
        <p:txBody>
          <a:bodyPr wrap="none" rtlCol="0">
            <a:spAutoFit/>
          </a:bodyPr>
          <a:lstStyle/>
          <a:p>
            <a:r>
              <a:rPr lang="zh-CN" altLang="en-US" dirty="0" smtClean="0"/>
              <a:t>是</a:t>
            </a:r>
            <a:endParaRPr lang="zh-CN" altLang="en-US" dirty="0"/>
          </a:p>
        </p:txBody>
      </p:sp>
      <p:sp>
        <p:nvSpPr>
          <p:cNvPr id="25" name="TextBox 24"/>
          <p:cNvSpPr txBox="1"/>
          <p:nvPr/>
        </p:nvSpPr>
        <p:spPr>
          <a:xfrm>
            <a:off x="2892263" y="2730260"/>
            <a:ext cx="415498" cy="369332"/>
          </a:xfrm>
          <a:prstGeom prst="rect">
            <a:avLst/>
          </a:prstGeom>
          <a:noFill/>
        </p:spPr>
        <p:txBody>
          <a:bodyPr wrap="none" rtlCol="0">
            <a:spAutoFit/>
          </a:bodyPr>
          <a:lstStyle/>
          <a:p>
            <a:r>
              <a:rPr lang="zh-CN" altLang="en-US" dirty="0" smtClean="0"/>
              <a:t>否</a:t>
            </a:r>
            <a:endParaRPr lang="zh-CN" altLang="en-US" dirty="0"/>
          </a:p>
        </p:txBody>
      </p:sp>
      <p:cxnSp>
        <p:nvCxnSpPr>
          <p:cNvPr id="27" name="直接箭头连接符 26"/>
          <p:cNvCxnSpPr/>
          <p:nvPr/>
        </p:nvCxnSpPr>
        <p:spPr>
          <a:xfrm flipV="1">
            <a:off x="2718776" y="2719912"/>
            <a:ext cx="849288"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271920" y="3967999"/>
            <a:ext cx="461665" cy="1246495"/>
          </a:xfrm>
          <a:prstGeom prst="rect">
            <a:avLst/>
          </a:prstGeom>
          <a:noFill/>
        </p:spPr>
        <p:txBody>
          <a:bodyPr vert="eaVert" wrap="none" rtlCol="0">
            <a:spAutoFit/>
          </a:bodyPr>
          <a:lstStyle/>
          <a:p>
            <a:r>
              <a:rPr lang="zh-CN" altLang="en-US" dirty="0" smtClean="0"/>
              <a:t>生合成途径</a:t>
            </a:r>
            <a:endParaRPr lang="zh-CN" altLang="en-US" dirty="0"/>
          </a:p>
        </p:txBody>
      </p:sp>
      <p:cxnSp>
        <p:nvCxnSpPr>
          <p:cNvPr id="32" name="直接箭头连接符 31"/>
          <p:cNvCxnSpPr/>
          <p:nvPr/>
        </p:nvCxnSpPr>
        <p:spPr>
          <a:xfrm flipV="1">
            <a:off x="2892263" y="3669085"/>
            <a:ext cx="747809" cy="332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932569" y="3466120"/>
            <a:ext cx="635495" cy="369332"/>
          </a:xfrm>
          <a:prstGeom prst="rect">
            <a:avLst/>
          </a:prstGeom>
          <a:noFill/>
        </p:spPr>
        <p:txBody>
          <a:bodyPr wrap="none" rtlCol="0">
            <a:spAutoFit/>
          </a:bodyPr>
          <a:lstStyle/>
          <a:p>
            <a:r>
              <a:rPr lang="en-US" altLang="zh-CN" dirty="0" smtClean="0"/>
              <a:t>MVA</a:t>
            </a:r>
            <a:endParaRPr lang="zh-CN" altLang="en-US" dirty="0"/>
          </a:p>
        </p:txBody>
      </p:sp>
      <p:cxnSp>
        <p:nvCxnSpPr>
          <p:cNvPr id="35" name="直接箭头连接符 34"/>
          <p:cNvCxnSpPr/>
          <p:nvPr/>
        </p:nvCxnSpPr>
        <p:spPr>
          <a:xfrm>
            <a:off x="2892263" y="4543252"/>
            <a:ext cx="7478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966533" y="4135174"/>
            <a:ext cx="527260" cy="369332"/>
          </a:xfrm>
          <a:prstGeom prst="rect">
            <a:avLst/>
          </a:prstGeom>
          <a:noFill/>
        </p:spPr>
        <p:txBody>
          <a:bodyPr wrap="none" rtlCol="0">
            <a:spAutoFit/>
          </a:bodyPr>
          <a:lstStyle/>
          <a:p>
            <a:r>
              <a:rPr lang="en-US" altLang="zh-CN" dirty="0" smtClean="0"/>
              <a:t>PKS</a:t>
            </a:r>
            <a:endParaRPr lang="zh-CN" altLang="en-US" dirty="0"/>
          </a:p>
        </p:txBody>
      </p:sp>
      <p:sp>
        <p:nvSpPr>
          <p:cNvPr id="41" name="TextBox 40"/>
          <p:cNvSpPr txBox="1"/>
          <p:nvPr/>
        </p:nvSpPr>
        <p:spPr>
          <a:xfrm>
            <a:off x="3894225" y="3918350"/>
            <a:ext cx="2550698" cy="1384995"/>
          </a:xfrm>
          <a:prstGeom prst="rect">
            <a:avLst/>
          </a:prstGeom>
          <a:noFill/>
        </p:spPr>
        <p:txBody>
          <a:bodyPr wrap="none" rtlCol="0">
            <a:spAutoFit/>
          </a:bodyPr>
          <a:lstStyle/>
          <a:p>
            <a:r>
              <a:rPr lang="zh-CN" altLang="en-US" sz="2800" dirty="0" smtClean="0">
                <a:solidFill>
                  <a:srgbClr val="FF0000"/>
                </a:solidFill>
                <a:latin typeface="微软雅黑" pitchFamily="34" charset="-122"/>
                <a:ea typeface="微软雅黑" pitchFamily="34" charset="-122"/>
              </a:rPr>
              <a:t>醌   大环内酯</a:t>
            </a:r>
            <a:endParaRPr lang="en-US" altLang="zh-CN" sz="2800" dirty="0" smtClean="0">
              <a:solidFill>
                <a:srgbClr val="FF0000"/>
              </a:solidFill>
              <a:latin typeface="微软雅黑" pitchFamily="34" charset="-122"/>
              <a:ea typeface="微软雅黑" pitchFamily="34" charset="-122"/>
            </a:endParaRPr>
          </a:p>
          <a:p>
            <a:r>
              <a:rPr lang="zh-CN" altLang="en-US" sz="2800" dirty="0" smtClean="0">
                <a:solidFill>
                  <a:srgbClr val="FF0000"/>
                </a:solidFill>
                <a:latin typeface="微软雅黑" pitchFamily="34" charset="-122"/>
                <a:ea typeface="微软雅黑" pitchFamily="34" charset="-122"/>
              </a:rPr>
              <a:t>聚醚  多聚乙酰</a:t>
            </a:r>
            <a:endParaRPr lang="en-US" altLang="zh-CN" sz="2800" dirty="0" smtClean="0">
              <a:solidFill>
                <a:srgbClr val="FF0000"/>
              </a:solidFill>
              <a:latin typeface="微软雅黑" pitchFamily="34" charset="-122"/>
              <a:ea typeface="微软雅黑" pitchFamily="34" charset="-122"/>
            </a:endParaRPr>
          </a:p>
          <a:p>
            <a:r>
              <a:rPr lang="zh-CN" altLang="en-US" sz="2800" dirty="0" smtClean="0">
                <a:solidFill>
                  <a:srgbClr val="FF0000"/>
                </a:solidFill>
                <a:latin typeface="微软雅黑" pitchFamily="34" charset="-122"/>
                <a:ea typeface="微软雅黑" pitchFamily="34" charset="-122"/>
              </a:rPr>
              <a:t>前列腺素类</a:t>
            </a:r>
            <a:endParaRPr lang="en-US" altLang="zh-CN" sz="2800" dirty="0" smtClean="0">
              <a:latin typeface="微软雅黑" pitchFamily="34" charset="-122"/>
              <a:ea typeface="微软雅黑" pitchFamily="34" charset="-122"/>
            </a:endParaRPr>
          </a:p>
        </p:txBody>
      </p:sp>
      <p:sp>
        <p:nvSpPr>
          <p:cNvPr id="42" name="矩形 41"/>
          <p:cNvSpPr/>
          <p:nvPr/>
        </p:nvSpPr>
        <p:spPr>
          <a:xfrm>
            <a:off x="3796236" y="1758109"/>
            <a:ext cx="2868172" cy="4237733"/>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TextBox 44"/>
          <p:cNvSpPr txBox="1"/>
          <p:nvPr/>
        </p:nvSpPr>
        <p:spPr>
          <a:xfrm>
            <a:off x="6664408" y="3356233"/>
            <a:ext cx="2148345" cy="769441"/>
          </a:xfrm>
          <a:prstGeom prst="rect">
            <a:avLst/>
          </a:prstGeom>
          <a:noFill/>
        </p:spPr>
        <p:txBody>
          <a:bodyPr wrap="none" rtlCol="0">
            <a:spAutoFit/>
          </a:bodyPr>
          <a:lstStyle/>
          <a:p>
            <a:r>
              <a:rPr lang="en-US" altLang="zh-CN" sz="4400" dirty="0" smtClean="0"/>
              <a:t>+ </a:t>
            </a:r>
            <a:r>
              <a:rPr lang="zh-CN" altLang="en-US" sz="2800" dirty="0" smtClean="0">
                <a:latin typeface="微软雅黑" pitchFamily="34" charset="-122"/>
                <a:ea typeface="微软雅黑" pitchFamily="34" charset="-122"/>
              </a:rPr>
              <a:t>糖 </a:t>
            </a:r>
            <a:r>
              <a:rPr lang="en-US" altLang="zh-CN" sz="2800" dirty="0" smtClean="0">
                <a:latin typeface="微软雅黑" pitchFamily="34" charset="-122"/>
                <a:ea typeface="微软雅黑" pitchFamily="34" charset="-122"/>
              </a:rPr>
              <a:t>= </a:t>
            </a:r>
            <a:r>
              <a:rPr lang="zh-CN" altLang="en-US" sz="2800" dirty="0" smtClean="0">
                <a:latin typeface="微软雅黑" pitchFamily="34" charset="-122"/>
                <a:ea typeface="微软雅黑" pitchFamily="34" charset="-122"/>
              </a:rPr>
              <a:t>糖苷</a:t>
            </a:r>
            <a:endParaRPr lang="zh-CN" altLang="en-US" sz="2800" dirty="0">
              <a:latin typeface="微软雅黑" pitchFamily="34" charset="-122"/>
              <a:ea typeface="微软雅黑" pitchFamily="34" charset="-122"/>
            </a:endParaRPr>
          </a:p>
        </p:txBody>
      </p:sp>
      <p:sp>
        <p:nvSpPr>
          <p:cNvPr id="48"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cxnSp>
        <p:nvCxnSpPr>
          <p:cNvPr id="51" name="直接箭头连接符 50"/>
          <p:cNvCxnSpPr/>
          <p:nvPr/>
        </p:nvCxnSpPr>
        <p:spPr>
          <a:xfrm>
            <a:off x="2892263" y="4979298"/>
            <a:ext cx="747809" cy="75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2666366" y="5073761"/>
            <a:ext cx="954107" cy="276999"/>
          </a:xfrm>
          <a:prstGeom prst="rect">
            <a:avLst/>
          </a:prstGeom>
          <a:noFill/>
        </p:spPr>
        <p:txBody>
          <a:bodyPr wrap="none" rtlCol="0">
            <a:spAutoFit/>
          </a:bodyPr>
          <a:lstStyle/>
          <a:p>
            <a:r>
              <a:rPr lang="zh-CN" altLang="en-US" sz="1200" dirty="0" smtClean="0"/>
              <a:t>桂皮酸途径</a:t>
            </a:r>
            <a:endParaRPr lang="zh-CN" altLang="en-US" sz="1200" dirty="0"/>
          </a:p>
        </p:txBody>
      </p:sp>
      <p:sp>
        <p:nvSpPr>
          <p:cNvPr id="54" name="TextBox 53"/>
          <p:cNvSpPr txBox="1"/>
          <p:nvPr/>
        </p:nvSpPr>
        <p:spPr>
          <a:xfrm>
            <a:off x="3964598" y="5472622"/>
            <a:ext cx="1620957" cy="523220"/>
          </a:xfrm>
          <a:prstGeom prst="rect">
            <a:avLst/>
          </a:prstGeom>
          <a:noFill/>
        </p:spPr>
        <p:txBody>
          <a:bodyPr wrap="none" rtlCol="0">
            <a:spAutoFit/>
          </a:bodyPr>
          <a:lstStyle/>
          <a:p>
            <a:r>
              <a:rPr lang="zh-CN" altLang="en-US" sz="2800" dirty="0" smtClean="0">
                <a:latin typeface="微软雅黑" pitchFamily="34" charset="-122"/>
                <a:ea typeface="微软雅黑" pitchFamily="34" charset="-122"/>
              </a:rPr>
              <a:t>苯丙素类</a:t>
            </a:r>
            <a:endParaRPr lang="zh-CN" altLang="en-US" sz="2800" dirty="0">
              <a:latin typeface="微软雅黑" pitchFamily="34" charset="-122"/>
              <a:ea typeface="微软雅黑" pitchFamily="34" charset="-122"/>
            </a:endParaRPr>
          </a:p>
        </p:txBody>
      </p:sp>
    </p:spTree>
    <p:extLst>
      <p:ext uri="{BB962C8B-B14F-4D97-AF65-F5344CB8AC3E}">
        <p14:creationId xmlns:p14="http://schemas.microsoft.com/office/powerpoint/2010/main" val="1587486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915" y="1377266"/>
            <a:ext cx="8352928" cy="4932053"/>
          </a:xfrm>
        </p:spPr>
        <p:txBody>
          <a:bodyPr>
            <a:noAutofit/>
          </a:bodyPr>
          <a:lstStyle/>
          <a:p>
            <a:pPr>
              <a:lnSpc>
                <a:spcPts val="5600"/>
              </a:lnSpc>
              <a:buClr>
                <a:srgbClr val="0070C0"/>
              </a:buClr>
              <a:buFont typeface="Wingdings" pitchFamily="2" charset="2"/>
              <a:buChar char="u"/>
            </a:pPr>
            <a:r>
              <a:rPr lang="zh-CN" altLang="en-US" dirty="0" smtClean="0">
                <a:solidFill>
                  <a:srgbClr val="FF0000"/>
                </a:solidFill>
                <a:latin typeface="微软雅黑" pitchFamily="34" charset="-122"/>
                <a:ea typeface="微软雅黑" pitchFamily="34" charset="-122"/>
              </a:rPr>
              <a:t>聚酮类</a:t>
            </a:r>
            <a:r>
              <a:rPr lang="en-US" altLang="zh-CN" dirty="0" err="1" smtClean="0">
                <a:solidFill>
                  <a:srgbClr val="FF0000"/>
                </a:solidFill>
                <a:latin typeface="微软雅黑" pitchFamily="34" charset="-122"/>
                <a:ea typeface="微软雅黑" pitchFamily="34" charset="-122"/>
              </a:rPr>
              <a:t>Polyketide</a:t>
            </a:r>
            <a:endParaRPr lang="en-US" altLang="zh-CN" dirty="0" smtClean="0">
              <a:solidFill>
                <a:srgbClr val="FF0000"/>
              </a:solidFill>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dirty="0">
                <a:latin typeface="微软雅黑" pitchFamily="34" charset="-122"/>
                <a:ea typeface="微软雅黑" pitchFamily="34" charset="-122"/>
              </a:rPr>
              <a:t>由聚酮合成酶（</a:t>
            </a:r>
            <a:r>
              <a:rPr lang="en-US" altLang="zh-CN" dirty="0" err="1">
                <a:latin typeface="微软雅黑" pitchFamily="34" charset="-122"/>
                <a:ea typeface="微软雅黑" pitchFamily="34" charset="-122"/>
              </a:rPr>
              <a:t>polyketide</a:t>
            </a:r>
            <a:r>
              <a:rPr lang="en-US" altLang="zh-CN" dirty="0">
                <a:latin typeface="微软雅黑" pitchFamily="34" charset="-122"/>
                <a:ea typeface="微软雅黑" pitchFamily="34" charset="-122"/>
              </a:rPr>
              <a:t> synthase</a:t>
            </a:r>
            <a:r>
              <a:rPr lang="zh-CN" altLang="en-US" dirty="0">
                <a:latin typeface="微软雅黑" pitchFamily="34" charset="-122"/>
                <a:ea typeface="微软雅黑" pitchFamily="34" charset="-122"/>
              </a:rPr>
              <a:t>，</a:t>
            </a:r>
            <a:r>
              <a:rPr lang="en-US" altLang="zh-CN" dirty="0">
                <a:latin typeface="微软雅黑" pitchFamily="34" charset="-122"/>
                <a:ea typeface="微软雅黑" pitchFamily="34" charset="-122"/>
              </a:rPr>
              <a:t>PKS)</a:t>
            </a:r>
            <a:r>
              <a:rPr lang="zh-CN" altLang="en-US" dirty="0">
                <a:latin typeface="微软雅黑" pitchFamily="34" charset="-122"/>
                <a:ea typeface="微软雅黑" pitchFamily="34" charset="-122"/>
              </a:rPr>
              <a:t>连续催化简单脂肪酸发生脱羧、克莱森缩合等反应而生成</a:t>
            </a:r>
            <a:r>
              <a:rPr lang="zh-CN" altLang="en-US" dirty="0" smtClean="0">
                <a:latin typeface="微软雅黑" pitchFamily="34" charset="-122"/>
                <a:ea typeface="微软雅黑" pitchFamily="34" charset="-122"/>
              </a:rPr>
              <a:t>的一大类天然产物。</a:t>
            </a:r>
            <a:endParaRPr lang="en-US" altLang="zh-CN" dirty="0" smtClean="0">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dirty="0" smtClean="0">
                <a:latin typeface="微软雅黑" pitchFamily="34" charset="-122"/>
                <a:ea typeface="微软雅黑" pitchFamily="34" charset="-122"/>
              </a:rPr>
              <a:t>包括醌、大环内酯、聚醚、多</a:t>
            </a:r>
            <a:r>
              <a:rPr lang="zh-CN" altLang="en-US" dirty="0">
                <a:latin typeface="微软雅黑" pitchFamily="34" charset="-122"/>
                <a:ea typeface="微软雅黑" pitchFamily="34" charset="-122"/>
              </a:rPr>
              <a:t>聚</a:t>
            </a:r>
            <a:r>
              <a:rPr lang="zh-CN" altLang="en-US" dirty="0" smtClean="0">
                <a:latin typeface="微软雅黑" pitchFamily="34" charset="-122"/>
                <a:ea typeface="微软雅黑" pitchFamily="34" charset="-122"/>
              </a:rPr>
              <a:t>乙酰、前列腺素类等</a:t>
            </a:r>
            <a:endParaRPr lang="zh-CN" altLang="en-US" dirty="0">
              <a:latin typeface="微软雅黑" pitchFamily="34" charset="-122"/>
              <a:ea typeface="微软雅黑" pitchFamily="34" charset="-122"/>
            </a:endParaRPr>
          </a:p>
          <a:p>
            <a:pPr>
              <a:lnSpc>
                <a:spcPts val="5600"/>
              </a:lnSpc>
              <a:buClr>
                <a:srgbClr val="0070C0"/>
              </a:buClr>
              <a:buFont typeface="Wingdings" pitchFamily="2" charset="2"/>
              <a:buChar char="u"/>
            </a:pPr>
            <a:endParaRPr lang="zh-CN" altLang="en-US" dirty="0">
              <a:latin typeface="微软雅黑" pitchFamily="34" charset="-122"/>
              <a:ea typeface="微软雅黑" pitchFamily="34" charset="-122"/>
            </a:endParaRPr>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290513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915" y="1377266"/>
            <a:ext cx="8352928" cy="4932053"/>
          </a:xfrm>
        </p:spPr>
        <p:txBody>
          <a:bodyPr>
            <a:noAutofit/>
          </a:bodyPr>
          <a:lstStyle/>
          <a:p>
            <a:pPr>
              <a:lnSpc>
                <a:spcPts val="5600"/>
              </a:lnSpc>
              <a:buClr>
                <a:srgbClr val="0070C0"/>
              </a:buClr>
              <a:buFont typeface="Wingdings" pitchFamily="2" charset="2"/>
              <a:buChar char="u"/>
            </a:pPr>
            <a:r>
              <a:rPr lang="zh-CN" altLang="en-US" dirty="0" smtClean="0">
                <a:solidFill>
                  <a:srgbClr val="FF0000"/>
                </a:solidFill>
                <a:latin typeface="微软雅黑" pitchFamily="34" charset="-122"/>
                <a:ea typeface="微软雅黑" pitchFamily="34" charset="-122"/>
              </a:rPr>
              <a:t>醌类</a:t>
            </a:r>
            <a:endParaRPr lang="en-US" altLang="zh-CN" dirty="0" smtClean="0">
              <a:solidFill>
                <a:srgbClr val="FF0000"/>
              </a:solidFill>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dirty="0">
                <a:latin typeface="微软雅黑" pitchFamily="34" charset="-122"/>
                <a:ea typeface="微软雅黑" pitchFamily="34" charset="-122"/>
              </a:rPr>
              <a:t>指分子内具有不饱和环二酮结构或容易转化变成这类结构的天然有机化合物。</a:t>
            </a:r>
          </a:p>
          <a:p>
            <a:pPr>
              <a:lnSpc>
                <a:spcPts val="5600"/>
              </a:lnSpc>
              <a:buClr>
                <a:srgbClr val="0070C0"/>
              </a:buClr>
              <a:buFont typeface="Wingdings" pitchFamily="2" charset="2"/>
              <a:buChar char="u"/>
            </a:pPr>
            <a:r>
              <a:rPr lang="zh-CN" altLang="en-US" dirty="0">
                <a:latin typeface="微软雅黑" pitchFamily="34" charset="-122"/>
                <a:ea typeface="微软雅黑" pitchFamily="34" charset="-122"/>
              </a:rPr>
              <a:t>天然醌类主要分为苯醌、萘醌、菲醌和蒽醌四种类型</a:t>
            </a:r>
            <a:r>
              <a:rPr lang="zh-CN" altLang="en-US"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海洋天然产物基本结构类型</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2185687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extLst>
              <p:ext uri="{D42A27DB-BD31-4B8C-83A1-F6EECF244321}">
                <p14:modId xmlns:p14="http://schemas.microsoft.com/office/powerpoint/2010/main" val="4172257341"/>
              </p:ext>
            </p:extLst>
          </p:nvPr>
        </p:nvGraphicFramePr>
        <p:xfrm>
          <a:off x="683568" y="1340768"/>
          <a:ext cx="5171380" cy="3982120"/>
        </p:xfrm>
        <a:graphic>
          <a:graphicData uri="http://schemas.openxmlformats.org/presentationml/2006/ole">
            <mc:AlternateContent xmlns:mc="http://schemas.openxmlformats.org/markup-compatibility/2006">
              <mc:Choice xmlns:v="urn:schemas-microsoft-com:vml" Requires="v">
                <p:oleObj spid="_x0000_s9272" name="CS ChemDraw Drawing" r:id="rId3" imgW="4886640" imgH="3761640" progId="ChemDraw.Document.6.0">
                  <p:embed/>
                </p:oleObj>
              </mc:Choice>
              <mc:Fallback>
                <p:oleObj name="CS ChemDraw Drawing" r:id="rId3" imgW="4886640" imgH="3761640" progId="ChemDraw.Document.6.0">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340768"/>
                        <a:ext cx="5171380" cy="3982120"/>
                      </a:xfrm>
                      <a:prstGeom prst="rect">
                        <a:avLst/>
                      </a:prstGeom>
                      <a:noFill/>
                      <a:ln>
                        <a:noFill/>
                      </a:ln>
                      <a:effectLst/>
                    </p:spPr>
                  </p:pic>
                </p:oleObj>
              </mc:Fallback>
            </mc:AlternateContent>
          </a:graphicData>
        </a:graphic>
      </p:graphicFrame>
      <p:graphicFrame>
        <p:nvGraphicFramePr>
          <p:cNvPr id="6" name="Object 3"/>
          <p:cNvGraphicFramePr>
            <a:graphicFrameLocks noChangeAspect="1"/>
          </p:cNvGraphicFramePr>
          <p:nvPr>
            <p:extLst>
              <p:ext uri="{D42A27DB-BD31-4B8C-83A1-F6EECF244321}">
                <p14:modId xmlns:p14="http://schemas.microsoft.com/office/powerpoint/2010/main" val="3360423802"/>
              </p:ext>
            </p:extLst>
          </p:nvPr>
        </p:nvGraphicFramePr>
        <p:xfrm>
          <a:off x="6012160" y="2204864"/>
          <a:ext cx="2070343" cy="2149971"/>
        </p:xfrm>
        <a:graphic>
          <a:graphicData uri="http://schemas.openxmlformats.org/presentationml/2006/ole">
            <mc:AlternateContent xmlns:mc="http://schemas.openxmlformats.org/markup-compatibility/2006">
              <mc:Choice xmlns:v="urn:schemas-microsoft-com:vml" Requires="v">
                <p:oleObj spid="_x0000_s9273" name="CS ChemDraw Drawing" r:id="rId5" imgW="1756800" imgH="1823760" progId="ChemDraw.Document.6.0">
                  <p:embed/>
                </p:oleObj>
              </mc:Choice>
              <mc:Fallback>
                <p:oleObj name="CS ChemDraw Drawing" r:id="rId5" imgW="1756800" imgH="1823760" progId="ChemDraw.Document.6.0">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2160" y="2204864"/>
                        <a:ext cx="2070343" cy="2149971"/>
                      </a:xfrm>
                      <a:prstGeom prst="rect">
                        <a:avLst/>
                      </a:prstGeom>
                      <a:noFill/>
                      <a:ln>
                        <a:noFill/>
                      </a:ln>
                      <a:effectLst/>
                    </p:spPr>
                  </p:pic>
                </p:oleObj>
              </mc:Fallback>
            </mc:AlternateContent>
          </a:graphicData>
        </a:graphic>
      </p:graphicFrame>
      <p:sp>
        <p:nvSpPr>
          <p:cNvPr id="8" name="TextBox 5"/>
          <p:cNvSpPr txBox="1">
            <a:spLocks noChangeArrowheads="1"/>
          </p:cNvSpPr>
          <p:nvPr/>
        </p:nvSpPr>
        <p:spPr bwMode="auto">
          <a:xfrm>
            <a:off x="1866031" y="5517231"/>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dirty="0">
                <a:latin typeface="微软雅黑" pitchFamily="34" charset="-122"/>
                <a:ea typeface="微软雅黑" pitchFamily="34" charset="-122"/>
              </a:rPr>
              <a:t>对醌</a:t>
            </a:r>
          </a:p>
        </p:txBody>
      </p:sp>
      <p:sp>
        <p:nvSpPr>
          <p:cNvPr id="9" name="TextBox 6"/>
          <p:cNvSpPr txBox="1">
            <a:spLocks noChangeArrowheads="1"/>
          </p:cNvSpPr>
          <p:nvPr/>
        </p:nvSpPr>
        <p:spPr bwMode="auto">
          <a:xfrm>
            <a:off x="6546551" y="5517231"/>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400" dirty="0">
                <a:latin typeface="微软雅黑" pitchFamily="34" charset="-122"/>
                <a:ea typeface="微软雅黑" pitchFamily="34" charset="-122"/>
              </a:rPr>
              <a:t>邻醌</a:t>
            </a:r>
          </a:p>
        </p:txBody>
      </p:sp>
    </p:spTree>
    <p:extLst>
      <p:ext uri="{BB962C8B-B14F-4D97-AF65-F5344CB8AC3E}">
        <p14:creationId xmlns:p14="http://schemas.microsoft.com/office/powerpoint/2010/main" val="22684162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4030249098"/>
              </p:ext>
            </p:extLst>
          </p:nvPr>
        </p:nvGraphicFramePr>
        <p:xfrm>
          <a:off x="4085887" y="1268760"/>
          <a:ext cx="5027612" cy="4389437"/>
        </p:xfrm>
        <a:graphic>
          <a:graphicData uri="http://schemas.openxmlformats.org/presentationml/2006/ole">
            <mc:AlternateContent xmlns:mc="http://schemas.openxmlformats.org/markup-compatibility/2006">
              <mc:Choice xmlns:v="urn:schemas-microsoft-com:vml" Requires="v">
                <p:oleObj spid="_x0000_s29725" name="CS ChemDraw Drawing" r:id="rId3" imgW="5027444" imgH="4390200" progId="ChemDraw.Document.6.0">
                  <p:embed/>
                </p:oleObj>
              </mc:Choice>
              <mc:Fallback>
                <p:oleObj name="CS ChemDraw Drawing" r:id="rId3" imgW="5027444" imgH="4390200" progId="ChemDraw.Document.6.0">
                  <p:embed/>
                  <p:pic>
                    <p:nvPicPr>
                      <p:cNvPr id="0" name=""/>
                      <p:cNvPicPr/>
                      <p:nvPr/>
                    </p:nvPicPr>
                    <p:blipFill>
                      <a:blip r:embed="rId4"/>
                      <a:stretch>
                        <a:fillRect/>
                      </a:stretch>
                    </p:blipFill>
                    <p:spPr>
                      <a:xfrm>
                        <a:off x="4085887" y="1268760"/>
                        <a:ext cx="5027612" cy="438943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807130101"/>
              </p:ext>
            </p:extLst>
          </p:nvPr>
        </p:nvGraphicFramePr>
        <p:xfrm>
          <a:off x="395536" y="3159189"/>
          <a:ext cx="3432175" cy="1719263"/>
        </p:xfrm>
        <a:graphic>
          <a:graphicData uri="http://schemas.openxmlformats.org/presentationml/2006/ole">
            <mc:AlternateContent xmlns:mc="http://schemas.openxmlformats.org/markup-compatibility/2006">
              <mc:Choice xmlns:v="urn:schemas-microsoft-com:vml" Requires="v">
                <p:oleObj spid="_x0000_s29726" name="CS ChemDraw Drawing" r:id="rId5" imgW="3431769" imgH="1718820" progId="ChemDraw.Document.6.0">
                  <p:embed/>
                </p:oleObj>
              </mc:Choice>
              <mc:Fallback>
                <p:oleObj name="CS ChemDraw Drawing" r:id="rId5" imgW="3431769" imgH="1718820" progId="ChemDraw.Document.6.0">
                  <p:embed/>
                  <p:pic>
                    <p:nvPicPr>
                      <p:cNvPr id="0" name=""/>
                      <p:cNvPicPr/>
                      <p:nvPr/>
                    </p:nvPicPr>
                    <p:blipFill>
                      <a:blip r:embed="rId6"/>
                      <a:stretch>
                        <a:fillRect/>
                      </a:stretch>
                    </p:blipFill>
                    <p:spPr>
                      <a:xfrm>
                        <a:off x="395536" y="3159189"/>
                        <a:ext cx="3432175" cy="1719263"/>
                      </a:xfrm>
                      <a:prstGeom prst="rect">
                        <a:avLst/>
                      </a:prstGeom>
                    </p:spPr>
                  </p:pic>
                </p:oleObj>
              </mc:Fallback>
            </mc:AlternateContent>
          </a:graphicData>
        </a:graphic>
      </p:graphicFrame>
      <p:sp>
        <p:nvSpPr>
          <p:cNvPr id="12" name="TextBox 11"/>
          <p:cNvSpPr txBox="1"/>
          <p:nvPr/>
        </p:nvSpPr>
        <p:spPr>
          <a:xfrm>
            <a:off x="899592" y="5054450"/>
            <a:ext cx="2367956" cy="369332"/>
          </a:xfrm>
          <a:prstGeom prst="rect">
            <a:avLst/>
          </a:prstGeom>
          <a:noFill/>
        </p:spPr>
        <p:txBody>
          <a:bodyPr wrap="none" rtlCol="0">
            <a:spAutoFit/>
          </a:bodyPr>
          <a:lstStyle/>
          <a:p>
            <a:r>
              <a:rPr lang="zh-CN" altLang="en-US" dirty="0" smtClean="0"/>
              <a:t>胭脂红酸</a:t>
            </a:r>
            <a:r>
              <a:rPr lang="en-US" altLang="zh-CN" dirty="0" err="1" smtClean="0"/>
              <a:t>Carminic</a:t>
            </a:r>
            <a:r>
              <a:rPr lang="en-US" altLang="zh-CN" dirty="0" smtClean="0"/>
              <a:t> acid</a:t>
            </a:r>
            <a:endParaRPr lang="zh-CN" altLang="en-US" dirty="0"/>
          </a:p>
        </p:txBody>
      </p:sp>
      <p:sp>
        <p:nvSpPr>
          <p:cNvPr id="14" name="TextBox 13"/>
          <p:cNvSpPr txBox="1"/>
          <p:nvPr/>
        </p:nvSpPr>
        <p:spPr>
          <a:xfrm>
            <a:off x="6084168" y="5908630"/>
            <a:ext cx="1031051" cy="430887"/>
          </a:xfrm>
          <a:prstGeom prst="rect">
            <a:avLst/>
          </a:prstGeom>
          <a:noFill/>
        </p:spPr>
        <p:txBody>
          <a:bodyPr wrap="none" rtlCol="0">
            <a:spAutoFit/>
          </a:bodyPr>
          <a:lstStyle/>
          <a:p>
            <a:r>
              <a:rPr lang="zh-CN" altLang="en-US" sz="2200" dirty="0" smtClean="0"/>
              <a:t>胭脂红</a:t>
            </a:r>
            <a:endParaRPr lang="zh-CN" altLang="en-US" sz="2200" dirty="0"/>
          </a:p>
        </p:txBody>
      </p:sp>
      <p:sp>
        <p:nvSpPr>
          <p:cNvPr id="15" name="TextBox 14"/>
          <p:cNvSpPr txBox="1"/>
          <p:nvPr/>
        </p:nvSpPr>
        <p:spPr>
          <a:xfrm>
            <a:off x="1475656" y="6237312"/>
            <a:ext cx="5724644" cy="461665"/>
          </a:xfrm>
          <a:prstGeom prst="rect">
            <a:avLst/>
          </a:prstGeom>
          <a:noFill/>
        </p:spPr>
        <p:txBody>
          <a:bodyPr wrap="none" rtlCol="0">
            <a:spAutoFit/>
          </a:bodyPr>
          <a:lstStyle/>
          <a:p>
            <a:r>
              <a:rPr lang="zh-CN" altLang="en-US" sz="2400" dirty="0" smtClean="0">
                <a:solidFill>
                  <a:srgbClr val="FF0000"/>
                </a:solidFill>
                <a:latin typeface="微软雅黑" pitchFamily="34" charset="-122"/>
                <a:ea typeface="微软雅黑" pitchFamily="34" charset="-122"/>
              </a:rPr>
              <a:t>西班牙殖民者保守</a:t>
            </a:r>
            <a:r>
              <a:rPr lang="zh-CN" altLang="en-US" sz="2400" dirty="0" smtClean="0">
                <a:solidFill>
                  <a:srgbClr val="FF0000"/>
                </a:solidFill>
                <a:latin typeface="微软雅黑" pitchFamily="34" charset="-122"/>
                <a:ea typeface="微软雅黑" pitchFamily="34" charset="-122"/>
              </a:rPr>
              <a:t>了一个半世纪的</a:t>
            </a:r>
            <a:r>
              <a:rPr lang="zh-CN" altLang="en-US" sz="2400" dirty="0" smtClean="0">
                <a:solidFill>
                  <a:srgbClr val="FF0000"/>
                </a:solidFill>
                <a:latin typeface="微软雅黑" pitchFamily="34" charset="-122"/>
                <a:ea typeface="微软雅黑" pitchFamily="34" charset="-122"/>
              </a:rPr>
              <a:t>秘密！</a:t>
            </a:r>
            <a:endParaRPr lang="zh-CN" altLang="en-US" sz="2400" dirty="0">
              <a:solidFill>
                <a:srgbClr val="FF0000"/>
              </a:solidFill>
              <a:latin typeface="微软雅黑" pitchFamily="34" charset="-122"/>
              <a:ea typeface="微软雅黑" pitchFamily="34" charset="-122"/>
            </a:endParaRPr>
          </a:p>
        </p:txBody>
      </p:sp>
      <p:sp>
        <p:nvSpPr>
          <p:cNvPr id="16" name="AutoShape 5" descr="http://img3.imgtn.bdimg.com/it/u=852140333,1162642276&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970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975" y="495682"/>
            <a:ext cx="3438382"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1259632" y="2380238"/>
            <a:ext cx="877163" cy="369332"/>
          </a:xfrm>
          <a:prstGeom prst="rect">
            <a:avLst/>
          </a:prstGeom>
          <a:noFill/>
        </p:spPr>
        <p:txBody>
          <a:bodyPr wrap="none" rtlCol="0">
            <a:spAutoFit/>
          </a:bodyPr>
          <a:lstStyle/>
          <a:p>
            <a:r>
              <a:rPr lang="zh-CN" altLang="en-US" dirty="0" smtClean="0"/>
              <a:t>胭脂虫</a:t>
            </a:r>
            <a:endParaRPr lang="zh-CN" altLang="en-US" dirty="0"/>
          </a:p>
        </p:txBody>
      </p:sp>
    </p:spTree>
    <p:extLst>
      <p:ext uri="{BB962C8B-B14F-4D97-AF65-F5344CB8AC3E}">
        <p14:creationId xmlns:p14="http://schemas.microsoft.com/office/powerpoint/2010/main" val="31144066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71565178"/>
              </p:ext>
            </p:extLst>
          </p:nvPr>
        </p:nvGraphicFramePr>
        <p:xfrm>
          <a:off x="399885" y="1412776"/>
          <a:ext cx="3816350" cy="2876550"/>
        </p:xfrm>
        <a:graphic>
          <a:graphicData uri="http://schemas.openxmlformats.org/presentationml/2006/ole">
            <mc:AlternateContent xmlns:mc="http://schemas.openxmlformats.org/markup-compatibility/2006">
              <mc:Choice xmlns:v="urn:schemas-microsoft-com:vml" Requires="v">
                <p:oleObj spid="_x0000_s30743" name="CS ChemDraw Drawing" r:id="rId3" imgW="3815898" imgH="2876850" progId="ChemDraw.Document.6.0">
                  <p:embed/>
                </p:oleObj>
              </mc:Choice>
              <mc:Fallback>
                <p:oleObj name="CS ChemDraw Drawing" r:id="rId3" imgW="3815898" imgH="2876850" progId="ChemDraw.Document.6.0">
                  <p:embed/>
                  <p:pic>
                    <p:nvPicPr>
                      <p:cNvPr id="0" name=""/>
                      <p:cNvPicPr/>
                      <p:nvPr/>
                    </p:nvPicPr>
                    <p:blipFill>
                      <a:blip r:embed="rId4"/>
                      <a:stretch>
                        <a:fillRect/>
                      </a:stretch>
                    </p:blipFill>
                    <p:spPr>
                      <a:xfrm>
                        <a:off x="399885" y="1412776"/>
                        <a:ext cx="3816350" cy="2876550"/>
                      </a:xfrm>
                      <a:prstGeom prst="rect">
                        <a:avLst/>
                      </a:prstGeom>
                    </p:spPr>
                  </p:pic>
                </p:oleObj>
              </mc:Fallback>
            </mc:AlternateContent>
          </a:graphicData>
        </a:graphic>
      </p:graphicFrame>
      <p:sp>
        <p:nvSpPr>
          <p:cNvPr id="3" name="TextBox 2"/>
          <p:cNvSpPr txBox="1"/>
          <p:nvPr/>
        </p:nvSpPr>
        <p:spPr>
          <a:xfrm>
            <a:off x="975949" y="4581128"/>
            <a:ext cx="2398157" cy="769441"/>
          </a:xfrm>
          <a:prstGeom prst="rect">
            <a:avLst/>
          </a:prstGeom>
          <a:noFill/>
        </p:spPr>
        <p:txBody>
          <a:bodyPr wrap="none" rtlCol="0">
            <a:spAutoFit/>
          </a:bodyPr>
          <a:lstStyle/>
          <a:p>
            <a:r>
              <a:rPr lang="zh-CN" altLang="en-US" sz="2200" dirty="0" smtClean="0"/>
              <a:t>阿霉素</a:t>
            </a:r>
            <a:r>
              <a:rPr lang="en-US" altLang="zh-CN" sz="2200" dirty="0" smtClean="0"/>
              <a:t>Doxorubicin</a:t>
            </a:r>
          </a:p>
          <a:p>
            <a:r>
              <a:rPr lang="zh-CN" altLang="en-US" sz="2200" dirty="0"/>
              <a:t>抗肿瘤</a:t>
            </a:r>
          </a:p>
        </p:txBody>
      </p:sp>
      <p:graphicFrame>
        <p:nvGraphicFramePr>
          <p:cNvPr id="4" name="对象 3"/>
          <p:cNvGraphicFramePr>
            <a:graphicFrameLocks noChangeAspect="1"/>
          </p:cNvGraphicFramePr>
          <p:nvPr>
            <p:extLst>
              <p:ext uri="{D42A27DB-BD31-4B8C-83A1-F6EECF244321}">
                <p14:modId xmlns:p14="http://schemas.microsoft.com/office/powerpoint/2010/main" val="4168957486"/>
              </p:ext>
            </p:extLst>
          </p:nvPr>
        </p:nvGraphicFramePr>
        <p:xfrm>
          <a:off x="5008397" y="1556792"/>
          <a:ext cx="3290887" cy="2876550"/>
        </p:xfrm>
        <a:graphic>
          <a:graphicData uri="http://schemas.openxmlformats.org/presentationml/2006/ole">
            <mc:AlternateContent xmlns:mc="http://schemas.openxmlformats.org/markup-compatibility/2006">
              <mc:Choice xmlns:v="urn:schemas-microsoft-com:vml" Requires="v">
                <p:oleObj spid="_x0000_s30744" name="CS ChemDraw Drawing" r:id="rId5" imgW="3291570" imgH="2876850" progId="ChemDraw.Document.6.0">
                  <p:embed/>
                </p:oleObj>
              </mc:Choice>
              <mc:Fallback>
                <p:oleObj name="CS ChemDraw Drawing" r:id="rId5" imgW="3291570" imgH="2876850" progId="ChemDraw.Document.6.0">
                  <p:embed/>
                  <p:pic>
                    <p:nvPicPr>
                      <p:cNvPr id="0" name=""/>
                      <p:cNvPicPr/>
                      <p:nvPr/>
                    </p:nvPicPr>
                    <p:blipFill>
                      <a:blip r:embed="rId6"/>
                      <a:stretch>
                        <a:fillRect/>
                      </a:stretch>
                    </p:blipFill>
                    <p:spPr>
                      <a:xfrm>
                        <a:off x="5008397" y="1556792"/>
                        <a:ext cx="3290887" cy="2876550"/>
                      </a:xfrm>
                      <a:prstGeom prst="rect">
                        <a:avLst/>
                      </a:prstGeom>
                    </p:spPr>
                  </p:pic>
                </p:oleObj>
              </mc:Fallback>
            </mc:AlternateContent>
          </a:graphicData>
        </a:graphic>
      </p:graphicFrame>
      <p:sp>
        <p:nvSpPr>
          <p:cNvPr id="10" name="TextBox 9"/>
          <p:cNvSpPr txBox="1"/>
          <p:nvPr/>
        </p:nvSpPr>
        <p:spPr>
          <a:xfrm>
            <a:off x="5512453" y="4581939"/>
            <a:ext cx="2853666" cy="769441"/>
          </a:xfrm>
          <a:prstGeom prst="rect">
            <a:avLst/>
          </a:prstGeom>
          <a:noFill/>
        </p:spPr>
        <p:txBody>
          <a:bodyPr wrap="none" rtlCol="0">
            <a:spAutoFit/>
          </a:bodyPr>
          <a:lstStyle/>
          <a:p>
            <a:r>
              <a:rPr lang="zh-CN" altLang="en-US" sz="2200" dirty="0" smtClean="0"/>
              <a:t>道诺霉素</a:t>
            </a:r>
            <a:r>
              <a:rPr lang="en-US" altLang="zh-CN" sz="2200" dirty="0" err="1" smtClean="0"/>
              <a:t>Daonorubicin</a:t>
            </a:r>
            <a:endParaRPr lang="en-US" altLang="zh-CN" sz="2200" dirty="0" smtClean="0"/>
          </a:p>
          <a:p>
            <a:r>
              <a:rPr lang="zh-CN" altLang="en-US" sz="2200" dirty="0" smtClean="0"/>
              <a:t>抗</a:t>
            </a:r>
            <a:r>
              <a:rPr lang="zh-CN" altLang="en-US" sz="2200" dirty="0"/>
              <a:t>肿瘤</a:t>
            </a:r>
          </a:p>
        </p:txBody>
      </p:sp>
      <p:sp>
        <p:nvSpPr>
          <p:cNvPr id="5" name="TextBox 4"/>
          <p:cNvSpPr txBox="1"/>
          <p:nvPr/>
        </p:nvSpPr>
        <p:spPr>
          <a:xfrm>
            <a:off x="2483768" y="5507145"/>
            <a:ext cx="4185761" cy="461665"/>
          </a:xfrm>
          <a:prstGeom prst="rect">
            <a:avLst/>
          </a:prstGeom>
          <a:noFill/>
        </p:spPr>
        <p:txBody>
          <a:bodyPr wrap="none" rtlCol="0">
            <a:spAutoFit/>
          </a:bodyPr>
          <a:lstStyle/>
          <a:p>
            <a:r>
              <a:rPr lang="zh-CN" altLang="en-US" sz="2400" dirty="0" smtClean="0">
                <a:latin typeface="微软雅黑" pitchFamily="34" charset="-122"/>
                <a:ea typeface="微软雅黑" pitchFamily="34" charset="-122"/>
              </a:rPr>
              <a:t>链霉菌中发现的抗肿瘤抗生素</a:t>
            </a:r>
            <a:endParaRPr lang="zh-CN" altLang="en-US" sz="2400" dirty="0">
              <a:latin typeface="微软雅黑" pitchFamily="34" charset="-122"/>
              <a:ea typeface="微软雅黑" pitchFamily="34" charset="-122"/>
            </a:endParaRPr>
          </a:p>
        </p:txBody>
      </p:sp>
      <p:sp>
        <p:nvSpPr>
          <p:cNvPr id="6" name="矩形 5"/>
          <p:cNvSpPr/>
          <p:nvPr/>
        </p:nvSpPr>
        <p:spPr>
          <a:xfrm>
            <a:off x="2187421" y="6403409"/>
            <a:ext cx="4339650" cy="369332"/>
          </a:xfrm>
          <a:prstGeom prst="rect">
            <a:avLst/>
          </a:prstGeom>
        </p:spPr>
        <p:txBody>
          <a:bodyPr wrap="none">
            <a:spAutoFit/>
          </a:bodyPr>
          <a:lstStyle/>
          <a:p>
            <a:r>
              <a:rPr lang="zh-CN" altLang="en-US" dirty="0" smtClean="0"/>
              <a:t>表柔</a:t>
            </a:r>
            <a:r>
              <a:rPr lang="zh-CN" altLang="en-US" dirty="0"/>
              <a:t>比星、去甲氧基柔红霉素、戊柔比星</a:t>
            </a:r>
          </a:p>
        </p:txBody>
      </p:sp>
    </p:spTree>
    <p:extLst>
      <p:ext uri="{BB962C8B-B14F-4D97-AF65-F5344CB8AC3E}">
        <p14:creationId xmlns:p14="http://schemas.microsoft.com/office/powerpoint/2010/main" val="28282984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915" y="1377266"/>
            <a:ext cx="8352928" cy="3635909"/>
          </a:xfrm>
        </p:spPr>
        <p:txBody>
          <a:bodyPr>
            <a:noAutofit/>
          </a:bodyPr>
          <a:lstStyle/>
          <a:p>
            <a:pPr>
              <a:lnSpc>
                <a:spcPts val="5600"/>
              </a:lnSpc>
              <a:buClr>
                <a:srgbClr val="0070C0"/>
              </a:buClr>
              <a:buFont typeface="Wingdings" pitchFamily="2" charset="2"/>
              <a:buChar char="u"/>
            </a:pPr>
            <a:r>
              <a:rPr lang="zh-CN" altLang="en-US" dirty="0">
                <a:solidFill>
                  <a:srgbClr val="FF0000"/>
                </a:solidFill>
                <a:latin typeface="微软雅黑" pitchFamily="34" charset="-122"/>
                <a:ea typeface="微软雅黑" pitchFamily="34" charset="-122"/>
              </a:rPr>
              <a:t>海洋</a:t>
            </a:r>
            <a:r>
              <a:rPr lang="zh-CN" altLang="en-US" dirty="0" smtClean="0">
                <a:solidFill>
                  <a:srgbClr val="FF0000"/>
                </a:solidFill>
                <a:latin typeface="微软雅黑" pitchFamily="34" charset="-122"/>
                <a:ea typeface="微软雅黑" pitchFamily="34" charset="-122"/>
              </a:rPr>
              <a:t>醌类</a:t>
            </a:r>
            <a:endParaRPr lang="en-US" altLang="zh-CN" dirty="0" smtClean="0">
              <a:solidFill>
                <a:srgbClr val="FF0000"/>
              </a:solidFill>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dirty="0" smtClean="0">
                <a:latin typeface="微软雅黑" pitchFamily="34" charset="-122"/>
                <a:ea typeface="微软雅黑" pitchFamily="34" charset="-122"/>
              </a:rPr>
              <a:t>海绵、海鞘</a:t>
            </a:r>
            <a:r>
              <a:rPr lang="zh-CN" altLang="en-US" dirty="0" smtClean="0">
                <a:latin typeface="微软雅黑" pitchFamily="34" charset="-122"/>
                <a:ea typeface="微软雅黑" pitchFamily="34" charset="-122"/>
              </a:rPr>
              <a:t>、腔肠动物、棘皮动物</a:t>
            </a:r>
            <a:r>
              <a:rPr lang="zh-CN" altLang="en-US" dirty="0" smtClean="0">
                <a:latin typeface="微软雅黑" pitchFamily="34" charset="-122"/>
                <a:ea typeface="微软雅黑" pitchFamily="34" charset="-122"/>
              </a:rPr>
              <a:t>等海洋动物中发现多种醌类化合物，有些作为海洋动物色素。</a:t>
            </a:r>
            <a:endParaRPr lang="en-US" altLang="zh-CN" dirty="0" smtClean="0">
              <a:latin typeface="微软雅黑" pitchFamily="34" charset="-122"/>
              <a:ea typeface="微软雅黑" pitchFamily="34" charset="-122"/>
            </a:endParaRPr>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醌类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28941337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241153470"/>
              </p:ext>
            </p:extLst>
          </p:nvPr>
        </p:nvGraphicFramePr>
        <p:xfrm>
          <a:off x="179512" y="404663"/>
          <a:ext cx="8796354" cy="2324815"/>
        </p:xfrm>
        <a:graphic>
          <a:graphicData uri="http://schemas.openxmlformats.org/presentationml/2006/ole">
            <mc:AlternateContent xmlns:mc="http://schemas.openxmlformats.org/markup-compatibility/2006">
              <mc:Choice xmlns:v="urn:schemas-microsoft-com:vml" Requires="v">
                <p:oleObj spid="_x0000_s19497" name="CS ChemDraw Drawing" r:id="rId3" imgW="6109327" imgH="1615140" progId="ChemDraw.Document.6.0">
                  <p:embed/>
                </p:oleObj>
              </mc:Choice>
              <mc:Fallback>
                <p:oleObj name="CS ChemDraw Drawing" r:id="rId3" imgW="6109327" imgH="1615140" progId="ChemDraw.Document.6.0">
                  <p:embed/>
                  <p:pic>
                    <p:nvPicPr>
                      <p:cNvPr id="0" name=""/>
                      <p:cNvPicPr/>
                      <p:nvPr/>
                    </p:nvPicPr>
                    <p:blipFill>
                      <a:blip r:embed="rId4"/>
                      <a:stretch>
                        <a:fillRect/>
                      </a:stretch>
                    </p:blipFill>
                    <p:spPr>
                      <a:xfrm>
                        <a:off x="179512" y="404663"/>
                        <a:ext cx="8796354" cy="2324815"/>
                      </a:xfrm>
                      <a:prstGeom prst="rect">
                        <a:avLst/>
                      </a:prstGeom>
                    </p:spPr>
                  </p:pic>
                </p:oleObj>
              </mc:Fallback>
            </mc:AlternateContent>
          </a:graphicData>
        </a:graphic>
      </p:graphicFrame>
      <p:sp>
        <p:nvSpPr>
          <p:cNvPr id="3" name="TextBox 2"/>
          <p:cNvSpPr txBox="1"/>
          <p:nvPr/>
        </p:nvSpPr>
        <p:spPr>
          <a:xfrm>
            <a:off x="3433259" y="2751311"/>
            <a:ext cx="2031325" cy="461665"/>
          </a:xfrm>
          <a:prstGeom prst="rect">
            <a:avLst/>
          </a:prstGeom>
          <a:noFill/>
        </p:spPr>
        <p:txBody>
          <a:bodyPr wrap="none" rtlCol="0">
            <a:spAutoFit/>
          </a:bodyPr>
          <a:lstStyle/>
          <a:p>
            <a:r>
              <a:rPr lang="zh-CN" altLang="en-US" sz="2400" dirty="0" smtClean="0">
                <a:latin typeface="微软雅黑" pitchFamily="34" charset="-122"/>
                <a:ea typeface="微软雅黑" pitchFamily="34" charset="-122"/>
              </a:rPr>
              <a:t>海胆醌类色素</a:t>
            </a:r>
            <a:endParaRPr lang="zh-CN" altLang="en-US" sz="2400" dirty="0">
              <a:latin typeface="微软雅黑" pitchFamily="34" charset="-122"/>
              <a:ea typeface="微软雅黑" pitchFamily="34"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16987745"/>
              </p:ext>
            </p:extLst>
          </p:nvPr>
        </p:nvGraphicFramePr>
        <p:xfrm>
          <a:off x="1259632" y="3356992"/>
          <a:ext cx="6628614" cy="2448272"/>
        </p:xfrm>
        <a:graphic>
          <a:graphicData uri="http://schemas.openxmlformats.org/presentationml/2006/ole">
            <mc:AlternateContent xmlns:mc="http://schemas.openxmlformats.org/markup-compatibility/2006">
              <mc:Choice xmlns:v="urn:schemas-microsoft-com:vml" Requires="v">
                <p:oleObj spid="_x0000_s19498" name="CS ChemDraw Drawing" r:id="rId5" imgW="5583648" imgH="2061450" progId="ChemDraw.Document.6.0">
                  <p:embed/>
                </p:oleObj>
              </mc:Choice>
              <mc:Fallback>
                <p:oleObj name="CS ChemDraw Drawing" r:id="rId5" imgW="5583648" imgH="2061450" progId="ChemDraw.Document.6.0">
                  <p:embed/>
                  <p:pic>
                    <p:nvPicPr>
                      <p:cNvPr id="0" name=""/>
                      <p:cNvPicPr/>
                      <p:nvPr/>
                    </p:nvPicPr>
                    <p:blipFill>
                      <a:blip r:embed="rId6"/>
                      <a:stretch>
                        <a:fillRect/>
                      </a:stretch>
                    </p:blipFill>
                    <p:spPr>
                      <a:xfrm>
                        <a:off x="1259632" y="3356992"/>
                        <a:ext cx="6628614" cy="2448272"/>
                      </a:xfrm>
                      <a:prstGeom prst="rect">
                        <a:avLst/>
                      </a:prstGeom>
                    </p:spPr>
                  </p:pic>
                </p:oleObj>
              </mc:Fallback>
            </mc:AlternateContent>
          </a:graphicData>
        </a:graphic>
      </p:graphicFrame>
      <p:sp>
        <p:nvSpPr>
          <p:cNvPr id="10" name="矩形 9"/>
          <p:cNvSpPr/>
          <p:nvPr/>
        </p:nvSpPr>
        <p:spPr>
          <a:xfrm>
            <a:off x="3563888" y="5949280"/>
            <a:ext cx="1415772" cy="461665"/>
          </a:xfrm>
          <a:prstGeom prst="rect">
            <a:avLst/>
          </a:prstGeom>
        </p:spPr>
        <p:txBody>
          <a:bodyPr wrap="none">
            <a:spAutoFit/>
          </a:bodyPr>
          <a:lstStyle/>
          <a:p>
            <a:r>
              <a:rPr lang="zh-CN" altLang="en-US" sz="2400" dirty="0" smtClean="0">
                <a:latin typeface="微软雅黑" pitchFamily="34" charset="-122"/>
                <a:ea typeface="微软雅黑" pitchFamily="34" charset="-122"/>
              </a:rPr>
              <a:t>海星醌</a:t>
            </a:r>
            <a:r>
              <a:rPr lang="zh-CN" altLang="en-US" sz="2400" dirty="0">
                <a:latin typeface="微软雅黑" pitchFamily="34" charset="-122"/>
                <a:ea typeface="微软雅黑" pitchFamily="34" charset="-122"/>
              </a:rPr>
              <a:t>类</a:t>
            </a:r>
          </a:p>
        </p:txBody>
      </p:sp>
      <p:sp>
        <p:nvSpPr>
          <p:cNvPr id="5" name="TextBox 4"/>
          <p:cNvSpPr txBox="1"/>
          <p:nvPr/>
        </p:nvSpPr>
        <p:spPr>
          <a:xfrm>
            <a:off x="1835696" y="5764614"/>
            <a:ext cx="1107996" cy="369332"/>
          </a:xfrm>
          <a:prstGeom prst="rect">
            <a:avLst/>
          </a:prstGeom>
          <a:noFill/>
        </p:spPr>
        <p:txBody>
          <a:bodyPr wrap="none" rtlCol="0">
            <a:spAutoFit/>
          </a:bodyPr>
          <a:lstStyle/>
          <a:p>
            <a:r>
              <a:rPr lang="zh-CN" altLang="en-US" dirty="0" smtClean="0"/>
              <a:t>氧杂菲醌</a:t>
            </a:r>
            <a:endParaRPr lang="zh-CN" altLang="en-US" dirty="0"/>
          </a:p>
        </p:txBody>
      </p:sp>
    </p:spTree>
    <p:extLst>
      <p:ext uri="{BB962C8B-B14F-4D97-AF65-F5344CB8AC3E}">
        <p14:creationId xmlns:p14="http://schemas.microsoft.com/office/powerpoint/2010/main" val="7966825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6915" y="1377266"/>
            <a:ext cx="8352928" cy="4932053"/>
          </a:xfrm>
        </p:spPr>
        <p:txBody>
          <a:bodyPr>
            <a:noAutofit/>
          </a:bodyPr>
          <a:lstStyle/>
          <a:p>
            <a:pPr>
              <a:lnSpc>
                <a:spcPts val="5600"/>
              </a:lnSpc>
              <a:buClr>
                <a:srgbClr val="0070C0"/>
              </a:buClr>
              <a:buFont typeface="Wingdings" pitchFamily="2" charset="2"/>
              <a:buChar char="u"/>
            </a:pPr>
            <a:r>
              <a:rPr lang="zh-CN" altLang="en-US" dirty="0">
                <a:solidFill>
                  <a:srgbClr val="FF0000"/>
                </a:solidFill>
                <a:latin typeface="微软雅黑" pitchFamily="34" charset="-122"/>
                <a:ea typeface="微软雅黑" pitchFamily="34" charset="-122"/>
              </a:rPr>
              <a:t>海洋</a:t>
            </a:r>
            <a:r>
              <a:rPr lang="zh-CN" altLang="en-US" dirty="0" smtClean="0">
                <a:solidFill>
                  <a:srgbClr val="FF0000"/>
                </a:solidFill>
                <a:latin typeface="微软雅黑" pitchFamily="34" charset="-122"/>
                <a:ea typeface="微软雅黑" pitchFamily="34" charset="-122"/>
              </a:rPr>
              <a:t>醌类</a:t>
            </a:r>
            <a:endParaRPr lang="en-US" altLang="zh-CN" dirty="0" smtClean="0">
              <a:solidFill>
                <a:srgbClr val="FF0000"/>
              </a:solidFill>
              <a:latin typeface="微软雅黑" pitchFamily="34" charset="-122"/>
              <a:ea typeface="微软雅黑" pitchFamily="34" charset="-122"/>
            </a:endParaRPr>
          </a:p>
          <a:p>
            <a:pPr>
              <a:lnSpc>
                <a:spcPts val="5600"/>
              </a:lnSpc>
              <a:buClr>
                <a:srgbClr val="0070C0"/>
              </a:buClr>
              <a:buFont typeface="Wingdings" pitchFamily="2" charset="2"/>
              <a:buChar char="u"/>
            </a:pPr>
            <a:r>
              <a:rPr lang="zh-CN" altLang="en-US" dirty="0" smtClean="0">
                <a:latin typeface="微软雅黑" pitchFamily="34" charset="-122"/>
                <a:ea typeface="微软雅黑" pitchFamily="34" charset="-122"/>
              </a:rPr>
              <a:t>海绵、珊瑚中</a:t>
            </a:r>
            <a:r>
              <a:rPr lang="zh-CN" altLang="en-US" dirty="0" smtClean="0">
                <a:latin typeface="微软雅黑" pitchFamily="34" charset="-122"/>
                <a:ea typeface="微软雅黑" pitchFamily="34" charset="-122"/>
              </a:rPr>
              <a:t>常见萜醌</a:t>
            </a:r>
            <a:r>
              <a:rPr lang="zh-CN" altLang="en-US" dirty="0" smtClean="0">
                <a:latin typeface="微软雅黑" pitchFamily="34" charset="-122"/>
                <a:ea typeface="微软雅黑" pitchFamily="34" charset="-122"/>
              </a:rPr>
              <a:t>类化合物，表现出多种生理活性，包括</a:t>
            </a:r>
            <a:r>
              <a:rPr lang="zh-CN" altLang="en-US" dirty="0">
                <a:latin typeface="微软雅黑" pitchFamily="34" charset="-122"/>
                <a:ea typeface="微软雅黑" pitchFamily="34" charset="-122"/>
              </a:rPr>
              <a:t>抗白血病、抗病毒、抗菌、免疫调节及糖醛还原</a:t>
            </a:r>
            <a:r>
              <a:rPr lang="zh-CN" altLang="en-US" dirty="0" smtClean="0">
                <a:latin typeface="微软雅黑" pitchFamily="34" charset="-122"/>
                <a:ea typeface="微软雅黑" pitchFamily="34" charset="-122"/>
              </a:rPr>
              <a:t>酶抑制、络氨酸激酶抑制</a:t>
            </a:r>
            <a:r>
              <a:rPr lang="zh-CN" altLang="en-US" dirty="0" smtClean="0">
                <a:latin typeface="微软雅黑" pitchFamily="34" charset="-122"/>
                <a:ea typeface="微软雅黑" pitchFamily="34" charset="-122"/>
              </a:rPr>
              <a:t>等。</a:t>
            </a:r>
            <a:endParaRPr lang="zh-CN" altLang="en-US" dirty="0">
              <a:latin typeface="微软雅黑" pitchFamily="34" charset="-122"/>
              <a:ea typeface="微软雅黑" pitchFamily="34" charset="-122"/>
            </a:endParaRPr>
          </a:p>
        </p:txBody>
      </p:sp>
      <p:sp>
        <p:nvSpPr>
          <p:cNvPr id="5"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醌类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27938357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213088374"/>
              </p:ext>
            </p:extLst>
          </p:nvPr>
        </p:nvGraphicFramePr>
        <p:xfrm>
          <a:off x="128077" y="260648"/>
          <a:ext cx="8887845" cy="2808312"/>
        </p:xfrm>
        <a:graphic>
          <a:graphicData uri="http://schemas.openxmlformats.org/presentationml/2006/ole">
            <mc:AlternateContent xmlns:mc="http://schemas.openxmlformats.org/markup-compatibility/2006">
              <mc:Choice xmlns:v="urn:schemas-microsoft-com:vml" Requires="v">
                <p:oleObj spid="_x0000_s31769" name="CS ChemDraw Drawing" r:id="rId3" imgW="5498156" imgH="1714078" progId="ChemDraw.Document.6.0">
                  <p:embed/>
                </p:oleObj>
              </mc:Choice>
              <mc:Fallback>
                <p:oleObj name="CS ChemDraw Drawing" r:id="rId3" imgW="5498156" imgH="1714078" progId="ChemDraw.Document.6.0">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77" y="260648"/>
                        <a:ext cx="8887845" cy="2808312"/>
                      </a:xfrm>
                      <a:prstGeom prst="rect">
                        <a:avLst/>
                      </a:prstGeom>
                      <a:noFill/>
                    </p:spPr>
                  </p:pic>
                </p:oleObj>
              </mc:Fallback>
            </mc:AlternateContent>
          </a:graphicData>
        </a:graphic>
      </p:graphicFrame>
      <p:sp>
        <p:nvSpPr>
          <p:cNvPr id="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TextBox 10"/>
          <p:cNvSpPr txBox="1"/>
          <p:nvPr/>
        </p:nvSpPr>
        <p:spPr>
          <a:xfrm>
            <a:off x="3846447" y="3058315"/>
            <a:ext cx="1723549" cy="461665"/>
          </a:xfrm>
          <a:prstGeom prst="rect">
            <a:avLst/>
          </a:prstGeom>
          <a:noFill/>
        </p:spPr>
        <p:txBody>
          <a:bodyPr wrap="none" rtlCol="0">
            <a:spAutoFit/>
          </a:bodyPr>
          <a:lstStyle/>
          <a:p>
            <a:r>
              <a:rPr lang="zh-CN" altLang="en-US" sz="2400" dirty="0" smtClean="0">
                <a:latin typeface="微软雅黑" pitchFamily="34" charset="-122"/>
                <a:ea typeface="微软雅黑" pitchFamily="34" charset="-122"/>
              </a:rPr>
              <a:t>海绵萜醌类</a:t>
            </a:r>
            <a:endParaRPr lang="zh-CN" altLang="en-US" sz="2400" dirty="0">
              <a:latin typeface="微软雅黑" pitchFamily="34" charset="-122"/>
              <a:ea typeface="微软雅黑"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56464615"/>
              </p:ext>
            </p:extLst>
          </p:nvPr>
        </p:nvGraphicFramePr>
        <p:xfrm>
          <a:off x="2267744" y="3933056"/>
          <a:ext cx="4075104" cy="2160240"/>
        </p:xfrm>
        <a:graphic>
          <a:graphicData uri="http://schemas.openxmlformats.org/presentationml/2006/ole">
            <mc:AlternateContent xmlns:mc="http://schemas.openxmlformats.org/markup-compatibility/2006">
              <mc:Choice xmlns:v="urn:schemas-microsoft-com:vml" Requires="v">
                <p:oleObj spid="_x0000_s31770" name="CS ChemDraw Drawing" r:id="rId5" imgW="4166260" imgH="2207790" progId="ChemDraw.Document.6.0">
                  <p:embed/>
                </p:oleObj>
              </mc:Choice>
              <mc:Fallback>
                <p:oleObj name="CS ChemDraw Drawing" r:id="rId5" imgW="4166260" imgH="2207790" progId="ChemDraw.Document.6.0">
                  <p:embed/>
                  <p:pic>
                    <p:nvPicPr>
                      <p:cNvPr id="0" name=""/>
                      <p:cNvPicPr/>
                      <p:nvPr/>
                    </p:nvPicPr>
                    <p:blipFill>
                      <a:blip r:embed="rId6"/>
                      <a:stretch>
                        <a:fillRect/>
                      </a:stretch>
                    </p:blipFill>
                    <p:spPr>
                      <a:xfrm>
                        <a:off x="2267744" y="3933056"/>
                        <a:ext cx="4075104" cy="2160240"/>
                      </a:xfrm>
                      <a:prstGeom prst="rect">
                        <a:avLst/>
                      </a:prstGeom>
                    </p:spPr>
                  </p:pic>
                </p:oleObj>
              </mc:Fallback>
            </mc:AlternateContent>
          </a:graphicData>
        </a:graphic>
      </p:graphicFrame>
      <p:sp>
        <p:nvSpPr>
          <p:cNvPr id="4" name="TextBox 3"/>
          <p:cNvSpPr txBox="1"/>
          <p:nvPr/>
        </p:nvSpPr>
        <p:spPr>
          <a:xfrm>
            <a:off x="2411760" y="6340097"/>
            <a:ext cx="4592924" cy="430887"/>
          </a:xfrm>
          <a:prstGeom prst="rect">
            <a:avLst/>
          </a:prstGeom>
          <a:noFill/>
        </p:spPr>
        <p:txBody>
          <a:bodyPr wrap="none" rtlCol="0">
            <a:spAutoFit/>
          </a:bodyPr>
          <a:lstStyle/>
          <a:p>
            <a:r>
              <a:rPr lang="zh-CN" altLang="en-US" sz="2200" dirty="0" smtClean="0"/>
              <a:t>柳珊瑚中发现抗炎活性物质</a:t>
            </a:r>
            <a:r>
              <a:rPr lang="zh-CN" altLang="en-US" sz="2200" b="1" dirty="0" smtClean="0"/>
              <a:t>假蕨素</a:t>
            </a:r>
            <a:r>
              <a:rPr lang="en-US" altLang="zh-CN" sz="2200" b="1" dirty="0" smtClean="0"/>
              <a:t>A</a:t>
            </a:r>
            <a:endParaRPr lang="zh-CN" altLang="en-US" sz="2200" b="1" dirty="0"/>
          </a:p>
        </p:txBody>
      </p:sp>
    </p:spTree>
    <p:extLst>
      <p:ext uri="{BB962C8B-B14F-4D97-AF65-F5344CB8AC3E}">
        <p14:creationId xmlns:p14="http://schemas.microsoft.com/office/powerpoint/2010/main" val="8434710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ph idx="1"/>
          </p:nvPr>
        </p:nvSpPr>
        <p:spPr>
          <a:xfrm>
            <a:off x="457200" y="1600200"/>
            <a:ext cx="8229600" cy="4525963"/>
          </a:xfrm>
        </p:spPr>
        <p:txBody>
          <a:bodyPr/>
          <a:lstStyle/>
          <a:p>
            <a:pPr eaLnBrk="1" hangingPunct="1">
              <a:buClr>
                <a:srgbClr val="00B0F0"/>
              </a:buClr>
              <a:buFont typeface="Wingdings" pitchFamily="2" charset="2"/>
              <a:buChar char="p"/>
            </a:pPr>
            <a:r>
              <a:rPr lang="zh-CN" altLang="en-US" b="1" dirty="0" smtClean="0">
                <a:solidFill>
                  <a:srgbClr val="FF0000"/>
                </a:solidFill>
              </a:rPr>
              <a:t>醌类物理性质</a:t>
            </a:r>
            <a:endParaRPr lang="en-US" altLang="zh-CN" b="1" dirty="0" smtClean="0">
              <a:solidFill>
                <a:srgbClr val="FF0000"/>
              </a:solidFill>
            </a:endParaRPr>
          </a:p>
          <a:p>
            <a:pPr eaLnBrk="1" hangingPunct="1">
              <a:buClr>
                <a:srgbClr val="00B0F0"/>
              </a:buClr>
              <a:buFont typeface="Wingdings" pitchFamily="2" charset="2"/>
              <a:buChar char="p"/>
            </a:pPr>
            <a:r>
              <a:rPr lang="zh-CN" altLang="en-US" dirty="0" smtClean="0"/>
              <a:t>母核无色，加入酚羟基等助色团后颜色加深</a:t>
            </a:r>
            <a:endParaRPr lang="en-US" altLang="zh-CN" dirty="0" smtClean="0"/>
          </a:p>
          <a:p>
            <a:pPr eaLnBrk="1" hangingPunct="1">
              <a:buClr>
                <a:srgbClr val="00B0F0"/>
              </a:buClr>
              <a:buFont typeface="Wingdings" pitchFamily="2" charset="2"/>
              <a:buChar char="p"/>
            </a:pPr>
            <a:r>
              <a:rPr lang="zh-CN" altLang="en-US" dirty="0" smtClean="0"/>
              <a:t>游离醌类一般具有升华性</a:t>
            </a:r>
            <a:endParaRPr lang="en-US" altLang="zh-CN" dirty="0" smtClean="0"/>
          </a:p>
          <a:p>
            <a:pPr eaLnBrk="1" hangingPunct="1">
              <a:buClr>
                <a:srgbClr val="00B0F0"/>
              </a:buClr>
              <a:buFont typeface="Wingdings" pitchFamily="2" charset="2"/>
              <a:buChar char="p"/>
            </a:pPr>
            <a:r>
              <a:rPr lang="zh-CN" altLang="en-US" dirty="0" smtClean="0"/>
              <a:t>小分子苯醌和萘醌具有挥发性</a:t>
            </a:r>
            <a:endParaRPr lang="en-US" altLang="zh-CN" dirty="0" smtClean="0"/>
          </a:p>
          <a:p>
            <a:pPr eaLnBrk="1" hangingPunct="1">
              <a:buClr>
                <a:srgbClr val="00B0F0"/>
              </a:buClr>
              <a:buFont typeface="Wingdings" pitchFamily="2" charset="2"/>
              <a:buChar char="p"/>
            </a:pPr>
            <a:r>
              <a:rPr lang="zh-CN" altLang="en-US" dirty="0" smtClean="0"/>
              <a:t>游离醌极性小，不溶于水；醌苷极性增大</a:t>
            </a:r>
            <a:endParaRPr lang="en-US" altLang="zh-CN" dirty="0" smtClean="0"/>
          </a:p>
          <a:p>
            <a:pPr eaLnBrk="1" hangingPunct="1"/>
            <a:endParaRPr lang="zh-CN" altLang="en-US" dirty="0" smtClean="0"/>
          </a:p>
        </p:txBody>
      </p:sp>
      <p:sp>
        <p:nvSpPr>
          <p:cNvPr id="3"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醌类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6198799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457200" y="1600200"/>
            <a:ext cx="8229600" cy="4525963"/>
          </a:xfrm>
        </p:spPr>
        <p:txBody>
          <a:bodyPr/>
          <a:lstStyle/>
          <a:p>
            <a:pPr eaLnBrk="1" hangingPunct="1">
              <a:buClr>
                <a:srgbClr val="00B0F0"/>
              </a:buClr>
              <a:buFont typeface="Wingdings" pitchFamily="2" charset="2"/>
              <a:buChar char="p"/>
            </a:pPr>
            <a:r>
              <a:rPr lang="zh-CN" altLang="en-US" b="1" dirty="0" smtClean="0">
                <a:solidFill>
                  <a:srgbClr val="FF0000"/>
                </a:solidFill>
              </a:rPr>
              <a:t>醌类化学性质</a:t>
            </a:r>
            <a:endParaRPr lang="en-US" altLang="zh-CN" b="1" dirty="0" smtClean="0">
              <a:solidFill>
                <a:srgbClr val="FF0000"/>
              </a:solidFill>
            </a:endParaRPr>
          </a:p>
          <a:p>
            <a:pPr eaLnBrk="1" hangingPunct="1">
              <a:buClr>
                <a:srgbClr val="00B0F0"/>
              </a:buClr>
              <a:buFont typeface="Wingdings" pitchFamily="2" charset="2"/>
              <a:buChar char="p"/>
            </a:pPr>
            <a:r>
              <a:rPr lang="zh-CN" altLang="en-US" dirty="0" smtClean="0"/>
              <a:t>酸性：一般为弱酸性，酸性强弱与羧基、羟基等取代基数量和位置相关</a:t>
            </a:r>
            <a:endParaRPr lang="en-US" altLang="zh-CN" dirty="0" smtClean="0"/>
          </a:p>
          <a:p>
            <a:pPr eaLnBrk="1" hangingPunct="1">
              <a:buClr>
                <a:srgbClr val="00B0F0"/>
              </a:buClr>
              <a:buFont typeface="Wingdings" pitchFamily="2" charset="2"/>
              <a:buChar char="p"/>
            </a:pPr>
            <a:r>
              <a:rPr lang="zh-CN" altLang="en-US" dirty="0" smtClean="0"/>
              <a:t>易发生氧化</a:t>
            </a:r>
            <a:r>
              <a:rPr lang="en-US" altLang="zh-CN" dirty="0" smtClean="0"/>
              <a:t>-</a:t>
            </a:r>
            <a:r>
              <a:rPr lang="zh-CN" altLang="en-US" dirty="0" smtClean="0"/>
              <a:t>还原反应</a:t>
            </a:r>
            <a:endParaRPr lang="en-US" altLang="zh-CN" dirty="0" smtClean="0"/>
          </a:p>
          <a:p>
            <a:pPr eaLnBrk="1" hangingPunct="1">
              <a:buClr>
                <a:srgbClr val="00B0F0"/>
              </a:buClr>
              <a:buFont typeface="Wingdings" pitchFamily="2" charset="2"/>
              <a:buChar char="p"/>
            </a:pPr>
            <a:r>
              <a:rPr lang="zh-CN" altLang="en-US" dirty="0" smtClean="0"/>
              <a:t>易与金属离子发生络合反应</a:t>
            </a:r>
            <a:endParaRPr lang="en-US" altLang="zh-CN" dirty="0" smtClean="0"/>
          </a:p>
        </p:txBody>
      </p:sp>
      <p:sp>
        <p:nvSpPr>
          <p:cNvPr id="3"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醌类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3065247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461578" y="1772816"/>
            <a:ext cx="8229600" cy="4248472"/>
          </a:xfrm>
        </p:spPr>
        <p:txBody>
          <a:bodyPr>
            <a:normAutofit lnSpcReduction="10000"/>
          </a:bodyPr>
          <a:lstStyle/>
          <a:p>
            <a:pPr eaLnBrk="1" hangingPunct="1">
              <a:buClr>
                <a:srgbClr val="00B0F0"/>
              </a:buClr>
              <a:buFont typeface="Wingdings" pitchFamily="2" charset="2"/>
              <a:buChar char="p"/>
            </a:pPr>
            <a:r>
              <a:rPr lang="zh-CN" altLang="en-US" b="1" dirty="0" smtClean="0">
                <a:solidFill>
                  <a:srgbClr val="FF0000"/>
                </a:solidFill>
              </a:rPr>
              <a:t>光谱特征</a:t>
            </a:r>
            <a:endParaRPr lang="en-US" altLang="zh-CN" b="1" dirty="0" smtClean="0">
              <a:solidFill>
                <a:srgbClr val="FF0000"/>
              </a:solidFill>
            </a:endParaRPr>
          </a:p>
          <a:p>
            <a:pPr eaLnBrk="1" hangingPunct="1">
              <a:buClr>
                <a:srgbClr val="00B0F0"/>
              </a:buClr>
              <a:buFont typeface="Wingdings" pitchFamily="2" charset="2"/>
              <a:buChar char="p"/>
            </a:pPr>
            <a:r>
              <a:rPr lang="zh-CN" altLang="en-US" dirty="0" smtClean="0"/>
              <a:t>具有强紫外吸收及特征吸收波长，可用于初步鉴别醌类化合物</a:t>
            </a:r>
            <a:endParaRPr lang="en-US" altLang="zh-CN" dirty="0" smtClean="0"/>
          </a:p>
          <a:p>
            <a:pPr>
              <a:buClr>
                <a:srgbClr val="00B0F0"/>
              </a:buClr>
              <a:buFont typeface="Wingdings" pitchFamily="2" charset="2"/>
              <a:buChar char="p"/>
            </a:pPr>
            <a:r>
              <a:rPr lang="zh-CN" altLang="en-US" dirty="0" smtClean="0"/>
              <a:t>红外光谱中主要有羟基（</a:t>
            </a:r>
            <a:r>
              <a:rPr lang="en-US" altLang="zh-CN" dirty="0" smtClean="0"/>
              <a:t>~3300 cm</a:t>
            </a:r>
            <a:r>
              <a:rPr lang="en-US" altLang="zh-CN" baseline="30000" dirty="0" smtClean="0"/>
              <a:t>-1</a:t>
            </a:r>
            <a:r>
              <a:rPr lang="zh-CN" altLang="en-US" dirty="0" smtClean="0"/>
              <a:t>）、共轭酮羰基（</a:t>
            </a:r>
            <a:r>
              <a:rPr lang="en-US" altLang="zh-CN" dirty="0"/>
              <a:t> </a:t>
            </a:r>
            <a:r>
              <a:rPr lang="en-US" altLang="zh-CN" dirty="0" smtClean="0"/>
              <a:t>1675~1650 cm</a:t>
            </a:r>
            <a:r>
              <a:rPr lang="en-US" altLang="zh-CN" baseline="30000" dirty="0" smtClean="0"/>
              <a:t>-1 </a:t>
            </a:r>
            <a:r>
              <a:rPr lang="zh-CN" altLang="en-US" dirty="0" smtClean="0"/>
              <a:t>）和苯环骨架振动吸收峰（</a:t>
            </a:r>
            <a:r>
              <a:rPr lang="en-US" altLang="zh-CN" dirty="0"/>
              <a:t> </a:t>
            </a:r>
            <a:r>
              <a:rPr lang="en-US" altLang="zh-CN" dirty="0" smtClean="0"/>
              <a:t>1600~1480 cm</a:t>
            </a:r>
            <a:r>
              <a:rPr lang="en-US" altLang="zh-CN" baseline="30000" dirty="0" smtClean="0"/>
              <a:t>-1 </a:t>
            </a:r>
            <a:r>
              <a:rPr lang="zh-CN" altLang="en-US" dirty="0" smtClean="0"/>
              <a:t>）</a:t>
            </a:r>
            <a:endParaRPr lang="en-US" altLang="zh-CN" dirty="0" smtClean="0"/>
          </a:p>
          <a:p>
            <a:pPr eaLnBrk="1" hangingPunct="1">
              <a:buClr>
                <a:srgbClr val="00B0F0"/>
              </a:buClr>
              <a:buFont typeface="Wingdings" pitchFamily="2" charset="2"/>
              <a:buChar char="p"/>
            </a:pPr>
            <a:r>
              <a:rPr lang="zh-CN" altLang="en-US" dirty="0" smtClean="0"/>
              <a:t>核磁共振</a:t>
            </a:r>
            <a:r>
              <a:rPr lang="zh-CN" altLang="en-US" dirty="0" smtClean="0"/>
              <a:t>碳谱中显示多个芳香碳信号及共轭羰基信号，氢谱中往往有芳香质子</a:t>
            </a:r>
            <a:r>
              <a:rPr lang="zh-CN" altLang="en-US" dirty="0" smtClean="0"/>
              <a:t>信号</a:t>
            </a:r>
            <a:endParaRPr lang="en-US" altLang="zh-CN" dirty="0" smtClean="0"/>
          </a:p>
        </p:txBody>
      </p:sp>
      <p:sp>
        <p:nvSpPr>
          <p:cNvPr id="3" name="标题 1"/>
          <p:cNvSpPr txBox="1">
            <a:spLocks/>
          </p:cNvSpPr>
          <p:nvPr/>
        </p:nvSpPr>
        <p:spPr>
          <a:xfrm>
            <a:off x="426915" y="203165"/>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b="1" dirty="0" smtClean="0">
                <a:latin typeface="微软雅黑" pitchFamily="34" charset="-122"/>
                <a:ea typeface="微软雅黑" pitchFamily="34" charset="-122"/>
              </a:rPr>
              <a:t>醌类</a:t>
            </a:r>
            <a:endParaRPr lang="zh-CN" altLang="en-US" b="1" dirty="0">
              <a:latin typeface="微软雅黑" pitchFamily="34" charset="-122"/>
              <a:ea typeface="微软雅黑" pitchFamily="34" charset="-122"/>
            </a:endParaRPr>
          </a:p>
        </p:txBody>
      </p:sp>
    </p:spTree>
    <p:extLst>
      <p:ext uri="{BB962C8B-B14F-4D97-AF65-F5344CB8AC3E}">
        <p14:creationId xmlns:p14="http://schemas.microsoft.com/office/powerpoint/2010/main" val="15049505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cean">
  <a:themeElements>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fontScheme name="Ocea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Ocean 1">
        <a:dk1>
          <a:srgbClr val="010199"/>
        </a:dk1>
        <a:lt1>
          <a:srgbClr val="FFFFFF"/>
        </a:lt1>
        <a:dk2>
          <a:srgbClr val="000099"/>
        </a:dk2>
        <a:lt2>
          <a:srgbClr val="FFFFFF"/>
        </a:lt2>
        <a:accent1>
          <a:srgbClr val="33CCCC"/>
        </a:accent1>
        <a:accent2>
          <a:srgbClr val="00C600"/>
        </a:accent2>
        <a:accent3>
          <a:srgbClr val="AAAACA"/>
        </a:accent3>
        <a:accent4>
          <a:srgbClr val="DADADA"/>
        </a:accent4>
        <a:accent5>
          <a:srgbClr val="ADE2E2"/>
        </a:accent5>
        <a:accent6>
          <a:srgbClr val="00B300"/>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Ocean 2">
        <a:dk1>
          <a:srgbClr val="000066"/>
        </a:dk1>
        <a:lt1>
          <a:srgbClr val="FFFFFF"/>
        </a:lt1>
        <a:dk2>
          <a:srgbClr val="5D93FF"/>
        </a:dk2>
        <a:lt2>
          <a:srgbClr val="FFFFFF"/>
        </a:lt2>
        <a:accent1>
          <a:srgbClr val="6666FF"/>
        </a:accent1>
        <a:accent2>
          <a:srgbClr val="9999FF"/>
        </a:accent2>
        <a:accent3>
          <a:srgbClr val="B6C8FF"/>
        </a:accent3>
        <a:accent4>
          <a:srgbClr val="DADADA"/>
        </a:accent4>
        <a:accent5>
          <a:srgbClr val="B8B8FF"/>
        </a:accent5>
        <a:accent6>
          <a:srgbClr val="8A8AE7"/>
        </a:accent6>
        <a:hlink>
          <a:srgbClr val="FF3300"/>
        </a:hlink>
        <a:folHlink>
          <a:srgbClr val="FF9900"/>
        </a:folHlink>
      </a:clrScheme>
      <a:clrMap bg1="dk2" tx1="lt1" bg2="dk1" tx2="lt2" accent1="accent1" accent2="accent2" accent3="accent3" accent4="accent4" accent5="accent5" accent6="accent6" hlink="hlink" folHlink="folHlink"/>
    </a:extraClrScheme>
    <a:extraClrScheme>
      <a:clrScheme name="Ocean 3">
        <a:dk1>
          <a:srgbClr val="000000"/>
        </a:dk1>
        <a:lt1>
          <a:srgbClr val="FFFFFF"/>
        </a:lt1>
        <a:dk2>
          <a:srgbClr val="572E88"/>
        </a:dk2>
        <a:lt2>
          <a:srgbClr val="FFFFFF"/>
        </a:lt2>
        <a:accent1>
          <a:srgbClr val="FF6600"/>
        </a:accent1>
        <a:accent2>
          <a:srgbClr val="FFCC00"/>
        </a:accent2>
        <a:accent3>
          <a:srgbClr val="B4ADC3"/>
        </a:accent3>
        <a:accent4>
          <a:srgbClr val="DADADA"/>
        </a:accent4>
        <a:accent5>
          <a:srgbClr val="FFB8AA"/>
        </a:accent5>
        <a:accent6>
          <a:srgbClr val="E7B900"/>
        </a:accent6>
        <a:hlink>
          <a:srgbClr val="33CCCC"/>
        </a:hlink>
        <a:folHlink>
          <a:srgbClr val="36CC64"/>
        </a:folHlink>
      </a:clrScheme>
      <a:clrMap bg1="dk2" tx1="lt1" bg2="dk1" tx2="lt2" accent1="accent1" accent2="accent2" accent3="accent3" accent4="accent4" accent5="accent5" accent6="accent6" hlink="hlink" folHlink="folHlink"/>
    </a:extraClrScheme>
    <a:extraClrScheme>
      <a:clrScheme name="Ocean 4">
        <a:dk1>
          <a:srgbClr val="003366"/>
        </a:dk1>
        <a:lt1>
          <a:srgbClr val="FFFFFF"/>
        </a:lt1>
        <a:dk2>
          <a:srgbClr val="666699"/>
        </a:dk2>
        <a:lt2>
          <a:srgbClr val="FFFFFF"/>
        </a:lt2>
        <a:accent1>
          <a:srgbClr val="9966FF"/>
        </a:accent1>
        <a:accent2>
          <a:srgbClr val="00CC66"/>
        </a:accent2>
        <a:accent3>
          <a:srgbClr val="B8B8CA"/>
        </a:accent3>
        <a:accent4>
          <a:srgbClr val="DADADA"/>
        </a:accent4>
        <a:accent5>
          <a:srgbClr val="CAB8FF"/>
        </a:accent5>
        <a:accent6>
          <a:srgbClr val="00B95C"/>
        </a:accent6>
        <a:hlink>
          <a:srgbClr val="65C8FF"/>
        </a:hlink>
        <a:folHlink>
          <a:srgbClr val="FFCC99"/>
        </a:folHlink>
      </a:clrScheme>
      <a:clrMap bg1="dk2" tx1="lt1" bg2="dk1" tx2="lt2" accent1="accent1" accent2="accent2" accent3="accent3" accent4="accent4" accent5="accent5" accent6="accent6" hlink="hlink" folHlink="folHlink"/>
    </a:extraClrScheme>
    <a:extraClrScheme>
      <a:clrScheme name="Ocean 5">
        <a:dk1>
          <a:srgbClr val="000000"/>
        </a:dk1>
        <a:lt1>
          <a:srgbClr val="FFFFFF"/>
        </a:lt1>
        <a:dk2>
          <a:srgbClr val="336600"/>
        </a:dk2>
        <a:lt2>
          <a:srgbClr val="FFFFFF"/>
        </a:lt2>
        <a:accent1>
          <a:srgbClr val="B7C533"/>
        </a:accent1>
        <a:accent2>
          <a:srgbClr val="CCCCFF"/>
        </a:accent2>
        <a:accent3>
          <a:srgbClr val="ADB8AA"/>
        </a:accent3>
        <a:accent4>
          <a:srgbClr val="DADADA"/>
        </a:accent4>
        <a:accent5>
          <a:srgbClr val="D8DFAD"/>
        </a:accent5>
        <a:accent6>
          <a:srgbClr val="B9B9E7"/>
        </a:accent6>
        <a:hlink>
          <a:srgbClr val="FFFFCC"/>
        </a:hlink>
        <a:folHlink>
          <a:srgbClr val="FF9900"/>
        </a:folHlink>
      </a:clrScheme>
      <a:clrMap bg1="dk2" tx1="lt1" bg2="dk1" tx2="lt2" accent1="accent1" accent2="accent2" accent3="accent3" accent4="accent4" accent5="accent5" accent6="accent6" hlink="hlink" folHlink="folHlink"/>
    </a:extraClrScheme>
    <a:extraClrScheme>
      <a:clrScheme name="Ocean 6">
        <a:dk1>
          <a:srgbClr val="000000"/>
        </a:dk1>
        <a:lt1>
          <a:srgbClr val="FFFFFF"/>
        </a:lt1>
        <a:dk2>
          <a:srgbClr val="006B80"/>
        </a:dk2>
        <a:lt2>
          <a:srgbClr val="C1CB75"/>
        </a:lt2>
        <a:accent1>
          <a:srgbClr val="6F8406"/>
        </a:accent1>
        <a:accent2>
          <a:srgbClr val="D9E288"/>
        </a:accent2>
        <a:accent3>
          <a:srgbClr val="AABAC0"/>
        </a:accent3>
        <a:accent4>
          <a:srgbClr val="DADADA"/>
        </a:accent4>
        <a:accent5>
          <a:srgbClr val="BBC2AA"/>
        </a:accent5>
        <a:accent6>
          <a:srgbClr val="C4CD7B"/>
        </a:accent6>
        <a:hlink>
          <a:srgbClr val="00CC00"/>
        </a:hlink>
        <a:folHlink>
          <a:srgbClr val="C0FF73"/>
        </a:folHlink>
      </a:clrScheme>
      <a:clrMap bg1="dk2" tx1="lt1" bg2="dk1" tx2="lt2" accent1="accent1" accent2="accent2" accent3="accent3" accent4="accent4" accent5="accent5" accent6="accent6" hlink="hlink" folHlink="folHlink"/>
    </a:extraClrScheme>
    <a:extraClrScheme>
      <a:clrScheme name="Ocean 7">
        <a:dk1>
          <a:srgbClr val="5F5F5F"/>
        </a:dk1>
        <a:lt1>
          <a:srgbClr val="FFFFFF"/>
        </a:lt1>
        <a:dk2>
          <a:srgbClr val="FF6600"/>
        </a:dk2>
        <a:lt2>
          <a:srgbClr val="FFFFFF"/>
        </a:lt2>
        <a:accent1>
          <a:srgbClr val="CC6600"/>
        </a:accent1>
        <a:accent2>
          <a:srgbClr val="FF6600"/>
        </a:accent2>
        <a:accent3>
          <a:srgbClr val="FFB8AA"/>
        </a:accent3>
        <a:accent4>
          <a:srgbClr val="DADADA"/>
        </a:accent4>
        <a:accent5>
          <a:srgbClr val="E2B8AA"/>
        </a:accent5>
        <a:accent6>
          <a:srgbClr val="E75C00"/>
        </a:accent6>
        <a:hlink>
          <a:srgbClr val="FFFF99"/>
        </a:hlink>
        <a:folHlink>
          <a:srgbClr val="FFCC99"/>
        </a:folHlink>
      </a:clrScheme>
      <a:clrMap bg1="dk2" tx1="lt1" bg2="dk1" tx2="lt2" accent1="accent1" accent2="accent2" accent3="accent3" accent4="accent4" accent5="accent5" accent6="accent6" hlink="hlink" folHlink="folHlink"/>
    </a:extraClrScheme>
    <a:extraClrScheme>
      <a:clrScheme name="Ocean 8">
        <a:dk1>
          <a:srgbClr val="000000"/>
        </a:dk1>
        <a:lt1>
          <a:srgbClr val="FFFFFF"/>
        </a:lt1>
        <a:dk2>
          <a:srgbClr val="FFBA2F"/>
        </a:dk2>
        <a:lt2>
          <a:srgbClr val="A50021"/>
        </a:lt2>
        <a:accent1>
          <a:srgbClr val="FF6600"/>
        </a:accent1>
        <a:accent2>
          <a:srgbClr val="CC6600"/>
        </a:accent2>
        <a:accent3>
          <a:srgbClr val="FFD9AD"/>
        </a:accent3>
        <a:accent4>
          <a:srgbClr val="DADADA"/>
        </a:accent4>
        <a:accent5>
          <a:srgbClr val="FFB8AA"/>
        </a:accent5>
        <a:accent6>
          <a:srgbClr val="B95C00"/>
        </a:accent6>
        <a:hlink>
          <a:srgbClr val="6633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4152</TotalTime>
  <Words>467</Words>
  <Application>Microsoft Office PowerPoint</Application>
  <PresentationFormat>全屏显示(4:3)</PresentationFormat>
  <Paragraphs>75</Paragraphs>
  <Slides>15</Slides>
  <Notes>1</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15</vt:i4>
      </vt:variant>
    </vt:vector>
  </HeadingPairs>
  <TitlesOfParts>
    <vt:vector size="18" baseType="lpstr">
      <vt:lpstr>Office 主题​​</vt:lpstr>
      <vt:lpstr>Ocean</vt:lpstr>
      <vt:lpstr>CS ChemDraw Drawing</vt:lpstr>
      <vt:lpstr>海洋天然产物化学 Marine Natural Product Chemistry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ZJUOC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DYN</dc:creator>
  <cp:lastModifiedBy>备忘录</cp:lastModifiedBy>
  <cp:revision>247</cp:revision>
  <dcterms:created xsi:type="dcterms:W3CDTF">2015-01-27T02:40:20Z</dcterms:created>
  <dcterms:modified xsi:type="dcterms:W3CDTF">2020-06-28T14:36:58Z</dcterms:modified>
</cp:coreProperties>
</file>