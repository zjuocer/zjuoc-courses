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350" r:id="rId3"/>
    <p:sldId id="295" r:id="rId4"/>
    <p:sldId id="373" r:id="rId5"/>
    <p:sldId id="353" r:id="rId6"/>
    <p:sldId id="359" r:id="rId7"/>
    <p:sldId id="354" r:id="rId8"/>
    <p:sldId id="360" r:id="rId9"/>
    <p:sldId id="361" r:id="rId10"/>
    <p:sldId id="362" r:id="rId11"/>
    <p:sldId id="363" r:id="rId12"/>
    <p:sldId id="371" r:id="rId13"/>
    <p:sldId id="364" r:id="rId14"/>
    <p:sldId id="365" r:id="rId15"/>
    <p:sldId id="366" r:id="rId16"/>
    <p:sldId id="368" r:id="rId17"/>
    <p:sldId id="367" r:id="rId18"/>
    <p:sldId id="372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5" autoAdjust="0"/>
    <p:restoredTop sz="96310" autoAdjust="0"/>
  </p:normalViewPr>
  <p:slideViewPr>
    <p:cSldViewPr>
      <p:cViewPr>
        <p:scale>
          <a:sx n="60" d="100"/>
          <a:sy n="60" d="100"/>
        </p:scale>
        <p:origin x="-762" y="-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Relationship Id="rId4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4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04E47-DDCF-4C26-B61B-B7C48A7F62E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D4B3-F92E-4454-88A9-1B52D080D3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4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zh-CN" sz="140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582D0BD-BC72-4371-A99D-2C93502AABF8}" type="slidenum">
              <a:rPr lang="en-GB" altLang="zh-CN">
                <a:solidFill>
                  <a:prstClr val="black"/>
                </a:solidFill>
              </a:rPr>
              <a:pPr/>
              <a:t>1</a:t>
            </a:fld>
            <a:endParaRPr lang="en-GB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14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54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6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03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8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6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5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15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83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7 h 1912"/>
              <a:gd name="T4" fmla="*/ 0 w 1588"/>
              <a:gd name="T5" fmla="*/ 2147483647 h 1912"/>
              <a:gd name="T6" fmla="*/ 0 w 1588"/>
              <a:gd name="T7" fmla="*/ 2147483647 h 1912"/>
              <a:gd name="T8" fmla="*/ 0 w 1588"/>
              <a:gd name="T9" fmla="*/ 2147483647 h 1912"/>
              <a:gd name="T10" fmla="*/ 0 w 1588"/>
              <a:gd name="T11" fmla="*/ 2147483647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10199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AB603-56F1-40C2-ACFD-A8C109FF9F1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4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4DE39-8B2C-41A3-9C16-35D5160EBD8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81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03062-EDEC-4C87-91EE-231FD9609B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10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0A5ED-A6B5-4283-954A-ACC5A486AE07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9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B35C2-FF72-4D6E-AFCF-13F1BC21BC71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75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1F221-A7A0-44E7-BF4D-E2D8DB48BAB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28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3BC7E-E1A6-4DFF-9C73-70C4CB633159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513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E17FB-1BB7-4D20-9E98-046EE7C338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79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3EAF9-A129-405C-BB96-4BA5CE8D2CDF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91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9E4B1-B749-43D6-8A03-8567B35D8808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4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389D9-CE6B-4F64-8BC6-C1DFE512AADB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91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2D7D-2CD5-4023-AA6E-28D149C8CA3D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5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E02CC3-7F54-4444-B682-87D61477DCDF}" type="slidenum">
              <a:rPr lang="en-US" altLang="zh-CN">
                <a:solidFill>
                  <a:srgbClr val="0101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6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7.emf"/><Relationship Id="rId4" Type="http://schemas.openxmlformats.org/officeDocument/2006/relationships/image" Target="../media/image14.emf"/><Relationship Id="rId9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259632" y="1052736"/>
            <a:ext cx="6364288" cy="2884152"/>
          </a:xfrm>
        </p:spPr>
        <p:txBody>
          <a:bodyPr/>
          <a:lstStyle/>
          <a:p>
            <a:pPr eaLnBrk="1"/>
            <a:r>
              <a:rPr lang="zh-CN" altLang="en-US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>海洋天然产物化学</a:t>
            </a: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/>
            </a:r>
            <a:b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</a:b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Marine Natural Product Chemistry</a:t>
            </a:r>
            <a:endParaRPr lang="en-GB" altLang="zh-CN" sz="5400" b="1" dirty="0" smtClean="0"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52003" y="4437112"/>
            <a:ext cx="8884890" cy="1970063"/>
          </a:xfrm>
        </p:spPr>
        <p:txBody>
          <a:bodyPr/>
          <a:lstStyle/>
          <a:p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徐金钟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xujinzhong@zju.edu.cn</a:t>
            </a:r>
            <a:endParaRPr lang="en-GB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海洋生物与药物研究所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浙江大学</a:t>
            </a:r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/</a:t>
            </a:r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海洋学院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43089"/>
            <a:ext cx="11525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525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00945" y="620688"/>
            <a:ext cx="83529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latin typeface="微软雅黑" pitchFamily="34" charset="-122"/>
                <a:ea typeface="微软雅黑" pitchFamily="34" charset="-122"/>
              </a:rPr>
              <a:t>认识海洋天然产物</a:t>
            </a:r>
            <a:endParaRPr lang="en-US" altLang="zh-CN" sz="5400" b="1" dirty="0" smtClean="0"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5400" b="1" dirty="0" smtClean="0">
                <a:latin typeface="微软雅黑" pitchFamily="34" charset="-122"/>
                <a:ea typeface="微软雅黑" pitchFamily="34" charset="-122"/>
              </a:rPr>
              <a:t>                  </a:t>
            </a:r>
            <a:r>
              <a:rPr lang="en-US" altLang="zh-CN" sz="4000" b="1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结构类型</a:t>
            </a:r>
            <a:endParaRPr lang="zh-CN" altLang="en-US" sz="40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8" name="Picture 4" descr="Graphical abstract: Marine natural produc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439" y="2657737"/>
            <a:ext cx="6319940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7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516586" y="692696"/>
            <a:ext cx="8352928" cy="1584176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500" dirty="0" smtClean="0">
                <a:latin typeface="微软雅黑" pitchFamily="34" charset="-122"/>
                <a:ea typeface="微软雅黑" pitchFamily="34" charset="-122"/>
              </a:rPr>
              <a:t>天然产物化学所有的研究内容均围绕化学结构展开。</a:t>
            </a:r>
            <a:endParaRPr lang="zh-CN" altLang="en-US" sz="35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900962" y="371703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 smtClean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结构</a:t>
            </a:r>
            <a:endParaRPr lang="zh-CN" altLang="en-US" sz="2200" b="1" dirty="0">
              <a:solidFill>
                <a:srgbClr val="FFFF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右箭头 5"/>
          <p:cNvSpPr/>
          <p:nvPr/>
        </p:nvSpPr>
        <p:spPr>
          <a:xfrm rot="16200000">
            <a:off x="4140414" y="3261556"/>
            <a:ext cx="457200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3540922" y="2298576"/>
            <a:ext cx="165618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物理化学性质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5318156" y="2546130"/>
            <a:ext cx="504056" cy="3851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846733" y="2281526"/>
            <a:ext cx="165618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提取分离方法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941979" y="3981636"/>
            <a:ext cx="504056" cy="3851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5470556" y="3717032"/>
            <a:ext cx="165618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生理活性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3288894" y="3981636"/>
            <a:ext cx="504056" cy="3851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2157827" y="3717032"/>
            <a:ext cx="1008112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结构鉴定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220257" y="5085184"/>
            <a:ext cx="165618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化学合成方法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742092" y="5085184"/>
            <a:ext cx="1656184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生物合成途径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左右箭头 15"/>
          <p:cNvSpPr/>
          <p:nvPr/>
        </p:nvSpPr>
        <p:spPr>
          <a:xfrm rot="19227757">
            <a:off x="3534494" y="4748201"/>
            <a:ext cx="648072" cy="34269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左右箭头 16"/>
          <p:cNvSpPr/>
          <p:nvPr/>
        </p:nvSpPr>
        <p:spPr>
          <a:xfrm rot="13581728">
            <a:off x="4627903" y="4690530"/>
            <a:ext cx="648072" cy="34269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486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1988840"/>
            <a:ext cx="8064896" cy="4248472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化学结构是天然产物的核心，物理化学性质、生理活性、生物合成途径、化学合成方法等均与之有关。</a:t>
            </a:r>
            <a:endParaRPr lang="zh-CN" altLang="en-US" sz="3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按照某种特征分类天然产物是认识天然产物结构的主要方式。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395536" y="476672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认识海洋天然产物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487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67771" y="245830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sz="28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6236" y="176575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肽类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56096" y="33028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萜类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92200" y="326582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甾类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316" y="2719913"/>
            <a:ext cx="553998" cy="22593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是否含有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氮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原子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1263808" y="2719913"/>
            <a:ext cx="1080120" cy="5232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185600" y="4393183"/>
            <a:ext cx="108012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464441" y="26121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464441" y="44065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2775976" y="2156404"/>
            <a:ext cx="742392" cy="3018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57111" y="1758110"/>
            <a:ext cx="461665" cy="17081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是否酰胺键连接</a:t>
            </a:r>
            <a:endParaRPr lang="zh-CN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892263" y="197173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是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892263" y="27302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否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2718776" y="2719912"/>
            <a:ext cx="849288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71920" y="3967999"/>
            <a:ext cx="461665" cy="124649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生合成途径</a:t>
            </a:r>
            <a:endParaRPr lang="zh-CN" altLang="en-US" dirty="0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2892263" y="3669085"/>
            <a:ext cx="747809" cy="3327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32569" y="3466120"/>
            <a:ext cx="63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MVA</a:t>
            </a:r>
            <a:endParaRPr lang="zh-CN" altLang="en-US" dirty="0"/>
          </a:p>
        </p:txBody>
      </p:sp>
      <p:cxnSp>
        <p:nvCxnSpPr>
          <p:cNvPr id="35" name="直接箭头连接符 34"/>
          <p:cNvCxnSpPr/>
          <p:nvPr/>
        </p:nvCxnSpPr>
        <p:spPr>
          <a:xfrm>
            <a:off x="2892263" y="4543252"/>
            <a:ext cx="74780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66533" y="4135174"/>
            <a:ext cx="527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PKS</a:t>
            </a:r>
            <a:endParaRPr lang="zh-CN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894225" y="3918350"/>
            <a:ext cx="255069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醌   大环内酯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聚醚  多聚乙酰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前列腺素类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796236" y="1758109"/>
            <a:ext cx="2868172" cy="4237733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6664408" y="3356233"/>
            <a:ext cx="21483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smtClean="0"/>
              <a:t>+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=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糖苷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8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>
            <a:off x="2892263" y="4979298"/>
            <a:ext cx="747809" cy="754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343928" y="5412315"/>
            <a:ext cx="1218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桂皮酸途径</a:t>
            </a:r>
            <a:endParaRPr lang="zh-CN" altLang="en-US" sz="16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3964598" y="547262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苯丙素类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48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915" y="1628800"/>
            <a:ext cx="8352928" cy="28803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生物碱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定义：含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负氧化态氮原子、存在于生物有机体中的环状化合物。</a:t>
            </a: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26915" y="20316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海洋天然产物基本结构类型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756421"/>
              </p:ext>
            </p:extLst>
          </p:nvPr>
        </p:nvGraphicFramePr>
        <p:xfrm>
          <a:off x="2195736" y="4221088"/>
          <a:ext cx="936104" cy="166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CS ChemDraw Drawing" r:id="rId3" imgW="714502" imgH="1271970" progId="ChemDraw.Document.6.0">
                  <p:embed/>
                </p:oleObj>
              </mc:Choice>
              <mc:Fallback>
                <p:oleObj name="CS ChemDraw Drawing" r:id="rId3" imgW="714502" imgH="12719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4221088"/>
                        <a:ext cx="936104" cy="16662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51719" y="6021288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氧化态氮原子，</a:t>
            </a:r>
            <a:endParaRPr lang="en-US" altLang="zh-CN" dirty="0" smtClean="0"/>
          </a:p>
          <a:p>
            <a:r>
              <a:rPr lang="zh-CN" altLang="en-US" dirty="0" smtClean="0"/>
              <a:t>非生物碱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04047" y="615978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非</a:t>
            </a:r>
            <a:r>
              <a:rPr lang="zh-CN" altLang="en-US" dirty="0" smtClean="0"/>
              <a:t>环状，非生物碱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210658"/>
              </p:ext>
            </p:extLst>
          </p:nvPr>
        </p:nvGraphicFramePr>
        <p:xfrm>
          <a:off x="4541715" y="4509120"/>
          <a:ext cx="3266246" cy="1082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CS ChemDraw Drawing" r:id="rId5" imgW="2614887" imgH="866700" progId="ChemDraw.Document.6.0">
                  <p:embed/>
                </p:oleObj>
              </mc:Choice>
              <mc:Fallback>
                <p:oleObj name="CS ChemDraw Drawing" r:id="rId5" imgW="2614887" imgH="86670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41715" y="4509120"/>
                        <a:ext cx="3266246" cy="1082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05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96941"/>
              </p:ext>
            </p:extLst>
          </p:nvPr>
        </p:nvGraphicFramePr>
        <p:xfrm>
          <a:off x="1043498" y="3140968"/>
          <a:ext cx="2103110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CS ChemDraw Drawing" r:id="rId3" imgW="1307173" imgH="1252260" progId="ChemDraw.Document.6.0">
                  <p:embed/>
                </p:oleObj>
              </mc:Choice>
              <mc:Fallback>
                <p:oleObj name="CS ChemDraw Drawing" r:id="rId3" imgW="1307173" imgH="125226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3498" y="3140968"/>
                        <a:ext cx="2103110" cy="2016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056394"/>
              </p:ext>
            </p:extLst>
          </p:nvPr>
        </p:nvGraphicFramePr>
        <p:xfrm>
          <a:off x="960438" y="92075"/>
          <a:ext cx="2136775" cy="206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CS ChemDraw Drawing" r:id="rId5" imgW="1284482" imgH="1246050" progId="ChemDraw.Document.6.0">
                  <p:embed/>
                </p:oleObj>
              </mc:Choice>
              <mc:Fallback>
                <p:oleObj name="CS ChemDraw Drawing" r:id="rId5" imgW="1284482" imgH="124605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60438" y="92075"/>
                        <a:ext cx="2136775" cy="2068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7583" y="2246784"/>
            <a:ext cx="280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咖啡豆与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咖啡因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1819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86289" y="2246784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奎宁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，第一个用于临床治疗的单体化合物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19160"/>
              </p:ext>
            </p:extLst>
          </p:nvPr>
        </p:nvGraphicFramePr>
        <p:xfrm>
          <a:off x="4701795" y="44624"/>
          <a:ext cx="3384376" cy="2088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CS ChemDraw Drawing" r:id="rId7" imgW="2223194" imgH="1371330" progId="ChemDraw.Document.6.0">
                  <p:embed/>
                </p:oleObj>
              </mc:Choice>
              <mc:Fallback>
                <p:oleObj name="CS ChemDraw Drawing" r:id="rId7" imgW="2223194" imgH="137133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01795" y="44624"/>
                        <a:ext cx="3384376" cy="20886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0245" y="535781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吗啡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，第一个现代药物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天然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药物化学学科建立的标志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0754894"/>
              </p:ext>
            </p:extLst>
          </p:nvPr>
        </p:nvGraphicFramePr>
        <p:xfrm>
          <a:off x="4427985" y="2903414"/>
          <a:ext cx="3240360" cy="3226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CS ChemDraw Drawing" r:id="rId9" imgW="2576798" imgH="2565810" progId="ChemDraw.Document.6.0">
                  <p:embed/>
                </p:oleObj>
              </mc:Choice>
              <mc:Fallback>
                <p:oleObj name="CS ChemDraw Drawing" r:id="rId9" imgW="2576798" imgH="256581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27985" y="2903414"/>
                        <a:ext cx="3240360" cy="3226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64287" y="359891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可卡因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（天然）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94614" y="5496319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普鲁卡因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（合成）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37201" y="629613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历史上的生物碱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40862" y="4221088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先导化合物、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zh-CN" altLang="en-US" dirty="0" smtClean="0">
                <a:solidFill>
                  <a:srgbClr val="0000FF"/>
                </a:solidFill>
              </a:rPr>
              <a:t>药效团的概念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19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2156424"/>
            <a:ext cx="334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头孢菌素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，头孢类抗生素前体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37201" y="6296138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海洋里的生物碱</a:t>
            </a:r>
            <a:endParaRPr lang="zh-CN" altLang="en-US" sz="28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613632"/>
              </p:ext>
            </p:extLst>
          </p:nvPr>
        </p:nvGraphicFramePr>
        <p:xfrm>
          <a:off x="90488" y="320675"/>
          <a:ext cx="4498975" cy="166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4" name="CS ChemDraw Drawing" r:id="rId3" imgW="3543064" imgH="1314900" progId="ChemDraw.Document.6.0">
                  <p:embed/>
                </p:oleObj>
              </mc:Choice>
              <mc:Fallback>
                <p:oleObj name="CS ChemDraw Drawing" r:id="rId3" imgW="3543064" imgH="131490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488" y="320675"/>
                        <a:ext cx="4498975" cy="1668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758574"/>
              </p:ext>
            </p:extLst>
          </p:nvPr>
        </p:nvGraphicFramePr>
        <p:xfrm>
          <a:off x="4869207" y="3711756"/>
          <a:ext cx="3914213" cy="234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" name="CS ChemDraw Drawing" r:id="rId5" imgW="2322063" imgH="1389420" progId="ChemDraw.Document.6.0">
                  <p:embed/>
                </p:oleObj>
              </mc:Choice>
              <mc:Fallback>
                <p:oleObj name="CS ChemDraw Drawing" r:id="rId5" imgW="2322063" imgH="13894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69207" y="3711756"/>
                        <a:ext cx="3914213" cy="2341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588224" y="608777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河豚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毒素</a:t>
            </a:r>
            <a:endParaRPr lang="zh-CN" altLang="en-US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472091"/>
              </p:ext>
            </p:extLst>
          </p:nvPr>
        </p:nvGraphicFramePr>
        <p:xfrm>
          <a:off x="7020272" y="234256"/>
          <a:ext cx="1851208" cy="2449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" name="CS ChemDraw Drawing" r:id="rId7" imgW="1217489" imgH="1610550" progId="ChemDraw.Document.6.0">
                  <p:embed/>
                </p:oleObj>
              </mc:Choice>
              <mc:Fallback>
                <p:oleObj name="CS ChemDraw Drawing" r:id="rId7" imgW="1217489" imgH="161055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20272" y="234256"/>
                        <a:ext cx="1851208" cy="24497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845082"/>
              </p:ext>
            </p:extLst>
          </p:nvPr>
        </p:nvGraphicFramePr>
        <p:xfrm>
          <a:off x="4686288" y="246904"/>
          <a:ext cx="2171401" cy="2463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7" name="CS ChemDraw Drawing" r:id="rId9" imgW="1415497" imgH="1607310" progId="ChemDraw.Document.6.0">
                  <p:embed/>
                </p:oleObj>
              </mc:Choice>
              <mc:Fallback>
                <p:oleObj name="CS ChemDraw Drawing" r:id="rId9" imgW="1415497" imgH="160731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86288" y="246904"/>
                        <a:ext cx="2171401" cy="2463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5292080" y="270892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海绵核苷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380312" y="270892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海绵尿苷</a:t>
            </a:r>
            <a:endParaRPr lang="zh-CN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5290818" y="3218934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阿糖胞苷类药物与先导化合物</a:t>
            </a:r>
            <a:endParaRPr lang="zh-CN" altLang="en-US" dirty="0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9790734"/>
              </p:ext>
            </p:extLst>
          </p:nvPr>
        </p:nvGraphicFramePr>
        <p:xfrm>
          <a:off x="349238" y="2674019"/>
          <a:ext cx="4337050" cy="325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8" name="CS ChemDraw Drawing" r:id="rId11" imgW="2811544" imgH="2108700" progId="ChemDraw.Document.6.0">
                  <p:embed/>
                </p:oleObj>
              </mc:Choice>
              <mc:Fallback>
                <p:oleObj name="CS ChemDraw Drawing" r:id="rId11" imgW="2811544" imgH="210870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9238" y="2674019"/>
                        <a:ext cx="4337050" cy="3252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432532" y="6070195"/>
            <a:ext cx="2145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ET-743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曲贝替定</a:t>
            </a:r>
          </a:p>
        </p:txBody>
      </p:sp>
    </p:spTree>
    <p:extLst>
      <p:ext uri="{BB962C8B-B14F-4D97-AF65-F5344CB8AC3E}">
        <p14:creationId xmlns:p14="http://schemas.microsoft.com/office/powerpoint/2010/main" val="343671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1022" y="1259632"/>
            <a:ext cx="8352928" cy="4752528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生物碱的类别</a:t>
            </a:r>
            <a:endParaRPr lang="en-US" altLang="zh-CN" sz="3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根据分子中氮</a:t>
            </a: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原子的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状态分类（</a:t>
            </a: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主要</a:t>
            </a:r>
            <a:r>
              <a:rPr lang="en-US" altLang="zh-CN" sz="300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3000" dirty="0">
                <a:latin typeface="微软雅黑" pitchFamily="34" charset="-122"/>
                <a:ea typeface="微软雅黑" pitchFamily="34" charset="-122"/>
              </a:rPr>
              <a:t>种）：游离碱、盐类、酰胺类、氮氧化物、氮杂缩醛、亚胺及烯胺</a:t>
            </a: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等。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46929" y="11663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131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6632"/>
            <a:ext cx="8568952" cy="864096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分子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中氮原子的状态（主要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种）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：游离碱、盐类、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酰胺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类、氮氧化物、氮杂缩醛、亚胺及烯胺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等。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4680336"/>
              </p:ext>
            </p:extLst>
          </p:nvPr>
        </p:nvGraphicFramePr>
        <p:xfrm>
          <a:off x="4304206" y="991309"/>
          <a:ext cx="3070622" cy="2302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" name="CS ChemDraw Drawing" r:id="rId3" imgW="2811544" imgH="2108700" progId="ChemDraw.Document.6.0">
                  <p:embed/>
                </p:oleObj>
              </mc:Choice>
              <mc:Fallback>
                <p:oleObj name="CS ChemDraw Drawing" r:id="rId3" imgW="2811544" imgH="2108700" progId="ChemDraw.Document.6.0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4206" y="991309"/>
                        <a:ext cx="3070622" cy="2302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4823854" y="344537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游离</a:t>
            </a: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碱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氮杂缩醛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790481"/>
              </p:ext>
            </p:extLst>
          </p:nvPr>
        </p:nvGraphicFramePr>
        <p:xfrm>
          <a:off x="444371" y="1700808"/>
          <a:ext cx="3289513" cy="1879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" name="CS ChemDraw Drawing" r:id="rId5" imgW="2430386" imgH="1389420" progId="ChemDraw.Document.6.0">
                  <p:embed/>
                </p:oleObj>
              </mc:Choice>
              <mc:Fallback>
                <p:oleObj name="CS ChemDraw Drawing" r:id="rId5" imgW="2430386" imgH="1389420" progId="ChemDraw.Document.6.0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371" y="1700808"/>
                        <a:ext cx="3289513" cy="1879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19672" y="36450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0000FF"/>
                </a:solidFill>
              </a:rPr>
              <a:t>内盐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663687"/>
              </p:ext>
            </p:extLst>
          </p:nvPr>
        </p:nvGraphicFramePr>
        <p:xfrm>
          <a:off x="827584" y="4149080"/>
          <a:ext cx="5081318" cy="1884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" name="CS ChemDraw Drawing" r:id="rId7" imgW="3543064" imgH="1314900" progId="ChemDraw.Document.6.0">
                  <p:embed/>
                </p:oleObj>
              </mc:Choice>
              <mc:Fallback>
                <p:oleObj name="CS ChemDraw Drawing" r:id="rId7" imgW="3543064" imgH="1314900" progId="ChemDraw.Document.6.0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149080"/>
                        <a:ext cx="5081318" cy="1884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059832" y="6136873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00FF"/>
                </a:solidFill>
              </a:rPr>
              <a:t>酰胺类</a:t>
            </a:r>
            <a:endParaRPr lang="zh-CN" altLang="en-US" b="1" dirty="0">
              <a:solidFill>
                <a:srgbClr val="FF00FF"/>
              </a:solidFill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658338"/>
              </p:ext>
            </p:extLst>
          </p:nvPr>
        </p:nvGraphicFramePr>
        <p:xfrm>
          <a:off x="6588224" y="3445377"/>
          <a:ext cx="2082448" cy="2361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" name="CS ChemDraw Drawing" r:id="rId9" imgW="1415497" imgH="1607310" progId="ChemDraw.Document.6.0">
                  <p:embed/>
                </p:oleObj>
              </mc:Choice>
              <mc:Fallback>
                <p:oleObj name="CS ChemDraw Drawing" r:id="rId9" imgW="1415497" imgH="1607310" progId="ChemDraw.Document.6.0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3445377"/>
                        <a:ext cx="2082448" cy="2361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6516216" y="597069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亚胺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烯胺、</a:t>
            </a:r>
            <a:r>
              <a:rPr lang="zh-CN" altLang="en-US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氮杂缩醛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28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772816"/>
            <a:ext cx="8352928" cy="4752528"/>
          </a:xfrm>
        </p:spPr>
        <p:txBody>
          <a:bodyPr>
            <a:no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生物碱的类别</a:t>
            </a:r>
            <a:endParaRPr lang="en-US" altLang="zh-CN" sz="3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3000" dirty="0" smtClean="0">
                <a:latin typeface="微软雅黑" pitchFamily="34" charset="-122"/>
                <a:ea typeface="微软雅黑" pitchFamily="34" charset="-122"/>
              </a:rPr>
              <a:t>根据分子生物合成过程中氮原子的来源分：</a:t>
            </a:r>
            <a:endParaRPr lang="en-US" altLang="zh-CN" sz="30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2600" dirty="0" smtClean="0">
                <a:latin typeface="微软雅黑" pitchFamily="34" charset="-122"/>
                <a:ea typeface="微软雅黑" pitchFamily="34" charset="-122"/>
              </a:rPr>
              <a:t>氨基酸来源生物碱</a:t>
            </a:r>
            <a:endParaRPr lang="en-US" altLang="zh-CN" sz="26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2600" dirty="0" smtClean="0">
                <a:latin typeface="微软雅黑" pitchFamily="34" charset="-122"/>
                <a:ea typeface="微软雅黑" pitchFamily="34" charset="-122"/>
              </a:rPr>
              <a:t>非氨基酸来源生物碱（萜类和甾体类生物碱）</a:t>
            </a:r>
            <a:endParaRPr lang="zh-CN" altLang="en-US" sz="2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46929" y="4046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058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332656"/>
            <a:ext cx="8640960" cy="1584176"/>
          </a:xfrm>
        </p:spPr>
        <p:txBody>
          <a:bodyPr>
            <a:noAutofit/>
          </a:bodyPr>
          <a:lstStyle/>
          <a:p>
            <a:pPr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氨基酸来源生物碱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sz="2800" dirty="0"/>
              <a:t>氨基酸来源包括鸟氨酸、赖氨酸、邻氨基苯甲酸、苯丙氨酸</a:t>
            </a:r>
            <a:r>
              <a:rPr lang="en-US" altLang="zh-CN" sz="2800" dirty="0"/>
              <a:t>/</a:t>
            </a:r>
            <a:r>
              <a:rPr lang="zh-CN" altLang="en-US" sz="2800" dirty="0"/>
              <a:t>酪氨酸、</a:t>
            </a:r>
            <a:r>
              <a:rPr lang="zh-CN" altLang="en-US" sz="2800" dirty="0" smtClean="0"/>
              <a:t>色氨酸等</a:t>
            </a:r>
            <a:endParaRPr lang="en-US" altLang="zh-CN" sz="2800" dirty="0"/>
          </a:p>
          <a:p>
            <a:pPr>
              <a:lnSpc>
                <a:spcPts val="4000"/>
              </a:lnSpc>
              <a:buClr>
                <a:srgbClr val="0070C0"/>
              </a:buClr>
              <a:buFont typeface="Wingdings" pitchFamily="2" charset="2"/>
              <a:buChar char="u"/>
            </a:pP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366761"/>
              </p:ext>
            </p:extLst>
          </p:nvPr>
        </p:nvGraphicFramePr>
        <p:xfrm>
          <a:off x="323528" y="2492896"/>
          <a:ext cx="2683419" cy="1280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1" name="CS ChemDraw Drawing" r:id="rId3" imgW="1729740" imgH="826008" progId="ChemDraw.Document.6.0">
                  <p:embed/>
                </p:oleObj>
              </mc:Choice>
              <mc:Fallback>
                <p:oleObj name="CS ChemDraw Drawing" r:id="rId3" imgW="1729740" imgH="826008" progId="ChemDraw.Document.6.0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492896"/>
                        <a:ext cx="2683419" cy="12806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729941"/>
              </p:ext>
            </p:extLst>
          </p:nvPr>
        </p:nvGraphicFramePr>
        <p:xfrm>
          <a:off x="3203848" y="2348880"/>
          <a:ext cx="2876514" cy="1661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2" name="CS ChemDraw Drawing" r:id="rId5" imgW="1688825" imgH="976780" progId="ChemDraw.Document.6.0">
                  <p:embed/>
                </p:oleObj>
              </mc:Choice>
              <mc:Fallback>
                <p:oleObj name="CS ChemDraw Drawing" r:id="rId5" imgW="1688825" imgH="976780" progId="ChemDraw.Document.6.0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348880"/>
                        <a:ext cx="2876514" cy="1661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552276"/>
              </p:ext>
            </p:extLst>
          </p:nvPr>
        </p:nvGraphicFramePr>
        <p:xfrm>
          <a:off x="6300192" y="2276872"/>
          <a:ext cx="2172292" cy="143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3" name="CS ChemDraw Drawing" r:id="rId7" imgW="1381490" imgH="912879" progId="ChemDraw.Document.6.0">
                  <p:embed/>
                </p:oleObj>
              </mc:Choice>
              <mc:Fallback>
                <p:oleObj name="CS ChemDraw Drawing" r:id="rId7" imgW="1381490" imgH="912879" progId="ChemDraw.Document.6.0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2276872"/>
                        <a:ext cx="2172292" cy="1436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772253"/>
              </p:ext>
            </p:extLst>
          </p:nvPr>
        </p:nvGraphicFramePr>
        <p:xfrm>
          <a:off x="971600" y="4725144"/>
          <a:ext cx="3194547" cy="1331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4" name="CS ChemDraw Drawing" r:id="rId9" imgW="2103120" imgH="876300" progId="ChemDraw.Document.6.0">
                  <p:embed/>
                </p:oleObj>
              </mc:Choice>
              <mc:Fallback>
                <p:oleObj name="CS ChemDraw Drawing" r:id="rId9" imgW="2103120" imgH="876300" progId="ChemDraw.Document.6.0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725144"/>
                        <a:ext cx="3194547" cy="1331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467173"/>
              </p:ext>
            </p:extLst>
          </p:nvPr>
        </p:nvGraphicFramePr>
        <p:xfrm>
          <a:off x="4644008" y="4077072"/>
          <a:ext cx="2819722" cy="2407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5" name="CS ChemDraw Drawing" r:id="rId11" imgW="1993118" imgH="1702518" progId="ChemDraw.Document.6.0">
                  <p:embed/>
                </p:oleObj>
              </mc:Choice>
              <mc:Fallback>
                <p:oleObj name="CS ChemDraw Drawing" r:id="rId11" imgW="1993118" imgH="1702518" progId="ChemDraw.Document.6.0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4077072"/>
                        <a:ext cx="2819722" cy="24079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804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332656"/>
            <a:ext cx="8352928" cy="93610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非氨基酸来源生物碱：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萜类生物碱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甾体类生物碱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998571"/>
              </p:ext>
            </p:extLst>
          </p:nvPr>
        </p:nvGraphicFramePr>
        <p:xfrm>
          <a:off x="2843808" y="1196752"/>
          <a:ext cx="5349875" cy="270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name="CS ChemDraw Drawing" r:id="rId3" imgW="4897780" imgH="2471580" progId="ChemDraw.Document.6.0">
                  <p:embed/>
                </p:oleObj>
              </mc:Choice>
              <mc:Fallback>
                <p:oleObj name="CS ChemDraw Drawing" r:id="rId3" imgW="4897780" imgH="2471580" progId="ChemDraw.Document.6.0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1196752"/>
                        <a:ext cx="5349875" cy="270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5576" y="2354977"/>
            <a:ext cx="24577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角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鲨胺</a:t>
            </a:r>
            <a:r>
              <a:rPr lang="en-US" altLang="zh-CN" sz="2000" b="1" dirty="0" err="1" smtClean="0">
                <a:latin typeface="微软雅黑" pitchFamily="34" charset="-122"/>
                <a:ea typeface="微软雅黑" pitchFamily="34" charset="-122"/>
              </a:rPr>
              <a:t>Squalamine</a:t>
            </a:r>
            <a:endParaRPr lang="en-US" altLang="zh-CN" sz="2000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甾体生物碱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316685"/>
              </p:ext>
            </p:extLst>
          </p:nvPr>
        </p:nvGraphicFramePr>
        <p:xfrm>
          <a:off x="1043608" y="4005064"/>
          <a:ext cx="2880320" cy="2425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" name="CS ChemDraw Drawing" r:id="rId5" imgW="1729391" imgH="1455030" progId="ChemDraw.Document.6.0">
                  <p:embed/>
                </p:oleObj>
              </mc:Choice>
              <mc:Fallback>
                <p:oleObj name="CS ChemDraw Drawing" r:id="rId5" imgW="1729391" imgH="145503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3608" y="4005064"/>
                        <a:ext cx="2880320" cy="2425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779912" y="5439127"/>
            <a:ext cx="32697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 smtClean="0">
                <a:latin typeface="微软雅黑" pitchFamily="34" charset="-122"/>
                <a:ea typeface="微软雅黑" pitchFamily="34" charset="-122"/>
              </a:rPr>
              <a:t>Carbonimidic</a:t>
            </a:r>
            <a:r>
              <a:rPr lang="en-US" altLang="zh-CN" sz="2000" b="1" dirty="0" smtClean="0">
                <a:latin typeface="微软雅黑" pitchFamily="34" charset="-122"/>
                <a:ea typeface="微软雅黑" pitchFamily="34" charset="-122"/>
              </a:rPr>
              <a:t> dichloride</a:t>
            </a:r>
          </a:p>
          <a:p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倍半萜生物碱</a:t>
            </a:r>
            <a:endParaRPr lang="zh-CN" altLang="en-US" sz="20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903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446929" y="4046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11560" y="170080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理化性质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原子状态不同，具有不同程度的碱性由于饱和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原子具有手性，故大多数生物碱具有旋光性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大多数仲胺和叔胺生物碱具有亲脂性，季铵碱及分子中含有酸性基团的生物碱易溶于水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895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501488" y="1772816"/>
            <a:ext cx="8143875" cy="3369543"/>
          </a:xfrm>
        </p:spPr>
        <p:txBody>
          <a:bodyPr/>
          <a:lstStyle/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生物碱的碱性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含氮基团的碱性强弱顺序：胍基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季铵碱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脂肪胺基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芳杂环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酰胺基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碱性与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原子杂化度、诱导效应、诱导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场效应、共轭效应、空间效应、分子内氢键等相关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58626" y="27579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3135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生物碱的检测与识别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沉淀反应，利用游离碱和生物碱盐类在水中的溶解度不同，通过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pH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调节法使生物碱从水中沉淀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显色反应，碘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碘化钾试剂和碘化铋钾，生物碱显橙黄或红色（薄层色谱分析）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446929" y="4046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4055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501488" y="1772816"/>
            <a:ext cx="8143875" cy="3369543"/>
          </a:xfrm>
        </p:spPr>
        <p:txBody>
          <a:bodyPr/>
          <a:lstStyle/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生物碱的波谱学特征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质谱数据符合氮律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红外光谱中可能存在活泼氢（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NH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）特征吸收峰</a:t>
            </a:r>
            <a:endParaRPr lang="en-US" altLang="zh-CN" smtClean="0"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buClr>
                <a:srgbClr val="00B0F0"/>
              </a:buClr>
              <a:buFont typeface="Wingdings" pitchFamily="2" charset="2"/>
              <a:buChar char="p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458626" y="27579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生物碱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0615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4205</TotalTime>
  <Words>568</Words>
  <Application>Microsoft Office PowerPoint</Application>
  <PresentationFormat>全屏显示(4:3)</PresentationFormat>
  <Paragraphs>97</Paragraphs>
  <Slides>17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Office 主题​​</vt:lpstr>
      <vt:lpstr>Ocean</vt:lpstr>
      <vt:lpstr>CS ChemDraw Drawing</vt:lpstr>
      <vt:lpstr>海洋天然产物化学 Marine Natural Product Chemistry</vt:lpstr>
      <vt:lpstr>PowerPoint 演示文稿</vt:lpstr>
      <vt:lpstr>PowerPoint 演示文稿</vt:lpstr>
      <vt:lpstr>认识海洋天然产物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ZJUOC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DYN</dc:creator>
  <cp:lastModifiedBy>xjz</cp:lastModifiedBy>
  <cp:revision>221</cp:revision>
  <dcterms:created xsi:type="dcterms:W3CDTF">2015-01-27T02:40:20Z</dcterms:created>
  <dcterms:modified xsi:type="dcterms:W3CDTF">2022-03-30T11:11:44Z</dcterms:modified>
</cp:coreProperties>
</file>