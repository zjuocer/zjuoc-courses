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350" r:id="rId3"/>
    <p:sldId id="295" r:id="rId4"/>
    <p:sldId id="359" r:id="rId5"/>
    <p:sldId id="379" r:id="rId6"/>
    <p:sldId id="380" r:id="rId7"/>
    <p:sldId id="386" r:id="rId8"/>
    <p:sldId id="385" r:id="rId9"/>
    <p:sldId id="387" r:id="rId10"/>
    <p:sldId id="393" r:id="rId11"/>
    <p:sldId id="381" r:id="rId12"/>
    <p:sldId id="382" r:id="rId13"/>
    <p:sldId id="383" r:id="rId14"/>
    <p:sldId id="384" r:id="rId15"/>
    <p:sldId id="391" r:id="rId16"/>
    <p:sldId id="388" r:id="rId17"/>
    <p:sldId id="389" r:id="rId18"/>
    <p:sldId id="390" r:id="rId19"/>
    <p:sldId id="392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5" autoAdjust="0"/>
    <p:restoredTop sz="96310" autoAdjust="0"/>
  </p:normalViewPr>
  <p:slideViewPr>
    <p:cSldViewPr>
      <p:cViewPr>
        <p:scale>
          <a:sx n="70" d="100"/>
          <a:sy n="70" d="100"/>
        </p:scale>
        <p:origin x="-2928" y="-9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4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4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04E47-DDCF-4C26-B61B-B7C48A7F62E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D4B3-F92E-4454-88A9-1B52D080D3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zh-CN" sz="140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582D0BD-BC72-4371-A99D-2C93502AABF8}" type="slidenum">
              <a:rPr lang="en-GB" altLang="zh-CN">
                <a:solidFill>
                  <a:prstClr val="black"/>
                </a:solidFill>
              </a:rPr>
              <a:pPr/>
              <a:t>1</a:t>
            </a:fld>
            <a:endParaRPr lang="en-GB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14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5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3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8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6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5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83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7 h 1912"/>
              <a:gd name="T4" fmla="*/ 0 w 1588"/>
              <a:gd name="T5" fmla="*/ 2147483647 h 1912"/>
              <a:gd name="T6" fmla="*/ 0 w 1588"/>
              <a:gd name="T7" fmla="*/ 2147483647 h 1912"/>
              <a:gd name="T8" fmla="*/ 0 w 1588"/>
              <a:gd name="T9" fmla="*/ 2147483647 h 1912"/>
              <a:gd name="T10" fmla="*/ 0 w 1588"/>
              <a:gd name="T11" fmla="*/ 2147483647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10199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AB603-56F1-40C2-ACFD-A8C109FF9F1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4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4DE39-8B2C-41A3-9C16-35D5160EBD8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81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03062-EDEC-4C87-91EE-231FD9609B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10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0A5ED-A6B5-4283-954A-ACC5A486AE07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9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B35C2-FF72-4D6E-AFCF-13F1BC21BC71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5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1F221-A7A0-44E7-BF4D-E2D8DB48BAB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2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3BC7E-E1A6-4DFF-9C73-70C4CB633159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13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17FB-1BB7-4D20-9E98-046EE7C338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3EAF9-A129-405C-BB96-4BA5CE8D2CDF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91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9E4B1-B749-43D6-8A03-8567B35D8808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4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389D9-CE6B-4F64-8BC6-C1DFE512AADB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1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2D7D-2CD5-4023-AA6E-28D149C8CA3D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E02CC3-7F54-4444-B682-87D61477DCDF}" type="slidenum">
              <a:rPr lang="en-US" altLang="zh-CN">
                <a:solidFill>
                  <a:srgbClr val="0101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6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png"/><Relationship Id="rId5" Type="http://schemas.openxmlformats.org/officeDocument/2006/relationships/image" Target="../media/image14.gif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259632" y="1052736"/>
            <a:ext cx="6364288" cy="2884152"/>
          </a:xfrm>
        </p:spPr>
        <p:txBody>
          <a:bodyPr/>
          <a:lstStyle/>
          <a:p>
            <a:pPr eaLnBrk="1"/>
            <a:r>
              <a:rPr lang="zh-CN" altLang="en-US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>海洋天然产物化学</a:t>
            </a: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/>
            </a:r>
            <a:b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</a:b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Marine Natural Product Chemistry</a:t>
            </a:r>
            <a:endParaRPr lang="en-GB" altLang="zh-CN" sz="5400" b="1" dirty="0" smtClean="0"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52003" y="4437112"/>
            <a:ext cx="8884890" cy="1970063"/>
          </a:xfrm>
        </p:spPr>
        <p:txBody>
          <a:bodyPr/>
          <a:lstStyle/>
          <a:p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徐金钟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xujinzhong@zju.edu.cn</a:t>
            </a:r>
            <a:endParaRPr lang="en-GB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海洋生物与药物研究所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浙江大学</a:t>
            </a:r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/</a:t>
            </a:r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海洋学院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43089"/>
            <a:ext cx="11525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2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00945" y="620688"/>
            <a:ext cx="8352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latin typeface="微软雅黑" pitchFamily="34" charset="-122"/>
                <a:ea typeface="微软雅黑" pitchFamily="34" charset="-122"/>
              </a:rPr>
              <a:t>认识海洋天然产物</a:t>
            </a:r>
            <a:endParaRPr lang="en-US" altLang="zh-CN" sz="54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5400" b="1" dirty="0" smtClean="0">
                <a:latin typeface="微软雅黑" pitchFamily="34" charset="-122"/>
                <a:ea typeface="微软雅黑" pitchFamily="34" charset="-122"/>
              </a:rPr>
              <a:t>                  </a:t>
            </a:r>
            <a:r>
              <a:rPr lang="en-US" altLang="zh-CN" sz="4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结构类型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8" name="Picture 4" descr="Graphical abstract: Marine natural produ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39" y="2657737"/>
            <a:ext cx="631994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7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67771" y="245830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6236" y="17657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56096" y="33028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萜类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92200" y="332312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sz="2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316" y="2719913"/>
            <a:ext cx="553998" cy="22593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是否含有氮原子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263808" y="2719913"/>
            <a:ext cx="1080120" cy="5232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185600" y="4393183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64441" y="26121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464441" y="44065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2775976" y="2156404"/>
            <a:ext cx="742392" cy="301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57111" y="1758110"/>
            <a:ext cx="461665" cy="17081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是否酰胺键连接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892263" y="19717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92263" y="27302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2718776" y="2719912"/>
            <a:ext cx="84928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71920" y="3967999"/>
            <a:ext cx="461665" cy="124649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生合成途径</a:t>
            </a:r>
            <a:endParaRPr lang="zh-CN" altLang="en-US" dirty="0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2892263" y="3669085"/>
            <a:ext cx="747809" cy="3327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32569" y="3466120"/>
            <a:ext cx="63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MVA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892263" y="4543252"/>
            <a:ext cx="7478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66533" y="4135174"/>
            <a:ext cx="52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PKS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894225" y="3918350"/>
            <a:ext cx="255069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醌   大环内酯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聚醚  多聚乙酰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796236" y="1758109"/>
            <a:ext cx="2868172" cy="4237733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6664408" y="3356233"/>
            <a:ext cx="21483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/>
              <a:t>+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2892263" y="4979298"/>
            <a:ext cx="747809" cy="754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666366" y="507376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桂皮酸途径</a:t>
            </a:r>
            <a:endParaRPr lang="zh-CN" alt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3964598" y="547262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苯丙素类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4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365006"/>
            <a:ext cx="8229600" cy="2424034"/>
          </a:xfrm>
        </p:spPr>
        <p:txBody>
          <a:bodyPr/>
          <a:lstStyle/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 smtClean="0">
                <a:solidFill>
                  <a:srgbClr val="FF0000"/>
                </a:solidFill>
              </a:rPr>
              <a:t>甾体类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/>
              <a:t>一般是指结构中具有环戊烷骈多氢菲碳骨架的化合物。</a:t>
            </a: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/>
              <a:t>经过甲戊二羟酸途径生物合成而</a:t>
            </a:r>
            <a:r>
              <a:rPr lang="zh-CN" altLang="en-US" b="1" dirty="0" smtClean="0"/>
              <a:t>得。</a:t>
            </a:r>
            <a:endParaRPr lang="en-US" altLang="zh-CN" b="1" dirty="0" smtClean="0"/>
          </a:p>
          <a:p>
            <a:pPr eaLnBrk="1" hangingPunct="1">
              <a:buClr>
                <a:srgbClr val="00B0F0"/>
              </a:buClr>
              <a:buFont typeface="Arial" pitchFamily="34" charset="0"/>
              <a:buNone/>
            </a:pPr>
            <a:endParaRPr lang="en-US" altLang="zh-CN" b="1" dirty="0" smtClean="0"/>
          </a:p>
          <a:p>
            <a:pPr eaLnBrk="1" hangingPunct="1">
              <a:buClr>
                <a:srgbClr val="00B0F0"/>
              </a:buClr>
              <a:buFont typeface="Arial" pitchFamily="34" charset="0"/>
              <a:buNone/>
            </a:pPr>
            <a:endParaRPr lang="en-US" altLang="zh-CN" b="1" dirty="0" smtClean="0"/>
          </a:p>
          <a:p>
            <a:pPr eaLnBrk="1" hangingPunct="1">
              <a:buClr>
                <a:srgbClr val="00B0F0"/>
              </a:buClr>
              <a:buFont typeface="Arial" pitchFamily="34" charset="0"/>
              <a:buNone/>
            </a:pPr>
            <a:endParaRPr lang="en-US" altLang="zh-CN" b="1" dirty="0" smtClean="0"/>
          </a:p>
          <a:p>
            <a:pPr eaLnBrk="1" hangingPunct="1">
              <a:buClr>
                <a:srgbClr val="00B0F0"/>
              </a:buClr>
              <a:buFont typeface="Arial" pitchFamily="34" charset="0"/>
              <a:buNone/>
            </a:pPr>
            <a:endParaRPr lang="en-US" altLang="zh-CN" b="1" dirty="0" smtClean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198367"/>
              </p:ext>
            </p:extLst>
          </p:nvPr>
        </p:nvGraphicFramePr>
        <p:xfrm>
          <a:off x="3131840" y="3861048"/>
          <a:ext cx="3311525" cy="245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CS ChemDraw Drawing" r:id="rId3" imgW="2293159" imgH="1752300" progId="ChemDraw.Document.6.0">
                  <p:embed/>
                </p:oleObj>
              </mc:Choice>
              <mc:Fallback>
                <p:oleObj name="CS ChemDraw Drawing" r:id="rId3" imgW="2293159" imgH="1752300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861048"/>
                        <a:ext cx="3311525" cy="245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31640" y="4725144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 smtClean="0">
                <a:solidFill>
                  <a:srgbClr val="0000FF"/>
                </a:solidFill>
              </a:rPr>
              <a:t>甾</a:t>
            </a:r>
            <a:endParaRPr lang="zh-CN" altLang="en-US" sz="8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70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26915" y="1085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718687"/>
              </p:ext>
            </p:extLst>
          </p:nvPr>
        </p:nvGraphicFramePr>
        <p:xfrm>
          <a:off x="5064549" y="1206291"/>
          <a:ext cx="27940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2" name="CS ChemDraw Drawing" r:id="rId3" imgW="2898256" imgH="1817910" progId="ChemDraw.Document.6.0">
                  <p:embed/>
                </p:oleObj>
              </mc:Choice>
              <mc:Fallback>
                <p:oleObj name="CS ChemDraw Drawing" r:id="rId3" imgW="2898256" imgH="181791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549" y="1206291"/>
                        <a:ext cx="27940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134530"/>
              </p:ext>
            </p:extLst>
          </p:nvPr>
        </p:nvGraphicFramePr>
        <p:xfrm>
          <a:off x="1132311" y="1103103"/>
          <a:ext cx="2682875" cy="181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3" name="CS ChemDraw Drawing" r:id="rId5" imgW="2684851" imgH="1817910" progId="ChemDraw.Document.6.0">
                  <p:embed/>
                </p:oleObj>
              </mc:Choice>
              <mc:Fallback>
                <p:oleObj name="CS ChemDraw Drawing" r:id="rId5" imgW="2684851" imgH="181791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311" y="1103103"/>
                        <a:ext cx="2682875" cy="181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334099"/>
              </p:ext>
            </p:extLst>
          </p:nvPr>
        </p:nvGraphicFramePr>
        <p:xfrm>
          <a:off x="768774" y="3617703"/>
          <a:ext cx="3736975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4" name="CS ChemDraw Drawing" r:id="rId7" imgW="4175445" imgH="2028240" progId="ChemDraw.Document.6.0">
                  <p:embed/>
                </p:oleObj>
              </mc:Choice>
              <mc:Fallback>
                <p:oleObj name="CS ChemDraw Drawing" r:id="rId7" imgW="4175445" imgH="202824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774" y="3617703"/>
                        <a:ext cx="3736975" cy="18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586314"/>
              </p:ext>
            </p:extLst>
          </p:nvPr>
        </p:nvGraphicFramePr>
        <p:xfrm>
          <a:off x="4778799" y="3644691"/>
          <a:ext cx="3884612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5" name="CS ChemDraw Drawing" r:id="rId9" imgW="4169232" imgH="2025000" progId="ChemDraw.Document.6.0">
                  <p:embed/>
                </p:oleObj>
              </mc:Choice>
              <mc:Fallback>
                <p:oleObj name="CS ChemDraw Drawing" r:id="rId9" imgW="4169232" imgH="202500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799" y="3644691"/>
                        <a:ext cx="3884612" cy="188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6261636" y="2974715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dirty="0"/>
              <a:t>雌二醇</a:t>
            </a:r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2279280" y="3040112"/>
            <a:ext cx="877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睾丸酮</a:t>
            </a:r>
          </a:p>
        </p:txBody>
      </p:sp>
      <p:sp>
        <p:nvSpPr>
          <p:cNvPr id="13" name="TextBox 8"/>
          <p:cNvSpPr txBox="1">
            <a:spLocks noChangeArrowheads="1"/>
          </p:cNvSpPr>
          <p:nvPr/>
        </p:nvSpPr>
        <p:spPr bwMode="auto">
          <a:xfrm>
            <a:off x="2136405" y="5553124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胆酸</a:t>
            </a:r>
          </a:p>
        </p:txBody>
      </p:sp>
      <p:sp>
        <p:nvSpPr>
          <p:cNvPr id="14" name="TextBox 9"/>
          <p:cNvSpPr txBox="1">
            <a:spLocks noChangeArrowheads="1"/>
          </p:cNvSpPr>
          <p:nvPr/>
        </p:nvSpPr>
        <p:spPr bwMode="auto">
          <a:xfrm>
            <a:off x="6208342" y="5553124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熊去氧胆酸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7167" y="6196662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内源性甾体化合物</a:t>
            </a:r>
            <a:endParaRPr lang="zh-CN" altLang="en-US" sz="24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969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26915" y="1085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0202134"/>
              </p:ext>
            </p:extLst>
          </p:nvPr>
        </p:nvGraphicFramePr>
        <p:xfrm>
          <a:off x="5292080" y="791846"/>
          <a:ext cx="2880320" cy="2268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7" name="CS ChemDraw Drawing" r:id="rId3" imgW="3058445" imgH="2410560" progId="ChemDraw.Document.6.0">
                  <p:embed/>
                </p:oleObj>
              </mc:Choice>
              <mc:Fallback>
                <p:oleObj name="CS ChemDraw Drawing" r:id="rId3" imgW="3058445" imgH="241056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791846"/>
                        <a:ext cx="2880320" cy="22681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184776"/>
              </p:ext>
            </p:extLst>
          </p:nvPr>
        </p:nvGraphicFramePr>
        <p:xfrm>
          <a:off x="1001713" y="962025"/>
          <a:ext cx="2941637" cy="210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8" name="CS ChemDraw Drawing" r:id="rId5" imgW="2945530" imgH="2101410" progId="ChemDraw.Document.6.0">
                  <p:embed/>
                </p:oleObj>
              </mc:Choice>
              <mc:Fallback>
                <p:oleObj name="CS ChemDraw Drawing" r:id="rId5" imgW="2945530" imgH="210141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962025"/>
                        <a:ext cx="2941637" cy="210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026127"/>
              </p:ext>
            </p:extLst>
          </p:nvPr>
        </p:nvGraphicFramePr>
        <p:xfrm>
          <a:off x="1114425" y="3584575"/>
          <a:ext cx="3043238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9" name="CS ChemDraw Drawing" r:id="rId7" imgW="3402595" imgH="2105730" progId="ChemDraw.Document.6.0">
                  <p:embed/>
                </p:oleObj>
              </mc:Choice>
              <mc:Fallback>
                <p:oleObj name="CS ChemDraw Drawing" r:id="rId7" imgW="3402595" imgH="210573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3584575"/>
                        <a:ext cx="3043238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89226"/>
              </p:ext>
            </p:extLst>
          </p:nvPr>
        </p:nvGraphicFramePr>
        <p:xfrm>
          <a:off x="5370255" y="3855568"/>
          <a:ext cx="2660650" cy="186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0" name="CS ChemDraw Drawing" r:id="rId9" imgW="2855575" imgH="1999350" progId="ChemDraw.Document.6.0">
                  <p:embed/>
                </p:oleObj>
              </mc:Choice>
              <mc:Fallback>
                <p:oleObj name="CS ChemDraw Drawing" r:id="rId9" imgW="2855575" imgH="199935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255" y="3855568"/>
                        <a:ext cx="2660650" cy="186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6972543" y="2782514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 smtClean="0"/>
              <a:t>黄体酮</a:t>
            </a:r>
            <a:endParaRPr lang="en-US" altLang="zh-CN" b="1" dirty="0" smtClean="0"/>
          </a:p>
          <a:p>
            <a:pPr eaLnBrk="1" hangingPunct="1"/>
            <a:r>
              <a:rPr lang="zh-CN" altLang="en-US" b="1" dirty="0"/>
              <a:t>孕激素药物</a:t>
            </a:r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2940413" y="2751737"/>
            <a:ext cx="95891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000" b="1" dirty="0" smtClean="0"/>
              <a:t>孕甾酮</a:t>
            </a:r>
            <a:endParaRPr lang="en-US" altLang="zh-CN" sz="2000" b="1" dirty="0" smtClean="0"/>
          </a:p>
          <a:p>
            <a:pPr eaLnBrk="1" hangingPunct="1"/>
            <a:r>
              <a:rPr lang="zh-CN" altLang="en-US" sz="2000" b="1" dirty="0"/>
              <a:t>避孕药</a:t>
            </a:r>
          </a:p>
        </p:txBody>
      </p:sp>
      <p:sp>
        <p:nvSpPr>
          <p:cNvPr id="13" name="TextBox 8"/>
          <p:cNvSpPr txBox="1">
            <a:spLocks noChangeArrowheads="1"/>
          </p:cNvSpPr>
          <p:nvPr/>
        </p:nvSpPr>
        <p:spPr bwMode="auto">
          <a:xfrm>
            <a:off x="2136405" y="5553124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 smtClean="0"/>
              <a:t>氢化可的松</a:t>
            </a:r>
            <a:endParaRPr lang="en-US" altLang="zh-CN" b="1" dirty="0" smtClean="0"/>
          </a:p>
          <a:p>
            <a:pPr eaLnBrk="1" hangingPunct="1"/>
            <a:r>
              <a:rPr lang="zh-CN" altLang="en-US" b="1" dirty="0"/>
              <a:t>甾体抗炎药</a:t>
            </a:r>
          </a:p>
        </p:txBody>
      </p:sp>
      <p:sp>
        <p:nvSpPr>
          <p:cNvPr id="14" name="TextBox 9"/>
          <p:cNvSpPr txBox="1">
            <a:spLocks noChangeArrowheads="1"/>
          </p:cNvSpPr>
          <p:nvPr/>
        </p:nvSpPr>
        <p:spPr bwMode="auto">
          <a:xfrm>
            <a:off x="6736100" y="5071375"/>
            <a:ext cx="18117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/>
              <a:t>维生素</a:t>
            </a:r>
            <a:r>
              <a:rPr lang="en-US" altLang="zh-CN" b="1" dirty="0" smtClean="0"/>
              <a:t>D</a:t>
            </a:r>
            <a:r>
              <a:rPr lang="en-US" altLang="zh-CN" b="1" baseline="-25000" dirty="0" smtClean="0"/>
              <a:t>2</a:t>
            </a:r>
            <a:endParaRPr lang="en-US" altLang="zh-CN" b="1" dirty="0" smtClean="0"/>
          </a:p>
          <a:p>
            <a:pPr eaLnBrk="1" hangingPunct="1"/>
            <a:r>
              <a:rPr lang="zh-CN" altLang="en-US" b="1" dirty="0" smtClean="0"/>
              <a:t>治疗佝偻病药物</a:t>
            </a:r>
            <a:endParaRPr lang="en-US" altLang="zh-CN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710225" y="619666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甾体类药物</a:t>
            </a:r>
            <a:endParaRPr lang="zh-CN" altLang="en-US" sz="24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503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228600" y="1346165"/>
            <a:ext cx="8686800" cy="1559938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 smtClean="0"/>
              <a:t>早期寻找天然</a:t>
            </a:r>
            <a:r>
              <a:rPr lang="zh-CN" altLang="en-US" b="1" dirty="0"/>
              <a:t>甾</a:t>
            </a:r>
            <a:r>
              <a:rPr lang="zh-CN" altLang="en-US" b="1" dirty="0" smtClean="0"/>
              <a:t>体的主要目的为避孕药的人工合成提供原料。</a:t>
            </a:r>
            <a:endParaRPr lang="zh-CN" altLang="en-US" b="1" dirty="0"/>
          </a:p>
          <a:p>
            <a:pPr eaLnBrk="1" hangingPunct="1">
              <a:buClr>
                <a:srgbClr val="00B0F0"/>
              </a:buClr>
              <a:buFont typeface="Arial" pitchFamily="34" charset="0"/>
              <a:buNone/>
            </a:pPr>
            <a:endParaRPr lang="en-US" altLang="zh-CN" b="1" dirty="0" smtClean="0"/>
          </a:p>
          <a:p>
            <a:pPr eaLnBrk="1" hangingPunct="1">
              <a:buClr>
                <a:srgbClr val="00B0F0"/>
              </a:buClr>
              <a:buFont typeface="Arial" pitchFamily="34" charset="0"/>
              <a:buNone/>
            </a:pPr>
            <a:endParaRPr lang="en-US" altLang="zh-CN" b="1" dirty="0" smtClean="0"/>
          </a:p>
          <a:p>
            <a:pPr eaLnBrk="1" hangingPunct="1">
              <a:buClr>
                <a:srgbClr val="00B0F0"/>
              </a:buClr>
              <a:buFont typeface="Arial" pitchFamily="34" charset="0"/>
              <a:buNone/>
            </a:pPr>
            <a:endParaRPr lang="en-US" altLang="zh-CN" b="1" dirty="0" smtClean="0"/>
          </a:p>
          <a:p>
            <a:pPr eaLnBrk="1" hangingPunct="1">
              <a:buClr>
                <a:srgbClr val="00B0F0"/>
              </a:buClr>
              <a:buFont typeface="Arial" pitchFamily="34" charset="0"/>
              <a:buNone/>
            </a:pPr>
            <a:endParaRPr lang="en-US" altLang="zh-CN" b="1" dirty="0" smtClean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581980"/>
              </p:ext>
            </p:extLst>
          </p:nvPr>
        </p:nvGraphicFramePr>
        <p:xfrm>
          <a:off x="2012033" y="2924944"/>
          <a:ext cx="5059363" cy="380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CS ChemDraw Drawing" r:id="rId3" imgW="5059320" imgH="3803490" progId="ChemDraw.Document.6.0">
                  <p:embed/>
                </p:oleObj>
              </mc:Choice>
              <mc:Fallback>
                <p:oleObj name="CS ChemDraw Drawing" r:id="rId3" imgW="5059320" imgH="38034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12033" y="2924944"/>
                        <a:ext cx="5059363" cy="380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63711" y="31486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薯蓣皂苷元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308302" y="31436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豆甾醇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4788024" y="5805264"/>
            <a:ext cx="95891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000" b="1" dirty="0" smtClean="0"/>
              <a:t>孕甾酮</a:t>
            </a:r>
            <a:endParaRPr lang="en-US" altLang="zh-CN" sz="2000" b="1" dirty="0" smtClean="0"/>
          </a:p>
          <a:p>
            <a:pPr eaLnBrk="1" hangingPunct="1"/>
            <a:r>
              <a:rPr lang="zh-CN" altLang="en-US" sz="2000" b="1" dirty="0"/>
              <a:t>避孕药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3797" y="4684494"/>
            <a:ext cx="1326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Marker</a:t>
            </a:r>
            <a:r>
              <a:rPr lang="zh-CN" altLang="zh-CN" dirty="0"/>
              <a:t>降解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576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26915" y="26064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5791016"/>
              </p:ext>
            </p:extLst>
          </p:nvPr>
        </p:nvGraphicFramePr>
        <p:xfrm>
          <a:off x="646702" y="2005275"/>
          <a:ext cx="7850596" cy="3347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" name="CS ChemDraw Drawing" r:id="rId3" imgW="3838589" imgH="1636200" progId="ChemDraw.Document.6.0">
                  <p:embed/>
                </p:oleObj>
              </mc:Choice>
              <mc:Fallback>
                <p:oleObj name="CS ChemDraw Drawing" r:id="rId3" imgW="3838589" imgH="163620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02" y="2005275"/>
                        <a:ext cx="7850596" cy="3347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51920" y="618120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甾体类药物</a:t>
            </a:r>
            <a:endParaRPr lang="zh-CN" altLang="en-US" sz="24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80160" y="534052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地高辛</a:t>
            </a:r>
            <a:endParaRPr lang="en-US" altLang="zh-CN" sz="2000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心力衰竭用药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510" name="Picture 6" descr="https://timgsa.baidu.com/timg?image&amp;quality=80&amp;size=b9999_10000&amp;sec=1593160913594&amp;di=cdb267b162588a227d9b0a4a30afbf80&amp;imgtype=0&amp;src=http%3A%2F%2Fhbimg.b0.upaiyun.com%2F1cb1ba77534d80368d01334efe7f97d8cd5b226550f36-l6uxkH_fw65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2" name="Picture 8" descr="https://timgsa.baidu.com/timg?image&amp;quality=80&amp;size=b9999_10000&amp;sec=1593160913594&amp;di=cdb267b162588a227d9b0a4a30afbf80&amp;imgtype=0&amp;src=http%3A%2F%2Fhbimg.b0.upaiyun.com%2F1cb1ba77534d80368d01334efe7f97d8cd5b226550f36-l6uxkH_fw65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587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04629"/>
            <a:ext cx="2088232" cy="278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3201549" y="1843465"/>
            <a:ext cx="22805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毛地黄 </a:t>
            </a:r>
            <a:endParaRPr lang="en-US" altLang="zh-CN" sz="22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200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Digitalis </a:t>
            </a:r>
            <a:r>
              <a:rPr lang="en-US" altLang="zh-CN" sz="22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purpurea</a:t>
            </a:r>
            <a:endParaRPr lang="zh-CN" altLang="en-US" sz="2200" i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32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170" y="636455"/>
            <a:ext cx="4514850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426915" y="-20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720116" y="635180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甾体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zh-CN" altLang="en-US" sz="2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毒素</a:t>
            </a:r>
            <a:endParaRPr lang="zh-CN" altLang="en-US" sz="24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0675" y="5356624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箭毒蛙毒素</a:t>
            </a:r>
            <a:endParaRPr lang="en-US" altLang="zh-CN" sz="2000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最毒的天然产物之一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510" name="Picture 6" descr="https://timgsa.baidu.com/timg?image&amp;quality=80&amp;size=b9999_10000&amp;sec=1593160913594&amp;di=cdb267b162588a227d9b0a4a30afbf80&amp;imgtype=0&amp;src=http%3A%2F%2Fhbimg.b0.upaiyun.com%2F1cb1ba77534d80368d01334efe7f97d8cd5b226550f36-l6uxkH_fw6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2" name="Picture 8" descr="https://timgsa.baidu.com/timg?image&amp;quality=80&amp;size=b9999_10000&amp;sec=1593160913594&amp;di=cdb267b162588a227d9b0a4a30afbf80&amp;imgtype=0&amp;src=http%3A%2F%2Fhbimg.b0.upaiyun.com%2F1cb1ba77534d80368d01334efe7f97d8cd5b226550f36-l6uxkH_fw6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587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1619672" y="1186122"/>
            <a:ext cx="10310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箭毒蛙</a:t>
            </a:r>
            <a:endParaRPr lang="zh-CN" altLang="en-US" sz="22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3249579" cy="2437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474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365006"/>
            <a:ext cx="8229600" cy="4584274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 smtClean="0">
                <a:solidFill>
                  <a:srgbClr val="FF0000"/>
                </a:solidFill>
              </a:rPr>
              <a:t>海洋甾体类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/>
              <a:t>主要来源有大型海藻、海绵、棘皮动物、珊瑚、海鞘等</a:t>
            </a: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 smtClean="0"/>
              <a:t>从</a:t>
            </a:r>
            <a:r>
              <a:rPr lang="zh-CN" altLang="en-US" b="1" dirty="0"/>
              <a:t>海星中分离得到大量的海星皂苷，这是一类</a:t>
            </a:r>
            <a:r>
              <a:rPr lang="zh-CN" altLang="en-US" b="1" dirty="0" smtClean="0"/>
              <a:t>特殊的</a:t>
            </a:r>
            <a:r>
              <a:rPr lang="zh-CN" altLang="en-US" b="1" dirty="0"/>
              <a:t>甾体皂苷，其结构特点是有</a:t>
            </a:r>
            <a:r>
              <a:rPr lang="en-US" altLang="zh-CN" b="1" dirty="0"/>
              <a:t>9(10)</a:t>
            </a:r>
            <a:r>
              <a:rPr lang="zh-CN" altLang="en-US" b="1" dirty="0"/>
              <a:t>位双键、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6-</a:t>
            </a:r>
            <a:r>
              <a:rPr lang="zh-CN" altLang="en-US" b="1" dirty="0" smtClean="0"/>
              <a:t>二</a:t>
            </a:r>
            <a:r>
              <a:rPr lang="zh-CN" altLang="en-US" b="1" dirty="0"/>
              <a:t>羟基</a:t>
            </a:r>
            <a:r>
              <a:rPr lang="zh-CN" altLang="en-US" b="1" dirty="0" smtClean="0"/>
              <a:t>取代、</a:t>
            </a:r>
            <a:r>
              <a:rPr lang="en-US" altLang="zh-CN" b="1" dirty="0"/>
              <a:t>3</a:t>
            </a:r>
            <a:r>
              <a:rPr lang="zh-CN" altLang="en-US" b="1" dirty="0" smtClean="0"/>
              <a:t>位羟基硫酸酯化</a:t>
            </a:r>
            <a:r>
              <a:rPr lang="zh-CN" altLang="en-US" b="1" dirty="0"/>
              <a:t>和</a:t>
            </a:r>
            <a:r>
              <a:rPr lang="en-US" altLang="zh-CN" b="1" dirty="0"/>
              <a:t>6</a:t>
            </a:r>
            <a:r>
              <a:rPr lang="zh-CN" altLang="en-US" b="1" dirty="0" smtClean="0"/>
              <a:t>位羟基糖</a:t>
            </a:r>
            <a:r>
              <a:rPr lang="zh-CN" altLang="en-US" b="1" dirty="0"/>
              <a:t>基化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/>
              <a:t>海鞘</a:t>
            </a:r>
            <a:r>
              <a:rPr lang="zh-CN" altLang="en-US" b="1" dirty="0" smtClean="0"/>
              <a:t>中发现特殊的</a:t>
            </a:r>
            <a:r>
              <a:rPr lang="zh-CN" altLang="zh-CN" b="1" dirty="0"/>
              <a:t>二聚</a:t>
            </a:r>
            <a:r>
              <a:rPr lang="zh-CN" altLang="zh-CN" b="1" dirty="0" smtClean="0"/>
              <a:t>甾体生物碱</a:t>
            </a:r>
            <a:r>
              <a:rPr lang="zh-CN" altLang="en-US" dirty="0" smtClean="0"/>
              <a:t>。</a:t>
            </a:r>
            <a:endParaRPr lang="en-US" altLang="zh-CN" b="1" dirty="0" smtClean="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942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335832"/>
              </p:ext>
            </p:extLst>
          </p:nvPr>
        </p:nvGraphicFramePr>
        <p:xfrm>
          <a:off x="1367644" y="260648"/>
          <a:ext cx="6588732" cy="601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CS ChemDraw Drawing" r:id="rId3" imgW="5496536" imgH="5001329" progId="ChemDraw.Document.6.0">
                  <p:embed/>
                </p:oleObj>
              </mc:Choice>
              <mc:Fallback>
                <p:oleObj name="CS ChemDraw Drawing" r:id="rId3" imgW="5496536" imgH="5001329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644" y="260648"/>
                        <a:ext cx="6588732" cy="6010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02449" y="63963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海绵中的甾醇类</a:t>
            </a:r>
            <a:endParaRPr lang="zh-CN" altLang="en-US" sz="24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79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563888" y="593467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海绵中的甾体皂苷</a:t>
            </a:r>
            <a:endParaRPr lang="zh-CN" altLang="en-US" sz="24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122961"/>
              </p:ext>
            </p:extLst>
          </p:nvPr>
        </p:nvGraphicFramePr>
        <p:xfrm>
          <a:off x="349593" y="620688"/>
          <a:ext cx="8444814" cy="501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CS ChemDraw Drawing" r:id="rId3" imgW="6214579" imgH="3722924" progId="ChemDraw.Document.6.0">
                  <p:embed/>
                </p:oleObj>
              </mc:Choice>
              <mc:Fallback>
                <p:oleObj name="CS ChemDraw Drawing" r:id="rId3" imgW="6214579" imgH="3722924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93" y="620688"/>
                        <a:ext cx="8444814" cy="50131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903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237545" y="2848754"/>
            <a:ext cx="3879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海星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皂苷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leptasteriosides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A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626178"/>
              </p:ext>
            </p:extLst>
          </p:nvPr>
        </p:nvGraphicFramePr>
        <p:xfrm>
          <a:off x="1010740" y="188640"/>
          <a:ext cx="7122520" cy="268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CS ChemDraw Drawing" r:id="rId3" imgW="7458196" imgH="2803800" progId="ChemDraw.Document.6.0">
                  <p:embed/>
                </p:oleObj>
              </mc:Choice>
              <mc:Fallback>
                <p:oleObj name="CS ChemDraw Drawing" r:id="rId3" imgW="7458196" imgH="2803800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740" y="188640"/>
                        <a:ext cx="7122520" cy="2686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403468"/>
              </p:ext>
            </p:extLst>
          </p:nvPr>
        </p:nvGraphicFramePr>
        <p:xfrm>
          <a:off x="1587414" y="3313484"/>
          <a:ext cx="6181584" cy="3139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CS ChemDraw Drawing" r:id="rId5" imgW="5429591" imgH="2724710" progId="ChemDraw.Document.6.0">
                  <p:embed/>
                </p:oleObj>
              </mc:Choice>
              <mc:Fallback>
                <p:oleObj name="CS ChemDraw Drawing" r:id="rId5" imgW="5429591" imgH="2724710" progId="ChemDraw.Document.6.0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414" y="3313484"/>
                        <a:ext cx="6181584" cy="31398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131840" y="6459248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海鞘二聚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甾体生物碱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5656" y="69111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硫酸酯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13295" y="128504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糖基化</a:t>
            </a:r>
            <a:endParaRPr lang="zh-CN" altLang="en-US" dirty="0">
              <a:solidFill>
                <a:srgbClr val="0000FF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2352819" y="980728"/>
            <a:ext cx="274965" cy="136309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3541486" y="1320800"/>
            <a:ext cx="171809" cy="14890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3585029" y="3919105"/>
            <a:ext cx="0" cy="1080120"/>
          </a:xfrm>
          <a:prstGeom prst="line">
            <a:avLst/>
          </a:prstGeom>
          <a:ln w="28575">
            <a:solidFill>
              <a:srgbClr val="FF00FF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725886" y="4840762"/>
            <a:ext cx="0" cy="1080120"/>
          </a:xfrm>
          <a:prstGeom prst="line">
            <a:avLst/>
          </a:prstGeom>
          <a:ln w="28575">
            <a:solidFill>
              <a:srgbClr val="FF00FF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237545" y="5589240"/>
            <a:ext cx="750279" cy="43204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3568" y="6190837"/>
            <a:ext cx="1806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NCI</a:t>
            </a:r>
            <a:r>
              <a:rPr lang="zh-CN" altLang="en-US" dirty="0" smtClean="0"/>
              <a:t>抗肿瘤活性最强的天然产物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43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365006"/>
            <a:ext cx="8229600" cy="148793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 smtClean="0">
                <a:solidFill>
                  <a:srgbClr val="FF0000"/>
                </a:solidFill>
              </a:rPr>
              <a:t>海洋甾体类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 smtClean="0"/>
              <a:t>已发现一些变形的海洋甾体天然产物，主要来源于海绵</a:t>
            </a:r>
            <a:endParaRPr lang="en-US" altLang="zh-CN" b="1" dirty="0" smtClean="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944048"/>
              </p:ext>
            </p:extLst>
          </p:nvPr>
        </p:nvGraphicFramePr>
        <p:xfrm>
          <a:off x="827584" y="2780928"/>
          <a:ext cx="3888432" cy="3681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CS ChemDraw Drawing" r:id="rId3" imgW="3527666" imgH="3340170" progId="ChemDraw.Document.6.0">
                  <p:embed/>
                </p:oleObj>
              </mc:Choice>
              <mc:Fallback>
                <p:oleObj name="CS ChemDraw Drawing" r:id="rId3" imgW="3527666" imgH="33401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584" y="2780928"/>
                        <a:ext cx="3888432" cy="3681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987824" y="40878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开环</a:t>
            </a:r>
            <a:endParaRPr lang="zh-CN" alt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483768" y="623731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扩环</a:t>
            </a:r>
            <a:endParaRPr lang="zh-CN" altLang="en-US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828873"/>
              </p:ext>
            </p:extLst>
          </p:nvPr>
        </p:nvGraphicFramePr>
        <p:xfrm>
          <a:off x="4860032" y="3633797"/>
          <a:ext cx="3576901" cy="183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CS ChemDraw Drawing" r:id="rId5" imgW="2976055" imgH="1523610" progId="ChemDraw.Document.6.0">
                  <p:embed/>
                </p:oleObj>
              </mc:Choice>
              <mc:Fallback>
                <p:oleObj name="CS ChemDraw Drawing" r:id="rId5" imgW="2976055" imgH="152361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0032" y="3633797"/>
                        <a:ext cx="3576901" cy="18313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04247" y="511654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氧</a:t>
            </a:r>
            <a:r>
              <a:rPr lang="zh-CN" altLang="en-US" dirty="0" smtClean="0"/>
              <a:t>杂环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307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26915" y="1700808"/>
            <a:ext cx="8686800" cy="2568050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 smtClean="0">
                <a:solidFill>
                  <a:srgbClr val="FF0000"/>
                </a:solidFill>
              </a:rPr>
              <a:t>理化</a:t>
            </a:r>
            <a:r>
              <a:rPr lang="zh-CN" altLang="en-US" b="1" dirty="0">
                <a:solidFill>
                  <a:srgbClr val="FF0000"/>
                </a:solidFill>
              </a:rPr>
              <a:t>性质</a:t>
            </a: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/>
              <a:t>甾体苷元为脂溶性，不溶于水，无色易结晶</a:t>
            </a: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/>
              <a:t>甾体糖苷水溶性增强，海洋甾体糖苷中常见硫酸酯基团，为水溶性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963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26915" y="1700808"/>
            <a:ext cx="7817493" cy="3312368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>
                <a:solidFill>
                  <a:srgbClr val="FF0000"/>
                </a:solidFill>
              </a:rPr>
              <a:t>光谱特征</a:t>
            </a: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b="1" dirty="0"/>
              <a:t>一般无紫外吸收，羰基或烯键的紫外吸收较弱</a:t>
            </a: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en-US" altLang="zh-CN" b="1" dirty="0"/>
              <a:t>NMR</a:t>
            </a:r>
            <a:r>
              <a:rPr lang="zh-CN" altLang="en-US" b="1" dirty="0"/>
              <a:t>氢谱和碳谱中主要信号集中在饱和区（高场</a:t>
            </a:r>
            <a:r>
              <a:rPr lang="zh-CN" altLang="en-US" b="1" dirty="0" smtClean="0"/>
              <a:t>），羟基取代、烯键、羰基、甲基等为特征信号</a:t>
            </a:r>
            <a:endParaRPr lang="zh-CN" altLang="en-US" b="1" dirty="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462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143437"/>
              </p:ext>
            </p:extLst>
          </p:nvPr>
        </p:nvGraphicFramePr>
        <p:xfrm>
          <a:off x="611560" y="836712"/>
          <a:ext cx="8149810" cy="576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" name="Acrobat Document" r:id="rId3" imgW="8019048" imgH="5668166" progId="Acrobat.Document.DC">
                  <p:embed/>
                </p:oleObj>
              </mc:Choice>
              <mc:Fallback>
                <p:oleObj name="Acrobat Document" r:id="rId3" imgW="8019048" imgH="5668166" progId="Acrobat.Document.DC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836712"/>
                        <a:ext cx="8149810" cy="5760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474340"/>
              </p:ext>
            </p:extLst>
          </p:nvPr>
        </p:nvGraphicFramePr>
        <p:xfrm>
          <a:off x="1331640" y="1628800"/>
          <a:ext cx="3897186" cy="200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5" name="CS ChemDraw Drawing" r:id="rId5" imgW="1973339" imgH="1017860" progId="ChemDraw.Document.6.0">
                  <p:embed/>
                </p:oleObj>
              </mc:Choice>
              <mc:Fallback>
                <p:oleObj name="CS ChemDraw Drawing" r:id="rId5" imgW="1973339" imgH="1017860" progId="ChemDraw.Document.6.0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628800"/>
                        <a:ext cx="3897186" cy="200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箭头连接符 13"/>
          <p:cNvCxnSpPr/>
          <p:nvPr/>
        </p:nvCxnSpPr>
        <p:spPr>
          <a:xfrm flipH="1">
            <a:off x="1331640" y="3645024"/>
            <a:ext cx="1512168" cy="1152128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1979712" y="3429000"/>
            <a:ext cx="1440160" cy="1656184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28184" y="260648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 smtClean="0"/>
              <a:t>甲基信号</a:t>
            </a:r>
            <a:endParaRPr lang="zh-CN" altLang="en-US" sz="2200" b="1" dirty="0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6732240" y="836712"/>
            <a:ext cx="0" cy="360040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6832713" y="2564904"/>
            <a:ext cx="0" cy="561550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6889777" y="1871982"/>
            <a:ext cx="0" cy="504056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7164288" y="1016732"/>
            <a:ext cx="0" cy="396044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3568" y="1458809"/>
            <a:ext cx="11192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aseline="30000" dirty="0" smtClean="0"/>
              <a:t>1</a:t>
            </a:r>
            <a:r>
              <a:rPr lang="en-US" altLang="zh-CN" sz="2200" dirty="0" smtClean="0"/>
              <a:t>H-NMR</a:t>
            </a:r>
            <a:endParaRPr lang="zh-CN" altLang="en-US" sz="2200" dirty="0"/>
          </a:p>
        </p:txBody>
      </p:sp>
      <p:sp>
        <p:nvSpPr>
          <p:cNvPr id="38" name="TextBox 37"/>
          <p:cNvSpPr txBox="1"/>
          <p:nvPr/>
        </p:nvSpPr>
        <p:spPr>
          <a:xfrm>
            <a:off x="3654545" y="310571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胆甾醇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523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07504" y="1844824"/>
            <a:ext cx="2088232" cy="3446907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sz="2600" b="1" dirty="0" smtClean="0">
                <a:solidFill>
                  <a:srgbClr val="FF0000"/>
                </a:solidFill>
              </a:rPr>
              <a:t>生物合成</a:t>
            </a: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sz="2600" b="1" dirty="0" smtClean="0"/>
              <a:t>甲戊二羟酸途径，线型三萜角鲨烯作为底物，羊毛固醇为中间体，再脱去三个甲基后形成。</a:t>
            </a:r>
            <a:endParaRPr lang="zh-CN" altLang="en-US" sz="2600" b="1" dirty="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26915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46" y="1340768"/>
            <a:ext cx="6445062" cy="468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3968" y="3995190"/>
            <a:ext cx="93610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00" b="1" dirty="0" smtClean="0">
                <a:solidFill>
                  <a:srgbClr val="0000FF"/>
                </a:solidFill>
              </a:rPr>
              <a:t>环氧角鲨烯</a:t>
            </a:r>
            <a:endParaRPr lang="zh-CN" altLang="en-US" sz="1000" b="1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8144" y="4581128"/>
            <a:ext cx="93610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00" b="1" dirty="0" smtClean="0">
                <a:solidFill>
                  <a:srgbClr val="0000FF"/>
                </a:solidFill>
              </a:rPr>
              <a:t>羊毛固醇</a:t>
            </a:r>
            <a:endParaRPr lang="zh-CN" altLang="en-US" sz="1000" b="1" dirty="0">
              <a:solidFill>
                <a:srgbClr val="0000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48264" y="2492896"/>
            <a:ext cx="1825144" cy="273630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626810" y="5250105"/>
            <a:ext cx="76161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0000FF"/>
                </a:solidFill>
              </a:rPr>
              <a:t>甾体</a:t>
            </a:r>
            <a:endParaRPr lang="zh-CN" altLang="en-US" sz="1600" b="1" dirty="0">
              <a:solidFill>
                <a:srgbClr val="0000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63230" y="6396335"/>
            <a:ext cx="48732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Chinese Journal of Organic Chemistry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, 2018, 38(9): 2335-2347</a:t>
            </a:r>
            <a:endParaRPr lang="zh-CN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74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6701</TotalTime>
  <Words>453</Words>
  <Application>Microsoft Office PowerPoint</Application>
  <PresentationFormat>全屏显示(4:3)</PresentationFormat>
  <Paragraphs>108</Paragraphs>
  <Slides>18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Office 主题​​</vt:lpstr>
      <vt:lpstr>Ocean</vt:lpstr>
      <vt:lpstr>CS ChemDraw Drawing</vt:lpstr>
      <vt:lpstr>Acrobat Document</vt:lpstr>
      <vt:lpstr>海洋天然产物化学 Marine Natural Product Chemistry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ZJUOC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DYN</dc:creator>
  <cp:lastModifiedBy>xjz</cp:lastModifiedBy>
  <cp:revision>246</cp:revision>
  <dcterms:created xsi:type="dcterms:W3CDTF">2015-01-27T02:40:20Z</dcterms:created>
  <dcterms:modified xsi:type="dcterms:W3CDTF">2022-04-06T13:58:33Z</dcterms:modified>
</cp:coreProperties>
</file>