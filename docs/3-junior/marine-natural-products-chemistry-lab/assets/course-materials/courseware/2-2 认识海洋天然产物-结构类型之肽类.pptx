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350" r:id="rId3"/>
    <p:sldId id="295" r:id="rId4"/>
    <p:sldId id="359" r:id="rId5"/>
    <p:sldId id="369" r:id="rId6"/>
    <p:sldId id="360" r:id="rId7"/>
    <p:sldId id="373" r:id="rId8"/>
    <p:sldId id="374" r:id="rId9"/>
    <p:sldId id="375" r:id="rId10"/>
    <p:sldId id="361" r:id="rId11"/>
    <p:sldId id="362" r:id="rId12"/>
    <p:sldId id="377" r:id="rId13"/>
    <p:sldId id="371" r:id="rId14"/>
    <p:sldId id="379" r:id="rId15"/>
    <p:sldId id="380" r:id="rId16"/>
    <p:sldId id="378" r:id="rId17"/>
    <p:sldId id="366" r:id="rId18"/>
    <p:sldId id="381" r:id="rId19"/>
    <p:sldId id="382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5" autoAdjust="0"/>
    <p:restoredTop sz="96310" autoAdjust="0"/>
  </p:normalViewPr>
  <p:slideViewPr>
    <p:cSldViewPr>
      <p:cViewPr>
        <p:scale>
          <a:sx n="70" d="100"/>
          <a:sy n="70" d="100"/>
        </p:scale>
        <p:origin x="-49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04E47-DDCF-4C26-B61B-B7C48A7F62E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D4B3-F92E-4454-88A9-1B52D080D3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zh-CN" sz="140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582D0BD-BC72-4371-A99D-2C93502AABF8}" type="slidenum">
              <a:rPr lang="en-GB" altLang="zh-CN">
                <a:solidFill>
                  <a:prstClr val="black"/>
                </a:solidFill>
              </a:rPr>
              <a:pPr/>
              <a:t>1</a:t>
            </a:fld>
            <a:endParaRPr lang="en-GB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6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3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10199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AB603-56F1-40C2-ACFD-A8C109FF9F1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4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DE39-8B2C-41A3-9C16-35D5160EBD8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03062-EDEC-4C87-91EE-231FD9609B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0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0A5ED-A6B5-4283-954A-ACC5A486AE07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9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35C2-FF72-4D6E-AFCF-13F1BC21BC71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5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221-A7A0-44E7-BF4D-E2D8DB48BAB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BC7E-E1A6-4DFF-9C73-70C4CB633159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1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17FB-1BB7-4D20-9E98-046EE7C338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3EAF9-A129-405C-BB96-4BA5CE8D2CDF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9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E4B1-B749-43D6-8A03-8567B35D8808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4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89D9-CE6B-4F64-8BC6-C1DFE512AADB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E02CC3-7F54-4444-B682-87D61477DCDF}" type="slidenum">
              <a:rPr lang="en-US" altLang="zh-CN">
                <a:solidFill>
                  <a:srgbClr val="0101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jpeg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jpeg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6364288" cy="2884152"/>
          </a:xfrm>
        </p:spPr>
        <p:txBody>
          <a:bodyPr/>
          <a:lstStyle/>
          <a:p>
            <a:pPr eaLnBrk="1"/>
            <a:r>
              <a:rPr lang="zh-CN" altLang="en-US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>海洋天然产物化学</a:t>
            </a: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/>
            </a:r>
            <a:b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</a:b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Marine Natural Product Chemistry</a:t>
            </a:r>
            <a:endParaRPr lang="en-GB" altLang="zh-CN" sz="5400" b="1" dirty="0" smtClean="0"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003" y="4437112"/>
            <a:ext cx="8884890" cy="1970063"/>
          </a:xfrm>
        </p:spPr>
        <p:txBody>
          <a:bodyPr/>
          <a:lstStyle/>
          <a:p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徐金钟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xujinzhong@zju.edu.cn</a:t>
            </a:r>
            <a:endParaRPr lang="en-GB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海洋生物与药物研究所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浙江大学</a:t>
            </a:r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/</a:t>
            </a:r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海洋学院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3089"/>
            <a:ext cx="1152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2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0945" y="620688"/>
            <a:ext cx="8352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认识海洋天然产物</a:t>
            </a:r>
            <a:endParaRPr lang="en-US" altLang="zh-CN" sz="54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5400" b="1" dirty="0" smtClean="0">
                <a:latin typeface="微软雅黑" pitchFamily="34" charset="-122"/>
                <a:ea typeface="微软雅黑" pitchFamily="34" charset="-122"/>
              </a:rPr>
              <a:t>                  </a:t>
            </a:r>
            <a:r>
              <a:rPr lang="en-US" altLang="zh-CN" sz="4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结构类型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 descr="Graphical abstract: Marine natural produ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39" y="2657737"/>
            <a:ext cx="631994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67771" y="245830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6236" y="17657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sz="2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56096" y="33028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萜类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2200" y="332312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316" y="2719913"/>
            <a:ext cx="553998" cy="22593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是否含有氮原子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263808" y="2719913"/>
            <a:ext cx="1080120" cy="5232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185600" y="4393183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4441" y="26121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464441" y="44065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775976" y="2156404"/>
            <a:ext cx="742392" cy="301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7111" y="1758110"/>
            <a:ext cx="461665" cy="17081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是否酰胺键连接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892263" y="19717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92263" y="27302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2718776" y="2719912"/>
            <a:ext cx="84928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71920" y="3967999"/>
            <a:ext cx="461665" cy="124649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生合成途径</a:t>
            </a:r>
            <a:endParaRPr lang="zh-CN" altLang="en-US" dirty="0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892263" y="3669085"/>
            <a:ext cx="747809" cy="3327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32569" y="3466120"/>
            <a:ext cx="63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MVA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892263" y="4543252"/>
            <a:ext cx="7478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66533" y="4135174"/>
            <a:ext cx="52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PKS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894225" y="3918350"/>
            <a:ext cx="255069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醌   大环内酯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聚醚  多聚乙酰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796236" y="1758109"/>
            <a:ext cx="2868172" cy="423773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664408" y="3356233"/>
            <a:ext cx="21483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/>
              <a:t>+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2892263" y="4979298"/>
            <a:ext cx="747809" cy="754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666366" y="507376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桂皮酸途径</a:t>
            </a:r>
            <a:endParaRPr lang="zh-CN" alt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3964598" y="547262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苯丙素类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4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378394"/>
            <a:ext cx="8465566" cy="41388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肽类</a:t>
            </a:r>
            <a:r>
              <a:rPr lang="en-US" altLang="zh-CN" sz="3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Peptide</a:t>
            </a: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个或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个以上个氨基酸通过酰胺键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连接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而成的非蛋白类化合物。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按照氨基酸残基个数命名二肽、三肽、四肽，等等。一般包含十个以上氨基酸残基的肽类也称多肽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81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516332"/>
              </p:ext>
            </p:extLst>
          </p:nvPr>
        </p:nvGraphicFramePr>
        <p:xfrm>
          <a:off x="1896765" y="1296125"/>
          <a:ext cx="5219973" cy="3524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CS ChemDraw Drawing" r:id="rId3" imgW="3959068" imgH="2672730" progId="ChemDraw.Document.6.0">
                  <p:embed/>
                </p:oleObj>
              </mc:Choice>
              <mc:Fallback>
                <p:oleObj name="CS ChemDraw Drawing" r:id="rId3" imgW="3959068" imgH="267273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6765" y="1296125"/>
                        <a:ext cx="5219973" cy="3524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337201" y="629613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历史上的多肽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83577"/>
              </p:ext>
            </p:extLst>
          </p:nvPr>
        </p:nvGraphicFramePr>
        <p:xfrm>
          <a:off x="5992312" y="4035407"/>
          <a:ext cx="2182041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CS ChemDraw Drawing" r:id="rId5" imgW="1278269" imgH="970650" progId="ChemDraw.Document.6.0">
                  <p:embed/>
                </p:oleObj>
              </mc:Choice>
              <mc:Fallback>
                <p:oleObj name="CS ChemDraw Drawing" r:id="rId5" imgW="1278269" imgH="97065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92312" y="4035407"/>
                        <a:ext cx="2182041" cy="1656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 rot="18183394">
            <a:off x="5759482" y="859046"/>
            <a:ext cx="1059525" cy="1932162"/>
          </a:xfrm>
          <a:prstGeom prst="rect">
            <a:avLst/>
          </a:prstGeom>
          <a:noFill/>
          <a:ln w="12700">
            <a:solidFill>
              <a:srgbClr val="FF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6651285" y="2924944"/>
            <a:ext cx="288032" cy="792088"/>
          </a:xfrm>
          <a:prstGeom prst="downArrow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50142" y="521600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降压药卡托普利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133" name="Picture 6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4" y="157001"/>
            <a:ext cx="3298763" cy="2191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3807397" y="81488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美洲矛头蝮蛇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0019" y="419147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蛇毒素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替普罗肽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280" y="2924944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基于结构的</a:t>
            </a:r>
            <a:endParaRPr lang="en-US" altLang="zh-CN" sz="24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药物设计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483780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血管紧张素转化酶抑制剂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419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337201" y="629613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历史上的多肽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12160" y="398493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抗血栓药</a:t>
            </a:r>
            <a:endParaRPr lang="en-US" altLang="zh-CN" sz="24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依替巴肽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12160" y="132009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侏儒响尾蛇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343535"/>
              </p:ext>
            </p:extLst>
          </p:nvPr>
        </p:nvGraphicFramePr>
        <p:xfrm>
          <a:off x="502454" y="2924944"/>
          <a:ext cx="5669494" cy="3220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CS ChemDraw Drawing" r:id="rId3" imgW="4016877" imgH="2280960" progId="ChemDraw.Document.6.0">
                  <p:embed/>
                </p:oleObj>
              </mc:Choice>
              <mc:Fallback>
                <p:oleObj name="CS ChemDraw Drawing" r:id="rId3" imgW="4016877" imgH="22809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2454" y="2924944"/>
                        <a:ext cx="5669494" cy="3220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2" name="Picture 2" descr="https://ss1.bdstatic.com/70cFvXSh_Q1YnxGkpoWK1HF6hhy/it/u=3245717756,1714691001&amp;fm=26&amp;gp=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37707"/>
            <a:ext cx="3816424" cy="253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8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46" y="1868380"/>
            <a:ext cx="7162811" cy="43619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37201" y="629613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历史上的多肽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48830" y="545468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抗血栓药</a:t>
            </a:r>
            <a:endParaRPr lang="en-US" altLang="zh-CN" sz="24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比伐卢定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06439" y="482597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水蛭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268" name="Picture 4" descr="https://ss0.bdstatic.com/70cFuHSh_Q1YnxGkpoWK1HF6hhy/it/u=4102278122,2181542676&amp;fm=26&amp;gp=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563" y="107571"/>
            <a:ext cx="3281573" cy="211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202825" y="747728"/>
            <a:ext cx="2617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水蛭素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（活性最强的凝血酶天然抑制剂）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下箭头 3"/>
          <p:cNvSpPr/>
          <p:nvPr/>
        </p:nvSpPr>
        <p:spPr>
          <a:xfrm>
            <a:off x="6791905" y="1569073"/>
            <a:ext cx="348814" cy="658393"/>
          </a:xfrm>
          <a:prstGeom prst="downArrow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64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337201" y="629613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海洋里的多肽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2290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135" y="692696"/>
            <a:ext cx="5320566" cy="5320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71800" y="5524870"/>
            <a:ext cx="3996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镇痛药齐考诺肽</a:t>
            </a:r>
            <a:r>
              <a:rPr lang="en-US" altLang="zh-CN" sz="2400" b="1" dirty="0" err="1" smtClean="0">
                <a:latin typeface="微软雅黑" pitchFamily="34" charset="-122"/>
                <a:ea typeface="微软雅黑" pitchFamily="34" charset="-122"/>
              </a:rPr>
              <a:t>Ziconotide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876800"/>
            <a:ext cx="3276600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 lang="zh-CN" altLang="en-US">
              <a:latin typeface="Calibri" pitchFamily="34" charset="0"/>
            </a:endParaRPr>
          </a:p>
        </p:txBody>
      </p:sp>
      <p:pic>
        <p:nvPicPr>
          <p:cNvPr id="8" name="Picture 4" descr="mxcpbmo070770-300x1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35" y="22560"/>
            <a:ext cx="3011005" cy="1636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337201" y="325984"/>
            <a:ext cx="26029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Calibri" pitchFamily="34" charset="0"/>
              </a:rPr>
              <a:t>僧袍芋</a:t>
            </a:r>
            <a:r>
              <a:rPr lang="zh-CN" altLang="en-US" sz="2000" dirty="0" smtClean="0">
                <a:latin typeface="Calibri" pitchFamily="34" charset="0"/>
              </a:rPr>
              <a:t>螺</a:t>
            </a:r>
            <a:r>
              <a:rPr lang="en-US" altLang="zh-CN" sz="2000" i="1" dirty="0" err="1" smtClean="0">
                <a:latin typeface="Calibri" pitchFamily="34" charset="0"/>
              </a:rPr>
              <a:t>Conus</a:t>
            </a:r>
            <a:r>
              <a:rPr lang="en-US" altLang="zh-CN" sz="2000" i="1" dirty="0" smtClean="0">
                <a:latin typeface="Calibri" pitchFamily="34" charset="0"/>
              </a:rPr>
              <a:t> magus</a:t>
            </a:r>
            <a:endParaRPr lang="zh-CN" altLang="en-US" sz="20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4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337201" y="629613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海洋里的多肽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091582"/>
              </p:ext>
            </p:extLst>
          </p:nvPr>
        </p:nvGraphicFramePr>
        <p:xfrm>
          <a:off x="1882127" y="3040047"/>
          <a:ext cx="6005513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" name="CS ChemDraw Drawing" r:id="rId3" imgW="3364506" imgH="1567890" progId="ChemDraw.Document.6.0">
                  <p:embed/>
                </p:oleObj>
              </mc:Choice>
              <mc:Fallback>
                <p:oleObj name="CS ChemDraw Drawing" r:id="rId3" imgW="3364506" imgH="1567890" progId="ChemDraw.Document.6.0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127" y="3040047"/>
                        <a:ext cx="6005513" cy="280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131840" y="5517232"/>
            <a:ext cx="3506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海兔毒素 </a:t>
            </a:r>
            <a:r>
              <a:rPr lang="en-US" altLang="zh-CN" b="1" dirty="0" err="1" smtClean="0">
                <a:latin typeface="微软雅黑" pitchFamily="34" charset="-122"/>
                <a:ea typeface="微软雅黑" pitchFamily="34" charset="-122"/>
              </a:rPr>
              <a:t>Dolastatin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 10</a:t>
            </a: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抗肿瘤药物</a:t>
            </a:r>
            <a:r>
              <a:rPr lang="en-US" altLang="zh-CN" b="1" dirty="0" err="1" smtClean="0"/>
              <a:t>Adcetris</a:t>
            </a:r>
            <a:r>
              <a:rPr lang="zh-CN" altLang="en-US" dirty="0" smtClean="0"/>
              <a:t>的先导化合物</a:t>
            </a:r>
            <a:endParaRPr lang="en-US" altLang="zh-CN" dirty="0" smtClean="0"/>
          </a:p>
        </p:txBody>
      </p:sp>
      <p:pic>
        <p:nvPicPr>
          <p:cNvPr id="4189" name="Picture 93" descr="See the source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13" y="188640"/>
            <a:ext cx="4128393" cy="27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716016" y="908720"/>
            <a:ext cx="2343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截尾海兔</a:t>
            </a:r>
            <a:endParaRPr lang="en-US" altLang="zh-CN" sz="2000" dirty="0" smtClean="0"/>
          </a:p>
          <a:p>
            <a:r>
              <a:rPr lang="en-US" altLang="zh-CN" sz="2000" i="1" dirty="0" err="1"/>
              <a:t>Dolabella</a:t>
            </a:r>
            <a:r>
              <a:rPr lang="en-US" altLang="zh-CN" sz="2000" i="1" dirty="0"/>
              <a:t> </a:t>
            </a:r>
            <a:r>
              <a:rPr lang="en-US" altLang="zh-CN" sz="2000" i="1" dirty="0" err="1"/>
              <a:t>auricularia</a:t>
            </a:r>
            <a:endParaRPr lang="zh-CN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43671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022" y="1259632"/>
            <a:ext cx="8352928" cy="4752528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肽的结构分类</a:t>
            </a:r>
            <a:endParaRPr lang="en-US" altLang="zh-CN" sz="30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直</a:t>
            </a: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链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肽：不含有由酰胺键连接而成的环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环肽：由酰胺键连接成闭合环状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缩</a:t>
            </a: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酚酸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肽</a:t>
            </a:r>
            <a:r>
              <a:rPr lang="en-US" altLang="zh-CN" sz="3000" dirty="0" err="1" smtClean="0">
                <a:latin typeface="微软雅黑" pitchFamily="34" charset="-122"/>
                <a:ea typeface="微软雅黑" pitchFamily="34" charset="-122"/>
              </a:rPr>
              <a:t>depsipeptide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：多个酰胺键中混杂有酯键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46929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31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02568" y="2348880"/>
            <a:ext cx="27254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海兔毒素 </a:t>
            </a:r>
            <a:r>
              <a:rPr lang="en-US" altLang="zh-CN" b="1" dirty="0" err="1" smtClean="0">
                <a:latin typeface="微软雅黑" pitchFamily="34" charset="-122"/>
                <a:ea typeface="微软雅黑" pitchFamily="34" charset="-122"/>
              </a:rPr>
              <a:t>Dolastatin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 15</a:t>
            </a: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直链肽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b="1" dirty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缩酚酸肽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818282"/>
              </p:ext>
            </p:extLst>
          </p:nvPr>
        </p:nvGraphicFramePr>
        <p:xfrm>
          <a:off x="755576" y="3319745"/>
          <a:ext cx="4238625" cy="331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CS ChemDraw Drawing" r:id="rId3" imgW="3550627" imgH="2774790" progId="ChemDraw.Document.6.0">
                  <p:embed/>
                </p:oleObj>
              </mc:Choice>
              <mc:Fallback>
                <p:oleObj name="CS ChemDraw Drawing" r:id="rId3" imgW="3550627" imgH="27747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3319745"/>
                        <a:ext cx="4238625" cy="3313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18401" y="4365104"/>
            <a:ext cx="3968907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脱氢膜海鞘素 </a:t>
            </a:r>
            <a:r>
              <a:rPr lang="en-US" altLang="zh-CN" b="1" dirty="0" err="1" smtClean="0">
                <a:latin typeface="微软雅黑" pitchFamily="34" charset="-122"/>
                <a:ea typeface="微软雅黑" pitchFamily="34" charset="-122"/>
              </a:rPr>
              <a:t>Dehydrodidemnin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 B</a:t>
            </a: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孤儿药</a:t>
            </a:r>
            <a:r>
              <a:rPr lang="en-US" altLang="zh-CN" b="1" dirty="0" err="1" smtClean="0">
                <a:latin typeface="微软雅黑" pitchFamily="34" charset="-122"/>
                <a:ea typeface="微软雅黑" pitchFamily="34" charset="-122"/>
              </a:rPr>
              <a:t>Aplidin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环肽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b="1" dirty="0" smtClean="0">
                <a:solidFill>
                  <a:srgbClr val="FF00FF"/>
                </a:solidFill>
                <a:latin typeface="微软雅黑" pitchFamily="34" charset="-122"/>
                <a:ea typeface="微软雅黑" pitchFamily="34" charset="-122"/>
              </a:rPr>
              <a:t>缩酚酸肽</a:t>
            </a:r>
            <a:endParaRPr lang="zh-CN" altLang="en-US" b="1" dirty="0">
              <a:solidFill>
                <a:srgbClr val="FF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207372"/>
              </p:ext>
            </p:extLst>
          </p:nvPr>
        </p:nvGraphicFramePr>
        <p:xfrm>
          <a:off x="2351264" y="32229"/>
          <a:ext cx="4553420" cy="2202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CS ChemDraw Drawing" r:id="rId5" imgW="4000129" imgH="1935360" progId="ChemDraw.Document.6.0">
                  <p:embed/>
                </p:oleObj>
              </mc:Choice>
              <mc:Fallback>
                <p:oleObj name="CS ChemDraw Drawing" r:id="rId5" imgW="4000129" imgH="19353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1264" y="32229"/>
                        <a:ext cx="4553420" cy="2202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467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929" y="1340768"/>
            <a:ext cx="8352928" cy="2448272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海洋肽类</a:t>
            </a:r>
            <a:endParaRPr lang="en-US" altLang="zh-CN" sz="3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蓝藻、海绵、海鞘、软体动物等都发现肽类代谢产物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海绵多肽结构中常发现罕见氨基酸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46929" y="4046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804457"/>
              </p:ext>
            </p:extLst>
          </p:nvPr>
        </p:nvGraphicFramePr>
        <p:xfrm>
          <a:off x="755650" y="4652963"/>
          <a:ext cx="1477963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8" name="CS ChemDraw Drawing" r:id="rId3" imgW="1235588" imgH="1102950" progId="ChemDraw.Document.6.0">
                  <p:embed/>
                </p:oleObj>
              </mc:Choice>
              <mc:Fallback>
                <p:oleObj name="CS ChemDraw Drawing" r:id="rId3" imgW="1235588" imgH="1102950" progId="ChemDraw.Document.6.0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652963"/>
                        <a:ext cx="1477963" cy="13176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373744"/>
              </p:ext>
            </p:extLst>
          </p:nvPr>
        </p:nvGraphicFramePr>
        <p:xfrm>
          <a:off x="2401888" y="4365625"/>
          <a:ext cx="1924050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9" name="CS ChemDraw Drawing" r:id="rId5" imgW="2057062" imgH="1918350" progId="ChemDraw.Document.6.0">
                  <p:embed/>
                </p:oleObj>
              </mc:Choice>
              <mc:Fallback>
                <p:oleObj name="CS ChemDraw Drawing" r:id="rId5" imgW="2057062" imgH="1918350" progId="ChemDraw.Document.6.0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4365625"/>
                        <a:ext cx="1924050" cy="1792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665837"/>
              </p:ext>
            </p:extLst>
          </p:nvPr>
        </p:nvGraphicFramePr>
        <p:xfrm>
          <a:off x="4533900" y="4581525"/>
          <a:ext cx="4308475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0" name="CS ChemDraw Drawing" r:id="rId7" imgW="3907203" imgH="1400220" progId="ChemDraw.Document.6.0">
                  <p:embed/>
                </p:oleObj>
              </mc:Choice>
              <mc:Fallback>
                <p:oleObj name="CS ChemDraw Drawing" r:id="rId7" imgW="3907203" imgH="1400220" progId="ChemDraw.Document.6.0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4581525"/>
                        <a:ext cx="4308475" cy="1543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27584" y="6165304"/>
            <a:ext cx="14814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2000" dirty="0" smtClean="0">
                <a:latin typeface="微软雅黑" pitchFamily="34" charset="-122"/>
                <a:ea typeface="微软雅黑" pitchFamily="34" charset="-122"/>
              </a:rPr>
              <a:t>β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氨基丁酸</a:t>
            </a:r>
            <a:endParaRPr lang="zh-CN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915816" y="619754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海人草酸</a:t>
            </a:r>
            <a:endParaRPr lang="zh-CN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012160" y="620074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软骨藻酸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9058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687003"/>
              </p:ext>
            </p:extLst>
          </p:nvPr>
        </p:nvGraphicFramePr>
        <p:xfrm>
          <a:off x="240040" y="1556792"/>
          <a:ext cx="8828624" cy="4195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CS ChemDraw Drawing" r:id="rId3" imgW="5390179" imgH="2529548" progId="ChemDraw.Document.6.0">
                  <p:embed/>
                </p:oleObj>
              </mc:Choice>
              <mc:Fallback>
                <p:oleObj name="CS ChemDraw Drawing" r:id="rId3" imgW="5390179" imgH="2529548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40" y="1556792"/>
                        <a:ext cx="8828624" cy="41959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76304" y="5967196"/>
            <a:ext cx="719139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蓝藻巨大鞘丝藻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Arial" pitchFamily="34" charset="0"/>
              </a:rPr>
              <a:t>(</a:t>
            </a:r>
            <a:r>
              <a:rPr kumimoji="0" lang="en-US" altLang="zh-CN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L. </a:t>
            </a:r>
            <a:r>
              <a:rPr kumimoji="0" lang="en-US" altLang="zh-CN" sz="22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majuscula</a:t>
            </a:r>
            <a:r>
              <a:rPr kumimoji="0" lang="en-US" altLang="zh-CN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r>
              <a:rPr kumimoji="0" lang="zh-CN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中具有抗疟活性的线状脂肽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539552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732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539552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885961"/>
              </p:ext>
            </p:extLst>
          </p:nvPr>
        </p:nvGraphicFramePr>
        <p:xfrm>
          <a:off x="793913" y="1556792"/>
          <a:ext cx="7720878" cy="4032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8" name="CS ChemDraw Drawing" r:id="rId3" imgW="3375311" imgH="1761480" progId="ChemDraw.Document.6.0">
                  <p:embed/>
                </p:oleObj>
              </mc:Choice>
              <mc:Fallback>
                <p:oleObj name="CS ChemDraw Drawing" r:id="rId3" imgW="3375311" imgH="17614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3913" y="1556792"/>
                        <a:ext cx="7720878" cy="4032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482957" y="5943117"/>
            <a:ext cx="72728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200" dirty="0"/>
              <a:t>海绵</a:t>
            </a:r>
            <a:r>
              <a:rPr lang="en-US" altLang="zh-CN" sz="2200" i="1" dirty="0" err="1"/>
              <a:t>Theonella</a:t>
            </a:r>
            <a:r>
              <a:rPr lang="en-US" altLang="zh-CN" sz="2200" i="1" dirty="0"/>
              <a:t> </a:t>
            </a:r>
            <a:r>
              <a:rPr lang="en-US" altLang="zh-CN" sz="2200" dirty="0"/>
              <a:t>sp.</a:t>
            </a:r>
            <a:r>
              <a:rPr lang="zh-CN" altLang="zh-CN" sz="2200" dirty="0"/>
              <a:t>中分离到的抗肿瘤环肽</a:t>
            </a:r>
            <a:r>
              <a:rPr lang="en-US" altLang="zh-CN" sz="2200" dirty="0" err="1"/>
              <a:t>orbiculamide</a:t>
            </a:r>
            <a:r>
              <a:rPr lang="en-US" altLang="zh-CN" sz="2200" dirty="0"/>
              <a:t> </a:t>
            </a:r>
            <a:r>
              <a:rPr lang="en-US" altLang="zh-CN" sz="2200" dirty="0" smtClean="0"/>
              <a:t>A</a:t>
            </a:r>
            <a:endParaRPr lang="zh-CN" altLang="en-US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363960" y="3717032"/>
            <a:ext cx="20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含有罕见氨基酸的肽类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4704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3688" y="1988840"/>
            <a:ext cx="6429291" cy="3105472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海洋肽类的生理活性</a:t>
            </a:r>
            <a:endParaRPr lang="en-US" altLang="zh-CN" sz="3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抗肿瘤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镇痛</a:t>
            </a:r>
            <a:endParaRPr lang="en-US" altLang="zh-CN" sz="3000" dirty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抗菌肽，如鱼抗菌肽</a:t>
            </a:r>
            <a:endParaRPr lang="en-US" altLang="zh-CN" sz="3000" dirty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抗病毒，如</a:t>
            </a: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海绵多肽</a:t>
            </a:r>
            <a:r>
              <a:rPr lang="en-US" altLang="zh-CN" sz="3000" dirty="0" err="1">
                <a:latin typeface="微软雅黑" pitchFamily="34" charset="-122"/>
                <a:ea typeface="微软雅黑" pitchFamily="34" charset="-122"/>
              </a:rPr>
              <a:t>papuamide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46929" y="4046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864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46929" y="4046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23528" y="1700809"/>
            <a:ext cx="8640960" cy="367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波谱特征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紫外吸收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较弱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红外光谱有中酰胺羰基信号峰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NMR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谱中有多个酰胺羰基碳信号（</a:t>
            </a:r>
            <a:r>
              <a:rPr lang="el-GR" altLang="zh-CN" dirty="0" smtClean="0">
                <a:latin typeface="微软雅黑" pitchFamily="34" charset="-122"/>
                <a:ea typeface="微软雅黑" pitchFamily="34" charset="-122"/>
              </a:rPr>
              <a:t>δ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160-170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）和</a:t>
            </a:r>
            <a:r>
              <a:rPr lang="el-GR" altLang="zh-CN" dirty="0" smtClean="0">
                <a:latin typeface="微软雅黑" pitchFamily="34" charset="-122"/>
                <a:ea typeface="微软雅黑" pitchFamily="34" charset="-122"/>
              </a:rPr>
              <a:t>α-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碳氢信号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zh-CN" dirty="0" smtClean="0">
                <a:latin typeface="微软雅黑" pitchFamily="34" charset="-122"/>
                <a:ea typeface="微软雅黑" pitchFamily="34" charset="-122"/>
              </a:rPr>
              <a:t>α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氨基酸手性碳常用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Marfey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法鉴定绝对构型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895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46929" y="4046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23528" y="1700808"/>
            <a:ext cx="8208912" cy="41764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生物合成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从不同的生物合成途径</a:t>
            </a:r>
            <a:r>
              <a:rPr lang="zh-CN" altLang="en-US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区分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肽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类</a:t>
            </a:r>
            <a:r>
              <a:rPr lang="zh-CN" altLang="en-US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化合物可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分为核糖体肽类（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Ribosomally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synthesized and 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posttranslationally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modified peptides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RiPPs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）化合物和非核糖体肽类（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nonribosomal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peptides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NRP</a:t>
            </a:r>
            <a:r>
              <a:rPr lang="zh-CN" altLang="en-US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endParaRPr lang="en-US" altLang="zh-CN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RiPPs</a:t>
            </a:r>
            <a:r>
              <a:rPr lang="zh-CN" altLang="en-US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通过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核糖体肽类合成（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Post-Ribosomal Peptide Synthesis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PRPS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）途径</a:t>
            </a:r>
            <a:r>
              <a:rPr lang="zh-CN" altLang="en-US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生成。</a:t>
            </a:r>
            <a:endParaRPr lang="en-US" altLang="zh-CN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NRP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通过非核糖体合酶（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Nonribosomal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peptide </a:t>
            </a:r>
            <a:r>
              <a:rPr lang="en-US" altLang="zh-CN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synthetase</a:t>
            </a:r>
            <a:r>
              <a:rPr lang="en-US" altLang="zh-CN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NRPS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途径合成。</a:t>
            </a:r>
            <a:r>
              <a:rPr lang="en-US" altLang="zh-CN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NRPS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途径普遍存在于放线菌、蓝细菌等原核微生物和真菌等</a:t>
            </a:r>
            <a:r>
              <a:rPr lang="zh-CN" altLang="en-US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真核生物中。</a:t>
            </a:r>
            <a:endParaRPr lang="en-US" altLang="zh-CN" dirty="0" smtClean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89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25981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114" y="1019434"/>
            <a:ext cx="7272808" cy="517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915815" y="6381328"/>
            <a:ext cx="3704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RiPPs</a:t>
            </a:r>
            <a:r>
              <a:rPr lang="zh-CN" altLang="en-US" dirty="0"/>
              <a:t>和</a:t>
            </a:r>
            <a:r>
              <a:rPr lang="en-US" altLang="zh-CN" dirty="0"/>
              <a:t>NRPs</a:t>
            </a:r>
            <a:r>
              <a:rPr lang="zh-CN" altLang="en-US" dirty="0"/>
              <a:t>生物合成途径特征对比</a:t>
            </a:r>
          </a:p>
        </p:txBody>
      </p:sp>
    </p:spTree>
    <p:extLst>
      <p:ext uri="{BB962C8B-B14F-4D97-AF65-F5344CB8AC3E}">
        <p14:creationId xmlns:p14="http://schemas.microsoft.com/office/powerpoint/2010/main" val="108311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4681</TotalTime>
  <Words>522</Words>
  <Application>Microsoft Office PowerPoint</Application>
  <PresentationFormat>全屏显示(4:3)</PresentationFormat>
  <Paragraphs>98</Paragraphs>
  <Slides>18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Office 主题​​</vt:lpstr>
      <vt:lpstr>Ocean</vt:lpstr>
      <vt:lpstr>CS ChemDraw Drawing</vt:lpstr>
      <vt:lpstr>海洋天然产物化学 Marine Natural Product Chemistry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ZJUOC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DYN</dc:creator>
  <cp:lastModifiedBy>xjz</cp:lastModifiedBy>
  <cp:revision>250</cp:revision>
  <dcterms:created xsi:type="dcterms:W3CDTF">2015-01-27T02:40:20Z</dcterms:created>
  <dcterms:modified xsi:type="dcterms:W3CDTF">2022-03-30T11:42:28Z</dcterms:modified>
</cp:coreProperties>
</file>