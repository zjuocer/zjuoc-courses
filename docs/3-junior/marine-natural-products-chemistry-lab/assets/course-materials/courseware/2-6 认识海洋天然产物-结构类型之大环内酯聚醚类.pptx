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350" r:id="rId3"/>
    <p:sldId id="295" r:id="rId4"/>
    <p:sldId id="359" r:id="rId5"/>
    <p:sldId id="389" r:id="rId6"/>
    <p:sldId id="361" r:id="rId7"/>
    <p:sldId id="402" r:id="rId8"/>
    <p:sldId id="396" r:id="rId9"/>
    <p:sldId id="394" r:id="rId10"/>
    <p:sldId id="395" r:id="rId11"/>
    <p:sldId id="390" r:id="rId12"/>
    <p:sldId id="371" r:id="rId13"/>
    <p:sldId id="391" r:id="rId14"/>
    <p:sldId id="397" r:id="rId15"/>
    <p:sldId id="398" r:id="rId16"/>
    <p:sldId id="399" r:id="rId17"/>
    <p:sldId id="400" r:id="rId18"/>
    <p:sldId id="40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60" d="100"/>
          <a:sy n="60" d="100"/>
        </p:scale>
        <p:origin x="-3126" y="-10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323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是否含有氮原子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大环内酯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聚醚 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多聚乙酰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66366" y="507376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桂皮酸途径</a:t>
            </a:r>
            <a:endParaRPr lang="zh-CN" alt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大环内酯类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一般指含有十元环以上的环状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内酯类或内酰胺类化合物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几乎所有海洋生物均产生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大环内酯。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均表现某种生物活性，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包括杀虫、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抗菌、抗肿瘤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等。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07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7" name="Picture 77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3026"/>
            <a:ext cx="4071149" cy="271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2" name="Picture 82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704" y="3487317"/>
            <a:ext cx="5688632" cy="289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131840" y="633478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大环内酯类药物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520" y="1844824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红霉素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抗生素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630" y="5236755"/>
            <a:ext cx="1866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阿维菌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素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400" baseline="-25000" dirty="0" smtClean="0">
                <a:latin typeface="微软雅黑" pitchFamily="34" charset="-122"/>
                <a:ea typeface="微软雅黑" pitchFamily="34" charset="-122"/>
              </a:rPr>
              <a:t>1a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抗寄生虫药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24" name="Picture 84" descr="See the source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78812"/>
            <a:ext cx="4403054" cy="307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537216" y="2056128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雷帕霉素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免疫抑制剂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71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987824" y="606775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著名的海洋大环内酯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588230"/>
              </p:ext>
            </p:extLst>
          </p:nvPr>
        </p:nvGraphicFramePr>
        <p:xfrm>
          <a:off x="2742354" y="2720263"/>
          <a:ext cx="3528392" cy="326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name="CS ChemDraw Drawing" r:id="rId3" imgW="2311528" imgH="2139210" progId="ChemDraw.Document.6.0">
                  <p:embed/>
                </p:oleObj>
              </mc:Choice>
              <mc:Fallback>
                <p:oleObj name="CS ChemDraw Drawing" r:id="rId3" imgW="2311528" imgH="21392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2354" y="2720263"/>
                        <a:ext cx="3528392" cy="326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1669"/>
              </p:ext>
            </p:extLst>
          </p:nvPr>
        </p:nvGraphicFramePr>
        <p:xfrm>
          <a:off x="253738" y="83078"/>
          <a:ext cx="5721572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5" name="CS ChemDraw Drawing" r:id="rId5" imgW="4311052" imgH="1790100" progId="ChemDraw.Document.6.0">
                  <p:embed/>
                </p:oleObj>
              </mc:Choice>
              <mc:Fallback>
                <p:oleObj name="CS ChemDraw Drawing" r:id="rId5" imgW="4311052" imgH="17901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3738" y="83078"/>
                        <a:ext cx="5721572" cy="237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267744" y="5445224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草苔虫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毒素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3688" y="1628800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软海绵毒素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20272" y="1859632"/>
            <a:ext cx="20162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艾日布林</a:t>
            </a:r>
            <a:r>
              <a:rPr lang="en-US" altLang="zh-CN" sz="2400" b="1" dirty="0" err="1" smtClean="0"/>
              <a:t>eribulin</a:t>
            </a:r>
            <a:endParaRPr lang="zh-CN" altLang="en-US" sz="2400" b="1" dirty="0"/>
          </a:p>
        </p:txBody>
      </p:sp>
      <p:sp>
        <p:nvSpPr>
          <p:cNvPr id="4" name="右箭头 3"/>
          <p:cNvSpPr/>
          <p:nvPr/>
        </p:nvSpPr>
        <p:spPr>
          <a:xfrm>
            <a:off x="6168088" y="1417728"/>
            <a:ext cx="472112" cy="446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832" name="Picture 16" descr="See the source im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516" y="160815"/>
            <a:ext cx="2224980" cy="166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70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212545" y="606853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海洋大环内酯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35" y="2675070"/>
            <a:ext cx="6361240" cy="29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776" y="408675"/>
            <a:ext cx="3041847" cy="185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33" y="221559"/>
            <a:ext cx="4910101" cy="223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041" y="3102619"/>
            <a:ext cx="2127582" cy="232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43699" y="54578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多聚内酯</a:t>
            </a:r>
            <a:endParaRPr lang="zh-CN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09735" y="20883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简单的大环内酯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392076" y="56274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含有氧环的大环内酯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572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理化性质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大环的环张力小，与链状化合物相近。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具有酯键的一般特性，如酯键在酸、碱性条件下的水解断裂。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大环内酯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63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27987"/>
            <a:ext cx="8717085" cy="5480734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波谱特征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较少含有助色团，一般紫外吸收较弱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红外光谱中有酯羰基吸收峰（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~1730 cm</a:t>
            </a:r>
            <a:r>
              <a:rPr lang="en-US" altLang="zh-CN" baseline="30000" dirty="0" smtClean="0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）或酰胺羰基吸收峰（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~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1690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cm</a:t>
            </a:r>
            <a:r>
              <a:rPr lang="en-US" altLang="zh-CN" baseline="30000" dirty="0">
                <a:latin typeface="微软雅黑" pitchFamily="34" charset="-122"/>
                <a:ea typeface="微软雅黑" pitchFamily="34" charset="-122"/>
              </a:rPr>
              <a:t>-1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核磁共振碳谱中有酯羰基或酰胺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羰基碳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信号（</a:t>
            </a:r>
            <a:r>
              <a:rPr lang="el-GR" altLang="zh-CN" dirty="0" smtClean="0">
                <a:latin typeface="微软雅黑" pitchFamily="34" charset="-122"/>
                <a:ea typeface="微软雅黑" pitchFamily="34" charset="-122"/>
              </a:rPr>
              <a:t>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~175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）（一般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个，多聚内酯有多个）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大环内酯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49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聚醚类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指含有多个以六元环为主的醚环、醚环间反式骈合，形成梯状结构，又称聚醚梯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广义分类：聚醚梯、线型聚醚、聚醚大环内酯、</a:t>
            </a:r>
            <a:r>
              <a:rPr lang="zh-CN" altLang="en-US" dirty="0" smtClean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聚醚</a:t>
            </a:r>
            <a:r>
              <a:rPr lang="zh-CN" altLang="en-US" dirty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三萜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150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194773"/>
              </p:ext>
            </p:extLst>
          </p:nvPr>
        </p:nvGraphicFramePr>
        <p:xfrm>
          <a:off x="251519" y="260648"/>
          <a:ext cx="8490943" cy="576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CS ChemDraw Drawing" r:id="rId3" imgW="5431210" imgH="3654091" progId="ChemDraw.Document.6.0">
                  <p:embed/>
                </p:oleObj>
              </mc:Choice>
              <mc:Fallback>
                <p:oleObj name="CS ChemDraw Drawing" r:id="rId3" imgW="5431210" imgH="3654091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19" y="260648"/>
                        <a:ext cx="8490943" cy="5760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594182" y="5873466"/>
            <a:ext cx="3955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血卡</a:t>
            </a:r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毒素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(CTX)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和冈比毒酸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36296" y="3258457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聚醚梯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28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055778"/>
              </p:ext>
            </p:extLst>
          </p:nvPr>
        </p:nvGraphicFramePr>
        <p:xfrm>
          <a:off x="1187624" y="116632"/>
          <a:ext cx="6416713" cy="204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7" name="CS ChemDraw Drawing" r:id="rId3" imgW="4305017" imgH="1354527" progId="ChemDraw.Document.6.0">
                  <p:embed/>
                </p:oleObj>
              </mc:Choice>
              <mc:Fallback>
                <p:oleObj name="CS ChemDraw Drawing" r:id="rId3" imgW="4305017" imgH="1354527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16632"/>
                        <a:ext cx="6416713" cy="2048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406052"/>
              </p:ext>
            </p:extLst>
          </p:nvPr>
        </p:nvGraphicFramePr>
        <p:xfrm>
          <a:off x="2037035" y="2204864"/>
          <a:ext cx="5559301" cy="447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8" name="CS ChemDraw Drawing" r:id="rId5" imgW="4782003" imgH="3873547" progId="ChemDraw.Document.6.0">
                  <p:embed/>
                </p:oleObj>
              </mc:Choice>
              <mc:Fallback>
                <p:oleObj name="CS ChemDraw Drawing" r:id="rId5" imgW="4782003" imgH="3873547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035" y="2204864"/>
                        <a:ext cx="5559301" cy="44701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22198" y="1412776"/>
            <a:ext cx="26986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大田软海绵酸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(OA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鳍藻毒素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(DTX)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2198" y="6030868"/>
            <a:ext cx="2798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岩</a:t>
            </a:r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海葵毒素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(PTX)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24328" y="414908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线型聚醚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74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1560" y="332656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聚醚大环内酯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272014"/>
              </p:ext>
            </p:extLst>
          </p:nvPr>
        </p:nvGraphicFramePr>
        <p:xfrm>
          <a:off x="1799119" y="3717032"/>
          <a:ext cx="6154691" cy="26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0" name="CS ChemDraw Drawing" r:id="rId3" imgW="5830549" imgH="2523420" progId="ChemDraw.Document.6.0">
                  <p:embed/>
                </p:oleObj>
              </mc:Choice>
              <mc:Fallback>
                <p:oleObj name="CS ChemDraw Drawing" r:id="rId3" imgW="5830549" imgH="25234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9119" y="3717032"/>
                        <a:ext cx="6154691" cy="266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829775" y="594928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聚醚三萜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55976" y="507037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/>
              <a:t>Teuriene</a:t>
            </a:r>
            <a:endParaRPr lang="en-US" altLang="zh-CN" sz="2400" dirty="0" smtClean="0"/>
          </a:p>
          <a:p>
            <a:r>
              <a:rPr lang="zh-CN" altLang="en-US" sz="2400" dirty="0" smtClean="0"/>
              <a:t>来源于红藻</a:t>
            </a:r>
            <a:endParaRPr lang="zh-CN" altLang="en-US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464056"/>
              </p:ext>
            </p:extLst>
          </p:nvPr>
        </p:nvGraphicFramePr>
        <p:xfrm>
          <a:off x="1043608" y="796265"/>
          <a:ext cx="6342940" cy="263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" name="CS ChemDraw Drawing" r:id="rId5" imgW="4311052" imgH="1790100" progId="ChemDraw.Document.6.0">
                  <p:embed/>
                </p:oleObj>
              </mc:Choice>
              <mc:Fallback>
                <p:oleObj name="CS ChemDraw Drawing" r:id="rId5" imgW="4311052" imgH="1790100" progId="ChemDraw.Document.6.0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796265"/>
                        <a:ext cx="6342940" cy="2634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396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生理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活性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绝大多数聚醚类有毒性，是赤潮毒素的主要成分。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部分聚醚类具有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抗肿瘤活性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，如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黑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海绵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毒素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Halichondrin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，或抗菌活性如冈比毒酸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聚醚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446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理化性质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聚醚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梯极性较小，脂溶性。线型聚醚为多羟基化合物，极性较大，水溶性较好。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化学性质稳定。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多手性碳，具有旋光性。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聚醚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451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光谱特征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无紫外吸收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核磁共振碳谱中多氧取代脂肪族碳信号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相对分子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质量较大，一般只有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元素组成，少数含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聚醚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900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三萜聚醚和一般聚醚只是理化性质相似，但不属于聚酮生合成途径，而是由萜类的甲戊二羟酸途径合成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聚醚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592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4427</TotalTime>
  <Words>484</Words>
  <Application>Microsoft Office PowerPoint</Application>
  <PresentationFormat>全屏显示(4:3)</PresentationFormat>
  <Paragraphs>88</Paragraphs>
  <Slides>17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备忘录</cp:lastModifiedBy>
  <cp:revision>266</cp:revision>
  <dcterms:created xsi:type="dcterms:W3CDTF">2015-01-27T02:40:20Z</dcterms:created>
  <dcterms:modified xsi:type="dcterms:W3CDTF">2021-04-07T14:09:06Z</dcterms:modified>
</cp:coreProperties>
</file>