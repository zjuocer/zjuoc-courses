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350" r:id="rId3"/>
    <p:sldId id="295" r:id="rId4"/>
    <p:sldId id="353" r:id="rId5"/>
    <p:sldId id="361" r:id="rId6"/>
    <p:sldId id="362" r:id="rId7"/>
    <p:sldId id="354" r:id="rId8"/>
    <p:sldId id="364" r:id="rId9"/>
    <p:sldId id="365" r:id="rId10"/>
    <p:sldId id="355" r:id="rId11"/>
    <p:sldId id="357" r:id="rId12"/>
    <p:sldId id="356" r:id="rId13"/>
    <p:sldId id="360" r:id="rId14"/>
    <p:sldId id="359" r:id="rId15"/>
    <p:sldId id="363" r:id="rId16"/>
    <p:sldId id="358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35" autoAdjust="0"/>
    <p:restoredTop sz="78341" autoAdjust="0"/>
  </p:normalViewPr>
  <p:slideViewPr>
    <p:cSldViewPr>
      <p:cViewPr varScale="1">
        <p:scale>
          <a:sx n="91" d="100"/>
          <a:sy n="91" d="100"/>
        </p:scale>
        <p:origin x="234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263DE7-F091-418E-99B6-5BE1052A3A7D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5C81AC5-6791-47DD-AFE1-66380D7C5C97}">
      <dgm:prSet phldrT="[文本]" custT="1"/>
      <dgm:spPr/>
      <dgm:t>
        <a:bodyPr/>
        <a:lstStyle/>
        <a:p>
          <a:r>
            <a:rPr lang="zh-CN" altLang="en-US" sz="2800" b="1" dirty="0" smtClean="0">
              <a:solidFill>
                <a:srgbClr val="FFC000"/>
              </a:solidFill>
              <a:latin typeface="微软雅黑" pitchFamily="34" charset="-122"/>
              <a:ea typeface="微软雅黑" pitchFamily="34" charset="-122"/>
            </a:rPr>
            <a:t>天然产物</a:t>
          </a:r>
          <a:endParaRPr lang="zh-CN" altLang="en-US" sz="2800" b="1" dirty="0">
            <a:solidFill>
              <a:srgbClr val="FFC000"/>
            </a:solidFill>
            <a:latin typeface="微软雅黑" pitchFamily="34" charset="-122"/>
            <a:ea typeface="微软雅黑" pitchFamily="34" charset="-122"/>
          </a:endParaRPr>
        </a:p>
      </dgm:t>
    </dgm:pt>
    <dgm:pt modelId="{4E98366F-3241-4B00-816F-BF79F5D9597B}" type="parTrans" cxnId="{1688026D-23CF-4A4D-975B-C515BD0908D4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30324ACE-3E78-4D87-82ED-14554A0E4279}" type="sibTrans" cxnId="{1688026D-23CF-4A4D-975B-C515BD0908D4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1727A526-E877-4BBD-9EED-585E740D0879}">
      <dgm:prSet phldrT="[文本]" custT="1"/>
      <dgm:spPr/>
      <dgm:t>
        <a:bodyPr/>
        <a:lstStyle/>
        <a:p>
          <a:pPr>
            <a:lnSpc>
              <a:spcPts val="2300"/>
            </a:lnSpc>
          </a:pPr>
          <a:r>
            <a:rPr lang="zh-CN" altLang="en-US" sz="2800" dirty="0" smtClean="0">
              <a:latin typeface="微软雅黑" pitchFamily="34" charset="-122"/>
              <a:ea typeface="微软雅黑" pitchFamily="34" charset="-122"/>
            </a:rPr>
            <a:t>提取</a:t>
          </a:r>
          <a:endParaRPr lang="en-US" altLang="zh-CN" sz="2800" dirty="0" smtClean="0">
            <a:latin typeface="微软雅黑" pitchFamily="34" charset="-122"/>
            <a:ea typeface="微软雅黑" pitchFamily="34" charset="-122"/>
          </a:endParaRPr>
        </a:p>
        <a:p>
          <a:pPr>
            <a:lnSpc>
              <a:spcPts val="2300"/>
            </a:lnSpc>
          </a:pPr>
          <a:r>
            <a:rPr lang="zh-CN" altLang="en-US" sz="2800" dirty="0" smtClean="0">
              <a:latin typeface="微软雅黑" pitchFamily="34" charset="-122"/>
              <a:ea typeface="微软雅黑" pitchFamily="34" charset="-122"/>
            </a:rPr>
            <a:t>分离</a:t>
          </a:r>
          <a:endParaRPr lang="zh-CN" altLang="en-US" sz="2800" dirty="0">
            <a:latin typeface="微软雅黑" pitchFamily="34" charset="-122"/>
            <a:ea typeface="微软雅黑" pitchFamily="34" charset="-122"/>
          </a:endParaRPr>
        </a:p>
      </dgm:t>
    </dgm:pt>
    <dgm:pt modelId="{4AC24D9B-74CC-435D-8041-E45CBEC9FA20}" type="parTrans" cxnId="{355C2F50-E0D4-4D58-B808-362BB472BA15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F7F6DF51-7415-48B6-B1C2-7B9039FCD293}" type="sibTrans" cxnId="{355C2F50-E0D4-4D58-B808-362BB472BA15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F7738D11-0AEB-46FF-9708-35F86C43933E}">
      <dgm:prSet phldrT="[文本]" custT="1"/>
      <dgm:spPr/>
      <dgm:t>
        <a:bodyPr/>
        <a:lstStyle/>
        <a:p>
          <a:pPr>
            <a:lnSpc>
              <a:spcPts val="2700"/>
            </a:lnSpc>
          </a:pPr>
          <a:r>
            <a:rPr lang="zh-CN" altLang="en-US" sz="2800" dirty="0" smtClean="0">
              <a:latin typeface="微软雅黑" pitchFamily="34" charset="-122"/>
              <a:ea typeface="微软雅黑" pitchFamily="34" charset="-122"/>
            </a:rPr>
            <a:t>生物活性</a:t>
          </a:r>
          <a:endParaRPr lang="en-US" altLang="zh-CN" sz="2800" dirty="0" smtClean="0">
            <a:latin typeface="微软雅黑" pitchFamily="34" charset="-122"/>
            <a:ea typeface="微软雅黑" pitchFamily="34" charset="-122"/>
          </a:endParaRPr>
        </a:p>
        <a:p>
          <a:pPr>
            <a:lnSpc>
              <a:spcPts val="2700"/>
            </a:lnSpc>
          </a:pPr>
          <a:r>
            <a:rPr lang="zh-CN" altLang="en-US" sz="2800" dirty="0" smtClean="0">
              <a:latin typeface="微软雅黑" pitchFamily="34" charset="-122"/>
              <a:ea typeface="微软雅黑" pitchFamily="34" charset="-122"/>
            </a:rPr>
            <a:t>生态功能</a:t>
          </a:r>
          <a:endParaRPr lang="zh-CN" altLang="en-US" sz="2800" dirty="0">
            <a:latin typeface="微软雅黑" pitchFamily="34" charset="-122"/>
            <a:ea typeface="微软雅黑" pitchFamily="34" charset="-122"/>
          </a:endParaRPr>
        </a:p>
      </dgm:t>
    </dgm:pt>
    <dgm:pt modelId="{8575C690-4D5E-489D-B3E6-4595DC319D65}" type="parTrans" cxnId="{83AF1F1E-C0C0-4B4D-9B6F-066B1B8D78A3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2CF6AD7F-296D-4B57-B4B3-AAB6C21AAB8A}" type="sibTrans" cxnId="{83AF1F1E-C0C0-4B4D-9B6F-066B1B8D78A3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D4223E0D-B655-42C5-8BE2-7BF394EA56C7}">
      <dgm:prSet phldrT="[文本]" custT="1"/>
      <dgm:spPr/>
      <dgm:t>
        <a:bodyPr/>
        <a:lstStyle/>
        <a:p>
          <a:r>
            <a:rPr lang="zh-CN" altLang="en-US" sz="2800" dirty="0" smtClean="0">
              <a:latin typeface="微软雅黑" pitchFamily="34" charset="-122"/>
              <a:ea typeface="微软雅黑" pitchFamily="34" charset="-122"/>
            </a:rPr>
            <a:t>化学合成生物合成</a:t>
          </a:r>
          <a:endParaRPr lang="zh-CN" altLang="en-US" sz="2800" dirty="0">
            <a:latin typeface="微软雅黑" pitchFamily="34" charset="-122"/>
            <a:ea typeface="微软雅黑" pitchFamily="34" charset="-122"/>
          </a:endParaRPr>
        </a:p>
      </dgm:t>
    </dgm:pt>
    <dgm:pt modelId="{A3962188-63F5-45A4-8B07-E60B73D99D8B}" type="parTrans" cxnId="{36A31B7E-6671-446F-92C6-AFFFEDAF4B80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1C03554A-852F-4710-8CA0-A596E291B494}" type="sibTrans" cxnId="{36A31B7E-6671-446F-92C6-AFFFEDAF4B80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B02C5246-846A-4DD1-AD9F-0B4AFE6CD578}">
      <dgm:prSet phldrT="[文本]" custT="1"/>
      <dgm:spPr/>
      <dgm:t>
        <a:bodyPr/>
        <a:lstStyle/>
        <a:p>
          <a:pPr>
            <a:lnSpc>
              <a:spcPts val="2700"/>
            </a:lnSpc>
          </a:pPr>
          <a:r>
            <a:rPr lang="zh-CN" altLang="en-US" sz="2800" dirty="0" smtClean="0">
              <a:latin typeface="微软雅黑" pitchFamily="34" charset="-122"/>
              <a:ea typeface="微软雅黑" pitchFamily="34" charset="-122"/>
            </a:rPr>
            <a:t>结构鉴定</a:t>
          </a:r>
          <a:endParaRPr lang="en-US" altLang="zh-CN" sz="2800" dirty="0" smtClean="0">
            <a:latin typeface="微软雅黑" pitchFamily="34" charset="-122"/>
            <a:ea typeface="微软雅黑" pitchFamily="34" charset="-122"/>
          </a:endParaRPr>
        </a:p>
        <a:p>
          <a:pPr>
            <a:lnSpc>
              <a:spcPts val="2700"/>
            </a:lnSpc>
          </a:pPr>
          <a:r>
            <a:rPr lang="zh-CN" altLang="en-US" sz="2800" dirty="0" smtClean="0">
              <a:latin typeface="微软雅黑" pitchFamily="34" charset="-122"/>
              <a:ea typeface="微软雅黑" pitchFamily="34" charset="-122"/>
            </a:rPr>
            <a:t>结构分析</a:t>
          </a:r>
          <a:endParaRPr lang="zh-CN" altLang="en-US" sz="2800" dirty="0">
            <a:latin typeface="微软雅黑" pitchFamily="34" charset="-122"/>
            <a:ea typeface="微软雅黑" pitchFamily="34" charset="-122"/>
          </a:endParaRPr>
        </a:p>
      </dgm:t>
    </dgm:pt>
    <dgm:pt modelId="{69C67B14-5D0F-4916-8420-4E39E05608CE}" type="parTrans" cxnId="{2E73CE6D-083A-4532-BDD9-5D43359E6ADF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CDC55480-99D7-448F-B15E-2695C3E02AF2}" type="sibTrans" cxnId="{2E73CE6D-083A-4532-BDD9-5D43359E6ADF}">
      <dgm:prSet/>
      <dgm:spPr/>
      <dgm:t>
        <a:bodyPr/>
        <a:lstStyle/>
        <a:p>
          <a:endParaRPr lang="zh-CN" altLang="en-US" sz="2800">
            <a:latin typeface="微软雅黑" pitchFamily="34" charset="-122"/>
            <a:ea typeface="微软雅黑" pitchFamily="34" charset="-122"/>
          </a:endParaRPr>
        </a:p>
      </dgm:t>
    </dgm:pt>
    <dgm:pt modelId="{F5D27663-D3D1-4B9C-A9C7-E55DCBE7E44D}" type="pres">
      <dgm:prSet presAssocID="{FA263DE7-F091-418E-99B6-5BE1052A3A7D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6F28692-9D62-48AF-BB1C-BB9F74FA7DA1}" type="pres">
      <dgm:prSet presAssocID="{95C81AC5-6791-47DD-AFE1-66380D7C5C97}" presName="centerShape" presStyleLbl="node0" presStyleIdx="0" presStyleCnt="1" custScaleX="100132" custLinFactNeighborX="1368" custLinFactNeighborY="-774"/>
      <dgm:spPr/>
      <dgm:t>
        <a:bodyPr/>
        <a:lstStyle/>
        <a:p>
          <a:endParaRPr lang="zh-CN" altLang="en-US"/>
        </a:p>
      </dgm:t>
    </dgm:pt>
    <dgm:pt modelId="{67DA7720-6F8D-4403-8E74-288CDC571413}" type="pres">
      <dgm:prSet presAssocID="{1727A526-E877-4BBD-9EED-585E740D0879}" presName="node" presStyleLbl="node1" presStyleIdx="0" presStyleCnt="4" custScaleX="17691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E95DEA-0F8F-4796-9DCD-44DE2E9F2054}" type="pres">
      <dgm:prSet presAssocID="{1727A526-E877-4BBD-9EED-585E740D0879}" presName="dummy" presStyleCnt="0"/>
      <dgm:spPr/>
    </dgm:pt>
    <dgm:pt modelId="{449ACEE8-CC2A-45AC-BEE1-75B67291F559}" type="pres">
      <dgm:prSet presAssocID="{F7F6DF51-7415-48B6-B1C2-7B9039FCD293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0481BD3C-7E2C-4BBA-81E9-4D8739C61790}" type="pres">
      <dgm:prSet presAssocID="{F7738D11-0AEB-46FF-9708-35F86C43933E}" presName="node" presStyleLbl="node1" presStyleIdx="1" presStyleCnt="4" custScaleX="170447" custRadScaleRad="129652" custRadScaleInc="-156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003560-F6F4-4E33-AE2A-7EFAE8152643}" type="pres">
      <dgm:prSet presAssocID="{F7738D11-0AEB-46FF-9708-35F86C43933E}" presName="dummy" presStyleCnt="0"/>
      <dgm:spPr/>
    </dgm:pt>
    <dgm:pt modelId="{B693F467-B393-412D-9BF6-4D6EE443D955}" type="pres">
      <dgm:prSet presAssocID="{2CF6AD7F-296D-4B57-B4B3-AAB6C21AAB8A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F18B1797-9375-4B82-A253-2A0F875C75FA}" type="pres">
      <dgm:prSet presAssocID="{D4223E0D-B655-42C5-8BE2-7BF394EA56C7}" presName="node" presStyleLbl="node1" presStyleIdx="2" presStyleCnt="4" custScaleX="19902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BD0B006-B230-43E9-901B-690E27977D92}" type="pres">
      <dgm:prSet presAssocID="{D4223E0D-B655-42C5-8BE2-7BF394EA56C7}" presName="dummy" presStyleCnt="0"/>
      <dgm:spPr/>
    </dgm:pt>
    <dgm:pt modelId="{0286A6A0-17D0-4ED0-A71C-4F71503ECECC}" type="pres">
      <dgm:prSet presAssocID="{1C03554A-852F-4710-8CA0-A596E291B494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73A810AE-B528-4BC5-A170-2521BF411FEC}" type="pres">
      <dgm:prSet presAssocID="{B02C5246-846A-4DD1-AD9F-0B4AFE6CD578}" presName="node" presStyleLbl="node1" presStyleIdx="3" presStyleCnt="4" custScaleX="174677" custRadScaleRad="135493" custRadScaleInc="149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FE410FA-8D5C-4692-9125-85392D78E022}" type="pres">
      <dgm:prSet presAssocID="{B02C5246-846A-4DD1-AD9F-0B4AFE6CD578}" presName="dummy" presStyleCnt="0"/>
      <dgm:spPr/>
    </dgm:pt>
    <dgm:pt modelId="{932AF39D-EF46-4888-8D52-28A2F3072EF2}" type="pres">
      <dgm:prSet presAssocID="{CDC55480-99D7-448F-B15E-2695C3E02AF2}" presName="sibTrans" presStyleLbl="sibTrans2D1" presStyleIdx="3" presStyleCnt="4"/>
      <dgm:spPr/>
      <dgm:t>
        <a:bodyPr/>
        <a:lstStyle/>
        <a:p>
          <a:endParaRPr lang="zh-CN" altLang="en-US"/>
        </a:p>
      </dgm:t>
    </dgm:pt>
  </dgm:ptLst>
  <dgm:cxnLst>
    <dgm:cxn modelId="{1688026D-23CF-4A4D-975B-C515BD0908D4}" srcId="{FA263DE7-F091-418E-99B6-5BE1052A3A7D}" destId="{95C81AC5-6791-47DD-AFE1-66380D7C5C97}" srcOrd="0" destOrd="0" parTransId="{4E98366F-3241-4B00-816F-BF79F5D9597B}" sibTransId="{30324ACE-3E78-4D87-82ED-14554A0E4279}"/>
    <dgm:cxn modelId="{CFAA8757-4335-4273-9016-A223B88FE717}" type="presOf" srcId="{FA263DE7-F091-418E-99B6-5BE1052A3A7D}" destId="{F5D27663-D3D1-4B9C-A9C7-E55DCBE7E44D}" srcOrd="0" destOrd="0" presId="urn:microsoft.com/office/officeart/2005/8/layout/radial6"/>
    <dgm:cxn modelId="{8625BAB4-33F1-4D7E-9316-C857098F0D12}" type="presOf" srcId="{F7738D11-0AEB-46FF-9708-35F86C43933E}" destId="{0481BD3C-7E2C-4BBA-81E9-4D8739C61790}" srcOrd="0" destOrd="0" presId="urn:microsoft.com/office/officeart/2005/8/layout/radial6"/>
    <dgm:cxn modelId="{2E73CE6D-083A-4532-BDD9-5D43359E6ADF}" srcId="{95C81AC5-6791-47DD-AFE1-66380D7C5C97}" destId="{B02C5246-846A-4DD1-AD9F-0B4AFE6CD578}" srcOrd="3" destOrd="0" parTransId="{69C67B14-5D0F-4916-8420-4E39E05608CE}" sibTransId="{CDC55480-99D7-448F-B15E-2695C3E02AF2}"/>
    <dgm:cxn modelId="{83AF1F1E-C0C0-4B4D-9B6F-066B1B8D78A3}" srcId="{95C81AC5-6791-47DD-AFE1-66380D7C5C97}" destId="{F7738D11-0AEB-46FF-9708-35F86C43933E}" srcOrd="1" destOrd="0" parTransId="{8575C690-4D5E-489D-B3E6-4595DC319D65}" sibTransId="{2CF6AD7F-296D-4B57-B4B3-AAB6C21AAB8A}"/>
    <dgm:cxn modelId="{0F993308-662A-4C08-A10E-6CF94842C0A0}" type="presOf" srcId="{1727A526-E877-4BBD-9EED-585E740D0879}" destId="{67DA7720-6F8D-4403-8E74-288CDC571413}" srcOrd="0" destOrd="0" presId="urn:microsoft.com/office/officeart/2005/8/layout/radial6"/>
    <dgm:cxn modelId="{355C2F50-E0D4-4D58-B808-362BB472BA15}" srcId="{95C81AC5-6791-47DD-AFE1-66380D7C5C97}" destId="{1727A526-E877-4BBD-9EED-585E740D0879}" srcOrd="0" destOrd="0" parTransId="{4AC24D9B-74CC-435D-8041-E45CBEC9FA20}" sibTransId="{F7F6DF51-7415-48B6-B1C2-7B9039FCD293}"/>
    <dgm:cxn modelId="{ED49E91B-9628-4577-85A7-422902AF952B}" type="presOf" srcId="{95C81AC5-6791-47DD-AFE1-66380D7C5C97}" destId="{36F28692-9D62-48AF-BB1C-BB9F74FA7DA1}" srcOrd="0" destOrd="0" presId="urn:microsoft.com/office/officeart/2005/8/layout/radial6"/>
    <dgm:cxn modelId="{B16A3F70-0DB3-4962-8FE3-38A7E248C256}" type="presOf" srcId="{F7F6DF51-7415-48B6-B1C2-7B9039FCD293}" destId="{449ACEE8-CC2A-45AC-BEE1-75B67291F559}" srcOrd="0" destOrd="0" presId="urn:microsoft.com/office/officeart/2005/8/layout/radial6"/>
    <dgm:cxn modelId="{8E301B53-565A-4EFF-8F7E-752399B763C2}" type="presOf" srcId="{B02C5246-846A-4DD1-AD9F-0B4AFE6CD578}" destId="{73A810AE-B528-4BC5-A170-2521BF411FEC}" srcOrd="0" destOrd="0" presId="urn:microsoft.com/office/officeart/2005/8/layout/radial6"/>
    <dgm:cxn modelId="{36A31B7E-6671-446F-92C6-AFFFEDAF4B80}" srcId="{95C81AC5-6791-47DD-AFE1-66380D7C5C97}" destId="{D4223E0D-B655-42C5-8BE2-7BF394EA56C7}" srcOrd="2" destOrd="0" parTransId="{A3962188-63F5-45A4-8B07-E60B73D99D8B}" sibTransId="{1C03554A-852F-4710-8CA0-A596E291B494}"/>
    <dgm:cxn modelId="{086A2D6C-A28F-4E47-B8F2-F6BEC137E969}" type="presOf" srcId="{2CF6AD7F-296D-4B57-B4B3-AAB6C21AAB8A}" destId="{B693F467-B393-412D-9BF6-4D6EE443D955}" srcOrd="0" destOrd="0" presId="urn:microsoft.com/office/officeart/2005/8/layout/radial6"/>
    <dgm:cxn modelId="{50092BD3-6053-4DBB-AEE8-8E7DC335D239}" type="presOf" srcId="{CDC55480-99D7-448F-B15E-2695C3E02AF2}" destId="{932AF39D-EF46-4888-8D52-28A2F3072EF2}" srcOrd="0" destOrd="0" presId="urn:microsoft.com/office/officeart/2005/8/layout/radial6"/>
    <dgm:cxn modelId="{63C9390F-EBF8-4D30-B821-703CFAFACF8E}" type="presOf" srcId="{D4223E0D-B655-42C5-8BE2-7BF394EA56C7}" destId="{F18B1797-9375-4B82-A253-2A0F875C75FA}" srcOrd="0" destOrd="0" presId="urn:microsoft.com/office/officeart/2005/8/layout/radial6"/>
    <dgm:cxn modelId="{628F96A7-4E36-4828-9A4C-6C4B9B73534F}" type="presOf" srcId="{1C03554A-852F-4710-8CA0-A596E291B494}" destId="{0286A6A0-17D0-4ED0-A71C-4F71503ECECC}" srcOrd="0" destOrd="0" presId="urn:microsoft.com/office/officeart/2005/8/layout/radial6"/>
    <dgm:cxn modelId="{AC719206-CFF4-4D1D-BBA0-3F8D944AFD0E}" type="presParOf" srcId="{F5D27663-D3D1-4B9C-A9C7-E55DCBE7E44D}" destId="{36F28692-9D62-48AF-BB1C-BB9F74FA7DA1}" srcOrd="0" destOrd="0" presId="urn:microsoft.com/office/officeart/2005/8/layout/radial6"/>
    <dgm:cxn modelId="{7380DEA7-C531-4A91-8FC1-AB07575FB993}" type="presParOf" srcId="{F5D27663-D3D1-4B9C-A9C7-E55DCBE7E44D}" destId="{67DA7720-6F8D-4403-8E74-288CDC571413}" srcOrd="1" destOrd="0" presId="urn:microsoft.com/office/officeart/2005/8/layout/radial6"/>
    <dgm:cxn modelId="{832FF880-A53F-4977-9772-5685FEBDE333}" type="presParOf" srcId="{F5D27663-D3D1-4B9C-A9C7-E55DCBE7E44D}" destId="{2AE95DEA-0F8F-4796-9DCD-44DE2E9F2054}" srcOrd="2" destOrd="0" presId="urn:microsoft.com/office/officeart/2005/8/layout/radial6"/>
    <dgm:cxn modelId="{1E67D938-D5D2-4413-9CEA-80BA1AF9BCEF}" type="presParOf" srcId="{F5D27663-D3D1-4B9C-A9C7-E55DCBE7E44D}" destId="{449ACEE8-CC2A-45AC-BEE1-75B67291F559}" srcOrd="3" destOrd="0" presId="urn:microsoft.com/office/officeart/2005/8/layout/radial6"/>
    <dgm:cxn modelId="{1ECA8397-441C-44A1-A9A2-F1B351566D08}" type="presParOf" srcId="{F5D27663-D3D1-4B9C-A9C7-E55DCBE7E44D}" destId="{0481BD3C-7E2C-4BBA-81E9-4D8739C61790}" srcOrd="4" destOrd="0" presId="urn:microsoft.com/office/officeart/2005/8/layout/radial6"/>
    <dgm:cxn modelId="{C6948D43-51DC-46A1-988F-CF3BCD6921A3}" type="presParOf" srcId="{F5D27663-D3D1-4B9C-A9C7-E55DCBE7E44D}" destId="{1E003560-F6F4-4E33-AE2A-7EFAE8152643}" srcOrd="5" destOrd="0" presId="urn:microsoft.com/office/officeart/2005/8/layout/radial6"/>
    <dgm:cxn modelId="{E49A7BDB-304A-4424-801E-53611BB8C319}" type="presParOf" srcId="{F5D27663-D3D1-4B9C-A9C7-E55DCBE7E44D}" destId="{B693F467-B393-412D-9BF6-4D6EE443D955}" srcOrd="6" destOrd="0" presId="urn:microsoft.com/office/officeart/2005/8/layout/radial6"/>
    <dgm:cxn modelId="{57680660-BF47-4E5A-AAEE-AF1C16A1C0C0}" type="presParOf" srcId="{F5D27663-D3D1-4B9C-A9C7-E55DCBE7E44D}" destId="{F18B1797-9375-4B82-A253-2A0F875C75FA}" srcOrd="7" destOrd="0" presId="urn:microsoft.com/office/officeart/2005/8/layout/radial6"/>
    <dgm:cxn modelId="{3E3A8275-E1E0-4CFC-9073-9A2D00D0D2CF}" type="presParOf" srcId="{F5D27663-D3D1-4B9C-A9C7-E55DCBE7E44D}" destId="{EBD0B006-B230-43E9-901B-690E27977D92}" srcOrd="8" destOrd="0" presId="urn:microsoft.com/office/officeart/2005/8/layout/radial6"/>
    <dgm:cxn modelId="{65FA5C80-F83C-4DC4-9302-B11AE0EB9F24}" type="presParOf" srcId="{F5D27663-D3D1-4B9C-A9C7-E55DCBE7E44D}" destId="{0286A6A0-17D0-4ED0-A71C-4F71503ECECC}" srcOrd="9" destOrd="0" presId="urn:microsoft.com/office/officeart/2005/8/layout/radial6"/>
    <dgm:cxn modelId="{A2D68981-5317-417B-A07A-F23E054D57E3}" type="presParOf" srcId="{F5D27663-D3D1-4B9C-A9C7-E55DCBE7E44D}" destId="{73A810AE-B528-4BC5-A170-2521BF411FEC}" srcOrd="10" destOrd="0" presId="urn:microsoft.com/office/officeart/2005/8/layout/radial6"/>
    <dgm:cxn modelId="{869BF465-AF62-45B3-A81A-5699091E4F93}" type="presParOf" srcId="{F5D27663-D3D1-4B9C-A9C7-E55DCBE7E44D}" destId="{FFE410FA-8D5C-4692-9125-85392D78E022}" srcOrd="11" destOrd="0" presId="urn:microsoft.com/office/officeart/2005/8/layout/radial6"/>
    <dgm:cxn modelId="{84463F1A-12E9-4F5F-827D-96C5BD03A093}" type="presParOf" srcId="{F5D27663-D3D1-4B9C-A9C7-E55DCBE7E44D}" destId="{932AF39D-EF46-4888-8D52-28A2F3072EF2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54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布洛芬、对乙酰氨基酚、异烟肼</a:t>
            </a:r>
            <a:endParaRPr lang="en-US" altLang="zh-CN" dirty="0" smtClean="0"/>
          </a:p>
          <a:p>
            <a:r>
              <a:rPr lang="zh-CN" altLang="en-US" dirty="0" smtClean="0"/>
              <a:t>薄荷醇、水杨酸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D4B3-F92E-4454-88A9-1B52D080D39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41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2023/3/1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7366" y="1052736"/>
            <a:ext cx="87129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海洋天然产物化学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概论</a:t>
            </a:r>
          </a:p>
        </p:txBody>
      </p:sp>
      <p:pic>
        <p:nvPicPr>
          <p:cNvPr id="2059" name="Picture 11" descr="https://pubs.acs.org/na101/home/literatum/publisher/achs/journals/content/jnprdf/2017/jnprdf.2017.80.issue-4/acs.jnatprod.6b00235/20170424/images/medium/np-2016-00235k_000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92896"/>
            <a:ext cx="6048357" cy="338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海洋天然产物化学概论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624" y="2132856"/>
            <a:ext cx="7416824" cy="3876058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海洋天然产物化学的定义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海洋天然产物化学的研究内容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海洋天然产物的应用领域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487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196752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海洋天然产物化学的定义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13361" y="2492896"/>
            <a:ext cx="5598999" cy="3024336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海洋天然产物化学？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天然产物化学？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天然产物？</a:t>
            </a:r>
            <a:endParaRPr lang="en-US" altLang="zh-CN" sz="40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1493281" y="2924944"/>
            <a:ext cx="504056" cy="18002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91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049481"/>
              </p:ext>
            </p:extLst>
          </p:nvPr>
        </p:nvGraphicFramePr>
        <p:xfrm>
          <a:off x="2123728" y="404664"/>
          <a:ext cx="4621213" cy="597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CS ChemDraw Drawing" r:id="rId4" imgW="4621975" imgH="5976720" progId="ChemDraw.Document.6.0">
                  <p:embed/>
                </p:oleObj>
              </mc:Choice>
              <mc:Fallback>
                <p:oleObj name="CS ChemDraw Drawing" r:id="rId4" imgW="4621975" imgH="59767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3728" y="404664"/>
                        <a:ext cx="4621213" cy="597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141" y="1700808"/>
            <a:ext cx="677108" cy="337528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哪些是天然产物？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946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海洋天然产物化学的定义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844824"/>
            <a:ext cx="8352928" cy="460851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天然产物 </a:t>
            </a:r>
            <a:r>
              <a:rPr lang="en-US" altLang="zh-CN" sz="3600" b="1" dirty="0" smtClean="0">
                <a:latin typeface="微软雅黑" pitchFamily="34" charset="-122"/>
                <a:ea typeface="微软雅黑" pitchFamily="34" charset="-122"/>
              </a:rPr>
              <a:t>Natural Product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天然产物是指自然界的生物如植物、动物、微生物体内的化学成分或其代谢产物，也包括人体内的内源性化学成分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3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</a:rPr>
              <a:t>natural product 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is a chemical compound or substance produced by a living organism—that is, found in </a:t>
            </a: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nature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Wikipedia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）。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5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3068960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海洋天然产物定义？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358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24" y="420114"/>
            <a:ext cx="6084168" cy="30846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61" y="3861048"/>
            <a:ext cx="2390775" cy="1476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764704"/>
            <a:ext cx="1971675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 descr="https://gimg2.baidu.com/image_search/src=http%3A%2F%2Fimgcn2.guidechem.com%2Fimg%2Fproduct%2F2018%2F7%2F10%2F249321114602633.jpg&amp;refer=http%3A%2F%2Fimgcn2.guidechem.com&amp;app=2002&amp;size=f9999,10000&amp;q=a80&amp;n=0&amp;g=0n&amp;fmt=jpeg?sec=1647680787&amp;t=22b9d50dd421667fb2a830b901770e4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637" y="4041279"/>
            <a:ext cx="3500134" cy="259228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84391" y="3876239"/>
            <a:ext cx="1169551" cy="21564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哪些是</a:t>
            </a:r>
            <a:r>
              <a:rPr lang="zh-CN" altLang="en-US" sz="3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</a:t>
            </a: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天然产物？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487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海洋天然产物化学的定义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988840"/>
            <a:ext cx="8352928" cy="4464496"/>
          </a:xfrm>
        </p:spPr>
        <p:txBody>
          <a:bodyPr>
            <a:normAutofit fontScale="92500"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天然产物化学</a:t>
            </a:r>
            <a:endParaRPr lang="en-US" altLang="zh-CN" sz="36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天然产物化学是以各类生物为研究对象，以有机化学为基础，以化学和物理方法为手段，研究生物二次</a:t>
            </a: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代谢产物（天然产物）的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提取、分离、结构、功能、生物合成、化学合成与修饰及其用途</a:t>
            </a: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的科学。</a:t>
            </a:r>
            <a:endParaRPr lang="zh-CN" altLang="en-US" sz="35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0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3337" y="188640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天然产物化学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6046630"/>
              </p:ext>
            </p:extLst>
          </p:nvPr>
        </p:nvGraphicFramePr>
        <p:xfrm>
          <a:off x="755576" y="1365558"/>
          <a:ext cx="7344816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右箭头 5"/>
          <p:cNvSpPr/>
          <p:nvPr/>
        </p:nvSpPr>
        <p:spPr>
          <a:xfrm rot="5400000">
            <a:off x="4276109" y="2640246"/>
            <a:ext cx="504056" cy="43204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 rot="16200000">
            <a:off x="4247964" y="4905165"/>
            <a:ext cx="504056" cy="43204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2987824" y="3730608"/>
            <a:ext cx="612068" cy="43204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 rot="10800000">
            <a:off x="5400997" y="3730608"/>
            <a:ext cx="504056" cy="43204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716016" y="258507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发现</a:t>
            </a:r>
            <a:endParaRPr lang="zh-CN" altLang="en-US" sz="28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16438" y="32223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认识</a:t>
            </a:r>
            <a:endParaRPr lang="zh-CN" altLang="en-US" sz="28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53365" y="42357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理解</a:t>
            </a:r>
            <a:endParaRPr lang="zh-CN" altLang="en-US" sz="28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09302" y="487013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利用</a:t>
            </a:r>
            <a:endParaRPr lang="zh-CN" altLang="en-US" sz="28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0585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海洋天然产物化学定义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988840"/>
            <a:ext cx="8352928" cy="4464496"/>
          </a:xfrm>
        </p:spPr>
        <p:txBody>
          <a:bodyPr>
            <a:normAutofit fontScale="92500"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900" b="1" dirty="0" smtClean="0">
                <a:latin typeface="微软雅黑" pitchFamily="34" charset="-122"/>
                <a:ea typeface="微软雅黑" pitchFamily="34" charset="-122"/>
              </a:rPr>
              <a:t>海洋天然产物化学</a:t>
            </a:r>
            <a:endParaRPr lang="en-US" altLang="zh-CN" sz="39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5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海洋</a:t>
            </a: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天然产物化学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en-US" sz="35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海洋</a:t>
            </a: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生物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为研究对象，以有机化学为基础，以化学和物理方法为手段，研究生物二次代谢产物的</a:t>
            </a:r>
            <a:r>
              <a:rPr lang="zh-CN" altLang="en-US" sz="35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提取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35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分离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35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35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功能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35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生物合成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35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化学合成与修饰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及其</a:t>
            </a:r>
            <a:r>
              <a:rPr lang="zh-CN" altLang="en-US" sz="35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用途</a:t>
            </a:r>
            <a:r>
              <a:rPr lang="zh-CN" altLang="en-US" sz="3500" dirty="0">
                <a:latin typeface="微软雅黑" pitchFamily="34" charset="-122"/>
                <a:ea typeface="微软雅黑" pitchFamily="34" charset="-122"/>
              </a:rPr>
              <a:t>的一门科学</a:t>
            </a: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35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12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352928" cy="1584176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天然产物化学所有的研究内容均围绕化学结构展开。</a:t>
            </a:r>
            <a:endParaRPr lang="zh-CN" altLang="en-US" sz="35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851920" y="429309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  <a:endParaRPr lang="zh-CN" altLang="en-US" sz="22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右箭头 5"/>
          <p:cNvSpPr/>
          <p:nvPr/>
        </p:nvSpPr>
        <p:spPr>
          <a:xfrm rot="16200000">
            <a:off x="4091372" y="3837620"/>
            <a:ext cx="4572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491880" y="2874640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物理化学性质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269114" y="3122194"/>
            <a:ext cx="504056" cy="3851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797691" y="2857590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提取分离方法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892937" y="4557700"/>
            <a:ext cx="504056" cy="3851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421514" y="4293096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生理活性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3239852" y="4557700"/>
            <a:ext cx="504056" cy="3851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108785" y="4293096"/>
            <a:ext cx="1008112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结构鉴定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171215" y="5661248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化学合成方法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693050" y="5661248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生物合成途径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385192" y="188640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海洋天然产物化学研究内容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左右箭头 1"/>
          <p:cNvSpPr/>
          <p:nvPr/>
        </p:nvSpPr>
        <p:spPr>
          <a:xfrm rot="19227757">
            <a:off x="3485452" y="5324265"/>
            <a:ext cx="648072" cy="34269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右箭头 19"/>
          <p:cNvSpPr/>
          <p:nvPr/>
        </p:nvSpPr>
        <p:spPr>
          <a:xfrm rot="13581728">
            <a:off x="4578861" y="5266594"/>
            <a:ext cx="648072" cy="34269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40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海洋天然产物化学研究内容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700808"/>
            <a:ext cx="8352928" cy="486916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针对海洋生物对象的特殊的提取方法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针对海洋天然产物的特殊结构的结构鉴定方法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针对海洋天然产物的特殊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结构化学合成方法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海洋天然产物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的特殊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结构对应的生物合成途径和生合成反应催化酶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海洋天然产物的特殊作用机制和靶点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776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海洋天然产物的应用领域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700808"/>
            <a:ext cx="8352928" cy="486916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海洋药物开发：抗肿瘤、抗病毒、镇痛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海洋功能食品：如不饱和脂肪酸、鱼肝油、类胡萝卜素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海洋食品安全：赤潮毒素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新材料：抗污损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78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海洋天然产物化学课程内容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628800"/>
            <a:ext cx="6707088" cy="4525963"/>
          </a:xfrm>
        </p:spPr>
        <p:txBody>
          <a:bodyPr>
            <a:normAutofit lnSpcReduction="10000"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海洋天然产物化学概述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海洋天然产物化学研究简史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海洋天然产物结构类型认知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海洋天然产物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提取、分离方法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海洋天然产物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结构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鉴定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方法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海洋天然产物的生物来源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海洋天然产物与生物合成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海洋天然产物与海洋化学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生态学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ü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157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4644</TotalTime>
  <Words>389</Words>
  <Application>Microsoft Office PowerPoint</Application>
  <PresentationFormat>全屏显示(4:3)</PresentationFormat>
  <Paragraphs>73</Paragraphs>
  <Slides>15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等线</vt:lpstr>
      <vt:lpstr>华文楷体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Office 主题​​</vt:lpstr>
      <vt:lpstr>Ocean</vt:lpstr>
      <vt:lpstr>CS ChemDraw Drawing</vt:lpstr>
      <vt:lpstr>海洋天然产物化学 Marine Natural Product Chemistry</vt:lpstr>
      <vt:lpstr>PowerPoint 演示文稿</vt:lpstr>
      <vt:lpstr>海洋天然产物化学概论</vt:lpstr>
      <vt:lpstr>海洋天然产物化学的定义</vt:lpstr>
      <vt:lpstr>PowerPoint 演示文稿</vt:lpstr>
      <vt:lpstr>海洋天然产物化学的定义</vt:lpstr>
      <vt:lpstr>海洋天然产物定义？</vt:lpstr>
      <vt:lpstr>PowerPoint 演示文稿</vt:lpstr>
      <vt:lpstr>海洋天然产物化学的定义</vt:lpstr>
      <vt:lpstr>天然产物化学</vt:lpstr>
      <vt:lpstr>海洋天然产物化学定义</vt:lpstr>
      <vt:lpstr>海洋天然产物化学研究内容</vt:lpstr>
      <vt:lpstr>海洋天然产物化学研究内容</vt:lpstr>
      <vt:lpstr>海洋天然产物的应用领域</vt:lpstr>
      <vt:lpstr>海洋天然产物化学课程内容</vt:lpstr>
    </vt:vector>
  </TitlesOfParts>
  <Company>ZJUOC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xjz</cp:lastModifiedBy>
  <cp:revision>213</cp:revision>
  <dcterms:created xsi:type="dcterms:W3CDTF">2015-01-27T02:40:20Z</dcterms:created>
  <dcterms:modified xsi:type="dcterms:W3CDTF">2023-03-01T12:15:21Z</dcterms:modified>
</cp:coreProperties>
</file>