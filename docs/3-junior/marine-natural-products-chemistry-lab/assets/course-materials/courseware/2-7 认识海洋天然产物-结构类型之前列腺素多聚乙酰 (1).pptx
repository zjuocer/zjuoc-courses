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350" r:id="rId3"/>
    <p:sldId id="295" r:id="rId4"/>
    <p:sldId id="359" r:id="rId5"/>
    <p:sldId id="392" r:id="rId6"/>
    <p:sldId id="393" r:id="rId7"/>
    <p:sldId id="394" r:id="rId8"/>
    <p:sldId id="360" r:id="rId9"/>
    <p:sldId id="400" r:id="rId10"/>
    <p:sldId id="395" r:id="rId11"/>
    <p:sldId id="396" r:id="rId12"/>
    <p:sldId id="373" r:id="rId13"/>
    <p:sldId id="397" r:id="rId14"/>
    <p:sldId id="398" r:id="rId15"/>
    <p:sldId id="401" r:id="rId16"/>
    <p:sldId id="399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5" autoAdjust="0"/>
    <p:restoredTop sz="96310" autoAdjust="0"/>
  </p:normalViewPr>
  <p:slideViewPr>
    <p:cSldViewPr>
      <p:cViewPr>
        <p:scale>
          <a:sx n="50" d="100"/>
          <a:sy n="50" d="100"/>
        </p:scale>
        <p:origin x="-336" y="-7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04E47-DDCF-4C26-B61B-B7C48A7F62E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D4B3-F92E-4454-88A9-1B52D080D3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zh-CN" sz="140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582D0BD-BC72-4371-A99D-2C93502AABF8}" type="slidenum">
              <a:rPr lang="en-GB" altLang="zh-CN">
                <a:solidFill>
                  <a:prstClr val="black"/>
                </a:solidFill>
              </a:rPr>
              <a:pPr/>
              <a:t>1</a:t>
            </a:fld>
            <a:endParaRPr lang="en-GB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6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3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10199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AB603-56F1-40C2-ACFD-A8C109FF9F1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4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DE39-8B2C-41A3-9C16-35D5160EBD8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03062-EDEC-4C87-91EE-231FD9609B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0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0A5ED-A6B5-4283-954A-ACC5A486AE07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9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35C2-FF72-4D6E-AFCF-13F1BC21BC71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5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221-A7A0-44E7-BF4D-E2D8DB48BAB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BC7E-E1A6-4DFF-9C73-70C4CB633159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1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17FB-1BB7-4D20-9E98-046EE7C338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3EAF9-A129-405C-BB96-4BA5CE8D2CDF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9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E4B1-B749-43D6-8A03-8567B35D8808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4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89D9-CE6B-4F64-8BC6-C1DFE512AADB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2D7D-2CD5-4023-AA6E-28D149C8CA3D}" type="datetimeFigureOut">
              <a:rPr lang="zh-CN" altLang="en-US" smtClean="0"/>
              <a:t>2020/6/29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E02CC3-7F54-4444-B682-87D61477DCDF}" type="slidenum">
              <a:rPr lang="en-US" altLang="zh-CN">
                <a:solidFill>
                  <a:srgbClr val="0101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6364288" cy="2884152"/>
          </a:xfrm>
        </p:spPr>
        <p:txBody>
          <a:bodyPr/>
          <a:lstStyle/>
          <a:p>
            <a:pPr eaLnBrk="1"/>
            <a:r>
              <a:rPr lang="zh-CN" altLang="en-US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>海洋天然产物化学</a:t>
            </a: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/>
            </a:r>
            <a:b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</a:b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Marine Natural Product Chemistry</a:t>
            </a:r>
            <a:endParaRPr lang="en-GB" altLang="zh-CN" sz="5400" b="1" dirty="0" smtClean="0"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003" y="4437112"/>
            <a:ext cx="8884890" cy="1970063"/>
          </a:xfrm>
        </p:spPr>
        <p:txBody>
          <a:bodyPr/>
          <a:lstStyle/>
          <a:p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徐金钟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xujinzhong@zju.edu.cn</a:t>
            </a:r>
            <a:endParaRPr lang="en-GB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海洋生物与药物研究所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浙江大学</a:t>
            </a:r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/</a:t>
            </a:r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海洋学院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3089"/>
            <a:ext cx="1152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2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0945" y="620688"/>
            <a:ext cx="8352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认识海洋天然产物</a:t>
            </a:r>
            <a:endParaRPr lang="en-US" altLang="zh-CN" sz="54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5400" b="1" dirty="0" smtClean="0">
                <a:latin typeface="微软雅黑" pitchFamily="34" charset="-122"/>
                <a:ea typeface="微软雅黑" pitchFamily="34" charset="-122"/>
              </a:rPr>
              <a:t>                  </a:t>
            </a:r>
            <a:r>
              <a:rPr lang="en-US" altLang="zh-CN" sz="4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结构类型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 descr="Graphical abstract: Marine natural produ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39" y="2657737"/>
            <a:ext cx="631994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67771" y="245830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6236" y="17657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56096" y="33028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萜类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2200" y="332312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316" y="2719913"/>
            <a:ext cx="553998" cy="22593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是否含有氮原子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263808" y="2719913"/>
            <a:ext cx="1080120" cy="5232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185600" y="4393183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4441" y="26121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464441" y="44065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775976" y="2156404"/>
            <a:ext cx="742392" cy="301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7111" y="1758110"/>
            <a:ext cx="461665" cy="17081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是否酰胺键连接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892263" y="19717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92263" y="27302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2718776" y="2719912"/>
            <a:ext cx="84928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71920" y="3967999"/>
            <a:ext cx="461665" cy="124649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生合成途径</a:t>
            </a:r>
            <a:endParaRPr lang="zh-CN" altLang="en-US" dirty="0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892263" y="3669085"/>
            <a:ext cx="747809" cy="3327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32569" y="3466120"/>
            <a:ext cx="63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MVA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892263" y="4543252"/>
            <a:ext cx="7478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66533" y="4135174"/>
            <a:ext cx="52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PKS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894225" y="3918350"/>
            <a:ext cx="2550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醌  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大环内酯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聚醚  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多聚乙酰</a:t>
            </a:r>
            <a:endParaRPr lang="en-US" altLang="zh-CN" sz="2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en-US" altLang="zh-CN" sz="2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796236" y="1758109"/>
            <a:ext cx="2868172" cy="423773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664408" y="3356233"/>
            <a:ext cx="21483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/>
              <a:t>+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2892263" y="4979298"/>
            <a:ext cx="747809" cy="754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666366" y="507376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桂皮酸途径</a:t>
            </a:r>
            <a:endParaRPr lang="zh-CN" altLang="en-US"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3964598" y="547262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苯丙素类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4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859" y="1342501"/>
            <a:ext cx="8352928" cy="5326859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是指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与前列腺素结构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相近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一类天然产物。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目前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从珊瑚中已经分离鉴定了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多种前列腺素类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化合物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085782"/>
              </p:ext>
            </p:extLst>
          </p:nvPr>
        </p:nvGraphicFramePr>
        <p:xfrm>
          <a:off x="2267744" y="4653136"/>
          <a:ext cx="3652356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name="CS ChemDraw Drawing" r:id="rId3" imgW="1721827" imgH="781380" progId="ChemDraw.Document.6.0">
                  <p:embed/>
                </p:oleObj>
              </mc:Choice>
              <mc:Fallback>
                <p:oleObj name="CS ChemDraw Drawing" r:id="rId3" imgW="1721827" imgH="7813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4653136"/>
                        <a:ext cx="3652356" cy="1656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76056" y="5805264"/>
            <a:ext cx="26334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FF"/>
                </a:solidFill>
              </a:rPr>
              <a:t>前列腺素</a:t>
            </a:r>
            <a:endParaRPr lang="en-US" altLang="zh-CN" sz="2400" b="1" dirty="0" smtClean="0">
              <a:solidFill>
                <a:srgbClr val="0000FF"/>
              </a:solidFill>
            </a:endParaRPr>
          </a:p>
          <a:p>
            <a:r>
              <a:rPr lang="en-US" altLang="zh-CN" sz="2400" b="1" dirty="0" smtClean="0">
                <a:solidFill>
                  <a:srgbClr val="0000FF"/>
                </a:solidFill>
              </a:rPr>
              <a:t>Prostaglandin, PGA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89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036472"/>
              </p:ext>
            </p:extLst>
          </p:nvPr>
        </p:nvGraphicFramePr>
        <p:xfrm>
          <a:off x="1139523" y="190976"/>
          <a:ext cx="3744416" cy="6118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CS ChemDraw Drawing" r:id="rId3" imgW="2250748" imgH="3678480" progId="ChemDraw.Document.6.0">
                  <p:embed/>
                </p:oleObj>
              </mc:Choice>
              <mc:Fallback>
                <p:oleObj name="CS ChemDraw Drawing" r:id="rId3" imgW="2250748" imgH="36784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9523" y="190976"/>
                        <a:ext cx="3744416" cy="6118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60032" y="630932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珊瑚中发现的一些前列腺素类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Picture 2" descr="Abstract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204864"/>
            <a:ext cx="321468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065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859" y="1342501"/>
            <a:ext cx="8352928" cy="5364102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结构特征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均具有</a:t>
            </a:r>
            <a:r>
              <a:rPr lang="el-GR" altLang="zh-CN" dirty="0">
                <a:latin typeface="微软雅黑" pitchFamily="34" charset="-122"/>
                <a:ea typeface="微软雅黑" pitchFamily="34" charset="-122"/>
              </a:rPr>
              <a:t>α</a:t>
            </a:r>
            <a:r>
              <a:rPr lang="zh-CN" altLang="el-GR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l-GR" altLang="zh-CN" dirty="0">
                <a:latin typeface="微软雅黑" pitchFamily="34" charset="-122"/>
                <a:ea typeface="微软雅黑" pitchFamily="34" charset="-122"/>
              </a:rPr>
              <a:t>β-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饱和环戊酮状结构和邻位双脂肪直链取代，一条脂肪链末端为羧酸或羧酸酯，另一条末端为甲基。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脂肪链取代基多含烯键。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含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原子，部分含有卤素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217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871101"/>
              </p:ext>
            </p:extLst>
          </p:nvPr>
        </p:nvGraphicFramePr>
        <p:xfrm>
          <a:off x="683568" y="1340003"/>
          <a:ext cx="7818206" cy="3673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CS ChemDraw Drawing" r:id="rId3" imgW="4393172" imgH="2063070" progId="ChemDraw.Document.6.0">
                  <p:embed/>
                </p:oleObj>
              </mc:Choice>
              <mc:Fallback>
                <p:oleObj name="CS ChemDraw Drawing" r:id="rId3" imgW="4393172" imgH="20630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1340003"/>
                        <a:ext cx="7818206" cy="3673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53214" y="1815640"/>
            <a:ext cx="2085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前列腺素</a:t>
            </a:r>
            <a:r>
              <a:rPr lang="en-US" altLang="zh-CN" sz="24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PGA</a:t>
            </a:r>
            <a:endParaRPr lang="zh-CN" altLang="en-US" sz="24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7597" y="523384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花生四烯酸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38758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氧化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00301" y="308376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环化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53553" y="6021288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前列腺素的生物合成途径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419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350006"/>
              </p:ext>
            </p:extLst>
          </p:nvPr>
        </p:nvGraphicFramePr>
        <p:xfrm>
          <a:off x="1043608" y="404664"/>
          <a:ext cx="6408712" cy="555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2" name="CS ChemDraw Drawing" r:id="rId3" imgW="3774568" imgH="3273210" progId="ChemDraw.Document.6.0">
                  <p:embed/>
                </p:oleObj>
              </mc:Choice>
              <mc:Fallback>
                <p:oleObj name="CS ChemDraw Drawing" r:id="rId3" imgW="3774568" imgH="327321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404664"/>
                        <a:ext cx="6408712" cy="5555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51720" y="6334425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海鞘和珊瑚中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发现的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一些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结构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异常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010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980728"/>
            <a:ext cx="8533629" cy="5472608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简史</a:t>
            </a:r>
            <a:endParaRPr lang="en-US" altLang="zh-CN" sz="2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前列腺素表现出非常多的生理活性、对血管、支气管、血小板、眼晶状体、子宫平滑肌等均有作用。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1930s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，从羊精囊腺和猴精囊中提取得到前列腺素。目前已知前列腺素存在于动物和人的一切组织中。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1970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年以前，天然前列腺素主要依靠“脂肪酸前体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羊精囊腺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”方式获得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-1454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549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980728"/>
            <a:ext cx="8533629" cy="4824536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简史</a:t>
            </a:r>
            <a:endParaRPr lang="en-US" altLang="zh-CN" sz="2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1966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开始，哈佛大学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E. J. Corey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教授陆续完成所有天然前列腺素的化学全合成。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1969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年，从加勒比海柳珊瑚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Plexaura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homomalla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中发现含量极高（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~1.5%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）的前列腺素类，掀起海洋药物开发热潮（</a:t>
            </a:r>
            <a:r>
              <a:rPr lang="en-US" altLang="zh-CN" sz="2800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Drugs from the Sea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）。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-1454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33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251" y="1484784"/>
            <a:ext cx="8352928" cy="4968552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多聚乙酰类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Acetogenin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指从乙酸乙酯或乙酰辅酶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生物合成的一类化合物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主要存在于陆地植物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番荔枝科（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C-32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C-34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）和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海洋红藻凹顶藻属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植物（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C-15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en-US" altLang="zh-CN" baseline="-25000" dirty="0" smtClean="0">
                <a:latin typeface="微软雅黑" pitchFamily="34" charset="-122"/>
                <a:ea typeface="微软雅黑" pitchFamily="34" charset="-122"/>
              </a:rPr>
              <a:t>15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乙酸原化合物）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中。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17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8903" y="1346165"/>
            <a:ext cx="8352928" cy="1296144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多聚乙酰类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Acetogenin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/>
              <a:t>可</a:t>
            </a:r>
            <a:r>
              <a:rPr lang="zh-CN" altLang="en-US" dirty="0" smtClean="0"/>
              <a:t>分为直链和</a:t>
            </a:r>
            <a:r>
              <a:rPr lang="zh-CN" altLang="en-US" dirty="0" smtClean="0"/>
              <a:t>环氧化合物</a:t>
            </a:r>
            <a:r>
              <a:rPr lang="zh-CN" altLang="en-US" dirty="0" smtClean="0"/>
              <a:t>两类</a:t>
            </a: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346220"/>
              </p:ext>
            </p:extLst>
          </p:nvPr>
        </p:nvGraphicFramePr>
        <p:xfrm>
          <a:off x="377702" y="2348880"/>
          <a:ext cx="8328026" cy="405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1" name="CS ChemDraw Drawing" r:id="rId3" imgW="5821365" imgH="2834190" progId="ChemDraw.Document.6.0">
                  <p:embed/>
                </p:oleObj>
              </mc:Choice>
              <mc:Fallback>
                <p:oleObj name="CS ChemDraw Drawing" r:id="rId3" imgW="5821365" imgH="2834190" progId="ChemDraw.Document.6.0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02" y="2348880"/>
                        <a:ext cx="8328026" cy="405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428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251" y="1484784"/>
            <a:ext cx="8352928" cy="4608512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结构特征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/>
              <a:t>碳</a:t>
            </a:r>
            <a:r>
              <a:rPr lang="zh-CN" altLang="en-US" dirty="0"/>
              <a:t>链无分枝，最多只有一个末端</a:t>
            </a:r>
            <a:r>
              <a:rPr lang="zh-CN" altLang="en-US" dirty="0" smtClean="0"/>
              <a:t>甲基；</a:t>
            </a:r>
            <a:endParaRPr lang="en-US" altLang="zh-CN" dirty="0" smtClean="0"/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/>
              <a:t>多</a:t>
            </a:r>
            <a:r>
              <a:rPr lang="zh-CN" altLang="en-US" dirty="0"/>
              <a:t>含有卤代、烯键，有天然产物中罕见的炔键、联烯</a:t>
            </a:r>
            <a:r>
              <a:rPr lang="zh-CN" altLang="en-US" dirty="0" smtClean="0"/>
              <a:t>等；</a:t>
            </a:r>
            <a:endParaRPr lang="en-US" altLang="zh-CN" dirty="0" smtClean="0"/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/>
              <a:t>红藻中的多聚乙酰类多含</a:t>
            </a:r>
            <a:r>
              <a:rPr lang="en-US" altLang="zh-CN" dirty="0" smtClean="0"/>
              <a:t>15</a:t>
            </a:r>
            <a:r>
              <a:rPr lang="zh-CN" altLang="en-US" dirty="0" smtClean="0"/>
              <a:t>个碳，不含</a:t>
            </a:r>
            <a:r>
              <a:rPr lang="en-US" altLang="zh-CN" dirty="0" smtClean="0"/>
              <a:t>N</a:t>
            </a:r>
            <a:r>
              <a:rPr lang="zh-CN" altLang="en-US" dirty="0" smtClean="0"/>
              <a:t>原子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/>
              <a:t>末端没有羧基或酯基</a:t>
            </a:r>
            <a:endParaRPr lang="en-US" altLang="zh-CN" dirty="0" smtClean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多聚乙酰类</a:t>
            </a:r>
          </a:p>
        </p:txBody>
      </p:sp>
    </p:spTree>
    <p:extLst>
      <p:ext uri="{BB962C8B-B14F-4D97-AF65-F5344CB8AC3E}">
        <p14:creationId xmlns:p14="http://schemas.microsoft.com/office/powerpoint/2010/main" val="158128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251" y="1484784"/>
            <a:ext cx="8352928" cy="1080120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生物合成前体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多聚乙酰类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583755"/>
              </p:ext>
            </p:extLst>
          </p:nvPr>
        </p:nvGraphicFramePr>
        <p:xfrm>
          <a:off x="817532" y="2996952"/>
          <a:ext cx="7448365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CS ChemDraw Drawing" r:id="rId3" imgW="5676574" imgH="767880" progId="ChemDraw.Document.6.0">
                  <p:embed/>
                </p:oleObj>
              </mc:Choice>
              <mc:Fallback>
                <p:oleObj name="CS ChemDraw Drawing" r:id="rId3" imgW="5676574" imgH="76788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7532" y="2996952"/>
                        <a:ext cx="7448365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59832" y="3824694"/>
            <a:ext cx="31181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200" dirty="0"/>
              <a:t>十六碳</a:t>
            </a:r>
            <a:r>
              <a:rPr lang="en-US" altLang="zh-CN" sz="2200" dirty="0"/>
              <a:t>-4,7,10,13-</a:t>
            </a:r>
            <a:r>
              <a:rPr lang="zh-CN" altLang="zh-CN" sz="2200" dirty="0"/>
              <a:t>四烯酸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91456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556792"/>
            <a:ext cx="7560840" cy="4968552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理化性质及生理活性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极性较小，脂溶性；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手性中心（手性碳和双键顺反异构），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有旋光性；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抗菌活性或节肢动物（虾、蚁等）毒性。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多聚乙酰类</a:t>
            </a:r>
          </a:p>
        </p:txBody>
      </p:sp>
    </p:spTree>
    <p:extLst>
      <p:ext uri="{BB962C8B-B14F-4D97-AF65-F5344CB8AC3E}">
        <p14:creationId xmlns:p14="http://schemas.microsoft.com/office/powerpoint/2010/main" val="107414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5016</TotalTime>
  <Words>492</Words>
  <Application>Microsoft Office PowerPoint</Application>
  <PresentationFormat>全屏显示(4:3)</PresentationFormat>
  <Paragraphs>76</Paragraphs>
  <Slides>15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Office 主题​​</vt:lpstr>
      <vt:lpstr>Ocean</vt:lpstr>
      <vt:lpstr>CS ChemDraw Drawing</vt:lpstr>
      <vt:lpstr>海洋天然产物化学 Marine Natural Product Chemistry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ZJUOC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DYN</dc:creator>
  <cp:lastModifiedBy>备忘录</cp:lastModifiedBy>
  <cp:revision>269</cp:revision>
  <dcterms:created xsi:type="dcterms:W3CDTF">2015-01-27T02:40:20Z</dcterms:created>
  <dcterms:modified xsi:type="dcterms:W3CDTF">2020-06-29T13:13:28Z</dcterms:modified>
</cp:coreProperties>
</file>