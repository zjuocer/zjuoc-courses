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Default Extension="gif" ContentType="image/gif"/>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9"/>
  </p:notesMasterIdLst>
  <p:sldIdLst>
    <p:sldId id="350" r:id="rId3"/>
    <p:sldId id="295" r:id="rId4"/>
    <p:sldId id="359" r:id="rId5"/>
    <p:sldId id="354" r:id="rId6"/>
    <p:sldId id="372" r:id="rId7"/>
    <p:sldId id="371" r:id="rId8"/>
    <p:sldId id="360" r:id="rId9"/>
    <p:sldId id="380" r:id="rId10"/>
    <p:sldId id="373" r:id="rId11"/>
    <p:sldId id="361" r:id="rId12"/>
    <p:sldId id="374" r:id="rId13"/>
    <p:sldId id="375" r:id="rId14"/>
    <p:sldId id="376" r:id="rId15"/>
    <p:sldId id="377" r:id="rId16"/>
    <p:sldId id="378" r:id="rId17"/>
    <p:sldId id="379" r:id="rId18"/>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9D7B26C5-4107-4FEC-AEDC-1716B250A1EF}" styleName="浅色样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935" autoAdjust="0"/>
    <p:restoredTop sz="96310" autoAdjust="0"/>
  </p:normalViewPr>
  <p:slideViewPr>
    <p:cSldViewPr>
      <p:cViewPr>
        <p:scale>
          <a:sx n="60" d="100"/>
          <a:sy n="60" d="100"/>
        </p:scale>
        <p:origin x="-3198" y="-116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emf"/><Relationship Id="rId1" Type="http://schemas.openxmlformats.org/officeDocument/2006/relationships/image" Target="../media/image5.emf"/><Relationship Id="rId5" Type="http://schemas.openxmlformats.org/officeDocument/2006/relationships/image" Target="../media/image9.emf"/><Relationship Id="rId4" Type="http://schemas.openxmlformats.org/officeDocument/2006/relationships/image" Target="../media/image8.e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emf"/><Relationship Id="rId1" Type="http://schemas.openxmlformats.org/officeDocument/2006/relationships/image" Target="../media/image11.e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image" Target="../media/image14.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6.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3F04E47-DDCF-4C26-B61B-B7C48A7F62ED}" type="datetimeFigureOut">
              <a:rPr lang="zh-CN" altLang="en-US" smtClean="0"/>
              <a:t>2022/4/6</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F89D4B3-F92E-4454-88A9-1B52D080D39E}" type="slidenum">
              <a:rPr lang="zh-CN" altLang="en-US" smtClean="0"/>
              <a:t>‹#›</a:t>
            </a:fld>
            <a:endParaRPr lang="zh-CN" altLang="en-US"/>
          </a:p>
        </p:txBody>
      </p:sp>
    </p:spTree>
    <p:extLst>
      <p:ext uri="{BB962C8B-B14F-4D97-AF65-F5344CB8AC3E}">
        <p14:creationId xmlns:p14="http://schemas.microsoft.com/office/powerpoint/2010/main" val="12256436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73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zh-CN" sz="1400" smtClean="0"/>
          </a:p>
        </p:txBody>
      </p:sp>
      <p:sp>
        <p:nvSpPr>
          <p:cNvPr id="5734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fld id="{F582D0BD-BC72-4371-A99D-2C93502AABF8}" type="slidenum">
              <a:rPr lang="en-GB" altLang="zh-CN">
                <a:solidFill>
                  <a:prstClr val="black"/>
                </a:solidFill>
              </a:rPr>
              <a:pPr/>
              <a:t>1</a:t>
            </a:fld>
            <a:endParaRPr lang="en-GB" altLang="zh-CN">
              <a:solidFill>
                <a:prstClr val="black"/>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817F2D7D-2CD5-4023-AA6E-28D149C8CA3D}" type="datetimeFigureOut">
              <a:rPr lang="zh-CN" altLang="en-US" smtClean="0"/>
              <a:t>2022/4/6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BDFBD05-DAF7-476E-AC3A-FF9D90405B14}" type="slidenum">
              <a:rPr lang="zh-CN" altLang="en-US" smtClean="0"/>
              <a:t>‹#›</a:t>
            </a:fld>
            <a:endParaRPr lang="zh-CN" altLang="en-US"/>
          </a:p>
        </p:txBody>
      </p:sp>
    </p:spTree>
    <p:extLst>
      <p:ext uri="{BB962C8B-B14F-4D97-AF65-F5344CB8AC3E}">
        <p14:creationId xmlns:p14="http://schemas.microsoft.com/office/powerpoint/2010/main" val="32631411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17F2D7D-2CD5-4023-AA6E-28D149C8CA3D}" type="datetimeFigureOut">
              <a:rPr lang="zh-CN" altLang="en-US" smtClean="0"/>
              <a:t>2022/4/6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BDFBD05-DAF7-476E-AC3A-FF9D90405B14}" type="slidenum">
              <a:rPr lang="zh-CN" altLang="en-US" smtClean="0"/>
              <a:t>‹#›</a:t>
            </a:fld>
            <a:endParaRPr lang="zh-CN" altLang="en-US"/>
          </a:p>
        </p:txBody>
      </p:sp>
    </p:spTree>
    <p:extLst>
      <p:ext uri="{BB962C8B-B14F-4D97-AF65-F5344CB8AC3E}">
        <p14:creationId xmlns:p14="http://schemas.microsoft.com/office/powerpoint/2010/main" val="25715425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817F2D7D-2CD5-4023-AA6E-28D149C8CA3D}" type="datetimeFigureOut">
              <a:rPr lang="zh-CN" altLang="en-US" smtClean="0"/>
              <a:t>2022/4/6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BDFBD05-DAF7-476E-AC3A-FF9D90405B14}" type="slidenum">
              <a:rPr lang="zh-CN" altLang="en-US" smtClean="0"/>
              <a:t>‹#›</a:t>
            </a:fld>
            <a:endParaRPr lang="zh-CN" altLang="en-US"/>
          </a:p>
        </p:txBody>
      </p:sp>
    </p:spTree>
    <p:extLst>
      <p:ext uri="{BB962C8B-B14F-4D97-AF65-F5344CB8AC3E}">
        <p14:creationId xmlns:p14="http://schemas.microsoft.com/office/powerpoint/2010/main" val="166346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817F2D7D-2CD5-4023-AA6E-28D149C8CA3D}" type="datetimeFigureOut">
              <a:rPr lang="zh-CN" altLang="en-US" smtClean="0"/>
              <a:t>2022/4/6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BDFBD05-DAF7-476E-AC3A-FF9D90405B14}" type="slidenum">
              <a:rPr lang="zh-CN" altLang="en-US" smtClean="0"/>
              <a:t>‹#›</a:t>
            </a:fld>
            <a:endParaRPr lang="zh-CN" altLang="en-US"/>
          </a:p>
        </p:txBody>
      </p:sp>
    </p:spTree>
    <p:extLst>
      <p:ext uri="{BB962C8B-B14F-4D97-AF65-F5344CB8AC3E}">
        <p14:creationId xmlns:p14="http://schemas.microsoft.com/office/powerpoint/2010/main" val="3770658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817F2D7D-2CD5-4023-AA6E-28D149C8CA3D}" type="datetimeFigureOut">
              <a:rPr lang="zh-CN" altLang="en-US" smtClean="0"/>
              <a:t>2022/4/6</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9BDFBD05-DAF7-476E-AC3A-FF9D90405B14}" type="slidenum">
              <a:rPr lang="zh-CN" altLang="en-US" smtClean="0"/>
              <a:t>‹#›</a:t>
            </a:fld>
            <a:endParaRPr lang="zh-CN" altLang="en-US"/>
          </a:p>
        </p:txBody>
      </p:sp>
    </p:spTree>
    <p:extLst>
      <p:ext uri="{BB962C8B-B14F-4D97-AF65-F5344CB8AC3E}">
        <p14:creationId xmlns:p14="http://schemas.microsoft.com/office/powerpoint/2010/main" val="25250352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817F2D7D-2CD5-4023-AA6E-28D149C8CA3D}" type="datetimeFigureOut">
              <a:rPr lang="zh-CN" altLang="en-US" smtClean="0"/>
              <a:t>2022/4/6</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9BDFBD05-DAF7-476E-AC3A-FF9D90405B14}" type="slidenum">
              <a:rPr lang="zh-CN" altLang="en-US" smtClean="0"/>
              <a:t>‹#›</a:t>
            </a:fld>
            <a:endParaRPr lang="zh-CN" altLang="en-US"/>
          </a:p>
        </p:txBody>
      </p:sp>
    </p:spTree>
    <p:extLst>
      <p:ext uri="{BB962C8B-B14F-4D97-AF65-F5344CB8AC3E}">
        <p14:creationId xmlns:p14="http://schemas.microsoft.com/office/powerpoint/2010/main" val="23508449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17F2D7D-2CD5-4023-AA6E-28D149C8CA3D}" type="datetimeFigureOut">
              <a:rPr lang="zh-CN" altLang="en-US" smtClean="0"/>
              <a:t>2022/4/6</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9BDFBD05-DAF7-476E-AC3A-FF9D90405B14}" type="slidenum">
              <a:rPr lang="zh-CN" altLang="en-US" smtClean="0"/>
              <a:t>‹#›</a:t>
            </a:fld>
            <a:endParaRPr lang="zh-CN" altLang="en-US"/>
          </a:p>
        </p:txBody>
      </p:sp>
    </p:spTree>
    <p:extLst>
      <p:ext uri="{BB962C8B-B14F-4D97-AF65-F5344CB8AC3E}">
        <p14:creationId xmlns:p14="http://schemas.microsoft.com/office/powerpoint/2010/main" val="32540676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817F2D7D-2CD5-4023-AA6E-28D149C8CA3D}" type="datetimeFigureOut">
              <a:rPr lang="zh-CN" altLang="en-US" smtClean="0"/>
              <a:t>2022/4/6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BDFBD05-DAF7-476E-AC3A-FF9D90405B14}" type="slidenum">
              <a:rPr lang="zh-CN" altLang="en-US" smtClean="0"/>
              <a:t>‹#›</a:t>
            </a:fld>
            <a:endParaRPr lang="zh-CN" altLang="en-US"/>
          </a:p>
        </p:txBody>
      </p:sp>
    </p:spTree>
    <p:extLst>
      <p:ext uri="{BB962C8B-B14F-4D97-AF65-F5344CB8AC3E}">
        <p14:creationId xmlns:p14="http://schemas.microsoft.com/office/powerpoint/2010/main" val="36562501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817F2D7D-2CD5-4023-AA6E-28D149C8CA3D}" type="datetimeFigureOut">
              <a:rPr lang="zh-CN" altLang="en-US" smtClean="0"/>
              <a:t>2022/4/6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BDFBD05-DAF7-476E-AC3A-FF9D90405B14}" type="slidenum">
              <a:rPr lang="zh-CN" altLang="en-US" smtClean="0"/>
              <a:t>‹#›</a:t>
            </a:fld>
            <a:endParaRPr lang="zh-CN" altLang="en-US"/>
          </a:p>
        </p:txBody>
      </p:sp>
    </p:spTree>
    <p:extLst>
      <p:ext uri="{BB962C8B-B14F-4D97-AF65-F5344CB8AC3E}">
        <p14:creationId xmlns:p14="http://schemas.microsoft.com/office/powerpoint/2010/main" val="7621578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17F2D7D-2CD5-4023-AA6E-28D149C8CA3D}" type="datetimeFigureOut">
              <a:rPr lang="zh-CN" altLang="en-US" smtClean="0"/>
              <a:t>2022/4/6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BDFBD05-DAF7-476E-AC3A-FF9D90405B14}" type="slidenum">
              <a:rPr lang="zh-CN" altLang="en-US" smtClean="0"/>
              <a:t>‹#›</a:t>
            </a:fld>
            <a:endParaRPr lang="zh-CN" altLang="en-US"/>
          </a:p>
        </p:txBody>
      </p:sp>
    </p:spTree>
    <p:extLst>
      <p:ext uri="{BB962C8B-B14F-4D97-AF65-F5344CB8AC3E}">
        <p14:creationId xmlns:p14="http://schemas.microsoft.com/office/powerpoint/2010/main" val="1688546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17F2D7D-2CD5-4023-AA6E-28D149C8CA3D}" type="datetimeFigureOut">
              <a:rPr lang="zh-CN" altLang="en-US" smtClean="0"/>
              <a:t>2022/4/6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BDFBD05-DAF7-476E-AC3A-FF9D90405B14}" type="slidenum">
              <a:rPr lang="zh-CN" altLang="en-US" smtClean="0"/>
              <a:t>‹#›</a:t>
            </a:fld>
            <a:endParaRPr lang="zh-CN" altLang="en-US"/>
          </a:p>
        </p:txBody>
      </p:sp>
    </p:spTree>
    <p:extLst>
      <p:ext uri="{BB962C8B-B14F-4D97-AF65-F5344CB8AC3E}">
        <p14:creationId xmlns:p14="http://schemas.microsoft.com/office/powerpoint/2010/main" val="41438327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Freeform 4"/>
          <p:cNvSpPr>
            <a:spLocks/>
          </p:cNvSpPr>
          <p:nvPr/>
        </p:nvSpPr>
        <p:spPr bwMode="auto">
          <a:xfrm>
            <a:off x="285750" y="2803525"/>
            <a:ext cx="1588" cy="3035300"/>
          </a:xfrm>
          <a:custGeom>
            <a:avLst/>
            <a:gdLst>
              <a:gd name="T0" fmla="*/ 0 w 1588"/>
              <a:gd name="T1" fmla="*/ 0 h 1912"/>
              <a:gd name="T2" fmla="*/ 0 w 1588"/>
              <a:gd name="T3" fmla="*/ 2147483647 h 1912"/>
              <a:gd name="T4" fmla="*/ 0 w 1588"/>
              <a:gd name="T5" fmla="*/ 2147483647 h 1912"/>
              <a:gd name="T6" fmla="*/ 0 w 1588"/>
              <a:gd name="T7" fmla="*/ 2147483647 h 1912"/>
              <a:gd name="T8" fmla="*/ 0 w 1588"/>
              <a:gd name="T9" fmla="*/ 2147483647 h 1912"/>
              <a:gd name="T10" fmla="*/ 0 w 1588"/>
              <a:gd name="T11" fmla="*/ 2147483647 h 1912"/>
              <a:gd name="T12" fmla="*/ 0 w 1588"/>
              <a:gd name="T13" fmla="*/ 0 h 1912"/>
              <a:gd name="T14" fmla="*/ 0 w 1588"/>
              <a:gd name="T15" fmla="*/ 0 h 191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588" h="1912">
                <a:moveTo>
                  <a:pt x="0" y="0"/>
                </a:moveTo>
                <a:lnTo>
                  <a:pt x="0" y="6"/>
                </a:lnTo>
                <a:lnTo>
                  <a:pt x="0" y="60"/>
                </a:lnTo>
                <a:lnTo>
                  <a:pt x="0" y="1912"/>
                </a:lnTo>
                <a:lnTo>
                  <a:pt x="0" y="0"/>
                </a:lnTo>
                <a:close/>
              </a:path>
            </a:pathLst>
          </a:custGeom>
          <a:solidFill>
            <a:srgbClr val="6BBA2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fontAlgn="base" hangingPunct="0">
              <a:spcBef>
                <a:spcPct val="0"/>
              </a:spcBef>
              <a:spcAft>
                <a:spcPct val="0"/>
              </a:spcAft>
            </a:pPr>
            <a:endParaRPr lang="zh-CN" altLang="en-US" smtClean="0">
              <a:solidFill>
                <a:srgbClr val="010199"/>
              </a:solidFill>
            </a:endParaRPr>
          </a:p>
        </p:txBody>
      </p:sp>
      <p:sp>
        <p:nvSpPr>
          <p:cNvPr id="5122" name="Rectangle 2"/>
          <p:cNvSpPr>
            <a:spLocks noGrp="1" noChangeArrowheads="1"/>
          </p:cNvSpPr>
          <p:nvPr>
            <p:ph type="ctrTitle" sz="quarter"/>
          </p:nvPr>
        </p:nvSpPr>
        <p:spPr>
          <a:xfrm>
            <a:off x="685800" y="1997075"/>
            <a:ext cx="7772400" cy="1431925"/>
          </a:xfrm>
        </p:spPr>
        <p:txBody>
          <a:bodyPr anchor="b" anchorCtr="1"/>
          <a:lstStyle>
            <a:lvl1pPr algn="ctr">
              <a:defRPr/>
            </a:lvl1pPr>
          </a:lstStyle>
          <a:p>
            <a:r>
              <a:rPr lang="en-US"/>
              <a:t>Click to edit Master title style</a:t>
            </a:r>
          </a:p>
        </p:txBody>
      </p:sp>
      <p:sp>
        <p:nvSpPr>
          <p:cNvPr id="5123" name="Rectangle 3"/>
          <p:cNvSpPr>
            <a:spLocks noGrp="1" noChangeArrowheads="1"/>
          </p:cNvSpPr>
          <p:nvPr>
            <p:ph type="subTitle" sz="quarter" idx="1"/>
          </p:nvPr>
        </p:nvSpPr>
        <p:spPr>
          <a:xfrm>
            <a:off x="1371600" y="3886200"/>
            <a:ext cx="6400800" cy="1752600"/>
          </a:xfrm>
        </p:spPr>
        <p:txBody>
          <a:bodyPr/>
          <a:lstStyle>
            <a:lvl1pPr marL="0" indent="0" algn="ctr">
              <a:buFontTx/>
              <a:buNone/>
              <a:defRPr/>
            </a:lvl1pPr>
          </a:lstStyle>
          <a:p>
            <a:r>
              <a:rPr lang="en-US"/>
              <a:t>Click to edit Master subtitle style</a:t>
            </a:r>
          </a:p>
        </p:txBody>
      </p:sp>
      <p:sp>
        <p:nvSpPr>
          <p:cNvPr id="5" name="Rectangle 5"/>
          <p:cNvSpPr>
            <a:spLocks noGrp="1" noChangeArrowheads="1"/>
          </p:cNvSpPr>
          <p:nvPr>
            <p:ph type="ftr" sz="quarter" idx="10"/>
          </p:nvPr>
        </p:nvSpPr>
        <p:spPr/>
        <p:txBody>
          <a:bodyPr/>
          <a:lstStyle>
            <a:lvl1pPr>
              <a:defRPr/>
            </a:lvl1pPr>
          </a:lstStyle>
          <a:p>
            <a:pPr>
              <a:defRPr/>
            </a:pPr>
            <a:endParaRPr lang="zh-CN" altLang="zh-CN">
              <a:solidFill>
                <a:srgbClr val="010199"/>
              </a:solidFill>
            </a:endParaRPr>
          </a:p>
        </p:txBody>
      </p:sp>
      <p:sp>
        <p:nvSpPr>
          <p:cNvPr id="6" name="Rectangle 6"/>
          <p:cNvSpPr>
            <a:spLocks noGrp="1" noChangeArrowheads="1"/>
          </p:cNvSpPr>
          <p:nvPr>
            <p:ph type="sldNum" sz="quarter" idx="11"/>
          </p:nvPr>
        </p:nvSpPr>
        <p:spPr/>
        <p:txBody>
          <a:bodyPr/>
          <a:lstStyle>
            <a:lvl1pPr>
              <a:defRPr/>
            </a:lvl1pPr>
          </a:lstStyle>
          <a:p>
            <a:pPr>
              <a:defRPr/>
            </a:pPr>
            <a:fld id="{212AB603-56F1-40C2-ACFD-A8C109FF9F16}" type="slidenum">
              <a:rPr lang="en-US" altLang="zh-CN">
                <a:solidFill>
                  <a:srgbClr val="010199"/>
                </a:solidFill>
              </a:rPr>
              <a:pPr>
                <a:defRPr/>
              </a:pPr>
              <a:t>‹#›</a:t>
            </a:fld>
            <a:endParaRPr lang="en-US" altLang="zh-CN">
              <a:solidFill>
                <a:srgbClr val="010199"/>
              </a:solidFill>
            </a:endParaRPr>
          </a:p>
        </p:txBody>
      </p:sp>
      <p:sp>
        <p:nvSpPr>
          <p:cNvPr id="7" name="Rectangle 7"/>
          <p:cNvSpPr>
            <a:spLocks noGrp="1" noChangeArrowheads="1"/>
          </p:cNvSpPr>
          <p:nvPr>
            <p:ph type="dt" sz="quarter" idx="12"/>
          </p:nvPr>
        </p:nvSpPr>
        <p:spPr/>
        <p:txBody>
          <a:bodyPr/>
          <a:lstStyle>
            <a:lvl1pPr>
              <a:defRPr/>
            </a:lvl1pPr>
          </a:lstStyle>
          <a:p>
            <a:pPr>
              <a:defRPr/>
            </a:pPr>
            <a:endParaRPr lang="zh-CN" altLang="zh-CN">
              <a:solidFill>
                <a:srgbClr val="010199"/>
              </a:solidFill>
            </a:endParaRPr>
          </a:p>
        </p:txBody>
      </p:sp>
    </p:spTree>
    <p:extLst>
      <p:ext uri="{BB962C8B-B14F-4D97-AF65-F5344CB8AC3E}">
        <p14:creationId xmlns:p14="http://schemas.microsoft.com/office/powerpoint/2010/main" val="39467418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zh-CN" altLang="zh-CN">
              <a:solidFill>
                <a:srgbClr val="010199"/>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zh-CN" altLang="zh-CN">
              <a:solidFill>
                <a:srgbClr val="010199"/>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9244DE39-8B2C-41A3-9C16-35D5160EBD85}" type="slidenum">
              <a:rPr lang="en-US" altLang="zh-CN">
                <a:solidFill>
                  <a:srgbClr val="010199"/>
                </a:solidFill>
              </a:rPr>
              <a:pPr>
                <a:defRPr/>
              </a:pPr>
              <a:t>‹#›</a:t>
            </a:fld>
            <a:endParaRPr lang="en-US" altLang="zh-CN">
              <a:solidFill>
                <a:srgbClr val="010199"/>
              </a:solidFill>
            </a:endParaRPr>
          </a:p>
        </p:txBody>
      </p:sp>
    </p:spTree>
    <p:extLst>
      <p:ext uri="{BB962C8B-B14F-4D97-AF65-F5344CB8AC3E}">
        <p14:creationId xmlns:p14="http://schemas.microsoft.com/office/powerpoint/2010/main" val="35966819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zh-CN" altLang="zh-CN">
              <a:solidFill>
                <a:srgbClr val="010199"/>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zh-CN" altLang="zh-CN">
              <a:solidFill>
                <a:srgbClr val="010199"/>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6E503062-EDEC-4C87-91EE-231FD9609B75}" type="slidenum">
              <a:rPr lang="en-US" altLang="zh-CN">
                <a:solidFill>
                  <a:srgbClr val="010199"/>
                </a:solidFill>
              </a:rPr>
              <a:pPr>
                <a:defRPr/>
              </a:pPr>
              <a:t>‹#›</a:t>
            </a:fld>
            <a:endParaRPr lang="en-US" altLang="zh-CN">
              <a:solidFill>
                <a:srgbClr val="010199"/>
              </a:solidFill>
            </a:endParaRPr>
          </a:p>
        </p:txBody>
      </p:sp>
    </p:spTree>
    <p:extLst>
      <p:ext uri="{BB962C8B-B14F-4D97-AF65-F5344CB8AC3E}">
        <p14:creationId xmlns:p14="http://schemas.microsoft.com/office/powerpoint/2010/main" val="134410609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905000"/>
            <a:ext cx="40386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905000"/>
            <a:ext cx="40386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zh-CN" altLang="zh-CN">
              <a:solidFill>
                <a:srgbClr val="010199"/>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zh-CN" altLang="zh-CN">
              <a:solidFill>
                <a:srgbClr val="010199"/>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B730A5ED-A6B5-4283-954A-ACC5A486AE07}" type="slidenum">
              <a:rPr lang="en-US" altLang="zh-CN">
                <a:solidFill>
                  <a:srgbClr val="010199"/>
                </a:solidFill>
              </a:rPr>
              <a:pPr>
                <a:defRPr/>
              </a:pPr>
              <a:t>‹#›</a:t>
            </a:fld>
            <a:endParaRPr lang="en-US" altLang="zh-CN">
              <a:solidFill>
                <a:srgbClr val="010199"/>
              </a:solidFill>
            </a:endParaRPr>
          </a:p>
        </p:txBody>
      </p:sp>
    </p:spTree>
    <p:extLst>
      <p:ext uri="{BB962C8B-B14F-4D97-AF65-F5344CB8AC3E}">
        <p14:creationId xmlns:p14="http://schemas.microsoft.com/office/powerpoint/2010/main" val="22921984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zh-CN" altLang="zh-CN">
              <a:solidFill>
                <a:srgbClr val="010199"/>
              </a:solidFill>
            </a:endParaRPr>
          </a:p>
        </p:txBody>
      </p:sp>
      <p:sp>
        <p:nvSpPr>
          <p:cNvPr id="8" name="Rectangle 5"/>
          <p:cNvSpPr>
            <a:spLocks noGrp="1" noChangeArrowheads="1"/>
          </p:cNvSpPr>
          <p:nvPr>
            <p:ph type="ftr" sz="quarter" idx="11"/>
          </p:nvPr>
        </p:nvSpPr>
        <p:spPr>
          <a:ln/>
        </p:spPr>
        <p:txBody>
          <a:bodyPr/>
          <a:lstStyle>
            <a:lvl1pPr>
              <a:defRPr/>
            </a:lvl1pPr>
          </a:lstStyle>
          <a:p>
            <a:pPr>
              <a:defRPr/>
            </a:pPr>
            <a:endParaRPr lang="zh-CN" altLang="zh-CN">
              <a:solidFill>
                <a:srgbClr val="010199"/>
              </a:solidFill>
            </a:endParaRPr>
          </a:p>
        </p:txBody>
      </p:sp>
      <p:sp>
        <p:nvSpPr>
          <p:cNvPr id="9" name="Rectangle 6"/>
          <p:cNvSpPr>
            <a:spLocks noGrp="1" noChangeArrowheads="1"/>
          </p:cNvSpPr>
          <p:nvPr>
            <p:ph type="sldNum" sz="quarter" idx="12"/>
          </p:nvPr>
        </p:nvSpPr>
        <p:spPr>
          <a:ln/>
        </p:spPr>
        <p:txBody>
          <a:bodyPr/>
          <a:lstStyle>
            <a:lvl1pPr>
              <a:defRPr/>
            </a:lvl1pPr>
          </a:lstStyle>
          <a:p>
            <a:pPr>
              <a:defRPr/>
            </a:pPr>
            <a:fld id="{FDCB35C2-FF72-4D6E-AFCF-13F1BC21BC71}" type="slidenum">
              <a:rPr lang="en-US" altLang="zh-CN">
                <a:solidFill>
                  <a:srgbClr val="010199"/>
                </a:solidFill>
              </a:rPr>
              <a:pPr>
                <a:defRPr/>
              </a:pPr>
              <a:t>‹#›</a:t>
            </a:fld>
            <a:endParaRPr lang="en-US" altLang="zh-CN">
              <a:solidFill>
                <a:srgbClr val="010199"/>
              </a:solidFill>
            </a:endParaRPr>
          </a:p>
        </p:txBody>
      </p:sp>
    </p:spTree>
    <p:extLst>
      <p:ext uri="{BB962C8B-B14F-4D97-AF65-F5344CB8AC3E}">
        <p14:creationId xmlns:p14="http://schemas.microsoft.com/office/powerpoint/2010/main" val="401727598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a:defRPr/>
            </a:pPr>
            <a:endParaRPr lang="zh-CN" altLang="zh-CN">
              <a:solidFill>
                <a:srgbClr val="010199"/>
              </a:solidFill>
            </a:endParaRPr>
          </a:p>
        </p:txBody>
      </p:sp>
      <p:sp>
        <p:nvSpPr>
          <p:cNvPr id="4" name="Rectangle 5"/>
          <p:cNvSpPr>
            <a:spLocks noGrp="1" noChangeArrowheads="1"/>
          </p:cNvSpPr>
          <p:nvPr>
            <p:ph type="ftr" sz="quarter" idx="11"/>
          </p:nvPr>
        </p:nvSpPr>
        <p:spPr>
          <a:ln/>
        </p:spPr>
        <p:txBody>
          <a:bodyPr/>
          <a:lstStyle>
            <a:lvl1pPr>
              <a:defRPr/>
            </a:lvl1pPr>
          </a:lstStyle>
          <a:p>
            <a:pPr>
              <a:defRPr/>
            </a:pPr>
            <a:endParaRPr lang="zh-CN" altLang="zh-CN">
              <a:solidFill>
                <a:srgbClr val="010199"/>
              </a:solidFill>
            </a:endParaRPr>
          </a:p>
        </p:txBody>
      </p:sp>
      <p:sp>
        <p:nvSpPr>
          <p:cNvPr id="5" name="Rectangle 6"/>
          <p:cNvSpPr>
            <a:spLocks noGrp="1" noChangeArrowheads="1"/>
          </p:cNvSpPr>
          <p:nvPr>
            <p:ph type="sldNum" sz="quarter" idx="12"/>
          </p:nvPr>
        </p:nvSpPr>
        <p:spPr>
          <a:ln/>
        </p:spPr>
        <p:txBody>
          <a:bodyPr/>
          <a:lstStyle>
            <a:lvl1pPr>
              <a:defRPr/>
            </a:lvl1pPr>
          </a:lstStyle>
          <a:p>
            <a:pPr>
              <a:defRPr/>
            </a:pPr>
            <a:fld id="{9A71F221-A7A0-44E7-BF4D-E2D8DB48BAB6}" type="slidenum">
              <a:rPr lang="en-US" altLang="zh-CN">
                <a:solidFill>
                  <a:srgbClr val="010199"/>
                </a:solidFill>
              </a:rPr>
              <a:pPr>
                <a:defRPr/>
              </a:pPr>
              <a:t>‹#›</a:t>
            </a:fld>
            <a:endParaRPr lang="en-US" altLang="zh-CN">
              <a:solidFill>
                <a:srgbClr val="010199"/>
              </a:solidFill>
            </a:endParaRPr>
          </a:p>
        </p:txBody>
      </p:sp>
    </p:spTree>
    <p:extLst>
      <p:ext uri="{BB962C8B-B14F-4D97-AF65-F5344CB8AC3E}">
        <p14:creationId xmlns:p14="http://schemas.microsoft.com/office/powerpoint/2010/main" val="184952890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zh-CN" altLang="zh-CN">
              <a:solidFill>
                <a:srgbClr val="010199"/>
              </a:solidFill>
            </a:endParaRPr>
          </a:p>
        </p:txBody>
      </p:sp>
      <p:sp>
        <p:nvSpPr>
          <p:cNvPr id="3" name="Rectangle 5"/>
          <p:cNvSpPr>
            <a:spLocks noGrp="1" noChangeArrowheads="1"/>
          </p:cNvSpPr>
          <p:nvPr>
            <p:ph type="ftr" sz="quarter" idx="11"/>
          </p:nvPr>
        </p:nvSpPr>
        <p:spPr>
          <a:ln/>
        </p:spPr>
        <p:txBody>
          <a:bodyPr/>
          <a:lstStyle>
            <a:lvl1pPr>
              <a:defRPr/>
            </a:lvl1pPr>
          </a:lstStyle>
          <a:p>
            <a:pPr>
              <a:defRPr/>
            </a:pPr>
            <a:endParaRPr lang="zh-CN" altLang="zh-CN">
              <a:solidFill>
                <a:srgbClr val="010199"/>
              </a:solidFill>
            </a:endParaRPr>
          </a:p>
        </p:txBody>
      </p:sp>
      <p:sp>
        <p:nvSpPr>
          <p:cNvPr id="4" name="Rectangle 6"/>
          <p:cNvSpPr>
            <a:spLocks noGrp="1" noChangeArrowheads="1"/>
          </p:cNvSpPr>
          <p:nvPr>
            <p:ph type="sldNum" sz="quarter" idx="12"/>
          </p:nvPr>
        </p:nvSpPr>
        <p:spPr>
          <a:ln/>
        </p:spPr>
        <p:txBody>
          <a:bodyPr/>
          <a:lstStyle>
            <a:lvl1pPr>
              <a:defRPr/>
            </a:lvl1pPr>
          </a:lstStyle>
          <a:p>
            <a:pPr>
              <a:defRPr/>
            </a:pPr>
            <a:fld id="{1513BC7E-E1A6-4DFF-9C73-70C4CB633159}" type="slidenum">
              <a:rPr lang="en-US" altLang="zh-CN">
                <a:solidFill>
                  <a:srgbClr val="010199"/>
                </a:solidFill>
              </a:rPr>
              <a:pPr>
                <a:defRPr/>
              </a:pPr>
              <a:t>‹#›</a:t>
            </a:fld>
            <a:endParaRPr lang="en-US" altLang="zh-CN">
              <a:solidFill>
                <a:srgbClr val="010199"/>
              </a:solidFill>
            </a:endParaRPr>
          </a:p>
        </p:txBody>
      </p:sp>
    </p:spTree>
    <p:extLst>
      <p:ext uri="{BB962C8B-B14F-4D97-AF65-F5344CB8AC3E}">
        <p14:creationId xmlns:p14="http://schemas.microsoft.com/office/powerpoint/2010/main" val="302851352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zh-CN" altLang="zh-CN">
              <a:solidFill>
                <a:srgbClr val="010199"/>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zh-CN" altLang="zh-CN">
              <a:solidFill>
                <a:srgbClr val="010199"/>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542E17FB-1BB7-4D20-9E98-046EE7C33875}" type="slidenum">
              <a:rPr lang="en-US" altLang="zh-CN">
                <a:solidFill>
                  <a:srgbClr val="010199"/>
                </a:solidFill>
              </a:rPr>
              <a:pPr>
                <a:defRPr/>
              </a:pPr>
              <a:t>‹#›</a:t>
            </a:fld>
            <a:endParaRPr lang="en-US" altLang="zh-CN">
              <a:solidFill>
                <a:srgbClr val="010199"/>
              </a:solidFill>
            </a:endParaRPr>
          </a:p>
        </p:txBody>
      </p:sp>
    </p:spTree>
    <p:extLst>
      <p:ext uri="{BB962C8B-B14F-4D97-AF65-F5344CB8AC3E}">
        <p14:creationId xmlns:p14="http://schemas.microsoft.com/office/powerpoint/2010/main" val="302877909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zh-CN" altLang="zh-CN">
              <a:solidFill>
                <a:srgbClr val="010199"/>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zh-CN" altLang="zh-CN">
              <a:solidFill>
                <a:srgbClr val="010199"/>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1DA3EAF9-A129-405C-BB96-4BA5CE8D2CDF}" type="slidenum">
              <a:rPr lang="en-US" altLang="zh-CN">
                <a:solidFill>
                  <a:srgbClr val="010199"/>
                </a:solidFill>
              </a:rPr>
              <a:pPr>
                <a:defRPr/>
              </a:pPr>
              <a:t>‹#›</a:t>
            </a:fld>
            <a:endParaRPr lang="en-US" altLang="zh-CN">
              <a:solidFill>
                <a:srgbClr val="010199"/>
              </a:solidFill>
            </a:endParaRPr>
          </a:p>
        </p:txBody>
      </p:sp>
    </p:spTree>
    <p:extLst>
      <p:ext uri="{BB962C8B-B14F-4D97-AF65-F5344CB8AC3E}">
        <p14:creationId xmlns:p14="http://schemas.microsoft.com/office/powerpoint/2010/main" val="293729127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zh-CN" altLang="zh-CN">
              <a:solidFill>
                <a:srgbClr val="010199"/>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zh-CN" altLang="zh-CN">
              <a:solidFill>
                <a:srgbClr val="010199"/>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5379E4B1-B749-43D6-8A03-8567B35D8808}" type="slidenum">
              <a:rPr lang="en-US" altLang="zh-CN">
                <a:solidFill>
                  <a:srgbClr val="010199"/>
                </a:solidFill>
              </a:rPr>
              <a:pPr>
                <a:defRPr/>
              </a:pPr>
              <a:t>‹#›</a:t>
            </a:fld>
            <a:endParaRPr lang="en-US" altLang="zh-CN">
              <a:solidFill>
                <a:srgbClr val="010199"/>
              </a:solidFill>
            </a:endParaRPr>
          </a:p>
        </p:txBody>
      </p:sp>
    </p:spTree>
    <p:extLst>
      <p:ext uri="{BB962C8B-B14F-4D97-AF65-F5344CB8AC3E}">
        <p14:creationId xmlns:p14="http://schemas.microsoft.com/office/powerpoint/2010/main" val="312484433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92100"/>
            <a:ext cx="2057400" cy="57277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92100"/>
            <a:ext cx="6019800" cy="57277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zh-CN" altLang="zh-CN">
              <a:solidFill>
                <a:srgbClr val="010199"/>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zh-CN" altLang="zh-CN">
              <a:solidFill>
                <a:srgbClr val="010199"/>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4C3389D9-CE6B-4F64-8BC6-C1DFE512AADB}" type="slidenum">
              <a:rPr lang="en-US" altLang="zh-CN">
                <a:solidFill>
                  <a:srgbClr val="010199"/>
                </a:solidFill>
              </a:rPr>
              <a:pPr>
                <a:defRPr/>
              </a:pPr>
              <a:t>‹#›</a:t>
            </a:fld>
            <a:endParaRPr lang="en-US" altLang="zh-CN">
              <a:solidFill>
                <a:srgbClr val="010199"/>
              </a:solidFill>
            </a:endParaRPr>
          </a:p>
        </p:txBody>
      </p:sp>
    </p:spTree>
    <p:extLst>
      <p:ext uri="{BB962C8B-B14F-4D97-AF65-F5344CB8AC3E}">
        <p14:creationId xmlns:p14="http://schemas.microsoft.com/office/powerpoint/2010/main" val="36079104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17F2D7D-2CD5-4023-AA6E-28D149C8CA3D}" type="datetimeFigureOut">
              <a:rPr lang="zh-CN" altLang="en-US" smtClean="0"/>
              <a:t>2022/4/6</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DFBD05-DAF7-476E-AC3A-FF9D90405B14}" type="slidenum">
              <a:rPr lang="zh-CN" altLang="en-US" smtClean="0"/>
              <a:t>‹#›</a:t>
            </a:fld>
            <a:endParaRPr lang="zh-CN" altLang="en-US"/>
          </a:p>
        </p:txBody>
      </p:sp>
    </p:spTree>
    <p:extLst>
      <p:ext uri="{BB962C8B-B14F-4D97-AF65-F5344CB8AC3E}">
        <p14:creationId xmlns:p14="http://schemas.microsoft.com/office/powerpoint/2010/main" val="23166517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bwMode="auto">
          <a:xfrm>
            <a:off x="457200" y="292100"/>
            <a:ext cx="8229600" cy="13843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4099" name="Rectangle 3"/>
          <p:cNvSpPr>
            <a:spLocks noGrp="1" noChangeArrowheads="1"/>
          </p:cNvSpPr>
          <p:nvPr>
            <p:ph type="body" idx="1"/>
          </p:nvPr>
        </p:nvSpPr>
        <p:spPr bwMode="auto">
          <a:xfrm>
            <a:off x="457200" y="1905000"/>
            <a:ext cx="82296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100"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400">
                <a:effectLst>
                  <a:outerShdw blurRad="38100" dist="38100" dir="2700000" algn="tl">
                    <a:srgbClr val="000000"/>
                  </a:outerShdw>
                </a:effectLst>
                <a:latin typeface="Arial" charset="0"/>
                <a:ea typeface="宋体" charset="-122"/>
              </a:defRPr>
            </a:lvl1pPr>
          </a:lstStyle>
          <a:p>
            <a:pPr fontAlgn="base">
              <a:spcBef>
                <a:spcPct val="0"/>
              </a:spcBef>
              <a:spcAft>
                <a:spcPct val="0"/>
              </a:spcAft>
              <a:defRPr/>
            </a:pPr>
            <a:endParaRPr lang="zh-CN" altLang="zh-CN">
              <a:solidFill>
                <a:srgbClr val="010199"/>
              </a:solidFill>
            </a:endParaRPr>
          </a:p>
        </p:txBody>
      </p:sp>
      <p:sp>
        <p:nvSpPr>
          <p:cNvPr id="4101"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400">
                <a:effectLst>
                  <a:outerShdw blurRad="38100" dist="38100" dir="2700000" algn="tl">
                    <a:srgbClr val="000000"/>
                  </a:outerShdw>
                </a:effectLst>
                <a:latin typeface="Arial" charset="0"/>
                <a:ea typeface="宋体" charset="-122"/>
              </a:defRPr>
            </a:lvl1pPr>
          </a:lstStyle>
          <a:p>
            <a:pPr fontAlgn="base">
              <a:spcBef>
                <a:spcPct val="0"/>
              </a:spcBef>
              <a:spcAft>
                <a:spcPct val="0"/>
              </a:spcAft>
              <a:defRPr/>
            </a:pPr>
            <a:endParaRPr lang="zh-CN" altLang="zh-CN">
              <a:solidFill>
                <a:srgbClr val="010199"/>
              </a:solidFill>
            </a:endParaRPr>
          </a:p>
        </p:txBody>
      </p:sp>
      <p:sp>
        <p:nvSpPr>
          <p:cNvPr id="4102"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400">
                <a:effectLst>
                  <a:outerShdw blurRad="38100" dist="38100" dir="2700000" algn="tl">
                    <a:srgbClr val="000000"/>
                  </a:outerShdw>
                </a:effectLst>
                <a:latin typeface="Arial" charset="0"/>
                <a:ea typeface="宋体" charset="-122"/>
              </a:defRPr>
            </a:lvl1pPr>
          </a:lstStyle>
          <a:p>
            <a:pPr fontAlgn="base">
              <a:spcBef>
                <a:spcPct val="0"/>
              </a:spcBef>
              <a:spcAft>
                <a:spcPct val="0"/>
              </a:spcAft>
              <a:defRPr/>
            </a:pPr>
            <a:fld id="{1BE02CC3-7F54-4444-B682-87D61477DCDF}" type="slidenum">
              <a:rPr lang="en-US" altLang="zh-CN">
                <a:solidFill>
                  <a:srgbClr val="010199"/>
                </a:solidFill>
              </a:rPr>
              <a:pPr fontAlgn="base">
                <a:spcBef>
                  <a:spcPct val="0"/>
                </a:spcBef>
                <a:spcAft>
                  <a:spcPct val="0"/>
                </a:spcAft>
                <a:defRPr/>
              </a:pPr>
              <a:t>‹#›</a:t>
            </a:fld>
            <a:endParaRPr lang="en-US" altLang="zh-CN">
              <a:solidFill>
                <a:srgbClr val="010199"/>
              </a:solidFill>
            </a:endParaRPr>
          </a:p>
        </p:txBody>
      </p:sp>
    </p:spTree>
    <p:extLst>
      <p:ext uri="{BB962C8B-B14F-4D97-AF65-F5344CB8AC3E}">
        <p14:creationId xmlns:p14="http://schemas.microsoft.com/office/powerpoint/2010/main" val="25154686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l" rtl="0" eaLnBrk="0" fontAlgn="base" hangingPunct="0">
        <a:spcBef>
          <a:spcPct val="0"/>
        </a:spcBef>
        <a:spcAft>
          <a:spcPct val="0"/>
        </a:spcAft>
        <a:defRPr sz="4400">
          <a:solidFill>
            <a:schemeClr val="tx2"/>
          </a:solidFill>
          <a:effectLst>
            <a:outerShdw blurRad="38100" dist="38100" dir="2700000" algn="tl">
              <a:srgbClr val="000000"/>
            </a:outerShdw>
          </a:effectLst>
          <a:latin typeface="Tahoma" pitchFamily="34" charset="0"/>
        </a:defRPr>
      </a:lvl2pPr>
      <a:lvl3pPr algn="l" rtl="0" eaLnBrk="0" fontAlgn="base" hangingPunct="0">
        <a:spcBef>
          <a:spcPct val="0"/>
        </a:spcBef>
        <a:spcAft>
          <a:spcPct val="0"/>
        </a:spcAft>
        <a:defRPr sz="4400">
          <a:solidFill>
            <a:schemeClr val="tx2"/>
          </a:solidFill>
          <a:effectLst>
            <a:outerShdw blurRad="38100" dist="38100" dir="2700000" algn="tl">
              <a:srgbClr val="000000"/>
            </a:outerShdw>
          </a:effectLst>
          <a:latin typeface="Tahoma" pitchFamily="34" charset="0"/>
        </a:defRPr>
      </a:lvl3pPr>
      <a:lvl4pPr algn="l" rtl="0" eaLnBrk="0" fontAlgn="base" hangingPunct="0">
        <a:spcBef>
          <a:spcPct val="0"/>
        </a:spcBef>
        <a:spcAft>
          <a:spcPct val="0"/>
        </a:spcAft>
        <a:defRPr sz="4400">
          <a:solidFill>
            <a:schemeClr val="tx2"/>
          </a:solidFill>
          <a:effectLst>
            <a:outerShdw blurRad="38100" dist="38100" dir="2700000" algn="tl">
              <a:srgbClr val="000000"/>
            </a:outerShdw>
          </a:effectLst>
          <a:latin typeface="Tahoma" pitchFamily="34" charset="0"/>
        </a:defRPr>
      </a:lvl4pPr>
      <a:lvl5pPr algn="l" rtl="0" eaLnBrk="0" fontAlgn="base" hangingPunct="0">
        <a:spcBef>
          <a:spcPct val="0"/>
        </a:spcBef>
        <a:spcAft>
          <a:spcPct val="0"/>
        </a:spcAft>
        <a:defRPr sz="4400">
          <a:solidFill>
            <a:schemeClr val="tx2"/>
          </a:solidFill>
          <a:effectLst>
            <a:outerShdw blurRad="38100" dist="38100" dir="2700000" algn="tl">
              <a:srgbClr val="000000"/>
            </a:outerShdw>
          </a:effectLst>
          <a:latin typeface="Tahoma" pitchFamily="34" charset="0"/>
        </a:defRPr>
      </a:lvl5pPr>
      <a:lvl6pPr marL="457200" algn="l" rtl="0" fontAlgn="base">
        <a:spcBef>
          <a:spcPct val="0"/>
        </a:spcBef>
        <a:spcAft>
          <a:spcPct val="0"/>
        </a:spcAft>
        <a:defRPr sz="4400">
          <a:solidFill>
            <a:schemeClr val="tx2"/>
          </a:solidFill>
          <a:effectLst>
            <a:outerShdw blurRad="38100" dist="38100" dir="2700000" algn="tl">
              <a:srgbClr val="000000"/>
            </a:outerShdw>
          </a:effectLst>
          <a:latin typeface="Tahoma" pitchFamily="34" charset="0"/>
        </a:defRPr>
      </a:lvl6pPr>
      <a:lvl7pPr marL="914400" algn="l" rtl="0" fontAlgn="base">
        <a:spcBef>
          <a:spcPct val="0"/>
        </a:spcBef>
        <a:spcAft>
          <a:spcPct val="0"/>
        </a:spcAft>
        <a:defRPr sz="4400">
          <a:solidFill>
            <a:schemeClr val="tx2"/>
          </a:solidFill>
          <a:effectLst>
            <a:outerShdw blurRad="38100" dist="38100" dir="2700000" algn="tl">
              <a:srgbClr val="000000"/>
            </a:outerShdw>
          </a:effectLst>
          <a:latin typeface="Tahoma" pitchFamily="34" charset="0"/>
        </a:defRPr>
      </a:lvl7pPr>
      <a:lvl8pPr marL="1371600" algn="l" rtl="0" fontAlgn="base">
        <a:spcBef>
          <a:spcPct val="0"/>
        </a:spcBef>
        <a:spcAft>
          <a:spcPct val="0"/>
        </a:spcAft>
        <a:defRPr sz="4400">
          <a:solidFill>
            <a:schemeClr val="tx2"/>
          </a:solidFill>
          <a:effectLst>
            <a:outerShdw blurRad="38100" dist="38100" dir="2700000" algn="tl">
              <a:srgbClr val="000000"/>
            </a:outerShdw>
          </a:effectLst>
          <a:latin typeface="Tahoma" pitchFamily="34" charset="0"/>
        </a:defRPr>
      </a:lvl8pPr>
      <a:lvl9pPr marL="1828800" algn="l" rtl="0" fontAlgn="base">
        <a:spcBef>
          <a:spcPct val="0"/>
        </a:spcBef>
        <a:spcAft>
          <a:spcPct val="0"/>
        </a:spcAft>
        <a:defRPr sz="4400">
          <a:solidFill>
            <a:schemeClr val="tx2"/>
          </a:solidFill>
          <a:effectLst>
            <a:outerShdw blurRad="38100" dist="38100" dir="2700000" algn="tl">
              <a:srgbClr val="000000"/>
            </a:outerShdw>
          </a:effectLst>
          <a:latin typeface="Tahoma" pitchFamily="34" charset="0"/>
        </a:defRPr>
      </a:lvl9pPr>
    </p:titleStyle>
    <p:bodyStyle>
      <a:lvl1pPr marL="342900" indent="-342900" algn="l" rtl="0" eaLnBrk="0" fontAlgn="base" hangingPunct="0">
        <a:spcBef>
          <a:spcPct val="20000"/>
        </a:spcBef>
        <a:spcAft>
          <a:spcPct val="0"/>
        </a:spcAft>
        <a:buClr>
          <a:schemeClr val="hlink"/>
        </a:buClr>
        <a:buSzPct val="120000"/>
        <a:buChar char="•"/>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Font typeface="Tahoma" pitchFamily="34" charset="0"/>
        <a:buChar char="–"/>
        <a:defRPr sz="2800">
          <a:solidFill>
            <a:schemeClr val="tx1"/>
          </a:solidFill>
          <a:effectLst>
            <a:outerShdw blurRad="38100" dist="38100" dir="2700000" algn="tl">
              <a:srgbClr val="000000"/>
            </a:outerShdw>
          </a:effectLst>
          <a:latin typeface="+mn-lt"/>
        </a:defRPr>
      </a:lvl2pPr>
      <a:lvl3pPr marL="1143000" indent="-228600" algn="l" rtl="0" eaLnBrk="0" fontAlgn="base" hangingPunct="0">
        <a:spcBef>
          <a:spcPct val="20000"/>
        </a:spcBef>
        <a:spcAft>
          <a:spcPct val="0"/>
        </a:spcAft>
        <a:buClr>
          <a:schemeClr val="hlink"/>
        </a:buClr>
        <a:buSzPct val="120000"/>
        <a:buChar char="•"/>
        <a:defRPr sz="2400">
          <a:solidFill>
            <a:schemeClr val="tx1"/>
          </a:solidFill>
          <a:effectLst>
            <a:outerShdw blurRad="38100" dist="38100" dir="2700000" algn="tl">
              <a:srgbClr val="000000"/>
            </a:outerShdw>
          </a:effectLst>
          <a:latin typeface="+mn-lt"/>
        </a:defRPr>
      </a:lvl3pPr>
      <a:lvl4pPr marL="1600200" indent="-228600" algn="l" rtl="0" eaLnBrk="0" fontAlgn="base" hangingPunct="0">
        <a:spcBef>
          <a:spcPct val="20000"/>
        </a:spcBef>
        <a:spcAft>
          <a:spcPct val="0"/>
        </a:spcAft>
        <a:buFont typeface="Tahoma" pitchFamily="34" charset="0"/>
        <a:buChar char="–"/>
        <a:defRPr sz="2000">
          <a:solidFill>
            <a:schemeClr val="tx1"/>
          </a:solidFill>
          <a:effectLst>
            <a:outerShdw blurRad="38100" dist="38100" dir="2700000" algn="tl">
              <a:srgbClr val="000000"/>
            </a:outerShdw>
          </a:effectLst>
          <a:latin typeface="+mn-lt"/>
        </a:defRPr>
      </a:lvl4pPr>
      <a:lvl5pPr marL="2057400" indent="-228600" algn="l" rtl="0" eaLnBrk="0" fontAlgn="base" hangingPunct="0">
        <a:spcBef>
          <a:spcPct val="20000"/>
        </a:spcBef>
        <a:spcAft>
          <a:spcPct val="0"/>
        </a:spcAft>
        <a:buClr>
          <a:schemeClr val="hlink"/>
        </a:buClr>
        <a:buSzPct val="80000"/>
        <a:buFont typeface="Wingdings" pitchFamily="2" charset="2"/>
        <a:buChar char="v"/>
        <a:defRPr sz="2000">
          <a:solidFill>
            <a:schemeClr val="tx1"/>
          </a:solidFill>
          <a:effectLst>
            <a:outerShdw blurRad="38100" dist="38100" dir="2700000" algn="tl">
              <a:srgbClr val="000000"/>
            </a:outerShdw>
          </a:effectLst>
          <a:latin typeface="+mn-lt"/>
        </a:defRPr>
      </a:lvl5pPr>
      <a:lvl6pPr marL="2514600" indent="-228600" algn="l" rtl="0" fontAlgn="base">
        <a:spcBef>
          <a:spcPct val="20000"/>
        </a:spcBef>
        <a:spcAft>
          <a:spcPct val="0"/>
        </a:spcAft>
        <a:buClr>
          <a:schemeClr val="hlink"/>
        </a:buClr>
        <a:buSzPct val="80000"/>
        <a:buFont typeface="Wingdings" pitchFamily="2" charset="2"/>
        <a:buChar char="v"/>
        <a:defRPr sz="2000">
          <a:solidFill>
            <a:schemeClr val="tx1"/>
          </a:solidFill>
          <a:effectLst>
            <a:outerShdw blurRad="38100" dist="38100" dir="2700000" algn="tl">
              <a:srgbClr val="000000"/>
            </a:outerShdw>
          </a:effectLst>
          <a:latin typeface="+mn-lt"/>
        </a:defRPr>
      </a:lvl6pPr>
      <a:lvl7pPr marL="2971800" indent="-228600" algn="l" rtl="0" fontAlgn="base">
        <a:spcBef>
          <a:spcPct val="20000"/>
        </a:spcBef>
        <a:spcAft>
          <a:spcPct val="0"/>
        </a:spcAft>
        <a:buClr>
          <a:schemeClr val="hlink"/>
        </a:buClr>
        <a:buSzPct val="80000"/>
        <a:buFont typeface="Wingdings" pitchFamily="2" charset="2"/>
        <a:buChar char="v"/>
        <a:defRPr sz="2000">
          <a:solidFill>
            <a:schemeClr val="tx1"/>
          </a:solidFill>
          <a:effectLst>
            <a:outerShdw blurRad="38100" dist="38100" dir="2700000" algn="tl">
              <a:srgbClr val="000000"/>
            </a:outerShdw>
          </a:effectLst>
          <a:latin typeface="+mn-lt"/>
        </a:defRPr>
      </a:lvl7pPr>
      <a:lvl8pPr marL="3429000" indent="-228600" algn="l" rtl="0" fontAlgn="base">
        <a:spcBef>
          <a:spcPct val="20000"/>
        </a:spcBef>
        <a:spcAft>
          <a:spcPct val="0"/>
        </a:spcAft>
        <a:buClr>
          <a:schemeClr val="hlink"/>
        </a:buClr>
        <a:buSzPct val="80000"/>
        <a:buFont typeface="Wingdings" pitchFamily="2" charset="2"/>
        <a:buChar char="v"/>
        <a:defRPr sz="2000">
          <a:solidFill>
            <a:schemeClr val="tx1"/>
          </a:solidFill>
          <a:effectLst>
            <a:outerShdw blurRad="38100" dist="38100" dir="2700000" algn="tl">
              <a:srgbClr val="000000"/>
            </a:outerShdw>
          </a:effectLst>
          <a:latin typeface="+mn-lt"/>
        </a:defRPr>
      </a:lvl8pPr>
      <a:lvl9pPr marL="3886200" indent="-228600" algn="l" rtl="0" fontAlgn="base">
        <a:spcBef>
          <a:spcPct val="20000"/>
        </a:spcBef>
        <a:spcAft>
          <a:spcPct val="0"/>
        </a:spcAft>
        <a:buClr>
          <a:schemeClr val="hlink"/>
        </a:buClr>
        <a:buSzPct val="80000"/>
        <a:buFont typeface="Wingdings" pitchFamily="2" charset="2"/>
        <a:buChar char="v"/>
        <a:defRPr sz="2000">
          <a:solidFill>
            <a:schemeClr val="tx1"/>
          </a:solidFill>
          <a:effectLst>
            <a:outerShdw blurRad="38100" dist="38100" dir="2700000" algn="tl">
              <a:srgbClr val="000000"/>
            </a:outerShdw>
          </a:effectLst>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3.emf"/></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4.em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7.emf"/><Relationship Id="rId3" Type="http://schemas.openxmlformats.org/officeDocument/2006/relationships/oleObject" Target="../embeddings/oleObject3.bin"/><Relationship Id="rId7" Type="http://schemas.openxmlformats.org/officeDocument/2006/relationships/oleObject" Target="../embeddings/oleObject5.bin"/><Relationship Id="rId12" Type="http://schemas.openxmlformats.org/officeDocument/2006/relationships/image" Target="../media/image9.emf"/><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6.emf"/><Relationship Id="rId11" Type="http://schemas.openxmlformats.org/officeDocument/2006/relationships/oleObject" Target="../embeddings/oleObject7.bin"/><Relationship Id="rId5" Type="http://schemas.openxmlformats.org/officeDocument/2006/relationships/oleObject" Target="../embeddings/oleObject4.bin"/><Relationship Id="rId10" Type="http://schemas.openxmlformats.org/officeDocument/2006/relationships/image" Target="../media/image8.emf"/><Relationship Id="rId4" Type="http://schemas.openxmlformats.org/officeDocument/2006/relationships/image" Target="../media/image5.emf"/><Relationship Id="rId9" Type="http://schemas.openxmlformats.org/officeDocument/2006/relationships/oleObject" Target="../embeddings/oleObject6.bin"/></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13.emf"/><Relationship Id="rId3" Type="http://schemas.openxmlformats.org/officeDocument/2006/relationships/oleObject" Target="../embeddings/oleObject8.bin"/><Relationship Id="rId7" Type="http://schemas.openxmlformats.org/officeDocument/2006/relationships/oleObject" Target="../embeddings/oleObject10.bin"/><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image" Target="../media/image12.emf"/><Relationship Id="rId5" Type="http://schemas.openxmlformats.org/officeDocument/2006/relationships/oleObject" Target="../embeddings/oleObject9.bin"/><Relationship Id="rId4" Type="http://schemas.openxmlformats.org/officeDocument/2006/relationships/image" Target="../media/image11.em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image" Target="../media/image15.emf"/><Relationship Id="rId5" Type="http://schemas.openxmlformats.org/officeDocument/2006/relationships/oleObject" Target="../embeddings/oleObject12.bin"/><Relationship Id="rId4" Type="http://schemas.openxmlformats.org/officeDocument/2006/relationships/image" Target="../media/image14.emf"/></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2.xml"/><Relationship Id="rId1" Type="http://schemas.openxmlformats.org/officeDocument/2006/relationships/vmlDrawing" Target="../drawings/vmlDrawing6.vml"/><Relationship Id="rId4" Type="http://schemas.openxmlformats.org/officeDocument/2006/relationships/image" Target="../media/image16.em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ctrTitle"/>
          </p:nvPr>
        </p:nvSpPr>
        <p:spPr>
          <a:xfrm>
            <a:off x="1259632" y="1052736"/>
            <a:ext cx="6364288" cy="2884152"/>
          </a:xfrm>
        </p:spPr>
        <p:txBody>
          <a:bodyPr/>
          <a:lstStyle/>
          <a:p>
            <a:pPr eaLnBrk="1"/>
            <a:r>
              <a:rPr lang="zh-CN" altLang="en-US" sz="5400" b="1" dirty="0" smtClean="0">
                <a:solidFill>
                  <a:schemeClr val="tx1"/>
                </a:solidFill>
                <a:effectLst/>
                <a:latin typeface="微软雅黑" pitchFamily="34" charset="-122"/>
                <a:ea typeface="微软雅黑" pitchFamily="34" charset="-122"/>
                <a:cs typeface="Calibri" pitchFamily="34" charset="0"/>
              </a:rPr>
              <a:t>海洋天然产物化学</a:t>
            </a:r>
            <a:r>
              <a:rPr lang="en-US" altLang="zh-CN" sz="5400" b="1" dirty="0" smtClean="0">
                <a:solidFill>
                  <a:schemeClr val="tx1"/>
                </a:solidFill>
                <a:effectLst/>
                <a:latin typeface="微软雅黑" pitchFamily="34" charset="-122"/>
                <a:ea typeface="微软雅黑" pitchFamily="34" charset="-122"/>
                <a:cs typeface="Calibri" pitchFamily="34" charset="0"/>
              </a:rPr>
              <a:t/>
            </a:r>
            <a:br>
              <a:rPr lang="en-US" altLang="zh-CN" sz="5400" b="1" dirty="0" smtClean="0">
                <a:solidFill>
                  <a:schemeClr val="tx1"/>
                </a:solidFill>
                <a:effectLst/>
                <a:latin typeface="微软雅黑" pitchFamily="34" charset="-122"/>
                <a:ea typeface="微软雅黑" pitchFamily="34" charset="-122"/>
                <a:cs typeface="Calibri" pitchFamily="34" charset="0"/>
              </a:rPr>
            </a:br>
            <a:r>
              <a:rPr lang="en-US" altLang="zh-CN" sz="5400" b="1" dirty="0" smtClean="0">
                <a:solidFill>
                  <a:schemeClr val="tx1"/>
                </a:solidFill>
                <a:effectLst/>
                <a:latin typeface="Times New Roman" pitchFamily="18" charset="0"/>
                <a:ea typeface="华文楷体" pitchFamily="2" charset="-122"/>
                <a:cs typeface="Times New Roman" pitchFamily="18" charset="0"/>
              </a:rPr>
              <a:t>Marine Natural Product Chemistry</a:t>
            </a:r>
            <a:endParaRPr lang="en-GB" altLang="zh-CN" sz="5400" b="1" dirty="0" smtClean="0">
              <a:solidFill>
                <a:schemeClr val="tx1"/>
              </a:solidFill>
              <a:effectLst/>
              <a:latin typeface="Times New Roman" pitchFamily="18" charset="0"/>
              <a:ea typeface="华文楷体" pitchFamily="2" charset="-122"/>
              <a:cs typeface="Times New Roman" pitchFamily="18" charset="0"/>
            </a:endParaRPr>
          </a:p>
        </p:txBody>
      </p:sp>
      <p:sp>
        <p:nvSpPr>
          <p:cNvPr id="3075" name="Subtitle 2"/>
          <p:cNvSpPr>
            <a:spLocks noGrp="1"/>
          </p:cNvSpPr>
          <p:nvPr>
            <p:ph type="subTitle" idx="1"/>
          </p:nvPr>
        </p:nvSpPr>
        <p:spPr>
          <a:xfrm>
            <a:off x="152003" y="4437112"/>
            <a:ext cx="8884890" cy="1970063"/>
          </a:xfrm>
        </p:spPr>
        <p:txBody>
          <a:bodyPr/>
          <a:lstStyle/>
          <a:p>
            <a:r>
              <a:rPr lang="zh-CN" altLang="en-US" sz="2400" b="1" dirty="0" smtClean="0">
                <a:effectLst/>
                <a:latin typeface="等线" pitchFamily="2" charset="-122"/>
                <a:ea typeface="等线" pitchFamily="2" charset="-122"/>
                <a:cs typeface="Calibri" pitchFamily="34" charset="0"/>
              </a:rPr>
              <a:t>徐金钟</a:t>
            </a:r>
            <a:endParaRPr lang="en-US" altLang="zh-CN" sz="2400" b="1" dirty="0" smtClean="0">
              <a:effectLst/>
              <a:latin typeface="等线" pitchFamily="2" charset="-122"/>
              <a:ea typeface="等线" pitchFamily="2" charset="-122"/>
              <a:cs typeface="Calibri" pitchFamily="34" charset="0"/>
            </a:endParaRPr>
          </a:p>
          <a:p>
            <a:r>
              <a:rPr lang="en-US" altLang="zh-CN" sz="2400" b="1" dirty="0" smtClean="0">
                <a:effectLst/>
                <a:latin typeface="等线" pitchFamily="2" charset="-122"/>
                <a:ea typeface="等线" pitchFamily="2" charset="-122"/>
                <a:cs typeface="Calibri" pitchFamily="34" charset="0"/>
              </a:rPr>
              <a:t>xujinzhong@zju.edu.cn</a:t>
            </a:r>
            <a:endParaRPr lang="en-GB" altLang="zh-CN" sz="2400" b="1" dirty="0" smtClean="0">
              <a:effectLst/>
              <a:latin typeface="等线" pitchFamily="2" charset="-122"/>
              <a:ea typeface="等线" pitchFamily="2" charset="-122"/>
              <a:cs typeface="Calibri" pitchFamily="34" charset="0"/>
            </a:endParaRPr>
          </a:p>
          <a:p>
            <a:pPr eaLnBrk="1" hangingPunct="1"/>
            <a:r>
              <a:rPr lang="zh-CN" altLang="en-US" sz="2400" b="1" dirty="0" smtClean="0">
                <a:effectLst/>
                <a:latin typeface="等线" pitchFamily="2" charset="-122"/>
                <a:ea typeface="等线" pitchFamily="2" charset="-122"/>
                <a:cs typeface="Calibri" pitchFamily="34" charset="0"/>
              </a:rPr>
              <a:t>海洋生物与药物研究所</a:t>
            </a:r>
            <a:endParaRPr lang="en-US" altLang="zh-CN" sz="2400" b="1" dirty="0" smtClean="0">
              <a:effectLst/>
              <a:latin typeface="等线" pitchFamily="2" charset="-122"/>
              <a:ea typeface="等线" pitchFamily="2" charset="-122"/>
              <a:cs typeface="Calibri" pitchFamily="34" charset="0"/>
            </a:endParaRPr>
          </a:p>
          <a:p>
            <a:pPr eaLnBrk="1" hangingPunct="1"/>
            <a:r>
              <a:rPr lang="zh-CN" altLang="en-US" sz="2400" b="1" dirty="0" smtClean="0">
                <a:effectLst/>
                <a:latin typeface="等线" pitchFamily="2" charset="-122"/>
                <a:ea typeface="等线" pitchFamily="2" charset="-122"/>
                <a:cs typeface="Calibri" pitchFamily="34" charset="0"/>
              </a:rPr>
              <a:t>浙江大学</a:t>
            </a:r>
            <a:r>
              <a:rPr lang="en-US" altLang="zh-CN" sz="2400" b="1" dirty="0" smtClean="0">
                <a:effectLst/>
                <a:latin typeface="等线" pitchFamily="2" charset="-122"/>
                <a:ea typeface="等线" pitchFamily="2" charset="-122"/>
                <a:cs typeface="Calibri" pitchFamily="34" charset="0"/>
              </a:rPr>
              <a:t>/</a:t>
            </a:r>
            <a:r>
              <a:rPr lang="zh-CN" altLang="en-US" sz="2400" b="1" dirty="0" smtClean="0">
                <a:effectLst/>
                <a:latin typeface="等线" pitchFamily="2" charset="-122"/>
                <a:ea typeface="等线" pitchFamily="2" charset="-122"/>
                <a:cs typeface="Calibri" pitchFamily="34" charset="0"/>
              </a:rPr>
              <a:t>海洋学院</a:t>
            </a:r>
            <a:endParaRPr lang="en-US" altLang="zh-CN" sz="2400" b="1" dirty="0" smtClean="0">
              <a:effectLst/>
              <a:latin typeface="等线" pitchFamily="2" charset="-122"/>
              <a:ea typeface="等线" pitchFamily="2" charset="-122"/>
              <a:cs typeface="Calibri" pitchFamily="34" charset="0"/>
            </a:endParaRPr>
          </a:p>
        </p:txBody>
      </p:sp>
      <p:pic>
        <p:nvPicPr>
          <p:cNvPr id="1029"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84368" y="43089"/>
            <a:ext cx="1152525" cy="1123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0525600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500945" y="620688"/>
            <a:ext cx="8352928" cy="1754326"/>
          </a:xfrm>
          <a:prstGeom prst="rect">
            <a:avLst/>
          </a:prstGeom>
        </p:spPr>
        <p:txBody>
          <a:bodyPr wrap="square">
            <a:spAutoFit/>
          </a:bodyPr>
          <a:lstStyle/>
          <a:p>
            <a:pPr algn="ctr"/>
            <a:r>
              <a:rPr lang="zh-CN" altLang="en-US" sz="5400" b="1" dirty="0" smtClean="0">
                <a:latin typeface="微软雅黑" pitchFamily="34" charset="-122"/>
                <a:ea typeface="微软雅黑" pitchFamily="34" charset="-122"/>
              </a:rPr>
              <a:t>认识海洋天然产物</a:t>
            </a:r>
            <a:endParaRPr lang="en-US" altLang="zh-CN" sz="5400" b="1" dirty="0" smtClean="0">
              <a:latin typeface="微软雅黑" pitchFamily="34" charset="-122"/>
              <a:ea typeface="微软雅黑" pitchFamily="34" charset="-122"/>
            </a:endParaRPr>
          </a:p>
          <a:p>
            <a:pPr algn="ctr"/>
            <a:r>
              <a:rPr lang="en-US" altLang="zh-CN" sz="5400" b="1" dirty="0" smtClean="0">
                <a:latin typeface="微软雅黑" pitchFamily="34" charset="-122"/>
                <a:ea typeface="微软雅黑" pitchFamily="34" charset="-122"/>
              </a:rPr>
              <a:t>                  </a:t>
            </a:r>
            <a:r>
              <a:rPr lang="en-US" altLang="zh-CN" sz="4000" b="1" dirty="0" smtClean="0">
                <a:latin typeface="微软雅黑" pitchFamily="34" charset="-122"/>
                <a:ea typeface="微软雅黑" pitchFamily="34" charset="-122"/>
              </a:rPr>
              <a:t>——</a:t>
            </a:r>
            <a:r>
              <a:rPr lang="zh-CN" altLang="en-US" sz="4000" b="1" dirty="0" smtClean="0">
                <a:latin typeface="微软雅黑" pitchFamily="34" charset="-122"/>
                <a:ea typeface="微软雅黑" pitchFamily="34" charset="-122"/>
              </a:rPr>
              <a:t>结构类型</a:t>
            </a:r>
            <a:endParaRPr lang="zh-CN" altLang="en-US" sz="4000" b="1" dirty="0">
              <a:latin typeface="微软雅黑" pitchFamily="34" charset="-122"/>
              <a:ea typeface="微软雅黑" pitchFamily="34" charset="-122"/>
            </a:endParaRPr>
          </a:p>
        </p:txBody>
      </p:sp>
      <p:pic>
        <p:nvPicPr>
          <p:cNvPr id="1028" name="Picture 4" descr="Graphical abstract: Marine natural product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17439" y="2657737"/>
            <a:ext cx="6319940" cy="31683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0971130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767771" y="2458302"/>
            <a:ext cx="1261884" cy="523220"/>
          </a:xfrm>
          <a:prstGeom prst="rect">
            <a:avLst/>
          </a:prstGeom>
          <a:noFill/>
        </p:spPr>
        <p:txBody>
          <a:bodyPr wrap="none" rtlCol="0">
            <a:spAutoFit/>
          </a:bodyPr>
          <a:lstStyle/>
          <a:p>
            <a:r>
              <a:rPr lang="zh-CN" altLang="en-US" sz="2800" dirty="0" smtClean="0">
                <a:latin typeface="微软雅黑" pitchFamily="34" charset="-122"/>
                <a:ea typeface="微软雅黑" pitchFamily="34" charset="-122"/>
              </a:rPr>
              <a:t>生物碱</a:t>
            </a:r>
            <a:endParaRPr lang="zh-CN" altLang="en-US" sz="2800" dirty="0">
              <a:latin typeface="微软雅黑" pitchFamily="34" charset="-122"/>
              <a:ea typeface="微软雅黑" pitchFamily="34" charset="-122"/>
            </a:endParaRPr>
          </a:p>
        </p:txBody>
      </p:sp>
      <p:sp>
        <p:nvSpPr>
          <p:cNvPr id="6" name="TextBox 5"/>
          <p:cNvSpPr txBox="1"/>
          <p:nvPr/>
        </p:nvSpPr>
        <p:spPr>
          <a:xfrm>
            <a:off x="3796236" y="1765750"/>
            <a:ext cx="902811" cy="523220"/>
          </a:xfrm>
          <a:prstGeom prst="rect">
            <a:avLst/>
          </a:prstGeom>
          <a:noFill/>
        </p:spPr>
        <p:txBody>
          <a:bodyPr wrap="none" rtlCol="0">
            <a:spAutoFit/>
          </a:bodyPr>
          <a:lstStyle/>
          <a:p>
            <a:r>
              <a:rPr lang="zh-CN" altLang="en-US" sz="2800" dirty="0" smtClean="0">
                <a:latin typeface="微软雅黑" pitchFamily="34" charset="-122"/>
                <a:ea typeface="微软雅黑" pitchFamily="34" charset="-122"/>
              </a:rPr>
              <a:t>肽类</a:t>
            </a:r>
            <a:endParaRPr lang="zh-CN" altLang="en-US" sz="2800" dirty="0">
              <a:latin typeface="微软雅黑" pitchFamily="34" charset="-122"/>
              <a:ea typeface="微软雅黑" pitchFamily="34" charset="-122"/>
            </a:endParaRPr>
          </a:p>
        </p:txBody>
      </p:sp>
      <p:sp>
        <p:nvSpPr>
          <p:cNvPr id="7" name="TextBox 6"/>
          <p:cNvSpPr txBox="1"/>
          <p:nvPr/>
        </p:nvSpPr>
        <p:spPr>
          <a:xfrm>
            <a:off x="3856096" y="3302800"/>
            <a:ext cx="902811" cy="523220"/>
          </a:xfrm>
          <a:prstGeom prst="rect">
            <a:avLst/>
          </a:prstGeom>
          <a:noFill/>
        </p:spPr>
        <p:txBody>
          <a:bodyPr wrap="none" rtlCol="0">
            <a:spAutoFit/>
          </a:bodyPr>
          <a:lstStyle/>
          <a:p>
            <a:r>
              <a:rPr lang="zh-CN" altLang="en-US" sz="2800" dirty="0" smtClean="0">
                <a:solidFill>
                  <a:srgbClr val="FF0000"/>
                </a:solidFill>
                <a:latin typeface="微软雅黑" pitchFamily="34" charset="-122"/>
                <a:ea typeface="微软雅黑" pitchFamily="34" charset="-122"/>
              </a:rPr>
              <a:t>萜类</a:t>
            </a:r>
            <a:endParaRPr lang="zh-CN" altLang="en-US" sz="2800" dirty="0">
              <a:solidFill>
                <a:srgbClr val="FF0000"/>
              </a:solidFill>
              <a:latin typeface="微软雅黑" pitchFamily="34" charset="-122"/>
              <a:ea typeface="微软雅黑" pitchFamily="34" charset="-122"/>
            </a:endParaRPr>
          </a:p>
        </p:txBody>
      </p:sp>
      <p:sp>
        <p:nvSpPr>
          <p:cNvPr id="8" name="TextBox 7"/>
          <p:cNvSpPr txBox="1"/>
          <p:nvPr/>
        </p:nvSpPr>
        <p:spPr>
          <a:xfrm>
            <a:off x="4792200" y="3323122"/>
            <a:ext cx="902811" cy="523220"/>
          </a:xfrm>
          <a:prstGeom prst="rect">
            <a:avLst/>
          </a:prstGeom>
          <a:noFill/>
        </p:spPr>
        <p:txBody>
          <a:bodyPr wrap="none" rtlCol="0">
            <a:spAutoFit/>
          </a:bodyPr>
          <a:lstStyle/>
          <a:p>
            <a:r>
              <a:rPr lang="zh-CN" altLang="en-US" sz="2800" dirty="0" smtClean="0">
                <a:latin typeface="微软雅黑" pitchFamily="34" charset="-122"/>
                <a:ea typeface="微软雅黑" pitchFamily="34" charset="-122"/>
              </a:rPr>
              <a:t>甾类</a:t>
            </a:r>
            <a:endParaRPr lang="zh-CN" altLang="en-US" sz="2800" dirty="0">
              <a:latin typeface="微软雅黑" pitchFamily="34" charset="-122"/>
              <a:ea typeface="微软雅黑" pitchFamily="34" charset="-122"/>
            </a:endParaRPr>
          </a:p>
        </p:txBody>
      </p:sp>
      <p:sp>
        <p:nvSpPr>
          <p:cNvPr id="9" name="TextBox 8"/>
          <p:cNvSpPr txBox="1"/>
          <p:nvPr/>
        </p:nvSpPr>
        <p:spPr>
          <a:xfrm>
            <a:off x="520316" y="2719913"/>
            <a:ext cx="553998" cy="2259385"/>
          </a:xfrm>
          <a:prstGeom prst="rect">
            <a:avLst/>
          </a:prstGeom>
          <a:noFill/>
        </p:spPr>
        <p:txBody>
          <a:bodyPr vert="eaVert" wrap="square" rtlCol="0">
            <a:spAutoFit/>
          </a:bodyPr>
          <a:lstStyle/>
          <a:p>
            <a:r>
              <a:rPr lang="zh-CN" altLang="en-US" sz="2400" dirty="0" smtClean="0">
                <a:latin typeface="微软雅黑" pitchFamily="34" charset="-122"/>
                <a:ea typeface="微软雅黑" pitchFamily="34" charset="-122"/>
              </a:rPr>
              <a:t>是否含有氮原子</a:t>
            </a:r>
            <a:endParaRPr lang="zh-CN" altLang="en-US" sz="2400" dirty="0">
              <a:latin typeface="微软雅黑" pitchFamily="34" charset="-122"/>
              <a:ea typeface="微软雅黑" pitchFamily="34" charset="-122"/>
            </a:endParaRPr>
          </a:p>
        </p:txBody>
      </p:sp>
      <p:cxnSp>
        <p:nvCxnSpPr>
          <p:cNvPr id="12" name="直接箭头连接符 11"/>
          <p:cNvCxnSpPr/>
          <p:nvPr/>
        </p:nvCxnSpPr>
        <p:spPr>
          <a:xfrm flipV="1">
            <a:off x="1263808" y="2719913"/>
            <a:ext cx="1080120" cy="52321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4" name="直接箭头连接符 13"/>
          <p:cNvCxnSpPr/>
          <p:nvPr/>
        </p:nvCxnSpPr>
        <p:spPr>
          <a:xfrm>
            <a:off x="1185600" y="4393183"/>
            <a:ext cx="108012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1464441" y="2612190"/>
            <a:ext cx="415498" cy="369332"/>
          </a:xfrm>
          <a:prstGeom prst="rect">
            <a:avLst/>
          </a:prstGeom>
          <a:noFill/>
        </p:spPr>
        <p:txBody>
          <a:bodyPr wrap="none" rtlCol="0">
            <a:spAutoFit/>
          </a:bodyPr>
          <a:lstStyle/>
          <a:p>
            <a:r>
              <a:rPr lang="zh-CN" altLang="en-US" dirty="0" smtClean="0"/>
              <a:t>是</a:t>
            </a:r>
            <a:endParaRPr lang="zh-CN" altLang="en-US" dirty="0"/>
          </a:p>
        </p:txBody>
      </p:sp>
      <p:sp>
        <p:nvSpPr>
          <p:cNvPr id="17" name="TextBox 16"/>
          <p:cNvSpPr txBox="1"/>
          <p:nvPr/>
        </p:nvSpPr>
        <p:spPr>
          <a:xfrm>
            <a:off x="1464441" y="4406580"/>
            <a:ext cx="415498" cy="369332"/>
          </a:xfrm>
          <a:prstGeom prst="rect">
            <a:avLst/>
          </a:prstGeom>
          <a:noFill/>
        </p:spPr>
        <p:txBody>
          <a:bodyPr wrap="none" rtlCol="0">
            <a:spAutoFit/>
          </a:bodyPr>
          <a:lstStyle/>
          <a:p>
            <a:r>
              <a:rPr lang="zh-CN" altLang="en-US" dirty="0" smtClean="0"/>
              <a:t>否</a:t>
            </a:r>
            <a:endParaRPr lang="zh-CN" altLang="en-US" dirty="0"/>
          </a:p>
        </p:txBody>
      </p:sp>
      <p:cxnSp>
        <p:nvCxnSpPr>
          <p:cNvPr id="19" name="直接箭头连接符 18"/>
          <p:cNvCxnSpPr/>
          <p:nvPr/>
        </p:nvCxnSpPr>
        <p:spPr>
          <a:xfrm flipV="1">
            <a:off x="2775976" y="2156404"/>
            <a:ext cx="742392" cy="30189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2257111" y="1758110"/>
            <a:ext cx="461665" cy="1708160"/>
          </a:xfrm>
          <a:prstGeom prst="rect">
            <a:avLst/>
          </a:prstGeom>
          <a:noFill/>
        </p:spPr>
        <p:txBody>
          <a:bodyPr vert="eaVert" wrap="none" rtlCol="0">
            <a:spAutoFit/>
          </a:bodyPr>
          <a:lstStyle/>
          <a:p>
            <a:r>
              <a:rPr lang="zh-CN" altLang="en-US" dirty="0" smtClean="0"/>
              <a:t>是否酰胺键连接</a:t>
            </a:r>
            <a:endParaRPr lang="zh-CN" altLang="en-US" dirty="0"/>
          </a:p>
        </p:txBody>
      </p:sp>
      <p:sp>
        <p:nvSpPr>
          <p:cNvPr id="24" name="TextBox 23"/>
          <p:cNvSpPr txBox="1"/>
          <p:nvPr/>
        </p:nvSpPr>
        <p:spPr>
          <a:xfrm>
            <a:off x="2892263" y="1971738"/>
            <a:ext cx="415498" cy="369332"/>
          </a:xfrm>
          <a:prstGeom prst="rect">
            <a:avLst/>
          </a:prstGeom>
          <a:noFill/>
        </p:spPr>
        <p:txBody>
          <a:bodyPr wrap="none" rtlCol="0">
            <a:spAutoFit/>
          </a:bodyPr>
          <a:lstStyle/>
          <a:p>
            <a:r>
              <a:rPr lang="zh-CN" altLang="en-US" dirty="0" smtClean="0"/>
              <a:t>是</a:t>
            </a:r>
            <a:endParaRPr lang="zh-CN" altLang="en-US" dirty="0"/>
          </a:p>
        </p:txBody>
      </p:sp>
      <p:sp>
        <p:nvSpPr>
          <p:cNvPr id="25" name="TextBox 24"/>
          <p:cNvSpPr txBox="1"/>
          <p:nvPr/>
        </p:nvSpPr>
        <p:spPr>
          <a:xfrm>
            <a:off x="2892263" y="2730260"/>
            <a:ext cx="415498" cy="369332"/>
          </a:xfrm>
          <a:prstGeom prst="rect">
            <a:avLst/>
          </a:prstGeom>
          <a:noFill/>
        </p:spPr>
        <p:txBody>
          <a:bodyPr wrap="none" rtlCol="0">
            <a:spAutoFit/>
          </a:bodyPr>
          <a:lstStyle/>
          <a:p>
            <a:r>
              <a:rPr lang="zh-CN" altLang="en-US" dirty="0" smtClean="0"/>
              <a:t>否</a:t>
            </a:r>
            <a:endParaRPr lang="zh-CN" altLang="en-US" dirty="0"/>
          </a:p>
        </p:txBody>
      </p:sp>
      <p:cxnSp>
        <p:nvCxnSpPr>
          <p:cNvPr id="27" name="直接箭头连接符 26"/>
          <p:cNvCxnSpPr/>
          <p:nvPr/>
        </p:nvCxnSpPr>
        <p:spPr>
          <a:xfrm flipV="1">
            <a:off x="2718776" y="2719912"/>
            <a:ext cx="849288" cy="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2271920" y="3967999"/>
            <a:ext cx="461665" cy="1246495"/>
          </a:xfrm>
          <a:prstGeom prst="rect">
            <a:avLst/>
          </a:prstGeom>
          <a:noFill/>
        </p:spPr>
        <p:txBody>
          <a:bodyPr vert="eaVert" wrap="none" rtlCol="0">
            <a:spAutoFit/>
          </a:bodyPr>
          <a:lstStyle/>
          <a:p>
            <a:r>
              <a:rPr lang="zh-CN" altLang="en-US" dirty="0" smtClean="0"/>
              <a:t>生合成途径</a:t>
            </a:r>
            <a:endParaRPr lang="zh-CN" altLang="en-US" dirty="0"/>
          </a:p>
        </p:txBody>
      </p:sp>
      <p:cxnSp>
        <p:nvCxnSpPr>
          <p:cNvPr id="32" name="直接箭头连接符 31"/>
          <p:cNvCxnSpPr/>
          <p:nvPr/>
        </p:nvCxnSpPr>
        <p:spPr>
          <a:xfrm flipV="1">
            <a:off x="2892263" y="3669085"/>
            <a:ext cx="747809" cy="33273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2932569" y="3466120"/>
            <a:ext cx="635495" cy="369332"/>
          </a:xfrm>
          <a:prstGeom prst="rect">
            <a:avLst/>
          </a:prstGeom>
          <a:noFill/>
        </p:spPr>
        <p:txBody>
          <a:bodyPr wrap="none" rtlCol="0">
            <a:spAutoFit/>
          </a:bodyPr>
          <a:lstStyle/>
          <a:p>
            <a:r>
              <a:rPr lang="en-US" altLang="zh-CN" dirty="0" smtClean="0"/>
              <a:t>MVA</a:t>
            </a:r>
            <a:endParaRPr lang="zh-CN" altLang="en-US" dirty="0"/>
          </a:p>
        </p:txBody>
      </p:sp>
      <p:cxnSp>
        <p:nvCxnSpPr>
          <p:cNvPr id="35" name="直接箭头连接符 34"/>
          <p:cNvCxnSpPr/>
          <p:nvPr/>
        </p:nvCxnSpPr>
        <p:spPr>
          <a:xfrm>
            <a:off x="2892263" y="4543252"/>
            <a:ext cx="747809"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9" name="TextBox 38"/>
          <p:cNvSpPr txBox="1"/>
          <p:nvPr/>
        </p:nvSpPr>
        <p:spPr>
          <a:xfrm>
            <a:off x="2966533" y="4135174"/>
            <a:ext cx="527260" cy="369332"/>
          </a:xfrm>
          <a:prstGeom prst="rect">
            <a:avLst/>
          </a:prstGeom>
          <a:noFill/>
        </p:spPr>
        <p:txBody>
          <a:bodyPr wrap="none" rtlCol="0">
            <a:spAutoFit/>
          </a:bodyPr>
          <a:lstStyle/>
          <a:p>
            <a:r>
              <a:rPr lang="en-US" altLang="zh-CN" dirty="0" smtClean="0"/>
              <a:t>PKS</a:t>
            </a:r>
            <a:endParaRPr lang="zh-CN" altLang="en-US" dirty="0"/>
          </a:p>
        </p:txBody>
      </p:sp>
      <p:sp>
        <p:nvSpPr>
          <p:cNvPr id="41" name="TextBox 40"/>
          <p:cNvSpPr txBox="1"/>
          <p:nvPr/>
        </p:nvSpPr>
        <p:spPr>
          <a:xfrm>
            <a:off x="3894225" y="3918350"/>
            <a:ext cx="2550698" cy="1815882"/>
          </a:xfrm>
          <a:prstGeom prst="rect">
            <a:avLst/>
          </a:prstGeom>
          <a:noFill/>
        </p:spPr>
        <p:txBody>
          <a:bodyPr wrap="none" rtlCol="0">
            <a:spAutoFit/>
          </a:bodyPr>
          <a:lstStyle/>
          <a:p>
            <a:r>
              <a:rPr lang="zh-CN" altLang="en-US" sz="2800" dirty="0" smtClean="0">
                <a:latin typeface="微软雅黑" pitchFamily="34" charset="-122"/>
                <a:ea typeface="微软雅黑" pitchFamily="34" charset="-122"/>
              </a:rPr>
              <a:t>醌   大环内酯</a:t>
            </a:r>
            <a:endParaRPr lang="en-US" altLang="zh-CN" sz="2800" dirty="0" smtClean="0">
              <a:latin typeface="微软雅黑" pitchFamily="34" charset="-122"/>
              <a:ea typeface="微软雅黑" pitchFamily="34" charset="-122"/>
            </a:endParaRPr>
          </a:p>
          <a:p>
            <a:r>
              <a:rPr lang="zh-CN" altLang="en-US" sz="2800" dirty="0" smtClean="0">
                <a:latin typeface="微软雅黑" pitchFamily="34" charset="-122"/>
                <a:ea typeface="微软雅黑" pitchFamily="34" charset="-122"/>
              </a:rPr>
              <a:t>聚醚  多聚乙酰</a:t>
            </a:r>
            <a:endParaRPr lang="en-US" altLang="zh-CN" sz="2800" dirty="0" smtClean="0">
              <a:latin typeface="微软雅黑" pitchFamily="34" charset="-122"/>
              <a:ea typeface="微软雅黑" pitchFamily="34" charset="-122"/>
            </a:endParaRPr>
          </a:p>
          <a:p>
            <a:r>
              <a:rPr lang="zh-CN" altLang="en-US" sz="2800" dirty="0" smtClean="0">
                <a:latin typeface="微软雅黑" pitchFamily="34" charset="-122"/>
                <a:ea typeface="微软雅黑" pitchFamily="34" charset="-122"/>
              </a:rPr>
              <a:t>前列腺素类</a:t>
            </a:r>
            <a:endParaRPr lang="en-US" altLang="zh-CN" sz="2800" dirty="0">
              <a:latin typeface="微软雅黑" pitchFamily="34" charset="-122"/>
              <a:ea typeface="微软雅黑" pitchFamily="34" charset="-122"/>
            </a:endParaRPr>
          </a:p>
          <a:p>
            <a:endParaRPr lang="en-US" altLang="zh-CN" sz="2800" dirty="0" smtClean="0">
              <a:latin typeface="微软雅黑" pitchFamily="34" charset="-122"/>
              <a:ea typeface="微软雅黑" pitchFamily="34" charset="-122"/>
            </a:endParaRPr>
          </a:p>
        </p:txBody>
      </p:sp>
      <p:sp>
        <p:nvSpPr>
          <p:cNvPr id="42" name="矩形 41"/>
          <p:cNvSpPr/>
          <p:nvPr/>
        </p:nvSpPr>
        <p:spPr>
          <a:xfrm>
            <a:off x="3796236" y="1758109"/>
            <a:ext cx="2868172" cy="4237733"/>
          </a:xfrm>
          <a:prstGeom prst="rect">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TextBox 44"/>
          <p:cNvSpPr txBox="1"/>
          <p:nvPr/>
        </p:nvSpPr>
        <p:spPr>
          <a:xfrm>
            <a:off x="6664408" y="3356233"/>
            <a:ext cx="2148345" cy="769441"/>
          </a:xfrm>
          <a:prstGeom prst="rect">
            <a:avLst/>
          </a:prstGeom>
          <a:noFill/>
        </p:spPr>
        <p:txBody>
          <a:bodyPr wrap="none" rtlCol="0">
            <a:spAutoFit/>
          </a:bodyPr>
          <a:lstStyle/>
          <a:p>
            <a:r>
              <a:rPr lang="en-US" altLang="zh-CN" sz="4400" dirty="0" smtClean="0"/>
              <a:t>+ </a:t>
            </a:r>
            <a:r>
              <a:rPr lang="zh-CN" altLang="en-US" sz="2800" dirty="0" smtClean="0">
                <a:latin typeface="微软雅黑" pitchFamily="34" charset="-122"/>
                <a:ea typeface="微软雅黑" pitchFamily="34" charset="-122"/>
              </a:rPr>
              <a:t>糖 </a:t>
            </a:r>
            <a:r>
              <a:rPr lang="en-US" altLang="zh-CN" sz="2800" dirty="0" smtClean="0">
                <a:latin typeface="微软雅黑" pitchFamily="34" charset="-122"/>
                <a:ea typeface="微软雅黑" pitchFamily="34" charset="-122"/>
              </a:rPr>
              <a:t>= </a:t>
            </a:r>
            <a:r>
              <a:rPr lang="zh-CN" altLang="en-US" sz="2800" dirty="0" smtClean="0">
                <a:latin typeface="微软雅黑" pitchFamily="34" charset="-122"/>
                <a:ea typeface="微软雅黑" pitchFamily="34" charset="-122"/>
              </a:rPr>
              <a:t>糖苷</a:t>
            </a:r>
            <a:endParaRPr lang="zh-CN" altLang="en-US" sz="2800" dirty="0">
              <a:latin typeface="微软雅黑" pitchFamily="34" charset="-122"/>
              <a:ea typeface="微软雅黑" pitchFamily="34" charset="-122"/>
            </a:endParaRPr>
          </a:p>
        </p:txBody>
      </p:sp>
      <p:sp>
        <p:nvSpPr>
          <p:cNvPr id="48" name="标题 1"/>
          <p:cNvSpPr txBox="1">
            <a:spLocks/>
          </p:cNvSpPr>
          <p:nvPr/>
        </p:nvSpPr>
        <p:spPr>
          <a:xfrm>
            <a:off x="426915" y="203165"/>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zh-CN" altLang="en-US" b="1" dirty="0" smtClean="0">
                <a:latin typeface="微软雅黑" pitchFamily="34" charset="-122"/>
                <a:ea typeface="微软雅黑" pitchFamily="34" charset="-122"/>
              </a:rPr>
              <a:t>海洋天然产物基本结构类型</a:t>
            </a:r>
            <a:endParaRPr lang="zh-CN" altLang="en-US" b="1" dirty="0">
              <a:latin typeface="微软雅黑" pitchFamily="34" charset="-122"/>
              <a:ea typeface="微软雅黑" pitchFamily="34" charset="-122"/>
            </a:endParaRPr>
          </a:p>
        </p:txBody>
      </p:sp>
      <p:cxnSp>
        <p:nvCxnSpPr>
          <p:cNvPr id="51" name="直接箭头连接符 50"/>
          <p:cNvCxnSpPr/>
          <p:nvPr/>
        </p:nvCxnSpPr>
        <p:spPr>
          <a:xfrm>
            <a:off x="2892263" y="4979298"/>
            <a:ext cx="747809" cy="75493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52" name="TextBox 51"/>
          <p:cNvSpPr txBox="1"/>
          <p:nvPr/>
        </p:nvSpPr>
        <p:spPr>
          <a:xfrm>
            <a:off x="2666366" y="5073761"/>
            <a:ext cx="954107" cy="276999"/>
          </a:xfrm>
          <a:prstGeom prst="rect">
            <a:avLst/>
          </a:prstGeom>
          <a:noFill/>
        </p:spPr>
        <p:txBody>
          <a:bodyPr wrap="none" rtlCol="0">
            <a:spAutoFit/>
          </a:bodyPr>
          <a:lstStyle/>
          <a:p>
            <a:r>
              <a:rPr lang="zh-CN" altLang="en-US" sz="1200" dirty="0" smtClean="0"/>
              <a:t>桂皮酸途径</a:t>
            </a:r>
            <a:endParaRPr lang="zh-CN" altLang="en-US" sz="1200" dirty="0"/>
          </a:p>
        </p:txBody>
      </p:sp>
      <p:sp>
        <p:nvSpPr>
          <p:cNvPr id="54" name="TextBox 53"/>
          <p:cNvSpPr txBox="1"/>
          <p:nvPr/>
        </p:nvSpPr>
        <p:spPr>
          <a:xfrm>
            <a:off x="3964598" y="5472622"/>
            <a:ext cx="1620957" cy="523220"/>
          </a:xfrm>
          <a:prstGeom prst="rect">
            <a:avLst/>
          </a:prstGeom>
          <a:noFill/>
        </p:spPr>
        <p:txBody>
          <a:bodyPr wrap="none" rtlCol="0">
            <a:spAutoFit/>
          </a:bodyPr>
          <a:lstStyle/>
          <a:p>
            <a:r>
              <a:rPr lang="zh-CN" altLang="en-US" sz="2800" dirty="0" smtClean="0">
                <a:latin typeface="微软雅黑" pitchFamily="34" charset="-122"/>
                <a:ea typeface="微软雅黑" pitchFamily="34" charset="-122"/>
              </a:rPr>
              <a:t>苯丙素类</a:t>
            </a:r>
            <a:endParaRPr lang="zh-CN" altLang="en-US" sz="2800" dirty="0">
              <a:latin typeface="微软雅黑" pitchFamily="34" charset="-122"/>
              <a:ea typeface="微软雅黑" pitchFamily="34" charset="-122"/>
            </a:endParaRPr>
          </a:p>
        </p:txBody>
      </p:sp>
    </p:spTree>
    <p:extLst>
      <p:ext uri="{BB962C8B-B14F-4D97-AF65-F5344CB8AC3E}">
        <p14:creationId xmlns:p14="http://schemas.microsoft.com/office/powerpoint/2010/main" val="158748619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6915" y="1346165"/>
            <a:ext cx="8352928" cy="3096344"/>
          </a:xfrm>
        </p:spPr>
        <p:txBody>
          <a:bodyPr>
            <a:noAutofit/>
          </a:bodyPr>
          <a:lstStyle/>
          <a:p>
            <a:pPr>
              <a:lnSpc>
                <a:spcPts val="5600"/>
              </a:lnSpc>
              <a:buClr>
                <a:srgbClr val="0070C0"/>
              </a:buClr>
              <a:buFont typeface="Wingdings" pitchFamily="2" charset="2"/>
              <a:buChar char="u"/>
            </a:pPr>
            <a:r>
              <a:rPr lang="zh-CN" altLang="en-US" sz="2400" dirty="0" smtClean="0">
                <a:solidFill>
                  <a:srgbClr val="FF0000"/>
                </a:solidFill>
                <a:latin typeface="微软雅黑" pitchFamily="34" charset="-122"/>
                <a:ea typeface="微软雅黑" pitchFamily="34" charset="-122"/>
              </a:rPr>
              <a:t>萜类</a:t>
            </a:r>
            <a:r>
              <a:rPr lang="en-US" altLang="zh-CN" sz="2400" dirty="0" err="1" smtClean="0">
                <a:solidFill>
                  <a:srgbClr val="FF0000"/>
                </a:solidFill>
                <a:latin typeface="微软雅黑" pitchFamily="34" charset="-122"/>
                <a:ea typeface="微软雅黑" pitchFamily="34" charset="-122"/>
              </a:rPr>
              <a:t>terpenoid</a:t>
            </a:r>
            <a:endParaRPr lang="en-US" altLang="zh-CN" sz="2400" dirty="0" smtClean="0">
              <a:solidFill>
                <a:srgbClr val="FF0000"/>
              </a:solidFill>
              <a:latin typeface="微软雅黑" pitchFamily="34" charset="-122"/>
              <a:ea typeface="微软雅黑" pitchFamily="34" charset="-122"/>
            </a:endParaRPr>
          </a:p>
          <a:p>
            <a:pPr>
              <a:lnSpc>
                <a:spcPts val="5600"/>
              </a:lnSpc>
              <a:buClr>
                <a:srgbClr val="0070C0"/>
              </a:buClr>
              <a:buFont typeface="Wingdings" pitchFamily="2" charset="2"/>
              <a:buChar char="u"/>
            </a:pPr>
            <a:r>
              <a:rPr lang="zh-CN" altLang="en-US" sz="2400" dirty="0">
                <a:latin typeface="微软雅黑" pitchFamily="34" charset="-122"/>
                <a:ea typeface="微软雅黑" pitchFamily="34" charset="-122"/>
              </a:rPr>
              <a:t>在生物体内经</a:t>
            </a:r>
            <a:r>
              <a:rPr lang="zh-CN" altLang="en-US" sz="2400" dirty="0" smtClean="0">
                <a:latin typeface="微软雅黑" pitchFamily="34" charset="-122"/>
                <a:ea typeface="微软雅黑" pitchFamily="34" charset="-122"/>
              </a:rPr>
              <a:t>甲戊羟</a:t>
            </a:r>
            <a:r>
              <a:rPr lang="zh-CN" altLang="en-US" sz="2400" dirty="0">
                <a:latin typeface="微软雅黑" pitchFamily="34" charset="-122"/>
                <a:ea typeface="微软雅黑" pitchFamily="34" charset="-122"/>
              </a:rPr>
              <a:t>酸（</a:t>
            </a:r>
            <a:r>
              <a:rPr lang="en-US" altLang="zh-CN" sz="2400" dirty="0" err="1">
                <a:latin typeface="微软雅黑" pitchFamily="34" charset="-122"/>
                <a:ea typeface="微软雅黑" pitchFamily="34" charset="-122"/>
              </a:rPr>
              <a:t>mevalonic</a:t>
            </a:r>
            <a:r>
              <a:rPr lang="en-US" altLang="zh-CN" sz="2400" dirty="0">
                <a:latin typeface="微软雅黑" pitchFamily="34" charset="-122"/>
                <a:ea typeface="微软雅黑" pitchFamily="34" charset="-122"/>
              </a:rPr>
              <a:t> acid</a:t>
            </a:r>
            <a:r>
              <a:rPr lang="zh-CN" altLang="en-US" sz="2400" dirty="0">
                <a:latin typeface="微软雅黑" pitchFamily="34" charset="-122"/>
                <a:ea typeface="微软雅黑" pitchFamily="34" charset="-122"/>
              </a:rPr>
              <a:t>，</a:t>
            </a:r>
            <a:r>
              <a:rPr lang="en-US" altLang="zh-CN" sz="2400" dirty="0">
                <a:latin typeface="微软雅黑" pitchFamily="34" charset="-122"/>
                <a:ea typeface="微软雅黑" pitchFamily="34" charset="-122"/>
              </a:rPr>
              <a:t>MVA</a:t>
            </a:r>
            <a:r>
              <a:rPr lang="zh-CN" altLang="en-US" sz="2400" dirty="0">
                <a:latin typeface="微软雅黑" pitchFamily="34" charset="-122"/>
                <a:ea typeface="微软雅黑" pitchFamily="34" charset="-122"/>
              </a:rPr>
              <a:t>）途径合成的一类天然产物，骨架碳原子个数一般为</a:t>
            </a:r>
            <a:r>
              <a:rPr lang="en-US" altLang="zh-CN" sz="2400" dirty="0">
                <a:latin typeface="微软雅黑" pitchFamily="34" charset="-122"/>
                <a:ea typeface="微软雅黑" pitchFamily="34" charset="-122"/>
              </a:rPr>
              <a:t>5</a:t>
            </a:r>
            <a:r>
              <a:rPr lang="zh-CN" altLang="en-US" sz="2400" dirty="0">
                <a:latin typeface="微软雅黑" pitchFamily="34" charset="-122"/>
                <a:ea typeface="微软雅黑" pitchFamily="34" charset="-122"/>
              </a:rPr>
              <a:t>的倍数。（</a:t>
            </a:r>
            <a:r>
              <a:rPr lang="zh-CN" altLang="en-US" sz="2400" dirty="0">
                <a:solidFill>
                  <a:srgbClr val="FF0000"/>
                </a:solidFill>
                <a:latin typeface="微软雅黑" pitchFamily="34" charset="-122"/>
                <a:ea typeface="微软雅黑" pitchFamily="34" charset="-122"/>
              </a:rPr>
              <a:t>例外</a:t>
            </a:r>
            <a:r>
              <a:rPr lang="zh-CN" altLang="en-US" sz="2400" dirty="0">
                <a:latin typeface="微软雅黑" pitchFamily="34" charset="-122"/>
                <a:ea typeface="微软雅黑" pitchFamily="34" charset="-122"/>
              </a:rPr>
              <a:t>：细菌中的甲基赤藓糖醇</a:t>
            </a:r>
            <a:r>
              <a:rPr lang="zh-CN" altLang="en-US" sz="2400" dirty="0" smtClean="0">
                <a:latin typeface="微软雅黑" pitchFamily="34" charset="-122"/>
                <a:ea typeface="微软雅黑" pitchFamily="34" charset="-122"/>
              </a:rPr>
              <a:t>磷酸途径</a:t>
            </a:r>
            <a:r>
              <a:rPr lang="en-US" altLang="zh-CN" sz="2400" dirty="0">
                <a:latin typeface="微软雅黑" pitchFamily="34" charset="-122"/>
                <a:ea typeface="微软雅黑" pitchFamily="34" charset="-122"/>
              </a:rPr>
              <a:t>MEP</a:t>
            </a:r>
            <a:r>
              <a:rPr lang="zh-CN" altLang="en-US" sz="2400" dirty="0" smtClean="0">
                <a:latin typeface="微软雅黑" pitchFamily="34" charset="-122"/>
                <a:ea typeface="微软雅黑" pitchFamily="34" charset="-122"/>
              </a:rPr>
              <a:t>）</a:t>
            </a:r>
            <a:endParaRPr lang="zh-CN" altLang="en-US" sz="2400" dirty="0">
              <a:latin typeface="微软雅黑" pitchFamily="34" charset="-122"/>
              <a:ea typeface="微软雅黑" pitchFamily="34" charset="-122"/>
            </a:endParaRPr>
          </a:p>
        </p:txBody>
      </p:sp>
      <p:sp>
        <p:nvSpPr>
          <p:cNvPr id="5" name="标题 1"/>
          <p:cNvSpPr txBox="1">
            <a:spLocks/>
          </p:cNvSpPr>
          <p:nvPr/>
        </p:nvSpPr>
        <p:spPr>
          <a:xfrm>
            <a:off x="426915" y="203165"/>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zh-CN" altLang="en-US" b="1" dirty="0" smtClean="0">
                <a:latin typeface="微软雅黑" pitchFamily="34" charset="-122"/>
                <a:ea typeface="微软雅黑" pitchFamily="34" charset="-122"/>
              </a:rPr>
              <a:t>海洋天然产物基本结构类型</a:t>
            </a:r>
            <a:endParaRPr lang="zh-CN" altLang="en-US" b="1" dirty="0">
              <a:latin typeface="微软雅黑" pitchFamily="34" charset="-122"/>
              <a:ea typeface="微软雅黑" pitchFamily="34" charset="-122"/>
            </a:endParaRPr>
          </a:p>
        </p:txBody>
      </p:sp>
      <p:graphicFrame>
        <p:nvGraphicFramePr>
          <p:cNvPr id="8" name="Object 1"/>
          <p:cNvGraphicFramePr>
            <a:graphicFrameLocks noChangeAspect="1"/>
          </p:cNvGraphicFramePr>
          <p:nvPr>
            <p:extLst>
              <p:ext uri="{D42A27DB-BD31-4B8C-83A1-F6EECF244321}">
                <p14:modId xmlns:p14="http://schemas.microsoft.com/office/powerpoint/2010/main" val="663403586"/>
              </p:ext>
            </p:extLst>
          </p:nvPr>
        </p:nvGraphicFramePr>
        <p:xfrm>
          <a:off x="3035210" y="4797152"/>
          <a:ext cx="3522663" cy="979488"/>
        </p:xfrm>
        <a:graphic>
          <a:graphicData uri="http://schemas.openxmlformats.org/presentationml/2006/ole">
            <mc:AlternateContent xmlns:mc="http://schemas.openxmlformats.org/markup-compatibility/2006">
              <mc:Choice xmlns:v="urn:schemas-microsoft-com:vml" Requires="v">
                <p:oleObj spid="_x0000_s2076" name="CS ChemDraw Drawing" r:id="rId3" imgW="2358801" imgH="655020" progId="ChemDraw.Document.6.0">
                  <p:embed/>
                </p:oleObj>
              </mc:Choice>
              <mc:Fallback>
                <p:oleObj name="CS ChemDraw Drawing" r:id="rId3" imgW="2358801" imgH="655020" progId="ChemDraw.Document.6.0">
                  <p:embed/>
                  <p:pic>
                    <p:nvPicPr>
                      <p:cNvPr id="0" name=""/>
                      <p:cNvPicPr>
                        <a:picLocks noChangeAspect="1" noChangeArrowheads="1"/>
                      </p:cNvPicPr>
                      <p:nvPr/>
                    </p:nvPicPr>
                    <p:blipFill>
                      <a:blip r:embed="rId4"/>
                      <a:srcRect/>
                      <a:stretch>
                        <a:fillRect/>
                      </a:stretch>
                    </p:blipFill>
                    <p:spPr bwMode="auto">
                      <a:xfrm>
                        <a:off x="3035210" y="4797152"/>
                        <a:ext cx="3522663" cy="979488"/>
                      </a:xfrm>
                      <a:prstGeom prst="rect">
                        <a:avLst/>
                      </a:prstGeom>
                      <a:noFill/>
                      <a:ln>
                        <a:noFill/>
                      </a:ln>
                      <a:effectLst/>
                    </p:spPr>
                  </p:pic>
                </p:oleObj>
              </mc:Fallback>
            </mc:AlternateContent>
          </a:graphicData>
        </a:graphic>
      </p:graphicFrame>
      <p:sp>
        <p:nvSpPr>
          <p:cNvPr id="9" name="TextBox 4"/>
          <p:cNvSpPr txBox="1">
            <a:spLocks noChangeArrowheads="1"/>
          </p:cNvSpPr>
          <p:nvPr/>
        </p:nvSpPr>
        <p:spPr bwMode="auto">
          <a:xfrm>
            <a:off x="4139952" y="5949860"/>
            <a:ext cx="131318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2200" dirty="0" smtClean="0">
                <a:latin typeface="微软雅黑" pitchFamily="34" charset="-122"/>
                <a:ea typeface="微软雅黑" pitchFamily="34" charset="-122"/>
              </a:rPr>
              <a:t>甲戊羟</a:t>
            </a:r>
            <a:r>
              <a:rPr lang="zh-CN" altLang="en-US" sz="2200" dirty="0">
                <a:latin typeface="微软雅黑" pitchFamily="34" charset="-122"/>
                <a:ea typeface="微软雅黑" pitchFamily="34" charset="-122"/>
              </a:rPr>
              <a:t>酸</a:t>
            </a:r>
          </a:p>
        </p:txBody>
      </p:sp>
    </p:spTree>
    <p:extLst>
      <p:ext uri="{BB962C8B-B14F-4D97-AF65-F5344CB8AC3E}">
        <p14:creationId xmlns:p14="http://schemas.microsoft.com/office/powerpoint/2010/main" val="12905131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对象 3"/>
          <p:cNvGraphicFramePr>
            <a:graphicFrameLocks noChangeAspect="1"/>
          </p:cNvGraphicFramePr>
          <p:nvPr>
            <p:extLst>
              <p:ext uri="{D42A27DB-BD31-4B8C-83A1-F6EECF244321}">
                <p14:modId xmlns:p14="http://schemas.microsoft.com/office/powerpoint/2010/main" val="357828002"/>
              </p:ext>
            </p:extLst>
          </p:nvPr>
        </p:nvGraphicFramePr>
        <p:xfrm>
          <a:off x="1619672" y="260648"/>
          <a:ext cx="6276975" cy="6221413"/>
        </p:xfrm>
        <a:graphic>
          <a:graphicData uri="http://schemas.openxmlformats.org/presentationml/2006/ole">
            <mc:AlternateContent xmlns:mc="http://schemas.openxmlformats.org/markup-compatibility/2006">
              <mc:Choice xmlns:v="urn:schemas-microsoft-com:vml" Requires="v">
                <p:oleObj spid="_x0000_s9244" name="CS ChemDraw Drawing" r:id="rId3" imgW="6398909" imgH="6974910" progId="ChemDraw.Document.6.0">
                  <p:embed/>
                </p:oleObj>
              </mc:Choice>
              <mc:Fallback>
                <p:oleObj name="CS ChemDraw Drawing" r:id="rId3" imgW="6398909" imgH="6974910" progId="ChemDraw.Document.6.0">
                  <p:embed/>
                  <p:pic>
                    <p:nvPicPr>
                      <p:cNvPr id="0" name="Object 3"/>
                      <p:cNvPicPr>
                        <a:picLocks noChangeAspect="1" noChangeArrowheads="1"/>
                      </p:cNvPicPr>
                      <p:nvPr/>
                    </p:nvPicPr>
                    <p:blipFill>
                      <a:blip r:embed="rId4"/>
                      <a:srcRect/>
                      <a:stretch>
                        <a:fillRect/>
                      </a:stretch>
                    </p:blipFill>
                    <p:spPr bwMode="auto">
                      <a:xfrm>
                        <a:off x="1619672" y="260648"/>
                        <a:ext cx="6276975" cy="6221413"/>
                      </a:xfrm>
                      <a:prstGeom prst="rect">
                        <a:avLst/>
                      </a:prstGeom>
                      <a:noFill/>
                      <a:ln>
                        <a:noFill/>
                      </a:ln>
                      <a:effectLst/>
                    </p:spPr>
                  </p:pic>
                </p:oleObj>
              </mc:Fallback>
            </mc:AlternateContent>
          </a:graphicData>
        </a:graphic>
      </p:graphicFrame>
      <p:sp>
        <p:nvSpPr>
          <p:cNvPr id="7" name="TextBox 6"/>
          <p:cNvSpPr txBox="1"/>
          <p:nvPr/>
        </p:nvSpPr>
        <p:spPr>
          <a:xfrm>
            <a:off x="899592" y="6170495"/>
            <a:ext cx="2592288" cy="461665"/>
          </a:xfrm>
          <a:prstGeom prst="rect">
            <a:avLst/>
          </a:prstGeom>
          <a:noFill/>
        </p:spPr>
        <p:txBody>
          <a:bodyPr wrap="square" rtlCol="0">
            <a:spAutoFit/>
          </a:bodyPr>
          <a:lstStyle/>
          <a:p>
            <a:r>
              <a:rPr lang="en-US" altLang="zh-CN" sz="2400" b="1" dirty="0" smtClean="0">
                <a:latin typeface="微软雅黑" pitchFamily="34" charset="-122"/>
                <a:ea typeface="微软雅黑" pitchFamily="34" charset="-122"/>
              </a:rPr>
              <a:t>MVA</a:t>
            </a:r>
            <a:r>
              <a:rPr lang="zh-CN" altLang="en-US" sz="2400" b="1" dirty="0" smtClean="0">
                <a:latin typeface="微软雅黑" pitchFamily="34" charset="-122"/>
                <a:ea typeface="微软雅黑" pitchFamily="34" charset="-122"/>
              </a:rPr>
              <a:t>生合成途径</a:t>
            </a:r>
            <a:endParaRPr lang="zh-CN" altLang="en-US" sz="2400" b="1" dirty="0">
              <a:latin typeface="微软雅黑" pitchFamily="34" charset="-122"/>
              <a:ea typeface="微软雅黑" pitchFamily="34" charset="-122"/>
            </a:endParaRPr>
          </a:p>
        </p:txBody>
      </p:sp>
      <p:sp>
        <p:nvSpPr>
          <p:cNvPr id="2" name="TextBox 1"/>
          <p:cNvSpPr txBox="1"/>
          <p:nvPr/>
        </p:nvSpPr>
        <p:spPr>
          <a:xfrm>
            <a:off x="6372200" y="1484784"/>
            <a:ext cx="2626040" cy="369332"/>
          </a:xfrm>
          <a:prstGeom prst="rect">
            <a:avLst/>
          </a:prstGeom>
          <a:noFill/>
        </p:spPr>
        <p:txBody>
          <a:bodyPr wrap="none" rtlCol="0">
            <a:spAutoFit/>
          </a:bodyPr>
          <a:lstStyle/>
          <a:p>
            <a:r>
              <a:rPr lang="zh-CN" altLang="zh-CN" dirty="0"/>
              <a:t>羟甲戊二酰辅酶</a:t>
            </a:r>
            <a:r>
              <a:rPr lang="en-US" altLang="zh-CN" dirty="0"/>
              <a:t>A</a:t>
            </a:r>
            <a:r>
              <a:rPr lang="zh-CN" altLang="zh-CN" dirty="0"/>
              <a:t>还原酶</a:t>
            </a:r>
            <a:endParaRPr lang="zh-CN" altLang="en-US" dirty="0"/>
          </a:p>
        </p:txBody>
      </p:sp>
    </p:spTree>
    <p:extLst>
      <p:ext uri="{BB962C8B-B14F-4D97-AF65-F5344CB8AC3E}">
        <p14:creationId xmlns:p14="http://schemas.microsoft.com/office/powerpoint/2010/main" val="226841620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65251" y="1484784"/>
            <a:ext cx="8352928" cy="4067957"/>
          </a:xfrm>
        </p:spPr>
        <p:txBody>
          <a:bodyPr>
            <a:noAutofit/>
          </a:bodyPr>
          <a:lstStyle/>
          <a:p>
            <a:pPr>
              <a:lnSpc>
                <a:spcPts val="5600"/>
              </a:lnSpc>
              <a:buClr>
                <a:srgbClr val="0070C0"/>
              </a:buClr>
              <a:buFont typeface="Wingdings" pitchFamily="2" charset="2"/>
              <a:buChar char="u"/>
            </a:pPr>
            <a:r>
              <a:rPr lang="zh-CN" altLang="en-US" dirty="0" smtClean="0">
                <a:solidFill>
                  <a:srgbClr val="FF0000"/>
                </a:solidFill>
                <a:latin typeface="微软雅黑" pitchFamily="34" charset="-122"/>
                <a:ea typeface="微软雅黑" pitchFamily="34" charset="-122"/>
              </a:rPr>
              <a:t>萜类</a:t>
            </a:r>
            <a:endParaRPr lang="en-US" altLang="zh-CN" dirty="0" smtClean="0">
              <a:solidFill>
                <a:srgbClr val="FF0000"/>
              </a:solidFill>
              <a:latin typeface="微软雅黑" pitchFamily="34" charset="-122"/>
              <a:ea typeface="微软雅黑" pitchFamily="34" charset="-122"/>
            </a:endParaRPr>
          </a:p>
          <a:p>
            <a:pPr>
              <a:buClr>
                <a:srgbClr val="00B0F0"/>
              </a:buClr>
              <a:buFont typeface="Wingdings" pitchFamily="2" charset="2"/>
              <a:buChar char="p"/>
            </a:pPr>
            <a:r>
              <a:rPr lang="zh-CN" altLang="en-US" dirty="0"/>
              <a:t>结构类型：</a:t>
            </a:r>
            <a:r>
              <a:rPr lang="zh-CN" altLang="en-US" dirty="0" smtClean="0"/>
              <a:t>一般</a:t>
            </a:r>
            <a:r>
              <a:rPr lang="zh-CN" altLang="en-US" dirty="0"/>
              <a:t>按照</a:t>
            </a:r>
            <a:r>
              <a:rPr lang="zh-CN" altLang="en-US" dirty="0" smtClean="0"/>
              <a:t>结构中异戊二烯</a:t>
            </a:r>
            <a:r>
              <a:rPr lang="zh-CN" altLang="en-US" dirty="0"/>
              <a:t>单元的数量和成环数量分类和</a:t>
            </a:r>
            <a:r>
              <a:rPr lang="zh-CN" altLang="en-US" dirty="0" smtClean="0"/>
              <a:t>命名，如三环二萜、五环三萜等</a:t>
            </a:r>
            <a:endParaRPr lang="en-US" altLang="zh-CN" dirty="0"/>
          </a:p>
          <a:p>
            <a:pPr>
              <a:buClr>
                <a:srgbClr val="00B0F0"/>
              </a:buClr>
              <a:buFont typeface="Wingdings" pitchFamily="2" charset="2"/>
              <a:buChar char="p"/>
            </a:pPr>
            <a:r>
              <a:rPr lang="zh-CN" altLang="en-US" dirty="0"/>
              <a:t>异戊二烯单元数量：单萜（</a:t>
            </a:r>
            <a:r>
              <a:rPr lang="en-US" altLang="zh-CN" dirty="0"/>
              <a:t>2</a:t>
            </a:r>
            <a:r>
              <a:rPr lang="zh-CN" altLang="en-US" dirty="0"/>
              <a:t>个）、倍半萜（</a:t>
            </a:r>
            <a:r>
              <a:rPr lang="en-US" altLang="zh-CN" dirty="0"/>
              <a:t>3</a:t>
            </a:r>
            <a:r>
              <a:rPr lang="zh-CN" altLang="en-US" dirty="0"/>
              <a:t>个）、二萜（</a:t>
            </a:r>
            <a:r>
              <a:rPr lang="en-US" altLang="zh-CN" dirty="0"/>
              <a:t>4</a:t>
            </a:r>
            <a:r>
              <a:rPr lang="zh-CN" altLang="en-US" dirty="0"/>
              <a:t>个）、二倍半萜（</a:t>
            </a:r>
            <a:r>
              <a:rPr lang="en-US" altLang="zh-CN" dirty="0"/>
              <a:t>5</a:t>
            </a:r>
            <a:r>
              <a:rPr lang="zh-CN" altLang="en-US" dirty="0"/>
              <a:t>个）、三萜（</a:t>
            </a:r>
            <a:r>
              <a:rPr lang="en-US" altLang="zh-CN" dirty="0"/>
              <a:t>6</a:t>
            </a:r>
            <a:r>
              <a:rPr lang="zh-CN" altLang="en-US" dirty="0"/>
              <a:t>个）</a:t>
            </a:r>
            <a:endParaRPr lang="en-US" altLang="zh-CN" dirty="0"/>
          </a:p>
        </p:txBody>
      </p:sp>
      <p:sp>
        <p:nvSpPr>
          <p:cNvPr id="5" name="标题 1"/>
          <p:cNvSpPr txBox="1">
            <a:spLocks/>
          </p:cNvSpPr>
          <p:nvPr/>
        </p:nvSpPr>
        <p:spPr>
          <a:xfrm>
            <a:off x="426915" y="203165"/>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zh-CN" altLang="en-US" b="1" dirty="0" smtClean="0">
                <a:latin typeface="微软雅黑" pitchFamily="34" charset="-122"/>
                <a:ea typeface="微软雅黑" pitchFamily="34" charset="-122"/>
              </a:rPr>
              <a:t>海洋天然产物基本结构类型</a:t>
            </a:r>
            <a:endParaRPr lang="zh-CN" altLang="en-US" b="1" dirty="0">
              <a:latin typeface="微软雅黑" pitchFamily="34" charset="-122"/>
              <a:ea typeface="微软雅黑" pitchFamily="34" charset="-122"/>
            </a:endParaRPr>
          </a:p>
        </p:txBody>
      </p:sp>
    </p:spTree>
    <p:extLst>
      <p:ext uri="{BB962C8B-B14F-4D97-AF65-F5344CB8AC3E}">
        <p14:creationId xmlns:p14="http://schemas.microsoft.com/office/powerpoint/2010/main" val="321328293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72733" y="2103790"/>
            <a:ext cx="1569660" cy="369332"/>
          </a:xfrm>
          <a:prstGeom prst="rect">
            <a:avLst/>
          </a:prstGeom>
          <a:noFill/>
        </p:spPr>
        <p:txBody>
          <a:bodyPr wrap="none" rtlCol="0">
            <a:spAutoFit/>
          </a:bodyPr>
          <a:lstStyle/>
          <a:p>
            <a:r>
              <a:rPr lang="zh-CN" altLang="en-US" b="1" dirty="0" smtClean="0">
                <a:latin typeface="微软雅黑" pitchFamily="34" charset="-122"/>
                <a:ea typeface="微软雅黑" pitchFamily="34" charset="-122"/>
              </a:rPr>
              <a:t>薄荷醇，</a:t>
            </a:r>
            <a:r>
              <a:rPr lang="zh-CN" altLang="en-US" dirty="0" smtClean="0">
                <a:solidFill>
                  <a:srgbClr val="FF00FF"/>
                </a:solidFill>
                <a:latin typeface="微软雅黑" pitchFamily="34" charset="-122"/>
                <a:ea typeface="微软雅黑" pitchFamily="34" charset="-122"/>
              </a:rPr>
              <a:t>单萜</a:t>
            </a:r>
            <a:endParaRPr lang="zh-CN" altLang="en-US" dirty="0">
              <a:solidFill>
                <a:srgbClr val="FF00FF"/>
              </a:solidFill>
              <a:latin typeface="微软雅黑" pitchFamily="34" charset="-122"/>
              <a:ea typeface="微软雅黑" pitchFamily="34" charset="-122"/>
            </a:endParaRPr>
          </a:p>
        </p:txBody>
      </p:sp>
      <p:sp>
        <p:nvSpPr>
          <p:cNvPr id="8" name="TextBox 7"/>
          <p:cNvSpPr txBox="1"/>
          <p:nvPr/>
        </p:nvSpPr>
        <p:spPr>
          <a:xfrm>
            <a:off x="2673225" y="2103623"/>
            <a:ext cx="2031325" cy="646331"/>
          </a:xfrm>
          <a:prstGeom prst="rect">
            <a:avLst/>
          </a:prstGeom>
          <a:noFill/>
        </p:spPr>
        <p:txBody>
          <a:bodyPr wrap="none" rtlCol="0">
            <a:spAutoFit/>
          </a:bodyPr>
          <a:lstStyle/>
          <a:p>
            <a:r>
              <a:rPr lang="zh-CN" altLang="en-US" b="1" dirty="0" smtClean="0">
                <a:latin typeface="微软雅黑" pitchFamily="34" charset="-122"/>
                <a:ea typeface="微软雅黑" pitchFamily="34" charset="-122"/>
              </a:rPr>
              <a:t>脱落酸</a:t>
            </a:r>
            <a:r>
              <a:rPr lang="zh-CN" altLang="en-US" dirty="0" smtClean="0">
                <a:latin typeface="微软雅黑" pitchFamily="34" charset="-122"/>
                <a:ea typeface="微软雅黑" pitchFamily="34" charset="-122"/>
              </a:rPr>
              <a:t>，</a:t>
            </a:r>
            <a:r>
              <a:rPr lang="zh-CN" altLang="en-US" dirty="0" smtClean="0">
                <a:solidFill>
                  <a:srgbClr val="FF00FF"/>
                </a:solidFill>
                <a:latin typeface="微软雅黑" pitchFamily="34" charset="-122"/>
                <a:ea typeface="微软雅黑" pitchFamily="34" charset="-122"/>
              </a:rPr>
              <a:t>倍半萜</a:t>
            </a:r>
            <a:r>
              <a:rPr lang="zh-CN" altLang="en-US" dirty="0" smtClean="0">
                <a:latin typeface="微软雅黑" pitchFamily="34" charset="-122"/>
                <a:ea typeface="微软雅黑" pitchFamily="34" charset="-122"/>
              </a:rPr>
              <a:t>，</a:t>
            </a:r>
            <a:endParaRPr lang="en-US" altLang="zh-CN" dirty="0" smtClean="0">
              <a:latin typeface="微软雅黑" pitchFamily="34" charset="-122"/>
              <a:ea typeface="微软雅黑" pitchFamily="34" charset="-122"/>
            </a:endParaRPr>
          </a:p>
          <a:p>
            <a:r>
              <a:rPr lang="zh-CN" altLang="en-US" dirty="0" smtClean="0">
                <a:latin typeface="微软雅黑" pitchFamily="34" charset="-122"/>
                <a:ea typeface="微软雅黑" pitchFamily="34" charset="-122"/>
              </a:rPr>
              <a:t>植物激素</a:t>
            </a:r>
            <a:endParaRPr lang="zh-CN" altLang="en-US" dirty="0">
              <a:latin typeface="微软雅黑" pitchFamily="34" charset="-122"/>
              <a:ea typeface="微软雅黑" pitchFamily="34" charset="-122"/>
            </a:endParaRPr>
          </a:p>
        </p:txBody>
      </p:sp>
      <p:sp>
        <p:nvSpPr>
          <p:cNvPr id="14" name="TextBox 13"/>
          <p:cNvSpPr txBox="1"/>
          <p:nvPr/>
        </p:nvSpPr>
        <p:spPr>
          <a:xfrm>
            <a:off x="3355462" y="6082057"/>
            <a:ext cx="2698175" cy="523220"/>
          </a:xfrm>
          <a:prstGeom prst="rect">
            <a:avLst/>
          </a:prstGeom>
          <a:noFill/>
        </p:spPr>
        <p:txBody>
          <a:bodyPr wrap="none" rtlCol="0">
            <a:spAutoFit/>
          </a:bodyPr>
          <a:lstStyle/>
          <a:p>
            <a:r>
              <a:rPr lang="zh-CN" altLang="en-US" sz="2800" dirty="0" smtClean="0">
                <a:solidFill>
                  <a:srgbClr val="0000FF"/>
                </a:solidFill>
                <a:latin typeface="微软雅黑" pitchFamily="34" charset="-122"/>
                <a:ea typeface="微软雅黑" pitchFamily="34" charset="-122"/>
              </a:rPr>
              <a:t>常见萜类化合物</a:t>
            </a:r>
            <a:endParaRPr lang="zh-CN" altLang="en-US" sz="2800" dirty="0">
              <a:solidFill>
                <a:srgbClr val="0000FF"/>
              </a:solidFill>
              <a:latin typeface="微软雅黑" pitchFamily="34" charset="-122"/>
              <a:ea typeface="微软雅黑" pitchFamily="34" charset="-122"/>
            </a:endParaRPr>
          </a:p>
        </p:txBody>
      </p:sp>
      <p:graphicFrame>
        <p:nvGraphicFramePr>
          <p:cNvPr id="15" name="对象 14"/>
          <p:cNvGraphicFramePr>
            <a:graphicFrameLocks noChangeAspect="1"/>
          </p:cNvGraphicFramePr>
          <p:nvPr>
            <p:extLst>
              <p:ext uri="{D42A27DB-BD31-4B8C-83A1-F6EECF244321}">
                <p14:modId xmlns:p14="http://schemas.microsoft.com/office/powerpoint/2010/main" val="3107340279"/>
              </p:ext>
            </p:extLst>
          </p:nvPr>
        </p:nvGraphicFramePr>
        <p:xfrm>
          <a:off x="876049" y="476250"/>
          <a:ext cx="1384300" cy="1568450"/>
        </p:xfrm>
        <a:graphic>
          <a:graphicData uri="http://schemas.openxmlformats.org/presentationml/2006/ole">
            <mc:AlternateContent xmlns:mc="http://schemas.openxmlformats.org/markup-compatibility/2006">
              <mc:Choice xmlns:v="urn:schemas-microsoft-com:vml" Requires="v">
                <p:oleObj spid="_x0000_s3245" name="CS ChemDraw Drawing" r:id="rId3" imgW="994900" imgH="1127250" progId="ChemDraw.Document.6.0">
                  <p:embed/>
                </p:oleObj>
              </mc:Choice>
              <mc:Fallback>
                <p:oleObj name="CS ChemDraw Drawing" r:id="rId3" imgW="994900" imgH="1127250" progId="ChemDraw.Document.6.0">
                  <p:embed/>
                  <p:pic>
                    <p:nvPicPr>
                      <p:cNvPr id="0" name=""/>
                      <p:cNvPicPr/>
                      <p:nvPr/>
                    </p:nvPicPr>
                    <p:blipFill>
                      <a:blip r:embed="rId4"/>
                      <a:stretch>
                        <a:fillRect/>
                      </a:stretch>
                    </p:blipFill>
                    <p:spPr>
                      <a:xfrm>
                        <a:off x="876049" y="476250"/>
                        <a:ext cx="1384300" cy="1568450"/>
                      </a:xfrm>
                      <a:prstGeom prst="rect">
                        <a:avLst/>
                      </a:prstGeom>
                    </p:spPr>
                  </p:pic>
                </p:oleObj>
              </mc:Fallback>
            </mc:AlternateContent>
          </a:graphicData>
        </a:graphic>
      </p:graphicFrame>
      <p:graphicFrame>
        <p:nvGraphicFramePr>
          <p:cNvPr id="16" name="对象 15"/>
          <p:cNvGraphicFramePr>
            <a:graphicFrameLocks noChangeAspect="1"/>
          </p:cNvGraphicFramePr>
          <p:nvPr>
            <p:extLst>
              <p:ext uri="{D42A27DB-BD31-4B8C-83A1-F6EECF244321}">
                <p14:modId xmlns:p14="http://schemas.microsoft.com/office/powerpoint/2010/main" val="1431111255"/>
              </p:ext>
            </p:extLst>
          </p:nvPr>
        </p:nvGraphicFramePr>
        <p:xfrm>
          <a:off x="2445774" y="620688"/>
          <a:ext cx="2535634" cy="1152128"/>
        </p:xfrm>
        <a:graphic>
          <a:graphicData uri="http://schemas.openxmlformats.org/presentationml/2006/ole">
            <mc:AlternateContent xmlns:mc="http://schemas.openxmlformats.org/markup-compatibility/2006">
              <mc:Choice xmlns:v="urn:schemas-microsoft-com:vml" Requires="v">
                <p:oleObj spid="_x0000_s3246" name="CS ChemDraw Drawing" r:id="rId5" imgW="1688061" imgH="766260" progId="ChemDraw.Document.6.0">
                  <p:embed/>
                </p:oleObj>
              </mc:Choice>
              <mc:Fallback>
                <p:oleObj name="CS ChemDraw Drawing" r:id="rId5" imgW="1688061" imgH="766260" progId="ChemDraw.Document.6.0">
                  <p:embed/>
                  <p:pic>
                    <p:nvPicPr>
                      <p:cNvPr id="0" name=""/>
                      <p:cNvPicPr/>
                      <p:nvPr/>
                    </p:nvPicPr>
                    <p:blipFill>
                      <a:blip r:embed="rId6"/>
                      <a:stretch>
                        <a:fillRect/>
                      </a:stretch>
                    </p:blipFill>
                    <p:spPr>
                      <a:xfrm>
                        <a:off x="2445774" y="620688"/>
                        <a:ext cx="2535634" cy="1152128"/>
                      </a:xfrm>
                      <a:prstGeom prst="rect">
                        <a:avLst/>
                      </a:prstGeom>
                    </p:spPr>
                  </p:pic>
                </p:oleObj>
              </mc:Fallback>
            </mc:AlternateContent>
          </a:graphicData>
        </a:graphic>
      </p:graphicFrame>
      <p:graphicFrame>
        <p:nvGraphicFramePr>
          <p:cNvPr id="17" name="对象 16"/>
          <p:cNvGraphicFramePr>
            <a:graphicFrameLocks noChangeAspect="1"/>
          </p:cNvGraphicFramePr>
          <p:nvPr>
            <p:extLst>
              <p:ext uri="{D42A27DB-BD31-4B8C-83A1-F6EECF244321}">
                <p14:modId xmlns:p14="http://schemas.microsoft.com/office/powerpoint/2010/main" val="4237508475"/>
              </p:ext>
            </p:extLst>
          </p:nvPr>
        </p:nvGraphicFramePr>
        <p:xfrm>
          <a:off x="5208588" y="557213"/>
          <a:ext cx="3703637" cy="1182687"/>
        </p:xfrm>
        <a:graphic>
          <a:graphicData uri="http://schemas.openxmlformats.org/presentationml/2006/ole">
            <mc:AlternateContent xmlns:mc="http://schemas.openxmlformats.org/markup-compatibility/2006">
              <mc:Choice xmlns:v="urn:schemas-microsoft-com:vml" Requires="v">
                <p:oleObj spid="_x0000_s3247" name="CS ChemDraw Drawing" r:id="rId7" imgW="2134861" imgH="680940" progId="ChemDraw.Document.6.0">
                  <p:embed/>
                </p:oleObj>
              </mc:Choice>
              <mc:Fallback>
                <p:oleObj name="CS ChemDraw Drawing" r:id="rId7" imgW="2134861" imgH="680940" progId="ChemDraw.Document.6.0">
                  <p:embed/>
                  <p:pic>
                    <p:nvPicPr>
                      <p:cNvPr id="0" name=""/>
                      <p:cNvPicPr/>
                      <p:nvPr/>
                    </p:nvPicPr>
                    <p:blipFill>
                      <a:blip r:embed="rId8"/>
                      <a:stretch>
                        <a:fillRect/>
                      </a:stretch>
                    </p:blipFill>
                    <p:spPr>
                      <a:xfrm>
                        <a:off x="5208588" y="557213"/>
                        <a:ext cx="3703637" cy="1182687"/>
                      </a:xfrm>
                      <a:prstGeom prst="rect">
                        <a:avLst/>
                      </a:prstGeom>
                    </p:spPr>
                  </p:pic>
                </p:oleObj>
              </mc:Fallback>
            </mc:AlternateContent>
          </a:graphicData>
        </a:graphic>
      </p:graphicFrame>
      <p:sp>
        <p:nvSpPr>
          <p:cNvPr id="18" name="TextBox 17"/>
          <p:cNvSpPr txBox="1"/>
          <p:nvPr/>
        </p:nvSpPr>
        <p:spPr>
          <a:xfrm>
            <a:off x="5364088" y="2103790"/>
            <a:ext cx="2896947" cy="369332"/>
          </a:xfrm>
          <a:prstGeom prst="rect">
            <a:avLst/>
          </a:prstGeom>
          <a:noFill/>
        </p:spPr>
        <p:txBody>
          <a:bodyPr wrap="none" rtlCol="0">
            <a:spAutoFit/>
          </a:bodyPr>
          <a:lstStyle/>
          <a:p>
            <a:r>
              <a:rPr lang="zh-CN" altLang="en-US" b="1" dirty="0" smtClean="0">
                <a:latin typeface="微软雅黑" pitchFamily="34" charset="-122"/>
                <a:ea typeface="微软雅黑" pitchFamily="34" charset="-122"/>
              </a:rPr>
              <a:t>维生素</a:t>
            </a:r>
            <a:r>
              <a:rPr lang="en-US" altLang="zh-CN" b="1" dirty="0" smtClean="0">
                <a:latin typeface="微软雅黑" pitchFamily="34" charset="-122"/>
                <a:ea typeface="微软雅黑" pitchFamily="34" charset="-122"/>
              </a:rPr>
              <a:t>A</a:t>
            </a:r>
            <a:r>
              <a:rPr lang="zh-CN" altLang="en-US" b="1" dirty="0" smtClean="0">
                <a:latin typeface="微软雅黑" pitchFamily="34" charset="-122"/>
                <a:ea typeface="微软雅黑" pitchFamily="34" charset="-122"/>
              </a:rPr>
              <a:t>（视黄醇），</a:t>
            </a:r>
            <a:r>
              <a:rPr lang="zh-CN" altLang="en-US" dirty="0" smtClean="0">
                <a:solidFill>
                  <a:srgbClr val="FF00FF"/>
                </a:solidFill>
                <a:latin typeface="微软雅黑" pitchFamily="34" charset="-122"/>
                <a:ea typeface="微软雅黑" pitchFamily="34" charset="-122"/>
              </a:rPr>
              <a:t>二萜</a:t>
            </a:r>
            <a:endParaRPr lang="zh-CN" altLang="en-US" dirty="0">
              <a:solidFill>
                <a:srgbClr val="FF00FF"/>
              </a:solidFill>
              <a:latin typeface="微软雅黑" pitchFamily="34" charset="-122"/>
              <a:ea typeface="微软雅黑" pitchFamily="34" charset="-122"/>
            </a:endParaRPr>
          </a:p>
        </p:txBody>
      </p:sp>
      <p:graphicFrame>
        <p:nvGraphicFramePr>
          <p:cNvPr id="19" name="对象 18"/>
          <p:cNvGraphicFramePr>
            <a:graphicFrameLocks noChangeAspect="1"/>
          </p:cNvGraphicFramePr>
          <p:nvPr>
            <p:extLst>
              <p:ext uri="{D42A27DB-BD31-4B8C-83A1-F6EECF244321}">
                <p14:modId xmlns:p14="http://schemas.microsoft.com/office/powerpoint/2010/main" val="2157468288"/>
              </p:ext>
            </p:extLst>
          </p:nvPr>
        </p:nvGraphicFramePr>
        <p:xfrm>
          <a:off x="1331640" y="3356992"/>
          <a:ext cx="3254375" cy="2176462"/>
        </p:xfrm>
        <a:graphic>
          <a:graphicData uri="http://schemas.openxmlformats.org/presentationml/2006/ole">
            <mc:AlternateContent xmlns:mc="http://schemas.openxmlformats.org/markup-compatibility/2006">
              <mc:Choice xmlns:v="urn:schemas-microsoft-com:vml" Requires="v">
                <p:oleObj spid="_x0000_s3248" name="CS ChemDraw Drawing" r:id="rId9" imgW="3352620" imgH="2242890" progId="ChemDraw.Document.6.0">
                  <p:embed/>
                </p:oleObj>
              </mc:Choice>
              <mc:Fallback>
                <p:oleObj name="CS ChemDraw Drawing" r:id="rId9" imgW="3352620" imgH="2242890" progId="ChemDraw.Document.6.0">
                  <p:embed/>
                  <p:pic>
                    <p:nvPicPr>
                      <p:cNvPr id="0" name="对象 3"/>
                      <p:cNvPicPr>
                        <a:picLocks noChangeAspect="1" noChangeArrowheads="1"/>
                      </p:cNvPicPr>
                      <p:nvPr/>
                    </p:nvPicPr>
                    <p:blipFill>
                      <a:blip r:embed="rId10"/>
                      <a:srcRect/>
                      <a:stretch>
                        <a:fillRect/>
                      </a:stretch>
                    </p:blipFill>
                    <p:spPr bwMode="auto">
                      <a:xfrm>
                        <a:off x="1331640" y="3356992"/>
                        <a:ext cx="3254375" cy="2176462"/>
                      </a:xfrm>
                      <a:prstGeom prst="rect">
                        <a:avLst/>
                      </a:prstGeom>
                      <a:noFill/>
                      <a:ln w="9525">
                        <a:noFill/>
                        <a:miter lim="800000"/>
                        <a:headEnd/>
                        <a:tailEnd/>
                      </a:ln>
                    </p:spPr>
                  </p:pic>
                </p:oleObj>
              </mc:Fallback>
            </mc:AlternateContent>
          </a:graphicData>
        </a:graphic>
      </p:graphicFrame>
      <p:graphicFrame>
        <p:nvGraphicFramePr>
          <p:cNvPr id="20" name="对象 19"/>
          <p:cNvGraphicFramePr>
            <a:graphicFrameLocks noChangeAspect="1"/>
          </p:cNvGraphicFramePr>
          <p:nvPr>
            <p:extLst>
              <p:ext uri="{D42A27DB-BD31-4B8C-83A1-F6EECF244321}">
                <p14:modId xmlns:p14="http://schemas.microsoft.com/office/powerpoint/2010/main" val="3495630359"/>
              </p:ext>
            </p:extLst>
          </p:nvPr>
        </p:nvGraphicFramePr>
        <p:xfrm>
          <a:off x="4860032" y="3284984"/>
          <a:ext cx="3603244" cy="2304256"/>
        </p:xfrm>
        <a:graphic>
          <a:graphicData uri="http://schemas.openxmlformats.org/presentationml/2006/ole">
            <mc:AlternateContent xmlns:mc="http://schemas.openxmlformats.org/markup-compatibility/2006">
              <mc:Choice xmlns:v="urn:schemas-microsoft-com:vml" Requires="v">
                <p:oleObj spid="_x0000_s3249" name="CS ChemDraw Drawing" r:id="rId11" imgW="2765891" imgH="1768770" progId="ChemDraw.Document.6.0">
                  <p:embed/>
                </p:oleObj>
              </mc:Choice>
              <mc:Fallback>
                <p:oleObj name="CS ChemDraw Drawing" r:id="rId11" imgW="2765891" imgH="1768770" progId="ChemDraw.Document.6.0">
                  <p:embed/>
                  <p:pic>
                    <p:nvPicPr>
                      <p:cNvPr id="0" name=""/>
                      <p:cNvPicPr/>
                      <p:nvPr/>
                    </p:nvPicPr>
                    <p:blipFill>
                      <a:blip r:embed="rId12"/>
                      <a:stretch>
                        <a:fillRect/>
                      </a:stretch>
                    </p:blipFill>
                    <p:spPr>
                      <a:xfrm>
                        <a:off x="4860032" y="3284984"/>
                        <a:ext cx="3603244" cy="2304256"/>
                      </a:xfrm>
                      <a:prstGeom prst="rect">
                        <a:avLst/>
                      </a:prstGeom>
                    </p:spPr>
                  </p:pic>
                </p:oleObj>
              </mc:Fallback>
            </mc:AlternateContent>
          </a:graphicData>
        </a:graphic>
      </p:graphicFrame>
      <p:sp>
        <p:nvSpPr>
          <p:cNvPr id="22" name="TextBox 21"/>
          <p:cNvSpPr txBox="1"/>
          <p:nvPr/>
        </p:nvSpPr>
        <p:spPr>
          <a:xfrm>
            <a:off x="1888395" y="5661248"/>
            <a:ext cx="2031325" cy="369332"/>
          </a:xfrm>
          <a:prstGeom prst="rect">
            <a:avLst/>
          </a:prstGeom>
          <a:noFill/>
        </p:spPr>
        <p:txBody>
          <a:bodyPr wrap="none" rtlCol="0">
            <a:spAutoFit/>
          </a:bodyPr>
          <a:lstStyle/>
          <a:p>
            <a:r>
              <a:rPr lang="zh-CN" altLang="en-US" b="1" dirty="0" smtClean="0">
                <a:latin typeface="微软雅黑" pitchFamily="34" charset="-122"/>
                <a:ea typeface="微软雅黑" pitchFamily="34" charset="-122"/>
              </a:rPr>
              <a:t>角鲨烯，</a:t>
            </a:r>
            <a:r>
              <a:rPr lang="zh-CN" altLang="en-US" b="1" dirty="0" smtClean="0">
                <a:solidFill>
                  <a:srgbClr val="FF00FF"/>
                </a:solidFill>
                <a:latin typeface="微软雅黑" pitchFamily="34" charset="-122"/>
                <a:ea typeface="微软雅黑" pitchFamily="34" charset="-122"/>
              </a:rPr>
              <a:t>线型三</a:t>
            </a:r>
            <a:r>
              <a:rPr lang="zh-CN" altLang="en-US" dirty="0" smtClean="0">
                <a:solidFill>
                  <a:srgbClr val="FF00FF"/>
                </a:solidFill>
                <a:latin typeface="微软雅黑" pitchFamily="34" charset="-122"/>
                <a:ea typeface="微软雅黑" pitchFamily="34" charset="-122"/>
              </a:rPr>
              <a:t>萜</a:t>
            </a:r>
            <a:endParaRPr lang="zh-CN" altLang="en-US" dirty="0">
              <a:solidFill>
                <a:srgbClr val="FF00FF"/>
              </a:solidFill>
              <a:latin typeface="微软雅黑" pitchFamily="34" charset="-122"/>
              <a:ea typeface="微软雅黑" pitchFamily="34" charset="-122"/>
            </a:endParaRPr>
          </a:p>
        </p:txBody>
      </p:sp>
      <p:sp>
        <p:nvSpPr>
          <p:cNvPr id="23" name="TextBox 22"/>
          <p:cNvSpPr txBox="1"/>
          <p:nvPr/>
        </p:nvSpPr>
        <p:spPr>
          <a:xfrm>
            <a:off x="5364951" y="5712725"/>
            <a:ext cx="2492990" cy="369332"/>
          </a:xfrm>
          <a:prstGeom prst="rect">
            <a:avLst/>
          </a:prstGeom>
          <a:noFill/>
        </p:spPr>
        <p:txBody>
          <a:bodyPr wrap="none" rtlCol="0">
            <a:spAutoFit/>
          </a:bodyPr>
          <a:lstStyle/>
          <a:p>
            <a:r>
              <a:rPr lang="zh-CN" altLang="en-US" b="1" dirty="0">
                <a:latin typeface="微软雅黑" pitchFamily="34" charset="-122"/>
                <a:ea typeface="微软雅黑" pitchFamily="34" charset="-122"/>
              </a:rPr>
              <a:t>人参皂苷</a:t>
            </a:r>
            <a:r>
              <a:rPr lang="zh-CN" altLang="en-US" b="1" dirty="0" smtClean="0">
                <a:latin typeface="微软雅黑" pitchFamily="34" charset="-122"/>
                <a:ea typeface="微软雅黑" pitchFamily="34" charset="-122"/>
              </a:rPr>
              <a:t>元，</a:t>
            </a:r>
            <a:r>
              <a:rPr lang="zh-CN" altLang="en-US" b="1" dirty="0" smtClean="0">
                <a:solidFill>
                  <a:srgbClr val="FF00FF"/>
                </a:solidFill>
                <a:latin typeface="微软雅黑" pitchFamily="34" charset="-122"/>
                <a:ea typeface="微软雅黑" pitchFamily="34" charset="-122"/>
              </a:rPr>
              <a:t>四环三</a:t>
            </a:r>
            <a:r>
              <a:rPr lang="zh-CN" altLang="en-US" dirty="0" smtClean="0">
                <a:solidFill>
                  <a:srgbClr val="FF00FF"/>
                </a:solidFill>
                <a:latin typeface="微软雅黑" pitchFamily="34" charset="-122"/>
                <a:ea typeface="微软雅黑" pitchFamily="34" charset="-122"/>
              </a:rPr>
              <a:t>萜</a:t>
            </a:r>
            <a:endParaRPr lang="zh-CN" altLang="en-US" dirty="0">
              <a:solidFill>
                <a:srgbClr val="FF00FF"/>
              </a:solidFill>
              <a:latin typeface="微软雅黑" pitchFamily="34" charset="-122"/>
              <a:ea typeface="微软雅黑" pitchFamily="34" charset="-122"/>
            </a:endParaRPr>
          </a:p>
        </p:txBody>
      </p:sp>
    </p:spTree>
    <p:extLst>
      <p:ext uri="{BB962C8B-B14F-4D97-AF65-F5344CB8AC3E}">
        <p14:creationId xmlns:p14="http://schemas.microsoft.com/office/powerpoint/2010/main" val="99419488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323528" y="4509120"/>
            <a:ext cx="2698175" cy="523220"/>
          </a:xfrm>
          <a:prstGeom prst="rect">
            <a:avLst/>
          </a:prstGeom>
          <a:noFill/>
        </p:spPr>
        <p:txBody>
          <a:bodyPr wrap="none" rtlCol="0">
            <a:spAutoFit/>
          </a:bodyPr>
          <a:lstStyle/>
          <a:p>
            <a:r>
              <a:rPr lang="zh-CN" altLang="en-US" sz="2800" dirty="0" smtClean="0">
                <a:solidFill>
                  <a:srgbClr val="0000FF"/>
                </a:solidFill>
                <a:latin typeface="微软雅黑" pitchFamily="34" charset="-122"/>
                <a:ea typeface="微软雅黑" pitchFamily="34" charset="-122"/>
              </a:rPr>
              <a:t>常见萜类化合物</a:t>
            </a:r>
            <a:endParaRPr lang="zh-CN" altLang="en-US" sz="2800" dirty="0">
              <a:solidFill>
                <a:srgbClr val="0000FF"/>
              </a:solidFill>
              <a:latin typeface="微软雅黑" pitchFamily="34" charset="-122"/>
              <a:ea typeface="微软雅黑" pitchFamily="34" charset="-122"/>
            </a:endParaRPr>
          </a:p>
        </p:txBody>
      </p:sp>
      <p:sp>
        <p:nvSpPr>
          <p:cNvPr id="23" name="TextBox 22"/>
          <p:cNvSpPr txBox="1"/>
          <p:nvPr/>
        </p:nvSpPr>
        <p:spPr>
          <a:xfrm>
            <a:off x="323528" y="3209942"/>
            <a:ext cx="2031325" cy="369332"/>
          </a:xfrm>
          <a:prstGeom prst="rect">
            <a:avLst/>
          </a:prstGeom>
          <a:noFill/>
        </p:spPr>
        <p:txBody>
          <a:bodyPr wrap="none" rtlCol="0">
            <a:spAutoFit/>
          </a:bodyPr>
          <a:lstStyle/>
          <a:p>
            <a:r>
              <a:rPr lang="zh-CN" altLang="en-US" b="1" dirty="0" smtClean="0">
                <a:latin typeface="微软雅黑" pitchFamily="34" charset="-122"/>
                <a:ea typeface="微软雅黑" pitchFamily="34" charset="-122"/>
              </a:rPr>
              <a:t>类胡萝卜素，</a:t>
            </a:r>
            <a:r>
              <a:rPr lang="zh-CN" altLang="en-US" b="1" dirty="0" smtClean="0">
                <a:solidFill>
                  <a:srgbClr val="FF00FF"/>
                </a:solidFill>
                <a:latin typeface="微软雅黑" pitchFamily="34" charset="-122"/>
                <a:ea typeface="微软雅黑" pitchFamily="34" charset="-122"/>
              </a:rPr>
              <a:t>四萜</a:t>
            </a:r>
            <a:endParaRPr lang="zh-CN" altLang="en-US" dirty="0">
              <a:solidFill>
                <a:srgbClr val="FF00FF"/>
              </a:solidFill>
              <a:latin typeface="微软雅黑" pitchFamily="34" charset="-122"/>
              <a:ea typeface="微软雅黑" pitchFamily="34" charset="-122"/>
            </a:endParaRPr>
          </a:p>
        </p:txBody>
      </p:sp>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19974" y="128535"/>
            <a:ext cx="5267325" cy="626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8406528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65251" y="1484784"/>
            <a:ext cx="8352928" cy="4968552"/>
          </a:xfrm>
        </p:spPr>
        <p:txBody>
          <a:bodyPr>
            <a:noAutofit/>
          </a:bodyPr>
          <a:lstStyle/>
          <a:p>
            <a:pPr>
              <a:lnSpc>
                <a:spcPts val="5600"/>
              </a:lnSpc>
              <a:buClr>
                <a:srgbClr val="0070C0"/>
              </a:buClr>
              <a:buFont typeface="Wingdings" pitchFamily="2" charset="2"/>
              <a:buChar char="u"/>
            </a:pPr>
            <a:r>
              <a:rPr lang="zh-CN" altLang="en-US" dirty="0" smtClean="0">
                <a:solidFill>
                  <a:srgbClr val="FF0000"/>
                </a:solidFill>
                <a:latin typeface="微软雅黑" pitchFamily="34" charset="-122"/>
                <a:ea typeface="微软雅黑" pitchFamily="34" charset="-122"/>
              </a:rPr>
              <a:t>海洋萜类</a:t>
            </a:r>
            <a:endParaRPr lang="en-US" altLang="zh-CN" dirty="0" smtClean="0">
              <a:solidFill>
                <a:srgbClr val="FF0000"/>
              </a:solidFill>
              <a:latin typeface="微软雅黑" pitchFamily="34" charset="-122"/>
              <a:ea typeface="微软雅黑" pitchFamily="34" charset="-122"/>
            </a:endParaRPr>
          </a:p>
          <a:p>
            <a:pPr>
              <a:buClr>
                <a:srgbClr val="00B0F0"/>
              </a:buClr>
              <a:buFont typeface="Wingdings" pitchFamily="2" charset="2"/>
              <a:buChar char="p"/>
            </a:pPr>
            <a:r>
              <a:rPr lang="zh-CN" altLang="en-US" dirty="0" smtClean="0"/>
              <a:t>海洋多种生物能合成萜类化合物，如红藻、褐藻、腔肠动物、棘皮动物、海绵等。</a:t>
            </a:r>
            <a:endParaRPr lang="en-US" altLang="zh-CN" dirty="0" smtClean="0"/>
          </a:p>
          <a:p>
            <a:pPr>
              <a:buClr>
                <a:srgbClr val="00B0F0"/>
              </a:buClr>
              <a:buFont typeface="Wingdings" pitchFamily="2" charset="2"/>
              <a:buChar char="p"/>
            </a:pPr>
            <a:r>
              <a:rPr lang="zh-CN" altLang="en-US" dirty="0" smtClean="0"/>
              <a:t>红藻萜类包括单萜、倍半萜、二萜以及三萜类，多卤代。而褐藻中主要是二萜，少卤代。</a:t>
            </a:r>
            <a:endParaRPr lang="en-US" altLang="zh-CN" dirty="0" smtClean="0"/>
          </a:p>
          <a:p>
            <a:pPr>
              <a:buClr>
                <a:srgbClr val="00B0F0"/>
              </a:buClr>
              <a:buFont typeface="Wingdings" pitchFamily="2" charset="2"/>
              <a:buChar char="p"/>
            </a:pPr>
            <a:endParaRPr lang="en-US" altLang="zh-CN" dirty="0"/>
          </a:p>
        </p:txBody>
      </p:sp>
      <p:sp>
        <p:nvSpPr>
          <p:cNvPr id="5" name="标题 1"/>
          <p:cNvSpPr txBox="1">
            <a:spLocks/>
          </p:cNvSpPr>
          <p:nvPr/>
        </p:nvSpPr>
        <p:spPr>
          <a:xfrm>
            <a:off x="426915" y="203165"/>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zh-CN" altLang="en-US" b="1" dirty="0" smtClean="0">
                <a:latin typeface="微软雅黑" pitchFamily="34" charset="-122"/>
                <a:ea typeface="微软雅黑" pitchFamily="34" charset="-122"/>
              </a:rPr>
              <a:t>萜类</a:t>
            </a:r>
            <a:endParaRPr lang="zh-CN" altLang="en-US" b="1" dirty="0">
              <a:latin typeface="微软雅黑" pitchFamily="34" charset="-122"/>
              <a:ea typeface="微软雅黑" pitchFamily="34" charset="-122"/>
            </a:endParaRPr>
          </a:p>
        </p:txBody>
      </p:sp>
    </p:spTree>
    <p:extLst>
      <p:ext uri="{BB962C8B-B14F-4D97-AF65-F5344CB8AC3E}">
        <p14:creationId xmlns:p14="http://schemas.microsoft.com/office/powerpoint/2010/main" val="36117585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3337200" y="6329362"/>
            <a:ext cx="2339102" cy="523220"/>
          </a:xfrm>
          <a:prstGeom prst="rect">
            <a:avLst/>
          </a:prstGeom>
          <a:noFill/>
        </p:spPr>
        <p:txBody>
          <a:bodyPr wrap="none" rtlCol="0">
            <a:spAutoFit/>
          </a:bodyPr>
          <a:lstStyle/>
          <a:p>
            <a:r>
              <a:rPr lang="zh-CN" altLang="en-US" sz="2800" dirty="0" smtClean="0">
                <a:solidFill>
                  <a:srgbClr val="0000FF"/>
                </a:solidFill>
                <a:latin typeface="微软雅黑" pitchFamily="34" charset="-122"/>
                <a:ea typeface="微软雅黑" pitchFamily="34" charset="-122"/>
              </a:rPr>
              <a:t>海洋里的</a:t>
            </a:r>
            <a:r>
              <a:rPr lang="zh-CN" altLang="en-US" sz="2800" dirty="0">
                <a:solidFill>
                  <a:srgbClr val="0000FF"/>
                </a:solidFill>
                <a:latin typeface="微软雅黑" pitchFamily="34" charset="-122"/>
                <a:ea typeface="微软雅黑" pitchFamily="34" charset="-122"/>
              </a:rPr>
              <a:t>萜类</a:t>
            </a: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3" name="对象 2"/>
          <p:cNvGraphicFramePr>
            <a:graphicFrameLocks noChangeAspect="1"/>
          </p:cNvGraphicFramePr>
          <p:nvPr>
            <p:extLst>
              <p:ext uri="{D42A27DB-BD31-4B8C-83A1-F6EECF244321}">
                <p14:modId xmlns:p14="http://schemas.microsoft.com/office/powerpoint/2010/main" val="3236976593"/>
              </p:ext>
            </p:extLst>
          </p:nvPr>
        </p:nvGraphicFramePr>
        <p:xfrm>
          <a:off x="395536" y="332656"/>
          <a:ext cx="7848873" cy="1166724"/>
        </p:xfrm>
        <a:graphic>
          <a:graphicData uri="http://schemas.openxmlformats.org/presentationml/2006/ole">
            <mc:AlternateContent xmlns:mc="http://schemas.openxmlformats.org/markup-compatibility/2006">
              <mc:Choice xmlns:v="urn:schemas-microsoft-com:vml" Requires="v">
                <p:oleObj spid="_x0000_s10309" name="CS ChemDraw Drawing" r:id="rId3" imgW="4917513" imgH="705067" progId="ChemDraw.Document.6.0">
                  <p:embed/>
                </p:oleObj>
              </mc:Choice>
              <mc:Fallback>
                <p:oleObj name="CS ChemDraw Drawing" r:id="rId3" imgW="4917513" imgH="705067" progId="ChemDraw.Document.6.0">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5536" y="332656"/>
                        <a:ext cx="7848873" cy="1166724"/>
                      </a:xfrm>
                      <a:prstGeom prst="rect">
                        <a:avLst/>
                      </a:prstGeom>
                      <a:noFill/>
                    </p:spPr>
                  </p:pic>
                </p:oleObj>
              </mc:Fallback>
            </mc:AlternateContent>
          </a:graphicData>
        </a:graphic>
      </p:graphicFrame>
      <p:sp>
        <p:nvSpPr>
          <p:cNvPr id="4" name="矩形 3"/>
          <p:cNvSpPr/>
          <p:nvPr/>
        </p:nvSpPr>
        <p:spPr>
          <a:xfrm>
            <a:off x="2732676" y="1475492"/>
            <a:ext cx="3548151" cy="369332"/>
          </a:xfrm>
          <a:prstGeom prst="rect">
            <a:avLst/>
          </a:prstGeom>
        </p:spPr>
        <p:txBody>
          <a:bodyPr wrap="none">
            <a:spAutoFit/>
          </a:bodyPr>
          <a:lstStyle/>
          <a:p>
            <a:r>
              <a:rPr lang="zh-CN" altLang="zh-CN" dirty="0"/>
              <a:t>红藻</a:t>
            </a:r>
            <a:r>
              <a:rPr lang="en-US" altLang="zh-CN" i="1" dirty="0" err="1"/>
              <a:t>P.cornutum</a:t>
            </a:r>
            <a:r>
              <a:rPr lang="zh-CN" altLang="zh-CN" dirty="0"/>
              <a:t>中的多卤链状单萜</a:t>
            </a:r>
            <a:endParaRPr lang="zh-CN" altLang="en-US" dirty="0"/>
          </a:p>
        </p:txBody>
      </p:sp>
      <p:sp>
        <p:nvSpPr>
          <p:cNvPr id="5"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6" name="对象 5"/>
          <p:cNvGraphicFramePr>
            <a:graphicFrameLocks noChangeAspect="1"/>
          </p:cNvGraphicFramePr>
          <p:nvPr>
            <p:extLst>
              <p:ext uri="{D42A27DB-BD31-4B8C-83A1-F6EECF244321}">
                <p14:modId xmlns:p14="http://schemas.microsoft.com/office/powerpoint/2010/main" val="2183262131"/>
              </p:ext>
            </p:extLst>
          </p:nvPr>
        </p:nvGraphicFramePr>
        <p:xfrm>
          <a:off x="251520" y="1988840"/>
          <a:ext cx="8719230" cy="1800200"/>
        </p:xfrm>
        <a:graphic>
          <a:graphicData uri="http://schemas.openxmlformats.org/presentationml/2006/ole">
            <mc:AlternateContent xmlns:mc="http://schemas.openxmlformats.org/markup-compatibility/2006">
              <mc:Choice xmlns:v="urn:schemas-microsoft-com:vml" Requires="v">
                <p:oleObj spid="_x0000_s10310" name="CS ChemDraw Drawing" r:id="rId5" imgW="5394498" imgH="1113746" progId="ChemDraw.Document.6.0">
                  <p:embed/>
                </p:oleObj>
              </mc:Choice>
              <mc:Fallback>
                <p:oleObj name="CS ChemDraw Drawing" r:id="rId5" imgW="5394498" imgH="1113746" progId="ChemDraw.Document.6.0">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1520" y="1988840"/>
                        <a:ext cx="8719230" cy="1800200"/>
                      </a:xfrm>
                      <a:prstGeom prst="rect">
                        <a:avLst/>
                      </a:prstGeom>
                      <a:noFill/>
                    </p:spPr>
                  </p:pic>
                </p:oleObj>
              </mc:Fallback>
            </mc:AlternateContent>
          </a:graphicData>
        </a:graphic>
      </p:graphicFrame>
      <p:sp>
        <p:nvSpPr>
          <p:cNvPr id="7" name="矩形 6"/>
          <p:cNvSpPr/>
          <p:nvPr/>
        </p:nvSpPr>
        <p:spPr>
          <a:xfrm>
            <a:off x="2195736" y="3907933"/>
            <a:ext cx="5400600" cy="369332"/>
          </a:xfrm>
          <a:prstGeom prst="rect">
            <a:avLst/>
          </a:prstGeom>
        </p:spPr>
        <p:txBody>
          <a:bodyPr wrap="square">
            <a:spAutoFit/>
          </a:bodyPr>
          <a:lstStyle/>
          <a:p>
            <a:r>
              <a:rPr lang="zh-CN" altLang="zh-CN" dirty="0" smtClean="0"/>
              <a:t>凹</a:t>
            </a:r>
            <a:r>
              <a:rPr lang="zh-CN" altLang="en-US" dirty="0" smtClean="0"/>
              <a:t>顶</a:t>
            </a:r>
            <a:r>
              <a:rPr lang="zh-CN" altLang="zh-CN" dirty="0" smtClean="0"/>
              <a:t>藻</a:t>
            </a:r>
            <a:r>
              <a:rPr lang="zh-CN" altLang="zh-CN" dirty="0"/>
              <a:t>属</a:t>
            </a:r>
            <a:r>
              <a:rPr lang="en-US" altLang="zh-CN" dirty="0"/>
              <a:t>(</a:t>
            </a:r>
            <a:r>
              <a:rPr lang="en-US" altLang="zh-CN" i="1" dirty="0" err="1"/>
              <a:t>Laurencia</a:t>
            </a:r>
            <a:r>
              <a:rPr lang="en-US" altLang="zh-CN" dirty="0"/>
              <a:t>)</a:t>
            </a:r>
            <a:r>
              <a:rPr lang="zh-CN" altLang="zh-CN" dirty="0"/>
              <a:t>红藻中</a:t>
            </a:r>
            <a:r>
              <a:rPr lang="zh-CN" altLang="zh-CN" dirty="0" smtClean="0"/>
              <a:t>的</a:t>
            </a:r>
            <a:r>
              <a:rPr lang="en-US" altLang="zh-CN" dirty="0" err="1" smtClean="0"/>
              <a:t>chamigrane</a:t>
            </a:r>
            <a:r>
              <a:rPr lang="zh-CN" altLang="zh-CN" dirty="0"/>
              <a:t>型倍半萜</a:t>
            </a:r>
            <a:endParaRPr lang="zh-CN" altLang="en-US" dirty="0"/>
          </a:p>
        </p:txBody>
      </p:sp>
      <p:sp>
        <p:nvSpPr>
          <p:cNvPr id="8" name="Rectangle 6"/>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矩形 9"/>
          <p:cNvSpPr/>
          <p:nvPr/>
        </p:nvSpPr>
        <p:spPr>
          <a:xfrm>
            <a:off x="6552220" y="5443483"/>
            <a:ext cx="2088232" cy="646331"/>
          </a:xfrm>
          <a:prstGeom prst="rect">
            <a:avLst/>
          </a:prstGeom>
        </p:spPr>
        <p:txBody>
          <a:bodyPr wrap="square">
            <a:spAutoFit/>
          </a:bodyPr>
          <a:lstStyle/>
          <a:p>
            <a:r>
              <a:rPr lang="zh-CN" altLang="en-US" dirty="0"/>
              <a:t>褐藻</a:t>
            </a:r>
            <a:r>
              <a:rPr lang="en-US" altLang="zh-CN" dirty="0"/>
              <a:t>D. </a:t>
            </a:r>
            <a:r>
              <a:rPr lang="en-US" altLang="zh-CN" dirty="0" err="1"/>
              <a:t>menstrualis</a:t>
            </a:r>
            <a:r>
              <a:rPr lang="zh-CN" altLang="en-US" dirty="0" smtClean="0"/>
              <a:t>中的</a:t>
            </a:r>
            <a:r>
              <a:rPr lang="zh-CN" altLang="en-US" dirty="0"/>
              <a:t>双环二萜</a:t>
            </a:r>
          </a:p>
        </p:txBody>
      </p:sp>
      <p:sp>
        <p:nvSpPr>
          <p:cNvPr id="11"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2" name="对象 11"/>
          <p:cNvGraphicFramePr>
            <a:graphicFrameLocks noChangeAspect="1"/>
          </p:cNvGraphicFramePr>
          <p:nvPr>
            <p:extLst>
              <p:ext uri="{D42A27DB-BD31-4B8C-83A1-F6EECF244321}">
                <p14:modId xmlns:p14="http://schemas.microsoft.com/office/powerpoint/2010/main" val="1175134455"/>
              </p:ext>
            </p:extLst>
          </p:nvPr>
        </p:nvGraphicFramePr>
        <p:xfrm>
          <a:off x="40806" y="4660085"/>
          <a:ext cx="6478463" cy="1505219"/>
        </p:xfrm>
        <a:graphic>
          <a:graphicData uri="http://schemas.openxmlformats.org/presentationml/2006/ole">
            <mc:AlternateContent xmlns:mc="http://schemas.openxmlformats.org/markup-compatibility/2006">
              <mc:Choice xmlns:v="urn:schemas-microsoft-com:vml" Requires="v">
                <p:oleObj spid="_x0000_s10311" name="CS ChemDraw Drawing" r:id="rId7" imgW="5085146" imgH="1192836" progId="ChemDraw.Document.6.0">
                  <p:embed/>
                </p:oleObj>
              </mc:Choice>
              <mc:Fallback>
                <p:oleObj name="CS ChemDraw Drawing" r:id="rId7" imgW="5085146" imgH="1192836" progId="ChemDraw.Document.6.0">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0806" y="4660085"/>
                        <a:ext cx="6478463" cy="1505219"/>
                      </a:xfrm>
                      <a:prstGeom prst="rect">
                        <a:avLst/>
                      </a:prstGeom>
                      <a:noFill/>
                    </p:spPr>
                  </p:pic>
                </p:oleObj>
              </mc:Fallback>
            </mc:AlternateContent>
          </a:graphicData>
        </a:graphic>
      </p:graphicFrame>
    </p:spTree>
    <p:extLst>
      <p:ext uri="{BB962C8B-B14F-4D97-AF65-F5344CB8AC3E}">
        <p14:creationId xmlns:p14="http://schemas.microsoft.com/office/powerpoint/2010/main" val="343671655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79512" y="1346164"/>
            <a:ext cx="8784976" cy="5511835"/>
          </a:xfrm>
        </p:spPr>
        <p:txBody>
          <a:bodyPr>
            <a:noAutofit/>
          </a:bodyPr>
          <a:lstStyle/>
          <a:p>
            <a:pPr>
              <a:lnSpc>
                <a:spcPts val="5600"/>
              </a:lnSpc>
              <a:buClr>
                <a:srgbClr val="0070C0"/>
              </a:buClr>
              <a:buFont typeface="Wingdings" pitchFamily="2" charset="2"/>
              <a:buChar char="u"/>
            </a:pPr>
            <a:r>
              <a:rPr lang="zh-CN" altLang="en-US" sz="3100" dirty="0" smtClean="0">
                <a:solidFill>
                  <a:srgbClr val="FF0000"/>
                </a:solidFill>
                <a:latin typeface="微软雅黑" pitchFamily="34" charset="-122"/>
                <a:ea typeface="微软雅黑" pitchFamily="34" charset="-122"/>
              </a:rPr>
              <a:t>海洋萜类</a:t>
            </a:r>
            <a:endParaRPr lang="en-US" altLang="zh-CN" sz="3100" dirty="0" smtClean="0">
              <a:solidFill>
                <a:srgbClr val="FF0000"/>
              </a:solidFill>
              <a:latin typeface="微软雅黑" pitchFamily="34" charset="-122"/>
              <a:ea typeface="微软雅黑" pitchFamily="34" charset="-122"/>
            </a:endParaRPr>
          </a:p>
          <a:p>
            <a:pPr>
              <a:buClr>
                <a:srgbClr val="00B0F0"/>
              </a:buClr>
              <a:buFont typeface="Wingdings" pitchFamily="2" charset="2"/>
              <a:buChar char="p"/>
            </a:pPr>
            <a:r>
              <a:rPr lang="zh-CN" altLang="en-US" sz="3100" dirty="0"/>
              <a:t>从海绵中分离得到的化合物以萜类化合物最多，主要包括倍半萜、二萜、二倍半萜和三萜。。</a:t>
            </a:r>
            <a:endParaRPr lang="en-US" altLang="zh-CN" sz="3100" dirty="0" smtClean="0"/>
          </a:p>
          <a:p>
            <a:pPr>
              <a:buClr>
                <a:srgbClr val="00B0F0"/>
              </a:buClr>
              <a:buFont typeface="Wingdings" pitchFamily="2" charset="2"/>
              <a:buChar char="p"/>
            </a:pPr>
            <a:r>
              <a:rPr lang="zh-CN" altLang="en-US" sz="3100" dirty="0"/>
              <a:t>在海兔属</a:t>
            </a:r>
            <a:r>
              <a:rPr lang="en-US" altLang="zh-CN" sz="3100" dirty="0"/>
              <a:t>(</a:t>
            </a:r>
            <a:r>
              <a:rPr lang="en-US" altLang="zh-CN" sz="3100" dirty="0" err="1"/>
              <a:t>Aplysia</a:t>
            </a:r>
            <a:r>
              <a:rPr lang="en-US" altLang="zh-CN" sz="3100" dirty="0"/>
              <a:t>)</a:t>
            </a:r>
            <a:r>
              <a:rPr lang="zh-CN" altLang="en-US" sz="3100" dirty="0"/>
              <a:t>海兔中发现的倍半萜在结构上与一些海藻的代谢产物相同或类似，可能是海兔食用这些海藻后，摄取海藻的代谢产物并积累在消化腺中作为自身的化学防御物质</a:t>
            </a:r>
            <a:r>
              <a:rPr lang="zh-CN" altLang="en-US" sz="3100" dirty="0" smtClean="0"/>
              <a:t>。</a:t>
            </a:r>
            <a:endParaRPr lang="en-US" altLang="zh-CN" sz="3100" dirty="0" smtClean="0"/>
          </a:p>
          <a:p>
            <a:pPr>
              <a:buClr>
                <a:srgbClr val="00B0F0"/>
              </a:buClr>
              <a:buFont typeface="Wingdings" pitchFamily="2" charset="2"/>
              <a:buChar char="p"/>
            </a:pPr>
            <a:r>
              <a:rPr lang="zh-CN" altLang="en-US" sz="3100" dirty="0"/>
              <a:t>从珊瑚，特别是来自八放珊瑚目的珊瑚中分离得到了大量的结构新颖和复杂多变的二萜类</a:t>
            </a:r>
            <a:r>
              <a:rPr lang="zh-CN" altLang="en-US" sz="3100" dirty="0" smtClean="0"/>
              <a:t>化合物。</a:t>
            </a:r>
            <a:endParaRPr lang="en-US" altLang="zh-CN" sz="3100" dirty="0" smtClean="0"/>
          </a:p>
          <a:p>
            <a:pPr>
              <a:buClr>
                <a:srgbClr val="00B0F0"/>
              </a:buClr>
              <a:buFont typeface="Wingdings" pitchFamily="2" charset="2"/>
              <a:buChar char="p"/>
            </a:pPr>
            <a:endParaRPr lang="en-US" altLang="zh-CN" sz="3100" dirty="0"/>
          </a:p>
        </p:txBody>
      </p:sp>
      <p:sp>
        <p:nvSpPr>
          <p:cNvPr id="5" name="标题 1"/>
          <p:cNvSpPr txBox="1">
            <a:spLocks/>
          </p:cNvSpPr>
          <p:nvPr/>
        </p:nvSpPr>
        <p:spPr>
          <a:xfrm>
            <a:off x="426915" y="203165"/>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zh-CN" altLang="en-US" b="1" dirty="0" smtClean="0">
                <a:latin typeface="微软雅黑" pitchFamily="34" charset="-122"/>
                <a:ea typeface="微软雅黑" pitchFamily="34" charset="-122"/>
              </a:rPr>
              <a:t>萜类</a:t>
            </a:r>
            <a:endParaRPr lang="zh-CN" altLang="en-US" b="1" dirty="0">
              <a:latin typeface="微软雅黑" pitchFamily="34" charset="-122"/>
              <a:ea typeface="微软雅黑" pitchFamily="34" charset="-122"/>
            </a:endParaRPr>
          </a:p>
        </p:txBody>
      </p:sp>
    </p:spTree>
    <p:extLst>
      <p:ext uri="{BB962C8B-B14F-4D97-AF65-F5344CB8AC3E}">
        <p14:creationId xmlns:p14="http://schemas.microsoft.com/office/powerpoint/2010/main" val="2102242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3337200" y="6329362"/>
            <a:ext cx="2339102" cy="523220"/>
          </a:xfrm>
          <a:prstGeom prst="rect">
            <a:avLst/>
          </a:prstGeom>
          <a:noFill/>
        </p:spPr>
        <p:txBody>
          <a:bodyPr wrap="none" rtlCol="0">
            <a:spAutoFit/>
          </a:bodyPr>
          <a:lstStyle/>
          <a:p>
            <a:r>
              <a:rPr lang="zh-CN" altLang="en-US" sz="2800" dirty="0" smtClean="0">
                <a:solidFill>
                  <a:srgbClr val="0000FF"/>
                </a:solidFill>
                <a:latin typeface="微软雅黑" pitchFamily="34" charset="-122"/>
                <a:ea typeface="微软雅黑" pitchFamily="34" charset="-122"/>
              </a:rPr>
              <a:t>海洋里的</a:t>
            </a:r>
            <a:r>
              <a:rPr lang="zh-CN" altLang="en-US" sz="2800" dirty="0">
                <a:solidFill>
                  <a:srgbClr val="0000FF"/>
                </a:solidFill>
                <a:latin typeface="微软雅黑" pitchFamily="34" charset="-122"/>
                <a:ea typeface="微软雅黑" pitchFamily="34" charset="-122"/>
              </a:rPr>
              <a:t>萜类</a:t>
            </a:r>
          </a:p>
        </p:txBody>
      </p:sp>
      <p:sp>
        <p:nvSpPr>
          <p:cNvPr id="9"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3" name="对象 12"/>
          <p:cNvGraphicFramePr>
            <a:graphicFrameLocks noChangeAspect="1"/>
          </p:cNvGraphicFramePr>
          <p:nvPr>
            <p:extLst>
              <p:ext uri="{D42A27DB-BD31-4B8C-83A1-F6EECF244321}">
                <p14:modId xmlns:p14="http://schemas.microsoft.com/office/powerpoint/2010/main" val="2442583273"/>
              </p:ext>
            </p:extLst>
          </p:nvPr>
        </p:nvGraphicFramePr>
        <p:xfrm>
          <a:off x="583864" y="0"/>
          <a:ext cx="7976271" cy="2520280"/>
        </p:xfrm>
        <a:graphic>
          <a:graphicData uri="http://schemas.openxmlformats.org/presentationml/2006/ole">
            <mc:AlternateContent xmlns:mc="http://schemas.openxmlformats.org/markup-compatibility/2006">
              <mc:Choice xmlns:v="urn:schemas-microsoft-com:vml" Requires="v">
                <p:oleObj spid="_x0000_s11308" name="CS ChemDraw Drawing" r:id="rId3" imgW="5498156" imgH="1714078" progId="ChemDraw.Document.6.0">
                  <p:embed/>
                </p:oleObj>
              </mc:Choice>
              <mc:Fallback>
                <p:oleObj name="CS ChemDraw Drawing" r:id="rId3" imgW="5498156" imgH="1714078" progId="ChemDraw.Document.6.0">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3864" y="0"/>
                        <a:ext cx="7976271" cy="2520280"/>
                      </a:xfrm>
                      <a:prstGeom prst="rect">
                        <a:avLst/>
                      </a:prstGeom>
                      <a:noFill/>
                    </p:spPr>
                  </p:pic>
                </p:oleObj>
              </mc:Fallback>
            </mc:AlternateContent>
          </a:graphicData>
        </a:graphic>
      </p:graphicFrame>
      <p:sp>
        <p:nvSpPr>
          <p:cNvPr id="15" name="矩形 14"/>
          <p:cNvSpPr/>
          <p:nvPr/>
        </p:nvSpPr>
        <p:spPr>
          <a:xfrm>
            <a:off x="2633007" y="2636912"/>
            <a:ext cx="3416320" cy="369332"/>
          </a:xfrm>
          <a:prstGeom prst="rect">
            <a:avLst/>
          </a:prstGeom>
        </p:spPr>
        <p:txBody>
          <a:bodyPr wrap="none">
            <a:spAutoFit/>
          </a:bodyPr>
          <a:lstStyle/>
          <a:p>
            <a:r>
              <a:rPr lang="zh-CN" altLang="zh-CN" dirty="0"/>
              <a:t>海绵中倍半萜醌和氢醌</a:t>
            </a:r>
            <a:r>
              <a:rPr lang="zh-CN" altLang="zh-CN" dirty="0" smtClean="0"/>
              <a:t>类化合物</a:t>
            </a:r>
            <a:endParaRPr lang="zh-CN" altLang="en-US" dirty="0"/>
          </a:p>
        </p:txBody>
      </p:sp>
      <p:sp>
        <p:nvSpPr>
          <p:cNvPr id="16"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7" name="对象 16"/>
          <p:cNvGraphicFramePr>
            <a:graphicFrameLocks noChangeAspect="1"/>
          </p:cNvGraphicFramePr>
          <p:nvPr>
            <p:extLst>
              <p:ext uri="{D42A27DB-BD31-4B8C-83A1-F6EECF244321}">
                <p14:modId xmlns:p14="http://schemas.microsoft.com/office/powerpoint/2010/main" val="2544253181"/>
              </p:ext>
            </p:extLst>
          </p:nvPr>
        </p:nvGraphicFramePr>
        <p:xfrm>
          <a:off x="469544" y="3356992"/>
          <a:ext cx="8204912" cy="2016224"/>
        </p:xfrm>
        <a:graphic>
          <a:graphicData uri="http://schemas.openxmlformats.org/presentationml/2006/ole">
            <mc:AlternateContent xmlns:mc="http://schemas.openxmlformats.org/markup-compatibility/2006">
              <mc:Choice xmlns:v="urn:schemas-microsoft-com:vml" Requires="v">
                <p:oleObj spid="_x0000_s11309" name="CS ChemDraw Drawing" r:id="rId5" imgW="6397329" imgH="1569394" progId="ChemDraw.Document.6.0">
                  <p:embed/>
                </p:oleObj>
              </mc:Choice>
              <mc:Fallback>
                <p:oleObj name="CS ChemDraw Drawing" r:id="rId5" imgW="6397329" imgH="1569394" progId="ChemDraw.Document.6.0">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9544" y="3356992"/>
                        <a:ext cx="8204912" cy="2016224"/>
                      </a:xfrm>
                      <a:prstGeom prst="rect">
                        <a:avLst/>
                      </a:prstGeom>
                      <a:noFill/>
                    </p:spPr>
                  </p:pic>
                </p:oleObj>
              </mc:Fallback>
            </mc:AlternateContent>
          </a:graphicData>
        </a:graphic>
      </p:graphicFrame>
      <p:sp>
        <p:nvSpPr>
          <p:cNvPr id="18" name="矩形 17"/>
          <p:cNvSpPr/>
          <p:nvPr/>
        </p:nvSpPr>
        <p:spPr>
          <a:xfrm>
            <a:off x="3164011" y="5624217"/>
            <a:ext cx="2512291" cy="369332"/>
          </a:xfrm>
          <a:prstGeom prst="rect">
            <a:avLst/>
          </a:prstGeom>
        </p:spPr>
        <p:txBody>
          <a:bodyPr wrap="none">
            <a:spAutoFit/>
          </a:bodyPr>
          <a:lstStyle/>
          <a:p>
            <a:r>
              <a:rPr lang="zh-CN" altLang="zh-CN" dirty="0"/>
              <a:t>珊瑚中</a:t>
            </a:r>
            <a:r>
              <a:rPr lang="en-US" altLang="zh-CN" dirty="0" err="1"/>
              <a:t>cembrane</a:t>
            </a:r>
            <a:r>
              <a:rPr lang="zh-CN" altLang="zh-CN" dirty="0"/>
              <a:t>型</a:t>
            </a:r>
            <a:r>
              <a:rPr lang="zh-CN" altLang="zh-CN" dirty="0" smtClean="0"/>
              <a:t>二萜</a:t>
            </a:r>
            <a:endParaRPr lang="zh-CN" altLang="en-US" dirty="0"/>
          </a:p>
        </p:txBody>
      </p:sp>
    </p:spTree>
    <p:extLst>
      <p:ext uri="{BB962C8B-B14F-4D97-AF65-F5344CB8AC3E}">
        <p14:creationId xmlns:p14="http://schemas.microsoft.com/office/powerpoint/2010/main" val="187021291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79512" y="1196752"/>
            <a:ext cx="8784976" cy="5511835"/>
          </a:xfrm>
        </p:spPr>
        <p:txBody>
          <a:bodyPr>
            <a:noAutofit/>
          </a:bodyPr>
          <a:lstStyle/>
          <a:p>
            <a:pPr>
              <a:lnSpc>
                <a:spcPts val="5600"/>
              </a:lnSpc>
              <a:buClr>
                <a:srgbClr val="0070C0"/>
              </a:buClr>
              <a:buFont typeface="Wingdings" pitchFamily="2" charset="2"/>
              <a:buChar char="u"/>
            </a:pPr>
            <a:r>
              <a:rPr lang="zh-CN" altLang="en-US" sz="3100" dirty="0" smtClean="0">
                <a:solidFill>
                  <a:srgbClr val="FF0000"/>
                </a:solidFill>
                <a:latin typeface="微软雅黑" pitchFamily="34" charset="-122"/>
                <a:ea typeface="微软雅黑" pitchFamily="34" charset="-122"/>
              </a:rPr>
              <a:t>海洋萜类</a:t>
            </a:r>
            <a:endParaRPr lang="en-US" altLang="zh-CN" sz="3100" dirty="0" smtClean="0">
              <a:solidFill>
                <a:srgbClr val="FF0000"/>
              </a:solidFill>
              <a:latin typeface="微软雅黑" pitchFamily="34" charset="-122"/>
              <a:ea typeface="微软雅黑" pitchFamily="34" charset="-122"/>
            </a:endParaRPr>
          </a:p>
          <a:p>
            <a:pPr>
              <a:buClr>
                <a:srgbClr val="00B0F0"/>
              </a:buClr>
              <a:buFont typeface="Wingdings" pitchFamily="2" charset="2"/>
              <a:buChar char="p"/>
            </a:pPr>
            <a:r>
              <a:rPr lang="zh-CN" altLang="en-US" sz="3100" dirty="0"/>
              <a:t>棘皮动物门</a:t>
            </a:r>
            <a:r>
              <a:rPr lang="en-US" altLang="zh-CN" sz="3100" dirty="0"/>
              <a:t>(Echinodermata)</a:t>
            </a:r>
            <a:r>
              <a:rPr lang="zh-CN" altLang="en-US" sz="3100" dirty="0"/>
              <a:t>海参纲</a:t>
            </a:r>
            <a:r>
              <a:rPr lang="en-US" altLang="zh-CN" sz="3100" dirty="0"/>
              <a:t>(</a:t>
            </a:r>
            <a:r>
              <a:rPr lang="en-US" altLang="zh-CN" sz="3100" dirty="0" err="1"/>
              <a:t>Holotheroidea</a:t>
            </a:r>
            <a:r>
              <a:rPr lang="en-US" altLang="zh-CN" sz="3100" dirty="0"/>
              <a:t>)</a:t>
            </a:r>
            <a:r>
              <a:rPr lang="zh-CN" altLang="en-US" sz="3100" dirty="0" smtClean="0"/>
              <a:t>动物海参中含有大量三萜皂苷类成分</a:t>
            </a:r>
            <a:endParaRPr lang="en-US" altLang="zh-CN" sz="3100" dirty="0" smtClean="0"/>
          </a:p>
          <a:p>
            <a:pPr>
              <a:buClr>
                <a:srgbClr val="00B0F0"/>
              </a:buClr>
              <a:buFont typeface="Wingdings" pitchFamily="2" charset="2"/>
              <a:buChar char="p"/>
            </a:pPr>
            <a:endParaRPr lang="en-US" altLang="zh-CN" sz="3100" dirty="0"/>
          </a:p>
        </p:txBody>
      </p:sp>
      <p:sp>
        <p:nvSpPr>
          <p:cNvPr id="5" name="标题 1"/>
          <p:cNvSpPr txBox="1">
            <a:spLocks/>
          </p:cNvSpPr>
          <p:nvPr/>
        </p:nvSpPr>
        <p:spPr>
          <a:xfrm>
            <a:off x="426915" y="203165"/>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zh-CN" altLang="en-US" b="1" dirty="0" smtClean="0">
                <a:latin typeface="微软雅黑" pitchFamily="34" charset="-122"/>
                <a:ea typeface="微软雅黑" pitchFamily="34" charset="-122"/>
              </a:rPr>
              <a:t>萜类</a:t>
            </a:r>
            <a:endParaRPr lang="zh-CN" altLang="en-US" b="1" dirty="0">
              <a:latin typeface="微软雅黑" pitchFamily="34" charset="-122"/>
              <a:ea typeface="微软雅黑" pitchFamily="34" charset="-122"/>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4" name="对象 3"/>
          <p:cNvGraphicFramePr>
            <a:graphicFrameLocks noChangeAspect="1"/>
          </p:cNvGraphicFramePr>
          <p:nvPr>
            <p:extLst>
              <p:ext uri="{D42A27DB-BD31-4B8C-83A1-F6EECF244321}">
                <p14:modId xmlns:p14="http://schemas.microsoft.com/office/powerpoint/2010/main" val="3632166579"/>
              </p:ext>
            </p:extLst>
          </p:nvPr>
        </p:nvGraphicFramePr>
        <p:xfrm>
          <a:off x="1320766" y="3140968"/>
          <a:ext cx="6502467" cy="3312368"/>
        </p:xfrm>
        <a:graphic>
          <a:graphicData uri="http://schemas.openxmlformats.org/presentationml/2006/ole">
            <mc:AlternateContent xmlns:mc="http://schemas.openxmlformats.org/markup-compatibility/2006">
              <mc:Choice xmlns:v="urn:schemas-microsoft-com:vml" Requires="v">
                <p:oleObj spid="_x0000_s12310" name="CS ChemDraw Drawing" r:id="rId3" imgW="6537698" imgH="3333950" progId="ChemDraw.Document.6.0">
                  <p:embed/>
                </p:oleObj>
              </mc:Choice>
              <mc:Fallback>
                <p:oleObj name="CS ChemDraw Drawing" r:id="rId3" imgW="6537698" imgH="3333950" progId="ChemDraw.Document.6.0">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20766" y="3140968"/>
                        <a:ext cx="6502467" cy="3312368"/>
                      </a:xfrm>
                      <a:prstGeom prst="rect">
                        <a:avLst/>
                      </a:prstGeom>
                      <a:noFill/>
                    </p:spPr>
                  </p:pic>
                </p:oleObj>
              </mc:Fallback>
            </mc:AlternateContent>
          </a:graphicData>
        </a:graphic>
      </p:graphicFrame>
      <p:sp>
        <p:nvSpPr>
          <p:cNvPr id="6" name="TextBox 5"/>
          <p:cNvSpPr txBox="1"/>
          <p:nvPr/>
        </p:nvSpPr>
        <p:spPr>
          <a:xfrm>
            <a:off x="1222985" y="4005064"/>
            <a:ext cx="1107996" cy="369332"/>
          </a:xfrm>
          <a:prstGeom prst="rect">
            <a:avLst/>
          </a:prstGeom>
          <a:noFill/>
        </p:spPr>
        <p:txBody>
          <a:bodyPr wrap="none" rtlCol="0">
            <a:spAutoFit/>
          </a:bodyPr>
          <a:lstStyle/>
          <a:p>
            <a:r>
              <a:rPr lang="zh-CN" altLang="en-US" dirty="0" smtClean="0"/>
              <a:t>海参烷型</a:t>
            </a:r>
            <a:endParaRPr lang="zh-CN" altLang="en-US" dirty="0"/>
          </a:p>
        </p:txBody>
      </p:sp>
      <p:sp>
        <p:nvSpPr>
          <p:cNvPr id="7" name="TextBox 6"/>
          <p:cNvSpPr txBox="1"/>
          <p:nvPr/>
        </p:nvSpPr>
        <p:spPr>
          <a:xfrm>
            <a:off x="7020272" y="4526796"/>
            <a:ext cx="1338828" cy="369332"/>
          </a:xfrm>
          <a:prstGeom prst="rect">
            <a:avLst/>
          </a:prstGeom>
          <a:noFill/>
        </p:spPr>
        <p:txBody>
          <a:bodyPr wrap="none" rtlCol="0">
            <a:spAutoFit/>
          </a:bodyPr>
          <a:lstStyle/>
          <a:p>
            <a:r>
              <a:rPr lang="zh-CN" altLang="en-US" dirty="0" smtClean="0"/>
              <a:t>非海参烷型</a:t>
            </a:r>
            <a:endParaRPr lang="zh-CN" altLang="en-US" dirty="0"/>
          </a:p>
        </p:txBody>
      </p:sp>
      <p:sp>
        <p:nvSpPr>
          <p:cNvPr id="8" name="矩形 7"/>
          <p:cNvSpPr/>
          <p:nvPr/>
        </p:nvSpPr>
        <p:spPr>
          <a:xfrm>
            <a:off x="2330981" y="6329822"/>
            <a:ext cx="2339102" cy="523220"/>
          </a:xfrm>
          <a:prstGeom prst="rect">
            <a:avLst/>
          </a:prstGeom>
        </p:spPr>
        <p:txBody>
          <a:bodyPr wrap="none">
            <a:spAutoFit/>
          </a:bodyPr>
          <a:lstStyle/>
          <a:p>
            <a:r>
              <a:rPr lang="zh-CN" altLang="en-US" sz="2800" dirty="0">
                <a:solidFill>
                  <a:srgbClr val="0000FF"/>
                </a:solidFill>
                <a:latin typeface="微软雅黑" pitchFamily="34" charset="-122"/>
                <a:ea typeface="微软雅黑" pitchFamily="34" charset="-122"/>
              </a:rPr>
              <a:t>海洋里的萜类</a:t>
            </a:r>
          </a:p>
        </p:txBody>
      </p:sp>
    </p:spTree>
    <p:extLst>
      <p:ext uri="{BB962C8B-B14F-4D97-AF65-F5344CB8AC3E}">
        <p14:creationId xmlns:p14="http://schemas.microsoft.com/office/powerpoint/2010/main" val="310085203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a:spLocks/>
          </p:cNvSpPr>
          <p:nvPr/>
        </p:nvSpPr>
        <p:spPr>
          <a:xfrm>
            <a:off x="426915" y="203165"/>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zh-CN" altLang="en-US" b="1" dirty="0" smtClean="0">
                <a:latin typeface="微软雅黑" pitchFamily="34" charset="-122"/>
                <a:ea typeface="微软雅黑" pitchFamily="34" charset="-122"/>
              </a:rPr>
              <a:t>萜类</a:t>
            </a:r>
            <a:endParaRPr lang="zh-CN" altLang="en-US" b="1" dirty="0">
              <a:latin typeface="微软雅黑" pitchFamily="34" charset="-122"/>
              <a:ea typeface="微软雅黑" pitchFamily="34" charset="-122"/>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9" name="内容占位符 2"/>
          <p:cNvSpPr txBox="1">
            <a:spLocks/>
          </p:cNvSpPr>
          <p:nvPr/>
        </p:nvSpPr>
        <p:spPr>
          <a:xfrm>
            <a:off x="350768" y="1484784"/>
            <a:ext cx="8442464" cy="45259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buClr>
                <a:srgbClr val="00B0F0"/>
              </a:buClr>
              <a:buFont typeface="Wingdings" pitchFamily="2" charset="2"/>
              <a:buChar char="p"/>
            </a:pPr>
            <a:r>
              <a:rPr lang="zh-CN" altLang="en-US" b="1" dirty="0" smtClean="0">
                <a:solidFill>
                  <a:srgbClr val="FF0000"/>
                </a:solidFill>
              </a:rPr>
              <a:t>海洋萜类物理化学性质</a:t>
            </a:r>
            <a:endParaRPr lang="en-US" altLang="zh-CN" b="1" dirty="0" smtClean="0">
              <a:solidFill>
                <a:srgbClr val="FF0000"/>
              </a:solidFill>
            </a:endParaRPr>
          </a:p>
          <a:p>
            <a:pPr>
              <a:buClr>
                <a:srgbClr val="00B0F0"/>
              </a:buClr>
              <a:buFont typeface="Wingdings" pitchFamily="2" charset="2"/>
              <a:buChar char="p"/>
            </a:pPr>
            <a:r>
              <a:rPr lang="zh-CN" altLang="en-US" dirty="0" smtClean="0"/>
              <a:t>挥发性：海洋萜类中少见挥发性成分</a:t>
            </a:r>
            <a:endParaRPr lang="en-US" altLang="zh-CN" dirty="0" smtClean="0"/>
          </a:p>
          <a:p>
            <a:pPr>
              <a:buClr>
                <a:srgbClr val="00B0F0"/>
              </a:buClr>
              <a:buFont typeface="Wingdings" pitchFamily="2" charset="2"/>
              <a:buChar char="p"/>
            </a:pPr>
            <a:r>
              <a:rPr lang="zh-CN" altLang="en-US" dirty="0" smtClean="0"/>
              <a:t>味：多具有苦味，又称苦味素（例外甜菊苷，甜味为蔗糖的</a:t>
            </a:r>
            <a:r>
              <a:rPr lang="en-US" altLang="zh-CN" dirty="0" smtClean="0"/>
              <a:t>300</a:t>
            </a:r>
            <a:r>
              <a:rPr lang="zh-CN" altLang="en-US" dirty="0" smtClean="0"/>
              <a:t>倍）</a:t>
            </a:r>
            <a:endParaRPr lang="en-US" altLang="zh-CN" dirty="0" smtClean="0"/>
          </a:p>
          <a:p>
            <a:pPr>
              <a:buClr>
                <a:srgbClr val="00B0F0"/>
              </a:buClr>
              <a:buFont typeface="Wingdings" pitchFamily="2" charset="2"/>
              <a:buChar char="p"/>
            </a:pPr>
            <a:r>
              <a:rPr lang="zh-CN" altLang="en-US" dirty="0" smtClean="0"/>
              <a:t>旋光性：多手性碳，具有光学活性</a:t>
            </a:r>
            <a:endParaRPr lang="en-US" altLang="zh-CN" dirty="0" smtClean="0"/>
          </a:p>
          <a:p>
            <a:pPr>
              <a:buClr>
                <a:srgbClr val="00B0F0"/>
              </a:buClr>
              <a:buFont typeface="Wingdings" pitchFamily="2" charset="2"/>
              <a:buChar char="p"/>
            </a:pPr>
            <a:r>
              <a:rPr lang="zh-CN" altLang="en-US" dirty="0" smtClean="0"/>
              <a:t>溶解性：一般亲脂性强，海洋三萜皂苷糖部分常含硫酸酯或羧酸，水溶性强</a:t>
            </a:r>
            <a:endParaRPr lang="en-US" altLang="zh-CN" dirty="0" smtClean="0"/>
          </a:p>
        </p:txBody>
      </p:sp>
    </p:spTree>
    <p:extLst>
      <p:ext uri="{BB962C8B-B14F-4D97-AF65-F5344CB8AC3E}">
        <p14:creationId xmlns:p14="http://schemas.microsoft.com/office/powerpoint/2010/main" val="110209764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a:spLocks/>
          </p:cNvSpPr>
          <p:nvPr/>
        </p:nvSpPr>
        <p:spPr>
          <a:xfrm>
            <a:off x="426915" y="203165"/>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zh-CN" altLang="en-US" b="1" dirty="0" smtClean="0">
                <a:latin typeface="微软雅黑" pitchFamily="34" charset="-122"/>
                <a:ea typeface="微软雅黑" pitchFamily="34" charset="-122"/>
              </a:rPr>
              <a:t>萜类</a:t>
            </a:r>
            <a:endParaRPr lang="zh-CN" altLang="en-US" b="1" dirty="0">
              <a:latin typeface="微软雅黑" pitchFamily="34" charset="-122"/>
              <a:ea typeface="微软雅黑" pitchFamily="34" charset="-122"/>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内容占位符 2"/>
          <p:cNvSpPr>
            <a:spLocks noGrp="1"/>
          </p:cNvSpPr>
          <p:nvPr>
            <p:ph idx="1"/>
          </p:nvPr>
        </p:nvSpPr>
        <p:spPr>
          <a:xfrm>
            <a:off x="406338" y="1988840"/>
            <a:ext cx="8229600" cy="4061048"/>
          </a:xfrm>
        </p:spPr>
        <p:txBody>
          <a:bodyPr>
            <a:normAutofit/>
          </a:bodyPr>
          <a:lstStyle/>
          <a:p>
            <a:pPr eaLnBrk="1" hangingPunct="1">
              <a:buClr>
                <a:srgbClr val="00B0F0"/>
              </a:buClr>
              <a:buFont typeface="Wingdings" pitchFamily="2" charset="2"/>
              <a:buChar char="p"/>
            </a:pPr>
            <a:r>
              <a:rPr lang="zh-CN" altLang="en-US" b="1" dirty="0" smtClean="0">
                <a:solidFill>
                  <a:srgbClr val="FF0000"/>
                </a:solidFill>
              </a:rPr>
              <a:t>海洋萜类</a:t>
            </a:r>
            <a:r>
              <a:rPr lang="zh-CN" altLang="en-US" b="1" dirty="0" smtClean="0"/>
              <a:t>波谱特征</a:t>
            </a:r>
            <a:endParaRPr lang="en-US" altLang="zh-CN" b="1" dirty="0" smtClean="0"/>
          </a:p>
          <a:p>
            <a:pPr>
              <a:buClr>
                <a:srgbClr val="00B0F0"/>
              </a:buClr>
              <a:buFont typeface="Wingdings" pitchFamily="2" charset="2"/>
              <a:buChar char="p"/>
            </a:pPr>
            <a:r>
              <a:rPr lang="zh-CN" altLang="en-US" b="1" dirty="0"/>
              <a:t>多卤代，质谱中有卤素同位素峰</a:t>
            </a:r>
          </a:p>
          <a:p>
            <a:pPr eaLnBrk="1" hangingPunct="1">
              <a:buClr>
                <a:srgbClr val="00B0F0"/>
              </a:buClr>
              <a:buFont typeface="Wingdings" pitchFamily="2" charset="2"/>
              <a:buChar char="p"/>
            </a:pPr>
            <a:r>
              <a:rPr lang="en-US" altLang="zh-CN" b="1" dirty="0" smtClean="0"/>
              <a:t>NMR</a:t>
            </a:r>
            <a:r>
              <a:rPr lang="zh-CN" altLang="en-US" b="1" dirty="0" smtClean="0"/>
              <a:t>氢谱饱和氢信号多，峰裂分多</a:t>
            </a:r>
            <a:endParaRPr lang="en-US" altLang="zh-CN" b="1" dirty="0" smtClean="0"/>
          </a:p>
          <a:p>
            <a:pPr eaLnBrk="1" hangingPunct="1">
              <a:buClr>
                <a:srgbClr val="00B0F0"/>
              </a:buClr>
              <a:buFont typeface="Wingdings" pitchFamily="2" charset="2"/>
              <a:buChar char="p"/>
            </a:pPr>
            <a:r>
              <a:rPr lang="en-US" altLang="zh-CN" b="1" dirty="0" smtClean="0"/>
              <a:t>NMR</a:t>
            </a:r>
            <a:r>
              <a:rPr lang="zh-CN" altLang="en-US" b="1" dirty="0" smtClean="0"/>
              <a:t>碳谱饱和碳信号多，易识别羟基取代、烯键、羰基化</a:t>
            </a:r>
            <a:endParaRPr lang="en-US" altLang="zh-CN" b="1" dirty="0" smtClean="0"/>
          </a:p>
          <a:p>
            <a:pPr eaLnBrk="1" hangingPunct="1">
              <a:buClr>
                <a:srgbClr val="00B0F0"/>
              </a:buClr>
              <a:buFont typeface="Wingdings" pitchFamily="2" charset="2"/>
              <a:buChar char="p"/>
            </a:pPr>
            <a:r>
              <a:rPr lang="zh-CN" altLang="en-US" b="1" dirty="0" smtClean="0"/>
              <a:t>多手性碳，环状萜类利用</a:t>
            </a:r>
            <a:r>
              <a:rPr lang="en-US" altLang="zh-CN" b="1" dirty="0" smtClean="0"/>
              <a:t>NMR</a:t>
            </a:r>
            <a:r>
              <a:rPr lang="zh-CN" altLang="en-US" b="1" dirty="0" smtClean="0"/>
              <a:t>确定相对构型，或结晶后借助单晶</a:t>
            </a:r>
            <a:r>
              <a:rPr lang="en-US" altLang="zh-CN" b="1" dirty="0" smtClean="0"/>
              <a:t>X</a:t>
            </a:r>
            <a:r>
              <a:rPr lang="zh-CN" altLang="en-US" b="1" dirty="0" smtClean="0"/>
              <a:t>射线衍射法。</a:t>
            </a:r>
            <a:endParaRPr lang="en-US" altLang="zh-CN" b="1" dirty="0" smtClean="0"/>
          </a:p>
          <a:p>
            <a:pPr eaLnBrk="1" hangingPunct="1">
              <a:buClr>
                <a:srgbClr val="00B0F0"/>
              </a:buClr>
              <a:buFont typeface="Arial" pitchFamily="34" charset="0"/>
              <a:buNone/>
            </a:pPr>
            <a:endParaRPr lang="en-US" altLang="zh-CN" b="1" dirty="0" smtClean="0"/>
          </a:p>
        </p:txBody>
      </p:sp>
    </p:spTree>
    <p:extLst>
      <p:ext uri="{BB962C8B-B14F-4D97-AF65-F5344CB8AC3E}">
        <p14:creationId xmlns:p14="http://schemas.microsoft.com/office/powerpoint/2010/main" val="226894095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a:spLocks/>
          </p:cNvSpPr>
          <p:nvPr/>
        </p:nvSpPr>
        <p:spPr>
          <a:xfrm>
            <a:off x="426915" y="203165"/>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zh-CN" altLang="en-US" b="1" dirty="0" smtClean="0">
                <a:latin typeface="微软雅黑" pitchFamily="34" charset="-122"/>
                <a:ea typeface="微软雅黑" pitchFamily="34" charset="-122"/>
              </a:rPr>
              <a:t>萜类</a:t>
            </a:r>
            <a:endParaRPr lang="zh-CN" altLang="en-US" b="1" dirty="0">
              <a:latin typeface="微软雅黑" pitchFamily="34" charset="-122"/>
              <a:ea typeface="微软雅黑" pitchFamily="34" charset="-122"/>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内容占位符 2"/>
          <p:cNvSpPr>
            <a:spLocks noGrp="1"/>
          </p:cNvSpPr>
          <p:nvPr>
            <p:ph idx="1"/>
          </p:nvPr>
        </p:nvSpPr>
        <p:spPr>
          <a:xfrm>
            <a:off x="406338" y="1988840"/>
            <a:ext cx="8414134" cy="4176464"/>
          </a:xfrm>
        </p:spPr>
        <p:txBody>
          <a:bodyPr>
            <a:normAutofit fontScale="85000" lnSpcReduction="20000"/>
          </a:bodyPr>
          <a:lstStyle/>
          <a:p>
            <a:pPr eaLnBrk="1" hangingPunct="1">
              <a:buClr>
                <a:srgbClr val="00B0F0"/>
              </a:buClr>
              <a:buFont typeface="Wingdings" pitchFamily="2" charset="2"/>
              <a:buChar char="p"/>
            </a:pPr>
            <a:r>
              <a:rPr lang="zh-CN" altLang="en-US" b="1" dirty="0" smtClean="0">
                <a:solidFill>
                  <a:srgbClr val="FF0000"/>
                </a:solidFill>
              </a:rPr>
              <a:t>生合成研究简史</a:t>
            </a:r>
            <a:endParaRPr lang="en-US" altLang="zh-CN" b="1" dirty="0" smtClean="0"/>
          </a:p>
          <a:p>
            <a:pPr eaLnBrk="1" hangingPunct="1">
              <a:buClr>
                <a:srgbClr val="00B0F0"/>
              </a:buClr>
              <a:buFont typeface="Wingdings" pitchFamily="2" charset="2"/>
              <a:buChar char="p"/>
            </a:pPr>
            <a:r>
              <a:rPr lang="zh-CN" altLang="en-US" dirty="0" smtClean="0"/>
              <a:t>萜类是最早进行生物合成研究的天然产物</a:t>
            </a:r>
            <a:endParaRPr lang="en-US" altLang="zh-CN" dirty="0" smtClean="0"/>
          </a:p>
          <a:p>
            <a:pPr>
              <a:buClr>
                <a:srgbClr val="00B0F0"/>
              </a:buClr>
              <a:buFont typeface="Wingdings" pitchFamily="2" charset="2"/>
              <a:buChar char="p"/>
            </a:pPr>
            <a:r>
              <a:rPr lang="en-US" altLang="zh-CN" dirty="0" smtClean="0"/>
              <a:t>1887</a:t>
            </a:r>
            <a:r>
              <a:rPr lang="zh-CN" altLang="en-US" dirty="0" smtClean="0"/>
              <a:t>年，德国化学家</a:t>
            </a:r>
            <a:r>
              <a:rPr lang="en-US" altLang="zh-CN" dirty="0" smtClean="0"/>
              <a:t>Otto </a:t>
            </a:r>
            <a:r>
              <a:rPr lang="en-US" altLang="zh-CN" dirty="0" err="1" smtClean="0"/>
              <a:t>Wallch</a:t>
            </a:r>
            <a:r>
              <a:rPr lang="zh-CN" altLang="en-US" dirty="0" smtClean="0"/>
              <a:t>（</a:t>
            </a:r>
            <a:r>
              <a:rPr lang="en-US" altLang="zh-CN" dirty="0" smtClean="0"/>
              <a:t>1910</a:t>
            </a:r>
            <a:r>
              <a:rPr lang="zh-CN" altLang="en-US" dirty="0" smtClean="0"/>
              <a:t>年诺贝尔化学奖）总结提出了“异戊二烯规则”：天然萜类都是异戊二烯</a:t>
            </a:r>
            <a:r>
              <a:rPr lang="zh-CN" altLang="en-US" dirty="0"/>
              <a:t>的</a:t>
            </a:r>
            <a:r>
              <a:rPr lang="zh-CN" altLang="en-US" dirty="0" smtClean="0"/>
              <a:t>聚合体，或者</a:t>
            </a:r>
            <a:r>
              <a:rPr lang="zh-CN" altLang="en-US" dirty="0"/>
              <a:t>说自然界存在的萜类化合物都是由异戊二烯</a:t>
            </a:r>
            <a:r>
              <a:rPr lang="zh-CN" altLang="en-US" dirty="0" smtClean="0"/>
              <a:t>头尾相连</a:t>
            </a:r>
            <a:r>
              <a:rPr lang="zh-CN" altLang="en-US" dirty="0"/>
              <a:t>聚合并衍变的。</a:t>
            </a:r>
            <a:endParaRPr lang="en-US" altLang="zh-CN" dirty="0" smtClean="0"/>
          </a:p>
          <a:p>
            <a:pPr eaLnBrk="1" hangingPunct="1">
              <a:buClr>
                <a:srgbClr val="00B0F0"/>
              </a:buClr>
              <a:buFont typeface="Wingdings" pitchFamily="2" charset="2"/>
              <a:buChar char="p"/>
            </a:pPr>
            <a:r>
              <a:rPr lang="en-US" altLang="zh-CN" dirty="0" smtClean="0"/>
              <a:t>1953</a:t>
            </a:r>
            <a:r>
              <a:rPr lang="zh-CN" altLang="en-US" dirty="0" smtClean="0"/>
              <a:t>年，瑞士化学家</a:t>
            </a:r>
            <a:r>
              <a:rPr lang="en-US" altLang="zh-CN" dirty="0" smtClean="0"/>
              <a:t>Leopold </a:t>
            </a:r>
            <a:r>
              <a:rPr lang="en-US" altLang="zh-CN" dirty="0" err="1" smtClean="0"/>
              <a:t>Ruzicha</a:t>
            </a:r>
            <a:r>
              <a:rPr lang="zh-CN" altLang="en-US" dirty="0" smtClean="0"/>
              <a:t>（</a:t>
            </a:r>
            <a:r>
              <a:rPr lang="en-US" altLang="zh-CN" dirty="0" smtClean="0"/>
              <a:t>1939</a:t>
            </a:r>
            <a:r>
              <a:rPr lang="zh-CN" altLang="en-US" dirty="0" smtClean="0"/>
              <a:t>年诺贝尔化学奖）发现了甲戊二羟酸途径，提出了“生源的异戊二烯规则”：所有天然萜类化合物都是经过</a:t>
            </a:r>
            <a:r>
              <a:rPr lang="en-US" altLang="zh-CN" dirty="0" smtClean="0"/>
              <a:t>MVA</a:t>
            </a:r>
            <a:r>
              <a:rPr lang="zh-CN" altLang="en-US" dirty="0" smtClean="0"/>
              <a:t>途径衍生出来的，或者说萜类化合物都有一个活性的异戊二烯前体化合物</a:t>
            </a:r>
            <a:r>
              <a:rPr lang="zh-CN" altLang="en-US" b="1" dirty="0" smtClean="0"/>
              <a:t>。</a:t>
            </a:r>
            <a:endParaRPr lang="en-US" altLang="zh-CN" b="1" dirty="0" smtClean="0"/>
          </a:p>
          <a:p>
            <a:pPr eaLnBrk="1" hangingPunct="1">
              <a:buClr>
                <a:srgbClr val="00B0F0"/>
              </a:buClr>
              <a:buFont typeface="Arial" pitchFamily="34" charset="0"/>
              <a:buNone/>
            </a:pPr>
            <a:endParaRPr lang="en-US" altLang="zh-CN" b="1" dirty="0" smtClean="0"/>
          </a:p>
        </p:txBody>
      </p:sp>
    </p:spTree>
    <p:extLst>
      <p:ext uri="{BB962C8B-B14F-4D97-AF65-F5344CB8AC3E}">
        <p14:creationId xmlns:p14="http://schemas.microsoft.com/office/powerpoint/2010/main" val="125634430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cean">
  <a:themeElements>
    <a:clrScheme name="Ocean 1">
      <a:dk1>
        <a:srgbClr val="010199"/>
      </a:dk1>
      <a:lt1>
        <a:srgbClr val="FFFFFF"/>
      </a:lt1>
      <a:dk2>
        <a:srgbClr val="000099"/>
      </a:dk2>
      <a:lt2>
        <a:srgbClr val="FFFFFF"/>
      </a:lt2>
      <a:accent1>
        <a:srgbClr val="33CCCC"/>
      </a:accent1>
      <a:accent2>
        <a:srgbClr val="00C600"/>
      </a:accent2>
      <a:accent3>
        <a:srgbClr val="AAAACA"/>
      </a:accent3>
      <a:accent4>
        <a:srgbClr val="DADADA"/>
      </a:accent4>
      <a:accent5>
        <a:srgbClr val="ADE2E2"/>
      </a:accent5>
      <a:accent6>
        <a:srgbClr val="00B300"/>
      </a:accent6>
      <a:hlink>
        <a:srgbClr val="FFCC00"/>
      </a:hlink>
      <a:folHlink>
        <a:srgbClr val="6699FF"/>
      </a:folHlink>
    </a:clrScheme>
    <a:fontScheme name="Ocean">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Tahoma" pitchFamily="34" charset="0"/>
          </a:defRPr>
        </a:defPPr>
      </a:lstStyle>
    </a:lnDef>
  </a:objectDefaults>
  <a:extraClrSchemeLst>
    <a:extraClrScheme>
      <a:clrScheme name="Ocean 1">
        <a:dk1>
          <a:srgbClr val="010199"/>
        </a:dk1>
        <a:lt1>
          <a:srgbClr val="FFFFFF"/>
        </a:lt1>
        <a:dk2>
          <a:srgbClr val="000099"/>
        </a:dk2>
        <a:lt2>
          <a:srgbClr val="FFFFFF"/>
        </a:lt2>
        <a:accent1>
          <a:srgbClr val="33CCCC"/>
        </a:accent1>
        <a:accent2>
          <a:srgbClr val="00C600"/>
        </a:accent2>
        <a:accent3>
          <a:srgbClr val="AAAACA"/>
        </a:accent3>
        <a:accent4>
          <a:srgbClr val="DADADA"/>
        </a:accent4>
        <a:accent5>
          <a:srgbClr val="ADE2E2"/>
        </a:accent5>
        <a:accent6>
          <a:srgbClr val="00B300"/>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Ocean 2">
        <a:dk1>
          <a:srgbClr val="000066"/>
        </a:dk1>
        <a:lt1>
          <a:srgbClr val="FFFFFF"/>
        </a:lt1>
        <a:dk2>
          <a:srgbClr val="5D93FF"/>
        </a:dk2>
        <a:lt2>
          <a:srgbClr val="FFFFFF"/>
        </a:lt2>
        <a:accent1>
          <a:srgbClr val="6666FF"/>
        </a:accent1>
        <a:accent2>
          <a:srgbClr val="9999FF"/>
        </a:accent2>
        <a:accent3>
          <a:srgbClr val="B6C8FF"/>
        </a:accent3>
        <a:accent4>
          <a:srgbClr val="DADADA"/>
        </a:accent4>
        <a:accent5>
          <a:srgbClr val="B8B8FF"/>
        </a:accent5>
        <a:accent6>
          <a:srgbClr val="8A8AE7"/>
        </a:accent6>
        <a:hlink>
          <a:srgbClr val="FF3300"/>
        </a:hlink>
        <a:folHlink>
          <a:srgbClr val="FF9900"/>
        </a:folHlink>
      </a:clrScheme>
      <a:clrMap bg1="dk2" tx1="lt1" bg2="dk1" tx2="lt2" accent1="accent1" accent2="accent2" accent3="accent3" accent4="accent4" accent5="accent5" accent6="accent6" hlink="hlink" folHlink="folHlink"/>
    </a:extraClrScheme>
    <a:extraClrScheme>
      <a:clrScheme name="Ocean 3">
        <a:dk1>
          <a:srgbClr val="000000"/>
        </a:dk1>
        <a:lt1>
          <a:srgbClr val="FFFFFF"/>
        </a:lt1>
        <a:dk2>
          <a:srgbClr val="572E88"/>
        </a:dk2>
        <a:lt2>
          <a:srgbClr val="FFFFFF"/>
        </a:lt2>
        <a:accent1>
          <a:srgbClr val="FF6600"/>
        </a:accent1>
        <a:accent2>
          <a:srgbClr val="FFCC00"/>
        </a:accent2>
        <a:accent3>
          <a:srgbClr val="B4ADC3"/>
        </a:accent3>
        <a:accent4>
          <a:srgbClr val="DADADA"/>
        </a:accent4>
        <a:accent5>
          <a:srgbClr val="FFB8AA"/>
        </a:accent5>
        <a:accent6>
          <a:srgbClr val="E7B900"/>
        </a:accent6>
        <a:hlink>
          <a:srgbClr val="33CCCC"/>
        </a:hlink>
        <a:folHlink>
          <a:srgbClr val="36CC64"/>
        </a:folHlink>
      </a:clrScheme>
      <a:clrMap bg1="dk2" tx1="lt1" bg2="dk1" tx2="lt2" accent1="accent1" accent2="accent2" accent3="accent3" accent4="accent4" accent5="accent5" accent6="accent6" hlink="hlink" folHlink="folHlink"/>
    </a:extraClrScheme>
    <a:extraClrScheme>
      <a:clrScheme name="Ocean 4">
        <a:dk1>
          <a:srgbClr val="003366"/>
        </a:dk1>
        <a:lt1>
          <a:srgbClr val="FFFFFF"/>
        </a:lt1>
        <a:dk2>
          <a:srgbClr val="666699"/>
        </a:dk2>
        <a:lt2>
          <a:srgbClr val="FFFFFF"/>
        </a:lt2>
        <a:accent1>
          <a:srgbClr val="9966FF"/>
        </a:accent1>
        <a:accent2>
          <a:srgbClr val="00CC66"/>
        </a:accent2>
        <a:accent3>
          <a:srgbClr val="B8B8CA"/>
        </a:accent3>
        <a:accent4>
          <a:srgbClr val="DADADA"/>
        </a:accent4>
        <a:accent5>
          <a:srgbClr val="CAB8FF"/>
        </a:accent5>
        <a:accent6>
          <a:srgbClr val="00B95C"/>
        </a:accent6>
        <a:hlink>
          <a:srgbClr val="65C8FF"/>
        </a:hlink>
        <a:folHlink>
          <a:srgbClr val="FFCC99"/>
        </a:folHlink>
      </a:clrScheme>
      <a:clrMap bg1="dk2" tx1="lt1" bg2="dk1" tx2="lt2" accent1="accent1" accent2="accent2" accent3="accent3" accent4="accent4" accent5="accent5" accent6="accent6" hlink="hlink" folHlink="folHlink"/>
    </a:extraClrScheme>
    <a:extraClrScheme>
      <a:clrScheme name="Ocean 5">
        <a:dk1>
          <a:srgbClr val="000000"/>
        </a:dk1>
        <a:lt1>
          <a:srgbClr val="FFFFFF"/>
        </a:lt1>
        <a:dk2>
          <a:srgbClr val="336600"/>
        </a:dk2>
        <a:lt2>
          <a:srgbClr val="FFFFFF"/>
        </a:lt2>
        <a:accent1>
          <a:srgbClr val="B7C533"/>
        </a:accent1>
        <a:accent2>
          <a:srgbClr val="CCCCFF"/>
        </a:accent2>
        <a:accent3>
          <a:srgbClr val="ADB8AA"/>
        </a:accent3>
        <a:accent4>
          <a:srgbClr val="DADADA"/>
        </a:accent4>
        <a:accent5>
          <a:srgbClr val="D8DFAD"/>
        </a:accent5>
        <a:accent6>
          <a:srgbClr val="B9B9E7"/>
        </a:accent6>
        <a:hlink>
          <a:srgbClr val="FFFFCC"/>
        </a:hlink>
        <a:folHlink>
          <a:srgbClr val="FF9900"/>
        </a:folHlink>
      </a:clrScheme>
      <a:clrMap bg1="dk2" tx1="lt1" bg2="dk1" tx2="lt2" accent1="accent1" accent2="accent2" accent3="accent3" accent4="accent4" accent5="accent5" accent6="accent6" hlink="hlink" folHlink="folHlink"/>
    </a:extraClrScheme>
    <a:extraClrScheme>
      <a:clrScheme name="Ocean 6">
        <a:dk1>
          <a:srgbClr val="000000"/>
        </a:dk1>
        <a:lt1>
          <a:srgbClr val="FFFFFF"/>
        </a:lt1>
        <a:dk2>
          <a:srgbClr val="006B80"/>
        </a:dk2>
        <a:lt2>
          <a:srgbClr val="C1CB75"/>
        </a:lt2>
        <a:accent1>
          <a:srgbClr val="6F8406"/>
        </a:accent1>
        <a:accent2>
          <a:srgbClr val="D9E288"/>
        </a:accent2>
        <a:accent3>
          <a:srgbClr val="AABAC0"/>
        </a:accent3>
        <a:accent4>
          <a:srgbClr val="DADADA"/>
        </a:accent4>
        <a:accent5>
          <a:srgbClr val="BBC2AA"/>
        </a:accent5>
        <a:accent6>
          <a:srgbClr val="C4CD7B"/>
        </a:accent6>
        <a:hlink>
          <a:srgbClr val="00CC00"/>
        </a:hlink>
        <a:folHlink>
          <a:srgbClr val="C0FF73"/>
        </a:folHlink>
      </a:clrScheme>
      <a:clrMap bg1="dk2" tx1="lt1" bg2="dk1" tx2="lt2" accent1="accent1" accent2="accent2" accent3="accent3" accent4="accent4" accent5="accent5" accent6="accent6" hlink="hlink" folHlink="folHlink"/>
    </a:extraClrScheme>
    <a:extraClrScheme>
      <a:clrScheme name="Ocean 7">
        <a:dk1>
          <a:srgbClr val="5F5F5F"/>
        </a:dk1>
        <a:lt1>
          <a:srgbClr val="FFFFFF"/>
        </a:lt1>
        <a:dk2>
          <a:srgbClr val="FF6600"/>
        </a:dk2>
        <a:lt2>
          <a:srgbClr val="FFFFFF"/>
        </a:lt2>
        <a:accent1>
          <a:srgbClr val="CC6600"/>
        </a:accent1>
        <a:accent2>
          <a:srgbClr val="FF6600"/>
        </a:accent2>
        <a:accent3>
          <a:srgbClr val="FFB8AA"/>
        </a:accent3>
        <a:accent4>
          <a:srgbClr val="DADADA"/>
        </a:accent4>
        <a:accent5>
          <a:srgbClr val="E2B8AA"/>
        </a:accent5>
        <a:accent6>
          <a:srgbClr val="E75C00"/>
        </a:accent6>
        <a:hlink>
          <a:srgbClr val="FFFF99"/>
        </a:hlink>
        <a:folHlink>
          <a:srgbClr val="FFCC99"/>
        </a:folHlink>
      </a:clrScheme>
      <a:clrMap bg1="dk2" tx1="lt1" bg2="dk1" tx2="lt2" accent1="accent1" accent2="accent2" accent3="accent3" accent4="accent4" accent5="accent5" accent6="accent6" hlink="hlink" folHlink="folHlink"/>
    </a:extraClrScheme>
    <a:extraClrScheme>
      <a:clrScheme name="Ocean 8">
        <a:dk1>
          <a:srgbClr val="000000"/>
        </a:dk1>
        <a:lt1>
          <a:srgbClr val="FFFFFF"/>
        </a:lt1>
        <a:dk2>
          <a:srgbClr val="FFBA2F"/>
        </a:dk2>
        <a:lt2>
          <a:srgbClr val="A50021"/>
        </a:lt2>
        <a:accent1>
          <a:srgbClr val="FF6600"/>
        </a:accent1>
        <a:accent2>
          <a:srgbClr val="CC6600"/>
        </a:accent2>
        <a:accent3>
          <a:srgbClr val="FFD9AD"/>
        </a:accent3>
        <a:accent4>
          <a:srgbClr val="DADADA"/>
        </a:accent4>
        <a:accent5>
          <a:srgbClr val="FFB8AA"/>
        </a:accent5>
        <a:accent6>
          <a:srgbClr val="B95C00"/>
        </a:accent6>
        <a:hlink>
          <a:srgbClr val="663300"/>
        </a:hlink>
        <a:folHlink>
          <a:srgbClr val="CC990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3852</TotalTime>
  <Words>697</Words>
  <Application>Microsoft Office PowerPoint</Application>
  <PresentationFormat>全屏显示(4:3)</PresentationFormat>
  <Paragraphs>86</Paragraphs>
  <Slides>16</Slides>
  <Notes>1</Notes>
  <HiddenSlides>0</HiddenSlides>
  <MMClips>0</MMClips>
  <ScaleCrop>false</ScaleCrop>
  <HeadingPairs>
    <vt:vector size="6" baseType="variant">
      <vt:variant>
        <vt:lpstr>主题</vt:lpstr>
      </vt:variant>
      <vt:variant>
        <vt:i4>2</vt:i4>
      </vt:variant>
      <vt:variant>
        <vt:lpstr>嵌入 OLE 服务器</vt:lpstr>
      </vt:variant>
      <vt:variant>
        <vt:i4>1</vt:i4>
      </vt:variant>
      <vt:variant>
        <vt:lpstr>幻灯片标题</vt:lpstr>
      </vt:variant>
      <vt:variant>
        <vt:i4>16</vt:i4>
      </vt:variant>
    </vt:vector>
  </HeadingPairs>
  <TitlesOfParts>
    <vt:vector size="19" baseType="lpstr">
      <vt:lpstr>Office 主题​​</vt:lpstr>
      <vt:lpstr>Ocean</vt:lpstr>
      <vt:lpstr>CS ChemDraw Drawing</vt:lpstr>
      <vt:lpstr>海洋天然产物化学 Marine Natural Product Chemistry</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ZJUOC</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DYN</dc:creator>
  <cp:lastModifiedBy>xjz</cp:lastModifiedBy>
  <cp:revision>232</cp:revision>
  <dcterms:created xsi:type="dcterms:W3CDTF">2015-01-27T02:40:20Z</dcterms:created>
  <dcterms:modified xsi:type="dcterms:W3CDTF">2022-04-06T13:58:40Z</dcterms:modified>
</cp:coreProperties>
</file>