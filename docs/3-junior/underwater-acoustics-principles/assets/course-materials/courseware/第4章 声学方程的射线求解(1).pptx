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70" r:id="rId11"/>
    <p:sldId id="268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305" r:id="rId33"/>
    <p:sldId id="292" r:id="rId34"/>
    <p:sldId id="306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in Wang" initials="DW" lastIdx="1" clrIdx="0">
    <p:extLst>
      <p:ext uri="{19B8F6BF-5375-455C-9EA6-DF929625EA0E}">
        <p15:presenceInfo xmlns:p15="http://schemas.microsoft.com/office/powerpoint/2012/main" userId="Delin W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464"/>
    <a:srgbClr val="B4C7E7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 showGuides="1">
      <p:cViewPr>
        <p:scale>
          <a:sx n="114" d="100"/>
          <a:sy n="114" d="100"/>
        </p:scale>
        <p:origin x="536" y="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9FDF6-B614-4F54-BE64-77849C8CFF6A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81E64-6133-4FEF-B628-99AC54880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955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FAF9E8-D342-4BA5-A33C-A5216E715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263FCB-AE86-4BF7-A4DA-6182CE7BE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6B0DAD-E836-49D9-97C1-6DC2B47D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D4B53-9819-4A96-9794-C190B18D341F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B1FFBB-CC9D-4BA4-8FD2-8EEA14A7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0C9C44-178B-4437-A735-7B8A559A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9D5D12-698A-44C2-9F4B-25FD60548E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37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77E5F-15AD-4B33-B0CE-94979742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2FB11E-76D9-42F7-97BE-C612BF86C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6411B9-A792-4F64-B234-C9E03C98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71F9-95EF-4038-97C0-7C9DF672F74B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8ECBA3-D249-41AD-B4CD-D06E47259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8A4037-BA29-428B-BDEA-BC307CC7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6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A5FF5-1B63-4661-8650-7F95C373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BD0728-F948-40EB-8FF8-09FCE2FE6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945A05-4655-4B8E-A95C-3CA3B80C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FA66D-A06D-4163-9424-BB42C9903BA8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78DA4C-63E1-4F33-82FC-948F466EE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A04E6A-ACB6-4E18-9A48-AA0D7516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22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4FE2E-50D6-46D9-A5CA-5F252FBF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9236B7-977E-47C9-8CEE-4207E8EDE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2C6B33-F326-4B6A-9724-F5761F511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C961BD-1B7D-4736-A035-3416C1C1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5AC7A-69D9-42F8-9418-2FABF6DB5B08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E3FE23-D956-4463-859B-46B7020B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1D12B0-AD5B-485C-A876-A2A9E523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6E825-6BAF-4C51-8934-7C03AC6C0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792EB-04A3-4ED6-B755-473B5B175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50A85C-6BBE-4E4B-8975-B289F0DE3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03D1CB-FEEE-4767-81D3-30DC9802B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8943C2-5728-425B-8A9D-8C44C45B7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379867-F7B1-4FE8-AFC5-334948DC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6BD6D-70F0-45A9-B22A-5916F25ED4AD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C81474-6148-4284-9695-BF9913EA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9C4DA6-2440-47E4-B8F3-7D150CD4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2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015FC-7DE1-4BDA-B3BF-9745F92D1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96BBDB-DFB3-4F71-B0C0-4314C97D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4EB16-2810-4F1D-974C-2ABF4D3B9726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98803B-81DC-431F-B22F-560A3C9B3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33E39E-9213-4526-88B1-87DF66F3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2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10A9E0-45ED-4E73-8DE5-79080E67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18278-E480-464E-9752-9B68644373F4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2111EE-962E-4F32-A950-B2F21BE54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8EDB17-0891-4A51-88A7-A8C58CA0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29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C6DC19-D78B-4FDB-A95F-26A52067B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B159A-FE03-4B29-A806-069D944E4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941E24-8727-4DEE-830E-7D855BE6A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44F9CA-F92B-452C-8117-A0E9E389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195D-BF1B-4490-A7A1-123D5730BFFC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7B2B13-4217-483A-B29B-E5E88A9E6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1669F3-AF08-44BE-803B-7E52818D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79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E58A6-A5FB-4FC6-BAFE-11C2F6147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1391E1-2606-43ED-BBD8-093DD7D66E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6A674C-C2A7-4BAC-8CB3-C44F6BC6F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771CCE-1690-46DB-B543-58B64A273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897F-35C8-461B-A8A4-E3F40D989DA7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3CF7F0-0F70-4C10-955A-327D25B0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2233CF-40C3-4225-B6C8-2BD2FDA3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4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E6C70-7907-4AB9-9C00-6FC0F7B1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520B67-EAB1-4D5E-A162-CA55488C7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2291A5-3867-4D0B-B323-6206EFCD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AB7D-1C03-4C67-A696-E03A92AE306F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11E75D-ED83-4248-A274-5738B3E1B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D4F339-91EF-4F1C-81E8-0105B484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85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1F42DE-52C2-4728-AE85-0E4622D4C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66E10E-35CD-4CD1-B9FA-12980E664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CBBEB5-9651-4D90-95D8-95784E187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88DA2-5CCE-4AB7-9CAC-06D938E4E4CA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A0C422-C88F-4BDD-BE34-05C767DC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26D55F-1293-441F-B1E8-EFEE72F8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97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B0478E-5387-42BC-853F-F13F400E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7A6312-3C8F-4B9F-8DBD-86498C102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E26BA3-F25E-4B1C-AC3A-E9BA87630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6F6E7-5AD8-425E-8D78-046B53931400}" type="datetime1">
              <a:rPr lang="en-US" altLang="zh-CN" smtClean="0"/>
              <a:t>4/7/26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7FC592-FF73-4EE7-8FBD-F9D8E578C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6D40D6-F21A-44E8-BC2C-3526A8DB2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9D5D12-698A-44C2-9F4B-25FD60548E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7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17.png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26.wmf"/><Relationship Id="rId2" Type="http://schemas.openxmlformats.org/officeDocument/2006/relationships/oleObject" Target="../embeddings/oleObject20.bin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1.wmf"/><Relationship Id="rId18" Type="http://schemas.openxmlformats.org/officeDocument/2006/relationships/image" Target="../media/image33.png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28.png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0.wmf"/><Relationship Id="rId5" Type="http://schemas.openxmlformats.org/officeDocument/2006/relationships/image" Target="../media/image28.wmf"/><Relationship Id="rId15" Type="http://schemas.openxmlformats.org/officeDocument/2006/relationships/image" Target="../media/image32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3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37.wmf"/><Relationship Id="rId18" Type="http://schemas.openxmlformats.org/officeDocument/2006/relationships/oleObject" Target="../embeddings/oleObject29.bin"/><Relationship Id="rId3" Type="http://schemas.openxmlformats.org/officeDocument/2006/relationships/image" Target="../media/image22.wmf"/><Relationship Id="rId7" Type="http://schemas.openxmlformats.org/officeDocument/2006/relationships/image" Target="../media/image34.png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39.wmf"/><Relationship Id="rId2" Type="http://schemas.openxmlformats.org/officeDocument/2006/relationships/oleObject" Target="../embeddings/oleObject31.bin"/><Relationship Id="rId16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4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48.wmf"/><Relationship Id="rId18" Type="http://schemas.openxmlformats.org/officeDocument/2006/relationships/oleObject" Target="../embeddings/oleObject53.bin"/><Relationship Id="rId3" Type="http://schemas.openxmlformats.org/officeDocument/2006/relationships/image" Target="../media/image43.png"/><Relationship Id="rId21" Type="http://schemas.openxmlformats.org/officeDocument/2006/relationships/image" Target="../media/image52.wmf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50.wmf"/><Relationship Id="rId16" Type="http://schemas.openxmlformats.org/officeDocument/2006/relationships/oleObject" Target="../embeddings/oleObject52.bin"/><Relationship Id="rId20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23" Type="http://schemas.openxmlformats.org/officeDocument/2006/relationships/image" Target="../media/image53.wmf"/><Relationship Id="rId10" Type="http://schemas.openxmlformats.org/officeDocument/2006/relationships/oleObject" Target="../embeddings/oleObject49.bin"/><Relationship Id="rId19" Type="http://schemas.openxmlformats.org/officeDocument/2006/relationships/image" Target="../media/image51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51.bin"/><Relationship Id="rId22" Type="http://schemas.openxmlformats.org/officeDocument/2006/relationships/oleObject" Target="../embeddings/oleObject5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58.wmf"/><Relationship Id="rId18" Type="http://schemas.openxmlformats.org/officeDocument/2006/relationships/oleObject" Target="../embeddings/oleObject64.bin"/><Relationship Id="rId26" Type="http://schemas.openxmlformats.org/officeDocument/2006/relationships/image" Target="../media/image63.wmf"/><Relationship Id="rId3" Type="http://schemas.openxmlformats.org/officeDocument/2006/relationships/image" Target="../media/image43.png"/><Relationship Id="rId21" Type="http://schemas.openxmlformats.org/officeDocument/2006/relationships/oleObject" Target="../embeddings/oleObject66.bin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60.bin"/><Relationship Id="rId17" Type="http://schemas.openxmlformats.org/officeDocument/2006/relationships/oleObject" Target="../embeddings/oleObject63.bin"/><Relationship Id="rId25" Type="http://schemas.openxmlformats.org/officeDocument/2006/relationships/oleObject" Target="../embeddings/oleObject68.bin"/><Relationship Id="rId16" Type="http://schemas.openxmlformats.org/officeDocument/2006/relationships/oleObject" Target="../embeddings/oleObject62.bin"/><Relationship Id="rId20" Type="http://schemas.openxmlformats.org/officeDocument/2006/relationships/image" Target="../media/image60.wmf"/><Relationship Id="rId29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57.wmf"/><Relationship Id="rId24" Type="http://schemas.openxmlformats.org/officeDocument/2006/relationships/image" Target="../media/image62.wmf"/><Relationship Id="rId5" Type="http://schemas.openxmlformats.org/officeDocument/2006/relationships/image" Target="../media/image54.wmf"/><Relationship Id="rId15" Type="http://schemas.openxmlformats.org/officeDocument/2006/relationships/image" Target="../media/image59.wmf"/><Relationship Id="rId23" Type="http://schemas.openxmlformats.org/officeDocument/2006/relationships/oleObject" Target="../embeddings/oleObject67.bin"/><Relationship Id="rId28" Type="http://schemas.openxmlformats.org/officeDocument/2006/relationships/image" Target="../media/image64.wmf"/><Relationship Id="rId10" Type="http://schemas.openxmlformats.org/officeDocument/2006/relationships/oleObject" Target="../embeddings/oleObject59.bin"/><Relationship Id="rId19" Type="http://schemas.openxmlformats.org/officeDocument/2006/relationships/oleObject" Target="../embeddings/oleObject65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61.bin"/><Relationship Id="rId22" Type="http://schemas.openxmlformats.org/officeDocument/2006/relationships/image" Target="../media/image61.wmf"/><Relationship Id="rId27" Type="http://schemas.openxmlformats.org/officeDocument/2006/relationships/oleObject" Target="../embeddings/oleObject69.bin"/><Relationship Id="rId30" Type="http://schemas.openxmlformats.org/officeDocument/2006/relationships/image" Target="../media/image4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70.wmf"/><Relationship Id="rId3" Type="http://schemas.openxmlformats.org/officeDocument/2006/relationships/image" Target="../media/image65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75.bin"/><Relationship Id="rId17" Type="http://schemas.openxmlformats.org/officeDocument/2006/relationships/image" Target="../media/image72.wmf"/><Relationship Id="rId2" Type="http://schemas.openxmlformats.org/officeDocument/2006/relationships/oleObject" Target="../embeddings/oleObject70.bin"/><Relationship Id="rId16" Type="http://schemas.openxmlformats.org/officeDocument/2006/relationships/oleObject" Target="../embeddings/oleObject7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7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oleObject" Target="../embeddings/oleObject82.bin"/><Relationship Id="rId18" Type="http://schemas.openxmlformats.org/officeDocument/2006/relationships/image" Target="../media/image79.wmf"/><Relationship Id="rId3" Type="http://schemas.openxmlformats.org/officeDocument/2006/relationships/image" Target="../media/image73.wmf"/><Relationship Id="rId7" Type="http://schemas.openxmlformats.org/officeDocument/2006/relationships/image" Target="../media/image68.png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84.bin"/><Relationship Id="rId2" Type="http://schemas.openxmlformats.org/officeDocument/2006/relationships/oleObject" Target="../embeddings/oleObject78.bin"/><Relationship Id="rId16" Type="http://schemas.openxmlformats.org/officeDocument/2006/relationships/image" Target="../media/image78.wmf"/><Relationship Id="rId1" Type="http://schemas.openxmlformats.org/officeDocument/2006/relationships/slideLayout" Target="../slideLayouts/slideLayout2.xml"/><Relationship Id="rId11" Type="http://schemas.openxmlformats.org/officeDocument/2006/relationships/oleObject" Target="../embeddings/oleObject81.bin"/><Relationship Id="rId5" Type="http://schemas.openxmlformats.org/officeDocument/2006/relationships/image" Target="../media/image74.wmf"/><Relationship Id="rId15" Type="http://schemas.openxmlformats.org/officeDocument/2006/relationships/oleObject" Target="../embeddings/oleObject83.bin"/><Relationship Id="rId10" Type="http://schemas.openxmlformats.org/officeDocument/2006/relationships/image" Target="../media/image75.wmf"/><Relationship Id="rId4" Type="http://schemas.openxmlformats.org/officeDocument/2006/relationships/oleObject" Target="../embeddings/oleObject79.bin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7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88.bin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2.png"/><Relationship Id="rId5" Type="http://schemas.openxmlformats.org/officeDocument/2006/relationships/image" Target="../media/image80.w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8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0.png"/><Relationship Id="rId13" Type="http://schemas.openxmlformats.org/officeDocument/2006/relationships/image" Target="../media/image86.wmf"/><Relationship Id="rId18" Type="http://schemas.openxmlformats.org/officeDocument/2006/relationships/image" Target="../media/image87.wmf"/><Relationship Id="rId3" Type="http://schemas.openxmlformats.org/officeDocument/2006/relationships/image" Target="../media/image78.wmf"/><Relationship Id="rId21" Type="http://schemas.openxmlformats.org/officeDocument/2006/relationships/image" Target="../media/image88.wmf"/><Relationship Id="rId7" Type="http://schemas.openxmlformats.org/officeDocument/2006/relationships/image" Target="../media/image78.png"/><Relationship Id="rId12" Type="http://schemas.openxmlformats.org/officeDocument/2006/relationships/oleObject" Target="../embeddings/oleObject91.bin"/><Relationship Id="rId17" Type="http://schemas.openxmlformats.org/officeDocument/2006/relationships/oleObject" Target="../embeddings/oleObject92.bin"/><Relationship Id="rId2" Type="http://schemas.openxmlformats.org/officeDocument/2006/relationships/oleObject" Target="../embeddings/oleObject83.bin"/><Relationship Id="rId16" Type="http://schemas.openxmlformats.org/officeDocument/2006/relationships/image" Target="../media/image81.png"/><Relationship Id="rId20" Type="http://schemas.openxmlformats.org/officeDocument/2006/relationships/oleObject" Target="../embeddings/oleObject93.bin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00.png"/><Relationship Id="rId24" Type="http://schemas.openxmlformats.org/officeDocument/2006/relationships/image" Target="../media/image90.png"/><Relationship Id="rId5" Type="http://schemas.openxmlformats.org/officeDocument/2006/relationships/image" Target="../media/image84.wmf"/><Relationship Id="rId23" Type="http://schemas.openxmlformats.org/officeDocument/2006/relationships/image" Target="../media/image89.wmf"/><Relationship Id="rId10" Type="http://schemas.openxmlformats.org/officeDocument/2006/relationships/image" Target="../media/image85.wmf"/><Relationship Id="rId19" Type="http://schemas.openxmlformats.org/officeDocument/2006/relationships/image" Target="../media/image820.png"/><Relationship Id="rId4" Type="http://schemas.openxmlformats.org/officeDocument/2006/relationships/oleObject" Target="../embeddings/oleObject89.bin"/><Relationship Id="rId9" Type="http://schemas.openxmlformats.org/officeDocument/2006/relationships/oleObject" Target="../embeddings/oleObject90.bin"/><Relationship Id="rId22" Type="http://schemas.openxmlformats.org/officeDocument/2006/relationships/oleObject" Target="../embeddings/oleObject9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94.wmf"/><Relationship Id="rId18" Type="http://schemas.openxmlformats.org/officeDocument/2006/relationships/image" Target="../media/image90.png"/><Relationship Id="rId3" Type="http://schemas.openxmlformats.org/officeDocument/2006/relationships/image" Target="../media/image78.wmf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96.wmf"/><Relationship Id="rId2" Type="http://schemas.openxmlformats.org/officeDocument/2006/relationships/oleObject" Target="../embeddings/oleObject83.bin"/><Relationship Id="rId16" Type="http://schemas.openxmlformats.org/officeDocument/2006/relationships/oleObject" Target="../embeddings/oleObject10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93.wmf"/><Relationship Id="rId5" Type="http://schemas.openxmlformats.org/officeDocument/2006/relationships/image" Target="../media/image84.wmf"/><Relationship Id="rId15" Type="http://schemas.openxmlformats.org/officeDocument/2006/relationships/image" Target="../media/image95.wmf"/><Relationship Id="rId10" Type="http://schemas.openxmlformats.org/officeDocument/2006/relationships/oleObject" Target="../embeddings/oleObject97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92.wmf"/><Relationship Id="rId14" Type="http://schemas.openxmlformats.org/officeDocument/2006/relationships/oleObject" Target="../embeddings/oleObject9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3.bin"/><Relationship Id="rId5" Type="http://schemas.openxmlformats.org/officeDocument/2006/relationships/image" Target="../media/image98.wmf"/><Relationship Id="rId4" Type="http://schemas.openxmlformats.org/officeDocument/2006/relationships/oleObject" Target="../embeddings/oleObject10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10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06.wmf"/><Relationship Id="rId5" Type="http://schemas.openxmlformats.org/officeDocument/2006/relationships/image" Target="../media/image103.wmf"/><Relationship Id="rId10" Type="http://schemas.openxmlformats.org/officeDocument/2006/relationships/oleObject" Target="../embeddings/oleObject110.bin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0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image" Target="../media/image107.wmf"/><Relationship Id="rId7" Type="http://schemas.openxmlformats.org/officeDocument/2006/relationships/image" Target="../media/image109.wmf"/><Relationship Id="rId12" Type="http://schemas.openxmlformats.org/officeDocument/2006/relationships/image" Target="../media/image112.png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11.wmf"/><Relationship Id="rId5" Type="http://schemas.openxmlformats.org/officeDocument/2006/relationships/image" Target="../media/image108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0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oleObject" Target="../embeddings/oleObject120.bin"/><Relationship Id="rId3" Type="http://schemas.openxmlformats.org/officeDocument/2006/relationships/image" Target="../media/image1090.png"/><Relationship Id="rId7" Type="http://schemas.openxmlformats.org/officeDocument/2006/relationships/image" Target="../media/image114.wmf"/><Relationship Id="rId12" Type="http://schemas.openxmlformats.org/officeDocument/2006/relationships/image" Target="../media/image11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7.bin"/><Relationship Id="rId11" Type="http://schemas.openxmlformats.org/officeDocument/2006/relationships/oleObject" Target="../embeddings/oleObject119.bin"/><Relationship Id="rId5" Type="http://schemas.openxmlformats.org/officeDocument/2006/relationships/image" Target="../media/image113.wmf"/><Relationship Id="rId10" Type="http://schemas.openxmlformats.org/officeDocument/2006/relationships/image" Target="../media/image116.png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15.wmf"/><Relationship Id="rId14" Type="http://schemas.openxmlformats.org/officeDocument/2006/relationships/image" Target="../media/image11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23.wmf"/><Relationship Id="rId3" Type="http://schemas.openxmlformats.org/officeDocument/2006/relationships/image" Target="../media/image1150.png"/><Relationship Id="rId7" Type="http://schemas.openxmlformats.org/officeDocument/2006/relationships/image" Target="../media/image120.wmf"/><Relationship Id="rId12" Type="http://schemas.openxmlformats.org/officeDocument/2006/relationships/oleObject" Target="../embeddings/oleObject1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22.wmf"/><Relationship Id="rId5" Type="http://schemas.openxmlformats.org/officeDocument/2006/relationships/image" Target="../media/image119.wmf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21.wmf"/><Relationship Id="rId14" Type="http://schemas.openxmlformats.org/officeDocument/2006/relationships/image" Target="../media/image11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3" Type="http://schemas.openxmlformats.org/officeDocument/2006/relationships/image" Target="../media/image125.png"/><Relationship Id="rId7" Type="http://schemas.openxmlformats.org/officeDocument/2006/relationships/image" Target="../media/image127.wmf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250.png"/><Relationship Id="rId5" Type="http://schemas.openxmlformats.org/officeDocument/2006/relationships/image" Target="../media/image126.w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2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134.wmf"/><Relationship Id="rId18" Type="http://schemas.openxmlformats.org/officeDocument/2006/relationships/oleObject" Target="../embeddings/oleObject137.bin"/><Relationship Id="rId26" Type="http://schemas.openxmlformats.org/officeDocument/2006/relationships/oleObject" Target="../embeddings/oleObject141.bin"/><Relationship Id="rId3" Type="http://schemas.openxmlformats.org/officeDocument/2006/relationships/image" Target="../media/image125.png"/><Relationship Id="rId21" Type="http://schemas.openxmlformats.org/officeDocument/2006/relationships/image" Target="../media/image137.wmf"/><Relationship Id="rId7" Type="http://schemas.openxmlformats.org/officeDocument/2006/relationships/image" Target="../media/image131.wmf"/><Relationship Id="rId12" Type="http://schemas.openxmlformats.org/officeDocument/2006/relationships/oleObject" Target="../embeddings/oleObject133.bin"/><Relationship Id="rId17" Type="http://schemas.openxmlformats.org/officeDocument/2006/relationships/image" Target="../media/image135.wmf"/><Relationship Id="rId25" Type="http://schemas.openxmlformats.org/officeDocument/2006/relationships/image" Target="../media/image139.wmf"/><Relationship Id="rId2" Type="http://schemas.openxmlformats.org/officeDocument/2006/relationships/image" Target="../media/image129.png"/><Relationship Id="rId16" Type="http://schemas.openxmlformats.org/officeDocument/2006/relationships/oleObject" Target="../embeddings/oleObject136.bin"/><Relationship Id="rId20" Type="http://schemas.openxmlformats.org/officeDocument/2006/relationships/oleObject" Target="../embeddings/oleObject1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33.wmf"/><Relationship Id="rId24" Type="http://schemas.openxmlformats.org/officeDocument/2006/relationships/oleObject" Target="../embeddings/oleObject140.bin"/><Relationship Id="rId5" Type="http://schemas.openxmlformats.org/officeDocument/2006/relationships/image" Target="../media/image130.wmf"/><Relationship Id="rId15" Type="http://schemas.openxmlformats.org/officeDocument/2006/relationships/oleObject" Target="../embeddings/oleObject135.bin"/><Relationship Id="rId23" Type="http://schemas.openxmlformats.org/officeDocument/2006/relationships/image" Target="../media/image138.wmf"/><Relationship Id="rId10" Type="http://schemas.openxmlformats.org/officeDocument/2006/relationships/oleObject" Target="../embeddings/oleObject132.bin"/><Relationship Id="rId19" Type="http://schemas.openxmlformats.org/officeDocument/2006/relationships/image" Target="../media/image136.wmf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32.wmf"/><Relationship Id="rId14" Type="http://schemas.openxmlformats.org/officeDocument/2006/relationships/oleObject" Target="../embeddings/oleObject134.bin"/><Relationship Id="rId22" Type="http://schemas.openxmlformats.org/officeDocument/2006/relationships/oleObject" Target="../embeddings/oleObject139.bin"/><Relationship Id="rId27" Type="http://schemas.openxmlformats.org/officeDocument/2006/relationships/image" Target="../media/image14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134.bin"/><Relationship Id="rId18" Type="http://schemas.openxmlformats.org/officeDocument/2006/relationships/image" Target="../media/image136.wmf"/><Relationship Id="rId3" Type="http://schemas.openxmlformats.org/officeDocument/2006/relationships/oleObject" Target="../embeddings/oleObject130.bin"/><Relationship Id="rId21" Type="http://schemas.openxmlformats.org/officeDocument/2006/relationships/oleObject" Target="../embeddings/oleObject143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38.wmf"/><Relationship Id="rId17" Type="http://schemas.openxmlformats.org/officeDocument/2006/relationships/oleObject" Target="../embeddings/oleObject137.bin"/><Relationship Id="rId2" Type="http://schemas.openxmlformats.org/officeDocument/2006/relationships/image" Target="../media/image141.png"/><Relationship Id="rId16" Type="http://schemas.openxmlformats.org/officeDocument/2006/relationships/image" Target="../media/image135.wmf"/><Relationship Id="rId20" Type="http://schemas.openxmlformats.org/officeDocument/2006/relationships/image" Target="../media/image14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1.bin"/><Relationship Id="rId15" Type="http://schemas.openxmlformats.org/officeDocument/2006/relationships/oleObject" Target="../embeddings/oleObject136.bin"/><Relationship Id="rId10" Type="http://schemas.openxmlformats.org/officeDocument/2006/relationships/image" Target="../media/image134.wmf"/><Relationship Id="rId19" Type="http://schemas.openxmlformats.org/officeDocument/2006/relationships/oleObject" Target="../embeddings/oleObject142.bin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33.bin"/><Relationship Id="rId14" Type="http://schemas.openxmlformats.org/officeDocument/2006/relationships/oleObject" Target="../embeddings/oleObject135.bin"/><Relationship Id="rId22" Type="http://schemas.openxmlformats.org/officeDocument/2006/relationships/image" Target="../media/image14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50.wmf"/><Relationship Id="rId3" Type="http://schemas.openxmlformats.org/officeDocument/2006/relationships/image" Target="../media/image144.png"/><Relationship Id="rId7" Type="http://schemas.openxmlformats.org/officeDocument/2006/relationships/image" Target="../media/image145.wmf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50.bin"/><Relationship Id="rId16" Type="http://schemas.openxmlformats.org/officeDocument/2006/relationships/image" Target="../media/image14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5.bin"/><Relationship Id="rId11" Type="http://schemas.openxmlformats.org/officeDocument/2006/relationships/oleObject" Target="../embeddings/oleObject147.bin"/><Relationship Id="rId5" Type="http://schemas.openxmlformats.org/officeDocument/2006/relationships/image" Target="../media/image144.wmf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145.png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46.wmf"/><Relationship Id="rId14" Type="http://schemas.openxmlformats.org/officeDocument/2006/relationships/image" Target="../media/image14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56.wmf"/><Relationship Id="rId3" Type="http://schemas.openxmlformats.org/officeDocument/2006/relationships/image" Target="../media/image151.wmf"/><Relationship Id="rId7" Type="http://schemas.openxmlformats.org/officeDocument/2006/relationships/image" Target="../media/image153.wmf"/><Relationship Id="rId12" Type="http://schemas.openxmlformats.org/officeDocument/2006/relationships/oleObject" Target="../embeddings/oleObject156.bin"/><Relationship Id="rId2" Type="http://schemas.openxmlformats.org/officeDocument/2006/relationships/oleObject" Target="../embeddings/oleObject1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55.wmf"/><Relationship Id="rId5" Type="http://schemas.openxmlformats.org/officeDocument/2006/relationships/image" Target="../media/image152.wmf"/><Relationship Id="rId15" Type="http://schemas.openxmlformats.org/officeDocument/2006/relationships/image" Target="../media/image107.wmf"/><Relationship Id="rId10" Type="http://schemas.openxmlformats.org/officeDocument/2006/relationships/oleObject" Target="../embeddings/oleObject155.bin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54.wmf"/><Relationship Id="rId14" Type="http://schemas.openxmlformats.org/officeDocument/2006/relationships/oleObject" Target="../embeddings/oleObject11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3" Type="http://schemas.openxmlformats.org/officeDocument/2006/relationships/image" Target="../media/image157.wmf"/><Relationship Id="rId7" Type="http://schemas.openxmlformats.org/officeDocument/2006/relationships/image" Target="../media/image159.wmf"/><Relationship Id="rId2" Type="http://schemas.openxmlformats.org/officeDocument/2006/relationships/oleObject" Target="../embeddings/oleObject15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9.bin"/><Relationship Id="rId5" Type="http://schemas.openxmlformats.org/officeDocument/2006/relationships/image" Target="../media/image158.wmf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60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7" Type="http://schemas.openxmlformats.org/officeDocument/2006/relationships/image" Target="../media/image163.wmf"/><Relationship Id="rId2" Type="http://schemas.openxmlformats.org/officeDocument/2006/relationships/oleObject" Target="../embeddings/oleObject16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3.bin"/><Relationship Id="rId5" Type="http://schemas.openxmlformats.org/officeDocument/2006/relationships/image" Target="../media/image162.wmf"/><Relationship Id="rId4" Type="http://schemas.openxmlformats.org/officeDocument/2006/relationships/oleObject" Target="../embeddings/oleObject16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oleObject" Target="../embeddings/oleObject16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6.wmf"/><Relationship Id="rId4" Type="http://schemas.openxmlformats.org/officeDocument/2006/relationships/oleObject" Target="../embeddings/oleObject165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image" Target="../media/image168.png"/><Relationship Id="rId7" Type="http://schemas.openxmlformats.org/officeDocument/2006/relationships/oleObject" Target="../embeddings/oleObject168.bin"/><Relationship Id="rId2" Type="http://schemas.openxmlformats.org/officeDocument/2006/relationships/oleObject" Target="../embeddings/oleObject16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167.bin"/><Relationship Id="rId10" Type="http://schemas.openxmlformats.org/officeDocument/2006/relationships/image" Target="../media/image172.wmf"/><Relationship Id="rId4" Type="http://schemas.openxmlformats.org/officeDocument/2006/relationships/image" Target="../media/image169.png"/><Relationship Id="rId9" Type="http://schemas.openxmlformats.org/officeDocument/2006/relationships/oleObject" Target="../embeddings/oleObject16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177.wmf"/><Relationship Id="rId3" Type="http://schemas.openxmlformats.org/officeDocument/2006/relationships/image" Target="../media/image1590.png"/><Relationship Id="rId7" Type="http://schemas.openxmlformats.org/officeDocument/2006/relationships/image" Target="../media/image174.wmf"/><Relationship Id="rId12" Type="http://schemas.openxmlformats.org/officeDocument/2006/relationships/oleObject" Target="../embeddings/oleObject1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76.wmf"/><Relationship Id="rId5" Type="http://schemas.openxmlformats.org/officeDocument/2006/relationships/image" Target="../media/image173.wmf"/><Relationship Id="rId10" Type="http://schemas.openxmlformats.org/officeDocument/2006/relationships/oleObject" Target="../embeddings/oleObject173.bin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7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183.wmf"/><Relationship Id="rId3" Type="http://schemas.openxmlformats.org/officeDocument/2006/relationships/image" Target="../media/image178.wmf"/><Relationship Id="rId7" Type="http://schemas.openxmlformats.org/officeDocument/2006/relationships/image" Target="../media/image180.wmf"/><Relationship Id="rId12" Type="http://schemas.openxmlformats.org/officeDocument/2006/relationships/oleObject" Target="../embeddings/oleObject180.bin"/><Relationship Id="rId17" Type="http://schemas.openxmlformats.org/officeDocument/2006/relationships/image" Target="../media/image185.wmf"/><Relationship Id="rId2" Type="http://schemas.openxmlformats.org/officeDocument/2006/relationships/oleObject" Target="../embeddings/oleObject175.bin"/><Relationship Id="rId16" Type="http://schemas.openxmlformats.org/officeDocument/2006/relationships/oleObject" Target="../embeddings/oleObject18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82.wmf"/><Relationship Id="rId5" Type="http://schemas.openxmlformats.org/officeDocument/2006/relationships/image" Target="../media/image179.wmf"/><Relationship Id="rId15" Type="http://schemas.openxmlformats.org/officeDocument/2006/relationships/image" Target="../media/image184.wmf"/><Relationship Id="rId10" Type="http://schemas.openxmlformats.org/officeDocument/2006/relationships/oleObject" Target="../embeddings/oleObject179.bin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81.wmf"/><Relationship Id="rId14" Type="http://schemas.openxmlformats.org/officeDocument/2006/relationships/oleObject" Target="../embeddings/oleObject18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7" Type="http://schemas.openxmlformats.org/officeDocument/2006/relationships/image" Target="../media/image188.wmf"/><Relationship Id="rId2" Type="http://schemas.openxmlformats.org/officeDocument/2006/relationships/oleObject" Target="../embeddings/oleObject1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5.bin"/><Relationship Id="rId5" Type="http://schemas.openxmlformats.org/officeDocument/2006/relationships/image" Target="../media/image187.wmf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167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9.bin"/><Relationship Id="rId3" Type="http://schemas.openxmlformats.org/officeDocument/2006/relationships/image" Target="../media/image189.wmf"/><Relationship Id="rId7" Type="http://schemas.openxmlformats.org/officeDocument/2006/relationships/image" Target="../media/image191.wmf"/><Relationship Id="rId2" Type="http://schemas.openxmlformats.org/officeDocument/2006/relationships/oleObject" Target="../embeddings/oleObject18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8.bin"/><Relationship Id="rId5" Type="http://schemas.openxmlformats.org/officeDocument/2006/relationships/image" Target="../media/image190.wmf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192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wmf"/><Relationship Id="rId2" Type="http://schemas.openxmlformats.org/officeDocument/2006/relationships/oleObject" Target="../embeddings/oleObject19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B009CD-4DED-4E69-825B-B4422C03DD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声学方程的射线求解方法（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Ray Tracing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C1058D-C2B7-441E-A7D8-2A81B5BE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王德麟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delinwang@zju.edu.cn</a:t>
            </a:r>
          </a:p>
          <a:p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5505D0-2602-4964-8560-01E83646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59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EADF6-EB76-40BD-8057-B3E525B31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25657C-22D4-411D-965A-4DE008C53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射线声学基础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声场反演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及其应用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4FE9AB-F66E-43DD-B4A7-4C5943CD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53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E6DFCF-D154-4643-95F9-681B277856FA}"/>
              </a:ext>
            </a:extLst>
          </p:cNvPr>
          <p:cNvSpPr txBox="1"/>
          <p:nvPr/>
        </p:nvSpPr>
        <p:spPr>
          <a:xfrm>
            <a:off x="332282" y="903720"/>
            <a:ext cx="11527436" cy="5634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、射线声学基本概念与假定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71550" lvl="1" indent="-514350">
              <a:lnSpc>
                <a:spcPct val="12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射线声学：将声波传播视为一束无数条垂直等相位面的射线传播。</a:t>
            </a:r>
          </a:p>
          <a:p>
            <a:pPr marL="971550" lvl="1" indent="-514350">
              <a:lnSpc>
                <a:spcPct val="12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声线：与等相位面垂直的射线。</a:t>
            </a:r>
          </a:p>
          <a:p>
            <a:pPr marL="971550" lvl="1" indent="-514350">
              <a:lnSpc>
                <a:spcPct val="12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①声线途经的距离代表声波传播的距离；</a:t>
            </a:r>
          </a:p>
          <a:p>
            <a:pPr marL="971550" lvl="1" indent="-514350">
              <a:lnSpc>
                <a:spcPct val="12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②声线经历的时间代表声波传播的时间；</a:t>
            </a:r>
          </a:p>
          <a:p>
            <a:pPr marL="971550" lvl="1" indent="-514350">
              <a:lnSpc>
                <a:spcPct val="12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③声线束携带的能量代表声波传播的声能量；</a:t>
            </a:r>
          </a:p>
          <a:p>
            <a:pPr marL="971550" lvl="1" indent="-514350">
              <a:lnSpc>
                <a:spcPct val="12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④射线声学为波动方程的近似解。</a:t>
            </a:r>
          </a:p>
          <a:p>
            <a:pPr marL="514350" indent="-51435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71550" lvl="1" indent="-514350">
              <a:lnSpc>
                <a:spcPct val="12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声线方向是声传播方向，且垂直于波阵面；</a:t>
            </a:r>
          </a:p>
          <a:p>
            <a:pPr marL="971550" lvl="1" indent="-514350">
              <a:lnSpc>
                <a:spcPct val="12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声线携带能量，声场某点上的能量是所有到达该点声线所携带的能量叠加；</a:t>
            </a:r>
          </a:p>
          <a:p>
            <a:pPr marL="971550" lvl="1" indent="-514350">
              <a:lnSpc>
                <a:spcPct val="12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声线管束中能量守恒，与管外无能量交换。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8CEF53C-F594-48A0-AF90-FA8567954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E6DFCF-D154-4643-95F9-681B277856FA}"/>
              </a:ext>
            </a:extLst>
          </p:cNvPr>
          <p:cNvSpPr txBox="1"/>
          <p:nvPr/>
        </p:nvSpPr>
        <p:spPr>
          <a:xfrm>
            <a:off x="332282" y="903720"/>
            <a:ext cx="11527436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、波阵面和声线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EE694063-B4DA-48E1-848F-722664359E03}"/>
              </a:ext>
            </a:extLst>
          </p:cNvPr>
          <p:cNvGrpSpPr>
            <a:grpSpLocks/>
          </p:cNvGrpSpPr>
          <p:nvPr/>
        </p:nvGrpSpPr>
        <p:grpSpPr bwMode="auto">
          <a:xfrm>
            <a:off x="7874417" y="1115909"/>
            <a:ext cx="3924300" cy="3522662"/>
            <a:chOff x="0" y="0"/>
            <a:chExt cx="2472" cy="2219"/>
          </a:xfrm>
        </p:grpSpPr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63E90715-C9BA-4E25-BA83-C7D10F7E9C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2" y="48"/>
              <a:ext cx="0" cy="1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1B8778CE-B431-4228-A1A6-CFABC27E19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1273"/>
              <a:ext cx="952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8C58F993-087A-4974-A7E8-B24E168B5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2" y="1273"/>
              <a:ext cx="14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7BA49C4D-FD4B-4B8D-8D35-1ADDB3E914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" y="365"/>
              <a:ext cx="635" cy="14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F91DEE3B-038B-45BE-B43D-F24CD31F29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" y="1273"/>
              <a:ext cx="1633" cy="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3C9634DB-F618-4C8F-A8F9-5E0DE9A3EA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52" y="365"/>
              <a:ext cx="998" cy="9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CD2E26E0-50FE-41FF-AAFA-34BB3FA400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2" y="1001"/>
              <a:ext cx="182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79E50CF3-0259-4308-9F84-6883CAC9F8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4" y="774"/>
              <a:ext cx="136" cy="22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6DCE10A0-33F0-4E8C-93D1-69B5C1C0E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2" y="1182"/>
              <a:ext cx="227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C6C80227-B77D-4071-8B62-851B2B5F0F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5" y="1066"/>
              <a:ext cx="226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22C9E63D-80EF-4DD4-B02C-278DE48B0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" y="1067"/>
              <a:ext cx="18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552ED682-A643-4BAA-B328-7309F20A8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" y="1950"/>
              <a:ext cx="18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3C94F2C6-1CA8-4B34-96B8-CFD164C990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" y="1238"/>
              <a:ext cx="18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5C582B73-F2BD-4915-B9B3-EF67B310E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0"/>
              <a:ext cx="18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z</a:t>
              </a:r>
            </a:p>
          </p:txBody>
        </p:sp>
        <p:graphicFrame>
          <p:nvGraphicFramePr>
            <p:cNvPr id="21" name="Object 21">
              <a:extLst>
                <a:ext uri="{FF2B5EF4-FFF2-40B4-BE49-F238E27FC236}">
                  <a16:creationId xmlns:a16="http://schemas.microsoft.com/office/drawing/2014/main" id="{C1D5A6BB-018A-4061-989D-23E2E9BE29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34" y="538"/>
            <a:ext cx="216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41668" imgH="218941" progId="Equation.3">
                    <p:embed/>
                  </p:oleObj>
                </mc:Choice>
                <mc:Fallback>
                  <p:oleObj r:id="rId2" imgW="141668" imgH="218941" progId="Equation.3">
                    <p:embed/>
                    <p:pic>
                      <p:nvPicPr>
                        <p:cNvPr id="78882" name="Object 21">
                          <a:extLst>
                            <a:ext uri="{FF2B5EF4-FFF2-40B4-BE49-F238E27FC236}">
                              <a16:creationId xmlns:a16="http://schemas.microsoft.com/office/drawing/2014/main" id="{32F92455-6620-4D90-908B-6FCB3687BE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4" y="538"/>
                          <a:ext cx="216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2">
              <a:extLst>
                <a:ext uri="{FF2B5EF4-FFF2-40B4-BE49-F238E27FC236}">
                  <a16:creationId xmlns:a16="http://schemas.microsoft.com/office/drawing/2014/main" id="{1BE3ED6E-C042-44F8-A8C2-BA54DE2520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51" y="1001"/>
            <a:ext cx="19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29933" imgH="155919" progId="Equation.3">
                    <p:embed/>
                  </p:oleObj>
                </mc:Choice>
                <mc:Fallback>
                  <p:oleObj r:id="rId4" imgW="129933" imgH="155919" progId="Equation.3">
                    <p:embed/>
                    <p:pic>
                      <p:nvPicPr>
                        <p:cNvPr id="78883" name="Object 22">
                          <a:extLst>
                            <a:ext uri="{FF2B5EF4-FFF2-40B4-BE49-F238E27FC236}">
                              <a16:creationId xmlns:a16="http://schemas.microsoft.com/office/drawing/2014/main" id="{A81E93AE-73DA-4227-B2F3-1BE1696E2E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1001"/>
                          <a:ext cx="19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AutoShape 23">
              <a:extLst>
                <a:ext uri="{FF2B5EF4-FFF2-40B4-BE49-F238E27FC236}">
                  <a16:creationId xmlns:a16="http://schemas.microsoft.com/office/drawing/2014/main" id="{AA41E6CE-F996-4177-9924-C237572C2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" y="46"/>
              <a:ext cx="998" cy="362"/>
            </a:xfrm>
            <a:prstGeom prst="wedgeRectCallout">
              <a:avLst>
                <a:gd name="adj1" fmla="val -52704"/>
                <a:gd name="adj2" fmla="val 115468"/>
              </a:avLst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dirty="0"/>
                <a:t>波矢量</a:t>
              </a:r>
            </a:p>
          </p:txBody>
        </p:sp>
        <p:sp>
          <p:nvSpPr>
            <p:cNvPr id="24" name="AutoShape 24">
              <a:extLst>
                <a:ext uri="{FF2B5EF4-FFF2-40B4-BE49-F238E27FC236}">
                  <a16:creationId xmlns:a16="http://schemas.microsoft.com/office/drawing/2014/main" id="{40A732C9-790D-414C-ABD9-F020F3960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1679"/>
              <a:ext cx="1066" cy="362"/>
            </a:xfrm>
            <a:prstGeom prst="wedgeRectCallout">
              <a:avLst>
                <a:gd name="adj1" fmla="val -37523"/>
                <a:gd name="adj2" fmla="val -166574"/>
              </a:avLst>
            </a:prstGeom>
            <a:noFill/>
            <a:ln w="25400">
              <a:solidFill>
                <a:srgbClr val="CC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/>
                <a:t>位置矢量</a:t>
              </a:r>
            </a:p>
          </p:txBody>
        </p:sp>
      </p:grpSp>
      <p:sp>
        <p:nvSpPr>
          <p:cNvPr id="25" name="Rectangle 2">
            <a:extLst>
              <a:ext uri="{FF2B5EF4-FFF2-40B4-BE49-F238E27FC236}">
                <a16:creationId xmlns:a16="http://schemas.microsoft.com/office/drawing/2014/main" id="{5348351A-4CB6-427C-A406-88B04CE52B55}"/>
              </a:ext>
            </a:extLst>
          </p:cNvPr>
          <p:cNvSpPr txBox="1">
            <a:spLocks noChangeArrowheads="1"/>
          </p:cNvSpPr>
          <p:nvPr/>
        </p:nvSpPr>
        <p:spPr>
          <a:xfrm>
            <a:off x="917992" y="1841396"/>
            <a:ext cx="7058025" cy="86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ct val="40000"/>
              </a:spcBef>
            </a:pPr>
            <a:r>
              <a:rPr lang="zh-CN" altLang="en-US" b="1"/>
              <a:t>沿任意方向传播的平面波可写为：</a:t>
            </a:r>
            <a:endParaRPr lang="zh-CN" altLang="en-US" b="1" dirty="0"/>
          </a:p>
        </p:txBody>
      </p:sp>
      <p:graphicFrame>
        <p:nvGraphicFramePr>
          <p:cNvPr id="26" name="Object 5">
            <a:extLst>
              <a:ext uri="{FF2B5EF4-FFF2-40B4-BE49-F238E27FC236}">
                <a16:creationId xmlns:a16="http://schemas.microsoft.com/office/drawing/2014/main" id="{88551A96-80AF-46C1-A908-0C614509A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558191"/>
              </p:ext>
            </p:extLst>
          </p:nvPr>
        </p:nvGraphicFramePr>
        <p:xfrm>
          <a:off x="2502317" y="2633558"/>
          <a:ext cx="212248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41487" imgH="254996" progId="Equation.3">
                  <p:embed/>
                </p:oleObj>
              </mc:Choice>
              <mc:Fallback>
                <p:oleObj r:id="rId6" imgW="841487" imgH="254996" progId="Equation.3">
                  <p:embed/>
                  <p:pic>
                    <p:nvPicPr>
                      <p:cNvPr id="77829" name="Object 5">
                        <a:extLst>
                          <a:ext uri="{FF2B5EF4-FFF2-40B4-BE49-F238E27FC236}">
                            <a16:creationId xmlns:a16="http://schemas.microsoft.com/office/drawing/2014/main" id="{951BD08F-44F2-4407-9AE2-17321361C4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2317" y="2633558"/>
                        <a:ext cx="2122488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25">
            <a:extLst>
              <a:ext uri="{FF2B5EF4-FFF2-40B4-BE49-F238E27FC236}">
                <a16:creationId xmlns:a16="http://schemas.microsoft.com/office/drawing/2014/main" id="{968B4C3B-A1FE-4D8E-932E-83EA54977E82}"/>
              </a:ext>
            </a:extLst>
          </p:cNvPr>
          <p:cNvGrpSpPr>
            <a:grpSpLocks/>
          </p:cNvGrpSpPr>
          <p:nvPr/>
        </p:nvGrpSpPr>
        <p:grpSpPr bwMode="auto">
          <a:xfrm>
            <a:off x="917992" y="3352696"/>
            <a:ext cx="5905500" cy="720725"/>
            <a:chOff x="0" y="0"/>
            <a:chExt cx="3720" cy="454"/>
          </a:xfrm>
        </p:grpSpPr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E1C4A85B-A4FA-4958-B9EF-843190FCF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72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40000"/>
                </a:spcBef>
              </a:pPr>
              <a:r>
                <a:rPr lang="zh-CN" altLang="en-US" i="0"/>
                <a:t>矢量  方向可用其方向余弦表示：</a:t>
              </a:r>
            </a:p>
          </p:txBody>
        </p:sp>
        <p:graphicFrame>
          <p:nvGraphicFramePr>
            <p:cNvPr id="29" name="Object 27">
              <a:extLst>
                <a:ext uri="{FF2B5EF4-FFF2-40B4-BE49-F238E27FC236}">
                  <a16:creationId xmlns:a16="http://schemas.microsoft.com/office/drawing/2014/main" id="{34ABA5A9-4969-447E-8CC0-116A3009AD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25"/>
            <a:ext cx="218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41668" imgH="218941" progId="Equation.DSMT4">
                    <p:embed/>
                  </p:oleObj>
                </mc:Choice>
                <mc:Fallback>
                  <p:oleObj r:id="rId8" imgW="141668" imgH="218941" progId="Equation.DSMT4">
                    <p:embed/>
                    <p:pic>
                      <p:nvPicPr>
                        <p:cNvPr id="78867" name="Object 27">
                          <a:extLst>
                            <a:ext uri="{FF2B5EF4-FFF2-40B4-BE49-F238E27FC236}">
                              <a16:creationId xmlns:a16="http://schemas.microsoft.com/office/drawing/2014/main" id="{F562FD1B-3222-4EDE-A9C2-3C4AB3E4F2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25"/>
                          <a:ext cx="218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31C8733A-A3E3-4900-8A0A-5B7AEE946F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47851"/>
              </p:ext>
            </p:extLst>
          </p:nvPr>
        </p:nvGraphicFramePr>
        <p:xfrm>
          <a:off x="1278355" y="4152796"/>
          <a:ext cx="16049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50807" imgH="370067" progId="Equation.DSMT4">
                  <p:embed/>
                </p:oleObj>
              </mc:Choice>
              <mc:Fallback>
                <p:oleObj r:id="rId10" imgW="650807" imgH="370067" progId="Equation.DSMT4">
                  <p:embed/>
                  <p:pic>
                    <p:nvPicPr>
                      <p:cNvPr id="4" name="Object 29">
                        <a:extLst>
                          <a:ext uri="{FF2B5EF4-FFF2-40B4-BE49-F238E27FC236}">
                            <a16:creationId xmlns:a16="http://schemas.microsoft.com/office/drawing/2014/main" id="{520381D3-DF27-4BE4-9823-C84A79FB4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355" y="4152796"/>
                        <a:ext cx="1604962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1">
            <a:extLst>
              <a:ext uri="{FF2B5EF4-FFF2-40B4-BE49-F238E27FC236}">
                <a16:creationId xmlns:a16="http://schemas.microsoft.com/office/drawing/2014/main" id="{CAC35BE4-D3E0-4A0C-861E-FCA781ED40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223989"/>
              </p:ext>
            </p:extLst>
          </p:nvPr>
        </p:nvGraphicFramePr>
        <p:xfrm>
          <a:off x="3365917" y="4152796"/>
          <a:ext cx="162242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50807" imgH="382828" progId="Equation.3">
                  <p:embed/>
                </p:oleObj>
              </mc:Choice>
              <mc:Fallback>
                <p:oleObj r:id="rId12" imgW="650807" imgH="382828" progId="Equation.3">
                  <p:embed/>
                  <p:pic>
                    <p:nvPicPr>
                      <p:cNvPr id="6" name="Object 31">
                        <a:extLst>
                          <a:ext uri="{FF2B5EF4-FFF2-40B4-BE49-F238E27FC236}">
                            <a16:creationId xmlns:a16="http://schemas.microsoft.com/office/drawing/2014/main" id="{B7643912-C75E-4061-B70D-4A08E37742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917" y="4152796"/>
                        <a:ext cx="162242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2">
            <a:extLst>
              <a:ext uri="{FF2B5EF4-FFF2-40B4-BE49-F238E27FC236}">
                <a16:creationId xmlns:a16="http://schemas.microsoft.com/office/drawing/2014/main" id="{1C4B6BAF-5075-4608-A320-7819B61F08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356583"/>
              </p:ext>
            </p:extLst>
          </p:nvPr>
        </p:nvGraphicFramePr>
        <p:xfrm>
          <a:off x="1278355" y="5160858"/>
          <a:ext cx="15367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625013" imgH="369905" progId="Equation.3">
                  <p:embed/>
                </p:oleObj>
              </mc:Choice>
              <mc:Fallback>
                <p:oleObj r:id="rId14" imgW="625013" imgH="369905" progId="Equation.3">
                  <p:embed/>
                  <p:pic>
                    <p:nvPicPr>
                      <p:cNvPr id="7" name="Object 32">
                        <a:extLst>
                          <a:ext uri="{FF2B5EF4-FFF2-40B4-BE49-F238E27FC236}">
                            <a16:creationId xmlns:a16="http://schemas.microsoft.com/office/drawing/2014/main" id="{7CDAD8D2-95BC-4699-AA1B-06C7AEBCEB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355" y="5160858"/>
                        <a:ext cx="153670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B16E83A-E0E4-431E-9D9D-C8AFDCA8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40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E6DFCF-D154-4643-95F9-681B277856FA}"/>
              </a:ext>
            </a:extLst>
          </p:cNvPr>
          <p:cNvSpPr txBox="1"/>
          <p:nvPr/>
        </p:nvSpPr>
        <p:spPr>
          <a:xfrm>
            <a:off x="332282" y="903720"/>
            <a:ext cx="11527436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、波阵面和声线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347B667A-D166-409B-8D8E-F9D82E7CC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C861586-1D7D-4D0E-9908-4B211CB1B076}"/>
              </a:ext>
            </a:extLst>
          </p:cNvPr>
          <p:cNvGrpSpPr/>
          <p:nvPr/>
        </p:nvGrpSpPr>
        <p:grpSpPr>
          <a:xfrm>
            <a:off x="1037924" y="1929026"/>
            <a:ext cx="1945650" cy="1676252"/>
            <a:chOff x="2663825" y="2078038"/>
            <a:chExt cx="3095625" cy="2667000"/>
          </a:xfrm>
        </p:grpSpPr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ED6A929B-4513-45A5-BCA7-16BE016F5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3825" y="2078038"/>
              <a:ext cx="73025" cy="2665412"/>
            </a:xfrm>
            <a:prstGeom prst="rect">
              <a:avLst/>
            </a:prstGeom>
            <a:solidFill>
              <a:srgbClr val="FF0000"/>
            </a:solidFill>
            <a:ln w="9525" cmpd="sng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defRPr/>
              </a:pPr>
              <a:endPara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05A3F9D0-1E26-4E63-8805-BC6FC5744E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3575" y="2078038"/>
              <a:ext cx="2159000" cy="2667000"/>
              <a:chOff x="0" y="0"/>
              <a:chExt cx="1360" cy="1680"/>
            </a:xfrm>
          </p:grpSpPr>
          <p:sp>
            <p:nvSpPr>
              <p:cNvPr id="36" name="Line 6">
                <a:extLst>
                  <a:ext uri="{FF2B5EF4-FFF2-40B4-BE49-F238E27FC236}">
                    <a16:creationId xmlns:a16="http://schemas.microsoft.com/office/drawing/2014/main" id="{EFF8CA64-84C1-4407-B769-1ED66F392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1679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7">
                <a:extLst>
                  <a:ext uri="{FF2B5EF4-FFF2-40B4-BE49-F238E27FC236}">
                    <a16:creationId xmlns:a16="http://schemas.microsoft.com/office/drawing/2014/main" id="{BF0F3165-4F8A-47C6-9797-2F974E741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" y="0"/>
                <a:ext cx="0" cy="1679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Line 8">
                <a:extLst>
                  <a:ext uri="{FF2B5EF4-FFF2-40B4-BE49-F238E27FC236}">
                    <a16:creationId xmlns:a16="http://schemas.microsoft.com/office/drawing/2014/main" id="{63BDB8AD-791B-448D-AE4A-11EFA94F5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0"/>
                <a:ext cx="0" cy="1679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9">
                <a:extLst>
                  <a:ext uri="{FF2B5EF4-FFF2-40B4-BE49-F238E27FC236}">
                    <a16:creationId xmlns:a16="http://schemas.microsoft.com/office/drawing/2014/main" id="{C29F6CC2-12DA-4DC7-AB7A-2E451B9DD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0" y="1"/>
                <a:ext cx="0" cy="1679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10">
                <a:extLst>
                  <a:ext uri="{FF2B5EF4-FFF2-40B4-BE49-F238E27FC236}">
                    <a16:creationId xmlns:a16="http://schemas.microsoft.com/office/drawing/2014/main" id="{C2C3D080-D8A5-4DF2-94EF-D13014CD1F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0" y="1"/>
                <a:ext cx="0" cy="1679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" name="Group 11">
              <a:extLst>
                <a:ext uri="{FF2B5EF4-FFF2-40B4-BE49-F238E27FC236}">
                  <a16:creationId xmlns:a16="http://schemas.microsoft.com/office/drawing/2014/main" id="{452A1F80-5D66-4CBF-B3CC-7380A77C7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850" y="2284413"/>
              <a:ext cx="3022600" cy="2159000"/>
              <a:chOff x="0" y="0"/>
              <a:chExt cx="1905" cy="1360"/>
            </a:xfrm>
          </p:grpSpPr>
          <p:sp>
            <p:nvSpPr>
              <p:cNvPr id="42" name="Line 12">
                <a:extLst>
                  <a:ext uri="{FF2B5EF4-FFF2-40B4-BE49-F238E27FC236}">
                    <a16:creationId xmlns:a16="http://schemas.microsoft.com/office/drawing/2014/main" id="{AAEB3BF3-C85A-4C60-8BC4-C0B7ED324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1905" cy="0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13">
                <a:extLst>
                  <a:ext uri="{FF2B5EF4-FFF2-40B4-BE49-F238E27FC236}">
                    <a16:creationId xmlns:a16="http://schemas.microsoft.com/office/drawing/2014/main" id="{DE69760C-F14C-4D7E-A54F-BC73B101D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40"/>
                <a:ext cx="1905" cy="0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14">
                <a:extLst>
                  <a:ext uri="{FF2B5EF4-FFF2-40B4-BE49-F238E27FC236}">
                    <a16:creationId xmlns:a16="http://schemas.microsoft.com/office/drawing/2014/main" id="{1E0A65A7-72C9-4325-ACB5-0653C737CA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680"/>
                <a:ext cx="1905" cy="0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Line 15">
                <a:extLst>
                  <a:ext uri="{FF2B5EF4-FFF2-40B4-BE49-F238E27FC236}">
                    <a16:creationId xmlns:a16="http://schemas.microsoft.com/office/drawing/2014/main" id="{0523ED43-8013-458D-BF2D-19CFC5E9BA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020"/>
                <a:ext cx="1905" cy="0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16">
                <a:extLst>
                  <a:ext uri="{FF2B5EF4-FFF2-40B4-BE49-F238E27FC236}">
                    <a16:creationId xmlns:a16="http://schemas.microsoft.com/office/drawing/2014/main" id="{F4FF487E-8CA3-42F0-8B03-81B245EC1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360"/>
                <a:ext cx="1905" cy="0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7" name="Rectangle 17">
            <a:extLst>
              <a:ext uri="{FF2B5EF4-FFF2-40B4-BE49-F238E27FC236}">
                <a16:creationId xmlns:a16="http://schemas.microsoft.com/office/drawing/2014/main" id="{A157DFCB-AE9A-4949-803F-C74D63DCC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922" y="3888582"/>
            <a:ext cx="2523654" cy="230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40000"/>
              </a:spcBef>
            </a:pPr>
            <a:r>
              <a:rPr lang="zh-CN" altLang="en-US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均匀介质平面波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：声线相互平行，互不相交，声波振幅处处相等。</a:t>
            </a:r>
          </a:p>
        </p:txBody>
      </p:sp>
      <p:sp>
        <p:nvSpPr>
          <p:cNvPr id="62" name="Rectangle 17">
            <a:extLst>
              <a:ext uri="{FF2B5EF4-FFF2-40B4-BE49-F238E27FC236}">
                <a16:creationId xmlns:a16="http://schemas.microsoft.com/office/drawing/2014/main" id="{E6547199-D7DC-47AE-BFE0-C284AD9EE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599" y="3888582"/>
            <a:ext cx="4527255" cy="230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40000"/>
              </a:spcBef>
            </a:pPr>
            <a:r>
              <a:rPr lang="zh-CN" altLang="en-US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均匀介质球面波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声线为由点源沿外径方向放射声线束，互不相交，等相位面为同心球面，声波振幅随距离衰减。</a:t>
            </a:r>
            <a:endParaRPr lang="zh-CN" altLang="en-US" sz="20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9BA4D9A-A15D-471F-9E6C-A9CE23619856}"/>
              </a:ext>
            </a:extLst>
          </p:cNvPr>
          <p:cNvGrpSpPr/>
          <p:nvPr/>
        </p:nvGrpSpPr>
        <p:grpSpPr>
          <a:xfrm>
            <a:off x="4919377" y="1793251"/>
            <a:ext cx="1785698" cy="1837457"/>
            <a:chOff x="2965450" y="1341438"/>
            <a:chExt cx="3505200" cy="3606800"/>
          </a:xfrm>
        </p:grpSpPr>
        <p:sp>
          <p:nvSpPr>
            <p:cNvPr id="63" name="Oval 4">
              <a:extLst>
                <a:ext uri="{FF2B5EF4-FFF2-40B4-BE49-F238E27FC236}">
                  <a16:creationId xmlns:a16="http://schemas.microsoft.com/office/drawing/2014/main" id="{425B0B5B-D4A6-4168-A52D-FB27FBB27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400" y="3005138"/>
              <a:ext cx="215900" cy="2159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64" name="Group 5">
              <a:extLst>
                <a:ext uri="{FF2B5EF4-FFF2-40B4-BE49-F238E27FC236}">
                  <a16:creationId xmlns:a16="http://schemas.microsoft.com/office/drawing/2014/main" id="{4D527786-2563-411A-A77A-6B5663B6C7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4375" y="1649413"/>
              <a:ext cx="2879725" cy="2879725"/>
              <a:chOff x="0" y="0"/>
              <a:chExt cx="1814" cy="1814"/>
            </a:xfrm>
          </p:grpSpPr>
          <p:grpSp>
            <p:nvGrpSpPr>
              <p:cNvPr id="65" name="Group 6">
                <a:extLst>
                  <a:ext uri="{FF2B5EF4-FFF2-40B4-BE49-F238E27FC236}">
                    <a16:creationId xmlns:a16="http://schemas.microsoft.com/office/drawing/2014/main" id="{1081D5A3-16CE-4613-A52E-995FF8DD4E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" y="227"/>
                <a:ext cx="1360" cy="1360"/>
                <a:chOff x="0" y="0"/>
                <a:chExt cx="1360" cy="1360"/>
              </a:xfrm>
            </p:grpSpPr>
            <p:sp>
              <p:nvSpPr>
                <p:cNvPr id="67" name="Oval 7">
                  <a:extLst>
                    <a:ext uri="{FF2B5EF4-FFF2-40B4-BE49-F238E27FC236}">
                      <a16:creationId xmlns:a16="http://schemas.microsoft.com/office/drawing/2014/main" id="{5DDB6896-A62D-46D8-B29F-6BA7D2620C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3" y="454"/>
                  <a:ext cx="453" cy="453"/>
                </a:xfrm>
                <a:prstGeom prst="ellipse">
                  <a:avLst/>
                </a:prstGeom>
                <a:noFill/>
                <a:ln w="19050" cmpd="sng">
                  <a:solidFill>
                    <a:schemeClr val="tx1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defRPr/>
                  </a:pPr>
                  <a:endParaRPr lang="zh-CN" altLang="en-US" sz="32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隶书" panose="02010800040101010101" pitchFamily="2" charset="-122"/>
                    <a:ea typeface="华文隶书" panose="02010800040101010101" pitchFamily="2" charset="-122"/>
                  </a:endParaRPr>
                </a:p>
              </p:txBody>
            </p:sp>
            <p:sp>
              <p:nvSpPr>
                <p:cNvPr id="68" name="Oval 8">
                  <a:extLst>
                    <a:ext uri="{FF2B5EF4-FFF2-40B4-BE49-F238E27FC236}">
                      <a16:creationId xmlns:a16="http://schemas.microsoft.com/office/drawing/2014/main" id="{C1EA0973-EFB4-4AC5-A814-78DC91478F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6" y="227"/>
                  <a:ext cx="907" cy="907"/>
                </a:xfrm>
                <a:prstGeom prst="ellipse">
                  <a:avLst/>
                </a:prstGeom>
                <a:noFill/>
                <a:ln w="19050" cmpd="sng">
                  <a:solidFill>
                    <a:schemeClr val="tx1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defRPr/>
                  </a:pPr>
                  <a:endParaRPr lang="zh-CN" altLang="en-US" sz="32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隶书" panose="02010800040101010101" pitchFamily="2" charset="-122"/>
                    <a:ea typeface="华文隶书" panose="02010800040101010101" pitchFamily="2" charset="-122"/>
                  </a:endParaRPr>
                </a:p>
              </p:txBody>
            </p:sp>
            <p:sp>
              <p:nvSpPr>
                <p:cNvPr id="69" name="Oval 9">
                  <a:extLst>
                    <a:ext uri="{FF2B5EF4-FFF2-40B4-BE49-F238E27FC236}">
                      <a16:creationId xmlns:a16="http://schemas.microsoft.com/office/drawing/2014/main" id="{A7F235A7-21D9-4DD6-823D-49E0370123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360" cy="1360"/>
                </a:xfrm>
                <a:prstGeom prst="ellipse">
                  <a:avLst/>
                </a:prstGeom>
                <a:noFill/>
                <a:ln w="19050" cmpd="sng">
                  <a:solidFill>
                    <a:schemeClr val="tx1"/>
                  </a:solidFill>
                  <a:prstDash val="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defRPr/>
                  </a:pPr>
                  <a:endParaRPr lang="zh-CN" altLang="en-US" sz="32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隶书" panose="02010800040101010101" pitchFamily="2" charset="-122"/>
                    <a:ea typeface="华文隶书" panose="02010800040101010101" pitchFamily="2" charset="-122"/>
                  </a:endParaRPr>
                </a:p>
              </p:txBody>
            </p:sp>
          </p:grpSp>
          <p:sp>
            <p:nvSpPr>
              <p:cNvPr id="66" name="Oval 10">
                <a:extLst>
                  <a:ext uri="{FF2B5EF4-FFF2-40B4-BE49-F238E27FC236}">
                    <a16:creationId xmlns:a16="http://schemas.microsoft.com/office/drawing/2014/main" id="{59B697A7-ECC3-4926-B3AB-89F3C286C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814" cy="1814"/>
              </a:xfrm>
              <a:prstGeom prst="ellipse">
                <a:avLst/>
              </a:prstGeom>
              <a:noFill/>
              <a:ln w="19050" cmpd="sng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defRPr/>
                </a:pPr>
                <a:endParaRPr lang="zh-CN" altLang="en-US" sz="320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隶书" panose="02010800040101010101" pitchFamily="2" charset="-122"/>
                  <a:ea typeface="华文隶书" panose="02010800040101010101" pitchFamily="2" charset="-122"/>
                </a:endParaRPr>
              </a:p>
            </p:txBody>
          </p:sp>
        </p:grpSp>
        <p:grpSp>
          <p:nvGrpSpPr>
            <p:cNvPr id="70" name="Group 11">
              <a:extLst>
                <a:ext uri="{FF2B5EF4-FFF2-40B4-BE49-F238E27FC236}">
                  <a16:creationId xmlns:a16="http://schemas.microsoft.com/office/drawing/2014/main" id="{F2F96FE1-0381-433A-814A-8AF5C082EA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5450" y="1341438"/>
              <a:ext cx="3505200" cy="3606800"/>
              <a:chOff x="0" y="0"/>
              <a:chExt cx="2207" cy="2272"/>
            </a:xfrm>
          </p:grpSpPr>
          <p:sp>
            <p:nvSpPr>
              <p:cNvPr id="71" name="Line 12">
                <a:extLst>
                  <a:ext uri="{FF2B5EF4-FFF2-40B4-BE49-F238E27FC236}">
                    <a16:creationId xmlns:a16="http://schemas.microsoft.com/office/drawing/2014/main" id="{AD693E7C-6A72-4ADA-8E34-6CD9BAE720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3" y="1109"/>
                <a:ext cx="1044" cy="0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Line 13">
                <a:extLst>
                  <a:ext uri="{FF2B5EF4-FFF2-40B4-BE49-F238E27FC236}">
                    <a16:creationId xmlns:a16="http://schemas.microsoft.com/office/drawing/2014/main" id="{2A212F1B-17C3-4830-9890-D0C3B1A467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1" y="542"/>
                <a:ext cx="952" cy="544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Line 14">
                <a:extLst>
                  <a:ext uri="{FF2B5EF4-FFF2-40B4-BE49-F238E27FC236}">
                    <a16:creationId xmlns:a16="http://schemas.microsoft.com/office/drawing/2014/main" id="{9ACC4582-DC7F-4C68-95C2-297D4EECA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1" y="1140"/>
                <a:ext cx="952" cy="544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Line 15">
                <a:extLst>
                  <a:ext uri="{FF2B5EF4-FFF2-40B4-BE49-F238E27FC236}">
                    <a16:creationId xmlns:a16="http://schemas.microsoft.com/office/drawing/2014/main" id="{3C3327CD-4B10-4C40-9C11-73310F116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73" y="1183"/>
                <a:ext cx="16" cy="1089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Line 16">
                <a:extLst>
                  <a:ext uri="{FF2B5EF4-FFF2-40B4-BE49-F238E27FC236}">
                    <a16:creationId xmlns:a16="http://schemas.microsoft.com/office/drawing/2014/main" id="{5EFB2B4D-F490-4451-9075-5AFD505D67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0" y="1113"/>
                <a:ext cx="1023" cy="1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Line 17">
                <a:extLst>
                  <a:ext uri="{FF2B5EF4-FFF2-40B4-BE49-F238E27FC236}">
                    <a16:creationId xmlns:a16="http://schemas.microsoft.com/office/drawing/2014/main" id="{17F49E4B-3B80-4DD9-AE9C-A13469CDED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89" y="0"/>
                <a:ext cx="0" cy="1044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Line 18">
                <a:extLst>
                  <a:ext uri="{FF2B5EF4-FFF2-40B4-BE49-F238E27FC236}">
                    <a16:creationId xmlns:a16="http://schemas.microsoft.com/office/drawing/2014/main" id="{5F4A22FD-A0C0-481C-8EE8-D4A59C517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4" y="105"/>
                <a:ext cx="544" cy="952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Line 19">
                <a:extLst>
                  <a:ext uri="{FF2B5EF4-FFF2-40B4-BE49-F238E27FC236}">
                    <a16:creationId xmlns:a16="http://schemas.microsoft.com/office/drawing/2014/main" id="{BCFCFAFE-A7A3-46E4-8AE8-7D77051FD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7" y="1168"/>
                <a:ext cx="544" cy="952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Line 20">
                <a:extLst>
                  <a:ext uri="{FF2B5EF4-FFF2-40B4-BE49-F238E27FC236}">
                    <a16:creationId xmlns:a16="http://schemas.microsoft.com/office/drawing/2014/main" id="{43E0075D-D35D-43AF-9A79-F79A26ACFC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0" y="1172"/>
                <a:ext cx="544" cy="952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Line 21">
                <a:extLst>
                  <a:ext uri="{FF2B5EF4-FFF2-40B4-BE49-F238E27FC236}">
                    <a16:creationId xmlns:a16="http://schemas.microsoft.com/office/drawing/2014/main" id="{E44F4019-E217-4E72-954C-B9F324E1DC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" y="1146"/>
                <a:ext cx="952" cy="544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Line 22">
                <a:extLst>
                  <a:ext uri="{FF2B5EF4-FFF2-40B4-BE49-F238E27FC236}">
                    <a16:creationId xmlns:a16="http://schemas.microsoft.com/office/drawing/2014/main" id="{1155CB1B-66DA-4E74-8D34-4D4D5FEF4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" y="537"/>
                <a:ext cx="952" cy="544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Line 23">
                <a:extLst>
                  <a:ext uri="{FF2B5EF4-FFF2-40B4-BE49-F238E27FC236}">
                    <a16:creationId xmlns:a16="http://schemas.microsoft.com/office/drawing/2014/main" id="{5395193C-7E59-4074-8C49-B9FC043F8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" y="95"/>
                <a:ext cx="544" cy="952"/>
              </a:xfrm>
              <a:prstGeom prst="line">
                <a:avLst/>
              </a:prstGeom>
              <a:noFill/>
              <a:ln w="25400">
                <a:solidFill>
                  <a:srgbClr val="33CC33"/>
                </a:solidFill>
                <a:round/>
                <a:headEnd type="triangl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00390E60-E7CC-43F9-826C-8CF674806D6B}"/>
              </a:ext>
            </a:extLst>
          </p:cNvPr>
          <p:cNvGrpSpPr/>
          <p:nvPr/>
        </p:nvGrpSpPr>
        <p:grpSpPr>
          <a:xfrm>
            <a:off x="8555628" y="1834398"/>
            <a:ext cx="2225554" cy="1317313"/>
            <a:chOff x="2843213" y="2128838"/>
            <a:chExt cx="3411537" cy="2019300"/>
          </a:xfrm>
        </p:grpSpPr>
        <p:grpSp>
          <p:nvGrpSpPr>
            <p:cNvPr id="83" name="Group 4">
              <a:extLst>
                <a:ext uri="{FF2B5EF4-FFF2-40B4-BE49-F238E27FC236}">
                  <a16:creationId xmlns:a16="http://schemas.microsoft.com/office/drawing/2014/main" id="{8A8D1F30-9AA6-49A4-A38A-09C45938AA72}"/>
                </a:ext>
              </a:extLst>
            </p:cNvPr>
            <p:cNvGrpSpPr>
              <a:grpSpLocks/>
            </p:cNvGrpSpPr>
            <p:nvPr/>
          </p:nvGrpSpPr>
          <p:grpSpPr bwMode="auto">
            <a:xfrm rot="1013783">
              <a:off x="3187700" y="2205038"/>
              <a:ext cx="3067050" cy="1943100"/>
              <a:chOff x="0" y="0"/>
              <a:chExt cx="1932" cy="1224"/>
            </a:xfrm>
          </p:grpSpPr>
          <p:sp>
            <p:nvSpPr>
              <p:cNvPr id="84" name="未知">
                <a:extLst>
                  <a:ext uri="{FF2B5EF4-FFF2-40B4-BE49-F238E27FC236}">
                    <a16:creationId xmlns:a16="http://schemas.microsoft.com/office/drawing/2014/main" id="{42C09C78-27B7-4D9D-B252-7E89B9A9A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389919">
                <a:off x="93" y="898"/>
                <a:ext cx="1839" cy="326"/>
              </a:xfrm>
              <a:custGeom>
                <a:avLst/>
                <a:gdLst>
                  <a:gd name="T0" fmla="*/ 0 w 1769"/>
                  <a:gd name="T1" fmla="*/ 287 h 370"/>
                  <a:gd name="T2" fmla="*/ 344 w 1769"/>
                  <a:gd name="T3" fmla="*/ 147 h 370"/>
                  <a:gd name="T4" fmla="*/ 883 w 1769"/>
                  <a:gd name="T5" fmla="*/ 41 h 370"/>
                  <a:gd name="T6" fmla="*/ 1520 w 1769"/>
                  <a:gd name="T7" fmla="*/ 5 h 370"/>
                  <a:gd name="T8" fmla="*/ 1912 w 1769"/>
                  <a:gd name="T9" fmla="*/ 5 h 3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69" h="370">
                    <a:moveTo>
                      <a:pt x="0" y="370"/>
                    </a:moveTo>
                    <a:cubicBezTo>
                      <a:pt x="91" y="306"/>
                      <a:pt x="182" y="242"/>
                      <a:pt x="318" y="189"/>
                    </a:cubicBezTo>
                    <a:cubicBezTo>
                      <a:pt x="454" y="136"/>
                      <a:pt x="636" y="82"/>
                      <a:pt x="817" y="52"/>
                    </a:cubicBezTo>
                    <a:cubicBezTo>
                      <a:pt x="998" y="22"/>
                      <a:pt x="1247" y="14"/>
                      <a:pt x="1406" y="7"/>
                    </a:cubicBezTo>
                    <a:cubicBezTo>
                      <a:pt x="1565" y="0"/>
                      <a:pt x="1709" y="7"/>
                      <a:pt x="1769" y="7"/>
                    </a:cubicBezTo>
                  </a:path>
                </a:pathLst>
              </a:cu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未知">
                <a:extLst>
                  <a:ext uri="{FF2B5EF4-FFF2-40B4-BE49-F238E27FC236}">
                    <a16:creationId xmlns:a16="http://schemas.microsoft.com/office/drawing/2014/main" id="{22A101F3-6BF2-4059-9F37-E599DA42A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735"/>
                <a:ext cx="1831" cy="353"/>
              </a:xfrm>
              <a:custGeom>
                <a:avLst/>
                <a:gdLst>
                  <a:gd name="T0" fmla="*/ 0 w 1769"/>
                  <a:gd name="T1" fmla="*/ 337 h 370"/>
                  <a:gd name="T2" fmla="*/ 485 w 1769"/>
                  <a:gd name="T3" fmla="*/ 130 h 370"/>
                  <a:gd name="T4" fmla="*/ 923 w 1769"/>
                  <a:gd name="T5" fmla="*/ 48 h 370"/>
                  <a:gd name="T6" fmla="*/ 1506 w 1769"/>
                  <a:gd name="T7" fmla="*/ 7 h 370"/>
                  <a:gd name="T8" fmla="*/ 1895 w 1769"/>
                  <a:gd name="T9" fmla="*/ 7 h 3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69" h="370">
                    <a:moveTo>
                      <a:pt x="0" y="370"/>
                    </a:moveTo>
                    <a:cubicBezTo>
                      <a:pt x="154" y="283"/>
                      <a:pt x="309" y="196"/>
                      <a:pt x="453" y="143"/>
                    </a:cubicBezTo>
                    <a:cubicBezTo>
                      <a:pt x="597" y="90"/>
                      <a:pt x="703" y="75"/>
                      <a:pt x="862" y="52"/>
                    </a:cubicBezTo>
                    <a:cubicBezTo>
                      <a:pt x="1021" y="29"/>
                      <a:pt x="1255" y="14"/>
                      <a:pt x="1406" y="7"/>
                    </a:cubicBezTo>
                    <a:cubicBezTo>
                      <a:pt x="1557" y="0"/>
                      <a:pt x="1709" y="7"/>
                      <a:pt x="1769" y="7"/>
                    </a:cubicBezTo>
                  </a:path>
                </a:pathLst>
              </a:cu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未知">
                <a:extLst>
                  <a:ext uri="{FF2B5EF4-FFF2-40B4-BE49-F238E27FC236}">
                    <a16:creationId xmlns:a16="http://schemas.microsoft.com/office/drawing/2014/main" id="{9866D769-2E19-4313-AC10-77E16E6FC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" y="495"/>
                <a:ext cx="1724" cy="544"/>
              </a:xfrm>
              <a:custGeom>
                <a:avLst/>
                <a:gdLst>
                  <a:gd name="T0" fmla="*/ 0 w 1724"/>
                  <a:gd name="T1" fmla="*/ 544 h 544"/>
                  <a:gd name="T2" fmla="*/ 318 w 1724"/>
                  <a:gd name="T3" fmla="*/ 363 h 544"/>
                  <a:gd name="T4" fmla="*/ 635 w 1724"/>
                  <a:gd name="T5" fmla="*/ 227 h 544"/>
                  <a:gd name="T6" fmla="*/ 1225 w 1724"/>
                  <a:gd name="T7" fmla="*/ 45 h 544"/>
                  <a:gd name="T8" fmla="*/ 1724 w 1724"/>
                  <a:gd name="T9" fmla="*/ 0 h 5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24" h="544">
                    <a:moveTo>
                      <a:pt x="0" y="544"/>
                    </a:moveTo>
                    <a:cubicBezTo>
                      <a:pt x="106" y="480"/>
                      <a:pt x="212" y="416"/>
                      <a:pt x="318" y="363"/>
                    </a:cubicBezTo>
                    <a:cubicBezTo>
                      <a:pt x="424" y="310"/>
                      <a:pt x="484" y="280"/>
                      <a:pt x="635" y="227"/>
                    </a:cubicBezTo>
                    <a:cubicBezTo>
                      <a:pt x="786" y="174"/>
                      <a:pt x="1044" y="83"/>
                      <a:pt x="1225" y="45"/>
                    </a:cubicBezTo>
                    <a:cubicBezTo>
                      <a:pt x="1406" y="7"/>
                      <a:pt x="1565" y="3"/>
                      <a:pt x="1724" y="0"/>
                    </a:cubicBezTo>
                  </a:path>
                </a:pathLst>
              </a:cu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未知">
                <a:extLst>
                  <a:ext uri="{FF2B5EF4-FFF2-40B4-BE49-F238E27FC236}">
                    <a16:creationId xmlns:a16="http://schemas.microsoft.com/office/drawing/2014/main" id="{E8E465E1-3061-4C24-BB6C-78A5C3CA7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215"/>
                <a:ext cx="1671" cy="783"/>
              </a:xfrm>
              <a:custGeom>
                <a:avLst/>
                <a:gdLst>
                  <a:gd name="T0" fmla="*/ 0 w 1588"/>
                  <a:gd name="T1" fmla="*/ 844 h 726"/>
                  <a:gd name="T2" fmla="*/ 603 w 1588"/>
                  <a:gd name="T3" fmla="*/ 475 h 726"/>
                  <a:gd name="T4" fmla="*/ 1105 w 1588"/>
                  <a:gd name="T5" fmla="*/ 210 h 726"/>
                  <a:gd name="T6" fmla="*/ 1758 w 1588"/>
                  <a:gd name="T7" fmla="*/ 0 h 7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88" h="726">
                    <a:moveTo>
                      <a:pt x="0" y="726"/>
                    </a:moveTo>
                    <a:cubicBezTo>
                      <a:pt x="189" y="612"/>
                      <a:pt x="379" y="499"/>
                      <a:pt x="545" y="408"/>
                    </a:cubicBezTo>
                    <a:cubicBezTo>
                      <a:pt x="711" y="317"/>
                      <a:pt x="824" y="249"/>
                      <a:pt x="998" y="181"/>
                    </a:cubicBezTo>
                    <a:cubicBezTo>
                      <a:pt x="1172" y="113"/>
                      <a:pt x="1380" y="56"/>
                      <a:pt x="1588" y="0"/>
                    </a:cubicBezTo>
                  </a:path>
                </a:pathLst>
              </a:cu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未知">
                <a:extLst>
                  <a:ext uri="{FF2B5EF4-FFF2-40B4-BE49-F238E27FC236}">
                    <a16:creationId xmlns:a16="http://schemas.microsoft.com/office/drawing/2014/main" id="{751D8FE2-2229-4A5F-A73E-35778CAC39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633" cy="998"/>
              </a:xfrm>
              <a:custGeom>
                <a:avLst/>
                <a:gdLst>
                  <a:gd name="T0" fmla="*/ 0 w 1633"/>
                  <a:gd name="T1" fmla="*/ 1098 h 907"/>
                  <a:gd name="T2" fmla="*/ 635 w 1633"/>
                  <a:gd name="T3" fmla="*/ 604 h 907"/>
                  <a:gd name="T4" fmla="*/ 998 w 1633"/>
                  <a:gd name="T5" fmla="*/ 329 h 907"/>
                  <a:gd name="T6" fmla="*/ 1451 w 1633"/>
                  <a:gd name="T7" fmla="*/ 55 h 907"/>
                  <a:gd name="T8" fmla="*/ 1633 w 1633"/>
                  <a:gd name="T9" fmla="*/ 0 h 9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33" h="907">
                    <a:moveTo>
                      <a:pt x="0" y="907"/>
                    </a:moveTo>
                    <a:cubicBezTo>
                      <a:pt x="234" y="756"/>
                      <a:pt x="469" y="605"/>
                      <a:pt x="635" y="499"/>
                    </a:cubicBezTo>
                    <a:cubicBezTo>
                      <a:pt x="801" y="393"/>
                      <a:pt x="862" y="348"/>
                      <a:pt x="998" y="272"/>
                    </a:cubicBezTo>
                    <a:cubicBezTo>
                      <a:pt x="1134" y="196"/>
                      <a:pt x="1345" y="90"/>
                      <a:pt x="1451" y="45"/>
                    </a:cubicBezTo>
                    <a:cubicBezTo>
                      <a:pt x="1557" y="0"/>
                      <a:pt x="1595" y="0"/>
                      <a:pt x="1633" y="0"/>
                    </a:cubicBezTo>
                  </a:path>
                </a:pathLst>
              </a:custGeom>
              <a:noFill/>
              <a:ln w="25400">
                <a:solidFill>
                  <a:srgbClr val="33CC33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Oval 10">
              <a:extLst>
                <a:ext uri="{FF2B5EF4-FFF2-40B4-BE49-F238E27FC236}">
                  <a16:creationId xmlns:a16="http://schemas.microsoft.com/office/drawing/2014/main" id="{1890E705-D196-4812-AFAB-85C3633C9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213" y="3230563"/>
              <a:ext cx="360362" cy="36036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90" name="Group 11">
              <a:extLst>
                <a:ext uri="{FF2B5EF4-FFF2-40B4-BE49-F238E27FC236}">
                  <a16:creationId xmlns:a16="http://schemas.microsoft.com/office/drawing/2014/main" id="{EFE9EAA8-7481-4ECF-90C3-9097A4E8F0ED}"/>
                </a:ext>
              </a:extLst>
            </p:cNvPr>
            <p:cNvGrpSpPr>
              <a:grpSpLocks/>
            </p:cNvGrpSpPr>
            <p:nvPr/>
          </p:nvGrpSpPr>
          <p:grpSpPr bwMode="auto">
            <a:xfrm rot="792872">
              <a:off x="3217863" y="2128838"/>
              <a:ext cx="2243137" cy="1819275"/>
              <a:chOff x="0" y="0"/>
              <a:chExt cx="1413" cy="1146"/>
            </a:xfrm>
          </p:grpSpPr>
          <p:sp>
            <p:nvSpPr>
              <p:cNvPr id="91" name="未知">
                <a:extLst>
                  <a:ext uri="{FF2B5EF4-FFF2-40B4-BE49-F238E27FC236}">
                    <a16:creationId xmlns:a16="http://schemas.microsoft.com/office/drawing/2014/main" id="{43C8AB82-2095-4755-B100-9E0CDF457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" y="408"/>
                <a:ext cx="227" cy="681"/>
              </a:xfrm>
              <a:custGeom>
                <a:avLst/>
                <a:gdLst>
                  <a:gd name="T0" fmla="*/ 0 w 227"/>
                  <a:gd name="T1" fmla="*/ 0 h 681"/>
                  <a:gd name="T2" fmla="*/ 91 w 227"/>
                  <a:gd name="T3" fmla="*/ 136 h 681"/>
                  <a:gd name="T4" fmla="*/ 136 w 227"/>
                  <a:gd name="T5" fmla="*/ 227 h 681"/>
                  <a:gd name="T6" fmla="*/ 181 w 227"/>
                  <a:gd name="T7" fmla="*/ 363 h 681"/>
                  <a:gd name="T8" fmla="*/ 227 w 227"/>
                  <a:gd name="T9" fmla="*/ 681 h 6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7" h="681">
                    <a:moveTo>
                      <a:pt x="0" y="0"/>
                    </a:moveTo>
                    <a:cubicBezTo>
                      <a:pt x="34" y="49"/>
                      <a:pt x="68" y="98"/>
                      <a:pt x="91" y="136"/>
                    </a:cubicBezTo>
                    <a:cubicBezTo>
                      <a:pt x="114" y="174"/>
                      <a:pt x="121" y="189"/>
                      <a:pt x="136" y="227"/>
                    </a:cubicBezTo>
                    <a:cubicBezTo>
                      <a:pt x="151" y="265"/>
                      <a:pt x="166" y="287"/>
                      <a:pt x="181" y="363"/>
                    </a:cubicBezTo>
                    <a:cubicBezTo>
                      <a:pt x="196" y="439"/>
                      <a:pt x="211" y="560"/>
                      <a:pt x="227" y="68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未知">
                <a:extLst>
                  <a:ext uri="{FF2B5EF4-FFF2-40B4-BE49-F238E27FC236}">
                    <a16:creationId xmlns:a16="http://schemas.microsoft.com/office/drawing/2014/main" id="{4B8914B4-F2B8-4E90-8263-442F179A4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" y="181"/>
                <a:ext cx="234" cy="862"/>
              </a:xfrm>
              <a:custGeom>
                <a:avLst/>
                <a:gdLst>
                  <a:gd name="T0" fmla="*/ 0 w 234"/>
                  <a:gd name="T1" fmla="*/ 0 h 862"/>
                  <a:gd name="T2" fmla="*/ 90 w 234"/>
                  <a:gd name="T3" fmla="*/ 136 h 862"/>
                  <a:gd name="T4" fmla="*/ 181 w 234"/>
                  <a:gd name="T5" fmla="*/ 318 h 862"/>
                  <a:gd name="T6" fmla="*/ 226 w 234"/>
                  <a:gd name="T7" fmla="*/ 499 h 862"/>
                  <a:gd name="T8" fmla="*/ 226 w 234"/>
                  <a:gd name="T9" fmla="*/ 726 h 862"/>
                  <a:gd name="T10" fmla="*/ 226 w 234"/>
                  <a:gd name="T11" fmla="*/ 862 h 8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4" h="862">
                    <a:moveTo>
                      <a:pt x="0" y="0"/>
                    </a:moveTo>
                    <a:cubicBezTo>
                      <a:pt x="30" y="41"/>
                      <a:pt x="60" y="83"/>
                      <a:pt x="90" y="136"/>
                    </a:cubicBezTo>
                    <a:cubicBezTo>
                      <a:pt x="120" y="189"/>
                      <a:pt x="158" y="258"/>
                      <a:pt x="181" y="318"/>
                    </a:cubicBezTo>
                    <a:cubicBezTo>
                      <a:pt x="204" y="378"/>
                      <a:pt x="218" y="431"/>
                      <a:pt x="226" y="499"/>
                    </a:cubicBezTo>
                    <a:cubicBezTo>
                      <a:pt x="234" y="567"/>
                      <a:pt x="226" y="666"/>
                      <a:pt x="226" y="726"/>
                    </a:cubicBezTo>
                    <a:cubicBezTo>
                      <a:pt x="226" y="786"/>
                      <a:pt x="226" y="839"/>
                      <a:pt x="226" y="8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未知">
                <a:extLst>
                  <a:ext uri="{FF2B5EF4-FFF2-40B4-BE49-F238E27FC236}">
                    <a16:creationId xmlns:a16="http://schemas.microsoft.com/office/drawing/2014/main" id="{D6114E5D-C5C1-4A37-9E2A-F95563217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" y="0"/>
                <a:ext cx="196" cy="1089"/>
              </a:xfrm>
              <a:custGeom>
                <a:avLst/>
                <a:gdLst>
                  <a:gd name="T0" fmla="*/ 0 w 196"/>
                  <a:gd name="T1" fmla="*/ 0 h 1089"/>
                  <a:gd name="T2" fmla="*/ 90 w 196"/>
                  <a:gd name="T3" fmla="*/ 181 h 1089"/>
                  <a:gd name="T4" fmla="*/ 181 w 196"/>
                  <a:gd name="T5" fmla="*/ 590 h 1089"/>
                  <a:gd name="T6" fmla="*/ 181 w 196"/>
                  <a:gd name="T7" fmla="*/ 907 h 1089"/>
                  <a:gd name="T8" fmla="*/ 136 w 196"/>
                  <a:gd name="T9" fmla="*/ 1089 h 10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6" h="1089">
                    <a:moveTo>
                      <a:pt x="0" y="0"/>
                    </a:moveTo>
                    <a:cubicBezTo>
                      <a:pt x="30" y="41"/>
                      <a:pt x="60" y="83"/>
                      <a:pt x="90" y="181"/>
                    </a:cubicBezTo>
                    <a:cubicBezTo>
                      <a:pt x="120" y="279"/>
                      <a:pt x="166" y="469"/>
                      <a:pt x="181" y="590"/>
                    </a:cubicBezTo>
                    <a:cubicBezTo>
                      <a:pt x="196" y="711"/>
                      <a:pt x="188" y="824"/>
                      <a:pt x="181" y="907"/>
                    </a:cubicBezTo>
                    <a:cubicBezTo>
                      <a:pt x="174" y="990"/>
                      <a:pt x="155" y="1039"/>
                      <a:pt x="136" y="1089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未知">
                <a:extLst>
                  <a:ext uri="{FF2B5EF4-FFF2-40B4-BE49-F238E27FC236}">
                    <a16:creationId xmlns:a16="http://schemas.microsoft.com/office/drawing/2014/main" id="{DD52F2F8-9EA4-4876-BC6A-953B060FA3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37"/>
                <a:ext cx="188" cy="409"/>
              </a:xfrm>
              <a:custGeom>
                <a:avLst/>
                <a:gdLst>
                  <a:gd name="T0" fmla="*/ 0 w 188"/>
                  <a:gd name="T1" fmla="*/ 0 h 409"/>
                  <a:gd name="T2" fmla="*/ 136 w 188"/>
                  <a:gd name="T3" fmla="*/ 136 h 409"/>
                  <a:gd name="T4" fmla="*/ 181 w 188"/>
                  <a:gd name="T5" fmla="*/ 273 h 409"/>
                  <a:gd name="T6" fmla="*/ 181 w 188"/>
                  <a:gd name="T7" fmla="*/ 409 h 40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8" h="409">
                    <a:moveTo>
                      <a:pt x="0" y="0"/>
                    </a:moveTo>
                    <a:cubicBezTo>
                      <a:pt x="53" y="45"/>
                      <a:pt x="106" y="91"/>
                      <a:pt x="136" y="136"/>
                    </a:cubicBezTo>
                    <a:cubicBezTo>
                      <a:pt x="166" y="181"/>
                      <a:pt x="174" y="228"/>
                      <a:pt x="181" y="273"/>
                    </a:cubicBezTo>
                    <a:cubicBezTo>
                      <a:pt x="188" y="318"/>
                      <a:pt x="184" y="363"/>
                      <a:pt x="181" y="409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未知">
                <a:extLst>
                  <a:ext uri="{FF2B5EF4-FFF2-40B4-BE49-F238E27FC236}">
                    <a16:creationId xmlns:a16="http://schemas.microsoft.com/office/drawing/2014/main" id="{7A24E67A-D46B-4B5E-A4F1-8E29039A6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" y="511"/>
                <a:ext cx="241" cy="589"/>
              </a:xfrm>
              <a:custGeom>
                <a:avLst/>
                <a:gdLst>
                  <a:gd name="T0" fmla="*/ 0 w 241"/>
                  <a:gd name="T1" fmla="*/ 0 h 589"/>
                  <a:gd name="T2" fmla="*/ 136 w 241"/>
                  <a:gd name="T3" fmla="*/ 181 h 589"/>
                  <a:gd name="T4" fmla="*/ 226 w 241"/>
                  <a:gd name="T5" fmla="*/ 408 h 589"/>
                  <a:gd name="T6" fmla="*/ 226 w 241"/>
                  <a:gd name="T7" fmla="*/ 589 h 5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1" h="589">
                    <a:moveTo>
                      <a:pt x="0" y="0"/>
                    </a:moveTo>
                    <a:cubicBezTo>
                      <a:pt x="49" y="56"/>
                      <a:pt x="98" y="113"/>
                      <a:pt x="136" y="181"/>
                    </a:cubicBezTo>
                    <a:cubicBezTo>
                      <a:pt x="174" y="249"/>
                      <a:pt x="211" y="340"/>
                      <a:pt x="226" y="408"/>
                    </a:cubicBezTo>
                    <a:cubicBezTo>
                      <a:pt x="241" y="476"/>
                      <a:pt x="226" y="559"/>
                      <a:pt x="226" y="589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7" name="Rectangle 17">
            <a:extLst>
              <a:ext uri="{FF2B5EF4-FFF2-40B4-BE49-F238E27FC236}">
                <a16:creationId xmlns:a16="http://schemas.microsoft.com/office/drawing/2014/main" id="{11E1E5DA-9299-4BAC-BCEB-A68880903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4008" y="3888582"/>
            <a:ext cx="2898900" cy="230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40000"/>
              </a:spcBef>
            </a:pPr>
            <a:r>
              <a:rPr lang="zh-CN" altLang="en-US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非均匀介质球面波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声线方向因位置变化而变化，声线束由点源向外放射的曲线束组成，等相位面不再是同心球面。 </a:t>
            </a:r>
            <a:endParaRPr lang="zh-CN" altLang="en-US" sz="20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64C35B-C1B0-4344-981E-10AB023F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F87873FE-1CE1-4FF2-BFE0-460C68971A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3231622"/>
              </p:ext>
            </p:extLst>
          </p:nvPr>
        </p:nvGraphicFramePr>
        <p:xfrm>
          <a:off x="733530" y="5794954"/>
          <a:ext cx="2554438" cy="415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6811" imgH="253890" progId="Equation.DSMT4">
                  <p:embed/>
                </p:oleObj>
              </mc:Choice>
              <mc:Fallback>
                <p:oleObj name="Equation" r:id="rId2" imgW="1586811" imgH="25389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30" y="5794954"/>
                        <a:ext cx="2554438" cy="4154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A87533F6-0620-4E5C-89FF-EA66DB722C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538068"/>
              </p:ext>
            </p:extLst>
          </p:nvPr>
        </p:nvGraphicFramePr>
        <p:xfrm>
          <a:off x="4546294" y="5324054"/>
          <a:ext cx="2508399" cy="656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300" imgH="419100" progId="Equation.DSMT4">
                  <p:embed/>
                </p:oleObj>
              </mc:Choice>
              <mc:Fallback>
                <p:oleObj name="Equation" r:id="rId4" imgW="1638300" imgH="4191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294" y="5324054"/>
                        <a:ext cx="2508399" cy="6562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81E1B621-2FFD-420C-8AF5-634437881F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247203"/>
              </p:ext>
            </p:extLst>
          </p:nvPr>
        </p:nvGraphicFramePr>
        <p:xfrm>
          <a:off x="4533959" y="5883249"/>
          <a:ext cx="2533068" cy="637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8728" imgH="393529" progId="Equation.DSMT4">
                  <p:embed/>
                </p:oleObj>
              </mc:Choice>
              <mc:Fallback>
                <p:oleObj name="Equation" r:id="rId6" imgW="1548728" imgH="393529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59" y="5883249"/>
                        <a:ext cx="2533068" cy="6371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3463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E6DFCF-D154-4643-95F9-681B277856FA}"/>
              </a:ext>
            </a:extLst>
          </p:cNvPr>
          <p:cNvSpPr txBox="1"/>
          <p:nvPr/>
        </p:nvSpPr>
        <p:spPr>
          <a:xfrm>
            <a:off x="332282" y="903720"/>
            <a:ext cx="11527436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、射线声学的基本方程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Rectangle 2">
            <a:extLst>
              <a:ext uri="{FF2B5EF4-FFF2-40B4-BE49-F238E27FC236}">
                <a16:creationId xmlns:a16="http://schemas.microsoft.com/office/drawing/2014/main" id="{47EDE85E-E928-4A84-B074-933FDAAF7DE8}"/>
              </a:ext>
            </a:extLst>
          </p:cNvPr>
          <p:cNvSpPr txBox="1">
            <a:spLocks noChangeArrowheads="1"/>
          </p:cNvSpPr>
          <p:nvPr/>
        </p:nvSpPr>
        <p:spPr>
          <a:xfrm>
            <a:off x="405307" y="1625168"/>
            <a:ext cx="7058025" cy="86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ct val="40000"/>
              </a:spcBef>
              <a:buNone/>
            </a:pPr>
            <a:r>
              <a:rPr lang="zh-CN" altLang="en-US" sz="2400" b="1" dirty="0"/>
              <a:t>波动方程：</a:t>
            </a:r>
          </a:p>
        </p:txBody>
      </p:sp>
      <p:graphicFrame>
        <p:nvGraphicFramePr>
          <p:cNvPr id="58" name="Object 4">
            <a:extLst>
              <a:ext uri="{FF2B5EF4-FFF2-40B4-BE49-F238E27FC236}">
                <a16:creationId xmlns:a16="http://schemas.microsoft.com/office/drawing/2014/main" id="{09020611-1CA3-4247-9C00-85532B0271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17186"/>
              </p:ext>
            </p:extLst>
          </p:nvPr>
        </p:nvGraphicFramePr>
        <p:xfrm>
          <a:off x="4281042" y="1602833"/>
          <a:ext cx="2145644" cy="824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71450" imgH="408172" progId="Equation.3">
                  <p:embed/>
                </p:oleObj>
              </mc:Choice>
              <mc:Fallback>
                <p:oleObj r:id="rId2" imgW="1071450" imgH="408172" progId="Equation.3">
                  <p:embed/>
                  <p:pic>
                    <p:nvPicPr>
                      <p:cNvPr id="81924" name="Object 4">
                        <a:extLst>
                          <a:ext uri="{FF2B5EF4-FFF2-40B4-BE49-F238E27FC236}">
                            <a16:creationId xmlns:a16="http://schemas.microsoft.com/office/drawing/2014/main" id="{6CA06305-C972-4BD6-AA59-F83293BE6E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042" y="1602833"/>
                        <a:ext cx="2145644" cy="8242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">
            <a:extLst>
              <a:ext uri="{FF2B5EF4-FFF2-40B4-BE49-F238E27FC236}">
                <a16:creationId xmlns:a16="http://schemas.microsoft.com/office/drawing/2014/main" id="{8271F9E3-1FD5-43E5-BD9F-8AD79E70B5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70444"/>
              </p:ext>
            </p:extLst>
          </p:nvPr>
        </p:nvGraphicFramePr>
        <p:xfrm>
          <a:off x="7210393" y="1856358"/>
          <a:ext cx="1654952" cy="40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16343" imgH="204086" progId="Equation.3">
                  <p:embed/>
                </p:oleObj>
              </mc:Choice>
              <mc:Fallback>
                <p:oleObj r:id="rId4" imgW="816343" imgH="204086" progId="Equation.3">
                  <p:embed/>
                  <p:pic>
                    <p:nvPicPr>
                      <p:cNvPr id="81925" name="Object 5">
                        <a:extLst>
                          <a:ext uri="{FF2B5EF4-FFF2-40B4-BE49-F238E27FC236}">
                            <a16:creationId xmlns:a16="http://schemas.microsoft.com/office/drawing/2014/main" id="{7D421925-A597-496A-A57B-2C18DA700A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0393" y="1856358"/>
                        <a:ext cx="1654952" cy="408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6">
            <a:extLst>
              <a:ext uri="{FF2B5EF4-FFF2-40B4-BE49-F238E27FC236}">
                <a16:creationId xmlns:a16="http://schemas.microsoft.com/office/drawing/2014/main" id="{FD029D96-2788-4994-BB25-66A1EC09D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097" y="2556312"/>
            <a:ext cx="2718216" cy="629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40000"/>
              </a:spcBef>
            </a:pP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形式解可写成为：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69CD49A-BDB5-4135-BAA1-18F5DCF55B08}"/>
              </a:ext>
            </a:extLst>
          </p:cNvPr>
          <p:cNvGrpSpPr/>
          <p:nvPr/>
        </p:nvGrpSpPr>
        <p:grpSpPr>
          <a:xfrm>
            <a:off x="3462338" y="2538510"/>
            <a:ext cx="7089775" cy="1242966"/>
            <a:chOff x="2484790" y="2790492"/>
            <a:chExt cx="9128501" cy="1600392"/>
          </a:xfrm>
        </p:grpSpPr>
        <p:graphicFrame>
          <p:nvGraphicFramePr>
            <p:cNvPr id="61" name="Object 7">
              <a:extLst>
                <a:ext uri="{FF2B5EF4-FFF2-40B4-BE49-F238E27FC236}">
                  <a16:creationId xmlns:a16="http://schemas.microsoft.com/office/drawing/2014/main" id="{004836AC-E37D-4C56-AA7C-D5099E81A8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0965685"/>
                </p:ext>
              </p:extLst>
            </p:nvPr>
          </p:nvGraphicFramePr>
          <p:xfrm>
            <a:off x="2484790" y="2927314"/>
            <a:ext cx="9128501" cy="699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974760" imgH="279360" progId="Equation.DSMT4">
                    <p:embed/>
                  </p:oleObj>
                </mc:Choice>
                <mc:Fallback>
                  <p:oleObj name="Equation" r:id="rId6" imgW="3974760" imgH="279360" progId="Equation.DSMT4">
                    <p:embed/>
                    <p:pic>
                      <p:nvPicPr>
                        <p:cNvPr id="81927" name="Object 7">
                          <a:extLst>
                            <a:ext uri="{FF2B5EF4-FFF2-40B4-BE49-F238E27FC236}">
                              <a16:creationId xmlns:a16="http://schemas.microsoft.com/office/drawing/2014/main" id="{1F1CAAC9-216D-4B3F-BB1B-31C2A6FB5D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4790" y="2927314"/>
                          <a:ext cx="9128501" cy="6990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Oval 8">
              <a:extLst>
                <a:ext uri="{FF2B5EF4-FFF2-40B4-BE49-F238E27FC236}">
                  <a16:creationId xmlns:a16="http://schemas.microsoft.com/office/drawing/2014/main" id="{20B13ED9-5486-466D-967C-BD1AD6DF7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5485" y="2790492"/>
              <a:ext cx="1584325" cy="1009650"/>
            </a:xfrm>
            <a:prstGeom prst="ellipse">
              <a:avLst/>
            </a:prstGeom>
            <a:noFill/>
            <a:ln w="25400" cmpd="sng">
              <a:solidFill>
                <a:srgbClr val="00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defRPr/>
              </a:pPr>
              <a:endPara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  <p:sp>
          <p:nvSpPr>
            <p:cNvPr id="99" name="AutoShape 9">
              <a:extLst>
                <a:ext uri="{FF2B5EF4-FFF2-40B4-BE49-F238E27FC236}">
                  <a16:creationId xmlns:a16="http://schemas.microsoft.com/office/drawing/2014/main" id="{46E9ED91-C0DE-42B1-9639-B8406F7D2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4381" y="3879014"/>
              <a:ext cx="1584325" cy="511870"/>
            </a:xfrm>
            <a:prstGeom prst="wedgeRectCallout">
              <a:avLst>
                <a:gd name="adj1" fmla="val 40304"/>
                <a:gd name="adj2" fmla="val -88080"/>
              </a:avLst>
            </a:prstGeom>
            <a:noFill/>
            <a:ln w="25400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声压振幅</a:t>
              </a:r>
            </a:p>
          </p:txBody>
        </p:sp>
        <p:sp>
          <p:nvSpPr>
            <p:cNvPr id="100" name="Oval 10">
              <a:extLst>
                <a:ext uri="{FF2B5EF4-FFF2-40B4-BE49-F238E27FC236}">
                  <a16:creationId xmlns:a16="http://schemas.microsoft.com/office/drawing/2014/main" id="{12F5997D-8539-42CB-85E1-79B928450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9364" y="2790492"/>
              <a:ext cx="1584325" cy="1009650"/>
            </a:xfrm>
            <a:prstGeom prst="ellipse">
              <a:avLst/>
            </a:prstGeom>
            <a:noFill/>
            <a:ln w="25400" cmpd="sng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defRPr/>
              </a:pPr>
              <a:endPara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  <p:sp>
          <p:nvSpPr>
            <p:cNvPr id="101" name="AutoShape 11">
              <a:extLst>
                <a:ext uri="{FF2B5EF4-FFF2-40B4-BE49-F238E27FC236}">
                  <a16:creationId xmlns:a16="http://schemas.microsoft.com/office/drawing/2014/main" id="{13202467-2E00-4E18-B970-AEE476E2C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5925" y="3875992"/>
              <a:ext cx="940129" cy="511870"/>
            </a:xfrm>
            <a:prstGeom prst="wedgeRectCallout">
              <a:avLst>
                <a:gd name="adj1" fmla="val 40935"/>
                <a:gd name="adj2" fmla="val -86401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波数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5C1F462-EC1E-45DA-A747-018AFAC78454}"/>
              </a:ext>
            </a:extLst>
          </p:cNvPr>
          <p:cNvGrpSpPr/>
          <p:nvPr/>
        </p:nvGrpSpPr>
        <p:grpSpPr>
          <a:xfrm>
            <a:off x="3516057" y="3609601"/>
            <a:ext cx="5973101" cy="1313210"/>
            <a:chOff x="900111" y="2363538"/>
            <a:chExt cx="7142405" cy="1570287"/>
          </a:xfrm>
        </p:grpSpPr>
        <p:graphicFrame>
          <p:nvGraphicFramePr>
            <p:cNvPr id="102" name="Object 3">
              <a:extLst>
                <a:ext uri="{FF2B5EF4-FFF2-40B4-BE49-F238E27FC236}">
                  <a16:creationId xmlns:a16="http://schemas.microsoft.com/office/drawing/2014/main" id="{76FDF722-21E4-4A41-A76D-B4A2BB823A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8812740"/>
                </p:ext>
              </p:extLst>
            </p:nvPr>
          </p:nvGraphicFramePr>
          <p:xfrm>
            <a:off x="900111" y="2917825"/>
            <a:ext cx="6302375" cy="101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540000" imgH="406400" progId="Equation.3">
                    <p:embed/>
                  </p:oleObj>
                </mc:Choice>
                <mc:Fallback>
                  <p:oleObj r:id="rId8" imgW="2540000" imgH="406400" progId="Equation.3">
                    <p:embed/>
                    <p:pic>
                      <p:nvPicPr>
                        <p:cNvPr id="82947" name="Object 3">
                          <a:extLst>
                            <a:ext uri="{FF2B5EF4-FFF2-40B4-BE49-F238E27FC236}">
                              <a16:creationId xmlns:a16="http://schemas.microsoft.com/office/drawing/2014/main" id="{0E3A0EFE-ACFF-4349-85E7-5B23A421D6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0111" y="2917825"/>
                          <a:ext cx="6302375" cy="10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" name="Oval 6">
              <a:extLst>
                <a:ext uri="{FF2B5EF4-FFF2-40B4-BE49-F238E27FC236}">
                  <a16:creationId xmlns:a16="http://schemas.microsoft.com/office/drawing/2014/main" id="{A58346AE-9A5A-4A98-A8E4-7E284AF7A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6113" y="2917825"/>
              <a:ext cx="1582737" cy="936625"/>
            </a:xfrm>
            <a:prstGeom prst="ellipse">
              <a:avLst/>
            </a:prstGeom>
            <a:noFill/>
            <a:ln w="25400" cmpd="sng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defRPr/>
              </a:pPr>
              <a:endPara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  <p:sp>
          <p:nvSpPr>
            <p:cNvPr id="106" name="AutoShape 7">
              <a:extLst>
                <a:ext uri="{FF2B5EF4-FFF2-40B4-BE49-F238E27FC236}">
                  <a16:creationId xmlns:a16="http://schemas.microsoft.com/office/drawing/2014/main" id="{8269DC6C-6F24-4F2F-9348-6A9FF64E2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4677" y="2363538"/>
              <a:ext cx="1227839" cy="431244"/>
            </a:xfrm>
            <a:prstGeom prst="wedgeRectCallout">
              <a:avLst>
                <a:gd name="adj1" fmla="val -38726"/>
                <a:gd name="adj2" fmla="val 84785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折射率</a:t>
              </a:r>
            </a:p>
          </p:txBody>
        </p:sp>
      </p:grpSp>
      <p:graphicFrame>
        <p:nvGraphicFramePr>
          <p:cNvPr id="107" name="Object 8">
            <a:extLst>
              <a:ext uri="{FF2B5EF4-FFF2-40B4-BE49-F238E27FC236}">
                <a16:creationId xmlns:a16="http://schemas.microsoft.com/office/drawing/2014/main" id="{BD9AC5A9-55AF-4E7D-9D07-71543A6CC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016625"/>
              </p:ext>
            </p:extLst>
          </p:nvPr>
        </p:nvGraphicFramePr>
        <p:xfrm>
          <a:off x="2139630" y="6140406"/>
          <a:ext cx="7433190" cy="543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124200" imgH="228600" progId="Equation.3">
                  <p:embed/>
                </p:oleObj>
              </mc:Choice>
              <mc:Fallback>
                <p:oleObj r:id="rId10" imgW="3124200" imgH="228600" progId="Equation.3">
                  <p:embed/>
                  <p:pic>
                    <p:nvPicPr>
                      <p:cNvPr id="82952" name="Object 8">
                        <a:extLst>
                          <a:ext uri="{FF2B5EF4-FFF2-40B4-BE49-F238E27FC236}">
                            <a16:creationId xmlns:a16="http://schemas.microsoft.com/office/drawing/2014/main" id="{BCA1762C-2F10-46C9-AC2B-1B79DFAA07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630" y="6140406"/>
                        <a:ext cx="7433190" cy="543671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">
            <a:extLst>
              <a:ext uri="{FF2B5EF4-FFF2-40B4-BE49-F238E27FC236}">
                <a16:creationId xmlns:a16="http://schemas.microsoft.com/office/drawing/2014/main" id="{81FD778F-7EAD-413F-98AC-78FD5E5002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889964"/>
              </p:ext>
            </p:extLst>
          </p:nvPr>
        </p:nvGraphicFramePr>
        <p:xfrm>
          <a:off x="3847118" y="5315239"/>
          <a:ext cx="4497765" cy="452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07285" imgH="215806" progId="Equation.DSMT4">
                  <p:embed/>
                </p:oleObj>
              </mc:Choice>
              <mc:Fallback>
                <p:oleObj name="Equation" r:id="rId12" imgW="2107285" imgH="215806" progId="Equation.DSMT4">
                  <p:embed/>
                  <p:pic>
                    <p:nvPicPr>
                      <p:cNvPr id="82954" name="Object 10">
                        <a:extLst>
                          <a:ext uri="{FF2B5EF4-FFF2-40B4-BE49-F238E27FC236}">
                            <a16:creationId xmlns:a16="http://schemas.microsoft.com/office/drawing/2014/main" id="{A57422DC-94BF-4E12-99BC-D033427441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7118" y="5315239"/>
                        <a:ext cx="4497765" cy="45255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Rectangle 6">
                <a:extLst>
                  <a:ext uri="{FF2B5EF4-FFF2-40B4-BE49-F238E27FC236}">
                    <a16:creationId xmlns:a16="http://schemas.microsoft.com/office/drawing/2014/main" id="{95536C8F-ABC5-4F6C-94F8-C04EC4A4E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282" y="4783532"/>
                <a:ext cx="2955915" cy="87017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30000"/>
                  </a:lnSpc>
                  <a:spcBef>
                    <a:spcPct val="40000"/>
                  </a:spcBef>
                </a:pPr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把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中提出，放到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𝜑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b="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</a:t>
                </a:r>
                <a:endParaRPr lang="en-US" altLang="zh-CN" sz="2000" b="0" i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9" name="Rectangle 6">
                <a:extLst>
                  <a:ext uri="{FF2B5EF4-FFF2-40B4-BE49-F238E27FC236}">
                    <a16:creationId xmlns:a16="http://schemas.microsoft.com/office/drawing/2014/main" id="{95536C8F-ABC5-4F6C-94F8-C04EC4A4E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2282" y="4783532"/>
                <a:ext cx="2955915" cy="870176"/>
              </a:xfrm>
              <a:prstGeom prst="rect">
                <a:avLst/>
              </a:prstGeom>
              <a:blipFill>
                <a:blip r:embed="rId15"/>
                <a:stretch>
                  <a:fillRect l="-2058" r="-10494" b="-9722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3089DC9-07B5-44F8-9E83-D63513A5A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12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1BB474C-D252-45FA-B9F5-9AB7C25E3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309" y="1913030"/>
            <a:ext cx="2078704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821055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228725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3703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spcAft>
                <a:spcPct val="40000"/>
              </a:spcAft>
              <a:defRPr/>
            </a:pPr>
            <a:r>
              <a:rPr lang="zh-CN" altLang="en-US" b="1" i="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程函概念：</a:t>
            </a:r>
          </a:p>
        </p:txBody>
      </p:sp>
      <p:graphicFrame>
        <p:nvGraphicFramePr>
          <p:cNvPr id="23" name="Object 4">
            <a:extLst>
              <a:ext uri="{FF2B5EF4-FFF2-40B4-BE49-F238E27FC236}">
                <a16:creationId xmlns:a16="http://schemas.microsoft.com/office/drawing/2014/main" id="{CFE03352-0E40-4678-A275-8E2E859E49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819545"/>
              </p:ext>
            </p:extLst>
          </p:nvPr>
        </p:nvGraphicFramePr>
        <p:xfrm>
          <a:off x="2747309" y="3065829"/>
          <a:ext cx="27098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84206" imgH="204086" progId="Equation.3">
                  <p:embed/>
                </p:oleObj>
              </mc:Choice>
              <mc:Fallback>
                <p:oleObj r:id="rId2" imgW="1084206" imgH="204086" progId="Equation.3">
                  <p:embed/>
                  <p:pic>
                    <p:nvPicPr>
                      <p:cNvPr id="83972" name="Object 4">
                        <a:extLst>
                          <a:ext uri="{FF2B5EF4-FFF2-40B4-BE49-F238E27FC236}">
                            <a16:creationId xmlns:a16="http://schemas.microsoft.com/office/drawing/2014/main" id="{C3F662B9-92DA-4DF8-AF82-04A2CEA7D8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309" y="3065829"/>
                        <a:ext cx="270986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AutoShape 5">
            <a:extLst>
              <a:ext uri="{FF2B5EF4-FFF2-40B4-BE49-F238E27FC236}">
                <a16:creationId xmlns:a16="http://schemas.microsoft.com/office/drawing/2014/main" id="{EBD30D39-4C70-44C4-ABE9-65E4F8333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947" y="3497629"/>
            <a:ext cx="360362" cy="1006475"/>
          </a:xfrm>
          <a:prstGeom prst="curvedRightArrow">
            <a:avLst>
              <a:gd name="adj1" fmla="val 55859"/>
              <a:gd name="adj2" fmla="val 111718"/>
              <a:gd name="adj3" fmla="val 33333"/>
            </a:avLst>
          </a:prstGeom>
          <a:solidFill>
            <a:schemeClr val="accent1"/>
          </a:solidFill>
          <a:ln w="9525" cmpd="sng">
            <a:solidFill>
              <a:srgbClr val="00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DF15D473-73C6-40F6-9BFC-E188610D5D8A}"/>
              </a:ext>
            </a:extLst>
          </p:cNvPr>
          <p:cNvSpPr txBox="1">
            <a:spLocks noChangeArrowheads="1"/>
          </p:cNvSpPr>
          <p:nvPr/>
        </p:nvSpPr>
        <p:spPr>
          <a:xfrm>
            <a:off x="2791759" y="4018329"/>
            <a:ext cx="7372350" cy="574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ct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所确定的曲面为等相位面，相位值处处相等。</a:t>
            </a:r>
          </a:p>
        </p:txBody>
      </p:sp>
      <p:graphicFrame>
        <p:nvGraphicFramePr>
          <p:cNvPr id="26" name="Object 7">
            <a:extLst>
              <a:ext uri="{FF2B5EF4-FFF2-40B4-BE49-F238E27FC236}">
                <a16:creationId xmlns:a16="http://schemas.microsoft.com/office/drawing/2014/main" id="{71E4A9C8-59A7-4779-9177-7EABBE7D2F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938502"/>
              </p:ext>
            </p:extLst>
          </p:nvPr>
        </p:nvGraphicFramePr>
        <p:xfrm>
          <a:off x="2747309" y="4935904"/>
          <a:ext cx="187483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40780" imgH="204353" progId="Equation.3">
                  <p:embed/>
                </p:oleObj>
              </mc:Choice>
              <mc:Fallback>
                <p:oleObj r:id="rId4" imgW="740780" imgH="204353" progId="Equation.3">
                  <p:embed/>
                  <p:pic>
                    <p:nvPicPr>
                      <p:cNvPr id="83975" name="Object 7">
                        <a:extLst>
                          <a:ext uri="{FF2B5EF4-FFF2-40B4-BE49-F238E27FC236}">
                            <a16:creationId xmlns:a16="http://schemas.microsoft.com/office/drawing/2014/main" id="{8AE863EE-3F34-4F18-A29A-F9AB4AA96B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309" y="4935904"/>
                        <a:ext cx="187483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utoShape 8">
            <a:extLst>
              <a:ext uri="{FF2B5EF4-FFF2-40B4-BE49-F238E27FC236}">
                <a16:creationId xmlns:a16="http://schemas.microsoft.com/office/drawing/2014/main" id="{F4D88647-A7F2-492C-A1B6-611417A1D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9972" y="5250229"/>
            <a:ext cx="360362" cy="1009650"/>
          </a:xfrm>
          <a:prstGeom prst="curvedRightArrow">
            <a:avLst>
              <a:gd name="adj1" fmla="val 56035"/>
              <a:gd name="adj2" fmla="val 112071"/>
              <a:gd name="adj3" fmla="val 33333"/>
            </a:avLst>
          </a:prstGeom>
          <a:solidFill>
            <a:schemeClr val="accent1"/>
          </a:solidFill>
          <a:ln w="9525" cmpd="sng">
            <a:solidFill>
              <a:srgbClr val="00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AE827C26-AB16-4787-A893-665AC547D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4459" y="5770929"/>
            <a:ext cx="73723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zh-CN" altLang="en-US" sz="2400" b="1" i="0">
                <a:latin typeface="微软雅黑" panose="020B0503020204020204" pitchFamily="34" charset="-122"/>
                <a:ea typeface="微软雅黑" panose="020B0503020204020204" pitchFamily="34" charset="-122"/>
              </a:rPr>
              <a:t>代表声线的方向，处处与等相位面垂直。 </a:t>
            </a:r>
          </a:p>
        </p:txBody>
      </p:sp>
      <p:graphicFrame>
        <p:nvGraphicFramePr>
          <p:cNvPr id="29" name="Object 10">
            <a:extLst>
              <a:ext uri="{FF2B5EF4-FFF2-40B4-BE49-F238E27FC236}">
                <a16:creationId xmlns:a16="http://schemas.microsoft.com/office/drawing/2014/main" id="{D071369A-DE23-401F-823E-119B2A7F31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900414"/>
              </p:ext>
            </p:extLst>
          </p:nvPr>
        </p:nvGraphicFramePr>
        <p:xfrm>
          <a:off x="3684728" y="2067604"/>
          <a:ext cx="5120369" cy="51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07285" imgH="215806" progId="Equation.DSMT4">
                  <p:embed/>
                </p:oleObj>
              </mc:Choice>
              <mc:Fallback>
                <p:oleObj name="Equation" r:id="rId6" imgW="2107285" imgH="215806" progId="Equation.DSMT4">
                  <p:embed/>
                  <p:pic>
                    <p:nvPicPr>
                      <p:cNvPr id="108" name="Object 10">
                        <a:extLst>
                          <a:ext uri="{FF2B5EF4-FFF2-40B4-BE49-F238E27FC236}">
                            <a16:creationId xmlns:a16="http://schemas.microsoft.com/office/drawing/2014/main" id="{81FD778F-7EAD-413F-98AC-78FD5E5002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728" y="2067604"/>
                        <a:ext cx="5120369" cy="5152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749C923D-4565-4560-A1AE-E9C078AFFBC5}"/>
              </a:ext>
            </a:extLst>
          </p:cNvPr>
          <p:cNvSpPr txBox="1"/>
          <p:nvPr/>
        </p:nvSpPr>
        <p:spPr>
          <a:xfrm>
            <a:off x="332282" y="903720"/>
            <a:ext cx="11527436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、射线声学的基本方程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909BCE-B982-4709-A6EF-34B1E554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05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7D4A8042-59CD-440C-B990-208EF9C66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86364"/>
              </p:ext>
            </p:extLst>
          </p:nvPr>
        </p:nvGraphicFramePr>
        <p:xfrm>
          <a:off x="1025635" y="1948561"/>
          <a:ext cx="7034408" cy="1008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21000" imgH="419100" progId="Equation.3">
                  <p:embed/>
                </p:oleObj>
              </mc:Choice>
              <mc:Fallback>
                <p:oleObj r:id="rId2" imgW="2921000" imgH="419100" progId="Equation.3">
                  <p:embed/>
                  <p:pic>
                    <p:nvPicPr>
                      <p:cNvPr id="84999" name="Object 7">
                        <a:extLst>
                          <a:ext uri="{FF2B5EF4-FFF2-40B4-BE49-F238E27FC236}">
                            <a16:creationId xmlns:a16="http://schemas.microsoft.com/office/drawing/2014/main" id="{955DEC14-275A-4480-ADAD-457C232587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635" y="1948561"/>
                        <a:ext cx="7034408" cy="1008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>
            <a:extLst>
              <a:ext uri="{FF2B5EF4-FFF2-40B4-BE49-F238E27FC236}">
                <a16:creationId xmlns:a16="http://schemas.microsoft.com/office/drawing/2014/main" id="{413FE218-9D28-4F78-A256-1DBAE6B614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02348"/>
              </p:ext>
            </p:extLst>
          </p:nvPr>
        </p:nvGraphicFramePr>
        <p:xfrm>
          <a:off x="940267" y="3930106"/>
          <a:ext cx="3829050" cy="210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90568" imgH="838928" progId="Equation.3">
                  <p:embed/>
                </p:oleObj>
              </mc:Choice>
              <mc:Fallback>
                <p:oleObj r:id="rId4" imgW="1690568" imgH="838928" progId="Equation.3">
                  <p:embed/>
                  <p:pic>
                    <p:nvPicPr>
                      <p:cNvPr id="85000" name="Object 8">
                        <a:extLst>
                          <a:ext uri="{FF2B5EF4-FFF2-40B4-BE49-F238E27FC236}">
                            <a16:creationId xmlns:a16="http://schemas.microsoft.com/office/drawing/2014/main" id="{FE5BE9A2-C988-4195-A491-F6B565BE99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267" y="3930106"/>
                        <a:ext cx="3829050" cy="210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AutoShape 9">
            <a:extLst>
              <a:ext uri="{FF2B5EF4-FFF2-40B4-BE49-F238E27FC236}">
                <a16:creationId xmlns:a16="http://schemas.microsoft.com/office/drawing/2014/main" id="{B612AE07-6D4F-42A3-BBFF-45D036AA8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0" y="2288631"/>
            <a:ext cx="419100" cy="3225800"/>
          </a:xfrm>
          <a:prstGeom prst="curvedRightArrow">
            <a:avLst>
              <a:gd name="adj1" fmla="val 89762"/>
              <a:gd name="adj2" fmla="val 243702"/>
              <a:gd name="adj3" fmla="val 33333"/>
            </a:avLst>
          </a:prstGeom>
          <a:solidFill>
            <a:schemeClr val="accent1"/>
          </a:solidFill>
          <a:ln w="9525" cmpd="sng">
            <a:solidFill>
              <a:srgbClr val="00FF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graphicFrame>
        <p:nvGraphicFramePr>
          <p:cNvPr id="32" name="Object 13">
            <a:extLst>
              <a:ext uri="{FF2B5EF4-FFF2-40B4-BE49-F238E27FC236}">
                <a16:creationId xmlns:a16="http://schemas.microsoft.com/office/drawing/2014/main" id="{92059E45-DE48-44D3-966A-0CA190841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983295"/>
              </p:ext>
            </p:extLst>
          </p:nvPr>
        </p:nvGraphicFramePr>
        <p:xfrm>
          <a:off x="4335930" y="2993481"/>
          <a:ext cx="865187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7425" imgH="218941" progId="Equation.3">
                  <p:embed/>
                </p:oleObj>
              </mc:Choice>
              <mc:Fallback>
                <p:oleObj r:id="rId6" imgW="167425" imgH="218941" progId="Equation.3">
                  <p:embed/>
                  <p:pic>
                    <p:nvPicPr>
                      <p:cNvPr id="85005" name="Object 13">
                        <a:extLst>
                          <a:ext uri="{FF2B5EF4-FFF2-40B4-BE49-F238E27FC236}">
                            <a16:creationId xmlns:a16="http://schemas.microsoft.com/office/drawing/2014/main" id="{474611FF-7D56-49F4-8D09-523613AF84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930" y="2993481"/>
                        <a:ext cx="865187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4">
            <a:extLst>
              <a:ext uri="{FF2B5EF4-FFF2-40B4-BE49-F238E27FC236}">
                <a16:creationId xmlns:a16="http://schemas.microsoft.com/office/drawing/2014/main" id="{7853264B-00EC-4AD8-ABA3-DD89A7FA64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055211"/>
              </p:ext>
            </p:extLst>
          </p:nvPr>
        </p:nvGraphicFramePr>
        <p:xfrm>
          <a:off x="5128092" y="3282406"/>
          <a:ext cx="3887788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689833" imgH="482810" progId="Equation.3">
                  <p:embed/>
                </p:oleObj>
              </mc:Choice>
              <mc:Fallback>
                <p:oleObj r:id="rId8" imgW="1689833" imgH="482810" progId="Equation.3">
                  <p:embed/>
                  <p:pic>
                    <p:nvPicPr>
                      <p:cNvPr id="85006" name="Object 14">
                        <a:extLst>
                          <a:ext uri="{FF2B5EF4-FFF2-40B4-BE49-F238E27FC236}">
                            <a16:creationId xmlns:a16="http://schemas.microsoft.com/office/drawing/2014/main" id="{D23E22B6-4DF5-4781-BA13-835FF9425C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8092" y="3282406"/>
                        <a:ext cx="3887788" cy="12001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6">
            <a:extLst>
              <a:ext uri="{FF2B5EF4-FFF2-40B4-BE49-F238E27FC236}">
                <a16:creationId xmlns:a16="http://schemas.microsoft.com/office/drawing/2014/main" id="{BE1D34DB-C85C-4E29-9B7C-AEA382F6D4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192100"/>
              </p:ext>
            </p:extLst>
          </p:nvPr>
        </p:nvGraphicFramePr>
        <p:xfrm>
          <a:off x="5350342" y="5230269"/>
          <a:ext cx="21621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942254" imgH="280130" progId="Equation.DSMT4">
                  <p:embed/>
                </p:oleObj>
              </mc:Choice>
              <mc:Fallback>
                <p:oleObj r:id="rId10" imgW="942254" imgH="280130" progId="Equation.DSMT4">
                  <p:embed/>
                  <p:pic>
                    <p:nvPicPr>
                      <p:cNvPr id="85008" name="Object 16">
                        <a:extLst>
                          <a:ext uri="{FF2B5EF4-FFF2-40B4-BE49-F238E27FC236}">
                            <a16:creationId xmlns:a16="http://schemas.microsoft.com/office/drawing/2014/main" id="{D3A202C2-8DD1-4936-AA5F-73BDC92783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0342" y="5230269"/>
                        <a:ext cx="2162175" cy="69532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utoShape 17">
            <a:extLst>
              <a:ext uri="{FF2B5EF4-FFF2-40B4-BE49-F238E27FC236}">
                <a16:creationId xmlns:a16="http://schemas.microsoft.com/office/drawing/2014/main" id="{BCB15DD4-E720-453E-AE69-E7D61F16C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492" y="5382669"/>
            <a:ext cx="792163" cy="287337"/>
          </a:xfrm>
          <a:custGeom>
            <a:avLst/>
            <a:gdLst>
              <a:gd name="T0" fmla="*/ 21788957 w 21600"/>
              <a:gd name="T1" fmla="*/ 0 h 21600"/>
              <a:gd name="T2" fmla="*/ 21788957 w 21600"/>
              <a:gd name="T3" fmla="*/ 955582 h 21600"/>
              <a:gd name="T4" fmla="*/ 4539351 w 21600"/>
              <a:gd name="T5" fmla="*/ 955582 h 21600"/>
              <a:gd name="T6" fmla="*/ 4539351 w 21600"/>
              <a:gd name="T7" fmla="*/ 2866759 h 21600"/>
              <a:gd name="T8" fmla="*/ 21788957 w 21600"/>
              <a:gd name="T9" fmla="*/ 2866759 h 21600"/>
              <a:gd name="T10" fmla="*/ 21788957 w 21600"/>
              <a:gd name="T11" fmla="*/ 3822340 h 21600"/>
              <a:gd name="T12" fmla="*/ 29051955 w 21600"/>
              <a:gd name="T13" fmla="*/ 1911177 h 21600"/>
              <a:gd name="T14" fmla="*/ 21788957 w 21600"/>
              <a:gd name="T15" fmla="*/ 0 h 21600"/>
              <a:gd name="T16" fmla="*/ 1815740 w 21600"/>
              <a:gd name="T17" fmla="*/ 955582 h 21600"/>
              <a:gd name="T18" fmla="*/ 1815740 w 21600"/>
              <a:gd name="T19" fmla="*/ 2866759 h 21600"/>
              <a:gd name="T20" fmla="*/ 3631481 w 21600"/>
              <a:gd name="T21" fmla="*/ 2866759 h 21600"/>
              <a:gd name="T22" fmla="*/ 3631481 w 21600"/>
              <a:gd name="T23" fmla="*/ 955582 h 21600"/>
              <a:gd name="T24" fmla="*/ 1815740 w 21600"/>
              <a:gd name="T25" fmla="*/ 955582 h 21600"/>
              <a:gd name="T26" fmla="*/ 0 w 21600"/>
              <a:gd name="T27" fmla="*/ 955582 h 21600"/>
              <a:gd name="T28" fmla="*/ 0 w 21600"/>
              <a:gd name="T29" fmla="*/ 2866759 h 21600"/>
              <a:gd name="T30" fmla="*/ 907870 w 21600"/>
              <a:gd name="T31" fmla="*/ 2866759 h 21600"/>
              <a:gd name="T32" fmla="*/ 907870 w 21600"/>
              <a:gd name="T33" fmla="*/ 955582 h 21600"/>
              <a:gd name="T34" fmla="*/ 0 w 21600"/>
              <a:gd name="T35" fmla="*/ 955582 h 2160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FF00"/>
          </a:solidFill>
          <a:ln w="952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15197D-43A0-4B2A-A81B-7EE9B5AF5474}"/>
              </a:ext>
            </a:extLst>
          </p:cNvPr>
          <p:cNvSpPr txBox="1"/>
          <p:nvPr/>
        </p:nvSpPr>
        <p:spPr>
          <a:xfrm>
            <a:off x="9625480" y="3159117"/>
            <a:ext cx="2012089" cy="132343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程函方程：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声线方向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声线轨迹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声线传播时间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D4C6823-A379-4392-9089-44377321C80A}"/>
              </a:ext>
            </a:extLst>
          </p:cNvPr>
          <p:cNvSpPr txBox="1"/>
          <p:nvPr/>
        </p:nvSpPr>
        <p:spPr>
          <a:xfrm>
            <a:off x="9625480" y="4981031"/>
            <a:ext cx="2012088" cy="10156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强度方程：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声线幅度或携带的能量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232E469-FA17-434F-A3B4-1D7651C50449}"/>
              </a:ext>
            </a:extLst>
          </p:cNvPr>
          <p:cNvSpPr txBox="1"/>
          <p:nvPr/>
        </p:nvSpPr>
        <p:spPr>
          <a:xfrm>
            <a:off x="332282" y="903720"/>
            <a:ext cx="11527436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、射线声学的基本方程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8" name="Object 11">
            <a:extLst>
              <a:ext uri="{FF2B5EF4-FFF2-40B4-BE49-F238E27FC236}">
                <a16:creationId xmlns:a16="http://schemas.microsoft.com/office/drawing/2014/main" id="{46D32999-E040-4FA9-8D49-9EE7032613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746649"/>
              </p:ext>
            </p:extLst>
          </p:nvPr>
        </p:nvGraphicFramePr>
        <p:xfrm>
          <a:off x="2725137" y="3031648"/>
          <a:ext cx="1793355" cy="51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03938" imgH="229697" progId="Equation.DSMT4">
                  <p:embed/>
                </p:oleObj>
              </mc:Choice>
              <mc:Fallback>
                <p:oleObj name="Equation" r:id="rId12" imgW="803938" imgH="229697" progId="Equation.DSMT4">
                  <p:embed/>
                  <p:pic>
                    <p:nvPicPr>
                      <p:cNvPr id="30" name="Object 11">
                        <a:extLst>
                          <a:ext uri="{FF2B5EF4-FFF2-40B4-BE49-F238E27FC236}">
                            <a16:creationId xmlns:a16="http://schemas.microsoft.com/office/drawing/2014/main" id="{CDD5F8A3-D833-4CE6-9318-0267F91D95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137" y="3031648"/>
                        <a:ext cx="1793355" cy="511170"/>
                      </a:xfrm>
                      <a:prstGeom prst="rect">
                        <a:avLst/>
                      </a:prstGeom>
                      <a:solidFill>
                        <a:srgbClr val="FF6464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95082A-2CDF-48F9-A6CC-C222BD32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113869"/>
              </p:ext>
            </p:extLst>
          </p:nvPr>
        </p:nvGraphicFramePr>
        <p:xfrm>
          <a:off x="4664541" y="840098"/>
          <a:ext cx="353377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28720" imgH="736560" progId="Equation.DSMT4">
                  <p:embed/>
                </p:oleObj>
              </mc:Choice>
              <mc:Fallback>
                <p:oleObj name="Equation" r:id="rId14" imgW="26287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64541" y="840098"/>
                        <a:ext cx="3533775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003306"/>
              </p:ext>
            </p:extLst>
          </p:nvPr>
        </p:nvGraphicFramePr>
        <p:xfrm>
          <a:off x="9015880" y="497088"/>
          <a:ext cx="2380060" cy="837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87240" imgH="558720" progId="Equation.DSMT4">
                  <p:embed/>
                </p:oleObj>
              </mc:Choice>
              <mc:Fallback>
                <p:oleObj name="Equation" r:id="rId16" imgW="158724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015880" y="497088"/>
                        <a:ext cx="2380060" cy="837781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9212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232E469-FA17-434F-A3B4-1D7651C50449}"/>
              </a:ext>
            </a:extLst>
          </p:cNvPr>
          <p:cNvSpPr txBox="1"/>
          <p:nvPr/>
        </p:nvSpPr>
        <p:spPr>
          <a:xfrm>
            <a:off x="332282" y="903720"/>
            <a:ext cx="11527436" cy="161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、射线声学的基本方程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程函方程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标量形式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5" name="Object 6">
            <a:extLst>
              <a:ext uri="{FF2B5EF4-FFF2-40B4-BE49-F238E27FC236}">
                <a16:creationId xmlns:a16="http://schemas.microsoft.com/office/drawing/2014/main" id="{BB2C6E12-D321-405B-8ECC-581B613288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440000"/>
              </p:ext>
            </p:extLst>
          </p:nvPr>
        </p:nvGraphicFramePr>
        <p:xfrm>
          <a:off x="175407" y="5608479"/>
          <a:ext cx="6116637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60360" imgH="419040" progId="Equation.DSMT4">
                  <p:embed/>
                </p:oleObj>
              </mc:Choice>
              <mc:Fallback>
                <p:oleObj name="Equation" r:id="rId2" imgW="3060360" imgH="419040" progId="Equation.DSMT4">
                  <p:embed/>
                  <p:pic>
                    <p:nvPicPr>
                      <p:cNvPr id="25" name="Object 6">
                        <a:extLst>
                          <a:ext uri="{FF2B5EF4-FFF2-40B4-BE49-F238E27FC236}">
                            <a16:creationId xmlns:a16="http://schemas.microsoft.com/office/drawing/2014/main" id="{BB2C6E12-D321-405B-8ECC-581B613288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07" y="5608479"/>
                        <a:ext cx="6116637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2">
            <a:extLst>
              <a:ext uri="{FF2B5EF4-FFF2-40B4-BE49-F238E27FC236}">
                <a16:creationId xmlns:a16="http://schemas.microsoft.com/office/drawing/2014/main" id="{7957B202-8383-4CA0-94CE-72C4B2F6C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09796"/>
              </p:ext>
            </p:extLst>
          </p:nvPr>
        </p:nvGraphicFramePr>
        <p:xfrm>
          <a:off x="6173509" y="2605916"/>
          <a:ext cx="1823144" cy="2580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03588" imgH="1135227" progId="Equation.DSMT4">
                  <p:embed/>
                </p:oleObj>
              </mc:Choice>
              <mc:Fallback>
                <p:oleObj r:id="rId4" imgW="803588" imgH="1135227" progId="Equation.DSMT4">
                  <p:embed/>
                  <p:pic>
                    <p:nvPicPr>
                      <p:cNvPr id="39" name="Object 12">
                        <a:extLst>
                          <a:ext uri="{FF2B5EF4-FFF2-40B4-BE49-F238E27FC236}">
                            <a16:creationId xmlns:a16="http://schemas.microsoft.com/office/drawing/2014/main" id="{7957B202-8383-4CA0-94CE-72C4B2F6C6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509" y="2605916"/>
                        <a:ext cx="1823144" cy="2580976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6">
            <a:extLst>
              <a:ext uri="{FF2B5EF4-FFF2-40B4-BE49-F238E27FC236}">
                <a16:creationId xmlns:a16="http://schemas.microsoft.com/office/drawing/2014/main" id="{24784B59-0EDD-4AFA-84E0-581ED63290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943546"/>
              </p:ext>
            </p:extLst>
          </p:nvPr>
        </p:nvGraphicFramePr>
        <p:xfrm>
          <a:off x="482543" y="2860675"/>
          <a:ext cx="5005387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23800" imgH="533160" progId="Equation.DSMT4">
                  <p:embed/>
                </p:oleObj>
              </mc:Choice>
              <mc:Fallback>
                <p:oleObj name="Equation" r:id="rId6" imgW="2323800" imgH="533160" progId="Equation.DSMT4">
                  <p:embed/>
                  <p:pic>
                    <p:nvPicPr>
                      <p:cNvPr id="43" name="Object 16">
                        <a:extLst>
                          <a:ext uri="{FF2B5EF4-FFF2-40B4-BE49-F238E27FC236}">
                            <a16:creationId xmlns:a16="http://schemas.microsoft.com/office/drawing/2014/main" id="{24784B59-0EDD-4AFA-84E0-581ED6329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543" y="2860675"/>
                        <a:ext cx="5005387" cy="11366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4">
            <a:extLst>
              <a:ext uri="{FF2B5EF4-FFF2-40B4-BE49-F238E27FC236}">
                <a16:creationId xmlns:a16="http://schemas.microsoft.com/office/drawing/2014/main" id="{7853264B-00EC-4AD8-ABA3-DD89A7FA64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290121"/>
              </p:ext>
            </p:extLst>
          </p:nvPr>
        </p:nvGraphicFramePr>
        <p:xfrm>
          <a:off x="5487930" y="978121"/>
          <a:ext cx="3194303" cy="986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89833" imgH="482810" progId="Equation.DSMT4">
                  <p:embed/>
                </p:oleObj>
              </mc:Choice>
              <mc:Fallback>
                <p:oleObj name="Equation" r:id="rId8" imgW="1689833" imgH="482810" progId="Equation.DSMT4">
                  <p:embed/>
                  <p:pic>
                    <p:nvPicPr>
                      <p:cNvPr id="33" name="Object 14">
                        <a:extLst>
                          <a:ext uri="{FF2B5EF4-FFF2-40B4-BE49-F238E27FC236}">
                            <a16:creationId xmlns:a16="http://schemas.microsoft.com/office/drawing/2014/main" id="{7853264B-00EC-4AD8-ABA3-DD89A7FA64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30" y="978121"/>
                        <a:ext cx="3194303" cy="98607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2955CE31-C73A-4D40-B63D-0D2E1B483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962416"/>
              </p:ext>
            </p:extLst>
          </p:nvPr>
        </p:nvGraphicFramePr>
        <p:xfrm>
          <a:off x="8543996" y="2038594"/>
          <a:ext cx="3203506" cy="1368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033765" imgH="864350" progId="Equation.3">
                  <p:embed/>
                </p:oleObj>
              </mc:Choice>
              <mc:Fallback>
                <p:oleObj r:id="rId10" imgW="2033765" imgH="864350" progId="Equation.3">
                  <p:embed/>
                  <p:pic>
                    <p:nvPicPr>
                      <p:cNvPr id="88067" name="Object 3">
                        <a:extLst>
                          <a:ext uri="{FF2B5EF4-FFF2-40B4-BE49-F238E27FC236}">
                            <a16:creationId xmlns:a16="http://schemas.microsoft.com/office/drawing/2014/main" id="{4BACCA47-635D-400A-9377-3E3483D3EE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3996" y="2038594"/>
                        <a:ext cx="3203506" cy="136897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AA0D7D4A-A110-4F7D-8D27-85D068603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900046"/>
              </p:ext>
            </p:extLst>
          </p:nvPr>
        </p:nvGraphicFramePr>
        <p:xfrm>
          <a:off x="8543996" y="3564639"/>
          <a:ext cx="3260127" cy="140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057400" imgH="889000" progId="Equation.3">
                  <p:embed/>
                </p:oleObj>
              </mc:Choice>
              <mc:Fallback>
                <p:oleObj r:id="rId12" imgW="2057400" imgH="889000" progId="Equation.3">
                  <p:embed/>
                  <p:pic>
                    <p:nvPicPr>
                      <p:cNvPr id="88068" name="Object 4">
                        <a:extLst>
                          <a:ext uri="{FF2B5EF4-FFF2-40B4-BE49-F238E27FC236}">
                            <a16:creationId xmlns:a16="http://schemas.microsoft.com/office/drawing/2014/main" id="{30FE6B38-35C4-48E8-A926-2FD3E43F63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3996" y="3564639"/>
                        <a:ext cx="3260127" cy="14029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A7810788-2526-4670-B457-8300993D04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166450"/>
              </p:ext>
            </p:extLst>
          </p:nvPr>
        </p:nvGraphicFramePr>
        <p:xfrm>
          <a:off x="8575002" y="5124658"/>
          <a:ext cx="3284716" cy="1404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033765" imgH="864350" progId="Equation.3">
                  <p:embed/>
                </p:oleObj>
              </mc:Choice>
              <mc:Fallback>
                <p:oleObj r:id="rId14" imgW="2033765" imgH="864350" progId="Equation.3">
                  <p:embed/>
                  <p:pic>
                    <p:nvPicPr>
                      <p:cNvPr id="88069" name="Object 5">
                        <a:extLst>
                          <a:ext uri="{FF2B5EF4-FFF2-40B4-BE49-F238E27FC236}">
                            <a16:creationId xmlns:a16="http://schemas.microsoft.com/office/drawing/2014/main" id="{CE233CC6-D385-47AD-A1B0-7A50F84067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5002" y="5124658"/>
                        <a:ext cx="3284716" cy="1404064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AE92C9D-D84E-48F9-BDAB-5DBF8F3E1396}"/>
                  </a:ext>
                </a:extLst>
              </p:cNvPr>
              <p:cNvSpPr txBox="1"/>
              <p:nvPr/>
            </p:nvSpPr>
            <p:spPr>
              <a:xfrm>
                <a:off x="134917" y="4385633"/>
                <a:ext cx="614841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方向为声线方向，定义声线与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的夹角：</a:t>
                </a:r>
                <a:endParaRPr 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AE92C9D-D84E-48F9-BDAB-5DBF8F3E1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17" y="4385633"/>
                <a:ext cx="6148414" cy="461665"/>
              </a:xfrm>
              <a:prstGeom prst="rect">
                <a:avLst/>
              </a:prstGeom>
              <a:blipFill>
                <a:blip r:embed="rId17"/>
                <a:stretch>
                  <a:fillRect l="-1487" t="-10526" r="-89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17B8CC7-3A4A-4ACF-A78F-A5C9F5557B68}"/>
              </a:ext>
            </a:extLst>
          </p:cNvPr>
          <p:cNvCxnSpPr>
            <a:cxnSpLocks/>
          </p:cNvCxnSpPr>
          <p:nvPr/>
        </p:nvCxnSpPr>
        <p:spPr>
          <a:xfrm flipV="1">
            <a:off x="4622934" y="5125227"/>
            <a:ext cx="1207786" cy="5516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箭头: 右 9">
            <a:extLst>
              <a:ext uri="{FF2B5EF4-FFF2-40B4-BE49-F238E27FC236}">
                <a16:creationId xmlns:a16="http://schemas.microsoft.com/office/drawing/2014/main" id="{45B68845-346D-4227-8682-089AC00D9DFA}"/>
              </a:ext>
            </a:extLst>
          </p:cNvPr>
          <p:cNvSpPr/>
          <p:nvPr/>
        </p:nvSpPr>
        <p:spPr>
          <a:xfrm>
            <a:off x="8111613" y="3814916"/>
            <a:ext cx="314632" cy="2851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BA68C9-A1A7-4F54-8B96-9EBDE42A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9043408" y="1235194"/>
                <a:ext cx="2222000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消去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𝒏</m:t>
                    </m:r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，则可以基于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确定声线方向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408" y="1235194"/>
                <a:ext cx="2222000" cy="646331"/>
              </a:xfrm>
              <a:prstGeom prst="rect">
                <a:avLst/>
              </a:prstGeom>
              <a:blipFill>
                <a:blip r:embed="rId18"/>
                <a:stretch>
                  <a:fillRect l="-1090" t="-4630" r="-817" b="-1296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72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232E469-FA17-434F-A3B4-1D7651C50449}"/>
              </a:ext>
            </a:extLst>
          </p:cNvPr>
          <p:cNvSpPr txBox="1"/>
          <p:nvPr/>
        </p:nvSpPr>
        <p:spPr>
          <a:xfrm>
            <a:off x="332282" y="903720"/>
            <a:ext cx="11527436" cy="161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、射线声学的基本方程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程函方程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矢量形式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3" name="Object 14">
            <a:extLst>
              <a:ext uri="{FF2B5EF4-FFF2-40B4-BE49-F238E27FC236}">
                <a16:creationId xmlns:a16="http://schemas.microsoft.com/office/drawing/2014/main" id="{7853264B-00EC-4AD8-ABA3-DD89A7FA64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7930" y="978121"/>
          <a:ext cx="3194303" cy="986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9833" imgH="482810" progId="Equation.DSMT4">
                  <p:embed/>
                </p:oleObj>
              </mc:Choice>
              <mc:Fallback>
                <p:oleObj name="Equation" r:id="rId2" imgW="1689833" imgH="482810" progId="Equation.DSMT4">
                  <p:embed/>
                  <p:pic>
                    <p:nvPicPr>
                      <p:cNvPr id="33" name="Object 14">
                        <a:extLst>
                          <a:ext uri="{FF2B5EF4-FFF2-40B4-BE49-F238E27FC236}">
                            <a16:creationId xmlns:a16="http://schemas.microsoft.com/office/drawing/2014/main" id="{7853264B-00EC-4AD8-ABA3-DD89A7FA64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30" y="978121"/>
                        <a:ext cx="3194303" cy="98607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E15EDA93-B166-461B-84B0-F0936A2B72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897170"/>
              </p:ext>
            </p:extLst>
          </p:nvPr>
        </p:nvGraphicFramePr>
        <p:xfrm>
          <a:off x="9982200" y="513296"/>
          <a:ext cx="1747256" cy="1325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840" imgH="672840" progId="Equation.DSMT4">
                  <p:embed/>
                </p:oleObj>
              </mc:Choice>
              <mc:Fallback>
                <p:oleObj name="Equation" r:id="rId4" imgW="888840" imgH="672840" progId="Equation.DSMT4">
                  <p:embed/>
                  <p:pic>
                    <p:nvPicPr>
                      <p:cNvPr id="31" name="Object 5">
                        <a:extLst>
                          <a:ext uri="{FF2B5EF4-FFF2-40B4-BE49-F238E27FC236}">
                            <a16:creationId xmlns:a16="http://schemas.microsoft.com/office/drawing/2014/main" id="{68C6C1E2-3678-4249-A075-FD432858DA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2200" y="513296"/>
                        <a:ext cx="1747256" cy="1325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">
            <a:extLst>
              <a:ext uri="{FF2B5EF4-FFF2-40B4-BE49-F238E27FC236}">
                <a16:creationId xmlns:a16="http://schemas.microsoft.com/office/drawing/2014/main" id="{BD4C5225-5C8C-4626-BBFD-EBD573F338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218886"/>
              </p:ext>
            </p:extLst>
          </p:nvPr>
        </p:nvGraphicFramePr>
        <p:xfrm>
          <a:off x="368112" y="4984019"/>
          <a:ext cx="2487800" cy="1737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285714" imgH="2295238" progId="Paint.Picture">
                  <p:embed/>
                </p:oleObj>
              </mc:Choice>
              <mc:Fallback>
                <p:oleObj r:id="rId6" imgW="3285714" imgH="2295238" progId="Paint.Picture">
                  <p:embed/>
                  <p:pic>
                    <p:nvPicPr>
                      <p:cNvPr id="36" name="Object 9">
                        <a:extLst>
                          <a:ext uri="{FF2B5EF4-FFF2-40B4-BE49-F238E27FC236}">
                            <a16:creationId xmlns:a16="http://schemas.microsoft.com/office/drawing/2014/main" id="{B8EC6339-0816-4721-8B65-21E3BAFE9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12" y="4984019"/>
                        <a:ext cx="2487800" cy="1737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8">
            <a:extLst>
              <a:ext uri="{FF2B5EF4-FFF2-40B4-BE49-F238E27FC236}">
                <a16:creationId xmlns:a16="http://schemas.microsoft.com/office/drawing/2014/main" id="{AB1C71A6-62D9-4989-BBAE-D841D54442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964964"/>
              </p:ext>
            </p:extLst>
          </p:nvPr>
        </p:nvGraphicFramePr>
        <p:xfrm>
          <a:off x="8244344" y="5814176"/>
          <a:ext cx="1843088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393480" progId="Equation.DSMT4">
                  <p:embed/>
                </p:oleObj>
              </mc:Choice>
              <mc:Fallback>
                <p:oleObj name="Equation" r:id="rId8" imgW="888840" imgH="393480" progId="Equation.DSMT4">
                  <p:embed/>
                  <p:pic>
                    <p:nvPicPr>
                      <p:cNvPr id="50" name="Object 28">
                        <a:extLst>
                          <a:ext uri="{FF2B5EF4-FFF2-40B4-BE49-F238E27FC236}">
                            <a16:creationId xmlns:a16="http://schemas.microsoft.com/office/drawing/2014/main" id="{9DEBB806-2D8D-4BE3-B70E-363009897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4344" y="5814176"/>
                        <a:ext cx="1843088" cy="82391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6C886FE1-F411-4C48-8FCC-E90CE5F8BD9F}"/>
              </a:ext>
            </a:extLst>
          </p:cNvPr>
          <p:cNvGrpSpPr/>
          <p:nvPr/>
        </p:nvGrpSpPr>
        <p:grpSpPr>
          <a:xfrm>
            <a:off x="4809955" y="2109438"/>
            <a:ext cx="5883275" cy="3523801"/>
            <a:chOff x="1108657" y="2740736"/>
            <a:chExt cx="5883275" cy="3523801"/>
          </a:xfrm>
        </p:grpSpPr>
        <p:graphicFrame>
          <p:nvGraphicFramePr>
            <p:cNvPr id="24" name="Object 15">
              <a:extLst>
                <a:ext uri="{FF2B5EF4-FFF2-40B4-BE49-F238E27FC236}">
                  <a16:creationId xmlns:a16="http://schemas.microsoft.com/office/drawing/2014/main" id="{6AE5A962-33CA-4ACC-87A2-8E2ADF5668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9447167"/>
                </p:ext>
              </p:extLst>
            </p:nvPr>
          </p:nvGraphicFramePr>
          <p:xfrm>
            <a:off x="1108657" y="2740736"/>
            <a:ext cx="5883275" cy="169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060360" imgH="888840" progId="Equation.DSMT4">
                    <p:embed/>
                  </p:oleObj>
                </mc:Choice>
                <mc:Fallback>
                  <p:oleObj name="Equation" r:id="rId10" imgW="3060360" imgH="888840" progId="Equation.DSMT4">
                    <p:embed/>
                    <p:pic>
                      <p:nvPicPr>
                        <p:cNvPr id="40" name="Object 15">
                          <a:extLst>
                            <a:ext uri="{FF2B5EF4-FFF2-40B4-BE49-F238E27FC236}">
                              <a16:creationId xmlns:a16="http://schemas.microsoft.com/office/drawing/2014/main" id="{24D2B901-315E-41B3-876D-F4B7D46D20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8657" y="2740736"/>
                          <a:ext cx="5883275" cy="1695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" name="Group 22">
              <a:extLst>
                <a:ext uri="{FF2B5EF4-FFF2-40B4-BE49-F238E27FC236}">
                  <a16:creationId xmlns:a16="http://schemas.microsoft.com/office/drawing/2014/main" id="{4F801F4A-880A-4C62-B0D5-236C9A3296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51299" y="4539002"/>
              <a:ext cx="4868566" cy="1725535"/>
              <a:chOff x="-87" y="-20"/>
              <a:chExt cx="3651" cy="1294"/>
            </a:xfrm>
          </p:grpSpPr>
          <p:graphicFrame>
            <p:nvGraphicFramePr>
              <p:cNvPr id="30" name="Object 23">
                <a:extLst>
                  <a:ext uri="{FF2B5EF4-FFF2-40B4-BE49-F238E27FC236}">
                    <a16:creationId xmlns:a16="http://schemas.microsoft.com/office/drawing/2014/main" id="{15B1C6F6-A7BA-490A-86FE-E7784B524AC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412440"/>
                  </p:ext>
                </p:extLst>
              </p:nvPr>
            </p:nvGraphicFramePr>
            <p:xfrm>
              <a:off x="-75" y="-18"/>
              <a:ext cx="1698" cy="6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091880" imgH="393480" progId="Equation.DSMT4">
                      <p:embed/>
                    </p:oleObj>
                  </mc:Choice>
                  <mc:Fallback>
                    <p:oleObj name="Equation" r:id="rId12" imgW="1091880" imgH="393480" progId="Equation.DSMT4">
                      <p:embed/>
                      <p:pic>
                        <p:nvPicPr>
                          <p:cNvPr id="46" name="Object 23">
                            <a:extLst>
                              <a:ext uri="{FF2B5EF4-FFF2-40B4-BE49-F238E27FC236}">
                                <a16:creationId xmlns:a16="http://schemas.microsoft.com/office/drawing/2014/main" id="{50752828-9412-48C6-8324-B936C4A5E70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75" y="-18"/>
                            <a:ext cx="1698" cy="6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Object 24">
                <a:extLst>
                  <a:ext uri="{FF2B5EF4-FFF2-40B4-BE49-F238E27FC236}">
                    <a16:creationId xmlns:a16="http://schemas.microsoft.com/office/drawing/2014/main" id="{78B28E14-86B4-4C8B-AC93-596BA12386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5499460"/>
                  </p:ext>
                </p:extLst>
              </p:nvPr>
            </p:nvGraphicFramePr>
            <p:xfrm>
              <a:off x="-87" y="616"/>
              <a:ext cx="1749" cy="6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104840" imgH="419040" progId="Equation.DSMT4">
                      <p:embed/>
                    </p:oleObj>
                  </mc:Choice>
                  <mc:Fallback>
                    <p:oleObj name="Equation" r:id="rId14" imgW="1104840" imgH="419040" progId="Equation.DSMT4">
                      <p:embed/>
                      <p:pic>
                        <p:nvPicPr>
                          <p:cNvPr id="47" name="Object 24">
                            <a:extLst>
                              <a:ext uri="{FF2B5EF4-FFF2-40B4-BE49-F238E27FC236}">
                                <a16:creationId xmlns:a16="http://schemas.microsoft.com/office/drawing/2014/main" id="{BC50426B-51E2-4266-91DE-39AB0E59E67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87" y="616"/>
                            <a:ext cx="1749" cy="6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25">
                <a:extLst>
                  <a:ext uri="{FF2B5EF4-FFF2-40B4-BE49-F238E27FC236}">
                    <a16:creationId xmlns:a16="http://schemas.microsoft.com/office/drawing/2014/main" id="{554122D4-176E-4A35-ADFF-17987231876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8042781"/>
                  </p:ext>
                </p:extLst>
              </p:nvPr>
            </p:nvGraphicFramePr>
            <p:xfrm>
              <a:off x="1881" y="-20"/>
              <a:ext cx="1683" cy="6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079280" imgH="393480" progId="Equation.DSMT4">
                      <p:embed/>
                    </p:oleObj>
                  </mc:Choice>
                  <mc:Fallback>
                    <p:oleObj name="Equation" r:id="rId16" imgW="1079280" imgH="393480" progId="Equation.DSMT4">
                      <p:embed/>
                      <p:pic>
                        <p:nvPicPr>
                          <p:cNvPr id="48" name="Object 25">
                            <a:extLst>
                              <a:ext uri="{FF2B5EF4-FFF2-40B4-BE49-F238E27FC236}">
                                <a16:creationId xmlns:a16="http://schemas.microsoft.com/office/drawing/2014/main" id="{67F7031F-B00C-4A98-BB14-F6072935C10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81" y="-20"/>
                            <a:ext cx="1683" cy="6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" name="箭头: 右 2">
            <a:extLst>
              <a:ext uri="{FF2B5EF4-FFF2-40B4-BE49-F238E27FC236}">
                <a16:creationId xmlns:a16="http://schemas.microsoft.com/office/drawing/2014/main" id="{3B3B325C-6D12-4FA1-B4BE-3B2F20014336}"/>
              </a:ext>
            </a:extLst>
          </p:cNvPr>
          <p:cNvSpPr/>
          <p:nvPr/>
        </p:nvSpPr>
        <p:spPr>
          <a:xfrm>
            <a:off x="3409115" y="3500252"/>
            <a:ext cx="1030991" cy="4600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aphicFrame>
        <p:nvGraphicFramePr>
          <p:cNvPr id="16" name="Object 12">
            <a:extLst>
              <a:ext uri="{FF2B5EF4-FFF2-40B4-BE49-F238E27FC236}">
                <a16:creationId xmlns:a16="http://schemas.microsoft.com/office/drawing/2014/main" id="{6C63BFD8-2157-4A65-9242-05F8EC90B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046105"/>
              </p:ext>
            </p:extLst>
          </p:nvPr>
        </p:nvGraphicFramePr>
        <p:xfrm>
          <a:off x="1131177" y="2628838"/>
          <a:ext cx="1612023" cy="2282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803588" imgH="1135227" progId="Equation.DSMT4">
                  <p:embed/>
                </p:oleObj>
              </mc:Choice>
              <mc:Fallback>
                <p:oleObj r:id="rId18" imgW="803588" imgH="1135227" progId="Equation.DSMT4">
                  <p:embed/>
                  <p:pic>
                    <p:nvPicPr>
                      <p:cNvPr id="39" name="Object 12">
                        <a:extLst>
                          <a:ext uri="{FF2B5EF4-FFF2-40B4-BE49-F238E27FC236}">
                            <a16:creationId xmlns:a16="http://schemas.microsoft.com/office/drawing/2014/main" id="{7957B202-8383-4CA0-94CE-72C4B2F6C6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177" y="2628838"/>
                        <a:ext cx="1612023" cy="228209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800634-B731-4FC4-8CF3-A10619E0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10</a:t>
            </a:fld>
            <a:endParaRPr lang="en-US"/>
          </a:p>
        </p:txBody>
      </p:sp>
      <p:sp>
        <p:nvSpPr>
          <p:cNvPr id="7" name="文本框 6"/>
          <p:cNvSpPr txBox="1"/>
          <p:nvPr/>
        </p:nvSpPr>
        <p:spPr>
          <a:xfrm>
            <a:off x="3099230" y="3093626"/>
            <a:ext cx="17107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把标量形式对</a:t>
            </a:r>
            <a:r>
              <a:rPr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求导</a:t>
            </a:r>
          </a:p>
        </p:txBody>
      </p:sp>
      <p:sp>
        <p:nvSpPr>
          <p:cNvPr id="4" name="椭圆 3"/>
          <p:cNvSpPr/>
          <p:nvPr/>
        </p:nvSpPr>
        <p:spPr>
          <a:xfrm>
            <a:off x="7085081" y="2109438"/>
            <a:ext cx="382519" cy="9019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8053084" y="2109438"/>
            <a:ext cx="382519" cy="9019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9090665" y="2109438"/>
            <a:ext cx="382519" cy="9019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">
            <a:extLst>
              <a:ext uri="{FF2B5EF4-FFF2-40B4-BE49-F238E27FC236}">
                <a16:creationId xmlns:a16="http://schemas.microsoft.com/office/drawing/2014/main" id="{3B3B325C-6D12-4FA1-B4BE-3B2F20014336}"/>
              </a:ext>
            </a:extLst>
          </p:cNvPr>
          <p:cNvSpPr/>
          <p:nvPr/>
        </p:nvSpPr>
        <p:spPr>
          <a:xfrm rot="7791295">
            <a:off x="9107474" y="1534061"/>
            <a:ext cx="1030991" cy="268618"/>
          </a:xfrm>
          <a:prstGeom prst="rightArrow">
            <a:avLst>
              <a:gd name="adj1" fmla="val 50000"/>
              <a:gd name="adj2" fmla="val 1052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35573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>
            <a:extLst>
              <a:ext uri="{FF2B5EF4-FFF2-40B4-BE49-F238E27FC236}">
                <a16:creationId xmlns:a16="http://schemas.microsoft.com/office/drawing/2014/main" id="{1A446258-64DF-4C53-BE13-71FCABDBC0B6}"/>
              </a:ext>
            </a:extLst>
          </p:cNvPr>
          <p:cNvSpPr txBox="1"/>
          <p:nvPr/>
        </p:nvSpPr>
        <p:spPr>
          <a:xfrm>
            <a:off x="332282" y="903720"/>
            <a:ext cx="11527436" cy="161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、射线声学的基本方程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程函方程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应用实例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：声速为常数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6E72DB74-4F0C-429B-8E72-B70EDC59C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164022"/>
              </p:ext>
            </p:extLst>
          </p:nvPr>
        </p:nvGraphicFramePr>
        <p:xfrm>
          <a:off x="2103623" y="2826359"/>
          <a:ext cx="3153339" cy="3026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1257120" progId="Equation.DSMT4">
                  <p:embed/>
                </p:oleObj>
              </mc:Choice>
              <mc:Fallback>
                <p:oleObj name="Equation" r:id="rId2" imgW="1320480" imgH="1257120" progId="Equation.DSMT4">
                  <p:embed/>
                  <p:pic>
                    <p:nvPicPr>
                      <p:cNvPr id="93204" name="Object 5">
                        <a:extLst>
                          <a:ext uri="{FF2B5EF4-FFF2-40B4-BE49-F238E27FC236}">
                            <a16:creationId xmlns:a16="http://schemas.microsoft.com/office/drawing/2014/main" id="{1FC11A08-30FD-4144-8D69-29037729D9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623" y="2826359"/>
                        <a:ext cx="3153339" cy="3026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3">
            <a:extLst>
              <a:ext uri="{FF2B5EF4-FFF2-40B4-BE49-F238E27FC236}">
                <a16:creationId xmlns:a16="http://schemas.microsoft.com/office/drawing/2014/main" id="{771CD37F-1952-4184-9385-74DB121E94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081971"/>
              </p:ext>
            </p:extLst>
          </p:nvPr>
        </p:nvGraphicFramePr>
        <p:xfrm>
          <a:off x="7223300" y="3309879"/>
          <a:ext cx="2420162" cy="1797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685800" progId="Equation.DSMT4">
                  <p:embed/>
                </p:oleObj>
              </mc:Choice>
              <mc:Fallback>
                <p:oleObj name="Equation" r:id="rId4" imgW="901440" imgH="685800" progId="Equation.DSMT4">
                  <p:embed/>
                  <p:pic>
                    <p:nvPicPr>
                      <p:cNvPr id="93202" name="Object 13">
                        <a:extLst>
                          <a:ext uri="{FF2B5EF4-FFF2-40B4-BE49-F238E27FC236}">
                            <a16:creationId xmlns:a16="http://schemas.microsoft.com/office/drawing/2014/main" id="{77DC521C-0220-4466-9699-B8D2F54CBD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300" y="3309879"/>
                        <a:ext cx="2420162" cy="1797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箭头: 右 1">
            <a:extLst>
              <a:ext uri="{FF2B5EF4-FFF2-40B4-BE49-F238E27FC236}">
                <a16:creationId xmlns:a16="http://schemas.microsoft.com/office/drawing/2014/main" id="{618816E4-B722-446F-8013-422CD10619DC}"/>
              </a:ext>
            </a:extLst>
          </p:cNvPr>
          <p:cNvSpPr/>
          <p:nvPr/>
        </p:nvSpPr>
        <p:spPr>
          <a:xfrm>
            <a:off x="5696429" y="3911868"/>
            <a:ext cx="1073203" cy="5756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0E13B356-4F15-4782-9C08-BCA066853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768" y="6127066"/>
            <a:ext cx="763128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声速为常数时，声线为直线。 </a:t>
            </a:r>
          </a:p>
        </p:txBody>
      </p:sp>
      <p:sp>
        <p:nvSpPr>
          <p:cNvPr id="46" name="Oval 16">
            <a:extLst>
              <a:ext uri="{FF2B5EF4-FFF2-40B4-BE49-F238E27FC236}">
                <a16:creationId xmlns:a16="http://schemas.microsoft.com/office/drawing/2014/main" id="{E19EF5ED-8AD8-4CF8-8A3C-CDCAC63D4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2237" y="2796340"/>
            <a:ext cx="647700" cy="3025775"/>
          </a:xfrm>
          <a:prstGeom prst="ellipse">
            <a:avLst/>
          </a:prstGeom>
          <a:noFill/>
          <a:ln w="25400" cmpd="sng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7E0C16-BF4F-4C81-97EA-49F961AB4BFF}"/>
              </a:ext>
            </a:extLst>
          </p:cNvPr>
          <p:cNvSpPr/>
          <p:nvPr/>
        </p:nvSpPr>
        <p:spPr>
          <a:xfrm>
            <a:off x="8166595" y="5953769"/>
            <a:ext cx="38571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声线的起始出射方向角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10" name="Object 28">
            <a:extLst>
              <a:ext uri="{FF2B5EF4-FFF2-40B4-BE49-F238E27FC236}">
                <a16:creationId xmlns:a16="http://schemas.microsoft.com/office/drawing/2014/main" id="{7EF2B824-E83C-4595-A008-3B118E6CA2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312499"/>
              </p:ext>
            </p:extLst>
          </p:nvPr>
        </p:nvGraphicFramePr>
        <p:xfrm>
          <a:off x="5257800" y="903288"/>
          <a:ext cx="1579563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393480" progId="Equation.DSMT4">
                  <p:embed/>
                </p:oleObj>
              </mc:Choice>
              <mc:Fallback>
                <p:oleObj name="Equation" r:id="rId6" imgW="888840" imgH="393480" progId="Equation.DSMT4">
                  <p:embed/>
                  <p:pic>
                    <p:nvPicPr>
                      <p:cNvPr id="34" name="Object 28">
                        <a:extLst>
                          <a:ext uri="{FF2B5EF4-FFF2-40B4-BE49-F238E27FC236}">
                            <a16:creationId xmlns:a16="http://schemas.microsoft.com/office/drawing/2014/main" id="{AB1C71A6-62D9-4989-BBAE-D841D54442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903288"/>
                        <a:ext cx="1579563" cy="7064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CA1123F2-B508-455C-A05E-C698FFA3EC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572551"/>
              </p:ext>
            </p:extLst>
          </p:nvPr>
        </p:nvGraphicFramePr>
        <p:xfrm>
          <a:off x="5256962" y="1800823"/>
          <a:ext cx="47021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98600" imgH="380880" progId="Equation.DSMT4">
                  <p:embed/>
                </p:oleObj>
              </mc:Choice>
              <mc:Fallback>
                <p:oleObj name="Equation" r:id="rId8" imgW="2298600" imgH="380880" progId="Equation.DSMT4">
                  <p:embed/>
                  <p:pic>
                    <p:nvPicPr>
                      <p:cNvPr id="16" name="Object 12">
                        <a:extLst>
                          <a:ext uri="{FF2B5EF4-FFF2-40B4-BE49-F238E27FC236}">
                            <a16:creationId xmlns:a16="http://schemas.microsoft.com/office/drawing/2014/main" id="{6C63BFD8-2157-4A65-9242-05F8EC90BF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962" y="1800823"/>
                        <a:ext cx="4702175" cy="7810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2ACADA-D9AA-47CC-B423-05680485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6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A446258-64DF-4C53-BE13-71FCABDBC0B6}"/>
                  </a:ext>
                </a:extLst>
              </p:cNvPr>
              <p:cNvSpPr txBox="1"/>
              <p:nvPr/>
            </p:nvSpPr>
            <p:spPr>
              <a:xfrm>
                <a:off x="332282" y="903720"/>
                <a:ext cx="11527436" cy="1612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、射线声学的基本方程</a:t>
                </a: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3.1 </a:t>
                </a: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程函方程</a:t>
                </a: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应用实例</a:t>
                </a:r>
                <a:r>
                  <a:rPr lang="en-US" altLang="zh-CN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𝒄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𝒄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A446258-64DF-4C53-BE13-71FCABDBC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82" y="903720"/>
                <a:ext cx="11527436" cy="1612108"/>
              </a:xfrm>
              <a:prstGeom prst="rect">
                <a:avLst/>
              </a:prstGeom>
              <a:blipFill>
                <a:blip r:embed="rId3"/>
                <a:stretch>
                  <a:fillRect l="-1111" t="-1132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42" name="Group 8">
            <a:extLst>
              <a:ext uri="{FF2B5EF4-FFF2-40B4-BE49-F238E27FC236}">
                <a16:creationId xmlns:a16="http://schemas.microsoft.com/office/drawing/2014/main" id="{EE0C8098-227B-4226-BA7C-22EC1422E6AA}"/>
              </a:ext>
            </a:extLst>
          </p:cNvPr>
          <p:cNvGrpSpPr>
            <a:grpSpLocks/>
          </p:cNvGrpSpPr>
          <p:nvPr/>
        </p:nvGrpSpPr>
        <p:grpSpPr bwMode="auto">
          <a:xfrm>
            <a:off x="8998003" y="890102"/>
            <a:ext cx="2623510" cy="1612108"/>
            <a:chOff x="-90" y="222"/>
            <a:chExt cx="3115" cy="1774"/>
          </a:xfrm>
        </p:grpSpPr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E0C40BC7-F621-467F-92B7-CE8D89CEF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272"/>
              <a:ext cx="2812" cy="0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10">
              <a:extLst>
                <a:ext uri="{FF2B5EF4-FFF2-40B4-BE49-F238E27FC236}">
                  <a16:creationId xmlns:a16="http://schemas.microsoft.com/office/drawing/2014/main" id="{F48F9AD2-BA34-49CE-889C-FA61F63BD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272"/>
              <a:ext cx="0" cy="1724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Box 11">
              <a:extLst>
                <a:ext uri="{FF2B5EF4-FFF2-40B4-BE49-F238E27FC236}">
                  <a16:creationId xmlns:a16="http://schemas.microsoft.com/office/drawing/2014/main" id="{5E493482-BFDD-4332-925F-C28FAA5BA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4" y="222"/>
              <a:ext cx="18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华文隶书" pitchFamily="2" charset="-122"/>
                </a:rPr>
                <a:t>x</a:t>
              </a:r>
            </a:p>
          </p:txBody>
        </p:sp>
        <p:sp>
          <p:nvSpPr>
            <p:cNvPr id="54" name="Text Box 12">
              <a:extLst>
                <a:ext uri="{FF2B5EF4-FFF2-40B4-BE49-F238E27FC236}">
                  <a16:creationId xmlns:a16="http://schemas.microsoft.com/office/drawing/2014/main" id="{D6330C4F-CA67-4855-9BD5-2E8CC4330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90" y="1678"/>
              <a:ext cx="18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华文隶书" pitchFamily="2" charset="-122"/>
                </a:rPr>
                <a:t>z</a:t>
              </a:r>
            </a:p>
          </p:txBody>
        </p:sp>
        <p:sp>
          <p:nvSpPr>
            <p:cNvPr id="55" name="Line 13">
              <a:extLst>
                <a:ext uri="{FF2B5EF4-FFF2-40B4-BE49-F238E27FC236}">
                  <a16:creationId xmlns:a16="http://schemas.microsoft.com/office/drawing/2014/main" id="{BCE2C410-8382-4A48-919A-F885BDF45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499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14">
              <a:extLst>
                <a:ext uri="{FF2B5EF4-FFF2-40B4-BE49-F238E27FC236}">
                  <a16:creationId xmlns:a16="http://schemas.microsoft.com/office/drawing/2014/main" id="{FCA92FC0-F95A-4907-AF2C-5CC00D289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681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5">
              <a:extLst>
                <a:ext uri="{FF2B5EF4-FFF2-40B4-BE49-F238E27FC236}">
                  <a16:creationId xmlns:a16="http://schemas.microsoft.com/office/drawing/2014/main" id="{9B7E788E-D34B-45F2-8162-EDFEED3B6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862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16">
              <a:extLst>
                <a:ext uri="{FF2B5EF4-FFF2-40B4-BE49-F238E27FC236}">
                  <a16:creationId xmlns:a16="http://schemas.microsoft.com/office/drawing/2014/main" id="{C62B303C-424C-402E-8776-7B224A1A05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1043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17">
              <a:extLst>
                <a:ext uri="{FF2B5EF4-FFF2-40B4-BE49-F238E27FC236}">
                  <a16:creationId xmlns:a16="http://schemas.microsoft.com/office/drawing/2014/main" id="{CA15BD65-7EB5-4BDF-A4CD-EC6E9D980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1225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18">
              <a:extLst>
                <a:ext uri="{FF2B5EF4-FFF2-40B4-BE49-F238E27FC236}">
                  <a16:creationId xmlns:a16="http://schemas.microsoft.com/office/drawing/2014/main" id="{25AA0A80-45BA-4234-9B43-BE9F05EBF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1406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19">
              <a:extLst>
                <a:ext uri="{FF2B5EF4-FFF2-40B4-BE49-F238E27FC236}">
                  <a16:creationId xmlns:a16="http://schemas.microsoft.com/office/drawing/2014/main" id="{09BB4D82-9DE5-4DE7-A21B-3075EA1C2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1588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20">
              <a:extLst>
                <a:ext uri="{FF2B5EF4-FFF2-40B4-BE49-F238E27FC236}">
                  <a16:creationId xmlns:a16="http://schemas.microsoft.com/office/drawing/2014/main" id="{C0575766-7A0A-4E4D-8311-6C74A233C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1769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Box 21">
              <a:extLst>
                <a:ext uri="{FF2B5EF4-FFF2-40B4-BE49-F238E27FC236}">
                  <a16:creationId xmlns:a16="http://schemas.microsoft.com/office/drawing/2014/main" id="{29578F68-5FEE-4FB1-B08F-31BAF3A71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1" y="1272"/>
              <a:ext cx="761" cy="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 c (z)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64" name="Line 22">
              <a:extLst>
                <a:ext uri="{FF2B5EF4-FFF2-40B4-BE49-F238E27FC236}">
                  <a16:creationId xmlns:a16="http://schemas.microsoft.com/office/drawing/2014/main" id="{5DDF0DD3-9F41-487F-A30C-E59658BA73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2" y="272"/>
              <a:ext cx="91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23">
              <a:extLst>
                <a:ext uri="{FF2B5EF4-FFF2-40B4-BE49-F238E27FC236}">
                  <a16:creationId xmlns:a16="http://schemas.microsoft.com/office/drawing/2014/main" id="{3D372B47-BB78-42DF-BC12-CC39E77A61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498"/>
              <a:ext cx="13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24">
              <a:extLst>
                <a:ext uri="{FF2B5EF4-FFF2-40B4-BE49-F238E27FC236}">
                  <a16:creationId xmlns:a16="http://schemas.microsoft.com/office/drawing/2014/main" id="{C20CB3D3-4870-4E83-AB6B-093C57EED4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5" y="680"/>
              <a:ext cx="91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25">
              <a:extLst>
                <a:ext uri="{FF2B5EF4-FFF2-40B4-BE49-F238E27FC236}">
                  <a16:creationId xmlns:a16="http://schemas.microsoft.com/office/drawing/2014/main" id="{9A641EE4-0D2A-45E2-B7F6-5E34DA5A3F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0" y="861"/>
              <a:ext cx="4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26">
              <a:extLst>
                <a:ext uri="{FF2B5EF4-FFF2-40B4-BE49-F238E27FC236}">
                  <a16:creationId xmlns:a16="http://schemas.microsoft.com/office/drawing/2014/main" id="{26B1E873-1865-46ED-9C46-AF5BAE392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043"/>
              <a:ext cx="4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C7145971-73D9-40E4-8DEF-F493B4473B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" y="1224"/>
              <a:ext cx="13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28">
              <a:extLst>
                <a:ext uri="{FF2B5EF4-FFF2-40B4-BE49-F238E27FC236}">
                  <a16:creationId xmlns:a16="http://schemas.microsoft.com/office/drawing/2014/main" id="{3081E356-2DAE-4F74-8465-83719A0A3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" y="1406"/>
              <a:ext cx="9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29">
              <a:extLst>
                <a:ext uri="{FF2B5EF4-FFF2-40B4-BE49-F238E27FC236}">
                  <a16:creationId xmlns:a16="http://schemas.microsoft.com/office/drawing/2014/main" id="{A28CA55C-ABC6-4B0C-A5C9-834BE7692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" y="1587"/>
              <a:ext cx="4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72" name="Object 2">
            <a:extLst>
              <a:ext uri="{FF2B5EF4-FFF2-40B4-BE49-F238E27FC236}">
                <a16:creationId xmlns:a16="http://schemas.microsoft.com/office/drawing/2014/main" id="{2FE632AC-EB63-4AFE-83D6-8C3C28DF3A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194388"/>
              </p:ext>
            </p:extLst>
          </p:nvPr>
        </p:nvGraphicFramePr>
        <p:xfrm>
          <a:off x="5095875" y="1014413"/>
          <a:ext cx="330200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66600" imgH="914400" progId="Equation.DSMT4">
                  <p:embed/>
                </p:oleObj>
              </mc:Choice>
              <mc:Fallback>
                <p:oleObj name="Equation" r:id="rId4" imgW="1866600" imgH="914400" progId="Equation.DSMT4">
                  <p:embed/>
                  <p:pic>
                    <p:nvPicPr>
                      <p:cNvPr id="72" name="Object 2">
                        <a:extLst>
                          <a:ext uri="{FF2B5EF4-FFF2-40B4-BE49-F238E27FC236}">
                            <a16:creationId xmlns:a16="http://schemas.microsoft.com/office/drawing/2014/main" id="{2FE632AC-EB63-4AFE-83D6-8C3C28DF3A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5" y="1014413"/>
                        <a:ext cx="3302000" cy="160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5">
            <a:extLst>
              <a:ext uri="{FF2B5EF4-FFF2-40B4-BE49-F238E27FC236}">
                <a16:creationId xmlns:a16="http://schemas.microsoft.com/office/drawing/2014/main" id="{30676EAF-983F-4FDD-8B03-10F01AF5A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135007"/>
              </p:ext>
            </p:extLst>
          </p:nvPr>
        </p:nvGraphicFramePr>
        <p:xfrm>
          <a:off x="1214650" y="3882591"/>
          <a:ext cx="232886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431640" progId="Equation.DSMT4">
                  <p:embed/>
                </p:oleObj>
              </mc:Choice>
              <mc:Fallback>
                <p:oleObj name="Equation" r:id="rId6" imgW="1091880" imgH="431640" progId="Equation.DSMT4">
                  <p:embed/>
                  <p:pic>
                    <p:nvPicPr>
                      <p:cNvPr id="93189" name="Object 5">
                        <a:extLst>
                          <a:ext uri="{FF2B5EF4-FFF2-40B4-BE49-F238E27FC236}">
                            <a16:creationId xmlns:a16="http://schemas.microsoft.com/office/drawing/2014/main" id="{068970B5-EC5F-435C-BDF0-CF123BEE3B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650" y="3882591"/>
                        <a:ext cx="2328862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3BABB379-4D81-45BB-BBAA-4C421D78EC2F}"/>
              </a:ext>
            </a:extLst>
          </p:cNvPr>
          <p:cNvSpPr txBox="1"/>
          <p:nvPr/>
        </p:nvSpPr>
        <p:spPr>
          <a:xfrm>
            <a:off x="501366" y="2861571"/>
            <a:ext cx="2068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Snell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定律</a:t>
            </a:r>
            <a:endParaRPr lang="en-US" sz="2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890FD68-A2E9-494B-B86E-49A802FCF0BB}"/>
              </a:ext>
            </a:extLst>
          </p:cNvPr>
          <p:cNvSpPr txBox="1"/>
          <p:nvPr/>
        </p:nvSpPr>
        <p:spPr>
          <a:xfrm>
            <a:off x="6368493" y="2861571"/>
            <a:ext cx="1936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声线曲率</a:t>
            </a:r>
            <a:endParaRPr lang="en-US" sz="2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3B7100D7-DC71-4448-8E3E-3CD5064BA5A8}"/>
              </a:ext>
            </a:extLst>
          </p:cNvPr>
          <p:cNvSpPr/>
          <p:nvPr/>
        </p:nvSpPr>
        <p:spPr>
          <a:xfrm>
            <a:off x="4461816" y="1648299"/>
            <a:ext cx="430306" cy="3802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Object 6">
            <a:extLst>
              <a:ext uri="{FF2B5EF4-FFF2-40B4-BE49-F238E27FC236}">
                <a16:creationId xmlns:a16="http://schemas.microsoft.com/office/drawing/2014/main" id="{9312B4A9-0164-47C4-87BD-39A597D139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765216"/>
              </p:ext>
            </p:extLst>
          </p:nvPr>
        </p:nvGraphicFramePr>
        <p:xfrm>
          <a:off x="4974163" y="3530492"/>
          <a:ext cx="6270472" cy="699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73240" imgH="431640" progId="Equation.DSMT4">
                  <p:embed/>
                </p:oleObj>
              </mc:Choice>
              <mc:Fallback>
                <p:oleObj name="Equation" r:id="rId8" imgW="3873240" imgH="431640" progId="Equation.DSMT4">
                  <p:embed/>
                  <p:pic>
                    <p:nvPicPr>
                      <p:cNvPr id="94214" name="Object 6">
                        <a:extLst>
                          <a:ext uri="{FF2B5EF4-FFF2-40B4-BE49-F238E27FC236}">
                            <a16:creationId xmlns:a16="http://schemas.microsoft.com/office/drawing/2014/main" id="{E7D70629-BA26-44C0-93F1-991580979F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4163" y="3530492"/>
                        <a:ext cx="6270472" cy="699420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E2441DA-3487-42F1-889A-F6ED09FFD769}"/>
              </a:ext>
            </a:extLst>
          </p:cNvPr>
          <p:cNvCxnSpPr>
            <a:stCxn id="16" idx="2"/>
          </p:cNvCxnSpPr>
          <p:nvPr/>
        </p:nvCxnSpPr>
        <p:spPr>
          <a:xfrm>
            <a:off x="5988592" y="2599294"/>
            <a:ext cx="4439" cy="9311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D3687AA-2C31-4A5C-A467-6D6EA476DBEB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5935363" y="2617843"/>
            <a:ext cx="2040528" cy="18092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Object 11">
            <a:extLst>
              <a:ext uri="{FF2B5EF4-FFF2-40B4-BE49-F238E27FC236}">
                <a16:creationId xmlns:a16="http://schemas.microsoft.com/office/drawing/2014/main" id="{C21DEC3A-098B-40D5-BBF1-35BA9B7156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464378"/>
              </p:ext>
            </p:extLst>
          </p:nvPr>
        </p:nvGraphicFramePr>
        <p:xfrm>
          <a:off x="8126871" y="5371550"/>
          <a:ext cx="3570192" cy="870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25324" imgH="368620" progId="Equation.3">
                  <p:embed/>
                </p:oleObj>
              </mc:Choice>
              <mc:Fallback>
                <p:oleObj r:id="rId10" imgW="1525324" imgH="368620" progId="Equation.3">
                  <p:embed/>
                  <p:pic>
                    <p:nvPicPr>
                      <p:cNvPr id="94219" name="Object 11">
                        <a:extLst>
                          <a:ext uri="{FF2B5EF4-FFF2-40B4-BE49-F238E27FC236}">
                            <a16:creationId xmlns:a16="http://schemas.microsoft.com/office/drawing/2014/main" id="{98EFD44E-8039-4CDC-B8C8-1C833A5604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6871" y="5371550"/>
                        <a:ext cx="3570192" cy="87004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5">
            <a:extLst>
              <a:ext uri="{FF2B5EF4-FFF2-40B4-BE49-F238E27FC236}">
                <a16:creationId xmlns:a16="http://schemas.microsoft.com/office/drawing/2014/main" id="{6E46FE75-EDCB-47DC-AF42-29B54019C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166308"/>
              </p:ext>
            </p:extLst>
          </p:nvPr>
        </p:nvGraphicFramePr>
        <p:xfrm>
          <a:off x="933450" y="5132388"/>
          <a:ext cx="308768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47560" imgH="444240" progId="Equation.DSMT4">
                  <p:embed/>
                </p:oleObj>
              </mc:Choice>
              <mc:Fallback>
                <p:oleObj name="Equation" r:id="rId12" imgW="1447560" imgH="444240" progId="Equation.DSMT4">
                  <p:embed/>
                  <p:pic>
                    <p:nvPicPr>
                      <p:cNvPr id="32" name="Object 5">
                        <a:extLst>
                          <a:ext uri="{FF2B5EF4-FFF2-40B4-BE49-F238E27FC236}">
                            <a16:creationId xmlns:a16="http://schemas.microsoft.com/office/drawing/2014/main" id="{30676EAF-983F-4FDD-8B03-10F01AF5A4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5132388"/>
                        <a:ext cx="3087688" cy="946150"/>
                      </a:xfrm>
                      <a:prstGeom prst="rect">
                        <a:avLst/>
                      </a:prstGeom>
                      <a:solidFill>
                        <a:srgbClr val="B4C7E7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Oval 11">
            <a:extLst>
              <a:ext uri="{FF2B5EF4-FFF2-40B4-BE49-F238E27FC236}">
                <a16:creationId xmlns:a16="http://schemas.microsoft.com/office/drawing/2014/main" id="{CE182237-A640-4C32-B6D6-C8C6723BD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0562" y="5070947"/>
            <a:ext cx="921767" cy="1008062"/>
          </a:xfrm>
          <a:prstGeom prst="ellipse">
            <a:avLst/>
          </a:prstGeom>
          <a:noFill/>
          <a:ln w="25400" cmpd="sng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4" name="AutoShape 12">
            <a:extLst>
              <a:ext uri="{FF2B5EF4-FFF2-40B4-BE49-F238E27FC236}">
                <a16:creationId xmlns:a16="http://schemas.microsoft.com/office/drawing/2014/main" id="{5BB3D7EE-0396-4E19-9B0E-4632DF13C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1991" y="6218026"/>
            <a:ext cx="1564066" cy="384175"/>
          </a:xfrm>
          <a:prstGeom prst="wedgeRectCallout">
            <a:avLst>
              <a:gd name="adj1" fmla="val -42614"/>
              <a:gd name="adj2" fmla="val -107958"/>
            </a:avLst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声线起始值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44F9060-DD69-46CF-BB9D-E22D84D9BD93}"/>
              </a:ext>
            </a:extLst>
          </p:cNvPr>
          <p:cNvCxnSpPr>
            <a:cxnSpLocks/>
          </p:cNvCxnSpPr>
          <p:nvPr/>
        </p:nvCxnSpPr>
        <p:spPr>
          <a:xfrm flipH="1">
            <a:off x="3199741" y="1770307"/>
            <a:ext cx="2217943" cy="21945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E9F0992-0C27-4BD8-8671-2801E12AF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990010"/>
              </p:ext>
            </p:extLst>
          </p:nvPr>
        </p:nvGraphicFramePr>
        <p:xfrm>
          <a:off x="4892122" y="4427091"/>
          <a:ext cx="2086483" cy="710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55600" imgH="393480" progId="Equation.DSMT4">
                  <p:embed/>
                </p:oleObj>
              </mc:Choice>
              <mc:Fallback>
                <p:oleObj name="Equation" r:id="rId14" imgW="1155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92122" y="4427091"/>
                        <a:ext cx="2086483" cy="710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203153"/>
              </p:ext>
            </p:extLst>
          </p:nvPr>
        </p:nvGraphicFramePr>
        <p:xfrm>
          <a:off x="8126871" y="894202"/>
          <a:ext cx="835105" cy="63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83920" imgH="444240" progId="Equation.DSMT4">
                  <p:embed/>
                </p:oleObj>
              </mc:Choice>
              <mc:Fallback>
                <p:oleObj name="Equation" r:id="rId16" imgW="583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126871" y="894202"/>
                        <a:ext cx="835105" cy="635406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544F9060-DD69-46CF-BB9D-E22D84D9BD93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7279455" y="1211905"/>
            <a:ext cx="847416" cy="73448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821544"/>
              </p:ext>
            </p:extLst>
          </p:nvPr>
        </p:nvGraphicFramePr>
        <p:xfrm>
          <a:off x="10288101" y="2947603"/>
          <a:ext cx="1061560" cy="269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50680" imgH="215640" progId="Equation.DSMT4">
                  <p:embed/>
                </p:oleObj>
              </mc:Choice>
              <mc:Fallback>
                <p:oleObj name="Equation" r:id="rId18" imgW="850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288101" y="2947603"/>
                        <a:ext cx="1061560" cy="269351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44F9060-DD69-46CF-BB9D-E22D84D9BD93}"/>
              </a:ext>
            </a:extLst>
          </p:cNvPr>
          <p:cNvCxnSpPr>
            <a:cxnSpLocks/>
          </p:cNvCxnSpPr>
          <p:nvPr/>
        </p:nvCxnSpPr>
        <p:spPr>
          <a:xfrm flipH="1">
            <a:off x="8680704" y="3211804"/>
            <a:ext cx="2138177" cy="81699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223359" y="1883356"/>
            <a:ext cx="1530466" cy="7159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7531145" y="1883356"/>
            <a:ext cx="894150" cy="7159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9DEB89-9527-4B4E-A5B5-4755AE4CA2F7}"/>
              </a:ext>
            </a:extLst>
          </p:cNvPr>
          <p:cNvSpPr txBox="1"/>
          <p:nvPr/>
        </p:nvSpPr>
        <p:spPr>
          <a:xfrm>
            <a:off x="4858855" y="28887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先看左边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211D9E6-0FF5-4A5B-B8E2-16DCD4D8BBF9}"/>
              </a:ext>
            </a:extLst>
          </p:cNvPr>
          <p:cNvSpPr txBox="1"/>
          <p:nvPr/>
        </p:nvSpPr>
        <p:spPr>
          <a:xfrm>
            <a:off x="7760307" y="32867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再看右边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440A645-1E35-49B7-AF32-17A4CF95F0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163338"/>
              </p:ext>
            </p:extLst>
          </p:nvPr>
        </p:nvGraphicFramePr>
        <p:xfrm>
          <a:off x="8361076" y="4473690"/>
          <a:ext cx="2883559" cy="643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65080" imgH="393480" progId="Equation.DSMT4">
                  <p:embed/>
                </p:oleObj>
              </mc:Choice>
              <mc:Fallback>
                <p:oleObj name="Equation" r:id="rId20" imgW="1765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361076" y="4473690"/>
                        <a:ext cx="2883559" cy="643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8A8E79C1-E985-494E-8DC3-5EACD0ABD360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6978605" y="4795238"/>
            <a:ext cx="1382471" cy="65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98E7FA8-F87D-471F-B900-9F1A506A0F98}"/>
              </a:ext>
            </a:extLst>
          </p:cNvPr>
          <p:cNvCxnSpPr>
            <a:cxnSpLocks/>
          </p:cNvCxnSpPr>
          <p:nvPr/>
        </p:nvCxnSpPr>
        <p:spPr>
          <a:xfrm>
            <a:off x="10070841" y="4181196"/>
            <a:ext cx="263762" cy="4156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DD79BD6-2BE9-4432-B8C7-E8094EFDDF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79230"/>
              </p:ext>
            </p:extLst>
          </p:nvPr>
        </p:nvGraphicFramePr>
        <p:xfrm>
          <a:off x="5077819" y="5497100"/>
          <a:ext cx="2551166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52480" imgH="393480" progId="Equation.DSMT4">
                  <p:embed/>
                </p:oleObj>
              </mc:Choice>
              <mc:Fallback>
                <p:oleObj name="Equation" r:id="rId22" imgW="17524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077819" y="5497100"/>
                        <a:ext cx="2551166" cy="573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192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A446258-64DF-4C53-BE13-71FCABDBC0B6}"/>
                  </a:ext>
                </a:extLst>
              </p:cNvPr>
              <p:cNvSpPr txBox="1"/>
              <p:nvPr/>
            </p:nvSpPr>
            <p:spPr>
              <a:xfrm>
                <a:off x="332282" y="903720"/>
                <a:ext cx="11527436" cy="1612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、射线声学的基本方程</a:t>
                </a: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3.1 </a:t>
                </a: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程函方程</a:t>
                </a: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应用实例</a:t>
                </a:r>
                <a:r>
                  <a:rPr lang="en-US" altLang="zh-CN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𝒄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𝒄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A446258-64DF-4C53-BE13-71FCABDBC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82" y="903720"/>
                <a:ext cx="11527436" cy="1612108"/>
              </a:xfrm>
              <a:prstGeom prst="rect">
                <a:avLst/>
              </a:prstGeom>
              <a:blipFill>
                <a:blip r:embed="rId3"/>
                <a:stretch>
                  <a:fillRect l="-1111" t="-1132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252577C3-CAD1-4F75-A511-DE947BF7E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867" y="2610458"/>
            <a:ext cx="80645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457200" indent="-457200" algn="just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声线弯曲</a:t>
            </a: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7A11A8B7-BA24-4E2D-8E1B-5F6D3E77A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7590" y="3258950"/>
            <a:ext cx="266382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正声速梯度：</a:t>
            </a:r>
          </a:p>
        </p:txBody>
      </p:sp>
      <p:grpSp>
        <p:nvGrpSpPr>
          <p:cNvPr id="46" name="Group 7">
            <a:extLst>
              <a:ext uri="{FF2B5EF4-FFF2-40B4-BE49-F238E27FC236}">
                <a16:creationId xmlns:a16="http://schemas.microsoft.com/office/drawing/2014/main" id="{000ACA7D-2EB6-4627-A920-8A581FB0C711}"/>
              </a:ext>
            </a:extLst>
          </p:cNvPr>
          <p:cNvGrpSpPr>
            <a:grpSpLocks/>
          </p:cNvGrpSpPr>
          <p:nvPr/>
        </p:nvGrpSpPr>
        <p:grpSpPr bwMode="auto">
          <a:xfrm>
            <a:off x="1133742" y="3761395"/>
            <a:ext cx="2952750" cy="2305050"/>
            <a:chOff x="0" y="0"/>
            <a:chExt cx="1860" cy="1452"/>
          </a:xfrm>
        </p:grpSpPr>
        <p:sp>
          <p:nvSpPr>
            <p:cNvPr id="50" name="Line 8">
              <a:extLst>
                <a:ext uri="{FF2B5EF4-FFF2-40B4-BE49-F238E27FC236}">
                  <a16:creationId xmlns:a16="http://schemas.microsoft.com/office/drawing/2014/main" id="{4D4440E8-682C-4327-B7DA-892855646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" y="181"/>
              <a:ext cx="16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9">
              <a:extLst>
                <a:ext uri="{FF2B5EF4-FFF2-40B4-BE49-F238E27FC236}">
                  <a16:creationId xmlns:a16="http://schemas.microsoft.com/office/drawing/2014/main" id="{57853A34-5E28-4E89-895E-C8EBA0BD7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" y="181"/>
              <a:ext cx="0" cy="12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Arc 10">
              <a:extLst>
                <a:ext uri="{FF2B5EF4-FFF2-40B4-BE49-F238E27FC236}">
                  <a16:creationId xmlns:a16="http://schemas.microsoft.com/office/drawing/2014/main" id="{18E1B1DA-42AE-4251-BCF4-F01CD5253D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239841">
              <a:off x="1205" y="215"/>
              <a:ext cx="429" cy="851"/>
            </a:xfrm>
            <a:custGeom>
              <a:avLst/>
              <a:gdLst>
                <a:gd name="T0" fmla="*/ 5 w 21600"/>
                <a:gd name="T1" fmla="*/ 0 h 21342"/>
                <a:gd name="T2" fmla="*/ 9 w 21600"/>
                <a:gd name="T3" fmla="*/ 28 h 21342"/>
                <a:gd name="T4" fmla="*/ 8 w 21600"/>
                <a:gd name="T5" fmla="*/ 34 h 21342"/>
                <a:gd name="T6" fmla="*/ 5 w 21600"/>
                <a:gd name="T7" fmla="*/ 0 h 21342"/>
                <a:gd name="T8" fmla="*/ 9 w 21600"/>
                <a:gd name="T9" fmla="*/ 28 h 21342"/>
                <a:gd name="T10" fmla="*/ 8 w 21600"/>
                <a:gd name="T11" fmla="*/ 34 h 21342"/>
                <a:gd name="T12" fmla="*/ 0 w 21600"/>
                <a:gd name="T13" fmla="*/ 28 h 21342"/>
                <a:gd name="T14" fmla="*/ 5 w 21600"/>
                <a:gd name="T15" fmla="*/ 0 h 213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0" h="21342" fill="none">
                  <a:moveTo>
                    <a:pt x="12847" y="-1"/>
                  </a:moveTo>
                  <a:cubicBezTo>
                    <a:pt x="18352" y="4073"/>
                    <a:pt x="21600" y="10515"/>
                    <a:pt x="21600" y="17364"/>
                  </a:cubicBezTo>
                  <a:cubicBezTo>
                    <a:pt x="21600" y="18698"/>
                    <a:pt x="21476" y="20030"/>
                    <a:pt x="21230" y="21341"/>
                  </a:cubicBezTo>
                </a:path>
                <a:path w="21600" h="21342" stroke="0">
                  <a:moveTo>
                    <a:pt x="12847" y="-1"/>
                  </a:moveTo>
                  <a:cubicBezTo>
                    <a:pt x="18352" y="4073"/>
                    <a:pt x="21600" y="10515"/>
                    <a:pt x="21600" y="17364"/>
                  </a:cubicBezTo>
                  <a:cubicBezTo>
                    <a:pt x="21600" y="18698"/>
                    <a:pt x="21476" y="20030"/>
                    <a:pt x="21230" y="21341"/>
                  </a:cubicBezTo>
                  <a:lnTo>
                    <a:pt x="0" y="17364"/>
                  </a:lnTo>
                  <a:lnTo>
                    <a:pt x="12847" y="-1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11">
              <a:extLst>
                <a:ext uri="{FF2B5EF4-FFF2-40B4-BE49-F238E27FC236}">
                  <a16:creationId xmlns:a16="http://schemas.microsoft.com/office/drawing/2014/main" id="{E4B9F9E2-0879-4CFD-B831-ADC1B0AF57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" y="181"/>
              <a:ext cx="907" cy="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12">
              <a:extLst>
                <a:ext uri="{FF2B5EF4-FFF2-40B4-BE49-F238E27FC236}">
                  <a16:creationId xmlns:a16="http://schemas.microsoft.com/office/drawing/2014/main" id="{DD4F6618-ECAD-4FCD-AB29-016A2DE58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" y="181"/>
              <a:ext cx="1134" cy="6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13">
              <a:extLst>
                <a:ext uri="{FF2B5EF4-FFF2-40B4-BE49-F238E27FC236}">
                  <a16:creationId xmlns:a16="http://schemas.microsoft.com/office/drawing/2014/main" id="{7D9B1EF0-1E6B-4051-9239-10C9D34F2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544"/>
              <a:ext cx="0" cy="5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14">
              <a:extLst>
                <a:ext uri="{FF2B5EF4-FFF2-40B4-BE49-F238E27FC236}">
                  <a16:creationId xmlns:a16="http://schemas.microsoft.com/office/drawing/2014/main" id="{4ECB2B67-3118-4BFF-B0C6-1CFE56726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1" y="862"/>
              <a:ext cx="0" cy="5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78" name="Object 15">
              <a:extLst>
                <a:ext uri="{FF2B5EF4-FFF2-40B4-BE49-F238E27FC236}">
                  <a16:creationId xmlns:a16="http://schemas.microsoft.com/office/drawing/2014/main" id="{95C0F001-98F5-4FAB-AFA3-479920582A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1270"/>
            <a:ext cx="161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30396" imgH="130396" progId="Equation.3">
                    <p:embed/>
                  </p:oleObj>
                </mc:Choice>
                <mc:Fallback>
                  <p:oleObj r:id="rId4" imgW="130396" imgH="130396" progId="Equation.3">
                    <p:embed/>
                    <p:pic>
                      <p:nvPicPr>
                        <p:cNvPr id="97317" name="Object 15">
                          <a:extLst>
                            <a:ext uri="{FF2B5EF4-FFF2-40B4-BE49-F238E27FC236}">
                              <a16:creationId xmlns:a16="http://schemas.microsoft.com/office/drawing/2014/main" id="{6C1BD69A-E145-45AB-BC1D-C2A64F141F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270"/>
                          <a:ext cx="161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" name="Object 16">
              <a:extLst>
                <a:ext uri="{FF2B5EF4-FFF2-40B4-BE49-F238E27FC236}">
                  <a16:creationId xmlns:a16="http://schemas.microsoft.com/office/drawing/2014/main" id="{7646F006-6C2F-42B2-BCB9-5873602AB1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3" y="0"/>
            <a:ext cx="145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17408" imgH="130454" progId="Equation.3">
                    <p:embed/>
                  </p:oleObj>
                </mc:Choice>
                <mc:Fallback>
                  <p:oleObj r:id="rId6" imgW="117408" imgH="130454" progId="Equation.3">
                    <p:embed/>
                    <p:pic>
                      <p:nvPicPr>
                        <p:cNvPr id="97318" name="Object 16">
                          <a:extLst>
                            <a:ext uri="{FF2B5EF4-FFF2-40B4-BE49-F238E27FC236}">
                              <a16:creationId xmlns:a16="http://schemas.microsoft.com/office/drawing/2014/main" id="{C970B2E9-D588-4395-B88C-DB6247BDA0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0"/>
                          <a:ext cx="145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17">
              <a:extLst>
                <a:ext uri="{FF2B5EF4-FFF2-40B4-BE49-F238E27FC236}">
                  <a16:creationId xmlns:a16="http://schemas.microsoft.com/office/drawing/2014/main" id="{9F5C1880-A00C-4653-BA29-BC7173D2D5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25" y="544"/>
            <a:ext cx="242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93866" imgH="180941" progId="Equation.3">
                    <p:embed/>
                  </p:oleObj>
                </mc:Choice>
                <mc:Fallback>
                  <p:oleObj r:id="rId8" imgW="193866" imgH="180941" progId="Equation.3">
                    <p:embed/>
                    <p:pic>
                      <p:nvPicPr>
                        <p:cNvPr id="97319" name="Object 17">
                          <a:extLst>
                            <a:ext uri="{FF2B5EF4-FFF2-40B4-BE49-F238E27FC236}">
                              <a16:creationId xmlns:a16="http://schemas.microsoft.com/office/drawing/2014/main" id="{ED49A70E-F68B-47B4-AE87-DE720FFB6F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5" y="544"/>
                          <a:ext cx="242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" name="Object 18">
              <a:extLst>
                <a:ext uri="{FF2B5EF4-FFF2-40B4-BE49-F238E27FC236}">
                  <a16:creationId xmlns:a16="http://schemas.microsoft.com/office/drawing/2014/main" id="{FBF38D19-F669-4F70-8C29-8063605019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" y="408"/>
            <a:ext cx="274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18748" imgH="205881" progId="Equation.3">
                    <p:embed/>
                  </p:oleObj>
                </mc:Choice>
                <mc:Fallback>
                  <p:oleObj r:id="rId10" imgW="218748" imgH="205881" progId="Equation.3">
                    <p:embed/>
                    <p:pic>
                      <p:nvPicPr>
                        <p:cNvPr id="97320" name="Object 18">
                          <a:extLst>
                            <a:ext uri="{FF2B5EF4-FFF2-40B4-BE49-F238E27FC236}">
                              <a16:creationId xmlns:a16="http://schemas.microsoft.com/office/drawing/2014/main" id="{3653208C-1A9F-45CC-93FD-67908E4F24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" y="408"/>
                          <a:ext cx="274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Object 19">
              <a:extLst>
                <a:ext uri="{FF2B5EF4-FFF2-40B4-BE49-F238E27FC236}">
                  <a16:creationId xmlns:a16="http://schemas.microsoft.com/office/drawing/2014/main" id="{6452B7EB-A434-4A61-9905-4645588D51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7" y="726"/>
            <a:ext cx="193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54546" imgH="218941" progId="Equation.3">
                    <p:embed/>
                  </p:oleObj>
                </mc:Choice>
                <mc:Fallback>
                  <p:oleObj r:id="rId12" imgW="154546" imgH="218941" progId="Equation.3">
                    <p:embed/>
                    <p:pic>
                      <p:nvPicPr>
                        <p:cNvPr id="97321" name="Object 19">
                          <a:extLst>
                            <a:ext uri="{FF2B5EF4-FFF2-40B4-BE49-F238E27FC236}">
                              <a16:creationId xmlns:a16="http://schemas.microsoft.com/office/drawing/2014/main" id="{96A5A5B6-46C1-4E98-BFFD-E3BE5996B8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" y="726"/>
                          <a:ext cx="193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" name="Object 20">
              <a:extLst>
                <a:ext uri="{FF2B5EF4-FFF2-40B4-BE49-F238E27FC236}">
                  <a16:creationId xmlns:a16="http://schemas.microsoft.com/office/drawing/2014/main" id="{6A768F33-416E-414D-891D-CEAB8D87E0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7" y="1134"/>
            <a:ext cx="22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80225" imgH="218845" progId="Equation.3">
                    <p:embed/>
                  </p:oleObj>
                </mc:Choice>
                <mc:Fallback>
                  <p:oleObj r:id="rId14" imgW="180225" imgH="218845" progId="Equation.3">
                    <p:embed/>
                    <p:pic>
                      <p:nvPicPr>
                        <p:cNvPr id="97322" name="Object 20">
                          <a:extLst>
                            <a:ext uri="{FF2B5EF4-FFF2-40B4-BE49-F238E27FC236}">
                              <a16:creationId xmlns:a16="http://schemas.microsoft.com/office/drawing/2014/main" id="{865F4899-022C-40CA-8258-202BCF16CC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7" y="1134"/>
                          <a:ext cx="226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" name="未知">
              <a:extLst>
                <a:ext uri="{FF2B5EF4-FFF2-40B4-BE49-F238E27FC236}">
                  <a16:creationId xmlns:a16="http://schemas.microsoft.com/office/drawing/2014/main" id="{0718A4CE-FB97-4EDF-911E-89DA454A0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" y="339"/>
              <a:ext cx="91" cy="249"/>
            </a:xfrm>
            <a:custGeom>
              <a:avLst/>
              <a:gdLst>
                <a:gd name="T0" fmla="*/ 38 w 99"/>
                <a:gd name="T1" fmla="*/ 0 h 226"/>
                <a:gd name="T2" fmla="*/ 77 w 99"/>
                <a:gd name="T3" fmla="*/ 165 h 226"/>
                <a:gd name="T4" fmla="*/ 0 w 99"/>
                <a:gd name="T5" fmla="*/ 274 h 2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" h="226">
                  <a:moveTo>
                    <a:pt x="45" y="0"/>
                  </a:moveTo>
                  <a:cubicBezTo>
                    <a:pt x="72" y="49"/>
                    <a:pt x="99" y="98"/>
                    <a:pt x="91" y="136"/>
                  </a:cubicBezTo>
                  <a:cubicBezTo>
                    <a:pt x="83" y="174"/>
                    <a:pt x="15" y="211"/>
                    <a:pt x="0" y="226"/>
                  </a:cubicBezTo>
                </a:path>
              </a:pathLst>
            </a:custGeom>
            <a:noFill/>
            <a:ln w="12700">
              <a:solidFill>
                <a:srgbClr val="00FF00"/>
              </a:solidFill>
              <a:round/>
              <a:headEnd type="arrow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未知">
              <a:extLst>
                <a:ext uri="{FF2B5EF4-FFF2-40B4-BE49-F238E27FC236}">
                  <a16:creationId xmlns:a16="http://schemas.microsoft.com/office/drawing/2014/main" id="{564A03B7-3BA8-4BCD-BAB7-F2BE595D8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680"/>
              <a:ext cx="189" cy="227"/>
            </a:xfrm>
            <a:custGeom>
              <a:avLst/>
              <a:gdLst>
                <a:gd name="T0" fmla="*/ 0 w 189"/>
                <a:gd name="T1" fmla="*/ 227 h 227"/>
                <a:gd name="T2" fmla="*/ 137 w 189"/>
                <a:gd name="T3" fmla="*/ 182 h 227"/>
                <a:gd name="T4" fmla="*/ 182 w 189"/>
                <a:gd name="T5" fmla="*/ 136 h 227"/>
                <a:gd name="T6" fmla="*/ 182 w 189"/>
                <a:gd name="T7" fmla="*/ 0 h 2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9" h="227">
                  <a:moveTo>
                    <a:pt x="0" y="227"/>
                  </a:moveTo>
                  <a:cubicBezTo>
                    <a:pt x="53" y="212"/>
                    <a:pt x="107" y="197"/>
                    <a:pt x="137" y="182"/>
                  </a:cubicBezTo>
                  <a:cubicBezTo>
                    <a:pt x="167" y="167"/>
                    <a:pt x="175" y="166"/>
                    <a:pt x="182" y="136"/>
                  </a:cubicBezTo>
                  <a:cubicBezTo>
                    <a:pt x="189" y="106"/>
                    <a:pt x="182" y="23"/>
                    <a:pt x="182" y="0"/>
                  </a:cubicBezTo>
                </a:path>
              </a:pathLst>
            </a:custGeom>
            <a:noFill/>
            <a:ln w="12700">
              <a:solidFill>
                <a:srgbClr val="00FF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23">
              <a:extLst>
                <a:ext uri="{FF2B5EF4-FFF2-40B4-BE49-F238E27FC236}">
                  <a16:creationId xmlns:a16="http://schemas.microsoft.com/office/drawing/2014/main" id="{877544FC-D10D-45DA-9836-F9EE0CEA84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07" y="998"/>
              <a:ext cx="90" cy="226"/>
            </a:xfrm>
            <a:prstGeom prst="line">
              <a:avLst/>
            </a:prstGeom>
            <a:noFill/>
            <a:ln w="12700">
              <a:solidFill>
                <a:srgbClr val="00FF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24">
            <a:extLst>
              <a:ext uri="{FF2B5EF4-FFF2-40B4-BE49-F238E27FC236}">
                <a16:creationId xmlns:a16="http://schemas.microsoft.com/office/drawing/2014/main" id="{443EBDF6-2C08-4853-A324-F3FBC001717F}"/>
              </a:ext>
            </a:extLst>
          </p:cNvPr>
          <p:cNvGrpSpPr>
            <a:grpSpLocks/>
          </p:cNvGrpSpPr>
          <p:nvPr/>
        </p:nvGrpSpPr>
        <p:grpSpPr bwMode="auto">
          <a:xfrm>
            <a:off x="6836041" y="3723295"/>
            <a:ext cx="2952750" cy="2305050"/>
            <a:chOff x="0" y="0"/>
            <a:chExt cx="1860" cy="1452"/>
          </a:xfrm>
        </p:grpSpPr>
        <p:sp>
          <p:nvSpPr>
            <p:cNvPr id="88" name="Line 25">
              <a:extLst>
                <a:ext uri="{FF2B5EF4-FFF2-40B4-BE49-F238E27FC236}">
                  <a16:creationId xmlns:a16="http://schemas.microsoft.com/office/drawing/2014/main" id="{3B7BD50A-003E-4296-A6F2-66BD2F79B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" y="181"/>
              <a:ext cx="16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26">
              <a:extLst>
                <a:ext uri="{FF2B5EF4-FFF2-40B4-BE49-F238E27FC236}">
                  <a16:creationId xmlns:a16="http://schemas.microsoft.com/office/drawing/2014/main" id="{79349E2E-CFBF-407D-8136-3093D89AB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" y="181"/>
              <a:ext cx="0" cy="12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Arc 27">
              <a:extLst>
                <a:ext uri="{FF2B5EF4-FFF2-40B4-BE49-F238E27FC236}">
                  <a16:creationId xmlns:a16="http://schemas.microsoft.com/office/drawing/2014/main" id="{4FB1A832-1B75-44C7-99F4-3CCAC99EF3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29504">
              <a:off x="907" y="408"/>
              <a:ext cx="429" cy="851"/>
            </a:xfrm>
            <a:custGeom>
              <a:avLst/>
              <a:gdLst>
                <a:gd name="T0" fmla="*/ 5 w 21600"/>
                <a:gd name="T1" fmla="*/ 0 h 21342"/>
                <a:gd name="T2" fmla="*/ 9 w 21600"/>
                <a:gd name="T3" fmla="*/ 28 h 21342"/>
                <a:gd name="T4" fmla="*/ 8 w 21600"/>
                <a:gd name="T5" fmla="*/ 34 h 21342"/>
                <a:gd name="T6" fmla="*/ 5 w 21600"/>
                <a:gd name="T7" fmla="*/ 0 h 21342"/>
                <a:gd name="T8" fmla="*/ 9 w 21600"/>
                <a:gd name="T9" fmla="*/ 28 h 21342"/>
                <a:gd name="T10" fmla="*/ 8 w 21600"/>
                <a:gd name="T11" fmla="*/ 34 h 21342"/>
                <a:gd name="T12" fmla="*/ 0 w 21600"/>
                <a:gd name="T13" fmla="*/ 28 h 21342"/>
                <a:gd name="T14" fmla="*/ 5 w 21600"/>
                <a:gd name="T15" fmla="*/ 0 h 213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0" h="21342" fill="none">
                  <a:moveTo>
                    <a:pt x="12847" y="-1"/>
                  </a:moveTo>
                  <a:cubicBezTo>
                    <a:pt x="18352" y="4073"/>
                    <a:pt x="21600" y="10515"/>
                    <a:pt x="21600" y="17364"/>
                  </a:cubicBezTo>
                  <a:cubicBezTo>
                    <a:pt x="21600" y="18698"/>
                    <a:pt x="21476" y="20030"/>
                    <a:pt x="21230" y="21341"/>
                  </a:cubicBezTo>
                </a:path>
                <a:path w="21600" h="21342" stroke="0">
                  <a:moveTo>
                    <a:pt x="12847" y="-1"/>
                  </a:moveTo>
                  <a:cubicBezTo>
                    <a:pt x="18352" y="4073"/>
                    <a:pt x="21600" y="10515"/>
                    <a:pt x="21600" y="17364"/>
                  </a:cubicBezTo>
                  <a:cubicBezTo>
                    <a:pt x="21600" y="18698"/>
                    <a:pt x="21476" y="20030"/>
                    <a:pt x="21230" y="21341"/>
                  </a:cubicBezTo>
                  <a:lnTo>
                    <a:pt x="0" y="17364"/>
                  </a:lnTo>
                  <a:lnTo>
                    <a:pt x="12847" y="-1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28">
              <a:extLst>
                <a:ext uri="{FF2B5EF4-FFF2-40B4-BE49-F238E27FC236}">
                  <a16:creationId xmlns:a16="http://schemas.microsoft.com/office/drawing/2014/main" id="{538E59FD-E519-49AB-8E44-295C9D62A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" y="181"/>
              <a:ext cx="907" cy="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29">
              <a:extLst>
                <a:ext uri="{FF2B5EF4-FFF2-40B4-BE49-F238E27FC236}">
                  <a16:creationId xmlns:a16="http://schemas.microsoft.com/office/drawing/2014/main" id="{0841AB7B-8D56-454C-8701-16E162E42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" y="181"/>
              <a:ext cx="1134" cy="6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30">
              <a:extLst>
                <a:ext uri="{FF2B5EF4-FFF2-40B4-BE49-F238E27FC236}">
                  <a16:creationId xmlns:a16="http://schemas.microsoft.com/office/drawing/2014/main" id="{D850CAB6-03C2-40CE-BD7B-52677E585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544"/>
              <a:ext cx="0" cy="5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31">
              <a:extLst>
                <a:ext uri="{FF2B5EF4-FFF2-40B4-BE49-F238E27FC236}">
                  <a16:creationId xmlns:a16="http://schemas.microsoft.com/office/drawing/2014/main" id="{8494067C-8141-4509-8A4A-52ED90804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1" y="862"/>
              <a:ext cx="0" cy="5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95" name="Object 32">
              <a:extLst>
                <a:ext uri="{FF2B5EF4-FFF2-40B4-BE49-F238E27FC236}">
                  <a16:creationId xmlns:a16="http://schemas.microsoft.com/office/drawing/2014/main" id="{93FDC7F8-3DEC-4F10-87E7-6A5692F2DF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1270"/>
            <a:ext cx="161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30396" imgH="130396" progId="Equation.3">
                    <p:embed/>
                  </p:oleObj>
                </mc:Choice>
                <mc:Fallback>
                  <p:oleObj r:id="rId16" imgW="130396" imgH="130396" progId="Equation.3">
                    <p:embed/>
                    <p:pic>
                      <p:nvPicPr>
                        <p:cNvPr id="97301" name="Object 32">
                          <a:extLst>
                            <a:ext uri="{FF2B5EF4-FFF2-40B4-BE49-F238E27FC236}">
                              <a16:creationId xmlns:a16="http://schemas.microsoft.com/office/drawing/2014/main" id="{1D499D73-4526-435D-B3F8-FE5118C16C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270"/>
                          <a:ext cx="161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" name="Object 33">
              <a:extLst>
                <a:ext uri="{FF2B5EF4-FFF2-40B4-BE49-F238E27FC236}">
                  <a16:creationId xmlns:a16="http://schemas.microsoft.com/office/drawing/2014/main" id="{9A975D46-4987-4C1C-9DE1-2415F84CA2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3" y="0"/>
            <a:ext cx="145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17408" imgH="130454" progId="Equation.3">
                    <p:embed/>
                  </p:oleObj>
                </mc:Choice>
                <mc:Fallback>
                  <p:oleObj r:id="rId17" imgW="117408" imgH="130454" progId="Equation.3">
                    <p:embed/>
                    <p:pic>
                      <p:nvPicPr>
                        <p:cNvPr id="97302" name="Object 33">
                          <a:extLst>
                            <a:ext uri="{FF2B5EF4-FFF2-40B4-BE49-F238E27FC236}">
                              <a16:creationId xmlns:a16="http://schemas.microsoft.com/office/drawing/2014/main" id="{C6F2E7EE-44C3-41B3-9330-73C07926E0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0"/>
                          <a:ext cx="145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34">
              <a:extLst>
                <a:ext uri="{FF2B5EF4-FFF2-40B4-BE49-F238E27FC236}">
                  <a16:creationId xmlns:a16="http://schemas.microsoft.com/office/drawing/2014/main" id="{11253812-BC98-433A-B406-9894183BF9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70" y="499"/>
            <a:ext cx="242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93866" imgH="180941" progId="Equation.3">
                    <p:embed/>
                  </p:oleObj>
                </mc:Choice>
                <mc:Fallback>
                  <p:oleObj r:id="rId18" imgW="193866" imgH="180941" progId="Equation.3">
                    <p:embed/>
                    <p:pic>
                      <p:nvPicPr>
                        <p:cNvPr id="97303" name="Object 34">
                          <a:extLst>
                            <a:ext uri="{FF2B5EF4-FFF2-40B4-BE49-F238E27FC236}">
                              <a16:creationId xmlns:a16="http://schemas.microsoft.com/office/drawing/2014/main" id="{13A6D4E3-53D8-46FA-BC68-F9F000D158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0" y="499"/>
                          <a:ext cx="242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Object 35">
              <a:extLst>
                <a:ext uri="{FF2B5EF4-FFF2-40B4-BE49-F238E27FC236}">
                  <a16:creationId xmlns:a16="http://schemas.microsoft.com/office/drawing/2014/main" id="{03489FB8-1543-4FC7-BEDC-4D4BB9B103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" y="408"/>
            <a:ext cx="274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218748" imgH="205881" progId="Equation.3">
                    <p:embed/>
                  </p:oleObj>
                </mc:Choice>
                <mc:Fallback>
                  <p:oleObj r:id="rId19" imgW="218748" imgH="205881" progId="Equation.3">
                    <p:embed/>
                    <p:pic>
                      <p:nvPicPr>
                        <p:cNvPr id="97304" name="Object 35">
                          <a:extLst>
                            <a:ext uri="{FF2B5EF4-FFF2-40B4-BE49-F238E27FC236}">
                              <a16:creationId xmlns:a16="http://schemas.microsoft.com/office/drawing/2014/main" id="{71EA3910-5E8E-4A00-8BFC-AC8F6BACB1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" y="408"/>
                          <a:ext cx="274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" name="Object 36">
              <a:extLst>
                <a:ext uri="{FF2B5EF4-FFF2-40B4-BE49-F238E27FC236}">
                  <a16:creationId xmlns:a16="http://schemas.microsoft.com/office/drawing/2014/main" id="{41CCB950-BE98-41F4-B45C-793E792DDB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7" y="726"/>
            <a:ext cx="193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154546" imgH="218941" progId="Equation.3">
                    <p:embed/>
                  </p:oleObj>
                </mc:Choice>
                <mc:Fallback>
                  <p:oleObj r:id="rId21" imgW="154546" imgH="218941" progId="Equation.3">
                    <p:embed/>
                    <p:pic>
                      <p:nvPicPr>
                        <p:cNvPr id="97305" name="Object 36">
                          <a:extLst>
                            <a:ext uri="{FF2B5EF4-FFF2-40B4-BE49-F238E27FC236}">
                              <a16:creationId xmlns:a16="http://schemas.microsoft.com/office/drawing/2014/main" id="{4451DA19-412D-424B-9D13-1638CDF7E3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" y="726"/>
                          <a:ext cx="193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" name="Object 37">
              <a:extLst>
                <a:ext uri="{FF2B5EF4-FFF2-40B4-BE49-F238E27FC236}">
                  <a16:creationId xmlns:a16="http://schemas.microsoft.com/office/drawing/2014/main" id="{CFC91C11-D77D-4D51-9130-F124F302AA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6" y="1179"/>
            <a:ext cx="22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180225" imgH="218845" progId="Equation.3">
                    <p:embed/>
                  </p:oleObj>
                </mc:Choice>
                <mc:Fallback>
                  <p:oleObj r:id="rId23" imgW="180225" imgH="218845" progId="Equation.3">
                    <p:embed/>
                    <p:pic>
                      <p:nvPicPr>
                        <p:cNvPr id="97306" name="Object 37">
                          <a:extLst>
                            <a:ext uri="{FF2B5EF4-FFF2-40B4-BE49-F238E27FC236}">
                              <a16:creationId xmlns:a16="http://schemas.microsoft.com/office/drawing/2014/main" id="{8CA82EF4-DDCC-4E0C-B156-61E45A9474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" y="1179"/>
                          <a:ext cx="226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" name="未知">
              <a:extLst>
                <a:ext uri="{FF2B5EF4-FFF2-40B4-BE49-F238E27FC236}">
                  <a16:creationId xmlns:a16="http://schemas.microsoft.com/office/drawing/2014/main" id="{942A9245-E933-446F-9289-AC78A4FBD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" y="339"/>
              <a:ext cx="91" cy="249"/>
            </a:xfrm>
            <a:custGeom>
              <a:avLst/>
              <a:gdLst>
                <a:gd name="T0" fmla="*/ 38 w 99"/>
                <a:gd name="T1" fmla="*/ 0 h 226"/>
                <a:gd name="T2" fmla="*/ 77 w 99"/>
                <a:gd name="T3" fmla="*/ 165 h 226"/>
                <a:gd name="T4" fmla="*/ 0 w 99"/>
                <a:gd name="T5" fmla="*/ 274 h 2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" h="226">
                  <a:moveTo>
                    <a:pt x="45" y="0"/>
                  </a:moveTo>
                  <a:cubicBezTo>
                    <a:pt x="72" y="49"/>
                    <a:pt x="99" y="98"/>
                    <a:pt x="91" y="136"/>
                  </a:cubicBezTo>
                  <a:cubicBezTo>
                    <a:pt x="83" y="174"/>
                    <a:pt x="15" y="211"/>
                    <a:pt x="0" y="226"/>
                  </a:cubicBezTo>
                </a:path>
              </a:pathLst>
            </a:custGeom>
            <a:noFill/>
            <a:ln w="12700">
              <a:solidFill>
                <a:srgbClr val="00FF00"/>
              </a:solidFill>
              <a:round/>
              <a:headEnd type="arrow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未知">
              <a:extLst>
                <a:ext uri="{FF2B5EF4-FFF2-40B4-BE49-F238E27FC236}">
                  <a16:creationId xmlns:a16="http://schemas.microsoft.com/office/drawing/2014/main" id="{7304F568-30D5-4FD6-A06A-AD5308AEA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635"/>
              <a:ext cx="189" cy="227"/>
            </a:xfrm>
            <a:custGeom>
              <a:avLst/>
              <a:gdLst>
                <a:gd name="T0" fmla="*/ 0 w 189"/>
                <a:gd name="T1" fmla="*/ 227 h 227"/>
                <a:gd name="T2" fmla="*/ 137 w 189"/>
                <a:gd name="T3" fmla="*/ 182 h 227"/>
                <a:gd name="T4" fmla="*/ 182 w 189"/>
                <a:gd name="T5" fmla="*/ 136 h 227"/>
                <a:gd name="T6" fmla="*/ 182 w 189"/>
                <a:gd name="T7" fmla="*/ 0 h 2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9" h="227">
                  <a:moveTo>
                    <a:pt x="0" y="227"/>
                  </a:moveTo>
                  <a:cubicBezTo>
                    <a:pt x="53" y="212"/>
                    <a:pt x="107" y="197"/>
                    <a:pt x="137" y="182"/>
                  </a:cubicBezTo>
                  <a:cubicBezTo>
                    <a:pt x="167" y="167"/>
                    <a:pt x="175" y="166"/>
                    <a:pt x="182" y="136"/>
                  </a:cubicBezTo>
                  <a:cubicBezTo>
                    <a:pt x="189" y="106"/>
                    <a:pt x="182" y="23"/>
                    <a:pt x="182" y="0"/>
                  </a:cubicBezTo>
                </a:path>
              </a:pathLst>
            </a:custGeom>
            <a:noFill/>
            <a:ln w="12700">
              <a:solidFill>
                <a:srgbClr val="00FF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40">
              <a:extLst>
                <a:ext uri="{FF2B5EF4-FFF2-40B4-BE49-F238E27FC236}">
                  <a16:creationId xmlns:a16="http://schemas.microsoft.com/office/drawing/2014/main" id="{F9468F16-2AD1-4A12-A69F-78374B41DC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06" y="1088"/>
              <a:ext cx="90" cy="181"/>
            </a:xfrm>
            <a:prstGeom prst="line">
              <a:avLst/>
            </a:prstGeom>
            <a:noFill/>
            <a:ln w="12700">
              <a:solidFill>
                <a:srgbClr val="00FF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" name="Rectangle 41">
            <a:extLst>
              <a:ext uri="{FF2B5EF4-FFF2-40B4-BE49-F238E27FC236}">
                <a16:creationId xmlns:a16="http://schemas.microsoft.com/office/drawing/2014/main" id="{208D25AF-C8B5-4348-ABAF-4E4524FF7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5178" y="3232024"/>
            <a:ext cx="2663825" cy="56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负声速梯度：</a:t>
            </a:r>
          </a:p>
        </p:txBody>
      </p:sp>
      <p:graphicFrame>
        <p:nvGraphicFramePr>
          <p:cNvPr id="105" name="Object 42">
            <a:extLst>
              <a:ext uri="{FF2B5EF4-FFF2-40B4-BE49-F238E27FC236}">
                <a16:creationId xmlns:a16="http://schemas.microsoft.com/office/drawing/2014/main" id="{855EDF41-9D47-4166-955D-D62C0348D9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134005"/>
              </p:ext>
            </p:extLst>
          </p:nvPr>
        </p:nvGraphicFramePr>
        <p:xfrm>
          <a:off x="8417984" y="3288141"/>
          <a:ext cx="14398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574492" imgH="204264" progId="Equation.3">
                  <p:embed/>
                </p:oleObj>
              </mc:Choice>
              <mc:Fallback>
                <p:oleObj r:id="rId25" imgW="574492" imgH="204264" progId="Equation.3">
                  <p:embed/>
                  <p:pic>
                    <p:nvPicPr>
                      <p:cNvPr id="4" name="Object 42">
                        <a:extLst>
                          <a:ext uri="{FF2B5EF4-FFF2-40B4-BE49-F238E27FC236}">
                            <a16:creationId xmlns:a16="http://schemas.microsoft.com/office/drawing/2014/main" id="{715B9054-5C6B-4931-BAEE-62D5E18EF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7984" y="3288141"/>
                        <a:ext cx="143986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43">
            <a:extLst>
              <a:ext uri="{FF2B5EF4-FFF2-40B4-BE49-F238E27FC236}">
                <a16:creationId xmlns:a16="http://schemas.microsoft.com/office/drawing/2014/main" id="{34C01F6B-E498-4FC2-B67B-39E012DBC6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892313"/>
              </p:ext>
            </p:extLst>
          </p:nvPr>
        </p:nvGraphicFramePr>
        <p:xfrm>
          <a:off x="3456450" y="3294237"/>
          <a:ext cx="14398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574492" imgH="204264" progId="Equation.3">
                  <p:embed/>
                </p:oleObj>
              </mc:Choice>
              <mc:Fallback>
                <p:oleObj r:id="rId27" imgW="574492" imgH="204264" progId="Equation.3">
                  <p:embed/>
                  <p:pic>
                    <p:nvPicPr>
                      <p:cNvPr id="5" name="Object 43">
                        <a:extLst>
                          <a:ext uri="{FF2B5EF4-FFF2-40B4-BE49-F238E27FC236}">
                            <a16:creationId xmlns:a16="http://schemas.microsoft.com/office/drawing/2014/main" id="{6D90C2F9-5EB6-4FB9-95B4-E6B2777FE0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450" y="3294237"/>
                        <a:ext cx="143986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1">
            <a:extLst>
              <a:ext uri="{FF2B5EF4-FFF2-40B4-BE49-F238E27FC236}">
                <a16:creationId xmlns:a16="http://schemas.microsoft.com/office/drawing/2014/main" id="{A3C4AB18-4CAE-461F-9D20-C64DC02A54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715193"/>
              </p:ext>
            </p:extLst>
          </p:nvPr>
        </p:nvGraphicFramePr>
        <p:xfrm>
          <a:off x="6266129" y="1204062"/>
          <a:ext cx="37782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1525324" imgH="368620" progId="Equation.3">
                  <p:embed/>
                </p:oleObj>
              </mc:Choice>
              <mc:Fallback>
                <p:oleObj r:id="rId29" imgW="1525324" imgH="368620" progId="Equation.3">
                  <p:embed/>
                  <p:pic>
                    <p:nvPicPr>
                      <p:cNvPr id="47" name="Object 11">
                        <a:extLst>
                          <a:ext uri="{FF2B5EF4-FFF2-40B4-BE49-F238E27FC236}">
                            <a16:creationId xmlns:a16="http://schemas.microsoft.com/office/drawing/2014/main" id="{C21DEC3A-098B-40D5-BBF1-35BA9B7156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6129" y="1204062"/>
                        <a:ext cx="3778250" cy="9207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Rectangle 5">
            <a:extLst>
              <a:ext uri="{FF2B5EF4-FFF2-40B4-BE49-F238E27FC236}">
                <a16:creationId xmlns:a16="http://schemas.microsoft.com/office/drawing/2014/main" id="{08D156D0-9A3F-40E4-9A87-6ACA0C1E4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082" y="6245832"/>
            <a:ext cx="76327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声线总是弯向声速小的方向。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5E5A03-64B5-40F9-A13C-B049CC61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26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2" y="903720"/>
            <a:ext cx="11527436" cy="161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、射线声学的基本方程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程函方程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应用实例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中程函的求解：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F9EB9FF8-7CA1-432E-86A8-183392F0A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2123" y="2567097"/>
            <a:ext cx="3150866" cy="558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xoz</a:t>
            </a: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平面问题：</a:t>
            </a:r>
          </a:p>
        </p:txBody>
      </p:sp>
      <p:graphicFrame>
        <p:nvGraphicFramePr>
          <p:cNvPr id="54" name="Object 7">
            <a:extLst>
              <a:ext uri="{FF2B5EF4-FFF2-40B4-BE49-F238E27FC236}">
                <a16:creationId xmlns:a16="http://schemas.microsoft.com/office/drawing/2014/main" id="{CCFABD93-0ADC-4413-824C-ADB355EA5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674344"/>
              </p:ext>
            </p:extLst>
          </p:nvPr>
        </p:nvGraphicFramePr>
        <p:xfrm>
          <a:off x="3775906" y="3279159"/>
          <a:ext cx="3230687" cy="501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89123" imgH="216652" progId="Equation.3">
                  <p:embed/>
                </p:oleObj>
              </mc:Choice>
              <mc:Fallback>
                <p:oleObj r:id="rId2" imgW="1389123" imgH="216652" progId="Equation.3">
                  <p:embed/>
                  <p:pic>
                    <p:nvPicPr>
                      <p:cNvPr id="96263" name="Object 7">
                        <a:extLst>
                          <a:ext uri="{FF2B5EF4-FFF2-40B4-BE49-F238E27FC236}">
                            <a16:creationId xmlns:a16="http://schemas.microsoft.com/office/drawing/2014/main" id="{EAB24B75-A1C1-457A-8FC1-F2E0C3FC5A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906" y="3279159"/>
                        <a:ext cx="3230687" cy="501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Group 8">
            <a:extLst>
              <a:ext uri="{FF2B5EF4-FFF2-40B4-BE49-F238E27FC236}">
                <a16:creationId xmlns:a16="http://schemas.microsoft.com/office/drawing/2014/main" id="{5FABE510-8529-411D-AE14-90FDA358C26C}"/>
              </a:ext>
            </a:extLst>
          </p:cNvPr>
          <p:cNvGrpSpPr>
            <a:grpSpLocks/>
          </p:cNvGrpSpPr>
          <p:nvPr/>
        </p:nvGrpSpPr>
        <p:grpSpPr bwMode="auto">
          <a:xfrm>
            <a:off x="9236208" y="813749"/>
            <a:ext cx="2623510" cy="1612108"/>
            <a:chOff x="-90" y="222"/>
            <a:chExt cx="3115" cy="1774"/>
          </a:xfrm>
        </p:grpSpPr>
        <p:sp>
          <p:nvSpPr>
            <p:cNvPr id="56" name="Line 9">
              <a:extLst>
                <a:ext uri="{FF2B5EF4-FFF2-40B4-BE49-F238E27FC236}">
                  <a16:creationId xmlns:a16="http://schemas.microsoft.com/office/drawing/2014/main" id="{DDAFED0C-2358-411D-9DE9-77F3A6FA6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272"/>
              <a:ext cx="2812" cy="0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0">
              <a:extLst>
                <a:ext uri="{FF2B5EF4-FFF2-40B4-BE49-F238E27FC236}">
                  <a16:creationId xmlns:a16="http://schemas.microsoft.com/office/drawing/2014/main" id="{4849199F-985C-4353-9A56-9896EC9E9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272"/>
              <a:ext cx="0" cy="1724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Box 11">
              <a:extLst>
                <a:ext uri="{FF2B5EF4-FFF2-40B4-BE49-F238E27FC236}">
                  <a16:creationId xmlns:a16="http://schemas.microsoft.com/office/drawing/2014/main" id="{3F6402E4-5B72-4BDA-B0B6-59BD9DD48E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4" y="222"/>
              <a:ext cx="18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华文隶书" pitchFamily="2" charset="-122"/>
                </a:rPr>
                <a:t>x</a:t>
              </a:r>
            </a:p>
          </p:txBody>
        </p:sp>
        <p:sp>
          <p:nvSpPr>
            <p:cNvPr id="59" name="Text Box 12">
              <a:extLst>
                <a:ext uri="{FF2B5EF4-FFF2-40B4-BE49-F238E27FC236}">
                  <a16:creationId xmlns:a16="http://schemas.microsoft.com/office/drawing/2014/main" id="{DEF76097-C4F1-47AF-A4A5-095820E35F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90" y="1678"/>
              <a:ext cx="18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华文隶书" pitchFamily="2" charset="-122"/>
                </a:rPr>
                <a:t>z</a:t>
              </a:r>
            </a:p>
          </p:txBody>
        </p:sp>
        <p:sp>
          <p:nvSpPr>
            <p:cNvPr id="60" name="Line 13">
              <a:extLst>
                <a:ext uri="{FF2B5EF4-FFF2-40B4-BE49-F238E27FC236}">
                  <a16:creationId xmlns:a16="http://schemas.microsoft.com/office/drawing/2014/main" id="{A2D109F5-4E9F-41AF-836D-F87F2E6A7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499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14">
              <a:extLst>
                <a:ext uri="{FF2B5EF4-FFF2-40B4-BE49-F238E27FC236}">
                  <a16:creationId xmlns:a16="http://schemas.microsoft.com/office/drawing/2014/main" id="{11D97D70-F401-42A8-BCA0-D9E30FB53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681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15">
              <a:extLst>
                <a:ext uri="{FF2B5EF4-FFF2-40B4-BE49-F238E27FC236}">
                  <a16:creationId xmlns:a16="http://schemas.microsoft.com/office/drawing/2014/main" id="{39DB3F78-55C2-4715-BBE1-0100BE64B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862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16">
              <a:extLst>
                <a:ext uri="{FF2B5EF4-FFF2-40B4-BE49-F238E27FC236}">
                  <a16:creationId xmlns:a16="http://schemas.microsoft.com/office/drawing/2014/main" id="{6E4456D0-CE61-4921-98CD-9DE992BE7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1043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17">
              <a:extLst>
                <a:ext uri="{FF2B5EF4-FFF2-40B4-BE49-F238E27FC236}">
                  <a16:creationId xmlns:a16="http://schemas.microsoft.com/office/drawing/2014/main" id="{1510DFA2-AD1A-4B50-9EEB-A41A106204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1225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18">
              <a:extLst>
                <a:ext uri="{FF2B5EF4-FFF2-40B4-BE49-F238E27FC236}">
                  <a16:creationId xmlns:a16="http://schemas.microsoft.com/office/drawing/2014/main" id="{84A1B1E1-2649-406B-8297-C05B26618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1406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19">
              <a:extLst>
                <a:ext uri="{FF2B5EF4-FFF2-40B4-BE49-F238E27FC236}">
                  <a16:creationId xmlns:a16="http://schemas.microsoft.com/office/drawing/2014/main" id="{31A65BD0-CFD2-47C2-A69F-6E465F377B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1588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20">
              <a:extLst>
                <a:ext uri="{FF2B5EF4-FFF2-40B4-BE49-F238E27FC236}">
                  <a16:creationId xmlns:a16="http://schemas.microsoft.com/office/drawing/2014/main" id="{17337509-D0C8-4C01-9C74-71AD51349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1769"/>
              <a:ext cx="263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 Box 21">
              <a:extLst>
                <a:ext uri="{FF2B5EF4-FFF2-40B4-BE49-F238E27FC236}">
                  <a16:creationId xmlns:a16="http://schemas.microsoft.com/office/drawing/2014/main" id="{96C9D334-4100-42B6-B148-55A456102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1" y="1272"/>
              <a:ext cx="761" cy="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 c (z)</a:t>
              </a:r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  </a:t>
              </a:r>
            </a:p>
          </p:txBody>
        </p:sp>
        <p:sp>
          <p:nvSpPr>
            <p:cNvPr id="69" name="Line 22">
              <a:extLst>
                <a:ext uri="{FF2B5EF4-FFF2-40B4-BE49-F238E27FC236}">
                  <a16:creationId xmlns:a16="http://schemas.microsoft.com/office/drawing/2014/main" id="{C8D8FE48-C2E0-4B9B-A396-3916F995B1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2" y="272"/>
              <a:ext cx="91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23">
              <a:extLst>
                <a:ext uri="{FF2B5EF4-FFF2-40B4-BE49-F238E27FC236}">
                  <a16:creationId xmlns:a16="http://schemas.microsoft.com/office/drawing/2014/main" id="{1EFC35C9-D896-4195-9513-14A66BBF2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498"/>
              <a:ext cx="13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24">
              <a:extLst>
                <a:ext uri="{FF2B5EF4-FFF2-40B4-BE49-F238E27FC236}">
                  <a16:creationId xmlns:a16="http://schemas.microsoft.com/office/drawing/2014/main" id="{60F7ACCD-F09B-4027-A477-F1E7C3C0EF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5" y="680"/>
              <a:ext cx="91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25">
              <a:extLst>
                <a:ext uri="{FF2B5EF4-FFF2-40B4-BE49-F238E27FC236}">
                  <a16:creationId xmlns:a16="http://schemas.microsoft.com/office/drawing/2014/main" id="{B9841DA6-FE64-42FD-B80F-4022011B3F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0" y="861"/>
              <a:ext cx="4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Line 26">
              <a:extLst>
                <a:ext uri="{FF2B5EF4-FFF2-40B4-BE49-F238E27FC236}">
                  <a16:creationId xmlns:a16="http://schemas.microsoft.com/office/drawing/2014/main" id="{7D2FD58E-2642-4955-980B-CA4FBCEA8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043"/>
              <a:ext cx="4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27">
              <a:extLst>
                <a:ext uri="{FF2B5EF4-FFF2-40B4-BE49-F238E27FC236}">
                  <a16:creationId xmlns:a16="http://schemas.microsoft.com/office/drawing/2014/main" id="{EAF6795A-2D39-4283-AC45-294E3F372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" y="1224"/>
              <a:ext cx="13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Line 28">
              <a:extLst>
                <a:ext uri="{FF2B5EF4-FFF2-40B4-BE49-F238E27FC236}">
                  <a16:creationId xmlns:a16="http://schemas.microsoft.com/office/drawing/2014/main" id="{64E43FD5-D800-46F8-8241-BC7399DEC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" y="1406"/>
              <a:ext cx="9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29">
              <a:extLst>
                <a:ext uri="{FF2B5EF4-FFF2-40B4-BE49-F238E27FC236}">
                  <a16:creationId xmlns:a16="http://schemas.microsoft.com/office/drawing/2014/main" id="{E708A112-2D92-49A7-B033-F5C853A2D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" y="1587"/>
              <a:ext cx="4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13" name="Object 6">
            <a:extLst>
              <a:ext uri="{FF2B5EF4-FFF2-40B4-BE49-F238E27FC236}">
                <a16:creationId xmlns:a16="http://schemas.microsoft.com/office/drawing/2014/main" id="{C9C40DF3-5FA1-410E-B541-7A8DEF487C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654760"/>
              </p:ext>
            </p:extLst>
          </p:nvPr>
        </p:nvGraphicFramePr>
        <p:xfrm>
          <a:off x="756556" y="2926575"/>
          <a:ext cx="1439863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320" imgH="507960" progId="Equation.DSMT4">
                  <p:embed/>
                </p:oleObj>
              </mc:Choice>
              <mc:Fallback>
                <p:oleObj name="Equation" r:id="rId4" imgW="571320" imgH="507960" progId="Equation.DSMT4">
                  <p:embed/>
                  <p:pic>
                    <p:nvPicPr>
                      <p:cNvPr id="98326" name="Object 6">
                        <a:extLst>
                          <a:ext uri="{FF2B5EF4-FFF2-40B4-BE49-F238E27FC236}">
                            <a16:creationId xmlns:a16="http://schemas.microsoft.com/office/drawing/2014/main" id="{59EA2FB5-F8D5-40BB-AA22-EC89800253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556" y="2926575"/>
                        <a:ext cx="1439863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右 2">
            <a:extLst>
              <a:ext uri="{FF2B5EF4-FFF2-40B4-BE49-F238E27FC236}">
                <a16:creationId xmlns:a16="http://schemas.microsoft.com/office/drawing/2014/main" id="{8E983C27-FB43-475A-997A-269C82A56A35}"/>
              </a:ext>
            </a:extLst>
          </p:cNvPr>
          <p:cNvSpPr/>
          <p:nvPr/>
        </p:nvSpPr>
        <p:spPr>
          <a:xfrm>
            <a:off x="2440213" y="3261200"/>
            <a:ext cx="1091133" cy="503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4" name="Object 2">
            <a:extLst>
              <a:ext uri="{FF2B5EF4-FFF2-40B4-BE49-F238E27FC236}">
                <a16:creationId xmlns:a16="http://schemas.microsoft.com/office/drawing/2014/main" id="{B2278A22-5FEE-4D26-A2D9-C771F1CBC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810018"/>
              </p:ext>
            </p:extLst>
          </p:nvPr>
        </p:nvGraphicFramePr>
        <p:xfrm>
          <a:off x="5355302" y="925071"/>
          <a:ext cx="3302583" cy="1612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68522" imgH="915194" progId="Equation.DSMT4">
                  <p:embed/>
                </p:oleObj>
              </mc:Choice>
              <mc:Fallback>
                <p:oleObj name="Equation" r:id="rId6" imgW="1868522" imgH="915194" progId="Equation.DSMT4">
                  <p:embed/>
                  <p:pic>
                    <p:nvPicPr>
                      <p:cNvPr id="72" name="Object 2">
                        <a:extLst>
                          <a:ext uri="{FF2B5EF4-FFF2-40B4-BE49-F238E27FC236}">
                            <a16:creationId xmlns:a16="http://schemas.microsoft.com/office/drawing/2014/main" id="{2FE632AC-EB63-4AFE-83D6-8C3C28DF3A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5302" y="925071"/>
                        <a:ext cx="3302583" cy="1612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9">
            <a:extLst>
              <a:ext uri="{FF2B5EF4-FFF2-40B4-BE49-F238E27FC236}">
                <a16:creationId xmlns:a16="http://schemas.microsoft.com/office/drawing/2014/main" id="{A6C06B3A-48C6-4042-B77A-CACF1E39DA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513729"/>
              </p:ext>
            </p:extLst>
          </p:nvPr>
        </p:nvGraphicFramePr>
        <p:xfrm>
          <a:off x="428148" y="4752230"/>
          <a:ext cx="2792594" cy="457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24515" imgH="204086" progId="Equation.3">
                  <p:embed/>
                </p:oleObj>
              </mc:Choice>
              <mc:Fallback>
                <p:oleObj r:id="rId8" imgW="1224515" imgH="204086" progId="Equation.3">
                  <p:embed/>
                  <p:pic>
                    <p:nvPicPr>
                      <p:cNvPr id="96265" name="Object 9">
                        <a:extLst>
                          <a:ext uri="{FF2B5EF4-FFF2-40B4-BE49-F238E27FC236}">
                            <a16:creationId xmlns:a16="http://schemas.microsoft.com/office/drawing/2014/main" id="{4310834B-BE5C-4602-98AB-5B3E0DAAE3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48" y="4752230"/>
                        <a:ext cx="2792594" cy="457731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">
            <a:extLst>
              <a:ext uri="{FF2B5EF4-FFF2-40B4-BE49-F238E27FC236}">
                <a16:creationId xmlns:a16="http://schemas.microsoft.com/office/drawing/2014/main" id="{7EE517D4-0E64-4C14-842E-0F42BF3E1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581570"/>
              </p:ext>
            </p:extLst>
          </p:nvPr>
        </p:nvGraphicFramePr>
        <p:xfrm>
          <a:off x="3857080" y="4678772"/>
          <a:ext cx="4242168" cy="813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843100" imgH="355909" progId="Equation.3">
                  <p:embed/>
                </p:oleObj>
              </mc:Choice>
              <mc:Fallback>
                <p:oleObj r:id="rId10" imgW="1843100" imgH="355909" progId="Equation.3">
                  <p:embed/>
                  <p:pic>
                    <p:nvPicPr>
                      <p:cNvPr id="96267" name="Object 11">
                        <a:extLst>
                          <a:ext uri="{FF2B5EF4-FFF2-40B4-BE49-F238E27FC236}">
                            <a16:creationId xmlns:a16="http://schemas.microsoft.com/office/drawing/2014/main" id="{9DCBE78B-4474-433D-9152-FA63B7E9C4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080" y="4678772"/>
                        <a:ext cx="4242168" cy="813566"/>
                      </a:xfrm>
                      <a:prstGeom prst="rect">
                        <a:avLst/>
                      </a:prstGeom>
                      <a:solidFill>
                        <a:srgbClr val="B4C7E7"/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7">
            <a:extLst>
              <a:ext uri="{FF2B5EF4-FFF2-40B4-BE49-F238E27FC236}">
                <a16:creationId xmlns:a16="http://schemas.microsoft.com/office/drawing/2014/main" id="{3E60724F-970F-4FEB-8130-9A33033B2B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1740"/>
              </p:ext>
            </p:extLst>
          </p:nvPr>
        </p:nvGraphicFramePr>
        <p:xfrm>
          <a:off x="6254348" y="4127726"/>
          <a:ext cx="2013964" cy="40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454111" imgH="293373" progId="Equation.DSMT4">
                  <p:embed/>
                </p:oleObj>
              </mc:Choice>
              <mc:Fallback>
                <p:oleObj r:id="rId12" imgW="1454111" imgH="293373" progId="Equation.DSMT4">
                  <p:embed/>
                  <p:pic>
                    <p:nvPicPr>
                      <p:cNvPr id="2" name="Object 17">
                        <a:extLst>
                          <a:ext uri="{FF2B5EF4-FFF2-40B4-BE49-F238E27FC236}">
                            <a16:creationId xmlns:a16="http://schemas.microsoft.com/office/drawing/2014/main" id="{EC078189-C257-460F-B0C9-1DA38DAD9F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348" y="4127726"/>
                        <a:ext cx="2013964" cy="4050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66BCABA-859A-42EB-A498-A96550814B86}"/>
              </a:ext>
            </a:extLst>
          </p:cNvPr>
          <p:cNvCxnSpPr/>
          <p:nvPr/>
        </p:nvCxnSpPr>
        <p:spPr>
          <a:xfrm flipH="1">
            <a:off x="2938321" y="3810663"/>
            <a:ext cx="2138370" cy="763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5A3BD9A1-BD66-4F94-9BEC-65F278F290BA}"/>
              </a:ext>
            </a:extLst>
          </p:cNvPr>
          <p:cNvCxnSpPr>
            <a:cxnSpLocks/>
          </p:cNvCxnSpPr>
          <p:nvPr/>
        </p:nvCxnSpPr>
        <p:spPr>
          <a:xfrm flipH="1">
            <a:off x="5785622" y="3780754"/>
            <a:ext cx="551330" cy="792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9" name="Object 18">
            <a:extLst>
              <a:ext uri="{FF2B5EF4-FFF2-40B4-BE49-F238E27FC236}">
                <a16:creationId xmlns:a16="http://schemas.microsoft.com/office/drawing/2014/main" id="{ADEB432D-E3EB-40FF-BF37-15773D81D0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764517"/>
              </p:ext>
            </p:extLst>
          </p:nvPr>
        </p:nvGraphicFramePr>
        <p:xfrm>
          <a:off x="2855912" y="5753253"/>
          <a:ext cx="62547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504074" imgH="355909" progId="Equation.3">
                  <p:embed/>
                </p:oleObj>
              </mc:Choice>
              <mc:Fallback>
                <p:oleObj r:id="rId14" imgW="2504074" imgH="355909" progId="Equation.3">
                  <p:embed/>
                  <p:pic>
                    <p:nvPicPr>
                      <p:cNvPr id="3" name="Object 18">
                        <a:extLst>
                          <a:ext uri="{FF2B5EF4-FFF2-40B4-BE49-F238E27FC236}">
                            <a16:creationId xmlns:a16="http://schemas.microsoft.com/office/drawing/2014/main" id="{5D1E8AB4-CD47-4A0A-B6E0-9069199650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2" y="5753253"/>
                        <a:ext cx="6254750" cy="8890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">
            <a:extLst>
              <a:ext uri="{FF2B5EF4-FFF2-40B4-BE49-F238E27FC236}">
                <a16:creationId xmlns:a16="http://schemas.microsoft.com/office/drawing/2014/main" id="{2415FF3E-1406-4201-9524-426DBD25CC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504630"/>
              </p:ext>
            </p:extLst>
          </p:nvPr>
        </p:nvGraphicFramePr>
        <p:xfrm>
          <a:off x="8688666" y="3601769"/>
          <a:ext cx="3003550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76160" imgH="723600" progId="Equation.DSMT4">
                  <p:embed/>
                </p:oleObj>
              </mc:Choice>
              <mc:Fallback>
                <p:oleObj name="Equation" r:id="rId16" imgW="1676160" imgH="723600" progId="Equation.DSMT4">
                  <p:embed/>
                  <p:pic>
                    <p:nvPicPr>
                      <p:cNvPr id="39" name="Object 12">
                        <a:extLst>
                          <a:ext uri="{FF2B5EF4-FFF2-40B4-BE49-F238E27FC236}">
                            <a16:creationId xmlns:a16="http://schemas.microsoft.com/office/drawing/2014/main" id="{7957B202-8383-4CA0-94CE-72C4B2F6C6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8666" y="3601769"/>
                        <a:ext cx="3003550" cy="13001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AF40DC-A6F7-4E65-83D1-5CF8E00C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14</a:t>
            </a:fld>
            <a:endParaRPr lang="en-US"/>
          </a:p>
        </p:txBody>
      </p:sp>
      <p:sp>
        <p:nvSpPr>
          <p:cNvPr id="7" name="文本框 6"/>
          <p:cNvSpPr txBox="1"/>
          <p:nvPr/>
        </p:nvSpPr>
        <p:spPr>
          <a:xfrm>
            <a:off x="8610600" y="32021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标量形式</a:t>
            </a:r>
          </a:p>
        </p:txBody>
      </p:sp>
    </p:spTree>
    <p:extLst>
      <p:ext uri="{BB962C8B-B14F-4D97-AF65-F5344CB8AC3E}">
        <p14:creationId xmlns:p14="http://schemas.microsoft.com/office/powerpoint/2010/main" val="3095160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2" y="903720"/>
            <a:ext cx="5763718" cy="161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、射线声学的基本方程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强度方程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强度方程的物理意义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8" name="Object 8">
            <a:extLst>
              <a:ext uri="{FF2B5EF4-FFF2-40B4-BE49-F238E27FC236}">
                <a16:creationId xmlns:a16="http://schemas.microsoft.com/office/drawing/2014/main" id="{76ECFCC6-3286-4A6B-B772-E7C2E2DFE8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33601"/>
              </p:ext>
            </p:extLst>
          </p:nvPr>
        </p:nvGraphicFramePr>
        <p:xfrm>
          <a:off x="2730500" y="2757488"/>
          <a:ext cx="2830513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838080" progId="Equation.DSMT4">
                  <p:embed/>
                </p:oleObj>
              </mc:Choice>
              <mc:Fallback>
                <p:oleObj name="Equation" r:id="rId2" imgW="1295280" imgH="838080" progId="Equation.DSMT4">
                  <p:embed/>
                  <p:pic>
                    <p:nvPicPr>
                      <p:cNvPr id="97288" name="Object 8">
                        <a:extLst>
                          <a:ext uri="{FF2B5EF4-FFF2-40B4-BE49-F238E27FC236}">
                            <a16:creationId xmlns:a16="http://schemas.microsoft.com/office/drawing/2014/main" id="{D406B20A-3496-47CD-9238-3E360DB72C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2757488"/>
                        <a:ext cx="2830513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5">
            <a:extLst>
              <a:ext uri="{FF2B5EF4-FFF2-40B4-BE49-F238E27FC236}">
                <a16:creationId xmlns:a16="http://schemas.microsoft.com/office/drawing/2014/main" id="{6A40EF0C-297A-4BBB-AA56-2DD22CC55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057" y="3333376"/>
            <a:ext cx="1427363" cy="50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声强定义：</a:t>
            </a:r>
          </a:p>
        </p:txBody>
      </p:sp>
      <p:graphicFrame>
        <p:nvGraphicFramePr>
          <p:cNvPr id="41" name="Object 11">
            <a:extLst>
              <a:ext uri="{FF2B5EF4-FFF2-40B4-BE49-F238E27FC236}">
                <a16:creationId xmlns:a16="http://schemas.microsoft.com/office/drawing/2014/main" id="{5B69E0F5-CD43-41FF-A638-B10B79DA7C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304096"/>
              </p:ext>
            </p:extLst>
          </p:nvPr>
        </p:nvGraphicFramePr>
        <p:xfrm>
          <a:off x="1120907" y="5663709"/>
          <a:ext cx="4425114" cy="937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58293" imgH="431987" progId="Equation.3">
                  <p:embed/>
                </p:oleObj>
              </mc:Choice>
              <mc:Fallback>
                <p:oleObj r:id="rId4" imgW="2058293" imgH="431987" progId="Equation.3">
                  <p:embed/>
                  <p:pic>
                    <p:nvPicPr>
                      <p:cNvPr id="97291" name="Object 11">
                        <a:extLst>
                          <a:ext uri="{FF2B5EF4-FFF2-40B4-BE49-F238E27FC236}">
                            <a16:creationId xmlns:a16="http://schemas.microsoft.com/office/drawing/2014/main" id="{95235338-CD63-41B9-A5F9-FBCFD07675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907" y="5663709"/>
                        <a:ext cx="4425114" cy="937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5">
                <a:extLst>
                  <a:ext uri="{FF2B5EF4-FFF2-40B4-BE49-F238E27FC236}">
                    <a16:creationId xmlns:a16="http://schemas.microsoft.com/office/drawing/2014/main" id="{01EC9EA6-4893-49A4-9A1F-33ECF795E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414" y="4684670"/>
                <a:ext cx="4172944" cy="880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为简单计，只考虑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方向</a:t>
                </a:r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声压表示为：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𝒑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sup>
                    </m:sSup>
                  </m:oMath>
                </a14:m>
                <a:endParaRPr lang="zh-CN" altLang="en-US" sz="2000" b="1" i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2" name="Rectangle 5">
                <a:extLst>
                  <a:ext uri="{FF2B5EF4-FFF2-40B4-BE49-F238E27FC236}">
                    <a16:creationId xmlns:a16="http://schemas.microsoft.com/office/drawing/2014/main" id="{01EC9EA6-4893-49A4-9A1F-33ECF795E5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414" y="4684670"/>
                <a:ext cx="4172944" cy="880448"/>
              </a:xfrm>
              <a:prstGeom prst="rect">
                <a:avLst/>
              </a:prstGeom>
              <a:blipFill>
                <a:blip r:embed="rId7"/>
                <a:stretch>
                  <a:fillRect l="-1608" b="-96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E9BC106-93F5-4A26-A66B-E6B0FF68B3CB}"/>
                  </a:ext>
                </a:extLst>
              </p:cNvPr>
              <p:cNvSpPr/>
              <p:nvPr/>
            </p:nvSpPr>
            <p:spPr>
              <a:xfrm>
                <a:off x="6246865" y="2176646"/>
                <a:ext cx="5066067" cy="1160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当以下情况：</a:t>
                </a:r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声压振幅随距离相对变化甚小：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很小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高频条件：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很大</a:t>
                </a:r>
                <a:endPara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E9BC106-93F5-4A26-A66B-E6B0FF68B3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865" y="2176646"/>
                <a:ext cx="5066067" cy="1160446"/>
              </a:xfrm>
              <a:prstGeom prst="rect">
                <a:avLst/>
              </a:prstGeom>
              <a:blipFill>
                <a:blip r:embed="rId8"/>
                <a:stretch>
                  <a:fillRect l="-1564" t="-2632" r="-602" b="-1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Object 4">
            <a:extLst>
              <a:ext uri="{FF2B5EF4-FFF2-40B4-BE49-F238E27FC236}">
                <a16:creationId xmlns:a16="http://schemas.microsoft.com/office/drawing/2014/main" id="{AE92FE49-96CB-4741-BB1C-10D97AC9AF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865881"/>
              </p:ext>
            </p:extLst>
          </p:nvPr>
        </p:nvGraphicFramePr>
        <p:xfrm>
          <a:off x="8183276" y="3545123"/>
          <a:ext cx="1942185" cy="800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69407" imgH="395416" progId="Equation.3">
                  <p:embed/>
                </p:oleObj>
              </mc:Choice>
              <mc:Fallback>
                <p:oleObj r:id="rId9" imgW="969407" imgH="395416" progId="Equation.3">
                  <p:embed/>
                  <p:pic>
                    <p:nvPicPr>
                      <p:cNvPr id="98308" name="Object 4">
                        <a:extLst>
                          <a:ext uri="{FF2B5EF4-FFF2-40B4-BE49-F238E27FC236}">
                            <a16:creationId xmlns:a16="http://schemas.microsoft.com/office/drawing/2014/main" id="{8012295D-4B6C-4DF9-8417-F8D388FDDA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276" y="3545123"/>
                        <a:ext cx="1942185" cy="800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DBEAFC-CD26-475D-9E99-4391BBB8F215}"/>
              </a:ext>
            </a:extLst>
          </p:cNvPr>
          <p:cNvCxnSpPr>
            <a:cxnSpLocks/>
          </p:cNvCxnSpPr>
          <p:nvPr/>
        </p:nvCxnSpPr>
        <p:spPr>
          <a:xfrm>
            <a:off x="6096000" y="2259106"/>
            <a:ext cx="0" cy="425695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Object 5">
            <a:extLst>
              <a:ext uri="{FF2B5EF4-FFF2-40B4-BE49-F238E27FC236}">
                <a16:creationId xmlns:a16="http://schemas.microsoft.com/office/drawing/2014/main" id="{1A103736-EE7B-48B7-B35F-151015CF7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456435"/>
              </p:ext>
            </p:extLst>
          </p:nvPr>
        </p:nvGraphicFramePr>
        <p:xfrm>
          <a:off x="6701098" y="4387583"/>
          <a:ext cx="1557847" cy="2407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842221" imgH="1301614" progId="Equation.3">
                  <p:embed/>
                </p:oleObj>
              </mc:Choice>
              <mc:Fallback>
                <p:oleObj r:id="rId11" imgW="842221" imgH="1301614" progId="Equation.3">
                  <p:embed/>
                  <p:pic>
                    <p:nvPicPr>
                      <p:cNvPr id="98309" name="Object 5">
                        <a:extLst>
                          <a:ext uri="{FF2B5EF4-FFF2-40B4-BE49-F238E27FC236}">
                            <a16:creationId xmlns:a16="http://schemas.microsoft.com/office/drawing/2014/main" id="{F2A4E135-935D-4810-81F7-B029682E66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1098" y="4387583"/>
                        <a:ext cx="1557847" cy="2407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9">
            <a:extLst>
              <a:ext uri="{FF2B5EF4-FFF2-40B4-BE49-F238E27FC236}">
                <a16:creationId xmlns:a16="http://schemas.microsoft.com/office/drawing/2014/main" id="{B65F119B-BE6D-4AA9-ACF6-C701EAEA6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018385"/>
              </p:ext>
            </p:extLst>
          </p:nvPr>
        </p:nvGraphicFramePr>
        <p:xfrm>
          <a:off x="9984739" y="5262176"/>
          <a:ext cx="14859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676624" imgH="242563" progId="Equation.DSMT4">
                  <p:embed/>
                </p:oleObj>
              </mc:Choice>
              <mc:Fallback>
                <p:oleObj r:id="rId13" imgW="676624" imgH="242563" progId="Equation.DSMT4">
                  <p:embed/>
                  <p:pic>
                    <p:nvPicPr>
                      <p:cNvPr id="98313" name="Object 9">
                        <a:extLst>
                          <a:ext uri="{FF2B5EF4-FFF2-40B4-BE49-F238E27FC236}">
                            <a16:creationId xmlns:a16="http://schemas.microsoft.com/office/drawing/2014/main" id="{2B3AB555-572D-4A6C-BE48-B7907F6295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4739" y="5262176"/>
                        <a:ext cx="1485900" cy="53022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AutoShape 8">
            <a:extLst>
              <a:ext uri="{FF2B5EF4-FFF2-40B4-BE49-F238E27FC236}">
                <a16:creationId xmlns:a16="http://schemas.microsoft.com/office/drawing/2014/main" id="{225E00E5-94F6-48F6-9EDD-2B4BB7681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0042" y="5382827"/>
            <a:ext cx="863600" cy="288925"/>
          </a:xfrm>
          <a:prstGeom prst="rightArrow">
            <a:avLst>
              <a:gd name="adj1" fmla="val 50000"/>
              <a:gd name="adj2" fmla="val 74725"/>
            </a:avLst>
          </a:prstGeom>
          <a:solidFill>
            <a:schemeClr val="accent1"/>
          </a:solidFill>
          <a:ln w="9525" cmpd="sng">
            <a:solidFill>
              <a:srgbClr val="00FF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graphicFrame>
        <p:nvGraphicFramePr>
          <p:cNvPr id="52" name="Object 14">
            <a:extLst>
              <a:ext uri="{FF2B5EF4-FFF2-40B4-BE49-F238E27FC236}">
                <a16:creationId xmlns:a16="http://schemas.microsoft.com/office/drawing/2014/main" id="{E945346A-B0E2-41C2-B1B7-B8EBCD0F93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651692"/>
              </p:ext>
            </p:extLst>
          </p:nvPr>
        </p:nvGraphicFramePr>
        <p:xfrm>
          <a:off x="6196013" y="1185863"/>
          <a:ext cx="17780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39600" imgH="279360" progId="Equation.DSMT4">
                  <p:embed/>
                </p:oleObj>
              </mc:Choice>
              <mc:Fallback>
                <p:oleObj name="Equation" r:id="rId15" imgW="939600" imgH="279360" progId="Equation.DSMT4">
                  <p:embed/>
                  <p:pic>
                    <p:nvPicPr>
                      <p:cNvPr id="33" name="Object 14">
                        <a:extLst>
                          <a:ext uri="{FF2B5EF4-FFF2-40B4-BE49-F238E27FC236}">
                            <a16:creationId xmlns:a16="http://schemas.microsoft.com/office/drawing/2014/main" id="{7853264B-00EC-4AD8-ABA3-DD89A7FA64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1185863"/>
                        <a:ext cx="1778000" cy="5699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4B218D3-841F-41ED-BFAA-23DE73CFCEAD}"/>
              </a:ext>
            </a:extLst>
          </p:cNvPr>
          <p:cNvSpPr/>
          <p:nvPr/>
        </p:nvSpPr>
        <p:spPr>
          <a:xfrm>
            <a:off x="4539916" y="5663709"/>
            <a:ext cx="834189" cy="8804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55F905-5236-454E-872C-AB5348837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6A5FCCC-952A-4E57-9ADC-28C500A0A8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845964"/>
              </p:ext>
            </p:extLst>
          </p:nvPr>
        </p:nvGraphicFramePr>
        <p:xfrm>
          <a:off x="4742169" y="1877019"/>
          <a:ext cx="1202967" cy="103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02960" imgH="863280" progId="Equation.DSMT4">
                  <p:embed/>
                </p:oleObj>
              </mc:Choice>
              <mc:Fallback>
                <p:oleObj name="Equation" r:id="rId17" imgW="100296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42169" y="1877019"/>
                        <a:ext cx="1202967" cy="103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64B36C-82D7-44DC-BC2E-0A5E7239D54A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267200" y="2394194"/>
            <a:ext cx="474969" cy="7160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598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2" y="903720"/>
            <a:ext cx="5763718" cy="161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、射线声学的基本方程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强度方程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强度方程的物理意义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DBEAFC-CD26-475D-9E99-4391BBB8F215}"/>
              </a:ext>
            </a:extLst>
          </p:cNvPr>
          <p:cNvCxnSpPr>
            <a:cxnSpLocks/>
          </p:cNvCxnSpPr>
          <p:nvPr/>
        </p:nvCxnSpPr>
        <p:spPr>
          <a:xfrm>
            <a:off x="6096000" y="2259106"/>
            <a:ext cx="0" cy="425695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Object 14">
            <a:extLst>
              <a:ext uri="{FF2B5EF4-FFF2-40B4-BE49-F238E27FC236}">
                <a16:creationId xmlns:a16="http://schemas.microsoft.com/office/drawing/2014/main" id="{E945346A-B0E2-41C2-B1B7-B8EBCD0F93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6013" y="1185863"/>
          <a:ext cx="17780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279360" progId="Equation.DSMT4">
                  <p:embed/>
                </p:oleObj>
              </mc:Choice>
              <mc:Fallback>
                <p:oleObj name="Equation" r:id="rId2" imgW="939600" imgH="279360" progId="Equation.DSMT4">
                  <p:embed/>
                  <p:pic>
                    <p:nvPicPr>
                      <p:cNvPr id="52" name="Object 14">
                        <a:extLst>
                          <a:ext uri="{FF2B5EF4-FFF2-40B4-BE49-F238E27FC236}">
                            <a16:creationId xmlns:a16="http://schemas.microsoft.com/office/drawing/2014/main" id="{E945346A-B0E2-41C2-B1B7-B8EBCD0F93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1185863"/>
                        <a:ext cx="1778000" cy="5699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9B2D5627-A12A-4492-8B63-D154F82DC1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521072"/>
              </p:ext>
            </p:extLst>
          </p:nvPr>
        </p:nvGraphicFramePr>
        <p:xfrm>
          <a:off x="3712063" y="2738344"/>
          <a:ext cx="13636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48481" imgH="216841" progId="Equation.3">
                  <p:embed/>
                </p:oleObj>
              </mc:Choice>
              <mc:Fallback>
                <p:oleObj r:id="rId4" imgW="548481" imgH="216841" progId="Equation.3">
                  <p:embed/>
                  <p:pic>
                    <p:nvPicPr>
                      <p:cNvPr id="99336" name="Object 8">
                        <a:extLst>
                          <a:ext uri="{FF2B5EF4-FFF2-40B4-BE49-F238E27FC236}">
                            <a16:creationId xmlns:a16="http://schemas.microsoft.com/office/drawing/2014/main" id="{03B02B23-D211-4ED8-BC60-4616EAACE9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2063" y="2738344"/>
                        <a:ext cx="13636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77BFCA8B-A7FD-4FDE-BF04-3DD0E2E510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3942"/>
              </p:ext>
            </p:extLst>
          </p:nvPr>
        </p:nvGraphicFramePr>
        <p:xfrm>
          <a:off x="647193" y="2747869"/>
          <a:ext cx="14859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76624" imgH="242563" progId="Equation.DSMT4">
                  <p:embed/>
                </p:oleObj>
              </mc:Choice>
              <mc:Fallback>
                <p:oleObj r:id="rId6" imgW="676624" imgH="242563" progId="Equation.DSMT4">
                  <p:embed/>
                  <p:pic>
                    <p:nvPicPr>
                      <p:cNvPr id="50" name="Object 9">
                        <a:extLst>
                          <a:ext uri="{FF2B5EF4-FFF2-40B4-BE49-F238E27FC236}">
                            <a16:creationId xmlns:a16="http://schemas.microsoft.com/office/drawing/2014/main" id="{B65F119B-BE6D-4AA9-ACF6-C701EAEA6E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193" y="2747869"/>
                        <a:ext cx="1485900" cy="53022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右 2">
            <a:extLst>
              <a:ext uri="{FF2B5EF4-FFF2-40B4-BE49-F238E27FC236}">
                <a16:creationId xmlns:a16="http://schemas.microsoft.com/office/drawing/2014/main" id="{9AB8E7D3-9083-4BFB-BC41-D58B71318A5B}"/>
              </a:ext>
            </a:extLst>
          </p:cNvPr>
          <p:cNvSpPr/>
          <p:nvPr/>
        </p:nvSpPr>
        <p:spPr>
          <a:xfrm>
            <a:off x="2616482" y="2850776"/>
            <a:ext cx="686793" cy="4273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CE01DC-C180-4ED9-9237-83E0A9E92399}"/>
              </a:ext>
            </a:extLst>
          </p:cNvPr>
          <p:cNvSpPr/>
          <p:nvPr/>
        </p:nvSpPr>
        <p:spPr>
          <a:xfrm>
            <a:off x="262058" y="3579907"/>
            <a:ext cx="5724644" cy="5533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声强矢量散度等于零，声强场为管量场。</a:t>
            </a:r>
          </a:p>
        </p:txBody>
      </p:sp>
      <p:graphicFrame>
        <p:nvGraphicFramePr>
          <p:cNvPr id="19" name="Object 7">
            <a:extLst>
              <a:ext uri="{FF2B5EF4-FFF2-40B4-BE49-F238E27FC236}">
                <a16:creationId xmlns:a16="http://schemas.microsoft.com/office/drawing/2014/main" id="{01E8B358-FC47-4723-A8E0-D8CC570848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040568"/>
              </p:ext>
            </p:extLst>
          </p:nvPr>
        </p:nvGraphicFramePr>
        <p:xfrm>
          <a:off x="1231226" y="5358320"/>
          <a:ext cx="32067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01614" imgH="293501" progId="Equation.3">
                  <p:embed/>
                </p:oleObj>
              </mc:Choice>
              <mc:Fallback>
                <p:oleObj r:id="rId8" imgW="1301614" imgH="293501" progId="Equation.3">
                  <p:embed/>
                  <p:pic>
                    <p:nvPicPr>
                      <p:cNvPr id="99335" name="Object 7">
                        <a:extLst>
                          <a:ext uri="{FF2B5EF4-FFF2-40B4-BE49-F238E27FC236}">
                            <a16:creationId xmlns:a16="http://schemas.microsoft.com/office/drawing/2014/main" id="{755B4EB8-C996-4D30-B9C2-AA3BEA5A45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226" y="5358320"/>
                        <a:ext cx="320675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EA4CCF5C-61D6-4DB7-93B0-EA066617820B}"/>
              </a:ext>
            </a:extLst>
          </p:cNvPr>
          <p:cNvSpPr/>
          <p:nvPr/>
        </p:nvSpPr>
        <p:spPr>
          <a:xfrm>
            <a:off x="332282" y="4503456"/>
            <a:ext cx="1415772" cy="5533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高斯公式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CE234F94-70EB-4724-B851-0BC52B57F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361" y="2137433"/>
            <a:ext cx="2906033" cy="164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zh-CN" altLang="en-US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考虑如下情况：</a:t>
            </a:r>
            <a:endParaRPr lang="en-US" altLang="zh-CN" sz="20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spcBef>
                <a:spcPct val="0"/>
              </a:spcBef>
            </a:pP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封闭面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选沿声线管束的侧面和管束两端的横截面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，侧面的面积分为零，则：</a:t>
            </a: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144CDEEB-6F7E-44C3-A65C-6B0F1BDEE5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097787"/>
              </p:ext>
            </p:extLst>
          </p:nvPr>
        </p:nvGraphicFramePr>
        <p:xfrm>
          <a:off x="6214667" y="2265120"/>
          <a:ext cx="2778854" cy="148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105848" imgH="2000000" progId="Paint.Picture">
                  <p:embed/>
                </p:oleObj>
              </mc:Choice>
              <mc:Fallback>
                <p:oleObj r:id="rId10" imgW="4105848" imgH="2000000" progId="Paint.Picture">
                  <p:embed/>
                  <p:pic>
                    <p:nvPicPr>
                      <p:cNvPr id="102409" name="Object 9">
                        <a:extLst>
                          <a:ext uri="{FF2B5EF4-FFF2-40B4-BE49-F238E27FC236}">
                            <a16:creationId xmlns:a16="http://schemas.microsoft.com/office/drawing/2014/main" id="{CB2E1842-3D73-43F7-9660-73BE4E13D8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4667" y="2265120"/>
                        <a:ext cx="2778854" cy="148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8">
            <a:extLst>
              <a:ext uri="{FF2B5EF4-FFF2-40B4-BE49-F238E27FC236}">
                <a16:creationId xmlns:a16="http://schemas.microsoft.com/office/drawing/2014/main" id="{047FAE1B-0991-441F-BDA1-B7443C05B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774946"/>
              </p:ext>
            </p:extLst>
          </p:nvPr>
        </p:nvGraphicFramePr>
        <p:xfrm>
          <a:off x="6414129" y="4221818"/>
          <a:ext cx="3119768" cy="1556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62040" imgH="787320" progId="Equation.DSMT4">
                  <p:embed/>
                </p:oleObj>
              </mc:Choice>
              <mc:Fallback>
                <p:oleObj name="Equation" r:id="rId12" imgW="1562040" imgH="787320" progId="Equation.DSMT4">
                  <p:embed/>
                  <p:pic>
                    <p:nvPicPr>
                      <p:cNvPr id="100360" name="Object 8">
                        <a:extLst>
                          <a:ext uri="{FF2B5EF4-FFF2-40B4-BE49-F238E27FC236}">
                            <a16:creationId xmlns:a16="http://schemas.microsoft.com/office/drawing/2014/main" id="{BBA0DD5C-A94F-4313-BF33-9D233FFF19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4129" y="4221818"/>
                        <a:ext cx="3119768" cy="1556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AutoShape 15">
            <a:extLst>
              <a:ext uri="{FF2B5EF4-FFF2-40B4-BE49-F238E27FC236}">
                <a16:creationId xmlns:a16="http://schemas.microsoft.com/office/drawing/2014/main" id="{4AC864E7-0984-4E7C-9782-500835DB6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276" y="6272093"/>
            <a:ext cx="2843600" cy="465196"/>
          </a:xfrm>
          <a:prstGeom prst="wedgeRectCallout">
            <a:avLst>
              <a:gd name="adj1" fmla="val 40691"/>
              <a:gd name="adj2" fmla="val -158005"/>
            </a:avLst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由声源辐射声功率确定</a:t>
            </a:r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56CAB6B9-0685-4E88-850D-D2F8334C5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7384" y="2753818"/>
            <a:ext cx="7067424" cy="20534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en-US" altLang="zh-CN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声能沿声线管束传播，端面大，声能分散，声强值减小；端面小，声能集中，声强值增加，因而声强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与面积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成反比。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400" b="1" i="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②管束内的声能不会通过侧面向外扩散。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6A484F-862A-43F8-9DC5-E8CD7CA8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6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2" y="903720"/>
            <a:ext cx="5763718" cy="161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、射线声学的基本方程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强度方程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声强的基本公式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DBEAFC-CD26-475D-9E99-4391BBB8F215}"/>
              </a:ext>
            </a:extLst>
          </p:cNvPr>
          <p:cNvCxnSpPr>
            <a:cxnSpLocks/>
          </p:cNvCxnSpPr>
          <p:nvPr/>
        </p:nvCxnSpPr>
        <p:spPr>
          <a:xfrm>
            <a:off x="6096000" y="2259106"/>
            <a:ext cx="0" cy="425695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Object 14">
            <a:extLst>
              <a:ext uri="{FF2B5EF4-FFF2-40B4-BE49-F238E27FC236}">
                <a16:creationId xmlns:a16="http://schemas.microsoft.com/office/drawing/2014/main" id="{E945346A-B0E2-41C2-B1B7-B8EBCD0F93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6013" y="1185863"/>
          <a:ext cx="17780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279360" progId="Equation.DSMT4">
                  <p:embed/>
                </p:oleObj>
              </mc:Choice>
              <mc:Fallback>
                <p:oleObj name="Equation" r:id="rId2" imgW="939600" imgH="279360" progId="Equation.DSMT4">
                  <p:embed/>
                  <p:pic>
                    <p:nvPicPr>
                      <p:cNvPr id="52" name="Object 14">
                        <a:extLst>
                          <a:ext uri="{FF2B5EF4-FFF2-40B4-BE49-F238E27FC236}">
                            <a16:creationId xmlns:a16="http://schemas.microsoft.com/office/drawing/2014/main" id="{E945346A-B0E2-41C2-B1B7-B8EBCD0F93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1185863"/>
                        <a:ext cx="1778000" cy="5699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3">
            <a:extLst>
              <a:ext uri="{FF2B5EF4-FFF2-40B4-BE49-F238E27FC236}">
                <a16:creationId xmlns:a16="http://schemas.microsoft.com/office/drawing/2014/main" id="{E6BBCEB7-72E1-41F6-AA29-F0899EB51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88" y="2549634"/>
            <a:ext cx="5232618" cy="1058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设声源单位立体角的辐射声功率为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，则声强为：</a:t>
            </a:r>
            <a:r>
              <a:rPr lang="zh-CN" altLang="en-US" sz="2000" b="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35ED6683-5055-46CD-B297-D4F32C2BE4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895026"/>
              </p:ext>
            </p:extLst>
          </p:nvPr>
        </p:nvGraphicFramePr>
        <p:xfrm>
          <a:off x="667612" y="3655399"/>
          <a:ext cx="1344903" cy="860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87259" imgH="370228" progId="Equation.3">
                  <p:embed/>
                </p:oleObj>
              </mc:Choice>
              <mc:Fallback>
                <p:oleObj r:id="rId4" imgW="587259" imgH="370228" progId="Equation.3">
                  <p:embed/>
                  <p:pic>
                    <p:nvPicPr>
                      <p:cNvPr id="102404" name="Object 4">
                        <a:extLst>
                          <a:ext uri="{FF2B5EF4-FFF2-40B4-BE49-F238E27FC236}">
                            <a16:creationId xmlns:a16="http://schemas.microsoft.com/office/drawing/2014/main" id="{E51B8F3C-ED9D-4A62-9CEE-8CDA397046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12" y="3655399"/>
                        <a:ext cx="1344903" cy="860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Oval 5">
            <a:extLst>
              <a:ext uri="{FF2B5EF4-FFF2-40B4-BE49-F238E27FC236}">
                <a16:creationId xmlns:a16="http://schemas.microsoft.com/office/drawing/2014/main" id="{851B62F4-3AE2-462F-8CFB-5BCE08BC5FC7}"/>
              </a:ext>
            </a:extLst>
          </p:cNvPr>
          <p:cNvSpPr>
            <a:spLocks noChangeArrowheads="1"/>
          </p:cNvSpPr>
          <p:nvPr/>
        </p:nvSpPr>
        <p:spPr bwMode="auto">
          <a:xfrm rot="984436">
            <a:off x="1333167" y="3562678"/>
            <a:ext cx="656119" cy="1107546"/>
          </a:xfrm>
          <a:prstGeom prst="ellipse">
            <a:avLst/>
          </a:prstGeom>
          <a:noFill/>
          <a:ln w="25400" cmpd="sng">
            <a:solidFill>
              <a:srgbClr val="00FF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AutoShape 9">
                <a:extLst>
                  <a:ext uri="{FF2B5EF4-FFF2-40B4-BE49-F238E27FC236}">
                    <a16:creationId xmlns:a16="http://schemas.microsoft.com/office/drawing/2014/main" id="{ED8C5A9B-0AAF-4998-B8D6-74FDB6701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958" y="3386028"/>
                <a:ext cx="3062156" cy="699384"/>
              </a:xfrm>
              <a:prstGeom prst="wedgeRectCallout">
                <a:avLst>
                  <a:gd name="adj1" fmla="val -58985"/>
                  <a:gd name="adj2" fmla="val 55369"/>
                </a:avLst>
              </a:prstGeom>
              <a:noFill/>
              <a:ln w="25400">
                <a:solidFill>
                  <a:srgbClr val="00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4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</m:t>
                    </m:r>
                    <m:r>
                      <m:rPr>
                        <m:sty m:val="p"/>
                      </m:rP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Ω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所张截面积微元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𝑑𝑆</m:t>
                    </m:r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8" name="AutoShape 9">
                <a:extLst>
                  <a:ext uri="{FF2B5EF4-FFF2-40B4-BE49-F238E27FC236}">
                    <a16:creationId xmlns:a16="http://schemas.microsoft.com/office/drawing/2014/main" id="{ED8C5A9B-0AAF-4998-B8D6-74FDB6701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2958" y="3386028"/>
                <a:ext cx="3062156" cy="699384"/>
              </a:xfrm>
              <a:prstGeom prst="wedgeRectCallout">
                <a:avLst>
                  <a:gd name="adj1" fmla="val -58985"/>
                  <a:gd name="adj2" fmla="val 55369"/>
                </a:avLst>
              </a:prstGeom>
              <a:blipFill>
                <a:blip r:embed="rId7"/>
                <a:stretch>
                  <a:fillRect/>
                </a:stretch>
              </a:blipFill>
              <a:ln w="25400">
                <a:solidFill>
                  <a:srgbClr val="00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E455862-7851-4CD7-A45B-4CD725F893B4}"/>
                  </a:ext>
                </a:extLst>
              </p:cNvPr>
              <p:cNvSpPr/>
              <p:nvPr/>
            </p:nvSpPr>
            <p:spPr>
              <a:xfrm>
                <a:off x="440406" y="4804828"/>
                <a:ext cx="5301521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如果声源为轴对称，考虑掠射角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两条声线绕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z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轴一周，得到声线管束，它所张的立体角为： </a:t>
                </a:r>
                <a:endParaRPr 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E455862-7851-4CD7-A45B-4CD725F893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06" y="4804828"/>
                <a:ext cx="5301521" cy="1015663"/>
              </a:xfrm>
              <a:prstGeom prst="rect">
                <a:avLst/>
              </a:prstGeom>
              <a:blipFill>
                <a:blip r:embed="rId8"/>
                <a:stretch>
                  <a:fillRect l="-1149" t="-2994" b="-9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16">
            <a:extLst>
              <a:ext uri="{FF2B5EF4-FFF2-40B4-BE49-F238E27FC236}">
                <a16:creationId xmlns:a16="http://schemas.microsoft.com/office/drawing/2014/main" id="{24D93DF7-96E0-4CF7-A03D-75DBB1AC00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356321"/>
              </p:ext>
            </p:extLst>
          </p:nvPr>
        </p:nvGraphicFramePr>
        <p:xfrm>
          <a:off x="1325298" y="5683269"/>
          <a:ext cx="3606466" cy="998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512613" imgH="419464" progId="Equation.3">
                  <p:embed/>
                </p:oleObj>
              </mc:Choice>
              <mc:Fallback>
                <p:oleObj r:id="rId9" imgW="1512613" imgH="419464" progId="Equation.3">
                  <p:embed/>
                  <p:pic>
                    <p:nvPicPr>
                      <p:cNvPr id="102416" name="Object 16">
                        <a:extLst>
                          <a:ext uri="{FF2B5EF4-FFF2-40B4-BE49-F238E27FC236}">
                            <a16:creationId xmlns:a16="http://schemas.microsoft.com/office/drawing/2014/main" id="{A09C381F-5D18-417A-9488-E810F0E599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298" y="5683269"/>
                        <a:ext cx="3606466" cy="998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1104DC62-366F-4685-B166-3B0AA4F45831}"/>
              </a:ext>
            </a:extLst>
          </p:cNvPr>
          <p:cNvSpPr txBox="1"/>
          <p:nvPr/>
        </p:nvSpPr>
        <p:spPr>
          <a:xfrm>
            <a:off x="388687" y="6374412"/>
            <a:ext cx="1117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单位距离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7E713D7-1EF6-4169-9FDC-6F0D0D275243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506511" y="6460762"/>
            <a:ext cx="697043" cy="98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5130FAC7-82A3-4F20-9F3D-75C71240C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6012" y="2149751"/>
                <a:ext cx="5763709" cy="481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40000"/>
                  </a:lnSpc>
                  <a:spcBef>
                    <a:spcPct val="0"/>
                  </a:spcBef>
                </a:pPr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当声线到达观察点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Ω</m:t>
                    </m:r>
                  </m:oMath>
                </a14:m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所张的垂直于声线的横截面积：</a:t>
                </a:r>
                <a:r>
                  <a:rPr lang="zh-CN" altLang="en-US" sz="2000" b="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5130FAC7-82A3-4F20-9F3D-75C71240C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96012" y="2149751"/>
                <a:ext cx="5763709" cy="481023"/>
              </a:xfrm>
              <a:prstGeom prst="rect">
                <a:avLst/>
              </a:prstGeom>
              <a:blipFill>
                <a:blip r:embed="rId11"/>
                <a:stretch>
                  <a:fillRect l="-1057" r="-1057" b="-1101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Object 4">
            <a:extLst>
              <a:ext uri="{FF2B5EF4-FFF2-40B4-BE49-F238E27FC236}">
                <a16:creationId xmlns:a16="http://schemas.microsoft.com/office/drawing/2014/main" id="{76C2F577-F702-47B6-9AE7-0DF354B3EA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443161"/>
              </p:ext>
            </p:extLst>
          </p:nvPr>
        </p:nvGraphicFramePr>
        <p:xfrm>
          <a:off x="7083425" y="2936875"/>
          <a:ext cx="3683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52480" imgH="253800" progId="Equation.DSMT4">
                  <p:embed/>
                </p:oleObj>
              </mc:Choice>
              <mc:Fallback>
                <p:oleObj name="Equation" r:id="rId12" imgW="1752480" imgH="253800" progId="Equation.DSMT4">
                  <p:embed/>
                  <p:pic>
                    <p:nvPicPr>
                      <p:cNvPr id="103428" name="Object 4">
                        <a:extLst>
                          <a:ext uri="{FF2B5EF4-FFF2-40B4-BE49-F238E27FC236}">
                            <a16:creationId xmlns:a16="http://schemas.microsoft.com/office/drawing/2014/main" id="{AA9D46D3-F0D4-46EB-8216-A94FC4DA64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3425" y="2936875"/>
                        <a:ext cx="3683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6">
                <a:extLst>
                  <a:ext uri="{FF2B5EF4-FFF2-40B4-BE49-F238E27FC236}">
                    <a16:creationId xmlns:a16="http://schemas.microsoft.com/office/drawing/2014/main" id="{CDE2FE6D-EF8B-4050-9400-262086530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8184" y="3540287"/>
                <a:ext cx="4805875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40000"/>
                  </a:lnSpc>
                  <a:spcBef>
                    <a:spcPct val="0"/>
                  </a:spcBef>
                </a:pPr>
                <a:r>
                  <a:rPr lang="en-US" altLang="zh-CN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若已知起始掠射角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的声线轨迹方程：</a:t>
                </a:r>
                <a:r>
                  <a:rPr lang="zh-CN" altLang="en-US" sz="2000" b="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1" name="Rectangle 6">
                <a:extLst>
                  <a:ext uri="{FF2B5EF4-FFF2-40B4-BE49-F238E27FC236}">
                    <a16:creationId xmlns:a16="http://schemas.microsoft.com/office/drawing/2014/main" id="{CDE2FE6D-EF8B-4050-9400-262086530E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8184" y="3540287"/>
                <a:ext cx="4805875" cy="571500"/>
              </a:xfrm>
              <a:prstGeom prst="rect">
                <a:avLst/>
              </a:prstGeom>
              <a:blipFill>
                <a:blip r:embed="rId16"/>
                <a:stretch>
                  <a:fillRect b="-21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Object 8">
            <a:extLst>
              <a:ext uri="{FF2B5EF4-FFF2-40B4-BE49-F238E27FC236}">
                <a16:creationId xmlns:a16="http://schemas.microsoft.com/office/drawing/2014/main" id="{B016D2EF-C8AE-4AD7-AB04-AC63B52BBD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696654"/>
              </p:ext>
            </p:extLst>
          </p:nvPr>
        </p:nvGraphicFramePr>
        <p:xfrm>
          <a:off x="7870825" y="4092575"/>
          <a:ext cx="17367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25480" imgH="253800" progId="Equation.DSMT4">
                  <p:embed/>
                </p:oleObj>
              </mc:Choice>
              <mc:Fallback>
                <p:oleObj name="Equation" r:id="rId17" imgW="825480" imgH="253800" progId="Equation.DSMT4">
                  <p:embed/>
                  <p:pic>
                    <p:nvPicPr>
                      <p:cNvPr id="103432" name="Object 8">
                        <a:extLst>
                          <a:ext uri="{FF2B5EF4-FFF2-40B4-BE49-F238E27FC236}">
                            <a16:creationId xmlns:a16="http://schemas.microsoft.com/office/drawing/2014/main" id="{8E8E950F-1F04-4C5F-BB4E-4B2DF136F1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0825" y="4092575"/>
                        <a:ext cx="17367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10">
                <a:extLst>
                  <a:ext uri="{FF2B5EF4-FFF2-40B4-BE49-F238E27FC236}">
                    <a16:creationId xmlns:a16="http://schemas.microsoft.com/office/drawing/2014/main" id="{BCC550D9-74B6-437B-91A1-F9217D3B2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5999" y="4763407"/>
                <a:ext cx="5232618" cy="481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40000"/>
                  </a:lnSpc>
                  <a:spcBef>
                    <a:spcPct val="0"/>
                  </a:spcBef>
                </a:pPr>
                <a:r>
                  <a:rPr lang="en-US" altLang="zh-CN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掠射角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时水平距离增量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𝑑𝑥</m:t>
                    </m:r>
                  </m:oMath>
                </a14:m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000" b="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3" name="Rectangle 10">
                <a:extLst>
                  <a:ext uri="{FF2B5EF4-FFF2-40B4-BE49-F238E27FC236}">
                    <a16:creationId xmlns:a16="http://schemas.microsoft.com/office/drawing/2014/main" id="{BCC550D9-74B6-437B-91A1-F9217D3B20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5999" y="4763407"/>
                <a:ext cx="5232618" cy="481023"/>
              </a:xfrm>
              <a:prstGeom prst="rect">
                <a:avLst/>
              </a:prstGeom>
              <a:blipFill>
                <a:blip r:embed="rId19"/>
                <a:stretch>
                  <a:fillRect b="-215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Object 14">
            <a:extLst>
              <a:ext uri="{FF2B5EF4-FFF2-40B4-BE49-F238E27FC236}">
                <a16:creationId xmlns:a16="http://schemas.microsoft.com/office/drawing/2014/main" id="{B0F402AA-DCE1-43F1-9215-D989AD0E82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225823"/>
              </p:ext>
            </p:extLst>
          </p:nvPr>
        </p:nvGraphicFramePr>
        <p:xfrm>
          <a:off x="6167206" y="5572125"/>
          <a:ext cx="2236788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02960" imgH="482400" progId="Equation.DSMT4">
                  <p:embed/>
                </p:oleObj>
              </mc:Choice>
              <mc:Fallback>
                <p:oleObj name="Equation" r:id="rId20" imgW="1002960" imgH="482400" progId="Equation.DSMT4">
                  <p:embed/>
                  <p:pic>
                    <p:nvPicPr>
                      <p:cNvPr id="103438" name="Object 14">
                        <a:extLst>
                          <a:ext uri="{FF2B5EF4-FFF2-40B4-BE49-F238E27FC236}">
                            <a16:creationId xmlns:a16="http://schemas.microsoft.com/office/drawing/2014/main" id="{90A87EAC-B383-46AC-BBA5-73520B7200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206" y="5572125"/>
                        <a:ext cx="2236788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5">
            <a:extLst>
              <a:ext uri="{FF2B5EF4-FFF2-40B4-BE49-F238E27FC236}">
                <a16:creationId xmlns:a16="http://schemas.microsoft.com/office/drawing/2014/main" id="{25F9A8BD-A74E-41A3-9744-914398947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907027"/>
              </p:ext>
            </p:extLst>
          </p:nvPr>
        </p:nvGraphicFramePr>
        <p:xfrm>
          <a:off x="8541121" y="5627688"/>
          <a:ext cx="360203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90640" imgH="507960" progId="Equation.DSMT4">
                  <p:embed/>
                </p:oleObj>
              </mc:Choice>
              <mc:Fallback>
                <p:oleObj name="Equation" r:id="rId22" imgW="1790640" imgH="507960" progId="Equation.DSMT4">
                  <p:embed/>
                  <p:pic>
                    <p:nvPicPr>
                      <p:cNvPr id="103439" name="Object 15">
                        <a:extLst>
                          <a:ext uri="{FF2B5EF4-FFF2-40B4-BE49-F238E27FC236}">
                            <a16:creationId xmlns:a16="http://schemas.microsoft.com/office/drawing/2014/main" id="{A28605EB-69BD-4348-A85C-3AC0DA16DF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1121" y="5627688"/>
                        <a:ext cx="3602037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273FBC05-598B-4D41-B5D5-04389089A03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09796" y="113721"/>
            <a:ext cx="3054080" cy="2014531"/>
          </a:xfrm>
          <a:prstGeom prst="rect">
            <a:avLst/>
          </a:prstGeom>
        </p:spPr>
      </p:pic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CE2602-5E46-4CF8-93C7-90EC0A53F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29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2" y="903720"/>
            <a:ext cx="5763718" cy="161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、射线声学的基本方程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强度方程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声强的基本公式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DBEAFC-CD26-475D-9E99-4391BBB8F215}"/>
              </a:ext>
            </a:extLst>
          </p:cNvPr>
          <p:cNvCxnSpPr>
            <a:cxnSpLocks/>
          </p:cNvCxnSpPr>
          <p:nvPr/>
        </p:nvCxnSpPr>
        <p:spPr>
          <a:xfrm>
            <a:off x="6096000" y="2259106"/>
            <a:ext cx="0" cy="425695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Object 14">
            <a:extLst>
              <a:ext uri="{FF2B5EF4-FFF2-40B4-BE49-F238E27FC236}">
                <a16:creationId xmlns:a16="http://schemas.microsoft.com/office/drawing/2014/main" id="{E945346A-B0E2-41C2-B1B7-B8EBCD0F93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6013" y="1185863"/>
          <a:ext cx="17780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279360" progId="Equation.DSMT4">
                  <p:embed/>
                </p:oleObj>
              </mc:Choice>
              <mc:Fallback>
                <p:oleObj name="Equation" r:id="rId2" imgW="939600" imgH="279360" progId="Equation.DSMT4">
                  <p:embed/>
                  <p:pic>
                    <p:nvPicPr>
                      <p:cNvPr id="52" name="Object 14">
                        <a:extLst>
                          <a:ext uri="{FF2B5EF4-FFF2-40B4-BE49-F238E27FC236}">
                            <a16:creationId xmlns:a16="http://schemas.microsoft.com/office/drawing/2014/main" id="{E945346A-B0E2-41C2-B1B7-B8EBCD0F93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1185863"/>
                        <a:ext cx="1778000" cy="5699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35ED6683-5055-46CD-B297-D4F32C2BE4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940747"/>
              </p:ext>
            </p:extLst>
          </p:nvPr>
        </p:nvGraphicFramePr>
        <p:xfrm>
          <a:off x="575489" y="2863308"/>
          <a:ext cx="1344903" cy="860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87259" imgH="370228" progId="Equation.3">
                  <p:embed/>
                </p:oleObj>
              </mc:Choice>
              <mc:Fallback>
                <p:oleObj r:id="rId4" imgW="587259" imgH="370228" progId="Equation.3">
                  <p:embed/>
                  <p:pic>
                    <p:nvPicPr>
                      <p:cNvPr id="18" name="Object 4">
                        <a:extLst>
                          <a:ext uri="{FF2B5EF4-FFF2-40B4-BE49-F238E27FC236}">
                            <a16:creationId xmlns:a16="http://schemas.microsoft.com/office/drawing/2014/main" id="{35ED6683-5055-46CD-B297-D4F32C2BE4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89" y="2863308"/>
                        <a:ext cx="1344903" cy="860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>
            <a:extLst>
              <a:ext uri="{FF2B5EF4-FFF2-40B4-BE49-F238E27FC236}">
                <a16:creationId xmlns:a16="http://schemas.microsoft.com/office/drawing/2014/main" id="{28D0F966-0F3E-44F0-B567-FAA8318D4D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16665"/>
              </p:ext>
            </p:extLst>
          </p:nvPr>
        </p:nvGraphicFramePr>
        <p:xfrm>
          <a:off x="2883451" y="2355352"/>
          <a:ext cx="3140923" cy="854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88189" imgH="431987" progId="Equation.3">
                  <p:embed/>
                </p:oleObj>
              </mc:Choice>
              <mc:Fallback>
                <p:oleObj r:id="rId6" imgW="1588189" imgH="431987" progId="Equation.3">
                  <p:embed/>
                  <p:pic>
                    <p:nvPicPr>
                      <p:cNvPr id="104451" name="Object 3">
                        <a:extLst>
                          <a:ext uri="{FF2B5EF4-FFF2-40B4-BE49-F238E27FC236}">
                            <a16:creationId xmlns:a16="http://schemas.microsoft.com/office/drawing/2014/main" id="{2DFCD0BC-68AB-434F-BD5E-7D65BE2581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3451" y="2355352"/>
                        <a:ext cx="3140923" cy="854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">
            <a:extLst>
              <a:ext uri="{FF2B5EF4-FFF2-40B4-BE49-F238E27FC236}">
                <a16:creationId xmlns:a16="http://schemas.microsoft.com/office/drawing/2014/main" id="{B03A0899-4C23-4927-B2D8-5B5FB06B37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391837"/>
              </p:ext>
            </p:extLst>
          </p:nvPr>
        </p:nvGraphicFramePr>
        <p:xfrm>
          <a:off x="2374711" y="3426581"/>
          <a:ext cx="3649663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52480" imgH="507960" progId="Equation.DSMT4">
                  <p:embed/>
                </p:oleObj>
              </mc:Choice>
              <mc:Fallback>
                <p:oleObj name="Equation" r:id="rId8" imgW="1752480" imgH="507960" progId="Equation.DSMT4">
                  <p:embed/>
                  <p:pic>
                    <p:nvPicPr>
                      <p:cNvPr id="104454" name="Object 6">
                        <a:extLst>
                          <a:ext uri="{FF2B5EF4-FFF2-40B4-BE49-F238E27FC236}">
                            <a16:creationId xmlns:a16="http://schemas.microsoft.com/office/drawing/2014/main" id="{4BC898DC-188A-4CFC-BC0E-A6EDFA7048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711" y="3426581"/>
                        <a:ext cx="3649663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AutoShape 8">
            <a:extLst>
              <a:ext uri="{FF2B5EF4-FFF2-40B4-BE49-F238E27FC236}">
                <a16:creationId xmlns:a16="http://schemas.microsoft.com/office/drawing/2014/main" id="{AC901899-C199-4340-9B53-56B6DF467092}"/>
              </a:ext>
            </a:extLst>
          </p:cNvPr>
          <p:cNvSpPr>
            <a:spLocks noChangeArrowheads="1"/>
          </p:cNvSpPr>
          <p:nvPr/>
        </p:nvSpPr>
        <p:spPr bwMode="auto">
          <a:xfrm rot="20245325">
            <a:off x="1885213" y="2858233"/>
            <a:ext cx="898161" cy="179632"/>
          </a:xfrm>
          <a:prstGeom prst="left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 cmpd="sng">
            <a:solidFill>
              <a:srgbClr val="00FF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2" name="AutoShape 9">
            <a:extLst>
              <a:ext uri="{FF2B5EF4-FFF2-40B4-BE49-F238E27FC236}">
                <a16:creationId xmlns:a16="http://schemas.microsoft.com/office/drawing/2014/main" id="{BE3D3F79-70A7-496D-B1AC-719E92A7A415}"/>
              </a:ext>
            </a:extLst>
          </p:cNvPr>
          <p:cNvSpPr>
            <a:spLocks noChangeArrowheads="1"/>
          </p:cNvSpPr>
          <p:nvPr/>
        </p:nvSpPr>
        <p:spPr bwMode="auto">
          <a:xfrm rot="1345325">
            <a:off x="1700465" y="3562572"/>
            <a:ext cx="745107" cy="231482"/>
          </a:xfrm>
          <a:prstGeom prst="left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 cmpd="sng">
            <a:solidFill>
              <a:srgbClr val="00FF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graphicFrame>
        <p:nvGraphicFramePr>
          <p:cNvPr id="33" name="Object 12">
            <a:extLst>
              <a:ext uri="{FF2B5EF4-FFF2-40B4-BE49-F238E27FC236}">
                <a16:creationId xmlns:a16="http://schemas.microsoft.com/office/drawing/2014/main" id="{1B926249-F442-47DD-BF43-C467034B88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434508"/>
              </p:ext>
            </p:extLst>
          </p:nvPr>
        </p:nvGraphicFramePr>
        <p:xfrm>
          <a:off x="1271772" y="4586960"/>
          <a:ext cx="3621088" cy="154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454111" imgH="625013" progId="Equation.3">
                  <p:embed/>
                </p:oleObj>
              </mc:Choice>
              <mc:Fallback>
                <p:oleObj r:id="rId10" imgW="1454111" imgH="625013" progId="Equation.3">
                  <p:embed/>
                  <p:pic>
                    <p:nvPicPr>
                      <p:cNvPr id="104460" name="Object 12">
                        <a:extLst>
                          <a:ext uri="{FF2B5EF4-FFF2-40B4-BE49-F238E27FC236}">
                            <a16:creationId xmlns:a16="http://schemas.microsoft.com/office/drawing/2014/main" id="{13DB14C3-E014-480D-AA1A-175CDDC73A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772" y="4586960"/>
                        <a:ext cx="3621088" cy="15478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3">
            <a:extLst>
              <a:ext uri="{FF2B5EF4-FFF2-40B4-BE49-F238E27FC236}">
                <a16:creationId xmlns:a16="http://schemas.microsoft.com/office/drawing/2014/main" id="{9F525366-ED19-4E1F-8CD3-9FE76E08C2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79232"/>
              </p:ext>
            </p:extLst>
          </p:nvPr>
        </p:nvGraphicFramePr>
        <p:xfrm>
          <a:off x="1211263" y="4533900"/>
          <a:ext cx="3771900" cy="167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62040" imgH="698400" progId="Equation.DSMT4">
                  <p:embed/>
                </p:oleObj>
              </mc:Choice>
              <mc:Fallback>
                <p:oleObj name="Equation" r:id="rId12" imgW="1562040" imgH="698400" progId="Equation.DSMT4">
                  <p:embed/>
                  <p:pic>
                    <p:nvPicPr>
                      <p:cNvPr id="104461" name="Object 13">
                        <a:extLst>
                          <a:ext uri="{FF2B5EF4-FFF2-40B4-BE49-F238E27FC236}">
                            <a16:creationId xmlns:a16="http://schemas.microsoft.com/office/drawing/2014/main" id="{930209EC-B47D-44D7-A39D-C1E3BC02CD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4533900"/>
                        <a:ext cx="3771900" cy="16779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箭头: 下 3">
            <a:extLst>
              <a:ext uri="{FF2B5EF4-FFF2-40B4-BE49-F238E27FC236}">
                <a16:creationId xmlns:a16="http://schemas.microsoft.com/office/drawing/2014/main" id="{B5059557-A3F8-4DFA-A479-58D7480F5E2D}"/>
              </a:ext>
            </a:extLst>
          </p:cNvPr>
          <p:cNvSpPr/>
          <p:nvPr/>
        </p:nvSpPr>
        <p:spPr>
          <a:xfrm>
            <a:off x="1247940" y="3826037"/>
            <a:ext cx="311035" cy="5925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DBE0340A-21E7-4D64-B5CC-CC92E8B57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3941" y="2218888"/>
            <a:ext cx="4959650" cy="593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如果不计入常数因子，声压振幅：</a:t>
            </a:r>
            <a:r>
              <a:rPr lang="zh-CN" altLang="en-US" sz="2400" b="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p:graphicFrame>
        <p:nvGraphicFramePr>
          <p:cNvPr id="37" name="Object 8">
            <a:extLst>
              <a:ext uri="{FF2B5EF4-FFF2-40B4-BE49-F238E27FC236}">
                <a16:creationId xmlns:a16="http://schemas.microsoft.com/office/drawing/2014/main" id="{7D5270A0-745C-4586-8F55-E8D170BF4C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690219"/>
              </p:ext>
            </p:extLst>
          </p:nvPr>
        </p:nvGraphicFramePr>
        <p:xfrm>
          <a:off x="6397625" y="2925763"/>
          <a:ext cx="5253038" cy="193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08160" imgH="774360" progId="Equation.DSMT4">
                  <p:embed/>
                </p:oleObj>
              </mc:Choice>
              <mc:Fallback>
                <p:oleObj name="Equation" r:id="rId14" imgW="2108160" imgH="774360" progId="Equation.DSMT4">
                  <p:embed/>
                  <p:pic>
                    <p:nvPicPr>
                      <p:cNvPr id="105480" name="Object 8">
                        <a:extLst>
                          <a:ext uri="{FF2B5EF4-FFF2-40B4-BE49-F238E27FC236}">
                            <a16:creationId xmlns:a16="http://schemas.microsoft.com/office/drawing/2014/main" id="{5EAD0BFB-68D4-4C0E-B000-172894DB75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25" y="2925763"/>
                        <a:ext cx="5253038" cy="193516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6464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9">
            <a:extLst>
              <a:ext uri="{FF2B5EF4-FFF2-40B4-BE49-F238E27FC236}">
                <a16:creationId xmlns:a16="http://schemas.microsoft.com/office/drawing/2014/main" id="{61FDA019-AF35-4593-8C31-295605B189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533117"/>
              </p:ext>
            </p:extLst>
          </p:nvPr>
        </p:nvGraphicFramePr>
        <p:xfrm>
          <a:off x="6663941" y="5849197"/>
          <a:ext cx="50911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020177" imgH="241405" progId="Equation.DSMT4">
                  <p:embed/>
                </p:oleObj>
              </mc:Choice>
              <mc:Fallback>
                <p:oleObj r:id="rId16" imgW="2020177" imgH="241405" progId="Equation.DSMT4">
                  <p:embed/>
                  <p:pic>
                    <p:nvPicPr>
                      <p:cNvPr id="105481" name="Object 9">
                        <a:extLst>
                          <a:ext uri="{FF2B5EF4-FFF2-40B4-BE49-F238E27FC236}">
                            <a16:creationId xmlns:a16="http://schemas.microsoft.com/office/drawing/2014/main" id="{11441346-F14D-47A5-9D7B-CD0D4A7CA1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3941" y="5849197"/>
                        <a:ext cx="5091112" cy="596900"/>
                      </a:xfrm>
                      <a:prstGeom prst="rect">
                        <a:avLst/>
                      </a:prstGeom>
                      <a:noFill/>
                      <a:ln w="31750">
                        <a:solidFill>
                          <a:srgbClr val="FF6464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3">
            <a:extLst>
              <a:ext uri="{FF2B5EF4-FFF2-40B4-BE49-F238E27FC236}">
                <a16:creationId xmlns:a16="http://schemas.microsoft.com/office/drawing/2014/main" id="{085D2741-D0E5-4C43-9F94-810DBAD75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643" y="4968417"/>
            <a:ext cx="4959650" cy="593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4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平面问题的射线声场表示式： 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527E8FF-04ED-440E-B798-FC76907641B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09796" y="113721"/>
            <a:ext cx="3054080" cy="201453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6787E3-C78C-45A0-AC7E-4991A81E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9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2" y="903720"/>
            <a:ext cx="5763718" cy="3172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、射线声学的适用条件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程函方程导出条件：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强度方程条件：</a:t>
            </a:r>
          </a:p>
        </p:txBody>
      </p:sp>
      <p:graphicFrame>
        <p:nvGraphicFramePr>
          <p:cNvPr id="19" name="Object 15">
            <a:extLst>
              <a:ext uri="{FF2B5EF4-FFF2-40B4-BE49-F238E27FC236}">
                <a16:creationId xmlns:a16="http://schemas.microsoft.com/office/drawing/2014/main" id="{4D1A66C2-94B2-4367-993F-39C5ECA0CE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197556"/>
              </p:ext>
            </p:extLst>
          </p:nvPr>
        </p:nvGraphicFramePr>
        <p:xfrm>
          <a:off x="3392101" y="1995686"/>
          <a:ext cx="17891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14300" imgH="420927" progId="Equation.3">
                  <p:embed/>
                </p:oleObj>
              </mc:Choice>
              <mc:Fallback>
                <p:oleObj r:id="rId2" imgW="714300" imgH="420927" progId="Equation.3">
                  <p:embed/>
                  <p:pic>
                    <p:nvPicPr>
                      <p:cNvPr id="106511" name="Object 15">
                        <a:extLst>
                          <a:ext uri="{FF2B5EF4-FFF2-40B4-BE49-F238E27FC236}">
                            <a16:creationId xmlns:a16="http://schemas.microsoft.com/office/drawing/2014/main" id="{8797F60F-5BF5-4B18-9FC0-B5C95EC148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101" y="1995686"/>
                        <a:ext cx="178911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7">
            <a:extLst>
              <a:ext uri="{FF2B5EF4-FFF2-40B4-BE49-F238E27FC236}">
                <a16:creationId xmlns:a16="http://schemas.microsoft.com/office/drawing/2014/main" id="{F4165C49-DC43-4C9D-B91A-516DCFF38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196031"/>
              </p:ext>
            </p:extLst>
          </p:nvPr>
        </p:nvGraphicFramePr>
        <p:xfrm>
          <a:off x="6344851" y="1995686"/>
          <a:ext cx="2586038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33184" imgH="446438" progId="Equation.3">
                  <p:embed/>
                </p:oleObj>
              </mc:Choice>
              <mc:Fallback>
                <p:oleObj r:id="rId4" imgW="1033184" imgH="446438" progId="Equation.3">
                  <p:embed/>
                  <p:pic>
                    <p:nvPicPr>
                      <p:cNvPr id="106513" name="Object 17">
                        <a:extLst>
                          <a:ext uri="{FF2B5EF4-FFF2-40B4-BE49-F238E27FC236}">
                            <a16:creationId xmlns:a16="http://schemas.microsoft.com/office/drawing/2014/main" id="{C9EA2D77-B636-463F-B5C2-C11FED03B4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4851" y="1995686"/>
                        <a:ext cx="2586038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AutoShape 18">
            <a:extLst>
              <a:ext uri="{FF2B5EF4-FFF2-40B4-BE49-F238E27FC236}">
                <a16:creationId xmlns:a16="http://schemas.microsoft.com/office/drawing/2014/main" id="{F182DE91-0227-4BFA-BD67-52EE4C074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5514" y="2373510"/>
            <a:ext cx="935037" cy="358775"/>
          </a:xfrm>
          <a:prstGeom prst="rightArrow">
            <a:avLst>
              <a:gd name="adj1" fmla="val 50000"/>
              <a:gd name="adj2" fmla="val 65155"/>
            </a:avLst>
          </a:prstGeom>
          <a:solidFill>
            <a:schemeClr val="accent1"/>
          </a:solidFill>
          <a:ln w="9525" cmpd="sng">
            <a:solidFill>
              <a:srgbClr val="00FF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graphicFrame>
        <p:nvGraphicFramePr>
          <p:cNvPr id="23" name="Object 20">
            <a:extLst>
              <a:ext uri="{FF2B5EF4-FFF2-40B4-BE49-F238E27FC236}">
                <a16:creationId xmlns:a16="http://schemas.microsoft.com/office/drawing/2014/main" id="{B3255BA2-DFB5-4313-A0F2-CBDAA47A2C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944975"/>
              </p:ext>
            </p:extLst>
          </p:nvPr>
        </p:nvGraphicFramePr>
        <p:xfrm>
          <a:off x="4595018" y="3954769"/>
          <a:ext cx="300196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12288" imgH="370067" progId="Equation.3">
                  <p:embed/>
                </p:oleObj>
              </mc:Choice>
              <mc:Fallback>
                <p:oleObj r:id="rId6" imgW="1212288" imgH="370067" progId="Equation.3">
                  <p:embed/>
                  <p:pic>
                    <p:nvPicPr>
                      <p:cNvPr id="106516" name="Object 20">
                        <a:extLst>
                          <a:ext uri="{FF2B5EF4-FFF2-40B4-BE49-F238E27FC236}">
                            <a16:creationId xmlns:a16="http://schemas.microsoft.com/office/drawing/2014/main" id="{C4CE7D94-5106-4559-910A-DD4AEB70BE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018" y="3954769"/>
                        <a:ext cx="300196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Oval 22">
            <a:extLst>
              <a:ext uri="{FF2B5EF4-FFF2-40B4-BE49-F238E27FC236}">
                <a16:creationId xmlns:a16="http://schemas.microsoft.com/office/drawing/2014/main" id="{BC91D8EA-19EB-473F-9D6F-33D4DAE4B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799" y="3954769"/>
            <a:ext cx="1584325" cy="936625"/>
          </a:xfrm>
          <a:prstGeom prst="ellipse">
            <a:avLst/>
          </a:prstGeom>
          <a:noFill/>
          <a:ln w="25400" cmpd="sng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6" name="Oval 22">
            <a:extLst>
              <a:ext uri="{FF2B5EF4-FFF2-40B4-BE49-F238E27FC236}">
                <a16:creationId xmlns:a16="http://schemas.microsoft.com/office/drawing/2014/main" id="{2C452611-DBB0-4644-9235-AFFF915F7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96" y="4138577"/>
            <a:ext cx="812692" cy="644026"/>
          </a:xfrm>
          <a:prstGeom prst="ellipse">
            <a:avLst/>
          </a:prstGeom>
          <a:noFill/>
          <a:ln w="25400" cmpd="sng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0756DE-6CF0-4135-9138-A98C94458082}"/>
              </a:ext>
            </a:extLst>
          </p:cNvPr>
          <p:cNvSpPr/>
          <p:nvPr/>
        </p:nvSpPr>
        <p:spPr>
          <a:xfrm>
            <a:off x="7144123" y="5089940"/>
            <a:ext cx="2698176" cy="630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具有相同数量级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261D19-887A-494C-B221-DD3DC9B4A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20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射线声学的基础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1" y="903720"/>
            <a:ext cx="11513729" cy="509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、射线声学的适用条件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射线声学近似条件和局限性</a:t>
            </a: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+mj-lt"/>
              <a:buAutoNum type="arabicParenR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在声波波长的距离上，声波振幅变化的相对变化量远小于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——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声波声强没有发生太大变化。如在波束边缘、声影区（声线不能到达的区域）和焦散区（声能会聚区域），射线声学不成立。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+mj-lt"/>
              <a:buAutoNum type="arabicParenR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在声波波长的距离上，声速相对变化远小于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lvl="2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——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声速变化缓慢的介质。如在声速跃变层，射线声学不成立。 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+mj-lt"/>
              <a:buAutoNum type="arabicParenR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射线声学是波动声学的高频近似，适用于高频条件和弱不均匀介质（缓慢变化）情况。 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——《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水声建模与仿真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专著给出高频条件： 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56D32FAA-7041-42BC-A973-B5EA6113DB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81686"/>
              </p:ext>
            </p:extLst>
          </p:nvPr>
        </p:nvGraphicFramePr>
        <p:xfrm>
          <a:off x="7663721" y="5202409"/>
          <a:ext cx="1368809" cy="861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23799" imgH="394567" progId="Equation.DSMT4">
                  <p:embed/>
                </p:oleObj>
              </mc:Choice>
              <mc:Fallback>
                <p:oleObj r:id="rId2" imgW="623799" imgH="394567" progId="Equation.DSMT4">
                  <p:embed/>
                  <p:pic>
                    <p:nvPicPr>
                      <p:cNvPr id="108550" name="Object 6">
                        <a:extLst>
                          <a:ext uri="{FF2B5EF4-FFF2-40B4-BE49-F238E27FC236}">
                            <a16:creationId xmlns:a16="http://schemas.microsoft.com/office/drawing/2014/main" id="{EDFE980B-43F6-4D57-A8C6-5FF6EF2ADB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3721" y="5202409"/>
                        <a:ext cx="1368809" cy="861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B404CA7A-2B8C-4960-9F7C-E58E663A1C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210892"/>
              </p:ext>
            </p:extLst>
          </p:nvPr>
        </p:nvGraphicFramePr>
        <p:xfrm>
          <a:off x="9694736" y="5489554"/>
          <a:ext cx="1253351" cy="386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510" imgH="177492" progId="Equation.DSMT4">
                  <p:embed/>
                </p:oleObj>
              </mc:Choice>
              <mc:Fallback>
                <p:oleObj r:id="rId4" imgW="570510" imgH="177492" progId="Equation.DSMT4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DEBE1383-7F8F-4B2C-A289-F3E04A0C25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4736" y="5489554"/>
                        <a:ext cx="1253351" cy="386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22EA7DC-4744-4A39-9485-98A5A9F9B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96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1" y="903720"/>
            <a:ext cx="11563153" cy="5231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海水介质具有垂直分层特性：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声速不随水平方向变化，仅是海水深度的函数。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分层介质模型是实际海洋介质近似理想模型。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在分层介质模型中：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层厚度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层中相对声速梯度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层中声速</a:t>
            </a:r>
          </a:p>
        </p:txBody>
      </p:sp>
      <p:graphicFrame>
        <p:nvGraphicFramePr>
          <p:cNvPr id="19" name="Object 30">
            <a:extLst>
              <a:ext uri="{FF2B5EF4-FFF2-40B4-BE49-F238E27FC236}">
                <a16:creationId xmlns:a16="http://schemas.microsoft.com/office/drawing/2014/main" id="{A9F5C124-D016-4AB3-BBF5-5FCEC92382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607542"/>
              </p:ext>
            </p:extLst>
          </p:nvPr>
        </p:nvGraphicFramePr>
        <p:xfrm>
          <a:off x="5032419" y="3640580"/>
          <a:ext cx="36814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43100" imgH="228799" progId="Equation.DSMT4">
                  <p:embed/>
                </p:oleObj>
              </mc:Choice>
              <mc:Fallback>
                <p:oleObj r:id="rId2" imgW="1843100" imgH="228799" progId="Equation.DSMT4">
                  <p:embed/>
                  <p:pic>
                    <p:nvPicPr>
                      <p:cNvPr id="111630" name="Object 30">
                        <a:extLst>
                          <a:ext uri="{FF2B5EF4-FFF2-40B4-BE49-F238E27FC236}">
                            <a16:creationId xmlns:a16="http://schemas.microsoft.com/office/drawing/2014/main" id="{88DD1AEC-FDAA-423C-BFD8-ACC339740F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419" y="3640580"/>
                        <a:ext cx="36814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7">
            <a:extLst>
              <a:ext uri="{FF2B5EF4-FFF2-40B4-BE49-F238E27FC236}">
                <a16:creationId xmlns:a16="http://schemas.microsoft.com/office/drawing/2014/main" id="{9F8FB570-D3BF-47A1-8CA4-FFBDF9E09B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454253"/>
              </p:ext>
            </p:extLst>
          </p:nvPr>
        </p:nvGraphicFramePr>
        <p:xfrm>
          <a:off x="6368535" y="4305513"/>
          <a:ext cx="2208213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07303" imgH="445467" progId="Equation.DSMT4">
                  <p:embed/>
                </p:oleObj>
              </mc:Choice>
              <mc:Fallback>
                <p:oleObj r:id="rId4" imgW="1107303" imgH="445467" progId="Equation.DSMT4">
                  <p:embed/>
                  <p:pic>
                    <p:nvPicPr>
                      <p:cNvPr id="111632" name="Object 27">
                        <a:extLst>
                          <a:ext uri="{FF2B5EF4-FFF2-40B4-BE49-F238E27FC236}">
                            <a16:creationId xmlns:a16="http://schemas.microsoft.com/office/drawing/2014/main" id="{BB8BAB5D-4CA2-4D15-8C5B-4AFF442803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8535" y="4305513"/>
                        <a:ext cx="2208213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3">
            <a:extLst>
              <a:ext uri="{FF2B5EF4-FFF2-40B4-BE49-F238E27FC236}">
                <a16:creationId xmlns:a16="http://schemas.microsoft.com/office/drawing/2014/main" id="{94706E6B-6FCA-429D-9C0A-A9324B827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965747"/>
              </p:ext>
            </p:extLst>
          </p:nvPr>
        </p:nvGraphicFramePr>
        <p:xfrm>
          <a:off x="4391883" y="5395480"/>
          <a:ext cx="46085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516582" imgH="279580" progId="Equation.DSMT4">
                  <p:embed/>
                </p:oleObj>
              </mc:Choice>
              <mc:Fallback>
                <p:oleObj r:id="rId6" imgW="2516582" imgH="279580" progId="Equation.DSMT4">
                  <p:embed/>
                  <p:pic>
                    <p:nvPicPr>
                      <p:cNvPr id="111628" name="Object 33">
                        <a:extLst>
                          <a:ext uri="{FF2B5EF4-FFF2-40B4-BE49-F238E27FC236}">
                            <a16:creationId xmlns:a16="http://schemas.microsoft.com/office/drawing/2014/main" id="{FAA9A6A2-FFCA-487A-B0F8-E1A8082EA2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883" y="5395480"/>
                        <a:ext cx="460851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7">
            <a:extLst>
              <a:ext uri="{FF2B5EF4-FFF2-40B4-BE49-F238E27FC236}">
                <a16:creationId xmlns:a16="http://schemas.microsoft.com/office/drawing/2014/main" id="{9C5AE130-8018-4311-B9E6-0B438016A7B7}"/>
              </a:ext>
            </a:extLst>
          </p:cNvPr>
          <p:cNvGrpSpPr>
            <a:grpSpLocks/>
          </p:cNvGrpSpPr>
          <p:nvPr/>
        </p:nvGrpSpPr>
        <p:grpSpPr bwMode="auto">
          <a:xfrm>
            <a:off x="9277857" y="1444318"/>
            <a:ext cx="2360613" cy="3022600"/>
            <a:chOff x="0" y="0"/>
            <a:chExt cx="1487" cy="1904"/>
          </a:xfrm>
        </p:grpSpPr>
        <p:sp>
          <p:nvSpPr>
            <p:cNvPr id="24" name="Line 8">
              <a:extLst>
                <a:ext uri="{FF2B5EF4-FFF2-40B4-BE49-F238E27FC236}">
                  <a16:creationId xmlns:a16="http://schemas.microsoft.com/office/drawing/2014/main" id="{4E853C5A-A91D-46F6-ACDD-F953237058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317"/>
              <a:ext cx="12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5D1FBE74-FFB2-4CB8-A2DF-49E028C39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317"/>
              <a:ext cx="0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0BA8AFE7-B1BF-44A0-B384-571B513DA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9" y="0"/>
              <a:ext cx="1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8" name="Text Box 11">
              <a:extLst>
                <a:ext uri="{FF2B5EF4-FFF2-40B4-BE49-F238E27FC236}">
                  <a16:creationId xmlns:a16="http://schemas.microsoft.com/office/drawing/2014/main" id="{B4A3646A-2CBD-44CE-9BF4-2C53A204F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" y="1633"/>
              <a:ext cx="1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62C6A68F-E823-4C9F-A50A-C3185DDAF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544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224892E5-1F07-4931-8EC1-18082FFA88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726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4">
              <a:extLst>
                <a:ext uri="{FF2B5EF4-FFF2-40B4-BE49-F238E27FC236}">
                  <a16:creationId xmlns:a16="http://schemas.microsoft.com/office/drawing/2014/main" id="{4F7F7924-D54D-489F-8AAC-C68F99AF3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907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5">
              <a:extLst>
                <a:ext uri="{FF2B5EF4-FFF2-40B4-BE49-F238E27FC236}">
                  <a16:creationId xmlns:a16="http://schemas.microsoft.com/office/drawing/2014/main" id="{F485B706-816B-4D34-AE74-EE334340A1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088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6">
              <a:extLst>
                <a:ext uri="{FF2B5EF4-FFF2-40B4-BE49-F238E27FC236}">
                  <a16:creationId xmlns:a16="http://schemas.microsoft.com/office/drawing/2014/main" id="{D21C14E3-5A27-4A19-A3E1-DEBBFC138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270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17">
              <a:extLst>
                <a:ext uri="{FF2B5EF4-FFF2-40B4-BE49-F238E27FC236}">
                  <a16:creationId xmlns:a16="http://schemas.microsoft.com/office/drawing/2014/main" id="{5A2EA8BD-6990-4104-99E7-8755C5C57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451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18">
              <a:extLst>
                <a:ext uri="{FF2B5EF4-FFF2-40B4-BE49-F238E27FC236}">
                  <a16:creationId xmlns:a16="http://schemas.microsoft.com/office/drawing/2014/main" id="{1714882F-D8F3-4FD8-AC9A-B820CD9D7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3"/>
              <a:ext cx="1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未知">
              <a:extLst>
                <a:ext uri="{FF2B5EF4-FFF2-40B4-BE49-F238E27FC236}">
                  <a16:creationId xmlns:a16="http://schemas.microsoft.com/office/drawing/2014/main" id="{5ACDDE5B-11A4-454B-B224-0B50C8FE5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" y="323"/>
              <a:ext cx="862" cy="1407"/>
            </a:xfrm>
            <a:custGeom>
              <a:avLst/>
              <a:gdLst>
                <a:gd name="T0" fmla="*/ 1170 w 635"/>
                <a:gd name="T1" fmla="*/ 0 h 1497"/>
                <a:gd name="T2" fmla="*/ 501 w 635"/>
                <a:gd name="T3" fmla="*/ 361 h 1497"/>
                <a:gd name="T4" fmla="*/ 0 w 635"/>
                <a:gd name="T5" fmla="*/ 1322 h 14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5" h="1497">
                  <a:moveTo>
                    <a:pt x="635" y="0"/>
                  </a:moveTo>
                  <a:cubicBezTo>
                    <a:pt x="506" y="80"/>
                    <a:pt x="378" y="160"/>
                    <a:pt x="272" y="409"/>
                  </a:cubicBezTo>
                  <a:cubicBezTo>
                    <a:pt x="166" y="658"/>
                    <a:pt x="83" y="1077"/>
                    <a:pt x="0" y="149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20">
              <a:extLst>
                <a:ext uri="{FF2B5EF4-FFF2-40B4-BE49-F238E27FC236}">
                  <a16:creationId xmlns:a16="http://schemas.microsoft.com/office/drawing/2014/main" id="{09BBB182-881C-4D81-A2FF-5D92BFF1A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" y="309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21">
              <a:extLst>
                <a:ext uri="{FF2B5EF4-FFF2-40B4-BE49-F238E27FC236}">
                  <a16:creationId xmlns:a16="http://schemas.microsoft.com/office/drawing/2014/main" id="{462A6B25-B538-4E3A-AFD5-6370D2EEC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31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22">
              <a:extLst>
                <a:ext uri="{FF2B5EF4-FFF2-40B4-BE49-F238E27FC236}">
                  <a16:creationId xmlns:a16="http://schemas.microsoft.com/office/drawing/2014/main" id="{09F4D863-928D-42BD-B234-84D64FA9E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" y="726"/>
              <a:ext cx="6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23">
              <a:extLst>
                <a:ext uri="{FF2B5EF4-FFF2-40B4-BE49-F238E27FC236}">
                  <a16:creationId xmlns:a16="http://schemas.microsoft.com/office/drawing/2014/main" id="{607F1BF4-D202-4336-97B4-5682DA5EF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" y="544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51" name="Object 24">
              <a:extLst>
                <a:ext uri="{FF2B5EF4-FFF2-40B4-BE49-F238E27FC236}">
                  <a16:creationId xmlns:a16="http://schemas.microsoft.com/office/drawing/2014/main" id="{6DCCE60B-4827-4A4D-89B7-AD001D3AF3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4" y="85"/>
            <a:ext cx="388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408172" imgH="229597" progId="Equation.DSMT4">
                    <p:embed/>
                  </p:oleObj>
                </mc:Choice>
                <mc:Fallback>
                  <p:oleObj r:id="rId8" imgW="408172" imgH="229597" progId="Equation.DSMT4">
                    <p:embed/>
                    <p:pic>
                      <p:nvPicPr>
                        <p:cNvPr id="111650" name="Object 24">
                          <a:extLst>
                            <a:ext uri="{FF2B5EF4-FFF2-40B4-BE49-F238E27FC236}">
                              <a16:creationId xmlns:a16="http://schemas.microsoft.com/office/drawing/2014/main" id="{63F89C5A-4703-4409-8E9C-A463E72EF0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" y="85"/>
                          <a:ext cx="388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25">
              <a:extLst>
                <a:ext uri="{FF2B5EF4-FFF2-40B4-BE49-F238E27FC236}">
                  <a16:creationId xmlns:a16="http://schemas.microsoft.com/office/drawing/2014/main" id="{A27CE2D7-4C65-4D69-9A36-12F76E3787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381"/>
            <a:ext cx="220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29797" imgH="459594" progId="Equation.DSMT4">
                    <p:embed/>
                  </p:oleObj>
                </mc:Choice>
                <mc:Fallback>
                  <p:oleObj r:id="rId10" imgW="229797" imgH="459594" progId="Equation.DSMT4">
                    <p:embed/>
                    <p:pic>
                      <p:nvPicPr>
                        <p:cNvPr id="111651" name="Object 25">
                          <a:extLst>
                            <a:ext uri="{FF2B5EF4-FFF2-40B4-BE49-F238E27FC236}">
                              <a16:creationId xmlns:a16="http://schemas.microsoft.com/office/drawing/2014/main" id="{A51E7C62-F34F-45D0-9B95-8E84968BC9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81"/>
                          <a:ext cx="220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4C903D6-4A66-48AB-B3D2-E24C5E21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16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1" y="903720"/>
            <a:ext cx="5515269" cy="5243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Snell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定律和声线弯曲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射线声学遵循的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Snell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定律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①已知声线出射处掠射角和声速垂直分层分布，可按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Snell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定律求出任意深度处声线掠射角。</a:t>
            </a: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②不同起始掠射角，对应不同的声线轨迹。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③声线总是弯向声速小的方向</a:t>
            </a:r>
          </a:p>
        </p:txBody>
      </p:sp>
      <p:graphicFrame>
        <p:nvGraphicFramePr>
          <p:cNvPr id="27" name="Object 4">
            <a:extLst>
              <a:ext uri="{FF2B5EF4-FFF2-40B4-BE49-F238E27FC236}">
                <a16:creationId xmlns:a16="http://schemas.microsoft.com/office/drawing/2014/main" id="{886888A5-319E-4CE2-82F1-B6A26AB59D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864532"/>
              </p:ext>
            </p:extLst>
          </p:nvPr>
        </p:nvGraphicFramePr>
        <p:xfrm>
          <a:off x="4043840" y="2228621"/>
          <a:ext cx="2972999" cy="892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431640" progId="Equation.DSMT4">
                  <p:embed/>
                </p:oleObj>
              </mc:Choice>
              <mc:Fallback>
                <p:oleObj name="Equation" r:id="rId2" imgW="1447560" imgH="431640" progId="Equation.DSMT4">
                  <p:embed/>
                  <p:pic>
                    <p:nvPicPr>
                      <p:cNvPr id="110596" name="Object 4">
                        <a:extLst>
                          <a:ext uri="{FF2B5EF4-FFF2-40B4-BE49-F238E27FC236}">
                            <a16:creationId xmlns:a16="http://schemas.microsoft.com/office/drawing/2014/main" id="{E61D2BF3-8C50-4CE2-AE1D-10AC87149D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840" y="2228621"/>
                        <a:ext cx="2972999" cy="892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8">
            <a:extLst>
              <a:ext uri="{FF2B5EF4-FFF2-40B4-BE49-F238E27FC236}">
                <a16:creationId xmlns:a16="http://schemas.microsoft.com/office/drawing/2014/main" id="{46785D0A-78F6-48FF-A0D5-29994D43433C}"/>
              </a:ext>
            </a:extLst>
          </p:cNvPr>
          <p:cNvGrpSpPr>
            <a:grpSpLocks/>
          </p:cNvGrpSpPr>
          <p:nvPr/>
        </p:nvGrpSpPr>
        <p:grpSpPr bwMode="auto">
          <a:xfrm>
            <a:off x="8253475" y="1050691"/>
            <a:ext cx="2873079" cy="2070489"/>
            <a:chOff x="0" y="0"/>
            <a:chExt cx="2087" cy="1504"/>
          </a:xfrm>
        </p:grpSpPr>
        <p:graphicFrame>
          <p:nvGraphicFramePr>
            <p:cNvPr id="31" name="Object 9">
              <a:extLst>
                <a:ext uri="{FF2B5EF4-FFF2-40B4-BE49-F238E27FC236}">
                  <a16:creationId xmlns:a16="http://schemas.microsoft.com/office/drawing/2014/main" id="{DA7D24ED-F331-4540-B754-48D421CB8C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3" y="0"/>
            <a:ext cx="209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67425" imgH="231820" progId="Equation.3">
                    <p:embed/>
                  </p:oleObj>
                </mc:Choice>
                <mc:Fallback>
                  <p:oleObj r:id="rId4" imgW="167425" imgH="231820" progId="Equation.3">
                    <p:embed/>
                    <p:pic>
                      <p:nvPicPr>
                        <p:cNvPr id="112651" name="Object 9">
                          <a:extLst>
                            <a:ext uri="{FF2B5EF4-FFF2-40B4-BE49-F238E27FC236}">
                              <a16:creationId xmlns:a16="http://schemas.microsoft.com/office/drawing/2014/main" id="{BE58040B-28EE-46CE-9AF0-8D0DE006DA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0"/>
                          <a:ext cx="209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77C0BEAA-1DF5-4712-A175-D545E5B471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"/>
              <a:ext cx="20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11">
              <a:extLst>
                <a:ext uri="{FF2B5EF4-FFF2-40B4-BE49-F238E27FC236}">
                  <a16:creationId xmlns:a16="http://schemas.microsoft.com/office/drawing/2014/main" id="{1C18E24B-C78B-4025-9254-FAF4CABBE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506"/>
              <a:ext cx="20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12">
              <a:extLst>
                <a:ext uri="{FF2B5EF4-FFF2-40B4-BE49-F238E27FC236}">
                  <a16:creationId xmlns:a16="http://schemas.microsoft.com/office/drawing/2014/main" id="{6551740A-597E-476C-B4D4-C32979C57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005"/>
              <a:ext cx="20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13">
              <a:extLst>
                <a:ext uri="{FF2B5EF4-FFF2-40B4-BE49-F238E27FC236}">
                  <a16:creationId xmlns:a16="http://schemas.microsoft.com/office/drawing/2014/main" id="{62394728-5DE8-40F8-858E-87F86EA6B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" y="7"/>
              <a:ext cx="408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4">
              <a:extLst>
                <a:ext uri="{FF2B5EF4-FFF2-40B4-BE49-F238E27FC236}">
                  <a16:creationId xmlns:a16="http://schemas.microsoft.com/office/drawing/2014/main" id="{B919814C-BD2E-4FBF-AB00-8CE69DE5E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" y="506"/>
              <a:ext cx="59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38" name="Object 15">
              <a:extLst>
                <a:ext uri="{FF2B5EF4-FFF2-40B4-BE49-F238E27FC236}">
                  <a16:creationId xmlns:a16="http://schemas.microsoft.com/office/drawing/2014/main" id="{B5FA3D47-B84F-4158-A1BF-213650C6C9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" y="0"/>
            <a:ext cx="245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93183" imgH="231820" progId="Equation.3">
                    <p:embed/>
                  </p:oleObj>
                </mc:Choice>
                <mc:Fallback>
                  <p:oleObj r:id="rId6" imgW="193183" imgH="231820" progId="Equation.3">
                    <p:embed/>
                    <p:pic>
                      <p:nvPicPr>
                        <p:cNvPr id="112657" name="Object 15">
                          <a:extLst>
                            <a:ext uri="{FF2B5EF4-FFF2-40B4-BE49-F238E27FC236}">
                              <a16:creationId xmlns:a16="http://schemas.microsoft.com/office/drawing/2014/main" id="{891CE004-532D-4AAF-8931-DC35FB78D4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" y="0"/>
                          <a:ext cx="245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16">
              <a:extLst>
                <a:ext uri="{FF2B5EF4-FFF2-40B4-BE49-F238E27FC236}">
                  <a16:creationId xmlns:a16="http://schemas.microsoft.com/office/drawing/2014/main" id="{FBB6177C-9B63-45AB-B65B-37FEE8F7AA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" y="526"/>
            <a:ext cx="19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55988" imgH="142989" progId="Equation.3">
                    <p:embed/>
                  </p:oleObj>
                </mc:Choice>
                <mc:Fallback>
                  <p:oleObj r:id="rId8" imgW="155988" imgH="142989" progId="Equation.3">
                    <p:embed/>
                    <p:pic>
                      <p:nvPicPr>
                        <p:cNvPr id="112658" name="Object 16">
                          <a:extLst>
                            <a:ext uri="{FF2B5EF4-FFF2-40B4-BE49-F238E27FC236}">
                              <a16:creationId xmlns:a16="http://schemas.microsoft.com/office/drawing/2014/main" id="{064E217D-B130-48D2-A6AC-B3841C8F78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" y="526"/>
                          <a:ext cx="19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17">
              <a:extLst>
                <a:ext uri="{FF2B5EF4-FFF2-40B4-BE49-F238E27FC236}">
                  <a16:creationId xmlns:a16="http://schemas.microsoft.com/office/drawing/2014/main" id="{99E3092F-8B34-476D-97CA-9D338E6A51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3" y="527"/>
            <a:ext cx="145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16991" imgH="142989" progId="Equation.DSMT4">
                    <p:embed/>
                  </p:oleObj>
                </mc:Choice>
                <mc:Fallback>
                  <p:oleObj r:id="rId10" imgW="116991" imgH="142989" progId="Equation.DSMT4">
                    <p:embed/>
                    <p:pic>
                      <p:nvPicPr>
                        <p:cNvPr id="112659" name="Object 17">
                          <a:extLst>
                            <a:ext uri="{FF2B5EF4-FFF2-40B4-BE49-F238E27FC236}">
                              <a16:creationId xmlns:a16="http://schemas.microsoft.com/office/drawing/2014/main" id="{D65D11C9-87B0-48C2-AE57-C80BF53607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527"/>
                          <a:ext cx="145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Line 18">
              <a:extLst>
                <a:ext uri="{FF2B5EF4-FFF2-40B4-BE49-F238E27FC236}">
                  <a16:creationId xmlns:a16="http://schemas.microsoft.com/office/drawing/2014/main" id="{7E7F239D-4AF8-4731-998B-345FE07E9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" y="7"/>
              <a:ext cx="136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19">
              <a:extLst>
                <a:ext uri="{FF2B5EF4-FFF2-40B4-BE49-F238E27FC236}">
                  <a16:creationId xmlns:a16="http://schemas.microsoft.com/office/drawing/2014/main" id="{CBFEC9DE-21EE-466D-91D6-CDC85861A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" y="506"/>
              <a:ext cx="272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20">
              <a:extLst>
                <a:ext uri="{FF2B5EF4-FFF2-40B4-BE49-F238E27FC236}">
                  <a16:creationId xmlns:a16="http://schemas.microsoft.com/office/drawing/2014/main" id="{078DCB13-6616-4013-A9EC-D9FF34CA8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504"/>
              <a:ext cx="20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21">
              <a:extLst>
                <a:ext uri="{FF2B5EF4-FFF2-40B4-BE49-F238E27FC236}">
                  <a16:creationId xmlns:a16="http://schemas.microsoft.com/office/drawing/2014/main" id="{45ADDE10-622E-4587-BE8B-E8EDFA64D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" y="1005"/>
              <a:ext cx="499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22">
              <a:extLst>
                <a:ext uri="{FF2B5EF4-FFF2-40B4-BE49-F238E27FC236}">
                  <a16:creationId xmlns:a16="http://schemas.microsoft.com/office/drawing/2014/main" id="{7626454C-0711-45B4-9AE7-331BE04062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5" y="1005"/>
              <a:ext cx="861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44C70A62-B238-4C1D-BEC6-0739045329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5534" y="3819274"/>
            <a:ext cx="5989784" cy="2582896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300E5-B91F-4157-A351-650A21021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68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/>
              <p:nvPr/>
            </p:nvSpPr>
            <p:spPr>
              <a:xfrm>
                <a:off x="332281" y="903720"/>
                <a:ext cx="11516499" cy="4212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、恒定声速梯度情况下的声线轨迹</a:t>
                </a:r>
                <a:endPara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平面内声线曲率表达式</a:t>
                </a: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考虑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81" y="903720"/>
                <a:ext cx="11516499" cy="4212820"/>
              </a:xfrm>
              <a:prstGeom prst="rect">
                <a:avLst/>
              </a:prstGeom>
              <a:blipFill>
                <a:blip r:embed="rId3"/>
                <a:stretch>
                  <a:fillRect l="-1112" t="-434" b="-2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Object 3">
            <a:extLst>
              <a:ext uri="{FF2B5EF4-FFF2-40B4-BE49-F238E27FC236}">
                <a16:creationId xmlns:a16="http://schemas.microsoft.com/office/drawing/2014/main" id="{059DA467-CFCA-4334-9A99-B16108E4FD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57607"/>
              </p:ext>
            </p:extLst>
          </p:nvPr>
        </p:nvGraphicFramePr>
        <p:xfrm>
          <a:off x="2498465" y="1995686"/>
          <a:ext cx="5220231" cy="947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50880" imgH="444240" progId="Equation.DSMT4">
                  <p:embed/>
                </p:oleObj>
              </mc:Choice>
              <mc:Fallback>
                <p:oleObj name="Equation" r:id="rId4" imgW="2450880" imgH="444240" progId="Equation.DSMT4">
                  <p:embed/>
                  <p:pic>
                    <p:nvPicPr>
                      <p:cNvPr id="112643" name="Object 3">
                        <a:extLst>
                          <a:ext uri="{FF2B5EF4-FFF2-40B4-BE49-F238E27FC236}">
                            <a16:creationId xmlns:a16="http://schemas.microsoft.com/office/drawing/2014/main" id="{18BE6899-509E-4405-8244-9DC3BF21BC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465" y="1995686"/>
                        <a:ext cx="5220231" cy="947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8">
            <a:extLst>
              <a:ext uri="{FF2B5EF4-FFF2-40B4-BE49-F238E27FC236}">
                <a16:creationId xmlns:a16="http://schemas.microsoft.com/office/drawing/2014/main" id="{CAEB76B7-DF85-4241-A3CD-35BC8AB509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553956"/>
              </p:ext>
            </p:extLst>
          </p:nvPr>
        </p:nvGraphicFramePr>
        <p:xfrm>
          <a:off x="6340902" y="1004563"/>
          <a:ext cx="19431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78077" imgH="204086" progId="Equation.DSMT4">
                  <p:embed/>
                </p:oleObj>
              </mc:Choice>
              <mc:Fallback>
                <p:oleObj r:id="rId6" imgW="778077" imgH="204086" progId="Equation.DSMT4">
                  <p:embed/>
                  <p:pic>
                    <p:nvPicPr>
                      <p:cNvPr id="114706" name="Object 8">
                        <a:extLst>
                          <a:ext uri="{FF2B5EF4-FFF2-40B4-BE49-F238E27FC236}">
                            <a16:creationId xmlns:a16="http://schemas.microsoft.com/office/drawing/2014/main" id="{EFFEFAE6-4B61-4EEF-8D6A-30E8E771DE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0902" y="1004563"/>
                        <a:ext cx="19431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5A147C7-5A0F-4C99-BB4F-BDB967A8CC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094427"/>
              </p:ext>
            </p:extLst>
          </p:nvPr>
        </p:nvGraphicFramePr>
        <p:xfrm>
          <a:off x="4091909" y="2943338"/>
          <a:ext cx="2639305" cy="1581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640" imgH="812520" progId="Equation.DSMT4">
                  <p:embed/>
                </p:oleObj>
              </mc:Choice>
              <mc:Fallback>
                <p:oleObj name="Equation" r:id="rId8" imgW="13586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91909" y="2943338"/>
                        <a:ext cx="2639305" cy="15816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00B3BD8-454E-41CA-9674-7FF32D0AF77B}"/>
              </a:ext>
            </a:extLst>
          </p:cNvPr>
          <p:cNvSpPr/>
          <p:nvPr/>
        </p:nvSpPr>
        <p:spPr>
          <a:xfrm>
            <a:off x="7312452" y="3290474"/>
            <a:ext cx="45593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恒定声速梯度情况下，声线曲率处处相等，轨迹是圆弧。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8F68C90-EF0D-4F2A-A6B2-A2664D990B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65981" y="0"/>
            <a:ext cx="3126019" cy="2802253"/>
          </a:xfrm>
          <a:prstGeom prst="rect">
            <a:avLst/>
          </a:prstGeom>
        </p:spPr>
      </p:pic>
      <p:graphicFrame>
        <p:nvGraphicFramePr>
          <p:cNvPr id="30" name="Object 7">
            <a:extLst>
              <a:ext uri="{FF2B5EF4-FFF2-40B4-BE49-F238E27FC236}">
                <a16:creationId xmlns:a16="http://schemas.microsoft.com/office/drawing/2014/main" id="{39A7976B-F240-451F-9938-ACDFF748DC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701145"/>
              </p:ext>
            </p:extLst>
          </p:nvPr>
        </p:nvGraphicFramePr>
        <p:xfrm>
          <a:off x="1987730" y="5457282"/>
          <a:ext cx="3604145" cy="993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575484" imgH="431987" progId="Equation.DSMT4">
                  <p:embed/>
                </p:oleObj>
              </mc:Choice>
              <mc:Fallback>
                <p:oleObj r:id="rId11" imgW="1575484" imgH="431987" progId="Equation.DSMT4">
                  <p:embed/>
                  <p:pic>
                    <p:nvPicPr>
                      <p:cNvPr id="113671" name="Object 7">
                        <a:extLst>
                          <a:ext uri="{FF2B5EF4-FFF2-40B4-BE49-F238E27FC236}">
                            <a16:creationId xmlns:a16="http://schemas.microsoft.com/office/drawing/2014/main" id="{1CECA53C-B049-4790-B1E2-9E95EF08DA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730" y="5457282"/>
                        <a:ext cx="3604145" cy="993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593FECF-BFE0-42F6-8FF9-ADA0BC15D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019776"/>
              </p:ext>
            </p:extLst>
          </p:nvPr>
        </p:nvGraphicFramePr>
        <p:xfrm>
          <a:off x="8487098" y="5352813"/>
          <a:ext cx="3023583" cy="120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80800" imgH="469800" progId="Equation.DSMT4">
                  <p:embed/>
                </p:oleObj>
              </mc:Choice>
              <mc:Fallback>
                <p:oleObj name="Equation" r:id="rId13" imgW="11808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487098" y="5352813"/>
                        <a:ext cx="3023583" cy="120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F9AA405-2FA1-42D1-BBA8-3E19CFB19FFA}"/>
              </a:ext>
            </a:extLst>
          </p:cNvPr>
          <p:cNvSpPr/>
          <p:nvPr/>
        </p:nvSpPr>
        <p:spPr>
          <a:xfrm>
            <a:off x="762587" y="5538780"/>
            <a:ext cx="11046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声线曲率半径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0F45A2-A053-47E1-85FB-8CEEC692E7E5}"/>
              </a:ext>
            </a:extLst>
          </p:cNvPr>
          <p:cNvSpPr/>
          <p:nvPr/>
        </p:nvSpPr>
        <p:spPr>
          <a:xfrm>
            <a:off x="6731214" y="5538780"/>
            <a:ext cx="11046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声线轨迹方程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6A4C990-E5E9-4DFE-B5F2-92796B0E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89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/>
              <p:nvPr/>
            </p:nvSpPr>
            <p:spPr>
              <a:xfrm>
                <a:off x="332282" y="903720"/>
                <a:ext cx="5763718" cy="5576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、层中的声线轨迹方程</a:t>
                </a:r>
                <a:endPara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声线轨迹方程的一般形式</a:t>
                </a:r>
                <a:endPara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根据声线微元可得：</a:t>
                </a: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</a:t>
                </a:r>
                <a:r>
                  <a:rPr lang="en-US" altLang="zh-CN" sz="2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Snell</a:t>
                </a:r>
                <a:r>
                  <a:rPr lang="zh-CN" altLang="en-US" sz="2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定律可得声线轨迹方程的微分形式：</a:t>
                </a: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声速梯度为常数：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𝒄</m:t>
                    </m:r>
                    <m:r>
                      <a:rPr lang="en-US" altLang="zh-CN" sz="28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28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8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𝒂𝒛</m:t>
                    </m:r>
                    <m:r>
                      <a:rPr lang="en-US" altLang="zh-CN" sz="28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zh-CN" altLang="en-US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82" y="903720"/>
                <a:ext cx="5763718" cy="5576206"/>
              </a:xfrm>
              <a:prstGeom prst="rect">
                <a:avLst/>
              </a:prstGeom>
              <a:blipFill>
                <a:blip r:embed="rId3"/>
                <a:stretch>
                  <a:fillRect l="-2222" t="-328" r="-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615D241-547A-41C1-BD25-C9567A79F361}"/>
              </a:ext>
            </a:extLst>
          </p:cNvPr>
          <p:cNvCxnSpPr>
            <a:cxnSpLocks/>
          </p:cNvCxnSpPr>
          <p:nvPr/>
        </p:nvCxnSpPr>
        <p:spPr>
          <a:xfrm>
            <a:off x="6096000" y="2259106"/>
            <a:ext cx="0" cy="425695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8860F677-CE74-401C-B6E0-E2F5340376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822112"/>
              </p:ext>
            </p:extLst>
          </p:nvPr>
        </p:nvGraphicFramePr>
        <p:xfrm>
          <a:off x="912813" y="2651125"/>
          <a:ext cx="483552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13000" imgH="469800" progId="Equation.DSMT4">
                  <p:embed/>
                </p:oleObj>
              </mc:Choice>
              <mc:Fallback>
                <p:oleObj name="Equation" r:id="rId4" imgW="3213000" imgH="469800" progId="Equation.DSMT4">
                  <p:embed/>
                  <p:pic>
                    <p:nvPicPr>
                      <p:cNvPr id="115718" name="Object 6">
                        <a:extLst>
                          <a:ext uri="{FF2B5EF4-FFF2-40B4-BE49-F238E27FC236}">
                            <a16:creationId xmlns:a16="http://schemas.microsoft.com/office/drawing/2014/main" id="{96E74644-2580-4BB1-99AB-16679EB824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3" y="2651125"/>
                        <a:ext cx="4835525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83C40221-4F7A-4437-BBA9-13D768057C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870327"/>
              </p:ext>
            </p:extLst>
          </p:nvPr>
        </p:nvGraphicFramePr>
        <p:xfrm>
          <a:off x="1914525" y="4222750"/>
          <a:ext cx="383857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431640" progId="Equation.DSMT4">
                  <p:embed/>
                </p:oleObj>
              </mc:Choice>
              <mc:Fallback>
                <p:oleObj name="Equation" r:id="rId6" imgW="1511280" imgH="431640" progId="Equation.DSMT4">
                  <p:embed/>
                  <p:pic>
                    <p:nvPicPr>
                      <p:cNvPr id="115720" name="Object 8">
                        <a:extLst>
                          <a:ext uri="{FF2B5EF4-FFF2-40B4-BE49-F238E27FC236}">
                            <a16:creationId xmlns:a16="http://schemas.microsoft.com/office/drawing/2014/main" id="{9D951582-7CAC-4195-931C-C1393344FE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4222750"/>
                        <a:ext cx="3838575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C445F819-7695-447C-AD26-BB2A8D4F11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877156"/>
              </p:ext>
            </p:extLst>
          </p:nvPr>
        </p:nvGraphicFramePr>
        <p:xfrm>
          <a:off x="6698756" y="2842007"/>
          <a:ext cx="516096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1840" imgH="431640" progId="Equation.DSMT4">
                  <p:embed/>
                </p:oleObj>
              </mc:Choice>
              <mc:Fallback>
                <p:oleObj name="Equation" r:id="rId8" imgW="2031840" imgH="431640" progId="Equation.DSMT4">
                  <p:embed/>
                  <p:pic>
                    <p:nvPicPr>
                      <p:cNvPr id="11" name="Object 8">
                        <a:extLst>
                          <a:ext uri="{FF2B5EF4-FFF2-40B4-BE49-F238E27FC236}">
                            <a16:creationId xmlns:a16="http://schemas.microsoft.com/office/drawing/2014/main" id="{83C40221-4F7A-4437-BBA9-13D768057C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8756" y="2842007"/>
                        <a:ext cx="5160962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>
            <a:extLst>
              <a:ext uri="{FF2B5EF4-FFF2-40B4-BE49-F238E27FC236}">
                <a16:creationId xmlns:a16="http://schemas.microsoft.com/office/drawing/2014/main" id="{4AF1EDCB-1A67-4B6C-850C-72C6756C1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745441"/>
              </p:ext>
            </p:extLst>
          </p:nvPr>
        </p:nvGraphicFramePr>
        <p:xfrm>
          <a:off x="6953597" y="4135213"/>
          <a:ext cx="4906121" cy="1936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08160" imgH="914400" progId="Equation.DSMT4">
                  <p:embed/>
                </p:oleObj>
              </mc:Choice>
              <mc:Fallback>
                <p:oleObj name="Equation" r:id="rId10" imgW="2108160" imgH="914400" progId="Equation.DSMT4">
                  <p:embed/>
                  <p:pic>
                    <p:nvPicPr>
                      <p:cNvPr id="13" name="Object 8">
                        <a:extLst>
                          <a:ext uri="{FF2B5EF4-FFF2-40B4-BE49-F238E27FC236}">
                            <a16:creationId xmlns:a16="http://schemas.microsoft.com/office/drawing/2014/main" id="{C445F819-7695-447C-AD26-BB2A8D4F11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597" y="4135213"/>
                        <a:ext cx="4906121" cy="1936856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6464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椭圆 4">
            <a:extLst>
              <a:ext uri="{FF2B5EF4-FFF2-40B4-BE49-F238E27FC236}">
                <a16:creationId xmlns:a16="http://schemas.microsoft.com/office/drawing/2014/main" id="{140A790D-073A-42B9-B726-87FCEEA7B724}"/>
              </a:ext>
            </a:extLst>
          </p:cNvPr>
          <p:cNvSpPr/>
          <p:nvPr/>
        </p:nvSpPr>
        <p:spPr>
          <a:xfrm>
            <a:off x="7595087" y="5009989"/>
            <a:ext cx="883664" cy="1062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A9B3698-6362-4E77-88D1-656C6E2D174F}"/>
              </a:ext>
            </a:extLst>
          </p:cNvPr>
          <p:cNvSpPr/>
          <p:nvPr/>
        </p:nvSpPr>
        <p:spPr>
          <a:xfrm>
            <a:off x="9452446" y="5066365"/>
            <a:ext cx="419285" cy="1062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686EE67-298A-4D59-9E5D-3347A2D6DEC2}"/>
              </a:ext>
            </a:extLst>
          </p:cNvPr>
          <p:cNvSpPr/>
          <p:nvPr/>
        </p:nvSpPr>
        <p:spPr>
          <a:xfrm>
            <a:off x="10495544" y="5157430"/>
            <a:ext cx="1065627" cy="1062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779A61-1AEA-4CB1-B0CD-E7A8FFEB855B}"/>
              </a:ext>
            </a:extLst>
          </p:cNvPr>
          <p:cNvSpPr txBox="1"/>
          <p:nvPr/>
        </p:nvSpPr>
        <p:spPr>
          <a:xfrm>
            <a:off x="8036919" y="63160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圆心坐标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A91FC8E-AE2C-4676-B1EE-C46586A1384B}"/>
              </a:ext>
            </a:extLst>
          </p:cNvPr>
          <p:cNvSpPr txBox="1"/>
          <p:nvPr/>
        </p:nvSpPr>
        <p:spPr>
          <a:xfrm>
            <a:off x="10474359" y="63751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曲率半径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19C90C2-9B1E-4953-880E-37FC6317538C}"/>
              </a:ext>
            </a:extLst>
          </p:cNvPr>
          <p:cNvCxnSpPr>
            <a:cxnSpLocks/>
          </p:cNvCxnSpPr>
          <p:nvPr/>
        </p:nvCxnSpPr>
        <p:spPr>
          <a:xfrm flipV="1">
            <a:off x="5537283" y="3429000"/>
            <a:ext cx="1117767" cy="20466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83E4B44-C958-460B-9EB7-A20C4079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296008"/>
              </p:ext>
            </p:extLst>
          </p:nvPr>
        </p:nvGraphicFramePr>
        <p:xfrm>
          <a:off x="6654717" y="2124832"/>
          <a:ext cx="1922281" cy="697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95280" imgH="469800" progId="Equation.DSMT4">
                  <p:embed/>
                </p:oleObj>
              </mc:Choice>
              <mc:Fallback>
                <p:oleObj name="Equation" r:id="rId12" imgW="12952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54717" y="2124832"/>
                        <a:ext cx="1922281" cy="697298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D8F68C90-EF0D-4F2A-A6B2-A2664D990B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65981" y="0"/>
            <a:ext cx="3126019" cy="280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78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/>
              <p:nvPr/>
            </p:nvSpPr>
            <p:spPr>
              <a:xfrm>
                <a:off x="332282" y="903720"/>
                <a:ext cx="5763718" cy="3692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、声线传播的水平距离</a:t>
                </a: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完全形式</a:t>
                </a:r>
                <a:endPara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声速分布：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声源位置：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0,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，出射角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接收器位置：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</m:d>
                  </m:oMath>
                </a14:m>
                <a:endParaRPr lang="en-US" altLang="zh-CN" sz="2400" b="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400" b="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声线经过水平距离：</a:t>
                </a:r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82" y="903720"/>
                <a:ext cx="5763718" cy="3692678"/>
              </a:xfrm>
              <a:prstGeom prst="rect">
                <a:avLst/>
              </a:prstGeom>
              <a:blipFill>
                <a:blip r:embed="rId2"/>
                <a:stretch>
                  <a:fillRect l="-2198" t="-687" b="-3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615D241-547A-41C1-BD25-C9567A79F361}"/>
              </a:ext>
            </a:extLst>
          </p:cNvPr>
          <p:cNvCxnSpPr>
            <a:cxnSpLocks/>
          </p:cNvCxnSpPr>
          <p:nvPr/>
        </p:nvCxnSpPr>
        <p:spPr>
          <a:xfrm>
            <a:off x="5519698" y="2300279"/>
            <a:ext cx="0" cy="425695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D2F84076-D95F-4BA7-9460-C8AB4A8A7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124" y="903720"/>
            <a:ext cx="4114801" cy="2376488"/>
          </a:xfrm>
          <a:prstGeom prst="rect">
            <a:avLst/>
          </a:prstGeom>
        </p:spPr>
      </p:pic>
      <p:graphicFrame>
        <p:nvGraphicFramePr>
          <p:cNvPr id="31" name="Object 19">
            <a:extLst>
              <a:ext uri="{FF2B5EF4-FFF2-40B4-BE49-F238E27FC236}">
                <a16:creationId xmlns:a16="http://schemas.microsoft.com/office/drawing/2014/main" id="{1C4AC538-585D-4764-B0C2-2EDB708384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6738" y="4679222"/>
          <a:ext cx="3471862" cy="187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990360" progId="Equation.DSMT4">
                  <p:embed/>
                </p:oleObj>
              </mc:Choice>
              <mc:Fallback>
                <p:oleObj name="Equation" r:id="rId4" imgW="1828800" imgH="990360" progId="Equation.DSMT4">
                  <p:embed/>
                  <p:pic>
                    <p:nvPicPr>
                      <p:cNvPr id="31" name="Object 19">
                        <a:extLst>
                          <a:ext uri="{FF2B5EF4-FFF2-40B4-BE49-F238E27FC236}">
                            <a16:creationId xmlns:a16="http://schemas.microsoft.com/office/drawing/2014/main" id="{1C4AC538-585D-4764-B0C2-2EDB708384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738" y="4679222"/>
                        <a:ext cx="3471862" cy="187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5D3A726-7194-4517-919B-A701401C84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613774"/>
              </p:ext>
            </p:extLst>
          </p:nvPr>
        </p:nvGraphicFramePr>
        <p:xfrm>
          <a:off x="1190824" y="3042315"/>
          <a:ext cx="3075990" cy="908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495000" progId="Equation.DSMT4">
                  <p:embed/>
                </p:oleObj>
              </mc:Choice>
              <mc:Fallback>
                <p:oleObj name="Equation" r:id="rId6" imgW="1676160" imgH="4950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5D3A726-7194-4517-919B-A701401C84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0824" y="3042315"/>
                        <a:ext cx="3075990" cy="908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3B225933-0536-48B5-82AF-8FB636B28209}"/>
              </a:ext>
            </a:extLst>
          </p:cNvPr>
          <p:cNvSpPr/>
          <p:nvPr/>
        </p:nvSpPr>
        <p:spPr>
          <a:xfrm>
            <a:off x="5901685" y="3247745"/>
            <a:ext cx="2685351" cy="497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经过反转点后：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5088659-F6E1-4ACB-9D52-66774D679E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606498"/>
              </p:ext>
            </p:extLst>
          </p:nvPr>
        </p:nvGraphicFramePr>
        <p:xfrm>
          <a:off x="5722938" y="3895725"/>
          <a:ext cx="6319837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70200" imgH="1193760" progId="Equation.DSMT4">
                  <p:embed/>
                </p:oleObj>
              </mc:Choice>
              <mc:Fallback>
                <p:oleObj name="Equation" r:id="rId8" imgW="3670200" imgH="11937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5088659-F6E1-4ACB-9D52-66774D679E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22938" y="3895725"/>
                        <a:ext cx="6319837" cy="2058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84931BD-3932-4D90-B997-9893EB88ECAC}"/>
                  </a:ext>
                </a:extLst>
              </p:cNvPr>
              <p:cNvSpPr/>
              <p:nvPr/>
            </p:nvSpPr>
            <p:spPr>
              <a:xfrm>
                <a:off x="7666298" y="6169580"/>
                <a:ext cx="26791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反转点处的掠射角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84931BD-3932-4D90-B997-9893EB88EC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298" y="6169580"/>
                <a:ext cx="2679131" cy="369332"/>
              </a:xfrm>
              <a:prstGeom prst="rect">
                <a:avLst/>
              </a:prstGeom>
              <a:blipFill>
                <a:blip r:embed="rId11"/>
                <a:stretch>
                  <a:fillRect l="-2050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55F82A1-8841-40B7-B41E-5597D265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25</a:t>
            </a:fld>
            <a:endParaRPr lang="en-US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9751512" y="5793289"/>
            <a:ext cx="782877" cy="3762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207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/>
              <p:nvPr/>
            </p:nvSpPr>
            <p:spPr>
              <a:xfrm>
                <a:off x="332281" y="903720"/>
                <a:ext cx="8400436" cy="1091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、声线传播的水平距离</a:t>
                </a: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恒定声速，基于掠射角</a:t>
                </a:r>
                <a:endPara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声速分布：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1+</m:t>
                        </m:r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𝑎𝑧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𝑔𝑧</m:t>
                    </m:r>
                  </m:oMath>
                </a14:m>
                <a:endPara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81" y="903720"/>
                <a:ext cx="8400436" cy="1091966"/>
              </a:xfrm>
              <a:prstGeom prst="rect">
                <a:avLst/>
              </a:prstGeom>
              <a:blipFill>
                <a:blip r:embed="rId2"/>
                <a:stretch>
                  <a:fillRect l="-1511" t="-2326" b="-12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615D241-547A-41C1-BD25-C9567A79F361}"/>
              </a:ext>
            </a:extLst>
          </p:cNvPr>
          <p:cNvCxnSpPr>
            <a:cxnSpLocks/>
          </p:cNvCxnSpPr>
          <p:nvPr/>
        </p:nvCxnSpPr>
        <p:spPr>
          <a:xfrm>
            <a:off x="6096000" y="2373357"/>
            <a:ext cx="0" cy="425695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D2F84076-D95F-4BA7-9460-C8AB4A8A7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77" y="2240756"/>
            <a:ext cx="4114801" cy="2376488"/>
          </a:xfrm>
          <a:prstGeom prst="rect">
            <a:avLst/>
          </a:prstGeom>
        </p:spPr>
      </p:pic>
      <p:graphicFrame>
        <p:nvGraphicFramePr>
          <p:cNvPr id="32" name="Object 3">
            <a:extLst>
              <a:ext uri="{FF2B5EF4-FFF2-40B4-BE49-F238E27FC236}">
                <a16:creationId xmlns:a16="http://schemas.microsoft.com/office/drawing/2014/main" id="{EB045698-A08A-4A88-ABCE-5AC34B6443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8158820"/>
              </p:ext>
            </p:extLst>
          </p:nvPr>
        </p:nvGraphicFramePr>
        <p:xfrm>
          <a:off x="700088" y="4964113"/>
          <a:ext cx="4057650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1080" imgH="736560" progId="Equation.DSMT4">
                  <p:embed/>
                </p:oleObj>
              </mc:Choice>
              <mc:Fallback>
                <p:oleObj name="Equation" r:id="rId4" imgW="1981080" imgH="736560" progId="Equation.DSMT4">
                  <p:embed/>
                  <p:pic>
                    <p:nvPicPr>
                      <p:cNvPr id="32" name="Object 3">
                        <a:extLst>
                          <a:ext uri="{FF2B5EF4-FFF2-40B4-BE49-F238E27FC236}">
                            <a16:creationId xmlns:a16="http://schemas.microsoft.com/office/drawing/2014/main" id="{EB045698-A08A-4A88-ABCE-5AC34B6443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4964113"/>
                        <a:ext cx="4057650" cy="150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">
            <a:extLst>
              <a:ext uri="{FF2B5EF4-FFF2-40B4-BE49-F238E27FC236}">
                <a16:creationId xmlns:a16="http://schemas.microsoft.com/office/drawing/2014/main" id="{7F3EA49B-BE0F-45EA-B63D-E1FCE0F4B4C3}"/>
              </a:ext>
            </a:extLst>
          </p:cNvPr>
          <p:cNvGrpSpPr>
            <a:grpSpLocks/>
          </p:cNvGrpSpPr>
          <p:nvPr/>
        </p:nvGrpSpPr>
        <p:grpSpPr bwMode="auto">
          <a:xfrm>
            <a:off x="6600705" y="2010569"/>
            <a:ext cx="1441450" cy="2606675"/>
            <a:chOff x="0" y="0"/>
            <a:chExt cx="908" cy="1642"/>
          </a:xfrm>
        </p:grpSpPr>
        <p:sp>
          <p:nvSpPr>
            <p:cNvPr id="34" name="Line 4">
              <a:extLst>
                <a:ext uri="{FF2B5EF4-FFF2-40B4-BE49-F238E27FC236}">
                  <a16:creationId xmlns:a16="http://schemas.microsoft.com/office/drawing/2014/main" id="{2C18D71B-A4F1-4334-8029-2D96C82CF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" y="227"/>
              <a:ext cx="7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5">
              <a:extLst>
                <a:ext uri="{FF2B5EF4-FFF2-40B4-BE49-F238E27FC236}">
                  <a16:creationId xmlns:a16="http://schemas.microsoft.com/office/drawing/2014/main" id="{2057B3EC-D774-4B1F-B835-F7805BD75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" y="227"/>
              <a:ext cx="0" cy="1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Box 6">
              <a:extLst>
                <a:ext uri="{FF2B5EF4-FFF2-40B4-BE49-F238E27FC236}">
                  <a16:creationId xmlns:a16="http://schemas.microsoft.com/office/drawing/2014/main" id="{02A2A76E-D2EB-4299-9D59-A02232D4E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50"/>
              <a:ext cx="1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华文隶书" pitchFamily="2" charset="-122"/>
                </a:rPr>
                <a:t>z</a:t>
              </a:r>
            </a:p>
          </p:txBody>
        </p:sp>
        <p:sp>
          <p:nvSpPr>
            <p:cNvPr id="37" name="Text Box 7">
              <a:extLst>
                <a:ext uri="{FF2B5EF4-FFF2-40B4-BE49-F238E27FC236}">
                  <a16:creationId xmlns:a16="http://schemas.microsoft.com/office/drawing/2014/main" id="{2445A8EF-37B1-4B25-B389-AA826E16C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0"/>
              <a:ext cx="1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华文隶书" pitchFamily="2" charset="-122"/>
                </a:rPr>
                <a:t>x</a:t>
              </a:r>
            </a:p>
          </p:txBody>
        </p:sp>
        <p:sp>
          <p:nvSpPr>
            <p:cNvPr id="38" name="Line 8">
              <a:extLst>
                <a:ext uri="{FF2B5EF4-FFF2-40B4-BE49-F238E27FC236}">
                  <a16:creationId xmlns:a16="http://schemas.microsoft.com/office/drawing/2014/main" id="{BAE1D598-A7D3-4A85-8723-81592CA4A6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" y="309"/>
              <a:ext cx="363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9">
            <a:extLst>
              <a:ext uri="{FF2B5EF4-FFF2-40B4-BE49-F238E27FC236}">
                <a16:creationId xmlns:a16="http://schemas.microsoft.com/office/drawing/2014/main" id="{FE7E1B3E-01C2-401C-A8CF-EF41C9263FC1}"/>
              </a:ext>
            </a:extLst>
          </p:cNvPr>
          <p:cNvGrpSpPr>
            <a:grpSpLocks/>
          </p:cNvGrpSpPr>
          <p:nvPr/>
        </p:nvGrpSpPr>
        <p:grpSpPr bwMode="auto">
          <a:xfrm>
            <a:off x="8040567" y="1996281"/>
            <a:ext cx="3790950" cy="2620963"/>
            <a:chOff x="0" y="0"/>
            <a:chExt cx="2388" cy="1651"/>
          </a:xfrm>
        </p:grpSpPr>
        <p:sp>
          <p:nvSpPr>
            <p:cNvPr id="40" name="Text Box 10">
              <a:extLst>
                <a:ext uri="{FF2B5EF4-FFF2-40B4-BE49-F238E27FC236}">
                  <a16:creationId xmlns:a16="http://schemas.microsoft.com/office/drawing/2014/main" id="{CE262113-0A30-4FD6-A5EC-EBA9F0D474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" y="1459"/>
              <a:ext cx="1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华文隶书" pitchFamily="2" charset="-122"/>
                </a:rPr>
                <a:t>z</a:t>
              </a:r>
            </a:p>
          </p:txBody>
        </p:sp>
        <p:sp>
          <p:nvSpPr>
            <p:cNvPr id="41" name="Text Box 11">
              <a:extLst>
                <a:ext uri="{FF2B5EF4-FFF2-40B4-BE49-F238E27FC236}">
                  <a16:creationId xmlns:a16="http://schemas.microsoft.com/office/drawing/2014/main" id="{604F7AED-ECE2-4431-AD67-B3A1D8386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6" y="0"/>
              <a:ext cx="1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华文隶书" pitchFamily="2" charset="-122"/>
                </a:rPr>
                <a:t>x</a:t>
              </a:r>
            </a:p>
          </p:txBody>
        </p:sp>
        <p:graphicFrame>
          <p:nvGraphicFramePr>
            <p:cNvPr id="42" name="Object 12">
              <a:extLst>
                <a:ext uri="{FF2B5EF4-FFF2-40B4-BE49-F238E27FC236}">
                  <a16:creationId xmlns:a16="http://schemas.microsoft.com/office/drawing/2014/main" id="{41C5E8EC-AB1A-4B5B-B603-9B1FCC3545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8" y="344"/>
            <a:ext cx="143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55988" imgH="142989" progId="Equation.DSMT4">
                    <p:embed/>
                  </p:oleObj>
                </mc:Choice>
                <mc:Fallback>
                  <p:oleObj r:id="rId6" imgW="155988" imgH="142989" progId="Equation.DSMT4">
                    <p:embed/>
                    <p:pic>
                      <p:nvPicPr>
                        <p:cNvPr id="42" name="Object 12">
                          <a:extLst>
                            <a:ext uri="{FF2B5EF4-FFF2-40B4-BE49-F238E27FC236}">
                              <a16:creationId xmlns:a16="http://schemas.microsoft.com/office/drawing/2014/main" id="{41C5E8EC-AB1A-4B5B-B603-9B1FCC3545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344"/>
                          <a:ext cx="143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13">
              <a:extLst>
                <a:ext uri="{FF2B5EF4-FFF2-40B4-BE49-F238E27FC236}">
                  <a16:creationId xmlns:a16="http://schemas.microsoft.com/office/drawing/2014/main" id="{E1188498-3587-4817-9285-52974C908C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9" y="784"/>
            <a:ext cx="167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80225" imgH="231718" progId="Equation.DSMT4">
                    <p:embed/>
                  </p:oleObj>
                </mc:Choice>
                <mc:Fallback>
                  <p:oleObj r:id="rId8" imgW="180225" imgH="231718" progId="Equation.DSMT4">
                    <p:embed/>
                    <p:pic>
                      <p:nvPicPr>
                        <p:cNvPr id="43" name="Object 13">
                          <a:extLst>
                            <a:ext uri="{FF2B5EF4-FFF2-40B4-BE49-F238E27FC236}">
                              <a16:creationId xmlns:a16="http://schemas.microsoft.com/office/drawing/2014/main" id="{E1188498-3587-4817-9285-52974C908C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" y="784"/>
                          <a:ext cx="167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Line 14">
              <a:extLst>
                <a:ext uri="{FF2B5EF4-FFF2-40B4-BE49-F238E27FC236}">
                  <a16:creationId xmlns:a16="http://schemas.microsoft.com/office/drawing/2014/main" id="{90C38FB0-A839-4E3B-A68F-C3736BB220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" y="236"/>
              <a:ext cx="22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15">
              <a:extLst>
                <a:ext uri="{FF2B5EF4-FFF2-40B4-BE49-F238E27FC236}">
                  <a16:creationId xmlns:a16="http://schemas.microsoft.com/office/drawing/2014/main" id="{93C083FB-A801-4ABC-A04A-7F8A92F8B2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" y="236"/>
              <a:ext cx="0" cy="1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Arc 16">
              <a:extLst>
                <a:ext uri="{FF2B5EF4-FFF2-40B4-BE49-F238E27FC236}">
                  <a16:creationId xmlns:a16="http://schemas.microsoft.com/office/drawing/2014/main" id="{3BCDA126-8D07-461A-9EFB-6D8A51266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" y="290"/>
              <a:ext cx="1892" cy="999"/>
            </a:xfrm>
            <a:custGeom>
              <a:avLst/>
              <a:gdLst>
                <a:gd name="T0" fmla="*/ 0 w 37069"/>
                <a:gd name="T1" fmla="*/ 31 h 21600"/>
                <a:gd name="T2" fmla="*/ 53 w 37069"/>
                <a:gd name="T3" fmla="*/ 0 h 21600"/>
                <a:gd name="T4" fmla="*/ 97 w 37069"/>
                <a:gd name="T5" fmla="*/ 17 h 21600"/>
                <a:gd name="T6" fmla="*/ 0 w 37069"/>
                <a:gd name="T7" fmla="*/ 31 h 21600"/>
                <a:gd name="T8" fmla="*/ 53 w 37069"/>
                <a:gd name="T9" fmla="*/ 0 h 21600"/>
                <a:gd name="T10" fmla="*/ 97 w 37069"/>
                <a:gd name="T11" fmla="*/ 17 h 21600"/>
                <a:gd name="T12" fmla="*/ 53 w 37069"/>
                <a:gd name="T13" fmla="*/ 46 h 21600"/>
                <a:gd name="T14" fmla="*/ 0 w 37069"/>
                <a:gd name="T15" fmla="*/ 31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069" h="21600" fill="none">
                  <a:moveTo>
                    <a:pt x="-1" y="14498"/>
                  </a:moveTo>
                  <a:cubicBezTo>
                    <a:pt x="3021" y="5817"/>
                    <a:pt x="11206" y="-1"/>
                    <a:pt x="20399" y="0"/>
                  </a:cubicBezTo>
                  <a:cubicBezTo>
                    <a:pt x="26851" y="0"/>
                    <a:pt x="32965" y="2884"/>
                    <a:pt x="37068" y="7864"/>
                  </a:cubicBezTo>
                </a:path>
                <a:path w="37069" h="21600" stroke="0">
                  <a:moveTo>
                    <a:pt x="-1" y="14498"/>
                  </a:moveTo>
                  <a:cubicBezTo>
                    <a:pt x="3021" y="5817"/>
                    <a:pt x="11206" y="-1"/>
                    <a:pt x="20399" y="0"/>
                  </a:cubicBezTo>
                  <a:cubicBezTo>
                    <a:pt x="26851" y="0"/>
                    <a:pt x="32965" y="2884"/>
                    <a:pt x="37068" y="7864"/>
                  </a:cubicBezTo>
                  <a:lnTo>
                    <a:pt x="20399" y="21600"/>
                  </a:lnTo>
                  <a:lnTo>
                    <a:pt x="-1" y="14498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Box 17">
              <a:extLst>
                <a:ext uri="{FF2B5EF4-FFF2-40B4-BE49-F238E27FC236}">
                  <a16:creationId xmlns:a16="http://schemas.microsoft.com/office/drawing/2014/main" id="{1C207D7F-D1D3-4955-A14A-AFB39C763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" y="36"/>
              <a:ext cx="1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华文隶书" pitchFamily="2" charset="-122"/>
                </a:rPr>
                <a:t>0</a:t>
              </a:r>
            </a:p>
          </p:txBody>
        </p:sp>
        <p:sp>
          <p:nvSpPr>
            <p:cNvPr id="49" name="Line 18">
              <a:extLst>
                <a:ext uri="{FF2B5EF4-FFF2-40B4-BE49-F238E27FC236}">
                  <a16:creationId xmlns:a16="http://schemas.microsoft.com/office/drawing/2014/main" id="{99AE562E-C041-4F09-8698-9C706D511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9" y="236"/>
              <a:ext cx="0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19">
              <a:extLst>
                <a:ext uri="{FF2B5EF4-FFF2-40B4-BE49-F238E27FC236}">
                  <a16:creationId xmlns:a16="http://schemas.microsoft.com/office/drawing/2014/main" id="{BD792038-45B4-45E7-8BFC-A5EBE03084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" y="961"/>
              <a:ext cx="1043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20">
              <a:extLst>
                <a:ext uri="{FF2B5EF4-FFF2-40B4-BE49-F238E27FC236}">
                  <a16:creationId xmlns:a16="http://schemas.microsoft.com/office/drawing/2014/main" id="{2A1A7E17-F7FB-453D-85E1-60AA4CC862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9" y="453"/>
              <a:ext cx="606" cy="8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21">
              <a:extLst>
                <a:ext uri="{FF2B5EF4-FFF2-40B4-BE49-F238E27FC236}">
                  <a16:creationId xmlns:a16="http://schemas.microsoft.com/office/drawing/2014/main" id="{6434A104-CDDB-46A7-9030-0A062643E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2" y="463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22">
              <a:extLst>
                <a:ext uri="{FF2B5EF4-FFF2-40B4-BE49-F238E27FC236}">
                  <a16:creationId xmlns:a16="http://schemas.microsoft.com/office/drawing/2014/main" id="{49E9ADF4-4157-416D-8321-730CA0DA4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5" y="471"/>
              <a:ext cx="12" cy="5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54" name="Object 23">
              <a:extLst>
                <a:ext uri="{FF2B5EF4-FFF2-40B4-BE49-F238E27FC236}">
                  <a16:creationId xmlns:a16="http://schemas.microsoft.com/office/drawing/2014/main" id="{69BE8F79-19D9-4BB9-B68A-7A23E88D5D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839"/>
            <a:ext cx="143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54615" imgH="231922" progId="Equation.DSMT4">
                    <p:embed/>
                  </p:oleObj>
                </mc:Choice>
                <mc:Fallback>
                  <p:oleObj r:id="rId10" imgW="154615" imgH="231922" progId="Equation.DSMT4">
                    <p:embed/>
                    <p:pic>
                      <p:nvPicPr>
                        <p:cNvPr id="54" name="Object 23">
                          <a:extLst>
                            <a:ext uri="{FF2B5EF4-FFF2-40B4-BE49-F238E27FC236}">
                              <a16:creationId xmlns:a16="http://schemas.microsoft.com/office/drawing/2014/main" id="{69BE8F79-19D9-4BB9-B68A-7A23E88D5D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39"/>
                          <a:ext cx="143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24">
              <a:extLst>
                <a:ext uri="{FF2B5EF4-FFF2-40B4-BE49-F238E27FC236}">
                  <a16:creationId xmlns:a16="http://schemas.microsoft.com/office/drawing/2014/main" id="{8D15E160-CDDC-4B35-9328-4D34EB4276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04" y="221"/>
            <a:ext cx="39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422770" imgH="256224" progId="Equation.DSMT4">
                    <p:embed/>
                  </p:oleObj>
                </mc:Choice>
                <mc:Fallback>
                  <p:oleObj r:id="rId12" imgW="422770" imgH="256224" progId="Equation.DSMT4">
                    <p:embed/>
                    <p:pic>
                      <p:nvPicPr>
                        <p:cNvPr id="55" name="Object 24">
                          <a:extLst>
                            <a:ext uri="{FF2B5EF4-FFF2-40B4-BE49-F238E27FC236}">
                              <a16:creationId xmlns:a16="http://schemas.microsoft.com/office/drawing/2014/main" id="{8D15E160-CDDC-4B35-9328-4D34EB4276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4" y="221"/>
                          <a:ext cx="393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25">
              <a:extLst>
                <a:ext uri="{FF2B5EF4-FFF2-40B4-BE49-F238E27FC236}">
                  <a16:creationId xmlns:a16="http://schemas.microsoft.com/office/drawing/2014/main" id="{DF133CF3-D9EA-42DC-ADF8-A6F14A7285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25" y="952"/>
            <a:ext cx="143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55988" imgH="142989" progId="Equation.DSMT4">
                    <p:embed/>
                  </p:oleObj>
                </mc:Choice>
                <mc:Fallback>
                  <p:oleObj r:id="rId14" imgW="155988" imgH="142989" progId="Equation.DSMT4">
                    <p:embed/>
                    <p:pic>
                      <p:nvPicPr>
                        <p:cNvPr id="56" name="Object 25">
                          <a:extLst>
                            <a:ext uri="{FF2B5EF4-FFF2-40B4-BE49-F238E27FC236}">
                              <a16:creationId xmlns:a16="http://schemas.microsoft.com/office/drawing/2014/main" id="{DF133CF3-D9EA-42DC-ADF8-A6F14A7285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5" y="952"/>
                          <a:ext cx="143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Object 26">
              <a:extLst>
                <a:ext uri="{FF2B5EF4-FFF2-40B4-BE49-F238E27FC236}">
                  <a16:creationId xmlns:a16="http://schemas.microsoft.com/office/drawing/2014/main" id="{7FC2EC80-FE9F-47F5-8A6F-68EC4C8D8D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6" y="1037"/>
            <a:ext cx="167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80225" imgH="231718" progId="Equation.DSMT4">
                    <p:embed/>
                  </p:oleObj>
                </mc:Choice>
                <mc:Fallback>
                  <p:oleObj r:id="rId15" imgW="180225" imgH="231718" progId="Equation.DSMT4">
                    <p:embed/>
                    <p:pic>
                      <p:nvPicPr>
                        <p:cNvPr id="57" name="Object 26">
                          <a:extLst>
                            <a:ext uri="{FF2B5EF4-FFF2-40B4-BE49-F238E27FC236}">
                              <a16:creationId xmlns:a16="http://schemas.microsoft.com/office/drawing/2014/main" id="{7FC2EC80-FE9F-47F5-8A6F-68EC4C8D8D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6" y="1037"/>
                          <a:ext cx="167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Arc 27">
              <a:extLst>
                <a:ext uri="{FF2B5EF4-FFF2-40B4-BE49-F238E27FC236}">
                  <a16:creationId xmlns:a16="http://schemas.microsoft.com/office/drawing/2014/main" id="{C3C01A7C-14E1-48F5-980A-5F9F894694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418040">
              <a:off x="1084" y="1219"/>
              <a:ext cx="127" cy="44"/>
            </a:xfrm>
            <a:custGeom>
              <a:avLst/>
              <a:gdLst>
                <a:gd name="T0" fmla="*/ 0 w 41547"/>
                <a:gd name="T1" fmla="*/ 0 h 21600"/>
                <a:gd name="T2" fmla="*/ 0 w 41547"/>
                <a:gd name="T3" fmla="*/ 0 h 21600"/>
                <a:gd name="T4" fmla="*/ 0 w 41547"/>
                <a:gd name="T5" fmla="*/ 0 h 21600"/>
                <a:gd name="T6" fmla="*/ 0 w 41547"/>
                <a:gd name="T7" fmla="*/ 0 h 21600"/>
                <a:gd name="T8" fmla="*/ 0 w 41547"/>
                <a:gd name="T9" fmla="*/ 0 h 21600"/>
                <a:gd name="T10" fmla="*/ 0 w 41547"/>
                <a:gd name="T11" fmla="*/ 0 h 21600"/>
                <a:gd name="T12" fmla="*/ 0 w 41547"/>
                <a:gd name="T13" fmla="*/ 0 h 21600"/>
                <a:gd name="T14" fmla="*/ 0 w 41547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1547" h="21600" fill="none">
                  <a:moveTo>
                    <a:pt x="0" y="13312"/>
                  </a:moveTo>
                  <a:cubicBezTo>
                    <a:pt x="3349" y="5252"/>
                    <a:pt x="11219" y="-1"/>
                    <a:pt x="19947" y="0"/>
                  </a:cubicBezTo>
                  <a:cubicBezTo>
                    <a:pt x="31876" y="0"/>
                    <a:pt x="41547" y="9670"/>
                    <a:pt x="41547" y="21600"/>
                  </a:cubicBezTo>
                </a:path>
                <a:path w="41547" h="21600" stroke="0">
                  <a:moveTo>
                    <a:pt x="0" y="13312"/>
                  </a:moveTo>
                  <a:cubicBezTo>
                    <a:pt x="3349" y="5252"/>
                    <a:pt x="11219" y="-1"/>
                    <a:pt x="19947" y="0"/>
                  </a:cubicBezTo>
                  <a:cubicBezTo>
                    <a:pt x="31876" y="0"/>
                    <a:pt x="41547" y="9670"/>
                    <a:pt x="41547" y="21600"/>
                  </a:cubicBezTo>
                  <a:lnTo>
                    <a:pt x="19947" y="21600"/>
                  </a:lnTo>
                  <a:lnTo>
                    <a:pt x="0" y="1331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Arc 28">
              <a:extLst>
                <a:ext uri="{FF2B5EF4-FFF2-40B4-BE49-F238E27FC236}">
                  <a16:creationId xmlns:a16="http://schemas.microsoft.com/office/drawing/2014/main" id="{92C70A6C-D28D-4A7C-B748-797A51C4F7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67740">
              <a:off x="1225" y="1115"/>
              <a:ext cx="100" cy="23"/>
            </a:xfrm>
            <a:custGeom>
              <a:avLst/>
              <a:gdLst>
                <a:gd name="T0" fmla="*/ 0 w 40614"/>
                <a:gd name="T1" fmla="*/ 0 h 21600"/>
                <a:gd name="T2" fmla="*/ 0 w 40614"/>
                <a:gd name="T3" fmla="*/ 0 h 21600"/>
                <a:gd name="T4" fmla="*/ 0 w 40614"/>
                <a:gd name="T5" fmla="*/ 0 h 21600"/>
                <a:gd name="T6" fmla="*/ 0 w 40614"/>
                <a:gd name="T7" fmla="*/ 0 h 21600"/>
                <a:gd name="T8" fmla="*/ 0 w 40614"/>
                <a:gd name="T9" fmla="*/ 0 h 21600"/>
                <a:gd name="T10" fmla="*/ 0 w 40614"/>
                <a:gd name="T11" fmla="*/ 0 h 21600"/>
                <a:gd name="T12" fmla="*/ 0 w 40614"/>
                <a:gd name="T13" fmla="*/ 0 h 21600"/>
                <a:gd name="T14" fmla="*/ 0 w 40614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0614" h="21600" fill="none">
                  <a:moveTo>
                    <a:pt x="0" y="13312"/>
                  </a:moveTo>
                  <a:cubicBezTo>
                    <a:pt x="3349" y="5252"/>
                    <a:pt x="11219" y="-1"/>
                    <a:pt x="19947" y="0"/>
                  </a:cubicBezTo>
                  <a:cubicBezTo>
                    <a:pt x="29457" y="0"/>
                    <a:pt x="37849" y="6220"/>
                    <a:pt x="40614" y="15320"/>
                  </a:cubicBezTo>
                </a:path>
                <a:path w="40614" h="21600" stroke="0">
                  <a:moveTo>
                    <a:pt x="0" y="13312"/>
                  </a:moveTo>
                  <a:cubicBezTo>
                    <a:pt x="3349" y="5252"/>
                    <a:pt x="11219" y="-1"/>
                    <a:pt x="19947" y="0"/>
                  </a:cubicBezTo>
                  <a:cubicBezTo>
                    <a:pt x="29457" y="0"/>
                    <a:pt x="37849" y="6220"/>
                    <a:pt x="40614" y="15320"/>
                  </a:cubicBezTo>
                  <a:lnTo>
                    <a:pt x="19947" y="21600"/>
                  </a:lnTo>
                  <a:lnTo>
                    <a:pt x="0" y="1331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60" name="Object 29">
              <a:extLst>
                <a:ext uri="{FF2B5EF4-FFF2-40B4-BE49-F238E27FC236}">
                  <a16:creationId xmlns:a16="http://schemas.microsoft.com/office/drawing/2014/main" id="{4A7FB000-D7C1-48A2-8D4E-CA503EDA6F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0" y="1127"/>
            <a:ext cx="14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55161" imgH="168091" progId="Equation.DSMT4">
                    <p:embed/>
                  </p:oleObj>
                </mc:Choice>
                <mc:Fallback>
                  <p:oleObj r:id="rId16" imgW="155161" imgH="168091" progId="Equation.DSMT4">
                    <p:embed/>
                    <p:pic>
                      <p:nvPicPr>
                        <p:cNvPr id="60" name="Object 29">
                          <a:extLst>
                            <a:ext uri="{FF2B5EF4-FFF2-40B4-BE49-F238E27FC236}">
                              <a16:creationId xmlns:a16="http://schemas.microsoft.com/office/drawing/2014/main" id="{4A7FB000-D7C1-48A2-8D4E-CA503EDA6F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" y="1127"/>
                          <a:ext cx="14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" name="Text Box 30">
              <a:extLst>
                <a:ext uri="{FF2B5EF4-FFF2-40B4-BE49-F238E27FC236}">
                  <a16:creationId xmlns:a16="http://schemas.microsoft.com/office/drawing/2014/main" id="{3975A809-4066-4B7F-83E2-CDEC54345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" y="317"/>
              <a:ext cx="7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>
                  <a:latin typeface="华文隶书" pitchFamily="2" charset="-122"/>
                </a:rPr>
                <a:t>反转点</a:t>
              </a:r>
            </a:p>
          </p:txBody>
        </p:sp>
        <p:graphicFrame>
          <p:nvGraphicFramePr>
            <p:cNvPr id="62" name="Object 31">
              <a:extLst>
                <a:ext uri="{FF2B5EF4-FFF2-40B4-BE49-F238E27FC236}">
                  <a16:creationId xmlns:a16="http://schemas.microsoft.com/office/drawing/2014/main" id="{E196E96C-8BC0-4110-8608-0C960C2F22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63" y="39"/>
            <a:ext cx="14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55161" imgH="168091" progId="Equation.DSMT4">
                    <p:embed/>
                  </p:oleObj>
                </mc:Choice>
                <mc:Fallback>
                  <p:oleObj r:id="rId18" imgW="155161" imgH="168091" progId="Equation.DSMT4">
                    <p:embed/>
                    <p:pic>
                      <p:nvPicPr>
                        <p:cNvPr id="62" name="Object 31">
                          <a:extLst>
                            <a:ext uri="{FF2B5EF4-FFF2-40B4-BE49-F238E27FC236}">
                              <a16:creationId xmlns:a16="http://schemas.microsoft.com/office/drawing/2014/main" id="{E196E96C-8BC0-4110-8608-0C960C2F22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3" y="39"/>
                          <a:ext cx="14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Line 32">
              <a:extLst>
                <a:ext uri="{FF2B5EF4-FFF2-40B4-BE49-F238E27FC236}">
                  <a16:creationId xmlns:a16="http://schemas.microsoft.com/office/drawing/2014/main" id="{B1F3ACF6-409A-42B5-AC86-9CC04C7E9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" y="970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33">
            <a:extLst>
              <a:ext uri="{FF2B5EF4-FFF2-40B4-BE49-F238E27FC236}">
                <a16:creationId xmlns:a16="http://schemas.microsoft.com/office/drawing/2014/main" id="{F8AC5C86-28FA-4A90-B606-D5488085D754}"/>
              </a:ext>
            </a:extLst>
          </p:cNvPr>
          <p:cNvGrpSpPr>
            <a:grpSpLocks/>
          </p:cNvGrpSpPr>
          <p:nvPr/>
        </p:nvGrpSpPr>
        <p:grpSpPr bwMode="auto">
          <a:xfrm>
            <a:off x="8329492" y="3075781"/>
            <a:ext cx="1655763" cy="342900"/>
            <a:chOff x="0" y="0"/>
            <a:chExt cx="1043" cy="216"/>
          </a:xfrm>
        </p:grpSpPr>
        <p:sp>
          <p:nvSpPr>
            <p:cNvPr id="65" name="Line 34">
              <a:extLst>
                <a:ext uri="{FF2B5EF4-FFF2-40B4-BE49-F238E27FC236}">
                  <a16:creationId xmlns:a16="http://schemas.microsoft.com/office/drawing/2014/main" id="{2A775D0D-CD33-4F1B-AEF0-421BB071C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91"/>
              <a:ext cx="104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66" name="Object 35">
              <a:extLst>
                <a:ext uri="{FF2B5EF4-FFF2-40B4-BE49-F238E27FC236}">
                  <a16:creationId xmlns:a16="http://schemas.microsoft.com/office/drawing/2014/main" id="{B8D44D20-8F43-4B5E-835D-EB7BEF1A12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0"/>
            <a:ext cx="14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54615" imgH="231922" progId="Equation.DSMT4">
                    <p:embed/>
                  </p:oleObj>
                </mc:Choice>
                <mc:Fallback>
                  <p:oleObj r:id="rId20" imgW="154615" imgH="231922" progId="Equation.DSMT4">
                    <p:embed/>
                    <p:pic>
                      <p:nvPicPr>
                        <p:cNvPr id="66" name="Object 35">
                          <a:extLst>
                            <a:ext uri="{FF2B5EF4-FFF2-40B4-BE49-F238E27FC236}">
                              <a16:creationId xmlns:a16="http://schemas.microsoft.com/office/drawing/2014/main" id="{B8D44D20-8F43-4B5E-835D-EB7BEF1A12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0"/>
                          <a:ext cx="143" cy="21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" name="Group 36">
            <a:extLst>
              <a:ext uri="{FF2B5EF4-FFF2-40B4-BE49-F238E27FC236}">
                <a16:creationId xmlns:a16="http://schemas.microsoft.com/office/drawing/2014/main" id="{64C66C59-7C52-4A3D-9069-BD8F6979262B}"/>
              </a:ext>
            </a:extLst>
          </p:cNvPr>
          <p:cNvGrpSpPr>
            <a:grpSpLocks/>
          </p:cNvGrpSpPr>
          <p:nvPr/>
        </p:nvGrpSpPr>
        <p:grpSpPr bwMode="auto">
          <a:xfrm>
            <a:off x="8329492" y="3436144"/>
            <a:ext cx="2592388" cy="209550"/>
            <a:chOff x="0" y="0"/>
            <a:chExt cx="1633" cy="132"/>
          </a:xfrm>
        </p:grpSpPr>
        <p:sp>
          <p:nvSpPr>
            <p:cNvPr id="68" name="Line 37">
              <a:extLst>
                <a:ext uri="{FF2B5EF4-FFF2-40B4-BE49-F238E27FC236}">
                  <a16:creationId xmlns:a16="http://schemas.microsoft.com/office/drawing/2014/main" id="{77E9AE21-CFD9-46B0-A5B8-E465FE040B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45"/>
              <a:ext cx="1633" cy="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69" name="Object 38">
              <a:extLst>
                <a:ext uri="{FF2B5EF4-FFF2-40B4-BE49-F238E27FC236}">
                  <a16:creationId xmlns:a16="http://schemas.microsoft.com/office/drawing/2014/main" id="{094B25CF-8B18-4FB1-A817-1B5755E0BC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0" y="0"/>
            <a:ext cx="119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129817" imgH="142799" progId="Equation.DSMT4">
                    <p:embed/>
                  </p:oleObj>
                </mc:Choice>
                <mc:Fallback>
                  <p:oleObj r:id="rId22" imgW="129817" imgH="142799" progId="Equation.DSMT4">
                    <p:embed/>
                    <p:pic>
                      <p:nvPicPr>
                        <p:cNvPr id="69" name="Object 38">
                          <a:extLst>
                            <a:ext uri="{FF2B5EF4-FFF2-40B4-BE49-F238E27FC236}">
                              <a16:creationId xmlns:a16="http://schemas.microsoft.com/office/drawing/2014/main" id="{094B25CF-8B18-4FB1-A817-1B5755E0BC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" y="0"/>
                          <a:ext cx="119" cy="13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0" name="Group 39">
            <a:extLst>
              <a:ext uri="{FF2B5EF4-FFF2-40B4-BE49-F238E27FC236}">
                <a16:creationId xmlns:a16="http://schemas.microsoft.com/office/drawing/2014/main" id="{0AA19641-6DF0-4115-8A18-D403E8CA7158}"/>
              </a:ext>
            </a:extLst>
          </p:cNvPr>
          <p:cNvGrpSpPr>
            <a:grpSpLocks/>
          </p:cNvGrpSpPr>
          <p:nvPr/>
        </p:nvGrpSpPr>
        <p:grpSpPr bwMode="auto">
          <a:xfrm>
            <a:off x="9999542" y="3075781"/>
            <a:ext cx="936625" cy="342900"/>
            <a:chOff x="0" y="0"/>
            <a:chExt cx="590" cy="216"/>
          </a:xfrm>
        </p:grpSpPr>
        <p:sp>
          <p:nvSpPr>
            <p:cNvPr id="71" name="Line 40">
              <a:extLst>
                <a:ext uri="{FF2B5EF4-FFF2-40B4-BE49-F238E27FC236}">
                  <a16:creationId xmlns:a16="http://schemas.microsoft.com/office/drawing/2014/main" id="{36FFBD7F-181C-4537-A80A-332D181E0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91"/>
              <a:ext cx="59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72" name="Object 41">
              <a:extLst>
                <a:ext uri="{FF2B5EF4-FFF2-40B4-BE49-F238E27FC236}">
                  <a16:creationId xmlns:a16="http://schemas.microsoft.com/office/drawing/2014/main" id="{BFC0EE4F-48CD-477F-A627-5ED60D47C7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2" y="0"/>
            <a:ext cx="15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167425" imgH="231820" progId="Equation.DSMT4">
                    <p:embed/>
                  </p:oleObj>
                </mc:Choice>
                <mc:Fallback>
                  <p:oleObj r:id="rId24" imgW="167425" imgH="231820" progId="Equation.DSMT4">
                    <p:embed/>
                    <p:pic>
                      <p:nvPicPr>
                        <p:cNvPr id="72" name="Object 41">
                          <a:extLst>
                            <a:ext uri="{FF2B5EF4-FFF2-40B4-BE49-F238E27FC236}">
                              <a16:creationId xmlns:a16="http://schemas.microsoft.com/office/drawing/2014/main" id="{BFC0EE4F-48CD-477F-A627-5ED60D47C7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" y="0"/>
                          <a:ext cx="155" cy="21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" name="Object 3">
            <a:extLst>
              <a:ext uri="{FF2B5EF4-FFF2-40B4-BE49-F238E27FC236}">
                <a16:creationId xmlns:a16="http://schemas.microsoft.com/office/drawing/2014/main" id="{3C32F965-EE09-4A16-9495-A36E532A5D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6345084"/>
              </p:ext>
            </p:extLst>
          </p:nvPr>
        </p:nvGraphicFramePr>
        <p:xfrm>
          <a:off x="6967538" y="4987925"/>
          <a:ext cx="4084637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93680" imgH="736560" progId="Equation.DSMT4">
                  <p:embed/>
                </p:oleObj>
              </mc:Choice>
              <mc:Fallback>
                <p:oleObj name="Equation" r:id="rId26" imgW="1993680" imgH="736560" progId="Equation.DSMT4">
                  <p:embed/>
                  <p:pic>
                    <p:nvPicPr>
                      <p:cNvPr id="73" name="Object 3">
                        <a:extLst>
                          <a:ext uri="{FF2B5EF4-FFF2-40B4-BE49-F238E27FC236}">
                            <a16:creationId xmlns:a16="http://schemas.microsoft.com/office/drawing/2014/main" id="{3C32F965-EE09-4A16-9495-A36E532A5D7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7538" y="4987925"/>
                        <a:ext cx="4084637" cy="150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04C1F1-6B68-466B-B654-12203314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44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/>
              <p:nvPr/>
            </p:nvSpPr>
            <p:spPr>
              <a:xfrm>
                <a:off x="332281" y="903720"/>
                <a:ext cx="6401079" cy="2437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、声线传播的水平距离</a:t>
                </a: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基于垂直距离</a:t>
                </a:r>
                <a:endPara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声速分布：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(1+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𝑎𝑧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若已知声线经过的垂直距离为</a:t>
                </a:r>
                <a14:m>
                  <m:oMath xmlns:m="http://schemas.openxmlformats.org/officeDocument/2006/math">
                    <m:r>
                      <a:rPr lang="zh-CN" altLang="en-US" sz="2000" b="0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：</m:t>
                    </m:r>
                  </m:oMath>
                </a14:m>
                <a:endParaRPr lang="en-US" altLang="zh-CN" sz="2000" b="0" i="1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𝑧</m:t>
                      </m:r>
                      <m:r>
                        <a:rPr lang="en-US" altLang="zh-CN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</m:e>
                          </m:func>
                          <m: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sz="2000" b="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则水平距离为：</a:t>
                </a:r>
                <a:endPara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81" y="903720"/>
                <a:ext cx="6401079" cy="2437014"/>
              </a:xfrm>
              <a:prstGeom prst="rect">
                <a:avLst/>
              </a:prstGeom>
              <a:blipFill>
                <a:blip r:embed="rId2"/>
                <a:stretch>
                  <a:fillRect l="-1980" t="-1036" b="-3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11">
            <a:extLst>
              <a:ext uri="{FF2B5EF4-FFF2-40B4-BE49-F238E27FC236}">
                <a16:creationId xmlns:a16="http://schemas.microsoft.com/office/drawing/2014/main" id="{0A5E13B2-B9BF-4750-A003-7A4AB4DC8763}"/>
              </a:ext>
            </a:extLst>
          </p:cNvPr>
          <p:cNvGrpSpPr>
            <a:grpSpLocks/>
          </p:cNvGrpSpPr>
          <p:nvPr/>
        </p:nvGrpSpPr>
        <p:grpSpPr bwMode="auto">
          <a:xfrm>
            <a:off x="6501161" y="1166749"/>
            <a:ext cx="4896276" cy="2453338"/>
            <a:chOff x="0" y="0"/>
            <a:chExt cx="3295" cy="1651"/>
          </a:xfrm>
        </p:grpSpPr>
        <p:graphicFrame>
          <p:nvGraphicFramePr>
            <p:cNvPr id="75" name="Object 12">
              <a:extLst>
                <a:ext uri="{FF2B5EF4-FFF2-40B4-BE49-F238E27FC236}">
                  <a16:creationId xmlns:a16="http://schemas.microsoft.com/office/drawing/2014/main" id="{85AAC467-5237-43D8-B09C-F50C00A065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77" y="442"/>
            <a:ext cx="143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55988" imgH="142989" progId="Equation.DSMT4">
                    <p:embed/>
                  </p:oleObj>
                </mc:Choice>
                <mc:Fallback>
                  <p:oleObj r:id="rId3" imgW="155988" imgH="142989" progId="Equation.DSMT4">
                    <p:embed/>
                    <p:pic>
                      <p:nvPicPr>
                        <p:cNvPr id="122896" name="Object 12">
                          <a:extLst>
                            <a:ext uri="{FF2B5EF4-FFF2-40B4-BE49-F238E27FC236}">
                              <a16:creationId xmlns:a16="http://schemas.microsoft.com/office/drawing/2014/main" id="{BF9A2210-AE72-41E9-B049-73F5178E8B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7" y="442"/>
                          <a:ext cx="143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Line 13">
              <a:extLst>
                <a:ext uri="{FF2B5EF4-FFF2-40B4-BE49-F238E27FC236}">
                  <a16:creationId xmlns:a16="http://schemas.microsoft.com/office/drawing/2014/main" id="{F3EC61B6-5F06-473A-84AC-8CC5DA7CC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" y="236"/>
              <a:ext cx="7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14">
              <a:extLst>
                <a:ext uri="{FF2B5EF4-FFF2-40B4-BE49-F238E27FC236}">
                  <a16:creationId xmlns:a16="http://schemas.microsoft.com/office/drawing/2014/main" id="{5CD66FB9-4191-44DC-AD5A-0BC4AAC26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" y="236"/>
              <a:ext cx="0" cy="1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 Box 15">
              <a:extLst>
                <a:ext uri="{FF2B5EF4-FFF2-40B4-BE49-F238E27FC236}">
                  <a16:creationId xmlns:a16="http://schemas.microsoft.com/office/drawing/2014/main" id="{4A7C4047-D5AC-4D7E-B245-F470A3CC4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59"/>
              <a:ext cx="1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华文隶书" pitchFamily="2" charset="-122"/>
                </a:rPr>
                <a:t>z</a:t>
              </a:r>
            </a:p>
          </p:txBody>
        </p:sp>
        <p:sp>
          <p:nvSpPr>
            <p:cNvPr id="79" name="Text Box 16">
              <a:extLst>
                <a:ext uri="{FF2B5EF4-FFF2-40B4-BE49-F238E27FC236}">
                  <a16:creationId xmlns:a16="http://schemas.microsoft.com/office/drawing/2014/main" id="{ECC652CA-5BFD-4BA5-AA29-A4FC93A7F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9"/>
              <a:ext cx="1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华文隶书" pitchFamily="2" charset="-122"/>
                </a:rPr>
                <a:t>x</a:t>
              </a:r>
            </a:p>
          </p:txBody>
        </p:sp>
        <p:graphicFrame>
          <p:nvGraphicFramePr>
            <p:cNvPr id="80" name="Object 17">
              <a:extLst>
                <a:ext uri="{FF2B5EF4-FFF2-40B4-BE49-F238E27FC236}">
                  <a16:creationId xmlns:a16="http://schemas.microsoft.com/office/drawing/2014/main" id="{502806CA-D301-474F-BE33-FB177DB801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6" y="784"/>
            <a:ext cx="167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80225" imgH="231718" progId="Equation.DSMT4">
                    <p:embed/>
                  </p:oleObj>
                </mc:Choice>
                <mc:Fallback>
                  <p:oleObj r:id="rId5" imgW="180225" imgH="231718" progId="Equation.DSMT4">
                    <p:embed/>
                    <p:pic>
                      <p:nvPicPr>
                        <p:cNvPr id="122901" name="Object 17">
                          <a:extLst>
                            <a:ext uri="{FF2B5EF4-FFF2-40B4-BE49-F238E27FC236}">
                              <a16:creationId xmlns:a16="http://schemas.microsoft.com/office/drawing/2014/main" id="{F7445314-3156-4EE6-BDFC-82F1FCDDD6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6" y="784"/>
                          <a:ext cx="167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Line 18">
              <a:extLst>
                <a:ext uri="{FF2B5EF4-FFF2-40B4-BE49-F238E27FC236}">
                  <a16:creationId xmlns:a16="http://schemas.microsoft.com/office/drawing/2014/main" id="{6F235D72-1245-43D4-916F-73BFAAE51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" y="236"/>
              <a:ext cx="22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19">
              <a:extLst>
                <a:ext uri="{FF2B5EF4-FFF2-40B4-BE49-F238E27FC236}">
                  <a16:creationId xmlns:a16="http://schemas.microsoft.com/office/drawing/2014/main" id="{7CA6217C-3B32-47AB-B739-42552D001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" y="236"/>
              <a:ext cx="0" cy="1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 Box 20">
              <a:extLst>
                <a:ext uri="{FF2B5EF4-FFF2-40B4-BE49-F238E27FC236}">
                  <a16:creationId xmlns:a16="http://schemas.microsoft.com/office/drawing/2014/main" id="{1A9734A5-6D7D-4B6F-A203-397EC25E7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" y="1459"/>
              <a:ext cx="1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华文隶书" pitchFamily="2" charset="-122"/>
                </a:rPr>
                <a:t>z</a:t>
              </a:r>
            </a:p>
          </p:txBody>
        </p:sp>
        <p:sp>
          <p:nvSpPr>
            <p:cNvPr id="84" name="Text Box 21">
              <a:extLst>
                <a:ext uri="{FF2B5EF4-FFF2-40B4-BE49-F238E27FC236}">
                  <a16:creationId xmlns:a16="http://schemas.microsoft.com/office/drawing/2014/main" id="{41527D62-4686-4407-BEA5-4E69C2753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3" y="0"/>
              <a:ext cx="1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华文隶书" pitchFamily="2" charset="-122"/>
                </a:rPr>
                <a:t>x</a:t>
              </a:r>
            </a:p>
          </p:txBody>
        </p:sp>
        <p:sp>
          <p:nvSpPr>
            <p:cNvPr id="85" name="Arc 22">
              <a:extLst>
                <a:ext uri="{FF2B5EF4-FFF2-40B4-BE49-F238E27FC236}">
                  <a16:creationId xmlns:a16="http://schemas.microsoft.com/office/drawing/2014/main" id="{49CBBEEB-0C20-44B0-9B65-8CA0475C6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290"/>
              <a:ext cx="1892" cy="999"/>
            </a:xfrm>
            <a:custGeom>
              <a:avLst/>
              <a:gdLst>
                <a:gd name="T0" fmla="*/ 0 w 37069"/>
                <a:gd name="T1" fmla="*/ 31 h 21600"/>
                <a:gd name="T2" fmla="*/ 53 w 37069"/>
                <a:gd name="T3" fmla="*/ 0 h 21600"/>
                <a:gd name="T4" fmla="*/ 97 w 37069"/>
                <a:gd name="T5" fmla="*/ 17 h 21600"/>
                <a:gd name="T6" fmla="*/ 0 w 37069"/>
                <a:gd name="T7" fmla="*/ 31 h 21600"/>
                <a:gd name="T8" fmla="*/ 53 w 37069"/>
                <a:gd name="T9" fmla="*/ 0 h 21600"/>
                <a:gd name="T10" fmla="*/ 97 w 37069"/>
                <a:gd name="T11" fmla="*/ 17 h 21600"/>
                <a:gd name="T12" fmla="*/ 53 w 37069"/>
                <a:gd name="T13" fmla="*/ 46 h 21600"/>
                <a:gd name="T14" fmla="*/ 0 w 37069"/>
                <a:gd name="T15" fmla="*/ 31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069" h="21600" fill="none">
                  <a:moveTo>
                    <a:pt x="-1" y="14498"/>
                  </a:moveTo>
                  <a:cubicBezTo>
                    <a:pt x="3021" y="5817"/>
                    <a:pt x="11206" y="-1"/>
                    <a:pt x="20399" y="0"/>
                  </a:cubicBezTo>
                  <a:cubicBezTo>
                    <a:pt x="26851" y="0"/>
                    <a:pt x="32965" y="2884"/>
                    <a:pt x="37068" y="7864"/>
                  </a:cubicBezTo>
                </a:path>
                <a:path w="37069" h="21600" stroke="0">
                  <a:moveTo>
                    <a:pt x="-1" y="14498"/>
                  </a:moveTo>
                  <a:cubicBezTo>
                    <a:pt x="3021" y="5817"/>
                    <a:pt x="11206" y="-1"/>
                    <a:pt x="20399" y="0"/>
                  </a:cubicBezTo>
                  <a:cubicBezTo>
                    <a:pt x="26851" y="0"/>
                    <a:pt x="32965" y="2884"/>
                    <a:pt x="37068" y="7864"/>
                  </a:cubicBezTo>
                  <a:lnTo>
                    <a:pt x="20399" y="21600"/>
                  </a:lnTo>
                  <a:lnTo>
                    <a:pt x="-1" y="14498"/>
                  </a:lnTo>
                  <a:close/>
                </a:path>
              </a:pathLst>
            </a:custGeom>
            <a:noFill/>
            <a:ln w="2222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23">
              <a:extLst>
                <a:ext uri="{FF2B5EF4-FFF2-40B4-BE49-F238E27FC236}">
                  <a16:creationId xmlns:a16="http://schemas.microsoft.com/office/drawing/2014/main" id="{EFB8499C-C49E-4ED6-A754-55F71E6781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3" y="961"/>
              <a:ext cx="453" cy="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24">
              <a:extLst>
                <a:ext uri="{FF2B5EF4-FFF2-40B4-BE49-F238E27FC236}">
                  <a16:creationId xmlns:a16="http://schemas.microsoft.com/office/drawing/2014/main" id="{EB899782-2419-41D3-8EA0-4EDA500DF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3" y="36"/>
              <a:ext cx="1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华文隶书" pitchFamily="2" charset="-122"/>
                </a:rPr>
                <a:t>0</a:t>
              </a:r>
            </a:p>
          </p:txBody>
        </p:sp>
        <p:sp>
          <p:nvSpPr>
            <p:cNvPr id="88" name="Line 25">
              <a:extLst>
                <a:ext uri="{FF2B5EF4-FFF2-40B4-BE49-F238E27FC236}">
                  <a16:creationId xmlns:a16="http://schemas.microsoft.com/office/drawing/2014/main" id="{8A1BA93D-2BAA-4976-BC71-CBABC2E8A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36"/>
              <a:ext cx="0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26">
              <a:extLst>
                <a:ext uri="{FF2B5EF4-FFF2-40B4-BE49-F238E27FC236}">
                  <a16:creationId xmlns:a16="http://schemas.microsoft.com/office/drawing/2014/main" id="{41422106-A160-47E6-9407-0A621F257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" y="961"/>
              <a:ext cx="1043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8FFBAD77-1157-48BD-A23B-DFEC528D5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6" y="462"/>
              <a:ext cx="59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28">
              <a:extLst>
                <a:ext uri="{FF2B5EF4-FFF2-40B4-BE49-F238E27FC236}">
                  <a16:creationId xmlns:a16="http://schemas.microsoft.com/office/drawing/2014/main" id="{68908B26-E680-481D-A888-BBF34934F3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0" y="450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29">
              <a:extLst>
                <a:ext uri="{FF2B5EF4-FFF2-40B4-BE49-F238E27FC236}">
                  <a16:creationId xmlns:a16="http://schemas.microsoft.com/office/drawing/2014/main" id="{70C28456-E32B-44B7-874A-B9211E70F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4" y="458"/>
              <a:ext cx="12" cy="5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93" name="Object 30">
              <a:extLst>
                <a:ext uri="{FF2B5EF4-FFF2-40B4-BE49-F238E27FC236}">
                  <a16:creationId xmlns:a16="http://schemas.microsoft.com/office/drawing/2014/main" id="{9724D080-4C24-4683-A67B-6AF8B3369D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7" y="839"/>
            <a:ext cx="143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54615" imgH="231922" progId="Equation.DSMT4">
                    <p:embed/>
                  </p:oleObj>
                </mc:Choice>
                <mc:Fallback>
                  <p:oleObj r:id="rId7" imgW="154615" imgH="231922" progId="Equation.DSMT4">
                    <p:embed/>
                    <p:pic>
                      <p:nvPicPr>
                        <p:cNvPr id="122914" name="Object 30">
                          <a:extLst>
                            <a:ext uri="{FF2B5EF4-FFF2-40B4-BE49-F238E27FC236}">
                              <a16:creationId xmlns:a16="http://schemas.microsoft.com/office/drawing/2014/main" id="{000BC404-282B-445F-BA2E-996B20339F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7" y="839"/>
                          <a:ext cx="143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" name="Object 31">
              <a:extLst>
                <a:ext uri="{FF2B5EF4-FFF2-40B4-BE49-F238E27FC236}">
                  <a16:creationId xmlns:a16="http://schemas.microsoft.com/office/drawing/2014/main" id="{5F0AC5AE-CC14-4578-BDFD-F4067530A5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7" y="372"/>
            <a:ext cx="39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422770" imgH="256224" progId="Equation.DSMT4">
                    <p:embed/>
                  </p:oleObj>
                </mc:Choice>
                <mc:Fallback>
                  <p:oleObj r:id="rId9" imgW="422770" imgH="256224" progId="Equation.DSMT4">
                    <p:embed/>
                    <p:pic>
                      <p:nvPicPr>
                        <p:cNvPr id="122915" name="Object 31">
                          <a:extLst>
                            <a:ext uri="{FF2B5EF4-FFF2-40B4-BE49-F238E27FC236}">
                              <a16:creationId xmlns:a16="http://schemas.microsoft.com/office/drawing/2014/main" id="{9F99E05A-B78D-4AE4-8536-785BD17964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7" y="372"/>
                          <a:ext cx="393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" name="Object 32">
              <a:extLst>
                <a:ext uri="{FF2B5EF4-FFF2-40B4-BE49-F238E27FC236}">
                  <a16:creationId xmlns:a16="http://schemas.microsoft.com/office/drawing/2014/main" id="{E29E612A-7B20-4519-A30F-090624D8D7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54" y="916"/>
            <a:ext cx="119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29817" imgH="142799" progId="Equation.DSMT4">
                    <p:embed/>
                  </p:oleObj>
                </mc:Choice>
                <mc:Fallback>
                  <p:oleObj r:id="rId11" imgW="129817" imgH="142799" progId="Equation.DSMT4">
                    <p:embed/>
                    <p:pic>
                      <p:nvPicPr>
                        <p:cNvPr id="122916" name="Object 32">
                          <a:extLst>
                            <a:ext uri="{FF2B5EF4-FFF2-40B4-BE49-F238E27FC236}">
                              <a16:creationId xmlns:a16="http://schemas.microsoft.com/office/drawing/2014/main" id="{5F7FFF09-EDB1-4FAD-BFD4-8EA1B1BF21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4" y="916"/>
                          <a:ext cx="119" cy="13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" name="Object 33">
              <a:extLst>
                <a:ext uri="{FF2B5EF4-FFF2-40B4-BE49-F238E27FC236}">
                  <a16:creationId xmlns:a16="http://schemas.microsoft.com/office/drawing/2014/main" id="{27138486-B4DA-4ACC-B544-312FF9F64C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2" y="993"/>
            <a:ext cx="143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55988" imgH="142989" progId="Equation.DSMT4">
                    <p:embed/>
                  </p:oleObj>
                </mc:Choice>
                <mc:Fallback>
                  <p:oleObj r:id="rId13" imgW="155988" imgH="142989" progId="Equation.DSMT4">
                    <p:embed/>
                    <p:pic>
                      <p:nvPicPr>
                        <p:cNvPr id="122917" name="Object 33">
                          <a:extLst>
                            <a:ext uri="{FF2B5EF4-FFF2-40B4-BE49-F238E27FC236}">
                              <a16:creationId xmlns:a16="http://schemas.microsoft.com/office/drawing/2014/main" id="{4F34C0B8-3900-4DC4-B514-F0687B1BA5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2" y="993"/>
                          <a:ext cx="143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34">
              <a:extLst>
                <a:ext uri="{FF2B5EF4-FFF2-40B4-BE49-F238E27FC236}">
                  <a16:creationId xmlns:a16="http://schemas.microsoft.com/office/drawing/2014/main" id="{E87D0731-43D4-437D-BB54-9066C7FB22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3" y="1037"/>
            <a:ext cx="167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80225" imgH="231718" progId="Equation.DSMT4">
                    <p:embed/>
                  </p:oleObj>
                </mc:Choice>
                <mc:Fallback>
                  <p:oleObj r:id="rId14" imgW="180225" imgH="231718" progId="Equation.DSMT4">
                    <p:embed/>
                    <p:pic>
                      <p:nvPicPr>
                        <p:cNvPr id="122918" name="Object 34">
                          <a:extLst>
                            <a:ext uri="{FF2B5EF4-FFF2-40B4-BE49-F238E27FC236}">
                              <a16:creationId xmlns:a16="http://schemas.microsoft.com/office/drawing/2014/main" id="{FE008D1B-2085-4261-A8EE-F15DB994D1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3" y="1037"/>
                          <a:ext cx="167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Arc 35">
              <a:extLst>
                <a:ext uri="{FF2B5EF4-FFF2-40B4-BE49-F238E27FC236}">
                  <a16:creationId xmlns:a16="http://schemas.microsoft.com/office/drawing/2014/main" id="{24EC4696-AF3D-4D03-B522-6A23CFBC08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418040">
              <a:off x="1991" y="1219"/>
              <a:ext cx="127" cy="44"/>
            </a:xfrm>
            <a:custGeom>
              <a:avLst/>
              <a:gdLst>
                <a:gd name="T0" fmla="*/ 0 w 41547"/>
                <a:gd name="T1" fmla="*/ 0 h 21600"/>
                <a:gd name="T2" fmla="*/ 0 w 41547"/>
                <a:gd name="T3" fmla="*/ 0 h 21600"/>
                <a:gd name="T4" fmla="*/ 0 w 41547"/>
                <a:gd name="T5" fmla="*/ 0 h 21600"/>
                <a:gd name="T6" fmla="*/ 0 w 41547"/>
                <a:gd name="T7" fmla="*/ 0 h 21600"/>
                <a:gd name="T8" fmla="*/ 0 w 41547"/>
                <a:gd name="T9" fmla="*/ 0 h 21600"/>
                <a:gd name="T10" fmla="*/ 0 w 41547"/>
                <a:gd name="T11" fmla="*/ 0 h 21600"/>
                <a:gd name="T12" fmla="*/ 0 w 41547"/>
                <a:gd name="T13" fmla="*/ 0 h 21600"/>
                <a:gd name="T14" fmla="*/ 0 w 41547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1547" h="21600" fill="none">
                  <a:moveTo>
                    <a:pt x="0" y="13312"/>
                  </a:moveTo>
                  <a:cubicBezTo>
                    <a:pt x="3349" y="5252"/>
                    <a:pt x="11219" y="-1"/>
                    <a:pt x="19947" y="0"/>
                  </a:cubicBezTo>
                  <a:cubicBezTo>
                    <a:pt x="31876" y="0"/>
                    <a:pt x="41547" y="9670"/>
                    <a:pt x="41547" y="21600"/>
                  </a:cubicBezTo>
                </a:path>
                <a:path w="41547" h="21600" stroke="0">
                  <a:moveTo>
                    <a:pt x="0" y="13312"/>
                  </a:moveTo>
                  <a:cubicBezTo>
                    <a:pt x="3349" y="5252"/>
                    <a:pt x="11219" y="-1"/>
                    <a:pt x="19947" y="0"/>
                  </a:cubicBezTo>
                  <a:cubicBezTo>
                    <a:pt x="31876" y="0"/>
                    <a:pt x="41547" y="9670"/>
                    <a:pt x="41547" y="21600"/>
                  </a:cubicBezTo>
                  <a:lnTo>
                    <a:pt x="19947" y="21600"/>
                  </a:lnTo>
                  <a:lnTo>
                    <a:pt x="0" y="1331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Arc 36">
              <a:extLst>
                <a:ext uri="{FF2B5EF4-FFF2-40B4-BE49-F238E27FC236}">
                  <a16:creationId xmlns:a16="http://schemas.microsoft.com/office/drawing/2014/main" id="{CEE9FF97-6176-4242-8C0A-6F01E8EC25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67740">
              <a:off x="2017" y="1143"/>
              <a:ext cx="100" cy="23"/>
            </a:xfrm>
            <a:custGeom>
              <a:avLst/>
              <a:gdLst>
                <a:gd name="T0" fmla="*/ 0 w 40614"/>
                <a:gd name="T1" fmla="*/ 0 h 21600"/>
                <a:gd name="T2" fmla="*/ 0 w 40614"/>
                <a:gd name="T3" fmla="*/ 0 h 21600"/>
                <a:gd name="T4" fmla="*/ 0 w 40614"/>
                <a:gd name="T5" fmla="*/ 0 h 21600"/>
                <a:gd name="T6" fmla="*/ 0 w 40614"/>
                <a:gd name="T7" fmla="*/ 0 h 21600"/>
                <a:gd name="T8" fmla="*/ 0 w 40614"/>
                <a:gd name="T9" fmla="*/ 0 h 21600"/>
                <a:gd name="T10" fmla="*/ 0 w 40614"/>
                <a:gd name="T11" fmla="*/ 0 h 21600"/>
                <a:gd name="T12" fmla="*/ 0 w 40614"/>
                <a:gd name="T13" fmla="*/ 0 h 21600"/>
                <a:gd name="T14" fmla="*/ 0 w 40614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0614" h="21600" fill="none">
                  <a:moveTo>
                    <a:pt x="0" y="13312"/>
                  </a:moveTo>
                  <a:cubicBezTo>
                    <a:pt x="3349" y="5252"/>
                    <a:pt x="11219" y="-1"/>
                    <a:pt x="19947" y="0"/>
                  </a:cubicBezTo>
                  <a:cubicBezTo>
                    <a:pt x="29457" y="0"/>
                    <a:pt x="37849" y="6220"/>
                    <a:pt x="40614" y="15320"/>
                  </a:cubicBezTo>
                </a:path>
                <a:path w="40614" h="21600" stroke="0">
                  <a:moveTo>
                    <a:pt x="0" y="13312"/>
                  </a:moveTo>
                  <a:cubicBezTo>
                    <a:pt x="3349" y="5252"/>
                    <a:pt x="11219" y="-1"/>
                    <a:pt x="19947" y="0"/>
                  </a:cubicBezTo>
                  <a:cubicBezTo>
                    <a:pt x="29457" y="0"/>
                    <a:pt x="37849" y="6220"/>
                    <a:pt x="40614" y="15320"/>
                  </a:cubicBezTo>
                  <a:lnTo>
                    <a:pt x="19947" y="21600"/>
                  </a:lnTo>
                  <a:lnTo>
                    <a:pt x="0" y="1331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0" name="Object 37">
              <a:extLst>
                <a:ext uri="{FF2B5EF4-FFF2-40B4-BE49-F238E27FC236}">
                  <a16:creationId xmlns:a16="http://schemas.microsoft.com/office/drawing/2014/main" id="{97FB1A50-EE31-4F68-B621-62E3050DC4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7" y="1127"/>
            <a:ext cx="14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55161" imgH="168091" progId="Equation.DSMT4">
                    <p:embed/>
                  </p:oleObj>
                </mc:Choice>
                <mc:Fallback>
                  <p:oleObj r:id="rId15" imgW="155161" imgH="168091" progId="Equation.DSMT4">
                    <p:embed/>
                    <p:pic>
                      <p:nvPicPr>
                        <p:cNvPr id="122921" name="Object 37">
                          <a:extLst>
                            <a:ext uri="{FF2B5EF4-FFF2-40B4-BE49-F238E27FC236}">
                              <a16:creationId xmlns:a16="http://schemas.microsoft.com/office/drawing/2014/main" id="{D746A2A8-50F4-4B48-AE7F-004AC47AF7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" y="1127"/>
                          <a:ext cx="14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" name="Text Box 38">
              <a:extLst>
                <a:ext uri="{FF2B5EF4-FFF2-40B4-BE49-F238E27FC236}">
                  <a16:creationId xmlns:a16="http://schemas.microsoft.com/office/drawing/2014/main" id="{255A2074-9166-42A2-93B3-C6A38525D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0" y="327"/>
              <a:ext cx="7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>
                  <a:latin typeface="华文隶书" pitchFamily="2" charset="-122"/>
                </a:rPr>
                <a:t>反转点</a:t>
              </a:r>
            </a:p>
          </p:txBody>
        </p:sp>
        <p:graphicFrame>
          <p:nvGraphicFramePr>
            <p:cNvPr id="102" name="Object 39">
              <a:extLst>
                <a:ext uri="{FF2B5EF4-FFF2-40B4-BE49-F238E27FC236}">
                  <a16:creationId xmlns:a16="http://schemas.microsoft.com/office/drawing/2014/main" id="{9C2288AE-82DC-4AF2-96AE-F8A43BE37A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70" y="39"/>
            <a:ext cx="14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55161" imgH="168091" progId="Equation.DSMT4">
                    <p:embed/>
                  </p:oleObj>
                </mc:Choice>
                <mc:Fallback>
                  <p:oleObj r:id="rId17" imgW="155161" imgH="168091" progId="Equation.DSMT4">
                    <p:embed/>
                    <p:pic>
                      <p:nvPicPr>
                        <p:cNvPr id="122923" name="Object 39">
                          <a:extLst>
                            <a:ext uri="{FF2B5EF4-FFF2-40B4-BE49-F238E27FC236}">
                              <a16:creationId xmlns:a16="http://schemas.microsoft.com/office/drawing/2014/main" id="{3C9A72E9-58D0-4547-AAFE-173994146D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" y="39"/>
                          <a:ext cx="143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Line 40">
              <a:extLst>
                <a:ext uri="{FF2B5EF4-FFF2-40B4-BE49-F238E27FC236}">
                  <a16:creationId xmlns:a16="http://schemas.microsoft.com/office/drawing/2014/main" id="{052406DB-BF35-4261-B089-55899502B1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" y="318"/>
              <a:ext cx="363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Line 41">
              <a:extLst>
                <a:ext uri="{FF2B5EF4-FFF2-40B4-BE49-F238E27FC236}">
                  <a16:creationId xmlns:a16="http://schemas.microsoft.com/office/drawing/2014/main" id="{A6E03633-7561-4982-A4CA-6B34399460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8" y="454"/>
              <a:ext cx="409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05" name="Object 9">
            <a:extLst>
              <a:ext uri="{FF2B5EF4-FFF2-40B4-BE49-F238E27FC236}">
                <a16:creationId xmlns:a16="http://schemas.microsoft.com/office/drawing/2014/main" id="{849A602B-631A-40C8-8F2D-FEF3FBEED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579988"/>
              </p:ext>
            </p:extLst>
          </p:nvPr>
        </p:nvGraphicFramePr>
        <p:xfrm>
          <a:off x="1785938" y="4021138"/>
          <a:ext cx="3192462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07880" imgH="583920" progId="Equation.DSMT4">
                  <p:embed/>
                </p:oleObj>
              </mc:Choice>
              <mc:Fallback>
                <p:oleObj name="Equation" r:id="rId19" imgW="1307880" imgH="583920" progId="Equation.DSMT4">
                  <p:embed/>
                  <p:pic>
                    <p:nvPicPr>
                      <p:cNvPr id="120841" name="Object 9">
                        <a:extLst>
                          <a:ext uri="{FF2B5EF4-FFF2-40B4-BE49-F238E27FC236}">
                            <a16:creationId xmlns:a16="http://schemas.microsoft.com/office/drawing/2014/main" id="{F001F8BA-8407-485B-81A2-CFE932F910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4021138"/>
                        <a:ext cx="3192462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">
            <a:extLst>
              <a:ext uri="{FF2B5EF4-FFF2-40B4-BE49-F238E27FC236}">
                <a16:creationId xmlns:a16="http://schemas.microsoft.com/office/drawing/2014/main" id="{9AC6D883-A793-4AC9-BF21-6C5E77BA8A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932292"/>
              </p:ext>
            </p:extLst>
          </p:nvPr>
        </p:nvGraphicFramePr>
        <p:xfrm>
          <a:off x="7602022" y="4377323"/>
          <a:ext cx="2757487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17440" imgH="545760" progId="Equation.DSMT4">
                  <p:embed/>
                </p:oleObj>
              </mc:Choice>
              <mc:Fallback>
                <p:oleObj name="Equation" r:id="rId21" imgW="1117440" imgH="545760" progId="Equation.DSMT4">
                  <p:embed/>
                  <p:pic>
                    <p:nvPicPr>
                      <p:cNvPr id="120842" name="Object 10">
                        <a:extLst>
                          <a:ext uri="{FF2B5EF4-FFF2-40B4-BE49-F238E27FC236}">
                            <a16:creationId xmlns:a16="http://schemas.microsoft.com/office/drawing/2014/main" id="{D117C7C0-06BC-4BB0-BB74-55E38FBF1D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2022" y="4377323"/>
                        <a:ext cx="2757487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153E329-BAEF-43CF-9BAA-3A5DAD430381}"/>
              </a:ext>
            </a:extLst>
          </p:cNvPr>
          <p:cNvCxnSpPr>
            <a:cxnSpLocks/>
          </p:cNvCxnSpPr>
          <p:nvPr/>
        </p:nvCxnSpPr>
        <p:spPr>
          <a:xfrm>
            <a:off x="6096000" y="4052894"/>
            <a:ext cx="0" cy="257741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F637616-729C-4C24-9D24-8B2B1AC1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51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/>
              <p:nvPr/>
            </p:nvSpPr>
            <p:spPr>
              <a:xfrm>
                <a:off x="332282" y="903720"/>
                <a:ext cx="5763718" cy="4520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、声线传播时间</a:t>
                </a:r>
                <a:endPara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声线从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深度传播到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</m:oMath>
                </a14:m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深度所需时间：</a:t>
                </a:r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</a:t>
                </a:r>
                <a:r>
                  <a:rPr lang="en-US" altLang="zh-CN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Snell</a:t>
                </a: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定律：</a:t>
                </a:r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3000"/>
                  </a:spcAft>
                  <a:buFont typeface="Arial" panose="020B0604020202020204" pitchFamily="34" charset="0"/>
                  <a:buChar char="•"/>
                </a:pPr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传播时间为：</a:t>
                </a:r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82" y="903720"/>
                <a:ext cx="5763718" cy="4520597"/>
              </a:xfrm>
              <a:prstGeom prst="rect">
                <a:avLst/>
              </a:prstGeom>
              <a:blipFill>
                <a:blip r:embed="rId3"/>
                <a:stretch>
                  <a:fillRect l="-2222" t="-404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5" name="Object 9">
            <a:extLst>
              <a:ext uri="{FF2B5EF4-FFF2-40B4-BE49-F238E27FC236}">
                <a16:creationId xmlns:a16="http://schemas.microsoft.com/office/drawing/2014/main" id="{849A602B-631A-40C8-8F2D-FEF3FBEED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6960"/>
              </p:ext>
            </p:extLst>
          </p:nvPr>
        </p:nvGraphicFramePr>
        <p:xfrm>
          <a:off x="738188" y="3479800"/>
          <a:ext cx="486092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080" imgH="571320" progId="Equation.DSMT4">
                  <p:embed/>
                </p:oleObj>
              </mc:Choice>
              <mc:Fallback>
                <p:oleObj name="Equation" r:id="rId4" imgW="2197080" imgH="571320" progId="Equation.DSMT4">
                  <p:embed/>
                  <p:pic>
                    <p:nvPicPr>
                      <p:cNvPr id="105" name="Object 9">
                        <a:extLst>
                          <a:ext uri="{FF2B5EF4-FFF2-40B4-BE49-F238E27FC236}">
                            <a16:creationId xmlns:a16="http://schemas.microsoft.com/office/drawing/2014/main" id="{849A602B-631A-40C8-8F2D-FEF3FBEEDB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3479800"/>
                        <a:ext cx="486092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7">
            <a:extLst>
              <a:ext uri="{FF2B5EF4-FFF2-40B4-BE49-F238E27FC236}">
                <a16:creationId xmlns:a16="http://schemas.microsoft.com/office/drawing/2014/main" id="{5F9DA05E-D1F6-476C-8DBA-01D8C7FCFB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075758"/>
              </p:ext>
            </p:extLst>
          </p:nvPr>
        </p:nvGraphicFramePr>
        <p:xfrm>
          <a:off x="1490320" y="2019461"/>
          <a:ext cx="3447642" cy="1030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760" imgH="507960" progId="Equation.DSMT4">
                  <p:embed/>
                </p:oleObj>
              </mc:Choice>
              <mc:Fallback>
                <p:oleObj name="Equation" r:id="rId6" imgW="1688760" imgH="507960" progId="Equation.DSMT4">
                  <p:embed/>
                  <p:pic>
                    <p:nvPicPr>
                      <p:cNvPr id="121863" name="Object 7">
                        <a:extLst>
                          <a:ext uri="{FF2B5EF4-FFF2-40B4-BE49-F238E27FC236}">
                            <a16:creationId xmlns:a16="http://schemas.microsoft.com/office/drawing/2014/main" id="{2680D8C6-FBB1-43C3-A752-5CAED2DCE4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320" y="2019461"/>
                        <a:ext cx="3447642" cy="10300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9">
            <a:extLst>
              <a:ext uri="{FF2B5EF4-FFF2-40B4-BE49-F238E27FC236}">
                <a16:creationId xmlns:a16="http://schemas.microsoft.com/office/drawing/2014/main" id="{A689410F-7960-433C-8770-D7EBC0EB1C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76471"/>
              </p:ext>
            </p:extLst>
          </p:nvPr>
        </p:nvGraphicFramePr>
        <p:xfrm>
          <a:off x="1093766" y="5365466"/>
          <a:ext cx="4149958" cy="1318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55005" imgH="584454" progId="Equation.DSMT4">
                  <p:embed/>
                </p:oleObj>
              </mc:Choice>
              <mc:Fallback>
                <p:oleObj r:id="rId8" imgW="1855005" imgH="584454" progId="Equation.DSMT4">
                  <p:embed/>
                  <p:pic>
                    <p:nvPicPr>
                      <p:cNvPr id="121865" name="Object 9">
                        <a:extLst>
                          <a:ext uri="{FF2B5EF4-FFF2-40B4-BE49-F238E27FC236}">
                            <a16:creationId xmlns:a16="http://schemas.microsoft.com/office/drawing/2014/main" id="{46A6BDD5-40F7-4A46-A6F4-488DDD5C98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66" y="5365466"/>
                        <a:ext cx="4149958" cy="1318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CFA07E4-2B77-42E7-80DC-C61FE16EC46E}"/>
                  </a:ext>
                </a:extLst>
              </p:cNvPr>
              <p:cNvSpPr txBox="1"/>
              <p:nvPr/>
            </p:nvSpPr>
            <p:spPr>
              <a:xfrm>
                <a:off x="6095999" y="1497729"/>
                <a:ext cx="5763718" cy="497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声速梯度恒定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𝑐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𝑔𝑧</m:t>
                    </m:r>
                  </m:oMath>
                </a14:m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CFA07E4-2B77-42E7-80DC-C61FE16EC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1497729"/>
                <a:ext cx="5763718" cy="497957"/>
              </a:xfrm>
              <a:prstGeom prst="rect">
                <a:avLst/>
              </a:prstGeom>
              <a:blipFill>
                <a:blip r:embed="rId10"/>
                <a:stretch>
                  <a:fillRect l="-1376"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Object 19">
            <a:extLst>
              <a:ext uri="{FF2B5EF4-FFF2-40B4-BE49-F238E27FC236}">
                <a16:creationId xmlns:a16="http://schemas.microsoft.com/office/drawing/2014/main" id="{A39148D2-060C-4997-A886-839FE35D01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539603"/>
              </p:ext>
            </p:extLst>
          </p:nvPr>
        </p:nvGraphicFramePr>
        <p:xfrm>
          <a:off x="6424838" y="2194509"/>
          <a:ext cx="2173833" cy="747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199004" imgH="408172" progId="Equation.DSMT4">
                  <p:embed/>
                </p:oleObj>
              </mc:Choice>
              <mc:Fallback>
                <p:oleObj r:id="rId11" imgW="1199004" imgH="408172" progId="Equation.DSMT4">
                  <p:embed/>
                  <p:pic>
                    <p:nvPicPr>
                      <p:cNvPr id="124950" name="Object 19">
                        <a:extLst>
                          <a:ext uri="{FF2B5EF4-FFF2-40B4-BE49-F238E27FC236}">
                            <a16:creationId xmlns:a16="http://schemas.microsoft.com/office/drawing/2014/main" id="{6F7C56DD-8626-4560-BE7F-9270FEC102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4838" y="2194509"/>
                        <a:ext cx="2173833" cy="7472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0">
            <a:extLst>
              <a:ext uri="{FF2B5EF4-FFF2-40B4-BE49-F238E27FC236}">
                <a16:creationId xmlns:a16="http://schemas.microsoft.com/office/drawing/2014/main" id="{061A0E68-FDF0-47FB-B627-ED40A767B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5796501"/>
              </p:ext>
            </p:extLst>
          </p:nvPr>
        </p:nvGraphicFramePr>
        <p:xfrm>
          <a:off x="6566919" y="2940137"/>
          <a:ext cx="1964519" cy="935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071918" imgH="510437" progId="Equation.DSMT4">
                  <p:embed/>
                </p:oleObj>
              </mc:Choice>
              <mc:Fallback>
                <p:oleObj r:id="rId13" imgW="1071918" imgH="510437" progId="Equation.DSMT4">
                  <p:embed/>
                  <p:pic>
                    <p:nvPicPr>
                      <p:cNvPr id="124951" name="Object 20">
                        <a:extLst>
                          <a:ext uri="{FF2B5EF4-FFF2-40B4-BE49-F238E27FC236}">
                            <a16:creationId xmlns:a16="http://schemas.microsoft.com/office/drawing/2014/main" id="{C316430D-AFE2-40BE-AA7A-21A3A36042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6919" y="2940137"/>
                        <a:ext cx="1964519" cy="935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6">
            <a:extLst>
              <a:ext uri="{FF2B5EF4-FFF2-40B4-BE49-F238E27FC236}">
                <a16:creationId xmlns:a16="http://schemas.microsoft.com/office/drawing/2014/main" id="{D37990CD-4E08-4005-B781-960D1F74F1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829446"/>
              </p:ext>
            </p:extLst>
          </p:nvPr>
        </p:nvGraphicFramePr>
        <p:xfrm>
          <a:off x="9839524" y="2417064"/>
          <a:ext cx="2020193" cy="961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956652" imgH="459193" progId="Equation.DSMT4">
                  <p:embed/>
                </p:oleObj>
              </mc:Choice>
              <mc:Fallback>
                <p:oleObj r:id="rId15" imgW="956652" imgH="459193" progId="Equation.DSMT4">
                  <p:embed/>
                  <p:pic>
                    <p:nvPicPr>
                      <p:cNvPr id="122896" name="Object 16">
                        <a:extLst>
                          <a:ext uri="{FF2B5EF4-FFF2-40B4-BE49-F238E27FC236}">
                            <a16:creationId xmlns:a16="http://schemas.microsoft.com/office/drawing/2014/main" id="{66CC5512-D3AA-4572-AE87-DF20C5B57C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9524" y="2417064"/>
                        <a:ext cx="2020193" cy="961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AutoShape 15">
            <a:extLst>
              <a:ext uri="{FF2B5EF4-FFF2-40B4-BE49-F238E27FC236}">
                <a16:creationId xmlns:a16="http://schemas.microsoft.com/office/drawing/2014/main" id="{BE0815BB-4220-4BB5-B69D-B45E357C6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3235" y="2694801"/>
            <a:ext cx="824491" cy="423228"/>
          </a:xfrm>
          <a:prstGeom prst="rightArrow">
            <a:avLst>
              <a:gd name="adj1" fmla="val 50000"/>
              <a:gd name="adj2" fmla="val 60288"/>
            </a:avLst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graphicFrame>
        <p:nvGraphicFramePr>
          <p:cNvPr id="48" name="Object 3">
            <a:extLst>
              <a:ext uri="{FF2B5EF4-FFF2-40B4-BE49-F238E27FC236}">
                <a16:creationId xmlns:a16="http://schemas.microsoft.com/office/drawing/2014/main" id="{5686AEF5-2C08-4436-9834-363B747F37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417221"/>
              </p:ext>
            </p:extLst>
          </p:nvPr>
        </p:nvGraphicFramePr>
        <p:xfrm>
          <a:off x="7012815" y="4077605"/>
          <a:ext cx="4466731" cy="242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33360" imgH="1396800" progId="Equation.DSMT4">
                  <p:embed/>
                </p:oleObj>
              </mc:Choice>
              <mc:Fallback>
                <p:oleObj name="Equation" r:id="rId17" imgW="2133360" imgH="1396800" progId="Equation.DSMT4">
                  <p:embed/>
                  <p:pic>
                    <p:nvPicPr>
                      <p:cNvPr id="122883" name="Object 3">
                        <a:extLst>
                          <a:ext uri="{FF2B5EF4-FFF2-40B4-BE49-F238E27FC236}">
                            <a16:creationId xmlns:a16="http://schemas.microsoft.com/office/drawing/2014/main" id="{4EB4BDB0-3F6A-4160-A84B-515C75FD0D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2815" y="4077605"/>
                        <a:ext cx="4466731" cy="24260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CA0DC0A-6C48-43E8-8D7D-21174671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74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2" y="903720"/>
            <a:ext cx="5763718" cy="4212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、恒定声速梯度层中的声强度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声线水平传播距离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Snell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定律，有：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75541A62-5795-49A2-A1DC-D62BCA1AAF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6889"/>
              </p:ext>
            </p:extLst>
          </p:nvPr>
        </p:nvGraphicFramePr>
        <p:xfrm>
          <a:off x="8062913" y="819150"/>
          <a:ext cx="2995612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240" imgH="698400" progId="Equation.DSMT4">
                  <p:embed/>
                </p:oleObj>
              </mc:Choice>
              <mc:Fallback>
                <p:oleObj name="Equation" r:id="rId2" imgW="1587240" imgH="698400" progId="Equation.DSMT4">
                  <p:embed/>
                  <p:pic>
                    <p:nvPicPr>
                      <p:cNvPr id="129031" name="Object 7">
                        <a:extLst>
                          <a:ext uri="{FF2B5EF4-FFF2-40B4-BE49-F238E27FC236}">
                            <a16:creationId xmlns:a16="http://schemas.microsoft.com/office/drawing/2014/main" id="{E972D30B-56B9-4D4A-9654-6BA5451EED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2913" y="819150"/>
                        <a:ext cx="2995612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>
            <a:extLst>
              <a:ext uri="{FF2B5EF4-FFF2-40B4-BE49-F238E27FC236}">
                <a16:creationId xmlns:a16="http://schemas.microsoft.com/office/drawing/2014/main" id="{D2926384-72F7-4B03-894E-179FCB7658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0681501"/>
              </p:ext>
            </p:extLst>
          </p:nvPr>
        </p:nvGraphicFramePr>
        <p:xfrm>
          <a:off x="3874920" y="1962103"/>
          <a:ext cx="4134630" cy="977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32882" imgH="482810" progId="Equation.DSMT4">
                  <p:embed/>
                </p:oleObj>
              </mc:Choice>
              <mc:Fallback>
                <p:oleObj r:id="rId4" imgW="2032882" imgH="482810" progId="Equation.DSMT4">
                  <p:embed/>
                  <p:pic>
                    <p:nvPicPr>
                      <p:cNvPr id="130056" name="Object 8">
                        <a:extLst>
                          <a:ext uri="{FF2B5EF4-FFF2-40B4-BE49-F238E27FC236}">
                            <a16:creationId xmlns:a16="http://schemas.microsoft.com/office/drawing/2014/main" id="{D2866CA2-96A2-4658-B8EA-E63B04DC47A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4920" y="1962103"/>
                        <a:ext cx="4134630" cy="977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C7481131-92DF-44A4-A9CF-EDA631B30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518543"/>
              </p:ext>
            </p:extLst>
          </p:nvPr>
        </p:nvGraphicFramePr>
        <p:xfrm>
          <a:off x="2693988" y="2914650"/>
          <a:ext cx="69961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04960" imgH="520560" progId="Equation.DSMT4">
                  <p:embed/>
                </p:oleObj>
              </mc:Choice>
              <mc:Fallback>
                <p:oleObj name="Equation" r:id="rId6" imgW="3504960" imgH="520560" progId="Equation.DSMT4">
                  <p:embed/>
                  <p:pic>
                    <p:nvPicPr>
                      <p:cNvPr id="128007" name="Object 7">
                        <a:extLst>
                          <a:ext uri="{FF2B5EF4-FFF2-40B4-BE49-F238E27FC236}">
                            <a16:creationId xmlns:a16="http://schemas.microsoft.com/office/drawing/2014/main" id="{2CAFDAE3-7E0E-471A-A563-158491DA63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2914650"/>
                        <a:ext cx="6996112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>
            <a:extLst>
              <a:ext uri="{FF2B5EF4-FFF2-40B4-BE49-F238E27FC236}">
                <a16:creationId xmlns:a16="http://schemas.microsoft.com/office/drawing/2014/main" id="{FF2110E4-43CF-4849-BDF5-E2DA3AB69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894844"/>
              </p:ext>
            </p:extLst>
          </p:nvPr>
        </p:nvGraphicFramePr>
        <p:xfrm>
          <a:off x="8009550" y="4511065"/>
          <a:ext cx="2147195" cy="795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09716" imgH="408172" progId="Equation.DSMT4">
                  <p:embed/>
                </p:oleObj>
              </mc:Choice>
              <mc:Fallback>
                <p:oleObj r:id="rId8" imgW="1109716" imgH="408172" progId="Equation.DSMT4">
                  <p:embed/>
                  <p:pic>
                    <p:nvPicPr>
                      <p:cNvPr id="130068" name="Object 12">
                        <a:extLst>
                          <a:ext uri="{FF2B5EF4-FFF2-40B4-BE49-F238E27FC236}">
                            <a16:creationId xmlns:a16="http://schemas.microsoft.com/office/drawing/2014/main" id="{0620CDA1-A15E-4878-A2D0-0624B4DB61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9550" y="4511065"/>
                        <a:ext cx="2147195" cy="795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>
            <a:extLst>
              <a:ext uri="{FF2B5EF4-FFF2-40B4-BE49-F238E27FC236}">
                <a16:creationId xmlns:a16="http://schemas.microsoft.com/office/drawing/2014/main" id="{D18D5A17-D2A5-4D31-9ADE-F0B48ED949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932194"/>
              </p:ext>
            </p:extLst>
          </p:nvPr>
        </p:nvGraphicFramePr>
        <p:xfrm>
          <a:off x="1935163" y="5360988"/>
          <a:ext cx="3560762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47560" imgH="507960" progId="Equation.DSMT4">
                  <p:embed/>
                </p:oleObj>
              </mc:Choice>
              <mc:Fallback>
                <p:oleObj name="Equation" r:id="rId10" imgW="1447560" imgH="507960" progId="Equation.DSMT4">
                  <p:embed/>
                  <p:pic>
                    <p:nvPicPr>
                      <p:cNvPr id="128014" name="Object 14">
                        <a:extLst>
                          <a:ext uri="{FF2B5EF4-FFF2-40B4-BE49-F238E27FC236}">
                            <a16:creationId xmlns:a16="http://schemas.microsoft.com/office/drawing/2014/main" id="{77385089-AB52-43CA-8BFA-1E485E73C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163" y="5360988"/>
                        <a:ext cx="3560762" cy="126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>
            <a:extLst>
              <a:ext uri="{FF2B5EF4-FFF2-40B4-BE49-F238E27FC236}">
                <a16:creationId xmlns:a16="http://schemas.microsoft.com/office/drawing/2014/main" id="{9C8E6AF6-0D8D-4EA5-9217-9736650E97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199042"/>
              </p:ext>
            </p:extLst>
          </p:nvPr>
        </p:nvGraphicFramePr>
        <p:xfrm>
          <a:off x="6861174" y="5482570"/>
          <a:ext cx="2857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160738" imgH="408172" progId="Equation.DSMT4">
                  <p:embed/>
                </p:oleObj>
              </mc:Choice>
              <mc:Fallback>
                <p:oleObj r:id="rId12" imgW="1160738" imgH="408172" progId="Equation.DSMT4">
                  <p:embed/>
                  <p:pic>
                    <p:nvPicPr>
                      <p:cNvPr id="128015" name="Object 15">
                        <a:extLst>
                          <a:ext uri="{FF2B5EF4-FFF2-40B4-BE49-F238E27FC236}">
                            <a16:creationId xmlns:a16="http://schemas.microsoft.com/office/drawing/2014/main" id="{CF993E26-B787-4B2D-8E4D-BD92C3D8F3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1174" y="5482570"/>
                        <a:ext cx="2857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AutoShape 16">
            <a:extLst>
              <a:ext uri="{FF2B5EF4-FFF2-40B4-BE49-F238E27FC236}">
                <a16:creationId xmlns:a16="http://schemas.microsoft.com/office/drawing/2014/main" id="{B355E018-221A-4D7E-A816-02FB52347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5846902"/>
            <a:ext cx="792162" cy="287337"/>
          </a:xfrm>
          <a:prstGeom prst="rightArrow">
            <a:avLst>
              <a:gd name="adj1" fmla="val 50000"/>
              <a:gd name="adj2" fmla="val 68923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C57E1BF5-7000-4110-B0B0-DA853594FC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275080"/>
              </p:ext>
            </p:extLst>
          </p:nvPr>
        </p:nvGraphicFramePr>
        <p:xfrm>
          <a:off x="3844328" y="4462484"/>
          <a:ext cx="2972999" cy="892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47560" imgH="431640" progId="Equation.DSMT4">
                  <p:embed/>
                </p:oleObj>
              </mc:Choice>
              <mc:Fallback>
                <p:oleObj name="Equation" r:id="rId14" imgW="1447560" imgH="431640" progId="Equation.DSMT4">
                  <p:embed/>
                  <p:pic>
                    <p:nvPicPr>
                      <p:cNvPr id="27" name="Object 4">
                        <a:extLst>
                          <a:ext uri="{FF2B5EF4-FFF2-40B4-BE49-F238E27FC236}">
                            <a16:creationId xmlns:a16="http://schemas.microsoft.com/office/drawing/2014/main" id="{886888A5-319E-4CE2-82F1-B6A26AB59D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328" y="4462484"/>
                        <a:ext cx="2972999" cy="892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16">
            <a:extLst>
              <a:ext uri="{FF2B5EF4-FFF2-40B4-BE49-F238E27FC236}">
                <a16:creationId xmlns:a16="http://schemas.microsoft.com/office/drawing/2014/main" id="{E0EAC703-3816-4548-8756-413D32FA6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052" y="4751635"/>
            <a:ext cx="792162" cy="287337"/>
          </a:xfrm>
          <a:prstGeom prst="rightArrow">
            <a:avLst>
              <a:gd name="adj1" fmla="val 50000"/>
              <a:gd name="adj2" fmla="val 68923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7DFDDDA-4741-43DC-8BF9-FCF888D0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886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2" y="903720"/>
            <a:ext cx="5763718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、聚焦因子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A14C545-EE28-432A-8EF9-0CB9A7D36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2156" y="1552790"/>
            <a:ext cx="8677275" cy="194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Aft>
                <a:spcPct val="40000"/>
              </a:spcAft>
            </a:pPr>
            <a:r>
              <a:rPr lang="en-US" altLang="zh-CN" b="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b="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在分层不均匀介质中，声线弯曲使传播声能的声线管束横截面的面积发生变化，在相同的水平距离上，均匀与不均匀介质截面上声强不等。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聚焦因子就是用来描述声强度的这种差异的。</a:t>
            </a:r>
            <a:endParaRPr lang="zh-CN" alt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Group 6">
            <a:extLst>
              <a:ext uri="{FF2B5EF4-FFF2-40B4-BE49-F238E27FC236}">
                <a16:creationId xmlns:a16="http://schemas.microsoft.com/office/drawing/2014/main" id="{C915C9A0-BFA5-45BB-A461-16C585F00EE9}"/>
              </a:ext>
            </a:extLst>
          </p:cNvPr>
          <p:cNvGrpSpPr>
            <a:grpSpLocks/>
          </p:cNvGrpSpPr>
          <p:nvPr/>
        </p:nvGrpSpPr>
        <p:grpSpPr bwMode="auto">
          <a:xfrm>
            <a:off x="4216413" y="4109029"/>
            <a:ext cx="4584700" cy="2392362"/>
            <a:chOff x="0" y="0"/>
            <a:chExt cx="2888" cy="1507"/>
          </a:xfrm>
        </p:grpSpPr>
        <p:graphicFrame>
          <p:nvGraphicFramePr>
            <p:cNvPr id="13" name="Object 7">
              <a:extLst>
                <a:ext uri="{FF2B5EF4-FFF2-40B4-BE49-F238E27FC236}">
                  <a16:creationId xmlns:a16="http://schemas.microsoft.com/office/drawing/2014/main" id="{AA85F484-B670-4DE2-8D44-3A2AE935DA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9" y="0"/>
            <a:ext cx="106" cy="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29817" imgH="142799" progId="Equation.DSMT4">
                    <p:embed/>
                  </p:oleObj>
                </mc:Choice>
                <mc:Fallback>
                  <p:oleObj r:id="rId2" imgW="129817" imgH="142799" progId="Equation.DSMT4">
                    <p:embed/>
                    <p:pic>
                      <p:nvPicPr>
                        <p:cNvPr id="133130" name="Object 7">
                          <a:extLst>
                            <a:ext uri="{FF2B5EF4-FFF2-40B4-BE49-F238E27FC236}">
                              <a16:creationId xmlns:a16="http://schemas.microsoft.com/office/drawing/2014/main" id="{5DD408E4-C801-4550-88F5-6830758E8F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9" y="0"/>
                          <a:ext cx="106" cy="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07752849-0DBB-4D2E-B968-C5E8CDF3E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" y="4"/>
              <a:ext cx="28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D73FC1E4-CD7D-44C3-AC4C-3A21A2E15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" y="140"/>
              <a:ext cx="2177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0">
              <a:extLst>
                <a:ext uri="{FF2B5EF4-FFF2-40B4-BE49-F238E27FC236}">
                  <a16:creationId xmlns:a16="http://schemas.microsoft.com/office/drawing/2014/main" id="{6826FD0F-E3C3-4635-978F-92A0A0D6F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" y="140"/>
              <a:ext cx="2087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Arc 11">
              <a:extLst>
                <a:ext uri="{FF2B5EF4-FFF2-40B4-BE49-F238E27FC236}">
                  <a16:creationId xmlns:a16="http://schemas.microsoft.com/office/drawing/2014/main" id="{1928D3CB-D3BC-4F93-A300-C1DF0D15D7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4687">
              <a:off x="103" y="261"/>
              <a:ext cx="2058" cy="839"/>
            </a:xfrm>
            <a:custGeom>
              <a:avLst/>
              <a:gdLst>
                <a:gd name="T0" fmla="*/ 0 w 21099"/>
                <a:gd name="T1" fmla="*/ 0 h 21600"/>
                <a:gd name="T2" fmla="*/ 201 w 21099"/>
                <a:gd name="T3" fmla="*/ 26 h 21600"/>
                <a:gd name="T4" fmla="*/ 0 w 21099"/>
                <a:gd name="T5" fmla="*/ 0 h 21600"/>
                <a:gd name="T6" fmla="*/ 201 w 21099"/>
                <a:gd name="T7" fmla="*/ 26 h 21600"/>
                <a:gd name="T8" fmla="*/ 0 w 21099"/>
                <a:gd name="T9" fmla="*/ 33 h 21600"/>
                <a:gd name="T10" fmla="*/ 0 w 21099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099" h="21600" fill="none">
                  <a:moveTo>
                    <a:pt x="-1" y="0"/>
                  </a:moveTo>
                  <a:cubicBezTo>
                    <a:pt x="10147" y="0"/>
                    <a:pt x="18926" y="7063"/>
                    <a:pt x="21099" y="16974"/>
                  </a:cubicBezTo>
                </a:path>
                <a:path w="21099" h="21600" stroke="0">
                  <a:moveTo>
                    <a:pt x="-1" y="0"/>
                  </a:moveTo>
                  <a:cubicBezTo>
                    <a:pt x="10147" y="0"/>
                    <a:pt x="18926" y="7063"/>
                    <a:pt x="21099" y="1697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rc 12">
              <a:extLst>
                <a:ext uri="{FF2B5EF4-FFF2-40B4-BE49-F238E27FC236}">
                  <a16:creationId xmlns:a16="http://schemas.microsoft.com/office/drawing/2014/main" id="{438243EE-CC9D-4A2D-A614-2CB0DB00DE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43749">
              <a:off x="0" y="332"/>
              <a:ext cx="1980" cy="1175"/>
            </a:xfrm>
            <a:custGeom>
              <a:avLst/>
              <a:gdLst>
                <a:gd name="T0" fmla="*/ 0 w 21099"/>
                <a:gd name="T1" fmla="*/ 0 h 21600"/>
                <a:gd name="T2" fmla="*/ 186 w 21099"/>
                <a:gd name="T3" fmla="*/ 50 h 21600"/>
                <a:gd name="T4" fmla="*/ 0 w 21099"/>
                <a:gd name="T5" fmla="*/ 0 h 21600"/>
                <a:gd name="T6" fmla="*/ 186 w 21099"/>
                <a:gd name="T7" fmla="*/ 50 h 21600"/>
                <a:gd name="T8" fmla="*/ 0 w 21099"/>
                <a:gd name="T9" fmla="*/ 64 h 21600"/>
                <a:gd name="T10" fmla="*/ 0 w 21099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099" h="21600" fill="none">
                  <a:moveTo>
                    <a:pt x="-1" y="0"/>
                  </a:moveTo>
                  <a:cubicBezTo>
                    <a:pt x="10147" y="0"/>
                    <a:pt x="18926" y="7063"/>
                    <a:pt x="21099" y="16974"/>
                  </a:cubicBezTo>
                </a:path>
                <a:path w="21099" h="21600" stroke="0">
                  <a:moveTo>
                    <a:pt x="-1" y="0"/>
                  </a:moveTo>
                  <a:cubicBezTo>
                    <a:pt x="10147" y="0"/>
                    <a:pt x="18926" y="7063"/>
                    <a:pt x="21099" y="1697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3">
              <a:extLst>
                <a:ext uri="{FF2B5EF4-FFF2-40B4-BE49-F238E27FC236}">
                  <a16:creationId xmlns:a16="http://schemas.microsoft.com/office/drawing/2014/main" id="{1C340966-B647-4B7E-8A91-3D4697A77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4" y="0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4">
              <a:extLst>
                <a:ext uri="{FF2B5EF4-FFF2-40B4-BE49-F238E27FC236}">
                  <a16:creationId xmlns:a16="http://schemas.microsoft.com/office/drawing/2014/main" id="{D2CAA334-0F04-4E10-85E8-AD21951EF4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08" y="321"/>
              <a:ext cx="46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2B0FAF8A-3C5D-440B-9866-CF9095DA36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3" y="627"/>
              <a:ext cx="182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5727584D-6344-4F5D-9871-B24955318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0" y="503"/>
              <a:ext cx="0" cy="1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30" name="Object 17">
              <a:extLst>
                <a:ext uri="{FF2B5EF4-FFF2-40B4-BE49-F238E27FC236}">
                  <a16:creationId xmlns:a16="http://schemas.microsoft.com/office/drawing/2014/main" id="{5C327CC1-B8C8-4031-92D0-7158A43F6C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8" y="9"/>
            <a:ext cx="105" cy="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29817" imgH="142799" progId="Equation.DSMT4">
                    <p:embed/>
                  </p:oleObj>
                </mc:Choice>
                <mc:Fallback>
                  <p:oleObj r:id="rId4" imgW="129817" imgH="142799" progId="Equation.DSMT4">
                    <p:embed/>
                    <p:pic>
                      <p:nvPicPr>
                        <p:cNvPr id="133140" name="Object 17">
                          <a:extLst>
                            <a:ext uri="{FF2B5EF4-FFF2-40B4-BE49-F238E27FC236}">
                              <a16:creationId xmlns:a16="http://schemas.microsoft.com/office/drawing/2014/main" id="{F26161E6-F714-4716-A66D-18AA8FA038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8" y="9"/>
                          <a:ext cx="105" cy="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18">
              <a:extLst>
                <a:ext uri="{FF2B5EF4-FFF2-40B4-BE49-F238E27FC236}">
                  <a16:creationId xmlns:a16="http://schemas.microsoft.com/office/drawing/2014/main" id="{406A57F8-C6C5-4C24-A7FF-CF13D11504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4" y="318"/>
            <a:ext cx="16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80225" imgH="231718" progId="Equation.DSMT4">
                    <p:embed/>
                  </p:oleObj>
                </mc:Choice>
                <mc:Fallback>
                  <p:oleObj r:id="rId6" imgW="180225" imgH="231718" progId="Equation.DSMT4">
                    <p:embed/>
                    <p:pic>
                      <p:nvPicPr>
                        <p:cNvPr id="133141" name="Object 18">
                          <a:extLst>
                            <a:ext uri="{FF2B5EF4-FFF2-40B4-BE49-F238E27FC236}">
                              <a16:creationId xmlns:a16="http://schemas.microsoft.com/office/drawing/2014/main" id="{3A0F9EF8-2064-4556-B9A8-5BCB785EA4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4" y="318"/>
                          <a:ext cx="168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9">
              <a:extLst>
                <a:ext uri="{FF2B5EF4-FFF2-40B4-BE49-F238E27FC236}">
                  <a16:creationId xmlns:a16="http://schemas.microsoft.com/office/drawing/2014/main" id="{6B56A156-A658-4BEC-B1F9-EC6BE48446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8" y="726"/>
            <a:ext cx="15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67425" imgH="231820" progId="Equation.DSMT4">
                    <p:embed/>
                  </p:oleObj>
                </mc:Choice>
                <mc:Fallback>
                  <p:oleObj r:id="rId8" imgW="167425" imgH="231820" progId="Equation.DSMT4">
                    <p:embed/>
                    <p:pic>
                      <p:nvPicPr>
                        <p:cNvPr id="133142" name="Object 19">
                          <a:extLst>
                            <a:ext uri="{FF2B5EF4-FFF2-40B4-BE49-F238E27FC236}">
                              <a16:creationId xmlns:a16="http://schemas.microsoft.com/office/drawing/2014/main" id="{2AD91512-12ED-40EA-9D97-578196AA67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8" y="726"/>
                          <a:ext cx="156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904FC-817E-4EC5-AB46-E1F0CE04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58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2" y="903720"/>
            <a:ext cx="5763718" cy="4135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、聚焦因子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定义：不均匀介质中声强与均匀介质中的声强（球面波扩展声强）之比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若斜距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近似等于水平距离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，则：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615D241-547A-41C1-BD25-C9567A79F361}"/>
              </a:ext>
            </a:extLst>
          </p:cNvPr>
          <p:cNvCxnSpPr>
            <a:cxnSpLocks/>
          </p:cNvCxnSpPr>
          <p:nvPr/>
        </p:nvCxnSpPr>
        <p:spPr>
          <a:xfrm>
            <a:off x="6096000" y="2373357"/>
            <a:ext cx="0" cy="425695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4" name="Object 3">
            <a:extLst>
              <a:ext uri="{FF2B5EF4-FFF2-40B4-BE49-F238E27FC236}">
                <a16:creationId xmlns:a16="http://schemas.microsoft.com/office/drawing/2014/main" id="{681440E1-DA43-47D5-8F4A-150741659B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840087"/>
              </p:ext>
            </p:extLst>
          </p:nvPr>
        </p:nvGraphicFramePr>
        <p:xfrm>
          <a:off x="2106613" y="2760663"/>
          <a:ext cx="3913187" cy="135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647640" progId="Equation.DSMT4">
                  <p:embed/>
                </p:oleObj>
              </mc:Choice>
              <mc:Fallback>
                <p:oleObj name="Equation" r:id="rId2" imgW="1942920" imgH="647640" progId="Equation.DSMT4">
                  <p:embed/>
                  <p:pic>
                    <p:nvPicPr>
                      <p:cNvPr id="134147" name="Object 3">
                        <a:extLst>
                          <a:ext uri="{FF2B5EF4-FFF2-40B4-BE49-F238E27FC236}">
                            <a16:creationId xmlns:a16="http://schemas.microsoft.com/office/drawing/2014/main" id="{7DA79EEE-A2F0-49B3-81C9-FFC2B4253E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2760663"/>
                        <a:ext cx="3913187" cy="1357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5">
            <a:extLst>
              <a:ext uri="{FF2B5EF4-FFF2-40B4-BE49-F238E27FC236}">
                <a16:creationId xmlns:a16="http://schemas.microsoft.com/office/drawing/2014/main" id="{CA6DD72A-D632-42B6-ACD9-88B1BF9C5C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044575"/>
              </p:ext>
            </p:extLst>
          </p:nvPr>
        </p:nvGraphicFramePr>
        <p:xfrm>
          <a:off x="1312863" y="4968875"/>
          <a:ext cx="3675062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3120" imgH="698400" progId="Equation.DSMT4">
                  <p:embed/>
                </p:oleObj>
              </mc:Choice>
              <mc:Fallback>
                <p:oleObj name="Equation" r:id="rId4" imgW="1473120" imgH="698400" progId="Equation.DSMT4">
                  <p:embed/>
                  <p:pic>
                    <p:nvPicPr>
                      <p:cNvPr id="132101" name="Object 5">
                        <a:extLst>
                          <a:ext uri="{FF2B5EF4-FFF2-40B4-BE49-F238E27FC236}">
                            <a16:creationId xmlns:a16="http://schemas.microsoft.com/office/drawing/2014/main" id="{183FEA10-11BB-4855-B0D3-3CDF678906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3" y="4968875"/>
                        <a:ext cx="3675062" cy="173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文本框 76">
            <a:extLst>
              <a:ext uri="{FF2B5EF4-FFF2-40B4-BE49-F238E27FC236}">
                <a16:creationId xmlns:a16="http://schemas.microsoft.com/office/drawing/2014/main" id="{A1632C2C-4E0D-4377-A243-F5DD37A147FC}"/>
              </a:ext>
            </a:extLst>
          </p:cNvPr>
          <p:cNvSpPr txBox="1"/>
          <p:nvPr/>
        </p:nvSpPr>
        <p:spPr>
          <a:xfrm>
            <a:off x="6224654" y="2418169"/>
            <a:ext cx="5763718" cy="2132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聚焦因子的物理意义：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描述了声能相对会集程度。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F&lt;1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说明射线管束发散大于球面波发散。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F&gt;1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说明射线管束发散小于球面波发散。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5B1CF53D-D1DF-4E56-9C21-980DEC3AC1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83201"/>
              </p:ext>
            </p:extLst>
          </p:nvPr>
        </p:nvGraphicFramePr>
        <p:xfrm>
          <a:off x="101946" y="2892157"/>
          <a:ext cx="192722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965160" progId="Equation.DSMT4">
                  <p:embed/>
                </p:oleObj>
              </mc:Choice>
              <mc:Fallback>
                <p:oleObj name="Equation" r:id="rId6" imgW="1562040" imgH="965160" progId="Equation.DSMT4">
                  <p:embed/>
                  <p:pic>
                    <p:nvPicPr>
                      <p:cNvPr id="34" name="Object 13">
                        <a:extLst>
                          <a:ext uri="{FF2B5EF4-FFF2-40B4-BE49-F238E27FC236}">
                            <a16:creationId xmlns:a16="http://schemas.microsoft.com/office/drawing/2014/main" id="{9F525366-ED19-4E1F-8CD3-9FE76E08C2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46" y="2892157"/>
                        <a:ext cx="1927225" cy="11842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箭头: 下弧形 1">
            <a:extLst>
              <a:ext uri="{FF2B5EF4-FFF2-40B4-BE49-F238E27FC236}">
                <a16:creationId xmlns:a16="http://schemas.microsoft.com/office/drawing/2014/main" id="{D7B3463F-85B8-4330-8414-AB1ADF35D3D4}"/>
              </a:ext>
            </a:extLst>
          </p:cNvPr>
          <p:cNvSpPr/>
          <p:nvPr/>
        </p:nvSpPr>
        <p:spPr>
          <a:xfrm rot="19247974">
            <a:off x="2079775" y="3702913"/>
            <a:ext cx="782425" cy="25452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4FBD93-81F9-4D9C-8643-ABB4F468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8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/>
              <p:nvPr/>
            </p:nvSpPr>
            <p:spPr>
              <a:xfrm>
                <a:off x="332282" y="903720"/>
                <a:ext cx="11295838" cy="2385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、焦散线</a:t>
                </a:r>
                <a:endPara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定义：当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8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zh-CN" sz="2800" b="0" i="1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𝜕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2800" b="0" i="1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𝜕𝛼</m:t>
                                </m:r>
                              </m:den>
                            </m:f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altLang="zh-CN" sz="28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altLang="zh-CN" sz="28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→0</m:t>
                    </m:r>
                  </m:oMath>
                </a14:m>
                <a:r>
                  <a:rPr lang="zh-CN" altLang="en-US" sz="28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𝐹</m:t>
                    </m:r>
                    <m:d>
                      <m:dPr>
                        <m:ctrlPr>
                          <a:rPr lang="en-US" altLang="zh-CN" sz="28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  <m:r>
                          <a:rPr lang="en-US" altLang="zh-CN" sz="28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8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</m:d>
                    <m:r>
                      <a:rPr lang="en-US" altLang="zh-CN" sz="28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→∞</m:t>
                    </m:r>
                  </m:oMath>
                </a14:m>
                <a:r>
                  <a:rPr lang="zh-CN" altLang="en-US" sz="28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，声强急剧增强，称为焦散点，射线声学不再适用。</a:t>
                </a:r>
              </a:p>
              <a:p>
                <a:pPr marL="342900" indent="-3429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射线族上满足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8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zh-CN" sz="2800" i="1" dirty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 dirty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𝜕</m:t>
                                </m:r>
                                <m:r>
                                  <a:rPr lang="en-US" altLang="zh-CN" sz="2800" i="1" dirty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𝛼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𝑧</m:t>
                                </m:r>
                                <m:r>
                                  <a:rPr lang="en-US" altLang="zh-CN" sz="2800" b="0" i="1" dirty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altLang="zh-CN" sz="2800" i="1" dirty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𝜕𝛼</m:t>
                                </m:r>
                              </m:den>
                            </m:f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altLang="zh-CN" sz="28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8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点的包络称为焦散线。</a:t>
                </a: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47E3D9F-C140-48FB-BB56-0273B1642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82" y="903720"/>
                <a:ext cx="11295838" cy="2385653"/>
              </a:xfrm>
              <a:prstGeom prst="rect">
                <a:avLst/>
              </a:prstGeom>
              <a:blipFill>
                <a:blip r:embed="rId2"/>
                <a:stretch>
                  <a:fillRect l="-1133" t="-765" b="-4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14">
            <a:extLst>
              <a:ext uri="{FF2B5EF4-FFF2-40B4-BE49-F238E27FC236}">
                <a16:creationId xmlns:a16="http://schemas.microsoft.com/office/drawing/2014/main" id="{FA1CB866-39CB-4876-A634-3B15A58D3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42"/>
          <a:stretch>
            <a:fillRect/>
          </a:stretch>
        </p:blipFill>
        <p:spPr>
          <a:xfrm>
            <a:off x="3084513" y="3568628"/>
            <a:ext cx="5376862" cy="2541587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966A918-3246-4358-9880-AB32442F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6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47E3D9F-C140-48FB-BB56-0273B1642693}"/>
              </a:ext>
            </a:extLst>
          </p:cNvPr>
          <p:cNvSpPr txBox="1"/>
          <p:nvPr/>
        </p:nvSpPr>
        <p:spPr>
          <a:xfrm>
            <a:off x="332282" y="903720"/>
            <a:ext cx="5763718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、焦散线邻域的聚焦因子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85770C5-C7A1-40C1-9597-27C4AF5B1D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579559"/>
              </p:ext>
            </p:extLst>
          </p:nvPr>
        </p:nvGraphicFramePr>
        <p:xfrm>
          <a:off x="3014663" y="1522413"/>
          <a:ext cx="6288087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98520" imgH="533160" progId="Equation.DSMT4">
                  <p:embed/>
                </p:oleObj>
              </mc:Choice>
              <mc:Fallback>
                <p:oleObj name="Equation" r:id="rId2" imgW="309852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14663" y="1522413"/>
                        <a:ext cx="6288087" cy="1081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3280B1BE-96F3-42BF-BEF0-A33D96BC8845}"/>
              </a:ext>
            </a:extLst>
          </p:cNvPr>
          <p:cNvSpPr txBox="1"/>
          <p:nvPr/>
        </p:nvSpPr>
        <p:spPr>
          <a:xfrm>
            <a:off x="9412941" y="183150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艾里函数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4FD606B-89F9-403F-AA95-1C4569B8CEC9}"/>
              </a:ext>
            </a:extLst>
          </p:cNvPr>
          <p:cNvSpPr/>
          <p:nvPr/>
        </p:nvSpPr>
        <p:spPr>
          <a:xfrm>
            <a:off x="8390964" y="1747288"/>
            <a:ext cx="1021977" cy="63009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8BD6A8-76ED-49CD-BD49-EEC93C436242}"/>
              </a:ext>
            </a:extLst>
          </p:cNvPr>
          <p:cNvSpPr txBox="1"/>
          <p:nvPr/>
        </p:nvSpPr>
        <p:spPr>
          <a:xfrm>
            <a:off x="394290" y="3268555"/>
            <a:ext cx="5763718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艾里函数宗量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可表示为：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C128EF5-971B-4BDA-BAB2-060E557CB0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257224"/>
              </p:ext>
            </p:extLst>
          </p:nvPr>
        </p:nvGraphicFramePr>
        <p:xfrm>
          <a:off x="3578225" y="4222750"/>
          <a:ext cx="575310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533160" progId="Equation.DSMT4">
                  <p:embed/>
                </p:oleObj>
              </mc:Choice>
              <mc:Fallback>
                <p:oleObj name="Equation" r:id="rId4" imgW="2361960" imgH="5331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85770C5-C7A1-40C1-9597-27C4AF5B1D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8225" y="4222750"/>
                        <a:ext cx="5753100" cy="1298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C2D351-0FF1-437A-B7F7-FE09071C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56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分层介质中的射线声学</a:t>
            </a:r>
            <a:r>
              <a:rPr lang="zh-CN" altLang="en-US" sz="36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4CAEFF-E1CB-43D0-A19F-CE39D011D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1" y="820254"/>
            <a:ext cx="7077075" cy="54483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C14FBA5-355A-46CC-BBF0-C51DD921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54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6787B14B-F4B8-4092-B73A-2D418367EF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44983"/>
              </p:ext>
            </p:extLst>
          </p:nvPr>
        </p:nvGraphicFramePr>
        <p:xfrm>
          <a:off x="301198" y="2338575"/>
          <a:ext cx="5698321" cy="271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888066" imgH="4229690" progId="Paint.Picture">
                  <p:embed/>
                </p:oleObj>
              </mc:Choice>
              <mc:Fallback>
                <p:oleObj r:id="rId2" imgW="8888066" imgH="4229690" progId="Paint.Picture">
                  <p:embed/>
                  <p:pic>
                    <p:nvPicPr>
                      <p:cNvPr id="125957" name="Object 5">
                        <a:extLst>
                          <a:ext uri="{FF2B5EF4-FFF2-40B4-BE49-F238E27FC236}">
                            <a16:creationId xmlns:a16="http://schemas.microsoft.com/office/drawing/2014/main" id="{79A6D26D-7AA8-429B-BFAB-338714CBC4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98" y="2338575"/>
                        <a:ext cx="5698321" cy="2710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1258A38D-EFB0-4223-B4B4-1571CA2BDC9A}"/>
              </a:ext>
            </a:extLst>
          </p:cNvPr>
          <p:cNvSpPr/>
          <p:nvPr/>
        </p:nvSpPr>
        <p:spPr>
          <a:xfrm>
            <a:off x="428763" y="1576299"/>
            <a:ext cx="5570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ct val="40000"/>
              </a:spcAft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线性声速分层近似下的声线图实例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F3B2CA-EEC3-413F-BA5D-7FA14732043C}"/>
              </a:ext>
            </a:extLst>
          </p:cNvPr>
          <p:cNvSpPr txBox="1"/>
          <p:nvPr/>
        </p:nvSpPr>
        <p:spPr>
          <a:xfrm>
            <a:off x="332282" y="903720"/>
            <a:ext cx="5763718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、介质分层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CD7A1F8-4CEA-4FC2-A9E0-0F65DF20A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38614"/>
            <a:ext cx="3248020" cy="343768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EC6601F-BD15-460A-8400-AFA41C22887D}"/>
              </a:ext>
            </a:extLst>
          </p:cNvPr>
          <p:cNvSpPr txBox="1"/>
          <p:nvPr/>
        </p:nvSpPr>
        <p:spPr>
          <a:xfrm>
            <a:off x="6260074" y="903720"/>
            <a:ext cx="5763718" cy="2741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、介质层的声学参数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层厚度：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层中相对声速梯度：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8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层中声速：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DDD6314-F998-4993-AFD9-B63994C6AA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290143"/>
              </p:ext>
            </p:extLst>
          </p:nvPr>
        </p:nvGraphicFramePr>
        <p:xfrm>
          <a:off x="8011340" y="1702656"/>
          <a:ext cx="1544727" cy="479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560" imgH="228600" progId="Equation.DSMT4">
                  <p:embed/>
                </p:oleObj>
              </mc:Choice>
              <mc:Fallback>
                <p:oleObj name="Equation" r:id="rId5" imgW="736560" imgH="228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B650B45-3C3A-4C98-AD7A-2A4AE8FA06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11340" y="1702656"/>
                        <a:ext cx="1544727" cy="4793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4A04001-5AA3-49E7-8AB1-DA728F49A9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088305"/>
              </p:ext>
            </p:extLst>
          </p:nvPr>
        </p:nvGraphicFramePr>
        <p:xfrm>
          <a:off x="9636741" y="2196818"/>
          <a:ext cx="1624012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4360" imgH="431640" progId="Equation.DSMT4">
                  <p:embed/>
                </p:oleObj>
              </mc:Choice>
              <mc:Fallback>
                <p:oleObj name="Equation" r:id="rId7" imgW="774360" imgH="4316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09EC72C-4FD5-44FC-B92A-24A7F32351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636741" y="2196818"/>
                        <a:ext cx="1624012" cy="906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6F20024-D4E9-4239-8611-90A5E1D5F8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361535"/>
              </p:ext>
            </p:extLst>
          </p:nvPr>
        </p:nvGraphicFramePr>
        <p:xfrm>
          <a:off x="8531610" y="3175976"/>
          <a:ext cx="324802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49080" imgH="672840" progId="Equation.DSMT4">
                  <p:embed/>
                </p:oleObj>
              </mc:Choice>
              <mc:Fallback>
                <p:oleObj name="Equation" r:id="rId9" imgW="1549080" imgH="6728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41366FEA-E617-4D1E-9CF2-DEA58354D5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31610" y="3175976"/>
                        <a:ext cx="3248025" cy="140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3FFA4DB-A7C5-4EC3-A6A9-E0E741390227}"/>
              </a:ext>
            </a:extLst>
          </p:cNvPr>
          <p:cNvCxnSpPr>
            <a:cxnSpLocks/>
          </p:cNvCxnSpPr>
          <p:nvPr/>
        </p:nvCxnSpPr>
        <p:spPr>
          <a:xfrm>
            <a:off x="6096000" y="903720"/>
            <a:ext cx="0" cy="572659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1CF596B3-51D5-4B9A-8896-7EA2ECBD3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97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B0C9808-19AB-44A0-A324-339CCBC53424}"/>
                  </a:ext>
                </a:extLst>
              </p:cNvPr>
              <p:cNvSpPr txBox="1"/>
              <p:nvPr/>
            </p:nvSpPr>
            <p:spPr>
              <a:xfrm>
                <a:off x="332281" y="820254"/>
                <a:ext cx="5763718" cy="4005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、声线参数计算</a:t>
                </a:r>
                <a:endPara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设定：</a:t>
                </a: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初始掠射角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，声源处声速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声线参数</a:t>
                </a:r>
                <a:endParaRPr lang="en-US" altLang="zh-CN" sz="24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ts val="3000"/>
                  </a:lnSpc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深度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2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处的掠射角：</a:t>
                </a: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声线在第</a:t>
                </a:r>
                <a:r>
                  <a:rPr lang="en-US" altLang="zh-CN" sz="2200" b="1" dirty="0" err="1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2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层的水平距离：</a:t>
                </a: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声线在第</a:t>
                </a:r>
                <a:r>
                  <a:rPr lang="en-US" altLang="zh-CN" sz="2200" b="1" dirty="0" err="1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2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层的传播时间：</a:t>
                </a:r>
                <a:endParaRPr lang="en-US" altLang="zh-CN" sz="22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B0C9808-19AB-44A0-A324-339CCBC53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81" y="820254"/>
                <a:ext cx="5763718" cy="4005905"/>
              </a:xfrm>
              <a:prstGeom prst="rect">
                <a:avLst/>
              </a:prstGeom>
              <a:blipFill>
                <a:blip r:embed="rId3"/>
                <a:stretch>
                  <a:fillRect l="-2222" t="-609" b="-2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39D2DCE-E67F-48AE-858D-487D052B2E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170028"/>
              </p:ext>
            </p:extLst>
          </p:nvPr>
        </p:nvGraphicFramePr>
        <p:xfrm>
          <a:off x="3948772" y="2072581"/>
          <a:ext cx="2025466" cy="81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431640" progId="Equation.DSMT4">
                  <p:embed/>
                </p:oleObj>
              </mc:Choice>
              <mc:Fallback>
                <p:oleObj name="Equation" r:id="rId4" imgW="1079280" imgH="4316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09EC72C-4FD5-44FC-B92A-24A7F32351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48772" y="2072581"/>
                        <a:ext cx="2025466" cy="811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7DEB5E3-98C5-4BC9-AF53-26D828B49B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421030"/>
              </p:ext>
            </p:extLst>
          </p:nvPr>
        </p:nvGraphicFramePr>
        <p:xfrm>
          <a:off x="1266825" y="3198813"/>
          <a:ext cx="5364163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4840" imgH="660240" progId="Equation.DSMT4">
                  <p:embed/>
                </p:oleObj>
              </mc:Choice>
              <mc:Fallback>
                <p:oleObj name="Equation" r:id="rId6" imgW="3174840" imgH="6602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E39D2DCE-E67F-48AE-858D-487D052B2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66825" y="3198813"/>
                        <a:ext cx="5364163" cy="1116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8">
            <a:extLst>
              <a:ext uri="{FF2B5EF4-FFF2-40B4-BE49-F238E27FC236}">
                <a16:creationId xmlns:a16="http://schemas.microsoft.com/office/drawing/2014/main" id="{BE7452CD-99DD-4078-AD3C-5E5336EFF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888477"/>
              </p:ext>
            </p:extLst>
          </p:nvPr>
        </p:nvGraphicFramePr>
        <p:xfrm>
          <a:off x="1277995" y="4826159"/>
          <a:ext cx="4484688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38280" imgH="1015920" progId="Equation.DSMT4">
                  <p:embed/>
                </p:oleObj>
              </mc:Choice>
              <mc:Fallback>
                <p:oleObj name="Equation" r:id="rId8" imgW="2438280" imgH="1015920" progId="Equation.DSMT4">
                  <p:embed/>
                  <p:pic>
                    <p:nvPicPr>
                      <p:cNvPr id="125960" name="Object 8">
                        <a:extLst>
                          <a:ext uri="{FF2B5EF4-FFF2-40B4-BE49-F238E27FC236}">
                            <a16:creationId xmlns:a16="http://schemas.microsoft.com/office/drawing/2014/main" id="{C7AA2954-76C1-416D-B4D3-EB6B7F8FF4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95" y="4826159"/>
                        <a:ext cx="4484688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976081E-1178-4F26-9F74-5B42B9BC589E}"/>
              </a:ext>
            </a:extLst>
          </p:cNvPr>
          <p:cNvSpPr/>
          <p:nvPr/>
        </p:nvSpPr>
        <p:spPr>
          <a:xfrm>
            <a:off x="7171155" y="1125774"/>
            <a:ext cx="2685351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声线总水平距离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声线总传播时间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51E4D417-6CE6-4E76-88FE-61517415DD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119033"/>
              </p:ext>
            </p:extLst>
          </p:nvPr>
        </p:nvGraphicFramePr>
        <p:xfrm>
          <a:off x="7881938" y="1819275"/>
          <a:ext cx="35274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41400" imgH="482400" progId="Equation.DSMT4">
                  <p:embed/>
                </p:oleObj>
              </mc:Choice>
              <mc:Fallback>
                <p:oleObj name="Equation" r:id="rId10" imgW="1841400" imgH="482400" progId="Equation.DSMT4">
                  <p:embed/>
                  <p:pic>
                    <p:nvPicPr>
                      <p:cNvPr id="124939" name="Object 11">
                        <a:extLst>
                          <a:ext uri="{FF2B5EF4-FFF2-40B4-BE49-F238E27FC236}">
                            <a16:creationId xmlns:a16="http://schemas.microsoft.com/office/drawing/2014/main" id="{32A15CB4-8489-4726-9B70-59FB7EBC535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1938" y="1819275"/>
                        <a:ext cx="352742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E76EC083-B12A-40E7-8AAB-F261AE09DB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2681517"/>
              </p:ext>
            </p:extLst>
          </p:nvPr>
        </p:nvGraphicFramePr>
        <p:xfrm>
          <a:off x="8078787" y="3756411"/>
          <a:ext cx="3133725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03240" imgH="888840" progId="Equation.DSMT4">
                  <p:embed/>
                </p:oleObj>
              </mc:Choice>
              <mc:Fallback>
                <p:oleObj name="Equation" r:id="rId12" imgW="1803240" imgH="888840" progId="Equation.DSMT4">
                  <p:embed/>
                  <p:pic>
                    <p:nvPicPr>
                      <p:cNvPr id="125959" name="Object 7">
                        <a:extLst>
                          <a:ext uri="{FF2B5EF4-FFF2-40B4-BE49-F238E27FC236}">
                            <a16:creationId xmlns:a16="http://schemas.microsoft.com/office/drawing/2014/main" id="{0EFF895B-5924-4BF9-B1F0-1D96AEF32D4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8787" y="3756411"/>
                        <a:ext cx="3133725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40130DC-03F8-4ABC-A525-C776CF2013FB}"/>
              </a:ext>
            </a:extLst>
          </p:cNvPr>
          <p:cNvCxnSpPr>
            <a:cxnSpLocks/>
          </p:cNvCxnSpPr>
          <p:nvPr/>
        </p:nvCxnSpPr>
        <p:spPr>
          <a:xfrm>
            <a:off x="6959600" y="869521"/>
            <a:ext cx="0" cy="572659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D37D19-9B66-4134-AEFA-37D4F961D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21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0C9808-19AB-44A0-A324-339CCBC53424}"/>
              </a:ext>
            </a:extLst>
          </p:cNvPr>
          <p:cNvSpPr txBox="1"/>
          <p:nvPr/>
        </p:nvSpPr>
        <p:spPr>
          <a:xfrm>
            <a:off x="332281" y="820254"/>
            <a:ext cx="5763718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、分层介质中的声强度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40130DC-03F8-4ABC-A525-C776CF2013FB}"/>
              </a:ext>
            </a:extLst>
          </p:cNvPr>
          <p:cNvCxnSpPr>
            <a:cxnSpLocks/>
          </p:cNvCxnSpPr>
          <p:nvPr/>
        </p:nvCxnSpPr>
        <p:spPr>
          <a:xfrm>
            <a:off x="6959600" y="869521"/>
            <a:ext cx="0" cy="572659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A39FDA21-C6D0-499D-B264-07C17FC589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9976790"/>
              </p:ext>
            </p:extLst>
          </p:nvPr>
        </p:nvGraphicFramePr>
        <p:xfrm>
          <a:off x="1357313" y="1493838"/>
          <a:ext cx="3992562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482400" progId="Equation.DSMT4">
                  <p:embed/>
                </p:oleObj>
              </mc:Choice>
              <mc:Fallback>
                <p:oleObj name="Equation" r:id="rId2" imgW="1917360" imgH="482400" progId="Equation.DSMT4">
                  <p:embed/>
                  <p:pic>
                    <p:nvPicPr>
                      <p:cNvPr id="131086" name="Object 14">
                        <a:extLst>
                          <a:ext uri="{FF2B5EF4-FFF2-40B4-BE49-F238E27FC236}">
                            <a16:creationId xmlns:a16="http://schemas.microsoft.com/office/drawing/2014/main" id="{32B61D53-B999-4561-9750-EFCCACEB79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1493838"/>
                        <a:ext cx="3992562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2BE4D748-90FD-431F-B7BE-08B41E0DA8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343730"/>
              </p:ext>
            </p:extLst>
          </p:nvPr>
        </p:nvGraphicFramePr>
        <p:xfrm>
          <a:off x="206375" y="2652713"/>
          <a:ext cx="61849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63480" imgH="457200" progId="Equation.DSMT4">
                  <p:embed/>
                </p:oleObj>
              </mc:Choice>
              <mc:Fallback>
                <p:oleObj name="Equation" r:id="rId4" imgW="2463480" imgH="457200" progId="Equation.DSMT4">
                  <p:embed/>
                  <p:pic>
                    <p:nvPicPr>
                      <p:cNvPr id="129035" name="Object 11">
                        <a:extLst>
                          <a:ext uri="{FF2B5EF4-FFF2-40B4-BE49-F238E27FC236}">
                            <a16:creationId xmlns:a16="http://schemas.microsoft.com/office/drawing/2014/main" id="{85B4B509-0D2B-4603-A2F2-510F872C3E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2652713"/>
                        <a:ext cx="6184900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F933D7BB-0FE1-4165-8C2D-AA1CCE993B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307704"/>
              </p:ext>
            </p:extLst>
          </p:nvPr>
        </p:nvGraphicFramePr>
        <p:xfrm>
          <a:off x="516732" y="5146705"/>
          <a:ext cx="5746750" cy="152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98811" imgH="571770" progId="Equation.DSMT4">
                  <p:embed/>
                </p:oleObj>
              </mc:Choice>
              <mc:Fallback>
                <p:oleObj r:id="rId6" imgW="2198811" imgH="571770" progId="Equation.DSMT4">
                  <p:embed/>
                  <p:pic>
                    <p:nvPicPr>
                      <p:cNvPr id="129037" name="Object 13">
                        <a:extLst>
                          <a:ext uri="{FF2B5EF4-FFF2-40B4-BE49-F238E27FC236}">
                            <a16:creationId xmlns:a16="http://schemas.microsoft.com/office/drawing/2014/main" id="{202CCCC3-1FC3-4C7F-96D1-52C6AE5743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2" y="5146705"/>
                        <a:ext cx="5746750" cy="152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2E8EAB4A-D0C8-4620-A42E-CF0ECECCFA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640180"/>
              </p:ext>
            </p:extLst>
          </p:nvPr>
        </p:nvGraphicFramePr>
        <p:xfrm>
          <a:off x="4202113" y="3963988"/>
          <a:ext cx="2444750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7240" imgH="698400" progId="Equation.DSMT4">
                  <p:embed/>
                </p:oleObj>
              </mc:Choice>
              <mc:Fallback>
                <p:oleObj name="Equation" r:id="rId8" imgW="1587240" imgH="698400" progId="Equation.DSMT4">
                  <p:embed/>
                  <p:pic>
                    <p:nvPicPr>
                      <p:cNvPr id="16" name="Object 7">
                        <a:extLst>
                          <a:ext uri="{FF2B5EF4-FFF2-40B4-BE49-F238E27FC236}">
                            <a16:creationId xmlns:a16="http://schemas.microsoft.com/office/drawing/2014/main" id="{75541A62-5795-49A2-A1DC-D62BCA1AAF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3" y="3963988"/>
                        <a:ext cx="2444750" cy="1068387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箭头: 下 1">
            <a:extLst>
              <a:ext uri="{FF2B5EF4-FFF2-40B4-BE49-F238E27FC236}">
                <a16:creationId xmlns:a16="http://schemas.microsoft.com/office/drawing/2014/main" id="{46311704-A11E-4513-848E-2687D545CFEC}"/>
              </a:ext>
            </a:extLst>
          </p:cNvPr>
          <p:cNvSpPr/>
          <p:nvPr/>
        </p:nvSpPr>
        <p:spPr>
          <a:xfrm>
            <a:off x="2865524" y="3922467"/>
            <a:ext cx="558795" cy="12242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DD9FBB4-5FB0-4E4C-910B-B4246181B79C}"/>
              </a:ext>
            </a:extLst>
          </p:cNvPr>
          <p:cNvCxnSpPr>
            <a:cxnSpLocks/>
          </p:cNvCxnSpPr>
          <p:nvPr/>
        </p:nvCxnSpPr>
        <p:spPr>
          <a:xfrm flipH="1">
            <a:off x="3390107" y="4534586"/>
            <a:ext cx="85210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BD4CFB0-A73E-40D7-9960-B920146C9919}"/>
              </a:ext>
            </a:extLst>
          </p:cNvPr>
          <p:cNvCxnSpPr>
            <a:cxnSpLocks/>
          </p:cNvCxnSpPr>
          <p:nvPr/>
        </p:nvCxnSpPr>
        <p:spPr>
          <a:xfrm>
            <a:off x="1871617" y="4843866"/>
            <a:ext cx="1563582" cy="5107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7662EA5-3A6F-49D0-8C9F-1838BFA5F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558930"/>
              </p:ext>
            </p:extLst>
          </p:nvPr>
        </p:nvGraphicFramePr>
        <p:xfrm>
          <a:off x="911391" y="4392826"/>
          <a:ext cx="917243" cy="67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3160" imgH="393480" progId="Equation.DSMT4">
                  <p:embed/>
                </p:oleObj>
              </mc:Choice>
              <mc:Fallback>
                <p:oleObj name="Equation" r:id="rId10" imgW="533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11391" y="4392826"/>
                        <a:ext cx="917243" cy="677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>
            <a:extLst>
              <a:ext uri="{FF2B5EF4-FFF2-40B4-BE49-F238E27FC236}">
                <a16:creationId xmlns:a16="http://schemas.microsoft.com/office/drawing/2014/main" id="{597C643E-2753-4AB9-BB1A-7D716BEFB3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720023"/>
              </p:ext>
            </p:extLst>
          </p:nvPr>
        </p:nvGraphicFramePr>
        <p:xfrm>
          <a:off x="8091321" y="2492375"/>
          <a:ext cx="3030924" cy="250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14320" imgH="1422360" progId="Equation.DSMT4">
                  <p:embed/>
                </p:oleObj>
              </mc:Choice>
              <mc:Fallback>
                <p:oleObj name="Equation" r:id="rId12" imgW="1714320" imgH="1422360" progId="Equation.DSMT4">
                  <p:embed/>
                  <p:pic>
                    <p:nvPicPr>
                      <p:cNvPr id="14" name="Object 7">
                        <a:extLst>
                          <a:ext uri="{FF2B5EF4-FFF2-40B4-BE49-F238E27FC236}">
                            <a16:creationId xmlns:a16="http://schemas.microsoft.com/office/drawing/2014/main" id="{2E8EAB4A-D0C8-4620-A42E-CF0ECECCFA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1321" y="2492375"/>
                        <a:ext cx="3030924" cy="2502113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38F2B040-9767-41BF-AB8C-C6FAC97F49C6}"/>
              </a:ext>
            </a:extLst>
          </p:cNvPr>
          <p:cNvSpPr txBox="1"/>
          <p:nvPr/>
        </p:nvSpPr>
        <p:spPr>
          <a:xfrm>
            <a:off x="7090197" y="1385858"/>
            <a:ext cx="5033173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非全向均匀发射的情况下，引入发射指向性函数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Object 13">
            <a:extLst>
              <a:ext uri="{FF2B5EF4-FFF2-40B4-BE49-F238E27FC236}">
                <a16:creationId xmlns:a16="http://schemas.microsoft.com/office/drawing/2014/main" id="{CAA4A416-9A5B-4267-B9D7-B8B6962C0B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10743"/>
              </p:ext>
            </p:extLst>
          </p:nvPr>
        </p:nvGraphicFramePr>
        <p:xfrm>
          <a:off x="7300372" y="5069839"/>
          <a:ext cx="4704066" cy="1249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97080" imgH="571320" progId="Equation.DSMT4">
                  <p:embed/>
                </p:oleObj>
              </mc:Choice>
              <mc:Fallback>
                <p:oleObj name="Equation" r:id="rId14" imgW="2197080" imgH="571320" progId="Equation.DSMT4">
                  <p:embed/>
                  <p:pic>
                    <p:nvPicPr>
                      <p:cNvPr id="13" name="Object 13">
                        <a:extLst>
                          <a:ext uri="{FF2B5EF4-FFF2-40B4-BE49-F238E27FC236}">
                            <a16:creationId xmlns:a16="http://schemas.microsoft.com/office/drawing/2014/main" id="{F933D7BB-0FE1-4165-8C2D-AA1CCE993B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0372" y="5069839"/>
                        <a:ext cx="4704066" cy="1249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F723A1-13F6-4701-9E10-D776CB209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991751"/>
              </p:ext>
            </p:extLst>
          </p:nvPr>
        </p:nvGraphicFramePr>
        <p:xfrm>
          <a:off x="9818267" y="1875222"/>
          <a:ext cx="1136366" cy="454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1320" imgH="228600" progId="Equation.DSMT4">
                  <p:embed/>
                </p:oleObj>
              </mc:Choice>
              <mc:Fallback>
                <p:oleObj name="Equation" r:id="rId16" imgW="571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818267" y="1875222"/>
                        <a:ext cx="1136366" cy="4545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93037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0C9808-19AB-44A0-A324-339CCBC53424}"/>
              </a:ext>
            </a:extLst>
          </p:cNvPr>
          <p:cNvSpPr txBox="1"/>
          <p:nvPr/>
        </p:nvSpPr>
        <p:spPr>
          <a:xfrm>
            <a:off x="332281" y="820254"/>
            <a:ext cx="5763718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、分层介质中的聚焦因子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46311704-A11E-4513-848E-2687D545CFEC}"/>
              </a:ext>
            </a:extLst>
          </p:cNvPr>
          <p:cNvSpPr/>
          <p:nvPr/>
        </p:nvSpPr>
        <p:spPr>
          <a:xfrm>
            <a:off x="5537203" y="3858220"/>
            <a:ext cx="558795" cy="8611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DF3CE0-6E31-4650-BC4B-D937BC6E6535}"/>
              </a:ext>
            </a:extLst>
          </p:cNvPr>
          <p:cNvSpPr/>
          <p:nvPr/>
        </p:nvSpPr>
        <p:spPr>
          <a:xfrm>
            <a:off x="484976" y="1634836"/>
            <a:ext cx="96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单层介质中，若斜距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近似等于水平距离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，则：</a:t>
            </a:r>
            <a:endParaRPr lang="en-US" sz="2400" b="1" dirty="0"/>
          </a:p>
        </p:txBody>
      </p:sp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08204439-FEA9-4FA0-A81E-BA4C3C9A0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586105"/>
              </p:ext>
            </p:extLst>
          </p:nvPr>
        </p:nvGraphicFramePr>
        <p:xfrm>
          <a:off x="4373563" y="2146300"/>
          <a:ext cx="3240087" cy="152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698400" progId="Equation.DSMT4">
                  <p:embed/>
                </p:oleObj>
              </mc:Choice>
              <mc:Fallback>
                <p:oleObj name="Equation" r:id="rId2" imgW="1473120" imgH="698400" progId="Equation.DSMT4">
                  <p:embed/>
                  <p:pic>
                    <p:nvPicPr>
                      <p:cNvPr id="75" name="Object 5">
                        <a:extLst>
                          <a:ext uri="{FF2B5EF4-FFF2-40B4-BE49-F238E27FC236}">
                            <a16:creationId xmlns:a16="http://schemas.microsoft.com/office/drawing/2014/main" id="{CA6DD72A-D632-42B6-ACD9-88B1BF9C5C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2146300"/>
                        <a:ext cx="3240087" cy="152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142AF1A9-475E-4F07-96F8-F135DDE75BC5}"/>
              </a:ext>
            </a:extLst>
          </p:cNvPr>
          <p:cNvGrpSpPr/>
          <p:nvPr/>
        </p:nvGrpSpPr>
        <p:grpSpPr>
          <a:xfrm>
            <a:off x="2352675" y="3830638"/>
            <a:ext cx="3077741" cy="657225"/>
            <a:chOff x="7232117" y="3639044"/>
            <a:chExt cx="3077741" cy="657225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3199D575-0F8F-4044-8031-D3C4A9859D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7641772"/>
                </p:ext>
              </p:extLst>
            </p:nvPr>
          </p:nvGraphicFramePr>
          <p:xfrm>
            <a:off x="7232117" y="3639044"/>
            <a:ext cx="2573338" cy="657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90640" imgH="457200" progId="Equation.DSMT4">
                    <p:embed/>
                  </p:oleObj>
                </mc:Choice>
                <mc:Fallback>
                  <p:oleObj name="Equation" r:id="rId4" imgW="1790640" imgH="45720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87DEB5E3-98C5-4BC9-AF53-26D828B49B8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232117" y="3639044"/>
                          <a:ext cx="2573338" cy="657225"/>
                        </a:xfrm>
                        <a:prstGeom prst="rect">
                          <a:avLst/>
                        </a:prstGeom>
                        <a:ln w="19050"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8234CA2F-4853-4A57-AEAF-2B79BE0A4E5F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9768683" y="3967769"/>
              <a:ext cx="54117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1CDC29DF-3ADB-48E7-AEB6-9A466AC34C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2840813"/>
              </p:ext>
            </p:extLst>
          </p:nvPr>
        </p:nvGraphicFramePr>
        <p:xfrm>
          <a:off x="2359401" y="5016148"/>
          <a:ext cx="7055188" cy="14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65280" imgH="660240" progId="Equation.DSMT4">
                  <p:embed/>
                </p:oleObj>
              </mc:Choice>
              <mc:Fallback>
                <p:oleObj name="Equation" r:id="rId6" imgW="3365280" imgH="660240" progId="Equation.DSMT4">
                  <p:embed/>
                  <p:pic>
                    <p:nvPicPr>
                      <p:cNvPr id="136198" name="Object 6">
                        <a:extLst>
                          <a:ext uri="{FF2B5EF4-FFF2-40B4-BE49-F238E27FC236}">
                            <a16:creationId xmlns:a16="http://schemas.microsoft.com/office/drawing/2014/main" id="{61E36AC7-F499-47BF-B8D0-E545BE6167E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401" y="5016148"/>
                        <a:ext cx="7055188" cy="142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2FAD543-F4DD-41AB-90D1-E6572A8144E0}"/>
              </a:ext>
            </a:extLst>
          </p:cNvPr>
          <p:cNvCxnSpPr>
            <a:cxnSpLocks/>
          </p:cNvCxnSpPr>
          <p:nvPr/>
        </p:nvCxnSpPr>
        <p:spPr>
          <a:xfrm>
            <a:off x="7467600" y="4795935"/>
            <a:ext cx="0" cy="5795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FBA8161-DD1D-4CFF-A536-AF71CEF6BCA1}"/>
                  </a:ext>
                </a:extLst>
              </p:cNvPr>
              <p:cNvSpPr txBox="1"/>
              <p:nvPr/>
            </p:nvSpPr>
            <p:spPr>
              <a:xfrm>
                <a:off x="6743960" y="4073025"/>
                <a:ext cx="23907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远距离传播时，声线的掠射角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为小量</a:t>
                </a:r>
                <a:endParaRPr lang="en-US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FBA8161-DD1D-4CFF-A536-AF71CEF6B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960" y="4073025"/>
                <a:ext cx="2390709" cy="646331"/>
              </a:xfrm>
              <a:prstGeom prst="rect">
                <a:avLst/>
              </a:prstGeom>
              <a:blipFill>
                <a:blip r:embed="rId9"/>
                <a:stretch>
                  <a:fillRect l="-2041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F5FB64-3BC4-461E-BC38-DA90D149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0C9808-19AB-44A0-A324-339CCBC53424}"/>
              </a:ext>
            </a:extLst>
          </p:cNvPr>
          <p:cNvSpPr txBox="1"/>
          <p:nvPr/>
        </p:nvSpPr>
        <p:spPr>
          <a:xfrm>
            <a:off x="332280" y="820254"/>
            <a:ext cx="6411679" cy="4338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、分层介质中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焦散线邻域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的聚焦因子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焦散线邻域的聚焦因子：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分层介质中声线总水平距离：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焦散线邻域的聚焦因子为：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Object 11">
            <a:extLst>
              <a:ext uri="{FF2B5EF4-FFF2-40B4-BE49-F238E27FC236}">
                <a16:creationId xmlns:a16="http://schemas.microsoft.com/office/drawing/2014/main" id="{599561E2-DAD7-48B7-96D3-D5FB5E0541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093819"/>
              </p:ext>
            </p:extLst>
          </p:nvPr>
        </p:nvGraphicFramePr>
        <p:xfrm>
          <a:off x="1874838" y="2679700"/>
          <a:ext cx="8650287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76560" imgH="1015920" progId="Equation.DSMT4">
                  <p:embed/>
                </p:oleObj>
              </mc:Choice>
              <mc:Fallback>
                <p:oleObj name="Equation" r:id="rId2" imgW="4876560" imgH="1015920" progId="Equation.DSMT4">
                  <p:embed/>
                  <p:pic>
                    <p:nvPicPr>
                      <p:cNvPr id="22" name="Object 11">
                        <a:extLst>
                          <a:ext uri="{FF2B5EF4-FFF2-40B4-BE49-F238E27FC236}">
                            <a16:creationId xmlns:a16="http://schemas.microsoft.com/office/drawing/2014/main" id="{51E4D417-6CE6-4E76-88FE-61517415DD9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838" y="2679700"/>
                        <a:ext cx="8650287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椭圆 4">
            <a:extLst>
              <a:ext uri="{FF2B5EF4-FFF2-40B4-BE49-F238E27FC236}">
                <a16:creationId xmlns:a16="http://schemas.microsoft.com/office/drawing/2014/main" id="{239F1623-4DCE-44FE-8EAF-D999E9A71DA8}"/>
              </a:ext>
            </a:extLst>
          </p:cNvPr>
          <p:cNvSpPr/>
          <p:nvPr/>
        </p:nvSpPr>
        <p:spPr>
          <a:xfrm>
            <a:off x="8654952" y="1276599"/>
            <a:ext cx="681135" cy="110714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0DD34984-CD10-4F9B-9945-EEA2059FB1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484433"/>
              </p:ext>
            </p:extLst>
          </p:nvPr>
        </p:nvGraphicFramePr>
        <p:xfrm>
          <a:off x="4505325" y="1336675"/>
          <a:ext cx="60896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98520" imgH="533160" progId="Equation.DSMT4">
                  <p:embed/>
                </p:oleObj>
              </mc:Choice>
              <mc:Fallback>
                <p:oleObj name="Equation" r:id="rId4" imgW="3098520" imgH="5331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85770C5-C7A1-40C1-9597-27C4AF5B1D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05325" y="1336675"/>
                        <a:ext cx="6089650" cy="1047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左弧形 7">
            <a:extLst>
              <a:ext uri="{FF2B5EF4-FFF2-40B4-BE49-F238E27FC236}">
                <a16:creationId xmlns:a16="http://schemas.microsoft.com/office/drawing/2014/main" id="{A706EF7C-4F1E-4B55-A89A-2B58B1780B70}"/>
              </a:ext>
            </a:extLst>
          </p:cNvPr>
          <p:cNvSpPr/>
          <p:nvPr/>
        </p:nvSpPr>
        <p:spPr>
          <a:xfrm rot="9661510">
            <a:off x="10219280" y="2038016"/>
            <a:ext cx="522515" cy="1875453"/>
          </a:xfrm>
          <a:prstGeom prst="curvedRightArrow">
            <a:avLst>
              <a:gd name="adj1" fmla="val 34168"/>
              <a:gd name="adj2" fmla="val 86051"/>
              <a:gd name="adj3" fmla="val 682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C898806-FC2D-4D20-A597-54455142FB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447687"/>
              </p:ext>
            </p:extLst>
          </p:nvPr>
        </p:nvGraphicFramePr>
        <p:xfrm>
          <a:off x="3538119" y="4952944"/>
          <a:ext cx="5192260" cy="1817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31760" imgH="990360" progId="Equation.DSMT4">
                  <p:embed/>
                </p:oleObj>
              </mc:Choice>
              <mc:Fallback>
                <p:oleObj name="Equation" r:id="rId6" imgW="2831760" imgH="9903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0DD34984-CD10-4F9B-9945-EEA2059FB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38119" y="4952944"/>
                        <a:ext cx="5192260" cy="18171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A2ECA1DB-2AF6-4101-858F-EA99DB92D7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263735"/>
              </p:ext>
            </p:extLst>
          </p:nvPr>
        </p:nvGraphicFramePr>
        <p:xfrm>
          <a:off x="8391871" y="6123471"/>
          <a:ext cx="153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080" imgH="228600" progId="Equation.DSMT4">
                  <p:embed/>
                </p:oleObj>
              </mc:Choice>
              <mc:Fallback>
                <p:oleObj name="Equation" r:id="rId8" imgW="838080" imgH="2286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0C898806-FC2D-4D20-A597-54455142FB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91871" y="6123471"/>
                        <a:ext cx="1536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50EE3FA-3CFE-4E05-9BB1-4B3A6AE8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471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0C9808-19AB-44A0-A324-339CCBC53424}"/>
              </a:ext>
            </a:extLst>
          </p:cNvPr>
          <p:cNvSpPr txBox="1"/>
          <p:nvPr/>
        </p:nvSpPr>
        <p:spPr>
          <a:xfrm>
            <a:off x="332280" y="820254"/>
            <a:ext cx="6411679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、声线计算结果举例：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EF44F63-F76E-4364-9E86-35B6964A9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8" y="1466585"/>
            <a:ext cx="11918945" cy="521749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0F512B-C3F1-43C4-AFED-402985B58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81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0C9808-19AB-44A0-A324-339CCBC53424}"/>
              </a:ext>
            </a:extLst>
          </p:cNvPr>
          <p:cNvSpPr txBox="1"/>
          <p:nvPr/>
        </p:nvSpPr>
        <p:spPr>
          <a:xfrm>
            <a:off x="332280" y="820254"/>
            <a:ext cx="6411679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、声线计算结果举例：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9035BCB-FF0B-474E-9D45-EF6B734FA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596" y="943423"/>
            <a:ext cx="5699443" cy="283836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5F34B40-46D7-4969-89D5-AFCEC9DC5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596" y="3904960"/>
            <a:ext cx="5931628" cy="269416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1E3BDC-4C77-40BE-B30E-BBC8C4CE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5347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0C9808-19AB-44A0-A324-339CCBC53424}"/>
              </a:ext>
            </a:extLst>
          </p:cNvPr>
          <p:cNvSpPr txBox="1"/>
          <p:nvPr/>
        </p:nvSpPr>
        <p:spPr>
          <a:xfrm>
            <a:off x="332280" y="820254"/>
            <a:ext cx="11189159" cy="428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、声线计算结果举例：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本征声线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若声源和接收器位置已经确定，要分析接收点的声场，需要确定能到达该点的声线，这种到达固定点上的声线，成为本征声线。</a:t>
            </a:r>
            <a:endParaRPr lang="en-US" altLang="zh-CN" sz="28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寻找本征声线，需要确定声线类型和反射、反转次数，建立数学模型得到结果</a:t>
            </a:r>
            <a:endParaRPr lang="en-US" altLang="zh-CN" sz="28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给定点的声场强度，是该点的所有本征声线的叠加。</a:t>
            </a:r>
            <a:endParaRPr lang="en-US" altLang="zh-CN" sz="28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9BC4056-5187-4984-82E9-8600D560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233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0C9808-19AB-44A0-A324-339CCBC53424}"/>
              </a:ext>
            </a:extLst>
          </p:cNvPr>
          <p:cNvSpPr txBox="1"/>
          <p:nvPr/>
        </p:nvSpPr>
        <p:spPr>
          <a:xfrm>
            <a:off x="332280" y="820254"/>
            <a:ext cx="11189159" cy="1236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、声线计算结果举例：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聚焦因子计算实例</a:t>
            </a:r>
            <a:endParaRPr lang="en-US" altLang="zh-CN" sz="28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7DDEB245-1BDC-4594-B083-BB2B6AB871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7553738"/>
              </p:ext>
            </p:extLst>
          </p:nvPr>
        </p:nvGraphicFramePr>
        <p:xfrm>
          <a:off x="3744428" y="1859708"/>
          <a:ext cx="2733346" cy="115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634680" progId="Equation.DSMT4">
                  <p:embed/>
                </p:oleObj>
              </mc:Choice>
              <mc:Fallback>
                <p:oleObj name="Equation" r:id="rId2" imgW="1536480" imgH="634680" progId="Equation.DSMT4">
                  <p:embed/>
                  <p:pic>
                    <p:nvPicPr>
                      <p:cNvPr id="13" name="Object 6">
                        <a:extLst>
                          <a:ext uri="{FF2B5EF4-FFF2-40B4-BE49-F238E27FC236}">
                            <a16:creationId xmlns:a16="http://schemas.microsoft.com/office/drawing/2014/main" id="{1CDC29DF-3ADB-48E7-AEB6-9A466AC34C6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428" y="1859708"/>
                        <a:ext cx="2733346" cy="1159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7ABB29A3-5E37-46A2-BFE2-7A1228290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560" y="896215"/>
            <a:ext cx="4310160" cy="232119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CC71B87-709F-4F9A-A3CF-FD9E1068E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149" y="3494422"/>
            <a:ext cx="8939222" cy="2757089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053EC8-6608-4DD0-A3DE-75CB4B33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569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B0C9808-19AB-44A0-A324-339CCBC53424}"/>
                  </a:ext>
                </a:extLst>
              </p:cNvPr>
              <p:cNvSpPr txBox="1"/>
              <p:nvPr/>
            </p:nvSpPr>
            <p:spPr>
              <a:xfrm>
                <a:off x="332281" y="820254"/>
                <a:ext cx="6255132" cy="5667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altLang="zh-CN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、声线计算结果举例：</a:t>
                </a:r>
                <a:endPara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声聚焦的物理解释</a:t>
                </a:r>
                <a:endParaRPr lang="en-US" altLang="zh-CN" sz="28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每一条初始掠射角为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的射线，水平距离为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</m:e>
                    </m:d>
                  </m:oMath>
                </a14:m>
                <a:endParaRPr lang="en-US" altLang="zh-CN" sz="2400" b="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在接收深度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𝑧</m:t>
                    </m:r>
                  </m:oMath>
                </a14:m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给定时，不断改变掠射角，能得到一个声线簇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𝑧</m:t>
                        </m:r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上式成立处，声能形成聚焦，因此将声线簇的包络线成为焦散线</a:t>
                </a:r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消去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即可得到焦散线方程（如右图中的</a:t>
                </a:r>
                <a:r>
                  <a:rPr lang="en-US" altLang="zh-CN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AA</a:t>
                </a: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4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B0C9808-19AB-44A0-A324-339CCBC53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81" y="820254"/>
                <a:ext cx="6255132" cy="5667385"/>
              </a:xfrm>
              <a:prstGeom prst="rect">
                <a:avLst/>
              </a:prstGeom>
              <a:blipFill>
                <a:blip r:embed="rId2"/>
                <a:stretch>
                  <a:fillRect l="-2047" t="-431" r="-6238" b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76C4EA5-9E08-4269-B3EB-8DFEF2801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385" y="2127216"/>
            <a:ext cx="4665404" cy="305346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30CBBC-8A08-462D-A5E3-E51FC3286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524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23B73F80-F9DF-4B62-9A26-A82697FC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分层介质中的声线图绘制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0C9808-19AB-44A0-A324-339CCBC53424}"/>
              </a:ext>
            </a:extLst>
          </p:cNvPr>
          <p:cNvSpPr txBox="1"/>
          <p:nvPr/>
        </p:nvSpPr>
        <p:spPr>
          <a:xfrm>
            <a:off x="332281" y="820254"/>
            <a:ext cx="6255132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、波动声学与射线声学的比较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D62CBB9-B140-409E-96F8-0055C5AC4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743" y="31615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7EA9AB6-4AA3-4433-A806-C4AB42A81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743" y="315676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A8554C0-38B2-49FF-8760-FCCE19FF7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743" y="336631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BCB3A526-79CE-4E23-BEEA-39A87B491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743" y="336631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D8D93A8-E3CD-41D9-BECB-AC38E6F98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743" y="314247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0CFF04B-AFB6-4B27-A4A8-D3219CCB1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743" y="324248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E60BDAD5-7380-4C81-8632-53BE7DC66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743" y="336631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06AD8D1-9FB0-4766-AF3B-C5CA8E6C6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743" y="324248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graphicFrame>
        <p:nvGraphicFramePr>
          <p:cNvPr id="15" name="Group 11">
            <a:extLst>
              <a:ext uri="{FF2B5EF4-FFF2-40B4-BE49-F238E27FC236}">
                <a16:creationId xmlns:a16="http://schemas.microsoft.com/office/drawing/2014/main" id="{AA4619EA-95DB-4121-8F2C-A295C2BFE5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4712902"/>
              </p:ext>
            </p:extLst>
          </p:nvPr>
        </p:nvGraphicFramePr>
        <p:xfrm>
          <a:off x="1513681" y="1881998"/>
          <a:ext cx="9164637" cy="3754438"/>
        </p:xfrm>
        <a:graphic>
          <a:graphicData uri="http://schemas.openxmlformats.org/drawingml/2006/table">
            <a:tbl>
              <a:tblPr/>
              <a:tblGrid>
                <a:gridCol w="3843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1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波动理论</a:t>
                      </a:r>
                    </a:p>
                  </a:txBody>
                  <a:tcPr marL="18000" marR="18000" marT="18000" marB="180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射线理论</a:t>
                      </a:r>
                    </a:p>
                  </a:txBody>
                  <a:tcPr marL="18000" marR="1800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3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给出完整的解析解；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很难解释简正波物理意义；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不易处理实际边界条件；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易于加入源函数；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计算繁琐；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适用于低频。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不能处理影区和焦散区附近的声场；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容易画声线，图象物理意义清晰直观；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易于处理实际边界条件；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与声源无关；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计算简单；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适用于高频。 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Line 24">
            <a:extLst>
              <a:ext uri="{FF2B5EF4-FFF2-40B4-BE49-F238E27FC236}">
                <a16:creationId xmlns:a16="http://schemas.microsoft.com/office/drawing/2014/main" id="{E3F011D6-51EA-454D-B3A8-F49BD8B9A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7018" y="1881998"/>
            <a:ext cx="0" cy="3671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5">
            <a:extLst>
              <a:ext uri="{FF2B5EF4-FFF2-40B4-BE49-F238E27FC236}">
                <a16:creationId xmlns:a16="http://schemas.microsoft.com/office/drawing/2014/main" id="{327B3DF3-33AD-4D0D-99D3-BAA92D78BA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5743" y="1881998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6">
            <a:extLst>
              <a:ext uri="{FF2B5EF4-FFF2-40B4-BE49-F238E27FC236}">
                <a16:creationId xmlns:a16="http://schemas.microsoft.com/office/drawing/2014/main" id="{C4A9C064-8FFE-4C6E-B95A-437CD08CA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5743" y="2602723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7">
            <a:extLst>
              <a:ext uri="{FF2B5EF4-FFF2-40B4-BE49-F238E27FC236}">
                <a16:creationId xmlns:a16="http://schemas.microsoft.com/office/drawing/2014/main" id="{00E58A82-22DE-4816-B4FB-1A37317E2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5743" y="5626911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FBBC09-56A6-406A-B87C-4CF7A6EB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006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F530E4F3-3997-4623-9D5D-C07522466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393745"/>
              </p:ext>
            </p:extLst>
          </p:nvPr>
        </p:nvGraphicFramePr>
        <p:xfrm>
          <a:off x="1724089" y="1690688"/>
          <a:ext cx="8931471" cy="4524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7157">
                  <a:extLst>
                    <a:ext uri="{9D8B030D-6E8A-4147-A177-3AD203B41FA5}">
                      <a16:colId xmlns:a16="http://schemas.microsoft.com/office/drawing/2014/main" val="1217531699"/>
                    </a:ext>
                  </a:extLst>
                </a:gridCol>
                <a:gridCol w="2977157">
                  <a:extLst>
                    <a:ext uri="{9D8B030D-6E8A-4147-A177-3AD203B41FA5}">
                      <a16:colId xmlns:a16="http://schemas.microsoft.com/office/drawing/2014/main" val="4267331213"/>
                    </a:ext>
                  </a:extLst>
                </a:gridCol>
                <a:gridCol w="2977157">
                  <a:extLst>
                    <a:ext uri="{9D8B030D-6E8A-4147-A177-3AD203B41FA5}">
                      <a16:colId xmlns:a16="http://schemas.microsoft.com/office/drawing/2014/main" val="1317468457"/>
                    </a:ext>
                  </a:extLst>
                </a:gridCol>
              </a:tblGrid>
              <a:tr h="4524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声传播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噪声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混响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338123"/>
                  </a:ext>
                </a:extLst>
              </a:tr>
              <a:tr h="452414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匹配场处理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场反演</a:t>
                      </a:r>
                      <a:endParaRPr 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场反演</a:t>
                      </a:r>
                      <a:endParaRPr 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994510"/>
                  </a:ext>
                </a:extLst>
              </a:tr>
              <a:tr h="45241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源定位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风速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海底地貌成像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721138"/>
                  </a:ext>
                </a:extLst>
              </a:tr>
              <a:tr h="45241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海洋环境特征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降雨率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071988"/>
                  </a:ext>
                </a:extLst>
              </a:tr>
              <a:tr h="452414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海洋声学层析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声照射</a:t>
                      </a:r>
                      <a:endParaRPr 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526076"/>
                  </a:ext>
                </a:extLst>
              </a:tr>
              <a:tr h="45241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密度场（潮、流）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物体照影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697688"/>
                  </a:ext>
                </a:extLst>
              </a:tr>
              <a:tr h="45241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温度（气候监测）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650202"/>
                  </a:ext>
                </a:extLst>
              </a:tr>
              <a:tr h="452414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地声反演推断</a:t>
                      </a:r>
                      <a:endParaRPr 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地声反演</a:t>
                      </a:r>
                      <a:endParaRPr 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810381"/>
                  </a:ext>
                </a:extLst>
              </a:tr>
              <a:tr h="45241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沉积层参数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海底声学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115925"/>
                  </a:ext>
                </a:extLst>
              </a:tr>
              <a:tr h="45241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海底散射特性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925780"/>
                  </a:ext>
                </a:extLst>
              </a:tr>
            </a:tbl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CE7C1D69-C4F2-4F49-9ACB-C3BCFD5F4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2" y="17392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36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声场反演及其应用</a:t>
            </a:r>
            <a:endParaRPr lang="zh-CN" altLang="en-US" sz="3600" b="1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372F2D-0181-43E8-B02F-9077CE0C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5D12-698A-44C2-9F4B-25FD60548E2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07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2624</Words>
  <Application>Microsoft Macintosh PowerPoint</Application>
  <PresentationFormat>宽屏</PresentationFormat>
  <Paragraphs>419</Paragraphs>
  <Slides>46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等线</vt:lpstr>
      <vt:lpstr>仿宋</vt:lpstr>
      <vt:lpstr>华文隶书</vt:lpstr>
      <vt:lpstr>宋体</vt:lpstr>
      <vt:lpstr>微软雅黑</vt:lpstr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主题​​</vt:lpstr>
      <vt:lpstr>Equation.3</vt:lpstr>
      <vt:lpstr>Equation.DSMT4</vt:lpstr>
      <vt:lpstr>Equation</vt:lpstr>
      <vt:lpstr>Paint.Picture</vt:lpstr>
      <vt:lpstr>第4章 声学方程的射线求解方法（Ray Tracing）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声学方程的射线求解方法（Ray Tracing）</dc:title>
  <dc:creator>Delin Wang</dc:creator>
  <cp:lastModifiedBy>Microsoft Office User</cp:lastModifiedBy>
  <cp:revision>77</cp:revision>
  <dcterms:created xsi:type="dcterms:W3CDTF">2020-03-09T13:41:45Z</dcterms:created>
  <dcterms:modified xsi:type="dcterms:W3CDTF">2026-04-07T19:16:22Z</dcterms:modified>
</cp:coreProperties>
</file>