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emf" ContentType="image/x-emf"/>
  <Default Extension="wmf" ContentType="image/x-wmf"/>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2" r:id="rId4"/>
    <p:sldId id="261" r:id="rId5"/>
    <p:sldId id="345" r:id="rId6"/>
    <p:sldId id="264" r:id="rId7"/>
    <p:sldId id="265" r:id="rId8"/>
    <p:sldId id="266" r:id="rId9"/>
    <p:sldId id="267" r:id="rId10"/>
    <p:sldId id="268" r:id="rId11"/>
    <p:sldId id="346" r:id="rId12"/>
    <p:sldId id="269" r:id="rId13"/>
    <p:sldId id="311" r:id="rId14"/>
    <p:sldId id="270" r:id="rId15"/>
    <p:sldId id="271" r:id="rId16"/>
    <p:sldId id="272" r:id="rId17"/>
    <p:sldId id="273" r:id="rId18"/>
    <p:sldId id="274" r:id="rId19"/>
    <p:sldId id="275" r:id="rId20"/>
    <p:sldId id="276" r:id="rId21"/>
    <p:sldId id="347" r:id="rId22"/>
    <p:sldId id="277" r:id="rId23"/>
    <p:sldId id="278" r:id="rId24"/>
    <p:sldId id="279" r:id="rId25"/>
    <p:sldId id="327" r:id="rId26"/>
    <p:sldId id="325" r:id="rId27"/>
    <p:sldId id="326" r:id="rId28"/>
    <p:sldId id="328" r:id="rId29"/>
    <p:sldId id="280" r:id="rId30"/>
    <p:sldId id="281" r:id="rId31"/>
    <p:sldId id="313" r:id="rId32"/>
    <p:sldId id="282" r:id="rId33"/>
    <p:sldId id="314" r:id="rId34"/>
    <p:sldId id="348" r:id="rId35"/>
    <p:sldId id="283" r:id="rId36"/>
    <p:sldId id="284" r:id="rId37"/>
    <p:sldId id="285" r:id="rId38"/>
    <p:sldId id="286" r:id="rId39"/>
    <p:sldId id="287" r:id="rId40"/>
    <p:sldId id="288" r:id="rId41"/>
    <p:sldId id="349" r:id="rId42"/>
    <p:sldId id="289" r:id="rId43"/>
    <p:sldId id="324" r:id="rId44"/>
    <p:sldId id="290" r:id="rId45"/>
    <p:sldId id="350" r:id="rId46"/>
    <p:sldId id="330" r:id="rId47"/>
    <p:sldId id="331" r:id="rId48"/>
    <p:sldId id="332" r:id="rId49"/>
    <p:sldId id="333" r:id="rId50"/>
    <p:sldId id="291" r:id="rId51"/>
    <p:sldId id="292" r:id="rId52"/>
    <p:sldId id="293"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9" d="100"/>
          <a:sy n="109" d="100"/>
        </p:scale>
        <p:origin x="657"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6" Type="http://schemas.openxmlformats.org/officeDocument/2006/relationships/tableStyles" Target="tableStyles.xml"/><Relationship Id="rId55" Type="http://schemas.openxmlformats.org/officeDocument/2006/relationships/viewProps" Target="viewProps.xml"/><Relationship Id="rId54" Type="http://schemas.openxmlformats.org/officeDocument/2006/relationships/presProps" Target="presProps.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11.emf"/><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2.emf"/><Relationship Id="rId7" Type="http://schemas.openxmlformats.org/officeDocument/2006/relationships/image" Target="../media/image21.emf"/><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image" Target="../media/image26.png"/></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5.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51.emf"/><Relationship Id="rId4" Type="http://schemas.openxmlformats.org/officeDocument/2006/relationships/image" Target="../media/image50.emf"/><Relationship Id="rId3" Type="http://schemas.openxmlformats.org/officeDocument/2006/relationships/image" Target="../media/image49.emf"/><Relationship Id="rId2" Type="http://schemas.openxmlformats.org/officeDocument/2006/relationships/image" Target="../media/image48.emf"/><Relationship Id="rId1" Type="http://schemas.openxmlformats.org/officeDocument/2006/relationships/image" Target="../media/image4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2.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53.png"/></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image" Target="../media/image55.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21.vml.rels><?xml version="1.0" encoding="UTF-8" standalone="yes"?>
<Relationships xmlns="http://schemas.openxmlformats.org/package/2006/relationships"><Relationship Id="rId5" Type="http://schemas.openxmlformats.org/officeDocument/2006/relationships/image" Target="../media/image64.wmf"/><Relationship Id="rId4" Type="http://schemas.openxmlformats.org/officeDocument/2006/relationships/image" Target="../media/image63.emf"/><Relationship Id="rId3" Type="http://schemas.openxmlformats.org/officeDocument/2006/relationships/image" Target="../media/image62.emf"/><Relationship Id="rId2" Type="http://schemas.openxmlformats.org/officeDocument/2006/relationships/image" Target="../media/image61.wmf"/><Relationship Id="rId1" Type="http://schemas.openxmlformats.org/officeDocument/2006/relationships/image" Target="../media/image60.e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69.wmf"/><Relationship Id="rId4" Type="http://schemas.openxmlformats.org/officeDocument/2006/relationships/image" Target="../media/image68.e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73.wmf"/><Relationship Id="rId3" Type="http://schemas.openxmlformats.org/officeDocument/2006/relationships/image" Target="../media/image72.wmf"/><Relationship Id="rId2" Type="http://schemas.openxmlformats.org/officeDocument/2006/relationships/image" Target="../media/image71.wmf"/><Relationship Id="rId1" Type="http://schemas.openxmlformats.org/officeDocument/2006/relationships/image" Target="../media/image7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6.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C41C692-E06F-4B70-935E-A888220D320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3D0F76B-514A-49A1-A6EA-19A804A34C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41C692-E06F-4B70-935E-A888220D320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D0F76B-514A-49A1-A6EA-19A804A34C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3" Type="http://schemas.openxmlformats.org/officeDocument/2006/relationships/image" Target="../media/image2.wmf"/><Relationship Id="rId2" Type="http://schemas.openxmlformats.org/officeDocument/2006/relationships/oleObject" Target="../embeddings/oleObject1.bin"/><Relationship Id="rId12" Type="http://schemas.openxmlformats.org/officeDocument/2006/relationships/vmlDrawing" Target="../drawings/vmlDrawing1.vml"/><Relationship Id="rId11" Type="http://schemas.openxmlformats.org/officeDocument/2006/relationships/slideLayout" Target="../slideLayouts/slideLayout1.xml"/><Relationship Id="rId10" Type="http://schemas.openxmlformats.org/officeDocument/2006/relationships/image" Target="../media/image5.wmf"/><Relationship Id="rId1" Type="http://schemas.openxmlformats.org/officeDocument/2006/relationships/image" Target="../media/image1.emf"/></Relationships>
</file>

<file path=ppt/slides/_rels/slide6.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1.xml"/><Relationship Id="rId5" Type="http://schemas.openxmlformats.org/officeDocument/2006/relationships/image" Target="../media/image7.wmf"/><Relationship Id="rId4" Type="http://schemas.openxmlformats.org/officeDocument/2006/relationships/oleObject" Target="../embeddings/oleObject7.bin"/><Relationship Id="rId3" Type="http://schemas.openxmlformats.org/officeDocument/2006/relationships/image" Target="../media/image6.wmf"/><Relationship Id="rId2" Type="http://schemas.openxmlformats.org/officeDocument/2006/relationships/oleObject" Target="../embeddings/oleObject6.bin"/><Relationship Id="rId1" Type="http://schemas.openxmlformats.org/officeDocument/2006/relationships/image" Target="../media/image1.emf"/></Relationships>
</file>

<file path=ppt/slides/_rels/slide7.xml.rels><?xml version="1.0" encoding="UTF-8" standalone="yes"?>
<Relationships xmlns="http://schemas.openxmlformats.org/package/2006/relationships"><Relationship Id="rId9" Type="http://schemas.openxmlformats.org/officeDocument/2006/relationships/image" Target="../media/image11.emf"/><Relationship Id="rId8" Type="http://schemas.openxmlformats.org/officeDocument/2006/relationships/oleObject" Target="../embeddings/oleObject11.bin"/><Relationship Id="rId7" Type="http://schemas.openxmlformats.org/officeDocument/2006/relationships/image" Target="../media/image10.wmf"/><Relationship Id="rId6" Type="http://schemas.openxmlformats.org/officeDocument/2006/relationships/oleObject" Target="../embeddings/oleObject10.bin"/><Relationship Id="rId5" Type="http://schemas.openxmlformats.org/officeDocument/2006/relationships/image" Target="../media/image9.wmf"/><Relationship Id="rId4" Type="http://schemas.openxmlformats.org/officeDocument/2006/relationships/oleObject" Target="../embeddings/oleObject9.bin"/><Relationship Id="rId3" Type="http://schemas.openxmlformats.org/officeDocument/2006/relationships/image" Target="../media/image8.wmf"/><Relationship Id="rId2" Type="http://schemas.openxmlformats.org/officeDocument/2006/relationships/oleObject" Target="../embeddings/oleObject8.bin"/><Relationship Id="rId11" Type="http://schemas.openxmlformats.org/officeDocument/2006/relationships/vmlDrawing" Target="../drawings/vmlDrawing3.vml"/><Relationship Id="rId10" Type="http://schemas.openxmlformats.org/officeDocument/2006/relationships/slideLayout" Target="../slideLayouts/slideLayout1.xml"/><Relationship Id="rId1" Type="http://schemas.openxmlformats.org/officeDocument/2006/relationships/image" Target="../media/image1.emf"/></Relationships>
</file>

<file path=ppt/slides/_rels/slide8.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1.xml"/><Relationship Id="rId7" Type="http://schemas.openxmlformats.org/officeDocument/2006/relationships/image" Target="../media/image14.emf"/><Relationship Id="rId6" Type="http://schemas.openxmlformats.org/officeDocument/2006/relationships/oleObject" Target="../embeddings/oleObject14.bin"/><Relationship Id="rId5" Type="http://schemas.openxmlformats.org/officeDocument/2006/relationships/image" Target="../media/image13.emf"/><Relationship Id="rId4" Type="http://schemas.openxmlformats.org/officeDocument/2006/relationships/oleObject" Target="../embeddings/oleObject13.bin"/><Relationship Id="rId3" Type="http://schemas.openxmlformats.org/officeDocument/2006/relationships/image" Target="../media/image12.emf"/><Relationship Id="rId2" Type="http://schemas.openxmlformats.org/officeDocument/2006/relationships/oleObject" Target="../embeddings/oleObject12.bin"/><Relationship Id="rId1" Type="http://schemas.openxmlformats.org/officeDocument/2006/relationships/image" Target="../media/image1.emf"/></Relationships>
</file>

<file path=ppt/slides/_rels/slide9.xml.rels><?xml version="1.0" encoding="UTF-8" standalone="yes"?>
<Relationships xmlns="http://schemas.openxmlformats.org/package/2006/relationships"><Relationship Id="rId9" Type="http://schemas.openxmlformats.org/officeDocument/2006/relationships/image" Target="../media/image18.emf"/><Relationship Id="rId8" Type="http://schemas.openxmlformats.org/officeDocument/2006/relationships/oleObject" Target="../embeddings/oleObject18.bin"/><Relationship Id="rId7" Type="http://schemas.openxmlformats.org/officeDocument/2006/relationships/image" Target="../media/image17.emf"/><Relationship Id="rId6" Type="http://schemas.openxmlformats.org/officeDocument/2006/relationships/oleObject" Target="../embeddings/oleObject17.bin"/><Relationship Id="rId5" Type="http://schemas.openxmlformats.org/officeDocument/2006/relationships/image" Target="../media/image16.emf"/><Relationship Id="rId4" Type="http://schemas.openxmlformats.org/officeDocument/2006/relationships/oleObject" Target="../embeddings/oleObject16.bin"/><Relationship Id="rId3" Type="http://schemas.openxmlformats.org/officeDocument/2006/relationships/image" Target="../media/image15.emf"/><Relationship Id="rId2" Type="http://schemas.openxmlformats.org/officeDocument/2006/relationships/oleObject" Target="../embeddings/oleObject15.bin"/><Relationship Id="rId19" Type="http://schemas.openxmlformats.org/officeDocument/2006/relationships/vmlDrawing" Target="../drawings/vmlDrawing5.vml"/><Relationship Id="rId18" Type="http://schemas.openxmlformats.org/officeDocument/2006/relationships/slideLayout" Target="../slideLayouts/slideLayout1.xml"/><Relationship Id="rId17" Type="http://schemas.openxmlformats.org/officeDocument/2006/relationships/image" Target="../media/image22.emf"/><Relationship Id="rId16" Type="http://schemas.openxmlformats.org/officeDocument/2006/relationships/oleObject" Target="../embeddings/oleObject22.bin"/><Relationship Id="rId15" Type="http://schemas.openxmlformats.org/officeDocument/2006/relationships/image" Target="../media/image21.emf"/><Relationship Id="rId14" Type="http://schemas.openxmlformats.org/officeDocument/2006/relationships/oleObject" Target="../embeddings/oleObject21.bin"/><Relationship Id="rId13" Type="http://schemas.openxmlformats.org/officeDocument/2006/relationships/image" Target="../media/image20.emf"/><Relationship Id="rId12" Type="http://schemas.openxmlformats.org/officeDocument/2006/relationships/oleObject" Target="../embeddings/oleObject20.bin"/><Relationship Id="rId11" Type="http://schemas.openxmlformats.org/officeDocument/2006/relationships/image" Target="../media/image19.emf"/><Relationship Id="rId10" Type="http://schemas.openxmlformats.org/officeDocument/2006/relationships/oleObject" Target="../embeddings/oleObject19.bin"/><Relationship Id="rId1" Type="http://schemas.openxmlformats.org/officeDocument/2006/relationships/image" Target="../media/image1.emf"/></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11.xml.rels><?xml version="1.0" encoding="UTF-8" standalone="yes"?>
<Relationships xmlns="http://schemas.openxmlformats.org/package/2006/relationships"><Relationship Id="rId7" Type="http://schemas.openxmlformats.org/officeDocument/2006/relationships/vmlDrawing" Target="../drawings/vmlDrawing6.vml"/><Relationship Id="rId6" Type="http://schemas.openxmlformats.org/officeDocument/2006/relationships/slideLayout" Target="../slideLayouts/slideLayout1.xml"/><Relationship Id="rId5" Type="http://schemas.openxmlformats.org/officeDocument/2006/relationships/image" Target="../media/image24.emf"/><Relationship Id="rId4" Type="http://schemas.openxmlformats.org/officeDocument/2006/relationships/oleObject" Target="../embeddings/oleObject24.bin"/><Relationship Id="rId3" Type="http://schemas.openxmlformats.org/officeDocument/2006/relationships/image" Target="../media/image23.emf"/><Relationship Id="rId2" Type="http://schemas.openxmlformats.org/officeDocument/2006/relationships/oleObject" Target="../embeddings/oleObject23.bin"/><Relationship Id="rId1" Type="http://schemas.openxmlformats.org/officeDocument/2006/relationships/image" Target="../media/image1.emf"/></Relationships>
</file>

<file path=ppt/slides/_rels/slide12.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slideLayout" Target="../slideLayouts/slideLayout1.xml"/><Relationship Id="rId3" Type="http://schemas.openxmlformats.org/officeDocument/2006/relationships/image" Target="../media/image25.emf"/><Relationship Id="rId2" Type="http://schemas.openxmlformats.org/officeDocument/2006/relationships/oleObject" Target="../embeddings/oleObject25.bin"/><Relationship Id="rId1" Type="http://schemas.openxmlformats.org/officeDocument/2006/relationships/image" Target="../media/image1.em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15.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oleObject" Target="../embeddings/oleObject27.bin"/><Relationship Id="rId3" Type="http://schemas.openxmlformats.org/officeDocument/2006/relationships/image" Target="../media/image26.png"/><Relationship Id="rId2" Type="http://schemas.openxmlformats.org/officeDocument/2006/relationships/oleObject" Target="../embeddings/oleObject26.bin"/><Relationship Id="rId1" Type="http://schemas.openxmlformats.org/officeDocument/2006/relationships/image" Target="../media/image1.emf"/></Relationships>
</file>

<file path=ppt/slides/_rels/slide16.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1.xml"/><Relationship Id="rId7" Type="http://schemas.openxmlformats.org/officeDocument/2006/relationships/image" Target="../media/image30.emf"/><Relationship Id="rId6" Type="http://schemas.openxmlformats.org/officeDocument/2006/relationships/oleObject" Target="../embeddings/oleObject30.bin"/><Relationship Id="rId5" Type="http://schemas.openxmlformats.org/officeDocument/2006/relationships/image" Target="../media/image29.emf"/><Relationship Id="rId4" Type="http://schemas.openxmlformats.org/officeDocument/2006/relationships/oleObject" Target="../embeddings/oleObject29.bin"/><Relationship Id="rId3" Type="http://schemas.openxmlformats.org/officeDocument/2006/relationships/image" Target="../media/image28.emf"/><Relationship Id="rId2" Type="http://schemas.openxmlformats.org/officeDocument/2006/relationships/oleObject" Target="../embeddings/oleObject28.bin"/><Relationship Id="rId1" Type="http://schemas.openxmlformats.org/officeDocument/2006/relationships/image" Target="../media/image1.emf"/></Relationships>
</file>

<file path=ppt/slides/_rels/slide17.xml.rels><?xml version="1.0" encoding="UTF-8" standalone="yes"?>
<Relationships xmlns="http://schemas.openxmlformats.org/package/2006/relationships"><Relationship Id="rId9" Type="http://schemas.openxmlformats.org/officeDocument/2006/relationships/image" Target="../media/image34.wmf"/><Relationship Id="rId8" Type="http://schemas.openxmlformats.org/officeDocument/2006/relationships/oleObject" Target="../embeddings/oleObject34.bin"/><Relationship Id="rId7" Type="http://schemas.openxmlformats.org/officeDocument/2006/relationships/image" Target="../media/image33.emf"/><Relationship Id="rId6" Type="http://schemas.openxmlformats.org/officeDocument/2006/relationships/oleObject" Target="../embeddings/oleObject33.bin"/><Relationship Id="rId5" Type="http://schemas.openxmlformats.org/officeDocument/2006/relationships/image" Target="../media/image32.emf"/><Relationship Id="rId4" Type="http://schemas.openxmlformats.org/officeDocument/2006/relationships/oleObject" Target="../embeddings/oleObject32.bin"/><Relationship Id="rId3" Type="http://schemas.openxmlformats.org/officeDocument/2006/relationships/image" Target="../media/image31.emf"/><Relationship Id="rId2" Type="http://schemas.openxmlformats.org/officeDocument/2006/relationships/oleObject" Target="../embeddings/oleObject31.bin"/><Relationship Id="rId13" Type="http://schemas.openxmlformats.org/officeDocument/2006/relationships/vmlDrawing" Target="../drawings/vmlDrawing10.vml"/><Relationship Id="rId12" Type="http://schemas.openxmlformats.org/officeDocument/2006/relationships/slideLayout" Target="../slideLayouts/slideLayout1.xml"/><Relationship Id="rId11" Type="http://schemas.openxmlformats.org/officeDocument/2006/relationships/image" Target="../media/image35.wmf"/><Relationship Id="rId10" Type="http://schemas.openxmlformats.org/officeDocument/2006/relationships/oleObject" Target="../embeddings/oleObject35.bin"/><Relationship Id="rId1" Type="http://schemas.openxmlformats.org/officeDocument/2006/relationships/image" Target="../media/image1.emf"/></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emf"/><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1.emf"/></Relationships>
</file>

<file path=ppt/slides/_rels/slide25.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1.xml"/><Relationship Id="rId7" Type="http://schemas.openxmlformats.org/officeDocument/2006/relationships/image" Target="../media/image41.wmf"/><Relationship Id="rId6" Type="http://schemas.openxmlformats.org/officeDocument/2006/relationships/oleObject" Target="../embeddings/oleObject38.bin"/><Relationship Id="rId5" Type="http://schemas.openxmlformats.org/officeDocument/2006/relationships/image" Target="../media/image40.wmf"/><Relationship Id="rId4" Type="http://schemas.openxmlformats.org/officeDocument/2006/relationships/oleObject" Target="../embeddings/oleObject37.bin"/><Relationship Id="rId3" Type="http://schemas.openxmlformats.org/officeDocument/2006/relationships/image" Target="../media/image39.wmf"/><Relationship Id="rId2" Type="http://schemas.openxmlformats.org/officeDocument/2006/relationships/oleObject" Target="../embeddings/oleObject36.bin"/><Relationship Id="rId1" Type="http://schemas.openxmlformats.org/officeDocument/2006/relationships/image" Target="../media/image1.emf"/></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emf"/><Relationship Id="rId1"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emf"/><Relationship Id="rId1"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4.jpeg"/><Relationship Id="rId1" Type="http://schemas.openxmlformats.org/officeDocument/2006/relationships/image" Target="../media/image1.emf"/></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1.xml"/><Relationship Id="rId3" Type="http://schemas.openxmlformats.org/officeDocument/2006/relationships/image" Target="../media/image1.emf"/><Relationship Id="rId2" Type="http://schemas.openxmlformats.org/officeDocument/2006/relationships/image" Target="../media/image45.png"/><Relationship Id="rId1" Type="http://schemas.openxmlformats.org/officeDocument/2006/relationships/oleObject" Target="../embeddings/oleObject39.bin"/></Relationships>
</file>

<file path=ppt/slides/_rels/slide30.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1.xml"/><Relationship Id="rId3" Type="http://schemas.openxmlformats.org/officeDocument/2006/relationships/image" Target="../media/image1.emf"/><Relationship Id="rId2" Type="http://schemas.openxmlformats.org/officeDocument/2006/relationships/image" Target="../media/image45.png"/><Relationship Id="rId1" Type="http://schemas.openxmlformats.org/officeDocument/2006/relationships/oleObject" Target="../embeddings/oleObject40.bin"/></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32.xml.rels><?xml version="1.0" encoding="UTF-8" standalone="yes"?>
<Relationships xmlns="http://schemas.openxmlformats.org/package/2006/relationships"><Relationship Id="rId5" Type="http://schemas.openxmlformats.org/officeDocument/2006/relationships/vmlDrawing" Target="../drawings/vmlDrawing14.vml"/><Relationship Id="rId4" Type="http://schemas.openxmlformats.org/officeDocument/2006/relationships/slideLayout" Target="../slideLayouts/slideLayout1.xml"/><Relationship Id="rId3" Type="http://schemas.openxmlformats.org/officeDocument/2006/relationships/image" Target="../media/image46.emf"/><Relationship Id="rId2" Type="http://schemas.openxmlformats.org/officeDocument/2006/relationships/oleObject" Target="../embeddings/oleObject41.bin"/><Relationship Id="rId1" Type="http://schemas.openxmlformats.org/officeDocument/2006/relationships/image" Target="../media/image1.e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35.xml.rels><?xml version="1.0" encoding="UTF-8" standalone="yes"?>
<Relationships xmlns="http://schemas.openxmlformats.org/package/2006/relationships"><Relationship Id="rId9" Type="http://schemas.openxmlformats.org/officeDocument/2006/relationships/image" Target="../media/image50.emf"/><Relationship Id="rId8" Type="http://schemas.openxmlformats.org/officeDocument/2006/relationships/oleObject" Target="../embeddings/oleObject45.bin"/><Relationship Id="rId7" Type="http://schemas.openxmlformats.org/officeDocument/2006/relationships/image" Target="../media/image49.emf"/><Relationship Id="rId6" Type="http://schemas.openxmlformats.org/officeDocument/2006/relationships/oleObject" Target="../embeddings/oleObject44.bin"/><Relationship Id="rId5" Type="http://schemas.openxmlformats.org/officeDocument/2006/relationships/image" Target="../media/image48.emf"/><Relationship Id="rId4" Type="http://schemas.openxmlformats.org/officeDocument/2006/relationships/oleObject" Target="../embeddings/oleObject43.bin"/><Relationship Id="rId3" Type="http://schemas.openxmlformats.org/officeDocument/2006/relationships/image" Target="../media/image47.emf"/><Relationship Id="rId2" Type="http://schemas.openxmlformats.org/officeDocument/2006/relationships/oleObject" Target="../embeddings/oleObject42.bin"/><Relationship Id="rId13" Type="http://schemas.openxmlformats.org/officeDocument/2006/relationships/vmlDrawing" Target="../drawings/vmlDrawing15.vml"/><Relationship Id="rId12" Type="http://schemas.openxmlformats.org/officeDocument/2006/relationships/slideLayout" Target="../slideLayouts/slideLayout1.xml"/><Relationship Id="rId11" Type="http://schemas.openxmlformats.org/officeDocument/2006/relationships/image" Target="../media/image51.emf"/><Relationship Id="rId10" Type="http://schemas.openxmlformats.org/officeDocument/2006/relationships/oleObject" Target="../embeddings/oleObject46.bin"/><Relationship Id="rId1" Type="http://schemas.openxmlformats.org/officeDocument/2006/relationships/image" Target="../media/image1.emf"/></Relationships>
</file>

<file path=ppt/slides/_rels/slide36.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1.xml"/><Relationship Id="rId3" Type="http://schemas.openxmlformats.org/officeDocument/2006/relationships/image" Target="../media/image1.emf"/><Relationship Id="rId2" Type="http://schemas.openxmlformats.org/officeDocument/2006/relationships/image" Target="../media/image52.png"/><Relationship Id="rId1" Type="http://schemas.openxmlformats.org/officeDocument/2006/relationships/oleObject" Target="../embeddings/oleObject47.bin"/></Relationships>
</file>

<file path=ppt/slides/_rels/slide37.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1.xml"/><Relationship Id="rId3" Type="http://schemas.openxmlformats.org/officeDocument/2006/relationships/image" Target="../media/image53.png"/><Relationship Id="rId2" Type="http://schemas.openxmlformats.org/officeDocument/2006/relationships/oleObject" Target="../embeddings/oleObject48.bin"/><Relationship Id="rId1" Type="http://schemas.openxmlformats.org/officeDocument/2006/relationships/image" Target="../media/image1.emf"/></Relationships>
</file>

<file path=ppt/slides/_rels/slide38.xml.rels><?xml version="1.0" encoding="UTF-8" standalone="yes"?>
<Relationships xmlns="http://schemas.openxmlformats.org/package/2006/relationships"><Relationship Id="rId5" Type="http://schemas.openxmlformats.org/officeDocument/2006/relationships/vmlDrawing" Target="../drawings/vmlDrawing18.vml"/><Relationship Id="rId4" Type="http://schemas.openxmlformats.org/officeDocument/2006/relationships/slideLayout" Target="../slideLayouts/slideLayout1.xml"/><Relationship Id="rId3" Type="http://schemas.openxmlformats.org/officeDocument/2006/relationships/image" Target="../media/image54.wmf"/><Relationship Id="rId2" Type="http://schemas.openxmlformats.org/officeDocument/2006/relationships/oleObject" Target="../embeddings/oleObject49.bin"/><Relationship Id="rId1" Type="http://schemas.openxmlformats.org/officeDocument/2006/relationships/image" Target="../media/image1.em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42.xml.rels><?xml version="1.0" encoding="UTF-8" standalone="yes"?>
<Relationships xmlns="http://schemas.openxmlformats.org/package/2006/relationships"><Relationship Id="rId7" Type="http://schemas.openxmlformats.org/officeDocument/2006/relationships/vmlDrawing" Target="../drawings/vmlDrawing19.vml"/><Relationship Id="rId6" Type="http://schemas.openxmlformats.org/officeDocument/2006/relationships/slideLayout" Target="../slideLayouts/slideLayout1.xml"/><Relationship Id="rId5" Type="http://schemas.openxmlformats.org/officeDocument/2006/relationships/image" Target="../media/image56.emf"/><Relationship Id="rId4" Type="http://schemas.openxmlformats.org/officeDocument/2006/relationships/oleObject" Target="../embeddings/oleObject51.bin"/><Relationship Id="rId3" Type="http://schemas.openxmlformats.org/officeDocument/2006/relationships/image" Target="../media/image55.emf"/><Relationship Id="rId2" Type="http://schemas.openxmlformats.org/officeDocument/2006/relationships/oleObject" Target="../embeddings/oleObject50.bin"/><Relationship Id="rId1" Type="http://schemas.openxmlformats.org/officeDocument/2006/relationships/image" Target="../media/image1.emf"/></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emf"/><Relationship Id="rId1" Type="http://schemas.openxmlformats.org/officeDocument/2006/relationships/image" Target="../media/image57.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45.xml.rels><?xml version="1.0" encoding="UTF-8" standalone="yes"?>
<Relationships xmlns="http://schemas.openxmlformats.org/package/2006/relationships"><Relationship Id="rId6" Type="http://schemas.openxmlformats.org/officeDocument/2006/relationships/vmlDrawing" Target="../drawings/vmlDrawing20.vml"/><Relationship Id="rId5" Type="http://schemas.openxmlformats.org/officeDocument/2006/relationships/slideLayout" Target="../slideLayouts/slideLayout1.xml"/><Relationship Id="rId4" Type="http://schemas.openxmlformats.org/officeDocument/2006/relationships/image" Target="../media/image59.emf"/><Relationship Id="rId3" Type="http://schemas.openxmlformats.org/officeDocument/2006/relationships/image" Target="../media/image58.wmf"/><Relationship Id="rId2" Type="http://schemas.openxmlformats.org/officeDocument/2006/relationships/oleObject" Target="../embeddings/oleObject52.bin"/><Relationship Id="rId1" Type="http://schemas.openxmlformats.org/officeDocument/2006/relationships/image" Target="../media/image1.emf"/></Relationships>
</file>

<file path=ppt/slides/_rels/slide46.xml.rels><?xml version="1.0" encoding="UTF-8" standalone="yes"?>
<Relationships xmlns="http://schemas.openxmlformats.org/package/2006/relationships"><Relationship Id="rId9" Type="http://schemas.openxmlformats.org/officeDocument/2006/relationships/image" Target="../media/image63.emf"/><Relationship Id="rId8" Type="http://schemas.openxmlformats.org/officeDocument/2006/relationships/oleObject" Target="../embeddings/oleObject56.bin"/><Relationship Id="rId7" Type="http://schemas.openxmlformats.org/officeDocument/2006/relationships/image" Target="../media/image62.emf"/><Relationship Id="rId6" Type="http://schemas.openxmlformats.org/officeDocument/2006/relationships/oleObject" Target="../embeddings/oleObject55.bin"/><Relationship Id="rId5" Type="http://schemas.openxmlformats.org/officeDocument/2006/relationships/image" Target="../media/image61.wmf"/><Relationship Id="rId4" Type="http://schemas.openxmlformats.org/officeDocument/2006/relationships/oleObject" Target="../embeddings/oleObject54.bin"/><Relationship Id="rId3" Type="http://schemas.openxmlformats.org/officeDocument/2006/relationships/image" Target="../media/image60.emf"/><Relationship Id="rId2" Type="http://schemas.openxmlformats.org/officeDocument/2006/relationships/oleObject" Target="../embeddings/oleObject53.bin"/><Relationship Id="rId13" Type="http://schemas.openxmlformats.org/officeDocument/2006/relationships/vmlDrawing" Target="../drawings/vmlDrawing21.vml"/><Relationship Id="rId12" Type="http://schemas.openxmlformats.org/officeDocument/2006/relationships/slideLayout" Target="../slideLayouts/slideLayout1.xml"/><Relationship Id="rId11" Type="http://schemas.openxmlformats.org/officeDocument/2006/relationships/image" Target="../media/image64.wmf"/><Relationship Id="rId10" Type="http://schemas.openxmlformats.org/officeDocument/2006/relationships/oleObject" Target="../embeddings/oleObject57.bin"/><Relationship Id="rId1" Type="http://schemas.openxmlformats.org/officeDocument/2006/relationships/image" Target="../media/image1.emf"/></Relationships>
</file>

<file path=ppt/slides/_rels/slide47.xml.rels><?xml version="1.0" encoding="UTF-8" standalone="yes"?>
<Relationships xmlns="http://schemas.openxmlformats.org/package/2006/relationships"><Relationship Id="rId9" Type="http://schemas.openxmlformats.org/officeDocument/2006/relationships/image" Target="../media/image68.emf"/><Relationship Id="rId8" Type="http://schemas.openxmlformats.org/officeDocument/2006/relationships/oleObject" Target="../embeddings/oleObject61.bin"/><Relationship Id="rId7" Type="http://schemas.openxmlformats.org/officeDocument/2006/relationships/image" Target="../media/image67.wmf"/><Relationship Id="rId6" Type="http://schemas.openxmlformats.org/officeDocument/2006/relationships/oleObject" Target="../embeddings/oleObject60.bin"/><Relationship Id="rId5" Type="http://schemas.openxmlformats.org/officeDocument/2006/relationships/image" Target="../media/image66.wmf"/><Relationship Id="rId4" Type="http://schemas.openxmlformats.org/officeDocument/2006/relationships/oleObject" Target="../embeddings/oleObject59.bin"/><Relationship Id="rId3" Type="http://schemas.openxmlformats.org/officeDocument/2006/relationships/image" Target="../media/image65.wmf"/><Relationship Id="rId2" Type="http://schemas.openxmlformats.org/officeDocument/2006/relationships/oleObject" Target="../embeddings/oleObject58.bin"/><Relationship Id="rId13" Type="http://schemas.openxmlformats.org/officeDocument/2006/relationships/vmlDrawing" Target="../drawings/vmlDrawing22.vml"/><Relationship Id="rId12" Type="http://schemas.openxmlformats.org/officeDocument/2006/relationships/slideLayout" Target="../slideLayouts/slideLayout1.xml"/><Relationship Id="rId11" Type="http://schemas.openxmlformats.org/officeDocument/2006/relationships/image" Target="../media/image69.wmf"/><Relationship Id="rId10" Type="http://schemas.openxmlformats.org/officeDocument/2006/relationships/oleObject" Target="../embeddings/oleObject62.bin"/><Relationship Id="rId1" Type="http://schemas.openxmlformats.org/officeDocument/2006/relationships/image" Target="../media/image1.emf"/></Relationships>
</file>

<file path=ppt/slides/_rels/slide48.xml.rels><?xml version="1.0" encoding="UTF-8" standalone="yes"?>
<Relationships xmlns="http://schemas.openxmlformats.org/package/2006/relationships"><Relationship Id="rId9" Type="http://schemas.openxmlformats.org/officeDocument/2006/relationships/image" Target="../media/image73.wmf"/><Relationship Id="rId8" Type="http://schemas.openxmlformats.org/officeDocument/2006/relationships/oleObject" Target="../embeddings/oleObject66.bin"/><Relationship Id="rId7" Type="http://schemas.openxmlformats.org/officeDocument/2006/relationships/image" Target="../media/image72.wmf"/><Relationship Id="rId6" Type="http://schemas.openxmlformats.org/officeDocument/2006/relationships/oleObject" Target="../embeddings/oleObject65.bin"/><Relationship Id="rId5" Type="http://schemas.openxmlformats.org/officeDocument/2006/relationships/image" Target="../media/image71.wmf"/><Relationship Id="rId4" Type="http://schemas.openxmlformats.org/officeDocument/2006/relationships/oleObject" Target="../embeddings/oleObject64.bin"/><Relationship Id="rId3" Type="http://schemas.openxmlformats.org/officeDocument/2006/relationships/image" Target="../media/image70.wmf"/><Relationship Id="rId2" Type="http://schemas.openxmlformats.org/officeDocument/2006/relationships/oleObject" Target="../embeddings/oleObject63.bin"/><Relationship Id="rId12" Type="http://schemas.openxmlformats.org/officeDocument/2006/relationships/vmlDrawing" Target="../drawings/vmlDrawing23.vml"/><Relationship Id="rId11" Type="http://schemas.openxmlformats.org/officeDocument/2006/relationships/slideLayout" Target="../slideLayouts/slideLayout1.xml"/><Relationship Id="rId10" Type="http://schemas.openxmlformats.org/officeDocument/2006/relationships/image" Target="../media/image74.emf"/><Relationship Id="rId1" Type="http://schemas.openxmlformats.org/officeDocument/2006/relationships/image" Target="../media/image1.emf"/></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1.xml"/><Relationship Id="rId4" Type="http://schemas.openxmlformats.org/officeDocument/2006/relationships/image" Target="../media/image76.emf"/><Relationship Id="rId3" Type="http://schemas.openxmlformats.org/officeDocument/2006/relationships/oleObject" Target="../embeddings/oleObject67.bin"/><Relationship Id="rId2" Type="http://schemas.openxmlformats.org/officeDocument/2006/relationships/image" Target="../media/image75.png"/><Relationship Id="rId1" Type="http://schemas.openxmlformats.org/officeDocument/2006/relationships/image" Target="../media/image1.emf"/></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440057" y="5851515"/>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p:cNvSpPr>
            <a:spLocks noGrp="1" noRot="1" noChangeArrowheads="1"/>
          </p:cNvSpPr>
          <p:nvPr/>
        </p:nvSpPr>
        <p:spPr bwMode="auto">
          <a:xfrm>
            <a:off x="2112966" y="2305050"/>
            <a:ext cx="7704137"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107763" dir="18900000" algn="ctr" rotWithShape="0">
                    <a:schemeClr val="accent2">
                      <a:alpha val="50000"/>
                    </a:schemeClr>
                  </a:outerShdw>
                </a:effectLst>
              </a14:hiddenEffects>
            </a:ext>
          </a:extLst>
        </p:spPr>
        <p:txBody>
          <a:bodyPr anchor="ctr"/>
          <a:lstStyle>
            <a:lvl1pPr>
              <a:spcBef>
                <a:spcPct val="20000"/>
              </a:spcBef>
              <a:buClr>
                <a:schemeClr val="folHlink"/>
              </a:buClr>
              <a:buFont typeface="Wingdings" panose="05000000000000000000" pitchFamily="2" charset="2"/>
              <a:buChar char="v"/>
              <a:defRPr sz="3200">
                <a:solidFill>
                  <a:schemeClr val="tx1"/>
                </a:solidFill>
                <a:latin typeface="Arial" panose="020B0604020202020204" pitchFamily="34" charset="0"/>
              </a:defRPr>
            </a:lvl1pPr>
            <a:lvl2pPr marL="742950" indent="-285750">
              <a:spcBef>
                <a:spcPct val="20000"/>
              </a:spcBef>
              <a:buClr>
                <a:schemeClr val="folHlink"/>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Font typeface="Wingdings" panose="05000000000000000000" pitchFamily="2" charset="2"/>
              <a:buChar char="•"/>
              <a:defRPr sz="2400">
                <a:solidFill>
                  <a:schemeClr val="tx1"/>
                </a:solidFill>
                <a:latin typeface="Arial" panose="020B0604020202020204" pitchFamily="34" charset="0"/>
              </a:defRPr>
            </a:lvl3pPr>
            <a:lvl4pPr marL="1600200" indent="-228600">
              <a:spcBef>
                <a:spcPct val="20000"/>
              </a:spcBef>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chemeClr val="tx1"/>
                </a:solidFill>
                <a:latin typeface="Arial" panose="020B0604020202020204" pitchFamily="34" charset="0"/>
              </a:defRPr>
            </a:lvl9pPr>
          </a:lstStyle>
          <a:p>
            <a:pPr algn="ctr">
              <a:spcBef>
                <a:spcPct val="0"/>
              </a:spcBef>
              <a:buClrTx/>
              <a:buFont typeface="Arial" panose="020B0604020202020204" pitchFamily="34" charset="0"/>
              <a:buNone/>
            </a:pPr>
            <a:r>
              <a:rPr lang="zh-CN" altLang="en-US" sz="4400" dirty="0">
                <a:solidFill>
                  <a:srgbClr val="CC3300"/>
                </a:solidFill>
                <a:latin typeface="黑体" panose="02010609060101010101" pitchFamily="49" charset="-122"/>
                <a:ea typeface="黑体" panose="02010609060101010101" pitchFamily="49" charset="-122"/>
              </a:rPr>
              <a:t>第</a:t>
            </a:r>
            <a:r>
              <a:rPr lang="en-US" altLang="zh-CN" sz="4400" dirty="0">
                <a:solidFill>
                  <a:srgbClr val="CC3300"/>
                </a:solidFill>
                <a:latin typeface="黑体" panose="02010609060101010101" pitchFamily="49" charset="-122"/>
                <a:ea typeface="黑体" panose="02010609060101010101" pitchFamily="49" charset="-122"/>
              </a:rPr>
              <a:t>7</a:t>
            </a:r>
            <a:r>
              <a:rPr lang="zh-CN" altLang="en-US" sz="4400" dirty="0">
                <a:solidFill>
                  <a:srgbClr val="CC3300"/>
                </a:solidFill>
                <a:latin typeface="黑体" panose="02010609060101010101" pitchFamily="49" charset="-122"/>
                <a:ea typeface="黑体" panose="02010609060101010101" pitchFamily="49" charset="-122"/>
              </a:rPr>
              <a:t>章  水下噪声</a:t>
            </a:r>
            <a:endParaRPr lang="zh-CN" altLang="en-US" sz="4400" i="1" dirty="0">
              <a:solidFill>
                <a:srgbClr val="CC3300"/>
              </a:solidFill>
              <a:latin typeface="黑体" panose="02010609060101010101" pitchFamily="49" charset="-122"/>
              <a:ea typeface="黑体" panose="02010609060101010101" pitchFamily="49" charset="-122"/>
            </a:endParaRPr>
          </a:p>
        </p:txBody>
      </p:sp>
      <p:sp>
        <p:nvSpPr>
          <p:cNvPr id="8" name="文本框 7"/>
          <p:cNvSpPr txBox="1"/>
          <p:nvPr/>
        </p:nvSpPr>
        <p:spPr>
          <a:xfrm>
            <a:off x="3314304" y="3717838"/>
            <a:ext cx="5563393" cy="830997"/>
          </a:xfrm>
          <a:prstGeom prst="rect">
            <a:avLst/>
          </a:prstGeom>
          <a:noFill/>
        </p:spPr>
        <p:txBody>
          <a:bodyPr wrap="square" rtlCol="0">
            <a:spAutoFit/>
          </a:bodyPr>
          <a:lstStyle/>
          <a:p>
            <a:pPr algn="ctr"/>
            <a:r>
              <a:rPr lang="zh-CN" altLang="en-US" sz="2400" dirty="0"/>
              <a:t>朱江</a:t>
            </a:r>
            <a:endParaRPr lang="en-US" altLang="zh-CN" sz="2400" dirty="0"/>
          </a:p>
          <a:p>
            <a:pPr algn="ctr"/>
            <a:r>
              <a:rPr lang="zh-CN" altLang="en-US" sz="2400" dirty="0"/>
              <a:t>邮箱：</a:t>
            </a:r>
            <a:r>
              <a:rPr lang="en-US" altLang="zh-CN" sz="2400" dirty="0"/>
              <a:t>jiangzhu16@zju.edu.cn</a:t>
            </a:r>
            <a:endParaRPr lang="en-US" altLang="zh-CN" sz="2400" dirty="0"/>
          </a:p>
        </p:txBody>
      </p:sp>
      <p:sp>
        <p:nvSpPr>
          <p:cNvPr id="2" name="文本框 1"/>
          <p:cNvSpPr txBox="1"/>
          <p:nvPr/>
        </p:nvSpPr>
        <p:spPr>
          <a:xfrm>
            <a:off x="7221995" y="6404196"/>
            <a:ext cx="3529896" cy="646331"/>
          </a:xfrm>
          <a:prstGeom prst="rect">
            <a:avLst/>
          </a:prstGeom>
          <a:noFill/>
        </p:spPr>
        <p:txBody>
          <a:bodyPr wrap="square" rtlCol="0">
            <a:spAutoFit/>
          </a:bodyPr>
          <a:lstStyle/>
          <a:p>
            <a:r>
              <a:rPr lang="en-US" altLang="zh-CN" dirty="0"/>
              <a:t>*</a:t>
            </a:r>
            <a:r>
              <a:rPr lang="zh-CN" altLang="en-US"/>
              <a:t>课件由张汉生协助</a:t>
            </a:r>
            <a:r>
              <a:rPr lang="zh-CN" altLang="en-US" dirty="0"/>
              <a:t>完成</a:t>
            </a:r>
            <a:endParaRPr lang="en-US" altLang="zh-CN"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07641" y="899714"/>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6.0 </a:t>
            </a:r>
            <a:r>
              <a:rPr lang="zh-CN" altLang="en-US" sz="2400" dirty="0">
                <a:solidFill>
                  <a:srgbClr val="FF0000"/>
                </a:solidFill>
                <a:latin typeface="微软雅黑" panose="020B0503020204020204" pitchFamily="34" charset="-122"/>
                <a:ea typeface="微软雅黑" panose="020B0503020204020204" pitchFamily="34" charset="-122"/>
              </a:rPr>
              <a:t>噪声概述</a:t>
            </a:r>
            <a:endParaRPr lang="en-US" altLang="zh-CN" sz="2400" dirty="0">
              <a:solidFill>
                <a:srgbClr val="FF0000"/>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6.1 </a:t>
            </a:r>
            <a:r>
              <a:rPr lang="zh-CN" altLang="en-US" sz="2400" dirty="0">
                <a:solidFill>
                  <a:prstClr val="black"/>
                </a:solidFill>
                <a:latin typeface="微软雅黑" panose="020B0503020204020204" pitchFamily="34" charset="-122"/>
                <a:ea typeface="微软雅黑" panose="020B0503020204020204" pitchFamily="34" charset="-122"/>
              </a:rPr>
              <a:t>噪声的基本概念</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6.2 </a:t>
            </a:r>
            <a:r>
              <a:rPr lang="zh-CN" altLang="en-US" sz="2400" dirty="0">
                <a:solidFill>
                  <a:prstClr val="black"/>
                </a:solidFill>
                <a:latin typeface="微软雅黑" panose="020B0503020204020204" pitchFamily="34" charset="-122"/>
                <a:ea typeface="微软雅黑" panose="020B0503020204020204" pitchFamily="34" charset="-122"/>
              </a:rPr>
              <a:t>声学中噪声的描述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6.3 </a:t>
            </a:r>
            <a:r>
              <a:rPr lang="zh-CN" altLang="en-US" sz="2400" dirty="0">
                <a:solidFill>
                  <a:prstClr val="black"/>
                </a:solidFill>
                <a:latin typeface="微软雅黑" panose="020B0503020204020204" pitchFamily="34" charset="-122"/>
                <a:ea typeface="微软雅黑" panose="020B0503020204020204" pitchFamily="34" charset="-122"/>
              </a:rPr>
              <a:t>海洋环境噪声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6.4 </a:t>
            </a:r>
            <a:r>
              <a:rPr lang="zh-CN" altLang="en-US" sz="2400" dirty="0">
                <a:solidFill>
                  <a:prstClr val="black"/>
                </a:solidFill>
                <a:latin typeface="微软雅黑" panose="020B0503020204020204" pitchFamily="34" charset="-122"/>
                <a:ea typeface="微软雅黑" panose="020B0503020204020204" pitchFamily="34" charset="-122"/>
              </a:rPr>
              <a:t>舰船和鱼雷辐射噪声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6.5 </a:t>
            </a:r>
            <a:r>
              <a:rPr lang="zh-CN" altLang="en-US" sz="2400" dirty="0">
                <a:solidFill>
                  <a:prstClr val="black"/>
                </a:solidFill>
                <a:latin typeface="微软雅黑" panose="020B0503020204020204" pitchFamily="34" charset="-122"/>
                <a:ea typeface="微软雅黑" panose="020B0503020204020204" pitchFamily="34" charset="-122"/>
              </a:rPr>
              <a:t>舰船和鱼雷目标自噪声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6.6 LFM</a:t>
            </a:r>
            <a:r>
              <a:rPr lang="zh-CN" altLang="en-US" sz="2400" dirty="0">
                <a:solidFill>
                  <a:prstClr val="black"/>
                </a:solidFill>
                <a:latin typeface="微软雅黑" panose="020B0503020204020204" pitchFamily="34" charset="-122"/>
                <a:ea typeface="微软雅黑" panose="020B0503020204020204" pitchFamily="34" charset="-122"/>
              </a:rPr>
              <a:t>脉冲声呐目标检测</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5"/>
          <p:cNvSpPr txBox="1">
            <a:spLocks noChangeArrowheads="1"/>
          </p:cNvSpPr>
          <p:nvPr/>
        </p:nvSpPr>
        <p:spPr bwMode="auto">
          <a:xfrm>
            <a:off x="1421419" y="961272"/>
            <a:ext cx="8715375" cy="518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buFontTx/>
              <a:buNone/>
            </a:pPr>
            <a:r>
              <a:rPr lang="zh-CN" altLang="en-US" sz="2400" b="1" dirty="0">
                <a:solidFill>
                  <a:srgbClr val="0033CC"/>
                </a:solidFill>
                <a:ea typeface="黑体" panose="02010609060101010101" pitchFamily="49" charset="-122"/>
              </a:rPr>
              <a:t>噪声定义：</a:t>
            </a:r>
            <a:endParaRPr lang="zh-CN" altLang="en-US" sz="2400" b="1" dirty="0">
              <a:solidFill>
                <a:srgbClr val="0033CC"/>
              </a:solidFill>
              <a:ea typeface="黑体" panose="02010609060101010101" pitchFamily="49" charset="-122"/>
            </a:endParaRPr>
          </a:p>
          <a:p>
            <a:pPr eaLnBrk="1" hangingPunct="1">
              <a:lnSpc>
                <a:spcPct val="120000"/>
              </a:lnSpc>
              <a:buFontTx/>
              <a:buNone/>
            </a:pPr>
            <a:r>
              <a:rPr lang="zh-CN" altLang="en-US" sz="2400" b="1" dirty="0">
                <a:solidFill>
                  <a:srgbClr val="3399FF"/>
                </a:solidFill>
              </a:rPr>
              <a:t>         </a:t>
            </a:r>
            <a:r>
              <a:rPr lang="zh-CN" altLang="en-US" sz="2400" dirty="0"/>
              <a:t>指在特定条件下不需要的声音。</a:t>
            </a:r>
            <a:endParaRPr lang="zh-CN" altLang="en-US" sz="2400" dirty="0"/>
          </a:p>
          <a:p>
            <a:pPr eaLnBrk="1" hangingPunct="1">
              <a:lnSpc>
                <a:spcPct val="120000"/>
              </a:lnSpc>
              <a:buFontTx/>
              <a:buNone/>
            </a:pPr>
            <a:r>
              <a:rPr lang="zh-CN" altLang="en-US" sz="2400" b="1" dirty="0">
                <a:solidFill>
                  <a:srgbClr val="0033CC"/>
                </a:solidFill>
                <a:ea typeface="黑体" panose="02010609060101010101" pitchFamily="49" charset="-122"/>
                <a:sym typeface="Arial" panose="020B0604020202020204" pitchFamily="34" charset="0"/>
              </a:rPr>
              <a:t>水下噪声：（两种分类方式：从声呐方程角度或者从来源分类）</a:t>
            </a:r>
            <a:endParaRPr lang="zh-CN" altLang="en-US" sz="2400" b="1" dirty="0">
              <a:solidFill>
                <a:srgbClr val="0033CC"/>
              </a:solidFill>
              <a:ea typeface="黑体" panose="02010609060101010101" pitchFamily="49" charset="-122"/>
              <a:sym typeface="Arial" panose="020B0604020202020204" pitchFamily="34" charset="0"/>
            </a:endParaRPr>
          </a:p>
          <a:p>
            <a:pPr eaLnBrk="1" hangingPunct="1">
              <a:lnSpc>
                <a:spcPct val="120000"/>
              </a:lnSpc>
              <a:buFontTx/>
              <a:buNone/>
            </a:pPr>
            <a:r>
              <a:rPr lang="zh-CN" altLang="en-US" sz="2400" dirty="0"/>
              <a:t>（</a:t>
            </a:r>
            <a:r>
              <a:rPr lang="en-US" altLang="zh-CN" sz="2400" dirty="0"/>
              <a:t>1</a:t>
            </a:r>
            <a:r>
              <a:rPr lang="zh-CN" altLang="en-US" sz="2400" dirty="0"/>
              <a:t>）海洋环境噪声和目标（舰船、潜艇、鱼雷等）的自噪声</a:t>
            </a:r>
            <a:endParaRPr lang="zh-CN" altLang="en-US" sz="2400" dirty="0"/>
          </a:p>
          <a:p>
            <a:pPr eaLnBrk="1" hangingPunct="1">
              <a:lnSpc>
                <a:spcPct val="120000"/>
              </a:lnSpc>
              <a:buFontTx/>
              <a:buNone/>
            </a:pPr>
            <a:r>
              <a:rPr lang="zh-CN" altLang="en-US" sz="2400" dirty="0"/>
              <a:t>         声呐系统的主要干扰背景之一，限制装备性能。</a:t>
            </a:r>
            <a:endParaRPr lang="zh-CN" altLang="en-US" sz="2400" dirty="0"/>
          </a:p>
          <a:p>
            <a:pPr eaLnBrk="1" hangingPunct="1">
              <a:lnSpc>
                <a:spcPct val="120000"/>
              </a:lnSpc>
              <a:buFontTx/>
              <a:buNone/>
            </a:pPr>
            <a:r>
              <a:rPr lang="zh-CN" altLang="en-US" sz="2400" dirty="0"/>
              <a:t>（</a:t>
            </a:r>
            <a:r>
              <a:rPr lang="en-US" altLang="zh-CN" sz="2400" dirty="0"/>
              <a:t>2</a:t>
            </a:r>
            <a:r>
              <a:rPr lang="zh-CN" altLang="en-US" sz="2400" dirty="0"/>
              <a:t>）目标（舰船、潜艇、鱼雷等）辐射噪声</a:t>
            </a:r>
            <a:endParaRPr lang="zh-CN" altLang="en-US" sz="2400" dirty="0"/>
          </a:p>
          <a:p>
            <a:pPr eaLnBrk="1" hangingPunct="1">
              <a:lnSpc>
                <a:spcPct val="120000"/>
              </a:lnSpc>
              <a:buFontTx/>
              <a:buNone/>
            </a:pPr>
            <a:r>
              <a:rPr lang="zh-CN" altLang="en-US" sz="2400" dirty="0"/>
              <a:t>         被动声呐系统的声源，通过接收该噪声实现目标检测。</a:t>
            </a:r>
            <a:endParaRPr lang="zh-CN" altLang="en-US" sz="2400" dirty="0"/>
          </a:p>
          <a:p>
            <a:pPr eaLnBrk="1" hangingPunct="1">
              <a:lnSpc>
                <a:spcPct val="120000"/>
              </a:lnSpc>
              <a:buFontTx/>
              <a:buNone/>
            </a:pPr>
            <a:r>
              <a:rPr lang="zh-CN" altLang="en-US" sz="2400" b="1" dirty="0">
                <a:solidFill>
                  <a:srgbClr val="0033CC"/>
                </a:solidFill>
                <a:ea typeface="黑体" panose="02010609060101010101" pitchFamily="49" charset="-122"/>
                <a:sym typeface="Arial" panose="020B0604020202020204" pitchFamily="34" charset="0"/>
              </a:rPr>
              <a:t>水下噪声研究的意义：</a:t>
            </a:r>
            <a:endParaRPr lang="zh-CN" altLang="en-US" sz="2400" b="1" dirty="0">
              <a:solidFill>
                <a:srgbClr val="0033CC"/>
              </a:solidFill>
              <a:ea typeface="黑体" panose="02010609060101010101" pitchFamily="49" charset="-122"/>
              <a:sym typeface="Arial" panose="020B0604020202020204" pitchFamily="34" charset="0"/>
            </a:endParaRPr>
          </a:p>
          <a:p>
            <a:pPr eaLnBrk="1" hangingPunct="1">
              <a:lnSpc>
                <a:spcPct val="120000"/>
              </a:lnSpc>
              <a:buFontTx/>
              <a:buNone/>
            </a:pPr>
            <a:r>
              <a:rPr lang="zh-CN" altLang="en-US" sz="2400" dirty="0"/>
              <a:t>（</a:t>
            </a:r>
            <a:r>
              <a:rPr lang="en-US" altLang="zh-CN" sz="2400" dirty="0"/>
              <a:t>1</a:t>
            </a:r>
            <a:r>
              <a:rPr lang="zh-CN" altLang="en-US" sz="2400" dirty="0"/>
              <a:t>）提高声呐设备的检测和识别能力；</a:t>
            </a:r>
            <a:endParaRPr lang="zh-CN" altLang="en-US" sz="2400" dirty="0"/>
          </a:p>
          <a:p>
            <a:pPr eaLnBrk="1" hangingPunct="1">
              <a:lnSpc>
                <a:spcPct val="120000"/>
              </a:lnSpc>
              <a:buFontTx/>
              <a:buNone/>
            </a:pPr>
            <a:r>
              <a:rPr lang="zh-CN" altLang="en-US" sz="2400" dirty="0"/>
              <a:t>（</a:t>
            </a:r>
            <a:r>
              <a:rPr lang="en-US" altLang="zh-CN" sz="2400" dirty="0"/>
              <a:t>2</a:t>
            </a:r>
            <a:r>
              <a:rPr lang="zh-CN" altLang="en-US" sz="2400" dirty="0"/>
              <a:t>）提高目标自身的隐蔽性和安全性。 </a:t>
            </a:r>
            <a:endParaRPr lang="zh-CN" altLang="en-US" sz="2400" dirty="0"/>
          </a:p>
        </p:txBody>
      </p:sp>
      <p:sp>
        <p:nvSpPr>
          <p:cNvPr id="7" name="Text Box 6"/>
          <p:cNvSpPr txBox="1">
            <a:spLocks noChangeArrowheads="1"/>
          </p:cNvSpPr>
          <p:nvPr/>
        </p:nvSpPr>
        <p:spPr bwMode="auto">
          <a:xfrm>
            <a:off x="2701620" y="168420"/>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6.0 </a:t>
            </a:r>
            <a:r>
              <a:rPr lang="zh-CN" altLang="en-US" sz="3600" b="1" dirty="0">
                <a:solidFill>
                  <a:srgbClr val="CC3300"/>
                </a:solidFill>
                <a:latin typeface="黑体" panose="02010609060101010101" pitchFamily="49" charset="-122"/>
                <a:ea typeface="黑体" panose="02010609060101010101" pitchFamily="49" charset="-122"/>
              </a:rPr>
              <a:t>噪声概述</a:t>
            </a:r>
            <a:r>
              <a:rPr lang="zh-CN" altLang="en-US" sz="3600" b="1" dirty="0">
                <a:solidFill>
                  <a:srgbClr val="808080"/>
                </a:solidFill>
                <a:latin typeface="黑体" panose="02010609060101010101" pitchFamily="49" charset="-122"/>
                <a:ea typeface="黑体" panose="02010609060101010101" pitchFamily="49" charset="-122"/>
              </a:rPr>
              <a:t> </a:t>
            </a:r>
            <a:endParaRPr lang="zh-CN" altLang="en-US" sz="3600" b="1" dirty="0">
              <a:solidFill>
                <a:srgbClr val="808080"/>
              </a:solidFill>
              <a:latin typeface="黑体" panose="02010609060101010101" pitchFamily="49" charset="-122"/>
              <a:ea typeface="黑体"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61962" y="1143445"/>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6.0 </a:t>
            </a:r>
            <a:r>
              <a:rPr lang="zh-CN" altLang="en-US" sz="2400" dirty="0">
                <a:latin typeface="微软雅黑" panose="020B0503020204020204" pitchFamily="34" charset="-122"/>
                <a:ea typeface="微软雅黑" panose="020B0503020204020204" pitchFamily="34" charset="-122"/>
              </a:rPr>
              <a:t>噪声概述</a:t>
            </a:r>
            <a:endParaRPr lang="en-US" altLang="zh-CN" sz="2400" dirty="0">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6.1 </a:t>
            </a:r>
            <a:r>
              <a:rPr lang="zh-CN" altLang="en-US" sz="2400" dirty="0">
                <a:solidFill>
                  <a:srgbClr val="FF0000"/>
                </a:solidFill>
                <a:latin typeface="微软雅黑" panose="020B0503020204020204" pitchFamily="34" charset="-122"/>
                <a:ea typeface="微软雅黑" panose="020B0503020204020204" pitchFamily="34" charset="-122"/>
              </a:rPr>
              <a:t>噪声的基本概念</a:t>
            </a:r>
            <a:endParaRPr lang="en-US" altLang="zh-CN" sz="2400" dirty="0">
              <a:solidFill>
                <a:srgbClr val="FF0000"/>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6.2 </a:t>
            </a:r>
            <a:r>
              <a:rPr lang="zh-CN" altLang="en-US" sz="2400" dirty="0">
                <a:solidFill>
                  <a:prstClr val="black"/>
                </a:solidFill>
                <a:latin typeface="微软雅黑" panose="020B0503020204020204" pitchFamily="34" charset="-122"/>
                <a:ea typeface="微软雅黑" panose="020B0503020204020204" pitchFamily="34" charset="-122"/>
              </a:rPr>
              <a:t>声学中噪声的描述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6.3 </a:t>
            </a:r>
            <a:r>
              <a:rPr lang="zh-CN" altLang="en-US" sz="2400" dirty="0">
                <a:solidFill>
                  <a:prstClr val="black"/>
                </a:solidFill>
                <a:latin typeface="微软雅黑" panose="020B0503020204020204" pitchFamily="34" charset="-122"/>
                <a:ea typeface="微软雅黑" panose="020B0503020204020204" pitchFamily="34" charset="-122"/>
              </a:rPr>
              <a:t>海洋环境噪声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6.4 </a:t>
            </a:r>
            <a:r>
              <a:rPr lang="zh-CN" altLang="en-US" sz="2400" dirty="0">
                <a:solidFill>
                  <a:prstClr val="black"/>
                </a:solidFill>
                <a:latin typeface="微软雅黑" panose="020B0503020204020204" pitchFamily="34" charset="-122"/>
                <a:ea typeface="微软雅黑" panose="020B0503020204020204" pitchFamily="34" charset="-122"/>
              </a:rPr>
              <a:t>舰船和鱼雷辐射噪声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6.5 </a:t>
            </a:r>
            <a:r>
              <a:rPr lang="zh-CN" altLang="en-US" sz="2400" dirty="0">
                <a:solidFill>
                  <a:prstClr val="black"/>
                </a:solidFill>
                <a:latin typeface="微软雅黑" panose="020B0503020204020204" pitchFamily="34" charset="-122"/>
                <a:ea typeface="微软雅黑" panose="020B0503020204020204" pitchFamily="34" charset="-122"/>
              </a:rPr>
              <a:t>舰船和鱼雷目标自噪声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6.6 LFM</a:t>
            </a:r>
            <a:r>
              <a:rPr lang="zh-CN" altLang="en-US" sz="2400" dirty="0">
                <a:solidFill>
                  <a:prstClr val="black"/>
                </a:solidFill>
                <a:latin typeface="微软雅黑" panose="020B0503020204020204" pitchFamily="34" charset="-122"/>
                <a:ea typeface="微软雅黑" panose="020B0503020204020204" pitchFamily="34" charset="-122"/>
              </a:rPr>
              <a:t>脉冲声呐目标检测</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3"/>
          <p:cNvSpPr txBox="1">
            <a:spLocks noChangeArrowheads="1"/>
          </p:cNvSpPr>
          <p:nvPr/>
        </p:nvSpPr>
        <p:spPr>
          <a:xfrm>
            <a:off x="434162" y="1161185"/>
            <a:ext cx="9705517" cy="27425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None/>
            </a:pPr>
            <a:r>
              <a:rPr lang="zh-CN" altLang="en-US" b="1" dirty="0">
                <a:solidFill>
                  <a:srgbClr val="0033CC"/>
                </a:solidFill>
                <a:latin typeface="宋体" pitchFamily="2" charset="-122"/>
                <a:ea typeface="宋体" pitchFamily="2" charset="-122"/>
              </a:rPr>
              <a:t>噪声描述</a:t>
            </a:r>
            <a:r>
              <a:rPr lang="en-US" altLang="zh-CN" b="1" dirty="0">
                <a:solidFill>
                  <a:srgbClr val="0033CC"/>
                </a:solidFill>
                <a:latin typeface="宋体" pitchFamily="2" charset="-122"/>
                <a:ea typeface="宋体" pitchFamily="2" charset="-122"/>
              </a:rPr>
              <a:t>:</a:t>
            </a:r>
            <a:br>
              <a:rPr lang="en-US" altLang="zh-CN" b="1" dirty="0">
                <a:latin typeface="宋体" pitchFamily="2" charset="-122"/>
                <a:ea typeface="宋体" pitchFamily="2" charset="-122"/>
              </a:rPr>
            </a:br>
            <a:r>
              <a:rPr lang="en-US" altLang="zh-CN" b="1" dirty="0">
                <a:latin typeface="宋体" pitchFamily="2" charset="-122"/>
                <a:ea typeface="宋体" pitchFamily="2" charset="-122"/>
              </a:rPr>
              <a:t>    </a:t>
            </a:r>
            <a:r>
              <a:rPr lang="zh-CN" altLang="en-US" b="1" dirty="0">
                <a:latin typeface="宋体" pitchFamily="2" charset="-122"/>
                <a:ea typeface="宋体" pitchFamily="2" charset="-122"/>
              </a:rPr>
              <a:t>噪声    是一个随机过程，固定时刻  ，</a:t>
            </a:r>
            <a:r>
              <a:rPr lang="en-US" altLang="zh-CN" b="1" dirty="0">
                <a:latin typeface="宋体" pitchFamily="2" charset="-122"/>
                <a:ea typeface="宋体" pitchFamily="2" charset="-122"/>
              </a:rPr>
              <a:t>   </a:t>
            </a:r>
            <a:r>
              <a:rPr lang="zh-CN" altLang="en-US" b="1" dirty="0">
                <a:latin typeface="宋体" pitchFamily="2" charset="-122"/>
                <a:ea typeface="宋体" pitchFamily="2" charset="-122"/>
              </a:rPr>
              <a:t>是一个随机变量（</a:t>
            </a:r>
            <a:r>
              <a:rPr lang="zh-CN" altLang="en-US" b="1" dirty="0">
                <a:latin typeface="楷体" panose="02010609060101010101" pitchFamily="49" charset="-122"/>
                <a:ea typeface="楷体" panose="02010609060101010101" pitchFamily="49" charset="-122"/>
              </a:rPr>
              <a:t>为什么引入随机过程描述噪声</a:t>
            </a:r>
            <a:r>
              <a:rPr lang="zh-CN" altLang="en-US" b="1" dirty="0">
                <a:latin typeface="宋体" pitchFamily="2" charset="-122"/>
                <a:ea typeface="宋体" pitchFamily="2" charset="-122"/>
              </a:rPr>
              <a:t>？）</a:t>
            </a:r>
            <a:endParaRPr lang="zh-CN" altLang="en-US" b="1" dirty="0">
              <a:latin typeface="宋体" pitchFamily="2" charset="-122"/>
              <a:ea typeface="宋体" pitchFamily="2" charset="-122"/>
            </a:endParaRPr>
          </a:p>
        </p:txBody>
      </p:sp>
      <p:graphicFrame>
        <p:nvGraphicFramePr>
          <p:cNvPr id="7" name="对象 6"/>
          <p:cNvGraphicFramePr>
            <a:graphicFrameLocks noChangeAspect="1"/>
          </p:cNvGraphicFramePr>
          <p:nvPr/>
        </p:nvGraphicFramePr>
        <p:xfrm>
          <a:off x="1972462" y="1692245"/>
          <a:ext cx="647398" cy="539498"/>
        </p:xfrm>
        <a:graphic>
          <a:graphicData uri="http://schemas.openxmlformats.org/presentationml/2006/ole">
            <mc:AlternateContent xmlns:mc="http://schemas.openxmlformats.org/markup-compatibility/2006">
              <mc:Choice xmlns:v="urn:schemas-microsoft-com:vml" Requires="v">
                <p:oleObj spid="_x0000_s2446" name="Equation" r:id="rId2" imgW="7305675" imgH="6086475" progId="Equation.DSMT4">
                  <p:embed/>
                </p:oleObj>
              </mc:Choice>
              <mc:Fallback>
                <p:oleObj name="Equation" r:id="rId2" imgW="7305675" imgH="6086475" progId="Equation.DSMT4">
                  <p:embed/>
                  <p:pic>
                    <p:nvPicPr>
                      <p:cNvPr id="0" name="对象 7"/>
                      <p:cNvPicPr/>
                      <p:nvPr/>
                    </p:nvPicPr>
                    <p:blipFill>
                      <a:blip r:embed="rId3"/>
                      <a:stretch>
                        <a:fillRect/>
                      </a:stretch>
                    </p:blipFill>
                    <p:spPr>
                      <a:xfrm>
                        <a:off x="1972462" y="1692245"/>
                        <a:ext cx="647398" cy="539498"/>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996593" y="1767398"/>
          <a:ext cx="227028" cy="389191"/>
        </p:xfrm>
        <a:graphic>
          <a:graphicData uri="http://schemas.openxmlformats.org/presentationml/2006/ole">
            <mc:AlternateContent xmlns:mc="http://schemas.openxmlformats.org/markup-compatibility/2006">
              <mc:Choice xmlns:v="urn:schemas-microsoft-com:vml" Requires="v">
                <p:oleObj spid="_x0000_s2447" name="Equation" r:id="rId4" imgW="2124075" imgH="3648075" progId="Equation.DSMT4">
                  <p:embed/>
                </p:oleObj>
              </mc:Choice>
              <mc:Fallback>
                <p:oleObj name="Equation" r:id="rId4" imgW="2124075" imgH="3648075" progId="Equation.DSMT4">
                  <p:embed/>
                  <p:pic>
                    <p:nvPicPr>
                      <p:cNvPr id="0" name="对象 15"/>
                      <p:cNvPicPr/>
                      <p:nvPr/>
                    </p:nvPicPr>
                    <p:blipFill>
                      <a:blip r:embed="rId5"/>
                      <a:stretch>
                        <a:fillRect/>
                      </a:stretch>
                    </p:blipFill>
                    <p:spPr>
                      <a:xfrm>
                        <a:off x="6996593" y="1767398"/>
                        <a:ext cx="227028" cy="389191"/>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7518946" y="1693401"/>
          <a:ext cx="721670" cy="463528"/>
        </p:xfrm>
        <a:graphic>
          <a:graphicData uri="http://schemas.openxmlformats.org/presentationml/2006/ole">
            <mc:AlternateContent xmlns:mc="http://schemas.openxmlformats.org/markup-compatibility/2006">
              <mc:Choice xmlns:v="urn:schemas-microsoft-com:vml" Requires="v">
                <p:oleObj spid="_x0000_s2448" name="Equation" r:id="rId6" imgW="7305675" imgH="6086475" progId="Equation.DSMT4">
                  <p:embed/>
                </p:oleObj>
              </mc:Choice>
              <mc:Fallback>
                <p:oleObj name="Equation" r:id="rId6" imgW="7305675" imgH="6086475" progId="Equation.DSMT4">
                  <p:embed/>
                  <p:pic>
                    <p:nvPicPr>
                      <p:cNvPr id="0" name="对象 28"/>
                      <p:cNvPicPr/>
                      <p:nvPr/>
                    </p:nvPicPr>
                    <p:blipFill>
                      <a:blip r:embed="rId3"/>
                      <a:stretch>
                        <a:fillRect/>
                      </a:stretch>
                    </p:blipFill>
                    <p:spPr>
                      <a:xfrm>
                        <a:off x="7518946" y="1693401"/>
                        <a:ext cx="721670" cy="463528"/>
                      </a:xfrm>
                      <a:prstGeom prst="rect">
                        <a:avLst/>
                      </a:prstGeom>
                    </p:spPr>
                  </p:pic>
                </p:oleObj>
              </mc:Fallback>
            </mc:AlternateContent>
          </a:graphicData>
        </a:graphic>
      </p:graphicFrame>
      <p:sp>
        <p:nvSpPr>
          <p:cNvPr id="10" name="Rectangle 3"/>
          <p:cNvSpPr txBox="1">
            <a:spLocks noChangeArrowheads="1"/>
          </p:cNvSpPr>
          <p:nvPr/>
        </p:nvSpPr>
        <p:spPr>
          <a:xfrm>
            <a:off x="399010" y="2722753"/>
            <a:ext cx="11085393" cy="18448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buNone/>
            </a:pPr>
            <a:r>
              <a:rPr lang="zh-CN" altLang="en-US" b="1" dirty="0">
                <a:latin typeface="宋体" pitchFamily="2" charset="-122"/>
                <a:ea typeface="宋体" pitchFamily="2" charset="-122"/>
              </a:rPr>
              <a:t>描述随机过程，引入随机变量                的联合概率密度函数：</a:t>
            </a:r>
            <a:endParaRPr lang="en-US" altLang="zh-CN" b="1" dirty="0">
              <a:latin typeface="宋体" pitchFamily="2" charset="-122"/>
              <a:ea typeface="宋体" pitchFamily="2" charset="-122"/>
            </a:endParaRPr>
          </a:p>
          <a:p>
            <a:pPr marL="0" indent="0">
              <a:lnSpc>
                <a:spcPct val="115000"/>
              </a:lnSpc>
            </a:pPr>
            <a:endParaRPr lang="en-US" altLang="zh-CN" b="1" dirty="0">
              <a:latin typeface="宋体" pitchFamily="2" charset="-122"/>
              <a:ea typeface="宋体" pitchFamily="2" charset="-122"/>
            </a:endParaRPr>
          </a:p>
          <a:p>
            <a:pPr marL="0" indent="0">
              <a:lnSpc>
                <a:spcPct val="115000"/>
              </a:lnSpc>
            </a:pPr>
            <a:endParaRPr lang="zh-CN" altLang="en-US" b="1" dirty="0">
              <a:latin typeface="宋体" pitchFamily="2" charset="-122"/>
              <a:ea typeface="宋体" pitchFamily="2" charset="-122"/>
            </a:endParaRPr>
          </a:p>
        </p:txBody>
      </p:sp>
      <p:graphicFrame>
        <p:nvGraphicFramePr>
          <p:cNvPr id="11" name="对象 10"/>
          <p:cNvGraphicFramePr>
            <a:graphicFrameLocks noChangeAspect="1"/>
          </p:cNvGraphicFramePr>
          <p:nvPr/>
        </p:nvGraphicFramePr>
        <p:xfrm>
          <a:off x="5206409" y="2722413"/>
          <a:ext cx="2785132" cy="580857"/>
        </p:xfrm>
        <a:graphic>
          <a:graphicData uri="http://schemas.openxmlformats.org/presentationml/2006/ole">
            <mc:AlternateContent xmlns:mc="http://schemas.openxmlformats.org/markup-compatibility/2006">
              <mc:Choice xmlns:v="urn:schemas-microsoft-com:vml" Requires="v">
                <p:oleObj spid="_x0000_s2449" name="Equation" r:id="rId7" imgW="29251275" imgH="6086475" progId="Equation.DSMT4">
                  <p:embed/>
                </p:oleObj>
              </mc:Choice>
              <mc:Fallback>
                <p:oleObj name="Equation" r:id="rId7" imgW="29251275" imgH="6086475" progId="Equation.DSMT4">
                  <p:embed/>
                  <p:pic>
                    <p:nvPicPr>
                      <p:cNvPr id="0" name="对象 30"/>
                      <p:cNvPicPr/>
                      <p:nvPr/>
                    </p:nvPicPr>
                    <p:blipFill>
                      <a:blip r:embed="rId8"/>
                      <a:stretch>
                        <a:fillRect/>
                      </a:stretch>
                    </p:blipFill>
                    <p:spPr>
                      <a:xfrm>
                        <a:off x="5206409" y="2722413"/>
                        <a:ext cx="2785132" cy="58085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2296161" y="3393681"/>
          <a:ext cx="6689598" cy="817980"/>
        </p:xfrm>
        <a:graphic>
          <a:graphicData uri="http://schemas.openxmlformats.org/presentationml/2006/ole">
            <mc:AlternateContent xmlns:mc="http://schemas.openxmlformats.org/markup-compatibility/2006">
              <mc:Choice xmlns:v="urn:schemas-microsoft-com:vml" Requires="v">
                <p:oleObj spid="_x0000_s2450" name="Equation" r:id="rId9" imgW="54854475" imgH="6696075" progId="Equation.DSMT4">
                  <p:embed/>
                </p:oleObj>
              </mc:Choice>
              <mc:Fallback>
                <p:oleObj name="Equation" r:id="rId9" imgW="54854475" imgH="6696075" progId="Equation.DSMT4">
                  <p:embed/>
                  <p:pic>
                    <p:nvPicPr>
                      <p:cNvPr id="0" name="对象 23"/>
                      <p:cNvPicPr/>
                      <p:nvPr/>
                    </p:nvPicPr>
                    <p:blipFill>
                      <a:blip r:embed="rId10"/>
                      <a:stretch>
                        <a:fillRect/>
                      </a:stretch>
                    </p:blipFill>
                    <p:spPr>
                      <a:xfrm>
                        <a:off x="2296161" y="3393681"/>
                        <a:ext cx="6689598" cy="817980"/>
                      </a:xfrm>
                      <a:prstGeom prst="rect">
                        <a:avLst/>
                      </a:prstGeom>
                    </p:spPr>
                  </p:pic>
                </p:oleObj>
              </mc:Fallback>
            </mc:AlternateContent>
          </a:graphicData>
        </a:graphic>
      </p:graphicFrame>
      <p:sp>
        <p:nvSpPr>
          <p:cNvPr id="15" name="Rectangle 3"/>
          <p:cNvSpPr txBox="1">
            <a:spLocks noChangeArrowheads="1"/>
          </p:cNvSpPr>
          <p:nvPr/>
        </p:nvSpPr>
        <p:spPr>
          <a:xfrm>
            <a:off x="553303" y="4509972"/>
            <a:ext cx="11085393" cy="153997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pPr>
            <a:r>
              <a:rPr lang="zh-CN" altLang="en-US" b="1" dirty="0">
                <a:latin typeface="宋体" pitchFamily="2" charset="-122"/>
                <a:ea typeface="宋体" pitchFamily="2" charset="-122"/>
              </a:rPr>
              <a:t>如何得到联合概率密度函数：</a:t>
            </a:r>
            <a:endParaRPr lang="en-US" altLang="zh-CN" b="1" dirty="0">
              <a:latin typeface="宋体" pitchFamily="2" charset="-122"/>
              <a:ea typeface="宋体" pitchFamily="2" charset="-122"/>
            </a:endParaRPr>
          </a:p>
          <a:p>
            <a:pPr marL="0" indent="0">
              <a:lnSpc>
                <a:spcPct val="115000"/>
              </a:lnSpc>
            </a:pPr>
            <a:r>
              <a:rPr lang="zh-CN" altLang="en-US" b="1" dirty="0">
                <a:latin typeface="宋体" pitchFamily="2" charset="-122"/>
                <a:ea typeface="宋体" pitchFamily="2" charset="-122"/>
              </a:rPr>
              <a:t>（</a:t>
            </a:r>
            <a:r>
              <a:rPr lang="en-US" altLang="zh-CN" b="1" dirty="0">
                <a:latin typeface="宋体" pitchFamily="2" charset="-122"/>
                <a:ea typeface="宋体" pitchFamily="2" charset="-122"/>
              </a:rPr>
              <a:t>1</a:t>
            </a:r>
            <a:r>
              <a:rPr lang="zh-CN" altLang="en-US" b="1" dirty="0">
                <a:latin typeface="宋体" pitchFamily="2" charset="-122"/>
                <a:ea typeface="宋体" pitchFamily="2" charset="-122"/>
              </a:rPr>
              <a:t>）高斯随机过程（</a:t>
            </a:r>
            <a:r>
              <a:rPr lang="en-US" altLang="zh-CN" b="1" dirty="0">
                <a:latin typeface="宋体" pitchFamily="2" charset="-122"/>
                <a:ea typeface="宋体" pitchFamily="2" charset="-122"/>
              </a:rPr>
              <a:t>2</a:t>
            </a:r>
            <a:r>
              <a:rPr lang="zh-CN" altLang="en-US" b="1" dirty="0">
                <a:latin typeface="宋体" pitchFamily="2" charset="-122"/>
                <a:ea typeface="宋体" pitchFamily="2" charset="-122"/>
              </a:rPr>
              <a:t>）随机过程有确定性参数化形式，参数是随机变量</a:t>
            </a:r>
            <a:endParaRPr lang="en-US" altLang="zh-CN" b="1" dirty="0">
              <a:latin typeface="宋体" pitchFamily="2" charset="-122"/>
              <a:ea typeface="宋体" pitchFamily="2" charset="-122"/>
            </a:endParaRPr>
          </a:p>
          <a:p>
            <a:pPr marL="0" indent="0">
              <a:lnSpc>
                <a:spcPct val="115000"/>
              </a:lnSpc>
            </a:pPr>
            <a:r>
              <a:rPr lang="zh-CN" altLang="en-US" b="1" dirty="0">
                <a:latin typeface="宋体" pitchFamily="2" charset="-122"/>
                <a:ea typeface="宋体" pitchFamily="2" charset="-122"/>
              </a:rPr>
              <a:t>（</a:t>
            </a:r>
            <a:r>
              <a:rPr lang="en-US" altLang="zh-CN" b="1" dirty="0">
                <a:latin typeface="宋体" pitchFamily="2" charset="-122"/>
                <a:ea typeface="宋体" pitchFamily="2" charset="-122"/>
              </a:rPr>
              <a:t>3</a:t>
            </a:r>
            <a:r>
              <a:rPr lang="zh-CN" altLang="en-US" b="1" dirty="0">
                <a:latin typeface="宋体" pitchFamily="2" charset="-122"/>
                <a:ea typeface="宋体" pitchFamily="2" charset="-122"/>
              </a:rPr>
              <a:t>）变换。原始随机过程的联合概率密度函数已知，并且与现有随机过程存在确定性关系</a:t>
            </a:r>
            <a:endParaRPr lang="en-US" altLang="zh-CN" b="1" dirty="0">
              <a:latin typeface="宋体" pitchFamily="2" charset="-122"/>
              <a:ea typeface="宋体" pitchFamily="2" charset="-122"/>
            </a:endParaRPr>
          </a:p>
          <a:p>
            <a:pPr marL="0" indent="0">
              <a:lnSpc>
                <a:spcPct val="115000"/>
              </a:lnSpc>
            </a:pPr>
            <a:endParaRPr lang="zh-CN" altLang="en-US" b="1" dirty="0">
              <a:latin typeface="宋体" pitchFamily="2" charset="-122"/>
              <a:ea typeface="宋体" pitchFamily="2" charset="-122"/>
            </a:endParaRPr>
          </a:p>
        </p:txBody>
      </p:sp>
      <p:sp>
        <p:nvSpPr>
          <p:cNvPr id="16" name="Rectangle 3"/>
          <p:cNvSpPr txBox="1">
            <a:spLocks noChangeArrowheads="1"/>
          </p:cNvSpPr>
          <p:nvPr/>
        </p:nvSpPr>
        <p:spPr>
          <a:xfrm>
            <a:off x="8179290" y="3903759"/>
            <a:ext cx="6134079" cy="8364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5000"/>
              </a:lnSpc>
            </a:pPr>
            <a:endParaRPr lang="zh-CN" altLang="en-US" b="1" dirty="0">
              <a:solidFill>
                <a:srgbClr val="0033CC"/>
              </a:solidFill>
              <a:latin typeface="宋体" pitchFamily="2" charset="-122"/>
              <a:ea typeface="宋体" pitchFamily="2" charset="-122"/>
            </a:endParaRPr>
          </a:p>
        </p:txBody>
      </p:sp>
      <p:sp>
        <p:nvSpPr>
          <p:cNvPr id="17" name="Text Box 6"/>
          <p:cNvSpPr txBox="1">
            <a:spLocks noChangeArrowheads="1"/>
          </p:cNvSpPr>
          <p:nvPr/>
        </p:nvSpPr>
        <p:spPr bwMode="auto">
          <a:xfrm>
            <a:off x="2732100" y="161722"/>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6.1 </a:t>
            </a:r>
            <a:r>
              <a:rPr lang="zh-CN" altLang="en-US" sz="3600" b="1" dirty="0">
                <a:solidFill>
                  <a:srgbClr val="CC3300"/>
                </a:solidFill>
                <a:latin typeface="黑体" panose="02010609060101010101" pitchFamily="49" charset="-122"/>
                <a:ea typeface="黑体" panose="02010609060101010101" pitchFamily="49" charset="-122"/>
              </a:rPr>
              <a:t>噪声的基本概念</a:t>
            </a:r>
            <a:r>
              <a:rPr lang="zh-CN" altLang="en-US" sz="3600" b="1" dirty="0">
                <a:solidFill>
                  <a:srgbClr val="808080"/>
                </a:solidFill>
                <a:latin typeface="黑体" panose="02010609060101010101" pitchFamily="49" charset="-122"/>
                <a:ea typeface="黑体" panose="02010609060101010101" pitchFamily="49" charset="-122"/>
              </a:rPr>
              <a:t> </a:t>
            </a:r>
            <a:endParaRPr lang="zh-CN" altLang="en-US" sz="3600" b="1" dirty="0">
              <a:solidFill>
                <a:srgbClr val="808080"/>
              </a:solidFill>
              <a:latin typeface="黑体" panose="02010609060101010101" pitchFamily="49" charset="-122"/>
              <a:ea typeface="黑体" panose="02010609060101010101" pitchFamily="49"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对象 5"/>
          <p:cNvGraphicFramePr>
            <a:graphicFrameLocks noChangeAspect="1"/>
          </p:cNvGraphicFramePr>
          <p:nvPr/>
        </p:nvGraphicFramePr>
        <p:xfrm>
          <a:off x="2062480" y="1950068"/>
          <a:ext cx="8701388" cy="1478932"/>
        </p:xfrm>
        <a:graphic>
          <a:graphicData uri="http://schemas.openxmlformats.org/presentationml/2006/ole">
            <mc:AlternateContent xmlns:mc="http://schemas.openxmlformats.org/markup-compatibility/2006">
              <mc:Choice xmlns:v="urn:schemas-microsoft-com:vml" Requires="v">
                <p:oleObj spid="_x0000_s3230" name="Equation" r:id="rId2" imgW="82591275" imgH="14011275" progId="Equation.DSMT4">
                  <p:embed/>
                </p:oleObj>
              </mc:Choice>
              <mc:Fallback>
                <p:oleObj name="Equation" r:id="rId2" imgW="82591275" imgH="14011275" progId="Equation.DSMT4">
                  <p:embed/>
                  <p:pic>
                    <p:nvPicPr>
                      <p:cNvPr id="0" name="对象 17"/>
                      <p:cNvPicPr/>
                      <p:nvPr/>
                    </p:nvPicPr>
                    <p:blipFill>
                      <a:blip r:embed="rId3"/>
                      <a:stretch>
                        <a:fillRect/>
                      </a:stretch>
                    </p:blipFill>
                    <p:spPr>
                      <a:xfrm>
                        <a:off x="2062480" y="1950068"/>
                        <a:ext cx="8701388" cy="1478932"/>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062480" y="4340980"/>
          <a:ext cx="7530388" cy="1313692"/>
        </p:xfrm>
        <a:graphic>
          <a:graphicData uri="http://schemas.openxmlformats.org/presentationml/2006/ole">
            <mc:AlternateContent xmlns:mc="http://schemas.openxmlformats.org/markup-compatibility/2006">
              <mc:Choice xmlns:v="urn:schemas-microsoft-com:vml" Requires="v">
                <p:oleObj spid="_x0000_s3231" name="Equation" r:id="rId4" imgW="62779275" imgH="10963275" progId="Equation.DSMT4">
                  <p:embed/>
                </p:oleObj>
              </mc:Choice>
              <mc:Fallback>
                <p:oleObj name="Equation" r:id="rId4" imgW="62779275" imgH="10963275" progId="Equation.DSMT4">
                  <p:embed/>
                  <p:pic>
                    <p:nvPicPr>
                      <p:cNvPr id="0" name="对象 20"/>
                      <p:cNvPicPr/>
                      <p:nvPr/>
                    </p:nvPicPr>
                    <p:blipFill>
                      <a:blip r:embed="rId5"/>
                      <a:stretch>
                        <a:fillRect/>
                      </a:stretch>
                    </p:blipFill>
                    <p:spPr>
                      <a:xfrm>
                        <a:off x="2062480" y="4340980"/>
                        <a:ext cx="7530388" cy="1313692"/>
                      </a:xfrm>
                      <a:prstGeom prst="rect">
                        <a:avLst/>
                      </a:prstGeom>
                    </p:spPr>
                  </p:pic>
                </p:oleObj>
              </mc:Fallback>
            </mc:AlternateContent>
          </a:graphicData>
        </a:graphic>
      </p:graphicFrame>
      <p:sp>
        <p:nvSpPr>
          <p:cNvPr id="13" name="Text Box 6"/>
          <p:cNvSpPr txBox="1">
            <a:spLocks noChangeArrowheads="1"/>
          </p:cNvSpPr>
          <p:nvPr/>
        </p:nvSpPr>
        <p:spPr bwMode="auto">
          <a:xfrm>
            <a:off x="2701620" y="168420"/>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6.1 </a:t>
            </a:r>
            <a:r>
              <a:rPr lang="zh-CN" altLang="en-US" sz="3600" b="1" dirty="0">
                <a:solidFill>
                  <a:srgbClr val="CC3300"/>
                </a:solidFill>
                <a:latin typeface="黑体" panose="02010609060101010101" pitchFamily="49" charset="-122"/>
                <a:ea typeface="黑体" panose="02010609060101010101" pitchFamily="49" charset="-122"/>
              </a:rPr>
              <a:t>噪声的基本概念</a:t>
            </a:r>
            <a:r>
              <a:rPr lang="zh-CN" altLang="en-US" sz="3600" b="1" dirty="0">
                <a:solidFill>
                  <a:srgbClr val="808080"/>
                </a:solidFill>
                <a:latin typeface="黑体" panose="02010609060101010101" pitchFamily="49" charset="-122"/>
                <a:ea typeface="黑体" panose="02010609060101010101" pitchFamily="49" charset="-122"/>
              </a:rPr>
              <a:t> </a:t>
            </a:r>
            <a:endParaRPr lang="zh-CN" altLang="en-US" sz="3600" b="1" dirty="0">
              <a:solidFill>
                <a:srgbClr val="808080"/>
              </a:solidFill>
              <a:latin typeface="黑体" panose="02010609060101010101" pitchFamily="49" charset="-122"/>
              <a:ea typeface="黑体" panose="02010609060101010101" pitchFamily="49" charset="-122"/>
            </a:endParaRPr>
          </a:p>
        </p:txBody>
      </p:sp>
      <p:sp>
        <p:nvSpPr>
          <p:cNvPr id="14" name="文本框 13"/>
          <p:cNvSpPr txBox="1"/>
          <p:nvPr/>
        </p:nvSpPr>
        <p:spPr>
          <a:xfrm>
            <a:off x="853440" y="1178944"/>
            <a:ext cx="2698175" cy="523220"/>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平稳随机过程：</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15" name="文本框 14"/>
          <p:cNvSpPr txBox="1"/>
          <p:nvPr/>
        </p:nvSpPr>
        <p:spPr>
          <a:xfrm>
            <a:off x="853440" y="3676904"/>
            <a:ext cx="5955476" cy="523220"/>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遍历性（时间平均等于统计平均）：</a:t>
            </a:r>
            <a:endParaRPr lang="zh-CN" altLang="en-US" sz="2800" b="1" dirty="0">
              <a:solidFill>
                <a:srgbClr val="0033CC"/>
              </a:solidFill>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554720" y="6097575"/>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6" name="对象 5"/>
          <p:cNvGraphicFramePr>
            <a:graphicFrameLocks noChangeAspect="1"/>
          </p:cNvGraphicFramePr>
          <p:nvPr/>
        </p:nvGraphicFramePr>
        <p:xfrm>
          <a:off x="3038652" y="2189460"/>
          <a:ext cx="3633109" cy="815596"/>
        </p:xfrm>
        <a:graphic>
          <a:graphicData uri="http://schemas.openxmlformats.org/presentationml/2006/ole">
            <mc:AlternateContent xmlns:mc="http://schemas.openxmlformats.org/markup-compatibility/2006">
              <mc:Choice xmlns:v="urn:schemas-microsoft-com:vml" Requires="v">
                <p:oleObj spid="_x0000_s4398" name="Equation" r:id="rId2" imgW="29860875" imgH="6696075" progId="Equation.DSMT4">
                  <p:embed/>
                </p:oleObj>
              </mc:Choice>
              <mc:Fallback>
                <p:oleObj name="Equation" r:id="rId2" imgW="29860875" imgH="6696075" progId="Equation.DSMT4">
                  <p:embed/>
                  <p:pic>
                    <p:nvPicPr>
                      <p:cNvPr id="0" name="对象 6"/>
                      <p:cNvPicPr/>
                      <p:nvPr/>
                    </p:nvPicPr>
                    <p:blipFill>
                      <a:blip r:embed="rId3"/>
                      <a:stretch>
                        <a:fillRect/>
                      </a:stretch>
                    </p:blipFill>
                    <p:spPr>
                      <a:xfrm>
                        <a:off x="3038652" y="2189460"/>
                        <a:ext cx="3633109" cy="815596"/>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386731" y="3468938"/>
          <a:ext cx="9901029" cy="728741"/>
        </p:xfrm>
        <a:graphic>
          <a:graphicData uri="http://schemas.openxmlformats.org/presentationml/2006/ole">
            <mc:AlternateContent xmlns:mc="http://schemas.openxmlformats.org/markup-compatibility/2006">
              <mc:Choice xmlns:v="urn:schemas-microsoft-com:vml" Requires="v">
                <p:oleObj spid="_x0000_s4399" name="Equation" r:id="rId4" imgW="91125675" imgH="6696075" progId="Equation.DSMT4">
                  <p:embed/>
                </p:oleObj>
              </mc:Choice>
              <mc:Fallback>
                <p:oleObj name="Equation" r:id="rId4" imgW="91125675" imgH="6696075" progId="Equation.DSMT4">
                  <p:embed/>
                  <p:pic>
                    <p:nvPicPr>
                      <p:cNvPr id="0" name="对象 7"/>
                      <p:cNvPicPr/>
                      <p:nvPr/>
                    </p:nvPicPr>
                    <p:blipFill>
                      <a:blip r:embed="rId5"/>
                      <a:stretch>
                        <a:fillRect/>
                      </a:stretch>
                    </p:blipFill>
                    <p:spPr>
                      <a:xfrm>
                        <a:off x="1386731" y="3468938"/>
                        <a:ext cx="9901029" cy="728741"/>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4157191" y="4864824"/>
          <a:ext cx="4795513" cy="811069"/>
        </p:xfrm>
        <a:graphic>
          <a:graphicData uri="http://schemas.openxmlformats.org/presentationml/2006/ole">
            <mc:AlternateContent xmlns:mc="http://schemas.openxmlformats.org/markup-compatibility/2006">
              <mc:Choice xmlns:v="urn:schemas-microsoft-com:vml" Requires="v">
                <p:oleObj spid="_x0000_s4400" name="Equation" r:id="rId6" imgW="39614475" imgH="6696075" progId="Equation.DSMT4">
                  <p:embed/>
                </p:oleObj>
              </mc:Choice>
              <mc:Fallback>
                <p:oleObj name="Equation" r:id="rId6" imgW="39614475" imgH="6696075" progId="Equation.DSMT4">
                  <p:embed/>
                  <p:pic>
                    <p:nvPicPr>
                      <p:cNvPr id="0" name="对象 9"/>
                      <p:cNvPicPr/>
                      <p:nvPr/>
                    </p:nvPicPr>
                    <p:blipFill>
                      <a:blip r:embed="rId7"/>
                      <a:stretch>
                        <a:fillRect/>
                      </a:stretch>
                    </p:blipFill>
                    <p:spPr>
                      <a:xfrm>
                        <a:off x="4157191" y="4864824"/>
                        <a:ext cx="4795513" cy="811069"/>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917442" y="5804479"/>
          <a:ext cx="2681452" cy="677853"/>
        </p:xfrm>
        <a:graphic>
          <a:graphicData uri="http://schemas.openxmlformats.org/presentationml/2006/ole">
            <mc:AlternateContent xmlns:mc="http://schemas.openxmlformats.org/markup-compatibility/2006">
              <mc:Choice xmlns:v="urn:schemas-microsoft-com:vml" Requires="v">
                <p:oleObj spid="_x0000_s4401" name="Equation" r:id="rId8" imgW="2273935" imgH="574675" progId="Equation.DSMT4">
                  <p:embed/>
                </p:oleObj>
              </mc:Choice>
              <mc:Fallback>
                <p:oleObj name="Equation" r:id="rId8" imgW="2273935" imgH="574675" progId="Equation.DSMT4">
                  <p:embed/>
                  <p:pic>
                    <p:nvPicPr>
                      <p:cNvPr id="0" name="对象 11"/>
                      <p:cNvPicPr/>
                      <p:nvPr/>
                    </p:nvPicPr>
                    <p:blipFill>
                      <a:blip r:embed="rId9"/>
                      <a:stretch>
                        <a:fillRect/>
                      </a:stretch>
                    </p:blipFill>
                    <p:spPr>
                      <a:xfrm>
                        <a:off x="4917442" y="5804479"/>
                        <a:ext cx="2681452" cy="677853"/>
                      </a:xfrm>
                      <a:prstGeom prst="rect">
                        <a:avLst/>
                      </a:prstGeom>
                    </p:spPr>
                  </p:pic>
                </p:oleObj>
              </mc:Fallback>
            </mc:AlternateContent>
          </a:graphicData>
        </a:graphic>
      </p:graphicFrame>
      <p:sp>
        <p:nvSpPr>
          <p:cNvPr id="11" name="Text Box 6"/>
          <p:cNvSpPr txBox="1">
            <a:spLocks noChangeArrowheads="1"/>
          </p:cNvSpPr>
          <p:nvPr/>
        </p:nvSpPr>
        <p:spPr bwMode="auto">
          <a:xfrm>
            <a:off x="2701620" y="168420"/>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6.1 </a:t>
            </a:r>
            <a:r>
              <a:rPr lang="zh-CN" altLang="en-US" sz="3600" b="1" dirty="0">
                <a:solidFill>
                  <a:srgbClr val="CC3300"/>
                </a:solidFill>
                <a:latin typeface="黑体" panose="02010609060101010101" pitchFamily="49" charset="-122"/>
                <a:ea typeface="黑体" panose="02010609060101010101" pitchFamily="49" charset="-122"/>
              </a:rPr>
              <a:t>噪声的基本概念</a:t>
            </a:r>
            <a:r>
              <a:rPr lang="zh-CN" altLang="en-US" sz="3600" b="1" dirty="0">
                <a:solidFill>
                  <a:srgbClr val="808080"/>
                </a:solidFill>
                <a:latin typeface="黑体" panose="02010609060101010101" pitchFamily="49" charset="-122"/>
                <a:ea typeface="黑体" panose="02010609060101010101" pitchFamily="49" charset="-122"/>
              </a:rPr>
              <a:t> </a:t>
            </a:r>
            <a:endParaRPr lang="zh-CN" altLang="en-US" sz="3600" b="1" dirty="0">
              <a:solidFill>
                <a:srgbClr val="808080"/>
              </a:solidFill>
              <a:latin typeface="黑体" panose="02010609060101010101" pitchFamily="49" charset="-122"/>
              <a:ea typeface="黑体" panose="02010609060101010101" pitchFamily="49" charset="-122"/>
            </a:endParaRPr>
          </a:p>
        </p:txBody>
      </p:sp>
      <p:sp>
        <p:nvSpPr>
          <p:cNvPr id="12" name="文本框 11"/>
          <p:cNvSpPr txBox="1"/>
          <p:nvPr/>
        </p:nvSpPr>
        <p:spPr>
          <a:xfrm>
            <a:off x="1076960" y="1268195"/>
            <a:ext cx="5594801" cy="523220"/>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随机过程的一阶和二阶特征刻画：</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13" name="文本框 12"/>
          <p:cNvSpPr txBox="1"/>
          <p:nvPr/>
        </p:nvSpPr>
        <p:spPr>
          <a:xfrm>
            <a:off x="812800" y="2266445"/>
            <a:ext cx="2169184" cy="523220"/>
          </a:xfrm>
          <a:prstGeom prst="rect">
            <a:avLst/>
          </a:prstGeom>
          <a:noFill/>
        </p:spPr>
        <p:txBody>
          <a:bodyPr wrap="none" rtlCol="0">
            <a:spAutoFit/>
          </a:bodyPr>
          <a:lstStyle/>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）均值：</a:t>
            </a:r>
            <a:endParaRPr lang="zh-CN" altLang="en-US" sz="2800" b="1" dirty="0">
              <a:latin typeface="黑体" panose="02010609060101010101" pitchFamily="49" charset="-122"/>
              <a:ea typeface="黑体" panose="02010609060101010101" pitchFamily="49" charset="-122"/>
            </a:endParaRPr>
          </a:p>
        </p:txBody>
      </p:sp>
      <p:sp>
        <p:nvSpPr>
          <p:cNvPr id="14" name="文本框 13"/>
          <p:cNvSpPr txBox="1"/>
          <p:nvPr/>
        </p:nvSpPr>
        <p:spPr>
          <a:xfrm>
            <a:off x="812800" y="2935539"/>
            <a:ext cx="3251211" cy="523220"/>
          </a:xfrm>
          <a:prstGeom prst="rect">
            <a:avLst/>
          </a:prstGeom>
          <a:noFill/>
        </p:spPr>
        <p:txBody>
          <a:bodyPr wrap="none" rtlCol="0">
            <a:spAutoFit/>
          </a:bodyPr>
          <a:lstStyle/>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）自相关函数：</a:t>
            </a:r>
            <a:endParaRPr lang="zh-CN" altLang="en-US" sz="2800" b="1" dirty="0">
              <a:latin typeface="黑体" panose="02010609060101010101" pitchFamily="49" charset="-122"/>
              <a:ea typeface="黑体" panose="02010609060101010101" pitchFamily="49" charset="-122"/>
            </a:endParaRPr>
          </a:p>
        </p:txBody>
      </p:sp>
      <p:sp>
        <p:nvSpPr>
          <p:cNvPr id="15" name="文本框 14"/>
          <p:cNvSpPr txBox="1"/>
          <p:nvPr/>
        </p:nvSpPr>
        <p:spPr>
          <a:xfrm>
            <a:off x="1076960" y="4341604"/>
            <a:ext cx="3070071" cy="523220"/>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宽平稳随机过程：</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16" name="文本框 15"/>
          <p:cNvSpPr txBox="1"/>
          <p:nvPr/>
        </p:nvSpPr>
        <p:spPr>
          <a:xfrm>
            <a:off x="944880" y="5008748"/>
            <a:ext cx="3251211" cy="523220"/>
          </a:xfrm>
          <a:prstGeom prst="rect">
            <a:avLst/>
          </a:prstGeom>
          <a:noFill/>
        </p:spPr>
        <p:txBody>
          <a:bodyPr wrap="none" rtlCol="0">
            <a:spAutoFit/>
          </a:bodyPr>
          <a:lstStyle/>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1</a:t>
            </a:r>
            <a:r>
              <a:rPr lang="zh-CN" altLang="en-US" sz="2800" b="1" dirty="0">
                <a:latin typeface="黑体" panose="02010609060101010101" pitchFamily="49" charset="-122"/>
                <a:ea typeface="黑体" panose="02010609060101010101" pitchFamily="49" charset="-122"/>
              </a:rPr>
              <a:t>）均值为常数：</a:t>
            </a:r>
            <a:endParaRPr lang="zh-CN" altLang="en-US" sz="2800" b="1" dirty="0">
              <a:latin typeface="黑体" panose="02010609060101010101" pitchFamily="49" charset="-122"/>
              <a:ea typeface="黑体" panose="02010609060101010101" pitchFamily="49" charset="-122"/>
            </a:endParaRPr>
          </a:p>
        </p:txBody>
      </p:sp>
      <p:sp>
        <p:nvSpPr>
          <p:cNvPr id="17" name="文本框 16"/>
          <p:cNvSpPr txBox="1"/>
          <p:nvPr/>
        </p:nvSpPr>
        <p:spPr>
          <a:xfrm>
            <a:off x="944880" y="5829234"/>
            <a:ext cx="3972562" cy="523220"/>
          </a:xfrm>
          <a:prstGeom prst="rect">
            <a:avLst/>
          </a:prstGeom>
          <a:noFill/>
        </p:spPr>
        <p:txBody>
          <a:bodyPr wrap="none" rtlCol="0">
            <a:spAutoFit/>
          </a:bodyPr>
          <a:lstStyle/>
          <a:p>
            <a:r>
              <a:rPr lang="zh-CN" altLang="en-US" sz="2800" b="1" dirty="0">
                <a:latin typeface="黑体" panose="02010609060101010101" pitchFamily="49" charset="-122"/>
                <a:ea typeface="黑体" panose="02010609060101010101" pitchFamily="49" charset="-122"/>
              </a:rPr>
              <a:t>（</a:t>
            </a:r>
            <a:r>
              <a:rPr lang="en-US" altLang="zh-CN" sz="2800" b="1" dirty="0">
                <a:latin typeface="黑体" panose="02010609060101010101" pitchFamily="49" charset="-122"/>
                <a:ea typeface="黑体" panose="02010609060101010101" pitchFamily="49" charset="-122"/>
              </a:rPr>
              <a:t>2</a:t>
            </a:r>
            <a:r>
              <a:rPr lang="zh-CN" altLang="en-US" sz="2800" b="1" dirty="0">
                <a:latin typeface="黑体" panose="02010609060101010101" pitchFamily="49" charset="-122"/>
                <a:ea typeface="黑体" panose="02010609060101010101" pitchFamily="49" charset="-122"/>
              </a:rPr>
              <a:t>）自相关函数满足：</a:t>
            </a:r>
            <a:endParaRPr lang="zh-CN" altLang="en-US" sz="2800" b="1" dirty="0">
              <a:latin typeface="黑体" panose="02010609060101010101" pitchFamily="49" charset="-122"/>
              <a:ea typeface="黑体" panose="02010609060101010101"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p:cNvSpPr txBox="1"/>
          <p:nvPr/>
        </p:nvSpPr>
        <p:spPr>
          <a:xfrm>
            <a:off x="1305401" y="1706471"/>
            <a:ext cx="8844088" cy="954107"/>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    </a:t>
            </a:r>
            <a:r>
              <a:rPr lang="zh-CN" altLang="en-US" sz="2800" b="1" dirty="0">
                <a:latin typeface="宋体" pitchFamily="2" charset="-122"/>
                <a:ea typeface="宋体" pitchFamily="2" charset="-122"/>
              </a:rPr>
              <a:t>一般噪声都可以近似为零均值平稳高斯随机过程，</a:t>
            </a:r>
            <a:endParaRPr lang="en-US" altLang="zh-CN" sz="2800" b="1" dirty="0">
              <a:latin typeface="宋体" pitchFamily="2" charset="-122"/>
              <a:ea typeface="宋体" pitchFamily="2" charset="-122"/>
            </a:endParaRPr>
          </a:p>
          <a:p>
            <a:r>
              <a:rPr lang="zh-CN" altLang="en-US" sz="2800" b="1" dirty="0">
                <a:latin typeface="宋体" pitchFamily="2" charset="-122"/>
                <a:ea typeface="宋体" pitchFamily="2" charset="-122"/>
              </a:rPr>
              <a:t>且噪声样本独立，即：</a:t>
            </a:r>
            <a:endParaRPr lang="zh-CN" altLang="en-US" sz="2800" b="1" dirty="0">
              <a:latin typeface="宋体" pitchFamily="2" charset="-122"/>
              <a:ea typeface="宋体" pitchFamily="2" charset="-122"/>
            </a:endParaRPr>
          </a:p>
        </p:txBody>
      </p:sp>
      <p:graphicFrame>
        <p:nvGraphicFramePr>
          <p:cNvPr id="2" name="对象 1"/>
          <p:cNvGraphicFramePr>
            <a:graphicFrameLocks noChangeAspect="1"/>
          </p:cNvGraphicFramePr>
          <p:nvPr/>
        </p:nvGraphicFramePr>
        <p:xfrm>
          <a:off x="3649884" y="2846545"/>
          <a:ext cx="4368800" cy="744537"/>
        </p:xfrm>
        <a:graphic>
          <a:graphicData uri="http://schemas.openxmlformats.org/presentationml/2006/ole">
            <mc:AlternateContent xmlns:mc="http://schemas.openxmlformats.org/markup-compatibility/2006">
              <mc:Choice xmlns:v="urn:schemas-microsoft-com:vml" Requires="v">
                <p:oleObj spid="_x0000_s5344" name="Equation" r:id="rId2" imgW="4369435" imgH="745490" progId="Equation.DSMT4">
                  <p:embed/>
                </p:oleObj>
              </mc:Choice>
              <mc:Fallback>
                <p:oleObj name="Equation" r:id="rId2" imgW="4369435" imgH="745490" progId="Equation.DSMT4">
                  <p:embed/>
                  <p:pic>
                    <p:nvPicPr>
                      <p:cNvPr id="0" name="图片 5343"/>
                      <p:cNvPicPr/>
                      <p:nvPr/>
                    </p:nvPicPr>
                    <p:blipFill>
                      <a:blip r:embed="rId3"/>
                      <a:stretch>
                        <a:fillRect/>
                      </a:stretch>
                    </p:blipFill>
                    <p:spPr>
                      <a:xfrm>
                        <a:off x="3649884" y="2846545"/>
                        <a:ext cx="4368800" cy="74453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576637" y="3591082"/>
          <a:ext cx="4805363" cy="892175"/>
        </p:xfrm>
        <a:graphic>
          <a:graphicData uri="http://schemas.openxmlformats.org/presentationml/2006/ole">
            <mc:AlternateContent xmlns:mc="http://schemas.openxmlformats.org/markup-compatibility/2006">
              <mc:Choice xmlns:v="urn:schemas-microsoft-com:vml" Requires="v">
                <p:oleObj spid="_x0000_s5345" name="Equation" r:id="rId4" imgW="4805045" imgH="891540" progId="Equation.DSMT4">
                  <p:embed/>
                </p:oleObj>
              </mc:Choice>
              <mc:Fallback>
                <p:oleObj name="Equation" r:id="rId4" imgW="4805045" imgH="891540" progId="Equation.DSMT4">
                  <p:embed/>
                  <p:pic>
                    <p:nvPicPr>
                      <p:cNvPr id="0" name="图片 5344"/>
                      <p:cNvPicPr/>
                      <p:nvPr/>
                    </p:nvPicPr>
                    <p:blipFill>
                      <a:blip r:embed="rId5"/>
                      <a:stretch>
                        <a:fillRect/>
                      </a:stretch>
                    </p:blipFill>
                    <p:spPr>
                      <a:xfrm>
                        <a:off x="3576637" y="3591082"/>
                        <a:ext cx="4805363" cy="89217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541145" y="4917123"/>
          <a:ext cx="4881563" cy="596900"/>
        </p:xfrm>
        <a:graphic>
          <a:graphicData uri="http://schemas.openxmlformats.org/presentationml/2006/ole">
            <mc:AlternateContent xmlns:mc="http://schemas.openxmlformats.org/markup-compatibility/2006">
              <mc:Choice xmlns:v="urn:schemas-microsoft-com:vml" Requires="v">
                <p:oleObj spid="_x0000_s5346" name="Equation" r:id="rId6" imgW="4881245" imgH="597535" progId="Equation.DSMT4">
                  <p:embed/>
                </p:oleObj>
              </mc:Choice>
              <mc:Fallback>
                <p:oleObj name="Equation" r:id="rId6" imgW="4881245" imgH="597535" progId="Equation.DSMT4">
                  <p:embed/>
                  <p:pic>
                    <p:nvPicPr>
                      <p:cNvPr id="0" name="图片 5345"/>
                      <p:cNvPicPr/>
                      <p:nvPr/>
                    </p:nvPicPr>
                    <p:blipFill>
                      <a:blip r:embed="rId7"/>
                      <a:stretch>
                        <a:fillRect/>
                      </a:stretch>
                    </p:blipFill>
                    <p:spPr>
                      <a:xfrm>
                        <a:off x="1541145" y="4917123"/>
                        <a:ext cx="4881563" cy="596900"/>
                      </a:xfrm>
                      <a:prstGeom prst="rect">
                        <a:avLst/>
                      </a:prstGeom>
                    </p:spPr>
                  </p:pic>
                </p:oleObj>
              </mc:Fallback>
            </mc:AlternateContent>
          </a:graphicData>
        </a:graphic>
      </p:graphicFrame>
      <p:sp>
        <p:nvSpPr>
          <p:cNvPr id="11" name="文本框 10"/>
          <p:cNvSpPr txBox="1"/>
          <p:nvPr/>
        </p:nvSpPr>
        <p:spPr>
          <a:xfrm>
            <a:off x="6422708" y="4917123"/>
            <a:ext cx="3430747" cy="523220"/>
          </a:xfrm>
          <a:prstGeom prst="rect">
            <a:avLst/>
          </a:prstGeom>
          <a:noFill/>
        </p:spPr>
        <p:txBody>
          <a:bodyPr wrap="none" rtlCol="0">
            <a:spAutoFit/>
          </a:bodyPr>
          <a:lstStyle/>
          <a:p>
            <a:r>
              <a:rPr lang="zh-CN" altLang="en-US" sz="2800" b="1" dirty="0">
                <a:latin typeface="宋体" pitchFamily="2" charset="-122"/>
                <a:ea typeface="宋体" pitchFamily="2" charset="-122"/>
              </a:rPr>
              <a:t>是联合高斯分布的。</a:t>
            </a:r>
            <a:endParaRPr lang="zh-CN" altLang="en-US" sz="2800" b="1" dirty="0">
              <a:latin typeface="宋体" pitchFamily="2" charset="-122"/>
              <a:ea typeface="宋体" pitchFamily="2" charset="-122"/>
            </a:endParaRPr>
          </a:p>
        </p:txBody>
      </p:sp>
      <p:sp>
        <p:nvSpPr>
          <p:cNvPr id="12" name="Text Box 6"/>
          <p:cNvSpPr txBox="1">
            <a:spLocks noChangeArrowheads="1"/>
          </p:cNvSpPr>
          <p:nvPr/>
        </p:nvSpPr>
        <p:spPr bwMode="auto">
          <a:xfrm>
            <a:off x="2701620" y="168420"/>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6.1 </a:t>
            </a:r>
            <a:r>
              <a:rPr lang="zh-CN" altLang="en-US" sz="3600" b="1" dirty="0">
                <a:solidFill>
                  <a:srgbClr val="CC3300"/>
                </a:solidFill>
                <a:latin typeface="黑体" panose="02010609060101010101" pitchFamily="49" charset="-122"/>
                <a:ea typeface="黑体" panose="02010609060101010101" pitchFamily="49" charset="-122"/>
              </a:rPr>
              <a:t>噪声的基本概念</a:t>
            </a:r>
            <a:r>
              <a:rPr lang="zh-CN" altLang="en-US" sz="3600" b="1" dirty="0">
                <a:solidFill>
                  <a:srgbClr val="808080"/>
                </a:solidFill>
                <a:latin typeface="黑体" panose="02010609060101010101" pitchFamily="49" charset="-122"/>
                <a:ea typeface="黑体" panose="02010609060101010101" pitchFamily="49" charset="-122"/>
              </a:rPr>
              <a:t> </a:t>
            </a:r>
            <a:endParaRPr lang="zh-CN" altLang="en-US" sz="3600" b="1" dirty="0">
              <a:solidFill>
                <a:srgbClr val="808080"/>
              </a:solidFill>
              <a:latin typeface="黑体" panose="02010609060101010101" pitchFamily="49" charset="-122"/>
              <a:ea typeface="黑体" panose="02010609060101010101" pitchFamily="49" charset="-122"/>
            </a:endParaRPr>
          </a:p>
        </p:txBody>
      </p:sp>
      <p:sp>
        <p:nvSpPr>
          <p:cNvPr id="13" name="文本框 12"/>
          <p:cNvSpPr txBox="1"/>
          <p:nvPr/>
        </p:nvSpPr>
        <p:spPr>
          <a:xfrm>
            <a:off x="1305401" y="1018393"/>
            <a:ext cx="1988045" cy="523220"/>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噪声建模：</a:t>
            </a:r>
            <a:endParaRPr lang="zh-CN" altLang="en-US" sz="2800" b="1" dirty="0">
              <a:solidFill>
                <a:srgbClr val="0033CC"/>
              </a:solidFill>
              <a:latin typeface="黑体" panose="02010609060101010101" pitchFamily="49" charset="-122"/>
              <a:ea typeface="黑体" panose="02010609060101010101" pitchFamily="49"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1166584" y="1404313"/>
            <a:ext cx="3070071" cy="523220"/>
          </a:xfrm>
          <a:prstGeom prst="rect">
            <a:avLst/>
          </a:prstGeom>
          <a:noFill/>
        </p:spPr>
        <p:txBody>
          <a:bodyPr wrap="none" rtlCol="0">
            <a:spAutoFit/>
          </a:bodyPr>
          <a:lstStyle/>
          <a:p>
            <a:r>
              <a:rPr lang="zh-CN" altLang="en-US" sz="2800" b="1" dirty="0">
                <a:solidFill>
                  <a:srgbClr val="0033CC"/>
                </a:solidFill>
                <a:latin typeface="黑体" panose="02010609060101010101" pitchFamily="49" charset="-122"/>
                <a:ea typeface="黑体" panose="02010609060101010101" pitchFamily="49" charset="-122"/>
              </a:rPr>
              <a:t>功率谱（密度）：</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701620" y="168420"/>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6.1 </a:t>
            </a:r>
            <a:r>
              <a:rPr lang="zh-CN" altLang="en-US" sz="3600" b="1" dirty="0">
                <a:solidFill>
                  <a:srgbClr val="CC3300"/>
                </a:solidFill>
                <a:latin typeface="黑体" panose="02010609060101010101" pitchFamily="49" charset="-122"/>
                <a:ea typeface="黑体" panose="02010609060101010101" pitchFamily="49" charset="-122"/>
              </a:rPr>
              <a:t>噪声的基本概念</a:t>
            </a:r>
            <a:r>
              <a:rPr lang="zh-CN" altLang="en-US" sz="3600" b="1" dirty="0">
                <a:solidFill>
                  <a:srgbClr val="808080"/>
                </a:solidFill>
                <a:latin typeface="黑体" panose="02010609060101010101" pitchFamily="49" charset="-122"/>
                <a:ea typeface="黑体" panose="02010609060101010101" pitchFamily="49" charset="-122"/>
              </a:rPr>
              <a:t> </a:t>
            </a:r>
            <a:endParaRPr lang="zh-CN" altLang="en-US" sz="3600" b="1" dirty="0">
              <a:solidFill>
                <a:srgbClr val="808080"/>
              </a:solidFill>
              <a:latin typeface="黑体" panose="02010609060101010101" pitchFamily="49" charset="-122"/>
              <a:ea typeface="黑体" panose="02010609060101010101" pitchFamily="49" charset="-122"/>
            </a:endParaRPr>
          </a:p>
        </p:txBody>
      </p:sp>
      <p:graphicFrame>
        <p:nvGraphicFramePr>
          <p:cNvPr id="2" name="对象 1"/>
          <p:cNvGraphicFramePr>
            <a:graphicFrameLocks noChangeAspect="1"/>
          </p:cNvGraphicFramePr>
          <p:nvPr/>
        </p:nvGraphicFramePr>
        <p:xfrm>
          <a:off x="1618436" y="2329655"/>
          <a:ext cx="3853901" cy="769620"/>
        </p:xfrm>
        <a:graphic>
          <a:graphicData uri="http://schemas.openxmlformats.org/presentationml/2006/ole">
            <mc:AlternateContent xmlns:mc="http://schemas.openxmlformats.org/markup-compatibility/2006">
              <mc:Choice xmlns:v="urn:schemas-microsoft-com:vml" Requires="v">
                <p:oleObj spid="_x0000_s6730" name="Equation" r:id="rId2" imgW="3163570" imgH="632460" progId="Equation.DSMT4">
                  <p:embed/>
                </p:oleObj>
              </mc:Choice>
              <mc:Fallback>
                <p:oleObj name="Equation" r:id="rId2" imgW="3163570" imgH="632460" progId="Equation.DSMT4">
                  <p:embed/>
                  <p:pic>
                    <p:nvPicPr>
                      <p:cNvPr id="0" name="图片 6729"/>
                      <p:cNvPicPr/>
                      <p:nvPr/>
                    </p:nvPicPr>
                    <p:blipFill>
                      <a:blip r:embed="rId3"/>
                      <a:stretch>
                        <a:fillRect/>
                      </a:stretch>
                    </p:blipFill>
                    <p:spPr>
                      <a:xfrm>
                        <a:off x="1618436" y="2329655"/>
                        <a:ext cx="3853901" cy="769620"/>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5660650" y="2329655"/>
          <a:ext cx="4471025" cy="769620"/>
        </p:xfrm>
        <a:graphic>
          <a:graphicData uri="http://schemas.openxmlformats.org/presentationml/2006/ole">
            <mc:AlternateContent xmlns:mc="http://schemas.openxmlformats.org/markup-compatibility/2006">
              <mc:Choice xmlns:v="urn:schemas-microsoft-com:vml" Requires="v">
                <p:oleObj spid="_x0000_s6731" name="Equation" r:id="rId4" imgW="3337560" imgH="574675" progId="Equation.DSMT4">
                  <p:embed/>
                </p:oleObj>
              </mc:Choice>
              <mc:Fallback>
                <p:oleObj name="Equation" r:id="rId4" imgW="3337560" imgH="574675" progId="Equation.DSMT4">
                  <p:embed/>
                  <p:pic>
                    <p:nvPicPr>
                      <p:cNvPr id="0" name="图片 6730"/>
                      <p:cNvPicPr/>
                      <p:nvPr/>
                    </p:nvPicPr>
                    <p:blipFill>
                      <a:blip r:embed="rId5"/>
                      <a:stretch>
                        <a:fillRect/>
                      </a:stretch>
                    </p:blipFill>
                    <p:spPr>
                      <a:xfrm>
                        <a:off x="5660650" y="2329655"/>
                        <a:ext cx="4471025" cy="769620"/>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1618436" y="3240412"/>
          <a:ext cx="3782354" cy="769620"/>
        </p:xfrm>
        <a:graphic>
          <a:graphicData uri="http://schemas.openxmlformats.org/presentationml/2006/ole">
            <mc:AlternateContent xmlns:mc="http://schemas.openxmlformats.org/markup-compatibility/2006">
              <mc:Choice xmlns:v="urn:schemas-microsoft-com:vml" Requires="v">
                <p:oleObj spid="_x0000_s6732" name="Equation" r:id="rId6" imgW="3104515" imgH="631190" progId="Equation.DSMT4">
                  <p:embed/>
                </p:oleObj>
              </mc:Choice>
              <mc:Fallback>
                <p:oleObj name="Equation" r:id="rId6" imgW="3104515" imgH="631190" progId="Equation.DSMT4">
                  <p:embed/>
                  <p:pic>
                    <p:nvPicPr>
                      <p:cNvPr id="0" name="图片 6731"/>
                      <p:cNvPicPr/>
                      <p:nvPr/>
                    </p:nvPicPr>
                    <p:blipFill>
                      <a:blip r:embed="rId7"/>
                      <a:stretch>
                        <a:fillRect/>
                      </a:stretch>
                    </p:blipFill>
                    <p:spPr>
                      <a:xfrm>
                        <a:off x="1618436" y="3240412"/>
                        <a:ext cx="3782354" cy="769620"/>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5660650" y="3243270"/>
          <a:ext cx="3070225" cy="766762"/>
        </p:xfrm>
        <a:graphic>
          <a:graphicData uri="http://schemas.openxmlformats.org/presentationml/2006/ole">
            <mc:AlternateContent xmlns:mc="http://schemas.openxmlformats.org/markup-compatibility/2006">
              <mc:Choice xmlns:v="urn:schemas-microsoft-com:vml" Requires="v">
                <p:oleObj spid="_x0000_s6733" name="Equation" r:id="rId8" imgW="2531110" imgH="632460" progId="Equation.DSMT4">
                  <p:embed/>
                </p:oleObj>
              </mc:Choice>
              <mc:Fallback>
                <p:oleObj name="Equation" r:id="rId8" imgW="2531110" imgH="632460" progId="Equation.DSMT4">
                  <p:embed/>
                  <p:pic>
                    <p:nvPicPr>
                      <p:cNvPr id="0" name="图片 6732"/>
                      <p:cNvPicPr/>
                      <p:nvPr/>
                    </p:nvPicPr>
                    <p:blipFill>
                      <a:blip r:embed="rId9"/>
                      <a:stretch>
                        <a:fillRect/>
                      </a:stretch>
                    </p:blipFill>
                    <p:spPr>
                      <a:xfrm>
                        <a:off x="5660650" y="3243270"/>
                        <a:ext cx="3070225" cy="766762"/>
                      </a:xfrm>
                      <a:prstGeom prst="rect">
                        <a:avLst/>
                      </a:prstGeom>
                    </p:spPr>
                  </p:pic>
                </p:oleObj>
              </mc:Fallback>
            </mc:AlternateContent>
          </a:graphicData>
        </a:graphic>
      </p:graphicFrame>
      <p:sp>
        <p:nvSpPr>
          <p:cNvPr id="9" name="文本框 8"/>
          <p:cNvSpPr txBox="1"/>
          <p:nvPr/>
        </p:nvSpPr>
        <p:spPr>
          <a:xfrm>
            <a:off x="1554641" y="4599594"/>
            <a:ext cx="9579867" cy="523220"/>
          </a:xfrm>
          <a:prstGeom prst="rect">
            <a:avLst/>
          </a:prstGeom>
          <a:noFill/>
        </p:spPr>
        <p:txBody>
          <a:bodyPr wrap="none" rtlCol="0">
            <a:spAutoFit/>
          </a:bodyPr>
          <a:lstStyle/>
          <a:p>
            <a:r>
              <a:rPr lang="zh-CN" altLang="en-US" sz="2800" b="1" dirty="0">
                <a:latin typeface="黑体" panose="02010609060101010101" pitchFamily="49" charset="-122"/>
                <a:ea typeface="黑体" panose="02010609060101010101" pitchFamily="49" charset="-122"/>
              </a:rPr>
              <a:t>其中     是总功率，       表示   到       范围的功率</a:t>
            </a:r>
            <a:endParaRPr lang="zh-CN" altLang="en-US" sz="2800" b="1" dirty="0">
              <a:latin typeface="黑体" panose="02010609060101010101" pitchFamily="49" charset="-122"/>
              <a:ea typeface="黑体" panose="02010609060101010101" pitchFamily="49" charset="-122"/>
            </a:endParaRPr>
          </a:p>
        </p:txBody>
      </p:sp>
      <p:graphicFrame>
        <p:nvGraphicFramePr>
          <p:cNvPr id="10" name="对象 9"/>
          <p:cNvGraphicFramePr>
            <a:graphicFrameLocks noChangeAspect="1"/>
          </p:cNvGraphicFramePr>
          <p:nvPr/>
        </p:nvGraphicFramePr>
        <p:xfrm>
          <a:off x="2431267" y="4634798"/>
          <a:ext cx="804863" cy="574675"/>
        </p:xfrm>
        <a:graphic>
          <a:graphicData uri="http://schemas.openxmlformats.org/presentationml/2006/ole">
            <mc:AlternateContent xmlns:mc="http://schemas.openxmlformats.org/markup-compatibility/2006">
              <mc:Choice xmlns:v="urn:schemas-microsoft-com:vml" Requires="v">
                <p:oleObj spid="_x0000_s6734" name="Equation" r:id="rId10" imgW="804545" imgH="574675" progId="Equation.DSMT4">
                  <p:embed/>
                </p:oleObj>
              </mc:Choice>
              <mc:Fallback>
                <p:oleObj name="Equation" r:id="rId10" imgW="804545" imgH="574675" progId="Equation.DSMT4">
                  <p:embed/>
                  <p:pic>
                    <p:nvPicPr>
                      <p:cNvPr id="0" name="图片 6733"/>
                      <p:cNvPicPr/>
                      <p:nvPr/>
                    </p:nvPicPr>
                    <p:blipFill>
                      <a:blip r:embed="rId11"/>
                      <a:stretch>
                        <a:fillRect/>
                      </a:stretch>
                    </p:blipFill>
                    <p:spPr>
                      <a:xfrm>
                        <a:off x="2431267" y="4634798"/>
                        <a:ext cx="804863" cy="57467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4978833" y="4674812"/>
          <a:ext cx="1275171" cy="491332"/>
        </p:xfrm>
        <a:graphic>
          <a:graphicData uri="http://schemas.openxmlformats.org/presentationml/2006/ole">
            <mc:AlternateContent xmlns:mc="http://schemas.openxmlformats.org/markup-compatibility/2006">
              <mc:Choice xmlns:v="urn:schemas-microsoft-com:vml" Requires="v">
                <p:oleObj spid="_x0000_s6735" name="Equation" r:id="rId12" imgW="1059180" imgH="408305" progId="Equation.DSMT4">
                  <p:embed/>
                </p:oleObj>
              </mc:Choice>
              <mc:Fallback>
                <p:oleObj name="Equation" r:id="rId12" imgW="1059180" imgH="408305" progId="Equation.DSMT4">
                  <p:embed/>
                  <p:pic>
                    <p:nvPicPr>
                      <p:cNvPr id="0" name="图片 6734"/>
                      <p:cNvPicPr/>
                      <p:nvPr/>
                    </p:nvPicPr>
                    <p:blipFill>
                      <a:blip r:embed="rId13"/>
                      <a:stretch>
                        <a:fillRect/>
                      </a:stretch>
                    </p:blipFill>
                    <p:spPr>
                      <a:xfrm>
                        <a:off x="4978833" y="4674812"/>
                        <a:ext cx="1275171" cy="491332"/>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7061789" y="4589881"/>
          <a:ext cx="482600" cy="576263"/>
        </p:xfrm>
        <a:graphic>
          <a:graphicData uri="http://schemas.openxmlformats.org/presentationml/2006/ole">
            <mc:AlternateContent xmlns:mc="http://schemas.openxmlformats.org/markup-compatibility/2006">
              <mc:Choice xmlns:v="urn:schemas-microsoft-com:vml" Requires="v">
                <p:oleObj spid="_x0000_s6736" name="Equation" r:id="rId14" imgW="483235" imgH="575945" progId="Equation.DSMT4">
                  <p:embed/>
                </p:oleObj>
              </mc:Choice>
              <mc:Fallback>
                <p:oleObj name="Equation" r:id="rId14" imgW="483235" imgH="575945" progId="Equation.DSMT4">
                  <p:embed/>
                  <p:pic>
                    <p:nvPicPr>
                      <p:cNvPr id="0" name="图片 6735"/>
                      <p:cNvPicPr/>
                      <p:nvPr/>
                    </p:nvPicPr>
                    <p:blipFill>
                      <a:blip r:embed="rId15"/>
                      <a:stretch>
                        <a:fillRect/>
                      </a:stretch>
                    </p:blipFill>
                    <p:spPr>
                      <a:xfrm>
                        <a:off x="7061789" y="4589881"/>
                        <a:ext cx="482600" cy="576263"/>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7996707" y="4653146"/>
          <a:ext cx="1070268" cy="491333"/>
        </p:xfrm>
        <a:graphic>
          <a:graphicData uri="http://schemas.openxmlformats.org/presentationml/2006/ole">
            <mc:AlternateContent xmlns:mc="http://schemas.openxmlformats.org/markup-compatibility/2006">
              <mc:Choice xmlns:v="urn:schemas-microsoft-com:vml" Requires="v">
                <p:oleObj spid="_x0000_s6737" name="Equation" r:id="rId16" imgW="891540" imgH="410210" progId="Equation.DSMT4">
                  <p:embed/>
                </p:oleObj>
              </mc:Choice>
              <mc:Fallback>
                <p:oleObj name="Equation" r:id="rId16" imgW="891540" imgH="410210" progId="Equation.DSMT4">
                  <p:embed/>
                  <p:pic>
                    <p:nvPicPr>
                      <p:cNvPr id="0" name="图片 6736"/>
                      <p:cNvPicPr/>
                      <p:nvPr/>
                    </p:nvPicPr>
                    <p:blipFill>
                      <a:blip r:embed="rId17"/>
                      <a:stretch>
                        <a:fillRect/>
                      </a:stretch>
                    </p:blipFill>
                    <p:spPr>
                      <a:xfrm>
                        <a:off x="7996707" y="4653146"/>
                        <a:ext cx="1070268" cy="491333"/>
                      </a:xfrm>
                      <a:prstGeom prst="rect">
                        <a:avLst/>
                      </a:prstGeom>
                    </p:spPr>
                  </p:pic>
                </p:oleObj>
              </mc:Fallback>
            </mc:AlternateContent>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61962" y="1143445"/>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6.0 </a:t>
            </a:r>
            <a:r>
              <a:rPr lang="zh-CN" altLang="en-US" sz="2400" dirty="0">
                <a:latin typeface="微软雅黑" panose="020B0503020204020204" pitchFamily="34" charset="-122"/>
                <a:ea typeface="微软雅黑" panose="020B0503020204020204" pitchFamily="34" charset="-122"/>
              </a:rPr>
              <a:t>噪声概述</a:t>
            </a:r>
            <a:endParaRPr lang="en-US" altLang="zh-CN" sz="2400" dirty="0">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6.1 </a:t>
            </a:r>
            <a:r>
              <a:rPr lang="zh-CN" altLang="en-US" sz="2400" dirty="0">
                <a:solidFill>
                  <a:prstClr val="black"/>
                </a:solidFill>
                <a:latin typeface="微软雅黑" panose="020B0503020204020204" pitchFamily="34" charset="-122"/>
                <a:ea typeface="微软雅黑" panose="020B0503020204020204" pitchFamily="34" charset="-122"/>
              </a:rPr>
              <a:t>噪声的基本概念</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6.2 </a:t>
            </a:r>
            <a:r>
              <a:rPr lang="zh-CN" altLang="en-US" sz="2400" dirty="0">
                <a:solidFill>
                  <a:srgbClr val="FF0000"/>
                </a:solidFill>
                <a:latin typeface="微软雅黑" panose="020B0503020204020204" pitchFamily="34" charset="-122"/>
                <a:ea typeface="微软雅黑" panose="020B0503020204020204" pitchFamily="34" charset="-122"/>
              </a:rPr>
              <a:t>声学中噪声的描述</a:t>
            </a:r>
            <a:endParaRPr lang="en-US" altLang="zh-CN" sz="2400" dirty="0">
              <a:solidFill>
                <a:srgbClr val="FF0000"/>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6.3 </a:t>
            </a:r>
            <a:r>
              <a:rPr lang="zh-CN" altLang="en-US" sz="2400" dirty="0">
                <a:solidFill>
                  <a:prstClr val="black"/>
                </a:solidFill>
                <a:latin typeface="微软雅黑" panose="020B0503020204020204" pitchFamily="34" charset="-122"/>
                <a:ea typeface="微软雅黑" panose="020B0503020204020204" pitchFamily="34" charset="-122"/>
              </a:rPr>
              <a:t>海洋环境噪声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6.4 </a:t>
            </a:r>
            <a:r>
              <a:rPr lang="zh-CN" altLang="en-US" sz="2400" dirty="0">
                <a:solidFill>
                  <a:prstClr val="black"/>
                </a:solidFill>
                <a:latin typeface="微软雅黑" panose="020B0503020204020204" pitchFamily="34" charset="-122"/>
                <a:ea typeface="微软雅黑" panose="020B0503020204020204" pitchFamily="34" charset="-122"/>
              </a:rPr>
              <a:t>舰船和鱼雷辐射噪声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6.5 </a:t>
            </a:r>
            <a:r>
              <a:rPr lang="zh-CN" altLang="en-US" sz="2400" dirty="0">
                <a:solidFill>
                  <a:prstClr val="black"/>
                </a:solidFill>
                <a:latin typeface="微软雅黑" panose="020B0503020204020204" pitchFamily="34" charset="-122"/>
                <a:ea typeface="微软雅黑" panose="020B0503020204020204" pitchFamily="34" charset="-122"/>
              </a:rPr>
              <a:t>舰船和鱼雷目标自噪声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6.6 LFM</a:t>
            </a:r>
            <a:r>
              <a:rPr lang="zh-CN" altLang="en-US" sz="2400" dirty="0">
                <a:solidFill>
                  <a:prstClr val="black"/>
                </a:solidFill>
                <a:latin typeface="微软雅黑" panose="020B0503020204020204" pitchFamily="34" charset="-122"/>
                <a:ea typeface="微软雅黑" panose="020B0503020204020204" pitchFamily="34" charset="-122"/>
              </a:rPr>
              <a:t>脉冲声呐目标检测</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750024" y="1262073"/>
            <a:ext cx="2529860"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1</a:t>
            </a:r>
            <a:r>
              <a:rPr lang="zh-CN" altLang="en-US" sz="2800" b="1" dirty="0">
                <a:solidFill>
                  <a:srgbClr val="0033CC"/>
                </a:solidFill>
                <a:latin typeface="黑体" panose="02010609060101010101" pitchFamily="49" charset="-122"/>
                <a:ea typeface="黑体" panose="02010609060101010101" pitchFamily="49" charset="-122"/>
              </a:rPr>
              <a:t>、噪声描述：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928880" y="2072070"/>
            <a:ext cx="10044444"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20000"/>
              </a:lnSpc>
              <a:spcBef>
                <a:spcPct val="20000"/>
              </a:spcBef>
              <a:defRPr/>
            </a:pPr>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如果假设噪声的平均值为零，介质阻抗为单位值，则它的方差便等于平均声强： </a:t>
            </a:r>
            <a:endParaRPr lang="zh-CN" altLang="en-US" sz="2400" dirty="0">
              <a:latin typeface="宋体" pitchFamily="2" charset="-122"/>
              <a:ea typeface="宋体" pitchFamily="2" charset="-122"/>
            </a:endParaRPr>
          </a:p>
        </p:txBody>
      </p:sp>
      <p:graphicFrame>
        <p:nvGraphicFramePr>
          <p:cNvPr id="2" name="对象 1"/>
          <p:cNvGraphicFramePr>
            <a:graphicFrameLocks noChangeAspect="1"/>
          </p:cNvGraphicFramePr>
          <p:nvPr/>
        </p:nvGraphicFramePr>
        <p:xfrm>
          <a:off x="3391153" y="2778312"/>
          <a:ext cx="4580940" cy="1066477"/>
        </p:xfrm>
        <a:graphic>
          <a:graphicData uri="http://schemas.openxmlformats.org/presentationml/2006/ole">
            <mc:AlternateContent xmlns:mc="http://schemas.openxmlformats.org/markup-compatibility/2006">
              <mc:Choice xmlns:v="urn:schemas-microsoft-com:vml" Requires="v">
                <p:oleObj spid="_x0000_s7316" name="Equation" r:id="rId2" imgW="2515870" imgH="585470" progId="Equation.DSMT4">
                  <p:embed/>
                </p:oleObj>
              </mc:Choice>
              <mc:Fallback>
                <p:oleObj name="Equation" r:id="rId2" imgW="2515870" imgH="585470" progId="Equation.DSMT4">
                  <p:embed/>
                  <p:pic>
                    <p:nvPicPr>
                      <p:cNvPr id="0" name="图片 7315"/>
                      <p:cNvPicPr/>
                      <p:nvPr/>
                    </p:nvPicPr>
                    <p:blipFill>
                      <a:blip r:embed="rId3"/>
                      <a:stretch>
                        <a:fillRect/>
                      </a:stretch>
                    </p:blipFill>
                    <p:spPr>
                      <a:xfrm>
                        <a:off x="3391153" y="2778312"/>
                        <a:ext cx="4580940" cy="1066477"/>
                      </a:xfrm>
                      <a:prstGeom prst="rect">
                        <a:avLst/>
                      </a:prstGeom>
                    </p:spPr>
                  </p:pic>
                </p:oleObj>
              </mc:Fallback>
            </mc:AlternateContent>
          </a:graphicData>
        </a:graphic>
      </p:graphicFrame>
      <p:sp>
        <p:nvSpPr>
          <p:cNvPr id="7" name="Rectangle 10"/>
          <p:cNvSpPr>
            <a:spLocks noChangeArrowheads="1"/>
          </p:cNvSpPr>
          <p:nvPr/>
        </p:nvSpPr>
        <p:spPr bwMode="auto">
          <a:xfrm>
            <a:off x="1427421" y="4074362"/>
            <a:ext cx="6032421"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40000"/>
              </a:spcBef>
              <a:buFontTx/>
              <a:buNone/>
              <a:defRPr/>
            </a:pPr>
            <a:r>
              <a:rPr lang="zh-CN" altLang="en-US" sz="2400" dirty="0">
                <a:latin typeface="宋体" pitchFamily="2" charset="-122"/>
              </a:rPr>
              <a:t> 或用时间平均表示（满足遍历性条件）： </a:t>
            </a:r>
            <a:endParaRPr lang="en-US" altLang="zh-CN" sz="2400" dirty="0">
              <a:latin typeface="宋体" pitchFamily="2" charset="-122"/>
            </a:endParaRPr>
          </a:p>
        </p:txBody>
      </p:sp>
      <p:graphicFrame>
        <p:nvGraphicFramePr>
          <p:cNvPr id="8" name="对象 7"/>
          <p:cNvGraphicFramePr>
            <a:graphicFrameLocks noChangeAspect="1"/>
          </p:cNvGraphicFramePr>
          <p:nvPr/>
        </p:nvGraphicFramePr>
        <p:xfrm>
          <a:off x="3391153" y="4765362"/>
          <a:ext cx="4556980" cy="1066477"/>
        </p:xfrm>
        <a:graphic>
          <a:graphicData uri="http://schemas.openxmlformats.org/presentationml/2006/ole">
            <mc:AlternateContent xmlns:mc="http://schemas.openxmlformats.org/markup-compatibility/2006">
              <mc:Choice xmlns:v="urn:schemas-microsoft-com:vml" Requires="v">
                <p:oleObj spid="_x0000_s7317" name="Equation" r:id="rId4" imgW="3031490" imgH="708660" progId="Equation.DSMT4">
                  <p:embed/>
                </p:oleObj>
              </mc:Choice>
              <mc:Fallback>
                <p:oleObj name="Equation" r:id="rId4" imgW="3031490" imgH="708660" progId="Equation.DSMT4">
                  <p:embed/>
                  <p:pic>
                    <p:nvPicPr>
                      <p:cNvPr id="0" name="图片 7316"/>
                      <p:cNvPicPr/>
                      <p:nvPr/>
                    </p:nvPicPr>
                    <p:blipFill>
                      <a:blip r:embed="rId5"/>
                      <a:stretch>
                        <a:fillRect/>
                      </a:stretch>
                    </p:blipFill>
                    <p:spPr>
                      <a:xfrm>
                        <a:off x="3391153" y="4765362"/>
                        <a:ext cx="4556980" cy="1066477"/>
                      </a:xfrm>
                      <a:prstGeom prst="rect">
                        <a:avLst/>
                      </a:prstGeom>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750024" y="1262073"/>
            <a:ext cx="2529860"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1</a:t>
            </a:r>
            <a:r>
              <a:rPr lang="zh-CN" altLang="en-US" sz="2800" b="1" dirty="0">
                <a:solidFill>
                  <a:srgbClr val="0033CC"/>
                </a:solidFill>
                <a:latin typeface="黑体" panose="02010609060101010101" pitchFamily="49" charset="-122"/>
                <a:ea typeface="黑体" panose="02010609060101010101" pitchFamily="49" charset="-122"/>
              </a:rPr>
              <a:t>、噪声描述：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1172720" y="2163531"/>
            <a:ext cx="10044444"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0000"/>
              </a:lnSpc>
              <a:spcBef>
                <a:spcPct val="20000"/>
              </a:spcBef>
              <a:defRPr/>
            </a:pPr>
            <a:r>
              <a:rPr lang="zh-CN" altLang="en-US" sz="2400" b="1" dirty="0">
                <a:latin typeface="宋体" pitchFamily="2" charset="-122"/>
                <a:ea typeface="宋体" pitchFamily="2" charset="-122"/>
                <a:sym typeface="Arial" panose="020B0604020202020204" pitchFamily="34" charset="0"/>
              </a:rPr>
              <a:t>噪声声压有效值：</a:t>
            </a:r>
            <a:r>
              <a:rPr lang="zh-CN" altLang="en-US" sz="2400" dirty="0">
                <a:latin typeface="宋体" pitchFamily="2" charset="-122"/>
                <a:ea typeface="宋体" pitchFamily="2" charset="-122"/>
              </a:rPr>
              <a:t>介质特性阻抗为单位值时平均声强平方根。</a:t>
            </a:r>
            <a:endParaRPr lang="zh-CN" altLang="en-US" sz="2400" dirty="0">
              <a:latin typeface="宋体" pitchFamily="2" charset="-122"/>
              <a:ea typeface="宋体" pitchFamily="2" charset="-122"/>
            </a:endParaRPr>
          </a:p>
        </p:txBody>
      </p:sp>
      <p:sp>
        <p:nvSpPr>
          <p:cNvPr id="9" name="Rectangle 21"/>
          <p:cNvSpPr>
            <a:spLocks noChangeArrowheads="1"/>
          </p:cNvSpPr>
          <p:nvPr/>
        </p:nvSpPr>
        <p:spPr bwMode="auto">
          <a:xfrm>
            <a:off x="1172720" y="3265846"/>
            <a:ext cx="4031873"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40000"/>
              </a:spcBef>
              <a:buNone/>
              <a:defRPr/>
            </a:pPr>
            <a:r>
              <a:rPr lang="zh-CN" altLang="en-US" sz="2400" b="1" dirty="0">
                <a:latin typeface="宋体" pitchFamily="2" charset="-122"/>
              </a:rPr>
              <a:t>噪声声压有效值的表达式： </a:t>
            </a:r>
            <a:endParaRPr lang="en-US" altLang="zh-CN" sz="2400" b="1" dirty="0">
              <a:latin typeface="宋体" pitchFamily="2" charset="-122"/>
            </a:endParaRPr>
          </a:p>
        </p:txBody>
      </p:sp>
      <p:graphicFrame>
        <p:nvGraphicFramePr>
          <p:cNvPr id="11" name="对象 10"/>
          <p:cNvGraphicFramePr>
            <a:graphicFrameLocks noChangeAspect="1"/>
          </p:cNvGraphicFramePr>
          <p:nvPr/>
        </p:nvGraphicFramePr>
        <p:xfrm>
          <a:off x="2855912" y="3919896"/>
          <a:ext cx="5897650" cy="1408394"/>
        </p:xfrm>
        <a:graphic>
          <a:graphicData uri="http://schemas.openxmlformats.org/presentationml/2006/ole">
            <mc:AlternateContent xmlns:mc="http://schemas.openxmlformats.org/markup-compatibility/2006">
              <mc:Choice xmlns:v="urn:schemas-microsoft-com:vml" Requires="v">
                <p:oleObj spid="_x0000_s8267" name="Equation" r:id="rId2" imgW="3402965" imgH="812165" progId="Equation.DSMT4">
                  <p:embed/>
                </p:oleObj>
              </mc:Choice>
              <mc:Fallback>
                <p:oleObj name="Equation" r:id="rId2" imgW="3402965" imgH="812165" progId="Equation.DSMT4">
                  <p:embed/>
                  <p:pic>
                    <p:nvPicPr>
                      <p:cNvPr id="0" name="图片 8266"/>
                      <p:cNvPicPr/>
                      <p:nvPr/>
                    </p:nvPicPr>
                    <p:blipFill>
                      <a:blip r:embed="rId3"/>
                      <a:stretch>
                        <a:fillRect/>
                      </a:stretch>
                    </p:blipFill>
                    <p:spPr>
                      <a:xfrm>
                        <a:off x="2855912" y="3919896"/>
                        <a:ext cx="5897650" cy="1408394"/>
                      </a:xfrm>
                      <a:prstGeom prst="rect">
                        <a:avLst/>
                      </a:prstGeom>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80504" y="1282393"/>
            <a:ext cx="32512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2</a:t>
            </a:r>
            <a:r>
              <a:rPr lang="zh-CN" altLang="en-US" sz="2800" b="1" dirty="0">
                <a:solidFill>
                  <a:srgbClr val="0033CC"/>
                </a:solidFill>
                <a:latin typeface="黑体" panose="02010609060101010101" pitchFamily="49" charset="-122"/>
                <a:ea typeface="黑体" panose="02010609060101010101" pitchFamily="49" charset="-122"/>
              </a:rPr>
              <a:t>、噪声频谱分析：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939040" y="2204171"/>
            <a:ext cx="10044444" cy="2914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20000"/>
              </a:lnSpc>
              <a:spcBef>
                <a:spcPct val="20000"/>
              </a:spcBef>
              <a:defRPr/>
            </a:pPr>
            <a:r>
              <a:rPr lang="zh-CN" altLang="en-US" sz="2400" dirty="0">
                <a:latin typeface="宋体" pitchFamily="2" charset="-122"/>
                <a:ea typeface="宋体" pitchFamily="2" charset="-122"/>
              </a:rPr>
              <a:t>    </a:t>
            </a:r>
            <a:r>
              <a:rPr lang="zh-CN" altLang="en-US" sz="2400" b="1" dirty="0">
                <a:latin typeface="黑体" panose="02010609060101010101" pitchFamily="49" charset="-122"/>
                <a:ea typeface="黑体" panose="02010609060101010101" pitchFamily="49" charset="-122"/>
              </a:rPr>
              <a:t>噪声声压：</a:t>
            </a:r>
            <a:r>
              <a:rPr lang="zh-CN" altLang="en-US" sz="2400" dirty="0">
                <a:latin typeface="宋体" pitchFamily="2" charset="-122"/>
                <a:ea typeface="宋体" pitchFamily="2" charset="-122"/>
              </a:rPr>
              <a:t>是一个随机量，与时间量之间不存在确定关系，分析噪声声压幅值频谱没有意义。</a:t>
            </a:r>
            <a:endParaRPr lang="en-US" altLang="zh-CN" sz="2400" dirty="0">
              <a:latin typeface="宋体" pitchFamily="2" charset="-122"/>
              <a:ea typeface="宋体" pitchFamily="2" charset="-122"/>
            </a:endParaRPr>
          </a:p>
          <a:p>
            <a:pPr algn="l">
              <a:lnSpc>
                <a:spcPct val="120000"/>
              </a:lnSpc>
              <a:spcBef>
                <a:spcPct val="20000"/>
              </a:spcBef>
              <a:defRPr/>
            </a:pPr>
            <a:endParaRPr lang="zh-CN" altLang="en-US" sz="2400" dirty="0">
              <a:latin typeface="宋体" pitchFamily="2" charset="-122"/>
              <a:ea typeface="宋体" pitchFamily="2" charset="-122"/>
            </a:endParaRPr>
          </a:p>
          <a:p>
            <a:pPr algn="l">
              <a:lnSpc>
                <a:spcPct val="120000"/>
              </a:lnSpc>
              <a:spcBef>
                <a:spcPct val="20000"/>
              </a:spcBef>
              <a:defRPr/>
            </a:pPr>
            <a:r>
              <a:rPr lang="zh-CN" altLang="en-US" sz="2400" dirty="0">
                <a:latin typeface="宋体" pitchFamily="2" charset="-122"/>
                <a:ea typeface="宋体" pitchFamily="2" charset="-122"/>
              </a:rPr>
              <a:t>    </a:t>
            </a:r>
            <a:r>
              <a:rPr lang="zh-CN" altLang="en-US" sz="2400" b="1" dirty="0">
                <a:latin typeface="黑体" panose="02010609060101010101" pitchFamily="49" charset="-122"/>
                <a:ea typeface="黑体" panose="02010609060101010101" pitchFamily="49" charset="-122"/>
              </a:rPr>
              <a:t>功率谱函数：</a:t>
            </a:r>
            <a:r>
              <a:rPr lang="zh-CN" altLang="en-US" sz="2400" dirty="0">
                <a:latin typeface="宋体" pitchFamily="2" charset="-122"/>
                <a:ea typeface="宋体" pitchFamily="2" charset="-122"/>
              </a:rPr>
              <a:t>是一个确定的统计量，反映了该随机过程的各频率分量的平均强度。</a:t>
            </a:r>
            <a:endParaRPr lang="zh-CN" altLang="en-US" sz="2400" dirty="0">
              <a:latin typeface="宋体" pitchFamily="2" charset="-122"/>
              <a:ea typeface="宋体" pitchFamily="2" charset="-122"/>
            </a:endParaRPr>
          </a:p>
          <a:p>
            <a:pPr algn="l">
              <a:lnSpc>
                <a:spcPct val="120000"/>
              </a:lnSpc>
              <a:spcBef>
                <a:spcPct val="20000"/>
              </a:spcBef>
              <a:defRPr/>
            </a:pPr>
            <a:endParaRPr lang="zh-CN" altLang="en-US" sz="2400" dirty="0">
              <a:latin typeface="宋体" pitchFamily="2" charset="-122"/>
              <a:ea typeface="宋体"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80504" y="1282393"/>
            <a:ext cx="32512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2</a:t>
            </a:r>
            <a:r>
              <a:rPr lang="zh-CN" altLang="en-US" sz="2800" b="1" dirty="0">
                <a:solidFill>
                  <a:srgbClr val="0033CC"/>
                </a:solidFill>
                <a:latin typeface="黑体" panose="02010609060101010101" pitchFamily="49" charset="-122"/>
                <a:ea typeface="黑体" panose="02010609060101010101" pitchFamily="49" charset="-122"/>
              </a:rPr>
              <a:t>、噪声频谱分析：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939040" y="2204171"/>
            <a:ext cx="10044444" cy="3468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l">
              <a:lnSpc>
                <a:spcPct val="150000"/>
              </a:lnSpc>
              <a:spcBef>
                <a:spcPct val="20000"/>
              </a:spcBef>
              <a:defRPr/>
            </a:pPr>
            <a:r>
              <a:rPr lang="zh-CN" altLang="en-US" sz="2400" b="1" dirty="0">
                <a:latin typeface="黑体" panose="02010609060101010101" pitchFamily="49" charset="-122"/>
                <a:ea typeface="黑体" panose="02010609060101010101" pitchFamily="49" charset="-122"/>
              </a:rPr>
              <a:t>根据信号频谱曲线形状划分：</a:t>
            </a:r>
            <a:endParaRPr lang="zh-CN" altLang="en-US" sz="2400" b="1" dirty="0">
              <a:latin typeface="黑体" panose="02010609060101010101" pitchFamily="49" charset="-122"/>
              <a:ea typeface="黑体" panose="02010609060101010101" pitchFamily="49" charset="-122"/>
            </a:endParaRPr>
          </a:p>
          <a:p>
            <a:pPr algn="l">
              <a:lnSpc>
                <a:spcPct val="150000"/>
              </a:lnSpc>
              <a:spcBef>
                <a:spcPct val="20000"/>
              </a:spcBef>
              <a:defRPr/>
            </a:pP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1</a:t>
            </a:r>
            <a:r>
              <a:rPr lang="zh-CN" altLang="en-US" sz="2400" b="1" dirty="0">
                <a:latin typeface="黑体" panose="02010609060101010101" pitchFamily="49" charset="-122"/>
                <a:ea typeface="黑体" panose="02010609060101010101" pitchFamily="49" charset="-122"/>
              </a:rPr>
              <a:t>）线谱：</a:t>
            </a:r>
            <a:r>
              <a:rPr lang="zh-CN" altLang="en-US" sz="2400" dirty="0">
                <a:latin typeface="宋体" pitchFamily="2" charset="-122"/>
                <a:ea typeface="宋体" pitchFamily="2" charset="-122"/>
              </a:rPr>
              <a:t>数学上能够用傅氏级数来表示，例如水声中周期、准周期信号频谱就是线谱信号；</a:t>
            </a:r>
            <a:endParaRPr lang="zh-CN" altLang="en-US" sz="2400" dirty="0">
              <a:latin typeface="宋体" pitchFamily="2" charset="-122"/>
              <a:ea typeface="宋体" pitchFamily="2" charset="-122"/>
            </a:endParaRPr>
          </a:p>
          <a:p>
            <a:pPr algn="l">
              <a:lnSpc>
                <a:spcPct val="150000"/>
              </a:lnSpc>
              <a:spcBef>
                <a:spcPct val="20000"/>
              </a:spcBef>
              <a:defRPr/>
            </a:pPr>
            <a:r>
              <a:rPr lang="zh-CN" altLang="en-US" sz="2400" b="1" dirty="0">
                <a:latin typeface="黑体" panose="02010609060101010101" pitchFamily="49" charset="-122"/>
                <a:ea typeface="黑体" panose="02010609060101010101" pitchFamily="49" charset="-122"/>
              </a:rPr>
              <a:t>（</a:t>
            </a:r>
            <a:r>
              <a:rPr lang="en-US" altLang="zh-CN" sz="2400" b="1" dirty="0">
                <a:latin typeface="黑体" panose="02010609060101010101" pitchFamily="49" charset="-122"/>
                <a:ea typeface="黑体" panose="02010609060101010101" pitchFamily="49" charset="-122"/>
              </a:rPr>
              <a:t>2</a:t>
            </a:r>
            <a:r>
              <a:rPr lang="zh-CN" altLang="en-US" sz="2400" b="1" dirty="0">
                <a:latin typeface="黑体" panose="02010609060101010101" pitchFamily="49" charset="-122"/>
                <a:ea typeface="黑体" panose="02010609060101010101" pitchFamily="49" charset="-122"/>
              </a:rPr>
              <a:t>）连续谱：</a:t>
            </a:r>
            <a:r>
              <a:rPr lang="zh-CN" altLang="en-US" sz="2400" dirty="0">
                <a:latin typeface="宋体" pitchFamily="2" charset="-122"/>
                <a:ea typeface="宋体" pitchFamily="2" charset="-122"/>
              </a:rPr>
              <a:t>频谱分析用傅氏变换来表示，例如水声中瞬态非周期信号频谱就是连续谱。</a:t>
            </a:r>
            <a:endParaRPr lang="zh-CN" altLang="en-US" sz="2400" dirty="0">
              <a:latin typeface="宋体" pitchFamily="2" charset="-122"/>
              <a:ea typeface="宋体" pitchFamily="2" charset="-122"/>
            </a:endParaRPr>
          </a:p>
          <a:p>
            <a:pPr algn="l">
              <a:lnSpc>
                <a:spcPct val="120000"/>
              </a:lnSpc>
              <a:spcBef>
                <a:spcPct val="20000"/>
              </a:spcBef>
              <a:defRPr/>
            </a:pPr>
            <a:endParaRPr lang="zh-CN" altLang="en-US" sz="2400" dirty="0">
              <a:latin typeface="宋体" pitchFamily="2" charset="-122"/>
              <a:ea typeface="宋体"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80504" y="1282393"/>
            <a:ext cx="32512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2</a:t>
            </a:r>
            <a:r>
              <a:rPr lang="zh-CN" altLang="en-US" sz="2800" b="1" dirty="0">
                <a:solidFill>
                  <a:srgbClr val="0033CC"/>
                </a:solidFill>
                <a:latin typeface="黑体" panose="02010609060101010101" pitchFamily="49" charset="-122"/>
                <a:ea typeface="黑体" panose="02010609060101010101" pitchFamily="49" charset="-122"/>
              </a:rPr>
              <a:t>、噪声频谱分析：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graphicFrame>
        <p:nvGraphicFramePr>
          <p:cNvPr id="6" name="Object 4"/>
          <p:cNvGraphicFramePr>
            <a:graphicFrameLocks noChangeAspect="1"/>
          </p:cNvGraphicFramePr>
          <p:nvPr/>
        </p:nvGraphicFramePr>
        <p:xfrm>
          <a:off x="1562823" y="2073909"/>
          <a:ext cx="4533176" cy="3418833"/>
        </p:xfrm>
        <a:graphic>
          <a:graphicData uri="http://schemas.openxmlformats.org/presentationml/2006/ole">
            <mc:AlternateContent xmlns:mc="http://schemas.openxmlformats.org/markup-compatibility/2006">
              <mc:Choice xmlns:v="urn:schemas-microsoft-com:vml" Requires="v">
                <p:oleObj spid="_x0000_s9360" name="" r:id="rId2" imgW="4219575" imgH="3181350" progId="Paint.Picture">
                  <p:embed/>
                </p:oleObj>
              </mc:Choice>
              <mc:Fallback>
                <p:oleObj name="" r:id="rId2" imgW="4219575" imgH="3181350" progId="Paint.Picture">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2823" y="2073909"/>
                        <a:ext cx="4533176" cy="3418833"/>
                      </a:xfrm>
                      <a:prstGeom prst="rect">
                        <a:avLst/>
                      </a:prstGeom>
                      <a:noFill/>
                      <a:ln>
                        <a:noFill/>
                      </a:ln>
                      <a:effectLst/>
                    </p:spPr>
                  </p:pic>
                </p:oleObj>
              </mc:Fallback>
            </mc:AlternateContent>
          </a:graphicData>
        </a:graphic>
      </p:graphicFrame>
      <p:graphicFrame>
        <p:nvGraphicFramePr>
          <p:cNvPr id="8" name="Object 5"/>
          <p:cNvGraphicFramePr>
            <a:graphicFrameLocks noChangeAspect="1"/>
          </p:cNvGraphicFramePr>
          <p:nvPr/>
        </p:nvGraphicFramePr>
        <p:xfrm>
          <a:off x="6573796" y="2073909"/>
          <a:ext cx="4277084" cy="3494965"/>
        </p:xfrm>
        <a:graphic>
          <a:graphicData uri="http://schemas.openxmlformats.org/presentationml/2006/ole">
            <mc:AlternateContent xmlns:mc="http://schemas.openxmlformats.org/markup-compatibility/2006">
              <mc:Choice xmlns:v="urn:schemas-microsoft-com:vml" Requires="v">
                <p:oleObj spid="_x0000_s9361" name="" r:id="rId4" imgW="3686175" imgH="3009900" progId="Paint.Picture">
                  <p:embed/>
                </p:oleObj>
              </mc:Choice>
              <mc:Fallback>
                <p:oleObj name="" r:id="rId4" imgW="3686175" imgH="3009900" progId="Paint.Picture">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73796" y="2073909"/>
                        <a:ext cx="4277084" cy="3494965"/>
                      </a:xfrm>
                      <a:prstGeom prst="rect">
                        <a:avLst/>
                      </a:prstGeom>
                      <a:noFill/>
                      <a:ln>
                        <a:noFill/>
                      </a:ln>
                      <a:effec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80504" y="1282393"/>
            <a:ext cx="32512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2</a:t>
            </a:r>
            <a:r>
              <a:rPr lang="zh-CN" altLang="en-US" sz="2800" b="1" dirty="0">
                <a:solidFill>
                  <a:srgbClr val="0033CC"/>
                </a:solidFill>
                <a:latin typeface="黑体" panose="02010609060101010101" pitchFamily="49" charset="-122"/>
                <a:ea typeface="黑体" panose="02010609060101010101" pitchFamily="49" charset="-122"/>
              </a:rPr>
              <a:t>、噪声频谱分析：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1847315" y="2342778"/>
            <a:ext cx="3251211" cy="523220"/>
          </a:xfrm>
          <a:prstGeom prst="rect">
            <a:avLst/>
          </a:prstGeom>
          <a:noFill/>
        </p:spPr>
        <p:txBody>
          <a:bodyPr wrap="square">
            <a:spAutoFit/>
          </a:bodyPr>
          <a:lstStyle/>
          <a:p>
            <a:r>
              <a:rPr lang="zh-CN" altLang="en-US" sz="2800" b="1" dirty="0">
                <a:latin typeface="宋体" pitchFamily="2" charset="-122"/>
                <a:ea typeface="宋体" pitchFamily="2" charset="-122"/>
              </a:rPr>
              <a:t>声强平均频谱密度：</a:t>
            </a:r>
            <a:endParaRPr lang="zh-CN" altLang="en-US" sz="2800" dirty="0">
              <a:latin typeface="宋体" pitchFamily="2" charset="-122"/>
              <a:ea typeface="宋体" pitchFamily="2" charset="-122"/>
            </a:endParaRPr>
          </a:p>
        </p:txBody>
      </p:sp>
      <p:graphicFrame>
        <p:nvGraphicFramePr>
          <p:cNvPr id="7" name="对象 6"/>
          <p:cNvGraphicFramePr>
            <a:graphicFrameLocks noChangeAspect="1"/>
          </p:cNvGraphicFramePr>
          <p:nvPr/>
        </p:nvGraphicFramePr>
        <p:xfrm>
          <a:off x="5508868" y="2058166"/>
          <a:ext cx="1473835" cy="1130437"/>
        </p:xfrm>
        <a:graphic>
          <a:graphicData uri="http://schemas.openxmlformats.org/presentationml/2006/ole">
            <mc:AlternateContent xmlns:mc="http://schemas.openxmlformats.org/markup-compatibility/2006">
              <mc:Choice xmlns:v="urn:schemas-microsoft-com:vml" Requires="v">
                <p:oleObj spid="_x0000_s10458" name="Equation" r:id="rId2" imgW="1097280" imgH="841375" progId="Equation.DSMT4">
                  <p:embed/>
                </p:oleObj>
              </mc:Choice>
              <mc:Fallback>
                <p:oleObj name="Equation" r:id="rId2" imgW="1097280" imgH="841375" progId="Equation.DSMT4">
                  <p:embed/>
                  <p:pic>
                    <p:nvPicPr>
                      <p:cNvPr id="0" name="图片 10457"/>
                      <p:cNvPicPr/>
                      <p:nvPr/>
                    </p:nvPicPr>
                    <p:blipFill>
                      <a:blip r:embed="rId3"/>
                      <a:stretch>
                        <a:fillRect/>
                      </a:stretch>
                    </p:blipFill>
                    <p:spPr>
                      <a:xfrm>
                        <a:off x="5508868" y="2058166"/>
                        <a:ext cx="1473835" cy="1130437"/>
                      </a:xfrm>
                      <a:prstGeom prst="rect">
                        <a:avLst/>
                      </a:prstGeom>
                    </p:spPr>
                  </p:pic>
                </p:oleObj>
              </mc:Fallback>
            </mc:AlternateContent>
          </a:graphicData>
        </a:graphic>
      </p:graphicFrame>
      <p:sp>
        <p:nvSpPr>
          <p:cNvPr id="8" name="文本框 7"/>
          <p:cNvSpPr txBox="1"/>
          <p:nvPr/>
        </p:nvSpPr>
        <p:spPr>
          <a:xfrm>
            <a:off x="1847315" y="3331834"/>
            <a:ext cx="3251211" cy="523220"/>
          </a:xfrm>
          <a:prstGeom prst="rect">
            <a:avLst/>
          </a:prstGeom>
          <a:noFill/>
        </p:spPr>
        <p:txBody>
          <a:bodyPr wrap="square">
            <a:spAutoFit/>
          </a:bodyPr>
          <a:lstStyle/>
          <a:p>
            <a:r>
              <a:rPr lang="zh-CN" altLang="en-US" sz="2800" b="1" dirty="0">
                <a:latin typeface="宋体" pitchFamily="2" charset="-122"/>
                <a:ea typeface="宋体" pitchFamily="2" charset="-122"/>
              </a:rPr>
              <a:t>声强频谱密度函数： </a:t>
            </a:r>
            <a:endParaRPr lang="zh-CN" altLang="en-US" sz="2800" b="1" dirty="0">
              <a:latin typeface="宋体" pitchFamily="2" charset="-122"/>
              <a:ea typeface="宋体" pitchFamily="2" charset="-122"/>
            </a:endParaRPr>
          </a:p>
        </p:txBody>
      </p:sp>
      <p:graphicFrame>
        <p:nvGraphicFramePr>
          <p:cNvPr id="9" name="对象 8"/>
          <p:cNvGraphicFramePr>
            <a:graphicFrameLocks noChangeAspect="1"/>
          </p:cNvGraphicFramePr>
          <p:nvPr/>
        </p:nvGraphicFramePr>
        <p:xfrm>
          <a:off x="5465613" y="3199723"/>
          <a:ext cx="2993535" cy="1021080"/>
        </p:xfrm>
        <a:graphic>
          <a:graphicData uri="http://schemas.openxmlformats.org/presentationml/2006/ole">
            <mc:AlternateContent xmlns:mc="http://schemas.openxmlformats.org/markup-compatibility/2006">
              <mc:Choice xmlns:v="urn:schemas-microsoft-com:vml" Requires="v">
                <p:oleObj spid="_x0000_s10459" name="Equation" r:id="rId4" imgW="2522220" imgH="861060" progId="Equation.DSMT4">
                  <p:embed/>
                </p:oleObj>
              </mc:Choice>
              <mc:Fallback>
                <p:oleObj name="Equation" r:id="rId4" imgW="2522220" imgH="861060" progId="Equation.DSMT4">
                  <p:embed/>
                  <p:pic>
                    <p:nvPicPr>
                      <p:cNvPr id="0" name="图片 10458"/>
                      <p:cNvPicPr/>
                      <p:nvPr/>
                    </p:nvPicPr>
                    <p:blipFill>
                      <a:blip r:embed="rId5"/>
                      <a:stretch>
                        <a:fillRect/>
                      </a:stretch>
                    </p:blipFill>
                    <p:spPr>
                      <a:xfrm>
                        <a:off x="5465613" y="3199723"/>
                        <a:ext cx="2993535" cy="1021080"/>
                      </a:xfrm>
                      <a:prstGeom prst="rect">
                        <a:avLst/>
                      </a:prstGeom>
                    </p:spPr>
                  </p:pic>
                </p:oleObj>
              </mc:Fallback>
            </mc:AlternateContent>
          </a:graphicData>
        </a:graphic>
      </p:graphicFrame>
      <p:sp>
        <p:nvSpPr>
          <p:cNvPr id="11" name="文本框 10"/>
          <p:cNvSpPr txBox="1"/>
          <p:nvPr/>
        </p:nvSpPr>
        <p:spPr>
          <a:xfrm>
            <a:off x="1973177" y="4400929"/>
            <a:ext cx="3251211" cy="523220"/>
          </a:xfrm>
          <a:prstGeom prst="rect">
            <a:avLst/>
          </a:prstGeom>
          <a:noFill/>
        </p:spPr>
        <p:txBody>
          <a:bodyPr wrap="square">
            <a:spAutoFit/>
          </a:bodyPr>
          <a:lstStyle/>
          <a:p>
            <a:r>
              <a:rPr lang="zh-CN" altLang="en-US" sz="2800" b="1" dirty="0">
                <a:latin typeface="宋体" pitchFamily="2" charset="-122"/>
                <a:ea typeface="宋体" pitchFamily="2" charset="-122"/>
              </a:rPr>
              <a:t>带宽内的总声强： </a:t>
            </a:r>
            <a:endParaRPr lang="zh-CN" altLang="en-US" sz="2800" b="1" dirty="0">
              <a:latin typeface="宋体" pitchFamily="2" charset="-122"/>
              <a:ea typeface="宋体" pitchFamily="2" charset="-122"/>
            </a:endParaRPr>
          </a:p>
        </p:txBody>
      </p:sp>
      <p:graphicFrame>
        <p:nvGraphicFramePr>
          <p:cNvPr id="12" name="对象 11"/>
          <p:cNvGraphicFramePr>
            <a:graphicFrameLocks noChangeAspect="1"/>
          </p:cNvGraphicFramePr>
          <p:nvPr/>
        </p:nvGraphicFramePr>
        <p:xfrm>
          <a:off x="5508868" y="4274614"/>
          <a:ext cx="2033588" cy="885116"/>
        </p:xfrm>
        <a:graphic>
          <a:graphicData uri="http://schemas.openxmlformats.org/presentationml/2006/ole">
            <mc:AlternateContent xmlns:mc="http://schemas.openxmlformats.org/markup-compatibility/2006">
              <mc:Choice xmlns:v="urn:schemas-microsoft-com:vml" Requires="v">
                <p:oleObj spid="_x0000_s10460" name="Equation" r:id="rId6" imgW="1630680" imgH="708660" progId="Equation.DSMT4">
                  <p:embed/>
                </p:oleObj>
              </mc:Choice>
              <mc:Fallback>
                <p:oleObj name="Equation" r:id="rId6" imgW="1630680" imgH="708660" progId="Equation.DSMT4">
                  <p:embed/>
                  <p:pic>
                    <p:nvPicPr>
                      <p:cNvPr id="0" name="图片 10459"/>
                      <p:cNvPicPr/>
                      <p:nvPr/>
                    </p:nvPicPr>
                    <p:blipFill>
                      <a:blip r:embed="rId7"/>
                      <a:stretch>
                        <a:fillRect/>
                      </a:stretch>
                    </p:blipFill>
                    <p:spPr>
                      <a:xfrm>
                        <a:off x="5508868" y="4274614"/>
                        <a:ext cx="2033588" cy="885116"/>
                      </a:xfrm>
                      <a:prstGeom prst="rect">
                        <a:avLst/>
                      </a:prstGeom>
                    </p:spPr>
                  </p:pic>
                </p:oleObj>
              </mc:Fallback>
            </mc:AlternateContent>
          </a:graphicData>
        </a:graphic>
      </p:graphicFrame>
      <p:sp>
        <p:nvSpPr>
          <p:cNvPr id="14" name="文本框 13"/>
          <p:cNvSpPr txBox="1"/>
          <p:nvPr/>
        </p:nvSpPr>
        <p:spPr>
          <a:xfrm>
            <a:off x="1561318" y="5575607"/>
            <a:ext cx="6941085" cy="461665"/>
          </a:xfrm>
          <a:prstGeom prst="rect">
            <a:avLst/>
          </a:prstGeom>
          <a:noFill/>
        </p:spPr>
        <p:txBody>
          <a:bodyPr wrap="square">
            <a:spAutoFit/>
          </a:bodyPr>
          <a:lstStyle/>
          <a:p>
            <a:r>
              <a:rPr lang="zh-CN" altLang="en-US" sz="2400" b="1" dirty="0">
                <a:solidFill>
                  <a:srgbClr val="FF0000"/>
                </a:solidFill>
                <a:latin typeface="楷体" panose="02010609060101010101" pitchFamily="49" charset="-122"/>
                <a:ea typeface="楷体" panose="02010609060101010101" pitchFamily="49" charset="-122"/>
              </a:rPr>
              <a:t>注意：</a:t>
            </a:r>
            <a:r>
              <a:rPr lang="zh-CN" altLang="en-US" sz="2400" dirty="0">
                <a:latin typeface="楷体" panose="02010609060101010101" pitchFamily="49" charset="-122"/>
                <a:ea typeface="楷体" panose="02010609060101010101" pitchFamily="49" charset="-122"/>
              </a:rPr>
              <a:t>连续谱某确定频率分量上的声强贡献无限小。</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625840" y="6180488"/>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80504" y="1282393"/>
            <a:ext cx="32512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2</a:t>
            </a:r>
            <a:r>
              <a:rPr lang="zh-CN" altLang="en-US" sz="2800" b="1" dirty="0">
                <a:solidFill>
                  <a:srgbClr val="0033CC"/>
                </a:solidFill>
                <a:latin typeface="黑体" panose="02010609060101010101" pitchFamily="49" charset="-122"/>
                <a:ea typeface="黑体" panose="02010609060101010101" pitchFamily="49" charset="-122"/>
              </a:rPr>
              <a:t>、噪声频谱分析：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1847315" y="2342778"/>
            <a:ext cx="3251211" cy="523220"/>
          </a:xfrm>
          <a:prstGeom prst="rect">
            <a:avLst/>
          </a:prstGeom>
          <a:noFill/>
        </p:spPr>
        <p:txBody>
          <a:bodyPr wrap="square">
            <a:spAutoFit/>
          </a:bodyPr>
          <a:lstStyle/>
          <a:p>
            <a:r>
              <a:rPr lang="zh-CN" altLang="en-US" sz="2800" b="1" dirty="0">
                <a:latin typeface="宋体" pitchFamily="2" charset="-122"/>
                <a:ea typeface="宋体" pitchFamily="2" charset="-122"/>
              </a:rPr>
              <a:t>海洋环境噪声级：</a:t>
            </a:r>
            <a:endParaRPr lang="zh-CN" altLang="en-US" sz="2800" dirty="0">
              <a:latin typeface="宋体" pitchFamily="2" charset="-122"/>
              <a:ea typeface="宋体" pitchFamily="2" charset="-122"/>
            </a:endParaRPr>
          </a:p>
        </p:txBody>
      </p:sp>
      <p:graphicFrame>
        <p:nvGraphicFramePr>
          <p:cNvPr id="2" name="对象 1"/>
          <p:cNvGraphicFramePr>
            <a:graphicFrameLocks noChangeAspect="1"/>
          </p:cNvGraphicFramePr>
          <p:nvPr/>
        </p:nvGraphicFramePr>
        <p:xfrm>
          <a:off x="4973638" y="2183292"/>
          <a:ext cx="2119838" cy="1050231"/>
        </p:xfrm>
        <a:graphic>
          <a:graphicData uri="http://schemas.openxmlformats.org/presentationml/2006/ole">
            <mc:AlternateContent xmlns:mc="http://schemas.openxmlformats.org/markup-compatibility/2006">
              <mc:Choice xmlns:v="urn:schemas-microsoft-com:vml" Requires="v">
                <p:oleObj spid="_x0000_s11621" name="Equation" r:id="rId2" imgW="1737360" imgH="861060" progId="Equation.DSMT4">
                  <p:embed/>
                </p:oleObj>
              </mc:Choice>
              <mc:Fallback>
                <p:oleObj name="Equation" r:id="rId2" imgW="1737360" imgH="861060" progId="Equation.DSMT4">
                  <p:embed/>
                  <p:pic>
                    <p:nvPicPr>
                      <p:cNvPr id="0" name="图片 11620"/>
                      <p:cNvPicPr/>
                      <p:nvPr/>
                    </p:nvPicPr>
                    <p:blipFill>
                      <a:blip r:embed="rId3"/>
                      <a:stretch>
                        <a:fillRect/>
                      </a:stretch>
                    </p:blipFill>
                    <p:spPr>
                      <a:xfrm>
                        <a:off x="4973638" y="2183292"/>
                        <a:ext cx="2119838" cy="1050231"/>
                      </a:xfrm>
                      <a:prstGeom prst="rect">
                        <a:avLst/>
                      </a:prstGeom>
                    </p:spPr>
                  </p:pic>
                </p:oleObj>
              </mc:Fallback>
            </mc:AlternateContent>
          </a:graphicData>
        </a:graphic>
      </p:graphicFrame>
      <p:cxnSp>
        <p:nvCxnSpPr>
          <p:cNvPr id="9" name="直接连接符 8"/>
          <p:cNvCxnSpPr/>
          <p:nvPr/>
        </p:nvCxnSpPr>
        <p:spPr>
          <a:xfrm flipV="1">
            <a:off x="7093476" y="2161864"/>
            <a:ext cx="640080" cy="249818"/>
          </a:xfrm>
          <a:prstGeom prst="line">
            <a:avLst/>
          </a:prstGeom>
          <a:ln w="2222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矩形: 圆角 9"/>
          <p:cNvSpPr/>
          <p:nvPr/>
        </p:nvSpPr>
        <p:spPr>
          <a:xfrm>
            <a:off x="7733556" y="1759110"/>
            <a:ext cx="2192764" cy="805507"/>
          </a:xfrm>
          <a:prstGeom prst="roundRect">
            <a:avLst/>
          </a:prstGeom>
          <a:solidFill>
            <a:schemeClr val="bg1"/>
          </a:solidFill>
          <a:ln w="19050">
            <a:solidFill>
              <a:srgbClr val="0070C0"/>
            </a:solidFill>
          </a:ln>
        </p:spPr>
        <p:style>
          <a:lnRef idx="2">
            <a:schemeClr val="dk1"/>
          </a:lnRef>
          <a:fillRef idx="1">
            <a:schemeClr val="lt1"/>
          </a:fillRef>
          <a:effectRef idx="0">
            <a:schemeClr val="dk1"/>
          </a:effectRef>
          <a:fontRef idx="minor">
            <a:schemeClr val="dk1"/>
          </a:fontRef>
        </p:style>
        <p:txBody>
          <a:bodyPr rtlCol="0" anchor="ctr"/>
          <a:lstStyle/>
          <a:p>
            <a:pPr algn="ctr"/>
            <a:r>
              <a:rPr lang="zh-CN" altLang="en-US" b="1" dirty="0">
                <a:solidFill>
                  <a:srgbClr val="0070C0"/>
                </a:solidFill>
                <a:latin typeface="楷体" panose="02010609060101010101" pitchFamily="49" charset="-122"/>
                <a:ea typeface="楷体" panose="02010609060101010101" pitchFamily="49" charset="-122"/>
              </a:rPr>
              <a:t>水听器工作带宽内的噪声总声强 </a:t>
            </a:r>
            <a:endParaRPr lang="zh-CN" altLang="en-US" b="1" dirty="0">
              <a:solidFill>
                <a:srgbClr val="0070C0"/>
              </a:solidFill>
              <a:latin typeface="楷体" panose="02010609060101010101" pitchFamily="49" charset="-122"/>
              <a:ea typeface="楷体" panose="02010609060101010101" pitchFamily="49" charset="-122"/>
            </a:endParaRPr>
          </a:p>
        </p:txBody>
      </p:sp>
      <p:sp>
        <p:nvSpPr>
          <p:cNvPr id="11" name="文本框 10"/>
          <p:cNvSpPr txBox="1"/>
          <p:nvPr/>
        </p:nvSpPr>
        <p:spPr>
          <a:xfrm>
            <a:off x="1512031" y="3487043"/>
            <a:ext cx="8515889" cy="461665"/>
          </a:xfrm>
          <a:prstGeom prst="rect">
            <a:avLst/>
          </a:prstGeom>
          <a:noFill/>
        </p:spPr>
        <p:txBody>
          <a:bodyPr wrap="square">
            <a:spAutoFit/>
          </a:bodyPr>
          <a:lstStyle/>
          <a:p>
            <a:r>
              <a:rPr lang="zh-CN" altLang="en-US" sz="2400" dirty="0">
                <a:latin typeface="宋体" pitchFamily="2" charset="-122"/>
                <a:ea typeface="宋体" pitchFamily="2" charset="-122"/>
              </a:rPr>
              <a:t>假设水听器工作带宽   内噪声谱     和其响应是均匀的，则： </a:t>
            </a:r>
            <a:endParaRPr lang="zh-CN" altLang="en-US" sz="2400" dirty="0">
              <a:latin typeface="宋体" pitchFamily="2" charset="-122"/>
              <a:ea typeface="宋体" pitchFamily="2" charset="-122"/>
            </a:endParaRPr>
          </a:p>
        </p:txBody>
      </p:sp>
      <p:graphicFrame>
        <p:nvGraphicFramePr>
          <p:cNvPr id="12" name="对象 11"/>
          <p:cNvGraphicFramePr>
            <a:graphicFrameLocks noChangeAspect="1"/>
          </p:cNvGraphicFramePr>
          <p:nvPr/>
        </p:nvGraphicFramePr>
        <p:xfrm>
          <a:off x="4276963" y="3523603"/>
          <a:ext cx="580549" cy="429184"/>
        </p:xfrm>
        <a:graphic>
          <a:graphicData uri="http://schemas.openxmlformats.org/presentationml/2006/ole">
            <mc:AlternateContent xmlns:mc="http://schemas.openxmlformats.org/markup-compatibility/2006">
              <mc:Choice xmlns:v="urn:schemas-microsoft-com:vml" Requires="v">
                <p:oleObj spid="_x0000_s11622" name="Equation" r:id="rId4" imgW="481330" imgH="354965" progId="Equation.DSMT4">
                  <p:embed/>
                </p:oleObj>
              </mc:Choice>
              <mc:Fallback>
                <p:oleObj name="Equation" r:id="rId4" imgW="481330" imgH="354965" progId="Equation.DSMT4">
                  <p:embed/>
                  <p:pic>
                    <p:nvPicPr>
                      <p:cNvPr id="0" name="图片 11621"/>
                      <p:cNvPicPr/>
                      <p:nvPr/>
                    </p:nvPicPr>
                    <p:blipFill>
                      <a:blip r:embed="rId5"/>
                      <a:stretch>
                        <a:fillRect/>
                      </a:stretch>
                    </p:blipFill>
                    <p:spPr>
                      <a:xfrm>
                        <a:off x="4276963" y="3523603"/>
                        <a:ext cx="580549" cy="429184"/>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6054125" y="3527442"/>
          <a:ext cx="685274" cy="450374"/>
        </p:xfrm>
        <a:graphic>
          <a:graphicData uri="http://schemas.openxmlformats.org/presentationml/2006/ole">
            <mc:AlternateContent xmlns:mc="http://schemas.openxmlformats.org/markup-compatibility/2006">
              <mc:Choice xmlns:v="urn:schemas-microsoft-com:vml" Requires="v">
                <p:oleObj spid="_x0000_s11623" name="Equation" r:id="rId6" imgW="615950" imgH="405130" progId="Equation.DSMT4">
                  <p:embed/>
                </p:oleObj>
              </mc:Choice>
              <mc:Fallback>
                <p:oleObj name="Equation" r:id="rId6" imgW="615950" imgH="405130" progId="Equation.DSMT4">
                  <p:embed/>
                  <p:pic>
                    <p:nvPicPr>
                      <p:cNvPr id="0" name="图片 11622"/>
                      <p:cNvPicPr/>
                      <p:nvPr/>
                    </p:nvPicPr>
                    <p:blipFill>
                      <a:blip r:embed="rId7"/>
                      <a:stretch>
                        <a:fillRect/>
                      </a:stretch>
                    </p:blipFill>
                    <p:spPr>
                      <a:xfrm>
                        <a:off x="6054125" y="3527442"/>
                        <a:ext cx="685274" cy="450374"/>
                      </a:xfrm>
                      <a:prstGeom prst="rect">
                        <a:avLst/>
                      </a:prstGeom>
                    </p:spPr>
                  </p:pic>
                </p:oleObj>
              </mc:Fallback>
            </mc:AlternateContent>
          </a:graphicData>
        </a:graphic>
      </p:graphicFrame>
      <p:grpSp>
        <p:nvGrpSpPr>
          <p:cNvPr id="14" name="Group 13"/>
          <p:cNvGrpSpPr>
            <a:grpSpLocks noChangeAspect="1"/>
          </p:cNvGrpSpPr>
          <p:nvPr/>
        </p:nvGrpSpPr>
        <p:grpSpPr bwMode="auto">
          <a:xfrm>
            <a:off x="3277890" y="4202228"/>
            <a:ext cx="5636220" cy="1050492"/>
            <a:chOff x="1563" y="118"/>
            <a:chExt cx="2908" cy="542"/>
          </a:xfrm>
        </p:grpSpPr>
        <p:graphicFrame>
          <p:nvGraphicFramePr>
            <p:cNvPr id="15" name="Object 14"/>
            <p:cNvGraphicFramePr>
              <a:graphicFrameLocks noChangeAspect="1"/>
            </p:cNvGraphicFramePr>
            <p:nvPr/>
          </p:nvGraphicFramePr>
          <p:xfrm>
            <a:off x="1563" y="221"/>
            <a:ext cx="827" cy="288"/>
          </p:xfrm>
          <a:graphic>
            <a:graphicData uri="http://schemas.openxmlformats.org/presentationml/2006/ole">
              <mc:AlternateContent xmlns:mc="http://schemas.openxmlformats.org/markup-compatibility/2006">
                <mc:Choice xmlns:v="urn:schemas-microsoft-com:vml" Requires="v">
                  <p:oleObj spid="_x0000_s11624" name="" r:id="rId8" imgW="623570" imgH="203200" progId="Equation.3">
                    <p:embed/>
                  </p:oleObj>
                </mc:Choice>
                <mc:Fallback>
                  <p:oleObj name="" r:id="rId8" imgW="623570" imgH="20320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63" y="221"/>
                          <a:ext cx="82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p:cNvGraphicFramePr>
              <a:graphicFrameLocks noChangeAspect="1"/>
            </p:cNvGraphicFramePr>
            <p:nvPr/>
          </p:nvGraphicFramePr>
          <p:xfrm>
            <a:off x="2653" y="118"/>
            <a:ext cx="1818" cy="542"/>
          </p:xfrm>
          <a:graphic>
            <a:graphicData uri="http://schemas.openxmlformats.org/presentationml/2006/ole">
              <mc:AlternateContent xmlns:mc="http://schemas.openxmlformats.org/markup-compatibility/2006">
                <mc:Choice xmlns:v="urn:schemas-microsoft-com:vml" Requires="v">
                  <p:oleObj spid="_x0000_s11625" name="" r:id="rId10" imgW="1285240" imgH="381635" progId="Equation.3">
                    <p:embed/>
                  </p:oleObj>
                </mc:Choice>
                <mc:Fallback>
                  <p:oleObj name="" r:id="rId10" imgW="1285240" imgH="381635"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53" y="118"/>
                          <a:ext cx="1818" cy="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7" name="文本框 16"/>
          <p:cNvSpPr txBox="1"/>
          <p:nvPr/>
        </p:nvSpPr>
        <p:spPr>
          <a:xfrm>
            <a:off x="1292907" y="5339331"/>
            <a:ext cx="9481300" cy="830997"/>
          </a:xfrm>
          <a:prstGeom prst="rect">
            <a:avLst/>
          </a:prstGeom>
          <a:noFill/>
        </p:spPr>
        <p:txBody>
          <a:bodyPr wrap="square">
            <a:spAutoFit/>
          </a:bodyPr>
          <a:lstStyle/>
          <a:p>
            <a:r>
              <a:rPr lang="zh-CN" altLang="en-US" sz="2400" b="1" dirty="0">
                <a:solidFill>
                  <a:srgbClr val="FF0000"/>
                </a:solidFill>
                <a:latin typeface="楷体" panose="02010609060101010101" pitchFamily="49" charset="-122"/>
                <a:ea typeface="楷体" panose="02010609060101010101" pitchFamily="49" charset="-122"/>
              </a:rPr>
              <a:t>注意：</a:t>
            </a:r>
            <a:r>
              <a:rPr lang="zh-CN" altLang="en-US" sz="2400" dirty="0">
                <a:latin typeface="楷体" panose="02010609060101010101" pitchFamily="49" charset="-122"/>
                <a:ea typeface="楷体" panose="02010609060101010101" pitchFamily="49" charset="-122"/>
              </a:rPr>
              <a:t>水下噪声是多种噪声源的综合迭加，每种噪声源的激励不尽相同，因此，它可能是线谱，也可能是连续谱，最可能是两种谱的迭加。</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6"/>
          <p:cNvPicPr>
            <a:picLocks noChangeAspect="1" noChangeArrowheads="1"/>
          </p:cNvPicPr>
          <p:nvPr/>
        </p:nvPicPr>
        <p:blipFill>
          <a:blip r:embed="rId1">
            <a:extLst>
              <a:ext uri="{28A0092B-C50C-407E-A947-70E740481C1C}">
                <a14:useLocalDpi xmlns:a14="http://schemas.microsoft.com/office/drawing/2010/main" val="0"/>
              </a:ext>
            </a:extLst>
          </a:blip>
          <a:srcRect l="3374" t="4498" r="6749"/>
          <a:stretch>
            <a:fillRect/>
          </a:stretch>
        </p:blipFill>
        <p:spPr bwMode="auto">
          <a:xfrm>
            <a:off x="2988518" y="2011234"/>
            <a:ext cx="5869522" cy="43329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780504" y="1282393"/>
            <a:ext cx="32512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2</a:t>
            </a:r>
            <a:r>
              <a:rPr lang="zh-CN" altLang="en-US" sz="2800" b="1" dirty="0">
                <a:solidFill>
                  <a:srgbClr val="0033CC"/>
                </a:solidFill>
                <a:latin typeface="黑体" panose="02010609060101010101" pitchFamily="49" charset="-122"/>
                <a:ea typeface="黑体" panose="02010609060101010101" pitchFamily="49" charset="-122"/>
              </a:rPr>
              <a:t>、噪声频谱分析：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pic>
        <p:nvPicPr>
          <p:cNvPr id="5" name="图片 53"/>
          <p:cNvPicPr>
            <a:picLocks noChangeAspect="1" noChangeArrowheads="1"/>
          </p:cNvPicPr>
          <p:nvPr/>
        </p:nvPicPr>
        <p:blipFill>
          <a:blip r:embed="rId2">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5344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780504" y="1282393"/>
            <a:ext cx="3972562"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3</a:t>
            </a:r>
            <a:r>
              <a:rPr lang="zh-CN" altLang="en-US" sz="2800" b="1" dirty="0">
                <a:solidFill>
                  <a:srgbClr val="0033CC"/>
                </a:solidFill>
                <a:latin typeface="黑体" panose="02010609060101010101" pitchFamily="49" charset="-122"/>
                <a:ea typeface="黑体" panose="02010609060101010101" pitchFamily="49" charset="-122"/>
              </a:rPr>
              <a:t>、水下噪声指向特性：</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6.2 </a:t>
            </a:r>
            <a:r>
              <a:rPr lang="zh-CN" altLang="en-US" sz="3600" b="1" dirty="0">
                <a:solidFill>
                  <a:srgbClr val="CC3300"/>
                </a:solidFill>
                <a:latin typeface="黑体" panose="02010609060101010101" pitchFamily="49" charset="-122"/>
                <a:ea typeface="黑体" panose="02010609060101010101" pitchFamily="49" charset="-122"/>
              </a:rPr>
              <a:t>声学中噪声的描述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1349471" y="2229330"/>
            <a:ext cx="8739409" cy="830997"/>
          </a:xfrm>
          <a:prstGeom prst="rect">
            <a:avLst/>
          </a:prstGeom>
          <a:noFill/>
        </p:spPr>
        <p:txBody>
          <a:bodyPr wrap="square">
            <a:spAutoFit/>
          </a:bodyPr>
          <a:lstStyle/>
          <a:p>
            <a:r>
              <a:rPr lang="zh-CN" altLang="en-US" sz="2400" dirty="0">
                <a:latin typeface="宋体" pitchFamily="2" charset="-122"/>
                <a:ea typeface="宋体" pitchFamily="2" charset="-122"/>
              </a:rPr>
              <a:t>    由于噪声源具有指向性、噪声源空间分布和海洋传播条件等原因，噪声具有指向性。</a:t>
            </a:r>
            <a:endParaRPr lang="zh-CN" altLang="en-US" sz="2400" dirty="0">
              <a:latin typeface="宋体" pitchFamily="2" charset="-122"/>
              <a:ea typeface="宋体" pitchFamily="2" charset="-122"/>
            </a:endParaRPr>
          </a:p>
        </p:txBody>
      </p:sp>
      <p:sp>
        <p:nvSpPr>
          <p:cNvPr id="7" name="文本框 6"/>
          <p:cNvSpPr txBox="1"/>
          <p:nvPr/>
        </p:nvSpPr>
        <p:spPr>
          <a:xfrm>
            <a:off x="1349471" y="3428164"/>
            <a:ext cx="2659702" cy="461665"/>
          </a:xfrm>
          <a:prstGeom prst="rect">
            <a:avLst/>
          </a:prstGeom>
          <a:noFill/>
        </p:spPr>
        <p:txBody>
          <a:bodyPr wrap="none" rtlCol="0">
            <a:spAutoFit/>
          </a:bodyPr>
          <a:lstStyle/>
          <a:p>
            <a:r>
              <a:rPr lang="zh-CN" altLang="en-US" sz="2400" b="1" dirty="0">
                <a:latin typeface="宋体" pitchFamily="2" charset="-122"/>
                <a:ea typeface="宋体" pitchFamily="2" charset="-122"/>
              </a:rPr>
              <a:t>噪声指向性常识：</a:t>
            </a:r>
            <a:endParaRPr lang="zh-CN" altLang="en-US" sz="2400" b="1" dirty="0">
              <a:latin typeface="宋体" pitchFamily="2" charset="-122"/>
              <a:ea typeface="宋体" pitchFamily="2" charset="-122"/>
            </a:endParaRPr>
          </a:p>
        </p:txBody>
      </p:sp>
      <p:sp>
        <p:nvSpPr>
          <p:cNvPr id="8" name="文本框 7"/>
          <p:cNvSpPr txBox="1"/>
          <p:nvPr/>
        </p:nvSpPr>
        <p:spPr>
          <a:xfrm>
            <a:off x="2093364" y="4100236"/>
            <a:ext cx="5878532" cy="461665"/>
          </a:xfrm>
          <a:prstGeom prst="rect">
            <a:avLst/>
          </a:prstGeom>
          <a:noFill/>
        </p:spPr>
        <p:txBody>
          <a:bodyPr wrap="none" rtlCol="0">
            <a:spAutoFit/>
          </a:bodyPr>
          <a:lstStyle/>
          <a:p>
            <a:r>
              <a:rPr lang="zh-CN" altLang="en-US" sz="2400" dirty="0">
                <a:latin typeface="宋体" pitchFamily="2" charset="-122"/>
                <a:ea typeface="宋体" pitchFamily="2" charset="-122"/>
              </a:rPr>
              <a:t>（</a:t>
            </a:r>
            <a:r>
              <a:rPr lang="en-US" altLang="zh-CN" sz="2400" dirty="0">
                <a:latin typeface="宋体" pitchFamily="2" charset="-122"/>
                <a:ea typeface="宋体" pitchFamily="2" charset="-122"/>
              </a:rPr>
              <a:t>1</a:t>
            </a:r>
            <a:r>
              <a:rPr lang="zh-CN" altLang="en-US" sz="2400" dirty="0">
                <a:latin typeface="宋体" pitchFamily="2" charset="-122"/>
                <a:ea typeface="宋体" pitchFamily="2" charset="-122"/>
              </a:rPr>
              <a:t>）海面噪声（风浪噪声）</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垂直指向性</a:t>
            </a:r>
            <a:endParaRPr lang="zh-CN" altLang="en-US" sz="2400" dirty="0">
              <a:latin typeface="宋体" pitchFamily="2" charset="-122"/>
              <a:ea typeface="宋体" pitchFamily="2" charset="-122"/>
            </a:endParaRPr>
          </a:p>
        </p:txBody>
      </p:sp>
      <p:sp>
        <p:nvSpPr>
          <p:cNvPr id="9" name="文本框 8"/>
          <p:cNvSpPr txBox="1"/>
          <p:nvPr/>
        </p:nvSpPr>
        <p:spPr>
          <a:xfrm>
            <a:off x="2093364" y="4698905"/>
            <a:ext cx="5570756" cy="461665"/>
          </a:xfrm>
          <a:prstGeom prst="rect">
            <a:avLst/>
          </a:prstGeom>
          <a:noFill/>
        </p:spPr>
        <p:txBody>
          <a:bodyPr wrap="none" rtlCol="0">
            <a:spAutoFit/>
          </a:bodyPr>
          <a:lstStyle/>
          <a:p>
            <a:r>
              <a:rPr lang="zh-CN" altLang="en-US" sz="2400" dirty="0">
                <a:latin typeface="宋体" pitchFamily="2" charset="-122"/>
                <a:ea typeface="宋体" pitchFamily="2" charset="-122"/>
              </a:rPr>
              <a:t>（</a:t>
            </a:r>
            <a:r>
              <a:rPr lang="en-US" altLang="zh-CN" sz="2400" dirty="0">
                <a:latin typeface="宋体" pitchFamily="2" charset="-122"/>
                <a:ea typeface="宋体" pitchFamily="2" charset="-122"/>
              </a:rPr>
              <a:t>2</a:t>
            </a:r>
            <a:r>
              <a:rPr lang="zh-CN" altLang="en-US" sz="2400" dirty="0">
                <a:latin typeface="宋体" pitchFamily="2" charset="-122"/>
                <a:ea typeface="宋体" pitchFamily="2" charset="-122"/>
              </a:rPr>
              <a:t>）远处航船的辐射噪声</a:t>
            </a: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水平指向性</a:t>
            </a:r>
            <a:endParaRPr lang="zh-CN" altLang="en-US" sz="2400" dirty="0">
              <a:latin typeface="宋体" pitchFamily="2" charset="-122"/>
              <a:ea typeface="宋体" pitchFamily="2" charset="-122"/>
            </a:endParaRPr>
          </a:p>
        </p:txBody>
      </p:sp>
      <p:sp>
        <p:nvSpPr>
          <p:cNvPr id="10" name="文本框 9"/>
          <p:cNvSpPr txBox="1"/>
          <p:nvPr/>
        </p:nvSpPr>
        <p:spPr>
          <a:xfrm>
            <a:off x="1349471" y="5400654"/>
            <a:ext cx="10070369" cy="830997"/>
          </a:xfrm>
          <a:prstGeom prst="rect">
            <a:avLst/>
          </a:prstGeom>
          <a:noFill/>
        </p:spPr>
        <p:txBody>
          <a:bodyPr wrap="square">
            <a:spAutoFit/>
          </a:bodyPr>
          <a:lstStyle/>
          <a:p>
            <a:r>
              <a:rPr lang="zh-CN" altLang="en-US" sz="2400" b="1" dirty="0">
                <a:solidFill>
                  <a:srgbClr val="FF0000"/>
                </a:solidFill>
                <a:latin typeface="楷体" panose="02010609060101010101" pitchFamily="49" charset="-122"/>
                <a:ea typeface="楷体" panose="02010609060101010101" pitchFamily="49" charset="-122"/>
              </a:rPr>
              <a:t>注意：</a:t>
            </a:r>
            <a:r>
              <a:rPr lang="zh-CN" altLang="en-US" sz="2400" dirty="0">
                <a:latin typeface="楷体" panose="02010609060101010101" pitchFamily="49" charset="-122"/>
                <a:ea typeface="楷体" panose="02010609060101010101" pitchFamily="49" charset="-122"/>
              </a:rPr>
              <a:t>工程上通常将海洋环境噪声视为各向同性的，便于信号处理。</a:t>
            </a:r>
            <a:endParaRPr lang="zh-CN" altLang="en-US" sz="2400" dirty="0">
              <a:latin typeface="楷体" panose="02010609060101010101" pitchFamily="49" charset="-122"/>
              <a:ea typeface="楷体" panose="02010609060101010101" pitchFamily="49" charset="-122"/>
            </a:endParaRPr>
          </a:p>
          <a:p>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61962" y="1143445"/>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6.0 </a:t>
            </a:r>
            <a:r>
              <a:rPr lang="zh-CN" altLang="en-US" sz="2400" dirty="0">
                <a:latin typeface="微软雅黑" panose="020B0503020204020204" pitchFamily="34" charset="-122"/>
                <a:ea typeface="微软雅黑" panose="020B0503020204020204" pitchFamily="34" charset="-122"/>
              </a:rPr>
              <a:t>噪声概述</a:t>
            </a:r>
            <a:endParaRPr lang="en-US" altLang="zh-CN" sz="2400" dirty="0">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6.1 </a:t>
            </a:r>
            <a:r>
              <a:rPr lang="zh-CN" altLang="en-US" sz="2400" dirty="0">
                <a:solidFill>
                  <a:prstClr val="black"/>
                </a:solidFill>
                <a:latin typeface="微软雅黑" panose="020B0503020204020204" pitchFamily="34" charset="-122"/>
                <a:ea typeface="微软雅黑" panose="020B0503020204020204" pitchFamily="34" charset="-122"/>
              </a:rPr>
              <a:t>噪声的基本概念</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6.2 </a:t>
            </a:r>
            <a:r>
              <a:rPr lang="zh-CN" altLang="en-US" sz="2400" dirty="0">
                <a:solidFill>
                  <a:prstClr val="black"/>
                </a:solidFill>
                <a:latin typeface="微软雅黑" panose="020B0503020204020204" pitchFamily="34" charset="-122"/>
                <a:ea typeface="微软雅黑" panose="020B0503020204020204" pitchFamily="34" charset="-122"/>
              </a:rPr>
              <a:t>声学中噪声的描述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6.3 </a:t>
            </a:r>
            <a:r>
              <a:rPr lang="zh-CN" altLang="en-US" sz="2400" dirty="0">
                <a:solidFill>
                  <a:srgbClr val="FF0000"/>
                </a:solidFill>
                <a:latin typeface="微软雅黑" panose="020B0503020204020204" pitchFamily="34" charset="-122"/>
                <a:ea typeface="微软雅黑" panose="020B0503020204020204" pitchFamily="34" charset="-122"/>
              </a:rPr>
              <a:t>海洋环境噪声</a:t>
            </a:r>
            <a:endParaRPr lang="en-US" altLang="zh-CN" sz="2400" dirty="0">
              <a:solidFill>
                <a:srgbClr val="FF0000"/>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6.4 </a:t>
            </a:r>
            <a:r>
              <a:rPr lang="zh-CN" altLang="en-US" sz="2400" dirty="0">
                <a:solidFill>
                  <a:prstClr val="black"/>
                </a:solidFill>
                <a:latin typeface="微软雅黑" panose="020B0503020204020204" pitchFamily="34" charset="-122"/>
                <a:ea typeface="微软雅黑" panose="020B0503020204020204" pitchFamily="34" charset="-122"/>
              </a:rPr>
              <a:t>舰船和鱼雷辐射噪声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6.5 </a:t>
            </a:r>
            <a:r>
              <a:rPr lang="zh-CN" altLang="en-US" sz="2400" dirty="0">
                <a:solidFill>
                  <a:prstClr val="black"/>
                </a:solidFill>
                <a:latin typeface="微软雅黑" panose="020B0503020204020204" pitchFamily="34" charset="-122"/>
                <a:ea typeface="微软雅黑" panose="020B0503020204020204" pitchFamily="34" charset="-122"/>
              </a:rPr>
              <a:t>舰船和鱼雷目标自噪声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6.6 LFM</a:t>
            </a:r>
            <a:r>
              <a:rPr lang="zh-CN" altLang="en-US" sz="2400" dirty="0">
                <a:solidFill>
                  <a:prstClr val="black"/>
                </a:solidFill>
                <a:latin typeface="微软雅黑" panose="020B0503020204020204" pitchFamily="34" charset="-122"/>
                <a:ea typeface="微软雅黑" panose="020B0503020204020204" pitchFamily="34" charset="-122"/>
              </a:rPr>
              <a:t>脉冲声呐目标检测</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2030191" y="2005810"/>
            <a:ext cx="8739409" cy="830997"/>
          </a:xfrm>
          <a:prstGeom prst="rect">
            <a:avLst/>
          </a:prstGeom>
          <a:noFill/>
        </p:spPr>
        <p:txBody>
          <a:bodyPr wrap="square">
            <a:spAutoFit/>
          </a:bodyPr>
          <a:lstStyle/>
          <a:p>
            <a:r>
              <a:rPr lang="zh-CN" altLang="en-US" sz="2400" dirty="0">
                <a:latin typeface="宋体" pitchFamily="2" charset="-122"/>
                <a:ea typeface="宋体" pitchFamily="2" charset="-122"/>
              </a:rPr>
              <a:t>海洋环境噪声也称自然噪声，是水声信道的一种干扰背景。</a:t>
            </a:r>
            <a:endParaRPr lang="zh-CN" altLang="en-US" sz="2400" dirty="0">
              <a:latin typeface="宋体" pitchFamily="2" charset="-122"/>
              <a:ea typeface="宋体" pitchFamily="2" charset="-122"/>
            </a:endParaRPr>
          </a:p>
          <a:p>
            <a:endParaRPr lang="zh-CN" altLang="en-US" sz="2400" dirty="0">
              <a:latin typeface="宋体" pitchFamily="2" charset="-122"/>
              <a:ea typeface="宋体" pitchFamily="2"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617944" y="1301761"/>
            <a:ext cx="3252814"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海洋环境噪声：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7" name="文本框 6"/>
          <p:cNvSpPr txBox="1"/>
          <p:nvPr/>
        </p:nvSpPr>
        <p:spPr>
          <a:xfrm>
            <a:off x="617944" y="2705652"/>
            <a:ext cx="5240537"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研究海洋环境噪声的目的：</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8" name="文本框 7"/>
          <p:cNvSpPr txBox="1"/>
          <p:nvPr/>
        </p:nvSpPr>
        <p:spPr>
          <a:xfrm>
            <a:off x="1488776" y="3534641"/>
            <a:ext cx="8739409" cy="2905026"/>
          </a:xfrm>
          <a:prstGeom prst="rect">
            <a:avLst/>
          </a:prstGeom>
          <a:noFill/>
        </p:spPr>
        <p:txBody>
          <a:bodyPr wrap="square">
            <a:spAutoFit/>
          </a:bodyPr>
          <a:lstStyle/>
          <a:p>
            <a:pPr>
              <a:lnSpc>
                <a:spcPct val="130000"/>
              </a:lnSpc>
            </a:pPr>
            <a:r>
              <a:rPr lang="zh-CN" altLang="en-US" sz="2400" dirty="0">
                <a:latin typeface="宋体" pitchFamily="2" charset="-122"/>
                <a:ea typeface="宋体" pitchFamily="2" charset="-122"/>
              </a:rPr>
              <a:t>   （</a:t>
            </a:r>
            <a:r>
              <a:rPr lang="en-US" altLang="zh-CN" sz="2400" dirty="0">
                <a:latin typeface="宋体" pitchFamily="2" charset="-122"/>
                <a:ea typeface="宋体" pitchFamily="2" charset="-122"/>
              </a:rPr>
              <a:t>1</a:t>
            </a:r>
            <a:r>
              <a:rPr lang="zh-CN" altLang="en-US" sz="2400" dirty="0">
                <a:latin typeface="宋体" pitchFamily="2" charset="-122"/>
                <a:ea typeface="宋体" pitchFamily="2" charset="-122"/>
              </a:rPr>
              <a:t>）研究噪声场的时空统计特性与环境因素之间的依赖关系，找出其规律，预报</a:t>
            </a:r>
            <a:r>
              <a:rPr lang="en-US" altLang="zh-CN" sz="2400" dirty="0">
                <a:latin typeface="Times New Roman" panose="02020603050405020304" pitchFamily="18" charset="0"/>
                <a:ea typeface="宋体" pitchFamily="2" charset="-122"/>
                <a:cs typeface="Times New Roman" panose="02020603050405020304" pitchFamily="18" charset="0"/>
              </a:rPr>
              <a:t>NL</a:t>
            </a:r>
            <a:r>
              <a:rPr lang="zh-CN" altLang="en-US" sz="2400" dirty="0">
                <a:latin typeface="宋体" pitchFamily="2" charset="-122"/>
                <a:ea typeface="宋体" pitchFamily="2" charset="-122"/>
              </a:rPr>
              <a:t>值，为声呐设备设计、研制提供必要的数据；</a:t>
            </a:r>
            <a:endParaRPr lang="en-US" altLang="zh-CN" sz="2400" dirty="0">
              <a:latin typeface="宋体" pitchFamily="2" charset="-122"/>
              <a:ea typeface="宋体" pitchFamily="2" charset="-122"/>
            </a:endParaRPr>
          </a:p>
          <a:p>
            <a:pPr>
              <a:lnSpc>
                <a:spcPct val="130000"/>
              </a:lnSpc>
            </a:pPr>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a:t>
            </a:r>
            <a:r>
              <a:rPr lang="en-US" altLang="zh-CN" sz="2400" dirty="0">
                <a:latin typeface="宋体" pitchFamily="2" charset="-122"/>
                <a:ea typeface="宋体" pitchFamily="2" charset="-122"/>
              </a:rPr>
              <a:t>2</a:t>
            </a:r>
            <a:r>
              <a:rPr lang="zh-CN" altLang="en-US" sz="2400" dirty="0">
                <a:latin typeface="宋体" pitchFamily="2" charset="-122"/>
                <a:ea typeface="宋体" pitchFamily="2" charset="-122"/>
              </a:rPr>
              <a:t>）利用噪声场与信号场在时空统计特性方面的差异，设计信号处理方案，提高设备的抗干扰能力。</a:t>
            </a:r>
            <a:endParaRPr lang="zh-CN" altLang="en-US" sz="2400" dirty="0">
              <a:latin typeface="宋体" pitchFamily="2" charset="-122"/>
              <a:ea typeface="宋体" pitchFamily="2" charset="-122"/>
            </a:endParaRPr>
          </a:p>
          <a:p>
            <a:pPr>
              <a:lnSpc>
                <a:spcPct val="130000"/>
              </a:lnSpc>
            </a:pPr>
            <a:endParaRPr lang="zh-CN" altLang="en-US" sz="2400" dirty="0">
              <a:latin typeface="宋体" pitchFamily="2" charset="-122"/>
              <a:ea typeface="宋体"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617944" y="1301761"/>
            <a:ext cx="4876656"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1</a:t>
            </a:r>
            <a:r>
              <a:rPr lang="zh-CN" altLang="en-US" sz="2800" b="1" dirty="0">
                <a:solidFill>
                  <a:srgbClr val="0033CC"/>
                </a:solidFill>
                <a:latin typeface="黑体" panose="02010609060101010101" pitchFamily="49" charset="-122"/>
                <a:ea typeface="黑体" panose="02010609060101010101" pitchFamily="49" charset="-122"/>
              </a:rPr>
              <a:t>、深海中的环境噪声源：</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文本框 5"/>
          <p:cNvSpPr txBox="1"/>
          <p:nvPr/>
        </p:nvSpPr>
        <p:spPr>
          <a:xfrm>
            <a:off x="1349471" y="2171082"/>
            <a:ext cx="8739409" cy="3385157"/>
          </a:xfrm>
          <a:prstGeom prst="rect">
            <a:avLst/>
          </a:prstGeom>
          <a:noFill/>
        </p:spPr>
        <p:txBody>
          <a:bodyPr wrap="square">
            <a:spAutoFit/>
          </a:bodyPr>
          <a:lstStyle/>
          <a:p>
            <a:pPr>
              <a:lnSpc>
                <a:spcPct val="130000"/>
              </a:lnSpc>
            </a:pPr>
            <a:r>
              <a:rPr lang="zh-CN" altLang="en-US" sz="2400" dirty="0">
                <a:latin typeface="宋体" pitchFamily="2" charset="-122"/>
                <a:ea typeface="宋体" pitchFamily="2" charset="-122"/>
              </a:rPr>
              <a:t>    </a:t>
            </a:r>
            <a:r>
              <a:rPr lang="zh-CN" altLang="en-US" sz="2400" b="1" dirty="0">
                <a:latin typeface="宋体" pitchFamily="2" charset="-122"/>
                <a:ea typeface="宋体" pitchFamily="2" charset="-122"/>
              </a:rPr>
              <a:t>采用海底深水水听器，在宽频段内对深海噪声进行测量研究，研究结果表明：</a:t>
            </a:r>
            <a:endParaRPr lang="en-US" altLang="zh-CN" sz="2400" b="1" dirty="0">
              <a:latin typeface="宋体" pitchFamily="2" charset="-122"/>
              <a:ea typeface="宋体" pitchFamily="2" charset="-122"/>
            </a:endParaRPr>
          </a:p>
          <a:p>
            <a:endParaRPr lang="en-US" altLang="zh-CN" sz="2400" b="1" dirty="0">
              <a:latin typeface="宋体" pitchFamily="2" charset="-122"/>
              <a:ea typeface="宋体" pitchFamily="2" charset="-122"/>
            </a:endParaRPr>
          </a:p>
          <a:p>
            <a:pPr>
              <a:lnSpc>
                <a:spcPct val="130000"/>
              </a:lnSpc>
            </a:pPr>
            <a:r>
              <a:rPr lang="en-US" altLang="zh-CN" sz="2400" b="1" dirty="0">
                <a:latin typeface="宋体" pitchFamily="2" charset="-122"/>
                <a:ea typeface="宋体" pitchFamily="2" charset="-122"/>
              </a:rPr>
              <a:t>   </a:t>
            </a:r>
            <a:r>
              <a:rPr lang="zh-CN" altLang="en-US" sz="2400" dirty="0">
                <a:latin typeface="宋体" pitchFamily="2" charset="-122"/>
                <a:ea typeface="宋体" pitchFamily="2" charset="-122"/>
              </a:rPr>
              <a:t>（</a:t>
            </a:r>
            <a:r>
              <a:rPr lang="en-US" altLang="zh-CN" sz="2400" dirty="0">
                <a:latin typeface="宋体" pitchFamily="2" charset="-122"/>
                <a:ea typeface="宋体" pitchFamily="2" charset="-122"/>
              </a:rPr>
              <a:t>1</a:t>
            </a:r>
            <a:r>
              <a:rPr lang="zh-CN" altLang="en-US" sz="2400" dirty="0">
                <a:latin typeface="宋体" pitchFamily="2" charset="-122"/>
                <a:ea typeface="宋体" pitchFamily="2" charset="-122"/>
              </a:rPr>
              <a:t>）噪声源是多种多样的，环境噪声是这些源的综合效应；</a:t>
            </a:r>
            <a:endParaRPr lang="zh-CN" altLang="en-US" sz="2400" dirty="0">
              <a:latin typeface="宋体" pitchFamily="2" charset="-122"/>
              <a:ea typeface="宋体" pitchFamily="2" charset="-122"/>
            </a:endParaRPr>
          </a:p>
          <a:p>
            <a:pPr>
              <a:lnSpc>
                <a:spcPct val="130000"/>
              </a:lnSpc>
            </a:pPr>
            <a:r>
              <a:rPr lang="en-US" altLang="zh-CN" sz="2400" dirty="0">
                <a:latin typeface="宋体" pitchFamily="2" charset="-122"/>
                <a:ea typeface="宋体" pitchFamily="2" charset="-122"/>
              </a:rPr>
              <a:t>   </a:t>
            </a:r>
            <a:r>
              <a:rPr lang="zh-CN" altLang="en-US" sz="2400" dirty="0">
                <a:latin typeface="宋体" pitchFamily="2" charset="-122"/>
                <a:ea typeface="宋体" pitchFamily="2" charset="-122"/>
              </a:rPr>
              <a:t>（</a:t>
            </a:r>
            <a:r>
              <a:rPr lang="en-US" altLang="zh-CN" sz="2400" dirty="0">
                <a:latin typeface="宋体" pitchFamily="2" charset="-122"/>
                <a:ea typeface="宋体" pitchFamily="2" charset="-122"/>
              </a:rPr>
              <a:t>2</a:t>
            </a:r>
            <a:r>
              <a:rPr lang="zh-CN" altLang="en-US" sz="2400" dirty="0">
                <a:latin typeface="宋体" pitchFamily="2" charset="-122"/>
                <a:ea typeface="宋体" pitchFamily="2" charset="-122"/>
              </a:rPr>
              <a:t>）环境噪声在不同频段有不同特性，各种噪声源发声机理不同；</a:t>
            </a:r>
            <a:endParaRPr lang="zh-CN" altLang="en-US" sz="2400" dirty="0">
              <a:latin typeface="宋体" pitchFamily="2" charset="-122"/>
              <a:ea typeface="宋体" pitchFamily="2" charset="-122"/>
            </a:endParaRPr>
          </a:p>
          <a:p>
            <a:pPr>
              <a:lnSpc>
                <a:spcPct val="130000"/>
              </a:lnSpc>
            </a:pPr>
            <a:r>
              <a:rPr lang="zh-CN" altLang="en-US" sz="2400" dirty="0">
                <a:latin typeface="宋体" pitchFamily="2" charset="-122"/>
                <a:ea typeface="宋体" pitchFamily="2" charset="-122"/>
              </a:rPr>
              <a:t>   （</a:t>
            </a:r>
            <a:r>
              <a:rPr lang="en-US" altLang="zh-CN" sz="2400" dirty="0">
                <a:latin typeface="宋体" pitchFamily="2" charset="-122"/>
                <a:ea typeface="宋体" pitchFamily="2" charset="-122"/>
              </a:rPr>
              <a:t>3</a:t>
            </a:r>
            <a:r>
              <a:rPr lang="zh-CN" altLang="en-US" sz="2400" dirty="0">
                <a:latin typeface="宋体" pitchFamily="2" charset="-122"/>
                <a:ea typeface="宋体" pitchFamily="2" charset="-122"/>
              </a:rPr>
              <a:t>）环境噪声与环境条件密切相关，如风速等自然条件。</a:t>
            </a:r>
            <a:endParaRPr lang="zh-CN" altLang="en-US" sz="2400" dirty="0">
              <a:latin typeface="宋体" pitchFamily="2" charset="-122"/>
              <a:ea typeface="宋体" pitchFamily="2"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617944" y="1301761"/>
            <a:ext cx="4515980"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1</a:t>
            </a:r>
            <a:r>
              <a:rPr lang="zh-CN" altLang="en-US" sz="2800" b="1" dirty="0">
                <a:solidFill>
                  <a:srgbClr val="0033CC"/>
                </a:solidFill>
                <a:latin typeface="黑体" panose="02010609060101010101" pitchFamily="49" charset="-122"/>
                <a:ea typeface="黑体" panose="02010609060101010101" pitchFamily="49" charset="-122"/>
              </a:rPr>
              <a:t>、海洋中的环境噪声：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7" name="文本框 6"/>
          <p:cNvSpPr txBox="1"/>
          <p:nvPr/>
        </p:nvSpPr>
        <p:spPr>
          <a:xfrm>
            <a:off x="1645920" y="1910367"/>
            <a:ext cx="6096000" cy="504369"/>
          </a:xfrm>
          <a:prstGeom prst="rect">
            <a:avLst/>
          </a:prstGeom>
          <a:noFill/>
        </p:spPr>
        <p:txBody>
          <a:bodyPr wrap="square">
            <a:spAutoFit/>
          </a:bodyPr>
          <a:lstStyle/>
          <a:p>
            <a:pPr>
              <a:lnSpc>
                <a:spcPct val="130000"/>
              </a:lnSpc>
            </a:pPr>
            <a:r>
              <a:rPr lang="zh-CN" altLang="en-US" sz="2400" b="1" dirty="0">
                <a:latin typeface="宋体" pitchFamily="2" charset="-122"/>
                <a:ea typeface="宋体" pitchFamily="2" charset="-122"/>
              </a:rPr>
              <a:t>从低频到高频次序讨论噪声源及其特性：</a:t>
            </a:r>
            <a:endParaRPr lang="zh-CN" altLang="en-US" sz="2400" b="1" dirty="0">
              <a:latin typeface="宋体" pitchFamily="2" charset="-122"/>
              <a:ea typeface="宋体" pitchFamily="2" charset="-122"/>
            </a:endParaRPr>
          </a:p>
        </p:txBody>
      </p:sp>
      <p:sp>
        <p:nvSpPr>
          <p:cNvPr id="9" name="文本框 8"/>
          <p:cNvSpPr txBox="1"/>
          <p:nvPr/>
        </p:nvSpPr>
        <p:spPr>
          <a:xfrm>
            <a:off x="1442720" y="2500122"/>
            <a:ext cx="7172960" cy="3385157"/>
          </a:xfrm>
          <a:prstGeom prst="rect">
            <a:avLst/>
          </a:prstGeom>
          <a:noFill/>
        </p:spPr>
        <p:txBody>
          <a:bodyPr wrap="square">
            <a:spAutoFit/>
          </a:bodyPr>
          <a:lstStyle/>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1</a:t>
            </a:r>
            <a:r>
              <a:rPr lang="zh-CN" altLang="en-US" sz="2400" dirty="0">
                <a:latin typeface="Times New Roman" panose="02020603050405020304" pitchFamily="18" charset="0"/>
                <a:ea typeface="宋体" pitchFamily="2" charset="-122"/>
              </a:rPr>
              <a:t>）潮汐和波浪的海水静压力效应</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2</a:t>
            </a:r>
            <a:r>
              <a:rPr lang="zh-CN" altLang="en-US" sz="2400" dirty="0">
                <a:latin typeface="Times New Roman" panose="02020603050405020304" pitchFamily="18" charset="0"/>
                <a:ea typeface="宋体" pitchFamily="2" charset="-122"/>
              </a:rPr>
              <a:t>）地震扰动</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3</a:t>
            </a:r>
            <a:r>
              <a:rPr lang="zh-CN" altLang="en-US" sz="2400" dirty="0">
                <a:latin typeface="Times New Roman" panose="02020603050405020304" pitchFamily="18" charset="0"/>
                <a:ea typeface="宋体" pitchFamily="2" charset="-122"/>
              </a:rPr>
              <a:t>）海洋湍流</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4</a:t>
            </a:r>
            <a:r>
              <a:rPr lang="zh-CN" altLang="en-US" sz="2400" dirty="0">
                <a:latin typeface="Times New Roman" panose="02020603050405020304" pitchFamily="18" charset="0"/>
                <a:ea typeface="宋体" pitchFamily="2" charset="-122"/>
              </a:rPr>
              <a:t>）波浪非线性作用引起的低频噪声</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5</a:t>
            </a:r>
            <a:r>
              <a:rPr lang="zh-CN" altLang="en-US" sz="2400" dirty="0">
                <a:latin typeface="Times New Roman" panose="02020603050405020304" pitchFamily="18" charset="0"/>
                <a:ea typeface="宋体" pitchFamily="2" charset="-122"/>
              </a:rPr>
              <a:t>）远处航船噪声（</a:t>
            </a:r>
            <a:r>
              <a:rPr lang="en-US" altLang="zh-CN" sz="2400" dirty="0">
                <a:latin typeface="Times New Roman" panose="02020603050405020304" pitchFamily="18" charset="0"/>
                <a:ea typeface="宋体" pitchFamily="2" charset="-122"/>
              </a:rPr>
              <a:t>50Hz~500Hz</a:t>
            </a:r>
            <a:r>
              <a:rPr lang="zh-CN" altLang="en-US" sz="2400" dirty="0">
                <a:latin typeface="Times New Roman" panose="02020603050405020304" pitchFamily="18" charset="0"/>
                <a:ea typeface="宋体" pitchFamily="2" charset="-122"/>
              </a:rPr>
              <a:t>）</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6</a:t>
            </a:r>
            <a:r>
              <a:rPr lang="zh-CN" altLang="en-US" sz="2400" dirty="0">
                <a:latin typeface="Times New Roman" panose="02020603050405020304" pitchFamily="18" charset="0"/>
                <a:ea typeface="宋体" pitchFamily="2" charset="-122"/>
              </a:rPr>
              <a:t>）风成噪声（海面波浪噪声</a:t>
            </a:r>
            <a:r>
              <a:rPr lang="en-US" altLang="zh-CN" sz="2400" dirty="0">
                <a:latin typeface="Times New Roman" panose="02020603050405020304" pitchFamily="18" charset="0"/>
                <a:ea typeface="宋体" pitchFamily="2" charset="-122"/>
              </a:rPr>
              <a:t>500Hz~25kHz</a:t>
            </a:r>
            <a:r>
              <a:rPr lang="zh-CN" altLang="en-US" sz="2400" dirty="0">
                <a:latin typeface="Times New Roman" panose="02020603050405020304" pitchFamily="18" charset="0"/>
                <a:ea typeface="宋体" pitchFamily="2" charset="-122"/>
              </a:rPr>
              <a:t>频率）</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7</a:t>
            </a:r>
            <a:r>
              <a:rPr lang="zh-CN" altLang="en-US" sz="2400" dirty="0">
                <a:latin typeface="Times New Roman" panose="02020603050405020304" pitchFamily="18" charset="0"/>
                <a:ea typeface="宋体" pitchFamily="2" charset="-122"/>
              </a:rPr>
              <a:t>）热噪声</a:t>
            </a:r>
            <a:endParaRPr lang="zh-CN" altLang="en-US" sz="2400" dirty="0">
              <a:latin typeface="Times New Roman" panose="02020603050405020304" pitchFamily="18" charset="0"/>
              <a:ea typeface="宋体"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40590" y="6020599"/>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617944" y="1301761"/>
            <a:ext cx="4515980"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1</a:t>
            </a:r>
            <a:r>
              <a:rPr lang="zh-CN" altLang="en-US" sz="2800" b="1" dirty="0">
                <a:solidFill>
                  <a:srgbClr val="0033CC"/>
                </a:solidFill>
                <a:latin typeface="黑体" panose="02010609060101010101" pitchFamily="49" charset="-122"/>
                <a:ea typeface="黑体" panose="02010609060101010101" pitchFamily="49" charset="-122"/>
              </a:rPr>
              <a:t>、海洋中的环境噪声：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pic>
        <p:nvPicPr>
          <p:cNvPr id="8" name="图片 7"/>
          <p:cNvPicPr>
            <a:picLocks noChangeAspect="1"/>
          </p:cNvPicPr>
          <p:nvPr/>
        </p:nvPicPr>
        <p:blipFill rotWithShape="1">
          <a:blip r:embed="rId2"/>
          <a:srcRect b="9300"/>
          <a:stretch>
            <a:fillRect/>
          </a:stretch>
        </p:blipFill>
        <p:spPr>
          <a:xfrm>
            <a:off x="5177351" y="1098351"/>
            <a:ext cx="6396705" cy="4227793"/>
          </a:xfrm>
          <a:prstGeom prst="rect">
            <a:avLst/>
          </a:prstGeom>
        </p:spPr>
      </p:pic>
      <p:sp>
        <p:nvSpPr>
          <p:cNvPr id="10" name="Rectangle 4"/>
          <p:cNvSpPr>
            <a:spLocks noChangeArrowheads="1"/>
          </p:cNvSpPr>
          <p:nvPr/>
        </p:nvSpPr>
        <p:spPr bwMode="auto">
          <a:xfrm>
            <a:off x="1112363" y="2242907"/>
            <a:ext cx="4147793" cy="2265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        右图展示了不同海况的平均噪声谱级随声呐工作频率频率的变化。其中，不同海况（</a:t>
            </a:r>
            <a:r>
              <a:rPr lang="en-US" altLang="zh-CN" sz="2400" dirty="0"/>
              <a:t>different sea state</a:t>
            </a:r>
            <a:r>
              <a:rPr lang="zh-CN" altLang="en-US" sz="2400" dirty="0"/>
              <a:t>，</a:t>
            </a:r>
            <a:r>
              <a:rPr lang="en-US" altLang="zh-CN" sz="2400" dirty="0"/>
              <a:t>DSS</a:t>
            </a:r>
            <a:r>
              <a:rPr lang="zh-CN" altLang="en-US" sz="2400" dirty="0"/>
              <a:t>）对应的浪高和风速如下表所示：</a:t>
            </a:r>
            <a:endParaRPr lang="zh-CN" altLang="en-US" sz="2400" dirty="0"/>
          </a:p>
        </p:txBody>
      </p:sp>
      <p:pic>
        <p:nvPicPr>
          <p:cNvPr id="2" name="图片 1"/>
          <p:cNvPicPr>
            <a:picLocks noChangeAspect="1"/>
          </p:cNvPicPr>
          <p:nvPr/>
        </p:nvPicPr>
        <p:blipFill>
          <a:blip r:embed="rId3"/>
          <a:stretch>
            <a:fillRect/>
          </a:stretch>
        </p:blipFill>
        <p:spPr>
          <a:xfrm>
            <a:off x="617944" y="5326144"/>
            <a:ext cx="7356339" cy="118630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597624" y="1147322"/>
            <a:ext cx="181011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热噪声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7" name="Rectangle 4"/>
          <p:cNvSpPr>
            <a:spLocks noChangeArrowheads="1"/>
          </p:cNvSpPr>
          <p:nvPr/>
        </p:nvSpPr>
        <p:spPr bwMode="auto">
          <a:xfrm>
            <a:off x="1185545" y="1934029"/>
            <a:ext cx="8569325" cy="13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en-US" altLang="zh-CN" sz="2400" dirty="0"/>
              <a:t>       </a:t>
            </a:r>
            <a:r>
              <a:rPr lang="zh-CN" altLang="en-US" sz="2400" dirty="0"/>
              <a:t>设备中的电阻的发热和海水中分子的热运动构成了热噪声，只有在没有其他任何噪声源的情况下才能观测到。热噪声噪声级与频率的关系如下：</a:t>
            </a:r>
            <a:endParaRPr lang="zh-CN" altLang="en-US" sz="2400" dirty="0"/>
          </a:p>
        </p:txBody>
      </p:sp>
      <p:graphicFrame>
        <p:nvGraphicFramePr>
          <p:cNvPr id="8" name="对象 7"/>
          <p:cNvGraphicFramePr>
            <a:graphicFrameLocks noChangeAspect="1"/>
          </p:cNvGraphicFramePr>
          <p:nvPr/>
        </p:nvGraphicFramePr>
        <p:xfrm>
          <a:off x="3197875" y="3574782"/>
          <a:ext cx="3957070" cy="611849"/>
        </p:xfrm>
        <a:graphic>
          <a:graphicData uri="http://schemas.openxmlformats.org/presentationml/2006/ole">
            <mc:AlternateContent xmlns:mc="http://schemas.openxmlformats.org/markup-compatibility/2006">
              <mc:Choice xmlns:v="urn:schemas-microsoft-com:vml" Requires="v">
                <p:oleObj spid="_x0000_s23698" name="Equation" r:id="rId2" imgW="35347275" imgH="5476875" progId="Equation.DSMT4">
                  <p:embed/>
                </p:oleObj>
              </mc:Choice>
              <mc:Fallback>
                <p:oleObj name="Equation" r:id="rId2" imgW="35347275" imgH="5476875" progId="Equation.DSMT4">
                  <p:embed/>
                  <p:pic>
                    <p:nvPicPr>
                      <p:cNvPr id="0" name="对象 7"/>
                      <p:cNvPicPr/>
                      <p:nvPr/>
                    </p:nvPicPr>
                    <p:blipFill>
                      <a:blip r:embed="rId3"/>
                      <a:stretch>
                        <a:fillRect/>
                      </a:stretch>
                    </p:blipFill>
                    <p:spPr>
                      <a:xfrm>
                        <a:off x="3197875" y="3574782"/>
                        <a:ext cx="3957070" cy="611849"/>
                      </a:xfrm>
                      <a:prstGeom prst="rect">
                        <a:avLst/>
                      </a:prstGeom>
                    </p:spPr>
                  </p:pic>
                </p:oleObj>
              </mc:Fallback>
            </mc:AlternateContent>
          </a:graphicData>
        </a:graphic>
      </p:graphicFrame>
      <p:sp>
        <p:nvSpPr>
          <p:cNvPr id="9" name="Rectangle 4"/>
          <p:cNvSpPr>
            <a:spLocks noChangeArrowheads="1"/>
          </p:cNvSpPr>
          <p:nvPr/>
        </p:nvSpPr>
        <p:spPr bwMode="auto">
          <a:xfrm>
            <a:off x="1185545" y="4444121"/>
            <a:ext cx="8569325" cy="496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其中，        的单位为</a:t>
            </a:r>
            <a:r>
              <a:rPr lang="en-US" altLang="zh-CN" sz="2400" dirty="0"/>
              <a:t>dB</a:t>
            </a:r>
            <a:r>
              <a:rPr lang="zh-CN" altLang="en-US" sz="2400" dirty="0"/>
              <a:t>， 的单位为千赫兹</a:t>
            </a:r>
            <a:r>
              <a:rPr lang="en-US" altLang="zh-CN" sz="2400" dirty="0"/>
              <a:t>kHz</a:t>
            </a:r>
            <a:r>
              <a:rPr lang="zh-CN" altLang="en-US" sz="2400" dirty="0"/>
              <a:t>。</a:t>
            </a:r>
            <a:endParaRPr lang="zh-CN" altLang="en-US" sz="2400" dirty="0"/>
          </a:p>
        </p:txBody>
      </p:sp>
      <p:graphicFrame>
        <p:nvGraphicFramePr>
          <p:cNvPr id="2" name="对象 1"/>
          <p:cNvGraphicFramePr>
            <a:graphicFrameLocks noChangeAspect="1"/>
          </p:cNvGraphicFramePr>
          <p:nvPr/>
        </p:nvGraphicFramePr>
        <p:xfrm>
          <a:off x="2051050" y="4543425"/>
          <a:ext cx="771525" cy="396875"/>
        </p:xfrm>
        <a:graphic>
          <a:graphicData uri="http://schemas.openxmlformats.org/presentationml/2006/ole">
            <mc:AlternateContent xmlns:mc="http://schemas.openxmlformats.org/markup-compatibility/2006">
              <mc:Choice xmlns:v="urn:schemas-microsoft-com:vml" Requires="v">
                <p:oleObj spid="_x0000_s23699" name="Equation" r:id="rId4" imgW="10658475" imgH="5476875" progId="Equation.DSMT4">
                  <p:embed/>
                </p:oleObj>
              </mc:Choice>
              <mc:Fallback>
                <p:oleObj name="Equation" r:id="rId4" imgW="10658475" imgH="5476875" progId="Equation.DSMT4">
                  <p:embed/>
                  <p:pic>
                    <p:nvPicPr>
                      <p:cNvPr id="0" name="对象 1"/>
                      <p:cNvPicPr/>
                      <p:nvPr/>
                    </p:nvPicPr>
                    <p:blipFill>
                      <a:blip r:embed="rId5"/>
                      <a:stretch>
                        <a:fillRect/>
                      </a:stretch>
                    </p:blipFill>
                    <p:spPr>
                      <a:xfrm>
                        <a:off x="2051050" y="4543425"/>
                        <a:ext cx="771525" cy="396875"/>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455154" y="4495417"/>
          <a:ext cx="333662" cy="444883"/>
        </p:xfrm>
        <a:graphic>
          <a:graphicData uri="http://schemas.openxmlformats.org/presentationml/2006/ole">
            <mc:AlternateContent xmlns:mc="http://schemas.openxmlformats.org/markup-compatibility/2006">
              <mc:Choice xmlns:v="urn:schemas-microsoft-com:vml" Requires="v">
                <p:oleObj spid="_x0000_s23700" name="Equation" r:id="rId6" imgW="3648075" imgH="4867275" progId="Equation.DSMT4">
                  <p:embed/>
                </p:oleObj>
              </mc:Choice>
              <mc:Fallback>
                <p:oleObj name="Equation" r:id="rId6" imgW="3648075" imgH="4867275" progId="Equation.DSMT4">
                  <p:embed/>
                  <p:pic>
                    <p:nvPicPr>
                      <p:cNvPr id="0" name="对象 9"/>
                      <p:cNvPicPr/>
                      <p:nvPr/>
                    </p:nvPicPr>
                    <p:blipFill>
                      <a:blip r:embed="rId7"/>
                      <a:stretch>
                        <a:fillRect/>
                      </a:stretch>
                    </p:blipFill>
                    <p:spPr>
                      <a:xfrm>
                        <a:off x="4455154" y="4495417"/>
                        <a:ext cx="333662" cy="444883"/>
                      </a:xfrm>
                      <a:prstGeom prst="rect">
                        <a:avLst/>
                      </a:prstGeom>
                    </p:spPr>
                  </p:pic>
                </p:oleObj>
              </mc:Fallback>
            </mc:AlternateContent>
          </a:graphicData>
        </a:graphic>
      </p:graphicFrame>
      <p:sp>
        <p:nvSpPr>
          <p:cNvPr id="11"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597624" y="1147322"/>
            <a:ext cx="2170787"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雨水噪声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11"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1"/>
          <a:stretch>
            <a:fillRect/>
          </a:stretch>
        </p:blipFill>
        <p:spPr>
          <a:xfrm>
            <a:off x="4167943" y="885569"/>
            <a:ext cx="6706536" cy="5458587"/>
          </a:xfrm>
          <a:prstGeom prst="rect">
            <a:avLst/>
          </a:prstGeom>
        </p:spPr>
      </p:pic>
      <p:pic>
        <p:nvPicPr>
          <p:cNvPr id="5" name="图片 53"/>
          <p:cNvPicPr>
            <a:picLocks noChangeAspect="1" noChangeArrowheads="1"/>
          </p:cNvPicPr>
          <p:nvPr/>
        </p:nvPicPr>
        <p:blipFill>
          <a:blip r:embed="rId2">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711938"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4"/>
          <p:cNvSpPr>
            <a:spLocks noChangeArrowheads="1"/>
          </p:cNvSpPr>
          <p:nvPr/>
        </p:nvSpPr>
        <p:spPr bwMode="auto">
          <a:xfrm>
            <a:off x="1018095" y="1934029"/>
            <a:ext cx="3289953" cy="320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        雨水会显著增加海洋环境噪声。右图展示了无雨和不同的降雨量下环境噪声谱级随声呐工作频率的变化。</a:t>
            </a:r>
            <a:endParaRPr lang="en-US" altLang="zh-CN" sz="2400" dirty="0"/>
          </a:p>
          <a:p>
            <a:pPr eaLnBrk="1" hangingPunct="1">
              <a:lnSpc>
                <a:spcPct val="120000"/>
              </a:lnSpc>
              <a:spcBef>
                <a:spcPct val="15000"/>
              </a:spcBef>
              <a:buFontTx/>
              <a:buNone/>
            </a:pPr>
            <a:r>
              <a:rPr lang="en-US" altLang="zh-CN" sz="2400" dirty="0"/>
              <a:t>       </a:t>
            </a:r>
            <a:r>
              <a:rPr lang="zh-CN" altLang="en-US" sz="2400" dirty="0"/>
              <a:t>在有雨时，噪声谱级的变化变得更加平缓。</a:t>
            </a:r>
            <a:endParaRPr lang="en-US" altLang="zh-CN"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617944" y="1301761"/>
            <a:ext cx="3974165"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海洋中的环境噪声：</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10" name="Rectangle 4"/>
          <p:cNvSpPr>
            <a:spLocks noChangeArrowheads="1"/>
          </p:cNvSpPr>
          <p:nvPr/>
        </p:nvSpPr>
        <p:spPr bwMode="auto">
          <a:xfrm>
            <a:off x="1112363" y="2242907"/>
            <a:ext cx="3261673" cy="27091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        右图展示了不同海况（</a:t>
            </a:r>
            <a:r>
              <a:rPr lang="en-US" altLang="zh-CN" sz="2400" dirty="0"/>
              <a:t>DSS</a:t>
            </a:r>
            <a:r>
              <a:rPr lang="zh-CN" altLang="en-US" sz="2400" dirty="0"/>
              <a:t>），不同的降雨（</a:t>
            </a:r>
            <a:r>
              <a:rPr lang="en-US" altLang="zh-CN" sz="2400" dirty="0"/>
              <a:t>rainfall</a:t>
            </a:r>
            <a:r>
              <a:rPr lang="zh-CN" altLang="en-US" sz="2400" dirty="0"/>
              <a:t>）和不同的船舶（</a:t>
            </a:r>
            <a:r>
              <a:rPr lang="en-US" altLang="zh-CN" sz="2400" dirty="0"/>
              <a:t>shipping</a:t>
            </a:r>
            <a:r>
              <a:rPr lang="zh-CN" altLang="en-US" sz="2400" dirty="0"/>
              <a:t>）下平均噪声谱级随声呐工作频率频率的变化。</a:t>
            </a:r>
            <a:endParaRPr lang="zh-CN" altLang="en-US" sz="2400" dirty="0"/>
          </a:p>
        </p:txBody>
      </p:sp>
      <p:pic>
        <p:nvPicPr>
          <p:cNvPr id="9" name="图片 8"/>
          <p:cNvPicPr>
            <a:picLocks noChangeAspect="1"/>
          </p:cNvPicPr>
          <p:nvPr/>
        </p:nvPicPr>
        <p:blipFill rotWithShape="1">
          <a:blip r:embed="rId1"/>
          <a:srcRect t="1258" b="6514"/>
          <a:stretch>
            <a:fillRect/>
          </a:stretch>
        </p:blipFill>
        <p:spPr>
          <a:xfrm>
            <a:off x="4854803" y="788152"/>
            <a:ext cx="6587277" cy="5328131"/>
          </a:xfrm>
          <a:prstGeom prst="rect">
            <a:avLst/>
          </a:prstGeom>
        </p:spPr>
      </p:pic>
      <p:pic>
        <p:nvPicPr>
          <p:cNvPr id="5" name="图片 53"/>
          <p:cNvPicPr>
            <a:picLocks noChangeAspect="1" noChangeArrowheads="1"/>
          </p:cNvPicPr>
          <p:nvPr/>
        </p:nvPicPr>
        <p:blipFill>
          <a:blip r:embed="rId2">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40590" y="6020599"/>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666480" y="6197682"/>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617944" y="1301761"/>
            <a:ext cx="4156907"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、深海环境噪声谱：</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文本框 3"/>
          <p:cNvSpPr txBox="1"/>
          <p:nvPr/>
        </p:nvSpPr>
        <p:spPr>
          <a:xfrm>
            <a:off x="1056640" y="2337219"/>
            <a:ext cx="4043680" cy="2921505"/>
          </a:xfrm>
          <a:prstGeom prst="rect">
            <a:avLst/>
          </a:prstGeom>
          <a:noFill/>
        </p:spPr>
        <p:txBody>
          <a:bodyPr wrap="square">
            <a:spAutoFit/>
          </a:bodyPr>
          <a:lstStyle/>
          <a:p>
            <a:pPr>
              <a:lnSpc>
                <a:spcPct val="130000"/>
              </a:lnSpc>
            </a:pPr>
            <a:r>
              <a:rPr lang="en-US" altLang="zh-CN" sz="2400" dirty="0">
                <a:latin typeface="宋体" pitchFamily="2" charset="-122"/>
                <a:ea typeface="宋体" pitchFamily="2" charset="-122"/>
              </a:rPr>
              <a:t>·</a:t>
            </a:r>
            <a:r>
              <a:rPr lang="zh-CN" altLang="en-US" sz="2400" dirty="0">
                <a:latin typeface="宋体" pitchFamily="2" charset="-122"/>
                <a:ea typeface="宋体" pitchFamily="2" charset="-122"/>
              </a:rPr>
              <a:t>右图为</a:t>
            </a:r>
            <a:r>
              <a:rPr lang="en-US" altLang="zh-CN" sz="2400" dirty="0">
                <a:latin typeface="Times New Roman" panose="02020603050405020304" pitchFamily="18" charset="0"/>
                <a:ea typeface="宋体" pitchFamily="2" charset="-122"/>
              </a:rPr>
              <a:t>20</a:t>
            </a:r>
            <a:r>
              <a:rPr lang="zh-CN" altLang="en-US" sz="2400" dirty="0">
                <a:latin typeface="Times New Roman" panose="02020603050405020304" pitchFamily="18" charset="0"/>
                <a:ea typeface="宋体" pitchFamily="2" charset="-122"/>
              </a:rPr>
              <a:t>世纪</a:t>
            </a:r>
            <a:r>
              <a:rPr lang="en-US" altLang="zh-CN" sz="2400" dirty="0">
                <a:latin typeface="Times New Roman" panose="02020603050405020304" pitchFamily="18" charset="0"/>
                <a:ea typeface="宋体" pitchFamily="2" charset="-122"/>
              </a:rPr>
              <a:t>60</a:t>
            </a:r>
            <a:r>
              <a:rPr lang="zh-CN" altLang="en-US" sz="2400" dirty="0">
                <a:latin typeface="Times New Roman" panose="02020603050405020304" pitchFamily="18" charset="0"/>
                <a:ea typeface="宋体" pitchFamily="2" charset="-122"/>
              </a:rPr>
              <a:t>年代，</a:t>
            </a:r>
            <a:r>
              <a:rPr lang="en-US" altLang="zh-CN" sz="2400" dirty="0">
                <a:latin typeface="Times New Roman" panose="02020603050405020304" pitchFamily="18" charset="0"/>
                <a:ea typeface="宋体" pitchFamily="2" charset="-122"/>
              </a:rPr>
              <a:t>Wenz</a:t>
            </a:r>
            <a:r>
              <a:rPr lang="zh-CN" altLang="en-US" sz="2400" dirty="0">
                <a:latin typeface="Times New Roman" panose="02020603050405020304" pitchFamily="18" charset="0"/>
                <a:ea typeface="宋体" pitchFamily="2" charset="-122"/>
              </a:rPr>
              <a:t>提出环境噪声的 </a:t>
            </a:r>
            <a:r>
              <a:rPr lang="en-US" altLang="zh-CN" sz="2400" dirty="0">
                <a:latin typeface="Times New Roman" panose="02020603050405020304" pitchFamily="18" charset="0"/>
                <a:ea typeface="宋体" pitchFamily="2" charset="-122"/>
              </a:rPr>
              <a:t>Wenz</a:t>
            </a:r>
            <a:r>
              <a:rPr lang="zh-CN" altLang="en-US" sz="2400" dirty="0">
                <a:latin typeface="Times New Roman" panose="02020603050405020304" pitchFamily="18" charset="0"/>
                <a:ea typeface="宋体" pitchFamily="2" charset="-122"/>
              </a:rPr>
              <a:t>谱级图。</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 </a:t>
            </a:r>
            <a:r>
              <a:rPr lang="en-US" altLang="zh-CN" sz="2400" dirty="0">
                <a:latin typeface="宋体" pitchFamily="2" charset="-122"/>
                <a:ea typeface="宋体" pitchFamily="2" charset="-122"/>
              </a:rPr>
              <a:t>·</a:t>
            </a:r>
            <a:r>
              <a:rPr lang="zh-CN" altLang="en-US" sz="2400" dirty="0">
                <a:latin typeface="Times New Roman" panose="02020603050405020304" pitchFamily="18" charset="0"/>
                <a:ea typeface="宋体" pitchFamily="2" charset="-122"/>
              </a:rPr>
              <a:t>较细致地描述了环境噪声的普遍规律性，被认为最具代表性的深海噪声谱曲线。</a:t>
            </a:r>
            <a:endParaRPr lang="zh-CN" altLang="en-US" sz="2400" dirty="0">
              <a:latin typeface="Times New Roman" panose="02020603050405020304" pitchFamily="18" charset="0"/>
              <a:ea typeface="宋体" pitchFamily="2" charset="-122"/>
            </a:endParaRPr>
          </a:p>
        </p:txBody>
      </p:sp>
      <p:pic>
        <p:nvPicPr>
          <p:cNvPr id="6" name="Picture 6" descr="ambient-wentz-colo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5074" y="1107439"/>
            <a:ext cx="4887326" cy="4958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8104" y="1013651"/>
            <a:ext cx="4156907"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、深海环境噪声谱：</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1022665" y="1666688"/>
            <a:ext cx="4043680" cy="4825552"/>
          </a:xfrm>
          <a:prstGeom prst="rect">
            <a:avLst/>
          </a:prstGeom>
          <a:noFill/>
        </p:spPr>
        <p:txBody>
          <a:bodyPr wrap="square">
            <a:spAutoFit/>
          </a:bodyPr>
          <a:lstStyle/>
          <a:p>
            <a:pPr>
              <a:lnSpc>
                <a:spcPct val="130000"/>
              </a:lnSpc>
            </a:pPr>
            <a:r>
              <a:rPr lang="zh-CN" altLang="en-US" sz="2400" dirty="0">
                <a:latin typeface="Times New Roman" panose="02020603050405020304" pitchFamily="18" charset="0"/>
                <a:ea typeface="宋体" pitchFamily="2" charset="-122"/>
              </a:rPr>
              <a:t>深海环境噪声谱由斜率的不同的五部分组成：</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1</a:t>
            </a:r>
            <a:r>
              <a:rPr lang="zh-CN" altLang="en-US" sz="2400" dirty="0">
                <a:latin typeface="Times New Roman" panose="02020603050405020304" pitchFamily="18" charset="0"/>
                <a:ea typeface="宋体" pitchFamily="2" charset="-122"/>
              </a:rPr>
              <a:t>）频段</a:t>
            </a:r>
            <a:r>
              <a:rPr lang="en-US" altLang="zh-CN" sz="2400" dirty="0">
                <a:latin typeface="Times New Roman" panose="02020603050405020304" pitchFamily="18" charset="0"/>
                <a:ea typeface="宋体" pitchFamily="2" charset="-122"/>
              </a:rPr>
              <a:t>Ⅰ</a:t>
            </a:r>
            <a:r>
              <a:rPr lang="zh-CN" altLang="en-US" sz="2400" dirty="0">
                <a:latin typeface="Times New Roman" panose="02020603050405020304" pitchFamily="18" charset="0"/>
                <a:ea typeface="宋体" pitchFamily="2" charset="-122"/>
              </a:rPr>
              <a:t>，至今还不为人所知。估计该噪声来源于海水静压力效应或是地球内部的地震扰动。</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2</a:t>
            </a:r>
            <a:r>
              <a:rPr lang="zh-CN" altLang="en-US" sz="2400" dirty="0">
                <a:latin typeface="Times New Roman" panose="02020603050405020304" pitchFamily="18" charset="0"/>
                <a:ea typeface="宋体" pitchFamily="2" charset="-122"/>
              </a:rPr>
              <a:t>）频段</a:t>
            </a:r>
            <a:r>
              <a:rPr lang="en-US" altLang="zh-CN" sz="2400" dirty="0">
                <a:latin typeface="Times New Roman" panose="02020603050405020304" pitchFamily="18" charset="0"/>
                <a:ea typeface="宋体" pitchFamily="2" charset="-122"/>
              </a:rPr>
              <a:t>Ⅱ</a:t>
            </a:r>
            <a:r>
              <a:rPr lang="zh-CN" altLang="en-US" sz="2400" dirty="0">
                <a:latin typeface="Times New Roman" panose="02020603050405020304" pitchFamily="18" charset="0"/>
                <a:ea typeface="宋体" pitchFamily="2" charset="-122"/>
              </a:rPr>
              <a:t>，谱斜率为</a:t>
            </a:r>
            <a:r>
              <a:rPr lang="en-US" altLang="zh-CN" sz="2400" dirty="0">
                <a:latin typeface="Times New Roman" panose="02020603050405020304" pitchFamily="18" charset="0"/>
                <a:ea typeface="宋体" pitchFamily="2" charset="-122"/>
              </a:rPr>
              <a:t>-8~-10dB/</a:t>
            </a:r>
            <a:r>
              <a:rPr lang="zh-CN" altLang="en-US" sz="2400" dirty="0">
                <a:latin typeface="Times New Roman" panose="02020603050405020304" pitchFamily="18" charset="0"/>
                <a:ea typeface="宋体" pitchFamily="2" charset="-122"/>
              </a:rPr>
              <a:t>倍频程，与风速仅有很微弱关系，最可能噪声源是海洋湍流。</a:t>
            </a:r>
            <a:endParaRPr lang="zh-CN" altLang="en-US" sz="2400" dirty="0">
              <a:latin typeface="Times New Roman" panose="02020603050405020304" pitchFamily="18" charset="0"/>
              <a:ea typeface="宋体" pitchFamily="2" charset="-122"/>
            </a:endParaRPr>
          </a:p>
        </p:txBody>
      </p:sp>
      <p:graphicFrame>
        <p:nvGraphicFramePr>
          <p:cNvPr id="7" name="Object 5"/>
          <p:cNvGraphicFramePr>
            <a:graphicFrameLocks noChangeAspect="1"/>
          </p:cNvGraphicFramePr>
          <p:nvPr/>
        </p:nvGraphicFramePr>
        <p:xfrm>
          <a:off x="5213377" y="852559"/>
          <a:ext cx="5383503" cy="5639681"/>
        </p:xfrm>
        <a:graphic>
          <a:graphicData uri="http://schemas.openxmlformats.org/presentationml/2006/ole">
            <mc:AlternateContent xmlns:mc="http://schemas.openxmlformats.org/markup-compatibility/2006">
              <mc:Choice xmlns:v="urn:schemas-microsoft-com:vml" Requires="v">
                <p:oleObj spid="_x0000_s12359" name="" r:id="rId1" imgW="7343775" imgH="6105525" progId="PBrush">
                  <p:embed/>
                </p:oleObj>
              </mc:Choice>
              <mc:Fallback>
                <p:oleObj name="" r:id="rId1" imgW="7343775" imgH="6105525" progId="PBrush">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77" y="852559"/>
                        <a:ext cx="5383503" cy="5639681"/>
                      </a:xfrm>
                      <a:prstGeom prst="rect">
                        <a:avLst/>
                      </a:prstGeom>
                      <a:noFill/>
                      <a:ln>
                        <a:noFill/>
                      </a:ln>
                      <a:effectLst/>
                    </p:spPr>
                  </p:pic>
                </p:oleObj>
              </mc:Fallback>
            </mc:AlternateContent>
          </a:graphicData>
        </a:graphic>
      </p:graphicFrame>
      <p:pic>
        <p:nvPicPr>
          <p:cNvPr id="5" name="图片 53"/>
          <p:cNvPicPr>
            <a:picLocks noChangeAspect="1" noChangeArrowheads="1"/>
          </p:cNvPicPr>
          <p:nvPr/>
        </p:nvPicPr>
        <p:blipFill>
          <a:blip r:embed="rId3">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9178341" y="6215900"/>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8104" y="1013651"/>
            <a:ext cx="4156907"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、深海环境噪声谱：</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文本框 5"/>
          <p:cNvSpPr txBox="1"/>
          <p:nvPr/>
        </p:nvSpPr>
        <p:spPr>
          <a:xfrm>
            <a:off x="1022665" y="1666688"/>
            <a:ext cx="4043680" cy="4345420"/>
          </a:xfrm>
          <a:prstGeom prst="rect">
            <a:avLst/>
          </a:prstGeom>
          <a:noFill/>
        </p:spPr>
        <p:txBody>
          <a:bodyPr wrap="square">
            <a:spAutoFit/>
          </a:bodyPr>
          <a:lstStyle/>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3</a:t>
            </a:r>
            <a:r>
              <a:rPr lang="zh-CN" altLang="en-US" sz="2400" dirty="0">
                <a:latin typeface="Times New Roman" panose="02020603050405020304" pitchFamily="18" charset="0"/>
                <a:ea typeface="宋体" pitchFamily="2" charset="-122"/>
              </a:rPr>
              <a:t>）频段</a:t>
            </a:r>
            <a:r>
              <a:rPr lang="en-US" altLang="zh-CN" sz="2400" dirty="0">
                <a:latin typeface="Times New Roman" panose="02020603050405020304" pitchFamily="18" charset="0"/>
                <a:ea typeface="宋体" pitchFamily="2" charset="-122"/>
              </a:rPr>
              <a:t>Ⅲ</a:t>
            </a:r>
            <a:r>
              <a:rPr lang="zh-CN" altLang="en-US" sz="2400" dirty="0">
                <a:latin typeface="Times New Roman" panose="02020603050405020304" pitchFamily="18" charset="0"/>
                <a:ea typeface="宋体" pitchFamily="2" charset="-122"/>
              </a:rPr>
              <a:t>，噪声谱基本是平的，远处行船是主要噪声源。</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4</a:t>
            </a:r>
            <a:r>
              <a:rPr lang="zh-CN" altLang="en-US" sz="2400" dirty="0">
                <a:latin typeface="Times New Roman" panose="02020603050405020304" pitchFamily="18" charset="0"/>
                <a:ea typeface="宋体" pitchFamily="2" charset="-122"/>
              </a:rPr>
              <a:t>）频段</a:t>
            </a:r>
            <a:r>
              <a:rPr lang="en-US" altLang="zh-CN" sz="2400" dirty="0">
                <a:latin typeface="Times New Roman" panose="02020603050405020304" pitchFamily="18" charset="0"/>
                <a:ea typeface="宋体" pitchFamily="2" charset="-122"/>
              </a:rPr>
              <a:t>Ⅳ</a:t>
            </a:r>
            <a:r>
              <a:rPr lang="zh-CN" altLang="en-US" sz="2400" dirty="0">
                <a:latin typeface="Times New Roman" panose="02020603050405020304" pitchFamily="18" charset="0"/>
                <a:ea typeface="宋体" pitchFamily="2" charset="-122"/>
              </a:rPr>
              <a:t>，谱斜率具有</a:t>
            </a:r>
            <a:r>
              <a:rPr lang="en-US" altLang="zh-CN" sz="2400" dirty="0">
                <a:latin typeface="Times New Roman" panose="02020603050405020304" pitchFamily="18" charset="0"/>
                <a:ea typeface="宋体" pitchFamily="2" charset="-122"/>
              </a:rPr>
              <a:t>-5~-6dB/</a:t>
            </a:r>
            <a:r>
              <a:rPr lang="zh-CN" altLang="en-US" sz="2400" dirty="0">
                <a:latin typeface="Times New Roman" panose="02020603050405020304" pitchFamily="18" charset="0"/>
                <a:ea typeface="宋体" pitchFamily="2" charset="-122"/>
              </a:rPr>
              <a:t>倍频程，噪声源是离测量点不远的粗糙海面。</a:t>
            </a:r>
            <a:endParaRPr lang="zh-CN" altLang="en-US" sz="2400" dirty="0">
              <a:latin typeface="Times New Roman" panose="02020603050405020304" pitchFamily="18" charset="0"/>
              <a:ea typeface="宋体" pitchFamily="2" charset="-122"/>
            </a:endParaRPr>
          </a:p>
          <a:p>
            <a:pPr>
              <a:lnSpc>
                <a:spcPct val="130000"/>
              </a:lnSpc>
            </a:pPr>
            <a:r>
              <a:rPr lang="zh-CN" altLang="en-US" sz="2400" dirty="0">
                <a:latin typeface="Times New Roman" panose="02020603050405020304" pitchFamily="18" charset="0"/>
                <a:ea typeface="宋体" pitchFamily="2" charset="-122"/>
              </a:rPr>
              <a:t>（</a:t>
            </a:r>
            <a:r>
              <a:rPr lang="en-US" altLang="zh-CN" sz="2400" dirty="0">
                <a:latin typeface="Times New Roman" panose="02020603050405020304" pitchFamily="18" charset="0"/>
                <a:ea typeface="宋体" pitchFamily="2" charset="-122"/>
              </a:rPr>
              <a:t>5</a:t>
            </a:r>
            <a:r>
              <a:rPr lang="zh-CN" altLang="en-US" sz="2400" dirty="0">
                <a:latin typeface="Times New Roman" panose="02020603050405020304" pitchFamily="18" charset="0"/>
                <a:ea typeface="宋体" pitchFamily="2" charset="-122"/>
              </a:rPr>
              <a:t>）频段</a:t>
            </a:r>
            <a:r>
              <a:rPr lang="en-US" altLang="zh-CN" sz="2400" dirty="0">
                <a:latin typeface="Times New Roman" panose="02020603050405020304" pitchFamily="18" charset="0"/>
                <a:ea typeface="宋体" pitchFamily="2" charset="-122"/>
              </a:rPr>
              <a:t>Ⅴ</a:t>
            </a:r>
            <a:r>
              <a:rPr lang="zh-CN" altLang="en-US" sz="2400" dirty="0">
                <a:latin typeface="Times New Roman" panose="02020603050405020304" pitchFamily="18" charset="0"/>
                <a:ea typeface="宋体" pitchFamily="2" charset="-122"/>
              </a:rPr>
              <a:t>，海水介质分子热运动噪声，谱线斜率为</a:t>
            </a:r>
            <a:r>
              <a:rPr lang="en-US" altLang="zh-CN" sz="2400" dirty="0">
                <a:latin typeface="Times New Roman" panose="02020603050405020304" pitchFamily="18" charset="0"/>
                <a:ea typeface="宋体" pitchFamily="2" charset="-122"/>
              </a:rPr>
              <a:t>6dB/</a:t>
            </a:r>
            <a:r>
              <a:rPr lang="zh-CN" altLang="en-US" sz="2400" dirty="0">
                <a:latin typeface="Times New Roman" panose="02020603050405020304" pitchFamily="18" charset="0"/>
                <a:ea typeface="宋体" pitchFamily="2" charset="-122"/>
              </a:rPr>
              <a:t>倍频程。</a:t>
            </a:r>
            <a:endParaRPr lang="zh-CN" altLang="en-US" sz="2400" dirty="0">
              <a:latin typeface="Times New Roman" panose="02020603050405020304" pitchFamily="18" charset="0"/>
              <a:ea typeface="宋体" pitchFamily="2" charset="-122"/>
            </a:endParaRPr>
          </a:p>
        </p:txBody>
      </p:sp>
      <p:graphicFrame>
        <p:nvGraphicFramePr>
          <p:cNvPr id="7" name="Object 5"/>
          <p:cNvGraphicFramePr>
            <a:graphicFrameLocks noChangeAspect="1"/>
          </p:cNvGraphicFramePr>
          <p:nvPr/>
        </p:nvGraphicFramePr>
        <p:xfrm>
          <a:off x="5213377" y="852559"/>
          <a:ext cx="5383503" cy="5639681"/>
        </p:xfrm>
        <a:graphic>
          <a:graphicData uri="http://schemas.openxmlformats.org/presentationml/2006/ole">
            <mc:AlternateContent xmlns:mc="http://schemas.openxmlformats.org/markup-compatibility/2006">
              <mc:Choice xmlns:v="urn:schemas-microsoft-com:vml" Requires="v">
                <p:oleObj spid="_x0000_s13383" name="" r:id="rId1" imgW="7343775" imgH="6105525" progId="PBrush">
                  <p:embed/>
                </p:oleObj>
              </mc:Choice>
              <mc:Fallback>
                <p:oleObj name="" r:id="rId1" imgW="7343775" imgH="6105525" progId="PBrush">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77" y="852559"/>
                        <a:ext cx="5383503" cy="5639681"/>
                      </a:xfrm>
                      <a:prstGeom prst="rect">
                        <a:avLst/>
                      </a:prstGeom>
                      <a:noFill/>
                      <a:ln>
                        <a:noFill/>
                      </a:ln>
                      <a:effectLst/>
                    </p:spPr>
                  </p:pic>
                </p:oleObj>
              </mc:Fallback>
            </mc:AlternateContent>
          </a:graphicData>
        </a:graphic>
      </p:graphicFrame>
      <p:pic>
        <p:nvPicPr>
          <p:cNvPr id="5" name="图片 53"/>
          <p:cNvPicPr>
            <a:picLocks noChangeAspect="1" noChangeArrowheads="1"/>
          </p:cNvPicPr>
          <p:nvPr/>
        </p:nvPicPr>
        <p:blipFill>
          <a:blip r:embed="rId3">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9178341" y="6215900"/>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597624" y="1147322"/>
            <a:ext cx="7401385"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3</a:t>
            </a:r>
            <a:r>
              <a:rPr lang="zh-CN" altLang="en-US" sz="2800" b="1" dirty="0">
                <a:solidFill>
                  <a:srgbClr val="0033CC"/>
                </a:solidFill>
                <a:latin typeface="黑体" panose="02010609060101010101" pitchFamily="49" charset="-122"/>
                <a:ea typeface="黑体" panose="02010609060101010101" pitchFamily="49" charset="-122"/>
              </a:rPr>
              <a:t>、海洋环境噪声振幅分布和空间相关性：</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文本框 5"/>
          <p:cNvSpPr txBox="1"/>
          <p:nvPr/>
        </p:nvSpPr>
        <p:spPr>
          <a:xfrm>
            <a:off x="1744024" y="1802707"/>
            <a:ext cx="8121335" cy="3346237"/>
          </a:xfrm>
          <a:prstGeom prst="rect">
            <a:avLst/>
          </a:prstGeom>
          <a:noFill/>
        </p:spPr>
        <p:txBody>
          <a:bodyPr wrap="square">
            <a:spAutoFit/>
          </a:bodyPr>
          <a:lstStyle/>
          <a:p>
            <a:pPr>
              <a:lnSpc>
                <a:spcPct val="150000"/>
              </a:lnSpc>
            </a:pPr>
            <a:r>
              <a:rPr lang="zh-CN" altLang="en-US" sz="2400" b="1" dirty="0">
                <a:latin typeface="Times New Roman" panose="02020603050405020304" pitchFamily="18" charset="0"/>
                <a:ea typeface="宋体" pitchFamily="2" charset="-122"/>
              </a:rPr>
              <a:t>（</a:t>
            </a:r>
            <a:r>
              <a:rPr lang="en-US" altLang="zh-CN" sz="2400" b="1" dirty="0">
                <a:latin typeface="Times New Roman" panose="02020603050405020304" pitchFamily="18" charset="0"/>
                <a:ea typeface="宋体" pitchFamily="2" charset="-122"/>
              </a:rPr>
              <a:t>1</a:t>
            </a:r>
            <a:r>
              <a:rPr lang="zh-CN" altLang="en-US" sz="2400" b="1" dirty="0">
                <a:latin typeface="Times New Roman" panose="02020603050405020304" pitchFamily="18" charset="0"/>
                <a:ea typeface="宋体" pitchFamily="2" charset="-122"/>
              </a:rPr>
              <a:t>）振幅分布</a:t>
            </a:r>
            <a:endParaRPr lang="zh-CN" altLang="en-US" sz="2400" b="1" dirty="0">
              <a:latin typeface="Times New Roman" panose="02020603050405020304" pitchFamily="18" charset="0"/>
              <a:ea typeface="宋体" pitchFamily="2" charset="-122"/>
            </a:endParaRPr>
          </a:p>
          <a:p>
            <a:pPr>
              <a:lnSpc>
                <a:spcPct val="150000"/>
              </a:lnSpc>
            </a:pPr>
            <a:r>
              <a:rPr lang="en-US" altLang="zh-CN" sz="2400" b="1" dirty="0">
                <a:latin typeface="宋体" pitchFamily="2" charset="-122"/>
                <a:ea typeface="宋体" pitchFamily="2" charset="-122"/>
              </a:rPr>
              <a:t>·</a:t>
            </a:r>
            <a:r>
              <a:rPr lang="zh-CN" altLang="en-US" sz="2400" dirty="0">
                <a:latin typeface="Times New Roman" panose="02020603050405020304" pitchFamily="18" charset="0"/>
                <a:ea typeface="宋体" pitchFamily="2" charset="-122"/>
              </a:rPr>
              <a:t>海洋环境噪声是由大量噪声源的辐射噪声叠加所组成的，各噪声源之间互不相关；</a:t>
            </a:r>
            <a:endParaRPr lang="zh-CN" altLang="en-US" sz="2400" dirty="0">
              <a:latin typeface="Times New Roman" panose="02020603050405020304" pitchFamily="18" charset="0"/>
              <a:ea typeface="宋体" pitchFamily="2" charset="-122"/>
            </a:endParaRPr>
          </a:p>
          <a:p>
            <a:pPr>
              <a:lnSpc>
                <a:spcPct val="150000"/>
              </a:lnSpc>
            </a:pPr>
            <a:r>
              <a:rPr lang="en-US" altLang="zh-CN" sz="2400" b="1" dirty="0">
                <a:latin typeface="宋体" pitchFamily="2" charset="-122"/>
                <a:ea typeface="宋体" pitchFamily="2" charset="-122"/>
              </a:rPr>
              <a:t>·</a:t>
            </a:r>
            <a:r>
              <a:rPr lang="zh-CN" altLang="en-US" sz="2400" dirty="0">
                <a:latin typeface="Times New Roman" panose="02020603050405020304" pitchFamily="18" charset="0"/>
                <a:ea typeface="宋体" pitchFamily="2" charset="-122"/>
              </a:rPr>
              <a:t> 海洋环境噪声的振幅分布是高斯分布，但在近海面其分布比高斯型尖，原因是噪声源数目不够大；</a:t>
            </a:r>
            <a:endParaRPr lang="zh-CN" altLang="en-US" sz="2400" dirty="0">
              <a:latin typeface="Times New Roman" panose="02020603050405020304" pitchFamily="18" charset="0"/>
              <a:ea typeface="宋体" pitchFamily="2" charset="-122"/>
            </a:endParaRPr>
          </a:p>
          <a:p>
            <a:pPr>
              <a:lnSpc>
                <a:spcPct val="150000"/>
              </a:lnSpc>
            </a:pPr>
            <a:r>
              <a:rPr lang="en-US" altLang="zh-CN" sz="2400" b="1" dirty="0">
                <a:latin typeface="宋体" pitchFamily="2" charset="-122"/>
                <a:ea typeface="宋体" pitchFamily="2" charset="-122"/>
              </a:rPr>
              <a:t>·</a:t>
            </a:r>
            <a:r>
              <a:rPr lang="zh-CN" altLang="en-US" sz="2400" dirty="0">
                <a:latin typeface="Times New Roman" panose="02020603050405020304" pitchFamily="18" charset="0"/>
                <a:ea typeface="宋体" pitchFamily="2" charset="-122"/>
              </a:rPr>
              <a:t>海洋环境噪声短时间内是平稳的，长时间则是非平稳的。</a:t>
            </a:r>
            <a:endParaRPr lang="zh-CN" altLang="en-US" sz="2400" dirty="0">
              <a:latin typeface="Times New Roman" panose="02020603050405020304" pitchFamily="18" charset="0"/>
              <a:ea typeface="宋体"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6.3 </a:t>
            </a:r>
            <a:r>
              <a:rPr lang="zh-CN" altLang="en-US" sz="3600" b="1" dirty="0">
                <a:solidFill>
                  <a:srgbClr val="CC3300"/>
                </a:solidFill>
                <a:latin typeface="黑体" panose="02010609060101010101" pitchFamily="49" charset="-122"/>
                <a:ea typeface="黑体" panose="02010609060101010101" pitchFamily="49" charset="-122"/>
              </a:rPr>
              <a:t>海洋环境噪声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597624" y="1147322"/>
            <a:ext cx="7401385"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3</a:t>
            </a:r>
            <a:r>
              <a:rPr lang="zh-CN" altLang="en-US" sz="2800" b="1" dirty="0">
                <a:solidFill>
                  <a:srgbClr val="0033CC"/>
                </a:solidFill>
                <a:latin typeface="黑体" panose="02010609060101010101" pitchFamily="49" charset="-122"/>
                <a:ea typeface="黑体" panose="02010609060101010101" pitchFamily="49" charset="-122"/>
              </a:rPr>
              <a:t>、海洋环境噪声振幅分布和空间相关性：</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文本框 5"/>
          <p:cNvSpPr txBox="1"/>
          <p:nvPr/>
        </p:nvSpPr>
        <p:spPr>
          <a:xfrm>
            <a:off x="1520504" y="1810443"/>
            <a:ext cx="9299896" cy="3346237"/>
          </a:xfrm>
          <a:prstGeom prst="rect">
            <a:avLst/>
          </a:prstGeom>
          <a:noFill/>
        </p:spPr>
        <p:txBody>
          <a:bodyPr wrap="square">
            <a:spAutoFit/>
          </a:bodyPr>
          <a:lstStyle/>
          <a:p>
            <a:pPr>
              <a:lnSpc>
                <a:spcPct val="150000"/>
              </a:lnSpc>
            </a:pPr>
            <a:r>
              <a:rPr lang="zh-CN" altLang="en-US" sz="2400" b="1" dirty="0">
                <a:latin typeface="Times New Roman" panose="02020603050405020304" pitchFamily="18" charset="0"/>
                <a:ea typeface="宋体" pitchFamily="2" charset="-122"/>
              </a:rPr>
              <a:t>（</a:t>
            </a:r>
            <a:r>
              <a:rPr lang="en-US" altLang="zh-CN" sz="2400" b="1" dirty="0">
                <a:latin typeface="Times New Roman" panose="02020603050405020304" pitchFamily="18" charset="0"/>
                <a:ea typeface="宋体" pitchFamily="2" charset="-122"/>
              </a:rPr>
              <a:t>2</a:t>
            </a:r>
            <a:r>
              <a:rPr lang="zh-CN" altLang="en-US" sz="2400" b="1" dirty="0">
                <a:latin typeface="Times New Roman" panose="02020603050405020304" pitchFamily="18" charset="0"/>
                <a:ea typeface="宋体" pitchFamily="2" charset="-122"/>
              </a:rPr>
              <a:t>）空间相关性</a:t>
            </a:r>
            <a:endParaRPr lang="zh-CN" altLang="en-US" sz="2400" b="1" dirty="0">
              <a:latin typeface="Times New Roman" panose="02020603050405020304" pitchFamily="18" charset="0"/>
              <a:ea typeface="宋体" pitchFamily="2" charset="-122"/>
            </a:endParaRPr>
          </a:p>
          <a:p>
            <a:pPr>
              <a:lnSpc>
                <a:spcPct val="150000"/>
              </a:lnSpc>
            </a:pPr>
            <a:r>
              <a:rPr lang="en-US" altLang="zh-CN" sz="2400" b="1" dirty="0">
                <a:latin typeface="宋体" pitchFamily="2" charset="-122"/>
                <a:ea typeface="宋体" pitchFamily="2" charset="-122"/>
              </a:rPr>
              <a:t>·</a:t>
            </a:r>
            <a:r>
              <a:rPr lang="zh-CN" altLang="en-US" sz="2400" b="1" dirty="0">
                <a:latin typeface="Times New Roman" panose="02020603050405020304" pitchFamily="18" charset="0"/>
                <a:ea typeface="宋体" pitchFamily="2" charset="-122"/>
              </a:rPr>
              <a:t>噪声的空间相关性：</a:t>
            </a:r>
            <a:r>
              <a:rPr lang="zh-CN" altLang="en-US" sz="2400" dirty="0">
                <a:latin typeface="Times New Roman" panose="02020603050405020304" pitchFamily="18" charset="0"/>
                <a:ea typeface="宋体" pitchFamily="2" charset="-122"/>
              </a:rPr>
              <a:t>指海中相隔开的水听器接收到噪声的乘积对时间平均。</a:t>
            </a:r>
            <a:endParaRPr lang="zh-CN" altLang="en-US" sz="2400" dirty="0">
              <a:latin typeface="Times New Roman" panose="02020603050405020304" pitchFamily="18" charset="0"/>
              <a:ea typeface="宋体" pitchFamily="2" charset="-122"/>
            </a:endParaRPr>
          </a:p>
          <a:p>
            <a:pPr>
              <a:lnSpc>
                <a:spcPct val="150000"/>
              </a:lnSpc>
            </a:pPr>
            <a:r>
              <a:rPr lang="en-US" altLang="zh-CN" sz="2400" b="1" dirty="0">
                <a:latin typeface="宋体" pitchFamily="2" charset="-122"/>
                <a:ea typeface="宋体" pitchFamily="2" charset="-122"/>
              </a:rPr>
              <a:t>·</a:t>
            </a:r>
            <a:r>
              <a:rPr lang="zh-CN" altLang="en-US" sz="2400" dirty="0">
                <a:latin typeface="Times New Roman" panose="02020603050405020304" pitchFamily="18" charset="0"/>
                <a:ea typeface="宋体" pitchFamily="2" charset="-122"/>
              </a:rPr>
              <a:t>为降低环境噪对声呐基阵设计具有重要意义；声的干扰，基阵基元间距应大于环境噪声的空间相关半径，提高基阵输出端的信噪比；</a:t>
            </a:r>
            <a:endParaRPr lang="zh-CN" altLang="en-US" sz="2400" dirty="0">
              <a:latin typeface="Times New Roman" panose="02020603050405020304" pitchFamily="18" charset="0"/>
              <a:ea typeface="宋体" pitchFamily="2" charset="-122"/>
            </a:endParaRPr>
          </a:p>
          <a:p>
            <a:pPr>
              <a:lnSpc>
                <a:spcPct val="150000"/>
              </a:lnSpc>
            </a:pPr>
            <a:r>
              <a:rPr lang="en-US" altLang="zh-CN" sz="2400" b="1" dirty="0">
                <a:latin typeface="宋体" pitchFamily="2" charset="-122"/>
                <a:ea typeface="宋体" pitchFamily="2" charset="-122"/>
              </a:rPr>
              <a:t>·</a:t>
            </a:r>
            <a:r>
              <a:rPr lang="zh-CN" altLang="en-US" sz="2400" dirty="0">
                <a:latin typeface="Times New Roman" panose="02020603050405020304" pitchFamily="18" charset="0"/>
                <a:ea typeface="宋体" pitchFamily="2" charset="-122"/>
              </a:rPr>
              <a:t>两个相距为</a:t>
            </a:r>
            <a:r>
              <a:rPr lang="en-US" altLang="zh-CN" sz="2400" dirty="0">
                <a:latin typeface="Times New Roman" panose="02020603050405020304" pitchFamily="18" charset="0"/>
                <a:ea typeface="宋体" pitchFamily="2" charset="-122"/>
              </a:rPr>
              <a:t>d</a:t>
            </a:r>
            <a:r>
              <a:rPr lang="zh-CN" altLang="en-US" sz="2400" dirty="0">
                <a:latin typeface="Times New Roman" panose="02020603050405020304" pitchFamily="18" charset="0"/>
                <a:ea typeface="宋体" pitchFamily="2" charset="-122"/>
              </a:rPr>
              <a:t>各向同性单频噪声相关系数为：</a:t>
            </a:r>
            <a:endParaRPr lang="zh-CN" altLang="en-US" sz="2400" dirty="0">
              <a:latin typeface="Times New Roman" panose="02020603050405020304" pitchFamily="18" charset="0"/>
              <a:ea typeface="宋体" pitchFamily="2" charset="-122"/>
            </a:endParaRPr>
          </a:p>
        </p:txBody>
      </p:sp>
      <p:graphicFrame>
        <p:nvGraphicFramePr>
          <p:cNvPr id="2" name="对象 1"/>
          <p:cNvGraphicFramePr>
            <a:graphicFrameLocks noChangeAspect="1"/>
          </p:cNvGraphicFramePr>
          <p:nvPr/>
        </p:nvGraphicFramePr>
        <p:xfrm>
          <a:off x="4160157" y="5417809"/>
          <a:ext cx="3005975" cy="585738"/>
        </p:xfrm>
        <a:graphic>
          <a:graphicData uri="http://schemas.openxmlformats.org/presentationml/2006/ole">
            <mc:AlternateContent xmlns:mc="http://schemas.openxmlformats.org/markup-compatibility/2006">
              <mc:Choice xmlns:v="urn:schemas-microsoft-com:vml" Requires="v">
                <p:oleObj spid="_x0000_s14406" name="Equation" r:id="rId2" imgW="2346960" imgH="457200" progId="Equation.DSMT4">
                  <p:embed/>
                </p:oleObj>
              </mc:Choice>
              <mc:Fallback>
                <p:oleObj name="Equation" r:id="rId2" imgW="2346960" imgH="457200" progId="Equation.DSMT4">
                  <p:embed/>
                  <p:pic>
                    <p:nvPicPr>
                      <p:cNvPr id="0" name="图片 14405"/>
                      <p:cNvPicPr/>
                      <p:nvPr/>
                    </p:nvPicPr>
                    <p:blipFill>
                      <a:blip r:embed="rId3"/>
                      <a:stretch>
                        <a:fillRect/>
                      </a:stretch>
                    </p:blipFill>
                    <p:spPr>
                      <a:xfrm>
                        <a:off x="4160157" y="5417809"/>
                        <a:ext cx="3005975" cy="585738"/>
                      </a:xfrm>
                      <a:prstGeom prst="rect">
                        <a:avLst/>
                      </a:prstGeom>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61962" y="1143445"/>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6.0 </a:t>
            </a:r>
            <a:r>
              <a:rPr lang="zh-CN" altLang="en-US" sz="2400" dirty="0">
                <a:latin typeface="微软雅黑" panose="020B0503020204020204" pitchFamily="34" charset="-122"/>
                <a:ea typeface="微软雅黑" panose="020B0503020204020204" pitchFamily="34" charset="-122"/>
              </a:rPr>
              <a:t>噪声概述</a:t>
            </a:r>
            <a:endParaRPr lang="en-US" altLang="zh-CN" sz="2400" dirty="0">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6.1 </a:t>
            </a:r>
            <a:r>
              <a:rPr lang="zh-CN" altLang="en-US" sz="2400" dirty="0">
                <a:solidFill>
                  <a:prstClr val="black"/>
                </a:solidFill>
                <a:latin typeface="微软雅黑" panose="020B0503020204020204" pitchFamily="34" charset="-122"/>
                <a:ea typeface="微软雅黑" panose="020B0503020204020204" pitchFamily="34" charset="-122"/>
              </a:rPr>
              <a:t>噪声的基本概念</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6.2 </a:t>
            </a:r>
            <a:r>
              <a:rPr lang="zh-CN" altLang="en-US" sz="2400" dirty="0">
                <a:solidFill>
                  <a:prstClr val="black"/>
                </a:solidFill>
                <a:latin typeface="微软雅黑" panose="020B0503020204020204" pitchFamily="34" charset="-122"/>
                <a:ea typeface="微软雅黑" panose="020B0503020204020204" pitchFamily="34" charset="-122"/>
              </a:rPr>
              <a:t>声学中噪声的描述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6.3 </a:t>
            </a:r>
            <a:r>
              <a:rPr lang="zh-CN" altLang="en-US" sz="2400" dirty="0">
                <a:solidFill>
                  <a:prstClr val="black"/>
                </a:solidFill>
                <a:latin typeface="微软雅黑" panose="020B0503020204020204" pitchFamily="34" charset="-122"/>
                <a:ea typeface="微软雅黑" panose="020B0503020204020204" pitchFamily="34" charset="-122"/>
              </a:rPr>
              <a:t>海洋环境噪声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6.4 </a:t>
            </a:r>
            <a:r>
              <a:rPr lang="zh-CN" altLang="en-US" sz="2400" dirty="0">
                <a:solidFill>
                  <a:srgbClr val="FF0000"/>
                </a:solidFill>
                <a:latin typeface="微软雅黑" panose="020B0503020204020204" pitchFamily="34" charset="-122"/>
                <a:ea typeface="微软雅黑" panose="020B0503020204020204" pitchFamily="34" charset="-122"/>
              </a:rPr>
              <a:t>舰船和鱼雷辐射噪声</a:t>
            </a:r>
            <a:endParaRPr lang="en-US" altLang="zh-CN" sz="2400" dirty="0">
              <a:solidFill>
                <a:srgbClr val="FF0000"/>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6.5 </a:t>
            </a:r>
            <a:r>
              <a:rPr lang="zh-CN" altLang="en-US" sz="2400" dirty="0">
                <a:solidFill>
                  <a:prstClr val="black"/>
                </a:solidFill>
                <a:latin typeface="微软雅黑" panose="020B0503020204020204" pitchFamily="34" charset="-122"/>
                <a:ea typeface="微软雅黑" panose="020B0503020204020204" pitchFamily="34" charset="-122"/>
              </a:rPr>
              <a:t>舰船和鱼雷目标自噪声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6.6 LFM</a:t>
            </a:r>
            <a:r>
              <a:rPr lang="zh-CN" altLang="en-US" sz="2400" dirty="0">
                <a:solidFill>
                  <a:prstClr val="black"/>
                </a:solidFill>
                <a:latin typeface="微软雅黑" panose="020B0503020204020204" pitchFamily="34" charset="-122"/>
                <a:ea typeface="微软雅黑" panose="020B0503020204020204" pitchFamily="34" charset="-122"/>
              </a:rPr>
              <a:t>脉冲声呐目标检测</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8"/>
          <p:cNvSpPr>
            <a:spLocks noChangeArrowheads="1"/>
          </p:cNvSpPr>
          <p:nvPr/>
        </p:nvSpPr>
        <p:spPr bwMode="auto">
          <a:xfrm>
            <a:off x="1370965" y="1042024"/>
            <a:ext cx="9114155"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30000"/>
              </a:spcBef>
              <a:buClr>
                <a:srgbClr val="FF0000"/>
              </a:buClr>
              <a:buSzPct val="70000"/>
              <a:buNone/>
            </a:pPr>
            <a:r>
              <a:rPr lang="zh-CN" altLang="en-US" sz="2400" dirty="0">
                <a:solidFill>
                  <a:schemeClr val="tx2"/>
                </a:solidFill>
              </a:rPr>
              <a:t>        </a:t>
            </a:r>
            <a:r>
              <a:rPr lang="zh-CN" altLang="en-US" sz="2400" dirty="0"/>
              <a:t>舰船、潜艇和鱼雷的辐射噪声，是被动声呐探测、分类识别和跟踪目标的信号，是被动声呐方程中的声源级 </a:t>
            </a:r>
            <a:r>
              <a:rPr lang="zh-CN" altLang="en-US" sz="2400" dirty="0">
                <a:cs typeface="Times New Roman" panose="02020603050405020304" pitchFamily="18" charset="0"/>
              </a:rPr>
              <a:t>SL</a:t>
            </a:r>
            <a:r>
              <a:rPr lang="zh-CN" altLang="en-US" sz="2400" dirty="0"/>
              <a:t>。</a:t>
            </a:r>
            <a:endParaRPr lang="zh-CN" altLang="en-US" sz="2400" dirty="0"/>
          </a:p>
          <a:p>
            <a:pPr eaLnBrk="1" hangingPunct="1">
              <a:lnSpc>
                <a:spcPct val="120000"/>
              </a:lnSpc>
              <a:spcBef>
                <a:spcPct val="30000"/>
              </a:spcBef>
              <a:buClr>
                <a:srgbClr val="FF0000"/>
              </a:buClr>
              <a:buSzPct val="70000"/>
              <a:buNone/>
            </a:pPr>
            <a:r>
              <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rPr>
              <a:t>舰船辐射噪声的危害：</a:t>
            </a:r>
            <a:endPar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endParaRPr>
          </a:p>
          <a:p>
            <a:pPr eaLnBrk="1" hangingPunct="1">
              <a:lnSpc>
                <a:spcPct val="120000"/>
              </a:lnSpc>
              <a:spcBef>
                <a:spcPct val="30000"/>
              </a:spcBef>
              <a:buClr>
                <a:srgbClr val="FF0000"/>
              </a:buClr>
              <a:buSzPct val="70000"/>
              <a:buFont typeface="Wingdings" panose="05000000000000000000" pitchFamily="2" charset="2"/>
              <a:buNone/>
            </a:pPr>
            <a:r>
              <a:rPr lang="zh-CN" altLang="en-US" sz="2400" dirty="0"/>
              <a:t>（</a:t>
            </a:r>
            <a:r>
              <a:rPr lang="en-US" altLang="zh-CN" sz="2400" dirty="0"/>
              <a:t>1</a:t>
            </a:r>
            <a:r>
              <a:rPr lang="zh-CN" altLang="en-US" sz="2400" dirty="0"/>
              <a:t>）破坏了舰船和潜艇的隐蔽性；</a:t>
            </a:r>
            <a:endParaRPr lang="zh-CN" altLang="en-US" sz="2400" dirty="0"/>
          </a:p>
          <a:p>
            <a:pPr eaLnBrk="1" hangingPunct="1">
              <a:lnSpc>
                <a:spcPct val="120000"/>
              </a:lnSpc>
              <a:spcBef>
                <a:spcPct val="30000"/>
              </a:spcBef>
              <a:buClr>
                <a:srgbClr val="FF0000"/>
              </a:buClr>
              <a:buSzPct val="70000"/>
              <a:buFont typeface="Wingdings" panose="05000000000000000000" pitchFamily="2" charset="2"/>
              <a:buNone/>
            </a:pPr>
            <a:r>
              <a:rPr lang="zh-CN" altLang="en-US" sz="2400" dirty="0"/>
              <a:t>（</a:t>
            </a:r>
            <a:r>
              <a:rPr lang="en-US" altLang="zh-CN" sz="2400" dirty="0"/>
              <a:t>2</a:t>
            </a:r>
            <a:r>
              <a:rPr lang="zh-CN" altLang="en-US" sz="2400" dirty="0"/>
              <a:t>）可能引爆某些水中兵器；</a:t>
            </a:r>
            <a:endParaRPr lang="zh-CN" altLang="en-US" sz="2400" dirty="0"/>
          </a:p>
          <a:p>
            <a:pPr eaLnBrk="1" hangingPunct="1">
              <a:lnSpc>
                <a:spcPct val="120000"/>
              </a:lnSpc>
              <a:spcBef>
                <a:spcPct val="30000"/>
              </a:spcBef>
              <a:buClr>
                <a:srgbClr val="FF0000"/>
              </a:buClr>
              <a:buSzPct val="70000"/>
              <a:buFont typeface="Wingdings" panose="05000000000000000000" pitchFamily="2" charset="2"/>
              <a:buNone/>
            </a:pPr>
            <a:r>
              <a:rPr lang="zh-CN" altLang="en-US" sz="2400" dirty="0"/>
              <a:t>（</a:t>
            </a:r>
            <a:r>
              <a:rPr lang="en-US" altLang="zh-CN" sz="2400" dirty="0"/>
              <a:t>3</a:t>
            </a:r>
            <a:r>
              <a:rPr lang="zh-CN" altLang="en-US" sz="2400" dirty="0"/>
              <a:t>）干扰本舰的水声设备（自噪声）。</a:t>
            </a:r>
            <a:endParaRPr lang="zh-CN" altLang="en-US" sz="2400" dirty="0"/>
          </a:p>
          <a:p>
            <a:pPr eaLnBrk="1" hangingPunct="1">
              <a:lnSpc>
                <a:spcPct val="120000"/>
              </a:lnSpc>
              <a:spcBef>
                <a:spcPct val="30000"/>
              </a:spcBef>
              <a:buClr>
                <a:srgbClr val="FF0000"/>
              </a:buClr>
              <a:buSzPct val="70000"/>
              <a:buNone/>
            </a:pPr>
            <a:r>
              <a:rPr lang="zh-CN" altLang="en-US" sz="2400" b="1" dirty="0">
                <a:latin typeface="黑体" panose="02010609060101010101" pitchFamily="49" charset="-122"/>
                <a:ea typeface="黑体" panose="02010609060101010101" pitchFamily="49" charset="-122"/>
                <a:sym typeface="Arial" panose="020B0604020202020204" pitchFamily="34" charset="0"/>
              </a:rPr>
              <a:t>舰船辐射噪声是水中武器研制的重要依据。</a:t>
            </a:r>
            <a:endParaRPr lang="zh-CN" altLang="en-US" sz="2400" b="1" dirty="0">
              <a:latin typeface="黑体" panose="02010609060101010101" pitchFamily="49" charset="-122"/>
              <a:ea typeface="黑体" panose="02010609060101010101" pitchFamily="49" charset="-122"/>
              <a:sym typeface="Arial" panose="020B0604020202020204" pitchFamily="34" charset="0"/>
            </a:endParaRPr>
          </a:p>
          <a:p>
            <a:pPr eaLnBrk="1" hangingPunct="1">
              <a:lnSpc>
                <a:spcPct val="120000"/>
              </a:lnSpc>
              <a:spcBef>
                <a:spcPct val="30000"/>
              </a:spcBef>
              <a:buClr>
                <a:srgbClr val="FF0000"/>
              </a:buClr>
              <a:buSzPct val="70000"/>
              <a:buNone/>
            </a:pPr>
            <a:r>
              <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rPr>
              <a:t>舰船、鱼雷辐射噪声特点：</a:t>
            </a:r>
            <a:endPar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endParaRPr>
          </a:p>
          <a:p>
            <a:pPr eaLnBrk="1" hangingPunct="1">
              <a:lnSpc>
                <a:spcPct val="120000"/>
              </a:lnSpc>
              <a:spcBef>
                <a:spcPct val="30000"/>
              </a:spcBef>
              <a:buClr>
                <a:srgbClr val="FF0000"/>
              </a:buClr>
              <a:buSzPct val="70000"/>
              <a:buFont typeface="Wingdings" panose="05000000000000000000" pitchFamily="2" charset="2"/>
              <a:buNone/>
            </a:pPr>
            <a:r>
              <a:rPr lang="zh-CN" altLang="en-US" sz="2400" dirty="0"/>
              <a:t>   噪声源繁多、集中，噪声强度大，频谱成分复杂。</a:t>
            </a:r>
            <a:endParaRPr lang="zh-CN" altLang="en-US" sz="2400" dirty="0"/>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6.4 </a:t>
            </a:r>
            <a:r>
              <a:rPr lang="zh-CN" altLang="en-US" sz="3600" b="1" dirty="0">
                <a:solidFill>
                  <a:srgbClr val="CC3300"/>
                </a:solidFill>
                <a:latin typeface="黑体" panose="02010609060101010101" pitchFamily="49" charset="-122"/>
                <a:ea typeface="黑体" panose="02010609060101010101" pitchFamily="49" charset="-122"/>
              </a:rPr>
              <a:t>舰船和鱼雷辐射噪声</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848772"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6.4 </a:t>
            </a:r>
            <a:r>
              <a:rPr lang="zh-CN" altLang="en-US" sz="3600" b="1" dirty="0">
                <a:solidFill>
                  <a:srgbClr val="CC3300"/>
                </a:solidFill>
                <a:latin typeface="黑体" panose="02010609060101010101" pitchFamily="49" charset="-122"/>
                <a:ea typeface="黑体" panose="02010609060101010101" pitchFamily="49" charset="-122"/>
              </a:rPr>
              <a:t>舰船和鱼雷辐射噪声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7" name="文本框 6"/>
          <p:cNvSpPr txBox="1"/>
          <p:nvPr/>
        </p:nvSpPr>
        <p:spPr>
          <a:xfrm>
            <a:off x="597624" y="1147322"/>
            <a:ext cx="6319359"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1</a:t>
            </a:r>
            <a:r>
              <a:rPr lang="zh-CN" altLang="en-US" sz="2800" b="1" dirty="0">
                <a:solidFill>
                  <a:srgbClr val="0033CC"/>
                </a:solidFill>
                <a:latin typeface="黑体" panose="02010609060101010101" pitchFamily="49" charset="-122"/>
                <a:ea typeface="黑体" panose="02010609060101010101" pitchFamily="49" charset="-122"/>
              </a:rPr>
              <a:t>、舰船辐射噪声的声源级和噪声谱</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8" name="文本框 7"/>
          <p:cNvSpPr txBox="1"/>
          <p:nvPr/>
        </p:nvSpPr>
        <p:spPr>
          <a:xfrm>
            <a:off x="1503680" y="1934029"/>
            <a:ext cx="8473440" cy="2424895"/>
          </a:xfrm>
          <a:prstGeom prst="rect">
            <a:avLst/>
          </a:prstGeom>
          <a:noFill/>
        </p:spPr>
        <p:txBody>
          <a:bodyPr wrap="square">
            <a:spAutoFit/>
          </a:bodyPr>
          <a:lstStyle/>
          <a:p>
            <a:pPr>
              <a:lnSpc>
                <a:spcPct val="130000"/>
              </a:lnSpc>
            </a:pPr>
            <a:r>
              <a:rPr lang="zh-CN" altLang="en-US" sz="2400" b="1" dirty="0">
                <a:latin typeface="宋体" pitchFamily="2" charset="-122"/>
                <a:ea typeface="宋体" pitchFamily="2" charset="-122"/>
              </a:rPr>
              <a:t>舰船辐射噪声的声源级：</a:t>
            </a:r>
            <a:endParaRPr lang="en-US" altLang="zh-CN" sz="2400" b="1" dirty="0">
              <a:latin typeface="宋体" pitchFamily="2" charset="-122"/>
              <a:ea typeface="宋体" pitchFamily="2" charset="-122"/>
            </a:endParaRPr>
          </a:p>
          <a:p>
            <a:pPr>
              <a:lnSpc>
                <a:spcPct val="130000"/>
              </a:lnSpc>
            </a:pPr>
            <a:r>
              <a:rPr lang="en-US" altLang="zh-CN" sz="2400" b="1" dirty="0">
                <a:latin typeface="宋体" pitchFamily="2" charset="-122"/>
                <a:ea typeface="宋体" pitchFamily="2" charset="-122"/>
              </a:rPr>
              <a:t>    </a:t>
            </a:r>
            <a:r>
              <a:rPr lang="zh-CN" altLang="en-US" sz="2400" dirty="0">
                <a:latin typeface="宋体" pitchFamily="2" charset="-122"/>
                <a:ea typeface="宋体" pitchFamily="2" charset="-122"/>
              </a:rPr>
              <a:t>水听器声轴方向上距源的等效声中心</a:t>
            </a:r>
            <a:r>
              <a:rPr lang="en-US" altLang="zh-CN" sz="2400" dirty="0">
                <a:latin typeface="宋体" pitchFamily="2" charset="-122"/>
                <a:ea typeface="宋体" pitchFamily="2" charset="-122"/>
              </a:rPr>
              <a:t>1m</a:t>
            </a:r>
            <a:r>
              <a:rPr lang="zh-CN" altLang="en-US" sz="2400" dirty="0">
                <a:latin typeface="宋体" pitchFamily="2" charset="-122"/>
                <a:ea typeface="宋体" pitchFamily="2" charset="-122"/>
              </a:rPr>
              <a:t>处的声强与参考声强之比的分贝数。</a:t>
            </a:r>
            <a:endParaRPr lang="en-US" altLang="zh-CN" sz="2400" dirty="0">
              <a:latin typeface="宋体" pitchFamily="2" charset="-122"/>
              <a:ea typeface="宋体" pitchFamily="2" charset="-122"/>
            </a:endParaRPr>
          </a:p>
          <a:p>
            <a:pPr>
              <a:lnSpc>
                <a:spcPct val="130000"/>
              </a:lnSpc>
            </a:pPr>
            <a:r>
              <a:rPr lang="zh-CN" altLang="en-US" sz="2400" dirty="0">
                <a:latin typeface="宋体" pitchFamily="2" charset="-122"/>
                <a:ea typeface="宋体" pitchFamily="2" charset="-122"/>
              </a:rPr>
              <a:t>    在远场测得噪声级后，再修正传播损失，归算到离声源声中心</a:t>
            </a:r>
            <a:r>
              <a:rPr lang="en-US" altLang="zh-CN" sz="2400" dirty="0">
                <a:latin typeface="宋体" pitchFamily="2" charset="-122"/>
                <a:ea typeface="宋体" pitchFamily="2" charset="-122"/>
              </a:rPr>
              <a:t>1</a:t>
            </a:r>
            <a:r>
              <a:rPr lang="zh-CN" altLang="en-US" sz="2400" dirty="0">
                <a:latin typeface="宋体" pitchFamily="2" charset="-122"/>
                <a:ea typeface="宋体" pitchFamily="2" charset="-122"/>
              </a:rPr>
              <a:t>米处，并计算出</a:t>
            </a:r>
            <a:r>
              <a:rPr lang="en-US" altLang="zh-CN" sz="2400" dirty="0">
                <a:latin typeface="宋体" pitchFamily="2" charset="-122"/>
                <a:ea typeface="宋体" pitchFamily="2" charset="-122"/>
              </a:rPr>
              <a:t>1Hz</a:t>
            </a:r>
            <a:r>
              <a:rPr lang="zh-CN" altLang="en-US" sz="2400" dirty="0">
                <a:latin typeface="宋体" pitchFamily="2" charset="-122"/>
                <a:ea typeface="宋体" pitchFamily="2" charset="-122"/>
              </a:rPr>
              <a:t>带宽内声强，则声源级和谱源级为：</a:t>
            </a:r>
            <a:endParaRPr lang="en-US" altLang="zh-CN" sz="2400" dirty="0">
              <a:latin typeface="宋体" pitchFamily="2" charset="-122"/>
              <a:ea typeface="宋体" pitchFamily="2" charset="-122"/>
            </a:endParaRPr>
          </a:p>
        </p:txBody>
      </p:sp>
      <p:graphicFrame>
        <p:nvGraphicFramePr>
          <p:cNvPr id="9" name="对象 8"/>
          <p:cNvGraphicFramePr>
            <a:graphicFrameLocks noChangeAspect="1"/>
          </p:cNvGraphicFramePr>
          <p:nvPr/>
        </p:nvGraphicFramePr>
        <p:xfrm>
          <a:off x="2508885" y="4358924"/>
          <a:ext cx="2011363" cy="1036637"/>
        </p:xfrm>
        <a:graphic>
          <a:graphicData uri="http://schemas.openxmlformats.org/presentationml/2006/ole">
            <mc:AlternateContent xmlns:mc="http://schemas.openxmlformats.org/markup-compatibility/2006">
              <mc:Choice xmlns:v="urn:schemas-microsoft-com:vml" Requires="v">
                <p:oleObj spid="_x0000_s15697" name="Equation" r:id="rId2" imgW="2011680" imgH="1036320" progId="Equation.DSMT4">
                  <p:embed/>
                </p:oleObj>
              </mc:Choice>
              <mc:Fallback>
                <p:oleObj name="Equation" r:id="rId2" imgW="2011680" imgH="1036320" progId="Equation.DSMT4">
                  <p:embed/>
                  <p:pic>
                    <p:nvPicPr>
                      <p:cNvPr id="0" name="图片 15696"/>
                      <p:cNvPicPr/>
                      <p:nvPr/>
                    </p:nvPicPr>
                    <p:blipFill>
                      <a:blip r:embed="rId3"/>
                      <a:stretch>
                        <a:fillRect/>
                      </a:stretch>
                    </p:blipFill>
                    <p:spPr>
                      <a:xfrm>
                        <a:off x="2508885" y="4358924"/>
                        <a:ext cx="2011363" cy="1036637"/>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5428299" y="4377179"/>
          <a:ext cx="2162175" cy="1000125"/>
        </p:xfrm>
        <a:graphic>
          <a:graphicData uri="http://schemas.openxmlformats.org/presentationml/2006/ole">
            <mc:AlternateContent xmlns:mc="http://schemas.openxmlformats.org/markup-compatibility/2006">
              <mc:Choice xmlns:v="urn:schemas-microsoft-com:vml" Requires="v">
                <p:oleObj spid="_x0000_s15698" name="Equation" r:id="rId4" imgW="2162810" imgH="999490" progId="Equation.DSMT4">
                  <p:embed/>
                </p:oleObj>
              </mc:Choice>
              <mc:Fallback>
                <p:oleObj name="Equation" r:id="rId4" imgW="2162810" imgH="999490" progId="Equation.DSMT4">
                  <p:embed/>
                  <p:pic>
                    <p:nvPicPr>
                      <p:cNvPr id="0" name="图片 15697"/>
                      <p:cNvPicPr/>
                      <p:nvPr/>
                    </p:nvPicPr>
                    <p:blipFill>
                      <a:blip r:embed="rId5"/>
                      <a:stretch>
                        <a:fillRect/>
                      </a:stretch>
                    </p:blipFill>
                    <p:spPr>
                      <a:xfrm>
                        <a:off x="5428299" y="4377179"/>
                        <a:ext cx="2162175" cy="1000125"/>
                      </a:xfrm>
                      <a:prstGeom prst="rect">
                        <a:avLst/>
                      </a:prstGeom>
                    </p:spPr>
                  </p:pic>
                </p:oleObj>
              </mc:Fallback>
            </mc:AlternateContent>
          </a:graphicData>
        </a:graphic>
      </p:graphicFrame>
      <p:sp>
        <p:nvSpPr>
          <p:cNvPr id="11" name="文本框 10"/>
          <p:cNvSpPr txBox="1"/>
          <p:nvPr/>
        </p:nvSpPr>
        <p:spPr>
          <a:xfrm>
            <a:off x="1352234" y="5387464"/>
            <a:ext cx="8733788" cy="984500"/>
          </a:xfrm>
          <a:prstGeom prst="rect">
            <a:avLst/>
          </a:prstGeom>
          <a:noFill/>
        </p:spPr>
        <p:txBody>
          <a:bodyPr wrap="square">
            <a:spAutoFit/>
          </a:bodyPr>
          <a:lstStyle/>
          <a:p>
            <a:pPr>
              <a:lnSpc>
                <a:spcPct val="130000"/>
              </a:lnSpc>
            </a:pPr>
            <a:r>
              <a:rPr lang="zh-CN" altLang="en-US" sz="2400" dirty="0">
                <a:latin typeface="宋体" pitchFamily="2" charset="-122"/>
                <a:ea typeface="宋体" pitchFamily="2" charset="-122"/>
              </a:rPr>
              <a:t>其中   是换能器工作带宽， 为参考声强，  为距声源中心</a:t>
            </a:r>
            <a:r>
              <a:rPr lang="en-US" altLang="zh-CN" sz="2400" dirty="0">
                <a:latin typeface="宋体" pitchFamily="2" charset="-122"/>
                <a:ea typeface="宋体" pitchFamily="2" charset="-122"/>
              </a:rPr>
              <a:t>1m</a:t>
            </a:r>
            <a:r>
              <a:rPr lang="zh-CN" altLang="en-US" sz="2400" dirty="0">
                <a:latin typeface="宋体" pitchFamily="2" charset="-122"/>
                <a:ea typeface="宋体" pitchFamily="2" charset="-122"/>
              </a:rPr>
              <a:t>处的噪声声强。 </a:t>
            </a:r>
            <a:endParaRPr lang="en-US" altLang="zh-CN" sz="2400" dirty="0">
              <a:latin typeface="宋体" pitchFamily="2" charset="-122"/>
              <a:ea typeface="宋体" pitchFamily="2" charset="-122"/>
            </a:endParaRPr>
          </a:p>
        </p:txBody>
      </p:sp>
      <p:graphicFrame>
        <p:nvGraphicFramePr>
          <p:cNvPr id="12" name="对象 11"/>
          <p:cNvGraphicFramePr>
            <a:graphicFrameLocks noChangeAspect="1"/>
          </p:cNvGraphicFramePr>
          <p:nvPr/>
        </p:nvGraphicFramePr>
        <p:xfrm>
          <a:off x="2024698" y="5507173"/>
          <a:ext cx="484187" cy="427037"/>
        </p:xfrm>
        <a:graphic>
          <a:graphicData uri="http://schemas.openxmlformats.org/presentationml/2006/ole">
            <mc:AlternateContent xmlns:mc="http://schemas.openxmlformats.org/markup-compatibility/2006">
              <mc:Choice xmlns:v="urn:schemas-microsoft-com:vml" Requires="v">
                <p:oleObj spid="_x0000_s15699" name="Equation" r:id="rId6" imgW="484505" imgH="426720" progId="Equation.DSMT4">
                  <p:embed/>
                </p:oleObj>
              </mc:Choice>
              <mc:Fallback>
                <p:oleObj name="Equation" r:id="rId6" imgW="484505" imgH="426720" progId="Equation.DSMT4">
                  <p:embed/>
                  <p:pic>
                    <p:nvPicPr>
                      <p:cNvPr id="0" name="图片 15698"/>
                      <p:cNvPicPr/>
                      <p:nvPr/>
                    </p:nvPicPr>
                    <p:blipFill>
                      <a:blip r:embed="rId7"/>
                      <a:stretch>
                        <a:fillRect/>
                      </a:stretch>
                    </p:blipFill>
                    <p:spPr>
                      <a:xfrm>
                        <a:off x="2024698" y="5507173"/>
                        <a:ext cx="484187" cy="42703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5121912" y="5451058"/>
          <a:ext cx="306387" cy="461963"/>
        </p:xfrm>
        <a:graphic>
          <a:graphicData uri="http://schemas.openxmlformats.org/presentationml/2006/ole">
            <mc:AlternateContent xmlns:mc="http://schemas.openxmlformats.org/markup-compatibility/2006">
              <mc:Choice xmlns:v="urn:schemas-microsoft-com:vml" Requires="v">
                <p:oleObj spid="_x0000_s15700" name="Equation" r:id="rId8" imgW="306070" imgH="461645" progId="Equation.DSMT4">
                  <p:embed/>
                </p:oleObj>
              </mc:Choice>
              <mc:Fallback>
                <p:oleObj name="Equation" r:id="rId8" imgW="306070" imgH="461645" progId="Equation.DSMT4">
                  <p:embed/>
                  <p:pic>
                    <p:nvPicPr>
                      <p:cNvPr id="0" name="图片 15699"/>
                      <p:cNvPicPr/>
                      <p:nvPr/>
                    </p:nvPicPr>
                    <p:blipFill>
                      <a:blip r:embed="rId9"/>
                      <a:stretch>
                        <a:fillRect/>
                      </a:stretch>
                    </p:blipFill>
                    <p:spPr>
                      <a:xfrm>
                        <a:off x="5121912" y="5451058"/>
                        <a:ext cx="306387" cy="461963"/>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7187249" y="5451058"/>
          <a:ext cx="365125" cy="460375"/>
        </p:xfrm>
        <a:graphic>
          <a:graphicData uri="http://schemas.openxmlformats.org/presentationml/2006/ole">
            <mc:AlternateContent xmlns:mc="http://schemas.openxmlformats.org/markup-compatibility/2006">
              <mc:Choice xmlns:v="urn:schemas-microsoft-com:vml" Requires="v">
                <p:oleObj spid="_x0000_s15701" name="Equation" r:id="rId10" imgW="364490" imgH="460375" progId="Equation.DSMT4">
                  <p:embed/>
                </p:oleObj>
              </mc:Choice>
              <mc:Fallback>
                <p:oleObj name="Equation" r:id="rId10" imgW="364490" imgH="460375" progId="Equation.DSMT4">
                  <p:embed/>
                  <p:pic>
                    <p:nvPicPr>
                      <p:cNvPr id="0" name="图片 15700"/>
                      <p:cNvPicPr/>
                      <p:nvPr/>
                    </p:nvPicPr>
                    <p:blipFill>
                      <a:blip r:embed="rId11"/>
                      <a:stretch>
                        <a:fillRect/>
                      </a:stretch>
                    </p:blipFill>
                    <p:spPr>
                      <a:xfrm>
                        <a:off x="7187249" y="5451058"/>
                        <a:ext cx="365125" cy="460375"/>
                      </a:xfrm>
                      <a:prstGeom prst="rect">
                        <a:avLst/>
                      </a:prstGeom>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97624" y="1147322"/>
            <a:ext cx="6319359"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1</a:t>
            </a:r>
            <a:r>
              <a:rPr lang="zh-CN" altLang="en-US" sz="2800" b="1" dirty="0">
                <a:solidFill>
                  <a:srgbClr val="0033CC"/>
                </a:solidFill>
                <a:latin typeface="黑体" panose="02010609060101010101" pitchFamily="49" charset="-122"/>
                <a:ea typeface="黑体" panose="02010609060101010101" pitchFamily="49" charset="-122"/>
              </a:rPr>
              <a:t>、舰船辐射噪声的声源级和噪声谱</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6.4 </a:t>
            </a:r>
            <a:r>
              <a:rPr lang="zh-CN" altLang="en-US" sz="3600" b="1" dirty="0">
                <a:solidFill>
                  <a:srgbClr val="CC3300"/>
                </a:solidFill>
                <a:latin typeface="黑体" panose="02010609060101010101" pitchFamily="49" charset="-122"/>
                <a:ea typeface="黑体" panose="02010609060101010101" pitchFamily="49" charset="-122"/>
              </a:rPr>
              <a:t>舰船和鱼雷辐射噪声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Rectangle 8"/>
          <p:cNvSpPr>
            <a:spLocks noChangeArrowheads="1"/>
          </p:cNvSpPr>
          <p:nvPr/>
        </p:nvSpPr>
        <p:spPr bwMode="auto">
          <a:xfrm>
            <a:off x="1439545" y="1934029"/>
            <a:ext cx="8569325"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40000"/>
              </a:lnSpc>
              <a:spcBef>
                <a:spcPct val="30000"/>
              </a:spcBef>
              <a:buFontTx/>
              <a:buNone/>
            </a:pPr>
            <a:r>
              <a:rPr lang="zh-CN" altLang="en-US" sz="2400" b="1" dirty="0">
                <a:latin typeface="宋体" pitchFamily="2" charset="-122"/>
                <a:sym typeface="Arial" panose="020B0604020202020204" pitchFamily="34" charset="0"/>
              </a:rPr>
              <a:t>噪声谱基本类型：</a:t>
            </a:r>
            <a:endParaRPr lang="zh-CN" altLang="en-US" sz="2400" b="1" dirty="0">
              <a:latin typeface="宋体" pitchFamily="2" charset="-122"/>
              <a:sym typeface="Arial" panose="020B0604020202020204" pitchFamily="34" charset="0"/>
            </a:endParaRPr>
          </a:p>
          <a:p>
            <a:pPr eaLnBrk="1" hangingPunct="1">
              <a:lnSpc>
                <a:spcPct val="140000"/>
              </a:lnSpc>
              <a:spcBef>
                <a:spcPct val="30000"/>
              </a:spcBef>
              <a:buFontTx/>
              <a:buNone/>
            </a:pPr>
            <a:r>
              <a:rPr lang="zh-CN" altLang="en-US" sz="2400" dirty="0">
                <a:solidFill>
                  <a:schemeClr val="tx2"/>
                </a:solidFill>
              </a:rPr>
              <a:t>   </a:t>
            </a:r>
            <a:r>
              <a:rPr lang="zh-CN" altLang="en-US" sz="2400" dirty="0"/>
              <a:t>（</a:t>
            </a:r>
            <a:r>
              <a:rPr lang="en-US" altLang="zh-CN" sz="2400" dirty="0"/>
              <a:t>1</a:t>
            </a:r>
            <a:r>
              <a:rPr lang="zh-CN" altLang="en-US" sz="2400" dirty="0"/>
              <a:t>）线谱；（</a:t>
            </a:r>
            <a:r>
              <a:rPr lang="en-US" altLang="zh-CN" sz="2400" dirty="0"/>
              <a:t>2</a:t>
            </a:r>
            <a:r>
              <a:rPr lang="zh-CN" altLang="en-US" sz="2400" dirty="0"/>
              <a:t>）连续谱；（</a:t>
            </a:r>
            <a:r>
              <a:rPr lang="en-US" altLang="zh-CN" sz="2400" dirty="0"/>
              <a:t>3</a:t>
            </a:r>
            <a:r>
              <a:rPr lang="zh-CN" altLang="en-US" sz="2400" dirty="0"/>
              <a:t>）混合谱。</a:t>
            </a:r>
            <a:endParaRPr lang="zh-CN" altLang="en-US" sz="2400" dirty="0"/>
          </a:p>
          <a:p>
            <a:pPr eaLnBrk="1" hangingPunct="1">
              <a:lnSpc>
                <a:spcPct val="140000"/>
              </a:lnSpc>
              <a:spcBef>
                <a:spcPct val="30000"/>
              </a:spcBef>
              <a:buFontTx/>
              <a:buNone/>
            </a:pPr>
            <a:r>
              <a:rPr lang="zh-CN" altLang="en-US" sz="2400" dirty="0"/>
              <a:t>      舰船辐射噪声为线谱和连续谱的迭加。 </a:t>
            </a:r>
            <a:endParaRPr lang="zh-CN" altLang="en-US" sz="2400" dirty="0"/>
          </a:p>
        </p:txBody>
      </p:sp>
      <p:graphicFrame>
        <p:nvGraphicFramePr>
          <p:cNvPr id="7" name="Object 5"/>
          <p:cNvGraphicFramePr>
            <a:graphicFrameLocks noChangeAspect="1"/>
          </p:cNvGraphicFramePr>
          <p:nvPr/>
        </p:nvGraphicFramePr>
        <p:xfrm>
          <a:off x="1910446" y="3835906"/>
          <a:ext cx="6781800" cy="2508250"/>
        </p:xfrm>
        <a:graphic>
          <a:graphicData uri="http://schemas.openxmlformats.org/presentationml/2006/ole">
            <mc:AlternateContent xmlns:mc="http://schemas.openxmlformats.org/markup-compatibility/2006">
              <mc:Choice xmlns:v="urn:schemas-microsoft-com:vml" Requires="v">
                <p:oleObj spid="_x0000_s16451" name="" r:id="rId1" imgW="8477250" imgH="3133725" progId="Paint.Picture">
                  <p:embed/>
                </p:oleObj>
              </mc:Choice>
              <mc:Fallback>
                <p:oleObj name="" r:id="rId1" imgW="8477250" imgH="3133725"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0446" y="3835906"/>
                        <a:ext cx="6781800" cy="2508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5" name="图片 53"/>
          <p:cNvPicPr>
            <a:picLocks noChangeAspect="1" noChangeArrowheads="1"/>
          </p:cNvPicPr>
          <p:nvPr/>
        </p:nvPicPr>
        <p:blipFill>
          <a:blip r:embed="rId3">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6.4 </a:t>
            </a:r>
            <a:r>
              <a:rPr lang="zh-CN" altLang="en-US" sz="3600" b="1" dirty="0">
                <a:solidFill>
                  <a:srgbClr val="CC3300"/>
                </a:solidFill>
                <a:latin typeface="黑体" panose="02010609060101010101" pitchFamily="49" charset="-122"/>
                <a:ea typeface="黑体" panose="02010609060101010101" pitchFamily="49" charset="-122"/>
              </a:rPr>
              <a:t>舰船和鱼雷辐射噪声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597624" y="1147322"/>
            <a:ext cx="3794629"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、辐射噪声的测量</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1811336" y="1934029"/>
            <a:ext cx="8569325" cy="159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30000"/>
              </a:lnSpc>
              <a:spcBef>
                <a:spcPct val="20000"/>
              </a:spcBef>
              <a:defRPr/>
            </a:pPr>
            <a:r>
              <a:rPr lang="zh-CN" altLang="en-US" sz="2400" b="1" dirty="0">
                <a:solidFill>
                  <a:schemeClr val="tx1"/>
                </a:solidFill>
                <a:latin typeface="Times New Roman" panose="02020603050405020304" pitchFamily="18" charset="0"/>
                <a:ea typeface="宋体" pitchFamily="2" charset="-122"/>
              </a:rPr>
              <a:t>水听器阵形式：</a:t>
            </a:r>
            <a:endParaRPr lang="zh-CN" altLang="en-US" sz="2400" b="1" dirty="0">
              <a:solidFill>
                <a:schemeClr val="tx1"/>
              </a:solidFill>
              <a:latin typeface="Times New Roman" panose="02020603050405020304" pitchFamily="18" charset="0"/>
              <a:ea typeface="宋体" pitchFamily="2" charset="-122"/>
            </a:endParaRPr>
          </a:p>
          <a:p>
            <a:pPr algn="l">
              <a:lnSpc>
                <a:spcPct val="125000"/>
              </a:lnSpc>
              <a:spcBef>
                <a:spcPct val="20000"/>
              </a:spcBef>
              <a:buClr>
                <a:srgbClr val="FF0000"/>
              </a:buClr>
              <a:buSzPct val="70000"/>
              <a:defRPr/>
            </a:pPr>
            <a:r>
              <a:rPr lang="zh-CN" altLang="en-US" sz="2400" dirty="0">
                <a:latin typeface="Times New Roman" panose="02020603050405020304" pitchFamily="18" charset="0"/>
                <a:ea typeface="宋体" pitchFamily="2" charset="-122"/>
              </a:rPr>
              <a:t>潜艇和鱼雷</a:t>
            </a:r>
            <a:r>
              <a:rPr lang="en-US" altLang="zh-CN" sz="2400" dirty="0">
                <a:latin typeface="Times New Roman" panose="02020603050405020304" pitchFamily="18" charset="0"/>
                <a:ea typeface="宋体" pitchFamily="2" charset="-122"/>
              </a:rPr>
              <a:t>——</a:t>
            </a:r>
            <a:r>
              <a:rPr lang="zh-CN" altLang="en-US" sz="2400" dirty="0">
                <a:latin typeface="Times New Roman" panose="02020603050405020304" pitchFamily="18" charset="0"/>
                <a:ea typeface="宋体" pitchFamily="2" charset="-122"/>
              </a:rPr>
              <a:t>深海（大于</a:t>
            </a:r>
            <a:r>
              <a:rPr lang="en-US" altLang="zh-CN" sz="2400" dirty="0">
                <a:latin typeface="Times New Roman" panose="02020603050405020304" pitchFamily="18" charset="0"/>
                <a:ea typeface="宋体" pitchFamily="2" charset="-122"/>
              </a:rPr>
              <a:t>60</a:t>
            </a:r>
            <a:r>
              <a:rPr lang="zh-CN" altLang="en-US" sz="2400" dirty="0">
                <a:latin typeface="Times New Roman" panose="02020603050405020304" pitchFamily="18" charset="0"/>
                <a:ea typeface="宋体" pitchFamily="2" charset="-122"/>
              </a:rPr>
              <a:t>米）、垂直阵；</a:t>
            </a:r>
            <a:endParaRPr lang="zh-CN" altLang="en-US" sz="2400" dirty="0">
              <a:latin typeface="Times New Roman" panose="02020603050405020304" pitchFamily="18" charset="0"/>
              <a:ea typeface="宋体" pitchFamily="2" charset="-122"/>
            </a:endParaRPr>
          </a:p>
          <a:p>
            <a:pPr algn="l">
              <a:lnSpc>
                <a:spcPct val="125000"/>
              </a:lnSpc>
              <a:spcBef>
                <a:spcPct val="20000"/>
              </a:spcBef>
              <a:buClr>
                <a:srgbClr val="FF0000"/>
              </a:buClr>
              <a:buSzPct val="70000"/>
              <a:defRPr/>
            </a:pPr>
            <a:r>
              <a:rPr lang="zh-CN" altLang="en-US" sz="2400" dirty="0">
                <a:latin typeface="Times New Roman" panose="02020603050405020304" pitchFamily="18" charset="0"/>
                <a:ea typeface="宋体" pitchFamily="2" charset="-122"/>
              </a:rPr>
              <a:t>水面舰船</a:t>
            </a:r>
            <a:r>
              <a:rPr lang="en-US" altLang="zh-CN" sz="2400" dirty="0">
                <a:latin typeface="Times New Roman" panose="02020603050405020304" pitchFamily="18" charset="0"/>
                <a:ea typeface="宋体" pitchFamily="2" charset="-122"/>
              </a:rPr>
              <a:t>——</a:t>
            </a:r>
            <a:r>
              <a:rPr lang="zh-CN" altLang="en-US" sz="2400" dirty="0">
                <a:latin typeface="Times New Roman" panose="02020603050405020304" pitchFamily="18" charset="0"/>
                <a:ea typeface="宋体" pitchFamily="2" charset="-122"/>
              </a:rPr>
              <a:t>浅海（大于</a:t>
            </a:r>
            <a:r>
              <a:rPr lang="en-US" altLang="zh-CN" sz="2400" dirty="0">
                <a:latin typeface="Times New Roman" panose="02020603050405020304" pitchFamily="18" charset="0"/>
                <a:ea typeface="宋体" pitchFamily="2" charset="-122"/>
              </a:rPr>
              <a:t>30</a:t>
            </a:r>
            <a:r>
              <a:rPr lang="zh-CN" altLang="en-US" sz="2400" dirty="0">
                <a:latin typeface="Times New Roman" panose="02020603050405020304" pitchFamily="18" charset="0"/>
                <a:ea typeface="宋体" pitchFamily="2" charset="-122"/>
              </a:rPr>
              <a:t>米）、水平阵。 </a:t>
            </a:r>
            <a:endParaRPr lang="zh-CN" altLang="en-US" sz="2400" dirty="0">
              <a:latin typeface="Times New Roman" panose="02020603050405020304" pitchFamily="18" charset="0"/>
              <a:ea typeface="宋体" pitchFamily="2" charset="-122"/>
            </a:endParaRPr>
          </a:p>
        </p:txBody>
      </p:sp>
      <p:graphicFrame>
        <p:nvGraphicFramePr>
          <p:cNvPr id="7" name="Object 5"/>
          <p:cNvGraphicFramePr>
            <a:graphicFrameLocks noChangeAspect="1"/>
          </p:cNvGraphicFramePr>
          <p:nvPr/>
        </p:nvGraphicFramePr>
        <p:xfrm>
          <a:off x="2655888" y="3530556"/>
          <a:ext cx="5500687" cy="2894012"/>
        </p:xfrm>
        <a:graphic>
          <a:graphicData uri="http://schemas.openxmlformats.org/presentationml/2006/ole">
            <mc:AlternateContent xmlns:mc="http://schemas.openxmlformats.org/markup-compatibility/2006">
              <mc:Choice xmlns:v="urn:schemas-microsoft-com:vml" Requires="v">
                <p:oleObj spid="_x0000_s17473" name="" r:id="rId2" imgW="7915275" imgH="4552950" progId="Paint.Picture">
                  <p:embed/>
                </p:oleObj>
              </mc:Choice>
              <mc:Fallback>
                <p:oleObj name="" r:id="rId2" imgW="7915275" imgH="4552950" progId="Paint.Picture">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5888" y="3530556"/>
                        <a:ext cx="5500687" cy="289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6.4 </a:t>
            </a:r>
            <a:r>
              <a:rPr lang="zh-CN" altLang="en-US" sz="3600" b="1" dirty="0">
                <a:solidFill>
                  <a:srgbClr val="CC3300"/>
                </a:solidFill>
                <a:latin typeface="黑体" panose="02010609060101010101" pitchFamily="49" charset="-122"/>
                <a:ea typeface="黑体" panose="02010609060101010101" pitchFamily="49" charset="-122"/>
              </a:rPr>
              <a:t>舰船和鱼雷辐射噪声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597624" y="1147322"/>
            <a:ext cx="3794629"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、辐射噪声的测量</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1449705" y="2005551"/>
            <a:ext cx="8569325" cy="2940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30000"/>
              </a:lnSpc>
              <a:spcBef>
                <a:spcPct val="20000"/>
              </a:spcBef>
              <a:defRPr/>
            </a:pPr>
            <a:r>
              <a:rPr lang="zh-CN" altLang="en-US" sz="2800" b="1" dirty="0">
                <a:solidFill>
                  <a:schemeClr val="tx1"/>
                </a:solidFill>
                <a:latin typeface="Times New Roman" panose="02020603050405020304" pitchFamily="18" charset="0"/>
                <a:ea typeface="宋体" pitchFamily="2" charset="-122"/>
              </a:rPr>
              <a:t>宽带噪声级与单位带宽谱级：</a:t>
            </a:r>
            <a:endParaRPr lang="zh-CN" altLang="en-US" sz="2800" b="1" dirty="0">
              <a:solidFill>
                <a:schemeClr val="tx1"/>
              </a:solidFill>
              <a:latin typeface="Times New Roman" panose="02020603050405020304" pitchFamily="18" charset="0"/>
              <a:ea typeface="宋体" pitchFamily="2" charset="-122"/>
            </a:endParaRPr>
          </a:p>
          <a:p>
            <a:pPr algn="l">
              <a:lnSpc>
                <a:spcPct val="125000"/>
              </a:lnSpc>
              <a:spcBef>
                <a:spcPct val="20000"/>
              </a:spcBef>
              <a:defRPr/>
            </a:pPr>
            <a:r>
              <a:rPr lang="zh-CN" altLang="en-US" sz="2800" dirty="0">
                <a:latin typeface="Times New Roman" panose="02020603050405020304" pitchFamily="18" charset="0"/>
                <a:ea typeface="宋体" pitchFamily="2" charset="-122"/>
              </a:rPr>
              <a:t>       辐射噪声通常以</a:t>
            </a:r>
            <a:r>
              <a:rPr lang="en-US" altLang="zh-CN" sz="2800" dirty="0">
                <a:latin typeface="Times New Roman" panose="02020603050405020304" pitchFamily="18" charset="0"/>
                <a:ea typeface="宋体" pitchFamily="2" charset="-122"/>
              </a:rPr>
              <a:t>1Hz</a:t>
            </a:r>
            <a:r>
              <a:rPr lang="zh-CN" altLang="en-US" sz="2800" dirty="0">
                <a:latin typeface="Times New Roman" panose="02020603050405020304" pitchFamily="18" charset="0"/>
                <a:ea typeface="宋体" pitchFamily="2" charset="-122"/>
              </a:rPr>
              <a:t>带宽内谱级表示，但对于测量仪器设备有一定工作带宽为</a:t>
            </a:r>
            <a:r>
              <a:rPr lang="en-US" altLang="zh-CN" sz="2800" i="1" dirty="0">
                <a:latin typeface="Times New Roman" panose="02020603050405020304" pitchFamily="18" charset="0"/>
                <a:ea typeface="宋体" pitchFamily="2" charset="-122"/>
              </a:rPr>
              <a:t>W</a:t>
            </a:r>
            <a:r>
              <a:rPr lang="zh-CN" altLang="en-US" sz="2800" dirty="0">
                <a:latin typeface="Times New Roman" panose="02020603050405020304" pitchFamily="18" charset="0"/>
                <a:ea typeface="宋体" pitchFamily="2" charset="-122"/>
              </a:rPr>
              <a:t>，该带宽内噪声级为</a:t>
            </a:r>
            <a:r>
              <a:rPr lang="en-US" altLang="zh-CN" sz="2800" i="1" dirty="0">
                <a:latin typeface="Times New Roman" panose="02020603050405020304" pitchFamily="18" charset="0"/>
                <a:ea typeface="宋体" pitchFamily="2" charset="-122"/>
              </a:rPr>
              <a:t>BL</a:t>
            </a:r>
            <a:r>
              <a:rPr lang="zh-CN" altLang="en-US" sz="2800" dirty="0">
                <a:latin typeface="Times New Roman" panose="02020603050405020304" pitchFamily="18" charset="0"/>
                <a:ea typeface="宋体" pitchFamily="2" charset="-122"/>
              </a:rPr>
              <a:t>，则</a:t>
            </a:r>
            <a:r>
              <a:rPr lang="en-US" altLang="zh-CN" sz="2800" dirty="0">
                <a:latin typeface="Times New Roman" panose="02020603050405020304" pitchFamily="18" charset="0"/>
                <a:ea typeface="宋体" pitchFamily="2" charset="-122"/>
              </a:rPr>
              <a:t>1Hz</a:t>
            </a:r>
            <a:r>
              <a:rPr lang="zh-CN" altLang="en-US" sz="2800" dirty="0">
                <a:latin typeface="Times New Roman" panose="02020603050405020304" pitchFamily="18" charset="0"/>
                <a:ea typeface="宋体" pitchFamily="2" charset="-122"/>
              </a:rPr>
              <a:t>带宽内的谱级为：</a:t>
            </a:r>
            <a:endParaRPr lang="en-US" sz="2800" dirty="0">
              <a:latin typeface="Times New Roman" panose="02020603050405020304" pitchFamily="18" charset="0"/>
              <a:ea typeface="宋体" pitchFamily="2" charset="-122"/>
            </a:endParaRPr>
          </a:p>
          <a:p>
            <a:pPr algn="l">
              <a:lnSpc>
                <a:spcPct val="125000"/>
              </a:lnSpc>
              <a:spcBef>
                <a:spcPct val="20000"/>
              </a:spcBef>
              <a:defRPr/>
            </a:pPr>
            <a:r>
              <a:rPr lang="en-US" sz="2800" i="1" dirty="0">
                <a:latin typeface="Times New Roman" panose="02020603050405020304" pitchFamily="18" charset="0"/>
                <a:ea typeface="宋体" pitchFamily="2" charset="-122"/>
              </a:rPr>
              <a:t>                               </a:t>
            </a:r>
            <a:endParaRPr lang="zh-CN" altLang="en-US" sz="2800" dirty="0">
              <a:latin typeface="Times New Roman" panose="02020603050405020304" pitchFamily="18" charset="0"/>
              <a:ea typeface="宋体" pitchFamily="2" charset="-122"/>
            </a:endParaRPr>
          </a:p>
        </p:txBody>
      </p:sp>
      <p:graphicFrame>
        <p:nvGraphicFramePr>
          <p:cNvPr id="7" name="对象 6"/>
          <p:cNvGraphicFramePr>
            <a:graphicFrameLocks noChangeAspect="1"/>
          </p:cNvGraphicFramePr>
          <p:nvPr/>
        </p:nvGraphicFramePr>
        <p:xfrm>
          <a:off x="3972560" y="4330466"/>
          <a:ext cx="3487738" cy="634134"/>
        </p:xfrm>
        <a:graphic>
          <a:graphicData uri="http://schemas.openxmlformats.org/presentationml/2006/ole">
            <mc:AlternateContent xmlns:mc="http://schemas.openxmlformats.org/markup-compatibility/2006">
              <mc:Choice xmlns:v="urn:schemas-microsoft-com:vml" Requires="v">
                <p:oleObj spid="_x0000_s18496" name="Equation" r:id="rId2" imgW="30165675" imgH="5476875" progId="Equation.DSMT4">
                  <p:embed/>
                </p:oleObj>
              </mc:Choice>
              <mc:Fallback>
                <p:oleObj name="Equation" r:id="rId2" imgW="30165675" imgH="5476875" progId="Equation.DSMT4">
                  <p:embed/>
                  <p:pic>
                    <p:nvPicPr>
                      <p:cNvPr id="0" name="对象 8"/>
                      <p:cNvPicPr/>
                      <p:nvPr/>
                    </p:nvPicPr>
                    <p:blipFill>
                      <a:blip r:embed="rId3"/>
                      <a:stretch>
                        <a:fillRect/>
                      </a:stretch>
                    </p:blipFill>
                    <p:spPr>
                      <a:xfrm>
                        <a:off x="3972560" y="4330466"/>
                        <a:ext cx="3487738" cy="634134"/>
                      </a:xfrm>
                      <a:prstGeom prst="rect">
                        <a:avLst/>
                      </a:prstGeom>
                    </p:spPr>
                  </p:pic>
                </p:oleObj>
              </mc:Fallback>
            </mc:AlternateContent>
          </a:graphicData>
        </a:graphic>
      </p:graphicFrame>
      <p:sp>
        <p:nvSpPr>
          <p:cNvPr id="8" name="Rectangle 7"/>
          <p:cNvSpPr>
            <a:spLocks noChangeArrowheads="1"/>
          </p:cNvSpPr>
          <p:nvPr/>
        </p:nvSpPr>
        <p:spPr bwMode="auto">
          <a:xfrm>
            <a:off x="1449705" y="5163953"/>
            <a:ext cx="8785225"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0"/>
              </a:spcBef>
              <a:buFontTx/>
              <a:buNone/>
            </a:pPr>
            <a:r>
              <a:rPr lang="zh-CN" altLang="en-US" sz="2400" b="1" dirty="0">
                <a:solidFill>
                  <a:srgbClr val="FF0000"/>
                </a:solidFill>
                <a:latin typeface="楷体" panose="02010609060101010101" pitchFamily="49" charset="-122"/>
                <a:ea typeface="楷体" panose="02010609060101010101" pitchFamily="49" charset="-122"/>
              </a:rPr>
              <a:t>注意：</a:t>
            </a:r>
            <a:r>
              <a:rPr lang="zh-CN" altLang="en-US" sz="2400" dirty="0">
                <a:latin typeface="楷体" panose="02010609060101010101" pitchFamily="49" charset="-122"/>
                <a:ea typeface="楷体" panose="02010609060101010101" pitchFamily="49" charset="-122"/>
              </a:rPr>
              <a:t>上述噪声为白噪声，如果被测带宽内有线谱噪声，则归算方法不再适用。</a:t>
            </a:r>
            <a:endParaRPr lang="zh-CN" altLang="en-US" sz="2400" dirty="0">
              <a:latin typeface="楷体" panose="02010609060101010101" pitchFamily="49" charset="-122"/>
              <a:ea typeface="楷体" panose="02010609060101010101" pitchFamily="49"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97624" y="1147322"/>
            <a:ext cx="3794629"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、辐射噪声的测量</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6.4 </a:t>
            </a:r>
            <a:r>
              <a:rPr lang="zh-CN" altLang="en-US" sz="3600" b="1" dirty="0">
                <a:solidFill>
                  <a:srgbClr val="CC3300"/>
                </a:solidFill>
                <a:latin typeface="黑体" panose="02010609060101010101" pitchFamily="49" charset="-122"/>
                <a:ea typeface="黑体" panose="02010609060101010101" pitchFamily="49" charset="-122"/>
              </a:rPr>
              <a:t>舰船和鱼雷辐射噪声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Rectangle 8"/>
          <p:cNvSpPr>
            <a:spLocks noChangeArrowheads="1"/>
          </p:cNvSpPr>
          <p:nvPr/>
        </p:nvSpPr>
        <p:spPr bwMode="auto">
          <a:xfrm>
            <a:off x="1323340" y="1908615"/>
            <a:ext cx="8855075" cy="380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ts val="3200"/>
              </a:lnSpc>
              <a:spcBef>
                <a:spcPts val="1200"/>
              </a:spcBef>
              <a:buClr>
                <a:srgbClr val="FF0000"/>
              </a:buClr>
              <a:buSzPct val="70000"/>
              <a:buNone/>
            </a:pPr>
            <a:r>
              <a:rPr lang="en-US" altLang="zh-CN" sz="2400" b="1" dirty="0">
                <a:latin typeface="宋体" pitchFamily="2" charset="-122"/>
              </a:rPr>
              <a:t>·</a:t>
            </a:r>
            <a:r>
              <a:rPr lang="zh-CN" altLang="en-US" sz="2400" dirty="0"/>
              <a:t>通常测量是在远场，一般按照球面波扩展规律进行修正，归算到离声源声中心</a:t>
            </a:r>
            <a:r>
              <a:rPr lang="en-US" altLang="zh-CN" sz="2400" dirty="0"/>
              <a:t>1</a:t>
            </a:r>
            <a:r>
              <a:rPr lang="zh-CN" altLang="en-US" sz="2400" dirty="0"/>
              <a:t>米处；</a:t>
            </a:r>
            <a:endParaRPr lang="en-US" altLang="zh-CN" sz="2400" dirty="0"/>
          </a:p>
          <a:p>
            <a:pPr eaLnBrk="1" hangingPunct="1">
              <a:lnSpc>
                <a:spcPts val="3200"/>
              </a:lnSpc>
              <a:spcBef>
                <a:spcPts val="1200"/>
              </a:spcBef>
              <a:buClr>
                <a:srgbClr val="FF0000"/>
              </a:buClr>
              <a:buSzPct val="70000"/>
              <a:buNone/>
            </a:pPr>
            <a:r>
              <a:rPr lang="en-US" altLang="zh-CN" sz="2400" b="1" dirty="0">
                <a:latin typeface="宋体" pitchFamily="2" charset="-122"/>
              </a:rPr>
              <a:t>·</a:t>
            </a:r>
            <a:r>
              <a:rPr lang="zh-CN" altLang="en-US" sz="2400" dirty="0"/>
              <a:t>距离修正：需要精确知道水听器与被测舰船之间的距离，水上目标用六分仪、激光测距仪或雷达测距，而水下目标测试一般采用同步钟测距装置（主动声纳）；</a:t>
            </a:r>
            <a:endParaRPr lang="en-US" altLang="zh-CN" sz="2400" dirty="0"/>
          </a:p>
          <a:p>
            <a:pPr eaLnBrk="1" hangingPunct="1">
              <a:lnSpc>
                <a:spcPts val="3200"/>
              </a:lnSpc>
              <a:spcBef>
                <a:spcPts val="1200"/>
              </a:spcBef>
              <a:buClr>
                <a:srgbClr val="FF0000"/>
              </a:buClr>
              <a:buSzPct val="70000"/>
              <a:buNone/>
            </a:pPr>
            <a:r>
              <a:rPr lang="en-US" altLang="zh-CN" sz="2400" b="1" dirty="0">
                <a:latin typeface="宋体" pitchFamily="2" charset="-122"/>
              </a:rPr>
              <a:t>·</a:t>
            </a:r>
            <a:r>
              <a:rPr lang="zh-CN" altLang="en-US" sz="2400" dirty="0"/>
              <a:t>测量海域：选择“安静”海域；</a:t>
            </a:r>
            <a:endParaRPr lang="en-US" altLang="zh-CN" sz="2400" dirty="0"/>
          </a:p>
          <a:p>
            <a:pPr eaLnBrk="1" hangingPunct="1">
              <a:lnSpc>
                <a:spcPts val="3200"/>
              </a:lnSpc>
              <a:spcBef>
                <a:spcPts val="1200"/>
              </a:spcBef>
              <a:buClr>
                <a:srgbClr val="FF0000"/>
              </a:buClr>
              <a:buSzPct val="70000"/>
              <a:buNone/>
            </a:pPr>
            <a:r>
              <a:rPr lang="en-US" altLang="zh-CN" sz="2400" b="1" dirty="0">
                <a:latin typeface="宋体" pitchFamily="2" charset="-122"/>
              </a:rPr>
              <a:t>·</a:t>
            </a:r>
            <a:r>
              <a:rPr lang="zh-CN" altLang="en-US" sz="2400" dirty="0"/>
              <a:t>舰船辐射噪声测量是一项专门测量技术，随着潜艇隐身技术水平的提高，对测试技术和设备提出更高的要求。</a:t>
            </a:r>
            <a:endParaRPr lang="zh-CN" alt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61962" y="1143445"/>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6.0 </a:t>
            </a:r>
            <a:r>
              <a:rPr lang="zh-CN" altLang="en-US" sz="2400" dirty="0">
                <a:latin typeface="微软雅黑" panose="020B0503020204020204" pitchFamily="34" charset="-122"/>
                <a:ea typeface="微软雅黑" panose="020B0503020204020204" pitchFamily="34" charset="-122"/>
              </a:rPr>
              <a:t>噪声概述</a:t>
            </a:r>
            <a:endParaRPr lang="en-US" altLang="zh-CN" sz="2400" dirty="0">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6.1 </a:t>
            </a:r>
            <a:r>
              <a:rPr lang="zh-CN" altLang="en-US" sz="2400" dirty="0">
                <a:solidFill>
                  <a:prstClr val="black"/>
                </a:solidFill>
                <a:latin typeface="微软雅黑" panose="020B0503020204020204" pitchFamily="34" charset="-122"/>
                <a:ea typeface="微软雅黑" panose="020B0503020204020204" pitchFamily="34" charset="-122"/>
              </a:rPr>
              <a:t>噪声的基本概念</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6.2 </a:t>
            </a:r>
            <a:r>
              <a:rPr lang="zh-CN" altLang="en-US" sz="2400" dirty="0">
                <a:solidFill>
                  <a:prstClr val="black"/>
                </a:solidFill>
                <a:latin typeface="微软雅黑" panose="020B0503020204020204" pitchFamily="34" charset="-122"/>
                <a:ea typeface="微软雅黑" panose="020B0503020204020204" pitchFamily="34" charset="-122"/>
              </a:rPr>
              <a:t>声学中噪声的描述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6.3 </a:t>
            </a:r>
            <a:r>
              <a:rPr lang="zh-CN" altLang="en-US" sz="2400" dirty="0">
                <a:solidFill>
                  <a:prstClr val="black"/>
                </a:solidFill>
                <a:latin typeface="微软雅黑" panose="020B0503020204020204" pitchFamily="34" charset="-122"/>
                <a:ea typeface="微软雅黑" panose="020B0503020204020204" pitchFamily="34" charset="-122"/>
              </a:rPr>
              <a:t>海洋环境噪声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6.4 </a:t>
            </a:r>
            <a:r>
              <a:rPr lang="zh-CN" altLang="en-US" sz="2400" dirty="0">
                <a:solidFill>
                  <a:prstClr val="black"/>
                </a:solidFill>
                <a:latin typeface="微软雅黑" panose="020B0503020204020204" pitchFamily="34" charset="-122"/>
                <a:ea typeface="微软雅黑" panose="020B0503020204020204" pitchFamily="34" charset="-122"/>
              </a:rPr>
              <a:t>舰船和鱼雷辐射噪声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6.5 </a:t>
            </a:r>
            <a:r>
              <a:rPr lang="zh-CN" altLang="en-US" sz="2400" dirty="0">
                <a:solidFill>
                  <a:srgbClr val="FF0000"/>
                </a:solidFill>
                <a:latin typeface="微软雅黑" panose="020B0503020204020204" pitchFamily="34" charset="-122"/>
                <a:ea typeface="微软雅黑" panose="020B0503020204020204" pitchFamily="34" charset="-122"/>
              </a:rPr>
              <a:t>舰船和鱼雷目标自噪声</a:t>
            </a:r>
            <a:endParaRPr lang="en-US" altLang="zh-CN" sz="2400" dirty="0">
              <a:solidFill>
                <a:srgbClr val="FF0000"/>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6.6 LFM</a:t>
            </a:r>
            <a:r>
              <a:rPr lang="zh-CN" altLang="en-US" sz="2400" dirty="0">
                <a:solidFill>
                  <a:prstClr val="black"/>
                </a:solidFill>
                <a:latin typeface="微软雅黑" panose="020B0503020204020204" pitchFamily="34" charset="-122"/>
                <a:ea typeface="微软雅黑" panose="020B0503020204020204" pitchFamily="34" charset="-122"/>
              </a:rPr>
              <a:t>脉冲声呐目标检测</a:t>
            </a:r>
            <a:endParaRPr lang="en-US" altLang="zh-CN" sz="24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9062720" y="6195179"/>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6.5 </a:t>
            </a:r>
            <a:r>
              <a:rPr lang="zh-CN" altLang="en-US" sz="3600" b="1" dirty="0">
                <a:solidFill>
                  <a:srgbClr val="CC3300"/>
                </a:solidFill>
                <a:latin typeface="黑体" panose="02010609060101010101" pitchFamily="49" charset="-122"/>
                <a:ea typeface="黑体" panose="02010609060101010101" pitchFamily="49" charset="-122"/>
              </a:rPr>
              <a:t>舰船和鱼雷自噪声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文本框 3"/>
          <p:cNvSpPr txBox="1"/>
          <p:nvPr/>
        </p:nvSpPr>
        <p:spPr>
          <a:xfrm>
            <a:off x="597624" y="1147322"/>
            <a:ext cx="523733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1</a:t>
            </a:r>
            <a:r>
              <a:rPr lang="zh-CN" altLang="en-US" sz="2800" b="1" dirty="0">
                <a:solidFill>
                  <a:srgbClr val="0033CC"/>
                </a:solidFill>
                <a:latin typeface="黑体" panose="02010609060101010101" pitchFamily="49" charset="-122"/>
                <a:ea typeface="黑体" panose="02010609060101010101" pitchFamily="49" charset="-122"/>
              </a:rPr>
              <a:t>、自噪声与辐射噪声的异同</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1330642" y="1834243"/>
            <a:ext cx="9266238" cy="447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buFontTx/>
              <a:buNone/>
            </a:pPr>
            <a:r>
              <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rPr>
              <a:t>舰船、潜艇和鱼雷的自噪声：</a:t>
            </a:r>
            <a:r>
              <a:rPr lang="zh-CN" altLang="en-US" sz="2400" dirty="0"/>
              <a:t>是本舰声呐或鱼雷制导系统的一种特殊干扰背景，在声呐方程中表现为背景干扰噪声，是舰船、</a:t>
            </a:r>
            <a:r>
              <a:rPr lang="zh-CN" altLang="en-US" sz="2400" dirty="0">
                <a:sym typeface="Arial" panose="020B0604020202020204" pitchFamily="34" charset="0"/>
              </a:rPr>
              <a:t>潜艇和鱼雷上的各种声源产生的。</a:t>
            </a:r>
            <a:endParaRPr lang="zh-CN" altLang="en-US" sz="2400" dirty="0">
              <a:sym typeface="Arial" panose="020B0604020202020204" pitchFamily="34" charset="0"/>
            </a:endParaRPr>
          </a:p>
          <a:p>
            <a:pPr eaLnBrk="1" hangingPunct="1">
              <a:lnSpc>
                <a:spcPct val="120000"/>
              </a:lnSpc>
              <a:buFontTx/>
              <a:buNone/>
            </a:pPr>
            <a:r>
              <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rPr>
              <a:t>自噪声与辐射噪声区别：</a:t>
            </a:r>
            <a:endParaRPr lang="zh-CN" altLang="en-US" sz="2400" b="1" dirty="0">
              <a:solidFill>
                <a:srgbClr val="0033CC"/>
              </a:solidFill>
              <a:latin typeface="黑体" panose="02010609060101010101" pitchFamily="49" charset="-122"/>
              <a:ea typeface="黑体" panose="02010609060101010101" pitchFamily="49" charset="-122"/>
              <a:sym typeface="Arial" panose="020B0604020202020204" pitchFamily="34" charset="0"/>
            </a:endParaRPr>
          </a:p>
          <a:p>
            <a:pPr eaLnBrk="1" hangingPunct="1">
              <a:lnSpc>
                <a:spcPct val="120000"/>
              </a:lnSpc>
              <a:buFontTx/>
              <a:buNone/>
            </a:pPr>
            <a:r>
              <a:rPr lang="zh-CN" altLang="en-US" sz="2400" b="1" dirty="0">
                <a:sym typeface="Arial" panose="020B0604020202020204" pitchFamily="34" charset="0"/>
              </a:rPr>
              <a:t>（</a:t>
            </a:r>
            <a:r>
              <a:rPr lang="en-US" altLang="zh-CN" sz="2400" b="1" dirty="0">
                <a:sym typeface="Arial" panose="020B0604020202020204" pitchFamily="34" charset="0"/>
              </a:rPr>
              <a:t>1</a:t>
            </a:r>
            <a:r>
              <a:rPr lang="zh-CN" altLang="en-US" sz="2400" b="1" dirty="0">
                <a:sym typeface="Arial" panose="020B0604020202020204" pitchFamily="34" charset="0"/>
              </a:rPr>
              <a:t>）相同点：</a:t>
            </a:r>
            <a:r>
              <a:rPr lang="zh-CN" altLang="en-US" sz="2400" dirty="0"/>
              <a:t>声源基本相同；</a:t>
            </a:r>
            <a:endParaRPr lang="zh-CN" altLang="en-US" sz="2400" dirty="0"/>
          </a:p>
          <a:p>
            <a:pPr eaLnBrk="1" hangingPunct="1">
              <a:lnSpc>
                <a:spcPct val="120000"/>
              </a:lnSpc>
              <a:buFontTx/>
              <a:buNone/>
            </a:pPr>
            <a:r>
              <a:rPr lang="zh-CN" altLang="en-US" sz="2400" b="1" dirty="0">
                <a:sym typeface="Arial" panose="020B0604020202020204" pitchFamily="34" charset="0"/>
              </a:rPr>
              <a:t>（</a:t>
            </a:r>
            <a:r>
              <a:rPr lang="en-US" altLang="zh-CN" sz="2400" b="1" dirty="0">
                <a:sym typeface="Arial" panose="020B0604020202020204" pitchFamily="34" charset="0"/>
              </a:rPr>
              <a:t>2</a:t>
            </a:r>
            <a:r>
              <a:rPr lang="zh-CN" altLang="en-US" sz="2400" b="1" dirty="0">
                <a:sym typeface="Arial" panose="020B0604020202020204" pitchFamily="34" charset="0"/>
              </a:rPr>
              <a:t>）不同点：</a:t>
            </a:r>
            <a:endParaRPr lang="zh-CN" altLang="en-US" sz="2400" b="1" dirty="0">
              <a:sym typeface="Arial" panose="020B0604020202020204" pitchFamily="34" charset="0"/>
            </a:endParaRPr>
          </a:p>
          <a:p>
            <a:pPr eaLnBrk="1" hangingPunct="1">
              <a:lnSpc>
                <a:spcPct val="120000"/>
              </a:lnSpc>
              <a:buClr>
                <a:srgbClr val="FF0000"/>
              </a:buClr>
              <a:buSzPct val="70000"/>
              <a:buNone/>
            </a:pPr>
            <a:r>
              <a:rPr lang="en-US" altLang="zh-CN" sz="2400" b="1" dirty="0">
                <a:latin typeface="宋体" pitchFamily="2" charset="-122"/>
              </a:rPr>
              <a:t>·</a:t>
            </a:r>
            <a:r>
              <a:rPr lang="zh-CN" altLang="en-US" sz="2400" dirty="0"/>
              <a:t>在声呐方程中的作用不一样，辐射噪声为</a:t>
            </a:r>
            <a:r>
              <a:rPr lang="en-US" altLang="zh-CN" sz="2400" i="1" dirty="0"/>
              <a:t>SL</a:t>
            </a:r>
            <a:r>
              <a:rPr lang="zh-CN" altLang="en-US" sz="2400" dirty="0"/>
              <a:t>，自噪声为</a:t>
            </a:r>
            <a:r>
              <a:rPr lang="en-US" altLang="zh-CN" sz="2400" i="1" dirty="0"/>
              <a:t>NL</a:t>
            </a:r>
            <a:r>
              <a:rPr lang="zh-CN" altLang="en-US" sz="2400" dirty="0"/>
              <a:t>；</a:t>
            </a:r>
            <a:endParaRPr lang="zh-CN" altLang="en-US" sz="2400" dirty="0"/>
          </a:p>
          <a:p>
            <a:pPr eaLnBrk="1" hangingPunct="1">
              <a:lnSpc>
                <a:spcPct val="120000"/>
              </a:lnSpc>
              <a:buClr>
                <a:srgbClr val="FF0000"/>
              </a:buClr>
              <a:buSzPct val="70000"/>
              <a:buNone/>
            </a:pPr>
            <a:r>
              <a:rPr lang="en-US" altLang="zh-CN" sz="2400" b="1" dirty="0">
                <a:latin typeface="宋体" pitchFamily="2" charset="-122"/>
              </a:rPr>
              <a:t>·</a:t>
            </a:r>
            <a:r>
              <a:rPr lang="zh-CN" altLang="en-US" sz="2400" dirty="0"/>
              <a:t>自噪声的传播路径复杂，而且可变；</a:t>
            </a:r>
            <a:endParaRPr lang="zh-CN" altLang="en-US" sz="2400" dirty="0"/>
          </a:p>
          <a:p>
            <a:pPr eaLnBrk="1" hangingPunct="1">
              <a:lnSpc>
                <a:spcPct val="120000"/>
              </a:lnSpc>
              <a:buClr>
                <a:srgbClr val="FF0000"/>
              </a:buClr>
              <a:buSzPct val="70000"/>
              <a:buNone/>
            </a:pPr>
            <a:r>
              <a:rPr lang="en-US" altLang="zh-CN" sz="2400" b="1" dirty="0">
                <a:latin typeface="宋体" pitchFamily="2" charset="-122"/>
              </a:rPr>
              <a:t>·</a:t>
            </a:r>
            <a:r>
              <a:rPr lang="zh-CN" altLang="en-US" sz="2400" dirty="0"/>
              <a:t>自噪声为近场噪声，辐射噪声为远场噪声，性质和特性不同。</a:t>
            </a:r>
            <a:endParaRPr lang="zh-CN" altLang="en-US" sz="2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597624" y="1147322"/>
            <a:ext cx="3794629"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2</a:t>
            </a:r>
            <a:r>
              <a:rPr lang="zh-CN" altLang="en-US" sz="2800" b="1" dirty="0">
                <a:solidFill>
                  <a:srgbClr val="0033CC"/>
                </a:solidFill>
                <a:latin typeface="黑体" panose="02010609060101010101" pitchFamily="49" charset="-122"/>
                <a:ea typeface="黑体" panose="02010609060101010101" pitchFamily="49" charset="-122"/>
              </a:rPr>
              <a:t>、舰船自噪声测量</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6.5 </a:t>
            </a:r>
            <a:r>
              <a:rPr lang="zh-CN" altLang="en-US" sz="3600" b="1" dirty="0">
                <a:solidFill>
                  <a:srgbClr val="CC3300"/>
                </a:solidFill>
                <a:latin typeface="黑体" panose="02010609060101010101" pitchFamily="49" charset="-122"/>
                <a:ea typeface="黑体" panose="02010609060101010101" pitchFamily="49" charset="-122"/>
              </a:rPr>
              <a:t>舰船和鱼雷自噪声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1185545" y="1934029"/>
            <a:ext cx="8569325" cy="327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       由于自噪声的声源众多、路径复杂多变、测量点离声源很近、声场不稳定等，因此准确测量自噪声比较困难。测量结果与水听器安装位置、安装方式及其指向性有关。</a:t>
            </a:r>
            <a:endParaRPr lang="zh-CN" altLang="en-US" sz="2400" dirty="0"/>
          </a:p>
          <a:p>
            <a:pPr eaLnBrk="1" hangingPunct="1">
              <a:lnSpc>
                <a:spcPct val="120000"/>
              </a:lnSpc>
              <a:spcBef>
                <a:spcPct val="15000"/>
              </a:spcBef>
              <a:buFontTx/>
              <a:buNone/>
            </a:pPr>
            <a:r>
              <a:rPr lang="zh-CN" altLang="en-US" sz="2400" dirty="0"/>
              <a:t>       为使用上的方便，引入等效各向同性自噪声级：用无指向性水听器测量结果表示舰船自噪声级。</a:t>
            </a:r>
            <a:endParaRPr lang="zh-CN" altLang="en-US" sz="2400" dirty="0"/>
          </a:p>
          <a:p>
            <a:pPr eaLnBrk="1" hangingPunct="1">
              <a:lnSpc>
                <a:spcPct val="120000"/>
              </a:lnSpc>
              <a:spcBef>
                <a:spcPct val="15000"/>
              </a:spcBef>
              <a:buFontTx/>
              <a:buNone/>
            </a:pPr>
            <a:r>
              <a:rPr lang="zh-CN" altLang="en-US" sz="2400" dirty="0"/>
              <a:t>       设指向性水听器测得声级为        ，则等效各向同性自噪声级</a:t>
            </a:r>
            <a:r>
              <a:rPr lang="en-US" altLang="zh-CN" sz="2400" i="1" dirty="0"/>
              <a:t>NL</a:t>
            </a:r>
            <a:r>
              <a:rPr lang="zh-CN" altLang="en-US" sz="2400" dirty="0"/>
              <a:t>：</a:t>
            </a:r>
            <a:endParaRPr lang="zh-CN" altLang="en-US" sz="2400" dirty="0"/>
          </a:p>
        </p:txBody>
      </p:sp>
      <p:graphicFrame>
        <p:nvGraphicFramePr>
          <p:cNvPr id="2" name="对象 1"/>
          <p:cNvGraphicFramePr>
            <a:graphicFrameLocks noChangeAspect="1"/>
          </p:cNvGraphicFramePr>
          <p:nvPr/>
        </p:nvGraphicFramePr>
        <p:xfrm>
          <a:off x="5537199" y="4316413"/>
          <a:ext cx="558800" cy="357187"/>
        </p:xfrm>
        <a:graphic>
          <a:graphicData uri="http://schemas.openxmlformats.org/presentationml/2006/ole">
            <mc:AlternateContent xmlns:mc="http://schemas.openxmlformats.org/markup-compatibility/2006">
              <mc:Choice xmlns:v="urn:schemas-microsoft-com:vml" Requires="v">
                <p:oleObj spid="_x0000_s22630" name="Equation" r:id="rId2" imgW="559435" imgH="356870" progId="Equation.DSMT4">
                  <p:embed/>
                </p:oleObj>
              </mc:Choice>
              <mc:Fallback>
                <p:oleObj name="Equation" r:id="rId2" imgW="559435" imgH="356870" progId="Equation.DSMT4">
                  <p:embed/>
                  <p:pic>
                    <p:nvPicPr>
                      <p:cNvPr id="0" name="对象 1"/>
                      <p:cNvPicPr/>
                      <p:nvPr/>
                    </p:nvPicPr>
                    <p:blipFill>
                      <a:blip r:embed="rId3"/>
                      <a:stretch>
                        <a:fillRect/>
                      </a:stretch>
                    </p:blipFill>
                    <p:spPr>
                      <a:xfrm>
                        <a:off x="5537199" y="4316413"/>
                        <a:ext cx="558800" cy="357187"/>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3860800" y="5192848"/>
          <a:ext cx="2532054" cy="483006"/>
        </p:xfrm>
        <a:graphic>
          <a:graphicData uri="http://schemas.openxmlformats.org/presentationml/2006/ole">
            <mc:AlternateContent xmlns:mc="http://schemas.openxmlformats.org/markup-compatibility/2006">
              <mc:Choice xmlns:v="urn:schemas-microsoft-com:vml" Requires="v">
                <p:oleObj spid="_x0000_s22631" name="Equation" r:id="rId4" imgW="1889760" imgH="359410" progId="Equation.DSMT4">
                  <p:embed/>
                </p:oleObj>
              </mc:Choice>
              <mc:Fallback>
                <p:oleObj name="Equation" r:id="rId4" imgW="1889760" imgH="359410" progId="Equation.DSMT4">
                  <p:embed/>
                  <p:pic>
                    <p:nvPicPr>
                      <p:cNvPr id="0" name="对象 6"/>
                      <p:cNvPicPr/>
                      <p:nvPr/>
                    </p:nvPicPr>
                    <p:blipFill>
                      <a:blip r:embed="rId5"/>
                      <a:stretch>
                        <a:fillRect/>
                      </a:stretch>
                    </p:blipFill>
                    <p:spPr>
                      <a:xfrm>
                        <a:off x="3860800" y="5192848"/>
                        <a:ext cx="2532054" cy="483006"/>
                      </a:xfrm>
                      <a:prstGeom prst="rect">
                        <a:avLst/>
                      </a:prstGeom>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6.5 </a:t>
            </a:r>
            <a:r>
              <a:rPr lang="zh-CN" altLang="en-US" sz="3600" b="1" dirty="0">
                <a:solidFill>
                  <a:srgbClr val="CC3300"/>
                </a:solidFill>
                <a:latin typeface="黑体" panose="02010609060101010101" pitchFamily="49" charset="-122"/>
                <a:ea typeface="黑体" panose="02010609060101010101" pitchFamily="49" charset="-122"/>
              </a:rPr>
              <a:t>舰船和鱼雷自噪声</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6" name="Rectangle 4"/>
          <p:cNvSpPr>
            <a:spLocks noChangeArrowheads="1"/>
          </p:cNvSpPr>
          <p:nvPr/>
        </p:nvSpPr>
        <p:spPr bwMode="auto">
          <a:xfrm>
            <a:off x="1307048" y="1947387"/>
            <a:ext cx="3989770" cy="3373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舰船的自噪声有三种来源：</a:t>
            </a:r>
            <a:endParaRPr lang="en-US" altLang="zh-CN" sz="2400" dirty="0"/>
          </a:p>
          <a:p>
            <a:pPr eaLnBrk="1" hangingPunct="1">
              <a:lnSpc>
                <a:spcPct val="120000"/>
              </a:lnSpc>
              <a:spcBef>
                <a:spcPct val="15000"/>
              </a:spcBef>
              <a:buFontTx/>
              <a:buNone/>
            </a:pPr>
            <a:r>
              <a:rPr lang="zh-CN" altLang="en-US" sz="2400" dirty="0"/>
              <a:t>      ①机械装置（</a:t>
            </a:r>
            <a:r>
              <a:rPr lang="en-US" altLang="zh-CN" sz="2400" dirty="0"/>
              <a:t>machinery</a:t>
            </a:r>
            <a:r>
              <a:rPr lang="zh-CN" altLang="en-US" sz="2400" dirty="0"/>
              <a:t>）</a:t>
            </a:r>
            <a:endParaRPr lang="en-US" altLang="zh-CN" sz="2400" dirty="0"/>
          </a:p>
          <a:p>
            <a:pPr eaLnBrk="1" hangingPunct="1">
              <a:lnSpc>
                <a:spcPct val="120000"/>
              </a:lnSpc>
              <a:spcBef>
                <a:spcPct val="15000"/>
              </a:spcBef>
              <a:buFontTx/>
              <a:buNone/>
            </a:pPr>
            <a:r>
              <a:rPr lang="zh-CN" altLang="en-US" sz="2400" dirty="0"/>
              <a:t>      ②螺旋桨（</a:t>
            </a:r>
            <a:r>
              <a:rPr lang="en-US" altLang="zh-CN" sz="2400" dirty="0"/>
              <a:t>screw</a:t>
            </a:r>
            <a:r>
              <a:rPr lang="zh-CN" altLang="en-US" sz="2400" dirty="0"/>
              <a:t>）</a:t>
            </a:r>
            <a:endParaRPr lang="en-US" altLang="zh-CN" sz="2400" dirty="0"/>
          </a:p>
          <a:p>
            <a:pPr eaLnBrk="1" hangingPunct="1">
              <a:lnSpc>
                <a:spcPct val="120000"/>
              </a:lnSpc>
              <a:spcBef>
                <a:spcPct val="15000"/>
              </a:spcBef>
              <a:buFontTx/>
              <a:buNone/>
            </a:pPr>
            <a:r>
              <a:rPr lang="zh-CN" altLang="en-US" sz="2400" dirty="0"/>
              <a:t>      ③水流噪声（</a:t>
            </a:r>
            <a:r>
              <a:rPr lang="en-US" altLang="zh-CN" sz="2400" dirty="0"/>
              <a:t>flow</a:t>
            </a:r>
            <a:r>
              <a:rPr lang="zh-CN" altLang="en-US" sz="2400" dirty="0"/>
              <a:t>）</a:t>
            </a:r>
            <a:endParaRPr lang="en-US" altLang="zh-CN" sz="2400" dirty="0"/>
          </a:p>
          <a:p>
            <a:pPr eaLnBrk="1" hangingPunct="1">
              <a:lnSpc>
                <a:spcPct val="120000"/>
              </a:lnSpc>
              <a:spcBef>
                <a:spcPct val="15000"/>
              </a:spcBef>
              <a:buFontTx/>
              <a:buNone/>
            </a:pPr>
            <a:r>
              <a:rPr lang="zh-CN" altLang="en-US" sz="2400" dirty="0"/>
              <a:t>        右图展示了一艘船舶在</a:t>
            </a:r>
            <a:r>
              <a:rPr lang="en-US" altLang="zh-CN" sz="2400" dirty="0"/>
              <a:t>10kHz</a:t>
            </a:r>
            <a:r>
              <a:rPr lang="zh-CN" altLang="en-US" sz="2400" dirty="0"/>
              <a:t>的工作频率下一些自噪声声源随速度的变化。</a:t>
            </a:r>
            <a:endParaRPr lang="zh-CN" altLang="en-US" sz="2400" dirty="0"/>
          </a:p>
        </p:txBody>
      </p:sp>
      <p:pic>
        <p:nvPicPr>
          <p:cNvPr id="8" name="图片 7"/>
          <p:cNvPicPr>
            <a:picLocks noChangeAspect="1"/>
          </p:cNvPicPr>
          <p:nvPr/>
        </p:nvPicPr>
        <p:blipFill>
          <a:blip r:embed="rId1"/>
          <a:stretch>
            <a:fillRect/>
          </a:stretch>
        </p:blipFill>
        <p:spPr>
          <a:xfrm>
            <a:off x="5376992" y="883835"/>
            <a:ext cx="5906324" cy="5973009"/>
          </a:xfrm>
          <a:prstGeom prst="rect">
            <a:avLst/>
          </a:prstGeom>
        </p:spPr>
      </p:pic>
      <p:pic>
        <p:nvPicPr>
          <p:cNvPr id="5" name="图片 53"/>
          <p:cNvPicPr>
            <a:picLocks noChangeAspect="1" noChangeArrowheads="1"/>
          </p:cNvPicPr>
          <p:nvPr/>
        </p:nvPicPr>
        <p:blipFill>
          <a:blip r:embed="rId2">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10201006" y="6214578"/>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673039" y="1154001"/>
            <a:ext cx="506100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3</a:t>
            </a:r>
            <a:r>
              <a:rPr lang="zh-CN" altLang="en-US" sz="2800" b="1" dirty="0">
                <a:solidFill>
                  <a:srgbClr val="0033CC"/>
                </a:solidFill>
                <a:latin typeface="黑体" panose="02010609060101010101" pitchFamily="49" charset="-122"/>
                <a:ea typeface="黑体" panose="02010609060101010101" pitchFamily="49" charset="-122"/>
              </a:rPr>
              <a:t>、舰船自噪声的变化规律</a:t>
            </a:r>
            <a:endParaRPr lang="zh-CN" altLang="en-US" sz="2800" b="1" dirty="0">
              <a:solidFill>
                <a:srgbClr val="0033CC"/>
              </a:solidFill>
              <a:latin typeface="黑体" panose="02010609060101010101" pitchFamily="49" charset="-122"/>
              <a:ea typeface="黑体" panose="02010609060101010101" pitchFamily="49"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04250" y="314939"/>
            <a:ext cx="2919369" cy="584775"/>
          </a:xfrm>
          <a:prstGeom prst="rect">
            <a:avLst/>
          </a:prstGeom>
          <a:noFill/>
        </p:spPr>
        <p:txBody>
          <a:bodyPr wrap="square" rtlCol="0">
            <a:spAutoFit/>
          </a:bodyPr>
          <a:lstStyle/>
          <a:p>
            <a:r>
              <a:rPr lang="zh-CN" altLang="en-US" sz="3200" b="1" dirty="0">
                <a:latin typeface="宋体" pitchFamily="2" charset="-122"/>
                <a:ea typeface="宋体" pitchFamily="2" charset="-122"/>
              </a:rPr>
              <a:t>目录</a:t>
            </a:r>
            <a:endParaRPr lang="zh-CN" altLang="en-US" sz="3200" b="1" dirty="0">
              <a:latin typeface="宋体" pitchFamily="2" charset="-122"/>
              <a:ea typeface="宋体" pitchFamily="2" charset="-122"/>
            </a:endParaRPr>
          </a:p>
        </p:txBody>
      </p:sp>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2061962" y="1143445"/>
            <a:ext cx="8640763" cy="4739759"/>
          </a:xfrm>
          <a:prstGeom prst="rect">
            <a:avLst/>
          </a:prstGeom>
          <a:noFill/>
          <a:ln>
            <a:noFill/>
          </a:ln>
          <a:effectLst/>
        </p:spPr>
        <p:txBody>
          <a:bodyPr>
            <a:spAutoFit/>
          </a:bodyPr>
          <a:lstStyle/>
          <a:p>
            <a:pPr marL="228600" indent="-228600">
              <a:lnSpc>
                <a:spcPct val="150000"/>
              </a:lnSpc>
              <a:spcBef>
                <a:spcPts val="10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rPr>
              <a:t>6.0 </a:t>
            </a:r>
            <a:r>
              <a:rPr lang="zh-CN" altLang="en-US" sz="2400" dirty="0">
                <a:latin typeface="微软雅黑" panose="020B0503020204020204" pitchFamily="34" charset="-122"/>
                <a:ea typeface="微软雅黑" panose="020B0503020204020204" pitchFamily="34" charset="-122"/>
              </a:rPr>
              <a:t>噪声概述</a:t>
            </a:r>
            <a:endParaRPr lang="en-US" altLang="zh-CN" sz="2400" dirty="0">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6.1 </a:t>
            </a:r>
            <a:r>
              <a:rPr lang="zh-CN" altLang="en-US" sz="2400" dirty="0">
                <a:solidFill>
                  <a:prstClr val="black"/>
                </a:solidFill>
                <a:latin typeface="微软雅黑" panose="020B0503020204020204" pitchFamily="34" charset="-122"/>
                <a:ea typeface="微软雅黑" panose="020B0503020204020204" pitchFamily="34" charset="-122"/>
              </a:rPr>
              <a:t>噪声的基本概念</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6.2 </a:t>
            </a:r>
            <a:r>
              <a:rPr lang="zh-CN" altLang="en-US" sz="2400" dirty="0">
                <a:solidFill>
                  <a:prstClr val="black"/>
                </a:solidFill>
                <a:latin typeface="微软雅黑" panose="020B0503020204020204" pitchFamily="34" charset="-122"/>
                <a:ea typeface="微软雅黑" panose="020B0503020204020204" pitchFamily="34" charset="-122"/>
              </a:rPr>
              <a:t>声学中噪声的描述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6.3 </a:t>
            </a:r>
            <a:r>
              <a:rPr lang="zh-CN" altLang="en-US" sz="2400" dirty="0">
                <a:solidFill>
                  <a:prstClr val="black"/>
                </a:solidFill>
                <a:latin typeface="微软雅黑" panose="020B0503020204020204" pitchFamily="34" charset="-122"/>
                <a:ea typeface="微软雅黑" panose="020B0503020204020204" pitchFamily="34" charset="-122"/>
              </a:rPr>
              <a:t>海洋环境噪声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6.4 </a:t>
            </a:r>
            <a:r>
              <a:rPr lang="zh-CN" altLang="en-US" sz="2400" dirty="0">
                <a:solidFill>
                  <a:prstClr val="black"/>
                </a:solidFill>
                <a:latin typeface="微软雅黑" panose="020B0503020204020204" pitchFamily="34" charset="-122"/>
                <a:ea typeface="微软雅黑" panose="020B0503020204020204" pitchFamily="34" charset="-122"/>
              </a:rPr>
              <a:t>舰船和鱼雷辐射噪声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prstClr val="black"/>
                </a:solidFill>
                <a:latin typeface="微软雅黑" panose="020B0503020204020204" pitchFamily="34" charset="-122"/>
                <a:ea typeface="微软雅黑" panose="020B0503020204020204" pitchFamily="34" charset="-122"/>
              </a:rPr>
              <a:t>6.5 </a:t>
            </a:r>
            <a:r>
              <a:rPr lang="zh-CN" altLang="en-US" sz="2400" dirty="0">
                <a:solidFill>
                  <a:prstClr val="black"/>
                </a:solidFill>
                <a:latin typeface="微软雅黑" panose="020B0503020204020204" pitchFamily="34" charset="-122"/>
                <a:ea typeface="微软雅黑" panose="020B0503020204020204" pitchFamily="34" charset="-122"/>
              </a:rPr>
              <a:t>舰船和鱼雷目标自噪声</a:t>
            </a:r>
            <a:endParaRPr lang="en-US" altLang="zh-CN" sz="2400" dirty="0">
              <a:solidFill>
                <a:prstClr val="black"/>
              </a:solidFill>
              <a:latin typeface="微软雅黑" panose="020B0503020204020204" pitchFamily="34" charset="-122"/>
              <a:ea typeface="微软雅黑" panose="020B0503020204020204" pitchFamily="34" charset="-122"/>
            </a:endParaRPr>
          </a:p>
          <a:p>
            <a:pPr marL="228600" indent="-228600">
              <a:lnSpc>
                <a:spcPct val="150000"/>
              </a:lnSpc>
              <a:spcBef>
                <a:spcPts val="1000"/>
              </a:spcBef>
              <a:buFont typeface="Arial" panose="020B0604020202020204" pitchFamily="34" charset="0"/>
              <a:buChar char="•"/>
            </a:pPr>
            <a:r>
              <a:rPr lang="en-US" altLang="zh-CN" sz="2400" dirty="0">
                <a:solidFill>
                  <a:srgbClr val="FF0000"/>
                </a:solidFill>
                <a:latin typeface="微软雅黑" panose="020B0503020204020204" pitchFamily="34" charset="-122"/>
                <a:ea typeface="微软雅黑" panose="020B0503020204020204" pitchFamily="34" charset="-122"/>
              </a:rPr>
              <a:t>6.6 LFM</a:t>
            </a:r>
            <a:r>
              <a:rPr lang="zh-CN" altLang="en-US" sz="2400" dirty="0">
                <a:solidFill>
                  <a:srgbClr val="FF0000"/>
                </a:solidFill>
                <a:latin typeface="微软雅黑" panose="020B0503020204020204" pitchFamily="34" charset="-122"/>
                <a:ea typeface="微软雅黑" panose="020B0503020204020204" pitchFamily="34" charset="-122"/>
              </a:rPr>
              <a:t>脉冲声呐目标检测</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9956277" y="6146564"/>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p:cNvSpPr txBox="1"/>
          <p:nvPr/>
        </p:nvSpPr>
        <p:spPr>
          <a:xfrm>
            <a:off x="673039" y="1154001"/>
            <a:ext cx="9769021"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线性调频（</a:t>
            </a:r>
            <a:r>
              <a:rPr lang="en-US" altLang="zh-CN" sz="2800" b="1" dirty="0">
                <a:solidFill>
                  <a:srgbClr val="0033CC"/>
                </a:solidFill>
                <a:latin typeface="黑体" panose="02010609060101010101" pitchFamily="49" charset="-122"/>
                <a:ea typeface="黑体" panose="02010609060101010101" pitchFamily="49" charset="-122"/>
              </a:rPr>
              <a:t>Linear Frequency Modulation</a:t>
            </a:r>
            <a:r>
              <a:rPr lang="zh-CN" altLang="en-US" sz="2800" b="1" dirty="0">
                <a:solidFill>
                  <a:srgbClr val="0033CC"/>
                </a:solidFill>
                <a:latin typeface="黑体" panose="02010609060101010101" pitchFamily="49" charset="-122"/>
                <a:ea typeface="黑体" panose="02010609060101010101" pitchFamily="49" charset="-122"/>
              </a:rPr>
              <a:t>，</a:t>
            </a:r>
            <a:r>
              <a:rPr lang="en-US" altLang="zh-CN" sz="2800" b="1" dirty="0">
                <a:solidFill>
                  <a:srgbClr val="0033CC"/>
                </a:solidFill>
                <a:latin typeface="黑体" panose="02010609060101010101" pitchFamily="49" charset="-122"/>
                <a:ea typeface="黑体" panose="02010609060101010101" pitchFamily="49" charset="-122"/>
              </a:rPr>
              <a:t>LFM</a:t>
            </a:r>
            <a:r>
              <a:rPr lang="zh-CN" altLang="en-US" sz="2800" b="1" dirty="0">
                <a:solidFill>
                  <a:srgbClr val="0033CC"/>
                </a:solidFill>
                <a:latin typeface="黑体" panose="02010609060101010101" pitchFamily="49" charset="-122"/>
                <a:ea typeface="黑体" panose="02010609060101010101" pitchFamily="49" charset="-122"/>
              </a:rPr>
              <a:t>）信号：</a:t>
            </a:r>
            <a:endParaRPr lang="zh-CN" altLang="en-US" sz="2800" b="1" dirty="0">
              <a:solidFill>
                <a:srgbClr val="0033CC"/>
              </a:solidFill>
              <a:latin typeface="黑体" panose="02010609060101010101" pitchFamily="49" charset="-122"/>
              <a:ea typeface="黑体" panose="02010609060101010101" pitchFamily="49" charset="-122"/>
            </a:endParaRPr>
          </a:p>
        </p:txBody>
      </p:sp>
      <p:graphicFrame>
        <p:nvGraphicFramePr>
          <p:cNvPr id="6" name="对象 5"/>
          <p:cNvGraphicFramePr>
            <a:graphicFrameLocks noChangeAspect="1"/>
          </p:cNvGraphicFramePr>
          <p:nvPr/>
        </p:nvGraphicFramePr>
        <p:xfrm>
          <a:off x="3744913" y="1635125"/>
          <a:ext cx="4486275" cy="1271588"/>
        </p:xfrm>
        <a:graphic>
          <a:graphicData uri="http://schemas.openxmlformats.org/presentationml/2006/ole">
            <mc:AlternateContent xmlns:mc="http://schemas.openxmlformats.org/markup-compatibility/2006">
              <mc:Choice xmlns:v="urn:schemas-microsoft-com:vml" Requires="v">
                <p:oleObj spid="_x0000_s24619" name="Equation" r:id="rId2" imgW="45100875" imgH="12792075" progId="Equation.DSMT4">
                  <p:embed/>
                </p:oleObj>
              </mc:Choice>
              <mc:Fallback>
                <p:oleObj name="Equation" r:id="rId2" imgW="45100875" imgH="12792075" progId="Equation.DSMT4">
                  <p:embed/>
                  <p:pic>
                    <p:nvPicPr>
                      <p:cNvPr id="0" name="对象 8"/>
                      <p:cNvPicPr/>
                      <p:nvPr/>
                    </p:nvPicPr>
                    <p:blipFill>
                      <a:blip r:embed="rId3"/>
                      <a:stretch>
                        <a:fillRect/>
                      </a:stretch>
                    </p:blipFill>
                    <p:spPr>
                      <a:xfrm>
                        <a:off x="3744913" y="1635125"/>
                        <a:ext cx="4486275" cy="1271588"/>
                      </a:xfrm>
                      <a:prstGeom prst="rect">
                        <a:avLst/>
                      </a:prstGeom>
                    </p:spPr>
                  </p:pic>
                </p:oleObj>
              </mc:Fallback>
            </mc:AlternateContent>
          </a:graphicData>
        </a:graphic>
      </p:graphicFrame>
      <p:pic>
        <p:nvPicPr>
          <p:cNvPr id="7" name="图片 6"/>
          <p:cNvPicPr>
            <a:picLocks noChangeAspect="1"/>
          </p:cNvPicPr>
          <p:nvPr/>
        </p:nvPicPr>
        <p:blipFill rotWithShape="1">
          <a:blip r:embed="rId4"/>
          <a:srcRect l="8660" t="2667" r="8686"/>
          <a:stretch>
            <a:fillRect/>
          </a:stretch>
        </p:blipFill>
        <p:spPr>
          <a:xfrm>
            <a:off x="2639095" y="2758630"/>
            <a:ext cx="6913807" cy="3973252"/>
          </a:xfrm>
          <a:prstGeom prst="rect">
            <a:avLst/>
          </a:prstGeom>
        </p:spPr>
      </p:pic>
      <p:sp>
        <p:nvSpPr>
          <p:cNvPr id="8"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6.6 LFM</a:t>
            </a:r>
            <a:r>
              <a:rPr lang="zh-CN" altLang="en-US" sz="3600" b="1" dirty="0">
                <a:solidFill>
                  <a:srgbClr val="CC3300"/>
                </a:solidFill>
                <a:latin typeface="黑体" panose="02010609060101010101" pitchFamily="49" charset="-122"/>
                <a:ea typeface="黑体" panose="02010609060101010101" pitchFamily="49" charset="-122"/>
              </a:rPr>
              <a:t>脉冲声呐目标检测</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806206" y="6097322"/>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673039" y="1154001"/>
            <a:ext cx="2531462"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回波模型：</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4" name="Rectangle 4"/>
          <p:cNvSpPr>
            <a:spLocks noChangeArrowheads="1"/>
          </p:cNvSpPr>
          <p:nvPr/>
        </p:nvSpPr>
        <p:spPr bwMode="auto">
          <a:xfrm>
            <a:off x="1307048" y="1947387"/>
            <a:ext cx="8826766" cy="493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发射脉冲         经过</a:t>
            </a:r>
            <a:r>
              <a:rPr lang="en-US" altLang="zh-CN" sz="2400" dirty="0"/>
              <a:t>K</a:t>
            </a:r>
            <a:r>
              <a:rPr lang="zh-CN" altLang="en-US" sz="2400" dirty="0"/>
              <a:t>个目标反射（持续时间</a:t>
            </a:r>
            <a:r>
              <a:rPr lang="en-US" altLang="zh-CN" sz="2400" dirty="0"/>
              <a:t>T</a:t>
            </a:r>
            <a:r>
              <a:rPr lang="zh-CN" altLang="en-US" sz="2400" dirty="0"/>
              <a:t>），回波信号为： </a:t>
            </a:r>
            <a:endParaRPr lang="zh-CN" altLang="en-US" sz="2400" dirty="0"/>
          </a:p>
        </p:txBody>
      </p:sp>
      <p:graphicFrame>
        <p:nvGraphicFramePr>
          <p:cNvPr id="2" name="对象 1"/>
          <p:cNvGraphicFramePr>
            <a:graphicFrameLocks noChangeAspect="1"/>
          </p:cNvGraphicFramePr>
          <p:nvPr/>
        </p:nvGraphicFramePr>
        <p:xfrm>
          <a:off x="2619864" y="1947387"/>
          <a:ext cx="688945" cy="516709"/>
        </p:xfrm>
        <a:graphic>
          <a:graphicData uri="http://schemas.openxmlformats.org/presentationml/2006/ole">
            <mc:AlternateContent xmlns:mc="http://schemas.openxmlformats.org/markup-compatibility/2006">
              <mc:Choice xmlns:v="urn:schemas-microsoft-com:vml" Requires="v">
                <p:oleObj spid="_x0000_s25802" name="Equation" r:id="rId2" imgW="266700" imgH="199390" progId="Equation.DSMT4">
                  <p:embed/>
                </p:oleObj>
              </mc:Choice>
              <mc:Fallback>
                <p:oleObj name="Equation" r:id="rId2" imgW="266700" imgH="199390" progId="Equation.DSMT4">
                  <p:embed/>
                  <p:pic>
                    <p:nvPicPr>
                      <p:cNvPr id="0" name="图片 25801"/>
                      <p:cNvPicPr/>
                      <p:nvPr/>
                    </p:nvPicPr>
                    <p:blipFill>
                      <a:blip r:embed="rId3"/>
                      <a:stretch>
                        <a:fillRect/>
                      </a:stretch>
                    </p:blipFill>
                    <p:spPr>
                      <a:xfrm>
                        <a:off x="2619864" y="1947387"/>
                        <a:ext cx="688945" cy="516709"/>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665538" y="2708275"/>
          <a:ext cx="4108450" cy="1073150"/>
        </p:xfrm>
        <a:graphic>
          <a:graphicData uri="http://schemas.openxmlformats.org/presentationml/2006/ole">
            <mc:AlternateContent xmlns:mc="http://schemas.openxmlformats.org/markup-compatibility/2006">
              <mc:Choice xmlns:v="urn:schemas-microsoft-com:vml" Requires="v">
                <p:oleObj spid="_x0000_s25803" name="Equation" r:id="rId4" imgW="39614475" imgH="10353675" progId="Equation.DSMT4">
                  <p:embed/>
                </p:oleObj>
              </mc:Choice>
              <mc:Fallback>
                <p:oleObj name="Equation" r:id="rId4" imgW="39614475" imgH="10353675" progId="Equation.DSMT4">
                  <p:embed/>
                  <p:pic>
                    <p:nvPicPr>
                      <p:cNvPr id="0" name="图片 25802"/>
                      <p:cNvPicPr/>
                      <p:nvPr/>
                    </p:nvPicPr>
                    <p:blipFill>
                      <a:blip r:embed="rId5"/>
                      <a:stretch>
                        <a:fillRect/>
                      </a:stretch>
                    </p:blipFill>
                    <p:spPr>
                      <a:xfrm>
                        <a:off x="3665538" y="2708275"/>
                        <a:ext cx="4108450" cy="1073150"/>
                      </a:xfrm>
                      <a:prstGeom prst="rect">
                        <a:avLst/>
                      </a:prstGeom>
                    </p:spPr>
                  </p:pic>
                </p:oleObj>
              </mc:Fallback>
            </mc:AlternateContent>
          </a:graphicData>
        </a:graphic>
      </p:graphicFrame>
      <p:sp>
        <p:nvSpPr>
          <p:cNvPr id="7" name="Rectangle 4"/>
          <p:cNvSpPr>
            <a:spLocks noChangeArrowheads="1"/>
          </p:cNvSpPr>
          <p:nvPr/>
        </p:nvSpPr>
        <p:spPr bwMode="auto">
          <a:xfrm>
            <a:off x="1307048" y="4047536"/>
            <a:ext cx="8826766" cy="995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15000"/>
              </a:spcBef>
              <a:buFontTx/>
              <a:buNone/>
            </a:pPr>
            <a:r>
              <a:rPr lang="zh-CN" altLang="en-US" sz="2400" dirty="0"/>
              <a:t>其中     和    是第</a:t>
            </a:r>
            <a:r>
              <a:rPr lang="en-US" altLang="zh-CN" sz="2400" i="1" dirty="0"/>
              <a:t>k</a:t>
            </a:r>
            <a:r>
              <a:rPr lang="zh-CN" altLang="en-US" sz="2400" dirty="0"/>
              <a:t>个目标回波信号的复幅度和时延。</a:t>
            </a:r>
            <a:endParaRPr lang="en-US" altLang="zh-CN" sz="2400" dirty="0"/>
          </a:p>
          <a:p>
            <a:pPr eaLnBrk="1" hangingPunct="1">
              <a:lnSpc>
                <a:spcPct val="120000"/>
              </a:lnSpc>
              <a:spcBef>
                <a:spcPct val="15000"/>
              </a:spcBef>
              <a:buFontTx/>
              <a:buNone/>
            </a:pPr>
            <a:r>
              <a:rPr lang="zh-CN" altLang="en-US" sz="2400" dirty="0"/>
              <a:t>时延跟距离的关系如下（</a:t>
            </a:r>
            <a:r>
              <a:rPr lang="en-US" altLang="zh-CN" sz="2400" dirty="0"/>
              <a:t>c</a:t>
            </a:r>
            <a:r>
              <a:rPr lang="zh-CN" altLang="en-US" sz="2400" dirty="0"/>
              <a:t>为声速）：</a:t>
            </a:r>
            <a:endParaRPr lang="zh-CN" altLang="en-US" sz="2400" dirty="0"/>
          </a:p>
        </p:txBody>
      </p:sp>
      <p:graphicFrame>
        <p:nvGraphicFramePr>
          <p:cNvPr id="8" name="对象 7"/>
          <p:cNvGraphicFramePr>
            <a:graphicFrameLocks noChangeAspect="1"/>
          </p:cNvGraphicFramePr>
          <p:nvPr/>
        </p:nvGraphicFramePr>
        <p:xfrm>
          <a:off x="1999518" y="3984917"/>
          <a:ext cx="439982" cy="555767"/>
        </p:xfrm>
        <a:graphic>
          <a:graphicData uri="http://schemas.openxmlformats.org/presentationml/2006/ole">
            <mc:AlternateContent xmlns:mc="http://schemas.openxmlformats.org/markup-compatibility/2006">
              <mc:Choice xmlns:v="urn:schemas-microsoft-com:vml" Requires="v">
                <p:oleObj spid="_x0000_s25804" name="Equation" r:id="rId6" imgW="181610" imgH="228600" progId="Equation.DSMT4">
                  <p:embed/>
                </p:oleObj>
              </mc:Choice>
              <mc:Fallback>
                <p:oleObj name="Equation" r:id="rId6" imgW="181610" imgH="228600" progId="Equation.DSMT4">
                  <p:embed/>
                  <p:pic>
                    <p:nvPicPr>
                      <p:cNvPr id="0" name="图片 25803"/>
                      <p:cNvPicPr/>
                      <p:nvPr/>
                    </p:nvPicPr>
                    <p:blipFill>
                      <a:blip r:embed="rId7"/>
                      <a:stretch>
                        <a:fillRect/>
                      </a:stretch>
                    </p:blipFill>
                    <p:spPr>
                      <a:xfrm>
                        <a:off x="1999518" y="3984917"/>
                        <a:ext cx="439982" cy="555767"/>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2640764" y="4028462"/>
          <a:ext cx="376335" cy="531296"/>
        </p:xfrm>
        <a:graphic>
          <a:graphicData uri="http://schemas.openxmlformats.org/presentationml/2006/ole">
            <mc:AlternateContent xmlns:mc="http://schemas.openxmlformats.org/markup-compatibility/2006">
              <mc:Choice xmlns:v="urn:schemas-microsoft-com:vml" Requires="v">
                <p:oleObj spid="_x0000_s25805" name="Equation" r:id="rId8" imgW="161290" imgH="228600" progId="Equation.DSMT4">
                  <p:embed/>
                </p:oleObj>
              </mc:Choice>
              <mc:Fallback>
                <p:oleObj name="Equation" r:id="rId8" imgW="161290" imgH="228600" progId="Equation.DSMT4">
                  <p:embed/>
                  <p:pic>
                    <p:nvPicPr>
                      <p:cNvPr id="0" name="图片 25804"/>
                      <p:cNvPicPr/>
                      <p:nvPr/>
                    </p:nvPicPr>
                    <p:blipFill>
                      <a:blip r:embed="rId9"/>
                      <a:stretch>
                        <a:fillRect/>
                      </a:stretch>
                    </p:blipFill>
                    <p:spPr>
                      <a:xfrm>
                        <a:off x="2640764" y="4028462"/>
                        <a:ext cx="376335" cy="531296"/>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4718247" y="5087458"/>
          <a:ext cx="1362264" cy="980358"/>
        </p:xfrm>
        <a:graphic>
          <a:graphicData uri="http://schemas.openxmlformats.org/presentationml/2006/ole">
            <mc:AlternateContent xmlns:mc="http://schemas.openxmlformats.org/markup-compatibility/2006">
              <mc:Choice xmlns:v="urn:schemas-microsoft-com:vml" Requires="v">
                <p:oleObj spid="_x0000_s25806" name="Equation" r:id="rId10" imgW="13096875" imgH="9439275" progId="Equation.DSMT4">
                  <p:embed/>
                </p:oleObj>
              </mc:Choice>
              <mc:Fallback>
                <p:oleObj name="Equation" r:id="rId10" imgW="13096875" imgH="9439275" progId="Equation.DSMT4">
                  <p:embed/>
                  <p:pic>
                    <p:nvPicPr>
                      <p:cNvPr id="0" name="图片 25805"/>
                      <p:cNvPicPr/>
                      <p:nvPr/>
                    </p:nvPicPr>
                    <p:blipFill>
                      <a:blip r:embed="rId11"/>
                      <a:stretch>
                        <a:fillRect/>
                      </a:stretch>
                    </p:blipFill>
                    <p:spPr>
                      <a:xfrm>
                        <a:off x="4718247" y="5087458"/>
                        <a:ext cx="1362264" cy="980358"/>
                      </a:xfrm>
                      <a:prstGeom prst="rect">
                        <a:avLst/>
                      </a:prstGeom>
                    </p:spPr>
                  </p:pic>
                </p:oleObj>
              </mc:Fallback>
            </mc:AlternateContent>
          </a:graphicData>
        </a:graphic>
      </p:graphicFrame>
      <p:sp>
        <p:nvSpPr>
          <p:cNvPr id="11"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6.6 LFM</a:t>
            </a:r>
            <a:r>
              <a:rPr lang="zh-CN" altLang="en-US" sz="3600" b="1" dirty="0">
                <a:solidFill>
                  <a:srgbClr val="CC3300"/>
                </a:solidFill>
                <a:latin typeface="黑体" panose="02010609060101010101" pitchFamily="49" charset="-122"/>
                <a:ea typeface="黑体" panose="02010609060101010101" pitchFamily="49" charset="-122"/>
              </a:rPr>
              <a:t>连续波声呐目标检测</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p:cNvSpPr>
            <a:spLocks noChangeArrowheads="1"/>
          </p:cNvSpPr>
          <p:nvPr/>
        </p:nvSpPr>
        <p:spPr bwMode="auto">
          <a:xfrm>
            <a:off x="4091233" y="3657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2036763" y="1677988"/>
          <a:ext cx="4011612" cy="1765300"/>
        </p:xfrm>
        <a:graphic>
          <a:graphicData uri="http://schemas.openxmlformats.org/presentationml/2006/ole">
            <mc:AlternateContent xmlns:mc="http://schemas.openxmlformats.org/markup-compatibility/2006">
              <mc:Choice xmlns:v="urn:schemas-microsoft-com:vml" Requires="v">
                <p:oleObj spid="_x0000_s26725" name="Equation" r:id="rId2" imgW="39614475" imgH="17668875" progId="Equation.DSMT4">
                  <p:embed/>
                </p:oleObj>
              </mc:Choice>
              <mc:Fallback>
                <p:oleObj name="Equation" r:id="rId2" imgW="39614475" imgH="17668875" progId="Equation.DSMT4">
                  <p:embed/>
                  <p:pic>
                    <p:nvPicPr>
                      <p:cNvPr id="0" name="Object 1"/>
                      <p:cNvPicPr>
                        <a:picLocks noChangeAspect="1" noChangeArrowheads="1"/>
                      </p:cNvPicPr>
                      <p:nvPr/>
                    </p:nvPicPr>
                    <p:blipFill>
                      <a:blip r:embed="rId3"/>
                      <a:srcRect/>
                      <a:stretch>
                        <a:fillRect/>
                      </a:stretch>
                    </p:blipFill>
                    <p:spPr bwMode="auto">
                      <a:xfrm>
                        <a:off x="2036763" y="1677988"/>
                        <a:ext cx="4011612" cy="1765300"/>
                      </a:xfrm>
                      <a:prstGeom prst="rect">
                        <a:avLst/>
                      </a:prstGeom>
                      <a:noFill/>
                    </p:spPr>
                  </p:pic>
                </p:oleObj>
              </mc:Fallback>
            </mc:AlternateContent>
          </a:graphicData>
        </a:graphic>
      </p:graphicFrame>
      <p:sp>
        <p:nvSpPr>
          <p:cNvPr id="6" name="文本框 5"/>
          <p:cNvSpPr txBox="1"/>
          <p:nvPr/>
        </p:nvSpPr>
        <p:spPr>
          <a:xfrm>
            <a:off x="673039" y="1154001"/>
            <a:ext cx="2170787" cy="523220"/>
          </a:xfrm>
          <a:prstGeom prst="rect">
            <a:avLst/>
          </a:prstGeom>
          <a:noFill/>
        </p:spPr>
        <p:txBody>
          <a:bodyPr wrap="none" rtlCol="0">
            <a:spAutoFit/>
          </a:bodyPr>
          <a:lstStyle/>
          <a:p>
            <a:r>
              <a:rPr lang="en-US" altLang="zh-CN" sz="2800" b="1" dirty="0">
                <a:solidFill>
                  <a:srgbClr val="0033CC"/>
                </a:solidFill>
                <a:latin typeface="黑体" panose="02010609060101010101" pitchFamily="49" charset="-122"/>
                <a:ea typeface="黑体" panose="02010609060101010101" pitchFamily="49" charset="-122"/>
              </a:rPr>
              <a:t>   </a:t>
            </a:r>
            <a:r>
              <a:rPr lang="zh-CN" altLang="en-US" sz="2800" b="1" dirty="0">
                <a:solidFill>
                  <a:srgbClr val="0033CC"/>
                </a:solidFill>
                <a:latin typeface="黑体" panose="02010609060101010101" pitchFamily="49" charset="-122"/>
                <a:ea typeface="黑体" panose="02010609060101010101" pitchFamily="49" charset="-122"/>
              </a:rPr>
              <a:t>解啁啾：</a:t>
            </a:r>
            <a:endParaRPr lang="zh-CN" altLang="en-US" sz="2800" b="1" dirty="0">
              <a:solidFill>
                <a:srgbClr val="0033CC"/>
              </a:solidFill>
              <a:latin typeface="黑体" panose="02010609060101010101" pitchFamily="49" charset="-122"/>
              <a:ea typeface="黑体" panose="02010609060101010101" pitchFamily="49" charset="-122"/>
            </a:endParaRPr>
          </a:p>
        </p:txBody>
      </p:sp>
      <p:sp>
        <p:nvSpPr>
          <p:cNvPr id="9"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6.6 LFM</a:t>
            </a:r>
            <a:r>
              <a:rPr lang="zh-CN" altLang="en-US" sz="3600" b="1" dirty="0">
                <a:solidFill>
                  <a:srgbClr val="CC3300"/>
                </a:solidFill>
                <a:latin typeface="黑体" panose="02010609060101010101" pitchFamily="49" charset="-122"/>
                <a:ea typeface="黑体" panose="02010609060101010101" pitchFamily="49" charset="-122"/>
              </a:rPr>
              <a:t>脉冲声呐目标检测</a:t>
            </a:r>
            <a:endParaRPr lang="zh-CN" altLang="en-US" sz="3600" b="1" dirty="0">
              <a:solidFill>
                <a:srgbClr val="CC3300"/>
              </a:solidFill>
              <a:latin typeface="黑体" panose="02010609060101010101" pitchFamily="49" charset="-122"/>
              <a:ea typeface="黑体" panose="02010609060101010101" pitchFamily="49" charset="-122"/>
            </a:endParaRPr>
          </a:p>
        </p:txBody>
      </p:sp>
      <p:graphicFrame>
        <p:nvGraphicFramePr>
          <p:cNvPr id="7" name="对象 6"/>
          <p:cNvGraphicFramePr>
            <a:graphicFrameLocks noChangeAspect="1"/>
          </p:cNvGraphicFramePr>
          <p:nvPr/>
        </p:nvGraphicFramePr>
        <p:xfrm>
          <a:off x="7932738" y="1366838"/>
          <a:ext cx="1879600" cy="533400"/>
        </p:xfrm>
        <a:graphic>
          <a:graphicData uri="http://schemas.openxmlformats.org/presentationml/2006/ole">
            <mc:AlternateContent xmlns:mc="http://schemas.openxmlformats.org/markup-compatibility/2006">
              <mc:Choice xmlns:v="urn:schemas-microsoft-com:vml" Requires="v">
                <p:oleObj spid="_x0000_s26726" name="Equation" r:id="rId4" imgW="45100875" imgH="12792075" progId="Equation.DSMT4">
                  <p:embed/>
                </p:oleObj>
              </mc:Choice>
              <mc:Fallback>
                <p:oleObj name="Equation" r:id="rId4" imgW="45100875" imgH="12792075" progId="Equation.DSMT4">
                  <p:embed/>
                  <p:pic>
                    <p:nvPicPr>
                      <p:cNvPr id="0" name="图片 26725"/>
                      <p:cNvPicPr/>
                      <p:nvPr/>
                    </p:nvPicPr>
                    <p:blipFill>
                      <a:blip r:embed="rId5"/>
                      <a:stretch>
                        <a:fillRect/>
                      </a:stretch>
                    </p:blipFill>
                    <p:spPr>
                      <a:xfrm>
                        <a:off x="7932738" y="1366838"/>
                        <a:ext cx="1879600" cy="53340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6727825" y="3376613"/>
          <a:ext cx="4291013" cy="1230312"/>
        </p:xfrm>
        <a:graphic>
          <a:graphicData uri="http://schemas.openxmlformats.org/presentationml/2006/ole">
            <mc:AlternateContent xmlns:mc="http://schemas.openxmlformats.org/markup-compatibility/2006">
              <mc:Choice xmlns:v="urn:schemas-microsoft-com:vml" Requires="v">
                <p:oleObj spid="_x0000_s26727" name="Equation" r:id="rId6" imgW="39309675" imgH="11268075" progId="Equation.DSMT4">
                  <p:embed/>
                </p:oleObj>
              </mc:Choice>
              <mc:Fallback>
                <p:oleObj name="Equation" r:id="rId6" imgW="39309675" imgH="11268075" progId="Equation.DSMT4">
                  <p:embed/>
                  <p:pic>
                    <p:nvPicPr>
                      <p:cNvPr id="0" name="图片 26726"/>
                      <p:cNvPicPr/>
                      <p:nvPr/>
                    </p:nvPicPr>
                    <p:blipFill>
                      <a:blip r:embed="rId7"/>
                      <a:stretch>
                        <a:fillRect/>
                      </a:stretch>
                    </p:blipFill>
                    <p:spPr>
                      <a:xfrm>
                        <a:off x="6727825" y="3376613"/>
                        <a:ext cx="4291013" cy="1230312"/>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755937" y="2305432"/>
          <a:ext cx="4105275" cy="1071563"/>
        </p:xfrm>
        <a:graphic>
          <a:graphicData uri="http://schemas.openxmlformats.org/presentationml/2006/ole">
            <mc:AlternateContent xmlns:mc="http://schemas.openxmlformats.org/markup-compatibility/2006">
              <mc:Choice xmlns:v="urn:schemas-microsoft-com:vml" Requires="v">
                <p:oleObj spid="_x0000_s26728" name="Equation" r:id="rId8" imgW="5629910" imgH="1469390" progId="Equation.DSMT4">
                  <p:embed/>
                </p:oleObj>
              </mc:Choice>
              <mc:Fallback>
                <p:oleObj name="Equation" r:id="rId8" imgW="5629910" imgH="1469390" progId="Equation.DSMT4">
                  <p:embed/>
                  <p:pic>
                    <p:nvPicPr>
                      <p:cNvPr id="0" name="图片 26727"/>
                      <p:cNvPicPr/>
                      <p:nvPr/>
                    </p:nvPicPr>
                    <p:blipFill>
                      <a:blip r:embed="rId9"/>
                      <a:stretch>
                        <a:fillRect/>
                      </a:stretch>
                    </p:blipFill>
                    <p:spPr>
                      <a:xfrm>
                        <a:off x="6755937" y="2305432"/>
                        <a:ext cx="4105275" cy="1071563"/>
                      </a:xfrm>
                      <a:prstGeom prst="rect">
                        <a:avLst/>
                      </a:prstGeom>
                    </p:spPr>
                  </p:pic>
                </p:oleObj>
              </mc:Fallback>
            </mc:AlternateContent>
          </a:graphicData>
        </a:graphic>
      </p:graphicFrame>
      <p:sp>
        <p:nvSpPr>
          <p:cNvPr id="12" name="文本框 11"/>
          <p:cNvSpPr txBox="1"/>
          <p:nvPr/>
        </p:nvSpPr>
        <p:spPr>
          <a:xfrm>
            <a:off x="1140207" y="3622932"/>
            <a:ext cx="1800493" cy="369332"/>
          </a:xfrm>
          <a:prstGeom prst="rect">
            <a:avLst/>
          </a:prstGeom>
          <a:noFill/>
        </p:spPr>
        <p:txBody>
          <a:bodyPr wrap="none" rtlCol="0">
            <a:spAutoFit/>
          </a:bodyPr>
          <a:lstStyle/>
          <a:p>
            <a:r>
              <a:rPr lang="zh-CN" altLang="en-US" dirty="0"/>
              <a:t>傅里叶变换得到</a:t>
            </a:r>
            <a:endParaRPr lang="zh-CN" altLang="en-US" dirty="0"/>
          </a:p>
        </p:txBody>
      </p:sp>
      <p:graphicFrame>
        <p:nvGraphicFramePr>
          <p:cNvPr id="13" name="对象 12"/>
          <p:cNvGraphicFramePr>
            <a:graphicFrameLocks noChangeAspect="1"/>
          </p:cNvGraphicFramePr>
          <p:nvPr/>
        </p:nvGraphicFramePr>
        <p:xfrm>
          <a:off x="2100263" y="4265613"/>
          <a:ext cx="3205162" cy="681037"/>
        </p:xfrm>
        <a:graphic>
          <a:graphicData uri="http://schemas.openxmlformats.org/presentationml/2006/ole">
            <mc:AlternateContent xmlns:mc="http://schemas.openxmlformats.org/markup-compatibility/2006">
              <mc:Choice xmlns:v="urn:schemas-microsoft-com:vml" Requires="v">
                <p:oleObj spid="_x0000_s26729" name="Equation" r:id="rId10" imgW="48758475" imgH="10353675" progId="Equation.DSMT4">
                  <p:embed/>
                </p:oleObj>
              </mc:Choice>
              <mc:Fallback>
                <p:oleObj name="Equation" r:id="rId10" imgW="48758475" imgH="10353675" progId="Equation.DSMT4">
                  <p:embed/>
                  <p:pic>
                    <p:nvPicPr>
                      <p:cNvPr id="0" name="图片 26728"/>
                      <p:cNvPicPr/>
                      <p:nvPr/>
                    </p:nvPicPr>
                    <p:blipFill>
                      <a:blip r:embed="rId11"/>
                      <a:stretch>
                        <a:fillRect/>
                      </a:stretch>
                    </p:blipFill>
                    <p:spPr>
                      <a:xfrm>
                        <a:off x="2100263" y="4265613"/>
                        <a:ext cx="3205162" cy="681037"/>
                      </a:xfrm>
                      <a:prstGeom prst="rect">
                        <a:avLst/>
                      </a:prstGeom>
                    </p:spPr>
                  </p:pic>
                </p:oleObj>
              </mc:Fallback>
            </mc:AlternateContent>
          </a:graphicData>
        </a:graphic>
      </p:graphicFrame>
      <p:sp>
        <p:nvSpPr>
          <p:cNvPr id="14" name="文本框 13"/>
          <p:cNvSpPr txBox="1"/>
          <p:nvPr/>
        </p:nvSpPr>
        <p:spPr>
          <a:xfrm>
            <a:off x="1090477" y="5100994"/>
            <a:ext cx="2954655" cy="369332"/>
          </a:xfrm>
          <a:prstGeom prst="rect">
            <a:avLst/>
          </a:prstGeom>
          <a:noFill/>
        </p:spPr>
        <p:txBody>
          <a:bodyPr wrap="none" rtlCol="0">
            <a:spAutoFit/>
          </a:bodyPr>
          <a:lstStyle/>
          <a:p>
            <a:r>
              <a:rPr lang="zh-CN" altLang="en-US" dirty="0"/>
              <a:t>频率峰值即得到时延信息。</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9532070" y="6086669"/>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en-US" altLang="zh-CN" sz="3600" b="1" dirty="0">
                <a:solidFill>
                  <a:srgbClr val="CC3300"/>
                </a:solidFill>
                <a:latin typeface="黑体" panose="02010609060101010101" pitchFamily="49" charset="-122"/>
                <a:ea typeface="黑体" panose="02010609060101010101" pitchFamily="49" charset="-122"/>
              </a:rPr>
              <a:t>6.6 LFM</a:t>
            </a:r>
            <a:r>
              <a:rPr lang="zh-CN" altLang="en-US" sz="3600" b="1" dirty="0">
                <a:solidFill>
                  <a:srgbClr val="CC3300"/>
                </a:solidFill>
                <a:latin typeface="黑体" panose="02010609060101010101" pitchFamily="49" charset="-122"/>
                <a:ea typeface="黑体" panose="02010609060101010101" pitchFamily="49" charset="-122"/>
              </a:rPr>
              <a:t>脉冲声呐目标检测</a:t>
            </a:r>
            <a:endParaRPr lang="zh-CN" altLang="en-US" sz="3600" b="1" dirty="0">
              <a:solidFill>
                <a:srgbClr val="CC3300"/>
              </a:solidFill>
              <a:latin typeface="黑体" panose="02010609060101010101" pitchFamily="49" charset="-122"/>
              <a:ea typeface="黑体" panose="02010609060101010101" pitchFamily="49" charset="-122"/>
            </a:endParaRPr>
          </a:p>
        </p:txBody>
      </p:sp>
      <p:graphicFrame>
        <p:nvGraphicFramePr>
          <p:cNvPr id="2" name="对象 1"/>
          <p:cNvGraphicFramePr>
            <a:graphicFrameLocks noChangeAspect="1"/>
          </p:cNvGraphicFramePr>
          <p:nvPr/>
        </p:nvGraphicFramePr>
        <p:xfrm>
          <a:off x="383917" y="689188"/>
          <a:ext cx="4438580" cy="941517"/>
        </p:xfrm>
        <a:graphic>
          <a:graphicData uri="http://schemas.openxmlformats.org/presentationml/2006/ole">
            <mc:AlternateContent xmlns:mc="http://schemas.openxmlformats.org/markup-compatibility/2006">
              <mc:Choice xmlns:v="urn:schemas-microsoft-com:vml" Requires="v">
                <p:oleObj spid="_x0000_s27666" name="Equation" r:id="rId2" imgW="20107275" imgH="4257675" progId="Equation.DSMT4">
                  <p:embed/>
                </p:oleObj>
              </mc:Choice>
              <mc:Fallback>
                <p:oleObj name="Equation" r:id="rId2" imgW="20107275" imgH="4257675" progId="Equation.DSMT4">
                  <p:embed/>
                  <p:pic>
                    <p:nvPicPr>
                      <p:cNvPr id="0" name="图片 27665"/>
                      <p:cNvPicPr/>
                      <p:nvPr/>
                    </p:nvPicPr>
                    <p:blipFill>
                      <a:blip r:embed="rId3"/>
                      <a:stretch>
                        <a:fillRect/>
                      </a:stretch>
                    </p:blipFill>
                    <p:spPr>
                      <a:xfrm>
                        <a:off x="383917" y="689188"/>
                        <a:ext cx="4438580" cy="941517"/>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126832" y="1630705"/>
          <a:ext cx="4060825" cy="2798763"/>
        </p:xfrm>
        <a:graphic>
          <a:graphicData uri="http://schemas.openxmlformats.org/presentationml/2006/ole">
            <mc:AlternateContent xmlns:mc="http://schemas.openxmlformats.org/markup-compatibility/2006">
              <mc:Choice xmlns:v="urn:schemas-microsoft-com:vml" Requires="v">
                <p:oleObj spid="_x0000_s27667" name="Equation" r:id="rId4" imgW="13706475" imgH="9439275" progId="Equation.DSMT4">
                  <p:embed/>
                </p:oleObj>
              </mc:Choice>
              <mc:Fallback>
                <p:oleObj name="Equation" r:id="rId4" imgW="13706475" imgH="9439275" progId="Equation.DSMT4">
                  <p:embed/>
                  <p:pic>
                    <p:nvPicPr>
                      <p:cNvPr id="0" name="图片 27666"/>
                      <p:cNvPicPr/>
                      <p:nvPr/>
                    </p:nvPicPr>
                    <p:blipFill>
                      <a:blip r:embed="rId5"/>
                      <a:stretch>
                        <a:fillRect/>
                      </a:stretch>
                    </p:blipFill>
                    <p:spPr>
                      <a:xfrm>
                        <a:off x="126832" y="1630705"/>
                        <a:ext cx="4060825" cy="2798763"/>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439296" y="4532785"/>
          <a:ext cx="2851150" cy="595313"/>
        </p:xfrm>
        <a:graphic>
          <a:graphicData uri="http://schemas.openxmlformats.org/presentationml/2006/ole">
            <mc:AlternateContent xmlns:mc="http://schemas.openxmlformats.org/markup-compatibility/2006">
              <mc:Choice xmlns:v="urn:schemas-microsoft-com:vml" Requires="v">
                <p:oleObj spid="_x0000_s27668" name="Equation" r:id="rId6" imgW="20412075" imgH="4257675" progId="Equation.DSMT4">
                  <p:embed/>
                </p:oleObj>
              </mc:Choice>
              <mc:Fallback>
                <p:oleObj name="Equation" r:id="rId6" imgW="20412075" imgH="4257675" progId="Equation.DSMT4">
                  <p:embed/>
                  <p:pic>
                    <p:nvPicPr>
                      <p:cNvPr id="0" name="图片 27667"/>
                      <p:cNvPicPr/>
                      <p:nvPr/>
                    </p:nvPicPr>
                    <p:blipFill>
                      <a:blip r:embed="rId7"/>
                      <a:stretch>
                        <a:fillRect/>
                      </a:stretch>
                    </p:blipFill>
                    <p:spPr>
                      <a:xfrm>
                        <a:off x="439296" y="4532785"/>
                        <a:ext cx="2851150" cy="595313"/>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83917" y="5370985"/>
          <a:ext cx="2961907" cy="798262"/>
        </p:xfrm>
        <a:graphic>
          <a:graphicData uri="http://schemas.openxmlformats.org/presentationml/2006/ole">
            <mc:AlternateContent xmlns:mc="http://schemas.openxmlformats.org/markup-compatibility/2006">
              <mc:Choice xmlns:v="urn:schemas-microsoft-com:vml" Requires="v">
                <p:oleObj spid="_x0000_s27669" name="Equation" r:id="rId8" imgW="15840075" imgH="4257675" progId="Equation.DSMT4">
                  <p:embed/>
                </p:oleObj>
              </mc:Choice>
              <mc:Fallback>
                <p:oleObj name="Equation" r:id="rId8" imgW="15840075" imgH="4257675" progId="Equation.DSMT4">
                  <p:embed/>
                  <p:pic>
                    <p:nvPicPr>
                      <p:cNvPr id="0" name="图片 27668"/>
                      <p:cNvPicPr/>
                      <p:nvPr/>
                    </p:nvPicPr>
                    <p:blipFill>
                      <a:blip r:embed="rId9"/>
                      <a:stretch>
                        <a:fillRect/>
                      </a:stretch>
                    </p:blipFill>
                    <p:spPr>
                      <a:xfrm>
                        <a:off x="383917" y="5370985"/>
                        <a:ext cx="2961907" cy="798262"/>
                      </a:xfrm>
                      <a:prstGeom prst="rect">
                        <a:avLst/>
                      </a:prstGeom>
                    </p:spPr>
                  </p:pic>
                </p:oleObj>
              </mc:Fallback>
            </mc:AlternateContent>
          </a:graphicData>
        </a:graphic>
      </p:graphicFrame>
      <p:pic>
        <p:nvPicPr>
          <p:cNvPr id="9" name="图片 8"/>
          <p:cNvPicPr>
            <a:picLocks noChangeAspect="1"/>
          </p:cNvPicPr>
          <p:nvPr/>
        </p:nvPicPr>
        <p:blipFill>
          <a:blip r:embed="rId10"/>
          <a:stretch>
            <a:fillRect/>
          </a:stretch>
        </p:blipFill>
        <p:spPr>
          <a:xfrm>
            <a:off x="5725937" y="1159946"/>
            <a:ext cx="5916255" cy="4437191"/>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zh-CN" altLang="en-US" sz="3600" b="1" dirty="0">
                <a:solidFill>
                  <a:srgbClr val="CC3300"/>
                </a:solidFill>
                <a:latin typeface="黑体" panose="02010609060101010101" pitchFamily="49" charset="-122"/>
                <a:ea typeface="黑体" panose="02010609060101010101" pitchFamily="49" charset="-122"/>
              </a:rPr>
              <a:t>作业</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矩形 3"/>
          <p:cNvSpPr/>
          <p:nvPr/>
        </p:nvSpPr>
        <p:spPr>
          <a:xfrm>
            <a:off x="812540" y="1109345"/>
            <a:ext cx="10566918" cy="2813655"/>
          </a:xfrm>
          <a:prstGeom prst="rect">
            <a:avLst/>
          </a:prstGeom>
        </p:spPr>
        <p:txBody>
          <a:bodyPr wrap="square">
            <a:spAutoFit/>
          </a:bodyPr>
          <a:lstStyle/>
          <a:p>
            <a:pPr>
              <a:lnSpc>
                <a:spcPct val="130000"/>
              </a:lnSpc>
            </a:pPr>
            <a:r>
              <a:rPr lang="en-US" altLang="zh-CN" sz="2800" dirty="0">
                <a:latin typeface="Times New Roman" panose="02020603050405020304" pitchFamily="18" charset="0"/>
                <a:ea typeface="宋体" pitchFamily="2" charset="-122"/>
              </a:rPr>
              <a:t>1</a:t>
            </a:r>
            <a:r>
              <a:rPr lang="zh-CN" altLang="en-US" sz="2800" dirty="0">
                <a:latin typeface="Times New Roman" panose="02020603050405020304" pitchFamily="18" charset="0"/>
                <a:ea typeface="宋体" pitchFamily="2" charset="-122"/>
              </a:rPr>
              <a:t>、收发合置主动声纳发射声源级</a:t>
            </a:r>
            <a:r>
              <a:rPr lang="en-US" altLang="zh-CN" sz="2800" dirty="0">
                <a:latin typeface="Times New Roman" panose="02020603050405020304" pitchFamily="18" charset="0"/>
                <a:ea typeface="宋体" pitchFamily="2" charset="-122"/>
              </a:rPr>
              <a:t>190</a:t>
            </a:r>
            <a:r>
              <a:rPr lang="zh-CN" altLang="en-US" sz="2800" dirty="0">
                <a:latin typeface="Times New Roman" panose="02020603050405020304" pitchFamily="18" charset="0"/>
                <a:ea typeface="宋体" pitchFamily="2" charset="-122"/>
              </a:rPr>
              <a:t>分贝；球形目标半径</a:t>
            </a:r>
            <a:r>
              <a:rPr lang="en-US" altLang="zh-CN" sz="2800" dirty="0">
                <a:latin typeface="Times New Roman" panose="02020603050405020304" pitchFamily="18" charset="0"/>
                <a:ea typeface="宋体" pitchFamily="2" charset="-122"/>
              </a:rPr>
              <a:t>0.5</a:t>
            </a:r>
            <a:r>
              <a:rPr lang="zh-CN" altLang="en-US" sz="2800" dirty="0">
                <a:latin typeface="Times New Roman" panose="02020603050405020304" pitchFamily="18" charset="0"/>
                <a:ea typeface="宋体" pitchFamily="2" charset="-122"/>
              </a:rPr>
              <a:t>米，且离声呐距离</a:t>
            </a:r>
            <a:r>
              <a:rPr lang="en-US" altLang="zh-CN" sz="2800" dirty="0">
                <a:latin typeface="Times New Roman" panose="02020603050405020304" pitchFamily="18" charset="0"/>
                <a:ea typeface="宋体" pitchFamily="2" charset="-122"/>
              </a:rPr>
              <a:t>200</a:t>
            </a:r>
            <a:r>
              <a:rPr lang="zh-CN" altLang="en-US" sz="2800" dirty="0">
                <a:latin typeface="Times New Roman" panose="02020603050405020304" pitchFamily="18" charset="0"/>
                <a:ea typeface="宋体" pitchFamily="2" charset="-122"/>
              </a:rPr>
              <a:t>米，干扰噪声为各向同性，其均匀噪声谱级为</a:t>
            </a:r>
            <a:r>
              <a:rPr lang="en-US" altLang="zh-CN" sz="2800" dirty="0">
                <a:latin typeface="Times New Roman" panose="02020603050405020304" pitchFamily="18" charset="0"/>
                <a:ea typeface="宋体" pitchFamily="2" charset="-122"/>
              </a:rPr>
              <a:t>70</a:t>
            </a:r>
            <a:r>
              <a:rPr lang="zh-CN" altLang="en-US" sz="2800" dirty="0">
                <a:latin typeface="Times New Roman" panose="02020603050405020304" pitchFamily="18" charset="0"/>
                <a:ea typeface="宋体" pitchFamily="2" charset="-122"/>
              </a:rPr>
              <a:t>分贝，声纳工作带宽</a:t>
            </a:r>
            <a:r>
              <a:rPr lang="en-US" altLang="zh-CN" sz="2800" dirty="0">
                <a:latin typeface="Times New Roman" panose="02020603050405020304" pitchFamily="18" charset="0"/>
                <a:ea typeface="宋体" pitchFamily="2" charset="-122"/>
              </a:rPr>
              <a:t>200Hz</a:t>
            </a:r>
            <a:r>
              <a:rPr lang="zh-CN" altLang="en-US" sz="2800" dirty="0">
                <a:latin typeface="Times New Roman" panose="02020603050405020304" pitchFamily="18" charset="0"/>
                <a:ea typeface="宋体" pitchFamily="2" charset="-122"/>
              </a:rPr>
              <a:t>，接收器等效束宽为</a:t>
            </a:r>
            <a:r>
              <a:rPr lang="en-US" altLang="zh-CN" sz="2800" dirty="0">
                <a:latin typeface="Times New Roman" panose="02020603050405020304" pitchFamily="18" charset="0"/>
                <a:ea typeface="宋体" pitchFamily="2" charset="-122"/>
              </a:rPr>
              <a:t>0.1</a:t>
            </a:r>
            <a:r>
              <a:rPr lang="zh-CN" altLang="en-US" sz="2800" dirty="0">
                <a:latin typeface="Times New Roman" panose="02020603050405020304" pitchFamily="18" charset="0"/>
                <a:ea typeface="宋体" pitchFamily="2" charset="-122"/>
              </a:rPr>
              <a:t>弧度（各向同性束宽为</a:t>
            </a:r>
            <a:r>
              <a:rPr lang="en-US" altLang="zh-CN" sz="2800" dirty="0">
                <a:latin typeface="Times New Roman" panose="02020603050405020304" pitchFamily="18" charset="0"/>
                <a:ea typeface="宋体" pitchFamily="2" charset="-122"/>
              </a:rPr>
              <a:t>4pi</a:t>
            </a:r>
            <a:r>
              <a:rPr lang="zh-CN" altLang="en-US" sz="2800" dirty="0">
                <a:latin typeface="Times New Roman" panose="02020603050405020304" pitchFamily="18" charset="0"/>
                <a:ea typeface="宋体" pitchFamily="2" charset="-122"/>
              </a:rPr>
              <a:t>弧度），求接收信号的信噪比。并讨论：为提高接收信号的信噪比应如何改变声纳系统的参数？</a:t>
            </a:r>
            <a:endParaRPr lang="zh-CN" altLang="en-US" sz="2800" dirty="0">
              <a:latin typeface="Times New Roman" panose="02020603050405020304" pitchFamily="18" charset="0"/>
              <a:ea typeface="宋体"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9001760" y="6164363"/>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p:cNvSpPr>
            <a:spLocks noChangeArrowheads="1"/>
          </p:cNvSpPr>
          <p:nvPr/>
        </p:nvSpPr>
        <p:spPr bwMode="auto">
          <a:xfrm>
            <a:off x="876935" y="1173956"/>
            <a:ext cx="9923145" cy="4925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20000"/>
              </a:lnSpc>
              <a:spcBef>
                <a:spcPct val="0"/>
              </a:spcBef>
              <a:buFontTx/>
              <a:buNone/>
            </a:pPr>
            <a:r>
              <a:rPr lang="en-US" altLang="zh-CN" sz="2400" dirty="0"/>
              <a:t>2</a:t>
            </a:r>
            <a:r>
              <a:rPr lang="zh-CN" altLang="en-US" sz="2400" dirty="0"/>
              <a:t>、已知：甲船，其辐射噪声谱密度级如右图；乙船用被动声呐探测甲船，该声呐系统工作通带为：</a:t>
            </a:r>
            <a:r>
              <a:rPr lang="en-US" altLang="zh-CN" sz="2400" dirty="0"/>
              <a:t>500Hz~2000Hz</a:t>
            </a:r>
            <a:r>
              <a:rPr lang="zh-CN" altLang="en-US" sz="2400" dirty="0"/>
              <a:t>；全指向性接收器；能量检测工作方式，当信噪比大于</a:t>
            </a:r>
            <a:r>
              <a:rPr lang="en-US" altLang="zh-CN" sz="2400" dirty="0"/>
              <a:t>6dB</a:t>
            </a:r>
            <a:r>
              <a:rPr lang="zh-CN" altLang="en-US" sz="2400" dirty="0"/>
              <a:t>时，认为检测到目标；若来自海洋环境噪声和乙船自噪声的总干扰噪声各向同性并且为均匀谱密度分布，在接收器处其噪声谱密度级为</a:t>
            </a:r>
            <a:r>
              <a:rPr lang="en-US" altLang="zh-CN" sz="2400" dirty="0"/>
              <a:t>70dB</a:t>
            </a:r>
            <a:r>
              <a:rPr lang="zh-CN" altLang="en-US" sz="2400" dirty="0"/>
              <a:t>（</a:t>
            </a:r>
            <a:r>
              <a:rPr lang="en-US" altLang="zh-CN" sz="2400" dirty="0"/>
              <a:t>0dB=                     </a:t>
            </a:r>
            <a:r>
              <a:rPr lang="zh-CN" altLang="en-US" sz="2400" dirty="0"/>
              <a:t>）；试求：</a:t>
            </a:r>
            <a:endParaRPr lang="zh-CN" altLang="en-US" sz="2400" dirty="0"/>
          </a:p>
          <a:p>
            <a:pPr eaLnBrk="1" hangingPunct="1">
              <a:lnSpc>
                <a:spcPct val="120000"/>
              </a:lnSpc>
              <a:spcBef>
                <a:spcPct val="0"/>
              </a:spcBef>
              <a:buFontTx/>
              <a:buNone/>
            </a:pPr>
            <a:r>
              <a:rPr lang="zh-CN" altLang="en-US" sz="2400" dirty="0"/>
              <a:t>（</a:t>
            </a:r>
            <a:r>
              <a:rPr lang="en-US" altLang="zh-CN" sz="2400" dirty="0"/>
              <a:t>1</a:t>
            </a:r>
            <a:r>
              <a:rPr lang="zh-CN" altLang="en-US" sz="2400" dirty="0"/>
              <a:t>）乙船接收到甲船噪声信号级；</a:t>
            </a:r>
            <a:endParaRPr lang="zh-CN" altLang="en-US" sz="2400" dirty="0"/>
          </a:p>
          <a:p>
            <a:pPr eaLnBrk="1" hangingPunct="1">
              <a:lnSpc>
                <a:spcPct val="120000"/>
              </a:lnSpc>
              <a:spcBef>
                <a:spcPct val="0"/>
              </a:spcBef>
              <a:buFontTx/>
              <a:buNone/>
            </a:pPr>
            <a:r>
              <a:rPr lang="zh-CN" altLang="en-US" sz="2400" dirty="0"/>
              <a:t>（</a:t>
            </a:r>
            <a:r>
              <a:rPr lang="en-US" altLang="zh-CN" sz="2400" dirty="0"/>
              <a:t>2</a:t>
            </a:r>
            <a:r>
              <a:rPr lang="zh-CN" altLang="en-US" sz="2400" dirty="0"/>
              <a:t>）乙船接收的干扰噪声级；</a:t>
            </a:r>
            <a:endParaRPr lang="zh-CN" altLang="en-US" sz="2400" dirty="0"/>
          </a:p>
          <a:p>
            <a:pPr eaLnBrk="1" hangingPunct="1">
              <a:lnSpc>
                <a:spcPct val="120000"/>
              </a:lnSpc>
              <a:spcBef>
                <a:spcPct val="0"/>
              </a:spcBef>
              <a:buFontTx/>
              <a:buNone/>
            </a:pPr>
            <a:r>
              <a:rPr lang="zh-CN" altLang="en-US" sz="2400" dirty="0"/>
              <a:t>（</a:t>
            </a:r>
            <a:r>
              <a:rPr lang="en-US" altLang="zh-CN" sz="2400" dirty="0"/>
              <a:t>3</a:t>
            </a:r>
            <a:r>
              <a:rPr lang="zh-CN" altLang="en-US" sz="2400" dirty="0"/>
              <a:t>）乙船探测到甲船的最远距离</a:t>
            </a:r>
            <a:endParaRPr lang="zh-CN" altLang="en-US" sz="2400" dirty="0"/>
          </a:p>
          <a:p>
            <a:pPr eaLnBrk="1" hangingPunct="1">
              <a:lnSpc>
                <a:spcPct val="120000"/>
              </a:lnSpc>
              <a:spcBef>
                <a:spcPct val="0"/>
              </a:spcBef>
              <a:buFontTx/>
              <a:buNone/>
            </a:pPr>
            <a:r>
              <a:rPr lang="zh-CN" altLang="en-US" sz="2400" dirty="0"/>
              <a:t>（取声波球面扩展；不计海水声吸收）</a:t>
            </a:r>
            <a:endParaRPr lang="zh-CN" altLang="en-US" sz="2400" dirty="0"/>
          </a:p>
          <a:p>
            <a:pPr eaLnBrk="1" hangingPunct="1">
              <a:lnSpc>
                <a:spcPct val="120000"/>
              </a:lnSpc>
              <a:spcBef>
                <a:spcPct val="0"/>
              </a:spcBef>
              <a:buFontTx/>
              <a:buNone/>
            </a:pPr>
            <a:r>
              <a:rPr lang="zh-CN" altLang="en-US" sz="2400" dirty="0"/>
              <a:t>（</a:t>
            </a:r>
            <a:r>
              <a:rPr lang="en-US" altLang="zh-CN" sz="2400" dirty="0"/>
              <a:t>4</a:t>
            </a:r>
            <a:r>
              <a:rPr lang="zh-CN" altLang="en-US" sz="2400" dirty="0"/>
              <a:t>）为增大探测到甲船的距离，乙船</a:t>
            </a:r>
            <a:endParaRPr lang="zh-CN" altLang="en-US" sz="2400" dirty="0"/>
          </a:p>
          <a:p>
            <a:pPr eaLnBrk="1" hangingPunct="1">
              <a:lnSpc>
                <a:spcPct val="120000"/>
              </a:lnSpc>
              <a:spcBef>
                <a:spcPct val="0"/>
              </a:spcBef>
              <a:buFontTx/>
              <a:buNone/>
            </a:pPr>
            <a:r>
              <a:rPr lang="zh-CN" altLang="en-US" sz="2400" dirty="0"/>
              <a:t>          的被动声呐应如何改进设备参数。 </a:t>
            </a:r>
            <a:endParaRPr lang="zh-CN" altLang="en-US" sz="2400" dirty="0"/>
          </a:p>
        </p:txBody>
      </p:sp>
      <p:pic>
        <p:nvPicPr>
          <p:cNvPr id="4" name="图片 3"/>
          <p:cNvPicPr>
            <a:picLocks noChangeAspect="1"/>
          </p:cNvPicPr>
          <p:nvPr/>
        </p:nvPicPr>
        <p:blipFill>
          <a:blip r:embed="rId2"/>
          <a:stretch>
            <a:fillRect/>
          </a:stretch>
        </p:blipFill>
        <p:spPr>
          <a:xfrm>
            <a:off x="6181684" y="3630708"/>
            <a:ext cx="4537116" cy="2468379"/>
          </a:xfrm>
          <a:prstGeom prst="rect">
            <a:avLst/>
          </a:prstGeom>
        </p:spPr>
      </p:pic>
      <p:graphicFrame>
        <p:nvGraphicFramePr>
          <p:cNvPr id="2" name="对象 1"/>
          <p:cNvGraphicFramePr>
            <a:graphicFrameLocks noChangeAspect="1"/>
          </p:cNvGraphicFramePr>
          <p:nvPr/>
        </p:nvGraphicFramePr>
        <p:xfrm>
          <a:off x="5151120" y="2981588"/>
          <a:ext cx="1561064" cy="491407"/>
        </p:xfrm>
        <a:graphic>
          <a:graphicData uri="http://schemas.openxmlformats.org/presentationml/2006/ole">
            <mc:AlternateContent xmlns:mc="http://schemas.openxmlformats.org/markup-compatibility/2006">
              <mc:Choice xmlns:v="urn:schemas-microsoft-com:vml" Requires="v">
                <p:oleObj spid="_x0000_s20537" name="Equation" r:id="rId3" imgW="1170305" imgH="367030" progId="Equation.DSMT4">
                  <p:embed/>
                </p:oleObj>
              </mc:Choice>
              <mc:Fallback>
                <p:oleObj name="Equation" r:id="rId3" imgW="1170305" imgH="367030" progId="Equation.DSMT4">
                  <p:embed/>
                  <p:pic>
                    <p:nvPicPr>
                      <p:cNvPr id="0" name="图片 20536"/>
                      <p:cNvPicPr/>
                      <p:nvPr/>
                    </p:nvPicPr>
                    <p:blipFill>
                      <a:blip r:embed="rId4"/>
                      <a:stretch>
                        <a:fillRect/>
                      </a:stretch>
                    </p:blipFill>
                    <p:spPr>
                      <a:xfrm>
                        <a:off x="5151120" y="2981588"/>
                        <a:ext cx="1561064" cy="491407"/>
                      </a:xfrm>
                      <a:prstGeom prst="rect">
                        <a:avLst/>
                      </a:prstGeom>
                    </p:spPr>
                  </p:pic>
                </p:oleObj>
              </mc:Fallback>
            </mc:AlternateContent>
          </a:graphicData>
        </a:graphic>
      </p:graphicFrame>
      <p:sp>
        <p:nvSpPr>
          <p:cNvPr id="6"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zh-CN" altLang="en-US" sz="3600" b="1" dirty="0">
                <a:solidFill>
                  <a:srgbClr val="CC3300"/>
                </a:solidFill>
                <a:latin typeface="黑体" panose="02010609060101010101" pitchFamily="49" charset="-122"/>
                <a:ea typeface="黑体" panose="02010609060101010101" pitchFamily="49" charset="-122"/>
              </a:rPr>
              <a:t>作业</a:t>
            </a:r>
            <a:endParaRPr lang="zh-CN" altLang="en-US" sz="3600" b="1" dirty="0">
              <a:solidFill>
                <a:srgbClr val="CC3300"/>
              </a:solidFill>
              <a:latin typeface="黑体" panose="02010609060101010101" pitchFamily="49" charset="-122"/>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53"/>
          <p:cNvPicPr>
            <a:picLocks noChangeAspect="1" noChangeArrowheads="1"/>
          </p:cNvPicPr>
          <p:nvPr/>
        </p:nvPicPr>
        <p:blipFill>
          <a:blip r:embed="rId1">
            <a:duotone>
              <a:prstClr val="black"/>
              <a:schemeClr val="accent6">
                <a:lumMod val="75000"/>
                <a:tint val="45000"/>
                <a:satMod val="400000"/>
              </a:schemeClr>
            </a:duotone>
            <a:lum bright="-40000" contrast="-20000"/>
            <a:extLst>
              <a:ext uri="{28A0092B-C50C-407E-A947-70E740481C1C}">
                <a14:useLocalDpi xmlns:a14="http://schemas.microsoft.com/office/drawing/2010/main" val="0"/>
              </a:ext>
            </a:extLst>
          </a:blip>
          <a:srcRect/>
          <a:stretch>
            <a:fillRect/>
          </a:stretch>
        </p:blipFill>
        <p:spPr bwMode="auto">
          <a:xfrm>
            <a:off x="8382000" y="6067816"/>
            <a:ext cx="1990994" cy="5526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Box 6"/>
          <p:cNvSpPr txBox="1">
            <a:spLocks noChangeArrowheads="1"/>
          </p:cNvSpPr>
          <p:nvPr/>
        </p:nvSpPr>
        <p:spPr bwMode="auto">
          <a:xfrm>
            <a:off x="2855912" y="237504"/>
            <a:ext cx="6480175" cy="646331"/>
          </a:xfrm>
          <a:prstGeom prst="rect">
            <a:avLst/>
          </a:prstGeom>
          <a:noFill/>
          <a:ln>
            <a:noFill/>
          </a:ln>
          <a:effectLst/>
          <a:extLst>
            <a:ext uri="{909E8E84-426E-40DD-AFC4-6F175D3DCCD1}">
              <a14:hiddenFill xmlns:a14="http://schemas.microsoft.com/office/drawing/2010/main">
                <a:solidFill>
                  <a:srgbClr val="FFCC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ea typeface="宋体" pitchFamily="2" charset="-122"/>
              </a:defRPr>
            </a:lvl1pPr>
            <a:lvl2pPr marL="742950" indent="-285750">
              <a:spcBef>
                <a:spcPct val="20000"/>
              </a:spcBef>
              <a:buChar char="–"/>
              <a:defRPr sz="2800">
                <a:solidFill>
                  <a:schemeClr val="tx1"/>
                </a:solidFill>
                <a:latin typeface="Times New Roman" panose="02020603050405020304" pitchFamily="18" charset="0"/>
                <a:ea typeface="宋体" pitchFamily="2" charset="-122"/>
              </a:defRPr>
            </a:lvl2pPr>
            <a:lvl3pPr marL="1143000" indent="-228600">
              <a:spcBef>
                <a:spcPct val="20000"/>
              </a:spcBef>
              <a:buChar char="•"/>
              <a:defRPr sz="2400">
                <a:solidFill>
                  <a:schemeClr val="tx1"/>
                </a:solidFill>
                <a:latin typeface="Times New Roman" panose="02020603050405020304" pitchFamily="18" charset="0"/>
                <a:ea typeface="宋体" pitchFamily="2" charset="-122"/>
              </a:defRPr>
            </a:lvl3pPr>
            <a:lvl4pPr marL="1600200" indent="-228600">
              <a:spcBef>
                <a:spcPct val="20000"/>
              </a:spcBef>
              <a:buChar char="–"/>
              <a:defRPr sz="2000">
                <a:solidFill>
                  <a:schemeClr val="tx1"/>
                </a:solidFill>
                <a:latin typeface="Times New Roman" panose="02020603050405020304" pitchFamily="18" charset="0"/>
                <a:ea typeface="宋体" pitchFamily="2" charset="-122"/>
              </a:defRPr>
            </a:lvl4pPr>
            <a:lvl5pPr marL="2057400" indent="-22860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algn="ctr" defTabSz="914400" fontAlgn="base">
              <a:spcBef>
                <a:spcPct val="50000"/>
              </a:spcBef>
              <a:spcAft>
                <a:spcPct val="0"/>
              </a:spcAft>
              <a:buFontTx/>
              <a:buNone/>
            </a:pPr>
            <a:r>
              <a:rPr lang="zh-CN" altLang="en-US" sz="3600" b="1" dirty="0">
                <a:solidFill>
                  <a:srgbClr val="CC3300"/>
                </a:solidFill>
                <a:latin typeface="黑体" panose="02010609060101010101" pitchFamily="49" charset="-122"/>
                <a:ea typeface="黑体" panose="02010609060101010101" pitchFamily="49" charset="-122"/>
              </a:rPr>
              <a:t>作业</a:t>
            </a:r>
            <a:endParaRPr lang="zh-CN" altLang="en-US" sz="3600" b="1" dirty="0">
              <a:solidFill>
                <a:srgbClr val="CC3300"/>
              </a:solidFill>
              <a:latin typeface="黑体" panose="02010609060101010101" pitchFamily="49" charset="-122"/>
              <a:ea typeface="黑体" panose="02010609060101010101" pitchFamily="49" charset="-122"/>
            </a:endParaRPr>
          </a:p>
        </p:txBody>
      </p:sp>
      <p:sp>
        <p:nvSpPr>
          <p:cNvPr id="4" name="Rectangle 3"/>
          <p:cNvSpPr>
            <a:spLocks noChangeArrowheads="1"/>
          </p:cNvSpPr>
          <p:nvPr/>
        </p:nvSpPr>
        <p:spPr bwMode="auto">
          <a:xfrm>
            <a:off x="1206322" y="1345030"/>
            <a:ext cx="8569325" cy="232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eaLnBrk="0" hangingPunct="0">
              <a:spcBef>
                <a:spcPct val="20000"/>
              </a:spcBef>
              <a:buChar char="•"/>
              <a:defRPr sz="3200">
                <a:solidFill>
                  <a:schemeClr val="tx1"/>
                </a:solidFill>
                <a:latin typeface="Times New Roman" panose="02020603050405020304" pitchFamily="18" charset="0"/>
                <a:ea typeface="宋体" pitchFamily="2" charset="-122"/>
              </a:defRPr>
            </a:lvl1pPr>
            <a:lvl2pPr marL="742950" indent="-285750" algn="l" eaLnBrk="0" hangingPunct="0">
              <a:spcBef>
                <a:spcPct val="20000"/>
              </a:spcBef>
              <a:buChar char="–"/>
              <a:defRPr sz="2800">
                <a:solidFill>
                  <a:schemeClr val="tx1"/>
                </a:solidFill>
                <a:latin typeface="Times New Roman" panose="02020603050405020304" pitchFamily="18" charset="0"/>
                <a:ea typeface="宋体" pitchFamily="2" charset="-122"/>
              </a:defRPr>
            </a:lvl2pPr>
            <a:lvl3pPr marL="1143000" indent="-228600" algn="l" eaLnBrk="0" hangingPunct="0">
              <a:spcBef>
                <a:spcPct val="20000"/>
              </a:spcBef>
              <a:buChar char="•"/>
              <a:defRPr sz="2400">
                <a:solidFill>
                  <a:schemeClr val="tx1"/>
                </a:solidFill>
                <a:latin typeface="Times New Roman" panose="02020603050405020304" pitchFamily="18" charset="0"/>
                <a:ea typeface="宋体" pitchFamily="2" charset="-122"/>
              </a:defRPr>
            </a:lvl3pPr>
            <a:lvl4pPr marL="16002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4pPr>
            <a:lvl5pPr marL="2057400" indent="-228600" algn="l" eaLnBrk="0" hangingPunct="0">
              <a:spcBef>
                <a:spcPct val="20000"/>
              </a:spcBef>
              <a:buChar char="»"/>
              <a:defRPr sz="2000">
                <a:solidFill>
                  <a:schemeClr val="tx1"/>
                </a:solidFill>
                <a:latin typeface="Times New Roman" panose="02020603050405020304" pitchFamily="18"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宋体" pitchFamily="2" charset="-122"/>
              </a:defRPr>
            </a:lvl9pPr>
          </a:lstStyle>
          <a:p>
            <a:pPr eaLnBrk="1" hangingPunct="1">
              <a:lnSpc>
                <a:spcPct val="140000"/>
              </a:lnSpc>
              <a:spcBef>
                <a:spcPct val="25000"/>
              </a:spcBef>
              <a:buFontTx/>
              <a:buNone/>
            </a:pPr>
            <a:r>
              <a:rPr lang="en-US" altLang="zh-CN" dirty="0"/>
              <a:t>3</a:t>
            </a:r>
            <a:r>
              <a:rPr lang="zh-CN" altLang="en-US" dirty="0"/>
              <a:t>、自噪声与辐射噪声有何异同？</a:t>
            </a:r>
            <a:endParaRPr lang="en-US" altLang="zh-CN" dirty="0"/>
          </a:p>
          <a:p>
            <a:pPr eaLnBrk="1" hangingPunct="1">
              <a:lnSpc>
                <a:spcPct val="140000"/>
              </a:lnSpc>
              <a:spcBef>
                <a:spcPct val="25000"/>
              </a:spcBef>
              <a:buFontTx/>
              <a:buNone/>
            </a:pPr>
            <a:r>
              <a:rPr lang="en-US" altLang="zh-CN" dirty="0"/>
              <a:t>4</a:t>
            </a:r>
            <a:r>
              <a:rPr lang="zh-CN" altLang="en-US" dirty="0"/>
              <a:t>、给出辐射噪声声源级和谱级的定义。</a:t>
            </a:r>
            <a:endParaRPr lang="en-US" altLang="zh-CN" dirty="0"/>
          </a:p>
          <a:p>
            <a:pPr eaLnBrk="1" hangingPunct="1">
              <a:lnSpc>
                <a:spcPct val="140000"/>
              </a:lnSpc>
              <a:spcBef>
                <a:spcPct val="25000"/>
              </a:spcBef>
              <a:buFontTx/>
              <a:buNone/>
            </a:pPr>
            <a:r>
              <a:rPr lang="en-US" altLang="zh-CN" dirty="0"/>
              <a:t>5</a:t>
            </a:r>
            <a:r>
              <a:rPr lang="zh-CN" altLang="en-US" dirty="0"/>
              <a:t>、辐射噪声测量需要注意什么？</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5699</Words>
  <Application>WPS Office WWO_dingtalk_20251229114113-512ad6072f</Application>
  <PresentationFormat>宽屏</PresentationFormat>
  <Paragraphs>454</Paragraphs>
  <Slides>51</Slides>
  <Notes>0</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67</vt:i4>
      </vt:variant>
      <vt:variant>
        <vt:lpstr>幻灯片标题</vt:lpstr>
      </vt:variant>
      <vt:variant>
        <vt:i4>51</vt:i4>
      </vt:variant>
    </vt:vector>
  </HeadingPairs>
  <TitlesOfParts>
    <vt:vector size="132" baseType="lpstr">
      <vt:lpstr>Arial</vt:lpstr>
      <vt:lpstr>宋体</vt:lpstr>
      <vt:lpstr>Wingdings</vt:lpstr>
      <vt:lpstr>Kingsoft Confetti</vt:lpstr>
      <vt:lpstr>黑体</vt:lpstr>
      <vt:lpstr>汉仪旗黑KW 55S</vt:lpstr>
      <vt:lpstr>汉仪书宋二KW</vt:lpstr>
      <vt:lpstr>微软雅黑</vt:lpstr>
      <vt:lpstr>Times New Roman</vt:lpstr>
      <vt:lpstr>楷体</vt:lpstr>
      <vt:lpstr>等线</vt:lpstr>
      <vt:lpstr>汉仪中等线KW</vt:lpstr>
      <vt:lpstr>汉仪楷体KW</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Paint.Picture</vt:lpstr>
      <vt:lpstr>Equation.DSMT4</vt:lpstr>
      <vt:lpstr>Equation.DSMT4</vt:lpstr>
      <vt:lpstr>Equation.DSMT4</vt:lpstr>
      <vt:lpstr>Equation.DSMT4</vt:lpstr>
      <vt:lpstr>Equation.DSMT4</vt:lpstr>
      <vt:lpstr>Equation.DSMT4</vt:lpstr>
      <vt:lpstr>Equation.DSMT4</vt:lpstr>
      <vt:lpstr>Equation.3</vt:lpstr>
      <vt:lpstr>Equation.3</vt:lpstr>
      <vt:lpstr>Equation.DSMT4</vt:lpstr>
      <vt:lpstr>Equation.DSMT4</vt:lpstr>
      <vt:lpstr>Equation.DSMT4</vt:lpstr>
      <vt:lpstr>PBrush</vt:lpstr>
      <vt:lpstr>Equation.DSMT4</vt:lpstr>
      <vt:lpstr>PBrush</vt:lpstr>
      <vt:lpstr>Equation.DSMT4</vt:lpstr>
      <vt:lpstr>Equation.DSMT4</vt:lpstr>
      <vt:lpstr>Equation.DSMT4</vt:lpstr>
      <vt:lpstr>Equation.DSMT4</vt:lpstr>
      <vt:lpstr>Equation.DSMT4</vt:lpstr>
      <vt:lpstr>Equation.DSMT4</vt:lpstr>
      <vt:lpstr>Paint.Picture</vt:lpstr>
      <vt:lpstr>Paint.Picture</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张汉生</dc:creator>
  <cp:lastModifiedBy>Administrator</cp:lastModifiedBy>
  <dcterms:created xsi:type="dcterms:W3CDTF">2026-03-30T06:07:21Z</dcterms:created>
  <dcterms:modified xsi:type="dcterms:W3CDTF">2026-03-30T06:07:21Z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2052-11.8.2.10440</vt:lpwstr>
  </property>
</Properties>
</file>