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8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35971-02D6-4A8E-9AD7-2614128DA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2DA644-6D52-4718-8E6D-FCAD696A7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AFB3A4-15DC-4CAF-863B-B013E9D0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F8BA8B-3B1D-496D-B2B3-8BE1CE59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00C417-6CAD-4513-BCE2-13956541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62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FA18D-2282-49A2-90D2-3290A4A4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EE47B-2863-4697-82C1-44A61598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027858-3AA1-4282-A664-0EE5A4DF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AD25F-E769-4251-98F9-3E3BC129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285AC-7AFD-404D-B06B-D30A7659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31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596E8-D1A5-48C6-A1D4-1F6B8EED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A1C53-7F83-4A42-94BF-2BF4673EF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55BA2-C2D4-4CE5-998B-633B11CE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D59E6-7DF3-4F93-98D3-4E09A20F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F3CD7-BDB5-4C7B-B1A2-3E7C95C5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76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4B1E8-6018-48F5-B29E-980B1ACD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6985F-096F-47BE-AD2D-EA11367B1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8639CB-2936-47AB-9507-4DFA8E42E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3F0565-3CD1-42CB-A5D8-00A057D3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5D131-6B06-4803-B076-43F9545D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7AFAD3-2567-4C4D-BF69-42A9C142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64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F708D-C34B-4497-9FC7-06D423C15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AF6F28-1915-4631-AE0C-3574E8D01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2042FD-32C7-4D64-B27C-183DE156B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F5B39D-6163-4513-90E9-B0ED0BF25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7C06B0-4F41-4FDB-9839-F3EB0247E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A071C4-DC78-428F-9F83-26BE6485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4E16E8-3F46-48FF-8B15-F552126E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7D7A39-02D9-43C8-94A8-925A4521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81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F1333-17F1-41F3-8055-77D2C90A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7B7327-C6C4-4AE6-82C7-B7AFFBD7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B60B21-44C0-473F-932A-93E9F638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79B623-52C4-4D9E-94FC-32CDDD07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5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1F2E9F-57F5-4B15-9715-E2BAFCCE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75C925-BB61-4E78-802F-6C1E09BA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4F682-C1FD-4C4F-82EC-28348E15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84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0AA3C-BB23-4554-B090-B17EB837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3BF70-344C-4DE4-8E83-CC3E6852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BE6DC5-B28F-4B60-B2BD-2F7537B3F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2EE7CB-6B58-43E8-9531-4A07A7332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42F98B-F21D-4DB2-82BC-4C9AEB87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AC3B62-6FC0-4318-AA58-8E681F95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53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1F591-3412-4913-81C6-C2CB4CDC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F82151-B200-42CA-AF4A-D7E30D592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F75EE1-8A78-418C-881A-CC638B8A1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C3E03E-275A-4624-B898-4314A7B7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EECEF-A53D-4EA4-A102-FB5B1558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09331-B192-4863-A3B4-D2D1518B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97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E7E38-CF0A-40E6-891C-1FC553FE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A25C50-27E7-463A-BC46-C1E12C656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58DE4-1B26-4E8C-A3F3-BE7FE972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FE518-6AC5-4C3B-B606-80236C14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25BCB-3A52-47BE-ABC2-89F634BE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9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EABF21-2C91-47D6-B74B-0FA33C656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10A08B-9DC2-40DE-8212-853674606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849E5-46E8-40C1-A999-EFA3FA6C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0B97E-FF99-4FD6-A775-685A8043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6C19CF-1090-49CC-846F-FE886B2C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15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D0F2A1-F726-4593-8F6F-6BEB67EF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C2614F-9788-43A2-B4FA-2A4702540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4F766-CB50-4BD1-B5B4-EBE6D8BF2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815FA-8520-4BDB-8F27-B9729EC5EAB0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7B7C5-3B40-4BBD-9F13-7F8E3EB58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B3DD5-0EC3-4152-AB0F-7B9A64417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56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6341485"/>
            <a:ext cx="1529028" cy="4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B818CFE-5F7C-49C8-8658-A42752AF3EDE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2112964" y="2305050"/>
            <a:ext cx="7704137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accent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5400" dirty="0">
                <a:solidFill>
                  <a:srgbClr val="CC3300"/>
                </a:solidFill>
                <a:latin typeface="Amazone BT" pitchFamily="2" charset="0"/>
                <a:ea typeface="黑体" panose="02010609060101010101" pitchFamily="49" charset="-122"/>
                <a:sym typeface="Arial" panose="020B0604020202020204" pitchFamily="34" charset="0"/>
              </a:rPr>
              <a:t>课程简介 </a:t>
            </a:r>
            <a:endParaRPr lang="zh-CN" altLang="en-US" sz="4400" i="1" dirty="0">
              <a:solidFill>
                <a:srgbClr val="CC3300"/>
              </a:solidFill>
              <a:ea typeface="隶书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921D6E-82DE-4C93-8EF2-AA23402F1D09}"/>
              </a:ext>
            </a:extLst>
          </p:cNvPr>
          <p:cNvSpPr txBox="1"/>
          <p:nvPr/>
        </p:nvSpPr>
        <p:spPr>
          <a:xfrm>
            <a:off x="3479006" y="3687763"/>
            <a:ext cx="4972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朱江</a:t>
            </a:r>
            <a:endParaRPr lang="en-US" altLang="zh-CN" sz="2400" dirty="0"/>
          </a:p>
          <a:p>
            <a:pPr algn="ctr">
              <a:spcBef>
                <a:spcPct val="50000"/>
              </a:spcBef>
              <a:buNone/>
            </a:pPr>
            <a:r>
              <a:rPr lang="zh-CN" altLang="en-US" sz="2400" dirty="0"/>
              <a:t>邮箱：</a:t>
            </a:r>
            <a:r>
              <a:rPr lang="en-US" altLang="zh-CN" sz="2400" dirty="0"/>
              <a:t>jiangzhu16@zju.edu.cn</a:t>
            </a:r>
          </a:p>
        </p:txBody>
      </p:sp>
    </p:spTree>
    <p:extLst>
      <p:ext uri="{BB962C8B-B14F-4D97-AF65-F5344CB8AC3E}">
        <p14:creationId xmlns:p14="http://schemas.microsoft.com/office/powerpoint/2010/main" val="125506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6341485"/>
            <a:ext cx="1529028" cy="4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64D09859-A6DB-4273-AD15-8CAB1D15B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026" y="1150988"/>
            <a:ext cx="1106402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2400" dirty="0"/>
              <a:t>—</a:t>
            </a:r>
            <a:r>
              <a:rPr lang="zh-CN" altLang="en-US" sz="2400" dirty="0"/>
              <a:t>朱江 副教授（水声通信定位创新团队），研究方向：水声信号处理、舰载雷达信号处理、机器学习；负责讲授声呐方程、波动方程、目标强度、噪声四部分内容</a:t>
            </a:r>
            <a:endParaRPr lang="en-US" altLang="zh-CN" sz="2400" dirty="0"/>
          </a:p>
          <a:p>
            <a:pPr algn="ctr">
              <a:spcBef>
                <a:spcPct val="50000"/>
              </a:spcBef>
              <a:buNone/>
            </a:pPr>
            <a:r>
              <a:rPr lang="zh-CN" altLang="en-US" sz="2400" dirty="0"/>
              <a:t>邮箱</a:t>
            </a:r>
            <a:r>
              <a:rPr lang="en-US" altLang="zh-CN" sz="2400" dirty="0"/>
              <a:t>:jiangzhu16@zju.edu.cn</a:t>
            </a:r>
          </a:p>
          <a:p>
            <a:pPr algn="ctr">
              <a:spcBef>
                <a:spcPct val="50000"/>
              </a:spcBef>
              <a:buNone/>
            </a:pPr>
            <a:r>
              <a:rPr lang="zh-CN" altLang="en-US" sz="2400" dirty="0"/>
              <a:t>电话：</a:t>
            </a:r>
            <a:r>
              <a:rPr lang="en-US" altLang="zh-CN" sz="2400" dirty="0"/>
              <a:t>18810308617</a:t>
            </a:r>
          </a:p>
          <a:p>
            <a:pPr>
              <a:spcBef>
                <a:spcPct val="50000"/>
              </a:spcBef>
              <a:buNone/>
            </a:pPr>
            <a:endParaRPr lang="en-US" altLang="zh-CN" sz="2400" dirty="0"/>
          </a:p>
          <a:p>
            <a:pPr>
              <a:spcBef>
                <a:spcPct val="50000"/>
              </a:spcBef>
              <a:buNone/>
            </a:pPr>
            <a:r>
              <a:rPr lang="en-US" altLang="zh-CN" sz="2400" dirty="0"/>
              <a:t>—</a:t>
            </a:r>
            <a:r>
              <a:rPr lang="zh-CN" altLang="en-US" sz="2400" dirty="0"/>
              <a:t>王德麟 研究员，研究方向：海洋广域遥感、相控阵声呐技术；负责讲授海洋环境、声线理论、混响三部分内容</a:t>
            </a:r>
          </a:p>
          <a:p>
            <a:pPr algn="ctr">
              <a:spcBef>
                <a:spcPct val="50000"/>
              </a:spcBef>
              <a:buNone/>
            </a:pPr>
            <a:r>
              <a:rPr lang="zh-CN" altLang="en-US" sz="2400" dirty="0"/>
              <a:t>邮箱</a:t>
            </a:r>
            <a:r>
              <a:rPr lang="en-US" altLang="zh-CN" sz="2400" dirty="0"/>
              <a:t>:delinwang@zju.edu.cn</a:t>
            </a:r>
          </a:p>
          <a:p>
            <a:pPr algn="ctr">
              <a:spcBef>
                <a:spcPct val="50000"/>
              </a:spcBef>
              <a:buNone/>
            </a:pPr>
            <a:r>
              <a:rPr lang="zh-CN" altLang="en-US" sz="2400" dirty="0"/>
              <a:t>电话：</a:t>
            </a:r>
            <a:r>
              <a:rPr lang="en-US" altLang="zh-CN" sz="2400" dirty="0"/>
              <a:t>17321233860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EB658EC-D03C-4500-A2BE-F173FFE21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7" y="227014"/>
            <a:ext cx="69571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教师介绍</a:t>
            </a:r>
            <a:endParaRPr lang="zh-CN" altLang="en-US" sz="36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255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6341485"/>
            <a:ext cx="1529028" cy="4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46F4952A-311C-4629-93B3-05A0E12D0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6" y="227014"/>
            <a:ext cx="50323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课程内容介绍</a:t>
            </a:r>
            <a:endParaRPr lang="zh-CN" altLang="en-US" sz="36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271F92E-D13A-4F53-B61D-CE1AA7C57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23454"/>
              </p:ext>
            </p:extLst>
          </p:nvPr>
        </p:nvGraphicFramePr>
        <p:xfrm>
          <a:off x="665227" y="1056470"/>
          <a:ext cx="10861546" cy="5189186"/>
        </p:xfrm>
        <a:graphic>
          <a:graphicData uri="http://schemas.openxmlformats.org/drawingml/2006/table">
            <a:tbl>
              <a:tblPr firstRow="1" firstCol="1" bandRow="1"/>
              <a:tblGrid>
                <a:gridCol w="1030319">
                  <a:extLst>
                    <a:ext uri="{9D8B030D-6E8A-4147-A177-3AD203B41FA5}">
                      <a16:colId xmlns:a16="http://schemas.microsoft.com/office/drawing/2014/main" val="3585196051"/>
                    </a:ext>
                  </a:extLst>
                </a:gridCol>
                <a:gridCol w="3270428">
                  <a:extLst>
                    <a:ext uri="{9D8B030D-6E8A-4147-A177-3AD203B41FA5}">
                      <a16:colId xmlns:a16="http://schemas.microsoft.com/office/drawing/2014/main" val="371366629"/>
                    </a:ext>
                  </a:extLst>
                </a:gridCol>
                <a:gridCol w="2492705">
                  <a:extLst>
                    <a:ext uri="{9D8B030D-6E8A-4147-A177-3AD203B41FA5}">
                      <a16:colId xmlns:a16="http://schemas.microsoft.com/office/drawing/2014/main" val="1260985852"/>
                    </a:ext>
                  </a:extLst>
                </a:gridCol>
                <a:gridCol w="2399645">
                  <a:extLst>
                    <a:ext uri="{9D8B030D-6E8A-4147-A177-3AD203B41FA5}">
                      <a16:colId xmlns:a16="http://schemas.microsoft.com/office/drawing/2014/main" val="1489638188"/>
                    </a:ext>
                  </a:extLst>
                </a:gridCol>
                <a:gridCol w="1668449">
                  <a:extLst>
                    <a:ext uri="{9D8B030D-6E8A-4147-A177-3AD203B41FA5}">
                      <a16:colId xmlns:a16="http://schemas.microsoft.com/office/drawing/2014/main" val="1771164422"/>
                    </a:ext>
                  </a:extLst>
                </a:gridCol>
              </a:tblGrid>
              <a:tr h="2122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周次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主题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具体内容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实验名称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实验内容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512633"/>
                  </a:ext>
                </a:extLst>
              </a:tr>
              <a:tr h="10610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理论：水声学基础的核心概念（讲授）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实验：熟悉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分析声呐方程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课程整体介绍、声呐历史、声呐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方程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、功率、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声强等概念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及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数值实验验证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声呐方程实验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熟悉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分析声呐方程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435576"/>
                  </a:ext>
                </a:extLst>
              </a:tr>
              <a:tr h="8793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理论：海水的声学特性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实验：利用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计算声波反射和传输系数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声波在介质层上的反射、声波在流一固界面上的反射及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数值实验验证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反射系数实验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实验计算给定两个介质的反射系数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1481"/>
                  </a:ext>
                </a:extLst>
              </a:tr>
              <a:tr h="10610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理论：波动方程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及其与信号与系统的关系</a:t>
                      </a:r>
                      <a:endParaRPr lang="en-US" alt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实验：利用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声场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理解描述声波传播的方程，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能够求解特殊条件下的波动方程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，并通过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数值实验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进行验证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Lyod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-Mirror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传输损耗</a:t>
                      </a:r>
                      <a:endParaRPr lang="en-US" alt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波动方程求解</a:t>
                      </a:r>
                      <a:endParaRPr lang="zh-CN" alt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MATLAB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实验计算</a:t>
                      </a:r>
                      <a:r>
                        <a:rPr lang="en-US" sz="12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Lyod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-Mirror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传输损耗</a:t>
                      </a:r>
                      <a:endParaRPr lang="en-US" altLang="zh-CN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MATLAB</a:t>
                      </a:r>
                      <a:r>
                        <a:rPr lang="zh-CN" altLang="zh-CN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实验计算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简单</a:t>
                      </a:r>
                      <a:r>
                        <a:rPr lang="zh-CN" altLang="zh-CN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波导下的声场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430152"/>
                  </a:ext>
                </a:extLst>
              </a:tr>
              <a:tr h="10610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（调整到第</a:t>
                      </a:r>
                      <a:r>
                        <a:rPr lang="en-US" alt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周）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理论：射线求解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实验：利用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计算多层介质环境下的声场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射线方程的导出与求解，根据射线方法，利用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模拟声场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射线方法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实验利用射线方法得到声场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251162"/>
                  </a:ext>
                </a:extLst>
              </a:tr>
              <a:tr h="8793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（调整到第</a:t>
                      </a:r>
                      <a:r>
                        <a:rPr lang="en-US" alt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周）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理论：声波在目标的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射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实验：推导简单散射体的散射解，通过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数值计算散射场解析解，并对比教师给出的数值解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理解声波反射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和常用的目标强度测量方法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，并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利用</a:t>
                      </a:r>
                      <a:r>
                        <a:rPr lang="en-US" alt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典型散射体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散射场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散射实验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推导简单散射体的散射解，通过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数值计算散射场解析解，并对比教师给出的数值解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589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91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6341485"/>
            <a:ext cx="1529028" cy="4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46F4952A-311C-4629-93B3-05A0E12D0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6" y="227014"/>
            <a:ext cx="50323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课程内容介绍</a:t>
            </a:r>
            <a:endParaRPr lang="zh-CN" altLang="en-US" sz="36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271F92E-D13A-4F53-B61D-CE1AA7C57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16263"/>
              </p:ext>
            </p:extLst>
          </p:nvPr>
        </p:nvGraphicFramePr>
        <p:xfrm>
          <a:off x="665227" y="1056470"/>
          <a:ext cx="10861546" cy="4188260"/>
        </p:xfrm>
        <a:graphic>
          <a:graphicData uri="http://schemas.openxmlformats.org/drawingml/2006/table">
            <a:tbl>
              <a:tblPr firstRow="1" firstCol="1" bandRow="1"/>
              <a:tblGrid>
                <a:gridCol w="1030319">
                  <a:extLst>
                    <a:ext uri="{9D8B030D-6E8A-4147-A177-3AD203B41FA5}">
                      <a16:colId xmlns:a16="http://schemas.microsoft.com/office/drawing/2014/main" val="3585196051"/>
                    </a:ext>
                  </a:extLst>
                </a:gridCol>
                <a:gridCol w="3270428">
                  <a:extLst>
                    <a:ext uri="{9D8B030D-6E8A-4147-A177-3AD203B41FA5}">
                      <a16:colId xmlns:a16="http://schemas.microsoft.com/office/drawing/2014/main" val="371366629"/>
                    </a:ext>
                  </a:extLst>
                </a:gridCol>
                <a:gridCol w="2492705">
                  <a:extLst>
                    <a:ext uri="{9D8B030D-6E8A-4147-A177-3AD203B41FA5}">
                      <a16:colId xmlns:a16="http://schemas.microsoft.com/office/drawing/2014/main" val="1260985852"/>
                    </a:ext>
                  </a:extLst>
                </a:gridCol>
                <a:gridCol w="2399645">
                  <a:extLst>
                    <a:ext uri="{9D8B030D-6E8A-4147-A177-3AD203B41FA5}">
                      <a16:colId xmlns:a16="http://schemas.microsoft.com/office/drawing/2014/main" val="1489638188"/>
                    </a:ext>
                  </a:extLst>
                </a:gridCol>
                <a:gridCol w="1668449">
                  <a:extLst>
                    <a:ext uri="{9D8B030D-6E8A-4147-A177-3AD203B41FA5}">
                      <a16:colId xmlns:a16="http://schemas.microsoft.com/office/drawing/2014/main" val="1771164422"/>
                    </a:ext>
                  </a:extLst>
                </a:gridCol>
              </a:tblGrid>
              <a:tr h="2122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周次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主题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具体内容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实验名称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实验内容</a:t>
                      </a:r>
                    </a:p>
                  </a:txBody>
                  <a:tcPr marL="67567" marR="675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512633"/>
                  </a:ext>
                </a:extLst>
              </a:tr>
              <a:tr h="10610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理论：混响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实验：通过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模拟混响，计算混响的典型参数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混响的基本概念并介绍海洋中主要混响的来源与声学特性，利用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数值模拟混响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混响实验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通过</a:t>
                      </a:r>
                      <a:r>
                        <a:rPr lang="en-US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模拟混响，计算混响的典型参数</a:t>
                      </a:r>
                      <a:endParaRPr lang="zh-CN" alt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435576"/>
                  </a:ext>
                </a:extLst>
              </a:tr>
              <a:tr h="8793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理论：背景噪声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实验：数值仿真，理解噪声声学特性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介绍噪声相关的基本物理量，噪声主要来源和声学特性；并利用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计算典型场景下声呐对特定目标的探测能力</a:t>
                      </a:r>
                    </a:p>
                    <a:p>
                      <a:pPr indent="2667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背景噪声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altLang="zh-CN" sz="16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计算典型场景下声呐对特定目标的探测能力</a:t>
                      </a:r>
                      <a:endParaRPr lang="zh-CN" alt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1481"/>
                  </a:ext>
                </a:extLst>
              </a:tr>
              <a:tr h="10610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小结及复习（讲授与互动）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对整个课程内容进行回顾，重点说明课程的要点和启发，巩固讲授的知识内容，对水声学原理的问题进行展望。对作业进行答疑解惑，回答同学提问。第二次课非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MATLAB</a:t>
                      </a:r>
                      <a:r>
                        <a:rPr 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实验，对样卷进行解答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430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10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6341485"/>
            <a:ext cx="1529028" cy="4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46F4952A-311C-4629-93B3-05A0E12D0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6" y="227014"/>
            <a:ext cx="50323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课程内容介绍</a:t>
            </a:r>
            <a:endParaRPr lang="zh-CN" altLang="en-US" sz="36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32A11D-0633-41EF-BD0B-2F36D4476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76" y="721694"/>
            <a:ext cx="9667946" cy="561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0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6341485"/>
            <a:ext cx="1529028" cy="4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46F4952A-311C-4629-93B3-05A0E12D0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6" y="227014"/>
            <a:ext cx="50323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考试评分与建议</a:t>
            </a:r>
            <a:endParaRPr lang="zh-CN" altLang="en-US" sz="36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99FB3B-A321-4528-9B3A-5C9EF9CBF753}"/>
              </a:ext>
            </a:extLst>
          </p:cNvPr>
          <p:cNvSpPr txBox="1"/>
          <p:nvPr/>
        </p:nvSpPr>
        <p:spPr>
          <a:xfrm>
            <a:off x="438150" y="1255623"/>
            <a:ext cx="9715500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期末考试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闭卷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60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％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（试卷分数不超过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分</a:t>
            </a:r>
            <a:r>
              <a:rPr lang="zh-CN" altLang="en-US" sz="28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不通过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课程作业包括两部分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40%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平时作业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20%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最好电子版（纸质版拍照也可以）上传学在浙大，纸质版也接受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,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MATLAB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数值实验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20%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只接受电子版，附源代码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数值实验验证</a:t>
            </a:r>
            <a:r>
              <a:rPr lang="zh-CN" altLang="en-US" sz="2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理论结果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准确描述数值实验结果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图片清晰，文档完整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824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668</Words>
  <Application>Microsoft Office PowerPoint</Application>
  <PresentationFormat>宽屏</PresentationFormat>
  <Paragraphs>81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Amazone BT</vt:lpstr>
      <vt:lpstr>等线</vt:lpstr>
      <vt:lpstr>等线 Light</vt:lpstr>
      <vt:lpstr>黑体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K</dc:creator>
  <cp:lastModifiedBy>Administrator</cp:lastModifiedBy>
  <cp:revision>16</cp:revision>
  <dcterms:created xsi:type="dcterms:W3CDTF">2023-02-23T08:06:06Z</dcterms:created>
  <dcterms:modified xsi:type="dcterms:W3CDTF">2025-02-15T02:10:34Z</dcterms:modified>
</cp:coreProperties>
</file>