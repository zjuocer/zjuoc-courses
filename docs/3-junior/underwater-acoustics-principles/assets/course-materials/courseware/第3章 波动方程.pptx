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348" r:id="rId4"/>
    <p:sldId id="386" r:id="rId5"/>
    <p:sldId id="349" r:id="rId6"/>
    <p:sldId id="350" r:id="rId7"/>
    <p:sldId id="387" r:id="rId8"/>
    <p:sldId id="388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60" r:id="rId18"/>
    <p:sldId id="362" r:id="rId19"/>
    <p:sldId id="361" r:id="rId20"/>
    <p:sldId id="363" r:id="rId21"/>
    <p:sldId id="364" r:id="rId22"/>
    <p:sldId id="365" r:id="rId23"/>
    <p:sldId id="366" r:id="rId24"/>
    <p:sldId id="367" r:id="rId25"/>
    <p:sldId id="368" r:id="rId26"/>
    <p:sldId id="383" r:id="rId27"/>
    <p:sldId id="384" r:id="rId28"/>
    <p:sldId id="369" r:id="rId29"/>
    <p:sldId id="370" r:id="rId30"/>
    <p:sldId id="371" r:id="rId31"/>
    <p:sldId id="372" r:id="rId32"/>
    <p:sldId id="373" r:id="rId33"/>
    <p:sldId id="374" r:id="rId34"/>
    <p:sldId id="375" r:id="rId35"/>
    <p:sldId id="376" r:id="rId36"/>
    <p:sldId id="377" r:id="rId37"/>
    <p:sldId id="378" r:id="rId38"/>
    <p:sldId id="379" r:id="rId39"/>
    <p:sldId id="380" r:id="rId40"/>
    <p:sldId id="381" r:id="rId41"/>
    <p:sldId id="382" r:id="rId42"/>
    <p:sldId id="385" r:id="rId43"/>
    <p:sldId id="347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37" autoAdjust="0"/>
    <p:restoredTop sz="94523" autoAdjust="0"/>
  </p:normalViewPr>
  <p:slideViewPr>
    <p:cSldViewPr snapToGrid="0">
      <p:cViewPr varScale="1">
        <p:scale>
          <a:sx n="115" d="100"/>
          <a:sy n="115" d="100"/>
        </p:scale>
        <p:origin x="1410" y="6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emf"/><Relationship Id="rId4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593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98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44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863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28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731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53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60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96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909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815FA-8520-4BDB-8F27-B9729EC5EAB0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425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815FA-8520-4BDB-8F27-B9729EC5EAB0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FFDBB-28FB-4382-9A93-6082EF4A27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663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Document.doc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Document1.doc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Document2.doc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1.emf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wmf"/><Relationship Id="rId5" Type="http://schemas.openxmlformats.org/officeDocument/2006/relationships/image" Target="../media/image5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Document3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Document4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Document5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3.png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Document6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Document7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Document8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Document9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Document10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9.png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Document11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9.png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Document12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Document13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Document14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7.png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Document15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Document16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7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.emf"/><Relationship Id="rId5" Type="http://schemas.openxmlformats.org/officeDocument/2006/relationships/image" Target="../media/image30.png"/><Relationship Id="rId4" Type="http://schemas.openxmlformats.org/officeDocument/2006/relationships/image" Target="../media/image2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9.emf"/><Relationship Id="rId5" Type="http://schemas.openxmlformats.org/officeDocument/2006/relationships/package" Target="../embeddings/Microsoft_Word_Document18.docx"/><Relationship Id="rId4" Type="http://schemas.openxmlformats.org/officeDocument/2006/relationships/image" Target="../media/image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33.png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Document19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Document20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Document21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Document22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38.png"/><Relationship Id="rId5" Type="http://schemas.openxmlformats.org/officeDocument/2006/relationships/image" Target="../media/image37.emf"/><Relationship Id="rId4" Type="http://schemas.openxmlformats.org/officeDocument/2006/relationships/oleObject" Target="../embeddings/oleObject9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39.emf"/><Relationship Id="rId4" Type="http://schemas.openxmlformats.org/officeDocument/2006/relationships/oleObject" Target="../embeddings/oleObject10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Document23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Document24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42.emf"/><Relationship Id="rId4" Type="http://schemas.openxmlformats.org/officeDocument/2006/relationships/oleObject" Target="../embeddings/oleObject11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44.png"/><Relationship Id="rId5" Type="http://schemas.openxmlformats.org/officeDocument/2006/relationships/image" Target="../media/image43.emf"/><Relationship Id="rId4" Type="http://schemas.openxmlformats.org/officeDocument/2006/relationships/package" Target="../embeddings/Microsoft_Word_Document25.docx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5.vml"/><Relationship Id="rId5" Type="http://schemas.openxmlformats.org/officeDocument/2006/relationships/image" Target="../media/image45.emf"/><Relationship Id="rId4" Type="http://schemas.openxmlformats.org/officeDocument/2006/relationships/package" Target="../embeddings/Microsoft_Word_Document26.docx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6.vml"/><Relationship Id="rId5" Type="http://schemas.openxmlformats.org/officeDocument/2006/relationships/image" Target="../media/image46.emf"/><Relationship Id="rId4" Type="http://schemas.openxmlformats.org/officeDocument/2006/relationships/package" Target="../embeddings/Microsoft_Word_Document27.docx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7.vml"/><Relationship Id="rId5" Type="http://schemas.openxmlformats.org/officeDocument/2006/relationships/image" Target="../media/image47.emf"/><Relationship Id="rId4" Type="http://schemas.openxmlformats.org/officeDocument/2006/relationships/package" Target="../embeddings/Microsoft_Word_Document28.docx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49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8.vml"/><Relationship Id="rId6" Type="http://schemas.openxmlformats.org/officeDocument/2006/relationships/package" Target="../embeddings/Microsoft_Word_Document29.docx"/><Relationship Id="rId5" Type="http://schemas.openxmlformats.org/officeDocument/2006/relationships/image" Target="../media/image48.wmf"/><Relationship Id="rId4" Type="http://schemas.openxmlformats.org/officeDocument/2006/relationships/oleObject" Target="../embeddings/oleObject12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9.vml"/><Relationship Id="rId5" Type="http://schemas.openxmlformats.org/officeDocument/2006/relationships/image" Target="../media/image50.emf"/><Relationship Id="rId4" Type="http://schemas.openxmlformats.org/officeDocument/2006/relationships/oleObject" Target="../embeddings/oleObject13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52.png"/><Relationship Id="rId5" Type="http://schemas.openxmlformats.org/officeDocument/2006/relationships/image" Target="../media/image51.emf"/><Relationship Id="rId4" Type="http://schemas.openxmlformats.org/officeDocument/2006/relationships/package" Target="../embeddings/Microsoft_Word_Document30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3">
            <a:extLst>
              <a:ext uri="{FF2B5EF4-FFF2-40B4-BE49-F238E27FC236}">
                <a16:creationId xmlns:a16="http://schemas.microsoft.com/office/drawing/2014/main" id="{CE80BAFD-7889-41C0-8CBA-7B265AD84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057" y="5851515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0B818CFE-5F7C-49C8-8658-A42752AF3EDE}"/>
              </a:ext>
            </a:extLst>
          </p:cNvPr>
          <p:cNvSpPr>
            <a:spLocks noGrp="1" noRot="1" noChangeArrowheads="1"/>
          </p:cNvSpPr>
          <p:nvPr/>
        </p:nvSpPr>
        <p:spPr bwMode="auto">
          <a:xfrm>
            <a:off x="588965" y="2305050"/>
            <a:ext cx="7704137" cy="129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accent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4400" dirty="0">
                <a:solidFill>
                  <a:srgbClr val="CC3300"/>
                </a:solidFill>
                <a:latin typeface="Amazone BT" pitchFamily="2" charset="0"/>
                <a:ea typeface="黑体" panose="02010609060101010101" pitchFamily="49" charset="-122"/>
              </a:rPr>
              <a:t>第</a:t>
            </a:r>
            <a:r>
              <a:rPr lang="en-US" altLang="zh-CN" sz="4400" dirty="0">
                <a:solidFill>
                  <a:srgbClr val="CC3300"/>
                </a:solidFill>
                <a:latin typeface="Amazone BT" pitchFamily="2" charset="0"/>
                <a:ea typeface="黑体" panose="02010609060101010101" pitchFamily="49" charset="-122"/>
              </a:rPr>
              <a:t>3</a:t>
            </a:r>
            <a:r>
              <a:rPr lang="zh-CN" altLang="en-US" sz="4400" dirty="0">
                <a:solidFill>
                  <a:srgbClr val="CC3300"/>
                </a:solidFill>
                <a:latin typeface="Amazone BT" pitchFamily="2" charset="0"/>
                <a:ea typeface="黑体" panose="02010609060101010101" pitchFamily="49" charset="-122"/>
              </a:rPr>
              <a:t>章 波动方程</a:t>
            </a:r>
            <a:endParaRPr lang="zh-CN" altLang="en-US" sz="4400" i="1" dirty="0">
              <a:solidFill>
                <a:srgbClr val="CC3300"/>
              </a:solidFill>
              <a:ea typeface="隶书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921D6E-82DE-4C93-8EF2-AA23402F1D09}"/>
              </a:ext>
            </a:extLst>
          </p:cNvPr>
          <p:cNvSpPr txBox="1"/>
          <p:nvPr/>
        </p:nvSpPr>
        <p:spPr>
          <a:xfrm>
            <a:off x="1790303" y="3717837"/>
            <a:ext cx="5563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朱江</a:t>
            </a:r>
            <a:endParaRPr lang="en-US" altLang="zh-CN" sz="2400" dirty="0"/>
          </a:p>
          <a:p>
            <a:pPr algn="ctr"/>
            <a:r>
              <a:rPr lang="zh-CN" altLang="en-US" sz="2400" dirty="0"/>
              <a:t>邮箱：</a:t>
            </a:r>
            <a:r>
              <a:rPr lang="en-US" altLang="zh-CN" sz="2400" dirty="0"/>
              <a:t>jiangzhu16@zju.edu.cn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765581-A495-40E4-82D0-7BF6E8B3F395}"/>
              </a:ext>
            </a:extLst>
          </p:cNvPr>
          <p:cNvSpPr txBox="1"/>
          <p:nvPr/>
        </p:nvSpPr>
        <p:spPr>
          <a:xfrm>
            <a:off x="5697995" y="6404195"/>
            <a:ext cx="3529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*</a:t>
            </a:r>
            <a:r>
              <a:rPr lang="zh-CN" altLang="en-US" sz="1800" dirty="0"/>
              <a:t>课件由雷旭鹏和郭若海协助完成</a:t>
            </a:r>
            <a:endParaRPr lang="en-US" altLang="zh-CN" sz="18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506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BE11B25-F097-4ED1-9B85-AB4BFBF37D2D}"/>
              </a:ext>
            </a:extLst>
          </p:cNvPr>
          <p:cNvSpPr txBox="1"/>
          <p:nvPr/>
        </p:nvSpPr>
        <p:spPr>
          <a:xfrm>
            <a:off x="380249" y="314938"/>
            <a:ext cx="2919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</a:p>
        </p:txBody>
      </p:sp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6B332D6D-F383-43D2-969D-72F6FD3D4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7" y="1120295"/>
            <a:ext cx="8640763" cy="262777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波动方程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3.1Helmholtz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均匀介质求解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分层介质和波导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6623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BFE0CC4A-46BE-4035-BF18-C1C37B47C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906797"/>
            <a:ext cx="131712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前言：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70D24764-FE00-46FB-A458-DEC9184D0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1.0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波动方程</a:t>
            </a:r>
            <a:r>
              <a:rPr lang="zh-CN" altLang="en-US" sz="3600" b="1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D56FB0A-AED5-494C-93FF-EF77E48E96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233734"/>
              </p:ext>
            </p:extLst>
          </p:nvPr>
        </p:nvGraphicFramePr>
        <p:xfrm>
          <a:off x="270123" y="1321187"/>
          <a:ext cx="7192844" cy="535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3" name="Document" r:id="rId4" imgW="4786197" imgH="3566288" progId="Word.Document.12">
                  <p:embed/>
                </p:oleObj>
              </mc:Choice>
              <mc:Fallback>
                <p:oleObj name="Document" r:id="rId4" imgW="4786197" imgH="3566288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0123" y="1321187"/>
                        <a:ext cx="7192844" cy="5354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9A014D54-2A33-472D-8857-06D443544AD1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8521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BFE0CC4A-46BE-4035-BF18-C1C37B47C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906797"/>
            <a:ext cx="131712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前言：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70D24764-FE00-46FB-A458-DEC9184D0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1.0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波动方程</a:t>
            </a:r>
            <a:r>
              <a:rPr lang="zh-CN" altLang="en-US" sz="3600" b="1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D56FB0A-AED5-494C-93FF-EF77E48E96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651968"/>
              </p:ext>
            </p:extLst>
          </p:nvPr>
        </p:nvGraphicFramePr>
        <p:xfrm>
          <a:off x="374073" y="1327741"/>
          <a:ext cx="8557952" cy="5506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27" name="Document" r:id="rId4" imgW="4774152" imgH="3545276" progId="Word.Document.12">
                  <p:embed/>
                </p:oleObj>
              </mc:Choice>
              <mc:Fallback>
                <p:oleObj name="Document" r:id="rId4" imgW="4774152" imgH="3545276" progId="Word.Document.12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D56FB0A-AED5-494C-93FF-EF77E48E96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4073" y="1327741"/>
                        <a:ext cx="8557952" cy="5506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9A014D54-2A33-472D-8857-06D443544AD1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052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688BFE7D-6F18-42BF-B189-30794A38A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6" y="181932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1.0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波动方程</a:t>
            </a:r>
            <a:r>
              <a:rPr lang="zh-CN" altLang="en-US" sz="3600" b="1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74B9527-4DAE-43E8-93A6-B3D9F21FE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41" y="738041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波动方程推导：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BA0B543-A141-4F85-AF97-43BE07DC15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042641"/>
              </p:ext>
            </p:extLst>
          </p:nvPr>
        </p:nvGraphicFramePr>
        <p:xfrm>
          <a:off x="395536" y="1140966"/>
          <a:ext cx="7632852" cy="536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2" name="Document" r:id="rId4" imgW="4786197" imgH="3368641" progId="Word.Document.12">
                  <p:embed/>
                </p:oleObj>
              </mc:Choice>
              <mc:Fallback>
                <p:oleObj name="Document" r:id="rId4" imgW="4786197" imgH="3368641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5536" y="1140966"/>
                        <a:ext cx="7632852" cy="5364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642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8C219622-6E45-40A3-8A8F-9F57CA1A5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1.0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波动方程</a:t>
            </a:r>
            <a:r>
              <a:rPr lang="zh-CN" altLang="en-US" sz="3600" b="1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69B0BF8-9DEA-4CEF-A1BD-C6856FC4B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76517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波动方程推导：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092DE3-05B4-4B22-A2BE-AD06C67A9D1D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3429717-04ED-4B0E-AA7E-5053847A77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9929"/>
              </p:ext>
            </p:extLst>
          </p:nvPr>
        </p:nvGraphicFramePr>
        <p:xfrm>
          <a:off x="267798" y="1152843"/>
          <a:ext cx="7918450" cy="528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7" name="文档" r:id="rId4" imgW="5053860" imgH="3367743" progId="Word.Document.12">
                  <p:embed/>
                </p:oleObj>
              </mc:Choice>
              <mc:Fallback>
                <p:oleObj name="文档" r:id="rId4" imgW="5053860" imgH="3367743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7798" y="1152843"/>
                        <a:ext cx="7918450" cy="528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8962407-DD61-4A96-AB9E-7BB225EE1D54}"/>
              </a:ext>
            </a:extLst>
          </p:cNvPr>
          <p:cNvSpPr txBox="1"/>
          <p:nvPr/>
        </p:nvSpPr>
        <p:spPr>
          <a:xfrm>
            <a:off x="3611880" y="857153"/>
            <a:ext cx="534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为什么不直接求解声压的波动方程，而求解位移势？</a:t>
            </a:r>
          </a:p>
        </p:txBody>
      </p:sp>
    </p:spTree>
    <p:extLst>
      <p:ext uri="{BB962C8B-B14F-4D97-AF65-F5344CB8AC3E}">
        <p14:creationId xmlns:p14="http://schemas.microsoft.com/office/powerpoint/2010/main" val="143692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8C219622-6E45-40A3-8A8F-9F57CA1A5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1.0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波动方程</a:t>
            </a:r>
            <a:r>
              <a:rPr lang="zh-CN" altLang="en-US" sz="3600" b="1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69B0BF8-9DEA-4CEF-A1BD-C6856FC4B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76517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波动方程推导：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092DE3-05B4-4B22-A2BE-AD06C67A9D1D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3429717-04ED-4B0E-AA7E-5053847A77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798" y="1152843"/>
          <a:ext cx="7918450" cy="528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0" name="文档" r:id="rId4" imgW="5053860" imgH="3367743" progId="Word.Document.12">
                  <p:embed/>
                </p:oleObj>
              </mc:Choice>
              <mc:Fallback>
                <p:oleObj name="文档" r:id="rId4" imgW="5053860" imgH="3367743" progId="Word.Document.12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3429717-04ED-4B0E-AA7E-5053847A77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7798" y="1152843"/>
                        <a:ext cx="7918450" cy="528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8962407-DD61-4A96-AB9E-7BB225EE1D54}"/>
              </a:ext>
            </a:extLst>
          </p:cNvPr>
          <p:cNvSpPr txBox="1"/>
          <p:nvPr/>
        </p:nvSpPr>
        <p:spPr>
          <a:xfrm>
            <a:off x="5212080" y="3183775"/>
            <a:ext cx="40940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为什么不直接求解声压的波动方程，而求解位移势？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原因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（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）由位移势可以求得声压、粒子速度</a:t>
            </a:r>
            <a:endParaRPr lang="en-US" altLang="zh-CN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（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）水听器可测声压；矢量水听器可测粒子振速、加速度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960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8C219622-6E45-40A3-8A8F-9F57CA1A5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1.0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波动方程</a:t>
            </a:r>
            <a:r>
              <a:rPr lang="zh-CN" altLang="en-US" sz="3600" b="1" dirty="0">
                <a:solidFill>
                  <a:srgbClr val="80808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69B0BF8-9DEA-4CEF-A1BD-C6856FC4B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76517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波动方程推导：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092DE3-05B4-4B22-A2BE-AD06C67A9D1D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3429717-04ED-4B0E-AA7E-5053847A77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798" y="1152843"/>
          <a:ext cx="7918450" cy="528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1" name="文档" r:id="rId4" imgW="5053860" imgH="3367743" progId="Word.Document.12">
                  <p:embed/>
                </p:oleObj>
              </mc:Choice>
              <mc:Fallback>
                <p:oleObj name="文档" r:id="rId4" imgW="5053860" imgH="3367743" progId="Word.Document.12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3429717-04ED-4B0E-AA7E-5053847A77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7798" y="1152843"/>
                        <a:ext cx="7918450" cy="528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8962407-DD61-4A96-AB9E-7BB225EE1D54}"/>
              </a:ext>
            </a:extLst>
          </p:cNvPr>
          <p:cNvSpPr txBox="1"/>
          <p:nvPr/>
        </p:nvSpPr>
        <p:spPr>
          <a:xfrm>
            <a:off x="5212080" y="3183775"/>
            <a:ext cx="4094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位移势和声压的关系：</a:t>
            </a:r>
            <a:endParaRPr lang="en-US" altLang="zh-CN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zh-CN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     是体积模量</a:t>
            </a:r>
            <a:endParaRPr lang="en-US" altLang="zh-CN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位移势和粒子速度的关系：</a:t>
            </a:r>
            <a:endParaRPr lang="en-US" altLang="zh-CN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求梯度就是位移，对时间求导就是速度</a:t>
            </a:r>
            <a:endParaRPr lang="en-US" altLang="zh-CN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173671E-34B8-4582-8BBA-610F5C4AFB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518556"/>
              </p:ext>
            </p:extLst>
          </p:nvPr>
        </p:nvGraphicFramePr>
        <p:xfrm>
          <a:off x="5885873" y="3502693"/>
          <a:ext cx="787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2" name="Equation" r:id="rId6" imgW="787320" imgH="228600" progId="Equation.DSMT4">
                  <p:embed/>
                </p:oleObj>
              </mc:Choice>
              <mc:Fallback>
                <p:oleObj name="Equation" r:id="rId6" imgW="7873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85873" y="3502693"/>
                        <a:ext cx="787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E60E9AD-45C1-48EF-9926-C02DED372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452280"/>
              </p:ext>
            </p:extLst>
          </p:nvPr>
        </p:nvGraphicFramePr>
        <p:xfrm>
          <a:off x="7291388" y="3502025"/>
          <a:ext cx="546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3" name="Equation" r:id="rId8" imgW="545760" imgH="228600" progId="Equation.DSMT4">
                  <p:embed/>
                </p:oleObj>
              </mc:Choice>
              <mc:Fallback>
                <p:oleObj name="Equation" r:id="rId8" imgW="545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291388" y="3502025"/>
                        <a:ext cx="546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7A3D8CE-69AA-4E67-9E8F-A8E27706FA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980396"/>
              </p:ext>
            </p:extLst>
          </p:nvPr>
        </p:nvGraphicFramePr>
        <p:xfrm>
          <a:off x="5328343" y="3792855"/>
          <a:ext cx="1651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4" name="Equation" r:id="rId10" imgW="164880" imgH="164880" progId="Equation.DSMT4">
                  <p:embed/>
                </p:oleObj>
              </mc:Choice>
              <mc:Fallback>
                <p:oleObj name="Equation" r:id="rId10" imgW="1648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328343" y="3792855"/>
                        <a:ext cx="1651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9441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6609A83D-01B1-4073-8098-C1E6EF21D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36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36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亥姆霍兹方程</a:t>
            </a:r>
            <a:endParaRPr lang="zh-CN" altLang="en-US" sz="3600" dirty="0">
              <a:solidFill>
                <a:schemeClr val="bg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E8CA534B-0749-433D-B688-229421752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772835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亥姆霍兹方程：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CD08783-677D-4B55-BE7B-4D02B364AF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384880"/>
              </p:ext>
            </p:extLst>
          </p:nvPr>
        </p:nvGraphicFramePr>
        <p:xfrm>
          <a:off x="381000" y="1269999"/>
          <a:ext cx="8467994" cy="5381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5" name="Document" r:id="rId4" imgW="6221383" imgH="3952696" progId="Word.Document.12">
                  <p:embed/>
                </p:oleObj>
              </mc:Choice>
              <mc:Fallback>
                <p:oleObj name="Document" r:id="rId4" imgW="6221383" imgH="3952696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1269999"/>
                        <a:ext cx="8467994" cy="5381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B3BCC8C4-7118-432A-80F4-084A4BEB6702}"/>
              </a:ext>
            </a:extLst>
          </p:cNvPr>
          <p:cNvSpPr txBox="1"/>
          <p:nvPr/>
        </p:nvSpPr>
        <p:spPr>
          <a:xfrm>
            <a:off x="350043" y="5498860"/>
            <a:ext cx="8412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b="1" kern="100" dirty="0">
                <a:solidFill>
                  <a:srgbClr val="000000"/>
                </a:solidFill>
                <a:latin typeface="宋体"/>
                <a:ea typeface="宋体"/>
                <a:cs typeface="Times New Roman" panose="02020603050405020304" pitchFamily="18" charset="0"/>
              </a:rPr>
              <a:t>注：（</a:t>
            </a:r>
            <a:r>
              <a:rPr lang="en-US" altLang="zh-CN" b="1" kern="100" dirty="0">
                <a:solidFill>
                  <a:srgbClr val="000000"/>
                </a:solidFill>
                <a:latin typeface="宋体"/>
                <a:ea typeface="宋体"/>
                <a:cs typeface="Times New Roman" panose="02020603050405020304" pitchFamily="18" charset="0"/>
              </a:rPr>
              <a:t>1</a:t>
            </a:r>
            <a:r>
              <a:rPr lang="zh-CN" altLang="zh-CN" b="1" kern="100" dirty="0">
                <a:solidFill>
                  <a:srgbClr val="000000"/>
                </a:solidFill>
                <a:latin typeface="宋体"/>
                <a:ea typeface="宋体"/>
                <a:cs typeface="Times New Roman" panose="02020603050405020304" pitchFamily="18" charset="0"/>
              </a:rPr>
              <a:t>）波动方程与时间无关！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宋体"/>
                <a:ea typeface="宋体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宋体"/>
                <a:ea typeface="宋体"/>
              </a:rPr>
              <a:t>）波数与频率相关</a:t>
            </a:r>
            <a:endParaRPr lang="en-US" altLang="zh-CN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33793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02FC7EA-0210-4A43-AB01-CD347334B3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303490"/>
              </p:ext>
            </p:extLst>
          </p:nvPr>
        </p:nvGraphicFramePr>
        <p:xfrm>
          <a:off x="378324" y="1547834"/>
          <a:ext cx="7955302" cy="5310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8" name="Document" r:id="rId4" imgW="5055497" imgH="3373681" progId="Word.Document.12">
                  <p:embed/>
                </p:oleObj>
              </mc:Choice>
              <mc:Fallback>
                <p:oleObj name="Document" r:id="rId4" imgW="5055497" imgH="3373681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8324" y="1547834"/>
                        <a:ext cx="7955302" cy="53101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2A295550-7C6E-44AB-AE52-1896C84FB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96855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波动方程求解：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A1B519A7-74DC-4D12-9B6C-1B732258D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亥姆霍兹方程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59FA16-1EF0-4C09-96FB-CCB100EC65BD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8143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7C07A352-DC24-4E04-ADD6-B3E194098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9" y="859229"/>
            <a:ext cx="2206356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波动方程求解：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9BEF1659-399E-40CC-823D-4FA8F91C4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亥姆霍兹方程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023669-4F4F-4584-8716-4774E7CA02F9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DB2A58D-2481-4617-AB4E-660E0B505F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754540"/>
              </p:ext>
            </p:extLst>
          </p:nvPr>
        </p:nvGraphicFramePr>
        <p:xfrm>
          <a:off x="329826" y="1352377"/>
          <a:ext cx="8308038" cy="5544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3" name="Document" r:id="rId4" imgW="5055497" imgH="3373681" progId="Word.Document.12">
                  <p:embed/>
                </p:oleObj>
              </mc:Choice>
              <mc:Fallback>
                <p:oleObj name="Document" r:id="rId4" imgW="5055497" imgH="3373681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826" y="1352377"/>
                        <a:ext cx="8308038" cy="5544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1793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F686EF1D-D77B-4541-936D-45E4D08A3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63F576E6-1493-4DAB-8FD5-40E16C1EC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41464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不同坐标系下求解：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A738E44-D07D-464B-A10E-8AB923DF91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616263"/>
              </p:ext>
            </p:extLst>
          </p:nvPr>
        </p:nvGraphicFramePr>
        <p:xfrm>
          <a:off x="385763" y="1384300"/>
          <a:ext cx="7940675" cy="194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6" name="Document" r:id="rId4" imgW="5055497" imgH="1244205" progId="Word.Document.12">
                  <p:embed/>
                </p:oleObj>
              </mc:Choice>
              <mc:Fallback>
                <p:oleObj name="Document" r:id="rId4" imgW="5055497" imgH="1244205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5763" y="1384300"/>
                        <a:ext cx="7940675" cy="194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BE514756-A6AA-4B3C-9DC5-3B3F064E71EE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930" y="2214733"/>
            <a:ext cx="5415880" cy="385265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5D2F2F7-A566-4BC5-A239-827096CAA2FB}"/>
              </a:ext>
            </a:extLst>
          </p:cNvPr>
          <p:cNvSpPr txBox="1"/>
          <p:nvPr/>
        </p:nvSpPr>
        <p:spPr>
          <a:xfrm>
            <a:off x="2195736" y="5728833"/>
            <a:ext cx="46505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宋体"/>
                <a:ea typeface="宋体"/>
                <a:cs typeface="Times New Roman" panose="02020603050405020304" pitchFamily="18" charset="0"/>
              </a:rPr>
              <a:t>图：</a:t>
            </a:r>
            <a:r>
              <a:rPr lang="zh-CN" altLang="zh-CN" sz="1600" dirty="0">
                <a:solidFill>
                  <a:srgbClr val="000000"/>
                </a:solidFill>
                <a:latin typeface="宋体"/>
                <a:ea typeface="宋体"/>
                <a:cs typeface="Times New Roman" panose="02020603050405020304" pitchFamily="18" charset="0"/>
              </a:rPr>
              <a:t>由表面</a:t>
            </a:r>
            <a:r>
              <a:rPr lang="en-US" altLang="zh-CN" sz="1600" dirty="0">
                <a:solidFill>
                  <a:srgbClr val="000000"/>
                </a:solidFill>
                <a:latin typeface="宋体"/>
                <a:ea typeface="宋体"/>
                <a:cs typeface="Times New Roman" panose="02020603050405020304" pitchFamily="18" charset="0"/>
              </a:rPr>
              <a:t>S</a:t>
            </a:r>
            <a:r>
              <a:rPr lang="zh-CN" altLang="zh-CN" sz="1600" dirty="0">
                <a:solidFill>
                  <a:srgbClr val="000000"/>
                </a:solidFill>
                <a:latin typeface="宋体"/>
                <a:ea typeface="宋体"/>
                <a:cs typeface="Times New Roman" panose="02020603050405020304" pitchFamily="18" charset="0"/>
              </a:rPr>
              <a:t>所包围的占据区域</a:t>
            </a:r>
            <a:r>
              <a:rPr lang="en-US" altLang="zh-CN" sz="1600" dirty="0">
                <a:solidFill>
                  <a:srgbClr val="000000"/>
                </a:solidFill>
                <a:latin typeface="宋体"/>
                <a:ea typeface="宋体"/>
                <a:cs typeface="Times New Roman" panose="02020603050405020304" pitchFamily="18" charset="0"/>
              </a:rPr>
              <a:t>V</a:t>
            </a:r>
            <a:r>
              <a:rPr lang="zh-CN" altLang="zh-CN" sz="1600" dirty="0">
                <a:solidFill>
                  <a:srgbClr val="000000"/>
                </a:solidFill>
                <a:latin typeface="宋体"/>
                <a:ea typeface="宋体"/>
                <a:cs typeface="Times New Roman" panose="02020603050405020304" pitchFamily="18" charset="0"/>
              </a:rPr>
              <a:t>的各向同性介质</a:t>
            </a:r>
            <a:endParaRPr lang="zh-CN" altLang="en-US" sz="2000" dirty="0">
              <a:solidFill>
                <a:srgbClr val="000000"/>
              </a:solidFill>
              <a:latin typeface="宋体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923251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6BA53A43-4871-42F2-B636-5539DB588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7EC3E51-CA2E-4770-8901-9712016D0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41464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不同坐标系下求解：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CF900E-D522-42D8-BFB6-44668450B14A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B9F3A1-5972-4D75-B545-F100A343B3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103246"/>
              </p:ext>
            </p:extLst>
          </p:nvPr>
        </p:nvGraphicFramePr>
        <p:xfrm>
          <a:off x="395536" y="1361931"/>
          <a:ext cx="7543054" cy="531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0" name="Document" r:id="rId4" imgW="4215914" imgH="2971907" progId="Word.Document.12">
                  <p:embed/>
                </p:oleObj>
              </mc:Choice>
              <mc:Fallback>
                <p:oleObj name="Document" r:id="rId4" imgW="4215914" imgH="2971907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5536" y="1361931"/>
                        <a:ext cx="7543054" cy="53141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8250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3475EF54-2382-49EE-B4D5-91455D364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F59B435-FCCC-4E16-A340-0ECBBF997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41464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不同坐标系下求解：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AA7285-FF9E-42BA-BDA5-E68B641DEE3A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C25BE88-37E2-4C8A-B758-38A237F288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225847"/>
              </p:ext>
            </p:extLst>
          </p:nvPr>
        </p:nvGraphicFramePr>
        <p:xfrm>
          <a:off x="400050" y="1336675"/>
          <a:ext cx="7075488" cy="570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4" name="Document" r:id="rId4" imgW="4215914" imgH="3397442" progId="Word.Document.12">
                  <p:embed/>
                </p:oleObj>
              </mc:Choice>
              <mc:Fallback>
                <p:oleObj name="Document" r:id="rId4" imgW="4215914" imgH="3397442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0050" y="1336675"/>
                        <a:ext cx="7075488" cy="5703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4950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385FFD44-7A5A-4A71-B759-FBD0BDB0C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8692B24-E099-4AE4-8A3B-9753E305F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41464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不同坐标系下求解：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6DE8B2-F9AB-4F6A-B536-394B21AB3999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A65EE50-462A-401C-82EB-BAD801BB8C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175588"/>
              </p:ext>
            </p:extLst>
          </p:nvPr>
        </p:nvGraphicFramePr>
        <p:xfrm>
          <a:off x="467544" y="1352748"/>
          <a:ext cx="5780740" cy="4192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8" name="Document" r:id="rId4" imgW="3505378" imgH="2541889" progId="Word.Document.12">
                  <p:embed/>
                </p:oleObj>
              </mc:Choice>
              <mc:Fallback>
                <p:oleObj name="Document" r:id="rId4" imgW="3505378" imgH="2541889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7544" y="1352748"/>
                        <a:ext cx="5780740" cy="4192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6525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8E13D7B3-F3F8-4032-9ECA-0C4771613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6E0A7B67-19C6-4554-9643-0F06410AD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97795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无界介质下求解：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B4C6DC-1143-4EEA-8288-BE4CFE0FF8E9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F67359D-0AE1-40E3-8695-352401C66D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543766"/>
              </p:ext>
            </p:extLst>
          </p:nvPr>
        </p:nvGraphicFramePr>
        <p:xfrm>
          <a:off x="359568" y="1268760"/>
          <a:ext cx="8424862" cy="611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2" name="Document" r:id="rId4" imgW="5686098" imgH="4140234" progId="Word.Document.12">
                  <p:embed/>
                </p:oleObj>
              </mc:Choice>
              <mc:Fallback>
                <p:oleObj name="Document" r:id="rId4" imgW="5686098" imgH="4140234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9568" y="1268760"/>
                        <a:ext cx="8424862" cy="611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1066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50ED4747-8DFB-4CCC-873C-13B91D100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CF843B50-E307-4596-862D-DD34563BE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97795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无界介质下求解：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4A0994-FC58-40CF-AB25-25DF3B6A5A0C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8FE40A-1FC9-4DD7-9C3C-A6762A9419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315974"/>
              </p:ext>
            </p:extLst>
          </p:nvPr>
        </p:nvGraphicFramePr>
        <p:xfrm>
          <a:off x="388938" y="1382713"/>
          <a:ext cx="9520237" cy="635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6" name="Document" r:id="rId4" imgW="5055497" imgH="3373681" progId="Word.Document.12">
                  <p:embed/>
                </p:oleObj>
              </mc:Choice>
              <mc:Fallback>
                <p:oleObj name="Document" r:id="rId4" imgW="5055497" imgH="3373681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8938" y="1382713"/>
                        <a:ext cx="9520237" cy="6354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091F7A35-8A65-41B9-86DC-6712B69E6B70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3822837"/>
            <a:ext cx="3902863" cy="221774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1807CA8-16AE-4F1E-8662-FE3DB8513DDD}"/>
              </a:ext>
            </a:extLst>
          </p:cNvPr>
          <p:cNvSpPr txBox="1"/>
          <p:nvPr/>
        </p:nvSpPr>
        <p:spPr>
          <a:xfrm>
            <a:off x="2723251" y="5798529"/>
            <a:ext cx="3320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100" dirty="0">
                <a:solidFill>
                  <a:srgbClr val="000000"/>
                </a:solidFill>
                <a:latin typeface="宋体"/>
                <a:ea typeface="宋体"/>
                <a:cs typeface="Times New Roman" panose="02020603050405020304" pitchFamily="18" charset="0"/>
              </a:rPr>
              <a:t>图：</a:t>
            </a:r>
            <a:r>
              <a:rPr lang="zh-CN" altLang="zh-CN" sz="1600" kern="100" dirty="0">
                <a:solidFill>
                  <a:srgbClr val="000000"/>
                </a:solidFill>
                <a:latin typeface="宋体"/>
                <a:ea typeface="宋体"/>
                <a:cs typeface="Times New Roman" panose="02020603050405020304" pitchFamily="18" charset="0"/>
              </a:rPr>
              <a:t>无限流体介质中有规振荡的球</a:t>
            </a:r>
          </a:p>
        </p:txBody>
      </p:sp>
    </p:spTree>
    <p:extLst>
      <p:ext uri="{BB962C8B-B14F-4D97-AF65-F5344CB8AC3E}">
        <p14:creationId xmlns:p14="http://schemas.microsoft.com/office/powerpoint/2010/main" val="1644449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9167E659-5CF8-4CE3-BFBA-6BE35D703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C07DA310-1BBE-41ED-9A24-59C53437B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97795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无界介质下求解：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7E1F7F-E9B6-4C34-B5FC-D9ADF38161BC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AFBBF8D-949E-4D99-989C-54A53A21EC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983945"/>
              </p:ext>
            </p:extLst>
          </p:nvPr>
        </p:nvGraphicFramePr>
        <p:xfrm>
          <a:off x="317308" y="1390943"/>
          <a:ext cx="7709140" cy="6000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0" name="Document" r:id="rId4" imgW="5103741" imgH="3960502" progId="Word.Document.12">
                  <p:embed/>
                </p:oleObj>
              </mc:Choice>
              <mc:Fallback>
                <p:oleObj name="Document" r:id="rId4" imgW="5103741" imgH="3960502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7308" y="1390943"/>
                        <a:ext cx="7709140" cy="6000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44218C97-2D4A-4ACF-8633-8AB893DB5F2E}"/>
              </a:ext>
            </a:extLst>
          </p:cNvPr>
          <p:cNvPicPr/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137" y="3671884"/>
            <a:ext cx="3902863" cy="221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52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D1897AF0-097D-4625-8077-7292605BE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51573E9-0A15-4E38-B56E-605D0C7FF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31" y="897795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无界介质下求解：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6DEE4A-FDB1-4412-9C73-4AF35B1E7C03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D1798D8-C838-477E-96CC-28F3468CF7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458325"/>
              </p:ext>
            </p:extLst>
          </p:nvPr>
        </p:nvGraphicFramePr>
        <p:xfrm>
          <a:off x="346770" y="1460474"/>
          <a:ext cx="7158930" cy="4028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4" name="Document" r:id="rId4" imgW="3981177" imgH="2377525" progId="Word.Document.12">
                  <p:embed/>
                </p:oleObj>
              </mc:Choice>
              <mc:Fallback>
                <p:oleObj name="Document" r:id="rId4" imgW="3981177" imgH="2377525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6770" y="1460474"/>
                        <a:ext cx="7158930" cy="4028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2422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6E69762B-1427-449F-A925-0CD1D6BEA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F6ED5B6-8963-4C94-A91B-B1C0AB3C6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41" y="897795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无界介质下求解：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BA7562-6E5F-4281-89F4-D212EB719B81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DB5E2C8-0273-40D4-A87B-1B7E096453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4931373"/>
              </p:ext>
            </p:extLst>
          </p:nvPr>
        </p:nvGraphicFramePr>
        <p:xfrm>
          <a:off x="396875" y="1389063"/>
          <a:ext cx="6702425" cy="466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8" name="文档" r:id="rId4" imgW="3979888" imgH="2769017" progId="Word.Document.12">
                  <p:embed/>
                </p:oleObj>
              </mc:Choice>
              <mc:Fallback>
                <p:oleObj name="文档" r:id="rId4" imgW="3979888" imgH="2769017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6875" y="1389063"/>
                        <a:ext cx="6702425" cy="4667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1432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71325C6F-5DD7-414E-95AE-806D95B44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2A64A55-1DE7-4D26-A62D-E78E82284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97795"/>
            <a:ext cx="3239727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有界介质下求解：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EE8F79-7977-4C36-88A0-327CA9204E62}"/>
              </a:ext>
            </a:extLst>
          </p:cNvPr>
          <p:cNvSpPr txBox="1"/>
          <p:nvPr/>
        </p:nvSpPr>
        <p:spPr>
          <a:xfrm>
            <a:off x="1638300" y="4844350"/>
            <a:ext cx="3320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100" dirty="0">
                <a:solidFill>
                  <a:srgbClr val="000000"/>
                </a:solidFill>
                <a:latin typeface="宋体"/>
                <a:ea typeface="宋体"/>
                <a:cs typeface="Times New Roman" panose="02020603050405020304" pitchFamily="18" charset="0"/>
              </a:rPr>
              <a:t>图：</a:t>
            </a:r>
            <a:r>
              <a:rPr lang="zh-CN" altLang="zh-CN" sz="1600" dirty="0">
                <a:solidFill>
                  <a:srgbClr val="000000"/>
                </a:solidFill>
                <a:latin typeface="宋体"/>
                <a:ea typeface="宋体"/>
                <a:cs typeface="Times New Roman" panose="02020603050405020304" pitchFamily="18" charset="0"/>
              </a:rPr>
              <a:t>流体半空间中的点源</a:t>
            </a:r>
            <a:endParaRPr lang="zh-CN" altLang="zh-CN" sz="1600" kern="100" dirty="0">
              <a:solidFill>
                <a:srgbClr val="000000"/>
              </a:solidFill>
              <a:latin typeface="宋体"/>
              <a:ea typeface="宋体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E7D882-D25B-402F-9756-FDF630411851}"/>
              </a:ext>
            </a:extLst>
          </p:cNvPr>
          <p:cNvSpPr txBox="1"/>
          <p:nvPr/>
        </p:nvSpPr>
        <p:spPr>
          <a:xfrm>
            <a:off x="467544" y="5483221"/>
            <a:ext cx="597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思路：计算齐次解和特解，根据边界条件确定未知系数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BED811F-2F52-4594-BA2B-8413B7293A8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89" y="1583939"/>
            <a:ext cx="5453221" cy="323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790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33C1E102-F31D-4317-8F27-4F0FEAA61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65005D60-5298-4C1D-9743-60FD97C39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97795"/>
            <a:ext cx="3239727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有界介质下求解：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EFD6650-372F-436B-93F4-7C84F3577B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203503"/>
              </p:ext>
            </p:extLst>
          </p:nvPr>
        </p:nvGraphicFramePr>
        <p:xfrm>
          <a:off x="385504" y="1460474"/>
          <a:ext cx="8070988" cy="4013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2" name="Document" r:id="rId4" imgW="5055497" imgH="2511450" progId="Word.Document.12">
                  <p:embed/>
                </p:oleObj>
              </mc:Choice>
              <mc:Fallback>
                <p:oleObj name="Document" r:id="rId4" imgW="5055497" imgH="2511450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5504" y="1460474"/>
                        <a:ext cx="8070988" cy="40134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9378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D29B74AD-B9AF-4341-8E5A-B1510E07B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5190833-1E95-4D9D-AE92-ECA68AAF7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97795"/>
            <a:ext cx="3239727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有界介质下求解：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73D6BBA-9E56-4A6E-B037-B875B5987A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735107"/>
              </p:ext>
            </p:extLst>
          </p:nvPr>
        </p:nvGraphicFramePr>
        <p:xfrm>
          <a:off x="336550" y="1509713"/>
          <a:ext cx="8832850" cy="589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6" name="文档" r:id="rId4" imgW="5053860" imgH="3367743" progId="Word.Document.12">
                  <p:embed/>
                </p:oleObj>
              </mc:Choice>
              <mc:Fallback>
                <p:oleObj name="文档" r:id="rId4" imgW="5053860" imgH="3367743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6550" y="1509713"/>
                        <a:ext cx="8832850" cy="5891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5464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14BF4AD5-2F89-474A-BD38-DEE80988E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0982C98-7910-44D6-B949-B7A57A7B85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415237"/>
              </p:ext>
            </p:extLst>
          </p:nvPr>
        </p:nvGraphicFramePr>
        <p:xfrm>
          <a:off x="326900" y="1772816"/>
          <a:ext cx="8058150" cy="568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0" name="Document" r:id="rId4" imgW="5055497" imgH="3565568" progId="Word.Document.12">
                  <p:embed/>
                </p:oleObj>
              </mc:Choice>
              <mc:Fallback>
                <p:oleObj name="Document" r:id="rId4" imgW="5055497" imgH="3565568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6900" y="1772816"/>
                        <a:ext cx="8058150" cy="5681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>
            <a:extLst>
              <a:ext uri="{FF2B5EF4-FFF2-40B4-BE49-F238E27FC236}">
                <a16:creationId xmlns:a16="http://schemas.microsoft.com/office/drawing/2014/main" id="{C364A57D-2D9F-47C2-A0FE-73217B13E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97795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近场洛埃镜图案（</a:t>
            </a:r>
            <a:r>
              <a:rPr lang="en-US" altLang="zh-CN" sz="2400" b="1" dirty="0" err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Lyod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–Mirror Pattern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AA37E11-43E1-49BB-9BCD-26DBEFD50C93}"/>
              </a:ext>
            </a:extLst>
          </p:cNvPr>
          <p:cNvPicPr/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7" t="6826" r="5015" b="7562"/>
          <a:stretch/>
        </p:blipFill>
        <p:spPr bwMode="auto">
          <a:xfrm>
            <a:off x="4538451" y="1205781"/>
            <a:ext cx="4605549" cy="27162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0642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8AE42D2B-1146-4CBA-AA2F-73DB8B2B7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3375931A-FDEF-44F1-8FD1-EF6794059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97795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近场洛埃镜图案（</a:t>
            </a:r>
            <a:r>
              <a:rPr lang="en-US" altLang="zh-CN" sz="2400" b="1" dirty="0" err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Lyod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–Mirror Pattern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D324512-8B05-4688-9192-C9733850AA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969107"/>
              </p:ext>
            </p:extLst>
          </p:nvPr>
        </p:nvGraphicFramePr>
        <p:xfrm>
          <a:off x="415058" y="1112440"/>
          <a:ext cx="7881834" cy="555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4" name="Document" r:id="rId4" imgW="5055497" imgH="3566288" progId="Word.Document.12">
                  <p:embed/>
                </p:oleObj>
              </mc:Choice>
              <mc:Fallback>
                <p:oleObj name="Document" r:id="rId4" imgW="5055497" imgH="3566288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058" y="1112440"/>
                        <a:ext cx="7881834" cy="5559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4118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>
            <a:extLst>
              <a:ext uri="{FF2B5EF4-FFF2-40B4-BE49-F238E27FC236}">
                <a16:creationId xmlns:a16="http://schemas.microsoft.com/office/drawing/2014/main" id="{F3D9B1AE-8FBB-45E1-AF95-2461D0114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E7DF7FC-5F85-471E-92DF-2716279A8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97795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近场洛埃镜图案（</a:t>
            </a:r>
            <a:r>
              <a:rPr lang="en-US" altLang="zh-CN" sz="2400" b="1" dirty="0" err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Lyod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–Mirror Pattern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EF70380-B200-4A0D-B940-F97466AEF7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981697"/>
              </p:ext>
            </p:extLst>
          </p:nvPr>
        </p:nvGraphicFramePr>
        <p:xfrm>
          <a:off x="369422" y="1219346"/>
          <a:ext cx="8851900" cy="416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5" name="Document" r:id="rId3" imgW="5055497" imgH="2377525" progId="Word.Document.12">
                  <p:embed/>
                </p:oleObj>
              </mc:Choice>
              <mc:Fallback>
                <p:oleObj name="Document" r:id="rId3" imgW="5055497" imgH="2377525" progId="Word.Document.12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CEF70380-B200-4A0D-B940-F97466AEF7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9422" y="1219346"/>
                        <a:ext cx="8851900" cy="4164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950C4D6C-0E2F-4D5C-AD5C-9CEEB3C27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618" y="1390943"/>
            <a:ext cx="7791202" cy="4793042"/>
          </a:xfrm>
          <a:prstGeom prst="rect">
            <a:avLst/>
          </a:prstGeom>
        </p:spPr>
      </p:pic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8857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>
            <a:extLst>
              <a:ext uri="{FF2B5EF4-FFF2-40B4-BE49-F238E27FC236}">
                <a16:creationId xmlns:a16="http://schemas.microsoft.com/office/drawing/2014/main" id="{F3D9B1AE-8FBB-45E1-AF95-2461D0114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均匀介质求解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E7DF7FC-5F85-471E-92DF-2716279A8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97795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近场洛埃镜图案（</a:t>
            </a:r>
            <a:r>
              <a:rPr lang="en-US" altLang="zh-CN" sz="2400" b="1" dirty="0" err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Lyod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–Mirror Pattern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84EA09-AAC6-4AD5-ABA4-EF10A4EAC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642" y="2969094"/>
            <a:ext cx="4026716" cy="3431984"/>
          </a:xfrm>
          <a:prstGeom prst="rect">
            <a:avLst/>
          </a:prstGeom>
        </p:spPr>
      </p:pic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473" y="108595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EF70380-B200-4A0D-B940-F97466AEF7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602171"/>
              </p:ext>
            </p:extLst>
          </p:nvPr>
        </p:nvGraphicFramePr>
        <p:xfrm>
          <a:off x="292100" y="1144369"/>
          <a:ext cx="8851900" cy="416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9" name="Document" r:id="rId5" imgW="5055497" imgH="2377525" progId="Word.Document.12">
                  <p:embed/>
                </p:oleObj>
              </mc:Choice>
              <mc:Fallback>
                <p:oleObj name="Document" r:id="rId5" imgW="5055497" imgH="2377525" progId="Word.Document.12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CEF70380-B200-4A0D-B940-F97466AEF7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2100" y="1144369"/>
                        <a:ext cx="8851900" cy="4164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0C370A23-2DF3-4762-AD1F-495A473B4F9F}"/>
              </a:ext>
            </a:extLst>
          </p:cNvPr>
          <p:cNvSpPr txBox="1"/>
          <p:nvPr/>
        </p:nvSpPr>
        <p:spPr>
          <a:xfrm>
            <a:off x="6363393" y="638007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传输损耗</a:t>
            </a:r>
          </a:p>
        </p:txBody>
      </p:sp>
    </p:spTree>
    <p:extLst>
      <p:ext uri="{BB962C8B-B14F-4D97-AF65-F5344CB8AC3E}">
        <p14:creationId xmlns:p14="http://schemas.microsoft.com/office/powerpoint/2010/main" val="3989697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6D21E79-2BB3-4419-B9AA-B76B4261F7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715444"/>
              </p:ext>
            </p:extLst>
          </p:nvPr>
        </p:nvGraphicFramePr>
        <p:xfrm>
          <a:off x="365125" y="1428750"/>
          <a:ext cx="7224713" cy="352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2" name="Document" r:id="rId4" imgW="4075144" imgH="1982231" progId="Word.Document.12">
                  <p:embed/>
                </p:oleObj>
              </mc:Choice>
              <mc:Fallback>
                <p:oleObj name="Document" r:id="rId4" imgW="4075144" imgH="1982231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5125" y="1428750"/>
                        <a:ext cx="7224713" cy="3521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6">
            <a:extLst>
              <a:ext uri="{FF2B5EF4-FFF2-40B4-BE49-F238E27FC236}">
                <a16:creationId xmlns:a16="http://schemas.microsoft.com/office/drawing/2014/main" id="{A327EACD-3352-4367-BAB5-A258FFE8D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分层介质和波导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AA474CCB-6DAF-4C1E-9F85-B22412D37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90872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海洋环境建模：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86BF495-9FC8-4635-884B-27485F768583}"/>
              </a:ext>
            </a:extLst>
          </p:cNvPr>
          <p:cNvPicPr/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1" r="3239"/>
          <a:stretch/>
        </p:blipFill>
        <p:spPr bwMode="auto">
          <a:xfrm>
            <a:off x="2285855" y="3714219"/>
            <a:ext cx="4140239" cy="24712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F83B540-8CBE-4EB9-9048-C9AA19844390}"/>
              </a:ext>
            </a:extLst>
          </p:cNvPr>
          <p:cNvSpPr/>
          <p:nvPr/>
        </p:nvSpPr>
        <p:spPr bwMode="auto">
          <a:xfrm>
            <a:off x="7620946" y="15658"/>
            <a:ext cx="1512168" cy="9361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32155A-41C8-4255-B050-4A0FE7F062B6}"/>
              </a:ext>
            </a:extLst>
          </p:cNvPr>
          <p:cNvSpPr txBox="1"/>
          <p:nvPr/>
        </p:nvSpPr>
        <p:spPr>
          <a:xfrm>
            <a:off x="3124200" y="5795391"/>
            <a:ext cx="2016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图：</a:t>
            </a:r>
            <a:r>
              <a:rPr lang="zh-CN" altLang="zh-C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水平分层的波导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4458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B6E4F137-4EB2-4F2A-98C4-F1868055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分层介质和波导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83543095-DE04-4423-884C-EC8316AFA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90872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积分变换技术：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26D019A-14D4-470D-8144-F02A5E6AE1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442773"/>
              </p:ext>
            </p:extLst>
          </p:nvPr>
        </p:nvGraphicFramePr>
        <p:xfrm>
          <a:off x="365125" y="1428750"/>
          <a:ext cx="7235825" cy="421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6" name="Document" r:id="rId4" imgW="4075144" imgH="2377525" progId="Word.Document.12">
                  <p:embed/>
                </p:oleObj>
              </mc:Choice>
              <mc:Fallback>
                <p:oleObj name="Document" r:id="rId4" imgW="4075144" imgH="2377525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5125" y="1428750"/>
                        <a:ext cx="7235825" cy="4217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9620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B6E4F137-4EB2-4F2A-98C4-F1868055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分层介质和波导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6414B99-9069-47B5-944B-F969390A7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31" y="90872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平面传播问题：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6633A24-6419-46D2-9271-4F4B1B84B0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601816"/>
              </p:ext>
            </p:extLst>
          </p:nvPr>
        </p:nvGraphicFramePr>
        <p:xfrm>
          <a:off x="251618" y="1401868"/>
          <a:ext cx="8278268" cy="5505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0" name="Document" r:id="rId4" imgW="5078539" imgH="3366121" progId="Word.Document.12">
                  <p:embed/>
                </p:oleObj>
              </mc:Choice>
              <mc:Fallback>
                <p:oleObj name="Document" r:id="rId4" imgW="5078539" imgH="3366121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1618" y="1401868"/>
                        <a:ext cx="8278268" cy="55052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2713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B6E4F137-4EB2-4F2A-98C4-F1868055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分层介质和波导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39C82A7-0B4C-4FBB-8172-44249A87A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31" y="90872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平面传播问题：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ACAA3F2-3621-412E-8CED-F4A91491E9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692221"/>
              </p:ext>
            </p:extLst>
          </p:nvPr>
        </p:nvGraphicFramePr>
        <p:xfrm>
          <a:off x="282450" y="1401868"/>
          <a:ext cx="7667486" cy="538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5" name="Document" r:id="rId4" imgW="5078539" imgH="3566288" progId="Word.Document.12">
                  <p:embed/>
                </p:oleObj>
              </mc:Choice>
              <mc:Fallback>
                <p:oleObj name="Document" r:id="rId4" imgW="5078539" imgH="3566288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2450" y="1401868"/>
                        <a:ext cx="7667486" cy="53842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7584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B6E4F137-4EB2-4F2A-98C4-F1868055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分层介质和波导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DDDFF5CD-B84F-4EBA-AB20-221D24CE6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90872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轴对称传播问题：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CE1E7FD-0EE8-474E-B7F2-B0C9A0C057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540842"/>
              </p:ext>
            </p:extLst>
          </p:nvPr>
        </p:nvGraphicFramePr>
        <p:xfrm>
          <a:off x="0" y="1385979"/>
          <a:ext cx="7853363" cy="280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7" name="文档" r:id="rId4" imgW="5076895" imgH="1808037" progId="Word.Document.12">
                  <p:embed/>
                </p:oleObj>
              </mc:Choice>
              <mc:Fallback>
                <p:oleObj name="文档" r:id="rId4" imgW="5076895" imgH="1808037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1385979"/>
                        <a:ext cx="7853363" cy="280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15FA417A-21C9-4789-A5BF-2941E3E1EA81}"/>
              </a:ext>
            </a:extLst>
          </p:cNvPr>
          <p:cNvPicPr/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923" y="3573016"/>
            <a:ext cx="4616152" cy="274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127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B6E4F137-4EB2-4F2A-98C4-F1868055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分层介质和波导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B7ED1EF-80EA-4DC4-A444-9B74E8BC3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90872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轴对称传播问题：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793143C-5CD1-4358-AD8C-EEA2F24F5D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805460"/>
              </p:ext>
            </p:extLst>
          </p:nvPr>
        </p:nvGraphicFramePr>
        <p:xfrm>
          <a:off x="323528" y="1467182"/>
          <a:ext cx="7794625" cy="364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1" name="文档" r:id="rId4" imgW="5076895" imgH="2373340" progId="Word.Document.12">
                  <p:embed/>
                </p:oleObj>
              </mc:Choice>
              <mc:Fallback>
                <p:oleObj name="文档" r:id="rId4" imgW="5076895" imgH="2373340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528" y="1467182"/>
                        <a:ext cx="7794625" cy="3646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8814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B6E4F137-4EB2-4F2A-98C4-F1868055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分层介质和波导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83C89CAD-C158-423C-8D2E-3548111E9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31" y="90872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轴对称传播问题：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31070A4-4D74-4BB6-827D-6B329EE301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831236"/>
              </p:ext>
            </p:extLst>
          </p:nvPr>
        </p:nvGraphicFramePr>
        <p:xfrm>
          <a:off x="295161" y="1482324"/>
          <a:ext cx="9151312" cy="487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6" name="Document" r:id="rId4" imgW="6803164" imgH="3628345" progId="Word.Document.12">
                  <p:embed/>
                </p:oleObj>
              </mc:Choice>
              <mc:Fallback>
                <p:oleObj name="Document" r:id="rId4" imgW="6803164" imgH="3628345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5161" y="1482324"/>
                        <a:ext cx="9151312" cy="4874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61872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B6E4F137-4EB2-4F2A-98C4-F1868055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分层介质和波导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E9A8145-1B72-434A-AA4A-FEDD32FBC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32" y="942276"/>
            <a:ext cx="2442690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轴对称传播问题：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927B39B-A43D-4BC8-8050-EB2B7F210E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393532"/>
              </p:ext>
            </p:extLst>
          </p:nvPr>
        </p:nvGraphicFramePr>
        <p:xfrm>
          <a:off x="295006" y="1363604"/>
          <a:ext cx="8415812" cy="5256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0" name="Document" r:id="rId4" imgW="5251712" imgH="3285118" progId="Word.Document.12">
                  <p:embed/>
                </p:oleObj>
              </mc:Choice>
              <mc:Fallback>
                <p:oleObj name="Document" r:id="rId4" imgW="5251712" imgH="3285118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5006" y="1363604"/>
                        <a:ext cx="8415812" cy="52568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00929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B6E4F137-4EB2-4F2A-98C4-F1868055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分层介质和波导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412E04C-998A-4E0A-A2C1-D894EB5C9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31" y="90872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轴对称传播问题：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A2A3E8B-43F4-46DD-B93F-DE91C01B8E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317008"/>
              </p:ext>
            </p:extLst>
          </p:nvPr>
        </p:nvGraphicFramePr>
        <p:xfrm>
          <a:off x="251618" y="1401868"/>
          <a:ext cx="8145420" cy="4766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4" name="文档" r:id="rId4" imgW="4748657" imgH="3164334" progId="Word.Document.12">
                  <p:embed/>
                </p:oleObj>
              </mc:Choice>
              <mc:Fallback>
                <p:oleObj name="文档" r:id="rId4" imgW="4748657" imgH="3164334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1618" y="1401868"/>
                        <a:ext cx="8145420" cy="4766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994557" y="2657732"/>
            <a:ext cx="1854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该式物理解释？</a:t>
            </a:r>
          </a:p>
        </p:txBody>
      </p:sp>
    </p:spTree>
    <p:extLst>
      <p:ext uri="{BB962C8B-B14F-4D97-AF65-F5344CB8AC3E}">
        <p14:creationId xmlns:p14="http://schemas.microsoft.com/office/powerpoint/2010/main" val="42225433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B6E4F137-4EB2-4F2A-98C4-F1868055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分层介质和波导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EF863830-5C7B-43C7-9675-C8CEBB480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90872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镜像法：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09DD41E-335B-44B3-90C0-49A000A2A2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156845"/>
              </p:ext>
            </p:extLst>
          </p:nvPr>
        </p:nvGraphicFramePr>
        <p:xfrm>
          <a:off x="1115888" y="1507240"/>
          <a:ext cx="7362825" cy="35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28" name="Document" r:id="rId4" imgW="4913287" imgH="2377525" progId="Word.Document.12">
                  <p:embed/>
                </p:oleObj>
              </mc:Choice>
              <mc:Fallback>
                <p:oleObj name="Document" r:id="rId4" imgW="4913287" imgH="2377525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5888" y="1507240"/>
                        <a:ext cx="7362825" cy="356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4161244D-DB17-4105-9347-F45354E4A452}"/>
              </a:ext>
            </a:extLst>
          </p:cNvPr>
          <p:cNvPicPr/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981" r="8428"/>
          <a:stretch/>
        </p:blipFill>
        <p:spPr>
          <a:xfrm>
            <a:off x="-92341" y="1772309"/>
            <a:ext cx="3528393" cy="389089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999929D-E2A4-475B-A82C-439BA4261E5E}"/>
              </a:ext>
            </a:extLst>
          </p:cNvPr>
          <p:cNvSpPr txBox="1"/>
          <p:nvPr/>
        </p:nvSpPr>
        <p:spPr>
          <a:xfrm>
            <a:off x="683890" y="5284799"/>
            <a:ext cx="4517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kern="100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zh-CN" altLang="zh-CN" sz="1600" kern="100" dirty="0">
                <a:solidFill>
                  <a:srgbClr val="000000"/>
                </a:solidFill>
                <a:latin typeface="等线" panose="02010600030101010101" pitchFamily="2" charset="-122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600" kern="100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自由场与前三个镜像源叠加产生声场的示意图</a:t>
            </a:r>
            <a:endParaRPr lang="zh-CN" altLang="zh-CN" sz="1600" kern="100" dirty="0">
              <a:solidFill>
                <a:srgbClr val="00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4095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B6E4F137-4EB2-4F2A-98C4-F1868055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分层介质和波导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3774B2D-D277-48C6-A1FD-AA06C0709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90872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镜像法：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4E4B295-E2BD-46D4-BB7E-E61E74AF83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795842"/>
              </p:ext>
            </p:extLst>
          </p:nvPr>
        </p:nvGraphicFramePr>
        <p:xfrm>
          <a:off x="295006" y="1401868"/>
          <a:ext cx="8274422" cy="5020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1" name="Document" r:id="rId4" imgW="5430075" imgH="3307953" progId="Word.Document.12">
                  <p:embed/>
                </p:oleObj>
              </mc:Choice>
              <mc:Fallback>
                <p:oleObj name="Document" r:id="rId4" imgW="5430075" imgH="3307953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5006" y="1401868"/>
                        <a:ext cx="8274422" cy="5020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10771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B6E4F137-4EB2-4F2A-98C4-F1868055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分层介质和波导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95213E3-5DA8-47D0-BD3A-85C6E04A9F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694033"/>
              </p:ext>
            </p:extLst>
          </p:nvPr>
        </p:nvGraphicFramePr>
        <p:xfrm>
          <a:off x="249238" y="1793875"/>
          <a:ext cx="8655050" cy="324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76" name="Document" r:id="rId4" imgW="5108421" imgH="1919229" progId="Word.Document.12">
                  <p:embed/>
                </p:oleObj>
              </mc:Choice>
              <mc:Fallback>
                <p:oleObj name="Document" r:id="rId4" imgW="5108421" imgH="1919229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9238" y="1793875"/>
                        <a:ext cx="8655050" cy="324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>
            <a:extLst>
              <a:ext uri="{FF2B5EF4-FFF2-40B4-BE49-F238E27FC236}">
                <a16:creationId xmlns:a16="http://schemas.microsoft.com/office/drawing/2014/main" id="{FE6CA1BF-221D-4D9D-9C87-74E628D40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908720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与信号与系统的关系：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88434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B6E4F137-4EB2-4F2A-98C4-F1868055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分层介质和波导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095109CE-9502-4718-884D-B321D8190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822584"/>
            <a:ext cx="8640763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多径分离：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4D0114E-E882-4A03-86B7-5E46178AB1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665267"/>
              </p:ext>
            </p:extLst>
          </p:nvPr>
        </p:nvGraphicFramePr>
        <p:xfrm>
          <a:off x="295004" y="1278448"/>
          <a:ext cx="8553990" cy="5141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99" name="Document" r:id="rId4" imgW="5888731" imgH="3566067" progId="Word.Document.12">
                  <p:embed/>
                </p:oleObj>
              </mc:Choice>
              <mc:Fallback>
                <p:oleObj name="Document" r:id="rId4" imgW="5888731" imgH="3566067" progId="Word.Document.12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37C79F19-AB0F-426B-92E2-5A3A895C8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5004" y="1278448"/>
                        <a:ext cx="8553990" cy="51411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79117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B6E4F137-4EB2-4F2A-98C4-F1868055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分层介质和波导</a:t>
            </a:r>
            <a:endParaRPr lang="zh-CN" altLang="en-US" sz="3600" b="1" dirty="0">
              <a:solidFill>
                <a:srgbClr val="80808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70950BC-7B31-4F64-AD75-C88CEB651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952395"/>
            <a:ext cx="1669461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多径分离：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73FD96-840E-46EB-B85B-EF0C4F402BA5}"/>
              </a:ext>
            </a:extLst>
          </p:cNvPr>
          <p:cNvSpPr txBox="1"/>
          <p:nvPr/>
        </p:nvSpPr>
        <p:spPr>
          <a:xfrm>
            <a:off x="251618" y="1556792"/>
            <a:ext cx="820658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 kern="100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带限性：</a:t>
            </a:r>
            <a:endParaRPr lang="zh-CN" altLang="zh-CN" sz="2000" b="1" kern="100" dirty="0">
              <a:solidFill>
                <a:srgbClr val="00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 kern="100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实际中，我们总是假设信号带限的，此时从接收的角度亦等价于信道带限。若假设信道带限于</a:t>
            </a:r>
            <a:r>
              <a:rPr lang="en-US" altLang="zh-CN" sz="2000" b="1" kern="100" dirty="0">
                <a:solidFill>
                  <a:srgbClr val="0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[0,B]</a:t>
            </a:r>
            <a:r>
              <a:rPr lang="zh-CN" altLang="zh-CN" sz="2000" b="1" kern="100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，试求解信道的时域表示</a:t>
            </a:r>
            <a:r>
              <a:rPr lang="zh-CN" altLang="zh-CN" b="1" kern="100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b="1" kern="100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（注意：转化为复基带信号时，正半频率部分带宽为          ）</a:t>
            </a:r>
            <a:endParaRPr lang="zh-CN" altLang="zh-CN" b="1" kern="100" dirty="0">
              <a:solidFill>
                <a:srgbClr val="000000"/>
              </a:solidFill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4B0A1C9-C3C5-4273-AB60-AFCBD7172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093798"/>
              </p:ext>
            </p:extLst>
          </p:nvPr>
        </p:nvGraphicFramePr>
        <p:xfrm>
          <a:off x="4001148" y="2513640"/>
          <a:ext cx="570852" cy="307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35" name="Equation" r:id="rId4" imgW="330120" imgH="177480" progId="Equation.DSMT4">
                  <p:embed/>
                </p:oleObj>
              </mc:Choice>
              <mc:Fallback>
                <p:oleObj name="Equation" r:id="rId4" imgW="330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01148" y="2513640"/>
                        <a:ext cx="570852" cy="307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5D62DDC1-FFD5-49D7-82E9-39C7BAA429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650069"/>
              </p:ext>
            </p:extLst>
          </p:nvPr>
        </p:nvGraphicFramePr>
        <p:xfrm>
          <a:off x="398463" y="3135417"/>
          <a:ext cx="8745537" cy="277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36" name="Document" r:id="rId6" imgW="6093579" imgH="1932069" progId="Word.Document.12">
                  <p:embed/>
                </p:oleObj>
              </mc:Choice>
              <mc:Fallback>
                <p:oleObj name="Document" r:id="rId6" imgW="6093579" imgH="1932069" progId="Word.Document.12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4E6B4622-FEB8-4DA9-83AB-A717AA69ED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8463" y="3135417"/>
                        <a:ext cx="8745537" cy="2770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135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53">
            <a:extLst>
              <a:ext uri="{FF2B5EF4-FFF2-40B4-BE49-F238E27FC236}">
                <a16:creationId xmlns:a16="http://schemas.microsoft.com/office/drawing/2014/main" id="{876F5FF6-B4B9-494A-AA91-F566D4286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">
            <a:extLst>
              <a:ext uri="{FF2B5EF4-FFF2-40B4-BE49-F238E27FC236}">
                <a16:creationId xmlns:a16="http://schemas.microsoft.com/office/drawing/2014/main" id="{B6E4F137-4EB2-4F2A-98C4-F18680557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888" y="181933"/>
            <a:ext cx="6480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分层介质和波导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70950BC-7B31-4F64-AD75-C88CEB651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" y="952395"/>
            <a:ext cx="1669461" cy="4931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多径分离：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53DD0C-92F9-4898-A5C5-22F244E0F94F}"/>
              </a:ext>
            </a:extLst>
          </p:cNvPr>
          <p:cNvSpPr txBox="1"/>
          <p:nvPr/>
        </p:nvSpPr>
        <p:spPr>
          <a:xfrm>
            <a:off x="380767" y="5121218"/>
            <a:ext cx="5459842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课后学习内容：</a:t>
            </a:r>
            <a:endParaRPr kumimoji="0" lang="en-US" altLang="zh-CN" sz="14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4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理想流体波导（硬底均匀浅海声场）</a:t>
            </a:r>
            <a:endParaRPr kumimoji="0" lang="en-US" altLang="zh-CN" sz="14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400" b="1" i="0" u="none" strike="noStrike" kern="1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Pekeris</a:t>
            </a:r>
            <a:r>
              <a:rPr kumimoji="0" lang="zh-CN" altLang="zh-CN" sz="14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波导（液态海底均匀浅海声场）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E6B4622-FEB8-4DA9-83AB-A717AA69ED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806741"/>
              </p:ext>
            </p:extLst>
          </p:nvPr>
        </p:nvGraphicFramePr>
        <p:xfrm>
          <a:off x="381000" y="1571625"/>
          <a:ext cx="6745288" cy="342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16" name="文档" r:id="rId4" imgW="5655962" imgH="2876301" progId="Word.Document.12">
                  <p:embed/>
                </p:oleObj>
              </mc:Choice>
              <mc:Fallback>
                <p:oleObj name="文档" r:id="rId4" imgW="5655962" imgH="28763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1571625"/>
                        <a:ext cx="6745288" cy="3424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28654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53">
            <a:extLst>
              <a:ext uri="{FF2B5EF4-FFF2-40B4-BE49-F238E27FC236}">
                <a16:creationId xmlns:a16="http://schemas.microsoft.com/office/drawing/2014/main" id="{17D9A8C9-86AB-4F8C-8315-569721519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lum bright="-40000" contras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6067816"/>
            <a:ext cx="1990994" cy="5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>
            <a:extLst>
              <a:ext uri="{FF2B5EF4-FFF2-40B4-BE49-F238E27FC236}">
                <a16:creationId xmlns:a16="http://schemas.microsoft.com/office/drawing/2014/main" id="{F82FD444-87AF-4A6A-9446-E31A00834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88913"/>
            <a:ext cx="7632700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zh-CN" altLang="zh-CN" sz="3600" b="1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  <a:r>
              <a:rPr lang="zh-CN" altLang="zh-CN" sz="3600" b="1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F4754D-A33E-4C2E-A460-CDEC85093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" y="4208463"/>
            <a:ext cx="9142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986C2F4-8A30-4FEA-8079-4D51A69A8F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628910"/>
              </p:ext>
            </p:extLst>
          </p:nvPr>
        </p:nvGraphicFramePr>
        <p:xfrm>
          <a:off x="293688" y="884238"/>
          <a:ext cx="8167687" cy="557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23" name="Document" r:id="rId4" imgW="6082853" imgH="4155696" progId="Word.Document.12">
                  <p:embed/>
                </p:oleObj>
              </mc:Choice>
              <mc:Fallback>
                <p:oleObj name="Document" r:id="rId4" imgW="6082853" imgH="4155696" progId="Word.Document.12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74DB9C90-6CDD-41B9-BAA9-75B4F9FAF7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3688" y="884238"/>
                        <a:ext cx="8167687" cy="557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9C611759-A9FF-4F9C-B306-F34BC85A50EF}"/>
              </a:ext>
            </a:extLst>
          </p:cNvPr>
          <p:cNvPicPr/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242" y="4072289"/>
            <a:ext cx="4229321" cy="213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472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2259</TotalTime>
  <Words>635</Words>
  <Application>Microsoft Office PowerPoint</Application>
  <PresentationFormat>全屏显示(4:3)</PresentationFormat>
  <Paragraphs>114</Paragraphs>
  <Slides>43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43</vt:i4>
      </vt:variant>
    </vt:vector>
  </HeadingPairs>
  <TitlesOfParts>
    <vt:vector size="58" baseType="lpstr">
      <vt:lpstr>Amazone BT</vt:lpstr>
      <vt:lpstr>等线</vt:lpstr>
      <vt:lpstr>黑体</vt:lpstr>
      <vt:lpstr>宋体</vt:lpstr>
      <vt:lpstr>微软雅黑</vt:lpstr>
      <vt:lpstr>Arial</vt:lpstr>
      <vt:lpstr>Calibri</vt:lpstr>
      <vt:lpstr>Calibri Light</vt:lpstr>
      <vt:lpstr>Cambria Math</vt:lpstr>
      <vt:lpstr>Times New Roman</vt:lpstr>
      <vt:lpstr>Office 主题​​</vt:lpstr>
      <vt:lpstr>文档</vt:lpstr>
      <vt:lpstr>Document</vt:lpstr>
      <vt:lpstr>Equation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 K</dc:creator>
  <cp:lastModifiedBy>Administrator</cp:lastModifiedBy>
  <cp:revision>83</cp:revision>
  <dcterms:created xsi:type="dcterms:W3CDTF">2023-02-23T08:06:06Z</dcterms:created>
  <dcterms:modified xsi:type="dcterms:W3CDTF">2024-03-14T08:06:37Z</dcterms:modified>
</cp:coreProperties>
</file>