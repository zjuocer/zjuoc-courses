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tiff" ContentType="image/tiff"/>
  <Default Extension="png" ContentType="image/png"/>
  <Default Extension="wmf" ContentType="image/x-wmf"/>
  <Default Extension="jpeg" ContentType="image/jpeg"/>
  <Default Extension="JPG" ContentType="image/.jp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firstSlideNum="0" showSpecialPlsOnTitleSld="0" autoCompressPictures="0">
  <p:sldMasterIdLst>
    <p:sldMasterId id="2147483648" r:id="rId1"/>
  </p:sldMasterIdLst>
  <p:notesMasterIdLst>
    <p:notesMasterId r:id="rId49"/>
  </p:notesMasterIdLst>
  <p:handoutMasterIdLst>
    <p:handoutMasterId r:id="rId51"/>
  </p:handoutMasterIdLst>
  <p:sldIdLst>
    <p:sldId id="256" r:id="rId3"/>
    <p:sldId id="468" r:id="rId4"/>
    <p:sldId id="447" r:id="rId5"/>
    <p:sldId id="448" r:id="rId6"/>
    <p:sldId id="452" r:id="rId7"/>
    <p:sldId id="451" r:id="rId8"/>
    <p:sldId id="454" r:id="rId9"/>
    <p:sldId id="455" r:id="rId10"/>
    <p:sldId id="564" r:id="rId11"/>
    <p:sldId id="456" r:id="rId12"/>
    <p:sldId id="458" r:id="rId13"/>
    <p:sldId id="459" r:id="rId14"/>
    <p:sldId id="562" r:id="rId15"/>
    <p:sldId id="561" r:id="rId16"/>
    <p:sldId id="566" r:id="rId17"/>
    <p:sldId id="576" r:id="rId18"/>
    <p:sldId id="471" r:id="rId19"/>
    <p:sldId id="577" r:id="rId20"/>
    <p:sldId id="472" r:id="rId21"/>
    <p:sldId id="473" r:id="rId22"/>
    <p:sldId id="474" r:id="rId23"/>
    <p:sldId id="476" r:id="rId24"/>
    <p:sldId id="479" r:id="rId25"/>
    <p:sldId id="563" r:id="rId26"/>
    <p:sldId id="480" r:id="rId27"/>
    <p:sldId id="482" r:id="rId28"/>
    <p:sldId id="483" r:id="rId29"/>
    <p:sldId id="484" r:id="rId30"/>
    <p:sldId id="568" r:id="rId31"/>
    <p:sldId id="488" r:id="rId32"/>
    <p:sldId id="490" r:id="rId33"/>
    <p:sldId id="491" r:id="rId34"/>
    <p:sldId id="492" r:id="rId35"/>
    <p:sldId id="494" r:id="rId36"/>
    <p:sldId id="495" r:id="rId37"/>
    <p:sldId id="497" r:id="rId38"/>
    <p:sldId id="498" r:id="rId39"/>
    <p:sldId id="499" r:id="rId40"/>
    <p:sldId id="572" r:id="rId41"/>
    <p:sldId id="501" r:id="rId42"/>
    <p:sldId id="502" r:id="rId43"/>
    <p:sldId id="573" r:id="rId44"/>
    <p:sldId id="504" r:id="rId45"/>
    <p:sldId id="574" r:id="rId46"/>
    <p:sldId id="556" r:id="rId47"/>
    <p:sldId id="506" r:id="rId48"/>
    <p:sldId id="444" r:id="rId50"/>
  </p:sldIdLst>
  <p:sldSz cx="12192000" cy="6858000"/>
  <p:notesSz cx="6858000" cy="9144000"/>
  <p:custDataLst>
    <p:tags r:id="rId5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C00000"/>
    <a:srgbClr val="2E75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6405"/>
  </p:normalViewPr>
  <p:slideViewPr>
    <p:cSldViewPr snapToGrid="0" snapToObjects="1" showGuides="1">
      <p:cViewPr>
        <p:scale>
          <a:sx n="100" d="100"/>
          <a:sy n="100" d="100"/>
        </p:scale>
        <p:origin x="108" y="276"/>
      </p:cViewPr>
      <p:guideLst>
        <p:guide orient="horz" pos="2160"/>
        <p:guide pos="377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tags" Target="tags/tag23.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notesMaster" Target="notesMasters/notesMaster1.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94D124A-47EA-4CC2-8E30-4628B2346F4C}" type="doc">
      <dgm:prSet loTypeId="urn:microsoft.com/office/officeart/2005/8/layout/orgChart1#1" loCatId="hierarchy" qsTypeId="urn:microsoft.com/office/officeart/2005/8/quickstyle/simple1#1" qsCatId="simple" csTypeId="urn:microsoft.com/office/officeart/2005/8/colors/accent1_2#1" csCatId="accent1" phldr="1"/>
      <dgm:spPr/>
      <dgm:t>
        <a:bodyPr/>
        <a:lstStyle/>
        <a:p>
          <a:endParaRPr lang="zh-CN" altLang="en-US"/>
        </a:p>
      </dgm:t>
    </dgm:pt>
    <dgm:pt modelId="{D8D1C191-028A-4045-BEDB-27EB6FE8F556}">
      <dgm:prSet phldrT="[文本]" custT="1"/>
      <dgm:spPr>
        <a:solidFill>
          <a:schemeClr val="accent1">
            <a:lumMod val="20000"/>
            <a:lumOff val="80000"/>
          </a:schemeClr>
        </a:solidFill>
      </dgm:spPr>
      <dgm:t>
        <a:bodyPr/>
        <a:lstStyle/>
        <a:p>
          <a:pPr>
            <a:buClrTx/>
            <a:buSzTx/>
            <a:buFontTx/>
            <a:buNone/>
          </a:pPr>
          <a:r>
            <a:rPr lang="zh-CN" altLang="en-US" sz="1800" b="0" dirty="0">
              <a:solidFill>
                <a:srgbClr val="002060"/>
              </a:solidFill>
              <a:effectLst/>
              <a:latin typeface="微软雅黑" panose="020B0503020204020204" pitchFamily="34" charset="-122"/>
              <a:ea typeface="微软雅黑" panose="020B0503020204020204" pitchFamily="34" charset="-122"/>
              <a:cs typeface="+mn-cs"/>
            </a:rPr>
            <a:t>线性方法</a:t>
          </a:r>
          <a:endParaRPr lang="zh-CN" altLang="en-US" sz="1800" dirty="0">
            <a:solidFill>
              <a:srgbClr val="002060"/>
            </a:solidFill>
          </a:endParaRPr>
        </a:p>
      </dgm:t>
    </dgm:pt>
    <dgm:pt modelId="{17B8BF3E-237E-4A3B-9D8F-C957D116A135}" cxnId="{61B7DBCE-6EFE-4B3E-A048-199A8052D43B}" type="parTrans">
      <dgm:prSet/>
      <dgm:spPr/>
      <dgm:t>
        <a:bodyPr/>
        <a:lstStyle/>
        <a:p>
          <a:endParaRPr lang="zh-CN" altLang="en-US" sz="1600"/>
        </a:p>
      </dgm:t>
    </dgm:pt>
    <dgm:pt modelId="{52A73B19-FC72-41B8-B622-80A295A4A420}" cxnId="{61B7DBCE-6EFE-4B3E-A048-199A8052D43B}" type="sibTrans">
      <dgm:prSet/>
      <dgm:spPr/>
      <dgm:t>
        <a:bodyPr/>
        <a:lstStyle/>
        <a:p>
          <a:endParaRPr lang="zh-CN" altLang="en-US" sz="1600"/>
        </a:p>
      </dgm:t>
    </dgm:pt>
    <dgm:pt modelId="{E1BCE32A-1762-40E4-8199-D736F1D95DB8}">
      <dgm:prSet phldrT="[文本]" custT="1"/>
      <dgm:spPr>
        <a:solidFill>
          <a:schemeClr val="accent1">
            <a:lumMod val="20000"/>
            <a:lumOff val="80000"/>
          </a:schemeClr>
        </a:solidFill>
      </dgm:spPr>
      <dgm:t>
        <a:bodyPr/>
        <a:lstStyle/>
        <a:p>
          <a:r>
            <a:rPr lang="zh-CN" altLang="en-US" sz="1600" b="0" dirty="0">
              <a:solidFill>
                <a:schemeClr val="tx1"/>
              </a:solidFill>
              <a:effectLst/>
              <a:latin typeface="微软雅黑" panose="020B0503020204020204" pitchFamily="34" charset="-122"/>
              <a:ea typeface="微软雅黑" panose="020B0503020204020204" pitchFamily="34" charset="-122"/>
              <a:cs typeface="+mn-cs"/>
            </a:rPr>
            <a:t>主成分分析</a:t>
          </a:r>
          <a:endParaRPr lang="zh-CN" altLang="en-US" sz="1600" dirty="0"/>
        </a:p>
      </dgm:t>
    </dgm:pt>
    <dgm:pt modelId="{25448E2A-F115-4921-A8D0-D1FDF9128E55}" cxnId="{574527CD-3422-4B04-A9E2-18FD7E3DB720}" type="parTrans">
      <dgm:prSet/>
      <dgm:spPr>
        <a:ln>
          <a:solidFill>
            <a:schemeClr val="accent5"/>
          </a:solidFill>
        </a:ln>
      </dgm:spPr>
      <dgm:t>
        <a:bodyPr/>
        <a:lstStyle/>
        <a:p>
          <a:endParaRPr lang="zh-CN" altLang="en-US" sz="1600"/>
        </a:p>
      </dgm:t>
    </dgm:pt>
    <dgm:pt modelId="{03100871-20D5-474A-8AB6-8C13945A2062}" cxnId="{574527CD-3422-4B04-A9E2-18FD7E3DB720}" type="sibTrans">
      <dgm:prSet/>
      <dgm:spPr/>
      <dgm:t>
        <a:bodyPr/>
        <a:lstStyle/>
        <a:p>
          <a:endParaRPr lang="zh-CN" altLang="en-US" sz="1600"/>
        </a:p>
      </dgm:t>
    </dgm:pt>
    <dgm:pt modelId="{E6CB9947-2109-4703-81C1-DB90E297E1D0}">
      <dgm:prSet phldrT="[文本]" custT="1"/>
      <dgm:spPr>
        <a:solidFill>
          <a:schemeClr val="accent1">
            <a:lumMod val="20000"/>
            <a:lumOff val="80000"/>
          </a:schemeClr>
        </a:solidFill>
      </dgm:spPr>
      <dgm:t>
        <a:bodyPr/>
        <a:lstStyle/>
        <a:p>
          <a:r>
            <a:rPr lang="zh-CN" altLang="en-US" sz="1600" b="0" dirty="0">
              <a:solidFill>
                <a:schemeClr val="tx1"/>
              </a:solidFill>
              <a:effectLst/>
              <a:latin typeface="微软雅黑" panose="020B0503020204020204" pitchFamily="34" charset="-122"/>
              <a:ea typeface="微软雅黑" panose="020B0503020204020204" pitchFamily="34" charset="-122"/>
              <a:cs typeface="+mn-cs"/>
            </a:rPr>
            <a:t>独立成分分析</a:t>
          </a:r>
          <a:endParaRPr lang="zh-CN" altLang="en-US" sz="1600" dirty="0"/>
        </a:p>
      </dgm:t>
    </dgm:pt>
    <dgm:pt modelId="{AB4BC875-1964-4AA6-9384-76FE705E61E6}" cxnId="{5ECDCED6-8FC8-4B6B-8665-4CE80C2EF92A}" type="parTrans">
      <dgm:prSet/>
      <dgm:spPr>
        <a:ln>
          <a:solidFill>
            <a:schemeClr val="accent5"/>
          </a:solidFill>
        </a:ln>
      </dgm:spPr>
      <dgm:t>
        <a:bodyPr/>
        <a:lstStyle/>
        <a:p>
          <a:endParaRPr lang="zh-CN" altLang="en-US" sz="1600"/>
        </a:p>
      </dgm:t>
    </dgm:pt>
    <dgm:pt modelId="{F8BA4E11-96DC-4868-94F9-E2970C887B14}" cxnId="{5ECDCED6-8FC8-4B6B-8665-4CE80C2EF92A}" type="sibTrans">
      <dgm:prSet/>
      <dgm:spPr/>
      <dgm:t>
        <a:bodyPr/>
        <a:lstStyle/>
        <a:p>
          <a:endParaRPr lang="zh-CN" altLang="en-US" sz="1600"/>
        </a:p>
      </dgm:t>
    </dgm:pt>
    <dgm:pt modelId="{16A6E68A-A9D9-4890-8D10-E8928C218A0B}">
      <dgm:prSet phldrT="[文本]" phldr="0" custT="1"/>
      <dgm:spPr>
        <a:solidFill>
          <a:schemeClr val="accent1">
            <a:lumMod val="20000"/>
            <a:lumOff val="80000"/>
          </a:schemeClr>
        </a:solidFill>
      </dgm:spPr>
      <dgm:t>
        <a:bodyPr vert="horz" wrap="square"/>
        <a:p>
          <a:pPr>
            <a:lnSpc>
              <a:spcPct val="100000"/>
            </a:lnSpc>
            <a:spcBef>
              <a:spcPct val="0"/>
            </a:spcBef>
            <a:spcAft>
              <a:spcPct val="35000"/>
            </a:spcAft>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多维尺度变换</a:t>
          </a:r>
          <a:r>
            <a:rPr lang="en-US" altLang="zh-CN" sz="1600" b="0" dirty="0">
              <a:solidFill>
                <a:schemeClr val="tx1"/>
              </a:solidFill>
              <a:effectLst/>
              <a:latin typeface="微软雅黑" panose="020B0503020204020204" pitchFamily="34" charset="-122"/>
              <a:ea typeface="微软雅黑" panose="020B0503020204020204" pitchFamily="34" charset="-122"/>
              <a:cs typeface="+mn-cs"/>
            </a:rPr>
            <a:t/>
          </a:r>
          <a:endParaRPr lang="en-US" altLang="zh-CN" sz="1600" b="0" dirty="0">
            <a:solidFill>
              <a:schemeClr val="tx1"/>
            </a:solidFill>
            <a:effectLst/>
            <a:latin typeface="微软雅黑" panose="020B0503020204020204" pitchFamily="34" charset="-122"/>
            <a:ea typeface="微软雅黑" panose="020B0503020204020204" pitchFamily="34" charset="-122"/>
            <a:cs typeface="+mn-cs"/>
          </a:endParaRPr>
        </a:p>
      </dgm:t>
    </dgm:pt>
    <dgm:pt modelId="{8B4134DD-D8E1-4546-A017-D86C188448D6}" cxnId="{1FF3AE53-1FCA-4D6C-9030-B0F7C07DBC6F}" type="parTrans">
      <dgm:prSet/>
      <dgm:spPr>
        <a:ln>
          <a:solidFill>
            <a:schemeClr val="accent5"/>
          </a:solidFill>
        </a:ln>
      </dgm:spPr>
      <dgm:t>
        <a:bodyPr/>
        <a:lstStyle/>
        <a:p>
          <a:endParaRPr lang="zh-CN" altLang="en-US" sz="1600"/>
        </a:p>
      </dgm:t>
    </dgm:pt>
    <dgm:pt modelId="{B5313F50-9962-4A97-A1CA-28F3D4EDBCEE}" cxnId="{1FF3AE53-1FCA-4D6C-9030-B0F7C07DBC6F}" type="sibTrans">
      <dgm:prSet/>
      <dgm:spPr/>
      <dgm:t>
        <a:bodyPr/>
        <a:lstStyle/>
        <a:p>
          <a:endParaRPr lang="zh-CN" altLang="en-US" sz="1600"/>
        </a:p>
      </dgm:t>
    </dgm:pt>
    <dgm:pt modelId="{AF5BC33B-0839-4236-8604-E7AB36436806}" type="pres">
      <dgm:prSet presAssocID="{194D124A-47EA-4CC2-8E30-4628B2346F4C}" presName="hierChild1" presStyleCnt="0">
        <dgm:presLayoutVars>
          <dgm:orgChart val="1"/>
          <dgm:chPref val="1"/>
          <dgm:dir/>
          <dgm:animOne val="branch"/>
          <dgm:animLvl val="lvl"/>
          <dgm:resizeHandles/>
        </dgm:presLayoutVars>
      </dgm:prSet>
      <dgm:spPr/>
    </dgm:pt>
    <dgm:pt modelId="{00CA9698-0026-43E9-8687-C649FBED0DE4}" type="pres">
      <dgm:prSet presAssocID="{D8D1C191-028A-4045-BEDB-27EB6FE8F556}" presName="hierRoot1" presStyleCnt="0">
        <dgm:presLayoutVars>
          <dgm:hierBranch val="init"/>
        </dgm:presLayoutVars>
      </dgm:prSet>
      <dgm:spPr/>
    </dgm:pt>
    <dgm:pt modelId="{8DDAD50A-3477-4553-9FE7-E54D81BA8F26}" type="pres">
      <dgm:prSet presAssocID="{D8D1C191-028A-4045-BEDB-27EB6FE8F556}" presName="rootComposite1" presStyleCnt="0"/>
      <dgm:spPr/>
    </dgm:pt>
    <dgm:pt modelId="{A1B414B1-B1A1-4B25-B77C-E916AB074E1A}" type="pres">
      <dgm:prSet presAssocID="{D8D1C191-028A-4045-BEDB-27EB6FE8F556}" presName="rootText1" presStyleLbl="node0" presStyleIdx="0" presStyleCnt="1" custScaleX="140414" custScaleY="110123" custLinFactNeighborX="-3413" custLinFactNeighborY="-6844">
        <dgm:presLayoutVars>
          <dgm:chPref val="3"/>
        </dgm:presLayoutVars>
      </dgm:prSet>
      <dgm:spPr/>
    </dgm:pt>
    <dgm:pt modelId="{C622A05B-3925-4A2F-8901-231F6C748A31}" type="pres">
      <dgm:prSet presAssocID="{D8D1C191-028A-4045-BEDB-27EB6FE8F556}" presName="rootConnector1" presStyleCnt="0"/>
      <dgm:spPr/>
    </dgm:pt>
    <dgm:pt modelId="{C11BF8CD-E2AE-4433-A4F9-5A78240D1578}" type="pres">
      <dgm:prSet presAssocID="{D8D1C191-028A-4045-BEDB-27EB6FE8F556}" presName="hierChild2" presStyleCnt="0"/>
      <dgm:spPr/>
    </dgm:pt>
    <dgm:pt modelId="{E660ADB4-5123-458F-BB78-690882E87294}" type="pres">
      <dgm:prSet presAssocID="{25448E2A-F115-4921-A8D0-D1FDF9128E55}" presName="Name37" presStyleLbl="parChTrans1D2" presStyleIdx="0" presStyleCnt="3"/>
      <dgm:spPr/>
    </dgm:pt>
    <dgm:pt modelId="{7A9A7ABF-7716-41C0-AF5A-89EDE9E6C477}" type="pres">
      <dgm:prSet presAssocID="{E1BCE32A-1762-40E4-8199-D736F1D95DB8}" presName="hierRoot2" presStyleCnt="0">
        <dgm:presLayoutVars>
          <dgm:hierBranch val="init"/>
        </dgm:presLayoutVars>
      </dgm:prSet>
      <dgm:spPr/>
    </dgm:pt>
    <dgm:pt modelId="{B164624E-472C-41F7-927F-DA7818438509}" type="pres">
      <dgm:prSet presAssocID="{E1BCE32A-1762-40E4-8199-D736F1D95DB8}" presName="rootComposite" presStyleCnt="0"/>
      <dgm:spPr/>
    </dgm:pt>
    <dgm:pt modelId="{9C7F65E3-9EB5-46D1-8434-052A03E27B7D}" type="pres">
      <dgm:prSet presAssocID="{E1BCE32A-1762-40E4-8199-D736F1D95DB8}" presName="rootText" presStyleLbl="node2" presStyleIdx="0" presStyleCnt="3" custScaleX="157851" custScaleY="110123">
        <dgm:presLayoutVars>
          <dgm:chPref val="3"/>
        </dgm:presLayoutVars>
      </dgm:prSet>
      <dgm:spPr/>
    </dgm:pt>
    <dgm:pt modelId="{BAC82406-E5A2-4F50-BA14-1EEE4C268B6A}" type="pres">
      <dgm:prSet presAssocID="{E1BCE32A-1762-40E4-8199-D736F1D95DB8}" presName="rootConnector" presStyleCnt="0"/>
      <dgm:spPr/>
    </dgm:pt>
    <dgm:pt modelId="{C464D637-1A42-4BC3-8A18-43612949B1C9}" type="pres">
      <dgm:prSet presAssocID="{E1BCE32A-1762-40E4-8199-D736F1D95DB8}" presName="hierChild4" presStyleCnt="0"/>
      <dgm:spPr/>
    </dgm:pt>
    <dgm:pt modelId="{E8E7507A-6CF3-4F25-B5C2-1B625962E4C0}" type="pres">
      <dgm:prSet presAssocID="{E1BCE32A-1762-40E4-8199-D736F1D95DB8}" presName="hierChild5" presStyleCnt="0"/>
      <dgm:spPr/>
    </dgm:pt>
    <dgm:pt modelId="{5450D59B-3144-4BCF-809C-42F58CC25390}" type="pres">
      <dgm:prSet presAssocID="{AB4BC875-1964-4AA6-9384-76FE705E61E6}" presName="Name37" presStyleLbl="parChTrans1D2" presStyleIdx="1" presStyleCnt="3"/>
      <dgm:spPr/>
    </dgm:pt>
    <dgm:pt modelId="{03A73876-0503-4D63-A8F4-29F108F66D96}" type="pres">
      <dgm:prSet presAssocID="{E6CB9947-2109-4703-81C1-DB90E297E1D0}" presName="hierRoot2" presStyleCnt="0">
        <dgm:presLayoutVars>
          <dgm:hierBranch val="init"/>
        </dgm:presLayoutVars>
      </dgm:prSet>
      <dgm:spPr/>
    </dgm:pt>
    <dgm:pt modelId="{2B2AFFB8-159F-42E5-87AA-25E55C90BC04}" type="pres">
      <dgm:prSet presAssocID="{E6CB9947-2109-4703-81C1-DB90E297E1D0}" presName="rootComposite" presStyleCnt="0"/>
      <dgm:spPr/>
    </dgm:pt>
    <dgm:pt modelId="{37C55316-295B-46D2-B0C6-3B837EBF849D}" type="pres">
      <dgm:prSet presAssocID="{E6CB9947-2109-4703-81C1-DB90E297E1D0}" presName="rootText" presStyleLbl="node2" presStyleIdx="1" presStyleCnt="3" custScaleX="140819" custScaleY="110123">
        <dgm:presLayoutVars>
          <dgm:chPref val="3"/>
        </dgm:presLayoutVars>
      </dgm:prSet>
      <dgm:spPr/>
    </dgm:pt>
    <dgm:pt modelId="{1E009E5E-0B12-4930-927D-AC70C0E1F41A}" type="pres">
      <dgm:prSet presAssocID="{E6CB9947-2109-4703-81C1-DB90E297E1D0}" presName="rootConnector" presStyleCnt="0"/>
      <dgm:spPr/>
    </dgm:pt>
    <dgm:pt modelId="{E4328A08-46CE-4D53-9A04-CC15D9E08A0D}" type="pres">
      <dgm:prSet presAssocID="{E6CB9947-2109-4703-81C1-DB90E297E1D0}" presName="hierChild4" presStyleCnt="0"/>
      <dgm:spPr/>
    </dgm:pt>
    <dgm:pt modelId="{FDD3FE94-6CCC-4466-A340-98DE0D05B9D1}" type="pres">
      <dgm:prSet presAssocID="{E6CB9947-2109-4703-81C1-DB90E297E1D0}" presName="hierChild5" presStyleCnt="0"/>
      <dgm:spPr/>
    </dgm:pt>
    <dgm:pt modelId="{E57CAD0D-A147-4E8E-96BB-00626A103B20}" type="pres">
      <dgm:prSet presAssocID="{8B4134DD-D8E1-4546-A017-D86C188448D6}" presName="Name37" presStyleLbl="parChTrans1D2" presStyleIdx="2" presStyleCnt="3"/>
      <dgm:spPr/>
    </dgm:pt>
    <dgm:pt modelId="{2682BEEE-651E-47FA-9C20-B7D98AA09DF5}" type="pres">
      <dgm:prSet presAssocID="{16A6E68A-A9D9-4890-8D10-E8928C218A0B}" presName="hierRoot2" presStyleCnt="0">
        <dgm:presLayoutVars>
          <dgm:hierBranch val="init"/>
        </dgm:presLayoutVars>
      </dgm:prSet>
      <dgm:spPr/>
    </dgm:pt>
    <dgm:pt modelId="{7D1C390D-FF01-42EE-8412-03CC29A1B140}" type="pres">
      <dgm:prSet presAssocID="{16A6E68A-A9D9-4890-8D10-E8928C218A0B}" presName="rootComposite" presStyleCnt="0"/>
      <dgm:spPr/>
    </dgm:pt>
    <dgm:pt modelId="{35A9666D-423E-4B20-A35F-EAF484B4A4C4}" type="pres">
      <dgm:prSet presAssocID="{16A6E68A-A9D9-4890-8D10-E8928C218A0B}" presName="rootText" presStyleLbl="node2" presStyleIdx="2" presStyleCnt="3" custScaleX="142459" custScaleY="110123">
        <dgm:presLayoutVars>
          <dgm:chPref val="3"/>
        </dgm:presLayoutVars>
      </dgm:prSet>
      <dgm:spPr/>
    </dgm:pt>
    <dgm:pt modelId="{E315CB68-C85E-44D5-B5AB-F3C33EA511A6}" type="pres">
      <dgm:prSet presAssocID="{16A6E68A-A9D9-4890-8D10-E8928C218A0B}" presName="rootConnector" presStyleCnt="0"/>
      <dgm:spPr/>
    </dgm:pt>
    <dgm:pt modelId="{B5AD8F48-31E4-42AB-8149-1DD844774F33}" type="pres">
      <dgm:prSet presAssocID="{16A6E68A-A9D9-4890-8D10-E8928C218A0B}" presName="hierChild4" presStyleCnt="0"/>
      <dgm:spPr/>
    </dgm:pt>
    <dgm:pt modelId="{35558D8B-0BBB-4128-820B-959A0699E42A}" type="pres">
      <dgm:prSet presAssocID="{16A6E68A-A9D9-4890-8D10-E8928C218A0B}" presName="hierChild5" presStyleCnt="0"/>
      <dgm:spPr/>
    </dgm:pt>
    <dgm:pt modelId="{0DFF7662-DD05-4565-859E-FDA005DA64D7}" type="pres">
      <dgm:prSet presAssocID="{D8D1C191-028A-4045-BEDB-27EB6FE8F556}" presName="hierChild3" presStyleCnt="0"/>
      <dgm:spPr/>
    </dgm:pt>
  </dgm:ptLst>
  <dgm:cxnLst>
    <dgm:cxn modelId="{61B7DBCE-6EFE-4B3E-A048-199A8052D43B}" srcId="{194D124A-47EA-4CC2-8E30-4628B2346F4C}" destId="{D8D1C191-028A-4045-BEDB-27EB6FE8F556}" srcOrd="0" destOrd="0" parTransId="{17B8BF3E-237E-4A3B-9D8F-C957D116A135}" sibTransId="{52A73B19-FC72-41B8-B622-80A295A4A420}"/>
    <dgm:cxn modelId="{574527CD-3422-4B04-A9E2-18FD7E3DB720}" srcId="{D8D1C191-028A-4045-BEDB-27EB6FE8F556}" destId="{E1BCE32A-1762-40E4-8199-D736F1D95DB8}" srcOrd="0" destOrd="0" parTransId="{25448E2A-F115-4921-A8D0-D1FDF9128E55}" sibTransId="{03100871-20D5-474A-8AB6-8C13945A2062}"/>
    <dgm:cxn modelId="{5ECDCED6-8FC8-4B6B-8665-4CE80C2EF92A}" srcId="{D8D1C191-028A-4045-BEDB-27EB6FE8F556}" destId="{E6CB9947-2109-4703-81C1-DB90E297E1D0}" srcOrd="1" destOrd="0" parTransId="{AB4BC875-1964-4AA6-9384-76FE705E61E6}" sibTransId="{F8BA4E11-96DC-4868-94F9-E2970C887B14}"/>
    <dgm:cxn modelId="{1FF3AE53-1FCA-4D6C-9030-B0F7C07DBC6F}" srcId="{D8D1C191-028A-4045-BEDB-27EB6FE8F556}" destId="{16A6E68A-A9D9-4890-8D10-E8928C218A0B}" srcOrd="2" destOrd="0" parTransId="{8B4134DD-D8E1-4546-A017-D86C188448D6}" sibTransId="{B5313F50-9962-4A97-A1CA-28F3D4EDBCEE}"/>
    <dgm:cxn modelId="{0984EC56-CA24-4644-A2A1-03C82D9ABF73}" type="presOf" srcId="{194D124A-47EA-4CC2-8E30-4628B2346F4C}" destId="{AF5BC33B-0839-4236-8604-E7AB36436806}" srcOrd="0" destOrd="0" presId="urn:microsoft.com/office/officeart/2005/8/layout/orgChart1#1"/>
    <dgm:cxn modelId="{CA56AA1C-1442-4886-A123-FAF6783BA301}" type="presParOf" srcId="{AF5BC33B-0839-4236-8604-E7AB36436806}" destId="{00CA9698-0026-43E9-8687-C649FBED0DE4}" srcOrd="0" destOrd="0" presId="urn:microsoft.com/office/officeart/2005/8/layout/orgChart1#1"/>
    <dgm:cxn modelId="{2FCBEA28-CF8C-43F0-B34F-35D3B0F7D933}" type="presParOf" srcId="{00CA9698-0026-43E9-8687-C649FBED0DE4}" destId="{8DDAD50A-3477-4553-9FE7-E54D81BA8F26}" srcOrd="0" destOrd="0" presId="urn:microsoft.com/office/officeart/2005/8/layout/orgChart1#1"/>
    <dgm:cxn modelId="{F74516FA-7E7F-456B-AE41-7F54D477E686}" type="presOf" srcId="{D8D1C191-028A-4045-BEDB-27EB6FE8F556}" destId="{8DDAD50A-3477-4553-9FE7-E54D81BA8F26}" srcOrd="0" destOrd="0" presId="urn:microsoft.com/office/officeart/2005/8/layout/orgChart1#1"/>
    <dgm:cxn modelId="{682476B0-E65F-4954-A10F-F45CA1DB3649}" type="presParOf" srcId="{8DDAD50A-3477-4553-9FE7-E54D81BA8F26}" destId="{A1B414B1-B1A1-4B25-B77C-E916AB074E1A}" srcOrd="0" destOrd="0" presId="urn:microsoft.com/office/officeart/2005/8/layout/orgChart1#1"/>
    <dgm:cxn modelId="{326BA8B6-71E2-49CF-8140-D6CB92AF0F86}" type="presOf" srcId="{D8D1C191-028A-4045-BEDB-27EB6FE8F556}" destId="{A1B414B1-B1A1-4B25-B77C-E916AB074E1A}" srcOrd="0" destOrd="0" presId="urn:microsoft.com/office/officeart/2005/8/layout/orgChart1#1"/>
    <dgm:cxn modelId="{776EC9BA-335D-49E3-8862-BCD918C6FB30}" type="presParOf" srcId="{8DDAD50A-3477-4553-9FE7-E54D81BA8F26}" destId="{C622A05B-3925-4A2F-8901-231F6C748A31}" srcOrd="1" destOrd="0" presId="urn:microsoft.com/office/officeart/2005/8/layout/orgChart1#1"/>
    <dgm:cxn modelId="{020FBC37-9756-44FE-B19C-CAD8938F1ADC}" type="presOf" srcId="{D8D1C191-028A-4045-BEDB-27EB6FE8F556}" destId="{C622A05B-3925-4A2F-8901-231F6C748A31}" srcOrd="0" destOrd="0" presId="urn:microsoft.com/office/officeart/2005/8/layout/orgChart1#1"/>
    <dgm:cxn modelId="{6DC3446E-2FCB-4FDD-9D2C-12F4CF3586C9}" type="presParOf" srcId="{00CA9698-0026-43E9-8687-C649FBED0DE4}" destId="{C11BF8CD-E2AE-4433-A4F9-5A78240D1578}" srcOrd="1" destOrd="0" presId="urn:microsoft.com/office/officeart/2005/8/layout/orgChart1#1"/>
    <dgm:cxn modelId="{DAE61D7B-10F9-4022-A2AC-D128A7338FAC}" type="presParOf" srcId="{C11BF8CD-E2AE-4433-A4F9-5A78240D1578}" destId="{E660ADB4-5123-458F-BB78-690882E87294}" srcOrd="0" destOrd="1" presId="urn:microsoft.com/office/officeart/2005/8/layout/orgChart1#1"/>
    <dgm:cxn modelId="{4585E7BF-0765-4710-A4AB-5D86B96EE46F}" type="presOf" srcId="{25448E2A-F115-4921-A8D0-D1FDF9128E55}" destId="{E660ADB4-5123-458F-BB78-690882E87294}" srcOrd="0" destOrd="0" presId="urn:microsoft.com/office/officeart/2005/8/layout/orgChart1#1"/>
    <dgm:cxn modelId="{13D353E2-BAC1-4232-B8A3-D4A91BA6E2A5}" type="presParOf" srcId="{C11BF8CD-E2AE-4433-A4F9-5A78240D1578}" destId="{7A9A7ABF-7716-41C0-AF5A-89EDE9E6C477}" srcOrd="1" destOrd="1" presId="urn:microsoft.com/office/officeart/2005/8/layout/orgChart1#1"/>
    <dgm:cxn modelId="{BDA98AF1-9DDD-4541-AC14-856D59F5CC1B}" type="presParOf" srcId="{7A9A7ABF-7716-41C0-AF5A-89EDE9E6C477}" destId="{B164624E-472C-41F7-927F-DA7818438509}" srcOrd="0" destOrd="1" presId="urn:microsoft.com/office/officeart/2005/8/layout/orgChart1#1"/>
    <dgm:cxn modelId="{D8AA541A-3F1A-48C1-BCB9-B96866E30D28}" type="presOf" srcId="{E1BCE32A-1762-40E4-8199-D736F1D95DB8}" destId="{B164624E-472C-41F7-927F-DA7818438509}" srcOrd="0" destOrd="0" presId="urn:microsoft.com/office/officeart/2005/8/layout/orgChart1#1"/>
    <dgm:cxn modelId="{C29B8E70-0D61-450F-9AB8-11D380956855}" type="presParOf" srcId="{B164624E-472C-41F7-927F-DA7818438509}" destId="{9C7F65E3-9EB5-46D1-8434-052A03E27B7D}" srcOrd="0" destOrd="0" presId="urn:microsoft.com/office/officeart/2005/8/layout/orgChart1#1"/>
    <dgm:cxn modelId="{B738CC75-400F-4D36-91C2-7D3CC7782E8B}" type="presOf" srcId="{E1BCE32A-1762-40E4-8199-D736F1D95DB8}" destId="{9C7F65E3-9EB5-46D1-8434-052A03E27B7D}" srcOrd="0" destOrd="0" presId="urn:microsoft.com/office/officeart/2005/8/layout/orgChart1#1"/>
    <dgm:cxn modelId="{E3C9B7A0-7D28-429C-85FE-FAC139B21485}" type="presParOf" srcId="{B164624E-472C-41F7-927F-DA7818438509}" destId="{BAC82406-E5A2-4F50-BA14-1EEE4C268B6A}" srcOrd="1" destOrd="0" presId="urn:microsoft.com/office/officeart/2005/8/layout/orgChart1#1"/>
    <dgm:cxn modelId="{2DFDE522-7DE4-43CE-9A15-E784B1C669E1}" type="presOf" srcId="{E1BCE32A-1762-40E4-8199-D736F1D95DB8}" destId="{BAC82406-E5A2-4F50-BA14-1EEE4C268B6A}" srcOrd="0" destOrd="0" presId="urn:microsoft.com/office/officeart/2005/8/layout/orgChart1#1"/>
    <dgm:cxn modelId="{A6E41527-DF78-4CDF-8D00-18431E9CE7AF}" type="presParOf" srcId="{7A9A7ABF-7716-41C0-AF5A-89EDE9E6C477}" destId="{C464D637-1A42-4BC3-8A18-43612949B1C9}" srcOrd="1" destOrd="1" presId="urn:microsoft.com/office/officeart/2005/8/layout/orgChart1#1"/>
    <dgm:cxn modelId="{1B834E6B-5265-42FB-B80C-DAA632678289}" type="presParOf" srcId="{7A9A7ABF-7716-41C0-AF5A-89EDE9E6C477}" destId="{E8E7507A-6CF3-4F25-B5C2-1B625962E4C0}" srcOrd="2" destOrd="1" presId="urn:microsoft.com/office/officeart/2005/8/layout/orgChart1#1"/>
    <dgm:cxn modelId="{50B9F305-61DE-422D-A21B-617E9C51AD60}" type="presParOf" srcId="{C11BF8CD-E2AE-4433-A4F9-5A78240D1578}" destId="{5450D59B-3144-4BCF-809C-42F58CC25390}" srcOrd="2" destOrd="1" presId="urn:microsoft.com/office/officeart/2005/8/layout/orgChart1#1"/>
    <dgm:cxn modelId="{9A2712B2-C877-48C6-ABC0-5AB86579BC82}" type="presOf" srcId="{AB4BC875-1964-4AA6-9384-76FE705E61E6}" destId="{5450D59B-3144-4BCF-809C-42F58CC25390}" srcOrd="0" destOrd="0" presId="urn:microsoft.com/office/officeart/2005/8/layout/orgChart1#1"/>
    <dgm:cxn modelId="{A30F013E-7846-48F7-AD6B-D6367D895FE9}" type="presParOf" srcId="{C11BF8CD-E2AE-4433-A4F9-5A78240D1578}" destId="{03A73876-0503-4D63-A8F4-29F108F66D96}" srcOrd="3" destOrd="1" presId="urn:microsoft.com/office/officeart/2005/8/layout/orgChart1#1"/>
    <dgm:cxn modelId="{66F477DE-488D-47C7-86AB-525707BF2EAA}" type="presParOf" srcId="{03A73876-0503-4D63-A8F4-29F108F66D96}" destId="{2B2AFFB8-159F-42E5-87AA-25E55C90BC04}" srcOrd="0" destOrd="3" presId="urn:microsoft.com/office/officeart/2005/8/layout/orgChart1#1"/>
    <dgm:cxn modelId="{7F300C74-A98A-42B1-BECC-BCB0C1459587}" type="presOf" srcId="{E6CB9947-2109-4703-81C1-DB90E297E1D0}" destId="{2B2AFFB8-159F-42E5-87AA-25E55C90BC04}" srcOrd="0" destOrd="0" presId="urn:microsoft.com/office/officeart/2005/8/layout/orgChart1#1"/>
    <dgm:cxn modelId="{53981AD4-6389-454A-A33D-26440DBA89E6}" type="presParOf" srcId="{2B2AFFB8-159F-42E5-87AA-25E55C90BC04}" destId="{37C55316-295B-46D2-B0C6-3B837EBF849D}" srcOrd="0" destOrd="0" presId="urn:microsoft.com/office/officeart/2005/8/layout/orgChart1#1"/>
    <dgm:cxn modelId="{4E3C0BBF-6B30-44E2-963E-CFB11F731BDD}" type="presOf" srcId="{E6CB9947-2109-4703-81C1-DB90E297E1D0}" destId="{37C55316-295B-46D2-B0C6-3B837EBF849D}" srcOrd="0" destOrd="0" presId="urn:microsoft.com/office/officeart/2005/8/layout/orgChart1#1"/>
    <dgm:cxn modelId="{8C266C01-28E5-4757-9FFC-4E200160C134}" type="presParOf" srcId="{2B2AFFB8-159F-42E5-87AA-25E55C90BC04}" destId="{1E009E5E-0B12-4930-927D-AC70C0E1F41A}" srcOrd="1" destOrd="0" presId="urn:microsoft.com/office/officeart/2005/8/layout/orgChart1#1"/>
    <dgm:cxn modelId="{2992F79C-3792-4A8F-BBF1-707ABDAD860A}" type="presOf" srcId="{E6CB9947-2109-4703-81C1-DB90E297E1D0}" destId="{1E009E5E-0B12-4930-927D-AC70C0E1F41A}" srcOrd="0" destOrd="0" presId="urn:microsoft.com/office/officeart/2005/8/layout/orgChart1#1"/>
    <dgm:cxn modelId="{E30911CF-9E55-4196-A8C5-2C6B8F28D4FD}" type="presParOf" srcId="{03A73876-0503-4D63-A8F4-29F108F66D96}" destId="{E4328A08-46CE-4D53-9A04-CC15D9E08A0D}" srcOrd="1" destOrd="3" presId="urn:microsoft.com/office/officeart/2005/8/layout/orgChart1#1"/>
    <dgm:cxn modelId="{34049F2F-7306-4CF7-B4DA-53C92DBBF1ED}" type="presParOf" srcId="{03A73876-0503-4D63-A8F4-29F108F66D96}" destId="{FDD3FE94-6CCC-4466-A340-98DE0D05B9D1}" srcOrd="2" destOrd="3" presId="urn:microsoft.com/office/officeart/2005/8/layout/orgChart1#1"/>
    <dgm:cxn modelId="{FE9E0CFC-2EFD-452E-908A-63C68876114E}" type="presParOf" srcId="{C11BF8CD-E2AE-4433-A4F9-5A78240D1578}" destId="{E57CAD0D-A147-4E8E-96BB-00626A103B20}" srcOrd="4" destOrd="1" presId="urn:microsoft.com/office/officeart/2005/8/layout/orgChart1#1"/>
    <dgm:cxn modelId="{3B602770-899E-4D37-A7DC-CA2EA24F540C}" type="presOf" srcId="{8B4134DD-D8E1-4546-A017-D86C188448D6}" destId="{E57CAD0D-A147-4E8E-96BB-00626A103B20}" srcOrd="0" destOrd="0" presId="urn:microsoft.com/office/officeart/2005/8/layout/orgChart1#1"/>
    <dgm:cxn modelId="{92303FF8-8291-4A58-A47D-D329F385B6AC}" type="presParOf" srcId="{C11BF8CD-E2AE-4433-A4F9-5A78240D1578}" destId="{2682BEEE-651E-47FA-9C20-B7D98AA09DF5}" srcOrd="5" destOrd="1" presId="urn:microsoft.com/office/officeart/2005/8/layout/orgChart1#1"/>
    <dgm:cxn modelId="{1AF17F56-D2BA-47B7-93AE-87081D22BAD9}" type="presParOf" srcId="{2682BEEE-651E-47FA-9C20-B7D98AA09DF5}" destId="{7D1C390D-FF01-42EE-8412-03CC29A1B140}" srcOrd="0" destOrd="5" presId="urn:microsoft.com/office/officeart/2005/8/layout/orgChart1#1"/>
    <dgm:cxn modelId="{E2AF0C76-B846-411B-931D-797EEFEA0CA2}" type="presOf" srcId="{16A6E68A-A9D9-4890-8D10-E8928C218A0B}" destId="{7D1C390D-FF01-42EE-8412-03CC29A1B140}" srcOrd="0" destOrd="0" presId="urn:microsoft.com/office/officeart/2005/8/layout/orgChart1#1"/>
    <dgm:cxn modelId="{04251A5E-8C18-4532-ADE8-2BCC30381D1E}" type="presParOf" srcId="{7D1C390D-FF01-42EE-8412-03CC29A1B140}" destId="{35A9666D-423E-4B20-A35F-EAF484B4A4C4}" srcOrd="0" destOrd="0" presId="urn:microsoft.com/office/officeart/2005/8/layout/orgChart1#1"/>
    <dgm:cxn modelId="{702EC189-9447-4399-A7B4-2B993452BFD5}" type="presOf" srcId="{16A6E68A-A9D9-4890-8D10-E8928C218A0B}" destId="{35A9666D-423E-4B20-A35F-EAF484B4A4C4}" srcOrd="0" destOrd="0" presId="urn:microsoft.com/office/officeart/2005/8/layout/orgChart1#1"/>
    <dgm:cxn modelId="{0C197A90-9816-442F-92B2-AD35BDD22666}" type="presParOf" srcId="{7D1C390D-FF01-42EE-8412-03CC29A1B140}" destId="{E315CB68-C85E-44D5-B5AB-F3C33EA511A6}" srcOrd="1" destOrd="0" presId="urn:microsoft.com/office/officeart/2005/8/layout/orgChart1#1"/>
    <dgm:cxn modelId="{5FD88D2A-80FC-4921-8540-C3B066B6BA63}" type="presOf" srcId="{16A6E68A-A9D9-4890-8D10-E8928C218A0B}" destId="{E315CB68-C85E-44D5-B5AB-F3C33EA511A6}" srcOrd="0" destOrd="0" presId="urn:microsoft.com/office/officeart/2005/8/layout/orgChart1#1"/>
    <dgm:cxn modelId="{C8B252C6-F609-4334-8582-9E93EF2A1BFD}" type="presParOf" srcId="{2682BEEE-651E-47FA-9C20-B7D98AA09DF5}" destId="{B5AD8F48-31E4-42AB-8149-1DD844774F33}" srcOrd="1" destOrd="5" presId="urn:microsoft.com/office/officeart/2005/8/layout/orgChart1#1"/>
    <dgm:cxn modelId="{7EA41F5F-CCF3-4BA8-959D-F08739A2CCF5}" type="presParOf" srcId="{2682BEEE-651E-47FA-9C20-B7D98AA09DF5}" destId="{35558D8B-0BBB-4128-820B-959A0699E42A}" srcOrd="2" destOrd="5" presId="urn:microsoft.com/office/officeart/2005/8/layout/orgChart1#1"/>
    <dgm:cxn modelId="{235F4A44-2960-446D-9CBC-80DEDC01197D}" type="presParOf" srcId="{00CA9698-0026-43E9-8687-C649FBED0DE4}" destId="{0DFF7662-DD05-4565-859E-FDA005DA64D7}" srcOrd="2" destOrd="0" presId="urn:microsoft.com/office/officeart/2005/8/layout/orgChart1#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4D124A-47EA-4CC2-8E30-4628B2346F4C}" type="doc">
      <dgm:prSet loTypeId="urn:microsoft.com/office/officeart/2005/8/layout/orgChart1#1" loCatId="hierarchy" qsTypeId="urn:microsoft.com/office/officeart/2005/8/quickstyle/simple1#1" qsCatId="simple" csTypeId="urn:microsoft.com/office/officeart/2005/8/colors/accent1_2#1" csCatId="accent1" phldr="1"/>
      <dgm:spPr/>
      <dgm:t>
        <a:bodyPr/>
        <a:lstStyle/>
        <a:p>
          <a:endParaRPr lang="zh-CN" altLang="en-US"/>
        </a:p>
      </dgm:t>
    </dgm:pt>
    <dgm:pt modelId="{D8D1C191-028A-4045-BEDB-27EB6FE8F556}">
      <dgm:prSet phldrT="[文本]" custT="1"/>
      <dgm:spPr>
        <a:solidFill>
          <a:schemeClr val="accent1">
            <a:lumMod val="20000"/>
            <a:lumOff val="80000"/>
          </a:schemeClr>
        </a:solidFill>
      </dgm:spPr>
      <dgm:t>
        <a:bodyPr/>
        <a:lstStyle/>
        <a:p>
          <a:pPr>
            <a:buClrTx/>
            <a:buSzTx/>
            <a:buFontTx/>
            <a:buNone/>
          </a:pPr>
          <a:r>
            <a:rPr lang="zh-CN" altLang="en-US" sz="1800" b="0" dirty="0">
              <a:solidFill>
                <a:srgbClr val="002060"/>
              </a:solidFill>
              <a:effectLst/>
              <a:latin typeface="微软雅黑" panose="020B0503020204020204" pitchFamily="34" charset="-122"/>
              <a:ea typeface="微软雅黑" panose="020B0503020204020204" pitchFamily="34" charset="-122"/>
              <a:cs typeface="+mn-cs"/>
            </a:rPr>
            <a:t>非线性方法</a:t>
          </a:r>
          <a:endParaRPr lang="zh-CN" altLang="en-US" sz="1800" dirty="0">
            <a:solidFill>
              <a:srgbClr val="002060"/>
            </a:solidFill>
          </a:endParaRPr>
        </a:p>
      </dgm:t>
    </dgm:pt>
    <dgm:pt modelId="{17B8BF3E-237E-4A3B-9D8F-C957D116A135}" cxnId="{941CEC26-261D-41E1-A80E-CB91A6BAE4FC}" type="parTrans">
      <dgm:prSet/>
      <dgm:spPr/>
      <dgm:t>
        <a:bodyPr/>
        <a:lstStyle/>
        <a:p>
          <a:endParaRPr lang="zh-CN" altLang="en-US" sz="1600"/>
        </a:p>
      </dgm:t>
    </dgm:pt>
    <dgm:pt modelId="{52A73B19-FC72-41B8-B622-80A295A4A420}" cxnId="{941CEC26-261D-41E1-A80E-CB91A6BAE4FC}" type="sibTrans">
      <dgm:prSet/>
      <dgm:spPr/>
      <dgm:t>
        <a:bodyPr/>
        <a:lstStyle/>
        <a:p>
          <a:endParaRPr lang="zh-CN" altLang="en-US" sz="1600"/>
        </a:p>
      </dgm:t>
    </dgm:pt>
    <dgm:pt modelId="{E1BCE32A-1762-40E4-8199-D736F1D95DB8}">
      <dgm:prSet phldrT="[文本]" custT="1"/>
      <dgm:spPr>
        <a:solidFill>
          <a:schemeClr val="accent1">
            <a:lumMod val="20000"/>
            <a:lumOff val="80000"/>
          </a:schemeClr>
        </a:solidFill>
      </dgm:spPr>
      <dgm:t>
        <a:bodyPr/>
        <a:lstStyle/>
        <a:p>
          <a:r>
            <a:rPr lang="zh-CN" altLang="en-US" sz="1600" b="0" dirty="0">
              <a:solidFill>
                <a:schemeClr val="tx1"/>
              </a:solidFill>
              <a:effectLst/>
              <a:latin typeface="微软雅黑" panose="020B0503020204020204" pitchFamily="34" charset="-122"/>
              <a:ea typeface="微软雅黑" panose="020B0503020204020204" pitchFamily="34" charset="-122"/>
              <a:cs typeface="+mn-cs"/>
            </a:rPr>
            <a:t>等距映射法</a:t>
          </a:r>
          <a:endParaRPr lang="zh-CN" altLang="en-US" sz="1600" dirty="0"/>
        </a:p>
      </dgm:t>
    </dgm:pt>
    <dgm:pt modelId="{25448E2A-F115-4921-A8D0-D1FDF9128E55}" cxnId="{4A2AA37C-9739-45BA-8D23-B3AA6E2A3B70}" type="parTrans">
      <dgm:prSet/>
      <dgm:spPr>
        <a:ln>
          <a:solidFill>
            <a:schemeClr val="accent5"/>
          </a:solidFill>
        </a:ln>
      </dgm:spPr>
      <dgm:t>
        <a:bodyPr/>
        <a:lstStyle/>
        <a:p>
          <a:endParaRPr lang="zh-CN" altLang="en-US" sz="1600"/>
        </a:p>
      </dgm:t>
    </dgm:pt>
    <dgm:pt modelId="{03100871-20D5-474A-8AB6-8C13945A2062}" cxnId="{4A2AA37C-9739-45BA-8D23-B3AA6E2A3B70}" type="sibTrans">
      <dgm:prSet/>
      <dgm:spPr/>
      <dgm:t>
        <a:bodyPr/>
        <a:lstStyle/>
        <a:p>
          <a:endParaRPr lang="zh-CN" altLang="en-US" sz="1600"/>
        </a:p>
      </dgm:t>
    </dgm:pt>
    <dgm:pt modelId="{E6CB9947-2109-4703-81C1-DB90E297E1D0}">
      <dgm:prSet phldrT="[文本]" custT="1"/>
      <dgm:spPr>
        <a:solidFill>
          <a:schemeClr val="accent1">
            <a:lumMod val="20000"/>
            <a:lumOff val="80000"/>
          </a:schemeClr>
        </a:solidFill>
      </dgm:spPr>
      <dgm:t>
        <a:bodyPr/>
        <a:lstStyle/>
        <a:p>
          <a:r>
            <a:rPr lang="zh-CN" altLang="en-US" sz="1600" b="0" dirty="0">
              <a:solidFill>
                <a:schemeClr val="tx1"/>
              </a:solidFill>
              <a:effectLst/>
              <a:latin typeface="微软雅黑" panose="020B0503020204020204" pitchFamily="34" charset="-122"/>
              <a:ea typeface="微软雅黑" panose="020B0503020204020204" pitchFamily="34" charset="-122"/>
              <a:cs typeface="+mn-cs"/>
            </a:rPr>
            <a:t>局部线性嵌入法</a:t>
          </a:r>
          <a:endParaRPr lang="zh-CN" altLang="en-US" sz="1600" dirty="0"/>
        </a:p>
      </dgm:t>
    </dgm:pt>
    <dgm:pt modelId="{AB4BC875-1964-4AA6-9384-76FE705E61E6}" cxnId="{ADF0D10C-D46A-48A6-A135-363AF7190733}" type="parTrans">
      <dgm:prSet/>
      <dgm:spPr>
        <a:ln>
          <a:solidFill>
            <a:schemeClr val="accent5"/>
          </a:solidFill>
        </a:ln>
      </dgm:spPr>
      <dgm:t>
        <a:bodyPr/>
        <a:lstStyle/>
        <a:p>
          <a:endParaRPr lang="zh-CN" altLang="en-US" sz="1600"/>
        </a:p>
      </dgm:t>
    </dgm:pt>
    <dgm:pt modelId="{F8BA4E11-96DC-4868-94F9-E2970C887B14}" cxnId="{ADF0D10C-D46A-48A6-A135-363AF7190733}" type="sibTrans">
      <dgm:prSet/>
      <dgm:spPr/>
      <dgm:t>
        <a:bodyPr/>
        <a:lstStyle/>
        <a:p>
          <a:endParaRPr lang="zh-CN" altLang="en-US" sz="1600"/>
        </a:p>
      </dgm:t>
    </dgm:pt>
    <dgm:pt modelId="{AF5BC33B-0839-4236-8604-E7AB36436806}" type="pres">
      <dgm:prSet presAssocID="{194D124A-47EA-4CC2-8E30-4628B2346F4C}" presName="hierChild1" presStyleCnt="0">
        <dgm:presLayoutVars>
          <dgm:orgChart val="1"/>
          <dgm:chPref val="1"/>
          <dgm:dir/>
          <dgm:animOne val="branch"/>
          <dgm:animLvl val="lvl"/>
          <dgm:resizeHandles/>
        </dgm:presLayoutVars>
      </dgm:prSet>
      <dgm:spPr/>
    </dgm:pt>
    <dgm:pt modelId="{00CA9698-0026-43E9-8687-C649FBED0DE4}" type="pres">
      <dgm:prSet presAssocID="{D8D1C191-028A-4045-BEDB-27EB6FE8F556}" presName="hierRoot1" presStyleCnt="0">
        <dgm:presLayoutVars>
          <dgm:hierBranch val="init"/>
        </dgm:presLayoutVars>
      </dgm:prSet>
      <dgm:spPr/>
    </dgm:pt>
    <dgm:pt modelId="{8DDAD50A-3477-4553-9FE7-E54D81BA8F26}" type="pres">
      <dgm:prSet presAssocID="{D8D1C191-028A-4045-BEDB-27EB6FE8F556}" presName="rootComposite1" presStyleCnt="0"/>
      <dgm:spPr/>
    </dgm:pt>
    <dgm:pt modelId="{A1B414B1-B1A1-4B25-B77C-E916AB074E1A}" type="pres">
      <dgm:prSet presAssocID="{D8D1C191-028A-4045-BEDB-27EB6FE8F556}" presName="rootText1" presStyleLbl="node0" presStyleIdx="0" presStyleCnt="1" custScaleX="140414" custScaleY="110123">
        <dgm:presLayoutVars>
          <dgm:chPref val="3"/>
        </dgm:presLayoutVars>
      </dgm:prSet>
      <dgm:spPr/>
    </dgm:pt>
    <dgm:pt modelId="{C622A05B-3925-4A2F-8901-231F6C748A31}" type="pres">
      <dgm:prSet presAssocID="{D8D1C191-028A-4045-BEDB-27EB6FE8F556}" presName="rootConnector1" presStyleLbl="node1" presStyleIdx="0" presStyleCnt="0"/>
      <dgm:spPr/>
    </dgm:pt>
    <dgm:pt modelId="{C11BF8CD-E2AE-4433-A4F9-5A78240D1578}" type="pres">
      <dgm:prSet presAssocID="{D8D1C191-028A-4045-BEDB-27EB6FE8F556}" presName="hierChild2" presStyleCnt="0"/>
      <dgm:spPr/>
    </dgm:pt>
    <dgm:pt modelId="{E660ADB4-5123-458F-BB78-690882E87294}" type="pres">
      <dgm:prSet presAssocID="{25448E2A-F115-4921-A8D0-D1FDF9128E55}" presName="Name37" presStyleLbl="parChTrans1D2" presStyleIdx="0" presStyleCnt="2"/>
      <dgm:spPr/>
    </dgm:pt>
    <dgm:pt modelId="{7A9A7ABF-7716-41C0-AF5A-89EDE9E6C477}" type="pres">
      <dgm:prSet presAssocID="{E1BCE32A-1762-40E4-8199-D736F1D95DB8}" presName="hierRoot2" presStyleCnt="0">
        <dgm:presLayoutVars>
          <dgm:hierBranch val="init"/>
        </dgm:presLayoutVars>
      </dgm:prSet>
      <dgm:spPr/>
    </dgm:pt>
    <dgm:pt modelId="{B164624E-472C-41F7-927F-DA7818438509}" type="pres">
      <dgm:prSet presAssocID="{E1BCE32A-1762-40E4-8199-D736F1D95DB8}" presName="rootComposite" presStyleCnt="0"/>
      <dgm:spPr/>
    </dgm:pt>
    <dgm:pt modelId="{9C7F65E3-9EB5-46D1-8434-052A03E27B7D}" type="pres">
      <dgm:prSet presAssocID="{E1BCE32A-1762-40E4-8199-D736F1D95DB8}" presName="rootText" presStyleLbl="node2" presStyleIdx="0" presStyleCnt="2" custScaleX="157851" custScaleY="110123">
        <dgm:presLayoutVars>
          <dgm:chPref val="3"/>
        </dgm:presLayoutVars>
      </dgm:prSet>
      <dgm:spPr/>
    </dgm:pt>
    <dgm:pt modelId="{BAC82406-E5A2-4F50-BA14-1EEE4C268B6A}" type="pres">
      <dgm:prSet presAssocID="{E1BCE32A-1762-40E4-8199-D736F1D95DB8}" presName="rootConnector" presStyleLbl="node2" presStyleIdx="0" presStyleCnt="2"/>
      <dgm:spPr/>
    </dgm:pt>
    <dgm:pt modelId="{C464D637-1A42-4BC3-8A18-43612949B1C9}" type="pres">
      <dgm:prSet presAssocID="{E1BCE32A-1762-40E4-8199-D736F1D95DB8}" presName="hierChild4" presStyleCnt="0"/>
      <dgm:spPr/>
    </dgm:pt>
    <dgm:pt modelId="{E8E7507A-6CF3-4F25-B5C2-1B625962E4C0}" type="pres">
      <dgm:prSet presAssocID="{E1BCE32A-1762-40E4-8199-D736F1D95DB8}" presName="hierChild5" presStyleCnt="0"/>
      <dgm:spPr/>
    </dgm:pt>
    <dgm:pt modelId="{5450D59B-3144-4BCF-809C-42F58CC25390}" type="pres">
      <dgm:prSet presAssocID="{AB4BC875-1964-4AA6-9384-76FE705E61E6}" presName="Name37" presStyleLbl="parChTrans1D2" presStyleIdx="1" presStyleCnt="2"/>
      <dgm:spPr/>
    </dgm:pt>
    <dgm:pt modelId="{03A73876-0503-4D63-A8F4-29F108F66D96}" type="pres">
      <dgm:prSet presAssocID="{E6CB9947-2109-4703-81C1-DB90E297E1D0}" presName="hierRoot2" presStyleCnt="0">
        <dgm:presLayoutVars>
          <dgm:hierBranch val="init"/>
        </dgm:presLayoutVars>
      </dgm:prSet>
      <dgm:spPr/>
    </dgm:pt>
    <dgm:pt modelId="{2B2AFFB8-159F-42E5-87AA-25E55C90BC04}" type="pres">
      <dgm:prSet presAssocID="{E6CB9947-2109-4703-81C1-DB90E297E1D0}" presName="rootComposite" presStyleCnt="0"/>
      <dgm:spPr/>
    </dgm:pt>
    <dgm:pt modelId="{37C55316-295B-46D2-B0C6-3B837EBF849D}" type="pres">
      <dgm:prSet presAssocID="{E6CB9947-2109-4703-81C1-DB90E297E1D0}" presName="rootText" presStyleLbl="node2" presStyleIdx="1" presStyleCnt="2" custScaleX="140819" custScaleY="110123">
        <dgm:presLayoutVars>
          <dgm:chPref val="3"/>
        </dgm:presLayoutVars>
      </dgm:prSet>
      <dgm:spPr/>
    </dgm:pt>
    <dgm:pt modelId="{1E009E5E-0B12-4930-927D-AC70C0E1F41A}" type="pres">
      <dgm:prSet presAssocID="{E6CB9947-2109-4703-81C1-DB90E297E1D0}" presName="rootConnector" presStyleLbl="node2" presStyleIdx="1" presStyleCnt="2"/>
      <dgm:spPr/>
    </dgm:pt>
    <dgm:pt modelId="{E4328A08-46CE-4D53-9A04-CC15D9E08A0D}" type="pres">
      <dgm:prSet presAssocID="{E6CB9947-2109-4703-81C1-DB90E297E1D0}" presName="hierChild4" presStyleCnt="0"/>
      <dgm:spPr/>
    </dgm:pt>
    <dgm:pt modelId="{FDD3FE94-6CCC-4466-A340-98DE0D05B9D1}" type="pres">
      <dgm:prSet presAssocID="{E6CB9947-2109-4703-81C1-DB90E297E1D0}" presName="hierChild5" presStyleCnt="0"/>
      <dgm:spPr/>
    </dgm:pt>
    <dgm:pt modelId="{0DFF7662-DD05-4565-859E-FDA005DA64D7}" type="pres">
      <dgm:prSet presAssocID="{D8D1C191-028A-4045-BEDB-27EB6FE8F556}" presName="hierChild3" presStyleCnt="0"/>
      <dgm:spPr/>
    </dgm:pt>
  </dgm:ptLst>
  <dgm:cxnLst>
    <dgm:cxn modelId="{ADF0D10C-D46A-48A6-A135-363AF7190733}" srcId="{D8D1C191-028A-4045-BEDB-27EB6FE8F556}" destId="{E6CB9947-2109-4703-81C1-DB90E297E1D0}" srcOrd="1" destOrd="0" parTransId="{AB4BC875-1964-4AA6-9384-76FE705E61E6}" sibTransId="{F8BA4E11-96DC-4868-94F9-E2970C887B14}"/>
    <dgm:cxn modelId="{5F72D919-367A-45AC-B797-70AA742751F5}" type="presOf" srcId="{E6CB9947-2109-4703-81C1-DB90E297E1D0}" destId="{1E009E5E-0B12-4930-927D-AC70C0E1F41A}" srcOrd="1" destOrd="0" presId="urn:microsoft.com/office/officeart/2005/8/layout/orgChart1#1"/>
    <dgm:cxn modelId="{941CEC26-261D-41E1-A80E-CB91A6BAE4FC}" srcId="{194D124A-47EA-4CC2-8E30-4628B2346F4C}" destId="{D8D1C191-028A-4045-BEDB-27EB6FE8F556}" srcOrd="0" destOrd="0" parTransId="{17B8BF3E-237E-4A3B-9D8F-C957D116A135}" sibTransId="{52A73B19-FC72-41B8-B622-80A295A4A420}"/>
    <dgm:cxn modelId="{75758228-C83D-4A19-9557-11E4E0928376}" type="presOf" srcId="{E1BCE32A-1762-40E4-8199-D736F1D95DB8}" destId="{9C7F65E3-9EB5-46D1-8434-052A03E27B7D}" srcOrd="0" destOrd="0" presId="urn:microsoft.com/office/officeart/2005/8/layout/orgChart1#1"/>
    <dgm:cxn modelId="{5C63C76D-F499-4CEA-B40E-94AA62771F82}" type="presOf" srcId="{AB4BC875-1964-4AA6-9384-76FE705E61E6}" destId="{5450D59B-3144-4BCF-809C-42F58CC25390}" srcOrd="0" destOrd="0" presId="urn:microsoft.com/office/officeart/2005/8/layout/orgChart1#1"/>
    <dgm:cxn modelId="{D8A63E59-B0E2-454D-A554-9AF0E4233CDC}" type="presOf" srcId="{D8D1C191-028A-4045-BEDB-27EB6FE8F556}" destId="{A1B414B1-B1A1-4B25-B77C-E916AB074E1A}" srcOrd="0" destOrd="0" presId="urn:microsoft.com/office/officeart/2005/8/layout/orgChart1#1"/>
    <dgm:cxn modelId="{4A2AA37C-9739-45BA-8D23-B3AA6E2A3B70}" srcId="{D8D1C191-028A-4045-BEDB-27EB6FE8F556}" destId="{E1BCE32A-1762-40E4-8199-D736F1D95DB8}" srcOrd="0" destOrd="0" parTransId="{25448E2A-F115-4921-A8D0-D1FDF9128E55}" sibTransId="{03100871-20D5-474A-8AB6-8C13945A2062}"/>
    <dgm:cxn modelId="{86E55186-D3CF-4BDC-82BE-DF193F7CD81D}" type="presOf" srcId="{194D124A-47EA-4CC2-8E30-4628B2346F4C}" destId="{AF5BC33B-0839-4236-8604-E7AB36436806}" srcOrd="0" destOrd="0" presId="urn:microsoft.com/office/officeart/2005/8/layout/orgChart1#1"/>
    <dgm:cxn modelId="{D07B6396-43C3-4862-B037-5CA5619FF466}" type="presOf" srcId="{D8D1C191-028A-4045-BEDB-27EB6FE8F556}" destId="{C622A05B-3925-4A2F-8901-231F6C748A31}" srcOrd="1" destOrd="0" presId="urn:microsoft.com/office/officeart/2005/8/layout/orgChart1#1"/>
    <dgm:cxn modelId="{0F3181B4-741D-4B05-A0FD-3ADA75EB185D}" type="presOf" srcId="{E1BCE32A-1762-40E4-8199-D736F1D95DB8}" destId="{BAC82406-E5A2-4F50-BA14-1EEE4C268B6A}" srcOrd="1" destOrd="0" presId="urn:microsoft.com/office/officeart/2005/8/layout/orgChart1#1"/>
    <dgm:cxn modelId="{218125D4-035D-4197-A3F9-BA8E6FB5003B}" type="presOf" srcId="{E6CB9947-2109-4703-81C1-DB90E297E1D0}" destId="{37C55316-295B-46D2-B0C6-3B837EBF849D}" srcOrd="0" destOrd="0" presId="urn:microsoft.com/office/officeart/2005/8/layout/orgChart1#1"/>
    <dgm:cxn modelId="{EC2CF7E1-4868-440A-A64F-03CCD82FD496}" type="presOf" srcId="{25448E2A-F115-4921-A8D0-D1FDF9128E55}" destId="{E660ADB4-5123-458F-BB78-690882E87294}" srcOrd="0" destOrd="0" presId="urn:microsoft.com/office/officeart/2005/8/layout/orgChart1#1"/>
    <dgm:cxn modelId="{4BAD0149-5297-4BC6-90A3-6DD4344665DB}" type="presParOf" srcId="{AF5BC33B-0839-4236-8604-E7AB36436806}" destId="{00CA9698-0026-43E9-8687-C649FBED0DE4}" srcOrd="0" destOrd="0" presId="urn:microsoft.com/office/officeart/2005/8/layout/orgChart1#1"/>
    <dgm:cxn modelId="{93FE1E16-E43A-4A6B-B9B0-BC91B80CE123}" type="presParOf" srcId="{00CA9698-0026-43E9-8687-C649FBED0DE4}" destId="{8DDAD50A-3477-4553-9FE7-E54D81BA8F26}" srcOrd="0" destOrd="0" presId="urn:microsoft.com/office/officeart/2005/8/layout/orgChart1#1"/>
    <dgm:cxn modelId="{300243DD-B1DF-4986-9914-575120F1F0C9}" type="presParOf" srcId="{8DDAD50A-3477-4553-9FE7-E54D81BA8F26}" destId="{A1B414B1-B1A1-4B25-B77C-E916AB074E1A}" srcOrd="0" destOrd="0" presId="urn:microsoft.com/office/officeart/2005/8/layout/orgChart1#1"/>
    <dgm:cxn modelId="{30D5A342-C78F-4C5F-85D9-180706298D83}" type="presParOf" srcId="{8DDAD50A-3477-4553-9FE7-E54D81BA8F26}" destId="{C622A05B-3925-4A2F-8901-231F6C748A31}" srcOrd="1" destOrd="0" presId="urn:microsoft.com/office/officeart/2005/8/layout/orgChart1#1"/>
    <dgm:cxn modelId="{5D73DB8B-7E3F-46B6-B23B-4E2A4E34E953}" type="presParOf" srcId="{00CA9698-0026-43E9-8687-C649FBED0DE4}" destId="{C11BF8CD-E2AE-4433-A4F9-5A78240D1578}" srcOrd="1" destOrd="0" presId="urn:microsoft.com/office/officeart/2005/8/layout/orgChart1#1"/>
    <dgm:cxn modelId="{E4E8F31F-0D7B-4B07-88AF-2C2CE3E8760A}" type="presParOf" srcId="{C11BF8CD-E2AE-4433-A4F9-5A78240D1578}" destId="{E660ADB4-5123-458F-BB78-690882E87294}" srcOrd="0" destOrd="0" presId="urn:microsoft.com/office/officeart/2005/8/layout/orgChart1#1"/>
    <dgm:cxn modelId="{921480CD-A6FF-4D6C-B284-19FD5463FF2A}" type="presParOf" srcId="{C11BF8CD-E2AE-4433-A4F9-5A78240D1578}" destId="{7A9A7ABF-7716-41C0-AF5A-89EDE9E6C477}" srcOrd="1" destOrd="0" presId="urn:microsoft.com/office/officeart/2005/8/layout/orgChart1#1"/>
    <dgm:cxn modelId="{C8CC5452-AC8C-49A8-8FB7-FDACE530DBC8}" type="presParOf" srcId="{7A9A7ABF-7716-41C0-AF5A-89EDE9E6C477}" destId="{B164624E-472C-41F7-927F-DA7818438509}" srcOrd="0" destOrd="0" presId="urn:microsoft.com/office/officeart/2005/8/layout/orgChart1#1"/>
    <dgm:cxn modelId="{CF873159-5CBB-4988-AFE4-E75714933F0D}" type="presParOf" srcId="{B164624E-472C-41F7-927F-DA7818438509}" destId="{9C7F65E3-9EB5-46D1-8434-052A03E27B7D}" srcOrd="0" destOrd="0" presId="urn:microsoft.com/office/officeart/2005/8/layout/orgChart1#1"/>
    <dgm:cxn modelId="{5A0DE290-E1A5-4658-816E-09F94EE3FF19}" type="presParOf" srcId="{B164624E-472C-41F7-927F-DA7818438509}" destId="{BAC82406-E5A2-4F50-BA14-1EEE4C268B6A}" srcOrd="1" destOrd="0" presId="urn:microsoft.com/office/officeart/2005/8/layout/orgChart1#1"/>
    <dgm:cxn modelId="{475FE3E3-2620-4892-A0A0-6EC93D65EFFB}" type="presParOf" srcId="{7A9A7ABF-7716-41C0-AF5A-89EDE9E6C477}" destId="{C464D637-1A42-4BC3-8A18-43612949B1C9}" srcOrd="1" destOrd="0" presId="urn:microsoft.com/office/officeart/2005/8/layout/orgChart1#1"/>
    <dgm:cxn modelId="{483D8FF7-A5F1-4197-81D5-AC15F8BB7663}" type="presParOf" srcId="{7A9A7ABF-7716-41C0-AF5A-89EDE9E6C477}" destId="{E8E7507A-6CF3-4F25-B5C2-1B625962E4C0}" srcOrd="2" destOrd="0" presId="urn:microsoft.com/office/officeart/2005/8/layout/orgChart1#1"/>
    <dgm:cxn modelId="{657DBCF0-50F1-4E6E-BE63-28C2459BE2C1}" type="presParOf" srcId="{C11BF8CD-E2AE-4433-A4F9-5A78240D1578}" destId="{5450D59B-3144-4BCF-809C-42F58CC25390}" srcOrd="2" destOrd="0" presId="urn:microsoft.com/office/officeart/2005/8/layout/orgChart1#1"/>
    <dgm:cxn modelId="{6B22B309-B7A6-4448-80A2-BAB844ABDE21}" type="presParOf" srcId="{C11BF8CD-E2AE-4433-A4F9-5A78240D1578}" destId="{03A73876-0503-4D63-A8F4-29F108F66D96}" srcOrd="3" destOrd="0" presId="urn:microsoft.com/office/officeart/2005/8/layout/orgChart1#1"/>
    <dgm:cxn modelId="{2A3A70E9-434A-4933-8486-6D1515EB8EE8}" type="presParOf" srcId="{03A73876-0503-4D63-A8F4-29F108F66D96}" destId="{2B2AFFB8-159F-42E5-87AA-25E55C90BC04}" srcOrd="0" destOrd="0" presId="urn:microsoft.com/office/officeart/2005/8/layout/orgChart1#1"/>
    <dgm:cxn modelId="{921F617D-CDF8-4C2E-91D6-3709203D52AB}" type="presParOf" srcId="{2B2AFFB8-159F-42E5-87AA-25E55C90BC04}" destId="{37C55316-295B-46D2-B0C6-3B837EBF849D}" srcOrd="0" destOrd="0" presId="urn:microsoft.com/office/officeart/2005/8/layout/orgChart1#1"/>
    <dgm:cxn modelId="{D7F25F4A-14F3-48A9-923E-DD5F30FA6EAC}" type="presParOf" srcId="{2B2AFFB8-159F-42E5-87AA-25E55C90BC04}" destId="{1E009E5E-0B12-4930-927D-AC70C0E1F41A}" srcOrd="1" destOrd="0" presId="urn:microsoft.com/office/officeart/2005/8/layout/orgChart1#1"/>
    <dgm:cxn modelId="{0D7092CB-2B6A-4F79-9B88-CAD07FE0F3B4}" type="presParOf" srcId="{03A73876-0503-4D63-A8F4-29F108F66D96}" destId="{E4328A08-46CE-4D53-9A04-CC15D9E08A0D}" srcOrd="1" destOrd="0" presId="urn:microsoft.com/office/officeart/2005/8/layout/orgChart1#1"/>
    <dgm:cxn modelId="{104CC198-DF75-412F-BF0E-83ECD2E1549E}" type="presParOf" srcId="{03A73876-0503-4D63-A8F4-29F108F66D96}" destId="{FDD3FE94-6CCC-4466-A340-98DE0D05B9D1}" srcOrd="2" destOrd="0" presId="urn:microsoft.com/office/officeart/2005/8/layout/orgChart1#1"/>
    <dgm:cxn modelId="{4010D6A5-7BCF-4DC8-85D2-EDA5A9217363}" type="presParOf" srcId="{00CA9698-0026-43E9-8687-C649FBED0DE4}" destId="{0DFF7662-DD05-4565-859E-FDA005DA64D7}" srcOrd="2" destOrd="0" presId="urn:microsoft.com/office/officeart/2005/8/layout/orgChart1#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4D124A-47EA-4CC2-8E30-4628B2346F4C}" type="doc">
      <dgm:prSet loTypeId="urn:microsoft.com/office/officeart/2005/8/layout/orgChart1#1" loCatId="hierarchy" qsTypeId="urn:microsoft.com/office/officeart/2005/8/quickstyle/simple1#1" qsCatId="simple" csTypeId="urn:microsoft.com/office/officeart/2005/8/colors/accent1_2#1" csCatId="accent1" phldr="1"/>
      <dgm:spPr/>
      <dgm:t>
        <a:bodyPr/>
        <a:lstStyle/>
        <a:p>
          <a:endParaRPr lang="zh-CN" altLang="en-US"/>
        </a:p>
      </dgm:t>
    </dgm:pt>
    <dgm:pt modelId="{D8D1C191-028A-4045-BEDB-27EB6FE8F556}">
      <dgm:prSet phldrT="[文本]" custT="1"/>
      <dgm:spPr>
        <a:solidFill>
          <a:schemeClr val="accent1">
            <a:lumMod val="20000"/>
            <a:lumOff val="80000"/>
          </a:schemeClr>
        </a:solidFill>
      </dgm:spPr>
      <dgm:t>
        <a:bodyPr/>
        <a:lstStyle/>
        <a:p>
          <a:pPr>
            <a:buClrTx/>
            <a:buSzTx/>
            <a:buFontTx/>
            <a:buNone/>
          </a:pPr>
          <a:r>
            <a:rPr lang="zh-CN" altLang="en-US" sz="1800" b="0" dirty="0">
              <a:solidFill>
                <a:srgbClr val="002060"/>
              </a:solidFill>
              <a:effectLst/>
              <a:latin typeface="微软雅黑" panose="020B0503020204020204" pitchFamily="34" charset="-122"/>
              <a:ea typeface="微软雅黑" panose="020B0503020204020204" pitchFamily="34" charset="-122"/>
              <a:cs typeface="+mn-cs"/>
            </a:rPr>
            <a:t>定性分析方法</a:t>
          </a:r>
          <a:endParaRPr lang="zh-CN" altLang="en-US" sz="1800" dirty="0">
            <a:solidFill>
              <a:srgbClr val="002060"/>
            </a:solidFill>
          </a:endParaRPr>
        </a:p>
      </dgm:t>
    </dgm:pt>
    <dgm:pt modelId="{17B8BF3E-237E-4A3B-9D8F-C957D116A135}" cxnId="{941CEC26-261D-41E1-A80E-CB91A6BAE4FC}" type="parTrans">
      <dgm:prSet/>
      <dgm:spPr/>
      <dgm:t>
        <a:bodyPr/>
        <a:lstStyle/>
        <a:p>
          <a:endParaRPr lang="zh-CN" altLang="en-US" sz="1600"/>
        </a:p>
      </dgm:t>
    </dgm:pt>
    <dgm:pt modelId="{52A73B19-FC72-41B8-B622-80A295A4A420}" cxnId="{941CEC26-261D-41E1-A80E-CB91A6BAE4FC}" type="sibTrans">
      <dgm:prSet/>
      <dgm:spPr/>
      <dgm:t>
        <a:bodyPr/>
        <a:lstStyle/>
        <a:p>
          <a:endParaRPr lang="zh-CN" altLang="en-US" sz="1600"/>
        </a:p>
      </dgm:t>
    </dgm:pt>
    <dgm:pt modelId="{E1BCE32A-1762-40E4-8199-D736F1D95DB8}">
      <dgm:prSet phldrT="[文本]" custT="1"/>
      <dgm:spPr>
        <a:solidFill>
          <a:schemeClr val="accent1">
            <a:lumMod val="20000"/>
            <a:lumOff val="80000"/>
          </a:schemeClr>
        </a:solidFill>
      </dgm:spPr>
      <dgm:t>
        <a:bodyPr/>
        <a:lstStyle/>
        <a:p>
          <a:r>
            <a:rPr lang="en-US" altLang="zh-CN" sz="1600" b="0" dirty="0">
              <a:solidFill>
                <a:schemeClr val="tx1"/>
              </a:solidFill>
              <a:effectLst/>
              <a:latin typeface="微软雅黑" panose="020B0503020204020204" pitchFamily="34" charset="-122"/>
              <a:ea typeface="微软雅黑" panose="020B0503020204020204" pitchFamily="34" charset="-122"/>
              <a:cs typeface="+mn-cs"/>
            </a:rPr>
            <a:t>K</a:t>
          </a: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最近邻法</a:t>
          </a:r>
          <a:endParaRPr lang="zh-CN" altLang="en-US" sz="1600" dirty="0"/>
        </a:p>
      </dgm:t>
    </dgm:pt>
    <dgm:pt modelId="{25448E2A-F115-4921-A8D0-D1FDF9128E55}" cxnId="{4A2AA37C-9739-45BA-8D23-B3AA6E2A3B70}" type="parTrans">
      <dgm:prSet/>
      <dgm:spPr>
        <a:ln>
          <a:solidFill>
            <a:schemeClr val="accent5"/>
          </a:solidFill>
        </a:ln>
      </dgm:spPr>
      <dgm:t>
        <a:bodyPr/>
        <a:lstStyle/>
        <a:p>
          <a:endParaRPr lang="zh-CN" altLang="en-US" sz="1600"/>
        </a:p>
      </dgm:t>
    </dgm:pt>
    <dgm:pt modelId="{03100871-20D5-474A-8AB6-8C13945A2062}" cxnId="{4A2AA37C-9739-45BA-8D23-B3AA6E2A3B70}" type="sibTrans">
      <dgm:prSet/>
      <dgm:spPr/>
      <dgm:t>
        <a:bodyPr/>
        <a:lstStyle/>
        <a:p>
          <a:endParaRPr lang="zh-CN" altLang="en-US" sz="1600"/>
        </a:p>
      </dgm:t>
    </dgm:pt>
    <dgm:pt modelId="{E6CB9947-2109-4703-81C1-DB90E297E1D0}">
      <dgm:prSet phldrT="[文本]" custT="1"/>
      <dgm:spPr>
        <a:solidFill>
          <a:schemeClr val="accent1">
            <a:lumMod val="20000"/>
            <a:lumOff val="80000"/>
          </a:schemeClr>
        </a:solidFill>
      </dgm:spPr>
      <dgm:t>
        <a:bodyPr/>
        <a:lstStyle/>
        <a:p>
          <a:r>
            <a:rPr lang="zh-CN" altLang="en-US" sz="1600" b="0" kern="1200" dirty="0">
              <a:solidFill>
                <a:prstClr val="black"/>
              </a:solidFill>
              <a:effectLst/>
              <a:latin typeface="微软雅黑" panose="020B0503020204020204" pitchFamily="34" charset="-122"/>
              <a:ea typeface="微软雅黑" panose="020B0503020204020204" pitchFamily="34" charset="-122"/>
              <a:cs typeface="+mn-cs"/>
            </a:rPr>
            <a:t>支持向量机</a:t>
          </a:r>
        </a:p>
      </dgm:t>
    </dgm:pt>
    <dgm:pt modelId="{AB4BC875-1964-4AA6-9384-76FE705E61E6}" cxnId="{ADF0D10C-D46A-48A6-A135-363AF7190733}" type="parTrans">
      <dgm:prSet/>
      <dgm:spPr>
        <a:ln>
          <a:solidFill>
            <a:schemeClr val="accent5"/>
          </a:solidFill>
        </a:ln>
      </dgm:spPr>
      <dgm:t>
        <a:bodyPr/>
        <a:lstStyle/>
        <a:p>
          <a:endParaRPr lang="zh-CN" altLang="en-US" sz="1600"/>
        </a:p>
      </dgm:t>
    </dgm:pt>
    <dgm:pt modelId="{F8BA4E11-96DC-4868-94F9-E2970C887B14}" cxnId="{ADF0D10C-D46A-48A6-A135-363AF7190733}" type="sibTrans">
      <dgm:prSet/>
      <dgm:spPr/>
      <dgm:t>
        <a:bodyPr/>
        <a:lstStyle/>
        <a:p>
          <a:endParaRPr lang="zh-CN" altLang="en-US" sz="1600"/>
        </a:p>
      </dgm:t>
    </dgm:pt>
    <dgm:pt modelId="{16A6E68A-A9D9-4890-8D10-E8928C218A0B}">
      <dgm:prSet phldrT="[文本]" custT="1"/>
      <dgm:spPr>
        <a:solidFill>
          <a:schemeClr val="accent1">
            <a:lumMod val="20000"/>
            <a:lumOff val="80000"/>
          </a:schemeClr>
        </a:solidFill>
      </dgm:spPr>
      <dgm:t>
        <a:bodyPr/>
        <a:lstStyle/>
        <a:p>
          <a:r>
            <a:rPr lang="en-US" altLang="zh-CN" sz="1600" b="0" dirty="0" err="1">
              <a:solidFill>
                <a:schemeClr val="tx1"/>
              </a:solidFill>
              <a:effectLst/>
              <a:latin typeface="微软雅黑" panose="020B0503020204020204" pitchFamily="34" charset="-122"/>
              <a:ea typeface="微软雅黑" panose="020B0503020204020204" pitchFamily="34" charset="-122"/>
              <a:cs typeface="+mn-cs"/>
            </a:rPr>
            <a:t>Softmax</a:t>
          </a: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分类器</a:t>
          </a:r>
          <a:endParaRPr lang="en-US" altLang="zh-CN" sz="1600" b="0" dirty="0">
            <a:solidFill>
              <a:schemeClr val="tx1"/>
            </a:solidFill>
            <a:effectLst/>
            <a:latin typeface="微软雅黑" panose="020B0503020204020204" pitchFamily="34" charset="-122"/>
            <a:ea typeface="微软雅黑" panose="020B0503020204020204" pitchFamily="34" charset="-122"/>
            <a:cs typeface="+mn-cs"/>
          </a:endParaRPr>
        </a:p>
      </dgm:t>
    </dgm:pt>
    <dgm:pt modelId="{8B4134DD-D8E1-4546-A017-D86C188448D6}" cxnId="{66E4A0E3-31CA-42DF-AE7A-564E6C24CB61}" type="parTrans">
      <dgm:prSet/>
      <dgm:spPr>
        <a:ln>
          <a:solidFill>
            <a:schemeClr val="accent5"/>
          </a:solidFill>
        </a:ln>
      </dgm:spPr>
      <dgm:t>
        <a:bodyPr/>
        <a:lstStyle/>
        <a:p>
          <a:endParaRPr lang="zh-CN" altLang="en-US" sz="1600"/>
        </a:p>
      </dgm:t>
    </dgm:pt>
    <dgm:pt modelId="{B5313F50-9962-4A97-A1CA-28F3D4EDBCEE}" cxnId="{66E4A0E3-31CA-42DF-AE7A-564E6C24CB61}" type="sibTrans">
      <dgm:prSet/>
      <dgm:spPr/>
      <dgm:t>
        <a:bodyPr/>
        <a:lstStyle/>
        <a:p>
          <a:endParaRPr lang="zh-CN" altLang="en-US" sz="1600"/>
        </a:p>
      </dgm:t>
    </dgm:pt>
    <dgm:pt modelId="{38FDBC32-3E16-4D08-AB67-F3F5A84DF6B6}">
      <dgm:prSet phldrT="[文本]" custT="1"/>
      <dgm:spPr>
        <a:solidFill>
          <a:schemeClr val="accent1">
            <a:lumMod val="20000"/>
            <a:lumOff val="80000"/>
          </a:schemeClr>
        </a:solidFill>
      </dgm:spPr>
      <dgm:t>
        <a:bodyPr/>
        <a:lstStyle/>
        <a:p>
          <a:r>
            <a:rPr lang="zh-CN" altLang="en-US" sz="1600" b="0" dirty="0">
              <a:solidFill>
                <a:schemeClr val="tx1"/>
              </a:solidFill>
              <a:effectLst/>
              <a:latin typeface="微软雅黑" panose="020B0503020204020204" pitchFamily="34" charset="-122"/>
              <a:ea typeface="微软雅黑" panose="020B0503020204020204" pitchFamily="34" charset="-122"/>
              <a:cs typeface="+mn-cs"/>
            </a:rPr>
            <a:t>聚类分析法</a:t>
          </a:r>
          <a:endParaRPr lang="en-US" altLang="zh-CN" sz="1600" b="0" dirty="0">
            <a:solidFill>
              <a:schemeClr val="tx1"/>
            </a:solidFill>
            <a:effectLst/>
            <a:latin typeface="微软雅黑" panose="020B0503020204020204" pitchFamily="34" charset="-122"/>
            <a:ea typeface="微软雅黑" panose="020B0503020204020204" pitchFamily="34" charset="-122"/>
            <a:cs typeface="+mn-cs"/>
          </a:endParaRPr>
        </a:p>
      </dgm:t>
    </dgm:pt>
    <dgm:pt modelId="{35890E7C-6362-42E9-9E19-4F889E7A08BB}" cxnId="{053E0397-CC35-4376-9649-F37DE5A6245C}" type="parTrans">
      <dgm:prSet/>
      <dgm:spPr>
        <a:ln>
          <a:solidFill>
            <a:schemeClr val="accent5"/>
          </a:solidFill>
        </a:ln>
      </dgm:spPr>
      <dgm:t>
        <a:bodyPr/>
        <a:lstStyle/>
        <a:p>
          <a:endParaRPr lang="zh-CN" altLang="en-US" sz="1600"/>
        </a:p>
      </dgm:t>
    </dgm:pt>
    <dgm:pt modelId="{42635C08-66C7-45C6-8565-948C7309C569}" cxnId="{053E0397-CC35-4376-9649-F37DE5A6245C}" type="sibTrans">
      <dgm:prSet/>
      <dgm:spPr/>
      <dgm:t>
        <a:bodyPr/>
        <a:lstStyle/>
        <a:p>
          <a:endParaRPr lang="zh-CN" altLang="en-US" sz="1600"/>
        </a:p>
      </dgm:t>
    </dgm:pt>
    <dgm:pt modelId="{0A960DC9-5D2A-4D9E-8BF4-EDC7EC8473A7}">
      <dgm:prSet phldrT="[文本]"/>
      <dgm:spPr>
        <a:solidFill>
          <a:schemeClr val="accent1">
            <a:lumMod val="20000"/>
            <a:lumOff val="80000"/>
          </a:schemeClr>
        </a:solidFill>
      </dgm:spPr>
      <dgm:t>
        <a:bodyPr/>
        <a:lstStyle/>
        <a:p>
          <a:r>
            <a:rPr lang="zh-CN" altLang="en-US" b="0" dirty="0">
              <a:solidFill>
                <a:schemeClr val="tx1"/>
              </a:solidFill>
              <a:effectLst/>
              <a:latin typeface="微软雅黑" panose="020B0503020204020204" pitchFamily="34" charset="-122"/>
              <a:ea typeface="微软雅黑" panose="020B0503020204020204" pitchFamily="34" charset="-122"/>
              <a:cs typeface="+mn-cs"/>
            </a:rPr>
            <a:t>无监督神经网络</a:t>
          </a:r>
          <a:endParaRPr lang="en-US" altLang="zh-CN" b="0" dirty="0">
            <a:solidFill>
              <a:schemeClr val="tx1"/>
            </a:solidFill>
            <a:effectLst/>
            <a:latin typeface="微软雅黑" panose="020B0503020204020204" pitchFamily="34" charset="-122"/>
            <a:ea typeface="微软雅黑" panose="020B0503020204020204" pitchFamily="34" charset="-122"/>
            <a:cs typeface="+mn-cs"/>
          </a:endParaRPr>
        </a:p>
      </dgm:t>
    </dgm:pt>
    <dgm:pt modelId="{B1938531-0374-419E-8F61-F5F1D9F079B0}" cxnId="{10F2BE05-0A57-4F4F-B5F9-727CB84F479E}" type="parTrans">
      <dgm:prSet/>
      <dgm:spPr/>
      <dgm:t>
        <a:bodyPr/>
        <a:lstStyle/>
        <a:p>
          <a:endParaRPr lang="zh-CN" altLang="en-US"/>
        </a:p>
      </dgm:t>
    </dgm:pt>
    <dgm:pt modelId="{B96B01B0-1002-4779-AF42-068BA0183E32}" cxnId="{10F2BE05-0A57-4F4F-B5F9-727CB84F479E}" type="sibTrans">
      <dgm:prSet/>
      <dgm:spPr/>
      <dgm:t>
        <a:bodyPr/>
        <a:lstStyle/>
        <a:p>
          <a:endParaRPr lang="zh-CN" altLang="en-US"/>
        </a:p>
      </dgm:t>
    </dgm:pt>
    <dgm:pt modelId="{AF5BC33B-0839-4236-8604-E7AB36436806}" type="pres">
      <dgm:prSet presAssocID="{194D124A-47EA-4CC2-8E30-4628B2346F4C}" presName="hierChild1" presStyleCnt="0">
        <dgm:presLayoutVars>
          <dgm:orgChart val="1"/>
          <dgm:chPref val="1"/>
          <dgm:dir/>
          <dgm:animOne val="branch"/>
          <dgm:animLvl val="lvl"/>
          <dgm:resizeHandles/>
        </dgm:presLayoutVars>
      </dgm:prSet>
      <dgm:spPr/>
    </dgm:pt>
    <dgm:pt modelId="{00CA9698-0026-43E9-8687-C649FBED0DE4}" type="pres">
      <dgm:prSet presAssocID="{D8D1C191-028A-4045-BEDB-27EB6FE8F556}" presName="hierRoot1" presStyleCnt="0">
        <dgm:presLayoutVars>
          <dgm:hierBranch val="init"/>
        </dgm:presLayoutVars>
      </dgm:prSet>
      <dgm:spPr/>
    </dgm:pt>
    <dgm:pt modelId="{8DDAD50A-3477-4553-9FE7-E54D81BA8F26}" type="pres">
      <dgm:prSet presAssocID="{D8D1C191-028A-4045-BEDB-27EB6FE8F556}" presName="rootComposite1" presStyleCnt="0"/>
      <dgm:spPr/>
    </dgm:pt>
    <dgm:pt modelId="{A1B414B1-B1A1-4B25-B77C-E916AB074E1A}" type="pres">
      <dgm:prSet presAssocID="{D8D1C191-028A-4045-BEDB-27EB6FE8F556}" presName="rootText1" presStyleLbl="node0" presStyleIdx="0" presStyleCnt="1" custScaleX="182823" custScaleY="110123" custLinFactNeighborY="-26464">
        <dgm:presLayoutVars>
          <dgm:chPref val="3"/>
        </dgm:presLayoutVars>
      </dgm:prSet>
      <dgm:spPr/>
    </dgm:pt>
    <dgm:pt modelId="{C622A05B-3925-4A2F-8901-231F6C748A31}" type="pres">
      <dgm:prSet presAssocID="{D8D1C191-028A-4045-BEDB-27EB6FE8F556}" presName="rootConnector1" presStyleLbl="node1" presStyleIdx="0" presStyleCnt="0"/>
      <dgm:spPr/>
    </dgm:pt>
    <dgm:pt modelId="{C11BF8CD-E2AE-4433-A4F9-5A78240D1578}" type="pres">
      <dgm:prSet presAssocID="{D8D1C191-028A-4045-BEDB-27EB6FE8F556}" presName="hierChild2" presStyleCnt="0"/>
      <dgm:spPr/>
    </dgm:pt>
    <dgm:pt modelId="{E660ADB4-5123-458F-BB78-690882E87294}" type="pres">
      <dgm:prSet presAssocID="{25448E2A-F115-4921-A8D0-D1FDF9128E55}" presName="Name37" presStyleLbl="parChTrans1D2" presStyleIdx="0" presStyleCnt="5"/>
      <dgm:spPr/>
    </dgm:pt>
    <dgm:pt modelId="{7A9A7ABF-7716-41C0-AF5A-89EDE9E6C477}" type="pres">
      <dgm:prSet presAssocID="{E1BCE32A-1762-40E4-8199-D736F1D95DB8}" presName="hierRoot2" presStyleCnt="0">
        <dgm:presLayoutVars>
          <dgm:hierBranch val="init"/>
        </dgm:presLayoutVars>
      </dgm:prSet>
      <dgm:spPr/>
    </dgm:pt>
    <dgm:pt modelId="{B164624E-472C-41F7-927F-DA7818438509}" type="pres">
      <dgm:prSet presAssocID="{E1BCE32A-1762-40E4-8199-D736F1D95DB8}" presName="rootComposite" presStyleCnt="0"/>
      <dgm:spPr/>
    </dgm:pt>
    <dgm:pt modelId="{9C7F65E3-9EB5-46D1-8434-052A03E27B7D}" type="pres">
      <dgm:prSet presAssocID="{E1BCE32A-1762-40E4-8199-D736F1D95DB8}" presName="rootText" presStyleLbl="node2" presStyleIdx="0" presStyleCnt="5" custScaleX="157851" custScaleY="110123">
        <dgm:presLayoutVars>
          <dgm:chPref val="3"/>
        </dgm:presLayoutVars>
      </dgm:prSet>
      <dgm:spPr/>
    </dgm:pt>
    <dgm:pt modelId="{BAC82406-E5A2-4F50-BA14-1EEE4C268B6A}" type="pres">
      <dgm:prSet presAssocID="{E1BCE32A-1762-40E4-8199-D736F1D95DB8}" presName="rootConnector" presStyleLbl="node2" presStyleIdx="0" presStyleCnt="5"/>
      <dgm:spPr/>
    </dgm:pt>
    <dgm:pt modelId="{C464D637-1A42-4BC3-8A18-43612949B1C9}" type="pres">
      <dgm:prSet presAssocID="{E1BCE32A-1762-40E4-8199-D736F1D95DB8}" presName="hierChild4" presStyleCnt="0"/>
      <dgm:spPr/>
    </dgm:pt>
    <dgm:pt modelId="{E8E7507A-6CF3-4F25-B5C2-1B625962E4C0}" type="pres">
      <dgm:prSet presAssocID="{E1BCE32A-1762-40E4-8199-D736F1D95DB8}" presName="hierChild5" presStyleCnt="0"/>
      <dgm:spPr/>
    </dgm:pt>
    <dgm:pt modelId="{5450D59B-3144-4BCF-809C-42F58CC25390}" type="pres">
      <dgm:prSet presAssocID="{AB4BC875-1964-4AA6-9384-76FE705E61E6}" presName="Name37" presStyleLbl="parChTrans1D2" presStyleIdx="1" presStyleCnt="5"/>
      <dgm:spPr/>
    </dgm:pt>
    <dgm:pt modelId="{03A73876-0503-4D63-A8F4-29F108F66D96}" type="pres">
      <dgm:prSet presAssocID="{E6CB9947-2109-4703-81C1-DB90E297E1D0}" presName="hierRoot2" presStyleCnt="0">
        <dgm:presLayoutVars>
          <dgm:hierBranch val="init"/>
        </dgm:presLayoutVars>
      </dgm:prSet>
      <dgm:spPr/>
    </dgm:pt>
    <dgm:pt modelId="{2B2AFFB8-159F-42E5-87AA-25E55C90BC04}" type="pres">
      <dgm:prSet presAssocID="{E6CB9947-2109-4703-81C1-DB90E297E1D0}" presName="rootComposite" presStyleCnt="0"/>
      <dgm:spPr/>
    </dgm:pt>
    <dgm:pt modelId="{37C55316-295B-46D2-B0C6-3B837EBF849D}" type="pres">
      <dgm:prSet presAssocID="{E6CB9947-2109-4703-81C1-DB90E297E1D0}" presName="rootText" presStyleLbl="node2" presStyleIdx="1" presStyleCnt="5" custScaleX="140819" custScaleY="110123">
        <dgm:presLayoutVars>
          <dgm:chPref val="3"/>
        </dgm:presLayoutVars>
      </dgm:prSet>
      <dgm:spPr/>
    </dgm:pt>
    <dgm:pt modelId="{1E009E5E-0B12-4930-927D-AC70C0E1F41A}" type="pres">
      <dgm:prSet presAssocID="{E6CB9947-2109-4703-81C1-DB90E297E1D0}" presName="rootConnector" presStyleLbl="node2" presStyleIdx="1" presStyleCnt="5"/>
      <dgm:spPr/>
    </dgm:pt>
    <dgm:pt modelId="{E4328A08-46CE-4D53-9A04-CC15D9E08A0D}" type="pres">
      <dgm:prSet presAssocID="{E6CB9947-2109-4703-81C1-DB90E297E1D0}" presName="hierChild4" presStyleCnt="0"/>
      <dgm:spPr/>
    </dgm:pt>
    <dgm:pt modelId="{FDD3FE94-6CCC-4466-A340-98DE0D05B9D1}" type="pres">
      <dgm:prSet presAssocID="{E6CB9947-2109-4703-81C1-DB90E297E1D0}" presName="hierChild5" presStyleCnt="0"/>
      <dgm:spPr/>
    </dgm:pt>
    <dgm:pt modelId="{E57CAD0D-A147-4E8E-96BB-00626A103B20}" type="pres">
      <dgm:prSet presAssocID="{8B4134DD-D8E1-4546-A017-D86C188448D6}" presName="Name37" presStyleLbl="parChTrans1D2" presStyleIdx="2" presStyleCnt="5"/>
      <dgm:spPr/>
    </dgm:pt>
    <dgm:pt modelId="{2682BEEE-651E-47FA-9C20-B7D98AA09DF5}" type="pres">
      <dgm:prSet presAssocID="{16A6E68A-A9D9-4890-8D10-E8928C218A0B}" presName="hierRoot2" presStyleCnt="0">
        <dgm:presLayoutVars>
          <dgm:hierBranch val="init"/>
        </dgm:presLayoutVars>
      </dgm:prSet>
      <dgm:spPr/>
    </dgm:pt>
    <dgm:pt modelId="{7D1C390D-FF01-42EE-8412-03CC29A1B140}" type="pres">
      <dgm:prSet presAssocID="{16A6E68A-A9D9-4890-8D10-E8928C218A0B}" presName="rootComposite" presStyleCnt="0"/>
      <dgm:spPr/>
    </dgm:pt>
    <dgm:pt modelId="{35A9666D-423E-4B20-A35F-EAF484B4A4C4}" type="pres">
      <dgm:prSet presAssocID="{16A6E68A-A9D9-4890-8D10-E8928C218A0B}" presName="rootText" presStyleLbl="node2" presStyleIdx="2" presStyleCnt="5" custScaleX="205094" custScaleY="110123">
        <dgm:presLayoutVars>
          <dgm:chPref val="3"/>
        </dgm:presLayoutVars>
      </dgm:prSet>
      <dgm:spPr/>
    </dgm:pt>
    <dgm:pt modelId="{E315CB68-C85E-44D5-B5AB-F3C33EA511A6}" type="pres">
      <dgm:prSet presAssocID="{16A6E68A-A9D9-4890-8D10-E8928C218A0B}" presName="rootConnector" presStyleLbl="node2" presStyleIdx="2" presStyleCnt="5"/>
      <dgm:spPr/>
    </dgm:pt>
    <dgm:pt modelId="{B5AD8F48-31E4-42AB-8149-1DD844774F33}" type="pres">
      <dgm:prSet presAssocID="{16A6E68A-A9D9-4890-8D10-E8928C218A0B}" presName="hierChild4" presStyleCnt="0"/>
      <dgm:spPr/>
    </dgm:pt>
    <dgm:pt modelId="{35558D8B-0BBB-4128-820B-959A0699E42A}" type="pres">
      <dgm:prSet presAssocID="{16A6E68A-A9D9-4890-8D10-E8928C218A0B}" presName="hierChild5" presStyleCnt="0"/>
      <dgm:spPr/>
    </dgm:pt>
    <dgm:pt modelId="{DCAC423E-C387-40D7-BAA1-918E02AF7460}" type="pres">
      <dgm:prSet presAssocID="{35890E7C-6362-42E9-9E19-4F889E7A08BB}" presName="Name37" presStyleLbl="parChTrans1D2" presStyleIdx="3" presStyleCnt="5"/>
      <dgm:spPr/>
    </dgm:pt>
    <dgm:pt modelId="{B88A6F2E-E400-4A08-B966-59CAE2C1F665}" type="pres">
      <dgm:prSet presAssocID="{38FDBC32-3E16-4D08-AB67-F3F5A84DF6B6}" presName="hierRoot2" presStyleCnt="0">
        <dgm:presLayoutVars>
          <dgm:hierBranch val="init"/>
        </dgm:presLayoutVars>
      </dgm:prSet>
      <dgm:spPr/>
    </dgm:pt>
    <dgm:pt modelId="{E04C8C26-D376-40AC-B336-A83D2B12A990}" type="pres">
      <dgm:prSet presAssocID="{38FDBC32-3E16-4D08-AB67-F3F5A84DF6B6}" presName="rootComposite" presStyleCnt="0"/>
      <dgm:spPr/>
    </dgm:pt>
    <dgm:pt modelId="{10A6F6EE-B332-48DD-BF8C-9F762CDF7392}" type="pres">
      <dgm:prSet presAssocID="{38FDBC32-3E16-4D08-AB67-F3F5A84DF6B6}" presName="rootText" presStyleLbl="node2" presStyleIdx="3" presStyleCnt="5" custScaleX="126248" custScaleY="110123" custLinFactNeighborX="239" custLinFactNeighborY="109">
        <dgm:presLayoutVars>
          <dgm:chPref val="3"/>
        </dgm:presLayoutVars>
      </dgm:prSet>
      <dgm:spPr/>
    </dgm:pt>
    <dgm:pt modelId="{A718CEE3-650C-4A53-9292-BD9AFC78455C}" type="pres">
      <dgm:prSet presAssocID="{38FDBC32-3E16-4D08-AB67-F3F5A84DF6B6}" presName="rootConnector" presStyleLbl="node2" presStyleIdx="3" presStyleCnt="5"/>
      <dgm:spPr/>
    </dgm:pt>
    <dgm:pt modelId="{911DFA23-B40B-47A2-815B-A31902AD3CB7}" type="pres">
      <dgm:prSet presAssocID="{38FDBC32-3E16-4D08-AB67-F3F5A84DF6B6}" presName="hierChild4" presStyleCnt="0"/>
      <dgm:spPr/>
    </dgm:pt>
    <dgm:pt modelId="{CB160B6F-FF17-4FAA-BB7D-83D8C115174C}" type="pres">
      <dgm:prSet presAssocID="{38FDBC32-3E16-4D08-AB67-F3F5A84DF6B6}" presName="hierChild5" presStyleCnt="0"/>
      <dgm:spPr/>
    </dgm:pt>
    <dgm:pt modelId="{0FCF7022-3F1F-4C14-9D07-6864D7247BB3}" type="pres">
      <dgm:prSet presAssocID="{B1938531-0374-419E-8F61-F5F1D9F079B0}" presName="Name37" presStyleLbl="parChTrans1D2" presStyleIdx="4" presStyleCnt="5"/>
      <dgm:spPr/>
    </dgm:pt>
    <dgm:pt modelId="{A6B17453-1C58-47EA-ADE9-0763FF61BB13}" type="pres">
      <dgm:prSet presAssocID="{0A960DC9-5D2A-4D9E-8BF4-EDC7EC8473A7}" presName="hierRoot2" presStyleCnt="0">
        <dgm:presLayoutVars>
          <dgm:hierBranch val="init"/>
        </dgm:presLayoutVars>
      </dgm:prSet>
      <dgm:spPr/>
    </dgm:pt>
    <dgm:pt modelId="{180F931F-2EC0-43FB-957A-268840D5B075}" type="pres">
      <dgm:prSet presAssocID="{0A960DC9-5D2A-4D9E-8BF4-EDC7EC8473A7}" presName="rootComposite" presStyleCnt="0"/>
      <dgm:spPr/>
    </dgm:pt>
    <dgm:pt modelId="{6A683F65-8C08-4429-9797-CBF4A1834777}" type="pres">
      <dgm:prSet presAssocID="{0A960DC9-5D2A-4D9E-8BF4-EDC7EC8473A7}" presName="rootText" presStyleLbl="node2" presStyleIdx="4" presStyleCnt="5" custScaleX="126248" custScaleY="110123" custLinFactNeighborX="239" custLinFactNeighborY="109">
        <dgm:presLayoutVars>
          <dgm:chPref val="3"/>
        </dgm:presLayoutVars>
      </dgm:prSet>
      <dgm:spPr/>
    </dgm:pt>
    <dgm:pt modelId="{5C745D24-9F4A-4FFD-9D99-0A15F98C93FF}" type="pres">
      <dgm:prSet presAssocID="{0A960DC9-5D2A-4D9E-8BF4-EDC7EC8473A7}" presName="rootConnector" presStyleLbl="node2" presStyleIdx="4" presStyleCnt="5"/>
      <dgm:spPr/>
    </dgm:pt>
    <dgm:pt modelId="{CC5AEFD9-42D4-4FBD-91EB-3898E0A5871C}" type="pres">
      <dgm:prSet presAssocID="{0A960DC9-5D2A-4D9E-8BF4-EDC7EC8473A7}" presName="hierChild4" presStyleCnt="0"/>
      <dgm:spPr/>
    </dgm:pt>
    <dgm:pt modelId="{BA96B749-F93C-4575-8ACA-190328773225}" type="pres">
      <dgm:prSet presAssocID="{0A960DC9-5D2A-4D9E-8BF4-EDC7EC8473A7}" presName="hierChild5" presStyleCnt="0"/>
      <dgm:spPr/>
    </dgm:pt>
    <dgm:pt modelId="{0DFF7662-DD05-4565-859E-FDA005DA64D7}" type="pres">
      <dgm:prSet presAssocID="{D8D1C191-028A-4045-BEDB-27EB6FE8F556}" presName="hierChild3" presStyleCnt="0"/>
      <dgm:spPr/>
    </dgm:pt>
  </dgm:ptLst>
  <dgm:cxnLst>
    <dgm:cxn modelId="{10F2BE05-0A57-4F4F-B5F9-727CB84F479E}" srcId="{D8D1C191-028A-4045-BEDB-27EB6FE8F556}" destId="{0A960DC9-5D2A-4D9E-8BF4-EDC7EC8473A7}" srcOrd="4" destOrd="0" parTransId="{B1938531-0374-419E-8F61-F5F1D9F079B0}" sibTransId="{B96B01B0-1002-4779-AF42-068BA0183E32}"/>
    <dgm:cxn modelId="{ADF0D10C-D46A-48A6-A135-363AF7190733}" srcId="{D8D1C191-028A-4045-BEDB-27EB6FE8F556}" destId="{E6CB9947-2109-4703-81C1-DB90E297E1D0}" srcOrd="1" destOrd="0" parTransId="{AB4BC875-1964-4AA6-9384-76FE705E61E6}" sibTransId="{F8BA4E11-96DC-4868-94F9-E2970C887B14}"/>
    <dgm:cxn modelId="{5F72D919-367A-45AC-B797-70AA742751F5}" type="presOf" srcId="{E6CB9947-2109-4703-81C1-DB90E297E1D0}" destId="{1E009E5E-0B12-4930-927D-AC70C0E1F41A}" srcOrd="1" destOrd="0" presId="urn:microsoft.com/office/officeart/2005/8/layout/orgChart1#1"/>
    <dgm:cxn modelId="{9B54B81A-D42C-47C6-8ECB-F17CB51A551F}" type="presOf" srcId="{38FDBC32-3E16-4D08-AB67-F3F5A84DF6B6}" destId="{10A6F6EE-B332-48DD-BF8C-9F762CDF7392}" srcOrd="0" destOrd="0" presId="urn:microsoft.com/office/officeart/2005/8/layout/orgChart1#1"/>
    <dgm:cxn modelId="{941CEC26-261D-41E1-A80E-CB91A6BAE4FC}" srcId="{194D124A-47EA-4CC2-8E30-4628B2346F4C}" destId="{D8D1C191-028A-4045-BEDB-27EB6FE8F556}" srcOrd="0" destOrd="0" parTransId="{17B8BF3E-237E-4A3B-9D8F-C957D116A135}" sibTransId="{52A73B19-FC72-41B8-B622-80A295A4A420}"/>
    <dgm:cxn modelId="{75758228-C83D-4A19-9557-11E4E0928376}" type="presOf" srcId="{E1BCE32A-1762-40E4-8199-D736F1D95DB8}" destId="{9C7F65E3-9EB5-46D1-8434-052A03E27B7D}" srcOrd="0" destOrd="0" presId="urn:microsoft.com/office/officeart/2005/8/layout/orgChart1#1"/>
    <dgm:cxn modelId="{2150B75E-D90D-461C-A30E-5BD86E15824C}" type="presOf" srcId="{8B4134DD-D8E1-4546-A017-D86C188448D6}" destId="{E57CAD0D-A147-4E8E-96BB-00626A103B20}" srcOrd="0" destOrd="0" presId="urn:microsoft.com/office/officeart/2005/8/layout/orgChart1#1"/>
    <dgm:cxn modelId="{78477446-64D2-4A66-BF45-E7050875F373}" type="presOf" srcId="{0A960DC9-5D2A-4D9E-8BF4-EDC7EC8473A7}" destId="{5C745D24-9F4A-4FFD-9D99-0A15F98C93FF}" srcOrd="1" destOrd="0" presId="urn:microsoft.com/office/officeart/2005/8/layout/orgChart1#1"/>
    <dgm:cxn modelId="{5C63C76D-F499-4CEA-B40E-94AA62771F82}" type="presOf" srcId="{AB4BC875-1964-4AA6-9384-76FE705E61E6}" destId="{5450D59B-3144-4BCF-809C-42F58CC25390}" srcOrd="0" destOrd="0" presId="urn:microsoft.com/office/officeart/2005/8/layout/orgChart1#1"/>
    <dgm:cxn modelId="{2522B273-280C-45A9-A425-3BC5DC297169}" type="presOf" srcId="{16A6E68A-A9D9-4890-8D10-E8928C218A0B}" destId="{E315CB68-C85E-44D5-B5AB-F3C33EA511A6}" srcOrd="1" destOrd="0" presId="urn:microsoft.com/office/officeart/2005/8/layout/orgChart1#1"/>
    <dgm:cxn modelId="{1B97D675-32BF-43F3-8D1D-F160BF966708}" type="presOf" srcId="{38FDBC32-3E16-4D08-AB67-F3F5A84DF6B6}" destId="{A718CEE3-650C-4A53-9292-BD9AFC78455C}" srcOrd="1" destOrd="0" presId="urn:microsoft.com/office/officeart/2005/8/layout/orgChart1#1"/>
    <dgm:cxn modelId="{D8A63E59-B0E2-454D-A554-9AF0E4233CDC}" type="presOf" srcId="{D8D1C191-028A-4045-BEDB-27EB6FE8F556}" destId="{A1B414B1-B1A1-4B25-B77C-E916AB074E1A}" srcOrd="0" destOrd="0" presId="urn:microsoft.com/office/officeart/2005/8/layout/orgChart1#1"/>
    <dgm:cxn modelId="{4A2AA37C-9739-45BA-8D23-B3AA6E2A3B70}" srcId="{D8D1C191-028A-4045-BEDB-27EB6FE8F556}" destId="{E1BCE32A-1762-40E4-8199-D736F1D95DB8}" srcOrd="0" destOrd="0" parTransId="{25448E2A-F115-4921-A8D0-D1FDF9128E55}" sibTransId="{03100871-20D5-474A-8AB6-8C13945A2062}"/>
    <dgm:cxn modelId="{86E55186-D3CF-4BDC-82BE-DF193F7CD81D}" type="presOf" srcId="{194D124A-47EA-4CC2-8E30-4628B2346F4C}" destId="{AF5BC33B-0839-4236-8604-E7AB36436806}" srcOrd="0" destOrd="0" presId="urn:microsoft.com/office/officeart/2005/8/layout/orgChart1#1"/>
    <dgm:cxn modelId="{D07B6396-43C3-4862-B037-5CA5619FF466}" type="presOf" srcId="{D8D1C191-028A-4045-BEDB-27EB6FE8F556}" destId="{C622A05B-3925-4A2F-8901-231F6C748A31}" srcOrd="1" destOrd="0" presId="urn:microsoft.com/office/officeart/2005/8/layout/orgChart1#1"/>
    <dgm:cxn modelId="{053E0397-CC35-4376-9649-F37DE5A6245C}" srcId="{D8D1C191-028A-4045-BEDB-27EB6FE8F556}" destId="{38FDBC32-3E16-4D08-AB67-F3F5A84DF6B6}" srcOrd="3" destOrd="0" parTransId="{35890E7C-6362-42E9-9E19-4F889E7A08BB}" sibTransId="{42635C08-66C7-45C6-8565-948C7309C569}"/>
    <dgm:cxn modelId="{506F0FA4-6B31-405A-AA3A-5980367098B1}" type="presOf" srcId="{B1938531-0374-419E-8F61-F5F1D9F079B0}" destId="{0FCF7022-3F1F-4C14-9D07-6864D7247BB3}" srcOrd="0" destOrd="0" presId="urn:microsoft.com/office/officeart/2005/8/layout/orgChart1#1"/>
    <dgm:cxn modelId="{0F3181B4-741D-4B05-A0FD-3ADA75EB185D}" type="presOf" srcId="{E1BCE32A-1762-40E4-8199-D736F1D95DB8}" destId="{BAC82406-E5A2-4F50-BA14-1EEE4C268B6A}" srcOrd="1" destOrd="0" presId="urn:microsoft.com/office/officeart/2005/8/layout/orgChart1#1"/>
    <dgm:cxn modelId="{272CFDB8-3F21-41E2-ADFD-B63C0556AC55}" type="presOf" srcId="{0A960DC9-5D2A-4D9E-8BF4-EDC7EC8473A7}" destId="{6A683F65-8C08-4429-9797-CBF4A1834777}" srcOrd="0" destOrd="0" presId="urn:microsoft.com/office/officeart/2005/8/layout/orgChart1#1"/>
    <dgm:cxn modelId="{218125D4-035D-4197-A3F9-BA8E6FB5003B}" type="presOf" srcId="{E6CB9947-2109-4703-81C1-DB90E297E1D0}" destId="{37C55316-295B-46D2-B0C6-3B837EBF849D}" srcOrd="0" destOrd="0" presId="urn:microsoft.com/office/officeart/2005/8/layout/orgChart1#1"/>
    <dgm:cxn modelId="{8C59B9D9-8277-47F3-988B-7A0BCC2BAA82}" type="presOf" srcId="{35890E7C-6362-42E9-9E19-4F889E7A08BB}" destId="{DCAC423E-C387-40D7-BAA1-918E02AF7460}" srcOrd="0" destOrd="0" presId="urn:microsoft.com/office/officeart/2005/8/layout/orgChart1#1"/>
    <dgm:cxn modelId="{EC2CF7E1-4868-440A-A64F-03CCD82FD496}" type="presOf" srcId="{25448E2A-F115-4921-A8D0-D1FDF9128E55}" destId="{E660ADB4-5123-458F-BB78-690882E87294}" srcOrd="0" destOrd="0" presId="urn:microsoft.com/office/officeart/2005/8/layout/orgChart1#1"/>
    <dgm:cxn modelId="{66E4A0E3-31CA-42DF-AE7A-564E6C24CB61}" srcId="{D8D1C191-028A-4045-BEDB-27EB6FE8F556}" destId="{16A6E68A-A9D9-4890-8D10-E8928C218A0B}" srcOrd="2" destOrd="0" parTransId="{8B4134DD-D8E1-4546-A017-D86C188448D6}" sibTransId="{B5313F50-9962-4A97-A1CA-28F3D4EDBCEE}"/>
    <dgm:cxn modelId="{F0CDA7E6-C91A-470C-9D47-D2BD8EE30437}" type="presOf" srcId="{16A6E68A-A9D9-4890-8D10-E8928C218A0B}" destId="{35A9666D-423E-4B20-A35F-EAF484B4A4C4}" srcOrd="0" destOrd="0" presId="urn:microsoft.com/office/officeart/2005/8/layout/orgChart1#1"/>
    <dgm:cxn modelId="{4BAD0149-5297-4BC6-90A3-6DD4344665DB}" type="presParOf" srcId="{AF5BC33B-0839-4236-8604-E7AB36436806}" destId="{00CA9698-0026-43E9-8687-C649FBED0DE4}" srcOrd="0" destOrd="0" presId="urn:microsoft.com/office/officeart/2005/8/layout/orgChart1#1"/>
    <dgm:cxn modelId="{93FE1E16-E43A-4A6B-B9B0-BC91B80CE123}" type="presParOf" srcId="{00CA9698-0026-43E9-8687-C649FBED0DE4}" destId="{8DDAD50A-3477-4553-9FE7-E54D81BA8F26}" srcOrd="0" destOrd="0" presId="urn:microsoft.com/office/officeart/2005/8/layout/orgChart1#1"/>
    <dgm:cxn modelId="{300243DD-B1DF-4986-9914-575120F1F0C9}" type="presParOf" srcId="{8DDAD50A-3477-4553-9FE7-E54D81BA8F26}" destId="{A1B414B1-B1A1-4B25-B77C-E916AB074E1A}" srcOrd="0" destOrd="0" presId="urn:microsoft.com/office/officeart/2005/8/layout/orgChart1#1"/>
    <dgm:cxn modelId="{30D5A342-C78F-4C5F-85D9-180706298D83}" type="presParOf" srcId="{8DDAD50A-3477-4553-9FE7-E54D81BA8F26}" destId="{C622A05B-3925-4A2F-8901-231F6C748A31}" srcOrd="1" destOrd="0" presId="urn:microsoft.com/office/officeart/2005/8/layout/orgChart1#1"/>
    <dgm:cxn modelId="{5D73DB8B-7E3F-46B6-B23B-4E2A4E34E953}" type="presParOf" srcId="{00CA9698-0026-43E9-8687-C649FBED0DE4}" destId="{C11BF8CD-E2AE-4433-A4F9-5A78240D1578}" srcOrd="1" destOrd="0" presId="urn:microsoft.com/office/officeart/2005/8/layout/orgChart1#1"/>
    <dgm:cxn modelId="{E4E8F31F-0D7B-4B07-88AF-2C2CE3E8760A}" type="presParOf" srcId="{C11BF8CD-E2AE-4433-A4F9-5A78240D1578}" destId="{E660ADB4-5123-458F-BB78-690882E87294}" srcOrd="0" destOrd="0" presId="urn:microsoft.com/office/officeart/2005/8/layout/orgChart1#1"/>
    <dgm:cxn modelId="{921480CD-A6FF-4D6C-B284-19FD5463FF2A}" type="presParOf" srcId="{C11BF8CD-E2AE-4433-A4F9-5A78240D1578}" destId="{7A9A7ABF-7716-41C0-AF5A-89EDE9E6C477}" srcOrd="1" destOrd="0" presId="urn:microsoft.com/office/officeart/2005/8/layout/orgChart1#1"/>
    <dgm:cxn modelId="{C8CC5452-AC8C-49A8-8FB7-FDACE530DBC8}" type="presParOf" srcId="{7A9A7ABF-7716-41C0-AF5A-89EDE9E6C477}" destId="{B164624E-472C-41F7-927F-DA7818438509}" srcOrd="0" destOrd="0" presId="urn:microsoft.com/office/officeart/2005/8/layout/orgChart1#1"/>
    <dgm:cxn modelId="{CF873159-5CBB-4988-AFE4-E75714933F0D}" type="presParOf" srcId="{B164624E-472C-41F7-927F-DA7818438509}" destId="{9C7F65E3-9EB5-46D1-8434-052A03E27B7D}" srcOrd="0" destOrd="0" presId="urn:microsoft.com/office/officeart/2005/8/layout/orgChart1#1"/>
    <dgm:cxn modelId="{5A0DE290-E1A5-4658-816E-09F94EE3FF19}" type="presParOf" srcId="{B164624E-472C-41F7-927F-DA7818438509}" destId="{BAC82406-E5A2-4F50-BA14-1EEE4C268B6A}" srcOrd="1" destOrd="0" presId="urn:microsoft.com/office/officeart/2005/8/layout/orgChart1#1"/>
    <dgm:cxn modelId="{475FE3E3-2620-4892-A0A0-6EC93D65EFFB}" type="presParOf" srcId="{7A9A7ABF-7716-41C0-AF5A-89EDE9E6C477}" destId="{C464D637-1A42-4BC3-8A18-43612949B1C9}" srcOrd="1" destOrd="0" presId="urn:microsoft.com/office/officeart/2005/8/layout/orgChart1#1"/>
    <dgm:cxn modelId="{483D8FF7-A5F1-4197-81D5-AC15F8BB7663}" type="presParOf" srcId="{7A9A7ABF-7716-41C0-AF5A-89EDE9E6C477}" destId="{E8E7507A-6CF3-4F25-B5C2-1B625962E4C0}" srcOrd="2" destOrd="0" presId="urn:microsoft.com/office/officeart/2005/8/layout/orgChart1#1"/>
    <dgm:cxn modelId="{657DBCF0-50F1-4E6E-BE63-28C2459BE2C1}" type="presParOf" srcId="{C11BF8CD-E2AE-4433-A4F9-5A78240D1578}" destId="{5450D59B-3144-4BCF-809C-42F58CC25390}" srcOrd="2" destOrd="0" presId="urn:microsoft.com/office/officeart/2005/8/layout/orgChart1#1"/>
    <dgm:cxn modelId="{6B22B309-B7A6-4448-80A2-BAB844ABDE21}" type="presParOf" srcId="{C11BF8CD-E2AE-4433-A4F9-5A78240D1578}" destId="{03A73876-0503-4D63-A8F4-29F108F66D96}" srcOrd="3" destOrd="0" presId="urn:microsoft.com/office/officeart/2005/8/layout/orgChart1#1"/>
    <dgm:cxn modelId="{2A3A70E9-434A-4933-8486-6D1515EB8EE8}" type="presParOf" srcId="{03A73876-0503-4D63-A8F4-29F108F66D96}" destId="{2B2AFFB8-159F-42E5-87AA-25E55C90BC04}" srcOrd="0" destOrd="0" presId="urn:microsoft.com/office/officeart/2005/8/layout/orgChart1#1"/>
    <dgm:cxn modelId="{921F617D-CDF8-4C2E-91D6-3709203D52AB}" type="presParOf" srcId="{2B2AFFB8-159F-42E5-87AA-25E55C90BC04}" destId="{37C55316-295B-46D2-B0C6-3B837EBF849D}" srcOrd="0" destOrd="0" presId="urn:microsoft.com/office/officeart/2005/8/layout/orgChart1#1"/>
    <dgm:cxn modelId="{D7F25F4A-14F3-48A9-923E-DD5F30FA6EAC}" type="presParOf" srcId="{2B2AFFB8-159F-42E5-87AA-25E55C90BC04}" destId="{1E009E5E-0B12-4930-927D-AC70C0E1F41A}" srcOrd="1" destOrd="0" presId="urn:microsoft.com/office/officeart/2005/8/layout/orgChart1#1"/>
    <dgm:cxn modelId="{0D7092CB-2B6A-4F79-9B88-CAD07FE0F3B4}" type="presParOf" srcId="{03A73876-0503-4D63-A8F4-29F108F66D96}" destId="{E4328A08-46CE-4D53-9A04-CC15D9E08A0D}" srcOrd="1" destOrd="0" presId="urn:microsoft.com/office/officeart/2005/8/layout/orgChart1#1"/>
    <dgm:cxn modelId="{104CC198-DF75-412F-BF0E-83ECD2E1549E}" type="presParOf" srcId="{03A73876-0503-4D63-A8F4-29F108F66D96}" destId="{FDD3FE94-6CCC-4466-A340-98DE0D05B9D1}" srcOrd="2" destOrd="0" presId="urn:microsoft.com/office/officeart/2005/8/layout/orgChart1#1"/>
    <dgm:cxn modelId="{D7FBCF75-151B-4166-800C-35C1B89E66D2}" type="presParOf" srcId="{C11BF8CD-E2AE-4433-A4F9-5A78240D1578}" destId="{E57CAD0D-A147-4E8E-96BB-00626A103B20}" srcOrd="4" destOrd="0" presId="urn:microsoft.com/office/officeart/2005/8/layout/orgChart1#1"/>
    <dgm:cxn modelId="{97E799D8-1E61-43FC-A934-E0A28E003DFC}" type="presParOf" srcId="{C11BF8CD-E2AE-4433-A4F9-5A78240D1578}" destId="{2682BEEE-651E-47FA-9C20-B7D98AA09DF5}" srcOrd="5" destOrd="0" presId="urn:microsoft.com/office/officeart/2005/8/layout/orgChart1#1"/>
    <dgm:cxn modelId="{A39B5E58-65E2-427F-AC83-49CC33CD8E34}" type="presParOf" srcId="{2682BEEE-651E-47FA-9C20-B7D98AA09DF5}" destId="{7D1C390D-FF01-42EE-8412-03CC29A1B140}" srcOrd="0" destOrd="0" presId="urn:microsoft.com/office/officeart/2005/8/layout/orgChart1#1"/>
    <dgm:cxn modelId="{55AC19E2-61A0-4AB0-B23B-CA92C59427EE}" type="presParOf" srcId="{7D1C390D-FF01-42EE-8412-03CC29A1B140}" destId="{35A9666D-423E-4B20-A35F-EAF484B4A4C4}" srcOrd="0" destOrd="0" presId="urn:microsoft.com/office/officeart/2005/8/layout/orgChart1#1"/>
    <dgm:cxn modelId="{A591148C-8123-44A7-B293-7835572ECB1D}" type="presParOf" srcId="{7D1C390D-FF01-42EE-8412-03CC29A1B140}" destId="{E315CB68-C85E-44D5-B5AB-F3C33EA511A6}" srcOrd="1" destOrd="0" presId="urn:microsoft.com/office/officeart/2005/8/layout/orgChart1#1"/>
    <dgm:cxn modelId="{174CD442-69E1-4F69-BCB5-817B272594F8}" type="presParOf" srcId="{2682BEEE-651E-47FA-9C20-B7D98AA09DF5}" destId="{B5AD8F48-31E4-42AB-8149-1DD844774F33}" srcOrd="1" destOrd="0" presId="urn:microsoft.com/office/officeart/2005/8/layout/orgChart1#1"/>
    <dgm:cxn modelId="{C5C7FFC1-A4D6-426B-B2CE-4DD501533279}" type="presParOf" srcId="{2682BEEE-651E-47FA-9C20-B7D98AA09DF5}" destId="{35558D8B-0BBB-4128-820B-959A0699E42A}" srcOrd="2" destOrd="0" presId="urn:microsoft.com/office/officeart/2005/8/layout/orgChart1#1"/>
    <dgm:cxn modelId="{A4926EB1-06FC-43E8-A6A2-8C75C61560AE}" type="presParOf" srcId="{C11BF8CD-E2AE-4433-A4F9-5A78240D1578}" destId="{DCAC423E-C387-40D7-BAA1-918E02AF7460}" srcOrd="6" destOrd="0" presId="urn:microsoft.com/office/officeart/2005/8/layout/orgChart1#1"/>
    <dgm:cxn modelId="{C961F6A6-7DD6-437D-B9F7-A7FAB1CBCE5A}" type="presParOf" srcId="{C11BF8CD-E2AE-4433-A4F9-5A78240D1578}" destId="{B88A6F2E-E400-4A08-B966-59CAE2C1F665}" srcOrd="7" destOrd="0" presId="urn:microsoft.com/office/officeart/2005/8/layout/orgChart1#1"/>
    <dgm:cxn modelId="{654086ED-2B45-4388-BB00-FCC8E58D46BE}" type="presParOf" srcId="{B88A6F2E-E400-4A08-B966-59CAE2C1F665}" destId="{E04C8C26-D376-40AC-B336-A83D2B12A990}" srcOrd="0" destOrd="0" presId="urn:microsoft.com/office/officeart/2005/8/layout/orgChart1#1"/>
    <dgm:cxn modelId="{6F65652F-7568-42DC-88D0-975E157483A6}" type="presParOf" srcId="{E04C8C26-D376-40AC-B336-A83D2B12A990}" destId="{10A6F6EE-B332-48DD-BF8C-9F762CDF7392}" srcOrd="0" destOrd="0" presId="urn:microsoft.com/office/officeart/2005/8/layout/orgChart1#1"/>
    <dgm:cxn modelId="{06DD59BF-AD95-40AB-97AF-3BE2224A814C}" type="presParOf" srcId="{E04C8C26-D376-40AC-B336-A83D2B12A990}" destId="{A718CEE3-650C-4A53-9292-BD9AFC78455C}" srcOrd="1" destOrd="0" presId="urn:microsoft.com/office/officeart/2005/8/layout/orgChart1#1"/>
    <dgm:cxn modelId="{CC04DD57-DC04-40C5-884F-66DCAC952BC3}" type="presParOf" srcId="{B88A6F2E-E400-4A08-B966-59CAE2C1F665}" destId="{911DFA23-B40B-47A2-815B-A31902AD3CB7}" srcOrd="1" destOrd="0" presId="urn:microsoft.com/office/officeart/2005/8/layout/orgChart1#1"/>
    <dgm:cxn modelId="{A81BD286-C1BE-4199-A3C0-E70C615C77F9}" type="presParOf" srcId="{B88A6F2E-E400-4A08-B966-59CAE2C1F665}" destId="{CB160B6F-FF17-4FAA-BB7D-83D8C115174C}" srcOrd="2" destOrd="0" presId="urn:microsoft.com/office/officeart/2005/8/layout/orgChart1#1"/>
    <dgm:cxn modelId="{CDCD3233-455E-4572-93DC-2345577EFBDD}" type="presParOf" srcId="{C11BF8CD-E2AE-4433-A4F9-5A78240D1578}" destId="{0FCF7022-3F1F-4C14-9D07-6864D7247BB3}" srcOrd="8" destOrd="0" presId="urn:microsoft.com/office/officeart/2005/8/layout/orgChart1#1"/>
    <dgm:cxn modelId="{884ADA52-A121-4E3A-8D29-1AB8ECE11A2F}" type="presParOf" srcId="{C11BF8CD-E2AE-4433-A4F9-5A78240D1578}" destId="{A6B17453-1C58-47EA-ADE9-0763FF61BB13}" srcOrd="9" destOrd="0" presId="urn:microsoft.com/office/officeart/2005/8/layout/orgChart1#1"/>
    <dgm:cxn modelId="{EFF20D34-A44C-4D0A-9370-E67C0773CC30}" type="presParOf" srcId="{A6B17453-1C58-47EA-ADE9-0763FF61BB13}" destId="{180F931F-2EC0-43FB-957A-268840D5B075}" srcOrd="0" destOrd="0" presId="urn:microsoft.com/office/officeart/2005/8/layout/orgChart1#1"/>
    <dgm:cxn modelId="{0D2CFE57-06D7-4F42-BC83-AA16A8A56FF2}" type="presParOf" srcId="{180F931F-2EC0-43FB-957A-268840D5B075}" destId="{6A683F65-8C08-4429-9797-CBF4A1834777}" srcOrd="0" destOrd="0" presId="urn:microsoft.com/office/officeart/2005/8/layout/orgChart1#1"/>
    <dgm:cxn modelId="{FA4D2EF0-6F94-40B6-8414-1E24A51611B9}" type="presParOf" srcId="{180F931F-2EC0-43FB-957A-268840D5B075}" destId="{5C745D24-9F4A-4FFD-9D99-0A15F98C93FF}" srcOrd="1" destOrd="0" presId="urn:microsoft.com/office/officeart/2005/8/layout/orgChart1#1"/>
    <dgm:cxn modelId="{81CFA6EB-8881-4987-A091-D49054D48A90}" type="presParOf" srcId="{A6B17453-1C58-47EA-ADE9-0763FF61BB13}" destId="{CC5AEFD9-42D4-4FBD-91EB-3898E0A5871C}" srcOrd="1" destOrd="0" presId="urn:microsoft.com/office/officeart/2005/8/layout/orgChart1#1"/>
    <dgm:cxn modelId="{A41C37A6-0799-4348-8822-2C14D34845FA}" type="presParOf" srcId="{A6B17453-1C58-47EA-ADE9-0763FF61BB13}" destId="{BA96B749-F93C-4575-8ACA-190328773225}" srcOrd="2" destOrd="0" presId="urn:microsoft.com/office/officeart/2005/8/layout/orgChart1#1"/>
    <dgm:cxn modelId="{4010D6A5-7BCF-4DC8-85D2-EDA5A9217363}" type="presParOf" srcId="{00CA9698-0026-43E9-8687-C649FBED0DE4}" destId="{0DFF7662-DD05-4565-859E-FDA005DA64D7}" srcOrd="2" destOrd="0" presId="urn:microsoft.com/office/officeart/2005/8/layout/orgChart1#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94D124A-47EA-4CC2-8E30-4628B2346F4C}" type="doc">
      <dgm:prSet loTypeId="urn:microsoft.com/office/officeart/2005/8/layout/orgChart1#2" loCatId="hierarchy" qsTypeId="urn:microsoft.com/office/officeart/2005/8/quickstyle/simple1#2" qsCatId="simple" csTypeId="urn:microsoft.com/office/officeart/2005/8/colors/accent1_2#2" csCatId="accent1" phldr="1"/>
      <dgm:spPr/>
      <dgm:t>
        <a:bodyPr/>
        <a:lstStyle/>
        <a:p>
          <a:endParaRPr lang="zh-CN" altLang="en-US"/>
        </a:p>
      </dgm:t>
    </dgm:pt>
    <dgm:pt modelId="{D8D1C191-028A-4045-BEDB-27EB6FE8F556}">
      <dgm:prSet phldrT="[文本]" custT="1"/>
      <dgm:spPr>
        <a:solidFill>
          <a:schemeClr val="accent1">
            <a:lumMod val="20000"/>
            <a:lumOff val="80000"/>
          </a:schemeClr>
        </a:solidFill>
      </dgm:spPr>
      <dgm:t>
        <a:bodyPr/>
        <a:lstStyle/>
        <a:p>
          <a:pPr>
            <a:buClrTx/>
            <a:buSzTx/>
            <a:buFontTx/>
            <a:buNone/>
          </a:pPr>
          <a:r>
            <a:rPr lang="zh-CN" altLang="en-US" sz="1800" b="0" dirty="0">
              <a:solidFill>
                <a:srgbClr val="002060"/>
              </a:solidFill>
              <a:effectLst/>
              <a:latin typeface="微软雅黑" panose="020B0503020204020204" pitchFamily="34" charset="-122"/>
              <a:ea typeface="微软雅黑" panose="020B0503020204020204" pitchFamily="34" charset="-122"/>
              <a:cs typeface="+mn-cs"/>
            </a:rPr>
            <a:t>定量分析方法</a:t>
          </a:r>
          <a:endParaRPr lang="zh-CN" altLang="en-US" sz="1800" dirty="0">
            <a:solidFill>
              <a:srgbClr val="002060"/>
            </a:solidFill>
          </a:endParaRPr>
        </a:p>
      </dgm:t>
    </dgm:pt>
    <dgm:pt modelId="{17B8BF3E-237E-4A3B-9D8F-C957D116A135}" cxnId="{941CEC26-261D-41E1-A80E-CB91A6BAE4FC}" type="parTrans">
      <dgm:prSet/>
      <dgm:spPr/>
      <dgm:t>
        <a:bodyPr/>
        <a:lstStyle/>
        <a:p>
          <a:endParaRPr lang="zh-CN" altLang="en-US"/>
        </a:p>
      </dgm:t>
    </dgm:pt>
    <dgm:pt modelId="{52A73B19-FC72-41B8-B622-80A295A4A420}" cxnId="{941CEC26-261D-41E1-A80E-CB91A6BAE4FC}" type="sibTrans">
      <dgm:prSet/>
      <dgm:spPr/>
      <dgm:t>
        <a:bodyPr/>
        <a:lstStyle/>
        <a:p>
          <a:endParaRPr lang="zh-CN" altLang="en-US"/>
        </a:p>
      </dgm:t>
    </dgm:pt>
    <dgm:pt modelId="{E1BCE32A-1762-40E4-8199-D736F1D95DB8}">
      <dgm:prSet phldrT="[文本]" custT="1"/>
      <dgm:spPr>
        <a:solidFill>
          <a:schemeClr val="accent1">
            <a:lumMod val="20000"/>
            <a:lumOff val="80000"/>
          </a:schemeClr>
        </a:solidFill>
      </dgm:spPr>
      <dgm:t>
        <a:bodyPr/>
        <a:lstStyle/>
        <a:p>
          <a:r>
            <a:rPr lang="zh-CN" altLang="en-US" sz="1600" b="0" dirty="0">
              <a:solidFill>
                <a:schemeClr val="tx1"/>
              </a:solidFill>
              <a:effectLst/>
              <a:latin typeface="微软雅黑" panose="020B0503020204020204" pitchFamily="34" charset="-122"/>
              <a:ea typeface="微软雅黑" panose="020B0503020204020204" pitchFamily="34" charset="-122"/>
              <a:cs typeface="+mn-cs"/>
            </a:rPr>
            <a:t>多元线性回归</a:t>
          </a:r>
          <a:endParaRPr lang="zh-CN" altLang="en-US" sz="1600" dirty="0"/>
        </a:p>
      </dgm:t>
    </dgm:pt>
    <dgm:pt modelId="{25448E2A-F115-4921-A8D0-D1FDF9128E55}" cxnId="{4A2AA37C-9739-45BA-8D23-B3AA6E2A3B70}" type="parTrans">
      <dgm:prSet/>
      <dgm:spPr>
        <a:ln>
          <a:solidFill>
            <a:schemeClr val="accent5"/>
          </a:solidFill>
        </a:ln>
      </dgm:spPr>
      <dgm:t>
        <a:bodyPr/>
        <a:lstStyle/>
        <a:p>
          <a:endParaRPr lang="zh-CN" altLang="en-US"/>
        </a:p>
      </dgm:t>
    </dgm:pt>
    <dgm:pt modelId="{03100871-20D5-474A-8AB6-8C13945A2062}" cxnId="{4A2AA37C-9739-45BA-8D23-B3AA6E2A3B70}" type="sibTrans">
      <dgm:prSet/>
      <dgm:spPr/>
      <dgm:t>
        <a:bodyPr/>
        <a:lstStyle/>
        <a:p>
          <a:endParaRPr lang="zh-CN" altLang="en-US"/>
        </a:p>
      </dgm:t>
    </dgm:pt>
    <dgm:pt modelId="{E6CB9947-2109-4703-81C1-DB90E297E1D0}">
      <dgm:prSet phldrT="[文本]" custT="1"/>
      <dgm:spPr>
        <a:solidFill>
          <a:schemeClr val="accent1">
            <a:lumMod val="20000"/>
            <a:lumOff val="80000"/>
          </a:schemeClr>
        </a:solidFill>
      </dgm:spPr>
      <dgm:t>
        <a:bodyPr/>
        <a:lstStyle/>
        <a:p>
          <a:r>
            <a:rPr lang="zh-CN" altLang="en-US" sz="1600" b="0" dirty="0">
              <a:solidFill>
                <a:schemeClr val="tx1"/>
              </a:solidFill>
              <a:effectLst/>
              <a:latin typeface="微软雅黑" panose="020B0503020204020204" pitchFamily="34" charset="-122"/>
              <a:ea typeface="微软雅黑" panose="020B0503020204020204" pitchFamily="34" charset="-122"/>
              <a:cs typeface="+mn-cs"/>
            </a:rPr>
            <a:t>主成分回归</a:t>
          </a:r>
          <a:endParaRPr lang="zh-CN" altLang="en-US" sz="1700" dirty="0"/>
        </a:p>
      </dgm:t>
    </dgm:pt>
    <dgm:pt modelId="{AB4BC875-1964-4AA6-9384-76FE705E61E6}" cxnId="{ADF0D10C-D46A-48A6-A135-363AF7190733}" type="parTrans">
      <dgm:prSet/>
      <dgm:spPr>
        <a:ln>
          <a:solidFill>
            <a:schemeClr val="accent5"/>
          </a:solidFill>
        </a:ln>
      </dgm:spPr>
      <dgm:t>
        <a:bodyPr/>
        <a:lstStyle/>
        <a:p>
          <a:endParaRPr lang="zh-CN" altLang="en-US"/>
        </a:p>
      </dgm:t>
    </dgm:pt>
    <dgm:pt modelId="{F8BA4E11-96DC-4868-94F9-E2970C887B14}" cxnId="{ADF0D10C-D46A-48A6-A135-363AF7190733}" type="sibTrans">
      <dgm:prSet/>
      <dgm:spPr/>
      <dgm:t>
        <a:bodyPr/>
        <a:lstStyle/>
        <a:p>
          <a:endParaRPr lang="zh-CN" altLang="en-US"/>
        </a:p>
      </dgm:t>
    </dgm:pt>
    <dgm:pt modelId="{39DF497A-2BA0-4299-BEBE-336834959B75}">
      <dgm:prSet phldrT="[文本]" custT="1"/>
      <dgm:spPr>
        <a:solidFill>
          <a:schemeClr val="accent1">
            <a:lumMod val="20000"/>
            <a:lumOff val="80000"/>
          </a:schemeClr>
        </a:solidFill>
      </dgm:spPr>
      <dgm:t>
        <a:bodyPr/>
        <a:lstStyle/>
        <a:p>
          <a:r>
            <a:rPr lang="zh-CN" altLang="en-US" sz="1600" b="0" kern="1200" dirty="0">
              <a:solidFill>
                <a:prstClr val="black"/>
              </a:solidFill>
              <a:effectLst/>
              <a:latin typeface="微软雅黑" panose="020B0503020204020204" pitchFamily="34" charset="-122"/>
              <a:ea typeface="微软雅黑" panose="020B0503020204020204" pitchFamily="34" charset="-122"/>
              <a:cs typeface="+mn-cs"/>
            </a:rPr>
            <a:t>偏最小二乘回归</a:t>
          </a:r>
        </a:p>
      </dgm:t>
    </dgm:pt>
    <dgm:pt modelId="{D33C11FC-C2B0-431F-928E-43B9EFD95453}" cxnId="{963A7AA0-371A-4BC9-9AAE-8250471B4ECF}" type="parTrans">
      <dgm:prSet/>
      <dgm:spPr/>
      <dgm:t>
        <a:bodyPr/>
        <a:lstStyle/>
        <a:p>
          <a:endParaRPr lang="zh-CN" altLang="en-US"/>
        </a:p>
      </dgm:t>
    </dgm:pt>
    <dgm:pt modelId="{BAF401B5-8682-4FDC-AA1C-46A83BDEEB68}" cxnId="{963A7AA0-371A-4BC9-9AAE-8250471B4ECF}" type="sibTrans">
      <dgm:prSet/>
      <dgm:spPr/>
      <dgm:t>
        <a:bodyPr/>
        <a:lstStyle/>
        <a:p>
          <a:endParaRPr lang="zh-CN" altLang="en-US"/>
        </a:p>
      </dgm:t>
    </dgm:pt>
    <dgm:pt modelId="{01676B04-6C4B-4218-95EC-7A34A80EB5E2}">
      <dgm:prSet phldrT="[文本]"/>
      <dgm:spPr>
        <a:solidFill>
          <a:schemeClr val="accent1">
            <a:lumMod val="20000"/>
            <a:lumOff val="80000"/>
          </a:schemeClr>
        </a:solidFill>
      </dgm:spPr>
      <dgm:t>
        <a:bodyPr/>
        <a:lstStyle/>
        <a:p>
          <a:r>
            <a:rPr lang="zh-CN" altLang="en-US" b="0" dirty="0">
              <a:solidFill>
                <a:prstClr val="black"/>
              </a:solidFill>
              <a:effectLst/>
              <a:latin typeface="微软雅黑" panose="020B0503020204020204" pitchFamily="34" charset="-122"/>
              <a:ea typeface="微软雅黑" panose="020B0503020204020204" pitchFamily="34" charset="-122"/>
              <a:cs typeface="+mn-cs"/>
            </a:rPr>
            <a:t>非线性偏最小二乘回归</a:t>
          </a:r>
        </a:p>
      </dgm:t>
    </dgm:pt>
    <dgm:pt modelId="{0910A273-B154-48FE-A058-5BB6FECCEEF3}" cxnId="{20F40152-B118-436D-A7FE-81C6FB699756}" type="parTrans">
      <dgm:prSet/>
      <dgm:spPr/>
      <dgm:t>
        <a:bodyPr/>
        <a:lstStyle/>
        <a:p>
          <a:endParaRPr lang="zh-CN" altLang="en-US"/>
        </a:p>
      </dgm:t>
    </dgm:pt>
    <dgm:pt modelId="{EE05EF2F-A4E6-47D8-9CB1-00E3E00446A4}" cxnId="{20F40152-B118-436D-A7FE-81C6FB699756}" type="sibTrans">
      <dgm:prSet/>
      <dgm:spPr/>
      <dgm:t>
        <a:bodyPr/>
        <a:lstStyle/>
        <a:p>
          <a:endParaRPr lang="zh-CN" altLang="en-US"/>
        </a:p>
      </dgm:t>
    </dgm:pt>
    <dgm:pt modelId="{4EFF9733-2D32-455F-BA7A-DACCE92733F6}">
      <dgm:prSet phldrT="[文本]"/>
      <dgm:spPr>
        <a:solidFill>
          <a:schemeClr val="accent1">
            <a:lumMod val="20000"/>
            <a:lumOff val="80000"/>
          </a:schemeClr>
        </a:solidFill>
      </dgm:spPr>
      <dgm:t>
        <a:bodyPr/>
        <a:lstStyle/>
        <a:p>
          <a:r>
            <a:rPr lang="zh-CN" altLang="en-US" b="0" dirty="0">
              <a:solidFill>
                <a:prstClr val="black"/>
              </a:solidFill>
              <a:effectLst/>
              <a:latin typeface="微软雅黑" panose="020B0503020204020204" pitchFamily="34" charset="-122"/>
              <a:ea typeface="微软雅黑" panose="020B0503020204020204" pitchFamily="34" charset="-122"/>
              <a:cs typeface="+mn-cs"/>
            </a:rPr>
            <a:t>人工神经网络</a:t>
          </a:r>
        </a:p>
      </dgm:t>
    </dgm:pt>
    <dgm:pt modelId="{6C8D5BA8-80C3-48D3-AFE6-33FDCC8B7672}" cxnId="{EBC1F323-4771-42C8-A2C4-BB51B784067D}" type="parTrans">
      <dgm:prSet/>
      <dgm:spPr/>
      <dgm:t>
        <a:bodyPr/>
        <a:lstStyle/>
        <a:p>
          <a:endParaRPr lang="zh-CN" altLang="en-US"/>
        </a:p>
      </dgm:t>
    </dgm:pt>
    <dgm:pt modelId="{179EB6F8-237E-4B95-BED8-E345C3326EA3}" cxnId="{EBC1F323-4771-42C8-A2C4-BB51B784067D}" type="sibTrans">
      <dgm:prSet/>
      <dgm:spPr/>
      <dgm:t>
        <a:bodyPr/>
        <a:lstStyle/>
        <a:p>
          <a:endParaRPr lang="zh-CN" altLang="en-US"/>
        </a:p>
      </dgm:t>
    </dgm:pt>
    <dgm:pt modelId="{AF5BC33B-0839-4236-8604-E7AB36436806}" type="pres">
      <dgm:prSet presAssocID="{194D124A-47EA-4CC2-8E30-4628B2346F4C}" presName="hierChild1" presStyleCnt="0">
        <dgm:presLayoutVars>
          <dgm:orgChart val="1"/>
          <dgm:chPref val="1"/>
          <dgm:dir/>
          <dgm:animOne val="branch"/>
          <dgm:animLvl val="lvl"/>
          <dgm:resizeHandles/>
        </dgm:presLayoutVars>
      </dgm:prSet>
      <dgm:spPr/>
    </dgm:pt>
    <dgm:pt modelId="{00CA9698-0026-43E9-8687-C649FBED0DE4}" type="pres">
      <dgm:prSet presAssocID="{D8D1C191-028A-4045-BEDB-27EB6FE8F556}" presName="hierRoot1" presStyleCnt="0">
        <dgm:presLayoutVars>
          <dgm:hierBranch val="init"/>
        </dgm:presLayoutVars>
      </dgm:prSet>
      <dgm:spPr/>
    </dgm:pt>
    <dgm:pt modelId="{8DDAD50A-3477-4553-9FE7-E54D81BA8F26}" type="pres">
      <dgm:prSet presAssocID="{D8D1C191-028A-4045-BEDB-27EB6FE8F556}" presName="rootComposite1" presStyleCnt="0"/>
      <dgm:spPr/>
    </dgm:pt>
    <dgm:pt modelId="{A1B414B1-B1A1-4B25-B77C-E916AB074E1A}" type="pres">
      <dgm:prSet presAssocID="{D8D1C191-028A-4045-BEDB-27EB6FE8F556}" presName="rootText1" presStyleLbl="node0" presStyleIdx="0" presStyleCnt="1" custScaleX="118766" custScaleY="67038" custLinFactNeighborX="1417" custLinFactNeighborY="-31069">
        <dgm:presLayoutVars>
          <dgm:chPref val="3"/>
        </dgm:presLayoutVars>
      </dgm:prSet>
      <dgm:spPr/>
    </dgm:pt>
    <dgm:pt modelId="{C622A05B-3925-4A2F-8901-231F6C748A31}" type="pres">
      <dgm:prSet presAssocID="{D8D1C191-028A-4045-BEDB-27EB6FE8F556}" presName="rootConnector1" presStyleLbl="node1" presStyleIdx="0" presStyleCnt="0"/>
      <dgm:spPr/>
    </dgm:pt>
    <dgm:pt modelId="{C11BF8CD-E2AE-4433-A4F9-5A78240D1578}" type="pres">
      <dgm:prSet presAssocID="{D8D1C191-028A-4045-BEDB-27EB6FE8F556}" presName="hierChild2" presStyleCnt="0"/>
      <dgm:spPr/>
    </dgm:pt>
    <dgm:pt modelId="{E660ADB4-5123-458F-BB78-690882E87294}" type="pres">
      <dgm:prSet presAssocID="{25448E2A-F115-4921-A8D0-D1FDF9128E55}" presName="Name37" presStyleLbl="parChTrans1D2" presStyleIdx="0" presStyleCnt="5"/>
      <dgm:spPr/>
    </dgm:pt>
    <dgm:pt modelId="{7A9A7ABF-7716-41C0-AF5A-89EDE9E6C477}" type="pres">
      <dgm:prSet presAssocID="{E1BCE32A-1762-40E4-8199-D736F1D95DB8}" presName="hierRoot2" presStyleCnt="0">
        <dgm:presLayoutVars>
          <dgm:hierBranch val="init"/>
        </dgm:presLayoutVars>
      </dgm:prSet>
      <dgm:spPr/>
    </dgm:pt>
    <dgm:pt modelId="{B164624E-472C-41F7-927F-DA7818438509}" type="pres">
      <dgm:prSet presAssocID="{E1BCE32A-1762-40E4-8199-D736F1D95DB8}" presName="rootComposite" presStyleCnt="0"/>
      <dgm:spPr/>
    </dgm:pt>
    <dgm:pt modelId="{9C7F65E3-9EB5-46D1-8434-052A03E27B7D}" type="pres">
      <dgm:prSet presAssocID="{E1BCE32A-1762-40E4-8199-D736F1D95DB8}" presName="rootText" presStyleLbl="node2" presStyleIdx="0" presStyleCnt="5" custScaleX="109867" custScaleY="65149" custLinFactNeighborX="-1069" custLinFactNeighborY="-6016">
        <dgm:presLayoutVars>
          <dgm:chPref val="3"/>
        </dgm:presLayoutVars>
      </dgm:prSet>
      <dgm:spPr/>
    </dgm:pt>
    <dgm:pt modelId="{BAC82406-E5A2-4F50-BA14-1EEE4C268B6A}" type="pres">
      <dgm:prSet presAssocID="{E1BCE32A-1762-40E4-8199-D736F1D95DB8}" presName="rootConnector" presStyleLbl="node2" presStyleIdx="0" presStyleCnt="5"/>
      <dgm:spPr/>
    </dgm:pt>
    <dgm:pt modelId="{C464D637-1A42-4BC3-8A18-43612949B1C9}" type="pres">
      <dgm:prSet presAssocID="{E1BCE32A-1762-40E4-8199-D736F1D95DB8}" presName="hierChild4" presStyleCnt="0"/>
      <dgm:spPr/>
    </dgm:pt>
    <dgm:pt modelId="{E8E7507A-6CF3-4F25-B5C2-1B625962E4C0}" type="pres">
      <dgm:prSet presAssocID="{E1BCE32A-1762-40E4-8199-D736F1D95DB8}" presName="hierChild5" presStyleCnt="0"/>
      <dgm:spPr/>
    </dgm:pt>
    <dgm:pt modelId="{5450D59B-3144-4BCF-809C-42F58CC25390}" type="pres">
      <dgm:prSet presAssocID="{AB4BC875-1964-4AA6-9384-76FE705E61E6}" presName="Name37" presStyleLbl="parChTrans1D2" presStyleIdx="1" presStyleCnt="5"/>
      <dgm:spPr/>
    </dgm:pt>
    <dgm:pt modelId="{03A73876-0503-4D63-A8F4-29F108F66D96}" type="pres">
      <dgm:prSet presAssocID="{E6CB9947-2109-4703-81C1-DB90E297E1D0}" presName="hierRoot2" presStyleCnt="0">
        <dgm:presLayoutVars>
          <dgm:hierBranch val="init"/>
        </dgm:presLayoutVars>
      </dgm:prSet>
      <dgm:spPr/>
    </dgm:pt>
    <dgm:pt modelId="{2B2AFFB8-159F-42E5-87AA-25E55C90BC04}" type="pres">
      <dgm:prSet presAssocID="{E6CB9947-2109-4703-81C1-DB90E297E1D0}" presName="rootComposite" presStyleCnt="0"/>
      <dgm:spPr/>
    </dgm:pt>
    <dgm:pt modelId="{37C55316-295B-46D2-B0C6-3B837EBF849D}" type="pres">
      <dgm:prSet presAssocID="{E6CB9947-2109-4703-81C1-DB90E297E1D0}" presName="rootText" presStyleLbl="node2" presStyleIdx="1" presStyleCnt="5" custScaleY="66556" custLinFactNeighborX="466" custLinFactNeighborY="-5748">
        <dgm:presLayoutVars>
          <dgm:chPref val="3"/>
        </dgm:presLayoutVars>
      </dgm:prSet>
      <dgm:spPr/>
    </dgm:pt>
    <dgm:pt modelId="{1E009E5E-0B12-4930-927D-AC70C0E1F41A}" type="pres">
      <dgm:prSet presAssocID="{E6CB9947-2109-4703-81C1-DB90E297E1D0}" presName="rootConnector" presStyleLbl="node2" presStyleIdx="1" presStyleCnt="5"/>
      <dgm:spPr/>
    </dgm:pt>
    <dgm:pt modelId="{E4328A08-46CE-4D53-9A04-CC15D9E08A0D}" type="pres">
      <dgm:prSet presAssocID="{E6CB9947-2109-4703-81C1-DB90E297E1D0}" presName="hierChild4" presStyleCnt="0"/>
      <dgm:spPr/>
    </dgm:pt>
    <dgm:pt modelId="{FDD3FE94-6CCC-4466-A340-98DE0D05B9D1}" type="pres">
      <dgm:prSet presAssocID="{E6CB9947-2109-4703-81C1-DB90E297E1D0}" presName="hierChild5" presStyleCnt="0"/>
      <dgm:spPr/>
    </dgm:pt>
    <dgm:pt modelId="{07F2A534-4AF5-4E70-8B5A-CEEDA81CB645}" type="pres">
      <dgm:prSet presAssocID="{D33C11FC-C2B0-431F-928E-43B9EFD95453}" presName="Name37" presStyleLbl="parChTrans1D2" presStyleIdx="2" presStyleCnt="5"/>
      <dgm:spPr/>
    </dgm:pt>
    <dgm:pt modelId="{A3309B41-59B0-4297-905A-53960FDF7159}" type="pres">
      <dgm:prSet presAssocID="{39DF497A-2BA0-4299-BEBE-336834959B75}" presName="hierRoot2" presStyleCnt="0">
        <dgm:presLayoutVars>
          <dgm:hierBranch val="init"/>
        </dgm:presLayoutVars>
      </dgm:prSet>
      <dgm:spPr/>
    </dgm:pt>
    <dgm:pt modelId="{BA8EE9A5-44B3-4F73-BE27-CE31E3DDDE9A}" type="pres">
      <dgm:prSet presAssocID="{39DF497A-2BA0-4299-BEBE-336834959B75}" presName="rootComposite" presStyleCnt="0"/>
      <dgm:spPr/>
    </dgm:pt>
    <dgm:pt modelId="{EDA51328-5D84-4851-83F7-642409476672}" type="pres">
      <dgm:prSet presAssocID="{39DF497A-2BA0-4299-BEBE-336834959B75}" presName="rootText" presStyleLbl="node2" presStyleIdx="2" presStyleCnt="5" custScaleX="130129" custScaleY="66556" custLinFactNeighborX="466" custLinFactNeighborY="-5748">
        <dgm:presLayoutVars>
          <dgm:chPref val="3"/>
        </dgm:presLayoutVars>
      </dgm:prSet>
      <dgm:spPr/>
    </dgm:pt>
    <dgm:pt modelId="{A74F4897-0BCE-4FD5-BBEE-E194AD936F5F}" type="pres">
      <dgm:prSet presAssocID="{39DF497A-2BA0-4299-BEBE-336834959B75}" presName="rootConnector" presStyleLbl="node2" presStyleIdx="2" presStyleCnt="5"/>
      <dgm:spPr/>
    </dgm:pt>
    <dgm:pt modelId="{12338CB3-7599-4E56-BF74-7331D6CF1D68}" type="pres">
      <dgm:prSet presAssocID="{39DF497A-2BA0-4299-BEBE-336834959B75}" presName="hierChild4" presStyleCnt="0"/>
      <dgm:spPr/>
    </dgm:pt>
    <dgm:pt modelId="{1F0540B0-1E14-4D94-A17C-290E746BC63E}" type="pres">
      <dgm:prSet presAssocID="{39DF497A-2BA0-4299-BEBE-336834959B75}" presName="hierChild5" presStyleCnt="0"/>
      <dgm:spPr/>
    </dgm:pt>
    <dgm:pt modelId="{D9F69800-6040-4176-932F-4BAAB3EB9E42}" type="pres">
      <dgm:prSet presAssocID="{0910A273-B154-48FE-A058-5BB6FECCEEF3}" presName="Name37" presStyleLbl="parChTrans1D2" presStyleIdx="3" presStyleCnt="5"/>
      <dgm:spPr/>
    </dgm:pt>
    <dgm:pt modelId="{7ECFF1B6-9CCD-4ADB-A2A1-95FD18D75F8B}" type="pres">
      <dgm:prSet presAssocID="{01676B04-6C4B-4218-95EC-7A34A80EB5E2}" presName="hierRoot2" presStyleCnt="0">
        <dgm:presLayoutVars>
          <dgm:hierBranch val="init"/>
        </dgm:presLayoutVars>
      </dgm:prSet>
      <dgm:spPr/>
    </dgm:pt>
    <dgm:pt modelId="{42B33E55-AD2C-478D-ACAB-A0164F3DCC4B}" type="pres">
      <dgm:prSet presAssocID="{01676B04-6C4B-4218-95EC-7A34A80EB5E2}" presName="rootComposite" presStyleCnt="0"/>
      <dgm:spPr/>
    </dgm:pt>
    <dgm:pt modelId="{A2954A1E-E556-4C56-9EF0-383A5FEB6E4B}" type="pres">
      <dgm:prSet presAssocID="{01676B04-6C4B-4218-95EC-7A34A80EB5E2}" presName="rootText" presStyleLbl="node2" presStyleIdx="3" presStyleCnt="5" custScaleX="130129" custScaleY="66556" custLinFactNeighborX="466" custLinFactNeighborY="-5748">
        <dgm:presLayoutVars>
          <dgm:chPref val="3"/>
        </dgm:presLayoutVars>
      </dgm:prSet>
      <dgm:spPr/>
    </dgm:pt>
    <dgm:pt modelId="{BF1C086F-C26B-4D7F-AAC6-26DC31ABB225}" type="pres">
      <dgm:prSet presAssocID="{01676B04-6C4B-4218-95EC-7A34A80EB5E2}" presName="rootConnector" presStyleLbl="node2" presStyleIdx="3" presStyleCnt="5"/>
      <dgm:spPr/>
    </dgm:pt>
    <dgm:pt modelId="{CA35781D-8FB7-4397-B0DB-64F1C0F070FE}" type="pres">
      <dgm:prSet presAssocID="{01676B04-6C4B-4218-95EC-7A34A80EB5E2}" presName="hierChild4" presStyleCnt="0"/>
      <dgm:spPr/>
    </dgm:pt>
    <dgm:pt modelId="{66414B40-0A2F-49D9-A9F2-9855BFCE8D26}" type="pres">
      <dgm:prSet presAssocID="{01676B04-6C4B-4218-95EC-7A34A80EB5E2}" presName="hierChild5" presStyleCnt="0"/>
      <dgm:spPr/>
    </dgm:pt>
    <dgm:pt modelId="{388893F6-B582-4046-8B6F-94889B5174CA}" type="pres">
      <dgm:prSet presAssocID="{6C8D5BA8-80C3-48D3-AFE6-33FDCC8B7672}" presName="Name37" presStyleLbl="parChTrans1D2" presStyleIdx="4" presStyleCnt="5"/>
      <dgm:spPr/>
    </dgm:pt>
    <dgm:pt modelId="{038E1075-DD46-4212-BCC1-4F95DC1BE76F}" type="pres">
      <dgm:prSet presAssocID="{4EFF9733-2D32-455F-BA7A-DACCE92733F6}" presName="hierRoot2" presStyleCnt="0">
        <dgm:presLayoutVars>
          <dgm:hierBranch val="init"/>
        </dgm:presLayoutVars>
      </dgm:prSet>
      <dgm:spPr/>
    </dgm:pt>
    <dgm:pt modelId="{E142393F-9598-4111-974A-B98B17B55EE7}" type="pres">
      <dgm:prSet presAssocID="{4EFF9733-2D32-455F-BA7A-DACCE92733F6}" presName="rootComposite" presStyleCnt="0"/>
      <dgm:spPr/>
    </dgm:pt>
    <dgm:pt modelId="{4709F596-A960-4CE1-A3B8-ACCF50B63E1B}" type="pres">
      <dgm:prSet presAssocID="{4EFF9733-2D32-455F-BA7A-DACCE92733F6}" presName="rootText" presStyleLbl="node2" presStyleIdx="4" presStyleCnt="5" custScaleX="130129" custScaleY="66556" custLinFactNeighborX="466" custLinFactNeighborY="-5748">
        <dgm:presLayoutVars>
          <dgm:chPref val="3"/>
        </dgm:presLayoutVars>
      </dgm:prSet>
      <dgm:spPr/>
    </dgm:pt>
    <dgm:pt modelId="{E0184CFB-721B-4ED7-9C22-A0D8C80E27C1}" type="pres">
      <dgm:prSet presAssocID="{4EFF9733-2D32-455F-BA7A-DACCE92733F6}" presName="rootConnector" presStyleLbl="node2" presStyleIdx="4" presStyleCnt="5"/>
      <dgm:spPr/>
    </dgm:pt>
    <dgm:pt modelId="{02FE060B-62D9-4529-A58F-8D02036A5398}" type="pres">
      <dgm:prSet presAssocID="{4EFF9733-2D32-455F-BA7A-DACCE92733F6}" presName="hierChild4" presStyleCnt="0"/>
      <dgm:spPr/>
    </dgm:pt>
    <dgm:pt modelId="{77F42045-8B9D-4DB4-8C21-57DBDFBDBB03}" type="pres">
      <dgm:prSet presAssocID="{4EFF9733-2D32-455F-BA7A-DACCE92733F6}" presName="hierChild5" presStyleCnt="0"/>
      <dgm:spPr/>
    </dgm:pt>
    <dgm:pt modelId="{0DFF7662-DD05-4565-859E-FDA005DA64D7}" type="pres">
      <dgm:prSet presAssocID="{D8D1C191-028A-4045-BEDB-27EB6FE8F556}" presName="hierChild3" presStyleCnt="0"/>
      <dgm:spPr/>
    </dgm:pt>
  </dgm:ptLst>
  <dgm:cxnLst>
    <dgm:cxn modelId="{1292F502-29A5-43BC-B434-0EE2C0E45844}" type="presOf" srcId="{01676B04-6C4B-4218-95EC-7A34A80EB5E2}" destId="{A2954A1E-E556-4C56-9EF0-383A5FEB6E4B}" srcOrd="0" destOrd="0" presId="urn:microsoft.com/office/officeart/2005/8/layout/orgChart1#2"/>
    <dgm:cxn modelId="{ADF0D10C-D46A-48A6-A135-363AF7190733}" srcId="{D8D1C191-028A-4045-BEDB-27EB6FE8F556}" destId="{E6CB9947-2109-4703-81C1-DB90E297E1D0}" srcOrd="1" destOrd="0" parTransId="{AB4BC875-1964-4AA6-9384-76FE705E61E6}" sibTransId="{F8BA4E11-96DC-4868-94F9-E2970C887B14}"/>
    <dgm:cxn modelId="{5F72D919-367A-45AC-B797-70AA742751F5}" type="presOf" srcId="{E6CB9947-2109-4703-81C1-DB90E297E1D0}" destId="{1E009E5E-0B12-4930-927D-AC70C0E1F41A}" srcOrd="1" destOrd="0" presId="urn:microsoft.com/office/officeart/2005/8/layout/orgChart1#2"/>
    <dgm:cxn modelId="{EBC1F323-4771-42C8-A2C4-BB51B784067D}" srcId="{D8D1C191-028A-4045-BEDB-27EB6FE8F556}" destId="{4EFF9733-2D32-455F-BA7A-DACCE92733F6}" srcOrd="4" destOrd="0" parTransId="{6C8D5BA8-80C3-48D3-AFE6-33FDCC8B7672}" sibTransId="{179EB6F8-237E-4B95-BED8-E345C3326EA3}"/>
    <dgm:cxn modelId="{941CEC26-261D-41E1-A80E-CB91A6BAE4FC}" srcId="{194D124A-47EA-4CC2-8E30-4628B2346F4C}" destId="{D8D1C191-028A-4045-BEDB-27EB6FE8F556}" srcOrd="0" destOrd="0" parTransId="{17B8BF3E-237E-4A3B-9D8F-C957D116A135}" sibTransId="{52A73B19-FC72-41B8-B622-80A295A4A420}"/>
    <dgm:cxn modelId="{75758228-C83D-4A19-9557-11E4E0928376}" type="presOf" srcId="{E1BCE32A-1762-40E4-8199-D736F1D95DB8}" destId="{9C7F65E3-9EB5-46D1-8434-052A03E27B7D}" srcOrd="0" destOrd="0" presId="urn:microsoft.com/office/officeart/2005/8/layout/orgChart1#2"/>
    <dgm:cxn modelId="{1B2D612D-9E1D-460F-9D5B-248C3876706E}" type="presOf" srcId="{39DF497A-2BA0-4299-BEBE-336834959B75}" destId="{A74F4897-0BCE-4FD5-BBEE-E194AD936F5F}" srcOrd="1" destOrd="0" presId="urn:microsoft.com/office/officeart/2005/8/layout/orgChart1#2"/>
    <dgm:cxn modelId="{876A1540-AFCD-4585-AC07-B404A16D448B}" type="presOf" srcId="{D33C11FC-C2B0-431F-928E-43B9EFD95453}" destId="{07F2A534-4AF5-4E70-8B5A-CEEDA81CB645}" srcOrd="0" destOrd="0" presId="urn:microsoft.com/office/officeart/2005/8/layout/orgChart1#2"/>
    <dgm:cxn modelId="{F0DF1344-5350-4ED9-A285-50D978A6772E}" type="presOf" srcId="{4EFF9733-2D32-455F-BA7A-DACCE92733F6}" destId="{E0184CFB-721B-4ED7-9C22-A0D8C80E27C1}" srcOrd="1" destOrd="0" presId="urn:microsoft.com/office/officeart/2005/8/layout/orgChart1#2"/>
    <dgm:cxn modelId="{78936E6D-38CC-44DA-9D75-878C76F15D96}" type="presOf" srcId="{39DF497A-2BA0-4299-BEBE-336834959B75}" destId="{EDA51328-5D84-4851-83F7-642409476672}" srcOrd="0" destOrd="0" presId="urn:microsoft.com/office/officeart/2005/8/layout/orgChart1#2"/>
    <dgm:cxn modelId="{5C63C76D-F499-4CEA-B40E-94AA62771F82}" type="presOf" srcId="{AB4BC875-1964-4AA6-9384-76FE705E61E6}" destId="{5450D59B-3144-4BCF-809C-42F58CC25390}" srcOrd="0" destOrd="0" presId="urn:microsoft.com/office/officeart/2005/8/layout/orgChart1#2"/>
    <dgm:cxn modelId="{20F40152-B118-436D-A7FE-81C6FB699756}" srcId="{D8D1C191-028A-4045-BEDB-27EB6FE8F556}" destId="{01676B04-6C4B-4218-95EC-7A34A80EB5E2}" srcOrd="3" destOrd="0" parTransId="{0910A273-B154-48FE-A058-5BB6FECCEEF3}" sibTransId="{EE05EF2F-A4E6-47D8-9CB1-00E3E00446A4}"/>
    <dgm:cxn modelId="{D8A63E59-B0E2-454D-A554-9AF0E4233CDC}" type="presOf" srcId="{D8D1C191-028A-4045-BEDB-27EB6FE8F556}" destId="{A1B414B1-B1A1-4B25-B77C-E916AB074E1A}" srcOrd="0" destOrd="0" presId="urn:microsoft.com/office/officeart/2005/8/layout/orgChart1#2"/>
    <dgm:cxn modelId="{4A2AA37C-9739-45BA-8D23-B3AA6E2A3B70}" srcId="{D8D1C191-028A-4045-BEDB-27EB6FE8F556}" destId="{E1BCE32A-1762-40E4-8199-D736F1D95DB8}" srcOrd="0" destOrd="0" parTransId="{25448E2A-F115-4921-A8D0-D1FDF9128E55}" sibTransId="{03100871-20D5-474A-8AB6-8C13945A2062}"/>
    <dgm:cxn modelId="{A0669582-D4B7-4F2B-9008-6D5C306F703B}" type="presOf" srcId="{4EFF9733-2D32-455F-BA7A-DACCE92733F6}" destId="{4709F596-A960-4CE1-A3B8-ACCF50B63E1B}" srcOrd="0" destOrd="0" presId="urn:microsoft.com/office/officeart/2005/8/layout/orgChart1#2"/>
    <dgm:cxn modelId="{86E55186-D3CF-4BDC-82BE-DF193F7CD81D}" type="presOf" srcId="{194D124A-47EA-4CC2-8E30-4628B2346F4C}" destId="{AF5BC33B-0839-4236-8604-E7AB36436806}" srcOrd="0" destOrd="0" presId="urn:microsoft.com/office/officeart/2005/8/layout/orgChart1#2"/>
    <dgm:cxn modelId="{D07B6396-43C3-4862-B037-5CA5619FF466}" type="presOf" srcId="{D8D1C191-028A-4045-BEDB-27EB6FE8F556}" destId="{C622A05B-3925-4A2F-8901-231F6C748A31}" srcOrd="1" destOrd="0" presId="urn:microsoft.com/office/officeart/2005/8/layout/orgChart1#2"/>
    <dgm:cxn modelId="{F5EF56A0-DACC-4C20-BAEB-AB34246DA6CC}" type="presOf" srcId="{0910A273-B154-48FE-A058-5BB6FECCEEF3}" destId="{D9F69800-6040-4176-932F-4BAAB3EB9E42}" srcOrd="0" destOrd="0" presId="urn:microsoft.com/office/officeart/2005/8/layout/orgChart1#2"/>
    <dgm:cxn modelId="{963A7AA0-371A-4BC9-9AAE-8250471B4ECF}" srcId="{D8D1C191-028A-4045-BEDB-27EB6FE8F556}" destId="{39DF497A-2BA0-4299-BEBE-336834959B75}" srcOrd="2" destOrd="0" parTransId="{D33C11FC-C2B0-431F-928E-43B9EFD95453}" sibTransId="{BAF401B5-8682-4FDC-AA1C-46A83BDEEB68}"/>
    <dgm:cxn modelId="{0F3181B4-741D-4B05-A0FD-3ADA75EB185D}" type="presOf" srcId="{E1BCE32A-1762-40E4-8199-D736F1D95DB8}" destId="{BAC82406-E5A2-4F50-BA14-1EEE4C268B6A}" srcOrd="1" destOrd="0" presId="urn:microsoft.com/office/officeart/2005/8/layout/orgChart1#2"/>
    <dgm:cxn modelId="{218125D4-035D-4197-A3F9-BA8E6FB5003B}" type="presOf" srcId="{E6CB9947-2109-4703-81C1-DB90E297E1D0}" destId="{37C55316-295B-46D2-B0C6-3B837EBF849D}" srcOrd="0" destOrd="0" presId="urn:microsoft.com/office/officeart/2005/8/layout/orgChart1#2"/>
    <dgm:cxn modelId="{EC2CF7E1-4868-440A-A64F-03CCD82FD496}" type="presOf" srcId="{25448E2A-F115-4921-A8D0-D1FDF9128E55}" destId="{E660ADB4-5123-458F-BB78-690882E87294}" srcOrd="0" destOrd="0" presId="urn:microsoft.com/office/officeart/2005/8/layout/orgChart1#2"/>
    <dgm:cxn modelId="{DA047FFA-4FC3-4AB7-9140-B6FD3A8D6220}" type="presOf" srcId="{01676B04-6C4B-4218-95EC-7A34A80EB5E2}" destId="{BF1C086F-C26B-4D7F-AAC6-26DC31ABB225}" srcOrd="1" destOrd="0" presId="urn:microsoft.com/office/officeart/2005/8/layout/orgChart1#2"/>
    <dgm:cxn modelId="{EBA44FFF-C46D-427F-BDDF-BEA84A41A2E4}" type="presOf" srcId="{6C8D5BA8-80C3-48D3-AFE6-33FDCC8B7672}" destId="{388893F6-B582-4046-8B6F-94889B5174CA}" srcOrd="0" destOrd="0" presId="urn:microsoft.com/office/officeart/2005/8/layout/orgChart1#2"/>
    <dgm:cxn modelId="{4BAD0149-5297-4BC6-90A3-6DD4344665DB}" type="presParOf" srcId="{AF5BC33B-0839-4236-8604-E7AB36436806}" destId="{00CA9698-0026-43E9-8687-C649FBED0DE4}" srcOrd="0" destOrd="0" presId="urn:microsoft.com/office/officeart/2005/8/layout/orgChart1#2"/>
    <dgm:cxn modelId="{93FE1E16-E43A-4A6B-B9B0-BC91B80CE123}" type="presParOf" srcId="{00CA9698-0026-43E9-8687-C649FBED0DE4}" destId="{8DDAD50A-3477-4553-9FE7-E54D81BA8F26}" srcOrd="0" destOrd="0" presId="urn:microsoft.com/office/officeart/2005/8/layout/orgChart1#2"/>
    <dgm:cxn modelId="{300243DD-B1DF-4986-9914-575120F1F0C9}" type="presParOf" srcId="{8DDAD50A-3477-4553-9FE7-E54D81BA8F26}" destId="{A1B414B1-B1A1-4B25-B77C-E916AB074E1A}" srcOrd="0" destOrd="0" presId="urn:microsoft.com/office/officeart/2005/8/layout/orgChart1#2"/>
    <dgm:cxn modelId="{30D5A342-C78F-4C5F-85D9-180706298D83}" type="presParOf" srcId="{8DDAD50A-3477-4553-9FE7-E54D81BA8F26}" destId="{C622A05B-3925-4A2F-8901-231F6C748A31}" srcOrd="1" destOrd="0" presId="urn:microsoft.com/office/officeart/2005/8/layout/orgChart1#2"/>
    <dgm:cxn modelId="{5D73DB8B-7E3F-46B6-B23B-4E2A4E34E953}" type="presParOf" srcId="{00CA9698-0026-43E9-8687-C649FBED0DE4}" destId="{C11BF8CD-E2AE-4433-A4F9-5A78240D1578}" srcOrd="1" destOrd="0" presId="urn:microsoft.com/office/officeart/2005/8/layout/orgChart1#2"/>
    <dgm:cxn modelId="{E4E8F31F-0D7B-4B07-88AF-2C2CE3E8760A}" type="presParOf" srcId="{C11BF8CD-E2AE-4433-A4F9-5A78240D1578}" destId="{E660ADB4-5123-458F-BB78-690882E87294}" srcOrd="0" destOrd="0" presId="urn:microsoft.com/office/officeart/2005/8/layout/orgChart1#2"/>
    <dgm:cxn modelId="{921480CD-A6FF-4D6C-B284-19FD5463FF2A}" type="presParOf" srcId="{C11BF8CD-E2AE-4433-A4F9-5A78240D1578}" destId="{7A9A7ABF-7716-41C0-AF5A-89EDE9E6C477}" srcOrd="1" destOrd="0" presId="urn:microsoft.com/office/officeart/2005/8/layout/orgChart1#2"/>
    <dgm:cxn modelId="{C8CC5452-AC8C-49A8-8FB7-FDACE530DBC8}" type="presParOf" srcId="{7A9A7ABF-7716-41C0-AF5A-89EDE9E6C477}" destId="{B164624E-472C-41F7-927F-DA7818438509}" srcOrd="0" destOrd="0" presId="urn:microsoft.com/office/officeart/2005/8/layout/orgChart1#2"/>
    <dgm:cxn modelId="{CF873159-5CBB-4988-AFE4-E75714933F0D}" type="presParOf" srcId="{B164624E-472C-41F7-927F-DA7818438509}" destId="{9C7F65E3-9EB5-46D1-8434-052A03E27B7D}" srcOrd="0" destOrd="0" presId="urn:microsoft.com/office/officeart/2005/8/layout/orgChart1#2"/>
    <dgm:cxn modelId="{5A0DE290-E1A5-4658-816E-09F94EE3FF19}" type="presParOf" srcId="{B164624E-472C-41F7-927F-DA7818438509}" destId="{BAC82406-E5A2-4F50-BA14-1EEE4C268B6A}" srcOrd="1" destOrd="0" presId="urn:microsoft.com/office/officeart/2005/8/layout/orgChart1#2"/>
    <dgm:cxn modelId="{475FE3E3-2620-4892-A0A0-6EC93D65EFFB}" type="presParOf" srcId="{7A9A7ABF-7716-41C0-AF5A-89EDE9E6C477}" destId="{C464D637-1A42-4BC3-8A18-43612949B1C9}" srcOrd="1" destOrd="0" presId="urn:microsoft.com/office/officeart/2005/8/layout/orgChart1#2"/>
    <dgm:cxn modelId="{483D8FF7-A5F1-4197-81D5-AC15F8BB7663}" type="presParOf" srcId="{7A9A7ABF-7716-41C0-AF5A-89EDE9E6C477}" destId="{E8E7507A-6CF3-4F25-B5C2-1B625962E4C0}" srcOrd="2" destOrd="0" presId="urn:microsoft.com/office/officeart/2005/8/layout/orgChart1#2"/>
    <dgm:cxn modelId="{657DBCF0-50F1-4E6E-BE63-28C2459BE2C1}" type="presParOf" srcId="{C11BF8CD-E2AE-4433-A4F9-5A78240D1578}" destId="{5450D59B-3144-4BCF-809C-42F58CC25390}" srcOrd="2" destOrd="0" presId="urn:microsoft.com/office/officeart/2005/8/layout/orgChart1#2"/>
    <dgm:cxn modelId="{6B22B309-B7A6-4448-80A2-BAB844ABDE21}" type="presParOf" srcId="{C11BF8CD-E2AE-4433-A4F9-5A78240D1578}" destId="{03A73876-0503-4D63-A8F4-29F108F66D96}" srcOrd="3" destOrd="0" presId="urn:microsoft.com/office/officeart/2005/8/layout/orgChart1#2"/>
    <dgm:cxn modelId="{2A3A70E9-434A-4933-8486-6D1515EB8EE8}" type="presParOf" srcId="{03A73876-0503-4D63-A8F4-29F108F66D96}" destId="{2B2AFFB8-159F-42E5-87AA-25E55C90BC04}" srcOrd="0" destOrd="0" presId="urn:microsoft.com/office/officeart/2005/8/layout/orgChart1#2"/>
    <dgm:cxn modelId="{921F617D-CDF8-4C2E-91D6-3709203D52AB}" type="presParOf" srcId="{2B2AFFB8-159F-42E5-87AA-25E55C90BC04}" destId="{37C55316-295B-46D2-B0C6-3B837EBF849D}" srcOrd="0" destOrd="0" presId="urn:microsoft.com/office/officeart/2005/8/layout/orgChart1#2"/>
    <dgm:cxn modelId="{D7F25F4A-14F3-48A9-923E-DD5F30FA6EAC}" type="presParOf" srcId="{2B2AFFB8-159F-42E5-87AA-25E55C90BC04}" destId="{1E009E5E-0B12-4930-927D-AC70C0E1F41A}" srcOrd="1" destOrd="0" presId="urn:microsoft.com/office/officeart/2005/8/layout/orgChart1#2"/>
    <dgm:cxn modelId="{0D7092CB-2B6A-4F79-9B88-CAD07FE0F3B4}" type="presParOf" srcId="{03A73876-0503-4D63-A8F4-29F108F66D96}" destId="{E4328A08-46CE-4D53-9A04-CC15D9E08A0D}" srcOrd="1" destOrd="0" presId="urn:microsoft.com/office/officeart/2005/8/layout/orgChart1#2"/>
    <dgm:cxn modelId="{104CC198-DF75-412F-BF0E-83ECD2E1549E}" type="presParOf" srcId="{03A73876-0503-4D63-A8F4-29F108F66D96}" destId="{FDD3FE94-6CCC-4466-A340-98DE0D05B9D1}" srcOrd="2" destOrd="0" presId="urn:microsoft.com/office/officeart/2005/8/layout/orgChart1#2"/>
    <dgm:cxn modelId="{56ABBDAD-CF3B-4BC9-B55D-018698B057BE}" type="presParOf" srcId="{C11BF8CD-E2AE-4433-A4F9-5A78240D1578}" destId="{07F2A534-4AF5-4E70-8B5A-CEEDA81CB645}" srcOrd="4" destOrd="0" presId="urn:microsoft.com/office/officeart/2005/8/layout/orgChart1#2"/>
    <dgm:cxn modelId="{2ED6018A-28BF-477E-BF2F-EC959C402110}" type="presParOf" srcId="{C11BF8CD-E2AE-4433-A4F9-5A78240D1578}" destId="{A3309B41-59B0-4297-905A-53960FDF7159}" srcOrd="5" destOrd="0" presId="urn:microsoft.com/office/officeart/2005/8/layout/orgChart1#2"/>
    <dgm:cxn modelId="{EBB47510-9BEB-4D0A-B670-E4398D84088D}" type="presParOf" srcId="{A3309B41-59B0-4297-905A-53960FDF7159}" destId="{BA8EE9A5-44B3-4F73-BE27-CE31E3DDDE9A}" srcOrd="0" destOrd="0" presId="urn:microsoft.com/office/officeart/2005/8/layout/orgChart1#2"/>
    <dgm:cxn modelId="{D0907325-93BA-458B-AC1A-558043C225D0}" type="presParOf" srcId="{BA8EE9A5-44B3-4F73-BE27-CE31E3DDDE9A}" destId="{EDA51328-5D84-4851-83F7-642409476672}" srcOrd="0" destOrd="0" presId="urn:microsoft.com/office/officeart/2005/8/layout/orgChart1#2"/>
    <dgm:cxn modelId="{D0393FBE-1DE3-40A3-8CA4-7F65D58D233F}" type="presParOf" srcId="{BA8EE9A5-44B3-4F73-BE27-CE31E3DDDE9A}" destId="{A74F4897-0BCE-4FD5-BBEE-E194AD936F5F}" srcOrd="1" destOrd="0" presId="urn:microsoft.com/office/officeart/2005/8/layout/orgChart1#2"/>
    <dgm:cxn modelId="{628776F6-44AF-4F9B-A952-057474F62FD4}" type="presParOf" srcId="{A3309B41-59B0-4297-905A-53960FDF7159}" destId="{12338CB3-7599-4E56-BF74-7331D6CF1D68}" srcOrd="1" destOrd="0" presId="urn:microsoft.com/office/officeart/2005/8/layout/orgChart1#2"/>
    <dgm:cxn modelId="{92F54571-1B94-4603-8BB6-6B14995FA7E1}" type="presParOf" srcId="{A3309B41-59B0-4297-905A-53960FDF7159}" destId="{1F0540B0-1E14-4D94-A17C-290E746BC63E}" srcOrd="2" destOrd="0" presId="urn:microsoft.com/office/officeart/2005/8/layout/orgChart1#2"/>
    <dgm:cxn modelId="{DB64EA62-EB0D-4984-ABD2-F64D6B6DCAA1}" type="presParOf" srcId="{C11BF8CD-E2AE-4433-A4F9-5A78240D1578}" destId="{D9F69800-6040-4176-932F-4BAAB3EB9E42}" srcOrd="6" destOrd="0" presId="urn:microsoft.com/office/officeart/2005/8/layout/orgChart1#2"/>
    <dgm:cxn modelId="{118BE411-8474-4ABB-A26F-2B3430B38B00}" type="presParOf" srcId="{C11BF8CD-E2AE-4433-A4F9-5A78240D1578}" destId="{7ECFF1B6-9CCD-4ADB-A2A1-95FD18D75F8B}" srcOrd="7" destOrd="0" presId="urn:microsoft.com/office/officeart/2005/8/layout/orgChart1#2"/>
    <dgm:cxn modelId="{6B14DE01-C07A-4E03-831D-A86BEE6854C4}" type="presParOf" srcId="{7ECFF1B6-9CCD-4ADB-A2A1-95FD18D75F8B}" destId="{42B33E55-AD2C-478D-ACAB-A0164F3DCC4B}" srcOrd="0" destOrd="0" presId="urn:microsoft.com/office/officeart/2005/8/layout/orgChart1#2"/>
    <dgm:cxn modelId="{5CF472D8-0904-451D-8E22-54E630CE617F}" type="presParOf" srcId="{42B33E55-AD2C-478D-ACAB-A0164F3DCC4B}" destId="{A2954A1E-E556-4C56-9EF0-383A5FEB6E4B}" srcOrd="0" destOrd="0" presId="urn:microsoft.com/office/officeart/2005/8/layout/orgChart1#2"/>
    <dgm:cxn modelId="{89C9F7B7-835C-42EE-97C6-ACB34D27C4AB}" type="presParOf" srcId="{42B33E55-AD2C-478D-ACAB-A0164F3DCC4B}" destId="{BF1C086F-C26B-4D7F-AAC6-26DC31ABB225}" srcOrd="1" destOrd="0" presId="urn:microsoft.com/office/officeart/2005/8/layout/orgChart1#2"/>
    <dgm:cxn modelId="{835AA5DD-6702-4CF2-9012-A4FF48C86E8C}" type="presParOf" srcId="{7ECFF1B6-9CCD-4ADB-A2A1-95FD18D75F8B}" destId="{CA35781D-8FB7-4397-B0DB-64F1C0F070FE}" srcOrd="1" destOrd="0" presId="urn:microsoft.com/office/officeart/2005/8/layout/orgChart1#2"/>
    <dgm:cxn modelId="{375E5F2E-F26F-406F-B597-7EE9A2CC7E65}" type="presParOf" srcId="{7ECFF1B6-9CCD-4ADB-A2A1-95FD18D75F8B}" destId="{66414B40-0A2F-49D9-A9F2-9855BFCE8D26}" srcOrd="2" destOrd="0" presId="urn:microsoft.com/office/officeart/2005/8/layout/orgChart1#2"/>
    <dgm:cxn modelId="{9B4C4AFF-FDE9-4AFB-AED8-82A8579F6093}" type="presParOf" srcId="{C11BF8CD-E2AE-4433-A4F9-5A78240D1578}" destId="{388893F6-B582-4046-8B6F-94889B5174CA}" srcOrd="8" destOrd="0" presId="urn:microsoft.com/office/officeart/2005/8/layout/orgChart1#2"/>
    <dgm:cxn modelId="{684DB47F-5A9A-4DF5-8FBC-00BDB7BD3AE9}" type="presParOf" srcId="{C11BF8CD-E2AE-4433-A4F9-5A78240D1578}" destId="{038E1075-DD46-4212-BCC1-4F95DC1BE76F}" srcOrd="9" destOrd="0" presId="urn:microsoft.com/office/officeart/2005/8/layout/orgChart1#2"/>
    <dgm:cxn modelId="{E017B627-6FBB-4439-AE32-D2B8FD7DC24F}" type="presParOf" srcId="{038E1075-DD46-4212-BCC1-4F95DC1BE76F}" destId="{E142393F-9598-4111-974A-B98B17B55EE7}" srcOrd="0" destOrd="0" presId="urn:microsoft.com/office/officeart/2005/8/layout/orgChart1#2"/>
    <dgm:cxn modelId="{2CCF8902-B476-46C6-BF4C-403DC91A654E}" type="presParOf" srcId="{E142393F-9598-4111-974A-B98B17B55EE7}" destId="{4709F596-A960-4CE1-A3B8-ACCF50B63E1B}" srcOrd="0" destOrd="0" presId="urn:microsoft.com/office/officeart/2005/8/layout/orgChart1#2"/>
    <dgm:cxn modelId="{F9C0381D-B10B-48DB-9F2A-916A104F4E13}" type="presParOf" srcId="{E142393F-9598-4111-974A-B98B17B55EE7}" destId="{E0184CFB-721B-4ED7-9C22-A0D8C80E27C1}" srcOrd="1" destOrd="0" presId="urn:microsoft.com/office/officeart/2005/8/layout/orgChart1#2"/>
    <dgm:cxn modelId="{684BD2D8-0B2D-4504-AE2A-E9816EEE0C8B}" type="presParOf" srcId="{038E1075-DD46-4212-BCC1-4F95DC1BE76F}" destId="{02FE060B-62D9-4529-A58F-8D02036A5398}" srcOrd="1" destOrd="0" presId="urn:microsoft.com/office/officeart/2005/8/layout/orgChart1#2"/>
    <dgm:cxn modelId="{3A06E4EB-FB40-4AB9-8109-0047C1DC4D93}" type="presParOf" srcId="{038E1075-DD46-4212-BCC1-4F95DC1BE76F}" destId="{77F42045-8B9D-4DB4-8C21-57DBDFBDBB03}" srcOrd="2" destOrd="0" presId="urn:microsoft.com/office/officeart/2005/8/layout/orgChart1#2"/>
    <dgm:cxn modelId="{4010D6A5-7BCF-4DC8-85D2-EDA5A9217363}" type="presParOf" srcId="{00CA9698-0026-43E9-8687-C649FBED0DE4}" destId="{0DFF7662-DD05-4565-859E-FDA005DA64D7}" srcOrd="2" destOrd="0" presId="urn:microsoft.com/office/officeart/2005/8/layout/orgChart1#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75045" cy="2517775"/>
        <a:chOff x="0" y="0"/>
        <a:chExt cx="6075045" cy="2517775"/>
      </a:xfrm>
    </dsp:grpSpPr>
    <dsp:sp modelId="{E660ADB4-5123-458F-BB78-690882E87294}">
      <dsp:nvSpPr>
        <dsp:cNvPr id="5" name="任意多边形 4"/>
        <dsp:cNvSpPr/>
      </dsp:nvSpPr>
      <dsp:spPr bwMode="white">
        <a:xfrm>
          <a:off x="992439" y="1083827"/>
          <a:ext cx="2002167" cy="307091"/>
        </a:xfrm>
        <a:custGeom>
          <a:avLst/>
          <a:gdLst/>
          <a:ahLst/>
          <a:cxnLst/>
          <a:pathLst>
            <a:path w="3153" h="484">
              <a:moveTo>
                <a:pt x="3153" y="0"/>
              </a:moveTo>
              <a:lnTo>
                <a:pt x="3153" y="276"/>
              </a:lnTo>
              <a:lnTo>
                <a:pt x="0" y="276"/>
              </a:lnTo>
              <a:lnTo>
                <a:pt x="0" y="484"/>
              </a:lnTo>
            </a:path>
          </a:pathLst>
        </a:custGeom>
        <a:ln>
          <a:solidFill>
            <a:schemeClr val="accent5"/>
          </a:solidFill>
        </a:ln>
      </dsp:spPr>
      <dsp:style>
        <a:lnRef idx="2">
          <a:schemeClr val="accent1">
            <a:shade val="60000"/>
          </a:schemeClr>
        </a:lnRef>
        <a:fillRef idx="0">
          <a:schemeClr val="accent1"/>
        </a:fillRef>
        <a:effectRef idx="0">
          <a:scrgbClr r="0" g="0" b="0"/>
        </a:effectRef>
        <a:fontRef idx="minor"/>
      </dsp:style>
      <dsp:txXfrm>
        <a:off x="992439" y="1083827"/>
        <a:ext cx="2002167" cy="307091"/>
      </dsp:txXfrm>
    </dsp:sp>
    <dsp:sp modelId="{5450D59B-3144-4BCF-809C-42F58CC25390}">
      <dsp:nvSpPr>
        <dsp:cNvPr id="8" name="任意多边形 7"/>
        <dsp:cNvSpPr/>
      </dsp:nvSpPr>
      <dsp:spPr bwMode="white">
        <a:xfrm>
          <a:off x="2994606" y="1083827"/>
          <a:ext cx="139689" cy="307091"/>
        </a:xfrm>
        <a:custGeom>
          <a:avLst/>
          <a:gdLst/>
          <a:ahLst/>
          <a:cxnLst/>
          <a:pathLst>
            <a:path w="220" h="484">
              <a:moveTo>
                <a:pt x="0" y="0"/>
              </a:moveTo>
              <a:lnTo>
                <a:pt x="0" y="276"/>
              </a:lnTo>
              <a:lnTo>
                <a:pt x="220" y="276"/>
              </a:lnTo>
              <a:lnTo>
                <a:pt x="220" y="484"/>
              </a:lnTo>
            </a:path>
          </a:pathLst>
        </a:custGeom>
        <a:ln>
          <a:solidFill>
            <a:schemeClr val="accent5"/>
          </a:solidFill>
        </a:ln>
      </dsp:spPr>
      <dsp:style>
        <a:lnRef idx="2">
          <a:schemeClr val="accent1">
            <a:shade val="60000"/>
          </a:schemeClr>
        </a:lnRef>
        <a:fillRef idx="0">
          <a:schemeClr val="accent1"/>
        </a:fillRef>
        <a:effectRef idx="0">
          <a:scrgbClr r="0" g="0" b="0"/>
        </a:effectRef>
        <a:fontRef idx="minor"/>
      </dsp:style>
      <dsp:txXfrm>
        <a:off x="2994606" y="1083827"/>
        <a:ext cx="139689" cy="307091"/>
      </dsp:txXfrm>
    </dsp:sp>
    <dsp:sp modelId="{E57CAD0D-A147-4E8E-96BB-00626A103B20}">
      <dsp:nvSpPr>
        <dsp:cNvPr id="11" name="任意多边形 10"/>
        <dsp:cNvSpPr/>
      </dsp:nvSpPr>
      <dsp:spPr bwMode="white">
        <a:xfrm>
          <a:off x="2994606" y="1083827"/>
          <a:ext cx="2184772" cy="307091"/>
        </a:xfrm>
        <a:custGeom>
          <a:avLst/>
          <a:gdLst/>
          <a:ahLst/>
          <a:cxnLst/>
          <a:pathLst>
            <a:path w="3441" h="484">
              <a:moveTo>
                <a:pt x="0" y="0"/>
              </a:moveTo>
              <a:lnTo>
                <a:pt x="0" y="276"/>
              </a:lnTo>
              <a:lnTo>
                <a:pt x="3441" y="276"/>
              </a:lnTo>
              <a:lnTo>
                <a:pt x="3441" y="484"/>
              </a:lnTo>
            </a:path>
          </a:pathLst>
        </a:custGeom>
        <a:ln>
          <a:solidFill>
            <a:schemeClr val="accent5"/>
          </a:solidFill>
        </a:ln>
      </dsp:spPr>
      <dsp:style>
        <a:lnRef idx="2">
          <a:schemeClr val="accent1">
            <a:shade val="60000"/>
          </a:schemeClr>
        </a:lnRef>
        <a:fillRef idx="0">
          <a:schemeClr val="accent1"/>
        </a:fillRef>
        <a:effectRef idx="0">
          <a:scrgbClr r="0" g="0" b="0"/>
        </a:effectRef>
        <a:fontRef idx="minor"/>
      </dsp:style>
      <dsp:txXfrm>
        <a:off x="2994606" y="1083827"/>
        <a:ext cx="2184772" cy="307091"/>
      </dsp:txXfrm>
    </dsp:sp>
    <dsp:sp modelId="{A1B414B1-B1A1-4B25-B77C-E916AB074E1A}">
      <dsp:nvSpPr>
        <dsp:cNvPr id="3" name="矩形 2"/>
        <dsp:cNvSpPr/>
      </dsp:nvSpPr>
      <dsp:spPr bwMode="white">
        <a:xfrm>
          <a:off x="2111797" y="391463"/>
          <a:ext cx="1765618" cy="692364"/>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ClrTx/>
            <a:buSzTx/>
            <a:buFontTx/>
            <a:buNone/>
          </a:pPr>
          <a:r>
            <a:rPr lang="zh-CN" altLang="en-US" sz="1800" b="0" dirty="0">
              <a:solidFill>
                <a:srgbClr val="002060"/>
              </a:solidFill>
              <a:effectLst/>
              <a:latin typeface="微软雅黑" panose="020B0503020204020204" pitchFamily="34" charset="-122"/>
              <a:ea typeface="微软雅黑" panose="020B0503020204020204" pitchFamily="34" charset="-122"/>
              <a:cs typeface="+mn-cs"/>
            </a:rPr>
            <a:t>线性方法</a:t>
          </a:r>
          <a:endParaRPr lang="zh-CN" altLang="en-US" sz="1800" dirty="0">
            <a:solidFill>
              <a:srgbClr val="002060"/>
            </a:solidFill>
          </a:endParaRPr>
        </a:p>
      </dsp:txBody>
      <dsp:txXfrm>
        <a:off x="2111797" y="391463"/>
        <a:ext cx="1765618" cy="692364"/>
      </dsp:txXfrm>
    </dsp:sp>
    <dsp:sp modelId="{9C7F65E3-9EB5-46D1-8434-052A03E27B7D}">
      <dsp:nvSpPr>
        <dsp:cNvPr id="6" name="矩形 5"/>
        <dsp:cNvSpPr/>
      </dsp:nvSpPr>
      <dsp:spPr bwMode="white">
        <a:xfrm>
          <a:off x="0" y="1390918"/>
          <a:ext cx="1984878" cy="692364"/>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主成分分析</a:t>
          </a:r>
          <a:endParaRPr lang="zh-CN" altLang="en-US" sz="1600" dirty="0"/>
        </a:p>
      </dsp:txBody>
      <dsp:txXfrm>
        <a:off x="0" y="1390918"/>
        <a:ext cx="1984878" cy="692364"/>
      </dsp:txXfrm>
    </dsp:sp>
    <dsp:sp modelId="{37C55316-295B-46D2-B0C6-3B837EBF849D}">
      <dsp:nvSpPr>
        <dsp:cNvPr id="9" name="矩形 8"/>
        <dsp:cNvSpPr/>
      </dsp:nvSpPr>
      <dsp:spPr bwMode="white">
        <a:xfrm>
          <a:off x="2248939" y="1390918"/>
          <a:ext cx="1770711" cy="692364"/>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独立成分分析</a:t>
          </a:r>
          <a:endParaRPr lang="zh-CN" altLang="en-US" sz="1600" dirty="0"/>
        </a:p>
      </dsp:txBody>
      <dsp:txXfrm>
        <a:off x="2248939" y="1390918"/>
        <a:ext cx="1770711" cy="692364"/>
      </dsp:txXfrm>
    </dsp:sp>
    <dsp:sp modelId="{35A9666D-423E-4B20-A35F-EAF484B4A4C4}">
      <dsp:nvSpPr>
        <dsp:cNvPr id="12" name="矩形 11"/>
        <dsp:cNvSpPr/>
      </dsp:nvSpPr>
      <dsp:spPr bwMode="white">
        <a:xfrm>
          <a:off x="4283712" y="1390918"/>
          <a:ext cx="1791333" cy="692364"/>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vert="horz" wrap="square"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多维尺度变换</a:t>
          </a:r>
          <a:endParaRPr lang="en-US" altLang="zh-CN" sz="1600" b="0" dirty="0">
            <a:solidFill>
              <a:schemeClr val="tx1"/>
            </a:solidFill>
            <a:effectLst/>
            <a:latin typeface="微软雅黑" panose="020B0503020204020204" pitchFamily="34" charset="-122"/>
            <a:ea typeface="微软雅黑" panose="020B0503020204020204" pitchFamily="34" charset="-122"/>
            <a:cs typeface="+mn-cs"/>
          </a:endParaRPr>
        </a:p>
      </dsp:txBody>
      <dsp:txXfrm>
        <a:off x="4283712" y="1390918"/>
        <a:ext cx="1791333" cy="692364"/>
      </dsp:txXfrm>
    </dsp:sp>
    <dsp:sp modelId="{C622A05B-3925-4A2F-8901-231F6C748A31}">
      <dsp:nvSpPr>
        <dsp:cNvPr id="4" name="矩形 3" hidden="1"/>
        <dsp:cNvSpPr/>
      </dsp:nvSpPr>
      <dsp:spPr>
        <a:xfrm>
          <a:off x="2111797" y="391463"/>
          <a:ext cx="353124" cy="692364"/>
        </a:xfrm>
        <a:prstGeom prst="rect">
          <a:avLst/>
        </a:prstGeom>
      </dsp:spPr>
      <dsp:txXfrm>
        <a:off x="2111797" y="391463"/>
        <a:ext cx="353124" cy="692364"/>
      </dsp:txXfrm>
    </dsp:sp>
    <dsp:sp modelId="{BAC82406-E5A2-4F50-BA14-1EEE4C268B6A}">
      <dsp:nvSpPr>
        <dsp:cNvPr id="7" name="矩形 6" hidden="1"/>
        <dsp:cNvSpPr/>
      </dsp:nvSpPr>
      <dsp:spPr>
        <a:xfrm>
          <a:off x="0" y="1390918"/>
          <a:ext cx="396976" cy="692364"/>
        </a:xfrm>
        <a:prstGeom prst="rect">
          <a:avLst/>
        </a:prstGeom>
      </dsp:spPr>
      <dsp:txXfrm>
        <a:off x="0" y="1390918"/>
        <a:ext cx="396976" cy="692364"/>
      </dsp:txXfrm>
    </dsp:sp>
    <dsp:sp modelId="{1E009E5E-0B12-4930-927D-AC70C0E1F41A}">
      <dsp:nvSpPr>
        <dsp:cNvPr id="10" name="矩形 9" hidden="1"/>
        <dsp:cNvSpPr/>
      </dsp:nvSpPr>
      <dsp:spPr>
        <a:xfrm>
          <a:off x="2248939" y="1390918"/>
          <a:ext cx="354142" cy="692364"/>
        </a:xfrm>
        <a:prstGeom prst="rect">
          <a:avLst/>
        </a:prstGeom>
      </dsp:spPr>
      <dsp:txXfrm>
        <a:off x="2248939" y="1390918"/>
        <a:ext cx="354142" cy="692364"/>
      </dsp:txXfrm>
    </dsp:sp>
    <dsp:sp modelId="{E315CB68-C85E-44D5-B5AB-F3C33EA511A6}">
      <dsp:nvSpPr>
        <dsp:cNvPr id="13" name="矩形 12" hidden="1"/>
        <dsp:cNvSpPr/>
      </dsp:nvSpPr>
      <dsp:spPr>
        <a:xfrm>
          <a:off x="4283712" y="1390918"/>
          <a:ext cx="358267" cy="692364"/>
        </a:xfrm>
        <a:prstGeom prst="rect">
          <a:avLst/>
        </a:prstGeom>
      </dsp:spPr>
      <dsp:txXfrm>
        <a:off x="4283712" y="1390918"/>
        <a:ext cx="358267" cy="692364"/>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909686" cy="1799547"/>
        <a:chOff x="0" y="0"/>
        <a:chExt cx="4909686" cy="1799547"/>
      </a:xfrm>
    </dsp:grpSpPr>
    <dsp:sp modelId="{E660ADB4-5123-458F-BB78-690882E87294}">
      <dsp:nvSpPr>
        <dsp:cNvPr id="5" name="任意多边形 4"/>
        <dsp:cNvSpPr/>
      </dsp:nvSpPr>
      <dsp:spPr bwMode="white">
        <a:xfrm>
          <a:off x="1344432" y="755670"/>
          <a:ext cx="1110411" cy="288206"/>
        </a:xfrm>
        <a:custGeom>
          <a:avLst/>
          <a:gdLst/>
          <a:ahLst/>
          <a:cxnLst/>
          <a:pathLst>
            <a:path w="1749" h="454">
              <a:moveTo>
                <a:pt x="1749" y="0"/>
              </a:moveTo>
              <a:lnTo>
                <a:pt x="1749" y="227"/>
              </a:lnTo>
              <a:lnTo>
                <a:pt x="0" y="227"/>
              </a:lnTo>
              <a:lnTo>
                <a:pt x="0" y="454"/>
              </a:lnTo>
            </a:path>
          </a:pathLst>
        </a:custGeom>
        <a:ln>
          <a:solidFill>
            <a:schemeClr val="accent5"/>
          </a:solidFill>
        </a:ln>
      </dsp:spPr>
      <dsp:style>
        <a:lnRef idx="2">
          <a:schemeClr val="accent1">
            <a:shade val="60000"/>
          </a:schemeClr>
        </a:lnRef>
        <a:fillRef idx="0">
          <a:schemeClr val="accent1"/>
        </a:fillRef>
        <a:effectRef idx="0">
          <a:scrgbClr r="0" g="0" b="0"/>
        </a:effectRef>
        <a:fontRef idx="minor"/>
      </dsp:style>
      <dsp:txXfrm>
        <a:off x="1344432" y="755670"/>
        <a:ext cx="1110411" cy="288206"/>
      </dsp:txXfrm>
    </dsp:sp>
    <dsp:sp modelId="{5450D59B-3144-4BCF-809C-42F58CC25390}">
      <dsp:nvSpPr>
        <dsp:cNvPr id="8" name="任意多边形 7"/>
        <dsp:cNvSpPr/>
      </dsp:nvSpPr>
      <dsp:spPr bwMode="white">
        <a:xfrm>
          <a:off x="2454843" y="755670"/>
          <a:ext cx="1227286" cy="288206"/>
        </a:xfrm>
        <a:custGeom>
          <a:avLst/>
          <a:gdLst/>
          <a:ahLst/>
          <a:cxnLst/>
          <a:pathLst>
            <a:path w="1933" h="454">
              <a:moveTo>
                <a:pt x="0" y="0"/>
              </a:moveTo>
              <a:lnTo>
                <a:pt x="0" y="227"/>
              </a:lnTo>
              <a:lnTo>
                <a:pt x="1933" y="227"/>
              </a:lnTo>
              <a:lnTo>
                <a:pt x="1933" y="454"/>
              </a:lnTo>
            </a:path>
          </a:pathLst>
        </a:custGeom>
        <a:ln>
          <a:solidFill>
            <a:schemeClr val="accent5"/>
          </a:solidFill>
        </a:ln>
      </dsp:spPr>
      <dsp:style>
        <a:lnRef idx="2">
          <a:schemeClr val="accent1">
            <a:shade val="60000"/>
          </a:schemeClr>
        </a:lnRef>
        <a:fillRef idx="0">
          <a:schemeClr val="accent1"/>
        </a:fillRef>
        <a:effectRef idx="0">
          <a:scrgbClr r="0" g="0" b="0"/>
        </a:effectRef>
        <a:fontRef idx="minor"/>
      </dsp:style>
      <dsp:txXfrm>
        <a:off x="2454843" y="755670"/>
        <a:ext cx="1227286" cy="288206"/>
      </dsp:txXfrm>
    </dsp:sp>
    <dsp:sp modelId="{A1B414B1-B1A1-4B25-B77C-E916AB074E1A}">
      <dsp:nvSpPr>
        <dsp:cNvPr id="3" name="矩形 2"/>
        <dsp:cNvSpPr/>
      </dsp:nvSpPr>
      <dsp:spPr bwMode="white">
        <a:xfrm>
          <a:off x="1491314" y="0"/>
          <a:ext cx="1927058" cy="755670"/>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ClrTx/>
            <a:buSzTx/>
            <a:buFontTx/>
            <a:buNone/>
          </a:pPr>
          <a:r>
            <a:rPr lang="zh-CN" altLang="en-US" sz="1800" b="0" dirty="0">
              <a:solidFill>
                <a:srgbClr val="002060"/>
              </a:solidFill>
              <a:effectLst/>
              <a:latin typeface="微软雅黑" panose="020B0503020204020204" pitchFamily="34" charset="-122"/>
              <a:ea typeface="微软雅黑" panose="020B0503020204020204" pitchFamily="34" charset="-122"/>
              <a:cs typeface="+mn-cs"/>
            </a:rPr>
            <a:t>非线性方法</a:t>
          </a:r>
          <a:endParaRPr lang="zh-CN" altLang="en-US" sz="1800" dirty="0">
            <a:solidFill>
              <a:srgbClr val="002060"/>
            </a:solidFill>
          </a:endParaRPr>
        </a:p>
      </dsp:txBody>
      <dsp:txXfrm>
        <a:off x="1491314" y="0"/>
        <a:ext cx="1927058" cy="755670"/>
      </dsp:txXfrm>
    </dsp:sp>
    <dsp:sp modelId="{9C7F65E3-9EB5-46D1-8434-052A03E27B7D}">
      <dsp:nvSpPr>
        <dsp:cNvPr id="6" name="矩形 5"/>
        <dsp:cNvSpPr/>
      </dsp:nvSpPr>
      <dsp:spPr bwMode="white">
        <a:xfrm>
          <a:off x="261249" y="1043877"/>
          <a:ext cx="2166365" cy="755670"/>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等距映射法</a:t>
          </a:r>
          <a:endParaRPr lang="zh-CN" altLang="en-US" sz="1600" dirty="0"/>
        </a:p>
      </dsp:txBody>
      <dsp:txXfrm>
        <a:off x="261249" y="1043877"/>
        <a:ext cx="2166365" cy="755670"/>
      </dsp:txXfrm>
    </dsp:sp>
    <dsp:sp modelId="{37C55316-295B-46D2-B0C6-3B837EBF849D}">
      <dsp:nvSpPr>
        <dsp:cNvPr id="9" name="矩形 8"/>
        <dsp:cNvSpPr/>
      </dsp:nvSpPr>
      <dsp:spPr bwMode="white">
        <a:xfrm>
          <a:off x="2715821" y="1043877"/>
          <a:ext cx="1932616" cy="755670"/>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局部线性嵌入法</a:t>
          </a:r>
          <a:endParaRPr lang="zh-CN" altLang="en-US" sz="1600" dirty="0"/>
        </a:p>
      </dsp:txBody>
      <dsp:txXfrm>
        <a:off x="2715821" y="1043877"/>
        <a:ext cx="1932616" cy="755670"/>
      </dsp:txXfrm>
    </dsp:sp>
    <dsp:sp modelId="{C622A05B-3925-4A2F-8901-231F6C748A31}">
      <dsp:nvSpPr>
        <dsp:cNvPr id="4" name="矩形 3" hidden="1"/>
        <dsp:cNvSpPr/>
      </dsp:nvSpPr>
      <dsp:spPr>
        <a:xfrm>
          <a:off x="1491314" y="0"/>
          <a:ext cx="385412" cy="755670"/>
        </a:xfrm>
        <a:prstGeom prst="rect">
          <a:avLst/>
        </a:prstGeom>
      </dsp:spPr>
      <dsp:txXfrm>
        <a:off x="1491314" y="0"/>
        <a:ext cx="385412" cy="755670"/>
      </dsp:txXfrm>
    </dsp:sp>
    <dsp:sp modelId="{BAC82406-E5A2-4F50-BA14-1EEE4C268B6A}">
      <dsp:nvSpPr>
        <dsp:cNvPr id="7" name="矩形 6" hidden="1"/>
        <dsp:cNvSpPr/>
      </dsp:nvSpPr>
      <dsp:spPr>
        <a:xfrm>
          <a:off x="261249" y="1043877"/>
          <a:ext cx="433273" cy="755670"/>
        </a:xfrm>
        <a:prstGeom prst="rect">
          <a:avLst/>
        </a:prstGeom>
      </dsp:spPr>
      <dsp:txXfrm>
        <a:off x="261249" y="1043877"/>
        <a:ext cx="433273" cy="755670"/>
      </dsp:txXfrm>
    </dsp:sp>
    <dsp:sp modelId="{1E009E5E-0B12-4930-927D-AC70C0E1F41A}">
      <dsp:nvSpPr>
        <dsp:cNvPr id="10" name="矩形 9" hidden="1"/>
        <dsp:cNvSpPr/>
      </dsp:nvSpPr>
      <dsp:spPr>
        <a:xfrm>
          <a:off x="2715821" y="1043877"/>
          <a:ext cx="386523" cy="755670"/>
        </a:xfrm>
        <a:prstGeom prst="rect">
          <a:avLst/>
        </a:prstGeom>
      </dsp:spPr>
      <dsp:txXfrm>
        <a:off x="2715821" y="1043877"/>
        <a:ext cx="386523" cy="75567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880028" cy="2621491"/>
        <a:chOff x="0" y="0"/>
        <a:chExt cx="8880028" cy="2621491"/>
      </a:xfrm>
    </dsp:grpSpPr>
    <dsp:sp modelId="{E660ADB4-5123-458F-BB78-690882E87294}">
      <dsp:nvSpPr>
        <dsp:cNvPr id="5" name="任意多边形 4"/>
        <dsp:cNvSpPr/>
      </dsp:nvSpPr>
      <dsp:spPr bwMode="white">
        <a:xfrm>
          <a:off x="834100" y="1059941"/>
          <a:ext cx="3605914" cy="361770"/>
        </a:xfrm>
        <a:custGeom>
          <a:avLst/>
          <a:gdLst/>
          <a:ahLst/>
          <a:cxnLst/>
          <a:pathLst>
            <a:path w="5679" h="570">
              <a:moveTo>
                <a:pt x="5679" y="0"/>
              </a:moveTo>
              <a:lnTo>
                <a:pt x="5679" y="395"/>
              </a:lnTo>
              <a:lnTo>
                <a:pt x="0" y="395"/>
              </a:lnTo>
              <a:lnTo>
                <a:pt x="0" y="570"/>
              </a:lnTo>
            </a:path>
          </a:pathLst>
        </a:custGeom>
        <a:ln>
          <a:solidFill>
            <a:schemeClr val="accent5"/>
          </a:solidFill>
        </a:ln>
      </dsp:spPr>
      <dsp:style>
        <a:lnRef idx="2">
          <a:schemeClr val="accent1">
            <a:shade val="60000"/>
          </a:schemeClr>
        </a:lnRef>
        <a:fillRef idx="0">
          <a:schemeClr val="accent1"/>
        </a:fillRef>
        <a:effectRef idx="0">
          <a:scrgbClr r="0" g="0" b="0"/>
        </a:effectRef>
        <a:fontRef idx="minor"/>
      </dsp:style>
      <dsp:txXfrm>
        <a:off x="834100" y="1059941"/>
        <a:ext cx="3605914" cy="361770"/>
      </dsp:txXfrm>
    </dsp:sp>
    <dsp:sp modelId="{5450D59B-3144-4BCF-809C-42F58CC25390}">
      <dsp:nvSpPr>
        <dsp:cNvPr id="8" name="任意多边形 7"/>
        <dsp:cNvSpPr/>
      </dsp:nvSpPr>
      <dsp:spPr bwMode="white">
        <a:xfrm>
          <a:off x="2634233" y="1059941"/>
          <a:ext cx="1805781" cy="361770"/>
        </a:xfrm>
        <a:custGeom>
          <a:avLst/>
          <a:gdLst/>
          <a:ahLst/>
          <a:cxnLst/>
          <a:pathLst>
            <a:path w="2844" h="570">
              <a:moveTo>
                <a:pt x="2844" y="0"/>
              </a:moveTo>
              <a:lnTo>
                <a:pt x="2844" y="395"/>
              </a:lnTo>
              <a:lnTo>
                <a:pt x="0" y="395"/>
              </a:lnTo>
              <a:lnTo>
                <a:pt x="0" y="570"/>
              </a:lnTo>
            </a:path>
          </a:pathLst>
        </a:custGeom>
        <a:ln>
          <a:solidFill>
            <a:schemeClr val="accent5"/>
          </a:solidFill>
        </a:ln>
      </dsp:spPr>
      <dsp:style>
        <a:lnRef idx="2">
          <a:schemeClr val="accent1">
            <a:shade val="60000"/>
          </a:schemeClr>
        </a:lnRef>
        <a:fillRef idx="0">
          <a:schemeClr val="accent1"/>
        </a:fillRef>
        <a:effectRef idx="0">
          <a:scrgbClr r="0" g="0" b="0"/>
        </a:effectRef>
        <a:fontRef idx="minor"/>
      </dsp:style>
      <dsp:txXfrm>
        <a:off x="2634233" y="1059941"/>
        <a:ext cx="1805781" cy="361770"/>
      </dsp:txXfrm>
    </dsp:sp>
    <dsp:sp modelId="{E57CAD0D-A147-4E8E-96BB-00626A103B20}">
      <dsp:nvSpPr>
        <dsp:cNvPr id="11" name="任意多边形 10"/>
        <dsp:cNvSpPr/>
      </dsp:nvSpPr>
      <dsp:spPr bwMode="white">
        <a:xfrm>
          <a:off x="4440014" y="1059941"/>
          <a:ext cx="243988" cy="361770"/>
        </a:xfrm>
        <a:custGeom>
          <a:avLst/>
          <a:gdLst/>
          <a:ahLst/>
          <a:cxnLst/>
          <a:pathLst>
            <a:path w="384" h="570">
              <a:moveTo>
                <a:pt x="0" y="0"/>
              </a:moveTo>
              <a:lnTo>
                <a:pt x="0" y="395"/>
              </a:lnTo>
              <a:lnTo>
                <a:pt x="384" y="395"/>
              </a:lnTo>
              <a:lnTo>
                <a:pt x="384" y="570"/>
              </a:lnTo>
            </a:path>
          </a:pathLst>
        </a:custGeom>
        <a:ln>
          <a:solidFill>
            <a:schemeClr val="accent5"/>
          </a:solidFill>
        </a:ln>
      </dsp:spPr>
      <dsp:style>
        <a:lnRef idx="2">
          <a:schemeClr val="accent1">
            <a:shade val="60000"/>
          </a:schemeClr>
        </a:lnRef>
        <a:fillRef idx="0">
          <a:schemeClr val="accent1"/>
        </a:fillRef>
        <a:effectRef idx="0">
          <a:scrgbClr r="0" g="0" b="0"/>
        </a:effectRef>
        <a:fontRef idx="minor"/>
      </dsp:style>
      <dsp:txXfrm>
        <a:off x="4440014" y="1059941"/>
        <a:ext cx="243988" cy="361770"/>
      </dsp:txXfrm>
    </dsp:sp>
    <dsp:sp modelId="{DCAC423E-C387-40D7-BAA1-918E02AF7460}">
      <dsp:nvSpPr>
        <dsp:cNvPr id="14" name="任意多边形 13"/>
        <dsp:cNvSpPr/>
      </dsp:nvSpPr>
      <dsp:spPr bwMode="white">
        <a:xfrm>
          <a:off x="4440014" y="1059941"/>
          <a:ext cx="2219288" cy="362346"/>
        </a:xfrm>
        <a:custGeom>
          <a:avLst/>
          <a:gdLst/>
          <a:ahLst/>
          <a:cxnLst/>
          <a:pathLst>
            <a:path w="3495" h="571">
              <a:moveTo>
                <a:pt x="0" y="0"/>
              </a:moveTo>
              <a:lnTo>
                <a:pt x="0" y="396"/>
              </a:lnTo>
              <a:lnTo>
                <a:pt x="3495" y="396"/>
              </a:lnTo>
              <a:lnTo>
                <a:pt x="3495" y="571"/>
              </a:lnTo>
            </a:path>
          </a:pathLst>
        </a:custGeom>
        <a:ln>
          <a:solidFill>
            <a:schemeClr val="accent5"/>
          </a:solidFill>
        </a:ln>
      </dsp:spPr>
      <dsp:style>
        <a:lnRef idx="2">
          <a:schemeClr val="accent1">
            <a:shade val="60000"/>
          </a:schemeClr>
        </a:lnRef>
        <a:fillRef idx="0">
          <a:schemeClr val="accent1"/>
        </a:fillRef>
        <a:effectRef idx="0">
          <a:scrgbClr r="0" g="0" b="0"/>
        </a:effectRef>
        <a:fontRef idx="minor"/>
      </dsp:style>
      <dsp:txXfrm>
        <a:off x="4440014" y="1059941"/>
        <a:ext cx="2219288" cy="362346"/>
      </dsp:txXfrm>
    </dsp:sp>
    <dsp:sp modelId="{0FCF7022-3F1F-4C14-9D07-6864D7247BB3}">
      <dsp:nvSpPr>
        <dsp:cNvPr id="17" name="任意多边形 16"/>
        <dsp:cNvSpPr/>
      </dsp:nvSpPr>
      <dsp:spPr bwMode="white">
        <a:xfrm>
          <a:off x="4440014" y="1059941"/>
          <a:ext cx="3772908" cy="362346"/>
        </a:xfrm>
        <a:custGeom>
          <a:avLst/>
          <a:gdLst/>
          <a:ahLst/>
          <a:cxnLst/>
          <a:pathLst>
            <a:path w="5942" h="571">
              <a:moveTo>
                <a:pt x="0" y="0"/>
              </a:moveTo>
              <a:lnTo>
                <a:pt x="0" y="396"/>
              </a:lnTo>
              <a:lnTo>
                <a:pt x="5942" y="396"/>
              </a:lnTo>
              <a:lnTo>
                <a:pt x="5942" y="571"/>
              </a:lnTo>
            </a:path>
          </a:pathLst>
        </a:custGeom>
      </dsp:spPr>
      <dsp:style>
        <a:lnRef idx="2">
          <a:schemeClr val="accent1">
            <a:shade val="60000"/>
          </a:schemeClr>
        </a:lnRef>
        <a:fillRef idx="0">
          <a:schemeClr val="accent1"/>
        </a:fillRef>
        <a:effectRef idx="0">
          <a:scrgbClr r="0" g="0" b="0"/>
        </a:effectRef>
        <a:fontRef idx="minor"/>
      </dsp:style>
      <dsp:txXfrm>
        <a:off x="4440014" y="1059941"/>
        <a:ext cx="3772908" cy="362346"/>
      </dsp:txXfrm>
    </dsp:sp>
    <dsp:sp modelId="{A1B414B1-B1A1-4B25-B77C-E916AB074E1A}">
      <dsp:nvSpPr>
        <dsp:cNvPr id="3" name="矩形 2"/>
        <dsp:cNvSpPr/>
      </dsp:nvSpPr>
      <dsp:spPr bwMode="white">
        <a:xfrm>
          <a:off x="3473960" y="478041"/>
          <a:ext cx="1932108" cy="581900"/>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1430" tIns="11430" rIns="11430" bIns="1143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buClrTx/>
            <a:buSzTx/>
            <a:buFontTx/>
            <a:buNone/>
          </a:pPr>
          <a:r>
            <a:rPr lang="zh-CN" altLang="en-US" sz="1800" b="0" dirty="0">
              <a:solidFill>
                <a:srgbClr val="002060"/>
              </a:solidFill>
              <a:effectLst/>
              <a:latin typeface="微软雅黑" panose="020B0503020204020204" pitchFamily="34" charset="-122"/>
              <a:ea typeface="微软雅黑" panose="020B0503020204020204" pitchFamily="34" charset="-122"/>
              <a:cs typeface="+mn-cs"/>
            </a:rPr>
            <a:t>定性分析方法</a:t>
          </a:r>
          <a:endParaRPr lang="zh-CN" altLang="en-US" sz="1800" dirty="0">
            <a:solidFill>
              <a:srgbClr val="002060"/>
            </a:solidFill>
          </a:endParaRPr>
        </a:p>
      </dsp:txBody>
      <dsp:txXfrm>
        <a:off x="3473960" y="478041"/>
        <a:ext cx="1932108" cy="581900"/>
      </dsp:txXfrm>
    </dsp:sp>
    <dsp:sp modelId="{9C7F65E3-9EB5-46D1-8434-052A03E27B7D}">
      <dsp:nvSpPr>
        <dsp:cNvPr id="6" name="矩形 5"/>
        <dsp:cNvSpPr/>
      </dsp:nvSpPr>
      <dsp:spPr bwMode="white">
        <a:xfrm>
          <a:off x="0" y="1421712"/>
          <a:ext cx="1668199" cy="581900"/>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altLang="zh-CN" sz="1600" b="0" dirty="0">
              <a:solidFill>
                <a:schemeClr val="tx1"/>
              </a:solidFill>
              <a:effectLst/>
              <a:latin typeface="微软雅黑" panose="020B0503020204020204" pitchFamily="34" charset="-122"/>
              <a:ea typeface="微软雅黑" panose="020B0503020204020204" pitchFamily="34" charset="-122"/>
              <a:cs typeface="+mn-cs"/>
            </a:rPr>
            <a:t>K</a:t>
          </a: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最近邻法</a:t>
          </a:r>
          <a:endParaRPr lang="zh-CN" altLang="en-US" sz="1600" dirty="0"/>
        </a:p>
      </dsp:txBody>
      <dsp:txXfrm>
        <a:off x="0" y="1421712"/>
        <a:ext cx="1668199" cy="581900"/>
      </dsp:txXfrm>
    </dsp:sp>
    <dsp:sp modelId="{37C55316-295B-46D2-B0C6-3B837EBF849D}">
      <dsp:nvSpPr>
        <dsp:cNvPr id="9" name="矩形 8"/>
        <dsp:cNvSpPr/>
      </dsp:nvSpPr>
      <dsp:spPr bwMode="white">
        <a:xfrm>
          <a:off x="1890131" y="1421712"/>
          <a:ext cx="1488202" cy="581900"/>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sz="1600" b="0" kern="1200" dirty="0">
              <a:solidFill>
                <a:prstClr val="black"/>
              </a:solidFill>
              <a:effectLst/>
              <a:latin typeface="微软雅黑" panose="020B0503020204020204" pitchFamily="34" charset="-122"/>
              <a:ea typeface="微软雅黑" panose="020B0503020204020204" pitchFamily="34" charset="-122"/>
              <a:cs typeface="+mn-cs"/>
            </a:rPr>
            <a:t>支持向量机</a:t>
          </a:r>
        </a:p>
      </dsp:txBody>
      <dsp:txXfrm>
        <a:off x="1890131" y="1421712"/>
        <a:ext cx="1488202" cy="581900"/>
      </dsp:txXfrm>
    </dsp:sp>
    <dsp:sp modelId="{35A9666D-423E-4B20-A35F-EAF484B4A4C4}">
      <dsp:nvSpPr>
        <dsp:cNvPr id="12" name="矩形 11"/>
        <dsp:cNvSpPr/>
      </dsp:nvSpPr>
      <dsp:spPr bwMode="white">
        <a:xfrm>
          <a:off x="3600266" y="1421712"/>
          <a:ext cx="2167473" cy="581900"/>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altLang="zh-CN" sz="1600" b="0" dirty="0" err="1">
              <a:solidFill>
                <a:schemeClr val="tx1"/>
              </a:solidFill>
              <a:effectLst/>
              <a:latin typeface="微软雅黑" panose="020B0503020204020204" pitchFamily="34" charset="-122"/>
              <a:ea typeface="微软雅黑" panose="020B0503020204020204" pitchFamily="34" charset="-122"/>
              <a:cs typeface="+mn-cs"/>
            </a:rPr>
            <a:t>Softmax</a:t>
          </a: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分类器</a:t>
          </a:r>
          <a:endParaRPr lang="en-US" altLang="zh-CN" sz="1600" b="0" dirty="0">
            <a:solidFill>
              <a:schemeClr val="tx1"/>
            </a:solidFill>
            <a:effectLst/>
            <a:latin typeface="微软雅黑" panose="020B0503020204020204" pitchFamily="34" charset="-122"/>
            <a:ea typeface="微软雅黑" panose="020B0503020204020204" pitchFamily="34" charset="-122"/>
            <a:cs typeface="+mn-cs"/>
          </a:endParaRPr>
        </a:p>
      </dsp:txBody>
      <dsp:txXfrm>
        <a:off x="3600266" y="1421712"/>
        <a:ext cx="2167473" cy="581900"/>
      </dsp:txXfrm>
    </dsp:sp>
    <dsp:sp modelId="{10A6F6EE-B332-48DD-BF8C-9F762CDF7392}">
      <dsp:nvSpPr>
        <dsp:cNvPr id="15" name="矩形 14"/>
        <dsp:cNvSpPr/>
      </dsp:nvSpPr>
      <dsp:spPr bwMode="white">
        <a:xfrm>
          <a:off x="5992196" y="1422287"/>
          <a:ext cx="1334213" cy="581900"/>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聚类分析法</a:t>
          </a:r>
          <a:endParaRPr lang="en-US" altLang="zh-CN" sz="1600" b="0" dirty="0">
            <a:solidFill>
              <a:schemeClr val="tx1"/>
            </a:solidFill>
            <a:effectLst/>
            <a:latin typeface="微软雅黑" panose="020B0503020204020204" pitchFamily="34" charset="-122"/>
            <a:ea typeface="微软雅黑" panose="020B0503020204020204" pitchFamily="34" charset="-122"/>
            <a:cs typeface="+mn-cs"/>
          </a:endParaRPr>
        </a:p>
      </dsp:txBody>
      <dsp:txXfrm>
        <a:off x="5992196" y="1422287"/>
        <a:ext cx="1334213" cy="581900"/>
      </dsp:txXfrm>
    </dsp:sp>
    <dsp:sp modelId="{6A683F65-8C08-4429-9797-CBF4A1834777}">
      <dsp:nvSpPr>
        <dsp:cNvPr id="18" name="矩形 17"/>
        <dsp:cNvSpPr/>
      </dsp:nvSpPr>
      <dsp:spPr bwMode="white">
        <a:xfrm>
          <a:off x="7545815" y="1422287"/>
          <a:ext cx="1334213" cy="581900"/>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0795" tIns="10795" rIns="10795" bIns="10795"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en-US" b="0" dirty="0">
              <a:solidFill>
                <a:schemeClr val="tx1"/>
              </a:solidFill>
              <a:effectLst/>
              <a:latin typeface="微软雅黑" panose="020B0503020204020204" pitchFamily="34" charset="-122"/>
              <a:ea typeface="微软雅黑" panose="020B0503020204020204" pitchFamily="34" charset="-122"/>
              <a:cs typeface="+mn-cs"/>
            </a:rPr>
            <a:t>无监督神经网络</a:t>
          </a:r>
          <a:endParaRPr lang="en-US" altLang="zh-CN" b="0" dirty="0">
            <a:solidFill>
              <a:schemeClr val="tx1"/>
            </a:solidFill>
            <a:effectLst/>
            <a:latin typeface="微软雅黑" panose="020B0503020204020204" pitchFamily="34" charset="-122"/>
            <a:ea typeface="微软雅黑" panose="020B0503020204020204" pitchFamily="34" charset="-122"/>
            <a:cs typeface="+mn-cs"/>
          </a:endParaRPr>
        </a:p>
      </dsp:txBody>
      <dsp:txXfrm>
        <a:off x="7545815" y="1422287"/>
        <a:ext cx="1334213" cy="581900"/>
      </dsp:txXfrm>
    </dsp:sp>
    <dsp:sp modelId="{C622A05B-3925-4A2F-8901-231F6C748A31}">
      <dsp:nvSpPr>
        <dsp:cNvPr id="4" name="矩形 3" hidden="1"/>
        <dsp:cNvSpPr/>
      </dsp:nvSpPr>
      <dsp:spPr>
        <a:xfrm>
          <a:off x="3473960" y="478041"/>
          <a:ext cx="386422" cy="581900"/>
        </a:xfrm>
        <a:prstGeom prst="rect">
          <a:avLst/>
        </a:prstGeom>
      </dsp:spPr>
      <dsp:txXfrm>
        <a:off x="3473960" y="478041"/>
        <a:ext cx="386422" cy="581900"/>
      </dsp:txXfrm>
    </dsp:sp>
    <dsp:sp modelId="{BAC82406-E5A2-4F50-BA14-1EEE4C268B6A}">
      <dsp:nvSpPr>
        <dsp:cNvPr id="7" name="矩形 6" hidden="1"/>
        <dsp:cNvSpPr/>
      </dsp:nvSpPr>
      <dsp:spPr>
        <a:xfrm>
          <a:off x="0" y="1421712"/>
          <a:ext cx="333640" cy="581900"/>
        </a:xfrm>
        <a:prstGeom prst="rect">
          <a:avLst/>
        </a:prstGeom>
      </dsp:spPr>
      <dsp:txXfrm>
        <a:off x="0" y="1421712"/>
        <a:ext cx="333640" cy="581900"/>
      </dsp:txXfrm>
    </dsp:sp>
    <dsp:sp modelId="{1E009E5E-0B12-4930-927D-AC70C0E1F41A}">
      <dsp:nvSpPr>
        <dsp:cNvPr id="10" name="矩形 9" hidden="1"/>
        <dsp:cNvSpPr/>
      </dsp:nvSpPr>
      <dsp:spPr>
        <a:xfrm>
          <a:off x="1890131" y="1421712"/>
          <a:ext cx="297640" cy="581900"/>
        </a:xfrm>
        <a:prstGeom prst="rect">
          <a:avLst/>
        </a:prstGeom>
      </dsp:spPr>
      <dsp:txXfrm>
        <a:off x="1890131" y="1421712"/>
        <a:ext cx="297640" cy="581900"/>
      </dsp:txXfrm>
    </dsp:sp>
    <dsp:sp modelId="{E315CB68-C85E-44D5-B5AB-F3C33EA511A6}">
      <dsp:nvSpPr>
        <dsp:cNvPr id="13" name="矩形 12" hidden="1"/>
        <dsp:cNvSpPr/>
      </dsp:nvSpPr>
      <dsp:spPr>
        <a:xfrm>
          <a:off x="3600266" y="1421712"/>
          <a:ext cx="433495" cy="581900"/>
        </a:xfrm>
        <a:prstGeom prst="rect">
          <a:avLst/>
        </a:prstGeom>
      </dsp:spPr>
      <dsp:txXfrm>
        <a:off x="3600266" y="1421712"/>
        <a:ext cx="433495" cy="581900"/>
      </dsp:txXfrm>
    </dsp:sp>
    <dsp:sp modelId="{A718CEE3-650C-4A53-9292-BD9AFC78455C}">
      <dsp:nvSpPr>
        <dsp:cNvPr id="16" name="矩形 15" hidden="1"/>
        <dsp:cNvSpPr/>
      </dsp:nvSpPr>
      <dsp:spPr>
        <a:xfrm>
          <a:off x="5992196" y="1422287"/>
          <a:ext cx="266843" cy="581900"/>
        </a:xfrm>
        <a:prstGeom prst="rect">
          <a:avLst/>
        </a:prstGeom>
      </dsp:spPr>
      <dsp:txXfrm>
        <a:off x="5992196" y="1422287"/>
        <a:ext cx="266843" cy="581900"/>
      </dsp:txXfrm>
    </dsp:sp>
    <dsp:sp modelId="{5C745D24-9F4A-4FFD-9D99-0A15F98C93FF}">
      <dsp:nvSpPr>
        <dsp:cNvPr id="19" name="矩形 18" hidden="1"/>
        <dsp:cNvSpPr/>
      </dsp:nvSpPr>
      <dsp:spPr>
        <a:xfrm>
          <a:off x="7545815" y="1422287"/>
          <a:ext cx="266843" cy="581900"/>
        </a:xfrm>
        <a:prstGeom prst="rect">
          <a:avLst/>
        </a:prstGeom>
      </dsp:spPr>
      <dsp:txXfrm>
        <a:off x="7545815" y="1422287"/>
        <a:ext cx="266843" cy="581900"/>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187573" cy="2699150"/>
        <a:chOff x="0" y="0"/>
        <a:chExt cx="9187573" cy="2699150"/>
      </a:xfrm>
    </dsp:grpSpPr>
    <dsp:sp modelId="{E660ADB4-5123-458F-BB78-690882E87294}">
      <dsp:nvSpPr>
        <dsp:cNvPr id="5" name="任意多边形 4"/>
        <dsp:cNvSpPr/>
      </dsp:nvSpPr>
      <dsp:spPr bwMode="white">
        <a:xfrm>
          <a:off x="737600" y="1001624"/>
          <a:ext cx="3875213" cy="450165"/>
        </a:xfrm>
        <a:custGeom>
          <a:avLst/>
          <a:gdLst/>
          <a:ahLst/>
          <a:cxnLst/>
          <a:pathLst>
            <a:path w="6103" h="709">
              <a:moveTo>
                <a:pt x="6103" y="0"/>
              </a:moveTo>
              <a:lnTo>
                <a:pt x="6103" y="487"/>
              </a:lnTo>
              <a:lnTo>
                <a:pt x="0" y="487"/>
              </a:lnTo>
              <a:lnTo>
                <a:pt x="0" y="709"/>
              </a:lnTo>
            </a:path>
          </a:pathLst>
        </a:custGeom>
        <a:ln>
          <a:solidFill>
            <a:schemeClr val="accent5"/>
          </a:solidFill>
        </a:ln>
      </dsp:spPr>
      <dsp:style>
        <a:lnRef idx="2">
          <a:schemeClr val="accent1">
            <a:shade val="60000"/>
          </a:schemeClr>
        </a:lnRef>
        <a:fillRef idx="0">
          <a:schemeClr val="accent1"/>
        </a:fillRef>
        <a:effectRef idx="0">
          <a:scrgbClr r="0" g="0" b="0"/>
        </a:effectRef>
        <a:fontRef idx="minor"/>
      </dsp:style>
      <dsp:txXfrm>
        <a:off x="737600" y="1001624"/>
        <a:ext cx="3875213" cy="450165"/>
      </dsp:txXfrm>
    </dsp:sp>
    <dsp:sp modelId="{5450D59B-3144-4BCF-809C-42F58CC25390}">
      <dsp:nvSpPr>
        <dsp:cNvPr id="8" name="任意多边形 7"/>
        <dsp:cNvSpPr/>
      </dsp:nvSpPr>
      <dsp:spPr bwMode="white">
        <a:xfrm>
          <a:off x="2434783" y="1001624"/>
          <a:ext cx="2178030" cy="451964"/>
        </a:xfrm>
        <a:custGeom>
          <a:avLst/>
          <a:gdLst/>
          <a:ahLst/>
          <a:cxnLst/>
          <a:pathLst>
            <a:path w="3430" h="712">
              <a:moveTo>
                <a:pt x="3430" y="0"/>
              </a:moveTo>
              <a:lnTo>
                <a:pt x="3430" y="490"/>
              </a:lnTo>
              <a:lnTo>
                <a:pt x="0" y="490"/>
              </a:lnTo>
              <a:lnTo>
                <a:pt x="0" y="712"/>
              </a:lnTo>
            </a:path>
          </a:pathLst>
        </a:custGeom>
        <a:ln>
          <a:solidFill>
            <a:schemeClr val="accent5"/>
          </a:solidFill>
        </a:ln>
      </dsp:spPr>
      <dsp:style>
        <a:lnRef idx="2">
          <a:schemeClr val="accent1">
            <a:shade val="60000"/>
          </a:schemeClr>
        </a:lnRef>
        <a:fillRef idx="0">
          <a:schemeClr val="accent1"/>
        </a:fillRef>
        <a:effectRef idx="0">
          <a:scrgbClr r="0" g="0" b="0"/>
        </a:effectRef>
        <a:fontRef idx="minor"/>
      </dsp:style>
      <dsp:txXfrm>
        <a:off x="2434783" y="1001624"/>
        <a:ext cx="2178030" cy="451964"/>
      </dsp:txXfrm>
    </dsp:sp>
    <dsp:sp modelId="{07F2A534-4AF5-4E70-8B5A-CEEDA81CB645}">
      <dsp:nvSpPr>
        <dsp:cNvPr id="11" name="任意多边形 10"/>
        <dsp:cNvSpPr/>
      </dsp:nvSpPr>
      <dsp:spPr bwMode="white">
        <a:xfrm>
          <a:off x="4261740" y="1001624"/>
          <a:ext cx="351073" cy="451964"/>
        </a:xfrm>
        <a:custGeom>
          <a:avLst/>
          <a:gdLst/>
          <a:ahLst/>
          <a:cxnLst/>
          <a:pathLst>
            <a:path w="553" h="712">
              <a:moveTo>
                <a:pt x="553" y="0"/>
              </a:moveTo>
              <a:lnTo>
                <a:pt x="553" y="490"/>
              </a:lnTo>
              <a:lnTo>
                <a:pt x="0" y="490"/>
              </a:lnTo>
              <a:lnTo>
                <a:pt x="0" y="712"/>
              </a:lnTo>
            </a:path>
          </a:pathLst>
        </a:custGeom>
      </dsp:spPr>
      <dsp:style>
        <a:lnRef idx="2">
          <a:schemeClr val="accent1">
            <a:shade val="60000"/>
          </a:schemeClr>
        </a:lnRef>
        <a:fillRef idx="0">
          <a:schemeClr val="accent1"/>
        </a:fillRef>
        <a:effectRef idx="0">
          <a:scrgbClr r="0" g="0" b="0"/>
        </a:effectRef>
        <a:fontRef idx="minor"/>
      </dsp:style>
      <dsp:txXfrm>
        <a:off x="4261740" y="1001624"/>
        <a:ext cx="351073" cy="451964"/>
      </dsp:txXfrm>
    </dsp:sp>
    <dsp:sp modelId="{D9F69800-6040-4176-932F-4BAAB3EB9E42}">
      <dsp:nvSpPr>
        <dsp:cNvPr id="14" name="任意多边形 13"/>
        <dsp:cNvSpPr/>
      </dsp:nvSpPr>
      <dsp:spPr bwMode="white">
        <a:xfrm>
          <a:off x="4612813" y="1001624"/>
          <a:ext cx="1678157" cy="451964"/>
        </a:xfrm>
        <a:custGeom>
          <a:avLst/>
          <a:gdLst/>
          <a:ahLst/>
          <a:cxnLst/>
          <a:pathLst>
            <a:path w="2643" h="712">
              <a:moveTo>
                <a:pt x="0" y="0"/>
              </a:moveTo>
              <a:lnTo>
                <a:pt x="0" y="490"/>
              </a:lnTo>
              <a:lnTo>
                <a:pt x="2643" y="490"/>
              </a:lnTo>
              <a:lnTo>
                <a:pt x="2643" y="712"/>
              </a:lnTo>
            </a:path>
          </a:pathLst>
        </a:custGeom>
      </dsp:spPr>
      <dsp:style>
        <a:lnRef idx="2">
          <a:schemeClr val="accent1">
            <a:shade val="60000"/>
          </a:schemeClr>
        </a:lnRef>
        <a:fillRef idx="0">
          <a:schemeClr val="accent1"/>
        </a:fillRef>
        <a:effectRef idx="0">
          <a:scrgbClr r="0" g="0" b="0"/>
        </a:effectRef>
        <a:fontRef idx="minor"/>
      </dsp:style>
      <dsp:txXfrm>
        <a:off x="4612813" y="1001624"/>
        <a:ext cx="1678157" cy="451964"/>
      </dsp:txXfrm>
    </dsp:sp>
    <dsp:sp modelId="{388893F6-B582-4046-8B6F-94889B5174CA}">
      <dsp:nvSpPr>
        <dsp:cNvPr id="17" name="任意多边形 16"/>
        <dsp:cNvSpPr/>
      </dsp:nvSpPr>
      <dsp:spPr bwMode="white">
        <a:xfrm>
          <a:off x="4612813" y="1001624"/>
          <a:ext cx="3701130" cy="451964"/>
        </a:xfrm>
        <a:custGeom>
          <a:avLst/>
          <a:gdLst/>
          <a:ahLst/>
          <a:cxnLst/>
          <a:pathLst>
            <a:path w="5829" h="712">
              <a:moveTo>
                <a:pt x="0" y="0"/>
              </a:moveTo>
              <a:lnTo>
                <a:pt x="0" y="490"/>
              </a:lnTo>
              <a:lnTo>
                <a:pt x="5829" y="490"/>
              </a:lnTo>
              <a:lnTo>
                <a:pt x="5829" y="712"/>
              </a:lnTo>
            </a:path>
          </a:pathLst>
        </a:custGeom>
      </dsp:spPr>
      <dsp:style>
        <a:lnRef idx="2">
          <a:schemeClr val="accent1">
            <a:shade val="60000"/>
          </a:schemeClr>
        </a:lnRef>
        <a:fillRef idx="0">
          <a:schemeClr val="accent1"/>
        </a:fillRef>
        <a:effectRef idx="0">
          <a:scrgbClr r="0" g="0" b="0"/>
        </a:effectRef>
        <a:fontRef idx="minor"/>
      </dsp:style>
      <dsp:txXfrm>
        <a:off x="4612813" y="1001624"/>
        <a:ext cx="3701130" cy="451964"/>
      </dsp:txXfrm>
    </dsp:sp>
    <dsp:sp modelId="{A1B414B1-B1A1-4B25-B77C-E916AB074E1A}">
      <dsp:nvSpPr>
        <dsp:cNvPr id="3" name="矩形 2"/>
        <dsp:cNvSpPr/>
      </dsp:nvSpPr>
      <dsp:spPr bwMode="white">
        <a:xfrm>
          <a:off x="3815469" y="551560"/>
          <a:ext cx="1594687" cy="450064"/>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1430" tIns="11430" rIns="11430" bIns="114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buClrTx/>
            <a:buSzTx/>
            <a:buFontTx/>
            <a:buNone/>
          </a:pPr>
          <a:r>
            <a:rPr lang="zh-CN" altLang="en-US" sz="1800" b="0" dirty="0">
              <a:solidFill>
                <a:srgbClr val="002060"/>
              </a:solidFill>
              <a:effectLst/>
              <a:latin typeface="微软雅黑" panose="020B0503020204020204" pitchFamily="34" charset="-122"/>
              <a:ea typeface="微软雅黑" panose="020B0503020204020204" pitchFamily="34" charset="-122"/>
              <a:cs typeface="+mn-cs"/>
            </a:rPr>
            <a:t>定量分析方法</a:t>
          </a:r>
          <a:endParaRPr lang="zh-CN" altLang="en-US" sz="1800" dirty="0">
            <a:solidFill>
              <a:srgbClr val="002060"/>
            </a:solidFill>
          </a:endParaRPr>
        </a:p>
      </dsp:txBody>
      <dsp:txXfrm>
        <a:off x="3815469" y="551560"/>
        <a:ext cx="1594687" cy="450064"/>
      </dsp:txXfrm>
    </dsp:sp>
    <dsp:sp modelId="{9C7F65E3-9EB5-46D1-8434-052A03E27B7D}">
      <dsp:nvSpPr>
        <dsp:cNvPr id="6" name="矩形 5"/>
        <dsp:cNvSpPr/>
      </dsp:nvSpPr>
      <dsp:spPr bwMode="white">
        <a:xfrm>
          <a:off x="0" y="1451789"/>
          <a:ext cx="1475199" cy="437382"/>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多元线性回归</a:t>
          </a:r>
          <a:endParaRPr lang="zh-CN" altLang="en-US" sz="1600" dirty="0"/>
        </a:p>
      </dsp:txBody>
      <dsp:txXfrm>
        <a:off x="0" y="1451789"/>
        <a:ext cx="1475199" cy="437382"/>
      </dsp:txXfrm>
    </dsp:sp>
    <dsp:sp modelId="{37C55316-295B-46D2-B0C6-3B837EBF849D}">
      <dsp:nvSpPr>
        <dsp:cNvPr id="9" name="矩形 8"/>
        <dsp:cNvSpPr/>
      </dsp:nvSpPr>
      <dsp:spPr bwMode="white">
        <a:xfrm>
          <a:off x="1763426" y="1453588"/>
          <a:ext cx="1342714" cy="446828"/>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sz="1600" b="0" dirty="0">
              <a:solidFill>
                <a:schemeClr val="tx1"/>
              </a:solidFill>
              <a:effectLst/>
              <a:latin typeface="微软雅黑" panose="020B0503020204020204" pitchFamily="34" charset="-122"/>
              <a:ea typeface="微软雅黑" panose="020B0503020204020204" pitchFamily="34" charset="-122"/>
              <a:cs typeface="+mn-cs"/>
            </a:rPr>
            <a:t>主成分回归</a:t>
          </a:r>
          <a:endParaRPr lang="zh-CN" altLang="en-US" sz="1700" dirty="0"/>
        </a:p>
      </dsp:txBody>
      <dsp:txXfrm>
        <a:off x="1763426" y="1453588"/>
        <a:ext cx="1342714" cy="446828"/>
      </dsp:txXfrm>
    </dsp:sp>
    <dsp:sp modelId="{EDA51328-5D84-4851-83F7-642409476672}">
      <dsp:nvSpPr>
        <dsp:cNvPr id="12" name="矩形 11"/>
        <dsp:cNvSpPr/>
      </dsp:nvSpPr>
      <dsp:spPr bwMode="white">
        <a:xfrm>
          <a:off x="3388110" y="1453588"/>
          <a:ext cx="1747260" cy="446828"/>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10160" tIns="10160" rIns="10160" bIns="1016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sz="1600" b="0" kern="1200" dirty="0">
              <a:solidFill>
                <a:prstClr val="black"/>
              </a:solidFill>
              <a:effectLst/>
              <a:latin typeface="微软雅黑" panose="020B0503020204020204" pitchFamily="34" charset="-122"/>
              <a:ea typeface="微软雅黑" panose="020B0503020204020204" pitchFamily="34" charset="-122"/>
              <a:cs typeface="+mn-cs"/>
            </a:rPr>
            <a:t>偏最小二乘回归</a:t>
          </a:r>
        </a:p>
      </dsp:txBody>
      <dsp:txXfrm>
        <a:off x="3388110" y="1453588"/>
        <a:ext cx="1747260" cy="446828"/>
      </dsp:txXfrm>
    </dsp:sp>
    <dsp:sp modelId="{A2954A1E-E556-4C56-9EF0-383A5FEB6E4B}">
      <dsp:nvSpPr>
        <dsp:cNvPr id="15" name="矩形 14"/>
        <dsp:cNvSpPr/>
      </dsp:nvSpPr>
      <dsp:spPr bwMode="white">
        <a:xfrm>
          <a:off x="5417340" y="1453588"/>
          <a:ext cx="1747260" cy="446828"/>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8255" tIns="8255" rIns="8255" bIns="8255"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b="0" dirty="0">
              <a:solidFill>
                <a:prstClr val="black"/>
              </a:solidFill>
              <a:effectLst/>
              <a:latin typeface="微软雅黑" panose="020B0503020204020204" pitchFamily="34" charset="-122"/>
              <a:ea typeface="微软雅黑" panose="020B0503020204020204" pitchFamily="34" charset="-122"/>
              <a:cs typeface="+mn-cs"/>
            </a:rPr>
            <a:t>非线性偏最小二乘回归</a:t>
          </a:r>
        </a:p>
      </dsp:txBody>
      <dsp:txXfrm>
        <a:off x="5417340" y="1453588"/>
        <a:ext cx="1747260" cy="446828"/>
      </dsp:txXfrm>
    </dsp:sp>
    <dsp:sp modelId="{4709F596-A960-4CE1-A3B8-ACCF50B63E1B}">
      <dsp:nvSpPr>
        <dsp:cNvPr id="18" name="矩形 17"/>
        <dsp:cNvSpPr/>
      </dsp:nvSpPr>
      <dsp:spPr bwMode="white">
        <a:xfrm>
          <a:off x="7440313" y="1453588"/>
          <a:ext cx="1747260" cy="446828"/>
        </a:xfrm>
        <a:prstGeom prst="rect">
          <a:avLst/>
        </a:prstGeom>
        <a:solidFill>
          <a:schemeClr val="accent1">
            <a:lumMod val="20000"/>
            <a:lumOff val="80000"/>
          </a:schemeClr>
        </a:solidFill>
      </dsp:spPr>
      <dsp:style>
        <a:lnRef idx="2">
          <a:schemeClr val="lt1"/>
        </a:lnRef>
        <a:fillRef idx="1">
          <a:schemeClr val="accent1"/>
        </a:fillRef>
        <a:effectRef idx="0">
          <a:scrgbClr r="0" g="0" b="0"/>
        </a:effectRef>
        <a:fontRef idx="minor">
          <a:schemeClr val="lt1"/>
        </a:fontRef>
      </dsp:style>
      <dsp:txBody>
        <a:bodyPr lIns="8255" tIns="8255" rIns="8255" bIns="8255"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zh-CN" altLang="en-US" b="0" dirty="0">
              <a:solidFill>
                <a:prstClr val="black"/>
              </a:solidFill>
              <a:effectLst/>
              <a:latin typeface="微软雅黑" panose="020B0503020204020204" pitchFamily="34" charset="-122"/>
              <a:ea typeface="微软雅黑" panose="020B0503020204020204" pitchFamily="34" charset="-122"/>
              <a:cs typeface="+mn-cs"/>
            </a:rPr>
            <a:t>人工神经网络</a:t>
          </a:r>
        </a:p>
      </dsp:txBody>
      <dsp:txXfrm>
        <a:off x="7440313" y="1453588"/>
        <a:ext cx="1747260" cy="446828"/>
      </dsp:txXfrm>
    </dsp:sp>
    <dsp:sp modelId="{C622A05B-3925-4A2F-8901-231F6C748A31}">
      <dsp:nvSpPr>
        <dsp:cNvPr id="4" name="矩形 3" hidden="1"/>
        <dsp:cNvSpPr/>
      </dsp:nvSpPr>
      <dsp:spPr>
        <a:xfrm>
          <a:off x="3815469" y="551560"/>
          <a:ext cx="318937" cy="450064"/>
        </a:xfrm>
        <a:prstGeom prst="rect">
          <a:avLst/>
        </a:prstGeom>
      </dsp:spPr>
      <dsp:txXfrm>
        <a:off x="3815469" y="551560"/>
        <a:ext cx="318937" cy="450064"/>
      </dsp:txXfrm>
    </dsp:sp>
    <dsp:sp modelId="{BAC82406-E5A2-4F50-BA14-1EEE4C268B6A}">
      <dsp:nvSpPr>
        <dsp:cNvPr id="7" name="矩形 6" hidden="1"/>
        <dsp:cNvSpPr/>
      </dsp:nvSpPr>
      <dsp:spPr>
        <a:xfrm>
          <a:off x="0" y="1451789"/>
          <a:ext cx="295040" cy="437382"/>
        </a:xfrm>
        <a:prstGeom prst="rect">
          <a:avLst/>
        </a:prstGeom>
      </dsp:spPr>
      <dsp:txXfrm>
        <a:off x="0" y="1451789"/>
        <a:ext cx="295040" cy="437382"/>
      </dsp:txXfrm>
    </dsp:sp>
    <dsp:sp modelId="{1E009E5E-0B12-4930-927D-AC70C0E1F41A}">
      <dsp:nvSpPr>
        <dsp:cNvPr id="10" name="矩形 9" hidden="1"/>
        <dsp:cNvSpPr/>
      </dsp:nvSpPr>
      <dsp:spPr>
        <a:xfrm>
          <a:off x="1763426" y="1453588"/>
          <a:ext cx="268543" cy="446828"/>
        </a:xfrm>
        <a:prstGeom prst="rect">
          <a:avLst/>
        </a:prstGeom>
      </dsp:spPr>
      <dsp:txXfrm>
        <a:off x="1763426" y="1453588"/>
        <a:ext cx="268543" cy="446828"/>
      </dsp:txXfrm>
    </dsp:sp>
    <dsp:sp modelId="{A74F4897-0BCE-4FD5-BBEE-E194AD936F5F}">
      <dsp:nvSpPr>
        <dsp:cNvPr id="13" name="矩形 12" hidden="1"/>
        <dsp:cNvSpPr/>
      </dsp:nvSpPr>
      <dsp:spPr>
        <a:xfrm>
          <a:off x="3388110" y="1453588"/>
          <a:ext cx="349452" cy="446828"/>
        </a:xfrm>
        <a:prstGeom prst="rect">
          <a:avLst/>
        </a:prstGeom>
      </dsp:spPr>
      <dsp:txXfrm>
        <a:off x="3388110" y="1453588"/>
        <a:ext cx="349452" cy="446828"/>
      </dsp:txXfrm>
    </dsp:sp>
    <dsp:sp modelId="{BF1C086F-C26B-4D7F-AAC6-26DC31ABB225}">
      <dsp:nvSpPr>
        <dsp:cNvPr id="16" name="矩形 15" hidden="1"/>
        <dsp:cNvSpPr/>
      </dsp:nvSpPr>
      <dsp:spPr>
        <a:xfrm>
          <a:off x="5417340" y="1453588"/>
          <a:ext cx="349452" cy="446828"/>
        </a:xfrm>
        <a:prstGeom prst="rect">
          <a:avLst/>
        </a:prstGeom>
      </dsp:spPr>
      <dsp:txXfrm>
        <a:off x="5417340" y="1453588"/>
        <a:ext cx="349452" cy="446828"/>
      </dsp:txXfrm>
    </dsp:sp>
    <dsp:sp modelId="{E0184CFB-721B-4ED7-9C22-A0D8C80E27C1}">
      <dsp:nvSpPr>
        <dsp:cNvPr id="19" name="矩形 18" hidden="1"/>
        <dsp:cNvSpPr/>
      </dsp:nvSpPr>
      <dsp:spPr>
        <a:xfrm>
          <a:off x="7440313" y="1453588"/>
          <a:ext cx="349452" cy="446828"/>
        </a:xfrm>
        <a:prstGeom prst="rect">
          <a:avLst/>
        </a:prstGeom>
      </dsp:spPr>
      <dsp:txXfrm>
        <a:off x="7440313" y="1453588"/>
        <a:ext cx="349452" cy="44682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rSet qsTypeId="urn:microsoft.com/office/officeart/2005/8/quickstyle/simple5"/>
        </dgm:pt>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rSet qsTypeId="urn:microsoft.com/office/officeart/2005/8/quickstyle/simple5"/>
        </dgm:pt>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2">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58.wmf"/><Relationship Id="rId4" Type="http://schemas.openxmlformats.org/officeDocument/2006/relationships/image" Target="../media/image57.wmf"/><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F33B5E-520B-8246-BE8A-E34F8EB634A0}"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530" y="1143000"/>
            <a:ext cx="548694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CB2570-5314-B54D-B499-4277E266C12B}"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150" y="1122363"/>
            <a:ext cx="9144900" cy="2387600"/>
          </a:xfrm>
        </p:spPr>
        <p:txBody>
          <a:bodyPr anchor="b"/>
          <a:lstStyle>
            <a:lvl1pPr algn="ctr">
              <a:defRPr sz="60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524150" y="3602038"/>
            <a:ext cx="91449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601D5E5F-35A6-4F08-ADAD-15528581E794}"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612012" y="363855"/>
            <a:ext cx="6691019" cy="612140"/>
          </a:xfrm>
        </p:spPr>
        <p:txBody>
          <a:bodyPr/>
          <a:lstStyle>
            <a:lvl1pPr>
              <a:defRPr sz="3200">
                <a:latin typeface="微软雅黑" panose="020B0503020204020204" pitchFamily="34" charset="-122"/>
                <a:ea typeface="微软雅黑" panose="020B0503020204020204" pitchFamily="34" charset="-122"/>
              </a:defRPr>
            </a:lvl1pPr>
          </a:lstStyle>
          <a:p>
            <a:r>
              <a:rPr kumimoji="1" lang="zh-CN" altLang="en-US"/>
              <a:t>单击此处编辑母版标题样式</a:t>
            </a:r>
            <a:endParaRPr kumimoji="1" lang="zh-CN" altLang="en-US"/>
          </a:p>
        </p:txBody>
      </p:sp>
      <p:sp>
        <p:nvSpPr>
          <p:cNvPr id="3" name="内容占位符 2"/>
          <p:cNvSpPr>
            <a:spLocks noGrp="1"/>
          </p:cNvSpPr>
          <p:nvPr>
            <p:ph idx="1" hasCustomPrompt="1"/>
          </p:nvPr>
        </p:nvSpPr>
        <p:spPr/>
        <p:txBody>
          <a:bodyPr/>
          <a:lstStyle>
            <a:lvl1pPr eaLnBrk="1" fontAlgn="auto" latinLnBrk="0" hangingPunct="1">
              <a:lnSpc>
                <a:spcPct val="130000"/>
              </a:lnSpc>
              <a:defRPr sz="2000">
                <a:latin typeface="微软雅黑" panose="020B0503020204020204" pitchFamily="34" charset="-122"/>
                <a:ea typeface="微软雅黑" panose="020B0503020204020204" pitchFamily="34" charset="-122"/>
                <a:cs typeface="微软雅黑" panose="020B0503020204020204" pitchFamily="34" charset="-122"/>
              </a:defRPr>
            </a:lvl1pPr>
          </a:lstStyle>
          <a:p>
            <a:r>
              <a:rPr kumimoji="1" lang="zh-CN" altLang="en-US"/>
              <a:t>编辑母版文本样式
第二级
第三级
第四级
第五级</a:t>
            </a:r>
            <a:endParaRPr kumimoji="1" lang="zh-CN" altLang="en-US"/>
          </a:p>
        </p:txBody>
      </p:sp>
      <p:sp>
        <p:nvSpPr>
          <p:cNvPr id="4" name="日期占位符 3"/>
          <p:cNvSpPr>
            <a:spLocks noGrp="1"/>
          </p:cNvSpPr>
          <p:nvPr>
            <p:ph type="dt" sz="half" idx="10"/>
          </p:nvPr>
        </p:nvSpPr>
        <p:spPr/>
        <p:txBody>
          <a:bodyPr/>
          <a:lstStyle/>
          <a:p>
            <a:fld id="{9159FC55-2444-4348-B1C7-84A10A13FCBD}"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cxnSp>
        <p:nvCxnSpPr>
          <p:cNvPr id="8" name="直线连接符 7"/>
          <p:cNvCxnSpPr/>
          <p:nvPr userDrawn="1"/>
        </p:nvCxnSpPr>
        <p:spPr>
          <a:xfrm>
            <a:off x="0" y="1007859"/>
            <a:ext cx="12193201" cy="0"/>
          </a:xfrm>
          <a:prstGeom prst="line">
            <a:avLst/>
          </a:prstGeom>
          <a:ln w="19050">
            <a:gradFill flip="none" rotWithShape="1">
              <a:gsLst>
                <a:gs pos="0">
                  <a:schemeClr val="bg1">
                    <a:lumMod val="100000"/>
                  </a:schemeClr>
                </a:gs>
                <a:gs pos="23000">
                  <a:schemeClr val="accent2">
                    <a:lumMod val="89000"/>
                  </a:schemeClr>
                </a:gs>
                <a:gs pos="69000">
                  <a:schemeClr val="accent2">
                    <a:lumMod val="75000"/>
                  </a:schemeClr>
                </a:gs>
                <a:gs pos="97000">
                  <a:schemeClr val="accent2">
                    <a:lumMod val="70000"/>
                  </a:schemeClr>
                </a:gs>
              </a:gsLst>
              <a:path path="circle">
                <a:fillToRect l="100000" t="100000"/>
              </a:path>
              <a:tileRect r="-100000" b="-100000"/>
            </a:gradFill>
          </a:ln>
          <a:effectLst>
            <a:outerShdw blurRad="50800" dist="50800" dir="5400000" algn="ctr" rotWithShape="0">
              <a:srgbClr val="000000">
                <a:alpha val="40000"/>
              </a:srgbClr>
            </a:outerShdw>
          </a:effectLst>
        </p:spPr>
        <p:style>
          <a:lnRef idx="1">
            <a:schemeClr val="accent2"/>
          </a:lnRef>
          <a:fillRef idx="0">
            <a:schemeClr val="accent2"/>
          </a:fillRef>
          <a:effectRef idx="0">
            <a:schemeClr val="accent2"/>
          </a:effectRef>
          <a:fontRef idx="minor">
            <a:schemeClr val="tx1"/>
          </a:fontRef>
        </p:style>
      </p:cxnSp>
      <p:pic>
        <p:nvPicPr>
          <p:cNvPr id="20" name="图片 19"/>
          <p:cNvPicPr>
            <a:picLocks noChangeAspect="1"/>
          </p:cNvPicPr>
          <p:nvPr userDrawn="1"/>
        </p:nvPicPr>
        <p:blipFill rotWithShape="1">
          <a:blip r:embed="rId2"/>
          <a:srcRect l="2734" t="6900" r="2468" b="9377"/>
          <a:stretch>
            <a:fillRect/>
          </a:stretch>
        </p:blipFill>
        <p:spPr>
          <a:xfrm>
            <a:off x="9466892" y="42785"/>
            <a:ext cx="2653801" cy="871784"/>
          </a:xfrm>
          <a:prstGeom prst="rect">
            <a:avLst/>
          </a:prstGeom>
        </p:spPr>
      </p:pic>
      <p:sp>
        <p:nvSpPr>
          <p:cNvPr id="9" name="灯片编号占位符 8"/>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83" y="365125"/>
            <a:ext cx="10516635"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83" y="1825625"/>
            <a:ext cx="10516635" cy="4351338"/>
          </a:xfrm>
          <a:prstGeom prst="rect">
            <a:avLst/>
          </a:prstGeom>
        </p:spPr>
        <p:txBody>
          <a:bodyPr vert="horz" lIns="91440" tIns="45720" rIns="91440" bIns="45720" rtlCol="0">
            <a:normAutofit/>
          </a:bodyPr>
          <a:lstStyle/>
          <a:p>
            <a:r>
              <a:rPr kumimoji="1" lang="zh-CN" altLang="en-US"/>
              <a:t>编辑母版文本样式
第二级
第三级
第四级
第五级</a:t>
            </a:r>
            <a:endParaRPr kumimoji="1" lang="zh-CN" altLang="en-US"/>
          </a:p>
        </p:txBody>
      </p:sp>
      <p:sp>
        <p:nvSpPr>
          <p:cNvPr id="4" name="日期占位符 3"/>
          <p:cNvSpPr>
            <a:spLocks noGrp="1"/>
          </p:cNvSpPr>
          <p:nvPr>
            <p:ph type="dt" sz="half" idx="2"/>
          </p:nvPr>
        </p:nvSpPr>
        <p:spPr>
          <a:xfrm>
            <a:off x="838283" y="6356350"/>
            <a:ext cx="274347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4908F8-0CCE-4A95-B1AB-AD86A0FFC97E}" type="datetime1">
              <a:rPr kumimoji="1" lang="zh-CN" altLang="en-US" smtClean="0"/>
            </a:fld>
            <a:endParaRPr kumimoji="1" lang="zh-CN" altLang="en-US"/>
          </a:p>
        </p:txBody>
      </p:sp>
      <p:sp>
        <p:nvSpPr>
          <p:cNvPr id="5" name="页脚占位符 4"/>
          <p:cNvSpPr>
            <a:spLocks noGrp="1"/>
          </p:cNvSpPr>
          <p:nvPr>
            <p:ph type="ftr" sz="quarter" idx="3"/>
          </p:nvPr>
        </p:nvSpPr>
        <p:spPr>
          <a:xfrm>
            <a:off x="4038998" y="6356350"/>
            <a:ext cx="41152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7" name="灯片编号占位符 6"/>
          <p:cNvSpPr>
            <a:spLocks noGrp="1"/>
          </p:cNvSpPr>
          <p:nvPr>
            <p:ph type="sldNum" sz="quarter" idx="4"/>
          </p:nvPr>
        </p:nvSpPr>
        <p:spPr>
          <a:xfrm>
            <a:off x="8611448" y="6356350"/>
            <a:ext cx="274347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CC0675-18FD-1549-AA90-64430E7AA6D4}"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tif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8.wdp"/><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1" Type="http://schemas.openxmlformats.org/officeDocument/2006/relationships/slideLayout" Target="../slideLayouts/slideLayout2.xml"/><Relationship Id="rId10" Type="http://schemas.microsoft.com/office/2007/relationships/diagramDrawing" Target="../diagrams/drawing2.xml"/><Relationship Id="rId1"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9" Type="http://schemas.openxmlformats.org/officeDocument/2006/relationships/image" Target="../media/image20.wmf"/><Relationship Id="rId8" Type="http://schemas.openxmlformats.org/officeDocument/2006/relationships/oleObject" Target="../embeddings/oleObject4.bin"/><Relationship Id="rId7" Type="http://schemas.openxmlformats.org/officeDocument/2006/relationships/image" Target="../media/image19.wmf"/><Relationship Id="rId6" Type="http://schemas.openxmlformats.org/officeDocument/2006/relationships/oleObject" Target="../embeddings/oleObject3.bin"/><Relationship Id="rId5" Type="http://schemas.openxmlformats.org/officeDocument/2006/relationships/image" Target="../media/image18.wmf"/><Relationship Id="rId4" Type="http://schemas.openxmlformats.org/officeDocument/2006/relationships/oleObject" Target="../embeddings/oleObject2.bin"/><Relationship Id="rId3" Type="http://schemas.openxmlformats.org/officeDocument/2006/relationships/image" Target="../media/image17.wmf"/><Relationship Id="rId2" Type="http://schemas.openxmlformats.org/officeDocument/2006/relationships/oleObject" Target="../embeddings/oleObject1.bin"/><Relationship Id="rId11" Type="http://schemas.openxmlformats.org/officeDocument/2006/relationships/vmlDrawing" Target="../drawings/vmlDrawing1.vml"/><Relationship Id="rId10" Type="http://schemas.openxmlformats.org/officeDocument/2006/relationships/slideLayout" Target="../slideLayouts/slideLayout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15.xml.rels><?xml version="1.0" encoding="UTF-8" standalone="yes"?>
<Relationships xmlns="http://schemas.openxmlformats.org/package/2006/relationships"><Relationship Id="rId9" Type="http://schemas.openxmlformats.org/officeDocument/2006/relationships/image" Target="../media/image25.wmf"/><Relationship Id="rId8" Type="http://schemas.openxmlformats.org/officeDocument/2006/relationships/oleObject" Target="../embeddings/oleObject8.bin"/><Relationship Id="rId7" Type="http://schemas.openxmlformats.org/officeDocument/2006/relationships/image" Target="../media/image24.wmf"/><Relationship Id="rId6" Type="http://schemas.openxmlformats.org/officeDocument/2006/relationships/oleObject" Target="../embeddings/oleObject7.bin"/><Relationship Id="rId5" Type="http://schemas.openxmlformats.org/officeDocument/2006/relationships/image" Target="../media/image23.wmf"/><Relationship Id="rId4" Type="http://schemas.openxmlformats.org/officeDocument/2006/relationships/oleObject" Target="../embeddings/oleObject6.bin"/><Relationship Id="rId3" Type="http://schemas.openxmlformats.org/officeDocument/2006/relationships/image" Target="../media/image22.png"/><Relationship Id="rId2" Type="http://schemas.openxmlformats.org/officeDocument/2006/relationships/image" Target="../media/image21.wmf"/><Relationship Id="rId11" Type="http://schemas.openxmlformats.org/officeDocument/2006/relationships/vmlDrawing" Target="../drawings/vmlDrawing2.vml"/><Relationship Id="rId10" Type="http://schemas.openxmlformats.org/officeDocument/2006/relationships/slideLayout" Target="../slideLayouts/slideLayout2.xml"/><Relationship Id="rId1" Type="http://schemas.openxmlformats.org/officeDocument/2006/relationships/oleObject" Target="../embeddings/oleObject5.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34.emf"/><Relationship Id="rId6" Type="http://schemas.openxmlformats.org/officeDocument/2006/relationships/image" Target="../media/image33.emf"/><Relationship Id="rId5" Type="http://schemas.openxmlformats.org/officeDocument/2006/relationships/image" Target="../media/image32.emf"/><Relationship Id="rId4" Type="http://schemas.openxmlformats.org/officeDocument/2006/relationships/image" Target="../media/image31.emf"/><Relationship Id="rId3" Type="http://schemas.openxmlformats.org/officeDocument/2006/relationships/image" Target="../media/image30.emf"/><Relationship Id="rId2" Type="http://schemas.openxmlformats.org/officeDocument/2006/relationships/image" Target="../media/image29.png"/><Relationship Id="rId1"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emf"/><Relationship Id="rId1"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emf"/><Relationship Id="rId1" Type="http://schemas.openxmlformats.org/officeDocument/2006/relationships/image" Target="../media/image39.em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emf"/></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emf"/><Relationship Id="rId1" Type="http://schemas.openxmlformats.org/officeDocument/2006/relationships/image" Target="../media/image42.emf"/></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image" Target="../media/image45.png"/><Relationship Id="rId3" Type="http://schemas.openxmlformats.org/officeDocument/2006/relationships/tags" Target="../tags/tag3.xml"/><Relationship Id="rId2" Type="http://schemas.openxmlformats.org/officeDocument/2006/relationships/image" Target="../media/image44.png"/><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7" Type="http://schemas.openxmlformats.org/officeDocument/2006/relationships/slideLayout" Target="../slideLayouts/slideLayout2.xml"/><Relationship Id="rId16" Type="http://schemas.openxmlformats.org/officeDocument/2006/relationships/tags" Target="../tags/tag21.xml"/><Relationship Id="rId15" Type="http://schemas.openxmlformats.org/officeDocument/2006/relationships/tags" Target="../tags/tag20.xml"/><Relationship Id="rId14" Type="http://schemas.openxmlformats.org/officeDocument/2006/relationships/tags" Target="../tags/tag19.xml"/><Relationship Id="rId13" Type="http://schemas.openxmlformats.org/officeDocument/2006/relationships/tags" Target="../tags/tag18.xml"/><Relationship Id="rId12" Type="http://schemas.openxmlformats.org/officeDocument/2006/relationships/tags" Target="../tags/tag17.xml"/><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tags" Target="../tags/tag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46.wmf"/><Relationship Id="rId1" Type="http://schemas.openxmlformats.org/officeDocument/2006/relationships/oleObject" Target="../embeddings/oleObject9.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image" Target="../media/image51.png"/><Relationship Id="rId7" Type="http://schemas.openxmlformats.org/officeDocument/2006/relationships/image" Target="../media/image50.png"/><Relationship Id="rId6" Type="http://schemas.openxmlformats.org/officeDocument/2006/relationships/image" Target="../media/image49.wmf"/><Relationship Id="rId5" Type="http://schemas.openxmlformats.org/officeDocument/2006/relationships/oleObject" Target="../embeddings/oleObject12.bin"/><Relationship Id="rId4" Type="http://schemas.openxmlformats.org/officeDocument/2006/relationships/image" Target="../media/image48.wmf"/><Relationship Id="rId3" Type="http://schemas.openxmlformats.org/officeDocument/2006/relationships/oleObject" Target="../embeddings/oleObject11.bin"/><Relationship Id="rId2" Type="http://schemas.openxmlformats.org/officeDocument/2006/relationships/image" Target="../media/image47.wmf"/><Relationship Id="rId19" Type="http://schemas.openxmlformats.org/officeDocument/2006/relationships/vmlDrawing" Target="../drawings/vmlDrawing4.vml"/><Relationship Id="rId18" Type="http://schemas.openxmlformats.org/officeDocument/2006/relationships/slideLayout" Target="../slideLayouts/slideLayout2.xml"/><Relationship Id="rId17" Type="http://schemas.openxmlformats.org/officeDocument/2006/relationships/image" Target="../media/image58.wmf"/><Relationship Id="rId16" Type="http://schemas.openxmlformats.org/officeDocument/2006/relationships/oleObject" Target="../embeddings/oleObject14.bin"/><Relationship Id="rId15" Type="http://schemas.openxmlformats.org/officeDocument/2006/relationships/image" Target="../media/image57.wmf"/><Relationship Id="rId14" Type="http://schemas.openxmlformats.org/officeDocument/2006/relationships/oleObject" Target="../embeddings/oleObject13.bin"/><Relationship Id="rId13" Type="http://schemas.openxmlformats.org/officeDocument/2006/relationships/image" Target="../media/image56.png"/><Relationship Id="rId12" Type="http://schemas.openxmlformats.org/officeDocument/2006/relationships/image" Target="../media/image55.png"/><Relationship Id="rId11" Type="http://schemas.openxmlformats.org/officeDocument/2006/relationships/image" Target="../media/image54.png"/><Relationship Id="rId10" Type="http://schemas.openxmlformats.org/officeDocument/2006/relationships/image" Target="../media/image53.png"/><Relationship Id="rId1" Type="http://schemas.openxmlformats.org/officeDocument/2006/relationships/oleObject" Target="../embeddings/oleObject10.bin"/></Relationships>
</file>

<file path=ppt/slides/_rels/slide36.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2.xml"/><Relationship Id="rId7" Type="http://schemas.openxmlformats.org/officeDocument/2006/relationships/image" Target="../media/image63.png"/><Relationship Id="rId6" Type="http://schemas.openxmlformats.org/officeDocument/2006/relationships/image" Target="../media/image62.wmf"/><Relationship Id="rId5" Type="http://schemas.openxmlformats.org/officeDocument/2006/relationships/oleObject" Target="../embeddings/oleObject16.bin"/><Relationship Id="rId4" Type="http://schemas.openxmlformats.org/officeDocument/2006/relationships/image" Target="../media/image61.wmf"/><Relationship Id="rId3" Type="http://schemas.openxmlformats.org/officeDocument/2006/relationships/oleObject" Target="../embeddings/oleObject15.bin"/><Relationship Id="rId2" Type="http://schemas.openxmlformats.org/officeDocument/2006/relationships/image" Target="../media/image60.png"/><Relationship Id="rId1" Type="http://schemas.openxmlformats.org/officeDocument/2006/relationships/image" Target="../media/image5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6.png"/><Relationship Id="rId1" Type="http://schemas.openxmlformats.org/officeDocument/2006/relationships/image" Target="../media/image65.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8.png"/><Relationship Id="rId1" Type="http://schemas.openxmlformats.org/officeDocument/2006/relationships/image" Target="../media/image67.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2.xml"/><Relationship Id="rId5" Type="http://schemas.openxmlformats.org/officeDocument/2006/relationships/image" Target="../media/image75.emf"/><Relationship Id="rId4" Type="http://schemas.openxmlformats.org/officeDocument/2006/relationships/oleObject" Target="../embeddings/oleObject17.bin"/><Relationship Id="rId3" Type="http://schemas.openxmlformats.org/officeDocument/2006/relationships/image" Target="../media/image74.png"/><Relationship Id="rId2" Type="http://schemas.openxmlformats.org/officeDocument/2006/relationships/image" Target="../media/image73.emf"/><Relationship Id="rId1" Type="http://schemas.openxmlformats.org/officeDocument/2006/relationships/image" Target="../media/image72.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image" Target="../media/image7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77.png"/><Relationship Id="rId1" Type="http://schemas.openxmlformats.org/officeDocument/2006/relationships/image" Target="../media/image7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2267232" y="3995018"/>
            <a:ext cx="7660640" cy="1379818"/>
          </a:xfrm>
        </p:spPr>
        <p:txBody>
          <a:bodyPr vert="horz" lIns="91440" tIns="45720" rIns="91440" bIns="45720" rtlCol="0">
            <a:noAutofit/>
          </a:bodyPr>
          <a:lstStyle/>
          <a:p>
            <a:pPr>
              <a:lnSpc>
                <a:spcPct val="120000"/>
              </a:lnSpc>
            </a:pPr>
            <a:r>
              <a:rPr lang="zh-CN" altLang="en-US"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浙江大学</a:t>
            </a:r>
            <a:r>
              <a:rPr lang="en-US" altLang="zh-CN"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海洋学院</a:t>
            </a:r>
            <a:endParaRPr lang="zh-CN" altLang="en-US"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王晓萍</a:t>
            </a:r>
            <a:endParaRPr lang="zh-CN" altLang="en-US" sz="28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zh-CN" altLang="en-US" sz="3200" b="1" kern="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104775" y="136525"/>
            <a:ext cx="1863725" cy="398780"/>
          </a:xfrm>
          <a:prstGeom prst="rect">
            <a:avLst/>
          </a:prstGeom>
          <a:noFill/>
        </p:spPr>
        <p:txBody>
          <a:bodyPr wrap="square" rtlCol="0">
            <a:spAutoFit/>
          </a:bodyPr>
          <a:lstStyle/>
          <a:p>
            <a:pPr algn="ctr" fontAlgn="auto">
              <a:lnSpc>
                <a:spcPct val="100000"/>
              </a:lnSpc>
            </a:pPr>
            <a:r>
              <a:rPr kumimoji="1" lang="zh-CN" altLang="en-US" sz="2000" b="1" dirty="0">
                <a:gradFill>
                  <a:gsLst>
                    <a:gs pos="0">
                      <a:srgbClr val="007BD3"/>
                    </a:gs>
                    <a:gs pos="100000">
                      <a:srgbClr val="034373"/>
                    </a:gs>
                  </a:gsLst>
                  <a:lin scaled="0"/>
                </a:gra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海洋光学技术</a:t>
            </a:r>
            <a:endParaRPr kumimoji="1" lang="zh-CN" altLang="en-US" sz="2000" b="1" dirty="0">
              <a:gradFill>
                <a:gsLst>
                  <a:gs pos="0">
                    <a:srgbClr val="007BD3"/>
                  </a:gs>
                  <a:gs pos="100000">
                    <a:srgbClr val="034373"/>
                  </a:gs>
                </a:gsLst>
                <a:lin scaled="0"/>
              </a:gra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p:txBody>
      </p:sp>
      <p:cxnSp>
        <p:nvCxnSpPr>
          <p:cNvPr id="6" name="直线连接符 5"/>
          <p:cNvCxnSpPr/>
          <p:nvPr/>
        </p:nvCxnSpPr>
        <p:spPr>
          <a:xfrm>
            <a:off x="-25257" y="3391013"/>
            <a:ext cx="12192000" cy="0"/>
          </a:xfrm>
          <a:prstGeom prst="line">
            <a:avLst/>
          </a:prstGeom>
          <a:ln w="127000">
            <a:gradFill flip="none" rotWithShape="1">
              <a:gsLst>
                <a:gs pos="0">
                  <a:schemeClr val="bg1"/>
                </a:gs>
                <a:gs pos="23000">
                  <a:schemeClr val="accent2">
                    <a:lumMod val="89000"/>
                  </a:schemeClr>
                </a:gs>
                <a:gs pos="69000">
                  <a:schemeClr val="accent2">
                    <a:lumMod val="75000"/>
                  </a:schemeClr>
                </a:gs>
                <a:gs pos="97000">
                  <a:schemeClr val="accent2">
                    <a:lumMod val="70000"/>
                  </a:schemeClr>
                </a:gs>
              </a:gsLst>
              <a:path path="circle">
                <a:fillToRect l="100000" t="100000"/>
              </a:path>
              <a:tileRect r="-100000" b="-100000"/>
            </a:gradFill>
          </a:ln>
          <a:effectLst>
            <a:outerShdw blurRad="50800" dist="50800" dir="5400000" algn="ctr" rotWithShape="0">
              <a:srgbClr val="000000">
                <a:alpha val="40000"/>
              </a:srgbClr>
            </a:outerShdw>
          </a:effectLst>
        </p:spPr>
        <p:style>
          <a:lnRef idx="1">
            <a:schemeClr val="accent2"/>
          </a:lnRef>
          <a:fillRef idx="0">
            <a:schemeClr val="accent2"/>
          </a:fillRef>
          <a:effectRef idx="0">
            <a:schemeClr val="accent2"/>
          </a:effectRef>
          <a:fontRef idx="minor">
            <a:schemeClr val="tx1"/>
          </a:fontRef>
        </p:style>
      </p:cxnSp>
      <p:pic>
        <p:nvPicPr>
          <p:cNvPr id="7" name="图片 6"/>
          <p:cNvPicPr>
            <a:picLocks noChangeAspect="1"/>
          </p:cNvPicPr>
          <p:nvPr/>
        </p:nvPicPr>
        <p:blipFill>
          <a:blip r:embed="rId1"/>
          <a:stretch>
            <a:fillRect/>
          </a:stretch>
        </p:blipFill>
        <p:spPr>
          <a:xfrm>
            <a:off x="8936138" y="37509"/>
            <a:ext cx="3256276" cy="1211335"/>
          </a:xfrm>
          <a:prstGeom prst="rect">
            <a:avLst/>
          </a:prstGeom>
        </p:spPr>
      </p:pic>
      <p:sp>
        <p:nvSpPr>
          <p:cNvPr id="2" name="文本框 1"/>
          <p:cNvSpPr txBox="1"/>
          <p:nvPr/>
        </p:nvSpPr>
        <p:spPr>
          <a:xfrm>
            <a:off x="870445" y="2286463"/>
            <a:ext cx="10399395" cy="706755"/>
          </a:xfrm>
          <a:prstGeom prst="rect">
            <a:avLst/>
          </a:prstGeom>
          <a:noFill/>
        </p:spPr>
        <p:txBody>
          <a:bodyPr wrap="square" rtlCol="0">
            <a:spAutoFit/>
          </a:bodyPr>
          <a:lstStyle/>
          <a:p>
            <a:pPr algn="ctr" fontAlgn="auto">
              <a:lnSpc>
                <a:spcPct val="100000"/>
              </a:lnSpc>
            </a:pPr>
            <a:r>
              <a:rPr kumimoji="1" lang="zh-CN" altLang="en-US"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第</a:t>
            </a:r>
            <a:r>
              <a:rPr kumimoji="1" lang="en-US" altLang="zh-CN"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4</a:t>
            </a:r>
            <a:r>
              <a:rPr kumimoji="1" lang="zh-CN" altLang="en-US"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rPr>
              <a:t>章 海洋光谱技术及应用</a:t>
            </a:r>
            <a:endParaRPr kumimoji="1" lang="en-US" altLang="zh-CN" sz="4000" b="1" dirty="0">
              <a:gradFill>
                <a:gsLst>
                  <a:gs pos="0">
                    <a:srgbClr val="012D86"/>
                  </a:gs>
                  <a:gs pos="100000">
                    <a:srgbClr val="0E2557"/>
                  </a:gs>
                </a:gsLst>
                <a:lin scaled="0"/>
              </a:gra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074" y="5382493"/>
            <a:ext cx="1543050" cy="14755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normAutofit/>
          </a:bodyPr>
          <a:lstStyle/>
          <a:p>
            <a:pPr algn="ctr"/>
            <a:r>
              <a:rPr lang="zh-CN" altLang="en-US" b="1" dirty="0">
                <a:solidFill>
                  <a:srgbClr val="002060"/>
                </a:solidFill>
              </a:rPr>
              <a:t>第</a:t>
            </a:r>
            <a:r>
              <a:rPr lang="en-US" altLang="zh-CN" b="1" dirty="0">
                <a:solidFill>
                  <a:srgbClr val="002060"/>
                </a:solidFill>
              </a:rPr>
              <a:t>4</a:t>
            </a:r>
            <a:r>
              <a:rPr lang="zh-CN" altLang="en-US" b="1" dirty="0">
                <a:solidFill>
                  <a:srgbClr val="002060"/>
                </a:solidFill>
              </a:rPr>
              <a:t>章</a:t>
            </a:r>
            <a:r>
              <a:rPr lang="en-US" altLang="zh-CN" b="1" dirty="0">
                <a:solidFill>
                  <a:srgbClr val="002060"/>
                </a:solidFill>
              </a:rPr>
              <a:t>  </a:t>
            </a:r>
            <a:r>
              <a:rPr lang="zh-CN" altLang="en-US" b="1" dirty="0">
                <a:solidFill>
                  <a:srgbClr val="002060"/>
                </a:solidFill>
              </a:rPr>
              <a:t>概述</a:t>
            </a:r>
            <a:endParaRPr lang="zh-CN" altLang="en-US" b="1" dirty="0">
              <a:solidFill>
                <a:srgbClr val="002060"/>
              </a:solidFill>
            </a:endParaRPr>
          </a:p>
        </p:txBody>
      </p:sp>
      <p:sp>
        <p:nvSpPr>
          <p:cNvPr id="8" name="文本框 7"/>
          <p:cNvSpPr txBox="1"/>
          <p:nvPr/>
        </p:nvSpPr>
        <p:spPr>
          <a:xfrm>
            <a:off x="1007745" y="1869440"/>
            <a:ext cx="10052050" cy="1554480"/>
          </a:xfrm>
          <a:prstGeom prst="rect">
            <a:avLst/>
          </a:prstGeom>
          <a:noFill/>
        </p:spPr>
        <p:txBody>
          <a:bodyPr wrap="square" rtlCol="0">
            <a:noAutofit/>
          </a:bodyPr>
          <a:lstStyle/>
          <a:p>
            <a:pPr indent="457200" algn="just" fontAlgn="auto">
              <a:lnSpc>
                <a:spcPct val="180000"/>
              </a:lnSpc>
            </a:pPr>
            <a:r>
              <a:rPr lang="zh-CN" altLang="en-US" sz="2000" b="1" dirty="0">
                <a:solidFill>
                  <a:srgbClr val="002060"/>
                </a:solidFill>
                <a:latin typeface="微软雅黑" panose="020B0503020204020204" pitchFamily="34" charset="-122"/>
                <a:ea typeface="微软雅黑" panose="020B0503020204020204" pitchFamily="34" charset="-122"/>
              </a:rPr>
              <a:t>光谱技术是利用光与物质的相互作用来研究物质组分和性质的一种技术。随着光源和光电探测器的发展，光谱技术得到了飞速的发展，成为多个领域如分析测试、环境监测、工业检验和临床医学等。近年来，光谱技术也成为海洋生态分析的重要工具。</a:t>
            </a:r>
            <a:endParaRPr lang="en-US" altLang="zh-CN" sz="2000" b="1" dirty="0">
              <a:solidFill>
                <a:srgbClr val="00206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179795" y="4583430"/>
            <a:ext cx="10176510" cy="614045"/>
          </a:xfrm>
          <a:prstGeom prst="rect">
            <a:avLst/>
          </a:prstGeom>
          <a:noFill/>
        </p:spPr>
        <p:txBody>
          <a:bodyPr wrap="square" rtlCol="0" anchor="t">
            <a:spAutoFit/>
          </a:bodyPr>
          <a:lstStyle/>
          <a:p>
            <a:pPr indent="0" fontAlgn="auto">
              <a:lnSpc>
                <a:spcPct val="170000"/>
              </a:lnSpc>
            </a:pPr>
            <a:r>
              <a:rPr lang="zh-CN" altLang="en-US" sz="2000" b="1" dirty="0">
                <a:solidFill>
                  <a:srgbClr val="C00000"/>
                </a:solidFill>
                <a:latin typeface="微软雅黑" panose="020B0503020204020204" pitchFamily="34" charset="-122"/>
                <a:ea typeface="微软雅黑" panose="020B0503020204020204" pitchFamily="34" charset="-122"/>
                <a:sym typeface="+mn-ea"/>
              </a:rPr>
              <a:t>本章共有</a:t>
            </a:r>
            <a:r>
              <a:rPr lang="en-US" altLang="zh-CN" sz="2000" b="1" dirty="0">
                <a:solidFill>
                  <a:srgbClr val="C00000"/>
                </a:solidFill>
                <a:latin typeface="微软雅黑" panose="020B0503020204020204" pitchFamily="34" charset="-122"/>
                <a:ea typeface="微软雅黑" panose="020B0503020204020204" pitchFamily="34" charset="-122"/>
                <a:sym typeface="+mn-ea"/>
              </a:rPr>
              <a:t>3</a:t>
            </a:r>
            <a:r>
              <a:rPr lang="zh-CN" altLang="en-US" sz="2000" b="1" dirty="0">
                <a:solidFill>
                  <a:srgbClr val="C00000"/>
                </a:solidFill>
                <a:latin typeface="微软雅黑" panose="020B0503020204020204" pitchFamily="34" charset="-122"/>
                <a:ea typeface="微软雅黑" panose="020B0503020204020204" pitchFamily="34" charset="-122"/>
                <a:sym typeface="+mn-ea"/>
              </a:rPr>
              <a:t>个教学单元：</a:t>
            </a:r>
            <a:r>
              <a:rPr lang="zh-CN" altLang="en-US" sz="20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光谱技术概述；吸收光谱技术及应用；荧光光谱技术及应用</a:t>
            </a:r>
            <a:endParaRPr lang="zh-CN" altLang="en-US" sz="2000" b="1" dirty="0">
              <a:latin typeface="微软雅黑" panose="020B0503020204020204" pitchFamily="34" charset="-122"/>
              <a:ea typeface="微软雅黑" panose="020B0503020204020204" pitchFamily="34" charset="-122"/>
              <a:sym typeface="+mn-ea"/>
            </a:endParaRP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080937" y="253469"/>
            <a:ext cx="2011680" cy="645160"/>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rPr>
              <a:t>教学单元</a:t>
            </a:r>
            <a:endParaRPr lang="zh-CN" altLang="en-US" sz="3600" b="1" dirty="0"/>
          </a:p>
        </p:txBody>
      </p:sp>
      <p:sp>
        <p:nvSpPr>
          <p:cNvPr id="14" name="矩形 13"/>
          <p:cNvSpPr/>
          <p:nvPr/>
        </p:nvSpPr>
        <p:spPr>
          <a:xfrm>
            <a:off x="3685889" y="1850100"/>
            <a:ext cx="6278875" cy="3312510"/>
          </a:xfrm>
          <a:prstGeom prst="rect">
            <a:avLst/>
          </a:prstGeom>
        </p:spPr>
        <p:txBody>
          <a:bodyPr wrap="square">
            <a:spAutoFit/>
          </a:bodyPr>
          <a:lstStyle/>
          <a:p>
            <a:pPr indent="0" fontAlgn="auto">
              <a:lnSpc>
                <a:spcPct val="200000"/>
              </a:lnSpc>
            </a:pP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4.1  光谱技术概述</a:t>
            </a:r>
            <a:endPar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200000"/>
              </a:lnSpc>
            </a:pPr>
            <a:r>
              <a:rPr lang="en-US" altLang="zh-CN"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4.2  </a:t>
            </a: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吸收光谱技术及应用</a:t>
            </a:r>
            <a:endParaRPr lang="en-US" altLang="zh-CN"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200000"/>
              </a:lnSpc>
            </a:pPr>
            <a:r>
              <a:rPr lang="en-US" altLang="zh-CN"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4.3  </a:t>
            </a: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荧光光谱技术及应用</a:t>
            </a:r>
            <a:endParaRPr lang="en-US" altLang="zh-CN"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70000"/>
              </a:lnSpc>
            </a:pPr>
            <a:endPar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p:nvPr/>
        </p:nvPicPr>
        <p:blipFill>
          <a:blip r:embed="rId1"/>
          <a:stretch>
            <a:fillRect/>
          </a:stretch>
        </p:blipFill>
        <p:spPr>
          <a:xfrm>
            <a:off x="3648710" y="5457190"/>
            <a:ext cx="752475" cy="404495"/>
          </a:xfrm>
          <a:prstGeom prst="rect">
            <a:avLst/>
          </a:prstGeom>
        </p:spPr>
      </p:pic>
      <p:sp>
        <p:nvSpPr>
          <p:cNvPr id="6" name="标题 5"/>
          <p:cNvSpPr>
            <a:spLocks noGrp="1"/>
          </p:cNvSpPr>
          <p:nvPr>
            <p:ph type="title"/>
          </p:nvPr>
        </p:nvSpPr>
        <p:spPr>
          <a:xfrm>
            <a:off x="2751420" y="334917"/>
            <a:ext cx="6690360" cy="612140"/>
          </a:xfrm>
        </p:spPr>
        <p:txBody>
          <a:bodyPr/>
          <a:lstStyle/>
          <a:p>
            <a:pPr algn="ctr"/>
            <a:r>
              <a:rPr lang="en-US" altLang="zh-CN" b="1" dirty="0">
                <a:solidFill>
                  <a:srgbClr val="002060"/>
                </a:solidFill>
              </a:rPr>
              <a:t>4.1.1 </a:t>
            </a:r>
            <a:r>
              <a:rPr lang="zh-CN" altLang="en-US" b="1" dirty="0">
                <a:solidFill>
                  <a:srgbClr val="002060"/>
                </a:solidFill>
              </a:rPr>
              <a:t>光谱学的基本概念</a:t>
            </a:r>
            <a:endParaRPr lang="zh-CN" altLang="en-US" b="1" dirty="0">
              <a:solidFill>
                <a:srgbClr val="002060"/>
              </a:solidFill>
            </a:endParaRPr>
          </a:p>
        </p:txBody>
      </p:sp>
      <p:sp>
        <p:nvSpPr>
          <p:cNvPr id="16" name="内容占位符 3"/>
          <p:cNvSpPr txBox="1"/>
          <p:nvPr/>
        </p:nvSpPr>
        <p:spPr>
          <a:xfrm>
            <a:off x="-3938" y="13970"/>
            <a:ext cx="2689015"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章  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2" name="矩形 1"/>
          <p:cNvSpPr/>
          <p:nvPr/>
        </p:nvSpPr>
        <p:spPr>
          <a:xfrm>
            <a:off x="584311" y="1260874"/>
            <a:ext cx="1808480" cy="368300"/>
          </a:xfrm>
          <a:prstGeom prst="rect">
            <a:avLst/>
          </a:prstGeom>
        </p:spPr>
        <p:txBody>
          <a:bodyPr wrap="none">
            <a:spAutoFit/>
          </a:bodyPr>
          <a:lstStyle/>
          <a:p>
            <a:r>
              <a:rPr lang="en-US" altLang="zh-CN" b="1" dirty="0">
                <a:solidFill>
                  <a:srgbClr val="002060"/>
                </a:solidFill>
                <a:ea typeface="微软雅黑" panose="020B0503020204020204" pitchFamily="34" charset="-122"/>
              </a:rPr>
              <a:t>1. </a:t>
            </a:r>
            <a:r>
              <a:rPr lang="zh-CN" altLang="zh-CN" b="1" dirty="0">
                <a:solidFill>
                  <a:srgbClr val="002060"/>
                </a:solidFill>
                <a:ea typeface="微软雅黑" panose="020B0503020204020204" pitchFamily="34" charset="-122"/>
              </a:rPr>
              <a:t>光谱学与光谱</a:t>
            </a:r>
            <a:endParaRPr lang="zh-CN" altLang="en-US" b="1" dirty="0">
              <a:solidFill>
                <a:srgbClr val="002060"/>
              </a:solidFill>
              <a:ea typeface="微软雅黑" panose="020B0503020204020204" pitchFamily="34" charset="-122"/>
            </a:endParaRPr>
          </a:p>
        </p:txBody>
      </p:sp>
      <p:sp>
        <p:nvSpPr>
          <p:cNvPr id="4" name="矩形 3"/>
          <p:cNvSpPr/>
          <p:nvPr/>
        </p:nvSpPr>
        <p:spPr>
          <a:xfrm>
            <a:off x="668020" y="1616710"/>
            <a:ext cx="11090910" cy="1736725"/>
          </a:xfrm>
          <a:prstGeom prst="rect">
            <a:avLst/>
          </a:prstGeom>
        </p:spPr>
        <p:txBody>
          <a:bodyPr wrap="square">
            <a:noAutofit/>
          </a:bodyPr>
          <a:lstStyle/>
          <a:p>
            <a:pPr indent="457200" algn="just" fontAlgn="auto">
              <a:lnSpc>
                <a:spcPct val="150000"/>
              </a:lnSpc>
              <a:spcBef>
                <a:spcPts val="600"/>
              </a:spcBef>
            </a:pPr>
            <a:r>
              <a:rPr lang="zh-CN" altLang="zh-CN" dirty="0">
                <a:latin typeface="微软雅黑" panose="020B0503020204020204" pitchFamily="34" charset="-122"/>
                <a:ea typeface="微软雅黑" panose="020B0503020204020204" pitchFamily="34" charset="-122"/>
              </a:rPr>
              <a:t>光是一种由</a:t>
            </a:r>
            <a:r>
              <a:rPr lang="zh-CN" altLang="zh-CN" dirty="0">
                <a:solidFill>
                  <a:srgbClr val="C00000"/>
                </a:solidFill>
                <a:latin typeface="微软雅黑" panose="020B0503020204020204" pitchFamily="34" charset="-122"/>
                <a:ea typeface="微软雅黑" panose="020B0503020204020204" pitchFamily="34" charset="-122"/>
              </a:rPr>
              <a:t>不同频率（或波长）</a:t>
            </a:r>
            <a:r>
              <a:rPr lang="zh-CN" altLang="zh-CN" dirty="0">
                <a:latin typeface="微软雅黑" panose="020B0503020204020204" pitchFamily="34" charset="-122"/>
                <a:ea typeface="微软雅黑" panose="020B0503020204020204" pitchFamily="34" charset="-122"/>
              </a:rPr>
              <a:t>的电磁波组成的电磁辐射。</a:t>
            </a:r>
            <a:r>
              <a:rPr lang="zh-CN" altLang="en-US" dirty="0">
                <a:latin typeface="微软雅黑" panose="020B0503020204020204" pitchFamily="34" charset="-122"/>
                <a:ea typeface="微软雅黑" panose="020B0503020204020204" pitchFamily="34" charset="-122"/>
                <a:sym typeface="+mn-ea"/>
              </a:rPr>
              <a:t>按照频率大小，可将电磁波分为</a:t>
            </a:r>
            <a:r>
              <a:rPr lang="en-US" altLang="zh-CN" dirty="0">
                <a:solidFill>
                  <a:schemeClr val="accent5">
                    <a:lumMod val="75000"/>
                  </a:schemeClr>
                </a:solidFill>
                <a:latin typeface="微软雅黑" panose="020B0503020204020204" pitchFamily="34" charset="-122"/>
                <a:ea typeface="微软雅黑" panose="020B0503020204020204" pitchFamily="34" charset="-122"/>
                <a:sym typeface="+mn-ea"/>
              </a:rPr>
              <a:t>γ-</a:t>
            </a:r>
            <a:r>
              <a:rPr lang="zh-CN" altLang="en-US" dirty="0">
                <a:solidFill>
                  <a:schemeClr val="accent5">
                    <a:lumMod val="75000"/>
                  </a:schemeClr>
                </a:solidFill>
                <a:latin typeface="微软雅黑" panose="020B0503020204020204" pitchFamily="34" charset="-122"/>
                <a:ea typeface="微软雅黑" panose="020B0503020204020204" pitchFamily="34" charset="-122"/>
                <a:sym typeface="+mn-ea"/>
              </a:rPr>
              <a:t>射线、</a:t>
            </a:r>
            <a:r>
              <a:rPr lang="en-US" altLang="zh-CN" dirty="0">
                <a:solidFill>
                  <a:schemeClr val="accent5">
                    <a:lumMod val="75000"/>
                  </a:schemeClr>
                </a:solidFill>
                <a:latin typeface="微软雅黑" panose="020B0503020204020204" pitchFamily="34" charset="-122"/>
                <a:ea typeface="微软雅黑" panose="020B0503020204020204" pitchFamily="34" charset="-122"/>
                <a:sym typeface="+mn-ea"/>
              </a:rPr>
              <a:t>X-</a:t>
            </a:r>
            <a:r>
              <a:rPr lang="zh-CN" altLang="en-US" dirty="0">
                <a:solidFill>
                  <a:srgbClr val="2E75B6"/>
                </a:solidFill>
                <a:latin typeface="微软雅黑" panose="020B0503020204020204" pitchFamily="34" charset="-122"/>
                <a:ea typeface="微软雅黑" panose="020B0503020204020204" pitchFamily="34" charset="-122"/>
                <a:sym typeface="+mn-ea"/>
              </a:rPr>
              <a:t>射线</a:t>
            </a:r>
            <a:r>
              <a:rPr lang="zh-CN" altLang="en-US" dirty="0">
                <a:solidFill>
                  <a:schemeClr val="accent5">
                    <a:lumMod val="75000"/>
                  </a:schemeClr>
                </a:solidFill>
                <a:latin typeface="微软雅黑" panose="020B0503020204020204" pitchFamily="34" charset="-122"/>
                <a:ea typeface="微软雅黑" panose="020B0503020204020204" pitchFamily="34" charset="-122"/>
                <a:sym typeface="+mn-ea"/>
              </a:rPr>
              <a:t>、紫外光、可见光、红外光、微波</a:t>
            </a:r>
            <a:r>
              <a:rPr lang="zh-CN" altLang="en-US" dirty="0">
                <a:latin typeface="微软雅黑" panose="020B0503020204020204" pitchFamily="34" charset="-122"/>
                <a:ea typeface="微软雅黑" panose="020B0503020204020204" pitchFamily="34" charset="-122"/>
                <a:sym typeface="+mn-ea"/>
              </a:rPr>
              <a:t>和</a:t>
            </a:r>
            <a:r>
              <a:rPr lang="zh-CN" altLang="en-US" dirty="0">
                <a:solidFill>
                  <a:schemeClr val="accent5">
                    <a:lumMod val="75000"/>
                  </a:schemeClr>
                </a:solidFill>
                <a:latin typeface="微软雅黑" panose="020B0503020204020204" pitchFamily="34" charset="-122"/>
                <a:ea typeface="微软雅黑" panose="020B0503020204020204" pitchFamily="34" charset="-122"/>
                <a:sym typeface="+mn-ea"/>
              </a:rPr>
              <a:t>无线电波</a:t>
            </a:r>
            <a:r>
              <a:rPr lang="zh-CN" altLang="en-US" dirty="0">
                <a:latin typeface="微软雅黑" panose="020B0503020204020204" pitchFamily="34" charset="-122"/>
                <a:ea typeface="微软雅黑" panose="020B0503020204020204" pitchFamily="34" charset="-122"/>
                <a:sym typeface="+mn-ea"/>
              </a:rPr>
              <a:t>几个区域。</a:t>
            </a:r>
            <a:endParaRPr lang="zh-CN" altLang="en-US" dirty="0">
              <a:latin typeface="微软雅黑" panose="020B0503020204020204" pitchFamily="34" charset="-122"/>
              <a:ea typeface="微软雅黑" panose="020B0503020204020204" pitchFamily="34" charset="-122"/>
            </a:endParaRPr>
          </a:p>
          <a:p>
            <a:pPr indent="457200" algn="just" fontAlgn="auto">
              <a:lnSpc>
                <a:spcPct val="150000"/>
              </a:lnSpc>
              <a:spcBef>
                <a:spcPts val="600"/>
              </a:spcBef>
            </a:pPr>
            <a:endParaRPr lang="zh-CN" altLang="en-US" dirty="0">
              <a:latin typeface="微软雅黑" panose="020B0503020204020204" pitchFamily="34" charset="-122"/>
              <a:ea typeface="微软雅黑" panose="020B0503020204020204" pitchFamily="34" charset="-122"/>
            </a:endParaRPr>
          </a:p>
        </p:txBody>
      </p:sp>
      <p:sp>
        <p:nvSpPr>
          <p:cNvPr id="7" name="矩形 6"/>
          <p:cNvSpPr/>
          <p:nvPr/>
        </p:nvSpPr>
        <p:spPr>
          <a:xfrm>
            <a:off x="668131" y="3622308"/>
            <a:ext cx="1579880" cy="368300"/>
          </a:xfrm>
          <a:prstGeom prst="rect">
            <a:avLst/>
          </a:prstGeom>
        </p:spPr>
        <p:txBody>
          <a:bodyPr wrap="none">
            <a:spAutoFit/>
          </a:bodyPr>
          <a:lstStyle/>
          <a:p>
            <a:r>
              <a:rPr lang="en-US" altLang="zh-CN" b="1" dirty="0">
                <a:solidFill>
                  <a:srgbClr val="002060"/>
                </a:solidFill>
                <a:ea typeface="微软雅黑" panose="020B0503020204020204" pitchFamily="34" charset="-122"/>
                <a:cs typeface="宋体" panose="02010600030101010101" pitchFamily="2" charset="-122"/>
              </a:rPr>
              <a:t>2. </a:t>
            </a:r>
            <a:r>
              <a:rPr lang="zh-CN" altLang="zh-CN" b="1" dirty="0">
                <a:solidFill>
                  <a:srgbClr val="002060"/>
                </a:solidFill>
                <a:ea typeface="微软雅黑" panose="020B0503020204020204" pitchFamily="34" charset="-122"/>
                <a:cs typeface="宋体" panose="02010600030101010101" pitchFamily="2" charset="-122"/>
              </a:rPr>
              <a:t>光谱的表示</a:t>
            </a:r>
            <a:endParaRPr lang="zh-CN" altLang="en-US" b="1" dirty="0">
              <a:solidFill>
                <a:srgbClr val="002060"/>
              </a:solidFill>
            </a:endParaRPr>
          </a:p>
        </p:txBody>
      </p:sp>
      <p:sp>
        <p:nvSpPr>
          <p:cNvPr id="8" name="矩形 7"/>
          <p:cNvSpPr/>
          <p:nvPr/>
        </p:nvSpPr>
        <p:spPr>
          <a:xfrm>
            <a:off x="668020" y="4036060"/>
            <a:ext cx="5814695" cy="783590"/>
          </a:xfrm>
          <a:prstGeom prst="rect">
            <a:avLst/>
          </a:prstGeom>
        </p:spPr>
        <p:txBody>
          <a:bodyPr wrap="square">
            <a:spAutoFit/>
          </a:bodyPr>
          <a:lstStyle/>
          <a:p>
            <a:pPr indent="457200" algn="just">
              <a:lnSpc>
                <a:spcPct val="125000"/>
              </a:lnSpc>
            </a:pPr>
            <a:r>
              <a:rPr lang="zh-CN" altLang="zh-CN" dirty="0">
                <a:latin typeface="微软雅黑" panose="020B0503020204020204" pitchFamily="34" charset="-122"/>
                <a:ea typeface="微软雅黑" panose="020B0503020204020204" pitchFamily="34" charset="-122"/>
              </a:rPr>
              <a:t>光谱是按波长由小到大（或频率由大到小）排列的电磁辐射强度图案，反映了一个物理系统的能级结构。</a:t>
            </a:r>
            <a:endParaRPr lang="zh-CN" altLang="en-US" dirty="0">
              <a:latin typeface="微软雅黑" panose="020B0503020204020204" pitchFamily="34" charset="-122"/>
              <a:ea typeface="微软雅黑" panose="020B0503020204020204" pitchFamily="34" charset="-122"/>
            </a:endParaRPr>
          </a:p>
        </p:txBody>
      </p:sp>
      <p:pic>
        <p:nvPicPr>
          <p:cNvPr id="17" name="图片 16"/>
          <p:cNvPicPr/>
          <p:nvPr/>
        </p:nvPicPr>
        <p:blipFill>
          <a:blip r:embed="rId2">
            <a:extLst>
              <a:ext uri="{28A0092B-C50C-407E-A947-70E740481C1C}">
                <a14:useLocalDpi xmlns:a14="http://schemas.microsoft.com/office/drawing/2010/main" val="0"/>
              </a:ext>
            </a:extLst>
          </a:blip>
          <a:srcRect/>
          <a:stretch>
            <a:fillRect/>
          </a:stretch>
        </p:blipFill>
        <p:spPr>
          <a:xfrm>
            <a:off x="6637245" y="4023521"/>
            <a:ext cx="5318500" cy="2182969"/>
          </a:xfrm>
          <a:prstGeom prst="rect">
            <a:avLst/>
          </a:prstGeom>
          <a:noFill/>
          <a:ln>
            <a:noFill/>
          </a:ln>
        </p:spPr>
      </p:pic>
      <p:sp>
        <p:nvSpPr>
          <p:cNvPr id="3" name="灯片编号占位符 2"/>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dirty="0"/>
          </a:p>
        </p:txBody>
      </p:sp>
      <p:sp>
        <p:nvSpPr>
          <p:cNvPr id="10" name="矩形 9"/>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4.1  </a:t>
            </a:r>
            <a:r>
              <a:rPr lang="zh-CN" altLang="en-US" sz="1600" dirty="0">
                <a:solidFill>
                  <a:srgbClr val="002060"/>
                </a:solidFill>
                <a:latin typeface="微软雅黑" panose="020B0503020204020204" pitchFamily="34" charset="-122"/>
                <a:ea typeface="微软雅黑" panose="020B0503020204020204" pitchFamily="34" charset="-122"/>
              </a:rPr>
              <a:t>光谱技术概述</a:t>
            </a:r>
            <a:endParaRPr lang="zh-CN" altLang="en-US" sz="1600" dirty="0">
              <a:solidFill>
                <a:srgbClr val="002060"/>
              </a:solidFill>
            </a:endParaRPr>
          </a:p>
        </p:txBody>
      </p:sp>
      <p:sp>
        <p:nvSpPr>
          <p:cNvPr id="9" name="文本框 8"/>
          <p:cNvSpPr txBox="1"/>
          <p:nvPr/>
        </p:nvSpPr>
        <p:spPr>
          <a:xfrm>
            <a:off x="713740" y="4881245"/>
            <a:ext cx="5748655" cy="1226820"/>
          </a:xfrm>
          <a:prstGeom prst="rect">
            <a:avLst/>
          </a:prstGeom>
        </p:spPr>
        <p:txBody>
          <a:bodyPr wrap="square">
            <a:noAutofit/>
          </a:bodyPr>
          <a:p>
            <a:pPr indent="0" defTabSz="266700" fontAlgn="auto">
              <a:lnSpc>
                <a:spcPct val="150000"/>
              </a:lnSpc>
              <a:spcBef>
                <a:spcPts val="600"/>
              </a:spcBef>
            </a:pPr>
            <a:r>
              <a:rPr lang="zh-CN" altLang="en-US">
                <a:latin typeface="微软雅黑" panose="020B0503020204020204" pitchFamily="34" charset="-122"/>
                <a:ea typeface="微软雅黑" panose="020B0503020204020204" pitchFamily="34" charset="-122"/>
                <a:cs typeface="微软雅黑" panose="020B0503020204020204" pitchFamily="34" charset="-122"/>
              </a:rPr>
              <a:t>光谱的纵坐标是辐射强度（</a:t>
            </a:r>
            <a:r>
              <a:rPr lang="en-US" altLang="zh-CN">
                <a:latin typeface="微软雅黑" panose="020B0503020204020204" pitchFamily="34" charset="-122"/>
                <a:ea typeface="微软雅黑" panose="020B0503020204020204" pitchFamily="34" charset="-122"/>
                <a:cs typeface="微软雅黑" panose="020B0503020204020204" pitchFamily="34" charset="-122"/>
              </a:rPr>
              <a:t>I</a:t>
            </a:r>
            <a:r>
              <a:rPr lang="zh-CN" altLang="en-US">
                <a:latin typeface="微软雅黑" panose="020B0503020204020204" pitchFamily="34" charset="-122"/>
                <a:ea typeface="微软雅黑" panose="020B0503020204020204" pitchFamily="34" charset="-122"/>
                <a:cs typeface="微软雅黑" panose="020B0503020204020204" pitchFamily="34" charset="-122"/>
              </a:rPr>
              <a:t>）、吸光度（</a:t>
            </a:r>
            <a:r>
              <a:rPr lang="en-US" altLang="zh-CN">
                <a:latin typeface="微软雅黑" panose="020B0503020204020204" pitchFamily="34" charset="-122"/>
                <a:ea typeface="微软雅黑" panose="020B0503020204020204" pitchFamily="34" charset="-122"/>
                <a:cs typeface="微软雅黑" panose="020B0503020204020204" pitchFamily="34" charset="-122"/>
              </a:rPr>
              <a:t>-lg</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tLang="zh-CN">
                <a:latin typeface="微软雅黑" panose="020B0503020204020204" pitchFamily="34" charset="-122"/>
                <a:ea typeface="微软雅黑" panose="020B0503020204020204" pitchFamily="34" charset="-122"/>
                <a:cs typeface="微软雅黑" panose="020B0503020204020204" pitchFamily="34" charset="-122"/>
              </a:rPr>
              <a:t>I/I0</a:t>
            </a:r>
            <a:r>
              <a:rPr lang="zh-CN" altLang="en-US">
                <a:latin typeface="微软雅黑" panose="020B0503020204020204" pitchFamily="34" charset="-122"/>
                <a:ea typeface="微软雅黑" panose="020B0503020204020204" pitchFamily="34" charset="-122"/>
                <a:cs typeface="微软雅黑" panose="020B0503020204020204" pitchFamily="34" charset="-122"/>
              </a:rPr>
              <a:t>））或透射率（</a:t>
            </a:r>
            <a:r>
              <a:rPr lang="en-US" altLang="zh-CN">
                <a:latin typeface="微软雅黑" panose="020B0503020204020204" pitchFamily="34" charset="-122"/>
                <a:ea typeface="微软雅黑" panose="020B0503020204020204" pitchFamily="34" charset="-122"/>
                <a:cs typeface="微软雅黑" panose="020B0503020204020204" pitchFamily="34" charset="-122"/>
              </a:rPr>
              <a:t>I/I0</a:t>
            </a:r>
            <a:r>
              <a:rPr lang="zh-CN" altLang="en-US">
                <a:latin typeface="微软雅黑" panose="020B0503020204020204" pitchFamily="34" charset="-122"/>
                <a:ea typeface="微软雅黑" panose="020B0503020204020204" pitchFamily="34" charset="-122"/>
                <a:cs typeface="微软雅黑" panose="020B0503020204020204" pitchFamily="34" charset="-122"/>
              </a:rPr>
              <a:t>），横坐标是</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频率</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、波数</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(k)</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、波长</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和能量</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(E)</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矩形 12"/>
          <p:cNvSpPr/>
          <p:nvPr/>
        </p:nvSpPr>
        <p:spPr>
          <a:xfrm>
            <a:off x="594995" y="2528570"/>
            <a:ext cx="11227435" cy="960755"/>
          </a:xfrm>
          <a:prstGeom prst="rect">
            <a:avLst/>
          </a:prstGeom>
        </p:spPr>
        <p:txBody>
          <a:bodyPr wrap="square">
            <a:noAutofit/>
          </a:bodyPr>
          <a:p>
            <a:pPr indent="0" algn="just" fontAlgn="auto">
              <a:lnSpc>
                <a:spcPct val="150000"/>
              </a:lnSpc>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rPr>
              <a:t>光谱是物质与光相互作用产生的发射、吸收、散射或荧光光谱，可用于研究物质的组成、结构、状态及变化。</a:t>
            </a:r>
            <a:r>
              <a:rPr lang="zh-CN" altLang="en-US" dirty="0">
                <a:latin typeface="微软雅黑" panose="020B0503020204020204" pitchFamily="34" charset="-122"/>
                <a:ea typeface="微软雅黑" panose="020B0503020204020204" pitchFamily="34" charset="-122"/>
                <a:sym typeface="+mn-ea"/>
              </a:rPr>
              <a:t>常用的光谱区域为紫外、可见和红外三个波段。</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34917"/>
            <a:ext cx="6690360" cy="612140"/>
          </a:xfrm>
        </p:spPr>
        <p:txBody>
          <a:bodyPr/>
          <a:lstStyle/>
          <a:p>
            <a:pPr algn="ctr"/>
            <a:r>
              <a:rPr lang="en-US" altLang="zh-CN" b="1" dirty="0">
                <a:solidFill>
                  <a:srgbClr val="002060"/>
                </a:solidFill>
              </a:rPr>
              <a:t>4.1.2 </a:t>
            </a:r>
            <a:r>
              <a:rPr lang="zh-CN" altLang="en-US" b="1" dirty="0">
                <a:solidFill>
                  <a:srgbClr val="002060"/>
                </a:solidFill>
              </a:rPr>
              <a:t>光谱的产生与测量</a:t>
            </a:r>
            <a:endParaRPr lang="zh-CN" altLang="en-US" b="1" dirty="0">
              <a:solidFill>
                <a:srgbClr val="002060"/>
              </a:solidFill>
            </a:endParaRPr>
          </a:p>
        </p:txBody>
      </p:sp>
      <p:sp>
        <p:nvSpPr>
          <p:cNvPr id="16" name="内容占位符 3"/>
          <p:cNvSpPr txBox="1"/>
          <p:nvPr/>
        </p:nvSpPr>
        <p:spPr>
          <a:xfrm>
            <a:off x="-3938" y="13970"/>
            <a:ext cx="2689015"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章  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2" name="矩形 1"/>
          <p:cNvSpPr/>
          <p:nvPr/>
        </p:nvSpPr>
        <p:spPr>
          <a:xfrm>
            <a:off x="478901" y="1200549"/>
            <a:ext cx="2286000" cy="368300"/>
          </a:xfrm>
          <a:prstGeom prst="rect">
            <a:avLst/>
          </a:prstGeom>
        </p:spPr>
        <p:txBody>
          <a:bodyPr wrap="none">
            <a:spAutoFit/>
          </a:bodyPr>
          <a:lstStyle/>
          <a:p>
            <a:r>
              <a:rPr lang="en-US" altLang="zh-CN"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光谱的产生与特征</a:t>
            </a:r>
            <a:endPar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3" name="组合 22"/>
          <p:cNvGrpSpPr/>
          <p:nvPr/>
        </p:nvGrpSpPr>
        <p:grpSpPr>
          <a:xfrm>
            <a:off x="972127" y="4002476"/>
            <a:ext cx="4663440" cy="2389505"/>
            <a:chOff x="-135611" y="3204897"/>
            <a:chExt cx="4663440" cy="2389505"/>
          </a:xfrm>
        </p:grpSpPr>
        <p:sp>
          <p:nvSpPr>
            <p:cNvPr id="7" name="矩形 6"/>
            <p:cNvSpPr/>
            <p:nvPr/>
          </p:nvSpPr>
          <p:spPr>
            <a:xfrm>
              <a:off x="1643763" y="3204897"/>
              <a:ext cx="995680" cy="337185"/>
            </a:xfrm>
            <a:prstGeom prst="rect">
              <a:avLst/>
            </a:prstGeom>
          </p:spPr>
          <p:txBody>
            <a:bodyPr wrap="none">
              <a:spAutoFit/>
            </a:bodyPr>
            <a:lstStyle/>
            <a:p>
              <a:r>
                <a:rPr lang="zh-CN" altLang="en-US" sz="1600" dirty="0">
                  <a:solidFill>
                    <a:srgbClr val="C00000"/>
                  </a:solidFill>
                  <a:latin typeface="微软雅黑" panose="020B0503020204020204" pitchFamily="34" charset="-122"/>
                  <a:ea typeface="微软雅黑" panose="020B0503020204020204" pitchFamily="34" charset="-122"/>
                </a:rPr>
                <a:t>吸收光谱</a:t>
              </a:r>
              <a:endParaRPr lang="zh-CN" altLang="en-US" sz="1600" dirty="0">
                <a:solidFill>
                  <a:srgbClr val="C00000"/>
                </a:solidFill>
                <a:latin typeface="微软雅黑" panose="020B0503020204020204" pitchFamily="34" charset="-122"/>
                <a:ea typeface="微软雅黑" panose="020B0503020204020204" pitchFamily="34" charset="-122"/>
              </a:endParaRPr>
            </a:p>
          </p:txBody>
        </p:sp>
        <p:sp>
          <p:nvSpPr>
            <p:cNvPr id="8" name="矩形 7"/>
            <p:cNvSpPr/>
            <p:nvPr/>
          </p:nvSpPr>
          <p:spPr>
            <a:xfrm>
              <a:off x="-135611" y="4887647"/>
              <a:ext cx="4663440" cy="706755"/>
            </a:xfrm>
            <a:prstGeom prst="rect">
              <a:avLst/>
            </a:prstGeom>
          </p:spPr>
          <p:txBody>
            <a:bodyPr wrap="square">
              <a:spAutoFit/>
            </a:bodyPr>
            <a:lstStyle/>
            <a:p>
              <a:pPr algn="just">
                <a:lnSpc>
                  <a:spcPct val="125000"/>
                </a:lnSpc>
              </a:pPr>
              <a:r>
                <a:rPr lang="zh-CN" altLang="en-US" sz="1600" dirty="0">
                  <a:solidFill>
                    <a:schemeClr val="accent5">
                      <a:lumMod val="75000"/>
                    </a:schemeClr>
                  </a:solidFill>
                  <a:latin typeface="微软雅黑" panose="020B0503020204020204" pitchFamily="34" charset="-122"/>
                  <a:ea typeface="微软雅黑" panose="020B0503020204020204" pitchFamily="34" charset="-122"/>
                </a:rPr>
                <a:t>入射光被样品选择性吸收后表现出来的光谱特征。吸收光谱不会产生除入射光以外的新的波长</a:t>
              </a:r>
              <a:endParaRPr lang="zh-CN" altLang="en-US" sz="1600" dirty="0">
                <a:solidFill>
                  <a:schemeClr val="accent5">
                    <a:lumMod val="75000"/>
                  </a:schemeClr>
                </a:solidFill>
                <a:latin typeface="微软雅黑" panose="020B0503020204020204" pitchFamily="34" charset="-122"/>
                <a:ea typeface="微软雅黑" panose="020B0503020204020204" pitchFamily="34" charset="-122"/>
              </a:endParaRPr>
            </a:p>
          </p:txBody>
        </p:sp>
      </p:grpSp>
      <p:grpSp>
        <p:nvGrpSpPr>
          <p:cNvPr id="24" name="组合 23"/>
          <p:cNvGrpSpPr/>
          <p:nvPr/>
        </p:nvGrpSpPr>
        <p:grpSpPr>
          <a:xfrm>
            <a:off x="7125394" y="3695136"/>
            <a:ext cx="3950335" cy="2623820"/>
            <a:chOff x="4360652" y="3303022"/>
            <a:chExt cx="3950335" cy="2623820"/>
          </a:xfrm>
        </p:grpSpPr>
        <p:sp>
          <p:nvSpPr>
            <p:cNvPr id="9" name="矩形 8"/>
            <p:cNvSpPr/>
            <p:nvPr/>
          </p:nvSpPr>
          <p:spPr>
            <a:xfrm>
              <a:off x="5738113" y="3303022"/>
              <a:ext cx="995680" cy="337185"/>
            </a:xfrm>
            <a:prstGeom prst="rect">
              <a:avLst/>
            </a:prstGeom>
          </p:spPr>
          <p:txBody>
            <a:bodyPr wrap="none">
              <a:spAutoFit/>
            </a:bodyPr>
            <a:lstStyle/>
            <a:p>
              <a:r>
                <a:rPr lang="zh-CN" altLang="zh-CN" sz="1600" dirty="0">
                  <a:solidFill>
                    <a:srgbClr val="C00000"/>
                  </a:solidFill>
                  <a:latin typeface="微软雅黑" panose="020B0503020204020204" pitchFamily="34" charset="-122"/>
                  <a:ea typeface="微软雅黑" panose="020B0503020204020204" pitchFamily="34" charset="-122"/>
                </a:rPr>
                <a:t>发射</a:t>
              </a:r>
              <a:r>
                <a:rPr lang="zh-CN" altLang="en-US" sz="1600" dirty="0">
                  <a:solidFill>
                    <a:srgbClr val="C00000"/>
                  </a:solidFill>
                  <a:latin typeface="微软雅黑" panose="020B0503020204020204" pitchFamily="34" charset="-122"/>
                  <a:ea typeface="微软雅黑" panose="020B0503020204020204" pitchFamily="34" charset="-122"/>
                </a:rPr>
                <a:t>光谱</a:t>
              </a:r>
              <a:endParaRPr lang="zh-CN" altLang="en-US" sz="1600" dirty="0"/>
            </a:p>
          </p:txBody>
        </p:sp>
        <p:sp>
          <p:nvSpPr>
            <p:cNvPr id="17" name="矩形 16"/>
            <p:cNvSpPr/>
            <p:nvPr/>
          </p:nvSpPr>
          <p:spPr>
            <a:xfrm>
              <a:off x="4360652" y="5220087"/>
              <a:ext cx="3950335" cy="706755"/>
            </a:xfrm>
            <a:prstGeom prst="rect">
              <a:avLst/>
            </a:prstGeom>
          </p:spPr>
          <p:txBody>
            <a:bodyPr wrap="square">
              <a:spAutoFit/>
            </a:bodyPr>
            <a:lstStyle/>
            <a:p>
              <a:pPr algn="ctr">
                <a:lnSpc>
                  <a:spcPct val="125000"/>
                </a:lnSpc>
              </a:pPr>
              <a:r>
                <a:rPr lang="zh-CN" altLang="en-US" sz="1600" dirty="0">
                  <a:solidFill>
                    <a:schemeClr val="accent5">
                      <a:lumMod val="75000"/>
                    </a:schemeClr>
                  </a:solidFill>
                  <a:latin typeface="微软雅黑" panose="020B0503020204020204" pitchFamily="34" charset="-122"/>
                  <a:ea typeface="微软雅黑" panose="020B0503020204020204" pitchFamily="34" charset="-122"/>
                </a:rPr>
                <a:t>发射光的出射方向偏离入射光方向，且其波长也不同于入射光的波长</a:t>
              </a:r>
              <a:endParaRPr lang="zh-CN" altLang="en-US" sz="1600" dirty="0">
                <a:solidFill>
                  <a:schemeClr val="accent5">
                    <a:lumMod val="75000"/>
                  </a:schemeClr>
                </a:solidFill>
                <a:latin typeface="微软雅黑" panose="020B0503020204020204" pitchFamily="34" charset="-122"/>
                <a:ea typeface="微软雅黑" panose="020B0503020204020204" pitchFamily="34" charset="-122"/>
              </a:endParaRPr>
            </a:p>
          </p:txBody>
        </p:sp>
      </p:grpSp>
      <p:cxnSp>
        <p:nvCxnSpPr>
          <p:cNvPr id="30" name="直接连接符 29"/>
          <p:cNvCxnSpPr/>
          <p:nvPr/>
        </p:nvCxnSpPr>
        <p:spPr>
          <a:xfrm>
            <a:off x="6318544" y="3170580"/>
            <a:ext cx="0" cy="3421380"/>
          </a:xfrm>
          <a:prstGeom prst="line">
            <a:avLst/>
          </a:prstGeom>
          <a:ln w="19050">
            <a:prstDash val="dash"/>
          </a:ln>
        </p:spPr>
        <p:style>
          <a:lnRef idx="1">
            <a:schemeClr val="accent5"/>
          </a:lnRef>
          <a:fillRef idx="0">
            <a:schemeClr val="accent5"/>
          </a:fillRef>
          <a:effectRef idx="0">
            <a:schemeClr val="accent5"/>
          </a:effectRef>
          <a:fontRef idx="minor">
            <a:schemeClr val="tx1"/>
          </a:fontRef>
        </p:style>
      </p:cxnSp>
      <p:sp>
        <p:nvSpPr>
          <p:cNvPr id="26" name="灯片编号占位符 25"/>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dirty="0"/>
          </a:p>
        </p:txBody>
      </p:sp>
      <p:sp>
        <p:nvSpPr>
          <p:cNvPr id="12" name="矩形 11"/>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4.1  </a:t>
            </a:r>
            <a:r>
              <a:rPr lang="zh-CN" altLang="en-US" sz="1600" dirty="0">
                <a:solidFill>
                  <a:srgbClr val="002060"/>
                </a:solidFill>
                <a:latin typeface="微软雅黑" panose="020B0503020204020204" pitchFamily="34" charset="-122"/>
                <a:ea typeface="微软雅黑" panose="020B0503020204020204" pitchFamily="34" charset="-122"/>
              </a:rPr>
              <a:t>光谱技术概述</a:t>
            </a:r>
            <a:endParaRPr lang="zh-CN" altLang="en-US" sz="1600" dirty="0">
              <a:solidFill>
                <a:srgbClr val="002060"/>
              </a:solidFill>
            </a:endParaRPr>
          </a:p>
        </p:txBody>
      </p:sp>
      <p:pic>
        <p:nvPicPr>
          <p:cNvPr id="28" name="图片 27"/>
          <p:cNvPicPr/>
          <p:nvPr/>
        </p:nvPicPr>
        <p:blipFill rotWithShape="1">
          <a:blip r:embed="rId1">
            <a:extLst>
              <a:ext uri="{28A0092B-C50C-407E-A947-70E740481C1C}">
                <a14:useLocalDpi xmlns:a14="http://schemas.microsoft.com/office/drawing/2010/main" val="0"/>
              </a:ext>
            </a:extLst>
          </a:blip>
          <a:srcRect b="16683"/>
          <a:stretch>
            <a:fillRect/>
          </a:stretch>
        </p:blipFill>
        <p:spPr>
          <a:xfrm>
            <a:off x="1481455" y="4413250"/>
            <a:ext cx="3627120" cy="1252855"/>
          </a:xfrm>
          <a:prstGeom prst="rect">
            <a:avLst/>
          </a:prstGeom>
          <a:noFill/>
          <a:ln>
            <a:noFill/>
          </a:ln>
        </p:spPr>
      </p:pic>
      <p:pic>
        <p:nvPicPr>
          <p:cNvPr id="29" name="图片 28"/>
          <p:cNvPicPr/>
          <p:nvPr/>
        </p:nvPicPr>
        <p:blipFill rotWithShape="1">
          <a:blip r:embed="rId2">
            <a:extLst>
              <a:ext uri="{28A0092B-C50C-407E-A947-70E740481C1C}">
                <a14:useLocalDpi xmlns:a14="http://schemas.microsoft.com/office/drawing/2010/main" val="0"/>
              </a:ext>
            </a:extLst>
          </a:blip>
          <a:srcRect t="-1736" b="12459"/>
          <a:stretch>
            <a:fillRect/>
          </a:stretch>
        </p:blipFill>
        <p:spPr>
          <a:xfrm>
            <a:off x="7118350" y="3971925"/>
            <a:ext cx="3707765" cy="1439545"/>
          </a:xfrm>
          <a:prstGeom prst="rect">
            <a:avLst/>
          </a:prstGeom>
          <a:noFill/>
          <a:ln>
            <a:noFill/>
          </a:ln>
        </p:spPr>
      </p:pic>
      <p:sp>
        <p:nvSpPr>
          <p:cNvPr id="5" name="文本框 4"/>
          <p:cNvSpPr txBox="1"/>
          <p:nvPr/>
        </p:nvSpPr>
        <p:spPr>
          <a:xfrm>
            <a:off x="731520" y="1584960"/>
            <a:ext cx="11110595" cy="1706880"/>
          </a:xfrm>
          <a:prstGeom prst="rect">
            <a:avLst/>
          </a:prstGeom>
        </p:spPr>
        <p:txBody>
          <a:bodyPr wrap="square">
            <a:spAutoFit/>
          </a:bodyPr>
          <a:p>
            <a:pPr marL="342900" indent="-342900" fontAlgn="auto">
              <a:lnSpc>
                <a:spcPct val="125000"/>
              </a:lnSpc>
              <a:spcBef>
                <a:spcPts val="300"/>
              </a:spcBef>
              <a:spcAft>
                <a:spcPct val="0"/>
              </a:spcAft>
              <a:buFont typeface="+mj-lt"/>
              <a:buAutoNum type="alphaLcParenR"/>
            </a:pPr>
            <a:r>
              <a:rPr lang="zh-CN" altLang="en-US"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物质与光的相互作用：</a:t>
            </a:r>
            <a:r>
              <a:rPr lang="en-US" altLang="zh-CN"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当光照射到物质上时，物质中的原子、分子或离子会与光发生特定的相互作用（如吸收特定波长的光、被激发后发射特定波长的光、散射光等）。</a:t>
            </a:r>
            <a:endParaRPr lang="zh-CN" altLang="en-US"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auto">
              <a:lnSpc>
                <a:spcPct val="125000"/>
              </a:lnSpc>
              <a:spcBef>
                <a:spcPts val="300"/>
              </a:spcBef>
              <a:spcAft>
                <a:spcPct val="0"/>
              </a:spcAft>
              <a:buFont typeface="+mj-lt"/>
              <a:buAutoNum type="alphaLcParenR"/>
            </a:pPr>
            <a:r>
              <a:rPr lang="zh-CN" altLang="en-US"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产生特征光谱：</a:t>
            </a:r>
            <a:r>
              <a:rPr lang="en-US" altLang="zh-CN"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这些相互作用会导致入射光的强度、波长分布发生改变，产生与该物质特性（如能级结构、化学键、分子振动</a:t>
            </a:r>
            <a:r>
              <a:rPr lang="en-US" altLang="zh-CN"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转动模式等）密切相关的特征光谱（物质的“指纹”）。</a:t>
            </a:r>
            <a:endParaRPr lang="zh-CN" altLang="en-US"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auto">
              <a:lnSpc>
                <a:spcPct val="125000"/>
              </a:lnSpc>
              <a:spcBef>
                <a:spcPts val="300"/>
              </a:spcBef>
              <a:spcAft>
                <a:spcPct val="0"/>
              </a:spcAft>
              <a:buFont typeface="+mj-lt"/>
              <a:buAutoNum type="alphaLcParenR"/>
            </a:pPr>
            <a:r>
              <a:rPr lang="zh-CN" altLang="en-US"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信息提取：</a:t>
            </a:r>
            <a:r>
              <a:rPr lang="en-US" altLang="zh-CN"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通过测量、记录和分析这些光谱（强度随波长</a:t>
            </a:r>
            <a:r>
              <a:rPr lang="en-US" altLang="zh-CN"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频率的变化关系），可以获取关于物质的定性和定量信息。</a:t>
            </a:r>
            <a:endParaRPr lang="zh-CN" altLang="en-US" sz="1600" b="0" i="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p:cNvSpPr txBox="1"/>
          <p:nvPr/>
        </p:nvSpPr>
        <p:spPr>
          <a:xfrm>
            <a:off x="571500" y="3373755"/>
            <a:ext cx="4216400" cy="506730"/>
          </a:xfrm>
          <a:prstGeom prst="rect">
            <a:avLst/>
          </a:prstGeom>
          <a:noFill/>
        </p:spPr>
        <p:txBody>
          <a:bodyPr wrap="square" rtlCol="0">
            <a:spAutoFit/>
          </a:bodyPr>
          <a:p>
            <a:pPr marL="285750" indent="-285750" algn="just" fontAlgn="auto">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sym typeface="+mn-ea"/>
              </a:rPr>
              <a:t>常用光谱：吸收光谱和发射光谱</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34917"/>
            <a:ext cx="6690360" cy="612140"/>
          </a:xfrm>
        </p:spPr>
        <p:txBody>
          <a:bodyPr/>
          <a:lstStyle/>
          <a:p>
            <a:pPr algn="ctr"/>
            <a:r>
              <a:rPr lang="en-US" altLang="zh-CN" b="1" dirty="0">
                <a:solidFill>
                  <a:srgbClr val="002060"/>
                </a:solidFill>
              </a:rPr>
              <a:t>4.1.2 </a:t>
            </a:r>
            <a:r>
              <a:rPr lang="zh-CN" altLang="en-US" b="1" dirty="0">
                <a:solidFill>
                  <a:srgbClr val="002060"/>
                </a:solidFill>
              </a:rPr>
              <a:t>光谱的产生与测量</a:t>
            </a:r>
            <a:endParaRPr lang="zh-CN" altLang="en-US" b="1" dirty="0">
              <a:solidFill>
                <a:srgbClr val="002060"/>
              </a:solidFill>
            </a:endParaRPr>
          </a:p>
        </p:txBody>
      </p:sp>
      <p:sp>
        <p:nvSpPr>
          <p:cNvPr id="16" name="内容占位符 3"/>
          <p:cNvSpPr txBox="1"/>
          <p:nvPr/>
        </p:nvSpPr>
        <p:spPr>
          <a:xfrm>
            <a:off x="-3938" y="13970"/>
            <a:ext cx="2689015"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章  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2" name="矩形 1"/>
          <p:cNvSpPr/>
          <p:nvPr/>
        </p:nvSpPr>
        <p:spPr>
          <a:xfrm>
            <a:off x="715121" y="1321834"/>
            <a:ext cx="1600200" cy="368300"/>
          </a:xfrm>
          <a:prstGeom prst="rect">
            <a:avLst/>
          </a:prstGeom>
        </p:spPr>
        <p:txBody>
          <a:bodyPr wrap="none">
            <a:spAutoFit/>
          </a:bodyPr>
          <a:lstStyle/>
          <a:p>
            <a:r>
              <a:rPr lang="en-US" altLang="zh-CN"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光谱的测量</a:t>
            </a:r>
            <a:endPar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矩形 3"/>
          <p:cNvSpPr/>
          <p:nvPr/>
        </p:nvSpPr>
        <p:spPr>
          <a:xfrm>
            <a:off x="520936" y="2035496"/>
            <a:ext cx="5715639" cy="922020"/>
          </a:xfrm>
          <a:prstGeom prst="rect">
            <a:avLst/>
          </a:prstGeom>
        </p:spPr>
        <p:txBody>
          <a:bodyPr wrap="square">
            <a:spAutoFit/>
          </a:bodyPr>
          <a:lstStyle/>
          <a:p>
            <a:pPr indent="457200" fontAlgn="auto">
              <a:lnSpc>
                <a:spcPct val="150000"/>
              </a:lnSpc>
            </a:pPr>
            <a:r>
              <a:rPr lang="zh-CN" altLang="en-US" dirty="0">
                <a:latin typeface="微软雅黑" panose="020B0503020204020204" pitchFamily="34" charset="-122"/>
                <a:ea typeface="微软雅黑" panose="020B0503020204020204" pitchFamily="34" charset="-122"/>
              </a:rPr>
              <a:t>能够测量光谱的设备称为光谱仪，主要由</a:t>
            </a:r>
            <a:r>
              <a:rPr lang="zh-CN" altLang="en-US" dirty="0">
                <a:solidFill>
                  <a:srgbClr val="C00000"/>
                </a:solidFill>
                <a:latin typeface="微软雅黑" panose="020B0503020204020204" pitchFamily="34" charset="-122"/>
                <a:ea typeface="微软雅黑" panose="020B0503020204020204" pitchFamily="34" charset="-122"/>
              </a:rPr>
              <a:t>光源、色散元件、样品池、光电探测器和光谱处理系统</a:t>
            </a:r>
            <a:r>
              <a:rPr lang="zh-CN" altLang="en-US" dirty="0">
                <a:latin typeface="微软雅黑" panose="020B0503020204020204" pitchFamily="34" charset="-122"/>
                <a:ea typeface="微软雅黑" panose="020B0503020204020204" pitchFamily="34" charset="-122"/>
              </a:rPr>
              <a:t>组成。</a:t>
            </a:r>
            <a:endParaRPr lang="zh-CN" altLang="en-US"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a:p>
        </p:txBody>
      </p:sp>
      <p:sp>
        <p:nvSpPr>
          <p:cNvPr id="10" name="矩形 9"/>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4.1  </a:t>
            </a:r>
            <a:r>
              <a:rPr lang="zh-CN" altLang="en-US" sz="1600" dirty="0">
                <a:solidFill>
                  <a:srgbClr val="002060"/>
                </a:solidFill>
                <a:latin typeface="微软雅黑" panose="020B0503020204020204" pitchFamily="34" charset="-122"/>
                <a:ea typeface="微软雅黑" panose="020B0503020204020204" pitchFamily="34" charset="-122"/>
              </a:rPr>
              <a:t>光谱技术概述</a:t>
            </a:r>
            <a:endParaRPr lang="zh-CN" altLang="en-US" sz="1600" dirty="0">
              <a:solidFill>
                <a:srgbClr val="002060"/>
              </a:solidFill>
            </a:endParaRPr>
          </a:p>
        </p:txBody>
      </p:sp>
      <p:pic>
        <p:nvPicPr>
          <p:cNvPr id="20" name="图片 19"/>
          <p:cNvPicPr/>
          <p:nvPr/>
        </p:nvPicPr>
        <p:blipFill>
          <a:blip r:embed="rId1">
            <a:extLst>
              <a:ext uri="{BEBA8EAE-BF5A-486C-A8C5-ECC9F3942E4B}">
                <a14:imgProps xmlns:a14="http://schemas.microsoft.com/office/drawing/2010/main">
                  <a14:imgLayer r:embed="rId2">
                    <a14:imgEffect>
                      <a14:sharpenSoften amount="50000"/>
                    </a14:imgEffect>
                  </a14:imgLayer>
                </a14:imgProps>
              </a:ext>
            </a:extLst>
          </a:blip>
          <a:stretch>
            <a:fillRect/>
          </a:stretch>
        </p:blipFill>
        <p:spPr>
          <a:xfrm>
            <a:off x="715010" y="3446780"/>
            <a:ext cx="5866765" cy="2079625"/>
          </a:xfrm>
          <a:prstGeom prst="rect">
            <a:avLst/>
          </a:prstGeom>
          <a:noFill/>
          <a:ln>
            <a:noFill/>
          </a:ln>
        </p:spPr>
      </p:pic>
      <p:sp>
        <p:nvSpPr>
          <p:cNvPr id="21" name="矩形 20"/>
          <p:cNvSpPr/>
          <p:nvPr/>
        </p:nvSpPr>
        <p:spPr>
          <a:xfrm>
            <a:off x="6835140" y="1690370"/>
            <a:ext cx="4728210" cy="4605020"/>
          </a:xfrm>
          <a:prstGeom prst="rect">
            <a:avLst/>
          </a:prstGeom>
        </p:spPr>
        <p:txBody>
          <a:bodyPr wrap="square">
            <a:spAutoFit/>
          </a:bodyPr>
          <a:lstStyle/>
          <a:p>
            <a:pPr marL="285750" indent="-285750" algn="just" fontAlgn="auto">
              <a:lnSpc>
                <a:spcPct val="125000"/>
              </a:lnSpc>
              <a:spcBef>
                <a:spcPts val="400"/>
              </a:spcBef>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rPr>
              <a:t>光源：</a:t>
            </a:r>
            <a:r>
              <a:rPr lang="zh-CN" altLang="en-US" sz="1600" dirty="0">
                <a:latin typeface="微软雅黑" panose="020B0503020204020204" pitchFamily="34" charset="-122"/>
                <a:ea typeface="微软雅黑" panose="020B0503020204020204" pitchFamily="34" charset="-122"/>
              </a:rPr>
              <a:t>为样品提供光谱范围内的光辐射。通常采用氙灯（</a:t>
            </a:r>
            <a:r>
              <a:rPr lang="en-US" altLang="zh-CN" sz="1600" dirty="0">
                <a:latin typeface="微软雅黑" panose="020B0503020204020204" pitchFamily="34" charset="-122"/>
                <a:ea typeface="微软雅黑" panose="020B0503020204020204" pitchFamily="34" charset="-122"/>
              </a:rPr>
              <a:t>200nm~1000nm</a:t>
            </a:r>
            <a:r>
              <a:rPr lang="zh-CN" altLang="en-US" sz="1600" dirty="0">
                <a:latin typeface="微软雅黑" panose="020B0503020204020204" pitchFamily="34" charset="-122"/>
                <a:ea typeface="微软雅黑" panose="020B0503020204020204" pitchFamily="34" charset="-122"/>
              </a:rPr>
              <a:t>）、白炽灯（</a:t>
            </a:r>
            <a:r>
              <a:rPr lang="en-US" altLang="zh-CN" sz="1600" dirty="0">
                <a:latin typeface="微软雅黑" panose="020B0503020204020204" pitchFamily="34" charset="-122"/>
                <a:ea typeface="微软雅黑" panose="020B0503020204020204" pitchFamily="34" charset="-122"/>
              </a:rPr>
              <a:t>330nm~800nm</a:t>
            </a:r>
            <a:r>
              <a:rPr lang="zh-CN" altLang="en-US" sz="1600" dirty="0">
                <a:latin typeface="微软雅黑" panose="020B0503020204020204" pitchFamily="34" charset="-122"/>
                <a:ea typeface="微软雅黑" panose="020B0503020204020204" pitchFamily="34" charset="-122"/>
              </a:rPr>
              <a:t>）等；</a:t>
            </a:r>
            <a:endParaRPr lang="en-US" altLang="zh-CN" sz="1600" dirty="0">
              <a:latin typeface="微软雅黑" panose="020B0503020204020204" pitchFamily="34" charset="-122"/>
              <a:ea typeface="微软雅黑" panose="020B0503020204020204" pitchFamily="34" charset="-122"/>
            </a:endParaRPr>
          </a:p>
          <a:p>
            <a:pPr marL="285750" indent="-285750" algn="just" fontAlgn="auto">
              <a:lnSpc>
                <a:spcPct val="125000"/>
              </a:lnSpc>
              <a:spcBef>
                <a:spcPts val="400"/>
              </a:spcBef>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rPr>
              <a:t>色散元件：</a:t>
            </a:r>
            <a:r>
              <a:rPr lang="zh-CN" altLang="en-US" sz="1600" dirty="0">
                <a:latin typeface="微软雅黑" panose="020B0503020204020204" pitchFamily="34" charset="-122"/>
                <a:ea typeface="微软雅黑" panose="020B0503020204020204" pitchFamily="34" charset="-122"/>
              </a:rPr>
              <a:t>用于将复色光分解为单色光。最常用的色散元件是光栅；</a:t>
            </a:r>
            <a:endParaRPr lang="en-US" altLang="zh-CN" sz="1600" dirty="0">
              <a:latin typeface="微软雅黑" panose="020B0503020204020204" pitchFamily="34" charset="-122"/>
              <a:ea typeface="微软雅黑" panose="020B0503020204020204" pitchFamily="34" charset="-122"/>
            </a:endParaRPr>
          </a:p>
          <a:p>
            <a:pPr marL="285750" indent="-285750" algn="just" fontAlgn="auto">
              <a:lnSpc>
                <a:spcPct val="125000"/>
              </a:lnSpc>
              <a:spcBef>
                <a:spcPts val="400"/>
              </a:spcBef>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rPr>
              <a:t>样品池：</a:t>
            </a:r>
            <a:r>
              <a:rPr lang="zh-CN" altLang="en-US" sz="1600" dirty="0">
                <a:latin typeface="微软雅黑" panose="020B0503020204020204" pitchFamily="34" charset="-122"/>
                <a:ea typeface="微软雅黑" panose="020B0503020204020204" pitchFamily="34" charset="-122"/>
              </a:rPr>
              <a:t>用于盛放被测样品的容器。通常采用石英玻璃材质；</a:t>
            </a:r>
            <a:endParaRPr lang="en-US" altLang="zh-CN" sz="1600" dirty="0">
              <a:latin typeface="微软雅黑" panose="020B0503020204020204" pitchFamily="34" charset="-122"/>
              <a:ea typeface="微软雅黑" panose="020B0503020204020204" pitchFamily="34" charset="-122"/>
            </a:endParaRPr>
          </a:p>
          <a:p>
            <a:pPr marL="285750" indent="-285750" algn="just" fontAlgn="auto">
              <a:lnSpc>
                <a:spcPct val="125000"/>
              </a:lnSpc>
              <a:spcBef>
                <a:spcPts val="400"/>
              </a:spcBef>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rPr>
              <a:t>光电探测器：</a:t>
            </a:r>
            <a:r>
              <a:rPr lang="zh-CN" altLang="en-US" sz="1600" dirty="0">
                <a:latin typeface="微软雅黑" panose="020B0503020204020204" pitchFamily="34" charset="-122"/>
                <a:ea typeface="微软雅黑" panose="020B0503020204020204" pitchFamily="34" charset="-122"/>
              </a:rPr>
              <a:t>是一种光电转换器件，用于检测光谱范围内的光强或能量，如光电二极管、光电倍增管、</a:t>
            </a:r>
            <a:r>
              <a:rPr lang="en-US" altLang="zh-CN" sz="1600" dirty="0">
                <a:latin typeface="微软雅黑" panose="020B0503020204020204" pitchFamily="34" charset="-122"/>
                <a:ea typeface="微软雅黑" panose="020B0503020204020204" pitchFamily="34" charset="-122"/>
              </a:rPr>
              <a:t>CCD</a:t>
            </a:r>
            <a:r>
              <a:rPr lang="zh-CN" altLang="en-US" sz="1600" dirty="0">
                <a:latin typeface="微软雅黑" panose="020B0503020204020204" pitchFamily="34" charset="-122"/>
                <a:ea typeface="微软雅黑" panose="020B0503020204020204" pitchFamily="34" charset="-122"/>
              </a:rPr>
              <a:t>等；</a:t>
            </a:r>
            <a:endParaRPr lang="en-US" altLang="zh-CN" sz="1600" dirty="0">
              <a:latin typeface="微软雅黑" panose="020B0503020204020204" pitchFamily="34" charset="-122"/>
              <a:ea typeface="微软雅黑" panose="020B0503020204020204" pitchFamily="34" charset="-122"/>
            </a:endParaRPr>
          </a:p>
          <a:p>
            <a:pPr marL="285750" indent="-285750" algn="just" fontAlgn="auto">
              <a:lnSpc>
                <a:spcPct val="125000"/>
              </a:lnSpc>
              <a:spcBef>
                <a:spcPts val="400"/>
              </a:spcBef>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rPr>
              <a:t>光谱处理系统：</a:t>
            </a:r>
            <a:r>
              <a:rPr lang="zh-CN" altLang="en-US" sz="1600" dirty="0">
                <a:latin typeface="微软雅黑" panose="020B0503020204020204" pitchFamily="34" charset="-122"/>
                <a:ea typeface="微软雅黑" panose="020B0503020204020204" pitchFamily="34" charset="-122"/>
              </a:rPr>
              <a:t>包括</a:t>
            </a:r>
            <a:r>
              <a:rPr lang="zh-CN" altLang="en-US" sz="1600" dirty="0">
                <a:solidFill>
                  <a:srgbClr val="C00000"/>
                </a:solidFill>
                <a:latin typeface="微软雅黑" panose="020B0503020204020204" pitchFamily="34" charset="-122"/>
                <a:ea typeface="微软雅黑" panose="020B0503020204020204" pitchFamily="34" charset="-122"/>
              </a:rPr>
              <a:t>软件和硬件</a:t>
            </a:r>
            <a:r>
              <a:rPr lang="zh-CN" altLang="en-US" sz="1600" dirty="0">
                <a:latin typeface="微软雅黑" panose="020B0503020204020204" pitchFamily="34" charset="-122"/>
                <a:ea typeface="微软雅黑" panose="020B0503020204020204" pitchFamily="34" charset="-122"/>
              </a:rPr>
              <a:t>两部分。软件是指光谱的采集、显示、存储，以及对光谱的分析处理；硬件是指软件运行的平台，通常选用计算机或嵌入式系统。</a:t>
            </a:r>
            <a:endParaRPr lang="en-US" altLang="zh-CN"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34917"/>
            <a:ext cx="6690360" cy="612140"/>
          </a:xfrm>
        </p:spPr>
        <p:txBody>
          <a:bodyPr/>
          <a:lstStyle/>
          <a:p>
            <a:pPr algn="ctr"/>
            <a:r>
              <a:rPr lang="en-US" altLang="zh-CN" b="1" dirty="0">
                <a:solidFill>
                  <a:srgbClr val="002060"/>
                </a:solidFill>
              </a:rPr>
              <a:t>4.1.2 </a:t>
            </a:r>
            <a:r>
              <a:rPr lang="zh-CN" altLang="en-US" b="1" dirty="0">
                <a:solidFill>
                  <a:srgbClr val="002060"/>
                </a:solidFill>
              </a:rPr>
              <a:t>光谱的产生与测量</a:t>
            </a:r>
            <a:endParaRPr lang="zh-CN" altLang="en-US" b="1" dirty="0">
              <a:solidFill>
                <a:srgbClr val="002060"/>
              </a:solidFill>
            </a:endParaRPr>
          </a:p>
        </p:txBody>
      </p:sp>
      <p:sp>
        <p:nvSpPr>
          <p:cNvPr id="16" name="内容占位符 3"/>
          <p:cNvSpPr txBox="1"/>
          <p:nvPr/>
        </p:nvSpPr>
        <p:spPr>
          <a:xfrm>
            <a:off x="-3938" y="13970"/>
            <a:ext cx="2689015"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章  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3" name="矩形 2"/>
          <p:cNvSpPr/>
          <p:nvPr/>
        </p:nvSpPr>
        <p:spPr>
          <a:xfrm>
            <a:off x="853758" y="1420668"/>
            <a:ext cx="10218320" cy="398780"/>
          </a:xfrm>
          <a:prstGeom prst="rect">
            <a:avLst/>
          </a:prstGeom>
        </p:spPr>
        <p:txBody>
          <a:bodyPr wrap="square">
            <a:spAutoFit/>
          </a:bodyPr>
          <a:lstStyle/>
          <a:p>
            <a:pPr>
              <a:lnSpc>
                <a:spcPct val="125000"/>
              </a:lnSpc>
            </a:pPr>
            <a:r>
              <a:rPr lang="zh-CN" altLang="en-US"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光谱特性参数：</a:t>
            </a:r>
            <a:endParaRPr lang="zh-CN" altLang="en-US"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6"/>
          <p:cNvSpPr/>
          <p:nvPr/>
        </p:nvSpPr>
        <p:spPr>
          <a:xfrm>
            <a:off x="531836" y="1116386"/>
            <a:ext cx="2265680" cy="368300"/>
          </a:xfrm>
          <a:prstGeom prst="rect">
            <a:avLst/>
          </a:prstGeom>
        </p:spPr>
        <p:txBody>
          <a:bodyPr wrap="none">
            <a:spAutoFit/>
          </a:bodyPr>
          <a:lstStyle/>
          <a:p>
            <a:r>
              <a:rPr lang="en-US" altLang="zh-CN" b="1" dirty="0">
                <a:solidFill>
                  <a:srgbClr val="002060"/>
                </a:solidFill>
                <a:ea typeface="微软雅黑" panose="020B0503020204020204" pitchFamily="34" charset="-122"/>
              </a:rPr>
              <a:t>4. </a:t>
            </a:r>
            <a:r>
              <a:rPr lang="zh-CN" altLang="zh-CN" b="1" dirty="0">
                <a:solidFill>
                  <a:srgbClr val="002060"/>
                </a:solidFill>
                <a:ea typeface="微软雅黑" panose="020B0503020204020204" pitchFamily="34" charset="-122"/>
              </a:rPr>
              <a:t>光谱仪的性能指标</a:t>
            </a:r>
            <a:endParaRPr lang="zh-CN" altLang="en-US" b="1" dirty="0">
              <a:solidFill>
                <a:srgbClr val="002060"/>
              </a:solidFill>
              <a:ea typeface="微软雅黑" panose="020B0503020204020204" pitchFamily="34" charset="-122"/>
            </a:endParaRPr>
          </a:p>
        </p:txBody>
      </p:sp>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1155748" y="1831719"/>
              <a:ext cx="10049510" cy="2191385"/>
            </p:xfrm>
            <a:graphic>
              <a:graphicData uri="http://schemas.openxmlformats.org/drawingml/2006/table">
                <a:tbl>
                  <a:tblPr firstRow="1" bandRow="1">
                    <a:tableStyleId>{3B4B98B0-60AC-42C2-AFA5-B58CD77FA1E5}</a:tableStyleId>
                  </a:tblPr>
                  <a:tblGrid>
                    <a:gridCol w="2432685"/>
                    <a:gridCol w="3634740"/>
                    <a:gridCol w="3982085"/>
                  </a:tblGrid>
                  <a:tr h="304800">
                    <a:tc>
                      <a:txBody>
                        <a:bodyPr/>
                        <a:lstStyle/>
                        <a:p>
                          <a:pPr algn="ctr"/>
                          <a:r>
                            <a:rPr lang="zh-CN" altLang="en-US" sz="1400" dirty="0">
                              <a:latin typeface="微软雅黑" panose="020B0503020204020204" pitchFamily="34" charset="-122"/>
                              <a:ea typeface="微软雅黑" panose="020B0503020204020204" pitchFamily="34" charset="-122"/>
                            </a:rPr>
                            <a:t>指标</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单位</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定义</a:t>
                          </a:r>
                          <a:endParaRPr lang="zh-CN" altLang="en-US" sz="1400" dirty="0">
                            <a:latin typeface="微软雅黑" panose="020B0503020204020204" pitchFamily="34" charset="-122"/>
                            <a:ea typeface="微软雅黑" panose="020B0503020204020204" pitchFamily="34" charset="-122"/>
                          </a:endParaRPr>
                        </a:p>
                      </a:txBody>
                      <a:tcPr anchor="ctr"/>
                    </a:tc>
                  </a:tr>
                  <a:tr h="31115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光谱范围</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××nm ~ ××nm </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或 </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p>
                                <m:sSupPr>
                                  <m:ctrlP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𝑐𝑚</m:t>
                                  </m:r>
                                </m:e>
                                <m:sup>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1</m:t>
                                  </m:r>
                                </m:sup>
                              </m:sSup>
                            </m:oMath>
                          </a14:m>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sSup>
                                <m:sSupPr>
                                  <m:ctrlP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𝑐𝑚</m:t>
                                  </m:r>
                                </m:e>
                                <m:sup>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1</m:t>
                                  </m:r>
                                </m:sup>
                              </m:sSup>
                            </m:oMath>
                          </a14:m>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光谱仪所能测量的波长或频率范围。</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r>
                  <a:tr h="441325">
                    <a:tc>
                      <a:txBody>
                        <a:bodyPr/>
                        <a:lstStyle/>
                        <a:p>
                          <a:pPr algn="ct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光谱分辨率</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nm </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或 </a:t>
                          </a:r>
                          <a14:m>
                            <m:oMath xmlns:m="http://schemas.openxmlformats.org/officeDocument/2006/math">
                              <m:sSup>
                                <m:sSupPr>
                                  <m:ctrlP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𝑐𝑚</m:t>
                                  </m:r>
                                </m:e>
                                <m:sup>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1</m:t>
                                  </m:r>
                                </m:sup>
                              </m:sSup>
                            </m:oMath>
                          </a14:m>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光谱仪所能分辨的最近两条谱线的中心波长之差。</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r>
                  <a:tr h="518160">
                    <a:tc>
                      <a:txBody>
                        <a:bodyPr/>
                        <a:lstStyle/>
                        <a:p>
                          <a:pPr algn="ct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波长的准确度</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nm </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或 </a:t>
                          </a:r>
                          <a14:m>
                            <m:oMath xmlns:m="http://schemas.openxmlformats.org/officeDocument/2006/math">
                              <m:sSup>
                                <m:sSupPr>
                                  <m:ctrlP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𝑐𝑚</m:t>
                                  </m:r>
                                </m:e>
                                <m:sup>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1</m:t>
                                  </m:r>
                                </m:sup>
                              </m:sSup>
                            </m:oMath>
                          </a14:m>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l"/>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光谱仪测量标准物质某一谱峰的波长（或波数）与该谱峰标定波长（或波数）之差。 </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r>
                  <a:tr h="311150">
                    <a:tc>
                      <a:txBody>
                        <a:bodyPr/>
                        <a:lstStyle/>
                        <a:p>
                          <a:pPr algn="ct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波长（或频率）的重复性</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nm </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或 </a:t>
                          </a:r>
                          <a14:m>
                            <m:oMath xmlns:m="http://schemas.openxmlformats.org/officeDocument/2006/math">
                              <m:sSup>
                                <m:sSupPr>
                                  <m:ctrlP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𝑐𝑚</m:t>
                                  </m:r>
                                </m:e>
                                <m:sup>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i="1" dirty="0" smtClean="0">
                                      <a:solidFill>
                                        <a:schemeClr val="tx1">
                                          <a:lumMod val="85000"/>
                                          <a:lumOff val="15000"/>
                                        </a:schemeClr>
                                      </a:solidFill>
                                      <a:latin typeface="Cambria Math" panose="02040503050406030204" pitchFamily="18" charset="0"/>
                                      <a:ea typeface="微软雅黑" panose="020B0503020204020204" pitchFamily="34" charset="-122"/>
                                      <a:cs typeface="Times New Roman" panose="02020603050405020304" pitchFamily="18" charset="0"/>
                                    </a:rPr>
                                    <m:t>1</m:t>
                                  </m:r>
                                </m:sup>
                              </m:sSup>
                            </m:oMath>
                          </a14:m>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多次测量某一谱峰位置的标准差。</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r>
                  <a:tr h="304800">
                    <a:tc>
                      <a:txBody>
                        <a:bodyPr/>
                        <a:lstStyle/>
                        <a:p>
                          <a:pPr algn="ct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扫描速度</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s/</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次 或 次</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/s</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在光谱范围内完成 </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次测量所需要的时间。</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r>
                </a:tbl>
              </a:graphicData>
            </a:graphic>
          </p:graphicFrame>
        </mc:Choice>
        <mc:Fallback xmlns="">
          <p:graphicFrame>
            <p:nvGraphicFramePr>
              <p:cNvPr id="2" name="表格 1"/>
              <p:cNvGraphicFramePr>
                <a:graphicFrameLocks noGrp="1"/>
              </p:cNvGraphicFramePr>
              <p:nvPr/>
            </p:nvGraphicFramePr>
            <p:xfrm>
              <a:off x="1155748" y="1831719"/>
              <a:ext cx="10049510" cy="2191385"/>
            </p:xfrm>
            <a:graphic>
              <a:graphicData uri="http://schemas.openxmlformats.org/drawingml/2006/table">
                <a:tbl>
                  <a:tblPr firstRow="1" bandRow="1">
                    <a:tableStyleId>{3B4B98B0-60AC-42C2-AFA5-B58CD77FA1E5}</a:tableStyleId>
                  </a:tblPr>
                  <a:tblGrid>
                    <a:gridCol w="2432685"/>
                    <a:gridCol w="3634740"/>
                    <a:gridCol w="3982085"/>
                  </a:tblGrid>
                  <a:tr h="304800">
                    <a:tc>
                      <a:txBody>
                        <a:bodyPr/>
                        <a:lstStyle/>
                        <a:p>
                          <a:pPr algn="ctr"/>
                          <a:r>
                            <a:rPr lang="zh-CN" altLang="en-US" sz="1400" dirty="0">
                              <a:latin typeface="微软雅黑" panose="020B0503020204020204" pitchFamily="34" charset="-122"/>
                              <a:ea typeface="微软雅黑" panose="020B0503020204020204" pitchFamily="34" charset="-122"/>
                            </a:rPr>
                            <a:t>指标</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单位</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定义</a:t>
                          </a:r>
                          <a:endParaRPr lang="zh-CN" altLang="en-US" sz="1400" dirty="0">
                            <a:latin typeface="微软雅黑" panose="020B0503020204020204" pitchFamily="34" charset="-122"/>
                            <a:ea typeface="微软雅黑" panose="020B0503020204020204" pitchFamily="34" charset="-122"/>
                          </a:endParaRPr>
                        </a:p>
                      </a:txBody>
                      <a:tcPr anchor="ctr"/>
                    </a:tc>
                  </a:tr>
                  <a:tr h="31115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光谱范围</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endParaRPr lang="zh-CN"/>
                        </a:p>
                      </a:txBody>
                      <a:tcPr anchor="ctr">
                        <a:blipFill>
                          <a:blip r:embed="rId1"/>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光谱仪所能测量的波长或频率范围。</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r>
                  <a:tr h="441325">
                    <a:tc>
                      <a:txBody>
                        <a:bodyPr/>
                        <a:lstStyle/>
                        <a:p>
                          <a:pPr algn="ct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光谱分辨率</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endParaRPr lang="zh-CN"/>
                        </a:p>
                      </a:txBody>
                      <a:tcPr anchor="ctr">
                        <a:blipFill>
                          <a:blip r:embed="rId1"/>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光谱仪所能分辨的最近两条谱线的中心波长之差。</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r>
                  <a:tr h="518160">
                    <a:tc>
                      <a:txBody>
                        <a:bodyPr/>
                        <a:lstStyle/>
                        <a:p>
                          <a:pPr algn="ct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波长的准确度</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endParaRPr lang="zh-CN"/>
                        </a:p>
                      </a:txBody>
                      <a:tcPr anchor="ctr">
                        <a:blipFill>
                          <a:blip r:embed="rId1"/>
                        </a:blipFill>
                      </a:tcPr>
                    </a:tc>
                    <a:tc>
                      <a:txBody>
                        <a:bodyPr/>
                        <a:lstStyle/>
                        <a:p>
                          <a:pPr algn="l"/>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光谱仪测量标准物质某一谱峰的波长（或波数）与该谱峰标定波长（或波数）之差。 </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r>
                  <a:tr h="311150">
                    <a:tc>
                      <a:txBody>
                        <a:bodyPr/>
                        <a:lstStyle/>
                        <a:p>
                          <a:pPr algn="ct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波长（或频率）的重复性</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endParaRPr lang="zh-CN"/>
                        </a:p>
                      </a:txBody>
                      <a:tcPr anchor="ctr">
                        <a:blipFill>
                          <a:blip r:embed="rId1"/>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多次测量某一谱峰位置的标准差。</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r>
                  <a:tr h="304800">
                    <a:tc>
                      <a:txBody>
                        <a:bodyPr/>
                        <a:lstStyle/>
                        <a:p>
                          <a:pPr algn="ct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扫描速度</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s/</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次 或 次</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/s</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在光谱范围内完成 </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次测量所需要的时间。</a:t>
                          </a:r>
                          <a:endPar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r>
                </a:tbl>
              </a:graphicData>
            </a:graphic>
          </p:graphicFrame>
        </mc:Fallback>
      </mc:AlternateContent>
      <p:sp>
        <p:nvSpPr>
          <p:cNvPr id="4" name="矩形 3"/>
          <p:cNvSpPr/>
          <p:nvPr/>
        </p:nvSpPr>
        <p:spPr>
          <a:xfrm>
            <a:off x="853758" y="4039173"/>
            <a:ext cx="1605280" cy="398780"/>
          </a:xfrm>
          <a:prstGeom prst="rect">
            <a:avLst/>
          </a:prstGeom>
        </p:spPr>
        <p:txBody>
          <a:bodyPr wrap="none">
            <a:spAutoFit/>
          </a:bodyPr>
          <a:lstStyle/>
          <a:p>
            <a:pPr>
              <a:lnSpc>
                <a:spcPct val="125000"/>
              </a:lnSpc>
            </a:pPr>
            <a:r>
              <a:rPr lang="zh-CN" altLang="en-US" sz="1600" b="1" dirty="0">
                <a:solidFill>
                  <a:srgbClr val="C00000"/>
                </a:solidFill>
                <a:latin typeface="微软雅黑" panose="020B0503020204020204" pitchFamily="34" charset="-122"/>
                <a:ea typeface="微软雅黑" panose="020B0503020204020204" pitchFamily="34" charset="-122"/>
              </a:rPr>
              <a:t>光度特性参数：</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nvGraphicFramePr>
        <p:xfrm>
          <a:off x="1155748" y="4417989"/>
          <a:ext cx="10049510" cy="2001520"/>
        </p:xfrm>
        <a:graphic>
          <a:graphicData uri="http://schemas.openxmlformats.org/drawingml/2006/table">
            <a:tbl>
              <a:tblPr firstRow="1" bandRow="1">
                <a:tableStyleId>{3B4B98B0-60AC-42C2-AFA5-B58CD77FA1E5}</a:tableStyleId>
              </a:tblPr>
              <a:tblGrid>
                <a:gridCol w="2275840"/>
                <a:gridCol w="3850005"/>
                <a:gridCol w="3923665"/>
              </a:tblGrid>
              <a:tr h="370840">
                <a:tc>
                  <a:txBody>
                    <a:bodyPr/>
                    <a:lstStyle/>
                    <a:p>
                      <a:pPr algn="ctr"/>
                      <a:r>
                        <a:rPr lang="zh-CN" altLang="en-US" sz="1400" dirty="0">
                          <a:latin typeface="微软雅黑" panose="020B0503020204020204" pitchFamily="34" charset="-122"/>
                          <a:ea typeface="微软雅黑" panose="020B0503020204020204" pitchFamily="34" charset="-122"/>
                        </a:rPr>
                        <a:t>指标</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单位</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定义</a:t>
                      </a:r>
                      <a:endParaRPr lang="zh-CN" altLang="en-US" sz="1400" dirty="0">
                        <a:latin typeface="微软雅黑" panose="020B0503020204020204" pitchFamily="34" charset="-122"/>
                        <a:ea typeface="微软雅黑" panose="020B0503020204020204" pitchFamily="34" charset="-122"/>
                      </a:endParaRPr>
                    </a:p>
                  </a:txBody>
                  <a:tcPr anchor="ctr"/>
                </a:tc>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rPr>
                        <a:t>光度范围</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，透射率；或</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，吸光度</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可测得的透射率或吸光度范围</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r>
              <a:tr h="370840">
                <a:tc>
                  <a:txBody>
                    <a:bodyPr/>
                    <a:lstStyle/>
                    <a:p>
                      <a:pPr algn="ct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光度准确性</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或</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±××A </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光谱仪测量标准物质的光度值与该标准物质标定值之差。</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r>
              <a:tr h="370840">
                <a:tc>
                  <a:txBody>
                    <a:bodyPr/>
                    <a:lstStyle/>
                    <a:p>
                      <a:pPr algn="ct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光度重复性</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±××%T</a:t>
                      </a: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或</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±××A </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多次测量所得光度值的标准差。</a:t>
                      </a:r>
                      <a:endParaRPr lang="zh-CN" altLang="zh-CN" sz="14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r>
              <a:tr h="370840">
                <a:tc>
                  <a:txBody>
                    <a:bodyPr/>
                    <a:lstStyle/>
                    <a:p>
                      <a:pPr algn="ctr"/>
                      <a:r>
                        <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杂散光</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&lt;××%</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除要求分析的信号光外到达探测器的光。</a:t>
                      </a:r>
                      <a:endParaRPr lang="zh-CN" altLang="en-US" sz="14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a:txBody>
                  <a:tcPr anchor="ctr"/>
                </a:tc>
              </a:tr>
            </a:tbl>
          </a:graphicData>
        </a:graphic>
      </p:graphicFrame>
      <p:sp>
        <p:nvSpPr>
          <p:cNvPr id="8" name="灯片编号占位符 7"/>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a:p>
        </p:txBody>
      </p:sp>
      <p:sp>
        <p:nvSpPr>
          <p:cNvPr id="10" name="矩形 9"/>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4.1  </a:t>
            </a:r>
            <a:r>
              <a:rPr lang="zh-CN" altLang="en-US" sz="1600" dirty="0">
                <a:solidFill>
                  <a:srgbClr val="002060"/>
                </a:solidFill>
                <a:latin typeface="微软雅黑" panose="020B0503020204020204" pitchFamily="34" charset="-122"/>
                <a:ea typeface="微软雅黑" panose="020B0503020204020204" pitchFamily="34" charset="-122"/>
              </a:rPr>
              <a:t>光谱技术概述</a:t>
            </a:r>
            <a:endParaRPr lang="zh-CN" altLang="en-US" sz="1600" dirty="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34917"/>
            <a:ext cx="6690360" cy="612140"/>
          </a:xfrm>
        </p:spPr>
        <p:txBody>
          <a:bodyPr/>
          <a:lstStyle/>
          <a:p>
            <a:pPr algn="ctr"/>
            <a:r>
              <a:rPr lang="en-US" altLang="zh-CN" b="1" dirty="0">
                <a:solidFill>
                  <a:srgbClr val="002060"/>
                </a:solidFill>
              </a:rPr>
              <a:t>4.1.3 </a:t>
            </a:r>
            <a:r>
              <a:rPr lang="zh-CN" altLang="en-US" b="1" dirty="0">
                <a:solidFill>
                  <a:srgbClr val="002060"/>
                </a:solidFill>
              </a:rPr>
              <a:t>光谱的基本分析方法</a:t>
            </a:r>
            <a:endParaRPr lang="zh-CN" altLang="en-US" b="1" dirty="0">
              <a:solidFill>
                <a:srgbClr val="002060"/>
              </a:solidFill>
            </a:endParaRPr>
          </a:p>
        </p:txBody>
      </p:sp>
      <p:sp>
        <p:nvSpPr>
          <p:cNvPr id="16" name="内容占位符 3"/>
          <p:cNvSpPr txBox="1"/>
          <p:nvPr/>
        </p:nvSpPr>
        <p:spPr>
          <a:xfrm>
            <a:off x="-3938" y="13970"/>
            <a:ext cx="2689015"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章  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11" name="矩形 10"/>
          <p:cNvSpPr/>
          <p:nvPr/>
        </p:nvSpPr>
        <p:spPr>
          <a:xfrm>
            <a:off x="736711" y="1285014"/>
            <a:ext cx="1600200" cy="368300"/>
          </a:xfrm>
          <a:prstGeom prst="rect">
            <a:avLst/>
          </a:prstGeom>
        </p:spPr>
        <p:txBody>
          <a:bodyPr wrap="none">
            <a:spAutoFit/>
          </a:bodyPr>
          <a:lstStyle/>
          <a:p>
            <a:r>
              <a:rPr lang="en-US" altLang="zh-CN" b="1" dirty="0">
                <a:solidFill>
                  <a:srgbClr val="002060"/>
                </a:solidFill>
                <a:latin typeface="微软雅黑" panose="020B0503020204020204" pitchFamily="34" charset="-122"/>
                <a:ea typeface="微软雅黑" panose="020B0503020204020204" pitchFamily="34" charset="-122"/>
              </a:rPr>
              <a:t>1. </a:t>
            </a:r>
            <a:r>
              <a:rPr lang="zh-CN" altLang="en-US" b="1" dirty="0">
                <a:solidFill>
                  <a:srgbClr val="002060"/>
                </a:solidFill>
                <a:ea typeface="微软雅黑" panose="020B0503020204020204" pitchFamily="34" charset="-122"/>
              </a:rPr>
              <a:t>光谱预处理</a:t>
            </a:r>
            <a:endParaRPr lang="zh-CN" altLang="en-US" b="1" dirty="0">
              <a:solidFill>
                <a:srgbClr val="002060"/>
              </a:solidFill>
              <a:ea typeface="微软雅黑" panose="020B0503020204020204" pitchFamily="34" charset="-122"/>
            </a:endParaRPr>
          </a:p>
        </p:txBody>
      </p:sp>
      <p:sp>
        <p:nvSpPr>
          <p:cNvPr id="8" name="矩形 7"/>
          <p:cNvSpPr/>
          <p:nvPr/>
        </p:nvSpPr>
        <p:spPr>
          <a:xfrm>
            <a:off x="755347" y="1632689"/>
            <a:ext cx="10681305" cy="922020"/>
          </a:xfrm>
          <a:prstGeom prst="rect">
            <a:avLst/>
          </a:prstGeom>
        </p:spPr>
        <p:txBody>
          <a:bodyPr wrap="square">
            <a:spAutoFit/>
          </a:bodyPr>
          <a:lstStyle/>
          <a:p>
            <a:pPr indent="457200" algn="just" fontAlgn="auto">
              <a:lnSpc>
                <a:spcPct val="150000"/>
              </a:lnSpc>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原始的光谱数据受器件噪声、杂散光以及环境因素的影响，存在很多噪声，所以在分析光谱前需要对光谱进行预处理。常用的光谱预处理方法包括</a:t>
            </a:r>
            <a:r>
              <a:rPr lang="zh-CN"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基线校正</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散射校正</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平滑</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去噪</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尺度缩放</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及</a:t>
            </a:r>
            <a:r>
              <a:rPr lang="zh-CN"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去卷积</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等。</a:t>
            </a:r>
            <a:endParaRPr lang="zh-CN" altLang="en-US" dirty="0">
              <a:latin typeface="微软雅黑" panose="020B0503020204020204" pitchFamily="34" charset="-122"/>
              <a:ea typeface="微软雅黑" panose="020B0503020204020204" pitchFamily="34" charset="-122"/>
            </a:endParaRPr>
          </a:p>
        </p:txBody>
      </p:sp>
      <p:sp>
        <p:nvSpPr>
          <p:cNvPr id="13" name="矩形 12"/>
          <p:cNvSpPr/>
          <p:nvPr/>
        </p:nvSpPr>
        <p:spPr>
          <a:xfrm>
            <a:off x="755881" y="2693489"/>
            <a:ext cx="10433109" cy="2738120"/>
          </a:xfrm>
          <a:prstGeom prst="rect">
            <a:avLst/>
          </a:prstGeom>
        </p:spPr>
        <p:txBody>
          <a:bodyPr wrap="square">
            <a:spAutoFit/>
          </a:bodyPr>
          <a:lstStyle/>
          <a:p>
            <a:pPr algn="just" fontAlgn="auto">
              <a:lnSpc>
                <a:spcPct val="150000"/>
              </a:lnSpc>
              <a:spcBef>
                <a:spcPts val="600"/>
              </a:spcBef>
            </a:pPr>
            <a:r>
              <a:rPr lang="zh-CN" altLang="en-US"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）基线校正</a:t>
            </a:r>
            <a:endParaRPr lang="en-US" altLang="zh-CN"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861695" lvl="2" indent="-285750" algn="just" fontAlgn="auto">
              <a:lnSpc>
                <a:spcPct val="150000"/>
              </a:lnSpc>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基线校正就是</a:t>
            </a:r>
            <a:r>
              <a:rPr lang="zh-CN" altLang="en-US" dirty="0">
                <a:solidFill>
                  <a:srgbClr val="C00000"/>
                </a:solidFill>
                <a:latin typeface="微软雅黑" panose="020B0503020204020204" pitchFamily="34" charset="-122"/>
                <a:ea typeface="微软雅黑" panose="020B0503020204020204" pitchFamily="34" charset="-122"/>
              </a:rPr>
              <a:t>去除或减小光谱中的背景噪声和基线漂移</a:t>
            </a:r>
            <a:r>
              <a:rPr lang="zh-CN" altLang="en-US" dirty="0">
                <a:latin typeface="微软雅黑" panose="020B0503020204020204" pitchFamily="34" charset="-122"/>
                <a:ea typeface="微软雅黑" panose="020B0503020204020204" pitchFamily="34" charset="-122"/>
              </a:rPr>
              <a:t>。背景噪声和基线漂移通常由光谱仪的结构瑕疵、器件噪声、探测器暗电流以及环境因素等产生；</a:t>
            </a:r>
            <a:endParaRPr lang="zh-CN" altLang="en-US" dirty="0">
              <a:latin typeface="微软雅黑" panose="020B0503020204020204" pitchFamily="34" charset="-122"/>
              <a:ea typeface="微软雅黑" panose="020B0503020204020204" pitchFamily="34" charset="-122"/>
            </a:endParaRPr>
          </a:p>
          <a:p>
            <a:pPr marL="861695" lvl="2" indent="-285750" algn="just" fontAlgn="auto">
              <a:lnSpc>
                <a:spcPct val="150000"/>
              </a:lnSpc>
              <a:spcBef>
                <a:spcPts val="600"/>
              </a:spcBef>
              <a:buFont typeface="Arial" panose="020B0604020202020204" pitchFamily="34" charset="0"/>
              <a:buChar char="•"/>
            </a:pPr>
            <a:r>
              <a:rPr lang="zh-CN" altLang="en-US" dirty="0">
                <a:solidFill>
                  <a:srgbClr val="C00000"/>
                </a:solidFill>
                <a:latin typeface="微软雅黑" panose="020B0503020204020204" pitchFamily="34" charset="-122"/>
                <a:ea typeface="微软雅黑" panose="020B0503020204020204" pitchFamily="34" charset="-122"/>
              </a:rPr>
              <a:t>常用的基线校正方法：</a:t>
            </a:r>
            <a:r>
              <a:rPr lang="zh-CN" altLang="en-US" dirty="0">
                <a:latin typeface="微软雅黑" panose="020B0503020204020204" pitchFamily="34" charset="-122"/>
                <a:ea typeface="微软雅黑" panose="020B0503020204020204" pitchFamily="34" charset="-122"/>
              </a:rPr>
              <a:t>多项式拟合（</a:t>
            </a:r>
            <a:r>
              <a:rPr lang="en-US" altLang="zh-CN" dirty="0">
                <a:latin typeface="微软雅黑" panose="020B0503020204020204" pitchFamily="34" charset="-122"/>
                <a:ea typeface="微软雅黑" panose="020B0503020204020204" pitchFamily="34" charset="-122"/>
              </a:rPr>
              <a:t>Polynomial Fitting</a:t>
            </a:r>
            <a:r>
              <a:rPr lang="zh-CN" altLang="en-US" dirty="0">
                <a:latin typeface="微软雅黑" panose="020B0503020204020204" pitchFamily="34" charset="-122"/>
                <a:ea typeface="微软雅黑" panose="020B0503020204020204" pitchFamily="34" charset="-122"/>
              </a:rPr>
              <a:t>）、迭代多项式平滑（</a:t>
            </a:r>
            <a:r>
              <a:rPr lang="en-US" altLang="zh-CN" dirty="0">
                <a:latin typeface="微软雅黑" panose="020B0503020204020204" pitchFamily="34" charset="-122"/>
                <a:ea typeface="微软雅黑" panose="020B0503020204020204" pitchFamily="34" charset="-122"/>
              </a:rPr>
              <a:t>Iterative Polynomial Smoothing</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IPS</a:t>
            </a:r>
            <a:r>
              <a:rPr lang="zh-CN" altLang="en-US" dirty="0">
                <a:latin typeface="微软雅黑" panose="020B0503020204020204" pitchFamily="34" charset="-122"/>
                <a:ea typeface="微软雅黑" panose="020B0503020204020204" pitchFamily="34" charset="-122"/>
              </a:rPr>
              <a:t>）、自适应迭代重加权惩罚最小二乘（</a:t>
            </a:r>
            <a:r>
              <a:rPr lang="en-US" altLang="zh-CN" dirty="0">
                <a:latin typeface="微软雅黑" panose="020B0503020204020204" pitchFamily="34" charset="-122"/>
                <a:ea typeface="微软雅黑" panose="020B0503020204020204" pitchFamily="34" charset="-122"/>
              </a:rPr>
              <a:t>Adaptive Iteratively Reweighted Penalized Least Square, </a:t>
            </a:r>
            <a:r>
              <a:rPr lang="en-US" altLang="zh-CN" dirty="0" err="1">
                <a:latin typeface="微软雅黑" panose="020B0503020204020204" pitchFamily="34" charset="-122"/>
                <a:ea typeface="微软雅黑" panose="020B0503020204020204" pitchFamily="34" charset="-122"/>
              </a:rPr>
              <a:t>airPLS</a:t>
            </a:r>
            <a:r>
              <a:rPr lang="zh-CN" altLang="en-US" dirty="0">
                <a:latin typeface="微软雅黑" panose="020B0503020204020204" pitchFamily="34" charset="-122"/>
                <a:ea typeface="微软雅黑" panose="020B0503020204020204" pitchFamily="34" charset="-122"/>
              </a:rPr>
              <a:t>）等方法。</a:t>
            </a:r>
            <a:endParaRPr lang="en-US" altLang="zh-CN"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dirty="0"/>
          </a:p>
        </p:txBody>
      </p:sp>
      <p:sp>
        <p:nvSpPr>
          <p:cNvPr id="10" name="矩形 9"/>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4.1  </a:t>
            </a:r>
            <a:r>
              <a:rPr lang="zh-CN" altLang="en-US" sz="1600" dirty="0">
                <a:solidFill>
                  <a:srgbClr val="002060"/>
                </a:solidFill>
                <a:latin typeface="微软雅黑" panose="020B0503020204020204" pitchFamily="34" charset="-122"/>
                <a:ea typeface="微软雅黑" panose="020B0503020204020204" pitchFamily="34" charset="-122"/>
              </a:rPr>
              <a:t>光谱技术概述</a:t>
            </a:r>
            <a:endParaRPr lang="zh-CN" altLang="en-US" sz="1600" dirty="0">
              <a:solidFill>
                <a:srgbClr val="00206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34917"/>
            <a:ext cx="6690360" cy="612140"/>
          </a:xfrm>
        </p:spPr>
        <p:txBody>
          <a:bodyPr/>
          <a:lstStyle/>
          <a:p>
            <a:pPr algn="ctr"/>
            <a:r>
              <a:rPr lang="en-US" altLang="zh-CN" b="1" dirty="0">
                <a:solidFill>
                  <a:srgbClr val="002060"/>
                </a:solidFill>
              </a:rPr>
              <a:t>4.1.3 </a:t>
            </a:r>
            <a:r>
              <a:rPr lang="zh-CN" altLang="en-US" b="1" dirty="0">
                <a:solidFill>
                  <a:srgbClr val="002060"/>
                </a:solidFill>
              </a:rPr>
              <a:t>光谱的基本分析方法</a:t>
            </a:r>
            <a:endParaRPr lang="zh-CN" altLang="en-US" b="1" dirty="0">
              <a:solidFill>
                <a:srgbClr val="002060"/>
              </a:solidFill>
            </a:endParaRPr>
          </a:p>
        </p:txBody>
      </p:sp>
      <p:sp>
        <p:nvSpPr>
          <p:cNvPr id="16" name="内容占位符 3"/>
          <p:cNvSpPr txBox="1"/>
          <p:nvPr/>
        </p:nvSpPr>
        <p:spPr>
          <a:xfrm>
            <a:off x="-3938" y="13970"/>
            <a:ext cx="2689015"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章  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a:p>
        </p:txBody>
      </p:sp>
      <p:sp>
        <p:nvSpPr>
          <p:cNvPr id="10" name="矩形 9"/>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4.1  </a:t>
            </a:r>
            <a:r>
              <a:rPr lang="zh-CN" altLang="en-US" sz="1600" dirty="0">
                <a:solidFill>
                  <a:srgbClr val="002060"/>
                </a:solidFill>
                <a:latin typeface="微软雅黑" panose="020B0503020204020204" pitchFamily="34" charset="-122"/>
                <a:ea typeface="微软雅黑" panose="020B0503020204020204" pitchFamily="34" charset="-122"/>
              </a:rPr>
              <a:t>光谱技术概述</a:t>
            </a:r>
            <a:endParaRPr lang="zh-CN" altLang="en-US" sz="1600" dirty="0">
              <a:solidFill>
                <a:srgbClr val="002060"/>
              </a:solidFill>
            </a:endParaRPr>
          </a:p>
        </p:txBody>
      </p:sp>
      <p:sp>
        <p:nvSpPr>
          <p:cNvPr id="9" name="矩形 8"/>
          <p:cNvSpPr/>
          <p:nvPr/>
        </p:nvSpPr>
        <p:spPr>
          <a:xfrm>
            <a:off x="775183" y="1284527"/>
            <a:ext cx="10433109" cy="1794510"/>
          </a:xfrm>
          <a:prstGeom prst="rect">
            <a:avLst/>
          </a:prstGeom>
        </p:spPr>
        <p:txBody>
          <a:bodyPr wrap="square">
            <a:spAutoFit/>
          </a:bodyPr>
          <a:lstStyle/>
          <a:p>
            <a:pPr algn="just">
              <a:lnSpc>
                <a:spcPct val="125000"/>
              </a:lnSpc>
            </a:pPr>
            <a:r>
              <a:rPr lang="zh-CN" altLang="en-US"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5">
                    <a:lumMod val="75000"/>
                  </a:schemeClr>
                </a:solidFill>
                <a:latin typeface="微软雅黑" panose="020B0503020204020204" pitchFamily="34" charset="-122"/>
                <a:ea typeface="微软雅黑" panose="020B0503020204020204" pitchFamily="34" charset="-122"/>
              </a:rPr>
              <a:t>散射校正</a:t>
            </a:r>
            <a:endParaRPr lang="en-US" altLang="zh-CN" b="1" dirty="0">
              <a:solidFill>
                <a:schemeClr val="accent5">
                  <a:lumMod val="75000"/>
                </a:schemeClr>
              </a:solidFill>
              <a:latin typeface="微软雅黑" panose="020B0503020204020204" pitchFamily="34" charset="-122"/>
              <a:ea typeface="微软雅黑" panose="020B0503020204020204" pitchFamily="34" charset="-122"/>
            </a:endParaRPr>
          </a:p>
          <a:p>
            <a:pPr marL="861695" lvl="2" indent="-285750" algn="just" fontAlgn="auto">
              <a:lnSpc>
                <a:spcPct val="130000"/>
              </a:lnSpc>
              <a:spcBef>
                <a:spcPts val="300"/>
              </a:spcBef>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去除光谱中</a:t>
            </a:r>
            <a:r>
              <a:rPr lang="zh-CN" altLang="en-US" sz="1600" dirty="0">
                <a:solidFill>
                  <a:srgbClr val="C00000"/>
                </a:solidFill>
                <a:latin typeface="微软雅黑" panose="020B0503020204020204" pitchFamily="34" charset="-122"/>
                <a:ea typeface="微软雅黑" panose="020B0503020204020204" pitchFamily="34" charset="-122"/>
              </a:rPr>
              <a:t>颗粒物产生的散射信号，如瑞利散射、拉曼散射等</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861695" lvl="2" indent="-285750" algn="just" fontAlgn="auto">
              <a:lnSpc>
                <a:spcPct val="130000"/>
              </a:lnSpc>
              <a:spcBef>
                <a:spcPts val="300"/>
              </a:spcBef>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目前，较常用的散射校正算法是多元散射校正（</a:t>
            </a:r>
            <a:r>
              <a:rPr lang="en-US" altLang="zh-CN" sz="1600" dirty="0">
                <a:latin typeface="微软雅黑" panose="020B0503020204020204" pitchFamily="34" charset="-122"/>
                <a:ea typeface="微软雅黑" panose="020B0503020204020204" pitchFamily="34" charset="-122"/>
              </a:rPr>
              <a:t>Multiplicative Scatter Correction, MSC</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MSC</a:t>
            </a:r>
            <a:r>
              <a:rPr lang="zh-CN" altLang="en-US" sz="1600" dirty="0">
                <a:latin typeface="微软雅黑" panose="020B0503020204020204" pitchFamily="34" charset="-122"/>
                <a:ea typeface="微软雅黑" panose="020B0503020204020204" pitchFamily="34" charset="-122"/>
              </a:rPr>
              <a:t>算法能够用于</a:t>
            </a:r>
            <a:r>
              <a:rPr lang="zh-CN" altLang="en-US" sz="1600" dirty="0">
                <a:solidFill>
                  <a:srgbClr val="C00000"/>
                </a:solidFill>
                <a:latin typeface="微软雅黑" panose="020B0503020204020204" pitchFamily="34" charset="-122"/>
                <a:ea typeface="微软雅黑" panose="020B0503020204020204" pitchFamily="34" charset="-122"/>
              </a:rPr>
              <a:t>分离散射介质光谱中的散射信息和吸收信息</a:t>
            </a:r>
            <a:r>
              <a:rPr lang="zh-CN" altLang="en-US" sz="1600" dirty="0">
                <a:latin typeface="微软雅黑" panose="020B0503020204020204" pitchFamily="34" charset="-122"/>
                <a:ea typeface="微软雅黑" panose="020B0503020204020204" pitchFamily="34" charset="-122"/>
              </a:rPr>
              <a:t>，消除不同光谱之间的散射信息差异，将不同样品光谱中的散射信息校正到同一水平。</a:t>
            </a:r>
            <a:endParaRPr lang="en-US" altLang="zh-CN" sz="1600" dirty="0">
              <a:latin typeface="微软雅黑" panose="020B0503020204020204" pitchFamily="34" charset="-122"/>
              <a:ea typeface="微软雅黑" panose="020B0503020204020204" pitchFamily="34" charset="-122"/>
            </a:endParaRPr>
          </a:p>
        </p:txBody>
      </p:sp>
      <p:sp>
        <p:nvSpPr>
          <p:cNvPr id="3" name="矩形 2"/>
          <p:cNvSpPr/>
          <p:nvPr/>
        </p:nvSpPr>
        <p:spPr>
          <a:xfrm>
            <a:off x="1149884" y="3195283"/>
            <a:ext cx="1871025" cy="369332"/>
          </a:xfrm>
          <a:prstGeom prst="rect">
            <a:avLst/>
          </a:prstGeom>
        </p:spPr>
        <p:txBody>
          <a:bodyPr wrap="none">
            <a:spAutoFit/>
          </a:bodyPr>
          <a:lstStyle/>
          <a:p>
            <a:r>
              <a:rPr lang="en-US" altLang="zh-CN" b="1" dirty="0">
                <a:solidFill>
                  <a:srgbClr val="002060"/>
                </a:solidFill>
                <a:latin typeface="微软雅黑" panose="020B0503020204020204" pitchFamily="34" charset="-122"/>
                <a:ea typeface="微软雅黑" panose="020B0503020204020204" pitchFamily="34" charset="-122"/>
              </a:rPr>
              <a:t>MSC</a:t>
            </a:r>
            <a:r>
              <a:rPr lang="zh-CN" altLang="en-US" b="1" dirty="0">
                <a:solidFill>
                  <a:srgbClr val="002060"/>
                </a:solidFill>
                <a:latin typeface="微软雅黑" panose="020B0503020204020204" pitchFamily="34" charset="-122"/>
                <a:ea typeface="微软雅黑" panose="020B0503020204020204" pitchFamily="34" charset="-122"/>
              </a:rPr>
              <a:t>算法步骤：</a:t>
            </a:r>
            <a:endParaRPr lang="en-US" altLang="zh-CN" b="1"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4" name="矩形 3"/>
              <p:cNvSpPr/>
              <p:nvPr/>
            </p:nvSpPr>
            <p:spPr>
              <a:xfrm>
                <a:off x="1810985" y="3636325"/>
                <a:ext cx="8877002" cy="368300"/>
              </a:xfrm>
              <a:prstGeom prst="rect">
                <a:avLst/>
              </a:prstGeom>
            </p:spPr>
            <p:txBody>
              <a:bodyPr wrap="square">
                <a:spAutoFit/>
              </a:bodyPr>
              <a:lstStyle/>
              <a:p>
                <a:pPr marL="342900" indent="-342900">
                  <a:buFont typeface="+mj-lt"/>
                  <a:buAutoNum type="alphaLcParenR"/>
                </a:pPr>
                <a:r>
                  <a:rPr lang="zh-CN" altLang="en-US" dirty="0">
                    <a:latin typeface="微软雅黑" panose="020B0503020204020204" pitchFamily="34" charset="-122"/>
                    <a:ea typeface="微软雅黑" panose="020B0503020204020204" pitchFamily="34" charset="-122"/>
                  </a:rPr>
                  <a:t>测量</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个样品的光谱数据</a:t>
                </a:r>
                <a14:m>
                  <m:oMath xmlns:m="http://schemas.openxmlformats.org/officeDocument/2006/math">
                    <m:sSub>
                      <m:sSubPr>
                        <m:ctrlPr>
                          <a:rPr lang="zh-CN"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𝑥</m:t>
                        </m:r>
                      </m:e>
                      <m:sub>
                        <m:r>
                          <a:rPr lang="en-US" altLang="zh-CN">
                            <a:latin typeface="Cambria Math" panose="02040503050406030204" pitchFamily="18" charset="0"/>
                            <a:ea typeface="微软雅黑" panose="020B0503020204020204" pitchFamily="34" charset="-122"/>
                          </a:rPr>
                          <m:t>𝑖</m:t>
                        </m:r>
                      </m:sub>
                    </m:sSub>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𝑖</m:t>
                    </m:r>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1</m:t>
                    </m:r>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2</m:t>
                    </m:r>
                    <m:r>
                      <a:rPr lang="en-US" altLang="zh-CN">
                        <a:latin typeface="Cambria Math" panose="02040503050406030204" pitchFamily="18" charset="0"/>
                        <a:ea typeface="微软雅黑" panose="020B0503020204020204" pitchFamily="34" charset="-122"/>
                      </a:rPr>
                      <m:t>…,</m:t>
                    </m:r>
                    <m:r>
                      <a:rPr lang="en-US" altLang="zh-CN">
                        <a:latin typeface="Cambria Math" panose="02040503050406030204" pitchFamily="18" charset="0"/>
                        <a:ea typeface="微软雅黑" panose="020B0503020204020204" pitchFamily="34" charset="-122"/>
                      </a:rPr>
                      <m:t>𝑛</m:t>
                    </m:r>
                    <m:r>
                      <a:rPr lang="en-US" altLang="zh-CN">
                        <a:latin typeface="Cambria Math" panose="02040503050406030204" pitchFamily="18" charset="0"/>
                        <a:ea typeface="微软雅黑" panose="020B0503020204020204" pitchFamily="34" charset="-122"/>
                      </a:rPr>
                      <m:t>)</m:t>
                    </m:r>
                  </m:oMath>
                </a14:m>
                <a:r>
                  <a:rPr lang="zh-CN" altLang="zh-CN" dirty="0">
                    <a:latin typeface="微软雅黑" panose="020B0503020204020204" pitchFamily="34" charset="-122"/>
                    <a:ea typeface="微软雅黑" panose="020B0503020204020204" pitchFamily="34" charset="-122"/>
                  </a:rPr>
                  <a:t>，计算它们的均值，并作为基准光谱</a:t>
                </a:r>
                <a:endParaRPr lang="zh-CN" altLang="en-US" dirty="0">
                  <a:latin typeface="微软雅黑" panose="020B0503020204020204" pitchFamily="34" charset="-122"/>
                  <a:ea typeface="微软雅黑" panose="020B0503020204020204" pitchFamily="34" charset="-122"/>
                </a:endParaRPr>
              </a:p>
            </p:txBody>
          </p:sp>
        </mc:Choice>
        <mc:Fallback>
          <p:sp>
            <p:nvSpPr>
              <p:cNvPr id="4" name="矩形 3"/>
              <p:cNvSpPr>
                <a:spLocks noRot="1" noChangeAspect="1" noMove="1" noResize="1" noEditPoints="1" noAdjustHandles="1" noChangeArrowheads="1" noChangeShapeType="1" noTextEdit="1"/>
              </p:cNvSpPr>
              <p:nvPr/>
            </p:nvSpPr>
            <p:spPr>
              <a:xfrm>
                <a:off x="1810985" y="3636325"/>
                <a:ext cx="8877002" cy="368300"/>
              </a:xfrm>
              <a:prstGeom prst="rect">
                <a:avLst/>
              </a:prstGeom>
              <a:blipFill rotWithShape="1">
                <a:blip r:embed="rId1"/>
                <a:stretch>
                  <a:fillRect l="-7" t="-86" r="3" b="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5059160" y="4022013"/>
                <a:ext cx="1190326" cy="63549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acc>
                        <m:accPr>
                          <m:chr m:val="̅"/>
                          <m:ctrlPr>
                            <a:rPr lang="zh-CN" altLang="en-US">
                              <a:latin typeface="Cambria Math" panose="02040503050406030204" pitchFamily="18" charset="0"/>
                            </a:rPr>
                          </m:ctrlPr>
                        </m:accPr>
                        <m:e>
                          <m:r>
                            <a:rPr lang="zh-CN" altLang="en-US" i="1">
                              <a:latin typeface="Cambria Math" panose="02040503050406030204" pitchFamily="18" charset="0"/>
                            </a:rPr>
                            <m:t>𝑥</m:t>
                          </m:r>
                        </m:e>
                      </m:acc>
                      <m:r>
                        <a:rPr lang="zh-CN" altLang="en-US" i="0">
                          <a:latin typeface="Cambria Math" panose="02040503050406030204" pitchFamily="18" charset="0"/>
                        </a:rPr>
                        <m:t>=</m:t>
                      </m:r>
                      <m:f>
                        <m:fPr>
                          <m:ctrlPr>
                            <a:rPr lang="zh-CN" altLang="en-US" i="1">
                              <a:latin typeface="Cambria Math" panose="02040503050406030204" pitchFamily="18" charset="0"/>
                            </a:rPr>
                          </m:ctrlPr>
                        </m:fPr>
                        <m:num>
                          <m:nary>
                            <m:naryPr>
                              <m:chr m:val="∑"/>
                              <m:limLoc m:val="subSup"/>
                              <m:ctrlPr>
                                <a:rPr lang="zh-CN" altLang="en-US" i="1">
                                  <a:latin typeface="Cambria Math" panose="02040503050406030204" pitchFamily="18" charset="0"/>
                                </a:rPr>
                              </m:ctrlPr>
                            </m:naryPr>
                            <m:sub>
                              <m:r>
                                <a:rPr lang="zh-CN" altLang="en-US" i="1">
                                  <a:latin typeface="Cambria Math" panose="02040503050406030204" pitchFamily="18" charset="0"/>
                                </a:rPr>
                                <m:t>𝑖</m:t>
                              </m:r>
                            </m:sub>
                            <m:sup>
                              <m:r>
                                <a:rPr lang="zh-CN" altLang="en-US" i="1">
                                  <a:latin typeface="Cambria Math" panose="02040503050406030204" pitchFamily="18" charset="0"/>
                                </a:rPr>
                                <m:t>𝑛</m:t>
                              </m:r>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e>
                          </m:nary>
                        </m:num>
                        <m:den>
                          <m:r>
                            <a:rPr lang="zh-CN" altLang="en-US" i="1">
                              <a:latin typeface="Cambria Math" panose="02040503050406030204" pitchFamily="18" charset="0"/>
                            </a:rPr>
                            <m:t>𝑛</m:t>
                          </m:r>
                        </m:den>
                      </m:f>
                    </m:oMath>
                  </m:oMathPara>
                </a14:m>
                <a:endParaRPr lang="zh-CN" altLang="en-US" dirty="0"/>
              </a:p>
            </p:txBody>
          </p:sp>
        </mc:Choice>
        <mc:Fallback>
          <p:sp>
            <p:nvSpPr>
              <p:cNvPr id="5" name="矩形 4"/>
              <p:cNvSpPr>
                <a:spLocks noRot="1" noChangeAspect="1" noMove="1" noResize="1" noEditPoints="1" noAdjustHandles="1" noChangeArrowheads="1" noChangeShapeType="1" noTextEdit="1"/>
              </p:cNvSpPr>
              <p:nvPr/>
            </p:nvSpPr>
            <p:spPr>
              <a:xfrm>
                <a:off x="5059160" y="4022013"/>
                <a:ext cx="1190326" cy="635495"/>
              </a:xfrm>
              <a:prstGeom prst="rect">
                <a:avLst/>
              </a:prstGeom>
              <a:blipFill rotWithShape="1">
                <a:blip r:embed="rId2"/>
                <a:stretch>
                  <a:fillRect l="-10" t="-88" r="38"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矩形 13"/>
              <p:cNvSpPr/>
              <p:nvPr/>
            </p:nvSpPr>
            <p:spPr>
              <a:xfrm>
                <a:off x="1819298" y="4679383"/>
                <a:ext cx="8877002" cy="4692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b) </a:t>
                </a:r>
                <a:r>
                  <a:rPr lang="zh-CN" altLang="zh-CN" dirty="0">
                    <a:latin typeface="微软雅黑" panose="020B0503020204020204" pitchFamily="34" charset="-122"/>
                    <a:ea typeface="微软雅黑" panose="020B0503020204020204" pitchFamily="34" charset="-122"/>
                  </a:rPr>
                  <a:t>对每一条光谱</a:t>
                </a:r>
                <a14:m>
                  <m:oMath xmlns:m="http://schemas.openxmlformats.org/officeDocument/2006/math">
                    <m:sSub>
                      <m:sSubPr>
                        <m:ctrlPr>
                          <a:rPr lang="zh-CN" altLang="zh-CN">
                            <a:latin typeface="微软雅黑" panose="020B0503020204020204" pitchFamily="34" charset="-122"/>
                            <a:ea typeface="微软雅黑" panose="020B0503020204020204" pitchFamily="34" charset="-122"/>
                          </a:rPr>
                        </m:ctrlPr>
                      </m:sSubPr>
                      <m:e>
                        <m:r>
                          <a:rPr lang="en-US" altLang="zh-CN">
                            <a:latin typeface="微软雅黑" panose="020B0503020204020204" pitchFamily="34" charset="-122"/>
                            <a:ea typeface="微软雅黑" panose="020B0503020204020204" pitchFamily="34" charset="-122"/>
                          </a:rPr>
                          <m:t>𝑥</m:t>
                        </m:r>
                      </m:e>
                      <m:sub>
                        <m:r>
                          <a:rPr lang="en-US" altLang="zh-CN">
                            <a:latin typeface="微软雅黑" panose="020B0503020204020204" pitchFamily="34" charset="-122"/>
                            <a:ea typeface="微软雅黑" panose="020B0503020204020204" pitchFamily="34" charset="-122"/>
                          </a:rPr>
                          <m:t>𝑖</m:t>
                        </m:r>
                      </m:sub>
                    </m:sSub>
                  </m:oMath>
                </a14:m>
                <a:r>
                  <a:rPr lang="zh-CN" altLang="zh-CN" dirty="0">
                    <a:latin typeface="微软雅黑" panose="020B0503020204020204" pitchFamily="34" charset="-122"/>
                    <a:ea typeface="微软雅黑" panose="020B0503020204020204" pitchFamily="34" charset="-122"/>
                  </a:rPr>
                  <a:t>与基准光谱</a:t>
                </a:r>
                <a14:m>
                  <m:oMath xmlns:m="http://schemas.openxmlformats.org/officeDocument/2006/math">
                    <m:acc>
                      <m:accPr>
                        <m:chr m:val="̅"/>
                        <m:ctrlPr>
                          <a:rPr lang="zh-CN" altLang="zh-CN">
                            <a:latin typeface="微软雅黑" panose="020B0503020204020204" pitchFamily="34" charset="-122"/>
                            <a:ea typeface="微软雅黑" panose="020B0503020204020204" pitchFamily="34" charset="-122"/>
                          </a:rPr>
                        </m:ctrlPr>
                      </m:accPr>
                      <m:e>
                        <m:r>
                          <a:rPr lang="en-US" altLang="zh-CN">
                            <a:latin typeface="微软雅黑" panose="020B0503020204020204" pitchFamily="34" charset="-122"/>
                            <a:ea typeface="微软雅黑" panose="020B0503020204020204" pitchFamily="34" charset="-122"/>
                          </a:rPr>
                          <m:t>𝑥</m:t>
                        </m:r>
                      </m:e>
                    </m:acc>
                  </m:oMath>
                </a14:m>
                <a:r>
                  <a:rPr lang="zh-CN" altLang="zh-CN" dirty="0">
                    <a:latin typeface="微软雅黑" panose="020B0503020204020204" pitchFamily="34" charset="-122"/>
                    <a:ea typeface="微软雅黑" panose="020B0503020204020204" pitchFamily="34" charset="-122"/>
                  </a:rPr>
                  <a:t>进行线性回归</a:t>
                </a:r>
                <a:r>
                  <a:rPr lang="zh-CN" altLang="en-US" dirty="0">
                    <a:latin typeface="微软雅黑" panose="020B0503020204020204" pitchFamily="34" charset="-122"/>
                    <a:ea typeface="微软雅黑" panose="020B0503020204020204" pitchFamily="34" charset="-122"/>
                  </a:rPr>
                  <a:t>，并采用最小二乘法使得误差项</a:t>
                </a:r>
                <a14:m>
                  <m:oMath xmlns:m="http://schemas.openxmlformats.org/officeDocument/2006/math">
                    <m:r>
                      <a:rPr lang="zh-CN" altLang="en-US" i="1" smtClean="0">
                        <a:latin typeface="Cambria Math" panose="02040503050406030204" pitchFamily="18" charset="0"/>
                        <a:ea typeface="微软雅黑" panose="020B0503020204020204" pitchFamily="34" charset="-122"/>
                      </a:rPr>
                      <m:t>𝜀</m:t>
                    </m:r>
                  </m:oMath>
                </a14:m>
                <a:r>
                  <a:rPr lang="zh-CN" altLang="en-US" dirty="0">
                    <a:latin typeface="微软雅黑" panose="020B0503020204020204" pitchFamily="34" charset="-122"/>
                    <a:ea typeface="微软雅黑" panose="020B0503020204020204" pitchFamily="34" charset="-122"/>
                  </a:rPr>
                  <a:t>最小</a:t>
                </a:r>
                <a:endParaRPr lang="zh-CN" altLang="en-US" dirty="0">
                  <a:latin typeface="微软雅黑" panose="020B0503020204020204" pitchFamily="34" charset="-122"/>
                  <a:ea typeface="微软雅黑" panose="020B0503020204020204" pitchFamily="34" charset="-122"/>
                </a:endParaRPr>
              </a:p>
            </p:txBody>
          </p:sp>
        </mc:Choice>
        <mc:Fallback>
          <p:sp>
            <p:nvSpPr>
              <p:cNvPr id="14" name="矩形 13"/>
              <p:cNvSpPr>
                <a:spLocks noRot="1" noChangeAspect="1" noMove="1" noResize="1" noEditPoints="1" noAdjustHandles="1" noChangeArrowheads="1" noChangeShapeType="1" noTextEdit="1"/>
              </p:cNvSpPr>
              <p:nvPr/>
            </p:nvSpPr>
            <p:spPr>
              <a:xfrm>
                <a:off x="1819298" y="4679383"/>
                <a:ext cx="8877002" cy="469265"/>
              </a:xfrm>
              <a:prstGeom prst="rect">
                <a:avLst/>
              </a:prstGeom>
              <a:blipFill rotWithShape="1">
                <a:blip r:embed="rId3"/>
                <a:stretch>
                  <a:fillRect t="-14" r="4"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矩形 27"/>
              <p:cNvSpPr/>
              <p:nvPr/>
            </p:nvSpPr>
            <p:spPr>
              <a:xfrm>
                <a:off x="4750229" y="5123219"/>
                <a:ext cx="1997855"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en-US">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𝑘</m:t>
                          </m:r>
                        </m:e>
                        <m:sub>
                          <m:r>
                            <a:rPr lang="zh-CN" altLang="en-US" i="1">
                              <a:latin typeface="Cambria Math" panose="02040503050406030204" pitchFamily="18" charset="0"/>
                            </a:rPr>
                            <m:t>𝑖</m:t>
                          </m:r>
                        </m:sub>
                      </m:sSub>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𝑥</m:t>
                          </m:r>
                        </m:e>
                      </m:acc>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𝑏</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𝜀</m:t>
                          </m:r>
                        </m:e>
                        <m:sub>
                          <m:r>
                            <a:rPr lang="zh-CN" altLang="en-US" i="1">
                              <a:latin typeface="Cambria Math" panose="02040503050406030204" pitchFamily="18" charset="0"/>
                            </a:rPr>
                            <m:t>𝑖</m:t>
                          </m:r>
                        </m:sub>
                      </m:sSub>
                    </m:oMath>
                  </m:oMathPara>
                </a14:m>
                <a:endParaRPr lang="zh-CN" altLang="en-US" dirty="0"/>
              </a:p>
            </p:txBody>
          </p:sp>
        </mc:Choice>
        <mc:Fallback>
          <p:sp>
            <p:nvSpPr>
              <p:cNvPr id="28" name="矩形 27"/>
              <p:cNvSpPr>
                <a:spLocks noRot="1" noChangeAspect="1" noMove="1" noResize="1" noEditPoints="1" noAdjustHandles="1" noChangeArrowheads="1" noChangeShapeType="1" noTextEdit="1"/>
              </p:cNvSpPr>
              <p:nvPr/>
            </p:nvSpPr>
            <p:spPr>
              <a:xfrm>
                <a:off x="4750229" y="5123219"/>
                <a:ext cx="1997855" cy="369332"/>
              </a:xfrm>
              <a:prstGeom prst="rect">
                <a:avLst/>
              </a:prstGeom>
              <a:blipFill rotWithShape="1">
                <a:blip r:embed="rId4"/>
                <a:stretch>
                  <a:fillRect l="-21" t="-11" r="29" b="1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矩形 28"/>
              <p:cNvSpPr/>
              <p:nvPr/>
            </p:nvSpPr>
            <p:spPr>
              <a:xfrm>
                <a:off x="1819298" y="5523876"/>
                <a:ext cx="8877002" cy="469265"/>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c) </a:t>
                </a:r>
                <a:r>
                  <a:rPr lang="zh-CN" altLang="zh-CN" dirty="0">
                    <a:latin typeface="微软雅黑" panose="020B0503020204020204" pitchFamily="34" charset="-122"/>
                    <a:ea typeface="微软雅黑" panose="020B0503020204020204" pitchFamily="34" charset="-122"/>
                  </a:rPr>
                  <a:t>基于得到的系数</a:t>
                </a:r>
                <a14:m>
                  <m:oMath xmlns:m="http://schemas.openxmlformats.org/officeDocument/2006/math">
                    <m:sSub>
                      <m:sSubPr>
                        <m:ctrlPr>
                          <a:rPr lang="zh-CN" altLang="zh-CN">
                            <a:latin typeface="微软雅黑" panose="020B0503020204020204" pitchFamily="34" charset="-122"/>
                            <a:ea typeface="微软雅黑" panose="020B0503020204020204" pitchFamily="34" charset="-122"/>
                          </a:rPr>
                        </m:ctrlPr>
                      </m:sSubPr>
                      <m:e>
                        <m:r>
                          <a:rPr lang="en-US" altLang="zh-CN">
                            <a:latin typeface="微软雅黑" panose="020B0503020204020204" pitchFamily="34" charset="-122"/>
                            <a:ea typeface="微软雅黑" panose="020B0503020204020204" pitchFamily="34" charset="-122"/>
                          </a:rPr>
                          <m:t>𝑘</m:t>
                        </m:r>
                      </m:e>
                      <m:sub>
                        <m:r>
                          <a:rPr lang="en-US" altLang="zh-CN">
                            <a:latin typeface="微软雅黑" panose="020B0503020204020204" pitchFamily="34" charset="-122"/>
                            <a:ea typeface="微软雅黑" panose="020B0503020204020204" pitchFamily="34" charset="-122"/>
                          </a:rPr>
                          <m:t>𝑖</m:t>
                        </m:r>
                      </m:sub>
                    </m:sSub>
                  </m:oMath>
                </a14:m>
                <a:r>
                  <a:rPr lang="zh-CN" altLang="zh-CN" dirty="0">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a:latin typeface="微软雅黑" panose="020B0503020204020204" pitchFamily="34" charset="-122"/>
                            <a:ea typeface="微软雅黑" panose="020B0503020204020204" pitchFamily="34" charset="-122"/>
                          </a:rPr>
                        </m:ctrlPr>
                      </m:sSubPr>
                      <m:e>
                        <m:r>
                          <a:rPr lang="en-US" altLang="zh-CN">
                            <a:latin typeface="微软雅黑" panose="020B0503020204020204" pitchFamily="34" charset="-122"/>
                            <a:ea typeface="微软雅黑" panose="020B0503020204020204" pitchFamily="34" charset="-122"/>
                          </a:rPr>
                          <m:t>𝑏</m:t>
                        </m:r>
                      </m:e>
                      <m:sub>
                        <m:r>
                          <a:rPr lang="en-US" altLang="zh-CN">
                            <a:latin typeface="微软雅黑" panose="020B0503020204020204" pitchFamily="34" charset="-122"/>
                            <a:ea typeface="微软雅黑" panose="020B0503020204020204" pitchFamily="34" charset="-122"/>
                          </a:rPr>
                          <m:t>𝑖</m:t>
                        </m:r>
                      </m:sub>
                    </m:sSub>
                  </m:oMath>
                </a14:m>
                <a:r>
                  <a:rPr lang="zh-CN" altLang="zh-CN" dirty="0">
                    <a:latin typeface="微软雅黑" panose="020B0503020204020204" pitchFamily="34" charset="-122"/>
                    <a:ea typeface="微软雅黑" panose="020B0503020204020204" pitchFamily="34" charset="-122"/>
                  </a:rPr>
                  <a:t>，通过以下公式可对每条原始光谱进行散射校正</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mc:Choice>
        <mc:Fallback>
          <p:sp>
            <p:nvSpPr>
              <p:cNvPr id="29" name="矩形 28"/>
              <p:cNvSpPr>
                <a:spLocks noRot="1" noChangeAspect="1" noMove="1" noResize="1" noEditPoints="1" noAdjustHandles="1" noChangeArrowheads="1" noChangeShapeType="1" noTextEdit="1"/>
              </p:cNvSpPr>
              <p:nvPr/>
            </p:nvSpPr>
            <p:spPr>
              <a:xfrm>
                <a:off x="1819298" y="5523876"/>
                <a:ext cx="8877002" cy="469265"/>
              </a:xfrm>
              <a:prstGeom prst="rect">
                <a:avLst/>
              </a:prstGeom>
              <a:blipFill rotWithShape="1">
                <a:blip r:embed="rId5"/>
                <a:stretch>
                  <a:fillRect t="-2" r="4" b="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矩形 29"/>
              <p:cNvSpPr/>
              <p:nvPr/>
            </p:nvSpPr>
            <p:spPr>
              <a:xfrm>
                <a:off x="4845063" y="5892837"/>
                <a:ext cx="1903021" cy="66511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en-US">
                              <a:latin typeface="Cambria Math" panose="02040503050406030204" pitchFamily="18" charset="0"/>
                            </a:rPr>
                          </m:ctrlPr>
                        </m:sSubPr>
                        <m:e>
                          <m:r>
                            <a:rPr lang="zh-CN" altLang="en-US" i="1">
                              <a:latin typeface="Cambria Math" panose="02040503050406030204" pitchFamily="18" charset="0"/>
                            </a:rPr>
                            <m:t>𝑥</m:t>
                          </m:r>
                        </m:e>
                        <m:sub>
                          <m:d>
                            <m:dPr>
                              <m:begChr m:val=""/>
                              <m:ctrlPr>
                                <a:rPr lang="zh-CN" altLang="en-US" i="1">
                                  <a:latin typeface="Cambria Math" panose="02040503050406030204" pitchFamily="18" charset="0"/>
                                </a:rPr>
                              </m:ctrlPr>
                            </m:dPr>
                            <m:e>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1">
                                  <a:latin typeface="Cambria Math" panose="02040503050406030204" pitchFamily="18" charset="0"/>
                                </a:rPr>
                                <m:t>𝑀𝑆𝐶</m:t>
                              </m:r>
                            </m:e>
                          </m:d>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𝑏</m:t>
                              </m:r>
                            </m:e>
                            <m:sub>
                              <m:r>
                                <a:rPr lang="zh-CN" altLang="en-US" i="1">
                                  <a:latin typeface="Cambria Math" panose="02040503050406030204" pitchFamily="18" charset="0"/>
                                </a:rPr>
                                <m:t>𝑖</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𝑘</m:t>
                              </m:r>
                            </m:e>
                            <m:sub>
                              <m:r>
                                <a:rPr lang="zh-CN" altLang="en-US" i="1">
                                  <a:latin typeface="Cambria Math" panose="02040503050406030204" pitchFamily="18" charset="0"/>
                                </a:rPr>
                                <m:t>𝑖</m:t>
                              </m:r>
                            </m:sub>
                          </m:sSub>
                        </m:den>
                      </m:f>
                    </m:oMath>
                  </m:oMathPara>
                </a14:m>
                <a:endParaRPr lang="zh-CN" altLang="en-US" dirty="0"/>
              </a:p>
            </p:txBody>
          </p:sp>
        </mc:Choice>
        <mc:Fallback>
          <p:sp>
            <p:nvSpPr>
              <p:cNvPr id="30" name="矩形 29"/>
              <p:cNvSpPr>
                <a:spLocks noRot="1" noChangeAspect="1" noMove="1" noResize="1" noEditPoints="1" noAdjustHandles="1" noChangeArrowheads="1" noChangeShapeType="1" noTextEdit="1"/>
              </p:cNvSpPr>
              <p:nvPr/>
            </p:nvSpPr>
            <p:spPr>
              <a:xfrm>
                <a:off x="4845063" y="5892837"/>
                <a:ext cx="1903021" cy="665118"/>
              </a:xfrm>
              <a:prstGeom prst="rect">
                <a:avLst/>
              </a:prstGeom>
              <a:blipFill rotWithShape="1">
                <a:blip r:embed="rId6"/>
                <a:stretch>
                  <a:fillRect l="-1" t="-6" r="30" b="47"/>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34917"/>
            <a:ext cx="6690360" cy="612140"/>
          </a:xfrm>
        </p:spPr>
        <p:txBody>
          <a:bodyPr/>
          <a:lstStyle/>
          <a:p>
            <a:pPr algn="ctr"/>
            <a:r>
              <a:rPr lang="en-US" altLang="zh-CN" b="1" dirty="0">
                <a:solidFill>
                  <a:srgbClr val="002060"/>
                </a:solidFill>
              </a:rPr>
              <a:t>4.1.3 </a:t>
            </a:r>
            <a:r>
              <a:rPr lang="zh-CN" altLang="en-US" b="1" dirty="0">
                <a:solidFill>
                  <a:srgbClr val="002060"/>
                </a:solidFill>
              </a:rPr>
              <a:t>光谱的基本分析方法</a:t>
            </a:r>
            <a:endParaRPr lang="zh-CN" altLang="en-US" b="1" dirty="0">
              <a:solidFill>
                <a:srgbClr val="002060"/>
              </a:solidFill>
            </a:endParaRPr>
          </a:p>
        </p:txBody>
      </p:sp>
      <p:sp>
        <p:nvSpPr>
          <p:cNvPr id="16" name="内容占位符 3"/>
          <p:cNvSpPr txBox="1"/>
          <p:nvPr/>
        </p:nvSpPr>
        <p:spPr>
          <a:xfrm>
            <a:off x="-3938" y="13970"/>
            <a:ext cx="2689015"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章  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10" name="矩形 9"/>
          <p:cNvSpPr/>
          <p:nvPr/>
        </p:nvSpPr>
        <p:spPr>
          <a:xfrm>
            <a:off x="572100" y="1339483"/>
            <a:ext cx="10782300" cy="3612515"/>
          </a:xfrm>
          <a:prstGeom prst="rect">
            <a:avLst/>
          </a:prstGeom>
        </p:spPr>
        <p:txBody>
          <a:bodyPr wrap="square">
            <a:spAutoFit/>
          </a:bodyPr>
          <a:lstStyle/>
          <a:p>
            <a:pPr algn="just">
              <a:lnSpc>
                <a:spcPct val="125000"/>
              </a:lnSpc>
            </a:pPr>
            <a:r>
              <a:rPr lang="zh-CN" altLang="en-US"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5">
                    <a:lumMod val="75000"/>
                  </a:schemeClr>
                </a:solidFill>
                <a:latin typeface="微软雅黑" panose="020B0503020204020204" pitchFamily="34" charset="-122"/>
                <a:ea typeface="微软雅黑" panose="020B0503020204020204" pitchFamily="34" charset="-122"/>
              </a:rPr>
              <a:t>平滑去噪</a:t>
            </a:r>
            <a:endParaRPr lang="zh-CN" altLang="en-US" b="1" dirty="0">
              <a:solidFill>
                <a:schemeClr val="accent5">
                  <a:lumMod val="75000"/>
                </a:schemeClr>
              </a:solidFill>
              <a:latin typeface="微软雅黑" panose="020B0503020204020204" pitchFamily="34" charset="-122"/>
              <a:ea typeface="微软雅黑" panose="020B0503020204020204" pitchFamily="34" charset="-122"/>
            </a:endParaRPr>
          </a:p>
          <a:p>
            <a:pPr marL="861695" lvl="2" indent="-285750" algn="just" fontAlgn="auto">
              <a:lnSpc>
                <a:spcPct val="130000"/>
              </a:lnSpc>
              <a:spcBef>
                <a:spcPts val="300"/>
              </a:spcBef>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平滑去噪即数据滤波方法，有均值滤波、中值滤波、</a:t>
            </a:r>
            <a:r>
              <a:rPr lang="en-US" altLang="zh-CN" sz="1600" dirty="0" err="1">
                <a:latin typeface="微软雅黑" panose="020B0503020204020204" pitchFamily="34" charset="-122"/>
                <a:ea typeface="微软雅黑" panose="020B0503020204020204" pitchFamily="34" charset="-122"/>
              </a:rPr>
              <a:t>Savitzky-Golay</a:t>
            </a:r>
            <a:r>
              <a:rPr lang="zh-CN" altLang="en-US" sz="1600" dirty="0">
                <a:latin typeface="微软雅黑" panose="020B0503020204020204" pitchFamily="34" charset="-122"/>
                <a:ea typeface="微软雅黑" panose="020B0503020204020204" pitchFamily="34" charset="-122"/>
              </a:rPr>
              <a:t>滤波（</a:t>
            </a:r>
            <a:r>
              <a:rPr lang="en-US" altLang="zh-CN" sz="1600" dirty="0">
                <a:latin typeface="微软雅黑" panose="020B0503020204020204" pitchFamily="34" charset="-122"/>
                <a:ea typeface="微软雅黑" panose="020B0503020204020204" pitchFamily="34" charset="-122"/>
              </a:rPr>
              <a:t>SG</a:t>
            </a:r>
            <a:r>
              <a:rPr lang="zh-CN" altLang="en-US" sz="1600" dirty="0">
                <a:latin typeface="微软雅黑" panose="020B0503020204020204" pitchFamily="34" charset="-122"/>
                <a:ea typeface="微软雅黑" panose="020B0503020204020204" pitchFamily="34" charset="-122"/>
              </a:rPr>
              <a:t>平滑）等；</a:t>
            </a:r>
            <a:endParaRPr lang="en-US" altLang="zh-CN" sz="1600" dirty="0">
              <a:latin typeface="微软雅黑" panose="020B0503020204020204" pitchFamily="34" charset="-122"/>
              <a:ea typeface="微软雅黑" panose="020B0503020204020204" pitchFamily="34" charset="-122"/>
            </a:endParaRPr>
          </a:p>
          <a:p>
            <a:pPr marL="861695" lvl="2" indent="-285750" algn="just" fontAlgn="auto">
              <a:lnSpc>
                <a:spcPct val="130000"/>
              </a:lnSpc>
              <a:spcBef>
                <a:spcPts val="300"/>
              </a:spcBef>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其中，</a:t>
            </a:r>
            <a:r>
              <a:rPr lang="en-US" altLang="zh-CN" sz="1600" dirty="0">
                <a:latin typeface="微软雅黑" panose="020B0503020204020204" pitchFamily="34" charset="-122"/>
                <a:ea typeface="微软雅黑" panose="020B0503020204020204" pitchFamily="34" charset="-122"/>
              </a:rPr>
              <a:t>SG</a:t>
            </a:r>
            <a:r>
              <a:rPr lang="zh-CN" altLang="en-US" sz="1600" dirty="0">
                <a:latin typeface="微软雅黑" panose="020B0503020204020204" pitchFamily="34" charset="-122"/>
                <a:ea typeface="微软雅黑" panose="020B0503020204020204" pitchFamily="34" charset="-122"/>
              </a:rPr>
              <a:t>滤波能有效降低噪声干扰平滑光谱曲线，且</a:t>
            </a:r>
            <a:r>
              <a:rPr lang="zh-CN" altLang="en-US" sz="1600" dirty="0">
                <a:solidFill>
                  <a:srgbClr val="C00000"/>
                </a:solidFill>
                <a:latin typeface="微软雅黑" panose="020B0503020204020204" pitchFamily="34" charset="-122"/>
                <a:ea typeface="微软雅黑" panose="020B0503020204020204" pitchFamily="34" charset="-122"/>
              </a:rPr>
              <a:t>不改变光谱的形状、吸收峰位置以及半宽峰</a:t>
            </a:r>
            <a:r>
              <a:rPr lang="zh-CN" altLang="en-US" sz="1600" dirty="0">
                <a:latin typeface="微软雅黑" panose="020B0503020204020204" pitchFamily="34" charset="-122"/>
                <a:ea typeface="微软雅黑" panose="020B0503020204020204" pitchFamily="34" charset="-122"/>
              </a:rPr>
              <a:t>，因此被广泛运用于平滑除噪。</a:t>
            </a:r>
            <a:r>
              <a:rPr lang="en-US" altLang="zh-CN" sz="1600" dirty="0">
                <a:latin typeface="微软雅黑" panose="020B0503020204020204" pitchFamily="34" charset="-122"/>
                <a:ea typeface="微软雅黑" panose="020B0503020204020204" pitchFamily="34" charset="-122"/>
              </a:rPr>
              <a:t>SG</a:t>
            </a:r>
            <a:r>
              <a:rPr lang="zh-CN" altLang="en-US" sz="1600" dirty="0">
                <a:latin typeface="微软雅黑" panose="020B0503020204020204" pitchFamily="34" charset="-122"/>
                <a:ea typeface="微软雅黑" panose="020B0503020204020204" pitchFamily="34" charset="-122"/>
              </a:rPr>
              <a:t>滤波算法的基本思路是对原始光谱的滤波窗口内的数据进行加权滤波，加权权重是对给定的高阶多项式进行最小二乘拟合得到的。</a:t>
            </a:r>
            <a:endParaRPr lang="en-US" altLang="zh-CN" sz="1600" dirty="0">
              <a:latin typeface="微软雅黑" panose="020B0503020204020204" pitchFamily="34" charset="-122"/>
              <a:ea typeface="微软雅黑" panose="020B0503020204020204" pitchFamily="34" charset="-122"/>
            </a:endParaRPr>
          </a:p>
          <a:p>
            <a:pPr marL="0" lvl="1" indent="0" algn="just" fontAlgn="auto">
              <a:lnSpc>
                <a:spcPct val="125000"/>
              </a:lnSpc>
              <a:spcBef>
                <a:spcPts val="900"/>
              </a:spcBef>
            </a:pPr>
            <a:r>
              <a:rPr lang="zh-CN" altLang="en-US"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）尺度缩放</a:t>
            </a:r>
            <a:endParaRPr lang="en-US" altLang="zh-CN"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861695" lvl="2" indent="-285750" algn="just" fontAlgn="auto">
              <a:lnSpc>
                <a:spcPct val="130000"/>
              </a:lnSpc>
              <a:spcBef>
                <a:spcPts val="300"/>
              </a:spcBef>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对光谱数据进行尺度缩放可以</a:t>
            </a:r>
            <a:r>
              <a:rPr lang="zh-CN" altLang="en-US" sz="1600" dirty="0">
                <a:solidFill>
                  <a:srgbClr val="C00000"/>
                </a:solidFill>
                <a:latin typeface="微软雅黑" panose="020B0503020204020204" pitchFamily="34" charset="-122"/>
                <a:ea typeface="微软雅黑" panose="020B0503020204020204" pitchFamily="34" charset="-122"/>
              </a:rPr>
              <a:t>弥补由于光谱强度（吸收强度、荧光强度）差异带来的影响</a:t>
            </a:r>
            <a:r>
              <a:rPr lang="zh-CN" altLang="en-US" sz="1600" dirty="0">
                <a:latin typeface="微软雅黑" panose="020B0503020204020204" pitchFamily="34" charset="-122"/>
                <a:ea typeface="微软雅黑" panose="020B0503020204020204" pitchFamily="34" charset="-122"/>
              </a:rPr>
              <a:t>，即消除光谱数据大小的影响，突出不同样本之间光谱形状的差异，使得光谱具有可比性；</a:t>
            </a:r>
            <a:endParaRPr lang="en-US" altLang="zh-CN" sz="1600" dirty="0">
              <a:latin typeface="微软雅黑" panose="020B0503020204020204" pitchFamily="34" charset="-122"/>
              <a:ea typeface="微软雅黑" panose="020B0503020204020204" pitchFamily="34" charset="-122"/>
            </a:endParaRPr>
          </a:p>
          <a:p>
            <a:pPr marL="861695" lvl="2" indent="-285750" algn="just" fontAlgn="auto">
              <a:lnSpc>
                <a:spcPct val="130000"/>
              </a:lnSpc>
              <a:spcBef>
                <a:spcPts val="300"/>
              </a:spcBef>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常用的方法有尺度缩放有归一化（</a:t>
            </a:r>
            <a:r>
              <a:rPr lang="en-US" altLang="zh-CN" sz="1600" dirty="0">
                <a:latin typeface="微软雅黑" panose="020B0503020204020204" pitchFamily="34" charset="-122"/>
                <a:ea typeface="微软雅黑" panose="020B0503020204020204" pitchFamily="34" charset="-122"/>
              </a:rPr>
              <a:t>Normalization</a:t>
            </a:r>
            <a:r>
              <a:rPr lang="zh-CN" altLang="en-US" sz="1600" dirty="0">
                <a:latin typeface="微软雅黑" panose="020B0503020204020204" pitchFamily="34" charset="-122"/>
                <a:ea typeface="微软雅黑" panose="020B0503020204020204" pitchFamily="34" charset="-122"/>
              </a:rPr>
              <a:t>）、均值中心化（</a:t>
            </a:r>
            <a:r>
              <a:rPr lang="en-US" altLang="zh-CN" sz="1600" dirty="0">
                <a:latin typeface="微软雅黑" panose="020B0503020204020204" pitchFamily="34" charset="-122"/>
                <a:ea typeface="微软雅黑" panose="020B0503020204020204" pitchFamily="34" charset="-122"/>
              </a:rPr>
              <a:t>Mean Centering</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z-Score</a:t>
            </a:r>
            <a:r>
              <a:rPr lang="zh-CN" altLang="en-US" sz="1600" dirty="0">
                <a:latin typeface="微软雅黑" panose="020B0503020204020204" pitchFamily="34" charset="-122"/>
                <a:ea typeface="微软雅黑" panose="020B0503020204020204" pitchFamily="34" charset="-122"/>
              </a:rPr>
              <a:t>标准化（</a:t>
            </a:r>
            <a:r>
              <a:rPr lang="en-US" altLang="zh-CN" sz="1600" dirty="0">
                <a:latin typeface="微软雅黑" panose="020B0503020204020204" pitchFamily="34" charset="-122"/>
                <a:ea typeface="微软雅黑" panose="020B0503020204020204" pitchFamily="34" charset="-122"/>
              </a:rPr>
              <a:t>Autoscaling</a:t>
            </a:r>
            <a:r>
              <a:rPr lang="zh-CN" altLang="en-US" sz="1600" dirty="0">
                <a:latin typeface="微软雅黑" panose="020B0503020204020204" pitchFamily="34" charset="-122"/>
                <a:ea typeface="微软雅黑" panose="020B0503020204020204" pitchFamily="34" charset="-122"/>
              </a:rPr>
              <a:t>）等。</a:t>
            </a:r>
            <a:endParaRPr lang="en-US" altLang="zh-CN" sz="1600"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dirty="0"/>
          </a:p>
        </p:txBody>
      </p:sp>
      <p:sp>
        <p:nvSpPr>
          <p:cNvPr id="3" name="矩形 2"/>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4.1  </a:t>
            </a:r>
            <a:r>
              <a:rPr lang="zh-CN" altLang="en-US" sz="1600" dirty="0">
                <a:solidFill>
                  <a:srgbClr val="002060"/>
                </a:solidFill>
                <a:latin typeface="微软雅黑" panose="020B0503020204020204" pitchFamily="34" charset="-122"/>
                <a:ea typeface="微软雅黑" panose="020B0503020204020204" pitchFamily="34" charset="-122"/>
              </a:rPr>
              <a:t>光谱技术概述</a:t>
            </a:r>
            <a:endParaRPr lang="zh-CN" altLang="en-US" sz="1600" dirty="0">
              <a:solidFill>
                <a:srgbClr val="002060"/>
              </a:solidFill>
            </a:endParaRPr>
          </a:p>
        </p:txBody>
      </p:sp>
      <p:sp>
        <p:nvSpPr>
          <p:cNvPr id="7" name="矩形 6"/>
          <p:cNvSpPr/>
          <p:nvPr/>
        </p:nvSpPr>
        <p:spPr>
          <a:xfrm>
            <a:off x="622265" y="4980189"/>
            <a:ext cx="10646410" cy="1449070"/>
          </a:xfrm>
          <a:prstGeom prst="rect">
            <a:avLst/>
          </a:prstGeom>
        </p:spPr>
        <p:txBody>
          <a:bodyPr wrap="square">
            <a:spAutoFit/>
          </a:bodyPr>
          <a:lstStyle/>
          <a:p>
            <a:pPr>
              <a:lnSpc>
                <a:spcPct val="125000"/>
              </a:lnSpc>
            </a:pPr>
            <a:r>
              <a:rPr lang="zh-CN" altLang="en-US"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b="1" dirty="0">
                <a:solidFill>
                  <a:schemeClr val="accent5">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accent5">
                    <a:lumMod val="75000"/>
                  </a:schemeClr>
                </a:solidFill>
                <a:latin typeface="微软雅黑" panose="020B0503020204020204" pitchFamily="34" charset="-122"/>
                <a:ea typeface="微软雅黑" panose="020B0503020204020204" pitchFamily="34" charset="-122"/>
              </a:rPr>
              <a:t>去卷积</a:t>
            </a:r>
            <a:endParaRPr lang="en-US" altLang="zh-CN" b="1" dirty="0">
              <a:solidFill>
                <a:schemeClr val="accent5">
                  <a:lumMod val="75000"/>
                </a:schemeClr>
              </a:solidFill>
              <a:latin typeface="微软雅黑" panose="020B0503020204020204" pitchFamily="34" charset="-122"/>
              <a:ea typeface="微软雅黑" panose="020B0503020204020204" pitchFamily="34" charset="-122"/>
            </a:endParaRPr>
          </a:p>
          <a:p>
            <a:pPr marL="575945" lvl="2" indent="0" fontAlgn="auto">
              <a:lnSpc>
                <a:spcPct val="130000"/>
              </a:lnSpc>
              <a:spcBef>
                <a:spcPts val="500"/>
              </a:spcBef>
            </a:pPr>
            <a:r>
              <a:rPr lang="zh-CN" altLang="en-US" sz="1600" dirty="0">
                <a:latin typeface="微软雅黑" panose="020B0503020204020204" pitchFamily="34" charset="-122"/>
                <a:ea typeface="微软雅黑" panose="020B0503020204020204" pitchFamily="34" charset="-122"/>
              </a:rPr>
              <a:t>由于光谱仪实际测得的光谱数据是理想的光谱与各种噪声的卷积，为了得到较为理想的真实光谱数据，需要对测得的光谱数据进行去卷积运算，</a:t>
            </a:r>
            <a:r>
              <a:rPr lang="zh-CN" altLang="en-US" sz="1600" dirty="0">
                <a:solidFill>
                  <a:srgbClr val="C00000"/>
                </a:solidFill>
                <a:latin typeface="微软雅黑" panose="020B0503020204020204" pitchFamily="34" charset="-122"/>
                <a:ea typeface="微软雅黑" panose="020B0503020204020204" pitchFamily="34" charset="-122"/>
              </a:rPr>
              <a:t>消除频谱展宽效应，</a:t>
            </a:r>
            <a:r>
              <a:rPr lang="zh-CN" altLang="en-US" sz="1600" dirty="0">
                <a:latin typeface="微软雅黑" panose="020B0503020204020204" pitchFamily="34" charset="-122"/>
                <a:ea typeface="微软雅黑" panose="020B0503020204020204" pitchFamily="34" charset="-122"/>
                <a:sym typeface="+mn-ea"/>
              </a:rPr>
              <a:t>提高光谱分辨率</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575945" lvl="2">
              <a:lnSpc>
                <a:spcPct val="125000"/>
              </a:lnSpc>
            </a:pPr>
            <a:endParaRPr lang="en-US" altLang="zh-CN"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34917"/>
            <a:ext cx="6690360" cy="612140"/>
          </a:xfrm>
        </p:spPr>
        <p:txBody>
          <a:bodyPr/>
          <a:lstStyle/>
          <a:p>
            <a:pPr algn="ctr"/>
            <a:r>
              <a:rPr lang="en-US" altLang="zh-CN" b="1" dirty="0">
                <a:solidFill>
                  <a:srgbClr val="002060"/>
                </a:solidFill>
              </a:rPr>
              <a:t>4.1.3 </a:t>
            </a:r>
            <a:r>
              <a:rPr lang="zh-CN" altLang="en-US" b="1" dirty="0">
                <a:solidFill>
                  <a:srgbClr val="002060"/>
                </a:solidFill>
              </a:rPr>
              <a:t>光谱的基本分析方法</a:t>
            </a:r>
            <a:endParaRPr lang="zh-CN" altLang="en-US" b="1" dirty="0">
              <a:solidFill>
                <a:srgbClr val="002060"/>
              </a:solidFill>
            </a:endParaRPr>
          </a:p>
        </p:txBody>
      </p:sp>
      <p:sp>
        <p:nvSpPr>
          <p:cNvPr id="16" name="内容占位符 3"/>
          <p:cNvSpPr txBox="1"/>
          <p:nvPr/>
        </p:nvSpPr>
        <p:spPr>
          <a:xfrm>
            <a:off x="-3938" y="13970"/>
            <a:ext cx="2689015"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章  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11" name="矩形 10"/>
          <p:cNvSpPr/>
          <p:nvPr/>
        </p:nvSpPr>
        <p:spPr>
          <a:xfrm>
            <a:off x="914472" y="1360229"/>
            <a:ext cx="1600200" cy="368300"/>
          </a:xfrm>
          <a:prstGeom prst="rect">
            <a:avLst/>
          </a:prstGeom>
        </p:spPr>
        <p:txBody>
          <a:bodyPr wrap="none">
            <a:spAutoFit/>
          </a:bodyPr>
          <a:lstStyle/>
          <a:p>
            <a:r>
              <a:rPr lang="en-US" altLang="zh-CN" b="1" dirty="0">
                <a:solidFill>
                  <a:srgbClr val="002060"/>
                </a:solidFill>
                <a:latin typeface="微软雅黑" panose="020B0503020204020204" pitchFamily="34" charset="-122"/>
                <a:ea typeface="微软雅黑" panose="020B0503020204020204" pitchFamily="34" charset="-122"/>
              </a:rPr>
              <a:t>2. </a:t>
            </a:r>
            <a:r>
              <a:rPr lang="zh-CN" altLang="en-US" b="1" dirty="0">
                <a:solidFill>
                  <a:srgbClr val="002060"/>
                </a:solidFill>
                <a:ea typeface="微软雅黑" panose="020B0503020204020204" pitchFamily="34" charset="-122"/>
              </a:rPr>
              <a:t>光谱的降维</a:t>
            </a:r>
            <a:endParaRPr lang="zh-CN" altLang="en-US" b="1" dirty="0">
              <a:solidFill>
                <a:srgbClr val="002060"/>
              </a:solidFill>
              <a:ea typeface="微软雅黑" panose="020B0503020204020204" pitchFamily="34" charset="-122"/>
            </a:endParaRPr>
          </a:p>
        </p:txBody>
      </p:sp>
      <p:sp>
        <p:nvSpPr>
          <p:cNvPr id="8" name="矩形 7"/>
          <p:cNvSpPr/>
          <p:nvPr/>
        </p:nvSpPr>
        <p:spPr>
          <a:xfrm>
            <a:off x="760120" y="1738998"/>
            <a:ext cx="10825430" cy="212090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通常情况下，光谱数据量较大，并包含较多的冗余信息，因此光谱数据预处理后要进行</a:t>
            </a: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降维或特征提取</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rPr>
              <a:t>特征提取的方法分为</a:t>
            </a:r>
            <a:r>
              <a:rPr lang="zh-CN" altLang="en-US" dirty="0">
                <a:solidFill>
                  <a:srgbClr val="2E75B6"/>
                </a:solidFill>
                <a:latin typeface="Times New Roman" panose="02020603050405020304" pitchFamily="18" charset="0"/>
                <a:ea typeface="微软雅黑" panose="020B0503020204020204" pitchFamily="34" charset="-122"/>
              </a:rPr>
              <a:t>线性</a:t>
            </a:r>
            <a:r>
              <a:rPr lang="zh-CN" altLang="en-US" dirty="0">
                <a:latin typeface="Times New Roman" panose="02020603050405020304" pitchFamily="18" charset="0"/>
                <a:ea typeface="微软雅黑" panose="020B0503020204020204" pitchFamily="34" charset="-122"/>
              </a:rPr>
              <a:t>和</a:t>
            </a:r>
            <a:r>
              <a:rPr lang="zh-CN" altLang="en-US" dirty="0">
                <a:solidFill>
                  <a:srgbClr val="2E75B6"/>
                </a:solidFill>
                <a:latin typeface="Times New Roman" panose="02020603050405020304" pitchFamily="18" charset="0"/>
                <a:ea typeface="微软雅黑" panose="020B0503020204020204" pitchFamily="34" charset="-122"/>
              </a:rPr>
              <a:t>非线性</a:t>
            </a:r>
            <a:r>
              <a:rPr lang="zh-CN" altLang="en-US" dirty="0">
                <a:latin typeface="Times New Roman" panose="02020603050405020304" pitchFamily="18" charset="0"/>
                <a:ea typeface="微软雅黑" panose="020B0503020204020204" pitchFamily="34" charset="-122"/>
              </a:rPr>
              <a:t>方法：</a:t>
            </a:r>
            <a:r>
              <a:rPr lang="zh-CN" altLang="en-US" dirty="0">
                <a:solidFill>
                  <a:srgbClr val="2E75B6"/>
                </a:solidFill>
                <a:latin typeface="Times New Roman" panose="02020603050405020304" pitchFamily="18" charset="0"/>
                <a:ea typeface="微软雅黑" panose="020B0503020204020204" pitchFamily="34" charset="-122"/>
              </a:rPr>
              <a:t>线性方法</a:t>
            </a:r>
            <a:r>
              <a:rPr lang="zh-CN" altLang="en-US" dirty="0">
                <a:latin typeface="Times New Roman" panose="02020603050405020304" pitchFamily="18" charset="0"/>
                <a:ea typeface="微软雅黑" panose="020B0503020204020204" pitchFamily="34" charset="-122"/>
              </a:rPr>
              <a:t>有主成分分析（</a:t>
            </a:r>
            <a:r>
              <a:rPr lang="en-US" altLang="zh-CN" dirty="0">
                <a:latin typeface="Times New Roman" panose="02020603050405020304" pitchFamily="18" charset="0"/>
                <a:ea typeface="微软雅黑" panose="020B0503020204020204" pitchFamily="34" charset="-122"/>
              </a:rPr>
              <a:t>Principal Component Analysis</a:t>
            </a:r>
            <a:r>
              <a:rPr lang="zh-CN" altLang="en-US" dirty="0">
                <a:latin typeface="Times New Roman" panose="02020603050405020304" pitchFamily="18" charset="0"/>
                <a:ea typeface="微软雅黑" panose="020B0503020204020204" pitchFamily="34" charset="-122"/>
              </a:rPr>
              <a:t>，</a:t>
            </a:r>
            <a:r>
              <a:rPr lang="en-US" altLang="zh-CN" dirty="0">
                <a:latin typeface="Times New Roman" panose="02020603050405020304" pitchFamily="18" charset="0"/>
                <a:ea typeface="微软雅黑" panose="020B0503020204020204" pitchFamily="34" charset="-122"/>
              </a:rPr>
              <a:t>PCA</a:t>
            </a:r>
            <a:r>
              <a:rPr lang="zh-CN" altLang="en-US" dirty="0">
                <a:latin typeface="Times New Roman" panose="02020603050405020304" pitchFamily="18" charset="0"/>
                <a:ea typeface="微软雅黑" panose="020B0503020204020204" pitchFamily="34" charset="-122"/>
              </a:rPr>
              <a:t>）、独立成分分析（</a:t>
            </a:r>
            <a:r>
              <a:rPr lang="en-US" altLang="zh-CN" dirty="0">
                <a:latin typeface="Times New Roman" panose="02020603050405020304" pitchFamily="18" charset="0"/>
                <a:ea typeface="微软雅黑" panose="020B0503020204020204" pitchFamily="34" charset="-122"/>
              </a:rPr>
              <a:t>Independent Component Analysis</a:t>
            </a:r>
            <a:r>
              <a:rPr lang="zh-CN" altLang="en-US" dirty="0">
                <a:latin typeface="Times New Roman" panose="02020603050405020304" pitchFamily="18" charset="0"/>
                <a:ea typeface="微软雅黑" panose="020B0503020204020204" pitchFamily="34" charset="-122"/>
              </a:rPr>
              <a:t>，</a:t>
            </a:r>
            <a:r>
              <a:rPr lang="en-US" altLang="zh-CN" dirty="0">
                <a:latin typeface="Times New Roman" panose="02020603050405020304" pitchFamily="18" charset="0"/>
                <a:ea typeface="微软雅黑" panose="020B0503020204020204" pitchFamily="34" charset="-122"/>
              </a:rPr>
              <a:t>ICA</a:t>
            </a:r>
            <a:r>
              <a:rPr lang="zh-CN" altLang="en-US" dirty="0">
                <a:latin typeface="Times New Roman" panose="02020603050405020304" pitchFamily="18" charset="0"/>
                <a:ea typeface="微软雅黑" panose="020B0503020204020204" pitchFamily="34" charset="-122"/>
              </a:rPr>
              <a:t>）和多维尺度变换（</a:t>
            </a:r>
            <a:r>
              <a:rPr lang="en-US" altLang="zh-CN" dirty="0">
                <a:latin typeface="Times New Roman" panose="02020603050405020304" pitchFamily="18" charset="0"/>
                <a:ea typeface="微软雅黑" panose="020B0503020204020204" pitchFamily="34" charset="-122"/>
              </a:rPr>
              <a:t>Multidimensional Scaling</a:t>
            </a:r>
            <a:r>
              <a:rPr lang="zh-CN" altLang="en-US" dirty="0">
                <a:latin typeface="Times New Roman" panose="02020603050405020304" pitchFamily="18" charset="0"/>
                <a:ea typeface="微软雅黑" panose="020B0503020204020204" pitchFamily="34" charset="-122"/>
              </a:rPr>
              <a:t>，</a:t>
            </a:r>
            <a:r>
              <a:rPr lang="en-US" altLang="zh-CN" dirty="0">
                <a:latin typeface="Times New Roman" panose="02020603050405020304" pitchFamily="18" charset="0"/>
                <a:ea typeface="微软雅黑" panose="020B0503020204020204" pitchFamily="34" charset="-122"/>
              </a:rPr>
              <a:t>MDS</a:t>
            </a:r>
            <a:r>
              <a:rPr lang="zh-CN" altLang="en-US" dirty="0">
                <a:latin typeface="Times New Roman" panose="02020603050405020304" pitchFamily="18" charset="0"/>
                <a:ea typeface="微软雅黑" panose="020B0503020204020204" pitchFamily="34" charset="-122"/>
              </a:rPr>
              <a:t>）等；</a:t>
            </a:r>
            <a:r>
              <a:rPr lang="zh-CN" altLang="en-US" dirty="0">
                <a:solidFill>
                  <a:srgbClr val="2E75B6"/>
                </a:solidFill>
                <a:latin typeface="Times New Roman" panose="02020603050405020304" pitchFamily="18" charset="0"/>
                <a:ea typeface="微软雅黑" panose="020B0503020204020204" pitchFamily="34" charset="-122"/>
              </a:rPr>
              <a:t>非线性方法</a:t>
            </a:r>
            <a:r>
              <a:rPr lang="zh-CN" altLang="en-US" dirty="0">
                <a:latin typeface="Times New Roman" panose="02020603050405020304" pitchFamily="18" charset="0"/>
                <a:ea typeface="微软雅黑" panose="020B0503020204020204" pitchFamily="34" charset="-122"/>
              </a:rPr>
              <a:t>有等距映射法（</a:t>
            </a:r>
            <a:r>
              <a:rPr lang="en-US" altLang="zh-CN" dirty="0">
                <a:latin typeface="Times New Roman" panose="02020603050405020304" pitchFamily="18" charset="0"/>
                <a:ea typeface="微软雅黑" panose="020B0503020204020204" pitchFamily="34" charset="-122"/>
              </a:rPr>
              <a:t>Isometric Mapping</a:t>
            </a:r>
            <a:r>
              <a:rPr lang="zh-CN" altLang="en-US" dirty="0">
                <a:latin typeface="Times New Roman" panose="02020603050405020304" pitchFamily="18" charset="0"/>
                <a:ea typeface="微软雅黑" panose="020B0503020204020204" pitchFamily="34" charset="-122"/>
              </a:rPr>
              <a:t>，</a:t>
            </a:r>
            <a:r>
              <a:rPr lang="en-US" altLang="zh-CN" dirty="0">
                <a:latin typeface="Times New Roman" panose="02020603050405020304" pitchFamily="18" charset="0"/>
                <a:ea typeface="微软雅黑" panose="020B0503020204020204" pitchFamily="34" charset="-122"/>
              </a:rPr>
              <a:t>ISOMAP</a:t>
            </a:r>
            <a:r>
              <a:rPr lang="zh-CN" altLang="en-US" dirty="0">
                <a:latin typeface="Times New Roman" panose="02020603050405020304" pitchFamily="18" charset="0"/>
                <a:ea typeface="微软雅黑" panose="020B0503020204020204" pitchFamily="34" charset="-122"/>
              </a:rPr>
              <a:t>）、局部线性嵌入法（</a:t>
            </a:r>
            <a:r>
              <a:rPr lang="en-US" altLang="zh-CN" dirty="0">
                <a:latin typeface="Times New Roman" panose="02020603050405020304" pitchFamily="18" charset="0"/>
                <a:ea typeface="微软雅黑" panose="020B0503020204020204" pitchFamily="34" charset="-122"/>
              </a:rPr>
              <a:t>Locally Linear Embedding</a:t>
            </a:r>
            <a:r>
              <a:rPr lang="zh-CN" altLang="en-US" dirty="0">
                <a:latin typeface="Times New Roman" panose="02020603050405020304" pitchFamily="18" charset="0"/>
                <a:ea typeface="微软雅黑" panose="020B0503020204020204" pitchFamily="34" charset="-122"/>
              </a:rPr>
              <a:t>，</a:t>
            </a:r>
            <a:r>
              <a:rPr lang="en-US" altLang="zh-CN" dirty="0">
                <a:latin typeface="Times New Roman" panose="02020603050405020304" pitchFamily="18" charset="0"/>
                <a:ea typeface="微软雅黑" panose="020B0503020204020204" pitchFamily="34" charset="-122"/>
              </a:rPr>
              <a:t>LLE</a:t>
            </a:r>
            <a:r>
              <a:rPr lang="zh-CN" altLang="en-US" dirty="0">
                <a:latin typeface="Times New Roman" panose="02020603050405020304" pitchFamily="18" charset="0"/>
                <a:ea typeface="微软雅黑" panose="020B0503020204020204" pitchFamily="34" charset="-122"/>
              </a:rPr>
              <a:t>）等。</a:t>
            </a:r>
            <a:endParaRPr lang="zh-CN" altLang="en-US" dirty="0">
              <a:latin typeface="Times New Roman" panose="02020603050405020304" pitchFamily="18" charset="0"/>
              <a:ea typeface="微软雅黑" panose="020B0503020204020204" pitchFamily="34" charset="-122"/>
            </a:endParaRPr>
          </a:p>
        </p:txBody>
      </p:sp>
      <p:sp>
        <p:nvSpPr>
          <p:cNvPr id="2" name="灯片编号占位符 1"/>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a:p>
        </p:txBody>
      </p:sp>
      <p:sp>
        <p:nvSpPr>
          <p:cNvPr id="10" name="矩形 9"/>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4.1  </a:t>
            </a:r>
            <a:r>
              <a:rPr lang="zh-CN" altLang="en-US" sz="1600" dirty="0">
                <a:solidFill>
                  <a:srgbClr val="002060"/>
                </a:solidFill>
                <a:latin typeface="微软雅黑" panose="020B0503020204020204" pitchFamily="34" charset="-122"/>
                <a:ea typeface="微软雅黑" panose="020B0503020204020204" pitchFamily="34" charset="-122"/>
              </a:rPr>
              <a:t>光谱技术概述</a:t>
            </a:r>
            <a:endParaRPr lang="zh-CN" altLang="en-US" sz="1600" dirty="0">
              <a:solidFill>
                <a:srgbClr val="002060"/>
              </a:solidFill>
            </a:endParaRPr>
          </a:p>
        </p:txBody>
      </p:sp>
      <p:graphicFrame>
        <p:nvGraphicFramePr>
          <p:cNvPr id="9" name="图示 8"/>
          <p:cNvGraphicFramePr/>
          <p:nvPr/>
        </p:nvGraphicFramePr>
        <p:xfrm>
          <a:off x="572770" y="3838575"/>
          <a:ext cx="6075045" cy="251777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2" name="图示 11"/>
          <p:cNvGraphicFramePr/>
          <p:nvPr/>
        </p:nvGraphicFramePr>
        <p:xfrm>
          <a:off x="6997677" y="4127987"/>
          <a:ext cx="4909686" cy="179954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34917"/>
            <a:ext cx="6690360" cy="612140"/>
          </a:xfrm>
        </p:spPr>
        <p:txBody>
          <a:bodyPr/>
          <a:lstStyle/>
          <a:p>
            <a:pPr algn="ctr"/>
            <a:r>
              <a:rPr lang="en-US" altLang="zh-CN" b="1" dirty="0">
                <a:solidFill>
                  <a:srgbClr val="002060"/>
                </a:solidFill>
              </a:rPr>
              <a:t>4.1.3 </a:t>
            </a:r>
            <a:r>
              <a:rPr lang="zh-CN" altLang="en-US" b="1" dirty="0">
                <a:solidFill>
                  <a:srgbClr val="002060"/>
                </a:solidFill>
              </a:rPr>
              <a:t>光谱的基本分析方法</a:t>
            </a:r>
            <a:endParaRPr lang="zh-CN" altLang="en-US" b="1" dirty="0">
              <a:solidFill>
                <a:srgbClr val="002060"/>
              </a:solidFill>
            </a:endParaRPr>
          </a:p>
        </p:txBody>
      </p:sp>
      <p:sp>
        <p:nvSpPr>
          <p:cNvPr id="16" name="内容占位符 3"/>
          <p:cNvSpPr txBox="1"/>
          <p:nvPr/>
        </p:nvSpPr>
        <p:spPr>
          <a:xfrm>
            <a:off x="-3938" y="13970"/>
            <a:ext cx="2689015"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章  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11" name="矩形 10"/>
          <p:cNvSpPr/>
          <p:nvPr/>
        </p:nvSpPr>
        <p:spPr>
          <a:xfrm>
            <a:off x="922727" y="1230054"/>
            <a:ext cx="1828800" cy="368300"/>
          </a:xfrm>
          <a:prstGeom prst="rect">
            <a:avLst/>
          </a:prstGeom>
        </p:spPr>
        <p:txBody>
          <a:bodyPr wrap="none">
            <a:spAutoFit/>
          </a:bodyPr>
          <a:lstStyle/>
          <a:p>
            <a:r>
              <a:rPr lang="en-US" altLang="zh-CN" b="1" dirty="0">
                <a:solidFill>
                  <a:srgbClr val="002060"/>
                </a:solidFill>
                <a:latin typeface="微软雅黑" panose="020B0503020204020204" pitchFamily="34" charset="-122"/>
                <a:ea typeface="微软雅黑" panose="020B0503020204020204" pitchFamily="34" charset="-122"/>
              </a:rPr>
              <a:t>3. </a:t>
            </a:r>
            <a:r>
              <a:rPr lang="zh-CN" altLang="en-US" b="1" dirty="0">
                <a:solidFill>
                  <a:srgbClr val="002060"/>
                </a:solidFill>
                <a:ea typeface="微软雅黑" panose="020B0503020204020204" pitchFamily="34" charset="-122"/>
              </a:rPr>
              <a:t>化学计量学法</a:t>
            </a:r>
            <a:endParaRPr lang="zh-CN" altLang="en-US" b="1" dirty="0">
              <a:solidFill>
                <a:srgbClr val="002060"/>
              </a:solidFill>
              <a:ea typeface="微软雅黑" panose="020B0503020204020204" pitchFamily="34" charset="-122"/>
            </a:endParaRPr>
          </a:p>
        </p:txBody>
      </p:sp>
      <p:sp>
        <p:nvSpPr>
          <p:cNvPr id="8" name="矩形 7"/>
          <p:cNvSpPr/>
          <p:nvPr/>
        </p:nvSpPr>
        <p:spPr>
          <a:xfrm>
            <a:off x="757396" y="1650330"/>
            <a:ext cx="10677208" cy="2462530"/>
          </a:xfrm>
          <a:prstGeom prst="rect">
            <a:avLst/>
          </a:prstGeom>
        </p:spPr>
        <p:txBody>
          <a:bodyPr wrap="square">
            <a:spAutoFit/>
          </a:bodyPr>
          <a:lstStyle/>
          <a:p>
            <a:pPr indent="457200" algn="just" fontAlgn="auto">
              <a:lnSpc>
                <a:spcPct val="135000"/>
              </a:lnSpc>
              <a:spcBef>
                <a:spcPts val="500"/>
              </a:spcBef>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化学计量学法是</a:t>
            </a:r>
            <a:r>
              <a:rPr lang="zh-CN" altLang="en-US" dirty="0">
                <a:solidFill>
                  <a:srgbClr val="2E75B6"/>
                </a:solidFill>
                <a:latin typeface="微软雅黑" panose="020B0503020204020204" pitchFamily="34" charset="-122"/>
                <a:ea typeface="微软雅黑" panose="020B0503020204020204" pitchFamily="34" charset="-122"/>
                <a:cs typeface="Times New Roman" panose="02020603050405020304" pitchFamily="18" charset="0"/>
              </a:rPr>
              <a:t>数学、统计学及计算机科学</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三者相互交叉形成的一种数据分析方法，它通过对测量数据的分析处理，最终获取物质组分、结构及其他相关信息。</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fontAlgn="auto">
              <a:lnSpc>
                <a:spcPct val="135000"/>
              </a:lnSpc>
              <a:spcBef>
                <a:spcPts val="500"/>
              </a:spcBef>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化学计量学方法不仅能够从复杂数据中最大可能地提取有用信息，而且能够建立不同变量之间的关系，被广泛地应用于样品的</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定性和定量分析</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中。</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fontAlgn="auto">
              <a:lnSpc>
                <a:spcPct val="135000"/>
              </a:lnSpc>
              <a:spcBef>
                <a:spcPts val="500"/>
              </a:spcBef>
            </a:pP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定性分析即建立识别方法</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，包括</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有监督模式识别</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方法，如：</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K</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最近邻法、支持向量机和</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Softmax</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分类器等；以及</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无监督模式识别</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方法，如：聚类分析法、无监督神经网络等。</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a:p>
        </p:txBody>
      </p:sp>
      <p:sp>
        <p:nvSpPr>
          <p:cNvPr id="10" name="矩形 9"/>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4.1  </a:t>
            </a:r>
            <a:r>
              <a:rPr lang="zh-CN" altLang="en-US" sz="1600" dirty="0">
                <a:solidFill>
                  <a:srgbClr val="002060"/>
                </a:solidFill>
                <a:latin typeface="微软雅黑" panose="020B0503020204020204" pitchFamily="34" charset="-122"/>
                <a:ea typeface="微软雅黑" panose="020B0503020204020204" pitchFamily="34" charset="-122"/>
              </a:rPr>
              <a:t>光谱技术概述</a:t>
            </a:r>
            <a:endParaRPr lang="zh-CN" altLang="en-US" sz="1600" dirty="0">
              <a:solidFill>
                <a:srgbClr val="002060"/>
              </a:solidFill>
            </a:endParaRPr>
          </a:p>
        </p:txBody>
      </p:sp>
      <p:graphicFrame>
        <p:nvGraphicFramePr>
          <p:cNvPr id="14" name="图示 13"/>
          <p:cNvGraphicFramePr/>
          <p:nvPr/>
        </p:nvGraphicFramePr>
        <p:xfrm>
          <a:off x="1818712" y="3761770"/>
          <a:ext cx="8880028" cy="262149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5" name="矩形 14"/>
          <p:cNvSpPr/>
          <p:nvPr/>
        </p:nvSpPr>
        <p:spPr>
          <a:xfrm>
            <a:off x="1712891" y="4881469"/>
            <a:ext cx="5859886" cy="900815"/>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3938190" y="5905539"/>
            <a:ext cx="1826141" cy="338554"/>
          </a:xfrm>
          <a:prstGeom prst="rect">
            <a:avLst/>
          </a:prstGeom>
        </p:spPr>
        <p:txBody>
          <a:bodyPr wrap="none">
            <a:spAutoFit/>
          </a:bodyPr>
          <a:lstStyle/>
          <a:p>
            <a:r>
              <a:rPr lang="zh-CN" altLang="en-US" sz="1600" dirty="0">
                <a:solidFill>
                  <a:srgbClr val="C00000"/>
                </a:solidFill>
                <a:latin typeface="微软雅黑" panose="020B0503020204020204" pitchFamily="34" charset="-122"/>
                <a:ea typeface="微软雅黑" panose="020B0503020204020204" pitchFamily="34" charset="-122"/>
              </a:rPr>
              <a:t>监督模式识别方法</a:t>
            </a:r>
            <a:endParaRPr lang="zh-CN" altLang="en-US" sz="1600" dirty="0">
              <a:solidFill>
                <a:srgbClr val="C00000"/>
              </a:solidFill>
              <a:latin typeface="微软雅黑" panose="020B0503020204020204" pitchFamily="34" charset="-122"/>
              <a:ea typeface="微软雅黑" panose="020B0503020204020204" pitchFamily="34" charset="-122"/>
            </a:endParaRPr>
          </a:p>
        </p:txBody>
      </p:sp>
      <p:sp>
        <p:nvSpPr>
          <p:cNvPr id="18" name="矩形 17"/>
          <p:cNvSpPr/>
          <p:nvPr/>
        </p:nvSpPr>
        <p:spPr>
          <a:xfrm>
            <a:off x="7691127" y="4870674"/>
            <a:ext cx="3164950" cy="903695"/>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132094" y="5863629"/>
            <a:ext cx="2031325" cy="338554"/>
          </a:xfrm>
          <a:prstGeom prst="rect">
            <a:avLst/>
          </a:prstGeom>
        </p:spPr>
        <p:txBody>
          <a:bodyPr wrap="none">
            <a:spAutoFit/>
          </a:bodyPr>
          <a:lstStyle/>
          <a:p>
            <a:r>
              <a:rPr lang="zh-CN" altLang="en-US" sz="1600" dirty="0">
                <a:solidFill>
                  <a:srgbClr val="002060"/>
                </a:solidFill>
                <a:latin typeface="微软雅黑" panose="020B0503020204020204" pitchFamily="34" charset="-122"/>
                <a:ea typeface="微软雅黑" panose="020B0503020204020204" pitchFamily="34" charset="-122"/>
              </a:rPr>
              <a:t>无监督模式识别方法</a:t>
            </a:r>
            <a:endParaRPr lang="zh-CN" altLang="en-US" sz="16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34917"/>
            <a:ext cx="6690360" cy="612140"/>
          </a:xfrm>
        </p:spPr>
        <p:txBody>
          <a:bodyPr/>
          <a:lstStyle/>
          <a:p>
            <a:pPr algn="ctr"/>
            <a:r>
              <a:rPr lang="en-US" altLang="zh-CN" b="1" dirty="0">
                <a:solidFill>
                  <a:srgbClr val="002060"/>
                </a:solidFill>
              </a:rPr>
              <a:t>4.1.3 </a:t>
            </a:r>
            <a:r>
              <a:rPr lang="zh-CN" altLang="en-US" b="1" dirty="0">
                <a:solidFill>
                  <a:srgbClr val="002060"/>
                </a:solidFill>
              </a:rPr>
              <a:t>光谱的基本分析方法</a:t>
            </a:r>
            <a:endParaRPr lang="zh-CN" altLang="en-US" b="1" dirty="0">
              <a:solidFill>
                <a:srgbClr val="002060"/>
              </a:solidFill>
            </a:endParaRPr>
          </a:p>
        </p:txBody>
      </p:sp>
      <p:sp>
        <p:nvSpPr>
          <p:cNvPr id="16" name="内容占位符 3"/>
          <p:cNvSpPr txBox="1"/>
          <p:nvPr/>
        </p:nvSpPr>
        <p:spPr>
          <a:xfrm>
            <a:off x="-3938" y="13970"/>
            <a:ext cx="2689015"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章  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a:p>
        </p:txBody>
      </p:sp>
      <p:sp>
        <p:nvSpPr>
          <p:cNvPr id="10" name="矩形 9"/>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4.1  </a:t>
            </a:r>
            <a:r>
              <a:rPr lang="zh-CN" altLang="en-US" sz="1600" dirty="0">
                <a:solidFill>
                  <a:srgbClr val="002060"/>
                </a:solidFill>
                <a:latin typeface="微软雅黑" panose="020B0503020204020204" pitchFamily="34" charset="-122"/>
                <a:ea typeface="微软雅黑" panose="020B0503020204020204" pitchFamily="34" charset="-122"/>
              </a:rPr>
              <a:t>光谱技术概述</a:t>
            </a:r>
            <a:endParaRPr lang="zh-CN" altLang="en-US" sz="1600" dirty="0">
              <a:solidFill>
                <a:srgbClr val="002060"/>
              </a:solidFill>
            </a:endParaRPr>
          </a:p>
        </p:txBody>
      </p:sp>
      <p:sp>
        <p:nvSpPr>
          <p:cNvPr id="14" name="矩形 13"/>
          <p:cNvSpPr/>
          <p:nvPr/>
        </p:nvSpPr>
        <p:spPr>
          <a:xfrm>
            <a:off x="733425" y="1318462"/>
            <a:ext cx="1852815" cy="369332"/>
          </a:xfrm>
          <a:prstGeom prst="rect">
            <a:avLst/>
          </a:prstGeom>
        </p:spPr>
        <p:txBody>
          <a:bodyPr wrap="none">
            <a:spAutoFit/>
          </a:bodyPr>
          <a:lstStyle/>
          <a:p>
            <a:r>
              <a:rPr lang="en-US" altLang="zh-CN" b="1" dirty="0" err="1">
                <a:solidFill>
                  <a:srgbClr val="002060"/>
                </a:solidFill>
                <a:latin typeface="微软雅黑" panose="020B0503020204020204" pitchFamily="34" charset="-122"/>
                <a:ea typeface="微软雅黑" panose="020B0503020204020204" pitchFamily="34" charset="-122"/>
              </a:rPr>
              <a:t>Softmax</a:t>
            </a:r>
            <a:r>
              <a:rPr lang="zh-CN" altLang="en-US" b="1" dirty="0">
                <a:solidFill>
                  <a:srgbClr val="002060"/>
                </a:solidFill>
                <a:latin typeface="微软雅黑" panose="020B0503020204020204" pitchFamily="34" charset="-122"/>
                <a:ea typeface="微软雅黑" panose="020B0503020204020204" pitchFamily="34" charset="-122"/>
              </a:rPr>
              <a:t>分类器</a:t>
            </a:r>
            <a:endParaRPr lang="en-US" altLang="zh-CN" b="1"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 name="矩形 1"/>
              <p:cNvSpPr/>
              <p:nvPr/>
            </p:nvSpPr>
            <p:spPr>
              <a:xfrm>
                <a:off x="600075" y="1715135"/>
                <a:ext cx="10753725" cy="922020"/>
              </a:xfrm>
              <a:prstGeom prst="rect">
                <a:avLst/>
              </a:prstGeom>
            </p:spPr>
            <p:txBody>
              <a:bodyPr wrap="square">
                <a:spAutoFit/>
              </a:bodyPr>
              <a:lstStyle/>
              <a:p>
                <a:pPr indent="457200" algn="just">
                  <a:lnSpc>
                    <a:spcPct val="150000"/>
                  </a:lnSpc>
                </a:pPr>
                <a:r>
                  <a:rPr lang="en-US" altLang="zh-CN" dirty="0" err="1">
                    <a:latin typeface="微软雅黑" panose="020B0503020204020204" pitchFamily="34" charset="-122"/>
                    <a:ea typeface="微软雅黑" panose="020B0503020204020204" pitchFamily="34" charset="-122"/>
                    <a:cs typeface="宋体" panose="02010600030101010101" pitchFamily="2" charset="-122"/>
                  </a:rPr>
                  <a:t>Softmax</a:t>
                </a:r>
                <a:r>
                  <a:rPr lang="zh-CN" altLang="zh-CN" dirty="0">
                    <a:latin typeface="微软雅黑" panose="020B0503020204020204" pitchFamily="34" charset="-122"/>
                    <a:ea typeface="微软雅黑" panose="020B0503020204020204" pitchFamily="34" charset="-122"/>
                    <a:cs typeface="宋体" panose="02010600030101010101" pitchFamily="2" charset="-122"/>
                  </a:rPr>
                  <a:t>分类器是</a:t>
                </a:r>
                <a:r>
                  <a:rPr lang="zh-CN" altLang="zh-CN" dirty="0">
                    <a:solidFill>
                      <a:srgbClr val="2E75B6"/>
                    </a:solidFill>
                    <a:latin typeface="微软雅黑" panose="020B0503020204020204" pitchFamily="34" charset="-122"/>
                    <a:ea typeface="微软雅黑" panose="020B0503020204020204" pitchFamily="34" charset="-122"/>
                    <a:cs typeface="宋体" panose="02010600030101010101" pitchFamily="2" charset="-122"/>
                  </a:rPr>
                  <a:t>逻辑回归模型</a:t>
                </a:r>
                <a:r>
                  <a:rPr lang="zh-CN" altLang="zh-CN" dirty="0">
                    <a:latin typeface="微软雅黑" panose="020B0503020204020204" pitchFamily="34" charset="-122"/>
                    <a:ea typeface="微软雅黑" panose="020B0503020204020204" pitchFamily="34" charset="-122"/>
                    <a:cs typeface="宋体" panose="02010600030101010101" pitchFamily="2" charset="-122"/>
                  </a:rPr>
                  <a:t>在多分类问题上的推广，</a:t>
                </a:r>
                <a:r>
                  <a:rPr lang="zh-CN" altLang="en-US" dirty="0">
                    <a:latin typeface="微软雅黑" panose="020B0503020204020204" pitchFamily="34" charset="-122"/>
                    <a:ea typeface="微软雅黑" panose="020B0503020204020204" pitchFamily="34" charset="-122"/>
                    <a:cs typeface="宋体" panose="02010600030101010101" pitchFamily="2" charset="-122"/>
                  </a:rPr>
                  <a:t>中心思想是基于</a:t>
                </a:r>
                <a:r>
                  <a:rPr lang="zh-CN" altLang="en-US" dirty="0">
                    <a:solidFill>
                      <a:srgbClr val="C00000"/>
                    </a:solidFill>
                    <a:latin typeface="微软雅黑" panose="020B0503020204020204" pitchFamily="34" charset="-122"/>
                    <a:ea typeface="微软雅黑" panose="020B0503020204020204" pitchFamily="34" charset="-122"/>
                    <a:cs typeface="宋体" panose="02010600030101010101" pitchFamily="2" charset="-122"/>
                  </a:rPr>
                  <a:t>假设函数</a:t>
                </a:r>
                <a:r>
                  <a:rPr lang="zh-CN" altLang="en-US" dirty="0">
                    <a:latin typeface="微软雅黑" panose="020B0503020204020204" pitchFamily="34" charset="-122"/>
                    <a:ea typeface="微软雅黑" panose="020B0503020204020204" pitchFamily="34" charset="-122"/>
                    <a:cs typeface="宋体" panose="02010600030101010101" pitchFamily="2" charset="-122"/>
                  </a:rPr>
                  <a:t>来构建</a:t>
                </a:r>
                <a:r>
                  <a:rPr lang="zh-CN" altLang="en-US" dirty="0">
                    <a:solidFill>
                      <a:srgbClr val="C00000"/>
                    </a:solidFill>
                    <a:latin typeface="微软雅黑" panose="020B0503020204020204" pitchFamily="34" charset="-122"/>
                    <a:ea typeface="微软雅黑" panose="020B0503020204020204" pitchFamily="34" charset="-122"/>
                    <a:cs typeface="宋体" panose="02010600030101010101" pitchFamily="2" charset="-122"/>
                  </a:rPr>
                  <a:t>代价函数</a:t>
                </a:r>
                <a:r>
                  <a:rPr lang="zh-CN" altLang="en-US" dirty="0">
                    <a:latin typeface="微软雅黑" panose="020B0503020204020204" pitchFamily="34" charset="-122"/>
                    <a:ea typeface="微软雅黑" panose="020B0503020204020204" pitchFamily="34" charset="-122"/>
                    <a:cs typeface="宋体" panose="02010600030101010101" pitchFamily="2" charset="-122"/>
                  </a:rPr>
                  <a:t>，并最小化代价函数来求解模型参数</a:t>
                </a:r>
                <a14:m>
                  <m:oMath xmlns:m="http://schemas.openxmlformats.org/officeDocument/2006/math">
                    <m:r>
                      <a:rPr lang="zh-CN" altLang="en-US" i="1" smtClean="0">
                        <a:latin typeface="Cambria Math" panose="02040503050406030204" pitchFamily="18" charset="0"/>
                        <a:ea typeface="微软雅黑" panose="020B0503020204020204" pitchFamily="34" charset="-122"/>
                        <a:cs typeface="宋体" panose="02010600030101010101" pitchFamily="2" charset="-122"/>
                      </a:rPr>
                      <m:t>𝜃</m:t>
                    </m:r>
                  </m:oMath>
                </a14:m>
                <a:r>
                  <a:rPr lang="zh-CN" altLang="en-US" dirty="0">
                    <a:latin typeface="微软雅黑" panose="020B0503020204020204" pitchFamily="34" charset="-122"/>
                    <a:ea typeface="微软雅黑" panose="020B0503020204020204" pitchFamily="34" charset="-122"/>
                    <a:cs typeface="宋体" panose="02010600030101010101" pitchFamily="2" charset="-122"/>
                  </a:rPr>
                  <a:t>。</a:t>
                </a:r>
                <a:endParaRPr lang="zh-CN" altLang="en-US" dirty="0">
                  <a:latin typeface="微软雅黑" panose="020B0503020204020204" pitchFamily="34" charset="-122"/>
                  <a:ea typeface="微软雅黑" panose="020B0503020204020204" pitchFamily="34" charset="-122"/>
                </a:endParaRPr>
              </a:p>
            </p:txBody>
          </p:sp>
        </mc:Choice>
        <mc:Fallback>
          <p:sp>
            <p:nvSpPr>
              <p:cNvPr id="2" name="矩形 1"/>
              <p:cNvSpPr>
                <a:spLocks noRot="1" noChangeAspect="1" noMove="1" noResize="1" noEditPoints="1" noAdjustHandles="1" noChangeArrowheads="1" noChangeShapeType="1" noTextEdit="1"/>
              </p:cNvSpPr>
              <p:nvPr/>
            </p:nvSpPr>
            <p:spPr>
              <a:xfrm>
                <a:off x="600075" y="1715135"/>
                <a:ext cx="10753725" cy="922020"/>
              </a:xfrm>
              <a:prstGeom prst="rect">
                <a:avLst/>
              </a:prstGeom>
              <a:blipFill rotWithShape="1">
                <a:blip r:embed="rId1"/>
                <a:stretch>
                  <a:fillRect/>
                </a:stretch>
              </a:blipFill>
            </p:spPr>
            <p:txBody>
              <a:bodyPr/>
              <a:lstStyle/>
              <a:p>
                <a:r>
                  <a:rPr lang="zh-CN" altLang="en-US">
                    <a:noFill/>
                  </a:rPr>
                  <a:t> </a:t>
                </a:r>
              </a:p>
            </p:txBody>
          </p:sp>
        </mc:Fallback>
      </mc:AlternateContent>
      <p:graphicFrame>
        <p:nvGraphicFramePr>
          <p:cNvPr id="12" name="对象 11"/>
          <p:cNvGraphicFramePr>
            <a:graphicFrameLocks noChangeAspect="1"/>
          </p:cNvGraphicFramePr>
          <p:nvPr/>
        </p:nvGraphicFramePr>
        <p:xfrm>
          <a:off x="1659833" y="3502453"/>
          <a:ext cx="3348883" cy="1288032"/>
        </p:xfrm>
        <a:graphic>
          <a:graphicData uri="http://schemas.openxmlformats.org/presentationml/2006/ole">
            <mc:AlternateContent xmlns:mc="http://schemas.openxmlformats.org/markup-compatibility/2006">
              <mc:Choice xmlns:v="urn:schemas-microsoft-com:vml" Requires="v">
                <p:oleObj spid="_x0000_s23603" name="Equation" r:id="rId2" imgW="1955165" imgH="774065" progId="Equation.DSMT4">
                  <p:embed/>
                </p:oleObj>
              </mc:Choice>
              <mc:Fallback>
                <p:oleObj name="Equation" r:id="rId2" imgW="1955165" imgH="774065"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9833" y="3502453"/>
                        <a:ext cx="3348883" cy="1288032"/>
                      </a:xfrm>
                      <a:prstGeom prst="rect">
                        <a:avLst/>
                      </a:prstGeom>
                      <a:noFill/>
                    </p:spPr>
                  </p:pic>
                </p:oleObj>
              </mc:Fallback>
            </mc:AlternateContent>
          </a:graphicData>
        </a:graphic>
      </p:graphicFrame>
      <p:sp>
        <p:nvSpPr>
          <p:cNvPr id="15" name="矩形 14"/>
          <p:cNvSpPr/>
          <p:nvPr/>
        </p:nvSpPr>
        <p:spPr>
          <a:xfrm>
            <a:off x="3188546" y="3156413"/>
            <a:ext cx="1107996" cy="369332"/>
          </a:xfrm>
          <a:prstGeom prst="rect">
            <a:avLst/>
          </a:prstGeom>
        </p:spPr>
        <p:txBody>
          <a:bodyPr wrap="none">
            <a:spAutoFit/>
          </a:bodyPr>
          <a:lstStyle/>
          <a:p>
            <a:r>
              <a:rPr lang="zh-CN" altLang="zh-CN" dirty="0">
                <a:solidFill>
                  <a:srgbClr val="C00000"/>
                </a:solidFill>
                <a:latin typeface="微软雅黑" panose="020B0503020204020204" pitchFamily="34" charset="-122"/>
                <a:ea typeface="微软雅黑" panose="020B0503020204020204" pitchFamily="34" charset="-122"/>
                <a:cs typeface="宋体" panose="02010600030101010101" pitchFamily="2" charset="-122"/>
              </a:rPr>
              <a:t>假设函数</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7" name="矩形 16"/>
          <p:cNvSpPr/>
          <p:nvPr/>
        </p:nvSpPr>
        <p:spPr>
          <a:xfrm>
            <a:off x="3188546" y="4951859"/>
            <a:ext cx="1107996" cy="369332"/>
          </a:xfrm>
          <a:prstGeom prst="rect">
            <a:avLst/>
          </a:prstGeom>
        </p:spPr>
        <p:txBody>
          <a:bodyPr wrap="none">
            <a:spAutoFit/>
          </a:bodyPr>
          <a:lstStyle/>
          <a:p>
            <a:r>
              <a:rPr lang="zh-CN" altLang="zh-CN" dirty="0">
                <a:solidFill>
                  <a:srgbClr val="C00000"/>
                </a:solidFill>
                <a:latin typeface="微软雅黑" panose="020B0503020204020204" pitchFamily="34" charset="-122"/>
                <a:ea typeface="微软雅黑" panose="020B0503020204020204" pitchFamily="34" charset="-122"/>
              </a:rPr>
              <a:t>代价函数</a:t>
            </a:r>
            <a:endParaRPr lang="zh-CN" altLang="en-US" dirty="0">
              <a:solidFill>
                <a:srgbClr val="C00000"/>
              </a:solidFill>
              <a:latin typeface="微软雅黑" panose="020B0503020204020204" pitchFamily="34" charset="-122"/>
              <a:ea typeface="微软雅黑" panose="020B0503020204020204" pitchFamily="34" charset="-122"/>
            </a:endParaRPr>
          </a:p>
        </p:txBody>
      </p:sp>
      <p:graphicFrame>
        <p:nvGraphicFramePr>
          <p:cNvPr id="23" name="对象 22"/>
          <p:cNvGraphicFramePr>
            <a:graphicFrameLocks noChangeAspect="1"/>
          </p:cNvGraphicFramePr>
          <p:nvPr/>
        </p:nvGraphicFramePr>
        <p:xfrm>
          <a:off x="1155634" y="5254145"/>
          <a:ext cx="4618796" cy="609742"/>
        </p:xfrm>
        <a:graphic>
          <a:graphicData uri="http://schemas.openxmlformats.org/presentationml/2006/ole">
            <mc:AlternateContent xmlns:mc="http://schemas.openxmlformats.org/markup-compatibility/2006">
              <mc:Choice xmlns:v="urn:schemas-microsoft-com:vml" Requires="v">
                <p:oleObj spid="_x0000_s23604" name="Equation" r:id="rId4" imgW="2895600" imgH="368300" progId="Equation.DSMT4">
                  <p:embed/>
                </p:oleObj>
              </mc:Choice>
              <mc:Fallback>
                <p:oleObj name="Equation" r:id="rId4" imgW="2895600" imgH="3683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5634" y="5254145"/>
                        <a:ext cx="4618796" cy="609742"/>
                      </a:xfrm>
                      <a:prstGeom prst="rect">
                        <a:avLst/>
                      </a:prstGeom>
                      <a:noFill/>
                    </p:spPr>
                  </p:pic>
                </p:oleObj>
              </mc:Fallback>
            </mc:AlternateContent>
          </a:graphicData>
        </a:graphic>
      </p:graphicFrame>
      <p:graphicFrame>
        <p:nvGraphicFramePr>
          <p:cNvPr id="25" name="对象 24"/>
          <p:cNvGraphicFramePr>
            <a:graphicFrameLocks noChangeAspect="1"/>
          </p:cNvGraphicFramePr>
          <p:nvPr/>
        </p:nvGraphicFramePr>
        <p:xfrm>
          <a:off x="6657350" y="3394324"/>
          <a:ext cx="4458906" cy="1486302"/>
        </p:xfrm>
        <a:graphic>
          <a:graphicData uri="http://schemas.openxmlformats.org/presentationml/2006/ole">
            <mc:AlternateContent xmlns:mc="http://schemas.openxmlformats.org/markup-compatibility/2006">
              <mc:Choice xmlns:v="urn:schemas-microsoft-com:vml" Requires="v">
                <p:oleObj spid="_x0000_s23605" name="Equation" r:id="rId6" imgW="2540000" imgH="876300" progId="Equation.DSMT4">
                  <p:embed/>
                </p:oleObj>
              </mc:Choice>
              <mc:Fallback>
                <p:oleObj name="Equation" r:id="rId6" imgW="2540000" imgH="8763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57350" y="3394324"/>
                        <a:ext cx="4458906" cy="1486302"/>
                      </a:xfrm>
                      <a:prstGeom prst="rect">
                        <a:avLst/>
                      </a:prstGeom>
                      <a:noFill/>
                    </p:spPr>
                  </p:pic>
                </p:oleObj>
              </mc:Fallback>
            </mc:AlternateContent>
          </a:graphicData>
        </a:graphic>
      </p:graphicFrame>
      <p:graphicFrame>
        <p:nvGraphicFramePr>
          <p:cNvPr id="27" name="对象 26"/>
          <p:cNvGraphicFramePr>
            <a:graphicFrameLocks noChangeAspect="1"/>
          </p:cNvGraphicFramePr>
          <p:nvPr/>
        </p:nvGraphicFramePr>
        <p:xfrm>
          <a:off x="7345234" y="5116232"/>
          <a:ext cx="3424999" cy="1227544"/>
        </p:xfrm>
        <a:graphic>
          <a:graphicData uri="http://schemas.openxmlformats.org/presentationml/2006/ole">
            <mc:AlternateContent xmlns:mc="http://schemas.openxmlformats.org/markup-compatibility/2006">
              <mc:Choice xmlns:v="urn:schemas-microsoft-com:vml" Requires="v">
                <p:oleObj spid="_x0000_s23606" name="Equation" r:id="rId8" imgW="2145665" imgH="774065" progId="Equation.DSMT4">
                  <p:embed/>
                </p:oleObj>
              </mc:Choice>
              <mc:Fallback>
                <p:oleObj name="Equation" r:id="rId8" imgW="2145665" imgH="774065"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45234" y="5116232"/>
                        <a:ext cx="3424999" cy="1227544"/>
                      </a:xfrm>
                      <a:prstGeom prst="rect">
                        <a:avLst/>
                      </a:prstGeom>
                      <a:noFill/>
                    </p:spPr>
                  </p:pic>
                </p:oleObj>
              </mc:Fallback>
            </mc:AlternateContent>
          </a:graphicData>
        </a:graphic>
      </p:graphicFrame>
      <p:sp>
        <p:nvSpPr>
          <p:cNvPr id="28" name="矩形 27"/>
          <p:cNvSpPr/>
          <p:nvPr/>
        </p:nvSpPr>
        <p:spPr>
          <a:xfrm>
            <a:off x="8939104" y="3133121"/>
            <a:ext cx="1107996" cy="369332"/>
          </a:xfrm>
          <a:prstGeom prst="rect">
            <a:avLst/>
          </a:prstGeom>
        </p:spPr>
        <p:txBody>
          <a:bodyPr wrap="none">
            <a:spAutoFit/>
          </a:bodyPr>
          <a:lstStyle/>
          <a:p>
            <a:r>
              <a:rPr lang="zh-CN" altLang="zh-CN" dirty="0">
                <a:solidFill>
                  <a:srgbClr val="C00000"/>
                </a:solidFill>
                <a:latin typeface="微软雅黑" panose="020B0503020204020204" pitchFamily="34" charset="-122"/>
                <a:ea typeface="微软雅黑" panose="020B0503020204020204" pitchFamily="34" charset="-122"/>
                <a:cs typeface="宋体" panose="02010600030101010101" pitchFamily="2" charset="-122"/>
              </a:rPr>
              <a:t>假设函数</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29" name="矩形 28"/>
          <p:cNvSpPr/>
          <p:nvPr/>
        </p:nvSpPr>
        <p:spPr>
          <a:xfrm>
            <a:off x="8939104" y="4951859"/>
            <a:ext cx="1107996" cy="369332"/>
          </a:xfrm>
          <a:prstGeom prst="rect">
            <a:avLst/>
          </a:prstGeom>
        </p:spPr>
        <p:txBody>
          <a:bodyPr wrap="none">
            <a:spAutoFit/>
          </a:bodyPr>
          <a:lstStyle/>
          <a:p>
            <a:r>
              <a:rPr lang="zh-CN" altLang="zh-CN" dirty="0">
                <a:solidFill>
                  <a:srgbClr val="C00000"/>
                </a:solidFill>
                <a:latin typeface="微软雅黑" panose="020B0503020204020204" pitchFamily="34" charset="-122"/>
                <a:ea typeface="微软雅黑" panose="020B0503020204020204" pitchFamily="34" charset="-122"/>
              </a:rPr>
              <a:t>代价函数</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30" name="矩形 29"/>
          <p:cNvSpPr/>
          <p:nvPr/>
        </p:nvSpPr>
        <p:spPr>
          <a:xfrm>
            <a:off x="2957714" y="2803771"/>
            <a:ext cx="1569660" cy="369332"/>
          </a:xfrm>
          <a:prstGeom prst="rect">
            <a:avLst/>
          </a:prstGeom>
        </p:spPr>
        <p:txBody>
          <a:bodyPr wrap="none">
            <a:spAutoFit/>
          </a:bodyPr>
          <a:lstStyle/>
          <a:p>
            <a:r>
              <a:rPr lang="zh-CN" altLang="zh-CN" b="1" dirty="0">
                <a:latin typeface="微软雅黑" panose="020B0503020204020204" pitchFamily="34" charset="-122"/>
                <a:ea typeface="微软雅黑" panose="020B0503020204020204" pitchFamily="34" charset="-122"/>
                <a:cs typeface="宋体" panose="02010600030101010101" pitchFamily="2" charset="-122"/>
              </a:rPr>
              <a:t>逻辑回归模型</a:t>
            </a:r>
            <a:endParaRPr lang="zh-CN" altLang="en-US" b="1" dirty="0">
              <a:latin typeface="微软雅黑" panose="020B0503020204020204" pitchFamily="34" charset="-122"/>
              <a:ea typeface="微软雅黑" panose="020B0503020204020204" pitchFamily="34" charset="-122"/>
            </a:endParaRPr>
          </a:p>
        </p:txBody>
      </p:sp>
      <p:sp>
        <p:nvSpPr>
          <p:cNvPr id="31" name="矩形 30"/>
          <p:cNvSpPr/>
          <p:nvPr/>
        </p:nvSpPr>
        <p:spPr>
          <a:xfrm>
            <a:off x="8515372" y="2789386"/>
            <a:ext cx="1852815" cy="369332"/>
          </a:xfrm>
          <a:prstGeom prst="rect">
            <a:avLst/>
          </a:prstGeom>
        </p:spPr>
        <p:txBody>
          <a:bodyPr wrap="none">
            <a:spAutoFit/>
          </a:bodyPr>
          <a:lstStyle/>
          <a:p>
            <a:r>
              <a:rPr lang="en-US" altLang="zh-CN" b="1" dirty="0" err="1">
                <a:latin typeface="微软雅黑" panose="020B0503020204020204" pitchFamily="34" charset="-122"/>
                <a:ea typeface="微软雅黑" panose="020B0503020204020204" pitchFamily="34" charset="-122"/>
                <a:cs typeface="宋体" panose="02010600030101010101" pitchFamily="2" charset="-122"/>
              </a:rPr>
              <a:t>Softmax</a:t>
            </a:r>
            <a:r>
              <a:rPr lang="zh-CN" altLang="en-US" b="1" dirty="0">
                <a:latin typeface="微软雅黑" panose="020B0503020204020204" pitchFamily="34" charset="-122"/>
                <a:ea typeface="微软雅黑" panose="020B0503020204020204" pitchFamily="34" charset="-122"/>
                <a:cs typeface="宋体" panose="02010600030101010101" pitchFamily="2" charset="-122"/>
              </a:rPr>
              <a:t>分类器</a:t>
            </a:r>
            <a:endParaRPr lang="zh-CN" altLang="en-US" b="1" dirty="0">
              <a:latin typeface="微软雅黑" panose="020B0503020204020204" pitchFamily="34" charset="-122"/>
              <a:ea typeface="微软雅黑" panose="020B0503020204020204" pitchFamily="34" charset="-122"/>
            </a:endParaRPr>
          </a:p>
        </p:txBody>
      </p:sp>
      <p:sp>
        <p:nvSpPr>
          <p:cNvPr id="32" name="箭头: 右 31"/>
          <p:cNvSpPr/>
          <p:nvPr/>
        </p:nvSpPr>
        <p:spPr>
          <a:xfrm>
            <a:off x="5611318" y="3955730"/>
            <a:ext cx="899410" cy="3634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右 32"/>
          <p:cNvSpPr/>
          <p:nvPr/>
        </p:nvSpPr>
        <p:spPr>
          <a:xfrm>
            <a:off x="6191441" y="5431296"/>
            <a:ext cx="899410" cy="3634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34917"/>
            <a:ext cx="6690360" cy="612140"/>
          </a:xfrm>
        </p:spPr>
        <p:txBody>
          <a:bodyPr/>
          <a:lstStyle/>
          <a:p>
            <a:pPr algn="ctr"/>
            <a:r>
              <a:rPr lang="en-US" altLang="zh-CN" b="1" dirty="0">
                <a:solidFill>
                  <a:srgbClr val="002060"/>
                </a:solidFill>
              </a:rPr>
              <a:t>4.1.3 </a:t>
            </a:r>
            <a:r>
              <a:rPr lang="zh-CN" altLang="en-US" b="1" dirty="0">
                <a:solidFill>
                  <a:srgbClr val="002060"/>
                </a:solidFill>
              </a:rPr>
              <a:t>光谱的基本分析方法</a:t>
            </a:r>
            <a:endParaRPr lang="zh-CN" altLang="en-US" b="1" dirty="0">
              <a:solidFill>
                <a:srgbClr val="002060"/>
              </a:solidFill>
            </a:endParaRPr>
          </a:p>
        </p:txBody>
      </p:sp>
      <p:sp>
        <p:nvSpPr>
          <p:cNvPr id="16" name="内容占位符 3"/>
          <p:cNvSpPr txBox="1"/>
          <p:nvPr/>
        </p:nvSpPr>
        <p:spPr>
          <a:xfrm>
            <a:off x="-3938" y="13970"/>
            <a:ext cx="2689015"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章  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11" name="矩形 10"/>
          <p:cNvSpPr/>
          <p:nvPr/>
        </p:nvSpPr>
        <p:spPr>
          <a:xfrm>
            <a:off x="914472" y="1362134"/>
            <a:ext cx="1828800" cy="368300"/>
          </a:xfrm>
          <a:prstGeom prst="rect">
            <a:avLst/>
          </a:prstGeom>
        </p:spPr>
        <p:txBody>
          <a:bodyPr wrap="none">
            <a:spAutoFit/>
          </a:bodyPr>
          <a:lstStyle/>
          <a:p>
            <a:r>
              <a:rPr lang="en-US" altLang="zh-CN" b="1" dirty="0">
                <a:solidFill>
                  <a:srgbClr val="002060"/>
                </a:solidFill>
                <a:latin typeface="微软雅黑" panose="020B0503020204020204" pitchFamily="34" charset="-122"/>
                <a:ea typeface="微软雅黑" panose="020B0503020204020204" pitchFamily="34" charset="-122"/>
              </a:rPr>
              <a:t>3. </a:t>
            </a:r>
            <a:r>
              <a:rPr lang="zh-CN" altLang="en-US" b="1" dirty="0">
                <a:solidFill>
                  <a:srgbClr val="002060"/>
                </a:solidFill>
                <a:ea typeface="微软雅黑" panose="020B0503020204020204" pitchFamily="34" charset="-122"/>
              </a:rPr>
              <a:t>化学计量学法</a:t>
            </a:r>
            <a:endParaRPr lang="zh-CN" altLang="en-US" b="1" dirty="0">
              <a:solidFill>
                <a:srgbClr val="002060"/>
              </a:solidFill>
              <a:ea typeface="微软雅黑" panose="020B0503020204020204" pitchFamily="34" charset="-122"/>
            </a:endParaRPr>
          </a:p>
        </p:txBody>
      </p:sp>
      <p:graphicFrame>
        <p:nvGraphicFramePr>
          <p:cNvPr id="13" name="图示 12"/>
          <p:cNvGraphicFramePr/>
          <p:nvPr/>
        </p:nvGraphicFramePr>
        <p:xfrm>
          <a:off x="1492846" y="3289260"/>
          <a:ext cx="9187573" cy="269915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灯片编号占位符 3"/>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a:p>
        </p:txBody>
      </p:sp>
      <p:sp>
        <p:nvSpPr>
          <p:cNvPr id="10" name="矩形 9"/>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4.1  </a:t>
            </a:r>
            <a:r>
              <a:rPr lang="zh-CN" altLang="en-US" sz="1600" dirty="0">
                <a:solidFill>
                  <a:srgbClr val="002060"/>
                </a:solidFill>
                <a:latin typeface="微软雅黑" panose="020B0503020204020204" pitchFamily="34" charset="-122"/>
                <a:ea typeface="微软雅黑" panose="020B0503020204020204" pitchFamily="34" charset="-122"/>
              </a:rPr>
              <a:t>光谱技术概述</a:t>
            </a:r>
            <a:endParaRPr lang="zh-CN" altLang="en-US" sz="1600" dirty="0">
              <a:solidFill>
                <a:srgbClr val="002060"/>
              </a:solidFill>
            </a:endParaRPr>
          </a:p>
        </p:txBody>
      </p:sp>
      <p:sp>
        <p:nvSpPr>
          <p:cNvPr id="7" name="矩形 6"/>
          <p:cNvSpPr/>
          <p:nvPr/>
        </p:nvSpPr>
        <p:spPr>
          <a:xfrm>
            <a:off x="914682" y="1837423"/>
            <a:ext cx="10361682" cy="1586230"/>
          </a:xfrm>
          <a:prstGeom prst="rect">
            <a:avLst/>
          </a:prstGeom>
        </p:spPr>
        <p:txBody>
          <a:bodyPr wrap="square">
            <a:spAutoFit/>
          </a:bodyPr>
          <a:lstStyle/>
          <a:p>
            <a:pPr indent="457200" algn="just" fontAlgn="auto">
              <a:lnSpc>
                <a:spcPct val="135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定量分析即</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建立浓度预测方法</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，包括了</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线性和非线性</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两类。线性方法有：多元线性回归（</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Multiple Linear Regression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MLR</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）、主成分回归（</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Principal Component Regression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PCR</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）、偏最小二乘回归（</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Partial Least Squares Regression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PLSR</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）等；非线性方法包括非线性偏最小二乘法（</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Nonlinear Partial Least Squares</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NPLS</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）、人工神经网络等。</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矩形 17"/>
          <p:cNvSpPr/>
          <p:nvPr/>
        </p:nvSpPr>
        <p:spPr>
          <a:xfrm>
            <a:off x="1378040" y="4539717"/>
            <a:ext cx="5267458" cy="75165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3508751" y="5413996"/>
            <a:ext cx="1005403" cy="338554"/>
          </a:xfrm>
          <a:prstGeom prst="rect">
            <a:avLst/>
          </a:prstGeom>
        </p:spPr>
        <p:txBody>
          <a:bodyPr wrap="none">
            <a:spAutoFit/>
          </a:bodyPr>
          <a:lstStyle/>
          <a:p>
            <a:r>
              <a:rPr lang="zh-CN" altLang="en-US" sz="1600" dirty="0">
                <a:solidFill>
                  <a:srgbClr val="C00000"/>
                </a:solidFill>
                <a:latin typeface="微软雅黑" panose="020B0503020204020204" pitchFamily="34" charset="-122"/>
                <a:ea typeface="微软雅黑" panose="020B0503020204020204" pitchFamily="34" charset="-122"/>
              </a:rPr>
              <a:t>线性方法</a:t>
            </a:r>
            <a:endParaRPr lang="zh-CN" altLang="en-US" sz="1600" dirty="0">
              <a:solidFill>
                <a:srgbClr val="C00000"/>
              </a:solidFill>
              <a:latin typeface="微软雅黑" panose="020B0503020204020204" pitchFamily="34" charset="-122"/>
              <a:ea typeface="微软雅黑" panose="020B0503020204020204" pitchFamily="34" charset="-122"/>
            </a:endParaRPr>
          </a:p>
        </p:txBody>
      </p:sp>
      <p:sp>
        <p:nvSpPr>
          <p:cNvPr id="20" name="矩形 19"/>
          <p:cNvSpPr/>
          <p:nvPr/>
        </p:nvSpPr>
        <p:spPr>
          <a:xfrm>
            <a:off x="6760304" y="4542597"/>
            <a:ext cx="4053656" cy="751659"/>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037447" y="5413996"/>
            <a:ext cx="1210588" cy="338554"/>
          </a:xfrm>
          <a:prstGeom prst="rect">
            <a:avLst/>
          </a:prstGeom>
        </p:spPr>
        <p:txBody>
          <a:bodyPr wrap="none">
            <a:spAutoFit/>
          </a:bodyPr>
          <a:lstStyle/>
          <a:p>
            <a:r>
              <a:rPr lang="zh-CN" altLang="en-US" sz="1600" dirty="0">
                <a:solidFill>
                  <a:srgbClr val="002060"/>
                </a:solidFill>
                <a:latin typeface="微软雅黑" panose="020B0503020204020204" pitchFamily="34" charset="-122"/>
                <a:ea typeface="微软雅黑" panose="020B0503020204020204" pitchFamily="34" charset="-122"/>
              </a:rPr>
              <a:t>非线性方法</a:t>
            </a:r>
            <a:endParaRPr lang="zh-CN" altLang="en-US" sz="16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34917"/>
            <a:ext cx="6690360" cy="612140"/>
          </a:xfrm>
        </p:spPr>
        <p:txBody>
          <a:bodyPr/>
          <a:lstStyle/>
          <a:p>
            <a:pPr algn="ctr"/>
            <a:r>
              <a:rPr lang="en-US" altLang="zh-CN" b="1" dirty="0">
                <a:solidFill>
                  <a:srgbClr val="002060"/>
                </a:solidFill>
              </a:rPr>
              <a:t>4.1.3 </a:t>
            </a:r>
            <a:r>
              <a:rPr lang="zh-CN" altLang="en-US" b="1" dirty="0">
                <a:solidFill>
                  <a:srgbClr val="002060"/>
                </a:solidFill>
              </a:rPr>
              <a:t>光谱的基本分析方法</a:t>
            </a:r>
            <a:endParaRPr lang="zh-CN" altLang="en-US" b="1" dirty="0">
              <a:solidFill>
                <a:srgbClr val="002060"/>
              </a:solidFill>
            </a:endParaRPr>
          </a:p>
        </p:txBody>
      </p:sp>
      <p:sp>
        <p:nvSpPr>
          <p:cNvPr id="16" name="内容占位符 3"/>
          <p:cNvSpPr txBox="1"/>
          <p:nvPr/>
        </p:nvSpPr>
        <p:spPr>
          <a:xfrm>
            <a:off x="-3938" y="13970"/>
            <a:ext cx="2689015" cy="34798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sz="1600">
                <a:latin typeface="微软雅黑" panose="020B0503020204020204" pitchFamily="34" charset="-122"/>
                <a:ea typeface="微软雅黑" panose="020B0503020204020204" pitchFamily="34" charset="-122"/>
              </a:rPr>
              <a:t>第</a:t>
            </a: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章  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a:p>
        </p:txBody>
      </p:sp>
      <p:sp>
        <p:nvSpPr>
          <p:cNvPr id="10" name="矩形 9"/>
          <p:cNvSpPr/>
          <p:nvPr/>
        </p:nvSpPr>
        <p:spPr>
          <a:xfrm>
            <a:off x="600" y="6465020"/>
            <a:ext cx="18103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4.1  </a:t>
            </a:r>
            <a:r>
              <a:rPr lang="zh-CN" altLang="en-US" sz="1600" dirty="0">
                <a:solidFill>
                  <a:srgbClr val="002060"/>
                </a:solidFill>
                <a:latin typeface="微软雅黑" panose="020B0503020204020204" pitchFamily="34" charset="-122"/>
                <a:ea typeface="微软雅黑" panose="020B0503020204020204" pitchFamily="34" charset="-122"/>
              </a:rPr>
              <a:t>光谱技术概述</a:t>
            </a:r>
            <a:endParaRPr lang="zh-CN" altLang="en-US" sz="1600" dirty="0">
              <a:solidFill>
                <a:srgbClr val="002060"/>
              </a:solidFill>
            </a:endParaRPr>
          </a:p>
        </p:txBody>
      </p:sp>
      <p:sp>
        <p:nvSpPr>
          <p:cNvPr id="14" name="矩形 13"/>
          <p:cNvSpPr/>
          <p:nvPr/>
        </p:nvSpPr>
        <p:spPr>
          <a:xfrm>
            <a:off x="733425" y="1333297"/>
            <a:ext cx="2787943" cy="369332"/>
          </a:xfrm>
          <a:prstGeom prst="rect">
            <a:avLst/>
          </a:prstGeom>
        </p:spPr>
        <p:txBody>
          <a:bodyPr wrap="none">
            <a:spAutoFit/>
          </a:bodyPr>
          <a:lstStyle/>
          <a:p>
            <a:r>
              <a:rPr lang="zh-CN" altLang="en-US" b="1" dirty="0">
                <a:solidFill>
                  <a:srgbClr val="002060"/>
                </a:solidFill>
                <a:latin typeface="微软雅黑" panose="020B0503020204020204" pitchFamily="34" charset="-122"/>
                <a:ea typeface="微软雅黑" panose="020B0503020204020204" pitchFamily="34" charset="-122"/>
              </a:rPr>
              <a:t>多元线性回归法（</a:t>
            </a:r>
            <a:r>
              <a:rPr lang="en-US" altLang="zh-CN" b="1" dirty="0">
                <a:solidFill>
                  <a:srgbClr val="002060"/>
                </a:solidFill>
                <a:latin typeface="微软雅黑" panose="020B0503020204020204" pitchFamily="34" charset="-122"/>
                <a:ea typeface="微软雅黑" panose="020B0503020204020204" pitchFamily="34" charset="-122"/>
              </a:rPr>
              <a:t>MLR</a:t>
            </a:r>
            <a:r>
              <a:rPr lang="zh-CN" altLang="en-US" b="1" dirty="0">
                <a:solidFill>
                  <a:srgbClr val="002060"/>
                </a:solidFill>
                <a:latin typeface="微软雅黑" panose="020B0503020204020204" pitchFamily="34" charset="-122"/>
                <a:ea typeface="微软雅黑" panose="020B0503020204020204" pitchFamily="34" charset="-122"/>
              </a:rPr>
              <a:t>）</a:t>
            </a:r>
            <a:endParaRPr lang="en-US" altLang="zh-CN" b="1" dirty="0">
              <a:solidFill>
                <a:srgbClr val="002060"/>
              </a:solidFill>
              <a:latin typeface="微软雅黑" panose="020B0503020204020204" pitchFamily="34" charset="-122"/>
              <a:ea typeface="微软雅黑" panose="020B0503020204020204" pitchFamily="34" charset="-122"/>
            </a:endParaRPr>
          </a:p>
        </p:txBody>
      </p:sp>
      <p:sp>
        <p:nvSpPr>
          <p:cNvPr id="2" name="矩形 1"/>
          <p:cNvSpPr/>
          <p:nvPr/>
        </p:nvSpPr>
        <p:spPr>
          <a:xfrm>
            <a:off x="733425" y="1799169"/>
            <a:ext cx="10921447" cy="753220"/>
          </a:xfrm>
          <a:prstGeom prst="rect">
            <a:avLst/>
          </a:prstGeom>
        </p:spPr>
        <p:txBody>
          <a:bodyPr wrap="square">
            <a:spAutoFit/>
          </a:bodyPr>
          <a:lstStyle/>
          <a:p>
            <a:pPr indent="457200" algn="just">
              <a:lnSpc>
                <a:spcPct val="125000"/>
              </a:lnSpc>
            </a:pPr>
            <a:r>
              <a:rPr lang="en-US" altLang="zh-CN" dirty="0">
                <a:latin typeface="微软雅黑" panose="020B0503020204020204" pitchFamily="34" charset="-122"/>
                <a:ea typeface="微软雅黑" panose="020B0503020204020204" pitchFamily="34" charset="-122"/>
                <a:cs typeface="宋体" panose="02010600030101010101" pitchFamily="2" charset="-122"/>
              </a:rPr>
              <a:t>MLR</a:t>
            </a:r>
            <a:r>
              <a:rPr lang="zh-CN" altLang="en-US" dirty="0">
                <a:latin typeface="微软雅黑" panose="020B0503020204020204" pitchFamily="34" charset="-122"/>
                <a:ea typeface="微软雅黑" panose="020B0503020204020204" pitchFamily="34" charset="-122"/>
                <a:cs typeface="宋体" panose="02010600030101010101" pitchFamily="2" charset="-122"/>
              </a:rPr>
              <a:t>是化学计量学中最基本的分析方法，是分析</a:t>
            </a:r>
            <a:r>
              <a:rPr lang="zh-CN" altLang="en-US" dirty="0">
                <a:solidFill>
                  <a:srgbClr val="C00000"/>
                </a:solidFill>
                <a:latin typeface="微软雅黑" panose="020B0503020204020204" pitchFamily="34" charset="-122"/>
                <a:ea typeface="微软雅黑" panose="020B0503020204020204" pitchFamily="34" charset="-122"/>
                <a:cs typeface="宋体" panose="02010600030101010101" pitchFamily="2" charset="-122"/>
              </a:rPr>
              <a:t>一个因变量与多个自变量之间线性关系</a:t>
            </a:r>
            <a:r>
              <a:rPr lang="zh-CN" altLang="en-US" dirty="0">
                <a:latin typeface="微软雅黑" panose="020B0503020204020204" pitchFamily="34" charset="-122"/>
                <a:ea typeface="微软雅黑" panose="020B0503020204020204" pitchFamily="34" charset="-122"/>
                <a:cs typeface="宋体" panose="02010600030101010101" pitchFamily="2" charset="-122"/>
              </a:rPr>
              <a:t>的统计方法。多元线性回归模型中的因变量</a:t>
            </a:r>
            <a:r>
              <a:rPr lang="en-US" altLang="zh-CN" dirty="0">
                <a:latin typeface="微软雅黑" panose="020B0503020204020204" pitchFamily="34" charset="-122"/>
                <a:ea typeface="微软雅黑" panose="020B0503020204020204" pitchFamily="34" charset="-122"/>
                <a:cs typeface="宋体" panose="02010600030101010101" pitchFamily="2" charset="-122"/>
              </a:rPr>
              <a:t>y</a:t>
            </a:r>
            <a:r>
              <a:rPr lang="zh-CN" altLang="en-US" dirty="0">
                <a:latin typeface="微软雅黑" panose="020B0503020204020204" pitchFamily="34" charset="-122"/>
                <a:ea typeface="微软雅黑" panose="020B0503020204020204" pitchFamily="34" charset="-122"/>
                <a:cs typeface="宋体" panose="02010600030101010101" pitchFamily="2" charset="-122"/>
              </a:rPr>
              <a:t>与自变量</a:t>
            </a:r>
            <a:r>
              <a:rPr lang="en-US" altLang="zh-CN" dirty="0">
                <a:latin typeface="微软雅黑" panose="020B0503020204020204" pitchFamily="34" charset="-122"/>
                <a:ea typeface="微软雅黑" panose="020B0503020204020204" pitchFamily="34" charset="-122"/>
                <a:cs typeface="宋体" panose="02010600030101010101" pitchFamily="2" charset="-122"/>
              </a:rPr>
              <a:t>x</a:t>
            </a:r>
            <a:r>
              <a:rPr lang="zh-CN" altLang="en-US" dirty="0">
                <a:latin typeface="微软雅黑" panose="020B0503020204020204" pitchFamily="34" charset="-122"/>
                <a:ea typeface="微软雅黑" panose="020B0503020204020204" pitchFamily="34" charset="-122"/>
                <a:cs typeface="宋体" panose="02010600030101010101" pitchFamily="2" charset="-122"/>
              </a:rPr>
              <a:t>之间满足如下关系式：</a:t>
            </a:r>
            <a:endParaRPr lang="zh-CN" altLang="en-US" dirty="0">
              <a:latin typeface="微软雅黑" panose="020B0503020204020204" pitchFamily="34" charset="-122"/>
              <a:ea typeface="微软雅黑" panose="020B0503020204020204" pitchFamily="34" charset="-122"/>
            </a:endParaRPr>
          </a:p>
        </p:txBody>
      </p:sp>
      <p:graphicFrame>
        <p:nvGraphicFramePr>
          <p:cNvPr id="5" name="对象 4"/>
          <p:cNvGraphicFramePr>
            <a:graphicFrameLocks noChangeAspect="1"/>
          </p:cNvGraphicFramePr>
          <p:nvPr/>
        </p:nvGraphicFramePr>
        <p:xfrm>
          <a:off x="3521367" y="2610242"/>
          <a:ext cx="4396500" cy="425467"/>
        </p:xfrm>
        <a:graphic>
          <a:graphicData uri="http://schemas.openxmlformats.org/presentationml/2006/ole">
            <mc:AlternateContent xmlns:mc="http://schemas.openxmlformats.org/markup-compatibility/2006">
              <mc:Choice xmlns:v="urn:schemas-microsoft-com:vml" Requires="v">
                <p:oleObj spid="_x0000_s25637" name="Equation" r:id="rId1" imgW="1930400" imgH="241300" progId="Equation.DSMT4">
                  <p:embed/>
                </p:oleObj>
              </mc:Choice>
              <mc:Fallback>
                <p:oleObj name="Equation" r:id="rId1" imgW="1930400" imgH="2413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1367" y="2610242"/>
                        <a:ext cx="4396500" cy="425467"/>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7" name="矩形 6"/>
              <p:cNvSpPr/>
              <p:nvPr/>
            </p:nvSpPr>
            <p:spPr>
              <a:xfrm>
                <a:off x="733424" y="3093689"/>
                <a:ext cx="10921447" cy="1127360"/>
              </a:xfrm>
              <a:prstGeom prst="rect">
                <a:avLst/>
              </a:prstGeom>
            </p:spPr>
            <p:txBody>
              <a:bodyPr wrap="square">
                <a:spAutoFit/>
              </a:bodyPr>
              <a:lstStyle/>
              <a:p>
                <a:pPr indent="457200" algn="just">
                  <a:lnSpc>
                    <a:spcPct val="125000"/>
                  </a:lnSpc>
                </a:pPr>
                <a:r>
                  <a:rPr lang="zh-CN" altLang="en-US" dirty="0">
                    <a:latin typeface="微软雅黑" panose="020B0503020204020204" pitchFamily="34" charset="-122"/>
                    <a:ea typeface="微软雅黑" panose="020B0503020204020204" pitchFamily="34" charset="-122"/>
                  </a:rPr>
                  <a:t>其中，</a:t>
                </a:r>
                <a14:m>
                  <m:oMath xmlns:m="http://schemas.openxmlformats.org/officeDocument/2006/math">
                    <m:sSub>
                      <m:sSubPr>
                        <m:ctrlPr>
                          <a:rPr lang="en-US" altLang="zh-CN"/>
                        </m:ctrlPr>
                      </m:sSubPr>
                      <m:e>
                        <m:r>
                          <a:rPr lang="zh-CN" altLang="en-US">
                            <a:latin typeface="Cambria Math" panose="02040503050406030204" pitchFamily="18" charset="0"/>
                          </a:rPr>
                          <m:t>𝛽</m:t>
                        </m:r>
                      </m:e>
                      <m:sub>
                        <m:r>
                          <a:rPr lang="en-US" altLang="zh-CN">
                            <a:latin typeface="Cambria Math" panose="02040503050406030204" pitchFamily="18" charset="0"/>
                          </a:rPr>
                          <m:t>𝑗</m:t>
                        </m:r>
                      </m:sub>
                    </m:sSub>
                    <m:r>
                      <a:rPr lang="en-US" altLang="zh-CN">
                        <a:latin typeface="Cambria Math" panose="02040503050406030204" pitchFamily="18" charset="0"/>
                      </a:rPr>
                      <m:t>(</m:t>
                    </m:r>
                    <m:r>
                      <a:rPr lang="en-US" altLang="zh-CN">
                        <a:latin typeface="Cambria Math" panose="02040503050406030204" pitchFamily="18" charset="0"/>
                      </a:rPr>
                      <m:t>𝑗</m:t>
                    </m:r>
                    <m:r>
                      <a:rPr lang="en-US" altLang="zh-CN">
                        <a:latin typeface="Cambria Math" panose="02040503050406030204" pitchFamily="18" charset="0"/>
                      </a:rPr>
                      <m:t>=</m:t>
                    </m:r>
                    <m:r>
                      <a:rPr lang="en-US" altLang="zh-CN">
                        <a:latin typeface="Cambria Math" panose="02040503050406030204" pitchFamily="18" charset="0"/>
                      </a:rPr>
                      <m:t>1</m:t>
                    </m:r>
                    <m:r>
                      <a:rPr lang="en-US" altLang="zh-CN">
                        <a:latin typeface="Cambria Math" panose="02040503050406030204" pitchFamily="18" charset="0"/>
                      </a:rPr>
                      <m:t>,</m:t>
                    </m:r>
                    <m:r>
                      <a:rPr lang="en-US" altLang="zh-CN">
                        <a:latin typeface="Cambria Math" panose="02040503050406030204" pitchFamily="18" charset="0"/>
                      </a:rPr>
                      <m:t>2</m:t>
                    </m:r>
                    <m:r>
                      <a:rPr lang="en-US" altLang="zh-CN">
                        <a:latin typeface="Cambria Math" panose="02040503050406030204" pitchFamily="18" charset="0"/>
                      </a:rPr>
                      <m:t>,…,</m:t>
                    </m:r>
                    <m:r>
                      <a:rPr lang="en-US" altLang="zh-CN">
                        <a:latin typeface="Cambria Math" panose="02040503050406030204" pitchFamily="18" charset="0"/>
                      </a:rPr>
                      <m:t>𝑝</m:t>
                    </m:r>
                    <m:r>
                      <a:rPr lang="en-US" altLang="zh-CN">
                        <a:latin typeface="Cambria Math" panose="02040503050406030204" pitchFamily="18" charset="0"/>
                      </a:rPr>
                      <m:t>)</m:t>
                    </m:r>
                  </m:oMath>
                </a14:m>
                <a:r>
                  <a:rPr lang="zh-CN" altLang="en-US" dirty="0">
                    <a:latin typeface="微软雅黑" panose="020B0503020204020204" pitchFamily="34" charset="-122"/>
                    <a:ea typeface="微软雅黑" panose="020B0503020204020204" pitchFamily="34" charset="-122"/>
                  </a:rPr>
                  <a:t>称为回归系数。自变量</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在光谱分析中代表一条光谱中多个波长下的信号值，因变量</a:t>
                </a:r>
                <a:r>
                  <a:rPr lang="en-US" altLang="zh-CN" dirty="0">
                    <a:solidFill>
                      <a:srgbClr val="C00000"/>
                    </a:solidFill>
                    <a:latin typeface="微软雅黑" panose="020B0503020204020204" pitchFamily="34" charset="-122"/>
                    <a:ea typeface="微软雅黑" panose="020B0503020204020204" pitchFamily="34" charset="-122"/>
                  </a:rPr>
                  <a:t>y</a:t>
                </a:r>
                <a:r>
                  <a:rPr lang="zh-CN" altLang="en-US" dirty="0">
                    <a:solidFill>
                      <a:srgbClr val="C00000"/>
                    </a:solidFill>
                    <a:latin typeface="微软雅黑" panose="020B0503020204020204" pitchFamily="34" charset="-122"/>
                    <a:ea typeface="微软雅黑" panose="020B0503020204020204" pitchFamily="34" charset="-122"/>
                  </a:rPr>
                  <a:t>可以表示浓度、类别或者其他无量纲的物理量</a:t>
                </a:r>
                <a:r>
                  <a:rPr lang="zh-CN" altLang="en-US" dirty="0">
                    <a:latin typeface="微软雅黑" panose="020B0503020204020204" pitchFamily="34" charset="-122"/>
                    <a:ea typeface="微软雅黑" panose="020B0503020204020204" pitchFamily="34" charset="-122"/>
                  </a:rPr>
                  <a:t>。对于</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条光谱（对应</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组光谱数据），模型的数据结构可以进一步写成如下形式：</a:t>
                </a:r>
                <a:endParaRPr lang="zh-CN" altLang="en-US" dirty="0">
                  <a:latin typeface="微软雅黑" panose="020B0503020204020204" pitchFamily="34" charset="-122"/>
                  <a:ea typeface="微软雅黑" panose="020B0503020204020204" pitchFamily="34" charset="-122"/>
                </a:endParaRPr>
              </a:p>
            </p:txBody>
          </p:sp>
        </mc:Choice>
        <mc:Fallback>
          <p:sp>
            <p:nvSpPr>
              <p:cNvPr id="7" name="矩形 6"/>
              <p:cNvSpPr>
                <a:spLocks noRot="1" noChangeAspect="1" noMove="1" noResize="1" noEditPoints="1" noAdjustHandles="1" noChangeArrowheads="1" noChangeShapeType="1" noTextEdit="1"/>
              </p:cNvSpPr>
              <p:nvPr/>
            </p:nvSpPr>
            <p:spPr>
              <a:xfrm>
                <a:off x="733424" y="3093689"/>
                <a:ext cx="10921447" cy="1127360"/>
              </a:xfrm>
              <a:prstGeom prst="rect">
                <a:avLst/>
              </a:prstGeom>
              <a:blipFill rotWithShape="1">
                <a:blip r:embed="rId3"/>
                <a:stretch>
                  <a:fillRect l="-6" t="-54" r="1" b="-2742"/>
                </a:stretch>
              </a:blipFill>
            </p:spPr>
            <p:txBody>
              <a:bodyPr/>
              <a:lstStyle/>
              <a:p>
                <a:r>
                  <a:rPr lang="zh-CN" altLang="en-US">
                    <a:noFill/>
                  </a:rPr>
                  <a:t> </a:t>
                </a:r>
              </a:p>
            </p:txBody>
          </p:sp>
        </mc:Fallback>
      </mc:AlternateContent>
      <p:graphicFrame>
        <p:nvGraphicFramePr>
          <p:cNvPr id="9" name="对象 8"/>
          <p:cNvGraphicFramePr>
            <a:graphicFrameLocks noChangeAspect="1"/>
          </p:cNvGraphicFramePr>
          <p:nvPr/>
        </p:nvGraphicFramePr>
        <p:xfrm>
          <a:off x="5097094" y="4098682"/>
          <a:ext cx="1097053" cy="341938"/>
        </p:xfrm>
        <a:graphic>
          <a:graphicData uri="http://schemas.openxmlformats.org/presentationml/2006/ole">
            <mc:AlternateContent xmlns:mc="http://schemas.openxmlformats.org/markup-compatibility/2006">
              <mc:Choice xmlns:v="urn:schemas-microsoft-com:vml" Requires="v">
                <p:oleObj spid="_x0000_s25638" name="Equation" r:id="rId4" imgW="736600" imgH="203200" progId="Equation.DSMT4">
                  <p:embed/>
                </p:oleObj>
              </mc:Choice>
              <mc:Fallback>
                <p:oleObj name="Equation" r:id="rId4" imgW="736600" imgH="2032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97094" y="4098682"/>
                        <a:ext cx="1097053" cy="341938"/>
                      </a:xfrm>
                      <a:prstGeom prst="rect">
                        <a:avLst/>
                      </a:prstGeom>
                      <a:noFill/>
                    </p:spPr>
                  </p:pic>
                </p:oleObj>
              </mc:Fallback>
            </mc:AlternateContent>
          </a:graphicData>
        </a:graphic>
      </p:graphicFrame>
      <p:graphicFrame>
        <p:nvGraphicFramePr>
          <p:cNvPr id="13" name="对象 12"/>
          <p:cNvGraphicFramePr>
            <a:graphicFrameLocks noChangeAspect="1"/>
          </p:cNvGraphicFramePr>
          <p:nvPr/>
        </p:nvGraphicFramePr>
        <p:xfrm>
          <a:off x="2921520" y="4414973"/>
          <a:ext cx="5448200" cy="1396196"/>
        </p:xfrm>
        <a:graphic>
          <a:graphicData uri="http://schemas.openxmlformats.org/presentationml/2006/ole">
            <mc:AlternateContent xmlns:mc="http://schemas.openxmlformats.org/markup-compatibility/2006">
              <mc:Choice xmlns:v="urn:schemas-microsoft-com:vml" Requires="v">
                <p:oleObj spid="_x0000_s25639" name="Equation" r:id="rId6" imgW="3530600" imgH="939800" progId="Equation.DSMT4">
                  <p:embed/>
                </p:oleObj>
              </mc:Choice>
              <mc:Fallback>
                <p:oleObj name="Equation" r:id="rId6" imgW="3530600" imgH="9398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1520" y="4414973"/>
                        <a:ext cx="5448200" cy="1396196"/>
                      </a:xfrm>
                      <a:prstGeom prst="rect">
                        <a:avLst/>
                      </a:prstGeom>
                      <a:noFill/>
                    </p:spPr>
                  </p:pic>
                </p:oleObj>
              </mc:Fallback>
            </mc:AlternateContent>
          </a:graphicData>
        </a:graphic>
      </p:graphicFrame>
      <p:sp>
        <p:nvSpPr>
          <p:cNvPr id="18" name="矩形 17"/>
          <p:cNvSpPr/>
          <p:nvPr/>
        </p:nvSpPr>
        <p:spPr>
          <a:xfrm>
            <a:off x="733425" y="5897078"/>
            <a:ext cx="4570482" cy="369332"/>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cs typeface="宋体" panose="02010600030101010101" pitchFamily="2" charset="-122"/>
              </a:rPr>
              <a:t>求解方程组，可得到</a:t>
            </a:r>
            <a:r>
              <a:rPr lang="zh-CN" altLang="zh-CN" dirty="0">
                <a:solidFill>
                  <a:srgbClr val="C00000"/>
                </a:solidFill>
                <a:latin typeface="微软雅黑" panose="020B0503020204020204" pitchFamily="34" charset="-122"/>
                <a:ea typeface="微软雅黑" panose="020B0503020204020204" pitchFamily="34" charset="-122"/>
                <a:cs typeface="宋体" panose="02010600030101010101" pitchFamily="2" charset="-122"/>
              </a:rPr>
              <a:t>回归系数</a:t>
            </a:r>
            <a:r>
              <a:rPr lang="zh-CN" altLang="zh-CN" dirty="0">
                <a:latin typeface="微软雅黑" panose="020B0503020204020204" pitchFamily="34" charset="-122"/>
                <a:ea typeface="微软雅黑" panose="020B0503020204020204" pitchFamily="34" charset="-122"/>
                <a:cs typeface="宋体" panose="02010600030101010101" pitchFamily="2" charset="-122"/>
              </a:rPr>
              <a:t>的估计值为：</a:t>
            </a:r>
            <a:endParaRPr lang="zh-CN" altLang="en-US" dirty="0">
              <a:latin typeface="微软雅黑" panose="020B0503020204020204" pitchFamily="34" charset="-122"/>
              <a:ea typeface="微软雅黑" panose="020B0503020204020204" pitchFamily="34" charset="-122"/>
            </a:endParaRPr>
          </a:p>
        </p:txBody>
      </p:sp>
      <p:graphicFrame>
        <p:nvGraphicFramePr>
          <p:cNvPr id="20" name="对象 19"/>
          <p:cNvGraphicFramePr>
            <a:graphicFrameLocks noChangeAspect="1"/>
          </p:cNvGraphicFramePr>
          <p:nvPr/>
        </p:nvGraphicFramePr>
        <p:xfrm>
          <a:off x="5243053" y="5898990"/>
          <a:ext cx="1763616" cy="367420"/>
        </p:xfrm>
        <a:graphic>
          <a:graphicData uri="http://schemas.openxmlformats.org/presentationml/2006/ole">
            <mc:AlternateContent xmlns:mc="http://schemas.openxmlformats.org/markup-compatibility/2006">
              <mc:Choice xmlns:v="urn:schemas-microsoft-com:vml" Requires="v">
                <p:oleObj spid="_x0000_s25640" name="Equation" r:id="rId8" imgW="1129665" imgH="241300" progId="Equation.DSMT4">
                  <p:embed/>
                </p:oleObj>
              </mc:Choice>
              <mc:Fallback>
                <p:oleObj name="Equation" r:id="rId8" imgW="1129665" imgH="2413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43053" y="5898990"/>
                        <a:ext cx="1763616" cy="367420"/>
                      </a:xfrm>
                      <a:prstGeom prst="rect">
                        <a:avLst/>
                      </a:prstGeom>
                      <a:noFill/>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080937" y="253469"/>
            <a:ext cx="2011680" cy="645160"/>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rPr>
              <a:t>教学单元</a:t>
            </a:r>
            <a:endParaRPr lang="zh-CN" altLang="en-US" sz="3600" b="1" dirty="0"/>
          </a:p>
        </p:txBody>
      </p:sp>
      <p:sp>
        <p:nvSpPr>
          <p:cNvPr id="14" name="矩形 13"/>
          <p:cNvSpPr/>
          <p:nvPr/>
        </p:nvSpPr>
        <p:spPr>
          <a:xfrm>
            <a:off x="3685889" y="1850100"/>
            <a:ext cx="6278875" cy="3408680"/>
          </a:xfrm>
          <a:prstGeom prst="rect">
            <a:avLst/>
          </a:prstGeom>
        </p:spPr>
        <p:txBody>
          <a:bodyPr wrap="square">
            <a:spAutoFit/>
          </a:bodyPr>
          <a:lstStyle/>
          <a:p>
            <a:pPr indent="0" fontAlgn="auto">
              <a:lnSpc>
                <a:spcPct val="200000"/>
              </a:lnSpc>
            </a:pP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4.1  光谱技术概述</a:t>
            </a:r>
            <a:endPar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200000"/>
              </a:lnSpc>
            </a:pPr>
            <a:r>
              <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4.2  </a:t>
            </a: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吸收光谱技术及应用</a:t>
            </a:r>
            <a:endPar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200000"/>
              </a:lnSpc>
            </a:pPr>
            <a:r>
              <a:rPr lang="en-US" altLang="zh-CN"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4.3  </a:t>
            </a: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荧光光谱技术及应用</a:t>
            </a:r>
            <a:endParaRPr lang="en-US" altLang="zh-CN"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70000"/>
              </a:lnSpc>
            </a:pPr>
            <a:endPar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3"/>
          <p:cNvSpPr>
            <a:spLocks noGrp="1"/>
          </p:cNvSpPr>
          <p:nvPr>
            <p:ph idx="4294967295"/>
          </p:nvPr>
        </p:nvSpPr>
        <p:spPr>
          <a:xfrm>
            <a:off x="-3938" y="13970"/>
            <a:ext cx="2692493" cy="347980"/>
          </a:xfrm>
          <a:solidFill>
            <a:schemeClr val="bg1">
              <a:lumMod val="95000"/>
            </a:schemeClr>
          </a:solidFill>
          <a:ln w="25400">
            <a:solidFill>
              <a:schemeClr val="tx2">
                <a:lumMod val="40000"/>
                <a:lumOff val="60000"/>
              </a:schemeClr>
            </a:solidFill>
          </a:ln>
        </p:spPr>
        <p:txBody>
          <a:bodyPr>
            <a:noAutofit/>
          </a:body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8" name="文本框 7"/>
          <p:cNvSpPr txBox="1"/>
          <p:nvPr/>
        </p:nvSpPr>
        <p:spPr>
          <a:xfrm>
            <a:off x="647700" y="1453515"/>
            <a:ext cx="10816590" cy="1906905"/>
          </a:xfrm>
          <a:prstGeom prst="rect">
            <a:avLst/>
          </a:prstGeom>
          <a:noFill/>
        </p:spPr>
        <p:txBody>
          <a:bodyPr wrap="square">
            <a:spAutoFit/>
          </a:bodyPr>
          <a:lstStyle/>
          <a:p>
            <a:pPr indent="304800" algn="just" fontAlgn="auto">
              <a:lnSpc>
                <a:spcPct val="150000"/>
              </a:lnSpc>
              <a:spcBef>
                <a:spcPts val="600"/>
              </a:spcBef>
            </a:pP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 </a:t>
            </a:r>
            <a:r>
              <a:rPr lang="en-US"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rPr>
              <a:t> </a:t>
            </a:r>
            <a:r>
              <a:rPr lang="zh-CN" altLang="en-US"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rPr>
              <a:t>光的吸收</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absorption</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）分为一般吸收和选择性吸收。</a:t>
            </a:r>
            <a:r>
              <a:rPr lang="zh-CN" altLang="en-US" dirty="0">
                <a:effectLst/>
                <a:latin typeface="微软雅黑" panose="020B0503020204020204" pitchFamily="34" charset="-122"/>
                <a:ea typeface="微软雅黑" panose="020B0503020204020204" pitchFamily="34" charset="-122"/>
                <a:cs typeface="宋体" panose="02010600030101010101" pitchFamily="2" charset="-122"/>
                <a:sym typeface="+mn-ea"/>
              </a:rPr>
              <a:t>一般吸收</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的光吸收量与波长无关，</a:t>
            </a:r>
            <a:r>
              <a:rPr lang="zh-CN" altLang="en-US" dirty="0">
                <a:effectLst/>
                <a:latin typeface="微软雅黑" panose="020B0503020204020204" pitchFamily="34" charset="-122"/>
                <a:ea typeface="微软雅黑" panose="020B0503020204020204" pitchFamily="34" charset="-122"/>
                <a:cs typeface="宋体" panose="02010600030101010101" pitchFamily="2" charset="-122"/>
                <a:sym typeface="+mn-ea"/>
              </a:rPr>
              <a:t>选择性吸收</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则会选择性地对某些特定波长的光产生明显吸收。</a:t>
            </a:r>
            <a:endParaRPr lang="zh-CN" altLang="en-US" sz="1800" dirty="0">
              <a:effectLst/>
              <a:latin typeface="微软雅黑" panose="020B0503020204020204" pitchFamily="34" charset="-122"/>
              <a:ea typeface="微软雅黑" panose="020B0503020204020204" pitchFamily="34" charset="-122"/>
              <a:cs typeface="宋体" panose="02010600030101010101" pitchFamily="2" charset="-122"/>
            </a:endParaRPr>
          </a:p>
          <a:p>
            <a:pPr indent="304800" algn="just" fontAlgn="auto">
              <a:lnSpc>
                <a:spcPct val="150000"/>
              </a:lnSpc>
              <a:spcBef>
                <a:spcPts val="600"/>
              </a:spcBef>
            </a:pP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 </a:t>
            </a:r>
            <a:r>
              <a:rPr lang="en-US"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rPr>
              <a:t> </a:t>
            </a:r>
            <a:r>
              <a:rPr lang="zh-CN" altLang="en-US"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rPr>
              <a:t>吸收光谱技术</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是研究物质的选择性吸收特性，可应用于有机物组分、结构和特征的分析。</a:t>
            </a:r>
            <a:endParaRPr lang="zh-CN" altLang="en-US" sz="1800" dirty="0">
              <a:effectLst/>
              <a:latin typeface="微软雅黑" panose="020B0503020204020204" pitchFamily="34" charset="-122"/>
              <a:ea typeface="微软雅黑" panose="020B0503020204020204" pitchFamily="34" charset="-122"/>
              <a:cs typeface="宋体" panose="02010600030101010101" pitchFamily="2" charset="-122"/>
            </a:endParaRPr>
          </a:p>
          <a:p>
            <a:pPr indent="304800" algn="just" fontAlgn="auto">
              <a:lnSpc>
                <a:spcPct val="150000"/>
              </a:lnSpc>
              <a:spcBef>
                <a:spcPts val="600"/>
              </a:spcBef>
            </a:pP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 </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主要介绍紫外</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可见吸收光谱即分子在</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200</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800nm</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波段吸收光辐射的特性。</a:t>
            </a:r>
            <a:endParaRPr lang="zh-CN" altLang="en-US" sz="1800" dirty="0">
              <a:effectLst/>
              <a:latin typeface="微软雅黑" panose="020B0503020204020204" pitchFamily="34" charset="-122"/>
              <a:ea typeface="微软雅黑" panose="020B0503020204020204" pitchFamily="34" charset="-122"/>
              <a:cs typeface="宋体" panose="02010600030101010101" pitchFamily="2" charset="-122"/>
            </a:endParaRPr>
          </a:p>
        </p:txBody>
      </p:sp>
      <p:sp>
        <p:nvSpPr>
          <p:cNvPr id="3" name="矩形 2"/>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4.2  </a:t>
            </a:r>
            <a:r>
              <a:rPr lang="zh-CN" altLang="en-US" sz="1600" dirty="0">
                <a:solidFill>
                  <a:srgbClr val="002060"/>
                </a:solidFill>
                <a:latin typeface="微软雅黑" panose="020B0503020204020204" pitchFamily="34" charset="-122"/>
                <a:ea typeface="微软雅黑" panose="020B0503020204020204" pitchFamily="34" charset="-122"/>
              </a:rPr>
              <a:t>吸收光谱技术及应用</a:t>
            </a:r>
            <a:endParaRPr lang="zh-CN" altLang="en-US" sz="1600" dirty="0">
              <a:solidFill>
                <a:srgbClr val="002060"/>
              </a:solidFill>
            </a:endParaRPr>
          </a:p>
        </p:txBody>
      </p:sp>
      <p:sp>
        <p:nvSpPr>
          <p:cNvPr id="10" name="标题 9"/>
          <p:cNvSpPr>
            <a:spLocks noGrp="1"/>
          </p:cNvSpPr>
          <p:nvPr>
            <p:ph type="title"/>
          </p:nvPr>
        </p:nvSpPr>
        <p:spPr>
          <a:xfrm>
            <a:off x="2751420" y="390592"/>
            <a:ext cx="6690360" cy="612140"/>
          </a:xfrm>
        </p:spPr>
        <p:txBody>
          <a:bodyPr>
            <a:normAutofit/>
          </a:bodyPr>
          <a:lstStyle/>
          <a:p>
            <a:pPr algn="ctr"/>
            <a:r>
              <a:rPr lang="en-US" altLang="zh-CN" b="1" dirty="0">
                <a:solidFill>
                  <a:srgbClr val="002060"/>
                </a:solidFill>
              </a:rPr>
              <a:t>4.2 </a:t>
            </a:r>
            <a:r>
              <a:rPr lang="zh-CN" altLang="en-US" b="1" dirty="0">
                <a:solidFill>
                  <a:srgbClr val="002060"/>
                </a:solidFill>
              </a:rPr>
              <a:t>吸收光谱技术及应用</a:t>
            </a:r>
            <a:r>
              <a:rPr lang="en-US" altLang="zh-CN" b="1" dirty="0">
                <a:solidFill>
                  <a:srgbClr val="002060"/>
                </a:solidFill>
              </a:rPr>
              <a:t>       </a:t>
            </a:r>
            <a:endParaRPr lang="en-US" altLang="zh-CN" b="1" dirty="0">
              <a:solidFill>
                <a:srgbClr val="002060"/>
              </a:solidFill>
            </a:endParaRP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
        <p:nvSpPr>
          <p:cNvPr id="5" name="文本框 4"/>
          <p:cNvSpPr txBox="1"/>
          <p:nvPr/>
        </p:nvSpPr>
        <p:spPr>
          <a:xfrm>
            <a:off x="742950" y="3628390"/>
            <a:ext cx="10708005" cy="2322830"/>
          </a:xfrm>
          <a:prstGeom prst="rect">
            <a:avLst/>
          </a:prstGeom>
        </p:spPr>
        <p:txBody>
          <a:bodyPr wrap="square">
            <a:spAutoFit/>
          </a:bodyPr>
          <a:p>
            <a:pPr indent="304800" algn="just" defTabSz="266700" fontAlgn="auto">
              <a:lnSpc>
                <a:spcPct val="150000"/>
              </a:lnSpc>
              <a:spcBef>
                <a:spcPts val="600"/>
              </a:spcBef>
            </a:pPr>
            <a:r>
              <a:rPr lang="en-US" altLang="zh-CN">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紫外</a:t>
            </a:r>
            <a:r>
              <a:rPr lang="en-US" altLang="zh-CN"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可见吸收光谱</a:t>
            </a:r>
            <a:r>
              <a:rPr lang="zh-CN" altLang="en-US">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由物质分子中电子能级之间的跃迁所产生，光谱横坐标为波长（</a:t>
            </a:r>
            <a:r>
              <a:rPr lang="en-US" altLang="zh-CN">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nm</a:t>
            </a:r>
            <a:r>
              <a:rPr lang="zh-CN" altLang="en-US">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），纵坐标为吸光度。</a:t>
            </a:r>
            <a:endParaRPr lang="zh-CN" altLang="en-US">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indent="304800" algn="just" defTabSz="266700" fontAlgn="auto">
              <a:lnSpc>
                <a:spcPct val="150000"/>
              </a:lnSpc>
              <a:spcBef>
                <a:spcPts val="600"/>
              </a:spcBef>
            </a:pPr>
            <a:r>
              <a:rPr lang="en-US" altLang="zh-CN"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紫外</a:t>
            </a:r>
            <a:r>
              <a:rPr lang="en-US" altLang="zh-CN"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可见光区通常分为三个区域：</a:t>
            </a:r>
            <a:r>
              <a:rPr lang="en-US" altLang="zh-CN">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10~200 nm </a:t>
            </a:r>
            <a:r>
              <a:rPr lang="zh-CN" altLang="en-US">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的远紫外光区（也称真空紫外光谱区）、</a:t>
            </a:r>
            <a:r>
              <a:rPr lang="en-US" altLang="zh-CN">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200~380 nm </a:t>
            </a:r>
            <a:r>
              <a:rPr lang="zh-CN" altLang="en-US">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的近紫外光区和 </a:t>
            </a:r>
            <a:r>
              <a:rPr lang="en-US" altLang="zh-CN">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380~760 nm </a:t>
            </a:r>
            <a:r>
              <a:rPr lang="zh-CN" altLang="en-US">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的可见光区。</a:t>
            </a:r>
            <a:endParaRPr lang="zh-CN" altLang="en-US">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indent="304800" algn="just" defTabSz="266700" fontAlgn="auto">
              <a:lnSpc>
                <a:spcPct val="150000"/>
              </a:lnSpc>
              <a:spcBef>
                <a:spcPts val="600"/>
              </a:spcBef>
            </a:pPr>
            <a:r>
              <a:rPr lang="zh-CN" altLang="en-US">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由于远紫外光区的光源和探测器均未有成熟的产品，所以实际中很少使用。</a:t>
            </a:r>
            <a:endParaRPr lang="zh-CN" altLang="en-US">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3"/>
          <p:cNvSpPr>
            <a:spLocks noGrp="1"/>
          </p:cNvSpPr>
          <p:nvPr>
            <p:ph idx="4294967295"/>
          </p:nvPr>
        </p:nvSpPr>
        <p:spPr>
          <a:xfrm>
            <a:off x="-3938" y="13970"/>
            <a:ext cx="2692493" cy="347980"/>
          </a:xfrm>
          <a:solidFill>
            <a:schemeClr val="bg1">
              <a:lumMod val="95000"/>
            </a:schemeClr>
          </a:solidFill>
          <a:ln w="25400">
            <a:solidFill>
              <a:schemeClr val="tx2">
                <a:lumMod val="40000"/>
                <a:lumOff val="60000"/>
              </a:schemeClr>
            </a:solidFill>
          </a:ln>
        </p:spPr>
        <p:txBody>
          <a:bodyPr>
            <a:noAutofit/>
          </a:body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52685" y="1091309"/>
            <a:ext cx="2483772" cy="398780"/>
          </a:xfrm>
          <a:prstGeom prst="rect">
            <a:avLst/>
          </a:prstGeom>
          <a:noFill/>
        </p:spPr>
        <p:txBody>
          <a:bodyPr wrap="square">
            <a:spAutoFit/>
          </a:bodyPr>
          <a:lstStyle/>
          <a:p>
            <a:r>
              <a:rPr lang="en-US" altLang="zh-CN" sz="2000" b="1" dirty="0">
                <a:effectLst/>
                <a:latin typeface="微软雅黑" panose="020B0503020204020204" pitchFamily="34" charset="-122"/>
                <a:cs typeface="宋体" panose="02010600030101010101" pitchFamily="2" charset="-122"/>
              </a:rPr>
              <a:t>1. </a:t>
            </a:r>
            <a:r>
              <a:rPr lang="zh-CN" altLang="zh-CN" sz="2000" b="1" dirty="0">
                <a:effectLst/>
                <a:ea typeface="微软雅黑" panose="020B0503020204020204" pitchFamily="34" charset="-122"/>
                <a:cs typeface="宋体" panose="02010600030101010101" pitchFamily="2" charset="-122"/>
              </a:rPr>
              <a:t>分子能级跃迁</a:t>
            </a:r>
            <a:endParaRPr lang="zh-CN" altLang="en-US" sz="2000" b="1" dirty="0"/>
          </a:p>
        </p:txBody>
      </p:sp>
      <p:sp>
        <p:nvSpPr>
          <p:cNvPr id="8" name="文本框 7"/>
          <p:cNvSpPr txBox="1"/>
          <p:nvPr/>
        </p:nvSpPr>
        <p:spPr>
          <a:xfrm>
            <a:off x="352682" y="1465509"/>
            <a:ext cx="11487830" cy="1337945"/>
          </a:xfrm>
          <a:prstGeom prst="rect">
            <a:avLst/>
          </a:prstGeom>
          <a:noFill/>
        </p:spPr>
        <p:txBody>
          <a:bodyPr wrap="square">
            <a:spAutoFit/>
          </a:bodyPr>
          <a:lstStyle/>
          <a:p>
            <a:pPr indent="304800" algn="just">
              <a:lnSpc>
                <a:spcPct val="150000"/>
              </a:lnSpc>
            </a:pP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分子能级跃迁示意图如下图所示。</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图中</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E</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V</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和</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R</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分别表示</a:t>
            </a:r>
            <a:r>
              <a:rPr lang="zh-CN" altLang="zh-CN" sz="1800" b="1" dirty="0">
                <a:solidFill>
                  <a:srgbClr val="002060"/>
                </a:solidFill>
                <a:effectLst/>
                <a:latin typeface="微软雅黑" panose="020B0503020204020204" pitchFamily="34" charset="-122"/>
                <a:ea typeface="微软雅黑" panose="020B0503020204020204" pitchFamily="34" charset="-122"/>
                <a:cs typeface="宋体" panose="02010600030101010101" pitchFamily="2" charset="-122"/>
              </a:rPr>
              <a:t>电子、振动和转动能级</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，可能发生的能级跃迁有</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A</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B</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和</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C</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三种形式。</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A</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为转动能级跃迁，产生的光谱会出现在</a:t>
            </a:r>
            <a:r>
              <a:rPr lang="zh-CN" altLang="zh-CN" sz="1800" b="1" dirty="0">
                <a:solidFill>
                  <a:srgbClr val="002060"/>
                </a:solidFill>
                <a:effectLst/>
                <a:latin typeface="微软雅黑" panose="020B0503020204020204" pitchFamily="34" charset="-122"/>
                <a:ea typeface="微软雅黑" panose="020B0503020204020204" pitchFamily="34" charset="-122"/>
                <a:cs typeface="宋体" panose="02010600030101010101" pitchFamily="2" charset="-122"/>
              </a:rPr>
              <a:t>远红外甚至是微波区域</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B</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为转动</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振动能级跃迁，产生的光谱会出现在</a:t>
            </a:r>
            <a:r>
              <a:rPr lang="zh-CN" altLang="zh-CN" sz="1800" b="1" dirty="0">
                <a:solidFill>
                  <a:srgbClr val="002060"/>
                </a:solidFill>
                <a:effectLst/>
                <a:latin typeface="微软雅黑" panose="020B0503020204020204" pitchFamily="34" charset="-122"/>
                <a:ea typeface="微软雅黑" panose="020B0503020204020204" pitchFamily="34" charset="-122"/>
                <a:cs typeface="宋体" panose="02010600030101010101" pitchFamily="2" charset="-122"/>
              </a:rPr>
              <a:t>中红外区域</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C</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为转动</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振动</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电子能级跃迁，产生的光谱会出现在</a:t>
            </a:r>
            <a:r>
              <a:rPr lang="zh-CN" altLang="zh-CN"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紫外</a:t>
            </a:r>
            <a:r>
              <a:rPr lang="en-US" altLang="zh-CN"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a:t>
            </a:r>
            <a:r>
              <a:rPr lang="zh-CN" altLang="zh-CN"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可见光区域</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a:t>
            </a:r>
            <a:endParaRPr lang="zh-CN" altLang="zh-CN" sz="1800" dirty="0">
              <a:effectLst/>
              <a:latin typeface="微软雅黑" panose="020B0503020204020204" pitchFamily="34" charset="-122"/>
              <a:ea typeface="微软雅黑" panose="020B0503020204020204" pitchFamily="34" charset="-122"/>
              <a:cs typeface="宋体" panose="02010600030101010101" pitchFamily="2" charset="-122"/>
            </a:endParaRPr>
          </a:p>
        </p:txBody>
      </p:sp>
      <p:pic>
        <p:nvPicPr>
          <p:cNvPr id="9" name="Picture 15"/>
          <p:cNvPicPr>
            <a:picLocks noChangeAspect="1"/>
          </p:cNvPicPr>
          <p:nvPr/>
        </p:nvPicPr>
        <p:blipFill>
          <a:blip r:embed="rId1"/>
          <a:stretch>
            <a:fillRect/>
          </a:stretch>
        </p:blipFill>
        <p:spPr>
          <a:xfrm>
            <a:off x="3995653" y="2893536"/>
            <a:ext cx="4760687" cy="3776956"/>
          </a:xfrm>
          <a:prstGeom prst="rect">
            <a:avLst/>
          </a:prstGeom>
          <a:noFill/>
          <a:ln w="9525">
            <a:noFill/>
          </a:ln>
        </p:spPr>
      </p:pic>
      <p:sp>
        <p:nvSpPr>
          <p:cNvPr id="3" name="矩形 2"/>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4.2  </a:t>
            </a:r>
            <a:r>
              <a:rPr lang="zh-CN" altLang="en-US" sz="1600" dirty="0">
                <a:solidFill>
                  <a:srgbClr val="002060"/>
                </a:solidFill>
                <a:latin typeface="微软雅黑" panose="020B0503020204020204" pitchFamily="34" charset="-122"/>
                <a:ea typeface="微软雅黑" panose="020B0503020204020204" pitchFamily="34" charset="-122"/>
              </a:rPr>
              <a:t>吸收光谱技术及应用</a:t>
            </a:r>
            <a:endParaRPr lang="zh-CN" altLang="en-US" sz="1600" dirty="0">
              <a:solidFill>
                <a:srgbClr val="002060"/>
              </a:solidFill>
            </a:endParaRPr>
          </a:p>
        </p:txBody>
      </p:sp>
      <p:sp>
        <p:nvSpPr>
          <p:cNvPr id="10" name="标题 9"/>
          <p:cNvSpPr>
            <a:spLocks noGrp="1"/>
          </p:cNvSpPr>
          <p:nvPr>
            <p:ph type="title"/>
          </p:nvPr>
        </p:nvSpPr>
        <p:spPr>
          <a:xfrm>
            <a:off x="2751420" y="390592"/>
            <a:ext cx="6690360" cy="612140"/>
          </a:xfrm>
        </p:spPr>
        <p:txBody>
          <a:bodyPr>
            <a:normAutofit/>
          </a:bodyPr>
          <a:lstStyle/>
          <a:p>
            <a:pPr algn="ctr"/>
            <a:r>
              <a:rPr lang="en-US" altLang="zh-CN" b="1" dirty="0">
                <a:solidFill>
                  <a:srgbClr val="002060"/>
                </a:solidFill>
              </a:rPr>
              <a:t>4.2.1 </a:t>
            </a:r>
            <a:r>
              <a:rPr lang="zh-CN" altLang="en-US" b="1" dirty="0">
                <a:solidFill>
                  <a:srgbClr val="002060"/>
                </a:solidFill>
              </a:rPr>
              <a:t>基本原理</a:t>
            </a:r>
            <a:endParaRPr lang="zh-CN" altLang="en-US" b="1" dirty="0">
              <a:solidFill>
                <a:srgbClr val="002060"/>
              </a:solidFill>
            </a:endParaRP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90592"/>
            <a:ext cx="6690360" cy="612140"/>
          </a:xfrm>
        </p:spPr>
        <p:txBody>
          <a:bodyPr>
            <a:normAutofit/>
          </a:bodyPr>
          <a:lstStyle/>
          <a:p>
            <a:pPr algn="ctr"/>
            <a:r>
              <a:rPr lang="en-US" altLang="zh-CN" b="1" dirty="0">
                <a:solidFill>
                  <a:srgbClr val="002060"/>
                </a:solidFill>
              </a:rPr>
              <a:t>4.2.1 </a:t>
            </a:r>
            <a:r>
              <a:rPr lang="zh-CN" altLang="en-US" b="1" dirty="0">
                <a:solidFill>
                  <a:srgbClr val="002060"/>
                </a:solidFill>
              </a:rPr>
              <a:t>基本原理</a:t>
            </a:r>
            <a:endParaRPr lang="zh-CN" altLang="en-US" b="1" dirty="0">
              <a:solidFill>
                <a:srgbClr val="002060"/>
              </a:solidFill>
            </a:endParaRPr>
          </a:p>
        </p:txBody>
      </p:sp>
      <p:sp>
        <p:nvSpPr>
          <p:cNvPr id="11" name="内容占位符 3"/>
          <p:cNvSpPr>
            <a:spLocks noGrp="1"/>
          </p:cNvSpPr>
          <p:nvPr>
            <p:ph idx="4294967295"/>
          </p:nvPr>
        </p:nvSpPr>
        <p:spPr>
          <a:xfrm>
            <a:off x="-3938" y="13970"/>
            <a:ext cx="2692493" cy="347980"/>
          </a:xfrm>
          <a:solidFill>
            <a:schemeClr val="bg1">
              <a:lumMod val="95000"/>
            </a:schemeClr>
          </a:solidFill>
          <a:ln w="25400">
            <a:solidFill>
              <a:schemeClr val="tx2">
                <a:lumMod val="40000"/>
                <a:lumOff val="60000"/>
              </a:schemeClr>
            </a:solidFill>
          </a:ln>
        </p:spPr>
        <p:txBody>
          <a:bodyPr>
            <a:noAutofit/>
          </a:body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60000" y="1107919"/>
            <a:ext cx="3987686" cy="398780"/>
          </a:xfrm>
          <a:prstGeom prst="rect">
            <a:avLst/>
          </a:prstGeom>
          <a:noFill/>
        </p:spPr>
        <p:txBody>
          <a:bodyPr wrap="square">
            <a:spAutoFit/>
          </a:bodyPr>
          <a:lstStyle/>
          <a:p>
            <a:r>
              <a:rPr lang="en-US" altLang="zh-CN" sz="2000" b="1" dirty="0">
                <a:effectLst/>
                <a:latin typeface="微软雅黑" panose="020B0503020204020204" pitchFamily="34" charset="-122"/>
                <a:cs typeface="宋体" panose="02010600030101010101" pitchFamily="2" charset="-122"/>
              </a:rPr>
              <a:t>2. </a:t>
            </a:r>
            <a:r>
              <a:rPr lang="zh-CN" altLang="en-US" sz="2000" b="1" dirty="0">
                <a:effectLst/>
                <a:ea typeface="微软雅黑" panose="020B0503020204020204" pitchFamily="34" charset="-122"/>
                <a:cs typeface="宋体" panose="02010600030101010101" pitchFamily="2" charset="-122"/>
              </a:rPr>
              <a:t>电子能级跃迁与紫外</a:t>
            </a:r>
            <a:r>
              <a:rPr lang="en-US" altLang="zh-CN" sz="2000" b="1" dirty="0">
                <a:effectLst/>
                <a:ea typeface="微软雅黑" panose="020B0503020204020204" pitchFamily="34" charset="-122"/>
                <a:cs typeface="宋体" panose="02010600030101010101" pitchFamily="2" charset="-122"/>
              </a:rPr>
              <a:t>-</a:t>
            </a:r>
            <a:r>
              <a:rPr lang="zh-CN" altLang="en-US" sz="2000" b="1" dirty="0">
                <a:effectLst/>
                <a:ea typeface="微软雅黑" panose="020B0503020204020204" pitchFamily="34" charset="-122"/>
                <a:cs typeface="宋体" panose="02010600030101010101" pitchFamily="2" charset="-122"/>
              </a:rPr>
              <a:t>可见光谱</a:t>
            </a:r>
            <a:endParaRPr lang="zh-CN" altLang="en-US" sz="2000" b="1" dirty="0"/>
          </a:p>
        </p:txBody>
      </p:sp>
      <p:pic>
        <p:nvPicPr>
          <p:cNvPr id="2" name="图片 1"/>
          <p:cNvPicPr>
            <a:picLocks noChangeAspect="1"/>
          </p:cNvPicPr>
          <p:nvPr/>
        </p:nvPicPr>
        <p:blipFill>
          <a:blip r:embed="rId1"/>
          <a:stretch>
            <a:fillRect/>
          </a:stretch>
        </p:blipFill>
        <p:spPr>
          <a:xfrm>
            <a:off x="368220" y="3670077"/>
            <a:ext cx="5261673" cy="2375137"/>
          </a:xfrm>
          <a:prstGeom prst="rect">
            <a:avLst/>
          </a:prstGeom>
        </p:spPr>
      </p:pic>
      <p:sp>
        <p:nvSpPr>
          <p:cNvPr id="8" name="文本框 7"/>
          <p:cNvSpPr txBox="1"/>
          <p:nvPr/>
        </p:nvSpPr>
        <p:spPr>
          <a:xfrm>
            <a:off x="392430" y="1497330"/>
            <a:ext cx="11327765" cy="1337945"/>
          </a:xfrm>
          <a:prstGeom prst="rect">
            <a:avLst/>
          </a:prstGeom>
          <a:noFill/>
        </p:spPr>
        <p:txBody>
          <a:bodyPr wrap="square">
            <a:spAutoFit/>
          </a:bodyPr>
          <a:lstStyle/>
          <a:p>
            <a:pPr indent="304800" algn="just">
              <a:lnSpc>
                <a:spcPct val="150000"/>
              </a:lnSpc>
            </a:pP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  紫外</a:t>
            </a:r>
            <a:r>
              <a:rPr lang="en-US" altLang="zh-CN" sz="1800" dirty="0">
                <a:effectLst/>
                <a:latin typeface="微软雅黑" panose="020B0503020204020204" pitchFamily="34" charset="-122"/>
                <a:ea typeface="微软雅黑" panose="020B0503020204020204" pitchFamily="34" charset="-122"/>
                <a:cs typeface="宋体" panose="02010600030101010101" pitchFamily="2" charset="-122"/>
              </a:rPr>
              <a:t>-</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可见吸收光谱由物质分子中</a:t>
            </a:r>
            <a:r>
              <a:rPr lang="zh-CN" altLang="en-US" sz="1800" b="1" dirty="0">
                <a:solidFill>
                  <a:srgbClr val="002060"/>
                </a:solidFill>
                <a:effectLst/>
                <a:latin typeface="微软雅黑" panose="020B0503020204020204" pitchFamily="34" charset="-122"/>
                <a:ea typeface="微软雅黑" panose="020B0503020204020204" pitchFamily="34" charset="-122"/>
                <a:cs typeface="宋体" panose="02010600030101010101" pitchFamily="2" charset="-122"/>
              </a:rPr>
              <a:t>电子能级跃迁</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所产生。在有机化合物分子中主要有三种电子：形成单键的</a:t>
            </a:r>
            <a:r>
              <a:rPr lang="en-US" altLang="zh-CN" sz="1800" b="1" dirty="0">
                <a:solidFill>
                  <a:srgbClr val="002060"/>
                </a:solidFill>
                <a:effectLst/>
                <a:latin typeface="微软雅黑" panose="020B0503020204020204" pitchFamily="34" charset="-122"/>
                <a:ea typeface="微软雅黑" panose="020B0503020204020204" pitchFamily="34" charset="-122"/>
                <a:cs typeface="宋体" panose="02010600030101010101" pitchFamily="2" charset="-122"/>
              </a:rPr>
              <a:t>σ</a:t>
            </a:r>
            <a:r>
              <a:rPr lang="zh-CN" altLang="en-US" sz="1800" b="1" dirty="0">
                <a:solidFill>
                  <a:srgbClr val="002060"/>
                </a:solidFill>
                <a:effectLst/>
                <a:latin typeface="微软雅黑" panose="020B0503020204020204" pitchFamily="34" charset="-122"/>
                <a:ea typeface="微软雅黑" panose="020B0503020204020204" pitchFamily="34" charset="-122"/>
                <a:cs typeface="宋体" panose="02010600030101010101" pitchFamily="2" charset="-122"/>
              </a:rPr>
              <a:t>电子</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、形成双键的</a:t>
            </a:r>
            <a:r>
              <a:rPr lang="en-US" altLang="zh-CN" sz="1800" b="1" dirty="0">
                <a:solidFill>
                  <a:srgbClr val="002060"/>
                </a:solidFill>
                <a:effectLst/>
                <a:latin typeface="微软雅黑" panose="020B0503020204020204" pitchFamily="34" charset="-122"/>
                <a:ea typeface="微软雅黑" panose="020B0503020204020204" pitchFamily="34" charset="-122"/>
                <a:cs typeface="宋体" panose="02010600030101010101" pitchFamily="2" charset="-122"/>
              </a:rPr>
              <a:t>π</a:t>
            </a:r>
            <a:r>
              <a:rPr lang="zh-CN" altLang="en-US" sz="1800" b="1" dirty="0">
                <a:solidFill>
                  <a:srgbClr val="002060"/>
                </a:solidFill>
                <a:effectLst/>
                <a:latin typeface="微软雅黑" panose="020B0503020204020204" pitchFamily="34" charset="-122"/>
                <a:ea typeface="微软雅黑" panose="020B0503020204020204" pitchFamily="34" charset="-122"/>
                <a:cs typeface="宋体" panose="02010600030101010101" pitchFamily="2" charset="-122"/>
              </a:rPr>
              <a:t>电子</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和未成键的</a:t>
            </a:r>
            <a:r>
              <a:rPr lang="en-US" altLang="zh-CN" sz="1800" b="1" dirty="0">
                <a:solidFill>
                  <a:srgbClr val="002060"/>
                </a:solidFill>
                <a:effectLst/>
                <a:latin typeface="微软雅黑" panose="020B0503020204020204" pitchFamily="34" charset="-122"/>
                <a:ea typeface="微软雅黑" panose="020B0503020204020204" pitchFamily="34" charset="-122"/>
                <a:cs typeface="宋体" panose="02010600030101010101" pitchFamily="2" charset="-122"/>
              </a:rPr>
              <a:t>n</a:t>
            </a:r>
            <a:r>
              <a:rPr lang="zh-CN" altLang="en-US" sz="1800" b="1" dirty="0">
                <a:solidFill>
                  <a:srgbClr val="002060"/>
                </a:solidFill>
                <a:effectLst/>
                <a:latin typeface="微软雅黑" panose="020B0503020204020204" pitchFamily="34" charset="-122"/>
                <a:ea typeface="微软雅黑" panose="020B0503020204020204" pitchFamily="34" charset="-122"/>
                <a:cs typeface="宋体" panose="02010600030101010101" pitchFamily="2" charset="-122"/>
              </a:rPr>
              <a:t>电子</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。需要注意的是，不是任意两个电子能级之间都会发生跃迁；能发生的</a:t>
            </a:r>
            <a:r>
              <a:rPr lang="zh-CN" altLang="en-US" dirty="0">
                <a:effectLst/>
                <a:latin typeface="微软雅黑" panose="020B0503020204020204" pitchFamily="34" charset="-122"/>
                <a:ea typeface="微软雅黑" panose="020B0503020204020204" pitchFamily="34" charset="-122"/>
                <a:cs typeface="宋体" panose="02010600030101010101" pitchFamily="2" charset="-122"/>
                <a:sym typeface="+mn-ea"/>
              </a:rPr>
              <a:t>四种跃迁形式是</a:t>
            </a:r>
            <a:r>
              <a:rPr lang="en-US" altLang="zh-CN"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σ→σ*</a:t>
            </a:r>
            <a:r>
              <a:rPr lang="zh-CN" altLang="en-US"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n→σ*</a:t>
            </a:r>
            <a:r>
              <a:rPr lang="zh-CN" altLang="en-US"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π→π*</a:t>
            </a:r>
            <a:r>
              <a:rPr lang="zh-CN" altLang="en-US"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和</a:t>
            </a:r>
            <a:r>
              <a:rPr lang="en-US" altLang="zh-CN"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n→π*</a:t>
            </a:r>
            <a:r>
              <a:rPr lang="zh-CN" altLang="en-US" sz="1800" dirty="0">
                <a:effectLst/>
                <a:latin typeface="微软雅黑" panose="020B0503020204020204" pitchFamily="34" charset="-122"/>
                <a:ea typeface="微软雅黑" panose="020B0503020204020204" pitchFamily="34" charset="-122"/>
                <a:cs typeface="宋体" panose="02010600030101010101" pitchFamily="2" charset="-122"/>
              </a:rPr>
              <a:t>。</a:t>
            </a:r>
            <a:endParaRPr lang="zh-CN" altLang="zh-CN" sz="1800" dirty="0">
              <a:effectLst/>
              <a:latin typeface="微软雅黑" panose="020B0503020204020204" pitchFamily="34" charset="-122"/>
              <a:ea typeface="微软雅黑" panose="020B0503020204020204" pitchFamily="34" charset="-122"/>
              <a:cs typeface="宋体" panose="02010600030101010101" pitchFamily="2" charset="-122"/>
            </a:endParaRPr>
          </a:p>
        </p:txBody>
      </p:sp>
      <p:sp>
        <p:nvSpPr>
          <p:cNvPr id="10" name="文本框 9"/>
          <p:cNvSpPr txBox="1"/>
          <p:nvPr/>
        </p:nvSpPr>
        <p:spPr>
          <a:xfrm>
            <a:off x="5884554" y="2873717"/>
            <a:ext cx="5876838" cy="3444240"/>
          </a:xfrm>
          <a:prstGeom prst="rect">
            <a:avLst/>
          </a:prstGeom>
          <a:noFill/>
        </p:spPr>
        <p:txBody>
          <a:bodyPr wrap="square">
            <a:spAutoFit/>
          </a:bodyPr>
          <a:lstStyle/>
          <a:p>
            <a:pPr indent="0" algn="just" fontAlgn="auto">
              <a:lnSpc>
                <a:spcPct val="130000"/>
              </a:lnSpc>
              <a:spcBef>
                <a:spcPts val="3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dirty="0">
                <a:latin typeface="微软雅黑" panose="020B0503020204020204" pitchFamily="34" charset="-122"/>
                <a:ea typeface="微软雅黑" panose="020B0503020204020204" pitchFamily="34" charset="-122"/>
                <a:cs typeface="Times New Roman" panose="02020603050405020304" pitchFamily="18" charset="0"/>
              </a:rPr>
              <a:t>σ→σ*</a:t>
            </a: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跃迁</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：所需</a:t>
            </a:r>
            <a:r>
              <a:rPr lang="zh-CN" altLang="en-US" b="1"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能量最大</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，一般位于远紫外光区。例如：饱和有机化合物的电子能级跃迁。</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indent="0" algn="just" fontAlgn="auto">
              <a:lnSpc>
                <a:spcPct val="130000"/>
              </a:lnSpc>
              <a:spcBef>
                <a:spcPts val="300"/>
              </a:spcBef>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n→σ*</a:t>
            </a:r>
            <a:r>
              <a:rPr lang="zh-CN" altLang="en-US" b="1" dirty="0">
                <a:latin typeface="微软雅黑" panose="020B0503020204020204" pitchFamily="34" charset="-122"/>
                <a:ea typeface="微软雅黑" panose="020B0503020204020204" pitchFamily="34" charset="-122"/>
              </a:rPr>
              <a:t>跃迁</a:t>
            </a:r>
            <a:r>
              <a:rPr lang="zh-CN" altLang="en-US" dirty="0">
                <a:latin typeface="微软雅黑" panose="020B0503020204020204" pitchFamily="34" charset="-122"/>
                <a:ea typeface="微软雅黑" panose="020B0503020204020204" pitchFamily="34" charset="-122"/>
              </a:rPr>
              <a:t>：也是</a:t>
            </a:r>
            <a:r>
              <a:rPr lang="zh-CN" altLang="en-US" b="1" dirty="0">
                <a:solidFill>
                  <a:srgbClr val="002060"/>
                </a:solidFill>
                <a:latin typeface="微软雅黑" panose="020B0503020204020204" pitchFamily="34" charset="-122"/>
                <a:ea typeface="微软雅黑" panose="020B0503020204020204" pitchFamily="34" charset="-122"/>
              </a:rPr>
              <a:t>高能量跃迁</a:t>
            </a:r>
            <a:r>
              <a:rPr lang="zh-CN" altLang="en-US" dirty="0">
                <a:latin typeface="微软雅黑" panose="020B0503020204020204" pitchFamily="34" charset="-122"/>
                <a:ea typeface="微软雅黑" panose="020B0503020204020204" pitchFamily="34" charset="-122"/>
              </a:rPr>
              <a:t>，一般位于远紫外光区。含有 </a:t>
            </a:r>
            <a:r>
              <a:rPr lang="en-US" altLang="zh-CN" dirty="0">
                <a:latin typeface="微软雅黑" panose="020B0503020204020204" pitchFamily="34" charset="-122"/>
                <a:ea typeface="微软雅黑" panose="020B0503020204020204" pitchFamily="34" charset="-122"/>
              </a:rPr>
              <a:t>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O</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Cl</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Br</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等杂原子的饱和烃衍生物都会出现一个</a:t>
            </a:r>
            <a:r>
              <a:rPr lang="en-US" altLang="zh-CN" dirty="0">
                <a:latin typeface="微软雅黑" panose="020B0503020204020204" pitchFamily="34" charset="-122"/>
                <a:ea typeface="微软雅黑" panose="020B0503020204020204" pitchFamily="34" charset="-122"/>
              </a:rPr>
              <a:t>n→σ*</a:t>
            </a:r>
            <a:r>
              <a:rPr lang="zh-CN" altLang="en-US" dirty="0">
                <a:latin typeface="微软雅黑" panose="020B0503020204020204" pitchFamily="34" charset="-122"/>
                <a:ea typeface="微软雅黑" panose="020B0503020204020204" pitchFamily="34" charset="-122"/>
              </a:rPr>
              <a:t>跃迁产生的吸收谱带。</a:t>
            </a:r>
            <a:endParaRPr lang="en-US" altLang="zh-CN" dirty="0">
              <a:latin typeface="微软雅黑" panose="020B0503020204020204" pitchFamily="34" charset="-122"/>
              <a:ea typeface="微软雅黑" panose="020B0503020204020204" pitchFamily="34" charset="-122"/>
            </a:endParaRPr>
          </a:p>
          <a:p>
            <a:pPr indent="0" algn="just" fontAlgn="auto">
              <a:lnSpc>
                <a:spcPct val="130000"/>
              </a:lnSpc>
              <a:spcBef>
                <a:spcPts val="300"/>
              </a:spcBef>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π→π*</a:t>
            </a:r>
            <a:r>
              <a:rPr lang="zh-CN" altLang="en-US" b="1" dirty="0">
                <a:latin typeface="微软雅黑" panose="020B0503020204020204" pitchFamily="34" charset="-122"/>
                <a:ea typeface="微软雅黑" panose="020B0503020204020204" pitchFamily="34" charset="-122"/>
              </a:rPr>
              <a:t>跃迁</a:t>
            </a:r>
            <a:r>
              <a:rPr lang="zh-CN" altLang="en-US" dirty="0">
                <a:latin typeface="微软雅黑" panose="020B0503020204020204" pitchFamily="34" charset="-122"/>
                <a:ea typeface="微软雅黑" panose="020B0503020204020204" pitchFamily="34" charset="-122"/>
              </a:rPr>
              <a:t>：该跃迁几率大，是强吸收带，</a:t>
            </a:r>
            <a:r>
              <a:rPr lang="zh-CN" altLang="en-US" b="1" dirty="0">
                <a:solidFill>
                  <a:srgbClr val="002060"/>
                </a:solidFill>
                <a:latin typeface="微软雅黑" panose="020B0503020204020204" pitchFamily="34" charset="-122"/>
                <a:ea typeface="微软雅黑" panose="020B0503020204020204" pitchFamily="34" charset="-122"/>
              </a:rPr>
              <a:t>跃迁所需能量较少</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indent="0" algn="just" fontAlgn="auto">
              <a:lnSpc>
                <a:spcPct val="130000"/>
              </a:lnSpc>
              <a:spcBef>
                <a:spcPts val="300"/>
              </a:spcBef>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n→π*</a:t>
            </a:r>
            <a:r>
              <a:rPr lang="zh-CN" altLang="en-US" b="1" dirty="0">
                <a:latin typeface="微软雅黑" panose="020B0503020204020204" pitchFamily="34" charset="-122"/>
                <a:ea typeface="微软雅黑" panose="020B0503020204020204" pitchFamily="34" charset="-122"/>
              </a:rPr>
              <a:t>跃迁</a:t>
            </a:r>
            <a:r>
              <a:rPr lang="zh-CN" altLang="en-US" dirty="0">
                <a:latin typeface="微软雅黑" panose="020B0503020204020204" pitchFamily="34" charset="-122"/>
                <a:ea typeface="微软雅黑" panose="020B0503020204020204" pitchFamily="34" charset="-122"/>
              </a:rPr>
              <a:t>：该跃迁几率小，是弱吸收带，跃迁所需能量最低，在</a:t>
            </a:r>
            <a:r>
              <a:rPr lang="zh-CN" altLang="en-US" b="1" dirty="0">
                <a:solidFill>
                  <a:srgbClr val="002060"/>
                </a:solidFill>
                <a:latin typeface="微软雅黑" panose="020B0503020204020204" pitchFamily="34" charset="-122"/>
                <a:ea typeface="微软雅黑" panose="020B0503020204020204" pitchFamily="34" charset="-122"/>
              </a:rPr>
              <a:t>近紫外光区</a:t>
            </a:r>
            <a:r>
              <a:rPr lang="zh-CN" altLang="en-US" dirty="0">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有时</a:t>
            </a:r>
            <a:r>
              <a:rPr lang="zh-CN" altLang="en-US" dirty="0">
                <a:latin typeface="微软雅黑" panose="020B0503020204020204" pitchFamily="34" charset="-122"/>
                <a:ea typeface="微软雅黑" panose="020B0503020204020204" pitchFamily="34" charset="-122"/>
              </a:rPr>
              <a:t>在可见光区。</a:t>
            </a:r>
            <a:endParaRPr lang="zh-CN" altLang="en-US" dirty="0">
              <a:latin typeface="微软雅黑" panose="020B0503020204020204" pitchFamily="34" charset="-122"/>
              <a:ea typeface="微软雅黑" panose="020B0503020204020204" pitchFamily="34" charset="-122"/>
            </a:endParaRPr>
          </a:p>
        </p:txBody>
      </p:sp>
      <p:sp>
        <p:nvSpPr>
          <p:cNvPr id="3" name="矩形 2"/>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4.2  </a:t>
            </a:r>
            <a:r>
              <a:rPr lang="zh-CN" altLang="en-US" sz="1600" dirty="0">
                <a:solidFill>
                  <a:srgbClr val="002060"/>
                </a:solidFill>
                <a:latin typeface="微软雅黑" panose="020B0503020204020204" pitchFamily="34" charset="-122"/>
                <a:ea typeface="微软雅黑" panose="020B0503020204020204" pitchFamily="34" charset="-122"/>
              </a:rPr>
              <a:t>吸收光谱技术及应用</a:t>
            </a:r>
            <a:endParaRPr lang="zh-CN" altLang="en-US" sz="1600" dirty="0">
              <a:solidFill>
                <a:srgbClr val="002060"/>
              </a:solidFill>
            </a:endParaRPr>
          </a:p>
        </p:txBody>
      </p:sp>
      <p:sp>
        <p:nvSpPr>
          <p:cNvPr id="5" name="灯片编号占位符 4"/>
          <p:cNvSpPr>
            <a:spLocks noGrp="1"/>
          </p:cNvSpPr>
          <p:nvPr>
            <p:ph type="sldNum" sz="quarter" idx="12"/>
          </p:nvPr>
        </p:nvSpPr>
        <p:spPr>
          <a:xfrm>
            <a:off x="8611448" y="6356350"/>
            <a:ext cx="2743470" cy="365125"/>
          </a:xfrm>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90592"/>
            <a:ext cx="6690360" cy="612140"/>
          </a:xfrm>
        </p:spPr>
        <p:txBody>
          <a:bodyPr>
            <a:normAutofit/>
          </a:bodyPr>
          <a:lstStyle/>
          <a:p>
            <a:pPr algn="ctr"/>
            <a:r>
              <a:rPr lang="en-US" altLang="zh-CN" b="1" dirty="0">
                <a:solidFill>
                  <a:srgbClr val="002060"/>
                </a:solidFill>
              </a:rPr>
              <a:t>4.2.1 </a:t>
            </a:r>
            <a:r>
              <a:rPr lang="zh-CN" altLang="en-US" b="1" dirty="0">
                <a:solidFill>
                  <a:srgbClr val="002060"/>
                </a:solidFill>
              </a:rPr>
              <a:t>基本原理</a:t>
            </a:r>
            <a:endParaRPr lang="zh-CN" altLang="en-US" b="1" dirty="0">
              <a:solidFill>
                <a:srgbClr val="002060"/>
              </a:solidFill>
            </a:endParaRPr>
          </a:p>
        </p:txBody>
      </p:sp>
      <p:sp>
        <p:nvSpPr>
          <p:cNvPr id="11" name="内容占位符 3"/>
          <p:cNvSpPr>
            <a:spLocks noGrp="1"/>
          </p:cNvSpPr>
          <p:nvPr>
            <p:ph idx="4294967295"/>
          </p:nvPr>
        </p:nvSpPr>
        <p:spPr>
          <a:xfrm>
            <a:off x="-3938" y="13970"/>
            <a:ext cx="2692493" cy="347980"/>
          </a:xfrm>
          <a:solidFill>
            <a:schemeClr val="bg1">
              <a:lumMod val="95000"/>
            </a:schemeClr>
          </a:solidFill>
          <a:ln w="25400">
            <a:solidFill>
              <a:schemeClr val="tx2">
                <a:lumMod val="40000"/>
                <a:lumOff val="60000"/>
              </a:schemeClr>
            </a:solidFill>
          </a:ln>
        </p:spPr>
        <p:txBody>
          <a:bodyPr>
            <a:noAutofit/>
          </a:body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52685" y="1076331"/>
            <a:ext cx="3987686" cy="398780"/>
          </a:xfrm>
          <a:prstGeom prst="rect">
            <a:avLst/>
          </a:prstGeom>
          <a:noFill/>
        </p:spPr>
        <p:txBody>
          <a:bodyPr wrap="square">
            <a:spAutoFit/>
          </a:bodyPr>
          <a:lstStyle/>
          <a:p>
            <a:r>
              <a:rPr lang="en-US" altLang="zh-CN" sz="2000" b="1" dirty="0">
                <a:effectLst/>
                <a:latin typeface="微软雅黑" panose="020B0503020204020204" pitchFamily="34" charset="-122"/>
                <a:cs typeface="宋体" panose="02010600030101010101" pitchFamily="2" charset="-122"/>
              </a:rPr>
              <a:t>3. </a:t>
            </a:r>
            <a:r>
              <a:rPr lang="zh-CN" altLang="en-US" sz="2000" b="1" dirty="0">
                <a:effectLst/>
                <a:ea typeface="微软雅黑" panose="020B0503020204020204" pitchFamily="34" charset="-122"/>
                <a:cs typeface="宋体" panose="02010600030101010101" pitchFamily="2" charset="-122"/>
              </a:rPr>
              <a:t>吸收定律</a:t>
            </a:r>
            <a:endParaRPr lang="zh-CN" altLang="en-US" sz="2000" b="1"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4340225" y="2517775"/>
            <a:ext cx="4110355" cy="1497330"/>
          </a:xfrm>
          <a:prstGeom prst="rect">
            <a:avLst/>
          </a:prstGeom>
          <a:noFill/>
          <a:ln>
            <a:noFill/>
          </a:ln>
        </p:spPr>
      </p:pic>
      <p:sp>
        <p:nvSpPr>
          <p:cNvPr id="9" name="文本框 8"/>
          <p:cNvSpPr txBox="1"/>
          <p:nvPr/>
        </p:nvSpPr>
        <p:spPr>
          <a:xfrm>
            <a:off x="776819" y="1467925"/>
            <a:ext cx="10639562" cy="506730"/>
          </a:xfrm>
          <a:prstGeom prst="rect">
            <a:avLst/>
          </a:prstGeom>
          <a:noFill/>
        </p:spPr>
        <p:txBody>
          <a:bodyPr wrap="square">
            <a:spAutoFit/>
          </a:bodyPr>
          <a:lstStyle/>
          <a:p>
            <a:pPr>
              <a:lnSpc>
                <a:spcPct val="150000"/>
              </a:lnSpc>
            </a:pP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吸收光谱技术中的定量分析方法是以</a:t>
            </a:r>
            <a:r>
              <a:rPr lang="zh-CN" altLang="zh-CN"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吸收定律</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为基础的，吸收定律也称</a:t>
            </a:r>
            <a:r>
              <a:rPr lang="zh-CN" altLang="zh-CN"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朗伯</a:t>
            </a:r>
            <a:r>
              <a:rPr lang="en-US" altLang="zh-CN"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a:t>
            </a:r>
            <a:r>
              <a:rPr lang="zh-CN" altLang="zh-CN"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比尔</a:t>
            </a:r>
            <a:r>
              <a:rPr lang="en-US" altLang="zh-CN"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 (Lambert-Beer)</a:t>
            </a:r>
            <a:r>
              <a:rPr lang="zh-CN" altLang="zh-CN" sz="1800" b="1" dirty="0">
                <a:solidFill>
                  <a:srgbClr val="C00000"/>
                </a:solidFill>
                <a:effectLst/>
                <a:latin typeface="微软雅黑" panose="020B0503020204020204" pitchFamily="34" charset="-122"/>
                <a:ea typeface="微软雅黑" panose="020B0503020204020204" pitchFamily="34" charset="-122"/>
                <a:cs typeface="宋体" panose="02010600030101010101" pitchFamily="2" charset="-122"/>
              </a:rPr>
              <a:t>定律</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a:t>
            </a:r>
            <a:endParaRPr lang="zh-CN" altLang="en-US"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0" name="文本框 19"/>
              <p:cNvSpPr txBox="1"/>
              <p:nvPr/>
            </p:nvSpPr>
            <p:spPr>
              <a:xfrm>
                <a:off x="776819" y="1954797"/>
                <a:ext cx="10486862" cy="506730"/>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吸收示意图如下，一束入射光强为</a:t>
                </a:r>
                <a14:m>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𝐼</m:t>
                        </m:r>
                      </m:e>
                      <m:sub>
                        <m:r>
                          <a:rPr lang="zh-CN" altLang="en-US" i="0">
                            <a:latin typeface="Cambria Math" panose="02040503050406030204" pitchFamily="18" charset="0"/>
                          </a:rPr>
                          <m:t>0</m:t>
                        </m:r>
                      </m:sub>
                    </m:sSub>
                  </m:oMath>
                </a14:m>
                <a:r>
                  <a:rPr lang="zh-CN" altLang="en-US" dirty="0">
                    <a:latin typeface="微软雅黑" panose="020B0503020204020204" pitchFamily="34" charset="-122"/>
                    <a:ea typeface="微软雅黑" panose="020B0503020204020204" pitchFamily="34" charset="-122"/>
                  </a:rPr>
                  <a:t>的单色平行光通过某一均匀物质，经物质吸收后的透射光强为   。  </a:t>
                </a:r>
                <a:endParaRPr lang="zh-CN" altLang="en-US" dirty="0">
                  <a:latin typeface="微软雅黑" panose="020B0503020204020204" pitchFamily="34" charset="-122"/>
                  <a:ea typeface="微软雅黑" panose="020B0503020204020204" pitchFamily="34" charset="-122"/>
                </a:endParaRPr>
              </a:p>
            </p:txBody>
          </p:sp>
        </mc:Choice>
        <mc:Fallback>
          <p:sp>
            <p:nvSpPr>
              <p:cNvPr id="20" name="文本框 19"/>
              <p:cNvSpPr txBox="1">
                <a:spLocks noRot="1" noChangeAspect="1" noMove="1" noResize="1" noEditPoints="1" noAdjustHandles="1" noChangeArrowheads="1" noChangeShapeType="1" noTextEdit="1"/>
              </p:cNvSpPr>
              <p:nvPr/>
            </p:nvSpPr>
            <p:spPr>
              <a:xfrm>
                <a:off x="776819" y="1954797"/>
                <a:ext cx="10486862" cy="506730"/>
              </a:xfrm>
              <a:prstGeom prst="rect">
                <a:avLst/>
              </a:prstGeom>
              <a:blipFill rotWithShape="1">
                <a:blip r:embed="rId2"/>
                <a:stretch>
                  <a:fillRect l="-2" t="-53" b="53"/>
                </a:stretch>
              </a:blipFill>
            </p:spPr>
            <p:txBody>
              <a:bodyPr/>
              <a:lstStyle/>
              <a:p>
                <a:r>
                  <a:rPr lang="zh-CN" altLang="en-US">
                    <a:noFill/>
                  </a:rPr>
                  <a:t> </a:t>
                </a:r>
              </a:p>
            </p:txBody>
          </p:sp>
        </mc:Fallback>
      </mc:AlternateContent>
      <p:pic>
        <p:nvPicPr>
          <p:cNvPr id="35" name="图片 34"/>
          <p:cNvPicPr>
            <a:picLocks noChangeAspect="1"/>
          </p:cNvPicPr>
          <p:nvPr/>
        </p:nvPicPr>
        <p:blipFill>
          <a:blip r:embed="rId3"/>
          <a:stretch>
            <a:fillRect/>
          </a:stretch>
        </p:blipFill>
        <p:spPr>
          <a:xfrm>
            <a:off x="10639121" y="2087579"/>
            <a:ext cx="252845" cy="379268"/>
          </a:xfrm>
          <a:prstGeom prst="rect">
            <a:avLst/>
          </a:prstGeom>
        </p:spPr>
      </p:pic>
      <p:pic>
        <p:nvPicPr>
          <p:cNvPr id="41" name="图片 40"/>
          <p:cNvPicPr>
            <a:picLocks noChangeAspect="1"/>
          </p:cNvPicPr>
          <p:nvPr/>
        </p:nvPicPr>
        <p:blipFill>
          <a:blip r:embed="rId4"/>
          <a:stretch>
            <a:fillRect/>
          </a:stretch>
        </p:blipFill>
        <p:spPr>
          <a:xfrm>
            <a:off x="5344124" y="4499543"/>
            <a:ext cx="1504950" cy="485775"/>
          </a:xfrm>
          <a:prstGeom prst="rect">
            <a:avLst/>
          </a:prstGeom>
        </p:spPr>
      </p:pic>
      <p:sp>
        <p:nvSpPr>
          <p:cNvPr id="46" name="文本框 45"/>
          <p:cNvSpPr txBox="1"/>
          <p:nvPr/>
        </p:nvSpPr>
        <p:spPr>
          <a:xfrm>
            <a:off x="776819" y="4059246"/>
            <a:ext cx="3534115" cy="368300"/>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透射光强与入射光强的关系如下：</a:t>
            </a:r>
            <a:endParaRPr lang="zh-CN" altLang="en-US" dirty="0">
              <a:latin typeface="微软雅黑" panose="020B0503020204020204" pitchFamily="34" charset="-122"/>
              <a:ea typeface="微软雅黑" panose="020B0503020204020204" pitchFamily="34" charset="-122"/>
            </a:endParaRPr>
          </a:p>
        </p:txBody>
      </p:sp>
      <p:sp>
        <p:nvSpPr>
          <p:cNvPr id="48" name="文本框 47"/>
          <p:cNvSpPr txBox="1"/>
          <p:nvPr/>
        </p:nvSpPr>
        <p:spPr>
          <a:xfrm>
            <a:off x="776219" y="5056128"/>
            <a:ext cx="10639562" cy="922020"/>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其中，  为待测样品的浓度，</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为光程，  为摩尔吸收系数。摩尔吸光系数与被测物质及入射光波长有关，某种被测物在特定波长下的   可以看作一个常数。</a:t>
            </a:r>
            <a:endParaRPr lang="zh-CN" altLang="en-US" dirty="0">
              <a:latin typeface="微软雅黑" panose="020B0503020204020204" pitchFamily="34" charset="-122"/>
              <a:ea typeface="微软雅黑" panose="020B0503020204020204" pitchFamily="34" charset="-122"/>
            </a:endParaRPr>
          </a:p>
        </p:txBody>
      </p:sp>
      <p:pic>
        <p:nvPicPr>
          <p:cNvPr id="50" name="图片 49"/>
          <p:cNvPicPr>
            <a:picLocks noChangeAspect="1"/>
          </p:cNvPicPr>
          <p:nvPr/>
        </p:nvPicPr>
        <p:blipFill>
          <a:blip r:embed="rId5"/>
          <a:stretch>
            <a:fillRect/>
          </a:stretch>
        </p:blipFill>
        <p:spPr>
          <a:xfrm>
            <a:off x="1460580" y="5162588"/>
            <a:ext cx="289113" cy="380412"/>
          </a:xfrm>
          <a:prstGeom prst="rect">
            <a:avLst/>
          </a:prstGeom>
        </p:spPr>
      </p:pic>
      <p:pic>
        <p:nvPicPr>
          <p:cNvPr id="52" name="图片 51"/>
          <p:cNvPicPr>
            <a:picLocks noChangeAspect="1"/>
          </p:cNvPicPr>
          <p:nvPr/>
        </p:nvPicPr>
        <p:blipFill>
          <a:blip r:embed="rId6"/>
          <a:stretch>
            <a:fillRect/>
          </a:stretch>
        </p:blipFill>
        <p:spPr>
          <a:xfrm>
            <a:off x="3623819" y="5166679"/>
            <a:ext cx="267697" cy="380412"/>
          </a:xfrm>
          <a:prstGeom prst="rect">
            <a:avLst/>
          </a:prstGeom>
        </p:spPr>
      </p:pic>
      <p:pic>
        <p:nvPicPr>
          <p:cNvPr id="56" name="图片 55"/>
          <p:cNvPicPr>
            <a:picLocks noChangeAspect="1"/>
          </p:cNvPicPr>
          <p:nvPr/>
        </p:nvPicPr>
        <p:blipFill>
          <a:blip r:embed="rId7"/>
          <a:stretch>
            <a:fillRect/>
          </a:stretch>
        </p:blipFill>
        <p:spPr>
          <a:xfrm>
            <a:off x="4731059" y="5183623"/>
            <a:ext cx="297741" cy="338342"/>
          </a:xfrm>
          <a:prstGeom prst="rect">
            <a:avLst/>
          </a:prstGeom>
        </p:spPr>
      </p:pic>
      <p:pic>
        <p:nvPicPr>
          <p:cNvPr id="57" name="图片 56"/>
          <p:cNvPicPr>
            <a:picLocks noChangeAspect="1"/>
          </p:cNvPicPr>
          <p:nvPr/>
        </p:nvPicPr>
        <p:blipFill>
          <a:blip r:embed="rId7"/>
          <a:stretch>
            <a:fillRect/>
          </a:stretch>
        </p:blipFill>
        <p:spPr>
          <a:xfrm>
            <a:off x="3593775" y="5587918"/>
            <a:ext cx="297741" cy="338342"/>
          </a:xfrm>
          <a:prstGeom prst="rect">
            <a:avLst/>
          </a:prstGeom>
        </p:spPr>
      </p:pic>
      <p:sp>
        <p:nvSpPr>
          <p:cNvPr id="2" name="矩形 1"/>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4.2  </a:t>
            </a:r>
            <a:r>
              <a:rPr lang="zh-CN" altLang="en-US" sz="1600" dirty="0">
                <a:solidFill>
                  <a:srgbClr val="002060"/>
                </a:solidFill>
                <a:latin typeface="微软雅黑" panose="020B0503020204020204" pitchFamily="34" charset="-122"/>
                <a:ea typeface="微软雅黑" panose="020B0503020204020204" pitchFamily="34" charset="-122"/>
              </a:rPr>
              <a:t>吸收光谱技术及应用</a:t>
            </a:r>
            <a:endParaRPr lang="zh-CN" altLang="en-US" sz="1600" dirty="0">
              <a:solidFill>
                <a:srgbClr val="002060"/>
              </a:solidFill>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90592"/>
            <a:ext cx="6690360" cy="612140"/>
          </a:xfrm>
        </p:spPr>
        <p:txBody>
          <a:bodyPr>
            <a:normAutofit/>
          </a:bodyPr>
          <a:lstStyle/>
          <a:p>
            <a:pPr algn="ctr"/>
            <a:r>
              <a:rPr lang="en-US" altLang="zh-CN" b="1" dirty="0">
                <a:solidFill>
                  <a:srgbClr val="002060"/>
                </a:solidFill>
              </a:rPr>
              <a:t>4.2.1 </a:t>
            </a:r>
            <a:r>
              <a:rPr lang="zh-CN" altLang="en-US" b="1" dirty="0">
                <a:solidFill>
                  <a:srgbClr val="002060"/>
                </a:solidFill>
              </a:rPr>
              <a:t>基本原理</a:t>
            </a:r>
            <a:endParaRPr lang="zh-CN" altLang="en-US" b="1" dirty="0">
              <a:solidFill>
                <a:srgbClr val="002060"/>
              </a:solidFill>
            </a:endParaRPr>
          </a:p>
        </p:txBody>
      </p:sp>
      <p:sp>
        <p:nvSpPr>
          <p:cNvPr id="11" name="内容占位符 3"/>
          <p:cNvSpPr>
            <a:spLocks noGrp="1"/>
          </p:cNvSpPr>
          <p:nvPr>
            <p:ph idx="4294967295"/>
          </p:nvPr>
        </p:nvSpPr>
        <p:spPr>
          <a:xfrm>
            <a:off x="-3938" y="13970"/>
            <a:ext cx="2692493" cy="347980"/>
          </a:xfrm>
          <a:solidFill>
            <a:schemeClr val="bg1">
              <a:lumMod val="95000"/>
            </a:schemeClr>
          </a:solidFill>
          <a:ln w="25400">
            <a:solidFill>
              <a:schemeClr val="tx2">
                <a:lumMod val="40000"/>
                <a:lumOff val="60000"/>
              </a:schemeClr>
            </a:solidFill>
          </a:ln>
        </p:spPr>
        <p:txBody>
          <a:bodyPr>
            <a:noAutofit/>
          </a:body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52685" y="1152531"/>
            <a:ext cx="3987686" cy="398780"/>
          </a:xfrm>
          <a:prstGeom prst="rect">
            <a:avLst/>
          </a:prstGeom>
          <a:noFill/>
        </p:spPr>
        <p:txBody>
          <a:bodyPr wrap="square">
            <a:spAutoFit/>
          </a:bodyPr>
          <a:lstStyle/>
          <a:p>
            <a:r>
              <a:rPr lang="en-US" altLang="zh-CN" sz="2000" b="1" dirty="0">
                <a:effectLst/>
                <a:latin typeface="微软雅黑" panose="020B0503020204020204" pitchFamily="34" charset="-122"/>
                <a:cs typeface="宋体" panose="02010600030101010101" pitchFamily="2" charset="-122"/>
              </a:rPr>
              <a:t>3. </a:t>
            </a:r>
            <a:r>
              <a:rPr lang="zh-CN" altLang="en-US" sz="2000" b="1" dirty="0">
                <a:effectLst/>
                <a:ea typeface="微软雅黑" panose="020B0503020204020204" pitchFamily="34" charset="-122"/>
                <a:cs typeface="宋体" panose="02010600030101010101" pitchFamily="2" charset="-122"/>
              </a:rPr>
              <a:t>吸收定律</a:t>
            </a:r>
            <a:endParaRPr lang="zh-CN" altLang="en-US" sz="2000" b="1" dirty="0"/>
          </a:p>
        </p:txBody>
      </p:sp>
      <mc:AlternateContent xmlns:mc="http://schemas.openxmlformats.org/markup-compatibility/2006">
        <mc:Choice xmlns:a14="http://schemas.microsoft.com/office/drawing/2010/main" Requires="a14">
          <p:sp>
            <p:nvSpPr>
              <p:cNvPr id="23" name="文本框 22"/>
              <p:cNvSpPr txBox="1"/>
              <p:nvPr/>
            </p:nvSpPr>
            <p:spPr>
              <a:xfrm>
                <a:off x="725768" y="2040911"/>
                <a:ext cx="10740464" cy="3917315"/>
              </a:xfrm>
              <a:prstGeom prst="rect">
                <a:avLst/>
              </a:prstGeom>
              <a:noFill/>
            </p:spPr>
            <p:txBody>
              <a:bodyPr wrap="square">
                <a:spAutoFit/>
              </a:bodyPr>
              <a:lstStyle/>
              <a:p>
                <a:pPr indent="0" algn="just" fontAlgn="auto">
                  <a:lnSpc>
                    <a:spcPct val="135000"/>
                  </a:lnSpc>
                  <a:spcBef>
                    <a:spcPts val="500"/>
                  </a:spcBef>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具有</a:t>
                </a:r>
                <a:r>
                  <a:rPr lang="zh-CN" altLang="en-US" b="1" dirty="0">
                    <a:solidFill>
                      <a:srgbClr val="C00000"/>
                    </a:solidFill>
                    <a:latin typeface="微软雅黑" panose="020B0503020204020204" pitchFamily="34" charset="-122"/>
                    <a:ea typeface="微软雅黑" panose="020B0503020204020204" pitchFamily="34" charset="-122"/>
                  </a:rPr>
                  <a:t>叠加性</a:t>
                </a:r>
                <a:r>
                  <a:rPr lang="zh-CN" altLang="en-US" dirty="0">
                    <a:latin typeface="微软雅黑" panose="020B0503020204020204" pitchFamily="34" charset="-122"/>
                    <a:ea typeface="微软雅黑" panose="020B0503020204020204" pitchFamily="34" charset="-122"/>
                  </a:rPr>
                  <a:t>。如果存在多种物质对某波长均会产生吸收，那么吸光度可以表示为：</a:t>
                </a:r>
                <a:endParaRPr lang="en-US" altLang="zh-CN" dirty="0">
                  <a:latin typeface="微软雅黑" panose="020B0503020204020204" pitchFamily="34" charset="-122"/>
                  <a:ea typeface="微软雅黑" panose="020B0503020204020204" pitchFamily="34" charset="-122"/>
                </a:endParaRPr>
              </a:p>
              <a:p>
                <a:pPr indent="0" algn="just" fontAlgn="auto">
                  <a:lnSpc>
                    <a:spcPct val="135000"/>
                  </a:lnSpc>
                  <a:spcBef>
                    <a:spcPts val="1200"/>
                  </a:spcBef>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要求</a:t>
                </a:r>
                <a:r>
                  <a:rPr lang="zh-CN" altLang="en-US" b="1" dirty="0">
                    <a:solidFill>
                      <a:srgbClr val="C00000"/>
                    </a:solidFill>
                    <a:latin typeface="微软雅黑" panose="020B0503020204020204" pitchFamily="34" charset="-122"/>
                    <a:ea typeface="微软雅黑" panose="020B0503020204020204" pitchFamily="34" charset="-122"/>
                  </a:rPr>
                  <a:t>入射光为单色平行光</a:t>
                </a:r>
                <a:r>
                  <a:rPr lang="zh-CN" altLang="en-US" dirty="0">
                    <a:latin typeface="微软雅黑" panose="020B0503020204020204" pitchFamily="34" charset="-122"/>
                    <a:ea typeface="微软雅黑" panose="020B0503020204020204" pitchFamily="34" charset="-122"/>
                  </a:rPr>
                  <a:t>。如果入射光为非单色光，由于不同波长对应的</a:t>
                </a:r>
                <a14:m>
                  <m:oMath xmlns:m="http://schemas.openxmlformats.org/officeDocument/2006/math">
                    <m:r>
                      <a:rPr lang="zh-CN" altLang="en-US" i="1" smtClean="0">
                        <a:latin typeface="Cambria Math" panose="02040503050406030204" pitchFamily="18" charset="0"/>
                        <a:ea typeface="微软雅黑" panose="020B0503020204020204" pitchFamily="34" charset="-122"/>
                      </a:rPr>
                      <m:t>𝜀</m:t>
                    </m:r>
                    <m:r>
                      <a:rPr lang="en-US" altLang="zh-CN" i="1" smtClean="0">
                        <a:latin typeface="Cambria Math" panose="02040503050406030204" pitchFamily="18" charset="0"/>
                        <a:ea typeface="微软雅黑" panose="020B0503020204020204" pitchFamily="34" charset="-122"/>
                      </a:rPr>
                      <m:t> </m:t>
                    </m:r>
                  </m:oMath>
                </a14:m>
                <a:r>
                  <a:rPr lang="zh-CN" altLang="en-US" dirty="0">
                    <a:latin typeface="微软雅黑" panose="020B0503020204020204" pitchFamily="34" charset="-122"/>
                    <a:ea typeface="微软雅黑" panose="020B0503020204020204" pitchFamily="34" charset="-122"/>
                  </a:rPr>
                  <a:t>不一样，因此会导致测量吸光度与理论吸光度有差别，从而造成</a:t>
                </a:r>
                <a:r>
                  <a:rPr lang="zh-CN" altLang="en-US" b="1" dirty="0">
                    <a:solidFill>
                      <a:srgbClr val="002060"/>
                    </a:solidFill>
                    <a:latin typeface="微软雅黑" panose="020B0503020204020204" pitchFamily="34" charset="-122"/>
                    <a:ea typeface="微软雅黑" panose="020B0503020204020204" pitchFamily="34" charset="-122"/>
                  </a:rPr>
                  <a:t>吸收定律的偏离</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indent="0" algn="just" fontAlgn="auto">
                  <a:lnSpc>
                    <a:spcPct val="135000"/>
                  </a:lnSpc>
                  <a:spcBef>
                    <a:spcPts val="800"/>
                  </a:spcBef>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要求待测物质为</a:t>
                </a:r>
                <a:r>
                  <a:rPr lang="zh-CN" altLang="en-US" b="1" dirty="0">
                    <a:solidFill>
                      <a:srgbClr val="002060"/>
                    </a:solidFill>
                    <a:latin typeface="微软雅黑" panose="020B0503020204020204" pitchFamily="34" charset="-122"/>
                    <a:ea typeface="微软雅黑" panose="020B0503020204020204" pitchFamily="34" charset="-122"/>
                  </a:rPr>
                  <a:t>均一的稀溶液或气体</a:t>
                </a:r>
                <a:r>
                  <a:rPr lang="zh-CN" altLang="en-US" dirty="0">
                    <a:latin typeface="微软雅黑" panose="020B0503020204020204" pitchFamily="34" charset="-122"/>
                    <a:ea typeface="微软雅黑" panose="020B0503020204020204" pitchFamily="34" charset="-122"/>
                  </a:rPr>
                  <a:t>。在高浓度的情况下，物质粒子之间的平均距离缩小，增大了物质粒子之间相互作用的可能性，从而会增加离解、缔合、互变异构等化学反应发生的概率，物质本身发生的变化显然会导致吸收定律偏离。</a:t>
                </a:r>
                <a:endParaRPr lang="zh-CN" altLang="en-US" dirty="0">
                  <a:latin typeface="微软雅黑" panose="020B0503020204020204" pitchFamily="34" charset="-122"/>
                  <a:ea typeface="微软雅黑" panose="020B0503020204020204" pitchFamily="34" charset="-122"/>
                </a:endParaRPr>
              </a:p>
              <a:p>
                <a:pPr indent="0" algn="just" fontAlgn="auto">
                  <a:lnSpc>
                    <a:spcPct val="135000"/>
                  </a:lnSpc>
                  <a:spcBef>
                    <a:spcPts val="800"/>
                  </a:spcBef>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吸光物质对光的</a:t>
                </a:r>
                <a:r>
                  <a:rPr lang="zh-CN" altLang="en-US" b="1" dirty="0">
                    <a:solidFill>
                      <a:srgbClr val="002060"/>
                    </a:solidFill>
                    <a:latin typeface="微软雅黑" panose="020B0503020204020204" pitchFamily="34" charset="-122"/>
                    <a:ea typeface="微软雅黑" panose="020B0503020204020204" pitchFamily="34" charset="-122"/>
                  </a:rPr>
                  <a:t>散射特性以及荧光特性</a:t>
                </a:r>
                <a:r>
                  <a:rPr lang="zh-CN" altLang="en-US" b="1" dirty="0">
                    <a:latin typeface="微软雅黑" panose="020B0503020204020204" pitchFamily="34" charset="-122"/>
                    <a:ea typeface="微软雅黑" panose="020B0503020204020204" pitchFamily="34" charset="-122"/>
                  </a:rPr>
                  <a:t>也会造成吸收定律的偏离</a:t>
                </a:r>
                <a:r>
                  <a:rPr lang="zh-CN" altLang="en-US" dirty="0">
                    <a:latin typeface="微软雅黑" panose="020B0503020204020204" pitchFamily="34" charset="-122"/>
                    <a:ea typeface="微软雅黑" panose="020B0503020204020204" pitchFamily="34" charset="-122"/>
                  </a:rPr>
                  <a:t>。光散射会造成“假”吸收，而荧光会导致“额外”的光发射。</a:t>
                </a:r>
                <a:endParaRPr lang="zh-CN" altLang="en-US" dirty="0">
                  <a:latin typeface="微软雅黑" panose="020B0503020204020204" pitchFamily="34" charset="-122"/>
                  <a:ea typeface="微软雅黑" panose="020B0503020204020204" pitchFamily="34" charset="-122"/>
                </a:endParaRPr>
              </a:p>
              <a:p>
                <a:pPr indent="0" algn="just" fontAlgn="auto">
                  <a:lnSpc>
                    <a:spcPct val="135000"/>
                  </a:lnSpc>
                  <a:spcBef>
                    <a:spcPts val="800"/>
                  </a:spcBef>
                </a:pP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吸收定律不仅在紫外</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可见光区成立，在</a:t>
                </a:r>
                <a:r>
                  <a:rPr lang="zh-CN" altLang="en-US" b="1" dirty="0">
                    <a:solidFill>
                      <a:srgbClr val="C00000"/>
                    </a:solidFill>
                    <a:latin typeface="微软雅黑" panose="020B0503020204020204" pitchFamily="34" charset="-122"/>
                    <a:ea typeface="微软雅黑" panose="020B0503020204020204" pitchFamily="34" charset="-122"/>
                  </a:rPr>
                  <a:t>红外光区</a:t>
                </a:r>
                <a:r>
                  <a:rPr lang="zh-CN" altLang="en-US" b="1" dirty="0">
                    <a:latin typeface="微软雅黑" panose="020B0503020204020204" pitchFamily="34" charset="-122"/>
                    <a:ea typeface="微软雅黑" panose="020B0503020204020204" pitchFamily="34" charset="-122"/>
                  </a:rPr>
                  <a:t>同样适用。</a:t>
                </a:r>
                <a:endParaRPr lang="zh-CN" altLang="en-US" b="1" dirty="0">
                  <a:latin typeface="微软雅黑" panose="020B0503020204020204" pitchFamily="34" charset="-122"/>
                  <a:ea typeface="微软雅黑" panose="020B0503020204020204" pitchFamily="34" charset="-122"/>
                </a:endParaRPr>
              </a:p>
            </p:txBody>
          </p:sp>
        </mc:Choice>
        <mc:Fallback>
          <p:sp>
            <p:nvSpPr>
              <p:cNvPr id="23" name="文本框 22"/>
              <p:cNvSpPr txBox="1">
                <a:spLocks noRot="1" noChangeAspect="1" noMove="1" noResize="1" noEditPoints="1" noAdjustHandles="1" noChangeArrowheads="1" noChangeShapeType="1" noTextEdit="1"/>
              </p:cNvSpPr>
              <p:nvPr/>
            </p:nvSpPr>
            <p:spPr>
              <a:xfrm>
                <a:off x="725768" y="2040911"/>
                <a:ext cx="10740464" cy="3917315"/>
              </a:xfrm>
              <a:prstGeom prst="rect">
                <a:avLst/>
              </a:prstGeom>
              <a:blipFill rotWithShape="1">
                <a:blip r:embed="rId1"/>
                <a:stretch>
                  <a:fillRect l="-6" t="-1" b="1"/>
                </a:stretch>
              </a:blipFill>
            </p:spPr>
            <p:txBody>
              <a:bodyPr/>
              <a:lstStyle/>
              <a:p>
                <a:r>
                  <a:rPr lang="zh-CN" altLang="en-US">
                    <a:noFill/>
                  </a:rPr>
                  <a:t> </a:t>
                </a:r>
              </a:p>
            </p:txBody>
          </p:sp>
        </mc:Fallback>
      </mc:AlternateContent>
      <p:sp>
        <p:nvSpPr>
          <p:cNvPr id="7" name="文本框 6"/>
          <p:cNvSpPr txBox="1"/>
          <p:nvPr/>
        </p:nvSpPr>
        <p:spPr>
          <a:xfrm>
            <a:off x="66167" y="1504646"/>
            <a:ext cx="3414824" cy="506730"/>
          </a:xfrm>
          <a:prstGeom prst="rect">
            <a:avLst/>
          </a:prstGeom>
          <a:noFill/>
        </p:spPr>
        <p:txBody>
          <a:bodyPr wrap="square">
            <a:spAutoFit/>
          </a:bodyPr>
          <a:lstStyle/>
          <a:p>
            <a:pPr indent="304800" algn="just">
              <a:lnSpc>
                <a:spcPct val="150000"/>
              </a:lnSpc>
            </a:pP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吸收定律具有以下</a:t>
            </a:r>
            <a:r>
              <a:rPr lang="zh-CN" altLang="zh-CN" sz="1800" b="1" dirty="0">
                <a:solidFill>
                  <a:srgbClr val="002060"/>
                </a:solidFill>
                <a:effectLst/>
                <a:latin typeface="微软雅黑" panose="020B0503020204020204" pitchFamily="34" charset="-122"/>
                <a:ea typeface="微软雅黑" panose="020B0503020204020204" pitchFamily="34" charset="-122"/>
                <a:cs typeface="宋体" panose="02010600030101010101" pitchFamily="2" charset="-122"/>
              </a:rPr>
              <a:t>特性</a:t>
            </a:r>
            <a:r>
              <a:rPr lang="zh-CN" altLang="zh-CN" sz="1800" dirty="0">
                <a:effectLst/>
                <a:latin typeface="微软雅黑" panose="020B0503020204020204" pitchFamily="34" charset="-122"/>
                <a:ea typeface="微软雅黑" panose="020B0503020204020204" pitchFamily="34" charset="-122"/>
                <a:cs typeface="宋体" panose="02010600030101010101" pitchFamily="2" charset="-122"/>
              </a:rPr>
              <a:t>：</a:t>
            </a:r>
            <a:endParaRPr lang="zh-CN" altLang="zh-CN" sz="1800" dirty="0">
              <a:effectLst/>
              <a:latin typeface="微软雅黑" panose="020B0503020204020204" pitchFamily="34" charset="-122"/>
              <a:ea typeface="微软雅黑" panose="020B0503020204020204" pitchFamily="34" charset="-122"/>
              <a:cs typeface="宋体" panose="02010600030101010101" pitchFamily="2" charset="-122"/>
            </a:endParaRPr>
          </a:p>
        </p:txBody>
      </p:sp>
      <p:pic>
        <p:nvPicPr>
          <p:cNvPr id="10" name="图片 9"/>
          <p:cNvPicPr>
            <a:picLocks noChangeAspect="1"/>
          </p:cNvPicPr>
          <p:nvPr/>
        </p:nvPicPr>
        <p:blipFill>
          <a:blip r:embed="rId2"/>
          <a:stretch>
            <a:fillRect/>
          </a:stretch>
        </p:blipFill>
        <p:spPr>
          <a:xfrm>
            <a:off x="9441815" y="1935480"/>
            <a:ext cx="1564005" cy="700405"/>
          </a:xfrm>
          <a:prstGeom prst="rect">
            <a:avLst/>
          </a:prstGeom>
        </p:spPr>
      </p:pic>
      <p:sp>
        <p:nvSpPr>
          <p:cNvPr id="3" name="矩形 2"/>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4.2  </a:t>
            </a:r>
            <a:r>
              <a:rPr lang="zh-CN" altLang="en-US" sz="1600" dirty="0">
                <a:solidFill>
                  <a:srgbClr val="002060"/>
                </a:solidFill>
                <a:latin typeface="微软雅黑" panose="020B0503020204020204" pitchFamily="34" charset="-122"/>
                <a:ea typeface="微软雅黑" panose="020B0503020204020204" pitchFamily="34" charset="-122"/>
              </a:rPr>
              <a:t>吸收光谱技术及应用</a:t>
            </a:r>
            <a:endParaRPr lang="zh-CN" altLang="en-US" sz="1600" dirty="0">
              <a:solidFill>
                <a:srgbClr val="002060"/>
              </a:solidFill>
            </a:endParaRP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90592"/>
            <a:ext cx="6690360" cy="612140"/>
          </a:xfrm>
        </p:spPr>
        <p:txBody>
          <a:bodyPr>
            <a:normAutofit/>
          </a:bodyPr>
          <a:lstStyle/>
          <a:p>
            <a:pPr algn="ctr"/>
            <a:r>
              <a:rPr lang="en-US" altLang="zh-CN" b="1" dirty="0">
                <a:solidFill>
                  <a:srgbClr val="002060"/>
                </a:solidFill>
              </a:rPr>
              <a:t>4.2.2 </a:t>
            </a:r>
            <a:r>
              <a:rPr lang="zh-CN" altLang="en-US" b="1" dirty="0">
                <a:solidFill>
                  <a:srgbClr val="002060"/>
                </a:solidFill>
              </a:rPr>
              <a:t>紫外</a:t>
            </a:r>
            <a:r>
              <a:rPr lang="en-US" altLang="zh-CN" b="1" dirty="0">
                <a:solidFill>
                  <a:srgbClr val="002060"/>
                </a:solidFill>
              </a:rPr>
              <a:t>-</a:t>
            </a:r>
            <a:r>
              <a:rPr lang="zh-CN" altLang="en-US" b="1" dirty="0">
                <a:solidFill>
                  <a:srgbClr val="002060"/>
                </a:solidFill>
              </a:rPr>
              <a:t>可见光谱的测量</a:t>
            </a:r>
            <a:endParaRPr lang="zh-CN" altLang="en-US" b="1" dirty="0">
              <a:solidFill>
                <a:srgbClr val="002060"/>
              </a:solidFill>
            </a:endParaRPr>
          </a:p>
        </p:txBody>
      </p:sp>
      <p:sp>
        <p:nvSpPr>
          <p:cNvPr id="11" name="内容占位符 3"/>
          <p:cNvSpPr>
            <a:spLocks noGrp="1"/>
          </p:cNvSpPr>
          <p:nvPr>
            <p:ph idx="4294967295"/>
          </p:nvPr>
        </p:nvSpPr>
        <p:spPr>
          <a:xfrm>
            <a:off x="-3938" y="13970"/>
            <a:ext cx="2692493" cy="347980"/>
          </a:xfrm>
          <a:solidFill>
            <a:schemeClr val="bg1">
              <a:lumMod val="95000"/>
            </a:schemeClr>
          </a:solidFill>
          <a:ln w="25400">
            <a:solidFill>
              <a:schemeClr val="tx2">
                <a:lumMod val="40000"/>
                <a:lumOff val="60000"/>
              </a:schemeClr>
            </a:solidFill>
          </a:ln>
        </p:spPr>
        <p:txBody>
          <a:bodyPr>
            <a:noAutofit/>
          </a:body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232060" y="1174004"/>
            <a:ext cx="3987686" cy="398780"/>
          </a:xfrm>
          <a:prstGeom prst="rect">
            <a:avLst/>
          </a:prstGeom>
          <a:noFill/>
        </p:spPr>
        <p:txBody>
          <a:bodyPr wrap="square">
            <a:spAutoFit/>
          </a:bodyPr>
          <a:lstStyle/>
          <a:p>
            <a:r>
              <a:rPr lang="en-US" altLang="zh-CN" sz="2000" b="1" dirty="0">
                <a:effectLst/>
                <a:ea typeface="微软雅黑" panose="020B0503020204020204" pitchFamily="34" charset="-122"/>
                <a:cs typeface="宋体" panose="02010600030101010101" pitchFamily="2" charset="-122"/>
              </a:rPr>
              <a:t>1. </a:t>
            </a:r>
            <a:r>
              <a:rPr lang="zh-CN" altLang="en-US" sz="2000" b="1" dirty="0">
                <a:effectLst/>
                <a:ea typeface="微软雅黑" panose="020B0503020204020204" pitchFamily="34" charset="-122"/>
                <a:cs typeface="宋体" panose="02010600030101010101" pitchFamily="2" charset="-122"/>
              </a:rPr>
              <a:t>紫外</a:t>
            </a:r>
            <a:r>
              <a:rPr lang="en-US" altLang="zh-CN" sz="2000" b="1" dirty="0">
                <a:effectLst/>
                <a:ea typeface="微软雅黑" panose="020B0503020204020204" pitchFamily="34" charset="-122"/>
                <a:cs typeface="宋体" panose="02010600030101010101" pitchFamily="2" charset="-122"/>
              </a:rPr>
              <a:t>-</a:t>
            </a:r>
            <a:r>
              <a:rPr lang="zh-CN" altLang="en-US" sz="2000" b="1" dirty="0">
                <a:effectLst/>
                <a:ea typeface="微软雅黑" panose="020B0503020204020204" pitchFamily="34" charset="-122"/>
                <a:cs typeface="宋体" panose="02010600030101010101" pitchFamily="2" charset="-122"/>
              </a:rPr>
              <a:t>吸收光谱仪的一般结构</a:t>
            </a:r>
            <a:endParaRPr lang="zh-CN" altLang="en-US" sz="2000" b="1" dirty="0"/>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2364952" y="3661959"/>
            <a:ext cx="7076828" cy="656579"/>
          </a:xfrm>
          <a:prstGeom prst="rect">
            <a:avLst/>
          </a:prstGeom>
          <a:noFill/>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364952" y="5552204"/>
            <a:ext cx="7076828" cy="656579"/>
          </a:xfrm>
          <a:prstGeom prst="rect">
            <a:avLst/>
          </a:prstGeom>
          <a:noFill/>
        </p:spPr>
      </p:pic>
      <p:sp>
        <p:nvSpPr>
          <p:cNvPr id="10" name="文本框 9"/>
          <p:cNvSpPr txBox="1"/>
          <p:nvPr/>
        </p:nvSpPr>
        <p:spPr>
          <a:xfrm>
            <a:off x="409575" y="1579245"/>
            <a:ext cx="11416030" cy="922020"/>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       紫外</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可见光谱仪一般由</a:t>
            </a:r>
            <a:r>
              <a:rPr lang="zh-CN" altLang="en-US" b="1" dirty="0">
                <a:solidFill>
                  <a:srgbClr val="002060"/>
                </a:solidFill>
                <a:latin typeface="微软雅黑" panose="020B0503020204020204" pitchFamily="34" charset="-122"/>
                <a:ea typeface="微软雅黑" panose="020B0503020204020204" pitchFamily="34" charset="-122"/>
              </a:rPr>
              <a:t>光源、色散元件（单色器</a:t>
            </a:r>
            <a:r>
              <a:rPr lang="en-US" altLang="zh-CN" b="1" dirty="0">
                <a:solidFill>
                  <a:srgbClr val="002060"/>
                </a:solidFill>
                <a:latin typeface="微软雅黑" panose="020B0503020204020204" pitchFamily="34" charset="-122"/>
                <a:ea typeface="微软雅黑" panose="020B0503020204020204" pitchFamily="34" charset="-122"/>
              </a:rPr>
              <a:t>/</a:t>
            </a:r>
            <a:r>
              <a:rPr lang="zh-CN" altLang="en-US" b="1" dirty="0">
                <a:solidFill>
                  <a:srgbClr val="002060"/>
                </a:solidFill>
                <a:latin typeface="微软雅黑" panose="020B0503020204020204" pitchFamily="34" charset="-122"/>
                <a:ea typeface="微软雅黑" panose="020B0503020204020204" pitchFamily="34" charset="-122"/>
              </a:rPr>
              <a:t>分光器）、样品池、光电探测器、光谱处理系统</a:t>
            </a:r>
            <a:r>
              <a:rPr lang="zh-CN" altLang="en-US" dirty="0">
                <a:latin typeface="微软雅黑" panose="020B0503020204020204" pitchFamily="34" charset="-122"/>
                <a:ea typeface="微软雅黑" panose="020B0503020204020204" pitchFamily="34" charset="-122"/>
              </a:rPr>
              <a:t>等构成。有两种基本结构。</a:t>
            </a:r>
            <a:endParaRPr lang="zh-CN" altLang="en-US" dirty="0">
              <a:latin typeface="微软雅黑" panose="020B0503020204020204" pitchFamily="34" charset="-122"/>
              <a:ea typeface="微软雅黑" panose="020B0503020204020204" pitchFamily="34" charset="-122"/>
            </a:endParaRPr>
          </a:p>
        </p:txBody>
      </p:sp>
      <p:sp>
        <p:nvSpPr>
          <p:cNvPr id="8" name="文本框 7"/>
          <p:cNvSpPr txBox="1"/>
          <p:nvPr/>
        </p:nvSpPr>
        <p:spPr>
          <a:xfrm>
            <a:off x="460375" y="2517140"/>
            <a:ext cx="11188065" cy="922020"/>
          </a:xfrm>
          <a:prstGeom prst="rect">
            <a:avLst/>
          </a:prstGeom>
          <a:noFill/>
        </p:spPr>
        <p:txBody>
          <a:bodyPr wrap="square">
            <a:spAutoFit/>
          </a:bodyPr>
          <a:lstStyle/>
          <a:p>
            <a:pPr algn="just">
              <a:lnSpc>
                <a:spcPct val="150000"/>
              </a:lnSpc>
            </a:pPr>
            <a:r>
              <a:rPr lang="en-US" altLang="zh-CN" dirty="0">
                <a:effectLst/>
                <a:latin typeface="微软雅黑" panose="020B0503020204020204" pitchFamily="34" charset="-122"/>
                <a:ea typeface="微软雅黑" panose="020B0503020204020204" pitchFamily="34" charset="-122"/>
                <a:cs typeface="宋体" panose="02010600030101010101" pitchFamily="2" charset="-122"/>
              </a:rPr>
              <a:t>       </a:t>
            </a:r>
            <a:r>
              <a:rPr lang="zh-CN" altLang="en-US" b="1" dirty="0">
                <a:effectLst/>
                <a:latin typeface="微软雅黑" panose="020B0503020204020204" pitchFamily="34" charset="-122"/>
                <a:ea typeface="微软雅黑" panose="020B0503020204020204" pitchFamily="34" charset="-122"/>
                <a:cs typeface="宋体" panose="02010600030101010101" pitchFamily="2" charset="-122"/>
              </a:rPr>
              <a:t>第一种基本结构。</a:t>
            </a:r>
            <a:r>
              <a:rPr lang="zh-CN" altLang="en-US" dirty="0">
                <a:latin typeface="微软雅黑" panose="020B0503020204020204" pitchFamily="34" charset="-122"/>
                <a:ea typeface="微软雅黑" panose="020B0503020204020204" pitchFamily="34" charset="-122"/>
                <a:cs typeface="宋体" panose="02010600030101010101" pitchFamily="2" charset="-122"/>
              </a:rPr>
              <a:t>光源发出的复色光通过分光器在不同时刻</a:t>
            </a:r>
            <a:r>
              <a:rPr lang="zh-CN" altLang="en-US" dirty="0">
                <a:solidFill>
                  <a:srgbClr val="C00000"/>
                </a:solidFill>
                <a:latin typeface="微软雅黑" panose="020B0503020204020204" pitchFamily="34" charset="-122"/>
                <a:ea typeface="微软雅黑" panose="020B0503020204020204" pitchFamily="34" charset="-122"/>
                <a:cs typeface="宋体" panose="02010600030101010101" pitchFamily="2" charset="-122"/>
              </a:rPr>
              <a:t>输出不同波长的单色光</a:t>
            </a:r>
            <a:r>
              <a:rPr lang="zh-CN" altLang="en-US" dirty="0">
                <a:latin typeface="微软雅黑" panose="020B0503020204020204" pitchFamily="34" charset="-122"/>
                <a:ea typeface="微软雅黑" panose="020B0503020204020204" pitchFamily="34" charset="-122"/>
                <a:cs typeface="宋体" panose="02010600030101010101" pitchFamily="2" charset="-122"/>
              </a:rPr>
              <a:t>入射到样品池，经样品吸收后的</a:t>
            </a:r>
            <a:r>
              <a:rPr lang="zh-CN" altLang="en-US" dirty="0">
                <a:solidFill>
                  <a:srgbClr val="C00000"/>
                </a:solidFill>
                <a:latin typeface="微软雅黑" panose="020B0503020204020204" pitchFamily="34" charset="-122"/>
                <a:ea typeface="微软雅黑" panose="020B0503020204020204" pitchFamily="34" charset="-122"/>
                <a:cs typeface="宋体" panose="02010600030101010101" pitchFamily="2" charset="-122"/>
              </a:rPr>
              <a:t>单色透射光被光电探测器接收</a:t>
            </a:r>
            <a:r>
              <a:rPr lang="zh-CN" altLang="en-US" dirty="0">
                <a:latin typeface="微软雅黑" panose="020B0503020204020204" pitchFamily="34" charset="-122"/>
                <a:ea typeface="微软雅黑" panose="020B0503020204020204" pitchFamily="34" charset="-122"/>
                <a:cs typeface="宋体" panose="02010600030101010101" pitchFamily="2" charset="-122"/>
              </a:rPr>
              <a:t>，测量获得不同波长的透射光强，即可获得吸收光谱。</a:t>
            </a: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405130" y="4446905"/>
            <a:ext cx="10881360" cy="922020"/>
          </a:xfrm>
          <a:prstGeom prst="rect">
            <a:avLst/>
          </a:prstGeom>
          <a:noFill/>
        </p:spPr>
        <p:txBody>
          <a:bodyPr wrap="square">
            <a:spAutoFit/>
          </a:bodyPr>
          <a:lstStyle/>
          <a:p>
            <a:pPr algn="just">
              <a:lnSpc>
                <a:spcPct val="150000"/>
              </a:lnSpc>
            </a:pPr>
            <a:r>
              <a:rPr lang="en-US" altLang="zh-CN" dirty="0">
                <a:effectLst/>
                <a:latin typeface="微软雅黑" panose="020B0503020204020204" pitchFamily="34" charset="-122"/>
                <a:ea typeface="微软雅黑" panose="020B0503020204020204" pitchFamily="34" charset="-122"/>
                <a:cs typeface="宋体" panose="02010600030101010101" pitchFamily="2" charset="-122"/>
              </a:rPr>
              <a:t>       </a:t>
            </a:r>
            <a:r>
              <a:rPr lang="zh-CN" altLang="en-US" b="1" dirty="0">
                <a:effectLst/>
                <a:latin typeface="微软雅黑" panose="020B0503020204020204" pitchFamily="34" charset="-122"/>
                <a:ea typeface="微软雅黑" panose="020B0503020204020204" pitchFamily="34" charset="-122"/>
                <a:cs typeface="宋体" panose="02010600030101010101" pitchFamily="2" charset="-122"/>
              </a:rPr>
              <a:t>第二种基本结构。</a:t>
            </a:r>
            <a:r>
              <a:rPr lang="zh-CN" altLang="en-US" dirty="0">
                <a:latin typeface="微软雅黑" panose="020B0503020204020204" pitchFamily="34" charset="-122"/>
                <a:ea typeface="微软雅黑" panose="020B0503020204020204" pitchFamily="34" charset="-122"/>
                <a:cs typeface="宋体" panose="02010600030101010101" pitchFamily="2" charset="-122"/>
              </a:rPr>
              <a:t>将分光器置于样品池之后，即</a:t>
            </a:r>
            <a:r>
              <a:rPr lang="zh-CN" altLang="en-US" dirty="0">
                <a:solidFill>
                  <a:srgbClr val="C00000"/>
                </a:solidFill>
                <a:latin typeface="微软雅黑" panose="020B0503020204020204" pitchFamily="34" charset="-122"/>
                <a:ea typeface="微软雅黑" panose="020B0503020204020204" pitchFamily="34" charset="-122"/>
                <a:cs typeface="宋体" panose="02010600030101010101" pitchFamily="2" charset="-122"/>
              </a:rPr>
              <a:t>入射样品的是复色光</a:t>
            </a:r>
            <a:r>
              <a:rPr lang="zh-CN" altLang="en-US" dirty="0">
                <a:latin typeface="微软雅黑" panose="020B0503020204020204" pitchFamily="34" charset="-122"/>
                <a:ea typeface="微软雅黑" panose="020B0503020204020204" pitchFamily="34" charset="-122"/>
                <a:cs typeface="宋体" panose="02010600030101010101" pitchFamily="2" charset="-122"/>
              </a:rPr>
              <a:t>，被样品吸收后的</a:t>
            </a:r>
            <a:r>
              <a:rPr lang="zh-CN" altLang="en-US" dirty="0">
                <a:solidFill>
                  <a:srgbClr val="C00000"/>
                </a:solidFill>
                <a:latin typeface="微软雅黑" panose="020B0503020204020204" pitchFamily="34" charset="-122"/>
                <a:ea typeface="微软雅黑" panose="020B0503020204020204" pitchFamily="34" charset="-122"/>
                <a:cs typeface="宋体" panose="02010600030101010101" pitchFamily="2" charset="-122"/>
              </a:rPr>
              <a:t>复色透射光经分光器分光后</a:t>
            </a:r>
            <a:r>
              <a:rPr lang="zh-CN" altLang="en-US" dirty="0">
                <a:latin typeface="微软雅黑" panose="020B0503020204020204" pitchFamily="34" charset="-122"/>
                <a:ea typeface="微软雅黑" panose="020B0503020204020204" pitchFamily="34" charset="-122"/>
                <a:cs typeface="宋体" panose="02010600030101010101" pitchFamily="2" charset="-122"/>
              </a:rPr>
              <a:t>被光电探测器接收，测得分光后不同波长的透射光强即可得到吸收光谱。</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7" name="矩形 6"/>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4.2  </a:t>
            </a:r>
            <a:r>
              <a:rPr lang="zh-CN" altLang="en-US" sz="1600" dirty="0">
                <a:solidFill>
                  <a:srgbClr val="002060"/>
                </a:solidFill>
                <a:latin typeface="微软雅黑" panose="020B0503020204020204" pitchFamily="34" charset="-122"/>
                <a:ea typeface="微软雅黑" panose="020B0503020204020204" pitchFamily="34" charset="-122"/>
              </a:rPr>
              <a:t>吸收光谱技术及应用</a:t>
            </a:r>
            <a:endParaRPr lang="zh-CN" altLang="en-US" sz="1600" dirty="0">
              <a:solidFill>
                <a:srgbClr val="002060"/>
              </a:solidFill>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90592"/>
            <a:ext cx="6690360" cy="612140"/>
          </a:xfrm>
        </p:spPr>
        <p:txBody>
          <a:bodyPr>
            <a:normAutofit/>
          </a:bodyPr>
          <a:lstStyle/>
          <a:p>
            <a:pPr algn="ctr"/>
            <a:r>
              <a:rPr lang="en-US" altLang="zh-CN" b="1" dirty="0">
                <a:solidFill>
                  <a:srgbClr val="002060"/>
                </a:solidFill>
              </a:rPr>
              <a:t>4.2.2 </a:t>
            </a:r>
            <a:r>
              <a:rPr lang="zh-CN" altLang="en-US" b="1" dirty="0">
                <a:solidFill>
                  <a:srgbClr val="002060"/>
                </a:solidFill>
              </a:rPr>
              <a:t>紫外</a:t>
            </a:r>
            <a:r>
              <a:rPr lang="en-US" altLang="zh-CN" b="1" dirty="0">
                <a:solidFill>
                  <a:srgbClr val="002060"/>
                </a:solidFill>
              </a:rPr>
              <a:t>-</a:t>
            </a:r>
            <a:r>
              <a:rPr lang="zh-CN" altLang="en-US" b="1" dirty="0">
                <a:solidFill>
                  <a:srgbClr val="002060"/>
                </a:solidFill>
              </a:rPr>
              <a:t>可见光谱的测量</a:t>
            </a:r>
            <a:endParaRPr lang="zh-CN" altLang="en-US" b="1" dirty="0">
              <a:solidFill>
                <a:srgbClr val="002060"/>
              </a:solidFill>
            </a:endParaRPr>
          </a:p>
        </p:txBody>
      </p:sp>
      <p:sp>
        <p:nvSpPr>
          <p:cNvPr id="11" name="内容占位符 3"/>
          <p:cNvSpPr>
            <a:spLocks noGrp="1"/>
          </p:cNvSpPr>
          <p:nvPr>
            <p:ph idx="4294967295"/>
          </p:nvPr>
        </p:nvSpPr>
        <p:spPr>
          <a:xfrm>
            <a:off x="-3938" y="13970"/>
            <a:ext cx="2692493" cy="347980"/>
          </a:xfrm>
          <a:solidFill>
            <a:schemeClr val="bg1">
              <a:lumMod val="95000"/>
            </a:schemeClr>
          </a:solidFill>
          <a:ln w="25400">
            <a:solidFill>
              <a:schemeClr val="tx2">
                <a:lumMod val="40000"/>
                <a:lumOff val="60000"/>
              </a:schemeClr>
            </a:solidFill>
          </a:ln>
        </p:spPr>
        <p:txBody>
          <a:bodyPr>
            <a:noAutofit/>
          </a:body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52685" y="1156076"/>
            <a:ext cx="3987686" cy="398780"/>
          </a:xfrm>
          <a:prstGeom prst="rect">
            <a:avLst/>
          </a:prstGeom>
          <a:noFill/>
        </p:spPr>
        <p:txBody>
          <a:bodyPr wrap="square">
            <a:spAutoFit/>
          </a:bodyPr>
          <a:lstStyle/>
          <a:p>
            <a:r>
              <a:rPr lang="en-US" altLang="zh-CN" sz="2000" b="1" dirty="0">
                <a:effectLst/>
                <a:ea typeface="微软雅黑" panose="020B0503020204020204" pitchFamily="34" charset="-122"/>
                <a:cs typeface="宋体" panose="02010600030101010101" pitchFamily="2" charset="-122"/>
              </a:rPr>
              <a:t>2. </a:t>
            </a:r>
            <a:r>
              <a:rPr lang="zh-CN" altLang="en-US" sz="2000" b="1" dirty="0">
                <a:effectLst/>
                <a:ea typeface="微软雅黑" panose="020B0503020204020204" pitchFamily="34" charset="-122"/>
                <a:cs typeface="宋体" panose="02010600030101010101" pitchFamily="2" charset="-122"/>
              </a:rPr>
              <a:t>吸收光谱的计算</a:t>
            </a:r>
            <a:endParaRPr lang="zh-CN" altLang="en-US" sz="2000" b="1" dirty="0"/>
          </a:p>
        </p:txBody>
      </p:sp>
      <p:sp>
        <p:nvSpPr>
          <p:cNvPr id="10" name="文本框 9"/>
          <p:cNvSpPr txBox="1"/>
          <p:nvPr/>
        </p:nvSpPr>
        <p:spPr>
          <a:xfrm>
            <a:off x="555383" y="1507380"/>
            <a:ext cx="11047003" cy="1568450"/>
          </a:xfrm>
          <a:prstGeom prst="rect">
            <a:avLst/>
          </a:prstGeom>
          <a:noFill/>
        </p:spPr>
        <p:txBody>
          <a:bodyPr wrap="square">
            <a:spAutoFit/>
          </a:bodyPr>
          <a:lstStyle/>
          <a:p>
            <a:pPr algn="just">
              <a:lnSpc>
                <a:spcPct val="150000"/>
              </a:lnSpc>
            </a:pPr>
            <a:r>
              <a:rPr lang="zh-CN" altLang="en-US" sz="1600" dirty="0">
                <a:latin typeface="微软雅黑" panose="020B0503020204020204" pitchFamily="34" charset="-122"/>
                <a:ea typeface="微软雅黑" panose="020B0503020204020204" pitchFamily="34" charset="-122"/>
              </a:rPr>
              <a:t>      运用紫外</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可见光谱仪可以测量得到被测物质的吸收光谱，计算得到</a:t>
            </a:r>
            <a:r>
              <a:rPr lang="zh-CN" altLang="en-US" sz="1600" b="1" dirty="0">
                <a:solidFill>
                  <a:srgbClr val="C00000"/>
                </a:solidFill>
                <a:latin typeface="微软雅黑" panose="020B0503020204020204" pitchFamily="34" charset="-122"/>
                <a:ea typeface="微软雅黑" panose="020B0503020204020204" pitchFamily="34" charset="-122"/>
              </a:rPr>
              <a:t>吸光度</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lgn="just">
              <a:lnSpc>
                <a:spcPct val="150000"/>
              </a:lnSpc>
            </a:pP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假设紫外</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可见光谱仪的光源为</a:t>
            </a:r>
            <a:r>
              <a:rPr lang="zh-CN" altLang="en-US" sz="1600" b="1" dirty="0">
                <a:solidFill>
                  <a:srgbClr val="002060"/>
                </a:solidFill>
                <a:latin typeface="微软雅黑" panose="020B0503020204020204" pitchFamily="34" charset="-122"/>
                <a:ea typeface="微软雅黑" panose="020B0503020204020204" pitchFamily="34" charset="-122"/>
              </a:rPr>
              <a:t>氙灯</a:t>
            </a:r>
            <a:r>
              <a:rPr lang="zh-CN" altLang="en-US" sz="1600" dirty="0">
                <a:latin typeface="微软雅黑" panose="020B0503020204020204" pitchFamily="34" charset="-122"/>
                <a:ea typeface="微软雅黑" panose="020B0503020204020204" pitchFamily="34" charset="-122"/>
              </a:rPr>
              <a:t>，其具有紫外</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可见的连续光谱</a:t>
            </a:r>
            <a:r>
              <a:rPr lang="en-US" altLang="zh-CN" sz="1600" dirty="0">
                <a:latin typeface="微软雅黑" panose="020B0503020204020204" pitchFamily="34" charset="-122"/>
                <a:ea typeface="微软雅黑" panose="020B0503020204020204" pitchFamily="34" charset="-122"/>
              </a:rPr>
              <a:t>I</a:t>
            </a:r>
            <a:r>
              <a:rPr lang="en-US" altLang="zh-CN" sz="1600" baseline="-25000" dirty="0">
                <a:latin typeface="微软雅黑" panose="020B0503020204020204" pitchFamily="34" charset="-122"/>
                <a:ea typeface="微软雅黑" panose="020B0503020204020204" pitchFamily="34" charset="-122"/>
              </a:rPr>
              <a:t>0</a:t>
            </a:r>
            <a:r>
              <a:rPr lang="en-US" altLang="zh-CN" sz="1600" dirty="0">
                <a:latin typeface="微软雅黑" panose="020B0503020204020204" pitchFamily="34" charset="-122"/>
                <a:ea typeface="微软雅黑" panose="020B0503020204020204" pitchFamily="34" charset="-122"/>
              </a:rPr>
              <a:t>(λ)</a:t>
            </a:r>
            <a:r>
              <a:rPr lang="zh-CN" altLang="en-US" sz="1600" dirty="0">
                <a:latin typeface="微软雅黑" panose="020B0503020204020204" pitchFamily="34" charset="-122"/>
                <a:ea typeface="微软雅黑" panose="020B0503020204020204" pitchFamily="34" charset="-122"/>
              </a:rPr>
              <a:t>，波长范围为</a:t>
            </a:r>
            <a:r>
              <a:rPr lang="en-US" altLang="zh-CN" sz="1600" b="1" dirty="0">
                <a:solidFill>
                  <a:srgbClr val="C00000"/>
                </a:solidFill>
                <a:latin typeface="微软雅黑" panose="020B0503020204020204" pitchFamily="34" charset="-122"/>
                <a:ea typeface="微软雅黑" panose="020B0503020204020204" pitchFamily="34" charset="-122"/>
              </a:rPr>
              <a:t>200-1100nm</a:t>
            </a:r>
            <a:r>
              <a:rPr lang="zh-CN" altLang="en-US" sz="1600" dirty="0">
                <a:latin typeface="微软雅黑" panose="020B0503020204020204" pitchFamily="34" charset="-122"/>
                <a:ea typeface="微软雅黑" panose="020B0503020204020204" pitchFamily="34" charset="-122"/>
              </a:rPr>
              <a:t>，如图左实线所示。假设被测样品分别为</a:t>
            </a:r>
            <a:r>
              <a:rPr lang="en-US" altLang="zh-CN" sz="1600" dirty="0">
                <a:latin typeface="微软雅黑" panose="020B0503020204020204" pitchFamily="34" charset="-122"/>
                <a:ea typeface="微软雅黑" panose="020B0503020204020204" pitchFamily="34" charset="-122"/>
              </a:rPr>
              <a:t>10mg/L</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20mg/L</a:t>
            </a:r>
            <a:r>
              <a:rPr lang="zh-CN" altLang="en-US" sz="1600" dirty="0">
                <a:latin typeface="微软雅黑" panose="020B0503020204020204" pitchFamily="34" charset="-122"/>
                <a:ea typeface="微软雅黑" panose="020B0503020204020204" pitchFamily="34" charset="-122"/>
              </a:rPr>
              <a:t>的邻苯二甲酸氢钾溶液，光谱仪测得的透射光谱</a:t>
            </a:r>
            <a:r>
              <a:rPr lang="en-US" altLang="zh-CN" sz="1600" dirty="0">
                <a:latin typeface="微软雅黑" panose="020B0503020204020204" pitchFamily="34" charset="-122"/>
                <a:ea typeface="微软雅黑" panose="020B0503020204020204" pitchFamily="34" charset="-122"/>
              </a:rPr>
              <a:t>I</a:t>
            </a:r>
            <a:r>
              <a:rPr lang="en-US" altLang="zh-CN" sz="1600" baseline="-25000" dirty="0">
                <a:latin typeface="微软雅黑" panose="020B0503020204020204" pitchFamily="34" charset="-122"/>
                <a:ea typeface="微软雅黑" panose="020B0503020204020204" pitchFamily="34" charset="-122"/>
              </a:rPr>
              <a:t>s</a:t>
            </a:r>
            <a:r>
              <a:rPr lang="en-US" altLang="zh-CN" sz="1600" dirty="0">
                <a:latin typeface="微软雅黑" panose="020B0503020204020204" pitchFamily="34" charset="-122"/>
                <a:ea typeface="微软雅黑" panose="020B0503020204020204" pitchFamily="34" charset="-122"/>
              </a:rPr>
              <a:t>(λ)</a:t>
            </a:r>
            <a:r>
              <a:rPr lang="zh-CN" altLang="en-US" sz="1600" dirty="0">
                <a:latin typeface="微软雅黑" panose="020B0503020204020204" pitchFamily="34" charset="-122"/>
                <a:ea typeface="微软雅黑" panose="020B0503020204020204" pitchFamily="34" charset="-122"/>
              </a:rPr>
              <a:t>如图左虚线所示。利用朗伯</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比尔定律即可</a:t>
            </a:r>
            <a:r>
              <a:rPr lang="zh-CN" altLang="en-US" sz="1600" b="1" dirty="0">
                <a:solidFill>
                  <a:srgbClr val="002060"/>
                </a:solidFill>
                <a:latin typeface="微软雅黑" panose="020B0503020204020204" pitchFamily="34" charset="-122"/>
                <a:ea typeface="微软雅黑" panose="020B0503020204020204" pitchFamily="34" charset="-122"/>
              </a:rPr>
              <a:t>求出这两种溶液的吸收光谱，</a:t>
            </a:r>
            <a:r>
              <a:rPr lang="zh-CN" altLang="en-US" sz="1600" dirty="0">
                <a:latin typeface="微软雅黑" panose="020B0503020204020204" pitchFamily="34" charset="-122"/>
                <a:ea typeface="微软雅黑" panose="020B0503020204020204" pitchFamily="34" charset="-122"/>
              </a:rPr>
              <a:t>如右图所示。根据</a:t>
            </a:r>
            <a:r>
              <a:rPr lang="zh-CN" altLang="en-US" sz="1600" dirty="0">
                <a:solidFill>
                  <a:srgbClr val="C00000"/>
                </a:solidFill>
                <a:latin typeface="微软雅黑" panose="020B0503020204020204" pitchFamily="34" charset="-122"/>
                <a:ea typeface="微软雅黑" panose="020B0503020204020204" pitchFamily="34" charset="-122"/>
              </a:rPr>
              <a:t>吸收峰位置以及吸光度大小</a:t>
            </a:r>
            <a:r>
              <a:rPr lang="zh-CN" altLang="en-US" sz="1600" dirty="0">
                <a:latin typeface="微软雅黑" panose="020B0503020204020204" pitchFamily="34" charset="-122"/>
                <a:ea typeface="微软雅黑" panose="020B0503020204020204" pitchFamily="34" charset="-122"/>
              </a:rPr>
              <a:t>可分析被测样品的组分和浓度</a:t>
            </a:r>
            <a:endParaRPr lang="en-US" altLang="zh-CN" sz="1600" dirty="0">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1"/>
          <a:srcRect l="10605" t="9808" r="11981" b="7315"/>
          <a:stretch>
            <a:fillRect/>
          </a:stretch>
        </p:blipFill>
        <p:spPr>
          <a:xfrm>
            <a:off x="6484442" y="3198757"/>
            <a:ext cx="3961374" cy="3245986"/>
          </a:xfrm>
          <a:prstGeom prst="rect">
            <a:avLst/>
          </a:prstGeom>
        </p:spPr>
      </p:pic>
      <p:sp>
        <p:nvSpPr>
          <p:cNvPr id="3" name="矩形 2"/>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4.2  </a:t>
            </a:r>
            <a:r>
              <a:rPr lang="zh-CN" altLang="en-US" sz="1600" dirty="0">
                <a:solidFill>
                  <a:srgbClr val="002060"/>
                </a:solidFill>
                <a:latin typeface="微软雅黑" panose="020B0503020204020204" pitchFamily="34" charset="-122"/>
                <a:ea typeface="微软雅黑" panose="020B0503020204020204" pitchFamily="34" charset="-122"/>
              </a:rPr>
              <a:t>吸收光谱技术及应用</a:t>
            </a:r>
            <a:endParaRPr lang="zh-CN" altLang="en-US" sz="1600" dirty="0">
              <a:solidFill>
                <a:srgbClr val="002060"/>
              </a:solidFill>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pic>
        <p:nvPicPr>
          <p:cNvPr id="12" name="图片 11"/>
          <p:cNvPicPr/>
          <p:nvPr/>
        </p:nvPicPr>
        <p:blipFill>
          <a:blip r:embed="rId2"/>
          <a:srcRect l="8012" t="10115" r="11627" b="7314"/>
          <a:stretch>
            <a:fillRect/>
          </a:stretch>
        </p:blipFill>
        <p:spPr>
          <a:xfrm>
            <a:off x="1580515" y="3198495"/>
            <a:ext cx="4471035" cy="3242945"/>
          </a:xfrm>
          <a:prstGeom prst="rect">
            <a:avLst/>
          </a:prstGeom>
        </p:spPr>
      </p:pic>
      <p:cxnSp>
        <p:nvCxnSpPr>
          <p:cNvPr id="8" name="直接连接符 7"/>
          <p:cNvCxnSpPr/>
          <p:nvPr/>
        </p:nvCxnSpPr>
        <p:spPr>
          <a:xfrm>
            <a:off x="7806661" y="4542021"/>
            <a:ext cx="0" cy="853030"/>
          </a:xfrm>
          <a:prstGeom prst="line">
            <a:avLst/>
          </a:prstGeom>
          <a:ln w="28575">
            <a:solidFill>
              <a:srgbClr val="2E75B6"/>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7312775" y="4215533"/>
            <a:ext cx="987771" cy="369332"/>
          </a:xfrm>
          <a:prstGeom prst="rect">
            <a:avLst/>
          </a:prstGeom>
        </p:spPr>
        <p:txBody>
          <a:bodyPr wrap="none">
            <a:spAutoFit/>
          </a:bodyPr>
          <a:lstStyle/>
          <a:p>
            <a:r>
              <a:rPr lang="en-US" altLang="zh-CN" b="1" dirty="0">
                <a:solidFill>
                  <a:srgbClr val="2E75B6"/>
                </a:solidFill>
                <a:latin typeface="微软雅黑" panose="020B0503020204020204" pitchFamily="34" charset="-122"/>
                <a:ea typeface="微软雅黑" panose="020B0503020204020204" pitchFamily="34" charset="-122"/>
              </a:rPr>
              <a:t>238nm</a:t>
            </a:r>
            <a:endParaRPr lang="zh-CN" altLang="en-US" dirty="0">
              <a:solidFill>
                <a:srgbClr val="2E75B6"/>
              </a:solidFill>
            </a:endParaRPr>
          </a:p>
        </p:txBody>
      </p:sp>
      <p:cxnSp>
        <p:nvCxnSpPr>
          <p:cNvPr id="15" name="直接连接符 14"/>
          <p:cNvCxnSpPr/>
          <p:nvPr/>
        </p:nvCxnSpPr>
        <p:spPr>
          <a:xfrm>
            <a:off x="9140513" y="4993702"/>
            <a:ext cx="0" cy="853030"/>
          </a:xfrm>
          <a:prstGeom prst="line">
            <a:avLst/>
          </a:prstGeom>
          <a:ln w="28575">
            <a:solidFill>
              <a:srgbClr val="2E75B6"/>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8646627" y="4667214"/>
            <a:ext cx="987771" cy="369332"/>
          </a:xfrm>
          <a:prstGeom prst="rect">
            <a:avLst/>
          </a:prstGeom>
        </p:spPr>
        <p:txBody>
          <a:bodyPr wrap="none">
            <a:spAutoFit/>
          </a:bodyPr>
          <a:lstStyle/>
          <a:p>
            <a:r>
              <a:rPr lang="en-US" altLang="zh-CN" b="1" dirty="0">
                <a:solidFill>
                  <a:srgbClr val="2E75B6"/>
                </a:solidFill>
                <a:latin typeface="微软雅黑" panose="020B0503020204020204" pitchFamily="34" charset="-122"/>
                <a:ea typeface="微软雅黑" panose="020B0503020204020204" pitchFamily="34" charset="-122"/>
              </a:rPr>
              <a:t>280nm</a:t>
            </a:r>
            <a:endParaRPr lang="zh-CN" altLang="en-US" dirty="0">
              <a:solidFill>
                <a:srgbClr val="2E75B6"/>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90592"/>
            <a:ext cx="6690360" cy="612140"/>
          </a:xfrm>
        </p:spPr>
        <p:txBody>
          <a:bodyPr>
            <a:normAutofit/>
          </a:bodyPr>
          <a:lstStyle/>
          <a:p>
            <a:pPr algn="ctr"/>
            <a:r>
              <a:rPr lang="en-US" altLang="zh-CN" b="1" dirty="0">
                <a:solidFill>
                  <a:srgbClr val="002060"/>
                </a:solidFill>
              </a:rPr>
              <a:t>4.2.3 </a:t>
            </a:r>
            <a:r>
              <a:rPr lang="zh-CN" altLang="en-US" b="1" dirty="0">
                <a:solidFill>
                  <a:srgbClr val="002060"/>
                </a:solidFill>
              </a:rPr>
              <a:t>紫外</a:t>
            </a:r>
            <a:r>
              <a:rPr lang="en-US" altLang="zh-CN" b="1" dirty="0">
                <a:solidFill>
                  <a:srgbClr val="002060"/>
                </a:solidFill>
              </a:rPr>
              <a:t>-</a:t>
            </a:r>
            <a:r>
              <a:rPr lang="zh-CN" altLang="en-US" b="1" dirty="0">
                <a:solidFill>
                  <a:srgbClr val="002060"/>
                </a:solidFill>
              </a:rPr>
              <a:t>可见吸收光谱的应用</a:t>
            </a:r>
            <a:endParaRPr lang="zh-CN" altLang="en-US" b="1" dirty="0">
              <a:solidFill>
                <a:srgbClr val="002060"/>
              </a:solidFill>
            </a:endParaRPr>
          </a:p>
        </p:txBody>
      </p:sp>
      <p:sp>
        <p:nvSpPr>
          <p:cNvPr id="11" name="内容占位符 3"/>
          <p:cNvSpPr>
            <a:spLocks noGrp="1"/>
          </p:cNvSpPr>
          <p:nvPr>
            <p:ph idx="4294967295"/>
          </p:nvPr>
        </p:nvSpPr>
        <p:spPr>
          <a:xfrm>
            <a:off x="-3938" y="13970"/>
            <a:ext cx="2692493" cy="347980"/>
          </a:xfrm>
          <a:solidFill>
            <a:schemeClr val="bg1">
              <a:lumMod val="95000"/>
            </a:schemeClr>
          </a:solidFill>
          <a:ln w="25400">
            <a:solidFill>
              <a:schemeClr val="tx2">
                <a:lumMod val="40000"/>
                <a:lumOff val="60000"/>
              </a:schemeClr>
            </a:solidFill>
          </a:ln>
        </p:spPr>
        <p:txBody>
          <a:bodyPr>
            <a:noAutofit/>
          </a:body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52684" y="1120732"/>
            <a:ext cx="3987686" cy="398780"/>
          </a:xfrm>
          <a:prstGeom prst="rect">
            <a:avLst/>
          </a:prstGeom>
          <a:noFill/>
        </p:spPr>
        <p:txBody>
          <a:bodyPr wrap="square">
            <a:spAutoFit/>
          </a:bodyPr>
          <a:lstStyle/>
          <a:p>
            <a:r>
              <a:rPr lang="en-US" altLang="zh-CN" sz="2000" b="1" dirty="0">
                <a:effectLst/>
                <a:ea typeface="微软雅黑" panose="020B0503020204020204" pitchFamily="34" charset="-122"/>
                <a:cs typeface="宋体" panose="02010600030101010101" pitchFamily="2" charset="-122"/>
              </a:rPr>
              <a:t>1. </a:t>
            </a:r>
            <a:r>
              <a:rPr lang="zh-CN" altLang="en-US" sz="2000" b="1" dirty="0">
                <a:effectLst/>
                <a:ea typeface="微软雅黑" panose="020B0503020204020204" pitchFamily="34" charset="-122"/>
                <a:cs typeface="宋体" panose="02010600030101010101" pitchFamily="2" charset="-122"/>
              </a:rPr>
              <a:t>定性分析</a:t>
            </a:r>
            <a:endParaRPr lang="zh-CN" altLang="en-US" sz="2000" b="1" dirty="0"/>
          </a:p>
        </p:txBody>
      </p:sp>
      <p:sp>
        <p:nvSpPr>
          <p:cNvPr id="10" name="文本框 9"/>
          <p:cNvSpPr txBox="1"/>
          <p:nvPr/>
        </p:nvSpPr>
        <p:spPr>
          <a:xfrm>
            <a:off x="552144" y="1480875"/>
            <a:ext cx="6154056" cy="506730"/>
          </a:xfrm>
          <a:prstGeom prst="rect">
            <a:avLst/>
          </a:prstGeom>
          <a:noFill/>
        </p:spPr>
        <p:txBody>
          <a:bodyPr wrap="square">
            <a:spAutoFit/>
          </a:bodyPr>
          <a:lstStyle/>
          <a:p>
            <a:pPr indent="269240" algn="just">
              <a:lnSpc>
                <a:spcPct val="150000"/>
              </a:lnSpc>
              <a:spcBef>
                <a:spcPts val="300"/>
              </a:spcBef>
              <a:spcAft>
                <a:spcPts val="300"/>
              </a:spcAft>
            </a:pPr>
            <a:r>
              <a:rPr lang="zh-CN"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rPr>
              <a:t>1</a:t>
            </a:r>
            <a:r>
              <a:rPr lang="zh-CN"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rPr>
              <a:t>）化合物验证</a:t>
            </a:r>
            <a:endParaRPr lang="zh-CN"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endParaRPr>
          </a:p>
        </p:txBody>
      </p:sp>
      <p:graphicFrame>
        <p:nvGraphicFramePr>
          <p:cNvPr id="17" name="表格 16"/>
          <p:cNvGraphicFramePr>
            <a:graphicFrameLocks noGrp="1"/>
          </p:cNvGraphicFramePr>
          <p:nvPr>
            <p:custDataLst>
              <p:tags r:id="rId1"/>
            </p:custDataLst>
          </p:nvPr>
        </p:nvGraphicFramePr>
        <p:xfrm>
          <a:off x="1342390" y="3179445"/>
          <a:ext cx="9646285" cy="2995930"/>
        </p:xfrm>
        <a:graphic>
          <a:graphicData uri="http://schemas.openxmlformats.org/drawingml/2006/table">
            <a:tbl>
              <a:tblPr firstRow="1" firstCol="1" bandRow="1"/>
              <a:tblGrid>
                <a:gridCol w="3308350"/>
                <a:gridCol w="6337935"/>
              </a:tblGrid>
              <a:tr h="427990">
                <a:tc>
                  <a:txBody>
                    <a:bodyPr/>
                    <a:lstStyle/>
                    <a:p>
                      <a:pPr algn="ctr">
                        <a:lnSpc>
                          <a:spcPct val="100000"/>
                        </a:lnSpc>
                      </a:pPr>
                      <a:r>
                        <a:rPr lang="zh-CN" sz="1600" b="1" dirty="0">
                          <a:effectLst/>
                          <a:latin typeface="微软雅黑" panose="020B0503020204020204" pitchFamily="34" charset="-122"/>
                          <a:ea typeface="微软雅黑" panose="020B0503020204020204" pitchFamily="34" charset="-122"/>
                          <a:cs typeface="宋体" panose="02010600030101010101" pitchFamily="2" charset="-122"/>
                        </a:rPr>
                        <a:t>紫外</a:t>
                      </a:r>
                      <a:r>
                        <a:rPr lang="en-US" sz="1600" b="1" dirty="0">
                          <a:effectLst/>
                          <a:latin typeface="微软雅黑" panose="020B0503020204020204" pitchFamily="34" charset="-122"/>
                          <a:ea typeface="微软雅黑" panose="020B0503020204020204" pitchFamily="34" charset="-122"/>
                          <a:cs typeface="宋体" panose="02010600030101010101" pitchFamily="2" charset="-122"/>
                        </a:rPr>
                        <a:t>-</a:t>
                      </a:r>
                      <a:r>
                        <a:rPr lang="zh-CN" sz="1600" b="1" dirty="0">
                          <a:effectLst/>
                          <a:latin typeface="微软雅黑" panose="020B0503020204020204" pitchFamily="34" charset="-122"/>
                          <a:ea typeface="微软雅黑" panose="020B0503020204020204" pitchFamily="34" charset="-122"/>
                          <a:cs typeface="宋体" panose="02010600030101010101" pitchFamily="2" charset="-122"/>
                        </a:rPr>
                        <a:t>可见光谱现象</a:t>
                      </a:r>
                      <a:endParaRPr lang="zh-CN" sz="2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zh-CN" sz="1600" b="1" dirty="0">
                          <a:effectLst/>
                          <a:latin typeface="微软雅黑" panose="020B0503020204020204" pitchFamily="34" charset="-122"/>
                          <a:ea typeface="微软雅黑" panose="020B0503020204020204" pitchFamily="34" charset="-122"/>
                          <a:cs typeface="宋体" panose="02010600030101010101" pitchFamily="2" charset="-122"/>
                        </a:rPr>
                        <a:t>有机化合物结构</a:t>
                      </a:r>
                      <a:endParaRPr lang="zh-CN" sz="2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7990">
                <a:tc>
                  <a:txBody>
                    <a:bodyPr/>
                    <a:lstStyle/>
                    <a:p>
                      <a:pPr algn="ctr">
                        <a:lnSpc>
                          <a:spcPct val="150000"/>
                        </a:lnSpc>
                      </a:pPr>
                      <a:r>
                        <a:rPr lang="en-US" sz="1600">
                          <a:effectLst/>
                          <a:latin typeface="微软雅黑" panose="020B0503020204020204" pitchFamily="34" charset="-122"/>
                          <a:ea typeface="微软雅黑" panose="020B0503020204020204" pitchFamily="34" charset="-122"/>
                          <a:cs typeface="宋体" panose="02010600030101010101" pitchFamily="2" charset="-122"/>
                        </a:rPr>
                        <a:t>200~750nm</a:t>
                      </a:r>
                      <a:r>
                        <a:rPr lang="zh-CN" sz="1600">
                          <a:effectLst/>
                          <a:latin typeface="微软雅黑" panose="020B0503020204020204" pitchFamily="34" charset="-122"/>
                          <a:ea typeface="微软雅黑" panose="020B0503020204020204" pitchFamily="34" charset="-122"/>
                          <a:cs typeface="宋体" panose="02010600030101010101" pitchFamily="2" charset="-122"/>
                        </a:rPr>
                        <a:t>无吸收峰</a:t>
                      </a:r>
                      <a:endParaRPr lang="zh-CN" sz="200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50000"/>
                        </a:lnSpc>
                      </a:pPr>
                      <a:r>
                        <a:rPr lang="zh-CN" sz="1600" dirty="0">
                          <a:effectLst/>
                          <a:latin typeface="微软雅黑" panose="020B0503020204020204" pitchFamily="34" charset="-122"/>
                          <a:ea typeface="微软雅黑" panose="020B0503020204020204" pitchFamily="34" charset="-122"/>
                          <a:cs typeface="宋体" panose="02010600030101010101" pitchFamily="2" charset="-122"/>
                        </a:rPr>
                        <a:t>直链烷烃、环烷烃、饱和脂肪族化合物或仅含一个双键的烯烃</a:t>
                      </a:r>
                      <a:endParaRPr lang="zh-CN" sz="2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427990">
                <a:tc>
                  <a:txBody>
                    <a:bodyPr/>
                    <a:lstStyle/>
                    <a:p>
                      <a:pPr algn="ctr">
                        <a:lnSpc>
                          <a:spcPct val="150000"/>
                        </a:lnSpc>
                      </a:pPr>
                      <a:r>
                        <a:rPr lang="en-US" sz="1600">
                          <a:effectLst/>
                          <a:latin typeface="微软雅黑" panose="020B0503020204020204" pitchFamily="34" charset="-122"/>
                          <a:ea typeface="微软雅黑" panose="020B0503020204020204" pitchFamily="34" charset="-122"/>
                          <a:cs typeface="宋体" panose="02010600030101010101" pitchFamily="2" charset="-122"/>
                        </a:rPr>
                        <a:t>270~350nm</a:t>
                      </a:r>
                      <a:r>
                        <a:rPr lang="zh-CN" sz="1600">
                          <a:effectLst/>
                          <a:latin typeface="微软雅黑" panose="020B0503020204020204" pitchFamily="34" charset="-122"/>
                          <a:ea typeface="微软雅黑" panose="020B0503020204020204" pitchFamily="34" charset="-122"/>
                          <a:cs typeface="宋体" panose="02010600030101010101" pitchFamily="2" charset="-122"/>
                        </a:rPr>
                        <a:t>有低强度吸收峰</a:t>
                      </a:r>
                      <a:endParaRPr lang="zh-CN" sz="200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zh-CN" sz="1600" dirty="0">
                          <a:effectLst/>
                          <a:latin typeface="微软雅黑" panose="020B0503020204020204" pitchFamily="34" charset="-122"/>
                          <a:ea typeface="微软雅黑" panose="020B0503020204020204" pitchFamily="34" charset="-122"/>
                          <a:cs typeface="宋体" panose="02010600030101010101" pitchFamily="2" charset="-122"/>
                        </a:rPr>
                        <a:t>含有一个简单非共轭且含有</a:t>
                      </a:r>
                      <a:r>
                        <a:rPr lang="en-US" sz="1600" dirty="0">
                          <a:effectLst/>
                          <a:latin typeface="微软雅黑" panose="020B0503020204020204" pitchFamily="34" charset="-122"/>
                          <a:ea typeface="微软雅黑" panose="020B0503020204020204" pitchFamily="34" charset="-122"/>
                          <a:cs typeface="宋体" panose="02010600030101010101" pitchFamily="2" charset="-122"/>
                        </a:rPr>
                        <a:t>n</a:t>
                      </a:r>
                      <a:r>
                        <a:rPr lang="zh-CN" sz="1600" dirty="0">
                          <a:effectLst/>
                          <a:latin typeface="微软雅黑" panose="020B0503020204020204" pitchFamily="34" charset="-122"/>
                          <a:ea typeface="微软雅黑" panose="020B0503020204020204" pitchFamily="34" charset="-122"/>
                          <a:cs typeface="宋体" panose="02010600030101010101" pitchFamily="2" charset="-122"/>
                        </a:rPr>
                        <a:t>电子的生色团，如羰基</a:t>
                      </a:r>
                      <a:endParaRPr lang="zh-CN" sz="2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a:noFill/>
                    </a:lnT>
                    <a:lnB>
                      <a:noFill/>
                    </a:lnB>
                  </a:tcPr>
                </a:tc>
              </a:tr>
              <a:tr h="427990">
                <a:tc>
                  <a:txBody>
                    <a:bodyPr/>
                    <a:lstStyle/>
                    <a:p>
                      <a:pPr algn="ctr">
                        <a:lnSpc>
                          <a:spcPct val="150000"/>
                        </a:lnSpc>
                        <a:tabLst>
                          <a:tab pos="1328420" algn="ctr"/>
                        </a:tabLst>
                      </a:pPr>
                      <a:r>
                        <a:rPr lang="en-US" sz="1600" dirty="0">
                          <a:effectLst/>
                          <a:latin typeface="微软雅黑" panose="020B0503020204020204" pitchFamily="34" charset="-122"/>
                          <a:ea typeface="微软雅黑" panose="020B0503020204020204" pitchFamily="34" charset="-122"/>
                          <a:cs typeface="宋体" panose="02010600030101010101" pitchFamily="2" charset="-122"/>
                        </a:rPr>
                        <a:t>250~300nm	</a:t>
                      </a:r>
                      <a:r>
                        <a:rPr lang="zh-CN" sz="1600" dirty="0">
                          <a:effectLst/>
                          <a:latin typeface="微软雅黑" panose="020B0503020204020204" pitchFamily="34" charset="-122"/>
                          <a:ea typeface="微软雅黑" panose="020B0503020204020204" pitchFamily="34" charset="-122"/>
                          <a:cs typeface="宋体" panose="02010600030101010101" pitchFamily="2" charset="-122"/>
                        </a:rPr>
                        <a:t>有中等强度的吸收峰</a:t>
                      </a:r>
                      <a:endParaRPr lang="zh-CN" sz="2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zh-CN" sz="1600" dirty="0">
                          <a:effectLst/>
                          <a:latin typeface="微软雅黑" panose="020B0503020204020204" pitchFamily="34" charset="-122"/>
                          <a:ea typeface="微软雅黑" panose="020B0503020204020204" pitchFamily="34" charset="-122"/>
                          <a:cs typeface="宋体" panose="02010600030101010101" pitchFamily="2" charset="-122"/>
                        </a:rPr>
                        <a:t>含苯环</a:t>
                      </a:r>
                      <a:endParaRPr lang="zh-CN" sz="2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a:noFill/>
                    </a:lnT>
                    <a:lnB>
                      <a:noFill/>
                    </a:lnB>
                  </a:tcPr>
                </a:tc>
              </a:tr>
              <a:tr h="427990">
                <a:tc>
                  <a:txBody>
                    <a:bodyPr/>
                    <a:lstStyle/>
                    <a:p>
                      <a:pPr algn="ctr">
                        <a:lnSpc>
                          <a:spcPct val="150000"/>
                        </a:lnSpc>
                      </a:pPr>
                      <a:r>
                        <a:rPr lang="en-US" sz="1600">
                          <a:effectLst/>
                          <a:latin typeface="微软雅黑" panose="020B0503020204020204" pitchFamily="34" charset="-122"/>
                          <a:ea typeface="微软雅黑" panose="020B0503020204020204" pitchFamily="34" charset="-122"/>
                          <a:cs typeface="宋体" panose="02010600030101010101" pitchFamily="2" charset="-122"/>
                        </a:rPr>
                        <a:t>210~250nm</a:t>
                      </a:r>
                      <a:r>
                        <a:rPr lang="zh-CN" sz="1600">
                          <a:effectLst/>
                          <a:latin typeface="微软雅黑" panose="020B0503020204020204" pitchFamily="34" charset="-122"/>
                          <a:ea typeface="微软雅黑" panose="020B0503020204020204" pitchFamily="34" charset="-122"/>
                          <a:cs typeface="宋体" panose="02010600030101010101" pitchFamily="2" charset="-122"/>
                        </a:rPr>
                        <a:t>有强吸收峰</a:t>
                      </a:r>
                      <a:endParaRPr lang="zh-CN" sz="200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zh-CN" sz="1600" dirty="0">
                          <a:effectLst/>
                          <a:latin typeface="微软雅黑" panose="020B0503020204020204" pitchFamily="34" charset="-122"/>
                          <a:ea typeface="微软雅黑" panose="020B0503020204020204" pitchFamily="34" charset="-122"/>
                          <a:cs typeface="宋体" panose="02010600030101010101" pitchFamily="2" charset="-122"/>
                        </a:rPr>
                        <a:t>含有</a:t>
                      </a:r>
                      <a:r>
                        <a:rPr lang="en-US" sz="1600" dirty="0">
                          <a:effectLst/>
                          <a:latin typeface="微软雅黑" panose="020B0503020204020204" pitchFamily="34" charset="-122"/>
                          <a:ea typeface="微软雅黑" panose="020B0503020204020204" pitchFamily="34" charset="-122"/>
                          <a:cs typeface="宋体" panose="02010600030101010101" pitchFamily="2" charset="-122"/>
                        </a:rPr>
                        <a:t>2</a:t>
                      </a:r>
                      <a:r>
                        <a:rPr lang="zh-CN" sz="1600" dirty="0">
                          <a:effectLst/>
                          <a:latin typeface="微软雅黑" panose="020B0503020204020204" pitchFamily="34" charset="-122"/>
                          <a:ea typeface="微软雅黑" panose="020B0503020204020204" pitchFamily="34" charset="-122"/>
                          <a:cs typeface="宋体" panose="02010600030101010101" pitchFamily="2" charset="-122"/>
                        </a:rPr>
                        <a:t>个共轭双键</a:t>
                      </a:r>
                      <a:endParaRPr lang="zh-CN" sz="2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a:noFill/>
                    </a:lnT>
                    <a:lnB>
                      <a:noFill/>
                    </a:lnB>
                  </a:tcPr>
                </a:tc>
              </a:tr>
              <a:tr h="427990">
                <a:tc>
                  <a:txBody>
                    <a:bodyPr/>
                    <a:lstStyle/>
                    <a:p>
                      <a:pPr algn="ctr">
                        <a:lnSpc>
                          <a:spcPct val="150000"/>
                        </a:lnSpc>
                      </a:pPr>
                      <a:r>
                        <a:rPr lang="en-US" sz="1600">
                          <a:effectLst/>
                          <a:latin typeface="微软雅黑" panose="020B0503020204020204" pitchFamily="34" charset="-122"/>
                          <a:ea typeface="微软雅黑" panose="020B0503020204020204" pitchFamily="34" charset="-122"/>
                          <a:cs typeface="宋体" panose="02010600030101010101" pitchFamily="2" charset="-122"/>
                        </a:rPr>
                        <a:t>260~300nm</a:t>
                      </a:r>
                      <a:r>
                        <a:rPr lang="zh-CN" sz="1600">
                          <a:effectLst/>
                          <a:latin typeface="微软雅黑" panose="020B0503020204020204" pitchFamily="34" charset="-122"/>
                          <a:ea typeface="微软雅黑" panose="020B0503020204020204" pitchFamily="34" charset="-122"/>
                          <a:cs typeface="宋体" panose="02010600030101010101" pitchFamily="2" charset="-122"/>
                        </a:rPr>
                        <a:t>有强吸收峰</a:t>
                      </a:r>
                      <a:endParaRPr lang="zh-CN" sz="200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a:noFill/>
                    </a:lnT>
                    <a:lnB>
                      <a:noFill/>
                    </a:lnB>
                  </a:tcPr>
                </a:tc>
                <a:tc>
                  <a:txBody>
                    <a:bodyPr/>
                    <a:lstStyle/>
                    <a:p>
                      <a:pPr algn="ctr">
                        <a:lnSpc>
                          <a:spcPct val="150000"/>
                        </a:lnSpc>
                      </a:pPr>
                      <a:r>
                        <a:rPr lang="zh-CN" sz="1600">
                          <a:effectLst/>
                          <a:latin typeface="微软雅黑" panose="020B0503020204020204" pitchFamily="34" charset="-122"/>
                          <a:ea typeface="微软雅黑" panose="020B0503020204020204" pitchFamily="34" charset="-122"/>
                          <a:cs typeface="宋体" panose="02010600030101010101" pitchFamily="2" charset="-122"/>
                        </a:rPr>
                        <a:t>含有</a:t>
                      </a:r>
                      <a:r>
                        <a:rPr lang="en-US" sz="1600">
                          <a:effectLst/>
                          <a:latin typeface="微软雅黑" panose="020B0503020204020204" pitchFamily="34" charset="-122"/>
                          <a:ea typeface="微软雅黑" panose="020B0503020204020204" pitchFamily="34" charset="-122"/>
                          <a:cs typeface="宋体" panose="02010600030101010101" pitchFamily="2" charset="-122"/>
                        </a:rPr>
                        <a:t>3</a:t>
                      </a:r>
                      <a:r>
                        <a:rPr lang="zh-CN" sz="1600">
                          <a:effectLst/>
                          <a:latin typeface="微软雅黑" panose="020B0503020204020204" pitchFamily="34" charset="-122"/>
                          <a:ea typeface="微软雅黑" panose="020B0503020204020204" pitchFamily="34" charset="-122"/>
                          <a:cs typeface="宋体" panose="02010600030101010101" pitchFamily="2" charset="-122"/>
                        </a:rPr>
                        <a:t>个或</a:t>
                      </a:r>
                      <a:r>
                        <a:rPr lang="en-US" sz="1600">
                          <a:effectLst/>
                          <a:latin typeface="微软雅黑" panose="020B0503020204020204" pitchFamily="34" charset="-122"/>
                          <a:ea typeface="微软雅黑" panose="020B0503020204020204" pitchFamily="34" charset="-122"/>
                          <a:cs typeface="宋体" panose="02010600030101010101" pitchFamily="2" charset="-122"/>
                        </a:rPr>
                        <a:t>3</a:t>
                      </a:r>
                      <a:r>
                        <a:rPr lang="zh-CN" sz="1600">
                          <a:effectLst/>
                          <a:latin typeface="微软雅黑" panose="020B0503020204020204" pitchFamily="34" charset="-122"/>
                          <a:ea typeface="微软雅黑" panose="020B0503020204020204" pitchFamily="34" charset="-122"/>
                          <a:cs typeface="宋体" panose="02010600030101010101" pitchFamily="2" charset="-122"/>
                        </a:rPr>
                        <a:t>个以上共轭双键</a:t>
                      </a:r>
                      <a:endParaRPr lang="zh-CN" sz="200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a:noFill/>
                    </a:lnT>
                    <a:lnB>
                      <a:noFill/>
                    </a:lnB>
                  </a:tcPr>
                </a:tc>
              </a:tr>
              <a:tr h="427990">
                <a:tc>
                  <a:txBody>
                    <a:bodyPr/>
                    <a:lstStyle/>
                    <a:p>
                      <a:pPr algn="ctr">
                        <a:lnSpc>
                          <a:spcPct val="150000"/>
                        </a:lnSpc>
                      </a:pPr>
                      <a:r>
                        <a:rPr lang="zh-CN" sz="1600">
                          <a:effectLst/>
                          <a:latin typeface="微软雅黑" panose="020B0503020204020204" pitchFamily="34" charset="-122"/>
                          <a:ea typeface="微软雅黑" panose="020B0503020204020204" pitchFamily="34" charset="-122"/>
                          <a:cs typeface="宋体" panose="02010600030101010101" pitchFamily="2" charset="-122"/>
                        </a:rPr>
                        <a:t>吸收峰延伸至可见光区</a:t>
                      </a:r>
                      <a:endParaRPr lang="zh-CN" sz="200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c>
                  <a:txBody>
                    <a:bodyPr/>
                    <a:lstStyle/>
                    <a:p>
                      <a:pPr algn="ctr">
                        <a:lnSpc>
                          <a:spcPct val="150000"/>
                        </a:lnSpc>
                      </a:pPr>
                      <a:r>
                        <a:rPr lang="zh-CN" sz="1600" dirty="0">
                          <a:effectLst/>
                          <a:latin typeface="微软雅黑" panose="020B0503020204020204" pitchFamily="34" charset="-122"/>
                          <a:ea typeface="微软雅黑" panose="020B0503020204020204" pitchFamily="34" charset="-122"/>
                          <a:cs typeface="宋体" panose="02010600030101010101" pitchFamily="2" charset="-122"/>
                        </a:rPr>
                        <a:t>长链共轭或稠环化合物</a:t>
                      </a:r>
                      <a:endParaRPr lang="zh-CN" sz="20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tr>
            </a:tbl>
          </a:graphicData>
        </a:graphic>
      </p:graphicFrame>
      <p:sp>
        <p:nvSpPr>
          <p:cNvPr id="3" name="文本框 2"/>
          <p:cNvSpPr txBox="1"/>
          <p:nvPr/>
        </p:nvSpPr>
        <p:spPr>
          <a:xfrm>
            <a:off x="352167" y="1913875"/>
            <a:ext cx="11542205" cy="922020"/>
          </a:xfrm>
          <a:prstGeom prst="rect">
            <a:avLst/>
          </a:prstGeom>
          <a:noFill/>
        </p:spPr>
        <p:txBody>
          <a:bodyPr wrap="square">
            <a:spAutoFit/>
          </a:bodyPr>
          <a:lstStyle/>
          <a:p>
            <a:pPr indent="0" fontAlgn="auto">
              <a:lnSpc>
                <a:spcPct val="150000"/>
              </a:lnSpc>
            </a:pPr>
            <a:r>
              <a:rPr lang="zh-CN" altLang="en-US" dirty="0">
                <a:latin typeface="微软雅黑" panose="020B0503020204020204" pitchFamily="34" charset="-122"/>
                <a:ea typeface="微软雅黑" panose="020B0503020204020204" pitchFamily="34" charset="-122"/>
              </a:rPr>
              <a:t>       将化合物的紫外</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可见吸收光谱与不同分子结构物质的标准光谱图比对，就可得到被测样品中化合物的类别。还可根据</a:t>
            </a:r>
            <a:r>
              <a:rPr lang="zh-CN" altLang="en-US" b="1" dirty="0">
                <a:solidFill>
                  <a:srgbClr val="002060"/>
                </a:solidFill>
                <a:latin typeface="微软雅黑" panose="020B0503020204020204" pitchFamily="34" charset="-122"/>
                <a:ea typeface="微软雅黑" panose="020B0503020204020204" pitchFamily="34" charset="-122"/>
              </a:rPr>
              <a:t>有机化合物的紫外</a:t>
            </a:r>
            <a:r>
              <a:rPr lang="en-US" altLang="zh-CN" b="1" dirty="0">
                <a:solidFill>
                  <a:srgbClr val="002060"/>
                </a:solidFill>
                <a:latin typeface="微软雅黑" panose="020B0503020204020204" pitchFamily="34" charset="-122"/>
                <a:ea typeface="微软雅黑" panose="020B0503020204020204" pitchFamily="34" charset="-122"/>
              </a:rPr>
              <a:t>-</a:t>
            </a:r>
            <a:r>
              <a:rPr lang="zh-CN" altLang="en-US" b="1" dirty="0">
                <a:solidFill>
                  <a:srgbClr val="002060"/>
                </a:solidFill>
                <a:latin typeface="微软雅黑" panose="020B0503020204020204" pitchFamily="34" charset="-122"/>
                <a:ea typeface="微软雅黑" panose="020B0503020204020204" pitchFamily="34" charset="-122"/>
              </a:rPr>
              <a:t>可见光谱形成机理</a:t>
            </a:r>
            <a:r>
              <a:rPr lang="zh-CN" altLang="en-US" dirty="0">
                <a:latin typeface="微软雅黑" panose="020B0503020204020204" pitchFamily="34" charset="-122"/>
                <a:ea typeface="微软雅黑" panose="020B0503020204020204" pitchFamily="34" charset="-122"/>
              </a:rPr>
              <a:t>，利用下表的一些基本规则对化合物的分子结构进行初步推断。 </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4.2  </a:t>
            </a:r>
            <a:r>
              <a:rPr lang="zh-CN" altLang="en-US" sz="1600" dirty="0">
                <a:solidFill>
                  <a:srgbClr val="002060"/>
                </a:solidFill>
                <a:latin typeface="微软雅黑" panose="020B0503020204020204" pitchFamily="34" charset="-122"/>
                <a:ea typeface="微软雅黑" panose="020B0503020204020204" pitchFamily="34" charset="-122"/>
              </a:rPr>
              <a:t>吸收光谱技术及应用</a:t>
            </a:r>
            <a:endParaRPr lang="zh-CN" altLang="en-US" sz="1600" dirty="0">
              <a:solidFill>
                <a:srgbClr val="002060"/>
              </a:solidFill>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90592"/>
            <a:ext cx="6690360" cy="612140"/>
          </a:xfrm>
        </p:spPr>
        <p:txBody>
          <a:bodyPr>
            <a:normAutofit/>
          </a:bodyPr>
          <a:lstStyle/>
          <a:p>
            <a:pPr algn="ctr"/>
            <a:r>
              <a:rPr lang="en-US" altLang="zh-CN" b="1" dirty="0">
                <a:solidFill>
                  <a:srgbClr val="002060"/>
                </a:solidFill>
              </a:rPr>
              <a:t>4.2.3 </a:t>
            </a:r>
            <a:r>
              <a:rPr lang="zh-CN" altLang="en-US" b="1" dirty="0">
                <a:solidFill>
                  <a:srgbClr val="002060"/>
                </a:solidFill>
              </a:rPr>
              <a:t>紫外</a:t>
            </a:r>
            <a:r>
              <a:rPr lang="en-US" altLang="zh-CN" b="1" dirty="0">
                <a:solidFill>
                  <a:srgbClr val="002060"/>
                </a:solidFill>
              </a:rPr>
              <a:t>-</a:t>
            </a:r>
            <a:r>
              <a:rPr lang="zh-CN" altLang="en-US" b="1" dirty="0">
                <a:solidFill>
                  <a:srgbClr val="002060"/>
                </a:solidFill>
              </a:rPr>
              <a:t>可见吸收光谱的应用</a:t>
            </a:r>
            <a:endParaRPr lang="zh-CN" altLang="en-US" b="1" dirty="0">
              <a:solidFill>
                <a:srgbClr val="002060"/>
              </a:solidFill>
            </a:endParaRPr>
          </a:p>
        </p:txBody>
      </p:sp>
      <p:sp>
        <p:nvSpPr>
          <p:cNvPr id="11" name="内容占位符 3"/>
          <p:cNvSpPr>
            <a:spLocks noGrp="1"/>
          </p:cNvSpPr>
          <p:nvPr>
            <p:ph idx="4294967295"/>
          </p:nvPr>
        </p:nvSpPr>
        <p:spPr>
          <a:xfrm>
            <a:off x="-3938" y="13970"/>
            <a:ext cx="2692493" cy="347980"/>
          </a:xfrm>
          <a:solidFill>
            <a:schemeClr val="bg1">
              <a:lumMod val="95000"/>
            </a:schemeClr>
          </a:solidFill>
          <a:ln w="25400">
            <a:solidFill>
              <a:schemeClr val="tx2">
                <a:lumMod val="40000"/>
                <a:lumOff val="60000"/>
              </a:schemeClr>
            </a:solidFill>
          </a:ln>
        </p:spPr>
        <p:txBody>
          <a:bodyPr>
            <a:noAutofit/>
          </a:body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52684" y="1159552"/>
            <a:ext cx="3987686" cy="398780"/>
          </a:xfrm>
          <a:prstGeom prst="rect">
            <a:avLst/>
          </a:prstGeom>
          <a:noFill/>
        </p:spPr>
        <p:txBody>
          <a:bodyPr wrap="square">
            <a:spAutoFit/>
          </a:bodyPr>
          <a:lstStyle/>
          <a:p>
            <a:r>
              <a:rPr lang="en-US" altLang="zh-CN" sz="2000" b="1" dirty="0">
                <a:effectLst/>
                <a:ea typeface="微软雅黑" panose="020B0503020204020204" pitchFamily="34" charset="-122"/>
                <a:cs typeface="宋体" panose="02010600030101010101" pitchFamily="2" charset="-122"/>
              </a:rPr>
              <a:t>1. </a:t>
            </a:r>
            <a:r>
              <a:rPr lang="zh-CN" altLang="en-US" sz="2000" b="1" dirty="0">
                <a:effectLst/>
                <a:ea typeface="微软雅黑" panose="020B0503020204020204" pitchFamily="34" charset="-122"/>
                <a:cs typeface="宋体" panose="02010600030101010101" pitchFamily="2" charset="-122"/>
              </a:rPr>
              <a:t>定性分析</a:t>
            </a:r>
            <a:endParaRPr lang="zh-CN" altLang="en-US" sz="2000" b="1" dirty="0"/>
          </a:p>
        </p:txBody>
      </p:sp>
      <p:sp>
        <p:nvSpPr>
          <p:cNvPr id="35" name="文本框 34"/>
          <p:cNvSpPr txBox="1"/>
          <p:nvPr/>
        </p:nvSpPr>
        <p:spPr>
          <a:xfrm>
            <a:off x="492018" y="1556059"/>
            <a:ext cx="6154056" cy="458908"/>
          </a:xfrm>
          <a:prstGeom prst="rect">
            <a:avLst/>
          </a:prstGeom>
          <a:noFill/>
        </p:spPr>
        <p:txBody>
          <a:bodyPr wrap="square">
            <a:spAutoFit/>
          </a:bodyPr>
          <a:lstStyle/>
          <a:p>
            <a:pPr indent="88900" algn="just">
              <a:lnSpc>
                <a:spcPct val="150000"/>
              </a:lnSpc>
              <a:spcBef>
                <a:spcPts val="300"/>
              </a:spcBef>
              <a:spcAft>
                <a:spcPts val="300"/>
              </a:spcAft>
            </a:pPr>
            <a:r>
              <a:rPr lang="zh-CN"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rPr>
              <a:t>2</a:t>
            </a:r>
            <a:r>
              <a:rPr lang="zh-CN"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rPr>
              <a:t>）化合物结构与吸收谱带</a:t>
            </a:r>
            <a:endParaRPr lang="zh-CN"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endParaRPr>
          </a:p>
        </p:txBody>
      </p:sp>
      <p:sp>
        <p:nvSpPr>
          <p:cNvPr id="13" name="文本框 12"/>
          <p:cNvSpPr txBox="1"/>
          <p:nvPr/>
        </p:nvSpPr>
        <p:spPr>
          <a:xfrm>
            <a:off x="325086" y="2075999"/>
            <a:ext cx="11542206" cy="922020"/>
          </a:xfrm>
          <a:prstGeom prst="rect">
            <a:avLst/>
          </a:prstGeom>
          <a:noFill/>
        </p:spPr>
        <p:txBody>
          <a:bodyPr wrap="square">
            <a:spAutoFit/>
          </a:bodyPr>
          <a:lstStyle/>
          <a:p>
            <a:pPr indent="0" algn="just" fontAlgn="auto">
              <a:lnSpc>
                <a:spcPct val="150000"/>
              </a:lnSpc>
            </a:pPr>
            <a:r>
              <a:rPr lang="zh-CN" altLang="en-US" dirty="0">
                <a:latin typeface="微软雅黑" panose="020B0503020204020204" pitchFamily="34" charset="-122"/>
                <a:ea typeface="微软雅黑" panose="020B0503020204020204" pitchFamily="34" charset="-122"/>
              </a:rPr>
              <a:t>       紫外吸收光谱是</a:t>
            </a:r>
            <a:r>
              <a:rPr lang="zh-CN" altLang="en-US" b="1" dirty="0">
                <a:solidFill>
                  <a:srgbClr val="C00000"/>
                </a:solidFill>
                <a:latin typeface="微软雅黑" panose="020B0503020204020204" pitchFamily="34" charset="-122"/>
                <a:ea typeface="微软雅黑" panose="020B0503020204020204" pitchFamily="34" charset="-122"/>
              </a:rPr>
              <a:t>带状光谱</a:t>
            </a:r>
            <a:r>
              <a:rPr lang="zh-CN" altLang="en-US" dirty="0">
                <a:latin typeface="微软雅黑" panose="020B0503020204020204" pitchFamily="34" charset="-122"/>
                <a:ea typeface="微软雅黑" panose="020B0503020204020204" pitchFamily="34" charset="-122"/>
              </a:rPr>
              <a:t>，吸收带的波带位置与化合物的结构密切相关。根据大量实验数据的分析结果以及电子跃迁和分子轨道的种类，通常将紫外</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可见光的吸收带分为四类：</a:t>
            </a:r>
            <a:r>
              <a:rPr lang="en-US" altLang="zh-CN" b="1" dirty="0">
                <a:solidFill>
                  <a:srgbClr val="002060"/>
                </a:solidFill>
                <a:latin typeface="微软雅黑" panose="020B0503020204020204" pitchFamily="34" charset="-122"/>
                <a:ea typeface="微软雅黑" panose="020B0503020204020204" pitchFamily="34" charset="-122"/>
              </a:rPr>
              <a:t>R</a:t>
            </a:r>
            <a:r>
              <a:rPr lang="zh-CN" altLang="en-US" b="1" dirty="0">
                <a:solidFill>
                  <a:srgbClr val="002060"/>
                </a:solidFill>
                <a:latin typeface="微软雅黑" panose="020B0503020204020204" pitchFamily="34" charset="-122"/>
                <a:ea typeface="微软雅黑" panose="020B0503020204020204" pitchFamily="34" charset="-122"/>
              </a:rPr>
              <a:t>吸收带、</a:t>
            </a:r>
            <a:r>
              <a:rPr lang="en-US" altLang="zh-CN" b="1" dirty="0">
                <a:solidFill>
                  <a:srgbClr val="002060"/>
                </a:solidFill>
                <a:latin typeface="微软雅黑" panose="020B0503020204020204" pitchFamily="34" charset="-122"/>
                <a:ea typeface="微软雅黑" panose="020B0503020204020204" pitchFamily="34" charset="-122"/>
              </a:rPr>
              <a:t>K </a:t>
            </a:r>
            <a:r>
              <a:rPr lang="zh-CN" altLang="en-US" b="1" dirty="0">
                <a:solidFill>
                  <a:srgbClr val="002060"/>
                </a:solidFill>
                <a:latin typeface="微软雅黑" panose="020B0503020204020204" pitchFamily="34" charset="-122"/>
                <a:ea typeface="微软雅黑" panose="020B0503020204020204" pitchFamily="34" charset="-122"/>
              </a:rPr>
              <a:t>吸收带、</a:t>
            </a:r>
            <a:r>
              <a:rPr lang="en-US" altLang="zh-CN" b="1" dirty="0">
                <a:solidFill>
                  <a:srgbClr val="002060"/>
                </a:solidFill>
                <a:latin typeface="微软雅黑" panose="020B0503020204020204" pitchFamily="34" charset="-122"/>
                <a:ea typeface="微软雅黑" panose="020B0503020204020204" pitchFamily="34" charset="-122"/>
              </a:rPr>
              <a:t>B</a:t>
            </a:r>
            <a:r>
              <a:rPr lang="zh-CN" altLang="en-US" b="1" dirty="0">
                <a:solidFill>
                  <a:srgbClr val="002060"/>
                </a:solidFill>
                <a:latin typeface="微软雅黑" panose="020B0503020204020204" pitchFamily="34" charset="-122"/>
                <a:ea typeface="微软雅黑" panose="020B0503020204020204" pitchFamily="34" charset="-122"/>
              </a:rPr>
              <a:t>吸收带和</a:t>
            </a:r>
            <a:r>
              <a:rPr lang="en-US" altLang="zh-CN" b="1" dirty="0">
                <a:solidFill>
                  <a:srgbClr val="002060"/>
                </a:solidFill>
                <a:latin typeface="微软雅黑" panose="020B0503020204020204" pitchFamily="34" charset="-122"/>
                <a:ea typeface="微软雅黑" panose="020B0503020204020204" pitchFamily="34" charset="-122"/>
              </a:rPr>
              <a:t>E</a:t>
            </a:r>
            <a:r>
              <a:rPr lang="zh-CN" altLang="en-US" b="1" dirty="0">
                <a:solidFill>
                  <a:srgbClr val="002060"/>
                </a:solidFill>
                <a:latin typeface="微软雅黑" panose="020B0503020204020204" pitchFamily="34" charset="-122"/>
                <a:ea typeface="微软雅黑" panose="020B0503020204020204" pitchFamily="34" charset="-122"/>
              </a:rPr>
              <a:t>吸收带</a:t>
            </a:r>
            <a:r>
              <a:rPr lang="zh-CN" altLang="en-US" dirty="0"/>
              <a:t>。</a:t>
            </a:r>
            <a:endParaRPr lang="zh-CN" altLang="en-US" dirty="0"/>
          </a:p>
        </p:txBody>
      </p:sp>
      <p:sp>
        <p:nvSpPr>
          <p:cNvPr id="2" name="矩形 1"/>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4.2  </a:t>
            </a:r>
            <a:r>
              <a:rPr lang="zh-CN" altLang="en-US" sz="1600" dirty="0">
                <a:solidFill>
                  <a:srgbClr val="002060"/>
                </a:solidFill>
                <a:latin typeface="微软雅黑" panose="020B0503020204020204" pitchFamily="34" charset="-122"/>
                <a:ea typeface="微软雅黑" panose="020B0503020204020204" pitchFamily="34" charset="-122"/>
              </a:rPr>
              <a:t>吸收光谱技术及应用</a:t>
            </a:r>
            <a:endParaRPr lang="zh-CN" altLang="en-US" sz="1600" dirty="0">
              <a:solidFill>
                <a:srgbClr val="002060"/>
              </a:solidFill>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
        <p:nvSpPr>
          <p:cNvPr id="7" name="矩形 6"/>
          <p:cNvSpPr/>
          <p:nvPr/>
        </p:nvSpPr>
        <p:spPr>
          <a:xfrm>
            <a:off x="768440" y="3098556"/>
            <a:ext cx="10586478" cy="3234690"/>
          </a:xfrm>
          <a:prstGeom prst="rect">
            <a:avLst/>
          </a:prstGeom>
        </p:spPr>
        <p:txBody>
          <a:bodyPr wrap="square">
            <a:spAutoFit/>
          </a:bodyPr>
          <a:lstStyle/>
          <a:p>
            <a:pPr marL="342900" lvl="0" indent="-342900" algn="just" fontAlgn="auto">
              <a:lnSpc>
                <a:spcPct val="135000"/>
              </a:lnSpc>
              <a:spcBef>
                <a:spcPts val="400"/>
              </a:spcBef>
              <a:spcAft>
                <a:spcPts val="0"/>
              </a:spcAft>
              <a:buFont typeface="+mj-lt"/>
              <a:buAutoNum type="arabicParenR"/>
            </a:pPr>
            <a:r>
              <a:rPr lang="en-US" altLang="zh-CN" sz="1600" b="1" dirty="0">
                <a:latin typeface="Times New Roman" panose="02020603050405020304" pitchFamily="18" charset="0"/>
                <a:ea typeface="微软雅黑" panose="020B0503020204020204" pitchFamily="34" charset="-122"/>
                <a:cs typeface="宋体" panose="02010600030101010101" pitchFamily="2" charset="-122"/>
              </a:rPr>
              <a:t>R</a:t>
            </a:r>
            <a:r>
              <a:rPr lang="zh-CN" altLang="zh-CN" sz="1600" b="1" dirty="0">
                <a:latin typeface="Times New Roman" panose="02020603050405020304" pitchFamily="18" charset="0"/>
                <a:ea typeface="微软雅黑" panose="020B0503020204020204" pitchFamily="34" charset="-122"/>
                <a:cs typeface="宋体" panose="02010600030101010101" pitchFamily="2" charset="-122"/>
              </a:rPr>
              <a:t>吸收带：</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由羰基、硝基等单一生色基团中</a:t>
            </a:r>
            <a:r>
              <a:rPr lang="en-US" altLang="zh-CN" sz="1600" dirty="0">
                <a:solidFill>
                  <a:srgbClr val="000000"/>
                </a:solidFill>
                <a:latin typeface="Times New Roman" panose="02020603050405020304" pitchFamily="18" charset="0"/>
                <a:ea typeface="微软雅黑" panose="020B0503020204020204" pitchFamily="34" charset="-122"/>
                <a:cs typeface="宋体" panose="02010600030101010101" pitchFamily="2" charset="-122"/>
              </a:rPr>
              <a:t>n→π*</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跃迁引起的吸收带，其</a:t>
            </a:r>
            <a:r>
              <a:rPr lang="zh-CN"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吸收峰大约在</a:t>
            </a:r>
            <a:r>
              <a:rPr lang="en-US"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300nm</a:t>
            </a:r>
            <a:r>
              <a:rPr lang="zh-CN"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左右</a:t>
            </a:r>
            <a:r>
              <a:rPr lang="zh-CN" altLang="en-US" sz="1600" dirty="0">
                <a:latin typeface="Times New Roman" panose="02020603050405020304" pitchFamily="18" charset="0"/>
                <a:ea typeface="微软雅黑" panose="020B0503020204020204" pitchFamily="34" charset="-122"/>
                <a:cs typeface="宋体" panose="02010600030101010101" pitchFamily="2" charset="-122"/>
              </a:rPr>
              <a:t>，摩尔吸光系数一般在</a:t>
            </a:r>
            <a:r>
              <a:rPr lang="en-US" altLang="zh-CN" sz="1600" dirty="0">
                <a:latin typeface="Times New Roman" panose="02020603050405020304" pitchFamily="18" charset="0"/>
                <a:ea typeface="微软雅黑" panose="020B0503020204020204" pitchFamily="34" charset="-122"/>
                <a:cs typeface="宋体" panose="02010600030101010101" pitchFamily="2" charset="-122"/>
              </a:rPr>
              <a:t>100</a:t>
            </a:r>
            <a:r>
              <a:rPr lang="zh-CN" altLang="en-US" sz="1600" dirty="0">
                <a:latin typeface="Times New Roman" panose="02020603050405020304" pitchFamily="18" charset="0"/>
                <a:ea typeface="微软雅黑" panose="020B0503020204020204" pitchFamily="34" charset="-122"/>
                <a:cs typeface="宋体" panose="02010600030101010101" pitchFamily="2" charset="-122"/>
              </a:rPr>
              <a:t>以内，强度较弱；</a:t>
            </a:r>
            <a:endParaRPr lang="zh-CN" altLang="zh-CN" sz="1600" dirty="0">
              <a:latin typeface="Times New Roman" panose="02020603050405020304" pitchFamily="18" charset="0"/>
              <a:ea typeface="微软雅黑" panose="020B0503020204020204" pitchFamily="34" charset="-122"/>
              <a:cs typeface="宋体" panose="02010600030101010101" pitchFamily="2" charset="-122"/>
            </a:endParaRPr>
          </a:p>
          <a:p>
            <a:pPr marL="342900" lvl="0" indent="-342900" algn="just" fontAlgn="auto">
              <a:lnSpc>
                <a:spcPct val="135000"/>
              </a:lnSpc>
              <a:spcBef>
                <a:spcPts val="400"/>
              </a:spcBef>
              <a:spcAft>
                <a:spcPts val="0"/>
              </a:spcAft>
              <a:buFont typeface="+mj-lt"/>
              <a:buAutoNum type="arabicParenR"/>
            </a:pPr>
            <a:r>
              <a:rPr lang="en-US" altLang="zh-CN" sz="1600" b="1" dirty="0">
                <a:latin typeface="Times New Roman" panose="02020603050405020304" pitchFamily="18" charset="0"/>
                <a:ea typeface="微软雅黑" panose="020B0503020204020204" pitchFamily="34" charset="-122"/>
                <a:cs typeface="宋体" panose="02010600030101010101" pitchFamily="2" charset="-122"/>
              </a:rPr>
              <a:t>K</a:t>
            </a:r>
            <a:r>
              <a:rPr lang="zh-CN" altLang="zh-CN" sz="1600" b="1" dirty="0">
                <a:latin typeface="Times New Roman" panose="02020603050405020304" pitchFamily="18" charset="0"/>
                <a:ea typeface="微软雅黑" panose="020B0503020204020204" pitchFamily="34" charset="-122"/>
                <a:cs typeface="宋体" panose="02010600030101010101" pitchFamily="2" charset="-122"/>
              </a:rPr>
              <a:t>吸收带：</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由含有共轭双键</a:t>
            </a:r>
            <a:r>
              <a:rPr lang="en-US" altLang="zh-CN" sz="1600" dirty="0">
                <a:latin typeface="Times New Roman" panose="02020603050405020304" pitchFamily="18" charset="0"/>
                <a:ea typeface="微软雅黑" panose="020B0503020204020204" pitchFamily="34" charset="-122"/>
                <a:cs typeface="宋体" panose="02010600030101010101" pitchFamily="2" charset="-122"/>
              </a:rPr>
              <a:t>(</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如丁二烯、丙烯醛</a:t>
            </a:r>
            <a:r>
              <a:rPr lang="en-US" altLang="zh-CN" sz="1600" dirty="0">
                <a:latin typeface="Times New Roman" panose="02020603050405020304" pitchFamily="18" charset="0"/>
                <a:ea typeface="微软雅黑" panose="020B0503020204020204" pitchFamily="34" charset="-122"/>
                <a:cs typeface="宋体" panose="02010600030101010101" pitchFamily="2" charset="-122"/>
              </a:rPr>
              <a:t>)</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化合物中</a:t>
            </a:r>
            <a:r>
              <a:rPr lang="en-US" altLang="zh-CN" sz="1600" dirty="0">
                <a:latin typeface="Times New Roman" panose="02020603050405020304" pitchFamily="18" charset="0"/>
                <a:ea typeface="微软雅黑" panose="020B0503020204020204" pitchFamily="34" charset="-122"/>
                <a:cs typeface="宋体" panose="02010600030101010101" pitchFamily="2" charset="-122"/>
              </a:rPr>
              <a:t>π→π*</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跃迁引起的吸收带，其</a:t>
            </a:r>
            <a:r>
              <a:rPr lang="zh-CN"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吸收峰通常在</a:t>
            </a:r>
            <a:r>
              <a:rPr lang="en-US"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217</a:t>
            </a:r>
            <a:r>
              <a:rPr lang="zh-CN"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a:t>
            </a:r>
            <a:r>
              <a:rPr lang="en-US"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280nm</a:t>
            </a:r>
            <a:r>
              <a:rPr lang="zh-CN"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之间，</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摩尔吸光系数一般大于</a:t>
            </a:r>
            <a:r>
              <a:rPr lang="en-US" altLang="zh-CN" sz="1600" dirty="0">
                <a:latin typeface="Times New Roman" panose="02020603050405020304" pitchFamily="18" charset="0"/>
                <a:ea typeface="微软雅黑" panose="020B0503020204020204" pitchFamily="34" charset="-122"/>
                <a:cs typeface="宋体" panose="02010600030101010101" pitchFamily="2" charset="-122"/>
              </a:rPr>
              <a:t>10000</a:t>
            </a:r>
            <a:r>
              <a:rPr lang="zh-CN" altLang="en-US" sz="1600" dirty="0">
                <a:latin typeface="Times New Roman" panose="02020603050405020304" pitchFamily="18" charset="0"/>
                <a:ea typeface="微软雅黑" panose="020B0503020204020204" pitchFamily="34" charset="-122"/>
                <a:cs typeface="宋体" panose="02010600030101010101" pitchFamily="2" charset="-122"/>
              </a:rPr>
              <a:t>，吸收强度较大；</a:t>
            </a:r>
            <a:endParaRPr lang="en-US" altLang="zh-CN" sz="1600" dirty="0">
              <a:latin typeface="Times New Roman" panose="02020603050405020304" pitchFamily="18" charset="0"/>
              <a:ea typeface="微软雅黑" panose="020B0503020204020204" pitchFamily="34" charset="-122"/>
              <a:cs typeface="宋体" panose="02010600030101010101" pitchFamily="2" charset="-122"/>
            </a:endParaRPr>
          </a:p>
          <a:p>
            <a:pPr marL="342900" lvl="0" indent="-342900" algn="just" fontAlgn="auto">
              <a:lnSpc>
                <a:spcPct val="135000"/>
              </a:lnSpc>
              <a:spcBef>
                <a:spcPts val="400"/>
              </a:spcBef>
              <a:spcAft>
                <a:spcPts val="0"/>
              </a:spcAft>
              <a:buFont typeface="+mj-lt"/>
              <a:buAutoNum type="arabicParenR"/>
            </a:pPr>
            <a:r>
              <a:rPr lang="en-US" altLang="zh-CN" sz="1600" b="1" dirty="0">
                <a:latin typeface="Times New Roman" panose="02020603050405020304" pitchFamily="18" charset="0"/>
                <a:ea typeface="微软雅黑" panose="020B0503020204020204" pitchFamily="34" charset="-122"/>
                <a:cs typeface="宋体" panose="02010600030101010101" pitchFamily="2" charset="-122"/>
              </a:rPr>
              <a:t>B</a:t>
            </a:r>
            <a:r>
              <a:rPr lang="zh-CN" altLang="zh-CN" sz="1600" b="1" dirty="0">
                <a:latin typeface="Times New Roman" panose="02020603050405020304" pitchFamily="18" charset="0"/>
                <a:ea typeface="微软雅黑" panose="020B0503020204020204" pitchFamily="34" charset="-122"/>
                <a:cs typeface="宋体" panose="02010600030101010101" pitchFamily="2" charset="-122"/>
              </a:rPr>
              <a:t>吸收带：</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是苯及其简单衍生物中</a:t>
            </a:r>
            <a:r>
              <a:rPr lang="en-US" altLang="zh-CN" sz="1600" dirty="0">
                <a:solidFill>
                  <a:srgbClr val="000000"/>
                </a:solidFill>
                <a:latin typeface="Times New Roman" panose="02020603050405020304" pitchFamily="18" charset="0"/>
                <a:ea typeface="微软雅黑" panose="020B0503020204020204" pitchFamily="34" charset="-122"/>
                <a:cs typeface="宋体" panose="02010600030101010101" pitchFamily="2" charset="-122"/>
              </a:rPr>
              <a:t>π→π*</a:t>
            </a:r>
            <a:r>
              <a:rPr lang="zh-CN" altLang="zh-CN" sz="1600" dirty="0">
                <a:solidFill>
                  <a:srgbClr val="000000"/>
                </a:solidFill>
                <a:latin typeface="Times New Roman" panose="02020603050405020304" pitchFamily="18" charset="0"/>
                <a:ea typeface="微软雅黑" panose="020B0503020204020204" pitchFamily="34" charset="-122"/>
                <a:cs typeface="宋体" panose="02010600030101010101" pitchFamily="2" charset="-122"/>
              </a:rPr>
              <a:t>跃迁引起的吸收带，</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其</a:t>
            </a:r>
            <a:r>
              <a:rPr lang="zh-CN"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吸收峰通常在</a:t>
            </a:r>
            <a:r>
              <a:rPr lang="en-US"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250~300nm</a:t>
            </a:r>
            <a:r>
              <a:rPr lang="zh-CN"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之间</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，摩尔吸光系数为</a:t>
            </a:r>
            <a:r>
              <a:rPr lang="en-US" altLang="zh-CN" sz="1600" dirty="0">
                <a:latin typeface="Times New Roman" panose="02020603050405020304" pitchFamily="18" charset="0"/>
                <a:ea typeface="微软雅黑" panose="020B0503020204020204" pitchFamily="34" charset="-122"/>
                <a:cs typeface="宋体" panose="02010600030101010101" pitchFamily="2" charset="-122"/>
              </a:rPr>
              <a:t>200</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左右，吸收</a:t>
            </a:r>
            <a:r>
              <a:rPr lang="zh-CN" altLang="zh-CN" sz="1600" dirty="0">
                <a:solidFill>
                  <a:srgbClr val="000000"/>
                </a:solidFill>
                <a:latin typeface="Times New Roman" panose="02020603050405020304" pitchFamily="18" charset="0"/>
                <a:ea typeface="微软雅黑" panose="020B0503020204020204" pitchFamily="34" charset="-122"/>
                <a:cs typeface="宋体" panose="02010600030101010101" pitchFamily="2" charset="-122"/>
              </a:rPr>
              <a:t>强度中等</a:t>
            </a:r>
            <a:r>
              <a:rPr lang="zh-CN" altLang="en-US" sz="1600" dirty="0">
                <a:solidFill>
                  <a:srgbClr val="000000"/>
                </a:solidFill>
                <a:latin typeface="Times New Roman" panose="02020603050405020304" pitchFamily="18" charset="0"/>
                <a:ea typeface="微软雅黑" panose="020B0503020204020204" pitchFamily="34" charset="-122"/>
                <a:cs typeface="宋体" panose="02010600030101010101" pitchFamily="2" charset="-122"/>
              </a:rPr>
              <a:t>；</a:t>
            </a:r>
            <a:endParaRPr lang="en-US" altLang="zh-CN" sz="1600" dirty="0">
              <a:solidFill>
                <a:srgbClr val="000000"/>
              </a:solidFill>
              <a:latin typeface="Times New Roman" panose="02020603050405020304" pitchFamily="18" charset="0"/>
              <a:ea typeface="微软雅黑" panose="020B0503020204020204" pitchFamily="34" charset="-122"/>
              <a:cs typeface="宋体" panose="02010600030101010101" pitchFamily="2" charset="-122"/>
            </a:endParaRPr>
          </a:p>
          <a:p>
            <a:pPr marL="342900" lvl="0" indent="-342900" algn="just" fontAlgn="auto">
              <a:lnSpc>
                <a:spcPct val="135000"/>
              </a:lnSpc>
              <a:spcBef>
                <a:spcPts val="400"/>
              </a:spcBef>
              <a:spcAft>
                <a:spcPts val="0"/>
              </a:spcAft>
              <a:buFont typeface="+mj-lt"/>
              <a:buAutoNum type="arabicParenR"/>
            </a:pPr>
            <a:r>
              <a:rPr lang="en-US" altLang="zh-CN" sz="1600" b="1" dirty="0">
                <a:latin typeface="Times New Roman" panose="02020603050405020304" pitchFamily="18" charset="0"/>
                <a:ea typeface="微软雅黑" panose="020B0503020204020204" pitchFamily="34" charset="-122"/>
                <a:cs typeface="宋体" panose="02010600030101010101" pitchFamily="2" charset="-122"/>
              </a:rPr>
              <a:t>E</a:t>
            </a:r>
            <a:r>
              <a:rPr lang="zh-CN" altLang="zh-CN" sz="1600" b="1" dirty="0">
                <a:latin typeface="Times New Roman" panose="02020603050405020304" pitchFamily="18" charset="0"/>
                <a:ea typeface="微软雅黑" panose="020B0503020204020204" pitchFamily="34" charset="-122"/>
                <a:cs typeface="宋体" panose="02010600030101010101" pitchFamily="2" charset="-122"/>
              </a:rPr>
              <a:t>吸收带：</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也是芳香族化合物的特征吸收带，是由苯环结构中三个乙烯的环状共轭系统的</a:t>
            </a:r>
            <a:r>
              <a:rPr lang="en-US" altLang="zh-CN" sz="1600" dirty="0">
                <a:latin typeface="Times New Roman" panose="02020603050405020304" pitchFamily="18" charset="0"/>
                <a:ea typeface="微软雅黑" panose="020B0503020204020204" pitchFamily="34" charset="-122"/>
                <a:cs typeface="宋体" panose="02010600030101010101" pitchFamily="2" charset="-122"/>
              </a:rPr>
              <a:t>π→</a:t>
            </a:r>
            <a:r>
              <a:rPr lang="en-US" altLang="zh-CN" sz="1600" dirty="0">
                <a:solidFill>
                  <a:srgbClr val="000000"/>
                </a:solidFill>
                <a:latin typeface="Times New Roman" panose="02020603050405020304" pitchFamily="18" charset="0"/>
                <a:ea typeface="微软雅黑" panose="020B0503020204020204" pitchFamily="34" charset="-122"/>
                <a:cs typeface="宋体" panose="02010600030101010101" pitchFamily="2" charset="-122"/>
              </a:rPr>
              <a:t> π*</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跃迁所产生，</a:t>
            </a:r>
            <a:r>
              <a:rPr lang="zh-CN"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有两个吸收峰，分为</a:t>
            </a:r>
            <a:r>
              <a:rPr lang="en-US"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E1</a:t>
            </a:r>
            <a:r>
              <a:rPr lang="zh-CN"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带和</a:t>
            </a:r>
            <a:r>
              <a:rPr lang="en-US"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E2</a:t>
            </a:r>
            <a:r>
              <a:rPr lang="zh-CN"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带</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a:t>
            </a:r>
            <a:r>
              <a:rPr lang="en-US"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E1</a:t>
            </a:r>
            <a:r>
              <a:rPr lang="zh-CN"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带的吸收约在</a:t>
            </a:r>
            <a:r>
              <a:rPr lang="en-US"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180nm</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，摩尔吸光系数大于</a:t>
            </a:r>
            <a:r>
              <a:rPr lang="en-US" altLang="zh-CN" sz="1600" dirty="0">
                <a:latin typeface="Times New Roman" panose="02020603050405020304" pitchFamily="18" charset="0"/>
                <a:ea typeface="微软雅黑" panose="020B0503020204020204" pitchFamily="34" charset="-122"/>
                <a:cs typeface="宋体" panose="02010600030101010101" pitchFamily="2" charset="-122"/>
              </a:rPr>
              <a:t>10000</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a:t>
            </a:r>
            <a:r>
              <a:rPr lang="en-US"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E2</a:t>
            </a:r>
            <a:r>
              <a:rPr lang="zh-CN"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带约在</a:t>
            </a:r>
            <a:r>
              <a:rPr lang="en-US" altLang="zh-CN" sz="1600" dirty="0">
                <a:solidFill>
                  <a:srgbClr val="C00000"/>
                </a:solidFill>
                <a:latin typeface="Times New Roman" panose="02020603050405020304" pitchFamily="18" charset="0"/>
                <a:ea typeface="微软雅黑" panose="020B0503020204020204" pitchFamily="34" charset="-122"/>
                <a:cs typeface="宋体" panose="02010600030101010101" pitchFamily="2" charset="-122"/>
              </a:rPr>
              <a:t>200nm</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，摩尔吸光系数约为</a:t>
            </a:r>
            <a:r>
              <a:rPr lang="en-US" altLang="zh-CN" sz="1600" dirty="0">
                <a:latin typeface="Times New Roman" panose="02020603050405020304" pitchFamily="18" charset="0"/>
                <a:ea typeface="微软雅黑" panose="020B0503020204020204" pitchFamily="34" charset="-122"/>
                <a:cs typeface="宋体" panose="02010600030101010101" pitchFamily="2" charset="-122"/>
              </a:rPr>
              <a:t>7000</a:t>
            </a:r>
            <a:r>
              <a:rPr lang="zh-CN" altLang="zh-CN" sz="1600" dirty="0">
                <a:latin typeface="Times New Roman" panose="02020603050405020304" pitchFamily="18" charset="0"/>
                <a:ea typeface="微软雅黑" panose="020B0503020204020204" pitchFamily="34" charset="-122"/>
                <a:cs typeface="宋体" panose="02010600030101010101" pitchFamily="2" charset="-122"/>
              </a:rPr>
              <a:t>，都属强吸收。</a:t>
            </a:r>
            <a:endParaRPr lang="zh-CN" altLang="zh-CN" sz="1600" dirty="0">
              <a:latin typeface="Times New Roman" panose="02020603050405020304" pitchFamily="18" charset="0"/>
              <a:ea typeface="微软雅黑" panose="020B0503020204020204" pitchFamily="34" charset="-122"/>
              <a:cs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90592"/>
            <a:ext cx="6690360" cy="612140"/>
          </a:xfrm>
        </p:spPr>
        <p:txBody>
          <a:bodyPr>
            <a:normAutofit/>
          </a:bodyPr>
          <a:lstStyle/>
          <a:p>
            <a:pPr algn="ctr"/>
            <a:r>
              <a:rPr lang="en-US" altLang="zh-CN" b="1" dirty="0">
                <a:solidFill>
                  <a:srgbClr val="002060"/>
                </a:solidFill>
              </a:rPr>
              <a:t>4.2.3 </a:t>
            </a:r>
            <a:r>
              <a:rPr lang="zh-CN" altLang="en-US" b="1" dirty="0">
                <a:solidFill>
                  <a:srgbClr val="002060"/>
                </a:solidFill>
              </a:rPr>
              <a:t>紫外</a:t>
            </a:r>
            <a:r>
              <a:rPr lang="en-US" altLang="zh-CN" b="1" dirty="0">
                <a:solidFill>
                  <a:srgbClr val="002060"/>
                </a:solidFill>
              </a:rPr>
              <a:t>-</a:t>
            </a:r>
            <a:r>
              <a:rPr lang="zh-CN" altLang="en-US" b="1" dirty="0">
                <a:solidFill>
                  <a:srgbClr val="002060"/>
                </a:solidFill>
              </a:rPr>
              <a:t>可见吸收光谱的应用</a:t>
            </a:r>
            <a:endParaRPr lang="zh-CN" altLang="en-US" b="1" dirty="0">
              <a:solidFill>
                <a:srgbClr val="002060"/>
              </a:solidFill>
            </a:endParaRPr>
          </a:p>
        </p:txBody>
      </p:sp>
      <p:sp>
        <p:nvSpPr>
          <p:cNvPr id="11" name="内容占位符 3"/>
          <p:cNvSpPr>
            <a:spLocks noGrp="1"/>
          </p:cNvSpPr>
          <p:nvPr>
            <p:ph idx="4294967295"/>
          </p:nvPr>
        </p:nvSpPr>
        <p:spPr>
          <a:xfrm>
            <a:off x="-3938" y="13970"/>
            <a:ext cx="2692493" cy="347980"/>
          </a:xfrm>
          <a:solidFill>
            <a:schemeClr val="bg1">
              <a:lumMod val="95000"/>
            </a:schemeClr>
          </a:solidFill>
          <a:ln w="25400">
            <a:solidFill>
              <a:schemeClr val="tx2">
                <a:lumMod val="40000"/>
                <a:lumOff val="60000"/>
              </a:schemeClr>
            </a:solidFill>
          </a:ln>
        </p:spPr>
        <p:txBody>
          <a:bodyPr>
            <a:noAutofit/>
          </a:body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52685" y="1187638"/>
            <a:ext cx="3987686" cy="398780"/>
          </a:xfrm>
          <a:prstGeom prst="rect">
            <a:avLst/>
          </a:prstGeom>
          <a:noFill/>
        </p:spPr>
        <p:txBody>
          <a:bodyPr wrap="square">
            <a:spAutoFit/>
          </a:bodyPr>
          <a:lstStyle/>
          <a:p>
            <a:r>
              <a:rPr lang="en-US" altLang="zh-CN" sz="2000" b="1" dirty="0">
                <a:effectLst/>
                <a:ea typeface="微软雅黑" panose="020B0503020204020204" pitchFamily="34" charset="-122"/>
                <a:cs typeface="宋体" panose="02010600030101010101" pitchFamily="2" charset="-122"/>
              </a:rPr>
              <a:t>2. </a:t>
            </a:r>
            <a:r>
              <a:rPr lang="zh-CN" altLang="en-US" sz="2000" b="1" dirty="0">
                <a:effectLst/>
                <a:ea typeface="微软雅黑" panose="020B0503020204020204" pitchFamily="34" charset="-122"/>
                <a:cs typeface="宋体" panose="02010600030101010101" pitchFamily="2" charset="-122"/>
              </a:rPr>
              <a:t>化学耗氧量</a:t>
            </a:r>
            <a:r>
              <a:rPr lang="en-US" altLang="zh-CN" sz="2000" b="1" dirty="0">
                <a:effectLst/>
                <a:ea typeface="微软雅黑" panose="020B0503020204020204" pitchFamily="34" charset="-122"/>
                <a:cs typeface="宋体" panose="02010600030101010101" pitchFamily="2" charset="-122"/>
              </a:rPr>
              <a:t>COD</a:t>
            </a:r>
            <a:r>
              <a:rPr lang="zh-CN" altLang="en-US" sz="2000" b="1" dirty="0">
                <a:effectLst/>
                <a:ea typeface="微软雅黑" panose="020B0503020204020204" pitchFamily="34" charset="-122"/>
                <a:cs typeface="宋体" panose="02010600030101010101" pitchFamily="2" charset="-122"/>
              </a:rPr>
              <a:t>的测量</a:t>
            </a:r>
            <a:endParaRPr lang="zh-CN" altLang="en-US" sz="2000" b="1" dirty="0"/>
          </a:p>
        </p:txBody>
      </p:sp>
      <p:sp>
        <p:nvSpPr>
          <p:cNvPr id="7" name="文本框 6"/>
          <p:cNvSpPr txBox="1"/>
          <p:nvPr/>
        </p:nvSpPr>
        <p:spPr>
          <a:xfrm>
            <a:off x="679144" y="1696936"/>
            <a:ext cx="6154056" cy="368300"/>
          </a:xfrm>
          <a:prstGeom prst="rect">
            <a:avLst/>
          </a:prstGeom>
          <a:no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rPr>
              <a:t>（</a:t>
            </a:r>
            <a:r>
              <a:rPr lang="en-US" altLang="zh-CN" b="1" dirty="0">
                <a:solidFill>
                  <a:srgbClr val="0070C0"/>
                </a:solidFill>
                <a:latin typeface="微软雅黑" panose="020B0503020204020204" pitchFamily="34" charset="-122"/>
                <a:ea typeface="微软雅黑" panose="020B0503020204020204" pitchFamily="34" charset="-122"/>
              </a:rPr>
              <a:t>1</a:t>
            </a:r>
            <a:r>
              <a:rPr lang="zh-CN" altLang="en-US" b="1" dirty="0">
                <a:solidFill>
                  <a:srgbClr val="0070C0"/>
                </a:solidFill>
                <a:latin typeface="微软雅黑" panose="020B0503020204020204" pitchFamily="34" charset="-122"/>
                <a:ea typeface="微软雅黑" panose="020B0503020204020204" pitchFamily="34" charset="-122"/>
              </a:rPr>
              <a:t>）</a:t>
            </a:r>
            <a:r>
              <a:rPr lang="en-US" altLang="zh-CN" b="1" dirty="0">
                <a:solidFill>
                  <a:srgbClr val="0070C0"/>
                </a:solidFill>
                <a:latin typeface="微软雅黑" panose="020B0503020204020204" pitchFamily="34" charset="-122"/>
                <a:ea typeface="微软雅黑" panose="020B0503020204020204" pitchFamily="34" charset="-122"/>
              </a:rPr>
              <a:t>COD</a:t>
            </a:r>
            <a:r>
              <a:rPr lang="zh-CN" altLang="en-US" b="1" dirty="0">
                <a:solidFill>
                  <a:srgbClr val="0070C0"/>
                </a:solidFill>
                <a:latin typeface="微软雅黑" panose="020B0503020204020204" pitchFamily="34" charset="-122"/>
                <a:ea typeface="微软雅黑" panose="020B0503020204020204" pitchFamily="34" charset="-122"/>
              </a:rPr>
              <a:t>标准溶液测定</a:t>
            </a:r>
            <a:endParaRPr lang="zh-CN" altLang="en-US" b="1" dirty="0">
              <a:solidFill>
                <a:srgbClr val="0070C0"/>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rcRect l="11364" t="11266" r="13619" b="9974"/>
          <a:stretch>
            <a:fillRect/>
          </a:stretch>
        </p:blipFill>
        <p:spPr>
          <a:xfrm>
            <a:off x="2687955" y="3049905"/>
            <a:ext cx="5494655" cy="3366770"/>
          </a:xfrm>
          <a:prstGeom prst="rect">
            <a:avLst/>
          </a:prstGeom>
        </p:spPr>
      </p:pic>
      <p:sp>
        <p:nvSpPr>
          <p:cNvPr id="3" name="文本框 2"/>
          <p:cNvSpPr txBox="1"/>
          <p:nvPr/>
        </p:nvSpPr>
        <p:spPr>
          <a:xfrm>
            <a:off x="324355" y="2026866"/>
            <a:ext cx="11258645" cy="922020"/>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       国标的</a:t>
            </a:r>
            <a:r>
              <a:rPr lang="en-US" altLang="zh-CN" dirty="0">
                <a:latin typeface="微软雅黑" panose="020B0503020204020204" pitchFamily="34" charset="-122"/>
                <a:ea typeface="微软雅黑" panose="020B0503020204020204" pitchFamily="34" charset="-122"/>
              </a:rPr>
              <a:t>COD</a:t>
            </a:r>
            <a:r>
              <a:rPr lang="zh-CN" altLang="en-US" dirty="0">
                <a:latin typeface="微软雅黑" panose="020B0503020204020204" pitchFamily="34" charset="-122"/>
                <a:ea typeface="微软雅黑" panose="020B0503020204020204" pitchFamily="34" charset="-122"/>
              </a:rPr>
              <a:t>标准溶液为</a:t>
            </a:r>
            <a:r>
              <a:rPr lang="zh-CN" altLang="en-US" b="1" dirty="0">
                <a:solidFill>
                  <a:srgbClr val="002060"/>
                </a:solidFill>
                <a:latin typeface="微软雅黑" panose="020B0503020204020204" pitchFamily="34" charset="-122"/>
                <a:ea typeface="微软雅黑" panose="020B0503020204020204" pitchFamily="34" charset="-122"/>
              </a:rPr>
              <a:t>邻苯二甲酸氢钾</a:t>
            </a:r>
            <a:r>
              <a:rPr lang="zh-CN" altLang="en-US" dirty="0">
                <a:latin typeface="微软雅黑" panose="020B0503020204020204" pitchFamily="34" charset="-122"/>
                <a:ea typeface="微软雅黑" panose="020B0503020204020204" pitchFamily="34" charset="-122"/>
              </a:rPr>
              <a:t>配制的溶液，用紫外</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可见光谱仪测量一系列浓度梯度的邻苯二甲酸氢钾溶液，得到光谱曲线如下图所示，在</a:t>
            </a:r>
            <a:r>
              <a:rPr lang="en-US" altLang="zh-CN" b="1" dirty="0">
                <a:solidFill>
                  <a:srgbClr val="C00000"/>
                </a:solidFill>
                <a:latin typeface="微软雅黑" panose="020B0503020204020204" pitchFamily="34" charset="-122"/>
                <a:ea typeface="微软雅黑" panose="020B0503020204020204" pitchFamily="34" charset="-122"/>
              </a:rPr>
              <a:t>200nm</a:t>
            </a:r>
            <a:r>
              <a:rPr lang="zh-CN" altLang="en-US" b="1" dirty="0">
                <a:solidFill>
                  <a:srgbClr val="C00000"/>
                </a:solidFill>
                <a:latin typeface="微软雅黑" panose="020B0503020204020204" pitchFamily="34" charset="-122"/>
                <a:ea typeface="微软雅黑" panose="020B0503020204020204" pitchFamily="34" charset="-122"/>
              </a:rPr>
              <a:t>、</a:t>
            </a:r>
            <a:r>
              <a:rPr lang="en-US" altLang="zh-CN" b="1" dirty="0">
                <a:solidFill>
                  <a:srgbClr val="C00000"/>
                </a:solidFill>
                <a:latin typeface="微软雅黑" panose="020B0503020204020204" pitchFamily="34" charset="-122"/>
                <a:ea typeface="微软雅黑" panose="020B0503020204020204" pitchFamily="34" charset="-122"/>
              </a:rPr>
              <a:t>238nm</a:t>
            </a:r>
            <a:r>
              <a:rPr lang="zh-CN" altLang="en-US" b="1" dirty="0">
                <a:solidFill>
                  <a:srgbClr val="C00000"/>
                </a:solidFill>
                <a:latin typeface="微软雅黑" panose="020B0503020204020204" pitchFamily="34" charset="-122"/>
                <a:ea typeface="微软雅黑" panose="020B0503020204020204" pitchFamily="34" charset="-122"/>
              </a:rPr>
              <a:t>和</a:t>
            </a:r>
            <a:r>
              <a:rPr lang="en-US" altLang="zh-CN" b="1" dirty="0">
                <a:solidFill>
                  <a:srgbClr val="C00000"/>
                </a:solidFill>
                <a:latin typeface="微软雅黑" panose="020B0503020204020204" pitchFamily="34" charset="-122"/>
                <a:ea typeface="微软雅黑" panose="020B0503020204020204" pitchFamily="34" charset="-122"/>
              </a:rPr>
              <a:t>280nm</a:t>
            </a:r>
            <a:r>
              <a:rPr lang="zh-CN" altLang="en-US" dirty="0">
                <a:latin typeface="微软雅黑" panose="020B0503020204020204" pitchFamily="34" charset="-122"/>
                <a:ea typeface="微软雅黑" panose="020B0503020204020204" pitchFamily="34" charset="-122"/>
              </a:rPr>
              <a:t>波长处存在吸收峰。</a:t>
            </a:r>
            <a:endParaRPr lang="zh-CN" altLang="en-US" dirty="0">
              <a:latin typeface="微软雅黑" panose="020B0503020204020204" pitchFamily="34" charset="-122"/>
              <a:ea typeface="微软雅黑" panose="020B0503020204020204" pitchFamily="34" charset="-122"/>
            </a:endParaRPr>
          </a:p>
        </p:txBody>
      </p:sp>
      <p:sp>
        <p:nvSpPr>
          <p:cNvPr id="2" name="矩形 1"/>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4.2  </a:t>
            </a:r>
            <a:r>
              <a:rPr lang="zh-CN" altLang="en-US" sz="1600" dirty="0">
                <a:solidFill>
                  <a:srgbClr val="002060"/>
                </a:solidFill>
                <a:latin typeface="微软雅黑" panose="020B0503020204020204" pitchFamily="34" charset="-122"/>
                <a:ea typeface="微软雅黑" panose="020B0503020204020204" pitchFamily="34" charset="-122"/>
              </a:rPr>
              <a:t>吸收光谱技术及应用</a:t>
            </a:r>
            <a:endParaRPr lang="zh-CN" altLang="en-US" sz="1600" dirty="0">
              <a:solidFill>
                <a:srgbClr val="002060"/>
              </a:solidFill>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90592"/>
            <a:ext cx="6690360" cy="612140"/>
          </a:xfrm>
        </p:spPr>
        <p:txBody>
          <a:bodyPr>
            <a:normAutofit/>
          </a:bodyPr>
          <a:lstStyle/>
          <a:p>
            <a:pPr algn="ctr"/>
            <a:r>
              <a:rPr lang="en-US" altLang="zh-CN" b="1" dirty="0">
                <a:solidFill>
                  <a:srgbClr val="002060"/>
                </a:solidFill>
              </a:rPr>
              <a:t>4.2.3 </a:t>
            </a:r>
            <a:r>
              <a:rPr lang="zh-CN" altLang="en-US" b="1" dirty="0">
                <a:solidFill>
                  <a:srgbClr val="002060"/>
                </a:solidFill>
              </a:rPr>
              <a:t>紫外</a:t>
            </a:r>
            <a:r>
              <a:rPr lang="en-US" altLang="zh-CN" b="1" dirty="0">
                <a:solidFill>
                  <a:srgbClr val="002060"/>
                </a:solidFill>
              </a:rPr>
              <a:t>-</a:t>
            </a:r>
            <a:r>
              <a:rPr lang="zh-CN" altLang="en-US" b="1" dirty="0">
                <a:solidFill>
                  <a:srgbClr val="002060"/>
                </a:solidFill>
              </a:rPr>
              <a:t>可见吸收光谱的应用</a:t>
            </a:r>
            <a:endParaRPr lang="zh-CN" altLang="en-US" b="1" dirty="0">
              <a:solidFill>
                <a:srgbClr val="002060"/>
              </a:solidFill>
            </a:endParaRPr>
          </a:p>
        </p:txBody>
      </p:sp>
      <p:sp>
        <p:nvSpPr>
          <p:cNvPr id="11" name="内容占位符 3"/>
          <p:cNvSpPr>
            <a:spLocks noGrp="1"/>
          </p:cNvSpPr>
          <p:nvPr>
            <p:ph idx="4294967295"/>
          </p:nvPr>
        </p:nvSpPr>
        <p:spPr>
          <a:xfrm>
            <a:off x="-3938" y="13970"/>
            <a:ext cx="2692493" cy="347980"/>
          </a:xfrm>
          <a:solidFill>
            <a:schemeClr val="bg1">
              <a:lumMod val="95000"/>
            </a:schemeClr>
          </a:solidFill>
          <a:ln w="25400">
            <a:solidFill>
              <a:schemeClr val="tx2">
                <a:lumMod val="40000"/>
                <a:lumOff val="60000"/>
              </a:schemeClr>
            </a:solidFill>
          </a:ln>
        </p:spPr>
        <p:txBody>
          <a:bodyPr>
            <a:noAutofit/>
          </a:body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247344" y="1181117"/>
            <a:ext cx="3987686" cy="398780"/>
          </a:xfrm>
          <a:prstGeom prst="rect">
            <a:avLst/>
          </a:prstGeom>
          <a:noFill/>
        </p:spPr>
        <p:txBody>
          <a:bodyPr wrap="square">
            <a:spAutoFit/>
          </a:bodyPr>
          <a:lstStyle/>
          <a:p>
            <a:r>
              <a:rPr lang="en-US" altLang="zh-CN" sz="2000" b="1" dirty="0">
                <a:effectLst/>
                <a:ea typeface="微软雅黑" panose="020B0503020204020204" pitchFamily="34" charset="-122"/>
                <a:cs typeface="宋体" panose="02010600030101010101" pitchFamily="2" charset="-122"/>
              </a:rPr>
              <a:t>3. </a:t>
            </a:r>
            <a:r>
              <a:rPr lang="zh-CN" altLang="en-US" sz="2000" b="1" dirty="0">
                <a:effectLst/>
                <a:ea typeface="微软雅黑" panose="020B0503020204020204" pitchFamily="34" charset="-122"/>
                <a:cs typeface="宋体" panose="02010600030101010101" pitchFamily="2" charset="-122"/>
              </a:rPr>
              <a:t>化学耗氧量</a:t>
            </a:r>
            <a:r>
              <a:rPr lang="en-US" altLang="zh-CN" sz="2000" b="1" dirty="0">
                <a:effectLst/>
                <a:ea typeface="微软雅黑" panose="020B0503020204020204" pitchFamily="34" charset="-122"/>
                <a:cs typeface="宋体" panose="02010600030101010101" pitchFamily="2" charset="-122"/>
              </a:rPr>
              <a:t>COD</a:t>
            </a:r>
            <a:r>
              <a:rPr lang="zh-CN" altLang="en-US" sz="2000" b="1" dirty="0">
                <a:effectLst/>
                <a:ea typeface="微软雅黑" panose="020B0503020204020204" pitchFamily="34" charset="-122"/>
                <a:cs typeface="宋体" panose="02010600030101010101" pitchFamily="2" charset="-122"/>
              </a:rPr>
              <a:t>的测量</a:t>
            </a:r>
            <a:endParaRPr lang="zh-CN" altLang="en-US" sz="2000" b="1" dirty="0"/>
          </a:p>
        </p:txBody>
      </p:sp>
      <p:sp>
        <p:nvSpPr>
          <p:cNvPr id="7" name="文本框 6"/>
          <p:cNvSpPr txBox="1"/>
          <p:nvPr/>
        </p:nvSpPr>
        <p:spPr>
          <a:xfrm>
            <a:off x="434340" y="1617980"/>
            <a:ext cx="4649470" cy="368300"/>
          </a:xfrm>
          <a:prstGeom prst="rect">
            <a:avLst/>
          </a:prstGeom>
          <a:no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rPr>
              <a:t>（</a:t>
            </a:r>
            <a:r>
              <a:rPr lang="en-US" altLang="zh-CN" b="1" dirty="0">
                <a:solidFill>
                  <a:srgbClr val="0070C0"/>
                </a:solidFill>
                <a:latin typeface="微软雅黑" panose="020B0503020204020204" pitchFamily="34" charset="-122"/>
                <a:ea typeface="微软雅黑" panose="020B0503020204020204" pitchFamily="34" charset="-122"/>
              </a:rPr>
              <a:t>1</a:t>
            </a:r>
            <a:r>
              <a:rPr lang="zh-CN" altLang="en-US" b="1" dirty="0">
                <a:solidFill>
                  <a:srgbClr val="0070C0"/>
                </a:solidFill>
                <a:latin typeface="微软雅黑" panose="020B0503020204020204" pitchFamily="34" charset="-122"/>
                <a:ea typeface="微软雅黑" panose="020B0503020204020204" pitchFamily="34" charset="-122"/>
              </a:rPr>
              <a:t>）</a:t>
            </a:r>
            <a:r>
              <a:rPr lang="en-US" altLang="zh-CN" b="1" dirty="0">
                <a:solidFill>
                  <a:srgbClr val="0070C0"/>
                </a:solidFill>
                <a:latin typeface="微软雅黑" panose="020B0503020204020204" pitchFamily="34" charset="-122"/>
                <a:ea typeface="微软雅黑" panose="020B0503020204020204" pitchFamily="34" charset="-122"/>
              </a:rPr>
              <a:t>COD</a:t>
            </a:r>
            <a:r>
              <a:rPr lang="zh-CN" altLang="en-US" b="1" dirty="0">
                <a:solidFill>
                  <a:srgbClr val="0070C0"/>
                </a:solidFill>
                <a:latin typeface="微软雅黑" panose="020B0503020204020204" pitchFamily="34" charset="-122"/>
                <a:ea typeface="微软雅黑" panose="020B0503020204020204" pitchFamily="34" charset="-122"/>
              </a:rPr>
              <a:t>标准溶液测定</a:t>
            </a:r>
            <a:endParaRPr lang="zh-CN" altLang="en-US" b="1" dirty="0">
              <a:solidFill>
                <a:srgbClr val="0070C0"/>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rcRect l="10887" t="11266" r="13698" b="9767"/>
          <a:stretch>
            <a:fillRect/>
          </a:stretch>
        </p:blipFill>
        <p:spPr>
          <a:xfrm>
            <a:off x="1481628" y="3642661"/>
            <a:ext cx="3551119" cy="2858652"/>
          </a:xfrm>
          <a:prstGeom prst="rect">
            <a:avLst/>
          </a:prstGeom>
        </p:spPr>
      </p:pic>
      <p:pic>
        <p:nvPicPr>
          <p:cNvPr id="10" name="图片 9"/>
          <p:cNvPicPr>
            <a:picLocks noChangeAspect="1"/>
          </p:cNvPicPr>
          <p:nvPr/>
        </p:nvPicPr>
        <p:blipFill>
          <a:blip r:embed="rId2"/>
          <a:srcRect l="10093" t="9716" r="13619" b="9767"/>
          <a:stretch>
            <a:fillRect/>
          </a:stretch>
        </p:blipFill>
        <p:spPr>
          <a:xfrm>
            <a:off x="6922212" y="3242340"/>
            <a:ext cx="4251801" cy="3258790"/>
          </a:xfrm>
          <a:prstGeom prst="rect">
            <a:avLst/>
          </a:prstGeom>
        </p:spPr>
      </p:pic>
      <p:sp>
        <p:nvSpPr>
          <p:cNvPr id="14" name="文本框 13"/>
          <p:cNvSpPr txBox="1"/>
          <p:nvPr/>
        </p:nvSpPr>
        <p:spPr>
          <a:xfrm>
            <a:off x="138056" y="1937966"/>
            <a:ext cx="5996044" cy="1586230"/>
          </a:xfrm>
          <a:prstGeom prst="rect">
            <a:avLst/>
          </a:prstGeom>
          <a:noFill/>
        </p:spPr>
        <p:txBody>
          <a:bodyPr wrap="square">
            <a:spAutoFit/>
          </a:bodyPr>
          <a:lstStyle/>
          <a:p>
            <a:pPr indent="457200" algn="just" fontAlgn="auto">
              <a:lnSpc>
                <a:spcPct val="135000"/>
              </a:lnSpc>
            </a:pPr>
            <a:r>
              <a:rPr lang="zh-CN" altLang="en-US" dirty="0">
                <a:latin typeface="微软雅黑" panose="020B0503020204020204" pitchFamily="34" charset="-122"/>
                <a:ea typeface="微软雅黑" panose="020B0503020204020204" pitchFamily="34" charset="-122"/>
              </a:rPr>
              <a:t>构建</a:t>
            </a:r>
            <a:r>
              <a:rPr lang="en-US" altLang="zh-CN" dirty="0">
                <a:latin typeface="微软雅黑" panose="020B0503020204020204" pitchFamily="34" charset="-122"/>
                <a:ea typeface="微软雅黑" panose="020B0503020204020204" pitchFamily="34" charset="-122"/>
              </a:rPr>
              <a:t>COD</a:t>
            </a:r>
            <a:r>
              <a:rPr lang="zh-CN" altLang="en-US" dirty="0">
                <a:latin typeface="微软雅黑" panose="020B0503020204020204" pitchFamily="34" charset="-122"/>
                <a:ea typeface="微软雅黑" panose="020B0503020204020204" pitchFamily="34" charset="-122"/>
              </a:rPr>
              <a:t>浓度与特征波长</a:t>
            </a:r>
            <a:r>
              <a:rPr lang="en-US" altLang="zh-CN" b="1" dirty="0">
                <a:solidFill>
                  <a:srgbClr val="C00000"/>
                </a:solidFill>
                <a:latin typeface="微软雅黑" panose="020B0503020204020204" pitchFamily="34" charset="-122"/>
                <a:ea typeface="微软雅黑" panose="020B0503020204020204" pitchFamily="34" charset="-122"/>
              </a:rPr>
              <a:t>200nm</a:t>
            </a:r>
            <a:r>
              <a:rPr lang="zh-CN" altLang="en-US" b="1" dirty="0">
                <a:solidFill>
                  <a:srgbClr val="C00000"/>
                </a:solidFill>
                <a:latin typeface="微软雅黑" panose="020B0503020204020204" pitchFamily="34" charset="-122"/>
                <a:ea typeface="微软雅黑" panose="020B0503020204020204" pitchFamily="34" charset="-122"/>
              </a:rPr>
              <a:t>、</a:t>
            </a:r>
            <a:r>
              <a:rPr lang="en-US" altLang="zh-CN" b="1" dirty="0">
                <a:solidFill>
                  <a:srgbClr val="C00000"/>
                </a:solidFill>
                <a:latin typeface="微软雅黑" panose="020B0503020204020204" pitchFamily="34" charset="-122"/>
                <a:ea typeface="微软雅黑" panose="020B0503020204020204" pitchFamily="34" charset="-122"/>
              </a:rPr>
              <a:t>238nm</a:t>
            </a:r>
            <a:r>
              <a:rPr lang="zh-CN" altLang="en-US" b="1" dirty="0">
                <a:solidFill>
                  <a:srgbClr val="C00000"/>
                </a:solidFill>
                <a:latin typeface="微软雅黑" panose="020B0503020204020204" pitchFamily="34" charset="-122"/>
                <a:ea typeface="微软雅黑" panose="020B0503020204020204" pitchFamily="34" charset="-122"/>
              </a:rPr>
              <a:t>和</a:t>
            </a:r>
            <a:r>
              <a:rPr lang="en-US" altLang="zh-CN" b="1" dirty="0">
                <a:solidFill>
                  <a:srgbClr val="C00000"/>
                </a:solidFill>
                <a:latin typeface="微软雅黑" panose="020B0503020204020204" pitchFamily="34" charset="-122"/>
                <a:ea typeface="微软雅黑" panose="020B0503020204020204" pitchFamily="34" charset="-122"/>
              </a:rPr>
              <a:t>280nm</a:t>
            </a:r>
            <a:r>
              <a:rPr lang="zh-CN" altLang="en-US" dirty="0">
                <a:latin typeface="微软雅黑" panose="020B0503020204020204" pitchFamily="34" charset="-122"/>
                <a:ea typeface="微软雅黑" panose="020B0503020204020204" pitchFamily="34" charset="-122"/>
              </a:rPr>
              <a:t>处吸光度的关系曲线，如图所示。可以看到，这三条曲线均有良好的相关性，相关性系数分别为</a:t>
            </a:r>
            <a:r>
              <a:rPr lang="en-US" altLang="zh-CN" b="1" dirty="0">
                <a:solidFill>
                  <a:srgbClr val="002060"/>
                </a:solidFill>
                <a:latin typeface="微软雅黑" panose="020B0503020204020204" pitchFamily="34" charset="-122"/>
                <a:ea typeface="微软雅黑" panose="020B0503020204020204" pitchFamily="34" charset="-122"/>
              </a:rPr>
              <a:t>0.99948</a:t>
            </a:r>
            <a:r>
              <a:rPr lang="zh-CN" altLang="en-US" b="1" dirty="0">
                <a:solidFill>
                  <a:srgbClr val="002060"/>
                </a:solidFill>
                <a:latin typeface="微软雅黑" panose="020B0503020204020204" pitchFamily="34" charset="-122"/>
                <a:ea typeface="微软雅黑" panose="020B0503020204020204" pitchFamily="34" charset="-122"/>
              </a:rPr>
              <a:t>，</a:t>
            </a:r>
            <a:r>
              <a:rPr lang="en-US" altLang="zh-CN" b="1" dirty="0">
                <a:solidFill>
                  <a:srgbClr val="002060"/>
                </a:solidFill>
                <a:latin typeface="微软雅黑" panose="020B0503020204020204" pitchFamily="34" charset="-122"/>
                <a:ea typeface="微软雅黑" panose="020B0503020204020204" pitchFamily="34" charset="-122"/>
              </a:rPr>
              <a:t>0.99844</a:t>
            </a:r>
            <a:r>
              <a:rPr lang="zh-CN" altLang="en-US" b="1" dirty="0">
                <a:solidFill>
                  <a:srgbClr val="002060"/>
                </a:solidFill>
                <a:latin typeface="微软雅黑" panose="020B0503020204020204" pitchFamily="34" charset="-122"/>
                <a:ea typeface="微软雅黑" panose="020B0503020204020204" pitchFamily="34" charset="-122"/>
              </a:rPr>
              <a:t>，</a:t>
            </a:r>
            <a:r>
              <a:rPr lang="en-US" altLang="zh-CN" b="1" dirty="0">
                <a:solidFill>
                  <a:srgbClr val="002060"/>
                </a:solidFill>
                <a:latin typeface="微软雅黑" panose="020B0503020204020204" pitchFamily="34" charset="-122"/>
                <a:ea typeface="微软雅黑" panose="020B0503020204020204" pitchFamily="34" charset="-122"/>
              </a:rPr>
              <a:t>0.98775</a:t>
            </a:r>
            <a:r>
              <a:rPr lang="zh-CN" altLang="en-US" b="1" dirty="0">
                <a:solidFill>
                  <a:srgbClr val="002060"/>
                </a:solidFill>
                <a:latin typeface="微软雅黑" panose="020B0503020204020204" pitchFamily="34" charset="-122"/>
                <a:ea typeface="微软雅黑" panose="020B0503020204020204" pitchFamily="34" charset="-122"/>
              </a:rPr>
              <a:t>。</a:t>
            </a:r>
            <a:endParaRPr lang="zh-CN" altLang="en-US" b="1" dirty="0">
              <a:solidFill>
                <a:srgbClr val="002060"/>
              </a:solidFill>
            </a:endParaRPr>
          </a:p>
        </p:txBody>
      </p:sp>
      <p:sp>
        <p:nvSpPr>
          <p:cNvPr id="13" name="文本框 12"/>
          <p:cNvSpPr txBox="1"/>
          <p:nvPr/>
        </p:nvSpPr>
        <p:spPr>
          <a:xfrm>
            <a:off x="6503035" y="1383030"/>
            <a:ext cx="5425440" cy="1753235"/>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a:t>
            </a:r>
            <a:r>
              <a:rPr lang="zh-CN" altLang="en-US" b="1" dirty="0">
                <a:solidFill>
                  <a:srgbClr val="002060"/>
                </a:solidFill>
                <a:latin typeface="微软雅黑" panose="020B0503020204020204" pitchFamily="34" charset="-122"/>
                <a:ea typeface="微软雅黑" panose="020B0503020204020204" pitchFamily="34" charset="-122"/>
              </a:rPr>
              <a:t>现场和原位传感器</a:t>
            </a:r>
            <a:r>
              <a:rPr lang="zh-CN" altLang="en-US" dirty="0">
                <a:latin typeface="微软雅黑" panose="020B0503020204020204" pitchFamily="34" charset="-122"/>
                <a:ea typeface="微软雅黑" panose="020B0503020204020204" pitchFamily="34" charset="-122"/>
              </a:rPr>
              <a:t>中，通常</a:t>
            </a:r>
            <a:r>
              <a:rPr lang="en-US" altLang="zh-CN" dirty="0">
                <a:latin typeface="微软雅黑" panose="020B0503020204020204" pitchFamily="34" charset="-122"/>
                <a:ea typeface="微软雅黑" panose="020B0503020204020204" pitchFamily="34" charset="-122"/>
              </a:rPr>
              <a:t>200nm</a:t>
            </a:r>
            <a:r>
              <a:rPr lang="zh-CN" altLang="en-US" dirty="0">
                <a:latin typeface="微软雅黑" panose="020B0503020204020204" pitchFamily="34" charset="-122"/>
                <a:ea typeface="微软雅黑" panose="020B0503020204020204" pitchFamily="34" charset="-122"/>
              </a:rPr>
              <a:t>附近的吸光度</a:t>
            </a:r>
            <a:r>
              <a:rPr lang="zh-CN" altLang="en-US" b="1" dirty="0">
                <a:solidFill>
                  <a:srgbClr val="C00000"/>
                </a:solidFill>
                <a:latin typeface="微软雅黑" panose="020B0503020204020204" pitchFamily="34" charset="-122"/>
                <a:ea typeface="微软雅黑" panose="020B0503020204020204" pitchFamily="34" charset="-122"/>
              </a:rPr>
              <a:t>噪声较大</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238nm</a:t>
            </a:r>
            <a:r>
              <a:rPr lang="zh-CN" altLang="en-US" dirty="0">
                <a:latin typeface="微软雅黑" panose="020B0503020204020204" pitchFamily="34" charset="-122"/>
                <a:ea typeface="微软雅黑" panose="020B0503020204020204" pitchFamily="34" charset="-122"/>
              </a:rPr>
              <a:t>是其一个</a:t>
            </a:r>
            <a:r>
              <a:rPr lang="zh-CN" altLang="en-US" b="1" dirty="0">
                <a:solidFill>
                  <a:srgbClr val="002060"/>
                </a:solidFill>
                <a:latin typeface="微软雅黑" panose="020B0503020204020204" pitchFamily="34" charset="-122"/>
                <a:ea typeface="微软雅黑" panose="020B0503020204020204" pitchFamily="34" charset="-122"/>
              </a:rPr>
              <a:t>肩峰</a:t>
            </a:r>
            <a:r>
              <a:rPr lang="zh-CN" altLang="en-US" dirty="0">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易受干扰</a:t>
            </a:r>
            <a:r>
              <a:rPr lang="zh-CN" altLang="en-US" dirty="0">
                <a:latin typeface="微软雅黑" panose="020B0503020204020204" pitchFamily="34" charset="-122"/>
                <a:ea typeface="微软雅黑" panose="020B0503020204020204" pitchFamily="34" charset="-122"/>
              </a:rPr>
              <a:t>；因此常选取</a:t>
            </a:r>
            <a:r>
              <a:rPr lang="en-US" altLang="zh-CN" b="1" dirty="0">
                <a:solidFill>
                  <a:srgbClr val="C00000"/>
                </a:solidFill>
                <a:latin typeface="微软雅黑" panose="020B0503020204020204" pitchFamily="34" charset="-122"/>
                <a:ea typeface="微软雅黑" panose="020B0503020204020204" pitchFamily="34" charset="-122"/>
              </a:rPr>
              <a:t>280nm</a:t>
            </a:r>
            <a:r>
              <a:rPr lang="zh-CN" altLang="en-US" dirty="0">
                <a:latin typeface="微软雅黑" panose="020B0503020204020204" pitchFamily="34" charset="-122"/>
                <a:ea typeface="微软雅黑" panose="020B0503020204020204" pitchFamily="34" charset="-122"/>
              </a:rPr>
              <a:t>作为邻苯二甲酸氢钾的特征波长，即对于</a:t>
            </a:r>
            <a:r>
              <a:rPr lang="en-US" altLang="zh-CN" dirty="0">
                <a:latin typeface="微软雅黑" panose="020B0503020204020204" pitchFamily="34" charset="-122"/>
                <a:ea typeface="微软雅黑" panose="020B0503020204020204" pitchFamily="34" charset="-122"/>
              </a:rPr>
              <a:t>COD</a:t>
            </a:r>
            <a:r>
              <a:rPr lang="zh-CN" altLang="en-US" dirty="0">
                <a:latin typeface="微软雅黑" panose="020B0503020204020204" pitchFamily="34" charset="-122"/>
                <a:ea typeface="微软雅黑" panose="020B0503020204020204" pitchFamily="34" charset="-122"/>
              </a:rPr>
              <a:t>标样可以用</a:t>
            </a:r>
            <a:r>
              <a:rPr lang="en-US" altLang="zh-CN" b="1" dirty="0">
                <a:solidFill>
                  <a:srgbClr val="C00000"/>
                </a:solidFill>
                <a:latin typeface="微软雅黑" panose="020B0503020204020204" pitchFamily="34" charset="-122"/>
                <a:ea typeface="微软雅黑" panose="020B0503020204020204" pitchFamily="34" charset="-122"/>
              </a:rPr>
              <a:t>UV280</a:t>
            </a:r>
            <a:r>
              <a:rPr lang="zh-CN" altLang="en-US" dirty="0">
                <a:latin typeface="微软雅黑" panose="020B0503020204020204" pitchFamily="34" charset="-122"/>
                <a:ea typeface="微软雅黑" panose="020B0503020204020204" pitchFamily="34" charset="-122"/>
              </a:rPr>
              <a:t>反演计算其浓度。</a:t>
            </a:r>
            <a:endParaRPr lang="zh-CN" altLang="en-US" dirty="0"/>
          </a:p>
        </p:txBody>
      </p:sp>
      <p:sp>
        <p:nvSpPr>
          <p:cNvPr id="3" name="矩形 2"/>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4.2  </a:t>
            </a:r>
            <a:r>
              <a:rPr lang="zh-CN" altLang="en-US" sz="1600" dirty="0">
                <a:solidFill>
                  <a:srgbClr val="002060"/>
                </a:solidFill>
                <a:latin typeface="微软雅黑" panose="020B0503020204020204" pitchFamily="34" charset="-122"/>
                <a:ea typeface="微软雅黑" panose="020B0503020204020204" pitchFamily="34" charset="-122"/>
              </a:rPr>
              <a:t>吸收光谱技术及应用</a:t>
            </a:r>
            <a:endParaRPr lang="zh-CN" altLang="en-US" sz="1600" dirty="0">
              <a:solidFill>
                <a:srgbClr val="002060"/>
              </a:solidFill>
            </a:endParaRPr>
          </a:p>
        </p:txBody>
      </p:sp>
      <p:sp>
        <p:nvSpPr>
          <p:cNvPr id="2" name="灯片编号占位符 1"/>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751420" y="390592"/>
            <a:ext cx="6690360" cy="612140"/>
          </a:xfrm>
        </p:spPr>
        <p:txBody>
          <a:bodyPr>
            <a:normAutofit/>
          </a:bodyPr>
          <a:lstStyle/>
          <a:p>
            <a:pPr algn="ctr"/>
            <a:r>
              <a:rPr lang="en-US" altLang="zh-CN" b="1" dirty="0">
                <a:solidFill>
                  <a:srgbClr val="002060"/>
                </a:solidFill>
              </a:rPr>
              <a:t>4.2.3 </a:t>
            </a:r>
            <a:r>
              <a:rPr lang="zh-CN" altLang="en-US" b="1" dirty="0">
                <a:solidFill>
                  <a:srgbClr val="002060"/>
                </a:solidFill>
              </a:rPr>
              <a:t>紫外</a:t>
            </a:r>
            <a:r>
              <a:rPr lang="en-US" altLang="zh-CN" b="1" dirty="0">
                <a:solidFill>
                  <a:srgbClr val="002060"/>
                </a:solidFill>
              </a:rPr>
              <a:t>-</a:t>
            </a:r>
            <a:r>
              <a:rPr lang="zh-CN" altLang="en-US" b="1" dirty="0">
                <a:solidFill>
                  <a:srgbClr val="002060"/>
                </a:solidFill>
              </a:rPr>
              <a:t>可见吸收光谱的应用</a:t>
            </a:r>
            <a:endParaRPr lang="zh-CN" altLang="en-US" b="1" dirty="0">
              <a:solidFill>
                <a:srgbClr val="002060"/>
              </a:solidFill>
            </a:endParaRPr>
          </a:p>
        </p:txBody>
      </p:sp>
      <p:sp>
        <p:nvSpPr>
          <p:cNvPr id="11" name="内容占位符 3"/>
          <p:cNvSpPr>
            <a:spLocks noGrp="1"/>
          </p:cNvSpPr>
          <p:nvPr>
            <p:ph idx="4294967295"/>
          </p:nvPr>
        </p:nvSpPr>
        <p:spPr>
          <a:xfrm>
            <a:off x="-3938" y="13970"/>
            <a:ext cx="2692493" cy="347980"/>
          </a:xfrm>
          <a:solidFill>
            <a:schemeClr val="bg1">
              <a:lumMod val="95000"/>
            </a:schemeClr>
          </a:solidFill>
          <a:ln w="25400">
            <a:solidFill>
              <a:schemeClr val="tx2">
                <a:lumMod val="40000"/>
                <a:lumOff val="60000"/>
              </a:schemeClr>
            </a:solidFill>
          </a:ln>
        </p:spPr>
        <p:txBody>
          <a:bodyPr>
            <a:noAutofit/>
          </a:body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endParaRPr lang="zh-CN" altLang="en-US" sz="16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52685" y="1187638"/>
            <a:ext cx="3987686" cy="398780"/>
          </a:xfrm>
          <a:prstGeom prst="rect">
            <a:avLst/>
          </a:prstGeom>
          <a:noFill/>
        </p:spPr>
        <p:txBody>
          <a:bodyPr wrap="square">
            <a:spAutoFit/>
          </a:bodyPr>
          <a:lstStyle/>
          <a:p>
            <a:r>
              <a:rPr lang="en-US" altLang="zh-CN" sz="2000" b="1" dirty="0">
                <a:effectLst/>
                <a:ea typeface="微软雅黑" panose="020B0503020204020204" pitchFamily="34" charset="-122"/>
                <a:cs typeface="宋体" panose="02010600030101010101" pitchFamily="2" charset="-122"/>
              </a:rPr>
              <a:t>3. </a:t>
            </a:r>
            <a:r>
              <a:rPr lang="zh-CN" altLang="en-US" sz="2000" b="1" dirty="0">
                <a:effectLst/>
                <a:ea typeface="微软雅黑" panose="020B0503020204020204" pitchFamily="34" charset="-122"/>
                <a:cs typeface="宋体" panose="02010600030101010101" pitchFamily="2" charset="-122"/>
              </a:rPr>
              <a:t>化学耗氧量</a:t>
            </a:r>
            <a:r>
              <a:rPr lang="en-US" altLang="zh-CN" sz="2000" b="1" dirty="0">
                <a:effectLst/>
                <a:ea typeface="微软雅黑" panose="020B0503020204020204" pitchFamily="34" charset="-122"/>
                <a:cs typeface="宋体" panose="02010600030101010101" pitchFamily="2" charset="-122"/>
              </a:rPr>
              <a:t>COD</a:t>
            </a:r>
            <a:r>
              <a:rPr lang="zh-CN" altLang="en-US" sz="2000" b="1" dirty="0">
                <a:effectLst/>
                <a:ea typeface="微软雅黑" panose="020B0503020204020204" pitchFamily="34" charset="-122"/>
                <a:cs typeface="宋体" panose="02010600030101010101" pitchFamily="2" charset="-122"/>
              </a:rPr>
              <a:t>的测量</a:t>
            </a:r>
            <a:endParaRPr lang="zh-CN" altLang="en-US" sz="2000" b="1" dirty="0"/>
          </a:p>
        </p:txBody>
      </p:sp>
      <p:sp>
        <p:nvSpPr>
          <p:cNvPr id="7" name="文本框 6"/>
          <p:cNvSpPr txBox="1"/>
          <p:nvPr/>
        </p:nvSpPr>
        <p:spPr>
          <a:xfrm>
            <a:off x="732155" y="1599565"/>
            <a:ext cx="4451985" cy="368300"/>
          </a:xfrm>
          <a:prstGeom prst="rect">
            <a:avLst/>
          </a:prstGeom>
          <a:noFill/>
        </p:spPr>
        <p:txBody>
          <a:bodyPr wrap="square">
            <a:spAutoFit/>
          </a:bodyPr>
          <a:lstStyle/>
          <a:p>
            <a:r>
              <a:rPr lang="zh-CN"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rPr>
              <a:t>（</a:t>
            </a:r>
            <a:r>
              <a:rPr lang="en-US"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rPr>
              <a:t>2</a:t>
            </a:r>
            <a:r>
              <a:rPr lang="zh-CN"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rPr>
              <a:t>）实际水样测定</a:t>
            </a:r>
            <a:endParaRPr lang="zh-CN" altLang="zh-CN" sz="1800" b="1" dirty="0">
              <a:solidFill>
                <a:srgbClr val="0070C0"/>
              </a:solidFill>
              <a:effectLst/>
              <a:latin typeface="微软雅黑" panose="020B0503020204020204" pitchFamily="34" charset="-122"/>
              <a:ea typeface="微软雅黑" panose="020B0503020204020204" pitchFamily="34" charset="-122"/>
              <a:cs typeface="宋体" panose="02010600030101010101" pitchFamily="2" charset="-122"/>
            </a:endParaRPr>
          </a:p>
        </p:txBody>
      </p:sp>
      <p:pic>
        <p:nvPicPr>
          <p:cNvPr id="2" name="图片 1"/>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rcRect/>
          <a:stretch>
            <a:fillRect/>
          </a:stretch>
        </p:blipFill>
        <p:spPr>
          <a:xfrm>
            <a:off x="2478874" y="4024510"/>
            <a:ext cx="3192264" cy="2609102"/>
          </a:xfrm>
          <a:prstGeom prst="rect">
            <a:avLst/>
          </a:prstGeom>
          <a:noFill/>
        </p:spPr>
      </p:pic>
      <p:pic>
        <p:nvPicPr>
          <p:cNvPr id="3" name="图片 2"/>
          <p:cNvPicPr>
            <a:picLocks noChangeAspect="1"/>
          </p:cNvPicPr>
          <p:nvPr>
            <p:custDataLst>
              <p:tags r:id="rId3"/>
            </p:custDataLst>
          </p:nvPr>
        </p:nvPicPr>
        <p:blipFill>
          <a:blip r:embed="rId4" cstate="print">
            <a:extLst>
              <a:ext uri="{28A0092B-C50C-407E-A947-70E740481C1C}">
                <a14:useLocalDpi xmlns:a14="http://schemas.microsoft.com/office/drawing/2010/main" val="0"/>
              </a:ext>
            </a:extLst>
          </a:blip>
          <a:srcRect/>
          <a:stretch>
            <a:fillRect/>
          </a:stretch>
        </p:blipFill>
        <p:spPr>
          <a:xfrm>
            <a:off x="6552631" y="3955295"/>
            <a:ext cx="3298206" cy="2649327"/>
          </a:xfrm>
          <a:prstGeom prst="rect">
            <a:avLst/>
          </a:prstGeom>
          <a:noFill/>
        </p:spPr>
      </p:pic>
      <p:sp>
        <p:nvSpPr>
          <p:cNvPr id="9" name="文本框 8"/>
          <p:cNvSpPr txBox="1"/>
          <p:nvPr/>
        </p:nvSpPr>
        <p:spPr>
          <a:xfrm>
            <a:off x="496570" y="1935480"/>
            <a:ext cx="11306175" cy="1753235"/>
          </a:xfrm>
          <a:prstGeom prst="rect">
            <a:avLst/>
          </a:prstGeom>
          <a:noFill/>
        </p:spPr>
        <p:txBody>
          <a:bodyPr wrap="square">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       两类行业各</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个企业废水的吸收光谱曲线如下图所示。由图可见，同一类行业</a:t>
            </a:r>
            <a:r>
              <a:rPr lang="zh-CN" altLang="en-US" b="1" dirty="0">
                <a:solidFill>
                  <a:srgbClr val="002060"/>
                </a:solidFill>
                <a:latin typeface="微软雅黑" panose="020B0503020204020204" pitchFamily="34" charset="-122"/>
                <a:ea typeface="微软雅黑" panose="020B0503020204020204" pitchFamily="34" charset="-122"/>
              </a:rPr>
              <a:t>不同企业的废水吸光度曲线形状基本相同</a:t>
            </a:r>
            <a:r>
              <a:rPr lang="zh-CN" altLang="en-US" dirty="0">
                <a:latin typeface="微软雅黑" panose="020B0503020204020204" pitchFamily="34" charset="-122"/>
                <a:ea typeface="微软雅黑" panose="020B0503020204020204" pitchFamily="34" charset="-122"/>
              </a:rPr>
              <a:t>，但两类行业的废水吸收光谱曲线</a:t>
            </a:r>
            <a:r>
              <a:rPr lang="zh-CN" altLang="en-US" b="1" dirty="0">
                <a:solidFill>
                  <a:srgbClr val="C00000"/>
                </a:solidFill>
                <a:latin typeface="微软雅黑" panose="020B0503020204020204" pitchFamily="34" charset="-122"/>
                <a:ea typeface="微软雅黑" panose="020B0503020204020204" pitchFamily="34" charset="-122"/>
              </a:rPr>
              <a:t>差异很大</a:t>
            </a:r>
            <a:r>
              <a:rPr lang="zh-CN" altLang="en-US" dirty="0">
                <a:latin typeface="微软雅黑" panose="020B0503020204020204" pitchFamily="34" charset="-122"/>
                <a:ea typeface="微软雅黑" panose="020B0503020204020204" pitchFamily="34" charset="-122"/>
              </a:rPr>
              <a:t>，反映出这两类行业废水中的有机污染物组分有很大差异，而同一类行业的废水组分差异不大。 因此，在实际应用过程中，</a:t>
            </a:r>
            <a:r>
              <a:rPr lang="zh-CN" altLang="en-US" b="1" dirty="0">
                <a:solidFill>
                  <a:srgbClr val="C00000"/>
                </a:solidFill>
                <a:latin typeface="微软雅黑" panose="020B0503020204020204" pitchFamily="34" charset="-122"/>
                <a:ea typeface="微软雅黑" panose="020B0503020204020204" pitchFamily="34" charset="-122"/>
              </a:rPr>
              <a:t>对于不同类型的水样需要建立不同的</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吸收光谱</a:t>
            </a:r>
            <a:r>
              <a:rPr lang="en-US" altLang="zh-CN" b="1" dirty="0">
                <a:solidFill>
                  <a:srgbClr val="C00000"/>
                </a:solidFill>
                <a:latin typeface="微软雅黑" panose="020B0503020204020204" pitchFamily="34" charset="-122"/>
                <a:ea typeface="微软雅黑" panose="020B0503020204020204" pitchFamily="34" charset="-122"/>
              </a:rPr>
              <a:t>-COD”</a:t>
            </a:r>
            <a:r>
              <a:rPr lang="zh-CN" altLang="en-US" b="1" dirty="0">
                <a:solidFill>
                  <a:srgbClr val="C00000"/>
                </a:solidFill>
                <a:latin typeface="微软雅黑" panose="020B0503020204020204" pitchFamily="34" charset="-122"/>
                <a:ea typeface="微软雅黑" panose="020B0503020204020204" pitchFamily="34" charset="-122"/>
              </a:rPr>
              <a:t>计算模型</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8" name="矩形 7"/>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4.2  </a:t>
            </a:r>
            <a:r>
              <a:rPr lang="zh-CN" altLang="en-US" sz="1600" dirty="0">
                <a:solidFill>
                  <a:srgbClr val="002060"/>
                </a:solidFill>
                <a:latin typeface="微软雅黑" panose="020B0503020204020204" pitchFamily="34" charset="-122"/>
                <a:ea typeface="微软雅黑" panose="020B0503020204020204" pitchFamily="34" charset="-122"/>
              </a:rPr>
              <a:t>吸收光谱技术及应用</a:t>
            </a:r>
            <a:endParaRPr lang="zh-CN" altLang="en-US" sz="1600" dirty="0">
              <a:solidFill>
                <a:srgbClr val="002060"/>
              </a:solidFill>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
        <p:nvSpPr>
          <p:cNvPr id="10" name="矩形 9"/>
          <p:cNvSpPr/>
          <p:nvPr>
            <p:custDataLst>
              <p:tags r:id="rId5"/>
            </p:custDataLst>
          </p:nvPr>
        </p:nvSpPr>
        <p:spPr>
          <a:xfrm>
            <a:off x="3300730" y="3803650"/>
            <a:ext cx="1640205" cy="33718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印染类企业废水</a:t>
            </a:r>
            <a:endParaRPr lang="zh-CN" altLang="en-US" sz="1600" b="1" dirty="0"/>
          </a:p>
        </p:txBody>
      </p:sp>
      <p:sp>
        <p:nvSpPr>
          <p:cNvPr id="14" name="矩形 13"/>
          <p:cNvSpPr/>
          <p:nvPr>
            <p:custDataLst>
              <p:tags r:id="rId6"/>
            </p:custDataLst>
          </p:nvPr>
        </p:nvSpPr>
        <p:spPr>
          <a:xfrm>
            <a:off x="7371715" y="3803650"/>
            <a:ext cx="1831340" cy="337185"/>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电镀类企业废水</a:t>
            </a:r>
            <a:endParaRPr lang="zh-CN" altLang="en-US" sz="1600"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080937" y="253469"/>
            <a:ext cx="2011680" cy="645160"/>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rPr>
              <a:t>教学单元</a:t>
            </a:r>
            <a:endParaRPr lang="zh-CN" altLang="en-US" sz="3600" b="1" dirty="0"/>
          </a:p>
        </p:txBody>
      </p:sp>
      <p:sp>
        <p:nvSpPr>
          <p:cNvPr id="14" name="矩形 13"/>
          <p:cNvSpPr/>
          <p:nvPr/>
        </p:nvSpPr>
        <p:spPr>
          <a:xfrm>
            <a:off x="3685889" y="1850100"/>
            <a:ext cx="6278875" cy="3408680"/>
          </a:xfrm>
          <a:prstGeom prst="rect">
            <a:avLst/>
          </a:prstGeom>
        </p:spPr>
        <p:txBody>
          <a:bodyPr wrap="square">
            <a:spAutoFit/>
          </a:bodyPr>
          <a:lstStyle/>
          <a:p>
            <a:pPr indent="0" fontAlgn="auto">
              <a:lnSpc>
                <a:spcPct val="200000"/>
              </a:lnSpc>
            </a:pP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4.1  光谱技术概述</a:t>
            </a:r>
            <a:endPar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200000"/>
              </a:lnSpc>
              <a:buClrTx/>
              <a:buSzTx/>
              <a:buFontTx/>
            </a:pP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4.2  吸收光谱技术及应用</a:t>
            </a:r>
            <a:endPar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200000"/>
              </a:lnSpc>
            </a:pPr>
            <a:r>
              <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4.3  </a:t>
            </a: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荧光光谱技术及应用</a:t>
            </a:r>
            <a:endPar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70000"/>
              </a:lnSpc>
            </a:pPr>
            <a:endParaRPr lang="en-US" altLang="zh-CN"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lstStyle/>
          <a:p>
            <a:pPr algn="ctr"/>
            <a:r>
              <a:rPr lang="en-US" altLang="zh-CN" b="1" dirty="0">
                <a:solidFill>
                  <a:srgbClr val="002060"/>
                </a:solidFill>
              </a:rPr>
              <a:t>4.3.1   </a:t>
            </a:r>
            <a:r>
              <a:rPr lang="zh-CN" altLang="en-US" b="1" dirty="0">
                <a:solidFill>
                  <a:srgbClr val="002060"/>
                </a:solidFill>
              </a:rPr>
              <a:t>基本原理</a:t>
            </a:r>
            <a:endParaRPr lang="zh-CN" altLang="en-US" b="1" dirty="0">
              <a:solidFill>
                <a:srgbClr val="002060"/>
              </a:solidFill>
            </a:endParaRPr>
          </a:p>
        </p:txBody>
      </p:sp>
      <p:sp>
        <p:nvSpPr>
          <p:cNvPr id="7" name="矩形 6"/>
          <p:cNvSpPr/>
          <p:nvPr/>
        </p:nvSpPr>
        <p:spPr>
          <a:xfrm>
            <a:off x="645524" y="2525059"/>
            <a:ext cx="10709412" cy="1337945"/>
          </a:xfrm>
          <a:prstGeom prst="rect">
            <a:avLst/>
          </a:prstGeom>
        </p:spPr>
        <p:txBody>
          <a:bodyPr wrap="square">
            <a:spAutoFit/>
          </a:bodyPr>
          <a:lstStyle/>
          <a:p>
            <a:pPr indent="457200" algn="just">
              <a:lnSpc>
                <a:spcPct val="150000"/>
              </a:lnSpc>
            </a:pPr>
            <a:r>
              <a:rPr lang="zh-CN" altLang="en-US" dirty="0">
                <a:latin typeface="微软雅黑" panose="020B0503020204020204" pitchFamily="34" charset="-122"/>
                <a:ea typeface="微软雅黑" panose="020B0503020204020204" pitchFamily="34" charset="-122"/>
              </a:rPr>
              <a:t>当物质吸收特定波长的光辐射后，会从基态跃迁到高能级的激发态，但处于激发态的分子是不稳定的，在适当条件下，会通过辐射跃迁和无辐射跃迁等方式失去能力，重新回到基态。其中，向外辐射出光子而重新回到基态，也称为光致发光，包括</a:t>
            </a:r>
            <a:r>
              <a:rPr lang="zh-CN" altLang="en-US" b="1" dirty="0">
                <a:solidFill>
                  <a:srgbClr val="C00000"/>
                </a:solidFill>
                <a:latin typeface="微软雅黑" panose="020B0503020204020204" pitchFamily="34" charset="-122"/>
                <a:ea typeface="微软雅黑" panose="020B0503020204020204" pitchFamily="34" charset="-122"/>
              </a:rPr>
              <a:t>荧光和磷光</a:t>
            </a:r>
            <a:r>
              <a:rPr lang="zh-CN" altLang="en-US" dirty="0">
                <a:latin typeface="微软雅黑" panose="020B0503020204020204" pitchFamily="34" charset="-122"/>
                <a:ea typeface="微软雅黑" panose="020B0503020204020204" pitchFamily="34" charset="-122"/>
              </a:rPr>
              <a:t>两种形式。</a:t>
            </a:r>
            <a:endParaRPr lang="zh-CN" altLang="en-US" dirty="0">
              <a:latin typeface="微软雅黑" panose="020B0503020204020204" pitchFamily="34" charset="-122"/>
              <a:ea typeface="微软雅黑" panose="020B0503020204020204" pitchFamily="34" charset="-122"/>
            </a:endParaRPr>
          </a:p>
        </p:txBody>
      </p:sp>
      <p:grpSp>
        <p:nvGrpSpPr>
          <p:cNvPr id="242" name="Group 34"/>
          <p:cNvGrpSpPr/>
          <p:nvPr>
            <p:custDataLst>
              <p:tags r:id="rId1"/>
            </p:custDataLst>
          </p:nvPr>
        </p:nvGrpSpPr>
        <p:grpSpPr bwMode="auto">
          <a:xfrm>
            <a:off x="2237169" y="3980497"/>
            <a:ext cx="8351838" cy="2203450"/>
            <a:chOff x="431" y="1770"/>
            <a:chExt cx="5174" cy="1388"/>
          </a:xfrm>
        </p:grpSpPr>
        <p:grpSp>
          <p:nvGrpSpPr>
            <p:cNvPr id="243" name="Group 7"/>
            <p:cNvGrpSpPr/>
            <p:nvPr/>
          </p:nvGrpSpPr>
          <p:grpSpPr bwMode="auto">
            <a:xfrm>
              <a:off x="431" y="1770"/>
              <a:ext cx="2736" cy="1382"/>
              <a:chOff x="384" y="2506"/>
              <a:chExt cx="2736" cy="1382"/>
            </a:xfrm>
          </p:grpSpPr>
          <p:sp>
            <p:nvSpPr>
              <p:cNvPr id="261" name="Text Box 8"/>
              <p:cNvSpPr txBox="1">
                <a:spLocks noChangeArrowheads="1"/>
              </p:cNvSpPr>
              <p:nvPr>
                <p:custDataLst>
                  <p:tags r:id="rId2"/>
                </p:custDataLst>
              </p:nvPr>
            </p:nvSpPr>
            <p:spPr bwMode="ltGray">
              <a:xfrm>
                <a:off x="2160" y="2506"/>
                <a:ext cx="96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b="1" dirty="0">
                    <a:solidFill>
                      <a:srgbClr val="FF0000"/>
                    </a:solidFill>
                    <a:latin typeface="微软雅黑" panose="020B0503020204020204" pitchFamily="34" charset="-122"/>
                    <a:ea typeface="微软雅黑" panose="020B0503020204020204" pitchFamily="34" charset="-122"/>
                  </a:rPr>
                  <a:t>传递途径</a:t>
                </a:r>
                <a:endParaRPr kumimoji="1" lang="zh-CN" altLang="en-US" b="1" dirty="0">
                  <a:solidFill>
                    <a:srgbClr val="FF0000"/>
                  </a:solidFill>
                  <a:latin typeface="微软雅黑" panose="020B0503020204020204" pitchFamily="34" charset="-122"/>
                  <a:ea typeface="微软雅黑" panose="020B0503020204020204" pitchFamily="34" charset="-122"/>
                </a:endParaRPr>
              </a:p>
            </p:txBody>
          </p:sp>
          <p:sp>
            <p:nvSpPr>
              <p:cNvPr id="262" name="Line 9"/>
              <p:cNvSpPr>
                <a:spLocks noChangeShapeType="1"/>
              </p:cNvSpPr>
              <p:nvPr>
                <p:custDataLst>
                  <p:tags r:id="rId3"/>
                </p:custDataLst>
              </p:nvPr>
            </p:nvSpPr>
            <p:spPr bwMode="ltGray">
              <a:xfrm>
                <a:off x="2160" y="2738"/>
                <a:ext cx="86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63" name="Rectangle 10"/>
              <p:cNvSpPr>
                <a:spLocks noChangeArrowheads="1"/>
              </p:cNvSpPr>
              <p:nvPr>
                <p:custDataLst>
                  <p:tags r:id="rId4"/>
                </p:custDataLst>
              </p:nvPr>
            </p:nvSpPr>
            <p:spPr bwMode="ltGray">
              <a:xfrm>
                <a:off x="1110" y="2977"/>
                <a:ext cx="912" cy="240"/>
              </a:xfrm>
              <a:prstGeom prst="rect">
                <a:avLst/>
              </a:prstGeom>
              <a:solidFill>
                <a:schemeClr val="bg1"/>
              </a:solidFill>
              <a:ln w="9525">
                <a:solidFill>
                  <a:schemeClr val="accent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b="1" dirty="0">
                    <a:latin typeface="微软雅黑" panose="020B0503020204020204" pitchFamily="34" charset="-122"/>
                    <a:ea typeface="微软雅黑" panose="020B0503020204020204" pitchFamily="34" charset="-122"/>
                  </a:rPr>
                  <a:t>辐射跃迁</a:t>
                </a:r>
                <a:endParaRPr kumimoji="1" lang="zh-CN" altLang="en-US" b="1" dirty="0">
                  <a:latin typeface="微软雅黑" panose="020B0503020204020204" pitchFamily="34" charset="-122"/>
                  <a:ea typeface="微软雅黑" panose="020B0503020204020204" pitchFamily="34" charset="-122"/>
                </a:endParaRPr>
              </a:p>
            </p:txBody>
          </p:sp>
          <p:sp>
            <p:nvSpPr>
              <p:cNvPr id="264" name="Rectangle 11"/>
              <p:cNvSpPr>
                <a:spLocks noChangeArrowheads="1"/>
              </p:cNvSpPr>
              <p:nvPr>
                <p:custDataLst>
                  <p:tags r:id="rId5"/>
                </p:custDataLst>
              </p:nvPr>
            </p:nvSpPr>
            <p:spPr bwMode="ltGray">
              <a:xfrm>
                <a:off x="384" y="3648"/>
                <a:ext cx="480" cy="240"/>
              </a:xfrm>
              <a:prstGeom prst="rect">
                <a:avLst/>
              </a:prstGeom>
              <a:solidFill>
                <a:schemeClr val="bg1"/>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b="1" dirty="0">
                    <a:solidFill>
                      <a:srgbClr val="0000CC"/>
                    </a:solidFill>
                    <a:latin typeface="微软雅黑" panose="020B0503020204020204" pitchFamily="34" charset="-122"/>
                    <a:ea typeface="微软雅黑" panose="020B0503020204020204" pitchFamily="34" charset="-122"/>
                  </a:rPr>
                  <a:t>荧光</a:t>
                </a:r>
                <a:endParaRPr kumimoji="1" lang="zh-CN" altLang="en-US" b="1" dirty="0">
                  <a:solidFill>
                    <a:srgbClr val="0000CC"/>
                  </a:solidFill>
                  <a:latin typeface="微软雅黑" panose="020B0503020204020204" pitchFamily="34" charset="-122"/>
                  <a:ea typeface="微软雅黑" panose="020B0503020204020204" pitchFamily="34" charset="-122"/>
                </a:endParaRPr>
              </a:p>
            </p:txBody>
          </p:sp>
          <p:sp>
            <p:nvSpPr>
              <p:cNvPr id="265" name="Line 12"/>
              <p:cNvSpPr>
                <a:spLocks noChangeShapeType="1"/>
              </p:cNvSpPr>
              <p:nvPr>
                <p:custDataLst>
                  <p:tags r:id="rId6"/>
                </p:custDataLst>
              </p:nvPr>
            </p:nvSpPr>
            <p:spPr bwMode="ltGray">
              <a:xfrm flipH="1">
                <a:off x="1584" y="2738"/>
                <a:ext cx="576" cy="19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66" name="Line 13"/>
              <p:cNvSpPr>
                <a:spLocks noChangeShapeType="1"/>
              </p:cNvSpPr>
              <p:nvPr>
                <p:custDataLst>
                  <p:tags r:id="rId7"/>
                </p:custDataLst>
              </p:nvPr>
            </p:nvSpPr>
            <p:spPr bwMode="ltGray">
              <a:xfrm flipH="1">
                <a:off x="609" y="3217"/>
                <a:ext cx="729" cy="38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244" name="Group 14"/>
            <p:cNvGrpSpPr/>
            <p:nvPr/>
          </p:nvGrpSpPr>
          <p:grpSpPr bwMode="auto">
            <a:xfrm>
              <a:off x="3061" y="2002"/>
              <a:ext cx="2544" cy="1156"/>
              <a:chOff x="3024" y="2732"/>
              <a:chExt cx="2544" cy="1156"/>
            </a:xfrm>
          </p:grpSpPr>
          <p:sp>
            <p:nvSpPr>
              <p:cNvPr id="257" name="Rectangle 15"/>
              <p:cNvSpPr>
                <a:spLocks noChangeArrowheads="1"/>
              </p:cNvSpPr>
              <p:nvPr/>
            </p:nvSpPr>
            <p:spPr bwMode="ltGray">
              <a:xfrm>
                <a:off x="4800" y="3648"/>
                <a:ext cx="768" cy="240"/>
              </a:xfrm>
              <a:prstGeom prst="rect">
                <a:avLst/>
              </a:prstGeom>
              <a:solidFill>
                <a:schemeClr val="bg1"/>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b="1">
                    <a:solidFill>
                      <a:srgbClr val="FF0000"/>
                    </a:solidFill>
                    <a:latin typeface="微软雅黑" panose="020B0503020204020204" pitchFamily="34" charset="-122"/>
                    <a:ea typeface="微软雅黑" panose="020B0503020204020204" pitchFamily="34" charset="-122"/>
                  </a:rPr>
                  <a:t>振动弛豫</a:t>
                </a:r>
                <a:endParaRPr kumimoji="1" lang="zh-CN" altLang="en-US" b="1">
                  <a:solidFill>
                    <a:srgbClr val="FF0000"/>
                  </a:solidFill>
                  <a:latin typeface="微软雅黑" panose="020B0503020204020204" pitchFamily="34" charset="-122"/>
                  <a:ea typeface="微软雅黑" panose="020B0503020204020204" pitchFamily="34" charset="-122"/>
                </a:endParaRPr>
              </a:p>
            </p:txBody>
          </p:sp>
          <p:sp>
            <p:nvSpPr>
              <p:cNvPr id="258" name="Rectangle 16"/>
              <p:cNvSpPr>
                <a:spLocks noChangeArrowheads="1"/>
              </p:cNvSpPr>
              <p:nvPr>
                <p:custDataLst>
                  <p:tags r:id="rId8"/>
                </p:custDataLst>
              </p:nvPr>
            </p:nvSpPr>
            <p:spPr bwMode="ltGray">
              <a:xfrm>
                <a:off x="3312" y="2971"/>
                <a:ext cx="1008" cy="240"/>
              </a:xfrm>
              <a:prstGeom prst="rect">
                <a:avLst/>
              </a:prstGeom>
              <a:solidFill>
                <a:schemeClr val="bg1"/>
              </a:solidFill>
              <a:ln w="9525">
                <a:solidFill>
                  <a:schemeClr val="accent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b="1">
                    <a:latin typeface="微软雅黑" panose="020B0503020204020204" pitchFamily="34" charset="-122"/>
                    <a:ea typeface="微软雅黑" panose="020B0503020204020204" pitchFamily="34" charset="-122"/>
                  </a:rPr>
                  <a:t>无辐射跃迁</a:t>
                </a:r>
                <a:endParaRPr kumimoji="1" lang="zh-CN" altLang="en-US" b="1">
                  <a:latin typeface="微软雅黑" panose="020B0503020204020204" pitchFamily="34" charset="-122"/>
                  <a:ea typeface="微软雅黑" panose="020B0503020204020204" pitchFamily="34" charset="-122"/>
                </a:endParaRPr>
              </a:p>
            </p:txBody>
          </p:sp>
          <p:sp>
            <p:nvSpPr>
              <p:cNvPr id="259" name="Line 17"/>
              <p:cNvSpPr>
                <a:spLocks noChangeShapeType="1"/>
              </p:cNvSpPr>
              <p:nvPr>
                <p:custDataLst>
                  <p:tags r:id="rId9"/>
                </p:custDataLst>
              </p:nvPr>
            </p:nvSpPr>
            <p:spPr bwMode="ltGray">
              <a:xfrm>
                <a:off x="3024" y="2732"/>
                <a:ext cx="768" cy="19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60" name="Line 18"/>
              <p:cNvSpPr>
                <a:spLocks noChangeShapeType="1"/>
              </p:cNvSpPr>
              <p:nvPr/>
            </p:nvSpPr>
            <p:spPr bwMode="ltGray">
              <a:xfrm>
                <a:off x="4217" y="3216"/>
                <a:ext cx="775" cy="38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245" name="Group 22"/>
            <p:cNvGrpSpPr/>
            <p:nvPr/>
          </p:nvGrpSpPr>
          <p:grpSpPr bwMode="auto">
            <a:xfrm>
              <a:off x="1631" y="2481"/>
              <a:ext cx="750" cy="671"/>
              <a:chOff x="1554" y="3217"/>
              <a:chExt cx="750" cy="671"/>
            </a:xfrm>
          </p:grpSpPr>
          <p:sp>
            <p:nvSpPr>
              <p:cNvPr id="255" name="Rectangle 23"/>
              <p:cNvSpPr>
                <a:spLocks noChangeArrowheads="1"/>
              </p:cNvSpPr>
              <p:nvPr>
                <p:custDataLst>
                  <p:tags r:id="rId10"/>
                </p:custDataLst>
              </p:nvPr>
            </p:nvSpPr>
            <p:spPr bwMode="ltGray">
              <a:xfrm>
                <a:off x="1824" y="3648"/>
                <a:ext cx="480" cy="240"/>
              </a:xfrm>
              <a:prstGeom prst="rect">
                <a:avLst/>
              </a:prstGeom>
              <a:solidFill>
                <a:schemeClr val="bg1"/>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b="1">
                    <a:solidFill>
                      <a:srgbClr val="0000CC"/>
                    </a:solidFill>
                    <a:latin typeface="微软雅黑" panose="020B0503020204020204" pitchFamily="34" charset="-122"/>
                    <a:ea typeface="微软雅黑" panose="020B0503020204020204" pitchFamily="34" charset="-122"/>
                  </a:rPr>
                  <a:t>磷光</a:t>
                </a:r>
                <a:endParaRPr kumimoji="1" lang="zh-CN" altLang="en-US" b="1">
                  <a:solidFill>
                    <a:srgbClr val="0000CC"/>
                  </a:solidFill>
                  <a:latin typeface="微软雅黑" panose="020B0503020204020204" pitchFamily="34" charset="-122"/>
                  <a:ea typeface="微软雅黑" panose="020B0503020204020204" pitchFamily="34" charset="-122"/>
                </a:endParaRPr>
              </a:p>
            </p:txBody>
          </p:sp>
          <p:sp>
            <p:nvSpPr>
              <p:cNvPr id="256" name="Line 24"/>
              <p:cNvSpPr>
                <a:spLocks noChangeShapeType="1"/>
              </p:cNvSpPr>
              <p:nvPr>
                <p:custDataLst>
                  <p:tags r:id="rId11"/>
                </p:custDataLst>
              </p:nvPr>
            </p:nvSpPr>
            <p:spPr bwMode="ltGray">
              <a:xfrm>
                <a:off x="1554" y="3217"/>
                <a:ext cx="510" cy="38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246" name="Group 25"/>
            <p:cNvGrpSpPr/>
            <p:nvPr/>
          </p:nvGrpSpPr>
          <p:grpSpPr bwMode="auto">
            <a:xfrm>
              <a:off x="2517" y="2481"/>
              <a:ext cx="940" cy="671"/>
              <a:chOff x="2640" y="3217"/>
              <a:chExt cx="940" cy="671"/>
            </a:xfrm>
          </p:grpSpPr>
          <p:sp>
            <p:nvSpPr>
              <p:cNvPr id="253" name="Line 26"/>
              <p:cNvSpPr>
                <a:spLocks noChangeShapeType="1"/>
              </p:cNvSpPr>
              <p:nvPr>
                <p:custDataLst>
                  <p:tags r:id="rId12"/>
                </p:custDataLst>
              </p:nvPr>
            </p:nvSpPr>
            <p:spPr bwMode="ltGray">
              <a:xfrm flipH="1">
                <a:off x="2880" y="3217"/>
                <a:ext cx="700" cy="38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54" name="Rectangle 27"/>
              <p:cNvSpPr>
                <a:spLocks noChangeArrowheads="1"/>
              </p:cNvSpPr>
              <p:nvPr>
                <p:custDataLst>
                  <p:tags r:id="rId13"/>
                </p:custDataLst>
              </p:nvPr>
            </p:nvSpPr>
            <p:spPr bwMode="ltGray">
              <a:xfrm>
                <a:off x="2640" y="3648"/>
                <a:ext cx="672" cy="240"/>
              </a:xfrm>
              <a:prstGeom prst="rect">
                <a:avLst/>
              </a:prstGeom>
              <a:solidFill>
                <a:schemeClr val="bg1"/>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b="1" dirty="0">
                    <a:solidFill>
                      <a:srgbClr val="FF0000"/>
                    </a:solidFill>
                    <a:latin typeface="微软雅黑" panose="020B0503020204020204" pitchFamily="34" charset="-122"/>
                    <a:ea typeface="微软雅黑" panose="020B0503020204020204" pitchFamily="34" charset="-122"/>
                  </a:rPr>
                  <a:t>系间跨越</a:t>
                </a:r>
                <a:endParaRPr kumimoji="1" lang="zh-CN" altLang="en-US" b="1" dirty="0">
                  <a:solidFill>
                    <a:srgbClr val="FF0000"/>
                  </a:solidFill>
                  <a:latin typeface="微软雅黑" panose="020B0503020204020204" pitchFamily="34" charset="-122"/>
                  <a:ea typeface="微软雅黑" panose="020B0503020204020204" pitchFamily="34" charset="-122"/>
                </a:endParaRPr>
              </a:p>
            </p:txBody>
          </p:sp>
        </p:grpSp>
        <p:grpSp>
          <p:nvGrpSpPr>
            <p:cNvPr id="247" name="Group 28"/>
            <p:cNvGrpSpPr/>
            <p:nvPr/>
          </p:nvGrpSpPr>
          <p:grpSpPr bwMode="auto">
            <a:xfrm>
              <a:off x="3379" y="2466"/>
              <a:ext cx="576" cy="686"/>
              <a:chOff x="3408" y="3202"/>
              <a:chExt cx="576" cy="686"/>
            </a:xfrm>
          </p:grpSpPr>
          <p:sp>
            <p:nvSpPr>
              <p:cNvPr id="251" name="Rectangle 29"/>
              <p:cNvSpPr>
                <a:spLocks noChangeArrowheads="1"/>
              </p:cNvSpPr>
              <p:nvPr>
                <p:custDataLst>
                  <p:tags r:id="rId14"/>
                </p:custDataLst>
              </p:nvPr>
            </p:nvSpPr>
            <p:spPr bwMode="ltGray">
              <a:xfrm>
                <a:off x="3408" y="3648"/>
                <a:ext cx="576" cy="240"/>
              </a:xfrm>
              <a:prstGeom prst="rect">
                <a:avLst/>
              </a:prstGeom>
              <a:solidFill>
                <a:schemeClr val="bg1"/>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b="1" dirty="0">
                    <a:solidFill>
                      <a:srgbClr val="FF0000"/>
                    </a:solidFill>
                    <a:latin typeface="微软雅黑" panose="020B0503020204020204" pitchFamily="34" charset="-122"/>
                    <a:ea typeface="微软雅黑" panose="020B0503020204020204" pitchFamily="34" charset="-122"/>
                  </a:rPr>
                  <a:t>内转换</a:t>
                </a:r>
                <a:endParaRPr kumimoji="1" lang="zh-CN" altLang="en-US" b="1" dirty="0">
                  <a:solidFill>
                    <a:srgbClr val="FF0000"/>
                  </a:solidFill>
                  <a:latin typeface="微软雅黑" panose="020B0503020204020204" pitchFamily="34" charset="-122"/>
                  <a:ea typeface="微软雅黑" panose="020B0503020204020204" pitchFamily="34" charset="-122"/>
                </a:endParaRPr>
              </a:p>
            </p:txBody>
          </p:sp>
          <p:sp>
            <p:nvSpPr>
              <p:cNvPr id="252" name="Line 30"/>
              <p:cNvSpPr>
                <a:spLocks noChangeShapeType="1"/>
              </p:cNvSpPr>
              <p:nvPr>
                <p:custDataLst>
                  <p:tags r:id="rId15"/>
                </p:custDataLst>
              </p:nvPr>
            </p:nvSpPr>
            <p:spPr bwMode="ltGray">
              <a:xfrm flipH="1">
                <a:off x="3593" y="3202"/>
                <a:ext cx="186" cy="44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nvGrpSpPr>
            <p:cNvPr id="248" name="Group 31"/>
            <p:cNvGrpSpPr/>
            <p:nvPr/>
          </p:nvGrpSpPr>
          <p:grpSpPr bwMode="auto">
            <a:xfrm>
              <a:off x="4014" y="2503"/>
              <a:ext cx="720" cy="649"/>
              <a:chOff x="3984" y="3239"/>
              <a:chExt cx="720" cy="649"/>
            </a:xfrm>
          </p:grpSpPr>
          <p:sp>
            <p:nvSpPr>
              <p:cNvPr id="249" name="Rectangle 32"/>
              <p:cNvSpPr>
                <a:spLocks noChangeArrowheads="1"/>
              </p:cNvSpPr>
              <p:nvPr/>
            </p:nvSpPr>
            <p:spPr bwMode="ltGray">
              <a:xfrm>
                <a:off x="4128" y="3648"/>
                <a:ext cx="576" cy="240"/>
              </a:xfrm>
              <a:prstGeom prst="rect">
                <a:avLst/>
              </a:prstGeom>
              <a:solidFill>
                <a:schemeClr val="bg1"/>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b="1">
                    <a:solidFill>
                      <a:srgbClr val="FF0000"/>
                    </a:solidFill>
                    <a:latin typeface="微软雅黑" panose="020B0503020204020204" pitchFamily="34" charset="-122"/>
                    <a:ea typeface="微软雅黑" panose="020B0503020204020204" pitchFamily="34" charset="-122"/>
                  </a:rPr>
                  <a:t>外转换</a:t>
                </a:r>
                <a:endParaRPr kumimoji="1" lang="zh-CN" altLang="en-US" b="1">
                  <a:solidFill>
                    <a:srgbClr val="FF0000"/>
                  </a:solidFill>
                  <a:latin typeface="微软雅黑" panose="020B0503020204020204" pitchFamily="34" charset="-122"/>
                  <a:ea typeface="微软雅黑" panose="020B0503020204020204" pitchFamily="34" charset="-122"/>
                </a:endParaRPr>
              </a:p>
            </p:txBody>
          </p:sp>
          <p:sp>
            <p:nvSpPr>
              <p:cNvPr id="250" name="Line 33"/>
              <p:cNvSpPr>
                <a:spLocks noChangeShapeType="1"/>
              </p:cNvSpPr>
              <p:nvPr>
                <p:custDataLst>
                  <p:tags r:id="rId16"/>
                </p:custDataLst>
              </p:nvPr>
            </p:nvSpPr>
            <p:spPr bwMode="ltGray">
              <a:xfrm>
                <a:off x="3984" y="3239"/>
                <a:ext cx="240" cy="38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grpSp>
      <p:sp>
        <p:nvSpPr>
          <p:cNvPr id="3" name="矩形 2"/>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11"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
        <p:nvSpPr>
          <p:cNvPr id="5" name="文本框 4"/>
          <p:cNvSpPr txBox="1"/>
          <p:nvPr/>
        </p:nvSpPr>
        <p:spPr>
          <a:xfrm>
            <a:off x="553085" y="1146810"/>
            <a:ext cx="10673080" cy="922020"/>
          </a:xfrm>
          <a:prstGeom prst="rect">
            <a:avLst/>
          </a:prstGeom>
        </p:spPr>
        <p:txBody>
          <a:bodyPr wrap="square">
            <a:spAutoFit/>
          </a:bodyPr>
          <a:p>
            <a:pPr marL="0" indent="304800" algn="just" defTabSz="266700">
              <a:lnSpc>
                <a:spcPct val="150000"/>
              </a:lnSpc>
              <a:spcBef>
                <a:spcPts val="400"/>
              </a:spcBef>
            </a:pP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荧光的产生包括吸收和发射两个过程，首先是物质粒子吸收光子能量并跃迁到高能级，然后再向低能级跃迁并向外发射出光子，所以荧光光谱属于发射光谱。</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p:cNvSpPr txBox="1"/>
          <p:nvPr/>
        </p:nvSpPr>
        <p:spPr>
          <a:xfrm>
            <a:off x="362431" y="2156740"/>
            <a:ext cx="6494930" cy="398780"/>
          </a:xfrm>
          <a:prstGeom prst="rect">
            <a:avLst/>
          </a:prstGeom>
          <a:noFill/>
        </p:spPr>
        <p:txBody>
          <a:bodyPr wrap="square" rtlCol="0">
            <a:spAutoFit/>
          </a:bodyPr>
          <a:p>
            <a:r>
              <a:rPr lang="en-US" altLang="zh-CN" sz="2000" b="1" dirty="0">
                <a:solidFill>
                  <a:srgbClr val="1F1F79"/>
                </a:solidFill>
                <a:latin typeface="微软雅黑" panose="020B0503020204020204" pitchFamily="34" charset="-122"/>
                <a:ea typeface="微软雅黑" panose="020B0503020204020204" pitchFamily="34" charset="-122"/>
              </a:rPr>
              <a:t>1. </a:t>
            </a:r>
            <a:r>
              <a:rPr lang="zh-CN" altLang="en-US" sz="2000" b="1" dirty="0">
                <a:solidFill>
                  <a:srgbClr val="1F1F79"/>
                </a:solidFill>
                <a:latin typeface="微软雅黑" panose="020B0503020204020204" pitchFamily="34" charset="-122"/>
                <a:ea typeface="微软雅黑" panose="020B0503020204020204" pitchFamily="34" charset="-122"/>
              </a:rPr>
              <a:t>荧光产生原理</a:t>
            </a:r>
            <a:endParaRPr lang="zh-CN" altLang="en-US" sz="2000" b="1" dirty="0">
              <a:solidFill>
                <a:srgbClr val="1F1F79"/>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lstStyle/>
          <a:p>
            <a:pPr algn="ctr"/>
            <a:r>
              <a:rPr lang="en-US" altLang="zh-CN" b="1" dirty="0">
                <a:solidFill>
                  <a:srgbClr val="002060"/>
                </a:solidFill>
              </a:rPr>
              <a:t>4.3.1   </a:t>
            </a:r>
            <a:r>
              <a:rPr lang="zh-CN" altLang="en-US" b="1" dirty="0">
                <a:solidFill>
                  <a:srgbClr val="002060"/>
                </a:solidFill>
              </a:rPr>
              <a:t>基本原理</a:t>
            </a:r>
            <a:endParaRPr lang="zh-CN" altLang="en-US" b="1" dirty="0">
              <a:solidFill>
                <a:srgbClr val="002060"/>
              </a:solidFill>
            </a:endParaRPr>
          </a:p>
        </p:txBody>
      </p:sp>
      <p:sp>
        <p:nvSpPr>
          <p:cNvPr id="2" name="文本框 1"/>
          <p:cNvSpPr txBox="1"/>
          <p:nvPr/>
        </p:nvSpPr>
        <p:spPr>
          <a:xfrm>
            <a:off x="287501" y="1238530"/>
            <a:ext cx="6494930" cy="398780"/>
          </a:xfrm>
          <a:prstGeom prst="rect">
            <a:avLst/>
          </a:prstGeom>
          <a:noFill/>
        </p:spPr>
        <p:txBody>
          <a:bodyPr wrap="square" rtlCol="0">
            <a:spAutoFit/>
          </a:bodyPr>
          <a:lstStyle/>
          <a:p>
            <a:r>
              <a:rPr lang="en-US" altLang="zh-CN" sz="2000" b="1" dirty="0">
                <a:solidFill>
                  <a:srgbClr val="1F1F79"/>
                </a:solidFill>
                <a:latin typeface="微软雅黑" panose="020B0503020204020204" pitchFamily="34" charset="-122"/>
                <a:ea typeface="微软雅黑" panose="020B0503020204020204" pitchFamily="34" charset="-122"/>
              </a:rPr>
              <a:t>1. </a:t>
            </a:r>
            <a:r>
              <a:rPr lang="zh-CN" altLang="en-US" sz="2000" b="1" dirty="0">
                <a:solidFill>
                  <a:srgbClr val="1F1F79"/>
                </a:solidFill>
                <a:latin typeface="微软雅黑" panose="020B0503020204020204" pitchFamily="34" charset="-122"/>
                <a:ea typeface="微软雅黑" panose="020B0503020204020204" pitchFamily="34" charset="-122"/>
              </a:rPr>
              <a:t>荧光产生原理</a:t>
            </a:r>
            <a:endParaRPr lang="zh-CN" altLang="en-US" sz="2000" b="1" dirty="0">
              <a:solidFill>
                <a:srgbClr val="1F1F79"/>
              </a:solidFill>
              <a:latin typeface="微软雅黑" panose="020B0503020204020204" pitchFamily="34" charset="-122"/>
              <a:ea typeface="微软雅黑" panose="020B0503020204020204" pitchFamily="34" charset="-122"/>
            </a:endParaRPr>
          </a:p>
        </p:txBody>
      </p:sp>
      <p:grpSp>
        <p:nvGrpSpPr>
          <p:cNvPr id="16" name="Group 3"/>
          <p:cNvGrpSpPr/>
          <p:nvPr/>
        </p:nvGrpSpPr>
        <p:grpSpPr bwMode="auto">
          <a:xfrm>
            <a:off x="1889394" y="1745765"/>
            <a:ext cx="8590999" cy="4784734"/>
            <a:chOff x="288" y="62"/>
            <a:chExt cx="5328" cy="4033"/>
          </a:xfrm>
        </p:grpSpPr>
        <p:sp>
          <p:nvSpPr>
            <p:cNvPr id="17" name="Rectangle 4"/>
            <p:cNvSpPr>
              <a:spLocks noChangeArrowheads="1"/>
            </p:cNvSpPr>
            <p:nvPr/>
          </p:nvSpPr>
          <p:spPr bwMode="auto">
            <a:xfrm>
              <a:off x="490" y="3834"/>
              <a:ext cx="5076" cy="2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8" name="Line 5"/>
            <p:cNvSpPr>
              <a:spLocks noChangeShapeType="1"/>
            </p:cNvSpPr>
            <p:nvPr/>
          </p:nvSpPr>
          <p:spPr bwMode="auto">
            <a:xfrm>
              <a:off x="490" y="3666"/>
              <a:ext cx="5076" cy="1"/>
            </a:xfrm>
            <a:prstGeom prst="line">
              <a:avLst/>
            </a:prstGeom>
            <a:noFill/>
            <a:ln w="9525">
              <a:solidFill>
                <a:srgbClr val="5490A8"/>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6"/>
            <p:cNvSpPr>
              <a:spLocks noChangeShapeType="1"/>
            </p:cNvSpPr>
            <p:nvPr/>
          </p:nvSpPr>
          <p:spPr bwMode="auto">
            <a:xfrm>
              <a:off x="490" y="3282"/>
              <a:ext cx="5076" cy="1"/>
            </a:xfrm>
            <a:prstGeom prst="line">
              <a:avLst/>
            </a:prstGeom>
            <a:noFill/>
            <a:ln w="9525">
              <a:solidFill>
                <a:srgbClr val="5490A8"/>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7"/>
            <p:cNvSpPr>
              <a:spLocks noChangeShapeType="1"/>
            </p:cNvSpPr>
            <p:nvPr/>
          </p:nvSpPr>
          <p:spPr bwMode="auto">
            <a:xfrm>
              <a:off x="490" y="3486"/>
              <a:ext cx="5076" cy="1"/>
            </a:xfrm>
            <a:prstGeom prst="line">
              <a:avLst/>
            </a:prstGeom>
            <a:noFill/>
            <a:ln w="9525">
              <a:solidFill>
                <a:srgbClr val="5490A8"/>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Rectangle 8"/>
            <p:cNvSpPr>
              <a:spLocks noChangeArrowheads="1"/>
            </p:cNvSpPr>
            <p:nvPr/>
          </p:nvSpPr>
          <p:spPr bwMode="auto">
            <a:xfrm>
              <a:off x="490" y="960"/>
              <a:ext cx="806" cy="4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2" name="Rectangle 9"/>
            <p:cNvSpPr>
              <a:spLocks noChangeArrowheads="1"/>
            </p:cNvSpPr>
            <p:nvPr/>
          </p:nvSpPr>
          <p:spPr bwMode="auto">
            <a:xfrm>
              <a:off x="1632" y="1314"/>
              <a:ext cx="1694" cy="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3" name="Rectangle 10"/>
            <p:cNvSpPr>
              <a:spLocks noChangeArrowheads="1"/>
            </p:cNvSpPr>
            <p:nvPr/>
          </p:nvSpPr>
          <p:spPr bwMode="auto">
            <a:xfrm>
              <a:off x="3696" y="1650"/>
              <a:ext cx="960" cy="4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4" name="Line 11"/>
            <p:cNvSpPr>
              <a:spLocks noChangeShapeType="1"/>
            </p:cNvSpPr>
            <p:nvPr/>
          </p:nvSpPr>
          <p:spPr bwMode="auto">
            <a:xfrm>
              <a:off x="490" y="150"/>
              <a:ext cx="1116" cy="1"/>
            </a:xfrm>
            <a:prstGeom prst="line">
              <a:avLst/>
            </a:prstGeom>
            <a:noFill/>
            <a:ln w="9525">
              <a:solidFill>
                <a:srgbClr val="3366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12"/>
            <p:cNvSpPr>
              <a:spLocks noChangeShapeType="1"/>
            </p:cNvSpPr>
            <p:nvPr/>
          </p:nvSpPr>
          <p:spPr bwMode="auto">
            <a:xfrm>
              <a:off x="490" y="306"/>
              <a:ext cx="902" cy="30"/>
            </a:xfrm>
            <a:prstGeom prst="line">
              <a:avLst/>
            </a:prstGeom>
            <a:noFill/>
            <a:ln w="9525">
              <a:solidFill>
                <a:srgbClr val="3333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13"/>
            <p:cNvSpPr>
              <a:spLocks noChangeShapeType="1"/>
            </p:cNvSpPr>
            <p:nvPr/>
          </p:nvSpPr>
          <p:spPr bwMode="auto">
            <a:xfrm>
              <a:off x="490" y="474"/>
              <a:ext cx="950" cy="6"/>
            </a:xfrm>
            <a:prstGeom prst="line">
              <a:avLst/>
            </a:prstGeom>
            <a:noFill/>
            <a:ln w="9525">
              <a:solidFill>
                <a:srgbClr val="3333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Line 14"/>
            <p:cNvSpPr>
              <a:spLocks noChangeShapeType="1"/>
            </p:cNvSpPr>
            <p:nvPr/>
          </p:nvSpPr>
          <p:spPr bwMode="auto">
            <a:xfrm flipV="1">
              <a:off x="490" y="624"/>
              <a:ext cx="950" cy="18"/>
            </a:xfrm>
            <a:prstGeom prst="line">
              <a:avLst/>
            </a:prstGeom>
            <a:noFill/>
            <a:ln w="9525">
              <a:solidFill>
                <a:srgbClr val="3333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 name="Line 15"/>
            <p:cNvSpPr>
              <a:spLocks noChangeShapeType="1"/>
            </p:cNvSpPr>
            <p:nvPr/>
          </p:nvSpPr>
          <p:spPr bwMode="auto">
            <a:xfrm>
              <a:off x="490" y="810"/>
              <a:ext cx="950" cy="6"/>
            </a:xfrm>
            <a:prstGeom prst="line">
              <a:avLst/>
            </a:prstGeom>
            <a:noFill/>
            <a:ln w="9525">
              <a:solidFill>
                <a:srgbClr val="3333FF"/>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29" name="Group 16"/>
            <p:cNvGrpSpPr/>
            <p:nvPr/>
          </p:nvGrpSpPr>
          <p:grpSpPr bwMode="auto">
            <a:xfrm>
              <a:off x="576" y="162"/>
              <a:ext cx="107" cy="3696"/>
              <a:chOff x="701" y="162"/>
              <a:chExt cx="107" cy="3696"/>
            </a:xfrm>
          </p:grpSpPr>
          <p:sp>
            <p:nvSpPr>
              <p:cNvPr id="240" name="Rectangle 17"/>
              <p:cNvSpPr>
                <a:spLocks noChangeArrowheads="1"/>
              </p:cNvSpPr>
              <p:nvPr/>
            </p:nvSpPr>
            <p:spPr bwMode="auto">
              <a:xfrm>
                <a:off x="742" y="267"/>
                <a:ext cx="24" cy="3591"/>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41" name="Freeform 18"/>
              <p:cNvSpPr/>
              <p:nvPr/>
            </p:nvSpPr>
            <p:spPr bwMode="auto">
              <a:xfrm>
                <a:off x="701" y="162"/>
                <a:ext cx="107" cy="107"/>
              </a:xfrm>
              <a:custGeom>
                <a:avLst/>
                <a:gdLst>
                  <a:gd name="T0" fmla="*/ 107 w 107"/>
                  <a:gd name="T1" fmla="*/ 107 h 107"/>
                  <a:gd name="T2" fmla="*/ 53 w 107"/>
                  <a:gd name="T3" fmla="*/ 0 h 107"/>
                  <a:gd name="T4" fmla="*/ 0 w 107"/>
                  <a:gd name="T5" fmla="*/ 107 h 107"/>
                  <a:gd name="T6" fmla="*/ 107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107" y="107"/>
                    </a:moveTo>
                    <a:lnTo>
                      <a:pt x="53" y="0"/>
                    </a:lnTo>
                    <a:lnTo>
                      <a:pt x="0" y="107"/>
                    </a:lnTo>
                    <a:lnTo>
                      <a:pt x="107" y="10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30" name="Group 19"/>
            <p:cNvGrpSpPr/>
            <p:nvPr/>
          </p:nvGrpSpPr>
          <p:grpSpPr bwMode="auto">
            <a:xfrm>
              <a:off x="672" y="318"/>
              <a:ext cx="107" cy="3540"/>
              <a:chOff x="809" y="318"/>
              <a:chExt cx="107" cy="3540"/>
            </a:xfrm>
          </p:grpSpPr>
          <p:sp>
            <p:nvSpPr>
              <p:cNvPr id="238" name="Rectangle 20"/>
              <p:cNvSpPr>
                <a:spLocks noChangeArrowheads="1"/>
              </p:cNvSpPr>
              <p:nvPr/>
            </p:nvSpPr>
            <p:spPr bwMode="auto">
              <a:xfrm>
                <a:off x="850" y="423"/>
                <a:ext cx="24" cy="343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39" name="Freeform 21"/>
              <p:cNvSpPr/>
              <p:nvPr/>
            </p:nvSpPr>
            <p:spPr bwMode="auto">
              <a:xfrm>
                <a:off x="809" y="318"/>
                <a:ext cx="107" cy="107"/>
              </a:xfrm>
              <a:custGeom>
                <a:avLst/>
                <a:gdLst>
                  <a:gd name="T0" fmla="*/ 107 w 107"/>
                  <a:gd name="T1" fmla="*/ 107 h 107"/>
                  <a:gd name="T2" fmla="*/ 53 w 107"/>
                  <a:gd name="T3" fmla="*/ 0 h 107"/>
                  <a:gd name="T4" fmla="*/ 0 w 107"/>
                  <a:gd name="T5" fmla="*/ 107 h 107"/>
                  <a:gd name="T6" fmla="*/ 107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107" y="107"/>
                    </a:moveTo>
                    <a:lnTo>
                      <a:pt x="53" y="0"/>
                    </a:lnTo>
                    <a:lnTo>
                      <a:pt x="0" y="107"/>
                    </a:lnTo>
                    <a:lnTo>
                      <a:pt x="107" y="10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31" name="Group 22"/>
            <p:cNvGrpSpPr/>
            <p:nvPr/>
          </p:nvGrpSpPr>
          <p:grpSpPr bwMode="auto">
            <a:xfrm>
              <a:off x="768" y="474"/>
              <a:ext cx="107" cy="3372"/>
              <a:chOff x="905" y="474"/>
              <a:chExt cx="107" cy="3372"/>
            </a:xfrm>
          </p:grpSpPr>
          <p:sp>
            <p:nvSpPr>
              <p:cNvPr id="236" name="Rectangle 23"/>
              <p:cNvSpPr>
                <a:spLocks noChangeArrowheads="1"/>
              </p:cNvSpPr>
              <p:nvPr/>
            </p:nvSpPr>
            <p:spPr bwMode="auto">
              <a:xfrm>
                <a:off x="946" y="579"/>
                <a:ext cx="24" cy="326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37" name="Freeform 24"/>
              <p:cNvSpPr/>
              <p:nvPr/>
            </p:nvSpPr>
            <p:spPr bwMode="auto">
              <a:xfrm>
                <a:off x="905" y="474"/>
                <a:ext cx="107" cy="107"/>
              </a:xfrm>
              <a:custGeom>
                <a:avLst/>
                <a:gdLst>
                  <a:gd name="T0" fmla="*/ 107 w 107"/>
                  <a:gd name="T1" fmla="*/ 107 h 107"/>
                  <a:gd name="T2" fmla="*/ 53 w 107"/>
                  <a:gd name="T3" fmla="*/ 0 h 107"/>
                  <a:gd name="T4" fmla="*/ 0 w 107"/>
                  <a:gd name="T5" fmla="*/ 107 h 107"/>
                  <a:gd name="T6" fmla="*/ 107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107" y="107"/>
                    </a:moveTo>
                    <a:lnTo>
                      <a:pt x="53" y="0"/>
                    </a:lnTo>
                    <a:lnTo>
                      <a:pt x="0" y="107"/>
                    </a:lnTo>
                    <a:lnTo>
                      <a:pt x="107" y="10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32" name="Group 25"/>
            <p:cNvGrpSpPr/>
            <p:nvPr/>
          </p:nvGrpSpPr>
          <p:grpSpPr bwMode="auto">
            <a:xfrm>
              <a:off x="864" y="630"/>
              <a:ext cx="107" cy="3204"/>
              <a:chOff x="1001" y="630"/>
              <a:chExt cx="107" cy="3204"/>
            </a:xfrm>
          </p:grpSpPr>
          <p:sp>
            <p:nvSpPr>
              <p:cNvPr id="234" name="Rectangle 26"/>
              <p:cNvSpPr>
                <a:spLocks noChangeArrowheads="1"/>
              </p:cNvSpPr>
              <p:nvPr/>
            </p:nvSpPr>
            <p:spPr bwMode="auto">
              <a:xfrm>
                <a:off x="1042" y="735"/>
                <a:ext cx="24" cy="3099"/>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35" name="Freeform 27"/>
              <p:cNvSpPr/>
              <p:nvPr/>
            </p:nvSpPr>
            <p:spPr bwMode="auto">
              <a:xfrm>
                <a:off x="1001" y="630"/>
                <a:ext cx="107" cy="107"/>
              </a:xfrm>
              <a:custGeom>
                <a:avLst/>
                <a:gdLst>
                  <a:gd name="T0" fmla="*/ 107 w 107"/>
                  <a:gd name="T1" fmla="*/ 107 h 107"/>
                  <a:gd name="T2" fmla="*/ 53 w 107"/>
                  <a:gd name="T3" fmla="*/ 0 h 107"/>
                  <a:gd name="T4" fmla="*/ 0 w 107"/>
                  <a:gd name="T5" fmla="*/ 107 h 107"/>
                  <a:gd name="T6" fmla="*/ 107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107" y="107"/>
                    </a:moveTo>
                    <a:lnTo>
                      <a:pt x="53" y="0"/>
                    </a:lnTo>
                    <a:lnTo>
                      <a:pt x="0" y="107"/>
                    </a:lnTo>
                    <a:lnTo>
                      <a:pt x="107" y="10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33" name="Group 28"/>
            <p:cNvGrpSpPr/>
            <p:nvPr/>
          </p:nvGrpSpPr>
          <p:grpSpPr bwMode="auto">
            <a:xfrm>
              <a:off x="960" y="786"/>
              <a:ext cx="107" cy="3036"/>
              <a:chOff x="1121" y="786"/>
              <a:chExt cx="107" cy="3036"/>
            </a:xfrm>
          </p:grpSpPr>
          <p:sp>
            <p:nvSpPr>
              <p:cNvPr id="232" name="Rectangle 29"/>
              <p:cNvSpPr>
                <a:spLocks noChangeArrowheads="1"/>
              </p:cNvSpPr>
              <p:nvPr/>
            </p:nvSpPr>
            <p:spPr bwMode="auto">
              <a:xfrm>
                <a:off x="1162" y="891"/>
                <a:ext cx="24" cy="2931"/>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33" name="Freeform 30"/>
              <p:cNvSpPr/>
              <p:nvPr/>
            </p:nvSpPr>
            <p:spPr bwMode="auto">
              <a:xfrm>
                <a:off x="1121" y="786"/>
                <a:ext cx="107" cy="107"/>
              </a:xfrm>
              <a:custGeom>
                <a:avLst/>
                <a:gdLst>
                  <a:gd name="T0" fmla="*/ 107 w 107"/>
                  <a:gd name="T1" fmla="*/ 107 h 107"/>
                  <a:gd name="T2" fmla="*/ 53 w 107"/>
                  <a:gd name="T3" fmla="*/ 0 h 107"/>
                  <a:gd name="T4" fmla="*/ 0 w 107"/>
                  <a:gd name="T5" fmla="*/ 107 h 107"/>
                  <a:gd name="T6" fmla="*/ 107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107" y="107"/>
                    </a:moveTo>
                    <a:lnTo>
                      <a:pt x="53" y="0"/>
                    </a:lnTo>
                    <a:lnTo>
                      <a:pt x="0" y="107"/>
                    </a:lnTo>
                    <a:lnTo>
                      <a:pt x="107" y="10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34" name="Group 31"/>
            <p:cNvGrpSpPr/>
            <p:nvPr/>
          </p:nvGrpSpPr>
          <p:grpSpPr bwMode="auto">
            <a:xfrm>
              <a:off x="1056" y="942"/>
              <a:ext cx="107" cy="2892"/>
              <a:chOff x="1229" y="942"/>
              <a:chExt cx="107" cy="2892"/>
            </a:xfrm>
          </p:grpSpPr>
          <p:sp>
            <p:nvSpPr>
              <p:cNvPr id="230" name="Rectangle 32"/>
              <p:cNvSpPr>
                <a:spLocks noChangeArrowheads="1"/>
              </p:cNvSpPr>
              <p:nvPr/>
            </p:nvSpPr>
            <p:spPr bwMode="auto">
              <a:xfrm>
                <a:off x="1270" y="1047"/>
                <a:ext cx="24" cy="278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31" name="Freeform 33"/>
              <p:cNvSpPr/>
              <p:nvPr/>
            </p:nvSpPr>
            <p:spPr bwMode="auto">
              <a:xfrm>
                <a:off x="1229" y="942"/>
                <a:ext cx="107" cy="107"/>
              </a:xfrm>
              <a:custGeom>
                <a:avLst/>
                <a:gdLst>
                  <a:gd name="T0" fmla="*/ 107 w 107"/>
                  <a:gd name="T1" fmla="*/ 107 h 107"/>
                  <a:gd name="T2" fmla="*/ 53 w 107"/>
                  <a:gd name="T3" fmla="*/ 0 h 107"/>
                  <a:gd name="T4" fmla="*/ 0 w 107"/>
                  <a:gd name="T5" fmla="*/ 107 h 107"/>
                  <a:gd name="T6" fmla="*/ 107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107" y="107"/>
                    </a:moveTo>
                    <a:lnTo>
                      <a:pt x="53" y="0"/>
                    </a:lnTo>
                    <a:lnTo>
                      <a:pt x="0" y="107"/>
                    </a:lnTo>
                    <a:lnTo>
                      <a:pt x="107" y="10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35" name="Line 34"/>
            <p:cNvSpPr>
              <a:spLocks noChangeShapeType="1"/>
            </p:cNvSpPr>
            <p:nvPr/>
          </p:nvSpPr>
          <p:spPr bwMode="auto">
            <a:xfrm>
              <a:off x="1680" y="1146"/>
              <a:ext cx="1550" cy="6"/>
            </a:xfrm>
            <a:prstGeom prst="line">
              <a:avLst/>
            </a:prstGeom>
            <a:noFill/>
            <a:ln w="9525">
              <a:solidFill>
                <a:srgbClr val="F1A7E6"/>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 name="Line 35"/>
            <p:cNvSpPr>
              <a:spLocks noChangeShapeType="1"/>
            </p:cNvSpPr>
            <p:nvPr/>
          </p:nvSpPr>
          <p:spPr bwMode="auto">
            <a:xfrm>
              <a:off x="1680" y="954"/>
              <a:ext cx="1550" cy="6"/>
            </a:xfrm>
            <a:prstGeom prst="line">
              <a:avLst/>
            </a:prstGeom>
            <a:noFill/>
            <a:ln w="9525">
              <a:solidFill>
                <a:srgbClr val="F1A7E6"/>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 name="Line 36"/>
            <p:cNvSpPr>
              <a:spLocks noChangeShapeType="1"/>
            </p:cNvSpPr>
            <p:nvPr/>
          </p:nvSpPr>
          <p:spPr bwMode="auto">
            <a:xfrm>
              <a:off x="1728" y="474"/>
              <a:ext cx="1598" cy="6"/>
            </a:xfrm>
            <a:prstGeom prst="line">
              <a:avLst/>
            </a:prstGeom>
            <a:noFill/>
            <a:ln w="9525">
              <a:solidFill>
                <a:srgbClr val="F1A7E6"/>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 name="Line 37"/>
            <p:cNvSpPr>
              <a:spLocks noChangeShapeType="1"/>
            </p:cNvSpPr>
            <p:nvPr/>
          </p:nvSpPr>
          <p:spPr bwMode="auto">
            <a:xfrm flipV="1">
              <a:off x="1728" y="624"/>
              <a:ext cx="1550" cy="18"/>
            </a:xfrm>
            <a:prstGeom prst="line">
              <a:avLst/>
            </a:prstGeom>
            <a:noFill/>
            <a:ln w="9525">
              <a:solidFill>
                <a:srgbClr val="F1A7E6"/>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Line 38"/>
            <p:cNvSpPr>
              <a:spLocks noChangeShapeType="1"/>
            </p:cNvSpPr>
            <p:nvPr/>
          </p:nvSpPr>
          <p:spPr bwMode="auto">
            <a:xfrm>
              <a:off x="1680" y="810"/>
              <a:ext cx="1550" cy="6"/>
            </a:xfrm>
            <a:prstGeom prst="line">
              <a:avLst/>
            </a:prstGeom>
            <a:noFill/>
            <a:ln w="9525">
              <a:solidFill>
                <a:srgbClr val="F1A7E6"/>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 name="Line 39"/>
            <p:cNvSpPr>
              <a:spLocks noChangeShapeType="1"/>
            </p:cNvSpPr>
            <p:nvPr/>
          </p:nvSpPr>
          <p:spPr bwMode="auto">
            <a:xfrm>
              <a:off x="490" y="3090"/>
              <a:ext cx="5076" cy="1"/>
            </a:xfrm>
            <a:prstGeom prst="line">
              <a:avLst/>
            </a:prstGeom>
            <a:noFill/>
            <a:ln w="9525">
              <a:solidFill>
                <a:srgbClr val="5490A8"/>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1" name="Group 40"/>
            <p:cNvGrpSpPr/>
            <p:nvPr/>
          </p:nvGrpSpPr>
          <p:grpSpPr bwMode="auto">
            <a:xfrm>
              <a:off x="1765" y="636"/>
              <a:ext cx="107" cy="3204"/>
              <a:chOff x="2129" y="642"/>
              <a:chExt cx="107" cy="3204"/>
            </a:xfrm>
          </p:grpSpPr>
          <p:sp>
            <p:nvSpPr>
              <p:cNvPr id="228" name="Rectangle 41"/>
              <p:cNvSpPr>
                <a:spLocks noChangeArrowheads="1"/>
              </p:cNvSpPr>
              <p:nvPr/>
            </p:nvSpPr>
            <p:spPr bwMode="auto">
              <a:xfrm>
                <a:off x="2170" y="747"/>
                <a:ext cx="24" cy="3099"/>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29" name="Freeform 42"/>
              <p:cNvSpPr/>
              <p:nvPr/>
            </p:nvSpPr>
            <p:spPr bwMode="auto">
              <a:xfrm>
                <a:off x="2129" y="642"/>
                <a:ext cx="107" cy="107"/>
              </a:xfrm>
              <a:custGeom>
                <a:avLst/>
                <a:gdLst>
                  <a:gd name="T0" fmla="*/ 107 w 107"/>
                  <a:gd name="T1" fmla="*/ 107 h 107"/>
                  <a:gd name="T2" fmla="*/ 53 w 107"/>
                  <a:gd name="T3" fmla="*/ 0 h 107"/>
                  <a:gd name="T4" fmla="*/ 0 w 107"/>
                  <a:gd name="T5" fmla="*/ 107 h 107"/>
                  <a:gd name="T6" fmla="*/ 107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107" y="107"/>
                    </a:moveTo>
                    <a:lnTo>
                      <a:pt x="53" y="0"/>
                    </a:lnTo>
                    <a:lnTo>
                      <a:pt x="0" y="107"/>
                    </a:lnTo>
                    <a:lnTo>
                      <a:pt x="107" y="10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42" name="Group 43"/>
            <p:cNvGrpSpPr/>
            <p:nvPr/>
          </p:nvGrpSpPr>
          <p:grpSpPr bwMode="auto">
            <a:xfrm>
              <a:off x="1872" y="786"/>
              <a:ext cx="107" cy="3036"/>
              <a:chOff x="2225" y="786"/>
              <a:chExt cx="107" cy="3036"/>
            </a:xfrm>
          </p:grpSpPr>
          <p:sp>
            <p:nvSpPr>
              <p:cNvPr id="226" name="Rectangle 44"/>
              <p:cNvSpPr>
                <a:spLocks noChangeArrowheads="1"/>
              </p:cNvSpPr>
              <p:nvPr/>
            </p:nvSpPr>
            <p:spPr bwMode="auto">
              <a:xfrm>
                <a:off x="2266" y="891"/>
                <a:ext cx="24" cy="2931"/>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27" name="Freeform 45"/>
              <p:cNvSpPr/>
              <p:nvPr/>
            </p:nvSpPr>
            <p:spPr bwMode="auto">
              <a:xfrm>
                <a:off x="2225" y="786"/>
                <a:ext cx="107" cy="107"/>
              </a:xfrm>
              <a:custGeom>
                <a:avLst/>
                <a:gdLst>
                  <a:gd name="T0" fmla="*/ 107 w 107"/>
                  <a:gd name="T1" fmla="*/ 107 h 107"/>
                  <a:gd name="T2" fmla="*/ 53 w 107"/>
                  <a:gd name="T3" fmla="*/ 0 h 107"/>
                  <a:gd name="T4" fmla="*/ 0 w 107"/>
                  <a:gd name="T5" fmla="*/ 107 h 107"/>
                  <a:gd name="T6" fmla="*/ 107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107" y="107"/>
                    </a:moveTo>
                    <a:lnTo>
                      <a:pt x="53" y="0"/>
                    </a:lnTo>
                    <a:lnTo>
                      <a:pt x="0" y="107"/>
                    </a:lnTo>
                    <a:lnTo>
                      <a:pt x="107" y="10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43" name="Group 46"/>
            <p:cNvGrpSpPr/>
            <p:nvPr/>
          </p:nvGrpSpPr>
          <p:grpSpPr bwMode="auto">
            <a:xfrm>
              <a:off x="1968" y="942"/>
              <a:ext cx="107" cy="2892"/>
              <a:chOff x="2321" y="942"/>
              <a:chExt cx="107" cy="2892"/>
            </a:xfrm>
          </p:grpSpPr>
          <p:sp>
            <p:nvSpPr>
              <p:cNvPr id="224" name="Rectangle 47"/>
              <p:cNvSpPr>
                <a:spLocks noChangeArrowheads="1"/>
              </p:cNvSpPr>
              <p:nvPr/>
            </p:nvSpPr>
            <p:spPr bwMode="auto">
              <a:xfrm>
                <a:off x="2362" y="1047"/>
                <a:ext cx="24" cy="278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25" name="Freeform 48"/>
              <p:cNvSpPr/>
              <p:nvPr/>
            </p:nvSpPr>
            <p:spPr bwMode="auto">
              <a:xfrm>
                <a:off x="2321" y="942"/>
                <a:ext cx="107" cy="107"/>
              </a:xfrm>
              <a:custGeom>
                <a:avLst/>
                <a:gdLst>
                  <a:gd name="T0" fmla="*/ 107 w 107"/>
                  <a:gd name="T1" fmla="*/ 107 h 107"/>
                  <a:gd name="T2" fmla="*/ 53 w 107"/>
                  <a:gd name="T3" fmla="*/ 0 h 107"/>
                  <a:gd name="T4" fmla="*/ 0 w 107"/>
                  <a:gd name="T5" fmla="*/ 107 h 107"/>
                  <a:gd name="T6" fmla="*/ 107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107" y="107"/>
                    </a:moveTo>
                    <a:lnTo>
                      <a:pt x="53" y="0"/>
                    </a:lnTo>
                    <a:lnTo>
                      <a:pt x="0" y="107"/>
                    </a:lnTo>
                    <a:lnTo>
                      <a:pt x="107" y="10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44" name="Group 49"/>
            <p:cNvGrpSpPr/>
            <p:nvPr/>
          </p:nvGrpSpPr>
          <p:grpSpPr bwMode="auto">
            <a:xfrm>
              <a:off x="2064" y="1158"/>
              <a:ext cx="107" cy="2700"/>
              <a:chOff x="2417" y="1158"/>
              <a:chExt cx="107" cy="2700"/>
            </a:xfrm>
          </p:grpSpPr>
          <p:sp>
            <p:nvSpPr>
              <p:cNvPr id="222" name="Rectangle 50"/>
              <p:cNvSpPr>
                <a:spLocks noChangeArrowheads="1"/>
              </p:cNvSpPr>
              <p:nvPr/>
            </p:nvSpPr>
            <p:spPr bwMode="auto">
              <a:xfrm>
                <a:off x="2458" y="1263"/>
                <a:ext cx="24" cy="259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23" name="Freeform 51"/>
              <p:cNvSpPr/>
              <p:nvPr/>
            </p:nvSpPr>
            <p:spPr bwMode="auto">
              <a:xfrm>
                <a:off x="2417" y="1158"/>
                <a:ext cx="107" cy="107"/>
              </a:xfrm>
              <a:custGeom>
                <a:avLst/>
                <a:gdLst>
                  <a:gd name="T0" fmla="*/ 107 w 107"/>
                  <a:gd name="T1" fmla="*/ 107 h 107"/>
                  <a:gd name="T2" fmla="*/ 53 w 107"/>
                  <a:gd name="T3" fmla="*/ 0 h 107"/>
                  <a:gd name="T4" fmla="*/ 0 w 107"/>
                  <a:gd name="T5" fmla="*/ 107 h 107"/>
                  <a:gd name="T6" fmla="*/ 107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107" y="107"/>
                    </a:moveTo>
                    <a:lnTo>
                      <a:pt x="53" y="0"/>
                    </a:lnTo>
                    <a:lnTo>
                      <a:pt x="0" y="107"/>
                    </a:lnTo>
                    <a:lnTo>
                      <a:pt x="107" y="10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45" name="Group 52"/>
            <p:cNvGrpSpPr/>
            <p:nvPr/>
          </p:nvGrpSpPr>
          <p:grpSpPr bwMode="auto">
            <a:xfrm>
              <a:off x="2160" y="1314"/>
              <a:ext cx="107" cy="2520"/>
              <a:chOff x="2525" y="1314"/>
              <a:chExt cx="107" cy="2520"/>
            </a:xfrm>
          </p:grpSpPr>
          <p:sp>
            <p:nvSpPr>
              <p:cNvPr id="220" name="Rectangle 53"/>
              <p:cNvSpPr>
                <a:spLocks noChangeArrowheads="1"/>
              </p:cNvSpPr>
              <p:nvPr/>
            </p:nvSpPr>
            <p:spPr bwMode="auto">
              <a:xfrm>
                <a:off x="2566" y="1419"/>
                <a:ext cx="24" cy="241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21" name="Freeform 54"/>
              <p:cNvSpPr/>
              <p:nvPr/>
            </p:nvSpPr>
            <p:spPr bwMode="auto">
              <a:xfrm>
                <a:off x="2525" y="1314"/>
                <a:ext cx="107" cy="107"/>
              </a:xfrm>
              <a:custGeom>
                <a:avLst/>
                <a:gdLst>
                  <a:gd name="T0" fmla="*/ 107 w 107"/>
                  <a:gd name="T1" fmla="*/ 107 h 107"/>
                  <a:gd name="T2" fmla="*/ 53 w 107"/>
                  <a:gd name="T3" fmla="*/ 0 h 107"/>
                  <a:gd name="T4" fmla="*/ 0 w 107"/>
                  <a:gd name="T5" fmla="*/ 107 h 107"/>
                  <a:gd name="T6" fmla="*/ 107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107" y="107"/>
                    </a:moveTo>
                    <a:lnTo>
                      <a:pt x="53" y="0"/>
                    </a:lnTo>
                    <a:lnTo>
                      <a:pt x="0" y="107"/>
                    </a:lnTo>
                    <a:lnTo>
                      <a:pt x="107" y="107"/>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46" name="Group 55"/>
            <p:cNvGrpSpPr/>
            <p:nvPr/>
          </p:nvGrpSpPr>
          <p:grpSpPr bwMode="auto">
            <a:xfrm>
              <a:off x="2496" y="1296"/>
              <a:ext cx="137" cy="2520"/>
              <a:chOff x="2821" y="1326"/>
              <a:chExt cx="137" cy="2520"/>
            </a:xfrm>
          </p:grpSpPr>
          <p:sp>
            <p:nvSpPr>
              <p:cNvPr id="218" name="Rectangle 56"/>
              <p:cNvSpPr>
                <a:spLocks noChangeArrowheads="1"/>
              </p:cNvSpPr>
              <p:nvPr/>
            </p:nvSpPr>
            <p:spPr bwMode="auto">
              <a:xfrm>
                <a:off x="2872" y="1326"/>
                <a:ext cx="36" cy="2385"/>
              </a:xfrm>
              <a:prstGeom prst="rect">
                <a:avLst/>
              </a:prstGeom>
              <a:solidFill>
                <a:srgbClr val="996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19" name="Freeform 57"/>
              <p:cNvSpPr/>
              <p:nvPr/>
            </p:nvSpPr>
            <p:spPr bwMode="auto">
              <a:xfrm>
                <a:off x="2821" y="3709"/>
                <a:ext cx="137" cy="137"/>
              </a:xfrm>
              <a:custGeom>
                <a:avLst/>
                <a:gdLst>
                  <a:gd name="T0" fmla="*/ 0 w 137"/>
                  <a:gd name="T1" fmla="*/ 0 h 137"/>
                  <a:gd name="T2" fmla="*/ 69 w 137"/>
                  <a:gd name="T3" fmla="*/ 137 h 137"/>
                  <a:gd name="T4" fmla="*/ 137 w 137"/>
                  <a:gd name="T5" fmla="*/ 0 h 137"/>
                  <a:gd name="T6" fmla="*/ 0 w 137"/>
                  <a:gd name="T7" fmla="*/ 0 h 137"/>
                  <a:gd name="T8" fmla="*/ 0 60000 65536"/>
                  <a:gd name="T9" fmla="*/ 0 60000 65536"/>
                  <a:gd name="T10" fmla="*/ 0 60000 65536"/>
                  <a:gd name="T11" fmla="*/ 0 60000 65536"/>
                  <a:gd name="T12" fmla="*/ 0 w 137"/>
                  <a:gd name="T13" fmla="*/ 0 h 137"/>
                  <a:gd name="T14" fmla="*/ 137 w 137"/>
                  <a:gd name="T15" fmla="*/ 137 h 137"/>
                </a:gdLst>
                <a:ahLst/>
                <a:cxnLst>
                  <a:cxn ang="T8">
                    <a:pos x="T0" y="T1"/>
                  </a:cxn>
                  <a:cxn ang="T9">
                    <a:pos x="T2" y="T3"/>
                  </a:cxn>
                  <a:cxn ang="T10">
                    <a:pos x="T4" y="T5"/>
                  </a:cxn>
                  <a:cxn ang="T11">
                    <a:pos x="T6" y="T7"/>
                  </a:cxn>
                </a:cxnLst>
                <a:rect l="T12" t="T13" r="T14" b="T15"/>
                <a:pathLst>
                  <a:path w="137" h="137">
                    <a:moveTo>
                      <a:pt x="0" y="0"/>
                    </a:moveTo>
                    <a:lnTo>
                      <a:pt x="69" y="137"/>
                    </a:lnTo>
                    <a:lnTo>
                      <a:pt x="137" y="0"/>
                    </a:lnTo>
                    <a:lnTo>
                      <a:pt x="0" y="0"/>
                    </a:lnTo>
                    <a:close/>
                  </a:path>
                </a:pathLst>
              </a:custGeom>
              <a:solidFill>
                <a:srgbClr val="9966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47" name="Group 58"/>
            <p:cNvGrpSpPr/>
            <p:nvPr/>
          </p:nvGrpSpPr>
          <p:grpSpPr bwMode="auto">
            <a:xfrm>
              <a:off x="2592" y="1326"/>
              <a:ext cx="137" cy="2340"/>
              <a:chOff x="2929" y="1326"/>
              <a:chExt cx="137" cy="2340"/>
            </a:xfrm>
          </p:grpSpPr>
          <p:sp>
            <p:nvSpPr>
              <p:cNvPr id="216" name="Rectangle 59"/>
              <p:cNvSpPr>
                <a:spLocks noChangeArrowheads="1"/>
              </p:cNvSpPr>
              <p:nvPr/>
            </p:nvSpPr>
            <p:spPr bwMode="auto">
              <a:xfrm>
                <a:off x="2980" y="1326"/>
                <a:ext cx="36" cy="2205"/>
              </a:xfrm>
              <a:prstGeom prst="rect">
                <a:avLst/>
              </a:prstGeom>
              <a:solidFill>
                <a:srgbClr val="996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17" name="Freeform 60"/>
              <p:cNvSpPr/>
              <p:nvPr/>
            </p:nvSpPr>
            <p:spPr bwMode="auto">
              <a:xfrm>
                <a:off x="2929" y="3529"/>
                <a:ext cx="137" cy="137"/>
              </a:xfrm>
              <a:custGeom>
                <a:avLst/>
                <a:gdLst>
                  <a:gd name="T0" fmla="*/ 0 w 137"/>
                  <a:gd name="T1" fmla="*/ 0 h 137"/>
                  <a:gd name="T2" fmla="*/ 69 w 137"/>
                  <a:gd name="T3" fmla="*/ 137 h 137"/>
                  <a:gd name="T4" fmla="*/ 137 w 137"/>
                  <a:gd name="T5" fmla="*/ 0 h 137"/>
                  <a:gd name="T6" fmla="*/ 0 w 137"/>
                  <a:gd name="T7" fmla="*/ 0 h 137"/>
                  <a:gd name="T8" fmla="*/ 0 60000 65536"/>
                  <a:gd name="T9" fmla="*/ 0 60000 65536"/>
                  <a:gd name="T10" fmla="*/ 0 60000 65536"/>
                  <a:gd name="T11" fmla="*/ 0 60000 65536"/>
                  <a:gd name="T12" fmla="*/ 0 w 137"/>
                  <a:gd name="T13" fmla="*/ 0 h 137"/>
                  <a:gd name="T14" fmla="*/ 137 w 137"/>
                  <a:gd name="T15" fmla="*/ 137 h 137"/>
                </a:gdLst>
                <a:ahLst/>
                <a:cxnLst>
                  <a:cxn ang="T8">
                    <a:pos x="T0" y="T1"/>
                  </a:cxn>
                  <a:cxn ang="T9">
                    <a:pos x="T2" y="T3"/>
                  </a:cxn>
                  <a:cxn ang="T10">
                    <a:pos x="T4" y="T5"/>
                  </a:cxn>
                  <a:cxn ang="T11">
                    <a:pos x="T6" y="T7"/>
                  </a:cxn>
                </a:cxnLst>
                <a:rect l="T12" t="T13" r="T14" b="T15"/>
                <a:pathLst>
                  <a:path w="137" h="137">
                    <a:moveTo>
                      <a:pt x="0" y="0"/>
                    </a:moveTo>
                    <a:lnTo>
                      <a:pt x="69" y="137"/>
                    </a:lnTo>
                    <a:lnTo>
                      <a:pt x="137" y="0"/>
                    </a:lnTo>
                    <a:lnTo>
                      <a:pt x="0" y="0"/>
                    </a:lnTo>
                    <a:close/>
                  </a:path>
                </a:pathLst>
              </a:custGeom>
              <a:solidFill>
                <a:srgbClr val="9966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48" name="Group 61"/>
            <p:cNvGrpSpPr/>
            <p:nvPr/>
          </p:nvGrpSpPr>
          <p:grpSpPr bwMode="auto">
            <a:xfrm>
              <a:off x="2688" y="1326"/>
              <a:ext cx="137" cy="2160"/>
              <a:chOff x="3049" y="1326"/>
              <a:chExt cx="137" cy="2160"/>
            </a:xfrm>
          </p:grpSpPr>
          <p:sp>
            <p:nvSpPr>
              <p:cNvPr id="214" name="Rectangle 62"/>
              <p:cNvSpPr>
                <a:spLocks noChangeArrowheads="1"/>
              </p:cNvSpPr>
              <p:nvPr/>
            </p:nvSpPr>
            <p:spPr bwMode="auto">
              <a:xfrm>
                <a:off x="3100" y="1326"/>
                <a:ext cx="36" cy="2025"/>
              </a:xfrm>
              <a:prstGeom prst="rect">
                <a:avLst/>
              </a:prstGeom>
              <a:solidFill>
                <a:srgbClr val="996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15" name="Freeform 63"/>
              <p:cNvSpPr/>
              <p:nvPr/>
            </p:nvSpPr>
            <p:spPr bwMode="auto">
              <a:xfrm>
                <a:off x="3049" y="3349"/>
                <a:ext cx="137" cy="137"/>
              </a:xfrm>
              <a:custGeom>
                <a:avLst/>
                <a:gdLst>
                  <a:gd name="T0" fmla="*/ 0 w 137"/>
                  <a:gd name="T1" fmla="*/ 0 h 137"/>
                  <a:gd name="T2" fmla="*/ 69 w 137"/>
                  <a:gd name="T3" fmla="*/ 137 h 137"/>
                  <a:gd name="T4" fmla="*/ 137 w 137"/>
                  <a:gd name="T5" fmla="*/ 0 h 137"/>
                  <a:gd name="T6" fmla="*/ 0 w 137"/>
                  <a:gd name="T7" fmla="*/ 0 h 137"/>
                  <a:gd name="T8" fmla="*/ 0 60000 65536"/>
                  <a:gd name="T9" fmla="*/ 0 60000 65536"/>
                  <a:gd name="T10" fmla="*/ 0 60000 65536"/>
                  <a:gd name="T11" fmla="*/ 0 60000 65536"/>
                  <a:gd name="T12" fmla="*/ 0 w 137"/>
                  <a:gd name="T13" fmla="*/ 0 h 137"/>
                  <a:gd name="T14" fmla="*/ 137 w 137"/>
                  <a:gd name="T15" fmla="*/ 137 h 137"/>
                </a:gdLst>
                <a:ahLst/>
                <a:cxnLst>
                  <a:cxn ang="T8">
                    <a:pos x="T0" y="T1"/>
                  </a:cxn>
                  <a:cxn ang="T9">
                    <a:pos x="T2" y="T3"/>
                  </a:cxn>
                  <a:cxn ang="T10">
                    <a:pos x="T4" y="T5"/>
                  </a:cxn>
                  <a:cxn ang="T11">
                    <a:pos x="T6" y="T7"/>
                  </a:cxn>
                </a:cxnLst>
                <a:rect l="T12" t="T13" r="T14" b="T15"/>
                <a:pathLst>
                  <a:path w="137" h="137">
                    <a:moveTo>
                      <a:pt x="0" y="0"/>
                    </a:moveTo>
                    <a:lnTo>
                      <a:pt x="69" y="137"/>
                    </a:lnTo>
                    <a:lnTo>
                      <a:pt x="137" y="0"/>
                    </a:lnTo>
                    <a:lnTo>
                      <a:pt x="0" y="0"/>
                    </a:lnTo>
                    <a:close/>
                  </a:path>
                </a:pathLst>
              </a:custGeom>
              <a:solidFill>
                <a:srgbClr val="9966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49" name="Group 64"/>
            <p:cNvGrpSpPr/>
            <p:nvPr/>
          </p:nvGrpSpPr>
          <p:grpSpPr bwMode="auto">
            <a:xfrm>
              <a:off x="2784" y="1338"/>
              <a:ext cx="137" cy="1956"/>
              <a:chOff x="3145" y="1338"/>
              <a:chExt cx="137" cy="1956"/>
            </a:xfrm>
          </p:grpSpPr>
          <p:sp>
            <p:nvSpPr>
              <p:cNvPr id="212" name="Rectangle 65"/>
              <p:cNvSpPr>
                <a:spLocks noChangeArrowheads="1"/>
              </p:cNvSpPr>
              <p:nvPr/>
            </p:nvSpPr>
            <p:spPr bwMode="auto">
              <a:xfrm>
                <a:off x="3196" y="1338"/>
                <a:ext cx="36" cy="1821"/>
              </a:xfrm>
              <a:prstGeom prst="rect">
                <a:avLst/>
              </a:prstGeom>
              <a:solidFill>
                <a:srgbClr val="996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13" name="Freeform 66"/>
              <p:cNvSpPr/>
              <p:nvPr/>
            </p:nvSpPr>
            <p:spPr bwMode="auto">
              <a:xfrm>
                <a:off x="3145" y="3157"/>
                <a:ext cx="137" cy="137"/>
              </a:xfrm>
              <a:custGeom>
                <a:avLst/>
                <a:gdLst>
                  <a:gd name="T0" fmla="*/ 0 w 137"/>
                  <a:gd name="T1" fmla="*/ 0 h 137"/>
                  <a:gd name="T2" fmla="*/ 69 w 137"/>
                  <a:gd name="T3" fmla="*/ 137 h 137"/>
                  <a:gd name="T4" fmla="*/ 137 w 137"/>
                  <a:gd name="T5" fmla="*/ 0 h 137"/>
                  <a:gd name="T6" fmla="*/ 0 w 137"/>
                  <a:gd name="T7" fmla="*/ 0 h 137"/>
                  <a:gd name="T8" fmla="*/ 0 60000 65536"/>
                  <a:gd name="T9" fmla="*/ 0 60000 65536"/>
                  <a:gd name="T10" fmla="*/ 0 60000 65536"/>
                  <a:gd name="T11" fmla="*/ 0 60000 65536"/>
                  <a:gd name="T12" fmla="*/ 0 w 137"/>
                  <a:gd name="T13" fmla="*/ 0 h 137"/>
                  <a:gd name="T14" fmla="*/ 137 w 137"/>
                  <a:gd name="T15" fmla="*/ 137 h 137"/>
                </a:gdLst>
                <a:ahLst/>
                <a:cxnLst>
                  <a:cxn ang="T8">
                    <a:pos x="T0" y="T1"/>
                  </a:cxn>
                  <a:cxn ang="T9">
                    <a:pos x="T2" y="T3"/>
                  </a:cxn>
                  <a:cxn ang="T10">
                    <a:pos x="T4" y="T5"/>
                  </a:cxn>
                  <a:cxn ang="T11">
                    <a:pos x="T6" y="T7"/>
                  </a:cxn>
                </a:cxnLst>
                <a:rect l="T12" t="T13" r="T14" b="T15"/>
                <a:pathLst>
                  <a:path w="137" h="137">
                    <a:moveTo>
                      <a:pt x="0" y="0"/>
                    </a:moveTo>
                    <a:lnTo>
                      <a:pt x="69" y="137"/>
                    </a:lnTo>
                    <a:lnTo>
                      <a:pt x="137" y="0"/>
                    </a:lnTo>
                    <a:lnTo>
                      <a:pt x="0" y="0"/>
                    </a:lnTo>
                    <a:close/>
                  </a:path>
                </a:pathLst>
              </a:custGeom>
              <a:solidFill>
                <a:srgbClr val="9966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50" name="Group 67"/>
            <p:cNvGrpSpPr/>
            <p:nvPr/>
          </p:nvGrpSpPr>
          <p:grpSpPr bwMode="auto">
            <a:xfrm>
              <a:off x="2880" y="1338"/>
              <a:ext cx="137" cy="1764"/>
              <a:chOff x="3253" y="1338"/>
              <a:chExt cx="137" cy="1764"/>
            </a:xfrm>
          </p:grpSpPr>
          <p:sp>
            <p:nvSpPr>
              <p:cNvPr id="210" name="Rectangle 68"/>
              <p:cNvSpPr>
                <a:spLocks noChangeArrowheads="1"/>
              </p:cNvSpPr>
              <p:nvPr/>
            </p:nvSpPr>
            <p:spPr bwMode="auto">
              <a:xfrm>
                <a:off x="3304" y="1338"/>
                <a:ext cx="36" cy="1629"/>
              </a:xfrm>
              <a:prstGeom prst="rect">
                <a:avLst/>
              </a:prstGeom>
              <a:solidFill>
                <a:srgbClr val="9966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11" name="Freeform 69"/>
              <p:cNvSpPr/>
              <p:nvPr/>
            </p:nvSpPr>
            <p:spPr bwMode="auto">
              <a:xfrm>
                <a:off x="3253" y="2965"/>
                <a:ext cx="137" cy="137"/>
              </a:xfrm>
              <a:custGeom>
                <a:avLst/>
                <a:gdLst>
                  <a:gd name="T0" fmla="*/ 0 w 137"/>
                  <a:gd name="T1" fmla="*/ 0 h 137"/>
                  <a:gd name="T2" fmla="*/ 69 w 137"/>
                  <a:gd name="T3" fmla="*/ 137 h 137"/>
                  <a:gd name="T4" fmla="*/ 137 w 137"/>
                  <a:gd name="T5" fmla="*/ 0 h 137"/>
                  <a:gd name="T6" fmla="*/ 0 w 137"/>
                  <a:gd name="T7" fmla="*/ 0 h 137"/>
                  <a:gd name="T8" fmla="*/ 0 60000 65536"/>
                  <a:gd name="T9" fmla="*/ 0 60000 65536"/>
                  <a:gd name="T10" fmla="*/ 0 60000 65536"/>
                  <a:gd name="T11" fmla="*/ 0 60000 65536"/>
                  <a:gd name="T12" fmla="*/ 0 w 137"/>
                  <a:gd name="T13" fmla="*/ 0 h 137"/>
                  <a:gd name="T14" fmla="*/ 137 w 137"/>
                  <a:gd name="T15" fmla="*/ 137 h 137"/>
                </a:gdLst>
                <a:ahLst/>
                <a:cxnLst>
                  <a:cxn ang="T8">
                    <a:pos x="T0" y="T1"/>
                  </a:cxn>
                  <a:cxn ang="T9">
                    <a:pos x="T2" y="T3"/>
                  </a:cxn>
                  <a:cxn ang="T10">
                    <a:pos x="T4" y="T5"/>
                  </a:cxn>
                  <a:cxn ang="T11">
                    <a:pos x="T6" y="T7"/>
                  </a:cxn>
                </a:cxnLst>
                <a:rect l="T12" t="T13" r="T14" b="T15"/>
                <a:pathLst>
                  <a:path w="137" h="137">
                    <a:moveTo>
                      <a:pt x="0" y="0"/>
                    </a:moveTo>
                    <a:lnTo>
                      <a:pt x="69" y="137"/>
                    </a:lnTo>
                    <a:lnTo>
                      <a:pt x="137" y="0"/>
                    </a:lnTo>
                    <a:lnTo>
                      <a:pt x="0" y="0"/>
                    </a:lnTo>
                    <a:close/>
                  </a:path>
                </a:pathLst>
              </a:custGeom>
              <a:solidFill>
                <a:srgbClr val="9966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51" name="Group 70"/>
            <p:cNvGrpSpPr/>
            <p:nvPr/>
          </p:nvGrpSpPr>
          <p:grpSpPr bwMode="auto">
            <a:xfrm>
              <a:off x="3936" y="1662"/>
              <a:ext cx="137" cy="2184"/>
              <a:chOff x="4813" y="1662"/>
              <a:chExt cx="137" cy="2184"/>
            </a:xfrm>
          </p:grpSpPr>
          <p:sp>
            <p:nvSpPr>
              <p:cNvPr id="208" name="Rectangle 71"/>
              <p:cNvSpPr>
                <a:spLocks noChangeArrowheads="1"/>
              </p:cNvSpPr>
              <p:nvPr/>
            </p:nvSpPr>
            <p:spPr bwMode="auto">
              <a:xfrm>
                <a:off x="4864" y="1662"/>
                <a:ext cx="36" cy="2049"/>
              </a:xfrm>
              <a:prstGeom prst="rect">
                <a:avLst/>
              </a:prstGeom>
              <a:solidFill>
                <a:srgbClr val="3333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09" name="Freeform 72"/>
              <p:cNvSpPr/>
              <p:nvPr/>
            </p:nvSpPr>
            <p:spPr bwMode="auto">
              <a:xfrm>
                <a:off x="4813" y="3709"/>
                <a:ext cx="137" cy="137"/>
              </a:xfrm>
              <a:custGeom>
                <a:avLst/>
                <a:gdLst>
                  <a:gd name="T0" fmla="*/ 0 w 137"/>
                  <a:gd name="T1" fmla="*/ 0 h 137"/>
                  <a:gd name="T2" fmla="*/ 69 w 137"/>
                  <a:gd name="T3" fmla="*/ 137 h 137"/>
                  <a:gd name="T4" fmla="*/ 137 w 137"/>
                  <a:gd name="T5" fmla="*/ 0 h 137"/>
                  <a:gd name="T6" fmla="*/ 0 w 137"/>
                  <a:gd name="T7" fmla="*/ 0 h 137"/>
                  <a:gd name="T8" fmla="*/ 0 60000 65536"/>
                  <a:gd name="T9" fmla="*/ 0 60000 65536"/>
                  <a:gd name="T10" fmla="*/ 0 60000 65536"/>
                  <a:gd name="T11" fmla="*/ 0 60000 65536"/>
                  <a:gd name="T12" fmla="*/ 0 w 137"/>
                  <a:gd name="T13" fmla="*/ 0 h 137"/>
                  <a:gd name="T14" fmla="*/ 137 w 137"/>
                  <a:gd name="T15" fmla="*/ 137 h 137"/>
                </a:gdLst>
                <a:ahLst/>
                <a:cxnLst>
                  <a:cxn ang="T8">
                    <a:pos x="T0" y="T1"/>
                  </a:cxn>
                  <a:cxn ang="T9">
                    <a:pos x="T2" y="T3"/>
                  </a:cxn>
                  <a:cxn ang="T10">
                    <a:pos x="T4" y="T5"/>
                  </a:cxn>
                  <a:cxn ang="T11">
                    <a:pos x="T6" y="T7"/>
                  </a:cxn>
                </a:cxnLst>
                <a:rect l="T12" t="T13" r="T14" b="T15"/>
                <a:pathLst>
                  <a:path w="137" h="137">
                    <a:moveTo>
                      <a:pt x="0" y="0"/>
                    </a:moveTo>
                    <a:lnTo>
                      <a:pt x="69" y="137"/>
                    </a:lnTo>
                    <a:lnTo>
                      <a:pt x="137" y="0"/>
                    </a:lnTo>
                    <a:lnTo>
                      <a:pt x="0" y="0"/>
                    </a:lnTo>
                    <a:close/>
                  </a:path>
                </a:pathLst>
              </a:custGeom>
              <a:solidFill>
                <a:srgbClr val="3333FF"/>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52" name="Group 73"/>
            <p:cNvGrpSpPr/>
            <p:nvPr/>
          </p:nvGrpSpPr>
          <p:grpSpPr bwMode="auto">
            <a:xfrm>
              <a:off x="4032" y="1674"/>
              <a:ext cx="137" cy="2004"/>
              <a:chOff x="4921" y="1674"/>
              <a:chExt cx="137" cy="2004"/>
            </a:xfrm>
          </p:grpSpPr>
          <p:sp>
            <p:nvSpPr>
              <p:cNvPr id="206" name="Rectangle 74"/>
              <p:cNvSpPr>
                <a:spLocks noChangeArrowheads="1"/>
              </p:cNvSpPr>
              <p:nvPr/>
            </p:nvSpPr>
            <p:spPr bwMode="auto">
              <a:xfrm>
                <a:off x="4972" y="1674"/>
                <a:ext cx="36" cy="1869"/>
              </a:xfrm>
              <a:prstGeom prst="rect">
                <a:avLst/>
              </a:prstGeom>
              <a:solidFill>
                <a:srgbClr val="3333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07" name="Freeform 75"/>
              <p:cNvSpPr/>
              <p:nvPr/>
            </p:nvSpPr>
            <p:spPr bwMode="auto">
              <a:xfrm>
                <a:off x="4921" y="3541"/>
                <a:ext cx="137" cy="137"/>
              </a:xfrm>
              <a:custGeom>
                <a:avLst/>
                <a:gdLst>
                  <a:gd name="T0" fmla="*/ 0 w 137"/>
                  <a:gd name="T1" fmla="*/ 0 h 137"/>
                  <a:gd name="T2" fmla="*/ 69 w 137"/>
                  <a:gd name="T3" fmla="*/ 137 h 137"/>
                  <a:gd name="T4" fmla="*/ 137 w 137"/>
                  <a:gd name="T5" fmla="*/ 0 h 137"/>
                  <a:gd name="T6" fmla="*/ 0 w 137"/>
                  <a:gd name="T7" fmla="*/ 0 h 137"/>
                  <a:gd name="T8" fmla="*/ 0 60000 65536"/>
                  <a:gd name="T9" fmla="*/ 0 60000 65536"/>
                  <a:gd name="T10" fmla="*/ 0 60000 65536"/>
                  <a:gd name="T11" fmla="*/ 0 60000 65536"/>
                  <a:gd name="T12" fmla="*/ 0 w 137"/>
                  <a:gd name="T13" fmla="*/ 0 h 137"/>
                  <a:gd name="T14" fmla="*/ 137 w 137"/>
                  <a:gd name="T15" fmla="*/ 137 h 137"/>
                </a:gdLst>
                <a:ahLst/>
                <a:cxnLst>
                  <a:cxn ang="T8">
                    <a:pos x="T0" y="T1"/>
                  </a:cxn>
                  <a:cxn ang="T9">
                    <a:pos x="T2" y="T3"/>
                  </a:cxn>
                  <a:cxn ang="T10">
                    <a:pos x="T4" y="T5"/>
                  </a:cxn>
                  <a:cxn ang="T11">
                    <a:pos x="T6" y="T7"/>
                  </a:cxn>
                </a:cxnLst>
                <a:rect l="T12" t="T13" r="T14" b="T15"/>
                <a:pathLst>
                  <a:path w="137" h="137">
                    <a:moveTo>
                      <a:pt x="0" y="0"/>
                    </a:moveTo>
                    <a:lnTo>
                      <a:pt x="69" y="137"/>
                    </a:lnTo>
                    <a:lnTo>
                      <a:pt x="137" y="0"/>
                    </a:lnTo>
                    <a:lnTo>
                      <a:pt x="0" y="0"/>
                    </a:lnTo>
                    <a:close/>
                  </a:path>
                </a:pathLst>
              </a:custGeom>
              <a:solidFill>
                <a:srgbClr val="3333FF"/>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53" name="Group 76"/>
            <p:cNvGrpSpPr/>
            <p:nvPr/>
          </p:nvGrpSpPr>
          <p:grpSpPr bwMode="auto">
            <a:xfrm>
              <a:off x="4128" y="1674"/>
              <a:ext cx="137" cy="1824"/>
              <a:chOff x="5053" y="1674"/>
              <a:chExt cx="137" cy="1824"/>
            </a:xfrm>
          </p:grpSpPr>
          <p:sp>
            <p:nvSpPr>
              <p:cNvPr id="204" name="Rectangle 77"/>
              <p:cNvSpPr>
                <a:spLocks noChangeArrowheads="1"/>
              </p:cNvSpPr>
              <p:nvPr/>
            </p:nvSpPr>
            <p:spPr bwMode="auto">
              <a:xfrm>
                <a:off x="5104" y="1674"/>
                <a:ext cx="36" cy="1689"/>
              </a:xfrm>
              <a:prstGeom prst="rect">
                <a:avLst/>
              </a:prstGeom>
              <a:solidFill>
                <a:srgbClr val="3333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05" name="Freeform 78"/>
              <p:cNvSpPr/>
              <p:nvPr/>
            </p:nvSpPr>
            <p:spPr bwMode="auto">
              <a:xfrm>
                <a:off x="5053" y="3361"/>
                <a:ext cx="137" cy="137"/>
              </a:xfrm>
              <a:custGeom>
                <a:avLst/>
                <a:gdLst>
                  <a:gd name="T0" fmla="*/ 0 w 137"/>
                  <a:gd name="T1" fmla="*/ 0 h 137"/>
                  <a:gd name="T2" fmla="*/ 69 w 137"/>
                  <a:gd name="T3" fmla="*/ 137 h 137"/>
                  <a:gd name="T4" fmla="*/ 137 w 137"/>
                  <a:gd name="T5" fmla="*/ 0 h 137"/>
                  <a:gd name="T6" fmla="*/ 0 w 137"/>
                  <a:gd name="T7" fmla="*/ 0 h 137"/>
                  <a:gd name="T8" fmla="*/ 0 60000 65536"/>
                  <a:gd name="T9" fmla="*/ 0 60000 65536"/>
                  <a:gd name="T10" fmla="*/ 0 60000 65536"/>
                  <a:gd name="T11" fmla="*/ 0 60000 65536"/>
                  <a:gd name="T12" fmla="*/ 0 w 137"/>
                  <a:gd name="T13" fmla="*/ 0 h 137"/>
                  <a:gd name="T14" fmla="*/ 137 w 137"/>
                  <a:gd name="T15" fmla="*/ 137 h 137"/>
                </a:gdLst>
                <a:ahLst/>
                <a:cxnLst>
                  <a:cxn ang="T8">
                    <a:pos x="T0" y="T1"/>
                  </a:cxn>
                  <a:cxn ang="T9">
                    <a:pos x="T2" y="T3"/>
                  </a:cxn>
                  <a:cxn ang="T10">
                    <a:pos x="T4" y="T5"/>
                  </a:cxn>
                  <a:cxn ang="T11">
                    <a:pos x="T6" y="T7"/>
                  </a:cxn>
                </a:cxnLst>
                <a:rect l="T12" t="T13" r="T14" b="T15"/>
                <a:pathLst>
                  <a:path w="137" h="137">
                    <a:moveTo>
                      <a:pt x="0" y="0"/>
                    </a:moveTo>
                    <a:lnTo>
                      <a:pt x="69" y="137"/>
                    </a:lnTo>
                    <a:lnTo>
                      <a:pt x="137" y="0"/>
                    </a:lnTo>
                    <a:lnTo>
                      <a:pt x="0" y="0"/>
                    </a:lnTo>
                    <a:close/>
                  </a:path>
                </a:pathLst>
              </a:custGeom>
              <a:solidFill>
                <a:srgbClr val="3333FF"/>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54" name="Group 79"/>
            <p:cNvGrpSpPr/>
            <p:nvPr/>
          </p:nvGrpSpPr>
          <p:grpSpPr bwMode="auto">
            <a:xfrm>
              <a:off x="4224" y="1662"/>
              <a:ext cx="137" cy="1620"/>
              <a:chOff x="5185" y="1662"/>
              <a:chExt cx="137" cy="1620"/>
            </a:xfrm>
          </p:grpSpPr>
          <p:sp>
            <p:nvSpPr>
              <p:cNvPr id="202" name="Rectangle 80"/>
              <p:cNvSpPr>
                <a:spLocks noChangeArrowheads="1"/>
              </p:cNvSpPr>
              <p:nvPr/>
            </p:nvSpPr>
            <p:spPr bwMode="auto">
              <a:xfrm>
                <a:off x="5236" y="1662"/>
                <a:ext cx="36" cy="1485"/>
              </a:xfrm>
              <a:prstGeom prst="rect">
                <a:avLst/>
              </a:prstGeom>
              <a:solidFill>
                <a:srgbClr val="3333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03" name="Freeform 81"/>
              <p:cNvSpPr/>
              <p:nvPr/>
            </p:nvSpPr>
            <p:spPr bwMode="auto">
              <a:xfrm>
                <a:off x="5185" y="3145"/>
                <a:ext cx="137" cy="137"/>
              </a:xfrm>
              <a:custGeom>
                <a:avLst/>
                <a:gdLst>
                  <a:gd name="T0" fmla="*/ 0 w 137"/>
                  <a:gd name="T1" fmla="*/ 0 h 137"/>
                  <a:gd name="T2" fmla="*/ 69 w 137"/>
                  <a:gd name="T3" fmla="*/ 137 h 137"/>
                  <a:gd name="T4" fmla="*/ 137 w 137"/>
                  <a:gd name="T5" fmla="*/ 0 h 137"/>
                  <a:gd name="T6" fmla="*/ 0 w 137"/>
                  <a:gd name="T7" fmla="*/ 0 h 137"/>
                  <a:gd name="T8" fmla="*/ 0 60000 65536"/>
                  <a:gd name="T9" fmla="*/ 0 60000 65536"/>
                  <a:gd name="T10" fmla="*/ 0 60000 65536"/>
                  <a:gd name="T11" fmla="*/ 0 60000 65536"/>
                  <a:gd name="T12" fmla="*/ 0 w 137"/>
                  <a:gd name="T13" fmla="*/ 0 h 137"/>
                  <a:gd name="T14" fmla="*/ 137 w 137"/>
                  <a:gd name="T15" fmla="*/ 137 h 137"/>
                </a:gdLst>
                <a:ahLst/>
                <a:cxnLst>
                  <a:cxn ang="T8">
                    <a:pos x="T0" y="T1"/>
                  </a:cxn>
                  <a:cxn ang="T9">
                    <a:pos x="T2" y="T3"/>
                  </a:cxn>
                  <a:cxn ang="T10">
                    <a:pos x="T4" y="T5"/>
                  </a:cxn>
                  <a:cxn ang="T11">
                    <a:pos x="T6" y="T7"/>
                  </a:cxn>
                </a:cxnLst>
                <a:rect l="T12" t="T13" r="T14" b="T15"/>
                <a:pathLst>
                  <a:path w="137" h="137">
                    <a:moveTo>
                      <a:pt x="0" y="0"/>
                    </a:moveTo>
                    <a:lnTo>
                      <a:pt x="69" y="137"/>
                    </a:lnTo>
                    <a:lnTo>
                      <a:pt x="137" y="0"/>
                    </a:lnTo>
                    <a:lnTo>
                      <a:pt x="0" y="0"/>
                    </a:lnTo>
                    <a:close/>
                  </a:path>
                </a:pathLst>
              </a:custGeom>
              <a:solidFill>
                <a:srgbClr val="3333FF"/>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55" name="Group 82"/>
            <p:cNvGrpSpPr/>
            <p:nvPr/>
          </p:nvGrpSpPr>
          <p:grpSpPr bwMode="auto">
            <a:xfrm>
              <a:off x="4320" y="1686"/>
              <a:ext cx="137" cy="1428"/>
              <a:chOff x="5305" y="1686"/>
              <a:chExt cx="137" cy="1428"/>
            </a:xfrm>
          </p:grpSpPr>
          <p:sp>
            <p:nvSpPr>
              <p:cNvPr id="200" name="Rectangle 83"/>
              <p:cNvSpPr>
                <a:spLocks noChangeArrowheads="1"/>
              </p:cNvSpPr>
              <p:nvPr/>
            </p:nvSpPr>
            <p:spPr bwMode="auto">
              <a:xfrm>
                <a:off x="5356" y="1686"/>
                <a:ext cx="36" cy="1293"/>
              </a:xfrm>
              <a:prstGeom prst="rect">
                <a:avLst/>
              </a:prstGeom>
              <a:solidFill>
                <a:srgbClr val="3333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01" name="Freeform 84"/>
              <p:cNvSpPr/>
              <p:nvPr/>
            </p:nvSpPr>
            <p:spPr bwMode="auto">
              <a:xfrm>
                <a:off x="5305" y="2977"/>
                <a:ext cx="137" cy="137"/>
              </a:xfrm>
              <a:custGeom>
                <a:avLst/>
                <a:gdLst>
                  <a:gd name="T0" fmla="*/ 0 w 137"/>
                  <a:gd name="T1" fmla="*/ 0 h 137"/>
                  <a:gd name="T2" fmla="*/ 69 w 137"/>
                  <a:gd name="T3" fmla="*/ 137 h 137"/>
                  <a:gd name="T4" fmla="*/ 137 w 137"/>
                  <a:gd name="T5" fmla="*/ 0 h 137"/>
                  <a:gd name="T6" fmla="*/ 0 w 137"/>
                  <a:gd name="T7" fmla="*/ 0 h 137"/>
                  <a:gd name="T8" fmla="*/ 0 60000 65536"/>
                  <a:gd name="T9" fmla="*/ 0 60000 65536"/>
                  <a:gd name="T10" fmla="*/ 0 60000 65536"/>
                  <a:gd name="T11" fmla="*/ 0 60000 65536"/>
                  <a:gd name="T12" fmla="*/ 0 w 137"/>
                  <a:gd name="T13" fmla="*/ 0 h 137"/>
                  <a:gd name="T14" fmla="*/ 137 w 137"/>
                  <a:gd name="T15" fmla="*/ 137 h 137"/>
                </a:gdLst>
                <a:ahLst/>
                <a:cxnLst>
                  <a:cxn ang="T8">
                    <a:pos x="T0" y="T1"/>
                  </a:cxn>
                  <a:cxn ang="T9">
                    <a:pos x="T2" y="T3"/>
                  </a:cxn>
                  <a:cxn ang="T10">
                    <a:pos x="T4" y="T5"/>
                  </a:cxn>
                  <a:cxn ang="T11">
                    <a:pos x="T6" y="T7"/>
                  </a:cxn>
                </a:cxnLst>
                <a:rect l="T12" t="T13" r="T14" b="T15"/>
                <a:pathLst>
                  <a:path w="137" h="137">
                    <a:moveTo>
                      <a:pt x="0" y="0"/>
                    </a:moveTo>
                    <a:lnTo>
                      <a:pt x="69" y="137"/>
                    </a:lnTo>
                    <a:lnTo>
                      <a:pt x="137" y="0"/>
                    </a:lnTo>
                    <a:lnTo>
                      <a:pt x="0" y="0"/>
                    </a:lnTo>
                    <a:close/>
                  </a:path>
                </a:pathLst>
              </a:custGeom>
              <a:solidFill>
                <a:srgbClr val="3333FF"/>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56" name="Group 85"/>
            <p:cNvGrpSpPr/>
            <p:nvPr/>
          </p:nvGrpSpPr>
          <p:grpSpPr bwMode="auto">
            <a:xfrm>
              <a:off x="1248" y="768"/>
              <a:ext cx="492" cy="107"/>
              <a:chOff x="1440" y="906"/>
              <a:chExt cx="492" cy="107"/>
            </a:xfrm>
          </p:grpSpPr>
          <p:grpSp>
            <p:nvGrpSpPr>
              <p:cNvPr id="196" name="Group 86"/>
              <p:cNvGrpSpPr/>
              <p:nvPr/>
            </p:nvGrpSpPr>
            <p:grpSpPr bwMode="auto">
              <a:xfrm>
                <a:off x="1776" y="906"/>
                <a:ext cx="156" cy="107"/>
                <a:chOff x="1853" y="906"/>
                <a:chExt cx="156" cy="107"/>
              </a:xfrm>
            </p:grpSpPr>
            <p:sp>
              <p:nvSpPr>
                <p:cNvPr id="198" name="Rectangle 87"/>
                <p:cNvSpPr>
                  <a:spLocks noChangeArrowheads="1"/>
                </p:cNvSpPr>
                <p:nvPr/>
              </p:nvSpPr>
              <p:spPr bwMode="auto">
                <a:xfrm>
                  <a:off x="1853" y="947"/>
                  <a:ext cx="51" cy="2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99" name="Freeform 88"/>
                <p:cNvSpPr/>
                <p:nvPr/>
              </p:nvSpPr>
              <p:spPr bwMode="auto">
                <a:xfrm>
                  <a:off x="1902" y="906"/>
                  <a:ext cx="107" cy="107"/>
                </a:xfrm>
                <a:custGeom>
                  <a:avLst/>
                  <a:gdLst>
                    <a:gd name="T0" fmla="*/ 0 w 107"/>
                    <a:gd name="T1" fmla="*/ 107 h 107"/>
                    <a:gd name="T2" fmla="*/ 107 w 107"/>
                    <a:gd name="T3" fmla="*/ 54 h 107"/>
                    <a:gd name="T4" fmla="*/ 0 w 107"/>
                    <a:gd name="T5" fmla="*/ 0 h 107"/>
                    <a:gd name="T6" fmla="*/ 0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0" y="107"/>
                      </a:moveTo>
                      <a:lnTo>
                        <a:pt x="107" y="54"/>
                      </a:lnTo>
                      <a:lnTo>
                        <a:pt x="0" y="0"/>
                      </a:lnTo>
                      <a:lnTo>
                        <a:pt x="0" y="10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197" name="Freeform 89"/>
              <p:cNvSpPr/>
              <p:nvPr/>
            </p:nvSpPr>
            <p:spPr bwMode="auto">
              <a:xfrm>
                <a:off x="1440" y="912"/>
                <a:ext cx="351" cy="97"/>
              </a:xfrm>
              <a:custGeom>
                <a:avLst/>
                <a:gdLst>
                  <a:gd name="T0" fmla="*/ 15 w 351"/>
                  <a:gd name="T1" fmla="*/ 39 h 97"/>
                  <a:gd name="T2" fmla="*/ 36 w 351"/>
                  <a:gd name="T3" fmla="*/ 43 h 97"/>
                  <a:gd name="T4" fmla="*/ 44 w 351"/>
                  <a:gd name="T5" fmla="*/ 47 h 97"/>
                  <a:gd name="T6" fmla="*/ 54 w 351"/>
                  <a:gd name="T7" fmla="*/ 41 h 97"/>
                  <a:gd name="T8" fmla="*/ 44 w 351"/>
                  <a:gd name="T9" fmla="*/ 45 h 97"/>
                  <a:gd name="T10" fmla="*/ 49 w 351"/>
                  <a:gd name="T11" fmla="*/ 74 h 97"/>
                  <a:gd name="T12" fmla="*/ 66 w 351"/>
                  <a:gd name="T13" fmla="*/ 89 h 97"/>
                  <a:gd name="T14" fmla="*/ 90 w 351"/>
                  <a:gd name="T15" fmla="*/ 83 h 97"/>
                  <a:gd name="T16" fmla="*/ 104 w 351"/>
                  <a:gd name="T17" fmla="*/ 96 h 97"/>
                  <a:gd name="T18" fmla="*/ 112 w 351"/>
                  <a:gd name="T19" fmla="*/ 67 h 97"/>
                  <a:gd name="T20" fmla="*/ 134 w 351"/>
                  <a:gd name="T21" fmla="*/ 54 h 97"/>
                  <a:gd name="T22" fmla="*/ 137 w 351"/>
                  <a:gd name="T23" fmla="*/ 44 h 97"/>
                  <a:gd name="T24" fmla="*/ 138 w 351"/>
                  <a:gd name="T25" fmla="*/ 33 h 97"/>
                  <a:gd name="T26" fmla="*/ 140 w 351"/>
                  <a:gd name="T27" fmla="*/ 24 h 97"/>
                  <a:gd name="T28" fmla="*/ 135 w 351"/>
                  <a:gd name="T29" fmla="*/ 13 h 97"/>
                  <a:gd name="T30" fmla="*/ 142 w 351"/>
                  <a:gd name="T31" fmla="*/ 24 h 97"/>
                  <a:gd name="T32" fmla="*/ 153 w 351"/>
                  <a:gd name="T33" fmla="*/ 24 h 97"/>
                  <a:gd name="T34" fmla="*/ 195 w 351"/>
                  <a:gd name="T35" fmla="*/ 25 h 97"/>
                  <a:gd name="T36" fmla="*/ 188 w 351"/>
                  <a:gd name="T37" fmla="*/ 36 h 97"/>
                  <a:gd name="T38" fmla="*/ 208 w 351"/>
                  <a:gd name="T39" fmla="*/ 67 h 97"/>
                  <a:gd name="T40" fmla="*/ 234 w 351"/>
                  <a:gd name="T41" fmla="*/ 85 h 97"/>
                  <a:gd name="T42" fmla="*/ 254 w 351"/>
                  <a:gd name="T43" fmla="*/ 86 h 97"/>
                  <a:gd name="T44" fmla="*/ 271 w 351"/>
                  <a:gd name="T45" fmla="*/ 75 h 97"/>
                  <a:gd name="T46" fmla="*/ 286 w 351"/>
                  <a:gd name="T47" fmla="*/ 45 h 97"/>
                  <a:gd name="T48" fmla="*/ 295 w 351"/>
                  <a:gd name="T49" fmla="*/ 40 h 97"/>
                  <a:gd name="T50" fmla="*/ 309 w 351"/>
                  <a:gd name="T51" fmla="*/ 37 h 97"/>
                  <a:gd name="T52" fmla="*/ 333 w 351"/>
                  <a:gd name="T53" fmla="*/ 37 h 97"/>
                  <a:gd name="T54" fmla="*/ 314 w 351"/>
                  <a:gd name="T55" fmla="*/ 13 h 97"/>
                  <a:gd name="T56" fmla="*/ 282 w 351"/>
                  <a:gd name="T57" fmla="*/ 21 h 97"/>
                  <a:gd name="T58" fmla="*/ 264 w 351"/>
                  <a:gd name="T59" fmla="*/ 36 h 97"/>
                  <a:gd name="T60" fmla="*/ 263 w 351"/>
                  <a:gd name="T61" fmla="*/ 67 h 97"/>
                  <a:gd name="T62" fmla="*/ 255 w 351"/>
                  <a:gd name="T63" fmla="*/ 59 h 97"/>
                  <a:gd name="T64" fmla="*/ 249 w 351"/>
                  <a:gd name="T65" fmla="*/ 63 h 97"/>
                  <a:gd name="T66" fmla="*/ 243 w 351"/>
                  <a:gd name="T67" fmla="*/ 63 h 97"/>
                  <a:gd name="T68" fmla="*/ 233 w 351"/>
                  <a:gd name="T69" fmla="*/ 58 h 97"/>
                  <a:gd name="T70" fmla="*/ 221 w 351"/>
                  <a:gd name="T71" fmla="*/ 45 h 97"/>
                  <a:gd name="T72" fmla="*/ 203 w 351"/>
                  <a:gd name="T73" fmla="*/ 17 h 97"/>
                  <a:gd name="T74" fmla="*/ 169 w 351"/>
                  <a:gd name="T75" fmla="*/ 4 h 97"/>
                  <a:gd name="T76" fmla="*/ 142 w 351"/>
                  <a:gd name="T77" fmla="*/ 0 h 97"/>
                  <a:gd name="T78" fmla="*/ 127 w 351"/>
                  <a:gd name="T79" fmla="*/ 4 h 97"/>
                  <a:gd name="T80" fmla="*/ 116 w 351"/>
                  <a:gd name="T81" fmla="*/ 24 h 97"/>
                  <a:gd name="T82" fmla="*/ 113 w 351"/>
                  <a:gd name="T83" fmla="*/ 44 h 97"/>
                  <a:gd name="T84" fmla="*/ 113 w 351"/>
                  <a:gd name="T85" fmla="*/ 44 h 97"/>
                  <a:gd name="T86" fmla="*/ 103 w 351"/>
                  <a:gd name="T87" fmla="*/ 59 h 97"/>
                  <a:gd name="T88" fmla="*/ 94 w 351"/>
                  <a:gd name="T89" fmla="*/ 74 h 97"/>
                  <a:gd name="T90" fmla="*/ 94 w 351"/>
                  <a:gd name="T91" fmla="*/ 72 h 97"/>
                  <a:gd name="T92" fmla="*/ 84 w 351"/>
                  <a:gd name="T93" fmla="*/ 70 h 97"/>
                  <a:gd name="T94" fmla="*/ 72 w 351"/>
                  <a:gd name="T95" fmla="*/ 65 h 97"/>
                  <a:gd name="T96" fmla="*/ 70 w 351"/>
                  <a:gd name="T97" fmla="*/ 60 h 97"/>
                  <a:gd name="T98" fmla="*/ 68 w 351"/>
                  <a:gd name="T99" fmla="*/ 45 h 97"/>
                  <a:gd name="T100" fmla="*/ 59 w 351"/>
                  <a:gd name="T101" fmla="*/ 28 h 97"/>
                  <a:gd name="T102" fmla="*/ 45 w 351"/>
                  <a:gd name="T103" fmla="*/ 21 h 97"/>
                  <a:gd name="T104" fmla="*/ 15 w 351"/>
                  <a:gd name="T105" fmla="*/ 27 h 9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51"/>
                  <a:gd name="T160" fmla="*/ 0 h 97"/>
                  <a:gd name="T161" fmla="*/ 351 w 351"/>
                  <a:gd name="T162" fmla="*/ 97 h 97"/>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51" h="97">
                    <a:moveTo>
                      <a:pt x="6" y="14"/>
                    </a:moveTo>
                    <a:lnTo>
                      <a:pt x="0" y="37"/>
                    </a:lnTo>
                    <a:lnTo>
                      <a:pt x="11" y="38"/>
                    </a:lnTo>
                    <a:lnTo>
                      <a:pt x="15" y="39"/>
                    </a:lnTo>
                    <a:lnTo>
                      <a:pt x="28" y="41"/>
                    </a:lnTo>
                    <a:lnTo>
                      <a:pt x="28" y="29"/>
                    </a:lnTo>
                    <a:lnTo>
                      <a:pt x="24" y="40"/>
                    </a:lnTo>
                    <a:lnTo>
                      <a:pt x="36" y="43"/>
                    </a:lnTo>
                    <a:lnTo>
                      <a:pt x="41" y="45"/>
                    </a:lnTo>
                    <a:lnTo>
                      <a:pt x="46" y="34"/>
                    </a:lnTo>
                    <a:lnTo>
                      <a:pt x="37" y="42"/>
                    </a:lnTo>
                    <a:lnTo>
                      <a:pt x="44" y="47"/>
                    </a:lnTo>
                    <a:lnTo>
                      <a:pt x="51" y="37"/>
                    </a:lnTo>
                    <a:lnTo>
                      <a:pt x="44" y="46"/>
                    </a:lnTo>
                    <a:lnTo>
                      <a:pt x="46" y="49"/>
                    </a:lnTo>
                    <a:lnTo>
                      <a:pt x="54" y="41"/>
                    </a:lnTo>
                    <a:lnTo>
                      <a:pt x="43" y="45"/>
                    </a:lnTo>
                    <a:lnTo>
                      <a:pt x="45" y="49"/>
                    </a:lnTo>
                    <a:lnTo>
                      <a:pt x="56" y="45"/>
                    </a:lnTo>
                    <a:lnTo>
                      <a:pt x="44" y="45"/>
                    </a:lnTo>
                    <a:lnTo>
                      <a:pt x="45" y="55"/>
                    </a:lnTo>
                    <a:lnTo>
                      <a:pt x="47" y="65"/>
                    </a:lnTo>
                    <a:lnTo>
                      <a:pt x="48" y="69"/>
                    </a:lnTo>
                    <a:lnTo>
                      <a:pt x="49" y="74"/>
                    </a:lnTo>
                    <a:lnTo>
                      <a:pt x="52" y="78"/>
                    </a:lnTo>
                    <a:lnTo>
                      <a:pt x="55" y="82"/>
                    </a:lnTo>
                    <a:lnTo>
                      <a:pt x="62" y="87"/>
                    </a:lnTo>
                    <a:lnTo>
                      <a:pt x="66" y="89"/>
                    </a:lnTo>
                    <a:lnTo>
                      <a:pt x="75" y="92"/>
                    </a:lnTo>
                    <a:lnTo>
                      <a:pt x="80" y="93"/>
                    </a:lnTo>
                    <a:lnTo>
                      <a:pt x="90" y="95"/>
                    </a:lnTo>
                    <a:lnTo>
                      <a:pt x="90" y="83"/>
                    </a:lnTo>
                    <a:lnTo>
                      <a:pt x="85" y="94"/>
                    </a:lnTo>
                    <a:lnTo>
                      <a:pt x="95" y="96"/>
                    </a:lnTo>
                    <a:lnTo>
                      <a:pt x="99" y="97"/>
                    </a:lnTo>
                    <a:lnTo>
                      <a:pt x="104" y="96"/>
                    </a:lnTo>
                    <a:lnTo>
                      <a:pt x="107" y="93"/>
                    </a:lnTo>
                    <a:lnTo>
                      <a:pt x="109" y="92"/>
                    </a:lnTo>
                    <a:lnTo>
                      <a:pt x="123" y="72"/>
                    </a:lnTo>
                    <a:lnTo>
                      <a:pt x="112" y="67"/>
                    </a:lnTo>
                    <a:lnTo>
                      <a:pt x="120" y="76"/>
                    </a:lnTo>
                    <a:lnTo>
                      <a:pt x="126" y="67"/>
                    </a:lnTo>
                    <a:lnTo>
                      <a:pt x="129" y="63"/>
                    </a:lnTo>
                    <a:lnTo>
                      <a:pt x="134" y="54"/>
                    </a:lnTo>
                    <a:lnTo>
                      <a:pt x="123" y="49"/>
                    </a:lnTo>
                    <a:lnTo>
                      <a:pt x="134" y="55"/>
                    </a:lnTo>
                    <a:lnTo>
                      <a:pt x="136" y="49"/>
                    </a:lnTo>
                    <a:lnTo>
                      <a:pt x="137" y="44"/>
                    </a:lnTo>
                    <a:lnTo>
                      <a:pt x="138" y="39"/>
                    </a:lnTo>
                    <a:lnTo>
                      <a:pt x="139" y="28"/>
                    </a:lnTo>
                    <a:lnTo>
                      <a:pt x="127" y="28"/>
                    </a:lnTo>
                    <a:lnTo>
                      <a:pt x="138" y="33"/>
                    </a:lnTo>
                    <a:lnTo>
                      <a:pt x="140" y="23"/>
                    </a:lnTo>
                    <a:lnTo>
                      <a:pt x="129" y="19"/>
                    </a:lnTo>
                    <a:lnTo>
                      <a:pt x="137" y="27"/>
                    </a:lnTo>
                    <a:lnTo>
                      <a:pt x="140" y="24"/>
                    </a:lnTo>
                    <a:lnTo>
                      <a:pt x="131" y="15"/>
                    </a:lnTo>
                    <a:lnTo>
                      <a:pt x="136" y="26"/>
                    </a:lnTo>
                    <a:lnTo>
                      <a:pt x="139" y="24"/>
                    </a:lnTo>
                    <a:lnTo>
                      <a:pt x="135" y="13"/>
                    </a:lnTo>
                    <a:lnTo>
                      <a:pt x="139" y="25"/>
                    </a:lnTo>
                    <a:lnTo>
                      <a:pt x="147" y="23"/>
                    </a:lnTo>
                    <a:lnTo>
                      <a:pt x="142" y="12"/>
                    </a:lnTo>
                    <a:lnTo>
                      <a:pt x="142" y="24"/>
                    </a:lnTo>
                    <a:lnTo>
                      <a:pt x="150" y="24"/>
                    </a:lnTo>
                    <a:lnTo>
                      <a:pt x="157" y="25"/>
                    </a:lnTo>
                    <a:lnTo>
                      <a:pt x="157" y="13"/>
                    </a:lnTo>
                    <a:lnTo>
                      <a:pt x="153" y="24"/>
                    </a:lnTo>
                    <a:lnTo>
                      <a:pt x="160" y="26"/>
                    </a:lnTo>
                    <a:lnTo>
                      <a:pt x="175" y="32"/>
                    </a:lnTo>
                    <a:lnTo>
                      <a:pt x="193" y="37"/>
                    </a:lnTo>
                    <a:lnTo>
                      <a:pt x="195" y="25"/>
                    </a:lnTo>
                    <a:lnTo>
                      <a:pt x="187" y="33"/>
                    </a:lnTo>
                    <a:lnTo>
                      <a:pt x="190" y="36"/>
                    </a:lnTo>
                    <a:lnTo>
                      <a:pt x="185" y="32"/>
                    </a:lnTo>
                    <a:lnTo>
                      <a:pt x="188" y="36"/>
                    </a:lnTo>
                    <a:lnTo>
                      <a:pt x="193" y="45"/>
                    </a:lnTo>
                    <a:lnTo>
                      <a:pt x="199" y="54"/>
                    </a:lnTo>
                    <a:lnTo>
                      <a:pt x="201" y="58"/>
                    </a:lnTo>
                    <a:lnTo>
                      <a:pt x="208" y="67"/>
                    </a:lnTo>
                    <a:lnTo>
                      <a:pt x="216" y="75"/>
                    </a:lnTo>
                    <a:lnTo>
                      <a:pt x="220" y="78"/>
                    </a:lnTo>
                    <a:lnTo>
                      <a:pt x="229" y="84"/>
                    </a:lnTo>
                    <a:lnTo>
                      <a:pt x="234" y="85"/>
                    </a:lnTo>
                    <a:lnTo>
                      <a:pt x="239" y="86"/>
                    </a:lnTo>
                    <a:lnTo>
                      <a:pt x="244" y="87"/>
                    </a:lnTo>
                    <a:lnTo>
                      <a:pt x="249" y="87"/>
                    </a:lnTo>
                    <a:lnTo>
                      <a:pt x="254" y="86"/>
                    </a:lnTo>
                    <a:lnTo>
                      <a:pt x="260" y="84"/>
                    </a:lnTo>
                    <a:lnTo>
                      <a:pt x="264" y="81"/>
                    </a:lnTo>
                    <a:lnTo>
                      <a:pt x="268" y="79"/>
                    </a:lnTo>
                    <a:lnTo>
                      <a:pt x="271" y="75"/>
                    </a:lnTo>
                    <a:lnTo>
                      <a:pt x="274" y="71"/>
                    </a:lnTo>
                    <a:lnTo>
                      <a:pt x="279" y="61"/>
                    </a:lnTo>
                    <a:lnTo>
                      <a:pt x="283" y="50"/>
                    </a:lnTo>
                    <a:lnTo>
                      <a:pt x="286" y="45"/>
                    </a:lnTo>
                    <a:lnTo>
                      <a:pt x="275" y="41"/>
                    </a:lnTo>
                    <a:lnTo>
                      <a:pt x="284" y="49"/>
                    </a:lnTo>
                    <a:lnTo>
                      <a:pt x="287" y="46"/>
                    </a:lnTo>
                    <a:lnTo>
                      <a:pt x="295" y="40"/>
                    </a:lnTo>
                    <a:lnTo>
                      <a:pt x="287" y="32"/>
                    </a:lnTo>
                    <a:lnTo>
                      <a:pt x="291" y="43"/>
                    </a:lnTo>
                    <a:lnTo>
                      <a:pt x="300" y="39"/>
                    </a:lnTo>
                    <a:lnTo>
                      <a:pt x="309" y="37"/>
                    </a:lnTo>
                    <a:lnTo>
                      <a:pt x="305" y="26"/>
                    </a:lnTo>
                    <a:lnTo>
                      <a:pt x="305" y="38"/>
                    </a:lnTo>
                    <a:lnTo>
                      <a:pt x="314" y="37"/>
                    </a:lnTo>
                    <a:lnTo>
                      <a:pt x="333" y="37"/>
                    </a:lnTo>
                    <a:lnTo>
                      <a:pt x="351" y="37"/>
                    </a:lnTo>
                    <a:lnTo>
                      <a:pt x="351" y="13"/>
                    </a:lnTo>
                    <a:lnTo>
                      <a:pt x="333" y="13"/>
                    </a:lnTo>
                    <a:lnTo>
                      <a:pt x="314" y="13"/>
                    </a:lnTo>
                    <a:lnTo>
                      <a:pt x="305" y="14"/>
                    </a:lnTo>
                    <a:lnTo>
                      <a:pt x="300" y="15"/>
                    </a:lnTo>
                    <a:lnTo>
                      <a:pt x="291" y="17"/>
                    </a:lnTo>
                    <a:lnTo>
                      <a:pt x="282" y="21"/>
                    </a:lnTo>
                    <a:lnTo>
                      <a:pt x="278" y="23"/>
                    </a:lnTo>
                    <a:lnTo>
                      <a:pt x="272" y="28"/>
                    </a:lnTo>
                    <a:lnTo>
                      <a:pt x="267" y="32"/>
                    </a:lnTo>
                    <a:lnTo>
                      <a:pt x="264" y="36"/>
                    </a:lnTo>
                    <a:lnTo>
                      <a:pt x="261" y="41"/>
                    </a:lnTo>
                    <a:lnTo>
                      <a:pt x="257" y="52"/>
                    </a:lnTo>
                    <a:lnTo>
                      <a:pt x="252" y="62"/>
                    </a:lnTo>
                    <a:lnTo>
                      <a:pt x="263" y="67"/>
                    </a:lnTo>
                    <a:lnTo>
                      <a:pt x="254" y="58"/>
                    </a:lnTo>
                    <a:lnTo>
                      <a:pt x="251" y="62"/>
                    </a:lnTo>
                    <a:lnTo>
                      <a:pt x="259" y="70"/>
                    </a:lnTo>
                    <a:lnTo>
                      <a:pt x="255" y="59"/>
                    </a:lnTo>
                    <a:lnTo>
                      <a:pt x="251" y="62"/>
                    </a:lnTo>
                    <a:lnTo>
                      <a:pt x="245" y="64"/>
                    </a:lnTo>
                    <a:lnTo>
                      <a:pt x="249" y="75"/>
                    </a:lnTo>
                    <a:lnTo>
                      <a:pt x="249" y="63"/>
                    </a:lnTo>
                    <a:lnTo>
                      <a:pt x="244" y="63"/>
                    </a:lnTo>
                    <a:lnTo>
                      <a:pt x="239" y="62"/>
                    </a:lnTo>
                    <a:lnTo>
                      <a:pt x="239" y="74"/>
                    </a:lnTo>
                    <a:lnTo>
                      <a:pt x="243" y="63"/>
                    </a:lnTo>
                    <a:lnTo>
                      <a:pt x="238" y="62"/>
                    </a:lnTo>
                    <a:lnTo>
                      <a:pt x="229" y="56"/>
                    </a:lnTo>
                    <a:lnTo>
                      <a:pt x="225" y="67"/>
                    </a:lnTo>
                    <a:lnTo>
                      <a:pt x="233" y="58"/>
                    </a:lnTo>
                    <a:lnTo>
                      <a:pt x="225" y="50"/>
                    </a:lnTo>
                    <a:lnTo>
                      <a:pt x="218" y="41"/>
                    </a:lnTo>
                    <a:lnTo>
                      <a:pt x="210" y="50"/>
                    </a:lnTo>
                    <a:lnTo>
                      <a:pt x="221" y="45"/>
                    </a:lnTo>
                    <a:lnTo>
                      <a:pt x="215" y="36"/>
                    </a:lnTo>
                    <a:lnTo>
                      <a:pt x="210" y="27"/>
                    </a:lnTo>
                    <a:lnTo>
                      <a:pt x="205" y="19"/>
                    </a:lnTo>
                    <a:lnTo>
                      <a:pt x="203" y="17"/>
                    </a:lnTo>
                    <a:lnTo>
                      <a:pt x="200" y="14"/>
                    </a:lnTo>
                    <a:lnTo>
                      <a:pt x="198" y="14"/>
                    </a:lnTo>
                    <a:lnTo>
                      <a:pt x="184" y="10"/>
                    </a:lnTo>
                    <a:lnTo>
                      <a:pt x="169" y="4"/>
                    </a:lnTo>
                    <a:lnTo>
                      <a:pt x="162" y="2"/>
                    </a:lnTo>
                    <a:lnTo>
                      <a:pt x="157" y="1"/>
                    </a:lnTo>
                    <a:lnTo>
                      <a:pt x="150" y="0"/>
                    </a:lnTo>
                    <a:lnTo>
                      <a:pt x="142" y="0"/>
                    </a:lnTo>
                    <a:lnTo>
                      <a:pt x="138" y="1"/>
                    </a:lnTo>
                    <a:lnTo>
                      <a:pt x="132" y="2"/>
                    </a:lnTo>
                    <a:lnTo>
                      <a:pt x="131" y="2"/>
                    </a:lnTo>
                    <a:lnTo>
                      <a:pt x="127" y="4"/>
                    </a:lnTo>
                    <a:lnTo>
                      <a:pt x="123" y="7"/>
                    </a:lnTo>
                    <a:lnTo>
                      <a:pt x="120" y="10"/>
                    </a:lnTo>
                    <a:lnTo>
                      <a:pt x="118" y="14"/>
                    </a:lnTo>
                    <a:lnTo>
                      <a:pt x="116" y="24"/>
                    </a:lnTo>
                    <a:lnTo>
                      <a:pt x="115" y="28"/>
                    </a:lnTo>
                    <a:lnTo>
                      <a:pt x="114" y="39"/>
                    </a:lnTo>
                    <a:lnTo>
                      <a:pt x="113" y="44"/>
                    </a:lnTo>
                    <a:lnTo>
                      <a:pt x="125" y="44"/>
                    </a:lnTo>
                    <a:lnTo>
                      <a:pt x="114" y="40"/>
                    </a:lnTo>
                    <a:lnTo>
                      <a:pt x="113" y="44"/>
                    </a:lnTo>
                    <a:lnTo>
                      <a:pt x="107" y="54"/>
                    </a:lnTo>
                    <a:lnTo>
                      <a:pt x="118" y="58"/>
                    </a:lnTo>
                    <a:lnTo>
                      <a:pt x="109" y="50"/>
                    </a:lnTo>
                    <a:lnTo>
                      <a:pt x="103" y="59"/>
                    </a:lnTo>
                    <a:lnTo>
                      <a:pt x="101" y="63"/>
                    </a:lnTo>
                    <a:lnTo>
                      <a:pt x="90" y="79"/>
                    </a:lnTo>
                    <a:lnTo>
                      <a:pt x="99" y="73"/>
                    </a:lnTo>
                    <a:lnTo>
                      <a:pt x="94" y="74"/>
                    </a:lnTo>
                    <a:lnTo>
                      <a:pt x="91" y="77"/>
                    </a:lnTo>
                    <a:lnTo>
                      <a:pt x="99" y="85"/>
                    </a:lnTo>
                    <a:lnTo>
                      <a:pt x="103" y="74"/>
                    </a:lnTo>
                    <a:lnTo>
                      <a:pt x="94" y="72"/>
                    </a:lnTo>
                    <a:lnTo>
                      <a:pt x="90" y="71"/>
                    </a:lnTo>
                    <a:lnTo>
                      <a:pt x="80" y="69"/>
                    </a:lnTo>
                    <a:lnTo>
                      <a:pt x="80" y="81"/>
                    </a:lnTo>
                    <a:lnTo>
                      <a:pt x="84" y="70"/>
                    </a:lnTo>
                    <a:lnTo>
                      <a:pt x="75" y="67"/>
                    </a:lnTo>
                    <a:lnTo>
                      <a:pt x="71" y="78"/>
                    </a:lnTo>
                    <a:lnTo>
                      <a:pt x="79" y="70"/>
                    </a:lnTo>
                    <a:lnTo>
                      <a:pt x="72" y="65"/>
                    </a:lnTo>
                    <a:lnTo>
                      <a:pt x="69" y="61"/>
                    </a:lnTo>
                    <a:lnTo>
                      <a:pt x="60" y="69"/>
                    </a:lnTo>
                    <a:lnTo>
                      <a:pt x="71" y="65"/>
                    </a:lnTo>
                    <a:lnTo>
                      <a:pt x="70" y="60"/>
                    </a:lnTo>
                    <a:lnTo>
                      <a:pt x="59" y="65"/>
                    </a:lnTo>
                    <a:lnTo>
                      <a:pt x="71" y="65"/>
                    </a:lnTo>
                    <a:lnTo>
                      <a:pt x="69" y="55"/>
                    </a:lnTo>
                    <a:lnTo>
                      <a:pt x="68" y="45"/>
                    </a:lnTo>
                    <a:lnTo>
                      <a:pt x="67" y="40"/>
                    </a:lnTo>
                    <a:lnTo>
                      <a:pt x="65" y="36"/>
                    </a:lnTo>
                    <a:lnTo>
                      <a:pt x="63" y="32"/>
                    </a:lnTo>
                    <a:lnTo>
                      <a:pt x="59" y="28"/>
                    </a:lnTo>
                    <a:lnTo>
                      <a:pt x="58" y="28"/>
                    </a:lnTo>
                    <a:lnTo>
                      <a:pt x="54" y="25"/>
                    </a:lnTo>
                    <a:lnTo>
                      <a:pt x="50" y="23"/>
                    </a:lnTo>
                    <a:lnTo>
                      <a:pt x="45" y="21"/>
                    </a:lnTo>
                    <a:lnTo>
                      <a:pt x="33" y="18"/>
                    </a:lnTo>
                    <a:lnTo>
                      <a:pt x="28" y="17"/>
                    </a:lnTo>
                    <a:lnTo>
                      <a:pt x="15" y="15"/>
                    </a:lnTo>
                    <a:lnTo>
                      <a:pt x="15" y="27"/>
                    </a:lnTo>
                    <a:lnTo>
                      <a:pt x="20" y="16"/>
                    </a:lnTo>
                    <a:lnTo>
                      <a:pt x="6" y="1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57" name="Group 90"/>
            <p:cNvGrpSpPr/>
            <p:nvPr/>
          </p:nvGrpSpPr>
          <p:grpSpPr bwMode="auto">
            <a:xfrm>
              <a:off x="2400" y="432"/>
              <a:ext cx="119" cy="196"/>
              <a:chOff x="2626" y="463"/>
              <a:chExt cx="119" cy="196"/>
            </a:xfrm>
          </p:grpSpPr>
          <p:sp>
            <p:nvSpPr>
              <p:cNvPr id="194" name="Freeform 91"/>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95" name="Freeform 92"/>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58" name="Rectangle 93"/>
            <p:cNvSpPr>
              <a:spLocks noChangeArrowheads="1"/>
            </p:cNvSpPr>
            <p:nvPr/>
          </p:nvSpPr>
          <p:spPr bwMode="auto">
            <a:xfrm>
              <a:off x="336" y="432"/>
              <a:ext cx="192"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600" b="1" i="1">
                  <a:solidFill>
                    <a:srgbClr val="FF0000"/>
                  </a:solidFill>
                  <a:latin typeface="Times New Roman" panose="02020603050405020304" pitchFamily="18" charset="0"/>
                </a:rPr>
                <a:t>S</a:t>
              </a:r>
              <a:r>
                <a:rPr kumimoji="1" lang="en-US" altLang="zh-CN" sz="1600" b="1" baseline="-25000">
                  <a:solidFill>
                    <a:srgbClr val="FF0000"/>
                  </a:solidFill>
                  <a:latin typeface="Times New Roman" panose="02020603050405020304" pitchFamily="18" charset="0"/>
                </a:rPr>
                <a:t>2</a:t>
              </a:r>
              <a:endParaRPr kumimoji="1" lang="en-US" altLang="zh-CN" sz="1600" b="1" baseline="-25000">
                <a:solidFill>
                  <a:srgbClr val="FF0000"/>
                </a:solidFill>
                <a:latin typeface="Times New Roman" panose="02020603050405020304" pitchFamily="18" charset="0"/>
              </a:endParaRPr>
            </a:p>
          </p:txBody>
        </p:sp>
        <p:sp>
          <p:nvSpPr>
            <p:cNvPr id="59" name="Rectangle 94"/>
            <p:cNvSpPr>
              <a:spLocks noChangeArrowheads="1"/>
            </p:cNvSpPr>
            <p:nvPr/>
          </p:nvSpPr>
          <p:spPr bwMode="auto">
            <a:xfrm>
              <a:off x="1344" y="1104"/>
              <a:ext cx="28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600" b="1" i="1">
                  <a:solidFill>
                    <a:srgbClr val="FF0000"/>
                  </a:solidFill>
                  <a:latin typeface="Times New Roman" panose="02020603050405020304" pitchFamily="18" charset="0"/>
                </a:rPr>
                <a:t>S</a:t>
              </a:r>
              <a:r>
                <a:rPr kumimoji="1" lang="en-US" altLang="zh-CN" sz="1600" b="1" baseline="-25000">
                  <a:solidFill>
                    <a:srgbClr val="FF0000"/>
                  </a:solidFill>
                  <a:latin typeface="Times New Roman" panose="02020603050405020304" pitchFamily="18" charset="0"/>
                </a:rPr>
                <a:t>1</a:t>
              </a:r>
              <a:endParaRPr kumimoji="1" lang="en-US" altLang="zh-CN" sz="1600"/>
            </a:p>
          </p:txBody>
        </p:sp>
        <p:sp>
          <p:nvSpPr>
            <p:cNvPr id="60" name="Rectangle 95"/>
            <p:cNvSpPr>
              <a:spLocks noChangeArrowheads="1"/>
            </p:cNvSpPr>
            <p:nvPr/>
          </p:nvSpPr>
          <p:spPr bwMode="auto">
            <a:xfrm>
              <a:off x="366" y="3360"/>
              <a:ext cx="11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600" b="1" i="1">
                  <a:solidFill>
                    <a:srgbClr val="FF0000"/>
                  </a:solidFill>
                  <a:latin typeface="Times New Roman" panose="02020603050405020304" pitchFamily="18" charset="0"/>
                </a:rPr>
                <a:t>S</a:t>
              </a:r>
              <a:r>
                <a:rPr kumimoji="1" lang="en-US" altLang="zh-CN" sz="1600" b="1" baseline="-25000">
                  <a:solidFill>
                    <a:srgbClr val="FF0000"/>
                  </a:solidFill>
                  <a:latin typeface="Times New Roman" panose="02020603050405020304" pitchFamily="18" charset="0"/>
                </a:rPr>
                <a:t>0</a:t>
              </a:r>
              <a:endParaRPr kumimoji="1" lang="en-US" altLang="zh-CN" sz="1600" b="1" baseline="-25000">
                <a:solidFill>
                  <a:srgbClr val="FF0000"/>
                </a:solidFill>
                <a:latin typeface="Times New Roman" panose="02020603050405020304" pitchFamily="18" charset="0"/>
              </a:endParaRPr>
            </a:p>
          </p:txBody>
        </p:sp>
        <p:sp>
          <p:nvSpPr>
            <p:cNvPr id="61" name="Rectangle 96"/>
            <p:cNvSpPr>
              <a:spLocks noChangeArrowheads="1"/>
            </p:cNvSpPr>
            <p:nvPr/>
          </p:nvSpPr>
          <p:spPr bwMode="auto">
            <a:xfrm>
              <a:off x="4784" y="1488"/>
              <a:ext cx="11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600" b="1" i="1">
                  <a:solidFill>
                    <a:srgbClr val="FF0000"/>
                  </a:solidFill>
                  <a:latin typeface="Times New Roman" panose="02020603050405020304" pitchFamily="18" charset="0"/>
                </a:rPr>
                <a:t>T</a:t>
              </a:r>
              <a:r>
                <a:rPr kumimoji="1" lang="en-US" altLang="zh-CN" sz="1600" b="1" baseline="-25000">
                  <a:solidFill>
                    <a:srgbClr val="FF0000"/>
                  </a:solidFill>
                  <a:latin typeface="Times New Roman" panose="02020603050405020304" pitchFamily="18" charset="0"/>
                </a:rPr>
                <a:t>1</a:t>
              </a:r>
              <a:endParaRPr kumimoji="1" lang="en-US" altLang="zh-CN" sz="1600" b="1" baseline="-25000">
                <a:solidFill>
                  <a:srgbClr val="FF0000"/>
                </a:solidFill>
                <a:latin typeface="Times New Roman" panose="02020603050405020304" pitchFamily="18" charset="0"/>
              </a:endParaRPr>
            </a:p>
          </p:txBody>
        </p:sp>
        <p:sp>
          <p:nvSpPr>
            <p:cNvPr id="62" name="Rectangle 97"/>
            <p:cNvSpPr>
              <a:spLocks noChangeArrowheads="1"/>
            </p:cNvSpPr>
            <p:nvPr/>
          </p:nvSpPr>
          <p:spPr bwMode="auto">
            <a:xfrm>
              <a:off x="1328" y="2256"/>
              <a:ext cx="127" cy="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600" b="1" dirty="0">
                  <a:solidFill>
                    <a:srgbClr val="FF0000"/>
                  </a:solidFill>
                  <a:latin typeface="楷体_GB2312" pitchFamily="49" charset="-122"/>
                  <a:ea typeface="楷体_GB2312" pitchFamily="49" charset="-122"/>
                </a:rPr>
                <a:t>吸</a:t>
              </a:r>
              <a:endParaRPr kumimoji="1" lang="zh-CN" altLang="en-US" sz="1600" b="1" dirty="0">
                <a:solidFill>
                  <a:srgbClr val="FF0000"/>
                </a:solidFill>
                <a:latin typeface="楷体_GB2312" pitchFamily="49" charset="-122"/>
                <a:ea typeface="楷体_GB2312" pitchFamily="49" charset="-122"/>
              </a:endParaRPr>
            </a:p>
            <a:p>
              <a:pPr algn="ctr" eaLnBrk="1" hangingPunct="1"/>
              <a:r>
                <a:rPr kumimoji="1" lang="zh-CN" altLang="en-US" sz="1600" b="1" dirty="0">
                  <a:solidFill>
                    <a:srgbClr val="FF0000"/>
                  </a:solidFill>
                  <a:latin typeface="楷体_GB2312" pitchFamily="49" charset="-122"/>
                  <a:ea typeface="楷体_GB2312" pitchFamily="49" charset="-122"/>
                </a:rPr>
                <a:t>收</a:t>
              </a:r>
              <a:endParaRPr kumimoji="1" lang="zh-CN" altLang="en-US" sz="1600" dirty="0">
                <a:latin typeface="楷体_GB2312" pitchFamily="49" charset="-122"/>
                <a:ea typeface="楷体_GB2312" pitchFamily="49" charset="-122"/>
              </a:endParaRPr>
            </a:p>
          </p:txBody>
        </p:sp>
        <p:sp>
          <p:nvSpPr>
            <p:cNvPr id="63" name="Rectangle 98"/>
            <p:cNvSpPr>
              <a:spLocks noChangeArrowheads="1"/>
            </p:cNvSpPr>
            <p:nvPr/>
          </p:nvSpPr>
          <p:spPr bwMode="auto">
            <a:xfrm>
              <a:off x="2318" y="1674"/>
              <a:ext cx="127" cy="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600" b="1" dirty="0">
                  <a:solidFill>
                    <a:srgbClr val="990033"/>
                  </a:solidFill>
                  <a:latin typeface="楷体_GB2312" pitchFamily="49" charset="-122"/>
                  <a:ea typeface="楷体_GB2312" pitchFamily="49" charset="-122"/>
                </a:rPr>
                <a:t>发</a:t>
              </a:r>
              <a:endParaRPr kumimoji="1" lang="zh-CN" altLang="en-US" sz="1600" b="1" dirty="0">
                <a:solidFill>
                  <a:srgbClr val="990033"/>
                </a:solidFill>
                <a:latin typeface="楷体_GB2312" pitchFamily="49" charset="-122"/>
                <a:ea typeface="楷体_GB2312" pitchFamily="49" charset="-122"/>
              </a:endParaRPr>
            </a:p>
            <a:p>
              <a:pPr algn="ctr" eaLnBrk="1" hangingPunct="1"/>
              <a:r>
                <a:rPr kumimoji="1" lang="zh-CN" altLang="en-US" sz="1600" b="1" dirty="0">
                  <a:solidFill>
                    <a:srgbClr val="990033"/>
                  </a:solidFill>
                  <a:latin typeface="楷体_GB2312" pitchFamily="49" charset="-122"/>
                  <a:ea typeface="楷体_GB2312" pitchFamily="49" charset="-122"/>
                </a:rPr>
                <a:t>射</a:t>
              </a:r>
              <a:endParaRPr kumimoji="1" lang="zh-CN" altLang="en-US" sz="1600" b="1" dirty="0">
                <a:solidFill>
                  <a:srgbClr val="990033"/>
                </a:solidFill>
                <a:latin typeface="楷体_GB2312" pitchFamily="49" charset="-122"/>
                <a:ea typeface="楷体_GB2312" pitchFamily="49" charset="-122"/>
              </a:endParaRPr>
            </a:p>
            <a:p>
              <a:pPr algn="ctr" eaLnBrk="1" hangingPunct="1"/>
              <a:r>
                <a:rPr kumimoji="1" lang="zh-CN" altLang="en-US" sz="1600" b="1" dirty="0">
                  <a:solidFill>
                    <a:srgbClr val="990033"/>
                  </a:solidFill>
                  <a:latin typeface="楷体_GB2312" pitchFamily="49" charset="-122"/>
                  <a:ea typeface="楷体_GB2312" pitchFamily="49" charset="-122"/>
                </a:rPr>
                <a:t>荧</a:t>
              </a:r>
              <a:endParaRPr kumimoji="1" lang="zh-CN" altLang="en-US" sz="1600" b="1" dirty="0">
                <a:solidFill>
                  <a:srgbClr val="990033"/>
                </a:solidFill>
                <a:latin typeface="楷体_GB2312" pitchFamily="49" charset="-122"/>
                <a:ea typeface="楷体_GB2312" pitchFamily="49" charset="-122"/>
              </a:endParaRPr>
            </a:p>
            <a:p>
              <a:pPr algn="ctr" eaLnBrk="1" hangingPunct="1"/>
              <a:r>
                <a:rPr kumimoji="1" lang="zh-CN" altLang="en-US" sz="1600" b="1" dirty="0">
                  <a:solidFill>
                    <a:srgbClr val="990033"/>
                  </a:solidFill>
                  <a:latin typeface="楷体_GB2312" pitchFamily="49" charset="-122"/>
                  <a:ea typeface="楷体_GB2312" pitchFamily="49" charset="-122"/>
                </a:rPr>
                <a:t>光</a:t>
              </a:r>
              <a:endParaRPr kumimoji="1" lang="zh-CN" altLang="en-US" sz="1600" dirty="0">
                <a:latin typeface="楷体_GB2312" pitchFamily="49" charset="-122"/>
                <a:ea typeface="楷体_GB2312" pitchFamily="49" charset="-122"/>
              </a:endParaRPr>
            </a:p>
          </p:txBody>
        </p:sp>
        <p:sp>
          <p:nvSpPr>
            <p:cNvPr id="64" name="Rectangle 99"/>
            <p:cNvSpPr>
              <a:spLocks noChangeArrowheads="1"/>
            </p:cNvSpPr>
            <p:nvPr/>
          </p:nvSpPr>
          <p:spPr bwMode="auto">
            <a:xfrm>
              <a:off x="4476" y="1763"/>
              <a:ext cx="127" cy="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600" b="1" dirty="0">
                  <a:solidFill>
                    <a:srgbClr val="3333FF"/>
                  </a:solidFill>
                  <a:latin typeface="楷体_GB2312" pitchFamily="49" charset="-122"/>
                  <a:ea typeface="楷体_GB2312" pitchFamily="49" charset="-122"/>
                </a:rPr>
                <a:t>发</a:t>
              </a:r>
              <a:endParaRPr kumimoji="1" lang="zh-CN" altLang="en-US" sz="1600" b="1" dirty="0">
                <a:solidFill>
                  <a:srgbClr val="3333FF"/>
                </a:solidFill>
                <a:latin typeface="楷体_GB2312" pitchFamily="49" charset="-122"/>
                <a:ea typeface="楷体_GB2312" pitchFamily="49" charset="-122"/>
              </a:endParaRPr>
            </a:p>
            <a:p>
              <a:pPr algn="ctr" eaLnBrk="1" hangingPunct="1"/>
              <a:r>
                <a:rPr kumimoji="1" lang="zh-CN" altLang="en-US" sz="1600" b="1" dirty="0">
                  <a:solidFill>
                    <a:srgbClr val="3333FF"/>
                  </a:solidFill>
                  <a:latin typeface="楷体_GB2312" pitchFamily="49" charset="-122"/>
                  <a:ea typeface="楷体_GB2312" pitchFamily="49" charset="-122"/>
                </a:rPr>
                <a:t>射</a:t>
              </a:r>
              <a:endParaRPr kumimoji="1" lang="zh-CN" altLang="en-US" sz="1600" b="1" dirty="0">
                <a:solidFill>
                  <a:srgbClr val="3333FF"/>
                </a:solidFill>
                <a:latin typeface="楷体_GB2312" pitchFamily="49" charset="-122"/>
                <a:ea typeface="楷体_GB2312" pitchFamily="49" charset="-122"/>
              </a:endParaRPr>
            </a:p>
            <a:p>
              <a:pPr algn="ctr" eaLnBrk="1" hangingPunct="1"/>
              <a:r>
                <a:rPr kumimoji="1" lang="zh-CN" altLang="en-US" sz="1600" b="1" dirty="0">
                  <a:solidFill>
                    <a:srgbClr val="3333FF"/>
                  </a:solidFill>
                  <a:latin typeface="楷体_GB2312" pitchFamily="49" charset="-122"/>
                  <a:ea typeface="楷体_GB2312" pitchFamily="49" charset="-122"/>
                </a:rPr>
                <a:t>磷</a:t>
              </a:r>
              <a:endParaRPr kumimoji="1" lang="zh-CN" altLang="en-US" sz="1600" b="1" dirty="0">
                <a:solidFill>
                  <a:srgbClr val="3333FF"/>
                </a:solidFill>
                <a:latin typeface="楷体_GB2312" pitchFamily="49" charset="-122"/>
                <a:ea typeface="楷体_GB2312" pitchFamily="49" charset="-122"/>
              </a:endParaRPr>
            </a:p>
            <a:p>
              <a:pPr algn="ctr" eaLnBrk="1" hangingPunct="1"/>
              <a:r>
                <a:rPr kumimoji="1" lang="zh-CN" altLang="en-US" sz="1600" b="1" dirty="0">
                  <a:solidFill>
                    <a:srgbClr val="3333FF"/>
                  </a:solidFill>
                  <a:latin typeface="楷体_GB2312" pitchFamily="49" charset="-122"/>
                  <a:ea typeface="楷体_GB2312" pitchFamily="49" charset="-122"/>
                </a:rPr>
                <a:t>光</a:t>
              </a:r>
              <a:endParaRPr kumimoji="1" lang="zh-CN" altLang="en-US" sz="1600" dirty="0">
                <a:latin typeface="楷体_GB2312" pitchFamily="49" charset="-122"/>
                <a:ea typeface="楷体_GB2312" pitchFamily="49" charset="-122"/>
              </a:endParaRPr>
            </a:p>
          </p:txBody>
        </p:sp>
        <p:sp>
          <p:nvSpPr>
            <p:cNvPr id="65" name="Rectangle 100"/>
            <p:cNvSpPr>
              <a:spLocks noChangeArrowheads="1"/>
            </p:cNvSpPr>
            <p:nvPr/>
          </p:nvSpPr>
          <p:spPr bwMode="auto">
            <a:xfrm>
              <a:off x="3507" y="415"/>
              <a:ext cx="88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600" b="1" dirty="0">
                  <a:solidFill>
                    <a:srgbClr val="3333FF"/>
                  </a:solidFill>
                  <a:latin typeface="楷体_GB2312" pitchFamily="49" charset="-122"/>
                  <a:ea typeface="楷体_GB2312" pitchFamily="49" charset="-122"/>
                </a:rPr>
                <a:t>系间跨越</a:t>
              </a:r>
              <a:endParaRPr kumimoji="1" lang="zh-CN" altLang="en-US" sz="1600" b="1" dirty="0">
                <a:solidFill>
                  <a:srgbClr val="3333FF"/>
                </a:solidFill>
                <a:latin typeface="楷体_GB2312" pitchFamily="49" charset="-122"/>
                <a:ea typeface="楷体_GB2312" pitchFamily="49" charset="-122"/>
              </a:endParaRPr>
            </a:p>
          </p:txBody>
        </p:sp>
        <p:grpSp>
          <p:nvGrpSpPr>
            <p:cNvPr id="66" name="Group 101"/>
            <p:cNvGrpSpPr/>
            <p:nvPr/>
          </p:nvGrpSpPr>
          <p:grpSpPr bwMode="auto">
            <a:xfrm>
              <a:off x="3456" y="672"/>
              <a:ext cx="107" cy="459"/>
              <a:chOff x="4247" y="810"/>
              <a:chExt cx="107" cy="459"/>
            </a:xfrm>
          </p:grpSpPr>
          <p:sp>
            <p:nvSpPr>
              <p:cNvPr id="192" name="Rectangle 102"/>
              <p:cNvSpPr>
                <a:spLocks noChangeArrowheads="1"/>
              </p:cNvSpPr>
              <p:nvPr/>
            </p:nvSpPr>
            <p:spPr bwMode="auto">
              <a:xfrm>
                <a:off x="4289" y="810"/>
                <a:ext cx="24" cy="354"/>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93" name="Freeform 103"/>
              <p:cNvSpPr/>
              <p:nvPr/>
            </p:nvSpPr>
            <p:spPr bwMode="auto">
              <a:xfrm>
                <a:off x="4247" y="1162"/>
                <a:ext cx="107" cy="107"/>
              </a:xfrm>
              <a:custGeom>
                <a:avLst/>
                <a:gdLst>
                  <a:gd name="T0" fmla="*/ 0 w 107"/>
                  <a:gd name="T1" fmla="*/ 0 h 107"/>
                  <a:gd name="T2" fmla="*/ 54 w 107"/>
                  <a:gd name="T3" fmla="*/ 107 h 107"/>
                  <a:gd name="T4" fmla="*/ 107 w 107"/>
                  <a:gd name="T5" fmla="*/ 0 h 107"/>
                  <a:gd name="T6" fmla="*/ 0 w 107"/>
                  <a:gd name="T7" fmla="*/ 0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0" y="0"/>
                    </a:moveTo>
                    <a:lnTo>
                      <a:pt x="54" y="107"/>
                    </a:lnTo>
                    <a:lnTo>
                      <a:pt x="107" y="0"/>
                    </a:lnTo>
                    <a:lnTo>
                      <a:pt x="0" y="0"/>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67" name="Rectangle 104"/>
            <p:cNvSpPr>
              <a:spLocks noChangeArrowheads="1"/>
            </p:cNvSpPr>
            <p:nvPr/>
          </p:nvSpPr>
          <p:spPr bwMode="auto">
            <a:xfrm>
              <a:off x="1678" y="144"/>
              <a:ext cx="38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600" b="1">
                  <a:solidFill>
                    <a:srgbClr val="3333FF"/>
                  </a:solidFill>
                  <a:latin typeface="楷体_GB2312" pitchFamily="49" charset="-122"/>
                  <a:ea typeface="楷体_GB2312" pitchFamily="49" charset="-122"/>
                </a:rPr>
                <a:t>内转换</a:t>
              </a:r>
              <a:endParaRPr kumimoji="1" lang="zh-CN" altLang="en-US" sz="1600" b="1">
                <a:solidFill>
                  <a:srgbClr val="3333FF"/>
                </a:solidFill>
                <a:latin typeface="楷体_GB2312" pitchFamily="49" charset="-122"/>
                <a:ea typeface="楷体_GB2312" pitchFamily="49" charset="-122"/>
              </a:endParaRPr>
            </a:p>
          </p:txBody>
        </p:sp>
        <p:grpSp>
          <p:nvGrpSpPr>
            <p:cNvPr id="68" name="Group 105"/>
            <p:cNvGrpSpPr/>
            <p:nvPr/>
          </p:nvGrpSpPr>
          <p:grpSpPr bwMode="auto">
            <a:xfrm>
              <a:off x="1488" y="336"/>
              <a:ext cx="107" cy="459"/>
              <a:chOff x="1755" y="459"/>
              <a:chExt cx="107" cy="459"/>
            </a:xfrm>
          </p:grpSpPr>
          <p:sp>
            <p:nvSpPr>
              <p:cNvPr id="190" name="Rectangle 106"/>
              <p:cNvSpPr>
                <a:spLocks noChangeArrowheads="1"/>
              </p:cNvSpPr>
              <p:nvPr/>
            </p:nvSpPr>
            <p:spPr bwMode="auto">
              <a:xfrm>
                <a:off x="1797" y="459"/>
                <a:ext cx="24" cy="354"/>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91" name="Freeform 107"/>
              <p:cNvSpPr/>
              <p:nvPr/>
            </p:nvSpPr>
            <p:spPr bwMode="auto">
              <a:xfrm>
                <a:off x="1755" y="811"/>
                <a:ext cx="107" cy="107"/>
              </a:xfrm>
              <a:custGeom>
                <a:avLst/>
                <a:gdLst>
                  <a:gd name="T0" fmla="*/ 0 w 107"/>
                  <a:gd name="T1" fmla="*/ 0 h 107"/>
                  <a:gd name="T2" fmla="*/ 54 w 107"/>
                  <a:gd name="T3" fmla="*/ 107 h 107"/>
                  <a:gd name="T4" fmla="*/ 107 w 107"/>
                  <a:gd name="T5" fmla="*/ 0 h 107"/>
                  <a:gd name="T6" fmla="*/ 0 w 107"/>
                  <a:gd name="T7" fmla="*/ 0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0" y="0"/>
                    </a:moveTo>
                    <a:lnTo>
                      <a:pt x="54" y="107"/>
                    </a:lnTo>
                    <a:lnTo>
                      <a:pt x="107" y="0"/>
                    </a:lnTo>
                    <a:lnTo>
                      <a:pt x="0" y="0"/>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69" name="Rectangle 108"/>
            <p:cNvSpPr>
              <a:spLocks noChangeArrowheads="1"/>
            </p:cNvSpPr>
            <p:nvPr/>
          </p:nvSpPr>
          <p:spPr bwMode="auto">
            <a:xfrm>
              <a:off x="2968" y="124"/>
              <a:ext cx="50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600" b="1" dirty="0">
                  <a:solidFill>
                    <a:schemeClr val="hlink"/>
                  </a:solidFill>
                  <a:latin typeface="楷体_GB2312" pitchFamily="49" charset="-122"/>
                  <a:ea typeface="楷体_GB2312" pitchFamily="49" charset="-122"/>
                </a:rPr>
                <a:t>振动弛豫</a:t>
              </a:r>
              <a:endParaRPr kumimoji="1" lang="zh-CN" altLang="en-US" sz="1600" b="1" dirty="0">
                <a:solidFill>
                  <a:schemeClr val="hlink"/>
                </a:solidFill>
                <a:latin typeface="楷体_GB2312" pitchFamily="49" charset="-122"/>
                <a:ea typeface="楷体_GB2312" pitchFamily="49" charset="-122"/>
              </a:endParaRPr>
            </a:p>
          </p:txBody>
        </p:sp>
        <p:grpSp>
          <p:nvGrpSpPr>
            <p:cNvPr id="70" name="Group 109"/>
            <p:cNvGrpSpPr/>
            <p:nvPr/>
          </p:nvGrpSpPr>
          <p:grpSpPr bwMode="auto">
            <a:xfrm>
              <a:off x="2736" y="432"/>
              <a:ext cx="453" cy="381"/>
              <a:chOff x="3045" y="429"/>
              <a:chExt cx="453" cy="381"/>
            </a:xfrm>
          </p:grpSpPr>
          <p:sp>
            <p:nvSpPr>
              <p:cNvPr id="188" name="Freeform 110"/>
              <p:cNvSpPr/>
              <p:nvPr/>
            </p:nvSpPr>
            <p:spPr bwMode="auto">
              <a:xfrm>
                <a:off x="3118" y="429"/>
                <a:ext cx="380" cy="323"/>
              </a:xfrm>
              <a:custGeom>
                <a:avLst/>
                <a:gdLst>
                  <a:gd name="T0" fmla="*/ 380 w 380"/>
                  <a:gd name="T1" fmla="*/ 18 h 323"/>
                  <a:gd name="T2" fmla="*/ 365 w 380"/>
                  <a:gd name="T3" fmla="*/ 0 h 323"/>
                  <a:gd name="T4" fmla="*/ 0 w 380"/>
                  <a:gd name="T5" fmla="*/ 305 h 323"/>
                  <a:gd name="T6" fmla="*/ 15 w 380"/>
                  <a:gd name="T7" fmla="*/ 323 h 323"/>
                  <a:gd name="T8" fmla="*/ 380 w 380"/>
                  <a:gd name="T9" fmla="*/ 18 h 323"/>
                  <a:gd name="T10" fmla="*/ 0 60000 65536"/>
                  <a:gd name="T11" fmla="*/ 0 60000 65536"/>
                  <a:gd name="T12" fmla="*/ 0 60000 65536"/>
                  <a:gd name="T13" fmla="*/ 0 60000 65536"/>
                  <a:gd name="T14" fmla="*/ 0 60000 65536"/>
                  <a:gd name="T15" fmla="*/ 0 w 380"/>
                  <a:gd name="T16" fmla="*/ 0 h 323"/>
                  <a:gd name="T17" fmla="*/ 380 w 380"/>
                  <a:gd name="T18" fmla="*/ 323 h 323"/>
                </a:gdLst>
                <a:ahLst/>
                <a:cxnLst>
                  <a:cxn ang="T10">
                    <a:pos x="T0" y="T1"/>
                  </a:cxn>
                  <a:cxn ang="T11">
                    <a:pos x="T2" y="T3"/>
                  </a:cxn>
                  <a:cxn ang="T12">
                    <a:pos x="T4" y="T5"/>
                  </a:cxn>
                  <a:cxn ang="T13">
                    <a:pos x="T6" y="T7"/>
                  </a:cxn>
                  <a:cxn ang="T14">
                    <a:pos x="T8" y="T9"/>
                  </a:cxn>
                </a:cxnLst>
                <a:rect l="T15" t="T16" r="T17" b="T18"/>
                <a:pathLst>
                  <a:path w="380" h="323">
                    <a:moveTo>
                      <a:pt x="380" y="18"/>
                    </a:moveTo>
                    <a:lnTo>
                      <a:pt x="365" y="0"/>
                    </a:lnTo>
                    <a:lnTo>
                      <a:pt x="0" y="305"/>
                    </a:lnTo>
                    <a:lnTo>
                      <a:pt x="15" y="323"/>
                    </a:lnTo>
                    <a:lnTo>
                      <a:pt x="380" y="18"/>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89" name="Freeform 111"/>
              <p:cNvSpPr/>
              <p:nvPr/>
            </p:nvSpPr>
            <p:spPr bwMode="auto">
              <a:xfrm>
                <a:off x="3045" y="700"/>
                <a:ext cx="116" cy="110"/>
              </a:xfrm>
              <a:custGeom>
                <a:avLst/>
                <a:gdLst>
                  <a:gd name="T0" fmla="*/ 47 w 116"/>
                  <a:gd name="T1" fmla="*/ 0 h 110"/>
                  <a:gd name="T2" fmla="*/ 0 w 116"/>
                  <a:gd name="T3" fmla="*/ 110 h 110"/>
                  <a:gd name="T4" fmla="*/ 116 w 116"/>
                  <a:gd name="T5" fmla="*/ 82 h 110"/>
                  <a:gd name="T6" fmla="*/ 47 w 116"/>
                  <a:gd name="T7" fmla="*/ 0 h 110"/>
                  <a:gd name="T8" fmla="*/ 0 60000 65536"/>
                  <a:gd name="T9" fmla="*/ 0 60000 65536"/>
                  <a:gd name="T10" fmla="*/ 0 60000 65536"/>
                  <a:gd name="T11" fmla="*/ 0 60000 65536"/>
                  <a:gd name="T12" fmla="*/ 0 w 116"/>
                  <a:gd name="T13" fmla="*/ 0 h 110"/>
                  <a:gd name="T14" fmla="*/ 116 w 116"/>
                  <a:gd name="T15" fmla="*/ 110 h 110"/>
                </a:gdLst>
                <a:ahLst/>
                <a:cxnLst>
                  <a:cxn ang="T8">
                    <a:pos x="T0" y="T1"/>
                  </a:cxn>
                  <a:cxn ang="T9">
                    <a:pos x="T2" y="T3"/>
                  </a:cxn>
                  <a:cxn ang="T10">
                    <a:pos x="T4" y="T5"/>
                  </a:cxn>
                  <a:cxn ang="T11">
                    <a:pos x="T6" y="T7"/>
                  </a:cxn>
                </a:cxnLst>
                <a:rect l="T12" t="T13" r="T14" b="T15"/>
                <a:pathLst>
                  <a:path w="116" h="110">
                    <a:moveTo>
                      <a:pt x="47" y="0"/>
                    </a:moveTo>
                    <a:lnTo>
                      <a:pt x="0" y="110"/>
                    </a:lnTo>
                    <a:lnTo>
                      <a:pt x="116" y="82"/>
                    </a:lnTo>
                    <a:lnTo>
                      <a:pt x="47" y="0"/>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71" name="Group 112"/>
            <p:cNvGrpSpPr/>
            <p:nvPr/>
          </p:nvGrpSpPr>
          <p:grpSpPr bwMode="auto">
            <a:xfrm>
              <a:off x="288" y="816"/>
              <a:ext cx="96" cy="2496"/>
              <a:chOff x="74" y="834"/>
              <a:chExt cx="137" cy="2256"/>
            </a:xfrm>
          </p:grpSpPr>
          <p:sp>
            <p:nvSpPr>
              <p:cNvPr id="186" name="Rectangle 113"/>
              <p:cNvSpPr>
                <a:spLocks noChangeArrowheads="1"/>
              </p:cNvSpPr>
              <p:nvPr/>
            </p:nvSpPr>
            <p:spPr bwMode="auto">
              <a:xfrm>
                <a:off x="124" y="969"/>
                <a:ext cx="36" cy="2121"/>
              </a:xfrm>
              <a:prstGeom prst="rect">
                <a:avLst/>
              </a:prstGeom>
              <a:solidFill>
                <a:srgbClr val="D6009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87" name="Freeform 114"/>
              <p:cNvSpPr/>
              <p:nvPr/>
            </p:nvSpPr>
            <p:spPr bwMode="auto">
              <a:xfrm>
                <a:off x="74" y="834"/>
                <a:ext cx="137" cy="137"/>
              </a:xfrm>
              <a:custGeom>
                <a:avLst/>
                <a:gdLst>
                  <a:gd name="T0" fmla="*/ 137 w 137"/>
                  <a:gd name="T1" fmla="*/ 137 h 137"/>
                  <a:gd name="T2" fmla="*/ 68 w 137"/>
                  <a:gd name="T3" fmla="*/ 0 h 137"/>
                  <a:gd name="T4" fmla="*/ 0 w 137"/>
                  <a:gd name="T5" fmla="*/ 137 h 137"/>
                  <a:gd name="T6" fmla="*/ 137 w 137"/>
                  <a:gd name="T7" fmla="*/ 137 h 137"/>
                  <a:gd name="T8" fmla="*/ 0 60000 65536"/>
                  <a:gd name="T9" fmla="*/ 0 60000 65536"/>
                  <a:gd name="T10" fmla="*/ 0 60000 65536"/>
                  <a:gd name="T11" fmla="*/ 0 60000 65536"/>
                  <a:gd name="T12" fmla="*/ 0 w 137"/>
                  <a:gd name="T13" fmla="*/ 0 h 137"/>
                  <a:gd name="T14" fmla="*/ 137 w 137"/>
                  <a:gd name="T15" fmla="*/ 137 h 137"/>
                </a:gdLst>
                <a:ahLst/>
                <a:cxnLst>
                  <a:cxn ang="T8">
                    <a:pos x="T0" y="T1"/>
                  </a:cxn>
                  <a:cxn ang="T9">
                    <a:pos x="T2" y="T3"/>
                  </a:cxn>
                  <a:cxn ang="T10">
                    <a:pos x="T4" y="T5"/>
                  </a:cxn>
                  <a:cxn ang="T11">
                    <a:pos x="T6" y="T7"/>
                  </a:cxn>
                </a:cxnLst>
                <a:rect l="T12" t="T13" r="T14" b="T15"/>
                <a:pathLst>
                  <a:path w="137" h="137">
                    <a:moveTo>
                      <a:pt x="137" y="137"/>
                    </a:moveTo>
                    <a:lnTo>
                      <a:pt x="68" y="0"/>
                    </a:lnTo>
                    <a:lnTo>
                      <a:pt x="0" y="137"/>
                    </a:lnTo>
                    <a:lnTo>
                      <a:pt x="137" y="137"/>
                    </a:lnTo>
                    <a:close/>
                  </a:path>
                </a:pathLst>
              </a:custGeom>
              <a:solidFill>
                <a:srgbClr val="D60093"/>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72" name="Rectangle 115"/>
            <p:cNvSpPr>
              <a:spLocks noChangeArrowheads="1"/>
            </p:cNvSpPr>
            <p:nvPr/>
          </p:nvSpPr>
          <p:spPr bwMode="auto">
            <a:xfrm>
              <a:off x="416" y="1536"/>
              <a:ext cx="127" cy="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600" b="1">
                  <a:solidFill>
                    <a:srgbClr val="3333FF"/>
                  </a:solidFill>
                  <a:latin typeface="楷体_GB2312" pitchFamily="49" charset="-122"/>
                  <a:ea typeface="楷体_GB2312" pitchFamily="49" charset="-122"/>
                </a:rPr>
                <a:t>能</a:t>
              </a:r>
              <a:endParaRPr kumimoji="1" lang="zh-CN" altLang="en-US" sz="1600" b="1">
                <a:solidFill>
                  <a:srgbClr val="3333FF"/>
                </a:solidFill>
                <a:latin typeface="楷体_GB2312" pitchFamily="49" charset="-122"/>
                <a:ea typeface="楷体_GB2312" pitchFamily="49" charset="-122"/>
              </a:endParaRPr>
            </a:p>
            <a:p>
              <a:pPr algn="ctr" eaLnBrk="1" hangingPunct="1"/>
              <a:r>
                <a:rPr kumimoji="1" lang="zh-CN" altLang="en-US" sz="1600" b="1">
                  <a:solidFill>
                    <a:srgbClr val="3333FF"/>
                  </a:solidFill>
                  <a:latin typeface="楷体_GB2312" pitchFamily="49" charset="-122"/>
                  <a:ea typeface="楷体_GB2312" pitchFamily="49" charset="-122"/>
                </a:rPr>
                <a:t>量</a:t>
              </a:r>
              <a:endParaRPr kumimoji="1" lang="zh-CN" altLang="en-US" sz="1600" b="1">
                <a:solidFill>
                  <a:srgbClr val="3333FF"/>
                </a:solidFill>
                <a:latin typeface="楷体_GB2312" pitchFamily="49" charset="-122"/>
                <a:ea typeface="楷体_GB2312" pitchFamily="49" charset="-122"/>
              </a:endParaRPr>
            </a:p>
          </p:txBody>
        </p:sp>
        <p:grpSp>
          <p:nvGrpSpPr>
            <p:cNvPr id="73" name="Group 116"/>
            <p:cNvGrpSpPr/>
            <p:nvPr/>
          </p:nvGrpSpPr>
          <p:grpSpPr bwMode="auto">
            <a:xfrm>
              <a:off x="3120" y="1344"/>
              <a:ext cx="155" cy="1743"/>
              <a:chOff x="3120" y="1344"/>
              <a:chExt cx="155" cy="1743"/>
            </a:xfrm>
          </p:grpSpPr>
          <p:sp>
            <p:nvSpPr>
              <p:cNvPr id="184" name="Freeform 117"/>
              <p:cNvSpPr/>
              <p:nvPr/>
            </p:nvSpPr>
            <p:spPr bwMode="auto">
              <a:xfrm>
                <a:off x="3120" y="1344"/>
                <a:ext cx="122" cy="1694"/>
              </a:xfrm>
              <a:custGeom>
                <a:avLst/>
                <a:gdLst>
                  <a:gd name="T0" fmla="*/ 13 w 282"/>
                  <a:gd name="T1" fmla="*/ 42 h 1694"/>
                  <a:gd name="T2" fmla="*/ 5 w 282"/>
                  <a:gd name="T3" fmla="*/ 127 h 1694"/>
                  <a:gd name="T4" fmla="*/ 55 w 282"/>
                  <a:gd name="T5" fmla="*/ 207 h 1694"/>
                  <a:gd name="T6" fmla="*/ 134 w 282"/>
                  <a:gd name="T7" fmla="*/ 226 h 1694"/>
                  <a:gd name="T8" fmla="*/ 186 w 282"/>
                  <a:gd name="T9" fmla="*/ 253 h 1694"/>
                  <a:gd name="T10" fmla="*/ 255 w 282"/>
                  <a:gd name="T11" fmla="*/ 360 h 1694"/>
                  <a:gd name="T12" fmla="*/ 242 w 282"/>
                  <a:gd name="T13" fmla="*/ 400 h 1694"/>
                  <a:gd name="T14" fmla="*/ 126 w 282"/>
                  <a:gd name="T15" fmla="*/ 464 h 1694"/>
                  <a:gd name="T16" fmla="*/ 88 w 282"/>
                  <a:gd name="T17" fmla="*/ 501 h 1694"/>
                  <a:gd name="T18" fmla="*/ 99 w 282"/>
                  <a:gd name="T19" fmla="*/ 668 h 1694"/>
                  <a:gd name="T20" fmla="*/ 178 w 282"/>
                  <a:gd name="T21" fmla="*/ 710 h 1694"/>
                  <a:gd name="T22" fmla="*/ 225 w 282"/>
                  <a:gd name="T23" fmla="*/ 717 h 1694"/>
                  <a:gd name="T24" fmla="*/ 219 w 282"/>
                  <a:gd name="T25" fmla="*/ 709 h 1694"/>
                  <a:gd name="T26" fmla="*/ 244 w 282"/>
                  <a:gd name="T27" fmla="*/ 739 h 1694"/>
                  <a:gd name="T28" fmla="*/ 256 w 282"/>
                  <a:gd name="T29" fmla="*/ 816 h 1694"/>
                  <a:gd name="T30" fmla="*/ 233 w 282"/>
                  <a:gd name="T31" fmla="*/ 851 h 1694"/>
                  <a:gd name="T32" fmla="*/ 138 w 282"/>
                  <a:gd name="T33" fmla="*/ 882 h 1694"/>
                  <a:gd name="T34" fmla="*/ 49 w 282"/>
                  <a:gd name="T35" fmla="*/ 974 h 1694"/>
                  <a:gd name="T36" fmla="*/ 77 w 282"/>
                  <a:gd name="T37" fmla="*/ 1052 h 1694"/>
                  <a:gd name="T38" fmla="*/ 198 w 282"/>
                  <a:gd name="T39" fmla="*/ 1098 h 1694"/>
                  <a:gd name="T40" fmla="*/ 210 w 282"/>
                  <a:gd name="T41" fmla="*/ 1111 h 1694"/>
                  <a:gd name="T42" fmla="*/ 234 w 282"/>
                  <a:gd name="T43" fmla="*/ 1185 h 1694"/>
                  <a:gd name="T44" fmla="*/ 234 w 282"/>
                  <a:gd name="T45" fmla="*/ 1257 h 1694"/>
                  <a:gd name="T46" fmla="*/ 223 w 282"/>
                  <a:gd name="T47" fmla="*/ 1271 h 1694"/>
                  <a:gd name="T48" fmla="*/ 99 w 282"/>
                  <a:gd name="T49" fmla="*/ 1301 h 1694"/>
                  <a:gd name="T50" fmla="*/ 29 w 282"/>
                  <a:gd name="T51" fmla="*/ 1352 h 1694"/>
                  <a:gd name="T52" fmla="*/ 47 w 282"/>
                  <a:gd name="T53" fmla="*/ 1418 h 1694"/>
                  <a:gd name="T54" fmla="*/ 174 w 282"/>
                  <a:gd name="T55" fmla="*/ 1501 h 1694"/>
                  <a:gd name="T56" fmla="*/ 184 w 282"/>
                  <a:gd name="T57" fmla="*/ 1507 h 1694"/>
                  <a:gd name="T58" fmla="*/ 217 w 282"/>
                  <a:gd name="T59" fmla="*/ 1640 h 1694"/>
                  <a:gd name="T60" fmla="*/ 228 w 282"/>
                  <a:gd name="T61" fmla="*/ 1690 h 1694"/>
                  <a:gd name="T62" fmla="*/ 221 w 282"/>
                  <a:gd name="T63" fmla="*/ 1567 h 1694"/>
                  <a:gd name="T64" fmla="*/ 197 w 282"/>
                  <a:gd name="T65" fmla="*/ 1488 h 1694"/>
                  <a:gd name="T66" fmla="*/ 78 w 282"/>
                  <a:gd name="T67" fmla="*/ 1411 h 1694"/>
                  <a:gd name="T68" fmla="*/ 48 w 282"/>
                  <a:gd name="T69" fmla="*/ 1379 h 1694"/>
                  <a:gd name="T70" fmla="*/ 70 w 282"/>
                  <a:gd name="T71" fmla="*/ 1326 h 1694"/>
                  <a:gd name="T72" fmla="*/ 126 w 282"/>
                  <a:gd name="T73" fmla="*/ 1321 h 1694"/>
                  <a:gd name="T74" fmla="*/ 250 w 282"/>
                  <a:gd name="T75" fmla="*/ 1278 h 1694"/>
                  <a:gd name="T76" fmla="*/ 264 w 282"/>
                  <a:gd name="T77" fmla="*/ 1214 h 1694"/>
                  <a:gd name="T78" fmla="*/ 246 w 282"/>
                  <a:gd name="T79" fmla="*/ 1144 h 1694"/>
                  <a:gd name="T80" fmla="*/ 220 w 282"/>
                  <a:gd name="T81" fmla="*/ 1080 h 1694"/>
                  <a:gd name="T82" fmla="*/ 113 w 282"/>
                  <a:gd name="T83" fmla="*/ 1044 h 1694"/>
                  <a:gd name="T84" fmla="*/ 80 w 282"/>
                  <a:gd name="T85" fmla="*/ 1021 h 1694"/>
                  <a:gd name="T86" fmla="*/ 72 w 282"/>
                  <a:gd name="T87" fmla="*/ 971 h 1694"/>
                  <a:gd name="T88" fmla="*/ 147 w 282"/>
                  <a:gd name="T89" fmla="*/ 904 h 1694"/>
                  <a:gd name="T90" fmla="*/ 242 w 282"/>
                  <a:gd name="T91" fmla="*/ 873 h 1694"/>
                  <a:gd name="T92" fmla="*/ 279 w 282"/>
                  <a:gd name="T93" fmla="*/ 820 h 1694"/>
                  <a:gd name="T94" fmla="*/ 249 w 282"/>
                  <a:gd name="T95" fmla="*/ 715 h 1694"/>
                  <a:gd name="T96" fmla="*/ 216 w 282"/>
                  <a:gd name="T97" fmla="*/ 695 h 1694"/>
                  <a:gd name="T98" fmla="*/ 215 w 282"/>
                  <a:gd name="T99" fmla="*/ 697 h 1694"/>
                  <a:gd name="T100" fmla="*/ 170 w 282"/>
                  <a:gd name="T101" fmla="*/ 681 h 1694"/>
                  <a:gd name="T102" fmla="*/ 121 w 282"/>
                  <a:gd name="T103" fmla="*/ 659 h 1694"/>
                  <a:gd name="T104" fmla="*/ 97 w 282"/>
                  <a:gd name="T105" fmla="*/ 510 h 1694"/>
                  <a:gd name="T106" fmla="*/ 128 w 282"/>
                  <a:gd name="T107" fmla="*/ 487 h 1694"/>
                  <a:gd name="T108" fmla="*/ 237 w 282"/>
                  <a:gd name="T109" fmla="*/ 438 h 1694"/>
                  <a:gd name="T110" fmla="*/ 277 w 282"/>
                  <a:gd name="T111" fmla="*/ 351 h 1694"/>
                  <a:gd name="T112" fmla="*/ 203 w 282"/>
                  <a:gd name="T113" fmla="*/ 236 h 1694"/>
                  <a:gd name="T114" fmla="*/ 135 w 282"/>
                  <a:gd name="T115" fmla="*/ 202 h 1694"/>
                  <a:gd name="T116" fmla="*/ 58 w 282"/>
                  <a:gd name="T117" fmla="*/ 183 h 1694"/>
                  <a:gd name="T118" fmla="*/ 30 w 282"/>
                  <a:gd name="T119" fmla="*/ 134 h 1694"/>
                  <a:gd name="T120" fmla="*/ 28 w 282"/>
                  <a:gd name="T121" fmla="*/ 69 h 1694"/>
                  <a:gd name="T122" fmla="*/ 145 w 282"/>
                  <a:gd name="T123" fmla="*/ 29 h 16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82"/>
                  <a:gd name="T187" fmla="*/ 0 h 1694"/>
                  <a:gd name="T188" fmla="*/ 282 w 282"/>
                  <a:gd name="T189" fmla="*/ 1694 h 16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82" h="1694">
                    <a:moveTo>
                      <a:pt x="182" y="23"/>
                    </a:moveTo>
                    <a:lnTo>
                      <a:pt x="178" y="0"/>
                    </a:lnTo>
                    <a:lnTo>
                      <a:pt x="140" y="6"/>
                    </a:lnTo>
                    <a:lnTo>
                      <a:pt x="136" y="7"/>
                    </a:lnTo>
                    <a:lnTo>
                      <a:pt x="97" y="15"/>
                    </a:lnTo>
                    <a:lnTo>
                      <a:pt x="58" y="25"/>
                    </a:lnTo>
                    <a:lnTo>
                      <a:pt x="21" y="36"/>
                    </a:lnTo>
                    <a:lnTo>
                      <a:pt x="19" y="36"/>
                    </a:lnTo>
                    <a:lnTo>
                      <a:pt x="16" y="39"/>
                    </a:lnTo>
                    <a:lnTo>
                      <a:pt x="13" y="42"/>
                    </a:lnTo>
                    <a:lnTo>
                      <a:pt x="13" y="43"/>
                    </a:lnTo>
                    <a:lnTo>
                      <a:pt x="9" y="51"/>
                    </a:lnTo>
                    <a:lnTo>
                      <a:pt x="6" y="60"/>
                    </a:lnTo>
                    <a:lnTo>
                      <a:pt x="2" y="69"/>
                    </a:lnTo>
                    <a:lnTo>
                      <a:pt x="1" y="74"/>
                    </a:lnTo>
                    <a:lnTo>
                      <a:pt x="0" y="83"/>
                    </a:lnTo>
                    <a:lnTo>
                      <a:pt x="0" y="94"/>
                    </a:lnTo>
                    <a:lnTo>
                      <a:pt x="2" y="107"/>
                    </a:lnTo>
                    <a:lnTo>
                      <a:pt x="4" y="123"/>
                    </a:lnTo>
                    <a:lnTo>
                      <a:pt x="5" y="127"/>
                    </a:lnTo>
                    <a:lnTo>
                      <a:pt x="8" y="143"/>
                    </a:lnTo>
                    <a:lnTo>
                      <a:pt x="13" y="159"/>
                    </a:lnTo>
                    <a:lnTo>
                      <a:pt x="19" y="174"/>
                    </a:lnTo>
                    <a:lnTo>
                      <a:pt x="27" y="186"/>
                    </a:lnTo>
                    <a:lnTo>
                      <a:pt x="30" y="190"/>
                    </a:lnTo>
                    <a:lnTo>
                      <a:pt x="34" y="195"/>
                    </a:lnTo>
                    <a:lnTo>
                      <a:pt x="38" y="198"/>
                    </a:lnTo>
                    <a:lnTo>
                      <a:pt x="42" y="201"/>
                    </a:lnTo>
                    <a:lnTo>
                      <a:pt x="49" y="205"/>
                    </a:lnTo>
                    <a:lnTo>
                      <a:pt x="55" y="207"/>
                    </a:lnTo>
                    <a:lnTo>
                      <a:pt x="67" y="210"/>
                    </a:lnTo>
                    <a:lnTo>
                      <a:pt x="71" y="211"/>
                    </a:lnTo>
                    <a:lnTo>
                      <a:pt x="84" y="212"/>
                    </a:lnTo>
                    <a:lnTo>
                      <a:pt x="84" y="200"/>
                    </a:lnTo>
                    <a:lnTo>
                      <a:pt x="79" y="211"/>
                    </a:lnTo>
                    <a:lnTo>
                      <a:pt x="93" y="215"/>
                    </a:lnTo>
                    <a:lnTo>
                      <a:pt x="105" y="218"/>
                    </a:lnTo>
                    <a:lnTo>
                      <a:pt x="116" y="221"/>
                    </a:lnTo>
                    <a:lnTo>
                      <a:pt x="126" y="224"/>
                    </a:lnTo>
                    <a:lnTo>
                      <a:pt x="134" y="226"/>
                    </a:lnTo>
                    <a:lnTo>
                      <a:pt x="140" y="228"/>
                    </a:lnTo>
                    <a:lnTo>
                      <a:pt x="146" y="230"/>
                    </a:lnTo>
                    <a:lnTo>
                      <a:pt x="155" y="234"/>
                    </a:lnTo>
                    <a:lnTo>
                      <a:pt x="163" y="238"/>
                    </a:lnTo>
                    <a:lnTo>
                      <a:pt x="171" y="243"/>
                    </a:lnTo>
                    <a:lnTo>
                      <a:pt x="177" y="247"/>
                    </a:lnTo>
                    <a:lnTo>
                      <a:pt x="181" y="236"/>
                    </a:lnTo>
                    <a:lnTo>
                      <a:pt x="173" y="244"/>
                    </a:lnTo>
                    <a:lnTo>
                      <a:pt x="179" y="248"/>
                    </a:lnTo>
                    <a:lnTo>
                      <a:pt x="186" y="253"/>
                    </a:lnTo>
                    <a:lnTo>
                      <a:pt x="190" y="256"/>
                    </a:lnTo>
                    <a:lnTo>
                      <a:pt x="198" y="261"/>
                    </a:lnTo>
                    <a:lnTo>
                      <a:pt x="204" y="251"/>
                    </a:lnTo>
                    <a:lnTo>
                      <a:pt x="196" y="259"/>
                    </a:lnTo>
                    <a:lnTo>
                      <a:pt x="194" y="258"/>
                    </a:lnTo>
                    <a:lnTo>
                      <a:pt x="242" y="330"/>
                    </a:lnTo>
                    <a:lnTo>
                      <a:pt x="246" y="336"/>
                    </a:lnTo>
                    <a:lnTo>
                      <a:pt x="250" y="344"/>
                    </a:lnTo>
                    <a:lnTo>
                      <a:pt x="253" y="352"/>
                    </a:lnTo>
                    <a:lnTo>
                      <a:pt x="255" y="360"/>
                    </a:lnTo>
                    <a:lnTo>
                      <a:pt x="266" y="355"/>
                    </a:lnTo>
                    <a:lnTo>
                      <a:pt x="254" y="355"/>
                    </a:lnTo>
                    <a:lnTo>
                      <a:pt x="255" y="370"/>
                    </a:lnTo>
                    <a:lnTo>
                      <a:pt x="252" y="384"/>
                    </a:lnTo>
                    <a:lnTo>
                      <a:pt x="264" y="384"/>
                    </a:lnTo>
                    <a:lnTo>
                      <a:pt x="253" y="379"/>
                    </a:lnTo>
                    <a:lnTo>
                      <a:pt x="248" y="392"/>
                    </a:lnTo>
                    <a:lnTo>
                      <a:pt x="259" y="397"/>
                    </a:lnTo>
                    <a:lnTo>
                      <a:pt x="250" y="388"/>
                    </a:lnTo>
                    <a:lnTo>
                      <a:pt x="242" y="400"/>
                    </a:lnTo>
                    <a:lnTo>
                      <a:pt x="232" y="411"/>
                    </a:lnTo>
                    <a:lnTo>
                      <a:pt x="220" y="421"/>
                    </a:lnTo>
                    <a:lnTo>
                      <a:pt x="206" y="430"/>
                    </a:lnTo>
                    <a:lnTo>
                      <a:pt x="215" y="438"/>
                    </a:lnTo>
                    <a:lnTo>
                      <a:pt x="210" y="427"/>
                    </a:lnTo>
                    <a:lnTo>
                      <a:pt x="196" y="435"/>
                    </a:lnTo>
                    <a:lnTo>
                      <a:pt x="166" y="449"/>
                    </a:lnTo>
                    <a:lnTo>
                      <a:pt x="152" y="455"/>
                    </a:lnTo>
                    <a:lnTo>
                      <a:pt x="138" y="460"/>
                    </a:lnTo>
                    <a:lnTo>
                      <a:pt x="126" y="464"/>
                    </a:lnTo>
                    <a:lnTo>
                      <a:pt x="116" y="468"/>
                    </a:lnTo>
                    <a:lnTo>
                      <a:pt x="115" y="468"/>
                    </a:lnTo>
                    <a:lnTo>
                      <a:pt x="112" y="471"/>
                    </a:lnTo>
                    <a:lnTo>
                      <a:pt x="111" y="473"/>
                    </a:lnTo>
                    <a:lnTo>
                      <a:pt x="102" y="483"/>
                    </a:lnTo>
                    <a:lnTo>
                      <a:pt x="113" y="488"/>
                    </a:lnTo>
                    <a:lnTo>
                      <a:pt x="105" y="479"/>
                    </a:lnTo>
                    <a:lnTo>
                      <a:pt x="97" y="488"/>
                    </a:lnTo>
                    <a:lnTo>
                      <a:pt x="91" y="497"/>
                    </a:lnTo>
                    <a:lnTo>
                      <a:pt x="88" y="501"/>
                    </a:lnTo>
                    <a:lnTo>
                      <a:pt x="86" y="505"/>
                    </a:lnTo>
                    <a:lnTo>
                      <a:pt x="85" y="510"/>
                    </a:lnTo>
                    <a:lnTo>
                      <a:pt x="84" y="514"/>
                    </a:lnTo>
                    <a:lnTo>
                      <a:pt x="83" y="551"/>
                    </a:lnTo>
                    <a:lnTo>
                      <a:pt x="84" y="588"/>
                    </a:lnTo>
                    <a:lnTo>
                      <a:pt x="88" y="624"/>
                    </a:lnTo>
                    <a:lnTo>
                      <a:pt x="92" y="642"/>
                    </a:lnTo>
                    <a:lnTo>
                      <a:pt x="93" y="646"/>
                    </a:lnTo>
                    <a:lnTo>
                      <a:pt x="97" y="663"/>
                    </a:lnTo>
                    <a:lnTo>
                      <a:pt x="99" y="668"/>
                    </a:lnTo>
                    <a:lnTo>
                      <a:pt x="102" y="672"/>
                    </a:lnTo>
                    <a:lnTo>
                      <a:pt x="105" y="676"/>
                    </a:lnTo>
                    <a:lnTo>
                      <a:pt x="114" y="683"/>
                    </a:lnTo>
                    <a:lnTo>
                      <a:pt x="118" y="685"/>
                    </a:lnTo>
                    <a:lnTo>
                      <a:pt x="129" y="690"/>
                    </a:lnTo>
                    <a:lnTo>
                      <a:pt x="139" y="694"/>
                    </a:lnTo>
                    <a:lnTo>
                      <a:pt x="151" y="699"/>
                    </a:lnTo>
                    <a:lnTo>
                      <a:pt x="161" y="703"/>
                    </a:lnTo>
                    <a:lnTo>
                      <a:pt x="170" y="707"/>
                    </a:lnTo>
                    <a:lnTo>
                      <a:pt x="178" y="710"/>
                    </a:lnTo>
                    <a:lnTo>
                      <a:pt x="185" y="713"/>
                    </a:lnTo>
                    <a:lnTo>
                      <a:pt x="190" y="715"/>
                    </a:lnTo>
                    <a:lnTo>
                      <a:pt x="199" y="718"/>
                    </a:lnTo>
                    <a:lnTo>
                      <a:pt x="205" y="720"/>
                    </a:lnTo>
                    <a:lnTo>
                      <a:pt x="210" y="721"/>
                    </a:lnTo>
                    <a:lnTo>
                      <a:pt x="214" y="721"/>
                    </a:lnTo>
                    <a:lnTo>
                      <a:pt x="215" y="721"/>
                    </a:lnTo>
                    <a:lnTo>
                      <a:pt x="220" y="720"/>
                    </a:lnTo>
                    <a:lnTo>
                      <a:pt x="224" y="717"/>
                    </a:lnTo>
                    <a:lnTo>
                      <a:pt x="225" y="717"/>
                    </a:lnTo>
                    <a:lnTo>
                      <a:pt x="227" y="713"/>
                    </a:lnTo>
                    <a:lnTo>
                      <a:pt x="227" y="712"/>
                    </a:lnTo>
                    <a:lnTo>
                      <a:pt x="216" y="707"/>
                    </a:lnTo>
                    <a:lnTo>
                      <a:pt x="216" y="719"/>
                    </a:lnTo>
                    <a:lnTo>
                      <a:pt x="221" y="718"/>
                    </a:lnTo>
                    <a:lnTo>
                      <a:pt x="225" y="716"/>
                    </a:lnTo>
                    <a:lnTo>
                      <a:pt x="212" y="718"/>
                    </a:lnTo>
                    <a:lnTo>
                      <a:pt x="213" y="718"/>
                    </a:lnTo>
                    <a:lnTo>
                      <a:pt x="215" y="720"/>
                    </a:lnTo>
                    <a:lnTo>
                      <a:pt x="219" y="709"/>
                    </a:lnTo>
                    <a:lnTo>
                      <a:pt x="211" y="717"/>
                    </a:lnTo>
                    <a:lnTo>
                      <a:pt x="215" y="720"/>
                    </a:lnTo>
                    <a:lnTo>
                      <a:pt x="221" y="724"/>
                    </a:lnTo>
                    <a:lnTo>
                      <a:pt x="230" y="731"/>
                    </a:lnTo>
                    <a:lnTo>
                      <a:pt x="234" y="733"/>
                    </a:lnTo>
                    <a:lnTo>
                      <a:pt x="240" y="737"/>
                    </a:lnTo>
                    <a:lnTo>
                      <a:pt x="246" y="741"/>
                    </a:lnTo>
                    <a:lnTo>
                      <a:pt x="252" y="731"/>
                    </a:lnTo>
                    <a:lnTo>
                      <a:pt x="241" y="736"/>
                    </a:lnTo>
                    <a:lnTo>
                      <a:pt x="244" y="739"/>
                    </a:lnTo>
                    <a:lnTo>
                      <a:pt x="241" y="735"/>
                    </a:lnTo>
                    <a:lnTo>
                      <a:pt x="251" y="765"/>
                    </a:lnTo>
                    <a:lnTo>
                      <a:pt x="255" y="779"/>
                    </a:lnTo>
                    <a:lnTo>
                      <a:pt x="266" y="775"/>
                    </a:lnTo>
                    <a:lnTo>
                      <a:pt x="254" y="775"/>
                    </a:lnTo>
                    <a:lnTo>
                      <a:pt x="257" y="790"/>
                    </a:lnTo>
                    <a:lnTo>
                      <a:pt x="258" y="805"/>
                    </a:lnTo>
                    <a:lnTo>
                      <a:pt x="255" y="820"/>
                    </a:lnTo>
                    <a:lnTo>
                      <a:pt x="267" y="820"/>
                    </a:lnTo>
                    <a:lnTo>
                      <a:pt x="256" y="816"/>
                    </a:lnTo>
                    <a:lnTo>
                      <a:pt x="254" y="823"/>
                    </a:lnTo>
                    <a:lnTo>
                      <a:pt x="251" y="831"/>
                    </a:lnTo>
                    <a:lnTo>
                      <a:pt x="246" y="839"/>
                    </a:lnTo>
                    <a:lnTo>
                      <a:pt x="257" y="843"/>
                    </a:lnTo>
                    <a:lnTo>
                      <a:pt x="249" y="835"/>
                    </a:lnTo>
                    <a:lnTo>
                      <a:pt x="243" y="844"/>
                    </a:lnTo>
                    <a:lnTo>
                      <a:pt x="237" y="849"/>
                    </a:lnTo>
                    <a:lnTo>
                      <a:pt x="245" y="857"/>
                    </a:lnTo>
                    <a:lnTo>
                      <a:pt x="241" y="846"/>
                    </a:lnTo>
                    <a:lnTo>
                      <a:pt x="233" y="851"/>
                    </a:lnTo>
                    <a:lnTo>
                      <a:pt x="224" y="854"/>
                    </a:lnTo>
                    <a:lnTo>
                      <a:pt x="214" y="856"/>
                    </a:lnTo>
                    <a:lnTo>
                      <a:pt x="219" y="867"/>
                    </a:lnTo>
                    <a:lnTo>
                      <a:pt x="219" y="855"/>
                    </a:lnTo>
                    <a:lnTo>
                      <a:pt x="199" y="858"/>
                    </a:lnTo>
                    <a:lnTo>
                      <a:pt x="194" y="859"/>
                    </a:lnTo>
                    <a:lnTo>
                      <a:pt x="185" y="861"/>
                    </a:lnTo>
                    <a:lnTo>
                      <a:pt x="176" y="864"/>
                    </a:lnTo>
                    <a:lnTo>
                      <a:pt x="155" y="873"/>
                    </a:lnTo>
                    <a:lnTo>
                      <a:pt x="138" y="882"/>
                    </a:lnTo>
                    <a:lnTo>
                      <a:pt x="122" y="892"/>
                    </a:lnTo>
                    <a:lnTo>
                      <a:pt x="118" y="894"/>
                    </a:lnTo>
                    <a:lnTo>
                      <a:pt x="104" y="905"/>
                    </a:lnTo>
                    <a:lnTo>
                      <a:pt x="90" y="917"/>
                    </a:lnTo>
                    <a:lnTo>
                      <a:pt x="77" y="931"/>
                    </a:lnTo>
                    <a:lnTo>
                      <a:pt x="65" y="946"/>
                    </a:lnTo>
                    <a:lnTo>
                      <a:pt x="51" y="964"/>
                    </a:lnTo>
                    <a:lnTo>
                      <a:pt x="49" y="966"/>
                    </a:lnTo>
                    <a:lnTo>
                      <a:pt x="48" y="971"/>
                    </a:lnTo>
                    <a:lnTo>
                      <a:pt x="49" y="974"/>
                    </a:lnTo>
                    <a:lnTo>
                      <a:pt x="50" y="981"/>
                    </a:lnTo>
                    <a:lnTo>
                      <a:pt x="51" y="990"/>
                    </a:lnTo>
                    <a:lnTo>
                      <a:pt x="53" y="1005"/>
                    </a:lnTo>
                    <a:lnTo>
                      <a:pt x="55" y="1016"/>
                    </a:lnTo>
                    <a:lnTo>
                      <a:pt x="56" y="1021"/>
                    </a:lnTo>
                    <a:lnTo>
                      <a:pt x="58" y="1030"/>
                    </a:lnTo>
                    <a:lnTo>
                      <a:pt x="63" y="1038"/>
                    </a:lnTo>
                    <a:lnTo>
                      <a:pt x="65" y="1042"/>
                    </a:lnTo>
                    <a:lnTo>
                      <a:pt x="72" y="1049"/>
                    </a:lnTo>
                    <a:lnTo>
                      <a:pt x="77" y="1052"/>
                    </a:lnTo>
                    <a:lnTo>
                      <a:pt x="81" y="1055"/>
                    </a:lnTo>
                    <a:lnTo>
                      <a:pt x="88" y="1058"/>
                    </a:lnTo>
                    <a:lnTo>
                      <a:pt x="95" y="1062"/>
                    </a:lnTo>
                    <a:lnTo>
                      <a:pt x="103" y="1066"/>
                    </a:lnTo>
                    <a:lnTo>
                      <a:pt x="121" y="1073"/>
                    </a:lnTo>
                    <a:lnTo>
                      <a:pt x="139" y="1079"/>
                    </a:lnTo>
                    <a:lnTo>
                      <a:pt x="176" y="1090"/>
                    </a:lnTo>
                    <a:lnTo>
                      <a:pt x="181" y="1092"/>
                    </a:lnTo>
                    <a:lnTo>
                      <a:pt x="186" y="1094"/>
                    </a:lnTo>
                    <a:lnTo>
                      <a:pt x="198" y="1098"/>
                    </a:lnTo>
                    <a:lnTo>
                      <a:pt x="203" y="1099"/>
                    </a:lnTo>
                    <a:lnTo>
                      <a:pt x="208" y="1101"/>
                    </a:lnTo>
                    <a:lnTo>
                      <a:pt x="210" y="1102"/>
                    </a:lnTo>
                    <a:lnTo>
                      <a:pt x="212" y="1102"/>
                    </a:lnTo>
                    <a:lnTo>
                      <a:pt x="216" y="1091"/>
                    </a:lnTo>
                    <a:lnTo>
                      <a:pt x="205" y="1096"/>
                    </a:lnTo>
                    <a:lnTo>
                      <a:pt x="208" y="1099"/>
                    </a:lnTo>
                    <a:lnTo>
                      <a:pt x="211" y="1102"/>
                    </a:lnTo>
                    <a:lnTo>
                      <a:pt x="205" y="1095"/>
                    </a:lnTo>
                    <a:lnTo>
                      <a:pt x="210" y="1111"/>
                    </a:lnTo>
                    <a:lnTo>
                      <a:pt x="214" y="1123"/>
                    </a:lnTo>
                    <a:lnTo>
                      <a:pt x="218" y="1133"/>
                    </a:lnTo>
                    <a:lnTo>
                      <a:pt x="220" y="1141"/>
                    </a:lnTo>
                    <a:lnTo>
                      <a:pt x="223" y="1148"/>
                    </a:lnTo>
                    <a:lnTo>
                      <a:pt x="224" y="1153"/>
                    </a:lnTo>
                    <a:lnTo>
                      <a:pt x="227" y="1161"/>
                    </a:lnTo>
                    <a:lnTo>
                      <a:pt x="229" y="1169"/>
                    </a:lnTo>
                    <a:lnTo>
                      <a:pt x="231" y="1173"/>
                    </a:lnTo>
                    <a:lnTo>
                      <a:pt x="232" y="1178"/>
                    </a:lnTo>
                    <a:lnTo>
                      <a:pt x="234" y="1185"/>
                    </a:lnTo>
                    <a:lnTo>
                      <a:pt x="236" y="1193"/>
                    </a:lnTo>
                    <a:lnTo>
                      <a:pt x="238" y="1203"/>
                    </a:lnTo>
                    <a:lnTo>
                      <a:pt x="241" y="1214"/>
                    </a:lnTo>
                    <a:lnTo>
                      <a:pt x="252" y="1211"/>
                    </a:lnTo>
                    <a:lnTo>
                      <a:pt x="240" y="1211"/>
                    </a:lnTo>
                    <a:lnTo>
                      <a:pt x="241" y="1209"/>
                    </a:lnTo>
                    <a:lnTo>
                      <a:pt x="239" y="1222"/>
                    </a:lnTo>
                    <a:lnTo>
                      <a:pt x="238" y="1226"/>
                    </a:lnTo>
                    <a:lnTo>
                      <a:pt x="237" y="1242"/>
                    </a:lnTo>
                    <a:lnTo>
                      <a:pt x="234" y="1257"/>
                    </a:lnTo>
                    <a:lnTo>
                      <a:pt x="246" y="1257"/>
                    </a:lnTo>
                    <a:lnTo>
                      <a:pt x="235" y="1253"/>
                    </a:lnTo>
                    <a:lnTo>
                      <a:pt x="233" y="1260"/>
                    </a:lnTo>
                    <a:lnTo>
                      <a:pt x="244" y="1264"/>
                    </a:lnTo>
                    <a:lnTo>
                      <a:pt x="235" y="1256"/>
                    </a:lnTo>
                    <a:lnTo>
                      <a:pt x="231" y="1264"/>
                    </a:lnTo>
                    <a:lnTo>
                      <a:pt x="226" y="1268"/>
                    </a:lnTo>
                    <a:lnTo>
                      <a:pt x="219" y="1273"/>
                    </a:lnTo>
                    <a:lnTo>
                      <a:pt x="227" y="1282"/>
                    </a:lnTo>
                    <a:lnTo>
                      <a:pt x="223" y="1271"/>
                    </a:lnTo>
                    <a:lnTo>
                      <a:pt x="214" y="1275"/>
                    </a:lnTo>
                    <a:lnTo>
                      <a:pt x="203" y="1280"/>
                    </a:lnTo>
                    <a:lnTo>
                      <a:pt x="191" y="1284"/>
                    </a:lnTo>
                    <a:lnTo>
                      <a:pt x="178" y="1287"/>
                    </a:lnTo>
                    <a:lnTo>
                      <a:pt x="150" y="1293"/>
                    </a:lnTo>
                    <a:lnTo>
                      <a:pt x="154" y="1304"/>
                    </a:lnTo>
                    <a:lnTo>
                      <a:pt x="154" y="1292"/>
                    </a:lnTo>
                    <a:lnTo>
                      <a:pt x="126" y="1297"/>
                    </a:lnTo>
                    <a:lnTo>
                      <a:pt x="112" y="1299"/>
                    </a:lnTo>
                    <a:lnTo>
                      <a:pt x="99" y="1301"/>
                    </a:lnTo>
                    <a:lnTo>
                      <a:pt x="87" y="1303"/>
                    </a:lnTo>
                    <a:lnTo>
                      <a:pt x="76" y="1305"/>
                    </a:lnTo>
                    <a:lnTo>
                      <a:pt x="67" y="1306"/>
                    </a:lnTo>
                    <a:lnTo>
                      <a:pt x="58" y="1308"/>
                    </a:lnTo>
                    <a:lnTo>
                      <a:pt x="55" y="1308"/>
                    </a:lnTo>
                    <a:lnTo>
                      <a:pt x="52" y="1311"/>
                    </a:lnTo>
                    <a:lnTo>
                      <a:pt x="51" y="1313"/>
                    </a:lnTo>
                    <a:lnTo>
                      <a:pt x="40" y="1329"/>
                    </a:lnTo>
                    <a:lnTo>
                      <a:pt x="33" y="1341"/>
                    </a:lnTo>
                    <a:lnTo>
                      <a:pt x="29" y="1352"/>
                    </a:lnTo>
                    <a:lnTo>
                      <a:pt x="26" y="1362"/>
                    </a:lnTo>
                    <a:lnTo>
                      <a:pt x="25" y="1366"/>
                    </a:lnTo>
                    <a:lnTo>
                      <a:pt x="24" y="1375"/>
                    </a:lnTo>
                    <a:lnTo>
                      <a:pt x="25" y="1383"/>
                    </a:lnTo>
                    <a:lnTo>
                      <a:pt x="26" y="1388"/>
                    </a:lnTo>
                    <a:lnTo>
                      <a:pt x="28" y="1395"/>
                    </a:lnTo>
                    <a:lnTo>
                      <a:pt x="33" y="1402"/>
                    </a:lnTo>
                    <a:lnTo>
                      <a:pt x="35" y="1406"/>
                    </a:lnTo>
                    <a:lnTo>
                      <a:pt x="41" y="1412"/>
                    </a:lnTo>
                    <a:lnTo>
                      <a:pt x="47" y="1418"/>
                    </a:lnTo>
                    <a:lnTo>
                      <a:pt x="55" y="1424"/>
                    </a:lnTo>
                    <a:lnTo>
                      <a:pt x="59" y="1427"/>
                    </a:lnTo>
                    <a:lnTo>
                      <a:pt x="69" y="1433"/>
                    </a:lnTo>
                    <a:lnTo>
                      <a:pt x="79" y="1439"/>
                    </a:lnTo>
                    <a:lnTo>
                      <a:pt x="90" y="1446"/>
                    </a:lnTo>
                    <a:lnTo>
                      <a:pt x="114" y="1461"/>
                    </a:lnTo>
                    <a:lnTo>
                      <a:pt x="150" y="1485"/>
                    </a:lnTo>
                    <a:lnTo>
                      <a:pt x="157" y="1489"/>
                    </a:lnTo>
                    <a:lnTo>
                      <a:pt x="162" y="1493"/>
                    </a:lnTo>
                    <a:lnTo>
                      <a:pt x="174" y="1501"/>
                    </a:lnTo>
                    <a:lnTo>
                      <a:pt x="179" y="1505"/>
                    </a:lnTo>
                    <a:lnTo>
                      <a:pt x="184" y="1507"/>
                    </a:lnTo>
                    <a:lnTo>
                      <a:pt x="188" y="1496"/>
                    </a:lnTo>
                    <a:lnTo>
                      <a:pt x="180" y="1505"/>
                    </a:lnTo>
                    <a:lnTo>
                      <a:pt x="182" y="1507"/>
                    </a:lnTo>
                    <a:lnTo>
                      <a:pt x="186" y="1509"/>
                    </a:lnTo>
                    <a:lnTo>
                      <a:pt x="192" y="1499"/>
                    </a:lnTo>
                    <a:lnTo>
                      <a:pt x="181" y="1504"/>
                    </a:lnTo>
                    <a:lnTo>
                      <a:pt x="184" y="1507"/>
                    </a:lnTo>
                    <a:lnTo>
                      <a:pt x="181" y="1503"/>
                    </a:lnTo>
                    <a:lnTo>
                      <a:pt x="187" y="1522"/>
                    </a:lnTo>
                    <a:lnTo>
                      <a:pt x="191" y="1540"/>
                    </a:lnTo>
                    <a:lnTo>
                      <a:pt x="199" y="1576"/>
                    </a:lnTo>
                    <a:lnTo>
                      <a:pt x="207" y="1612"/>
                    </a:lnTo>
                    <a:lnTo>
                      <a:pt x="212" y="1630"/>
                    </a:lnTo>
                    <a:lnTo>
                      <a:pt x="217" y="1647"/>
                    </a:lnTo>
                    <a:lnTo>
                      <a:pt x="228" y="1643"/>
                    </a:lnTo>
                    <a:lnTo>
                      <a:pt x="216" y="1643"/>
                    </a:lnTo>
                    <a:lnTo>
                      <a:pt x="217" y="1640"/>
                    </a:lnTo>
                    <a:lnTo>
                      <a:pt x="215" y="1645"/>
                    </a:lnTo>
                    <a:lnTo>
                      <a:pt x="213" y="1653"/>
                    </a:lnTo>
                    <a:lnTo>
                      <a:pt x="210" y="1669"/>
                    </a:lnTo>
                    <a:lnTo>
                      <a:pt x="208" y="1676"/>
                    </a:lnTo>
                    <a:lnTo>
                      <a:pt x="206" y="1681"/>
                    </a:lnTo>
                    <a:lnTo>
                      <a:pt x="205" y="1685"/>
                    </a:lnTo>
                    <a:lnTo>
                      <a:pt x="205" y="1688"/>
                    </a:lnTo>
                    <a:lnTo>
                      <a:pt x="228" y="1694"/>
                    </a:lnTo>
                    <a:lnTo>
                      <a:pt x="227" y="1694"/>
                    </a:lnTo>
                    <a:lnTo>
                      <a:pt x="228" y="1690"/>
                    </a:lnTo>
                    <a:lnTo>
                      <a:pt x="230" y="1685"/>
                    </a:lnTo>
                    <a:lnTo>
                      <a:pt x="232" y="1678"/>
                    </a:lnTo>
                    <a:lnTo>
                      <a:pt x="235" y="1662"/>
                    </a:lnTo>
                    <a:lnTo>
                      <a:pt x="237" y="1654"/>
                    </a:lnTo>
                    <a:lnTo>
                      <a:pt x="240" y="1646"/>
                    </a:lnTo>
                    <a:lnTo>
                      <a:pt x="240" y="1643"/>
                    </a:lnTo>
                    <a:lnTo>
                      <a:pt x="239" y="1639"/>
                    </a:lnTo>
                    <a:lnTo>
                      <a:pt x="234" y="1621"/>
                    </a:lnTo>
                    <a:lnTo>
                      <a:pt x="229" y="1603"/>
                    </a:lnTo>
                    <a:lnTo>
                      <a:pt x="221" y="1567"/>
                    </a:lnTo>
                    <a:lnTo>
                      <a:pt x="213" y="1531"/>
                    </a:lnTo>
                    <a:lnTo>
                      <a:pt x="209" y="1513"/>
                    </a:lnTo>
                    <a:lnTo>
                      <a:pt x="203" y="1495"/>
                    </a:lnTo>
                    <a:lnTo>
                      <a:pt x="203" y="1494"/>
                    </a:lnTo>
                    <a:lnTo>
                      <a:pt x="200" y="1491"/>
                    </a:lnTo>
                    <a:lnTo>
                      <a:pt x="199" y="1489"/>
                    </a:lnTo>
                    <a:lnTo>
                      <a:pt x="195" y="1487"/>
                    </a:lnTo>
                    <a:lnTo>
                      <a:pt x="191" y="1498"/>
                    </a:lnTo>
                    <a:lnTo>
                      <a:pt x="199" y="1490"/>
                    </a:lnTo>
                    <a:lnTo>
                      <a:pt x="197" y="1488"/>
                    </a:lnTo>
                    <a:lnTo>
                      <a:pt x="193" y="1485"/>
                    </a:lnTo>
                    <a:lnTo>
                      <a:pt x="188" y="1483"/>
                    </a:lnTo>
                    <a:lnTo>
                      <a:pt x="183" y="1479"/>
                    </a:lnTo>
                    <a:lnTo>
                      <a:pt x="171" y="1471"/>
                    </a:lnTo>
                    <a:lnTo>
                      <a:pt x="166" y="1467"/>
                    </a:lnTo>
                    <a:lnTo>
                      <a:pt x="163" y="1465"/>
                    </a:lnTo>
                    <a:lnTo>
                      <a:pt x="127" y="1441"/>
                    </a:lnTo>
                    <a:lnTo>
                      <a:pt x="99" y="1424"/>
                    </a:lnTo>
                    <a:lnTo>
                      <a:pt x="88" y="1417"/>
                    </a:lnTo>
                    <a:lnTo>
                      <a:pt x="78" y="1411"/>
                    </a:lnTo>
                    <a:lnTo>
                      <a:pt x="68" y="1405"/>
                    </a:lnTo>
                    <a:lnTo>
                      <a:pt x="64" y="1416"/>
                    </a:lnTo>
                    <a:lnTo>
                      <a:pt x="72" y="1407"/>
                    </a:lnTo>
                    <a:lnTo>
                      <a:pt x="64" y="1401"/>
                    </a:lnTo>
                    <a:lnTo>
                      <a:pt x="58" y="1395"/>
                    </a:lnTo>
                    <a:lnTo>
                      <a:pt x="52" y="1389"/>
                    </a:lnTo>
                    <a:lnTo>
                      <a:pt x="44" y="1397"/>
                    </a:lnTo>
                    <a:lnTo>
                      <a:pt x="55" y="1393"/>
                    </a:lnTo>
                    <a:lnTo>
                      <a:pt x="50" y="1386"/>
                    </a:lnTo>
                    <a:lnTo>
                      <a:pt x="48" y="1379"/>
                    </a:lnTo>
                    <a:lnTo>
                      <a:pt x="37" y="1383"/>
                    </a:lnTo>
                    <a:lnTo>
                      <a:pt x="49" y="1383"/>
                    </a:lnTo>
                    <a:lnTo>
                      <a:pt x="48" y="1375"/>
                    </a:lnTo>
                    <a:lnTo>
                      <a:pt x="49" y="1366"/>
                    </a:lnTo>
                    <a:lnTo>
                      <a:pt x="37" y="1366"/>
                    </a:lnTo>
                    <a:lnTo>
                      <a:pt x="48" y="1371"/>
                    </a:lnTo>
                    <a:lnTo>
                      <a:pt x="51" y="1361"/>
                    </a:lnTo>
                    <a:lnTo>
                      <a:pt x="55" y="1350"/>
                    </a:lnTo>
                    <a:lnTo>
                      <a:pt x="62" y="1338"/>
                    </a:lnTo>
                    <a:lnTo>
                      <a:pt x="70" y="1326"/>
                    </a:lnTo>
                    <a:lnTo>
                      <a:pt x="65" y="1330"/>
                    </a:lnTo>
                    <a:lnTo>
                      <a:pt x="68" y="1327"/>
                    </a:lnTo>
                    <a:lnTo>
                      <a:pt x="60" y="1319"/>
                    </a:lnTo>
                    <a:lnTo>
                      <a:pt x="62" y="1331"/>
                    </a:lnTo>
                    <a:lnTo>
                      <a:pt x="67" y="1330"/>
                    </a:lnTo>
                    <a:lnTo>
                      <a:pt x="76" y="1329"/>
                    </a:lnTo>
                    <a:lnTo>
                      <a:pt x="87" y="1327"/>
                    </a:lnTo>
                    <a:lnTo>
                      <a:pt x="99" y="1325"/>
                    </a:lnTo>
                    <a:lnTo>
                      <a:pt x="112" y="1323"/>
                    </a:lnTo>
                    <a:lnTo>
                      <a:pt x="126" y="1321"/>
                    </a:lnTo>
                    <a:lnTo>
                      <a:pt x="154" y="1316"/>
                    </a:lnTo>
                    <a:lnTo>
                      <a:pt x="159" y="1315"/>
                    </a:lnTo>
                    <a:lnTo>
                      <a:pt x="187" y="1309"/>
                    </a:lnTo>
                    <a:lnTo>
                      <a:pt x="200" y="1306"/>
                    </a:lnTo>
                    <a:lnTo>
                      <a:pt x="212" y="1302"/>
                    </a:lnTo>
                    <a:lnTo>
                      <a:pt x="223" y="1297"/>
                    </a:lnTo>
                    <a:lnTo>
                      <a:pt x="232" y="1293"/>
                    </a:lnTo>
                    <a:lnTo>
                      <a:pt x="236" y="1290"/>
                    </a:lnTo>
                    <a:lnTo>
                      <a:pt x="243" y="1285"/>
                    </a:lnTo>
                    <a:lnTo>
                      <a:pt x="250" y="1278"/>
                    </a:lnTo>
                    <a:lnTo>
                      <a:pt x="252" y="1273"/>
                    </a:lnTo>
                    <a:lnTo>
                      <a:pt x="255" y="1269"/>
                    </a:lnTo>
                    <a:lnTo>
                      <a:pt x="257" y="1262"/>
                    </a:lnTo>
                    <a:lnTo>
                      <a:pt x="258" y="1257"/>
                    </a:lnTo>
                    <a:lnTo>
                      <a:pt x="261" y="1242"/>
                    </a:lnTo>
                    <a:lnTo>
                      <a:pt x="262" y="1226"/>
                    </a:lnTo>
                    <a:lnTo>
                      <a:pt x="250" y="1226"/>
                    </a:lnTo>
                    <a:lnTo>
                      <a:pt x="261" y="1231"/>
                    </a:lnTo>
                    <a:lnTo>
                      <a:pt x="264" y="1214"/>
                    </a:lnTo>
                    <a:lnTo>
                      <a:pt x="264" y="1211"/>
                    </a:lnTo>
                    <a:lnTo>
                      <a:pt x="264" y="1208"/>
                    </a:lnTo>
                    <a:lnTo>
                      <a:pt x="260" y="1194"/>
                    </a:lnTo>
                    <a:lnTo>
                      <a:pt x="258" y="1184"/>
                    </a:lnTo>
                    <a:lnTo>
                      <a:pt x="256" y="1176"/>
                    </a:lnTo>
                    <a:lnTo>
                      <a:pt x="254" y="1169"/>
                    </a:lnTo>
                    <a:lnTo>
                      <a:pt x="253" y="1164"/>
                    </a:lnTo>
                    <a:lnTo>
                      <a:pt x="251" y="1160"/>
                    </a:lnTo>
                    <a:lnTo>
                      <a:pt x="249" y="1152"/>
                    </a:lnTo>
                    <a:lnTo>
                      <a:pt x="246" y="1144"/>
                    </a:lnTo>
                    <a:lnTo>
                      <a:pt x="245" y="1139"/>
                    </a:lnTo>
                    <a:lnTo>
                      <a:pt x="242" y="1132"/>
                    </a:lnTo>
                    <a:lnTo>
                      <a:pt x="240" y="1124"/>
                    </a:lnTo>
                    <a:lnTo>
                      <a:pt x="236" y="1114"/>
                    </a:lnTo>
                    <a:lnTo>
                      <a:pt x="232" y="1102"/>
                    </a:lnTo>
                    <a:lnTo>
                      <a:pt x="227" y="1087"/>
                    </a:lnTo>
                    <a:lnTo>
                      <a:pt x="227" y="1086"/>
                    </a:lnTo>
                    <a:lnTo>
                      <a:pt x="224" y="1083"/>
                    </a:lnTo>
                    <a:lnTo>
                      <a:pt x="221" y="1080"/>
                    </a:lnTo>
                    <a:lnTo>
                      <a:pt x="220" y="1080"/>
                    </a:lnTo>
                    <a:lnTo>
                      <a:pt x="219" y="1080"/>
                    </a:lnTo>
                    <a:lnTo>
                      <a:pt x="217" y="1079"/>
                    </a:lnTo>
                    <a:lnTo>
                      <a:pt x="212" y="1077"/>
                    </a:lnTo>
                    <a:lnTo>
                      <a:pt x="207" y="1076"/>
                    </a:lnTo>
                    <a:lnTo>
                      <a:pt x="195" y="1072"/>
                    </a:lnTo>
                    <a:lnTo>
                      <a:pt x="190" y="1070"/>
                    </a:lnTo>
                    <a:lnTo>
                      <a:pt x="184" y="1068"/>
                    </a:lnTo>
                    <a:lnTo>
                      <a:pt x="148" y="1057"/>
                    </a:lnTo>
                    <a:lnTo>
                      <a:pt x="130" y="1051"/>
                    </a:lnTo>
                    <a:lnTo>
                      <a:pt x="113" y="1044"/>
                    </a:lnTo>
                    <a:lnTo>
                      <a:pt x="104" y="1040"/>
                    </a:lnTo>
                    <a:lnTo>
                      <a:pt x="97" y="1036"/>
                    </a:lnTo>
                    <a:lnTo>
                      <a:pt x="90" y="1033"/>
                    </a:lnTo>
                    <a:lnTo>
                      <a:pt x="86" y="1044"/>
                    </a:lnTo>
                    <a:lnTo>
                      <a:pt x="94" y="1035"/>
                    </a:lnTo>
                    <a:lnTo>
                      <a:pt x="89" y="1032"/>
                    </a:lnTo>
                    <a:lnTo>
                      <a:pt x="82" y="1025"/>
                    </a:lnTo>
                    <a:lnTo>
                      <a:pt x="74" y="1034"/>
                    </a:lnTo>
                    <a:lnTo>
                      <a:pt x="85" y="1029"/>
                    </a:lnTo>
                    <a:lnTo>
                      <a:pt x="80" y="1021"/>
                    </a:lnTo>
                    <a:lnTo>
                      <a:pt x="78" y="1012"/>
                    </a:lnTo>
                    <a:lnTo>
                      <a:pt x="67" y="1016"/>
                    </a:lnTo>
                    <a:lnTo>
                      <a:pt x="79" y="1016"/>
                    </a:lnTo>
                    <a:lnTo>
                      <a:pt x="77" y="1005"/>
                    </a:lnTo>
                    <a:lnTo>
                      <a:pt x="75" y="990"/>
                    </a:lnTo>
                    <a:lnTo>
                      <a:pt x="74" y="981"/>
                    </a:lnTo>
                    <a:lnTo>
                      <a:pt x="72" y="969"/>
                    </a:lnTo>
                    <a:lnTo>
                      <a:pt x="71" y="976"/>
                    </a:lnTo>
                    <a:lnTo>
                      <a:pt x="72" y="971"/>
                    </a:lnTo>
                    <a:lnTo>
                      <a:pt x="60" y="971"/>
                    </a:lnTo>
                    <a:lnTo>
                      <a:pt x="70" y="978"/>
                    </a:lnTo>
                    <a:lnTo>
                      <a:pt x="82" y="963"/>
                    </a:lnTo>
                    <a:lnTo>
                      <a:pt x="94" y="948"/>
                    </a:lnTo>
                    <a:lnTo>
                      <a:pt x="107" y="934"/>
                    </a:lnTo>
                    <a:lnTo>
                      <a:pt x="121" y="922"/>
                    </a:lnTo>
                    <a:lnTo>
                      <a:pt x="135" y="911"/>
                    </a:lnTo>
                    <a:lnTo>
                      <a:pt x="127" y="903"/>
                    </a:lnTo>
                    <a:lnTo>
                      <a:pt x="131" y="914"/>
                    </a:lnTo>
                    <a:lnTo>
                      <a:pt x="147" y="904"/>
                    </a:lnTo>
                    <a:lnTo>
                      <a:pt x="164" y="895"/>
                    </a:lnTo>
                    <a:lnTo>
                      <a:pt x="185" y="886"/>
                    </a:lnTo>
                    <a:lnTo>
                      <a:pt x="194" y="883"/>
                    </a:lnTo>
                    <a:lnTo>
                      <a:pt x="203" y="881"/>
                    </a:lnTo>
                    <a:lnTo>
                      <a:pt x="199" y="870"/>
                    </a:lnTo>
                    <a:lnTo>
                      <a:pt x="199" y="882"/>
                    </a:lnTo>
                    <a:lnTo>
                      <a:pt x="219" y="879"/>
                    </a:lnTo>
                    <a:lnTo>
                      <a:pt x="223" y="878"/>
                    </a:lnTo>
                    <a:lnTo>
                      <a:pt x="233" y="876"/>
                    </a:lnTo>
                    <a:lnTo>
                      <a:pt x="242" y="873"/>
                    </a:lnTo>
                    <a:lnTo>
                      <a:pt x="250" y="868"/>
                    </a:lnTo>
                    <a:lnTo>
                      <a:pt x="254" y="866"/>
                    </a:lnTo>
                    <a:lnTo>
                      <a:pt x="261" y="859"/>
                    </a:lnTo>
                    <a:lnTo>
                      <a:pt x="266" y="852"/>
                    </a:lnTo>
                    <a:lnTo>
                      <a:pt x="268" y="848"/>
                    </a:lnTo>
                    <a:lnTo>
                      <a:pt x="273" y="840"/>
                    </a:lnTo>
                    <a:lnTo>
                      <a:pt x="276" y="832"/>
                    </a:lnTo>
                    <a:lnTo>
                      <a:pt x="278" y="825"/>
                    </a:lnTo>
                    <a:lnTo>
                      <a:pt x="279" y="820"/>
                    </a:lnTo>
                    <a:lnTo>
                      <a:pt x="282" y="805"/>
                    </a:lnTo>
                    <a:lnTo>
                      <a:pt x="281" y="790"/>
                    </a:lnTo>
                    <a:lnTo>
                      <a:pt x="278" y="775"/>
                    </a:lnTo>
                    <a:lnTo>
                      <a:pt x="277" y="770"/>
                    </a:lnTo>
                    <a:lnTo>
                      <a:pt x="273" y="756"/>
                    </a:lnTo>
                    <a:lnTo>
                      <a:pt x="263" y="727"/>
                    </a:lnTo>
                    <a:lnTo>
                      <a:pt x="263" y="726"/>
                    </a:lnTo>
                    <a:lnTo>
                      <a:pt x="260" y="723"/>
                    </a:lnTo>
                    <a:lnTo>
                      <a:pt x="259" y="721"/>
                    </a:lnTo>
                    <a:lnTo>
                      <a:pt x="249" y="715"/>
                    </a:lnTo>
                    <a:lnTo>
                      <a:pt x="243" y="711"/>
                    </a:lnTo>
                    <a:lnTo>
                      <a:pt x="239" y="722"/>
                    </a:lnTo>
                    <a:lnTo>
                      <a:pt x="247" y="714"/>
                    </a:lnTo>
                    <a:lnTo>
                      <a:pt x="238" y="707"/>
                    </a:lnTo>
                    <a:lnTo>
                      <a:pt x="232" y="703"/>
                    </a:lnTo>
                    <a:lnTo>
                      <a:pt x="228" y="700"/>
                    </a:lnTo>
                    <a:lnTo>
                      <a:pt x="224" y="698"/>
                    </a:lnTo>
                    <a:lnTo>
                      <a:pt x="222" y="696"/>
                    </a:lnTo>
                    <a:lnTo>
                      <a:pt x="221" y="696"/>
                    </a:lnTo>
                    <a:lnTo>
                      <a:pt x="216" y="695"/>
                    </a:lnTo>
                    <a:lnTo>
                      <a:pt x="212" y="696"/>
                    </a:lnTo>
                    <a:lnTo>
                      <a:pt x="208" y="699"/>
                    </a:lnTo>
                    <a:lnTo>
                      <a:pt x="205" y="703"/>
                    </a:lnTo>
                    <a:lnTo>
                      <a:pt x="205" y="704"/>
                    </a:lnTo>
                    <a:lnTo>
                      <a:pt x="216" y="708"/>
                    </a:lnTo>
                    <a:lnTo>
                      <a:pt x="208" y="700"/>
                    </a:lnTo>
                    <a:lnTo>
                      <a:pt x="207" y="700"/>
                    </a:lnTo>
                    <a:lnTo>
                      <a:pt x="211" y="698"/>
                    </a:lnTo>
                    <a:lnTo>
                      <a:pt x="215" y="709"/>
                    </a:lnTo>
                    <a:lnTo>
                      <a:pt x="215" y="697"/>
                    </a:lnTo>
                    <a:lnTo>
                      <a:pt x="214" y="697"/>
                    </a:lnTo>
                    <a:lnTo>
                      <a:pt x="210" y="697"/>
                    </a:lnTo>
                    <a:lnTo>
                      <a:pt x="210" y="709"/>
                    </a:lnTo>
                    <a:lnTo>
                      <a:pt x="214" y="698"/>
                    </a:lnTo>
                    <a:lnTo>
                      <a:pt x="208" y="696"/>
                    </a:lnTo>
                    <a:lnTo>
                      <a:pt x="199" y="693"/>
                    </a:lnTo>
                    <a:lnTo>
                      <a:pt x="194" y="691"/>
                    </a:lnTo>
                    <a:lnTo>
                      <a:pt x="187" y="688"/>
                    </a:lnTo>
                    <a:lnTo>
                      <a:pt x="179" y="685"/>
                    </a:lnTo>
                    <a:lnTo>
                      <a:pt x="170" y="681"/>
                    </a:lnTo>
                    <a:lnTo>
                      <a:pt x="160" y="677"/>
                    </a:lnTo>
                    <a:lnTo>
                      <a:pt x="149" y="672"/>
                    </a:lnTo>
                    <a:lnTo>
                      <a:pt x="138" y="668"/>
                    </a:lnTo>
                    <a:lnTo>
                      <a:pt x="127" y="663"/>
                    </a:lnTo>
                    <a:lnTo>
                      <a:pt x="123" y="674"/>
                    </a:lnTo>
                    <a:lnTo>
                      <a:pt x="131" y="666"/>
                    </a:lnTo>
                    <a:lnTo>
                      <a:pt x="122" y="659"/>
                    </a:lnTo>
                    <a:lnTo>
                      <a:pt x="119" y="655"/>
                    </a:lnTo>
                    <a:lnTo>
                      <a:pt x="110" y="664"/>
                    </a:lnTo>
                    <a:lnTo>
                      <a:pt x="121" y="659"/>
                    </a:lnTo>
                    <a:lnTo>
                      <a:pt x="120" y="656"/>
                    </a:lnTo>
                    <a:lnTo>
                      <a:pt x="115" y="637"/>
                    </a:lnTo>
                    <a:lnTo>
                      <a:pt x="104" y="642"/>
                    </a:lnTo>
                    <a:lnTo>
                      <a:pt x="116" y="642"/>
                    </a:lnTo>
                    <a:lnTo>
                      <a:pt x="112" y="624"/>
                    </a:lnTo>
                    <a:lnTo>
                      <a:pt x="108" y="588"/>
                    </a:lnTo>
                    <a:lnTo>
                      <a:pt x="107" y="551"/>
                    </a:lnTo>
                    <a:lnTo>
                      <a:pt x="108" y="516"/>
                    </a:lnTo>
                    <a:lnTo>
                      <a:pt x="109" y="510"/>
                    </a:lnTo>
                    <a:lnTo>
                      <a:pt x="97" y="510"/>
                    </a:lnTo>
                    <a:lnTo>
                      <a:pt x="108" y="514"/>
                    </a:lnTo>
                    <a:lnTo>
                      <a:pt x="110" y="510"/>
                    </a:lnTo>
                    <a:lnTo>
                      <a:pt x="99" y="505"/>
                    </a:lnTo>
                    <a:lnTo>
                      <a:pt x="108" y="514"/>
                    </a:lnTo>
                    <a:lnTo>
                      <a:pt x="114" y="505"/>
                    </a:lnTo>
                    <a:lnTo>
                      <a:pt x="122" y="496"/>
                    </a:lnTo>
                    <a:lnTo>
                      <a:pt x="124" y="492"/>
                    </a:lnTo>
                    <a:lnTo>
                      <a:pt x="130" y="486"/>
                    </a:lnTo>
                    <a:lnTo>
                      <a:pt x="125" y="490"/>
                    </a:lnTo>
                    <a:lnTo>
                      <a:pt x="128" y="487"/>
                    </a:lnTo>
                    <a:lnTo>
                      <a:pt x="120" y="479"/>
                    </a:lnTo>
                    <a:lnTo>
                      <a:pt x="124" y="490"/>
                    </a:lnTo>
                    <a:lnTo>
                      <a:pt x="135" y="486"/>
                    </a:lnTo>
                    <a:lnTo>
                      <a:pt x="147" y="482"/>
                    </a:lnTo>
                    <a:lnTo>
                      <a:pt x="161" y="477"/>
                    </a:lnTo>
                    <a:lnTo>
                      <a:pt x="175" y="471"/>
                    </a:lnTo>
                    <a:lnTo>
                      <a:pt x="205" y="457"/>
                    </a:lnTo>
                    <a:lnTo>
                      <a:pt x="219" y="449"/>
                    </a:lnTo>
                    <a:lnTo>
                      <a:pt x="223" y="447"/>
                    </a:lnTo>
                    <a:lnTo>
                      <a:pt x="237" y="438"/>
                    </a:lnTo>
                    <a:lnTo>
                      <a:pt x="249" y="428"/>
                    </a:lnTo>
                    <a:lnTo>
                      <a:pt x="259" y="417"/>
                    </a:lnTo>
                    <a:lnTo>
                      <a:pt x="267" y="405"/>
                    </a:lnTo>
                    <a:lnTo>
                      <a:pt x="270" y="401"/>
                    </a:lnTo>
                    <a:lnTo>
                      <a:pt x="275" y="388"/>
                    </a:lnTo>
                    <a:lnTo>
                      <a:pt x="276" y="384"/>
                    </a:lnTo>
                    <a:lnTo>
                      <a:pt x="279" y="370"/>
                    </a:lnTo>
                    <a:lnTo>
                      <a:pt x="278" y="355"/>
                    </a:lnTo>
                    <a:lnTo>
                      <a:pt x="277" y="351"/>
                    </a:lnTo>
                    <a:lnTo>
                      <a:pt x="275" y="343"/>
                    </a:lnTo>
                    <a:lnTo>
                      <a:pt x="272" y="335"/>
                    </a:lnTo>
                    <a:lnTo>
                      <a:pt x="268" y="327"/>
                    </a:lnTo>
                    <a:lnTo>
                      <a:pt x="262" y="317"/>
                    </a:lnTo>
                    <a:lnTo>
                      <a:pt x="214" y="245"/>
                    </a:lnTo>
                    <a:lnTo>
                      <a:pt x="212" y="243"/>
                    </a:lnTo>
                    <a:lnTo>
                      <a:pt x="211" y="241"/>
                    </a:lnTo>
                    <a:lnTo>
                      <a:pt x="199" y="234"/>
                    </a:lnTo>
                    <a:lnTo>
                      <a:pt x="195" y="245"/>
                    </a:lnTo>
                    <a:lnTo>
                      <a:pt x="203" y="236"/>
                    </a:lnTo>
                    <a:lnTo>
                      <a:pt x="196" y="231"/>
                    </a:lnTo>
                    <a:lnTo>
                      <a:pt x="190" y="227"/>
                    </a:lnTo>
                    <a:lnTo>
                      <a:pt x="186" y="225"/>
                    </a:lnTo>
                    <a:lnTo>
                      <a:pt x="180" y="221"/>
                    </a:lnTo>
                    <a:lnTo>
                      <a:pt x="172" y="216"/>
                    </a:lnTo>
                    <a:lnTo>
                      <a:pt x="164" y="212"/>
                    </a:lnTo>
                    <a:lnTo>
                      <a:pt x="155" y="208"/>
                    </a:lnTo>
                    <a:lnTo>
                      <a:pt x="149" y="206"/>
                    </a:lnTo>
                    <a:lnTo>
                      <a:pt x="143" y="204"/>
                    </a:lnTo>
                    <a:lnTo>
                      <a:pt x="135" y="202"/>
                    </a:lnTo>
                    <a:lnTo>
                      <a:pt x="125" y="199"/>
                    </a:lnTo>
                    <a:lnTo>
                      <a:pt x="114" y="196"/>
                    </a:lnTo>
                    <a:lnTo>
                      <a:pt x="100" y="192"/>
                    </a:lnTo>
                    <a:lnTo>
                      <a:pt x="88" y="189"/>
                    </a:lnTo>
                    <a:lnTo>
                      <a:pt x="84" y="188"/>
                    </a:lnTo>
                    <a:lnTo>
                      <a:pt x="71" y="187"/>
                    </a:lnTo>
                    <a:lnTo>
                      <a:pt x="71" y="199"/>
                    </a:lnTo>
                    <a:lnTo>
                      <a:pt x="76" y="188"/>
                    </a:lnTo>
                    <a:lnTo>
                      <a:pt x="64" y="185"/>
                    </a:lnTo>
                    <a:lnTo>
                      <a:pt x="58" y="183"/>
                    </a:lnTo>
                    <a:lnTo>
                      <a:pt x="55" y="181"/>
                    </a:lnTo>
                    <a:lnTo>
                      <a:pt x="47" y="176"/>
                    </a:lnTo>
                    <a:lnTo>
                      <a:pt x="43" y="187"/>
                    </a:lnTo>
                    <a:lnTo>
                      <a:pt x="51" y="178"/>
                    </a:lnTo>
                    <a:lnTo>
                      <a:pt x="47" y="173"/>
                    </a:lnTo>
                    <a:lnTo>
                      <a:pt x="38" y="182"/>
                    </a:lnTo>
                    <a:lnTo>
                      <a:pt x="49" y="177"/>
                    </a:lnTo>
                    <a:lnTo>
                      <a:pt x="41" y="165"/>
                    </a:lnTo>
                    <a:lnTo>
                      <a:pt x="35" y="150"/>
                    </a:lnTo>
                    <a:lnTo>
                      <a:pt x="30" y="134"/>
                    </a:lnTo>
                    <a:lnTo>
                      <a:pt x="27" y="118"/>
                    </a:lnTo>
                    <a:lnTo>
                      <a:pt x="16" y="123"/>
                    </a:lnTo>
                    <a:lnTo>
                      <a:pt x="28" y="123"/>
                    </a:lnTo>
                    <a:lnTo>
                      <a:pt x="26" y="107"/>
                    </a:lnTo>
                    <a:lnTo>
                      <a:pt x="24" y="94"/>
                    </a:lnTo>
                    <a:lnTo>
                      <a:pt x="24" y="83"/>
                    </a:lnTo>
                    <a:lnTo>
                      <a:pt x="25" y="74"/>
                    </a:lnTo>
                    <a:lnTo>
                      <a:pt x="13" y="74"/>
                    </a:lnTo>
                    <a:lnTo>
                      <a:pt x="24" y="78"/>
                    </a:lnTo>
                    <a:lnTo>
                      <a:pt x="28" y="69"/>
                    </a:lnTo>
                    <a:lnTo>
                      <a:pt x="31" y="60"/>
                    </a:lnTo>
                    <a:lnTo>
                      <a:pt x="35" y="51"/>
                    </a:lnTo>
                    <a:lnTo>
                      <a:pt x="29" y="58"/>
                    </a:lnTo>
                    <a:lnTo>
                      <a:pt x="32" y="55"/>
                    </a:lnTo>
                    <a:lnTo>
                      <a:pt x="35" y="52"/>
                    </a:lnTo>
                    <a:lnTo>
                      <a:pt x="24" y="47"/>
                    </a:lnTo>
                    <a:lnTo>
                      <a:pt x="28" y="58"/>
                    </a:lnTo>
                    <a:lnTo>
                      <a:pt x="67" y="47"/>
                    </a:lnTo>
                    <a:lnTo>
                      <a:pt x="106" y="37"/>
                    </a:lnTo>
                    <a:lnTo>
                      <a:pt x="145" y="29"/>
                    </a:lnTo>
                    <a:lnTo>
                      <a:pt x="140" y="18"/>
                    </a:lnTo>
                    <a:lnTo>
                      <a:pt x="140" y="30"/>
                    </a:lnTo>
                    <a:lnTo>
                      <a:pt x="182" y="23"/>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85" name="Freeform 118"/>
              <p:cNvSpPr/>
              <p:nvPr/>
            </p:nvSpPr>
            <p:spPr bwMode="auto">
              <a:xfrm>
                <a:off x="3168" y="2976"/>
                <a:ext cx="107" cy="111"/>
              </a:xfrm>
              <a:custGeom>
                <a:avLst/>
                <a:gdLst>
                  <a:gd name="T0" fmla="*/ 0 w 107"/>
                  <a:gd name="T1" fmla="*/ 0 h 111"/>
                  <a:gd name="T2" fmla="*/ 46 w 107"/>
                  <a:gd name="T3" fmla="*/ 111 h 111"/>
                  <a:gd name="T4" fmla="*/ 107 w 107"/>
                  <a:gd name="T5" fmla="*/ 8 h 111"/>
                  <a:gd name="T6" fmla="*/ 0 w 107"/>
                  <a:gd name="T7" fmla="*/ 0 h 111"/>
                  <a:gd name="T8" fmla="*/ 0 60000 65536"/>
                  <a:gd name="T9" fmla="*/ 0 60000 65536"/>
                  <a:gd name="T10" fmla="*/ 0 60000 65536"/>
                  <a:gd name="T11" fmla="*/ 0 60000 65536"/>
                  <a:gd name="T12" fmla="*/ 0 w 107"/>
                  <a:gd name="T13" fmla="*/ 0 h 111"/>
                  <a:gd name="T14" fmla="*/ 107 w 107"/>
                  <a:gd name="T15" fmla="*/ 111 h 111"/>
                </a:gdLst>
                <a:ahLst/>
                <a:cxnLst>
                  <a:cxn ang="T8">
                    <a:pos x="T0" y="T1"/>
                  </a:cxn>
                  <a:cxn ang="T9">
                    <a:pos x="T2" y="T3"/>
                  </a:cxn>
                  <a:cxn ang="T10">
                    <a:pos x="T4" y="T5"/>
                  </a:cxn>
                  <a:cxn ang="T11">
                    <a:pos x="T6" y="T7"/>
                  </a:cxn>
                </a:cxnLst>
                <a:rect l="T12" t="T13" r="T14" b="T15"/>
                <a:pathLst>
                  <a:path w="107" h="111">
                    <a:moveTo>
                      <a:pt x="0" y="0"/>
                    </a:moveTo>
                    <a:lnTo>
                      <a:pt x="46" y="111"/>
                    </a:lnTo>
                    <a:lnTo>
                      <a:pt x="107" y="8"/>
                    </a:lnTo>
                    <a:lnTo>
                      <a:pt x="0" y="0"/>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74" name="Group 119"/>
            <p:cNvGrpSpPr/>
            <p:nvPr/>
          </p:nvGrpSpPr>
          <p:grpSpPr bwMode="auto">
            <a:xfrm>
              <a:off x="3744" y="1680"/>
              <a:ext cx="121" cy="1455"/>
              <a:chOff x="4512" y="1680"/>
              <a:chExt cx="121" cy="1455"/>
            </a:xfrm>
          </p:grpSpPr>
          <p:sp>
            <p:nvSpPr>
              <p:cNvPr id="182" name="Freeform 120"/>
              <p:cNvSpPr/>
              <p:nvPr/>
            </p:nvSpPr>
            <p:spPr bwMode="auto">
              <a:xfrm>
                <a:off x="4512" y="1680"/>
                <a:ext cx="121" cy="1362"/>
              </a:xfrm>
              <a:custGeom>
                <a:avLst/>
                <a:gdLst>
                  <a:gd name="T0" fmla="*/ 61 w 252"/>
                  <a:gd name="T1" fmla="*/ 23 h 1362"/>
                  <a:gd name="T2" fmla="*/ 52 w 252"/>
                  <a:gd name="T3" fmla="*/ 129 h 1362"/>
                  <a:gd name="T4" fmla="*/ 179 w 252"/>
                  <a:gd name="T5" fmla="*/ 167 h 1362"/>
                  <a:gd name="T6" fmla="*/ 227 w 252"/>
                  <a:gd name="T7" fmla="*/ 240 h 1362"/>
                  <a:gd name="T8" fmla="*/ 217 w 252"/>
                  <a:gd name="T9" fmla="*/ 268 h 1362"/>
                  <a:gd name="T10" fmla="*/ 165 w 252"/>
                  <a:gd name="T11" fmla="*/ 327 h 1362"/>
                  <a:gd name="T12" fmla="*/ 75 w 252"/>
                  <a:gd name="T13" fmla="*/ 363 h 1362"/>
                  <a:gd name="T14" fmla="*/ 45 w 252"/>
                  <a:gd name="T15" fmla="*/ 423 h 1362"/>
                  <a:gd name="T16" fmla="*/ 64 w 252"/>
                  <a:gd name="T17" fmla="*/ 489 h 1362"/>
                  <a:gd name="T18" fmla="*/ 133 w 252"/>
                  <a:gd name="T19" fmla="*/ 519 h 1362"/>
                  <a:gd name="T20" fmla="*/ 138 w 252"/>
                  <a:gd name="T21" fmla="*/ 504 h 1362"/>
                  <a:gd name="T22" fmla="*/ 149 w 252"/>
                  <a:gd name="T23" fmla="*/ 529 h 1362"/>
                  <a:gd name="T24" fmla="*/ 221 w 252"/>
                  <a:gd name="T25" fmla="*/ 552 h 1362"/>
                  <a:gd name="T26" fmla="*/ 218 w 252"/>
                  <a:gd name="T27" fmla="*/ 591 h 1362"/>
                  <a:gd name="T28" fmla="*/ 157 w 252"/>
                  <a:gd name="T29" fmla="*/ 644 h 1362"/>
                  <a:gd name="T30" fmla="*/ 32 w 252"/>
                  <a:gd name="T31" fmla="*/ 683 h 1362"/>
                  <a:gd name="T32" fmla="*/ 1 w 252"/>
                  <a:gd name="T33" fmla="*/ 776 h 1362"/>
                  <a:gd name="T34" fmla="*/ 66 w 252"/>
                  <a:gd name="T35" fmla="*/ 868 h 1362"/>
                  <a:gd name="T36" fmla="*/ 178 w 252"/>
                  <a:gd name="T37" fmla="*/ 899 h 1362"/>
                  <a:gd name="T38" fmla="*/ 189 w 252"/>
                  <a:gd name="T39" fmla="*/ 913 h 1362"/>
                  <a:gd name="T40" fmla="*/ 188 w 252"/>
                  <a:gd name="T41" fmla="*/ 923 h 1362"/>
                  <a:gd name="T42" fmla="*/ 79 w 252"/>
                  <a:gd name="T43" fmla="*/ 989 h 1362"/>
                  <a:gd name="T44" fmla="*/ 37 w 252"/>
                  <a:gd name="T45" fmla="*/ 1033 h 1362"/>
                  <a:gd name="T46" fmla="*/ 46 w 252"/>
                  <a:gd name="T47" fmla="*/ 1125 h 1362"/>
                  <a:gd name="T48" fmla="*/ 124 w 252"/>
                  <a:gd name="T49" fmla="*/ 1185 h 1362"/>
                  <a:gd name="T50" fmla="*/ 127 w 252"/>
                  <a:gd name="T51" fmla="*/ 1332 h 1362"/>
                  <a:gd name="T52" fmla="*/ 121 w 252"/>
                  <a:gd name="T53" fmla="*/ 1338 h 1362"/>
                  <a:gd name="T54" fmla="*/ 130 w 252"/>
                  <a:gd name="T55" fmla="*/ 1338 h 1362"/>
                  <a:gd name="T56" fmla="*/ 107 w 252"/>
                  <a:gd name="T57" fmla="*/ 1355 h 1362"/>
                  <a:gd name="T58" fmla="*/ 119 w 252"/>
                  <a:gd name="T59" fmla="*/ 1355 h 1362"/>
                  <a:gd name="T60" fmla="*/ 116 w 252"/>
                  <a:gd name="T61" fmla="*/ 1361 h 1362"/>
                  <a:gd name="T62" fmla="*/ 139 w 252"/>
                  <a:gd name="T63" fmla="*/ 1332 h 1362"/>
                  <a:gd name="T64" fmla="*/ 120 w 252"/>
                  <a:gd name="T65" fmla="*/ 1153 h 1362"/>
                  <a:gd name="T66" fmla="*/ 64 w 252"/>
                  <a:gd name="T67" fmla="*/ 1108 h 1362"/>
                  <a:gd name="T68" fmla="*/ 59 w 252"/>
                  <a:gd name="T69" fmla="*/ 1042 h 1362"/>
                  <a:gd name="T70" fmla="*/ 81 w 252"/>
                  <a:gd name="T71" fmla="*/ 1015 h 1362"/>
                  <a:gd name="T72" fmla="*/ 205 w 252"/>
                  <a:gd name="T73" fmla="*/ 940 h 1362"/>
                  <a:gd name="T74" fmla="*/ 208 w 252"/>
                  <a:gd name="T75" fmla="*/ 900 h 1362"/>
                  <a:gd name="T76" fmla="*/ 175 w 252"/>
                  <a:gd name="T77" fmla="*/ 874 h 1362"/>
                  <a:gd name="T78" fmla="*/ 66 w 252"/>
                  <a:gd name="T79" fmla="*/ 840 h 1362"/>
                  <a:gd name="T80" fmla="*/ 26 w 252"/>
                  <a:gd name="T81" fmla="*/ 777 h 1362"/>
                  <a:gd name="T82" fmla="*/ 38 w 252"/>
                  <a:gd name="T83" fmla="*/ 715 h 1362"/>
                  <a:gd name="T84" fmla="*/ 86 w 252"/>
                  <a:gd name="T85" fmla="*/ 679 h 1362"/>
                  <a:gd name="T86" fmla="*/ 230 w 252"/>
                  <a:gd name="T87" fmla="*/ 625 h 1362"/>
                  <a:gd name="T88" fmla="*/ 230 w 252"/>
                  <a:gd name="T89" fmla="*/ 543 h 1362"/>
                  <a:gd name="T90" fmla="*/ 158 w 252"/>
                  <a:gd name="T91" fmla="*/ 507 h 1362"/>
                  <a:gd name="T92" fmla="*/ 142 w 252"/>
                  <a:gd name="T93" fmla="*/ 515 h 1362"/>
                  <a:gd name="T94" fmla="*/ 146 w 252"/>
                  <a:gd name="T95" fmla="*/ 499 h 1362"/>
                  <a:gd name="T96" fmla="*/ 62 w 252"/>
                  <a:gd name="T97" fmla="*/ 475 h 1362"/>
                  <a:gd name="T98" fmla="*/ 68 w 252"/>
                  <a:gd name="T99" fmla="*/ 436 h 1362"/>
                  <a:gd name="T100" fmla="*/ 87 w 252"/>
                  <a:gd name="T101" fmla="*/ 384 h 1362"/>
                  <a:gd name="T102" fmla="*/ 155 w 252"/>
                  <a:gd name="T103" fmla="*/ 335 h 1362"/>
                  <a:gd name="T104" fmla="*/ 222 w 252"/>
                  <a:gd name="T105" fmla="*/ 293 h 1362"/>
                  <a:gd name="T106" fmla="*/ 249 w 252"/>
                  <a:gd name="T107" fmla="*/ 231 h 1362"/>
                  <a:gd name="T108" fmla="*/ 184 w 252"/>
                  <a:gd name="T109" fmla="*/ 156 h 1362"/>
                  <a:gd name="T110" fmla="*/ 72 w 252"/>
                  <a:gd name="T111" fmla="*/ 116 h 1362"/>
                  <a:gd name="T112" fmla="*/ 59 w 252"/>
                  <a:gd name="T113" fmla="*/ 70 h 1362"/>
                  <a:gd name="T114" fmla="*/ 106 w 252"/>
                  <a:gd name="T115" fmla="*/ 16 h 136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52"/>
                  <a:gd name="T175" fmla="*/ 0 h 1362"/>
                  <a:gd name="T176" fmla="*/ 252 w 252"/>
                  <a:gd name="T177" fmla="*/ 1362 h 136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52" h="1362">
                    <a:moveTo>
                      <a:pt x="181" y="23"/>
                    </a:moveTo>
                    <a:lnTo>
                      <a:pt x="178" y="0"/>
                    </a:lnTo>
                    <a:lnTo>
                      <a:pt x="155" y="1"/>
                    </a:lnTo>
                    <a:lnTo>
                      <a:pt x="130" y="2"/>
                    </a:lnTo>
                    <a:lnTo>
                      <a:pt x="118" y="3"/>
                    </a:lnTo>
                    <a:lnTo>
                      <a:pt x="106" y="4"/>
                    </a:lnTo>
                    <a:lnTo>
                      <a:pt x="101" y="5"/>
                    </a:lnTo>
                    <a:lnTo>
                      <a:pt x="90" y="8"/>
                    </a:lnTo>
                    <a:lnTo>
                      <a:pt x="78" y="12"/>
                    </a:lnTo>
                    <a:lnTo>
                      <a:pt x="65" y="20"/>
                    </a:lnTo>
                    <a:lnTo>
                      <a:pt x="61" y="23"/>
                    </a:lnTo>
                    <a:lnTo>
                      <a:pt x="51" y="33"/>
                    </a:lnTo>
                    <a:lnTo>
                      <a:pt x="48" y="37"/>
                    </a:lnTo>
                    <a:lnTo>
                      <a:pt x="41" y="48"/>
                    </a:lnTo>
                    <a:lnTo>
                      <a:pt x="37" y="61"/>
                    </a:lnTo>
                    <a:lnTo>
                      <a:pt x="36" y="66"/>
                    </a:lnTo>
                    <a:lnTo>
                      <a:pt x="35" y="79"/>
                    </a:lnTo>
                    <a:lnTo>
                      <a:pt x="36" y="93"/>
                    </a:lnTo>
                    <a:lnTo>
                      <a:pt x="37" y="98"/>
                    </a:lnTo>
                    <a:lnTo>
                      <a:pt x="41" y="111"/>
                    </a:lnTo>
                    <a:lnTo>
                      <a:pt x="49" y="126"/>
                    </a:lnTo>
                    <a:lnTo>
                      <a:pt x="52" y="129"/>
                    </a:lnTo>
                    <a:lnTo>
                      <a:pt x="55" y="133"/>
                    </a:lnTo>
                    <a:lnTo>
                      <a:pt x="60" y="138"/>
                    </a:lnTo>
                    <a:lnTo>
                      <a:pt x="74" y="147"/>
                    </a:lnTo>
                    <a:lnTo>
                      <a:pt x="78" y="150"/>
                    </a:lnTo>
                    <a:lnTo>
                      <a:pt x="93" y="157"/>
                    </a:lnTo>
                    <a:lnTo>
                      <a:pt x="110" y="163"/>
                    </a:lnTo>
                    <a:lnTo>
                      <a:pt x="128" y="168"/>
                    </a:lnTo>
                    <a:lnTo>
                      <a:pt x="145" y="172"/>
                    </a:lnTo>
                    <a:lnTo>
                      <a:pt x="161" y="175"/>
                    </a:lnTo>
                    <a:lnTo>
                      <a:pt x="176" y="179"/>
                    </a:lnTo>
                    <a:lnTo>
                      <a:pt x="179" y="167"/>
                    </a:lnTo>
                    <a:lnTo>
                      <a:pt x="171" y="176"/>
                    </a:lnTo>
                    <a:lnTo>
                      <a:pt x="176" y="181"/>
                    </a:lnTo>
                    <a:lnTo>
                      <a:pt x="184" y="189"/>
                    </a:lnTo>
                    <a:lnTo>
                      <a:pt x="194" y="198"/>
                    </a:lnTo>
                    <a:lnTo>
                      <a:pt x="204" y="208"/>
                    </a:lnTo>
                    <a:lnTo>
                      <a:pt x="213" y="219"/>
                    </a:lnTo>
                    <a:lnTo>
                      <a:pt x="221" y="229"/>
                    </a:lnTo>
                    <a:lnTo>
                      <a:pt x="230" y="221"/>
                    </a:lnTo>
                    <a:lnTo>
                      <a:pt x="219" y="225"/>
                    </a:lnTo>
                    <a:lnTo>
                      <a:pt x="225" y="235"/>
                    </a:lnTo>
                    <a:lnTo>
                      <a:pt x="227" y="240"/>
                    </a:lnTo>
                    <a:lnTo>
                      <a:pt x="238" y="235"/>
                    </a:lnTo>
                    <a:lnTo>
                      <a:pt x="226" y="235"/>
                    </a:lnTo>
                    <a:lnTo>
                      <a:pt x="228" y="241"/>
                    </a:lnTo>
                    <a:lnTo>
                      <a:pt x="228" y="252"/>
                    </a:lnTo>
                    <a:lnTo>
                      <a:pt x="240" y="252"/>
                    </a:lnTo>
                    <a:lnTo>
                      <a:pt x="229" y="247"/>
                    </a:lnTo>
                    <a:lnTo>
                      <a:pt x="226" y="257"/>
                    </a:lnTo>
                    <a:lnTo>
                      <a:pt x="221" y="265"/>
                    </a:lnTo>
                    <a:lnTo>
                      <a:pt x="232" y="270"/>
                    </a:lnTo>
                    <a:lnTo>
                      <a:pt x="224" y="261"/>
                    </a:lnTo>
                    <a:lnTo>
                      <a:pt x="217" y="268"/>
                    </a:lnTo>
                    <a:lnTo>
                      <a:pt x="209" y="274"/>
                    </a:lnTo>
                    <a:lnTo>
                      <a:pt x="217" y="282"/>
                    </a:lnTo>
                    <a:lnTo>
                      <a:pt x="213" y="271"/>
                    </a:lnTo>
                    <a:lnTo>
                      <a:pt x="204" y="277"/>
                    </a:lnTo>
                    <a:lnTo>
                      <a:pt x="195" y="282"/>
                    </a:lnTo>
                    <a:lnTo>
                      <a:pt x="191" y="285"/>
                    </a:lnTo>
                    <a:lnTo>
                      <a:pt x="184" y="290"/>
                    </a:lnTo>
                    <a:lnTo>
                      <a:pt x="173" y="300"/>
                    </a:lnTo>
                    <a:lnTo>
                      <a:pt x="165" y="309"/>
                    </a:lnTo>
                    <a:lnTo>
                      <a:pt x="156" y="319"/>
                    </a:lnTo>
                    <a:lnTo>
                      <a:pt x="165" y="327"/>
                    </a:lnTo>
                    <a:lnTo>
                      <a:pt x="160" y="316"/>
                    </a:lnTo>
                    <a:lnTo>
                      <a:pt x="149" y="325"/>
                    </a:lnTo>
                    <a:lnTo>
                      <a:pt x="149" y="326"/>
                    </a:lnTo>
                    <a:lnTo>
                      <a:pt x="129" y="336"/>
                    </a:lnTo>
                    <a:lnTo>
                      <a:pt x="138" y="345"/>
                    </a:lnTo>
                    <a:lnTo>
                      <a:pt x="133" y="334"/>
                    </a:lnTo>
                    <a:lnTo>
                      <a:pt x="115" y="342"/>
                    </a:lnTo>
                    <a:lnTo>
                      <a:pt x="96" y="350"/>
                    </a:lnTo>
                    <a:lnTo>
                      <a:pt x="92" y="353"/>
                    </a:lnTo>
                    <a:lnTo>
                      <a:pt x="77" y="362"/>
                    </a:lnTo>
                    <a:lnTo>
                      <a:pt x="75" y="363"/>
                    </a:lnTo>
                    <a:lnTo>
                      <a:pt x="74" y="365"/>
                    </a:lnTo>
                    <a:lnTo>
                      <a:pt x="65" y="375"/>
                    </a:lnTo>
                    <a:lnTo>
                      <a:pt x="76" y="380"/>
                    </a:lnTo>
                    <a:lnTo>
                      <a:pt x="68" y="371"/>
                    </a:lnTo>
                    <a:lnTo>
                      <a:pt x="60" y="380"/>
                    </a:lnTo>
                    <a:lnTo>
                      <a:pt x="54" y="389"/>
                    </a:lnTo>
                    <a:lnTo>
                      <a:pt x="52" y="393"/>
                    </a:lnTo>
                    <a:lnTo>
                      <a:pt x="49" y="397"/>
                    </a:lnTo>
                    <a:lnTo>
                      <a:pt x="48" y="402"/>
                    </a:lnTo>
                    <a:lnTo>
                      <a:pt x="48" y="406"/>
                    </a:lnTo>
                    <a:lnTo>
                      <a:pt x="45" y="423"/>
                    </a:lnTo>
                    <a:lnTo>
                      <a:pt x="44" y="436"/>
                    </a:lnTo>
                    <a:lnTo>
                      <a:pt x="44" y="447"/>
                    </a:lnTo>
                    <a:lnTo>
                      <a:pt x="44" y="455"/>
                    </a:lnTo>
                    <a:lnTo>
                      <a:pt x="44" y="462"/>
                    </a:lnTo>
                    <a:lnTo>
                      <a:pt x="45" y="467"/>
                    </a:lnTo>
                    <a:lnTo>
                      <a:pt x="47" y="472"/>
                    </a:lnTo>
                    <a:lnTo>
                      <a:pt x="49" y="476"/>
                    </a:lnTo>
                    <a:lnTo>
                      <a:pt x="51" y="480"/>
                    </a:lnTo>
                    <a:lnTo>
                      <a:pt x="54" y="483"/>
                    </a:lnTo>
                    <a:lnTo>
                      <a:pt x="58" y="486"/>
                    </a:lnTo>
                    <a:lnTo>
                      <a:pt x="64" y="489"/>
                    </a:lnTo>
                    <a:lnTo>
                      <a:pt x="74" y="492"/>
                    </a:lnTo>
                    <a:lnTo>
                      <a:pt x="87" y="496"/>
                    </a:lnTo>
                    <a:lnTo>
                      <a:pt x="94" y="498"/>
                    </a:lnTo>
                    <a:lnTo>
                      <a:pt x="102" y="502"/>
                    </a:lnTo>
                    <a:lnTo>
                      <a:pt x="110" y="506"/>
                    </a:lnTo>
                    <a:lnTo>
                      <a:pt x="116" y="509"/>
                    </a:lnTo>
                    <a:lnTo>
                      <a:pt x="126" y="514"/>
                    </a:lnTo>
                    <a:lnTo>
                      <a:pt x="133" y="518"/>
                    </a:lnTo>
                    <a:lnTo>
                      <a:pt x="137" y="507"/>
                    </a:lnTo>
                    <a:lnTo>
                      <a:pt x="129" y="516"/>
                    </a:lnTo>
                    <a:lnTo>
                      <a:pt x="133" y="519"/>
                    </a:lnTo>
                    <a:lnTo>
                      <a:pt x="135" y="521"/>
                    </a:lnTo>
                    <a:lnTo>
                      <a:pt x="143" y="513"/>
                    </a:lnTo>
                    <a:lnTo>
                      <a:pt x="132" y="517"/>
                    </a:lnTo>
                    <a:lnTo>
                      <a:pt x="133" y="518"/>
                    </a:lnTo>
                    <a:lnTo>
                      <a:pt x="144" y="514"/>
                    </a:lnTo>
                    <a:lnTo>
                      <a:pt x="133" y="509"/>
                    </a:lnTo>
                    <a:lnTo>
                      <a:pt x="132" y="514"/>
                    </a:lnTo>
                    <a:lnTo>
                      <a:pt x="135" y="505"/>
                    </a:lnTo>
                    <a:lnTo>
                      <a:pt x="134" y="507"/>
                    </a:lnTo>
                    <a:lnTo>
                      <a:pt x="143" y="515"/>
                    </a:lnTo>
                    <a:lnTo>
                      <a:pt x="138" y="504"/>
                    </a:lnTo>
                    <a:lnTo>
                      <a:pt x="134" y="507"/>
                    </a:lnTo>
                    <a:lnTo>
                      <a:pt x="131" y="511"/>
                    </a:lnTo>
                    <a:lnTo>
                      <a:pt x="130" y="515"/>
                    </a:lnTo>
                    <a:lnTo>
                      <a:pt x="131" y="520"/>
                    </a:lnTo>
                    <a:lnTo>
                      <a:pt x="134" y="524"/>
                    </a:lnTo>
                    <a:lnTo>
                      <a:pt x="138" y="526"/>
                    </a:lnTo>
                    <a:lnTo>
                      <a:pt x="139" y="527"/>
                    </a:lnTo>
                    <a:lnTo>
                      <a:pt x="143" y="528"/>
                    </a:lnTo>
                    <a:lnTo>
                      <a:pt x="149" y="529"/>
                    </a:lnTo>
                    <a:lnTo>
                      <a:pt x="158" y="531"/>
                    </a:lnTo>
                    <a:lnTo>
                      <a:pt x="163" y="532"/>
                    </a:lnTo>
                    <a:lnTo>
                      <a:pt x="170" y="534"/>
                    </a:lnTo>
                    <a:lnTo>
                      <a:pt x="178" y="536"/>
                    </a:lnTo>
                    <a:lnTo>
                      <a:pt x="188" y="539"/>
                    </a:lnTo>
                    <a:lnTo>
                      <a:pt x="191" y="527"/>
                    </a:lnTo>
                    <a:lnTo>
                      <a:pt x="183" y="536"/>
                    </a:lnTo>
                    <a:lnTo>
                      <a:pt x="193" y="544"/>
                    </a:lnTo>
                    <a:lnTo>
                      <a:pt x="204" y="552"/>
                    </a:lnTo>
                    <a:lnTo>
                      <a:pt x="213" y="560"/>
                    </a:lnTo>
                    <a:lnTo>
                      <a:pt x="221" y="552"/>
                    </a:lnTo>
                    <a:lnTo>
                      <a:pt x="210" y="556"/>
                    </a:lnTo>
                    <a:lnTo>
                      <a:pt x="214" y="562"/>
                    </a:lnTo>
                    <a:lnTo>
                      <a:pt x="216" y="566"/>
                    </a:lnTo>
                    <a:lnTo>
                      <a:pt x="227" y="563"/>
                    </a:lnTo>
                    <a:lnTo>
                      <a:pt x="216" y="566"/>
                    </a:lnTo>
                    <a:lnTo>
                      <a:pt x="218" y="585"/>
                    </a:lnTo>
                    <a:lnTo>
                      <a:pt x="229" y="581"/>
                    </a:lnTo>
                    <a:lnTo>
                      <a:pt x="217" y="581"/>
                    </a:lnTo>
                    <a:lnTo>
                      <a:pt x="217" y="596"/>
                    </a:lnTo>
                    <a:lnTo>
                      <a:pt x="229" y="596"/>
                    </a:lnTo>
                    <a:lnTo>
                      <a:pt x="218" y="591"/>
                    </a:lnTo>
                    <a:lnTo>
                      <a:pt x="214" y="605"/>
                    </a:lnTo>
                    <a:lnTo>
                      <a:pt x="208" y="616"/>
                    </a:lnTo>
                    <a:lnTo>
                      <a:pt x="219" y="621"/>
                    </a:lnTo>
                    <a:lnTo>
                      <a:pt x="211" y="612"/>
                    </a:lnTo>
                    <a:lnTo>
                      <a:pt x="202" y="622"/>
                    </a:lnTo>
                    <a:lnTo>
                      <a:pt x="192" y="630"/>
                    </a:lnTo>
                    <a:lnTo>
                      <a:pt x="200" y="638"/>
                    </a:lnTo>
                    <a:lnTo>
                      <a:pt x="196" y="627"/>
                    </a:lnTo>
                    <a:lnTo>
                      <a:pt x="184" y="634"/>
                    </a:lnTo>
                    <a:lnTo>
                      <a:pt x="171" y="639"/>
                    </a:lnTo>
                    <a:lnTo>
                      <a:pt x="157" y="644"/>
                    </a:lnTo>
                    <a:lnTo>
                      <a:pt x="142" y="647"/>
                    </a:lnTo>
                    <a:lnTo>
                      <a:pt x="146" y="658"/>
                    </a:lnTo>
                    <a:lnTo>
                      <a:pt x="146" y="646"/>
                    </a:lnTo>
                    <a:lnTo>
                      <a:pt x="115" y="652"/>
                    </a:lnTo>
                    <a:lnTo>
                      <a:pt x="86" y="655"/>
                    </a:lnTo>
                    <a:lnTo>
                      <a:pt x="72" y="657"/>
                    </a:lnTo>
                    <a:lnTo>
                      <a:pt x="57" y="660"/>
                    </a:lnTo>
                    <a:lnTo>
                      <a:pt x="54" y="660"/>
                    </a:lnTo>
                    <a:lnTo>
                      <a:pt x="51" y="663"/>
                    </a:lnTo>
                    <a:lnTo>
                      <a:pt x="41" y="673"/>
                    </a:lnTo>
                    <a:lnTo>
                      <a:pt x="32" y="683"/>
                    </a:lnTo>
                    <a:lnTo>
                      <a:pt x="25" y="692"/>
                    </a:lnTo>
                    <a:lnTo>
                      <a:pt x="22" y="696"/>
                    </a:lnTo>
                    <a:lnTo>
                      <a:pt x="16" y="706"/>
                    </a:lnTo>
                    <a:lnTo>
                      <a:pt x="10" y="716"/>
                    </a:lnTo>
                    <a:lnTo>
                      <a:pt x="6" y="726"/>
                    </a:lnTo>
                    <a:lnTo>
                      <a:pt x="3" y="736"/>
                    </a:lnTo>
                    <a:lnTo>
                      <a:pt x="2" y="740"/>
                    </a:lnTo>
                    <a:lnTo>
                      <a:pt x="0" y="751"/>
                    </a:lnTo>
                    <a:lnTo>
                      <a:pt x="0" y="761"/>
                    </a:lnTo>
                    <a:lnTo>
                      <a:pt x="0" y="771"/>
                    </a:lnTo>
                    <a:lnTo>
                      <a:pt x="1" y="776"/>
                    </a:lnTo>
                    <a:lnTo>
                      <a:pt x="4" y="786"/>
                    </a:lnTo>
                    <a:lnTo>
                      <a:pt x="7" y="797"/>
                    </a:lnTo>
                    <a:lnTo>
                      <a:pt x="12" y="808"/>
                    </a:lnTo>
                    <a:lnTo>
                      <a:pt x="19" y="820"/>
                    </a:lnTo>
                    <a:lnTo>
                      <a:pt x="21" y="824"/>
                    </a:lnTo>
                    <a:lnTo>
                      <a:pt x="29" y="835"/>
                    </a:lnTo>
                    <a:lnTo>
                      <a:pt x="38" y="847"/>
                    </a:lnTo>
                    <a:lnTo>
                      <a:pt x="45" y="854"/>
                    </a:lnTo>
                    <a:lnTo>
                      <a:pt x="53" y="860"/>
                    </a:lnTo>
                    <a:lnTo>
                      <a:pt x="57" y="862"/>
                    </a:lnTo>
                    <a:lnTo>
                      <a:pt x="66" y="868"/>
                    </a:lnTo>
                    <a:lnTo>
                      <a:pt x="76" y="873"/>
                    </a:lnTo>
                    <a:lnTo>
                      <a:pt x="97" y="881"/>
                    </a:lnTo>
                    <a:lnTo>
                      <a:pt x="120" y="888"/>
                    </a:lnTo>
                    <a:lnTo>
                      <a:pt x="141" y="892"/>
                    </a:lnTo>
                    <a:lnTo>
                      <a:pt x="145" y="893"/>
                    </a:lnTo>
                    <a:lnTo>
                      <a:pt x="154" y="895"/>
                    </a:lnTo>
                    <a:lnTo>
                      <a:pt x="163" y="897"/>
                    </a:lnTo>
                    <a:lnTo>
                      <a:pt x="169" y="898"/>
                    </a:lnTo>
                    <a:lnTo>
                      <a:pt x="175" y="898"/>
                    </a:lnTo>
                    <a:lnTo>
                      <a:pt x="178" y="899"/>
                    </a:lnTo>
                    <a:lnTo>
                      <a:pt x="179" y="887"/>
                    </a:lnTo>
                    <a:lnTo>
                      <a:pt x="171" y="895"/>
                    </a:lnTo>
                    <a:lnTo>
                      <a:pt x="174" y="898"/>
                    </a:lnTo>
                    <a:lnTo>
                      <a:pt x="169" y="894"/>
                    </a:lnTo>
                    <a:lnTo>
                      <a:pt x="172" y="896"/>
                    </a:lnTo>
                    <a:lnTo>
                      <a:pt x="174" y="900"/>
                    </a:lnTo>
                    <a:lnTo>
                      <a:pt x="178" y="904"/>
                    </a:lnTo>
                    <a:lnTo>
                      <a:pt x="187" y="913"/>
                    </a:lnTo>
                    <a:lnTo>
                      <a:pt x="191" y="917"/>
                    </a:lnTo>
                    <a:lnTo>
                      <a:pt x="200" y="909"/>
                    </a:lnTo>
                    <a:lnTo>
                      <a:pt x="189" y="913"/>
                    </a:lnTo>
                    <a:lnTo>
                      <a:pt x="192" y="918"/>
                    </a:lnTo>
                    <a:lnTo>
                      <a:pt x="193" y="922"/>
                    </a:lnTo>
                    <a:lnTo>
                      <a:pt x="204" y="918"/>
                    </a:lnTo>
                    <a:lnTo>
                      <a:pt x="192" y="918"/>
                    </a:lnTo>
                    <a:lnTo>
                      <a:pt x="193" y="913"/>
                    </a:lnTo>
                    <a:lnTo>
                      <a:pt x="192" y="919"/>
                    </a:lnTo>
                    <a:lnTo>
                      <a:pt x="192" y="920"/>
                    </a:lnTo>
                    <a:lnTo>
                      <a:pt x="190" y="922"/>
                    </a:lnTo>
                    <a:lnTo>
                      <a:pt x="201" y="927"/>
                    </a:lnTo>
                    <a:lnTo>
                      <a:pt x="192" y="918"/>
                    </a:lnTo>
                    <a:lnTo>
                      <a:pt x="188" y="923"/>
                    </a:lnTo>
                    <a:lnTo>
                      <a:pt x="182" y="928"/>
                    </a:lnTo>
                    <a:lnTo>
                      <a:pt x="175" y="934"/>
                    </a:lnTo>
                    <a:lnTo>
                      <a:pt x="183" y="942"/>
                    </a:lnTo>
                    <a:lnTo>
                      <a:pt x="179" y="931"/>
                    </a:lnTo>
                    <a:lnTo>
                      <a:pt x="170" y="937"/>
                    </a:lnTo>
                    <a:lnTo>
                      <a:pt x="160" y="943"/>
                    </a:lnTo>
                    <a:lnTo>
                      <a:pt x="139" y="956"/>
                    </a:lnTo>
                    <a:lnTo>
                      <a:pt x="117" y="968"/>
                    </a:lnTo>
                    <a:lnTo>
                      <a:pt x="96" y="979"/>
                    </a:lnTo>
                    <a:lnTo>
                      <a:pt x="87" y="984"/>
                    </a:lnTo>
                    <a:lnTo>
                      <a:pt x="79" y="989"/>
                    </a:lnTo>
                    <a:lnTo>
                      <a:pt x="72" y="993"/>
                    </a:lnTo>
                    <a:lnTo>
                      <a:pt x="65" y="997"/>
                    </a:lnTo>
                    <a:lnTo>
                      <a:pt x="63" y="999"/>
                    </a:lnTo>
                    <a:lnTo>
                      <a:pt x="62" y="1001"/>
                    </a:lnTo>
                    <a:lnTo>
                      <a:pt x="53" y="1011"/>
                    </a:lnTo>
                    <a:lnTo>
                      <a:pt x="64" y="1016"/>
                    </a:lnTo>
                    <a:lnTo>
                      <a:pt x="56" y="1007"/>
                    </a:lnTo>
                    <a:lnTo>
                      <a:pt x="48" y="1016"/>
                    </a:lnTo>
                    <a:lnTo>
                      <a:pt x="42" y="1025"/>
                    </a:lnTo>
                    <a:lnTo>
                      <a:pt x="39" y="1029"/>
                    </a:lnTo>
                    <a:lnTo>
                      <a:pt x="37" y="1033"/>
                    </a:lnTo>
                    <a:lnTo>
                      <a:pt x="36" y="1038"/>
                    </a:lnTo>
                    <a:lnTo>
                      <a:pt x="35" y="1042"/>
                    </a:lnTo>
                    <a:lnTo>
                      <a:pt x="47" y="1043"/>
                    </a:lnTo>
                    <a:lnTo>
                      <a:pt x="35" y="1042"/>
                    </a:lnTo>
                    <a:lnTo>
                      <a:pt x="34" y="1062"/>
                    </a:lnTo>
                    <a:lnTo>
                      <a:pt x="34" y="1078"/>
                    </a:lnTo>
                    <a:lnTo>
                      <a:pt x="35" y="1091"/>
                    </a:lnTo>
                    <a:lnTo>
                      <a:pt x="36" y="1096"/>
                    </a:lnTo>
                    <a:lnTo>
                      <a:pt x="38" y="1107"/>
                    </a:lnTo>
                    <a:lnTo>
                      <a:pt x="42" y="1117"/>
                    </a:lnTo>
                    <a:lnTo>
                      <a:pt x="46" y="1125"/>
                    </a:lnTo>
                    <a:lnTo>
                      <a:pt x="49" y="1129"/>
                    </a:lnTo>
                    <a:lnTo>
                      <a:pt x="54" y="1136"/>
                    </a:lnTo>
                    <a:lnTo>
                      <a:pt x="60" y="1142"/>
                    </a:lnTo>
                    <a:lnTo>
                      <a:pt x="75" y="1153"/>
                    </a:lnTo>
                    <a:lnTo>
                      <a:pt x="79" y="1155"/>
                    </a:lnTo>
                    <a:lnTo>
                      <a:pt x="97" y="1166"/>
                    </a:lnTo>
                    <a:lnTo>
                      <a:pt x="107" y="1172"/>
                    </a:lnTo>
                    <a:lnTo>
                      <a:pt x="111" y="1161"/>
                    </a:lnTo>
                    <a:lnTo>
                      <a:pt x="103" y="1170"/>
                    </a:lnTo>
                    <a:lnTo>
                      <a:pt x="113" y="1177"/>
                    </a:lnTo>
                    <a:lnTo>
                      <a:pt x="124" y="1185"/>
                    </a:lnTo>
                    <a:lnTo>
                      <a:pt x="135" y="1196"/>
                    </a:lnTo>
                    <a:lnTo>
                      <a:pt x="143" y="1187"/>
                    </a:lnTo>
                    <a:lnTo>
                      <a:pt x="131" y="1187"/>
                    </a:lnTo>
                    <a:lnTo>
                      <a:pt x="132" y="1192"/>
                    </a:lnTo>
                    <a:lnTo>
                      <a:pt x="131" y="1186"/>
                    </a:lnTo>
                    <a:lnTo>
                      <a:pt x="126" y="1247"/>
                    </a:lnTo>
                    <a:lnTo>
                      <a:pt x="123" y="1277"/>
                    </a:lnTo>
                    <a:lnTo>
                      <a:pt x="120" y="1305"/>
                    </a:lnTo>
                    <a:lnTo>
                      <a:pt x="117" y="1321"/>
                    </a:lnTo>
                    <a:lnTo>
                      <a:pt x="115" y="1332"/>
                    </a:lnTo>
                    <a:lnTo>
                      <a:pt x="127" y="1332"/>
                    </a:lnTo>
                    <a:lnTo>
                      <a:pt x="116" y="1328"/>
                    </a:lnTo>
                    <a:lnTo>
                      <a:pt x="114" y="1336"/>
                    </a:lnTo>
                    <a:lnTo>
                      <a:pt x="113" y="1341"/>
                    </a:lnTo>
                    <a:lnTo>
                      <a:pt x="111" y="1344"/>
                    </a:lnTo>
                    <a:lnTo>
                      <a:pt x="122" y="1348"/>
                    </a:lnTo>
                    <a:lnTo>
                      <a:pt x="114" y="1340"/>
                    </a:lnTo>
                    <a:lnTo>
                      <a:pt x="113" y="1341"/>
                    </a:lnTo>
                    <a:lnTo>
                      <a:pt x="122" y="1350"/>
                    </a:lnTo>
                    <a:lnTo>
                      <a:pt x="117" y="1339"/>
                    </a:lnTo>
                    <a:lnTo>
                      <a:pt x="122" y="1338"/>
                    </a:lnTo>
                    <a:lnTo>
                      <a:pt x="121" y="1338"/>
                    </a:lnTo>
                    <a:lnTo>
                      <a:pt x="121" y="1350"/>
                    </a:lnTo>
                    <a:lnTo>
                      <a:pt x="129" y="1341"/>
                    </a:lnTo>
                    <a:lnTo>
                      <a:pt x="125" y="1339"/>
                    </a:lnTo>
                    <a:lnTo>
                      <a:pt x="132" y="1345"/>
                    </a:lnTo>
                    <a:lnTo>
                      <a:pt x="131" y="1344"/>
                    </a:lnTo>
                    <a:lnTo>
                      <a:pt x="130" y="1341"/>
                    </a:lnTo>
                    <a:lnTo>
                      <a:pt x="119" y="1345"/>
                    </a:lnTo>
                    <a:lnTo>
                      <a:pt x="131" y="1345"/>
                    </a:lnTo>
                    <a:lnTo>
                      <a:pt x="131" y="1344"/>
                    </a:lnTo>
                    <a:lnTo>
                      <a:pt x="131" y="1343"/>
                    </a:lnTo>
                    <a:lnTo>
                      <a:pt x="130" y="1338"/>
                    </a:lnTo>
                    <a:lnTo>
                      <a:pt x="128" y="1335"/>
                    </a:lnTo>
                    <a:lnTo>
                      <a:pt x="124" y="1332"/>
                    </a:lnTo>
                    <a:lnTo>
                      <a:pt x="119" y="1331"/>
                    </a:lnTo>
                    <a:lnTo>
                      <a:pt x="114" y="1332"/>
                    </a:lnTo>
                    <a:lnTo>
                      <a:pt x="111" y="1335"/>
                    </a:lnTo>
                    <a:lnTo>
                      <a:pt x="108" y="1339"/>
                    </a:lnTo>
                    <a:lnTo>
                      <a:pt x="107" y="1343"/>
                    </a:lnTo>
                    <a:lnTo>
                      <a:pt x="107" y="1345"/>
                    </a:lnTo>
                    <a:lnTo>
                      <a:pt x="107" y="1349"/>
                    </a:lnTo>
                    <a:lnTo>
                      <a:pt x="107" y="1355"/>
                    </a:lnTo>
                    <a:lnTo>
                      <a:pt x="131" y="1355"/>
                    </a:lnTo>
                    <a:lnTo>
                      <a:pt x="131" y="1349"/>
                    </a:lnTo>
                    <a:lnTo>
                      <a:pt x="131" y="1345"/>
                    </a:lnTo>
                    <a:lnTo>
                      <a:pt x="131" y="1343"/>
                    </a:lnTo>
                    <a:lnTo>
                      <a:pt x="119" y="1343"/>
                    </a:lnTo>
                    <a:lnTo>
                      <a:pt x="130" y="1348"/>
                    </a:lnTo>
                    <a:lnTo>
                      <a:pt x="108" y="1348"/>
                    </a:lnTo>
                    <a:lnTo>
                      <a:pt x="111" y="1352"/>
                    </a:lnTo>
                    <a:lnTo>
                      <a:pt x="114" y="1354"/>
                    </a:lnTo>
                    <a:lnTo>
                      <a:pt x="119" y="1355"/>
                    </a:lnTo>
                    <a:lnTo>
                      <a:pt x="124" y="1354"/>
                    </a:lnTo>
                    <a:lnTo>
                      <a:pt x="128" y="1352"/>
                    </a:lnTo>
                    <a:lnTo>
                      <a:pt x="119" y="1343"/>
                    </a:lnTo>
                    <a:lnTo>
                      <a:pt x="107" y="1343"/>
                    </a:lnTo>
                    <a:lnTo>
                      <a:pt x="107" y="1344"/>
                    </a:lnTo>
                    <a:lnTo>
                      <a:pt x="107" y="1345"/>
                    </a:lnTo>
                    <a:lnTo>
                      <a:pt x="108" y="1350"/>
                    </a:lnTo>
                    <a:lnTo>
                      <a:pt x="109" y="1353"/>
                    </a:lnTo>
                    <a:lnTo>
                      <a:pt x="110" y="1354"/>
                    </a:lnTo>
                    <a:lnTo>
                      <a:pt x="112" y="1358"/>
                    </a:lnTo>
                    <a:lnTo>
                      <a:pt x="116" y="1361"/>
                    </a:lnTo>
                    <a:lnTo>
                      <a:pt x="121" y="1362"/>
                    </a:lnTo>
                    <a:lnTo>
                      <a:pt x="122" y="1362"/>
                    </a:lnTo>
                    <a:lnTo>
                      <a:pt x="126" y="1361"/>
                    </a:lnTo>
                    <a:lnTo>
                      <a:pt x="130" y="1358"/>
                    </a:lnTo>
                    <a:lnTo>
                      <a:pt x="131" y="1357"/>
                    </a:lnTo>
                    <a:lnTo>
                      <a:pt x="133" y="1353"/>
                    </a:lnTo>
                    <a:lnTo>
                      <a:pt x="135" y="1350"/>
                    </a:lnTo>
                    <a:lnTo>
                      <a:pt x="136" y="1345"/>
                    </a:lnTo>
                    <a:lnTo>
                      <a:pt x="138" y="1337"/>
                    </a:lnTo>
                    <a:lnTo>
                      <a:pt x="139" y="1332"/>
                    </a:lnTo>
                    <a:lnTo>
                      <a:pt x="141" y="1321"/>
                    </a:lnTo>
                    <a:lnTo>
                      <a:pt x="143" y="1309"/>
                    </a:lnTo>
                    <a:lnTo>
                      <a:pt x="147" y="1277"/>
                    </a:lnTo>
                    <a:lnTo>
                      <a:pt x="150" y="1247"/>
                    </a:lnTo>
                    <a:lnTo>
                      <a:pt x="155" y="1188"/>
                    </a:lnTo>
                    <a:lnTo>
                      <a:pt x="155" y="1187"/>
                    </a:lnTo>
                    <a:lnTo>
                      <a:pt x="154" y="1182"/>
                    </a:lnTo>
                    <a:lnTo>
                      <a:pt x="152" y="1179"/>
                    </a:lnTo>
                    <a:lnTo>
                      <a:pt x="141" y="1168"/>
                    </a:lnTo>
                    <a:lnTo>
                      <a:pt x="130" y="1160"/>
                    </a:lnTo>
                    <a:lnTo>
                      <a:pt x="120" y="1153"/>
                    </a:lnTo>
                    <a:lnTo>
                      <a:pt x="116" y="1150"/>
                    </a:lnTo>
                    <a:lnTo>
                      <a:pt x="106" y="1144"/>
                    </a:lnTo>
                    <a:lnTo>
                      <a:pt x="88" y="1133"/>
                    </a:lnTo>
                    <a:lnTo>
                      <a:pt x="84" y="1144"/>
                    </a:lnTo>
                    <a:lnTo>
                      <a:pt x="92" y="1136"/>
                    </a:lnTo>
                    <a:lnTo>
                      <a:pt x="77" y="1125"/>
                    </a:lnTo>
                    <a:lnTo>
                      <a:pt x="71" y="1119"/>
                    </a:lnTo>
                    <a:lnTo>
                      <a:pt x="66" y="1112"/>
                    </a:lnTo>
                    <a:lnTo>
                      <a:pt x="57" y="1120"/>
                    </a:lnTo>
                    <a:lnTo>
                      <a:pt x="68" y="1116"/>
                    </a:lnTo>
                    <a:lnTo>
                      <a:pt x="64" y="1108"/>
                    </a:lnTo>
                    <a:lnTo>
                      <a:pt x="60" y="1098"/>
                    </a:lnTo>
                    <a:lnTo>
                      <a:pt x="58" y="1087"/>
                    </a:lnTo>
                    <a:lnTo>
                      <a:pt x="47" y="1091"/>
                    </a:lnTo>
                    <a:lnTo>
                      <a:pt x="59" y="1091"/>
                    </a:lnTo>
                    <a:lnTo>
                      <a:pt x="58" y="1078"/>
                    </a:lnTo>
                    <a:lnTo>
                      <a:pt x="58" y="1062"/>
                    </a:lnTo>
                    <a:lnTo>
                      <a:pt x="59" y="1045"/>
                    </a:lnTo>
                    <a:lnTo>
                      <a:pt x="59" y="1044"/>
                    </a:lnTo>
                    <a:lnTo>
                      <a:pt x="60" y="1038"/>
                    </a:lnTo>
                    <a:lnTo>
                      <a:pt x="48" y="1038"/>
                    </a:lnTo>
                    <a:lnTo>
                      <a:pt x="59" y="1042"/>
                    </a:lnTo>
                    <a:lnTo>
                      <a:pt x="61" y="1038"/>
                    </a:lnTo>
                    <a:lnTo>
                      <a:pt x="50" y="1033"/>
                    </a:lnTo>
                    <a:lnTo>
                      <a:pt x="59" y="1042"/>
                    </a:lnTo>
                    <a:lnTo>
                      <a:pt x="65" y="1033"/>
                    </a:lnTo>
                    <a:lnTo>
                      <a:pt x="73" y="1024"/>
                    </a:lnTo>
                    <a:lnTo>
                      <a:pt x="75" y="1020"/>
                    </a:lnTo>
                    <a:lnTo>
                      <a:pt x="81" y="1014"/>
                    </a:lnTo>
                    <a:lnTo>
                      <a:pt x="79" y="1015"/>
                    </a:lnTo>
                    <a:lnTo>
                      <a:pt x="71" y="1007"/>
                    </a:lnTo>
                    <a:lnTo>
                      <a:pt x="78" y="1017"/>
                    </a:lnTo>
                    <a:lnTo>
                      <a:pt x="81" y="1015"/>
                    </a:lnTo>
                    <a:lnTo>
                      <a:pt x="88" y="1011"/>
                    </a:lnTo>
                    <a:lnTo>
                      <a:pt x="96" y="1006"/>
                    </a:lnTo>
                    <a:lnTo>
                      <a:pt x="105" y="1001"/>
                    </a:lnTo>
                    <a:lnTo>
                      <a:pt x="126" y="990"/>
                    </a:lnTo>
                    <a:lnTo>
                      <a:pt x="148" y="978"/>
                    </a:lnTo>
                    <a:lnTo>
                      <a:pt x="169" y="965"/>
                    </a:lnTo>
                    <a:lnTo>
                      <a:pt x="179" y="959"/>
                    </a:lnTo>
                    <a:lnTo>
                      <a:pt x="188" y="953"/>
                    </a:lnTo>
                    <a:lnTo>
                      <a:pt x="192" y="951"/>
                    </a:lnTo>
                    <a:lnTo>
                      <a:pt x="199" y="945"/>
                    </a:lnTo>
                    <a:lnTo>
                      <a:pt x="205" y="940"/>
                    </a:lnTo>
                    <a:lnTo>
                      <a:pt x="209" y="935"/>
                    </a:lnTo>
                    <a:lnTo>
                      <a:pt x="212" y="931"/>
                    </a:lnTo>
                    <a:lnTo>
                      <a:pt x="214" y="927"/>
                    </a:lnTo>
                    <a:lnTo>
                      <a:pt x="203" y="923"/>
                    </a:lnTo>
                    <a:lnTo>
                      <a:pt x="214" y="927"/>
                    </a:lnTo>
                    <a:lnTo>
                      <a:pt x="215" y="922"/>
                    </a:lnTo>
                    <a:lnTo>
                      <a:pt x="216" y="918"/>
                    </a:lnTo>
                    <a:lnTo>
                      <a:pt x="215" y="913"/>
                    </a:lnTo>
                    <a:lnTo>
                      <a:pt x="214" y="909"/>
                    </a:lnTo>
                    <a:lnTo>
                      <a:pt x="211" y="904"/>
                    </a:lnTo>
                    <a:lnTo>
                      <a:pt x="208" y="900"/>
                    </a:lnTo>
                    <a:lnTo>
                      <a:pt x="204" y="896"/>
                    </a:lnTo>
                    <a:lnTo>
                      <a:pt x="195" y="887"/>
                    </a:lnTo>
                    <a:lnTo>
                      <a:pt x="191" y="883"/>
                    </a:lnTo>
                    <a:lnTo>
                      <a:pt x="183" y="891"/>
                    </a:lnTo>
                    <a:lnTo>
                      <a:pt x="194" y="887"/>
                    </a:lnTo>
                    <a:lnTo>
                      <a:pt x="189" y="881"/>
                    </a:lnTo>
                    <a:lnTo>
                      <a:pt x="187" y="879"/>
                    </a:lnTo>
                    <a:lnTo>
                      <a:pt x="184" y="876"/>
                    </a:lnTo>
                    <a:lnTo>
                      <a:pt x="181" y="876"/>
                    </a:lnTo>
                    <a:lnTo>
                      <a:pt x="178" y="875"/>
                    </a:lnTo>
                    <a:lnTo>
                      <a:pt x="175" y="874"/>
                    </a:lnTo>
                    <a:lnTo>
                      <a:pt x="169" y="874"/>
                    </a:lnTo>
                    <a:lnTo>
                      <a:pt x="163" y="873"/>
                    </a:lnTo>
                    <a:lnTo>
                      <a:pt x="154" y="871"/>
                    </a:lnTo>
                    <a:lnTo>
                      <a:pt x="145" y="869"/>
                    </a:lnTo>
                    <a:lnTo>
                      <a:pt x="145" y="881"/>
                    </a:lnTo>
                    <a:lnTo>
                      <a:pt x="150" y="870"/>
                    </a:lnTo>
                    <a:lnTo>
                      <a:pt x="129" y="866"/>
                    </a:lnTo>
                    <a:lnTo>
                      <a:pt x="106" y="859"/>
                    </a:lnTo>
                    <a:lnTo>
                      <a:pt x="85" y="851"/>
                    </a:lnTo>
                    <a:lnTo>
                      <a:pt x="75" y="846"/>
                    </a:lnTo>
                    <a:lnTo>
                      <a:pt x="66" y="840"/>
                    </a:lnTo>
                    <a:lnTo>
                      <a:pt x="61" y="851"/>
                    </a:lnTo>
                    <a:lnTo>
                      <a:pt x="70" y="843"/>
                    </a:lnTo>
                    <a:lnTo>
                      <a:pt x="62" y="837"/>
                    </a:lnTo>
                    <a:lnTo>
                      <a:pt x="56" y="832"/>
                    </a:lnTo>
                    <a:lnTo>
                      <a:pt x="46" y="818"/>
                    </a:lnTo>
                    <a:lnTo>
                      <a:pt x="38" y="807"/>
                    </a:lnTo>
                    <a:lnTo>
                      <a:pt x="30" y="815"/>
                    </a:lnTo>
                    <a:lnTo>
                      <a:pt x="41" y="811"/>
                    </a:lnTo>
                    <a:lnTo>
                      <a:pt x="34" y="799"/>
                    </a:lnTo>
                    <a:lnTo>
                      <a:pt x="29" y="788"/>
                    </a:lnTo>
                    <a:lnTo>
                      <a:pt x="26" y="777"/>
                    </a:lnTo>
                    <a:lnTo>
                      <a:pt x="23" y="767"/>
                    </a:lnTo>
                    <a:lnTo>
                      <a:pt x="12" y="771"/>
                    </a:lnTo>
                    <a:lnTo>
                      <a:pt x="24" y="771"/>
                    </a:lnTo>
                    <a:lnTo>
                      <a:pt x="24" y="761"/>
                    </a:lnTo>
                    <a:lnTo>
                      <a:pt x="24" y="751"/>
                    </a:lnTo>
                    <a:lnTo>
                      <a:pt x="26" y="740"/>
                    </a:lnTo>
                    <a:lnTo>
                      <a:pt x="14" y="740"/>
                    </a:lnTo>
                    <a:lnTo>
                      <a:pt x="25" y="745"/>
                    </a:lnTo>
                    <a:lnTo>
                      <a:pt x="28" y="735"/>
                    </a:lnTo>
                    <a:lnTo>
                      <a:pt x="32" y="725"/>
                    </a:lnTo>
                    <a:lnTo>
                      <a:pt x="38" y="715"/>
                    </a:lnTo>
                    <a:lnTo>
                      <a:pt x="44" y="705"/>
                    </a:lnTo>
                    <a:lnTo>
                      <a:pt x="33" y="701"/>
                    </a:lnTo>
                    <a:lnTo>
                      <a:pt x="42" y="709"/>
                    </a:lnTo>
                    <a:lnTo>
                      <a:pt x="49" y="700"/>
                    </a:lnTo>
                    <a:lnTo>
                      <a:pt x="58" y="690"/>
                    </a:lnTo>
                    <a:lnTo>
                      <a:pt x="68" y="680"/>
                    </a:lnTo>
                    <a:lnTo>
                      <a:pt x="64" y="682"/>
                    </a:lnTo>
                    <a:lnTo>
                      <a:pt x="59" y="671"/>
                    </a:lnTo>
                    <a:lnTo>
                      <a:pt x="61" y="683"/>
                    </a:lnTo>
                    <a:lnTo>
                      <a:pt x="72" y="681"/>
                    </a:lnTo>
                    <a:lnTo>
                      <a:pt x="86" y="679"/>
                    </a:lnTo>
                    <a:lnTo>
                      <a:pt x="115" y="676"/>
                    </a:lnTo>
                    <a:lnTo>
                      <a:pt x="146" y="670"/>
                    </a:lnTo>
                    <a:lnTo>
                      <a:pt x="151" y="669"/>
                    </a:lnTo>
                    <a:lnTo>
                      <a:pt x="166" y="666"/>
                    </a:lnTo>
                    <a:lnTo>
                      <a:pt x="180" y="661"/>
                    </a:lnTo>
                    <a:lnTo>
                      <a:pt x="193" y="656"/>
                    </a:lnTo>
                    <a:lnTo>
                      <a:pt x="205" y="649"/>
                    </a:lnTo>
                    <a:lnTo>
                      <a:pt x="209" y="647"/>
                    </a:lnTo>
                    <a:lnTo>
                      <a:pt x="219" y="639"/>
                    </a:lnTo>
                    <a:lnTo>
                      <a:pt x="228" y="629"/>
                    </a:lnTo>
                    <a:lnTo>
                      <a:pt x="230" y="625"/>
                    </a:lnTo>
                    <a:lnTo>
                      <a:pt x="236" y="614"/>
                    </a:lnTo>
                    <a:lnTo>
                      <a:pt x="240" y="600"/>
                    </a:lnTo>
                    <a:lnTo>
                      <a:pt x="241" y="596"/>
                    </a:lnTo>
                    <a:lnTo>
                      <a:pt x="241" y="581"/>
                    </a:lnTo>
                    <a:lnTo>
                      <a:pt x="240" y="576"/>
                    </a:lnTo>
                    <a:lnTo>
                      <a:pt x="239" y="561"/>
                    </a:lnTo>
                    <a:lnTo>
                      <a:pt x="239" y="560"/>
                    </a:lnTo>
                    <a:lnTo>
                      <a:pt x="236" y="553"/>
                    </a:lnTo>
                    <a:lnTo>
                      <a:pt x="232" y="547"/>
                    </a:lnTo>
                    <a:lnTo>
                      <a:pt x="230" y="543"/>
                    </a:lnTo>
                    <a:lnTo>
                      <a:pt x="221" y="535"/>
                    </a:lnTo>
                    <a:lnTo>
                      <a:pt x="210" y="527"/>
                    </a:lnTo>
                    <a:lnTo>
                      <a:pt x="200" y="519"/>
                    </a:lnTo>
                    <a:lnTo>
                      <a:pt x="199" y="519"/>
                    </a:lnTo>
                    <a:lnTo>
                      <a:pt x="196" y="516"/>
                    </a:lnTo>
                    <a:lnTo>
                      <a:pt x="194" y="516"/>
                    </a:lnTo>
                    <a:lnTo>
                      <a:pt x="187" y="514"/>
                    </a:lnTo>
                    <a:lnTo>
                      <a:pt x="179" y="512"/>
                    </a:lnTo>
                    <a:lnTo>
                      <a:pt x="172" y="510"/>
                    </a:lnTo>
                    <a:lnTo>
                      <a:pt x="167" y="509"/>
                    </a:lnTo>
                    <a:lnTo>
                      <a:pt x="158" y="507"/>
                    </a:lnTo>
                    <a:lnTo>
                      <a:pt x="152" y="506"/>
                    </a:lnTo>
                    <a:lnTo>
                      <a:pt x="148" y="505"/>
                    </a:lnTo>
                    <a:lnTo>
                      <a:pt x="147" y="504"/>
                    </a:lnTo>
                    <a:lnTo>
                      <a:pt x="142" y="515"/>
                    </a:lnTo>
                    <a:lnTo>
                      <a:pt x="151" y="507"/>
                    </a:lnTo>
                    <a:lnTo>
                      <a:pt x="151" y="524"/>
                    </a:lnTo>
                    <a:lnTo>
                      <a:pt x="153" y="520"/>
                    </a:lnTo>
                    <a:lnTo>
                      <a:pt x="154" y="515"/>
                    </a:lnTo>
                    <a:lnTo>
                      <a:pt x="153" y="511"/>
                    </a:lnTo>
                    <a:lnTo>
                      <a:pt x="142" y="515"/>
                    </a:lnTo>
                    <a:lnTo>
                      <a:pt x="147" y="526"/>
                    </a:lnTo>
                    <a:lnTo>
                      <a:pt x="151" y="524"/>
                    </a:lnTo>
                    <a:lnTo>
                      <a:pt x="152" y="522"/>
                    </a:lnTo>
                    <a:lnTo>
                      <a:pt x="155" y="519"/>
                    </a:lnTo>
                    <a:lnTo>
                      <a:pt x="156" y="514"/>
                    </a:lnTo>
                    <a:lnTo>
                      <a:pt x="155" y="509"/>
                    </a:lnTo>
                    <a:lnTo>
                      <a:pt x="154" y="508"/>
                    </a:lnTo>
                    <a:lnTo>
                      <a:pt x="152" y="504"/>
                    </a:lnTo>
                    <a:lnTo>
                      <a:pt x="150" y="502"/>
                    </a:lnTo>
                    <a:lnTo>
                      <a:pt x="146" y="499"/>
                    </a:lnTo>
                    <a:lnTo>
                      <a:pt x="142" y="496"/>
                    </a:lnTo>
                    <a:lnTo>
                      <a:pt x="135" y="492"/>
                    </a:lnTo>
                    <a:lnTo>
                      <a:pt x="125" y="487"/>
                    </a:lnTo>
                    <a:lnTo>
                      <a:pt x="119" y="484"/>
                    </a:lnTo>
                    <a:lnTo>
                      <a:pt x="113" y="481"/>
                    </a:lnTo>
                    <a:lnTo>
                      <a:pt x="103" y="476"/>
                    </a:lnTo>
                    <a:lnTo>
                      <a:pt x="96" y="474"/>
                    </a:lnTo>
                    <a:lnTo>
                      <a:pt x="83" y="470"/>
                    </a:lnTo>
                    <a:lnTo>
                      <a:pt x="73" y="467"/>
                    </a:lnTo>
                    <a:lnTo>
                      <a:pt x="67" y="464"/>
                    </a:lnTo>
                    <a:lnTo>
                      <a:pt x="62" y="475"/>
                    </a:lnTo>
                    <a:lnTo>
                      <a:pt x="71" y="466"/>
                    </a:lnTo>
                    <a:lnTo>
                      <a:pt x="68" y="463"/>
                    </a:lnTo>
                    <a:lnTo>
                      <a:pt x="60" y="472"/>
                    </a:lnTo>
                    <a:lnTo>
                      <a:pt x="71" y="467"/>
                    </a:lnTo>
                    <a:lnTo>
                      <a:pt x="69" y="463"/>
                    </a:lnTo>
                    <a:lnTo>
                      <a:pt x="67" y="458"/>
                    </a:lnTo>
                    <a:lnTo>
                      <a:pt x="56" y="462"/>
                    </a:lnTo>
                    <a:lnTo>
                      <a:pt x="68" y="462"/>
                    </a:lnTo>
                    <a:lnTo>
                      <a:pt x="68" y="455"/>
                    </a:lnTo>
                    <a:lnTo>
                      <a:pt x="68" y="447"/>
                    </a:lnTo>
                    <a:lnTo>
                      <a:pt x="68" y="436"/>
                    </a:lnTo>
                    <a:lnTo>
                      <a:pt x="69" y="423"/>
                    </a:lnTo>
                    <a:lnTo>
                      <a:pt x="71" y="409"/>
                    </a:lnTo>
                    <a:lnTo>
                      <a:pt x="72" y="402"/>
                    </a:lnTo>
                    <a:lnTo>
                      <a:pt x="60" y="402"/>
                    </a:lnTo>
                    <a:lnTo>
                      <a:pt x="71" y="406"/>
                    </a:lnTo>
                    <a:lnTo>
                      <a:pt x="74" y="402"/>
                    </a:lnTo>
                    <a:lnTo>
                      <a:pt x="63" y="397"/>
                    </a:lnTo>
                    <a:lnTo>
                      <a:pt x="71" y="406"/>
                    </a:lnTo>
                    <a:lnTo>
                      <a:pt x="77" y="397"/>
                    </a:lnTo>
                    <a:lnTo>
                      <a:pt x="85" y="388"/>
                    </a:lnTo>
                    <a:lnTo>
                      <a:pt x="87" y="384"/>
                    </a:lnTo>
                    <a:lnTo>
                      <a:pt x="93" y="378"/>
                    </a:lnTo>
                    <a:lnTo>
                      <a:pt x="83" y="371"/>
                    </a:lnTo>
                    <a:lnTo>
                      <a:pt x="90" y="381"/>
                    </a:lnTo>
                    <a:lnTo>
                      <a:pt x="109" y="370"/>
                    </a:lnTo>
                    <a:lnTo>
                      <a:pt x="100" y="361"/>
                    </a:lnTo>
                    <a:lnTo>
                      <a:pt x="105" y="372"/>
                    </a:lnTo>
                    <a:lnTo>
                      <a:pt x="124" y="364"/>
                    </a:lnTo>
                    <a:lnTo>
                      <a:pt x="142" y="356"/>
                    </a:lnTo>
                    <a:lnTo>
                      <a:pt x="146" y="353"/>
                    </a:lnTo>
                    <a:lnTo>
                      <a:pt x="162" y="345"/>
                    </a:lnTo>
                    <a:lnTo>
                      <a:pt x="155" y="335"/>
                    </a:lnTo>
                    <a:lnTo>
                      <a:pt x="162" y="345"/>
                    </a:lnTo>
                    <a:lnTo>
                      <a:pt x="169" y="338"/>
                    </a:lnTo>
                    <a:lnTo>
                      <a:pt x="173" y="336"/>
                    </a:lnTo>
                    <a:lnTo>
                      <a:pt x="182" y="326"/>
                    </a:lnTo>
                    <a:lnTo>
                      <a:pt x="190" y="317"/>
                    </a:lnTo>
                    <a:lnTo>
                      <a:pt x="199" y="308"/>
                    </a:lnTo>
                    <a:lnTo>
                      <a:pt x="208" y="302"/>
                    </a:lnTo>
                    <a:lnTo>
                      <a:pt x="199" y="293"/>
                    </a:lnTo>
                    <a:lnTo>
                      <a:pt x="204" y="304"/>
                    </a:lnTo>
                    <a:lnTo>
                      <a:pt x="213" y="299"/>
                    </a:lnTo>
                    <a:lnTo>
                      <a:pt x="222" y="293"/>
                    </a:lnTo>
                    <a:lnTo>
                      <a:pt x="226" y="291"/>
                    </a:lnTo>
                    <a:lnTo>
                      <a:pt x="234" y="285"/>
                    </a:lnTo>
                    <a:lnTo>
                      <a:pt x="241" y="278"/>
                    </a:lnTo>
                    <a:lnTo>
                      <a:pt x="243" y="274"/>
                    </a:lnTo>
                    <a:lnTo>
                      <a:pt x="248" y="266"/>
                    </a:lnTo>
                    <a:lnTo>
                      <a:pt x="251" y="256"/>
                    </a:lnTo>
                    <a:lnTo>
                      <a:pt x="252" y="252"/>
                    </a:lnTo>
                    <a:lnTo>
                      <a:pt x="251" y="237"/>
                    </a:lnTo>
                    <a:lnTo>
                      <a:pt x="250" y="235"/>
                    </a:lnTo>
                    <a:lnTo>
                      <a:pt x="249" y="231"/>
                    </a:lnTo>
                    <a:lnTo>
                      <a:pt x="247" y="226"/>
                    </a:lnTo>
                    <a:lnTo>
                      <a:pt x="241" y="216"/>
                    </a:lnTo>
                    <a:lnTo>
                      <a:pt x="238" y="212"/>
                    </a:lnTo>
                    <a:lnTo>
                      <a:pt x="230" y="202"/>
                    </a:lnTo>
                    <a:lnTo>
                      <a:pt x="221" y="191"/>
                    </a:lnTo>
                    <a:lnTo>
                      <a:pt x="211" y="181"/>
                    </a:lnTo>
                    <a:lnTo>
                      <a:pt x="201" y="172"/>
                    </a:lnTo>
                    <a:lnTo>
                      <a:pt x="193" y="164"/>
                    </a:lnTo>
                    <a:lnTo>
                      <a:pt x="188" y="159"/>
                    </a:lnTo>
                    <a:lnTo>
                      <a:pt x="187" y="159"/>
                    </a:lnTo>
                    <a:lnTo>
                      <a:pt x="184" y="156"/>
                    </a:lnTo>
                    <a:lnTo>
                      <a:pt x="182" y="156"/>
                    </a:lnTo>
                    <a:lnTo>
                      <a:pt x="170" y="153"/>
                    </a:lnTo>
                    <a:lnTo>
                      <a:pt x="154" y="150"/>
                    </a:lnTo>
                    <a:lnTo>
                      <a:pt x="137" y="146"/>
                    </a:lnTo>
                    <a:lnTo>
                      <a:pt x="119" y="141"/>
                    </a:lnTo>
                    <a:lnTo>
                      <a:pt x="102" y="135"/>
                    </a:lnTo>
                    <a:lnTo>
                      <a:pt x="87" y="128"/>
                    </a:lnTo>
                    <a:lnTo>
                      <a:pt x="82" y="139"/>
                    </a:lnTo>
                    <a:lnTo>
                      <a:pt x="91" y="130"/>
                    </a:lnTo>
                    <a:lnTo>
                      <a:pt x="77" y="121"/>
                    </a:lnTo>
                    <a:lnTo>
                      <a:pt x="72" y="116"/>
                    </a:lnTo>
                    <a:lnTo>
                      <a:pt x="63" y="125"/>
                    </a:lnTo>
                    <a:lnTo>
                      <a:pt x="74" y="120"/>
                    </a:lnTo>
                    <a:lnTo>
                      <a:pt x="69" y="113"/>
                    </a:lnTo>
                    <a:lnTo>
                      <a:pt x="63" y="102"/>
                    </a:lnTo>
                    <a:lnTo>
                      <a:pt x="59" y="89"/>
                    </a:lnTo>
                    <a:lnTo>
                      <a:pt x="48" y="93"/>
                    </a:lnTo>
                    <a:lnTo>
                      <a:pt x="60" y="93"/>
                    </a:lnTo>
                    <a:lnTo>
                      <a:pt x="59" y="79"/>
                    </a:lnTo>
                    <a:lnTo>
                      <a:pt x="60" y="66"/>
                    </a:lnTo>
                    <a:lnTo>
                      <a:pt x="48" y="66"/>
                    </a:lnTo>
                    <a:lnTo>
                      <a:pt x="59" y="70"/>
                    </a:lnTo>
                    <a:lnTo>
                      <a:pt x="63" y="57"/>
                    </a:lnTo>
                    <a:lnTo>
                      <a:pt x="70" y="46"/>
                    </a:lnTo>
                    <a:lnTo>
                      <a:pt x="59" y="41"/>
                    </a:lnTo>
                    <a:lnTo>
                      <a:pt x="68" y="50"/>
                    </a:lnTo>
                    <a:lnTo>
                      <a:pt x="78" y="40"/>
                    </a:lnTo>
                    <a:lnTo>
                      <a:pt x="70" y="31"/>
                    </a:lnTo>
                    <a:lnTo>
                      <a:pt x="74" y="42"/>
                    </a:lnTo>
                    <a:lnTo>
                      <a:pt x="88" y="34"/>
                    </a:lnTo>
                    <a:lnTo>
                      <a:pt x="99" y="30"/>
                    </a:lnTo>
                    <a:lnTo>
                      <a:pt x="110" y="27"/>
                    </a:lnTo>
                    <a:lnTo>
                      <a:pt x="106" y="16"/>
                    </a:lnTo>
                    <a:lnTo>
                      <a:pt x="106" y="28"/>
                    </a:lnTo>
                    <a:lnTo>
                      <a:pt x="118" y="27"/>
                    </a:lnTo>
                    <a:lnTo>
                      <a:pt x="130" y="26"/>
                    </a:lnTo>
                    <a:lnTo>
                      <a:pt x="155" y="25"/>
                    </a:lnTo>
                    <a:lnTo>
                      <a:pt x="181" y="23"/>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83" name="Freeform 121"/>
              <p:cNvSpPr/>
              <p:nvPr/>
            </p:nvSpPr>
            <p:spPr bwMode="auto">
              <a:xfrm>
                <a:off x="4512" y="3024"/>
                <a:ext cx="107" cy="111"/>
              </a:xfrm>
              <a:custGeom>
                <a:avLst/>
                <a:gdLst>
                  <a:gd name="T0" fmla="*/ 0 w 107"/>
                  <a:gd name="T1" fmla="*/ 0 h 111"/>
                  <a:gd name="T2" fmla="*/ 46 w 107"/>
                  <a:gd name="T3" fmla="*/ 111 h 111"/>
                  <a:gd name="T4" fmla="*/ 107 w 107"/>
                  <a:gd name="T5" fmla="*/ 8 h 111"/>
                  <a:gd name="T6" fmla="*/ 0 w 107"/>
                  <a:gd name="T7" fmla="*/ 0 h 111"/>
                  <a:gd name="T8" fmla="*/ 0 60000 65536"/>
                  <a:gd name="T9" fmla="*/ 0 60000 65536"/>
                  <a:gd name="T10" fmla="*/ 0 60000 65536"/>
                  <a:gd name="T11" fmla="*/ 0 60000 65536"/>
                  <a:gd name="T12" fmla="*/ 0 w 107"/>
                  <a:gd name="T13" fmla="*/ 0 h 111"/>
                  <a:gd name="T14" fmla="*/ 107 w 107"/>
                  <a:gd name="T15" fmla="*/ 111 h 111"/>
                </a:gdLst>
                <a:ahLst/>
                <a:cxnLst>
                  <a:cxn ang="T8">
                    <a:pos x="T0" y="T1"/>
                  </a:cxn>
                  <a:cxn ang="T9">
                    <a:pos x="T2" y="T3"/>
                  </a:cxn>
                  <a:cxn ang="T10">
                    <a:pos x="T4" y="T5"/>
                  </a:cxn>
                  <a:cxn ang="T11">
                    <a:pos x="T6" y="T7"/>
                  </a:cxn>
                </a:cxnLst>
                <a:rect l="T12" t="T13" r="T14" b="T15"/>
                <a:pathLst>
                  <a:path w="107" h="111">
                    <a:moveTo>
                      <a:pt x="0" y="0"/>
                    </a:moveTo>
                    <a:lnTo>
                      <a:pt x="46" y="111"/>
                    </a:lnTo>
                    <a:lnTo>
                      <a:pt x="107" y="8"/>
                    </a:lnTo>
                    <a:lnTo>
                      <a:pt x="0" y="0"/>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75" name="Rectangle 122"/>
            <p:cNvSpPr>
              <a:spLocks noChangeArrowheads="1"/>
            </p:cNvSpPr>
            <p:nvPr/>
          </p:nvSpPr>
          <p:spPr bwMode="auto">
            <a:xfrm>
              <a:off x="1908" y="3888"/>
              <a:ext cx="143"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600" b="1" i="1">
                  <a:solidFill>
                    <a:srgbClr val="FF3300"/>
                  </a:solidFill>
                  <a:latin typeface="Symbol" panose="05050102010706020507" pitchFamily="18" charset="2"/>
                </a:rPr>
                <a:t>l </a:t>
              </a:r>
              <a:r>
                <a:rPr kumimoji="1" lang="en-US" altLang="zh-CN" sz="1600" b="1" baseline="-25000">
                  <a:solidFill>
                    <a:srgbClr val="FF0000"/>
                  </a:solidFill>
                  <a:latin typeface="Times New Roman" panose="02020603050405020304" pitchFamily="18" charset="0"/>
                </a:rPr>
                <a:t>2</a:t>
              </a:r>
              <a:endParaRPr kumimoji="1" lang="en-US" altLang="zh-CN" sz="1600" b="1" baseline="-25000">
                <a:solidFill>
                  <a:srgbClr val="FF0000"/>
                </a:solidFill>
                <a:latin typeface="Times New Roman" panose="02020603050405020304" pitchFamily="18" charset="0"/>
              </a:endParaRPr>
            </a:p>
          </p:txBody>
        </p:sp>
        <p:sp>
          <p:nvSpPr>
            <p:cNvPr id="76" name="Rectangle 123"/>
            <p:cNvSpPr>
              <a:spLocks noChangeArrowheads="1"/>
            </p:cNvSpPr>
            <p:nvPr/>
          </p:nvSpPr>
          <p:spPr bwMode="auto">
            <a:xfrm>
              <a:off x="853" y="3888"/>
              <a:ext cx="143"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600" b="1" i="1">
                  <a:solidFill>
                    <a:srgbClr val="FF3300"/>
                  </a:solidFill>
                  <a:latin typeface="Symbol" panose="05050102010706020507" pitchFamily="18" charset="2"/>
                </a:rPr>
                <a:t>l </a:t>
              </a:r>
              <a:r>
                <a:rPr kumimoji="1" lang="en-US" altLang="zh-CN" sz="1600" b="1" baseline="-25000">
                  <a:solidFill>
                    <a:srgbClr val="FF0000"/>
                  </a:solidFill>
                  <a:latin typeface="Times New Roman" panose="02020603050405020304" pitchFamily="18" charset="0"/>
                </a:rPr>
                <a:t>1</a:t>
              </a:r>
              <a:endParaRPr kumimoji="1" lang="en-US" altLang="zh-CN" sz="1600" b="1" baseline="-25000">
                <a:solidFill>
                  <a:srgbClr val="FF0000"/>
                </a:solidFill>
                <a:latin typeface="Times New Roman" panose="02020603050405020304" pitchFamily="18" charset="0"/>
              </a:endParaRPr>
            </a:p>
          </p:txBody>
        </p:sp>
        <p:sp>
          <p:nvSpPr>
            <p:cNvPr id="77" name="Rectangle 124"/>
            <p:cNvSpPr>
              <a:spLocks noChangeArrowheads="1"/>
            </p:cNvSpPr>
            <p:nvPr/>
          </p:nvSpPr>
          <p:spPr bwMode="auto">
            <a:xfrm>
              <a:off x="3686" y="3600"/>
              <a:ext cx="143"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600" b="1" i="1" dirty="0">
                  <a:solidFill>
                    <a:srgbClr val="FF3300"/>
                  </a:solidFill>
                  <a:latin typeface="Symbol" panose="05050102010706020507" pitchFamily="18" charset="2"/>
                </a:rPr>
                <a:t>l</a:t>
              </a:r>
              <a:r>
                <a:rPr kumimoji="1" lang="en-US" altLang="zh-CN" sz="1600" b="1" dirty="0">
                  <a:solidFill>
                    <a:srgbClr val="FF3300"/>
                  </a:solidFill>
                  <a:latin typeface="Symbol" panose="05050102010706020507" pitchFamily="18" charset="2"/>
                </a:rPr>
                <a:t> </a:t>
              </a:r>
              <a:r>
                <a:rPr kumimoji="1" lang="en-US" altLang="zh-CN" sz="1600" b="1" baseline="-25000" dirty="0">
                  <a:solidFill>
                    <a:srgbClr val="FF0000"/>
                  </a:solidFill>
                  <a:latin typeface="Times New Roman" panose="02020603050405020304" pitchFamily="18" charset="0"/>
                </a:rPr>
                <a:t>3</a:t>
              </a:r>
              <a:endParaRPr kumimoji="1" lang="en-US" altLang="zh-CN" sz="1600" b="1" baseline="-25000" dirty="0">
                <a:solidFill>
                  <a:srgbClr val="FF0000"/>
                </a:solidFill>
                <a:latin typeface="Times New Roman" panose="02020603050405020304" pitchFamily="18" charset="0"/>
              </a:endParaRPr>
            </a:p>
          </p:txBody>
        </p:sp>
        <p:sp>
          <p:nvSpPr>
            <p:cNvPr id="78" name="Rectangle 125"/>
            <p:cNvSpPr>
              <a:spLocks noChangeArrowheads="1"/>
            </p:cNvSpPr>
            <p:nvPr/>
          </p:nvSpPr>
          <p:spPr bwMode="auto">
            <a:xfrm>
              <a:off x="3922" y="2241"/>
              <a:ext cx="12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600">
                  <a:solidFill>
                    <a:srgbClr val="3333FF"/>
                  </a:solidFill>
                  <a:latin typeface="Times New Roman" panose="02020603050405020304" pitchFamily="18" charset="0"/>
                </a:rPr>
                <a:t>    </a:t>
              </a:r>
              <a:endParaRPr kumimoji="1" lang="en-US" altLang="zh-CN" sz="1600">
                <a:solidFill>
                  <a:srgbClr val="3333FF"/>
                </a:solidFill>
                <a:latin typeface="Times New Roman" panose="02020603050405020304" pitchFamily="18" charset="0"/>
              </a:endParaRPr>
            </a:p>
          </p:txBody>
        </p:sp>
        <p:sp>
          <p:nvSpPr>
            <p:cNvPr id="79" name="Rectangle 126"/>
            <p:cNvSpPr>
              <a:spLocks noChangeArrowheads="1"/>
            </p:cNvSpPr>
            <p:nvPr/>
          </p:nvSpPr>
          <p:spPr bwMode="auto">
            <a:xfrm>
              <a:off x="3263" y="2208"/>
              <a:ext cx="38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600" b="1">
                  <a:solidFill>
                    <a:schemeClr val="hlink"/>
                  </a:solidFill>
                  <a:latin typeface="楷体_GB2312" pitchFamily="49" charset="-122"/>
                  <a:ea typeface="楷体_GB2312" pitchFamily="49" charset="-122"/>
                </a:rPr>
                <a:t>外转换</a:t>
              </a:r>
              <a:endParaRPr kumimoji="1" lang="zh-CN" altLang="en-US" sz="1600" b="1">
                <a:solidFill>
                  <a:schemeClr val="hlink"/>
                </a:solidFill>
                <a:latin typeface="楷体_GB2312" pitchFamily="49" charset="-122"/>
                <a:ea typeface="楷体_GB2312" pitchFamily="49" charset="-122"/>
              </a:endParaRPr>
            </a:p>
          </p:txBody>
        </p:sp>
        <p:sp>
          <p:nvSpPr>
            <p:cNvPr id="80" name="AutoShape 127"/>
            <p:cNvSpPr>
              <a:spLocks noChangeArrowheads="1"/>
            </p:cNvSpPr>
            <p:nvPr/>
          </p:nvSpPr>
          <p:spPr bwMode="ltGray">
            <a:xfrm>
              <a:off x="3168" y="1152"/>
              <a:ext cx="624" cy="144"/>
            </a:xfrm>
            <a:prstGeom prst="curvedDownArrow">
              <a:avLst>
                <a:gd name="adj1" fmla="val 86667"/>
                <a:gd name="adj2" fmla="val 173333"/>
                <a:gd name="adj3" fmla="val 33333"/>
              </a:avLst>
            </a:prstGeom>
            <a:solidFill>
              <a:srgbClr val="3399FF"/>
            </a:solidFill>
            <a:ln w="9525">
              <a:solidFill>
                <a:srgbClr val="3399FF"/>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1600">
                <a:solidFill>
                  <a:srgbClr val="FF0000"/>
                </a:solidFill>
              </a:endParaRPr>
            </a:p>
          </p:txBody>
        </p:sp>
        <p:grpSp>
          <p:nvGrpSpPr>
            <p:cNvPr id="81" name="Group 128"/>
            <p:cNvGrpSpPr/>
            <p:nvPr/>
          </p:nvGrpSpPr>
          <p:grpSpPr bwMode="auto">
            <a:xfrm>
              <a:off x="2544" y="624"/>
              <a:ext cx="96" cy="192"/>
              <a:chOff x="2626" y="463"/>
              <a:chExt cx="119" cy="196"/>
            </a:xfrm>
          </p:grpSpPr>
          <p:sp>
            <p:nvSpPr>
              <p:cNvPr id="180" name="Freeform 129"/>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81" name="Freeform 130"/>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82" name="Group 131"/>
            <p:cNvGrpSpPr/>
            <p:nvPr/>
          </p:nvGrpSpPr>
          <p:grpSpPr bwMode="auto">
            <a:xfrm>
              <a:off x="2640" y="768"/>
              <a:ext cx="96" cy="192"/>
              <a:chOff x="2626" y="463"/>
              <a:chExt cx="119" cy="196"/>
            </a:xfrm>
          </p:grpSpPr>
          <p:sp>
            <p:nvSpPr>
              <p:cNvPr id="178" name="Freeform 132"/>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79" name="Freeform 133"/>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83" name="Group 134"/>
            <p:cNvGrpSpPr/>
            <p:nvPr/>
          </p:nvGrpSpPr>
          <p:grpSpPr bwMode="auto">
            <a:xfrm>
              <a:off x="2736" y="960"/>
              <a:ext cx="96" cy="192"/>
              <a:chOff x="2626" y="463"/>
              <a:chExt cx="119" cy="196"/>
            </a:xfrm>
          </p:grpSpPr>
          <p:sp>
            <p:nvSpPr>
              <p:cNvPr id="176" name="Freeform 135"/>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77" name="Freeform 136"/>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84" name="Group 137"/>
            <p:cNvGrpSpPr/>
            <p:nvPr/>
          </p:nvGrpSpPr>
          <p:grpSpPr bwMode="auto">
            <a:xfrm>
              <a:off x="2832" y="1152"/>
              <a:ext cx="96" cy="192"/>
              <a:chOff x="2626" y="463"/>
              <a:chExt cx="119" cy="196"/>
            </a:xfrm>
          </p:grpSpPr>
          <p:sp>
            <p:nvSpPr>
              <p:cNvPr id="174" name="Freeform 138"/>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75" name="Freeform 139"/>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85" name="Group 140"/>
            <p:cNvGrpSpPr/>
            <p:nvPr/>
          </p:nvGrpSpPr>
          <p:grpSpPr bwMode="auto">
            <a:xfrm>
              <a:off x="768" y="144"/>
              <a:ext cx="119" cy="196"/>
              <a:chOff x="2626" y="463"/>
              <a:chExt cx="119" cy="196"/>
            </a:xfrm>
          </p:grpSpPr>
          <p:sp>
            <p:nvSpPr>
              <p:cNvPr id="172" name="Freeform 141"/>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73" name="Freeform 142"/>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86" name="Group 143"/>
            <p:cNvGrpSpPr/>
            <p:nvPr/>
          </p:nvGrpSpPr>
          <p:grpSpPr bwMode="auto">
            <a:xfrm>
              <a:off x="864" y="288"/>
              <a:ext cx="119" cy="196"/>
              <a:chOff x="2626" y="463"/>
              <a:chExt cx="119" cy="196"/>
            </a:xfrm>
          </p:grpSpPr>
          <p:sp>
            <p:nvSpPr>
              <p:cNvPr id="170" name="Freeform 144"/>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71" name="Freeform 145"/>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87" name="Group 146"/>
            <p:cNvGrpSpPr/>
            <p:nvPr/>
          </p:nvGrpSpPr>
          <p:grpSpPr bwMode="auto">
            <a:xfrm>
              <a:off x="1008" y="480"/>
              <a:ext cx="119" cy="196"/>
              <a:chOff x="2626" y="463"/>
              <a:chExt cx="119" cy="196"/>
            </a:xfrm>
          </p:grpSpPr>
          <p:sp>
            <p:nvSpPr>
              <p:cNvPr id="168" name="Freeform 147"/>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69" name="Freeform 148"/>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88" name="Group 149"/>
            <p:cNvGrpSpPr/>
            <p:nvPr/>
          </p:nvGrpSpPr>
          <p:grpSpPr bwMode="auto">
            <a:xfrm>
              <a:off x="1104" y="624"/>
              <a:ext cx="119" cy="196"/>
              <a:chOff x="2626" y="463"/>
              <a:chExt cx="119" cy="196"/>
            </a:xfrm>
          </p:grpSpPr>
          <p:sp>
            <p:nvSpPr>
              <p:cNvPr id="166" name="Freeform 150"/>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67" name="Freeform 151"/>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89" name="Group 152"/>
            <p:cNvGrpSpPr/>
            <p:nvPr/>
          </p:nvGrpSpPr>
          <p:grpSpPr bwMode="auto">
            <a:xfrm>
              <a:off x="1200" y="768"/>
              <a:ext cx="119" cy="196"/>
              <a:chOff x="2626" y="463"/>
              <a:chExt cx="119" cy="196"/>
            </a:xfrm>
          </p:grpSpPr>
          <p:sp>
            <p:nvSpPr>
              <p:cNvPr id="164" name="Freeform 153"/>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65" name="Freeform 154"/>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90" name="Group 155"/>
            <p:cNvGrpSpPr/>
            <p:nvPr/>
          </p:nvGrpSpPr>
          <p:grpSpPr bwMode="auto">
            <a:xfrm>
              <a:off x="4320" y="1296"/>
              <a:ext cx="119" cy="196"/>
              <a:chOff x="2626" y="463"/>
              <a:chExt cx="119" cy="196"/>
            </a:xfrm>
          </p:grpSpPr>
          <p:sp>
            <p:nvSpPr>
              <p:cNvPr id="162" name="Freeform 156"/>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63" name="Freeform 157"/>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91" name="Group 158"/>
            <p:cNvGrpSpPr/>
            <p:nvPr/>
          </p:nvGrpSpPr>
          <p:grpSpPr bwMode="auto">
            <a:xfrm>
              <a:off x="4464" y="1488"/>
              <a:ext cx="119" cy="196"/>
              <a:chOff x="2626" y="463"/>
              <a:chExt cx="119" cy="196"/>
            </a:xfrm>
          </p:grpSpPr>
          <p:sp>
            <p:nvSpPr>
              <p:cNvPr id="160" name="Freeform 159"/>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61" name="Freeform 160"/>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92" name="Group 161"/>
            <p:cNvGrpSpPr/>
            <p:nvPr/>
          </p:nvGrpSpPr>
          <p:grpSpPr bwMode="auto">
            <a:xfrm>
              <a:off x="3024" y="3312"/>
              <a:ext cx="119" cy="196"/>
              <a:chOff x="2626" y="463"/>
              <a:chExt cx="119" cy="196"/>
            </a:xfrm>
          </p:grpSpPr>
          <p:sp>
            <p:nvSpPr>
              <p:cNvPr id="158" name="Freeform 162"/>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59" name="Freeform 163"/>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93" name="Group 164"/>
            <p:cNvGrpSpPr/>
            <p:nvPr/>
          </p:nvGrpSpPr>
          <p:grpSpPr bwMode="auto">
            <a:xfrm>
              <a:off x="2928" y="3504"/>
              <a:ext cx="119" cy="196"/>
              <a:chOff x="2626" y="463"/>
              <a:chExt cx="119" cy="196"/>
            </a:xfrm>
          </p:grpSpPr>
          <p:sp>
            <p:nvSpPr>
              <p:cNvPr id="156" name="Freeform 165"/>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57" name="Freeform 166"/>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94" name="Group 167"/>
            <p:cNvGrpSpPr/>
            <p:nvPr/>
          </p:nvGrpSpPr>
          <p:grpSpPr bwMode="auto">
            <a:xfrm>
              <a:off x="2832" y="3648"/>
              <a:ext cx="119" cy="196"/>
              <a:chOff x="2626" y="463"/>
              <a:chExt cx="119" cy="196"/>
            </a:xfrm>
          </p:grpSpPr>
          <p:sp>
            <p:nvSpPr>
              <p:cNvPr id="154" name="Freeform 168"/>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55" name="Freeform 169"/>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95" name="Rectangle 170"/>
            <p:cNvSpPr>
              <a:spLocks noChangeArrowheads="1"/>
            </p:cNvSpPr>
            <p:nvPr/>
          </p:nvSpPr>
          <p:spPr bwMode="auto">
            <a:xfrm>
              <a:off x="2518" y="3840"/>
              <a:ext cx="174"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600" b="1" i="1">
                  <a:solidFill>
                    <a:srgbClr val="FF3300"/>
                  </a:solidFill>
                  <a:latin typeface="Symbol" panose="05050102010706020507" pitchFamily="18" charset="2"/>
                </a:rPr>
                <a:t>l</a:t>
              </a:r>
              <a:r>
                <a:rPr kumimoji="1" lang="en-US" altLang="zh-CN" sz="1600" b="1">
                  <a:solidFill>
                    <a:srgbClr val="FF3300"/>
                  </a:solidFill>
                  <a:latin typeface="Symbol" panose="05050102010706020507" pitchFamily="18" charset="2"/>
                </a:rPr>
                <a:t> </a:t>
              </a:r>
              <a:r>
                <a:rPr kumimoji="1" lang="en-US" altLang="zh-CN" sz="1600" b="1">
                  <a:solidFill>
                    <a:srgbClr val="FF3300"/>
                  </a:solidFill>
                  <a:latin typeface="Symbol" panose="05050102010706020507" pitchFamily="18" charset="2"/>
                  <a:sym typeface="Symbol" panose="05050102010706020507" pitchFamily="18" charset="2"/>
                </a:rPr>
                <a:t></a:t>
              </a:r>
              <a:r>
                <a:rPr kumimoji="1" lang="en-US" altLang="zh-CN" sz="1600" b="1" baseline="-25000">
                  <a:solidFill>
                    <a:srgbClr val="FF0000"/>
                  </a:solidFill>
                  <a:latin typeface="Times New Roman" panose="02020603050405020304" pitchFamily="18" charset="0"/>
                </a:rPr>
                <a:t>2</a:t>
              </a:r>
              <a:endParaRPr kumimoji="1" lang="en-US" altLang="zh-CN" sz="1600" b="1" baseline="-25000">
                <a:solidFill>
                  <a:srgbClr val="FF0000"/>
                </a:solidFill>
                <a:latin typeface="Times New Roman" panose="02020603050405020304" pitchFamily="18" charset="0"/>
              </a:endParaRPr>
            </a:p>
          </p:txBody>
        </p:sp>
        <p:grpSp>
          <p:nvGrpSpPr>
            <p:cNvPr id="96" name="Group 171"/>
            <p:cNvGrpSpPr/>
            <p:nvPr/>
          </p:nvGrpSpPr>
          <p:grpSpPr bwMode="auto">
            <a:xfrm>
              <a:off x="4560" y="3120"/>
              <a:ext cx="119" cy="196"/>
              <a:chOff x="2626" y="463"/>
              <a:chExt cx="119" cy="196"/>
            </a:xfrm>
          </p:grpSpPr>
          <p:sp>
            <p:nvSpPr>
              <p:cNvPr id="152" name="Freeform 172"/>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53" name="Freeform 173"/>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97" name="Group 174"/>
            <p:cNvGrpSpPr/>
            <p:nvPr/>
          </p:nvGrpSpPr>
          <p:grpSpPr bwMode="auto">
            <a:xfrm>
              <a:off x="4489" y="3312"/>
              <a:ext cx="119" cy="196"/>
              <a:chOff x="2626" y="463"/>
              <a:chExt cx="119" cy="196"/>
            </a:xfrm>
          </p:grpSpPr>
          <p:sp>
            <p:nvSpPr>
              <p:cNvPr id="150" name="Freeform 175"/>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51" name="Freeform 176"/>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98" name="Group 177"/>
            <p:cNvGrpSpPr/>
            <p:nvPr/>
          </p:nvGrpSpPr>
          <p:grpSpPr bwMode="auto">
            <a:xfrm>
              <a:off x="4416" y="3504"/>
              <a:ext cx="119" cy="196"/>
              <a:chOff x="2626" y="463"/>
              <a:chExt cx="119" cy="196"/>
            </a:xfrm>
          </p:grpSpPr>
          <p:sp>
            <p:nvSpPr>
              <p:cNvPr id="148" name="Freeform 178"/>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49" name="Freeform 179"/>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99" name="Group 180"/>
            <p:cNvGrpSpPr/>
            <p:nvPr/>
          </p:nvGrpSpPr>
          <p:grpSpPr bwMode="auto">
            <a:xfrm>
              <a:off x="4320" y="3648"/>
              <a:ext cx="119" cy="196"/>
              <a:chOff x="2626" y="463"/>
              <a:chExt cx="119" cy="196"/>
            </a:xfrm>
          </p:grpSpPr>
          <p:sp>
            <p:nvSpPr>
              <p:cNvPr id="146" name="Freeform 181"/>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47" name="Freeform 182"/>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100" name="Group 183"/>
            <p:cNvGrpSpPr/>
            <p:nvPr/>
          </p:nvGrpSpPr>
          <p:grpSpPr bwMode="auto">
            <a:xfrm>
              <a:off x="3072" y="3120"/>
              <a:ext cx="119" cy="196"/>
              <a:chOff x="2626" y="463"/>
              <a:chExt cx="119" cy="196"/>
            </a:xfrm>
          </p:grpSpPr>
          <p:sp>
            <p:nvSpPr>
              <p:cNvPr id="144" name="Freeform 184"/>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45" name="Freeform 185"/>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101" name="Group 186"/>
            <p:cNvGrpSpPr/>
            <p:nvPr/>
          </p:nvGrpSpPr>
          <p:grpSpPr bwMode="auto">
            <a:xfrm>
              <a:off x="1248" y="912"/>
              <a:ext cx="492" cy="107"/>
              <a:chOff x="1440" y="906"/>
              <a:chExt cx="492" cy="107"/>
            </a:xfrm>
          </p:grpSpPr>
          <p:grpSp>
            <p:nvGrpSpPr>
              <p:cNvPr id="140" name="Group 187"/>
              <p:cNvGrpSpPr/>
              <p:nvPr/>
            </p:nvGrpSpPr>
            <p:grpSpPr bwMode="auto">
              <a:xfrm>
                <a:off x="1776" y="906"/>
                <a:ext cx="156" cy="107"/>
                <a:chOff x="1853" y="906"/>
                <a:chExt cx="156" cy="107"/>
              </a:xfrm>
            </p:grpSpPr>
            <p:sp>
              <p:nvSpPr>
                <p:cNvPr id="142" name="Rectangle 188"/>
                <p:cNvSpPr>
                  <a:spLocks noChangeArrowheads="1"/>
                </p:cNvSpPr>
                <p:nvPr/>
              </p:nvSpPr>
              <p:spPr bwMode="auto">
                <a:xfrm>
                  <a:off x="1853" y="947"/>
                  <a:ext cx="51" cy="2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43" name="Freeform 189"/>
                <p:cNvSpPr/>
                <p:nvPr/>
              </p:nvSpPr>
              <p:spPr bwMode="auto">
                <a:xfrm>
                  <a:off x="1902" y="906"/>
                  <a:ext cx="107" cy="107"/>
                </a:xfrm>
                <a:custGeom>
                  <a:avLst/>
                  <a:gdLst>
                    <a:gd name="T0" fmla="*/ 0 w 107"/>
                    <a:gd name="T1" fmla="*/ 107 h 107"/>
                    <a:gd name="T2" fmla="*/ 107 w 107"/>
                    <a:gd name="T3" fmla="*/ 54 h 107"/>
                    <a:gd name="T4" fmla="*/ 0 w 107"/>
                    <a:gd name="T5" fmla="*/ 0 h 107"/>
                    <a:gd name="T6" fmla="*/ 0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0" y="107"/>
                      </a:moveTo>
                      <a:lnTo>
                        <a:pt x="107" y="54"/>
                      </a:lnTo>
                      <a:lnTo>
                        <a:pt x="0" y="0"/>
                      </a:lnTo>
                      <a:lnTo>
                        <a:pt x="0" y="10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141" name="Freeform 190"/>
              <p:cNvSpPr/>
              <p:nvPr/>
            </p:nvSpPr>
            <p:spPr bwMode="auto">
              <a:xfrm>
                <a:off x="1440" y="912"/>
                <a:ext cx="351" cy="97"/>
              </a:xfrm>
              <a:custGeom>
                <a:avLst/>
                <a:gdLst>
                  <a:gd name="T0" fmla="*/ 15 w 351"/>
                  <a:gd name="T1" fmla="*/ 39 h 97"/>
                  <a:gd name="T2" fmla="*/ 36 w 351"/>
                  <a:gd name="T3" fmla="*/ 43 h 97"/>
                  <a:gd name="T4" fmla="*/ 44 w 351"/>
                  <a:gd name="T5" fmla="*/ 47 h 97"/>
                  <a:gd name="T6" fmla="*/ 54 w 351"/>
                  <a:gd name="T7" fmla="*/ 41 h 97"/>
                  <a:gd name="T8" fmla="*/ 44 w 351"/>
                  <a:gd name="T9" fmla="*/ 45 h 97"/>
                  <a:gd name="T10" fmla="*/ 49 w 351"/>
                  <a:gd name="T11" fmla="*/ 74 h 97"/>
                  <a:gd name="T12" fmla="*/ 66 w 351"/>
                  <a:gd name="T13" fmla="*/ 89 h 97"/>
                  <a:gd name="T14" fmla="*/ 90 w 351"/>
                  <a:gd name="T15" fmla="*/ 83 h 97"/>
                  <a:gd name="T16" fmla="*/ 104 w 351"/>
                  <a:gd name="T17" fmla="*/ 96 h 97"/>
                  <a:gd name="T18" fmla="*/ 112 w 351"/>
                  <a:gd name="T19" fmla="*/ 67 h 97"/>
                  <a:gd name="T20" fmla="*/ 134 w 351"/>
                  <a:gd name="T21" fmla="*/ 54 h 97"/>
                  <a:gd name="T22" fmla="*/ 137 w 351"/>
                  <a:gd name="T23" fmla="*/ 44 h 97"/>
                  <a:gd name="T24" fmla="*/ 138 w 351"/>
                  <a:gd name="T25" fmla="*/ 33 h 97"/>
                  <a:gd name="T26" fmla="*/ 140 w 351"/>
                  <a:gd name="T27" fmla="*/ 24 h 97"/>
                  <a:gd name="T28" fmla="*/ 135 w 351"/>
                  <a:gd name="T29" fmla="*/ 13 h 97"/>
                  <a:gd name="T30" fmla="*/ 142 w 351"/>
                  <a:gd name="T31" fmla="*/ 24 h 97"/>
                  <a:gd name="T32" fmla="*/ 153 w 351"/>
                  <a:gd name="T33" fmla="*/ 24 h 97"/>
                  <a:gd name="T34" fmla="*/ 195 w 351"/>
                  <a:gd name="T35" fmla="*/ 25 h 97"/>
                  <a:gd name="T36" fmla="*/ 188 w 351"/>
                  <a:gd name="T37" fmla="*/ 36 h 97"/>
                  <a:gd name="T38" fmla="*/ 208 w 351"/>
                  <a:gd name="T39" fmla="*/ 67 h 97"/>
                  <a:gd name="T40" fmla="*/ 234 w 351"/>
                  <a:gd name="T41" fmla="*/ 85 h 97"/>
                  <a:gd name="T42" fmla="*/ 254 w 351"/>
                  <a:gd name="T43" fmla="*/ 86 h 97"/>
                  <a:gd name="T44" fmla="*/ 271 w 351"/>
                  <a:gd name="T45" fmla="*/ 75 h 97"/>
                  <a:gd name="T46" fmla="*/ 286 w 351"/>
                  <a:gd name="T47" fmla="*/ 45 h 97"/>
                  <a:gd name="T48" fmla="*/ 295 w 351"/>
                  <a:gd name="T49" fmla="*/ 40 h 97"/>
                  <a:gd name="T50" fmla="*/ 309 w 351"/>
                  <a:gd name="T51" fmla="*/ 37 h 97"/>
                  <a:gd name="T52" fmla="*/ 333 w 351"/>
                  <a:gd name="T53" fmla="*/ 37 h 97"/>
                  <a:gd name="T54" fmla="*/ 314 w 351"/>
                  <a:gd name="T55" fmla="*/ 13 h 97"/>
                  <a:gd name="T56" fmla="*/ 282 w 351"/>
                  <a:gd name="T57" fmla="*/ 21 h 97"/>
                  <a:gd name="T58" fmla="*/ 264 w 351"/>
                  <a:gd name="T59" fmla="*/ 36 h 97"/>
                  <a:gd name="T60" fmla="*/ 263 w 351"/>
                  <a:gd name="T61" fmla="*/ 67 h 97"/>
                  <a:gd name="T62" fmla="*/ 255 w 351"/>
                  <a:gd name="T63" fmla="*/ 59 h 97"/>
                  <a:gd name="T64" fmla="*/ 249 w 351"/>
                  <a:gd name="T65" fmla="*/ 63 h 97"/>
                  <a:gd name="T66" fmla="*/ 243 w 351"/>
                  <a:gd name="T67" fmla="*/ 63 h 97"/>
                  <a:gd name="T68" fmla="*/ 233 w 351"/>
                  <a:gd name="T69" fmla="*/ 58 h 97"/>
                  <a:gd name="T70" fmla="*/ 221 w 351"/>
                  <a:gd name="T71" fmla="*/ 45 h 97"/>
                  <a:gd name="T72" fmla="*/ 203 w 351"/>
                  <a:gd name="T73" fmla="*/ 17 h 97"/>
                  <a:gd name="T74" fmla="*/ 169 w 351"/>
                  <a:gd name="T75" fmla="*/ 4 h 97"/>
                  <a:gd name="T76" fmla="*/ 142 w 351"/>
                  <a:gd name="T77" fmla="*/ 0 h 97"/>
                  <a:gd name="T78" fmla="*/ 127 w 351"/>
                  <a:gd name="T79" fmla="*/ 4 h 97"/>
                  <a:gd name="T80" fmla="*/ 116 w 351"/>
                  <a:gd name="T81" fmla="*/ 24 h 97"/>
                  <a:gd name="T82" fmla="*/ 113 w 351"/>
                  <a:gd name="T83" fmla="*/ 44 h 97"/>
                  <a:gd name="T84" fmla="*/ 113 w 351"/>
                  <a:gd name="T85" fmla="*/ 44 h 97"/>
                  <a:gd name="T86" fmla="*/ 103 w 351"/>
                  <a:gd name="T87" fmla="*/ 59 h 97"/>
                  <a:gd name="T88" fmla="*/ 94 w 351"/>
                  <a:gd name="T89" fmla="*/ 74 h 97"/>
                  <a:gd name="T90" fmla="*/ 94 w 351"/>
                  <a:gd name="T91" fmla="*/ 72 h 97"/>
                  <a:gd name="T92" fmla="*/ 84 w 351"/>
                  <a:gd name="T93" fmla="*/ 70 h 97"/>
                  <a:gd name="T94" fmla="*/ 72 w 351"/>
                  <a:gd name="T95" fmla="*/ 65 h 97"/>
                  <a:gd name="T96" fmla="*/ 70 w 351"/>
                  <a:gd name="T97" fmla="*/ 60 h 97"/>
                  <a:gd name="T98" fmla="*/ 68 w 351"/>
                  <a:gd name="T99" fmla="*/ 45 h 97"/>
                  <a:gd name="T100" fmla="*/ 59 w 351"/>
                  <a:gd name="T101" fmla="*/ 28 h 97"/>
                  <a:gd name="T102" fmla="*/ 45 w 351"/>
                  <a:gd name="T103" fmla="*/ 21 h 97"/>
                  <a:gd name="T104" fmla="*/ 15 w 351"/>
                  <a:gd name="T105" fmla="*/ 27 h 9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51"/>
                  <a:gd name="T160" fmla="*/ 0 h 97"/>
                  <a:gd name="T161" fmla="*/ 351 w 351"/>
                  <a:gd name="T162" fmla="*/ 97 h 97"/>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51" h="97">
                    <a:moveTo>
                      <a:pt x="6" y="14"/>
                    </a:moveTo>
                    <a:lnTo>
                      <a:pt x="0" y="37"/>
                    </a:lnTo>
                    <a:lnTo>
                      <a:pt x="11" y="38"/>
                    </a:lnTo>
                    <a:lnTo>
                      <a:pt x="15" y="39"/>
                    </a:lnTo>
                    <a:lnTo>
                      <a:pt x="28" y="41"/>
                    </a:lnTo>
                    <a:lnTo>
                      <a:pt x="28" y="29"/>
                    </a:lnTo>
                    <a:lnTo>
                      <a:pt x="24" y="40"/>
                    </a:lnTo>
                    <a:lnTo>
                      <a:pt x="36" y="43"/>
                    </a:lnTo>
                    <a:lnTo>
                      <a:pt x="41" y="45"/>
                    </a:lnTo>
                    <a:lnTo>
                      <a:pt x="46" y="34"/>
                    </a:lnTo>
                    <a:lnTo>
                      <a:pt x="37" y="42"/>
                    </a:lnTo>
                    <a:lnTo>
                      <a:pt x="44" y="47"/>
                    </a:lnTo>
                    <a:lnTo>
                      <a:pt x="51" y="37"/>
                    </a:lnTo>
                    <a:lnTo>
                      <a:pt x="44" y="46"/>
                    </a:lnTo>
                    <a:lnTo>
                      <a:pt x="46" y="49"/>
                    </a:lnTo>
                    <a:lnTo>
                      <a:pt x="54" y="41"/>
                    </a:lnTo>
                    <a:lnTo>
                      <a:pt x="43" y="45"/>
                    </a:lnTo>
                    <a:lnTo>
                      <a:pt x="45" y="49"/>
                    </a:lnTo>
                    <a:lnTo>
                      <a:pt x="56" y="45"/>
                    </a:lnTo>
                    <a:lnTo>
                      <a:pt x="44" y="45"/>
                    </a:lnTo>
                    <a:lnTo>
                      <a:pt x="45" y="55"/>
                    </a:lnTo>
                    <a:lnTo>
                      <a:pt x="47" y="65"/>
                    </a:lnTo>
                    <a:lnTo>
                      <a:pt x="48" y="69"/>
                    </a:lnTo>
                    <a:lnTo>
                      <a:pt x="49" y="74"/>
                    </a:lnTo>
                    <a:lnTo>
                      <a:pt x="52" y="78"/>
                    </a:lnTo>
                    <a:lnTo>
                      <a:pt x="55" y="82"/>
                    </a:lnTo>
                    <a:lnTo>
                      <a:pt x="62" y="87"/>
                    </a:lnTo>
                    <a:lnTo>
                      <a:pt x="66" y="89"/>
                    </a:lnTo>
                    <a:lnTo>
                      <a:pt x="75" y="92"/>
                    </a:lnTo>
                    <a:lnTo>
                      <a:pt x="80" y="93"/>
                    </a:lnTo>
                    <a:lnTo>
                      <a:pt x="90" y="95"/>
                    </a:lnTo>
                    <a:lnTo>
                      <a:pt x="90" y="83"/>
                    </a:lnTo>
                    <a:lnTo>
                      <a:pt x="85" y="94"/>
                    </a:lnTo>
                    <a:lnTo>
                      <a:pt x="95" y="96"/>
                    </a:lnTo>
                    <a:lnTo>
                      <a:pt x="99" y="97"/>
                    </a:lnTo>
                    <a:lnTo>
                      <a:pt x="104" y="96"/>
                    </a:lnTo>
                    <a:lnTo>
                      <a:pt x="107" y="93"/>
                    </a:lnTo>
                    <a:lnTo>
                      <a:pt x="109" y="92"/>
                    </a:lnTo>
                    <a:lnTo>
                      <a:pt x="123" y="72"/>
                    </a:lnTo>
                    <a:lnTo>
                      <a:pt x="112" y="67"/>
                    </a:lnTo>
                    <a:lnTo>
                      <a:pt x="120" y="76"/>
                    </a:lnTo>
                    <a:lnTo>
                      <a:pt x="126" y="67"/>
                    </a:lnTo>
                    <a:lnTo>
                      <a:pt x="129" y="63"/>
                    </a:lnTo>
                    <a:lnTo>
                      <a:pt x="134" y="54"/>
                    </a:lnTo>
                    <a:lnTo>
                      <a:pt x="123" y="49"/>
                    </a:lnTo>
                    <a:lnTo>
                      <a:pt x="134" y="55"/>
                    </a:lnTo>
                    <a:lnTo>
                      <a:pt x="136" y="49"/>
                    </a:lnTo>
                    <a:lnTo>
                      <a:pt x="137" y="44"/>
                    </a:lnTo>
                    <a:lnTo>
                      <a:pt x="138" y="39"/>
                    </a:lnTo>
                    <a:lnTo>
                      <a:pt x="139" y="28"/>
                    </a:lnTo>
                    <a:lnTo>
                      <a:pt x="127" y="28"/>
                    </a:lnTo>
                    <a:lnTo>
                      <a:pt x="138" y="33"/>
                    </a:lnTo>
                    <a:lnTo>
                      <a:pt x="140" y="23"/>
                    </a:lnTo>
                    <a:lnTo>
                      <a:pt x="129" y="19"/>
                    </a:lnTo>
                    <a:lnTo>
                      <a:pt x="137" y="27"/>
                    </a:lnTo>
                    <a:lnTo>
                      <a:pt x="140" y="24"/>
                    </a:lnTo>
                    <a:lnTo>
                      <a:pt x="131" y="15"/>
                    </a:lnTo>
                    <a:lnTo>
                      <a:pt x="136" y="26"/>
                    </a:lnTo>
                    <a:lnTo>
                      <a:pt x="139" y="24"/>
                    </a:lnTo>
                    <a:lnTo>
                      <a:pt x="135" y="13"/>
                    </a:lnTo>
                    <a:lnTo>
                      <a:pt x="139" y="25"/>
                    </a:lnTo>
                    <a:lnTo>
                      <a:pt x="147" y="23"/>
                    </a:lnTo>
                    <a:lnTo>
                      <a:pt x="142" y="12"/>
                    </a:lnTo>
                    <a:lnTo>
                      <a:pt x="142" y="24"/>
                    </a:lnTo>
                    <a:lnTo>
                      <a:pt x="150" y="24"/>
                    </a:lnTo>
                    <a:lnTo>
                      <a:pt x="157" y="25"/>
                    </a:lnTo>
                    <a:lnTo>
                      <a:pt x="157" y="13"/>
                    </a:lnTo>
                    <a:lnTo>
                      <a:pt x="153" y="24"/>
                    </a:lnTo>
                    <a:lnTo>
                      <a:pt x="160" y="26"/>
                    </a:lnTo>
                    <a:lnTo>
                      <a:pt x="175" y="32"/>
                    </a:lnTo>
                    <a:lnTo>
                      <a:pt x="193" y="37"/>
                    </a:lnTo>
                    <a:lnTo>
                      <a:pt x="195" y="25"/>
                    </a:lnTo>
                    <a:lnTo>
                      <a:pt x="187" y="33"/>
                    </a:lnTo>
                    <a:lnTo>
                      <a:pt x="190" y="36"/>
                    </a:lnTo>
                    <a:lnTo>
                      <a:pt x="185" y="32"/>
                    </a:lnTo>
                    <a:lnTo>
                      <a:pt x="188" y="36"/>
                    </a:lnTo>
                    <a:lnTo>
                      <a:pt x="193" y="45"/>
                    </a:lnTo>
                    <a:lnTo>
                      <a:pt x="199" y="54"/>
                    </a:lnTo>
                    <a:lnTo>
                      <a:pt x="201" y="58"/>
                    </a:lnTo>
                    <a:lnTo>
                      <a:pt x="208" y="67"/>
                    </a:lnTo>
                    <a:lnTo>
                      <a:pt x="216" y="75"/>
                    </a:lnTo>
                    <a:lnTo>
                      <a:pt x="220" y="78"/>
                    </a:lnTo>
                    <a:lnTo>
                      <a:pt x="229" y="84"/>
                    </a:lnTo>
                    <a:lnTo>
                      <a:pt x="234" y="85"/>
                    </a:lnTo>
                    <a:lnTo>
                      <a:pt x="239" y="86"/>
                    </a:lnTo>
                    <a:lnTo>
                      <a:pt x="244" y="87"/>
                    </a:lnTo>
                    <a:lnTo>
                      <a:pt x="249" y="87"/>
                    </a:lnTo>
                    <a:lnTo>
                      <a:pt x="254" y="86"/>
                    </a:lnTo>
                    <a:lnTo>
                      <a:pt x="260" y="84"/>
                    </a:lnTo>
                    <a:lnTo>
                      <a:pt x="264" y="81"/>
                    </a:lnTo>
                    <a:lnTo>
                      <a:pt x="268" y="79"/>
                    </a:lnTo>
                    <a:lnTo>
                      <a:pt x="271" y="75"/>
                    </a:lnTo>
                    <a:lnTo>
                      <a:pt x="274" y="71"/>
                    </a:lnTo>
                    <a:lnTo>
                      <a:pt x="279" y="61"/>
                    </a:lnTo>
                    <a:lnTo>
                      <a:pt x="283" y="50"/>
                    </a:lnTo>
                    <a:lnTo>
                      <a:pt x="286" y="45"/>
                    </a:lnTo>
                    <a:lnTo>
                      <a:pt x="275" y="41"/>
                    </a:lnTo>
                    <a:lnTo>
                      <a:pt x="284" y="49"/>
                    </a:lnTo>
                    <a:lnTo>
                      <a:pt x="287" y="46"/>
                    </a:lnTo>
                    <a:lnTo>
                      <a:pt x="295" y="40"/>
                    </a:lnTo>
                    <a:lnTo>
                      <a:pt x="287" y="32"/>
                    </a:lnTo>
                    <a:lnTo>
                      <a:pt x="291" y="43"/>
                    </a:lnTo>
                    <a:lnTo>
                      <a:pt x="300" y="39"/>
                    </a:lnTo>
                    <a:lnTo>
                      <a:pt x="309" y="37"/>
                    </a:lnTo>
                    <a:lnTo>
                      <a:pt x="305" y="26"/>
                    </a:lnTo>
                    <a:lnTo>
                      <a:pt x="305" y="38"/>
                    </a:lnTo>
                    <a:lnTo>
                      <a:pt x="314" y="37"/>
                    </a:lnTo>
                    <a:lnTo>
                      <a:pt x="333" y="37"/>
                    </a:lnTo>
                    <a:lnTo>
                      <a:pt x="351" y="37"/>
                    </a:lnTo>
                    <a:lnTo>
                      <a:pt x="351" y="13"/>
                    </a:lnTo>
                    <a:lnTo>
                      <a:pt x="333" y="13"/>
                    </a:lnTo>
                    <a:lnTo>
                      <a:pt x="314" y="13"/>
                    </a:lnTo>
                    <a:lnTo>
                      <a:pt x="305" y="14"/>
                    </a:lnTo>
                    <a:lnTo>
                      <a:pt x="300" y="15"/>
                    </a:lnTo>
                    <a:lnTo>
                      <a:pt x="291" y="17"/>
                    </a:lnTo>
                    <a:lnTo>
                      <a:pt x="282" y="21"/>
                    </a:lnTo>
                    <a:lnTo>
                      <a:pt x="278" y="23"/>
                    </a:lnTo>
                    <a:lnTo>
                      <a:pt x="272" y="28"/>
                    </a:lnTo>
                    <a:lnTo>
                      <a:pt x="267" y="32"/>
                    </a:lnTo>
                    <a:lnTo>
                      <a:pt x="264" y="36"/>
                    </a:lnTo>
                    <a:lnTo>
                      <a:pt x="261" y="41"/>
                    </a:lnTo>
                    <a:lnTo>
                      <a:pt x="257" y="52"/>
                    </a:lnTo>
                    <a:lnTo>
                      <a:pt x="252" y="62"/>
                    </a:lnTo>
                    <a:lnTo>
                      <a:pt x="263" y="67"/>
                    </a:lnTo>
                    <a:lnTo>
                      <a:pt x="254" y="58"/>
                    </a:lnTo>
                    <a:lnTo>
                      <a:pt x="251" y="62"/>
                    </a:lnTo>
                    <a:lnTo>
                      <a:pt x="259" y="70"/>
                    </a:lnTo>
                    <a:lnTo>
                      <a:pt x="255" y="59"/>
                    </a:lnTo>
                    <a:lnTo>
                      <a:pt x="251" y="62"/>
                    </a:lnTo>
                    <a:lnTo>
                      <a:pt x="245" y="64"/>
                    </a:lnTo>
                    <a:lnTo>
                      <a:pt x="249" y="75"/>
                    </a:lnTo>
                    <a:lnTo>
                      <a:pt x="249" y="63"/>
                    </a:lnTo>
                    <a:lnTo>
                      <a:pt x="244" y="63"/>
                    </a:lnTo>
                    <a:lnTo>
                      <a:pt x="239" y="62"/>
                    </a:lnTo>
                    <a:lnTo>
                      <a:pt x="239" y="74"/>
                    </a:lnTo>
                    <a:lnTo>
                      <a:pt x="243" y="63"/>
                    </a:lnTo>
                    <a:lnTo>
                      <a:pt x="238" y="62"/>
                    </a:lnTo>
                    <a:lnTo>
                      <a:pt x="229" y="56"/>
                    </a:lnTo>
                    <a:lnTo>
                      <a:pt x="225" y="67"/>
                    </a:lnTo>
                    <a:lnTo>
                      <a:pt x="233" y="58"/>
                    </a:lnTo>
                    <a:lnTo>
                      <a:pt x="225" y="50"/>
                    </a:lnTo>
                    <a:lnTo>
                      <a:pt x="218" y="41"/>
                    </a:lnTo>
                    <a:lnTo>
                      <a:pt x="210" y="50"/>
                    </a:lnTo>
                    <a:lnTo>
                      <a:pt x="221" y="45"/>
                    </a:lnTo>
                    <a:lnTo>
                      <a:pt x="215" y="36"/>
                    </a:lnTo>
                    <a:lnTo>
                      <a:pt x="210" y="27"/>
                    </a:lnTo>
                    <a:lnTo>
                      <a:pt x="205" y="19"/>
                    </a:lnTo>
                    <a:lnTo>
                      <a:pt x="203" y="17"/>
                    </a:lnTo>
                    <a:lnTo>
                      <a:pt x="200" y="14"/>
                    </a:lnTo>
                    <a:lnTo>
                      <a:pt x="198" y="14"/>
                    </a:lnTo>
                    <a:lnTo>
                      <a:pt x="184" y="10"/>
                    </a:lnTo>
                    <a:lnTo>
                      <a:pt x="169" y="4"/>
                    </a:lnTo>
                    <a:lnTo>
                      <a:pt x="162" y="2"/>
                    </a:lnTo>
                    <a:lnTo>
                      <a:pt x="157" y="1"/>
                    </a:lnTo>
                    <a:lnTo>
                      <a:pt x="150" y="0"/>
                    </a:lnTo>
                    <a:lnTo>
                      <a:pt x="142" y="0"/>
                    </a:lnTo>
                    <a:lnTo>
                      <a:pt x="138" y="1"/>
                    </a:lnTo>
                    <a:lnTo>
                      <a:pt x="132" y="2"/>
                    </a:lnTo>
                    <a:lnTo>
                      <a:pt x="131" y="2"/>
                    </a:lnTo>
                    <a:lnTo>
                      <a:pt x="127" y="4"/>
                    </a:lnTo>
                    <a:lnTo>
                      <a:pt x="123" y="7"/>
                    </a:lnTo>
                    <a:lnTo>
                      <a:pt x="120" y="10"/>
                    </a:lnTo>
                    <a:lnTo>
                      <a:pt x="118" y="14"/>
                    </a:lnTo>
                    <a:lnTo>
                      <a:pt x="116" y="24"/>
                    </a:lnTo>
                    <a:lnTo>
                      <a:pt x="115" y="28"/>
                    </a:lnTo>
                    <a:lnTo>
                      <a:pt x="114" y="39"/>
                    </a:lnTo>
                    <a:lnTo>
                      <a:pt x="113" y="44"/>
                    </a:lnTo>
                    <a:lnTo>
                      <a:pt x="125" y="44"/>
                    </a:lnTo>
                    <a:lnTo>
                      <a:pt x="114" y="40"/>
                    </a:lnTo>
                    <a:lnTo>
                      <a:pt x="113" y="44"/>
                    </a:lnTo>
                    <a:lnTo>
                      <a:pt x="107" y="54"/>
                    </a:lnTo>
                    <a:lnTo>
                      <a:pt x="118" y="58"/>
                    </a:lnTo>
                    <a:lnTo>
                      <a:pt x="109" y="50"/>
                    </a:lnTo>
                    <a:lnTo>
                      <a:pt x="103" y="59"/>
                    </a:lnTo>
                    <a:lnTo>
                      <a:pt x="101" y="63"/>
                    </a:lnTo>
                    <a:lnTo>
                      <a:pt x="90" y="79"/>
                    </a:lnTo>
                    <a:lnTo>
                      <a:pt x="99" y="73"/>
                    </a:lnTo>
                    <a:lnTo>
                      <a:pt x="94" y="74"/>
                    </a:lnTo>
                    <a:lnTo>
                      <a:pt x="91" y="77"/>
                    </a:lnTo>
                    <a:lnTo>
                      <a:pt x="99" y="85"/>
                    </a:lnTo>
                    <a:lnTo>
                      <a:pt x="103" y="74"/>
                    </a:lnTo>
                    <a:lnTo>
                      <a:pt x="94" y="72"/>
                    </a:lnTo>
                    <a:lnTo>
                      <a:pt x="90" y="71"/>
                    </a:lnTo>
                    <a:lnTo>
                      <a:pt x="80" y="69"/>
                    </a:lnTo>
                    <a:lnTo>
                      <a:pt x="80" y="81"/>
                    </a:lnTo>
                    <a:lnTo>
                      <a:pt x="84" y="70"/>
                    </a:lnTo>
                    <a:lnTo>
                      <a:pt x="75" y="67"/>
                    </a:lnTo>
                    <a:lnTo>
                      <a:pt x="71" y="78"/>
                    </a:lnTo>
                    <a:lnTo>
                      <a:pt x="79" y="70"/>
                    </a:lnTo>
                    <a:lnTo>
                      <a:pt x="72" y="65"/>
                    </a:lnTo>
                    <a:lnTo>
                      <a:pt x="69" y="61"/>
                    </a:lnTo>
                    <a:lnTo>
                      <a:pt x="60" y="69"/>
                    </a:lnTo>
                    <a:lnTo>
                      <a:pt x="71" y="65"/>
                    </a:lnTo>
                    <a:lnTo>
                      <a:pt x="70" y="60"/>
                    </a:lnTo>
                    <a:lnTo>
                      <a:pt x="59" y="65"/>
                    </a:lnTo>
                    <a:lnTo>
                      <a:pt x="71" y="65"/>
                    </a:lnTo>
                    <a:lnTo>
                      <a:pt x="69" y="55"/>
                    </a:lnTo>
                    <a:lnTo>
                      <a:pt x="68" y="45"/>
                    </a:lnTo>
                    <a:lnTo>
                      <a:pt x="67" y="40"/>
                    </a:lnTo>
                    <a:lnTo>
                      <a:pt x="65" y="36"/>
                    </a:lnTo>
                    <a:lnTo>
                      <a:pt x="63" y="32"/>
                    </a:lnTo>
                    <a:lnTo>
                      <a:pt x="59" y="28"/>
                    </a:lnTo>
                    <a:lnTo>
                      <a:pt x="58" y="28"/>
                    </a:lnTo>
                    <a:lnTo>
                      <a:pt x="54" y="25"/>
                    </a:lnTo>
                    <a:lnTo>
                      <a:pt x="50" y="23"/>
                    </a:lnTo>
                    <a:lnTo>
                      <a:pt x="45" y="21"/>
                    </a:lnTo>
                    <a:lnTo>
                      <a:pt x="33" y="18"/>
                    </a:lnTo>
                    <a:lnTo>
                      <a:pt x="28" y="17"/>
                    </a:lnTo>
                    <a:lnTo>
                      <a:pt x="15" y="15"/>
                    </a:lnTo>
                    <a:lnTo>
                      <a:pt x="15" y="27"/>
                    </a:lnTo>
                    <a:lnTo>
                      <a:pt x="20" y="16"/>
                    </a:lnTo>
                    <a:lnTo>
                      <a:pt x="6" y="1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102" name="Line 191"/>
            <p:cNvSpPr>
              <a:spLocks noChangeShapeType="1"/>
            </p:cNvSpPr>
            <p:nvPr/>
          </p:nvSpPr>
          <p:spPr bwMode="ltGray">
            <a:xfrm>
              <a:off x="4848" y="1104"/>
              <a:ext cx="72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192"/>
            <p:cNvSpPr>
              <a:spLocks noChangeShapeType="1"/>
            </p:cNvSpPr>
            <p:nvPr/>
          </p:nvSpPr>
          <p:spPr bwMode="ltGray">
            <a:xfrm>
              <a:off x="4848" y="912"/>
              <a:ext cx="720" cy="0"/>
            </a:xfrm>
            <a:prstGeom prst="line">
              <a:avLst/>
            </a:prstGeom>
            <a:noFill/>
            <a:ln w="9525">
              <a:solidFill>
                <a:srgbClr val="3399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193"/>
            <p:cNvSpPr>
              <a:spLocks noChangeShapeType="1"/>
            </p:cNvSpPr>
            <p:nvPr/>
          </p:nvSpPr>
          <p:spPr bwMode="ltGray">
            <a:xfrm>
              <a:off x="4848" y="720"/>
              <a:ext cx="720" cy="0"/>
            </a:xfrm>
            <a:prstGeom prst="line">
              <a:avLst/>
            </a:prstGeom>
            <a:noFill/>
            <a:ln w="9525">
              <a:solidFill>
                <a:srgbClr val="3399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Rectangle 194"/>
            <p:cNvSpPr>
              <a:spLocks noChangeArrowheads="1"/>
            </p:cNvSpPr>
            <p:nvPr/>
          </p:nvSpPr>
          <p:spPr bwMode="auto">
            <a:xfrm>
              <a:off x="5169" y="1394"/>
              <a:ext cx="11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1600" b="1" i="1">
                  <a:solidFill>
                    <a:srgbClr val="FF0000"/>
                  </a:solidFill>
                  <a:latin typeface="Times New Roman" panose="02020603050405020304" pitchFamily="18" charset="0"/>
                </a:rPr>
                <a:t>T</a:t>
              </a:r>
              <a:r>
                <a:rPr kumimoji="1" lang="en-US" altLang="zh-CN" sz="1600" b="1" baseline="-25000">
                  <a:solidFill>
                    <a:srgbClr val="FF0000"/>
                  </a:solidFill>
                  <a:latin typeface="Times New Roman" panose="02020603050405020304" pitchFamily="18" charset="0"/>
                </a:rPr>
                <a:t>2</a:t>
              </a:r>
              <a:endParaRPr kumimoji="1" lang="en-US" altLang="zh-CN" sz="1600" b="1" baseline="-25000">
                <a:solidFill>
                  <a:srgbClr val="FF0000"/>
                </a:solidFill>
                <a:latin typeface="Times New Roman" panose="02020603050405020304" pitchFamily="18" charset="0"/>
              </a:endParaRPr>
            </a:p>
          </p:txBody>
        </p:sp>
        <p:sp>
          <p:nvSpPr>
            <p:cNvPr id="106" name="Line 195"/>
            <p:cNvSpPr>
              <a:spLocks noChangeShapeType="1"/>
            </p:cNvSpPr>
            <p:nvPr/>
          </p:nvSpPr>
          <p:spPr bwMode="ltGray">
            <a:xfrm>
              <a:off x="3696" y="912"/>
              <a:ext cx="816" cy="0"/>
            </a:xfrm>
            <a:prstGeom prst="line">
              <a:avLst/>
            </a:prstGeom>
            <a:noFill/>
            <a:ln w="9525">
              <a:solidFill>
                <a:srgbClr val="CC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196"/>
            <p:cNvSpPr>
              <a:spLocks noChangeShapeType="1"/>
            </p:cNvSpPr>
            <p:nvPr/>
          </p:nvSpPr>
          <p:spPr bwMode="ltGray">
            <a:xfrm>
              <a:off x="3696" y="1104"/>
              <a:ext cx="816" cy="0"/>
            </a:xfrm>
            <a:prstGeom prst="line">
              <a:avLst/>
            </a:prstGeom>
            <a:noFill/>
            <a:ln w="9525">
              <a:solidFill>
                <a:srgbClr val="CC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Line 197"/>
            <p:cNvSpPr>
              <a:spLocks noChangeShapeType="1"/>
            </p:cNvSpPr>
            <p:nvPr/>
          </p:nvSpPr>
          <p:spPr bwMode="ltGray">
            <a:xfrm>
              <a:off x="3696" y="1296"/>
              <a:ext cx="816" cy="0"/>
            </a:xfrm>
            <a:prstGeom prst="line">
              <a:avLst/>
            </a:prstGeom>
            <a:noFill/>
            <a:ln w="9525">
              <a:solidFill>
                <a:srgbClr val="CC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Line 198"/>
            <p:cNvSpPr>
              <a:spLocks noChangeShapeType="1"/>
            </p:cNvSpPr>
            <p:nvPr/>
          </p:nvSpPr>
          <p:spPr bwMode="ltGray">
            <a:xfrm>
              <a:off x="3696" y="1488"/>
              <a:ext cx="816" cy="0"/>
            </a:xfrm>
            <a:prstGeom prst="line">
              <a:avLst/>
            </a:prstGeom>
            <a:noFill/>
            <a:ln w="9525">
              <a:solidFill>
                <a:srgbClr val="CC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0" name="Group 199"/>
            <p:cNvGrpSpPr/>
            <p:nvPr/>
          </p:nvGrpSpPr>
          <p:grpSpPr bwMode="auto">
            <a:xfrm>
              <a:off x="5113" y="720"/>
              <a:ext cx="119" cy="196"/>
              <a:chOff x="2626" y="463"/>
              <a:chExt cx="119" cy="196"/>
            </a:xfrm>
          </p:grpSpPr>
          <p:sp>
            <p:nvSpPr>
              <p:cNvPr id="138" name="Freeform 200"/>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39" name="Freeform 201"/>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111" name="Group 202"/>
            <p:cNvGrpSpPr/>
            <p:nvPr/>
          </p:nvGrpSpPr>
          <p:grpSpPr bwMode="auto">
            <a:xfrm>
              <a:off x="5017" y="912"/>
              <a:ext cx="119" cy="196"/>
              <a:chOff x="2626" y="463"/>
              <a:chExt cx="119" cy="196"/>
            </a:xfrm>
          </p:grpSpPr>
          <p:sp>
            <p:nvSpPr>
              <p:cNvPr id="136" name="Freeform 203"/>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37" name="Freeform 204"/>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112" name="Group 205"/>
            <p:cNvGrpSpPr/>
            <p:nvPr/>
          </p:nvGrpSpPr>
          <p:grpSpPr bwMode="auto">
            <a:xfrm rot="10717198">
              <a:off x="4464" y="1056"/>
              <a:ext cx="492" cy="107"/>
              <a:chOff x="1440" y="906"/>
              <a:chExt cx="492" cy="107"/>
            </a:xfrm>
          </p:grpSpPr>
          <p:grpSp>
            <p:nvGrpSpPr>
              <p:cNvPr id="132" name="Group 206"/>
              <p:cNvGrpSpPr/>
              <p:nvPr/>
            </p:nvGrpSpPr>
            <p:grpSpPr bwMode="auto">
              <a:xfrm>
                <a:off x="1776" y="906"/>
                <a:ext cx="156" cy="107"/>
                <a:chOff x="1853" y="906"/>
                <a:chExt cx="156" cy="107"/>
              </a:xfrm>
            </p:grpSpPr>
            <p:sp>
              <p:nvSpPr>
                <p:cNvPr id="134" name="Rectangle 207"/>
                <p:cNvSpPr>
                  <a:spLocks noChangeArrowheads="1"/>
                </p:cNvSpPr>
                <p:nvPr/>
              </p:nvSpPr>
              <p:spPr bwMode="auto">
                <a:xfrm>
                  <a:off x="1853" y="947"/>
                  <a:ext cx="51" cy="2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35" name="Freeform 208"/>
                <p:cNvSpPr/>
                <p:nvPr/>
              </p:nvSpPr>
              <p:spPr bwMode="auto">
                <a:xfrm>
                  <a:off x="1902" y="906"/>
                  <a:ext cx="107" cy="107"/>
                </a:xfrm>
                <a:custGeom>
                  <a:avLst/>
                  <a:gdLst>
                    <a:gd name="T0" fmla="*/ 0 w 107"/>
                    <a:gd name="T1" fmla="*/ 107 h 107"/>
                    <a:gd name="T2" fmla="*/ 107 w 107"/>
                    <a:gd name="T3" fmla="*/ 54 h 107"/>
                    <a:gd name="T4" fmla="*/ 0 w 107"/>
                    <a:gd name="T5" fmla="*/ 0 h 107"/>
                    <a:gd name="T6" fmla="*/ 0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0" y="107"/>
                      </a:moveTo>
                      <a:lnTo>
                        <a:pt x="107" y="54"/>
                      </a:lnTo>
                      <a:lnTo>
                        <a:pt x="0" y="0"/>
                      </a:lnTo>
                      <a:lnTo>
                        <a:pt x="0" y="10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133" name="Freeform 209"/>
              <p:cNvSpPr/>
              <p:nvPr/>
            </p:nvSpPr>
            <p:spPr bwMode="auto">
              <a:xfrm>
                <a:off x="1440" y="912"/>
                <a:ext cx="351" cy="97"/>
              </a:xfrm>
              <a:custGeom>
                <a:avLst/>
                <a:gdLst>
                  <a:gd name="T0" fmla="*/ 15 w 351"/>
                  <a:gd name="T1" fmla="*/ 39 h 97"/>
                  <a:gd name="T2" fmla="*/ 36 w 351"/>
                  <a:gd name="T3" fmla="*/ 43 h 97"/>
                  <a:gd name="T4" fmla="*/ 44 w 351"/>
                  <a:gd name="T5" fmla="*/ 47 h 97"/>
                  <a:gd name="T6" fmla="*/ 54 w 351"/>
                  <a:gd name="T7" fmla="*/ 41 h 97"/>
                  <a:gd name="T8" fmla="*/ 44 w 351"/>
                  <a:gd name="T9" fmla="*/ 45 h 97"/>
                  <a:gd name="T10" fmla="*/ 49 w 351"/>
                  <a:gd name="T11" fmla="*/ 74 h 97"/>
                  <a:gd name="T12" fmla="*/ 66 w 351"/>
                  <a:gd name="T13" fmla="*/ 89 h 97"/>
                  <a:gd name="T14" fmla="*/ 90 w 351"/>
                  <a:gd name="T15" fmla="*/ 83 h 97"/>
                  <a:gd name="T16" fmla="*/ 104 w 351"/>
                  <a:gd name="T17" fmla="*/ 96 h 97"/>
                  <a:gd name="T18" fmla="*/ 112 w 351"/>
                  <a:gd name="T19" fmla="*/ 67 h 97"/>
                  <a:gd name="T20" fmla="*/ 134 w 351"/>
                  <a:gd name="T21" fmla="*/ 54 h 97"/>
                  <a:gd name="T22" fmla="*/ 137 w 351"/>
                  <a:gd name="T23" fmla="*/ 44 h 97"/>
                  <a:gd name="T24" fmla="*/ 138 w 351"/>
                  <a:gd name="T25" fmla="*/ 33 h 97"/>
                  <a:gd name="T26" fmla="*/ 140 w 351"/>
                  <a:gd name="T27" fmla="*/ 24 h 97"/>
                  <a:gd name="T28" fmla="*/ 135 w 351"/>
                  <a:gd name="T29" fmla="*/ 13 h 97"/>
                  <a:gd name="T30" fmla="*/ 142 w 351"/>
                  <a:gd name="T31" fmla="*/ 24 h 97"/>
                  <a:gd name="T32" fmla="*/ 153 w 351"/>
                  <a:gd name="T33" fmla="*/ 24 h 97"/>
                  <a:gd name="T34" fmla="*/ 195 w 351"/>
                  <a:gd name="T35" fmla="*/ 25 h 97"/>
                  <a:gd name="T36" fmla="*/ 188 w 351"/>
                  <a:gd name="T37" fmla="*/ 36 h 97"/>
                  <a:gd name="T38" fmla="*/ 208 w 351"/>
                  <a:gd name="T39" fmla="*/ 67 h 97"/>
                  <a:gd name="T40" fmla="*/ 234 w 351"/>
                  <a:gd name="T41" fmla="*/ 85 h 97"/>
                  <a:gd name="T42" fmla="*/ 254 w 351"/>
                  <a:gd name="T43" fmla="*/ 86 h 97"/>
                  <a:gd name="T44" fmla="*/ 271 w 351"/>
                  <a:gd name="T45" fmla="*/ 75 h 97"/>
                  <a:gd name="T46" fmla="*/ 286 w 351"/>
                  <a:gd name="T47" fmla="*/ 45 h 97"/>
                  <a:gd name="T48" fmla="*/ 295 w 351"/>
                  <a:gd name="T49" fmla="*/ 40 h 97"/>
                  <a:gd name="T50" fmla="*/ 309 w 351"/>
                  <a:gd name="T51" fmla="*/ 37 h 97"/>
                  <a:gd name="T52" fmla="*/ 333 w 351"/>
                  <a:gd name="T53" fmla="*/ 37 h 97"/>
                  <a:gd name="T54" fmla="*/ 314 w 351"/>
                  <a:gd name="T55" fmla="*/ 13 h 97"/>
                  <a:gd name="T56" fmla="*/ 282 w 351"/>
                  <a:gd name="T57" fmla="*/ 21 h 97"/>
                  <a:gd name="T58" fmla="*/ 264 w 351"/>
                  <a:gd name="T59" fmla="*/ 36 h 97"/>
                  <a:gd name="T60" fmla="*/ 263 w 351"/>
                  <a:gd name="T61" fmla="*/ 67 h 97"/>
                  <a:gd name="T62" fmla="*/ 255 w 351"/>
                  <a:gd name="T63" fmla="*/ 59 h 97"/>
                  <a:gd name="T64" fmla="*/ 249 w 351"/>
                  <a:gd name="T65" fmla="*/ 63 h 97"/>
                  <a:gd name="T66" fmla="*/ 243 w 351"/>
                  <a:gd name="T67" fmla="*/ 63 h 97"/>
                  <a:gd name="T68" fmla="*/ 233 w 351"/>
                  <a:gd name="T69" fmla="*/ 58 h 97"/>
                  <a:gd name="T70" fmla="*/ 221 w 351"/>
                  <a:gd name="T71" fmla="*/ 45 h 97"/>
                  <a:gd name="T72" fmla="*/ 203 w 351"/>
                  <a:gd name="T73" fmla="*/ 17 h 97"/>
                  <a:gd name="T74" fmla="*/ 169 w 351"/>
                  <a:gd name="T75" fmla="*/ 4 h 97"/>
                  <a:gd name="T76" fmla="*/ 142 w 351"/>
                  <a:gd name="T77" fmla="*/ 0 h 97"/>
                  <a:gd name="T78" fmla="*/ 127 w 351"/>
                  <a:gd name="T79" fmla="*/ 4 h 97"/>
                  <a:gd name="T80" fmla="*/ 116 w 351"/>
                  <a:gd name="T81" fmla="*/ 24 h 97"/>
                  <a:gd name="T82" fmla="*/ 113 w 351"/>
                  <a:gd name="T83" fmla="*/ 44 h 97"/>
                  <a:gd name="T84" fmla="*/ 113 w 351"/>
                  <a:gd name="T85" fmla="*/ 44 h 97"/>
                  <a:gd name="T86" fmla="*/ 103 w 351"/>
                  <a:gd name="T87" fmla="*/ 59 h 97"/>
                  <a:gd name="T88" fmla="*/ 94 w 351"/>
                  <a:gd name="T89" fmla="*/ 74 h 97"/>
                  <a:gd name="T90" fmla="*/ 94 w 351"/>
                  <a:gd name="T91" fmla="*/ 72 h 97"/>
                  <a:gd name="T92" fmla="*/ 84 w 351"/>
                  <a:gd name="T93" fmla="*/ 70 h 97"/>
                  <a:gd name="T94" fmla="*/ 72 w 351"/>
                  <a:gd name="T95" fmla="*/ 65 h 97"/>
                  <a:gd name="T96" fmla="*/ 70 w 351"/>
                  <a:gd name="T97" fmla="*/ 60 h 97"/>
                  <a:gd name="T98" fmla="*/ 68 w 351"/>
                  <a:gd name="T99" fmla="*/ 45 h 97"/>
                  <a:gd name="T100" fmla="*/ 59 w 351"/>
                  <a:gd name="T101" fmla="*/ 28 h 97"/>
                  <a:gd name="T102" fmla="*/ 45 w 351"/>
                  <a:gd name="T103" fmla="*/ 21 h 97"/>
                  <a:gd name="T104" fmla="*/ 15 w 351"/>
                  <a:gd name="T105" fmla="*/ 27 h 9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51"/>
                  <a:gd name="T160" fmla="*/ 0 h 97"/>
                  <a:gd name="T161" fmla="*/ 351 w 351"/>
                  <a:gd name="T162" fmla="*/ 97 h 97"/>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51" h="97">
                    <a:moveTo>
                      <a:pt x="6" y="14"/>
                    </a:moveTo>
                    <a:lnTo>
                      <a:pt x="0" y="37"/>
                    </a:lnTo>
                    <a:lnTo>
                      <a:pt x="11" y="38"/>
                    </a:lnTo>
                    <a:lnTo>
                      <a:pt x="15" y="39"/>
                    </a:lnTo>
                    <a:lnTo>
                      <a:pt x="28" y="41"/>
                    </a:lnTo>
                    <a:lnTo>
                      <a:pt x="28" y="29"/>
                    </a:lnTo>
                    <a:lnTo>
                      <a:pt x="24" y="40"/>
                    </a:lnTo>
                    <a:lnTo>
                      <a:pt x="36" y="43"/>
                    </a:lnTo>
                    <a:lnTo>
                      <a:pt x="41" y="45"/>
                    </a:lnTo>
                    <a:lnTo>
                      <a:pt x="46" y="34"/>
                    </a:lnTo>
                    <a:lnTo>
                      <a:pt x="37" y="42"/>
                    </a:lnTo>
                    <a:lnTo>
                      <a:pt x="44" y="47"/>
                    </a:lnTo>
                    <a:lnTo>
                      <a:pt x="51" y="37"/>
                    </a:lnTo>
                    <a:lnTo>
                      <a:pt x="44" y="46"/>
                    </a:lnTo>
                    <a:lnTo>
                      <a:pt x="46" y="49"/>
                    </a:lnTo>
                    <a:lnTo>
                      <a:pt x="54" y="41"/>
                    </a:lnTo>
                    <a:lnTo>
                      <a:pt x="43" y="45"/>
                    </a:lnTo>
                    <a:lnTo>
                      <a:pt x="45" y="49"/>
                    </a:lnTo>
                    <a:lnTo>
                      <a:pt x="56" y="45"/>
                    </a:lnTo>
                    <a:lnTo>
                      <a:pt x="44" y="45"/>
                    </a:lnTo>
                    <a:lnTo>
                      <a:pt x="45" y="55"/>
                    </a:lnTo>
                    <a:lnTo>
                      <a:pt x="47" y="65"/>
                    </a:lnTo>
                    <a:lnTo>
                      <a:pt x="48" y="69"/>
                    </a:lnTo>
                    <a:lnTo>
                      <a:pt x="49" y="74"/>
                    </a:lnTo>
                    <a:lnTo>
                      <a:pt x="52" y="78"/>
                    </a:lnTo>
                    <a:lnTo>
                      <a:pt x="55" y="82"/>
                    </a:lnTo>
                    <a:lnTo>
                      <a:pt x="62" y="87"/>
                    </a:lnTo>
                    <a:lnTo>
                      <a:pt x="66" y="89"/>
                    </a:lnTo>
                    <a:lnTo>
                      <a:pt x="75" y="92"/>
                    </a:lnTo>
                    <a:lnTo>
                      <a:pt x="80" y="93"/>
                    </a:lnTo>
                    <a:lnTo>
                      <a:pt x="90" y="95"/>
                    </a:lnTo>
                    <a:lnTo>
                      <a:pt x="90" y="83"/>
                    </a:lnTo>
                    <a:lnTo>
                      <a:pt x="85" y="94"/>
                    </a:lnTo>
                    <a:lnTo>
                      <a:pt x="95" y="96"/>
                    </a:lnTo>
                    <a:lnTo>
                      <a:pt x="99" y="97"/>
                    </a:lnTo>
                    <a:lnTo>
                      <a:pt x="104" y="96"/>
                    </a:lnTo>
                    <a:lnTo>
                      <a:pt x="107" y="93"/>
                    </a:lnTo>
                    <a:lnTo>
                      <a:pt x="109" y="92"/>
                    </a:lnTo>
                    <a:lnTo>
                      <a:pt x="123" y="72"/>
                    </a:lnTo>
                    <a:lnTo>
                      <a:pt x="112" y="67"/>
                    </a:lnTo>
                    <a:lnTo>
                      <a:pt x="120" y="76"/>
                    </a:lnTo>
                    <a:lnTo>
                      <a:pt x="126" y="67"/>
                    </a:lnTo>
                    <a:lnTo>
                      <a:pt x="129" y="63"/>
                    </a:lnTo>
                    <a:lnTo>
                      <a:pt x="134" y="54"/>
                    </a:lnTo>
                    <a:lnTo>
                      <a:pt x="123" y="49"/>
                    </a:lnTo>
                    <a:lnTo>
                      <a:pt x="134" y="55"/>
                    </a:lnTo>
                    <a:lnTo>
                      <a:pt x="136" y="49"/>
                    </a:lnTo>
                    <a:lnTo>
                      <a:pt x="137" y="44"/>
                    </a:lnTo>
                    <a:lnTo>
                      <a:pt x="138" y="39"/>
                    </a:lnTo>
                    <a:lnTo>
                      <a:pt x="139" y="28"/>
                    </a:lnTo>
                    <a:lnTo>
                      <a:pt x="127" y="28"/>
                    </a:lnTo>
                    <a:lnTo>
                      <a:pt x="138" y="33"/>
                    </a:lnTo>
                    <a:lnTo>
                      <a:pt x="140" y="23"/>
                    </a:lnTo>
                    <a:lnTo>
                      <a:pt x="129" y="19"/>
                    </a:lnTo>
                    <a:lnTo>
                      <a:pt x="137" y="27"/>
                    </a:lnTo>
                    <a:lnTo>
                      <a:pt x="140" y="24"/>
                    </a:lnTo>
                    <a:lnTo>
                      <a:pt x="131" y="15"/>
                    </a:lnTo>
                    <a:lnTo>
                      <a:pt x="136" y="26"/>
                    </a:lnTo>
                    <a:lnTo>
                      <a:pt x="139" y="24"/>
                    </a:lnTo>
                    <a:lnTo>
                      <a:pt x="135" y="13"/>
                    </a:lnTo>
                    <a:lnTo>
                      <a:pt x="139" y="25"/>
                    </a:lnTo>
                    <a:lnTo>
                      <a:pt x="147" y="23"/>
                    </a:lnTo>
                    <a:lnTo>
                      <a:pt x="142" y="12"/>
                    </a:lnTo>
                    <a:lnTo>
                      <a:pt x="142" y="24"/>
                    </a:lnTo>
                    <a:lnTo>
                      <a:pt x="150" y="24"/>
                    </a:lnTo>
                    <a:lnTo>
                      <a:pt x="157" y="25"/>
                    </a:lnTo>
                    <a:lnTo>
                      <a:pt x="157" y="13"/>
                    </a:lnTo>
                    <a:lnTo>
                      <a:pt x="153" y="24"/>
                    </a:lnTo>
                    <a:lnTo>
                      <a:pt x="160" y="26"/>
                    </a:lnTo>
                    <a:lnTo>
                      <a:pt x="175" y="32"/>
                    </a:lnTo>
                    <a:lnTo>
                      <a:pt x="193" y="37"/>
                    </a:lnTo>
                    <a:lnTo>
                      <a:pt x="195" y="25"/>
                    </a:lnTo>
                    <a:lnTo>
                      <a:pt x="187" y="33"/>
                    </a:lnTo>
                    <a:lnTo>
                      <a:pt x="190" y="36"/>
                    </a:lnTo>
                    <a:lnTo>
                      <a:pt x="185" y="32"/>
                    </a:lnTo>
                    <a:lnTo>
                      <a:pt x="188" y="36"/>
                    </a:lnTo>
                    <a:lnTo>
                      <a:pt x="193" y="45"/>
                    </a:lnTo>
                    <a:lnTo>
                      <a:pt x="199" y="54"/>
                    </a:lnTo>
                    <a:lnTo>
                      <a:pt x="201" y="58"/>
                    </a:lnTo>
                    <a:lnTo>
                      <a:pt x="208" y="67"/>
                    </a:lnTo>
                    <a:lnTo>
                      <a:pt x="216" y="75"/>
                    </a:lnTo>
                    <a:lnTo>
                      <a:pt x="220" y="78"/>
                    </a:lnTo>
                    <a:lnTo>
                      <a:pt x="229" y="84"/>
                    </a:lnTo>
                    <a:lnTo>
                      <a:pt x="234" y="85"/>
                    </a:lnTo>
                    <a:lnTo>
                      <a:pt x="239" y="86"/>
                    </a:lnTo>
                    <a:lnTo>
                      <a:pt x="244" y="87"/>
                    </a:lnTo>
                    <a:lnTo>
                      <a:pt x="249" y="87"/>
                    </a:lnTo>
                    <a:lnTo>
                      <a:pt x="254" y="86"/>
                    </a:lnTo>
                    <a:lnTo>
                      <a:pt x="260" y="84"/>
                    </a:lnTo>
                    <a:lnTo>
                      <a:pt x="264" y="81"/>
                    </a:lnTo>
                    <a:lnTo>
                      <a:pt x="268" y="79"/>
                    </a:lnTo>
                    <a:lnTo>
                      <a:pt x="271" y="75"/>
                    </a:lnTo>
                    <a:lnTo>
                      <a:pt x="274" y="71"/>
                    </a:lnTo>
                    <a:lnTo>
                      <a:pt x="279" y="61"/>
                    </a:lnTo>
                    <a:lnTo>
                      <a:pt x="283" y="50"/>
                    </a:lnTo>
                    <a:lnTo>
                      <a:pt x="286" y="45"/>
                    </a:lnTo>
                    <a:lnTo>
                      <a:pt x="275" y="41"/>
                    </a:lnTo>
                    <a:lnTo>
                      <a:pt x="284" y="49"/>
                    </a:lnTo>
                    <a:lnTo>
                      <a:pt x="287" y="46"/>
                    </a:lnTo>
                    <a:lnTo>
                      <a:pt x="295" y="40"/>
                    </a:lnTo>
                    <a:lnTo>
                      <a:pt x="287" y="32"/>
                    </a:lnTo>
                    <a:lnTo>
                      <a:pt x="291" y="43"/>
                    </a:lnTo>
                    <a:lnTo>
                      <a:pt x="300" y="39"/>
                    </a:lnTo>
                    <a:lnTo>
                      <a:pt x="309" y="37"/>
                    </a:lnTo>
                    <a:lnTo>
                      <a:pt x="305" y="26"/>
                    </a:lnTo>
                    <a:lnTo>
                      <a:pt x="305" y="38"/>
                    </a:lnTo>
                    <a:lnTo>
                      <a:pt x="314" y="37"/>
                    </a:lnTo>
                    <a:lnTo>
                      <a:pt x="333" y="37"/>
                    </a:lnTo>
                    <a:lnTo>
                      <a:pt x="351" y="37"/>
                    </a:lnTo>
                    <a:lnTo>
                      <a:pt x="351" y="13"/>
                    </a:lnTo>
                    <a:lnTo>
                      <a:pt x="333" y="13"/>
                    </a:lnTo>
                    <a:lnTo>
                      <a:pt x="314" y="13"/>
                    </a:lnTo>
                    <a:lnTo>
                      <a:pt x="305" y="14"/>
                    </a:lnTo>
                    <a:lnTo>
                      <a:pt x="300" y="15"/>
                    </a:lnTo>
                    <a:lnTo>
                      <a:pt x="291" y="17"/>
                    </a:lnTo>
                    <a:lnTo>
                      <a:pt x="282" y="21"/>
                    </a:lnTo>
                    <a:lnTo>
                      <a:pt x="278" y="23"/>
                    </a:lnTo>
                    <a:lnTo>
                      <a:pt x="272" y="28"/>
                    </a:lnTo>
                    <a:lnTo>
                      <a:pt x="267" y="32"/>
                    </a:lnTo>
                    <a:lnTo>
                      <a:pt x="264" y="36"/>
                    </a:lnTo>
                    <a:lnTo>
                      <a:pt x="261" y="41"/>
                    </a:lnTo>
                    <a:lnTo>
                      <a:pt x="257" y="52"/>
                    </a:lnTo>
                    <a:lnTo>
                      <a:pt x="252" y="62"/>
                    </a:lnTo>
                    <a:lnTo>
                      <a:pt x="263" y="67"/>
                    </a:lnTo>
                    <a:lnTo>
                      <a:pt x="254" y="58"/>
                    </a:lnTo>
                    <a:lnTo>
                      <a:pt x="251" y="62"/>
                    </a:lnTo>
                    <a:lnTo>
                      <a:pt x="259" y="70"/>
                    </a:lnTo>
                    <a:lnTo>
                      <a:pt x="255" y="59"/>
                    </a:lnTo>
                    <a:lnTo>
                      <a:pt x="251" y="62"/>
                    </a:lnTo>
                    <a:lnTo>
                      <a:pt x="245" y="64"/>
                    </a:lnTo>
                    <a:lnTo>
                      <a:pt x="249" y="75"/>
                    </a:lnTo>
                    <a:lnTo>
                      <a:pt x="249" y="63"/>
                    </a:lnTo>
                    <a:lnTo>
                      <a:pt x="244" y="63"/>
                    </a:lnTo>
                    <a:lnTo>
                      <a:pt x="239" y="62"/>
                    </a:lnTo>
                    <a:lnTo>
                      <a:pt x="239" y="74"/>
                    </a:lnTo>
                    <a:lnTo>
                      <a:pt x="243" y="63"/>
                    </a:lnTo>
                    <a:lnTo>
                      <a:pt x="238" y="62"/>
                    </a:lnTo>
                    <a:lnTo>
                      <a:pt x="229" y="56"/>
                    </a:lnTo>
                    <a:lnTo>
                      <a:pt x="225" y="67"/>
                    </a:lnTo>
                    <a:lnTo>
                      <a:pt x="233" y="58"/>
                    </a:lnTo>
                    <a:lnTo>
                      <a:pt x="225" y="50"/>
                    </a:lnTo>
                    <a:lnTo>
                      <a:pt x="218" y="41"/>
                    </a:lnTo>
                    <a:lnTo>
                      <a:pt x="210" y="50"/>
                    </a:lnTo>
                    <a:lnTo>
                      <a:pt x="221" y="45"/>
                    </a:lnTo>
                    <a:lnTo>
                      <a:pt x="215" y="36"/>
                    </a:lnTo>
                    <a:lnTo>
                      <a:pt x="210" y="27"/>
                    </a:lnTo>
                    <a:lnTo>
                      <a:pt x="205" y="19"/>
                    </a:lnTo>
                    <a:lnTo>
                      <a:pt x="203" y="17"/>
                    </a:lnTo>
                    <a:lnTo>
                      <a:pt x="200" y="14"/>
                    </a:lnTo>
                    <a:lnTo>
                      <a:pt x="198" y="14"/>
                    </a:lnTo>
                    <a:lnTo>
                      <a:pt x="184" y="10"/>
                    </a:lnTo>
                    <a:lnTo>
                      <a:pt x="169" y="4"/>
                    </a:lnTo>
                    <a:lnTo>
                      <a:pt x="162" y="2"/>
                    </a:lnTo>
                    <a:lnTo>
                      <a:pt x="157" y="1"/>
                    </a:lnTo>
                    <a:lnTo>
                      <a:pt x="150" y="0"/>
                    </a:lnTo>
                    <a:lnTo>
                      <a:pt x="142" y="0"/>
                    </a:lnTo>
                    <a:lnTo>
                      <a:pt x="138" y="1"/>
                    </a:lnTo>
                    <a:lnTo>
                      <a:pt x="132" y="2"/>
                    </a:lnTo>
                    <a:lnTo>
                      <a:pt x="131" y="2"/>
                    </a:lnTo>
                    <a:lnTo>
                      <a:pt x="127" y="4"/>
                    </a:lnTo>
                    <a:lnTo>
                      <a:pt x="123" y="7"/>
                    </a:lnTo>
                    <a:lnTo>
                      <a:pt x="120" y="10"/>
                    </a:lnTo>
                    <a:lnTo>
                      <a:pt x="118" y="14"/>
                    </a:lnTo>
                    <a:lnTo>
                      <a:pt x="116" y="24"/>
                    </a:lnTo>
                    <a:lnTo>
                      <a:pt x="115" y="28"/>
                    </a:lnTo>
                    <a:lnTo>
                      <a:pt x="114" y="39"/>
                    </a:lnTo>
                    <a:lnTo>
                      <a:pt x="113" y="44"/>
                    </a:lnTo>
                    <a:lnTo>
                      <a:pt x="125" y="44"/>
                    </a:lnTo>
                    <a:lnTo>
                      <a:pt x="114" y="40"/>
                    </a:lnTo>
                    <a:lnTo>
                      <a:pt x="113" y="44"/>
                    </a:lnTo>
                    <a:lnTo>
                      <a:pt x="107" y="54"/>
                    </a:lnTo>
                    <a:lnTo>
                      <a:pt x="118" y="58"/>
                    </a:lnTo>
                    <a:lnTo>
                      <a:pt x="109" y="50"/>
                    </a:lnTo>
                    <a:lnTo>
                      <a:pt x="103" y="59"/>
                    </a:lnTo>
                    <a:lnTo>
                      <a:pt x="101" y="63"/>
                    </a:lnTo>
                    <a:lnTo>
                      <a:pt x="90" y="79"/>
                    </a:lnTo>
                    <a:lnTo>
                      <a:pt x="99" y="73"/>
                    </a:lnTo>
                    <a:lnTo>
                      <a:pt x="94" y="74"/>
                    </a:lnTo>
                    <a:lnTo>
                      <a:pt x="91" y="77"/>
                    </a:lnTo>
                    <a:lnTo>
                      <a:pt x="99" y="85"/>
                    </a:lnTo>
                    <a:lnTo>
                      <a:pt x="103" y="74"/>
                    </a:lnTo>
                    <a:lnTo>
                      <a:pt x="94" y="72"/>
                    </a:lnTo>
                    <a:lnTo>
                      <a:pt x="90" y="71"/>
                    </a:lnTo>
                    <a:lnTo>
                      <a:pt x="80" y="69"/>
                    </a:lnTo>
                    <a:lnTo>
                      <a:pt x="80" y="81"/>
                    </a:lnTo>
                    <a:lnTo>
                      <a:pt x="84" y="70"/>
                    </a:lnTo>
                    <a:lnTo>
                      <a:pt x="75" y="67"/>
                    </a:lnTo>
                    <a:lnTo>
                      <a:pt x="71" y="78"/>
                    </a:lnTo>
                    <a:lnTo>
                      <a:pt x="79" y="70"/>
                    </a:lnTo>
                    <a:lnTo>
                      <a:pt x="72" y="65"/>
                    </a:lnTo>
                    <a:lnTo>
                      <a:pt x="69" y="61"/>
                    </a:lnTo>
                    <a:lnTo>
                      <a:pt x="60" y="69"/>
                    </a:lnTo>
                    <a:lnTo>
                      <a:pt x="71" y="65"/>
                    </a:lnTo>
                    <a:lnTo>
                      <a:pt x="70" y="60"/>
                    </a:lnTo>
                    <a:lnTo>
                      <a:pt x="59" y="65"/>
                    </a:lnTo>
                    <a:lnTo>
                      <a:pt x="71" y="65"/>
                    </a:lnTo>
                    <a:lnTo>
                      <a:pt x="69" y="55"/>
                    </a:lnTo>
                    <a:lnTo>
                      <a:pt x="68" y="45"/>
                    </a:lnTo>
                    <a:lnTo>
                      <a:pt x="67" y="40"/>
                    </a:lnTo>
                    <a:lnTo>
                      <a:pt x="65" y="36"/>
                    </a:lnTo>
                    <a:lnTo>
                      <a:pt x="63" y="32"/>
                    </a:lnTo>
                    <a:lnTo>
                      <a:pt x="59" y="28"/>
                    </a:lnTo>
                    <a:lnTo>
                      <a:pt x="58" y="28"/>
                    </a:lnTo>
                    <a:lnTo>
                      <a:pt x="54" y="25"/>
                    </a:lnTo>
                    <a:lnTo>
                      <a:pt x="50" y="23"/>
                    </a:lnTo>
                    <a:lnTo>
                      <a:pt x="45" y="21"/>
                    </a:lnTo>
                    <a:lnTo>
                      <a:pt x="33" y="18"/>
                    </a:lnTo>
                    <a:lnTo>
                      <a:pt x="28" y="17"/>
                    </a:lnTo>
                    <a:lnTo>
                      <a:pt x="15" y="15"/>
                    </a:lnTo>
                    <a:lnTo>
                      <a:pt x="15" y="27"/>
                    </a:lnTo>
                    <a:lnTo>
                      <a:pt x="20" y="16"/>
                    </a:lnTo>
                    <a:lnTo>
                      <a:pt x="6" y="1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113" name="Line 210"/>
            <p:cNvSpPr>
              <a:spLocks noChangeShapeType="1"/>
            </p:cNvSpPr>
            <p:nvPr/>
          </p:nvSpPr>
          <p:spPr bwMode="ltGray">
            <a:xfrm>
              <a:off x="3696" y="720"/>
              <a:ext cx="816" cy="0"/>
            </a:xfrm>
            <a:prstGeom prst="line">
              <a:avLst/>
            </a:prstGeom>
            <a:noFill/>
            <a:ln w="9525">
              <a:solidFill>
                <a:srgbClr val="CC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4" name="Group 211"/>
            <p:cNvGrpSpPr/>
            <p:nvPr/>
          </p:nvGrpSpPr>
          <p:grpSpPr bwMode="auto">
            <a:xfrm rot="10717198">
              <a:off x="4416" y="864"/>
              <a:ext cx="492" cy="107"/>
              <a:chOff x="1440" y="906"/>
              <a:chExt cx="492" cy="107"/>
            </a:xfrm>
          </p:grpSpPr>
          <p:grpSp>
            <p:nvGrpSpPr>
              <p:cNvPr id="128" name="Group 212"/>
              <p:cNvGrpSpPr/>
              <p:nvPr/>
            </p:nvGrpSpPr>
            <p:grpSpPr bwMode="auto">
              <a:xfrm>
                <a:off x="1776" y="906"/>
                <a:ext cx="156" cy="107"/>
                <a:chOff x="1853" y="906"/>
                <a:chExt cx="156" cy="107"/>
              </a:xfrm>
            </p:grpSpPr>
            <p:sp>
              <p:nvSpPr>
                <p:cNvPr id="130" name="Rectangle 213"/>
                <p:cNvSpPr>
                  <a:spLocks noChangeArrowheads="1"/>
                </p:cNvSpPr>
                <p:nvPr/>
              </p:nvSpPr>
              <p:spPr bwMode="auto">
                <a:xfrm>
                  <a:off x="1853" y="947"/>
                  <a:ext cx="51" cy="2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31" name="Freeform 214"/>
                <p:cNvSpPr/>
                <p:nvPr/>
              </p:nvSpPr>
              <p:spPr bwMode="auto">
                <a:xfrm>
                  <a:off x="1902" y="906"/>
                  <a:ext cx="107" cy="107"/>
                </a:xfrm>
                <a:custGeom>
                  <a:avLst/>
                  <a:gdLst>
                    <a:gd name="T0" fmla="*/ 0 w 107"/>
                    <a:gd name="T1" fmla="*/ 107 h 107"/>
                    <a:gd name="T2" fmla="*/ 107 w 107"/>
                    <a:gd name="T3" fmla="*/ 54 h 107"/>
                    <a:gd name="T4" fmla="*/ 0 w 107"/>
                    <a:gd name="T5" fmla="*/ 0 h 107"/>
                    <a:gd name="T6" fmla="*/ 0 w 107"/>
                    <a:gd name="T7" fmla="*/ 107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0" y="107"/>
                      </a:moveTo>
                      <a:lnTo>
                        <a:pt x="107" y="54"/>
                      </a:lnTo>
                      <a:lnTo>
                        <a:pt x="0" y="0"/>
                      </a:lnTo>
                      <a:lnTo>
                        <a:pt x="0" y="10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129" name="Freeform 215"/>
              <p:cNvSpPr/>
              <p:nvPr/>
            </p:nvSpPr>
            <p:spPr bwMode="auto">
              <a:xfrm>
                <a:off x="1440" y="912"/>
                <a:ext cx="351" cy="97"/>
              </a:xfrm>
              <a:custGeom>
                <a:avLst/>
                <a:gdLst>
                  <a:gd name="T0" fmla="*/ 15 w 351"/>
                  <a:gd name="T1" fmla="*/ 39 h 97"/>
                  <a:gd name="T2" fmla="*/ 36 w 351"/>
                  <a:gd name="T3" fmla="*/ 43 h 97"/>
                  <a:gd name="T4" fmla="*/ 44 w 351"/>
                  <a:gd name="T5" fmla="*/ 47 h 97"/>
                  <a:gd name="T6" fmla="*/ 54 w 351"/>
                  <a:gd name="T7" fmla="*/ 41 h 97"/>
                  <a:gd name="T8" fmla="*/ 44 w 351"/>
                  <a:gd name="T9" fmla="*/ 45 h 97"/>
                  <a:gd name="T10" fmla="*/ 49 w 351"/>
                  <a:gd name="T11" fmla="*/ 74 h 97"/>
                  <a:gd name="T12" fmla="*/ 66 w 351"/>
                  <a:gd name="T13" fmla="*/ 89 h 97"/>
                  <a:gd name="T14" fmla="*/ 90 w 351"/>
                  <a:gd name="T15" fmla="*/ 83 h 97"/>
                  <a:gd name="T16" fmla="*/ 104 w 351"/>
                  <a:gd name="T17" fmla="*/ 96 h 97"/>
                  <a:gd name="T18" fmla="*/ 112 w 351"/>
                  <a:gd name="T19" fmla="*/ 67 h 97"/>
                  <a:gd name="T20" fmla="*/ 134 w 351"/>
                  <a:gd name="T21" fmla="*/ 54 h 97"/>
                  <a:gd name="T22" fmla="*/ 137 w 351"/>
                  <a:gd name="T23" fmla="*/ 44 h 97"/>
                  <a:gd name="T24" fmla="*/ 138 w 351"/>
                  <a:gd name="T25" fmla="*/ 33 h 97"/>
                  <a:gd name="T26" fmla="*/ 140 w 351"/>
                  <a:gd name="T27" fmla="*/ 24 h 97"/>
                  <a:gd name="T28" fmla="*/ 135 w 351"/>
                  <a:gd name="T29" fmla="*/ 13 h 97"/>
                  <a:gd name="T30" fmla="*/ 142 w 351"/>
                  <a:gd name="T31" fmla="*/ 24 h 97"/>
                  <a:gd name="T32" fmla="*/ 153 w 351"/>
                  <a:gd name="T33" fmla="*/ 24 h 97"/>
                  <a:gd name="T34" fmla="*/ 195 w 351"/>
                  <a:gd name="T35" fmla="*/ 25 h 97"/>
                  <a:gd name="T36" fmla="*/ 188 w 351"/>
                  <a:gd name="T37" fmla="*/ 36 h 97"/>
                  <a:gd name="T38" fmla="*/ 208 w 351"/>
                  <a:gd name="T39" fmla="*/ 67 h 97"/>
                  <a:gd name="T40" fmla="*/ 234 w 351"/>
                  <a:gd name="T41" fmla="*/ 85 h 97"/>
                  <a:gd name="T42" fmla="*/ 254 w 351"/>
                  <a:gd name="T43" fmla="*/ 86 h 97"/>
                  <a:gd name="T44" fmla="*/ 271 w 351"/>
                  <a:gd name="T45" fmla="*/ 75 h 97"/>
                  <a:gd name="T46" fmla="*/ 286 w 351"/>
                  <a:gd name="T47" fmla="*/ 45 h 97"/>
                  <a:gd name="T48" fmla="*/ 295 w 351"/>
                  <a:gd name="T49" fmla="*/ 40 h 97"/>
                  <a:gd name="T50" fmla="*/ 309 w 351"/>
                  <a:gd name="T51" fmla="*/ 37 h 97"/>
                  <a:gd name="T52" fmla="*/ 333 w 351"/>
                  <a:gd name="T53" fmla="*/ 37 h 97"/>
                  <a:gd name="T54" fmla="*/ 314 w 351"/>
                  <a:gd name="T55" fmla="*/ 13 h 97"/>
                  <a:gd name="T56" fmla="*/ 282 w 351"/>
                  <a:gd name="T57" fmla="*/ 21 h 97"/>
                  <a:gd name="T58" fmla="*/ 264 w 351"/>
                  <a:gd name="T59" fmla="*/ 36 h 97"/>
                  <a:gd name="T60" fmla="*/ 263 w 351"/>
                  <a:gd name="T61" fmla="*/ 67 h 97"/>
                  <a:gd name="T62" fmla="*/ 255 w 351"/>
                  <a:gd name="T63" fmla="*/ 59 h 97"/>
                  <a:gd name="T64" fmla="*/ 249 w 351"/>
                  <a:gd name="T65" fmla="*/ 63 h 97"/>
                  <a:gd name="T66" fmla="*/ 243 w 351"/>
                  <a:gd name="T67" fmla="*/ 63 h 97"/>
                  <a:gd name="T68" fmla="*/ 233 w 351"/>
                  <a:gd name="T69" fmla="*/ 58 h 97"/>
                  <a:gd name="T70" fmla="*/ 221 w 351"/>
                  <a:gd name="T71" fmla="*/ 45 h 97"/>
                  <a:gd name="T72" fmla="*/ 203 w 351"/>
                  <a:gd name="T73" fmla="*/ 17 h 97"/>
                  <a:gd name="T74" fmla="*/ 169 w 351"/>
                  <a:gd name="T75" fmla="*/ 4 h 97"/>
                  <a:gd name="T76" fmla="*/ 142 w 351"/>
                  <a:gd name="T77" fmla="*/ 0 h 97"/>
                  <a:gd name="T78" fmla="*/ 127 w 351"/>
                  <a:gd name="T79" fmla="*/ 4 h 97"/>
                  <a:gd name="T80" fmla="*/ 116 w 351"/>
                  <a:gd name="T81" fmla="*/ 24 h 97"/>
                  <a:gd name="T82" fmla="*/ 113 w 351"/>
                  <a:gd name="T83" fmla="*/ 44 h 97"/>
                  <a:gd name="T84" fmla="*/ 113 w 351"/>
                  <a:gd name="T85" fmla="*/ 44 h 97"/>
                  <a:gd name="T86" fmla="*/ 103 w 351"/>
                  <a:gd name="T87" fmla="*/ 59 h 97"/>
                  <a:gd name="T88" fmla="*/ 94 w 351"/>
                  <a:gd name="T89" fmla="*/ 74 h 97"/>
                  <a:gd name="T90" fmla="*/ 94 w 351"/>
                  <a:gd name="T91" fmla="*/ 72 h 97"/>
                  <a:gd name="T92" fmla="*/ 84 w 351"/>
                  <a:gd name="T93" fmla="*/ 70 h 97"/>
                  <a:gd name="T94" fmla="*/ 72 w 351"/>
                  <a:gd name="T95" fmla="*/ 65 h 97"/>
                  <a:gd name="T96" fmla="*/ 70 w 351"/>
                  <a:gd name="T97" fmla="*/ 60 h 97"/>
                  <a:gd name="T98" fmla="*/ 68 w 351"/>
                  <a:gd name="T99" fmla="*/ 45 h 97"/>
                  <a:gd name="T100" fmla="*/ 59 w 351"/>
                  <a:gd name="T101" fmla="*/ 28 h 97"/>
                  <a:gd name="T102" fmla="*/ 45 w 351"/>
                  <a:gd name="T103" fmla="*/ 21 h 97"/>
                  <a:gd name="T104" fmla="*/ 15 w 351"/>
                  <a:gd name="T105" fmla="*/ 27 h 9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51"/>
                  <a:gd name="T160" fmla="*/ 0 h 97"/>
                  <a:gd name="T161" fmla="*/ 351 w 351"/>
                  <a:gd name="T162" fmla="*/ 97 h 97"/>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51" h="97">
                    <a:moveTo>
                      <a:pt x="6" y="14"/>
                    </a:moveTo>
                    <a:lnTo>
                      <a:pt x="0" y="37"/>
                    </a:lnTo>
                    <a:lnTo>
                      <a:pt x="11" y="38"/>
                    </a:lnTo>
                    <a:lnTo>
                      <a:pt x="15" y="39"/>
                    </a:lnTo>
                    <a:lnTo>
                      <a:pt x="28" y="41"/>
                    </a:lnTo>
                    <a:lnTo>
                      <a:pt x="28" y="29"/>
                    </a:lnTo>
                    <a:lnTo>
                      <a:pt x="24" y="40"/>
                    </a:lnTo>
                    <a:lnTo>
                      <a:pt x="36" y="43"/>
                    </a:lnTo>
                    <a:lnTo>
                      <a:pt x="41" y="45"/>
                    </a:lnTo>
                    <a:lnTo>
                      <a:pt x="46" y="34"/>
                    </a:lnTo>
                    <a:lnTo>
                      <a:pt x="37" y="42"/>
                    </a:lnTo>
                    <a:lnTo>
                      <a:pt x="44" y="47"/>
                    </a:lnTo>
                    <a:lnTo>
                      <a:pt x="51" y="37"/>
                    </a:lnTo>
                    <a:lnTo>
                      <a:pt x="44" y="46"/>
                    </a:lnTo>
                    <a:lnTo>
                      <a:pt x="46" y="49"/>
                    </a:lnTo>
                    <a:lnTo>
                      <a:pt x="54" y="41"/>
                    </a:lnTo>
                    <a:lnTo>
                      <a:pt x="43" y="45"/>
                    </a:lnTo>
                    <a:lnTo>
                      <a:pt x="45" y="49"/>
                    </a:lnTo>
                    <a:lnTo>
                      <a:pt x="56" y="45"/>
                    </a:lnTo>
                    <a:lnTo>
                      <a:pt x="44" y="45"/>
                    </a:lnTo>
                    <a:lnTo>
                      <a:pt x="45" y="55"/>
                    </a:lnTo>
                    <a:lnTo>
                      <a:pt x="47" y="65"/>
                    </a:lnTo>
                    <a:lnTo>
                      <a:pt x="48" y="69"/>
                    </a:lnTo>
                    <a:lnTo>
                      <a:pt x="49" y="74"/>
                    </a:lnTo>
                    <a:lnTo>
                      <a:pt x="52" y="78"/>
                    </a:lnTo>
                    <a:lnTo>
                      <a:pt x="55" y="82"/>
                    </a:lnTo>
                    <a:lnTo>
                      <a:pt x="62" y="87"/>
                    </a:lnTo>
                    <a:lnTo>
                      <a:pt x="66" y="89"/>
                    </a:lnTo>
                    <a:lnTo>
                      <a:pt x="75" y="92"/>
                    </a:lnTo>
                    <a:lnTo>
                      <a:pt x="80" y="93"/>
                    </a:lnTo>
                    <a:lnTo>
                      <a:pt x="90" y="95"/>
                    </a:lnTo>
                    <a:lnTo>
                      <a:pt x="90" y="83"/>
                    </a:lnTo>
                    <a:lnTo>
                      <a:pt x="85" y="94"/>
                    </a:lnTo>
                    <a:lnTo>
                      <a:pt x="95" y="96"/>
                    </a:lnTo>
                    <a:lnTo>
                      <a:pt x="99" y="97"/>
                    </a:lnTo>
                    <a:lnTo>
                      <a:pt x="104" y="96"/>
                    </a:lnTo>
                    <a:lnTo>
                      <a:pt x="107" y="93"/>
                    </a:lnTo>
                    <a:lnTo>
                      <a:pt x="109" y="92"/>
                    </a:lnTo>
                    <a:lnTo>
                      <a:pt x="123" y="72"/>
                    </a:lnTo>
                    <a:lnTo>
                      <a:pt x="112" y="67"/>
                    </a:lnTo>
                    <a:lnTo>
                      <a:pt x="120" y="76"/>
                    </a:lnTo>
                    <a:lnTo>
                      <a:pt x="126" y="67"/>
                    </a:lnTo>
                    <a:lnTo>
                      <a:pt x="129" y="63"/>
                    </a:lnTo>
                    <a:lnTo>
                      <a:pt x="134" y="54"/>
                    </a:lnTo>
                    <a:lnTo>
                      <a:pt x="123" y="49"/>
                    </a:lnTo>
                    <a:lnTo>
                      <a:pt x="134" y="55"/>
                    </a:lnTo>
                    <a:lnTo>
                      <a:pt x="136" y="49"/>
                    </a:lnTo>
                    <a:lnTo>
                      <a:pt x="137" y="44"/>
                    </a:lnTo>
                    <a:lnTo>
                      <a:pt x="138" y="39"/>
                    </a:lnTo>
                    <a:lnTo>
                      <a:pt x="139" y="28"/>
                    </a:lnTo>
                    <a:lnTo>
                      <a:pt x="127" y="28"/>
                    </a:lnTo>
                    <a:lnTo>
                      <a:pt x="138" y="33"/>
                    </a:lnTo>
                    <a:lnTo>
                      <a:pt x="140" y="23"/>
                    </a:lnTo>
                    <a:lnTo>
                      <a:pt x="129" y="19"/>
                    </a:lnTo>
                    <a:lnTo>
                      <a:pt x="137" y="27"/>
                    </a:lnTo>
                    <a:lnTo>
                      <a:pt x="140" y="24"/>
                    </a:lnTo>
                    <a:lnTo>
                      <a:pt x="131" y="15"/>
                    </a:lnTo>
                    <a:lnTo>
                      <a:pt x="136" y="26"/>
                    </a:lnTo>
                    <a:lnTo>
                      <a:pt x="139" y="24"/>
                    </a:lnTo>
                    <a:lnTo>
                      <a:pt x="135" y="13"/>
                    </a:lnTo>
                    <a:lnTo>
                      <a:pt x="139" y="25"/>
                    </a:lnTo>
                    <a:lnTo>
                      <a:pt x="147" y="23"/>
                    </a:lnTo>
                    <a:lnTo>
                      <a:pt x="142" y="12"/>
                    </a:lnTo>
                    <a:lnTo>
                      <a:pt x="142" y="24"/>
                    </a:lnTo>
                    <a:lnTo>
                      <a:pt x="150" y="24"/>
                    </a:lnTo>
                    <a:lnTo>
                      <a:pt x="157" y="25"/>
                    </a:lnTo>
                    <a:lnTo>
                      <a:pt x="157" y="13"/>
                    </a:lnTo>
                    <a:lnTo>
                      <a:pt x="153" y="24"/>
                    </a:lnTo>
                    <a:lnTo>
                      <a:pt x="160" y="26"/>
                    </a:lnTo>
                    <a:lnTo>
                      <a:pt x="175" y="32"/>
                    </a:lnTo>
                    <a:lnTo>
                      <a:pt x="193" y="37"/>
                    </a:lnTo>
                    <a:lnTo>
                      <a:pt x="195" y="25"/>
                    </a:lnTo>
                    <a:lnTo>
                      <a:pt x="187" y="33"/>
                    </a:lnTo>
                    <a:lnTo>
                      <a:pt x="190" y="36"/>
                    </a:lnTo>
                    <a:lnTo>
                      <a:pt x="185" y="32"/>
                    </a:lnTo>
                    <a:lnTo>
                      <a:pt x="188" y="36"/>
                    </a:lnTo>
                    <a:lnTo>
                      <a:pt x="193" y="45"/>
                    </a:lnTo>
                    <a:lnTo>
                      <a:pt x="199" y="54"/>
                    </a:lnTo>
                    <a:lnTo>
                      <a:pt x="201" y="58"/>
                    </a:lnTo>
                    <a:lnTo>
                      <a:pt x="208" y="67"/>
                    </a:lnTo>
                    <a:lnTo>
                      <a:pt x="216" y="75"/>
                    </a:lnTo>
                    <a:lnTo>
                      <a:pt x="220" y="78"/>
                    </a:lnTo>
                    <a:lnTo>
                      <a:pt x="229" y="84"/>
                    </a:lnTo>
                    <a:lnTo>
                      <a:pt x="234" y="85"/>
                    </a:lnTo>
                    <a:lnTo>
                      <a:pt x="239" y="86"/>
                    </a:lnTo>
                    <a:lnTo>
                      <a:pt x="244" y="87"/>
                    </a:lnTo>
                    <a:lnTo>
                      <a:pt x="249" y="87"/>
                    </a:lnTo>
                    <a:lnTo>
                      <a:pt x="254" y="86"/>
                    </a:lnTo>
                    <a:lnTo>
                      <a:pt x="260" y="84"/>
                    </a:lnTo>
                    <a:lnTo>
                      <a:pt x="264" y="81"/>
                    </a:lnTo>
                    <a:lnTo>
                      <a:pt x="268" y="79"/>
                    </a:lnTo>
                    <a:lnTo>
                      <a:pt x="271" y="75"/>
                    </a:lnTo>
                    <a:lnTo>
                      <a:pt x="274" y="71"/>
                    </a:lnTo>
                    <a:lnTo>
                      <a:pt x="279" y="61"/>
                    </a:lnTo>
                    <a:lnTo>
                      <a:pt x="283" y="50"/>
                    </a:lnTo>
                    <a:lnTo>
                      <a:pt x="286" y="45"/>
                    </a:lnTo>
                    <a:lnTo>
                      <a:pt x="275" y="41"/>
                    </a:lnTo>
                    <a:lnTo>
                      <a:pt x="284" y="49"/>
                    </a:lnTo>
                    <a:lnTo>
                      <a:pt x="287" y="46"/>
                    </a:lnTo>
                    <a:lnTo>
                      <a:pt x="295" y="40"/>
                    </a:lnTo>
                    <a:lnTo>
                      <a:pt x="287" y="32"/>
                    </a:lnTo>
                    <a:lnTo>
                      <a:pt x="291" y="43"/>
                    </a:lnTo>
                    <a:lnTo>
                      <a:pt x="300" y="39"/>
                    </a:lnTo>
                    <a:lnTo>
                      <a:pt x="309" y="37"/>
                    </a:lnTo>
                    <a:lnTo>
                      <a:pt x="305" y="26"/>
                    </a:lnTo>
                    <a:lnTo>
                      <a:pt x="305" y="38"/>
                    </a:lnTo>
                    <a:lnTo>
                      <a:pt x="314" y="37"/>
                    </a:lnTo>
                    <a:lnTo>
                      <a:pt x="333" y="37"/>
                    </a:lnTo>
                    <a:lnTo>
                      <a:pt x="351" y="37"/>
                    </a:lnTo>
                    <a:lnTo>
                      <a:pt x="351" y="13"/>
                    </a:lnTo>
                    <a:lnTo>
                      <a:pt x="333" y="13"/>
                    </a:lnTo>
                    <a:lnTo>
                      <a:pt x="314" y="13"/>
                    </a:lnTo>
                    <a:lnTo>
                      <a:pt x="305" y="14"/>
                    </a:lnTo>
                    <a:lnTo>
                      <a:pt x="300" y="15"/>
                    </a:lnTo>
                    <a:lnTo>
                      <a:pt x="291" y="17"/>
                    </a:lnTo>
                    <a:lnTo>
                      <a:pt x="282" y="21"/>
                    </a:lnTo>
                    <a:lnTo>
                      <a:pt x="278" y="23"/>
                    </a:lnTo>
                    <a:lnTo>
                      <a:pt x="272" y="28"/>
                    </a:lnTo>
                    <a:lnTo>
                      <a:pt x="267" y="32"/>
                    </a:lnTo>
                    <a:lnTo>
                      <a:pt x="264" y="36"/>
                    </a:lnTo>
                    <a:lnTo>
                      <a:pt x="261" y="41"/>
                    </a:lnTo>
                    <a:lnTo>
                      <a:pt x="257" y="52"/>
                    </a:lnTo>
                    <a:lnTo>
                      <a:pt x="252" y="62"/>
                    </a:lnTo>
                    <a:lnTo>
                      <a:pt x="263" y="67"/>
                    </a:lnTo>
                    <a:lnTo>
                      <a:pt x="254" y="58"/>
                    </a:lnTo>
                    <a:lnTo>
                      <a:pt x="251" y="62"/>
                    </a:lnTo>
                    <a:lnTo>
                      <a:pt x="259" y="70"/>
                    </a:lnTo>
                    <a:lnTo>
                      <a:pt x="255" y="59"/>
                    </a:lnTo>
                    <a:lnTo>
                      <a:pt x="251" y="62"/>
                    </a:lnTo>
                    <a:lnTo>
                      <a:pt x="245" y="64"/>
                    </a:lnTo>
                    <a:lnTo>
                      <a:pt x="249" y="75"/>
                    </a:lnTo>
                    <a:lnTo>
                      <a:pt x="249" y="63"/>
                    </a:lnTo>
                    <a:lnTo>
                      <a:pt x="244" y="63"/>
                    </a:lnTo>
                    <a:lnTo>
                      <a:pt x="239" y="62"/>
                    </a:lnTo>
                    <a:lnTo>
                      <a:pt x="239" y="74"/>
                    </a:lnTo>
                    <a:lnTo>
                      <a:pt x="243" y="63"/>
                    </a:lnTo>
                    <a:lnTo>
                      <a:pt x="238" y="62"/>
                    </a:lnTo>
                    <a:lnTo>
                      <a:pt x="229" y="56"/>
                    </a:lnTo>
                    <a:lnTo>
                      <a:pt x="225" y="67"/>
                    </a:lnTo>
                    <a:lnTo>
                      <a:pt x="233" y="58"/>
                    </a:lnTo>
                    <a:lnTo>
                      <a:pt x="225" y="50"/>
                    </a:lnTo>
                    <a:lnTo>
                      <a:pt x="218" y="41"/>
                    </a:lnTo>
                    <a:lnTo>
                      <a:pt x="210" y="50"/>
                    </a:lnTo>
                    <a:lnTo>
                      <a:pt x="221" y="45"/>
                    </a:lnTo>
                    <a:lnTo>
                      <a:pt x="215" y="36"/>
                    </a:lnTo>
                    <a:lnTo>
                      <a:pt x="210" y="27"/>
                    </a:lnTo>
                    <a:lnTo>
                      <a:pt x="205" y="19"/>
                    </a:lnTo>
                    <a:lnTo>
                      <a:pt x="203" y="17"/>
                    </a:lnTo>
                    <a:lnTo>
                      <a:pt x="200" y="14"/>
                    </a:lnTo>
                    <a:lnTo>
                      <a:pt x="198" y="14"/>
                    </a:lnTo>
                    <a:lnTo>
                      <a:pt x="184" y="10"/>
                    </a:lnTo>
                    <a:lnTo>
                      <a:pt x="169" y="4"/>
                    </a:lnTo>
                    <a:lnTo>
                      <a:pt x="162" y="2"/>
                    </a:lnTo>
                    <a:lnTo>
                      <a:pt x="157" y="1"/>
                    </a:lnTo>
                    <a:lnTo>
                      <a:pt x="150" y="0"/>
                    </a:lnTo>
                    <a:lnTo>
                      <a:pt x="142" y="0"/>
                    </a:lnTo>
                    <a:lnTo>
                      <a:pt x="138" y="1"/>
                    </a:lnTo>
                    <a:lnTo>
                      <a:pt x="132" y="2"/>
                    </a:lnTo>
                    <a:lnTo>
                      <a:pt x="131" y="2"/>
                    </a:lnTo>
                    <a:lnTo>
                      <a:pt x="127" y="4"/>
                    </a:lnTo>
                    <a:lnTo>
                      <a:pt x="123" y="7"/>
                    </a:lnTo>
                    <a:lnTo>
                      <a:pt x="120" y="10"/>
                    </a:lnTo>
                    <a:lnTo>
                      <a:pt x="118" y="14"/>
                    </a:lnTo>
                    <a:lnTo>
                      <a:pt x="116" y="24"/>
                    </a:lnTo>
                    <a:lnTo>
                      <a:pt x="115" y="28"/>
                    </a:lnTo>
                    <a:lnTo>
                      <a:pt x="114" y="39"/>
                    </a:lnTo>
                    <a:lnTo>
                      <a:pt x="113" y="44"/>
                    </a:lnTo>
                    <a:lnTo>
                      <a:pt x="125" y="44"/>
                    </a:lnTo>
                    <a:lnTo>
                      <a:pt x="114" y="40"/>
                    </a:lnTo>
                    <a:lnTo>
                      <a:pt x="113" y="44"/>
                    </a:lnTo>
                    <a:lnTo>
                      <a:pt x="107" y="54"/>
                    </a:lnTo>
                    <a:lnTo>
                      <a:pt x="118" y="58"/>
                    </a:lnTo>
                    <a:lnTo>
                      <a:pt x="109" y="50"/>
                    </a:lnTo>
                    <a:lnTo>
                      <a:pt x="103" y="59"/>
                    </a:lnTo>
                    <a:lnTo>
                      <a:pt x="101" y="63"/>
                    </a:lnTo>
                    <a:lnTo>
                      <a:pt x="90" y="79"/>
                    </a:lnTo>
                    <a:lnTo>
                      <a:pt x="99" y="73"/>
                    </a:lnTo>
                    <a:lnTo>
                      <a:pt x="94" y="74"/>
                    </a:lnTo>
                    <a:lnTo>
                      <a:pt x="91" y="77"/>
                    </a:lnTo>
                    <a:lnTo>
                      <a:pt x="99" y="85"/>
                    </a:lnTo>
                    <a:lnTo>
                      <a:pt x="103" y="74"/>
                    </a:lnTo>
                    <a:lnTo>
                      <a:pt x="94" y="72"/>
                    </a:lnTo>
                    <a:lnTo>
                      <a:pt x="90" y="71"/>
                    </a:lnTo>
                    <a:lnTo>
                      <a:pt x="80" y="69"/>
                    </a:lnTo>
                    <a:lnTo>
                      <a:pt x="80" y="81"/>
                    </a:lnTo>
                    <a:lnTo>
                      <a:pt x="84" y="70"/>
                    </a:lnTo>
                    <a:lnTo>
                      <a:pt x="75" y="67"/>
                    </a:lnTo>
                    <a:lnTo>
                      <a:pt x="71" y="78"/>
                    </a:lnTo>
                    <a:lnTo>
                      <a:pt x="79" y="70"/>
                    </a:lnTo>
                    <a:lnTo>
                      <a:pt x="72" y="65"/>
                    </a:lnTo>
                    <a:lnTo>
                      <a:pt x="69" y="61"/>
                    </a:lnTo>
                    <a:lnTo>
                      <a:pt x="60" y="69"/>
                    </a:lnTo>
                    <a:lnTo>
                      <a:pt x="71" y="65"/>
                    </a:lnTo>
                    <a:lnTo>
                      <a:pt x="70" y="60"/>
                    </a:lnTo>
                    <a:lnTo>
                      <a:pt x="59" y="65"/>
                    </a:lnTo>
                    <a:lnTo>
                      <a:pt x="71" y="65"/>
                    </a:lnTo>
                    <a:lnTo>
                      <a:pt x="69" y="55"/>
                    </a:lnTo>
                    <a:lnTo>
                      <a:pt x="68" y="45"/>
                    </a:lnTo>
                    <a:lnTo>
                      <a:pt x="67" y="40"/>
                    </a:lnTo>
                    <a:lnTo>
                      <a:pt x="65" y="36"/>
                    </a:lnTo>
                    <a:lnTo>
                      <a:pt x="63" y="32"/>
                    </a:lnTo>
                    <a:lnTo>
                      <a:pt x="59" y="28"/>
                    </a:lnTo>
                    <a:lnTo>
                      <a:pt x="58" y="28"/>
                    </a:lnTo>
                    <a:lnTo>
                      <a:pt x="54" y="25"/>
                    </a:lnTo>
                    <a:lnTo>
                      <a:pt x="50" y="23"/>
                    </a:lnTo>
                    <a:lnTo>
                      <a:pt x="45" y="21"/>
                    </a:lnTo>
                    <a:lnTo>
                      <a:pt x="33" y="18"/>
                    </a:lnTo>
                    <a:lnTo>
                      <a:pt x="28" y="17"/>
                    </a:lnTo>
                    <a:lnTo>
                      <a:pt x="15" y="15"/>
                    </a:lnTo>
                    <a:lnTo>
                      <a:pt x="15" y="27"/>
                    </a:lnTo>
                    <a:lnTo>
                      <a:pt x="20" y="16"/>
                    </a:lnTo>
                    <a:lnTo>
                      <a:pt x="6" y="1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115" name="Group 216"/>
            <p:cNvGrpSpPr/>
            <p:nvPr/>
          </p:nvGrpSpPr>
          <p:grpSpPr bwMode="auto">
            <a:xfrm>
              <a:off x="4608" y="405"/>
              <a:ext cx="107" cy="459"/>
              <a:chOff x="1755" y="459"/>
              <a:chExt cx="107" cy="459"/>
            </a:xfrm>
          </p:grpSpPr>
          <p:sp>
            <p:nvSpPr>
              <p:cNvPr id="126" name="Rectangle 217"/>
              <p:cNvSpPr>
                <a:spLocks noChangeArrowheads="1"/>
              </p:cNvSpPr>
              <p:nvPr/>
            </p:nvSpPr>
            <p:spPr bwMode="auto">
              <a:xfrm>
                <a:off x="1797" y="459"/>
                <a:ext cx="24" cy="354"/>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27" name="Freeform 218"/>
              <p:cNvSpPr/>
              <p:nvPr/>
            </p:nvSpPr>
            <p:spPr bwMode="auto">
              <a:xfrm>
                <a:off x="1755" y="811"/>
                <a:ext cx="107" cy="107"/>
              </a:xfrm>
              <a:custGeom>
                <a:avLst/>
                <a:gdLst>
                  <a:gd name="T0" fmla="*/ 0 w 107"/>
                  <a:gd name="T1" fmla="*/ 0 h 107"/>
                  <a:gd name="T2" fmla="*/ 54 w 107"/>
                  <a:gd name="T3" fmla="*/ 107 h 107"/>
                  <a:gd name="T4" fmla="*/ 107 w 107"/>
                  <a:gd name="T5" fmla="*/ 0 h 107"/>
                  <a:gd name="T6" fmla="*/ 0 w 107"/>
                  <a:gd name="T7" fmla="*/ 0 h 107"/>
                  <a:gd name="T8" fmla="*/ 0 60000 65536"/>
                  <a:gd name="T9" fmla="*/ 0 60000 65536"/>
                  <a:gd name="T10" fmla="*/ 0 60000 65536"/>
                  <a:gd name="T11" fmla="*/ 0 60000 65536"/>
                  <a:gd name="T12" fmla="*/ 0 w 107"/>
                  <a:gd name="T13" fmla="*/ 0 h 107"/>
                  <a:gd name="T14" fmla="*/ 107 w 107"/>
                  <a:gd name="T15" fmla="*/ 107 h 107"/>
                </a:gdLst>
                <a:ahLst/>
                <a:cxnLst>
                  <a:cxn ang="T8">
                    <a:pos x="T0" y="T1"/>
                  </a:cxn>
                  <a:cxn ang="T9">
                    <a:pos x="T2" y="T3"/>
                  </a:cxn>
                  <a:cxn ang="T10">
                    <a:pos x="T4" y="T5"/>
                  </a:cxn>
                  <a:cxn ang="T11">
                    <a:pos x="T6" y="T7"/>
                  </a:cxn>
                </a:cxnLst>
                <a:rect l="T12" t="T13" r="T14" b="T15"/>
                <a:pathLst>
                  <a:path w="107" h="107">
                    <a:moveTo>
                      <a:pt x="0" y="0"/>
                    </a:moveTo>
                    <a:lnTo>
                      <a:pt x="54" y="107"/>
                    </a:lnTo>
                    <a:lnTo>
                      <a:pt x="107" y="0"/>
                    </a:lnTo>
                    <a:lnTo>
                      <a:pt x="0" y="0"/>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116" name="Rectangle 219"/>
            <p:cNvSpPr>
              <a:spLocks noChangeArrowheads="1"/>
            </p:cNvSpPr>
            <p:nvPr/>
          </p:nvSpPr>
          <p:spPr bwMode="auto">
            <a:xfrm>
              <a:off x="4392" y="62"/>
              <a:ext cx="38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600" b="1" dirty="0">
                  <a:solidFill>
                    <a:srgbClr val="3333FF"/>
                  </a:solidFill>
                  <a:latin typeface="楷体_GB2312" pitchFamily="49" charset="-122"/>
                  <a:ea typeface="楷体_GB2312" pitchFamily="49" charset="-122"/>
                </a:rPr>
                <a:t>内转换</a:t>
              </a:r>
              <a:endParaRPr kumimoji="1" lang="zh-CN" altLang="en-US" sz="1600" b="1" dirty="0">
                <a:solidFill>
                  <a:srgbClr val="3333FF"/>
                </a:solidFill>
                <a:latin typeface="楷体_GB2312" pitchFamily="49" charset="-122"/>
                <a:ea typeface="楷体_GB2312" pitchFamily="49" charset="-122"/>
              </a:endParaRPr>
            </a:p>
          </p:txBody>
        </p:sp>
        <p:sp>
          <p:nvSpPr>
            <p:cNvPr id="117" name="Line 220"/>
            <p:cNvSpPr>
              <a:spLocks noChangeShapeType="1"/>
            </p:cNvSpPr>
            <p:nvPr/>
          </p:nvSpPr>
          <p:spPr bwMode="ltGray">
            <a:xfrm>
              <a:off x="4848" y="528"/>
              <a:ext cx="720" cy="0"/>
            </a:xfrm>
            <a:prstGeom prst="line">
              <a:avLst/>
            </a:prstGeom>
            <a:noFill/>
            <a:ln w="9525">
              <a:solidFill>
                <a:srgbClr val="3399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221"/>
            <p:cNvSpPr>
              <a:spLocks noChangeShapeType="1"/>
            </p:cNvSpPr>
            <p:nvPr/>
          </p:nvSpPr>
          <p:spPr bwMode="ltGray">
            <a:xfrm>
              <a:off x="4896" y="336"/>
              <a:ext cx="720" cy="0"/>
            </a:xfrm>
            <a:prstGeom prst="line">
              <a:avLst/>
            </a:prstGeom>
            <a:noFill/>
            <a:ln w="9525">
              <a:solidFill>
                <a:srgbClr val="3399FF"/>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9" name="Group 222"/>
            <p:cNvGrpSpPr/>
            <p:nvPr/>
          </p:nvGrpSpPr>
          <p:grpSpPr bwMode="auto">
            <a:xfrm>
              <a:off x="5232" y="528"/>
              <a:ext cx="119" cy="196"/>
              <a:chOff x="2626" y="463"/>
              <a:chExt cx="119" cy="196"/>
            </a:xfrm>
          </p:grpSpPr>
          <p:sp>
            <p:nvSpPr>
              <p:cNvPr id="124" name="Freeform 223"/>
              <p:cNvSpPr/>
              <p:nvPr/>
            </p:nvSpPr>
            <p:spPr bwMode="auto">
              <a:xfrm>
                <a:off x="2626" y="560"/>
                <a:ext cx="119" cy="99"/>
              </a:xfrm>
              <a:custGeom>
                <a:avLst/>
                <a:gdLst>
                  <a:gd name="T0" fmla="*/ 119 w 119"/>
                  <a:gd name="T1" fmla="*/ 0 h 99"/>
                  <a:gd name="T2" fmla="*/ 0 w 119"/>
                  <a:gd name="T3" fmla="*/ 10 h 99"/>
                  <a:gd name="T4" fmla="*/ 80 w 119"/>
                  <a:gd name="T5" fmla="*/ 99 h 99"/>
                  <a:gd name="T6" fmla="*/ 119 w 119"/>
                  <a:gd name="T7" fmla="*/ 0 h 99"/>
                  <a:gd name="T8" fmla="*/ 0 60000 65536"/>
                  <a:gd name="T9" fmla="*/ 0 60000 65536"/>
                  <a:gd name="T10" fmla="*/ 0 60000 65536"/>
                  <a:gd name="T11" fmla="*/ 0 60000 65536"/>
                  <a:gd name="T12" fmla="*/ 0 w 119"/>
                  <a:gd name="T13" fmla="*/ 0 h 99"/>
                  <a:gd name="T14" fmla="*/ 119 w 119"/>
                  <a:gd name="T15" fmla="*/ 99 h 99"/>
                </a:gdLst>
                <a:ahLst/>
                <a:cxnLst>
                  <a:cxn ang="T8">
                    <a:pos x="T0" y="T1"/>
                  </a:cxn>
                  <a:cxn ang="T9">
                    <a:pos x="T2" y="T3"/>
                  </a:cxn>
                  <a:cxn ang="T10">
                    <a:pos x="T4" y="T5"/>
                  </a:cxn>
                  <a:cxn ang="T11">
                    <a:pos x="T6" y="T7"/>
                  </a:cxn>
                </a:cxnLst>
                <a:rect l="T12" t="T13" r="T14" b="T15"/>
                <a:pathLst>
                  <a:path w="119" h="99">
                    <a:moveTo>
                      <a:pt x="119" y="0"/>
                    </a:moveTo>
                    <a:lnTo>
                      <a:pt x="0" y="10"/>
                    </a:lnTo>
                    <a:lnTo>
                      <a:pt x="80" y="99"/>
                    </a:lnTo>
                    <a:lnTo>
                      <a:pt x="119"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25" name="Freeform 224"/>
              <p:cNvSpPr/>
              <p:nvPr/>
            </p:nvSpPr>
            <p:spPr bwMode="auto">
              <a:xfrm>
                <a:off x="2630" y="463"/>
                <a:ext cx="71" cy="131"/>
              </a:xfrm>
              <a:custGeom>
                <a:avLst/>
                <a:gdLst>
                  <a:gd name="T0" fmla="*/ 53 w 71"/>
                  <a:gd name="T1" fmla="*/ 0 h 131"/>
                  <a:gd name="T2" fmla="*/ 38 w 71"/>
                  <a:gd name="T3" fmla="*/ 3 h 131"/>
                  <a:gd name="T4" fmla="*/ 27 w 71"/>
                  <a:gd name="T5" fmla="*/ 8 h 131"/>
                  <a:gd name="T6" fmla="*/ 14 w 71"/>
                  <a:gd name="T7" fmla="*/ 18 h 131"/>
                  <a:gd name="T8" fmla="*/ 6 w 71"/>
                  <a:gd name="T9" fmla="*/ 29 h 131"/>
                  <a:gd name="T10" fmla="*/ 1 w 71"/>
                  <a:gd name="T11" fmla="*/ 40 h 131"/>
                  <a:gd name="T12" fmla="*/ 1 w 71"/>
                  <a:gd name="T13" fmla="*/ 50 h 131"/>
                  <a:gd name="T14" fmla="*/ 3 w 71"/>
                  <a:gd name="T15" fmla="*/ 60 h 131"/>
                  <a:gd name="T16" fmla="*/ 8 w 71"/>
                  <a:gd name="T17" fmla="*/ 68 h 131"/>
                  <a:gd name="T18" fmla="*/ 21 w 71"/>
                  <a:gd name="T19" fmla="*/ 82 h 131"/>
                  <a:gd name="T20" fmla="*/ 41 w 71"/>
                  <a:gd name="T21" fmla="*/ 101 h 131"/>
                  <a:gd name="T22" fmla="*/ 54 w 71"/>
                  <a:gd name="T23" fmla="*/ 98 h 131"/>
                  <a:gd name="T24" fmla="*/ 46 w 71"/>
                  <a:gd name="T25" fmla="*/ 108 h 131"/>
                  <a:gd name="T26" fmla="*/ 59 w 71"/>
                  <a:gd name="T27" fmla="*/ 110 h 131"/>
                  <a:gd name="T28" fmla="*/ 47 w 71"/>
                  <a:gd name="T29" fmla="*/ 117 h 131"/>
                  <a:gd name="T30" fmla="*/ 45 w 71"/>
                  <a:gd name="T31" fmla="*/ 131 h 131"/>
                  <a:gd name="T32" fmla="*/ 70 w 71"/>
                  <a:gd name="T33" fmla="*/ 124 h 131"/>
                  <a:gd name="T34" fmla="*/ 71 w 71"/>
                  <a:gd name="T35" fmla="*/ 110 h 131"/>
                  <a:gd name="T36" fmla="*/ 68 w 71"/>
                  <a:gd name="T37" fmla="*/ 98 h 131"/>
                  <a:gd name="T38" fmla="*/ 62 w 71"/>
                  <a:gd name="T39" fmla="*/ 89 h 131"/>
                  <a:gd name="T40" fmla="*/ 49 w 71"/>
                  <a:gd name="T41" fmla="*/ 74 h 131"/>
                  <a:gd name="T42" fmla="*/ 29 w 71"/>
                  <a:gd name="T43" fmla="*/ 56 h 131"/>
                  <a:gd name="T44" fmla="*/ 17 w 71"/>
                  <a:gd name="T45" fmla="*/ 60 h 131"/>
                  <a:gd name="T46" fmla="*/ 25 w 71"/>
                  <a:gd name="T47" fmla="*/ 51 h 131"/>
                  <a:gd name="T48" fmla="*/ 13 w 71"/>
                  <a:gd name="T49" fmla="*/ 50 h 131"/>
                  <a:gd name="T50" fmla="*/ 24 w 71"/>
                  <a:gd name="T51" fmla="*/ 45 h 131"/>
                  <a:gd name="T52" fmla="*/ 23 w 71"/>
                  <a:gd name="T53" fmla="*/ 49 h 131"/>
                  <a:gd name="T54" fmla="*/ 28 w 71"/>
                  <a:gd name="T55" fmla="*/ 38 h 131"/>
                  <a:gd name="T56" fmla="*/ 26 w 71"/>
                  <a:gd name="T57" fmla="*/ 42 h 131"/>
                  <a:gd name="T58" fmla="*/ 38 w 71"/>
                  <a:gd name="T59" fmla="*/ 29 h 131"/>
                  <a:gd name="T60" fmla="*/ 36 w 71"/>
                  <a:gd name="T61" fmla="*/ 17 h 131"/>
                  <a:gd name="T62" fmla="*/ 47 w 71"/>
                  <a:gd name="T63" fmla="*/ 25 h 131"/>
                  <a:gd name="T64" fmla="*/ 61 w 71"/>
                  <a:gd name="T65" fmla="*/ 22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131"/>
                  <a:gd name="T101" fmla="*/ 71 w 71"/>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131">
                    <a:moveTo>
                      <a:pt x="61" y="22"/>
                    </a:moveTo>
                    <a:lnTo>
                      <a:pt x="53" y="0"/>
                    </a:lnTo>
                    <a:lnTo>
                      <a:pt x="46" y="2"/>
                    </a:lnTo>
                    <a:lnTo>
                      <a:pt x="38" y="3"/>
                    </a:lnTo>
                    <a:lnTo>
                      <a:pt x="31" y="6"/>
                    </a:lnTo>
                    <a:lnTo>
                      <a:pt x="27" y="8"/>
                    </a:lnTo>
                    <a:lnTo>
                      <a:pt x="23" y="11"/>
                    </a:lnTo>
                    <a:lnTo>
                      <a:pt x="14" y="18"/>
                    </a:lnTo>
                    <a:lnTo>
                      <a:pt x="9" y="25"/>
                    </a:lnTo>
                    <a:lnTo>
                      <a:pt x="6" y="29"/>
                    </a:lnTo>
                    <a:lnTo>
                      <a:pt x="3" y="35"/>
                    </a:lnTo>
                    <a:lnTo>
                      <a:pt x="1" y="40"/>
                    </a:lnTo>
                    <a:lnTo>
                      <a:pt x="0" y="45"/>
                    </a:lnTo>
                    <a:lnTo>
                      <a:pt x="1" y="50"/>
                    </a:lnTo>
                    <a:lnTo>
                      <a:pt x="2" y="55"/>
                    </a:lnTo>
                    <a:lnTo>
                      <a:pt x="3" y="60"/>
                    </a:lnTo>
                    <a:lnTo>
                      <a:pt x="6" y="64"/>
                    </a:lnTo>
                    <a:lnTo>
                      <a:pt x="8" y="68"/>
                    </a:lnTo>
                    <a:lnTo>
                      <a:pt x="12" y="73"/>
                    </a:lnTo>
                    <a:lnTo>
                      <a:pt x="21" y="82"/>
                    </a:lnTo>
                    <a:lnTo>
                      <a:pt x="32" y="91"/>
                    </a:lnTo>
                    <a:lnTo>
                      <a:pt x="41" y="101"/>
                    </a:lnTo>
                    <a:lnTo>
                      <a:pt x="45" y="106"/>
                    </a:lnTo>
                    <a:lnTo>
                      <a:pt x="54" y="98"/>
                    </a:lnTo>
                    <a:lnTo>
                      <a:pt x="43" y="102"/>
                    </a:lnTo>
                    <a:lnTo>
                      <a:pt x="46" y="108"/>
                    </a:lnTo>
                    <a:lnTo>
                      <a:pt x="48" y="114"/>
                    </a:lnTo>
                    <a:lnTo>
                      <a:pt x="59" y="110"/>
                    </a:lnTo>
                    <a:lnTo>
                      <a:pt x="47" y="110"/>
                    </a:lnTo>
                    <a:lnTo>
                      <a:pt x="47" y="117"/>
                    </a:lnTo>
                    <a:lnTo>
                      <a:pt x="46" y="124"/>
                    </a:lnTo>
                    <a:lnTo>
                      <a:pt x="45" y="131"/>
                    </a:lnTo>
                    <a:lnTo>
                      <a:pt x="69" y="131"/>
                    </a:lnTo>
                    <a:lnTo>
                      <a:pt x="70" y="124"/>
                    </a:lnTo>
                    <a:lnTo>
                      <a:pt x="71" y="117"/>
                    </a:lnTo>
                    <a:lnTo>
                      <a:pt x="71" y="110"/>
                    </a:lnTo>
                    <a:lnTo>
                      <a:pt x="70" y="105"/>
                    </a:lnTo>
                    <a:lnTo>
                      <a:pt x="68" y="98"/>
                    </a:lnTo>
                    <a:lnTo>
                      <a:pt x="65" y="93"/>
                    </a:lnTo>
                    <a:lnTo>
                      <a:pt x="62" y="89"/>
                    </a:lnTo>
                    <a:lnTo>
                      <a:pt x="58" y="84"/>
                    </a:lnTo>
                    <a:lnTo>
                      <a:pt x="49" y="74"/>
                    </a:lnTo>
                    <a:lnTo>
                      <a:pt x="38" y="65"/>
                    </a:lnTo>
                    <a:lnTo>
                      <a:pt x="29" y="56"/>
                    </a:lnTo>
                    <a:lnTo>
                      <a:pt x="25" y="51"/>
                    </a:lnTo>
                    <a:lnTo>
                      <a:pt x="17" y="60"/>
                    </a:lnTo>
                    <a:lnTo>
                      <a:pt x="28" y="55"/>
                    </a:lnTo>
                    <a:lnTo>
                      <a:pt x="25" y="51"/>
                    </a:lnTo>
                    <a:lnTo>
                      <a:pt x="24" y="46"/>
                    </a:lnTo>
                    <a:lnTo>
                      <a:pt x="13" y="50"/>
                    </a:lnTo>
                    <a:lnTo>
                      <a:pt x="25" y="50"/>
                    </a:lnTo>
                    <a:lnTo>
                      <a:pt x="24" y="45"/>
                    </a:lnTo>
                    <a:lnTo>
                      <a:pt x="12" y="45"/>
                    </a:lnTo>
                    <a:lnTo>
                      <a:pt x="23" y="49"/>
                    </a:lnTo>
                    <a:lnTo>
                      <a:pt x="25" y="44"/>
                    </a:lnTo>
                    <a:lnTo>
                      <a:pt x="28" y="38"/>
                    </a:lnTo>
                    <a:lnTo>
                      <a:pt x="17" y="33"/>
                    </a:lnTo>
                    <a:lnTo>
                      <a:pt x="26" y="42"/>
                    </a:lnTo>
                    <a:lnTo>
                      <a:pt x="31" y="35"/>
                    </a:lnTo>
                    <a:lnTo>
                      <a:pt x="38" y="29"/>
                    </a:lnTo>
                    <a:lnTo>
                      <a:pt x="44" y="25"/>
                    </a:lnTo>
                    <a:lnTo>
                      <a:pt x="36" y="17"/>
                    </a:lnTo>
                    <a:lnTo>
                      <a:pt x="40" y="28"/>
                    </a:lnTo>
                    <a:lnTo>
                      <a:pt x="47" y="25"/>
                    </a:lnTo>
                    <a:lnTo>
                      <a:pt x="55" y="24"/>
                    </a:lnTo>
                    <a:lnTo>
                      <a:pt x="61" y="2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grpSp>
          <p:nvGrpSpPr>
            <p:cNvPr id="120" name="Group 225"/>
            <p:cNvGrpSpPr/>
            <p:nvPr/>
          </p:nvGrpSpPr>
          <p:grpSpPr bwMode="auto">
            <a:xfrm>
              <a:off x="4704" y="2784"/>
              <a:ext cx="453" cy="381"/>
              <a:chOff x="3045" y="429"/>
              <a:chExt cx="453" cy="381"/>
            </a:xfrm>
          </p:grpSpPr>
          <p:sp>
            <p:nvSpPr>
              <p:cNvPr id="122" name="Freeform 226"/>
              <p:cNvSpPr/>
              <p:nvPr/>
            </p:nvSpPr>
            <p:spPr bwMode="auto">
              <a:xfrm>
                <a:off x="3118" y="429"/>
                <a:ext cx="380" cy="323"/>
              </a:xfrm>
              <a:custGeom>
                <a:avLst/>
                <a:gdLst>
                  <a:gd name="T0" fmla="*/ 380 w 380"/>
                  <a:gd name="T1" fmla="*/ 18 h 323"/>
                  <a:gd name="T2" fmla="*/ 365 w 380"/>
                  <a:gd name="T3" fmla="*/ 0 h 323"/>
                  <a:gd name="T4" fmla="*/ 0 w 380"/>
                  <a:gd name="T5" fmla="*/ 305 h 323"/>
                  <a:gd name="T6" fmla="*/ 15 w 380"/>
                  <a:gd name="T7" fmla="*/ 323 h 323"/>
                  <a:gd name="T8" fmla="*/ 380 w 380"/>
                  <a:gd name="T9" fmla="*/ 18 h 323"/>
                  <a:gd name="T10" fmla="*/ 0 60000 65536"/>
                  <a:gd name="T11" fmla="*/ 0 60000 65536"/>
                  <a:gd name="T12" fmla="*/ 0 60000 65536"/>
                  <a:gd name="T13" fmla="*/ 0 60000 65536"/>
                  <a:gd name="T14" fmla="*/ 0 60000 65536"/>
                  <a:gd name="T15" fmla="*/ 0 w 380"/>
                  <a:gd name="T16" fmla="*/ 0 h 323"/>
                  <a:gd name="T17" fmla="*/ 380 w 380"/>
                  <a:gd name="T18" fmla="*/ 323 h 323"/>
                </a:gdLst>
                <a:ahLst/>
                <a:cxnLst>
                  <a:cxn ang="T10">
                    <a:pos x="T0" y="T1"/>
                  </a:cxn>
                  <a:cxn ang="T11">
                    <a:pos x="T2" y="T3"/>
                  </a:cxn>
                  <a:cxn ang="T12">
                    <a:pos x="T4" y="T5"/>
                  </a:cxn>
                  <a:cxn ang="T13">
                    <a:pos x="T6" y="T7"/>
                  </a:cxn>
                  <a:cxn ang="T14">
                    <a:pos x="T8" y="T9"/>
                  </a:cxn>
                </a:cxnLst>
                <a:rect l="T15" t="T16" r="T17" b="T18"/>
                <a:pathLst>
                  <a:path w="380" h="323">
                    <a:moveTo>
                      <a:pt x="380" y="18"/>
                    </a:moveTo>
                    <a:lnTo>
                      <a:pt x="365" y="0"/>
                    </a:lnTo>
                    <a:lnTo>
                      <a:pt x="0" y="305"/>
                    </a:lnTo>
                    <a:lnTo>
                      <a:pt x="15" y="323"/>
                    </a:lnTo>
                    <a:lnTo>
                      <a:pt x="380" y="18"/>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123" name="Freeform 227"/>
              <p:cNvSpPr/>
              <p:nvPr/>
            </p:nvSpPr>
            <p:spPr bwMode="auto">
              <a:xfrm>
                <a:off x="3045" y="700"/>
                <a:ext cx="116" cy="110"/>
              </a:xfrm>
              <a:custGeom>
                <a:avLst/>
                <a:gdLst>
                  <a:gd name="T0" fmla="*/ 47 w 116"/>
                  <a:gd name="T1" fmla="*/ 0 h 110"/>
                  <a:gd name="T2" fmla="*/ 0 w 116"/>
                  <a:gd name="T3" fmla="*/ 110 h 110"/>
                  <a:gd name="T4" fmla="*/ 116 w 116"/>
                  <a:gd name="T5" fmla="*/ 82 h 110"/>
                  <a:gd name="T6" fmla="*/ 47 w 116"/>
                  <a:gd name="T7" fmla="*/ 0 h 110"/>
                  <a:gd name="T8" fmla="*/ 0 60000 65536"/>
                  <a:gd name="T9" fmla="*/ 0 60000 65536"/>
                  <a:gd name="T10" fmla="*/ 0 60000 65536"/>
                  <a:gd name="T11" fmla="*/ 0 60000 65536"/>
                  <a:gd name="T12" fmla="*/ 0 w 116"/>
                  <a:gd name="T13" fmla="*/ 0 h 110"/>
                  <a:gd name="T14" fmla="*/ 116 w 116"/>
                  <a:gd name="T15" fmla="*/ 110 h 110"/>
                </a:gdLst>
                <a:ahLst/>
                <a:cxnLst>
                  <a:cxn ang="T8">
                    <a:pos x="T0" y="T1"/>
                  </a:cxn>
                  <a:cxn ang="T9">
                    <a:pos x="T2" y="T3"/>
                  </a:cxn>
                  <a:cxn ang="T10">
                    <a:pos x="T4" y="T5"/>
                  </a:cxn>
                  <a:cxn ang="T11">
                    <a:pos x="T6" y="T7"/>
                  </a:cxn>
                </a:cxnLst>
                <a:rect l="T12" t="T13" r="T14" b="T15"/>
                <a:pathLst>
                  <a:path w="116" h="110">
                    <a:moveTo>
                      <a:pt x="47" y="0"/>
                    </a:moveTo>
                    <a:lnTo>
                      <a:pt x="0" y="110"/>
                    </a:lnTo>
                    <a:lnTo>
                      <a:pt x="116" y="82"/>
                    </a:lnTo>
                    <a:lnTo>
                      <a:pt x="47" y="0"/>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grpSp>
        <p:sp>
          <p:nvSpPr>
            <p:cNvPr id="121" name="Rectangle 228"/>
            <p:cNvSpPr>
              <a:spLocks noChangeArrowheads="1"/>
            </p:cNvSpPr>
            <p:nvPr/>
          </p:nvSpPr>
          <p:spPr bwMode="auto">
            <a:xfrm>
              <a:off x="4928" y="2495"/>
              <a:ext cx="50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1600" b="1" dirty="0">
                  <a:solidFill>
                    <a:schemeClr val="hlink"/>
                  </a:solidFill>
                  <a:latin typeface="楷体_GB2312" pitchFamily="49" charset="-122"/>
                  <a:ea typeface="楷体_GB2312" pitchFamily="49" charset="-122"/>
                </a:rPr>
                <a:t>振动弛豫</a:t>
              </a:r>
              <a:endParaRPr kumimoji="1" lang="zh-CN" altLang="en-US" sz="1600" b="1" dirty="0">
                <a:solidFill>
                  <a:schemeClr val="hlink"/>
                </a:solidFill>
                <a:latin typeface="楷体_GB2312" pitchFamily="49" charset="-122"/>
                <a:ea typeface="楷体_GB2312" pitchFamily="49" charset="-122"/>
              </a:endParaRPr>
            </a:p>
          </p:txBody>
        </p:sp>
      </p:grpSp>
      <p:sp>
        <p:nvSpPr>
          <p:cNvPr id="4" name="矩形 3"/>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11"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lstStyle/>
          <a:p>
            <a:pPr algn="ctr"/>
            <a:r>
              <a:rPr lang="en-US" altLang="zh-CN" b="1" dirty="0">
                <a:solidFill>
                  <a:srgbClr val="002060"/>
                </a:solidFill>
              </a:rPr>
              <a:t>4.3.1   </a:t>
            </a:r>
            <a:r>
              <a:rPr lang="zh-CN" altLang="en-US" b="1" dirty="0">
                <a:solidFill>
                  <a:srgbClr val="002060"/>
                </a:solidFill>
              </a:rPr>
              <a:t>基本原理</a:t>
            </a:r>
            <a:endParaRPr lang="zh-CN" altLang="en-US" b="1" dirty="0">
              <a:solidFill>
                <a:srgbClr val="002060"/>
              </a:solidFill>
            </a:endParaRPr>
          </a:p>
        </p:txBody>
      </p:sp>
      <p:sp>
        <p:nvSpPr>
          <p:cNvPr id="2" name="文本框 1"/>
          <p:cNvSpPr txBox="1"/>
          <p:nvPr/>
        </p:nvSpPr>
        <p:spPr>
          <a:xfrm>
            <a:off x="287501" y="1238530"/>
            <a:ext cx="6494930" cy="398780"/>
          </a:xfrm>
          <a:prstGeom prst="rect">
            <a:avLst/>
          </a:prstGeom>
          <a:noFill/>
        </p:spPr>
        <p:txBody>
          <a:bodyPr wrap="square" rtlCol="0">
            <a:spAutoFit/>
          </a:bodyPr>
          <a:lstStyle/>
          <a:p>
            <a:r>
              <a:rPr lang="en-US" altLang="zh-CN" sz="2000" b="1" dirty="0">
                <a:solidFill>
                  <a:srgbClr val="1F1F79"/>
                </a:solidFill>
                <a:latin typeface="微软雅黑" panose="020B0503020204020204" pitchFamily="34" charset="-122"/>
                <a:ea typeface="微软雅黑" panose="020B0503020204020204" pitchFamily="34" charset="-122"/>
              </a:rPr>
              <a:t>1. </a:t>
            </a:r>
            <a:r>
              <a:rPr lang="zh-CN" altLang="en-US" sz="2000" b="1" dirty="0">
                <a:solidFill>
                  <a:srgbClr val="1F1F79"/>
                </a:solidFill>
                <a:latin typeface="微软雅黑" panose="020B0503020204020204" pitchFamily="34" charset="-122"/>
                <a:ea typeface="微软雅黑" panose="020B0503020204020204" pitchFamily="34" charset="-122"/>
              </a:rPr>
              <a:t>荧光产生原理</a:t>
            </a:r>
            <a:endParaRPr lang="zh-CN" altLang="en-US" sz="2000" b="1" dirty="0">
              <a:solidFill>
                <a:srgbClr val="1F1F79"/>
              </a:solidFill>
              <a:latin typeface="微软雅黑" panose="020B0503020204020204" pitchFamily="34" charset="-122"/>
              <a:ea typeface="微软雅黑" panose="020B0503020204020204" pitchFamily="34" charset="-122"/>
            </a:endParaRPr>
          </a:p>
        </p:txBody>
      </p:sp>
      <p:sp>
        <p:nvSpPr>
          <p:cNvPr id="3" name="矩形 2"/>
          <p:cNvSpPr/>
          <p:nvPr/>
        </p:nvSpPr>
        <p:spPr>
          <a:xfrm>
            <a:off x="794247" y="1956561"/>
            <a:ext cx="10700084" cy="3984625"/>
          </a:xfrm>
          <a:prstGeom prst="rect">
            <a:avLst/>
          </a:prstGeom>
        </p:spPr>
        <p:txBody>
          <a:bodyPr wrap="square">
            <a:spAutoFit/>
          </a:bodyPr>
          <a:lstStyle/>
          <a:p>
            <a:pPr algn="just">
              <a:lnSpc>
                <a:spcPct val="150000"/>
              </a:lnSpc>
              <a:spcAft>
                <a:spcPts val="0"/>
              </a:spcAft>
            </a:pPr>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）无辐射跃迁</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（激发态</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第一电子激发态的最低能级），物质粒子吸收光子能量跃迁到第一电子激发态及以上高能级后在很短的时间内，它们首先会因相互撞击而以热的形式损失掉一部分能量，并从当前激发能级下降至第一电子激发态的最低能级</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indent="0" algn="just" fontAlgn="auto">
              <a:lnSpc>
                <a:spcPct val="150000"/>
              </a:lnSpc>
              <a:spcBef>
                <a:spcPts val="600"/>
              </a:spcBef>
              <a:spcAft>
                <a:spcPts val="0"/>
              </a:spcAft>
            </a:pPr>
            <a:r>
              <a:rPr lang="zh-CN"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）荧光发射</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（第一电子激发态的最低能级</a:t>
            </a:r>
            <a:r>
              <a:rPr lang="en-US"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基态能级），如果物质粒子由第一电子激发态的最低能级继续向下直接跃迁至基态能级，那么就会以光的形式释放能量，所发出的光就是荧光，</a:t>
            </a:r>
            <a:r>
              <a:rPr lang="zh-CN" altLang="en-US"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荧光的波长大于激发波长，荧光发射时间</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大约为</a:t>
            </a:r>
            <a:r>
              <a:rPr lang="en-US"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10</a:t>
            </a:r>
            <a:r>
              <a:rPr lang="en-US" altLang="zh-CN" kern="100" baseline="30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-9</a:t>
            </a:r>
            <a:r>
              <a:rPr lang="en-US"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~10</a:t>
            </a:r>
            <a:r>
              <a:rPr lang="en-US" altLang="zh-CN" kern="100" baseline="30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-7</a:t>
            </a:r>
            <a:r>
              <a:rPr lang="en-US"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s</a:t>
            </a:r>
            <a:r>
              <a:rPr lang="zh-CN" altLang="zh-CN"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dirty="0">
              <a:solidFill>
                <a:srgbClr val="0070C0"/>
              </a:solidFill>
              <a:latin typeface="微软雅黑" panose="020B0503020204020204" pitchFamily="34" charset="-122"/>
              <a:ea typeface="微软雅黑" panose="020B0503020204020204" pitchFamily="34" charset="-122"/>
              <a:cs typeface="宋体" panose="02010600030101010101" pitchFamily="2" charset="-122"/>
            </a:endParaRPr>
          </a:p>
          <a:p>
            <a:pPr indent="0" algn="just" fontAlgn="auto">
              <a:lnSpc>
                <a:spcPct val="150000"/>
              </a:lnSpc>
              <a:spcBef>
                <a:spcPts val="600"/>
              </a:spcBef>
              <a:spcAft>
                <a:spcPts val="0"/>
              </a:spcAft>
            </a:pPr>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）磷光发射</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（三重态</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基态能级），如果被激发的物质粒子不直接向下跃迁至基态能级，而是先无辐射跃迁至亚稳状的三重态</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逗留较长时间后再跃迁至基态能级，从三重态跃迁到基态能级的过程中就会向外发射磷光，</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磷光波长大于荧光波长，磷光发射时间</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大约为</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10</a:t>
            </a:r>
            <a:r>
              <a:rPr lang="en-US" altLang="zh-CN" kern="100" baseline="30000" dirty="0">
                <a:latin typeface="微软雅黑" panose="020B0503020204020204" pitchFamily="34" charset="-122"/>
                <a:ea typeface="微软雅黑" panose="020B0503020204020204" pitchFamily="34" charset="-122"/>
                <a:cs typeface="Times New Roman" panose="02020603050405020304" pitchFamily="18" charset="0"/>
              </a:rPr>
              <a:t>-3</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~10s</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dirty="0">
              <a:latin typeface="微软雅黑" panose="020B0503020204020204" pitchFamily="34" charset="-122"/>
              <a:ea typeface="微软雅黑" panose="020B0503020204020204" pitchFamily="34" charset="-122"/>
              <a:cs typeface="宋体" panose="02010600030101010101" pitchFamily="2" charset="-122"/>
            </a:endParaRPr>
          </a:p>
        </p:txBody>
      </p:sp>
      <p:sp>
        <p:nvSpPr>
          <p:cNvPr id="7" name="矩形 6"/>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11"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lstStyle/>
          <a:p>
            <a:pPr algn="ctr"/>
            <a:r>
              <a:rPr lang="en-US" altLang="zh-CN" b="1" dirty="0">
                <a:solidFill>
                  <a:srgbClr val="002060"/>
                </a:solidFill>
              </a:rPr>
              <a:t>4.3.1   </a:t>
            </a:r>
            <a:r>
              <a:rPr lang="zh-CN" altLang="en-US" b="1" dirty="0">
                <a:solidFill>
                  <a:srgbClr val="002060"/>
                </a:solidFill>
              </a:rPr>
              <a:t>基本原理</a:t>
            </a:r>
            <a:endParaRPr lang="zh-CN" altLang="en-US" b="1" dirty="0">
              <a:solidFill>
                <a:srgbClr val="002060"/>
              </a:solidFill>
            </a:endParaRPr>
          </a:p>
        </p:txBody>
      </p:sp>
      <p:sp>
        <p:nvSpPr>
          <p:cNvPr id="2" name="文本框 1"/>
          <p:cNvSpPr txBox="1"/>
          <p:nvPr/>
        </p:nvSpPr>
        <p:spPr>
          <a:xfrm>
            <a:off x="287501" y="1238530"/>
            <a:ext cx="6494930" cy="398780"/>
          </a:xfrm>
          <a:prstGeom prst="rect">
            <a:avLst/>
          </a:prstGeom>
          <a:noFill/>
        </p:spPr>
        <p:txBody>
          <a:bodyPr wrap="square" rtlCol="0">
            <a:spAutoFit/>
          </a:bodyPr>
          <a:lstStyle/>
          <a:p>
            <a:r>
              <a:rPr lang="en-US" altLang="zh-CN" sz="2000" b="1" dirty="0">
                <a:solidFill>
                  <a:srgbClr val="1F1F79"/>
                </a:solidFill>
                <a:latin typeface="微软雅黑" panose="020B0503020204020204" pitchFamily="34" charset="-122"/>
                <a:ea typeface="微软雅黑" panose="020B0503020204020204" pitchFamily="34" charset="-122"/>
              </a:rPr>
              <a:t>2. </a:t>
            </a:r>
            <a:r>
              <a:rPr lang="zh-CN" altLang="en-US" sz="2000" b="1" dirty="0">
                <a:solidFill>
                  <a:srgbClr val="1F1F79"/>
                </a:solidFill>
                <a:latin typeface="微软雅黑" panose="020B0503020204020204" pitchFamily="34" charset="-122"/>
                <a:ea typeface="微软雅黑" panose="020B0503020204020204" pitchFamily="34" charset="-122"/>
              </a:rPr>
              <a:t>荧光产生条件</a:t>
            </a:r>
            <a:endParaRPr lang="zh-CN" altLang="en-US" sz="2000" b="1" dirty="0">
              <a:solidFill>
                <a:srgbClr val="1F1F79"/>
              </a:solidFill>
              <a:latin typeface="微软雅黑" panose="020B0503020204020204" pitchFamily="34" charset="-122"/>
              <a:ea typeface="微软雅黑" panose="020B0503020204020204" pitchFamily="34" charset="-122"/>
            </a:endParaRPr>
          </a:p>
        </p:txBody>
      </p:sp>
      <p:sp>
        <p:nvSpPr>
          <p:cNvPr id="9" name="矩形 8"/>
          <p:cNvSpPr/>
          <p:nvPr/>
        </p:nvSpPr>
        <p:spPr>
          <a:xfrm>
            <a:off x="655698" y="2864735"/>
            <a:ext cx="2729785" cy="920573"/>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荧光效率</a:t>
            </a:r>
            <a:endParaRPr lang="en-US" altLang="zh-CN" sz="2000" b="1" dirty="0">
              <a:latin typeface="微软雅黑" panose="020B0503020204020204" pitchFamily="34" charset="-122"/>
              <a:ea typeface="微软雅黑" panose="020B0503020204020204" pitchFamily="34" charset="-122"/>
            </a:endParaRPr>
          </a:p>
          <a:p>
            <a:pPr>
              <a:lnSpc>
                <a:spcPct val="150000"/>
              </a:lnSpc>
            </a:pPr>
            <a:endParaRPr lang="zh-CN" altLang="en-US" dirty="0">
              <a:latin typeface="微软雅黑" panose="020B0503020204020204" pitchFamily="34" charset="-122"/>
              <a:ea typeface="微软雅黑" panose="020B0503020204020204" pitchFamily="34" charset="-122"/>
            </a:endParaRPr>
          </a:p>
        </p:txBody>
      </p:sp>
      <p:sp>
        <p:nvSpPr>
          <p:cNvPr id="10" name="矩形 9"/>
          <p:cNvSpPr/>
          <p:nvPr/>
        </p:nvSpPr>
        <p:spPr>
          <a:xfrm>
            <a:off x="655698" y="3433381"/>
            <a:ext cx="10699220" cy="922020"/>
          </a:xfrm>
          <a:prstGeom prst="rect">
            <a:avLst/>
          </a:prstGeom>
        </p:spPr>
        <p:txBody>
          <a:bodyPr wrap="square">
            <a:spAutoFit/>
          </a:bodyPr>
          <a:lstStyle/>
          <a:p>
            <a:pPr indent="457200" algn="just">
              <a:lnSpc>
                <a:spcPct val="150000"/>
              </a:lnSpc>
              <a:spcBef>
                <a:spcPct val="50000"/>
              </a:spcBef>
            </a:pPr>
            <a:r>
              <a:rPr lang="zh-CN" altLang="en-US" dirty="0">
                <a:latin typeface="微软雅黑" panose="020B0503020204020204" pitchFamily="34" charset="-122"/>
                <a:ea typeface="微软雅黑" panose="020B0503020204020204" pitchFamily="34" charset="-122"/>
              </a:rPr>
              <a:t>荧光分子不会将全部吸收的光能都转变成荧光，或多或少有一部分以其他形式释放。荧光效率是指荧光分子将吸收的光能转变成荧光的百分率，</a:t>
            </a:r>
            <a:r>
              <a:rPr lang="zh-CN" altLang="en-US">
                <a:latin typeface="微软雅黑" panose="020B0503020204020204" pitchFamily="34" charset="-122"/>
                <a:ea typeface="微软雅黑" panose="020B0503020204020204" pitchFamily="34" charset="-122"/>
                <a:sym typeface="+mn-ea"/>
              </a:rPr>
              <a:t>是物质发射出的荧光光子数与其吸收光子数的比值：</a:t>
            </a:r>
            <a:endParaRPr lang="zh-CN" altLang="en-US" sz="1600" dirty="0">
              <a:latin typeface="微软雅黑" panose="020B0503020204020204" pitchFamily="34" charset="-122"/>
              <a:ea typeface="微软雅黑" panose="020B0503020204020204" pitchFamily="34" charset="-122"/>
            </a:endParaRPr>
          </a:p>
        </p:txBody>
      </p:sp>
      <p:graphicFrame>
        <p:nvGraphicFramePr>
          <p:cNvPr id="8" name="对象 7"/>
          <p:cNvGraphicFramePr>
            <a:graphicFrameLocks noChangeAspect="1"/>
          </p:cNvGraphicFramePr>
          <p:nvPr/>
        </p:nvGraphicFramePr>
        <p:xfrm>
          <a:off x="4449932" y="4668213"/>
          <a:ext cx="2692263" cy="642669"/>
        </p:xfrm>
        <a:graphic>
          <a:graphicData uri="http://schemas.openxmlformats.org/presentationml/2006/ole">
            <mc:AlternateContent xmlns:mc="http://schemas.openxmlformats.org/markup-compatibility/2006">
              <mc:Choice xmlns:v="urn:schemas-microsoft-com:vml" Requires="v">
                <p:oleObj spid="_x0000_s2147" name="Equation" r:id="rId1" imgW="1473200" imgH="355600" progId="Equation.DSMT4">
                  <p:embed/>
                </p:oleObj>
              </mc:Choice>
              <mc:Fallback>
                <p:oleObj name="Equation" r:id="rId1" imgW="1473200" imgH="355600" progId="Equation.DSMT4">
                  <p:embed/>
                  <p:pic>
                    <p:nvPicPr>
                      <p:cNvPr id="0" name="Object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9932" y="4668213"/>
                        <a:ext cx="2692263" cy="642669"/>
                      </a:xfrm>
                      <a:prstGeom prst="rect">
                        <a:avLst/>
                      </a:prstGeom>
                      <a:noFill/>
                    </p:spPr>
                  </p:pic>
                </p:oleObj>
              </mc:Fallback>
            </mc:AlternateContent>
          </a:graphicData>
        </a:graphic>
      </p:graphicFrame>
      <p:sp>
        <p:nvSpPr>
          <p:cNvPr id="7" name="矩形 6"/>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11"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
        <p:nvSpPr>
          <p:cNvPr id="5" name="矩形 4"/>
          <p:cNvSpPr/>
          <p:nvPr/>
        </p:nvSpPr>
        <p:spPr>
          <a:xfrm>
            <a:off x="655698" y="1694163"/>
            <a:ext cx="10699219" cy="922020"/>
          </a:xfrm>
          <a:prstGeom prst="rect">
            <a:avLst/>
          </a:prstGeom>
        </p:spPr>
        <p:txBody>
          <a:bodyPr wrap="square">
            <a:spAutoFit/>
          </a:bodyPr>
          <a:lstStyle/>
          <a:p>
            <a:pPr indent="304800" algn="just">
              <a:lnSpc>
                <a:spcPct val="150000"/>
              </a:lnSpc>
              <a:spcBef>
                <a:spcPts val="150"/>
              </a:spcBef>
              <a:spcAft>
                <a:spcPts val="0"/>
              </a:spcAft>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物质要发射荧光需要满足两个条件：第一，入射光能被物质粒子吸收，使粒子能够</a:t>
            </a:r>
            <a:r>
              <a:rPr lang="zh-CN" altLang="zh-CN"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跃迁到激发态</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，然后再经</a:t>
            </a:r>
            <a:r>
              <a:rPr lang="zh-CN" altLang="zh-CN"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第一电子激发态的最低能级跃迁至基态振动能级</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；第二，物质粒子应具有</a:t>
            </a:r>
            <a:r>
              <a:rPr lang="zh-CN" altLang="zh-CN"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高的荧光效率</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11"/>
          <p:cNvSpPr/>
          <p:nvPr/>
        </p:nvSpPr>
        <p:spPr>
          <a:xfrm>
            <a:off x="638084" y="5523273"/>
            <a:ext cx="11373170" cy="368300"/>
          </a:xfrm>
          <a:prstGeom prst="rect">
            <a:avLst/>
          </a:prstGeom>
        </p:spPr>
        <p:txBody>
          <a:bodyPr wrap="square">
            <a:spAutoFit/>
          </a:bodyPr>
          <a:lstStyle/>
          <a:p>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一般来说，</a:t>
            </a:r>
            <a:r>
              <a:rPr lang="zh-CN" altLang="zh-CN" dirty="0">
                <a:latin typeface="微软雅黑" panose="020B0503020204020204" pitchFamily="34" charset="-122"/>
                <a:ea typeface="微软雅黑" panose="020B0503020204020204" pitchFamily="34" charset="-122"/>
                <a:cs typeface="宋体" panose="02010600030101010101" pitchFamily="2" charset="-122"/>
              </a:rPr>
              <a:t>具有</a:t>
            </a:r>
            <a:r>
              <a:rPr lang="zh-CN" altLang="zh-CN" b="1" dirty="0">
                <a:solidFill>
                  <a:srgbClr val="002060"/>
                </a:solidFill>
                <a:latin typeface="微软雅黑" panose="020B0503020204020204" pitchFamily="34" charset="-122"/>
                <a:ea typeface="微软雅黑" panose="020B0503020204020204" pitchFamily="34" charset="-122"/>
                <a:cs typeface="宋体" panose="02010600030101010101" pitchFamily="2" charset="-122"/>
              </a:rPr>
              <a:t>大共轭双键</a:t>
            </a:r>
            <a:r>
              <a:rPr lang="zh-CN" altLang="zh-CN" dirty="0">
                <a:latin typeface="微软雅黑" panose="020B0503020204020204" pitchFamily="34" charset="-122"/>
                <a:ea typeface="微软雅黑" panose="020B0503020204020204" pitchFamily="34" charset="-122"/>
                <a:cs typeface="宋体" panose="02010600030101010101" pitchFamily="2" charset="-122"/>
              </a:rPr>
              <a:t>的分子或</a:t>
            </a:r>
            <a:r>
              <a:rPr lang="zh-CN" altLang="zh-CN" b="1" dirty="0">
                <a:solidFill>
                  <a:srgbClr val="002060"/>
                </a:solidFill>
                <a:latin typeface="微软雅黑" panose="020B0503020204020204" pitchFamily="34" charset="-122"/>
                <a:ea typeface="微软雅黑" panose="020B0503020204020204" pitchFamily="34" charset="-122"/>
              </a:rPr>
              <a:t>刚性平面结构</a:t>
            </a:r>
            <a:r>
              <a:rPr lang="zh-CN" altLang="zh-CN" dirty="0">
                <a:latin typeface="微软雅黑" panose="020B0503020204020204" pitchFamily="34" charset="-122"/>
                <a:ea typeface="微软雅黑" panose="020B0503020204020204" pitchFamily="34" charset="-122"/>
                <a:cs typeface="宋体" panose="02010600030101010101" pitchFamily="2" charset="-122"/>
              </a:rPr>
              <a:t>分子的物质、</a:t>
            </a:r>
            <a:r>
              <a:rPr lang="zh-CN" altLang="zh-CN" b="1" dirty="0">
                <a:solidFill>
                  <a:srgbClr val="002060"/>
                </a:solidFill>
                <a:latin typeface="微软雅黑" panose="020B0503020204020204" pitchFamily="34" charset="-122"/>
                <a:ea typeface="微软雅黑" panose="020B0503020204020204" pitchFamily="34" charset="-122"/>
              </a:rPr>
              <a:t>共轭效应大</a:t>
            </a:r>
            <a:r>
              <a:rPr lang="zh-CN" altLang="zh-CN" dirty="0">
                <a:latin typeface="微软雅黑" panose="020B0503020204020204" pitchFamily="34" charset="-122"/>
                <a:ea typeface="微软雅黑" panose="020B0503020204020204" pitchFamily="34" charset="-122"/>
                <a:cs typeface="宋体" panose="02010600030101010101" pitchFamily="2" charset="-122"/>
              </a:rPr>
              <a:t>的物质，</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通常具有较高的荧光效率。</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688555" y="363855"/>
            <a:ext cx="6690360" cy="612140"/>
          </a:xfrm>
        </p:spPr>
        <p:txBody>
          <a:bodyPr/>
          <a:lstStyle/>
          <a:p>
            <a:pPr algn="ctr"/>
            <a:r>
              <a:rPr lang="en-US" altLang="zh-CN" b="1" dirty="0">
                <a:solidFill>
                  <a:srgbClr val="002060"/>
                </a:solidFill>
              </a:rPr>
              <a:t>4.3.1   </a:t>
            </a:r>
            <a:r>
              <a:rPr lang="zh-CN" altLang="en-US" b="1" dirty="0">
                <a:solidFill>
                  <a:srgbClr val="002060"/>
                </a:solidFill>
              </a:rPr>
              <a:t>基本原理</a:t>
            </a:r>
            <a:endParaRPr lang="zh-CN" altLang="en-US" b="1" dirty="0">
              <a:solidFill>
                <a:srgbClr val="002060"/>
              </a:solidFill>
            </a:endParaRPr>
          </a:p>
        </p:txBody>
      </p:sp>
      <p:sp>
        <p:nvSpPr>
          <p:cNvPr id="2" name="文本框 1"/>
          <p:cNvSpPr txBox="1"/>
          <p:nvPr/>
        </p:nvSpPr>
        <p:spPr>
          <a:xfrm>
            <a:off x="662151" y="1501420"/>
            <a:ext cx="6494930" cy="398780"/>
          </a:xfrm>
          <a:prstGeom prst="rect">
            <a:avLst/>
          </a:prstGeom>
          <a:noFill/>
        </p:spPr>
        <p:txBody>
          <a:bodyPr wrap="square" rtlCol="0">
            <a:spAutoFit/>
          </a:bodyPr>
          <a:lstStyle/>
          <a:p>
            <a:r>
              <a:rPr lang="en-US" altLang="zh-CN" sz="2000" b="1" dirty="0">
                <a:solidFill>
                  <a:srgbClr val="1F1F79"/>
                </a:solidFill>
                <a:latin typeface="微软雅黑" panose="020B0503020204020204" pitchFamily="34" charset="-122"/>
                <a:ea typeface="微软雅黑" panose="020B0503020204020204" pitchFamily="34" charset="-122"/>
              </a:rPr>
              <a:t>3. </a:t>
            </a:r>
            <a:r>
              <a:rPr lang="zh-CN" altLang="en-US" sz="2000" b="1" dirty="0">
                <a:solidFill>
                  <a:srgbClr val="1F1F79"/>
                </a:solidFill>
                <a:latin typeface="微软雅黑" panose="020B0503020204020204" pitchFamily="34" charset="-122"/>
                <a:ea typeface="微软雅黑" panose="020B0503020204020204" pitchFamily="34" charset="-122"/>
              </a:rPr>
              <a:t>影响荧光的外部因素</a:t>
            </a:r>
            <a:endParaRPr lang="zh-CN" altLang="en-US" sz="2000" b="1" dirty="0">
              <a:solidFill>
                <a:srgbClr val="1F1F79"/>
              </a:solidFill>
              <a:latin typeface="微软雅黑" panose="020B0503020204020204" pitchFamily="34" charset="-122"/>
              <a:ea typeface="微软雅黑" panose="020B0503020204020204" pitchFamily="34" charset="-122"/>
            </a:endParaRPr>
          </a:p>
        </p:txBody>
      </p:sp>
      <p:sp>
        <p:nvSpPr>
          <p:cNvPr id="3" name="矩形 2"/>
          <p:cNvSpPr/>
          <p:nvPr/>
        </p:nvSpPr>
        <p:spPr>
          <a:xfrm>
            <a:off x="788035" y="2163445"/>
            <a:ext cx="10567035" cy="3969385"/>
          </a:xfrm>
          <a:prstGeom prst="rect">
            <a:avLst/>
          </a:prstGeom>
        </p:spPr>
        <p:txBody>
          <a:bodyPr wrap="square">
            <a:spAutoFit/>
          </a:bodyPr>
          <a:lstStyle/>
          <a:p>
            <a:pPr algn="just">
              <a:lnSpc>
                <a:spcPct val="150000"/>
              </a:lnSpc>
            </a:pP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）激发光（入射光）</a:t>
            </a:r>
            <a:endParaRPr lang="en-US" altLang="zh-CN" b="1" dirty="0">
              <a:latin typeface="微软雅黑" panose="020B0503020204020204" pitchFamily="34" charset="-122"/>
              <a:ea typeface="微软雅黑" panose="020B0503020204020204" pitchFamily="34" charset="-122"/>
            </a:endParaRPr>
          </a:p>
          <a:p>
            <a:pPr indent="457200" algn="just">
              <a:lnSpc>
                <a:spcPct val="150000"/>
              </a:lnSpc>
            </a:pP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入射光的光强越大</a:t>
            </a:r>
            <a:r>
              <a:rPr lang="zh-CN" altLang="en-US" dirty="0">
                <a:latin typeface="微软雅黑" panose="020B0503020204020204" pitchFamily="34" charset="-122"/>
                <a:ea typeface="微软雅黑" panose="020B0503020204020204" pitchFamily="34" charset="-122"/>
              </a:rPr>
              <a:t>，激发的物质粒子数越多，其发射的</a:t>
            </a:r>
            <a:r>
              <a:rPr lang="zh-CN" altLang="en-US" b="1" dirty="0">
                <a:solidFill>
                  <a:srgbClr val="C00000"/>
                </a:solidFill>
                <a:latin typeface="微软雅黑" panose="020B0503020204020204" pitchFamily="34" charset="-122"/>
                <a:ea typeface="微软雅黑" panose="020B0503020204020204" pitchFamily="34" charset="-122"/>
              </a:rPr>
              <a:t>荧光强度也就越强</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indent="457200" algn="just" fontAlgn="auto">
              <a:lnSpc>
                <a:spcPct val="10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zh-CN"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2</a:t>
            </a:r>
            <a:r>
              <a:rPr lang="zh-CN" altLang="zh-CN" b="1" dirty="0">
                <a:latin typeface="微软雅黑" panose="020B0503020204020204" pitchFamily="34" charset="-122"/>
                <a:ea typeface="微软雅黑" panose="020B0503020204020204" pitchFamily="34" charset="-122"/>
              </a:rPr>
              <a:t>）溶剂</a:t>
            </a:r>
            <a:endParaRPr lang="zh-CN" altLang="zh-CN" b="1"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随着溶剂的极性的增加，荧光物质的</a:t>
            </a:r>
            <a:r>
              <a:rPr lang="en-US" altLang="zh-CN" b="1" dirty="0">
                <a:solidFill>
                  <a:srgbClr val="C00000"/>
                </a:solidFill>
                <a:latin typeface="微软雅黑" panose="020B0503020204020204" pitchFamily="34" charset="-122"/>
                <a:ea typeface="微软雅黑" panose="020B0503020204020204" pitchFamily="34" charset="-122"/>
              </a:rPr>
              <a:t>π→π*</a:t>
            </a:r>
            <a:r>
              <a:rPr lang="zh-CN" altLang="en-US" b="1" dirty="0">
                <a:solidFill>
                  <a:srgbClr val="C00000"/>
                </a:solidFill>
                <a:latin typeface="微软雅黑" panose="020B0503020204020204" pitchFamily="34" charset="-122"/>
                <a:ea typeface="微软雅黑" panose="020B0503020204020204" pitchFamily="34" charset="-122"/>
              </a:rPr>
              <a:t>跃迁几率增加，荧光强度将增强</a:t>
            </a:r>
            <a:r>
              <a:rPr lang="zh-CN" altLang="en-US" dirty="0">
                <a:latin typeface="微软雅黑" panose="020B0503020204020204" pitchFamily="34" charset="-122"/>
                <a:ea typeface="微软雅黑" panose="020B0503020204020204" pitchFamily="34" charset="-122"/>
              </a:rPr>
              <a:t>，荧光波长也</a:t>
            </a:r>
            <a:r>
              <a:rPr lang="zh-CN" altLang="en-US" b="1" dirty="0">
                <a:solidFill>
                  <a:srgbClr val="C00000"/>
                </a:solidFill>
                <a:latin typeface="微软雅黑" panose="020B0503020204020204" pitchFamily="34" charset="-122"/>
                <a:ea typeface="微软雅黑" panose="020B0503020204020204" pitchFamily="34" charset="-122"/>
              </a:rPr>
              <a:t>发生红移</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溶剂粘度降低，荧光强度降低。</a:t>
            </a:r>
            <a:endParaRPr lang="zh-CN" altLang="en-US" dirty="0">
              <a:latin typeface="微软雅黑" panose="020B0503020204020204" pitchFamily="34" charset="-122"/>
              <a:ea typeface="微软雅黑" panose="020B0503020204020204" pitchFamily="34" charset="-122"/>
            </a:endParaRPr>
          </a:p>
          <a:p>
            <a:pPr indent="457200" algn="just" fontAlgn="auto">
              <a:lnSpc>
                <a:spcPct val="100000"/>
              </a:lnSpc>
            </a:pPr>
            <a:endParaRPr lang="en-US" altLang="zh-CN" dirty="0">
              <a:latin typeface="微软雅黑" panose="020B0503020204020204" pitchFamily="34" charset="-122"/>
              <a:ea typeface="微软雅黑" panose="020B0503020204020204" pitchFamily="34" charset="-122"/>
            </a:endParaRPr>
          </a:p>
          <a:p>
            <a:pPr algn="just">
              <a:lnSpc>
                <a:spcPct val="150000"/>
              </a:lnSpc>
            </a:pPr>
            <a:r>
              <a:rPr lang="zh-CN" altLang="zh-CN"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3</a:t>
            </a:r>
            <a:r>
              <a:rPr lang="zh-CN" altLang="zh-CN" b="1" dirty="0">
                <a:latin typeface="微软雅黑" panose="020B0503020204020204" pitchFamily="34" charset="-122"/>
                <a:ea typeface="微软雅黑" panose="020B0503020204020204" pitchFamily="34" charset="-122"/>
              </a:rPr>
              <a:t>）温度</a:t>
            </a:r>
            <a:endParaRPr lang="zh-CN" altLang="zh-CN" b="1"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温度增加，荧光效率和荧光强度下降。</a:t>
            </a:r>
            <a:endParaRPr lang="en-US" altLang="zh-CN" b="1" dirty="0">
              <a:latin typeface="微软雅黑" panose="020B0503020204020204" pitchFamily="34" charset="-122"/>
              <a:ea typeface="微软雅黑" panose="020B0503020204020204" pitchFamily="34" charset="-122"/>
            </a:endParaRPr>
          </a:p>
          <a:p>
            <a:pPr algn="just">
              <a:lnSpc>
                <a:spcPct val="150000"/>
              </a:lnSpc>
            </a:pPr>
            <a:endParaRPr lang="en-US" altLang="zh-CN" dirty="0">
              <a:latin typeface="微软雅黑" panose="020B0503020204020204" pitchFamily="34" charset="-122"/>
              <a:ea typeface="微软雅黑" panose="020B0503020204020204" pitchFamily="34" charset="-122"/>
            </a:endParaRPr>
          </a:p>
        </p:txBody>
      </p:sp>
      <p:sp>
        <p:nvSpPr>
          <p:cNvPr id="4" name="矩形 3"/>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11"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312038" y="363855"/>
            <a:ext cx="6690360" cy="612140"/>
          </a:xfrm>
        </p:spPr>
        <p:txBody>
          <a:bodyPr/>
          <a:lstStyle/>
          <a:p>
            <a:pPr algn="ctr"/>
            <a:r>
              <a:rPr lang="en-US" altLang="zh-CN" b="1" dirty="0">
                <a:solidFill>
                  <a:srgbClr val="002060"/>
                </a:solidFill>
              </a:rPr>
              <a:t>4.3.2   </a:t>
            </a:r>
            <a:r>
              <a:rPr lang="zh-CN" altLang="en-US" b="1" dirty="0">
                <a:solidFill>
                  <a:srgbClr val="002060"/>
                </a:solidFill>
              </a:rPr>
              <a:t>荧光检测方法</a:t>
            </a:r>
            <a:endParaRPr lang="zh-CN" altLang="en-US" b="1" dirty="0">
              <a:solidFill>
                <a:srgbClr val="002060"/>
              </a:solidFill>
            </a:endParaRPr>
          </a:p>
        </p:txBody>
      </p:sp>
      <p:sp>
        <p:nvSpPr>
          <p:cNvPr id="2" name="矩形 1"/>
          <p:cNvSpPr/>
          <p:nvPr/>
        </p:nvSpPr>
        <p:spPr>
          <a:xfrm>
            <a:off x="399748" y="1367408"/>
            <a:ext cx="1757680" cy="398780"/>
          </a:xfrm>
          <a:prstGeom prst="rect">
            <a:avLst/>
          </a:prstGeom>
        </p:spPr>
        <p:txBody>
          <a:bodyPr wrap="none">
            <a:spAutoFit/>
          </a:bodyPr>
          <a:lstStyle/>
          <a:p>
            <a:r>
              <a:rPr lang="en-US" altLang="zh-CN" sz="2000" b="1" dirty="0">
                <a:solidFill>
                  <a:srgbClr val="1F1F79"/>
                </a:solidFill>
                <a:latin typeface="微软雅黑" panose="020B0503020204020204" pitchFamily="34" charset="-122"/>
                <a:cs typeface="宋体" panose="02010600030101010101" pitchFamily="2" charset="-122"/>
              </a:rPr>
              <a:t>1. </a:t>
            </a:r>
            <a:r>
              <a:rPr lang="zh-CN" altLang="zh-CN" sz="2000" b="1" dirty="0">
                <a:solidFill>
                  <a:srgbClr val="1F1F79"/>
                </a:solidFill>
                <a:ea typeface="微软雅黑" panose="020B0503020204020204" pitchFamily="34" charset="-122"/>
                <a:cs typeface="宋体" panose="02010600030101010101" pitchFamily="2" charset="-122"/>
              </a:rPr>
              <a:t>荧光强度法</a:t>
            </a:r>
            <a:endParaRPr lang="zh-CN" altLang="en-US" sz="2000" b="1" dirty="0">
              <a:solidFill>
                <a:srgbClr val="1F1F79"/>
              </a:solidFill>
            </a:endParaRPr>
          </a:p>
        </p:txBody>
      </p:sp>
      <p:graphicFrame>
        <p:nvGraphicFramePr>
          <p:cNvPr id="35" name="对象 34"/>
          <p:cNvGraphicFramePr>
            <a:graphicFrameLocks noChangeAspect="1"/>
          </p:cNvGraphicFramePr>
          <p:nvPr/>
        </p:nvGraphicFramePr>
        <p:xfrm>
          <a:off x="3166284" y="3640141"/>
          <a:ext cx="2642501" cy="451159"/>
        </p:xfrm>
        <a:graphic>
          <a:graphicData uri="http://schemas.openxmlformats.org/presentationml/2006/ole">
            <mc:AlternateContent xmlns:mc="http://schemas.openxmlformats.org/markup-compatibility/2006">
              <mc:Choice xmlns:v="urn:schemas-microsoft-com:vml" Requires="v">
                <p:oleObj spid="_x0000_s11654" name="Equation" r:id="rId1" imgW="1536065" imgH="254000" progId="Equation.DSMT4">
                  <p:embed/>
                </p:oleObj>
              </mc:Choice>
              <mc:Fallback>
                <p:oleObj name="Equation" r:id="rId1" imgW="1536065" imgH="2540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6284" y="3640141"/>
                        <a:ext cx="2642501" cy="451159"/>
                      </a:xfrm>
                      <a:prstGeom prst="rect">
                        <a:avLst/>
                      </a:prstGeom>
                      <a:noFill/>
                    </p:spPr>
                  </p:pic>
                </p:oleObj>
              </mc:Fallback>
            </mc:AlternateContent>
          </a:graphicData>
        </a:graphic>
      </p:graphicFrame>
      <p:graphicFrame>
        <p:nvGraphicFramePr>
          <p:cNvPr id="37" name="对象 36"/>
          <p:cNvGraphicFramePr>
            <a:graphicFrameLocks noChangeAspect="1"/>
          </p:cNvGraphicFramePr>
          <p:nvPr/>
        </p:nvGraphicFramePr>
        <p:xfrm>
          <a:off x="2233049" y="4209629"/>
          <a:ext cx="6984094" cy="652861"/>
        </p:xfrm>
        <a:graphic>
          <a:graphicData uri="http://schemas.openxmlformats.org/presentationml/2006/ole">
            <mc:AlternateContent xmlns:mc="http://schemas.openxmlformats.org/markup-compatibility/2006">
              <mc:Choice xmlns:v="urn:schemas-microsoft-com:vml" Requires="v">
                <p:oleObj spid="_x0000_s11655" name="Equation" r:id="rId3" imgW="3962400" imgH="406400" progId="Equation.DSMT4">
                  <p:embed/>
                </p:oleObj>
              </mc:Choice>
              <mc:Fallback>
                <p:oleObj name="Equation" r:id="rId3" imgW="3962400" imgH="4064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3049" y="4209629"/>
                        <a:ext cx="6984094" cy="652861"/>
                      </a:xfrm>
                      <a:prstGeom prst="rect">
                        <a:avLst/>
                      </a:prstGeom>
                      <a:noFill/>
                    </p:spPr>
                  </p:pic>
                </p:oleObj>
              </mc:Fallback>
            </mc:AlternateContent>
          </a:graphicData>
        </a:graphic>
      </p:graphicFrame>
      <p:graphicFrame>
        <p:nvGraphicFramePr>
          <p:cNvPr id="39" name="对象 38"/>
          <p:cNvGraphicFramePr>
            <a:graphicFrameLocks noChangeAspect="1"/>
          </p:cNvGraphicFramePr>
          <p:nvPr/>
        </p:nvGraphicFramePr>
        <p:xfrm>
          <a:off x="3333665" y="5015811"/>
          <a:ext cx="2088049" cy="447439"/>
        </p:xfrm>
        <a:graphic>
          <a:graphicData uri="http://schemas.openxmlformats.org/presentationml/2006/ole">
            <mc:AlternateContent xmlns:mc="http://schemas.openxmlformats.org/markup-compatibility/2006">
              <mc:Choice xmlns:v="urn:schemas-microsoft-com:vml" Requires="v">
                <p:oleObj spid="_x0000_s11656" name="Equation" r:id="rId5" imgW="939800" imgH="228600" progId="Equation.DSMT4">
                  <p:embed/>
                </p:oleObj>
              </mc:Choice>
              <mc:Fallback>
                <p:oleObj name="Equation" r:id="rId5" imgW="939800" imgH="2286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3665" y="5015811"/>
                        <a:ext cx="2088049" cy="447439"/>
                      </a:xfrm>
                      <a:prstGeom prst="rect">
                        <a:avLst/>
                      </a:prstGeom>
                      <a:noFill/>
                    </p:spPr>
                  </p:pic>
                </p:oleObj>
              </mc:Fallback>
            </mc:AlternateContent>
          </a:graphicData>
        </a:graphic>
      </p:graphicFrame>
      <p:sp>
        <p:nvSpPr>
          <p:cNvPr id="40" name="矩形 39"/>
          <p:cNvSpPr/>
          <p:nvPr/>
        </p:nvSpPr>
        <p:spPr>
          <a:xfrm>
            <a:off x="729188" y="2091370"/>
            <a:ext cx="3940175" cy="368300"/>
          </a:xfrm>
          <a:prstGeom prst="rect">
            <a:avLst/>
          </a:prstGeom>
        </p:spPr>
        <p:txBody>
          <a:bodyPr wrap="none">
            <a:spAutoFit/>
          </a:bodyPr>
          <a:lstStyle/>
          <a:p>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以</a:t>
            </a:r>
            <a:r>
              <a:rPr lang="zh-CN" altLang="zh-CN"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朗伯</a:t>
            </a:r>
            <a:r>
              <a:rPr lang="en-US" altLang="zh-CN" b="1" kern="100" dirty="0">
                <a:solidFill>
                  <a:srgbClr val="C00000"/>
                </a:solidFill>
                <a:latin typeface="微软雅黑" panose="020B0503020204020204" pitchFamily="34" charset="-122"/>
                <a:ea typeface="微软雅黑" panose="020B0503020204020204" pitchFamily="34" charset="-122"/>
              </a:rPr>
              <a:t>-</a:t>
            </a:r>
            <a:r>
              <a:rPr lang="zh-CN" altLang="zh-CN"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比尔定律</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为理论基础</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，满足：</a:t>
            </a:r>
            <a:endParaRPr lang="zh-CN" altLang="en-US" dirty="0">
              <a:latin typeface="微软雅黑" panose="020B0503020204020204" pitchFamily="34" charset="-122"/>
              <a:ea typeface="微软雅黑" panose="020B0503020204020204" pitchFamily="34" charset="-122"/>
            </a:endParaRPr>
          </a:p>
        </p:txBody>
      </p:sp>
      <p:sp>
        <p:nvSpPr>
          <p:cNvPr id="41" name="矩形 40"/>
          <p:cNvSpPr/>
          <p:nvPr/>
        </p:nvSpPr>
        <p:spPr>
          <a:xfrm>
            <a:off x="729188" y="2636863"/>
            <a:ext cx="3154680" cy="368300"/>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则被待测样品吸收的光强为：</a:t>
            </a:r>
            <a:endParaRPr lang="zh-CN" altLang="en-US"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42" name="矩形 41"/>
              <p:cNvSpPr/>
              <p:nvPr/>
            </p:nvSpPr>
            <p:spPr>
              <a:xfrm>
                <a:off x="705223" y="3179203"/>
                <a:ext cx="5436235" cy="368300"/>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设待测样品中荧光体的荧光效率为 </a:t>
                </a:r>
                <a14:m>
                  <m:oMath xmlns:m="http://schemas.openxmlformats.org/officeDocument/2006/math">
                    <m:r>
                      <a:rPr lang="zh-CN" altLang="en-US" i="1" smtClean="0">
                        <a:latin typeface="Cambria Math" panose="02040503050406030204" pitchFamily="18" charset="0"/>
                      </a:rPr>
                      <m:t>𝜙</m:t>
                    </m:r>
                  </m:oMath>
                </a14:m>
                <a:r>
                  <a:rPr lang="zh-CN" altLang="en-US" dirty="0">
                    <a:latin typeface="微软雅黑" panose="020B0503020204020204" pitchFamily="34" charset="-122"/>
                    <a:ea typeface="微软雅黑" panose="020B0503020204020204" pitchFamily="34" charset="-122"/>
                  </a:rPr>
                  <a:t>，则荧光强度为</a:t>
                </a:r>
                <a:endParaRPr lang="zh-CN" altLang="en-US" dirty="0">
                  <a:latin typeface="微软雅黑" panose="020B0503020204020204" pitchFamily="34" charset="-122"/>
                  <a:ea typeface="微软雅黑" panose="020B0503020204020204" pitchFamily="34" charset="-122"/>
                </a:endParaRPr>
              </a:p>
            </p:txBody>
          </p:sp>
        </mc:Choice>
        <mc:Fallback>
          <p:sp>
            <p:nvSpPr>
              <p:cNvPr id="42" name="矩形 41"/>
              <p:cNvSpPr>
                <a:spLocks noRot="1" noChangeAspect="1" noMove="1" noResize="1" noEditPoints="1" noAdjustHandles="1" noChangeArrowheads="1" noChangeShapeType="1" noTextEdit="1"/>
              </p:cNvSpPr>
              <p:nvPr/>
            </p:nvSpPr>
            <p:spPr>
              <a:xfrm>
                <a:off x="705223" y="3179203"/>
                <a:ext cx="5436235" cy="368300"/>
              </a:xfrm>
              <a:prstGeom prst="rect">
                <a:avLst/>
              </a:prstGeom>
              <a:blipFill rotWithShape="1">
                <a:blip r:embed="rId7"/>
                <a:stretch>
                  <a:fillRect l="-7" t="-107" r="-437" b="107"/>
                </a:stretch>
              </a:blipFill>
            </p:spPr>
            <p:txBody>
              <a:bodyPr/>
              <a:lstStyle/>
              <a:p>
                <a:r>
                  <a:rPr lang="zh-CN" altLang="en-US">
                    <a:noFill/>
                  </a:rPr>
                  <a:t> </a:t>
                </a:r>
              </a:p>
            </p:txBody>
          </p:sp>
        </mc:Fallback>
      </mc:AlternateContent>
      <p:sp>
        <p:nvSpPr>
          <p:cNvPr id="43" name="矩形 42"/>
          <p:cNvSpPr/>
          <p:nvPr/>
        </p:nvSpPr>
        <p:spPr>
          <a:xfrm>
            <a:off x="733974" y="4351427"/>
            <a:ext cx="1554480" cy="368300"/>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泰勒展开得到</a:t>
            </a:r>
            <a:endParaRPr lang="zh-CN" altLang="en-US" dirty="0">
              <a:latin typeface="微软雅黑" panose="020B0503020204020204" pitchFamily="34" charset="-122"/>
              <a:ea typeface="微软雅黑" panose="020B0503020204020204" pitchFamily="34" charset="-122"/>
            </a:endParaRPr>
          </a:p>
        </p:txBody>
      </p:sp>
      <p:sp>
        <p:nvSpPr>
          <p:cNvPr id="4" name="矩形 3"/>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32"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dirty="0"/>
          </a:p>
        </p:txBody>
      </p:sp>
      <p:sp>
        <p:nvSpPr>
          <p:cNvPr id="44" name="流程图: 数据 43"/>
          <p:cNvSpPr/>
          <p:nvPr/>
        </p:nvSpPr>
        <p:spPr>
          <a:xfrm>
            <a:off x="8727971" y="1652259"/>
            <a:ext cx="802464" cy="308817"/>
          </a:xfrm>
          <a:prstGeom prst="flowChartInputOutpu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流程图: 数据 44"/>
          <p:cNvSpPr/>
          <p:nvPr/>
        </p:nvSpPr>
        <p:spPr>
          <a:xfrm>
            <a:off x="8727971" y="3128332"/>
            <a:ext cx="802464" cy="308817"/>
          </a:xfrm>
          <a:prstGeom prst="flowChartInputOutpu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连接符 45"/>
          <p:cNvCxnSpPr/>
          <p:nvPr/>
        </p:nvCxnSpPr>
        <p:spPr>
          <a:xfrm>
            <a:off x="8722976" y="1961076"/>
            <a:ext cx="0" cy="1476073"/>
          </a:xfrm>
          <a:prstGeom prst="line">
            <a:avLst/>
          </a:prstGeom>
          <a:ln w="19050"/>
        </p:spPr>
        <p:style>
          <a:lnRef idx="1">
            <a:schemeClr val="dk1"/>
          </a:lnRef>
          <a:fillRef idx="0">
            <a:schemeClr val="dk1"/>
          </a:fillRef>
          <a:effectRef idx="0">
            <a:schemeClr val="dk1"/>
          </a:effectRef>
          <a:fontRef idx="minor">
            <a:schemeClr val="tx1"/>
          </a:fontRef>
        </p:style>
      </p:cxnSp>
      <p:sp>
        <p:nvSpPr>
          <p:cNvPr id="47" name="流程图: 数据 46"/>
          <p:cNvSpPr/>
          <p:nvPr/>
        </p:nvSpPr>
        <p:spPr>
          <a:xfrm>
            <a:off x="8738424" y="2143188"/>
            <a:ext cx="802464" cy="308817"/>
          </a:xfrm>
          <a:prstGeom prst="flowChartInputOutput">
            <a:avLst/>
          </a:prstGeom>
          <a:solidFill>
            <a:schemeClr val="accent5">
              <a:lumMod val="40000"/>
              <a:lumOff val="60000"/>
              <a:alpha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 name="直接连接符 47"/>
          <p:cNvCxnSpPr/>
          <p:nvPr/>
        </p:nvCxnSpPr>
        <p:spPr>
          <a:xfrm>
            <a:off x="9370676" y="1961076"/>
            <a:ext cx="0" cy="1476073"/>
          </a:xfrm>
          <a:prstGeom prst="line">
            <a:avLst/>
          </a:prstGeom>
          <a:ln w="19050"/>
        </p:spPr>
        <p:style>
          <a:lnRef idx="1">
            <a:schemeClr val="dk1"/>
          </a:lnRef>
          <a:fillRef idx="0">
            <a:schemeClr val="dk1"/>
          </a:fillRef>
          <a:effectRef idx="0">
            <a:schemeClr val="dk1"/>
          </a:effectRef>
          <a:fontRef idx="minor">
            <a:schemeClr val="tx1"/>
          </a:fontRef>
        </p:style>
      </p:cxnSp>
      <p:cxnSp>
        <p:nvCxnSpPr>
          <p:cNvPr id="49" name="直接连接符 48"/>
          <p:cNvCxnSpPr/>
          <p:nvPr/>
        </p:nvCxnSpPr>
        <p:spPr>
          <a:xfrm>
            <a:off x="9530435" y="1652259"/>
            <a:ext cx="0" cy="1476073"/>
          </a:xfrm>
          <a:prstGeom prst="line">
            <a:avLst/>
          </a:prstGeom>
          <a:ln w="19050"/>
        </p:spPr>
        <p:style>
          <a:lnRef idx="1">
            <a:schemeClr val="dk1"/>
          </a:lnRef>
          <a:fillRef idx="0">
            <a:schemeClr val="dk1"/>
          </a:fillRef>
          <a:effectRef idx="0">
            <a:schemeClr val="dk1"/>
          </a:effectRef>
          <a:fontRef idx="minor">
            <a:schemeClr val="tx1"/>
          </a:fontRef>
        </p:style>
      </p:cxnSp>
      <p:cxnSp>
        <p:nvCxnSpPr>
          <p:cNvPr id="50" name="直接连接符 49"/>
          <p:cNvCxnSpPr/>
          <p:nvPr/>
        </p:nvCxnSpPr>
        <p:spPr>
          <a:xfrm>
            <a:off x="8882702" y="1652258"/>
            <a:ext cx="0" cy="1476073"/>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51" name="矩形 50"/>
          <p:cNvSpPr/>
          <p:nvPr/>
        </p:nvSpPr>
        <p:spPr>
          <a:xfrm>
            <a:off x="8745558" y="3077920"/>
            <a:ext cx="594571" cy="3088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 name="直接连接符 51"/>
          <p:cNvCxnSpPr/>
          <p:nvPr/>
        </p:nvCxnSpPr>
        <p:spPr>
          <a:xfrm flipH="1">
            <a:off x="8736110" y="3106783"/>
            <a:ext cx="146592" cy="308818"/>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53" name="矩形 52"/>
          <p:cNvSpPr/>
          <p:nvPr/>
        </p:nvSpPr>
        <p:spPr>
          <a:xfrm>
            <a:off x="9395034" y="2840928"/>
            <a:ext cx="101160" cy="3088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连接符 53"/>
          <p:cNvCxnSpPr/>
          <p:nvPr/>
        </p:nvCxnSpPr>
        <p:spPr>
          <a:xfrm>
            <a:off x="8890679" y="3126812"/>
            <a:ext cx="647700" cy="8302"/>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55" name="矩形 54"/>
          <p:cNvSpPr/>
          <p:nvPr/>
        </p:nvSpPr>
        <p:spPr>
          <a:xfrm>
            <a:off x="8731513" y="2448715"/>
            <a:ext cx="630980" cy="988433"/>
          </a:xfrm>
          <a:prstGeom prst="rect">
            <a:avLst/>
          </a:pr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平行四边形 56"/>
          <p:cNvSpPr/>
          <p:nvPr/>
        </p:nvSpPr>
        <p:spPr>
          <a:xfrm rot="7212861">
            <a:off x="8880778" y="2538162"/>
            <a:ext cx="1146442" cy="483418"/>
          </a:xfrm>
          <a:prstGeom prst="parallelogram">
            <a:avLst>
              <a:gd name="adj" fmla="val 167635"/>
            </a:avLst>
          </a:prstGeom>
          <a:solidFill>
            <a:schemeClr val="accent5">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mc:Choice xmlns:a14="http://schemas.microsoft.com/office/drawing/2010/main" Requires="a14">
          <p:sp>
            <p:nvSpPr>
              <p:cNvPr id="58" name="矩形 57"/>
              <p:cNvSpPr/>
              <p:nvPr/>
            </p:nvSpPr>
            <p:spPr>
              <a:xfrm>
                <a:off x="7988838" y="2181683"/>
                <a:ext cx="503215"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b="0" i="1">
                              <a:latin typeface="Cambria Math" panose="02040503050406030204" pitchFamily="18" charset="0"/>
                            </a:rPr>
                            <m:t>𝐼</m:t>
                          </m:r>
                        </m:e>
                        <m:sub>
                          <m:r>
                            <a:rPr lang="zh-CN" altLang="en-US" sz="2400" b="0" i="0">
                              <a:latin typeface="Cambria Math" panose="02040503050406030204" pitchFamily="18" charset="0"/>
                            </a:rPr>
                            <m:t>0</m:t>
                          </m:r>
                        </m:sub>
                      </m:sSub>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58" name="矩形 57"/>
              <p:cNvSpPr>
                <a:spLocks noRot="1" noChangeAspect="1" noMove="1" noResize="1" noEditPoints="1" noAdjustHandles="1" noChangeArrowheads="1" noChangeShapeType="1" noTextEdit="1"/>
              </p:cNvSpPr>
              <p:nvPr/>
            </p:nvSpPr>
            <p:spPr>
              <a:xfrm>
                <a:off x="7988838" y="2181683"/>
                <a:ext cx="503215" cy="461665"/>
              </a:xfrm>
              <a:prstGeom prst="rect">
                <a:avLst/>
              </a:prstGeom>
              <a:blipFill rotWithShape="1">
                <a:blip r:embed="rId8"/>
                <a:stretch>
                  <a:fillRect l="-107" t="-99" r="39" b="10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 name="矩形 58"/>
              <p:cNvSpPr/>
              <p:nvPr/>
            </p:nvSpPr>
            <p:spPr>
              <a:xfrm>
                <a:off x="9627881" y="2221172"/>
                <a:ext cx="462280" cy="46037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en-US" sz="2400" i="1" smtClean="0">
                              <a:latin typeface="Cambria Math" panose="02040503050406030204" pitchFamily="18" charset="0"/>
                            </a:rPr>
                          </m:ctrlPr>
                        </m:sSubPr>
                        <m:e>
                          <m:r>
                            <a:rPr lang="zh-CN" altLang="en-US" sz="2400" b="0" i="1">
                              <a:latin typeface="Cambria Math" panose="02040503050406030204" pitchFamily="18" charset="0"/>
                            </a:rPr>
                            <m:t>𝐼</m:t>
                          </m:r>
                        </m:e>
                        <m:sub>
                          <m:r>
                            <m:rPr>
                              <m:sty m:val="p"/>
                            </m:rPr>
                            <a:rPr lang="en-US" altLang="zh-CN" sz="2400" b="0" i="0" smtClean="0">
                              <a:latin typeface="Cambria Math" panose="02040503050406030204" pitchFamily="18" charset="0"/>
                            </a:rPr>
                            <m:t>s</m:t>
                          </m:r>
                        </m:sub>
                      </m:sSub>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59" name="矩形 58"/>
              <p:cNvSpPr>
                <a:spLocks noRot="1" noChangeAspect="1" noMove="1" noResize="1" noEditPoints="1" noAdjustHandles="1" noChangeArrowheads="1" noChangeShapeType="1" noTextEdit="1"/>
              </p:cNvSpPr>
              <p:nvPr/>
            </p:nvSpPr>
            <p:spPr>
              <a:xfrm>
                <a:off x="9627881" y="2221172"/>
                <a:ext cx="462280" cy="460375"/>
              </a:xfrm>
              <a:prstGeom prst="rect">
                <a:avLst/>
              </a:prstGeom>
              <a:blipFill rotWithShape="1">
                <a:blip r:embed="rId9"/>
                <a:stretch>
                  <a:fillRect l="-2" t="-125" r="2" b="125"/>
                </a:stretch>
              </a:blipFill>
            </p:spPr>
            <p:txBody>
              <a:bodyPr/>
              <a:lstStyle/>
              <a:p>
                <a:r>
                  <a:rPr lang="zh-CN" altLang="en-US">
                    <a:noFill/>
                  </a:rPr>
                  <a:t> </a:t>
                </a:r>
              </a:p>
            </p:txBody>
          </p:sp>
        </mc:Fallback>
      </mc:AlternateContent>
      <p:sp>
        <p:nvSpPr>
          <p:cNvPr id="60" name="箭头: 右 59"/>
          <p:cNvSpPr/>
          <p:nvPr/>
        </p:nvSpPr>
        <p:spPr>
          <a:xfrm>
            <a:off x="7908407" y="2547695"/>
            <a:ext cx="703041" cy="394282"/>
          </a:xfrm>
          <a:prstGeom prst="rightArrow">
            <a:avLst/>
          </a:prstGeom>
          <a:solidFill>
            <a:schemeClr val="accent4">
              <a:lumMod val="60000"/>
              <a:lumOff val="4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箭头: 右 60"/>
          <p:cNvSpPr/>
          <p:nvPr/>
        </p:nvSpPr>
        <p:spPr>
          <a:xfrm>
            <a:off x="9649688" y="2636863"/>
            <a:ext cx="514244" cy="215946"/>
          </a:xfrm>
          <a:prstGeom prst="rightArrow">
            <a:avLst/>
          </a:prstGeom>
          <a:solidFill>
            <a:schemeClr val="accent4">
              <a:lumMod val="60000"/>
              <a:lumOff val="4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箭头: 右 61"/>
          <p:cNvSpPr/>
          <p:nvPr/>
        </p:nvSpPr>
        <p:spPr>
          <a:xfrm>
            <a:off x="8937279" y="2579209"/>
            <a:ext cx="383847" cy="394282"/>
          </a:xfrm>
          <a:prstGeom prst="rightArrow">
            <a:avLst/>
          </a:prstGeom>
          <a:solidFill>
            <a:schemeClr val="accent4">
              <a:lumMod val="40000"/>
              <a:lumOff val="60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63" name="矩形 62"/>
              <p:cNvSpPr/>
              <p:nvPr/>
            </p:nvSpPr>
            <p:spPr>
              <a:xfrm>
                <a:off x="8829562" y="2175198"/>
                <a:ext cx="496803"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b="0" i="1">
                              <a:latin typeface="Cambria Math" panose="02040503050406030204" pitchFamily="18" charset="0"/>
                            </a:rPr>
                            <m:t>𝐼</m:t>
                          </m:r>
                        </m:e>
                        <m:sub>
                          <m:r>
                            <m:rPr>
                              <m:sty m:val="p"/>
                            </m:rPr>
                            <a:rPr lang="en-US" altLang="zh-CN" sz="2400" i="1">
                              <a:latin typeface="Cambria Math" panose="02040503050406030204" pitchFamily="18" charset="0"/>
                            </a:rPr>
                            <m:t>a</m:t>
                          </m:r>
                        </m:sub>
                      </m:sSub>
                    </m:oMath>
                  </m:oMathPara>
                </a14:m>
                <a:endParaRPr lang="zh-CN" altLang="en-US" sz="2400" dirty="0">
                  <a:latin typeface="Times New Roman" panose="02020603050405020304" pitchFamily="18" charset="0"/>
                  <a:cs typeface="Times New Roman" panose="02020603050405020304" pitchFamily="18" charset="0"/>
                </a:endParaRPr>
              </a:p>
            </p:txBody>
          </p:sp>
        </mc:Choice>
        <mc:Fallback>
          <p:sp>
            <p:nvSpPr>
              <p:cNvPr id="63" name="矩形 62"/>
              <p:cNvSpPr>
                <a:spLocks noRot="1" noChangeAspect="1" noMove="1" noResize="1" noEditPoints="1" noAdjustHandles="1" noChangeArrowheads="1" noChangeShapeType="1" noTextEdit="1"/>
              </p:cNvSpPr>
              <p:nvPr/>
            </p:nvSpPr>
            <p:spPr>
              <a:xfrm>
                <a:off x="8829562" y="2175198"/>
                <a:ext cx="496803" cy="461665"/>
              </a:xfrm>
              <a:prstGeom prst="rect">
                <a:avLst/>
              </a:prstGeom>
              <a:blipFill rotWithShape="1">
                <a:blip r:embed="rId10"/>
                <a:stretch>
                  <a:fillRect l="-105" t="-70" r="24" b="74"/>
                </a:stretch>
              </a:blipFill>
            </p:spPr>
            <p:txBody>
              <a:bodyPr/>
              <a:lstStyle/>
              <a:p>
                <a:r>
                  <a:rPr lang="zh-CN" altLang="en-US">
                    <a:noFill/>
                  </a:rPr>
                  <a:t> </a:t>
                </a:r>
              </a:p>
            </p:txBody>
          </p:sp>
        </mc:Fallback>
      </mc:AlternateContent>
      <p:sp>
        <p:nvSpPr>
          <p:cNvPr id="64" name="箭头: 右 63"/>
          <p:cNvSpPr/>
          <p:nvPr/>
        </p:nvSpPr>
        <p:spPr>
          <a:xfrm rot="5400000">
            <a:off x="8590528" y="2859838"/>
            <a:ext cx="649190" cy="308817"/>
          </a:xfrm>
          <a:prstGeom prst="rightArrow">
            <a:avLst/>
          </a:prstGeom>
          <a:solidFill>
            <a:srgbClr val="FF0000"/>
          </a:solidFill>
          <a:ln>
            <a:noFill/>
          </a:ln>
          <a:scene3d>
            <a:camera prst="isometricLeftDown"/>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65" name="矩形 64"/>
              <p:cNvSpPr/>
              <p:nvPr/>
            </p:nvSpPr>
            <p:spPr>
              <a:xfrm>
                <a:off x="8358231" y="3031287"/>
                <a:ext cx="407932"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en-US" sz="2000" i="1" smtClean="0">
                              <a:latin typeface="Cambria Math" panose="02040503050406030204" pitchFamily="18" charset="0"/>
                            </a:rPr>
                          </m:ctrlPr>
                        </m:sSubPr>
                        <m:e>
                          <m:r>
                            <a:rPr lang="zh-CN" altLang="en-US" sz="2000" b="0" i="1">
                              <a:latin typeface="Cambria Math" panose="02040503050406030204" pitchFamily="18" charset="0"/>
                            </a:rPr>
                            <m:t>𝐼</m:t>
                          </m:r>
                        </m:e>
                        <m:sub>
                          <m:r>
                            <m:rPr>
                              <m:sty m:val="p"/>
                            </m:rPr>
                            <a:rPr lang="en-US" altLang="zh-CN" sz="2000" b="0" i="0" smtClean="0">
                              <a:latin typeface="Cambria Math" panose="02040503050406030204" pitchFamily="18" charset="0"/>
                            </a:rPr>
                            <m:t>f</m:t>
                          </m:r>
                        </m:sub>
                      </m:sSub>
                    </m:oMath>
                  </m:oMathPara>
                </a14:m>
                <a:endParaRPr lang="zh-CN" altLang="en-US" sz="2000" dirty="0">
                  <a:latin typeface="Times New Roman" panose="02020603050405020304" pitchFamily="18" charset="0"/>
                  <a:cs typeface="Times New Roman" panose="02020603050405020304" pitchFamily="18" charset="0"/>
                </a:endParaRPr>
              </a:p>
            </p:txBody>
          </p:sp>
        </mc:Choice>
        <mc:Fallback>
          <p:sp>
            <p:nvSpPr>
              <p:cNvPr id="65" name="矩形 64"/>
              <p:cNvSpPr>
                <a:spLocks noRot="1" noChangeAspect="1" noMove="1" noResize="1" noEditPoints="1" noAdjustHandles="1" noChangeArrowheads="1" noChangeShapeType="1" noTextEdit="1"/>
              </p:cNvSpPr>
              <p:nvPr/>
            </p:nvSpPr>
            <p:spPr>
              <a:xfrm>
                <a:off x="8358231" y="3031287"/>
                <a:ext cx="407932" cy="400110"/>
              </a:xfrm>
              <a:prstGeom prst="rect">
                <a:avLst/>
              </a:prstGeom>
              <a:blipFill rotWithShape="1">
                <a:blip r:embed="rId11"/>
                <a:stretch>
                  <a:fillRect l="-88" t="-108" r="153" b="1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6" name="矩形 65"/>
              <p:cNvSpPr/>
              <p:nvPr/>
            </p:nvSpPr>
            <p:spPr>
              <a:xfrm>
                <a:off x="9018947" y="1024074"/>
                <a:ext cx="372473"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𝑏</m:t>
                      </m:r>
                    </m:oMath>
                  </m:oMathPara>
                </a14:m>
                <a:endParaRPr lang="zh-CN" altLang="en-US" dirty="0">
                  <a:latin typeface="Times New Roman" panose="02020603050405020304" pitchFamily="18" charset="0"/>
                  <a:cs typeface="Times New Roman" panose="02020603050405020304" pitchFamily="18" charset="0"/>
                </a:endParaRPr>
              </a:p>
            </p:txBody>
          </p:sp>
        </mc:Choice>
        <mc:Fallback>
          <p:sp>
            <p:nvSpPr>
              <p:cNvPr id="66" name="矩形 65"/>
              <p:cNvSpPr>
                <a:spLocks noRot="1" noChangeAspect="1" noMove="1" noResize="1" noEditPoints="1" noAdjustHandles="1" noChangeArrowheads="1" noChangeShapeType="1" noTextEdit="1"/>
              </p:cNvSpPr>
              <p:nvPr/>
            </p:nvSpPr>
            <p:spPr>
              <a:xfrm>
                <a:off x="9018947" y="1024074"/>
                <a:ext cx="372473" cy="369332"/>
              </a:xfrm>
              <a:prstGeom prst="rect">
                <a:avLst/>
              </a:prstGeom>
              <a:blipFill rotWithShape="1">
                <a:blip r:embed="rId12"/>
                <a:stretch>
                  <a:fillRect l="-11" t="-123" r="109" b="58"/>
                </a:stretch>
              </a:blipFill>
            </p:spPr>
            <p:txBody>
              <a:bodyPr/>
              <a:lstStyle/>
              <a:p>
                <a:r>
                  <a:rPr lang="zh-CN" altLang="en-US">
                    <a:noFill/>
                  </a:rPr>
                  <a:t> </a:t>
                </a:r>
              </a:p>
            </p:txBody>
          </p:sp>
        </mc:Fallback>
      </mc:AlternateContent>
      <p:sp>
        <p:nvSpPr>
          <p:cNvPr id="10" name="右大括号 9"/>
          <p:cNvSpPr/>
          <p:nvPr/>
        </p:nvSpPr>
        <p:spPr>
          <a:xfrm rot="16200000">
            <a:off x="9105276" y="1181232"/>
            <a:ext cx="204743" cy="577095"/>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7" name="矩形 6"/>
              <p:cNvSpPr/>
              <p:nvPr/>
            </p:nvSpPr>
            <p:spPr>
              <a:xfrm>
                <a:off x="1063625" y="5584825"/>
                <a:ext cx="9026525" cy="450850"/>
              </a:xfrm>
              <a:prstGeom prst="rect">
                <a:avLst/>
              </a:prstGeom>
            </p:spPr>
            <p:txBody>
              <a:bodyPr wrap="square">
                <a:spAutoFit/>
              </a:bodyPr>
              <a:p>
                <a:pPr eaLnBrk="0" hangingPunct="0">
                  <a:lnSpc>
                    <a:spcPct val="130000"/>
                  </a:lnSpc>
                  <a:defRPr/>
                </a:pPr>
                <a:r>
                  <a:rPr lang="zh-CN" altLang="en-US" b="1" dirty="0">
                    <a:solidFill>
                      <a:srgbClr val="C00000"/>
                    </a:solidFill>
                    <a:latin typeface="微软雅黑" panose="020B0503020204020204" pitchFamily="34" charset="-122"/>
                    <a:ea typeface="微软雅黑" panose="020B0503020204020204" pitchFamily="34" charset="-122"/>
                    <a:sym typeface="Wingdings" panose="05000000000000000000" pitchFamily="2" charset="2"/>
                  </a:rPr>
                  <a:t>可见：</a:t>
                </a:r>
                <a:r>
                  <a:rPr lang="zh-CN" altLang="en-US"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荧光强度和溶液中荧光分子的浓度成正比，但仅对于低浓度溶液（</a:t>
                </a:r>
                <a14:m>
                  <m:oMath xmlns:m="http://schemas.openxmlformats.org/officeDocument/2006/math">
                    <m:r>
                      <a:rPr lang="zh-CN" altLang="en-US" b="0" i="1" dirty="0" smtClean="0">
                        <a:effectLst>
                          <a:outerShdw blurRad="38100" dist="38100" dir="2700000" algn="tl">
                            <a:srgbClr val="C0C0C0"/>
                          </a:outerShdw>
                        </a:effectLst>
                        <a:latin typeface="Cambria Math" panose="02040503050406030204" pitchFamily="18" charset="0"/>
                        <a:ea typeface="微软雅黑" panose="020B0503020204020204" pitchFamily="34" charset="-122"/>
                      </a:rPr>
                      <m:t>𝜀</m:t>
                    </m:r>
                    <m:r>
                      <a:rPr lang="en-US" altLang="zh-CN" b="0" i="1" dirty="0">
                        <a:effectLst>
                          <a:outerShdw blurRad="38100" dist="38100" dir="2700000" algn="tl">
                            <a:srgbClr val="C0C0C0"/>
                          </a:outerShdw>
                        </a:effectLst>
                        <a:latin typeface="Cambria Math" panose="02040503050406030204" pitchFamily="18" charset="0"/>
                        <a:ea typeface="微软雅黑" panose="020B0503020204020204" pitchFamily="34" charset="-122"/>
                      </a:rPr>
                      <m:t>𝑏𝑐</m:t>
                    </m:r>
                  </m:oMath>
                </a14:m>
                <a:r>
                  <a:rPr lang="en-US" altLang="zh-CN" b="1" dirty="0">
                    <a:effectLst>
                      <a:outerShdw blurRad="38100" dist="38100" dir="2700000" algn="tl">
                        <a:srgbClr val="C0C0C0"/>
                      </a:outerShdw>
                    </a:effectLst>
                    <a:latin typeface="微软雅黑" panose="020B0503020204020204" pitchFamily="34" charset="-122"/>
                    <a:ea typeface="微软雅黑" panose="020B0503020204020204" pitchFamily="34" charset="-122"/>
                    <a:sym typeface="+mn-ea"/>
                  </a:rPr>
                  <a:t>&lt;0.05</a:t>
                </a:r>
                <a:r>
                  <a:rPr lang="zh-CN" altLang="en-US" b="1" dirty="0">
                    <a:effectLst>
                      <a:outerShdw blurRad="38100" dist="38100" dir="2700000" algn="tl">
                        <a:srgbClr val="C0C0C0"/>
                      </a:outerShdw>
                    </a:effectLst>
                    <a:latin typeface="微软雅黑" panose="020B0503020204020204" pitchFamily="34" charset="-122"/>
                    <a:ea typeface="微软雅黑" panose="020B0503020204020204" pitchFamily="34" charset="-122"/>
                    <a:sym typeface="+mn-ea"/>
                  </a:rPr>
                  <a:t>）</a:t>
                </a:r>
                <a:endParaRPr lang="zh-CN" altLang="en-US"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endParaRPr>
              </a:p>
            </p:txBody>
          </p:sp>
        </mc:Choice>
        <mc:Fallback>
          <p:sp>
            <p:nvSpPr>
              <p:cNvPr id="7" name="矩形 6"/>
              <p:cNvSpPr>
                <a:spLocks noRot="1" noChangeAspect="1" noMove="1" noResize="1" noEditPoints="1" noAdjustHandles="1" noChangeArrowheads="1" noChangeShapeType="1" noTextEdit="1"/>
              </p:cNvSpPr>
              <p:nvPr/>
            </p:nvSpPr>
            <p:spPr>
              <a:xfrm>
                <a:off x="1063625" y="5584825"/>
                <a:ext cx="9026525" cy="450850"/>
              </a:xfrm>
              <a:prstGeom prst="rect">
                <a:avLst/>
              </a:prstGeom>
              <a:blipFill rotWithShape="1">
                <a:blip r:embed="rId13"/>
                <a:stretch>
                  <a:fillRect/>
                </a:stretch>
              </a:blipFill>
            </p:spPr>
            <p:txBody>
              <a:bodyPr/>
              <a:lstStyle/>
              <a:p>
                <a:r>
                  <a:rPr lang="zh-CN" altLang="en-US">
                    <a:noFill/>
                  </a:rPr>
                  <a:t> </a:t>
                </a:r>
              </a:p>
            </p:txBody>
          </p:sp>
        </mc:Fallback>
      </mc:AlternateContent>
      <p:graphicFrame>
        <p:nvGraphicFramePr>
          <p:cNvPr id="8" name="对象 7"/>
          <p:cNvGraphicFramePr/>
          <p:nvPr/>
        </p:nvGraphicFramePr>
        <p:xfrm>
          <a:off x="4843145" y="1971040"/>
          <a:ext cx="1652270" cy="464820"/>
        </p:xfrm>
        <a:graphic>
          <a:graphicData uri="http://schemas.openxmlformats.org/presentationml/2006/ole">
            <mc:AlternateContent xmlns:mc="http://schemas.openxmlformats.org/markup-compatibility/2006">
              <mc:Choice xmlns:v="urn:schemas-microsoft-com:vml" Requires="v">
                <p:oleObj spid="_x0000_s9" name="" r:id="rId14" imgW="1047750" imgH="304800" progId="Paint.Picture">
                  <p:embed/>
                </p:oleObj>
              </mc:Choice>
              <mc:Fallback>
                <p:oleObj name="" r:id="rId14" imgW="1047750" imgH="304800" progId="Paint.Picture">
                  <p:embed/>
                  <p:pic>
                    <p:nvPicPr>
                      <p:cNvPr id="0" name="图片 47"/>
                      <p:cNvPicPr/>
                      <p:nvPr/>
                    </p:nvPicPr>
                    <p:blipFill>
                      <a:blip r:embed="rId15"/>
                      <a:stretch>
                        <a:fillRect/>
                      </a:stretch>
                    </p:blipFill>
                    <p:spPr>
                      <a:xfrm>
                        <a:off x="4843145" y="1971040"/>
                        <a:ext cx="1652270" cy="464820"/>
                      </a:xfrm>
                      <a:prstGeom prst="rect">
                        <a:avLst/>
                      </a:prstGeom>
                    </p:spPr>
                  </p:pic>
                </p:oleObj>
              </mc:Fallback>
            </mc:AlternateContent>
          </a:graphicData>
        </a:graphic>
      </p:graphicFrame>
      <p:graphicFrame>
        <p:nvGraphicFramePr>
          <p:cNvPr id="11" name="对象 10"/>
          <p:cNvGraphicFramePr/>
          <p:nvPr/>
        </p:nvGraphicFramePr>
        <p:xfrm>
          <a:off x="3952240" y="2599055"/>
          <a:ext cx="3133090" cy="445770"/>
        </p:xfrm>
        <a:graphic>
          <a:graphicData uri="http://schemas.openxmlformats.org/presentationml/2006/ole">
            <mc:AlternateContent xmlns:mc="http://schemas.openxmlformats.org/markup-compatibility/2006">
              <mc:Choice xmlns:v="urn:schemas-microsoft-com:vml" Requires="v">
                <p:oleObj spid="_x0000_s12" name="" r:id="rId16" imgW="2108200" imgH="298450" progId="Paint.Picture">
                  <p:embed/>
                </p:oleObj>
              </mc:Choice>
              <mc:Fallback>
                <p:oleObj name="" r:id="rId16" imgW="2108200" imgH="298450" progId="Paint.Picture">
                  <p:embed/>
                  <p:pic>
                    <p:nvPicPr>
                      <p:cNvPr id="0" name="图片 49"/>
                      <p:cNvPicPr/>
                      <p:nvPr/>
                    </p:nvPicPr>
                    <p:blipFill>
                      <a:blip r:embed="rId17"/>
                      <a:stretch>
                        <a:fillRect/>
                      </a:stretch>
                    </p:blipFill>
                    <p:spPr>
                      <a:xfrm>
                        <a:off x="3952240" y="2599055"/>
                        <a:ext cx="3133090" cy="445770"/>
                      </a:xfrm>
                      <a:prstGeom prst="rect">
                        <a:avLst/>
                      </a:prstGeom>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312038" y="363855"/>
            <a:ext cx="6690360" cy="612140"/>
          </a:xfrm>
        </p:spPr>
        <p:txBody>
          <a:bodyPr/>
          <a:lstStyle/>
          <a:p>
            <a:pPr algn="ctr"/>
            <a:r>
              <a:rPr lang="en-US" altLang="zh-CN" b="1" dirty="0">
                <a:solidFill>
                  <a:srgbClr val="002060"/>
                </a:solidFill>
              </a:rPr>
              <a:t>4.3.2   </a:t>
            </a:r>
            <a:r>
              <a:rPr lang="zh-CN" altLang="en-US" b="1" dirty="0">
                <a:solidFill>
                  <a:srgbClr val="002060"/>
                </a:solidFill>
              </a:rPr>
              <a:t>荧光检测方法</a:t>
            </a:r>
            <a:endParaRPr lang="zh-CN" altLang="en-US" b="1" dirty="0">
              <a:solidFill>
                <a:srgbClr val="002060"/>
              </a:solidFill>
            </a:endParaRPr>
          </a:p>
        </p:txBody>
      </p:sp>
      <mc:AlternateContent xmlns:mc="http://schemas.openxmlformats.org/markup-compatibility/2006">
        <mc:Choice xmlns:a14="http://schemas.microsoft.com/office/drawing/2010/main" Requires="a14">
          <p:sp>
            <p:nvSpPr>
              <p:cNvPr id="19" name="矩形 18"/>
              <p:cNvSpPr/>
              <p:nvPr/>
            </p:nvSpPr>
            <p:spPr>
              <a:xfrm>
                <a:off x="534035" y="2109470"/>
                <a:ext cx="11179175" cy="1538605"/>
              </a:xfrm>
              <a:prstGeom prst="rect">
                <a:avLst/>
              </a:prstGeom>
            </p:spPr>
            <p:txBody>
              <a:bodyPr wrap="square">
                <a:spAutoFit/>
              </a:bodyPr>
              <a:lstStyle/>
              <a:p>
                <a:pPr indent="0" algn="just" fontAlgn="auto">
                  <a:lnSpc>
                    <a:spcPct val="140000"/>
                  </a:lnSpc>
                </a:pPr>
                <a:r>
                  <a:rPr lang="zh-CN" altLang="en-US" dirty="0">
                    <a:latin typeface="Times New Roman" panose="02020603050405020304" pitchFamily="18" charset="0"/>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cs typeface="宋体" panose="02010600030101010101" pitchFamily="2" charset="-122"/>
                    <a:sym typeface="+mn-ea"/>
                  </a:rPr>
                  <a:t>相位</a:t>
                </a:r>
                <a:r>
                  <a:rPr lang="zh-CN" altLang="zh-CN" b="1" dirty="0">
                    <a:latin typeface="微软雅黑" panose="020B0503020204020204" pitchFamily="34" charset="-122"/>
                    <a:ea typeface="微软雅黑" panose="020B0503020204020204" pitchFamily="34" charset="-122"/>
                    <a:cs typeface="宋体" panose="02010600030101010101" pitchFamily="2" charset="-122"/>
                    <a:sym typeface="+mn-ea"/>
                  </a:rPr>
                  <a:t>分辨法：</a:t>
                </a:r>
                <a:r>
                  <a:rPr lang="zh-CN" altLang="en-US" dirty="0">
                    <a:latin typeface="Times New Roman" panose="02020603050405020304" pitchFamily="18" charset="0"/>
                    <a:ea typeface="微软雅黑" panose="020B0503020204020204" pitchFamily="34" charset="-122"/>
                  </a:rPr>
                  <a:t>假设激发光被角频率为</a:t>
                </a:r>
                <a14:m>
                  <m:oMath xmlns:m="http://schemas.openxmlformats.org/officeDocument/2006/math">
                    <m:r>
                      <a:rPr lang="zh-CN" altLang="en-US" i="1" smtClean="0">
                        <a:latin typeface="Cambria Math" panose="02040503050406030204" pitchFamily="18" charset="0"/>
                        <a:ea typeface="微软雅黑" panose="020B0503020204020204" pitchFamily="34" charset="-122"/>
                      </a:rPr>
                      <m:t>𝜔</m:t>
                    </m:r>
                  </m:oMath>
                </a14:m>
                <a:r>
                  <a:rPr lang="zh-CN" altLang="zh-CN" dirty="0">
                    <a:latin typeface="Times New Roman" panose="02020603050405020304" pitchFamily="18" charset="0"/>
                    <a:ea typeface="微软雅黑" panose="020B0503020204020204" pitchFamily="34" charset="-122"/>
                  </a:rPr>
                  <a:t>的正弦波调制</a:t>
                </a:r>
                <a:r>
                  <a:rPr lang="zh-CN" altLang="en-US" dirty="0">
                    <a:latin typeface="Times New Roman" panose="02020603050405020304" pitchFamily="18" charset="0"/>
                    <a:ea typeface="微软雅黑" panose="020B0503020204020204" pitchFamily="34" charset="-122"/>
                  </a:rPr>
                  <a:t>，</a:t>
                </a:r>
                <a:r>
                  <a:rPr lang="zh-CN" altLang="zh-CN" dirty="0">
                    <a:latin typeface="Times New Roman" panose="02020603050405020304" pitchFamily="18" charset="0"/>
                    <a:ea typeface="微软雅黑" panose="020B0503020204020204" pitchFamily="34" charset="-122"/>
                  </a:rPr>
                  <a:t>则发射光也同样被调制，且由于吸收和发射之间的时间延迟，调制的发射光比激发光在相位上延迟了</a:t>
                </a:r>
                <a14:m>
                  <m:oMath xmlns:m="http://schemas.openxmlformats.org/officeDocument/2006/math">
                    <m:r>
                      <a:rPr lang="zh-CN" altLang="en-US" i="1" smtClean="0">
                        <a:latin typeface="Cambria Math" panose="02040503050406030204" pitchFamily="18" charset="0"/>
                        <a:ea typeface="微软雅黑" panose="020B0503020204020204" pitchFamily="34" charset="-122"/>
                      </a:rPr>
                      <m:t>𝜙</m:t>
                    </m:r>
                  </m:oMath>
                </a14:m>
                <a:r>
                  <a:rPr lang="zh-CN" altLang="zh-CN" dirty="0">
                    <a:latin typeface="Times New Roman" panose="02020603050405020304" pitchFamily="18" charset="0"/>
                    <a:ea typeface="微软雅黑" panose="020B0503020204020204" pitchFamily="34" charset="-122"/>
                  </a:rPr>
                  <a:t>角</a:t>
                </a:r>
                <a:r>
                  <a:rPr lang="zh-CN" altLang="en-US" dirty="0">
                    <a:latin typeface="Times New Roman" panose="02020603050405020304" pitchFamily="18" charset="0"/>
                    <a:ea typeface="微软雅黑" panose="020B0503020204020204" pitchFamily="34" charset="-122"/>
                  </a:rPr>
                  <a:t>。发射光的相对幅值（</a:t>
                </a:r>
                <a:r>
                  <a:rPr lang="en-US" altLang="zh-CN" dirty="0">
                    <a:latin typeface="Times New Roman" panose="02020603050405020304" pitchFamily="18" charset="0"/>
                    <a:ea typeface="微软雅黑" panose="020B0503020204020204" pitchFamily="34" charset="-122"/>
                  </a:rPr>
                  <a:t>b/B</a:t>
                </a:r>
                <a:r>
                  <a:rPr lang="zh-CN" altLang="en-US" dirty="0">
                    <a:latin typeface="Times New Roman" panose="02020603050405020304" pitchFamily="18" charset="0"/>
                    <a:ea typeface="微软雅黑" panose="020B0503020204020204" pitchFamily="34" charset="-122"/>
                  </a:rPr>
                  <a:t>）比激发光的相对幅值（</a:t>
                </a:r>
                <a:r>
                  <a:rPr lang="en-US" altLang="zh-CN" dirty="0">
                    <a:latin typeface="Times New Roman" panose="02020603050405020304" pitchFamily="18" charset="0"/>
                    <a:ea typeface="微软雅黑" panose="020B0503020204020204" pitchFamily="34" charset="-122"/>
                  </a:rPr>
                  <a:t>a/A</a:t>
                </a:r>
                <a:r>
                  <a:rPr lang="zh-CN" altLang="en-US" dirty="0">
                    <a:latin typeface="Times New Roman" panose="02020603050405020304" pitchFamily="18" charset="0"/>
                    <a:ea typeface="微软雅黑" panose="020B0503020204020204" pitchFamily="34" charset="-122"/>
                  </a:rPr>
                  <a:t>）要小，该比值</a:t>
                </a:r>
                <a14:m>
                  <m:oMath xmlns:m="http://schemas.openxmlformats.org/officeDocument/2006/math">
                    <m:f>
                      <m:fPr>
                        <m:ctrlPr>
                          <a:rPr lang="en-US" altLang="zh-CN" sz="2000" i="1" dirty="0" smtClean="0">
                            <a:latin typeface="Cambria Math" panose="02040503050406030204" pitchFamily="18" charset="0"/>
                            <a:ea typeface="微软雅黑" panose="020B0503020204020204" pitchFamily="34" charset="-122"/>
                          </a:rPr>
                        </m:ctrlPr>
                      </m:fPr>
                      <m:num>
                        <m:r>
                          <m:rPr>
                            <m:sty m:val="p"/>
                          </m:rPr>
                          <a:rPr lang="en-US" altLang="zh-CN" sz="2000" i="1" dirty="0">
                            <a:latin typeface="Cambria Math" panose="02040503050406030204" pitchFamily="18" charset="0"/>
                            <a:ea typeface="微软雅黑" panose="020B0503020204020204" pitchFamily="34" charset="-122"/>
                          </a:rPr>
                          <m:t>b</m:t>
                        </m:r>
                        <m:r>
                          <a:rPr lang="en-US" altLang="zh-CN" sz="2000" b="0" i="1" dirty="0" smtClean="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𝐵</m:t>
                        </m:r>
                      </m:num>
                      <m:den>
                        <m:r>
                          <a:rPr lang="en-US" altLang="zh-CN" sz="2000" b="0" i="1" dirty="0" smtClean="0">
                            <a:latin typeface="Cambria Math" panose="02040503050406030204" pitchFamily="18" charset="0"/>
                            <a:ea typeface="微软雅黑" panose="020B0503020204020204" pitchFamily="34" charset="-122"/>
                          </a:rPr>
                          <m:t>𝑎</m:t>
                        </m:r>
                        <m:r>
                          <a:rPr lang="en-US" altLang="zh-CN" sz="2000" b="0" i="1" dirty="0" smtClean="0">
                            <a:latin typeface="Cambria Math" panose="02040503050406030204" pitchFamily="18" charset="0"/>
                            <a:ea typeface="微软雅黑" panose="020B0503020204020204" pitchFamily="34" charset="-122"/>
                          </a:rPr>
                          <m:t>/</m:t>
                        </m:r>
                        <m:r>
                          <a:rPr lang="en-US" altLang="zh-CN" sz="2000" b="0" i="1" dirty="0" smtClean="0">
                            <a:latin typeface="Cambria Math" panose="02040503050406030204" pitchFamily="18" charset="0"/>
                            <a:ea typeface="微软雅黑" panose="020B0503020204020204" pitchFamily="34" charset="-122"/>
                          </a:rPr>
                          <m:t>𝐴</m:t>
                        </m:r>
                      </m:den>
                    </m:f>
                    <m:r>
                      <a:rPr lang="zh-CN" altLang="en-US" sz="2000" i="1" dirty="0" smtClean="0">
                        <a:latin typeface="Cambria Math" panose="02040503050406030204" pitchFamily="18" charset="0"/>
                        <a:ea typeface="微软雅黑" panose="020B0503020204020204" pitchFamily="34" charset="-122"/>
                      </a:rPr>
                      <m:t> </m:t>
                    </m:r>
                  </m:oMath>
                </a14:m>
                <a:r>
                  <a:rPr lang="zh-CN" altLang="en-US" dirty="0">
                    <a:latin typeface="Times New Roman" panose="02020603050405020304" pitchFamily="18" charset="0"/>
                    <a:ea typeface="微软雅黑" panose="020B0503020204020204" pitchFamily="34" charset="-122"/>
                  </a:rPr>
                  <a:t>称为去调制因素</a:t>
                </a:r>
                <a:r>
                  <a:rPr lang="en-US" altLang="zh-CN" i="1" dirty="0">
                    <a:latin typeface="Times New Roman" panose="02020603050405020304" pitchFamily="18" charset="0"/>
                    <a:ea typeface="微软雅黑" panose="020B0503020204020204" pitchFamily="34" charset="-122"/>
                  </a:rPr>
                  <a:t>m</a:t>
                </a:r>
                <a:r>
                  <a:rPr lang="zh-CN" altLang="en-US" dirty="0">
                    <a:latin typeface="Times New Roman" panose="02020603050405020304" pitchFamily="18" charset="0"/>
                    <a:ea typeface="微软雅黑" panose="020B0503020204020204" pitchFamily="34" charset="-122"/>
                  </a:rPr>
                  <a:t>。</a:t>
                </a:r>
                <a:endParaRPr lang="zh-CN" altLang="en-US" dirty="0">
                  <a:latin typeface="Times New Roman" panose="02020603050405020304" pitchFamily="18" charset="0"/>
                  <a:ea typeface="微软雅黑" panose="020B0503020204020204" pitchFamily="34" charset="-122"/>
                </a:endParaRPr>
              </a:p>
            </p:txBody>
          </p:sp>
        </mc:Choice>
        <mc:Fallback>
          <p:sp>
            <p:nvSpPr>
              <p:cNvPr id="19" name="矩形 18"/>
              <p:cNvSpPr>
                <a:spLocks noRot="1" noChangeAspect="1" noMove="1" noResize="1" noEditPoints="1" noAdjustHandles="1" noChangeArrowheads="1" noChangeShapeType="1" noTextEdit="1"/>
              </p:cNvSpPr>
              <p:nvPr/>
            </p:nvSpPr>
            <p:spPr>
              <a:xfrm>
                <a:off x="534035" y="2109470"/>
                <a:ext cx="11179175" cy="1538605"/>
              </a:xfrm>
              <a:prstGeom prst="rect">
                <a:avLst/>
              </a:prstGeom>
              <a:blipFill rotWithShape="1">
                <a:blip r:embed="rId1"/>
                <a:stretch>
                  <a:fillRect r="-142"/>
                </a:stretch>
              </a:blipFill>
            </p:spPr>
            <p:txBody>
              <a:bodyPr/>
              <a:lstStyle/>
              <a:p>
                <a:r>
                  <a:rPr lang="zh-CN" altLang="en-US">
                    <a:noFill/>
                  </a:rPr>
                  <a:t> </a:t>
                </a:r>
              </a:p>
            </p:txBody>
          </p:sp>
        </mc:Fallback>
      </mc:AlternateContent>
      <p:pic>
        <p:nvPicPr>
          <p:cNvPr id="22" name="图片 21"/>
          <p:cNvPicPr/>
          <p:nvPr/>
        </p:nvPicPr>
        <p:blipFill>
          <a:blip r:embed="rId2"/>
          <a:stretch>
            <a:fillRect/>
          </a:stretch>
        </p:blipFill>
        <p:spPr>
          <a:xfrm>
            <a:off x="6997700" y="3491865"/>
            <a:ext cx="4081145" cy="2465070"/>
          </a:xfrm>
          <a:prstGeom prst="rect">
            <a:avLst/>
          </a:prstGeom>
        </p:spPr>
      </p:pic>
      <p:graphicFrame>
        <p:nvGraphicFramePr>
          <p:cNvPr id="23" name="对象 22"/>
          <p:cNvGraphicFramePr>
            <a:graphicFrameLocks noChangeAspect="1"/>
          </p:cNvGraphicFramePr>
          <p:nvPr/>
        </p:nvGraphicFramePr>
        <p:xfrm>
          <a:off x="2621915" y="4431665"/>
          <a:ext cx="1920240" cy="562610"/>
        </p:xfrm>
        <a:graphic>
          <a:graphicData uri="http://schemas.openxmlformats.org/presentationml/2006/ole">
            <mc:AlternateContent xmlns:mc="http://schemas.openxmlformats.org/markup-compatibility/2006">
              <mc:Choice xmlns:v="urn:schemas-microsoft-com:vml" Requires="v">
                <p:oleObj spid="_x0000_s18625" name="Equation" r:id="rId3" imgW="14020800" imgH="4267200" progId="Equation.DSMT4">
                  <p:embed/>
                </p:oleObj>
              </mc:Choice>
              <mc:Fallback>
                <p:oleObj name="Equation" r:id="rId3" imgW="14020800" imgH="4267200" progId="Equation.DSMT4">
                  <p:embed/>
                  <p:pic>
                    <p:nvPicPr>
                      <p:cNvPr id="0" name="Object 10"/>
                      <p:cNvPicPr>
                        <a:picLocks noChangeAspect="1" noChangeArrowheads="1"/>
                      </p:cNvPicPr>
                      <p:nvPr/>
                    </p:nvPicPr>
                    <p:blipFill>
                      <a:blip r:embed="rId4"/>
                      <a:srcRect/>
                      <a:stretch>
                        <a:fillRect/>
                      </a:stretch>
                    </p:blipFill>
                    <p:spPr bwMode="auto">
                      <a:xfrm>
                        <a:off x="2621915" y="4431665"/>
                        <a:ext cx="1920240" cy="562610"/>
                      </a:xfrm>
                      <a:prstGeom prst="rect">
                        <a:avLst/>
                      </a:prstGeom>
                      <a:noFill/>
                    </p:spPr>
                  </p:pic>
                </p:oleObj>
              </mc:Fallback>
            </mc:AlternateContent>
          </a:graphicData>
        </a:graphic>
      </p:graphicFrame>
      <p:graphicFrame>
        <p:nvGraphicFramePr>
          <p:cNvPr id="25" name="对象 24"/>
          <p:cNvGraphicFramePr>
            <a:graphicFrameLocks noChangeAspect="1"/>
          </p:cNvGraphicFramePr>
          <p:nvPr/>
        </p:nvGraphicFramePr>
        <p:xfrm>
          <a:off x="2322195" y="5106670"/>
          <a:ext cx="2738120" cy="518795"/>
        </p:xfrm>
        <a:graphic>
          <a:graphicData uri="http://schemas.openxmlformats.org/presentationml/2006/ole">
            <mc:AlternateContent xmlns:mc="http://schemas.openxmlformats.org/markup-compatibility/2006">
              <mc:Choice xmlns:v="urn:schemas-microsoft-com:vml" Requires="v">
                <p:oleObj spid="_x0000_s18626" name="Equation" r:id="rId5" imgW="42062400" imgH="8229600" progId="Equation.DSMT4">
                  <p:embed/>
                </p:oleObj>
              </mc:Choice>
              <mc:Fallback>
                <p:oleObj name="Equation" r:id="rId5" imgW="42062400" imgH="8229600" progId="Equation.DSMT4">
                  <p:embed/>
                  <p:pic>
                    <p:nvPicPr>
                      <p:cNvPr id="0" name="Object 12"/>
                      <p:cNvPicPr>
                        <a:picLocks noChangeAspect="1" noChangeArrowheads="1"/>
                      </p:cNvPicPr>
                      <p:nvPr/>
                    </p:nvPicPr>
                    <p:blipFill>
                      <a:blip r:embed="rId6"/>
                      <a:srcRect/>
                      <a:stretch>
                        <a:fillRect/>
                      </a:stretch>
                    </p:blipFill>
                    <p:spPr bwMode="auto">
                      <a:xfrm>
                        <a:off x="2322195" y="5106670"/>
                        <a:ext cx="2738120" cy="518795"/>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26" name="矩形 25"/>
              <p:cNvSpPr/>
              <p:nvPr/>
            </p:nvSpPr>
            <p:spPr>
              <a:xfrm>
                <a:off x="1565662" y="5846467"/>
                <a:ext cx="8917348" cy="506730"/>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根据</a:t>
                </a:r>
                <a:r>
                  <a:rPr lang="zh-CN" altLang="en-US" dirty="0">
                    <a:solidFill>
                      <a:srgbClr val="C00000"/>
                    </a:solidFill>
                    <a:latin typeface="微软雅黑" panose="020B0503020204020204" pitchFamily="34" charset="-122"/>
                    <a:ea typeface="微软雅黑" panose="020B0503020204020204" pitchFamily="34" charset="-122"/>
                  </a:rPr>
                  <a:t>测量得到相角</a:t>
                </a:r>
                <a14:m>
                  <m:oMath xmlns:m="http://schemas.openxmlformats.org/officeDocument/2006/math">
                    <m:r>
                      <a:rPr lang="zh-CN" altLang="en-US" i="1">
                        <a:solidFill>
                          <a:srgbClr val="C00000"/>
                        </a:solidFill>
                        <a:latin typeface="Cambria Math" panose="02040503050406030204" pitchFamily="18" charset="0"/>
                        <a:ea typeface="微软雅黑" panose="020B0503020204020204" pitchFamily="34" charset="-122"/>
                      </a:rPr>
                      <m:t>𝜙</m:t>
                    </m:r>
                  </m:oMath>
                </a14:m>
                <a:r>
                  <a:rPr lang="zh-CN" altLang="en-US" dirty="0">
                    <a:solidFill>
                      <a:srgbClr val="C00000"/>
                    </a:solidFill>
                    <a:latin typeface="微软雅黑" panose="020B0503020204020204" pitchFamily="34" charset="-122"/>
                    <a:ea typeface="微软雅黑" panose="020B0503020204020204" pitchFamily="34" charset="-122"/>
                  </a:rPr>
                  <a:t>或者去调制因素</a:t>
                </a:r>
                <a:r>
                  <a:rPr lang="en-US" altLang="zh-CN" i="1" dirty="0">
                    <a:solidFill>
                      <a:srgbClr val="C00000"/>
                    </a:solidFill>
                    <a:latin typeface="Times New Roman" panose="02020603050405020304" pitchFamily="18" charset="0"/>
                    <a:ea typeface="微软雅黑" panose="020B0503020204020204" pitchFamily="34" charset="-122"/>
                  </a:rPr>
                  <a:t>m </a:t>
                </a:r>
                <a:r>
                  <a:rPr lang="zh-CN" altLang="en-US" dirty="0">
                    <a:latin typeface="微软雅黑" panose="020B0503020204020204" pitchFamily="34" charset="-122"/>
                    <a:ea typeface="微软雅黑" panose="020B0503020204020204" pitchFamily="34" charset="-122"/>
                  </a:rPr>
                  <a:t>，就可以计算出被测物质中荧光体的荧光寿命</a:t>
                </a:r>
                <a14:m>
                  <m:oMath xmlns:m="http://schemas.openxmlformats.org/officeDocument/2006/math">
                    <m:r>
                      <a:rPr lang="zh-CN" altLang="en-US" i="1" smtClean="0">
                        <a:latin typeface="Cambria Math" panose="02040503050406030204" pitchFamily="18" charset="0"/>
                        <a:ea typeface="微软雅黑" panose="020B0503020204020204" pitchFamily="34" charset="-122"/>
                      </a:rPr>
                      <m:t>𝜏</m:t>
                    </m:r>
                  </m:oMath>
                </a14:m>
                <a:endParaRPr lang="zh-CN" altLang="en-US" dirty="0">
                  <a:latin typeface="微软雅黑" panose="020B0503020204020204" pitchFamily="34" charset="-122"/>
                  <a:ea typeface="微软雅黑" panose="020B0503020204020204" pitchFamily="34" charset="-122"/>
                </a:endParaRPr>
              </a:p>
            </p:txBody>
          </p:sp>
        </mc:Choice>
        <mc:Fallback>
          <p:sp>
            <p:nvSpPr>
              <p:cNvPr id="26" name="矩形 25"/>
              <p:cNvSpPr>
                <a:spLocks noRot="1" noChangeAspect="1" noMove="1" noResize="1" noEditPoints="1" noAdjustHandles="1" noChangeArrowheads="1" noChangeShapeType="1" noTextEdit="1"/>
              </p:cNvSpPr>
              <p:nvPr/>
            </p:nvSpPr>
            <p:spPr>
              <a:xfrm>
                <a:off x="1565662" y="5846467"/>
                <a:ext cx="8917348" cy="506730"/>
              </a:xfrm>
              <a:prstGeom prst="rect">
                <a:avLst/>
              </a:prstGeom>
              <a:blipFill rotWithShape="1">
                <a:blip r:embed="rId7"/>
                <a:stretch>
                  <a:fillRect l="-4" t="-4" r="5" b="4"/>
                </a:stretch>
              </a:blipFill>
            </p:spPr>
            <p:txBody>
              <a:bodyPr/>
              <a:lstStyle/>
              <a:p>
                <a:r>
                  <a:rPr lang="zh-CN" altLang="en-US">
                    <a:noFill/>
                  </a:rPr>
                  <a:t> </a:t>
                </a:r>
              </a:p>
            </p:txBody>
          </p:sp>
        </mc:Fallback>
      </mc:AlternateContent>
      <p:sp>
        <p:nvSpPr>
          <p:cNvPr id="18433" name="矩形 18432"/>
          <p:cNvSpPr/>
          <p:nvPr/>
        </p:nvSpPr>
        <p:spPr>
          <a:xfrm>
            <a:off x="980773" y="3755082"/>
            <a:ext cx="4069080" cy="368300"/>
          </a:xfrm>
          <a:prstGeom prst="rect">
            <a:avLst/>
          </a:prstGeom>
        </p:spPr>
        <p:txBody>
          <a:bodyPr wrap="none">
            <a:spAutoFit/>
          </a:bodyPr>
          <a:lstStyle/>
          <a:p>
            <a:r>
              <a:rPr lang="zh-CN" altLang="en-US" dirty="0">
                <a:solidFill>
                  <a:srgbClr val="0070C0"/>
                </a:solidFill>
                <a:latin typeface="微软雅黑" panose="020B0503020204020204" pitchFamily="34" charset="-122"/>
                <a:ea typeface="微软雅黑" panose="020B0503020204020204" pitchFamily="34" charset="-122"/>
              </a:rPr>
              <a:t>对于单指数衰变的荧光，有如下关系：</a:t>
            </a:r>
            <a:endParaRPr lang="zh-CN" altLang="en-US" dirty="0">
              <a:solidFill>
                <a:srgbClr val="0070C0"/>
              </a:solidFill>
              <a:latin typeface="微软雅黑" panose="020B0503020204020204" pitchFamily="34" charset="-122"/>
              <a:ea typeface="微软雅黑" panose="020B0503020204020204" pitchFamily="34" charset="-122"/>
            </a:endParaRPr>
          </a:p>
        </p:txBody>
      </p:sp>
      <p:sp>
        <p:nvSpPr>
          <p:cNvPr id="2" name="矩形 1"/>
          <p:cNvSpPr/>
          <p:nvPr/>
        </p:nvSpPr>
        <p:spPr>
          <a:xfrm>
            <a:off x="1961515" y="4312285"/>
            <a:ext cx="3454400" cy="14376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11"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
        <p:nvSpPr>
          <p:cNvPr id="5" name="文本框 4"/>
          <p:cNvSpPr txBox="1"/>
          <p:nvPr/>
        </p:nvSpPr>
        <p:spPr>
          <a:xfrm>
            <a:off x="1004570" y="1684655"/>
            <a:ext cx="10655300" cy="368300"/>
          </a:xfrm>
          <a:prstGeom prst="rect">
            <a:avLst/>
          </a:prstGeom>
          <a:noFill/>
        </p:spPr>
        <p:txBody>
          <a:bodyPr wrap="square" rtlCol="0" anchor="t">
            <a:spAutoFit/>
          </a:bodyPr>
          <a:p>
            <a:r>
              <a:rPr lang="zh-CN" altLang="en-US" dirty="0">
                <a:solidFill>
                  <a:srgbClr val="0070C0"/>
                </a:solidFill>
                <a:latin typeface="微软雅黑" panose="020B0503020204020204" pitchFamily="34" charset="-122"/>
                <a:ea typeface="微软雅黑" panose="020B0503020204020204" pitchFamily="34" charset="-122"/>
                <a:sym typeface="+mn-ea"/>
              </a:rPr>
              <a:t>荧光寿命定义为荧光强度降低到其初始值</a:t>
            </a:r>
            <a:r>
              <a:rPr lang="en-US" altLang="zh-CN" dirty="0">
                <a:solidFill>
                  <a:srgbClr val="0070C0"/>
                </a:solidFill>
                <a:latin typeface="微软雅黑" panose="020B0503020204020204" pitchFamily="34" charset="-122"/>
                <a:ea typeface="微软雅黑" panose="020B0503020204020204" pitchFamily="34" charset="-122"/>
                <a:sym typeface="+mn-ea"/>
              </a:rPr>
              <a:t>1/e</a:t>
            </a:r>
            <a:r>
              <a:rPr lang="zh-CN" altLang="en-US" dirty="0">
                <a:solidFill>
                  <a:srgbClr val="0070C0"/>
                </a:solidFill>
                <a:latin typeface="微软雅黑" panose="020B0503020204020204" pitchFamily="34" charset="-122"/>
                <a:ea typeface="微软雅黑" panose="020B0503020204020204" pitchFamily="34" charset="-122"/>
                <a:sym typeface="+mn-ea"/>
              </a:rPr>
              <a:t>时所需要的时间。测量荧光寿命的主要方法是相位分辨法。</a:t>
            </a:r>
            <a:endParaRPr lang="zh-CN" altLang="en-US" dirty="0">
              <a:solidFill>
                <a:srgbClr val="0070C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533733" y="1202308"/>
            <a:ext cx="1757680" cy="398780"/>
          </a:xfrm>
          <a:prstGeom prst="rect">
            <a:avLst/>
          </a:prstGeom>
        </p:spPr>
        <p:txBody>
          <a:bodyPr wrap="none">
            <a:spAutoFit/>
          </a:bodyPr>
          <a:p>
            <a:r>
              <a:rPr lang="en-US" altLang="zh-CN" sz="2000" b="1" dirty="0">
                <a:solidFill>
                  <a:srgbClr val="1F1F79"/>
                </a:solidFill>
                <a:latin typeface="微软雅黑" panose="020B0503020204020204" pitchFamily="34" charset="-122"/>
                <a:cs typeface="宋体" panose="02010600030101010101" pitchFamily="2" charset="-122"/>
              </a:rPr>
              <a:t>2. </a:t>
            </a:r>
            <a:r>
              <a:rPr lang="zh-CN" altLang="zh-CN" sz="2000" b="1" dirty="0">
                <a:solidFill>
                  <a:srgbClr val="1F1F79"/>
                </a:solidFill>
                <a:ea typeface="微软雅黑" panose="020B0503020204020204" pitchFamily="34" charset="-122"/>
                <a:cs typeface="宋体" panose="02010600030101010101" pitchFamily="2" charset="-122"/>
              </a:rPr>
              <a:t>荧光寿命法</a:t>
            </a:r>
            <a:endParaRPr lang="zh-CN" altLang="en-US" sz="2000" b="1" dirty="0">
              <a:solidFill>
                <a:srgbClr val="1F1F79"/>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312038" y="363855"/>
            <a:ext cx="6690360" cy="612140"/>
          </a:xfrm>
        </p:spPr>
        <p:txBody>
          <a:bodyPr/>
          <a:lstStyle/>
          <a:p>
            <a:pPr algn="ctr"/>
            <a:r>
              <a:rPr lang="en-US" altLang="zh-CN" b="1" dirty="0">
                <a:solidFill>
                  <a:srgbClr val="002060"/>
                </a:solidFill>
              </a:rPr>
              <a:t>4.3.2   </a:t>
            </a:r>
            <a:r>
              <a:rPr lang="zh-CN" altLang="en-US" b="1" dirty="0">
                <a:solidFill>
                  <a:srgbClr val="002060"/>
                </a:solidFill>
              </a:rPr>
              <a:t>荧光检测方法</a:t>
            </a:r>
            <a:endParaRPr lang="zh-CN" altLang="en-US" b="1" dirty="0">
              <a:solidFill>
                <a:srgbClr val="002060"/>
              </a:solidFill>
            </a:endParaRPr>
          </a:p>
        </p:txBody>
      </p:sp>
      <p:sp>
        <p:nvSpPr>
          <p:cNvPr id="2" name="矩形 1"/>
          <p:cNvSpPr/>
          <p:nvPr/>
        </p:nvSpPr>
        <p:spPr>
          <a:xfrm>
            <a:off x="399748" y="1367408"/>
            <a:ext cx="1503680" cy="398780"/>
          </a:xfrm>
          <a:prstGeom prst="rect">
            <a:avLst/>
          </a:prstGeom>
        </p:spPr>
        <p:txBody>
          <a:bodyPr wrap="none">
            <a:spAutoFit/>
          </a:bodyPr>
          <a:lstStyle/>
          <a:p>
            <a:r>
              <a:rPr lang="en-US" altLang="zh-CN" sz="2000" b="1" dirty="0">
                <a:solidFill>
                  <a:srgbClr val="1F1F79"/>
                </a:solidFill>
                <a:latin typeface="微软雅黑" panose="020B0503020204020204" pitchFamily="34" charset="-122"/>
                <a:cs typeface="宋体" panose="02010600030101010101" pitchFamily="2" charset="-122"/>
              </a:rPr>
              <a:t>3. </a:t>
            </a:r>
            <a:r>
              <a:rPr lang="zh-CN" altLang="zh-CN" sz="2000" b="1" dirty="0">
                <a:solidFill>
                  <a:srgbClr val="1F1F79"/>
                </a:solidFill>
                <a:ea typeface="微软雅黑" panose="020B0503020204020204" pitchFamily="34" charset="-122"/>
                <a:cs typeface="宋体" panose="02010600030101010101" pitchFamily="2" charset="-122"/>
              </a:rPr>
              <a:t>荧光</a:t>
            </a:r>
            <a:r>
              <a:rPr lang="zh-CN" altLang="en-US" sz="2000" b="1" dirty="0">
                <a:solidFill>
                  <a:srgbClr val="1F1F79"/>
                </a:solidFill>
                <a:ea typeface="微软雅黑" panose="020B0503020204020204" pitchFamily="34" charset="-122"/>
                <a:cs typeface="宋体" panose="02010600030101010101" pitchFamily="2" charset="-122"/>
              </a:rPr>
              <a:t>探针</a:t>
            </a:r>
            <a:endParaRPr lang="zh-CN" altLang="en-US" sz="2000" b="1" dirty="0">
              <a:solidFill>
                <a:srgbClr val="1F1F79"/>
              </a:solidFill>
            </a:endParaRPr>
          </a:p>
        </p:txBody>
      </p:sp>
      <p:sp>
        <p:nvSpPr>
          <p:cNvPr id="4" name="矩形 3"/>
          <p:cNvSpPr/>
          <p:nvPr/>
        </p:nvSpPr>
        <p:spPr>
          <a:xfrm>
            <a:off x="834787" y="1842377"/>
            <a:ext cx="10300539" cy="2168525"/>
          </a:xfrm>
          <a:prstGeom prst="rect">
            <a:avLst/>
          </a:prstGeom>
        </p:spPr>
        <p:txBody>
          <a:bodyPr wrap="square">
            <a:spAutoFit/>
          </a:bodyPr>
          <a:lstStyle/>
          <a:p>
            <a:pPr indent="457200" algn="just">
              <a:lnSpc>
                <a:spcPct val="150000"/>
              </a:lnSpc>
            </a:pPr>
            <a:r>
              <a:rPr lang="zh-CN" altLang="en-US" dirty="0">
                <a:latin typeface="微软雅黑" panose="020B0503020204020204" pitchFamily="34" charset="-122"/>
                <a:ea typeface="微软雅黑" panose="020B0503020204020204" pitchFamily="34" charset="-122"/>
              </a:rPr>
              <a:t>有些物质不会发射荧光或者荧光效率很低，为了使荧光光谱技术能够应用于这些物质的检测，可以借助于具有强荧光效率的荧光团分子（常称为荧光探针）。</a:t>
            </a:r>
            <a:endParaRPr lang="zh-CN" altLang="en-US"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通常将荧光探针对待测物质分子进行标记或者衍生，生成具有高荧光强度的共价或非共价结合的络合物。</a:t>
            </a:r>
            <a:r>
              <a:rPr lang="zh-CN" altLang="en-US" b="1" dirty="0">
                <a:solidFill>
                  <a:srgbClr val="C00000"/>
                </a:solidFill>
                <a:latin typeface="微软雅黑" panose="020B0503020204020204" pitchFamily="34" charset="-122"/>
                <a:ea typeface="微软雅黑" panose="020B0503020204020204" pitchFamily="34" charset="-122"/>
              </a:rPr>
              <a:t>荧光探针分子需要满足两个条件：①能够与待测物质特异且牢固地结合；②这种结合不会破坏待测物质的分子结构和空间构象。</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31" name="矩形 30"/>
          <p:cNvSpPr/>
          <p:nvPr/>
        </p:nvSpPr>
        <p:spPr>
          <a:xfrm>
            <a:off x="834788" y="4270248"/>
            <a:ext cx="10300538" cy="1337945"/>
          </a:xfrm>
          <a:prstGeom prst="rect">
            <a:avLst/>
          </a:prstGeom>
        </p:spPr>
        <p:txBody>
          <a:bodyPr wrap="square">
            <a:spAutoFit/>
          </a:bodyPr>
          <a:lstStyle/>
          <a:p>
            <a:pPr indent="457200" algn="just">
              <a:lnSpc>
                <a:spcPct val="150000"/>
              </a:lnSpc>
            </a:pPr>
            <a:r>
              <a:rPr lang="zh-CN" altLang="en-US" dirty="0">
                <a:latin typeface="微软雅黑" panose="020B0503020204020204" pitchFamily="34" charset="-122"/>
                <a:ea typeface="微软雅黑" panose="020B0503020204020204" pitchFamily="34" charset="-122"/>
              </a:rPr>
              <a:t>常用的荧光探针剂有：</a:t>
            </a:r>
            <a:r>
              <a:rPr lang="zh-CN" altLang="en-US" b="1" dirty="0">
                <a:solidFill>
                  <a:srgbClr val="C00000"/>
                </a:solidFill>
                <a:latin typeface="微软雅黑" panose="020B0503020204020204" pitchFamily="34" charset="-122"/>
                <a:ea typeface="微软雅黑" panose="020B0503020204020204" pitchFamily="34" charset="-122"/>
              </a:rPr>
              <a:t>色氨酸、</a:t>
            </a:r>
            <a:r>
              <a:rPr lang="en-US" altLang="zh-CN" b="1" dirty="0">
                <a:solidFill>
                  <a:srgbClr val="C00000"/>
                </a:solidFill>
                <a:latin typeface="微软雅黑" panose="020B0503020204020204" pitchFamily="34" charset="-122"/>
                <a:ea typeface="微软雅黑" panose="020B0503020204020204" pitchFamily="34" charset="-122"/>
              </a:rPr>
              <a:t>4',6-</a:t>
            </a:r>
            <a:r>
              <a:rPr lang="zh-CN" altLang="en-US" b="1" dirty="0">
                <a:solidFill>
                  <a:srgbClr val="C00000"/>
                </a:solidFill>
                <a:latin typeface="微软雅黑" panose="020B0503020204020204" pitchFamily="34" charset="-122"/>
                <a:ea typeface="微软雅黑" panose="020B0503020204020204" pitchFamily="34" charset="-122"/>
              </a:rPr>
              <a:t>二脒基</a:t>
            </a:r>
            <a:r>
              <a:rPr lang="en-US" altLang="zh-CN" b="1" dirty="0">
                <a:solidFill>
                  <a:srgbClr val="C00000"/>
                </a:solidFill>
                <a:latin typeface="微软雅黑" panose="020B0503020204020204" pitchFamily="34" charset="-122"/>
                <a:ea typeface="微软雅黑" panose="020B0503020204020204" pitchFamily="34" charset="-122"/>
              </a:rPr>
              <a:t>-2-</a:t>
            </a:r>
            <a:r>
              <a:rPr lang="zh-CN" altLang="en-US" b="1" dirty="0">
                <a:solidFill>
                  <a:srgbClr val="C00000"/>
                </a:solidFill>
                <a:latin typeface="微软雅黑" panose="020B0503020204020204" pitchFamily="34" charset="-122"/>
                <a:ea typeface="微软雅黑" panose="020B0503020204020204" pitchFamily="34" charset="-122"/>
              </a:rPr>
              <a:t>苯基吲哚、绿素荧光蛋白、罗丹明和</a:t>
            </a:r>
            <a:r>
              <a:rPr lang="en-US" altLang="zh-CN" b="1" dirty="0">
                <a:solidFill>
                  <a:srgbClr val="C00000"/>
                </a:solidFill>
                <a:latin typeface="微软雅黑" panose="020B0503020204020204" pitchFamily="34" charset="-122"/>
                <a:ea typeface="微软雅黑" panose="020B0503020204020204" pitchFamily="34" charset="-122"/>
              </a:rPr>
              <a:t>Cy</a:t>
            </a:r>
            <a:r>
              <a:rPr lang="zh-CN" altLang="en-US" b="1" dirty="0">
                <a:solidFill>
                  <a:srgbClr val="C00000"/>
                </a:solidFill>
                <a:latin typeface="微软雅黑" panose="020B0503020204020204" pitchFamily="34" charset="-122"/>
                <a:ea typeface="微软雅黑" panose="020B0503020204020204" pitchFamily="34" charset="-122"/>
              </a:rPr>
              <a:t>系列染料</a:t>
            </a:r>
            <a:r>
              <a:rPr lang="zh-CN" altLang="en-US" dirty="0">
                <a:latin typeface="微软雅黑" panose="020B0503020204020204" pitchFamily="34" charset="-122"/>
                <a:ea typeface="微软雅黑" panose="020B0503020204020204" pitchFamily="34" charset="-122"/>
              </a:rPr>
              <a:t>等。荧光探针具有灵敏度高、选择性好、使用方便等优点，可以在复杂的生物环境中实现实时高精度地测量特定的分析物。</a:t>
            </a:r>
            <a:endParaRPr lang="zh-CN" altLang="en-US" dirty="0">
              <a:latin typeface="微软雅黑" panose="020B0503020204020204" pitchFamily="34" charset="-122"/>
              <a:ea typeface="微软雅黑" panose="020B0503020204020204" pitchFamily="34" charset="-122"/>
            </a:endParaRPr>
          </a:p>
        </p:txBody>
      </p:sp>
      <p:sp>
        <p:nvSpPr>
          <p:cNvPr id="3" name="矩形 2"/>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11"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p:nvPr/>
        </p:nvPicPr>
        <p:blipFill>
          <a:blip r:embed="rId1">
            <a:extLst>
              <a:ext uri="{28A0092B-C50C-407E-A947-70E740481C1C}">
                <a14:useLocalDpi xmlns:a14="http://schemas.microsoft.com/office/drawing/2010/main" val="0"/>
              </a:ext>
            </a:extLst>
          </a:blip>
          <a:srcRect/>
          <a:stretch>
            <a:fillRect/>
          </a:stretch>
        </p:blipFill>
        <p:spPr>
          <a:xfrm>
            <a:off x="5109845" y="3861435"/>
            <a:ext cx="5337810" cy="2860040"/>
          </a:xfrm>
          <a:prstGeom prst="rect">
            <a:avLst/>
          </a:prstGeom>
          <a:noFill/>
          <a:ln>
            <a:noFill/>
          </a:ln>
        </p:spPr>
      </p:pic>
      <p:sp>
        <p:nvSpPr>
          <p:cNvPr id="6" name="标题 5"/>
          <p:cNvSpPr>
            <a:spLocks noGrp="1"/>
          </p:cNvSpPr>
          <p:nvPr>
            <p:ph type="title"/>
          </p:nvPr>
        </p:nvSpPr>
        <p:spPr>
          <a:xfrm>
            <a:off x="2312038" y="363855"/>
            <a:ext cx="6690360" cy="612140"/>
          </a:xfrm>
        </p:spPr>
        <p:txBody>
          <a:bodyPr/>
          <a:lstStyle/>
          <a:p>
            <a:pPr algn="ctr"/>
            <a:r>
              <a:rPr lang="en-US" altLang="zh-CN" b="1" dirty="0">
                <a:solidFill>
                  <a:srgbClr val="002060"/>
                </a:solidFill>
              </a:rPr>
              <a:t>4.3.3   </a:t>
            </a:r>
            <a:r>
              <a:rPr lang="zh-CN" altLang="en-US" b="1" dirty="0">
                <a:solidFill>
                  <a:srgbClr val="002060"/>
                </a:solidFill>
              </a:rPr>
              <a:t>荧光光谱与测量</a:t>
            </a:r>
            <a:endParaRPr lang="zh-CN" altLang="en-US" b="1" dirty="0">
              <a:solidFill>
                <a:srgbClr val="002060"/>
              </a:solidFill>
            </a:endParaRPr>
          </a:p>
        </p:txBody>
      </p:sp>
      <p:sp>
        <p:nvSpPr>
          <p:cNvPr id="16" name="矩形 15"/>
          <p:cNvSpPr/>
          <p:nvPr/>
        </p:nvSpPr>
        <p:spPr>
          <a:xfrm>
            <a:off x="399748" y="2219330"/>
            <a:ext cx="2519680" cy="398780"/>
          </a:xfrm>
          <a:prstGeom prst="rect">
            <a:avLst/>
          </a:prstGeom>
        </p:spPr>
        <p:txBody>
          <a:bodyPr wrap="none">
            <a:spAutoFit/>
          </a:bodyPr>
          <a:lstStyle/>
          <a:p>
            <a:r>
              <a:rPr lang="en-US" altLang="zh-CN" sz="2000" b="1" dirty="0">
                <a:solidFill>
                  <a:srgbClr val="1F1F79"/>
                </a:solidFill>
                <a:latin typeface="微软雅黑" panose="020B0503020204020204" pitchFamily="34" charset="-122"/>
                <a:cs typeface="宋体" panose="02010600030101010101" pitchFamily="2" charset="-122"/>
              </a:rPr>
              <a:t>1. </a:t>
            </a:r>
            <a:r>
              <a:rPr lang="zh-CN" altLang="en-US" sz="2000" b="1" dirty="0">
                <a:solidFill>
                  <a:srgbClr val="1F1F79"/>
                </a:solidFill>
                <a:ea typeface="微软雅黑" panose="020B0503020204020204" pitchFamily="34" charset="-122"/>
                <a:cs typeface="宋体" panose="02010600030101010101" pitchFamily="2" charset="-122"/>
              </a:rPr>
              <a:t>荧光光谱仪的结构</a:t>
            </a:r>
            <a:endParaRPr lang="zh-CN" altLang="en-US" sz="2000" b="1" dirty="0">
              <a:solidFill>
                <a:srgbClr val="1F1F79"/>
              </a:solidFill>
            </a:endParaRPr>
          </a:p>
        </p:txBody>
      </p:sp>
      <p:sp>
        <p:nvSpPr>
          <p:cNvPr id="2" name="矩形 1"/>
          <p:cNvSpPr/>
          <p:nvPr/>
        </p:nvSpPr>
        <p:spPr>
          <a:xfrm>
            <a:off x="399748" y="2618295"/>
            <a:ext cx="11183252" cy="1337945"/>
          </a:xfrm>
          <a:prstGeom prst="rect">
            <a:avLst/>
          </a:prstGeom>
        </p:spPr>
        <p:txBody>
          <a:bodyPr wrap="square">
            <a:spAutoFit/>
          </a:bodyPr>
          <a:lstStyle/>
          <a:p>
            <a:pPr indent="457200" algn="just">
              <a:lnSpc>
                <a:spcPct val="150000"/>
              </a:lnSpc>
            </a:pPr>
            <a:r>
              <a:rPr lang="zh-CN" altLang="en-US" dirty="0">
                <a:latin typeface="微软雅黑" panose="020B0503020204020204" pitchFamily="34" charset="-122"/>
                <a:ea typeface="微软雅黑" panose="020B0503020204020204" pitchFamily="34" charset="-122"/>
              </a:rPr>
              <a:t>与紫外</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可见光谱仪的结构类似，荧光光谱仪主要包括</a:t>
            </a:r>
            <a:r>
              <a:rPr lang="zh-CN" altLang="en-US" b="1" dirty="0">
                <a:solidFill>
                  <a:srgbClr val="C00000"/>
                </a:solidFill>
                <a:latin typeface="微软雅黑" panose="020B0503020204020204" pitchFamily="34" charset="-122"/>
                <a:ea typeface="微软雅黑" panose="020B0503020204020204" pitchFamily="34" charset="-122"/>
              </a:rPr>
              <a:t>激发光源、单色器、样品池、滤色片和探测器。</a:t>
            </a:r>
            <a:endParaRPr lang="en-US" altLang="zh-CN" b="1" dirty="0">
              <a:solidFill>
                <a:srgbClr val="C00000"/>
              </a:solidFill>
              <a:latin typeface="微软雅黑" panose="020B0503020204020204" pitchFamily="34" charset="-122"/>
              <a:ea typeface="微软雅黑" panose="020B0503020204020204" pitchFamily="34" charset="-122"/>
            </a:endParaRPr>
          </a:p>
          <a:p>
            <a:pPr indent="457200" algn="just">
              <a:lnSpc>
                <a:spcPct val="150000"/>
              </a:lnSpc>
            </a:pPr>
            <a:r>
              <a:rPr lang="zh-CN" altLang="en-US" dirty="0">
                <a:solidFill>
                  <a:srgbClr val="0070C0"/>
                </a:solidFill>
                <a:latin typeface="微软雅黑" panose="020B0503020204020204" pitchFamily="34" charset="-122"/>
                <a:ea typeface="微软雅黑" panose="020B0503020204020204" pitchFamily="34" charset="-122"/>
              </a:rPr>
              <a:t>吸收和荧光两类光谱仪的主要区别</a:t>
            </a:r>
            <a:r>
              <a:rPr lang="zh-CN" altLang="en-US" dirty="0">
                <a:latin typeface="微软雅黑" panose="020B0503020204020204" pitchFamily="34" charset="-122"/>
                <a:ea typeface="微软雅黑" panose="020B0503020204020204" pitchFamily="34" charset="-122"/>
              </a:rPr>
              <a:t>：吸收光谱仪测量的是入射光经样品吸收后</a:t>
            </a:r>
            <a:r>
              <a:rPr lang="zh-CN" altLang="en-US" b="1" dirty="0">
                <a:solidFill>
                  <a:srgbClr val="002060"/>
                </a:solidFill>
                <a:latin typeface="微软雅黑" panose="020B0503020204020204" pitchFamily="34" charset="-122"/>
                <a:ea typeface="微软雅黑" panose="020B0503020204020204" pitchFamily="34" charset="-122"/>
              </a:rPr>
              <a:t>的透射光信号</a:t>
            </a:r>
            <a:r>
              <a:rPr lang="zh-CN" altLang="en-US" dirty="0">
                <a:latin typeface="微软雅黑" panose="020B0503020204020204" pitchFamily="34" charset="-122"/>
                <a:ea typeface="微软雅黑" panose="020B0503020204020204" pitchFamily="34" charset="-122"/>
              </a:rPr>
              <a:t>，荧光光谱仪测量的是</a:t>
            </a:r>
            <a:r>
              <a:rPr lang="zh-CN" altLang="en-US" b="1" dirty="0">
                <a:solidFill>
                  <a:srgbClr val="002060"/>
                </a:solidFill>
                <a:latin typeface="微软雅黑" panose="020B0503020204020204" pitchFamily="34" charset="-122"/>
                <a:ea typeface="微软雅黑" panose="020B0503020204020204" pitchFamily="34" charset="-122"/>
              </a:rPr>
              <a:t>与入射光成</a:t>
            </a:r>
            <a:r>
              <a:rPr lang="en-US" altLang="zh-CN" b="1" dirty="0">
                <a:solidFill>
                  <a:srgbClr val="002060"/>
                </a:solidFill>
                <a:latin typeface="微软雅黑" panose="020B0503020204020204" pitchFamily="34" charset="-122"/>
                <a:ea typeface="微软雅黑" panose="020B0503020204020204" pitchFamily="34" charset="-122"/>
              </a:rPr>
              <a:t>90°</a:t>
            </a:r>
            <a:r>
              <a:rPr lang="zh-CN" altLang="en-US" b="1" dirty="0">
                <a:solidFill>
                  <a:srgbClr val="002060"/>
                </a:solidFill>
                <a:latin typeface="微软雅黑" panose="020B0503020204020204" pitchFamily="34" charset="-122"/>
                <a:ea typeface="微软雅黑" panose="020B0503020204020204" pitchFamily="34" charset="-122"/>
              </a:rPr>
              <a:t>方向的荧光信号</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3" name="矩形 2"/>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11"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
        <p:nvSpPr>
          <p:cNvPr id="9" name="矩形 8"/>
          <p:cNvSpPr/>
          <p:nvPr/>
        </p:nvSpPr>
        <p:spPr>
          <a:xfrm>
            <a:off x="761745" y="1152174"/>
            <a:ext cx="10821255" cy="874214"/>
          </a:xfrm>
          <a:prstGeom prst="rect">
            <a:avLst/>
          </a:prstGeom>
        </p:spPr>
        <p:txBody>
          <a:bodyPr wrap="square">
            <a:spAutoFit/>
          </a:bodyPr>
          <a:lstStyle/>
          <a:p>
            <a:pPr indent="457200">
              <a:lnSpc>
                <a:spcPct val="150000"/>
              </a:lnSpc>
            </a:pPr>
            <a:r>
              <a:rPr lang="zh-CN" altLang="en-US" dirty="0">
                <a:latin typeface="Times New Roman" panose="02020603050405020304" pitchFamily="18" charset="0"/>
                <a:ea typeface="微软雅黑" panose="020B0503020204020204" pitchFamily="34" charset="-122"/>
              </a:rPr>
              <a:t>荧光光谱包括激发荧光光谱（</a:t>
            </a:r>
            <a:r>
              <a:rPr lang="en-US" altLang="zh-CN" dirty="0">
                <a:latin typeface="Times New Roman" panose="02020603050405020304" pitchFamily="18" charset="0"/>
                <a:ea typeface="微软雅黑" panose="020B0503020204020204" pitchFamily="34" charset="-122"/>
              </a:rPr>
              <a:t>Excitation fluorescence spectra</a:t>
            </a:r>
            <a:r>
              <a:rPr lang="zh-CN" altLang="en-US" dirty="0">
                <a:latin typeface="Times New Roman" panose="02020603050405020304" pitchFamily="18" charset="0"/>
                <a:ea typeface="微软雅黑" panose="020B0503020204020204" pitchFamily="34" charset="-122"/>
              </a:rPr>
              <a:t>）、发射荧光光谱（</a:t>
            </a:r>
            <a:r>
              <a:rPr lang="en-US" altLang="zh-CN" dirty="0">
                <a:latin typeface="Times New Roman" panose="02020603050405020304" pitchFamily="18" charset="0"/>
                <a:ea typeface="微软雅黑" panose="020B0503020204020204" pitchFamily="34" charset="-122"/>
              </a:rPr>
              <a:t>Emission fluorescence spectra</a:t>
            </a:r>
            <a:r>
              <a:rPr lang="zh-CN" altLang="en-US" dirty="0">
                <a:latin typeface="Times New Roman" panose="02020603050405020304" pitchFamily="18" charset="0"/>
                <a:ea typeface="微软雅黑" panose="020B0503020204020204" pitchFamily="34" charset="-122"/>
              </a:rPr>
              <a:t>），以及近十几年快速发展起来的三维荧光光谱（</a:t>
            </a:r>
            <a:r>
              <a:rPr lang="en-US" altLang="zh-CN" dirty="0">
                <a:latin typeface="Times New Roman" panose="02020603050405020304" pitchFamily="18" charset="0"/>
                <a:ea typeface="微软雅黑" panose="020B0503020204020204" pitchFamily="34" charset="-122"/>
              </a:rPr>
              <a:t>Excitation-emission fluorescence spectra</a:t>
            </a:r>
            <a:r>
              <a:rPr lang="zh-CN" altLang="en-US" dirty="0">
                <a:latin typeface="Times New Roman" panose="02020603050405020304" pitchFamily="18" charset="0"/>
                <a:ea typeface="微软雅黑" panose="020B0503020204020204" pitchFamily="34" charset="-122"/>
              </a:rPr>
              <a:t>）。</a:t>
            </a:r>
            <a:endParaRPr lang="zh-CN" altLang="en-US" dirty="0">
              <a:latin typeface="Times New Roman" panose="02020603050405020304" pitchFamily="18" charset="0"/>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312038" y="363855"/>
            <a:ext cx="6690360" cy="612140"/>
          </a:xfrm>
        </p:spPr>
        <p:txBody>
          <a:bodyPr/>
          <a:lstStyle/>
          <a:p>
            <a:pPr algn="ctr"/>
            <a:r>
              <a:rPr lang="en-US" altLang="zh-CN" b="1" dirty="0">
                <a:solidFill>
                  <a:srgbClr val="002060"/>
                </a:solidFill>
              </a:rPr>
              <a:t>4.3.3   </a:t>
            </a:r>
            <a:r>
              <a:rPr lang="zh-CN" altLang="en-US" b="1" dirty="0">
                <a:solidFill>
                  <a:srgbClr val="002060"/>
                </a:solidFill>
              </a:rPr>
              <a:t>荧光光谱与测量</a:t>
            </a:r>
            <a:endParaRPr lang="zh-CN" altLang="en-US" b="1" dirty="0">
              <a:solidFill>
                <a:srgbClr val="002060"/>
              </a:solidFill>
            </a:endParaRPr>
          </a:p>
        </p:txBody>
      </p:sp>
      <p:sp>
        <p:nvSpPr>
          <p:cNvPr id="16" name="矩形 15"/>
          <p:cNvSpPr/>
          <p:nvPr/>
        </p:nvSpPr>
        <p:spPr>
          <a:xfrm>
            <a:off x="399748" y="1367408"/>
            <a:ext cx="2773680" cy="398780"/>
          </a:xfrm>
          <a:prstGeom prst="rect">
            <a:avLst/>
          </a:prstGeom>
        </p:spPr>
        <p:txBody>
          <a:bodyPr wrap="none">
            <a:spAutoFit/>
          </a:bodyPr>
          <a:lstStyle/>
          <a:p>
            <a:r>
              <a:rPr lang="en-US" altLang="zh-CN" sz="2000" b="1" dirty="0">
                <a:solidFill>
                  <a:srgbClr val="1F1F79"/>
                </a:solidFill>
                <a:latin typeface="微软雅黑" panose="020B0503020204020204" pitchFamily="34" charset="-122"/>
                <a:cs typeface="宋体" panose="02010600030101010101" pitchFamily="2" charset="-122"/>
              </a:rPr>
              <a:t>2. </a:t>
            </a:r>
            <a:r>
              <a:rPr lang="zh-CN" altLang="en-US" sz="2000" b="1" dirty="0">
                <a:solidFill>
                  <a:srgbClr val="1F1F79"/>
                </a:solidFill>
                <a:latin typeface="微软雅黑" panose="020B0503020204020204" pitchFamily="34" charset="-122"/>
                <a:ea typeface="微软雅黑" panose="020B0503020204020204" pitchFamily="34" charset="-122"/>
                <a:cs typeface="宋体" panose="02010600030101010101" pitchFamily="2" charset="-122"/>
              </a:rPr>
              <a:t>激发荧光光谱与测量</a:t>
            </a:r>
            <a:endParaRPr lang="zh-CN" altLang="en-US" sz="2000" b="1" dirty="0">
              <a:solidFill>
                <a:srgbClr val="1F1F79"/>
              </a:solidFill>
            </a:endParaRPr>
          </a:p>
        </p:txBody>
      </p:sp>
      <p:sp>
        <p:nvSpPr>
          <p:cNvPr id="2" name="矩形 1"/>
          <p:cNvSpPr/>
          <p:nvPr/>
        </p:nvSpPr>
        <p:spPr>
          <a:xfrm>
            <a:off x="540385" y="1814830"/>
            <a:ext cx="10959465" cy="922020"/>
          </a:xfrm>
          <a:prstGeom prst="rect">
            <a:avLst/>
          </a:prstGeom>
        </p:spPr>
        <p:txBody>
          <a:bodyPr wrap="square">
            <a:spAutoFit/>
          </a:bodyPr>
          <a:lstStyle/>
          <a:p>
            <a:pPr indent="457200" algn="just">
              <a:lnSpc>
                <a:spcPct val="150000"/>
              </a:lnSpc>
            </a:pP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激发荧光光谱：</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改变激发光的波长，测量某个发射波长（如</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680nm</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）的荧光强度，得到被测物质某个发射波长的激发荧光光谱。激发荧光光谱的横坐标是激发光波长，纵坐标是某个固定波长的发射荧光强度。</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p:cNvPicPr/>
          <p:nvPr/>
        </p:nvPicPr>
        <p:blipFill>
          <a:blip r:embed="rId1"/>
          <a:stretch>
            <a:fillRect/>
          </a:stretch>
        </p:blipFill>
        <p:spPr>
          <a:xfrm>
            <a:off x="6594398" y="3201500"/>
            <a:ext cx="3664251" cy="2996503"/>
          </a:xfrm>
          <a:prstGeom prst="rect">
            <a:avLst/>
          </a:prstGeom>
        </p:spPr>
      </p:pic>
      <p:sp>
        <p:nvSpPr>
          <p:cNvPr id="3" name="矩形 2"/>
          <p:cNvSpPr/>
          <p:nvPr/>
        </p:nvSpPr>
        <p:spPr>
          <a:xfrm>
            <a:off x="6593336" y="6188099"/>
            <a:ext cx="3470275" cy="391160"/>
          </a:xfrm>
          <a:prstGeom prst="rect">
            <a:avLst/>
          </a:prstGeom>
        </p:spPr>
        <p:txBody>
          <a:bodyPr wrap="none">
            <a:spAutoFit/>
          </a:bodyPr>
          <a:lstStyle/>
          <a:p>
            <a:pPr marL="266700" indent="266700" algn="ctr">
              <a:lnSpc>
                <a:spcPct val="122000"/>
              </a:lnSpc>
              <a:spcAft>
                <a:spcPts val="0"/>
              </a:spcAft>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叶绿素</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的乙醇溶液的激发光谱</a:t>
            </a:r>
            <a:endParaRPr lang="zh-CN" altLang="zh-CN" sz="2000" dirty="0">
              <a:effectLst/>
              <a:latin typeface="微软雅黑" panose="020B0503020204020204" pitchFamily="34" charset="-122"/>
              <a:ea typeface="微软雅黑" panose="020B0503020204020204" pitchFamily="34" charset="-122"/>
              <a:cs typeface="宋体" panose="02010600030101010101" pitchFamily="2" charset="-122"/>
            </a:endParaRPr>
          </a:p>
        </p:txBody>
      </p:sp>
      <p:pic>
        <p:nvPicPr>
          <p:cNvPr id="13" name="图片 12"/>
          <p:cNvPicPr/>
          <p:nvPr/>
        </p:nvPicPr>
        <p:blipFill rotWithShape="1">
          <a:blip r:embed="rId2"/>
          <a:srcRect r="6741"/>
          <a:stretch>
            <a:fillRect/>
          </a:stretch>
        </p:blipFill>
        <p:spPr bwMode="auto">
          <a:xfrm>
            <a:off x="1641558" y="3311045"/>
            <a:ext cx="4455042" cy="2877054"/>
          </a:xfrm>
          <a:prstGeom prst="rect">
            <a:avLst/>
          </a:prstGeom>
          <a:ln>
            <a:noFill/>
          </a:ln>
        </p:spPr>
      </p:pic>
      <p:sp>
        <p:nvSpPr>
          <p:cNvPr id="7" name="矩形 6"/>
          <p:cNvSpPr/>
          <p:nvPr/>
        </p:nvSpPr>
        <p:spPr>
          <a:xfrm>
            <a:off x="2496932" y="6127835"/>
            <a:ext cx="2621280" cy="337185"/>
          </a:xfrm>
          <a:prstGeom prst="rect">
            <a:avLst/>
          </a:prstGeom>
        </p:spPr>
        <p:txBody>
          <a:bodyPr wrap="none">
            <a:spAutoFit/>
          </a:bodyPr>
          <a:lstStyle/>
          <a:p>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激发荧光光谱仪的光路结构</a:t>
            </a:r>
            <a:endParaRPr lang="zh-CN" altLang="en-US" sz="1600" dirty="0">
              <a:latin typeface="微软雅黑" panose="020B0503020204020204" pitchFamily="34" charset="-122"/>
              <a:ea typeface="微软雅黑" panose="020B0503020204020204" pitchFamily="34" charset="-122"/>
            </a:endParaRPr>
          </a:p>
        </p:txBody>
      </p:sp>
      <p:sp>
        <p:nvSpPr>
          <p:cNvPr id="4" name="矩形 3"/>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8"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
        <p:nvSpPr>
          <p:cNvPr id="9" name="文本框 8"/>
          <p:cNvSpPr txBox="1"/>
          <p:nvPr/>
        </p:nvSpPr>
        <p:spPr>
          <a:xfrm>
            <a:off x="3764915" y="857885"/>
            <a:ext cx="7151370" cy="460375"/>
          </a:xfrm>
          <a:prstGeom prst="rect">
            <a:avLst/>
          </a:prstGeom>
        </p:spPr>
        <p:txBody>
          <a:bodyPr wrap="square">
            <a:spAutoFit/>
          </a:bodyPr>
          <a:p>
            <a:pPr marL="0" indent="304800" algn="just" defTabSz="266700">
              <a:lnSpc>
                <a:spcPct val="150000"/>
              </a:lnSpc>
              <a:spcBef>
                <a:spcPct val="0"/>
              </a:spcBef>
            </a:pPr>
            <a:r>
              <a:rPr lang="zh-CN" altLang="en-US" sz="1600">
                <a:latin typeface="Times New Roman" panose="02020603050405020304"/>
                <a:ea typeface="宋体" panose="02010600030101010101" pitchFamily="2" charset="-122"/>
              </a:rPr>
              <a:t>即</a:t>
            </a:r>
            <a:endParaRPr lang="zh-CN" altLang="en-US" sz="1600">
              <a:latin typeface="Times New Roman" panose="02020603050405020304"/>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312038" y="363855"/>
            <a:ext cx="6690360" cy="612140"/>
          </a:xfrm>
        </p:spPr>
        <p:txBody>
          <a:bodyPr/>
          <a:lstStyle/>
          <a:p>
            <a:pPr algn="ctr"/>
            <a:r>
              <a:rPr lang="en-US" altLang="zh-CN" b="1" dirty="0">
                <a:solidFill>
                  <a:srgbClr val="002060"/>
                </a:solidFill>
              </a:rPr>
              <a:t>4.3.3   </a:t>
            </a:r>
            <a:r>
              <a:rPr lang="zh-CN" altLang="en-US" b="1" dirty="0">
                <a:solidFill>
                  <a:srgbClr val="002060"/>
                </a:solidFill>
              </a:rPr>
              <a:t>荧光光谱与测量</a:t>
            </a:r>
            <a:endParaRPr lang="zh-CN" altLang="en-US" b="1" dirty="0">
              <a:solidFill>
                <a:srgbClr val="002060"/>
              </a:solidFill>
            </a:endParaRPr>
          </a:p>
        </p:txBody>
      </p:sp>
      <p:sp>
        <p:nvSpPr>
          <p:cNvPr id="16" name="矩形 15"/>
          <p:cNvSpPr/>
          <p:nvPr/>
        </p:nvSpPr>
        <p:spPr>
          <a:xfrm>
            <a:off x="399748" y="1275968"/>
            <a:ext cx="2773680" cy="398780"/>
          </a:xfrm>
          <a:prstGeom prst="rect">
            <a:avLst/>
          </a:prstGeom>
        </p:spPr>
        <p:txBody>
          <a:bodyPr wrap="none">
            <a:spAutoFit/>
          </a:bodyPr>
          <a:lstStyle/>
          <a:p>
            <a:r>
              <a:rPr lang="en-US" altLang="zh-CN" sz="2000" b="1" dirty="0">
                <a:solidFill>
                  <a:srgbClr val="1F1F79"/>
                </a:solidFill>
                <a:latin typeface="微软雅黑" panose="020B0503020204020204" pitchFamily="34" charset="-122"/>
                <a:cs typeface="宋体" panose="02010600030101010101" pitchFamily="2" charset="-122"/>
              </a:rPr>
              <a:t>3. </a:t>
            </a:r>
            <a:r>
              <a:rPr lang="zh-CN" altLang="en-US" sz="2000" b="1" dirty="0">
                <a:solidFill>
                  <a:srgbClr val="1F1F79"/>
                </a:solidFill>
                <a:latin typeface="微软雅黑" panose="020B0503020204020204" pitchFamily="34" charset="-122"/>
                <a:ea typeface="微软雅黑" panose="020B0503020204020204" pitchFamily="34" charset="-122"/>
                <a:cs typeface="宋体" panose="02010600030101010101" pitchFamily="2" charset="-122"/>
              </a:rPr>
              <a:t>发射荧光光谱与测量</a:t>
            </a:r>
            <a:endParaRPr lang="zh-CN" altLang="en-US" sz="2000" b="1" dirty="0">
              <a:solidFill>
                <a:srgbClr val="1F1F79"/>
              </a:solidFill>
            </a:endParaRPr>
          </a:p>
        </p:txBody>
      </p:sp>
      <p:sp>
        <p:nvSpPr>
          <p:cNvPr id="2" name="矩形 1"/>
          <p:cNvSpPr/>
          <p:nvPr/>
        </p:nvSpPr>
        <p:spPr>
          <a:xfrm>
            <a:off x="399748" y="1679143"/>
            <a:ext cx="11183252" cy="922020"/>
          </a:xfrm>
          <a:prstGeom prst="rect">
            <a:avLst/>
          </a:prstGeom>
        </p:spPr>
        <p:txBody>
          <a:bodyPr wrap="square">
            <a:spAutoFit/>
          </a:bodyPr>
          <a:lstStyle/>
          <a:p>
            <a:pPr indent="457200" algn="just" fontAlgn="auto">
              <a:lnSpc>
                <a:spcPct val="150000"/>
              </a:lnSpc>
            </a:pPr>
            <a:r>
              <a:rPr lang="zh-CN" altLang="en-US" b="1" dirty="0">
                <a:solidFill>
                  <a:srgbClr val="0070C0"/>
                </a:solidFill>
                <a:latin typeface="微软雅黑" panose="020B0503020204020204" pitchFamily="34" charset="-122"/>
                <a:ea typeface="微软雅黑" panose="020B0503020204020204" pitchFamily="34" charset="-122"/>
              </a:rPr>
              <a:t>发射荧光光谱：</a:t>
            </a:r>
            <a:r>
              <a:rPr lang="zh-CN" altLang="en-US" b="1" dirty="0">
                <a:solidFill>
                  <a:srgbClr val="C00000"/>
                </a:solidFill>
                <a:latin typeface="微软雅黑" panose="020B0503020204020204" pitchFamily="34" charset="-122"/>
                <a:ea typeface="微软雅黑" panose="020B0503020204020204" pitchFamily="34" charset="-122"/>
              </a:rPr>
              <a:t>固定激发光波长（通常为物质的最大吸收波长）</a:t>
            </a:r>
            <a:r>
              <a:rPr lang="zh-CN" altLang="en-US" dirty="0">
                <a:latin typeface="微软雅黑" panose="020B0503020204020204" pitchFamily="34" charset="-122"/>
                <a:ea typeface="微软雅黑" panose="020B0503020204020204" pitchFamily="34" charset="-122"/>
              </a:rPr>
              <a:t>，测量荧光物质</a:t>
            </a:r>
            <a:r>
              <a:rPr lang="zh-CN" altLang="en-US">
                <a:latin typeface="微软雅黑" panose="020B0503020204020204" pitchFamily="34" charset="-122"/>
                <a:ea typeface="微软雅黑" panose="020B0503020204020204" pitchFamily="34" charset="-122"/>
                <a:sym typeface="+mn-ea"/>
              </a:rPr>
              <a:t>产生的不同发射波长的荧光强度，得到发射荧光光谱。发射</a:t>
            </a:r>
            <a:r>
              <a:rPr lang="zh-CN" altLang="en-US" dirty="0">
                <a:latin typeface="微软雅黑" panose="020B0503020204020204" pitchFamily="34" charset="-122"/>
                <a:ea typeface="微软雅黑" panose="020B0503020204020204" pitchFamily="34" charset="-122"/>
                <a:sym typeface="+mn-ea"/>
              </a:rPr>
              <a:t>荧光光谱的横坐标是发射波长，纵坐标是荧光强度。</a:t>
            </a:r>
            <a:endParaRPr lang="zh-CN" altLang="en-US" dirty="0">
              <a:latin typeface="微软雅黑" panose="020B0503020204020204" pitchFamily="34" charset="-122"/>
              <a:ea typeface="微软雅黑" panose="020B0503020204020204" pitchFamily="34" charset="-122"/>
            </a:endParaRPr>
          </a:p>
        </p:txBody>
      </p:sp>
      <p:pic>
        <p:nvPicPr>
          <p:cNvPr id="8" name="图片 7"/>
          <p:cNvPicPr/>
          <p:nvPr/>
        </p:nvPicPr>
        <p:blipFill>
          <a:blip r:embed="rId1">
            <a:extLst>
              <a:ext uri="{28A0092B-C50C-407E-A947-70E740481C1C}">
                <a14:useLocalDpi xmlns:a14="http://schemas.microsoft.com/office/drawing/2010/main" val="0"/>
              </a:ext>
            </a:extLst>
          </a:blip>
          <a:srcRect/>
          <a:stretch>
            <a:fillRect/>
          </a:stretch>
        </p:blipFill>
        <p:spPr>
          <a:xfrm>
            <a:off x="1975929" y="2904837"/>
            <a:ext cx="4015445" cy="2984013"/>
          </a:xfrm>
          <a:prstGeom prst="rect">
            <a:avLst/>
          </a:prstGeom>
          <a:noFill/>
          <a:ln>
            <a:noFill/>
          </a:ln>
        </p:spPr>
      </p:pic>
      <p:sp>
        <p:nvSpPr>
          <p:cNvPr id="3" name="矩形 2"/>
          <p:cNvSpPr/>
          <p:nvPr/>
        </p:nvSpPr>
        <p:spPr>
          <a:xfrm>
            <a:off x="2774610" y="5992438"/>
            <a:ext cx="2418080" cy="460375"/>
          </a:xfrm>
          <a:prstGeom prst="rect">
            <a:avLst/>
          </a:prstGeom>
        </p:spPr>
        <p:txBody>
          <a:bodyPr wrap="none">
            <a:spAutoFit/>
          </a:bodyPr>
          <a:lstStyle/>
          <a:p>
            <a:pPr algn="ctr">
              <a:lnSpc>
                <a:spcPct val="150000"/>
              </a:lnSpc>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发射荧光光谱仪光路结构</a:t>
            </a:r>
            <a:endPar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1" name="图片 10"/>
          <p:cNvPicPr/>
          <p:nvPr/>
        </p:nvPicPr>
        <p:blipFill>
          <a:blip r:embed="rId2"/>
          <a:stretch>
            <a:fillRect/>
          </a:stretch>
        </p:blipFill>
        <p:spPr>
          <a:xfrm>
            <a:off x="6565513" y="2821066"/>
            <a:ext cx="3595087" cy="3171317"/>
          </a:xfrm>
          <a:prstGeom prst="rect">
            <a:avLst/>
          </a:prstGeom>
        </p:spPr>
      </p:pic>
      <p:sp>
        <p:nvSpPr>
          <p:cNvPr id="4" name="矩形 3"/>
          <p:cNvSpPr/>
          <p:nvPr/>
        </p:nvSpPr>
        <p:spPr>
          <a:xfrm>
            <a:off x="7305780" y="6052818"/>
            <a:ext cx="2733675" cy="460375"/>
          </a:xfrm>
          <a:prstGeom prst="rect">
            <a:avLst/>
          </a:prstGeom>
        </p:spPr>
        <p:txBody>
          <a:bodyPr wrap="none">
            <a:spAutoFit/>
          </a:bodyPr>
          <a:lstStyle/>
          <a:p>
            <a:pPr algn="ctr">
              <a:lnSpc>
                <a:spcPct val="150000"/>
              </a:lnSpc>
              <a:spcAft>
                <a:spcPts val="0"/>
              </a:spcAft>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叶绿素</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乙醇溶液的发射光谱</a:t>
            </a:r>
            <a:endParaRPr lang="zh-CN" altLang="zh-CN" sz="2000" dirty="0">
              <a:effectLst/>
              <a:latin typeface="微软雅黑" panose="020B0503020204020204" pitchFamily="34" charset="-122"/>
              <a:ea typeface="微软雅黑" panose="020B0503020204020204" pitchFamily="34" charset="-122"/>
              <a:cs typeface="宋体" panose="02010600030101010101" pitchFamily="2" charset="-122"/>
            </a:endParaRPr>
          </a:p>
        </p:txBody>
      </p:sp>
      <p:sp>
        <p:nvSpPr>
          <p:cNvPr id="7" name="矩形 6"/>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9"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312038" y="363855"/>
            <a:ext cx="6690360" cy="612140"/>
          </a:xfrm>
        </p:spPr>
        <p:txBody>
          <a:bodyPr/>
          <a:lstStyle/>
          <a:p>
            <a:pPr algn="ctr"/>
            <a:r>
              <a:rPr lang="en-US" altLang="zh-CN" b="1" dirty="0">
                <a:solidFill>
                  <a:srgbClr val="002060"/>
                </a:solidFill>
              </a:rPr>
              <a:t>4.3.3   </a:t>
            </a:r>
            <a:r>
              <a:rPr lang="zh-CN" altLang="en-US" b="1" dirty="0">
                <a:solidFill>
                  <a:srgbClr val="002060"/>
                </a:solidFill>
              </a:rPr>
              <a:t>荧光光谱与测量</a:t>
            </a:r>
            <a:endParaRPr lang="zh-CN" altLang="en-US" b="1" dirty="0">
              <a:solidFill>
                <a:srgbClr val="002060"/>
              </a:solidFill>
            </a:endParaRPr>
          </a:p>
        </p:txBody>
      </p:sp>
      <p:sp>
        <p:nvSpPr>
          <p:cNvPr id="16" name="矩形 15"/>
          <p:cNvSpPr/>
          <p:nvPr/>
        </p:nvSpPr>
        <p:spPr>
          <a:xfrm>
            <a:off x="399748" y="1245488"/>
            <a:ext cx="2773680" cy="398780"/>
          </a:xfrm>
          <a:prstGeom prst="rect">
            <a:avLst/>
          </a:prstGeom>
        </p:spPr>
        <p:txBody>
          <a:bodyPr wrap="none">
            <a:spAutoFit/>
          </a:bodyPr>
          <a:lstStyle/>
          <a:p>
            <a:r>
              <a:rPr lang="en-US" altLang="zh-CN" sz="2000" b="1" dirty="0">
                <a:solidFill>
                  <a:srgbClr val="1F1F79"/>
                </a:solidFill>
                <a:latin typeface="微软雅黑" panose="020B0503020204020204" pitchFamily="34" charset="-122"/>
                <a:cs typeface="宋体" panose="02010600030101010101" pitchFamily="2" charset="-122"/>
              </a:rPr>
              <a:t>4. </a:t>
            </a:r>
            <a:r>
              <a:rPr lang="zh-CN" altLang="en-US" sz="2000" b="1" dirty="0">
                <a:solidFill>
                  <a:srgbClr val="1F1F79"/>
                </a:solidFill>
                <a:latin typeface="微软雅黑" panose="020B0503020204020204" pitchFamily="34" charset="-122"/>
                <a:ea typeface="微软雅黑" panose="020B0503020204020204" pitchFamily="34" charset="-122"/>
                <a:cs typeface="宋体" panose="02010600030101010101" pitchFamily="2" charset="-122"/>
              </a:rPr>
              <a:t>三维荧光光谱与测量</a:t>
            </a:r>
            <a:endParaRPr lang="zh-CN" altLang="en-US" sz="2000" b="1" dirty="0">
              <a:solidFill>
                <a:srgbClr val="1F1F79"/>
              </a:solidFill>
            </a:endParaRPr>
          </a:p>
        </p:txBody>
      </p:sp>
      <p:sp>
        <p:nvSpPr>
          <p:cNvPr id="2" name="矩形 1"/>
          <p:cNvSpPr/>
          <p:nvPr/>
        </p:nvSpPr>
        <p:spPr>
          <a:xfrm>
            <a:off x="399748" y="1713660"/>
            <a:ext cx="11183252" cy="1753235"/>
          </a:xfrm>
          <a:prstGeom prst="rect">
            <a:avLst/>
          </a:prstGeom>
        </p:spPr>
        <p:txBody>
          <a:bodyPr wrap="square">
            <a:spAutoFit/>
          </a:bodyPr>
          <a:lstStyle/>
          <a:p>
            <a:pPr indent="457200" algn="just">
              <a:lnSpc>
                <a:spcPct val="150000"/>
              </a:lnSpc>
            </a:pPr>
            <a:r>
              <a:rPr lang="zh-CN" altLang="en-US" dirty="0">
                <a:latin typeface="Times New Roman" panose="02020603050405020304" pitchFamily="18" charset="0"/>
                <a:ea typeface="微软雅黑" panose="020B0503020204020204" pitchFamily="34" charset="-122"/>
              </a:rPr>
              <a:t>三维荧光光谱：</a:t>
            </a:r>
            <a:r>
              <a:rPr lang="zh-CN" altLang="en-US" b="1" dirty="0">
                <a:solidFill>
                  <a:srgbClr val="C00000"/>
                </a:solidFill>
                <a:latin typeface="Times New Roman" panose="02020603050405020304" pitchFamily="18" charset="0"/>
                <a:ea typeface="微软雅黑" panose="020B0503020204020204" pitchFamily="34" charset="-122"/>
              </a:rPr>
              <a:t>荧光强度是关于激发波长和发射波长的函数</a:t>
            </a:r>
            <a:r>
              <a:rPr lang="zh-CN" altLang="en-US" dirty="0">
                <a:latin typeface="Times New Roman" panose="02020603050405020304" pitchFamily="18" charset="0"/>
                <a:ea typeface="微软雅黑" panose="020B0503020204020204" pitchFamily="34" charset="-122"/>
              </a:rPr>
              <a:t>，按一定的波长间隔固定不同的发射波长，对于每个固定的发射波长，扫描激发光波段范围（如</a:t>
            </a:r>
            <a:r>
              <a:rPr lang="en-US" altLang="zh-CN" dirty="0">
                <a:latin typeface="Times New Roman" panose="02020603050405020304" pitchFamily="18" charset="0"/>
                <a:ea typeface="微软雅黑" panose="020B0503020204020204" pitchFamily="34" charset="-122"/>
              </a:rPr>
              <a:t>200-600nm</a:t>
            </a:r>
            <a:r>
              <a:rPr lang="zh-CN" altLang="en-US" dirty="0">
                <a:latin typeface="Times New Roman" panose="02020603050405020304" pitchFamily="18" charset="0"/>
                <a:ea typeface="微软雅黑" panose="020B0503020204020204" pitchFamily="34" charset="-122"/>
              </a:rPr>
              <a:t>），得到一条激发光谱；将全部发射波长的激发光谱组合起来，即得到了样品的三维荧光光谱。与激发荧光光谱和发射荧光光谱相比，</a:t>
            </a:r>
            <a:r>
              <a:rPr lang="zh-CN" altLang="en-US" b="1" dirty="0">
                <a:solidFill>
                  <a:srgbClr val="C00000"/>
                </a:solidFill>
                <a:latin typeface="Times New Roman" panose="02020603050405020304" pitchFamily="18" charset="0"/>
                <a:ea typeface="微软雅黑" panose="020B0503020204020204" pitchFamily="34" charset="-122"/>
              </a:rPr>
              <a:t>三维荧光光谱涵盖了被测物质内部更丰富的结构（官能团）信息和能级组成信息</a:t>
            </a:r>
            <a:r>
              <a:rPr lang="zh-CN" altLang="en-US" dirty="0">
                <a:latin typeface="Times New Roman" panose="02020603050405020304" pitchFamily="18" charset="0"/>
                <a:ea typeface="微软雅黑" panose="020B0503020204020204" pitchFamily="34" charset="-122"/>
              </a:rPr>
              <a:t>。</a:t>
            </a:r>
            <a:endParaRPr lang="zh-CN" altLang="en-US" dirty="0">
              <a:latin typeface="Times New Roman" panose="02020603050405020304" pitchFamily="18" charset="0"/>
              <a:ea typeface="微软雅黑" panose="020B0503020204020204" pitchFamily="34" charset="-122"/>
            </a:endParaRPr>
          </a:p>
        </p:txBody>
      </p:sp>
      <p:pic>
        <p:nvPicPr>
          <p:cNvPr id="8" name="图片 7"/>
          <p:cNvPicPr/>
          <p:nvPr/>
        </p:nvPicPr>
        <p:blipFill>
          <a:blip r:embed="rId1"/>
          <a:stretch>
            <a:fillRect/>
          </a:stretch>
        </p:blipFill>
        <p:spPr>
          <a:xfrm>
            <a:off x="582038" y="3551589"/>
            <a:ext cx="5397478" cy="2697308"/>
          </a:xfrm>
          <a:prstGeom prst="rect">
            <a:avLst/>
          </a:prstGeom>
        </p:spPr>
      </p:pic>
      <p:sp>
        <p:nvSpPr>
          <p:cNvPr id="3" name="矩形 2"/>
          <p:cNvSpPr/>
          <p:nvPr/>
        </p:nvSpPr>
        <p:spPr>
          <a:xfrm>
            <a:off x="2301306" y="6232009"/>
            <a:ext cx="2887980" cy="337185"/>
          </a:xfrm>
          <a:prstGeom prst="rect">
            <a:avLst/>
          </a:prstGeom>
        </p:spPr>
        <p:txBody>
          <a:bodyPr wrap="none">
            <a:spAutoFit/>
          </a:bodyPr>
          <a:lstStyle/>
          <a:p>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日立</a:t>
            </a:r>
            <a:r>
              <a:rPr lang="en-US" altLang="zh-CN" sz="1600" kern="100" dirty="0">
                <a:latin typeface="微软雅黑" panose="020B0503020204020204" pitchFamily="34" charset="-122"/>
                <a:ea typeface="微软雅黑" panose="020B0503020204020204" pitchFamily="34" charset="-122"/>
              </a:rPr>
              <a:t>F-4600</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荧光光谱仪光路图</a:t>
            </a:r>
            <a:endParaRPr lang="zh-CN" altLang="en-US" sz="1600" dirty="0">
              <a:latin typeface="微软雅黑" panose="020B0503020204020204" pitchFamily="34" charset="-122"/>
              <a:ea typeface="微软雅黑" panose="020B0503020204020204" pitchFamily="34" charset="-122"/>
            </a:endParaRPr>
          </a:p>
        </p:txBody>
      </p:sp>
      <p:pic>
        <p:nvPicPr>
          <p:cNvPr id="11" name="图片 10"/>
          <p:cNvPicPr/>
          <p:nvPr/>
        </p:nvPicPr>
        <p:blipFill>
          <a:blip r:embed="rId2"/>
          <a:stretch>
            <a:fillRect/>
          </a:stretch>
        </p:blipFill>
        <p:spPr>
          <a:xfrm>
            <a:off x="6320011" y="3657914"/>
            <a:ext cx="2707005" cy="2000250"/>
          </a:xfrm>
          <a:prstGeom prst="rect">
            <a:avLst/>
          </a:prstGeom>
        </p:spPr>
      </p:pic>
      <p:pic>
        <p:nvPicPr>
          <p:cNvPr id="13" name="图片 12"/>
          <p:cNvPicPr/>
          <p:nvPr/>
        </p:nvPicPr>
        <p:blipFill>
          <a:blip r:embed="rId3"/>
          <a:stretch>
            <a:fillRect/>
          </a:stretch>
        </p:blipFill>
        <p:spPr>
          <a:xfrm>
            <a:off x="9201886" y="3657914"/>
            <a:ext cx="2676525" cy="2022475"/>
          </a:xfrm>
          <a:prstGeom prst="rect">
            <a:avLst/>
          </a:prstGeom>
        </p:spPr>
      </p:pic>
      <p:sp>
        <p:nvSpPr>
          <p:cNvPr id="4" name="矩形 3"/>
          <p:cNvSpPr/>
          <p:nvPr/>
        </p:nvSpPr>
        <p:spPr>
          <a:xfrm>
            <a:off x="6811756" y="5790650"/>
            <a:ext cx="1605280" cy="583565"/>
          </a:xfrm>
          <a:prstGeom prst="rect">
            <a:avLst/>
          </a:prstGeom>
        </p:spPr>
        <p:txBody>
          <a:bodyPr wrap="none">
            <a:spAutoFit/>
          </a:bodyPr>
          <a:lstStyle/>
          <a:p>
            <a:pPr algn="ctr">
              <a:spcAft>
                <a:spcPts val="0"/>
              </a:spcAft>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三维荧光光谱</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ctr">
              <a:spcAft>
                <a:spcPts val="0"/>
              </a:spcAft>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等角三维投影图</a:t>
            </a:r>
            <a:endPar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矩形 13"/>
          <p:cNvSpPr/>
          <p:nvPr/>
        </p:nvSpPr>
        <p:spPr>
          <a:xfrm>
            <a:off x="9722689" y="5790649"/>
            <a:ext cx="1462405" cy="583565"/>
          </a:xfrm>
          <a:prstGeom prst="rect">
            <a:avLst/>
          </a:prstGeom>
        </p:spPr>
        <p:txBody>
          <a:bodyPr wrap="none">
            <a:spAutoFit/>
          </a:bodyPr>
          <a:lstStyle/>
          <a:p>
            <a:pPr algn="ctr">
              <a:spcAft>
                <a:spcPts val="0"/>
              </a:spcAft>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三维荧光光谱</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endParaRPr>
          </a:p>
          <a:p>
            <a:pPr algn="ctr">
              <a:spcAft>
                <a:spcPts val="0"/>
              </a:spcAft>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等高线光谱图</a:t>
            </a:r>
            <a:endPar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6"/>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9"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312038" y="363855"/>
            <a:ext cx="6690360" cy="612140"/>
          </a:xfrm>
        </p:spPr>
        <p:txBody>
          <a:bodyPr/>
          <a:lstStyle/>
          <a:p>
            <a:pPr algn="ctr"/>
            <a:r>
              <a:rPr lang="en-US" altLang="zh-CN" b="1" dirty="0">
                <a:solidFill>
                  <a:srgbClr val="002060"/>
                </a:solidFill>
              </a:rPr>
              <a:t>4.3.3   </a:t>
            </a:r>
            <a:r>
              <a:rPr lang="zh-CN" altLang="en-US" b="1" dirty="0">
                <a:solidFill>
                  <a:srgbClr val="002060"/>
                </a:solidFill>
              </a:rPr>
              <a:t>荧光光谱与测量</a:t>
            </a:r>
            <a:endParaRPr lang="zh-CN" altLang="en-US" b="1" dirty="0">
              <a:solidFill>
                <a:srgbClr val="002060"/>
              </a:solidFill>
            </a:endParaRPr>
          </a:p>
        </p:txBody>
      </p:sp>
      <p:sp>
        <p:nvSpPr>
          <p:cNvPr id="16" name="矩形 15"/>
          <p:cNvSpPr/>
          <p:nvPr/>
        </p:nvSpPr>
        <p:spPr>
          <a:xfrm>
            <a:off x="399748" y="1286128"/>
            <a:ext cx="2265680" cy="398780"/>
          </a:xfrm>
          <a:prstGeom prst="rect">
            <a:avLst/>
          </a:prstGeom>
        </p:spPr>
        <p:txBody>
          <a:bodyPr wrap="none">
            <a:spAutoFit/>
          </a:bodyPr>
          <a:lstStyle/>
          <a:p>
            <a:r>
              <a:rPr lang="en-US" altLang="zh-CN" sz="2000" b="1" dirty="0">
                <a:solidFill>
                  <a:srgbClr val="1F1F79"/>
                </a:solidFill>
                <a:latin typeface="微软雅黑" panose="020B0503020204020204" pitchFamily="34" charset="-122"/>
                <a:cs typeface="宋体" panose="02010600030101010101" pitchFamily="2" charset="-122"/>
              </a:rPr>
              <a:t>5. </a:t>
            </a:r>
            <a:r>
              <a:rPr lang="zh-CN" altLang="en-US" sz="2000" b="1" dirty="0">
                <a:solidFill>
                  <a:srgbClr val="1F1F79"/>
                </a:solidFill>
                <a:latin typeface="微软雅黑" panose="020B0503020204020204" pitchFamily="34" charset="-122"/>
                <a:ea typeface="微软雅黑" panose="020B0503020204020204" pitchFamily="34" charset="-122"/>
                <a:cs typeface="宋体" panose="02010600030101010101" pitchFamily="2" charset="-122"/>
              </a:rPr>
              <a:t>荧光光谱的特点</a:t>
            </a:r>
            <a:endParaRPr lang="zh-CN" altLang="en-US" sz="2000" b="1" dirty="0">
              <a:solidFill>
                <a:srgbClr val="1F1F79"/>
              </a:solidFill>
            </a:endParaRPr>
          </a:p>
        </p:txBody>
      </p:sp>
      <p:sp>
        <p:nvSpPr>
          <p:cNvPr id="4" name="矩形 3"/>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8"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
        <p:nvSpPr>
          <p:cNvPr id="10" name="文本框 9"/>
          <p:cNvSpPr txBox="1"/>
          <p:nvPr/>
        </p:nvSpPr>
        <p:spPr>
          <a:xfrm>
            <a:off x="715010" y="1931035"/>
            <a:ext cx="10847705" cy="3230245"/>
          </a:xfrm>
          <a:prstGeom prst="rect">
            <a:avLst/>
          </a:prstGeom>
        </p:spPr>
        <p:txBody>
          <a:bodyPr wrap="square">
            <a:spAutoFit/>
          </a:bodyPr>
          <a:p>
            <a:pPr marL="0" indent="127000" defTabSz="266700">
              <a:lnSpc>
                <a:spcPct val="150000"/>
              </a:lnSpc>
              <a:spcBef>
                <a:spcPts val="100"/>
              </a:spcBef>
            </a:pP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荧光光谱与吸收光谱相比，具有两个显著优点：</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indent="127000" defTabSz="266700" fontAlgn="auto">
              <a:lnSpc>
                <a:spcPct val="150000"/>
              </a:lnSpc>
              <a:spcBef>
                <a:spcPts val="600"/>
              </a:spcBef>
            </a:pP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tLang="zh-CN">
                <a:latin typeface="微软雅黑" panose="020B0503020204020204" pitchFamily="34" charset="-122"/>
                <a:ea typeface="微软雅黑" panose="020B0503020204020204" pitchFamily="34" charset="-122"/>
                <a:cs typeface="微软雅黑" panose="020B0503020204020204" pitchFamily="34" charset="-122"/>
              </a:rPr>
              <a:t>a</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zh-CN" altLang="en-US">
                <a:latin typeface="微软雅黑" panose="020B0503020204020204" pitchFamily="34" charset="-122"/>
                <a:ea typeface="微软雅黑" panose="020B0503020204020204" pitchFamily="34" charset="-122"/>
                <a:cs typeface="微软雅黑" panose="020B0503020204020204" pitchFamily="34" charset="-122"/>
              </a:rPr>
              <a:t>灵敏度高，通常荧光光谱的灵敏度比吸收光谱高</a:t>
            </a:r>
            <a:r>
              <a:rPr lang="en-US" altLang="zh-CN">
                <a:latin typeface="微软雅黑" panose="020B0503020204020204" pitchFamily="34" charset="-122"/>
                <a:ea typeface="微软雅黑" panose="020B0503020204020204" pitchFamily="34" charset="-122"/>
                <a:cs typeface="微软雅黑" panose="020B0503020204020204" pitchFamily="34" charset="-122"/>
              </a:rPr>
              <a:t>2</a:t>
            </a:r>
            <a:r>
              <a:rPr lang="zh-CN" altLang="en-US">
                <a:latin typeface="微软雅黑" panose="020B0503020204020204" pitchFamily="34" charset="-122"/>
                <a:ea typeface="微软雅黑" panose="020B0503020204020204" pitchFamily="34" charset="-122"/>
                <a:cs typeface="微软雅黑" panose="020B0503020204020204" pitchFamily="34" charset="-122"/>
              </a:rPr>
              <a:t>个数量级左右，而检测限比吸收光谱低</a:t>
            </a:r>
            <a:r>
              <a:rPr lang="en-US" altLang="zh-CN">
                <a:latin typeface="微软雅黑" panose="020B0503020204020204" pitchFamily="34" charset="-122"/>
                <a:ea typeface="微软雅黑" panose="020B0503020204020204" pitchFamily="34" charset="-122"/>
                <a:cs typeface="微软雅黑" panose="020B0503020204020204" pitchFamily="34" charset="-122"/>
              </a:rPr>
              <a:t>1</a:t>
            </a:r>
            <a:r>
              <a:rPr lang="en-US" altLang="zh-CN">
                <a:latin typeface="微软雅黑" panose="020B0503020204020204" pitchFamily="34" charset="-122"/>
                <a:ea typeface="微软雅黑" panose="020B0503020204020204" pitchFamily="34" charset="-122"/>
                <a:cs typeface="微软雅黑" panose="020B0503020204020204" pitchFamily="34" charset="-122"/>
              </a:rPr>
              <a:t>-3</a:t>
            </a:r>
            <a:r>
              <a:rPr lang="zh-CN" altLang="en-US">
                <a:latin typeface="微软雅黑" panose="020B0503020204020204" pitchFamily="34" charset="-122"/>
                <a:ea typeface="微软雅黑" panose="020B0503020204020204" pitchFamily="34" charset="-122"/>
                <a:cs typeface="微软雅黑" panose="020B0503020204020204" pitchFamily="34" charset="-122"/>
              </a:rPr>
              <a:t>个数量级，可达到</a:t>
            </a:r>
            <a:r>
              <a:rPr lang="en-US" altLang="zh-CN">
                <a:latin typeface="微软雅黑" panose="020B0503020204020204" pitchFamily="34" charset="-122"/>
                <a:ea typeface="微软雅黑" panose="020B0503020204020204" pitchFamily="34" charset="-122"/>
                <a:cs typeface="微软雅黑" panose="020B0503020204020204" pitchFamily="34" charset="-122"/>
              </a:rPr>
              <a:t>ppb</a:t>
            </a:r>
            <a:r>
              <a:rPr lang="zh-CN" altLang="en-US">
                <a:latin typeface="微软雅黑" panose="020B0503020204020204" pitchFamily="34" charset="-122"/>
                <a:ea typeface="微软雅黑" panose="020B0503020204020204" pitchFamily="34" charset="-122"/>
                <a:cs typeface="微软雅黑" panose="020B0503020204020204" pitchFamily="34" charset="-122"/>
              </a:rPr>
              <a:t>量级；</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indent="127000" defTabSz="266700" fontAlgn="auto">
              <a:lnSpc>
                <a:spcPct val="150000"/>
              </a:lnSpc>
              <a:spcBef>
                <a:spcPts val="600"/>
              </a:spcBef>
            </a:pP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tLang="zh-CN">
                <a:latin typeface="微软雅黑" panose="020B0503020204020204" pitchFamily="34" charset="-122"/>
                <a:ea typeface="微软雅黑" panose="020B0503020204020204" pitchFamily="34" charset="-122"/>
                <a:cs typeface="微软雅黑" panose="020B0503020204020204" pitchFamily="34" charset="-122"/>
              </a:rPr>
              <a:t>b</a:t>
            </a:r>
            <a:r>
              <a:rPr lang="zh-CN" altLang="en-US">
                <a:latin typeface="微软雅黑" panose="020B0503020204020204" pitchFamily="34" charset="-122"/>
                <a:ea typeface="微软雅黑" panose="020B0503020204020204" pitchFamily="34" charset="-122"/>
                <a:cs typeface="微软雅黑" panose="020B0503020204020204" pitchFamily="34" charset="-122"/>
              </a:rPr>
              <a:t>）选择性好，能吸收光辐射的物质不一定能发射荧光，在相同激发波长下不同物质的荧光光谱也不尽相同，因此荧光光谱具有比吸收光谱更好的选择性。</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indent="127000" defTabSz="266700" fontAlgn="auto">
              <a:lnSpc>
                <a:spcPct val="150000"/>
              </a:lnSpc>
              <a:spcBef>
                <a:spcPts val="600"/>
              </a:spcBef>
            </a:pP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但荧光光谱的适用性没有吸收光谱广，因为许多物质不会产生荧光，并且荧光分析对环境因素（如温度、酸度、污染物等）较为敏感。</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stretch>
            <a:fillRect/>
          </a:stretch>
        </p:blipFill>
        <p:spPr>
          <a:xfrm>
            <a:off x="8913825" y="1097003"/>
            <a:ext cx="2878427" cy="2505681"/>
          </a:xfrm>
          <a:prstGeom prst="rect">
            <a:avLst/>
          </a:prstGeom>
        </p:spPr>
      </p:pic>
      <p:sp>
        <p:nvSpPr>
          <p:cNvPr id="6" name="标题 5"/>
          <p:cNvSpPr>
            <a:spLocks noGrp="1"/>
          </p:cNvSpPr>
          <p:nvPr>
            <p:ph type="title"/>
          </p:nvPr>
        </p:nvSpPr>
        <p:spPr>
          <a:xfrm>
            <a:off x="2312038" y="363855"/>
            <a:ext cx="6690360" cy="612140"/>
          </a:xfrm>
        </p:spPr>
        <p:txBody>
          <a:bodyPr/>
          <a:lstStyle/>
          <a:p>
            <a:pPr algn="ctr"/>
            <a:r>
              <a:rPr lang="en-US" altLang="zh-CN" b="1" dirty="0">
                <a:solidFill>
                  <a:srgbClr val="002060"/>
                </a:solidFill>
              </a:rPr>
              <a:t>4.3.5   </a:t>
            </a:r>
            <a:r>
              <a:rPr lang="zh-CN" altLang="en-US" b="1" dirty="0">
                <a:solidFill>
                  <a:srgbClr val="002060"/>
                </a:solidFill>
              </a:rPr>
              <a:t>荧光光谱的应用</a:t>
            </a:r>
            <a:endParaRPr lang="zh-CN" altLang="en-US" b="1" dirty="0">
              <a:solidFill>
                <a:srgbClr val="002060"/>
              </a:solidFill>
            </a:endParaRPr>
          </a:p>
        </p:txBody>
      </p:sp>
      <p:sp>
        <p:nvSpPr>
          <p:cNvPr id="16" name="矩形 15"/>
          <p:cNvSpPr/>
          <p:nvPr/>
        </p:nvSpPr>
        <p:spPr>
          <a:xfrm>
            <a:off x="399748" y="1367408"/>
            <a:ext cx="3281680" cy="398780"/>
          </a:xfrm>
          <a:prstGeom prst="rect">
            <a:avLst/>
          </a:prstGeom>
        </p:spPr>
        <p:txBody>
          <a:bodyPr wrap="none">
            <a:spAutoFit/>
          </a:bodyPr>
          <a:lstStyle/>
          <a:p>
            <a:r>
              <a:rPr lang="en-US" altLang="zh-CN" sz="2000" b="1" dirty="0">
                <a:solidFill>
                  <a:srgbClr val="1F1F79"/>
                </a:solidFill>
                <a:latin typeface="微软雅黑" panose="020B0503020204020204" pitchFamily="34" charset="-122"/>
                <a:ea typeface="微软雅黑" panose="020B0503020204020204" pitchFamily="34" charset="-122"/>
                <a:cs typeface="宋体" panose="02010600030101010101" pitchFamily="2" charset="-122"/>
              </a:rPr>
              <a:t>1. </a:t>
            </a:r>
            <a:r>
              <a:rPr lang="zh-CN" altLang="en-US" sz="2000" b="1" dirty="0">
                <a:solidFill>
                  <a:srgbClr val="1F1F79"/>
                </a:solidFill>
                <a:latin typeface="微软雅黑" panose="020B0503020204020204" pitchFamily="34" charset="-122"/>
                <a:ea typeface="微软雅黑" panose="020B0503020204020204" pitchFamily="34" charset="-122"/>
                <a:cs typeface="宋体" panose="02010600030101010101" pitchFamily="2" charset="-122"/>
              </a:rPr>
              <a:t>在浮游植物检测中的应用</a:t>
            </a:r>
            <a:endParaRPr lang="zh-CN" altLang="en-US" sz="2000" b="1" dirty="0">
              <a:solidFill>
                <a:srgbClr val="1F1F79"/>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701973" y="1766188"/>
            <a:ext cx="10267950" cy="170540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叶绿素</a:t>
            </a:r>
            <a:r>
              <a:rPr lang="en-US" altLang="zh-CN" b="1" dirty="0">
                <a:latin typeface="微软雅黑" panose="020B0503020204020204" pitchFamily="34" charset="-122"/>
                <a:ea typeface="微软雅黑" panose="020B0503020204020204" pitchFamily="34" charset="-122"/>
              </a:rPr>
              <a:t>a</a:t>
            </a:r>
            <a:r>
              <a:rPr lang="zh-CN" altLang="en-US" b="1" dirty="0">
                <a:latin typeface="微软雅黑" panose="020B0503020204020204" pitchFamily="34" charset="-122"/>
                <a:ea typeface="微软雅黑" panose="020B0503020204020204" pitchFamily="34" charset="-122"/>
              </a:rPr>
              <a:t>浓度测量</a:t>
            </a:r>
            <a:r>
              <a:rPr lang="zh-CN" altLang="en-US" dirty="0">
                <a:latin typeface="微软雅黑" panose="020B0503020204020204" pitchFamily="34" charset="-122"/>
                <a:ea typeface="微软雅黑" panose="020B0503020204020204" pitchFamily="34" charset="-122"/>
              </a:rPr>
              <a:t>（单激发（</a:t>
            </a:r>
            <a:r>
              <a:rPr lang="en-US" altLang="zh-CN" dirty="0">
                <a:latin typeface="微软雅黑" panose="020B0503020204020204" pitchFamily="34" charset="-122"/>
                <a:ea typeface="微软雅黑" panose="020B0503020204020204" pitchFamily="34" charset="-122"/>
              </a:rPr>
              <a:t>ex=428nm</a:t>
            </a:r>
            <a:r>
              <a:rPr lang="zh-CN" altLang="en-US" dirty="0">
                <a:latin typeface="微软雅黑" panose="020B0503020204020204" pitchFamily="34" charset="-122"/>
                <a:ea typeface="微软雅黑" panose="020B0503020204020204" pitchFamily="34" charset="-122"/>
              </a:rPr>
              <a:t>）和单发射波长</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em</a:t>
            </a:r>
            <a:r>
              <a:rPr lang="en-US" altLang="zh-CN" dirty="0">
                <a:latin typeface="微软雅黑" panose="020B0503020204020204" pitchFamily="34" charset="-122"/>
                <a:ea typeface="微软雅黑" panose="020B0503020204020204" pitchFamily="34" charset="-122"/>
              </a:rPr>
              <a:t>=680nm)</a:t>
            </a:r>
            <a:r>
              <a:rPr lang="zh-CN" altLang="en-US" dirty="0">
                <a:latin typeface="微软雅黑" panose="020B0503020204020204" pitchFamily="34" charset="-122"/>
                <a:ea typeface="微软雅黑" panose="020B0503020204020204" pitchFamily="34" charset="-122"/>
              </a:rPr>
              <a:t>的应用）</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藻的门类识别</a:t>
            </a:r>
            <a:r>
              <a:rPr lang="zh-CN" altLang="en-US" dirty="0">
                <a:latin typeface="微软雅黑" panose="020B0503020204020204" pitchFamily="34" charset="-122"/>
                <a:ea typeface="微软雅黑" panose="020B0503020204020204" pitchFamily="34" charset="-122"/>
              </a:rPr>
              <a:t>（激发荧光光谱的应用）</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藻的浓度测量</a:t>
            </a:r>
            <a:r>
              <a:rPr lang="zh-CN" altLang="en-US" dirty="0">
                <a:latin typeface="微软雅黑" panose="020B0503020204020204" pitchFamily="34" charset="-122"/>
                <a:ea typeface="微软雅黑" panose="020B0503020204020204" pitchFamily="34" charset="-122"/>
              </a:rPr>
              <a:t>（激发荧光光谱的应用）</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endParaRPr lang="en-US" altLang="zh-CN" b="1" dirty="0">
              <a:latin typeface="微软雅黑" panose="020B0503020204020204" pitchFamily="34" charset="-122"/>
              <a:ea typeface="微软雅黑" panose="020B0503020204020204" pitchFamily="34" charset="-122"/>
            </a:endParaRPr>
          </a:p>
        </p:txBody>
      </p:sp>
      <p:sp>
        <p:nvSpPr>
          <p:cNvPr id="20" name="矩形 19"/>
          <p:cNvSpPr/>
          <p:nvPr/>
        </p:nvSpPr>
        <p:spPr>
          <a:xfrm>
            <a:off x="8983340" y="6136880"/>
            <a:ext cx="2943860" cy="337185"/>
          </a:xfrm>
          <a:prstGeom prst="rect">
            <a:avLst/>
          </a:prstGeom>
        </p:spPr>
        <p:txBody>
          <a:bodyPr wrap="none">
            <a:spAutoFit/>
          </a:bodyPr>
          <a:lstStyle/>
          <a:p>
            <a:r>
              <a:rPr lang="en-US" altLang="zh-CN" sz="1600" dirty="0">
                <a:solidFill>
                  <a:srgbClr val="C00000"/>
                </a:solidFill>
                <a:latin typeface="微软雅黑" panose="020B0503020204020204" pitchFamily="34" charset="-122"/>
                <a:ea typeface="微软雅黑" panose="020B0503020204020204" pitchFamily="34" charset="-122"/>
              </a:rPr>
              <a:t>5</a:t>
            </a:r>
            <a:r>
              <a:rPr lang="zh-CN" altLang="en-US" sz="1600" dirty="0">
                <a:solidFill>
                  <a:srgbClr val="C00000"/>
                </a:solidFill>
                <a:latin typeface="微软雅黑" panose="020B0503020204020204" pitchFamily="34" charset="-122"/>
                <a:ea typeface="微软雅黑" panose="020B0503020204020204" pitchFamily="34" charset="-122"/>
              </a:rPr>
              <a:t>个门类赤潮藻的激发荧光光谱</a:t>
            </a:r>
            <a:endParaRPr lang="zh-CN" altLang="en-US" sz="1600" dirty="0">
              <a:solidFill>
                <a:srgbClr val="C00000"/>
              </a:solidFill>
              <a:latin typeface="微软雅黑" panose="020B0503020204020204" pitchFamily="34" charset="-122"/>
              <a:ea typeface="微软雅黑" panose="020B0503020204020204" pitchFamily="34" charset="-122"/>
            </a:endParaRPr>
          </a:p>
        </p:txBody>
      </p:sp>
      <p:pic>
        <p:nvPicPr>
          <p:cNvPr id="21" name="图片 20"/>
          <p:cNvPicPr/>
          <p:nvPr/>
        </p:nvPicPr>
        <p:blipFill>
          <a:blip r:embed="rId2">
            <a:extLst>
              <a:ext uri="{28A0092B-C50C-407E-A947-70E740481C1C}">
                <a14:useLocalDpi xmlns:a14="http://schemas.microsoft.com/office/drawing/2010/main" val="0"/>
              </a:ext>
            </a:extLst>
          </a:blip>
          <a:srcRect t="8617" b="4535"/>
          <a:stretch>
            <a:fillRect/>
          </a:stretch>
        </p:blipFill>
        <p:spPr>
          <a:xfrm>
            <a:off x="392321" y="3308817"/>
            <a:ext cx="3839434" cy="2359760"/>
          </a:xfrm>
          <a:prstGeom prst="rect">
            <a:avLst/>
          </a:prstGeom>
          <a:noFill/>
          <a:ln>
            <a:noFill/>
          </a:ln>
        </p:spPr>
      </p:pic>
      <p:sp>
        <p:nvSpPr>
          <p:cNvPr id="4" name="矩形 3"/>
          <p:cNvSpPr/>
          <p:nvPr/>
        </p:nvSpPr>
        <p:spPr>
          <a:xfrm>
            <a:off x="2505630" y="5864965"/>
            <a:ext cx="3991798" cy="338554"/>
          </a:xfrm>
          <a:prstGeom prst="rect">
            <a:avLst/>
          </a:prstGeom>
        </p:spPr>
        <p:txBody>
          <a:bodyPr wrap="none">
            <a:spAutoFit/>
          </a:bodyPr>
          <a:lstStyle/>
          <a:p>
            <a:r>
              <a:rPr lang="zh-CN" altLang="en-US" sz="1600" dirty="0">
                <a:solidFill>
                  <a:schemeClr val="tx1"/>
                </a:solidFill>
                <a:latin typeface="微软雅黑" panose="020B0503020204020204" pitchFamily="34" charset="-122"/>
                <a:ea typeface="微软雅黑" panose="020B0503020204020204" pitchFamily="34" charset="-122"/>
              </a:rPr>
              <a:t>叶绿素</a:t>
            </a:r>
            <a:r>
              <a:rPr lang="en-US" altLang="zh-CN" sz="1600" dirty="0">
                <a:solidFill>
                  <a:schemeClr val="tx1"/>
                </a:solidFill>
                <a:latin typeface="微软雅黑" panose="020B0503020204020204" pitchFamily="34" charset="-122"/>
                <a:ea typeface="微软雅黑" panose="020B0503020204020204" pitchFamily="34" charset="-122"/>
              </a:rPr>
              <a:t>a</a:t>
            </a:r>
            <a:r>
              <a:rPr lang="zh-CN" altLang="en-US" sz="1600" dirty="0">
                <a:solidFill>
                  <a:schemeClr val="tx1"/>
                </a:solidFill>
                <a:latin typeface="微软雅黑" panose="020B0503020204020204" pitchFamily="34" charset="-122"/>
                <a:ea typeface="微软雅黑" panose="020B0503020204020204" pitchFamily="34" charset="-122"/>
              </a:rPr>
              <a:t>传感器的激发和发射波长选取依据</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 name="矩形 1"/>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11"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a:xfrm>
            <a:off x="8611448" y="6356350"/>
            <a:ext cx="2743470" cy="365125"/>
          </a:xfrm>
        </p:spPr>
        <p:txBody>
          <a:bodyPr/>
          <a:lstStyle/>
          <a:p>
            <a:fld id="{B1CC0675-18FD-1549-AA90-64430E7AA6D4}" type="slidenum">
              <a:rPr kumimoji="1" lang="zh-CN" altLang="en-US" smtClean="0"/>
            </a:fld>
            <a:endParaRPr kumimoji="1" lang="zh-CN" altLang="en-US"/>
          </a:p>
        </p:txBody>
      </p:sp>
      <p:pic>
        <p:nvPicPr>
          <p:cNvPr id="14" name="图片 13"/>
          <p:cNvPicPr/>
          <p:nvPr/>
        </p:nvPicPr>
        <p:blipFill>
          <a:blip r:embed="rId3"/>
          <a:stretch>
            <a:fillRect/>
          </a:stretch>
        </p:blipFill>
        <p:spPr>
          <a:xfrm>
            <a:off x="8688700" y="3602684"/>
            <a:ext cx="3238500" cy="2450934"/>
          </a:xfrm>
          <a:prstGeom prst="rect">
            <a:avLst/>
          </a:prstGeom>
        </p:spPr>
      </p:pic>
      <p:graphicFrame>
        <p:nvGraphicFramePr>
          <p:cNvPr id="10" name="对象 9"/>
          <p:cNvGraphicFramePr>
            <a:graphicFrameLocks noChangeAspect="1"/>
          </p:cNvGraphicFramePr>
          <p:nvPr/>
        </p:nvGraphicFramePr>
        <p:xfrm>
          <a:off x="4231755" y="3368103"/>
          <a:ext cx="4050011" cy="2166980"/>
        </p:xfrm>
        <a:graphic>
          <a:graphicData uri="http://schemas.openxmlformats.org/presentationml/2006/ole">
            <mc:AlternateContent xmlns:mc="http://schemas.openxmlformats.org/markup-compatibility/2006">
              <mc:Choice xmlns:v="urn:schemas-microsoft-com:vml" Requires="v">
                <p:oleObj spid="_x0000_s19461" name="" r:id="rId4" imgW="5486400" imgH="2966720" progId="Visio.Drawing.15">
                  <p:embed/>
                </p:oleObj>
              </mc:Choice>
              <mc:Fallback>
                <p:oleObj name="" r:id="rId4" imgW="5486400" imgH="296672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1755" y="3368103"/>
                        <a:ext cx="4050011" cy="2166980"/>
                      </a:xfrm>
                      <a:prstGeom prst="rect">
                        <a:avLst/>
                      </a:prstGeom>
                      <a:noFill/>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312038" y="363855"/>
            <a:ext cx="6690360" cy="612140"/>
          </a:xfrm>
        </p:spPr>
        <p:txBody>
          <a:bodyPr/>
          <a:lstStyle/>
          <a:p>
            <a:pPr algn="ctr"/>
            <a:r>
              <a:rPr lang="en-US" altLang="zh-CN" b="1" dirty="0">
                <a:solidFill>
                  <a:srgbClr val="002060"/>
                </a:solidFill>
              </a:rPr>
              <a:t>4.3.5   </a:t>
            </a:r>
            <a:r>
              <a:rPr lang="zh-CN" altLang="en-US" b="1" dirty="0">
                <a:solidFill>
                  <a:srgbClr val="002060"/>
                </a:solidFill>
              </a:rPr>
              <a:t>荧光光谱的应用</a:t>
            </a:r>
            <a:endParaRPr lang="zh-CN" altLang="en-US" b="1" dirty="0">
              <a:solidFill>
                <a:srgbClr val="002060"/>
              </a:solidFill>
            </a:endParaRPr>
          </a:p>
        </p:txBody>
      </p:sp>
      <p:sp>
        <p:nvSpPr>
          <p:cNvPr id="16" name="矩形 15"/>
          <p:cNvSpPr/>
          <p:nvPr/>
        </p:nvSpPr>
        <p:spPr>
          <a:xfrm>
            <a:off x="399748" y="1265808"/>
            <a:ext cx="3281680" cy="398780"/>
          </a:xfrm>
          <a:prstGeom prst="rect">
            <a:avLst/>
          </a:prstGeom>
        </p:spPr>
        <p:txBody>
          <a:bodyPr wrap="none">
            <a:spAutoFit/>
          </a:bodyPr>
          <a:lstStyle/>
          <a:p>
            <a:r>
              <a:rPr lang="en-US" altLang="zh-CN" sz="2000" b="1" dirty="0">
                <a:solidFill>
                  <a:srgbClr val="1F1F79"/>
                </a:solidFill>
                <a:latin typeface="微软雅黑" panose="020B0503020204020204" pitchFamily="34" charset="-122"/>
                <a:ea typeface="微软雅黑" panose="020B0503020204020204" pitchFamily="34" charset="-122"/>
                <a:cs typeface="宋体" panose="02010600030101010101" pitchFamily="2" charset="-122"/>
              </a:rPr>
              <a:t>1. </a:t>
            </a:r>
            <a:r>
              <a:rPr lang="zh-CN" altLang="en-US" sz="2000" b="1" dirty="0">
                <a:solidFill>
                  <a:srgbClr val="1F1F79"/>
                </a:solidFill>
                <a:latin typeface="微软雅黑" panose="020B0503020204020204" pitchFamily="34" charset="-122"/>
                <a:ea typeface="微软雅黑" panose="020B0503020204020204" pitchFamily="34" charset="-122"/>
                <a:cs typeface="宋体" panose="02010600030101010101" pitchFamily="2" charset="-122"/>
              </a:rPr>
              <a:t>在浮游植物检测中的应用</a:t>
            </a:r>
            <a:endParaRPr lang="zh-CN" altLang="en-US" sz="2000" b="1" dirty="0">
              <a:solidFill>
                <a:srgbClr val="1F1F79"/>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701973" y="1664588"/>
            <a:ext cx="10267950" cy="922020"/>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蓝藻、绿藻、隐藻、硅藻、甲藻五个门类藻的识别</a:t>
            </a:r>
            <a:r>
              <a:rPr lang="zh-CN" altLang="en-US" dirty="0">
                <a:latin typeface="微软雅黑" panose="020B0503020204020204" pitchFamily="34" charset="-122"/>
                <a:ea typeface="微软雅黑" panose="020B0503020204020204" pitchFamily="34" charset="-122"/>
              </a:rPr>
              <a:t>（激发荧光光谱的应用）</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endParaRPr lang="en-US" altLang="zh-CN" b="1" dirty="0">
              <a:latin typeface="微软雅黑" panose="020B0503020204020204" pitchFamily="34" charset="-122"/>
              <a:ea typeface="微软雅黑" panose="020B0503020204020204" pitchFamily="34" charset="-122"/>
            </a:endParaRPr>
          </a:p>
        </p:txBody>
      </p:sp>
      <p:sp>
        <p:nvSpPr>
          <p:cNvPr id="20" name="矩形 19"/>
          <p:cNvSpPr/>
          <p:nvPr/>
        </p:nvSpPr>
        <p:spPr>
          <a:xfrm>
            <a:off x="8234040" y="6067030"/>
            <a:ext cx="2537460" cy="337185"/>
          </a:xfrm>
          <a:prstGeom prst="rect">
            <a:avLst/>
          </a:prstGeom>
        </p:spPr>
        <p:txBody>
          <a:bodyPr wrap="none">
            <a:spAutoFit/>
          </a:bodyPr>
          <a:lstStyle/>
          <a:p>
            <a:r>
              <a:rPr lang="en-US" altLang="zh-CN" sz="1600" dirty="0">
                <a:solidFill>
                  <a:schemeClr val="tx1"/>
                </a:solidFill>
                <a:latin typeface="微软雅黑" panose="020B0503020204020204" pitchFamily="34" charset="-122"/>
                <a:ea typeface="微软雅黑" panose="020B0503020204020204" pitchFamily="34" charset="-122"/>
              </a:rPr>
              <a:t>5</a:t>
            </a:r>
            <a:r>
              <a:rPr lang="zh-CN" altLang="en-US" sz="1600" dirty="0">
                <a:solidFill>
                  <a:schemeClr val="tx1"/>
                </a:solidFill>
                <a:latin typeface="微软雅黑" panose="020B0503020204020204" pitchFamily="34" charset="-122"/>
                <a:ea typeface="微软雅黑" panose="020B0503020204020204" pitchFamily="34" charset="-122"/>
              </a:rPr>
              <a:t>个门类藻的激发荧光光谱</a:t>
            </a:r>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 name="矩形 1"/>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11"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a:xfrm>
            <a:off x="8725748" y="6099810"/>
            <a:ext cx="2743470" cy="365125"/>
          </a:xfrm>
        </p:spPr>
        <p:txBody>
          <a:bodyPr/>
          <a:lstStyle/>
          <a:p>
            <a:fld id="{B1CC0675-18FD-1549-AA90-64430E7AA6D4}" type="slidenum">
              <a:rPr kumimoji="1" lang="zh-CN" altLang="en-US" smtClean="0"/>
            </a:fld>
            <a:endParaRPr kumimoji="1" lang="zh-CN" altLang="en-US"/>
          </a:p>
        </p:txBody>
      </p:sp>
      <p:pic>
        <p:nvPicPr>
          <p:cNvPr id="14" name="图片 13"/>
          <p:cNvPicPr/>
          <p:nvPr/>
        </p:nvPicPr>
        <p:blipFill>
          <a:blip r:embed="rId1"/>
          <a:stretch>
            <a:fillRect/>
          </a:stretch>
        </p:blipFill>
        <p:spPr>
          <a:xfrm>
            <a:off x="7591425" y="3274695"/>
            <a:ext cx="3822700" cy="2574925"/>
          </a:xfrm>
          <a:prstGeom prst="rect">
            <a:avLst/>
          </a:prstGeom>
        </p:spPr>
      </p:pic>
      <p:sp>
        <p:nvSpPr>
          <p:cNvPr id="3" name="文本框 2"/>
          <p:cNvSpPr txBox="1"/>
          <p:nvPr/>
        </p:nvSpPr>
        <p:spPr>
          <a:xfrm>
            <a:off x="701675" y="2135505"/>
            <a:ext cx="11014075" cy="922020"/>
          </a:xfrm>
          <a:prstGeom prst="rect">
            <a:avLst/>
          </a:prstGeom>
        </p:spPr>
        <p:txBody>
          <a:bodyPr wrap="square">
            <a:spAutoFit/>
          </a:bodyPr>
          <a:p>
            <a:pPr marL="0" indent="127000" defTabSz="266700">
              <a:lnSpc>
                <a:spcPct val="150000"/>
              </a:lnSpc>
              <a:spcBef>
                <a:spcPts val="100"/>
              </a:spcBef>
            </a:pPr>
            <a:r>
              <a:rPr lang="zh-CN" altLang="en-US">
                <a:latin typeface="微软雅黑" panose="020B0503020204020204" pitchFamily="34" charset="-122"/>
                <a:ea typeface="微软雅黑" panose="020B0503020204020204" pitchFamily="34" charset="-122"/>
                <a:cs typeface="微软雅黑" panose="020B0503020204020204" pitchFamily="34" charset="-122"/>
              </a:rPr>
              <a:t>不同门类藻细胞内参与光合作用的色素除了叶绿素</a:t>
            </a:r>
            <a:r>
              <a:rPr lang="en-US" altLang="zh-CN">
                <a:latin typeface="微软雅黑" panose="020B0503020204020204" pitchFamily="34" charset="-122"/>
                <a:ea typeface="微软雅黑" panose="020B0503020204020204" pitchFamily="34" charset="-122"/>
                <a:cs typeface="微软雅黑" panose="020B0503020204020204" pitchFamily="34" charset="-122"/>
              </a:rPr>
              <a:t>a</a:t>
            </a:r>
            <a:r>
              <a:rPr lang="zh-CN" altLang="en-US">
                <a:latin typeface="微软雅黑" panose="020B0503020204020204" pitchFamily="34" charset="-122"/>
                <a:ea typeface="微软雅黑" panose="020B0503020204020204" pitchFamily="34" charset="-122"/>
                <a:cs typeface="微软雅黑" panose="020B0503020204020204" pitchFamily="34" charset="-122"/>
              </a:rPr>
              <a:t>，还有叶绿素</a:t>
            </a:r>
            <a:r>
              <a:rPr lang="en-US" altLang="zh-CN">
                <a:latin typeface="微软雅黑" panose="020B0503020204020204" pitchFamily="34" charset="-122"/>
                <a:ea typeface="微软雅黑" panose="020B0503020204020204" pitchFamily="34" charset="-122"/>
                <a:cs typeface="微软雅黑" panose="020B0503020204020204" pitchFamily="34" charset="-122"/>
              </a:rPr>
              <a:t>b</a:t>
            </a:r>
            <a:r>
              <a:rPr lang="zh-CN" altLang="en-US">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a:latin typeface="微软雅黑" panose="020B0503020204020204" pitchFamily="34" charset="-122"/>
                <a:ea typeface="微软雅黑" panose="020B0503020204020204" pitchFamily="34" charset="-122"/>
                <a:cs typeface="微软雅黑" panose="020B0503020204020204" pitchFamily="34" charset="-122"/>
              </a:rPr>
              <a:t>c</a:t>
            </a:r>
            <a:r>
              <a:rPr lang="zh-CN" altLang="en-US">
                <a:latin typeface="微软雅黑" panose="020B0503020204020204" pitchFamily="34" charset="-122"/>
                <a:ea typeface="微软雅黑" panose="020B0503020204020204" pitchFamily="34" charset="-122"/>
                <a:cs typeface="微软雅黑" panose="020B0503020204020204" pitchFamily="34" charset="-122"/>
              </a:rPr>
              <a:t>、类胡萝卜素和藻胆蛋白等其他辅助色素；不同门类藻的主要差异是辅助色素的不同。</a:t>
            </a:r>
            <a:r>
              <a:rPr lang="zh-CN" altLang="en-US" b="1" dirty="0">
                <a:latin typeface="微软雅黑" panose="020B0503020204020204" pitchFamily="34" charset="-122"/>
                <a:ea typeface="微软雅黑" panose="020B0503020204020204" pitchFamily="34" charset="-122"/>
                <a:sym typeface="+mn-ea"/>
              </a:rPr>
              <a:t>五个门类藻的色素组成和激发荧光光谱如下。</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9" name="表格 18"/>
          <p:cNvGraphicFramePr/>
          <p:nvPr>
            <p:custDataLst>
              <p:tags r:id="rId2"/>
            </p:custDataLst>
          </p:nvPr>
        </p:nvGraphicFramePr>
        <p:xfrm>
          <a:off x="909955" y="3357880"/>
          <a:ext cx="6229350" cy="2806065"/>
        </p:xfrm>
        <a:graphic>
          <a:graphicData uri="http://schemas.openxmlformats.org/drawingml/2006/table">
            <a:tbl>
              <a:tblPr/>
              <a:tblGrid>
                <a:gridCol w="930275"/>
                <a:gridCol w="577215"/>
                <a:gridCol w="536575"/>
                <a:gridCol w="541655"/>
                <a:gridCol w="632460"/>
                <a:gridCol w="658495"/>
                <a:gridCol w="543560"/>
                <a:gridCol w="568960"/>
                <a:gridCol w="633095"/>
                <a:gridCol w="607060"/>
              </a:tblGrid>
              <a:tr h="447675">
                <a:tc rowSpan="2">
                  <a:txBody>
                    <a:bodyPr/>
                    <a:p>
                      <a:pPr marL="0" indent="0" algn="ctr">
                        <a:lnSpc>
                          <a:spcPct val="150000"/>
                        </a:lnSpc>
                        <a:spcBef>
                          <a:spcPts val="300"/>
                        </a:spcBef>
                        <a:spcAft>
                          <a:spcPct val="0"/>
                        </a:spcAft>
                      </a:pPr>
                      <a:r>
                        <a:rPr lang="zh-CN" sz="1400">
                          <a:solidFill>
                            <a:srgbClr val="000000"/>
                          </a:solidFill>
                          <a:latin typeface="微软雅黑" panose="020B0503020204020204" pitchFamily="34" charset="-122"/>
                          <a:ea typeface="微软雅黑" panose="020B0503020204020204" pitchFamily="34" charset="-122"/>
                        </a:rPr>
                        <a:t>门类</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c gridSpan="3">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rPr>
                        <a:t>叶绿素</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c hMerge="1">
                  <a:tcPr>
                    <a:lnT w="19050" cap="flat" cmpd="sng">
                      <a:solidFill>
                        <a:srgbClr val="000000"/>
                      </a:solidFill>
                      <a:prstDash val="solid"/>
                      <a:headEnd type="none" w="med" len="med"/>
                      <a:tailEnd type="none" w="med" len="med"/>
                    </a:lnT>
                    <a:lnB w="12700" cap="flat" cmpd="sng">
                      <a:solidFill>
                        <a:srgbClr val="7F7F7F"/>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7F7F7F"/>
                      </a:solidFill>
                      <a:prstDash val="solid"/>
                      <a:headEnd type="none" w="med" len="med"/>
                      <a:tailEnd type="none" w="med" len="med"/>
                    </a:lnB>
                  </a:tcPr>
                </a:tc>
                <a:tc gridSpan="3">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rPr>
                        <a:t>类胡萝卜素</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9050" cap="flat" cmpd="sng">
                      <a:solidFill>
                        <a:srgbClr val="000000"/>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c hMerge="1">
                  <a:tcPr>
                    <a:lnT w="19050" cap="flat" cmpd="sng">
                      <a:solidFill>
                        <a:srgbClr val="000000"/>
                      </a:solidFill>
                      <a:prstDash val="solid"/>
                      <a:headEnd type="none" w="med" len="med"/>
                      <a:tailEnd type="none" w="med" len="med"/>
                    </a:lnT>
                    <a:lnB w="12700" cap="flat" cmpd="sng">
                      <a:solidFill>
                        <a:srgbClr val="7F7F7F"/>
                      </a:solidFill>
                      <a:prstDash val="solid"/>
                      <a:headEnd type="none" w="med" len="med"/>
                      <a:tailEnd type="none" w="med" len="med"/>
                    </a:lnB>
                  </a:tcPr>
                </a:tc>
                <a:tc hMerge="1">
                  <a:tcPr>
                    <a:lnR>
                      <a:noFill/>
                    </a:lnR>
                    <a:lnT w="19050" cap="flat" cmpd="sng">
                      <a:solidFill>
                        <a:srgbClr val="000000"/>
                      </a:solidFill>
                      <a:prstDash val="solid"/>
                      <a:headEnd type="none" w="med" len="med"/>
                      <a:tailEnd type="none" w="med" len="med"/>
                    </a:lnT>
                    <a:lnB w="12700" cap="flat" cmpd="sng">
                      <a:solidFill>
                        <a:srgbClr val="7F7F7F"/>
                      </a:solidFill>
                      <a:prstDash val="solid"/>
                      <a:headEnd type="none" w="med" len="med"/>
                      <a:tailEnd type="none" w="med" len="med"/>
                    </a:lnB>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c gridSpan="2">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藻胆素</a:t>
                      </a:r>
                      <a:r>
                        <a:rPr lang="en-US" alt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9050" cap="flat" cmpd="sng">
                      <a:solidFill>
                        <a:srgbClr val="000000"/>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c hMerge="1">
                  <a:tcPr>
                    <a:lnR>
                      <a:noFill/>
                    </a:lnR>
                    <a:lnT w="19050" cap="flat" cmpd="sng">
                      <a:solidFill>
                        <a:srgbClr val="000000"/>
                      </a:solidFill>
                      <a:prstDash val="solid"/>
                      <a:headEnd type="none" w="med" len="med"/>
                      <a:tailEnd type="none" w="med" len="med"/>
                    </a:lnT>
                    <a:lnB w="12700" cap="flat" cmpd="sng">
                      <a:solidFill>
                        <a:srgbClr val="7F7F7F"/>
                      </a:solidFill>
                      <a:prstDash val="solid"/>
                      <a:headEnd type="none" w="med" len="med"/>
                      <a:tailEnd type="none" w="med" len="med"/>
                    </a:lnB>
                  </a:tcPr>
                </a:tc>
              </a:tr>
              <a:tr h="708025">
                <a:tc vMerge="1">
                  <a:tcPr>
                    <a:lnL>
                      <a:noFill/>
                    </a:lnL>
                    <a:lnR w="12700" cap="flat" cmpd="sng">
                      <a:solidFill>
                        <a:srgbClr val="000000"/>
                      </a:solidFill>
                      <a:prstDash val="solid"/>
                      <a:headEnd type="none" w="med" len="med"/>
                      <a:tailEnd type="none" w="med" len="med"/>
                    </a:lnR>
                    <a:lnB w="12700" cap="flat" cmpd="sng">
                      <a:solidFill>
                        <a:srgbClr val="7F7F7F"/>
                      </a:solidFill>
                      <a:prstDash val="solid"/>
                      <a:headEnd type="none" w="med" len="med"/>
                      <a:tailEnd type="none" w="med" len="med"/>
                    </a:lnB>
                  </a:tcPr>
                </a:tc>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叶绿素</a:t>
                      </a:r>
                      <a:r>
                        <a:rPr lang="en-US" alt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a:t>
                      </a:r>
                      <a:endParaRPr lang="en-US" alt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叶绿素</a:t>
                      </a:r>
                      <a:r>
                        <a:rPr lang="en-US" alt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b</a:t>
                      </a:r>
                      <a:endParaRPr lang="en-US" alt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叶绿素</a:t>
                      </a:r>
                      <a:r>
                        <a:rPr lang="en-US" alt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c</a:t>
                      </a:r>
                      <a:endParaRPr lang="en-US" altLang="zh-CN" sz="1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rPr>
                        <a:t>多甲藻素</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rPr>
                        <a:t>硅藻黄素</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rPr>
                        <a:t>岩藻黄素</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rPr>
                        <a:t>胡萝卜素</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rPr>
                        <a:t>藻蓝蛋白</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rPr>
                        <a:t>藻红蛋白</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solidFill>
                      <a:srgbClr val="BDD6EE"/>
                    </a:solidFill>
                  </a:tcPr>
                </a:tc>
              </a:tr>
              <a:tr h="330200">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rPr>
                        <a:t>甲藻</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r>
              <a:tr h="329565">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rPr>
                        <a:t>硅藻</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r>
              <a:tr h="330200">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rPr>
                        <a:t>蓝藻</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r>
              <a:tr h="330835">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rPr>
                        <a:t>绿藻</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 </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2700" cap="flat" cmpd="sng">
                      <a:solidFill>
                        <a:srgbClr val="7F7F7F"/>
                      </a:solidFill>
                      <a:prstDash val="solid"/>
                      <a:headEnd type="none" w="med" len="med"/>
                      <a:tailEnd type="none" w="med" len="med"/>
                    </a:lnB>
                    <a:noFill/>
                  </a:tcPr>
                </a:tc>
              </a:tr>
              <a:tr h="329565">
                <a:tc>
                  <a:txBody>
                    <a:bodyPr/>
                    <a:p>
                      <a:pPr marL="0" indent="0" algn="ctr">
                        <a:lnSpc>
                          <a:spcPct val="150000"/>
                        </a:lnSpc>
                        <a:spcBef>
                          <a:spcPct val="0"/>
                        </a:spcBef>
                        <a:spcAft>
                          <a:spcPct val="0"/>
                        </a:spcAft>
                      </a:pPr>
                      <a:r>
                        <a:rPr lang="zh-CN" sz="1400">
                          <a:solidFill>
                            <a:srgbClr val="000000"/>
                          </a:solidFill>
                          <a:latin typeface="微软雅黑" panose="020B0503020204020204" pitchFamily="34" charset="-122"/>
                          <a:ea typeface="微软雅黑" panose="020B0503020204020204" pitchFamily="34" charset="-122"/>
                        </a:rPr>
                        <a:t>隐藻</a:t>
                      </a:r>
                      <a:endParaRPr 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9050" cap="flat" cmpd="sng">
                      <a:solidFill>
                        <a:srgbClr val="000000"/>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9050" cap="flat" cmpd="sng">
                      <a:solidFill>
                        <a:srgbClr val="000000"/>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9050" cap="flat" cmpd="sng">
                      <a:solidFill>
                        <a:srgbClr val="000000"/>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9050" cap="flat" cmpd="sng">
                      <a:solidFill>
                        <a:srgbClr val="000000"/>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9050" cap="flat" cmpd="sng">
                      <a:solidFill>
                        <a:srgbClr val="000000"/>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9050" cap="flat" cmpd="sng">
                      <a:solidFill>
                        <a:srgbClr val="000000"/>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9050" cap="flat" cmpd="sng">
                      <a:solidFill>
                        <a:srgbClr val="000000"/>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a:noFill/>
                    </a:lnL>
                    <a:lnR w="12700" cap="flat" cmpd="sng">
                      <a:solidFill>
                        <a:srgbClr val="000000"/>
                      </a:solidFill>
                      <a:prstDash val="solid"/>
                      <a:headEnd type="none" w="med" len="med"/>
                      <a:tailEnd type="none" w="med" len="med"/>
                    </a:lnR>
                    <a:lnT w="12700" cap="flat" cmpd="sng">
                      <a:solidFill>
                        <a:srgbClr val="7F7F7F"/>
                      </a:solidFill>
                      <a:prstDash val="solid"/>
                      <a:headEnd type="none" w="med" len="med"/>
                      <a:tailEnd type="none" w="med" len="med"/>
                    </a:lnT>
                    <a:lnB w="19050" cap="flat" cmpd="sng">
                      <a:solidFill>
                        <a:srgbClr val="000000"/>
                      </a:solidFill>
                      <a:prstDash val="solid"/>
                      <a:headEnd type="none" w="med" len="med"/>
                      <a:tailEnd type="none" w="med" len="med"/>
                    </a:lnB>
                    <a:noFill/>
                  </a:tcPr>
                </a:tc>
                <a:tc>
                  <a:txBody>
                    <a:bodyPr/>
                    <a:p>
                      <a:pPr marL="0" indent="0">
                        <a:lnSpc>
                          <a:spcPct val="150000"/>
                        </a:lnSpc>
                        <a:spcBef>
                          <a:spcPct val="0"/>
                        </a:spcBef>
                        <a:spcAft>
                          <a:spcPct val="0"/>
                        </a:spcAft>
                      </a:pPr>
                      <a:r>
                        <a:rPr lang="en-US" altLang="zh-CN" sz="1400">
                          <a:latin typeface="微软雅黑" panose="020B0503020204020204" pitchFamily="34" charset="-122"/>
                          <a:ea typeface="微软雅黑" panose="020B0503020204020204" pitchFamily="34" charset="-122"/>
                        </a:rPr>
                        <a:t> </a:t>
                      </a:r>
                      <a:endParaRPr lang="en-US" altLang="zh-CN" sz="1400">
                        <a:latin typeface="微软雅黑" panose="020B0503020204020204" pitchFamily="34" charset="-122"/>
                        <a:ea typeface="微软雅黑" panose="020B0503020204020204" pitchFamily="34" charset="-122"/>
                      </a:endParaRPr>
                    </a:p>
                  </a:txBody>
                  <a:tcPr marL="68580" marR="68580" marT="9525" marB="0" anchor="ctr" anchorCtr="0">
                    <a:lnL w="12700" cap="flat" cmpd="sng">
                      <a:solidFill>
                        <a:srgbClr val="000000"/>
                      </a:solidFill>
                      <a:prstDash val="solid"/>
                      <a:headEnd type="none" w="med" len="med"/>
                      <a:tailEnd type="none" w="med" len="med"/>
                    </a:lnL>
                    <a:lnR>
                      <a:noFill/>
                    </a:lnR>
                    <a:lnT w="12700" cap="flat" cmpd="sng">
                      <a:solidFill>
                        <a:srgbClr val="7F7F7F"/>
                      </a:solidFill>
                      <a:prstDash val="solid"/>
                      <a:headEnd type="none" w="med" len="med"/>
                      <a:tailEnd type="none" w="med" len="med"/>
                    </a:lnT>
                    <a:lnB w="19050" cap="flat" cmpd="sng">
                      <a:solidFill>
                        <a:srgbClr val="000000"/>
                      </a:solidFill>
                      <a:prstDash val="solid"/>
                      <a:headEnd type="none" w="med" len="med"/>
                      <a:tailEnd type="none" w="med" len="med"/>
                    </a:lnB>
                    <a:noFill/>
                  </a:tcPr>
                </a:tc>
                <a:tc>
                  <a:txBody>
                    <a:bodyPr/>
                    <a:p>
                      <a:pPr marL="0" indent="0" algn="ctr">
                        <a:lnSpc>
                          <a:spcPct val="150000"/>
                        </a:lnSpc>
                        <a:spcBef>
                          <a:spcPct val="0"/>
                        </a:spcBef>
                        <a:spcAft>
                          <a:spcPct val="0"/>
                        </a:spcAft>
                      </a:pPr>
                      <a:r>
                        <a:rPr lang="en-US" altLang="zh-CN" sz="1400">
                          <a:solidFill>
                            <a:srgbClr val="000000"/>
                          </a:solidFill>
                          <a:latin typeface="微软雅黑" panose="020B0503020204020204" pitchFamily="34" charset="-122"/>
                          <a:ea typeface="微软雅黑" panose="020B0503020204020204" pitchFamily="34" charset="-122"/>
                        </a:rPr>
                        <a:t>√</a:t>
                      </a:r>
                      <a:endParaRPr lang="en-US" altLang="zh-CN" sz="1400">
                        <a:solidFill>
                          <a:srgbClr val="000000"/>
                        </a:solidFill>
                        <a:latin typeface="微软雅黑" panose="020B0503020204020204" pitchFamily="34" charset="-122"/>
                        <a:ea typeface="微软雅黑" panose="020B0503020204020204" pitchFamily="34" charset="-122"/>
                      </a:endParaRPr>
                    </a:p>
                  </a:txBody>
                  <a:tcPr marL="68580" marR="68580" marT="9525" marB="0" anchor="ctr" anchorCtr="0">
                    <a:lnL>
                      <a:noFill/>
                    </a:lnL>
                    <a:lnR>
                      <a:noFill/>
                    </a:lnR>
                    <a:lnT w="12700" cap="flat" cmpd="sng">
                      <a:solidFill>
                        <a:srgbClr val="7F7F7F"/>
                      </a:solidFill>
                      <a:prstDash val="solid"/>
                      <a:headEnd type="none" w="med" len="med"/>
                      <a:tailEnd type="none" w="med" len="med"/>
                    </a:lnT>
                    <a:lnB w="190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6106382" y="4692439"/>
            <a:ext cx="3020441" cy="1801706"/>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6106383" y="3429000"/>
            <a:ext cx="3020441" cy="1295958"/>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6106383" y="2014122"/>
            <a:ext cx="3020441" cy="141487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719455" y="2853690"/>
            <a:ext cx="2677160" cy="34417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5"/>
          <p:cNvSpPr>
            <a:spLocks noGrp="1"/>
          </p:cNvSpPr>
          <p:nvPr>
            <p:ph type="title"/>
          </p:nvPr>
        </p:nvSpPr>
        <p:spPr>
          <a:xfrm>
            <a:off x="2312038" y="363855"/>
            <a:ext cx="6690360" cy="612140"/>
          </a:xfrm>
        </p:spPr>
        <p:txBody>
          <a:bodyPr/>
          <a:lstStyle/>
          <a:p>
            <a:pPr algn="ctr"/>
            <a:r>
              <a:rPr lang="en-US" altLang="zh-CN" b="1" dirty="0">
                <a:solidFill>
                  <a:srgbClr val="002060"/>
                </a:solidFill>
              </a:rPr>
              <a:t>4.3.5   </a:t>
            </a:r>
            <a:r>
              <a:rPr lang="zh-CN" altLang="en-US" b="1" dirty="0">
                <a:solidFill>
                  <a:srgbClr val="002060"/>
                </a:solidFill>
              </a:rPr>
              <a:t>荧光光谱的应用</a:t>
            </a:r>
            <a:endParaRPr lang="zh-CN" altLang="en-US" b="1" dirty="0">
              <a:solidFill>
                <a:srgbClr val="002060"/>
              </a:solidFill>
            </a:endParaRPr>
          </a:p>
        </p:txBody>
      </p:sp>
      <p:sp>
        <p:nvSpPr>
          <p:cNvPr id="2" name="矩形 1"/>
          <p:cNvSpPr/>
          <p:nvPr/>
        </p:nvSpPr>
        <p:spPr>
          <a:xfrm>
            <a:off x="669446" y="2416016"/>
            <a:ext cx="1407758" cy="369332"/>
          </a:xfrm>
          <a:prstGeom prst="rect">
            <a:avLst/>
          </a:prstGeom>
        </p:spPr>
        <p:txBody>
          <a:bodyPr wrap="none">
            <a:spAutoFit/>
          </a:bodyPr>
          <a:lstStyle/>
          <a:p>
            <a:r>
              <a:rPr lang="zh-CN" altLang="en-US" u="sng" dirty="0">
                <a:latin typeface="微软雅黑" panose="020B0503020204020204" pitchFamily="34" charset="-122"/>
                <a:ea typeface="微软雅黑" panose="020B0503020204020204" pitchFamily="34" charset="-122"/>
              </a:rPr>
              <a:t>① 识别方法</a:t>
            </a:r>
            <a:endParaRPr lang="zh-CN" altLang="en-US" u="sng" dirty="0">
              <a:latin typeface="微软雅黑" panose="020B0503020204020204" pitchFamily="34" charset="-122"/>
              <a:ea typeface="微软雅黑" panose="020B0503020204020204" pitchFamily="34" charset="-122"/>
            </a:endParaRPr>
          </a:p>
        </p:txBody>
      </p:sp>
      <p:sp>
        <p:nvSpPr>
          <p:cNvPr id="7" name="矩形 6"/>
          <p:cNvSpPr/>
          <p:nvPr/>
        </p:nvSpPr>
        <p:spPr>
          <a:xfrm>
            <a:off x="519912" y="2863182"/>
            <a:ext cx="3098048" cy="3415030"/>
          </a:xfrm>
          <a:prstGeom prst="rect">
            <a:avLst/>
          </a:prstGeom>
        </p:spPr>
        <p:txBody>
          <a:bodyPr wrap="square">
            <a:spAutoFit/>
          </a:bodyPr>
          <a:lstStyle/>
          <a:p>
            <a:pPr indent="457200" algn="just">
              <a:lnSpc>
                <a:spcPct val="150000"/>
              </a:lnSpc>
            </a:pPr>
            <a:r>
              <a:rPr lang="zh-CN" altLang="en-US" dirty="0">
                <a:latin typeface="微软雅黑" panose="020B0503020204020204" pitchFamily="34" charset="-122"/>
                <a:ea typeface="微软雅黑" panose="020B0503020204020204" pitchFamily="34" charset="-122"/>
              </a:rPr>
              <a:t>线性回归法</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en-US" altLang="zh-CN" dirty="0">
                <a:latin typeface="微软雅黑" panose="020B0503020204020204" pitchFamily="34" charset="-122"/>
                <a:ea typeface="微软雅黑" panose="020B0503020204020204" pitchFamily="34" charset="-122"/>
              </a:rPr>
              <a:t>Fisher</a:t>
            </a:r>
            <a:r>
              <a:rPr lang="zh-CN" altLang="en-US" dirty="0">
                <a:latin typeface="微软雅黑" panose="020B0503020204020204" pitchFamily="34" charset="-122"/>
                <a:ea typeface="微软雅黑" panose="020B0503020204020204" pitchFamily="34" charset="-122"/>
              </a:rPr>
              <a:t>判别法</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决策树</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朴素贝叶斯</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最近邻法（</a:t>
            </a:r>
            <a:r>
              <a:rPr lang="en-US" altLang="zh-CN" dirty="0">
                <a:latin typeface="微软雅黑" panose="020B0503020204020204" pitchFamily="34" charset="-122"/>
                <a:ea typeface="微软雅黑" panose="020B0503020204020204" pitchFamily="34" charset="-122"/>
              </a:rPr>
              <a:t>KNN</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支持向量机（</a:t>
            </a:r>
            <a:r>
              <a:rPr lang="en-US" altLang="zh-CN" dirty="0">
                <a:latin typeface="微软雅黑" panose="020B0503020204020204" pitchFamily="34" charset="-122"/>
                <a:ea typeface="微软雅黑" panose="020B0503020204020204" pitchFamily="34" charset="-122"/>
              </a:rPr>
              <a:t>SVM</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en-US" altLang="zh-CN" dirty="0">
                <a:latin typeface="微软雅黑" panose="020B0503020204020204" pitchFamily="34" charset="-122"/>
                <a:ea typeface="微软雅黑" panose="020B0503020204020204" pitchFamily="34" charset="-122"/>
              </a:rPr>
              <a:t>BP</a:t>
            </a:r>
            <a:r>
              <a:rPr lang="zh-CN" altLang="en-US" dirty="0">
                <a:latin typeface="微软雅黑" panose="020B0503020204020204" pitchFamily="34" charset="-122"/>
                <a:ea typeface="微软雅黑" panose="020B0503020204020204" pitchFamily="34" charset="-122"/>
              </a:rPr>
              <a:t>神经网络</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22" name="矩形 21"/>
          <p:cNvSpPr/>
          <p:nvPr/>
        </p:nvSpPr>
        <p:spPr>
          <a:xfrm>
            <a:off x="6393107" y="1579737"/>
            <a:ext cx="1869423" cy="369332"/>
          </a:xfrm>
          <a:prstGeom prst="rect">
            <a:avLst/>
          </a:prstGeom>
        </p:spPr>
        <p:txBody>
          <a:bodyPr wrap="none">
            <a:spAutoFit/>
          </a:bodyPr>
          <a:lstStyle/>
          <a:p>
            <a:r>
              <a:rPr lang="zh-CN" altLang="en-US" u="sng" dirty="0">
                <a:latin typeface="微软雅黑" panose="020B0503020204020204" pitchFamily="34" charset="-122"/>
                <a:ea typeface="微软雅黑" panose="020B0503020204020204" pitchFamily="34" charset="-122"/>
              </a:rPr>
              <a:t>② 浓度检测方法</a:t>
            </a:r>
            <a:endParaRPr lang="zh-CN" altLang="en-US" u="sng" dirty="0">
              <a:latin typeface="微软雅黑" panose="020B0503020204020204" pitchFamily="34" charset="-122"/>
              <a:ea typeface="微软雅黑" panose="020B0503020204020204" pitchFamily="34" charset="-122"/>
            </a:endParaRPr>
          </a:p>
        </p:txBody>
      </p:sp>
      <p:sp>
        <p:nvSpPr>
          <p:cNvPr id="8" name="矩形 7"/>
          <p:cNvSpPr/>
          <p:nvPr/>
        </p:nvSpPr>
        <p:spPr>
          <a:xfrm>
            <a:off x="5690062" y="2002158"/>
            <a:ext cx="4535568" cy="4613892"/>
          </a:xfrm>
          <a:prstGeom prst="rect">
            <a:avLst/>
          </a:prstGeom>
        </p:spPr>
        <p:txBody>
          <a:bodyPr wrap="square">
            <a:spAutoFit/>
          </a:bodyPr>
          <a:lstStyle/>
          <a:p>
            <a:pPr indent="457200" algn="just">
              <a:lnSpc>
                <a:spcPct val="150000"/>
              </a:lnSpc>
            </a:pPr>
            <a:r>
              <a:rPr lang="zh-CN" altLang="en-US" dirty="0">
                <a:latin typeface="微软雅黑" panose="020B0503020204020204" pitchFamily="34" charset="-122"/>
                <a:ea typeface="微软雅黑" panose="020B0503020204020204" pitchFamily="34" charset="-122"/>
              </a:rPr>
              <a:t>最小二乘多元线性回归</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加权非负最小二乘线性回归</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偏最小二乘回归</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en-US" altLang="zh-CN" dirty="0">
                <a:latin typeface="微软雅黑" panose="020B0503020204020204" pitchFamily="34" charset="-122"/>
                <a:ea typeface="微软雅黑" panose="020B0503020204020204" pitchFamily="34" charset="-122"/>
              </a:rPr>
              <a:t>BP</a:t>
            </a:r>
            <a:r>
              <a:rPr lang="zh-CN" altLang="en-US" dirty="0">
                <a:latin typeface="微软雅黑" panose="020B0503020204020204" pitchFamily="34" charset="-122"/>
                <a:ea typeface="微软雅黑" panose="020B0503020204020204" pitchFamily="34" charset="-122"/>
              </a:rPr>
              <a:t>神经网络</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随机森林</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小波分析</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人工神经网络</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遗传算法</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人工神经网络</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zh-CN" altLang="en-US" dirty="0">
                <a:latin typeface="微软雅黑" panose="020B0503020204020204" pitchFamily="34" charset="-122"/>
                <a:ea typeface="微软雅黑" panose="020B0503020204020204" pitchFamily="34" charset="-122"/>
              </a:rPr>
              <a:t>主成分分析</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偏最小二乘</a:t>
            </a:r>
            <a:endParaRPr lang="en-US" altLang="zh-CN" dirty="0">
              <a:latin typeface="微软雅黑" panose="020B0503020204020204" pitchFamily="34" charset="-122"/>
              <a:ea typeface="微软雅黑" panose="020B0503020204020204" pitchFamily="34" charset="-122"/>
            </a:endParaRPr>
          </a:p>
          <a:p>
            <a:pPr indent="457200" algn="just">
              <a:lnSpc>
                <a:spcPct val="150000"/>
              </a:lnSpc>
            </a:pP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3461532" y="2877616"/>
            <a:ext cx="2486085" cy="3415030"/>
          </a:xfrm>
          <a:prstGeom prst="rect">
            <a:avLst/>
          </a:prstGeom>
        </p:spPr>
        <p:txBody>
          <a:bodyPr wrap="square">
            <a:spAutoFit/>
          </a:bodyPr>
          <a:lstStyle/>
          <a:p>
            <a:pPr>
              <a:lnSpc>
                <a:spcPct val="150000"/>
              </a:lnSpc>
            </a:pPr>
            <a:r>
              <a:rPr lang="zh-CN" altLang="en-US" sz="1600" dirty="0">
                <a:solidFill>
                  <a:srgbClr val="C00000"/>
                </a:solidFill>
                <a:latin typeface="微软雅黑" panose="020B0503020204020204" pitchFamily="34" charset="-122"/>
                <a:ea typeface="微软雅黑" panose="020B0503020204020204" pitchFamily="34" charset="-122"/>
              </a:rPr>
              <a:t>除</a:t>
            </a:r>
            <a:r>
              <a:rPr lang="en-US" altLang="zh-CN" sz="1600" dirty="0">
                <a:solidFill>
                  <a:srgbClr val="C00000"/>
                </a:solidFill>
                <a:latin typeface="微软雅黑" panose="020B0503020204020204" pitchFamily="34" charset="-122"/>
                <a:ea typeface="微软雅黑" panose="020B0503020204020204" pitchFamily="34" charset="-122"/>
              </a:rPr>
              <a:t>BP</a:t>
            </a:r>
            <a:r>
              <a:rPr lang="zh-CN" altLang="en-US" sz="1600" dirty="0">
                <a:solidFill>
                  <a:srgbClr val="C00000"/>
                </a:solidFill>
                <a:latin typeface="微软雅黑" panose="020B0503020204020204" pitchFamily="34" charset="-122"/>
                <a:ea typeface="微软雅黑" panose="020B0503020204020204" pitchFamily="34" charset="-122"/>
              </a:rPr>
              <a:t>神经网络方法以外</a:t>
            </a:r>
            <a:r>
              <a:rPr lang="zh-CN" altLang="en-US" sz="1600" dirty="0">
                <a:latin typeface="微软雅黑" panose="020B0503020204020204" pitchFamily="34" charset="-122"/>
                <a:ea typeface="微软雅黑" panose="020B0503020204020204" pitchFamily="34" charset="-122"/>
              </a:rPr>
              <a:t>，均适用于</a:t>
            </a:r>
            <a:r>
              <a:rPr lang="zh-CN" altLang="en-US" sz="1600" dirty="0">
                <a:solidFill>
                  <a:srgbClr val="C00000"/>
                </a:solidFill>
                <a:latin typeface="微软雅黑" panose="020B0503020204020204" pitchFamily="34" charset="-122"/>
                <a:ea typeface="微软雅黑" panose="020B0503020204020204" pitchFamily="34" charset="-122"/>
              </a:rPr>
              <a:t>小样本数据</a:t>
            </a:r>
            <a:r>
              <a:rPr lang="zh-CN" altLang="en-US" sz="1600" dirty="0">
                <a:latin typeface="微软雅黑" panose="020B0503020204020204" pitchFamily="34" charset="-122"/>
                <a:ea typeface="微软雅黑" panose="020B0503020204020204" pitchFamily="34" charset="-122"/>
              </a:rPr>
              <a:t>，收敛速度快，但部分方法的原始模型仅适用于</a:t>
            </a:r>
            <a:r>
              <a:rPr lang="zh-CN" altLang="en-US" sz="1600" dirty="0">
                <a:solidFill>
                  <a:srgbClr val="C00000"/>
                </a:solidFill>
                <a:latin typeface="微软雅黑" panose="020B0503020204020204" pitchFamily="34" charset="-122"/>
                <a:ea typeface="微软雅黑" panose="020B0503020204020204" pitchFamily="34" charset="-122"/>
              </a:rPr>
              <a:t>二分类问题</a:t>
            </a:r>
            <a:r>
              <a:rPr lang="zh-CN" altLang="en-US" sz="1600" dirty="0">
                <a:latin typeface="微软雅黑" panose="020B0503020204020204" pitchFamily="34" charset="-122"/>
                <a:ea typeface="微软雅黑" panose="020B0503020204020204" pitchFamily="34" charset="-122"/>
              </a:rPr>
              <a:t>，比如支持向量机，当应用到三种及以上的多分类问题中，还需要对模型进行拓展和优化。</a:t>
            </a:r>
            <a:endParaRPr lang="zh-CN" altLang="en-US" sz="1600" dirty="0">
              <a:latin typeface="微软雅黑" panose="020B0503020204020204" pitchFamily="34" charset="-122"/>
              <a:ea typeface="微软雅黑" panose="020B0503020204020204" pitchFamily="34" charset="-122"/>
            </a:endParaRPr>
          </a:p>
          <a:p>
            <a:pPr>
              <a:lnSpc>
                <a:spcPct val="150000"/>
              </a:lnSpc>
            </a:pPr>
            <a:endParaRPr lang="zh-CN" altLang="en-US" sz="1600" dirty="0">
              <a:latin typeface="微软雅黑" panose="020B0503020204020204" pitchFamily="34" charset="-122"/>
              <a:ea typeface="微软雅黑" panose="020B0503020204020204" pitchFamily="34" charset="-122"/>
            </a:endParaRPr>
          </a:p>
        </p:txBody>
      </p:sp>
      <p:sp>
        <p:nvSpPr>
          <p:cNvPr id="10" name="矩形 9"/>
          <p:cNvSpPr/>
          <p:nvPr/>
        </p:nvSpPr>
        <p:spPr>
          <a:xfrm>
            <a:off x="9587892" y="2484982"/>
            <a:ext cx="2433278" cy="3003515"/>
          </a:xfrm>
          <a:prstGeom prst="rect">
            <a:avLst/>
          </a:prstGeom>
        </p:spPr>
        <p:txBody>
          <a:bodyPr wrap="square">
            <a:spAutoFit/>
          </a:bodyPr>
          <a:lstStyle/>
          <a:p>
            <a:pPr>
              <a:lnSpc>
                <a:spcPct val="150000"/>
              </a:lnSpc>
            </a:pPr>
            <a:r>
              <a:rPr lang="zh-CN" altLang="en-US" sz="1600" dirty="0">
                <a:solidFill>
                  <a:srgbClr val="C00000"/>
                </a:solidFill>
                <a:latin typeface="微软雅黑" panose="020B0503020204020204" pitchFamily="34" charset="-122"/>
                <a:ea typeface="微软雅黑" panose="020B0503020204020204" pitchFamily="34" charset="-122"/>
              </a:rPr>
              <a:t>线性回归算法最为简单，应用较多，但忽略了多种组分间的相互作用，因此，非线性方法得以应用。目前，组合多个单一算法已成为趋势</a:t>
            </a:r>
            <a:r>
              <a:rPr lang="zh-CN" altLang="en-US" sz="1600" dirty="0">
                <a:latin typeface="微软雅黑" panose="020B0503020204020204" pitchFamily="34" charset="-122"/>
                <a:ea typeface="微软雅黑" panose="020B0503020204020204" pitchFamily="34" charset="-122"/>
              </a:rPr>
              <a:t>，旨在进一步提高预测结果的精确度以及方法的泛化性。</a:t>
            </a:r>
            <a:endParaRPr lang="zh-CN" altLang="en-US" sz="1600" dirty="0">
              <a:latin typeface="微软雅黑" panose="020B0503020204020204" pitchFamily="34" charset="-122"/>
              <a:ea typeface="微软雅黑" panose="020B0503020204020204" pitchFamily="34" charset="-122"/>
            </a:endParaRPr>
          </a:p>
        </p:txBody>
      </p:sp>
      <p:sp>
        <p:nvSpPr>
          <p:cNvPr id="11" name="矩形 10"/>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12"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13" name="灯片编号占位符 12"/>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
        <p:nvSpPr>
          <p:cNvPr id="23" name="矩形 22"/>
          <p:cNvSpPr/>
          <p:nvPr/>
        </p:nvSpPr>
        <p:spPr>
          <a:xfrm>
            <a:off x="204090" y="1223073"/>
            <a:ext cx="3281680" cy="398780"/>
          </a:xfrm>
          <a:prstGeom prst="rect">
            <a:avLst/>
          </a:prstGeom>
        </p:spPr>
        <p:txBody>
          <a:bodyPr wrap="none">
            <a:spAutoFit/>
          </a:bodyPr>
          <a:lstStyle/>
          <a:p>
            <a:r>
              <a:rPr lang="en-US" altLang="zh-CN" sz="2000" b="1" dirty="0">
                <a:solidFill>
                  <a:srgbClr val="1F1F79"/>
                </a:solidFill>
                <a:latin typeface="微软雅黑" panose="020B0503020204020204" pitchFamily="34" charset="-122"/>
                <a:ea typeface="微软雅黑" panose="020B0503020204020204" pitchFamily="34" charset="-122"/>
                <a:cs typeface="宋体" panose="02010600030101010101" pitchFamily="2" charset="-122"/>
              </a:rPr>
              <a:t>1. </a:t>
            </a:r>
            <a:r>
              <a:rPr lang="zh-CN" altLang="en-US" sz="2000" b="1" dirty="0">
                <a:solidFill>
                  <a:srgbClr val="1F1F79"/>
                </a:solidFill>
                <a:latin typeface="微软雅黑" panose="020B0503020204020204" pitchFamily="34" charset="-122"/>
                <a:ea typeface="微软雅黑" panose="020B0503020204020204" pitchFamily="34" charset="-122"/>
                <a:cs typeface="宋体" panose="02010600030101010101" pitchFamily="2" charset="-122"/>
              </a:rPr>
              <a:t>在浮游植物检测中的应用</a:t>
            </a:r>
            <a:endParaRPr lang="zh-CN" altLang="en-US" sz="2000" b="1" dirty="0">
              <a:solidFill>
                <a:srgbClr val="1F1F79"/>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9055765" y="2304570"/>
            <a:ext cx="540747" cy="646331"/>
          </a:xfrm>
          <a:prstGeom prst="rect">
            <a:avLst/>
          </a:prstGeom>
          <a:noFill/>
        </p:spPr>
        <p:txBody>
          <a:bodyPr wrap="square" rtlCol="0">
            <a:spAutoFit/>
          </a:bodyPr>
          <a:lstStyle/>
          <a:p>
            <a:r>
              <a:rPr lang="zh-CN" altLang="en-US" b="1" dirty="0">
                <a:solidFill>
                  <a:srgbClr val="2E75B6"/>
                </a:solidFill>
                <a:latin typeface="微软雅黑" panose="020B0503020204020204" pitchFamily="34" charset="-122"/>
                <a:ea typeface="微软雅黑" panose="020B0503020204020204" pitchFamily="34" charset="-122"/>
              </a:rPr>
              <a:t>线性</a:t>
            </a:r>
            <a:endParaRPr lang="zh-CN" altLang="en-US" b="1" dirty="0">
              <a:solidFill>
                <a:srgbClr val="2E75B6"/>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9065290" y="3652796"/>
            <a:ext cx="540747" cy="923330"/>
          </a:xfrm>
          <a:prstGeom prst="rect">
            <a:avLst/>
          </a:prstGeom>
          <a:noFill/>
        </p:spPr>
        <p:txBody>
          <a:bodyPr wrap="square" rtlCol="0">
            <a:spAutoFit/>
          </a:bodyPr>
          <a:lstStyle/>
          <a:p>
            <a:r>
              <a:rPr lang="zh-CN" altLang="en-US" b="1" dirty="0">
                <a:solidFill>
                  <a:srgbClr val="2E75B6"/>
                </a:solidFill>
                <a:latin typeface="微软雅黑" panose="020B0503020204020204" pitchFamily="34" charset="-122"/>
                <a:ea typeface="微软雅黑" panose="020B0503020204020204" pitchFamily="34" charset="-122"/>
              </a:rPr>
              <a:t>非线性</a:t>
            </a:r>
            <a:endParaRPr lang="zh-CN" altLang="en-US" b="1" dirty="0">
              <a:solidFill>
                <a:srgbClr val="2E75B6"/>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9056633" y="4955450"/>
            <a:ext cx="540747" cy="1477328"/>
          </a:xfrm>
          <a:prstGeom prst="rect">
            <a:avLst/>
          </a:prstGeom>
          <a:noFill/>
        </p:spPr>
        <p:txBody>
          <a:bodyPr wrap="square" rtlCol="0">
            <a:spAutoFit/>
          </a:bodyPr>
          <a:lstStyle/>
          <a:p>
            <a:r>
              <a:rPr lang="zh-CN" altLang="en-US" b="1" dirty="0">
                <a:solidFill>
                  <a:srgbClr val="2E75B6"/>
                </a:solidFill>
                <a:latin typeface="微软雅黑" panose="020B0503020204020204" pitchFamily="34" charset="-122"/>
                <a:ea typeface="微软雅黑" panose="020B0503020204020204" pitchFamily="34" charset="-122"/>
              </a:rPr>
              <a:t>多算法组合</a:t>
            </a:r>
            <a:endParaRPr lang="zh-CN" altLang="en-US" b="1" dirty="0">
              <a:solidFill>
                <a:srgbClr val="2E75B6"/>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528955" y="1647190"/>
            <a:ext cx="4752975" cy="730885"/>
          </a:xfrm>
          <a:prstGeom prst="rect">
            <a:avLst/>
          </a:prstGeom>
          <a:noFill/>
        </p:spPr>
        <p:txBody>
          <a:bodyPr wrap="square" rtlCol="0" anchor="t">
            <a:spAutoFit/>
          </a:bodyPr>
          <a:p>
            <a:pPr indent="0" fontAlgn="auto">
              <a:lnSpc>
                <a:spcPct val="130000"/>
              </a:lnSpc>
            </a:pPr>
            <a:r>
              <a:rPr lang="en-US" altLang="zh-CN" sz="1600" dirty="0">
                <a:latin typeface="微软雅黑" panose="020B0503020204020204" pitchFamily="34" charset="-122"/>
                <a:ea typeface="微软雅黑" panose="020B0503020204020204" pitchFamily="34" charset="-122"/>
                <a:sym typeface="+mn-ea"/>
              </a:rPr>
              <a:t>       </a:t>
            </a:r>
            <a:r>
              <a:rPr lang="zh-CN" altLang="en-US" sz="1600" b="1" dirty="0">
                <a:solidFill>
                  <a:srgbClr val="0070C0"/>
                </a:solidFill>
                <a:latin typeface="微软雅黑" panose="020B0503020204020204" pitchFamily="34" charset="-122"/>
                <a:ea typeface="微软雅黑" panose="020B0503020204020204" pitchFamily="34" charset="-122"/>
                <a:sym typeface="+mn-ea"/>
              </a:rPr>
              <a:t>对样品的激发荧光光谱，运用识别方法和浓度检测方法，可以得到样品中所含藻的门类及其浓度。</a:t>
            </a:r>
            <a:endParaRPr lang="zh-CN" altLang="en-US" sz="1600" b="1" dirty="0">
              <a:solidFill>
                <a:srgbClr val="0070C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312038" y="363855"/>
            <a:ext cx="6690360" cy="612140"/>
          </a:xfrm>
        </p:spPr>
        <p:txBody>
          <a:bodyPr/>
          <a:lstStyle/>
          <a:p>
            <a:pPr algn="ctr"/>
            <a:r>
              <a:rPr lang="en-US" altLang="zh-CN" b="1" dirty="0">
                <a:solidFill>
                  <a:srgbClr val="002060"/>
                </a:solidFill>
              </a:rPr>
              <a:t>4.3.5   </a:t>
            </a:r>
            <a:r>
              <a:rPr lang="zh-CN" altLang="en-US" b="1" dirty="0">
                <a:solidFill>
                  <a:srgbClr val="002060"/>
                </a:solidFill>
              </a:rPr>
              <a:t>荧光光谱的应用</a:t>
            </a:r>
            <a:endParaRPr lang="zh-CN" altLang="en-US" b="1" dirty="0">
              <a:solidFill>
                <a:srgbClr val="002060"/>
              </a:solidFill>
            </a:endParaRPr>
          </a:p>
        </p:txBody>
      </p:sp>
      <p:sp>
        <p:nvSpPr>
          <p:cNvPr id="16" name="矩形 15"/>
          <p:cNvSpPr/>
          <p:nvPr/>
        </p:nvSpPr>
        <p:spPr>
          <a:xfrm>
            <a:off x="421973" y="1253108"/>
            <a:ext cx="2265680" cy="398780"/>
          </a:xfrm>
          <a:prstGeom prst="rect">
            <a:avLst/>
          </a:prstGeom>
        </p:spPr>
        <p:txBody>
          <a:bodyPr wrap="none">
            <a:spAutoFit/>
          </a:bodyPr>
          <a:lstStyle/>
          <a:p>
            <a:r>
              <a:rPr lang="en-US" altLang="zh-CN" sz="2000" b="1" dirty="0">
                <a:solidFill>
                  <a:srgbClr val="1F1F79"/>
                </a:solidFill>
                <a:latin typeface="微软雅黑" panose="020B0503020204020204" pitchFamily="34" charset="-122"/>
                <a:ea typeface="微软雅黑" panose="020B0503020204020204" pitchFamily="34" charset="-122"/>
                <a:cs typeface="宋体" panose="02010600030101010101" pitchFamily="2" charset="-122"/>
              </a:rPr>
              <a:t>2. </a:t>
            </a:r>
            <a:r>
              <a:rPr lang="zh-CN" altLang="en-US" sz="2000" b="1" dirty="0">
                <a:solidFill>
                  <a:srgbClr val="1F1F79"/>
                </a:solidFill>
                <a:latin typeface="微软雅黑" panose="020B0503020204020204" pitchFamily="34" charset="-122"/>
                <a:ea typeface="微软雅黑" panose="020B0503020204020204" pitchFamily="34" charset="-122"/>
                <a:cs typeface="宋体" panose="02010600030101010101" pitchFamily="2" charset="-122"/>
              </a:rPr>
              <a:t>有机污染物检测</a:t>
            </a:r>
            <a:endParaRPr lang="zh-CN" altLang="en-US" sz="2000" b="1" dirty="0">
              <a:solidFill>
                <a:srgbClr val="1F1F79"/>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23240" y="1711960"/>
            <a:ext cx="4745355" cy="1143635"/>
          </a:xfrm>
          <a:prstGeom prst="rect">
            <a:avLst/>
          </a:prstGeom>
          <a:noFill/>
        </p:spPr>
        <p:txBody>
          <a:bodyPr wrap="square" rtlCol="0">
            <a:noAutofit/>
          </a:bodyPr>
          <a:lstStyle/>
          <a:p>
            <a:pPr marL="285750" indent="-285750">
              <a:lnSpc>
                <a:spcPct val="15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多环芳烃检测</a:t>
            </a:r>
            <a:r>
              <a:rPr lang="zh-CN" altLang="en-US" dirty="0">
                <a:latin typeface="微软雅黑" panose="020B0503020204020204" pitchFamily="34" charset="-122"/>
                <a:ea typeface="微软雅黑" panose="020B0503020204020204" pitchFamily="34" charset="-122"/>
              </a:rPr>
              <a:t>（三维荧光光谱的应用）</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海洋溢油检测</a:t>
            </a:r>
            <a:r>
              <a:rPr lang="zh-CN" altLang="en-US" dirty="0">
                <a:latin typeface="微软雅黑" panose="020B0503020204020204" pitchFamily="34" charset="-122"/>
                <a:ea typeface="微软雅黑" panose="020B0503020204020204" pitchFamily="34" charset="-122"/>
              </a:rPr>
              <a:t>（三维荧光光谱的应用）</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endParaRPr lang="en-US" altLang="zh-CN" b="1" dirty="0">
              <a:latin typeface="微软雅黑" panose="020B0503020204020204" pitchFamily="34" charset="-122"/>
              <a:ea typeface="微软雅黑" panose="020B0503020204020204" pitchFamily="34" charset="-122"/>
            </a:endParaRPr>
          </a:p>
        </p:txBody>
      </p:sp>
      <p:pic>
        <p:nvPicPr>
          <p:cNvPr id="8" name="图片 7"/>
          <p:cNvPicPr/>
          <p:nvPr/>
        </p:nvPicPr>
        <p:blipFill>
          <a:blip r:embed="rId1"/>
          <a:stretch>
            <a:fillRect/>
          </a:stretch>
        </p:blipFill>
        <p:spPr>
          <a:xfrm>
            <a:off x="358076" y="3110241"/>
            <a:ext cx="5678103" cy="2103319"/>
          </a:xfrm>
          <a:prstGeom prst="rect">
            <a:avLst/>
          </a:prstGeom>
          <a:noFill/>
          <a:ln>
            <a:noFill/>
          </a:ln>
        </p:spPr>
      </p:pic>
      <p:sp>
        <p:nvSpPr>
          <p:cNvPr id="2" name="矩形 1"/>
          <p:cNvSpPr/>
          <p:nvPr/>
        </p:nvSpPr>
        <p:spPr>
          <a:xfrm>
            <a:off x="1210589" y="2878810"/>
            <a:ext cx="4011932" cy="338554"/>
          </a:xfrm>
          <a:prstGeom prst="rect">
            <a:avLst/>
          </a:prstGeom>
        </p:spPr>
        <p:txBody>
          <a:bodyPr wrap="none">
            <a:spAutoFit/>
          </a:bodyPr>
          <a:lstStyle/>
          <a:p>
            <a:r>
              <a:rPr lang="zh-CN" altLang="en-US" sz="1600" b="1" dirty="0">
                <a:solidFill>
                  <a:srgbClr val="002060"/>
                </a:solidFill>
                <a:latin typeface="微软雅黑" panose="020B0503020204020204" pitchFamily="34" charset="-122"/>
                <a:ea typeface="微软雅黑" panose="020B0503020204020204" pitchFamily="34" charset="-122"/>
              </a:rPr>
              <a:t>三种</a:t>
            </a:r>
            <a:r>
              <a:rPr lang="en-US" altLang="zh-CN" sz="1600" b="1" dirty="0">
                <a:solidFill>
                  <a:srgbClr val="002060"/>
                </a:solidFill>
                <a:latin typeface="微软雅黑" panose="020B0503020204020204" pitchFamily="34" charset="-122"/>
                <a:ea typeface="微软雅黑" panose="020B0503020204020204" pitchFamily="34" charset="-122"/>
              </a:rPr>
              <a:t>PAHs</a:t>
            </a:r>
            <a:r>
              <a:rPr lang="zh-CN" altLang="en-US" sz="1600" b="1" dirty="0">
                <a:solidFill>
                  <a:srgbClr val="002060"/>
                </a:solidFill>
                <a:latin typeface="微软雅黑" panose="020B0503020204020204" pitchFamily="34" charset="-122"/>
                <a:ea typeface="微软雅黑" panose="020B0503020204020204" pitchFamily="34" charset="-122"/>
              </a:rPr>
              <a:t>（萘、菲、芘）的三维荧光光谱</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pic>
        <p:nvPicPr>
          <p:cNvPr id="10" name="图片 9"/>
          <p:cNvPicPr/>
          <p:nvPr/>
        </p:nvPicPr>
        <p:blipFill>
          <a:blip r:embed="rId2"/>
          <a:srcRect r="3825"/>
          <a:stretch>
            <a:fillRect/>
          </a:stretch>
        </p:blipFill>
        <p:spPr>
          <a:xfrm>
            <a:off x="6395606" y="1130896"/>
            <a:ext cx="4997275" cy="4681271"/>
          </a:xfrm>
          <a:prstGeom prst="rect">
            <a:avLst/>
          </a:prstGeom>
          <a:noFill/>
          <a:ln>
            <a:noFill/>
          </a:ln>
        </p:spPr>
      </p:pic>
      <p:sp>
        <p:nvSpPr>
          <p:cNvPr id="3" name="矩形 2"/>
          <p:cNvSpPr/>
          <p:nvPr/>
        </p:nvSpPr>
        <p:spPr>
          <a:xfrm>
            <a:off x="6096000" y="5744358"/>
            <a:ext cx="5925781" cy="679801"/>
          </a:xfrm>
          <a:prstGeom prst="rect">
            <a:avLst/>
          </a:prstGeom>
        </p:spPr>
        <p:txBody>
          <a:bodyPr wrap="square">
            <a:spAutoFit/>
          </a:bodyPr>
          <a:lstStyle/>
          <a:p>
            <a:pPr indent="266700" algn="ctr">
              <a:lnSpc>
                <a:spcPct val="125000"/>
              </a:lnSpc>
              <a:spcAft>
                <a:spcPts val="0"/>
              </a:spcAft>
            </a:pPr>
            <a:r>
              <a:rPr lang="zh-CN" altLang="zh-CN" sz="1600" b="1" kern="1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四种原油</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（分别产自：</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加拿大新斯科舍</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美国联合石油公司</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C.</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北海布伦特油田</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挪威哥尔法克斯油田）的三维荧光光谱</a:t>
            </a:r>
            <a:endParaRPr lang="zh-CN" altLang="zh-CN" sz="2000" dirty="0">
              <a:effectLst/>
              <a:latin typeface="微软雅黑" panose="020B0503020204020204" pitchFamily="34" charset="-122"/>
              <a:ea typeface="微软雅黑" panose="020B0503020204020204" pitchFamily="34" charset="-122"/>
              <a:cs typeface="宋体" panose="02010600030101010101" pitchFamily="2" charset="-122"/>
            </a:endParaRPr>
          </a:p>
        </p:txBody>
      </p:sp>
      <p:sp>
        <p:nvSpPr>
          <p:cNvPr id="4" name="矩形 3"/>
          <p:cNvSpPr/>
          <p:nvPr/>
        </p:nvSpPr>
        <p:spPr>
          <a:xfrm>
            <a:off x="600" y="6465020"/>
            <a:ext cx="2419985" cy="337185"/>
          </a:xfrm>
          <a:prstGeom prst="rect">
            <a:avLst/>
          </a:prstGeom>
          <a:ln w="19050">
            <a:noFill/>
          </a:ln>
        </p:spPr>
        <p:txBody>
          <a:bodyPr wrap="none">
            <a:spAutoFit/>
          </a:bodyPr>
          <a:lstStyle/>
          <a:p>
            <a:r>
              <a:rPr lang="en-US" altLang="zh-CN" sz="1600" dirty="0">
                <a:solidFill>
                  <a:srgbClr val="002060"/>
                </a:solidFill>
                <a:latin typeface="微软雅黑" panose="020B0503020204020204" pitchFamily="34" charset="-122"/>
                <a:ea typeface="微软雅黑" panose="020B0503020204020204" pitchFamily="34" charset="-122"/>
              </a:rPr>
              <a:t>4.3  </a:t>
            </a:r>
            <a:r>
              <a:rPr lang="zh-CN" altLang="en-US" sz="1600" dirty="0">
                <a:solidFill>
                  <a:srgbClr val="002060"/>
                </a:solidFill>
                <a:latin typeface="微软雅黑" panose="020B0503020204020204" pitchFamily="34" charset="-122"/>
                <a:ea typeface="微软雅黑" panose="020B0503020204020204" pitchFamily="34" charset="-122"/>
              </a:rPr>
              <a:t>荧光光谱技术及应用</a:t>
            </a:r>
            <a:endParaRPr lang="zh-CN" altLang="en-US" sz="1600" dirty="0">
              <a:solidFill>
                <a:srgbClr val="002060"/>
              </a:solidFill>
            </a:endParaRPr>
          </a:p>
        </p:txBody>
      </p:sp>
      <p:sp>
        <p:nvSpPr>
          <p:cNvPr id="11" name="内容占位符 3"/>
          <p:cNvSpPr>
            <a:spLocks noGrp="1"/>
          </p:cNvSpPr>
          <p:nvPr/>
        </p:nvSpPr>
        <p:spPr>
          <a:xfrm>
            <a:off x="-3845" y="13970"/>
            <a:ext cx="2691765" cy="349250"/>
          </a:xfrm>
          <a:prstGeom prst="rect">
            <a:avLst/>
          </a:prstGeom>
          <a:solidFill>
            <a:schemeClr val="bg1">
              <a:lumMod val="95000"/>
            </a:schemeClr>
          </a:solidFill>
          <a:ln w="25400">
            <a:solidFill>
              <a:schemeClr val="tx2">
                <a:lumMod val="40000"/>
                <a:lumOff val="60000"/>
              </a:schemeClr>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章</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海洋光谱技术及应用</a:t>
            </a:r>
            <a:r>
              <a:rPr lang="en-US" altLang="zh-CN" sz="1600" dirty="0">
                <a:latin typeface="微软雅黑" panose="020B0503020204020204" pitchFamily="34" charset="-122"/>
                <a:ea typeface="微软雅黑" panose="020B0503020204020204" pitchFamily="34" charset="-122"/>
              </a:rPr>
              <a:t>  </a:t>
            </a:r>
            <a:endParaRPr lang="zh-CN" altLang="en-US" sz="16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fld id="{B1CC0675-18FD-1549-AA90-64430E7AA6D4}" type="slidenum">
              <a:rPr kumimoji="1" lang="zh-CN" altLang="en-US" smtClean="0"/>
            </a:fld>
            <a:endParaRPr kumimoji="1" lang="zh-CN" altLang="en-US"/>
          </a:p>
        </p:txBody>
      </p:sp>
      <p:sp>
        <p:nvSpPr>
          <p:cNvPr id="9" name="矩形 8"/>
          <p:cNvSpPr/>
          <p:nvPr/>
        </p:nvSpPr>
        <p:spPr>
          <a:xfrm>
            <a:off x="230042" y="5259297"/>
            <a:ext cx="5925781" cy="1076325"/>
          </a:xfrm>
          <a:prstGeom prst="rect">
            <a:avLst/>
          </a:prstGeom>
        </p:spPr>
        <p:txBody>
          <a:bodyPr wrap="square">
            <a:spAutoFit/>
          </a:bodyPr>
          <a:lstStyle/>
          <a:p>
            <a:pPr marL="285750" indent="-285750">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PAHs</a:t>
            </a:r>
            <a:r>
              <a:rPr lang="zh-CN" altLang="en-US" sz="1600" dirty="0">
                <a:latin typeface="微软雅黑" panose="020B0503020204020204" pitchFamily="34" charset="-122"/>
                <a:ea typeface="微软雅黑" panose="020B0503020204020204" pitchFamily="34" charset="-122"/>
              </a:rPr>
              <a:t>在</a:t>
            </a:r>
            <a:r>
              <a:rPr lang="zh-CN" altLang="en-US" sz="1600" dirty="0">
                <a:solidFill>
                  <a:srgbClr val="C00000"/>
                </a:solidFill>
                <a:latin typeface="微软雅黑" panose="020B0503020204020204" pitchFamily="34" charset="-122"/>
                <a:ea typeface="微软雅黑" panose="020B0503020204020204" pitchFamily="34" charset="-122"/>
              </a:rPr>
              <a:t>紫外波段</a:t>
            </a:r>
            <a:r>
              <a:rPr lang="zh-CN" altLang="en-US" sz="1600" dirty="0">
                <a:latin typeface="微软雅黑" panose="020B0503020204020204" pitchFamily="34" charset="-122"/>
                <a:ea typeface="微软雅黑" panose="020B0503020204020204" pitchFamily="34" charset="-122"/>
              </a:rPr>
              <a:t>具有较强的荧光效应，利用三维荧光光谱对</a:t>
            </a:r>
            <a:r>
              <a:rPr lang="en-US" altLang="zh-CN" sz="1600" dirty="0">
                <a:latin typeface="微软雅黑" panose="020B0503020204020204" pitchFamily="34" charset="-122"/>
                <a:ea typeface="微软雅黑" panose="020B0503020204020204" pitchFamily="34" charset="-122"/>
              </a:rPr>
              <a:t>PAHs</a:t>
            </a:r>
            <a:r>
              <a:rPr lang="zh-CN" altLang="en-US" sz="1600" dirty="0">
                <a:latin typeface="微软雅黑" panose="020B0503020204020204" pitchFamily="34" charset="-122"/>
                <a:ea typeface="微软雅黑" panose="020B0503020204020204" pitchFamily="34" charset="-122"/>
              </a:rPr>
              <a:t>进行定性定量分析，克服了</a:t>
            </a:r>
            <a:r>
              <a:rPr lang="zh-CN" altLang="en-US" sz="1600" dirty="0">
                <a:solidFill>
                  <a:srgbClr val="C00000"/>
                </a:solidFill>
                <a:latin typeface="微软雅黑" panose="020B0503020204020204" pitchFamily="34" charset="-122"/>
                <a:ea typeface="微软雅黑" panose="020B0503020204020204" pitchFamily="34" charset="-122"/>
              </a:rPr>
              <a:t>传统色谱分析法过程繁琐、成本高昂</a:t>
            </a:r>
            <a:r>
              <a:rPr lang="zh-CN" altLang="en-US" sz="1600" dirty="0">
                <a:latin typeface="微软雅黑" panose="020B0503020204020204" pitchFamily="34" charset="-122"/>
                <a:ea typeface="微软雅黑" panose="020B0503020204020204" pitchFamily="34" charset="-122"/>
              </a:rPr>
              <a:t>的缺点。</a:t>
            </a:r>
            <a:endParaRPr lang="en-US" altLang="zh-CN" sz="16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随着苯环数的增加，</a:t>
            </a:r>
            <a:r>
              <a:rPr lang="en-US" altLang="zh-CN" sz="1600" dirty="0">
                <a:latin typeface="微软雅黑" panose="020B0503020204020204" pitchFamily="34" charset="-122"/>
                <a:ea typeface="微软雅黑" panose="020B0503020204020204" pitchFamily="34" charset="-122"/>
              </a:rPr>
              <a:t>PAHs</a:t>
            </a:r>
            <a:r>
              <a:rPr lang="zh-CN" altLang="en-US" sz="1600" dirty="0">
                <a:latin typeface="微软雅黑" panose="020B0503020204020204" pitchFamily="34" charset="-122"/>
                <a:ea typeface="微软雅黑" panose="020B0503020204020204" pitchFamily="34" charset="-122"/>
              </a:rPr>
              <a:t>的发射波长呈现了一定规律的</a:t>
            </a:r>
            <a:r>
              <a:rPr lang="zh-CN" altLang="en-US" sz="1600" dirty="0">
                <a:solidFill>
                  <a:srgbClr val="C00000"/>
                </a:solidFill>
                <a:latin typeface="微软雅黑" panose="020B0503020204020204" pitchFamily="34" charset="-122"/>
                <a:ea typeface="微软雅黑" panose="020B0503020204020204" pitchFamily="34" charset="-122"/>
              </a:rPr>
              <a:t>红移</a:t>
            </a:r>
            <a:r>
              <a:rPr lang="zh-CN" altLang="en-US"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4398429" y="1970314"/>
            <a:ext cx="6334125" cy="3429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spcBef>
                <a:spcPts val="600"/>
              </a:spcBef>
              <a:defRPr/>
            </a:pPr>
            <a:r>
              <a:rPr lang="zh-CN" altLang="en-US" sz="6600" b="1" dirty="0">
                <a:gradFill>
                  <a:gsLst>
                    <a:gs pos="0">
                      <a:srgbClr val="012D86"/>
                    </a:gs>
                    <a:gs pos="100000">
                      <a:srgbClr val="0E2557"/>
                    </a:gs>
                  </a:gsLst>
                  <a:lin scaled="0"/>
                </a:gradFill>
              </a:rPr>
              <a:t>谢 谢！</a:t>
            </a:r>
            <a:br>
              <a:rPr lang="en-US" altLang="zh-CN" dirty="0">
                <a:gradFill>
                  <a:gsLst>
                    <a:gs pos="0">
                      <a:srgbClr val="012D86"/>
                    </a:gs>
                    <a:gs pos="100000">
                      <a:srgbClr val="0E2557"/>
                    </a:gs>
                  </a:gsLst>
                  <a:lin scaled="0"/>
                </a:gradFill>
              </a:rPr>
            </a:br>
            <a:endParaRPr lang="en-US" altLang="zh-CN" dirty="0">
              <a:gradFill>
                <a:gsLst>
                  <a:gs pos="0">
                    <a:srgbClr val="012D86"/>
                  </a:gs>
                  <a:gs pos="100000">
                    <a:srgbClr val="0E2557"/>
                  </a:gs>
                </a:gsLst>
                <a:lin scaled="0"/>
              </a:gradFill>
            </a:endParaRPr>
          </a:p>
        </p:txBody>
      </p:sp>
      <p:sp>
        <p:nvSpPr>
          <p:cNvPr id="4" name="灯片编号占位符 3"/>
          <p:cNvSpPr>
            <a:spLocks noGrp="1"/>
          </p:cNvSpPr>
          <p:nvPr>
            <p:ph type="sldNum" sz="quarter" idx="4294967295"/>
          </p:nvPr>
        </p:nvSpPr>
        <p:spPr>
          <a:xfrm>
            <a:off x="8611200" y="6356350"/>
            <a:ext cx="2743200" cy="365125"/>
          </a:xfrm>
        </p:spPr>
        <p:txBody>
          <a:bodyPr/>
          <a:lstStyle/>
          <a:p>
            <a:fld id="{B1CC0675-18FD-1549-AA90-64430E7AA6D4}" type="slidenum">
              <a:rPr kumimoji="1" lang="zh-CN" altLang="en-US" smtClean="0"/>
            </a:fld>
            <a:endParaRPr kumimoji="1" lang="zh-CN" altLang="en-US"/>
          </a:p>
        </p:txBody>
      </p:sp>
    </p:spTree>
  </p:cSld>
  <p:clrMapOvr>
    <a:masterClrMapping/>
  </p:clrMapOvr>
</p:sld>
</file>

<file path=ppt/tags/tag1.xml><?xml version="1.0" encoding="utf-8"?>
<p:tagLst xmlns:p="http://schemas.openxmlformats.org/presentationml/2006/main">
  <p:tag name="TABLE_ENDDRAG_ORIGIN_RECT" val="759*235"/>
  <p:tag name="TABLE_ENDDRAG_RECT" val="105*250*759*235"/>
</p:tagLst>
</file>

<file path=ppt/tags/tag2.xml><?xml version="1.0" encoding="utf-8"?>
<p:tagLst xmlns:p="http://schemas.openxmlformats.org/presentationml/2006/main">
  <p:tag name="KSO_WM_DIAGRAM_VIRTUALLY_FRAME" val="{&quot;height&quot;:222.83165354330703,&quot;left&quot;:184.76598425196852,&quot;top&quot;:299.5,&quot;width&quot;:601.3114173228346}"/>
</p:tagLst>
</file>

<file path=ppt/tags/tag3.xml><?xml version="1.0" encoding="utf-8"?>
<p:tagLst xmlns:p="http://schemas.openxmlformats.org/presentationml/2006/main">
  <p:tag name="KSO_WM_DIAGRAM_VIRTUALLY_FRAME" val="{&quot;height&quot;:222.83165354330703,&quot;left&quot;:184.76598425196852,&quot;top&quot;:299.5,&quot;width&quot;:601.3114173228346}"/>
</p:tagLst>
</file>

<file path=ppt/tags/tag4.xml><?xml version="1.0" encoding="utf-8"?>
<p:tagLst xmlns:p="http://schemas.openxmlformats.org/presentationml/2006/main">
  <p:tag name="KSO_WM_DIAGRAM_VIRTUALLY_FRAME" val="{&quot;height&quot;:222.83165354330703,&quot;left&quot;:184.76598425196852,&quot;top&quot;:299.5,&quot;width&quot;:601.3114173228346}"/>
</p:tagLst>
</file>

<file path=ppt/tags/tag5.xml><?xml version="1.0" encoding="utf-8"?>
<p:tagLst xmlns:p="http://schemas.openxmlformats.org/presentationml/2006/main">
  <p:tag name="KSO_WM_DIAGRAM_VIRTUALLY_FRAME" val="{&quot;height&quot;:222.83165354330703,&quot;left&quot;:184.76598425196852,&quot;top&quot;:299.5,&quot;width&quot;:601.3114173228346}"/>
</p:tagLst>
</file>

<file path=ppt/tags/tag6.xml><?xml version="1.0" encoding="utf-8"?>
<p:tagLst xmlns:p="http://schemas.openxmlformats.org/presentationml/2006/main">
  <p:tag name="KSO_WM_DIAGRAM_VIRTUALLY_FRAME" val="{&quot;height&quot;:210.55,&quot;left&quot;:176.15503937007878,&quot;top&quot;:276.37496062992125,&quot;width&quot;:664.5750393700787}"/>
</p:tagLst>
</file>

<file path=ppt/tags/tag7.xml><?xml version="1.0" encoding="utf-8"?>
<p:tagLst xmlns:p="http://schemas.openxmlformats.org/presentationml/2006/main">
  <p:tag name="KSO_WM_DIAGRAM_VIRTUALLY_FRAME" val="{&quot;height&quot;:210.55,&quot;left&quot;:176.15503937007878,&quot;top&quot;:276.37496062992125,&quot;width&quot;:664.5750393700787}"/>
</p:tagLst>
</file>

<file path=ppt/tags/tag8.xml><?xml version="1.0" encoding="utf-8"?>
<p:tagLst xmlns:p="http://schemas.openxmlformats.org/presentationml/2006/main">
  <p:tag name="KSO_WM_DIAGRAM_VIRTUALLY_FRAME" val="{&quot;height&quot;:210.55,&quot;left&quot;:176.15503937007878,&quot;top&quot;:276.37496062992125,&quot;width&quot;:664.5750393700787}"/>
</p:tagLst>
</file>

<file path=ppt/tags/tag9.xml><?xml version="1.0" encoding="utf-8"?>
<p:tagLst xmlns:p="http://schemas.openxmlformats.org/presentationml/2006/main">
  <p:tag name="KSO_WM_DIAGRAM_VIRTUALLY_FRAME" val="{&quot;height&quot;:210.55,&quot;left&quot;:176.15503937007878,&quot;top&quot;:276.37496062992125,&quot;width&quot;:664.5750393700787}"/>
</p:tagLst>
</file>

<file path=ppt/tags/tag10.xml><?xml version="1.0" encoding="utf-8"?>
<p:tagLst xmlns:p="http://schemas.openxmlformats.org/presentationml/2006/main">
  <p:tag name="KSO_WM_DIAGRAM_VIRTUALLY_FRAME" val="{&quot;height&quot;:210.55,&quot;left&quot;:176.15503937007878,&quot;top&quot;:276.37496062992125,&quot;width&quot;:664.5750393700787}"/>
</p:tagLst>
</file>

<file path=ppt/tags/tag11.xml><?xml version="1.0" encoding="utf-8"?>
<p:tagLst xmlns:p="http://schemas.openxmlformats.org/presentationml/2006/main">
  <p:tag name="KSO_WM_DIAGRAM_VIRTUALLY_FRAME" val="{&quot;height&quot;:210.55,&quot;left&quot;:176.15503937007878,&quot;top&quot;:276.37496062992125,&quot;width&quot;:664.5750393700787}"/>
</p:tagLst>
</file>

<file path=ppt/tags/tag12.xml><?xml version="1.0" encoding="utf-8"?>
<p:tagLst xmlns:p="http://schemas.openxmlformats.org/presentationml/2006/main">
  <p:tag name="KSO_WM_DIAGRAM_VIRTUALLY_FRAME" val="{&quot;height&quot;:210.55,&quot;left&quot;:176.15503937007878,&quot;top&quot;:276.37496062992125,&quot;width&quot;:664.5750393700787}"/>
</p:tagLst>
</file>

<file path=ppt/tags/tag13.xml><?xml version="1.0" encoding="utf-8"?>
<p:tagLst xmlns:p="http://schemas.openxmlformats.org/presentationml/2006/main">
  <p:tag name="KSO_WM_DIAGRAM_VIRTUALLY_FRAME" val="{&quot;height&quot;:210.55,&quot;left&quot;:176.15503937007878,&quot;top&quot;:276.37496062992125,&quot;width&quot;:664.5750393700787}"/>
</p:tagLst>
</file>

<file path=ppt/tags/tag14.xml><?xml version="1.0" encoding="utf-8"?>
<p:tagLst xmlns:p="http://schemas.openxmlformats.org/presentationml/2006/main">
  <p:tag name="KSO_WM_DIAGRAM_VIRTUALLY_FRAME" val="{&quot;height&quot;:210.55,&quot;left&quot;:176.15503937007878,&quot;top&quot;:276.37496062992125,&quot;width&quot;:664.5750393700787}"/>
</p:tagLst>
</file>

<file path=ppt/tags/tag15.xml><?xml version="1.0" encoding="utf-8"?>
<p:tagLst xmlns:p="http://schemas.openxmlformats.org/presentationml/2006/main">
  <p:tag name="KSO_WM_DIAGRAM_VIRTUALLY_FRAME" val="{&quot;height&quot;:210.55,&quot;left&quot;:176.15503937007878,&quot;top&quot;:276.37496062992125,&quot;width&quot;:664.5750393700787}"/>
</p:tagLst>
</file>

<file path=ppt/tags/tag16.xml><?xml version="1.0" encoding="utf-8"?>
<p:tagLst xmlns:p="http://schemas.openxmlformats.org/presentationml/2006/main">
  <p:tag name="KSO_WM_DIAGRAM_VIRTUALLY_FRAME" val="{&quot;height&quot;:210.55,&quot;left&quot;:176.15503937007878,&quot;top&quot;:276.37496062992125,&quot;width&quot;:664.5750393700787}"/>
</p:tagLst>
</file>

<file path=ppt/tags/tag17.xml><?xml version="1.0" encoding="utf-8"?>
<p:tagLst xmlns:p="http://schemas.openxmlformats.org/presentationml/2006/main">
  <p:tag name="KSO_WM_DIAGRAM_VIRTUALLY_FRAME" val="{&quot;height&quot;:210.55,&quot;left&quot;:176.15503937007878,&quot;top&quot;:276.37496062992125,&quot;width&quot;:664.5750393700787}"/>
</p:tagLst>
</file>

<file path=ppt/tags/tag18.xml><?xml version="1.0" encoding="utf-8"?>
<p:tagLst xmlns:p="http://schemas.openxmlformats.org/presentationml/2006/main">
  <p:tag name="KSO_WM_DIAGRAM_VIRTUALLY_FRAME" val="{&quot;height&quot;:210.55,&quot;left&quot;:176.15503937007878,&quot;top&quot;:276.37496062992125,&quot;width&quot;:664.5750393700787}"/>
</p:tagLst>
</file>

<file path=ppt/tags/tag19.xml><?xml version="1.0" encoding="utf-8"?>
<p:tagLst xmlns:p="http://schemas.openxmlformats.org/presentationml/2006/main">
  <p:tag name="KSO_WM_DIAGRAM_VIRTUALLY_FRAME" val="{&quot;height&quot;:210.55,&quot;left&quot;:176.15503937007878,&quot;top&quot;:276.37496062992125,&quot;width&quot;:664.5750393700787}"/>
</p:tagLst>
</file>

<file path=ppt/tags/tag20.xml><?xml version="1.0" encoding="utf-8"?>
<p:tagLst xmlns:p="http://schemas.openxmlformats.org/presentationml/2006/main">
  <p:tag name="KSO_WM_DIAGRAM_VIRTUALLY_FRAME" val="{&quot;height&quot;:210.55,&quot;left&quot;:176.15503937007878,&quot;top&quot;:276.37496062992125,&quot;width&quot;:664.5750393700787}"/>
</p:tagLst>
</file>

<file path=ppt/tags/tag21.xml><?xml version="1.0" encoding="utf-8"?>
<p:tagLst xmlns:p="http://schemas.openxmlformats.org/presentationml/2006/main">
  <p:tag name="KSO_WM_DIAGRAM_VIRTUALLY_FRAME" val="{&quot;height&quot;:210.55,&quot;left&quot;:176.15503937007878,&quot;top&quot;:276.37496062992125,&quot;width&quot;:664.5750393700787}"/>
</p:tagLst>
</file>

<file path=ppt/tags/tag22.xml><?xml version="1.0" encoding="utf-8"?>
<p:tagLst xmlns:p="http://schemas.openxmlformats.org/presentationml/2006/main">
  <p:tag name="TABLE_ENDDRAG_ORIGIN_RECT" val="577*251"/>
  <p:tag name="TABLE_ENDDRAG_RECT" val="46*277*577*251"/>
</p:tagLst>
</file>

<file path=ppt/tags/tag23.xml><?xml version="1.0" encoding="utf-8"?>
<p:tagLst xmlns:p="http://schemas.openxmlformats.org/presentationml/2006/main">
  <p:tag name="KSO_WPP_MARK_KEY" val="493e2680-5c48-4766-8d92-b0cbf666fc85"/>
  <p:tag name="COMMONDATA" val="eyJoZGlkIjoiNjAxMzZkNjFiYzY0ZjVlYTliMzkwNjk3ZmNiNzgzYT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12482</Words>
  <Application>WPS 演示</Application>
  <PresentationFormat>宽屏</PresentationFormat>
  <Paragraphs>1097</Paragraphs>
  <Slides>47</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17</vt:i4>
      </vt:variant>
      <vt:variant>
        <vt:lpstr>幻灯片标题</vt:lpstr>
      </vt:variant>
      <vt:variant>
        <vt:i4>47</vt:i4>
      </vt:variant>
    </vt:vector>
  </HeadingPairs>
  <TitlesOfParts>
    <vt:vector size="84" baseType="lpstr">
      <vt:lpstr>Arial</vt:lpstr>
      <vt:lpstr>宋体</vt:lpstr>
      <vt:lpstr>Wingdings</vt:lpstr>
      <vt:lpstr>微软雅黑</vt:lpstr>
      <vt:lpstr>Times New Roman</vt:lpstr>
      <vt:lpstr>Cambria Math</vt:lpstr>
      <vt:lpstr>Arial Unicode MS</vt:lpstr>
      <vt:lpstr>黑体</vt:lpstr>
      <vt:lpstr>等线</vt:lpstr>
      <vt:lpstr>楷体_GB2312</vt:lpstr>
      <vt:lpstr>新宋体</vt:lpstr>
      <vt:lpstr>Symbol</vt:lpstr>
      <vt:lpstr>Calibri</vt:lpstr>
      <vt:lpstr>Times New Roman</vt:lpstr>
      <vt:lpstr>华文琥珀</vt:lpstr>
      <vt:lpstr>华文楷体</vt:lpstr>
      <vt:lpstr>华文彩云</vt:lpstr>
      <vt:lpstr>quote-cjk-patch</vt:lpstr>
      <vt:lpstr>Courier10 BT</vt:lpstr>
      <vt:lpstr>Office 主题​​</vt:lpstr>
      <vt:lpstr>Equation.DSMT4</vt:lpstr>
      <vt:lpstr>Equation.DSMT4</vt:lpstr>
      <vt:lpstr>Equation.DSMT4</vt:lpstr>
      <vt:lpstr>Equation.DSMT4</vt:lpstr>
      <vt:lpstr>Paint.Picture</vt:lpstr>
      <vt:lpstr>Paint.Picture</vt:lpstr>
      <vt:lpstr>Equation.DSMT4</vt:lpstr>
      <vt:lpstr>Equation.DSMT4</vt:lpstr>
      <vt:lpstr>Visio.Drawing.15</vt:lpstr>
      <vt:lpstr>Equation.DSMT4</vt:lpstr>
      <vt:lpstr>Equation.DSMT4</vt:lpstr>
      <vt:lpstr>Equation.DSMT4</vt:lpstr>
      <vt:lpstr>Equation.DSMT4</vt:lpstr>
      <vt:lpstr>Equation.DSMT4</vt:lpstr>
      <vt:lpstr>Equation.DSMT4</vt:lpstr>
      <vt:lpstr>Equation.DSMT4</vt:lpstr>
      <vt:lpstr>Equation.DSMT4</vt:lpstr>
      <vt:lpstr>PowerPoint 演示文稿</vt:lpstr>
      <vt:lpstr>第4章  概述</vt:lpstr>
      <vt:lpstr>PowerPoint 演示文稿</vt:lpstr>
      <vt:lpstr>4.1.1 光谱学的基本概念</vt:lpstr>
      <vt:lpstr>4.1.2 光谱的产生与测量</vt:lpstr>
      <vt:lpstr>4.1.2 光谱的产生与测量</vt:lpstr>
      <vt:lpstr>4.1.2 光谱的产生与测量</vt:lpstr>
      <vt:lpstr>4.1.3 光谱的基本分析方法</vt:lpstr>
      <vt:lpstr>4.1.3 光谱的基本分析方法</vt:lpstr>
      <vt:lpstr>4.1.3 光谱的基本分析方法</vt:lpstr>
      <vt:lpstr>4.1.3 光谱的基本分析方法</vt:lpstr>
      <vt:lpstr>4.1.3 光谱的基本分析方法</vt:lpstr>
      <vt:lpstr>4.1.3 光谱的基本分析方法</vt:lpstr>
      <vt:lpstr>4.1.3 光谱的基本分析方法</vt:lpstr>
      <vt:lpstr>4.1.3 光谱的基本分析方法</vt:lpstr>
      <vt:lpstr>PowerPoint 演示文稿</vt:lpstr>
      <vt:lpstr>4.2.1 基本原理</vt:lpstr>
      <vt:lpstr>4.2.1 基本原理</vt:lpstr>
      <vt:lpstr>4.2.1 基本原理</vt:lpstr>
      <vt:lpstr>4.2.1 基本原理</vt:lpstr>
      <vt:lpstr>4.2.1 基本原理</vt:lpstr>
      <vt:lpstr>4.2.2 紫外-可见光谱的测量</vt:lpstr>
      <vt:lpstr>4.2.2 紫外-可见光谱的测量</vt:lpstr>
      <vt:lpstr>4.2.3 紫外-可见吸收光谱的应用</vt:lpstr>
      <vt:lpstr>4.2.3 紫外-可见吸收光谱的应用</vt:lpstr>
      <vt:lpstr>4.2.3 紫外-可见吸收光谱的应用</vt:lpstr>
      <vt:lpstr>4.2.3 紫外-可见吸收光谱的应用</vt:lpstr>
      <vt:lpstr>4.2.3 紫外-可见吸收光谱的应用</vt:lpstr>
      <vt:lpstr>PowerPoint 演示文稿</vt:lpstr>
      <vt:lpstr>4.3.1   基本原理</vt:lpstr>
      <vt:lpstr>4.3.1   基本原理</vt:lpstr>
      <vt:lpstr>4.3.1   基本原理</vt:lpstr>
      <vt:lpstr>4.3.1   基本原理</vt:lpstr>
      <vt:lpstr>4.3.1   基本原理</vt:lpstr>
      <vt:lpstr>4.3.2   荧光检测方法</vt:lpstr>
      <vt:lpstr>4.3.2   荧光检测方法</vt:lpstr>
      <vt:lpstr>4.3.2   荧光检测方法</vt:lpstr>
      <vt:lpstr>4.3.3   荧光光谱与测量</vt:lpstr>
      <vt:lpstr>4.3.3   荧光光谱与测量</vt:lpstr>
      <vt:lpstr>4.3.3   荧光光谱与测量</vt:lpstr>
      <vt:lpstr>4.3.3   荧光光谱与测量</vt:lpstr>
      <vt:lpstr>4.3.3   荧光光谱与测量</vt:lpstr>
      <vt:lpstr>4.3.5   荧光光谱的应用</vt:lpstr>
      <vt:lpstr>4.3.5   荧光光谱的应用</vt:lpstr>
      <vt:lpstr>4.3.5   荧光光谱的应用</vt:lpstr>
      <vt:lpstr>4.3.5   荧光光谱的应用</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重大研发项目构想</dc:title>
  <dc:creator>Mengmeng Tong</dc:creator>
  <cp:lastModifiedBy>王晓萍</cp:lastModifiedBy>
  <cp:revision>256</cp:revision>
  <dcterms:created xsi:type="dcterms:W3CDTF">2020-04-09T12:05:00Z</dcterms:created>
  <dcterms:modified xsi:type="dcterms:W3CDTF">2025-07-05T13:39:48Z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A29D5334DB7148F8B2161D6288D38BEC_13</vt:lpwstr>
  </property>
</Properties>
</file>