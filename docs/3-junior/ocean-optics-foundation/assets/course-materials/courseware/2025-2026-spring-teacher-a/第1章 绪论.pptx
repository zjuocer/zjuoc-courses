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Lst>
  <p:notesMasterIdLst>
    <p:notesMasterId r:id="rId17"/>
  </p:notesMasterIdLst>
  <p:handoutMasterIdLst>
    <p:handoutMasterId r:id="rId18"/>
  </p:handoutMasterIdLst>
  <p:sldIdLst>
    <p:sldId id="256" r:id="rId2"/>
    <p:sldId id="469" r:id="rId3"/>
    <p:sldId id="452" r:id="rId4"/>
    <p:sldId id="560" r:id="rId5"/>
    <p:sldId id="471" r:id="rId6"/>
    <p:sldId id="554" r:id="rId7"/>
    <p:sldId id="572" r:id="rId8"/>
    <p:sldId id="555" r:id="rId9"/>
    <p:sldId id="556" r:id="rId10"/>
    <p:sldId id="561" r:id="rId11"/>
    <p:sldId id="557" r:id="rId12"/>
    <p:sldId id="558" r:id="rId13"/>
    <p:sldId id="562" r:id="rId14"/>
    <p:sldId id="569" r:id="rId15"/>
    <p:sldId id="570" r:id="rId16"/>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DE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64"/>
    <p:restoredTop sz="96405"/>
  </p:normalViewPr>
  <p:slideViewPr>
    <p:cSldViewPr snapToGrid="0" snapToObjects="1">
      <p:cViewPr varScale="1">
        <p:scale>
          <a:sx n="113" d="100"/>
          <a:sy n="113" d="100"/>
        </p:scale>
        <p:origin x="3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2025/7/22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F33B5E-520B-8246-BE8A-E34F8EB634A0}" type="datetimeFigureOut">
              <a:rPr kumimoji="1" lang="zh-CN" altLang="en-US" smtClean="0"/>
              <a:t>2025/7/22</a:t>
            </a:fld>
            <a:endParaRPr kumimoji="1"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B2570-5314-B54D-B499-4277E266C12B}"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221" y="1122363"/>
            <a:ext cx="9145325"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221" y="3602038"/>
            <a:ext cx="9145325"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015BEEF6-EE95-0B42-952B-07A5F0DD5047}" type="datetimeFigureOut">
              <a:rPr kumimoji="1" lang="zh-CN" altLang="en-US" smtClean="0"/>
              <a:t>2025/7/22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1CC0675-18FD-1549-AA90-64430E7AA6D4}" type="slidenum">
              <a:rPr kumimoji="1" lang="zh-CN" altLang="en-US" smtClean="0"/>
              <a:t>‹#›</a:t>
            </a:fld>
            <a:endParaRPr kumimoji="1"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612133" y="363855"/>
            <a:ext cx="6691329" cy="612140"/>
          </a:xfrm>
        </p:spPr>
        <p:txBody>
          <a:bodyPr/>
          <a:lstStyle>
            <a:lvl1pPr>
              <a:defRPr sz="3200">
                <a:latin typeface="微软雅黑" panose="020B0503020204020204" pitchFamily="34" charset="-122"/>
                <a:ea typeface="微软雅黑" panose="020B0503020204020204" pitchFamily="34" charset="-122"/>
              </a:defRPr>
            </a:lvl1pPr>
          </a:lstStyle>
          <a:p>
            <a:r>
              <a:rPr kumimoji="1" lang="zh-CN" altLang="en-US"/>
              <a:t>单击此处编辑母版标题样式</a:t>
            </a:r>
          </a:p>
        </p:txBody>
      </p:sp>
      <p:sp>
        <p:nvSpPr>
          <p:cNvPr id="3" name="内容占位符 2"/>
          <p:cNvSpPr>
            <a:spLocks noGrp="1"/>
          </p:cNvSpPr>
          <p:nvPr>
            <p:ph idx="1" hasCustomPrompt="1"/>
          </p:nvPr>
        </p:nvSpPr>
        <p:spPr/>
        <p:txBody>
          <a:bodyPr/>
          <a:lstStyle>
            <a:lvl1pPr eaLnBrk="1" fontAlgn="auto" latinLnBrk="0" hangingPunct="1">
              <a:lnSpc>
                <a:spcPct val="130000"/>
              </a:lnSpc>
              <a:defRPr sz="2000">
                <a:latin typeface="微软雅黑" panose="020B0503020204020204" pitchFamily="34" charset="-122"/>
                <a:ea typeface="微软雅黑" panose="020B0503020204020204" pitchFamily="34" charset="-122"/>
                <a:cs typeface="微软雅黑" panose="020B0503020204020204" pitchFamily="34" charset="-122"/>
              </a:defRPr>
            </a:lvl1pPr>
          </a:lstStyle>
          <a:p>
            <a:r>
              <a:rPr kumimoji="1" lang="zh-CN" altLang="en-US"/>
              <a:t>编辑母版文本样式
第二级
第三级
第四级
第五级</a:t>
            </a:r>
          </a:p>
        </p:txBody>
      </p:sp>
      <p:sp>
        <p:nvSpPr>
          <p:cNvPr id="4" name="日期占位符 3"/>
          <p:cNvSpPr>
            <a:spLocks noGrp="1"/>
          </p:cNvSpPr>
          <p:nvPr>
            <p:ph type="dt" sz="half" idx="10"/>
          </p:nvPr>
        </p:nvSpPr>
        <p:spPr/>
        <p:txBody>
          <a:bodyPr/>
          <a:lstStyle/>
          <a:p>
            <a:fld id="{015BEEF6-EE95-0B42-952B-07A5F0DD5047}" type="datetimeFigureOut">
              <a:rPr kumimoji="1" lang="zh-CN" altLang="en-US" smtClean="0"/>
              <a:t>2025/7/22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1CC0675-18FD-1549-AA90-64430E7AA6D4}" type="slidenum">
              <a:rPr kumimoji="1" lang="zh-CN" altLang="en-US" smtClean="0"/>
              <a:t>‹#›</a:t>
            </a:fld>
            <a:endParaRPr kumimoji="1" lang="zh-CN" altLang="en-US"/>
          </a:p>
        </p:txBody>
      </p:sp>
      <p:cxnSp>
        <p:nvCxnSpPr>
          <p:cNvPr id="8" name="直线连接符 7"/>
          <p:cNvCxnSpPr/>
          <p:nvPr userDrawn="1"/>
        </p:nvCxnSpPr>
        <p:spPr>
          <a:xfrm>
            <a:off x="0" y="1007859"/>
            <a:ext cx="12193766" cy="0"/>
          </a:xfrm>
          <a:prstGeom prst="line">
            <a:avLst/>
          </a:prstGeom>
          <a:ln w="19050">
            <a:gradFill flip="none" rotWithShape="1">
              <a:gsLst>
                <a:gs pos="0">
                  <a:schemeClr val="bg1">
                    <a:lumMod val="100000"/>
                  </a:schemeClr>
                </a:gs>
                <a:gs pos="23000">
                  <a:schemeClr val="accent2">
                    <a:lumMod val="89000"/>
                  </a:schemeClr>
                </a:gs>
                <a:gs pos="69000">
                  <a:schemeClr val="accent2">
                    <a:lumMod val="75000"/>
                  </a:schemeClr>
                </a:gs>
                <a:gs pos="97000">
                  <a:schemeClr val="accent2">
                    <a:lumMod val="70000"/>
                  </a:schemeClr>
                </a:gs>
              </a:gsLst>
              <a:path path="circle">
                <a:fillToRect l="100000" t="100000"/>
              </a:path>
              <a:tileRect r="-100000" b="-100000"/>
            </a:gradFill>
          </a:ln>
          <a:effectLst>
            <a:outerShdw blurRad="50800" dist="50800" dir="5400000" algn="ctr" rotWithShape="0">
              <a:srgbClr val="000000">
                <a:alpha val="40000"/>
              </a:srgbClr>
            </a:outerShdw>
          </a:effectLst>
        </p:spPr>
        <p:style>
          <a:lnRef idx="1">
            <a:schemeClr val="accent2"/>
          </a:lnRef>
          <a:fillRef idx="0">
            <a:schemeClr val="accent2"/>
          </a:fillRef>
          <a:effectRef idx="0">
            <a:schemeClr val="accent2"/>
          </a:effectRef>
          <a:fontRef idx="minor">
            <a:schemeClr val="tx1"/>
          </a:fontRef>
        </p:style>
      </p:cxnSp>
      <p:pic>
        <p:nvPicPr>
          <p:cNvPr id="20" name="图片 19"/>
          <p:cNvPicPr>
            <a:picLocks noChangeAspect="1"/>
          </p:cNvPicPr>
          <p:nvPr userDrawn="1"/>
        </p:nvPicPr>
        <p:blipFill rotWithShape="1">
          <a:blip r:embed="rId2"/>
          <a:srcRect l="2734" t="6900" r="2468" b="9377"/>
          <a:stretch>
            <a:fillRect/>
          </a:stretch>
        </p:blipFill>
        <p:spPr>
          <a:xfrm>
            <a:off x="9467331" y="42785"/>
            <a:ext cx="2653924" cy="871784"/>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321" y="365125"/>
            <a:ext cx="10517123"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321" y="1825625"/>
            <a:ext cx="10517123"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p:cNvSpPr>
            <a:spLocks noGrp="1"/>
          </p:cNvSpPr>
          <p:nvPr>
            <p:ph type="dt" sz="half" idx="2"/>
          </p:nvPr>
        </p:nvSpPr>
        <p:spPr>
          <a:xfrm>
            <a:off x="838321" y="6356350"/>
            <a:ext cx="274359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BEEF6-EE95-0B42-952B-07A5F0DD5047}" type="datetimeFigureOut">
              <a:rPr kumimoji="1" lang="zh-CN" altLang="en-US" smtClean="0"/>
              <a:t>2025/7/22</a:t>
            </a:fld>
            <a:endParaRPr kumimoji="1" lang="zh-CN" altLang="en-US"/>
          </a:p>
        </p:txBody>
      </p:sp>
      <p:sp>
        <p:nvSpPr>
          <p:cNvPr id="5" name="页脚占位符 4"/>
          <p:cNvSpPr>
            <a:spLocks noGrp="1"/>
          </p:cNvSpPr>
          <p:nvPr>
            <p:ph type="ftr" sz="quarter" idx="3"/>
          </p:nvPr>
        </p:nvSpPr>
        <p:spPr>
          <a:xfrm>
            <a:off x="4039185" y="6356350"/>
            <a:ext cx="411539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1847" y="6356350"/>
            <a:ext cx="274359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C0675-18FD-1549-AA90-64430E7AA6D4}"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267515" y="3995018"/>
            <a:ext cx="7660640" cy="1379818"/>
          </a:xfrm>
        </p:spPr>
        <p:txBody>
          <a:bodyPr vert="horz" lIns="91440" tIns="45720" rIns="91440" bIns="45720" rtlCol="0">
            <a:noAutofit/>
          </a:bodyPr>
          <a:lstStyle/>
          <a:p>
            <a:pPr>
              <a:lnSpc>
                <a:spcPct val="120000"/>
              </a:lnSpc>
            </a:pP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浙江大学</a:t>
            </a:r>
            <a:r>
              <a:rPr lang="en-US" altLang="zh-CN"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海洋学院</a:t>
            </a:r>
            <a:endParaRPr lang="en-US" altLang="zh-CN"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9808" y="79375"/>
            <a:ext cx="2161857" cy="398780"/>
          </a:xfrm>
          <a:prstGeom prst="rect">
            <a:avLst/>
          </a:prstGeom>
          <a:noFill/>
        </p:spPr>
        <p:txBody>
          <a:bodyPr wrap="square" rtlCol="0">
            <a:spAutoFit/>
          </a:bodyPr>
          <a:lstStyle/>
          <a:p>
            <a:pPr algn="ctr" fontAlgn="auto">
              <a:lnSpc>
                <a:spcPct val="100000"/>
              </a:lnSpc>
            </a:pPr>
            <a:r>
              <a:rPr kumimoji="1" lang="zh-CN" altLang="en-US" sz="20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海洋光学技术</a:t>
            </a:r>
          </a:p>
        </p:txBody>
      </p:sp>
      <p:cxnSp>
        <p:nvCxnSpPr>
          <p:cNvPr id="6" name="直线连接符 5"/>
          <p:cNvCxnSpPr/>
          <p:nvPr/>
        </p:nvCxnSpPr>
        <p:spPr>
          <a:xfrm>
            <a:off x="-24974" y="3391013"/>
            <a:ext cx="12192000" cy="0"/>
          </a:xfrm>
          <a:prstGeom prst="line">
            <a:avLst/>
          </a:prstGeom>
          <a:ln w="127000">
            <a:gradFill flip="none" rotWithShape="1">
              <a:gsLst>
                <a:gs pos="0">
                  <a:schemeClr val="bg1"/>
                </a:gs>
                <a:gs pos="23000">
                  <a:schemeClr val="accent2">
                    <a:lumMod val="89000"/>
                  </a:schemeClr>
                </a:gs>
                <a:gs pos="69000">
                  <a:schemeClr val="accent2">
                    <a:lumMod val="75000"/>
                  </a:schemeClr>
                </a:gs>
                <a:gs pos="97000">
                  <a:schemeClr val="accent2">
                    <a:lumMod val="70000"/>
                  </a:schemeClr>
                </a:gs>
              </a:gsLst>
              <a:path path="circle">
                <a:fillToRect l="100000" t="100000"/>
              </a:path>
              <a:tileRect r="-100000" b="-100000"/>
            </a:gradFill>
          </a:ln>
          <a:effectLst>
            <a:outerShdw blurRad="50800" dist="50800" dir="5400000" algn="ctr" rotWithShape="0">
              <a:srgbClr val="000000">
                <a:alpha val="40000"/>
              </a:srgbClr>
            </a:outerShdw>
          </a:effectLst>
        </p:spPr>
        <p:style>
          <a:lnRef idx="1">
            <a:schemeClr val="accent2"/>
          </a:lnRef>
          <a:fillRef idx="0">
            <a:schemeClr val="accent2"/>
          </a:fillRef>
          <a:effectRef idx="0">
            <a:schemeClr val="accent2"/>
          </a:effectRef>
          <a:fontRef idx="minor">
            <a:schemeClr val="tx1"/>
          </a:fontRef>
        </p:style>
      </p:cxnSp>
      <p:pic>
        <p:nvPicPr>
          <p:cNvPr id="7" name="图片 6"/>
          <p:cNvPicPr>
            <a:picLocks noChangeAspect="1"/>
          </p:cNvPicPr>
          <p:nvPr/>
        </p:nvPicPr>
        <p:blipFill>
          <a:blip r:embed="rId2"/>
          <a:stretch>
            <a:fillRect/>
          </a:stretch>
        </p:blipFill>
        <p:spPr>
          <a:xfrm>
            <a:off x="8936421" y="37509"/>
            <a:ext cx="3256276" cy="1211335"/>
          </a:xfrm>
          <a:prstGeom prst="rect">
            <a:avLst/>
          </a:prstGeom>
        </p:spPr>
      </p:pic>
      <p:sp>
        <p:nvSpPr>
          <p:cNvPr id="2" name="文本框 1"/>
          <p:cNvSpPr txBox="1"/>
          <p:nvPr/>
        </p:nvSpPr>
        <p:spPr>
          <a:xfrm>
            <a:off x="965299" y="2269028"/>
            <a:ext cx="10399395" cy="706755"/>
          </a:xfrm>
          <a:prstGeom prst="rect">
            <a:avLst/>
          </a:prstGeom>
          <a:noFill/>
        </p:spPr>
        <p:txBody>
          <a:bodyPr wrap="square" rtlCol="0">
            <a:spAutoFit/>
          </a:bodyPr>
          <a:lstStyle/>
          <a:p>
            <a:pPr algn="ctr" fontAlgn="auto">
              <a:lnSpc>
                <a:spcPct val="100000"/>
              </a:lnSpc>
            </a:pP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第</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1</a:t>
            </a: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章</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  </a:t>
            </a: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海洋光学技术绪论</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  </a:t>
            </a:r>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91" y="5382493"/>
            <a:ext cx="1543050" cy="1475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zh-CN" altLang="en-US" b="1" dirty="0">
                <a:solidFill>
                  <a:srgbClr val="002060"/>
                </a:solidFill>
              </a:rPr>
              <a:t>第</a:t>
            </a:r>
            <a:r>
              <a:rPr lang="en-US" altLang="zh-CN" b="1" dirty="0">
                <a:solidFill>
                  <a:srgbClr val="002060"/>
                </a:solidFill>
              </a:rPr>
              <a:t>1</a:t>
            </a:r>
            <a:r>
              <a:rPr lang="zh-CN" altLang="en-US" b="1" dirty="0">
                <a:solidFill>
                  <a:srgbClr val="002060"/>
                </a:solidFill>
              </a:rPr>
              <a:t>章</a:t>
            </a:r>
            <a:r>
              <a:rPr lang="en-US" altLang="zh-CN" b="1" dirty="0">
                <a:solidFill>
                  <a:srgbClr val="002060"/>
                </a:solidFill>
              </a:rPr>
              <a:t>  </a:t>
            </a:r>
            <a:r>
              <a:rPr lang="zh-CN" altLang="en-US" b="1" dirty="0">
                <a:solidFill>
                  <a:srgbClr val="002060"/>
                </a:solidFill>
              </a:rPr>
              <a:t>概述</a:t>
            </a:r>
          </a:p>
        </p:txBody>
      </p:sp>
      <p:sp>
        <p:nvSpPr>
          <p:cNvPr id="5" name="文本框 4"/>
          <p:cNvSpPr txBox="1"/>
          <p:nvPr/>
        </p:nvSpPr>
        <p:spPr>
          <a:xfrm>
            <a:off x="880358" y="1490980"/>
            <a:ext cx="10433685" cy="2346283"/>
          </a:xfrm>
          <a:prstGeom prst="rect">
            <a:avLst/>
          </a:prstGeom>
        </p:spPr>
        <p:txBody>
          <a:bodyPr wrap="square">
            <a:spAutoFit/>
          </a:bodyPr>
          <a:lstStyle/>
          <a:p>
            <a:pPr indent="304800" algn="just" defTabSz="266700">
              <a:lnSpc>
                <a:spcPct val="150000"/>
              </a:lnSpc>
              <a:spcBef>
                <a:spcPts val="400"/>
              </a:spcBef>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海洋光学技术是一种</a:t>
            </a:r>
            <a:r>
              <a:rPr lang="zh-CN" altLang="zh-CN" sz="2000" b="1" dirty="0">
                <a:solidFill>
                  <a:srgbClr val="C00000"/>
                </a:solidFill>
                <a:latin typeface="微软雅黑" panose="020B0503020204020204" pitchFamily="34" charset="-122"/>
                <a:ea typeface="微软雅黑" panose="020B0503020204020204" pitchFamily="34" charset="-122"/>
              </a:rPr>
              <a:t>利用光学手段在海洋环境中进行感知、观测以及通信的技术</a:t>
            </a:r>
            <a:r>
              <a:rPr lang="zh-CN" altLang="zh-CN" sz="2000" dirty="0">
                <a:latin typeface="微软雅黑" panose="020B0503020204020204" pitchFamily="34" charset="-122"/>
                <a:ea typeface="微软雅黑" panose="020B0503020204020204" pitchFamily="34" charset="-122"/>
              </a:rPr>
              <a:t>，主要涉及光学系统的开发以及相应数据的处理。近年来，基于光学的传感、成像、通信等技术的发展与应用推动了人类社会的进步，拓展了人类对世界的认知。海洋光学技术是将光学技术及光学系统应用到海洋领域的多个方面，为海洋科学研究、海洋信息感知、海洋通信组网等提供技术支持，提高人类探索海洋的能力和效率。</a:t>
            </a:r>
          </a:p>
        </p:txBody>
      </p:sp>
      <p:sp>
        <p:nvSpPr>
          <p:cNvPr id="7" name="文本框 6"/>
          <p:cNvSpPr txBox="1"/>
          <p:nvPr/>
        </p:nvSpPr>
        <p:spPr>
          <a:xfrm>
            <a:off x="975608" y="4405630"/>
            <a:ext cx="10176510" cy="615040"/>
          </a:xfrm>
          <a:prstGeom prst="rect">
            <a:avLst/>
          </a:prstGeom>
          <a:noFill/>
        </p:spPr>
        <p:txBody>
          <a:bodyPr wrap="square" rtlCol="0" anchor="t">
            <a:spAutoFit/>
          </a:bodyPr>
          <a:lstStyle/>
          <a:p>
            <a:pPr>
              <a:lnSpc>
                <a:spcPct val="200000"/>
              </a:lnSpc>
            </a:pPr>
            <a:r>
              <a:rPr lang="zh-CN" altLang="en-US" sz="2000" b="1" dirty="0">
                <a:solidFill>
                  <a:srgbClr val="C00000"/>
                </a:solidFill>
                <a:latin typeface="微软雅黑" panose="020B0503020204020204" pitchFamily="34" charset="-122"/>
                <a:ea typeface="微软雅黑" panose="020B0503020204020204" pitchFamily="34" charset="-122"/>
                <a:sym typeface="+mn-ea"/>
              </a:rPr>
              <a:t>本章共有</a:t>
            </a:r>
            <a:r>
              <a:rPr lang="en-US" altLang="zh-CN" sz="2000" b="1" dirty="0">
                <a:solidFill>
                  <a:srgbClr val="C00000"/>
                </a:solidFill>
                <a:latin typeface="微软雅黑" panose="020B0503020204020204" pitchFamily="34" charset="-122"/>
                <a:ea typeface="微软雅黑" panose="020B0503020204020204" pitchFamily="34" charset="-122"/>
                <a:sym typeface="+mn-ea"/>
              </a:rPr>
              <a:t>3</a:t>
            </a:r>
            <a:r>
              <a:rPr lang="zh-CN" altLang="en-US" sz="2000" b="1" dirty="0">
                <a:solidFill>
                  <a:srgbClr val="C00000"/>
                </a:solidFill>
                <a:latin typeface="微软雅黑" panose="020B0503020204020204" pitchFamily="34" charset="-122"/>
                <a:ea typeface="微软雅黑" panose="020B0503020204020204" pitchFamily="34" charset="-122"/>
                <a:sym typeface="+mn-ea"/>
              </a:rPr>
              <a:t>个教学单元：</a:t>
            </a:r>
            <a:r>
              <a:rPr lang="zh-CN" altLang="en-US" sz="2000" b="1" dirty="0">
                <a:solidFill>
                  <a:srgbClr val="002060"/>
                </a:solidFill>
                <a:latin typeface="微软雅黑" panose="020B0503020204020204" pitchFamily="34" charset="-122"/>
                <a:ea typeface="微软雅黑" panose="020B0503020204020204" pitchFamily="34" charset="-122"/>
                <a:sym typeface="+mn-ea"/>
              </a:rPr>
              <a:t>海洋光学技术概述；海洋光学技术的发展与挑战；教材概况</a:t>
            </a:r>
            <a:endParaRPr lang="zh-CN" altLang="en-US" sz="2000" b="1" dirty="0">
              <a:latin typeface="微软雅黑" panose="020B0503020204020204" pitchFamily="34" charset="-122"/>
              <a:ea typeface="微软雅黑" panose="020B0503020204020204" pitchFamily="34" charset="-122"/>
              <a:sym typeface="+mn-ea"/>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1</a:t>
            </a:fld>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82610" y="278793"/>
            <a:ext cx="10399395" cy="645160"/>
          </a:xfrm>
          <a:prstGeom prst="rect">
            <a:avLst/>
          </a:prstGeom>
          <a:noFill/>
        </p:spPr>
        <p:txBody>
          <a:bodyPr wrap="square" rtlCol="0">
            <a:spAutoFit/>
          </a:bodyPr>
          <a:lstStyle/>
          <a:p>
            <a:pPr algn="ctr" fontAlgn="auto">
              <a:lnSpc>
                <a:spcPct val="100000"/>
              </a:lnSpc>
            </a:pPr>
            <a:r>
              <a:rPr kumimoji="1" lang="zh-CN" altLang="en-US" sz="3600" b="1" dirty="0">
                <a:latin typeface="微软雅黑" panose="020B0503020204020204" pitchFamily="34" charset="-122"/>
                <a:ea typeface="微软雅黑" panose="020B0503020204020204" pitchFamily="34" charset="-122"/>
              </a:rPr>
              <a:t>教学单元</a:t>
            </a:r>
            <a:endParaRPr kumimoji="1" lang="en-US" altLang="zh-CN" sz="36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004807" y="1979789"/>
            <a:ext cx="6508376" cy="2898422"/>
          </a:xfrm>
          <a:prstGeom prst="rect">
            <a:avLst/>
          </a:prstGeom>
          <a:noFill/>
        </p:spPr>
        <p:txBody>
          <a:bodyPr wrap="square" rtlCol="0">
            <a:spAutoFit/>
          </a:bodyPr>
          <a:lstStyle/>
          <a:p>
            <a:pPr>
              <a:lnSpc>
                <a:spcPct val="200000"/>
              </a:lnSpc>
            </a:pPr>
            <a:r>
              <a:rPr lang="en-US" altLang="zh-CN" sz="3200" b="1" dirty="0">
                <a:solidFill>
                  <a:srgbClr val="C00000"/>
                </a:solidFill>
                <a:latin typeface="微软雅黑" panose="020B0503020204020204" pitchFamily="34" charset="-122"/>
                <a:ea typeface="微软雅黑" panose="020B0503020204020204" pitchFamily="34" charset="-122"/>
              </a:rPr>
              <a:t>1.1  </a:t>
            </a:r>
            <a:r>
              <a:rPr lang="zh-CN" altLang="en-US" sz="3200" b="1" dirty="0">
                <a:solidFill>
                  <a:srgbClr val="C00000"/>
                </a:solidFill>
                <a:latin typeface="微软雅黑" panose="020B0503020204020204" pitchFamily="34" charset="-122"/>
                <a:ea typeface="微软雅黑" panose="020B0503020204020204" pitchFamily="34" charset="-122"/>
              </a:rPr>
              <a:t>海洋光学技术概述</a:t>
            </a:r>
            <a:endParaRPr lang="en-US" altLang="zh-CN" sz="3200" b="1" dirty="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1.2  </a:t>
            </a:r>
            <a:r>
              <a:rPr lang="zh-CN" altLang="en-US" sz="3200" b="1" dirty="0">
                <a:solidFill>
                  <a:srgbClr val="002060"/>
                </a:solidFill>
                <a:latin typeface="微软雅黑" panose="020B0503020204020204" pitchFamily="34" charset="-122"/>
                <a:ea typeface="微软雅黑" panose="020B0503020204020204" pitchFamily="34" charset="-122"/>
              </a:rPr>
              <a:t>海洋光学技术的发展与挑战</a:t>
            </a: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1.3  </a:t>
            </a:r>
            <a:r>
              <a:rPr lang="zh-CN" altLang="en-US" sz="3200" b="1" dirty="0">
                <a:solidFill>
                  <a:srgbClr val="002060"/>
                </a:solidFill>
                <a:latin typeface="微软雅黑" panose="020B0503020204020204" pitchFamily="34" charset="-122"/>
                <a:ea typeface="微软雅黑" panose="020B0503020204020204" pitchFamily="34" charset="-122"/>
              </a:rPr>
              <a:t>教材概况</a:t>
            </a:r>
            <a:endParaRPr lang="en-US" altLang="zh-CN" sz="3200" b="1" dirty="0">
              <a:solidFill>
                <a:srgbClr val="00206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t>2</a:t>
            </a:fld>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1.1.1  </a:t>
            </a:r>
            <a:r>
              <a:rPr lang="zh-CN" altLang="en-US" b="1" dirty="0">
                <a:solidFill>
                  <a:srgbClr val="002060"/>
                </a:solidFill>
              </a:rPr>
              <a:t>海洋光学技术及优势</a:t>
            </a:r>
          </a:p>
        </p:txBody>
      </p:sp>
      <p:sp>
        <p:nvSpPr>
          <p:cNvPr id="2" name="矩形 1"/>
          <p:cNvSpPr/>
          <p:nvPr/>
        </p:nvSpPr>
        <p:spPr>
          <a:xfrm>
            <a:off x="883" y="6465020"/>
            <a:ext cx="2238113"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1.1  </a:t>
            </a:r>
            <a:r>
              <a:rPr lang="zh-CN" altLang="en-US" sz="1600" dirty="0">
                <a:solidFill>
                  <a:srgbClr val="002060"/>
                </a:solidFill>
                <a:latin typeface="微软雅黑" panose="020B0503020204020204" pitchFamily="34" charset="-122"/>
                <a:ea typeface="微软雅黑" panose="020B0503020204020204" pitchFamily="34" charset="-122"/>
              </a:rPr>
              <a:t>海洋光学技术概述</a:t>
            </a:r>
            <a:endParaRPr lang="zh-CN" altLang="en-US" sz="1600" dirty="0">
              <a:solidFill>
                <a:srgbClr val="002060"/>
              </a:solidFill>
            </a:endParaRPr>
          </a:p>
        </p:txBody>
      </p:sp>
      <p:sp>
        <p:nvSpPr>
          <p:cNvPr id="4" name="内容占位符 3"/>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a:t>
            </a:fld>
            <a:endParaRPr kumimoji="1" lang="zh-CN" altLang="en-US"/>
          </a:p>
        </p:txBody>
      </p:sp>
      <p:sp>
        <p:nvSpPr>
          <p:cNvPr id="7" name="文本框 6">
            <a:extLst>
              <a:ext uri="{FF2B5EF4-FFF2-40B4-BE49-F238E27FC236}">
                <a16:creationId xmlns:a16="http://schemas.microsoft.com/office/drawing/2014/main" id="{F75C2158-FFFF-4AE9-A2A9-D09CB52EA9C7}"/>
              </a:ext>
            </a:extLst>
          </p:cNvPr>
          <p:cNvSpPr txBox="1"/>
          <p:nvPr/>
        </p:nvSpPr>
        <p:spPr>
          <a:xfrm>
            <a:off x="216535" y="1112259"/>
            <a:ext cx="2601595"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海洋光学技术优势</a:t>
            </a:r>
          </a:p>
        </p:txBody>
      </p:sp>
      <p:sp>
        <p:nvSpPr>
          <p:cNvPr id="9" name="文本框 8">
            <a:extLst>
              <a:ext uri="{FF2B5EF4-FFF2-40B4-BE49-F238E27FC236}">
                <a16:creationId xmlns:a16="http://schemas.microsoft.com/office/drawing/2014/main" id="{5CE92B61-D905-453B-923E-D1E5C37D02DB}"/>
              </a:ext>
            </a:extLst>
          </p:cNvPr>
          <p:cNvSpPr txBox="1"/>
          <p:nvPr/>
        </p:nvSpPr>
        <p:spPr>
          <a:xfrm>
            <a:off x="413633" y="1405284"/>
            <a:ext cx="11366500" cy="5059735"/>
          </a:xfrm>
          <a:prstGeom prst="rect">
            <a:avLst/>
          </a:prstGeom>
          <a:noFill/>
        </p:spPr>
        <p:txBody>
          <a:bodyPr wrap="square" rtlCol="0" anchor="t">
            <a:noAutofit/>
          </a:bodyPr>
          <a:lstStyle/>
          <a:p>
            <a:pPr algn="just">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zh-CN" b="1" dirty="0">
                <a:solidFill>
                  <a:srgbClr val="FF0000"/>
                </a:solidFill>
                <a:latin typeface="微软雅黑" panose="020B0503020204020204" pitchFamily="34" charset="-122"/>
                <a:ea typeface="微软雅黑" panose="020B0503020204020204" pitchFamily="34" charset="-122"/>
              </a:rPr>
              <a:t>可用于海洋感知、成像和通信</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海洋感知：可检测多种海洋要素，</a:t>
            </a:r>
            <a:r>
              <a:rPr lang="zh-CN" altLang="zh-CN" dirty="0">
                <a:latin typeface="微软雅黑" panose="020B0503020204020204" pitchFamily="34" charset="-122"/>
                <a:ea typeface="微软雅黑" panose="020B0503020204020204" pitchFamily="34" charset="-122"/>
              </a:rPr>
              <a:t>叶绿素</a:t>
            </a:r>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浓度、藻门类等</a:t>
            </a:r>
            <a:r>
              <a:rPr lang="zh-CN" altLang="zh-CN" b="1" dirty="0">
                <a:solidFill>
                  <a:schemeClr val="accent1"/>
                </a:solidFill>
                <a:latin typeface="微软雅黑" panose="020B0503020204020204" pitchFamily="34" charset="-122"/>
                <a:ea typeface="微软雅黑" panose="020B0503020204020204" pitchFamily="34" charset="-122"/>
              </a:rPr>
              <a:t>生物参量</a:t>
            </a:r>
            <a:r>
              <a:rPr lang="zh-CN" altLang="zh-CN" dirty="0">
                <a:latin typeface="微软雅黑" panose="020B0503020204020204" pitchFamily="34" charset="-122"/>
                <a:ea typeface="微软雅黑" panose="020B0503020204020204" pitchFamily="34" charset="-122"/>
              </a:rPr>
              <a:t>；溶解氧、有色有机物（</a:t>
            </a:r>
            <a:r>
              <a:rPr lang="en-US" altLang="zh-CN" dirty="0">
                <a:latin typeface="微软雅黑" panose="020B0503020204020204" pitchFamily="34" charset="-122"/>
                <a:ea typeface="微软雅黑" panose="020B0503020204020204" pitchFamily="34" charset="-122"/>
              </a:rPr>
              <a:t>CDOM</a:t>
            </a:r>
            <a:r>
              <a:rPr lang="zh-CN" altLang="zh-CN" dirty="0">
                <a:latin typeface="微软雅黑" panose="020B0503020204020204" pitchFamily="34" charset="-122"/>
                <a:ea typeface="微软雅黑" panose="020B0503020204020204" pitchFamily="34" charset="-122"/>
              </a:rPr>
              <a:t>）等</a:t>
            </a:r>
            <a:r>
              <a:rPr lang="zh-CN" altLang="zh-CN" b="1" dirty="0">
                <a:solidFill>
                  <a:schemeClr val="accent1"/>
                </a:solidFill>
                <a:latin typeface="微软雅黑" panose="020B0503020204020204" pitchFamily="34" charset="-122"/>
                <a:ea typeface="微软雅黑" panose="020B0503020204020204" pitchFamily="34" charset="-122"/>
              </a:rPr>
              <a:t>化学参量</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浊度、水色和透明度等</a:t>
            </a:r>
            <a:r>
              <a:rPr lang="zh-CN" altLang="zh-CN" b="1" dirty="0">
                <a:solidFill>
                  <a:schemeClr val="accent1"/>
                </a:solidFill>
                <a:latin typeface="微软雅黑" panose="020B0503020204020204" pitchFamily="34" charset="-122"/>
                <a:ea typeface="微软雅黑" panose="020B0503020204020204" pitchFamily="34" charset="-122"/>
              </a:rPr>
              <a:t>物理参量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sym typeface="+mn-ea"/>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水下成像：</a:t>
            </a:r>
            <a:r>
              <a:rPr lang="zh-CN" altLang="zh-CN" dirty="0">
                <a:latin typeface="微软雅黑" panose="020B0503020204020204" pitchFamily="34" charset="-122"/>
                <a:ea typeface="微软雅黑" panose="020B0503020204020204" pitchFamily="34" charset="-122"/>
              </a:rPr>
              <a:t>相较于传统声学成像，光学成像具</a:t>
            </a:r>
            <a:r>
              <a:rPr lang="zh-CN" altLang="zh-CN" b="1" dirty="0">
                <a:solidFill>
                  <a:schemeClr val="accent1"/>
                </a:solidFill>
                <a:latin typeface="微软雅黑" panose="020B0503020204020204" pitchFamily="34" charset="-122"/>
                <a:ea typeface="微软雅黑" panose="020B0503020204020204" pitchFamily="34" charset="-122"/>
              </a:rPr>
              <a:t>更高的分辨率和精度</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且</a:t>
            </a:r>
            <a:r>
              <a:rPr lang="zh-CN" altLang="zh-CN" dirty="0">
                <a:latin typeface="微软雅黑" panose="020B0503020204020204" pitchFamily="34" charset="-122"/>
                <a:ea typeface="微软雅黑" panose="020B0503020204020204" pitchFamily="34" charset="-122"/>
              </a:rPr>
              <a:t>成像结果更符合人眼观察规律</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sym typeface="+mn-ea"/>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水下通信：</a:t>
            </a:r>
            <a:r>
              <a:rPr lang="zh-CN" altLang="zh-CN" dirty="0">
                <a:latin typeface="微软雅黑" panose="020B0503020204020204" pitchFamily="34" charset="-122"/>
                <a:ea typeface="微软雅黑" panose="020B0503020204020204" pitchFamily="34" charset="-122"/>
              </a:rPr>
              <a:t>光学通信技术可实现</a:t>
            </a:r>
            <a:r>
              <a:rPr lang="zh-CN" altLang="zh-CN" b="1" dirty="0">
                <a:solidFill>
                  <a:schemeClr val="accent1"/>
                </a:solidFill>
                <a:latin typeface="微软雅黑" panose="020B0503020204020204" pitchFamily="34" charset="-122"/>
                <a:ea typeface="微软雅黑" panose="020B0503020204020204" pitchFamily="34" charset="-122"/>
              </a:rPr>
              <a:t>高速率、低时延</a:t>
            </a:r>
            <a:r>
              <a:rPr lang="zh-CN" altLang="zh-CN" dirty="0">
                <a:latin typeface="微软雅黑" panose="020B0503020204020204" pitchFamily="34" charset="-122"/>
                <a:ea typeface="微软雅黑" panose="020B0503020204020204" pitchFamily="34" charset="-122"/>
              </a:rPr>
              <a:t>的数据传输，满足水下一定范围内的高速通信需求并实现组网。</a:t>
            </a:r>
            <a:endParaRPr lang="zh-CN" altLang="en-US" dirty="0">
              <a:latin typeface="微软雅黑" panose="020B0503020204020204" pitchFamily="34" charset="-122"/>
              <a:ea typeface="微软雅黑" panose="020B0503020204020204" pitchFamily="34" charset="-122"/>
              <a:sym typeface="+mn-ea"/>
            </a:endParaRPr>
          </a:p>
          <a:p>
            <a:pPr indent="0" algn="just"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）卓越性能优势</a:t>
            </a:r>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光学技术具有</a:t>
            </a:r>
            <a:r>
              <a:rPr lang="zh-CN" altLang="zh-CN" b="1" dirty="0">
                <a:solidFill>
                  <a:schemeClr val="accent1"/>
                </a:solidFill>
                <a:latin typeface="微软雅黑" panose="020B0503020204020204" pitchFamily="34" charset="-122"/>
                <a:ea typeface="微软雅黑" panose="020B0503020204020204" pitchFamily="34" charset="-122"/>
              </a:rPr>
              <a:t>高精度、高灵敏、低功耗、高可靠和抗干扰能力强</a:t>
            </a:r>
            <a:r>
              <a:rPr lang="zh-CN" altLang="zh-CN" dirty="0">
                <a:latin typeface="微软雅黑" panose="020B0503020204020204" pitchFamily="34" charset="-122"/>
                <a:ea typeface="微软雅黑" panose="020B0503020204020204" pitchFamily="34" charset="-122"/>
              </a:rPr>
              <a:t>等优势，具有在水下连续工作的潜能，适用于供能和载荷能力有限的水下移动平台和深海潜器。</a:t>
            </a:r>
            <a:endParaRPr lang="zh-CN" altLang="en-US"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随着光电技术的飞速发展，现代光学系统正朝着</a:t>
            </a:r>
            <a:r>
              <a:rPr lang="zh-CN" altLang="zh-CN" b="1" dirty="0">
                <a:solidFill>
                  <a:schemeClr val="accent1"/>
                </a:solidFill>
                <a:latin typeface="微软雅黑" panose="020B0503020204020204" pitchFamily="34" charset="-122"/>
                <a:ea typeface="微软雅黑" panose="020B0503020204020204" pitchFamily="34" charset="-122"/>
              </a:rPr>
              <a:t>集成化、低功耗和高能效</a:t>
            </a:r>
            <a:r>
              <a:rPr lang="zh-CN" altLang="zh-CN" dirty="0">
                <a:latin typeface="微软雅黑" panose="020B0503020204020204" pitchFamily="34" charset="-122"/>
                <a:ea typeface="微软雅黑" panose="020B0503020204020204" pitchFamily="34" charset="-122"/>
              </a:rPr>
              <a:t>等目标发展，因此将有更多的光学感知和通信系统应用于空、天、地、海等领域的装备上，从而满足海洋立体观测与通信的需求。</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0213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007235" y="363855"/>
            <a:ext cx="7371715" cy="612140"/>
          </a:xfrm>
        </p:spPr>
        <p:txBody>
          <a:bodyPr>
            <a:normAutofit/>
          </a:bodyPr>
          <a:lstStyle/>
          <a:p>
            <a:pPr algn="ctr"/>
            <a:r>
              <a:rPr lang="en-US" altLang="zh-CN" b="1" dirty="0">
                <a:solidFill>
                  <a:srgbClr val="002060"/>
                </a:solidFill>
              </a:rPr>
              <a:t>1.1.2  </a:t>
            </a:r>
            <a:r>
              <a:rPr lang="zh-CN" altLang="en-US" b="1" dirty="0">
                <a:solidFill>
                  <a:srgbClr val="002060"/>
                </a:solidFill>
              </a:rPr>
              <a:t>海洋光学技术的研究内容</a:t>
            </a:r>
          </a:p>
        </p:txBody>
      </p:sp>
      <p:sp>
        <p:nvSpPr>
          <p:cNvPr id="2" name="矩形 1"/>
          <p:cNvSpPr/>
          <p:nvPr/>
        </p:nvSpPr>
        <p:spPr>
          <a:xfrm>
            <a:off x="883" y="6465020"/>
            <a:ext cx="2238113"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1.1  </a:t>
            </a:r>
            <a:r>
              <a:rPr lang="zh-CN" altLang="en-US" sz="1600" dirty="0">
                <a:solidFill>
                  <a:srgbClr val="002060"/>
                </a:solidFill>
                <a:latin typeface="微软雅黑" panose="020B0503020204020204" pitchFamily="34" charset="-122"/>
                <a:ea typeface="微软雅黑" panose="020B0503020204020204" pitchFamily="34" charset="-122"/>
              </a:rPr>
              <a:t>海洋光学技术概述</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a:t>
            </a:fld>
            <a:endParaRPr kumimoji="1" lang="zh-CN" altLang="en-US"/>
          </a:p>
        </p:txBody>
      </p:sp>
      <p:sp>
        <p:nvSpPr>
          <p:cNvPr id="7" name="内容占位符 3">
            <a:extLst>
              <a:ext uri="{FF2B5EF4-FFF2-40B4-BE49-F238E27FC236}">
                <a16:creationId xmlns:a16="http://schemas.microsoft.com/office/drawing/2014/main" id="{EBE5AD90-B71D-4B7A-87FE-2E8B156B8374}"/>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8" name="文本框 7">
            <a:extLst>
              <a:ext uri="{FF2B5EF4-FFF2-40B4-BE49-F238E27FC236}">
                <a16:creationId xmlns:a16="http://schemas.microsoft.com/office/drawing/2014/main" id="{41F6C705-3A2D-4741-87D6-1EED54B51031}"/>
              </a:ext>
            </a:extLst>
          </p:cNvPr>
          <p:cNvSpPr txBox="1"/>
          <p:nvPr/>
        </p:nvSpPr>
        <p:spPr>
          <a:xfrm>
            <a:off x="216535" y="1112259"/>
            <a:ext cx="2601595"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研究内容</a:t>
            </a:r>
          </a:p>
        </p:txBody>
      </p:sp>
      <p:sp>
        <p:nvSpPr>
          <p:cNvPr id="9" name="文本框 8">
            <a:extLst>
              <a:ext uri="{FF2B5EF4-FFF2-40B4-BE49-F238E27FC236}">
                <a16:creationId xmlns:a16="http://schemas.microsoft.com/office/drawing/2014/main" id="{7B0E7AA3-3487-4019-A0E7-AE82FA2D23D5}"/>
              </a:ext>
            </a:extLst>
          </p:cNvPr>
          <p:cNvSpPr txBox="1"/>
          <p:nvPr/>
        </p:nvSpPr>
        <p:spPr>
          <a:xfrm>
            <a:off x="413633" y="1405284"/>
            <a:ext cx="11366500" cy="5059735"/>
          </a:xfrm>
          <a:prstGeom prst="rect">
            <a:avLst/>
          </a:prstGeom>
          <a:noFill/>
        </p:spPr>
        <p:txBody>
          <a:bodyPr wrap="square" rtlCol="0" anchor="t">
            <a:noAutofit/>
          </a:bodyPr>
          <a:lstStyle/>
          <a:p>
            <a:pPr algn="just">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（1）科学理论研究</a:t>
            </a:r>
            <a:endParaRPr lang="zh-CN" altLang="en-US" b="1" dirty="0">
              <a:solidFill>
                <a:srgbClr val="FF0000"/>
              </a:solidFill>
              <a:latin typeface="微软雅黑" panose="020B0503020204020204" pitchFamily="34" charset="-122"/>
              <a:ea typeface="微软雅黑" panose="020B0503020204020204" pitchFamily="34" charset="-122"/>
            </a:endParaRPr>
          </a:p>
          <a:p>
            <a:pPr lvl="1" algn="just">
              <a:lnSpc>
                <a:spcPct val="150000"/>
              </a:lnSpc>
            </a:pPr>
            <a:r>
              <a:rPr lang="zh-CN" altLang="en-US" dirty="0">
                <a:latin typeface="微软雅黑" panose="020B0503020204020204" pitchFamily="34" charset="-122"/>
                <a:ea typeface="微软雅黑" panose="020B0503020204020204" pitchFamily="34" charset="-122"/>
                <a:sym typeface="+mn-ea"/>
              </a:rPr>
              <a:t>主要研究</a:t>
            </a:r>
            <a:r>
              <a:rPr lang="zh-CN" altLang="zh-CN" dirty="0">
                <a:latin typeface="微软雅黑" panose="020B0503020204020204" pitchFamily="34" charset="-122"/>
                <a:ea typeface="微软雅黑" panose="020B0503020204020204" pitchFamily="34" charset="-122"/>
              </a:rPr>
              <a:t>复杂海洋环境中光的粒子特性和光波的辐射特性</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sym typeface="+mn-ea"/>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光的粒子特性研究：</a:t>
            </a:r>
            <a:r>
              <a:rPr lang="zh-CN" altLang="en-US" dirty="0">
                <a:latin typeface="微软雅黑" panose="020B0503020204020204" pitchFamily="34" charset="-122"/>
                <a:ea typeface="微软雅黑" panose="020B0503020204020204" pitchFamily="34" charset="-122"/>
              </a:rPr>
              <a:t>光与水中物质相互作用的</a:t>
            </a:r>
            <a:r>
              <a:rPr lang="zh-CN" altLang="en-US" b="1" dirty="0">
                <a:solidFill>
                  <a:schemeClr val="accent1"/>
                </a:solidFill>
                <a:latin typeface="微软雅黑" panose="020B0503020204020204" pitchFamily="34" charset="-122"/>
                <a:ea typeface="微软雅黑" panose="020B0503020204020204" pitchFamily="34" charset="-122"/>
              </a:rPr>
              <a:t>吸收、散射和衰减效应</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光波的辐射特性研究：不同环境下光在传播过程中</a:t>
            </a:r>
            <a:r>
              <a:rPr lang="zh-CN" altLang="en-US" b="1" dirty="0">
                <a:solidFill>
                  <a:schemeClr val="accent1"/>
                </a:solidFill>
                <a:latin typeface="微软雅黑" panose="020B0503020204020204" pitchFamily="34" charset="-122"/>
                <a:ea typeface="微软雅黑" panose="020B0503020204020204" pitchFamily="34" charset="-122"/>
              </a:rPr>
              <a:t>能量、频谱、相位和偏振等特性的变化规律</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sym typeface="+mn-ea"/>
            </a:endParaRPr>
          </a:p>
          <a:p>
            <a:pPr indent="0" algn="just"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）应用技术研究</a:t>
            </a:r>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海洋光学传感技术：利用</a:t>
            </a:r>
            <a:r>
              <a:rPr lang="zh-CN" altLang="zh-CN" b="1" dirty="0">
                <a:solidFill>
                  <a:schemeClr val="accent1"/>
                </a:solidFill>
                <a:latin typeface="微软雅黑" panose="020B0503020204020204" pitchFamily="34" charset="-122"/>
                <a:ea typeface="微软雅黑" panose="020B0503020204020204" pitchFamily="34" charset="-122"/>
              </a:rPr>
              <a:t>光学与物质相互作用</a:t>
            </a:r>
            <a:r>
              <a:rPr lang="zh-CN" altLang="zh-CN" dirty="0">
                <a:latin typeface="微软雅黑" panose="020B0503020204020204" pitchFamily="34" charset="-122"/>
                <a:ea typeface="微软雅黑" panose="020B0503020204020204" pitchFamily="34" charset="-122"/>
              </a:rPr>
              <a:t>的多种原理，感知海洋要素的检测技术</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海洋光谱技术：</a:t>
            </a:r>
            <a:r>
              <a:rPr lang="zh-CN" altLang="zh-CN" dirty="0">
                <a:latin typeface="微软雅黑" panose="020B0503020204020204" pitchFamily="34" charset="-122"/>
                <a:ea typeface="微软雅黑" panose="020B0503020204020204" pitchFamily="34" charset="-122"/>
              </a:rPr>
              <a:t>利用</a:t>
            </a:r>
            <a:r>
              <a:rPr lang="zh-CN" altLang="zh-CN" b="1" dirty="0">
                <a:solidFill>
                  <a:schemeClr val="accent1"/>
                </a:solidFill>
                <a:latin typeface="微软雅黑" panose="020B0503020204020204" pitchFamily="34" charset="-122"/>
                <a:ea typeface="微软雅黑" panose="020B0503020204020204" pitchFamily="34" charset="-122"/>
              </a:rPr>
              <a:t>光谱学原理</a:t>
            </a:r>
            <a:r>
              <a:rPr lang="zh-CN" altLang="zh-CN" dirty="0">
                <a:latin typeface="微软雅黑" panose="020B0503020204020204" pitchFamily="34" charset="-122"/>
                <a:ea typeface="微软雅黑" panose="020B0503020204020204" pitchFamily="34" charset="-122"/>
              </a:rPr>
              <a:t>研究和检测海水特性、海洋环境指标以及海洋化学和海洋生物有关参量的技术</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海洋光学成像技术：</a:t>
            </a:r>
            <a:r>
              <a:rPr lang="zh-CN" altLang="zh-CN" dirty="0">
                <a:latin typeface="微软雅黑" panose="020B0503020204020204" pitchFamily="34" charset="-122"/>
                <a:ea typeface="微软雅黑" panose="020B0503020204020204" pitchFamily="34" charset="-122"/>
              </a:rPr>
              <a:t>利用光学系统对水下目标物和海底的</a:t>
            </a:r>
            <a:r>
              <a:rPr lang="zh-CN" altLang="zh-CN" b="1" dirty="0">
                <a:solidFill>
                  <a:schemeClr val="accent1"/>
                </a:solidFill>
                <a:latin typeface="微软雅黑" panose="020B0503020204020204" pitchFamily="34" charset="-122"/>
                <a:ea typeface="微软雅黑" panose="020B0503020204020204" pitchFamily="34" charset="-122"/>
              </a:rPr>
              <a:t>反射光</a:t>
            </a:r>
            <a:r>
              <a:rPr lang="zh-CN" altLang="en-US" b="1" dirty="0">
                <a:solidFill>
                  <a:schemeClr val="accent1"/>
                </a:solidFill>
                <a:latin typeface="微软雅黑" panose="020B0503020204020204" pitchFamily="34" charset="-122"/>
                <a:ea typeface="微软雅黑" panose="020B0503020204020204" pitchFamily="34" charset="-122"/>
              </a:rPr>
              <a:t>、</a:t>
            </a:r>
            <a:r>
              <a:rPr lang="zh-CN" altLang="zh-CN" b="1" dirty="0">
                <a:solidFill>
                  <a:schemeClr val="accent1"/>
                </a:solidFill>
                <a:latin typeface="微软雅黑" panose="020B0503020204020204" pitchFamily="34" charset="-122"/>
                <a:ea typeface="微软雅黑" panose="020B0503020204020204" pitchFamily="34" charset="-122"/>
              </a:rPr>
              <a:t>透射光进行成像</a:t>
            </a:r>
            <a:r>
              <a:rPr lang="zh-CN" altLang="zh-CN" dirty="0">
                <a:latin typeface="微软雅黑" panose="020B0503020204020204" pitchFamily="34" charset="-122"/>
                <a:ea typeface="微软雅黑" panose="020B0503020204020204" pitchFamily="34" charset="-122"/>
              </a:rPr>
              <a:t>，从而获取海洋生物、水下目标物和海底地形地貌等影像信息的技术</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海洋激光雷达技术：</a:t>
            </a:r>
            <a:r>
              <a:rPr lang="zh-CN" altLang="zh-CN" dirty="0">
                <a:latin typeface="微软雅黑" panose="020B0503020204020204" pitchFamily="34" charset="-122"/>
                <a:ea typeface="微软雅黑" panose="020B0503020204020204" pitchFamily="34" charset="-122"/>
              </a:rPr>
              <a:t>利用</a:t>
            </a:r>
            <a:r>
              <a:rPr lang="zh-CN" altLang="zh-CN" b="1" dirty="0">
                <a:solidFill>
                  <a:schemeClr val="accent1"/>
                </a:solidFill>
                <a:latin typeface="微软雅黑" panose="020B0503020204020204" pitchFamily="34" charset="-122"/>
                <a:ea typeface="微软雅黑" panose="020B0503020204020204" pitchFamily="34" charset="-122"/>
              </a:rPr>
              <a:t>激光雷达</a:t>
            </a:r>
            <a:r>
              <a:rPr lang="zh-CN" altLang="zh-CN" dirty="0">
                <a:latin typeface="微软雅黑" panose="020B0503020204020204" pitchFamily="34" charset="-122"/>
                <a:ea typeface="微软雅黑" panose="020B0503020204020204" pitchFamily="34" charset="-122"/>
              </a:rPr>
              <a:t>获取海面或水下区域时间序列数据的观测技术</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海洋光通信技术：利用</a:t>
            </a:r>
            <a:r>
              <a:rPr lang="zh-CN" altLang="zh-CN" dirty="0">
                <a:latin typeface="微软雅黑" panose="020B0503020204020204" pitchFamily="34" charset="-122"/>
                <a:ea typeface="微软雅黑" panose="020B0503020204020204" pitchFamily="34" charset="-122"/>
              </a:rPr>
              <a:t>可见光在</a:t>
            </a:r>
            <a:r>
              <a:rPr lang="zh-CN" altLang="zh-CN" b="1" dirty="0">
                <a:solidFill>
                  <a:schemeClr val="accent1"/>
                </a:solidFill>
                <a:latin typeface="微软雅黑" panose="020B0503020204020204" pitchFamily="34" charset="-122"/>
                <a:ea typeface="微软雅黑" panose="020B0503020204020204" pitchFamily="34" charset="-122"/>
              </a:rPr>
              <a:t>水下一定范围内传输</a:t>
            </a:r>
            <a:r>
              <a:rPr lang="zh-CN" altLang="zh-CN" dirty="0">
                <a:latin typeface="微软雅黑" panose="020B0503020204020204" pitchFamily="34" charset="-122"/>
                <a:ea typeface="微软雅黑" panose="020B0503020204020204" pitchFamily="34" charset="-122"/>
              </a:rPr>
              <a:t>的特性，实现水下无线光通信</a:t>
            </a:r>
            <a:r>
              <a:rPr lang="zh-CN" altLang="en-US" dirty="0">
                <a:latin typeface="微软雅黑" panose="020B0503020204020204" pitchFamily="34" charset="-122"/>
                <a:ea typeface="微软雅黑" panose="020B0503020204020204" pitchFamily="34" charset="-122"/>
              </a:rPr>
              <a:t>的技术。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82610" y="278793"/>
            <a:ext cx="10399395" cy="645160"/>
          </a:xfrm>
          <a:prstGeom prst="rect">
            <a:avLst/>
          </a:prstGeom>
          <a:noFill/>
        </p:spPr>
        <p:txBody>
          <a:bodyPr wrap="square" rtlCol="0">
            <a:spAutoFit/>
          </a:bodyPr>
          <a:lstStyle/>
          <a:p>
            <a:pPr algn="ctr" fontAlgn="auto">
              <a:lnSpc>
                <a:spcPct val="100000"/>
              </a:lnSpc>
            </a:pPr>
            <a:r>
              <a:rPr kumimoji="1" lang="zh-CN" altLang="en-US" sz="3600" b="1" dirty="0">
                <a:latin typeface="微软雅黑" panose="020B0503020204020204" pitchFamily="34" charset="-122"/>
                <a:ea typeface="微软雅黑" panose="020B0503020204020204" pitchFamily="34" charset="-122"/>
              </a:rPr>
              <a:t>教学单元</a:t>
            </a:r>
            <a:endParaRPr kumimoji="1" lang="en-US" altLang="zh-CN" sz="36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004807" y="1979789"/>
            <a:ext cx="6508376" cy="2898422"/>
          </a:xfrm>
          <a:prstGeom prst="rect">
            <a:avLst/>
          </a:prstGeom>
          <a:noFill/>
        </p:spPr>
        <p:txBody>
          <a:bodyPr wrap="square" rtlCol="0">
            <a:spAutoFit/>
          </a:bodyPr>
          <a:lstStyle/>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1.1  </a:t>
            </a:r>
            <a:r>
              <a:rPr lang="zh-CN" altLang="en-US" sz="3200" b="1" dirty="0">
                <a:solidFill>
                  <a:srgbClr val="002060"/>
                </a:solidFill>
                <a:latin typeface="微软雅黑" panose="020B0503020204020204" pitchFamily="34" charset="-122"/>
                <a:ea typeface="微软雅黑" panose="020B0503020204020204" pitchFamily="34" charset="-122"/>
              </a:rPr>
              <a:t>海洋光学技术概述</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C00000"/>
                </a:solidFill>
                <a:latin typeface="微软雅黑" panose="020B0503020204020204" pitchFamily="34" charset="-122"/>
                <a:ea typeface="微软雅黑" panose="020B0503020204020204" pitchFamily="34" charset="-122"/>
              </a:rPr>
              <a:t>1.2  </a:t>
            </a:r>
            <a:r>
              <a:rPr lang="zh-CN" altLang="en-US" sz="3200" b="1" dirty="0">
                <a:solidFill>
                  <a:srgbClr val="C00000"/>
                </a:solidFill>
                <a:latin typeface="微软雅黑" panose="020B0503020204020204" pitchFamily="34" charset="-122"/>
                <a:ea typeface="微软雅黑" panose="020B0503020204020204" pitchFamily="34" charset="-122"/>
              </a:rPr>
              <a:t>海洋光学技术的发展与挑战</a:t>
            </a:r>
            <a:endParaRPr lang="en-US" altLang="zh-CN" sz="3200" b="1" dirty="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1.3  </a:t>
            </a:r>
            <a:r>
              <a:rPr lang="zh-CN" altLang="en-US" sz="3200" b="1" dirty="0">
                <a:solidFill>
                  <a:srgbClr val="002060"/>
                </a:solidFill>
                <a:latin typeface="微软雅黑" panose="020B0503020204020204" pitchFamily="34" charset="-122"/>
                <a:ea typeface="微软雅黑" panose="020B0503020204020204" pitchFamily="34" charset="-122"/>
              </a:rPr>
              <a:t>教材概况</a:t>
            </a:r>
            <a:endParaRPr lang="en-US" altLang="zh-CN" sz="3200" b="1" dirty="0">
              <a:solidFill>
                <a:srgbClr val="00206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t>5</a:t>
            </a:fld>
            <a:endParaRPr kumimoji="1" lang="zh-CN" altLang="en-US"/>
          </a:p>
        </p:txBody>
      </p:sp>
    </p:spTree>
    <p:extLst>
      <p:ext uri="{BB962C8B-B14F-4D97-AF65-F5344CB8AC3E}">
        <p14:creationId xmlns:p14="http://schemas.microsoft.com/office/powerpoint/2010/main" val="826709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1.2.1  </a:t>
            </a:r>
            <a:r>
              <a:rPr lang="zh-CN" altLang="en-US" b="1" dirty="0">
                <a:solidFill>
                  <a:srgbClr val="002060"/>
                </a:solidFill>
              </a:rPr>
              <a:t>海洋光学技术的发展历程</a:t>
            </a:r>
          </a:p>
        </p:txBody>
      </p:sp>
      <p:sp>
        <p:nvSpPr>
          <p:cNvPr id="4" name="矩形 3"/>
          <p:cNvSpPr/>
          <p:nvPr/>
        </p:nvSpPr>
        <p:spPr>
          <a:xfrm>
            <a:off x="883" y="6465020"/>
            <a:ext cx="3058851"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1.2  </a:t>
            </a:r>
            <a:r>
              <a:rPr lang="zh-CN" altLang="en-US" sz="1600" dirty="0">
                <a:solidFill>
                  <a:srgbClr val="002060"/>
                </a:solidFill>
                <a:latin typeface="微软雅黑" panose="020B0503020204020204" pitchFamily="34" charset="-122"/>
                <a:ea typeface="微软雅黑" panose="020B0503020204020204" pitchFamily="34" charset="-122"/>
              </a:rPr>
              <a:t>海洋光学技术的发展与挑战</a:t>
            </a:r>
            <a:endParaRPr lang="zh-CN" altLang="en-US" sz="1600"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6</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10" name="文本框 9">
            <a:extLst>
              <a:ext uri="{FF2B5EF4-FFF2-40B4-BE49-F238E27FC236}">
                <a16:creationId xmlns:a16="http://schemas.microsoft.com/office/drawing/2014/main" id="{34CC455C-34B2-431C-A54C-51A5CE8E4841}"/>
              </a:ext>
            </a:extLst>
          </p:cNvPr>
          <p:cNvSpPr txBox="1"/>
          <p:nvPr/>
        </p:nvSpPr>
        <p:spPr>
          <a:xfrm>
            <a:off x="700617" y="1554815"/>
            <a:ext cx="11366500" cy="1466861"/>
          </a:xfrm>
          <a:prstGeom prst="rect">
            <a:avLst/>
          </a:prstGeom>
          <a:noFill/>
        </p:spPr>
        <p:txBody>
          <a:bodyPr wrap="square" rtlCol="0" anchor="t">
            <a:noAutofit/>
          </a:bodyPr>
          <a:lstStyle/>
          <a:p>
            <a:pPr marL="285750"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光的应用在人类发展史上具有里程碑的意义，是人类驱散黑暗与告别茹毛饮血时代的标志</a:t>
            </a:r>
            <a:r>
              <a:rPr lang="zh-CN" altLang="en-US" dirty="0">
                <a:latin typeface="微软雅黑" panose="020B0503020204020204" pitchFamily="34" charset="-122"/>
                <a:ea typeface="微软雅黑" panose="020B0503020204020204" pitchFamily="34" charset="-122"/>
              </a:rPr>
              <a:t>之一</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在古代航海技术中，就已经开始使用光学进行导航</a:t>
            </a:r>
            <a:r>
              <a:rPr lang="zh-CN" altLang="en-US" dirty="0">
                <a:latin typeface="微软雅黑" panose="020B0503020204020204" pitchFamily="34" charset="-122"/>
                <a:ea typeface="微软雅黑" panose="020B0503020204020204" pitchFamily="34" charset="-122"/>
              </a:rPr>
              <a:t>。</a:t>
            </a:r>
          </a:p>
        </p:txBody>
      </p:sp>
      <p:grpSp>
        <p:nvGrpSpPr>
          <p:cNvPr id="36" name="组合 35">
            <a:extLst>
              <a:ext uri="{FF2B5EF4-FFF2-40B4-BE49-F238E27FC236}">
                <a16:creationId xmlns:a16="http://schemas.microsoft.com/office/drawing/2014/main" id="{8E728D1B-79D8-4CB9-B7E5-53101FF9345B}"/>
              </a:ext>
            </a:extLst>
          </p:cNvPr>
          <p:cNvGrpSpPr/>
          <p:nvPr/>
        </p:nvGrpSpPr>
        <p:grpSpPr>
          <a:xfrm>
            <a:off x="882680" y="3101489"/>
            <a:ext cx="10302676" cy="1994881"/>
            <a:chOff x="412750" y="2930109"/>
            <a:chExt cx="10302676" cy="1994881"/>
          </a:xfrm>
        </p:grpSpPr>
        <p:grpSp>
          <p:nvGrpSpPr>
            <p:cNvPr id="5" name="组合 4">
              <a:extLst>
                <a:ext uri="{FF2B5EF4-FFF2-40B4-BE49-F238E27FC236}">
                  <a16:creationId xmlns:a16="http://schemas.microsoft.com/office/drawing/2014/main" id="{2429DBA1-6C09-4B15-A432-0FA05C2BE35B}"/>
                </a:ext>
              </a:extLst>
            </p:cNvPr>
            <p:cNvGrpSpPr/>
            <p:nvPr/>
          </p:nvGrpSpPr>
          <p:grpSpPr>
            <a:xfrm>
              <a:off x="412750" y="2930109"/>
              <a:ext cx="10302676" cy="1994881"/>
              <a:chOff x="1334737" y="2805279"/>
              <a:chExt cx="10302676" cy="1994881"/>
            </a:xfrm>
          </p:grpSpPr>
          <p:sp>
            <p:nvSpPr>
              <p:cNvPr id="33" name="Title-1">
                <a:extLst>
                  <a:ext uri="{FF2B5EF4-FFF2-40B4-BE49-F238E27FC236}">
                    <a16:creationId xmlns:a16="http://schemas.microsoft.com/office/drawing/2014/main" id="{38D1EE06-98ED-4F17-9694-9FAD3B27B635}"/>
                  </a:ext>
                </a:extLst>
              </p:cNvPr>
              <p:cNvSpPr/>
              <p:nvPr>
                <p:custDataLst>
                  <p:tags r:id="rId2"/>
                </p:custDataLst>
              </p:nvPr>
            </p:nvSpPr>
            <p:spPr>
              <a:xfrm>
                <a:off x="6271016" y="3307868"/>
                <a:ext cx="2743597" cy="149229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b="1" dirty="0">
                    <a:latin typeface="微软雅黑" panose="020B0503020204020204" pitchFamily="34" charset="-122"/>
                    <a:ea typeface="微软雅黑" panose="020B0503020204020204" pitchFamily="34" charset="-122"/>
                  </a:rPr>
                  <a:t>海洋光学遥感测量阶段</a:t>
                </a:r>
              </a:p>
            </p:txBody>
          </p:sp>
          <p:sp>
            <p:nvSpPr>
              <p:cNvPr id="31" name="Title-1">
                <a:extLst>
                  <a:ext uri="{FF2B5EF4-FFF2-40B4-BE49-F238E27FC236}">
                    <a16:creationId xmlns:a16="http://schemas.microsoft.com/office/drawing/2014/main" id="{93152EFD-AB7F-4ACF-8F5D-5C6CE1A1AA34}"/>
                  </a:ext>
                </a:extLst>
              </p:cNvPr>
              <p:cNvSpPr/>
              <p:nvPr>
                <p:custDataLst>
                  <p:tags r:id="rId3"/>
                </p:custDataLst>
              </p:nvPr>
            </p:nvSpPr>
            <p:spPr>
              <a:xfrm>
                <a:off x="1334737" y="3307123"/>
                <a:ext cx="1886205" cy="149229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b="1" dirty="0">
                    <a:latin typeface="微软雅黑" panose="020B0503020204020204" pitchFamily="34" charset="-122"/>
                    <a:ea typeface="微软雅黑" panose="020B0503020204020204" pitchFamily="34" charset="-122"/>
                  </a:rPr>
                  <a:t>定性认知阶段</a:t>
                </a:r>
              </a:p>
            </p:txBody>
          </p:sp>
          <p:grpSp>
            <p:nvGrpSpPr>
              <p:cNvPr id="8" name="组合 7">
                <a:extLst>
                  <a:ext uri="{FF2B5EF4-FFF2-40B4-BE49-F238E27FC236}">
                    <a16:creationId xmlns:a16="http://schemas.microsoft.com/office/drawing/2014/main" id="{18121BD9-14B5-429D-9D94-5E9C8E70CD45}"/>
                  </a:ext>
                </a:extLst>
              </p:cNvPr>
              <p:cNvGrpSpPr>
                <a:grpSpLocks noChangeAspect="1"/>
              </p:cNvGrpSpPr>
              <p:nvPr>
                <p:custDataLst>
                  <p:tags r:id="rId4"/>
                </p:custDataLst>
              </p:nvPr>
            </p:nvGrpSpPr>
            <p:grpSpPr>
              <a:xfrm>
                <a:off x="1334737" y="2805279"/>
                <a:ext cx="10302676" cy="517918"/>
                <a:chOff x="810100" y="3103007"/>
                <a:chExt cx="7646283" cy="358829"/>
              </a:xfrm>
            </p:grpSpPr>
            <p:sp>
              <p:nvSpPr>
                <p:cNvPr id="27" name="Title-1">
                  <a:extLst>
                    <a:ext uri="{FF2B5EF4-FFF2-40B4-BE49-F238E27FC236}">
                      <a16:creationId xmlns:a16="http://schemas.microsoft.com/office/drawing/2014/main" id="{2B670A92-6007-470F-96BE-7A69D7DC2B07}"/>
                    </a:ext>
                  </a:extLst>
                </p:cNvPr>
                <p:cNvSpPr/>
                <p:nvPr>
                  <p:custDataLst>
                    <p:tags r:id="rId7"/>
                  </p:custDataLst>
                </p:nvPr>
              </p:nvSpPr>
              <p:spPr>
                <a:xfrm>
                  <a:off x="810100" y="3103007"/>
                  <a:ext cx="1399875" cy="3476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rPr>
                    <a:t>20</a:t>
                  </a:r>
                  <a:r>
                    <a:rPr kumimoji="1" lang="zh-CN" altLang="en-US" b="1" dirty="0">
                      <a:latin typeface="微软雅黑" panose="020B0503020204020204" pitchFamily="34" charset="-122"/>
                      <a:ea typeface="微软雅黑" panose="020B0503020204020204" pitchFamily="34" charset="-122"/>
                    </a:rPr>
                    <a:t>世纪之前</a:t>
                  </a:r>
                </a:p>
              </p:txBody>
            </p:sp>
            <p:grpSp>
              <p:nvGrpSpPr>
                <p:cNvPr id="11" name="组合 10">
                  <a:extLst>
                    <a:ext uri="{FF2B5EF4-FFF2-40B4-BE49-F238E27FC236}">
                      <a16:creationId xmlns:a16="http://schemas.microsoft.com/office/drawing/2014/main" id="{6C605635-481B-40BC-BBF9-E54DF94999ED}"/>
                    </a:ext>
                  </a:extLst>
                </p:cNvPr>
                <p:cNvGrpSpPr/>
                <p:nvPr/>
              </p:nvGrpSpPr>
              <p:grpSpPr>
                <a:xfrm>
                  <a:off x="2358453" y="3103007"/>
                  <a:ext cx="1683296" cy="347691"/>
                  <a:chOff x="2358453" y="3103007"/>
                  <a:chExt cx="1683296" cy="347691"/>
                </a:xfrm>
              </p:grpSpPr>
              <p:sp>
                <p:nvSpPr>
                  <p:cNvPr id="23" name="Title-2">
                    <a:extLst>
                      <a:ext uri="{FF2B5EF4-FFF2-40B4-BE49-F238E27FC236}">
                        <a16:creationId xmlns:a16="http://schemas.microsoft.com/office/drawing/2014/main" id="{CB0FAB08-903B-48E3-A1C0-D1D46D471561}"/>
                      </a:ext>
                    </a:extLst>
                  </p:cNvPr>
                  <p:cNvSpPr/>
                  <p:nvPr>
                    <p:custDataLst>
                      <p:tags r:id="rId11"/>
                    </p:custDataLst>
                  </p:nvPr>
                </p:nvSpPr>
                <p:spPr>
                  <a:xfrm>
                    <a:off x="2641874" y="3103007"/>
                    <a:ext cx="1399875" cy="34769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rPr>
                      <a:t>20</a:t>
                    </a:r>
                    <a:r>
                      <a:rPr kumimoji="1" lang="zh-CN" altLang="en-US" b="1" dirty="0">
                        <a:latin typeface="微软雅黑" panose="020B0503020204020204" pitchFamily="34" charset="-122"/>
                        <a:ea typeface="微软雅黑" panose="020B0503020204020204" pitchFamily="34" charset="-122"/>
                      </a:rPr>
                      <a:t>世纪初中期</a:t>
                    </a:r>
                  </a:p>
                </p:txBody>
              </p:sp>
              <p:sp>
                <p:nvSpPr>
                  <p:cNvPr id="25" name="2">
                    <a:extLst>
                      <a:ext uri="{FF2B5EF4-FFF2-40B4-BE49-F238E27FC236}">
                        <a16:creationId xmlns:a16="http://schemas.microsoft.com/office/drawing/2014/main" id="{3268105B-1000-4C87-8B49-337F1E89D7F0}"/>
                      </a:ext>
                    </a:extLst>
                  </p:cNvPr>
                  <p:cNvSpPr/>
                  <p:nvPr>
                    <p:custDataLst>
                      <p:tags r:id="rId12"/>
                    </p:custDataLst>
                  </p:nvPr>
                </p:nvSpPr>
                <p:spPr>
                  <a:xfrm rot="5400000">
                    <a:off x="2347658" y="3209379"/>
                    <a:ext cx="156540" cy="13494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grpSp>
              <p:nvGrpSpPr>
                <p:cNvPr id="12" name="组合 11">
                  <a:extLst>
                    <a:ext uri="{FF2B5EF4-FFF2-40B4-BE49-F238E27FC236}">
                      <a16:creationId xmlns:a16="http://schemas.microsoft.com/office/drawing/2014/main" id="{6CAF0AC6-03BD-4981-9F88-0AD717AA9DD8}"/>
                    </a:ext>
                  </a:extLst>
                </p:cNvPr>
                <p:cNvGrpSpPr/>
                <p:nvPr/>
              </p:nvGrpSpPr>
              <p:grpSpPr>
                <a:xfrm>
                  <a:off x="4190222" y="3114145"/>
                  <a:ext cx="2319612" cy="347691"/>
                  <a:chOff x="4190222" y="3114145"/>
                  <a:chExt cx="2319612" cy="347691"/>
                </a:xfrm>
              </p:grpSpPr>
              <p:sp>
                <p:nvSpPr>
                  <p:cNvPr id="19" name="Title-3">
                    <a:extLst>
                      <a:ext uri="{FF2B5EF4-FFF2-40B4-BE49-F238E27FC236}">
                        <a16:creationId xmlns:a16="http://schemas.microsoft.com/office/drawing/2014/main" id="{9AF885CE-2276-4D59-89C5-90BA43E34C32}"/>
                      </a:ext>
                    </a:extLst>
                  </p:cNvPr>
                  <p:cNvSpPr/>
                  <p:nvPr>
                    <p:custDataLst>
                      <p:tags r:id="rId9"/>
                    </p:custDataLst>
                  </p:nvPr>
                </p:nvSpPr>
                <p:spPr>
                  <a:xfrm>
                    <a:off x="4473633" y="3114145"/>
                    <a:ext cx="2036201" cy="34769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rPr>
                      <a:t>20</a:t>
                    </a:r>
                    <a:r>
                      <a:rPr kumimoji="1" lang="zh-CN" altLang="en-US" b="1" dirty="0">
                        <a:latin typeface="微软雅黑" panose="020B0503020204020204" pitchFamily="34" charset="-122"/>
                        <a:ea typeface="微软雅黑" panose="020B0503020204020204" pitchFamily="34" charset="-122"/>
                      </a:rPr>
                      <a:t>世纪后期</a:t>
                    </a:r>
                  </a:p>
                </p:txBody>
              </p:sp>
              <p:sp>
                <p:nvSpPr>
                  <p:cNvPr id="21" name="3">
                    <a:extLst>
                      <a:ext uri="{FF2B5EF4-FFF2-40B4-BE49-F238E27FC236}">
                        <a16:creationId xmlns:a16="http://schemas.microsoft.com/office/drawing/2014/main" id="{09F771FB-AEC8-4CF4-9F3B-00DD04BBE447}"/>
                      </a:ext>
                    </a:extLst>
                  </p:cNvPr>
                  <p:cNvSpPr/>
                  <p:nvPr>
                    <p:custDataLst>
                      <p:tags r:id="rId10"/>
                    </p:custDataLst>
                  </p:nvPr>
                </p:nvSpPr>
                <p:spPr>
                  <a:xfrm rot="5400000">
                    <a:off x="4179427" y="3209378"/>
                    <a:ext cx="156540" cy="134949"/>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sp>
              <p:nvSpPr>
                <p:cNvPr id="15" name="Title-4">
                  <a:extLst>
                    <a:ext uri="{FF2B5EF4-FFF2-40B4-BE49-F238E27FC236}">
                      <a16:creationId xmlns:a16="http://schemas.microsoft.com/office/drawing/2014/main" id="{DDC43EA9-126D-4AD4-88AC-46DB6139F38A}"/>
                    </a:ext>
                  </a:extLst>
                </p:cNvPr>
                <p:cNvSpPr/>
                <p:nvPr>
                  <p:custDataLst>
                    <p:tags r:id="rId8"/>
                  </p:custDataLst>
                </p:nvPr>
              </p:nvSpPr>
              <p:spPr>
                <a:xfrm>
                  <a:off x="6938745" y="3110110"/>
                  <a:ext cx="1517638" cy="34769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rPr>
                    <a:t>21</a:t>
                  </a:r>
                  <a:r>
                    <a:rPr kumimoji="1" lang="zh-CN" altLang="en-US" b="1" dirty="0">
                      <a:latin typeface="微软雅黑" panose="020B0503020204020204" pitchFamily="34" charset="-122"/>
                      <a:ea typeface="微软雅黑" panose="020B0503020204020204" pitchFamily="34" charset="-122"/>
                    </a:rPr>
                    <a:t>世纪以来</a:t>
                  </a:r>
                </a:p>
              </p:txBody>
            </p:sp>
          </p:grpSp>
          <p:sp>
            <p:nvSpPr>
              <p:cNvPr id="32" name="Title-1">
                <a:extLst>
                  <a:ext uri="{FF2B5EF4-FFF2-40B4-BE49-F238E27FC236}">
                    <a16:creationId xmlns:a16="http://schemas.microsoft.com/office/drawing/2014/main" id="{133238F8-B9C4-44B4-9B07-D16CD5CE2197}"/>
                  </a:ext>
                </a:extLst>
              </p:cNvPr>
              <p:cNvSpPr/>
              <p:nvPr>
                <p:custDataLst>
                  <p:tags r:id="rId5"/>
                </p:custDataLst>
              </p:nvPr>
            </p:nvSpPr>
            <p:spPr>
              <a:xfrm>
                <a:off x="3802877" y="3304287"/>
                <a:ext cx="1886205" cy="149229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b="1" dirty="0">
                    <a:latin typeface="微软雅黑" panose="020B0503020204020204" pitchFamily="34" charset="-122"/>
                    <a:ea typeface="微软雅黑" panose="020B0503020204020204" pitchFamily="34" charset="-122"/>
                  </a:rPr>
                  <a:t>定量测量阶段</a:t>
                </a:r>
              </a:p>
            </p:txBody>
          </p:sp>
          <p:sp>
            <p:nvSpPr>
              <p:cNvPr id="34" name="Title-1">
                <a:extLst>
                  <a:ext uri="{FF2B5EF4-FFF2-40B4-BE49-F238E27FC236}">
                    <a16:creationId xmlns:a16="http://schemas.microsoft.com/office/drawing/2014/main" id="{C36225A2-6D70-47FF-9D30-F80AA50DE81C}"/>
                  </a:ext>
                </a:extLst>
              </p:cNvPr>
              <p:cNvSpPr/>
              <p:nvPr>
                <p:custDataLst>
                  <p:tags r:id="rId6"/>
                </p:custDataLst>
              </p:nvPr>
            </p:nvSpPr>
            <p:spPr>
              <a:xfrm>
                <a:off x="9592531" y="3289326"/>
                <a:ext cx="2044880" cy="149229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b="1" dirty="0">
                    <a:latin typeface="微软雅黑" panose="020B0503020204020204" pitchFamily="34" charset="-122"/>
                    <a:ea typeface="微软雅黑" panose="020B0503020204020204" pitchFamily="34" charset="-122"/>
                  </a:rPr>
                  <a:t>海洋立体观测阶段</a:t>
                </a:r>
              </a:p>
            </p:txBody>
          </p:sp>
        </p:grpSp>
        <p:sp>
          <p:nvSpPr>
            <p:cNvPr id="35" name="4">
              <a:extLst>
                <a:ext uri="{FF2B5EF4-FFF2-40B4-BE49-F238E27FC236}">
                  <a16:creationId xmlns:a16="http://schemas.microsoft.com/office/drawing/2014/main" id="{F2EE9B30-EAEC-4FC5-B2E3-761C9C23B637}"/>
                </a:ext>
              </a:extLst>
            </p:cNvPr>
            <p:cNvSpPr/>
            <p:nvPr>
              <p:custDataLst>
                <p:tags r:id="rId1"/>
              </p:custDataLst>
            </p:nvPr>
          </p:nvSpPr>
          <p:spPr>
            <a:xfrm rot="5400000">
              <a:off x="8270609" y="3090117"/>
              <a:ext cx="225943" cy="181832"/>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spTree>
    <p:extLst>
      <p:ext uri="{BB962C8B-B14F-4D97-AF65-F5344CB8AC3E}">
        <p14:creationId xmlns:p14="http://schemas.microsoft.com/office/powerpoint/2010/main" val="2920043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1.2.2  </a:t>
            </a:r>
            <a:r>
              <a:rPr lang="zh-CN" altLang="en-US" b="1" dirty="0">
                <a:solidFill>
                  <a:srgbClr val="002060"/>
                </a:solidFill>
              </a:rPr>
              <a:t>海洋光学技术面临的挑战</a:t>
            </a: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7</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8" name="矩形 7">
            <a:extLst>
              <a:ext uri="{FF2B5EF4-FFF2-40B4-BE49-F238E27FC236}">
                <a16:creationId xmlns:a16="http://schemas.microsoft.com/office/drawing/2014/main" id="{2198831F-0D95-4492-8C82-7C42ED052177}"/>
              </a:ext>
            </a:extLst>
          </p:cNvPr>
          <p:cNvSpPr/>
          <p:nvPr/>
        </p:nvSpPr>
        <p:spPr>
          <a:xfrm>
            <a:off x="883" y="6465020"/>
            <a:ext cx="3058851"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1.2  </a:t>
            </a:r>
            <a:r>
              <a:rPr lang="zh-CN" altLang="en-US" sz="1600" dirty="0">
                <a:solidFill>
                  <a:srgbClr val="002060"/>
                </a:solidFill>
                <a:latin typeface="微软雅黑" panose="020B0503020204020204" pitchFamily="34" charset="-122"/>
                <a:ea typeface="微软雅黑" panose="020B0503020204020204" pitchFamily="34" charset="-122"/>
              </a:rPr>
              <a:t>海洋光学技术的发展与挑战</a:t>
            </a:r>
            <a:endParaRPr lang="zh-CN" altLang="en-US" sz="1600" dirty="0">
              <a:solidFill>
                <a:srgbClr val="002060"/>
              </a:solidFill>
            </a:endParaRPr>
          </a:p>
        </p:txBody>
      </p:sp>
      <p:sp>
        <p:nvSpPr>
          <p:cNvPr id="10" name="文本框 9">
            <a:extLst>
              <a:ext uri="{FF2B5EF4-FFF2-40B4-BE49-F238E27FC236}">
                <a16:creationId xmlns:a16="http://schemas.microsoft.com/office/drawing/2014/main" id="{EB73037B-4C62-4E34-AF17-16A165DBC55C}"/>
              </a:ext>
            </a:extLst>
          </p:cNvPr>
          <p:cNvSpPr txBox="1"/>
          <p:nvPr/>
        </p:nvSpPr>
        <p:spPr>
          <a:xfrm>
            <a:off x="412750" y="1174739"/>
            <a:ext cx="11366500" cy="5059735"/>
          </a:xfrm>
          <a:prstGeom prst="rect">
            <a:avLst/>
          </a:prstGeom>
          <a:noFill/>
        </p:spPr>
        <p:txBody>
          <a:bodyPr wrap="square" rtlCol="0" anchor="t">
            <a:noAutofit/>
          </a:bodyPr>
          <a:lstStyle/>
          <a:p>
            <a:pPr algn="just">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（1）理论体系尚不完善</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b="1" dirty="0">
                <a:solidFill>
                  <a:schemeClr val="accent1"/>
                </a:solidFill>
                <a:latin typeface="微软雅黑" panose="020B0503020204020204" pitchFamily="34" charset="-122"/>
                <a:ea typeface="微软雅黑" panose="020B0503020204020204" pitchFamily="34" charset="-122"/>
              </a:rPr>
              <a:t>准确数学模型</a:t>
            </a:r>
            <a:r>
              <a:rPr lang="zh-CN" altLang="en-US" b="1" dirty="0">
                <a:solidFill>
                  <a:schemeClr val="accent1"/>
                </a:solidFill>
                <a:latin typeface="微软雅黑" panose="020B0503020204020204" pitchFamily="34" charset="-122"/>
                <a:ea typeface="微软雅黑" panose="020B0503020204020204" pitchFamily="34" charset="-122"/>
              </a:rPr>
              <a:t>建立困难</a:t>
            </a:r>
            <a:r>
              <a:rPr lang="zh-CN" altLang="en-US" dirty="0">
                <a:latin typeface="微软雅黑" panose="020B0503020204020204" pitchFamily="34" charset="-122"/>
                <a:ea typeface="微软雅黑" panose="020B0503020204020204" pitchFamily="34" charset="-122"/>
              </a:rPr>
              <a:t>：由于</a:t>
            </a:r>
            <a:r>
              <a:rPr lang="zh-CN" altLang="zh-CN" dirty="0">
                <a:latin typeface="微软雅黑" panose="020B0503020204020204" pitchFamily="34" charset="-122"/>
                <a:ea typeface="微软雅黑" panose="020B0503020204020204" pitchFamily="34" charset="-122"/>
              </a:rPr>
              <a:t>复杂海洋环境对光束有较强的吸收与散射作用，难以建立光子在传播过程中更多维度光学信息的准确数学模型，如偏振与相位信息，从而限制了更多光学技术在海洋中的应用</a:t>
            </a:r>
            <a:r>
              <a:rPr lang="zh-CN" altLang="en-US" dirty="0">
                <a:latin typeface="微软雅黑" panose="020B0503020204020204" pitchFamily="34" charset="-122"/>
                <a:ea typeface="微软雅黑" panose="020B0503020204020204" pitchFamily="34" charset="-122"/>
              </a:rPr>
              <a:t>。</a:t>
            </a:r>
          </a:p>
          <a:p>
            <a:pPr marL="742950" lvl="1" indent="-285750" algn="just">
              <a:lnSpc>
                <a:spcPct val="150000"/>
              </a:lnSpc>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海洋环境动态变化</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现有理论研究多是基于静态海洋背景环境的假设</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然而实际的海洋环境是动态变化的</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在动态海洋环境下如何建立高效而精确的光信号传播模型是海洋光学基础研究的重要任务之一。</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l"/>
            </a:pPr>
            <a:endParaRPr lang="zh-CN" altLang="en-US" sz="800" dirty="0">
              <a:latin typeface="微软雅黑" panose="020B0503020204020204" pitchFamily="34" charset="-122"/>
              <a:ea typeface="微软雅黑" panose="020B0503020204020204" pitchFamily="34" charset="-122"/>
              <a:sym typeface="+mn-ea"/>
            </a:endParaRPr>
          </a:p>
          <a:p>
            <a:pPr indent="0" algn="just"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）海洋光学系统与器件性能受限</a:t>
            </a:r>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50000"/>
              </a:lnSpc>
              <a:buFont typeface="Wingdings" panose="05000000000000000000" pitchFamily="2" charset="2"/>
              <a:buChar char="Ø"/>
            </a:pPr>
            <a:r>
              <a:rPr lang="zh-CN" altLang="zh-CN" b="1" dirty="0">
                <a:solidFill>
                  <a:schemeClr val="accent1"/>
                </a:solidFill>
                <a:latin typeface="微软雅黑" panose="020B0503020204020204" pitchFamily="34" charset="-122"/>
                <a:ea typeface="微软雅黑" panose="020B0503020204020204" pitchFamily="34" charset="-122"/>
              </a:rPr>
              <a:t>复杂</a:t>
            </a:r>
            <a:r>
              <a:rPr lang="zh-CN" altLang="en-US" b="1" dirty="0">
                <a:solidFill>
                  <a:schemeClr val="accent1"/>
                </a:solidFill>
                <a:latin typeface="微软雅黑" panose="020B0503020204020204" pitchFamily="34" charset="-122"/>
                <a:ea typeface="微软雅黑" panose="020B0503020204020204" pitchFamily="34" charset="-122"/>
              </a:rPr>
              <a:t>水下</a:t>
            </a:r>
            <a:r>
              <a:rPr lang="zh-CN" altLang="zh-CN" b="1" dirty="0">
                <a:solidFill>
                  <a:schemeClr val="accent1"/>
                </a:solidFill>
                <a:latin typeface="微软雅黑" panose="020B0503020204020204" pitchFamily="34" charset="-122"/>
                <a:ea typeface="微软雅黑" panose="020B0503020204020204" pitchFamily="34" charset="-122"/>
              </a:rPr>
              <a:t>环境</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实际应用</a:t>
            </a:r>
            <a:r>
              <a:rPr lang="zh-CN" altLang="en-US" dirty="0">
                <a:latin typeface="微软雅黑" panose="020B0503020204020204" pitchFamily="34" charset="-122"/>
                <a:ea typeface="微软雅黑" panose="020B0503020204020204" pitchFamily="34" charset="-122"/>
              </a:rPr>
              <a:t>中，</a:t>
            </a:r>
            <a:r>
              <a:rPr lang="zh-CN" altLang="zh-CN" dirty="0">
                <a:latin typeface="微软雅黑" panose="020B0503020204020204" pitchFamily="34" charset="-122"/>
                <a:ea typeface="微软雅黑" panose="020B0503020204020204" pitchFamily="34" charset="-122"/>
              </a:rPr>
              <a:t>水体颗粒物和浑浊度等因素</a:t>
            </a:r>
            <a:r>
              <a:rPr lang="zh-CN" altLang="en-US" dirty="0">
                <a:latin typeface="微软雅黑" panose="020B0503020204020204" pitchFamily="34" charset="-122"/>
                <a:ea typeface="微软雅黑" panose="020B0503020204020204" pitchFamily="34" charset="-122"/>
              </a:rPr>
              <a:t>严重</a:t>
            </a:r>
            <a:r>
              <a:rPr lang="zh-CN" altLang="zh-CN" dirty="0">
                <a:latin typeface="微软雅黑" panose="020B0503020204020204" pitchFamily="34" charset="-122"/>
                <a:ea typeface="微软雅黑" panose="020B0503020204020204" pitchFamily="34" charset="-122"/>
              </a:rPr>
              <a:t>影响光学成像的图像质量、无线光通信的距离等。</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技术突破受限</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水下光学系统工作距离的突破很大程度上依赖先进的光学材料、器件与系统设备，同时也离不开信号处理技术的发展。因此，突破高功率激光器、高灵敏光电传感器等一系列的技术难题是进一步提升海洋光学技术应用范围的重要保障。</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22575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1.2.3  </a:t>
            </a:r>
            <a:r>
              <a:rPr lang="zh-CN" altLang="en-US" b="1" dirty="0">
                <a:solidFill>
                  <a:srgbClr val="002060"/>
                </a:solidFill>
              </a:rPr>
              <a:t>海洋光学技术的发展趋势</a:t>
            </a: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8</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8" name="矩形 7">
            <a:extLst>
              <a:ext uri="{FF2B5EF4-FFF2-40B4-BE49-F238E27FC236}">
                <a16:creationId xmlns:a16="http://schemas.microsoft.com/office/drawing/2014/main" id="{83BB9C57-35D1-4A8D-80E3-FC7F59E3A63A}"/>
              </a:ext>
            </a:extLst>
          </p:cNvPr>
          <p:cNvSpPr/>
          <p:nvPr/>
        </p:nvSpPr>
        <p:spPr>
          <a:xfrm>
            <a:off x="883" y="6465020"/>
            <a:ext cx="3058851"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1.2  </a:t>
            </a:r>
            <a:r>
              <a:rPr lang="zh-CN" altLang="en-US" sz="1600" dirty="0">
                <a:solidFill>
                  <a:srgbClr val="002060"/>
                </a:solidFill>
                <a:latin typeface="微软雅黑" panose="020B0503020204020204" pitchFamily="34" charset="-122"/>
                <a:ea typeface="微软雅黑" panose="020B0503020204020204" pitchFamily="34" charset="-122"/>
              </a:rPr>
              <a:t>海洋光学技术的发展与挑战</a:t>
            </a:r>
            <a:endParaRPr lang="zh-CN" altLang="en-US" sz="1600" dirty="0">
              <a:solidFill>
                <a:srgbClr val="002060"/>
              </a:solidFill>
            </a:endParaRPr>
          </a:p>
        </p:txBody>
      </p:sp>
      <p:sp>
        <p:nvSpPr>
          <p:cNvPr id="11" name="文本框 10">
            <a:extLst>
              <a:ext uri="{FF2B5EF4-FFF2-40B4-BE49-F238E27FC236}">
                <a16:creationId xmlns:a16="http://schemas.microsoft.com/office/drawing/2014/main" id="{169EE070-0A07-48CD-A82E-1F6636D9E771}"/>
              </a:ext>
            </a:extLst>
          </p:cNvPr>
          <p:cNvSpPr txBox="1"/>
          <p:nvPr/>
        </p:nvSpPr>
        <p:spPr>
          <a:xfrm>
            <a:off x="412750" y="1279499"/>
            <a:ext cx="11366500" cy="5059735"/>
          </a:xfrm>
          <a:prstGeom prst="rect">
            <a:avLst/>
          </a:prstGeom>
          <a:noFill/>
        </p:spPr>
        <p:txBody>
          <a:bodyPr wrap="square" rtlCol="0" anchor="t">
            <a:noAutofit/>
          </a:bodyPr>
          <a:lstStyle/>
          <a:p>
            <a:pPr algn="just">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（1）结合海洋光学技术与海洋装备</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先进海洋装备技术将极大推进海洋科学的发展。</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海洋光学技术的发展要</a:t>
            </a:r>
            <a:r>
              <a:rPr lang="zh-CN" altLang="zh-CN" b="1" dirty="0">
                <a:solidFill>
                  <a:schemeClr val="accent1"/>
                </a:solidFill>
                <a:latin typeface="微软雅黑" panose="020B0503020204020204" pitchFamily="34" charset="-122"/>
                <a:ea typeface="微软雅黑" panose="020B0503020204020204" pitchFamily="34" charset="-122"/>
              </a:rPr>
              <a:t>以海洋装备需求为导向</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并充分考虑海洋环境的制约因素</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sym typeface="+mn-ea"/>
            </a:endParaRPr>
          </a:p>
          <a:p>
            <a:pPr marL="742950" lvl="1" indent="-285750" algn="just">
              <a:lnSpc>
                <a:spcPct val="150000"/>
              </a:lnSpc>
              <a:buFont typeface="Wingdings" panose="05000000000000000000" pitchFamily="2" charset="2"/>
              <a:buChar char="Ø"/>
            </a:pPr>
            <a:endParaRPr lang="zh-CN" altLang="zh-CN" sz="800" dirty="0">
              <a:latin typeface="微软雅黑" panose="020B0503020204020204" pitchFamily="34" charset="-122"/>
              <a:ea typeface="微软雅黑" panose="020B0503020204020204" pitchFamily="34" charset="-122"/>
            </a:endParaRPr>
          </a:p>
          <a:p>
            <a:pPr indent="0" algn="just"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）构建水下通、感、观一体化网络</a:t>
            </a:r>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基于光学的水下观测、成像、通信与传感技术，</a:t>
            </a:r>
            <a:r>
              <a:rPr lang="zh-CN" altLang="en-US" dirty="0">
                <a:latin typeface="微软雅黑" panose="020B0503020204020204" pitchFamily="34" charset="-122"/>
                <a:ea typeface="微软雅黑" panose="020B0503020204020204" pitchFamily="34" charset="-122"/>
              </a:rPr>
              <a:t>建立水下立体观测网</a:t>
            </a:r>
            <a:r>
              <a:rPr lang="zh-CN" altLang="en-US" b="1" dirty="0">
                <a:solidFill>
                  <a:schemeClr val="accent1"/>
                </a:solidFill>
                <a:latin typeface="微软雅黑" panose="020B0503020204020204" pitchFamily="34" charset="-122"/>
                <a:ea typeface="微软雅黑" panose="020B0503020204020204" pitchFamily="34" charset="-122"/>
              </a:rPr>
              <a:t>实现“透明海洋”</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融合多种观测技术手段，建立静态和动态节点相结合的观测系统，以实现水下通、感、观一体化网络。</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endParaRPr lang="en-US" altLang="zh-CN" sz="800" dirty="0">
              <a:latin typeface="微软雅黑" panose="020B0503020204020204" pitchFamily="34" charset="-122"/>
              <a:ea typeface="微软雅黑" panose="020B0503020204020204" pitchFamily="34" charset="-122"/>
            </a:endParaRPr>
          </a:p>
          <a:p>
            <a:pPr algn="just">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）海洋光学技术智能化发展</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利用人工智能</a:t>
            </a:r>
            <a:r>
              <a:rPr lang="zh-CN" altLang="en-US" dirty="0">
                <a:latin typeface="微软雅黑" panose="020B0503020204020204" pitchFamily="34" charset="-122"/>
                <a:ea typeface="微软雅黑" panose="020B0503020204020204" pitchFamily="34" charset="-122"/>
              </a:rPr>
              <a:t>技术</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从而</a:t>
            </a:r>
            <a:r>
              <a:rPr lang="zh-CN" altLang="zh-CN" dirty="0">
                <a:latin typeface="微软雅黑" panose="020B0503020204020204" pitchFamily="34" charset="-122"/>
                <a:ea typeface="微软雅黑" panose="020B0503020204020204" pitchFamily="34" charset="-122"/>
              </a:rPr>
              <a:t>及时、高效、准确</a:t>
            </a:r>
            <a:r>
              <a:rPr lang="zh-CN" altLang="en-US" dirty="0">
                <a:latin typeface="微软雅黑" panose="020B0503020204020204" pitchFamily="34" charset="-122"/>
                <a:ea typeface="微软雅黑" panose="020B0503020204020204" pitchFamily="34" charset="-122"/>
              </a:rPr>
              <a:t>地</a:t>
            </a:r>
            <a:r>
              <a:rPr lang="zh-CN" altLang="zh-CN" b="1" dirty="0">
                <a:solidFill>
                  <a:schemeClr val="accent1"/>
                </a:solidFill>
                <a:latin typeface="微软雅黑" panose="020B0503020204020204" pitchFamily="34" charset="-122"/>
                <a:ea typeface="微软雅黑" panose="020B0503020204020204" pitchFamily="34" charset="-122"/>
              </a:rPr>
              <a:t>分析处理海量数据</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有助于揭示复杂海洋环境的</a:t>
            </a:r>
            <a:r>
              <a:rPr lang="zh-CN" altLang="zh-CN" b="1" dirty="0">
                <a:solidFill>
                  <a:schemeClr val="accent1"/>
                </a:solidFill>
                <a:latin typeface="微软雅黑" panose="020B0503020204020204" pitchFamily="34" charset="-122"/>
                <a:ea typeface="微软雅黑" panose="020B0503020204020204" pitchFamily="34" charset="-122"/>
              </a:rPr>
              <a:t>动态变化规律</a:t>
            </a:r>
            <a:r>
              <a:rPr lang="zh-CN" altLang="zh-CN" dirty="0">
                <a:latin typeface="微软雅黑" panose="020B0503020204020204" pitchFamily="34" charset="-122"/>
                <a:ea typeface="微软雅黑" panose="020B0503020204020204" pitchFamily="34" charset="-122"/>
              </a:rPr>
              <a:t>，为海洋科学研究等领域提供有力支持。</a:t>
            </a:r>
            <a:endParaRPr lang="zh-CN" altLang="en-US" dirty="0">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504833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1.2.3  </a:t>
            </a:r>
            <a:r>
              <a:rPr lang="zh-CN" altLang="en-US" b="1" dirty="0">
                <a:solidFill>
                  <a:srgbClr val="002060"/>
                </a:solidFill>
              </a:rPr>
              <a:t>海洋光学技术的发展趋势</a:t>
            </a: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9</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8" name="矩形 7">
            <a:extLst>
              <a:ext uri="{FF2B5EF4-FFF2-40B4-BE49-F238E27FC236}">
                <a16:creationId xmlns:a16="http://schemas.microsoft.com/office/drawing/2014/main" id="{83BB9C57-35D1-4A8D-80E3-FC7F59E3A63A}"/>
              </a:ext>
            </a:extLst>
          </p:cNvPr>
          <p:cNvSpPr/>
          <p:nvPr/>
        </p:nvSpPr>
        <p:spPr>
          <a:xfrm>
            <a:off x="883" y="6465020"/>
            <a:ext cx="3058851"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1.2  </a:t>
            </a:r>
            <a:r>
              <a:rPr lang="zh-CN" altLang="en-US" sz="1600" dirty="0">
                <a:solidFill>
                  <a:srgbClr val="002060"/>
                </a:solidFill>
                <a:latin typeface="微软雅黑" panose="020B0503020204020204" pitchFamily="34" charset="-122"/>
                <a:ea typeface="微软雅黑" panose="020B0503020204020204" pitchFamily="34" charset="-122"/>
              </a:rPr>
              <a:t>海洋光学技术的发展与挑战</a:t>
            </a:r>
            <a:endParaRPr lang="zh-CN" altLang="en-US" sz="1600" dirty="0">
              <a:solidFill>
                <a:srgbClr val="002060"/>
              </a:solidFill>
            </a:endParaRPr>
          </a:p>
        </p:txBody>
      </p:sp>
      <p:sp>
        <p:nvSpPr>
          <p:cNvPr id="11" name="文本框 10">
            <a:extLst>
              <a:ext uri="{FF2B5EF4-FFF2-40B4-BE49-F238E27FC236}">
                <a16:creationId xmlns:a16="http://schemas.microsoft.com/office/drawing/2014/main" id="{169EE070-0A07-48CD-A82E-1F6636D9E771}"/>
              </a:ext>
            </a:extLst>
          </p:cNvPr>
          <p:cNvSpPr txBox="1"/>
          <p:nvPr/>
        </p:nvSpPr>
        <p:spPr>
          <a:xfrm>
            <a:off x="412750" y="2056421"/>
            <a:ext cx="11366500" cy="2822601"/>
          </a:xfrm>
          <a:prstGeom prst="rect">
            <a:avLst/>
          </a:prstGeom>
          <a:noFill/>
        </p:spPr>
        <p:txBody>
          <a:bodyPr wrap="square" rtlCol="0" anchor="t">
            <a:noAutofit/>
          </a:bodyPr>
          <a:lstStyle/>
          <a:p>
            <a:pPr indent="0" algn="just"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）海洋光学技术产品全面国产化</a:t>
            </a:r>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目</a:t>
            </a:r>
            <a:r>
              <a:rPr lang="zh-CN" altLang="zh-CN" dirty="0">
                <a:latin typeface="微软雅黑" panose="020B0503020204020204" pitchFamily="34" charset="-122"/>
                <a:ea typeface="微软雅黑" panose="020B0503020204020204" pitchFamily="34" charset="-122"/>
              </a:rPr>
              <a:t>前，我国海洋光学技术的相关产品和关键零部件</a:t>
            </a:r>
            <a:r>
              <a:rPr lang="zh-CN" altLang="en-US" b="1" dirty="0">
                <a:solidFill>
                  <a:schemeClr val="accent1"/>
                </a:solidFill>
                <a:latin typeface="微软雅黑" panose="020B0503020204020204" pitchFamily="34" charset="-122"/>
                <a:ea typeface="微软雅黑" panose="020B0503020204020204" pitchFamily="34" charset="-122"/>
              </a:rPr>
              <a:t>依赖进口</a:t>
            </a:r>
            <a:r>
              <a:rPr lang="zh-CN" altLang="zh-CN" dirty="0">
                <a:latin typeface="微软雅黑" panose="020B0503020204020204" pitchFamily="34" charset="-122"/>
                <a:ea typeface="微软雅黑" panose="020B0503020204020204" pitchFamily="34" charset="-122"/>
              </a:rPr>
              <a:t>，在中美贸易战的大背景下，多个国家限制对华销售光学相关的软硬件产品。而缺乏了高性能光学器件的支撑，会直接减缓我国海洋光学技术的发展脚步。</a:t>
            </a:r>
            <a:endParaRPr lang="en-US" altLang="zh-CN"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endParaRPr lang="en-US" altLang="zh-CN" sz="800" dirty="0">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rPr>
              <a:t>进入</a:t>
            </a:r>
            <a:r>
              <a:rPr lang="en-US" altLang="zh-CN" dirty="0">
                <a:latin typeface="微软雅黑" panose="020B0503020204020204" pitchFamily="34" charset="-122"/>
                <a:ea typeface="微软雅黑" panose="020B0503020204020204" pitchFamily="34" charset="-122"/>
              </a:rPr>
              <a:t>21</a:t>
            </a:r>
            <a:r>
              <a:rPr lang="zh-CN" altLang="zh-CN" dirty="0">
                <a:latin typeface="微软雅黑" panose="020B0503020204020204" pitchFamily="34" charset="-122"/>
                <a:ea typeface="微软雅黑" panose="020B0503020204020204" pitchFamily="34" charset="-122"/>
              </a:rPr>
              <a:t>世纪以来，</a:t>
            </a:r>
            <a:r>
              <a:rPr lang="zh-CN" altLang="en-US" dirty="0">
                <a:latin typeface="微软雅黑" panose="020B0503020204020204" pitchFamily="34" charset="-122"/>
                <a:ea typeface="微软雅黑" panose="020B0503020204020204" pitchFamily="34" charset="-122"/>
              </a:rPr>
              <a:t>我国加大基础性光学研究，研制高精度光学测量仪器</a:t>
            </a:r>
            <a:r>
              <a:rPr lang="zh-CN" altLang="zh-CN" dirty="0">
                <a:latin typeface="微软雅黑" panose="020B0503020204020204" pitchFamily="34" charset="-122"/>
                <a:ea typeface="微软雅黑" panose="020B0503020204020204" pitchFamily="34" charset="-122"/>
              </a:rPr>
              <a:t>，为光学产品国产化奠定了坚实基础。国产光学技术产品将在未来的海洋光学领域大放异彩。</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4986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82610" y="278793"/>
            <a:ext cx="10399395" cy="645160"/>
          </a:xfrm>
          <a:prstGeom prst="rect">
            <a:avLst/>
          </a:prstGeom>
          <a:noFill/>
        </p:spPr>
        <p:txBody>
          <a:bodyPr wrap="square" rtlCol="0">
            <a:spAutoFit/>
          </a:bodyPr>
          <a:lstStyle/>
          <a:p>
            <a:pPr algn="ctr" fontAlgn="auto">
              <a:lnSpc>
                <a:spcPct val="100000"/>
              </a:lnSpc>
            </a:pPr>
            <a:r>
              <a:rPr kumimoji="1" lang="zh-CN" altLang="en-US" sz="3600" b="1" dirty="0">
                <a:latin typeface="微软雅黑" panose="020B0503020204020204" pitchFamily="34" charset="-122"/>
                <a:ea typeface="微软雅黑" panose="020B0503020204020204" pitchFamily="34" charset="-122"/>
              </a:rPr>
              <a:t>教学单元</a:t>
            </a:r>
            <a:endParaRPr kumimoji="1" lang="en-US" altLang="zh-CN" sz="36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004807" y="1979789"/>
            <a:ext cx="6508376" cy="2898422"/>
          </a:xfrm>
          <a:prstGeom prst="rect">
            <a:avLst/>
          </a:prstGeom>
          <a:noFill/>
        </p:spPr>
        <p:txBody>
          <a:bodyPr wrap="square" rtlCol="0">
            <a:spAutoFit/>
          </a:bodyPr>
          <a:lstStyle/>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1.1  </a:t>
            </a:r>
            <a:r>
              <a:rPr lang="zh-CN" altLang="en-US" sz="3200" b="1" dirty="0">
                <a:solidFill>
                  <a:srgbClr val="002060"/>
                </a:solidFill>
                <a:latin typeface="微软雅黑" panose="020B0503020204020204" pitchFamily="34" charset="-122"/>
                <a:ea typeface="微软雅黑" panose="020B0503020204020204" pitchFamily="34" charset="-122"/>
              </a:rPr>
              <a:t>海洋光学技术概述</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1.2  </a:t>
            </a:r>
            <a:r>
              <a:rPr lang="zh-CN" altLang="en-US" sz="3200" b="1" dirty="0">
                <a:solidFill>
                  <a:srgbClr val="002060"/>
                </a:solidFill>
                <a:latin typeface="微软雅黑" panose="020B0503020204020204" pitchFamily="34" charset="-122"/>
                <a:ea typeface="微软雅黑" panose="020B0503020204020204" pitchFamily="34" charset="-122"/>
              </a:rPr>
              <a:t>海洋光学技术的发展与挑战</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C00000"/>
                </a:solidFill>
                <a:latin typeface="微软雅黑" panose="020B0503020204020204" pitchFamily="34" charset="-122"/>
                <a:ea typeface="微软雅黑" panose="020B0503020204020204" pitchFamily="34" charset="-122"/>
              </a:rPr>
              <a:t>1.3  </a:t>
            </a:r>
            <a:r>
              <a:rPr lang="zh-CN" altLang="en-US" sz="3200" b="1" dirty="0">
                <a:solidFill>
                  <a:srgbClr val="C00000"/>
                </a:solidFill>
                <a:latin typeface="微软雅黑" panose="020B0503020204020204" pitchFamily="34" charset="-122"/>
                <a:ea typeface="微软雅黑" panose="020B0503020204020204" pitchFamily="34" charset="-122"/>
              </a:rPr>
              <a:t>教材概况</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t>10</a:t>
            </a:fld>
            <a:endParaRPr kumimoji="1" lang="zh-CN" altLang="en-US"/>
          </a:p>
        </p:txBody>
      </p:sp>
    </p:spTree>
    <p:extLst>
      <p:ext uri="{BB962C8B-B14F-4D97-AF65-F5344CB8AC3E}">
        <p14:creationId xmlns:p14="http://schemas.microsoft.com/office/powerpoint/2010/main" val="3136372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1.3.1  </a:t>
            </a:r>
            <a:r>
              <a:rPr lang="zh-CN" altLang="en-US" b="1" dirty="0">
                <a:solidFill>
                  <a:srgbClr val="002060"/>
                </a:solidFill>
              </a:rPr>
              <a:t>教材内容设计</a:t>
            </a:r>
          </a:p>
        </p:txBody>
      </p:sp>
      <p:sp>
        <p:nvSpPr>
          <p:cNvPr id="4" name="矩形 3"/>
          <p:cNvSpPr/>
          <p:nvPr/>
        </p:nvSpPr>
        <p:spPr>
          <a:xfrm>
            <a:off x="883" y="6465020"/>
            <a:ext cx="1417376"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1.3  </a:t>
            </a:r>
            <a:r>
              <a:rPr lang="zh-CN" altLang="en-US" sz="1600" dirty="0">
                <a:solidFill>
                  <a:srgbClr val="002060"/>
                </a:solidFill>
                <a:latin typeface="微软雅黑" panose="020B0503020204020204" pitchFamily="34" charset="-122"/>
                <a:ea typeface="微软雅黑" panose="020B0503020204020204" pitchFamily="34" charset="-122"/>
              </a:rPr>
              <a:t>教材概况</a:t>
            </a:r>
            <a:endParaRPr lang="zh-CN" altLang="en-US" sz="1600"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11</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9" name="文本框 8">
            <a:extLst>
              <a:ext uri="{FF2B5EF4-FFF2-40B4-BE49-F238E27FC236}">
                <a16:creationId xmlns:a16="http://schemas.microsoft.com/office/drawing/2014/main" id="{D7F28CF5-057E-4BC5-A5AA-2B6F95579569}"/>
              </a:ext>
            </a:extLst>
          </p:cNvPr>
          <p:cNvSpPr txBox="1"/>
          <p:nvPr/>
        </p:nvSpPr>
        <p:spPr>
          <a:xfrm>
            <a:off x="412750" y="1197010"/>
            <a:ext cx="11366500" cy="1353760"/>
          </a:xfrm>
          <a:prstGeom prst="rect">
            <a:avLst/>
          </a:prstGeom>
          <a:noFill/>
        </p:spPr>
        <p:txBody>
          <a:bodyPr wrap="square" rtlCol="0" anchor="t">
            <a:no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本教材通过梳理海洋光学领域的基础理论与主流研究方法，针对不同的技术应用展开背景介绍，阐述关键技术、原理和方法，并分析国内外科技前沿与应用案例。全书包括</a:t>
            </a:r>
            <a:r>
              <a:rPr lang="zh-CN" altLang="zh-CN" b="1" dirty="0">
                <a:solidFill>
                  <a:schemeClr val="accent1"/>
                </a:solidFill>
                <a:latin typeface="微软雅黑" panose="020B0503020204020204" pitchFamily="34" charset="-122"/>
                <a:ea typeface="微软雅黑" panose="020B0503020204020204" pitchFamily="34" charset="-122"/>
              </a:rPr>
              <a:t>海洋光学技术绪论</a:t>
            </a:r>
            <a:r>
              <a:rPr lang="zh-CN" altLang="zh-CN" dirty="0">
                <a:latin typeface="微软雅黑" panose="020B0503020204020204" pitchFamily="34" charset="-122"/>
                <a:ea typeface="微软雅黑" panose="020B0503020204020204" pitchFamily="34" charset="-122"/>
              </a:rPr>
              <a:t>、</a:t>
            </a:r>
            <a:r>
              <a:rPr lang="zh-CN" altLang="zh-CN" b="1" dirty="0">
                <a:solidFill>
                  <a:schemeClr val="accent1"/>
                </a:solidFill>
                <a:latin typeface="微软雅黑" panose="020B0503020204020204" pitchFamily="34" charset="-122"/>
                <a:ea typeface="微软雅黑" panose="020B0503020204020204" pitchFamily="34" charset="-122"/>
              </a:rPr>
              <a:t>相关基础知识</a:t>
            </a:r>
            <a:r>
              <a:rPr lang="zh-CN" altLang="zh-CN" dirty="0">
                <a:latin typeface="微软雅黑" panose="020B0503020204020204" pitchFamily="34" charset="-122"/>
                <a:ea typeface="微软雅黑" panose="020B0503020204020204" pitchFamily="34" charset="-122"/>
              </a:rPr>
              <a:t>和</a:t>
            </a:r>
            <a:r>
              <a:rPr lang="zh-CN" altLang="zh-CN" b="1" dirty="0">
                <a:solidFill>
                  <a:schemeClr val="accent1"/>
                </a:solidFill>
                <a:latin typeface="微软雅黑" panose="020B0503020204020204" pitchFamily="34" charset="-122"/>
                <a:ea typeface="微软雅黑" panose="020B0503020204020204" pitchFamily="34" charset="-122"/>
              </a:rPr>
              <a:t>多种海洋光学技术及应用</a:t>
            </a:r>
            <a:r>
              <a:rPr lang="zh-CN" altLang="zh-CN" dirty="0">
                <a:latin typeface="微软雅黑" panose="020B0503020204020204" pitchFamily="34" charset="-122"/>
                <a:ea typeface="微软雅黑" panose="020B0503020204020204" pitchFamily="34" charset="-122"/>
              </a:rPr>
              <a:t>三大部分</a:t>
            </a:r>
            <a:r>
              <a:rPr lang="zh-CN" altLang="en-US" dirty="0">
                <a:latin typeface="微软雅黑" panose="020B0503020204020204" pitchFamily="34" charset="-122"/>
                <a:ea typeface="微软雅黑" panose="020B0503020204020204" pitchFamily="34" charset="-122"/>
              </a:rPr>
              <a:t>。</a:t>
            </a:r>
          </a:p>
        </p:txBody>
      </p:sp>
      <p:sp>
        <p:nvSpPr>
          <p:cNvPr id="11" name="文本框 10">
            <a:extLst>
              <a:ext uri="{FF2B5EF4-FFF2-40B4-BE49-F238E27FC236}">
                <a16:creationId xmlns:a16="http://schemas.microsoft.com/office/drawing/2014/main" id="{5C971887-A61D-440B-96D1-FF575D438E68}"/>
              </a:ext>
            </a:extLst>
          </p:cNvPr>
          <p:cNvSpPr txBox="1"/>
          <p:nvPr/>
        </p:nvSpPr>
        <p:spPr>
          <a:xfrm>
            <a:off x="350768" y="2603500"/>
            <a:ext cx="11366500" cy="3707680"/>
          </a:xfrm>
          <a:prstGeom prst="rect">
            <a:avLst/>
          </a:prstGeom>
          <a:noFill/>
        </p:spPr>
        <p:txBody>
          <a:bodyPr wrap="square" rtlCol="0" anchor="t">
            <a:no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（1）海洋光学技术绪论</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1</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绪论。</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主要介绍海洋光学技术的优势、主要研究内容，及</a:t>
            </a:r>
            <a:r>
              <a:rPr lang="zh-CN" altLang="en-US" dirty="0">
                <a:latin typeface="微软雅黑" panose="020B0503020204020204" pitchFamily="34" charset="-122"/>
                <a:ea typeface="微软雅黑" panose="020B0503020204020204" pitchFamily="34" charset="-122"/>
              </a:rPr>
              <a:t>其</a:t>
            </a:r>
            <a:r>
              <a:rPr lang="zh-CN" altLang="zh-CN" dirty="0">
                <a:latin typeface="微软雅黑" panose="020B0503020204020204" pitchFamily="34" charset="-122"/>
                <a:ea typeface="微软雅黑" panose="020B0503020204020204" pitchFamily="34" charset="-122"/>
              </a:rPr>
              <a:t>发展历史与现状、挑战与发展趋势；并对本教材的教学内容设计与课程教学设计进行说明。</a:t>
            </a:r>
            <a:endParaRPr lang="zh-CN" altLang="en-US" dirty="0">
              <a:latin typeface="微软雅黑" panose="020B0503020204020204" pitchFamily="34" charset="-122"/>
              <a:ea typeface="微软雅黑" panose="020B0503020204020204" pitchFamily="34" charset="-122"/>
              <a:sym typeface="+mn-ea"/>
            </a:endParaRPr>
          </a:p>
          <a:p>
            <a:pPr indent="0"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）相关基础知识</a:t>
            </a:r>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2</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光的特性及光电系统基础。</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从光的电磁理论出发，介绍光的基本特性，海水的主要组成、光学特性以及传输特性，阐述构建海洋光学传感器和光电系统需要的光源和光电探测器的原理、性能及应用特性。</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8684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1.3.1  </a:t>
            </a:r>
            <a:r>
              <a:rPr lang="zh-CN" altLang="en-US" b="1" dirty="0">
                <a:solidFill>
                  <a:srgbClr val="002060"/>
                </a:solidFill>
              </a:rPr>
              <a:t>教材内容设计</a:t>
            </a:r>
          </a:p>
        </p:txBody>
      </p:sp>
      <p:sp>
        <p:nvSpPr>
          <p:cNvPr id="4" name="矩形 3"/>
          <p:cNvSpPr/>
          <p:nvPr/>
        </p:nvSpPr>
        <p:spPr>
          <a:xfrm>
            <a:off x="883" y="6465020"/>
            <a:ext cx="1417376"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1.3  </a:t>
            </a:r>
            <a:r>
              <a:rPr lang="zh-CN" altLang="en-US" sz="1600" dirty="0">
                <a:solidFill>
                  <a:srgbClr val="002060"/>
                </a:solidFill>
                <a:latin typeface="微软雅黑" panose="020B0503020204020204" pitchFamily="34" charset="-122"/>
                <a:ea typeface="微软雅黑" panose="020B0503020204020204" pitchFamily="34" charset="-122"/>
              </a:rPr>
              <a:t>教材概况</a:t>
            </a:r>
            <a:endParaRPr lang="zh-CN" altLang="en-US" sz="1600"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12</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11" name="文本框 10">
            <a:extLst>
              <a:ext uri="{FF2B5EF4-FFF2-40B4-BE49-F238E27FC236}">
                <a16:creationId xmlns:a16="http://schemas.microsoft.com/office/drawing/2014/main" id="{5C971887-A61D-440B-96D1-FF575D438E68}"/>
              </a:ext>
            </a:extLst>
          </p:cNvPr>
          <p:cNvSpPr txBox="1"/>
          <p:nvPr/>
        </p:nvSpPr>
        <p:spPr>
          <a:xfrm>
            <a:off x="350768" y="1033864"/>
            <a:ext cx="11366500" cy="5194215"/>
          </a:xfrm>
          <a:prstGeom prst="rect">
            <a:avLst/>
          </a:prstGeom>
          <a:noFill/>
        </p:spPr>
        <p:txBody>
          <a:bodyPr wrap="square" rtlCol="0" anchor="t">
            <a:no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）多种海洋光学技术及应用</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3</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海洋光学传感技术及应用。</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主要介绍海洋光学传感系统的组成、分类及应用和发展，阐述三种海洋光学传感器以及海洋颗粒物探测技术，并简要介绍分布式光纤传感器和光纤水听器的工作原理、基本结构及应用案例</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4</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海洋光谱技术及应用。</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主要介绍光谱学的相关概念、光谱的产生与测量以及光谱的基本分析方法，阐述吸收光谱技术、荧光光谱技术和拉曼光谱技术及其在海洋检测领域的应用，并简要介绍红外</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近红外光谱技术和激光光谱技术及应用</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5</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海洋光学成像技术及应用。</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主要介绍水下光学成像的模型与特点、面临的挑战，以及图像处理的基本方法，阐述水下激光成像技术、水下偏振成像技术、水下光谱成像技术和水下显微成像技术的基本原理、成像系统组成及应用案例</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95614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1.3.1  </a:t>
            </a:r>
            <a:r>
              <a:rPr lang="zh-CN" altLang="en-US" b="1" dirty="0">
                <a:solidFill>
                  <a:srgbClr val="002060"/>
                </a:solidFill>
              </a:rPr>
              <a:t>教材内容设计</a:t>
            </a:r>
          </a:p>
        </p:txBody>
      </p:sp>
      <p:sp>
        <p:nvSpPr>
          <p:cNvPr id="4" name="矩形 3"/>
          <p:cNvSpPr/>
          <p:nvPr/>
        </p:nvSpPr>
        <p:spPr>
          <a:xfrm>
            <a:off x="883" y="6465020"/>
            <a:ext cx="1417376" cy="338554"/>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1.3  </a:t>
            </a:r>
            <a:r>
              <a:rPr lang="zh-CN" altLang="en-US" sz="1600" dirty="0">
                <a:solidFill>
                  <a:srgbClr val="002060"/>
                </a:solidFill>
                <a:latin typeface="微软雅黑" panose="020B0503020204020204" pitchFamily="34" charset="-122"/>
                <a:ea typeface="微软雅黑" panose="020B0503020204020204" pitchFamily="34" charset="-122"/>
              </a:rPr>
              <a:t>教材概况</a:t>
            </a:r>
            <a:endParaRPr lang="zh-CN" altLang="en-US" sz="1600"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13</a:t>
            </a:fld>
            <a:endParaRPr kumimoji="1" lang="zh-CN" altLang="en-US"/>
          </a:p>
        </p:txBody>
      </p:sp>
      <p:sp>
        <p:nvSpPr>
          <p:cNvPr id="7" name="内容占位符 3">
            <a:extLst>
              <a:ext uri="{FF2B5EF4-FFF2-40B4-BE49-F238E27FC236}">
                <a16:creationId xmlns:a16="http://schemas.microsoft.com/office/drawing/2014/main" id="{ED9A6E4D-A185-47B9-9060-85959118E450}"/>
              </a:ext>
            </a:extLst>
          </p:cNvPr>
          <p:cNvSpPr txBox="1"/>
          <p:nvPr/>
        </p:nvSpPr>
        <p:spPr>
          <a:xfrm>
            <a:off x="-3655" y="13970"/>
            <a:ext cx="1247737"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章  绪论</a:t>
            </a:r>
          </a:p>
        </p:txBody>
      </p:sp>
      <p:sp>
        <p:nvSpPr>
          <p:cNvPr id="11" name="文本框 10">
            <a:extLst>
              <a:ext uri="{FF2B5EF4-FFF2-40B4-BE49-F238E27FC236}">
                <a16:creationId xmlns:a16="http://schemas.microsoft.com/office/drawing/2014/main" id="{5C971887-A61D-440B-96D1-FF575D438E68}"/>
              </a:ext>
            </a:extLst>
          </p:cNvPr>
          <p:cNvSpPr txBox="1"/>
          <p:nvPr/>
        </p:nvSpPr>
        <p:spPr>
          <a:xfrm>
            <a:off x="350768" y="1498007"/>
            <a:ext cx="11366500" cy="4336330"/>
          </a:xfrm>
          <a:prstGeom prst="rect">
            <a:avLst/>
          </a:prstGeom>
          <a:noFill/>
        </p:spPr>
        <p:txBody>
          <a:bodyPr wrap="square" rtlCol="0" anchor="t">
            <a:no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）多种海洋光学技术及应用</a:t>
            </a:r>
            <a:endParaRPr lang="zh-CN" altLang="en-US" b="1" dirty="0">
              <a:solidFill>
                <a:srgbClr val="FF0000"/>
              </a:solidFill>
              <a:latin typeface="微软雅黑" panose="020B0503020204020204" pitchFamily="34" charset="-122"/>
              <a:ea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6</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海洋激光雷达技术及应用。</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主要介绍海洋激光雷达的发展和基本原理，阐述偏振激光雷达、基于布里渊散射的激光雷达、荧光激光雷达和基于漫反射的激光雷达及应用案例，并对以星载海洋激光雷达为代表的海洋遥感领域的未来发展趋势进行了探讨</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spcAft>
                <a:spcPts val="10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第</a:t>
            </a:r>
            <a:r>
              <a:rPr lang="en-US" altLang="zh-CN" b="1" dirty="0">
                <a:solidFill>
                  <a:schemeClr val="accent1"/>
                </a:solidFill>
                <a:latin typeface="微软雅黑" panose="020B0503020204020204" pitchFamily="34" charset="-122"/>
                <a:ea typeface="微软雅黑" panose="020B0503020204020204" pitchFamily="34" charset="-122"/>
              </a:rPr>
              <a:t>7</a:t>
            </a:r>
            <a:r>
              <a:rPr lang="zh-CN" altLang="en-US" b="1" dirty="0">
                <a:solidFill>
                  <a:schemeClr val="accent1"/>
                </a:solidFill>
                <a:latin typeface="微软雅黑" panose="020B0503020204020204" pitchFamily="34" charset="-122"/>
                <a:ea typeface="微软雅黑" panose="020B0503020204020204" pitchFamily="34" charset="-122"/>
              </a:rPr>
              <a:t>章：</a:t>
            </a:r>
            <a:r>
              <a:rPr lang="zh-CN" altLang="zh-CN" b="1" dirty="0">
                <a:solidFill>
                  <a:schemeClr val="accent1"/>
                </a:solidFill>
                <a:latin typeface="微软雅黑" panose="020B0503020204020204" pitchFamily="34" charset="-122"/>
                <a:ea typeface="微软雅黑" panose="020B0503020204020204" pitchFamily="34" charset="-122"/>
              </a:rPr>
              <a:t>海洋光通信技术及应用。</a:t>
            </a:r>
            <a:br>
              <a:rPr lang="en-US" altLang="zh-CN" dirty="0">
                <a:latin typeface="微软雅黑" panose="020B0503020204020204" pitchFamily="34" charset="-122"/>
                <a:ea typeface="微软雅黑" panose="020B0503020204020204" pitchFamily="34" charset="-122"/>
              </a:rPr>
            </a:br>
            <a:r>
              <a:rPr lang="zh-CN" altLang="zh-CN" dirty="0">
                <a:latin typeface="微软雅黑" panose="020B0503020204020204" pitchFamily="34" charset="-122"/>
                <a:ea typeface="微软雅黑" panose="020B0503020204020204" pitchFamily="34" charset="-122"/>
              </a:rPr>
              <a:t>主要介绍水下光通信技术的概况，阐述海水光学信道的建模与仿真方法，水下无线光通信系统的组成、链路结构与建立方法、调制方式和</a:t>
            </a:r>
            <a:r>
              <a:rPr lang="en-US" altLang="zh-CN" dirty="0">
                <a:latin typeface="微软雅黑" panose="020B0503020204020204" pitchFamily="34" charset="-122"/>
                <a:ea typeface="微软雅黑" panose="020B0503020204020204" pitchFamily="34" charset="-122"/>
              </a:rPr>
              <a:t>MIMO</a:t>
            </a:r>
            <a:r>
              <a:rPr lang="zh-CN" altLang="zh-CN" dirty="0">
                <a:latin typeface="微软雅黑" panose="020B0503020204020204" pitchFamily="34" charset="-122"/>
                <a:ea typeface="微软雅黑" panose="020B0503020204020204" pitchFamily="34" charset="-122"/>
              </a:rPr>
              <a:t>技术以及应用，水下有线光通信系统及应用，以及跨海面无线光通信的技术特点和实验装置的设计案例</a:t>
            </a:r>
            <a:r>
              <a:rPr lang="zh-CN" altLang="en-US"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83253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398712" y="1970314"/>
            <a:ext cx="6334125" cy="3429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spcBef>
                <a:spcPts val="600"/>
              </a:spcBef>
              <a:defRPr/>
            </a:pPr>
            <a:r>
              <a:rPr lang="zh-CN" altLang="en-US" sz="6600" b="1" dirty="0">
                <a:gradFill>
                  <a:gsLst>
                    <a:gs pos="0">
                      <a:srgbClr val="012D86"/>
                    </a:gs>
                    <a:gs pos="100000">
                      <a:srgbClr val="0E2557"/>
                    </a:gs>
                  </a:gsLst>
                  <a:lin scaled="0"/>
                </a:gradFill>
              </a:rPr>
              <a:t>谢 谢！</a:t>
            </a:r>
            <a:br>
              <a:rPr lang="en-US" altLang="zh-CN" dirty="0">
                <a:gradFill>
                  <a:gsLst>
                    <a:gs pos="0">
                      <a:srgbClr val="012D86"/>
                    </a:gs>
                    <a:gs pos="100000">
                      <a:srgbClr val="0E2557"/>
                    </a:gs>
                  </a:gsLst>
                  <a:lin scaled="0"/>
                </a:gradFill>
              </a:rPr>
            </a:br>
            <a:endParaRPr lang="en-US" altLang="zh-CN" dirty="0">
              <a:gradFill>
                <a:gsLst>
                  <a:gs pos="0">
                    <a:srgbClr val="012D86"/>
                  </a:gs>
                  <a:gs pos="100000">
                    <a:srgbClr val="0E2557"/>
                  </a:gs>
                </a:gsLst>
                <a:lin scaled="0"/>
              </a:gra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14</a:t>
            </a:fld>
            <a:endParaRPr kumimoji="1" lang="zh-CN" altLang="en-US"/>
          </a:p>
        </p:txBody>
      </p:sp>
    </p:spTree>
    <p:extLst>
      <p:ext uri="{BB962C8B-B14F-4D97-AF65-F5344CB8AC3E}">
        <p14:creationId xmlns:p14="http://schemas.microsoft.com/office/powerpoint/2010/main" val="167508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93e2680-5c48-4766-8d92-b0cbf666fc85"/>
  <p:tag name="COMMONDATA" val="eyJoZGlkIjoiNjAxMzZkNjFiYzY0ZjVlYTliMzkwNjk3ZmNiNzgzYTAifQ=="/>
</p:tagLst>
</file>

<file path=ppt/tags/tag2.xml><?xml version="1.0" encoding="utf-8"?>
<p:tagLst xmlns:a="http://schemas.openxmlformats.org/drawingml/2006/main" xmlns:r="http://schemas.openxmlformats.org/officeDocument/2006/relationships" xmlns:p="http://schemas.openxmlformats.org/presentationml/2006/main">
  <p:tag name="OP_SCP_ITEM_INDEX" val="4"/>
</p:tagLst>
</file>

<file path=ppt/tags/tag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5.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214"/>
  <p:tag name="OP_SCP_COMPONENT_INFO" val="{&quot;title&quot;:&quot;渐变4项流程PPT组件&quot;,&quot;description&quot;:&quot;渐变4项流程PPT组件&quot;,&quot;keywords&quot;:[&quot;渐变&quot;,&quot;4项&quot;,&quot;流程&quot;,&quot;PPT组件&quot;],&quot;labels&quot;:[]}"/>
  <p:tag name="OP_SCP_GROUP_ID" val="4ca9eeef-6849-fa4d-e332-3e3621188d1e"/>
  <p:tag name="OP_SCP_ITEM_COUNT" val="4"/>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1.xml><?xml version="1.0" encoding="utf-8"?>
<p:tagLst xmlns:a="http://schemas.openxmlformats.org/drawingml/2006/main" xmlns:r="http://schemas.openxmlformats.org/officeDocument/2006/relationships" xmlns:p="http://schemas.openxmlformats.org/presentationml/2006/main">
  <p:tag name="OP_SCP_ITEM_INDEX" val="3"/>
</p:tagLst>
</file>

<file path=ppt/tags/tag1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3.xml><?xml version="1.0" encoding="utf-8"?>
<p:tagLst xmlns:a="http://schemas.openxmlformats.org/drawingml/2006/main" xmlns:r="http://schemas.openxmlformats.org/officeDocument/2006/relationships" xmlns:p="http://schemas.openxmlformats.org/presentationml/2006/main">
  <p:tag name="OP_SCP_ITEM_INDEX" val="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813</TotalTime>
  <Words>1782</Words>
  <Application>Microsoft Office PowerPoint</Application>
  <PresentationFormat>宽屏</PresentationFormat>
  <Paragraphs>123</Paragraphs>
  <Slides>15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等线</vt:lpstr>
      <vt:lpstr>微软雅黑</vt:lpstr>
      <vt:lpstr>Arial</vt:lpstr>
      <vt:lpstr>Calibri</vt:lpstr>
      <vt:lpstr>Wingdings</vt:lpstr>
      <vt:lpstr>Office 主题​​</vt:lpstr>
      <vt:lpstr>PowerPoint 演示文稿</vt:lpstr>
      <vt:lpstr>第1章  概述</vt:lpstr>
      <vt:lpstr>PowerPoint 演示文稿</vt:lpstr>
      <vt:lpstr>1.1.1  海洋光学技术及优势</vt:lpstr>
      <vt:lpstr>1.1.2  海洋光学技术的研究内容</vt:lpstr>
      <vt:lpstr>PowerPoint 演示文稿</vt:lpstr>
      <vt:lpstr>1.2.1  海洋光学技术的发展历程</vt:lpstr>
      <vt:lpstr>1.2.2  海洋光学技术面临的挑战</vt:lpstr>
      <vt:lpstr>1.2.3  海洋光学技术的发展趋势</vt:lpstr>
      <vt:lpstr>1.2.3  海洋光学技术的发展趋势</vt:lpstr>
      <vt:lpstr>PowerPoint 演示文稿</vt:lpstr>
      <vt:lpstr>1.3.1  教材内容设计</vt:lpstr>
      <vt:lpstr>1.3.1  教材内容设计</vt:lpstr>
      <vt:lpstr>1.3.1  教材内容设计</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重大研发项目构想</dc:title>
  <dc:creator>Mengmeng Tong</dc:creator>
  <cp:lastModifiedBy>Zejun Zhang</cp:lastModifiedBy>
  <cp:revision>220</cp:revision>
  <dcterms:created xsi:type="dcterms:W3CDTF">2020-04-09T12:05:00Z</dcterms:created>
  <dcterms:modified xsi:type="dcterms:W3CDTF">2025-07-22T07:14:28Z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8F9FE934C4C443AE81648EDE54C99014_13</vt:lpwstr>
  </property>
</Properties>
</file>