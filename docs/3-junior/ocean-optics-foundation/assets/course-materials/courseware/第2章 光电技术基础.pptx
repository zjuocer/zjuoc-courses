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autoCompressPictures="0">
  <p:sldMasterIdLst>
    <p:sldMasterId id="2147483648" r:id="rId1"/>
  </p:sldMasterIdLst>
  <p:notesMasterIdLst>
    <p:notesMasterId r:id="rId59"/>
  </p:notesMasterIdLst>
  <p:handoutMasterIdLst>
    <p:handoutMasterId r:id="rId60"/>
  </p:handoutMasterIdLst>
  <p:sldIdLst>
    <p:sldId id="256" r:id="rId2"/>
    <p:sldId id="469" r:id="rId3"/>
    <p:sldId id="535" r:id="rId4"/>
    <p:sldId id="599" r:id="rId5"/>
    <p:sldId id="602" r:id="rId6"/>
    <p:sldId id="603" r:id="rId7"/>
    <p:sldId id="555" r:id="rId8"/>
    <p:sldId id="604" r:id="rId9"/>
    <p:sldId id="614" r:id="rId10"/>
    <p:sldId id="615" r:id="rId11"/>
    <p:sldId id="556" r:id="rId12"/>
    <p:sldId id="616" r:id="rId13"/>
    <p:sldId id="617" r:id="rId14"/>
    <p:sldId id="618" r:id="rId15"/>
    <p:sldId id="606" r:id="rId16"/>
    <p:sldId id="607" r:id="rId17"/>
    <p:sldId id="608" r:id="rId18"/>
    <p:sldId id="557" r:id="rId19"/>
    <p:sldId id="620" r:id="rId20"/>
    <p:sldId id="622" r:id="rId21"/>
    <p:sldId id="574" r:id="rId22"/>
    <p:sldId id="623" r:id="rId23"/>
    <p:sldId id="624" r:id="rId24"/>
    <p:sldId id="534" r:id="rId25"/>
    <p:sldId id="592" r:id="rId26"/>
    <p:sldId id="593" r:id="rId27"/>
    <p:sldId id="594" r:id="rId28"/>
    <p:sldId id="595" r:id="rId29"/>
    <p:sldId id="596" r:id="rId30"/>
    <p:sldId id="597" r:id="rId31"/>
    <p:sldId id="598" r:id="rId32"/>
    <p:sldId id="536" r:id="rId33"/>
    <p:sldId id="528" r:id="rId34"/>
    <p:sldId id="570" r:id="rId35"/>
    <p:sldId id="529" r:id="rId36"/>
    <p:sldId id="530" r:id="rId37"/>
    <p:sldId id="531" r:id="rId38"/>
    <p:sldId id="532" r:id="rId39"/>
    <p:sldId id="533" r:id="rId40"/>
    <p:sldId id="571" r:id="rId41"/>
    <p:sldId id="572" r:id="rId42"/>
    <p:sldId id="573" r:id="rId43"/>
    <p:sldId id="575" r:id="rId44"/>
    <p:sldId id="576" r:id="rId45"/>
    <p:sldId id="580" r:id="rId46"/>
    <p:sldId id="581" r:id="rId47"/>
    <p:sldId id="582" r:id="rId48"/>
    <p:sldId id="583" r:id="rId49"/>
    <p:sldId id="584" r:id="rId50"/>
    <p:sldId id="585" r:id="rId51"/>
    <p:sldId id="586" r:id="rId52"/>
    <p:sldId id="587" r:id="rId53"/>
    <p:sldId id="588" r:id="rId54"/>
    <p:sldId id="589" r:id="rId55"/>
    <p:sldId id="590" r:id="rId56"/>
    <p:sldId id="591" r:id="rId57"/>
    <p:sldId id="444" r:id="rId58"/>
  </p:sldIdLst>
  <p:sldSz cx="12192000" cy="6858000"/>
  <p:notesSz cx="6858000" cy="9144000"/>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64"/>
    <p:restoredTop sz="96405"/>
  </p:normalViewPr>
  <p:slideViewPr>
    <p:cSldViewPr snapToGrid="0" snapToObjects="1">
      <p:cViewPr varScale="1">
        <p:scale>
          <a:sx n="113" d="100"/>
          <a:sy n="113" d="100"/>
        </p:scale>
        <p:origin x="30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ags" Target="tags/tag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2025/7/16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F33B5E-520B-8246-BE8A-E34F8EB634A0}" type="datetimeFigureOut">
              <a:rPr kumimoji="1" lang="zh-CN" altLang="en-US" smtClean="0"/>
              <a:t>2025/7/16</a:t>
            </a:fld>
            <a:endParaRPr kumimoji="1" lang="zh-CN" altLang="en-US"/>
          </a:p>
        </p:txBody>
      </p:sp>
      <p:sp>
        <p:nvSpPr>
          <p:cNvPr id="4" name="幻灯片图像占位符 3"/>
          <p:cNvSpPr>
            <a:spLocks noGrp="1" noRot="1" noChangeAspect="1"/>
          </p:cNvSpPr>
          <p:nvPr>
            <p:ph type="sldImg" idx="2"/>
          </p:nvPr>
        </p:nvSpPr>
        <p:spPr>
          <a:xfrm>
            <a:off x="685530" y="1143000"/>
            <a:ext cx="548694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B2570-5314-B54D-B499-4277E266C12B}"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856633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150" y="1122363"/>
            <a:ext cx="91449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150" y="3602038"/>
            <a:ext cx="91449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015BEEF6-EE95-0B42-952B-07A5F0DD5047}" type="datetimeFigureOut">
              <a:rPr kumimoji="1" lang="zh-CN" altLang="en-US" smtClean="0"/>
              <a:t>2025/7/16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1CC0675-18FD-1549-AA90-64430E7AA6D4}" type="slidenum">
              <a:rPr kumimoji="1" lang="zh-CN" altLang="en-US" smtClean="0"/>
              <a:t>‹#›</a:t>
            </a:fld>
            <a:endParaRPr kumimoji="1"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612012" y="363855"/>
            <a:ext cx="6691019" cy="612140"/>
          </a:xfrm>
        </p:spPr>
        <p:txBody>
          <a:bodyPr/>
          <a:lstStyle>
            <a:lvl1pPr>
              <a:defRPr sz="3200">
                <a:latin typeface="微软雅黑" panose="020B0503020204020204" pitchFamily="34" charset="-122"/>
                <a:ea typeface="微软雅黑" panose="020B0503020204020204" pitchFamily="34" charset="-122"/>
              </a:defRPr>
            </a:lvl1pPr>
          </a:lstStyle>
          <a:p>
            <a:r>
              <a:rPr kumimoji="1" lang="zh-CN" altLang="en-US"/>
              <a:t>单击此处编辑母版标题样式</a:t>
            </a:r>
          </a:p>
        </p:txBody>
      </p:sp>
      <p:sp>
        <p:nvSpPr>
          <p:cNvPr id="3" name="内容占位符 2"/>
          <p:cNvSpPr>
            <a:spLocks noGrp="1"/>
          </p:cNvSpPr>
          <p:nvPr>
            <p:ph idx="1" hasCustomPrompt="1"/>
          </p:nvPr>
        </p:nvSpPr>
        <p:spPr/>
        <p:txBody>
          <a:bodyPr/>
          <a:lstStyle>
            <a:lvl1pPr eaLnBrk="1" fontAlgn="auto" latinLnBrk="0" hangingPunct="1">
              <a:lnSpc>
                <a:spcPct val="130000"/>
              </a:lnSpc>
              <a:defRPr sz="2000">
                <a:latin typeface="微软雅黑" panose="020B0503020204020204" pitchFamily="34" charset="-122"/>
                <a:ea typeface="微软雅黑" panose="020B0503020204020204" pitchFamily="34" charset="-122"/>
                <a:cs typeface="微软雅黑" panose="020B0503020204020204" pitchFamily="34" charset="-122"/>
              </a:defRPr>
            </a:lvl1pPr>
          </a:lstStyle>
          <a:p>
            <a:r>
              <a:rPr kumimoji="1" lang="zh-CN" altLang="en-US"/>
              <a:t>编辑母版文本样式
第二级
第三级
第四级
第五级</a:t>
            </a:r>
          </a:p>
        </p:txBody>
      </p:sp>
      <p:sp>
        <p:nvSpPr>
          <p:cNvPr id="4" name="日期占位符 3"/>
          <p:cNvSpPr>
            <a:spLocks noGrp="1"/>
          </p:cNvSpPr>
          <p:nvPr>
            <p:ph type="dt" sz="half" idx="10"/>
          </p:nvPr>
        </p:nvSpPr>
        <p:spPr/>
        <p:txBody>
          <a:bodyPr/>
          <a:lstStyle/>
          <a:p>
            <a:fld id="{015BEEF6-EE95-0B42-952B-07A5F0DD5047}" type="datetimeFigureOut">
              <a:rPr kumimoji="1" lang="zh-CN" altLang="en-US" smtClean="0"/>
              <a:t>2025/7/16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1CC0675-18FD-1549-AA90-64430E7AA6D4}" type="slidenum">
              <a:rPr kumimoji="1" lang="zh-CN" altLang="en-US" smtClean="0"/>
              <a:t>‹#›</a:t>
            </a:fld>
            <a:endParaRPr kumimoji="1" lang="zh-CN" altLang="en-US"/>
          </a:p>
        </p:txBody>
      </p:sp>
      <p:cxnSp>
        <p:nvCxnSpPr>
          <p:cNvPr id="8" name="直线连接符 7"/>
          <p:cNvCxnSpPr/>
          <p:nvPr userDrawn="1"/>
        </p:nvCxnSpPr>
        <p:spPr>
          <a:xfrm>
            <a:off x="0" y="1007859"/>
            <a:ext cx="12193201" cy="0"/>
          </a:xfrm>
          <a:prstGeom prst="line">
            <a:avLst/>
          </a:prstGeom>
          <a:ln w="19050">
            <a:gradFill flip="none" rotWithShape="1">
              <a:gsLst>
                <a:gs pos="0">
                  <a:schemeClr val="bg1">
                    <a:lumMod val="100000"/>
                  </a:schemeClr>
                </a:gs>
                <a:gs pos="23000">
                  <a:schemeClr val="accent2">
                    <a:lumMod val="89000"/>
                  </a:schemeClr>
                </a:gs>
                <a:gs pos="69000">
                  <a:schemeClr val="accent2">
                    <a:lumMod val="75000"/>
                  </a:schemeClr>
                </a:gs>
                <a:gs pos="97000">
                  <a:schemeClr val="accent2">
                    <a:lumMod val="70000"/>
                  </a:schemeClr>
                </a:gs>
              </a:gsLst>
              <a:path path="circle">
                <a:fillToRect l="100000" t="100000"/>
              </a:path>
              <a:tileRect r="-100000" b="-100000"/>
            </a:gradFill>
          </a:ln>
          <a:effectLst>
            <a:outerShdw blurRad="50800" dist="50800" dir="5400000" algn="ctr" rotWithShape="0">
              <a:srgbClr val="000000">
                <a:alpha val="40000"/>
              </a:srgbClr>
            </a:outerShdw>
          </a:effectLst>
        </p:spPr>
        <p:style>
          <a:lnRef idx="1">
            <a:schemeClr val="accent2"/>
          </a:lnRef>
          <a:fillRef idx="0">
            <a:schemeClr val="accent2"/>
          </a:fillRef>
          <a:effectRef idx="0">
            <a:schemeClr val="accent2"/>
          </a:effectRef>
          <a:fontRef idx="minor">
            <a:schemeClr val="tx1"/>
          </a:fontRef>
        </p:style>
      </p:cxnSp>
      <p:pic>
        <p:nvPicPr>
          <p:cNvPr id="20" name="图片 19"/>
          <p:cNvPicPr>
            <a:picLocks noChangeAspect="1"/>
          </p:cNvPicPr>
          <p:nvPr userDrawn="1"/>
        </p:nvPicPr>
        <p:blipFill rotWithShape="1">
          <a:blip r:embed="rId2"/>
          <a:srcRect l="2734" t="6900" r="2468" b="9377"/>
          <a:stretch>
            <a:fillRect/>
          </a:stretch>
        </p:blipFill>
        <p:spPr>
          <a:xfrm>
            <a:off x="9466892" y="42785"/>
            <a:ext cx="2653801" cy="871784"/>
          </a:xfrm>
          <a:prstGeom prst="rect">
            <a:avLst/>
          </a:prstGeom>
        </p:spPr>
      </p:pic>
    </p:spTree>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83" y="365125"/>
            <a:ext cx="10516635"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83" y="1825625"/>
            <a:ext cx="10516635" cy="4351338"/>
          </a:xfrm>
          <a:prstGeom prst="rect">
            <a:avLst/>
          </a:prstGeom>
        </p:spPr>
        <p:txBody>
          <a:bodyPr vert="horz" lIns="91440" tIns="45720" rIns="91440" bIns="45720" rtlCol="0">
            <a:normAutofit/>
          </a:bodyPr>
          <a:lstStyle/>
          <a:p>
            <a:r>
              <a:rPr kumimoji="1" lang="zh-CN" altLang="en-US"/>
              <a:t>编辑母版文本样式
第二级
第三级
第四级
第五级</a:t>
            </a:r>
          </a:p>
        </p:txBody>
      </p:sp>
      <p:sp>
        <p:nvSpPr>
          <p:cNvPr id="4" name="日期占位符 3"/>
          <p:cNvSpPr>
            <a:spLocks noGrp="1"/>
          </p:cNvSpPr>
          <p:nvPr>
            <p:ph type="dt" sz="half" idx="2"/>
          </p:nvPr>
        </p:nvSpPr>
        <p:spPr>
          <a:xfrm>
            <a:off x="838283" y="6356350"/>
            <a:ext cx="274347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5BEEF6-EE95-0B42-952B-07A5F0DD5047}" type="datetimeFigureOut">
              <a:rPr kumimoji="1" lang="zh-CN" altLang="en-US" smtClean="0"/>
              <a:t>2025/7/16</a:t>
            </a:fld>
            <a:endParaRPr kumimoji="1" lang="zh-CN" altLang="en-US"/>
          </a:p>
        </p:txBody>
      </p:sp>
      <p:sp>
        <p:nvSpPr>
          <p:cNvPr id="5" name="页脚占位符 4"/>
          <p:cNvSpPr>
            <a:spLocks noGrp="1"/>
          </p:cNvSpPr>
          <p:nvPr>
            <p:ph type="ftr" sz="quarter" idx="3"/>
          </p:nvPr>
        </p:nvSpPr>
        <p:spPr>
          <a:xfrm>
            <a:off x="4038998" y="6356350"/>
            <a:ext cx="41152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1448" y="6356350"/>
            <a:ext cx="274347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CC0675-18FD-1549-AA90-64430E7AA6D4}"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oleObject" Target="../embeddings/oleObject7.bin"/><Relationship Id="rId4" Type="http://schemas.openxmlformats.org/officeDocument/2006/relationships/image" Target="../media/image10.wmf"/></Relationships>
</file>

<file path=ppt/slides/_rels/slide6.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19.png"/><Relationship Id="rId7" Type="http://schemas.openxmlformats.org/officeDocument/2006/relationships/oleObject" Target="../embeddings/oleObject9.bin"/><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8.bin"/><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0.bin"/><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wmf"/><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17.wmf"/><Relationship Id="rId4"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wmf"/><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oleObject" Target="../embeddings/oleObject14.bin"/><Relationship Id="rId5" Type="http://schemas.openxmlformats.org/officeDocument/2006/relationships/image" Target="../media/image19.wmf"/><Relationship Id="rId4" Type="http://schemas.openxmlformats.org/officeDocument/2006/relationships/oleObject" Target="../embeddings/oleObject13.bin"/></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8.wmf"/><Relationship Id="rId3" Type="http://schemas.openxmlformats.org/officeDocument/2006/relationships/image" Target="../media/image34.png"/><Relationship Id="rId7" Type="http://schemas.openxmlformats.org/officeDocument/2006/relationships/image" Target="../media/image25.wmf"/><Relationship Id="rId12" Type="http://schemas.openxmlformats.org/officeDocument/2006/relationships/oleObject" Target="../embeddings/oleObject19.bin"/><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oleObject" Target="../embeddings/oleObject16.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6.wmf"/></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wmf"/></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image" Target="../media/image35.emf"/></Relationships>
</file>

<file path=ppt/slides/_rels/slide17.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22.bin"/><Relationship Id="rId1" Type="http://schemas.openxmlformats.org/officeDocument/2006/relationships/slideLayout" Target="../slideLayouts/slideLayout2.xml"/><Relationship Id="rId5" Type="http://schemas.openxmlformats.org/officeDocument/2006/relationships/image" Target="../media/image41.wmf"/><Relationship Id="rId4" Type="http://schemas.openxmlformats.org/officeDocument/2006/relationships/oleObject" Target="../embeddings/oleObject23.bin"/></Relationships>
</file>

<file path=ppt/slides/_rels/slide21.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24.bin"/><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46.emf"/><Relationship Id="rId4" Type="http://schemas.openxmlformats.org/officeDocument/2006/relationships/image" Target="../media/image45.emf"/></Relationships>
</file>

<file path=ppt/slides/_rels/slide23.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267232" y="3995018"/>
            <a:ext cx="7660640" cy="1379818"/>
          </a:xfrm>
        </p:spPr>
        <p:txBody>
          <a:bodyPr vert="horz" lIns="91440" tIns="45720" rIns="91440" bIns="45720" rtlCol="0">
            <a:noAutofit/>
          </a:bodyPr>
          <a:lstStyle/>
          <a:p>
            <a:pPr>
              <a:lnSpc>
                <a:spcPct val="120000"/>
              </a:lnSpc>
            </a:pPr>
            <a:r>
              <a:rPr lang="zh-CN" altLang="en-US"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浙江大学</a:t>
            </a:r>
            <a:r>
              <a:rPr lang="en-US" altLang="zh-CN"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海洋学院</a:t>
            </a:r>
          </a:p>
          <a:p>
            <a:pPr>
              <a:lnSpc>
                <a:spcPct val="120000"/>
              </a:lnSpc>
            </a:pPr>
            <a:r>
              <a:rPr lang="zh-CN" altLang="en-US"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王晓萍</a:t>
            </a:r>
            <a:endParaRPr lang="zh-CN" altLang="en-US" sz="32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10125" y="79375"/>
            <a:ext cx="2161857" cy="398780"/>
          </a:xfrm>
          <a:prstGeom prst="rect">
            <a:avLst/>
          </a:prstGeom>
          <a:noFill/>
        </p:spPr>
        <p:txBody>
          <a:bodyPr wrap="square" rtlCol="0">
            <a:spAutoFit/>
          </a:bodyPr>
          <a:lstStyle/>
          <a:p>
            <a:pPr algn="ctr" fontAlgn="auto">
              <a:lnSpc>
                <a:spcPct val="100000"/>
              </a:lnSpc>
            </a:pPr>
            <a:r>
              <a:rPr kumimoji="1" lang="zh-CN" altLang="en-US" sz="20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海洋光学技术</a:t>
            </a:r>
          </a:p>
        </p:txBody>
      </p:sp>
      <p:cxnSp>
        <p:nvCxnSpPr>
          <p:cNvPr id="6" name="直线连接符 5"/>
          <p:cNvCxnSpPr/>
          <p:nvPr/>
        </p:nvCxnSpPr>
        <p:spPr>
          <a:xfrm>
            <a:off x="-25257" y="3391013"/>
            <a:ext cx="12192000" cy="0"/>
          </a:xfrm>
          <a:prstGeom prst="line">
            <a:avLst/>
          </a:prstGeom>
          <a:ln w="127000">
            <a:gradFill flip="none" rotWithShape="1">
              <a:gsLst>
                <a:gs pos="0">
                  <a:schemeClr val="bg1"/>
                </a:gs>
                <a:gs pos="23000">
                  <a:schemeClr val="accent2">
                    <a:lumMod val="89000"/>
                  </a:schemeClr>
                </a:gs>
                <a:gs pos="69000">
                  <a:schemeClr val="accent2">
                    <a:lumMod val="75000"/>
                  </a:schemeClr>
                </a:gs>
                <a:gs pos="97000">
                  <a:schemeClr val="accent2">
                    <a:lumMod val="70000"/>
                  </a:schemeClr>
                </a:gs>
              </a:gsLst>
              <a:path path="circle">
                <a:fillToRect l="100000" t="100000"/>
              </a:path>
              <a:tileRect r="-100000" b="-100000"/>
            </a:gradFill>
          </a:ln>
          <a:effectLst>
            <a:outerShdw blurRad="50800" dist="50800" dir="5400000" algn="ctr" rotWithShape="0">
              <a:srgbClr val="000000">
                <a:alpha val="40000"/>
              </a:srgbClr>
            </a:outerShdw>
          </a:effectLst>
        </p:spPr>
        <p:style>
          <a:lnRef idx="1">
            <a:schemeClr val="accent2"/>
          </a:lnRef>
          <a:fillRef idx="0">
            <a:schemeClr val="accent2"/>
          </a:fillRef>
          <a:effectRef idx="0">
            <a:schemeClr val="accent2"/>
          </a:effectRef>
          <a:fontRef idx="minor">
            <a:schemeClr val="tx1"/>
          </a:fontRef>
        </p:style>
      </p:cxnSp>
      <p:pic>
        <p:nvPicPr>
          <p:cNvPr id="7" name="图片 6"/>
          <p:cNvPicPr>
            <a:picLocks noChangeAspect="1"/>
          </p:cNvPicPr>
          <p:nvPr/>
        </p:nvPicPr>
        <p:blipFill>
          <a:blip r:embed="rId2"/>
          <a:stretch>
            <a:fillRect/>
          </a:stretch>
        </p:blipFill>
        <p:spPr>
          <a:xfrm>
            <a:off x="8936138" y="37509"/>
            <a:ext cx="3256276" cy="1211335"/>
          </a:xfrm>
          <a:prstGeom prst="rect">
            <a:avLst/>
          </a:prstGeom>
        </p:spPr>
      </p:pic>
      <p:sp>
        <p:nvSpPr>
          <p:cNvPr id="2" name="文本框 1"/>
          <p:cNvSpPr txBox="1"/>
          <p:nvPr/>
        </p:nvSpPr>
        <p:spPr>
          <a:xfrm>
            <a:off x="965616" y="2269028"/>
            <a:ext cx="10399395" cy="706755"/>
          </a:xfrm>
          <a:prstGeom prst="rect">
            <a:avLst/>
          </a:prstGeom>
          <a:noFill/>
        </p:spPr>
        <p:txBody>
          <a:bodyPr wrap="square" rtlCol="0">
            <a:spAutoFit/>
          </a:bodyPr>
          <a:lstStyle/>
          <a:p>
            <a:pPr algn="ctr" fontAlgn="auto">
              <a:lnSpc>
                <a:spcPct val="100000"/>
              </a:lnSpc>
            </a:pPr>
            <a:r>
              <a:rPr kumimoji="1" lang="zh-CN" altLang="en-US"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第</a:t>
            </a:r>
            <a:r>
              <a:rPr kumimoji="1" lang="en-US" altLang="zh-CN"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2</a:t>
            </a:r>
            <a:r>
              <a:rPr kumimoji="1" lang="zh-CN" altLang="en-US"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章</a:t>
            </a:r>
            <a:r>
              <a:rPr kumimoji="1" lang="en-US" altLang="zh-CN"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  </a:t>
            </a:r>
            <a:r>
              <a:rPr kumimoji="1" lang="zh-CN" altLang="en-US"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光的特性及光电系统基础</a:t>
            </a:r>
            <a:r>
              <a:rPr kumimoji="1" lang="en-US" altLang="zh-CN"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  </a:t>
            </a:r>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974" y="5382493"/>
            <a:ext cx="1543050" cy="14755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zh-CN" altLang="en-US" b="1" dirty="0">
                <a:solidFill>
                  <a:srgbClr val="002060"/>
                </a:solidFill>
              </a:rPr>
              <a:t>第</a:t>
            </a:r>
            <a:r>
              <a:rPr lang="en-US" altLang="zh-CN" b="1" dirty="0">
                <a:solidFill>
                  <a:srgbClr val="002060"/>
                </a:solidFill>
              </a:rPr>
              <a:t>2</a:t>
            </a:r>
            <a:r>
              <a:rPr lang="zh-CN" altLang="en-US" b="1" dirty="0">
                <a:solidFill>
                  <a:srgbClr val="002060"/>
                </a:solidFill>
              </a:rPr>
              <a:t>章</a:t>
            </a:r>
            <a:r>
              <a:rPr lang="en-US" altLang="zh-CN" b="1" dirty="0">
                <a:solidFill>
                  <a:srgbClr val="002060"/>
                </a:solidFill>
              </a:rPr>
              <a:t>  </a:t>
            </a:r>
            <a:r>
              <a:rPr lang="zh-CN" altLang="en-US" b="1" dirty="0">
                <a:solidFill>
                  <a:srgbClr val="002060"/>
                </a:solidFill>
              </a:rPr>
              <a:t>概述</a:t>
            </a:r>
          </a:p>
        </p:txBody>
      </p:sp>
      <p:sp>
        <p:nvSpPr>
          <p:cNvPr id="5" name="文本框 4"/>
          <p:cNvSpPr txBox="1"/>
          <p:nvPr/>
        </p:nvSpPr>
        <p:spPr>
          <a:xfrm>
            <a:off x="845785" y="1548130"/>
            <a:ext cx="10433685" cy="2399665"/>
          </a:xfrm>
          <a:prstGeom prst="rect">
            <a:avLst/>
          </a:prstGeom>
        </p:spPr>
        <p:txBody>
          <a:bodyPr wrap="square">
            <a:spAutoFit/>
          </a:bodyPr>
          <a:lstStyle/>
          <a:p>
            <a:pPr marL="0" indent="304800" algn="just" defTabSz="266700">
              <a:lnSpc>
                <a:spcPct val="150000"/>
              </a:lnSpc>
              <a:spcBef>
                <a:spcPts val="400"/>
              </a:spcBef>
            </a:pPr>
            <a:r>
              <a:rPr lang="en-US" altLang="zh-CN" sz="2000">
                <a:latin typeface="微软雅黑" panose="020B0503020204020204" pitchFamily="34" charset="-122"/>
                <a:ea typeface="微软雅黑" panose="020B0503020204020204" pitchFamily="34" charset="-122"/>
                <a:cs typeface="微软雅黑" panose="020B0503020204020204" pitchFamily="34" charset="-122"/>
              </a:rPr>
              <a:t>   </a:t>
            </a:r>
            <a:r>
              <a:rPr sz="2000">
                <a:latin typeface="微软雅黑" panose="020B0503020204020204" pitchFamily="34" charset="-122"/>
                <a:ea typeface="微软雅黑" panose="020B0503020204020204" pitchFamily="34" charset="-122"/>
                <a:cs typeface="微软雅黑" panose="020B0503020204020204" pitchFamily="34" charset="-122"/>
              </a:rPr>
              <a:t>光的特性是指光作为一种电磁波，在传播以及与物质相互作用时表现出来的一系列光学性质，这些特性是理解和应用光学原理、设计光学传感器和光电检测系统的基础。海水是一个复杂多变的体系，海水自身的光学特性以及光在水体中的传输特性，对海洋光学技术的应用带来极大挑战。此外，海洋光学技术的应用实践离不开光源与探测器这两类核心器件，了解这些光电器件是后续学习各种海洋光学技术、设计光电系统的重要基础。</a:t>
            </a:r>
          </a:p>
        </p:txBody>
      </p:sp>
      <p:sp>
        <p:nvSpPr>
          <p:cNvPr id="7" name="文本框 6"/>
          <p:cNvSpPr txBox="1"/>
          <p:nvPr/>
        </p:nvSpPr>
        <p:spPr>
          <a:xfrm>
            <a:off x="975325" y="4405630"/>
            <a:ext cx="10176510" cy="1322070"/>
          </a:xfrm>
          <a:prstGeom prst="rect">
            <a:avLst/>
          </a:prstGeom>
          <a:noFill/>
        </p:spPr>
        <p:txBody>
          <a:bodyPr wrap="square" rtlCol="0" anchor="t">
            <a:spAutoFit/>
          </a:bodyPr>
          <a:lstStyle/>
          <a:p>
            <a:pPr algn="l">
              <a:lnSpc>
                <a:spcPct val="200000"/>
              </a:lnSpc>
              <a:buClrTx/>
              <a:buSzTx/>
              <a:buFontTx/>
            </a:pPr>
            <a:r>
              <a:rPr lang="zh-CN" altLang="en-US" sz="2000" b="1" dirty="0">
                <a:solidFill>
                  <a:srgbClr val="C00000"/>
                </a:solidFill>
                <a:latin typeface="微软雅黑" panose="020B0503020204020204" pitchFamily="34" charset="-122"/>
                <a:ea typeface="微软雅黑" panose="020B0503020204020204" pitchFamily="34" charset="-122"/>
                <a:sym typeface="+mn-ea"/>
              </a:rPr>
              <a:t>本章共有</a:t>
            </a:r>
            <a:r>
              <a:rPr lang="en-US" altLang="zh-CN" sz="2000" b="1" dirty="0">
                <a:solidFill>
                  <a:srgbClr val="C00000"/>
                </a:solidFill>
                <a:latin typeface="微软雅黑" panose="020B0503020204020204" pitchFamily="34" charset="-122"/>
                <a:ea typeface="微软雅黑" panose="020B0503020204020204" pitchFamily="34" charset="-122"/>
                <a:sym typeface="+mn-ea"/>
              </a:rPr>
              <a:t>3</a:t>
            </a:r>
            <a:r>
              <a:rPr lang="zh-CN" altLang="en-US" sz="2000" b="1" dirty="0">
                <a:solidFill>
                  <a:srgbClr val="C00000"/>
                </a:solidFill>
                <a:latin typeface="微软雅黑" panose="020B0503020204020204" pitchFamily="34" charset="-122"/>
                <a:ea typeface="微软雅黑" panose="020B0503020204020204" pitchFamily="34" charset="-122"/>
                <a:sym typeface="+mn-ea"/>
              </a:rPr>
              <a:t>个教学单元：</a:t>
            </a:r>
            <a:r>
              <a:rPr lang="zh-CN" altLang="en-US" sz="2000" b="1" dirty="0">
                <a:solidFill>
                  <a:srgbClr val="002060"/>
                </a:solidFill>
                <a:latin typeface="微软雅黑" panose="020B0503020204020204" pitchFamily="34" charset="-122"/>
                <a:ea typeface="微软雅黑" panose="020B0503020204020204" pitchFamily="34" charset="-122"/>
                <a:sym typeface="+mn-ea"/>
              </a:rPr>
              <a:t>光及其基本特性；海水及其光学特性；光电系统基础</a:t>
            </a:r>
          </a:p>
          <a:p>
            <a:pPr>
              <a:lnSpc>
                <a:spcPct val="200000"/>
              </a:lnSpc>
            </a:pPr>
            <a:endParaRPr lang="zh-CN" altLang="en-US" sz="2000" b="1" dirty="0">
              <a:latin typeface="微软雅黑" panose="020B0503020204020204" pitchFamily="34" charset="-122"/>
              <a:ea typeface="微软雅黑" panose="020B0503020204020204" pitchFamily="34" charset="-122"/>
              <a:sym typeface="+mn-ea"/>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t>1</a:t>
            </a:fld>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282327" y="278793"/>
            <a:ext cx="10399395" cy="645160"/>
          </a:xfrm>
          <a:prstGeom prst="rect">
            <a:avLst/>
          </a:prstGeom>
          <a:noFill/>
        </p:spPr>
        <p:txBody>
          <a:bodyPr wrap="square" rtlCol="0">
            <a:spAutoFit/>
          </a:bodyPr>
          <a:lstStyle/>
          <a:p>
            <a:pPr algn="ctr" fontAlgn="auto">
              <a:lnSpc>
                <a:spcPct val="100000"/>
              </a:lnSpc>
            </a:pPr>
            <a:r>
              <a:rPr kumimoji="1" lang="zh-CN" altLang="en-US" sz="3600" b="1" dirty="0">
                <a:latin typeface="微软雅黑" panose="020B0503020204020204" pitchFamily="34" charset="-122"/>
                <a:ea typeface="微软雅黑" panose="020B0503020204020204" pitchFamily="34" charset="-122"/>
              </a:rPr>
              <a:t>教学单元</a:t>
            </a:r>
            <a:endParaRPr kumimoji="1" lang="en-US" altLang="zh-CN" sz="36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233124" y="1729246"/>
            <a:ext cx="6508376" cy="4030980"/>
          </a:xfrm>
          <a:prstGeom prst="rect">
            <a:avLst/>
          </a:prstGeom>
          <a:noFill/>
        </p:spPr>
        <p:txBody>
          <a:bodyPr wrap="square" rtlCol="0">
            <a:spAutoFit/>
          </a:bodyPr>
          <a:lstStyle/>
          <a:p>
            <a:pPr>
              <a:lnSpc>
                <a:spcPct val="200000"/>
              </a:lnSpc>
            </a:pPr>
            <a:r>
              <a:rPr lang="en-US" altLang="zh-CN" sz="3200" b="1" dirty="0">
                <a:solidFill>
                  <a:srgbClr val="C00000"/>
                </a:solidFill>
                <a:latin typeface="微软雅黑" panose="020B0503020204020204" pitchFamily="34" charset="-122"/>
                <a:ea typeface="微软雅黑" panose="020B0503020204020204" pitchFamily="34" charset="-122"/>
              </a:rPr>
              <a:t>2.1  </a:t>
            </a:r>
            <a:r>
              <a:rPr lang="zh-CN" altLang="en-US" sz="3200" b="1" dirty="0">
                <a:solidFill>
                  <a:srgbClr val="C00000"/>
                </a:solidFill>
                <a:latin typeface="微软雅黑" panose="020B0503020204020204" pitchFamily="34" charset="-122"/>
                <a:ea typeface="微软雅黑" panose="020B0503020204020204" pitchFamily="34" charset="-122"/>
                <a:sym typeface="+mn-ea"/>
              </a:rPr>
              <a:t>光及其基本特性</a:t>
            </a:r>
            <a:endParaRPr lang="en-US" altLang="zh-CN" sz="3200" b="1" dirty="0">
              <a:solidFill>
                <a:srgbClr val="002060"/>
              </a:solidFill>
              <a:latin typeface="微软雅黑" panose="020B0503020204020204" pitchFamily="34" charset="-122"/>
              <a:ea typeface="微软雅黑" panose="020B0503020204020204" pitchFamily="34" charset="-122"/>
            </a:endParaRPr>
          </a:p>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2.2  </a:t>
            </a:r>
            <a:r>
              <a:rPr lang="zh-CN" altLang="en-US" sz="3200" b="1" dirty="0">
                <a:solidFill>
                  <a:srgbClr val="002060"/>
                </a:solidFill>
                <a:latin typeface="微软雅黑" panose="020B0503020204020204" pitchFamily="34" charset="-122"/>
                <a:ea typeface="微软雅黑" panose="020B0503020204020204" pitchFamily="34" charset="-122"/>
                <a:sym typeface="+mn-ea"/>
              </a:rPr>
              <a:t>海水及其光学特性</a:t>
            </a:r>
            <a:endParaRPr lang="en-US" altLang="zh-CN" sz="3200" b="1" dirty="0">
              <a:solidFill>
                <a:srgbClr val="002060"/>
              </a:solidFill>
              <a:latin typeface="微软雅黑" panose="020B0503020204020204" pitchFamily="34" charset="-122"/>
              <a:ea typeface="微软雅黑" panose="020B0503020204020204" pitchFamily="34" charset="-122"/>
            </a:endParaRPr>
          </a:p>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2.3  </a:t>
            </a:r>
            <a:r>
              <a:rPr lang="zh-CN" altLang="en-US" sz="3200" b="1" dirty="0">
                <a:solidFill>
                  <a:srgbClr val="002060"/>
                </a:solidFill>
                <a:latin typeface="微软雅黑" panose="020B0503020204020204" pitchFamily="34" charset="-122"/>
                <a:ea typeface="微软雅黑" panose="020B0503020204020204" pitchFamily="34" charset="-122"/>
                <a:sym typeface="+mn-ea"/>
              </a:rPr>
              <a:t>光电系统基础</a:t>
            </a:r>
            <a:endParaRPr lang="en-US" altLang="zh-CN" sz="3200" b="1" dirty="0">
              <a:solidFill>
                <a:srgbClr val="002060"/>
              </a:solidFill>
              <a:latin typeface="微软雅黑" panose="020B0503020204020204" pitchFamily="34" charset="-122"/>
              <a:ea typeface="微软雅黑" panose="020B0503020204020204" pitchFamily="34" charset="-122"/>
            </a:endParaRPr>
          </a:p>
          <a:p>
            <a:pPr>
              <a:lnSpc>
                <a:spcPct val="200000"/>
              </a:lnSpc>
            </a:pPr>
            <a:endParaRPr lang="zh-CN" altLang="en-US" sz="3200" b="1" dirty="0">
              <a:solidFill>
                <a:srgbClr val="002060"/>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1CC0675-18FD-1549-AA90-64430E7AA6D4}" type="slidenum">
              <a:rPr kumimoji="1" lang="zh-CN" altLang="en-US" smtClean="0"/>
              <a:t>2</a:t>
            </a:fld>
            <a:endParaRPr kumimoji="1"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2.1.1  </a:t>
            </a:r>
            <a:r>
              <a:rPr lang="zh-CN" altLang="en-US" b="1" dirty="0">
                <a:solidFill>
                  <a:srgbClr val="002060"/>
                </a:solidFill>
              </a:rPr>
              <a:t>光的电磁理论基础</a:t>
            </a:r>
            <a:endParaRPr lang="en-US" altLang="zh-CN" b="1" dirty="0">
              <a:solidFill>
                <a:srgbClr val="002060"/>
              </a:solidFill>
            </a:endParaRPr>
          </a:p>
        </p:txBody>
      </p:sp>
      <p:sp>
        <p:nvSpPr>
          <p:cNvPr id="2" name="矩形 1"/>
          <p:cNvSpPr/>
          <p:nvPr/>
        </p:nvSpPr>
        <p:spPr>
          <a:xfrm>
            <a:off x="883" y="6465020"/>
            <a:ext cx="20135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2.1  </a:t>
            </a:r>
            <a:r>
              <a:rPr lang="zh-CN" altLang="en-US" sz="1600" dirty="0">
                <a:solidFill>
                  <a:srgbClr val="002060"/>
                </a:solidFill>
                <a:latin typeface="微软雅黑" panose="020B0503020204020204" pitchFamily="34" charset="-122"/>
                <a:ea typeface="微软雅黑" panose="020B0503020204020204" pitchFamily="34" charset="-122"/>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00000"/>
              </a:lnSpc>
              <a:spcBef>
                <a:spcPts val="0"/>
              </a:spcBef>
              <a:buClrTx/>
              <a:buSzTx/>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en-US" altLang="zh-CN" sz="1600">
                <a:latin typeface="微软雅黑" panose="020B0503020204020204" pitchFamily="34" charset="-122"/>
                <a:ea typeface="微软雅黑" panose="020B0503020204020204" pitchFamily="34" charset="-122"/>
              </a:rPr>
              <a:t> </a:t>
            </a: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3</a:t>
            </a:fld>
            <a:endParaRPr kumimoji="1" lang="zh-CN" altLang="en-US"/>
          </a:p>
        </p:txBody>
      </p:sp>
      <p:pic>
        <p:nvPicPr>
          <p:cNvPr id="15" name="图片 15"/>
          <p:cNvPicPr>
            <a:picLocks noChangeAspect="1"/>
          </p:cNvPicPr>
          <p:nvPr/>
        </p:nvPicPr>
        <p:blipFill>
          <a:blip r:embed="rId2" cstate="print">
            <a:extLst>
              <a:ext uri="{28A0092B-C50C-407E-A947-70E740481C1C}">
                <a14:useLocalDpi xmlns:a14="http://schemas.microsoft.com/office/drawing/2010/main" val="0"/>
              </a:ext>
            </a:extLst>
          </a:blip>
          <a:srcRect l="16487" t="3593" r="10973" b="16023"/>
          <a:stretch>
            <a:fillRect/>
          </a:stretch>
        </p:blipFill>
        <p:spPr>
          <a:xfrm>
            <a:off x="7626459" y="2754912"/>
            <a:ext cx="4324350" cy="2696210"/>
          </a:xfrm>
          <a:prstGeom prst="rect">
            <a:avLst/>
          </a:prstGeom>
          <a:ln>
            <a:noFill/>
          </a:ln>
        </p:spPr>
      </p:pic>
      <p:sp>
        <p:nvSpPr>
          <p:cNvPr id="7" name="文本框 6"/>
          <p:cNvSpPr txBox="1"/>
          <p:nvPr/>
        </p:nvSpPr>
        <p:spPr>
          <a:xfrm>
            <a:off x="216535" y="1205230"/>
            <a:ext cx="2601595" cy="398780"/>
          </a:xfrm>
          <a:prstGeom prst="rect">
            <a:avLst/>
          </a:prstGeom>
          <a:noFill/>
        </p:spPr>
        <p:txBody>
          <a:bodyPr wrap="square" rtlCol="0">
            <a:spAutoFit/>
          </a:bodyPr>
          <a:lstStyle/>
          <a:p>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1. 麦克斯韦方程组</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400692" y="1586763"/>
            <a:ext cx="11550117" cy="1070754"/>
          </a:xfrm>
          <a:prstGeom prst="rect">
            <a:avLst/>
          </a:prstGeom>
          <a:noFill/>
        </p:spPr>
        <p:txBody>
          <a:bodyPr wrap="square" rtlCol="0" anchor="t">
            <a:noAutofit/>
          </a:bodyPr>
          <a:lstStyle/>
          <a:p>
            <a:pPr indent="457200" algn="just" fontAlgn="auto">
              <a:lnSpc>
                <a:spcPct val="150000"/>
              </a:lnSpc>
            </a:pPr>
            <a:r>
              <a:rPr lang="zh-CN" altLang="en-US" dirty="0">
                <a:latin typeface="微软雅黑" panose="020B0503020204020204" pitchFamily="34" charset="-122"/>
                <a:ea typeface="微软雅黑" panose="020B0503020204020204" pitchFamily="34" charset="-122"/>
              </a:rPr>
              <a:t>光波是一种横波，其</a:t>
            </a:r>
            <a:r>
              <a:rPr lang="zh-CN" altLang="en-US" b="1" dirty="0">
                <a:solidFill>
                  <a:srgbClr val="FF0000"/>
                </a:solidFill>
                <a:latin typeface="微软雅黑" panose="020B0503020204020204" pitchFamily="34" charset="-122"/>
                <a:ea typeface="微软雅黑" panose="020B0503020204020204" pitchFamily="34" charset="-122"/>
              </a:rPr>
              <a:t>电场和磁场相互垂直</a:t>
            </a:r>
            <a:r>
              <a:rPr lang="zh-CN" altLang="en-US" dirty="0">
                <a:latin typeface="微软雅黑" panose="020B0503020204020204" pitchFamily="34" charset="-122"/>
                <a:ea typeface="微软雅黑" panose="020B0503020204020204" pitchFamily="34" charset="-122"/>
              </a:rPr>
              <a:t>，并且都</a:t>
            </a:r>
            <a:r>
              <a:rPr lang="zh-CN" altLang="en-US" b="1" dirty="0">
                <a:solidFill>
                  <a:srgbClr val="FF0000"/>
                </a:solidFill>
                <a:latin typeface="微软雅黑" panose="020B0503020204020204" pitchFamily="34" charset="-122"/>
                <a:ea typeface="微软雅黑" panose="020B0503020204020204" pitchFamily="34" charset="-122"/>
              </a:rPr>
              <a:t>垂直于光的传播方向</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indent="457200" algn="just" fontAlgn="auto">
              <a:lnSpc>
                <a:spcPct val="150000"/>
              </a:lnSpc>
            </a:pPr>
            <a:r>
              <a:rPr lang="zh-CN" altLang="en-US" b="1" dirty="0">
                <a:solidFill>
                  <a:srgbClr val="FF0000"/>
                </a:solidFill>
                <a:latin typeface="微软雅黑" panose="020B0503020204020204" pitchFamily="34" charset="-122"/>
                <a:ea typeface="微软雅黑" panose="020B0503020204020204" pitchFamily="34" charset="-122"/>
              </a:rPr>
              <a:t>麦克斯韦方程组（微分形式）</a:t>
            </a:r>
            <a:r>
              <a:rPr lang="zh-CN" altLang="en-US" dirty="0">
                <a:latin typeface="微软雅黑" panose="020B0503020204020204" pitchFamily="34" charset="-122"/>
                <a:ea typeface="微软雅黑" panose="020B0503020204020204" pitchFamily="34" charset="-122"/>
              </a:rPr>
              <a:t>是描述电磁场中电场（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dirty="0">
                <a:latin typeface="微软雅黑" panose="020B0503020204020204" pitchFamily="34" charset="-122"/>
                <a:ea typeface="微软雅黑" panose="020B0503020204020204" pitchFamily="34" charset="-122"/>
              </a:rPr>
              <a:t>）和磁场（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dirty="0">
                <a:latin typeface="微软雅黑" panose="020B0503020204020204" pitchFamily="34" charset="-122"/>
                <a:ea typeface="微软雅黑" panose="020B0503020204020204" pitchFamily="34" charset="-122"/>
              </a:rPr>
              <a:t>）如何相互作用的核心公式：</a:t>
            </a:r>
            <a:endParaRPr lang="en-US" altLang="zh-CN" dirty="0">
              <a:latin typeface="微软雅黑" panose="020B0503020204020204" pitchFamily="34" charset="-122"/>
              <a:ea typeface="微软雅黑" panose="020B0503020204020204" pitchFamily="34" charset="-122"/>
            </a:endParaRPr>
          </a:p>
          <a:p>
            <a:pPr indent="457200" algn="just" fontAlgn="auto">
              <a:lnSpc>
                <a:spcPct val="150000"/>
              </a:lnSpc>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0" name="对象 9"/>
          <p:cNvGraphicFramePr>
            <a:graphicFrameLocks noChangeAspect="1"/>
          </p:cNvGraphicFramePr>
          <p:nvPr/>
        </p:nvGraphicFramePr>
        <p:xfrm>
          <a:off x="4584699" y="2997203"/>
          <a:ext cx="914400" cy="268288"/>
        </p:xfrm>
        <a:graphic>
          <a:graphicData uri="http://schemas.openxmlformats.org/presentationml/2006/ole">
            <mc:AlternateContent xmlns:mc="http://schemas.openxmlformats.org/markup-compatibility/2006">
              <mc:Choice xmlns:v="urn:schemas-microsoft-com:vml" Requires="v">
                <p:oleObj name="Equation" r:id="rId3" imgW="914400" imgH="267840" progId="Equation.DSMT4">
                  <p:embed/>
                </p:oleObj>
              </mc:Choice>
              <mc:Fallback>
                <p:oleObj name="Equation" r:id="rId3" imgW="914400" imgH="267840" progId="Equation.DSMT4">
                  <p:embed/>
                  <p:pic>
                    <p:nvPicPr>
                      <p:cNvPr id="10" name="对象 9"/>
                      <p:cNvPicPr/>
                      <p:nvPr/>
                    </p:nvPicPr>
                    <p:blipFill>
                      <a:blip r:embed="rId4"/>
                      <a:stretch>
                        <a:fillRect/>
                      </a:stretch>
                    </p:blipFill>
                    <p:spPr>
                      <a:xfrm>
                        <a:off x="4584699" y="2997203"/>
                        <a:ext cx="914400" cy="268288"/>
                      </a:xfrm>
                      <a:prstGeom prst="rect">
                        <a:avLst/>
                      </a:prstGeom>
                    </p:spPr>
                  </p:pic>
                </p:oleObj>
              </mc:Fallback>
            </mc:AlternateContent>
          </a:graphicData>
        </a:graphic>
      </p:graphicFrame>
      <p:sp>
        <p:nvSpPr>
          <p:cNvPr id="12" name="矩形 11"/>
          <p:cNvSpPr/>
          <p:nvPr/>
        </p:nvSpPr>
        <p:spPr>
          <a:xfrm>
            <a:off x="1328640" y="2637980"/>
            <a:ext cx="8134184" cy="369332"/>
          </a:xfrm>
          <a:prstGeom prst="rect">
            <a:avLst/>
          </a:prstGeom>
        </p:spPr>
        <p:txBody>
          <a:bodyPr wrap="square">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法拉第电磁感应定律</a:t>
            </a:r>
            <a:r>
              <a:rPr lang="zh-CN" altLang="en-US" dirty="0">
                <a:latin typeface="微软雅黑" panose="020B0503020204020204" pitchFamily="34" charset="-122"/>
                <a:ea typeface="微软雅黑" panose="020B0503020204020204" pitchFamily="34" charset="-122"/>
              </a:rPr>
              <a:t>：变化的磁场产生涡旋电场。</a:t>
            </a:r>
          </a:p>
        </p:txBody>
      </p:sp>
      <p:sp>
        <p:nvSpPr>
          <p:cNvPr id="16" name="矩形 15"/>
          <p:cNvSpPr/>
          <p:nvPr/>
        </p:nvSpPr>
        <p:spPr>
          <a:xfrm>
            <a:off x="1328640" y="3684315"/>
            <a:ext cx="8134184" cy="369332"/>
          </a:xfrm>
          <a:prstGeom prst="rect">
            <a:avLst/>
          </a:prstGeom>
        </p:spPr>
        <p:txBody>
          <a:bodyPr wrap="square">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安培全电流定律</a:t>
            </a:r>
            <a:r>
              <a:rPr lang="zh-CN" altLang="en-US" dirty="0">
                <a:latin typeface="微软雅黑" panose="020B0503020204020204" pitchFamily="34" charset="-122"/>
                <a:ea typeface="微软雅黑" panose="020B0503020204020204" pitchFamily="34" charset="-122"/>
              </a:rPr>
              <a:t>：电流密度和变化的电场产生涡旋磁场。</a:t>
            </a:r>
          </a:p>
        </p:txBody>
      </p:sp>
      <p:graphicFrame>
        <p:nvGraphicFramePr>
          <p:cNvPr id="23" name="对象 22">
            <a:extLst>
              <a:ext uri="{FF2B5EF4-FFF2-40B4-BE49-F238E27FC236}">
                <a16:creationId xmlns:a16="http://schemas.microsoft.com/office/drawing/2014/main" id="{2C10F1B4-27DE-4933-958D-545903260AAD}"/>
              </a:ext>
            </a:extLst>
          </p:cNvPr>
          <p:cNvGraphicFramePr>
            <a:graphicFrameLocks noChangeAspect="1"/>
          </p:cNvGraphicFramePr>
          <p:nvPr/>
        </p:nvGraphicFramePr>
        <p:xfrm>
          <a:off x="3533774" y="3087691"/>
          <a:ext cx="1333500" cy="609600"/>
        </p:xfrm>
        <a:graphic>
          <a:graphicData uri="http://schemas.openxmlformats.org/presentationml/2006/ole">
            <mc:AlternateContent xmlns:mc="http://schemas.openxmlformats.org/markup-compatibility/2006">
              <mc:Choice xmlns:v="urn:schemas-microsoft-com:vml" Requires="v">
                <p:oleObj name="Equation" r:id="rId5" imgW="1333440" imgH="609480" progId="Equation.DSMT4">
                  <p:embed/>
                </p:oleObj>
              </mc:Choice>
              <mc:Fallback>
                <p:oleObj name="Equation" r:id="rId5" imgW="1333440" imgH="609480" progId="Equation.DSMT4">
                  <p:embed/>
                  <p:pic>
                    <p:nvPicPr>
                      <p:cNvPr id="23" name="对象 22">
                        <a:extLst>
                          <a:ext uri="{FF2B5EF4-FFF2-40B4-BE49-F238E27FC236}">
                            <a16:creationId xmlns:a16="http://schemas.microsoft.com/office/drawing/2014/main" id="{2C10F1B4-27DE-4933-958D-545903260AAD}"/>
                          </a:ext>
                        </a:extLst>
                      </p:cNvPr>
                      <p:cNvPicPr/>
                      <p:nvPr/>
                    </p:nvPicPr>
                    <p:blipFill>
                      <a:blip r:embed="rId6"/>
                      <a:stretch>
                        <a:fillRect/>
                      </a:stretch>
                    </p:blipFill>
                    <p:spPr>
                      <a:xfrm>
                        <a:off x="3533774" y="3087691"/>
                        <a:ext cx="1333500" cy="609600"/>
                      </a:xfrm>
                      <a:prstGeom prst="rect">
                        <a:avLst/>
                      </a:prstGeom>
                    </p:spPr>
                  </p:pic>
                </p:oleObj>
              </mc:Fallback>
            </mc:AlternateContent>
          </a:graphicData>
        </a:graphic>
      </p:graphicFrame>
      <p:sp>
        <p:nvSpPr>
          <p:cNvPr id="24" name="矩形 23"/>
          <p:cNvSpPr/>
          <p:nvPr/>
        </p:nvSpPr>
        <p:spPr>
          <a:xfrm>
            <a:off x="1328640" y="4730650"/>
            <a:ext cx="8134184" cy="369332"/>
          </a:xfrm>
          <a:prstGeom prst="rect">
            <a:avLst/>
          </a:prstGeom>
        </p:spPr>
        <p:txBody>
          <a:bodyPr wrap="square">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电场高斯定律</a:t>
            </a:r>
            <a:r>
              <a:rPr lang="zh-CN" altLang="en-US" dirty="0">
                <a:latin typeface="微软雅黑" panose="020B0503020204020204" pitchFamily="34" charset="-122"/>
                <a:ea typeface="微软雅黑" panose="020B0503020204020204" pitchFamily="34" charset="-122"/>
              </a:rPr>
              <a:t>：说明电场是有源的，可以由电荷产生。</a:t>
            </a:r>
          </a:p>
        </p:txBody>
      </p:sp>
      <p:sp>
        <p:nvSpPr>
          <p:cNvPr id="25" name="矩形 24"/>
          <p:cNvSpPr/>
          <p:nvPr/>
        </p:nvSpPr>
        <p:spPr>
          <a:xfrm>
            <a:off x="1328640" y="5625073"/>
            <a:ext cx="8134184" cy="369332"/>
          </a:xfrm>
          <a:prstGeom prst="rect">
            <a:avLst/>
          </a:prstGeom>
        </p:spPr>
        <p:txBody>
          <a:bodyPr wrap="square">
            <a:spAutoFit/>
          </a:bodyPr>
          <a:lstStyle/>
          <a:p>
            <a:r>
              <a:rPr lang="zh-CN" altLang="en-US" b="1" dirty="0">
                <a:solidFill>
                  <a:schemeClr val="accent1"/>
                </a:solidFill>
                <a:latin typeface="微软雅黑" panose="020B0503020204020204" pitchFamily="34" charset="-122"/>
                <a:ea typeface="微软雅黑" panose="020B0503020204020204" pitchFamily="34" charset="-122"/>
              </a:rPr>
              <a:t>磁通连续定律</a:t>
            </a:r>
            <a:r>
              <a:rPr lang="zh-CN" altLang="en-US" dirty="0">
                <a:latin typeface="微软雅黑" panose="020B0503020204020204" pitchFamily="34" charset="-122"/>
                <a:ea typeface="微软雅黑" panose="020B0503020204020204" pitchFamily="34" charset="-122"/>
              </a:rPr>
              <a:t>：磁场没有源，磁通量穿过任何闭合面为零。</a:t>
            </a:r>
          </a:p>
        </p:txBody>
      </p:sp>
      <p:graphicFrame>
        <p:nvGraphicFramePr>
          <p:cNvPr id="27" name="对象 26"/>
          <p:cNvGraphicFramePr>
            <a:graphicFrameLocks noChangeAspect="1"/>
          </p:cNvGraphicFramePr>
          <p:nvPr/>
        </p:nvGraphicFramePr>
        <p:xfrm>
          <a:off x="3425824" y="4087816"/>
          <a:ext cx="1549400" cy="609600"/>
        </p:xfrm>
        <a:graphic>
          <a:graphicData uri="http://schemas.openxmlformats.org/presentationml/2006/ole">
            <mc:AlternateContent xmlns:mc="http://schemas.openxmlformats.org/markup-compatibility/2006">
              <mc:Choice xmlns:v="urn:schemas-microsoft-com:vml" Requires="v">
                <p:oleObj name="Equation" r:id="rId7" imgW="1549080" imgH="609480" progId="Equation.DSMT4">
                  <p:embed/>
                </p:oleObj>
              </mc:Choice>
              <mc:Fallback>
                <p:oleObj name="Equation" r:id="rId7" imgW="1549080" imgH="609480" progId="Equation.DSMT4">
                  <p:embed/>
                  <p:pic>
                    <p:nvPicPr>
                      <p:cNvPr id="27" name="对象 26"/>
                      <p:cNvPicPr/>
                      <p:nvPr/>
                    </p:nvPicPr>
                    <p:blipFill>
                      <a:blip r:embed="rId8"/>
                      <a:stretch>
                        <a:fillRect/>
                      </a:stretch>
                    </p:blipFill>
                    <p:spPr>
                      <a:xfrm>
                        <a:off x="3425824" y="4087816"/>
                        <a:ext cx="1549400" cy="60960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3717924" y="5235578"/>
          <a:ext cx="965200" cy="292100"/>
        </p:xfrm>
        <a:graphic>
          <a:graphicData uri="http://schemas.openxmlformats.org/presentationml/2006/ole">
            <mc:AlternateContent xmlns:mc="http://schemas.openxmlformats.org/markup-compatibility/2006">
              <mc:Choice xmlns:v="urn:schemas-microsoft-com:vml" Requires="v">
                <p:oleObj name="Equation" r:id="rId9" imgW="965160" imgH="291960" progId="Equation.DSMT4">
                  <p:embed/>
                </p:oleObj>
              </mc:Choice>
              <mc:Fallback>
                <p:oleObj name="Equation" r:id="rId9" imgW="965160" imgH="291960" progId="Equation.DSMT4">
                  <p:embed/>
                  <p:pic>
                    <p:nvPicPr>
                      <p:cNvPr id="28" name="对象 27"/>
                      <p:cNvPicPr/>
                      <p:nvPr/>
                    </p:nvPicPr>
                    <p:blipFill>
                      <a:blip r:embed="rId10"/>
                      <a:stretch>
                        <a:fillRect/>
                      </a:stretch>
                    </p:blipFill>
                    <p:spPr>
                      <a:xfrm>
                        <a:off x="3717924" y="5235578"/>
                        <a:ext cx="965200" cy="292100"/>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3724274" y="6091241"/>
          <a:ext cx="952500" cy="292100"/>
        </p:xfrm>
        <a:graphic>
          <a:graphicData uri="http://schemas.openxmlformats.org/presentationml/2006/ole">
            <mc:AlternateContent xmlns:mc="http://schemas.openxmlformats.org/markup-compatibility/2006">
              <mc:Choice xmlns:v="urn:schemas-microsoft-com:vml" Requires="v">
                <p:oleObj name="Equation" r:id="rId11" imgW="952200" imgH="291960" progId="Equation.DSMT4">
                  <p:embed/>
                </p:oleObj>
              </mc:Choice>
              <mc:Fallback>
                <p:oleObj name="Equation" r:id="rId11" imgW="952200" imgH="291960" progId="Equation.DSMT4">
                  <p:embed/>
                  <p:pic>
                    <p:nvPicPr>
                      <p:cNvPr id="29" name="对象 28"/>
                      <p:cNvPicPr/>
                      <p:nvPr/>
                    </p:nvPicPr>
                    <p:blipFill>
                      <a:blip r:embed="rId12"/>
                      <a:stretch>
                        <a:fillRect/>
                      </a:stretch>
                    </p:blipFill>
                    <p:spPr>
                      <a:xfrm>
                        <a:off x="3724274" y="6091241"/>
                        <a:ext cx="952500" cy="292100"/>
                      </a:xfrm>
                      <a:prstGeom prst="rect">
                        <a:avLst/>
                      </a:prstGeom>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2.1.1  </a:t>
            </a:r>
            <a:r>
              <a:rPr lang="zh-CN" altLang="en-US" b="1" dirty="0">
                <a:solidFill>
                  <a:srgbClr val="002060"/>
                </a:solidFill>
              </a:rPr>
              <a:t>光的电磁理论基础</a:t>
            </a:r>
            <a:endParaRPr lang="en-US" altLang="zh-CN" b="1" dirty="0">
              <a:solidFill>
                <a:srgbClr val="002060"/>
              </a:solidFill>
            </a:endParaRPr>
          </a:p>
        </p:txBody>
      </p:sp>
      <p:sp>
        <p:nvSpPr>
          <p:cNvPr id="2" name="矩形 1"/>
          <p:cNvSpPr/>
          <p:nvPr/>
        </p:nvSpPr>
        <p:spPr>
          <a:xfrm>
            <a:off x="883" y="6465020"/>
            <a:ext cx="20135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2.1  </a:t>
            </a:r>
            <a:r>
              <a:rPr lang="zh-CN" altLang="en-US" sz="1600" dirty="0">
                <a:solidFill>
                  <a:srgbClr val="002060"/>
                </a:solidFill>
                <a:latin typeface="微软雅黑" panose="020B0503020204020204" pitchFamily="34" charset="-122"/>
                <a:ea typeface="微软雅黑" panose="020B0503020204020204" pitchFamily="34" charset="-122"/>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00000"/>
              </a:lnSpc>
              <a:spcBef>
                <a:spcPts val="0"/>
              </a:spcBef>
              <a:buClrTx/>
              <a:buSzTx/>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en-US" altLang="zh-CN" sz="1600">
                <a:latin typeface="微软雅黑" panose="020B0503020204020204" pitchFamily="34" charset="-122"/>
                <a:ea typeface="微软雅黑" panose="020B0503020204020204" pitchFamily="34" charset="-122"/>
              </a:rPr>
              <a:t> </a:t>
            </a: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a:t>
            </a:fld>
            <a:endParaRPr kumimoji="1" lang="zh-CN" altLang="en-US"/>
          </a:p>
        </p:txBody>
      </p:sp>
      <p:sp>
        <p:nvSpPr>
          <p:cNvPr id="7" name="文本框 6"/>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光波的一般表示方法</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413384" y="1728583"/>
            <a:ext cx="11189336" cy="1068070"/>
          </a:xfrm>
          <a:prstGeom prst="rect">
            <a:avLst/>
          </a:prstGeom>
          <a:noFill/>
        </p:spPr>
        <p:txBody>
          <a:bodyPr wrap="square" rtlCol="0" anchor="t">
            <a:noAutofit/>
          </a:bodyPr>
          <a:lstStyle/>
          <a:p>
            <a:pPr marL="285750" indent="-285750" algn="just" fontAlgn="auto">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光作为一种横波，</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其振动方向和传播方向相互垂直。</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可以由麦克斯韦方程可推导出关于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H</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的波动方程。</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假设介质中的</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电流密度</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J=0</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，包含</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E</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的波动方程为</a:t>
            </a:r>
          </a:p>
        </p:txBody>
      </p:sp>
      <p:sp>
        <p:nvSpPr>
          <p:cNvPr id="14" name="文本框 13"/>
          <p:cNvSpPr txBox="1"/>
          <p:nvPr/>
        </p:nvSpPr>
        <p:spPr>
          <a:xfrm>
            <a:off x="420723" y="3383318"/>
            <a:ext cx="10530629" cy="1221855"/>
          </a:xfrm>
          <a:prstGeom prst="rect">
            <a:avLst/>
          </a:prstGeom>
          <a:noFill/>
        </p:spPr>
        <p:txBody>
          <a:bodyPr wrap="square" rtlCol="0" anchor="t">
            <a:noAutofit/>
          </a:bodyPr>
          <a:lstStyle/>
          <a:p>
            <a:pPr marL="285750" indent="-285750" algn="just" fontAlgn="auto">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对于简单的一维光波，先假设光的</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传播方向为</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z</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方向</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，则</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光波随时空变化的周期振动形式</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可表示为</a:t>
            </a:r>
          </a:p>
        </p:txBody>
      </p:sp>
      <p:pic>
        <p:nvPicPr>
          <p:cNvPr id="6173" name="Picture 29" descr="C:\Users\user\AppData\Local\Temp\ksohtml32352\wps1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0" y="152400"/>
            <a:ext cx="114300" cy="1143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对象 2"/>
          <p:cNvGraphicFramePr>
            <a:graphicFrameLocks noChangeAspect="1"/>
          </p:cNvGraphicFramePr>
          <p:nvPr/>
        </p:nvGraphicFramePr>
        <p:xfrm>
          <a:off x="4141341" y="2714765"/>
          <a:ext cx="2120900" cy="647700"/>
        </p:xfrm>
        <a:graphic>
          <a:graphicData uri="http://schemas.openxmlformats.org/presentationml/2006/ole">
            <mc:AlternateContent xmlns:mc="http://schemas.openxmlformats.org/markup-compatibility/2006">
              <mc:Choice xmlns:v="urn:schemas-microsoft-com:vml" Requires="v">
                <p:oleObj name="Equation" r:id="rId3" imgW="2120760" imgH="647640" progId="Equation.DSMT4">
                  <p:embed/>
                </p:oleObj>
              </mc:Choice>
              <mc:Fallback>
                <p:oleObj name="Equation" r:id="rId3" imgW="2120760" imgH="647640" progId="Equation.DSMT4">
                  <p:embed/>
                  <p:pic>
                    <p:nvPicPr>
                      <p:cNvPr id="3" name="对象 2"/>
                      <p:cNvPicPr/>
                      <p:nvPr/>
                    </p:nvPicPr>
                    <p:blipFill>
                      <a:blip r:embed="rId4"/>
                      <a:stretch>
                        <a:fillRect/>
                      </a:stretch>
                    </p:blipFill>
                    <p:spPr>
                      <a:xfrm>
                        <a:off x="4141341" y="2714765"/>
                        <a:ext cx="2120900" cy="6477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2688838" y="4062103"/>
          <a:ext cx="5994400" cy="736600"/>
        </p:xfrm>
        <a:graphic>
          <a:graphicData uri="http://schemas.openxmlformats.org/presentationml/2006/ole">
            <mc:AlternateContent xmlns:mc="http://schemas.openxmlformats.org/markup-compatibility/2006">
              <mc:Choice xmlns:v="urn:schemas-microsoft-com:vml" Requires="v">
                <p:oleObj name="Equation" r:id="rId5" imgW="5994360" imgH="736560" progId="Equation.DSMT4">
                  <p:embed/>
                </p:oleObj>
              </mc:Choice>
              <mc:Fallback>
                <p:oleObj name="Equation" r:id="rId5" imgW="5994360" imgH="736560" progId="Equation.DSMT4">
                  <p:embed/>
                  <p:pic>
                    <p:nvPicPr>
                      <p:cNvPr id="11" name="对象 10"/>
                      <p:cNvPicPr/>
                      <p:nvPr/>
                    </p:nvPicPr>
                    <p:blipFill>
                      <a:blip r:embed="rId6"/>
                      <a:stretch>
                        <a:fillRect/>
                      </a:stretch>
                    </p:blipFill>
                    <p:spPr>
                      <a:xfrm>
                        <a:off x="2688838" y="4062103"/>
                        <a:ext cx="5994400" cy="736600"/>
                      </a:xfrm>
                      <a:prstGeom prst="rect">
                        <a:avLst/>
                      </a:prstGeom>
                    </p:spPr>
                  </p:pic>
                </p:oleObj>
              </mc:Fallback>
            </mc:AlternateContent>
          </a:graphicData>
        </a:graphic>
      </p:graphicFrame>
      <p:sp>
        <p:nvSpPr>
          <p:cNvPr id="17" name="文本框 16"/>
          <p:cNvSpPr txBox="1"/>
          <p:nvPr/>
        </p:nvSpPr>
        <p:spPr>
          <a:xfrm>
            <a:off x="321537" y="4978014"/>
            <a:ext cx="10871591" cy="482832"/>
          </a:xfrm>
          <a:prstGeom prst="rect">
            <a:avLst/>
          </a:prstGeom>
          <a:noFill/>
        </p:spPr>
        <p:txBody>
          <a:bodyPr wrap="square" rtlCol="0" anchor="t">
            <a:noAutofit/>
          </a:bodyPr>
          <a:lstStyle/>
          <a:p>
            <a:pPr indent="457200" algn="just">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可见，电磁波可以被描述为一个具有</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单一频率、在时间和空间上无限延续的波</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2.1.1  </a:t>
            </a:r>
            <a:r>
              <a:rPr lang="zh-CN" altLang="en-US" b="1" dirty="0">
                <a:solidFill>
                  <a:srgbClr val="002060"/>
                </a:solidFill>
              </a:rPr>
              <a:t>光的电磁理论基础</a:t>
            </a:r>
            <a:endParaRPr lang="en-US" altLang="zh-CN" b="1" dirty="0">
              <a:solidFill>
                <a:srgbClr val="002060"/>
              </a:solidFill>
            </a:endParaRPr>
          </a:p>
        </p:txBody>
      </p:sp>
      <p:sp>
        <p:nvSpPr>
          <p:cNvPr id="2" name="矩形 1"/>
          <p:cNvSpPr/>
          <p:nvPr/>
        </p:nvSpPr>
        <p:spPr>
          <a:xfrm>
            <a:off x="883" y="6465020"/>
            <a:ext cx="20135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2.1  </a:t>
            </a:r>
            <a:r>
              <a:rPr lang="zh-CN" altLang="en-US" sz="1600" dirty="0">
                <a:solidFill>
                  <a:srgbClr val="002060"/>
                </a:solidFill>
                <a:latin typeface="微软雅黑" panose="020B0503020204020204" pitchFamily="34" charset="-122"/>
                <a:ea typeface="微软雅黑" panose="020B0503020204020204" pitchFamily="34" charset="-122"/>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00000"/>
              </a:lnSpc>
              <a:spcBef>
                <a:spcPts val="0"/>
              </a:spcBef>
              <a:buClrTx/>
              <a:buSzTx/>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en-US" altLang="zh-CN" sz="1600">
                <a:latin typeface="微软雅黑" panose="020B0503020204020204" pitchFamily="34" charset="-122"/>
                <a:ea typeface="微软雅黑" panose="020B0503020204020204" pitchFamily="34" charset="-122"/>
              </a:rPr>
              <a:t> </a:t>
            </a: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5</a:t>
            </a:fld>
            <a:endParaRPr kumimoji="1" lang="zh-CN" altLang="en-US"/>
          </a:p>
        </p:txBody>
      </p:sp>
      <p:sp>
        <p:nvSpPr>
          <p:cNvPr id="7" name="文本框 6"/>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光波的一般表示方法</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文本框 7"/>
              <p:cNvSpPr txBox="1"/>
              <p:nvPr/>
            </p:nvSpPr>
            <p:spPr>
              <a:xfrm>
                <a:off x="581447" y="1810808"/>
                <a:ext cx="7419976" cy="1562523"/>
              </a:xfrm>
              <a:prstGeom prst="rect">
                <a:avLst/>
              </a:prstGeom>
              <a:noFill/>
            </p:spPr>
            <p:txBody>
              <a:bodyPr wrap="square" rtlCol="0" anchor="t">
                <a:noAutofit/>
              </a:bodyPr>
              <a:lstStyle/>
              <a:p>
                <a:pPr algn="just" fontAlgn="auto">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利用波矢量</a:t>
                </a:r>
                <a14:m>
                  <m:oMath xmlns:m="http://schemas.openxmlformats.org/officeDocument/2006/math">
                    <m:r>
                      <a:rPr lang="en-US" altLang="zh-CN" b="1" i="1" smtClean="0">
                        <a:latin typeface="Cambria Math" panose="02040503050406030204" pitchFamily="18" charset="0"/>
                        <a:ea typeface="微软雅黑" panose="020B0503020204020204" pitchFamily="34" charset="-122"/>
                        <a:cs typeface="微软雅黑" panose="020B0503020204020204" pitchFamily="34" charset="-122"/>
                      </a:rPr>
                      <m:t>𝒌</m:t>
                    </m:r>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可以写出</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沿空间任一方向传播的平面波的波函数</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2-2</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所示，假设平面上</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任一点</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P</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的矢径为</a:t>
                </a:r>
                <a14:m>
                  <m:oMath xmlns:m="http://schemas.openxmlformats.org/officeDocument/2006/math">
                    <m:r>
                      <a:rPr lang="en-US" altLang="zh-CN" b="1" i="1" smtClean="0">
                        <a:solidFill>
                          <a:schemeClr val="accent1"/>
                        </a:solidFill>
                        <a:latin typeface="Cambria Math" panose="02040503050406030204" pitchFamily="18" charset="0"/>
                        <a:ea typeface="微软雅黑" panose="020B0503020204020204" pitchFamily="34" charset="-122"/>
                        <a:cs typeface="微软雅黑" panose="020B0503020204020204" pitchFamily="34" charset="-122"/>
                      </a:rPr>
                      <m:t>𝒓</m:t>
                    </m:r>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，可得</a:t>
                </a:r>
              </a:p>
            </p:txBody>
          </p:sp>
        </mc:Choice>
        <mc:Fallback xmlns="">
          <p:sp>
            <p:nvSpPr>
              <p:cNvPr id="8" name="文本框 7"/>
              <p:cNvSpPr txBox="1">
                <a:spLocks noRot="1" noChangeAspect="1" noMove="1" noResize="1" noEditPoints="1" noAdjustHandles="1" noChangeArrowheads="1" noChangeShapeType="1" noTextEdit="1"/>
              </p:cNvSpPr>
              <p:nvPr/>
            </p:nvSpPr>
            <p:spPr>
              <a:xfrm>
                <a:off x="581447" y="1810808"/>
                <a:ext cx="7419976" cy="1562523"/>
              </a:xfrm>
              <a:prstGeom prst="rect">
                <a:avLst/>
              </a:prstGeom>
              <a:blipFill>
                <a:blip r:embed="rId2"/>
                <a:stretch>
                  <a:fillRect l="-657" r="-6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581447" y="3441328"/>
                <a:ext cx="7409250" cy="1562523"/>
              </a:xfrm>
              <a:prstGeom prst="rect">
                <a:avLst/>
              </a:prstGeom>
              <a:noFill/>
            </p:spPr>
            <p:txBody>
              <a:bodyPr wrap="square" rtlCol="0" anchor="t">
                <a:noAutofit/>
              </a:bodyPr>
              <a:lstStyle/>
              <a:p>
                <a:pPr algn="just" fontAlgn="auto">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利该式为</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沿</a:t>
                </a:r>
                <a14:m>
                  <m:oMath xmlns:m="http://schemas.openxmlformats.org/officeDocument/2006/math">
                    <m:r>
                      <a:rPr lang="en-US" altLang="zh-CN" b="1" i="1" smtClean="0">
                        <a:solidFill>
                          <a:schemeClr val="accent1"/>
                        </a:solidFill>
                        <a:latin typeface="Cambria Math" panose="02040503050406030204" pitchFamily="18" charset="0"/>
                        <a:ea typeface="微软雅黑" panose="020B0503020204020204" pitchFamily="34" charset="-122"/>
                        <a:cs typeface="微软雅黑" panose="020B0503020204020204" pitchFamily="34" charset="-122"/>
                      </a:rPr>
                      <m:t>𝒌</m:t>
                    </m:r>
                  </m:oMath>
                </a14:m>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方向传播的平面波表达式</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。设</a:t>
                </a:r>
                <a14:m>
                  <m:oMath xmlns:m="http://schemas.openxmlformats.org/officeDocument/2006/math">
                    <m:r>
                      <a:rPr lang="en-US" altLang="zh-CN" b="1" i="1">
                        <a:latin typeface="Cambria Math" panose="02040503050406030204" pitchFamily="18" charset="0"/>
                        <a:ea typeface="微软雅黑" panose="020B0503020204020204" pitchFamily="34" charset="-122"/>
                        <a:cs typeface="微软雅黑" panose="020B0503020204020204" pitchFamily="34" charset="-122"/>
                      </a:rPr>
                      <m:t>𝒌</m:t>
                    </m:r>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的方向余弦为</a:t>
                </a:r>
                <a14:m>
                  <m:oMath xmlns:m="http://schemas.openxmlformats.org/officeDocument/2006/math">
                    <m:func>
                      <m:funcPr>
                        <m:ctrlPr>
                          <a:rPr lang="en-US" altLang="zh-CN" i="1" smtClean="0">
                            <a:latin typeface="Cambria Math" panose="02040503050406030204" pitchFamily="18" charset="0"/>
                            <a:ea typeface="微软雅黑" panose="020B0503020204020204" pitchFamily="34" charset="-122"/>
                            <a:cs typeface="微软雅黑" panose="020B0503020204020204" pitchFamily="34" charset="-122"/>
                          </a:rPr>
                        </m:ctrlPr>
                      </m:funcPr>
                      <m:fName>
                        <m:r>
                          <m:rPr>
                            <m:sty m:val="p"/>
                          </m:rPr>
                          <a:rPr lang="en-US" altLang="zh-CN" i="0" smtClean="0">
                            <a:latin typeface="Cambria Math" panose="02040503050406030204" pitchFamily="18" charset="0"/>
                            <a:ea typeface="微软雅黑" panose="020B0503020204020204" pitchFamily="34" charset="-122"/>
                            <a:cs typeface="微软雅黑" panose="020B0503020204020204" pitchFamily="34" charset="-122"/>
                          </a:rPr>
                          <m:t>cos</m:t>
                        </m:r>
                      </m:fName>
                      <m:e>
                        <m:r>
                          <a:rPr lang="en-US" altLang="zh-CN" i="1">
                            <a:latin typeface="Cambria Math" panose="02040503050406030204" pitchFamily="18" charset="0"/>
                            <a:ea typeface="Cambria Math" panose="02040503050406030204" pitchFamily="18" charset="0"/>
                            <a:cs typeface="微软雅黑" panose="020B0503020204020204" pitchFamily="34" charset="-122"/>
                          </a:rPr>
                          <m:t>𝛼</m:t>
                        </m:r>
                      </m:e>
                    </m:func>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func>
                      <m:funcPr>
                        <m:ctrlPr>
                          <a:rPr lang="en-US" altLang="zh-CN" i="1" dirty="0" smtClean="0">
                            <a:latin typeface="Cambria Math" panose="02040503050406030204" pitchFamily="18" charset="0"/>
                            <a:ea typeface="微软雅黑" panose="020B0503020204020204" pitchFamily="34" charset="-122"/>
                            <a:cs typeface="微软雅黑" panose="020B0503020204020204" pitchFamily="34" charset="-122"/>
                          </a:rPr>
                        </m:ctrlPr>
                      </m:funcPr>
                      <m:fName>
                        <m:r>
                          <m:rPr>
                            <m:sty m:val="p"/>
                          </m:rPr>
                          <a:rPr lang="en-US" altLang="zh-CN" i="0" dirty="0" smtClean="0">
                            <a:latin typeface="Cambria Math" panose="02040503050406030204" pitchFamily="18" charset="0"/>
                            <a:ea typeface="微软雅黑" panose="020B0503020204020204" pitchFamily="34" charset="-122"/>
                            <a:cs typeface="微软雅黑" panose="020B0503020204020204" pitchFamily="34" charset="-122"/>
                          </a:rPr>
                          <m:t>cos</m:t>
                        </m:r>
                      </m:fName>
                      <m:e>
                        <m:r>
                          <a:rPr lang="zh-CN" altLang="en-US" i="1" dirty="0" smtClean="0">
                            <a:latin typeface="Cambria Math" panose="02040503050406030204" pitchFamily="18" charset="0"/>
                            <a:ea typeface="微软雅黑" panose="020B0503020204020204" pitchFamily="34" charset="-122"/>
                            <a:cs typeface="微软雅黑" panose="020B0503020204020204" pitchFamily="34" charset="-122"/>
                          </a:rPr>
                          <m:t>𝛽</m:t>
                        </m:r>
                      </m:e>
                    </m:func>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func>
                      <m:funcPr>
                        <m:ctrlPr>
                          <a:rPr lang="en-US" altLang="zh-CN" i="1" dirty="0" smtClean="0">
                            <a:latin typeface="Cambria Math" panose="02040503050406030204" pitchFamily="18" charset="0"/>
                            <a:ea typeface="微软雅黑" panose="020B0503020204020204" pitchFamily="34" charset="-122"/>
                            <a:cs typeface="微软雅黑" panose="020B0503020204020204" pitchFamily="34" charset="-122"/>
                          </a:rPr>
                        </m:ctrlPr>
                      </m:funcPr>
                      <m:fName>
                        <m:r>
                          <m:rPr>
                            <m:sty m:val="p"/>
                          </m:rPr>
                          <a:rPr lang="en-US" altLang="zh-CN" i="0" dirty="0" smtClean="0">
                            <a:latin typeface="Cambria Math" panose="02040503050406030204" pitchFamily="18" charset="0"/>
                            <a:ea typeface="微软雅黑" panose="020B0503020204020204" pitchFamily="34" charset="-122"/>
                            <a:cs typeface="微软雅黑" panose="020B0503020204020204" pitchFamily="34" charset="-122"/>
                          </a:rPr>
                          <m:t>cos</m:t>
                        </m:r>
                      </m:fName>
                      <m:e>
                        <m:r>
                          <a:rPr lang="zh-CN" altLang="en-US" i="1" dirty="0" smtClean="0">
                            <a:latin typeface="Cambria Math" panose="02040503050406030204" pitchFamily="18" charset="0"/>
                            <a:ea typeface="微软雅黑" panose="020B0503020204020204" pitchFamily="34" charset="-122"/>
                            <a:cs typeface="微软雅黑" panose="020B0503020204020204" pitchFamily="34" charset="-122"/>
                          </a:rPr>
                          <m:t>𝛾</m:t>
                        </m:r>
                      </m:e>
                    </m:func>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，平面上任一点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的坐标为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y</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z</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，则上式可改写为</a:t>
                </a:r>
              </a:p>
            </p:txBody>
          </p:sp>
        </mc:Choice>
        <mc:Fallback xmlns="">
          <p:sp>
            <p:nvSpPr>
              <p:cNvPr id="20" name="文本框 19"/>
              <p:cNvSpPr txBox="1">
                <a:spLocks noRot="1" noChangeAspect="1" noMove="1" noResize="1" noEditPoints="1" noAdjustHandles="1" noChangeArrowheads="1" noChangeShapeType="1" noTextEdit="1"/>
              </p:cNvSpPr>
              <p:nvPr/>
            </p:nvSpPr>
            <p:spPr>
              <a:xfrm>
                <a:off x="581447" y="3441328"/>
                <a:ext cx="7409250" cy="1562523"/>
              </a:xfrm>
              <a:prstGeom prst="rect">
                <a:avLst/>
              </a:prstGeom>
              <a:blipFill>
                <a:blip r:embed="rId3"/>
                <a:stretch>
                  <a:fillRect l="-658" r="-658"/>
                </a:stretch>
              </a:blipFill>
            </p:spPr>
            <p:txBody>
              <a:bodyPr/>
              <a:lstStyle/>
              <a:p>
                <a:r>
                  <a:rPr lang="zh-CN" altLang="en-US">
                    <a:noFill/>
                  </a:rPr>
                  <a:t> </a:t>
                </a:r>
              </a:p>
            </p:txBody>
          </p:sp>
        </mc:Fallback>
      </mc:AlternateContent>
      <p:pic>
        <p:nvPicPr>
          <p:cNvPr id="22" name="图片 21"/>
          <p:cNvPicPr>
            <a:picLocks noChangeAspect="1"/>
          </p:cNvPicPr>
          <p:nvPr/>
        </p:nvPicPr>
        <p:blipFill>
          <a:blip r:embed="rId4"/>
          <a:stretch>
            <a:fillRect/>
          </a:stretch>
        </p:blipFill>
        <p:spPr>
          <a:xfrm>
            <a:off x="7900566" y="1715387"/>
            <a:ext cx="4166158" cy="3427226"/>
          </a:xfrm>
          <a:prstGeom prst="rect">
            <a:avLst/>
          </a:prstGeom>
        </p:spPr>
      </p:pic>
      <p:graphicFrame>
        <p:nvGraphicFramePr>
          <p:cNvPr id="13" name="对象 12"/>
          <p:cNvGraphicFramePr>
            <a:graphicFrameLocks noChangeAspect="1"/>
          </p:cNvGraphicFramePr>
          <p:nvPr/>
        </p:nvGraphicFramePr>
        <p:xfrm>
          <a:off x="2221496" y="4622851"/>
          <a:ext cx="4495800" cy="381000"/>
        </p:xfrm>
        <a:graphic>
          <a:graphicData uri="http://schemas.openxmlformats.org/presentationml/2006/ole">
            <mc:AlternateContent xmlns:mc="http://schemas.openxmlformats.org/markup-compatibility/2006">
              <mc:Choice xmlns:v="urn:schemas-microsoft-com:vml" Requires="v">
                <p:oleObj name="Equation" r:id="rId5" imgW="4495680" imgH="380880" progId="Equation.DSMT4">
                  <p:embed/>
                </p:oleObj>
              </mc:Choice>
              <mc:Fallback>
                <p:oleObj name="Equation" r:id="rId5" imgW="4495680" imgH="380880" progId="Equation.DSMT4">
                  <p:embed/>
                  <p:pic>
                    <p:nvPicPr>
                      <p:cNvPr id="13" name="对象 12"/>
                      <p:cNvPicPr/>
                      <p:nvPr/>
                    </p:nvPicPr>
                    <p:blipFill>
                      <a:blip r:embed="rId6"/>
                      <a:stretch>
                        <a:fillRect/>
                      </a:stretch>
                    </p:blipFill>
                    <p:spPr>
                      <a:xfrm>
                        <a:off x="2221496" y="4622851"/>
                        <a:ext cx="4495800" cy="381000"/>
                      </a:xfrm>
                      <a:prstGeom prst="rect">
                        <a:avLst/>
                      </a:prstGeom>
                    </p:spPr>
                  </p:pic>
                </p:oleObj>
              </mc:Fallback>
            </mc:AlternateContent>
          </a:graphicData>
        </a:graphic>
      </p:graphicFrame>
      <p:graphicFrame>
        <p:nvGraphicFramePr>
          <p:cNvPr id="3" name="对象 2"/>
          <p:cNvGraphicFramePr>
            <a:graphicFrameLocks noChangeAspect="1"/>
          </p:cNvGraphicFramePr>
          <p:nvPr/>
        </p:nvGraphicFramePr>
        <p:xfrm>
          <a:off x="3502025" y="2844800"/>
          <a:ext cx="2032000" cy="381000"/>
        </p:xfrm>
        <a:graphic>
          <a:graphicData uri="http://schemas.openxmlformats.org/presentationml/2006/ole">
            <mc:AlternateContent xmlns:mc="http://schemas.openxmlformats.org/markup-compatibility/2006">
              <mc:Choice xmlns:v="urn:schemas-microsoft-com:vml" Requires="v">
                <p:oleObj name="Equation" r:id="rId7" imgW="2031840" imgH="380880" progId="Equation.DSMT4">
                  <p:embed/>
                </p:oleObj>
              </mc:Choice>
              <mc:Fallback>
                <p:oleObj name="Equation" r:id="rId7" imgW="2031840" imgH="380880" progId="Equation.DSMT4">
                  <p:embed/>
                  <p:pic>
                    <p:nvPicPr>
                      <p:cNvPr id="3" name="对象 2"/>
                      <p:cNvPicPr/>
                      <p:nvPr/>
                    </p:nvPicPr>
                    <p:blipFill>
                      <a:blip r:embed="rId8"/>
                      <a:stretch>
                        <a:fillRect/>
                      </a:stretch>
                    </p:blipFill>
                    <p:spPr>
                      <a:xfrm>
                        <a:off x="3502025" y="2844800"/>
                        <a:ext cx="2032000" cy="381000"/>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2.1.2  </a:t>
            </a:r>
            <a:r>
              <a:rPr lang="zh-CN" altLang="en-US" b="1" dirty="0">
                <a:solidFill>
                  <a:srgbClr val="002060"/>
                </a:solidFill>
              </a:rPr>
              <a:t>反射与折射</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6</a:t>
            </a:fld>
            <a:endParaRPr kumimoji="1" lang="zh-CN" altLang="en-US"/>
          </a:p>
        </p:txBody>
      </p:sp>
      <p:sp>
        <p:nvSpPr>
          <p:cNvPr id="8" name="文本框 7"/>
          <p:cNvSpPr txBox="1"/>
          <p:nvPr/>
        </p:nvSpPr>
        <p:spPr>
          <a:xfrm>
            <a:off x="216535" y="1205230"/>
            <a:ext cx="2789132" cy="400110"/>
          </a:xfrm>
          <a:prstGeom prst="rect">
            <a:avLst/>
          </a:prstGeom>
          <a:noFill/>
        </p:spPr>
        <p:txBody>
          <a:bodyPr wrap="square" rtlCol="0">
            <a:spAutoFit/>
          </a:bodyPr>
          <a:lstStyle/>
          <a:p>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1. 电磁场的连续条件</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558265" y="1759466"/>
            <a:ext cx="10797179" cy="1289905"/>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当电磁波由一种介质传播到另一种介质时，由于</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介质的介电常数和透磁率</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等物理性质的不同，电磁场在界面上将是</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不连续</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因此需要根据电磁场方程找出界面两边电磁场量之间的联系，这个联系借助于电磁场的连续条件实现。</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对象 2"/>
          <p:cNvGraphicFramePr>
            <a:graphicFrameLocks noChangeAspect="1"/>
          </p:cNvGraphicFramePr>
          <p:nvPr/>
        </p:nvGraphicFramePr>
        <p:xfrm>
          <a:off x="7249084" y="4857750"/>
          <a:ext cx="1028700" cy="1498600"/>
        </p:xfrm>
        <a:graphic>
          <a:graphicData uri="http://schemas.openxmlformats.org/presentationml/2006/ole">
            <mc:AlternateContent xmlns:mc="http://schemas.openxmlformats.org/markup-compatibility/2006">
              <mc:Choice xmlns:v="urn:schemas-microsoft-com:vml" Requires="v">
                <p:oleObj name="Equation" r:id="rId2" imgW="1028520" imgH="1498320" progId="Equation.DSMT4">
                  <p:embed/>
                </p:oleObj>
              </mc:Choice>
              <mc:Fallback>
                <p:oleObj name="Equation" r:id="rId2" imgW="1028520" imgH="1498320" progId="Equation.DSMT4">
                  <p:embed/>
                  <p:pic>
                    <p:nvPicPr>
                      <p:cNvPr id="3" name="对象 2"/>
                      <p:cNvPicPr/>
                      <p:nvPr/>
                    </p:nvPicPr>
                    <p:blipFill>
                      <a:blip r:embed="rId3"/>
                      <a:stretch>
                        <a:fillRect/>
                      </a:stretch>
                    </p:blipFill>
                    <p:spPr>
                      <a:xfrm>
                        <a:off x="7249084" y="4857750"/>
                        <a:ext cx="1028700" cy="14986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3848867-A10F-AEBE-269C-859CCF8E834A}"/>
                  </a:ext>
                </a:extLst>
              </p:cNvPr>
              <p:cNvSpPr txBox="1"/>
              <p:nvPr/>
            </p:nvSpPr>
            <p:spPr>
              <a:xfrm>
                <a:off x="558264" y="3331193"/>
                <a:ext cx="10465335" cy="1705403"/>
              </a:xfrm>
              <a:prstGeom prst="rect">
                <a:avLst/>
              </a:prstGeom>
              <a:noFill/>
            </p:spPr>
            <p:txBody>
              <a:bodyPr wrap="square">
                <a:spAutoFit/>
              </a:bodyPr>
              <a:lstStyle/>
              <a:p>
                <a:pPr marL="285750" indent="-285750">
                  <a:lnSpc>
                    <a:spcPct val="150000"/>
                  </a:lnSpc>
                  <a:buFont typeface="Wingdings" panose="05000000000000000000" pitchFamily="2" charset="2"/>
                  <a:buChar char="u"/>
                </a:pP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电磁场的连续条件</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没有传导电流和自由电荷</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的介质中，</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磁感应强度</a:t>
                </a:r>
                <a14:m>
                  <m:oMath xmlns:m="http://schemas.openxmlformats.org/officeDocument/2006/math">
                    <m:r>
                      <a:rPr lang="en-US" altLang="zh-CN" b="1" i="1" smtClean="0">
                        <a:solidFill>
                          <a:schemeClr val="accent1"/>
                        </a:solidFill>
                        <a:latin typeface="Cambria Math" panose="02040503050406030204" pitchFamily="18" charset="0"/>
                        <a:ea typeface="微软雅黑" panose="020B0503020204020204" pitchFamily="34" charset="-122"/>
                        <a:cs typeface="微软雅黑" panose="020B0503020204020204" pitchFamily="34" charset="-122"/>
                      </a:rPr>
                      <m:t>𝑩</m:t>
                    </m:r>
                  </m:oMath>
                </a14:m>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和电感强度</a:t>
                </a:r>
                <a14:m>
                  <m:oMath xmlns:m="http://schemas.openxmlformats.org/officeDocument/2006/math">
                    <m:r>
                      <a:rPr lang="en-US" altLang="zh-CN" b="1" i="1" smtClean="0">
                        <a:solidFill>
                          <a:schemeClr val="accent1"/>
                        </a:solidFill>
                        <a:latin typeface="Cambria Math" panose="02040503050406030204" pitchFamily="18" charset="0"/>
                        <a:ea typeface="微软雅黑" panose="020B0503020204020204" pitchFamily="34" charset="-122"/>
                        <a:cs typeface="微软雅黑" panose="020B0503020204020204" pitchFamily="34" charset="-122"/>
                      </a:rPr>
                      <m:t>𝑫</m:t>
                    </m:r>
                  </m:oMath>
                </a14:m>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的法向分量</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在界面上连续，</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而</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电场强度</a:t>
                </a:r>
                <a14:m>
                  <m:oMath xmlns:m="http://schemas.openxmlformats.org/officeDocument/2006/math">
                    <m:r>
                      <a:rPr lang="en-US" altLang="zh-CN" b="1">
                        <a:solidFill>
                          <a:schemeClr val="accent1"/>
                        </a:solidFill>
                        <a:latin typeface="Cambria Math" panose="02040503050406030204" pitchFamily="18" charset="0"/>
                        <a:ea typeface="微软雅黑" panose="020B0503020204020204" pitchFamily="34" charset="-122"/>
                        <a:cs typeface="微软雅黑" panose="020B0503020204020204" pitchFamily="34" charset="-122"/>
                      </a:rPr>
                      <m:t>𝑬</m:t>
                    </m:r>
                  </m:oMath>
                </a14:m>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和磁场强度</a:t>
                </a:r>
                <a14:m>
                  <m:oMath xmlns:m="http://schemas.openxmlformats.org/officeDocument/2006/math">
                    <m:r>
                      <a:rPr lang="en-US" altLang="zh-CN" b="1">
                        <a:solidFill>
                          <a:schemeClr val="accent1"/>
                        </a:solidFill>
                        <a:latin typeface="Cambria Math" panose="02040503050406030204" pitchFamily="18" charset="0"/>
                        <a:ea typeface="微软雅黑" panose="020B0503020204020204" pitchFamily="34" charset="-122"/>
                        <a:cs typeface="微软雅黑" panose="020B0503020204020204" pitchFamily="34" charset="-122"/>
                      </a:rPr>
                      <m:t>𝑯</m:t>
                    </m:r>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的切向分量在界面上连续。</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在此使用表示边界的法向分量，表示切向分量，即：</a:t>
                </a:r>
              </a:p>
            </p:txBody>
          </p:sp>
        </mc:Choice>
        <mc:Fallback xmlns="">
          <p:sp>
            <p:nvSpPr>
              <p:cNvPr id="10" name="文本框 9">
                <a:extLst>
                  <a:ext uri="{FF2B5EF4-FFF2-40B4-BE49-F238E27FC236}">
                    <a16:creationId xmlns:a16="http://schemas.microsoft.com/office/drawing/2014/main" id="{93848867-A10F-AEBE-269C-859CCF8E834A}"/>
                  </a:ext>
                </a:extLst>
              </p:cNvPr>
              <p:cNvSpPr txBox="1">
                <a:spLocks noRot="1" noChangeAspect="1" noMove="1" noResize="1" noEditPoints="1" noAdjustHandles="1" noChangeArrowheads="1" noChangeShapeType="1" noTextEdit="1"/>
              </p:cNvSpPr>
              <p:nvPr/>
            </p:nvSpPr>
            <p:spPr>
              <a:xfrm>
                <a:off x="558264" y="3331193"/>
                <a:ext cx="10465335" cy="1705403"/>
              </a:xfrm>
              <a:prstGeom prst="rect">
                <a:avLst/>
              </a:prstGeom>
              <a:blipFill>
                <a:blip r:embed="rId4"/>
                <a:stretch>
                  <a:fillRect l="-408" b="-4643"/>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42682C8C-EA7C-4EC8-0FCA-57D2797038DF}"/>
              </a:ext>
            </a:extLst>
          </p:cNvPr>
          <p:cNvSpPr/>
          <p:nvPr/>
        </p:nvSpPr>
        <p:spPr>
          <a:xfrm>
            <a:off x="6807200" y="4682067"/>
            <a:ext cx="1804647" cy="178295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2.1.2  </a:t>
            </a:r>
            <a:r>
              <a:rPr lang="zh-CN" altLang="en-US" b="1" dirty="0">
                <a:solidFill>
                  <a:srgbClr val="002060"/>
                </a:solidFill>
              </a:rPr>
              <a:t>反射与折射</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7</a:t>
            </a:fld>
            <a:endParaRPr kumimoji="1" lang="zh-CN" altLang="en-US"/>
          </a:p>
        </p:txBody>
      </p:sp>
      <p:sp>
        <p:nvSpPr>
          <p:cNvPr id="8" name="文本框 7"/>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反射定律与折射定律</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p:cNvSpPr txBox="1"/>
              <p:nvPr/>
            </p:nvSpPr>
            <p:spPr>
              <a:xfrm>
                <a:off x="558265" y="1759466"/>
                <a:ext cx="6828055" cy="170751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根据麦克斯韦方程组和电磁场的连续条件来研究</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平面光波在电介质分界面上的反射和折射问题。</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假设平面波</a:t>
                </a:r>
                <a14:m>
                  <m:oMath xmlns:m="http://schemas.openxmlformats.org/officeDocument/2006/math">
                    <m:r>
                      <a:rPr lang="zh-CN" altLang="en-US" i="1" dirty="0">
                        <a:latin typeface="Cambria Math" panose="02040503050406030204" pitchFamily="18" charset="0"/>
                        <a:ea typeface="微软雅黑" panose="020B0503020204020204" pitchFamily="34" charset="-122"/>
                      </a:rPr>
                      <m:t>入射到</m:t>
                    </m:r>
                    <m:sSub>
                      <m:sSubPr>
                        <m:ctrlPr>
                          <a:rPr lang="en-US" altLang="zh-CN"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𝑛</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&gt;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𝑛</m:t>
                        </m:r>
                      </m:e>
                      <m:sub>
                        <m:r>
                          <a:rPr lang="en-US" altLang="zh-CN" b="0" i="1" smtClean="0">
                            <a:latin typeface="Cambria Math" panose="02040503050406030204" pitchFamily="18" charset="0"/>
                            <a:ea typeface="微软雅黑" panose="020B0503020204020204" pitchFamily="34" charset="-122"/>
                          </a:rPr>
                          <m:t>1</m:t>
                        </m:r>
                      </m:sub>
                    </m:sSub>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的界面上，应用边界条件可求得</a:t>
                </a:r>
                <a:r>
                  <a:rPr lang="zh-CN" altLang="en-US"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反射波和折射波的振幅大小</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558265" y="1759466"/>
                <a:ext cx="6828055" cy="1707519"/>
              </a:xfrm>
              <a:prstGeom prst="rect">
                <a:avLst/>
              </a:prstGeom>
              <a:blipFill>
                <a:blip r:embed="rId2"/>
                <a:stretch>
                  <a:fillRect l="-625" b="-4643"/>
                </a:stretch>
              </a:blipFill>
            </p:spPr>
            <p:txBody>
              <a:bodyPr/>
              <a:lstStyle/>
              <a:p>
                <a:r>
                  <a:rPr lang="zh-CN" altLang="en-US">
                    <a:noFill/>
                  </a:rPr>
                  <a:t> </a:t>
                </a:r>
              </a:p>
            </p:txBody>
          </p:sp>
        </mc:Fallback>
      </mc:AlternateContent>
      <p:pic>
        <p:nvPicPr>
          <p:cNvPr id="10" name="图片 9"/>
          <p:cNvPicPr>
            <a:picLocks noChangeAspect="1"/>
          </p:cNvPicPr>
          <p:nvPr/>
        </p:nvPicPr>
        <p:blipFill>
          <a:blip r:embed="rId3"/>
          <a:stretch>
            <a:fillRect/>
          </a:stretch>
        </p:blipFill>
        <p:spPr>
          <a:xfrm>
            <a:off x="7386320" y="1357306"/>
            <a:ext cx="4701639" cy="4707257"/>
          </a:xfrm>
          <a:prstGeom prst="rect">
            <a:avLst/>
          </a:prstGeom>
        </p:spPr>
      </p:pic>
      <p:sp>
        <p:nvSpPr>
          <p:cNvPr id="3" name="文本框 2">
            <a:extLst>
              <a:ext uri="{FF2B5EF4-FFF2-40B4-BE49-F238E27FC236}">
                <a16:creationId xmlns:a16="http://schemas.microsoft.com/office/drawing/2014/main" id="{194DC199-BE34-4FF8-78B9-822DFAA6227C}"/>
              </a:ext>
            </a:extLst>
          </p:cNvPr>
          <p:cNvSpPr txBox="1"/>
          <p:nvPr/>
        </p:nvSpPr>
        <p:spPr>
          <a:xfrm>
            <a:off x="1212615" y="3724754"/>
            <a:ext cx="727193" cy="369332"/>
          </a:xfrm>
          <a:prstGeom prst="rect">
            <a:avLst/>
          </a:prstGeom>
          <a:noFill/>
        </p:spPr>
        <p:txBody>
          <a:bodyPr wrap="square" rtlCol="0">
            <a:spAutoFit/>
          </a:bodyPr>
          <a:lstStyle/>
          <a:p>
            <a:r>
              <a:rPr lang="en-US" altLang="zh-CN" dirty="0"/>
              <a:t>s</a:t>
            </a:r>
            <a:r>
              <a:rPr lang="zh-CN" altLang="en-US" dirty="0"/>
              <a:t>波：</a:t>
            </a:r>
          </a:p>
        </p:txBody>
      </p:sp>
      <p:graphicFrame>
        <p:nvGraphicFramePr>
          <p:cNvPr id="11" name="对象 10">
            <a:extLst>
              <a:ext uri="{FF2B5EF4-FFF2-40B4-BE49-F238E27FC236}">
                <a16:creationId xmlns:a16="http://schemas.microsoft.com/office/drawing/2014/main" id="{B595847A-D997-D010-289A-8ACD642E38E2}"/>
              </a:ext>
            </a:extLst>
          </p:cNvPr>
          <p:cNvGraphicFramePr>
            <a:graphicFrameLocks noChangeAspect="1"/>
          </p:cNvGraphicFramePr>
          <p:nvPr/>
        </p:nvGraphicFramePr>
        <p:xfrm>
          <a:off x="1554667" y="4063131"/>
          <a:ext cx="4556501" cy="784142"/>
        </p:xfrm>
        <a:graphic>
          <a:graphicData uri="http://schemas.openxmlformats.org/presentationml/2006/ole">
            <mc:AlternateContent xmlns:mc="http://schemas.openxmlformats.org/markup-compatibility/2006">
              <mc:Choice xmlns:v="urn:schemas-microsoft-com:vml" Requires="v">
                <p:oleObj name="Equation" r:id="rId4" imgW="2730240" imgH="469800" progId="Equation.DSMT4">
                  <p:embed/>
                </p:oleObj>
              </mc:Choice>
              <mc:Fallback>
                <p:oleObj name="Equation" r:id="rId4" imgW="2730240" imgH="469800" progId="Equation.DSMT4">
                  <p:embed/>
                  <p:pic>
                    <p:nvPicPr>
                      <p:cNvPr id="11" name="对象 10">
                        <a:extLst>
                          <a:ext uri="{FF2B5EF4-FFF2-40B4-BE49-F238E27FC236}">
                            <a16:creationId xmlns:a16="http://schemas.microsoft.com/office/drawing/2014/main" id="{B595847A-D997-D010-289A-8ACD642E38E2}"/>
                          </a:ext>
                        </a:extLst>
                      </p:cNvPr>
                      <p:cNvPicPr/>
                      <p:nvPr/>
                    </p:nvPicPr>
                    <p:blipFill>
                      <a:blip r:embed="rId5"/>
                      <a:stretch>
                        <a:fillRect/>
                      </a:stretch>
                    </p:blipFill>
                    <p:spPr>
                      <a:xfrm>
                        <a:off x="1554667" y="4063131"/>
                        <a:ext cx="4556501" cy="78414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6A0B2EFD-1E30-2E79-7A9E-D25217D06274}"/>
              </a:ext>
            </a:extLst>
          </p:cNvPr>
          <p:cNvGraphicFramePr>
            <a:graphicFrameLocks noChangeAspect="1"/>
          </p:cNvGraphicFramePr>
          <p:nvPr/>
        </p:nvGraphicFramePr>
        <p:xfrm>
          <a:off x="1554666" y="4974419"/>
          <a:ext cx="4700561" cy="820381"/>
        </p:xfrm>
        <a:graphic>
          <a:graphicData uri="http://schemas.openxmlformats.org/presentationml/2006/ole">
            <mc:AlternateContent xmlns:mc="http://schemas.openxmlformats.org/markup-compatibility/2006">
              <mc:Choice xmlns:v="urn:schemas-microsoft-com:vml" Requires="v">
                <p:oleObj name="Equation" r:id="rId6" imgW="2692080" imgH="469800" progId="Equation.DSMT4">
                  <p:embed/>
                </p:oleObj>
              </mc:Choice>
              <mc:Fallback>
                <p:oleObj name="Equation" r:id="rId6" imgW="2692080" imgH="469800" progId="Equation.DSMT4">
                  <p:embed/>
                  <p:pic>
                    <p:nvPicPr>
                      <p:cNvPr id="12" name="对象 11">
                        <a:extLst>
                          <a:ext uri="{FF2B5EF4-FFF2-40B4-BE49-F238E27FC236}">
                            <a16:creationId xmlns:a16="http://schemas.microsoft.com/office/drawing/2014/main" id="{6A0B2EFD-1E30-2E79-7A9E-D25217D06274}"/>
                          </a:ext>
                        </a:extLst>
                      </p:cNvPr>
                      <p:cNvPicPr/>
                      <p:nvPr/>
                    </p:nvPicPr>
                    <p:blipFill>
                      <a:blip r:embed="rId7"/>
                      <a:stretch>
                        <a:fillRect/>
                      </a:stretch>
                    </p:blipFill>
                    <p:spPr>
                      <a:xfrm>
                        <a:off x="1554666" y="4974419"/>
                        <a:ext cx="4700561" cy="820381"/>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1B19E-B93C-A764-D3FE-2D85F91B27B1}"/>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3260CFD3-6ED8-DCAA-262B-79BE21EA9682}"/>
              </a:ext>
            </a:extLst>
          </p:cNvPr>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2.1.2  </a:t>
            </a:r>
            <a:r>
              <a:rPr lang="zh-CN" altLang="en-US" b="1" dirty="0">
                <a:solidFill>
                  <a:srgbClr val="002060"/>
                </a:solidFill>
              </a:rPr>
              <a:t>反射与折射</a:t>
            </a:r>
          </a:p>
        </p:txBody>
      </p:sp>
      <p:sp>
        <p:nvSpPr>
          <p:cNvPr id="2" name="矩形 1">
            <a:extLst>
              <a:ext uri="{FF2B5EF4-FFF2-40B4-BE49-F238E27FC236}">
                <a16:creationId xmlns:a16="http://schemas.microsoft.com/office/drawing/2014/main" id="{9A71FC85-8854-C244-7A0E-FDB358935E8F}"/>
              </a:ext>
            </a:extLst>
          </p:cNvPr>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a:extLst>
              <a:ext uri="{FF2B5EF4-FFF2-40B4-BE49-F238E27FC236}">
                <a16:creationId xmlns:a16="http://schemas.microsoft.com/office/drawing/2014/main" id="{AAB9C4B6-C464-EC19-E2F1-147B35D87C52}"/>
              </a:ext>
            </a:extLst>
          </p:cNvPr>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a:extLst>
              <a:ext uri="{FF2B5EF4-FFF2-40B4-BE49-F238E27FC236}">
                <a16:creationId xmlns:a16="http://schemas.microsoft.com/office/drawing/2014/main" id="{EABA47EF-E544-EF1C-68BB-4A2FF889154C}"/>
              </a:ext>
            </a:extLst>
          </p:cNvPr>
          <p:cNvSpPr>
            <a:spLocks noGrp="1"/>
          </p:cNvSpPr>
          <p:nvPr>
            <p:ph type="sldNum" sz="quarter" idx="12"/>
          </p:nvPr>
        </p:nvSpPr>
        <p:spPr/>
        <p:txBody>
          <a:bodyPr/>
          <a:lstStyle/>
          <a:p>
            <a:fld id="{B1CC0675-18FD-1549-AA90-64430E7AA6D4}" type="slidenum">
              <a:rPr kumimoji="1" lang="zh-CN" altLang="en-US" smtClean="0"/>
              <a:t>8</a:t>
            </a:fld>
            <a:endParaRPr kumimoji="1" lang="zh-CN" altLang="en-US"/>
          </a:p>
        </p:txBody>
      </p:sp>
      <p:sp>
        <p:nvSpPr>
          <p:cNvPr id="8" name="文本框 7">
            <a:extLst>
              <a:ext uri="{FF2B5EF4-FFF2-40B4-BE49-F238E27FC236}">
                <a16:creationId xmlns:a16="http://schemas.microsoft.com/office/drawing/2014/main" id="{4A086926-55E5-CFF8-F47F-DE2B5E6C1F46}"/>
              </a:ext>
            </a:extLst>
          </p:cNvPr>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反射定律与折射定律</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F19A0B5-22CB-FFCA-FB0F-74AF89801201}"/>
                  </a:ext>
                </a:extLst>
              </p:cNvPr>
              <p:cNvSpPr txBox="1"/>
              <p:nvPr/>
            </p:nvSpPr>
            <p:spPr>
              <a:xfrm>
                <a:off x="558265" y="1759466"/>
                <a:ext cx="6828055" cy="170751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根据麦克斯韦方程组和电磁场的连续条件来研究</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平面光波在电介质分界面上的反射和折射问题。</a:t>
                </a:r>
                <a:endPar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假设平面波</a:t>
                </a:r>
                <a14:m>
                  <m:oMath xmlns:m="http://schemas.openxmlformats.org/officeDocument/2006/math">
                    <m:r>
                      <a:rPr lang="zh-CN" altLang="en-US" i="1" dirty="0">
                        <a:latin typeface="Cambria Math" panose="02040503050406030204" pitchFamily="18" charset="0"/>
                        <a:ea typeface="微软雅黑" panose="020B0503020204020204" pitchFamily="34" charset="-122"/>
                      </a:rPr>
                      <m:t>入射到</m:t>
                    </m:r>
                    <m:sSub>
                      <m:sSubPr>
                        <m:ctrlPr>
                          <a:rPr lang="en-US" altLang="zh-CN"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𝑛</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&gt;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𝑛</m:t>
                        </m:r>
                      </m:e>
                      <m:sub>
                        <m:r>
                          <a:rPr lang="en-US" altLang="zh-CN" b="0" i="1" smtClean="0">
                            <a:latin typeface="Cambria Math" panose="02040503050406030204" pitchFamily="18" charset="0"/>
                            <a:ea typeface="微软雅黑" panose="020B0503020204020204" pitchFamily="34" charset="-122"/>
                          </a:rPr>
                          <m:t>1</m:t>
                        </m:r>
                      </m:sub>
                    </m:sSub>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的界面上，应用边界条件可求得</a:t>
                </a:r>
                <a:r>
                  <a:rPr lang="zh-CN" altLang="en-US" b="1" dirty="0">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rPr>
                  <a:t>反射波和折射波的振幅大小</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1F19A0B5-22CB-FFCA-FB0F-74AF89801201}"/>
                  </a:ext>
                </a:extLst>
              </p:cNvPr>
              <p:cNvSpPr txBox="1">
                <a:spLocks noRot="1" noChangeAspect="1" noMove="1" noResize="1" noEditPoints="1" noAdjustHandles="1" noChangeArrowheads="1" noChangeShapeType="1" noTextEdit="1"/>
              </p:cNvSpPr>
              <p:nvPr/>
            </p:nvSpPr>
            <p:spPr>
              <a:xfrm>
                <a:off x="558265" y="1759466"/>
                <a:ext cx="6828055" cy="1707519"/>
              </a:xfrm>
              <a:prstGeom prst="rect">
                <a:avLst/>
              </a:prstGeom>
              <a:blipFill>
                <a:blip r:embed="rId2"/>
                <a:stretch>
                  <a:fillRect l="-625" b="-4643"/>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3935D584-E21A-DD1E-2091-F3EC35A4C122}"/>
              </a:ext>
            </a:extLst>
          </p:cNvPr>
          <p:cNvPicPr>
            <a:picLocks noChangeAspect="1"/>
          </p:cNvPicPr>
          <p:nvPr/>
        </p:nvPicPr>
        <p:blipFill>
          <a:blip r:embed="rId3"/>
          <a:stretch>
            <a:fillRect/>
          </a:stretch>
        </p:blipFill>
        <p:spPr>
          <a:xfrm>
            <a:off x="7386320" y="1357306"/>
            <a:ext cx="4701639" cy="4707257"/>
          </a:xfrm>
          <a:prstGeom prst="rect">
            <a:avLst/>
          </a:prstGeom>
        </p:spPr>
      </p:pic>
      <p:grpSp>
        <p:nvGrpSpPr>
          <p:cNvPr id="15" name="组合 14">
            <a:extLst>
              <a:ext uri="{FF2B5EF4-FFF2-40B4-BE49-F238E27FC236}">
                <a16:creationId xmlns:a16="http://schemas.microsoft.com/office/drawing/2014/main" id="{638F6715-A224-1359-EDDE-FAB21EB73A30}"/>
              </a:ext>
            </a:extLst>
          </p:cNvPr>
          <p:cNvGrpSpPr/>
          <p:nvPr/>
        </p:nvGrpSpPr>
        <p:grpSpPr>
          <a:xfrm>
            <a:off x="1212615" y="3710934"/>
            <a:ext cx="5421221" cy="2070046"/>
            <a:chOff x="6830720" y="3813247"/>
            <a:chExt cx="5421221" cy="2070046"/>
          </a:xfrm>
        </p:grpSpPr>
        <p:sp>
          <p:nvSpPr>
            <p:cNvPr id="7" name="文本框 6">
              <a:extLst>
                <a:ext uri="{FF2B5EF4-FFF2-40B4-BE49-F238E27FC236}">
                  <a16:creationId xmlns:a16="http://schemas.microsoft.com/office/drawing/2014/main" id="{ECE3AC5C-B880-FE13-0742-E7AD0AB0887F}"/>
                </a:ext>
              </a:extLst>
            </p:cNvPr>
            <p:cNvSpPr txBox="1"/>
            <p:nvPr/>
          </p:nvSpPr>
          <p:spPr>
            <a:xfrm>
              <a:off x="6830720" y="3813247"/>
              <a:ext cx="727193" cy="369332"/>
            </a:xfrm>
            <a:prstGeom prst="rect">
              <a:avLst/>
            </a:prstGeom>
            <a:noFill/>
          </p:spPr>
          <p:txBody>
            <a:bodyPr wrap="square" rtlCol="0">
              <a:spAutoFit/>
            </a:bodyPr>
            <a:lstStyle/>
            <a:p>
              <a:r>
                <a:rPr lang="en-US" altLang="zh-CN" dirty="0"/>
                <a:t>p</a:t>
              </a:r>
              <a:r>
                <a:rPr lang="zh-CN" altLang="en-US" dirty="0"/>
                <a:t>波：</a:t>
              </a:r>
            </a:p>
          </p:txBody>
        </p:sp>
        <p:graphicFrame>
          <p:nvGraphicFramePr>
            <p:cNvPr id="13" name="对象 12">
              <a:extLst>
                <a:ext uri="{FF2B5EF4-FFF2-40B4-BE49-F238E27FC236}">
                  <a16:creationId xmlns:a16="http://schemas.microsoft.com/office/drawing/2014/main" id="{2408306B-6A6F-45B1-837E-C7D97BE4A82D}"/>
                </a:ext>
              </a:extLst>
            </p:cNvPr>
            <p:cNvGraphicFramePr>
              <a:graphicFrameLocks noChangeAspect="1"/>
            </p:cNvGraphicFramePr>
            <p:nvPr/>
          </p:nvGraphicFramePr>
          <p:xfrm>
            <a:off x="7036513" y="5118095"/>
            <a:ext cx="5215428" cy="765198"/>
          </p:xfrm>
          <a:graphic>
            <a:graphicData uri="http://schemas.openxmlformats.org/presentationml/2006/ole">
              <mc:AlternateContent xmlns:mc="http://schemas.openxmlformats.org/markup-compatibility/2006">
                <mc:Choice xmlns:v="urn:schemas-microsoft-com:vml" Requires="v">
                  <p:oleObj name="Equation" r:id="rId4" imgW="3288960" imgH="482400" progId="Equation.DSMT4">
                    <p:embed/>
                  </p:oleObj>
                </mc:Choice>
                <mc:Fallback>
                  <p:oleObj name="Equation" r:id="rId4" imgW="3288960" imgH="482400" progId="Equation.DSMT4">
                    <p:embed/>
                    <p:pic>
                      <p:nvPicPr>
                        <p:cNvPr id="13" name="对象 12">
                          <a:extLst>
                            <a:ext uri="{FF2B5EF4-FFF2-40B4-BE49-F238E27FC236}">
                              <a16:creationId xmlns:a16="http://schemas.microsoft.com/office/drawing/2014/main" id="{2408306B-6A6F-45B1-837E-C7D97BE4A82D}"/>
                            </a:ext>
                          </a:extLst>
                        </p:cNvPr>
                        <p:cNvPicPr/>
                        <p:nvPr/>
                      </p:nvPicPr>
                      <p:blipFill>
                        <a:blip r:embed="rId5"/>
                        <a:stretch>
                          <a:fillRect/>
                        </a:stretch>
                      </p:blipFill>
                      <p:spPr>
                        <a:xfrm>
                          <a:off x="7036513" y="5118095"/>
                          <a:ext cx="5215428" cy="76519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D992B767-F0F7-6CE3-9529-7CCC929C6D7B}"/>
                </a:ext>
              </a:extLst>
            </p:cNvPr>
            <p:cNvGraphicFramePr>
              <a:graphicFrameLocks noChangeAspect="1"/>
            </p:cNvGraphicFramePr>
            <p:nvPr/>
          </p:nvGraphicFramePr>
          <p:xfrm>
            <a:off x="7194316" y="4247739"/>
            <a:ext cx="4449691" cy="816851"/>
          </p:xfrm>
          <a:graphic>
            <a:graphicData uri="http://schemas.openxmlformats.org/presentationml/2006/ole">
              <mc:AlternateContent xmlns:mc="http://schemas.openxmlformats.org/markup-compatibility/2006">
                <mc:Choice xmlns:v="urn:schemas-microsoft-com:vml" Requires="v">
                  <p:oleObj name="Equation" r:id="rId6" imgW="2628720" imgH="482400" progId="Equation.DSMT4">
                    <p:embed/>
                  </p:oleObj>
                </mc:Choice>
                <mc:Fallback>
                  <p:oleObj name="Equation" r:id="rId6" imgW="2628720" imgH="482400" progId="Equation.DSMT4">
                    <p:embed/>
                    <p:pic>
                      <p:nvPicPr>
                        <p:cNvPr id="14" name="对象 13">
                          <a:extLst>
                            <a:ext uri="{FF2B5EF4-FFF2-40B4-BE49-F238E27FC236}">
                              <a16:creationId xmlns:a16="http://schemas.microsoft.com/office/drawing/2014/main" id="{D992B767-F0F7-6CE3-9529-7CCC929C6D7B}"/>
                            </a:ext>
                          </a:extLst>
                        </p:cNvPr>
                        <p:cNvPicPr/>
                        <p:nvPr/>
                      </p:nvPicPr>
                      <p:blipFill>
                        <a:blip r:embed="rId7"/>
                        <a:stretch>
                          <a:fillRect/>
                        </a:stretch>
                      </p:blipFill>
                      <p:spPr>
                        <a:xfrm>
                          <a:off x="7194316" y="4247739"/>
                          <a:ext cx="4449691" cy="816851"/>
                        </a:xfrm>
                        <a:prstGeom prst="rect">
                          <a:avLst/>
                        </a:prstGeom>
                      </p:spPr>
                    </p:pic>
                  </p:oleObj>
                </mc:Fallback>
              </mc:AlternateContent>
            </a:graphicData>
          </a:graphic>
        </p:graphicFrame>
      </p:grpSp>
    </p:spTree>
    <p:extLst>
      <p:ext uri="{BB962C8B-B14F-4D97-AF65-F5344CB8AC3E}">
        <p14:creationId xmlns:p14="http://schemas.microsoft.com/office/powerpoint/2010/main" val="4285119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2.1.2  </a:t>
            </a:r>
            <a:r>
              <a:rPr lang="zh-CN" altLang="en-US" b="1" dirty="0">
                <a:solidFill>
                  <a:srgbClr val="002060"/>
                </a:solidFill>
              </a:rPr>
              <a:t>反射与折射</a:t>
            </a: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solidFill>
                  <a:prstClr val="black">
                    <a:tint val="75000"/>
                  </a:prstClr>
                </a:solidFill>
              </a:rPr>
              <a:t>9</a:t>
            </a:fld>
            <a:endParaRPr kumimoji="1" lang="zh-CN" altLang="en-US">
              <a:solidFill>
                <a:prstClr val="black">
                  <a:tint val="75000"/>
                </a:prstClr>
              </a:solidFill>
            </a:endParaRPr>
          </a:p>
        </p:txBody>
      </p:sp>
      <p:sp>
        <p:nvSpPr>
          <p:cNvPr id="2" name="矩形 1"/>
          <p:cNvSpPr/>
          <p:nvPr/>
        </p:nvSpPr>
        <p:spPr>
          <a:xfrm>
            <a:off x="883" y="6465020"/>
            <a:ext cx="20135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solidFill>
                  <a:prstClr val="black"/>
                </a:solidFill>
                <a:latin typeface="微软雅黑" panose="020B0503020204020204" pitchFamily="34" charset="-122"/>
                <a:ea typeface="微软雅黑" panose="020B0503020204020204" pitchFamily="34" charset="-122"/>
                <a:sym typeface="+mn-ea"/>
              </a:rPr>
              <a:t>第</a:t>
            </a:r>
            <a:r>
              <a:rPr lang="en-US" altLang="zh-CN" sz="1600">
                <a:solidFill>
                  <a:prstClr val="black"/>
                </a:solidFill>
                <a:latin typeface="微软雅黑" panose="020B0503020204020204" pitchFamily="34" charset="-122"/>
                <a:ea typeface="微软雅黑" panose="020B0503020204020204" pitchFamily="34" charset="-122"/>
                <a:sym typeface="+mn-ea"/>
              </a:rPr>
              <a:t>2</a:t>
            </a:r>
            <a:r>
              <a:rPr lang="zh-CN" altLang="en-US" sz="1600">
                <a:solidFill>
                  <a:prstClr val="black"/>
                </a:solidFill>
                <a:latin typeface="微软雅黑" panose="020B0503020204020204" pitchFamily="34" charset="-122"/>
                <a:ea typeface="微软雅黑" panose="020B0503020204020204" pitchFamily="34" charset="-122"/>
                <a:sym typeface="+mn-ea"/>
              </a:rPr>
              <a:t>章  </a:t>
            </a:r>
            <a:r>
              <a:rPr lang="en-US" altLang="zh-CN" sz="1600">
                <a:solidFill>
                  <a:prstClr val="black"/>
                </a:solidFill>
                <a:latin typeface="微软雅黑" panose="020B0503020204020204" pitchFamily="34" charset="-122"/>
                <a:ea typeface="微软雅黑" panose="020B0503020204020204" pitchFamily="34" charset="-122"/>
                <a:sym typeface="+mn-ea"/>
              </a:rPr>
              <a:t>光的特性及光电系统基础</a:t>
            </a:r>
            <a:r>
              <a:rPr lang="zh-CN" altLang="en-US" sz="1600">
                <a:solidFill>
                  <a:prstClr val="black"/>
                </a:solidFill>
                <a:latin typeface="微软雅黑" panose="020B0503020204020204" pitchFamily="34" charset="-122"/>
                <a:ea typeface="微软雅黑" panose="020B0503020204020204" pitchFamily="34" charset="-122"/>
              </a:rPr>
              <a:t> </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全反射与倏逝波</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558265" y="1759466"/>
            <a:ext cx="6452135" cy="175323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当光波</a:t>
            </a:r>
            <a:r>
              <a:rPr lang="zh-CN" altLang="en-US" b="1" kern="100" dirty="0">
                <a:solidFill>
                  <a:srgbClr val="FF0000"/>
                </a:solidFill>
                <a:latin typeface="微软雅黑" panose="020B0503020204020204" pitchFamily="34" charset="-122"/>
                <a:ea typeface="微软雅黑" panose="020B0503020204020204" pitchFamily="34" charset="-122"/>
              </a:rPr>
              <a:t>从折射率较高的光密介质射向折射率较低的光疏介质</a:t>
            </a:r>
            <a:r>
              <a:rPr lang="zh-CN" altLang="en-US" kern="100" dirty="0">
                <a:latin typeface="微软雅黑" panose="020B0503020204020204" pitchFamily="34" charset="-122"/>
                <a:ea typeface="微软雅黑" panose="020B0503020204020204" pitchFamily="34" charset="-122"/>
              </a:rPr>
              <a:t>时，若</a:t>
            </a:r>
            <a:r>
              <a:rPr lang="zh-CN" altLang="en-US" b="1" kern="100" dirty="0">
                <a:solidFill>
                  <a:schemeClr val="accent1"/>
                </a:solidFill>
                <a:latin typeface="微软雅黑" panose="020B0503020204020204" pitchFamily="34" charset="-122"/>
                <a:ea typeface="微软雅黑" panose="020B0503020204020204" pitchFamily="34" charset="-122"/>
              </a:rPr>
              <a:t>入射角增大到一定程度</a:t>
            </a:r>
            <a:r>
              <a:rPr lang="zh-CN" altLang="en-US" kern="100" dirty="0">
                <a:latin typeface="微软雅黑" panose="020B0503020204020204" pitchFamily="34" charset="-122"/>
                <a:ea typeface="微软雅黑" panose="020B0503020204020204" pitchFamily="34" charset="-122"/>
              </a:rPr>
              <a:t>，由折射定律会出现以下情况：</a:t>
            </a:r>
            <a:endParaRPr lang="en-US" altLang="zh-CN" kern="100" dirty="0">
              <a:latin typeface="微软雅黑" panose="020B0503020204020204" pitchFamily="34" charset="-122"/>
              <a:ea typeface="微软雅黑" panose="020B0503020204020204" pitchFamily="34" charset="-122"/>
            </a:endParaRPr>
          </a:p>
          <a:p>
            <a:pPr algn="just">
              <a:lnSpc>
                <a:spcPct val="150000"/>
              </a:lnSpc>
            </a:pPr>
            <a:endParaRPr lang="en-US" altLang="zh-CN" kern="100" dirty="0">
              <a:effectLst/>
              <a:latin typeface="微软雅黑" panose="020B0503020204020204" pitchFamily="34" charset="-122"/>
              <a:ea typeface="微软雅黑" panose="020B0503020204020204" pitchFamily="34" charset="-122"/>
            </a:endParaRPr>
          </a:p>
          <a:p>
            <a:pPr algn="just">
              <a:lnSpc>
                <a:spcPct val="150000"/>
              </a:lnSpc>
            </a:pPr>
            <a:endParaRPr lang="zh-CN" altLang="en-US" kern="100" dirty="0">
              <a:effectLst/>
              <a:latin typeface="微软雅黑" panose="020B0503020204020204" pitchFamily="34" charset="-122"/>
              <a:ea typeface="微软雅黑" panose="020B0503020204020204" pitchFamily="34" charset="-122"/>
            </a:endParaRPr>
          </a:p>
        </p:txBody>
      </p:sp>
      <p:pic>
        <p:nvPicPr>
          <p:cNvPr id="10242" name="Picture 2" descr="C:\Users\user\AppData\Local\Temp\ksohtml32352\wps3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744" y="2612617"/>
            <a:ext cx="2244399" cy="855009"/>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p:cNvPicPr>
            <a:picLocks noChangeAspect="1" noChangeArrowheads="1"/>
          </p:cNvPicPr>
          <p:nvPr/>
        </p:nvPicPr>
        <p:blipFill>
          <a:blip r:embed="rId3" cstate="print">
            <a:extLst>
              <a:ext uri="{28A0092B-C50C-407E-A947-70E740481C1C}">
                <a14:useLocalDpi xmlns:a14="http://schemas.microsoft.com/office/drawing/2010/main" val="0"/>
              </a:ext>
            </a:extLst>
          </a:blip>
          <a:srcRect l="16721" t="15720" r="12206" b="6521"/>
          <a:stretch>
            <a:fillRect/>
          </a:stretch>
        </p:blipFill>
        <p:spPr>
          <a:xfrm>
            <a:off x="7004317" y="1532543"/>
            <a:ext cx="5187683" cy="3191857"/>
          </a:xfrm>
          <a:prstGeom prst="rect">
            <a:avLst/>
          </a:prstGeom>
          <a:noFill/>
          <a:ln>
            <a:noFill/>
          </a:ln>
        </p:spPr>
      </p:pic>
      <p:sp>
        <p:nvSpPr>
          <p:cNvPr id="7" name="矩形 6"/>
          <p:cNvSpPr/>
          <p:nvPr/>
        </p:nvSpPr>
        <p:spPr>
          <a:xfrm>
            <a:off x="8428397" y="4773117"/>
            <a:ext cx="2223686" cy="507831"/>
          </a:xfrm>
          <a:prstGeom prst="rect">
            <a:avLst/>
          </a:prstGeom>
        </p:spPr>
        <p:txBody>
          <a:bodyPr wrap="none">
            <a:spAutoFit/>
          </a:bodyPr>
          <a:lstStyle/>
          <a:p>
            <a:pPr algn="ctr">
              <a:lnSpc>
                <a:spcPct val="150000"/>
              </a:lnSpc>
            </a:pPr>
            <a:r>
              <a:rPr lang="zh-CN" altLang="en-US" kern="100" dirty="0">
                <a:solidFill>
                  <a:srgbClr val="1014B4"/>
                </a:solidFill>
                <a:latin typeface="宋体" panose="02010600030101010101" pitchFamily="2" charset="-122"/>
                <a:ea typeface="宋体" panose="02010600030101010101" pitchFamily="2" charset="-122"/>
                <a:cs typeface="Times New Roman" panose="02020603050405020304" pitchFamily="18" charset="0"/>
              </a:rPr>
              <a:t>图</a:t>
            </a:r>
            <a:r>
              <a:rPr lang="en-US" altLang="zh-CN" kern="100" dirty="0">
                <a:solidFill>
                  <a:srgbClr val="1014B4"/>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kern="100" dirty="0">
                <a:solidFill>
                  <a:srgbClr val="1014B4"/>
                </a:solidFill>
                <a:latin typeface="Times New Roman" panose="02020603050405020304" pitchFamily="18" charset="0"/>
                <a:ea typeface="宋体" panose="02010600030101010101" pitchFamily="2" charset="-122"/>
              </a:rPr>
              <a:t>-4</a:t>
            </a:r>
            <a:r>
              <a:rPr lang="zh-CN" altLang="en-US" kern="100" dirty="0">
                <a:solidFill>
                  <a:srgbClr val="1014B4"/>
                </a:solidFill>
                <a:latin typeface="宋体" panose="02010600030101010101" pitchFamily="2" charset="-122"/>
                <a:ea typeface="宋体" panose="02010600030101010101" pitchFamily="2" charset="-122"/>
                <a:cs typeface="Times New Roman" panose="02020603050405020304" pitchFamily="18" charset="0"/>
              </a:rPr>
              <a:t> 倏逝波示意图</a:t>
            </a:r>
            <a:endParaRPr lang="zh-CN" altLang="en-US" kern="100" dirty="0">
              <a:solidFill>
                <a:srgbClr val="1014B4"/>
              </a:solidFill>
              <a:effectLst/>
              <a:latin typeface="Times New Roman" panose="02020603050405020304" pitchFamily="18" charset="0"/>
              <a:ea typeface="宋体" panose="02010600030101010101" pitchFamily="2" charset="-122"/>
            </a:endParaRPr>
          </a:p>
        </p:txBody>
      </p:sp>
      <p:sp>
        <p:nvSpPr>
          <p:cNvPr id="3" name="文本框 2"/>
          <p:cNvSpPr txBox="1"/>
          <p:nvPr/>
        </p:nvSpPr>
        <p:spPr>
          <a:xfrm>
            <a:off x="596265" y="3467735"/>
            <a:ext cx="6096000" cy="2120902"/>
          </a:xfrm>
          <a:prstGeom prst="rect">
            <a:avLst/>
          </a:prstGeom>
          <a:noFill/>
        </p:spPr>
        <p:txBody>
          <a:bodyPr wrap="square" rtlCol="0" anchor="t">
            <a:spAutoFit/>
          </a:bodyPr>
          <a:lstStyle/>
          <a:p>
            <a:pPr algn="just">
              <a:lnSpc>
                <a:spcPct val="150000"/>
              </a:lnSpc>
            </a:pPr>
            <a:r>
              <a:rPr lang="zh-CN" altLang="en-US" kern="100" dirty="0">
                <a:latin typeface="微软雅黑" panose="020B0503020204020204" pitchFamily="34" charset="-122"/>
                <a:ea typeface="微软雅黑" panose="020B0503020204020204" pitchFamily="34" charset="-122"/>
                <a:sym typeface="+mn-ea"/>
              </a:rPr>
              <a:t>    即</a:t>
            </a:r>
            <a:r>
              <a:rPr lang="zh-CN" altLang="en-US" b="1" kern="100" dirty="0">
                <a:solidFill>
                  <a:srgbClr val="FF0000"/>
                </a:solidFill>
                <a:latin typeface="微软雅黑" panose="020B0503020204020204" pitchFamily="34" charset="-122"/>
                <a:ea typeface="微软雅黑" panose="020B0503020204020204" pitchFamily="34" charset="-122"/>
                <a:sym typeface="+mn-ea"/>
              </a:rPr>
              <a:t>不存在满足条件的折射角</a:t>
            </a:r>
            <a:r>
              <a:rPr lang="zh-CN" altLang="en-US" kern="100" dirty="0">
                <a:latin typeface="微软雅黑" panose="020B0503020204020204" pitchFamily="34" charset="-122"/>
                <a:ea typeface="微软雅黑" panose="020B0503020204020204" pitchFamily="34" charset="-122"/>
                <a:sym typeface="+mn-ea"/>
              </a:rPr>
              <a:t>。</a:t>
            </a:r>
            <a:endParaRPr lang="en-US" altLang="zh-CN" kern="100" dirty="0">
              <a:latin typeface="微软雅黑" panose="020B0503020204020204" pitchFamily="34" charset="-122"/>
              <a:ea typeface="微软雅黑" panose="020B0503020204020204" pitchFamily="34" charset="-122"/>
              <a:sym typeface="+mn-ea"/>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sym typeface="+mn-ea"/>
              </a:rPr>
              <a:t>所有入射光都从界面反射出去的现象称为</a:t>
            </a:r>
            <a:r>
              <a:rPr lang="zh-CN" altLang="en-US" b="1" kern="100" dirty="0">
                <a:solidFill>
                  <a:srgbClr val="FF0000"/>
                </a:solidFill>
                <a:latin typeface="微软雅黑" panose="020B0503020204020204" pitchFamily="34" charset="-122"/>
                <a:ea typeface="微软雅黑" panose="020B0503020204020204" pitchFamily="34" charset="-122"/>
                <a:sym typeface="+mn-ea"/>
              </a:rPr>
              <a:t>全反射</a:t>
            </a:r>
            <a:r>
              <a:rPr lang="zh-CN" altLang="en-US" kern="100" dirty="0">
                <a:latin typeface="微软雅黑" panose="020B0503020204020204" pitchFamily="34" charset="-122"/>
                <a:ea typeface="微软雅黑" panose="020B0503020204020204" pitchFamily="34" charset="-122"/>
                <a:sym typeface="+mn-ea"/>
              </a:rPr>
              <a:t>，此时对应的入射角度称为</a:t>
            </a:r>
            <a:r>
              <a:rPr lang="zh-CN" altLang="en-US" b="1" kern="100" dirty="0">
                <a:solidFill>
                  <a:srgbClr val="FF0000"/>
                </a:solidFill>
                <a:latin typeface="微软雅黑" panose="020B0503020204020204" pitchFamily="34" charset="-122"/>
                <a:ea typeface="微软雅黑" panose="020B0503020204020204" pitchFamily="34" charset="-122"/>
                <a:sym typeface="+mn-ea"/>
              </a:rPr>
              <a:t>临界角</a:t>
            </a:r>
            <a:r>
              <a:rPr lang="zh-CN" altLang="en-US" kern="100" dirty="0">
                <a:latin typeface="微软雅黑" panose="020B0503020204020204" pitchFamily="34" charset="-122"/>
                <a:ea typeface="微软雅黑" panose="020B0503020204020204" pitchFamily="34" charset="-122"/>
                <a:sym typeface="+mn-ea"/>
              </a:rPr>
              <a:t>。</a:t>
            </a:r>
            <a:endParaRPr lang="en-US" altLang="zh-CN" kern="100" dirty="0">
              <a:latin typeface="微软雅黑" panose="020B0503020204020204" pitchFamily="34" charset="-122"/>
              <a:ea typeface="微软雅黑" panose="020B0503020204020204" pitchFamily="34" charset="-122"/>
              <a:sym typeface="+mn-ea"/>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sym typeface="+mn-ea"/>
              </a:rPr>
              <a:t>当入射角大于临界角，则入射到光密介质的光波就会产生全反射现象，这也是大多数光纤与波导的导光机制。</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2.1.3  </a:t>
            </a:r>
            <a:r>
              <a:rPr lang="zh-CN" altLang="en-US" b="1" dirty="0">
                <a:solidFill>
                  <a:srgbClr val="002060"/>
                </a:solidFill>
              </a:rPr>
              <a:t>干涉与衍射</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10</a:t>
            </a:fld>
            <a:endParaRPr kumimoji="1" lang="zh-CN" altLang="en-US"/>
          </a:p>
        </p:txBody>
      </p:sp>
      <p:sp>
        <p:nvSpPr>
          <p:cNvPr id="7" name="文本框 6"/>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光的干涉条件</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558265" y="1759466"/>
            <a:ext cx="11034295" cy="458908"/>
          </a:xfrm>
          <a:prstGeom prst="rect">
            <a:avLst/>
          </a:prstGeom>
          <a:noFill/>
        </p:spPr>
        <p:txBody>
          <a:bodyPr wrap="square" rtlCol="0">
            <a:spAutoFit/>
          </a:bodyPr>
          <a:lstStyle/>
          <a:p>
            <a:pPr algn="just">
              <a:lnSpc>
                <a:spcPct val="150000"/>
              </a:lnSpc>
            </a:pPr>
            <a:r>
              <a:rPr lang="zh-CN" altLang="en-US" kern="100" dirty="0">
                <a:latin typeface="微软雅黑" panose="020B0503020204020204" pitchFamily="34" charset="-122"/>
                <a:ea typeface="微软雅黑" panose="020B0503020204020204" pitchFamily="34" charset="-122"/>
              </a:rPr>
              <a:t>空间特定区域内多个光波叠加形成稳定强弱分布的现象称为</a:t>
            </a:r>
            <a:r>
              <a:rPr lang="zh-CN" altLang="en-US" b="1" kern="100" dirty="0">
                <a:solidFill>
                  <a:srgbClr val="FF0000"/>
                </a:solidFill>
                <a:latin typeface="微软雅黑" panose="020B0503020204020204" pitchFamily="34" charset="-122"/>
                <a:ea typeface="微软雅黑" panose="020B0503020204020204" pitchFamily="34" charset="-122"/>
              </a:rPr>
              <a:t>光的干涉</a:t>
            </a:r>
            <a:r>
              <a:rPr lang="zh-CN" altLang="en-US" kern="100" dirty="0">
                <a:latin typeface="微软雅黑" panose="020B0503020204020204" pitchFamily="34" charset="-122"/>
                <a:ea typeface="微软雅黑" panose="020B0503020204020204" pitchFamily="34" charset="-122"/>
              </a:rPr>
              <a:t>。</a:t>
            </a:r>
            <a:endParaRPr lang="en-US" altLang="zh-CN" kern="100" dirty="0">
              <a:latin typeface="微软雅黑" panose="020B0503020204020204" pitchFamily="34" charset="-122"/>
              <a:ea typeface="微软雅黑" panose="020B0503020204020204" pitchFamily="34" charset="-122"/>
            </a:endParaRPr>
          </a:p>
        </p:txBody>
      </p:sp>
      <p:sp>
        <p:nvSpPr>
          <p:cNvPr id="3" name="矩形 2"/>
          <p:cNvSpPr/>
          <p:nvPr/>
        </p:nvSpPr>
        <p:spPr>
          <a:xfrm>
            <a:off x="558265" y="2269114"/>
            <a:ext cx="6711302" cy="458908"/>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产生干涉的光波需要满足以下条件：</a:t>
            </a:r>
            <a:endParaRPr lang="en-US" altLang="zh-CN" kern="100" dirty="0">
              <a:latin typeface="微软雅黑" panose="020B0503020204020204" pitchFamily="34" charset="-122"/>
              <a:ea typeface="微软雅黑" panose="020B0503020204020204" pitchFamily="34" charset="-122"/>
            </a:endParaRPr>
          </a:p>
        </p:txBody>
      </p:sp>
      <p:sp>
        <p:nvSpPr>
          <p:cNvPr id="9" name="矩形 8"/>
          <p:cNvSpPr/>
          <p:nvPr/>
        </p:nvSpPr>
        <p:spPr>
          <a:xfrm>
            <a:off x="558265" y="4206559"/>
            <a:ext cx="10682169" cy="458908"/>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根据相干光源的不同产生方法（分振幅式、分波前式、多路反射式等），可以形成不同的干涉结果。</a:t>
            </a:r>
          </a:p>
        </p:txBody>
      </p:sp>
      <p:sp>
        <p:nvSpPr>
          <p:cNvPr id="11" name="文本框 10">
            <a:extLst>
              <a:ext uri="{FF2B5EF4-FFF2-40B4-BE49-F238E27FC236}">
                <a16:creationId xmlns:a16="http://schemas.microsoft.com/office/drawing/2014/main" id="{212E4550-4110-5427-56B7-32C1110E0DBE}"/>
              </a:ext>
            </a:extLst>
          </p:cNvPr>
          <p:cNvSpPr txBox="1"/>
          <p:nvPr/>
        </p:nvSpPr>
        <p:spPr>
          <a:xfrm>
            <a:off x="884767" y="2728022"/>
            <a:ext cx="6155266" cy="1289905"/>
          </a:xfrm>
          <a:prstGeom prst="rect">
            <a:avLst/>
          </a:prstGeom>
          <a:noFill/>
        </p:spPr>
        <p:txBody>
          <a:bodyPr wrap="square">
            <a:spAutoFit/>
          </a:bodyPr>
          <a:lstStyle/>
          <a:p>
            <a:pPr marL="432000" indent="-285750" algn="just">
              <a:lnSpc>
                <a:spcPct val="150000"/>
              </a:lnSpc>
              <a:buFont typeface="Wingdings" panose="05000000000000000000" pitchFamily="2" charset="2"/>
              <a:buChar char="ü"/>
            </a:pPr>
            <a:r>
              <a:rPr lang="zh-CN" altLang="en-US" b="1" kern="100" dirty="0">
                <a:solidFill>
                  <a:srgbClr val="FF0000"/>
                </a:solidFill>
                <a:latin typeface="微软雅黑" panose="020B0503020204020204" pitchFamily="34" charset="-122"/>
                <a:ea typeface="微软雅黑" panose="020B0503020204020204" pitchFamily="34" charset="-122"/>
              </a:rPr>
              <a:t>频率相同</a:t>
            </a:r>
            <a:endParaRPr lang="en-US" altLang="zh-CN" b="1" kern="100" dirty="0">
              <a:solidFill>
                <a:srgbClr val="FF0000"/>
              </a:solidFill>
              <a:latin typeface="微软雅黑" panose="020B0503020204020204" pitchFamily="34" charset="-122"/>
              <a:ea typeface="微软雅黑" panose="020B0503020204020204" pitchFamily="34" charset="-122"/>
            </a:endParaRPr>
          </a:p>
          <a:p>
            <a:pPr marL="432000" indent="-285750" algn="just">
              <a:lnSpc>
                <a:spcPct val="150000"/>
              </a:lnSpc>
              <a:buFont typeface="Wingdings" panose="05000000000000000000" pitchFamily="2" charset="2"/>
              <a:buChar char="ü"/>
            </a:pPr>
            <a:r>
              <a:rPr lang="zh-CN" altLang="en-US" b="1" kern="100" dirty="0">
                <a:solidFill>
                  <a:srgbClr val="FF0000"/>
                </a:solidFill>
                <a:latin typeface="微软雅黑" panose="020B0503020204020204" pitchFamily="34" charset="-122"/>
                <a:ea typeface="微软雅黑" panose="020B0503020204020204" pitchFamily="34" charset="-122"/>
              </a:rPr>
              <a:t>振动方向相同或者存在振动方向相同的分量</a:t>
            </a:r>
            <a:endParaRPr lang="en-US" altLang="zh-CN" kern="100" dirty="0">
              <a:latin typeface="微软雅黑" panose="020B0503020204020204" pitchFamily="34" charset="-122"/>
              <a:ea typeface="微软雅黑" panose="020B0503020204020204" pitchFamily="34" charset="-122"/>
            </a:endParaRPr>
          </a:p>
          <a:p>
            <a:pPr marL="432000" indent="-285750" algn="just">
              <a:lnSpc>
                <a:spcPct val="150000"/>
              </a:lnSpc>
              <a:buFont typeface="Wingdings" panose="05000000000000000000" pitchFamily="2" charset="2"/>
              <a:buChar char="ü"/>
            </a:pPr>
            <a:r>
              <a:rPr lang="zh-CN" altLang="en-US" b="1" kern="100" dirty="0">
                <a:solidFill>
                  <a:srgbClr val="FF0000"/>
                </a:solidFill>
                <a:latin typeface="微软雅黑" panose="020B0503020204020204" pitchFamily="34" charset="-122"/>
                <a:ea typeface="微软雅黑" panose="020B0503020204020204" pitchFamily="34" charset="-122"/>
              </a:rPr>
              <a:t>相位差恒定</a:t>
            </a:r>
          </a:p>
        </p:txBody>
      </p:sp>
      <p:sp>
        <p:nvSpPr>
          <p:cNvPr id="12" name="文本框 11">
            <a:extLst>
              <a:ext uri="{FF2B5EF4-FFF2-40B4-BE49-F238E27FC236}">
                <a16:creationId xmlns:a16="http://schemas.microsoft.com/office/drawing/2014/main" id="{8A814FA5-789D-4015-8982-B74A9DD8DF1F}"/>
              </a:ext>
            </a:extLst>
          </p:cNvPr>
          <p:cNvSpPr txBox="1"/>
          <p:nvPr/>
        </p:nvSpPr>
        <p:spPr>
          <a:xfrm>
            <a:off x="1007675" y="4723299"/>
            <a:ext cx="6155266" cy="1289905"/>
          </a:xfrm>
          <a:prstGeom prst="rect">
            <a:avLst/>
          </a:prstGeom>
          <a:noFill/>
        </p:spPr>
        <p:txBody>
          <a:bodyPr wrap="square">
            <a:spAutoFit/>
          </a:bodyPr>
          <a:lstStyle/>
          <a:p>
            <a:pPr marL="432000" indent="-285750" algn="just">
              <a:lnSpc>
                <a:spcPct val="150000"/>
              </a:lnSpc>
              <a:buFont typeface="Arial" panose="020B0604020202020204" pitchFamily="34" charset="0"/>
              <a:buChar char="•"/>
            </a:pPr>
            <a:r>
              <a:rPr lang="zh-CN" altLang="en-US" kern="100" dirty="0">
                <a:latin typeface="微软雅黑" panose="020B0503020204020204" pitchFamily="34" charset="-122"/>
                <a:ea typeface="微软雅黑" panose="020B0503020204020204" pitchFamily="34" charset="-122"/>
              </a:rPr>
              <a:t>杨氏双缝干涉</a:t>
            </a:r>
            <a:endParaRPr lang="en-US" altLang="zh-CN" kern="100" dirty="0">
              <a:latin typeface="微软雅黑" panose="020B0503020204020204" pitchFamily="34" charset="-122"/>
              <a:ea typeface="微软雅黑" panose="020B0503020204020204" pitchFamily="34" charset="-122"/>
            </a:endParaRPr>
          </a:p>
          <a:p>
            <a:pPr marL="432000" indent="-285750" algn="just">
              <a:lnSpc>
                <a:spcPct val="150000"/>
              </a:lnSpc>
              <a:buFont typeface="Arial" panose="020B0604020202020204" pitchFamily="34" charset="0"/>
              <a:buChar char="•"/>
            </a:pPr>
            <a:r>
              <a:rPr lang="zh-CN" altLang="en-US" kern="100" dirty="0">
                <a:latin typeface="微软雅黑" panose="020B0503020204020204" pitchFamily="34" charset="-122"/>
                <a:ea typeface="微软雅黑" panose="020B0503020204020204" pitchFamily="34" charset="-122"/>
              </a:rPr>
              <a:t>等倾干涉</a:t>
            </a:r>
            <a:endParaRPr lang="en-US" altLang="zh-CN" kern="100" dirty="0">
              <a:latin typeface="微软雅黑" panose="020B0503020204020204" pitchFamily="34" charset="-122"/>
              <a:ea typeface="微软雅黑" panose="020B0503020204020204" pitchFamily="34" charset="-122"/>
            </a:endParaRPr>
          </a:p>
          <a:p>
            <a:pPr marL="432000" indent="-285750" algn="just">
              <a:lnSpc>
                <a:spcPct val="150000"/>
              </a:lnSpc>
              <a:buFont typeface="Arial" panose="020B0604020202020204" pitchFamily="34" charset="0"/>
              <a:buChar char="•"/>
            </a:pPr>
            <a:r>
              <a:rPr lang="zh-CN" altLang="en-US" kern="100" dirty="0">
                <a:latin typeface="微软雅黑" panose="020B0503020204020204" pitchFamily="34" charset="-122"/>
                <a:ea typeface="微软雅黑" panose="020B0503020204020204" pitchFamily="34" charset="-122"/>
              </a:rPr>
              <a:t>等厚干涉</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2.1.3  </a:t>
            </a:r>
            <a:r>
              <a:rPr lang="zh-CN" altLang="en-US" b="1" dirty="0">
                <a:solidFill>
                  <a:srgbClr val="002060"/>
                </a:solidFill>
              </a:rPr>
              <a:t>干涉与衍射</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11</a:t>
            </a:fld>
            <a:endParaRPr kumimoji="1" lang="zh-CN" altLang="en-US"/>
          </a:p>
        </p:txBody>
      </p:sp>
      <p:sp>
        <p:nvSpPr>
          <p:cNvPr id="7" name="文本框 6"/>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多种干涉实验</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5301541" y="2871975"/>
            <a:ext cx="6890459" cy="2071738"/>
          </a:xfrm>
          <a:prstGeom prst="rect">
            <a:avLst/>
          </a:prstGeom>
          <a:noFill/>
          <a:ln>
            <a:noFill/>
          </a:ln>
        </p:spPr>
      </p:pic>
      <p:sp>
        <p:nvSpPr>
          <p:cNvPr id="3" name="文本框 2"/>
          <p:cNvSpPr txBox="1"/>
          <p:nvPr/>
        </p:nvSpPr>
        <p:spPr>
          <a:xfrm>
            <a:off x="394871" y="1692000"/>
            <a:ext cx="2789132" cy="39878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）杨氏双缝干涉</a:t>
            </a:r>
          </a:p>
        </p:txBody>
      </p:sp>
      <mc:AlternateContent xmlns:mc="http://schemas.openxmlformats.org/markup-compatibility/2006" xmlns:a14="http://schemas.microsoft.com/office/drawing/2010/main">
        <mc:Choice Requires="a14">
          <p:sp>
            <p:nvSpPr>
              <p:cNvPr id="23" name="文本框 22"/>
              <p:cNvSpPr txBox="1"/>
              <p:nvPr/>
            </p:nvSpPr>
            <p:spPr>
              <a:xfrm>
                <a:off x="1054897" y="2191089"/>
                <a:ext cx="10325947" cy="862964"/>
              </a:xfrm>
              <a:prstGeom prst="rect">
                <a:avLst/>
              </a:prstGeom>
              <a:noFill/>
            </p:spPr>
            <p:txBody>
              <a:bodyPr wrap="square" rtlCol="0">
                <a:noAutofit/>
              </a:bodyPr>
              <a:lstStyle/>
              <a:p>
                <a:pPr algn="just">
                  <a:lnSpc>
                    <a:spcPct val="150000"/>
                  </a:lnSpc>
                </a:pPr>
                <a:r>
                  <a:rPr lang="zh-CN" altLang="en-US" kern="100" dirty="0">
                    <a:latin typeface="微软雅黑" panose="020B0503020204020204" pitchFamily="34" charset="-122"/>
                    <a:ea typeface="微软雅黑" panose="020B0503020204020204" pitchFamily="34" charset="-122"/>
                  </a:rPr>
                  <a:t>光源为</a:t>
                </a:r>
                <a:r>
                  <a:rPr lang="zh-CN" altLang="en-US" b="1" kern="100" dirty="0">
                    <a:solidFill>
                      <a:srgbClr val="FF0000"/>
                    </a:solidFill>
                    <a:latin typeface="微软雅黑" panose="020B0503020204020204" pitchFamily="34" charset="-122"/>
                    <a:ea typeface="微软雅黑" panose="020B0503020204020204" pitchFamily="34" charset="-122"/>
                  </a:rPr>
                  <a:t>单色光源</a:t>
                </a:r>
                <a:r>
                  <a:rPr lang="zh-CN" altLang="en-US" kern="100" dirty="0">
                    <a:latin typeface="微软雅黑" panose="020B0503020204020204" pitchFamily="34" charset="-122"/>
                    <a:ea typeface="微软雅黑" panose="020B0503020204020204" pitchFamily="34" charset="-122"/>
                  </a:rPr>
                  <a:t>，</a:t>
                </a:r>
                <a14:m>
                  <m:oMath xmlns:m="http://schemas.openxmlformats.org/officeDocument/2006/math">
                    <m: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t>𝑺</m:t>
                    </m:r>
                  </m:oMath>
                </a14:m>
                <a:r>
                  <a:rPr lang="zh-CN" altLang="en-US" kern="100" dirty="0">
                    <a:latin typeface="微软雅黑" panose="020B0503020204020204" pitchFamily="34" charset="-122"/>
                    <a:ea typeface="微软雅黑" panose="020B0503020204020204" pitchFamily="34" charset="-122"/>
                  </a:rPr>
                  <a:t>是一小孔，</a:t>
                </a:r>
                <a14:m>
                  <m:oMath xmlns:m="http://schemas.openxmlformats.org/officeDocument/2006/math">
                    <m:sSub>
                      <m:sSubPr>
                        <m:ctrlP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t>𝑺</m:t>
                        </m:r>
                      </m:e>
                      <m:sub>
                        <m:r>
                          <a:rPr lang="en-US" altLang="zh-CN" b="1" i="1" kern="100" dirty="0" smtClean="0">
                            <a:latin typeface="Cambria Math" panose="02040503050406030204" pitchFamily="18" charset="0"/>
                            <a:ea typeface="MS Mincho" charset="0"/>
                            <a:cs typeface="Cambria Math" panose="02040503050406030204" pitchFamily="18" charset="0"/>
                          </a:rPr>
                          <m:t>𝟏</m:t>
                        </m:r>
                      </m:sub>
                    </m:sSub>
                    <m:r>
                      <a:rPr lang="en-US" altLang="zh-CN" b="1" i="1" kern="100" dirty="0" smtClean="0">
                        <a:latin typeface="Cambria Math" panose="02040503050406030204" pitchFamily="18" charset="0"/>
                        <a:ea typeface="MS Mincho" charset="0"/>
                        <a:cs typeface="Cambria Math" panose="02040503050406030204" pitchFamily="18" charset="0"/>
                      </a:rPr>
                      <m:t>、</m:t>
                    </m:r>
                    <m:sSub>
                      <m:sSubPr>
                        <m:ctrlP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t>𝑺</m:t>
                        </m:r>
                      </m:e>
                      <m:sub>
                        <m:r>
                          <a:rPr lang="en-US" altLang="zh-CN" b="1" i="1" kern="100" dirty="0" smtClean="0">
                            <a:latin typeface="Cambria Math" panose="02040503050406030204" pitchFamily="18" charset="0"/>
                            <a:ea typeface="MS Mincho" charset="0"/>
                            <a:cs typeface="Cambria Math" panose="02040503050406030204" pitchFamily="18" charset="0"/>
                          </a:rPr>
                          <m:t>𝟐</m:t>
                        </m:r>
                      </m:sub>
                    </m:sSub>
                  </m:oMath>
                </a14:m>
                <a:r>
                  <a:rPr lang="zh-CN" altLang="en-US" kern="100" dirty="0">
                    <a:latin typeface="微软雅黑" panose="020B0503020204020204" pitchFamily="34" charset="-122"/>
                    <a:ea typeface="微软雅黑" panose="020B0503020204020204" pitchFamily="34" charset="-122"/>
                  </a:rPr>
                  <a:t>是屏A上两个对称小孔，由</a:t>
                </a:r>
                <a14:m>
                  <m:oMath xmlns:m="http://schemas.openxmlformats.org/officeDocument/2006/math">
                    <m: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t>𝑺</m:t>
                    </m:r>
                  </m:oMath>
                </a14:m>
                <a:r>
                  <a:rPr lang="zh-CN" altLang="en-US" kern="100" dirty="0">
                    <a:latin typeface="微软雅黑" panose="020B0503020204020204" pitchFamily="34" charset="-122"/>
                    <a:ea typeface="微软雅黑" panose="020B0503020204020204" pitchFamily="34" charset="-122"/>
                  </a:rPr>
                  <a:t>出射的光波经过</a:t>
                </a:r>
                <a14:m>
                  <m:oMath xmlns:m="http://schemas.openxmlformats.org/officeDocument/2006/math">
                    <m:sSub>
                      <m:sSubPr>
                        <m:ctrlP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t>𝑺</m:t>
                        </m:r>
                      </m:e>
                      <m:sub>
                        <m: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t>𝟏</m:t>
                        </m:r>
                      </m:sub>
                    </m:sSub>
                    <m:r>
                      <a:rPr lang="en-US" altLang="zh-CN" b="1" i="1" kern="100" dirty="0" smtClean="0">
                        <a:latin typeface="Cambria Math" panose="02040503050406030204" pitchFamily="18" charset="0"/>
                        <a:ea typeface="MS Mincho" charset="0"/>
                        <a:cs typeface="Cambria Math" panose="02040503050406030204" pitchFamily="18" charset="0"/>
                      </a:rPr>
                      <m:t>、</m:t>
                    </m:r>
                    <m:sSub>
                      <m:sSubPr>
                        <m:ctrlP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t>𝑺</m:t>
                        </m:r>
                      </m:e>
                      <m:sub>
                        <m:r>
                          <a:rPr lang="en-US" altLang="zh-CN" b="1" i="1" kern="100" dirty="0" smtClean="0">
                            <a:latin typeface="Cambria Math" panose="02040503050406030204" pitchFamily="18" charset="0"/>
                            <a:ea typeface="微软雅黑" panose="020B0503020204020204" pitchFamily="34" charset="-122"/>
                            <a:cs typeface="Cambria Math" panose="02040503050406030204" pitchFamily="18" charset="0"/>
                          </a:rPr>
                          <m:t>𝟐</m:t>
                        </m:r>
                      </m:sub>
                    </m:sSub>
                  </m:oMath>
                </a14:m>
                <a:r>
                  <a:rPr lang="zh-CN" altLang="en-US" b="1" kern="100" dirty="0">
                    <a:solidFill>
                      <a:srgbClr val="FF0000"/>
                    </a:solidFill>
                    <a:latin typeface="微软雅黑" panose="020B0503020204020204" pitchFamily="34" charset="-122"/>
                    <a:ea typeface="微软雅黑" panose="020B0503020204020204" pitchFamily="34" charset="-122"/>
                  </a:rPr>
                  <a:t>分为两束</a:t>
                </a:r>
                <a:r>
                  <a:rPr lang="zh-CN" altLang="en-US" kern="100" dirty="0">
                    <a:latin typeface="微软雅黑" panose="020B0503020204020204" pitchFamily="34" charset="-122"/>
                    <a:ea typeface="微软雅黑" panose="020B0503020204020204" pitchFamily="34" charset="-122"/>
                  </a:rPr>
                  <a:t>，最终在光屏M上汇合并形成干涉图样。</a:t>
                </a:r>
                <a:endParaRPr lang="en-US" altLang="zh-CN" kern="100" dirty="0">
                  <a:latin typeface="微软雅黑" panose="020B0503020204020204" pitchFamily="34" charset="-122"/>
                  <a:ea typeface="微软雅黑" panose="020B0503020204020204" pitchFamily="34" charset="-122"/>
                </a:endParaRPr>
              </a:p>
              <a:p>
                <a:pPr indent="304800" algn="just">
                  <a:lnSpc>
                    <a:spcPct val="150000"/>
                  </a:lnSpc>
                </a:pPr>
                <a:endParaRPr lang="zh-CN" altLang="en-US" kern="100" dirty="0">
                  <a:latin typeface="微软雅黑" panose="020B0503020204020204" pitchFamily="34" charset="-122"/>
                  <a:ea typeface="微软雅黑" panose="020B0503020204020204" pitchFamily="34"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1054897" y="2191089"/>
                <a:ext cx="10325947" cy="862964"/>
              </a:xfrm>
              <a:prstGeom prst="rect">
                <a:avLst/>
              </a:prstGeom>
              <a:blipFill>
                <a:blip r:embed="rId3"/>
                <a:stretch>
                  <a:fillRect l="-472" r="-531" b="-11268"/>
                </a:stretch>
              </a:blipFill>
            </p:spPr>
            <p:txBody>
              <a:bodyPr/>
              <a:lstStyle/>
              <a:p>
                <a:r>
                  <a:rPr lang="zh-CN" altLang="en-US">
                    <a:noFill/>
                  </a:rPr>
                  <a:t> </a:t>
                </a:r>
              </a:p>
            </p:txBody>
          </p:sp>
        </mc:Fallback>
      </mc:AlternateContent>
      <p:graphicFrame>
        <p:nvGraphicFramePr>
          <p:cNvPr id="8" name="对象 -2147482530"/>
          <p:cNvGraphicFramePr>
            <a:graphicFrameLocks noChangeAspect="1"/>
          </p:cNvGraphicFramePr>
          <p:nvPr/>
        </p:nvGraphicFramePr>
        <p:xfrm>
          <a:off x="1701491" y="3799391"/>
          <a:ext cx="2702560" cy="486410"/>
        </p:xfrm>
        <a:graphic>
          <a:graphicData uri="http://schemas.openxmlformats.org/presentationml/2006/ole">
            <mc:AlternateContent xmlns:mc="http://schemas.openxmlformats.org/markup-compatibility/2006">
              <mc:Choice xmlns:v="urn:schemas-microsoft-com:vml" Requires="v">
                <p:oleObj r:id="rId4" imgW="1523365" imgH="266700" progId="Equation.DSMT4">
                  <p:embed/>
                </p:oleObj>
              </mc:Choice>
              <mc:Fallback>
                <p:oleObj r:id="rId4" imgW="1523365" imgH="266700" progId="Equation.DSMT4">
                  <p:embed/>
                  <p:pic>
                    <p:nvPicPr>
                      <p:cNvPr id="8" name="对象 -2147482530"/>
                      <p:cNvPicPr/>
                      <p:nvPr/>
                    </p:nvPicPr>
                    <p:blipFill>
                      <a:blip r:embed="rId5"/>
                      <a:stretch>
                        <a:fillRect/>
                      </a:stretch>
                    </p:blipFill>
                    <p:spPr>
                      <a:xfrm>
                        <a:off x="1701491" y="3799391"/>
                        <a:ext cx="2702560" cy="486410"/>
                      </a:xfrm>
                      <a:prstGeom prst="rect">
                        <a:avLst/>
                      </a:prstGeom>
                      <a:noFill/>
                      <a:ln w="38100">
                        <a:noFill/>
                        <a:miter/>
                      </a:ln>
                    </p:spPr>
                  </p:pic>
                </p:oleObj>
              </mc:Fallback>
            </mc:AlternateContent>
          </a:graphicData>
        </a:graphic>
      </p:graphicFrame>
      <p:sp>
        <p:nvSpPr>
          <p:cNvPr id="13" name="文本框 12"/>
          <p:cNvSpPr txBox="1"/>
          <p:nvPr/>
        </p:nvSpPr>
        <p:spPr>
          <a:xfrm>
            <a:off x="287901" y="5519458"/>
            <a:ext cx="2181806" cy="147672"/>
          </a:xfrm>
          <a:prstGeom prst="rect">
            <a:avLst/>
          </a:prstGeom>
          <a:noFill/>
        </p:spPr>
        <p:txBody>
          <a:bodyPr wrap="square" rtlCol="0">
            <a:noAutofit/>
          </a:bodyPr>
          <a:lstStyle/>
          <a:p>
            <a:pPr indent="304800" algn="just">
              <a:lnSpc>
                <a:spcPct val="150000"/>
              </a:lnSpc>
            </a:pPr>
            <a:endParaRPr lang="zh-CN" altLang="en-US" kern="1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CDD75D4A-FD9D-ACEE-9D96-6A91A9661274}"/>
              </a:ext>
            </a:extLst>
          </p:cNvPr>
          <p:cNvSpPr txBox="1"/>
          <p:nvPr/>
        </p:nvSpPr>
        <p:spPr>
          <a:xfrm>
            <a:off x="1076712" y="3124565"/>
            <a:ext cx="6155266" cy="458908"/>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由波的叠加理论可知</a:t>
            </a:r>
            <a:r>
              <a:rPr lang="zh-CN" altLang="en-US" b="1" kern="100" dirty="0">
                <a:solidFill>
                  <a:schemeClr val="accent1"/>
                </a:solidFill>
                <a:latin typeface="微软雅黑" panose="020B0503020204020204" pitchFamily="34" charset="-122"/>
                <a:ea typeface="微软雅黑" panose="020B0503020204020204" pitchFamily="34" charset="-122"/>
              </a:rPr>
              <a:t>P点的光强</a:t>
            </a:r>
            <a:r>
              <a:rPr lang="zh-CN" altLang="en-US" kern="100" dirty="0">
                <a:latin typeface="微软雅黑" panose="020B0503020204020204" pitchFamily="34" charset="-122"/>
                <a:ea typeface="微软雅黑" panose="020B0503020204020204" pitchFamily="34" charset="-122"/>
              </a:rPr>
              <a:t>为：</a:t>
            </a:r>
          </a:p>
        </p:txBody>
      </p:sp>
      <p:graphicFrame>
        <p:nvGraphicFramePr>
          <p:cNvPr id="17" name="对象 16">
            <a:extLst>
              <a:ext uri="{FF2B5EF4-FFF2-40B4-BE49-F238E27FC236}">
                <a16:creationId xmlns:a16="http://schemas.microsoft.com/office/drawing/2014/main" id="{54273D52-B1D4-FFA6-D14E-3380D91392F0}"/>
              </a:ext>
            </a:extLst>
          </p:cNvPr>
          <p:cNvGraphicFramePr>
            <a:graphicFrameLocks noChangeAspect="1"/>
          </p:cNvGraphicFramePr>
          <p:nvPr/>
        </p:nvGraphicFramePr>
        <p:xfrm>
          <a:off x="2488779" y="5251473"/>
          <a:ext cx="2895600" cy="304800"/>
        </p:xfrm>
        <a:graphic>
          <a:graphicData uri="http://schemas.openxmlformats.org/presentationml/2006/ole">
            <mc:AlternateContent xmlns:mc="http://schemas.openxmlformats.org/markup-compatibility/2006">
              <mc:Choice xmlns:v="urn:schemas-microsoft-com:vml" Requires="v">
                <p:oleObj name="Equation" r:id="rId6" imgW="2895480" imgH="304560" progId="Equation.DSMT4">
                  <p:embed/>
                </p:oleObj>
              </mc:Choice>
              <mc:Fallback>
                <p:oleObj name="Equation" r:id="rId6" imgW="2895480" imgH="304560" progId="Equation.DSMT4">
                  <p:embed/>
                  <p:pic>
                    <p:nvPicPr>
                      <p:cNvPr id="17" name="对象 16">
                        <a:extLst>
                          <a:ext uri="{FF2B5EF4-FFF2-40B4-BE49-F238E27FC236}">
                            <a16:creationId xmlns:a16="http://schemas.microsoft.com/office/drawing/2014/main" id="{54273D52-B1D4-FFA6-D14E-3380D91392F0}"/>
                          </a:ext>
                        </a:extLst>
                      </p:cNvPr>
                      <p:cNvPicPr/>
                      <p:nvPr/>
                    </p:nvPicPr>
                    <p:blipFill>
                      <a:blip r:embed="rId7"/>
                      <a:stretch>
                        <a:fillRect/>
                      </a:stretch>
                    </p:blipFill>
                    <p:spPr>
                      <a:xfrm>
                        <a:off x="2488779" y="5251473"/>
                        <a:ext cx="2895600" cy="304800"/>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28AD2CF5-D24C-49A0-62B7-3E04BE073D18}"/>
              </a:ext>
            </a:extLst>
          </p:cNvPr>
          <p:cNvGraphicFramePr>
            <a:graphicFrameLocks noChangeAspect="1"/>
          </p:cNvGraphicFramePr>
          <p:nvPr/>
        </p:nvGraphicFramePr>
        <p:xfrm>
          <a:off x="2488779" y="5683275"/>
          <a:ext cx="3695700" cy="304800"/>
        </p:xfrm>
        <a:graphic>
          <a:graphicData uri="http://schemas.openxmlformats.org/presentationml/2006/ole">
            <mc:AlternateContent xmlns:mc="http://schemas.openxmlformats.org/markup-compatibility/2006">
              <mc:Choice xmlns:v="urn:schemas-microsoft-com:vml" Requires="v">
                <p:oleObj name="Equation" r:id="rId8" imgW="3695400" imgH="304560" progId="Equation.DSMT4">
                  <p:embed/>
                </p:oleObj>
              </mc:Choice>
              <mc:Fallback>
                <p:oleObj name="Equation" r:id="rId8" imgW="3695400" imgH="304560" progId="Equation.DSMT4">
                  <p:embed/>
                  <p:pic>
                    <p:nvPicPr>
                      <p:cNvPr id="19" name="对象 18">
                        <a:extLst>
                          <a:ext uri="{FF2B5EF4-FFF2-40B4-BE49-F238E27FC236}">
                            <a16:creationId xmlns:a16="http://schemas.microsoft.com/office/drawing/2014/main" id="{28AD2CF5-D24C-49A0-62B7-3E04BE073D18}"/>
                          </a:ext>
                        </a:extLst>
                      </p:cNvPr>
                      <p:cNvPicPr/>
                      <p:nvPr/>
                    </p:nvPicPr>
                    <p:blipFill>
                      <a:blip r:embed="rId9"/>
                      <a:stretch>
                        <a:fillRect/>
                      </a:stretch>
                    </p:blipFill>
                    <p:spPr>
                      <a:xfrm>
                        <a:off x="2488779" y="5683275"/>
                        <a:ext cx="3695700" cy="304800"/>
                      </a:xfrm>
                      <a:prstGeom prst="rect">
                        <a:avLst/>
                      </a:prstGeom>
                    </p:spPr>
                  </p:pic>
                </p:oleObj>
              </mc:Fallback>
            </mc:AlternateContent>
          </a:graphicData>
        </a:graphic>
      </p:graphicFrame>
      <p:sp>
        <p:nvSpPr>
          <p:cNvPr id="20" name="矩形 19">
            <a:extLst>
              <a:ext uri="{FF2B5EF4-FFF2-40B4-BE49-F238E27FC236}">
                <a16:creationId xmlns:a16="http://schemas.microsoft.com/office/drawing/2014/main" id="{8651DA31-26BD-87D5-8EA5-D45A3F1CFA23}"/>
              </a:ext>
            </a:extLst>
          </p:cNvPr>
          <p:cNvSpPr/>
          <p:nvPr/>
        </p:nvSpPr>
        <p:spPr>
          <a:xfrm>
            <a:off x="5951647" y="5094608"/>
            <a:ext cx="2236601" cy="923330"/>
          </a:xfrm>
          <a:prstGeom prst="rect">
            <a:avLst/>
          </a:prstGeom>
        </p:spPr>
        <p:txBody>
          <a:bodyPr wrap="square">
            <a:spAutoFit/>
          </a:bodyPr>
          <a:lstStyle/>
          <a:p>
            <a:pPr indent="304800" algn="just">
              <a:lnSpc>
                <a:spcPct val="150000"/>
              </a:lnSpc>
            </a:pPr>
            <a:r>
              <a:rPr lang="zh-CN" altLang="en-US" kern="100" dirty="0">
                <a:latin typeface="微软雅黑" panose="020B0503020204020204" pitchFamily="34" charset="-122"/>
                <a:ea typeface="微软雅黑" panose="020B0503020204020204" pitchFamily="34" charset="-122"/>
              </a:rPr>
              <a:t>光强最大为亮纹</a:t>
            </a:r>
            <a:endParaRPr lang="en-US" altLang="zh-CN" kern="100" dirty="0">
              <a:latin typeface="微软雅黑" panose="020B0503020204020204" pitchFamily="34" charset="-122"/>
              <a:ea typeface="微软雅黑" panose="020B0503020204020204" pitchFamily="34" charset="-122"/>
            </a:endParaRPr>
          </a:p>
          <a:p>
            <a:pPr indent="304800" algn="just">
              <a:lnSpc>
                <a:spcPct val="150000"/>
              </a:lnSpc>
            </a:pPr>
            <a:r>
              <a:rPr lang="zh-CN" altLang="en-US" kern="100" dirty="0">
                <a:latin typeface="微软雅黑" panose="020B0503020204020204" pitchFamily="34" charset="-122"/>
                <a:ea typeface="微软雅黑" panose="020B0503020204020204" pitchFamily="34" charset="-122"/>
              </a:rPr>
              <a:t>光强最小为暗纹</a:t>
            </a:r>
          </a:p>
        </p:txBody>
      </p:sp>
      <p:graphicFrame>
        <p:nvGraphicFramePr>
          <p:cNvPr id="21" name="对象 20">
            <a:extLst>
              <a:ext uri="{FF2B5EF4-FFF2-40B4-BE49-F238E27FC236}">
                <a16:creationId xmlns:a16="http://schemas.microsoft.com/office/drawing/2014/main" id="{4D504B1A-314E-9DAA-0C7B-EB165097B61A}"/>
              </a:ext>
            </a:extLst>
          </p:cNvPr>
          <p:cNvGraphicFramePr>
            <a:graphicFrameLocks noChangeAspect="1"/>
          </p:cNvGraphicFramePr>
          <p:nvPr/>
        </p:nvGraphicFramePr>
        <p:xfrm>
          <a:off x="8105741" y="5226351"/>
          <a:ext cx="901700" cy="330200"/>
        </p:xfrm>
        <a:graphic>
          <a:graphicData uri="http://schemas.openxmlformats.org/presentationml/2006/ole">
            <mc:AlternateContent xmlns:mc="http://schemas.openxmlformats.org/markup-compatibility/2006">
              <mc:Choice xmlns:v="urn:schemas-microsoft-com:vml" Requires="v">
                <p:oleObj name="Equation" r:id="rId10" imgW="901440" imgH="330120" progId="Equation.DSMT4">
                  <p:embed/>
                </p:oleObj>
              </mc:Choice>
              <mc:Fallback>
                <p:oleObj name="Equation" r:id="rId10" imgW="901440" imgH="330120" progId="Equation.DSMT4">
                  <p:embed/>
                  <p:pic>
                    <p:nvPicPr>
                      <p:cNvPr id="21" name="对象 20">
                        <a:extLst>
                          <a:ext uri="{FF2B5EF4-FFF2-40B4-BE49-F238E27FC236}">
                            <a16:creationId xmlns:a16="http://schemas.microsoft.com/office/drawing/2014/main" id="{4D504B1A-314E-9DAA-0C7B-EB165097B61A}"/>
                          </a:ext>
                        </a:extLst>
                      </p:cNvPr>
                      <p:cNvPicPr/>
                      <p:nvPr/>
                    </p:nvPicPr>
                    <p:blipFill>
                      <a:blip r:embed="rId11"/>
                      <a:stretch>
                        <a:fillRect/>
                      </a:stretch>
                    </p:blipFill>
                    <p:spPr>
                      <a:xfrm>
                        <a:off x="8105741" y="5226351"/>
                        <a:ext cx="901700" cy="330200"/>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5C84A87E-DE9B-36BF-7548-21A5A88CBD39}"/>
              </a:ext>
            </a:extLst>
          </p:cNvPr>
          <p:cNvGraphicFramePr>
            <a:graphicFrameLocks noChangeAspect="1"/>
          </p:cNvGraphicFramePr>
          <p:nvPr/>
        </p:nvGraphicFramePr>
        <p:xfrm>
          <a:off x="8226391" y="5605764"/>
          <a:ext cx="660400" cy="330200"/>
        </p:xfrm>
        <a:graphic>
          <a:graphicData uri="http://schemas.openxmlformats.org/presentationml/2006/ole">
            <mc:AlternateContent xmlns:mc="http://schemas.openxmlformats.org/markup-compatibility/2006">
              <mc:Choice xmlns:v="urn:schemas-microsoft-com:vml" Requires="v">
                <p:oleObj name="Equation" r:id="rId12" imgW="660240" imgH="330120" progId="Equation.DSMT4">
                  <p:embed/>
                </p:oleObj>
              </mc:Choice>
              <mc:Fallback>
                <p:oleObj name="Equation" r:id="rId12" imgW="660240" imgH="330120" progId="Equation.DSMT4">
                  <p:embed/>
                  <p:pic>
                    <p:nvPicPr>
                      <p:cNvPr id="22" name="对象 21">
                        <a:extLst>
                          <a:ext uri="{FF2B5EF4-FFF2-40B4-BE49-F238E27FC236}">
                            <a16:creationId xmlns:a16="http://schemas.microsoft.com/office/drawing/2014/main" id="{5C84A87E-DE9B-36BF-7548-21A5A88CBD39}"/>
                          </a:ext>
                        </a:extLst>
                      </p:cNvPr>
                      <p:cNvPicPr/>
                      <p:nvPr/>
                    </p:nvPicPr>
                    <p:blipFill>
                      <a:blip r:embed="rId13"/>
                      <a:stretch>
                        <a:fillRect/>
                      </a:stretch>
                    </p:blipFill>
                    <p:spPr>
                      <a:xfrm>
                        <a:off x="8226391" y="5605764"/>
                        <a:ext cx="660400" cy="330200"/>
                      </a:xfrm>
                      <a:prstGeom prst="rect">
                        <a:avLst/>
                      </a:prstGeom>
                    </p:spPr>
                  </p:pic>
                </p:oleObj>
              </mc:Fallback>
            </mc:AlternateContent>
          </a:graphicData>
        </a:graphic>
      </p:graphicFrame>
      <p:sp>
        <p:nvSpPr>
          <p:cNvPr id="24" name="矩形 23">
            <a:extLst>
              <a:ext uri="{FF2B5EF4-FFF2-40B4-BE49-F238E27FC236}">
                <a16:creationId xmlns:a16="http://schemas.microsoft.com/office/drawing/2014/main" id="{0975FFD6-38B5-B869-A890-0530549FA8AA}"/>
              </a:ext>
            </a:extLst>
          </p:cNvPr>
          <p:cNvSpPr/>
          <p:nvPr/>
        </p:nvSpPr>
        <p:spPr>
          <a:xfrm>
            <a:off x="1395955" y="5138308"/>
            <a:ext cx="1092824" cy="874407"/>
          </a:xfrm>
          <a:prstGeom prst="rect">
            <a:avLst/>
          </a:prstGeom>
        </p:spPr>
        <p:txBody>
          <a:bodyPr wrap="square">
            <a:spAutoFit/>
          </a:bodyPr>
          <a:lstStyle/>
          <a:p>
            <a:pPr indent="304800" algn="just">
              <a:lnSpc>
                <a:spcPct val="150000"/>
              </a:lnSpc>
            </a:pPr>
            <a:r>
              <a:rPr lang="zh-CN" altLang="en-US" kern="100" dirty="0">
                <a:latin typeface="微软雅黑" panose="020B0503020204020204" pitchFamily="34" charset="-122"/>
                <a:ea typeface="微软雅黑" panose="020B0503020204020204" pitchFamily="34" charset="-122"/>
              </a:rPr>
              <a:t>亮纹</a:t>
            </a:r>
            <a:endParaRPr lang="en-US" altLang="zh-CN" kern="100" dirty="0">
              <a:latin typeface="微软雅黑" panose="020B0503020204020204" pitchFamily="34" charset="-122"/>
              <a:ea typeface="微软雅黑" panose="020B0503020204020204" pitchFamily="34" charset="-122"/>
            </a:endParaRPr>
          </a:p>
          <a:p>
            <a:pPr indent="304800" algn="just">
              <a:lnSpc>
                <a:spcPct val="150000"/>
              </a:lnSpc>
            </a:pPr>
            <a:r>
              <a:rPr lang="zh-CN" altLang="en-US" kern="100" dirty="0">
                <a:latin typeface="微软雅黑" panose="020B0503020204020204" pitchFamily="34" charset="-122"/>
                <a:ea typeface="微软雅黑" panose="020B0503020204020204" pitchFamily="34" charset="-122"/>
              </a:rPr>
              <a:t>暗纹</a:t>
            </a:r>
          </a:p>
        </p:txBody>
      </p:sp>
      <p:sp>
        <p:nvSpPr>
          <p:cNvPr id="25" name="文本框 24">
            <a:extLst>
              <a:ext uri="{FF2B5EF4-FFF2-40B4-BE49-F238E27FC236}">
                <a16:creationId xmlns:a16="http://schemas.microsoft.com/office/drawing/2014/main" id="{CC9E834A-ECFD-6FDE-3844-44C711F79212}"/>
              </a:ext>
            </a:extLst>
          </p:cNvPr>
          <p:cNvSpPr txBox="1"/>
          <p:nvPr/>
        </p:nvSpPr>
        <p:spPr>
          <a:xfrm>
            <a:off x="1076712" y="4420058"/>
            <a:ext cx="6155266" cy="458908"/>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观测面上亮暗条纹的位置分布为：</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2.1.3  </a:t>
            </a:r>
            <a:r>
              <a:rPr lang="zh-CN" altLang="en-US" b="1" dirty="0">
                <a:solidFill>
                  <a:srgbClr val="002060"/>
                </a:solidFill>
              </a:rPr>
              <a:t>干涉与衍射</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12</a:t>
            </a:fld>
            <a:endParaRPr kumimoji="1" lang="zh-CN" altLang="en-US" dirty="0"/>
          </a:p>
        </p:txBody>
      </p:sp>
      <p:sp>
        <p:nvSpPr>
          <p:cNvPr id="7" name="文本框 6"/>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多种干涉实验</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394871" y="1692000"/>
            <a:ext cx="2789132" cy="39878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）等倾干涉</a:t>
            </a:r>
          </a:p>
        </p:txBody>
      </p:sp>
      <p:sp>
        <p:nvSpPr>
          <p:cNvPr id="23" name="文本框 22"/>
          <p:cNvSpPr txBox="1"/>
          <p:nvPr/>
        </p:nvSpPr>
        <p:spPr>
          <a:xfrm>
            <a:off x="615107" y="2095598"/>
            <a:ext cx="10656147" cy="1392384"/>
          </a:xfrm>
          <a:prstGeom prst="rect">
            <a:avLst/>
          </a:prstGeom>
          <a:noFill/>
        </p:spPr>
        <p:txBody>
          <a:bodyPr wrap="square" rtlCol="0">
            <a:noAutofit/>
          </a:bodyPr>
          <a:lstStyle/>
          <a:p>
            <a:pPr algn="just">
              <a:lnSpc>
                <a:spcPct val="150000"/>
              </a:lnSpc>
            </a:pPr>
            <a:r>
              <a:rPr lang="zh-CN" altLang="en-US" kern="100" dirty="0">
                <a:latin typeface="微软雅黑" panose="020B0503020204020204" pitchFamily="34" charset="-122"/>
                <a:ea typeface="微软雅黑" panose="020B0503020204020204" pitchFamily="34" charset="-122"/>
              </a:rPr>
              <a:t>等倾干涉是利用平行平板进行的</a:t>
            </a:r>
            <a:r>
              <a:rPr lang="zh-CN" altLang="en-US" b="1" kern="100" dirty="0">
                <a:solidFill>
                  <a:srgbClr val="FF0000"/>
                </a:solidFill>
                <a:latin typeface="微软雅黑" panose="020B0503020204020204" pitchFamily="34" charset="-122"/>
                <a:ea typeface="微软雅黑" panose="020B0503020204020204" pitchFamily="34" charset="-122"/>
              </a:rPr>
              <a:t>分振幅干涉</a:t>
            </a:r>
            <a:r>
              <a:rPr lang="zh-CN" altLang="en-US" kern="100" dirty="0">
                <a:latin typeface="微软雅黑" panose="020B0503020204020204" pitchFamily="34" charset="-122"/>
                <a:ea typeface="微软雅黑" panose="020B0503020204020204" pitchFamily="34" charset="-122"/>
              </a:rPr>
              <a:t>，同一束光经过上层界面的折反射被分成</a:t>
            </a:r>
            <a:r>
              <a:rPr lang="zh-CN" altLang="en-US" b="1" kern="100" dirty="0">
                <a:solidFill>
                  <a:schemeClr val="accent1"/>
                </a:solidFill>
                <a:latin typeface="微软雅黑" panose="020B0503020204020204" pitchFamily="34" charset="-122"/>
                <a:ea typeface="微软雅黑" panose="020B0503020204020204" pitchFamily="34" charset="-122"/>
              </a:rPr>
              <a:t>两束</a:t>
            </a:r>
            <a:r>
              <a:rPr lang="zh-CN" altLang="en-US" kern="100" dirty="0">
                <a:latin typeface="微软雅黑" panose="020B0503020204020204" pitchFamily="34" charset="-122"/>
                <a:ea typeface="微软雅黑" panose="020B0503020204020204" pitchFamily="34" charset="-122"/>
              </a:rPr>
              <a:t>，经过透镜后会聚在光屏上产生干涉，其中一束光在平板上经历了</a:t>
            </a:r>
            <a:r>
              <a:rPr lang="zh-CN" altLang="en-US" b="1" kern="100" dirty="0">
                <a:solidFill>
                  <a:schemeClr val="accent1"/>
                </a:solidFill>
                <a:latin typeface="微软雅黑" panose="020B0503020204020204" pitchFamily="34" charset="-122"/>
                <a:ea typeface="微软雅黑" panose="020B0503020204020204" pitchFamily="34" charset="-122"/>
              </a:rPr>
              <a:t>两次折射和一次反射</a:t>
            </a:r>
            <a:r>
              <a:rPr lang="zh-CN" altLang="en-US" kern="100" dirty="0">
                <a:latin typeface="微软雅黑" panose="020B0503020204020204" pitchFamily="34" charset="-122"/>
                <a:ea typeface="微软雅黑" panose="020B0503020204020204" pitchFamily="34" charset="-122"/>
              </a:rPr>
              <a:t>，光程较长；另一束光仅经历</a:t>
            </a:r>
            <a:r>
              <a:rPr lang="zh-CN" altLang="en-US" b="1" kern="100" dirty="0">
                <a:solidFill>
                  <a:schemeClr val="accent1"/>
                </a:solidFill>
                <a:latin typeface="微软雅黑" panose="020B0503020204020204" pitchFamily="34" charset="-122"/>
                <a:ea typeface="微软雅黑" panose="020B0503020204020204" pitchFamily="34" charset="-122"/>
              </a:rPr>
              <a:t>一次反射</a:t>
            </a:r>
            <a:r>
              <a:rPr lang="zh-CN" altLang="en-US" kern="100" dirty="0">
                <a:latin typeface="微软雅黑" panose="020B0503020204020204" pitchFamily="34" charset="-122"/>
                <a:ea typeface="微软雅黑" panose="020B0503020204020204" pitchFamily="34" charset="-122"/>
              </a:rPr>
              <a:t>，光程较短。</a:t>
            </a:r>
          </a:p>
        </p:txBody>
      </p:sp>
      <p:pic>
        <p:nvPicPr>
          <p:cNvPr id="11" name="图片 26"/>
          <p:cNvPicPr>
            <a:picLocks noChangeAspect="1" noChangeArrowheads="1"/>
          </p:cNvPicPr>
          <p:nvPr/>
        </p:nvPicPr>
        <p:blipFill>
          <a:blip r:embed="rId3" cstate="print">
            <a:extLst>
              <a:ext uri="{28A0092B-C50C-407E-A947-70E740481C1C}">
                <a14:useLocalDpi xmlns:a14="http://schemas.microsoft.com/office/drawing/2010/main" val="0"/>
              </a:ext>
            </a:extLst>
          </a:blip>
          <a:srcRect l="20387" t="11130" r="18446" b="16662"/>
          <a:stretch>
            <a:fillRect/>
          </a:stretch>
        </p:blipFill>
        <p:spPr>
          <a:xfrm>
            <a:off x="8161867" y="3218379"/>
            <a:ext cx="3364613" cy="2233931"/>
          </a:xfrm>
          <a:prstGeom prst="rect">
            <a:avLst/>
          </a:prstGeom>
          <a:noFill/>
          <a:ln>
            <a:noFill/>
          </a:ln>
        </p:spPr>
      </p:pic>
      <p:pic>
        <p:nvPicPr>
          <p:cNvPr id="12" name="图片 11"/>
          <p:cNvPicPr>
            <a:picLocks noChangeAspect="1"/>
          </p:cNvPicPr>
          <p:nvPr/>
        </p:nvPicPr>
        <p:blipFill>
          <a:blip r:embed="rId4"/>
          <a:stretch>
            <a:fillRect/>
          </a:stretch>
        </p:blipFill>
        <p:spPr>
          <a:xfrm>
            <a:off x="2441968" y="4120080"/>
            <a:ext cx="2447925" cy="430530"/>
          </a:xfrm>
          <a:prstGeom prst="rect">
            <a:avLst/>
          </a:prstGeom>
        </p:spPr>
      </p:pic>
      <p:sp>
        <p:nvSpPr>
          <p:cNvPr id="16" name="文本框 15"/>
          <p:cNvSpPr txBox="1"/>
          <p:nvPr/>
        </p:nvSpPr>
        <p:spPr>
          <a:xfrm>
            <a:off x="615107" y="4759304"/>
            <a:ext cx="7597939" cy="1246808"/>
          </a:xfrm>
          <a:prstGeom prst="rect">
            <a:avLst/>
          </a:prstGeom>
          <a:noFill/>
        </p:spPr>
        <p:txBody>
          <a:bodyPr wrap="square" rtlCol="0">
            <a:no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由于折射角和入射角满足折射定律，两束光的光程差仅与入射角有关，称为等倾干涉。</a:t>
            </a:r>
            <a:r>
              <a:rPr lang="zh-CN" altLang="en-US" b="1" kern="100" dirty="0">
                <a:solidFill>
                  <a:srgbClr val="FF0000"/>
                </a:solidFill>
                <a:latin typeface="微软雅黑" panose="020B0503020204020204" pitchFamily="34" charset="-122"/>
                <a:ea typeface="微软雅黑" panose="020B0503020204020204" pitchFamily="34" charset="-122"/>
              </a:rPr>
              <a:t>等倾干涉条纹在干涉平面上形成明暗相间的同心圆环</a:t>
            </a:r>
            <a:r>
              <a:rPr lang="zh-CN" altLang="en-US" kern="100" dirty="0">
                <a:latin typeface="微软雅黑" panose="020B0503020204020204" pitchFamily="34" charset="-122"/>
                <a:ea typeface="微软雅黑" panose="020B0503020204020204" pitchFamily="34" charset="-122"/>
              </a:rPr>
              <a:t>。</a:t>
            </a:r>
          </a:p>
        </p:txBody>
      </p:sp>
      <p:sp>
        <p:nvSpPr>
          <p:cNvPr id="17" name="文本框 16">
            <a:extLst>
              <a:ext uri="{FF2B5EF4-FFF2-40B4-BE49-F238E27FC236}">
                <a16:creationId xmlns:a16="http://schemas.microsoft.com/office/drawing/2014/main" id="{24F8685B-27C5-0328-72DF-1B75E56CE46E}"/>
              </a:ext>
            </a:extLst>
          </p:cNvPr>
          <p:cNvSpPr txBox="1"/>
          <p:nvPr/>
        </p:nvSpPr>
        <p:spPr>
          <a:xfrm>
            <a:off x="616640" y="3487982"/>
            <a:ext cx="6155266" cy="458908"/>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等倾干涉的干涉平面上</a:t>
            </a:r>
            <a:r>
              <a:rPr lang="zh-CN" altLang="en-US" b="1" kern="100" dirty="0">
                <a:solidFill>
                  <a:schemeClr val="accent1"/>
                </a:solidFill>
                <a:latin typeface="微软雅黑" panose="020B0503020204020204" pitchFamily="34" charset="-122"/>
                <a:ea typeface="微软雅黑" panose="020B0503020204020204" pitchFamily="34" charset="-122"/>
              </a:rPr>
              <a:t>任意一点P处的光强</a:t>
            </a:r>
            <a:r>
              <a:rPr lang="zh-CN" altLang="en-US" kern="100" dirty="0">
                <a:latin typeface="微软雅黑" panose="020B0503020204020204" pitchFamily="34" charset="-122"/>
                <a:ea typeface="微软雅黑" panose="020B0503020204020204" pitchFamily="34" charset="-122"/>
              </a:rPr>
              <a:t>可以表示为：</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2.1.3  </a:t>
            </a:r>
            <a:r>
              <a:rPr lang="zh-CN" altLang="en-US" b="1" dirty="0">
                <a:solidFill>
                  <a:srgbClr val="002060"/>
                </a:solidFill>
              </a:rPr>
              <a:t>干涉与衍射</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13</a:t>
            </a:fld>
            <a:endParaRPr kumimoji="1" lang="zh-CN" altLang="en-US" dirty="0"/>
          </a:p>
        </p:txBody>
      </p:sp>
      <p:sp>
        <p:nvSpPr>
          <p:cNvPr id="7" name="文本框 6"/>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多种干涉实验</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396000" y="1692000"/>
            <a:ext cx="2789132" cy="39878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）等厚干涉</a:t>
            </a:r>
          </a:p>
        </p:txBody>
      </p:sp>
      <p:sp>
        <p:nvSpPr>
          <p:cNvPr id="23" name="文本框 22"/>
          <p:cNvSpPr txBox="1"/>
          <p:nvPr/>
        </p:nvSpPr>
        <p:spPr>
          <a:xfrm>
            <a:off x="579120" y="2067560"/>
            <a:ext cx="7569798" cy="1706581"/>
          </a:xfrm>
          <a:prstGeom prst="rect">
            <a:avLst/>
          </a:prstGeom>
          <a:noFill/>
        </p:spPr>
        <p:txBody>
          <a:bodyPr wrap="square" rtlCol="0">
            <a:noAutofit/>
          </a:bodyPr>
          <a:lstStyle/>
          <a:p>
            <a:pPr algn="just">
              <a:lnSpc>
                <a:spcPct val="150000"/>
              </a:lnSpc>
            </a:pPr>
            <a:r>
              <a:rPr lang="zh-CN" altLang="en-US" kern="100" dirty="0">
                <a:latin typeface="微软雅黑" panose="020B0503020204020204" pitchFamily="34" charset="-122"/>
                <a:ea typeface="微软雅黑" panose="020B0503020204020204" pitchFamily="34" charset="-122"/>
              </a:rPr>
              <a:t>光源S发出的光线经透镜L1调整后成为</a:t>
            </a:r>
            <a:r>
              <a:rPr lang="zh-CN" altLang="en-US" b="1" kern="100" dirty="0">
                <a:solidFill>
                  <a:srgbClr val="FF0000"/>
                </a:solidFill>
                <a:latin typeface="微软雅黑" panose="020B0503020204020204" pitchFamily="34" charset="-122"/>
                <a:ea typeface="微软雅黑" panose="020B0503020204020204" pitchFamily="34" charset="-122"/>
              </a:rPr>
              <a:t>平行光线，</a:t>
            </a:r>
            <a:r>
              <a:rPr lang="zh-CN" altLang="en-US" kern="100" dirty="0">
                <a:latin typeface="微软雅黑" panose="020B0503020204020204" pitchFamily="34" charset="-122"/>
                <a:ea typeface="微软雅黑" panose="020B0503020204020204" pitchFamily="34" charset="-122"/>
              </a:rPr>
              <a:t>经反射镜M后</a:t>
            </a:r>
            <a:r>
              <a:rPr lang="zh-CN" altLang="en-US" b="1" kern="100" dirty="0">
                <a:solidFill>
                  <a:srgbClr val="FF0000"/>
                </a:solidFill>
                <a:latin typeface="微软雅黑" panose="020B0503020204020204" pitchFamily="34" charset="-122"/>
                <a:ea typeface="微软雅黑" panose="020B0503020204020204" pitchFamily="34" charset="-122"/>
              </a:rPr>
              <a:t>垂直入射</a:t>
            </a:r>
            <a:r>
              <a:rPr lang="zh-CN" altLang="en-US" kern="100" dirty="0">
                <a:latin typeface="微软雅黑" panose="020B0503020204020204" pitchFamily="34" charset="-122"/>
                <a:ea typeface="微软雅黑" panose="020B0503020204020204" pitchFamily="34" charset="-122"/>
              </a:rPr>
              <a:t>在下侧的楔形平面P上，部分光在</a:t>
            </a:r>
            <a:r>
              <a:rPr lang="zh-CN" altLang="en-US" b="1" kern="100" dirty="0">
                <a:solidFill>
                  <a:srgbClr val="FF0000"/>
                </a:solidFill>
                <a:latin typeface="微软雅黑" panose="020B0503020204020204" pitchFamily="34" charset="-122"/>
                <a:ea typeface="微软雅黑" panose="020B0503020204020204" pitchFamily="34" charset="-122"/>
              </a:rPr>
              <a:t>上表面被反射</a:t>
            </a:r>
            <a:r>
              <a:rPr lang="zh-CN" altLang="en-US" b="1" kern="100" dirty="0">
                <a:solidFill>
                  <a:schemeClr val="accent1"/>
                </a:solidFill>
                <a:latin typeface="微软雅黑" panose="020B0503020204020204" pitchFamily="34" charset="-122"/>
                <a:ea typeface="微软雅黑" panose="020B0503020204020204" pitchFamily="34" charset="-122"/>
              </a:rPr>
              <a:t>（经历一次反射），</a:t>
            </a:r>
            <a:r>
              <a:rPr lang="zh-CN" altLang="en-US" kern="100" dirty="0">
                <a:latin typeface="微软雅黑" panose="020B0503020204020204" pitchFamily="34" charset="-122"/>
                <a:ea typeface="微软雅黑" panose="020B0503020204020204" pitchFamily="34" charset="-122"/>
              </a:rPr>
              <a:t>而另一部分光透射后在底层的</a:t>
            </a:r>
            <a:r>
              <a:rPr lang="zh-CN" altLang="en-US" b="1" kern="100" dirty="0">
                <a:solidFill>
                  <a:srgbClr val="FF0000"/>
                </a:solidFill>
                <a:latin typeface="微软雅黑" panose="020B0503020204020204" pitchFamily="34" charset="-122"/>
                <a:ea typeface="微软雅黑" panose="020B0503020204020204" pitchFamily="34" charset="-122"/>
              </a:rPr>
              <a:t>BB’斜平面被反射</a:t>
            </a:r>
            <a:r>
              <a:rPr lang="zh-CN" altLang="en-US" b="1" kern="100" dirty="0">
                <a:solidFill>
                  <a:schemeClr val="accent1"/>
                </a:solidFill>
                <a:latin typeface="微软雅黑" panose="020B0503020204020204" pitchFamily="34" charset="-122"/>
                <a:ea typeface="微软雅黑" panose="020B0503020204020204" pitchFamily="34" charset="-122"/>
              </a:rPr>
              <a:t>（两次透射</a:t>
            </a:r>
            <a:r>
              <a:rPr lang="en-US" altLang="zh-CN" b="1" kern="100" dirty="0">
                <a:solidFill>
                  <a:schemeClr val="accent1"/>
                </a:solidFill>
                <a:latin typeface="微软雅黑" panose="020B0503020204020204" pitchFamily="34" charset="-122"/>
                <a:ea typeface="微软雅黑" panose="020B0503020204020204" pitchFamily="34" charset="-122"/>
              </a:rPr>
              <a:t>+</a:t>
            </a:r>
            <a:r>
              <a:rPr lang="zh-CN" altLang="en-US" b="1" kern="100" dirty="0">
                <a:solidFill>
                  <a:schemeClr val="accent1"/>
                </a:solidFill>
                <a:latin typeface="微软雅黑" panose="020B0503020204020204" pitchFamily="34" charset="-122"/>
                <a:ea typeface="微软雅黑" panose="020B0503020204020204" pitchFamily="34" charset="-122"/>
              </a:rPr>
              <a:t>一次反射），</a:t>
            </a:r>
            <a:r>
              <a:rPr lang="zh-CN" altLang="en-US" kern="100" dirty="0">
                <a:latin typeface="微软雅黑" panose="020B0503020204020204" pitchFamily="34" charset="-122"/>
                <a:ea typeface="微软雅黑" panose="020B0503020204020204" pitchFamily="34" charset="-122"/>
              </a:rPr>
              <a:t>最终汇聚在观测面上形成干涉条纹。</a:t>
            </a:r>
            <a:endParaRPr lang="en-US" altLang="zh-CN" kern="100" dirty="0">
              <a:latin typeface="微软雅黑" panose="020B0503020204020204" pitchFamily="34" charset="-122"/>
              <a:ea typeface="微软雅黑" panose="020B0503020204020204" pitchFamily="34" charset="-122"/>
            </a:endParaRPr>
          </a:p>
        </p:txBody>
      </p:sp>
      <p:pic>
        <p:nvPicPr>
          <p:cNvPr id="28" name="图片 28"/>
          <p:cNvPicPr>
            <a:picLocks noChangeAspect="1"/>
          </p:cNvPicPr>
          <p:nvPr/>
        </p:nvPicPr>
        <p:blipFill>
          <a:blip r:embed="rId2" cstate="print">
            <a:extLst>
              <a:ext uri="{28A0092B-C50C-407E-A947-70E740481C1C}">
                <a14:useLocalDpi xmlns:a14="http://schemas.microsoft.com/office/drawing/2010/main" val="0"/>
              </a:ext>
            </a:extLst>
          </a:blip>
          <a:srcRect l="18398" t="1763" r="31991" b="15300"/>
          <a:stretch>
            <a:fillRect/>
          </a:stretch>
        </p:blipFill>
        <p:spPr>
          <a:xfrm>
            <a:off x="8332038" y="1655166"/>
            <a:ext cx="3684494" cy="3464770"/>
          </a:xfrm>
          <a:prstGeom prst="rect">
            <a:avLst/>
          </a:prstGeom>
          <a:ln>
            <a:noFill/>
          </a:ln>
        </p:spPr>
      </p:pic>
      <p:graphicFrame>
        <p:nvGraphicFramePr>
          <p:cNvPr id="8" name="对象 -2147482498"/>
          <p:cNvGraphicFramePr>
            <a:graphicFrameLocks noChangeAspect="1"/>
          </p:cNvGraphicFramePr>
          <p:nvPr/>
        </p:nvGraphicFramePr>
        <p:xfrm>
          <a:off x="4126566" y="4608660"/>
          <a:ext cx="1261110" cy="656590"/>
        </p:xfrm>
        <a:graphic>
          <a:graphicData uri="http://schemas.openxmlformats.org/presentationml/2006/ole">
            <mc:AlternateContent xmlns:mc="http://schemas.openxmlformats.org/markup-compatibility/2006">
              <mc:Choice xmlns:v="urn:schemas-microsoft-com:vml" Requires="v">
                <p:oleObj name="Equation" r:id="rId3" imgW="786765" imgH="393700" progId="Equation.DSMT4">
                  <p:embed/>
                </p:oleObj>
              </mc:Choice>
              <mc:Fallback>
                <p:oleObj name="Equation" r:id="rId3" imgW="786765" imgH="393700" progId="Equation.DSMT4">
                  <p:embed/>
                  <p:pic>
                    <p:nvPicPr>
                      <p:cNvPr id="8" name="对象 -2147482498"/>
                      <p:cNvPicPr/>
                      <p:nvPr/>
                    </p:nvPicPr>
                    <p:blipFill>
                      <a:blip r:embed="rId4"/>
                      <a:stretch>
                        <a:fillRect/>
                      </a:stretch>
                    </p:blipFill>
                    <p:spPr>
                      <a:xfrm>
                        <a:off x="4126566" y="4608660"/>
                        <a:ext cx="1261110" cy="656590"/>
                      </a:xfrm>
                      <a:prstGeom prst="rect">
                        <a:avLst/>
                      </a:prstGeom>
                      <a:noFill/>
                      <a:ln w="38100">
                        <a:noFill/>
                        <a:miter/>
                      </a:ln>
                    </p:spPr>
                  </p:pic>
                </p:oleObj>
              </mc:Fallback>
            </mc:AlternateContent>
          </a:graphicData>
        </a:graphic>
      </p:graphicFrame>
      <p:sp>
        <p:nvSpPr>
          <p:cNvPr id="9" name="文本框 8"/>
          <p:cNvSpPr txBox="1"/>
          <p:nvPr/>
        </p:nvSpPr>
        <p:spPr>
          <a:xfrm>
            <a:off x="579120" y="5301691"/>
            <a:ext cx="8032727" cy="874407"/>
          </a:xfrm>
          <a:prstGeom prst="rect">
            <a:avLst/>
          </a:prstGeom>
          <a:noFill/>
        </p:spPr>
        <p:txBody>
          <a:bodyPr wrap="square" rtlCol="0" anchor="t">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sym typeface="+mn-ea"/>
              </a:rPr>
              <a:t>等厚干涉中光程差仅与入射处的平板厚度有关，因此等厚干涉形成的条纹是</a:t>
            </a:r>
            <a:r>
              <a:rPr lang="zh-CN" altLang="en-US" b="1" kern="100" dirty="0">
                <a:solidFill>
                  <a:srgbClr val="FF0000"/>
                </a:solidFill>
                <a:latin typeface="微软雅黑" panose="020B0503020204020204" pitchFamily="34" charset="-122"/>
                <a:ea typeface="微软雅黑" panose="020B0503020204020204" pitchFamily="34" charset="-122"/>
                <a:sym typeface="+mn-ea"/>
              </a:rPr>
              <a:t>沿着平板的等厚线分布</a:t>
            </a:r>
            <a:r>
              <a:rPr lang="zh-CN" altLang="en-US" kern="100" dirty="0">
                <a:latin typeface="微软雅黑" panose="020B0503020204020204" pitchFamily="34" charset="-122"/>
                <a:ea typeface="微软雅黑" panose="020B0503020204020204" pitchFamily="34" charset="-122"/>
                <a:sym typeface="+mn-ea"/>
              </a:rPr>
              <a:t>的，并且</a:t>
            </a:r>
            <a:r>
              <a:rPr lang="zh-CN" altLang="en-US" b="1" kern="100" dirty="0">
                <a:solidFill>
                  <a:srgbClr val="FF0000"/>
                </a:solidFill>
                <a:latin typeface="微软雅黑" panose="020B0503020204020204" pitchFamily="34" charset="-122"/>
                <a:ea typeface="微软雅黑" panose="020B0503020204020204" pitchFamily="34" charset="-122"/>
                <a:sym typeface="+mn-ea"/>
              </a:rPr>
              <a:t>越厚的地方级次越高</a:t>
            </a:r>
            <a:r>
              <a:rPr lang="zh-CN" altLang="en-US" kern="100" dirty="0">
                <a:latin typeface="微软雅黑" panose="020B0503020204020204" pitchFamily="34" charset="-122"/>
                <a:ea typeface="微软雅黑" panose="020B0503020204020204" pitchFamily="34" charset="-122"/>
                <a:sym typeface="+mn-ea"/>
              </a:rPr>
              <a:t>。</a:t>
            </a:r>
          </a:p>
        </p:txBody>
      </p:sp>
      <p:sp>
        <p:nvSpPr>
          <p:cNvPr id="12" name="文本框 11"/>
          <p:cNvSpPr txBox="1"/>
          <p:nvPr/>
        </p:nvSpPr>
        <p:spPr>
          <a:xfrm>
            <a:off x="579120" y="3894879"/>
            <a:ext cx="7768287" cy="897615"/>
          </a:xfrm>
          <a:prstGeom prst="rect">
            <a:avLst/>
          </a:prstGeom>
          <a:noFill/>
        </p:spPr>
        <p:txBody>
          <a:bodyPr wrap="square" rtlCol="0">
            <a:no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假设楔形平板</a:t>
            </a:r>
            <a:r>
              <a:rPr lang="zh-CN" altLang="en-US" b="1" kern="100" dirty="0">
                <a:solidFill>
                  <a:srgbClr val="FF0000"/>
                </a:solidFill>
                <a:latin typeface="微软雅黑" panose="020B0503020204020204" pitchFamily="34" charset="-122"/>
                <a:ea typeface="微软雅黑" panose="020B0503020204020204" pitchFamily="34" charset="-122"/>
              </a:rPr>
              <a:t>内部折射率均匀分布</a:t>
            </a:r>
            <a:r>
              <a:rPr lang="zh-CN" altLang="en-US" kern="100" dirty="0">
                <a:latin typeface="微软雅黑" panose="020B0503020204020204" pitchFamily="34" charset="-122"/>
                <a:ea typeface="微软雅黑" panose="020B0503020204020204" pitchFamily="34" charset="-122"/>
              </a:rPr>
              <a:t>，利用几何关系并考虑半波损失可知，等厚干涉</a:t>
            </a:r>
            <a:r>
              <a:rPr lang="zh-CN" altLang="en-US" b="1" kern="100" dirty="0">
                <a:solidFill>
                  <a:schemeClr val="accent1"/>
                </a:solidFill>
                <a:latin typeface="微软雅黑" panose="020B0503020204020204" pitchFamily="34" charset="-122"/>
                <a:ea typeface="微软雅黑" panose="020B0503020204020204" pitchFamily="34" charset="-122"/>
              </a:rPr>
              <a:t>两光束的光程差</a:t>
            </a:r>
            <a:r>
              <a:rPr lang="zh-CN" altLang="en-US" kern="100" dirty="0">
                <a:latin typeface="微软雅黑" panose="020B0503020204020204" pitchFamily="34" charset="-122"/>
                <a:ea typeface="微软雅黑" panose="020B0503020204020204" pitchFamily="34" charset="-122"/>
              </a:rPr>
              <a:t>为：</a:t>
            </a:r>
          </a:p>
          <a:p>
            <a:pPr indent="304800" algn="just">
              <a:lnSpc>
                <a:spcPct val="150000"/>
              </a:lnSpc>
            </a:pPr>
            <a:endParaRPr lang="zh-CN" altLang="en-US" kern="1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2.1.3  </a:t>
            </a:r>
            <a:r>
              <a:rPr lang="zh-CN" altLang="en-US" b="1" dirty="0">
                <a:solidFill>
                  <a:srgbClr val="002060"/>
                </a:solidFill>
              </a:rPr>
              <a:t>干涉与衍射</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14</a:t>
            </a:fld>
            <a:endParaRPr kumimoji="1" lang="zh-CN" altLang="en-US"/>
          </a:p>
        </p:txBody>
      </p:sp>
      <p:sp>
        <p:nvSpPr>
          <p:cNvPr id="7" name="文本框 6"/>
          <p:cNvSpPr txBox="1"/>
          <p:nvPr/>
        </p:nvSpPr>
        <p:spPr>
          <a:xfrm>
            <a:off x="216535" y="1205230"/>
            <a:ext cx="2789132" cy="39878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光波衍射的基本理论 </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360000" y="1692000"/>
            <a:ext cx="2789132" cy="39878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）菲涅尔衍射</a:t>
            </a:r>
          </a:p>
        </p:txBody>
      </p:sp>
      <p:sp>
        <p:nvSpPr>
          <p:cNvPr id="23" name="文本框 22"/>
          <p:cNvSpPr txBox="1"/>
          <p:nvPr/>
        </p:nvSpPr>
        <p:spPr>
          <a:xfrm>
            <a:off x="579120" y="2067560"/>
            <a:ext cx="11232515" cy="4392930"/>
          </a:xfrm>
          <a:prstGeom prst="rect">
            <a:avLst/>
          </a:prstGeom>
          <a:noFill/>
        </p:spPr>
        <p:txBody>
          <a:bodyPr wrap="square" rtlCol="0">
            <a:noAutofit/>
          </a:bodyPr>
          <a:lstStyle/>
          <a:p>
            <a:pPr algn="just">
              <a:lnSpc>
                <a:spcPct val="150000"/>
              </a:lnSpc>
            </a:pPr>
            <a:r>
              <a:rPr lang="zh-CN" altLang="en-US" kern="100" dirty="0">
                <a:latin typeface="微软雅黑" panose="020B0503020204020204" pitchFamily="34" charset="-122"/>
                <a:ea typeface="微软雅黑" panose="020B0503020204020204" pitchFamily="34" charset="-122"/>
              </a:rPr>
              <a:t>当</a:t>
            </a:r>
            <a:r>
              <a:rPr lang="zh-CN" altLang="en-US" b="1" kern="100" dirty="0">
                <a:solidFill>
                  <a:srgbClr val="FF0000"/>
                </a:solidFill>
                <a:latin typeface="微软雅黑" panose="020B0503020204020204" pitchFamily="34" charset="-122"/>
                <a:ea typeface="微软雅黑" panose="020B0503020204020204" pitchFamily="34" charset="-122"/>
              </a:rPr>
              <a:t>光源、衍射屏和观察屏三者距离有限远</a:t>
            </a:r>
            <a:r>
              <a:rPr lang="zh-CN" altLang="en-US" kern="100" dirty="0">
                <a:latin typeface="微软雅黑" panose="020B0503020204020204" pitchFamily="34" charset="-122"/>
                <a:ea typeface="微软雅黑" panose="020B0503020204020204" pitchFamily="34" charset="-122"/>
              </a:rPr>
              <a:t>时所产生的衍射称为</a:t>
            </a:r>
            <a:r>
              <a:rPr lang="zh-CN" altLang="en-US" b="1" kern="100" dirty="0">
                <a:solidFill>
                  <a:srgbClr val="FF0000"/>
                </a:solidFill>
                <a:latin typeface="微软雅黑" panose="020B0503020204020204" pitchFamily="34" charset="-122"/>
                <a:ea typeface="微软雅黑" panose="020B0503020204020204" pitchFamily="34" charset="-122"/>
              </a:rPr>
              <a:t>菲涅耳衍射或近场衍射</a:t>
            </a:r>
            <a:r>
              <a:rPr lang="zh-CN" altLang="en-US" kern="100" dirty="0">
                <a:latin typeface="微软雅黑" panose="020B0503020204020204" pitchFamily="34" charset="-122"/>
                <a:ea typeface="微软雅黑" panose="020B0503020204020204" pitchFamily="34" charset="-122"/>
              </a:rPr>
              <a:t>，对于衍射可采用菲涅耳波带法得到近似的衍射图样。</a:t>
            </a:r>
          </a:p>
          <a:p>
            <a:pPr indent="304800" algn="just">
              <a:lnSpc>
                <a:spcPct val="150000"/>
              </a:lnSpc>
            </a:pPr>
            <a:endParaRPr lang="zh-CN" altLang="en-US" kern="100" dirty="0">
              <a:latin typeface="微软雅黑" panose="020B0503020204020204" pitchFamily="34" charset="-122"/>
              <a:ea typeface="微软雅黑" panose="020B0503020204020204" pitchFamily="34" charset="-122"/>
            </a:endParaRPr>
          </a:p>
          <a:p>
            <a:pPr indent="304800" algn="just">
              <a:lnSpc>
                <a:spcPct val="150000"/>
              </a:lnSpc>
            </a:pPr>
            <a:endParaRPr lang="zh-CN" altLang="en-US" kern="100" dirty="0">
              <a:latin typeface="微软雅黑" panose="020B0503020204020204" pitchFamily="34" charset="-122"/>
              <a:ea typeface="微软雅黑" panose="020B0503020204020204" pitchFamily="34" charset="-122"/>
            </a:endParaRPr>
          </a:p>
          <a:p>
            <a:pPr indent="304800" algn="just">
              <a:lnSpc>
                <a:spcPct val="150000"/>
              </a:lnSpc>
            </a:pPr>
            <a:endParaRPr lang="zh-CN" altLang="en-US" kern="100" dirty="0">
              <a:latin typeface="微软雅黑" panose="020B0503020204020204" pitchFamily="34" charset="-122"/>
              <a:ea typeface="微软雅黑" panose="020B0503020204020204" pitchFamily="34" charset="-122"/>
            </a:endParaRPr>
          </a:p>
          <a:p>
            <a:pPr indent="304800" algn="just">
              <a:lnSpc>
                <a:spcPct val="150000"/>
              </a:lnSpc>
            </a:pPr>
            <a:endParaRPr lang="zh-CN" altLang="en-US" kern="100" dirty="0">
              <a:latin typeface="微软雅黑" panose="020B0503020204020204" pitchFamily="34" charset="-122"/>
              <a:ea typeface="微软雅黑" panose="020B0503020204020204" pitchFamily="34" charset="-122"/>
            </a:endParaRPr>
          </a:p>
          <a:p>
            <a:pPr indent="304800" algn="just">
              <a:lnSpc>
                <a:spcPct val="150000"/>
              </a:lnSpc>
            </a:pPr>
            <a:endParaRPr lang="zh-CN" altLang="en-US" kern="100" dirty="0">
              <a:latin typeface="微软雅黑" panose="020B0503020204020204" pitchFamily="34" charset="-122"/>
              <a:ea typeface="微软雅黑" panose="020B0503020204020204" pitchFamily="34" charset="-122"/>
            </a:endParaRPr>
          </a:p>
        </p:txBody>
      </p:sp>
      <p:pic>
        <p:nvPicPr>
          <p:cNvPr id="31" name="图片 3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3122455" y="2922270"/>
            <a:ext cx="4866005" cy="1762125"/>
          </a:xfrm>
          <a:prstGeom prst="rect">
            <a:avLst/>
          </a:prstGeom>
          <a:noFill/>
          <a:ln>
            <a:noFill/>
          </a:ln>
        </p:spPr>
      </p:pic>
      <mc:AlternateContent xmlns:mc="http://schemas.openxmlformats.org/markup-compatibility/2006" xmlns:a14="http://schemas.microsoft.com/office/drawing/2010/main">
        <mc:Choice Requires="a14">
          <p:sp>
            <p:nvSpPr>
              <p:cNvPr id="8" name="文本框 7"/>
              <p:cNvSpPr txBox="1"/>
              <p:nvPr/>
            </p:nvSpPr>
            <p:spPr>
              <a:xfrm>
                <a:off x="707390" y="4873516"/>
                <a:ext cx="10777220" cy="1289905"/>
              </a:xfrm>
              <a:prstGeom prst="rect">
                <a:avLst/>
              </a:prstGeom>
              <a:noFill/>
            </p:spPr>
            <p:txBody>
              <a:bodyPr wrap="square" rtlCol="0" anchor="t">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sym typeface="+mn-ea"/>
                  </a:rPr>
                  <a:t>接收光屏上</a:t>
                </a:r>
                <a14:m>
                  <m:oMath xmlns:m="http://schemas.openxmlformats.org/officeDocument/2006/math">
                    <m:sSub>
                      <m:sSubPr>
                        <m:ctrlPr>
                          <a:rPr lang="en-US" altLang="zh-CN" b="1" i="1" kern="100">
                            <a:solidFill>
                              <a:schemeClr val="accent1"/>
                            </a:solidFill>
                            <a:latin typeface="Cambria Math" panose="02040503050406030204" pitchFamily="18" charset="0"/>
                            <a:ea typeface="微软雅黑" panose="020B0503020204020204" pitchFamily="34" charset="-122"/>
                            <a:sym typeface="+mn-ea"/>
                          </a:rPr>
                        </m:ctrlPr>
                      </m:sSubPr>
                      <m:e>
                        <m:r>
                          <a:rPr lang="en-US" altLang="zh-CN" b="1" kern="100">
                            <a:solidFill>
                              <a:schemeClr val="accent1"/>
                            </a:solidFill>
                            <a:latin typeface="Cambria Math" panose="02040503050406030204" pitchFamily="18" charset="0"/>
                            <a:ea typeface="微软雅黑" panose="020B0503020204020204" pitchFamily="34" charset="-122"/>
                            <a:sym typeface="+mn-ea"/>
                          </a:rPr>
                          <m:t>𝑃</m:t>
                        </m:r>
                      </m:e>
                      <m:sub>
                        <m:r>
                          <a:rPr lang="en-US" altLang="zh-CN" b="1" kern="100">
                            <a:solidFill>
                              <a:schemeClr val="accent1"/>
                            </a:solidFill>
                            <a:latin typeface="Cambria Math" panose="02040503050406030204" pitchFamily="18" charset="0"/>
                            <a:ea typeface="微软雅黑" panose="020B0503020204020204" pitchFamily="34" charset="-122"/>
                            <a:sym typeface="+mn-ea"/>
                          </a:rPr>
                          <m:t>0</m:t>
                        </m:r>
                      </m:sub>
                    </m:sSub>
                  </m:oMath>
                </a14:m>
                <a:r>
                  <a:rPr lang="zh-CN" altLang="en-US" b="1" kern="100" dirty="0">
                    <a:solidFill>
                      <a:schemeClr val="accent1"/>
                    </a:solidFill>
                    <a:latin typeface="微软雅黑" panose="020B0503020204020204" pitchFamily="34" charset="-122"/>
                    <a:ea typeface="微软雅黑" panose="020B0503020204020204" pitchFamily="34" charset="-122"/>
                    <a:sym typeface="+mn-ea"/>
                  </a:rPr>
                  <a:t>的光强度与圆孔所含的半波带数n有关</a:t>
                </a:r>
                <a:r>
                  <a:rPr lang="zh-CN" altLang="en-US" kern="100" dirty="0">
                    <a:latin typeface="微软雅黑" panose="020B0503020204020204" pitchFamily="34" charset="-122"/>
                    <a:ea typeface="微软雅黑" panose="020B0503020204020204" pitchFamily="34" charset="-122"/>
                    <a:sym typeface="+mn-ea"/>
                  </a:rPr>
                  <a:t>，当</a:t>
                </a:r>
                <a:r>
                  <a:rPr lang="zh-CN" altLang="en-US" b="1" kern="100" dirty="0">
                    <a:solidFill>
                      <a:schemeClr val="accent1"/>
                    </a:solidFill>
                    <a:latin typeface="微软雅黑" panose="020B0503020204020204" pitchFamily="34" charset="-122"/>
                    <a:ea typeface="微软雅黑" panose="020B0503020204020204" pitchFamily="34" charset="-122"/>
                    <a:sym typeface="+mn-ea"/>
                  </a:rPr>
                  <a:t>n为奇数时，</a:t>
                </a:r>
                <a14:m>
                  <m:oMath xmlns:m="http://schemas.openxmlformats.org/officeDocument/2006/math">
                    <m:sSub>
                      <m:sSubPr>
                        <m:ctrlPr>
                          <a:rPr lang="en-US" altLang="zh-CN" b="1" i="1" kern="100">
                            <a:solidFill>
                              <a:schemeClr val="accent1"/>
                            </a:solidFill>
                            <a:latin typeface="Cambria Math" panose="02040503050406030204" pitchFamily="18" charset="0"/>
                            <a:ea typeface="微软雅黑" panose="020B0503020204020204" pitchFamily="34" charset="-122"/>
                            <a:sym typeface="+mn-ea"/>
                          </a:rPr>
                        </m:ctrlPr>
                      </m:sSubPr>
                      <m:e>
                        <m:r>
                          <a:rPr lang="en-US" altLang="zh-CN" b="1" kern="100">
                            <a:solidFill>
                              <a:schemeClr val="accent1"/>
                            </a:solidFill>
                            <a:latin typeface="Cambria Math" panose="02040503050406030204" pitchFamily="18" charset="0"/>
                            <a:ea typeface="微软雅黑" panose="020B0503020204020204" pitchFamily="34" charset="-122"/>
                            <a:sym typeface="+mn-ea"/>
                          </a:rPr>
                          <m:t>𝑃</m:t>
                        </m:r>
                      </m:e>
                      <m:sub>
                        <m:r>
                          <a:rPr lang="en-US" altLang="zh-CN" b="1" kern="100">
                            <a:solidFill>
                              <a:schemeClr val="accent1"/>
                            </a:solidFill>
                            <a:latin typeface="Cambria Math" panose="02040503050406030204" pitchFamily="18" charset="0"/>
                            <a:ea typeface="微软雅黑" panose="020B0503020204020204" pitchFamily="34" charset="-122"/>
                            <a:sym typeface="+mn-ea"/>
                          </a:rPr>
                          <m:t>0</m:t>
                        </m:r>
                      </m:sub>
                    </m:sSub>
                  </m:oMath>
                </a14:m>
                <a:r>
                  <a:rPr lang="zh-CN" altLang="en-US" b="1" kern="100" dirty="0">
                    <a:solidFill>
                      <a:schemeClr val="accent1"/>
                    </a:solidFill>
                    <a:latin typeface="微软雅黑" panose="020B0503020204020204" pitchFamily="34" charset="-122"/>
                    <a:ea typeface="微软雅黑" panose="020B0503020204020204" pitchFamily="34" charset="-122"/>
                    <a:sym typeface="+mn-ea"/>
                  </a:rPr>
                  <a:t>点强度较大，当n为偶数时，</a:t>
                </a:r>
                <a14:m>
                  <m:oMath xmlns:m="http://schemas.openxmlformats.org/officeDocument/2006/math">
                    <m:sSub>
                      <m:sSubPr>
                        <m:ctrlPr>
                          <a:rPr lang="en-US" altLang="zh-CN" b="1" i="1" kern="100">
                            <a:solidFill>
                              <a:schemeClr val="accent1"/>
                            </a:solidFill>
                            <a:latin typeface="Cambria Math" panose="02040503050406030204" pitchFamily="18" charset="0"/>
                            <a:ea typeface="微软雅黑" panose="020B0503020204020204" pitchFamily="34" charset="-122"/>
                            <a:sym typeface="+mn-ea"/>
                          </a:rPr>
                        </m:ctrlPr>
                      </m:sSubPr>
                      <m:e>
                        <m:r>
                          <a:rPr lang="en-US" altLang="zh-CN" b="1" kern="100">
                            <a:solidFill>
                              <a:schemeClr val="accent1"/>
                            </a:solidFill>
                            <a:latin typeface="Cambria Math" panose="02040503050406030204" pitchFamily="18" charset="0"/>
                            <a:ea typeface="微软雅黑" panose="020B0503020204020204" pitchFamily="34" charset="-122"/>
                            <a:sym typeface="+mn-ea"/>
                          </a:rPr>
                          <m:t>𝑃</m:t>
                        </m:r>
                      </m:e>
                      <m:sub>
                        <m:r>
                          <a:rPr lang="en-US" altLang="zh-CN" b="1" kern="100">
                            <a:solidFill>
                              <a:schemeClr val="accent1"/>
                            </a:solidFill>
                            <a:latin typeface="Cambria Math" panose="02040503050406030204" pitchFamily="18" charset="0"/>
                            <a:ea typeface="微软雅黑" panose="020B0503020204020204" pitchFamily="34" charset="-122"/>
                            <a:sym typeface="+mn-ea"/>
                          </a:rPr>
                          <m:t>0</m:t>
                        </m:r>
                      </m:sub>
                    </m:sSub>
                  </m:oMath>
                </a14:m>
                <a:r>
                  <a:rPr lang="zh-CN" altLang="en-US" b="1" kern="100" dirty="0">
                    <a:solidFill>
                      <a:schemeClr val="accent1"/>
                    </a:solidFill>
                    <a:latin typeface="微软雅黑" panose="020B0503020204020204" pitchFamily="34" charset="-122"/>
                    <a:ea typeface="微软雅黑" panose="020B0503020204020204" pitchFamily="34" charset="-122"/>
                    <a:sym typeface="+mn-ea"/>
                  </a:rPr>
                  <a:t>点强度较小</a:t>
                </a:r>
                <a:r>
                  <a:rPr lang="zh-CN" altLang="en-US" kern="100" dirty="0">
                    <a:latin typeface="微软雅黑" panose="020B0503020204020204" pitchFamily="34" charset="-122"/>
                    <a:ea typeface="微软雅黑" panose="020B0503020204020204" pitchFamily="34" charset="-122"/>
                    <a:sym typeface="+mn-ea"/>
                  </a:rPr>
                  <a:t>。</a:t>
                </a:r>
                <a:endParaRPr lang="en-US" altLang="zh-CN" kern="100" dirty="0">
                  <a:latin typeface="微软雅黑" panose="020B0503020204020204" pitchFamily="34" charset="-122"/>
                  <a:ea typeface="微软雅黑" panose="020B0503020204020204" pitchFamily="34" charset="-122"/>
                  <a:sym typeface="+mn-ea"/>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sym typeface="+mn-ea"/>
                  </a:rPr>
                  <a:t>在圆孔大小不变时，波带数又取决于的值，所以当把光屏远近移动时，也可以看到</a:t>
                </a:r>
                <a14:m>
                  <m:oMath xmlns:m="http://schemas.openxmlformats.org/officeDocument/2006/math">
                    <m:sSub>
                      <m:sSubPr>
                        <m:ctrlPr>
                          <a:rPr lang="en-US" altLang="zh-CN" i="1" kern="100">
                            <a:latin typeface="Cambria Math" panose="02040503050406030204" pitchFamily="18" charset="0"/>
                            <a:ea typeface="微软雅黑" panose="020B0503020204020204" pitchFamily="34" charset="-122"/>
                            <a:sym typeface="+mn-ea"/>
                          </a:rPr>
                        </m:ctrlPr>
                      </m:sSubPr>
                      <m:e>
                        <m:r>
                          <a:rPr lang="en-US" altLang="zh-CN" kern="100">
                            <a:latin typeface="Cambria Math" panose="02040503050406030204" pitchFamily="18" charset="0"/>
                            <a:ea typeface="微软雅黑" panose="020B0503020204020204" pitchFamily="34" charset="-122"/>
                            <a:sym typeface="+mn-ea"/>
                          </a:rPr>
                          <m:t>𝑃</m:t>
                        </m:r>
                      </m:e>
                      <m:sub>
                        <m:r>
                          <a:rPr lang="en-US" altLang="zh-CN" kern="100">
                            <a:latin typeface="Cambria Math" panose="02040503050406030204" pitchFamily="18" charset="0"/>
                            <a:ea typeface="微软雅黑" panose="020B0503020204020204" pitchFamily="34" charset="-122"/>
                            <a:sym typeface="+mn-ea"/>
                          </a:rPr>
                          <m:t>0</m:t>
                        </m:r>
                      </m:sub>
                    </m:sSub>
                  </m:oMath>
                </a14:m>
                <a:r>
                  <a:rPr lang="zh-CN" altLang="en-US" kern="100" dirty="0">
                    <a:latin typeface="微软雅黑" panose="020B0503020204020204" pitchFamily="34" charset="-122"/>
                    <a:ea typeface="微软雅黑" panose="020B0503020204020204" pitchFamily="34" charset="-122"/>
                    <a:sym typeface="+mn-ea"/>
                  </a:rPr>
                  <a:t>点</a:t>
                </a:r>
                <a:r>
                  <a:rPr lang="zh-CN" altLang="en-US" b="1" kern="100" dirty="0">
                    <a:solidFill>
                      <a:srgbClr val="FF0000"/>
                    </a:solidFill>
                    <a:latin typeface="微软雅黑" panose="020B0503020204020204" pitchFamily="34" charset="-122"/>
                    <a:ea typeface="微软雅黑" panose="020B0503020204020204" pitchFamily="34" charset="-122"/>
                    <a:sym typeface="+mn-ea"/>
                  </a:rPr>
                  <a:t>明暗交替</a:t>
                </a:r>
                <a:r>
                  <a:rPr lang="zh-CN" altLang="en-US" kern="100" dirty="0">
                    <a:latin typeface="微软雅黑" panose="020B0503020204020204" pitchFamily="34" charset="-122"/>
                    <a:ea typeface="微软雅黑" panose="020B0503020204020204" pitchFamily="34" charset="-122"/>
                    <a:sym typeface="+mn-ea"/>
                  </a:rPr>
                  <a:t>的变化。</a:t>
                </a:r>
              </a:p>
            </p:txBody>
          </p:sp>
        </mc:Choice>
        <mc:Fallback xmlns="">
          <p:sp>
            <p:nvSpPr>
              <p:cNvPr id="8" name="文本框 7"/>
              <p:cNvSpPr txBox="1">
                <a:spLocks noRot="1" noChangeAspect="1" noMove="1" noResize="1" noEditPoints="1" noAdjustHandles="1" noChangeArrowheads="1" noChangeShapeType="1" noTextEdit="1"/>
              </p:cNvSpPr>
              <p:nvPr/>
            </p:nvSpPr>
            <p:spPr>
              <a:xfrm>
                <a:off x="707390" y="4873516"/>
                <a:ext cx="10777220" cy="1289905"/>
              </a:xfrm>
              <a:prstGeom prst="rect">
                <a:avLst/>
              </a:prstGeom>
              <a:blipFill>
                <a:blip r:embed="rId3"/>
                <a:stretch>
                  <a:fillRect l="-339" r="-2602" b="-6604"/>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2.1.3  </a:t>
            </a:r>
            <a:r>
              <a:rPr lang="zh-CN" altLang="en-US" b="1" dirty="0">
                <a:solidFill>
                  <a:srgbClr val="002060"/>
                </a:solidFill>
              </a:rPr>
              <a:t>干涉与衍射</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15</a:t>
            </a:fld>
            <a:endParaRPr kumimoji="1" lang="zh-CN" altLang="en-US"/>
          </a:p>
        </p:txBody>
      </p:sp>
      <p:sp>
        <p:nvSpPr>
          <p:cNvPr id="7" name="文本框 6"/>
          <p:cNvSpPr txBox="1"/>
          <p:nvPr/>
        </p:nvSpPr>
        <p:spPr>
          <a:xfrm>
            <a:off x="216535" y="1205230"/>
            <a:ext cx="2789132" cy="39878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光波衍射的基本理论 </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396000" y="1692000"/>
            <a:ext cx="6353810" cy="39878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）典型孔径的夫琅禾费衍射</a:t>
            </a:r>
          </a:p>
        </p:txBody>
      </p:sp>
      <p:sp>
        <p:nvSpPr>
          <p:cNvPr id="23" name="文本框 22"/>
          <p:cNvSpPr txBox="1"/>
          <p:nvPr/>
        </p:nvSpPr>
        <p:spPr>
          <a:xfrm>
            <a:off x="579121" y="2067560"/>
            <a:ext cx="10698480" cy="1224915"/>
          </a:xfrm>
          <a:prstGeom prst="rect">
            <a:avLst/>
          </a:prstGeom>
          <a:noFill/>
        </p:spPr>
        <p:txBody>
          <a:bodyPr wrap="square" rtlCol="0">
            <a:noAutofit/>
          </a:bodyPr>
          <a:lstStyle/>
          <a:p>
            <a:pPr algn="just">
              <a:lnSpc>
                <a:spcPct val="150000"/>
              </a:lnSpc>
            </a:pPr>
            <a:r>
              <a:rPr lang="zh-CN" altLang="en-US" kern="100" dirty="0">
                <a:latin typeface="微软雅黑" panose="020B0503020204020204" pitchFamily="34" charset="-122"/>
                <a:ea typeface="微软雅黑" panose="020B0503020204020204" pitchFamily="34" charset="-122"/>
              </a:rPr>
              <a:t>当衍射屏和接收屏之间关系满足下式时，可以采用</a:t>
            </a:r>
            <a:r>
              <a:rPr lang="zh-CN" altLang="en-US" b="1" kern="100" dirty="0">
                <a:solidFill>
                  <a:srgbClr val="FF0000"/>
                </a:solidFill>
                <a:latin typeface="微软雅黑" panose="020B0503020204020204" pitchFamily="34" charset="-122"/>
                <a:ea typeface="微软雅黑" panose="020B0503020204020204" pitchFamily="34" charset="-122"/>
              </a:rPr>
              <a:t>夫琅禾费近似方法</a:t>
            </a:r>
            <a:r>
              <a:rPr lang="zh-CN" altLang="en-US" kern="100" dirty="0">
                <a:latin typeface="微软雅黑" panose="020B0503020204020204" pitchFamily="34" charset="-122"/>
                <a:ea typeface="微软雅黑" panose="020B0503020204020204" pitchFamily="34" charset="-122"/>
              </a:rPr>
              <a:t>来对衍射屏上的</a:t>
            </a:r>
            <a:r>
              <a:rPr lang="zh-CN" altLang="en-US" b="1" kern="100" dirty="0">
                <a:solidFill>
                  <a:schemeClr val="accent1"/>
                </a:solidFill>
                <a:latin typeface="微软雅黑" panose="020B0503020204020204" pitchFamily="34" charset="-122"/>
                <a:ea typeface="微软雅黑" panose="020B0503020204020204" pitchFamily="34" charset="-122"/>
              </a:rPr>
              <a:t>光强分布</a:t>
            </a:r>
            <a:r>
              <a:rPr lang="zh-CN" altLang="en-US" kern="100" dirty="0">
                <a:latin typeface="微软雅黑" panose="020B0503020204020204" pitchFamily="34" charset="-122"/>
                <a:ea typeface="微软雅黑" panose="020B0503020204020204" pitchFamily="34" charset="-122"/>
              </a:rPr>
              <a:t>进行估计，该类衍射叫做</a:t>
            </a:r>
            <a:r>
              <a:rPr lang="zh-CN" altLang="en-US" b="1" kern="100" dirty="0">
                <a:solidFill>
                  <a:srgbClr val="FF0000"/>
                </a:solidFill>
                <a:latin typeface="微软雅黑" panose="020B0503020204020204" pitchFamily="34" charset="-122"/>
                <a:ea typeface="微软雅黑" panose="020B0503020204020204" pitchFamily="34" charset="-122"/>
              </a:rPr>
              <a:t>夫琅禾费衍射</a:t>
            </a:r>
            <a:r>
              <a:rPr lang="zh-CN" altLang="en-US" kern="100" dirty="0">
                <a:latin typeface="微软雅黑" panose="020B0503020204020204" pitchFamily="34" charset="-122"/>
                <a:ea typeface="微软雅黑" panose="020B0503020204020204" pitchFamily="34" charset="-122"/>
              </a:rPr>
              <a:t>。</a:t>
            </a:r>
          </a:p>
          <a:p>
            <a:pPr indent="304800" algn="just">
              <a:lnSpc>
                <a:spcPct val="150000"/>
              </a:lnSpc>
            </a:pPr>
            <a:endParaRPr lang="zh-CN" altLang="en-US" kern="100" dirty="0">
              <a:latin typeface="微软雅黑" panose="020B0503020204020204" pitchFamily="34" charset="-122"/>
              <a:ea typeface="微软雅黑" panose="020B0503020204020204" pitchFamily="34" charset="-122"/>
            </a:endParaRPr>
          </a:p>
          <a:p>
            <a:pPr indent="304800" algn="just">
              <a:lnSpc>
                <a:spcPct val="150000"/>
              </a:lnSpc>
            </a:pPr>
            <a:endParaRPr lang="zh-CN" altLang="en-US" kern="100" dirty="0">
              <a:latin typeface="微软雅黑" panose="020B0503020204020204" pitchFamily="34" charset="-122"/>
              <a:ea typeface="微软雅黑" panose="020B0503020204020204" pitchFamily="34" charset="-122"/>
            </a:endParaRPr>
          </a:p>
        </p:txBody>
      </p:sp>
      <p:graphicFrame>
        <p:nvGraphicFramePr>
          <p:cNvPr id="8" name="对象 -2147482480"/>
          <p:cNvGraphicFramePr>
            <a:graphicFrameLocks noChangeAspect="1"/>
          </p:cNvGraphicFramePr>
          <p:nvPr/>
        </p:nvGraphicFramePr>
        <p:xfrm>
          <a:off x="2014468" y="3336633"/>
          <a:ext cx="2245995" cy="849630"/>
        </p:xfrm>
        <a:graphic>
          <a:graphicData uri="http://schemas.openxmlformats.org/presentationml/2006/ole">
            <mc:AlternateContent xmlns:mc="http://schemas.openxmlformats.org/markup-compatibility/2006">
              <mc:Choice xmlns:v="urn:schemas-microsoft-com:vml" Requires="v">
                <p:oleObj r:id="rId2" imgW="1219200" imgH="457200" progId="Equation.DSMT4">
                  <p:embed/>
                </p:oleObj>
              </mc:Choice>
              <mc:Fallback>
                <p:oleObj r:id="rId2" imgW="1219200" imgH="457200" progId="Equation.DSMT4">
                  <p:embed/>
                  <p:pic>
                    <p:nvPicPr>
                      <p:cNvPr id="8" name="对象 -2147482480"/>
                      <p:cNvPicPr/>
                      <p:nvPr/>
                    </p:nvPicPr>
                    <p:blipFill>
                      <a:blip r:embed="rId3"/>
                      <a:stretch>
                        <a:fillRect/>
                      </a:stretch>
                    </p:blipFill>
                    <p:spPr>
                      <a:xfrm>
                        <a:off x="2014468" y="3336633"/>
                        <a:ext cx="2245995" cy="849630"/>
                      </a:xfrm>
                      <a:prstGeom prst="rect">
                        <a:avLst/>
                      </a:prstGeom>
                      <a:noFill/>
                      <a:ln w="38100">
                        <a:noFill/>
                        <a:miter/>
                      </a:ln>
                    </p:spPr>
                  </p:pic>
                </p:oleObj>
              </mc:Fallback>
            </mc:AlternateContent>
          </a:graphicData>
        </a:graphic>
      </p:graphicFrame>
      <p:pic>
        <p:nvPicPr>
          <p:cNvPr id="9" name="图片 8"/>
          <p:cNvPicPr>
            <a:picLocks noChangeAspect="1"/>
          </p:cNvPicPr>
          <p:nvPr/>
        </p:nvPicPr>
        <p:blipFill>
          <a:blip r:embed="rId4"/>
          <a:stretch>
            <a:fillRect/>
          </a:stretch>
        </p:blipFill>
        <p:spPr>
          <a:xfrm>
            <a:off x="6278222" y="2453808"/>
            <a:ext cx="5270850" cy="2337819"/>
          </a:xfrm>
          <a:prstGeom prst="rect">
            <a:avLst/>
          </a:prstGeom>
        </p:spPr>
      </p:pic>
      <p:pic>
        <p:nvPicPr>
          <p:cNvPr id="10" name="图片 9"/>
          <p:cNvPicPr>
            <a:picLocks noChangeAspect="1"/>
          </p:cNvPicPr>
          <p:nvPr/>
        </p:nvPicPr>
        <p:blipFill>
          <a:blip r:embed="rId5"/>
          <a:stretch>
            <a:fillRect/>
          </a:stretch>
        </p:blipFill>
        <p:spPr>
          <a:xfrm>
            <a:off x="2688589" y="5279198"/>
            <a:ext cx="4220031" cy="1185822"/>
          </a:xfrm>
          <a:prstGeom prst="rect">
            <a:avLst/>
          </a:prstGeom>
        </p:spPr>
      </p:pic>
      <p:sp>
        <p:nvSpPr>
          <p:cNvPr id="11" name="文本框 10"/>
          <p:cNvSpPr txBox="1"/>
          <p:nvPr/>
        </p:nvSpPr>
        <p:spPr>
          <a:xfrm>
            <a:off x="579118" y="4587298"/>
            <a:ext cx="7649845" cy="458908"/>
          </a:xfrm>
          <a:prstGeom prst="rect">
            <a:avLst/>
          </a:prstGeom>
          <a:noFill/>
        </p:spPr>
        <p:txBody>
          <a:bodyPr wrap="square" rtlCol="0" anchor="t">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sym typeface="+mn-ea"/>
              </a:rPr>
              <a:t>当衍射孔是一个</a:t>
            </a:r>
            <a:r>
              <a:rPr lang="zh-CN" altLang="en-US" b="1" kern="100" dirty="0">
                <a:solidFill>
                  <a:srgbClr val="FF0000"/>
                </a:solidFill>
                <a:latin typeface="微软雅黑" panose="020B0503020204020204" pitchFamily="34" charset="-122"/>
                <a:ea typeface="微软雅黑" panose="020B0503020204020204" pitchFamily="34" charset="-122"/>
                <a:sym typeface="+mn-ea"/>
              </a:rPr>
              <a:t>矩形</a:t>
            </a:r>
            <a:r>
              <a:rPr lang="zh-CN" altLang="en-US" kern="100" dirty="0">
                <a:latin typeface="微软雅黑" panose="020B0503020204020204" pitchFamily="34" charset="-122"/>
                <a:ea typeface="微软雅黑" panose="020B0503020204020204" pitchFamily="34" charset="-122"/>
                <a:sym typeface="+mn-ea"/>
              </a:rPr>
              <a:t>时，可以求得观察屏上</a:t>
            </a:r>
            <a:r>
              <a:rPr lang="zh-CN" altLang="en-US" b="1" kern="100" dirty="0">
                <a:solidFill>
                  <a:schemeClr val="accent1"/>
                </a:solidFill>
                <a:latin typeface="微软雅黑" panose="020B0503020204020204" pitchFamily="34" charset="-122"/>
                <a:ea typeface="微软雅黑" panose="020B0503020204020204" pitchFamily="34" charset="-122"/>
                <a:sym typeface="+mn-ea"/>
              </a:rPr>
              <a:t>P</a:t>
            </a:r>
            <a:r>
              <a:rPr lang="en-US" altLang="zh-CN" b="1" kern="100" dirty="0">
                <a:solidFill>
                  <a:schemeClr val="accent1"/>
                </a:solidFill>
                <a:latin typeface="微软雅黑" panose="020B0503020204020204" pitchFamily="34" charset="-122"/>
                <a:ea typeface="微软雅黑" panose="020B0503020204020204" pitchFamily="34" charset="-122"/>
                <a:sym typeface="+mn-ea"/>
              </a:rPr>
              <a:t>(</a:t>
            </a:r>
            <a:r>
              <a:rPr lang="en-US" altLang="zh-CN" b="1" kern="100" dirty="0" err="1">
                <a:solidFill>
                  <a:schemeClr val="accent1"/>
                </a:solidFill>
                <a:latin typeface="微软雅黑" panose="020B0503020204020204" pitchFamily="34" charset="-122"/>
                <a:ea typeface="微软雅黑" panose="020B0503020204020204" pitchFamily="34" charset="-122"/>
                <a:sym typeface="+mn-ea"/>
              </a:rPr>
              <a:t>x,y</a:t>
            </a:r>
            <a:r>
              <a:rPr lang="en-US" altLang="zh-CN" b="1" kern="100" dirty="0">
                <a:solidFill>
                  <a:schemeClr val="accent1"/>
                </a:solidFill>
                <a:latin typeface="微软雅黑" panose="020B0503020204020204" pitchFamily="34" charset="-122"/>
                <a:ea typeface="微软雅黑" panose="020B0503020204020204" pitchFamily="34" charset="-122"/>
                <a:sym typeface="+mn-ea"/>
              </a:rPr>
              <a:t>)</a:t>
            </a:r>
            <a:r>
              <a:rPr lang="zh-CN" altLang="en-US" kern="100" dirty="0">
                <a:latin typeface="微软雅黑" panose="020B0503020204020204" pitchFamily="34" charset="-122"/>
                <a:ea typeface="微软雅黑" panose="020B0503020204020204" pitchFamily="34" charset="-122"/>
                <a:sym typeface="+mn-ea"/>
              </a:rPr>
              <a:t>点</a:t>
            </a:r>
            <a:r>
              <a:rPr lang="zh-CN" altLang="en-US" b="1" kern="100" dirty="0">
                <a:solidFill>
                  <a:schemeClr val="accent1"/>
                </a:solidFill>
                <a:latin typeface="微软雅黑" panose="020B0503020204020204" pitchFamily="34" charset="-122"/>
                <a:ea typeface="微软雅黑" panose="020B0503020204020204" pitchFamily="34" charset="-122"/>
                <a:sym typeface="+mn-ea"/>
              </a:rPr>
              <a:t>处复振幅</a:t>
            </a:r>
            <a:r>
              <a:rPr lang="zh-CN" altLang="en-US" kern="100" dirty="0">
                <a:latin typeface="微软雅黑" panose="020B0503020204020204" pitchFamily="34" charset="-122"/>
                <a:ea typeface="微软雅黑" panose="020B0503020204020204" pitchFamily="34" charset="-122"/>
                <a:sym typeface="+mn-ea"/>
              </a:rPr>
              <a:t>为：</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2.1.3  </a:t>
            </a:r>
            <a:r>
              <a:rPr lang="zh-CN" altLang="en-US" b="1" dirty="0">
                <a:solidFill>
                  <a:srgbClr val="002060"/>
                </a:solidFill>
              </a:rPr>
              <a:t>干涉与衍射</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16</a:t>
            </a:fld>
            <a:endParaRPr kumimoji="1" lang="zh-CN" altLang="en-US"/>
          </a:p>
        </p:txBody>
      </p:sp>
      <p:sp>
        <p:nvSpPr>
          <p:cNvPr id="7" name="文本框 6"/>
          <p:cNvSpPr txBox="1"/>
          <p:nvPr/>
        </p:nvSpPr>
        <p:spPr>
          <a:xfrm>
            <a:off x="216535" y="1205230"/>
            <a:ext cx="2789132" cy="39878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多缝衍射 </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文本框 22"/>
          <p:cNvSpPr txBox="1"/>
          <p:nvPr/>
        </p:nvSpPr>
        <p:spPr>
          <a:xfrm>
            <a:off x="598100" y="3197688"/>
            <a:ext cx="7444291" cy="1690669"/>
          </a:xfrm>
          <a:prstGeom prst="rect">
            <a:avLst/>
          </a:prstGeom>
          <a:noFill/>
        </p:spPr>
        <p:txBody>
          <a:bodyPr wrap="square" rtlCol="0">
            <a:no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G是一个开有多个</a:t>
            </a:r>
            <a:r>
              <a:rPr lang="zh-CN" altLang="en-US" b="1" kern="100" dirty="0">
                <a:solidFill>
                  <a:srgbClr val="FF0000"/>
                </a:solidFill>
                <a:latin typeface="微软雅黑" panose="020B0503020204020204" pitchFamily="34" charset="-122"/>
                <a:ea typeface="微软雅黑" panose="020B0503020204020204" pitchFamily="34" charset="-122"/>
              </a:rPr>
              <a:t>等宽等间距狭缝</a:t>
            </a:r>
            <a:r>
              <a:rPr lang="zh-CN" altLang="en-US" kern="100" dirty="0">
                <a:latin typeface="微软雅黑" panose="020B0503020204020204" pitchFamily="34" charset="-122"/>
                <a:ea typeface="微软雅黑" panose="020B0503020204020204" pitchFamily="34" charset="-122"/>
              </a:rPr>
              <a:t>的衍射屏，缝宽为a、间距为d</a:t>
            </a:r>
            <a:endParaRPr lang="en-US" altLang="zh-CN" kern="100"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能够对入射光的振幅进行</a:t>
            </a:r>
            <a:r>
              <a:rPr lang="zh-CN" altLang="en-US" b="1" kern="100" dirty="0">
                <a:solidFill>
                  <a:srgbClr val="FF0000"/>
                </a:solidFill>
                <a:latin typeface="微软雅黑" panose="020B0503020204020204" pitchFamily="34" charset="-122"/>
                <a:ea typeface="微软雅黑" panose="020B0503020204020204" pitchFamily="34" charset="-122"/>
              </a:rPr>
              <a:t>周期性调制</a:t>
            </a:r>
            <a:endParaRPr lang="en-US" altLang="zh-CN" b="1" kern="100" dirty="0">
              <a:solidFill>
                <a:srgbClr val="FF0000"/>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这种衍射屏也被称为</a:t>
            </a:r>
            <a:r>
              <a:rPr lang="zh-CN" altLang="en-US" b="1" kern="100" dirty="0">
                <a:solidFill>
                  <a:srgbClr val="FF0000"/>
                </a:solidFill>
                <a:latin typeface="微软雅黑" panose="020B0503020204020204" pitchFamily="34" charset="-122"/>
                <a:ea typeface="微软雅黑" panose="020B0503020204020204" pitchFamily="34" charset="-122"/>
              </a:rPr>
              <a:t>振幅型矩形光栅</a:t>
            </a:r>
            <a:r>
              <a:rPr lang="zh-CN" altLang="en-US" kern="100" dirty="0">
                <a:latin typeface="微软雅黑" panose="020B0503020204020204" pitchFamily="34" charset="-122"/>
                <a:ea typeface="微软雅黑" panose="020B0503020204020204" pitchFamily="34" charset="-122"/>
              </a:rPr>
              <a:t>，d称为</a:t>
            </a:r>
            <a:r>
              <a:rPr lang="zh-CN" altLang="en-US" b="1" kern="100" dirty="0">
                <a:solidFill>
                  <a:srgbClr val="FF0000"/>
                </a:solidFill>
                <a:latin typeface="微软雅黑" panose="020B0503020204020204" pitchFamily="34" charset="-122"/>
                <a:ea typeface="微软雅黑" panose="020B0503020204020204" pitchFamily="34" charset="-122"/>
              </a:rPr>
              <a:t>光栅常数</a:t>
            </a:r>
          </a:p>
        </p:txBody>
      </p:sp>
      <p:pic>
        <p:nvPicPr>
          <p:cNvPr id="45" name="图片 45"/>
          <p:cNvPicPr>
            <a:picLocks noChangeAspect="1"/>
          </p:cNvPicPr>
          <p:nvPr/>
        </p:nvPicPr>
        <p:blipFill>
          <a:blip r:embed="rId2" cstate="print">
            <a:extLst>
              <a:ext uri="{28A0092B-C50C-407E-A947-70E740481C1C}">
                <a14:useLocalDpi xmlns:a14="http://schemas.microsoft.com/office/drawing/2010/main" val="0"/>
              </a:ext>
            </a:extLst>
          </a:blip>
          <a:srcRect l="13381" t="7297" r="17611" b="12441"/>
          <a:stretch>
            <a:fillRect/>
          </a:stretch>
        </p:blipFill>
        <p:spPr>
          <a:xfrm>
            <a:off x="7615553" y="1952798"/>
            <a:ext cx="4471545" cy="2925652"/>
          </a:xfrm>
          <a:prstGeom prst="rect">
            <a:avLst/>
          </a:prstGeom>
          <a:ln>
            <a:noFill/>
          </a:ln>
        </p:spPr>
      </p:pic>
      <p:pic>
        <p:nvPicPr>
          <p:cNvPr id="10" name="图片 9"/>
          <p:cNvPicPr>
            <a:picLocks noChangeAspect="1"/>
          </p:cNvPicPr>
          <p:nvPr/>
        </p:nvPicPr>
        <p:blipFill>
          <a:blip r:embed="rId3"/>
          <a:stretch>
            <a:fillRect/>
          </a:stretch>
        </p:blipFill>
        <p:spPr>
          <a:xfrm>
            <a:off x="3634030" y="4668856"/>
            <a:ext cx="3524711" cy="1630955"/>
          </a:xfrm>
          <a:prstGeom prst="rect">
            <a:avLst/>
          </a:prstGeom>
        </p:spPr>
      </p:pic>
      <p:sp>
        <p:nvSpPr>
          <p:cNvPr id="12" name="文本框 11"/>
          <p:cNvSpPr txBox="1"/>
          <p:nvPr/>
        </p:nvSpPr>
        <p:spPr>
          <a:xfrm>
            <a:off x="604925" y="5215043"/>
            <a:ext cx="2832735" cy="923290"/>
          </a:xfrm>
          <a:prstGeom prst="rect">
            <a:avLst/>
          </a:prstGeom>
          <a:noFill/>
        </p:spPr>
        <p:txBody>
          <a:bodyPr wrap="square" rtlCol="0">
            <a:noAutofit/>
          </a:bodyPr>
          <a:lstStyle/>
          <a:p>
            <a:pPr indent="304800" algn="r">
              <a:lnSpc>
                <a:spcPct val="150000"/>
              </a:lnSpc>
            </a:pPr>
            <a:r>
              <a:rPr lang="zh-CN" altLang="en-US" kern="100" dirty="0">
                <a:latin typeface="微软雅黑" panose="020B0503020204020204" pitchFamily="34" charset="-122"/>
                <a:ea typeface="微软雅黑" panose="020B0503020204020204" pitchFamily="34" charset="-122"/>
              </a:rPr>
              <a:t>屏上</a:t>
            </a:r>
            <a:r>
              <a:rPr lang="zh-CN" altLang="en-US" b="1" kern="100" dirty="0">
                <a:solidFill>
                  <a:schemeClr val="accent1"/>
                </a:solidFill>
                <a:latin typeface="微软雅黑" panose="020B0503020204020204" pitchFamily="34" charset="-122"/>
                <a:ea typeface="微软雅黑" panose="020B0503020204020204" pitchFamily="34" charset="-122"/>
              </a:rPr>
              <a:t>任意点</a:t>
            </a:r>
            <a:r>
              <a:rPr lang="en-US" altLang="zh-CN" b="1" kern="100" dirty="0">
                <a:solidFill>
                  <a:schemeClr val="accent1"/>
                </a:solidFill>
                <a:latin typeface="微软雅黑" panose="020B0503020204020204" pitchFamily="34" charset="-122"/>
                <a:ea typeface="微软雅黑" panose="020B0503020204020204" pitchFamily="34" charset="-122"/>
              </a:rPr>
              <a:t>P</a:t>
            </a:r>
            <a:r>
              <a:rPr lang="zh-CN" altLang="en-US" b="1" kern="100" dirty="0">
                <a:solidFill>
                  <a:schemeClr val="accent1"/>
                </a:solidFill>
                <a:latin typeface="微软雅黑" panose="020B0503020204020204" pitchFamily="34" charset="-122"/>
                <a:ea typeface="微软雅黑" panose="020B0503020204020204" pitchFamily="34" charset="-122"/>
              </a:rPr>
              <a:t>的光强</a:t>
            </a:r>
            <a:r>
              <a:rPr lang="zh-CN" altLang="en-US" kern="100" dirty="0">
                <a:latin typeface="微软雅黑" panose="020B0503020204020204" pitchFamily="34" charset="-122"/>
                <a:ea typeface="微软雅黑" panose="020B0503020204020204" pitchFamily="34" charset="-122"/>
              </a:rPr>
              <a:t>为：</a:t>
            </a:r>
          </a:p>
        </p:txBody>
      </p:sp>
      <p:sp>
        <p:nvSpPr>
          <p:cNvPr id="3" name="矩形 2"/>
          <p:cNvSpPr/>
          <p:nvPr/>
        </p:nvSpPr>
        <p:spPr>
          <a:xfrm>
            <a:off x="493396" y="1736177"/>
            <a:ext cx="7936229" cy="1338828"/>
          </a:xfrm>
          <a:prstGeom prst="rect">
            <a:avLst/>
          </a:prstGeom>
        </p:spPr>
        <p:txBody>
          <a:bodyPr wrap="square">
            <a:spAutoFit/>
          </a:bodyPr>
          <a:lstStyle/>
          <a:p>
            <a:pPr algn="just">
              <a:lnSpc>
                <a:spcPct val="150000"/>
              </a:lnSpc>
            </a:pPr>
            <a:r>
              <a:rPr lang="zh-CN" altLang="en-US" kern="100" dirty="0">
                <a:latin typeface="微软雅黑" panose="020B0503020204020204" pitchFamily="34" charset="-122"/>
                <a:ea typeface="微软雅黑" panose="020B0503020204020204" pitchFamily="34" charset="-122"/>
              </a:rPr>
              <a:t>多缝衍射中</a:t>
            </a:r>
            <a:r>
              <a:rPr lang="zh-CN" altLang="en-US" b="1" kern="100" dirty="0">
                <a:solidFill>
                  <a:schemeClr val="accent1"/>
                </a:solidFill>
                <a:latin typeface="微软雅黑" panose="020B0503020204020204" pitchFamily="34" charset="-122"/>
                <a:ea typeface="微软雅黑" panose="020B0503020204020204" pitchFamily="34" charset="-122"/>
              </a:rPr>
              <a:t>每一个单缝都发生夫琅禾费衍射</a:t>
            </a:r>
            <a:r>
              <a:rPr lang="zh-CN" altLang="en-US" kern="100" dirty="0">
                <a:latin typeface="微软雅黑" panose="020B0503020204020204" pitchFamily="34" charset="-122"/>
                <a:ea typeface="微软雅黑" panose="020B0503020204020204" pitchFamily="34" charset="-122"/>
              </a:rPr>
              <a:t>，而单缝衍射场之间又是</a:t>
            </a:r>
            <a:r>
              <a:rPr lang="zh-CN" altLang="en-US" b="1" kern="100" dirty="0">
                <a:solidFill>
                  <a:schemeClr val="accent1"/>
                </a:solidFill>
                <a:latin typeface="微软雅黑" panose="020B0503020204020204" pitchFamily="34" charset="-122"/>
                <a:ea typeface="微软雅黑" panose="020B0503020204020204" pitchFamily="34" charset="-122"/>
              </a:rPr>
              <a:t>相干</a:t>
            </a:r>
            <a:r>
              <a:rPr lang="zh-CN" altLang="en-US" kern="100" dirty="0">
                <a:latin typeface="微软雅黑" panose="020B0503020204020204" pitchFamily="34" charset="-122"/>
                <a:ea typeface="微软雅黑" panose="020B0503020204020204" pitchFamily="34" charset="-122"/>
              </a:rPr>
              <a:t>的，因此多缝夫琅禾费衍射的复振幅分布是</a:t>
            </a:r>
            <a:r>
              <a:rPr lang="zh-CN" altLang="en-US" b="1" kern="100" dirty="0">
                <a:solidFill>
                  <a:schemeClr val="accent1"/>
                </a:solidFill>
                <a:latin typeface="微软雅黑" panose="020B0503020204020204" pitchFamily="34" charset="-122"/>
                <a:ea typeface="微软雅黑" panose="020B0503020204020204" pitchFamily="34" charset="-122"/>
              </a:rPr>
              <a:t>所有单缝夫琅禾费衍射复振幅分布的叠加</a:t>
            </a:r>
            <a:r>
              <a:rPr lang="zh-CN" altLang="en-US" kern="100" dirty="0">
                <a:latin typeface="微软雅黑" panose="020B0503020204020204" pitchFamily="34" charset="-122"/>
                <a:ea typeface="微软雅黑" panose="020B0503020204020204" pitchFamily="34" charset="-122"/>
              </a:rPr>
              <a:t>，可以看成是单缝夫琅禾费衍射和多缝干涉的综合结果。</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2.1.4  </a:t>
            </a:r>
            <a:r>
              <a:rPr lang="zh-CN" altLang="en-US" b="1" dirty="0">
                <a:solidFill>
                  <a:srgbClr val="002060"/>
                </a:solidFill>
              </a:rPr>
              <a:t>光的偏振</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17</a:t>
            </a:fld>
            <a:endParaRPr kumimoji="1" lang="zh-CN" altLang="en-US"/>
          </a:p>
        </p:txBody>
      </p:sp>
      <p:sp>
        <p:nvSpPr>
          <p:cNvPr id="7" name="文本框 6"/>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光的偏振现象</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558265" y="1631674"/>
            <a:ext cx="11373759" cy="2120902"/>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光波的电场矢量在特定的方向上产生规律振动的状态称为</a:t>
            </a:r>
            <a:r>
              <a:rPr lang="zh-CN" altLang="en-US" b="1" kern="100" dirty="0">
                <a:solidFill>
                  <a:srgbClr val="FF0000"/>
                </a:solidFill>
                <a:latin typeface="微软雅黑" panose="020B0503020204020204" pitchFamily="34" charset="-122"/>
                <a:ea typeface="微软雅黑" panose="020B0503020204020204" pitchFamily="34" charset="-122"/>
              </a:rPr>
              <a:t>光的偏振态。</a:t>
            </a:r>
            <a:endParaRPr lang="en-US" altLang="zh-CN" b="1" kern="100" dirty="0">
              <a:solidFill>
                <a:srgbClr val="FF0000"/>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偏振表示</a:t>
            </a:r>
            <a:r>
              <a:rPr lang="zh-CN" altLang="en-US" b="1" kern="100" dirty="0">
                <a:solidFill>
                  <a:srgbClr val="FF0000"/>
                </a:solidFill>
                <a:latin typeface="微软雅黑" panose="020B0503020204020204" pitchFamily="34" charset="-122"/>
                <a:ea typeface="微软雅黑" panose="020B0503020204020204" pitchFamily="34" charset="-122"/>
              </a:rPr>
              <a:t>光波在垂直于其他传输方向上不同方位的振幅分布</a:t>
            </a:r>
            <a:r>
              <a:rPr lang="zh-CN" altLang="en-US" kern="100" dirty="0">
                <a:latin typeface="微软雅黑" panose="020B0503020204020204" pitchFamily="34" charset="-122"/>
                <a:ea typeface="微软雅黑" panose="020B0503020204020204" pitchFamily="34" charset="-122"/>
              </a:rPr>
              <a:t>，是横波特有属性。</a:t>
            </a:r>
            <a:endParaRPr lang="en-US" altLang="zh-CN" kern="100"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在垂直于传播方向的平面内，包含</a:t>
            </a:r>
            <a:r>
              <a:rPr lang="zh-CN" altLang="en-US" b="1" kern="100" dirty="0">
                <a:solidFill>
                  <a:srgbClr val="FF0000"/>
                </a:solidFill>
                <a:latin typeface="微软雅黑" panose="020B0503020204020204" pitchFamily="34" charset="-122"/>
                <a:ea typeface="微软雅黑" panose="020B0503020204020204" pitchFamily="34" charset="-122"/>
              </a:rPr>
              <a:t>一切可能方向</a:t>
            </a:r>
            <a:r>
              <a:rPr lang="zh-CN" altLang="en-US" kern="100" dirty="0">
                <a:latin typeface="微软雅黑" panose="020B0503020204020204" pitchFamily="34" charset="-122"/>
                <a:ea typeface="微软雅黑" panose="020B0503020204020204" pitchFamily="34" charset="-122"/>
              </a:rPr>
              <a:t>的横振动。</a:t>
            </a:r>
            <a:endParaRPr lang="en-US" altLang="zh-CN" kern="100"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如果横振动的任意方向上具有</a:t>
            </a:r>
            <a:r>
              <a:rPr lang="zh-CN" altLang="en-US" b="1" kern="100" dirty="0">
                <a:solidFill>
                  <a:srgbClr val="FF0000"/>
                </a:solidFill>
                <a:latin typeface="微软雅黑" panose="020B0503020204020204" pitchFamily="34" charset="-122"/>
                <a:ea typeface="微软雅黑" panose="020B0503020204020204" pitchFamily="34" charset="-122"/>
              </a:rPr>
              <a:t>相同的振幅</a:t>
            </a:r>
            <a:r>
              <a:rPr lang="zh-CN" altLang="en-US" kern="100" dirty="0">
                <a:latin typeface="微软雅黑" panose="020B0503020204020204" pitchFamily="34" charset="-122"/>
                <a:ea typeface="微软雅黑" panose="020B0503020204020204" pitchFamily="34" charset="-122"/>
              </a:rPr>
              <a:t>则称为</a:t>
            </a:r>
            <a:r>
              <a:rPr lang="zh-CN" altLang="en-US" b="1" kern="100" dirty="0">
                <a:solidFill>
                  <a:srgbClr val="FF0000"/>
                </a:solidFill>
                <a:latin typeface="微软雅黑" panose="020B0503020204020204" pitchFamily="34" charset="-122"/>
                <a:ea typeface="微软雅黑" panose="020B0503020204020204" pitchFamily="34" charset="-122"/>
              </a:rPr>
              <a:t>自然光</a:t>
            </a:r>
            <a:r>
              <a:rPr lang="en-US" altLang="zh-CN" b="1" kern="100" dirty="0">
                <a:solidFill>
                  <a:srgbClr val="FF0000"/>
                </a:solidFill>
                <a:latin typeface="微软雅黑" panose="020B0503020204020204" pitchFamily="34" charset="-122"/>
                <a:ea typeface="微软雅黑" panose="020B0503020204020204" pitchFamily="34" charset="-122"/>
              </a:rPr>
              <a:t>(</a:t>
            </a:r>
            <a:r>
              <a:rPr lang="zh-CN" altLang="en-US" b="1" kern="100" dirty="0">
                <a:solidFill>
                  <a:srgbClr val="FF0000"/>
                </a:solidFill>
                <a:latin typeface="微软雅黑" panose="020B0503020204020204" pitchFamily="34" charset="-122"/>
                <a:ea typeface="微软雅黑" panose="020B0503020204020204" pitchFamily="34" charset="-122"/>
              </a:rPr>
              <a:t>非偏振光</a:t>
            </a:r>
            <a:r>
              <a:rPr lang="en-US" altLang="zh-CN" b="1" kern="100" dirty="0">
                <a:solidFill>
                  <a:srgbClr val="FF0000"/>
                </a:solidFill>
                <a:latin typeface="微软雅黑" panose="020B0503020204020204" pitchFamily="34" charset="-122"/>
                <a:ea typeface="微软雅黑" panose="020B0503020204020204" pitchFamily="34" charset="-122"/>
              </a:rPr>
              <a:t>)</a:t>
            </a:r>
            <a:r>
              <a:rPr lang="zh-CN" altLang="en-US" kern="100" dirty="0">
                <a:latin typeface="微软雅黑" panose="020B0503020204020204" pitchFamily="34" charset="-122"/>
                <a:ea typeface="微软雅黑" panose="020B0503020204020204" pitchFamily="34" charset="-122"/>
              </a:rPr>
              <a:t>。</a:t>
            </a:r>
            <a:endParaRPr lang="en-US" altLang="zh-CN" kern="100" dirty="0">
              <a:latin typeface="微软雅黑" panose="020B0503020204020204" pitchFamily="34" charset="-122"/>
              <a:ea typeface="微软雅黑" panose="020B0503020204020204" pitchFamily="34" charset="-122"/>
            </a:endParaRPr>
          </a:p>
          <a:p>
            <a:pPr indent="304800" algn="just">
              <a:lnSpc>
                <a:spcPct val="150000"/>
              </a:lnSpc>
            </a:pPr>
            <a:endParaRPr lang="zh-CN" altLang="en-US" kern="100" dirty="0">
              <a:latin typeface="微软雅黑" panose="020B0503020204020204" pitchFamily="34" charset="-122"/>
              <a:ea typeface="微软雅黑" panose="020B0503020204020204" pitchFamily="34" charset="-122"/>
            </a:endParaRPr>
          </a:p>
        </p:txBody>
      </p:sp>
      <p:pic>
        <p:nvPicPr>
          <p:cNvPr id="10" name="图片 9" descr="C:\Users\bjhuang\Documents\WeChat Files\wxid_dgttvpnj765x12\FileStorage\Temp\ba4aa82f97307a5b7e82dd006826f3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2014468" y="3551499"/>
            <a:ext cx="7895369" cy="294618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2.1.4  </a:t>
            </a:r>
            <a:r>
              <a:rPr lang="zh-CN" altLang="en-US" b="1" dirty="0">
                <a:solidFill>
                  <a:srgbClr val="002060"/>
                </a:solidFill>
              </a:rPr>
              <a:t>光的偏振</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18</a:t>
            </a:fld>
            <a:endParaRPr kumimoji="1" lang="zh-CN" altLang="en-US"/>
          </a:p>
        </p:txBody>
      </p:sp>
      <p:sp>
        <p:nvSpPr>
          <p:cNvPr id="7" name="文本框 6"/>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光的偏振现象</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135749" y="1697674"/>
            <a:ext cx="11034295" cy="507831"/>
          </a:xfrm>
          <a:prstGeom prst="rect">
            <a:avLst/>
          </a:prstGeom>
          <a:noFill/>
        </p:spPr>
        <p:txBody>
          <a:bodyPr wrap="square" rtlCol="0">
            <a:spAutoFit/>
          </a:bodyPr>
          <a:lstStyle/>
          <a:p>
            <a:pPr indent="304800" algn="just">
              <a:lnSpc>
                <a:spcPct val="150000"/>
              </a:lnSpc>
            </a:pPr>
            <a:r>
              <a:rPr lang="zh-CN" altLang="en-US" kern="100" dirty="0">
                <a:latin typeface="微软雅黑" panose="020B0503020204020204" pitchFamily="34" charset="-122"/>
                <a:ea typeface="微软雅黑" panose="020B0503020204020204" pitchFamily="34" charset="-122"/>
              </a:rPr>
              <a:t>从偏振性的角度，光可分为完全偏振光、自然光（非偏振光）和部分偏振光。</a:t>
            </a:r>
            <a:endParaRPr lang="en-US" altLang="zh-CN" kern="100" dirty="0">
              <a:latin typeface="微软雅黑" panose="020B0503020204020204" pitchFamily="34" charset="-122"/>
              <a:ea typeface="微软雅黑" panose="020B0503020204020204" pitchFamily="34" charset="-122"/>
            </a:endParaRPr>
          </a:p>
        </p:txBody>
      </p:sp>
      <p:sp>
        <p:nvSpPr>
          <p:cNvPr id="9" name="文本框 16"/>
          <p:cNvSpPr txBox="1"/>
          <p:nvPr/>
        </p:nvSpPr>
        <p:spPr>
          <a:xfrm>
            <a:off x="491520" y="2327019"/>
            <a:ext cx="3318480" cy="2951898"/>
          </a:xfrm>
          <a:prstGeom prst="rect">
            <a:avLst/>
          </a:prstGeom>
          <a:solidFill>
            <a:schemeClr val="accent2">
              <a:lumMod val="20000"/>
              <a:lumOff val="80000"/>
            </a:schemeClr>
          </a:solidFill>
          <a:effectLst>
            <a:outerShdw blurRad="50800" dist="38100" dir="5400000" algn="t" rotWithShape="0">
              <a:prstClr val="black">
                <a:alpha val="40000"/>
              </a:prstClr>
            </a:outerShdw>
          </a:effec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dirty="0">
                <a:solidFill>
                  <a:srgbClr val="002060"/>
                </a:solidFill>
                <a:latin typeface="微软雅黑" panose="020B0503020204020204" pitchFamily="34" charset="-122"/>
                <a:ea typeface="微软雅黑" panose="020B0503020204020204" pitchFamily="34" charset="-122"/>
              </a:rPr>
              <a:t>（</a:t>
            </a:r>
            <a:r>
              <a:rPr lang="en-US" altLang="zh-CN" dirty="0">
                <a:solidFill>
                  <a:srgbClr val="002060"/>
                </a:solidFill>
                <a:latin typeface="微软雅黑" panose="020B0503020204020204" pitchFamily="34" charset="-122"/>
                <a:ea typeface="微软雅黑" panose="020B0503020204020204" pitchFamily="34" charset="-122"/>
              </a:rPr>
              <a:t>1</a:t>
            </a:r>
            <a:r>
              <a:rPr lang="zh-CN" altLang="en-US" dirty="0">
                <a:solidFill>
                  <a:srgbClr val="002060"/>
                </a:solidFill>
                <a:latin typeface="微软雅黑" panose="020B0503020204020204" pitchFamily="34" charset="-122"/>
                <a:ea typeface="微软雅黑" panose="020B0503020204020204" pitchFamily="34" charset="-122"/>
              </a:rPr>
              <a:t>）完全偏振光：</a:t>
            </a:r>
            <a:endParaRPr lang="en-US" altLang="zh-CN" dirty="0">
              <a:solidFill>
                <a:srgbClr val="002060"/>
              </a:solidFill>
              <a:latin typeface="微软雅黑" panose="020B0503020204020204" pitchFamily="34" charset="-122"/>
              <a:ea typeface="微软雅黑" panose="020B0503020204020204" pitchFamily="34" charset="-122"/>
            </a:endParaRPr>
          </a:p>
          <a:p>
            <a:pPr indent="304800" algn="just">
              <a:lnSpc>
                <a:spcPct val="150000"/>
              </a:lnSpc>
            </a:pPr>
            <a:r>
              <a:rPr lang="zh-CN" altLang="en-US" kern="100" dirty="0">
                <a:latin typeface="微软雅黑" panose="020B0503020204020204" pitchFamily="34" charset="-122"/>
                <a:ea typeface="微软雅黑" panose="020B0503020204020204" pitchFamily="34" charset="-122"/>
              </a:rPr>
              <a:t>完全偏振光只包含特定偏振态的光，包括</a:t>
            </a:r>
            <a:r>
              <a:rPr lang="zh-CN" altLang="en-US" b="1" kern="100" dirty="0">
                <a:latin typeface="微软雅黑" panose="020B0503020204020204" pitchFamily="34" charset="-122"/>
                <a:ea typeface="微软雅黑" panose="020B0503020204020204" pitchFamily="34" charset="-122"/>
              </a:rPr>
              <a:t>线偏振光、圆偏振光和椭圆偏振光</a:t>
            </a:r>
            <a:r>
              <a:rPr lang="zh-CN" altLang="en-US" kern="100" dirty="0">
                <a:latin typeface="微软雅黑" panose="020B0503020204020204" pitchFamily="34" charset="-122"/>
                <a:ea typeface="微软雅黑" panose="020B0503020204020204" pitchFamily="34" charset="-122"/>
              </a:rPr>
              <a:t>，在日常生活和科研过程中，线偏振光是最容易获得的，而圆偏振和椭圆偏振均可由线偏振调制而成。</a:t>
            </a:r>
            <a:endParaRPr lang="en-US" altLang="zh-CN" kern="100" dirty="0">
              <a:latin typeface="微软雅黑" panose="020B0503020204020204" pitchFamily="34" charset="-122"/>
              <a:ea typeface="微软雅黑" panose="020B0503020204020204" pitchFamily="34" charset="-122"/>
            </a:endParaRPr>
          </a:p>
        </p:txBody>
      </p:sp>
      <p:sp>
        <p:nvSpPr>
          <p:cNvPr id="10" name="文本框 16"/>
          <p:cNvSpPr txBox="1"/>
          <p:nvPr/>
        </p:nvSpPr>
        <p:spPr>
          <a:xfrm>
            <a:off x="4318453" y="2329958"/>
            <a:ext cx="3318480" cy="2951898"/>
          </a:xfrm>
          <a:prstGeom prst="rect">
            <a:avLst/>
          </a:prstGeom>
          <a:solidFill>
            <a:schemeClr val="accent2">
              <a:lumMod val="20000"/>
              <a:lumOff val="80000"/>
            </a:schemeClr>
          </a:solidFill>
          <a:effectLst>
            <a:outerShdw blurRad="50800" dist="38100" dir="5400000" algn="t" rotWithShape="0">
              <a:prstClr val="black">
                <a:alpha val="40000"/>
              </a:prstClr>
            </a:outerShdw>
          </a:effec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dirty="0">
                <a:solidFill>
                  <a:srgbClr val="002060"/>
                </a:solidFill>
                <a:latin typeface="微软雅黑" panose="020B0503020204020204" pitchFamily="34" charset="-122"/>
                <a:ea typeface="微软雅黑" panose="020B0503020204020204" pitchFamily="34" charset="-122"/>
              </a:rPr>
              <a:t>（</a:t>
            </a:r>
            <a:r>
              <a:rPr lang="en-US" altLang="zh-CN" dirty="0">
                <a:solidFill>
                  <a:srgbClr val="002060"/>
                </a:solidFill>
                <a:latin typeface="微软雅黑" panose="020B0503020204020204" pitchFamily="34" charset="-122"/>
                <a:ea typeface="微软雅黑" panose="020B0503020204020204" pitchFamily="34" charset="-122"/>
              </a:rPr>
              <a:t>2</a:t>
            </a:r>
            <a:r>
              <a:rPr lang="zh-CN" altLang="en-US" dirty="0">
                <a:solidFill>
                  <a:srgbClr val="002060"/>
                </a:solidFill>
                <a:latin typeface="微软雅黑" panose="020B0503020204020204" pitchFamily="34" charset="-122"/>
                <a:ea typeface="微软雅黑" panose="020B0503020204020204" pitchFamily="34" charset="-122"/>
              </a:rPr>
              <a:t>）自然光（非偏振光）：</a:t>
            </a:r>
            <a:endParaRPr lang="en-US" altLang="zh-CN" dirty="0">
              <a:solidFill>
                <a:srgbClr val="002060"/>
              </a:solidFill>
              <a:latin typeface="微软雅黑" panose="020B0503020204020204" pitchFamily="34" charset="-122"/>
              <a:ea typeface="微软雅黑" panose="020B0503020204020204" pitchFamily="34" charset="-122"/>
            </a:endParaRPr>
          </a:p>
          <a:p>
            <a:pPr indent="304800" algn="just">
              <a:lnSpc>
                <a:spcPct val="150000"/>
              </a:lnSpc>
            </a:pPr>
            <a:r>
              <a:rPr lang="zh-CN" altLang="en-US" b="1" kern="100" dirty="0">
                <a:latin typeface="微软雅黑" panose="020B0503020204020204" pitchFamily="34" charset="-122"/>
                <a:ea typeface="微软雅黑" panose="020B0503020204020204" pitchFamily="34" charset="-122"/>
              </a:rPr>
              <a:t>自然光即非偏振光</a:t>
            </a:r>
            <a:r>
              <a:rPr lang="zh-CN" altLang="en-US" kern="100" dirty="0">
                <a:latin typeface="微软雅黑" panose="020B0503020204020204" pitchFamily="34" charset="-122"/>
                <a:ea typeface="微软雅黑" panose="020B0503020204020204" pitchFamily="34" charset="-122"/>
              </a:rPr>
              <a:t>是大量不同振动方向的、彼此无关的、无优势振动方向取向的线偏振光的集合，日常生活中常见的光源，如太阳光、白炽灯、</a:t>
            </a:r>
            <a:r>
              <a:rPr lang="en-US" altLang="zh-CN" kern="100" dirty="0">
                <a:latin typeface="微软雅黑" panose="020B0503020204020204" pitchFamily="34" charset="-122"/>
                <a:ea typeface="微软雅黑" panose="020B0503020204020204" pitchFamily="34" charset="-122"/>
              </a:rPr>
              <a:t>LED</a:t>
            </a:r>
            <a:r>
              <a:rPr lang="zh-CN" altLang="en-US" kern="100" dirty="0">
                <a:latin typeface="微软雅黑" panose="020B0503020204020204" pitchFamily="34" charset="-122"/>
                <a:ea typeface="微软雅黑" panose="020B0503020204020204" pitchFamily="34" charset="-122"/>
              </a:rPr>
              <a:t>等均为非偏振光源。</a:t>
            </a:r>
            <a:endParaRPr lang="en-US" altLang="zh-CN" kern="100" dirty="0">
              <a:latin typeface="微软雅黑" panose="020B0503020204020204" pitchFamily="34" charset="-122"/>
              <a:ea typeface="微软雅黑" panose="020B0503020204020204" pitchFamily="34" charset="-122"/>
            </a:endParaRPr>
          </a:p>
        </p:txBody>
      </p:sp>
      <p:sp>
        <p:nvSpPr>
          <p:cNvPr id="11" name="文本框 16"/>
          <p:cNvSpPr txBox="1"/>
          <p:nvPr/>
        </p:nvSpPr>
        <p:spPr>
          <a:xfrm>
            <a:off x="8145387" y="2327019"/>
            <a:ext cx="3318480" cy="2951898"/>
          </a:xfrm>
          <a:prstGeom prst="rect">
            <a:avLst/>
          </a:prstGeom>
          <a:solidFill>
            <a:schemeClr val="accent2">
              <a:lumMod val="20000"/>
              <a:lumOff val="80000"/>
            </a:schemeClr>
          </a:solidFill>
          <a:effectLst>
            <a:outerShdw blurRad="50800" dist="38100" dir="5400000" algn="t" rotWithShape="0">
              <a:prstClr val="black">
                <a:alpha val="40000"/>
              </a:prstClr>
            </a:outerShdw>
          </a:effec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dirty="0">
                <a:solidFill>
                  <a:srgbClr val="002060"/>
                </a:solidFill>
                <a:latin typeface="微软雅黑" panose="020B0503020204020204" pitchFamily="34" charset="-122"/>
                <a:ea typeface="微软雅黑" panose="020B0503020204020204" pitchFamily="34" charset="-122"/>
              </a:rPr>
              <a:t>（</a:t>
            </a:r>
            <a:r>
              <a:rPr lang="en-US" altLang="zh-CN" dirty="0">
                <a:solidFill>
                  <a:srgbClr val="002060"/>
                </a:solidFill>
                <a:latin typeface="微软雅黑" panose="020B0503020204020204" pitchFamily="34" charset="-122"/>
                <a:ea typeface="微软雅黑" panose="020B0503020204020204" pitchFamily="34" charset="-122"/>
              </a:rPr>
              <a:t>3</a:t>
            </a:r>
            <a:r>
              <a:rPr lang="zh-CN" altLang="en-US" dirty="0">
                <a:solidFill>
                  <a:srgbClr val="002060"/>
                </a:solidFill>
                <a:latin typeface="微软雅黑" panose="020B0503020204020204" pitchFamily="34" charset="-122"/>
                <a:ea typeface="微软雅黑" panose="020B0503020204020204" pitchFamily="34" charset="-122"/>
              </a:rPr>
              <a:t>）部分偏振光：</a:t>
            </a:r>
            <a:endParaRPr lang="en-US" altLang="zh-CN" dirty="0">
              <a:solidFill>
                <a:srgbClr val="002060"/>
              </a:solidFill>
              <a:latin typeface="微软雅黑" panose="020B0503020204020204" pitchFamily="34" charset="-122"/>
              <a:ea typeface="微软雅黑" panose="020B0503020204020204" pitchFamily="34" charset="-122"/>
            </a:endParaRPr>
          </a:p>
          <a:p>
            <a:pPr indent="304800" algn="just">
              <a:lnSpc>
                <a:spcPct val="150000"/>
              </a:lnSpc>
            </a:pPr>
            <a:r>
              <a:rPr lang="zh-CN" altLang="en-US" kern="100" dirty="0">
                <a:latin typeface="微软雅黑" panose="020B0503020204020204" pitchFamily="34" charset="-122"/>
                <a:ea typeface="微软雅黑" panose="020B0503020204020204" pitchFamily="34" charset="-122"/>
              </a:rPr>
              <a:t>部分偏振光</a:t>
            </a:r>
            <a:r>
              <a:rPr lang="zh-CN" altLang="en-US" b="1" kern="100" dirty="0">
                <a:latin typeface="微软雅黑" panose="020B0503020204020204" pitchFamily="34" charset="-122"/>
                <a:ea typeface="微软雅黑" panose="020B0503020204020204" pitchFamily="34" charset="-122"/>
              </a:rPr>
              <a:t>是前两种情况的混合态</a:t>
            </a:r>
            <a:r>
              <a:rPr lang="zh-CN" altLang="en-US" kern="100" dirty="0">
                <a:latin typeface="微软雅黑" panose="020B0503020204020204" pitchFamily="34" charset="-122"/>
                <a:ea typeface="微软雅黑" panose="020B0503020204020204" pitchFamily="34" charset="-122"/>
              </a:rPr>
              <a:t>。自然光经过反射或折射过程一般变为部分偏振光，而偏振光经过浑浊介质时，光束振动方向发生随机化的改变，变成部分偏振光。</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2.1.4  </a:t>
            </a:r>
            <a:r>
              <a:rPr lang="zh-CN" altLang="en-US" b="1" dirty="0">
                <a:solidFill>
                  <a:srgbClr val="002060"/>
                </a:solidFill>
              </a:rPr>
              <a:t>光的偏振</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19</a:t>
            </a:fld>
            <a:endParaRPr kumimoji="1" lang="zh-CN" altLang="en-US"/>
          </a:p>
        </p:txBody>
      </p:sp>
      <p:sp>
        <p:nvSpPr>
          <p:cNvPr id="7" name="文本框 6"/>
          <p:cNvSpPr txBox="1"/>
          <p:nvPr/>
        </p:nvSpPr>
        <p:spPr>
          <a:xfrm>
            <a:off x="216535" y="1205230"/>
            <a:ext cx="2789132" cy="400110"/>
          </a:xfrm>
          <a:prstGeom prst="rect">
            <a:avLst/>
          </a:prstGeom>
          <a:noFill/>
        </p:spPr>
        <p:txBody>
          <a:bodyPr wrap="square" rtlCol="0">
            <a:spAutoFit/>
          </a:bodyPr>
          <a:lstStyle/>
          <a:p>
            <a:r>
              <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rPr>
              <a:t>. 偏振光的表示方法</a:t>
            </a:r>
            <a:endParaRPr lang="en-US" altLang="zh-CN" sz="2000" b="1" dirty="0">
              <a:solidFill>
                <a:srgbClr val="06066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558265" y="1759466"/>
            <a:ext cx="11034295" cy="1338828"/>
          </a:xfrm>
          <a:prstGeom prst="rect">
            <a:avLst/>
          </a:prstGeom>
          <a:noFill/>
        </p:spPr>
        <p:txBody>
          <a:bodyPr wrap="square" rtlCol="0">
            <a:spAutoFit/>
          </a:bodyPr>
          <a:lstStyle/>
          <a:p>
            <a:pPr indent="304800" algn="just">
              <a:lnSpc>
                <a:spcPct val="150000"/>
              </a:lnSpc>
            </a:pPr>
            <a:r>
              <a:rPr lang="zh-CN" altLang="en-US" kern="100" dirty="0">
                <a:latin typeface="微软雅黑" panose="020B0503020204020204" pitchFamily="34" charset="-122"/>
                <a:ea typeface="微软雅黑" panose="020B0503020204020204" pitchFamily="34" charset="-122"/>
              </a:rPr>
              <a:t>光学系统中常用来调控与检测光波偏振态的器件包括偏振片、波片、偏振分束器、偏振转换器、退偏器、旋光器、偏振测量仪等。</a:t>
            </a:r>
            <a:r>
              <a:rPr lang="zh-CN" altLang="en-US" b="1" kern="100" dirty="0">
                <a:solidFill>
                  <a:srgbClr val="FF0000"/>
                </a:solidFill>
                <a:latin typeface="微软雅黑" panose="020B0503020204020204" pitchFamily="34" charset="-122"/>
                <a:ea typeface="微软雅黑" panose="020B0503020204020204" pitchFamily="34" charset="-122"/>
              </a:rPr>
              <a:t>光的偏振态</a:t>
            </a:r>
            <a:r>
              <a:rPr lang="zh-CN" altLang="en-US" kern="100" dirty="0">
                <a:latin typeface="微软雅黑" panose="020B0503020204020204" pitchFamily="34" charset="-122"/>
                <a:ea typeface="微软雅黑" panose="020B0503020204020204" pitchFamily="34" charset="-122"/>
              </a:rPr>
              <a:t>有四种表示方法，分别为</a:t>
            </a:r>
            <a:r>
              <a:rPr lang="zh-CN" altLang="en-US" b="1" kern="100" dirty="0">
                <a:solidFill>
                  <a:srgbClr val="FF0000"/>
                </a:solidFill>
                <a:latin typeface="微软雅黑" panose="020B0503020204020204" pitchFamily="34" charset="-122"/>
                <a:ea typeface="微软雅黑" panose="020B0503020204020204" pitchFamily="34" charset="-122"/>
              </a:rPr>
              <a:t>三角函数法</a:t>
            </a:r>
            <a:r>
              <a:rPr lang="zh-CN" altLang="en-US" kern="100" dirty="0">
                <a:latin typeface="微软雅黑" panose="020B0503020204020204" pitchFamily="34" charset="-122"/>
                <a:ea typeface="微软雅黑" panose="020B0503020204020204" pitchFamily="34" charset="-122"/>
              </a:rPr>
              <a:t>、</a:t>
            </a:r>
            <a:r>
              <a:rPr lang="zh-CN" altLang="en-US" b="1" kern="100" dirty="0">
                <a:solidFill>
                  <a:srgbClr val="FF0000"/>
                </a:solidFill>
                <a:latin typeface="微软雅黑" panose="020B0503020204020204" pitchFamily="34" charset="-122"/>
                <a:ea typeface="微软雅黑" panose="020B0503020204020204" pitchFamily="34" charset="-122"/>
              </a:rPr>
              <a:t>琼斯矢量法</a:t>
            </a:r>
            <a:r>
              <a:rPr lang="zh-CN" altLang="en-US" kern="100" dirty="0">
                <a:latin typeface="微软雅黑" panose="020B0503020204020204" pitchFamily="34" charset="-122"/>
                <a:ea typeface="微软雅黑" panose="020B0503020204020204" pitchFamily="34" charset="-122"/>
              </a:rPr>
              <a:t>、</a:t>
            </a:r>
            <a:r>
              <a:rPr lang="zh-CN" altLang="en-US" b="1" kern="100" dirty="0">
                <a:solidFill>
                  <a:srgbClr val="FF0000"/>
                </a:solidFill>
                <a:latin typeface="微软雅黑" panose="020B0503020204020204" pitchFamily="34" charset="-122"/>
                <a:ea typeface="微软雅黑" panose="020B0503020204020204" pitchFamily="34" charset="-122"/>
              </a:rPr>
              <a:t>斯托克斯矢量法</a:t>
            </a:r>
            <a:r>
              <a:rPr lang="zh-CN" altLang="en-US" kern="100" dirty="0">
                <a:latin typeface="微软雅黑" panose="020B0503020204020204" pitchFamily="34" charset="-122"/>
                <a:ea typeface="微软雅黑" panose="020B0503020204020204" pitchFamily="34" charset="-122"/>
              </a:rPr>
              <a:t>和</a:t>
            </a:r>
            <a:r>
              <a:rPr lang="zh-CN" altLang="en-US" b="1" kern="100" dirty="0">
                <a:solidFill>
                  <a:srgbClr val="FF0000"/>
                </a:solidFill>
                <a:latin typeface="微软雅黑" panose="020B0503020204020204" pitchFamily="34" charset="-122"/>
                <a:ea typeface="微软雅黑" panose="020B0503020204020204" pitchFamily="34" charset="-122"/>
              </a:rPr>
              <a:t>庞加莱球法</a:t>
            </a:r>
            <a:r>
              <a:rPr lang="zh-CN" altLang="en-US" kern="100" dirty="0">
                <a:latin typeface="微软雅黑" panose="020B0503020204020204" pitchFamily="34" charset="-122"/>
                <a:ea typeface="微软雅黑" panose="020B0503020204020204" pitchFamily="34" charset="-122"/>
              </a:rPr>
              <a:t>。</a:t>
            </a:r>
          </a:p>
        </p:txBody>
      </p:sp>
      <p:sp>
        <p:nvSpPr>
          <p:cNvPr id="9" name="文本框 8"/>
          <p:cNvSpPr txBox="1"/>
          <p:nvPr/>
        </p:nvSpPr>
        <p:spPr>
          <a:xfrm>
            <a:off x="619902" y="3113109"/>
            <a:ext cx="2789132" cy="40011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）三角函数法</a:t>
            </a:r>
            <a:endPar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516870" y="3668929"/>
            <a:ext cx="11034295" cy="507831"/>
          </a:xfrm>
          <a:prstGeom prst="rect">
            <a:avLst/>
          </a:prstGeom>
          <a:noFill/>
        </p:spPr>
        <p:txBody>
          <a:bodyPr wrap="square" rtlCol="0">
            <a:spAutoFit/>
          </a:bodyPr>
          <a:lstStyle/>
          <a:p>
            <a:pPr indent="304800" algn="just">
              <a:lnSpc>
                <a:spcPct val="150000"/>
              </a:lnSpc>
            </a:pPr>
            <a:r>
              <a:rPr lang="zh-CN" altLang="en-US" kern="100" dirty="0">
                <a:latin typeface="微软雅黑" panose="020B0503020204020204" pitchFamily="34" charset="-122"/>
                <a:ea typeface="微软雅黑" panose="020B0503020204020204" pitchFamily="34" charset="-122"/>
              </a:rPr>
              <a:t>设光波的传播方向为</a:t>
            </a:r>
            <a:r>
              <a:rPr lang="en-US" altLang="zh-CN" kern="100" dirty="0">
                <a:latin typeface="微软雅黑" panose="020B0503020204020204" pitchFamily="34" charset="-122"/>
                <a:ea typeface="微软雅黑" panose="020B0503020204020204" pitchFamily="34" charset="-122"/>
              </a:rPr>
              <a:t>z</a:t>
            </a:r>
            <a:r>
              <a:rPr lang="zh-CN" altLang="en-US" kern="100" dirty="0">
                <a:latin typeface="微软雅黑" panose="020B0503020204020204" pitchFamily="34" charset="-122"/>
                <a:ea typeface="微软雅黑" panose="020B0503020204020204" pitchFamily="34" charset="-122"/>
              </a:rPr>
              <a:t>，则光波的电磁场将在</a:t>
            </a:r>
            <a:r>
              <a:rPr lang="en-US" altLang="zh-CN" b="1" kern="100" dirty="0" err="1">
                <a:solidFill>
                  <a:schemeClr val="accent1"/>
                </a:solidFill>
                <a:latin typeface="微软雅黑" panose="020B0503020204020204" pitchFamily="34" charset="-122"/>
                <a:ea typeface="微软雅黑" panose="020B0503020204020204" pitchFamily="34" charset="-122"/>
              </a:rPr>
              <a:t>xy</a:t>
            </a:r>
            <a:r>
              <a:rPr lang="zh-CN" altLang="en-US" b="1" kern="100" dirty="0">
                <a:solidFill>
                  <a:schemeClr val="accent1"/>
                </a:solidFill>
                <a:latin typeface="微软雅黑" panose="020B0503020204020204" pitchFamily="34" charset="-122"/>
                <a:ea typeface="微软雅黑" panose="020B0503020204020204" pitchFamily="34" charset="-122"/>
              </a:rPr>
              <a:t>平面内</a:t>
            </a:r>
            <a:r>
              <a:rPr lang="zh-CN" altLang="en-US" kern="100" dirty="0">
                <a:latin typeface="微软雅黑" panose="020B0503020204020204" pitchFamily="34" charset="-122"/>
                <a:ea typeface="微软雅黑" panose="020B0503020204020204" pitchFamily="34" charset="-122"/>
              </a:rPr>
              <a:t>产生振动，求解麦克斯韦方程组可以得到其表达式：</a:t>
            </a:r>
          </a:p>
        </p:txBody>
      </p:sp>
      <p:sp>
        <p:nvSpPr>
          <p:cNvPr id="11" name="文本框 10"/>
          <p:cNvSpPr txBox="1"/>
          <p:nvPr/>
        </p:nvSpPr>
        <p:spPr>
          <a:xfrm>
            <a:off x="516869" y="4675457"/>
            <a:ext cx="11034295" cy="507831"/>
          </a:xfrm>
          <a:prstGeom prst="rect">
            <a:avLst/>
          </a:prstGeom>
          <a:noFill/>
        </p:spPr>
        <p:txBody>
          <a:bodyPr wrap="square" rtlCol="0">
            <a:spAutoFit/>
          </a:bodyPr>
          <a:lstStyle/>
          <a:p>
            <a:pPr indent="304800" algn="just">
              <a:lnSpc>
                <a:spcPct val="150000"/>
              </a:lnSpc>
            </a:pPr>
            <a:r>
              <a:rPr lang="zh-CN" altLang="en-US" kern="100" dirty="0">
                <a:latin typeface="微软雅黑" panose="020B0503020204020204" pitchFamily="34" charset="-122"/>
                <a:ea typeface="微软雅黑" panose="020B0503020204020204" pitchFamily="34" charset="-122"/>
              </a:rPr>
              <a:t>根据电磁波的矢量特性，将光波在</a:t>
            </a:r>
            <a:r>
              <a:rPr lang="en-US" altLang="zh-CN" b="1" kern="100" dirty="0">
                <a:solidFill>
                  <a:schemeClr val="accent1"/>
                </a:solidFill>
                <a:latin typeface="微软雅黑" panose="020B0503020204020204" pitchFamily="34" charset="-122"/>
                <a:ea typeface="微软雅黑" panose="020B0503020204020204" pitchFamily="34" charset="-122"/>
              </a:rPr>
              <a:t>x</a:t>
            </a:r>
            <a:r>
              <a:rPr lang="zh-CN" altLang="en-US" b="1" kern="100" dirty="0">
                <a:solidFill>
                  <a:schemeClr val="accent1"/>
                </a:solidFill>
                <a:latin typeface="微软雅黑" panose="020B0503020204020204" pitchFamily="34" charset="-122"/>
                <a:ea typeface="微软雅黑" panose="020B0503020204020204" pitchFamily="34" charset="-122"/>
              </a:rPr>
              <a:t>轴和</a:t>
            </a:r>
            <a:r>
              <a:rPr lang="en-US" altLang="zh-CN" b="1" kern="100" dirty="0">
                <a:solidFill>
                  <a:schemeClr val="accent1"/>
                </a:solidFill>
                <a:latin typeface="微软雅黑" panose="020B0503020204020204" pitchFamily="34" charset="-122"/>
                <a:ea typeface="微软雅黑" panose="020B0503020204020204" pitchFamily="34" charset="-122"/>
              </a:rPr>
              <a:t>y</a:t>
            </a:r>
            <a:r>
              <a:rPr lang="zh-CN" altLang="en-US" b="1" kern="100" dirty="0">
                <a:solidFill>
                  <a:schemeClr val="accent1"/>
                </a:solidFill>
                <a:latin typeface="微软雅黑" panose="020B0503020204020204" pitchFamily="34" charset="-122"/>
                <a:ea typeface="微软雅黑" panose="020B0503020204020204" pitchFamily="34" charset="-122"/>
              </a:rPr>
              <a:t>轴</a:t>
            </a:r>
            <a:r>
              <a:rPr lang="zh-CN" altLang="en-US" kern="100" dirty="0">
                <a:latin typeface="微软雅黑" panose="020B0503020204020204" pitchFamily="34" charset="-122"/>
                <a:ea typeface="微软雅黑" panose="020B0503020204020204" pitchFamily="34" charset="-122"/>
              </a:rPr>
              <a:t>方向</a:t>
            </a:r>
            <a:r>
              <a:rPr lang="zh-CN" altLang="en-US" b="1" kern="100" dirty="0">
                <a:solidFill>
                  <a:schemeClr val="accent1"/>
                </a:solidFill>
                <a:latin typeface="微软雅黑" panose="020B0503020204020204" pitchFamily="34" charset="-122"/>
                <a:ea typeface="微软雅黑" panose="020B0503020204020204" pitchFamily="34" charset="-122"/>
              </a:rPr>
              <a:t>分解</a:t>
            </a:r>
            <a:r>
              <a:rPr lang="zh-CN" altLang="en-US" kern="100" dirty="0">
                <a:latin typeface="微软雅黑" panose="020B0503020204020204" pitchFamily="34" charset="-122"/>
                <a:ea typeface="微软雅黑" panose="020B0503020204020204" pitchFamily="34" charset="-122"/>
              </a:rPr>
              <a:t>，则有</a:t>
            </a:r>
          </a:p>
        </p:txBody>
      </p:sp>
      <p:graphicFrame>
        <p:nvGraphicFramePr>
          <p:cNvPr id="3" name="对象 2"/>
          <p:cNvGraphicFramePr>
            <a:graphicFrameLocks noChangeAspect="1"/>
          </p:cNvGraphicFramePr>
          <p:nvPr/>
        </p:nvGraphicFramePr>
        <p:xfrm>
          <a:off x="3417042" y="4242948"/>
          <a:ext cx="2901507" cy="408817"/>
        </p:xfrm>
        <a:graphic>
          <a:graphicData uri="http://schemas.openxmlformats.org/presentationml/2006/ole">
            <mc:AlternateContent xmlns:mc="http://schemas.openxmlformats.org/markup-compatibility/2006">
              <mc:Choice xmlns:v="urn:schemas-microsoft-com:vml" Requires="v">
                <p:oleObj name="AxMath" r:id="rId2" imgW="1272600" imgH="178920" progId="Equation.AxMath">
                  <p:embed/>
                </p:oleObj>
              </mc:Choice>
              <mc:Fallback>
                <p:oleObj name="AxMath" r:id="rId2" imgW="1272600" imgH="178920" progId="Equation.AxMath">
                  <p:embed/>
                  <p:pic>
                    <p:nvPicPr>
                      <p:cNvPr id="3" name="对象 2"/>
                      <p:cNvPicPr/>
                      <p:nvPr/>
                    </p:nvPicPr>
                    <p:blipFill>
                      <a:blip r:embed="rId3"/>
                      <a:stretch>
                        <a:fillRect/>
                      </a:stretch>
                    </p:blipFill>
                    <p:spPr>
                      <a:xfrm>
                        <a:off x="3417042" y="4242948"/>
                        <a:ext cx="2901507" cy="408817"/>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3409034" y="5363033"/>
          <a:ext cx="2924696" cy="1220303"/>
        </p:xfrm>
        <a:graphic>
          <a:graphicData uri="http://schemas.openxmlformats.org/presentationml/2006/ole">
            <mc:AlternateContent xmlns:mc="http://schemas.openxmlformats.org/markup-compatibility/2006">
              <mc:Choice xmlns:v="urn:schemas-microsoft-com:vml" Requires="v">
                <p:oleObj name="AxMath" r:id="rId4" imgW="1380960" imgH="575640" progId="Equation.AxMath">
                  <p:embed/>
                </p:oleObj>
              </mc:Choice>
              <mc:Fallback>
                <p:oleObj name="AxMath" r:id="rId4" imgW="1380960" imgH="575640" progId="Equation.AxMath">
                  <p:embed/>
                  <p:pic>
                    <p:nvPicPr>
                      <p:cNvPr id="12" name="对象 11"/>
                      <p:cNvPicPr/>
                      <p:nvPr/>
                    </p:nvPicPr>
                    <p:blipFill>
                      <a:blip r:embed="rId5"/>
                      <a:stretch>
                        <a:fillRect/>
                      </a:stretch>
                    </p:blipFill>
                    <p:spPr>
                      <a:xfrm>
                        <a:off x="3409034" y="5363033"/>
                        <a:ext cx="2924696" cy="1220303"/>
                      </a:xfrm>
                      <a:prstGeom prst="rect">
                        <a:avLst/>
                      </a:prstGeom>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2.1.4  </a:t>
            </a:r>
            <a:r>
              <a:rPr lang="zh-CN" altLang="en-US" b="1" dirty="0">
                <a:solidFill>
                  <a:srgbClr val="002060"/>
                </a:solidFill>
              </a:rPr>
              <a:t>光的偏振</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20</a:t>
            </a:fld>
            <a:endParaRPr kumimoji="1" lang="zh-CN" altLang="en-US"/>
          </a:p>
        </p:txBody>
      </p:sp>
      <p:sp>
        <p:nvSpPr>
          <p:cNvPr id="7" name="文本框 6"/>
          <p:cNvSpPr txBox="1"/>
          <p:nvPr/>
        </p:nvSpPr>
        <p:spPr>
          <a:xfrm>
            <a:off x="216535" y="1205230"/>
            <a:ext cx="2789132" cy="40011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）琼斯矢量法</a:t>
            </a:r>
            <a:endPar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558265" y="1759466"/>
            <a:ext cx="11034295" cy="923330"/>
          </a:xfrm>
          <a:prstGeom prst="rect">
            <a:avLst/>
          </a:prstGeom>
          <a:noFill/>
        </p:spPr>
        <p:txBody>
          <a:bodyPr wrap="square" rtlCol="0">
            <a:spAutoFit/>
          </a:bodyPr>
          <a:lstStyle/>
          <a:p>
            <a:pPr indent="304800" algn="just">
              <a:lnSpc>
                <a:spcPct val="150000"/>
              </a:lnSpc>
            </a:pPr>
            <a:r>
              <a:rPr lang="en-US" altLang="zh-CN" kern="100" dirty="0">
                <a:latin typeface="微软雅黑" panose="020B0503020204020204" pitchFamily="34" charset="-122"/>
                <a:ea typeface="微软雅黑" panose="020B0503020204020204" pitchFamily="34" charset="-122"/>
              </a:rPr>
              <a:t>1941</a:t>
            </a:r>
            <a:r>
              <a:rPr lang="zh-CN" altLang="en-US" kern="100" dirty="0">
                <a:latin typeface="微软雅黑" panose="020B0503020204020204" pitchFamily="34" charset="-122"/>
                <a:ea typeface="微软雅黑" panose="020B0503020204020204" pitchFamily="34" charset="-122"/>
              </a:rPr>
              <a:t>年美国物理学家琼斯（</a:t>
            </a:r>
            <a:r>
              <a:rPr lang="en-US" altLang="zh-CN" kern="100" dirty="0">
                <a:latin typeface="微软雅黑" panose="020B0503020204020204" pitchFamily="34" charset="-122"/>
                <a:ea typeface="微软雅黑" panose="020B0503020204020204" pitchFamily="34" charset="-122"/>
              </a:rPr>
              <a:t>R. C. Jones</a:t>
            </a:r>
            <a:r>
              <a:rPr lang="zh-CN" altLang="en-US" kern="100" dirty="0">
                <a:latin typeface="微软雅黑" panose="020B0503020204020204" pitchFamily="34" charset="-122"/>
                <a:ea typeface="微软雅黑" panose="020B0503020204020204" pitchFamily="34" charset="-122"/>
              </a:rPr>
              <a:t>）提出了针对</a:t>
            </a:r>
            <a:r>
              <a:rPr lang="zh-CN" altLang="en-US" b="1" kern="100" dirty="0">
                <a:solidFill>
                  <a:srgbClr val="FF0000"/>
                </a:solidFill>
                <a:latin typeface="微软雅黑" panose="020B0503020204020204" pitchFamily="34" charset="-122"/>
                <a:ea typeface="微软雅黑" panose="020B0503020204020204" pitchFamily="34" charset="-122"/>
              </a:rPr>
              <a:t>完全偏振光的矩阵表述方法</a:t>
            </a:r>
            <a:r>
              <a:rPr lang="zh-CN" altLang="en-US" kern="100" dirty="0">
                <a:latin typeface="微软雅黑" panose="020B0503020204020204" pitchFamily="34" charset="-122"/>
                <a:ea typeface="微软雅黑" panose="020B0503020204020204" pitchFamily="34" charset="-122"/>
              </a:rPr>
              <a:t>。</a:t>
            </a:r>
            <a:endParaRPr lang="en-US" altLang="zh-CN" kern="100" dirty="0">
              <a:latin typeface="微软雅黑" panose="020B0503020204020204" pitchFamily="34" charset="-122"/>
              <a:ea typeface="微软雅黑" panose="020B0503020204020204" pitchFamily="34" charset="-122"/>
            </a:endParaRPr>
          </a:p>
          <a:p>
            <a:pPr indent="304800" algn="just">
              <a:lnSpc>
                <a:spcPct val="150000"/>
              </a:lnSpc>
            </a:pPr>
            <a:r>
              <a:rPr lang="zh-CN" altLang="en-US" kern="100" dirty="0">
                <a:latin typeface="微软雅黑" panose="020B0503020204020204" pitchFamily="34" charset="-122"/>
                <a:ea typeface="微软雅黑" panose="020B0503020204020204" pitchFamily="34" charset="-122"/>
              </a:rPr>
              <a:t>在折射率为</a:t>
            </a:r>
            <a:r>
              <a:rPr lang="en-US" altLang="zh-CN" b="1" kern="100" dirty="0">
                <a:solidFill>
                  <a:schemeClr val="accent1"/>
                </a:solidFill>
                <a:latin typeface="微软雅黑" panose="020B0503020204020204" pitchFamily="34" charset="-122"/>
                <a:ea typeface="微软雅黑" panose="020B0503020204020204" pitchFamily="34" charset="-122"/>
              </a:rPr>
              <a:t>n</a:t>
            </a:r>
            <a:r>
              <a:rPr lang="zh-CN" altLang="en-US" kern="100" dirty="0">
                <a:latin typeface="微软雅黑" panose="020B0503020204020204" pitchFamily="34" charset="-122"/>
                <a:ea typeface="微软雅黑" panose="020B0503020204020204" pitchFamily="34" charset="-122"/>
              </a:rPr>
              <a:t>的</a:t>
            </a:r>
            <a:r>
              <a:rPr lang="zh-CN" altLang="en-US" b="1" kern="100" dirty="0">
                <a:solidFill>
                  <a:schemeClr val="accent1"/>
                </a:solidFill>
                <a:latin typeface="微软雅黑" panose="020B0503020204020204" pitchFamily="34" charset="-122"/>
                <a:ea typeface="微软雅黑" panose="020B0503020204020204" pitchFamily="34" charset="-122"/>
              </a:rPr>
              <a:t>各向同性介质</a:t>
            </a:r>
            <a:r>
              <a:rPr lang="zh-CN" altLang="en-US" kern="100" dirty="0">
                <a:latin typeface="微软雅黑" panose="020B0503020204020204" pitchFamily="34" charset="-122"/>
                <a:ea typeface="微软雅黑" panose="020B0503020204020204" pitchFamily="34" charset="-122"/>
              </a:rPr>
              <a:t>中，电场矢量可分解为两个正交分量，采用复数形式表示为，</a:t>
            </a:r>
          </a:p>
        </p:txBody>
      </p:sp>
      <p:graphicFrame>
        <p:nvGraphicFramePr>
          <p:cNvPr id="10" name="对象 9"/>
          <p:cNvGraphicFramePr>
            <a:graphicFrameLocks noChangeAspect="1"/>
          </p:cNvGraphicFramePr>
          <p:nvPr/>
        </p:nvGraphicFramePr>
        <p:xfrm>
          <a:off x="3417095" y="2732746"/>
          <a:ext cx="2333465" cy="733277"/>
        </p:xfrm>
        <a:graphic>
          <a:graphicData uri="http://schemas.openxmlformats.org/presentationml/2006/ole">
            <mc:AlternateContent xmlns:mc="http://schemas.openxmlformats.org/markup-compatibility/2006">
              <mc:Choice xmlns:v="urn:schemas-microsoft-com:vml" Requires="v">
                <p:oleObj name="AxMath" r:id="rId2" imgW="1371600" imgH="1371600" progId="Equation.AxMath">
                  <p:embed/>
                </p:oleObj>
              </mc:Choice>
              <mc:Fallback>
                <p:oleObj name="AxMath" r:id="rId2" imgW="1371600" imgH="1371600" progId="Equation.AxMath">
                  <p:embed/>
                  <p:pic>
                    <p:nvPicPr>
                      <p:cNvPr id="10" name="对象 9"/>
                      <p:cNvPicPr/>
                      <p:nvPr/>
                    </p:nvPicPr>
                    <p:blipFill>
                      <a:blip r:embed="rId3"/>
                      <a:stretch>
                        <a:fillRect/>
                      </a:stretch>
                    </p:blipFill>
                    <p:spPr>
                      <a:xfrm>
                        <a:off x="3417095" y="2732746"/>
                        <a:ext cx="2333465" cy="733277"/>
                      </a:xfrm>
                      <a:prstGeom prst="rect">
                        <a:avLst/>
                      </a:prstGeom>
                    </p:spPr>
                  </p:pic>
                </p:oleObj>
              </mc:Fallback>
            </mc:AlternateContent>
          </a:graphicData>
        </a:graphic>
      </p:graphicFrame>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rcRect l="6596" t="31578" r="4676" b="21707"/>
          <a:stretch>
            <a:fillRect/>
          </a:stretch>
        </p:blipFill>
        <p:spPr>
          <a:xfrm>
            <a:off x="2244627" y="3928118"/>
            <a:ext cx="7011865" cy="2076833"/>
          </a:xfrm>
          <a:prstGeom prst="rect">
            <a:avLst/>
          </a:prstGeom>
          <a:ln>
            <a:noFill/>
          </a:ln>
        </p:spPr>
      </p:pic>
      <p:sp>
        <p:nvSpPr>
          <p:cNvPr id="11" name="文本框 10"/>
          <p:cNvSpPr txBox="1"/>
          <p:nvPr/>
        </p:nvSpPr>
        <p:spPr>
          <a:xfrm>
            <a:off x="516870" y="3411983"/>
            <a:ext cx="11034295" cy="507831"/>
          </a:xfrm>
          <a:prstGeom prst="rect">
            <a:avLst/>
          </a:prstGeom>
          <a:noFill/>
        </p:spPr>
        <p:txBody>
          <a:bodyPr wrap="square" rtlCol="0">
            <a:spAutoFit/>
          </a:bodyPr>
          <a:lstStyle/>
          <a:p>
            <a:pPr indent="304800" algn="just">
              <a:lnSpc>
                <a:spcPct val="150000"/>
              </a:lnSpc>
            </a:pPr>
            <a:r>
              <a:rPr lang="en-US" altLang="zh-CN" b="1" kern="100" dirty="0">
                <a:latin typeface="微软雅黑" panose="020B0503020204020204" pitchFamily="34" charset="-122"/>
                <a:ea typeface="微软雅黑" panose="020B0503020204020204" pitchFamily="34" charset="-122"/>
              </a:rPr>
              <a:t>E</a:t>
            </a:r>
            <a:r>
              <a:rPr lang="zh-CN" altLang="en-US" kern="100" dirty="0">
                <a:latin typeface="微软雅黑" panose="020B0503020204020204" pitchFamily="34" charset="-122"/>
                <a:ea typeface="微软雅黑" panose="020B0503020204020204" pitchFamily="34" charset="-122"/>
              </a:rPr>
              <a:t>为</a:t>
            </a:r>
            <a:r>
              <a:rPr lang="zh-CN" altLang="en-US" b="1" kern="100" dirty="0">
                <a:solidFill>
                  <a:srgbClr val="FF0000"/>
                </a:solidFill>
                <a:latin typeface="微软雅黑" panose="020B0503020204020204" pitchFamily="34" charset="-122"/>
                <a:ea typeface="微软雅黑" panose="020B0503020204020204" pitchFamily="34" charset="-122"/>
              </a:rPr>
              <a:t>琼斯列矩阵</a:t>
            </a:r>
            <a:r>
              <a:rPr lang="zh-CN" altLang="en-US" kern="100" dirty="0">
                <a:latin typeface="微软雅黑" panose="020B0503020204020204" pitchFamily="34" charset="-122"/>
                <a:ea typeface="微软雅黑" panose="020B0503020204020204" pitchFamily="34" charset="-122"/>
              </a:rPr>
              <a:t>或者</a:t>
            </a:r>
            <a:r>
              <a:rPr lang="zh-CN" altLang="en-US" b="1" kern="100" dirty="0">
                <a:solidFill>
                  <a:srgbClr val="FF0000"/>
                </a:solidFill>
                <a:latin typeface="微软雅黑" panose="020B0503020204020204" pitchFamily="34" charset="-122"/>
                <a:ea typeface="微软雅黑" panose="020B0503020204020204" pitchFamily="34" charset="-122"/>
              </a:rPr>
              <a:t>琼斯矢量</a:t>
            </a:r>
            <a:r>
              <a:rPr lang="zh-CN" altLang="en-US" kern="100" dirty="0">
                <a:latin typeface="微软雅黑" panose="020B0503020204020204" pitchFamily="34" charset="-122"/>
                <a:ea typeface="微软雅黑" panose="020B0503020204020204" pitchFamily="34" charset="-122"/>
              </a:rPr>
              <a:t>。以下是几种偏振态的琼斯矢量：</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2.1.4  </a:t>
            </a:r>
            <a:r>
              <a:rPr lang="zh-CN" altLang="en-US" b="1" dirty="0">
                <a:solidFill>
                  <a:srgbClr val="002060"/>
                </a:solidFill>
              </a:rPr>
              <a:t>光的偏振</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21</a:t>
            </a:fld>
            <a:endParaRPr kumimoji="1" lang="zh-CN" altLang="en-US"/>
          </a:p>
        </p:txBody>
      </p:sp>
      <p:sp>
        <p:nvSpPr>
          <p:cNvPr id="7" name="文本框 6"/>
          <p:cNvSpPr txBox="1"/>
          <p:nvPr/>
        </p:nvSpPr>
        <p:spPr>
          <a:xfrm>
            <a:off x="216535" y="1205230"/>
            <a:ext cx="2789132" cy="40011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）斯托克斯矢量法</a:t>
            </a:r>
            <a:endPar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558266" y="1759466"/>
            <a:ext cx="10558468" cy="1289905"/>
          </a:xfrm>
          <a:prstGeom prst="rect">
            <a:avLst/>
          </a:prstGeom>
          <a:noFill/>
        </p:spPr>
        <p:txBody>
          <a:bodyPr wrap="square" rtlCol="0">
            <a:spAutoFit/>
          </a:bodyPr>
          <a:lstStyle/>
          <a:p>
            <a:pPr algn="just">
              <a:lnSpc>
                <a:spcPct val="150000"/>
              </a:lnSpc>
            </a:pPr>
            <a:r>
              <a:rPr lang="en-US" altLang="zh-CN" kern="100" dirty="0">
                <a:latin typeface="微软雅黑" panose="020B0503020204020204" pitchFamily="34" charset="-122"/>
                <a:ea typeface="微软雅黑" panose="020B0503020204020204" pitchFamily="34" charset="-122"/>
              </a:rPr>
              <a:t>1852</a:t>
            </a:r>
            <a:r>
              <a:rPr lang="zh-CN" altLang="en-US" kern="100" dirty="0">
                <a:latin typeface="微软雅黑" panose="020B0503020204020204" pitchFamily="34" charset="-122"/>
                <a:ea typeface="微软雅黑" panose="020B0503020204020204" pitchFamily="34" charset="-122"/>
              </a:rPr>
              <a:t>年英国物理学家斯托克斯（</a:t>
            </a:r>
            <a:r>
              <a:rPr lang="en-US" altLang="zh-CN" kern="100" dirty="0">
                <a:latin typeface="微软雅黑" panose="020B0503020204020204" pitchFamily="34" charset="-122"/>
                <a:ea typeface="微软雅黑" panose="020B0503020204020204" pitchFamily="34" charset="-122"/>
              </a:rPr>
              <a:t>G. G. Stokes</a:t>
            </a:r>
            <a:r>
              <a:rPr lang="zh-CN" altLang="en-US" kern="100" dirty="0">
                <a:latin typeface="微软雅黑" panose="020B0503020204020204" pitchFamily="34" charset="-122"/>
                <a:ea typeface="微软雅黑" panose="020B0503020204020204" pitchFamily="34" charset="-122"/>
              </a:rPr>
              <a:t>）提出一种用</a:t>
            </a:r>
            <a:r>
              <a:rPr lang="zh-CN" altLang="en-US" b="1" kern="100" dirty="0">
                <a:solidFill>
                  <a:srgbClr val="FF0000"/>
                </a:solidFill>
                <a:latin typeface="微软雅黑" panose="020B0503020204020204" pitchFamily="34" charset="-122"/>
                <a:ea typeface="微软雅黑" panose="020B0503020204020204" pitchFamily="34" charset="-122"/>
              </a:rPr>
              <a:t>四个强度参量来描述光的偏振态</a:t>
            </a:r>
            <a:r>
              <a:rPr lang="zh-CN" altLang="en-US" kern="100" dirty="0">
                <a:latin typeface="微软雅黑" panose="020B0503020204020204" pitchFamily="34" charset="-122"/>
                <a:ea typeface="微软雅黑" panose="020B0503020204020204" pitchFamily="34" charset="-122"/>
              </a:rPr>
              <a:t>的表示法，不仅能够描述完全偏振光，还能描述部分偏振光和非偏振光，是</a:t>
            </a:r>
            <a:r>
              <a:rPr lang="zh-CN" altLang="en-US" b="1" kern="100" dirty="0">
                <a:solidFill>
                  <a:srgbClr val="FF0000"/>
                </a:solidFill>
                <a:latin typeface="微软雅黑" panose="020B0503020204020204" pitchFamily="34" charset="-122"/>
                <a:ea typeface="微软雅黑" panose="020B0503020204020204" pitchFamily="34" charset="-122"/>
              </a:rPr>
              <a:t>目前最常用</a:t>
            </a:r>
            <a:r>
              <a:rPr lang="zh-CN" altLang="en-US" kern="100" dirty="0">
                <a:latin typeface="微软雅黑" panose="020B0503020204020204" pitchFamily="34" charset="-122"/>
                <a:ea typeface="微软雅黑" panose="020B0503020204020204" pitchFamily="34" charset="-122"/>
              </a:rPr>
              <a:t>的偏振光表示方法。</a:t>
            </a:r>
          </a:p>
          <a:p>
            <a:pPr algn="just">
              <a:lnSpc>
                <a:spcPct val="150000"/>
              </a:lnSpc>
            </a:pPr>
            <a:r>
              <a:rPr lang="zh-CN" altLang="en-US" kern="100" dirty="0">
                <a:latin typeface="微软雅黑" panose="020B0503020204020204" pitchFamily="34" charset="-122"/>
                <a:ea typeface="微软雅黑" panose="020B0503020204020204" pitchFamily="34" charset="-122"/>
              </a:rPr>
              <a:t>斯托克斯（</a:t>
            </a:r>
            <a:r>
              <a:rPr lang="en-US" altLang="zh-CN" kern="100" dirty="0">
                <a:latin typeface="微软雅黑" panose="020B0503020204020204" pitchFamily="34" charset="-122"/>
                <a:ea typeface="微软雅黑" panose="020B0503020204020204" pitchFamily="34" charset="-122"/>
              </a:rPr>
              <a:t>Stokes</a:t>
            </a:r>
            <a:r>
              <a:rPr lang="zh-CN" altLang="en-US" kern="100" dirty="0">
                <a:latin typeface="微软雅黑" panose="020B0503020204020204" pitchFamily="34" charset="-122"/>
                <a:ea typeface="微软雅黑" panose="020B0503020204020204" pitchFamily="34" charset="-122"/>
              </a:rPr>
              <a:t>）矢量</a:t>
            </a:r>
            <a:r>
              <a:rPr lang="en-US" altLang="zh-CN" kern="100" dirty="0">
                <a:latin typeface="微软雅黑" panose="020B0503020204020204" pitchFamily="34" charset="-122"/>
                <a:ea typeface="微软雅黑" panose="020B0503020204020204" pitchFamily="34" charset="-122"/>
              </a:rPr>
              <a:t>S</a:t>
            </a:r>
            <a:r>
              <a:rPr lang="zh-CN" altLang="en-US" kern="100" dirty="0">
                <a:latin typeface="微软雅黑" panose="020B0503020204020204" pitchFamily="34" charset="-122"/>
                <a:ea typeface="微软雅黑" panose="020B0503020204020204" pitchFamily="34" charset="-122"/>
              </a:rPr>
              <a:t>由四个参量组成：</a:t>
            </a:r>
          </a:p>
        </p:txBody>
      </p:sp>
      <p:graphicFrame>
        <p:nvGraphicFramePr>
          <p:cNvPr id="3" name="对象 2"/>
          <p:cNvGraphicFramePr>
            <a:graphicFrameLocks noChangeAspect="1"/>
          </p:cNvGraphicFramePr>
          <p:nvPr/>
        </p:nvGraphicFramePr>
        <p:xfrm>
          <a:off x="1450317" y="4116389"/>
          <a:ext cx="2626135" cy="1536382"/>
        </p:xfrm>
        <a:graphic>
          <a:graphicData uri="http://schemas.openxmlformats.org/presentationml/2006/ole">
            <mc:AlternateContent xmlns:mc="http://schemas.openxmlformats.org/markup-compatibility/2006">
              <mc:Choice xmlns:v="urn:schemas-microsoft-com:vml" Requires="v">
                <p:oleObj name="Equation" r:id="rId2" imgW="1371600" imgH="1371600" progId="Equation.DSMT4">
                  <p:embed/>
                </p:oleObj>
              </mc:Choice>
              <mc:Fallback>
                <p:oleObj name="Equation" r:id="rId2" imgW="1371600" imgH="1371600" progId="Equation.DSMT4">
                  <p:embed/>
                  <p:pic>
                    <p:nvPicPr>
                      <p:cNvPr id="3" name="对象 2"/>
                      <p:cNvPicPr/>
                      <p:nvPr/>
                    </p:nvPicPr>
                    <p:blipFill>
                      <a:blip r:embed="rId3"/>
                      <a:stretch>
                        <a:fillRect/>
                      </a:stretch>
                    </p:blipFill>
                    <p:spPr>
                      <a:xfrm>
                        <a:off x="1450317" y="4116389"/>
                        <a:ext cx="2626135" cy="1536382"/>
                      </a:xfrm>
                      <a:prstGeom prst="rect">
                        <a:avLst/>
                      </a:prstGeom>
                    </p:spPr>
                  </p:pic>
                </p:oleObj>
              </mc:Fallback>
            </mc:AlternateContent>
          </a:graphicData>
        </a:graphic>
      </p:graphicFrame>
      <p:sp>
        <p:nvSpPr>
          <p:cNvPr id="9" name="矩形 8"/>
          <p:cNvSpPr/>
          <p:nvPr/>
        </p:nvSpPr>
        <p:spPr>
          <a:xfrm>
            <a:off x="6106454" y="3079456"/>
            <a:ext cx="4451480" cy="1754326"/>
          </a:xfrm>
          <a:prstGeom prst="rect">
            <a:avLst/>
          </a:prstGeom>
        </p:spPr>
        <p:txBody>
          <a:bodyPr wrap="square">
            <a:spAutoFit/>
          </a:bodyPr>
          <a:lstStyle/>
          <a:p>
            <a:pPr marL="285750" indent="-285750">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当</a:t>
            </a:r>
            <a:r>
              <a:rPr lang="en-US" altLang="zh-CN" dirty="0">
                <a:latin typeface="微软雅黑" panose="020B0503020204020204" pitchFamily="34" charset="-122"/>
                <a:ea typeface="微软雅黑" panose="020B0503020204020204" pitchFamily="34" charset="-122"/>
              </a:rPr>
              <a:t>Stokes</a:t>
            </a:r>
            <a:r>
              <a:rPr lang="zh-CN" altLang="en-US" dirty="0">
                <a:latin typeface="微软雅黑" panose="020B0503020204020204" pitchFamily="34" charset="-122"/>
                <a:ea typeface="微软雅黑" panose="020B0503020204020204" pitchFamily="34" charset="-122"/>
              </a:rPr>
              <a:t>矢量描述</a:t>
            </a:r>
            <a:r>
              <a:rPr lang="zh-CN" altLang="en-US" b="1" dirty="0">
                <a:solidFill>
                  <a:schemeClr val="accent1"/>
                </a:solidFill>
                <a:latin typeface="微软雅黑" panose="020B0503020204020204" pitchFamily="34" charset="-122"/>
                <a:ea typeface="微软雅黑" panose="020B0503020204020204" pitchFamily="34" charset="-122"/>
              </a:rPr>
              <a:t>完全偏振光</a:t>
            </a:r>
            <a:r>
              <a:rPr lang="zh-CN" altLang="en-US" dirty="0">
                <a:latin typeface="微软雅黑" panose="020B0503020204020204" pitchFamily="34" charset="-122"/>
                <a:ea typeface="微软雅黑" panose="020B0503020204020204" pitchFamily="34" charset="-122"/>
              </a:rPr>
              <a:t>时，有</a:t>
            </a: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当</a:t>
            </a:r>
            <a:r>
              <a:rPr lang="en-US" altLang="zh-CN" dirty="0">
                <a:latin typeface="微软雅黑" panose="020B0503020204020204" pitchFamily="34" charset="-122"/>
                <a:ea typeface="微软雅黑" panose="020B0503020204020204" pitchFamily="34" charset="-122"/>
              </a:rPr>
              <a:t>Stokes</a:t>
            </a:r>
            <a:r>
              <a:rPr lang="zh-CN" altLang="en-US" dirty="0">
                <a:latin typeface="微软雅黑" panose="020B0503020204020204" pitchFamily="34" charset="-122"/>
                <a:ea typeface="微软雅黑" panose="020B0503020204020204" pitchFamily="34" charset="-122"/>
              </a:rPr>
              <a:t>矢量描述</a:t>
            </a:r>
            <a:r>
              <a:rPr lang="zh-CN" altLang="en-US" b="1" dirty="0">
                <a:solidFill>
                  <a:schemeClr val="accent1"/>
                </a:solidFill>
                <a:latin typeface="微软雅黑" panose="020B0503020204020204" pitchFamily="34" charset="-122"/>
                <a:ea typeface="微软雅黑" panose="020B0503020204020204" pitchFamily="34" charset="-122"/>
              </a:rPr>
              <a:t>部分偏振光</a:t>
            </a:r>
            <a:r>
              <a:rPr lang="zh-CN" altLang="en-US" dirty="0">
                <a:latin typeface="微软雅黑" panose="020B0503020204020204" pitchFamily="34" charset="-122"/>
                <a:ea typeface="微软雅黑" panose="020B0503020204020204" pitchFamily="34" charset="-122"/>
              </a:rPr>
              <a:t>时，有</a:t>
            </a:r>
          </a:p>
        </p:txBody>
      </p:sp>
      <p:pic>
        <p:nvPicPr>
          <p:cNvPr id="10" name="图片 9"/>
          <p:cNvPicPr>
            <a:picLocks noChangeAspect="1"/>
          </p:cNvPicPr>
          <p:nvPr/>
        </p:nvPicPr>
        <p:blipFill>
          <a:blip r:embed="rId4"/>
          <a:stretch>
            <a:fillRect/>
          </a:stretch>
        </p:blipFill>
        <p:spPr>
          <a:xfrm>
            <a:off x="7265654" y="3900389"/>
            <a:ext cx="2358986" cy="432000"/>
          </a:xfrm>
          <a:prstGeom prst="rect">
            <a:avLst/>
          </a:prstGeom>
        </p:spPr>
      </p:pic>
      <p:pic>
        <p:nvPicPr>
          <p:cNvPr id="11" name="图片 10"/>
          <p:cNvPicPr>
            <a:picLocks noChangeAspect="1"/>
          </p:cNvPicPr>
          <p:nvPr/>
        </p:nvPicPr>
        <p:blipFill>
          <a:blip r:embed="rId5"/>
          <a:stretch>
            <a:fillRect/>
          </a:stretch>
        </p:blipFill>
        <p:spPr>
          <a:xfrm>
            <a:off x="7265654" y="5043389"/>
            <a:ext cx="2358978" cy="432000"/>
          </a:xfrm>
          <a:prstGeom prst="rect">
            <a:avLst/>
          </a:prstGeom>
        </p:spPr>
      </p:pic>
      <p:sp>
        <p:nvSpPr>
          <p:cNvPr id="13" name="文本框 12">
            <a:extLst>
              <a:ext uri="{FF2B5EF4-FFF2-40B4-BE49-F238E27FC236}">
                <a16:creationId xmlns:a16="http://schemas.microsoft.com/office/drawing/2014/main" id="{F8218C47-6DDB-E3FC-EB33-D0650CC6D1E9}"/>
              </a:ext>
            </a:extLst>
          </p:cNvPr>
          <p:cNvSpPr txBox="1"/>
          <p:nvPr/>
        </p:nvSpPr>
        <p:spPr>
          <a:xfrm>
            <a:off x="558266" y="3290340"/>
            <a:ext cx="6155266" cy="458908"/>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斯托克斯（</a:t>
            </a:r>
            <a:r>
              <a:rPr lang="en-US" altLang="zh-CN" kern="100" dirty="0">
                <a:latin typeface="微软雅黑" panose="020B0503020204020204" pitchFamily="34" charset="-122"/>
                <a:ea typeface="微软雅黑" panose="020B0503020204020204" pitchFamily="34" charset="-122"/>
              </a:rPr>
              <a:t>Stokes</a:t>
            </a:r>
            <a:r>
              <a:rPr lang="zh-CN" altLang="en-US" kern="100" dirty="0">
                <a:latin typeface="微软雅黑" panose="020B0503020204020204" pitchFamily="34" charset="-122"/>
                <a:ea typeface="微软雅黑" panose="020B0503020204020204" pitchFamily="34" charset="-122"/>
              </a:rPr>
              <a:t>）矢量</a:t>
            </a:r>
            <a:r>
              <a:rPr lang="en-US" altLang="zh-CN" kern="100" dirty="0">
                <a:latin typeface="微软雅黑" panose="020B0503020204020204" pitchFamily="34" charset="-122"/>
                <a:ea typeface="微软雅黑" panose="020B0503020204020204" pitchFamily="34" charset="-122"/>
              </a:rPr>
              <a:t>S</a:t>
            </a:r>
            <a:r>
              <a:rPr lang="zh-CN" altLang="en-US" kern="100" dirty="0">
                <a:latin typeface="微软雅黑" panose="020B0503020204020204" pitchFamily="34" charset="-122"/>
                <a:ea typeface="微软雅黑" panose="020B0503020204020204" pitchFamily="34" charset="-122"/>
              </a:rPr>
              <a:t>由四个参量组成：</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C:\Users\bjhuang\Documents\WeChat Files\wxid_dgttvpnj765x12\FileStorage\Temp\eede53f2ad68d7d595bad44840b2ee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7271787" y="2547282"/>
            <a:ext cx="3798115" cy="3168134"/>
          </a:xfrm>
          <a:prstGeom prst="rect">
            <a:avLst/>
          </a:prstGeom>
          <a:noFill/>
          <a:ln>
            <a:noFill/>
          </a:ln>
        </p:spPr>
      </p:pic>
      <p:sp>
        <p:nvSpPr>
          <p:cNvPr id="6" name="标题 5"/>
          <p:cNvSpPr>
            <a:spLocks noGrp="1"/>
          </p:cNvSpPr>
          <p:nvPr>
            <p:ph type="title"/>
          </p:nvPr>
        </p:nvSpPr>
        <p:spPr>
          <a:xfrm>
            <a:off x="2688838" y="363855"/>
            <a:ext cx="6690360" cy="612140"/>
          </a:xfrm>
        </p:spPr>
        <p:txBody>
          <a:bodyPr>
            <a:normAutofit/>
          </a:bodyPr>
          <a:lstStyle/>
          <a:p>
            <a:pPr algn="ctr"/>
            <a:r>
              <a:rPr lang="en-US" altLang="zh-CN" b="1" dirty="0">
                <a:solidFill>
                  <a:srgbClr val="002060"/>
                </a:solidFill>
              </a:rPr>
              <a:t>2.1.4  </a:t>
            </a:r>
            <a:r>
              <a:rPr lang="zh-CN" altLang="en-US" b="1" dirty="0">
                <a:solidFill>
                  <a:srgbClr val="002060"/>
                </a:solidFill>
              </a:rPr>
              <a:t>光的偏振</a:t>
            </a:r>
          </a:p>
        </p:txBody>
      </p:sp>
      <p:sp>
        <p:nvSpPr>
          <p:cNvPr id="2" name="矩形 1"/>
          <p:cNvSpPr/>
          <p:nvPr/>
        </p:nvSpPr>
        <p:spPr>
          <a:xfrm>
            <a:off x="883" y="6465020"/>
            <a:ext cx="2013585" cy="337185"/>
          </a:xfrm>
          <a:prstGeom prst="rect">
            <a:avLst/>
          </a:prstGeom>
          <a:ln w="19050">
            <a:noFill/>
          </a:ln>
        </p:spPr>
        <p:txBody>
          <a:bodyPr wrap="none">
            <a:spAutoFit/>
          </a:bodyPr>
          <a:lstStyle/>
          <a:p>
            <a:pPr algn="l"/>
            <a:r>
              <a:rPr lang="en-US" altLang="zh-CN" sz="1600" dirty="0">
                <a:solidFill>
                  <a:srgbClr val="002060"/>
                </a:solidFill>
                <a:latin typeface="微软雅黑" panose="020B0503020204020204" pitchFamily="34" charset="-122"/>
                <a:ea typeface="微软雅黑" panose="020B0503020204020204" pitchFamily="34" charset="-122"/>
                <a:sym typeface="+mn-ea"/>
              </a:rPr>
              <a:t>2.1  </a:t>
            </a:r>
            <a:r>
              <a:rPr lang="zh-CN" altLang="en-US" sz="1600" dirty="0">
                <a:solidFill>
                  <a:srgbClr val="002060"/>
                </a:solidFill>
                <a:latin typeface="微软雅黑" panose="020B0503020204020204" pitchFamily="34" charset="-122"/>
                <a:ea typeface="微软雅黑" panose="020B0503020204020204" pitchFamily="34" charset="-122"/>
                <a:sym typeface="+mn-ea"/>
              </a:rPr>
              <a:t>光及其基本特性</a:t>
            </a:r>
            <a:endParaRPr lang="zh-CN" altLang="en-US" sz="1600" dirty="0">
              <a:solidFill>
                <a:srgbClr val="002060"/>
              </a:solidFill>
            </a:endParaRPr>
          </a:p>
        </p:txBody>
      </p:sp>
      <p:sp>
        <p:nvSpPr>
          <p:cNvPr id="4" name="内容占位符 3"/>
          <p:cNvSpPr txBox="1"/>
          <p:nvPr/>
        </p:nvSpPr>
        <p:spPr>
          <a:xfrm>
            <a:off x="-3655"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sym typeface="+mn-ea"/>
              </a:rPr>
              <a:t>第</a:t>
            </a:r>
            <a:r>
              <a:rPr lang="en-US" altLang="zh-CN" sz="1600">
                <a:latin typeface="微软雅黑" panose="020B0503020204020204" pitchFamily="34" charset="-122"/>
                <a:ea typeface="微软雅黑" panose="020B0503020204020204" pitchFamily="34" charset="-122"/>
                <a:sym typeface="+mn-ea"/>
              </a:rPr>
              <a:t>2</a:t>
            </a:r>
            <a:r>
              <a:rPr lang="zh-CN" altLang="en-US" sz="1600">
                <a:latin typeface="微软雅黑" panose="020B0503020204020204" pitchFamily="34" charset="-122"/>
                <a:ea typeface="微软雅黑" panose="020B0503020204020204" pitchFamily="34" charset="-122"/>
                <a:sym typeface="+mn-ea"/>
              </a:rPr>
              <a:t>章  </a:t>
            </a:r>
            <a:r>
              <a:rPr lang="en-US" altLang="zh-CN" sz="1600">
                <a:latin typeface="微软雅黑" panose="020B0503020204020204" pitchFamily="34" charset="-122"/>
                <a:ea typeface="微软雅黑" panose="020B0503020204020204" pitchFamily="34" charset="-122"/>
                <a:sym typeface="+mn-ea"/>
              </a:rPr>
              <a:t>光的特性及光电系统基础</a:t>
            </a:r>
            <a:r>
              <a:rPr lang="zh-CN" altLang="en-US" sz="160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22</a:t>
            </a:fld>
            <a:endParaRPr kumimoji="1" lang="zh-CN" altLang="en-US" dirty="0"/>
          </a:p>
        </p:txBody>
      </p:sp>
      <p:sp>
        <p:nvSpPr>
          <p:cNvPr id="7" name="文本框 6"/>
          <p:cNvSpPr txBox="1"/>
          <p:nvPr/>
        </p:nvSpPr>
        <p:spPr>
          <a:xfrm>
            <a:off x="216535" y="1205230"/>
            <a:ext cx="2789132" cy="40011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）庞加莱球法</a:t>
            </a:r>
            <a:endParaRPr lang="en-US" altLang="zh-CN"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558265" y="1653672"/>
            <a:ext cx="8941335" cy="874407"/>
          </a:xfrm>
          <a:prstGeom prst="rect">
            <a:avLst/>
          </a:prstGeom>
          <a:noFill/>
        </p:spPr>
        <p:txBody>
          <a:bodyPr wrap="square" rtlCol="0">
            <a:spAutoFit/>
          </a:bodyPr>
          <a:lstStyle/>
          <a:p>
            <a:pPr algn="just">
              <a:lnSpc>
                <a:spcPct val="150000"/>
              </a:lnSpc>
            </a:pPr>
            <a:r>
              <a:rPr lang="zh-CN" altLang="en-US" kern="100" dirty="0">
                <a:latin typeface="微软雅黑" panose="020B0503020204020204" pitchFamily="34" charset="-122"/>
                <a:ea typeface="微软雅黑" panose="020B0503020204020204" pitchFamily="34" charset="-122"/>
              </a:rPr>
              <a:t>为了更好地理解偏振光，</a:t>
            </a:r>
            <a:r>
              <a:rPr lang="en-US" altLang="zh-CN" kern="100" dirty="0">
                <a:latin typeface="微软雅黑" panose="020B0503020204020204" pitchFamily="34" charset="-122"/>
                <a:ea typeface="微软雅黑" panose="020B0503020204020204" pitchFamily="34" charset="-122"/>
              </a:rPr>
              <a:t>1892</a:t>
            </a:r>
            <a:r>
              <a:rPr lang="zh-CN" altLang="en-US" kern="100" dirty="0">
                <a:latin typeface="微软雅黑" panose="020B0503020204020204" pitchFamily="34" charset="-122"/>
                <a:ea typeface="微软雅黑" panose="020B0503020204020204" pitchFamily="34" charset="-122"/>
              </a:rPr>
              <a:t>年法国数学家庞加莱（</a:t>
            </a:r>
            <a:r>
              <a:rPr lang="en-US" altLang="zh-CN" kern="100" dirty="0">
                <a:latin typeface="微软雅黑" panose="020B0503020204020204" pitchFamily="34" charset="-122"/>
                <a:ea typeface="微软雅黑" panose="020B0503020204020204" pitchFamily="34" charset="-122"/>
              </a:rPr>
              <a:t>J. H. </a:t>
            </a:r>
            <a:r>
              <a:rPr lang="en-US" altLang="zh-CN" kern="100" dirty="0" err="1">
                <a:latin typeface="微软雅黑" panose="020B0503020204020204" pitchFamily="34" charset="-122"/>
                <a:ea typeface="微软雅黑" panose="020B0503020204020204" pitchFamily="34" charset="-122"/>
              </a:rPr>
              <a:t>Poincaré</a:t>
            </a:r>
            <a:r>
              <a:rPr lang="zh-CN" altLang="en-US" kern="100" dirty="0">
                <a:latin typeface="微软雅黑" panose="020B0503020204020204" pitchFamily="34" charset="-122"/>
                <a:ea typeface="微软雅黑" panose="020B0503020204020204" pitchFamily="34" charset="-122"/>
              </a:rPr>
              <a:t>）提出了庞加莱球的概念。将</a:t>
            </a:r>
            <a:r>
              <a:rPr lang="zh-CN" altLang="en-US" b="1" kern="100" dirty="0">
                <a:solidFill>
                  <a:schemeClr val="accent1"/>
                </a:solidFill>
                <a:latin typeface="微软雅黑" panose="020B0503020204020204" pitchFamily="34" charset="-122"/>
                <a:ea typeface="微软雅黑" panose="020B0503020204020204" pitchFamily="34" charset="-122"/>
              </a:rPr>
              <a:t>斯托克斯矢量法图示化</a:t>
            </a:r>
            <a:r>
              <a:rPr lang="zh-CN" altLang="en-US" kern="100" dirty="0">
                <a:latin typeface="微软雅黑" panose="020B0503020204020204" pitchFamily="34" charset="-122"/>
                <a:ea typeface="微软雅黑" panose="020B0503020204020204" pitchFamily="34" charset="-122"/>
              </a:rPr>
              <a:t>，球体的三维坐标对应于斯托克斯矢量的</a:t>
            </a:r>
            <a:r>
              <a:rPr lang="en-US" altLang="zh-CN" kern="100" dirty="0">
                <a:latin typeface="微软雅黑" panose="020B0503020204020204" pitchFamily="34" charset="-122"/>
                <a:ea typeface="微软雅黑" panose="020B0503020204020204" pitchFamily="34" charset="-122"/>
              </a:rPr>
              <a:t>Q</a:t>
            </a:r>
            <a:r>
              <a:rPr lang="zh-CN" altLang="en-US" kern="100" dirty="0">
                <a:latin typeface="微软雅黑" panose="020B0503020204020204" pitchFamily="34" charset="-122"/>
                <a:ea typeface="微软雅黑" panose="020B0503020204020204" pitchFamily="34" charset="-122"/>
              </a:rPr>
              <a:t>、</a:t>
            </a:r>
            <a:r>
              <a:rPr lang="en-US" altLang="zh-CN" kern="100" dirty="0">
                <a:latin typeface="微软雅黑" panose="020B0503020204020204" pitchFamily="34" charset="-122"/>
                <a:ea typeface="微软雅黑" panose="020B0503020204020204" pitchFamily="34" charset="-122"/>
              </a:rPr>
              <a:t>U</a:t>
            </a:r>
            <a:r>
              <a:rPr lang="zh-CN" altLang="en-US" kern="100" dirty="0">
                <a:latin typeface="微软雅黑" panose="020B0503020204020204" pitchFamily="34" charset="-122"/>
                <a:ea typeface="微软雅黑" panose="020B0503020204020204" pitchFamily="34" charset="-122"/>
              </a:rPr>
              <a:t>、</a:t>
            </a:r>
            <a:r>
              <a:rPr lang="en-US" altLang="zh-CN" kern="100" dirty="0">
                <a:latin typeface="微软雅黑" panose="020B0503020204020204" pitchFamily="34" charset="-122"/>
                <a:ea typeface="微软雅黑" panose="020B0503020204020204" pitchFamily="34" charset="-122"/>
              </a:rPr>
              <a:t>V</a:t>
            </a:r>
            <a:r>
              <a:rPr lang="zh-CN" altLang="en-US" kern="100" dirty="0">
                <a:latin typeface="微软雅黑" panose="020B0503020204020204" pitchFamily="34" charset="-122"/>
                <a:ea typeface="微软雅黑" panose="020B0503020204020204" pitchFamily="34" charset="-122"/>
              </a:rPr>
              <a:t>。</a:t>
            </a:r>
            <a:endParaRPr lang="en-US" altLang="zh-CN" kern="1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639370" y="2905245"/>
            <a:ext cx="7774516" cy="263703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球体表面上的点代表了</a:t>
            </a:r>
            <a:r>
              <a:rPr lang="zh-CN" altLang="en-US" b="1" kern="100" dirty="0">
                <a:solidFill>
                  <a:srgbClr val="FF0000"/>
                </a:solidFill>
                <a:latin typeface="微软雅黑" panose="020B0503020204020204" pitchFamily="34" charset="-122"/>
                <a:ea typeface="微软雅黑" panose="020B0503020204020204" pitchFamily="34" charset="-122"/>
              </a:rPr>
              <a:t>完全偏振态</a:t>
            </a:r>
            <a:endParaRPr lang="en-US" altLang="zh-CN" kern="100"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其中赤道点表示</a:t>
            </a:r>
            <a:r>
              <a:rPr lang="zh-CN" altLang="en-US" b="1" kern="100" dirty="0">
                <a:solidFill>
                  <a:srgbClr val="FF0000"/>
                </a:solidFill>
                <a:latin typeface="微软雅黑" panose="020B0503020204020204" pitchFamily="34" charset="-122"/>
                <a:ea typeface="微软雅黑" panose="020B0503020204020204" pitchFamily="34" charset="-122"/>
              </a:rPr>
              <a:t>线偏振态</a:t>
            </a:r>
            <a:endParaRPr lang="en-US" altLang="zh-CN" b="1" kern="100" dirty="0">
              <a:solidFill>
                <a:srgbClr val="FF0000"/>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南北极点分别代表</a:t>
            </a:r>
            <a:r>
              <a:rPr lang="zh-CN" altLang="en-US" b="1" kern="100" dirty="0">
                <a:solidFill>
                  <a:srgbClr val="FF0000"/>
                </a:solidFill>
                <a:latin typeface="微软雅黑" panose="020B0503020204020204" pitchFamily="34" charset="-122"/>
                <a:ea typeface="微软雅黑" panose="020B0503020204020204" pitchFamily="34" charset="-122"/>
              </a:rPr>
              <a:t>右旋和左旋圆偏振态</a:t>
            </a:r>
            <a:endParaRPr lang="en-US" altLang="zh-CN" b="1" kern="100" dirty="0">
              <a:solidFill>
                <a:srgbClr val="FF0000"/>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其余部分代表</a:t>
            </a:r>
            <a:r>
              <a:rPr lang="zh-CN" altLang="en-US" b="1" kern="100" dirty="0">
                <a:solidFill>
                  <a:srgbClr val="FF0000"/>
                </a:solidFill>
                <a:latin typeface="微软雅黑" panose="020B0503020204020204" pitchFamily="34" charset="-122"/>
                <a:ea typeface="微软雅黑" panose="020B0503020204020204" pitchFamily="34" charset="-122"/>
              </a:rPr>
              <a:t>椭圆偏振态</a:t>
            </a:r>
            <a:endParaRPr lang="en-US" altLang="zh-CN" b="1" kern="100" dirty="0">
              <a:solidFill>
                <a:srgbClr val="FF0000"/>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并且南北半球分别表示</a:t>
            </a:r>
            <a:r>
              <a:rPr lang="zh-CN" altLang="en-US" b="1" kern="100" dirty="0">
                <a:solidFill>
                  <a:srgbClr val="FF0000"/>
                </a:solidFill>
                <a:latin typeface="微软雅黑" panose="020B0503020204020204" pitchFamily="34" charset="-122"/>
                <a:ea typeface="微软雅黑" panose="020B0503020204020204" pitchFamily="34" charset="-122"/>
              </a:rPr>
              <a:t>右旋和左旋椭圆偏振态</a:t>
            </a:r>
            <a:endParaRPr lang="en-US" altLang="zh-CN" b="1" kern="100" dirty="0">
              <a:solidFill>
                <a:srgbClr val="FF0000"/>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kern="100" dirty="0">
                <a:latin typeface="微软雅黑" panose="020B0503020204020204" pitchFamily="34" charset="-122"/>
                <a:ea typeface="微软雅黑" panose="020B0503020204020204" pitchFamily="34" charset="-122"/>
              </a:rPr>
              <a:t>球的内部点表示</a:t>
            </a:r>
            <a:r>
              <a:rPr lang="zh-CN" altLang="en-US" b="1" kern="100" dirty="0">
                <a:solidFill>
                  <a:srgbClr val="FF0000"/>
                </a:solidFill>
                <a:latin typeface="微软雅黑" panose="020B0503020204020204" pitchFamily="34" charset="-122"/>
                <a:ea typeface="微软雅黑" panose="020B0503020204020204" pitchFamily="34" charset="-122"/>
              </a:rPr>
              <a:t>部分偏振态</a:t>
            </a:r>
            <a:r>
              <a:rPr lang="zh-CN" altLang="en-US" kern="100" dirty="0">
                <a:latin typeface="微软雅黑" panose="020B0503020204020204" pitchFamily="34" charset="-122"/>
                <a:ea typeface="微软雅黑" panose="020B0503020204020204" pitchFamily="34" charset="-122"/>
              </a:rPr>
              <a:t>，而球心则表示</a:t>
            </a:r>
            <a:r>
              <a:rPr lang="zh-CN" altLang="en-US" b="1" kern="100" dirty="0">
                <a:solidFill>
                  <a:srgbClr val="FF0000"/>
                </a:solidFill>
                <a:latin typeface="微软雅黑" panose="020B0503020204020204" pitchFamily="34" charset="-122"/>
                <a:ea typeface="微软雅黑" panose="020B0503020204020204" pitchFamily="34" charset="-122"/>
              </a:rPr>
              <a:t>完全非偏振态</a:t>
            </a:r>
            <a:endParaRPr lang="en-US" altLang="zh-CN" b="1" kern="1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282327" y="278793"/>
            <a:ext cx="10399395" cy="645160"/>
          </a:xfrm>
          <a:prstGeom prst="rect">
            <a:avLst/>
          </a:prstGeom>
          <a:noFill/>
        </p:spPr>
        <p:txBody>
          <a:bodyPr wrap="square" rtlCol="0">
            <a:spAutoFit/>
          </a:bodyPr>
          <a:lstStyle/>
          <a:p>
            <a:pPr algn="ctr" fontAlgn="auto">
              <a:lnSpc>
                <a:spcPct val="100000"/>
              </a:lnSpc>
            </a:pPr>
            <a:r>
              <a:rPr kumimoji="1" lang="zh-CN" altLang="en-US" sz="3600" b="1" dirty="0">
                <a:latin typeface="微软雅黑" panose="020B0503020204020204" pitchFamily="34" charset="-122"/>
                <a:ea typeface="微软雅黑" panose="020B0503020204020204" pitchFamily="34" charset="-122"/>
              </a:rPr>
              <a:t>教学单元</a:t>
            </a:r>
            <a:endParaRPr kumimoji="1" lang="en-US" altLang="zh-CN" sz="36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233124" y="1729246"/>
            <a:ext cx="6508376" cy="4030980"/>
          </a:xfrm>
          <a:prstGeom prst="rect">
            <a:avLst/>
          </a:prstGeom>
          <a:noFill/>
        </p:spPr>
        <p:txBody>
          <a:bodyPr wrap="square" rtlCol="0">
            <a:spAutoFit/>
          </a:bodyPr>
          <a:lstStyle/>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2.1  </a:t>
            </a:r>
            <a:r>
              <a:rPr lang="zh-CN" altLang="en-US" sz="3200" b="1" dirty="0">
                <a:solidFill>
                  <a:srgbClr val="002060"/>
                </a:solidFill>
                <a:latin typeface="微软雅黑" panose="020B0503020204020204" pitchFamily="34" charset="-122"/>
                <a:ea typeface="微软雅黑" panose="020B0503020204020204" pitchFamily="34" charset="-122"/>
                <a:sym typeface="+mn-ea"/>
              </a:rPr>
              <a:t>光及其基本特性</a:t>
            </a:r>
            <a:endParaRPr lang="en-US" altLang="zh-CN" sz="3200" b="1" dirty="0">
              <a:solidFill>
                <a:srgbClr val="002060"/>
              </a:solidFill>
              <a:latin typeface="微软雅黑" panose="020B0503020204020204" pitchFamily="34" charset="-122"/>
              <a:ea typeface="微软雅黑" panose="020B0503020204020204" pitchFamily="34" charset="-122"/>
            </a:endParaRPr>
          </a:p>
          <a:p>
            <a:pPr>
              <a:lnSpc>
                <a:spcPct val="200000"/>
              </a:lnSpc>
            </a:pPr>
            <a:r>
              <a:rPr lang="en-US" altLang="zh-CN" sz="3200" b="1" dirty="0">
                <a:solidFill>
                  <a:srgbClr val="C00000"/>
                </a:solidFill>
                <a:latin typeface="微软雅黑" panose="020B0503020204020204" pitchFamily="34" charset="-122"/>
                <a:ea typeface="微软雅黑" panose="020B0503020204020204" pitchFamily="34" charset="-122"/>
              </a:rPr>
              <a:t>2.2  </a:t>
            </a:r>
            <a:r>
              <a:rPr lang="zh-CN" altLang="en-US" sz="3200" b="1" dirty="0">
                <a:solidFill>
                  <a:srgbClr val="C00000"/>
                </a:solidFill>
                <a:latin typeface="微软雅黑" panose="020B0503020204020204" pitchFamily="34" charset="-122"/>
                <a:ea typeface="微软雅黑" panose="020B0503020204020204" pitchFamily="34" charset="-122"/>
                <a:sym typeface="+mn-ea"/>
              </a:rPr>
              <a:t>海水及其光学特性</a:t>
            </a:r>
            <a:endParaRPr lang="en-US" altLang="zh-CN" sz="3200" b="1" dirty="0">
              <a:solidFill>
                <a:srgbClr val="C00000"/>
              </a:solidFill>
              <a:latin typeface="微软雅黑" panose="020B0503020204020204" pitchFamily="34" charset="-122"/>
              <a:ea typeface="微软雅黑" panose="020B0503020204020204" pitchFamily="34" charset="-122"/>
            </a:endParaRPr>
          </a:p>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2.3  </a:t>
            </a:r>
            <a:r>
              <a:rPr lang="zh-CN" altLang="en-US" sz="3200" b="1" dirty="0">
                <a:solidFill>
                  <a:srgbClr val="002060"/>
                </a:solidFill>
                <a:latin typeface="微软雅黑" panose="020B0503020204020204" pitchFamily="34" charset="-122"/>
                <a:ea typeface="微软雅黑" panose="020B0503020204020204" pitchFamily="34" charset="-122"/>
                <a:sym typeface="+mn-ea"/>
              </a:rPr>
              <a:t>光电系统基础</a:t>
            </a:r>
            <a:endParaRPr lang="en-US" altLang="zh-CN" sz="3200" b="1" dirty="0">
              <a:solidFill>
                <a:srgbClr val="002060"/>
              </a:solidFill>
              <a:latin typeface="微软雅黑" panose="020B0503020204020204" pitchFamily="34" charset="-122"/>
              <a:ea typeface="微软雅黑" panose="020B0503020204020204" pitchFamily="34" charset="-122"/>
            </a:endParaRPr>
          </a:p>
          <a:p>
            <a:pPr>
              <a:lnSpc>
                <a:spcPct val="200000"/>
              </a:lnSpc>
            </a:pPr>
            <a:endParaRPr lang="zh-CN" altLang="en-US" sz="3200" b="1" dirty="0">
              <a:solidFill>
                <a:srgbClr val="002060"/>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1CC0675-18FD-1549-AA90-64430E7AA6D4}" type="slidenum">
              <a:rPr kumimoji="1" lang="zh-CN" altLang="en-US" smtClean="0"/>
              <a:t>23</a:t>
            </a:fld>
            <a:endParaRPr kumimoji="1"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2.2.1  </a:t>
            </a:r>
            <a:r>
              <a:rPr lang="zh-CN" altLang="en-US" b="1" dirty="0">
                <a:solidFill>
                  <a:srgbClr val="002060"/>
                </a:solidFill>
              </a:rPr>
              <a:t>海水主要成分</a:t>
            </a:r>
          </a:p>
        </p:txBody>
      </p:sp>
      <p:sp>
        <p:nvSpPr>
          <p:cNvPr id="2" name="矩形 1"/>
          <p:cNvSpPr/>
          <p:nvPr/>
        </p:nvSpPr>
        <p:spPr>
          <a:xfrm>
            <a:off x="600" y="6465020"/>
            <a:ext cx="22167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2.2  </a:t>
            </a:r>
            <a:r>
              <a:rPr lang="zh-CN" altLang="en-US" sz="1600" dirty="0">
                <a:solidFill>
                  <a:srgbClr val="002060"/>
                </a:solidFill>
                <a:latin typeface="微软雅黑" panose="020B0503020204020204" pitchFamily="34" charset="-122"/>
                <a:ea typeface="微软雅黑" panose="020B0503020204020204" pitchFamily="34" charset="-122"/>
              </a:rPr>
              <a:t>海水及其光学特性</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24</a:t>
            </a:fld>
            <a:endParaRPr kumimoji="1" lang="zh-CN" altLang="en-US"/>
          </a:p>
        </p:txBody>
      </p:sp>
      <p:sp>
        <p:nvSpPr>
          <p:cNvPr id="7" name="矩形 6"/>
          <p:cNvSpPr/>
          <p:nvPr/>
        </p:nvSpPr>
        <p:spPr>
          <a:xfrm>
            <a:off x="439024" y="1172072"/>
            <a:ext cx="11381064" cy="1705403"/>
          </a:xfrm>
          <a:prstGeom prst="rect">
            <a:avLst/>
          </a:prstGeom>
        </p:spPr>
        <p:txBody>
          <a:bodyPr wrap="square">
            <a:spAutoFit/>
          </a:bodyPr>
          <a:lstStyle/>
          <a:p>
            <a:pPr indent="304800" algn="just">
              <a:lnSpc>
                <a:spcPct val="150000"/>
              </a:lnSpc>
              <a:spcBef>
                <a:spcPts val="150"/>
              </a:spcBef>
              <a:spcAft>
                <a:spcPts val="0"/>
              </a:spcAft>
            </a:pP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0" dirty="0">
                <a:latin typeface="微软雅黑" panose="020B0503020204020204" pitchFamily="34" charset="-122"/>
                <a:ea typeface="微软雅黑" panose="020B0503020204020204" pitchFamily="34" charset="-122"/>
                <a:cs typeface="Times New Roman" panose="02020603050405020304" pitchFamily="18" charset="0"/>
              </a:rPr>
              <a:t>海水是一个复杂的化学体系，最主要的成分是水和无机盐类。海水的盐度通常在</a:t>
            </a: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35‰</a:t>
            </a:r>
            <a:r>
              <a:rPr lang="zh-CN" altLang="zh-CN" kern="0" dirty="0">
                <a:latin typeface="微软雅黑" panose="020B0503020204020204" pitchFamily="34" charset="-122"/>
                <a:ea typeface="微软雅黑" panose="020B0503020204020204" pitchFamily="34" charset="-122"/>
                <a:cs typeface="Times New Roman" panose="02020603050405020304" pitchFamily="18" charset="0"/>
              </a:rPr>
              <a:t>左右，其中，氯化钠（即食盐）是海水中含量最高的盐分，在海水总盐分占比接近</a:t>
            </a: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80%</a:t>
            </a:r>
            <a:r>
              <a:rPr lang="zh-CN" altLang="zh-CN" kern="0" dirty="0">
                <a:latin typeface="微软雅黑" panose="020B0503020204020204" pitchFamily="34" charset="-122"/>
                <a:ea typeface="微软雅黑" panose="020B0503020204020204" pitchFamily="34" charset="-122"/>
                <a:cs typeface="Times New Roman" panose="02020603050405020304" pitchFamily="18" charset="0"/>
              </a:rPr>
              <a:t>。除了无机盐类，海水中还含有少量的有机质，如氨基酸、腐殖质、叶绿素等，主要以溶解态和胶体态存在，少部分为颗粒有机质。此外，海水中还溶解有氧气、二氧化碳等气体，这些气体的含量虽然相对较少，但对海洋生态系统和海洋化学过程都起着重要作用。</a:t>
            </a:r>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9" name="表格 8"/>
          <p:cNvGraphicFramePr>
            <a:graphicFrameLocks noGrp="1"/>
          </p:cNvGraphicFramePr>
          <p:nvPr/>
        </p:nvGraphicFramePr>
        <p:xfrm>
          <a:off x="1219200" y="3307372"/>
          <a:ext cx="9897010" cy="3048977"/>
        </p:xfrm>
        <a:graphic>
          <a:graphicData uri="http://schemas.openxmlformats.org/drawingml/2006/table">
            <a:tbl>
              <a:tblPr firstRow="1" bandRow="1">
                <a:tableStyleId>{7DF18680-E054-41AD-8BC1-D1AEF772440D}</a:tableStyleId>
              </a:tblPr>
              <a:tblGrid>
                <a:gridCol w="1318354">
                  <a:extLst>
                    <a:ext uri="{9D8B030D-6E8A-4147-A177-3AD203B41FA5}">
                      <a16:colId xmlns:a16="http://schemas.microsoft.com/office/drawing/2014/main" val="20000"/>
                    </a:ext>
                  </a:extLst>
                </a:gridCol>
                <a:gridCol w="4289328">
                  <a:extLst>
                    <a:ext uri="{9D8B030D-6E8A-4147-A177-3AD203B41FA5}">
                      <a16:colId xmlns:a16="http://schemas.microsoft.com/office/drawing/2014/main" val="20001"/>
                    </a:ext>
                  </a:extLst>
                </a:gridCol>
                <a:gridCol w="4289328">
                  <a:extLst>
                    <a:ext uri="{9D8B030D-6E8A-4147-A177-3AD203B41FA5}">
                      <a16:colId xmlns:a16="http://schemas.microsoft.com/office/drawing/2014/main" val="20002"/>
                    </a:ext>
                  </a:extLst>
                </a:gridCol>
              </a:tblGrid>
              <a:tr h="261871">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类别</a:t>
                      </a:r>
                      <a:endParaRPr lang="zh-CN" alt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例子</a:t>
                      </a:r>
                      <a:endParaRPr lang="zh-CN" alt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浓度范围</a:t>
                      </a:r>
                      <a:endParaRPr lang="zh-CN" alt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0000"/>
                  </a:ext>
                </a:extLst>
              </a:tr>
              <a:tr h="330483">
                <a:tc rowSpan="2">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常量元素</a:t>
                      </a:r>
                      <a:endParaRPr lang="zh-CN" alt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Cl</a:t>
                      </a:r>
                      <a:r>
                        <a:rPr lang="en-US" sz="1600" u="none" strike="noStrike" baseline="30000" dirty="0">
                          <a:effectLst/>
                          <a:latin typeface="微软雅黑" panose="020B0503020204020204" pitchFamily="34" charset="-122"/>
                          <a:ea typeface="微软雅黑" panose="020B0503020204020204" pitchFamily="34" charset="-122"/>
                        </a:rPr>
                        <a:t>-</a:t>
                      </a:r>
                      <a:r>
                        <a:rPr lang="en-US" sz="1600" u="none" strike="noStrike" dirty="0">
                          <a:effectLst/>
                          <a:latin typeface="微软雅黑" panose="020B0503020204020204" pitchFamily="34" charset="-122"/>
                          <a:ea typeface="微软雅黑" panose="020B0503020204020204" pitchFamily="34" charset="-122"/>
                        </a:rPr>
                        <a:t>、Na</a:t>
                      </a:r>
                      <a:r>
                        <a:rPr lang="en-US" sz="1600" u="none" strike="noStrike" baseline="30000" dirty="0">
                          <a:effectLst/>
                          <a:latin typeface="微软雅黑" panose="020B0503020204020204" pitchFamily="34" charset="-122"/>
                          <a:ea typeface="微软雅黑" panose="020B0503020204020204" pitchFamily="34" charset="-122"/>
                        </a:rPr>
                        <a:t>+</a:t>
                      </a:r>
                      <a:r>
                        <a:rPr lang="en-US" sz="1600" u="none" strike="noStrike" dirty="0">
                          <a:effectLst/>
                          <a:latin typeface="微软雅黑" panose="020B0503020204020204" pitchFamily="34" charset="-122"/>
                          <a:ea typeface="微软雅黑" panose="020B0503020204020204" pitchFamily="34" charset="-122"/>
                        </a:rPr>
                        <a:t>、Mg</a:t>
                      </a:r>
                      <a:r>
                        <a:rPr lang="en-US" sz="1600" u="none" strike="noStrike" baseline="30000" dirty="0">
                          <a:effectLst/>
                          <a:latin typeface="微软雅黑" panose="020B0503020204020204" pitchFamily="34" charset="-122"/>
                          <a:ea typeface="微软雅黑" panose="020B0503020204020204" pitchFamily="34" charset="-122"/>
                        </a:rPr>
                        <a:t>2+</a:t>
                      </a:r>
                      <a:r>
                        <a:rPr lang="zh-CN" altLang="en-US" sz="1600" u="none" strike="noStrike" dirty="0">
                          <a:effectLst/>
                          <a:latin typeface="微软雅黑" panose="020B0503020204020204" pitchFamily="34" charset="-122"/>
                          <a:ea typeface="微软雅黑" panose="020B0503020204020204" pitchFamily="34" charset="-122"/>
                        </a:rPr>
                        <a:t>、</a:t>
                      </a:r>
                      <a:r>
                        <a:rPr lang="en-US" sz="1600" u="none" strike="noStrike" dirty="0">
                          <a:effectLst/>
                          <a:latin typeface="微软雅黑" panose="020B0503020204020204" pitchFamily="34" charset="-122"/>
                          <a:ea typeface="微软雅黑" panose="020B0503020204020204" pitchFamily="34" charset="-122"/>
                        </a:rPr>
                        <a:t>SO</a:t>
                      </a:r>
                      <a:r>
                        <a:rPr lang="en-US" sz="1600" u="none" strike="noStrike" baseline="-25000" dirty="0">
                          <a:effectLst/>
                          <a:latin typeface="微软雅黑" panose="020B0503020204020204" pitchFamily="34" charset="-122"/>
                          <a:ea typeface="微软雅黑" panose="020B0503020204020204" pitchFamily="34" charset="-122"/>
                        </a:rPr>
                        <a:t>4</a:t>
                      </a:r>
                      <a:r>
                        <a:rPr lang="en-US" sz="1600" u="none" strike="noStrike" baseline="30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、Ca</a:t>
                      </a:r>
                      <a:r>
                        <a:rPr lang="en-US" sz="1600" u="none" strike="noStrike" baseline="30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、K</a:t>
                      </a:r>
                      <a:r>
                        <a:rPr lang="en-US" sz="1600" u="none" strike="noStrike" baseline="30000" dirty="0">
                          <a:effectLst/>
                          <a:latin typeface="微软雅黑" panose="020B0503020204020204" pitchFamily="34" charset="-122"/>
                          <a:ea typeface="微软雅黑" panose="020B0503020204020204" pitchFamily="34" charset="-122"/>
                        </a:rPr>
                        <a:t>+</a:t>
                      </a:r>
                      <a:endParaRPr lang="en-US" sz="1600" b="0" i="0" u="none" strike="noStrike" baseline="30000"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mmol/</a:t>
                      </a:r>
                      <a:r>
                        <a:rPr lang="en-US" altLang="zh-CN" sz="1600" u="none" strike="noStrike" dirty="0">
                          <a:effectLst/>
                          <a:latin typeface="微软雅黑" panose="020B0503020204020204" pitchFamily="34" charset="-122"/>
                          <a:ea typeface="微软雅黑" panose="020B0503020204020204" pitchFamily="34" charset="-122"/>
                        </a:rPr>
                        <a:t>L</a:t>
                      </a:r>
                      <a:endParaRPr 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0001"/>
                  </a:ext>
                </a:extLst>
              </a:tr>
              <a:tr h="330483">
                <a:tc vMerge="1">
                  <a:txBody>
                    <a:bodyPr/>
                    <a:lstStyle/>
                    <a:p>
                      <a:endParaRPr lang="zh-CN"/>
                    </a:p>
                  </a:txBody>
                  <a:tcPr marL="9525" marR="9525" marT="9525" marB="0" anchor="ct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HCO</a:t>
                      </a:r>
                      <a:r>
                        <a:rPr lang="en-US" sz="1600" u="none" strike="noStrike" baseline="30000" dirty="0">
                          <a:effectLst/>
                          <a:latin typeface="微软雅黑" panose="020B0503020204020204" pitchFamily="34" charset="-122"/>
                          <a:ea typeface="微软雅黑" panose="020B0503020204020204" pitchFamily="34" charset="-122"/>
                        </a:rPr>
                        <a:t>3-</a:t>
                      </a:r>
                      <a:r>
                        <a:rPr lang="en-US" sz="1600" u="none" strike="noStrike" dirty="0">
                          <a:effectLst/>
                          <a:latin typeface="微软雅黑" panose="020B0503020204020204" pitchFamily="34" charset="-122"/>
                          <a:ea typeface="微软雅黑" panose="020B0503020204020204" pitchFamily="34" charset="-122"/>
                        </a:rPr>
                        <a:t>、Br</a:t>
                      </a:r>
                      <a:r>
                        <a:rPr lang="en-US" sz="1600" u="none" strike="noStrike" baseline="30000" dirty="0">
                          <a:effectLst/>
                          <a:latin typeface="微软雅黑" panose="020B0503020204020204" pitchFamily="34" charset="-122"/>
                          <a:ea typeface="微软雅黑" panose="020B0503020204020204" pitchFamily="34" charset="-122"/>
                        </a:rPr>
                        <a:t>-</a:t>
                      </a:r>
                      <a:r>
                        <a:rPr lang="en-US" sz="1600" u="none" strike="noStrike" dirty="0">
                          <a:effectLst/>
                          <a:latin typeface="微软雅黑" panose="020B0503020204020204" pitchFamily="34" charset="-122"/>
                          <a:ea typeface="微软雅黑" panose="020B0503020204020204" pitchFamily="34" charset="-122"/>
                        </a:rPr>
                        <a:t>、Sr</a:t>
                      </a:r>
                      <a:r>
                        <a:rPr lang="en-US" sz="1600" u="none" strike="noStrike" baseline="30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、F</a:t>
                      </a:r>
                      <a:r>
                        <a:rPr lang="en-US" sz="1600" u="none" strike="noStrike" baseline="30000" dirty="0">
                          <a:effectLst/>
                          <a:latin typeface="微软雅黑" panose="020B0503020204020204" pitchFamily="34" charset="-122"/>
                          <a:ea typeface="微软雅黑" panose="020B0503020204020204" pitchFamily="34" charset="-122"/>
                        </a:rPr>
                        <a:t>-</a:t>
                      </a:r>
                      <a:r>
                        <a:rPr lang="en-US" sz="1600" u="none" strike="noStrike" dirty="0">
                          <a:effectLst/>
                          <a:latin typeface="微软雅黑" panose="020B0503020204020204" pitchFamily="34" charset="-122"/>
                          <a:ea typeface="微软雅黑" panose="020B0503020204020204" pitchFamily="34" charset="-122"/>
                        </a:rPr>
                        <a:t>、H</a:t>
                      </a:r>
                      <a:r>
                        <a:rPr lang="en-US" sz="1600" u="none" strike="noStrike" baseline="-25000" dirty="0">
                          <a:effectLst/>
                          <a:latin typeface="微软雅黑" panose="020B0503020204020204" pitchFamily="34" charset="-122"/>
                          <a:ea typeface="微软雅黑" panose="020B0503020204020204" pitchFamily="34" charset="-122"/>
                        </a:rPr>
                        <a:t>3</a:t>
                      </a:r>
                      <a:r>
                        <a:rPr lang="en-US" sz="1600" u="none" strike="noStrike" dirty="0">
                          <a:effectLst/>
                          <a:latin typeface="微软雅黑" panose="020B0503020204020204" pitchFamily="34" charset="-122"/>
                          <a:ea typeface="微软雅黑" panose="020B0503020204020204" pitchFamily="34" charset="-122"/>
                        </a:rPr>
                        <a:t>BO</a:t>
                      </a:r>
                      <a:r>
                        <a:rPr lang="en-US" sz="1600" u="none" strike="noStrike" baseline="-25000" dirty="0">
                          <a:effectLst/>
                          <a:latin typeface="微软雅黑" panose="020B0503020204020204" pitchFamily="34" charset="-122"/>
                          <a:ea typeface="微软雅黑" panose="020B0503020204020204" pitchFamily="34" charset="-122"/>
                        </a:rPr>
                        <a:t>3</a:t>
                      </a:r>
                      <a:endParaRPr lang="en-US" sz="1600" b="0" i="0" u="none" strike="noStrike" baseline="-25000"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umol/L</a:t>
                      </a:r>
                      <a:endParaRPr 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0002"/>
                  </a:ext>
                </a:extLst>
              </a:tr>
              <a:tr h="513719">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气体</a:t>
                      </a:r>
                      <a:endParaRPr lang="zh-CN" alt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N</a:t>
                      </a:r>
                      <a:r>
                        <a:rPr lang="en-US" sz="1600" u="none" strike="noStrike" baseline="-25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、O</a:t>
                      </a:r>
                      <a:r>
                        <a:rPr lang="en-US" sz="1600" u="none" strike="noStrike" baseline="-25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、Ar、CO</a:t>
                      </a:r>
                      <a:r>
                        <a:rPr lang="en-US" sz="1600" u="none" strike="noStrike" baseline="-25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、N</a:t>
                      </a:r>
                      <a:r>
                        <a:rPr lang="en-US" sz="1600" u="none" strike="noStrike" baseline="-25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O、(CH</a:t>
                      </a:r>
                      <a:r>
                        <a:rPr lang="en-US" sz="1600" u="none" strike="noStrike" baseline="-25000" dirty="0">
                          <a:effectLst/>
                          <a:latin typeface="微软雅黑" panose="020B0503020204020204" pitchFamily="34" charset="-122"/>
                          <a:ea typeface="微软雅黑" panose="020B0503020204020204" pitchFamily="34" charset="-122"/>
                        </a:rPr>
                        <a:t>3</a:t>
                      </a:r>
                      <a:r>
                        <a:rPr lang="en-US" sz="1600" u="none" strike="noStrike" dirty="0">
                          <a:effectLst/>
                          <a:latin typeface="微软雅黑" panose="020B0503020204020204" pitchFamily="34" charset="-122"/>
                          <a:ea typeface="微软雅黑" panose="020B0503020204020204" pitchFamily="34" charset="-122"/>
                        </a:rPr>
                        <a:t>)</a:t>
                      </a:r>
                      <a:r>
                        <a:rPr lang="en-US" sz="1600" u="none" strike="noStrike" baseline="-25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S、H</a:t>
                      </a:r>
                      <a:r>
                        <a:rPr lang="en-US" sz="1600" u="none" strike="noStrike" baseline="-25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S、H</a:t>
                      </a:r>
                      <a:r>
                        <a:rPr lang="en-US" sz="1600" u="none" strike="noStrike" baseline="-25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、CH</a:t>
                      </a:r>
                      <a:r>
                        <a:rPr lang="en-US" sz="1600" u="none" strike="noStrike" baseline="-25000" dirty="0">
                          <a:effectLst/>
                          <a:latin typeface="微软雅黑" panose="020B0503020204020204" pitchFamily="34" charset="-122"/>
                          <a:ea typeface="微软雅黑" panose="020B0503020204020204" pitchFamily="34" charset="-122"/>
                        </a:rPr>
                        <a:t>4</a:t>
                      </a:r>
                      <a:endParaRPr lang="en-US" sz="1600" b="0" i="0" u="none" strike="noStrike" baseline="-25000"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nmol/L ~mmol/L</a:t>
                      </a:r>
                      <a:endParaRPr 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0003"/>
                  </a:ext>
                </a:extLst>
              </a:tr>
              <a:tr h="330483">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营养盐</a:t>
                      </a:r>
                      <a:endParaRPr lang="zh-CN" alt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NO</a:t>
                      </a:r>
                      <a:r>
                        <a:rPr lang="en-US" sz="1600" u="none" strike="noStrike" baseline="-25000" dirty="0">
                          <a:effectLst/>
                          <a:latin typeface="微软雅黑" panose="020B0503020204020204" pitchFamily="34" charset="-122"/>
                          <a:ea typeface="微软雅黑" panose="020B0503020204020204" pitchFamily="34" charset="-122"/>
                        </a:rPr>
                        <a:t>3</a:t>
                      </a:r>
                      <a:r>
                        <a:rPr lang="en-US" sz="1600" u="none" strike="noStrike" dirty="0">
                          <a:effectLst/>
                          <a:latin typeface="微软雅黑" panose="020B0503020204020204" pitchFamily="34" charset="-122"/>
                          <a:ea typeface="微软雅黑" panose="020B0503020204020204" pitchFamily="34" charset="-122"/>
                        </a:rPr>
                        <a:t>、NO</a:t>
                      </a:r>
                      <a:r>
                        <a:rPr lang="en-US" sz="1600" u="none" strike="noStrike" baseline="-25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、NH</a:t>
                      </a:r>
                      <a:r>
                        <a:rPr lang="en-US" sz="1600" u="none" strike="noStrike" baseline="30000" dirty="0">
                          <a:effectLst/>
                          <a:latin typeface="微软雅黑" panose="020B0503020204020204" pitchFamily="34" charset="-122"/>
                          <a:ea typeface="微软雅黑" panose="020B0503020204020204" pitchFamily="34" charset="-122"/>
                        </a:rPr>
                        <a:t>4+</a:t>
                      </a:r>
                      <a:r>
                        <a:rPr lang="en-US" sz="1600" u="none" strike="noStrike" dirty="0">
                          <a:effectLst/>
                          <a:latin typeface="微软雅黑" panose="020B0503020204020204" pitchFamily="34" charset="-122"/>
                          <a:ea typeface="微软雅黑" panose="020B0503020204020204" pitchFamily="34" charset="-122"/>
                        </a:rPr>
                        <a:t>、PO</a:t>
                      </a:r>
                      <a:r>
                        <a:rPr lang="en-US" sz="1600" u="none" strike="noStrike" baseline="30000" dirty="0">
                          <a:effectLst/>
                          <a:latin typeface="微软雅黑" panose="020B0503020204020204" pitchFamily="34" charset="-122"/>
                          <a:ea typeface="微软雅黑" panose="020B0503020204020204" pitchFamily="34" charset="-122"/>
                        </a:rPr>
                        <a:t>2-</a:t>
                      </a:r>
                      <a:r>
                        <a:rPr lang="en-US" sz="1600" u="none" strike="noStrike" dirty="0">
                          <a:effectLst/>
                          <a:latin typeface="微软雅黑" panose="020B0503020204020204" pitchFamily="34" charset="-122"/>
                          <a:ea typeface="微软雅黑" panose="020B0503020204020204" pitchFamily="34" charset="-122"/>
                        </a:rPr>
                        <a:t>、H</a:t>
                      </a:r>
                      <a:r>
                        <a:rPr lang="en-US" sz="1600" u="none" strike="noStrike" baseline="-25000" dirty="0">
                          <a:effectLst/>
                          <a:latin typeface="微软雅黑" panose="020B0503020204020204" pitchFamily="34" charset="-122"/>
                          <a:ea typeface="微软雅黑" panose="020B0503020204020204" pitchFamily="34" charset="-122"/>
                        </a:rPr>
                        <a:t>4</a:t>
                      </a:r>
                      <a:r>
                        <a:rPr lang="en-US" sz="1600" u="none" strike="noStrike" dirty="0">
                          <a:effectLst/>
                          <a:latin typeface="微软雅黑" panose="020B0503020204020204" pitchFamily="34" charset="-122"/>
                          <a:ea typeface="微软雅黑" panose="020B0503020204020204" pitchFamily="34" charset="-122"/>
                        </a:rPr>
                        <a:t>SiO</a:t>
                      </a:r>
                      <a:r>
                        <a:rPr lang="en-US" sz="1600" u="none" strike="noStrike" baseline="-25000" dirty="0">
                          <a:effectLst/>
                          <a:latin typeface="微软雅黑" panose="020B0503020204020204" pitchFamily="34" charset="-122"/>
                          <a:ea typeface="微软雅黑" panose="020B0503020204020204" pitchFamily="34" charset="-122"/>
                        </a:rPr>
                        <a:t>4</a:t>
                      </a:r>
                      <a:endParaRPr lang="en-US" sz="1600" b="0" i="0" u="none" strike="noStrike" baseline="-25000"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umol/L</a:t>
                      </a:r>
                      <a:endParaRPr 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0004"/>
                  </a:ext>
                </a:extLst>
              </a:tr>
              <a:tr h="439028">
                <a:tc>
                  <a:txBody>
                    <a:bodyPr/>
                    <a:lstStyle/>
                    <a:p>
                      <a:pPr algn="ctr" fontAlgn="ctr"/>
                      <a:r>
                        <a:rPr lang="zh-CN" altLang="en-US" sz="1600" u="none" strike="noStrike">
                          <a:effectLst/>
                          <a:latin typeface="微软雅黑" panose="020B0503020204020204" pitchFamily="34" charset="-122"/>
                          <a:ea typeface="微软雅黑" panose="020B0503020204020204" pitchFamily="34" charset="-122"/>
                        </a:rPr>
                        <a:t>痕量金属</a:t>
                      </a:r>
                      <a:endParaRPr lang="zh-CN" altLang="en-US" sz="1600" b="0" i="0" u="none" strike="noStrike">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Ni、Li、Fe、Mn、Zn、Pb、Cu、Co、U、Hg</a:t>
                      </a:r>
                      <a:endParaRPr 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l-GR" sz="1600" u="none" strike="noStrike" dirty="0">
                          <a:effectLst/>
                          <a:latin typeface="微软雅黑" panose="020B0503020204020204" pitchFamily="34" charset="-122"/>
                          <a:ea typeface="微软雅黑" panose="020B0503020204020204" pitchFamily="34" charset="-122"/>
                        </a:rPr>
                        <a:t>&lt;0.05 μ</a:t>
                      </a:r>
                      <a:r>
                        <a:rPr lang="en-US" sz="1600" u="none" strike="noStrike" dirty="0">
                          <a:effectLst/>
                          <a:latin typeface="微软雅黑" panose="020B0503020204020204" pitchFamily="34" charset="-122"/>
                          <a:ea typeface="微软雅黑" panose="020B0503020204020204" pitchFamily="34" charset="-122"/>
                        </a:rPr>
                        <a:t>mol/L</a:t>
                      </a:r>
                      <a:endParaRPr 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0005"/>
                  </a:ext>
                </a:extLst>
              </a:tr>
              <a:tr h="319350">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溶解有机物质</a:t>
                      </a:r>
                      <a:endParaRPr lang="zh-CN" alt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氨基酸、腐殖酸</a:t>
                      </a:r>
                      <a:endParaRPr lang="zh-CN" alt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ng/L ~ mg/L</a:t>
                      </a:r>
                      <a:endParaRPr 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0006"/>
                  </a:ext>
                </a:extLst>
              </a:tr>
              <a:tr h="261780">
                <a:tc>
                  <a:txBody>
                    <a:bodyPr/>
                    <a:lstStyle/>
                    <a:p>
                      <a:pPr algn="ctr" fontAlgn="ctr"/>
                      <a:r>
                        <a:rPr lang="zh-CN" altLang="en-US" sz="1600" u="none" strike="noStrike">
                          <a:effectLst/>
                          <a:latin typeface="微软雅黑" panose="020B0503020204020204" pitchFamily="34" charset="-122"/>
                          <a:ea typeface="微软雅黑" panose="020B0503020204020204" pitchFamily="34" charset="-122"/>
                        </a:rPr>
                        <a:t>胶体</a:t>
                      </a:r>
                      <a:endParaRPr lang="zh-CN" altLang="en-US" sz="1600" b="0" i="0" u="none" strike="noStrike">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zh-CN" altLang="en-US" sz="1600" u="none" strike="noStrike">
                          <a:effectLst/>
                          <a:latin typeface="微软雅黑" panose="020B0503020204020204" pitchFamily="34" charset="-122"/>
                          <a:ea typeface="微软雅黑" panose="020B0503020204020204" pitchFamily="34" charset="-122"/>
                        </a:rPr>
                        <a:t>多糖、蛋白质</a:t>
                      </a:r>
                      <a:endParaRPr lang="zh-CN" altLang="en-US" sz="1600" b="0" i="0" u="none" strike="noStrike">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600" u="none" strike="noStrike" dirty="0">
                          <a:effectLst/>
                          <a:latin typeface="微软雅黑" panose="020B0503020204020204" pitchFamily="34" charset="-122"/>
                          <a:ea typeface="微软雅黑" panose="020B0503020204020204" pitchFamily="34" charset="-122"/>
                        </a:rPr>
                        <a:t>≤mg/ L</a:t>
                      </a:r>
                      <a:endParaRPr 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0007"/>
                  </a:ext>
                </a:extLst>
              </a:tr>
              <a:tr h="261780">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颗粒物质</a:t>
                      </a:r>
                      <a:endParaRPr lang="zh-CN" alt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zh-CN" altLang="en-US" sz="1600" u="none" strike="noStrike" dirty="0">
                          <a:effectLst/>
                          <a:latin typeface="微软雅黑" panose="020B0503020204020204" pitchFamily="34" charset="-122"/>
                          <a:ea typeface="微软雅黑" panose="020B0503020204020204" pitchFamily="34" charset="-122"/>
                        </a:rPr>
                        <a:t>沙、黏土、生物碎屑</a:t>
                      </a:r>
                      <a:endParaRPr lang="zh-CN" alt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l-GR" sz="1600" u="none" strike="noStrike" dirty="0">
                          <a:effectLst/>
                          <a:latin typeface="微软雅黑" panose="020B0503020204020204" pitchFamily="34" charset="-122"/>
                          <a:ea typeface="微软雅黑" panose="020B0503020204020204" pitchFamily="34" charset="-122"/>
                        </a:rPr>
                        <a:t>μ</a:t>
                      </a:r>
                      <a:r>
                        <a:rPr lang="en-US" sz="1600" u="none" strike="noStrike" dirty="0">
                          <a:effectLst/>
                          <a:latin typeface="微软雅黑" panose="020B0503020204020204" pitchFamily="34" charset="-122"/>
                          <a:ea typeface="微软雅黑" panose="020B0503020204020204" pitchFamily="34" charset="-122"/>
                        </a:rPr>
                        <a:t>g/L~ mg/L</a:t>
                      </a:r>
                      <a:endParaRPr lang="en-US" sz="1600" b="0" i="0" u="none" strike="noStrike" dirty="0">
                        <a:solidFill>
                          <a:srgbClr val="0A0A0A"/>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0008"/>
                  </a:ext>
                </a:extLst>
              </a:tr>
            </a:tbl>
          </a:graphicData>
        </a:graphic>
      </p:graphicFrame>
      <p:sp>
        <p:nvSpPr>
          <p:cNvPr id="10" name="矩形 9"/>
          <p:cNvSpPr/>
          <p:nvPr/>
        </p:nvSpPr>
        <p:spPr>
          <a:xfrm>
            <a:off x="5235391" y="2974670"/>
            <a:ext cx="1620957" cy="338554"/>
          </a:xfrm>
          <a:prstGeom prst="rect">
            <a:avLst/>
          </a:prstGeom>
        </p:spPr>
        <p:txBody>
          <a:bodyPr wrap="none">
            <a:spAutoFit/>
          </a:bodyPr>
          <a:lstStyle/>
          <a:p>
            <a:r>
              <a:rPr lang="zh-CN" altLang="en-US" sz="1600" b="1" kern="0" dirty="0">
                <a:latin typeface="微软雅黑" panose="020B0503020204020204" pitchFamily="34" charset="-122"/>
                <a:ea typeface="微软雅黑" panose="020B0503020204020204" pitchFamily="34" charset="-122"/>
                <a:cs typeface="Times New Roman" panose="02020603050405020304" pitchFamily="18" charset="0"/>
              </a:rPr>
              <a:t>海水的化学组成</a:t>
            </a:r>
            <a:endParaRPr lang="zh-CN" altLang="en-US" sz="16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2.2.1  </a:t>
            </a:r>
            <a:r>
              <a:rPr lang="zh-CN" altLang="en-US" b="1" dirty="0">
                <a:solidFill>
                  <a:srgbClr val="002060"/>
                </a:solidFill>
              </a:rPr>
              <a:t>海水主要成分</a:t>
            </a:r>
          </a:p>
        </p:txBody>
      </p:sp>
      <p:sp>
        <p:nvSpPr>
          <p:cNvPr id="2" name="矩形 1"/>
          <p:cNvSpPr/>
          <p:nvPr/>
        </p:nvSpPr>
        <p:spPr>
          <a:xfrm>
            <a:off x="600" y="6465020"/>
            <a:ext cx="22167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2.2  </a:t>
            </a:r>
            <a:r>
              <a:rPr lang="zh-CN" altLang="en-US" sz="1600" dirty="0">
                <a:solidFill>
                  <a:srgbClr val="002060"/>
                </a:solidFill>
                <a:latin typeface="微软雅黑" panose="020B0503020204020204" pitchFamily="34" charset="-122"/>
                <a:ea typeface="微软雅黑" panose="020B0503020204020204" pitchFamily="34" charset="-122"/>
              </a:rPr>
              <a:t>海水及其光学特性</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25</a:t>
            </a:fld>
            <a:endParaRPr kumimoji="1" lang="zh-CN" altLang="en-US"/>
          </a:p>
        </p:txBody>
      </p:sp>
      <p:sp>
        <p:nvSpPr>
          <p:cNvPr id="7" name="矩形 6"/>
          <p:cNvSpPr/>
          <p:nvPr/>
        </p:nvSpPr>
        <p:spPr>
          <a:xfrm>
            <a:off x="600" y="1172072"/>
            <a:ext cx="11381064" cy="506730"/>
          </a:xfrm>
          <a:prstGeom prst="rect">
            <a:avLst/>
          </a:prstGeom>
        </p:spPr>
        <p:txBody>
          <a:bodyPr wrap="square">
            <a:spAutoFit/>
          </a:bodyPr>
          <a:lstStyle/>
          <a:p>
            <a:pPr indent="304800" algn="just">
              <a:lnSpc>
                <a:spcPct val="150000"/>
              </a:lnSpc>
              <a:spcBef>
                <a:spcPts val="150"/>
              </a:spcBef>
              <a:spcAft>
                <a:spcPts val="0"/>
              </a:spcAft>
            </a:pP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0" dirty="0">
                <a:latin typeface="微软雅黑" panose="020B0503020204020204" pitchFamily="34" charset="-122"/>
                <a:ea typeface="微软雅黑" panose="020B0503020204020204" pitchFamily="34" charset="-122"/>
                <a:cs typeface="Times New Roman" panose="02020603050405020304" pitchFamily="18" charset="0"/>
              </a:rPr>
              <a:t>在海水成分中，对光学特性起主要作用物质为：</a:t>
            </a:r>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5" name="组合 14"/>
          <p:cNvGrpSpPr/>
          <p:nvPr/>
        </p:nvGrpSpPr>
        <p:grpSpPr>
          <a:xfrm>
            <a:off x="997141" y="2212490"/>
            <a:ext cx="561976" cy="3562350"/>
            <a:chOff x="997141" y="2212490"/>
            <a:chExt cx="561976" cy="3562350"/>
          </a:xfrm>
        </p:grpSpPr>
        <p:sp>
          <p:nvSpPr>
            <p:cNvPr id="11" name="左中括号 10"/>
            <p:cNvSpPr/>
            <p:nvPr/>
          </p:nvSpPr>
          <p:spPr>
            <a:xfrm>
              <a:off x="997142" y="2212490"/>
              <a:ext cx="561975" cy="3562350"/>
            </a:xfrm>
            <a:prstGeom prst="leftBracket">
              <a:avLst>
                <a:gd name="adj" fmla="val 164265"/>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 name="直接连接符 12"/>
            <p:cNvCxnSpPr/>
            <p:nvPr/>
          </p:nvCxnSpPr>
          <p:spPr>
            <a:xfrm>
              <a:off x="997142" y="3248025"/>
              <a:ext cx="561975" cy="0"/>
            </a:xfrm>
            <a:prstGeom prst="line">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997141" y="4610100"/>
              <a:ext cx="561975" cy="0"/>
            </a:xfrm>
            <a:prstGeom prst="line">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cxnSp>
      </p:grpSp>
      <p:sp>
        <p:nvSpPr>
          <p:cNvPr id="16" name="矩形 15"/>
          <p:cNvSpPr/>
          <p:nvPr>
            <p:custDataLst>
              <p:tags r:id="rId1"/>
            </p:custDataLst>
          </p:nvPr>
        </p:nvSpPr>
        <p:spPr>
          <a:xfrm>
            <a:off x="1559116" y="2004441"/>
            <a:ext cx="2492990" cy="369332"/>
          </a:xfrm>
          <a:prstGeom prst="rect">
            <a:avLst/>
          </a:prstGeom>
        </p:spPr>
        <p:txBody>
          <a:bodyPr wrap="none">
            <a:spAutoFit/>
          </a:bodyPr>
          <a:lstStyle/>
          <a:p>
            <a:r>
              <a:rPr lang="zh-CN"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水分子及溶解的无机盐</a:t>
            </a:r>
            <a:endParaRPr lang="zh-CN" altLang="en-US" dirty="0"/>
          </a:p>
        </p:txBody>
      </p:sp>
      <p:sp>
        <p:nvSpPr>
          <p:cNvPr id="17" name="矩形 16"/>
          <p:cNvSpPr/>
          <p:nvPr>
            <p:custDataLst>
              <p:tags r:id="rId2"/>
            </p:custDataLst>
          </p:nvPr>
        </p:nvSpPr>
        <p:spPr>
          <a:xfrm>
            <a:off x="1559117" y="3059668"/>
            <a:ext cx="877163" cy="369332"/>
          </a:xfrm>
          <a:prstGeom prst="rect">
            <a:avLst/>
          </a:prstGeom>
        </p:spPr>
        <p:txBody>
          <a:bodyPr wrap="none">
            <a:spAutoFit/>
          </a:bodyPr>
          <a:lstStyle/>
          <a:p>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有机质</a:t>
            </a:r>
            <a:endParaRPr lang="zh-CN" altLang="en-US" dirty="0"/>
          </a:p>
        </p:txBody>
      </p:sp>
      <p:sp>
        <p:nvSpPr>
          <p:cNvPr id="18" name="矩形 17"/>
          <p:cNvSpPr/>
          <p:nvPr>
            <p:custDataLst>
              <p:tags r:id="rId3"/>
            </p:custDataLst>
          </p:nvPr>
        </p:nvSpPr>
        <p:spPr>
          <a:xfrm>
            <a:off x="1559116" y="4417254"/>
            <a:ext cx="2031325" cy="369332"/>
          </a:xfrm>
          <a:prstGeom prst="rect">
            <a:avLst/>
          </a:prstGeom>
        </p:spPr>
        <p:txBody>
          <a:bodyPr wrap="none">
            <a:spAutoFit/>
          </a:bodyPr>
          <a:lstStyle/>
          <a:p>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浮游生物及其碎屑</a:t>
            </a:r>
            <a:endParaRPr lang="zh-CN" altLang="en-US" dirty="0"/>
          </a:p>
        </p:txBody>
      </p:sp>
      <p:sp>
        <p:nvSpPr>
          <p:cNvPr id="19" name="矩形 18"/>
          <p:cNvSpPr/>
          <p:nvPr>
            <p:custDataLst>
              <p:tags r:id="rId4"/>
            </p:custDataLst>
          </p:nvPr>
        </p:nvSpPr>
        <p:spPr>
          <a:xfrm>
            <a:off x="1604226" y="5569623"/>
            <a:ext cx="1338828" cy="369332"/>
          </a:xfrm>
          <a:prstGeom prst="rect">
            <a:avLst/>
          </a:prstGeom>
        </p:spPr>
        <p:txBody>
          <a:bodyPr wrap="none">
            <a:spAutoFit/>
          </a:bodyPr>
          <a:lstStyle/>
          <a:p>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其它颗粒物</a:t>
            </a:r>
            <a:endParaRPr lang="zh-CN" altLang="en-US" dirty="0"/>
          </a:p>
        </p:txBody>
      </p:sp>
      <p:sp>
        <p:nvSpPr>
          <p:cNvPr id="20" name="矩形 19"/>
          <p:cNvSpPr/>
          <p:nvPr>
            <p:custDataLst>
              <p:tags r:id="rId5"/>
            </p:custDataLst>
          </p:nvPr>
        </p:nvSpPr>
        <p:spPr>
          <a:xfrm>
            <a:off x="4052105" y="1718701"/>
            <a:ext cx="7577919" cy="987578"/>
          </a:xfrm>
          <a:prstGeom prst="rect">
            <a:avLst/>
          </a:prstGeom>
        </p:spPr>
        <p:txBody>
          <a:bodyPr wrap="square">
            <a:spAutoFit/>
          </a:bodyPr>
          <a:lstStyle/>
          <a:p>
            <a:pPr lvl="0" algn="just">
              <a:lnSpc>
                <a:spcPct val="125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水分子会对光产生</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吸收</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和</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散射</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作用，对较长波段（如红光）的吸收效果较强；对较短波段（如蓝紫光）的散射作用较强，这也是清澈海水通常呈蔚蓝色的原因之一。无机盐中的一些成分对紫外波段有较强的吸收，如硝酸盐等。</a:t>
            </a:r>
          </a:p>
        </p:txBody>
      </p:sp>
      <p:sp>
        <p:nvSpPr>
          <p:cNvPr id="21" name="矩形 20"/>
          <p:cNvSpPr/>
          <p:nvPr>
            <p:custDataLst>
              <p:tags r:id="rId6"/>
            </p:custDataLst>
          </p:nvPr>
        </p:nvSpPr>
        <p:spPr>
          <a:xfrm>
            <a:off x="2436280" y="2789575"/>
            <a:ext cx="9277350" cy="1295355"/>
          </a:xfrm>
          <a:prstGeom prst="rect">
            <a:avLst/>
          </a:prstGeom>
        </p:spPr>
        <p:txBody>
          <a:bodyPr wrap="square">
            <a:spAutoFit/>
          </a:bodyPr>
          <a:lstStyle/>
          <a:p>
            <a:pPr lvl="0" algn="just">
              <a:lnSpc>
                <a:spcPct val="125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海水中</a:t>
            </a: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有机物质主要以溶解态和胶体态存在，少部分为颗粒有机质。</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溶解态有机质中具备光学活性的部分被称为</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有色可溶有机物</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通常在紫外到可见光的短波部分有较强</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吸收</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，部分有机质还存在</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荧光效应</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，即吸收紫外光后还能发射出荧光，这一类物质也被称为</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荧光可溶有机物</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，其分子结构中往往包含苯环。除溶解态有机物外，悬浮态的</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颗粒有机物</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由于其较大的粒径，具备较强的</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散射</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特性。</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矩形 21"/>
          <p:cNvSpPr/>
          <p:nvPr>
            <p:custDataLst>
              <p:tags r:id="rId7"/>
            </p:custDataLst>
          </p:nvPr>
        </p:nvSpPr>
        <p:spPr>
          <a:xfrm>
            <a:off x="3504715" y="4181260"/>
            <a:ext cx="8125309" cy="987578"/>
          </a:xfrm>
          <a:prstGeom prst="rect">
            <a:avLst/>
          </a:prstGeom>
        </p:spPr>
        <p:txBody>
          <a:bodyPr wrap="square">
            <a:spAutoFit/>
          </a:bodyPr>
          <a:lstStyle/>
          <a:p>
            <a:pPr lvl="0" algn="just">
              <a:lnSpc>
                <a:spcPct val="125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具备显著的</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吸收和荧光</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效应，波段取决于它们所含的色素（主要是</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叶绿素</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等），吸收波段一般在</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400-500nm</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之间，荧光发射波段在</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600-700nm</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之间。此外，浮游生物及其碎屑通常属于大粒径颗粒物，因此它们还会在海水中产生明显的散射现象。</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矩形 22"/>
          <p:cNvSpPr/>
          <p:nvPr>
            <p:custDataLst>
              <p:tags r:id="rId8"/>
            </p:custDataLst>
          </p:nvPr>
        </p:nvSpPr>
        <p:spPr>
          <a:xfrm>
            <a:off x="2988163" y="5403782"/>
            <a:ext cx="8641861" cy="679801"/>
          </a:xfrm>
          <a:prstGeom prst="rect">
            <a:avLst/>
          </a:prstGeom>
        </p:spPr>
        <p:txBody>
          <a:bodyPr wrap="square">
            <a:spAutoFit/>
          </a:bodyPr>
          <a:lstStyle/>
          <a:p>
            <a:pPr lvl="0" algn="just">
              <a:lnSpc>
                <a:spcPct val="125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水体中的泥沙等较大的颗粒对光有很强的</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散射</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效果，会使海水看起来浑浊不堪，浊度通常被用于衡量海水的浑浊程度。</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2.2.2  </a:t>
            </a:r>
            <a:r>
              <a:rPr lang="zh-CN" altLang="en-US" b="1" dirty="0">
                <a:solidFill>
                  <a:srgbClr val="002060"/>
                </a:solidFill>
              </a:rPr>
              <a:t>海水的光学特性</a:t>
            </a:r>
          </a:p>
        </p:txBody>
      </p:sp>
      <p:sp>
        <p:nvSpPr>
          <p:cNvPr id="2" name="矩形 1"/>
          <p:cNvSpPr/>
          <p:nvPr/>
        </p:nvSpPr>
        <p:spPr>
          <a:xfrm>
            <a:off x="600" y="6465020"/>
            <a:ext cx="22167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2.2  </a:t>
            </a:r>
            <a:r>
              <a:rPr lang="zh-CN" altLang="en-US" sz="1600" dirty="0">
                <a:solidFill>
                  <a:srgbClr val="002060"/>
                </a:solidFill>
                <a:latin typeface="微软雅黑" panose="020B0503020204020204" pitchFamily="34" charset="-122"/>
                <a:ea typeface="微软雅黑" panose="020B0503020204020204" pitchFamily="34" charset="-122"/>
              </a:rPr>
              <a:t>海水及其光学特性</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26</a:t>
            </a:fld>
            <a:endParaRPr kumimoji="1" lang="zh-CN" altLang="en-US"/>
          </a:p>
        </p:txBody>
      </p:sp>
      <p:sp>
        <p:nvSpPr>
          <p:cNvPr id="8" name="矩形 7"/>
          <p:cNvSpPr/>
          <p:nvPr/>
        </p:nvSpPr>
        <p:spPr>
          <a:xfrm>
            <a:off x="325085" y="1183663"/>
            <a:ext cx="11417300" cy="874407"/>
          </a:xfrm>
          <a:prstGeom prst="rect">
            <a:avLst/>
          </a:prstGeom>
        </p:spPr>
        <p:txBody>
          <a:bodyPr wrap="square">
            <a:spAutoFit/>
          </a:bodyPr>
          <a:lstStyle/>
          <a:p>
            <a:pPr indent="304800" algn="just">
              <a:lnSpc>
                <a:spcPct val="150000"/>
              </a:lnSpc>
              <a:spcBef>
                <a:spcPts val="360"/>
              </a:spcBef>
              <a:spcAft>
                <a:spcPts val="0"/>
              </a:spcAft>
            </a:pPr>
            <a:r>
              <a:rPr lang="zh-CN" altLang="zh-CN" b="1" kern="0" dirty="0">
                <a:latin typeface="微软雅黑" panose="020B0503020204020204" pitchFamily="34" charset="-122"/>
                <a:ea typeface="微软雅黑" panose="020B0503020204020204" pitchFamily="34" charset="-122"/>
                <a:cs typeface="Times New Roman" panose="02020603050405020304" pitchFamily="18" charset="0"/>
              </a:rPr>
              <a:t>海水的光学特性</a:t>
            </a:r>
            <a:r>
              <a:rPr lang="zh-CN" altLang="zh-CN" kern="0" dirty="0">
                <a:latin typeface="微软雅黑" panose="020B0503020204020204" pitchFamily="34" charset="-122"/>
                <a:ea typeface="微软雅黑" panose="020B0503020204020204" pitchFamily="34" charset="-122"/>
                <a:cs typeface="Times New Roman" panose="02020603050405020304" pitchFamily="18" charset="0"/>
              </a:rPr>
              <a:t>是指海洋水体在光辐射作用下所表现的一系列光学性质。主要包括</a:t>
            </a:r>
            <a:r>
              <a:rPr lang="zh-CN" altLang="zh-CN" b="1" kern="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固有光学特性</a:t>
            </a: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(Inherent Optical Properties, </a:t>
            </a:r>
            <a:r>
              <a:rPr lang="en-US" altLang="zh-CN" b="1" kern="0" dirty="0">
                <a:latin typeface="微软雅黑" panose="020B0503020204020204" pitchFamily="34" charset="-122"/>
                <a:ea typeface="微软雅黑" panose="020B0503020204020204" pitchFamily="34" charset="-122"/>
                <a:cs typeface="Times New Roman" panose="02020603050405020304" pitchFamily="18" charset="0"/>
              </a:rPr>
              <a:t>IOPs</a:t>
            </a: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0" dirty="0">
                <a:latin typeface="微软雅黑" panose="020B0503020204020204" pitchFamily="34" charset="-122"/>
                <a:ea typeface="微软雅黑" panose="020B0503020204020204" pitchFamily="34" charset="-122"/>
                <a:cs typeface="Times New Roman" panose="02020603050405020304" pitchFamily="18" charset="0"/>
              </a:rPr>
              <a:t>和</a:t>
            </a:r>
            <a:r>
              <a:rPr lang="zh-CN" altLang="zh-CN" b="1" kern="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表观光学特性</a:t>
            </a: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(Apparent Optical Properties, </a:t>
            </a:r>
            <a:r>
              <a:rPr lang="en-US" altLang="zh-CN" b="1" kern="0" dirty="0">
                <a:latin typeface="微软雅黑" panose="020B0503020204020204" pitchFamily="34" charset="-122"/>
                <a:ea typeface="微软雅黑" panose="020B0503020204020204" pitchFamily="34" charset="-122"/>
                <a:cs typeface="Times New Roman" panose="02020603050405020304" pitchFamily="18" charset="0"/>
              </a:rPr>
              <a:t>AOPs</a:t>
            </a:r>
            <a:r>
              <a:rPr lang="en-US" altLang="zh-CN" kern="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050" name="Picture 2" descr="海洋光学照亮水生藻类"/>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3892" y="2299730"/>
            <a:ext cx="5117414" cy="368197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穿透海底世界的光束图片免费下载_红动中国"/>
          <p:cNvPicPr>
            <a:picLocks noChangeAspect="1" noChangeArrowheads="1"/>
          </p:cNvPicPr>
          <p:nvPr/>
        </p:nvPicPr>
        <p:blipFill rotWithShape="1">
          <a:blip r:embed="rId3">
            <a:extLst>
              <a:ext uri="{28A0092B-C50C-407E-A947-70E740481C1C}">
                <a14:useLocalDpi xmlns:a14="http://schemas.microsoft.com/office/drawing/2010/main" val="0"/>
              </a:ext>
            </a:extLst>
          </a:blip>
          <a:srcRect l="8084" r="14967" b="44635"/>
          <a:stretch>
            <a:fillRect/>
          </a:stretch>
        </p:blipFill>
        <p:spPr bwMode="auto">
          <a:xfrm>
            <a:off x="768266" y="2299730"/>
            <a:ext cx="5117414" cy="36819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2.2.2  </a:t>
            </a:r>
            <a:r>
              <a:rPr lang="zh-CN" altLang="en-US" b="1" dirty="0">
                <a:solidFill>
                  <a:srgbClr val="002060"/>
                </a:solidFill>
              </a:rPr>
              <a:t>海水的光学特性</a:t>
            </a:r>
          </a:p>
        </p:txBody>
      </p:sp>
      <p:sp>
        <p:nvSpPr>
          <p:cNvPr id="2" name="矩形 1"/>
          <p:cNvSpPr/>
          <p:nvPr/>
        </p:nvSpPr>
        <p:spPr>
          <a:xfrm>
            <a:off x="600" y="6465020"/>
            <a:ext cx="22167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2.2  </a:t>
            </a:r>
            <a:r>
              <a:rPr lang="zh-CN" altLang="en-US" sz="1600" dirty="0">
                <a:solidFill>
                  <a:srgbClr val="002060"/>
                </a:solidFill>
                <a:latin typeface="微软雅黑" panose="020B0503020204020204" pitchFamily="34" charset="-122"/>
                <a:ea typeface="微软雅黑" panose="020B0503020204020204" pitchFamily="34" charset="-122"/>
              </a:rPr>
              <a:t>海水及其光学特性</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27</a:t>
            </a:fld>
            <a:endParaRPr kumimoji="1" lang="zh-CN" altLang="en-US"/>
          </a:p>
        </p:txBody>
      </p:sp>
      <p:sp>
        <p:nvSpPr>
          <p:cNvPr id="9" name="矩形 8"/>
          <p:cNvSpPr/>
          <p:nvPr/>
        </p:nvSpPr>
        <p:spPr>
          <a:xfrm>
            <a:off x="306730" y="1219983"/>
            <a:ext cx="2032929" cy="400110"/>
          </a:xfrm>
          <a:prstGeom prst="rect">
            <a:avLst/>
          </a:prstGeom>
        </p:spPr>
        <p:txBody>
          <a:bodyPr wrap="none">
            <a:spAutoFit/>
          </a:bodyPr>
          <a:lstStyle/>
          <a:p>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1. </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固有光学特性</a:t>
            </a:r>
          </a:p>
        </p:txBody>
      </p:sp>
      <p:sp>
        <p:nvSpPr>
          <p:cNvPr id="3" name="矩形 2"/>
          <p:cNvSpPr/>
          <p:nvPr/>
        </p:nvSpPr>
        <p:spPr>
          <a:xfrm>
            <a:off x="723900" y="1575375"/>
            <a:ext cx="9944100" cy="874407"/>
          </a:xfrm>
          <a:prstGeom prst="rect">
            <a:avLst/>
          </a:prstGeom>
        </p:spPr>
        <p:txBody>
          <a:bodyPr wrap="square">
            <a:spAutoFit/>
          </a:bodyPr>
          <a:lstStyle/>
          <a:p>
            <a:pPr algn="just">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海水的固有光学特性</a:t>
            </a:r>
            <a:r>
              <a:rPr lang="en-US" altLang="zh-CN" dirty="0">
                <a:latin typeface="微软雅黑" panose="020B0503020204020204" pitchFamily="34" charset="-122"/>
                <a:ea typeface="微软雅黑" panose="020B0503020204020204" pitchFamily="34" charset="-122"/>
              </a:rPr>
              <a:t>IOPs</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，是仅与海水介质的成分、形态、浓度相关，而不随外界光变化而变化的光学特性。主要指海水对光的吸收和散射</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endParaRPr>
          </a:p>
        </p:txBody>
      </p:sp>
      <p:sp>
        <p:nvSpPr>
          <p:cNvPr id="12" name="矩形 11"/>
          <p:cNvSpPr/>
          <p:nvPr/>
        </p:nvSpPr>
        <p:spPr>
          <a:xfrm>
            <a:off x="1295400" y="2484848"/>
            <a:ext cx="1338828"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常见参数：</a:t>
            </a:r>
          </a:p>
        </p:txBody>
      </p:sp>
      <p:sp>
        <p:nvSpPr>
          <p:cNvPr id="14" name="左中括号 13"/>
          <p:cNvSpPr/>
          <p:nvPr/>
        </p:nvSpPr>
        <p:spPr>
          <a:xfrm>
            <a:off x="2171699" y="3056204"/>
            <a:ext cx="203467" cy="3146425"/>
          </a:xfrm>
          <a:prstGeom prst="leftBracket">
            <a:avLst>
              <a:gd name="adj" fmla="val 67655"/>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 name="直接连接符 14"/>
          <p:cNvCxnSpPr/>
          <p:nvPr/>
        </p:nvCxnSpPr>
        <p:spPr>
          <a:xfrm>
            <a:off x="2171699" y="3662833"/>
            <a:ext cx="203467" cy="0"/>
          </a:xfrm>
          <a:prstGeom prst="line">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71699" y="4263513"/>
            <a:ext cx="203467" cy="0"/>
          </a:xfrm>
          <a:prstGeom prst="line">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矩形 9"/>
              <p:cNvSpPr/>
              <p:nvPr/>
            </p:nvSpPr>
            <p:spPr>
              <a:xfrm>
                <a:off x="2515869" y="2858509"/>
                <a:ext cx="1597810" cy="369332"/>
              </a:xfrm>
              <a:prstGeom prst="rect">
                <a:avLst/>
              </a:prstGeom>
            </p:spPr>
            <p:txBody>
              <a:bodyPr wrap="none">
                <a:spAutoFit/>
              </a:bodyPr>
              <a:lstStyle/>
              <a:p>
                <a:r>
                  <a:rPr lang="zh-CN" altLang="zh-CN" b="1" kern="0" dirty="0">
                    <a:latin typeface="微软雅黑" panose="020B0503020204020204" pitchFamily="34" charset="-122"/>
                    <a:ea typeface="微软雅黑" panose="020B0503020204020204" pitchFamily="34" charset="-122"/>
                    <a:cs typeface="Times New Roman" panose="02020603050405020304" pitchFamily="18" charset="0"/>
                  </a:rPr>
                  <a:t>衰减系数</a:t>
                </a:r>
                <a14:m>
                  <m:oMath xmlns:m="http://schemas.openxmlformats.org/officeDocument/2006/math">
                    <m:r>
                      <a:rPr lang="en-US" altLang="zh-CN" b="1" i="1" kern="0" smtClean="0">
                        <a:latin typeface="Cambria Math" panose="02040503050406030204" pitchFamily="18" charset="0"/>
                        <a:ea typeface="宋体" panose="02010600030101010101" pitchFamily="2" charset="-122"/>
                        <a:cs typeface="Times New Roman" panose="02020603050405020304" pitchFamily="18" charset="0"/>
                      </a:rPr>
                      <m:t>𝒄</m:t>
                    </m:r>
                    <m:d>
                      <m:dPr>
                        <m:ctrlPr>
                          <a:rPr lang="en-US" altLang="zh-CN" b="1" i="1" kern="0">
                            <a:latin typeface="Cambria Math" panose="02040503050406030204" pitchFamily="18" charset="0"/>
                            <a:ea typeface="宋体" panose="02010600030101010101" pitchFamily="2" charset="-122"/>
                            <a:cs typeface="Times New Roman" panose="02020603050405020304" pitchFamily="18" charset="0"/>
                          </a:rPr>
                        </m:ctrlPr>
                      </m:dPr>
                      <m:e>
                        <m:r>
                          <a:rPr lang="en-US" altLang="zh-CN" b="1" i="1" kern="0" smtClean="0">
                            <a:latin typeface="Cambria Math" panose="02040503050406030204" pitchFamily="18" charset="0"/>
                            <a:ea typeface="宋体" panose="02010600030101010101" pitchFamily="2" charset="-122"/>
                            <a:cs typeface="Times New Roman" panose="02020603050405020304" pitchFamily="18" charset="0"/>
                          </a:rPr>
                          <m:t>𝝀</m:t>
                        </m:r>
                      </m:e>
                    </m:d>
                    <m:r>
                      <a:rPr lang="en-US" altLang="zh-CN" b="1" i="0" kern="0" smtClean="0">
                        <a:latin typeface="Cambria Math" panose="02040503050406030204" pitchFamily="18" charset="0"/>
                        <a:ea typeface="宋体" panose="02010600030101010101" pitchFamily="2" charset="-122"/>
                        <a:cs typeface="Times New Roman" panose="02020603050405020304" pitchFamily="18" charset="0"/>
                      </a:rPr>
                      <m:t>:</m:t>
                    </m:r>
                  </m:oMath>
                </a14:m>
                <a:endParaRPr lang="zh-CN" altLang="en-US" b="1" dirty="0"/>
              </a:p>
            </p:txBody>
          </p:sp>
        </mc:Choice>
        <mc:Fallback xmlns="">
          <p:sp>
            <p:nvSpPr>
              <p:cNvPr id="10" name="矩形 9"/>
              <p:cNvSpPr>
                <a:spLocks noRot="1" noChangeAspect="1" noMove="1" noResize="1" noEditPoints="1" noAdjustHandles="1" noChangeArrowheads="1" noChangeShapeType="1" noTextEdit="1"/>
              </p:cNvSpPr>
              <p:nvPr/>
            </p:nvSpPr>
            <p:spPr>
              <a:xfrm>
                <a:off x="2515869" y="2858509"/>
                <a:ext cx="1597810" cy="369332"/>
              </a:xfrm>
              <a:prstGeom prst="rect">
                <a:avLst/>
              </a:prstGeom>
              <a:blipFill rotWithShape="1">
                <a:blip r:embed="rId2"/>
                <a:stretch>
                  <a:fillRect l="-40" t="-101" r="9" b="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2515869" y="3476348"/>
                <a:ext cx="1618585" cy="369332"/>
              </a:xfrm>
              <a:prstGeom prst="rect">
                <a:avLst/>
              </a:prstGeom>
            </p:spPr>
            <p:txBody>
              <a:bodyPr wrap="none">
                <a:spAutoFit/>
              </a:bodyPr>
              <a:lstStyle/>
              <a:p>
                <a:r>
                  <a:rPr lang="zh-CN" altLang="zh-CN" b="1" kern="0" dirty="0">
                    <a:latin typeface="微软雅黑" panose="020B0503020204020204" pitchFamily="34" charset="-122"/>
                    <a:ea typeface="微软雅黑" panose="020B0503020204020204" pitchFamily="34" charset="-122"/>
                    <a:cs typeface="Times New Roman" panose="02020603050405020304" pitchFamily="18" charset="0"/>
                  </a:rPr>
                  <a:t>吸收系数</a:t>
                </a:r>
                <a14:m>
                  <m:oMath xmlns:m="http://schemas.openxmlformats.org/officeDocument/2006/math">
                    <m:r>
                      <a:rPr lang="en-US" altLang="zh-CN" b="1" i="1" kern="0" smtClean="0">
                        <a:latin typeface="Cambria Math" panose="02040503050406030204" pitchFamily="18" charset="0"/>
                        <a:ea typeface="宋体" panose="02010600030101010101" pitchFamily="2" charset="-122"/>
                        <a:cs typeface="Times New Roman" panose="02020603050405020304" pitchFamily="18" charset="0"/>
                      </a:rPr>
                      <m:t>𝒂</m:t>
                    </m:r>
                    <m:d>
                      <m:dPr>
                        <m:ctrlPr>
                          <a:rPr lang="en-US" altLang="zh-CN" b="1" i="1" kern="0">
                            <a:latin typeface="Cambria Math" panose="02040503050406030204" pitchFamily="18" charset="0"/>
                            <a:ea typeface="宋体" panose="02010600030101010101" pitchFamily="2" charset="-122"/>
                            <a:cs typeface="Times New Roman" panose="02020603050405020304" pitchFamily="18" charset="0"/>
                          </a:rPr>
                        </m:ctrlPr>
                      </m:dPr>
                      <m:e>
                        <m:r>
                          <a:rPr lang="en-US" altLang="zh-CN" b="1" i="1" kern="0" smtClean="0">
                            <a:latin typeface="Cambria Math" panose="02040503050406030204" pitchFamily="18" charset="0"/>
                            <a:ea typeface="宋体" panose="02010600030101010101" pitchFamily="2" charset="-122"/>
                            <a:cs typeface="Times New Roman" panose="02020603050405020304" pitchFamily="18" charset="0"/>
                          </a:rPr>
                          <m:t>𝝀</m:t>
                        </m:r>
                      </m:e>
                    </m:d>
                    <m:r>
                      <a:rPr lang="en-US" altLang="zh-CN" b="1" i="0" kern="0" smtClean="0">
                        <a:latin typeface="Cambria Math" panose="02040503050406030204" pitchFamily="18" charset="0"/>
                        <a:ea typeface="宋体" panose="02010600030101010101" pitchFamily="2" charset="-122"/>
                        <a:cs typeface="Times New Roman" panose="02020603050405020304" pitchFamily="18" charset="0"/>
                      </a:rPr>
                      <m:t>:</m:t>
                    </m:r>
                  </m:oMath>
                </a14:m>
                <a:endParaRPr lang="zh-CN" altLang="en-US" b="1" dirty="0"/>
              </a:p>
            </p:txBody>
          </p:sp>
        </mc:Choice>
        <mc:Fallback xmlns="">
          <p:sp>
            <p:nvSpPr>
              <p:cNvPr id="17" name="矩形 16"/>
              <p:cNvSpPr>
                <a:spLocks noRot="1" noChangeAspect="1" noMove="1" noResize="1" noEditPoints="1" noAdjustHandles="1" noChangeArrowheads="1" noChangeShapeType="1" noTextEdit="1"/>
              </p:cNvSpPr>
              <p:nvPr/>
            </p:nvSpPr>
            <p:spPr>
              <a:xfrm>
                <a:off x="2515869" y="3476348"/>
                <a:ext cx="1618585" cy="369332"/>
              </a:xfrm>
              <a:prstGeom prst="rect">
                <a:avLst/>
              </a:prstGeom>
              <a:blipFill rotWithShape="1">
                <a:blip r:embed="rId3"/>
                <a:stretch>
                  <a:fillRect l="-39" t="-97" r="37" b="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2515869" y="4051478"/>
                <a:ext cx="1666097" cy="369332"/>
              </a:xfrm>
              <a:prstGeom prst="rect">
                <a:avLst/>
              </a:prstGeom>
            </p:spPr>
            <p:txBody>
              <a:bodyPr wrap="none">
                <a:spAutoFit/>
              </a:bodyPr>
              <a:lstStyle/>
              <a:p>
                <a:r>
                  <a:rPr lang="zh-CN" altLang="zh-CN" b="1" kern="0" dirty="0">
                    <a:latin typeface="微软雅黑" panose="020B0503020204020204" pitchFamily="34" charset="-122"/>
                    <a:ea typeface="微软雅黑" panose="020B0503020204020204" pitchFamily="34" charset="-122"/>
                    <a:cs typeface="Times New Roman" panose="02020603050405020304" pitchFamily="18" charset="0"/>
                  </a:rPr>
                  <a:t>散射系数</a:t>
                </a:r>
                <a14:m>
                  <m:oMath xmlns:m="http://schemas.openxmlformats.org/officeDocument/2006/math">
                    <m:r>
                      <a:rPr lang="en-US" altLang="zh-CN" b="1" i="1" smtClean="0">
                        <a:latin typeface="Cambria Math" panose="02040503050406030204" pitchFamily="18" charset="0"/>
                      </a:rPr>
                      <m:t>𝒃</m:t>
                    </m:r>
                    <m:d>
                      <m:dPr>
                        <m:ctrlPr>
                          <a:rPr lang="en-US" altLang="zh-CN" b="1" i="1">
                            <a:latin typeface="Cambria Math" panose="02040503050406030204" pitchFamily="18" charset="0"/>
                          </a:rPr>
                        </m:ctrlPr>
                      </m:dPr>
                      <m:e>
                        <m:r>
                          <a:rPr lang="en-US" altLang="zh-CN" b="1" i="1" smtClean="0">
                            <a:latin typeface="Cambria Math" panose="02040503050406030204" pitchFamily="18" charset="0"/>
                          </a:rPr>
                          <m:t>𝝀</m:t>
                        </m:r>
                      </m:e>
                    </m:d>
                    <m:r>
                      <a:rPr lang="en-US" altLang="zh-CN" b="1" i="0" smtClean="0">
                        <a:latin typeface="Cambria Math" panose="02040503050406030204" pitchFamily="18" charset="0"/>
                      </a:rPr>
                      <m:t>:</m:t>
                    </m:r>
                    <m:r>
                      <a:rPr lang="en-US" altLang="zh-CN" b="1" i="1" smtClean="0">
                        <a:latin typeface="Cambria Math" panose="02040503050406030204" pitchFamily="18" charset="0"/>
                      </a:rPr>
                      <m:t> </m:t>
                    </m:r>
                  </m:oMath>
                </a14:m>
                <a:endParaRPr lang="zh-CN" altLang="en-US" b="1" dirty="0"/>
              </a:p>
            </p:txBody>
          </p:sp>
        </mc:Choice>
        <mc:Fallback xmlns="">
          <p:sp>
            <p:nvSpPr>
              <p:cNvPr id="18" name="矩形 17"/>
              <p:cNvSpPr>
                <a:spLocks noRot="1" noChangeAspect="1" noMove="1" noResize="1" noEditPoints="1" noAdjustHandles="1" noChangeArrowheads="1" noChangeShapeType="1" noTextEdit="1"/>
              </p:cNvSpPr>
              <p:nvPr/>
            </p:nvSpPr>
            <p:spPr>
              <a:xfrm>
                <a:off x="2515869" y="4051478"/>
                <a:ext cx="1666097" cy="369332"/>
              </a:xfrm>
              <a:prstGeom prst="rect">
                <a:avLst/>
              </a:prstGeom>
              <a:blipFill rotWithShape="1">
                <a:blip r:embed="rId4"/>
                <a:stretch>
                  <a:fillRect l="-38" t="-48" r="-504" b="156"/>
                </a:stretch>
              </a:blipFill>
            </p:spPr>
            <p:txBody>
              <a:bodyPr/>
              <a:lstStyle/>
              <a:p>
                <a:r>
                  <a:rPr lang="zh-CN" altLang="en-US">
                    <a:noFill/>
                  </a:rPr>
                  <a:t> </a:t>
                </a:r>
              </a:p>
            </p:txBody>
          </p:sp>
        </mc:Fallback>
      </mc:AlternateContent>
      <p:sp>
        <p:nvSpPr>
          <p:cNvPr id="19" name="矩形 18"/>
          <p:cNvSpPr/>
          <p:nvPr/>
        </p:nvSpPr>
        <p:spPr>
          <a:xfrm>
            <a:off x="2515869" y="5954673"/>
            <a:ext cx="8276625"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散射相函数、前向散射系数、后向散射系数等其它描述吸收与散射现象的参数。</a:t>
            </a:r>
          </a:p>
        </p:txBody>
      </p:sp>
      <p:sp>
        <p:nvSpPr>
          <p:cNvPr id="20" name="矩形 19"/>
          <p:cNvSpPr/>
          <p:nvPr/>
        </p:nvSpPr>
        <p:spPr>
          <a:xfrm>
            <a:off x="4113679" y="2868471"/>
            <a:ext cx="7670016" cy="369332"/>
          </a:xfrm>
          <a:prstGeom prst="rect">
            <a:avLst/>
          </a:prstGeom>
        </p:spPr>
        <p:txBody>
          <a:bodyPr wrap="square">
            <a:spAutoFit/>
          </a:bodyPr>
          <a:lstStyle/>
          <a:p>
            <a:pPr algn="just"/>
            <a:r>
              <a:rPr lang="zh-CN" altLang="en-US" kern="0" dirty="0">
                <a:latin typeface="微软雅黑" panose="020B0503020204020204" pitchFamily="34" charset="-122"/>
                <a:ea typeface="微软雅黑" panose="020B0503020204020204" pitchFamily="34" charset="-122"/>
                <a:cs typeface="Times New Roman" panose="02020603050405020304" pitchFamily="18" charset="0"/>
              </a:rPr>
              <a:t>描述了光在海水中传输时沿着传输路径发生的强度衰减。</a:t>
            </a:r>
            <a:endParaRPr lang="zh-CN" altLang="en-US" dirty="0">
              <a:latin typeface="微软雅黑" panose="020B0503020204020204" pitchFamily="34" charset="-122"/>
              <a:ea typeface="微软雅黑" panose="020B0503020204020204" pitchFamily="34" charset="-122"/>
            </a:endParaRPr>
          </a:p>
        </p:txBody>
      </p:sp>
      <p:sp>
        <p:nvSpPr>
          <p:cNvPr id="21" name="矩形 20"/>
          <p:cNvSpPr/>
          <p:nvPr/>
        </p:nvSpPr>
        <p:spPr>
          <a:xfrm>
            <a:off x="4113679" y="3476348"/>
            <a:ext cx="6096000" cy="369332"/>
          </a:xfrm>
          <a:prstGeom prst="rect">
            <a:avLst/>
          </a:prstGeom>
        </p:spPr>
        <p:txBody>
          <a:bodyPr>
            <a:spAutoFit/>
          </a:bodyPr>
          <a:lstStyle/>
          <a:p>
            <a:r>
              <a:rPr lang="zh-CN" altLang="zh-CN" dirty="0">
                <a:latin typeface="微软雅黑" panose="020B0503020204020204" pitchFamily="34" charset="-122"/>
                <a:ea typeface="微软雅黑" panose="020B0503020204020204" pitchFamily="34" charset="-122"/>
              </a:rPr>
              <a:t>描述了光在海水中传输时，由吸收</a:t>
            </a:r>
            <a:r>
              <a:rPr lang="zh-CN" altLang="en-US" dirty="0">
                <a:latin typeface="微软雅黑" panose="020B0503020204020204" pitchFamily="34" charset="-122"/>
                <a:ea typeface="微软雅黑" panose="020B0503020204020204" pitchFamily="34" charset="-122"/>
              </a:rPr>
              <a:t>现象</a:t>
            </a:r>
            <a:r>
              <a:rPr lang="zh-CN" altLang="zh-CN" dirty="0">
                <a:latin typeface="微软雅黑" panose="020B0503020204020204" pitchFamily="34" charset="-122"/>
                <a:ea typeface="微软雅黑" panose="020B0503020204020204" pitchFamily="34" charset="-122"/>
              </a:rPr>
              <a:t>导致的光强衰减。</a:t>
            </a:r>
            <a:endParaRPr lang="zh-CN" altLang="en-US" dirty="0"/>
          </a:p>
        </p:txBody>
      </p:sp>
      <p:sp>
        <p:nvSpPr>
          <p:cNvPr id="24" name="矩形 23"/>
          <p:cNvSpPr/>
          <p:nvPr/>
        </p:nvSpPr>
        <p:spPr>
          <a:xfrm>
            <a:off x="4113679" y="4067651"/>
            <a:ext cx="6096000" cy="369332"/>
          </a:xfrm>
          <a:prstGeom prst="rect">
            <a:avLst/>
          </a:prstGeom>
        </p:spPr>
        <p:txBody>
          <a:bodyPr>
            <a:spAutoFit/>
          </a:bodyPr>
          <a:lstStyle/>
          <a:p>
            <a:r>
              <a:rPr lang="zh-CN" altLang="zh-CN" dirty="0">
                <a:latin typeface="微软雅黑" panose="020B0503020204020204" pitchFamily="34" charset="-122"/>
                <a:ea typeface="微软雅黑" panose="020B0503020204020204" pitchFamily="34" charset="-122"/>
              </a:rPr>
              <a:t>描述了光在海水中传输时，由散射</a:t>
            </a:r>
            <a:r>
              <a:rPr lang="zh-CN" altLang="en-US" dirty="0">
                <a:latin typeface="微软雅黑" panose="020B0503020204020204" pitchFamily="34" charset="-122"/>
                <a:ea typeface="微软雅黑" panose="020B0503020204020204" pitchFamily="34" charset="-122"/>
              </a:rPr>
              <a:t>现象</a:t>
            </a:r>
            <a:r>
              <a:rPr lang="zh-CN" altLang="zh-CN" dirty="0">
                <a:latin typeface="微软雅黑" panose="020B0503020204020204" pitchFamily="34" charset="-122"/>
                <a:ea typeface="微软雅黑" panose="020B0503020204020204" pitchFamily="34" charset="-122"/>
              </a:rPr>
              <a:t>导致的光强衰减。</a:t>
            </a:r>
            <a:endParaRPr lang="zh-CN" altLang="en-US" dirty="0"/>
          </a:p>
        </p:txBody>
      </p:sp>
      <p:sp>
        <p:nvSpPr>
          <p:cNvPr id="27" name="矩形 26"/>
          <p:cNvSpPr/>
          <p:nvPr/>
        </p:nvSpPr>
        <p:spPr>
          <a:xfrm>
            <a:off x="2515869" y="4681932"/>
            <a:ext cx="2630848" cy="369332"/>
          </a:xfrm>
          <a:prstGeom prst="rect">
            <a:avLst/>
          </a:prstGeom>
        </p:spPr>
        <p:txBody>
          <a:bodyPr wrap="none">
            <a:spAutoFit/>
          </a:bodyPr>
          <a:lstStyle/>
          <a:p>
            <a:r>
              <a:rPr lang="zh-CN" altLang="en-US" b="1" kern="0" dirty="0">
                <a:latin typeface="微软雅黑" panose="020B0503020204020204" pitchFamily="34" charset="-122"/>
                <a:ea typeface="微软雅黑" panose="020B0503020204020204" pitchFamily="34" charset="-122"/>
                <a:cs typeface="Times New Roman" panose="02020603050405020304" pitchFamily="18" charset="0"/>
              </a:rPr>
              <a:t>单次散射反照率𝜔</a:t>
            </a:r>
            <a:r>
              <a:rPr lang="en-US" altLang="zh-CN" b="1" kern="0" baseline="-25000" dirty="0">
                <a:latin typeface="微软雅黑" panose="020B0503020204020204" pitchFamily="34" charset="-122"/>
                <a:ea typeface="微软雅黑" panose="020B0503020204020204" pitchFamily="34" charset="-122"/>
                <a:cs typeface="Times New Roman" panose="02020603050405020304" pitchFamily="18" charset="0"/>
              </a:rPr>
              <a:t>0</a:t>
            </a:r>
            <a:r>
              <a:rPr lang="en-US" altLang="zh-CN" b="1" kern="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1" kern="0" dirty="0">
                <a:latin typeface="微软雅黑" panose="020B0503020204020204" pitchFamily="34" charset="-122"/>
                <a:ea typeface="微软雅黑" panose="020B0503020204020204" pitchFamily="34" charset="-122"/>
                <a:cs typeface="Times New Roman" panose="02020603050405020304" pitchFamily="18" charset="0"/>
              </a:rPr>
              <a:t>𝜆</a:t>
            </a:r>
            <a:r>
              <a:rPr lang="en-US" altLang="zh-CN" b="1" kern="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b="1" dirty="0"/>
          </a:p>
        </p:txBody>
      </p:sp>
      <p:sp>
        <p:nvSpPr>
          <p:cNvPr id="25" name="矩形 24"/>
          <p:cNvSpPr/>
          <p:nvPr/>
        </p:nvSpPr>
        <p:spPr>
          <a:xfrm>
            <a:off x="4928634" y="4664225"/>
            <a:ext cx="4570482"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描述散射导致的光衰减在总衰减中的占比。</a:t>
            </a:r>
            <a:endParaRPr lang="zh-CN" altLang="en-US" dirty="0">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2171699" y="4852600"/>
            <a:ext cx="203467" cy="0"/>
          </a:xfrm>
          <a:prstGeom prst="line">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2515869" y="5309449"/>
            <a:ext cx="1888659" cy="369332"/>
          </a:xfrm>
          <a:prstGeom prst="rect">
            <a:avLst/>
          </a:prstGeom>
        </p:spPr>
        <p:txBody>
          <a:bodyPr wrap="none">
            <a:spAutoFit/>
          </a:bodyPr>
          <a:lstStyle/>
          <a:p>
            <a:r>
              <a:rPr lang="zh-CN" altLang="zh-CN" b="1" dirty="0">
                <a:latin typeface="微软雅黑" panose="020B0503020204020204" pitchFamily="34" charset="-122"/>
                <a:ea typeface="微软雅黑" panose="020B0503020204020204" pitchFamily="34" charset="-122"/>
              </a:rPr>
              <a:t>体散射函数</a:t>
            </a:r>
            <a:r>
              <a:rPr lang="en-US" altLang="zh-CN" b="1" dirty="0">
                <a:latin typeface="微软雅黑" panose="020B0503020204020204" pitchFamily="34" charset="-122"/>
                <a:ea typeface="微软雅黑" panose="020B0503020204020204" pitchFamily="34" charset="-122"/>
              </a:rPr>
              <a:t>β(θ):</a:t>
            </a:r>
            <a:endParaRPr lang="zh-CN" altLang="en-US" b="1" dirty="0"/>
          </a:p>
        </p:txBody>
      </p:sp>
      <p:sp>
        <p:nvSpPr>
          <p:cNvPr id="31" name="矩形 30"/>
          <p:cNvSpPr/>
          <p:nvPr/>
        </p:nvSpPr>
        <p:spPr>
          <a:xfrm>
            <a:off x="4351628" y="5222887"/>
            <a:ext cx="6096000" cy="455894"/>
          </a:xfrm>
          <a:prstGeom prst="rect">
            <a:avLst/>
          </a:prstGeom>
        </p:spPr>
        <p:txBody>
          <a:bodyPr>
            <a:spAutoFit/>
          </a:bodyPr>
          <a:lstStyle/>
          <a:p>
            <a:pPr algn="just">
              <a:lnSpc>
                <a:spcPct val="150000"/>
              </a:lnSpc>
            </a:pPr>
            <a:r>
              <a:rPr lang="zh-CN" altLang="zh-CN" dirty="0">
                <a:latin typeface="微软雅黑" panose="020B0503020204020204" pitchFamily="34" charset="-122"/>
                <a:ea typeface="微软雅黑" panose="020B0503020204020204" pitchFamily="34" charset="-122"/>
              </a:rPr>
              <a:t>描述了散射光在空间上的分布情况</a:t>
            </a:r>
            <a:r>
              <a:rPr lang="zh-CN" altLang="en-US" dirty="0">
                <a:latin typeface="微软雅黑" panose="020B0503020204020204" pitchFamily="34" charset="-122"/>
                <a:ea typeface="微软雅黑" panose="020B0503020204020204" pitchFamily="34" charset="-122"/>
              </a:rPr>
              <a:t>。</a:t>
            </a:r>
            <a:endParaRPr lang="zh-CN" altLang="zh-CN" dirty="0">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2155241" y="5514342"/>
            <a:ext cx="203467" cy="0"/>
          </a:xfrm>
          <a:prstGeom prst="line">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2.2.2  </a:t>
            </a:r>
            <a:r>
              <a:rPr lang="zh-CN" altLang="en-US" b="1" dirty="0">
                <a:solidFill>
                  <a:srgbClr val="002060"/>
                </a:solidFill>
              </a:rPr>
              <a:t>海水的光学特性</a:t>
            </a:r>
          </a:p>
        </p:txBody>
      </p:sp>
      <p:sp>
        <p:nvSpPr>
          <p:cNvPr id="2" name="矩形 1"/>
          <p:cNvSpPr/>
          <p:nvPr/>
        </p:nvSpPr>
        <p:spPr>
          <a:xfrm>
            <a:off x="600" y="6465020"/>
            <a:ext cx="22167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2.2  </a:t>
            </a:r>
            <a:r>
              <a:rPr lang="zh-CN" altLang="en-US" sz="1600" dirty="0">
                <a:solidFill>
                  <a:srgbClr val="002060"/>
                </a:solidFill>
                <a:latin typeface="微软雅黑" panose="020B0503020204020204" pitchFamily="34" charset="-122"/>
                <a:ea typeface="微软雅黑" panose="020B0503020204020204" pitchFamily="34" charset="-122"/>
              </a:rPr>
              <a:t>海水及其光学特性</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28</a:t>
            </a:fld>
            <a:endParaRPr kumimoji="1" lang="zh-CN" altLang="en-US"/>
          </a:p>
        </p:txBody>
      </p:sp>
      <p:sp>
        <p:nvSpPr>
          <p:cNvPr id="9" name="矩形 8"/>
          <p:cNvSpPr/>
          <p:nvPr/>
        </p:nvSpPr>
        <p:spPr>
          <a:xfrm>
            <a:off x="306730" y="1219983"/>
            <a:ext cx="2032929" cy="400110"/>
          </a:xfrm>
          <a:prstGeom prst="rect">
            <a:avLst/>
          </a:prstGeom>
        </p:spPr>
        <p:txBody>
          <a:bodyPr wrap="none">
            <a:spAutoFit/>
          </a:bodyPr>
          <a:lstStyle/>
          <a:p>
            <a:r>
              <a:rPr lang="en-US" altLang="zh-CN" sz="2000" b="1" dirty="0">
                <a:solidFill>
                  <a:schemeClr val="accent1">
                    <a:lumMod val="50000"/>
                  </a:schemeClr>
                </a:solidFill>
                <a:latin typeface="微软雅黑" panose="020B0503020204020204" pitchFamily="34" charset="-122"/>
                <a:ea typeface="微软雅黑" panose="020B0503020204020204" pitchFamily="34" charset="-122"/>
              </a:rPr>
              <a:t>2. </a:t>
            </a:r>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表观光学特性</a:t>
            </a:r>
          </a:p>
        </p:txBody>
      </p:sp>
      <p:sp>
        <p:nvSpPr>
          <p:cNvPr id="3" name="矩形 2"/>
          <p:cNvSpPr/>
          <p:nvPr/>
        </p:nvSpPr>
        <p:spPr>
          <a:xfrm>
            <a:off x="723900" y="1567160"/>
            <a:ext cx="9944100" cy="874407"/>
          </a:xfrm>
          <a:prstGeom prst="rect">
            <a:avLst/>
          </a:prstGeom>
        </p:spPr>
        <p:txBody>
          <a:bodyPr wrap="square">
            <a:spAutoFit/>
          </a:bodyPr>
          <a:lstStyle/>
          <a:p>
            <a:pPr algn="just">
              <a:lnSpc>
                <a:spcPct val="150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海水的表观光学特性</a:t>
            </a:r>
            <a:r>
              <a:rPr lang="en-US" altLang="zh-CN" dirty="0">
                <a:latin typeface="微软雅黑" panose="020B0503020204020204" pitchFamily="34" charset="-122"/>
                <a:ea typeface="微软雅黑" panose="020B0503020204020204" pitchFamily="34" charset="-122"/>
              </a:rPr>
              <a:t>(AOPs)</a:t>
            </a:r>
            <a:r>
              <a:rPr lang="zh-CN" altLang="zh-CN" dirty="0">
                <a:latin typeface="微软雅黑" panose="020B0503020204020204" pitchFamily="34" charset="-122"/>
                <a:ea typeface="微软雅黑" panose="020B0503020204020204" pitchFamily="34" charset="-122"/>
              </a:rPr>
              <a:t>由海洋中辐射场分布与海水固有光学特性共同决定，描述了光在海水中的传播和分布状态，以及海水对光的反射、透射等性质。</a:t>
            </a:r>
            <a:endParaRPr lang="zh-CN" altLang="en-US" dirty="0">
              <a:latin typeface="微软雅黑" panose="020B0503020204020204" pitchFamily="34" charset="-122"/>
              <a:ea typeface="微软雅黑" panose="020B0503020204020204" pitchFamily="34" charset="-122"/>
            </a:endParaRPr>
          </a:p>
        </p:txBody>
      </p:sp>
      <p:sp>
        <p:nvSpPr>
          <p:cNvPr id="12" name="矩形 11"/>
          <p:cNvSpPr/>
          <p:nvPr/>
        </p:nvSpPr>
        <p:spPr>
          <a:xfrm>
            <a:off x="1225902" y="2519292"/>
            <a:ext cx="1338828"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常见参数：</a:t>
            </a:r>
          </a:p>
        </p:txBody>
      </p:sp>
      <p:sp>
        <p:nvSpPr>
          <p:cNvPr id="14" name="左中括号 13"/>
          <p:cNvSpPr/>
          <p:nvPr/>
        </p:nvSpPr>
        <p:spPr>
          <a:xfrm>
            <a:off x="2171699" y="3056204"/>
            <a:ext cx="203467" cy="3146425"/>
          </a:xfrm>
          <a:prstGeom prst="leftBracket">
            <a:avLst>
              <a:gd name="adj" fmla="val 67655"/>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 name="直接连接符 14"/>
          <p:cNvCxnSpPr/>
          <p:nvPr/>
        </p:nvCxnSpPr>
        <p:spPr>
          <a:xfrm>
            <a:off x="2171699" y="3948672"/>
            <a:ext cx="203467" cy="0"/>
          </a:xfrm>
          <a:prstGeom prst="line">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71699" y="4758813"/>
            <a:ext cx="203467" cy="0"/>
          </a:xfrm>
          <a:prstGeom prst="line">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2171699" y="5376475"/>
            <a:ext cx="203467" cy="0"/>
          </a:xfrm>
          <a:prstGeom prst="line">
            <a:avLst/>
          </a:prstGeom>
          <a:ln w="28575">
            <a:solidFill>
              <a:schemeClr val="accent1">
                <a:alpha val="76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2533814" y="2877360"/>
            <a:ext cx="1564744" cy="369332"/>
          </a:xfrm>
          <a:prstGeom prst="rect">
            <a:avLst/>
          </a:prstGeom>
        </p:spPr>
        <p:txBody>
          <a:bodyPr wrap="square">
            <a:spAutoFit/>
          </a:bodyPr>
          <a:lstStyle/>
          <a:p>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离水辐亮度：</a:t>
            </a:r>
            <a:endParaRPr lang="zh-CN" altLang="en-US" b="1" dirty="0">
              <a:latin typeface="微软雅黑" panose="020B0503020204020204" pitchFamily="34" charset="-122"/>
              <a:ea typeface="微软雅黑" panose="020B0503020204020204" pitchFamily="34" charset="-122"/>
            </a:endParaRPr>
          </a:p>
        </p:txBody>
      </p:sp>
      <p:sp>
        <p:nvSpPr>
          <p:cNvPr id="11" name="矩形 10"/>
          <p:cNvSpPr/>
          <p:nvPr/>
        </p:nvSpPr>
        <p:spPr>
          <a:xfrm>
            <a:off x="4119245" y="2820035"/>
            <a:ext cx="6462395" cy="645160"/>
          </a:xfrm>
          <a:prstGeom prst="rect">
            <a:avLst/>
          </a:prstGeom>
        </p:spPr>
        <p:txBody>
          <a:bodyPr wrap="square">
            <a:spAutoFit/>
          </a:bodyPr>
          <a:lstStyle/>
          <a:p>
            <a:r>
              <a:rPr lang="zh-CN" altLang="zh-CN" dirty="0">
                <a:latin typeface="微软雅黑" panose="020B0503020204020204" pitchFamily="34" charset="-122"/>
                <a:ea typeface="微软雅黑" panose="020B0503020204020204" pitchFamily="34" charset="-122"/>
              </a:rPr>
              <a:t>光线由水面进入海水中，经过各种成分的吸收和散射之后，从海水中再次进入空气时的辐亮度</a:t>
            </a:r>
            <a:r>
              <a:rPr lang="zh-CN" altLang="en-US" dirty="0">
                <a:latin typeface="微软雅黑" panose="020B0503020204020204" pitchFamily="34" charset="-122"/>
                <a:ea typeface="微软雅黑" panose="020B0503020204020204" pitchFamily="34" charset="-122"/>
              </a:rPr>
              <a:t>。</a:t>
            </a:r>
            <a:endParaRPr lang="zh-CN" altLang="en-US" dirty="0"/>
          </a:p>
        </p:txBody>
      </p:sp>
      <p:sp>
        <p:nvSpPr>
          <p:cNvPr id="13" name="矩形 12"/>
          <p:cNvSpPr/>
          <p:nvPr/>
        </p:nvSpPr>
        <p:spPr>
          <a:xfrm>
            <a:off x="2375166" y="3752627"/>
            <a:ext cx="6096000" cy="369332"/>
          </a:xfrm>
          <a:prstGeom prst="rect">
            <a:avLst/>
          </a:prstGeom>
        </p:spPr>
        <p:txBody>
          <a:bodyPr>
            <a:spAutoFit/>
          </a:bodyPr>
          <a:lstStyle/>
          <a:p>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向上</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下</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辐照度：</a:t>
            </a:r>
            <a:endParaRPr lang="zh-CN" altLang="en-US" b="1" dirty="0">
              <a:latin typeface="微软雅黑" panose="020B0503020204020204" pitchFamily="34" charset="-122"/>
              <a:ea typeface="微软雅黑" panose="020B0503020204020204" pitchFamily="34" charset="-122"/>
            </a:endParaRPr>
          </a:p>
        </p:txBody>
      </p:sp>
      <p:sp>
        <p:nvSpPr>
          <p:cNvPr id="22" name="矩形 21"/>
          <p:cNvSpPr/>
          <p:nvPr/>
        </p:nvSpPr>
        <p:spPr>
          <a:xfrm>
            <a:off x="4205605" y="3752850"/>
            <a:ext cx="6490970" cy="368300"/>
          </a:xfrm>
          <a:prstGeom prst="rect">
            <a:avLst/>
          </a:prstGeom>
        </p:spPr>
        <p:txBody>
          <a:bodyPr wrap="square">
            <a:spAutoFit/>
          </a:bodyPr>
          <a:lstStyle/>
          <a:p>
            <a:r>
              <a:rPr lang="zh-CN" altLang="zh-CN" dirty="0">
                <a:latin typeface="微软雅黑" panose="020B0503020204020204" pitchFamily="34" charset="-122"/>
                <a:ea typeface="微软雅黑" panose="020B0503020204020204" pitchFamily="34" charset="-122"/>
              </a:rPr>
              <a:t>深度</a:t>
            </a:r>
            <a:r>
              <a:rPr lang="en-US" altLang="zh-CN" dirty="0">
                <a:latin typeface="微软雅黑" panose="020B0503020204020204" pitchFamily="34" charset="-122"/>
                <a:ea typeface="微软雅黑" panose="020B0503020204020204" pitchFamily="34" charset="-122"/>
              </a:rPr>
              <a:t>z</a:t>
            </a:r>
            <a:r>
              <a:rPr lang="zh-CN" altLang="zh-CN" dirty="0">
                <a:latin typeface="微软雅黑" panose="020B0503020204020204" pitchFamily="34" charset="-122"/>
                <a:ea typeface="微软雅黑" panose="020B0503020204020204" pitchFamily="34" charset="-122"/>
              </a:rPr>
              <a:t>处向上</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（与向下）入射到</a:t>
            </a:r>
            <a:r>
              <a:rPr lang="zh-CN" altLang="zh-CN" dirty="0">
                <a:latin typeface="微软雅黑" panose="020B0503020204020204" pitchFamily="34" charset="-122"/>
                <a:ea typeface="微软雅黑" panose="020B0503020204020204" pitchFamily="34" charset="-122"/>
              </a:rPr>
              <a:t>海水截面</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上的每单位面积的功率。</a:t>
            </a:r>
            <a:endParaRPr lang="zh-CN" altLang="en-US" dirty="0">
              <a:latin typeface="微软雅黑" panose="020B0503020204020204" pitchFamily="34" charset="-122"/>
              <a:ea typeface="微软雅黑" panose="020B0503020204020204" pitchFamily="34" charset="-122"/>
            </a:endParaRPr>
          </a:p>
        </p:txBody>
      </p:sp>
      <p:sp>
        <p:nvSpPr>
          <p:cNvPr id="23" name="矩形 22"/>
          <p:cNvSpPr/>
          <p:nvPr/>
        </p:nvSpPr>
        <p:spPr>
          <a:xfrm>
            <a:off x="2426734" y="5212737"/>
            <a:ext cx="2031325" cy="369332"/>
          </a:xfrm>
          <a:prstGeom prst="rect">
            <a:avLst/>
          </a:prstGeom>
        </p:spPr>
        <p:txBody>
          <a:bodyPr wrap="none">
            <a:spAutoFit/>
          </a:bodyPr>
          <a:lstStyle/>
          <a:p>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辐照度衰减系数</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b="1" dirty="0">
              <a:latin typeface="微软雅黑" panose="020B0503020204020204" pitchFamily="34" charset="-122"/>
              <a:ea typeface="微软雅黑" panose="020B0503020204020204" pitchFamily="34" charset="-122"/>
            </a:endParaRPr>
          </a:p>
        </p:txBody>
      </p:sp>
      <p:sp>
        <p:nvSpPr>
          <p:cNvPr id="26" name="矩形 25"/>
          <p:cNvSpPr/>
          <p:nvPr/>
        </p:nvSpPr>
        <p:spPr>
          <a:xfrm>
            <a:off x="4271798" y="5198683"/>
            <a:ext cx="4570482"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向上（和向下）辐照度随深度的变化关系</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endParaRPr>
          </a:p>
        </p:txBody>
      </p:sp>
      <p:sp>
        <p:nvSpPr>
          <p:cNvPr id="28" name="矩形 27"/>
          <p:cNvSpPr/>
          <p:nvPr/>
        </p:nvSpPr>
        <p:spPr>
          <a:xfrm>
            <a:off x="2647950" y="4522850"/>
            <a:ext cx="6096000" cy="369332"/>
          </a:xfrm>
          <a:prstGeom prst="rect">
            <a:avLst/>
          </a:prstGeom>
        </p:spPr>
        <p:txBody>
          <a:bodyPr>
            <a:spAutoFit/>
          </a:bodyPr>
          <a:lstStyle/>
          <a:p>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遥感反射率</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b="1" dirty="0">
              <a:latin typeface="微软雅黑" panose="020B0503020204020204" pitchFamily="34" charset="-122"/>
              <a:ea typeface="微软雅黑" panose="020B0503020204020204" pitchFamily="34" charset="-122"/>
            </a:endParaRPr>
          </a:p>
        </p:txBody>
      </p:sp>
      <p:sp>
        <p:nvSpPr>
          <p:cNvPr id="33" name="矩形 32"/>
          <p:cNvSpPr/>
          <p:nvPr/>
        </p:nvSpPr>
        <p:spPr>
          <a:xfrm>
            <a:off x="4205482" y="4536904"/>
            <a:ext cx="3647152"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是向上辐亮度与向下辐照度之比</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endParaRPr>
          </a:p>
        </p:txBody>
      </p:sp>
      <p:sp>
        <p:nvSpPr>
          <p:cNvPr id="34" name="矩形 33"/>
          <p:cNvSpPr/>
          <p:nvPr/>
        </p:nvSpPr>
        <p:spPr>
          <a:xfrm>
            <a:off x="2426734" y="5974783"/>
            <a:ext cx="5724644"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标量辐照度、辐照度反射比等其它表观光学特性参数。</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2.2.2  </a:t>
            </a:r>
            <a:r>
              <a:rPr lang="zh-CN" altLang="en-US" b="1" dirty="0">
                <a:solidFill>
                  <a:srgbClr val="002060"/>
                </a:solidFill>
              </a:rPr>
              <a:t>海水的光学特性</a:t>
            </a:r>
          </a:p>
        </p:txBody>
      </p:sp>
      <p:sp>
        <p:nvSpPr>
          <p:cNvPr id="2" name="矩形 1"/>
          <p:cNvSpPr/>
          <p:nvPr/>
        </p:nvSpPr>
        <p:spPr>
          <a:xfrm>
            <a:off x="600" y="6465020"/>
            <a:ext cx="22167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2.2  </a:t>
            </a:r>
            <a:r>
              <a:rPr lang="zh-CN" altLang="en-US" sz="1600" dirty="0">
                <a:solidFill>
                  <a:srgbClr val="002060"/>
                </a:solidFill>
                <a:latin typeface="微软雅黑" panose="020B0503020204020204" pitchFamily="34" charset="-122"/>
                <a:ea typeface="微软雅黑" panose="020B0503020204020204" pitchFamily="34" charset="-122"/>
              </a:rPr>
              <a:t>海水及其光学特性</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29</a:t>
            </a:fld>
            <a:endParaRPr kumimoji="1" lang="zh-CN" altLang="en-US"/>
          </a:p>
        </p:txBody>
      </p:sp>
      <p:sp>
        <p:nvSpPr>
          <p:cNvPr id="9" name="矩形 8"/>
          <p:cNvSpPr/>
          <p:nvPr/>
        </p:nvSpPr>
        <p:spPr>
          <a:xfrm>
            <a:off x="306730" y="1219983"/>
            <a:ext cx="5057795" cy="400110"/>
          </a:xfrm>
          <a:prstGeom prst="rect">
            <a:avLst/>
          </a:prstGeom>
        </p:spPr>
        <p:txBody>
          <a:bodyPr wrap="none">
            <a:spAutoFit/>
          </a:bodyPr>
          <a:lstStyle/>
          <a:p>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固有光学特性与表观光学特性的联系与区别</a:t>
            </a:r>
          </a:p>
        </p:txBody>
      </p:sp>
      <p:sp>
        <p:nvSpPr>
          <p:cNvPr id="8" name="矩形 7"/>
          <p:cNvSpPr/>
          <p:nvPr/>
        </p:nvSpPr>
        <p:spPr>
          <a:xfrm>
            <a:off x="755379" y="1548415"/>
            <a:ext cx="10827021" cy="2553335"/>
          </a:xfrm>
          <a:prstGeom prst="rect">
            <a:avLst/>
          </a:prstGeom>
        </p:spPr>
        <p:txBody>
          <a:bodyPr wrap="square">
            <a:spAutoFit/>
          </a:bodyPr>
          <a:lstStyle/>
          <a:p>
            <a:pPr>
              <a:lnSpc>
                <a:spcPct val="125000"/>
              </a:lnSpc>
            </a:pPr>
            <a:r>
              <a:rPr lang="zh-CN" altLang="en-US" sz="2000" b="1" dirty="0">
                <a:latin typeface="微软雅黑" panose="020B0503020204020204" pitchFamily="34" charset="-122"/>
                <a:ea typeface="微软雅黑" panose="020B0503020204020204" pitchFamily="34" charset="-122"/>
              </a:rPr>
              <a:t>联系</a:t>
            </a:r>
          </a:p>
          <a:p>
            <a:pPr>
              <a:lnSpc>
                <a:spcPct val="125000"/>
              </a:lnSpc>
              <a:buFont typeface="+mj-lt"/>
              <a:buAutoNum type="arabicPeriod"/>
            </a:pPr>
            <a:r>
              <a:rPr lang="zh-CN" altLang="en-US" b="1" dirty="0">
                <a:solidFill>
                  <a:srgbClr val="FF0000"/>
                </a:solidFill>
                <a:latin typeface="微软雅黑" panose="020B0503020204020204" pitchFamily="34" charset="-122"/>
                <a:ea typeface="微软雅黑" panose="020B0503020204020204" pitchFamily="34" charset="-122"/>
              </a:rPr>
              <a:t> 互为表里</a:t>
            </a:r>
            <a:r>
              <a:rPr lang="zh-CN" altLang="en-US" b="1"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固有光学特性是描述水体本身光学特性的基础。表观光学特性则是在特定光照条件下，水体表现出的辐射场的性质。可以说，表观光学特性在某种程度上是固有光学特性在特定环境光场下的表现或衍生。</a:t>
            </a:r>
          </a:p>
          <a:p>
            <a:pPr>
              <a:lnSpc>
                <a:spcPct val="125000"/>
              </a:lnSpc>
              <a:buFont typeface="+mj-lt"/>
              <a:buAutoNum type="arabicPeriod"/>
            </a:pPr>
            <a:r>
              <a:rPr lang="zh-CN" altLang="en-US" b="1" dirty="0">
                <a:solidFill>
                  <a:srgbClr val="FF0000"/>
                </a:solidFill>
                <a:latin typeface="微软雅黑" panose="020B0503020204020204" pitchFamily="34" charset="-122"/>
                <a:ea typeface="微软雅黑" panose="020B0503020204020204" pitchFamily="34" charset="-122"/>
              </a:rPr>
              <a:t> 正反演：</a:t>
            </a:r>
            <a:r>
              <a:rPr lang="zh-CN" altLang="en-US" dirty="0">
                <a:latin typeface="微软雅黑" panose="020B0503020204020204" pitchFamily="34" charset="-122"/>
                <a:ea typeface="微软雅黑" panose="020B0503020204020204" pitchFamily="34" charset="-122"/>
              </a:rPr>
              <a:t>在已知固有光学特性和环境光照的情况下，理论上可以推导出表观光学特性，即正演。已知表观光学特性和环境条件，理论上可以推导出固有光学特性，即反演，实际上，这一反演过程是海洋光学的一大重点和难点。</a:t>
            </a:r>
            <a:endParaRPr lang="zh-CN" altLang="en-US" i="0" dirty="0">
              <a:effectLst/>
              <a:latin typeface="微软雅黑" panose="020B0503020204020204" pitchFamily="34" charset="-122"/>
              <a:ea typeface="微软雅黑" panose="020B0503020204020204" pitchFamily="34" charset="-122"/>
            </a:endParaRPr>
          </a:p>
        </p:txBody>
      </p:sp>
      <p:sp>
        <p:nvSpPr>
          <p:cNvPr id="24" name="矩形 23"/>
          <p:cNvSpPr/>
          <p:nvPr/>
        </p:nvSpPr>
        <p:spPr>
          <a:xfrm>
            <a:off x="755378" y="4042557"/>
            <a:ext cx="10827021" cy="2284095"/>
          </a:xfrm>
          <a:prstGeom prst="rect">
            <a:avLst/>
          </a:prstGeom>
        </p:spPr>
        <p:txBody>
          <a:bodyPr wrap="square">
            <a:spAutoFit/>
          </a:bodyPr>
          <a:lstStyle/>
          <a:p>
            <a:pPr>
              <a:lnSpc>
                <a:spcPct val="125000"/>
              </a:lnSpc>
            </a:pPr>
            <a:r>
              <a:rPr lang="zh-CN" altLang="en-US" sz="2000" b="1" dirty="0">
                <a:latin typeface="微软雅黑" panose="020B0503020204020204" pitchFamily="34" charset="-122"/>
                <a:ea typeface="微软雅黑" panose="020B0503020204020204" pitchFamily="34" charset="-122"/>
              </a:rPr>
              <a:t>区别</a:t>
            </a:r>
            <a:endParaRPr lang="en-US" altLang="zh-CN" sz="2000" b="1" dirty="0">
              <a:latin typeface="微软雅黑" panose="020B0503020204020204" pitchFamily="34" charset="-122"/>
              <a:ea typeface="微软雅黑" panose="020B0503020204020204" pitchFamily="34" charset="-122"/>
            </a:endParaRPr>
          </a:p>
          <a:p>
            <a:pPr>
              <a:lnSpc>
                <a:spcPct val="125000"/>
              </a:lnSpc>
            </a:pPr>
            <a:r>
              <a:rPr lang="zh-CN" altLang="en-US" b="1" dirty="0">
                <a:solidFill>
                  <a:srgbClr val="FF0000"/>
                </a:solidFill>
                <a:latin typeface="微软雅黑" panose="020B0503020204020204" pitchFamily="34" charset="-122"/>
                <a:ea typeface="微软雅黑" panose="020B0503020204020204" pitchFamily="34" charset="-122"/>
              </a:rPr>
              <a:t>1. 定义与影响因素</a:t>
            </a:r>
            <a:r>
              <a:rPr lang="zh-CN" altLang="en-US" dirty="0">
                <a:latin typeface="微软雅黑" panose="020B0503020204020204" pitchFamily="34" charset="-122"/>
                <a:ea typeface="微软雅黑" panose="020B0503020204020204" pitchFamily="34" charset="-122"/>
              </a:rPr>
              <a:t>：固有光学特性只与水体成分有关，不随光照条件变化而变化。表观光学特性随光照条件变化而变化，它不仅依赖于水体介质本身，还依赖于环境与光场的相互作用。</a:t>
            </a:r>
          </a:p>
          <a:p>
            <a:pPr indent="0" fontAlgn="auto">
              <a:lnSpc>
                <a:spcPct val="125000"/>
              </a:lnSpc>
              <a:spcBef>
                <a:spcPts val="600"/>
              </a:spcBef>
            </a:pPr>
            <a:r>
              <a:rPr lang="zh-CN" altLang="en-US" b="1" dirty="0">
                <a:solidFill>
                  <a:srgbClr val="FF0000"/>
                </a:solidFill>
                <a:latin typeface="微软雅黑" panose="020B0503020204020204" pitchFamily="34" charset="-122"/>
                <a:ea typeface="微软雅黑" panose="020B0503020204020204" pitchFamily="34" charset="-122"/>
              </a:rPr>
              <a:t>2. 测量与稳定性</a:t>
            </a:r>
            <a:r>
              <a:rPr lang="zh-CN" altLang="en-US" dirty="0">
                <a:latin typeface="微软雅黑" panose="020B0503020204020204" pitchFamily="34" charset="-122"/>
                <a:ea typeface="微软雅黑" panose="020B0503020204020204" pitchFamily="34" charset="-122"/>
              </a:rPr>
              <a:t>：固有光学特性测量结果较为稳定</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可以在实验室中对水样进行测量，也可以在海洋中进行现场测量。表观光学特性依赖于光照条件，因此其测量结果会随着入射光场的变化而改变，必须现场实时测量，脱离了环境条件的表观光学特性是没有意义的。</a:t>
            </a:r>
            <a:endParaRPr lang="zh-CN" altLang="en-US" i="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2.2.3  </a:t>
            </a:r>
            <a:r>
              <a:rPr lang="zh-CN" altLang="en-US" b="1" dirty="0">
                <a:solidFill>
                  <a:srgbClr val="002060"/>
                </a:solidFill>
              </a:rPr>
              <a:t>海水的传输特性</a:t>
            </a:r>
          </a:p>
        </p:txBody>
      </p:sp>
      <p:sp>
        <p:nvSpPr>
          <p:cNvPr id="2" name="矩形 1"/>
          <p:cNvSpPr/>
          <p:nvPr/>
        </p:nvSpPr>
        <p:spPr>
          <a:xfrm>
            <a:off x="600" y="6465020"/>
            <a:ext cx="22167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2.2  </a:t>
            </a:r>
            <a:r>
              <a:rPr lang="zh-CN" altLang="en-US" sz="1600" dirty="0">
                <a:solidFill>
                  <a:srgbClr val="002060"/>
                </a:solidFill>
                <a:latin typeface="微软雅黑" panose="020B0503020204020204" pitchFamily="34" charset="-122"/>
                <a:ea typeface="微软雅黑" panose="020B0503020204020204" pitchFamily="34" charset="-122"/>
              </a:rPr>
              <a:t>海水及其光学特性</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30</a:t>
            </a:fld>
            <a:endParaRPr kumimoji="1" lang="zh-CN" altLang="en-US"/>
          </a:p>
        </p:txBody>
      </p:sp>
      <p:sp>
        <p:nvSpPr>
          <p:cNvPr id="7" name="矩形 6"/>
          <p:cNvSpPr/>
          <p:nvPr/>
        </p:nvSpPr>
        <p:spPr>
          <a:xfrm>
            <a:off x="364583" y="1103265"/>
            <a:ext cx="11338303" cy="874407"/>
          </a:xfrm>
          <a:prstGeom prst="rect">
            <a:avLst/>
          </a:prstGeom>
        </p:spPr>
        <p:txBody>
          <a:bodyPr wrap="square">
            <a:spAutoFit/>
          </a:bodyPr>
          <a:lstStyle/>
          <a:p>
            <a:pPr indent="304800" algn="just">
              <a:lnSpc>
                <a:spcPct val="150000"/>
              </a:lnSpc>
              <a:spcBef>
                <a:spcPts val="150"/>
              </a:spcBef>
              <a:spcAft>
                <a:spcPts val="0"/>
              </a:spcAft>
            </a:pPr>
            <a:r>
              <a:rPr lang="zh-CN" altLang="zh-CN" kern="0" dirty="0">
                <a:latin typeface="微软雅黑" panose="020B0503020204020204" pitchFamily="34" charset="-122"/>
                <a:ea typeface="微软雅黑" panose="020B0503020204020204" pitchFamily="34" charset="-122"/>
                <a:cs typeface="Times New Roman" panose="02020603050405020304" pitchFamily="18" charset="0"/>
              </a:rPr>
              <a:t>海水的传输特性是指影响光线在海水中传输状况的特性，这些特性决定了光信号在海水介质中的传输效率、传输距离、信号质量以及信号衰减等关键因素。海水的光学传输特性主要包括吸收特性、散射特性及衰减特性。</a:t>
            </a:r>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9" name="直接连接符 8"/>
          <p:cNvCxnSpPr/>
          <p:nvPr/>
        </p:nvCxnSpPr>
        <p:spPr>
          <a:xfrm>
            <a:off x="6096000" y="2089290"/>
            <a:ext cx="0" cy="1390381"/>
          </a:xfrm>
          <a:prstGeom prst="line">
            <a:avLst/>
          </a:prstGeom>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450308" y="2105404"/>
            <a:ext cx="5502812" cy="369332"/>
          </a:xfrm>
          <a:prstGeom prst="rect">
            <a:avLst/>
          </a:prstGeom>
        </p:spPr>
        <p:txBody>
          <a:bodyPr wrap="square">
            <a:spAutoFit/>
          </a:bodyPr>
          <a:lstStyle/>
          <a:p>
            <a:r>
              <a:rPr lang="zh-CN" altLang="zh-CN" b="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吸收特性</a:t>
            </a:r>
            <a:endParaRPr lang="zh-CN"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2" name="表格 11"/>
          <p:cNvGraphicFramePr>
            <a:graphicFrameLocks noGrp="1"/>
          </p:cNvGraphicFramePr>
          <p:nvPr/>
        </p:nvGraphicFramePr>
        <p:xfrm>
          <a:off x="1085849" y="4345211"/>
          <a:ext cx="9991724" cy="1815150"/>
        </p:xfrm>
        <a:graphic>
          <a:graphicData uri="http://schemas.openxmlformats.org/drawingml/2006/table">
            <a:tbl>
              <a:tblPr firstRow="1" firstCol="1" bandRow="1">
                <a:tableStyleId>{5C22544A-7EE6-4342-B048-85BDC9FD1C3A}</a:tableStyleId>
              </a:tblPr>
              <a:tblGrid>
                <a:gridCol w="2497931">
                  <a:extLst>
                    <a:ext uri="{9D8B030D-6E8A-4147-A177-3AD203B41FA5}">
                      <a16:colId xmlns:a16="http://schemas.microsoft.com/office/drawing/2014/main" val="20000"/>
                    </a:ext>
                  </a:extLst>
                </a:gridCol>
                <a:gridCol w="2497931">
                  <a:extLst>
                    <a:ext uri="{9D8B030D-6E8A-4147-A177-3AD203B41FA5}">
                      <a16:colId xmlns:a16="http://schemas.microsoft.com/office/drawing/2014/main" val="20001"/>
                    </a:ext>
                  </a:extLst>
                </a:gridCol>
                <a:gridCol w="2497931">
                  <a:extLst>
                    <a:ext uri="{9D8B030D-6E8A-4147-A177-3AD203B41FA5}">
                      <a16:colId xmlns:a16="http://schemas.microsoft.com/office/drawing/2014/main" val="20002"/>
                    </a:ext>
                  </a:extLst>
                </a:gridCol>
                <a:gridCol w="2497931">
                  <a:extLst>
                    <a:ext uri="{9D8B030D-6E8A-4147-A177-3AD203B41FA5}">
                      <a16:colId xmlns:a16="http://schemas.microsoft.com/office/drawing/2014/main" val="20003"/>
                    </a:ext>
                  </a:extLst>
                </a:gridCol>
              </a:tblGrid>
              <a:tr h="355819">
                <a:tc>
                  <a:txBody>
                    <a:bodyPr/>
                    <a:lstStyle/>
                    <a:p>
                      <a:pPr indent="266700" algn="ctr">
                        <a:lnSpc>
                          <a:spcPct val="150000"/>
                        </a:lnSpc>
                        <a:spcBef>
                          <a:spcPts val="360"/>
                        </a:spcBef>
                        <a:spcAft>
                          <a:spcPts val="0"/>
                        </a:spcAft>
                      </a:pPr>
                      <a:r>
                        <a:rPr lang="zh-CN" sz="1800" kern="100" dirty="0">
                          <a:effectLst/>
                          <a:latin typeface="微软雅黑" panose="020B0503020204020204" pitchFamily="34" charset="-122"/>
                          <a:ea typeface="微软雅黑" panose="020B0503020204020204" pitchFamily="34" charset="-122"/>
                        </a:rPr>
                        <a:t>水质</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zh-CN" sz="1800" kern="100" dirty="0">
                          <a:effectLst/>
                          <a:latin typeface="微软雅黑" panose="020B0503020204020204" pitchFamily="34" charset="-122"/>
                          <a:ea typeface="微软雅黑" panose="020B0503020204020204" pitchFamily="34" charset="-122"/>
                        </a:rPr>
                        <a:t>吸收系数</a:t>
                      </a:r>
                      <a:r>
                        <a:rPr lang="en-US" sz="1800" kern="100" dirty="0">
                          <a:effectLst/>
                          <a:latin typeface="微软雅黑" panose="020B0503020204020204" pitchFamily="34" charset="-122"/>
                          <a:ea typeface="微软雅黑" panose="020B0503020204020204" pitchFamily="34" charset="-122"/>
                        </a:rPr>
                        <a:t>a</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zh-CN" sz="1800" kern="100">
                          <a:effectLst/>
                          <a:latin typeface="微软雅黑" panose="020B0503020204020204" pitchFamily="34" charset="-122"/>
                          <a:ea typeface="微软雅黑" panose="020B0503020204020204" pitchFamily="34" charset="-122"/>
                        </a:rPr>
                        <a:t>散射系数</a:t>
                      </a:r>
                      <a:r>
                        <a:rPr lang="en-US" sz="1800" kern="100">
                          <a:effectLst/>
                          <a:latin typeface="微软雅黑" panose="020B0503020204020204" pitchFamily="34" charset="-122"/>
                          <a:ea typeface="微软雅黑" panose="020B0503020204020204" pitchFamily="34" charset="-122"/>
                        </a:rPr>
                        <a:t>b</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zh-CN" sz="1800" kern="100">
                          <a:effectLst/>
                          <a:latin typeface="微软雅黑" panose="020B0503020204020204" pitchFamily="34" charset="-122"/>
                          <a:ea typeface="微软雅黑" panose="020B0503020204020204" pitchFamily="34" charset="-122"/>
                        </a:rPr>
                        <a:t>衰减系数</a:t>
                      </a:r>
                      <a:r>
                        <a:rPr lang="en-US" sz="1800" kern="100">
                          <a:effectLst/>
                          <a:latin typeface="微软雅黑" panose="020B0503020204020204" pitchFamily="34" charset="-122"/>
                          <a:ea typeface="微软雅黑" panose="020B0503020204020204" pitchFamily="34" charset="-122"/>
                        </a:rPr>
                        <a:t>c</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extLst>
                  <a:ext uri="{0D108BD9-81ED-4DB2-BD59-A6C34878D82A}">
                    <a16:rowId xmlns:a16="http://schemas.microsoft.com/office/drawing/2014/main" val="10000"/>
                  </a:ext>
                </a:extLst>
              </a:tr>
              <a:tr h="359385">
                <a:tc>
                  <a:txBody>
                    <a:bodyPr/>
                    <a:lstStyle/>
                    <a:p>
                      <a:pPr indent="266700" algn="ctr">
                        <a:lnSpc>
                          <a:spcPct val="150000"/>
                        </a:lnSpc>
                        <a:spcBef>
                          <a:spcPts val="360"/>
                        </a:spcBef>
                        <a:spcAft>
                          <a:spcPts val="0"/>
                        </a:spcAft>
                      </a:pPr>
                      <a:r>
                        <a:rPr lang="zh-CN" sz="1800" kern="100" dirty="0">
                          <a:effectLst/>
                          <a:latin typeface="微软雅黑" panose="020B0503020204020204" pitchFamily="34" charset="-122"/>
                          <a:ea typeface="微软雅黑" panose="020B0503020204020204" pitchFamily="34" charset="-122"/>
                        </a:rPr>
                        <a:t>纯海水</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a:effectLst/>
                          <a:latin typeface="微软雅黑" panose="020B0503020204020204" pitchFamily="34" charset="-122"/>
                          <a:ea typeface="微软雅黑" panose="020B0503020204020204" pitchFamily="34" charset="-122"/>
                        </a:rPr>
                        <a:t>0.0405</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a:effectLst/>
                          <a:latin typeface="微软雅黑" panose="020B0503020204020204" pitchFamily="34" charset="-122"/>
                          <a:ea typeface="微软雅黑" panose="020B0503020204020204" pitchFamily="34" charset="-122"/>
                        </a:rPr>
                        <a:t>0.0025</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a:effectLst/>
                          <a:latin typeface="微软雅黑" panose="020B0503020204020204" pitchFamily="34" charset="-122"/>
                          <a:ea typeface="微软雅黑" panose="020B0503020204020204" pitchFamily="34" charset="-122"/>
                        </a:rPr>
                        <a:t>0.043</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extLst>
                  <a:ext uri="{0D108BD9-81ED-4DB2-BD59-A6C34878D82A}">
                    <a16:rowId xmlns:a16="http://schemas.microsoft.com/office/drawing/2014/main" val="10001"/>
                  </a:ext>
                </a:extLst>
              </a:tr>
              <a:tr h="359385">
                <a:tc>
                  <a:txBody>
                    <a:bodyPr/>
                    <a:lstStyle/>
                    <a:p>
                      <a:pPr indent="266700" algn="ctr">
                        <a:lnSpc>
                          <a:spcPct val="150000"/>
                        </a:lnSpc>
                        <a:spcBef>
                          <a:spcPts val="360"/>
                        </a:spcBef>
                        <a:spcAft>
                          <a:spcPts val="0"/>
                        </a:spcAft>
                      </a:pPr>
                      <a:r>
                        <a:rPr lang="zh-CN" sz="1800" kern="100">
                          <a:effectLst/>
                          <a:latin typeface="微软雅黑" panose="020B0503020204020204" pitchFamily="34" charset="-122"/>
                          <a:ea typeface="微软雅黑" panose="020B0503020204020204" pitchFamily="34" charset="-122"/>
                        </a:rPr>
                        <a:t>清澈海水</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a:effectLst/>
                          <a:latin typeface="微软雅黑" panose="020B0503020204020204" pitchFamily="34" charset="-122"/>
                          <a:ea typeface="微软雅黑" panose="020B0503020204020204" pitchFamily="34" charset="-122"/>
                        </a:rPr>
                        <a:t>0.114</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a:effectLst/>
                          <a:latin typeface="微软雅黑" panose="020B0503020204020204" pitchFamily="34" charset="-122"/>
                          <a:ea typeface="微软雅黑" panose="020B0503020204020204" pitchFamily="34" charset="-122"/>
                        </a:rPr>
                        <a:t>0.037</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a:effectLst/>
                          <a:latin typeface="微软雅黑" panose="020B0503020204020204" pitchFamily="34" charset="-122"/>
                          <a:ea typeface="微软雅黑" panose="020B0503020204020204" pitchFamily="34" charset="-122"/>
                        </a:rPr>
                        <a:t>0.151</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extLst>
                  <a:ext uri="{0D108BD9-81ED-4DB2-BD59-A6C34878D82A}">
                    <a16:rowId xmlns:a16="http://schemas.microsoft.com/office/drawing/2014/main" val="10002"/>
                  </a:ext>
                </a:extLst>
              </a:tr>
              <a:tr h="359385">
                <a:tc>
                  <a:txBody>
                    <a:bodyPr/>
                    <a:lstStyle/>
                    <a:p>
                      <a:pPr indent="266700" algn="ctr">
                        <a:lnSpc>
                          <a:spcPct val="150000"/>
                        </a:lnSpc>
                        <a:spcBef>
                          <a:spcPts val="360"/>
                        </a:spcBef>
                        <a:spcAft>
                          <a:spcPts val="0"/>
                        </a:spcAft>
                      </a:pPr>
                      <a:r>
                        <a:rPr lang="zh-CN" sz="1800" kern="100">
                          <a:effectLst/>
                          <a:latin typeface="微软雅黑" panose="020B0503020204020204" pitchFamily="34" charset="-122"/>
                          <a:ea typeface="微软雅黑" panose="020B0503020204020204" pitchFamily="34" charset="-122"/>
                        </a:rPr>
                        <a:t>沿岸海水</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a:effectLst/>
                          <a:latin typeface="微软雅黑" panose="020B0503020204020204" pitchFamily="34" charset="-122"/>
                          <a:ea typeface="微软雅黑" panose="020B0503020204020204" pitchFamily="34" charset="-122"/>
                        </a:rPr>
                        <a:t>0.179</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a:effectLst/>
                          <a:latin typeface="微软雅黑" panose="020B0503020204020204" pitchFamily="34" charset="-122"/>
                          <a:ea typeface="微软雅黑" panose="020B0503020204020204" pitchFamily="34" charset="-122"/>
                        </a:rPr>
                        <a:t>0.219</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a:effectLst/>
                          <a:latin typeface="微软雅黑" panose="020B0503020204020204" pitchFamily="34" charset="-122"/>
                          <a:ea typeface="微软雅黑" panose="020B0503020204020204" pitchFamily="34" charset="-122"/>
                        </a:rPr>
                        <a:t>0.398</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extLst>
                  <a:ext uri="{0D108BD9-81ED-4DB2-BD59-A6C34878D82A}">
                    <a16:rowId xmlns:a16="http://schemas.microsoft.com/office/drawing/2014/main" val="10003"/>
                  </a:ext>
                </a:extLst>
              </a:tr>
              <a:tr h="359385">
                <a:tc>
                  <a:txBody>
                    <a:bodyPr/>
                    <a:lstStyle/>
                    <a:p>
                      <a:pPr indent="266700" algn="ctr">
                        <a:lnSpc>
                          <a:spcPct val="150000"/>
                        </a:lnSpc>
                        <a:spcBef>
                          <a:spcPts val="360"/>
                        </a:spcBef>
                        <a:spcAft>
                          <a:spcPts val="0"/>
                        </a:spcAft>
                      </a:pPr>
                      <a:r>
                        <a:rPr lang="zh-CN" sz="1800" kern="100">
                          <a:effectLst/>
                          <a:latin typeface="微软雅黑" panose="020B0503020204020204" pitchFamily="34" charset="-122"/>
                          <a:ea typeface="微软雅黑" panose="020B0503020204020204" pitchFamily="34" charset="-122"/>
                        </a:rPr>
                        <a:t>港口海水</a:t>
                      </a:r>
                      <a:endParaRPr 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dirty="0">
                          <a:effectLst/>
                          <a:latin typeface="微软雅黑" panose="020B0503020204020204" pitchFamily="34" charset="-122"/>
                          <a:ea typeface="微软雅黑" panose="020B0503020204020204" pitchFamily="34" charset="-122"/>
                        </a:rPr>
                        <a:t>0.366</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dirty="0">
                          <a:effectLst/>
                          <a:latin typeface="微软雅黑" panose="020B0503020204020204" pitchFamily="34" charset="-122"/>
                          <a:ea typeface="微软雅黑" panose="020B0503020204020204" pitchFamily="34" charset="-122"/>
                        </a:rPr>
                        <a:t>1.824</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tc>
                  <a:txBody>
                    <a:bodyPr/>
                    <a:lstStyle/>
                    <a:p>
                      <a:pPr indent="266700" algn="ctr">
                        <a:lnSpc>
                          <a:spcPct val="150000"/>
                        </a:lnSpc>
                        <a:spcBef>
                          <a:spcPts val="360"/>
                        </a:spcBef>
                        <a:spcAft>
                          <a:spcPts val="0"/>
                        </a:spcAft>
                      </a:pPr>
                      <a:r>
                        <a:rPr lang="en-US" sz="1800" kern="100" dirty="0">
                          <a:effectLst/>
                          <a:latin typeface="微软雅黑" panose="020B0503020204020204" pitchFamily="34" charset="-122"/>
                          <a:ea typeface="微软雅黑" panose="020B0503020204020204" pitchFamily="34" charset="-122"/>
                        </a:rPr>
                        <a:t>2.19</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39492" marR="139492" marT="0" marB="0" anchor="ct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15" name="矩形 14"/>
              <p:cNvSpPr/>
              <p:nvPr/>
            </p:nvSpPr>
            <p:spPr>
              <a:xfrm>
                <a:off x="681877" y="2477962"/>
                <a:ext cx="5094728" cy="4366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𝑎</m:t>
                      </m:r>
                      <m:d>
                        <m:dPr>
                          <m:ctrlPr>
                            <a:rPr lang="zh-CN" altLang="en-US" i="1">
                              <a:latin typeface="Cambria Math" panose="02040503050406030204" pitchFamily="18" charset="0"/>
                            </a:rPr>
                          </m:ctrlPr>
                        </m:dPr>
                        <m:e>
                          <m:r>
                            <a:rPr lang="zh-CN" altLang="en-US" i="1">
                              <a:latin typeface="Cambria Math" panose="02040503050406030204" pitchFamily="18" charset="0"/>
                            </a:rPr>
                            <m:t>𝜆</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𝑤</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𝜆</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m:rPr>
                              <m:nor/>
                            </m:rPr>
                            <a:rPr lang="zh-CN" altLang="en-US" i="1">
                              <a:latin typeface="Cambria Math" panose="02040503050406030204" pitchFamily="18" charset="0"/>
                            </a:rPr>
                            <m:t>CDOM</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𝜆</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m:rPr>
                              <m:nor/>
                            </m:rPr>
                            <a:rPr lang="zh-CN" altLang="en-US" i="1">
                              <a:latin typeface="Cambria Math" panose="02040503050406030204" pitchFamily="18" charset="0"/>
                            </a:rPr>
                            <m:t>phy</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𝜆</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m:rPr>
                              <m:nor/>
                            </m:rPr>
                            <a:rPr lang="zh-CN" altLang="en-US" i="1">
                              <a:latin typeface="Cambria Math" panose="02040503050406030204" pitchFamily="18" charset="0"/>
                            </a:rPr>
                            <m:t>det</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𝜆</m:t>
                          </m:r>
                        </m:e>
                      </m:d>
                    </m:oMath>
                  </m:oMathPara>
                </a14:m>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681877" y="2477962"/>
                <a:ext cx="5094728" cy="436658"/>
              </a:xfrm>
              <a:prstGeom prst="rect">
                <a:avLst/>
              </a:prstGeom>
              <a:blipFill rotWithShape="1">
                <a:blip r:embed="rId2"/>
                <a:stretch>
                  <a:fillRect l="-10" t="-44" b="139"/>
                </a:stretch>
              </a:blipFill>
            </p:spPr>
            <p:txBody>
              <a:bodyPr/>
              <a:lstStyle/>
              <a:p>
                <a:r>
                  <a:rPr lang="zh-CN" altLang="en-US">
                    <a:noFill/>
                  </a:rPr>
                  <a:t> </a:t>
                </a:r>
              </a:p>
            </p:txBody>
          </p:sp>
        </mc:Fallback>
      </mc:AlternateContent>
      <p:sp>
        <p:nvSpPr>
          <p:cNvPr id="16" name="矩形 15"/>
          <p:cNvSpPr/>
          <p:nvPr/>
        </p:nvSpPr>
        <p:spPr>
          <a:xfrm>
            <a:off x="1333360" y="2897783"/>
            <a:ext cx="1157232" cy="584775"/>
          </a:xfrm>
          <a:prstGeom prst="rect">
            <a:avLst/>
          </a:prstGeom>
        </p:spPr>
        <p:txBody>
          <a:bodyPr wrap="square">
            <a:spAutoFit/>
          </a:bodyPr>
          <a:lstStyle/>
          <a:p>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水分子与无机盐</a:t>
            </a:r>
            <a:endParaRPr lang="zh-CN" altLang="en-US" sz="1600" dirty="0"/>
          </a:p>
        </p:txBody>
      </p:sp>
      <p:sp>
        <p:nvSpPr>
          <p:cNvPr id="17" name="矩形 16"/>
          <p:cNvSpPr/>
          <p:nvPr/>
        </p:nvSpPr>
        <p:spPr>
          <a:xfrm>
            <a:off x="2490592" y="2894896"/>
            <a:ext cx="1081381" cy="584775"/>
          </a:xfrm>
          <a:prstGeom prst="rect">
            <a:avLst/>
          </a:prstGeom>
        </p:spPr>
        <p:txBody>
          <a:bodyPr wrap="square">
            <a:spAutoFit/>
          </a:bodyPr>
          <a:lstStyle/>
          <a:p>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有色可溶有机物</a:t>
            </a:r>
            <a:endParaRPr lang="zh-CN" altLang="en-US" sz="1600" dirty="0"/>
          </a:p>
        </p:txBody>
      </p:sp>
      <p:sp>
        <p:nvSpPr>
          <p:cNvPr id="18" name="矩形 17"/>
          <p:cNvSpPr/>
          <p:nvPr/>
        </p:nvSpPr>
        <p:spPr>
          <a:xfrm>
            <a:off x="3651624" y="2918038"/>
            <a:ext cx="1005403" cy="338554"/>
          </a:xfrm>
          <a:prstGeom prst="rect">
            <a:avLst/>
          </a:prstGeom>
        </p:spPr>
        <p:txBody>
          <a:bodyPr wrap="none">
            <a:spAutoFit/>
          </a:bodyPr>
          <a:lstStyle/>
          <a:p>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浮游植物</a:t>
            </a:r>
            <a:endParaRPr lang="zh-CN" altLang="en-US" sz="1600" dirty="0"/>
          </a:p>
        </p:txBody>
      </p:sp>
      <p:sp>
        <p:nvSpPr>
          <p:cNvPr id="19" name="矩形 18"/>
          <p:cNvSpPr/>
          <p:nvPr/>
        </p:nvSpPr>
        <p:spPr>
          <a:xfrm>
            <a:off x="4728467" y="2907982"/>
            <a:ext cx="1247774" cy="584775"/>
          </a:xfrm>
          <a:prstGeom prst="rect">
            <a:avLst/>
          </a:prstGeom>
        </p:spPr>
        <p:txBody>
          <a:bodyPr wrap="square">
            <a:spAutoFit/>
          </a:bodyPr>
          <a:lstStyle/>
          <a:p>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碎屑和非色素颗粒物</a:t>
            </a:r>
            <a:endParaRPr lang="zh-CN" altLang="en-US" sz="1600" dirty="0"/>
          </a:p>
        </p:txBody>
      </p:sp>
      <p:sp>
        <p:nvSpPr>
          <p:cNvPr id="20" name="矩形 19"/>
          <p:cNvSpPr/>
          <p:nvPr/>
        </p:nvSpPr>
        <p:spPr>
          <a:xfrm>
            <a:off x="6215760" y="2109122"/>
            <a:ext cx="5502812" cy="369332"/>
          </a:xfrm>
          <a:prstGeom prst="rect">
            <a:avLst/>
          </a:prstGeom>
        </p:spPr>
        <p:txBody>
          <a:bodyPr wrap="square">
            <a:spAutoFit/>
          </a:bodyPr>
          <a:lstStyle/>
          <a:p>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散射特性</a:t>
            </a:r>
          </a:p>
        </p:txBody>
      </p:sp>
      <mc:AlternateContent xmlns:mc="http://schemas.openxmlformats.org/markup-compatibility/2006" xmlns:a14="http://schemas.microsoft.com/office/drawing/2010/main">
        <mc:Choice Requires="a14">
          <p:sp>
            <p:nvSpPr>
              <p:cNvPr id="21" name="矩形 20"/>
              <p:cNvSpPr/>
              <p:nvPr/>
            </p:nvSpPr>
            <p:spPr>
              <a:xfrm>
                <a:off x="7292701" y="2431167"/>
                <a:ext cx="3348929" cy="4137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𝑏</m:t>
                          </m:r>
                          <m:r>
                            <a:rPr lang="zh-CN" altLang="en-US" i="0">
                              <a:latin typeface="Cambria Math" panose="02040503050406030204" pitchFamily="18" charset="0"/>
                            </a:rPr>
                            <m:t>(</m:t>
                          </m:r>
                          <m:r>
                            <a:rPr lang="zh-CN" altLang="en-US" i="1">
                              <a:latin typeface="Cambria Math" panose="02040503050406030204" pitchFamily="18" charset="0"/>
                            </a:rPr>
                            <m:t>𝜆</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𝑏</m:t>
                              </m:r>
                            </m:e>
                            <m:sub>
                              <m:r>
                                <m:rPr>
                                  <m:sty m:val="p"/>
                                </m:rPr>
                                <a:rPr lang="zh-CN" altLang="en-US" i="0">
                                  <a:latin typeface="Cambria Math" panose="02040503050406030204" pitchFamily="18" charset="0"/>
                                </a:rPr>
                                <m:t>w</m:t>
                              </m:r>
                            </m:sub>
                          </m:sSub>
                          <m:r>
                            <a:rPr lang="zh-CN" altLang="en-US" i="0">
                              <a:latin typeface="Cambria Math" panose="02040503050406030204" pitchFamily="18" charset="0"/>
                            </a:rPr>
                            <m:t>(</m:t>
                          </m:r>
                          <m:r>
                            <a:rPr lang="zh-CN" altLang="en-US" i="1">
                              <a:latin typeface="Cambria Math" panose="02040503050406030204" pitchFamily="18" charset="0"/>
                            </a:rPr>
                            <m:t>𝜆</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𝑏</m:t>
                              </m:r>
                            </m:e>
                            <m:sub>
                              <m:r>
                                <m:rPr>
                                  <m:sty m:val="p"/>
                                </m:rPr>
                                <a:rPr lang="zh-CN" altLang="en-US" i="0">
                                  <a:latin typeface="Cambria Math" panose="02040503050406030204" pitchFamily="18" charset="0"/>
                                </a:rPr>
                                <m:t>ph</m:t>
                              </m:r>
                            </m:sub>
                          </m:sSub>
                          <m:r>
                            <a:rPr lang="zh-CN" altLang="en-US" i="0">
                              <a:latin typeface="Cambria Math" panose="02040503050406030204" pitchFamily="18" charset="0"/>
                            </a:rPr>
                            <m:t>(</m:t>
                          </m:r>
                          <m:r>
                            <a:rPr lang="zh-CN" altLang="en-US" i="1">
                              <a:latin typeface="Cambria Math" panose="02040503050406030204" pitchFamily="18" charset="0"/>
                            </a:rPr>
                            <m:t>𝜆</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𝑏</m:t>
                              </m:r>
                            </m:e>
                            <m:sub>
                              <m:r>
                                <m:rPr>
                                  <m:sty m:val="p"/>
                                </m:rPr>
                                <a:rPr lang="zh-CN" altLang="en-US" i="0">
                                  <a:latin typeface="Cambria Math" panose="02040503050406030204" pitchFamily="18" charset="0"/>
                                </a:rPr>
                                <m:t>d</m:t>
                              </m:r>
                            </m:sub>
                          </m:sSub>
                          <m:r>
                            <a:rPr lang="zh-CN" altLang="en-US" i="0">
                              <a:latin typeface="Cambria Math" panose="02040503050406030204" pitchFamily="18" charset="0"/>
                            </a:rPr>
                            <m:t>(</m:t>
                          </m:r>
                          <m:r>
                            <a:rPr lang="zh-CN" altLang="en-US" i="1">
                              <a:latin typeface="Cambria Math" panose="02040503050406030204" pitchFamily="18" charset="0"/>
                            </a:rPr>
                            <m:t>𝜆</m:t>
                          </m:r>
                        </m:e>
                      </m:d>
                    </m:oMath>
                  </m:oMathPara>
                </a14:m>
                <a:endParaRPr lang="zh-CN"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7292701" y="2431167"/>
                <a:ext cx="3348929" cy="413768"/>
              </a:xfrm>
              <a:prstGeom prst="rect">
                <a:avLst/>
              </a:prstGeom>
              <a:blipFill rotWithShape="1">
                <a:blip r:embed="rId3"/>
                <a:stretch>
                  <a:fillRect l="-11" t="-94" r="9" b="33"/>
                </a:stretch>
              </a:blipFill>
            </p:spPr>
            <p:txBody>
              <a:bodyPr/>
              <a:lstStyle/>
              <a:p>
                <a:r>
                  <a:rPr lang="zh-CN" altLang="en-US">
                    <a:noFill/>
                  </a:rPr>
                  <a:t> </a:t>
                </a:r>
              </a:p>
            </p:txBody>
          </p:sp>
        </mc:Fallback>
      </mc:AlternateContent>
      <p:sp>
        <p:nvSpPr>
          <p:cNvPr id="23" name="矩形 22"/>
          <p:cNvSpPr/>
          <p:nvPr/>
        </p:nvSpPr>
        <p:spPr>
          <a:xfrm>
            <a:off x="8094855" y="2914620"/>
            <a:ext cx="6096000" cy="338554"/>
          </a:xfrm>
          <a:prstGeom prst="rect">
            <a:avLst/>
          </a:prstGeom>
        </p:spPr>
        <p:txBody>
          <a:bodyPr>
            <a:spAutoFit/>
          </a:bodyPr>
          <a:lstStyle/>
          <a:p>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水分子</a:t>
            </a:r>
            <a:endParaRPr lang="zh-CN" altLang="en-US" sz="1600" dirty="0">
              <a:latin typeface="微软雅黑" panose="020B0503020204020204" pitchFamily="34" charset="-122"/>
              <a:ea typeface="微软雅黑" panose="020B0503020204020204" pitchFamily="34" charset="-122"/>
            </a:endParaRPr>
          </a:p>
        </p:txBody>
      </p:sp>
      <p:sp>
        <p:nvSpPr>
          <p:cNvPr id="24" name="矩形 23"/>
          <p:cNvSpPr/>
          <p:nvPr/>
        </p:nvSpPr>
        <p:spPr>
          <a:xfrm>
            <a:off x="9876640" y="2910565"/>
            <a:ext cx="1312561" cy="584775"/>
          </a:xfrm>
          <a:prstGeom prst="rect">
            <a:avLst/>
          </a:prstGeom>
        </p:spPr>
        <p:txBody>
          <a:bodyPr wrap="square">
            <a:spAutoFit/>
          </a:bodyPr>
          <a:lstStyle/>
          <a:p>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非色素</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悬浮粒子</a:t>
            </a:r>
            <a:endParaRPr lang="zh-CN" altLang="en-US" sz="1600" dirty="0"/>
          </a:p>
        </p:txBody>
      </p:sp>
      <p:sp>
        <p:nvSpPr>
          <p:cNvPr id="25" name="矩形 24"/>
          <p:cNvSpPr/>
          <p:nvPr/>
        </p:nvSpPr>
        <p:spPr>
          <a:xfrm>
            <a:off x="8871237" y="2907338"/>
            <a:ext cx="1005403" cy="338554"/>
          </a:xfrm>
          <a:prstGeom prst="rect">
            <a:avLst/>
          </a:prstGeom>
        </p:spPr>
        <p:txBody>
          <a:bodyPr wrap="none">
            <a:spAutoFit/>
          </a:bodyPr>
          <a:lstStyle/>
          <a:p>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浮游生物</a:t>
            </a:r>
            <a:endParaRPr lang="zh-CN" altLang="en-US" sz="1600" dirty="0"/>
          </a:p>
        </p:txBody>
      </p:sp>
      <p:sp>
        <p:nvSpPr>
          <p:cNvPr id="26" name="矩形 25"/>
          <p:cNvSpPr/>
          <p:nvPr/>
        </p:nvSpPr>
        <p:spPr>
          <a:xfrm>
            <a:off x="1152525" y="3717290"/>
            <a:ext cx="9895205" cy="368300"/>
          </a:xfrm>
          <a:prstGeom prst="rect">
            <a:avLst/>
          </a:prstGeom>
        </p:spPr>
        <p:txBody>
          <a:bodyPr wrap="square">
            <a:spAutoFit/>
          </a:bodyPr>
          <a:lstStyle/>
          <a:p>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衰减特性</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在传输方向上是散射特性和吸收特性的线性</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叠加</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，下表是常见水体的典型系数值：</a:t>
            </a:r>
            <a:endParaRPr lang="zh-CN" altLang="en-US" dirty="0">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1524000" y="2902085"/>
            <a:ext cx="69338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2428787" y="2902085"/>
            <a:ext cx="114318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771900" y="2899045"/>
            <a:ext cx="88512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838700" y="2889520"/>
            <a:ext cx="81915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124860" y="2841895"/>
            <a:ext cx="695290" cy="304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9019059" y="2839530"/>
            <a:ext cx="69644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9910537" y="2835815"/>
            <a:ext cx="62411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282327" y="278793"/>
            <a:ext cx="10399395" cy="645160"/>
          </a:xfrm>
          <a:prstGeom prst="rect">
            <a:avLst/>
          </a:prstGeom>
          <a:noFill/>
        </p:spPr>
        <p:txBody>
          <a:bodyPr wrap="square" rtlCol="0">
            <a:spAutoFit/>
          </a:bodyPr>
          <a:lstStyle/>
          <a:p>
            <a:pPr algn="ctr" fontAlgn="auto">
              <a:lnSpc>
                <a:spcPct val="100000"/>
              </a:lnSpc>
            </a:pPr>
            <a:r>
              <a:rPr kumimoji="1" lang="zh-CN" altLang="en-US" sz="3600" b="1" dirty="0">
                <a:latin typeface="微软雅黑" panose="020B0503020204020204" pitchFamily="34" charset="-122"/>
                <a:ea typeface="微软雅黑" panose="020B0503020204020204" pitchFamily="34" charset="-122"/>
              </a:rPr>
              <a:t>教学单元</a:t>
            </a:r>
            <a:endParaRPr kumimoji="1" lang="en-US" altLang="zh-CN" sz="36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233124" y="1729246"/>
            <a:ext cx="6508376" cy="4030980"/>
          </a:xfrm>
          <a:prstGeom prst="rect">
            <a:avLst/>
          </a:prstGeom>
          <a:noFill/>
        </p:spPr>
        <p:txBody>
          <a:bodyPr wrap="square" rtlCol="0">
            <a:spAutoFit/>
          </a:bodyPr>
          <a:lstStyle/>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2.1  </a:t>
            </a:r>
            <a:r>
              <a:rPr lang="zh-CN" altLang="en-US" sz="3200" b="1" dirty="0">
                <a:solidFill>
                  <a:srgbClr val="002060"/>
                </a:solidFill>
                <a:latin typeface="微软雅黑" panose="020B0503020204020204" pitchFamily="34" charset="-122"/>
                <a:ea typeface="微软雅黑" panose="020B0503020204020204" pitchFamily="34" charset="-122"/>
                <a:sym typeface="+mn-ea"/>
              </a:rPr>
              <a:t>光及其基本特性</a:t>
            </a:r>
            <a:endParaRPr lang="en-US" altLang="zh-CN" sz="3200" b="1" dirty="0">
              <a:solidFill>
                <a:srgbClr val="002060"/>
              </a:solidFill>
              <a:latin typeface="微软雅黑" panose="020B0503020204020204" pitchFamily="34" charset="-122"/>
              <a:ea typeface="微软雅黑" panose="020B0503020204020204" pitchFamily="34" charset="-122"/>
            </a:endParaRPr>
          </a:p>
          <a:p>
            <a:pPr>
              <a:lnSpc>
                <a:spcPct val="200000"/>
              </a:lnSpc>
            </a:pPr>
            <a:r>
              <a:rPr lang="en-US" altLang="zh-CN" sz="3200" b="1" dirty="0">
                <a:solidFill>
                  <a:srgbClr val="002060"/>
                </a:solidFill>
                <a:latin typeface="微软雅黑" panose="020B0503020204020204" pitchFamily="34" charset="-122"/>
                <a:ea typeface="微软雅黑" panose="020B0503020204020204" pitchFamily="34" charset="-122"/>
              </a:rPr>
              <a:t>2.2  </a:t>
            </a:r>
            <a:r>
              <a:rPr lang="zh-CN" altLang="en-US" sz="3200" b="1" dirty="0">
                <a:solidFill>
                  <a:srgbClr val="002060"/>
                </a:solidFill>
                <a:latin typeface="微软雅黑" panose="020B0503020204020204" pitchFamily="34" charset="-122"/>
                <a:ea typeface="微软雅黑" panose="020B0503020204020204" pitchFamily="34" charset="-122"/>
                <a:sym typeface="+mn-ea"/>
              </a:rPr>
              <a:t>海水及其光学特性</a:t>
            </a:r>
            <a:endParaRPr lang="en-US" altLang="zh-CN" sz="3200" b="1" dirty="0">
              <a:solidFill>
                <a:srgbClr val="002060"/>
              </a:solidFill>
              <a:latin typeface="微软雅黑" panose="020B0503020204020204" pitchFamily="34" charset="-122"/>
              <a:ea typeface="微软雅黑" panose="020B0503020204020204" pitchFamily="34" charset="-122"/>
            </a:endParaRPr>
          </a:p>
          <a:p>
            <a:pPr>
              <a:lnSpc>
                <a:spcPct val="200000"/>
              </a:lnSpc>
            </a:pPr>
            <a:r>
              <a:rPr lang="en-US" altLang="zh-CN" sz="3200" b="1" dirty="0">
                <a:solidFill>
                  <a:srgbClr val="C00000"/>
                </a:solidFill>
                <a:latin typeface="微软雅黑" panose="020B0503020204020204" pitchFamily="34" charset="-122"/>
                <a:ea typeface="微软雅黑" panose="020B0503020204020204" pitchFamily="34" charset="-122"/>
              </a:rPr>
              <a:t>2.3  </a:t>
            </a:r>
            <a:r>
              <a:rPr lang="zh-CN" altLang="en-US" sz="3200" b="1" dirty="0">
                <a:solidFill>
                  <a:srgbClr val="C00000"/>
                </a:solidFill>
                <a:latin typeface="微软雅黑" panose="020B0503020204020204" pitchFamily="34" charset="-122"/>
                <a:ea typeface="微软雅黑" panose="020B0503020204020204" pitchFamily="34" charset="-122"/>
                <a:sym typeface="+mn-ea"/>
              </a:rPr>
              <a:t>光电系统基础</a:t>
            </a:r>
            <a:endParaRPr lang="en-US" altLang="zh-CN" sz="3200" b="1" dirty="0">
              <a:solidFill>
                <a:srgbClr val="C00000"/>
              </a:solidFill>
              <a:latin typeface="微软雅黑" panose="020B0503020204020204" pitchFamily="34" charset="-122"/>
              <a:ea typeface="微软雅黑" panose="020B0503020204020204" pitchFamily="34" charset="-122"/>
            </a:endParaRPr>
          </a:p>
          <a:p>
            <a:pPr>
              <a:lnSpc>
                <a:spcPct val="200000"/>
              </a:lnSpc>
            </a:pPr>
            <a:endParaRPr lang="en-US" altLang="zh-CN" sz="3200" b="1" dirty="0">
              <a:solidFill>
                <a:srgbClr val="C00000"/>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1CC0675-18FD-1549-AA90-64430E7AA6D4}" type="slidenum">
              <a:rPr kumimoji="1" lang="zh-CN" altLang="en-US" smtClean="0"/>
              <a:t>31</a:t>
            </a:fld>
            <a:endParaRPr kumimoji="1"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2.3.1  </a:t>
            </a:r>
            <a:r>
              <a:rPr lang="zh-CN" altLang="en-US" b="1" dirty="0">
                <a:solidFill>
                  <a:srgbClr val="002060"/>
                </a:solidFill>
              </a:rPr>
              <a:t>光源</a:t>
            </a:r>
          </a:p>
        </p:txBody>
      </p:sp>
      <p:sp>
        <p:nvSpPr>
          <p:cNvPr id="2" name="矩形 1"/>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32</a:t>
            </a:fld>
            <a:endParaRPr kumimoji="1" lang="zh-CN" altLang="en-US"/>
          </a:p>
        </p:txBody>
      </p:sp>
      <p:sp>
        <p:nvSpPr>
          <p:cNvPr id="8" name="矩形 7"/>
          <p:cNvSpPr/>
          <p:nvPr/>
        </p:nvSpPr>
        <p:spPr>
          <a:xfrm>
            <a:off x="451591" y="1222588"/>
            <a:ext cx="2557780" cy="398780"/>
          </a:xfrm>
          <a:prstGeom prst="rect">
            <a:avLst/>
          </a:prstGeom>
        </p:spPr>
        <p:txBody>
          <a:bodyPr wrap="none">
            <a:spAutoFit/>
          </a:bodyPr>
          <a:lstStyle/>
          <a:p>
            <a:pPr marL="342900" indent="-342900">
              <a:buFont typeface="+mj-lt"/>
              <a:buAutoNum type="arabicPeriod"/>
            </a:pPr>
            <a:r>
              <a:rPr lang="zh-CN"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光源的分类与特性</a:t>
            </a:r>
          </a:p>
        </p:txBody>
      </p:sp>
      <p:sp>
        <p:nvSpPr>
          <p:cNvPr id="9" name="矩形 8"/>
          <p:cNvSpPr/>
          <p:nvPr/>
        </p:nvSpPr>
        <p:spPr>
          <a:xfrm>
            <a:off x="905791" y="1845760"/>
            <a:ext cx="8473123" cy="369332"/>
          </a:xfrm>
          <a:prstGeom prst="rect">
            <a:avLst/>
          </a:prstGeom>
        </p:spPr>
        <p:txBody>
          <a:bodyPr wrap="square">
            <a:spAutoFit/>
          </a:bodyPr>
          <a:lstStyle/>
          <a:p>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按光源的发光原理可分为热光源、气体放电光源、固体发光光源、激光光源等。</a:t>
            </a:r>
            <a:endParaRPr lang="zh-CN" altLang="en-US" dirty="0">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custDataLst>
              <p:tags r:id="rId1"/>
            </p:custDataLst>
          </p:nvPr>
        </p:nvGraphicFramePr>
        <p:xfrm>
          <a:off x="1043940" y="2544445"/>
          <a:ext cx="10311130" cy="3249186"/>
        </p:xfrm>
        <a:graphic>
          <a:graphicData uri="http://schemas.openxmlformats.org/drawingml/2006/table">
            <a:tbl>
              <a:tblPr firstRow="1" bandRow="1">
                <a:tableStyleId>{7DF18680-E054-41AD-8BC1-D1AEF772440D}</a:tableStyleId>
              </a:tblPr>
              <a:tblGrid>
                <a:gridCol w="2038350">
                  <a:extLst>
                    <a:ext uri="{9D8B030D-6E8A-4147-A177-3AD203B41FA5}">
                      <a16:colId xmlns:a16="http://schemas.microsoft.com/office/drawing/2014/main" val="20000"/>
                    </a:ext>
                  </a:extLst>
                </a:gridCol>
                <a:gridCol w="438658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589876">
                <a:tc>
                  <a:txBody>
                    <a:bodyPr/>
                    <a:lstStyle/>
                    <a:p>
                      <a:pPr algn="ctr"/>
                      <a:r>
                        <a:rPr lang="zh-CN" altLang="en-US" sz="2000" dirty="0">
                          <a:latin typeface="微软雅黑" panose="020B0503020204020204" pitchFamily="34" charset="-122"/>
                          <a:ea typeface="微软雅黑" panose="020B0503020204020204" pitchFamily="34" charset="-122"/>
                        </a:rPr>
                        <a:t>名称</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发光原理</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例子</a:t>
                      </a:r>
                    </a:p>
                  </a:txBody>
                  <a:tcPr anchor="ctr"/>
                </a:tc>
                <a:extLst>
                  <a:ext uri="{0D108BD9-81ED-4DB2-BD59-A6C34878D82A}">
                    <a16:rowId xmlns:a16="http://schemas.microsoft.com/office/drawing/2014/main" val="10000"/>
                  </a:ext>
                </a:extLst>
              </a:tr>
              <a:tr h="503339">
                <a:tc>
                  <a:txBody>
                    <a:bodyPr/>
                    <a:lstStyle/>
                    <a:p>
                      <a:pPr algn="ctr"/>
                      <a:r>
                        <a:rPr lang="zh-CN" altLang="zh-CN" kern="100" dirty="0">
                          <a:latin typeface="微软雅黑" panose="020B0503020204020204" pitchFamily="34" charset="-122"/>
                          <a:ea typeface="微软雅黑" panose="020B0503020204020204" pitchFamily="34" charset="-122"/>
                        </a:rPr>
                        <a:t>热光源</a:t>
                      </a:r>
                    </a:p>
                  </a:txBody>
                  <a:tcPr anchor="ctr"/>
                </a:tc>
                <a:tc>
                  <a:txBody>
                    <a:bodyPr/>
                    <a:lstStyle/>
                    <a:p>
                      <a:pPr algn="l"/>
                      <a:r>
                        <a:rPr lang="zh-CN" altLang="zh-CN" sz="1800" kern="1200" dirty="0">
                          <a:effectLst/>
                          <a:latin typeface="微软雅黑" panose="020B0503020204020204" pitchFamily="34" charset="-122"/>
                          <a:ea typeface="微软雅黑" panose="020B0503020204020204" pitchFamily="34" charset="-122"/>
                        </a:rPr>
                        <a:t>利用物体升温产生光辐射而制成</a:t>
                      </a:r>
                    </a:p>
                  </a:txBody>
                  <a:tcPr anchor="ctr"/>
                </a:tc>
                <a:tc>
                  <a:txBody>
                    <a:bodyPr/>
                    <a:lstStyle/>
                    <a:p>
                      <a:pPr algn="l"/>
                      <a:r>
                        <a:rPr lang="zh-CN" altLang="zh-CN" sz="1800" kern="1200" dirty="0">
                          <a:effectLst/>
                          <a:latin typeface="微软雅黑" panose="020B0503020204020204" pitchFamily="34" charset="-122"/>
                          <a:ea typeface="微软雅黑" panose="020B0503020204020204" pitchFamily="34" charset="-122"/>
                        </a:rPr>
                        <a:t>黑体源、白炽灯</a:t>
                      </a:r>
                    </a:p>
                  </a:txBody>
                  <a:tcPr anchor="ctr"/>
                </a:tc>
                <a:extLst>
                  <a:ext uri="{0D108BD9-81ED-4DB2-BD59-A6C34878D82A}">
                    <a16:rowId xmlns:a16="http://schemas.microsoft.com/office/drawing/2014/main" val="10001"/>
                  </a:ext>
                </a:extLst>
              </a:tr>
              <a:tr h="650477">
                <a:tc>
                  <a:txBody>
                    <a:bodyPr/>
                    <a:lstStyle/>
                    <a:p>
                      <a:pPr algn="ctr"/>
                      <a:r>
                        <a:rPr lang="zh-CN" altLang="zh-CN" kern="100" dirty="0">
                          <a:latin typeface="微软雅黑" panose="020B0503020204020204" pitchFamily="34" charset="-122"/>
                          <a:ea typeface="微软雅黑" panose="020B0503020204020204" pitchFamily="34" charset="-122"/>
                        </a:rPr>
                        <a:t>气体放电光源</a:t>
                      </a:r>
                    </a:p>
                  </a:txBody>
                  <a:tcPr anchor="ctr"/>
                </a:tc>
                <a:tc>
                  <a:txBody>
                    <a:bodyPr/>
                    <a:lstStyle/>
                    <a:p>
                      <a:pPr algn="l"/>
                      <a:r>
                        <a:rPr lang="zh-CN" altLang="zh-CN" sz="1800" kern="1200" dirty="0">
                          <a:effectLst/>
                          <a:latin typeface="微软雅黑" panose="020B0503020204020204" pitchFamily="34" charset="-122"/>
                          <a:ea typeface="微软雅黑" panose="020B0503020204020204" pitchFamily="34" charset="-122"/>
                        </a:rPr>
                        <a:t>利用气体放电将电能转换为光</a:t>
                      </a:r>
                    </a:p>
                  </a:txBody>
                  <a:tcPr anchor="ctr"/>
                </a:tc>
                <a:tc>
                  <a:txBody>
                    <a:bodyPr/>
                    <a:lstStyle/>
                    <a:p>
                      <a:pPr algn="l"/>
                      <a:r>
                        <a:rPr lang="zh-CN" altLang="zh-CN" sz="1800" kern="1200" dirty="0">
                          <a:effectLst/>
                          <a:latin typeface="微软雅黑" panose="020B0503020204020204" pitchFamily="34" charset="-122"/>
                          <a:ea typeface="微软雅黑" panose="020B0503020204020204" pitchFamily="34" charset="-122"/>
                        </a:rPr>
                        <a:t>荧光灯、汞灯、金属卤化物灯、氙灯、氘灯</a:t>
                      </a:r>
                    </a:p>
                  </a:txBody>
                  <a:tcPr anchor="ctr"/>
                </a:tc>
                <a:extLst>
                  <a:ext uri="{0D108BD9-81ED-4DB2-BD59-A6C34878D82A}">
                    <a16:rowId xmlns:a16="http://schemas.microsoft.com/office/drawing/2014/main" val="10002"/>
                  </a:ext>
                </a:extLst>
              </a:tr>
              <a:tr h="809208">
                <a:tc>
                  <a:txBody>
                    <a:bodyPr/>
                    <a:lstStyle/>
                    <a:p>
                      <a:pPr algn="ctr"/>
                      <a:r>
                        <a:rPr lang="zh-CN" altLang="zh-CN" kern="100" dirty="0">
                          <a:latin typeface="微软雅黑" panose="020B0503020204020204" pitchFamily="34" charset="-122"/>
                          <a:ea typeface="微软雅黑" panose="020B0503020204020204" pitchFamily="34" charset="-122"/>
                        </a:rPr>
                        <a:t>固体发光光源</a:t>
                      </a:r>
                    </a:p>
                  </a:txBody>
                  <a:tcPr anchor="ctr"/>
                </a:tc>
                <a:tc>
                  <a:txBody>
                    <a:bodyPr/>
                    <a:lstStyle/>
                    <a:p>
                      <a:pPr algn="l"/>
                      <a:r>
                        <a:rPr lang="zh-CN" altLang="zh-CN" sz="1800" kern="1200" dirty="0">
                          <a:effectLst/>
                          <a:latin typeface="微软雅黑" panose="020B0503020204020204" pitchFamily="34" charset="-122"/>
                          <a:ea typeface="微软雅黑" panose="020B0503020204020204" pitchFamily="34" charset="-122"/>
                        </a:rPr>
                        <a:t>当某种物质通入电流或在强电场作用下发光，将电能转换为光能</a:t>
                      </a:r>
                    </a:p>
                  </a:txBody>
                  <a:tcPr anchor="ctr"/>
                </a:tc>
                <a:tc>
                  <a:txBody>
                    <a:bodyPr/>
                    <a:lstStyle/>
                    <a:p>
                      <a:pPr algn="l"/>
                      <a:r>
                        <a:rPr lang="zh-CN" altLang="zh-CN" sz="1800" kern="1200" dirty="0">
                          <a:effectLst/>
                          <a:latin typeface="微软雅黑" panose="020B0503020204020204" pitchFamily="34" charset="-122"/>
                          <a:ea typeface="微软雅黑" panose="020B0503020204020204" pitchFamily="34" charset="-122"/>
                        </a:rPr>
                        <a:t>发光二极管、电致发光屏</a:t>
                      </a:r>
                    </a:p>
                  </a:txBody>
                  <a:tcPr anchor="ctr"/>
                </a:tc>
                <a:extLst>
                  <a:ext uri="{0D108BD9-81ED-4DB2-BD59-A6C34878D82A}">
                    <a16:rowId xmlns:a16="http://schemas.microsoft.com/office/drawing/2014/main" val="10003"/>
                  </a:ext>
                </a:extLst>
              </a:tr>
              <a:tr h="696286">
                <a:tc>
                  <a:txBody>
                    <a:bodyPr/>
                    <a:lstStyle/>
                    <a:p>
                      <a:pPr algn="ctr"/>
                      <a:r>
                        <a:rPr lang="zh-CN" altLang="zh-CN" kern="100" dirty="0">
                          <a:latin typeface="微软雅黑" panose="020B0503020204020204" pitchFamily="34" charset="-122"/>
                          <a:ea typeface="微软雅黑" panose="020B0503020204020204" pitchFamily="34" charset="-122"/>
                        </a:rPr>
                        <a:t>激光光源</a:t>
                      </a:r>
                    </a:p>
                  </a:txBody>
                  <a:tcPr anchor="ctr"/>
                </a:tc>
                <a:tc>
                  <a:txBody>
                    <a:bodyPr/>
                    <a:lstStyle/>
                    <a:p>
                      <a:pPr algn="l"/>
                      <a:r>
                        <a:rPr lang="zh-CN" altLang="zh-CN" sz="1800" kern="1200" dirty="0">
                          <a:effectLst/>
                          <a:latin typeface="微软雅黑" panose="020B0503020204020204" pitchFamily="34" charset="-122"/>
                          <a:ea typeface="微软雅黑" panose="020B0503020204020204" pitchFamily="34" charset="-122"/>
                        </a:rPr>
                        <a:t>通过激发态粒子在受激辐射作用下发光</a:t>
                      </a:r>
                    </a:p>
                  </a:txBody>
                  <a:tcPr anchor="ctr"/>
                </a:tc>
                <a:tc>
                  <a:txBody>
                    <a:bodyPr/>
                    <a:lstStyle/>
                    <a:p>
                      <a:pPr algn="l"/>
                      <a:r>
                        <a:rPr lang="zh-CN" altLang="zh-CN" sz="1800" kern="1200" dirty="0">
                          <a:effectLst/>
                          <a:latin typeface="微软雅黑" panose="020B0503020204020204" pitchFamily="34" charset="-122"/>
                          <a:ea typeface="微软雅黑" panose="020B0503020204020204" pitchFamily="34" charset="-122"/>
                        </a:rPr>
                        <a:t>气体激光器、固体激光器、可调谐染料激光器、半导体激光器</a:t>
                      </a: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2.3.1  </a:t>
            </a:r>
            <a:r>
              <a:rPr lang="zh-CN" altLang="en-US" b="1" dirty="0">
                <a:solidFill>
                  <a:srgbClr val="002060"/>
                </a:solidFill>
              </a:rPr>
              <a:t>光源</a:t>
            </a:r>
          </a:p>
        </p:txBody>
      </p:sp>
      <p:sp>
        <p:nvSpPr>
          <p:cNvPr id="2" name="矩形 1"/>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33</a:t>
            </a:fld>
            <a:endParaRPr kumimoji="1" lang="zh-CN" altLang="en-US"/>
          </a:p>
        </p:txBody>
      </p:sp>
      <p:sp>
        <p:nvSpPr>
          <p:cNvPr id="8" name="矩形 7"/>
          <p:cNvSpPr/>
          <p:nvPr/>
        </p:nvSpPr>
        <p:spPr>
          <a:xfrm>
            <a:off x="451591" y="1222588"/>
            <a:ext cx="2557780" cy="398780"/>
          </a:xfrm>
          <a:prstGeom prst="rect">
            <a:avLst/>
          </a:prstGeom>
        </p:spPr>
        <p:txBody>
          <a:bodyPr wrap="none">
            <a:spAutoFit/>
          </a:bodyPr>
          <a:lstStyle/>
          <a:p>
            <a:pPr marL="342900" indent="-342900">
              <a:buFont typeface="+mj-lt"/>
              <a:buAutoNum type="arabicPeriod"/>
            </a:pPr>
            <a:r>
              <a:rPr lang="zh-CN"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光源的分类与特性</a:t>
            </a:r>
          </a:p>
        </p:txBody>
      </p:sp>
      <p:sp>
        <p:nvSpPr>
          <p:cNvPr id="9" name="矩形 8"/>
          <p:cNvSpPr/>
          <p:nvPr/>
        </p:nvSpPr>
        <p:spPr>
          <a:xfrm>
            <a:off x="905792" y="1683714"/>
            <a:ext cx="8473123" cy="369332"/>
          </a:xfrm>
          <a:prstGeom prst="rect">
            <a:avLst/>
          </a:prstGeom>
        </p:spPr>
        <p:txBody>
          <a:bodyPr wrap="square">
            <a:spAutoFit/>
          </a:bodyPr>
          <a:lstStyle/>
          <a:p>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按光源的</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波长特性可分为线光源、连续光源、激光光源</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nvGraphicFramePr>
        <p:xfrm>
          <a:off x="1192192" y="2139406"/>
          <a:ext cx="9956778" cy="2330234"/>
        </p:xfrm>
        <a:graphic>
          <a:graphicData uri="http://schemas.openxmlformats.org/drawingml/2006/table">
            <a:tbl>
              <a:tblPr firstRow="1" bandRow="1">
                <a:tableStyleId>{7DF18680-E054-41AD-8BC1-D1AEF772440D}</a:tableStyleId>
              </a:tblPr>
              <a:tblGrid>
                <a:gridCol w="1433562">
                  <a:extLst>
                    <a:ext uri="{9D8B030D-6E8A-4147-A177-3AD203B41FA5}">
                      <a16:colId xmlns:a16="http://schemas.microsoft.com/office/drawing/2014/main" val="20000"/>
                    </a:ext>
                  </a:extLst>
                </a:gridCol>
                <a:gridCol w="4521666">
                  <a:extLst>
                    <a:ext uri="{9D8B030D-6E8A-4147-A177-3AD203B41FA5}">
                      <a16:colId xmlns:a16="http://schemas.microsoft.com/office/drawing/2014/main" val="20001"/>
                    </a:ext>
                  </a:extLst>
                </a:gridCol>
                <a:gridCol w="4001550">
                  <a:extLst>
                    <a:ext uri="{9D8B030D-6E8A-4147-A177-3AD203B41FA5}">
                      <a16:colId xmlns:a16="http://schemas.microsoft.com/office/drawing/2014/main" val="20002"/>
                    </a:ext>
                  </a:extLst>
                </a:gridCol>
              </a:tblGrid>
              <a:tr h="387350">
                <a:tc>
                  <a:txBody>
                    <a:bodyPr/>
                    <a:lstStyle/>
                    <a:p>
                      <a:pPr algn="ctr"/>
                      <a:r>
                        <a:rPr lang="zh-CN" altLang="en-US" sz="2000" dirty="0">
                          <a:latin typeface="微软雅黑" panose="020B0503020204020204" pitchFamily="34" charset="-122"/>
                          <a:ea typeface="微软雅黑" panose="020B0503020204020204" pitchFamily="34" charset="-122"/>
                        </a:rPr>
                        <a:t>名称</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定义</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例子</a:t>
                      </a:r>
                    </a:p>
                  </a:txBody>
                  <a:tcPr anchor="ctr"/>
                </a:tc>
                <a:extLst>
                  <a:ext uri="{0D108BD9-81ED-4DB2-BD59-A6C34878D82A}">
                    <a16:rowId xmlns:a16="http://schemas.microsoft.com/office/drawing/2014/main" val="10000"/>
                  </a:ext>
                </a:extLst>
              </a:tr>
              <a:tr h="503339">
                <a:tc>
                  <a:txBody>
                    <a:bodyPr/>
                    <a:lstStyle/>
                    <a:p>
                      <a:pPr algn="ct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线光源</a:t>
                      </a:r>
                    </a:p>
                  </a:txBody>
                  <a:tcPr anchor="ctr"/>
                </a:tc>
                <a:tc>
                  <a:txBody>
                    <a:bodyPr/>
                    <a:lstStyle/>
                    <a:p>
                      <a:pPr algn="l"/>
                      <a:r>
                        <a:rPr lang="zh-CN" altLang="zh-CN" sz="1800" kern="1200" dirty="0">
                          <a:solidFill>
                            <a:schemeClr val="dk1"/>
                          </a:solidFill>
                          <a:effectLst/>
                          <a:latin typeface="微软雅黑" panose="020B0503020204020204" pitchFamily="34" charset="-122"/>
                          <a:ea typeface="微软雅黑" panose="020B0503020204020204" pitchFamily="34" charset="-122"/>
                          <a:cs typeface="+mn-cs"/>
                        </a:rPr>
                        <a:t>可以发射一条或几条不连续谱线的光源</a:t>
                      </a:r>
                    </a:p>
                  </a:txBody>
                  <a:tcPr anchor="ctr"/>
                </a:tc>
                <a:tc>
                  <a:txBody>
                    <a:bodyPr/>
                    <a:lstStyle/>
                    <a:p>
                      <a:pPr algn="l"/>
                      <a:r>
                        <a:rPr lang="zh-CN" altLang="zh-CN" sz="1800" kern="1200" dirty="0">
                          <a:solidFill>
                            <a:schemeClr val="dk1"/>
                          </a:solidFill>
                          <a:effectLst/>
                          <a:latin typeface="微软雅黑" panose="020B0503020204020204" pitchFamily="34" charset="-122"/>
                          <a:ea typeface="微软雅黑" panose="020B0503020204020204" pitchFamily="34" charset="-122"/>
                          <a:cs typeface="+mn-cs"/>
                        </a:rPr>
                        <a:t>金属蒸气灯、空心阴极灯、低压汞灯</a:t>
                      </a:r>
                    </a:p>
                  </a:txBody>
                  <a:tcPr anchor="ctr"/>
                </a:tc>
                <a:extLst>
                  <a:ext uri="{0D108BD9-81ED-4DB2-BD59-A6C34878D82A}">
                    <a16:rowId xmlns:a16="http://schemas.microsoft.com/office/drawing/2014/main" val="10001"/>
                  </a:ext>
                </a:extLst>
              </a:tr>
              <a:tr h="686435">
                <a:tc>
                  <a:txBody>
                    <a:bodyPr/>
                    <a:lstStyle/>
                    <a:p>
                      <a:pPr algn="ct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连续光源</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在较宽的波长范围内发射强度平稳的具有连续光谱的光源</a:t>
                      </a:r>
                    </a:p>
                  </a:txBody>
                  <a:tcPr anchor="ctr"/>
                </a:tc>
                <a:tc>
                  <a:txBody>
                    <a:bodyPr/>
                    <a:lstStyle/>
                    <a:p>
                      <a:pPr algn="l"/>
                      <a:r>
                        <a:rPr lang="zh-CN" altLang="en-US" sz="1800" kern="1200" dirty="0">
                          <a:effectLst/>
                          <a:latin typeface="微软雅黑" panose="020B0503020204020204" pitchFamily="34" charset="-122"/>
                          <a:ea typeface="微软雅黑" panose="020B0503020204020204" pitchFamily="34" charset="-122"/>
                        </a:rPr>
                        <a:t>热辐射光源，如氢灯、氘灯、白炽灯、氙灯和钨灯</a:t>
                      </a:r>
                    </a:p>
                  </a:txBody>
                  <a:tcPr anchor="ctr"/>
                </a:tc>
                <a:extLst>
                  <a:ext uri="{0D108BD9-81ED-4DB2-BD59-A6C34878D82A}">
                    <a16:rowId xmlns:a16="http://schemas.microsoft.com/office/drawing/2014/main" val="10002"/>
                  </a:ext>
                </a:extLst>
              </a:tr>
              <a:tr h="744220">
                <a:tc>
                  <a:txBody>
                    <a:bodyPr/>
                    <a:lstStyle/>
                    <a:p>
                      <a:pPr algn="ct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激光光源</a:t>
                      </a:r>
                    </a:p>
                  </a:txBody>
                  <a:tcPr anchor="ctr"/>
                </a:tc>
                <a:tc>
                  <a:txBody>
                    <a:bodyPr/>
                    <a:lstStyle/>
                    <a:p>
                      <a:pPr algn="l"/>
                      <a:r>
                        <a:rPr lang="zh-CN" altLang="en-US" sz="1800" kern="1200" dirty="0">
                          <a:effectLst/>
                          <a:latin typeface="微软雅黑" panose="020B0503020204020204" pitchFamily="34" charset="-122"/>
                          <a:ea typeface="微软雅黑" panose="020B0503020204020204" pitchFamily="34" charset="-122"/>
                        </a:rPr>
                        <a:t>利用激发态粒子在受激辐射作用下发光的电光源。</a:t>
                      </a:r>
                    </a:p>
                  </a:txBody>
                  <a:tcPr anchor="ctr"/>
                </a:tc>
                <a:tc>
                  <a:txBody>
                    <a:bodyPr/>
                    <a:lstStyle/>
                    <a:p>
                      <a:pPr algn="l"/>
                      <a:r>
                        <a:rPr lang="zh-CN" altLang="en-US" dirty="0">
                          <a:latin typeface="微软雅黑" panose="020B0503020204020204" pitchFamily="34" charset="-122"/>
                          <a:ea typeface="微软雅黑" panose="020B0503020204020204" pitchFamily="34" charset="-122"/>
                        </a:rPr>
                        <a:t>固体激光源、气体激光源、液体激光源、半导体激光源</a:t>
                      </a:r>
                    </a:p>
                  </a:txBody>
                  <a:tcPr anchor="ctr"/>
                </a:tc>
                <a:extLst>
                  <a:ext uri="{0D108BD9-81ED-4DB2-BD59-A6C34878D82A}">
                    <a16:rowId xmlns:a16="http://schemas.microsoft.com/office/drawing/2014/main" val="10003"/>
                  </a:ext>
                </a:extLst>
              </a:tr>
            </a:tbl>
          </a:graphicData>
        </a:graphic>
      </p:graphicFrame>
      <p:sp>
        <p:nvSpPr>
          <p:cNvPr id="11" name="矩形 10"/>
          <p:cNvSpPr/>
          <p:nvPr/>
        </p:nvSpPr>
        <p:spPr>
          <a:xfrm>
            <a:off x="1402261" y="5016123"/>
            <a:ext cx="7480183" cy="128990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光谱特性</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光源发出的光信号所包含的波段范围及各波段的能量分布。</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微软雅黑" panose="020B0503020204020204" pitchFamily="34" charset="-122"/>
                <a:ea typeface="微软雅黑" panose="020B0503020204020204" pitchFamily="34" charset="-122"/>
              </a:rPr>
              <a:t>辐射强度</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点光源向某方向单位立体角发射的辐射功率。</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zh-CN" dirty="0">
                <a:latin typeface="微软雅黑" panose="020B0503020204020204" pitchFamily="34" charset="-122"/>
                <a:ea typeface="微软雅黑" panose="020B0503020204020204" pitchFamily="34" charset="-122"/>
              </a:rPr>
              <a:t>光源稳定性</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包括辐射强度（光强或光功率）、波长、光谱的稳定性。</a:t>
            </a:r>
            <a:endParaRPr lang="zh-CN" altLang="en-US" dirty="0">
              <a:latin typeface="微软雅黑" panose="020B0503020204020204" pitchFamily="34" charset="-122"/>
              <a:ea typeface="微软雅黑" panose="020B0503020204020204" pitchFamily="34" charset="-122"/>
            </a:endParaRPr>
          </a:p>
        </p:txBody>
      </p:sp>
      <p:sp>
        <p:nvSpPr>
          <p:cNvPr id="12" name="矩形 11"/>
          <p:cNvSpPr/>
          <p:nvPr/>
        </p:nvSpPr>
        <p:spPr>
          <a:xfrm>
            <a:off x="905792" y="4665446"/>
            <a:ext cx="5493812" cy="369332"/>
          </a:xfrm>
          <a:prstGeom prst="rect">
            <a:avLst/>
          </a:prstGeom>
        </p:spPr>
        <p:txBody>
          <a:bodyPr wrap="none">
            <a:spAutoFit/>
          </a:bodyPr>
          <a:lstStyle/>
          <a:p>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光源特性主要包括</a:t>
            </a:r>
            <a:r>
              <a:rPr lang="zh-CN" altLang="zh-CN"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光谱特性</a:t>
            </a:r>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辐射强度</a:t>
            </a:r>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和</a:t>
            </a:r>
            <a:r>
              <a:rPr lang="zh-CN" altLang="zh-CN"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稳定性</a:t>
            </a:r>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等。</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2.3.1  </a:t>
            </a:r>
            <a:r>
              <a:rPr lang="zh-CN" altLang="en-US" b="1" dirty="0">
                <a:solidFill>
                  <a:srgbClr val="002060"/>
                </a:solidFill>
              </a:rPr>
              <a:t>光源</a:t>
            </a:r>
          </a:p>
        </p:txBody>
      </p:sp>
      <p:sp>
        <p:nvSpPr>
          <p:cNvPr id="2" name="矩形 1"/>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34</a:t>
            </a:fld>
            <a:endParaRPr kumimoji="1" lang="zh-CN" altLang="en-US"/>
          </a:p>
        </p:txBody>
      </p:sp>
      <p:sp>
        <p:nvSpPr>
          <p:cNvPr id="10" name="矩形 9"/>
          <p:cNvSpPr/>
          <p:nvPr/>
        </p:nvSpPr>
        <p:spPr>
          <a:xfrm>
            <a:off x="525760" y="1229041"/>
            <a:ext cx="1405890" cy="398780"/>
          </a:xfrm>
          <a:prstGeom prst="rect">
            <a:avLst/>
          </a:prstGeom>
        </p:spPr>
        <p:txBody>
          <a:bodyPr wrap="none">
            <a:spAutoFit/>
          </a:bodyPr>
          <a:lstStyle/>
          <a:p>
            <a:r>
              <a:rPr lang="en-US" altLang="zh-CN" sz="2000" b="1" kern="100" dirty="0">
                <a:solidFill>
                  <a:srgbClr val="002060"/>
                </a:solidFill>
                <a:latin typeface="微软雅黑" panose="020B0503020204020204" pitchFamily="34" charset="-122"/>
                <a:ea typeface="微软雅黑" panose="020B0503020204020204" pitchFamily="34" charset="-122"/>
              </a:rPr>
              <a:t>2.LED</a:t>
            </a:r>
            <a:r>
              <a:rPr lang="zh-CN"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光源</a:t>
            </a:r>
            <a:endParaRPr lang="zh-CN" altLang="en-US" sz="2000" dirty="0">
              <a:solidFill>
                <a:srgbClr val="002060"/>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7214870" y="2832100"/>
            <a:ext cx="3587750" cy="2512268"/>
            <a:chOff x="4302125" y="2355532"/>
            <a:chExt cx="3587750" cy="2533250"/>
          </a:xfrm>
        </p:grpSpPr>
        <p:pic>
          <p:nvPicPr>
            <p:cNvPr id="11" name="图片 10"/>
            <p:cNvPicPr/>
            <p:nvPr/>
          </p:nvPicPr>
          <p:blipFill>
            <a:blip r:embed="rId2">
              <a:extLst>
                <a:ext uri="{28A0092B-C50C-407E-A947-70E740481C1C}">
                  <a14:useLocalDpi xmlns:a14="http://schemas.microsoft.com/office/drawing/2010/main" val="0"/>
                </a:ext>
              </a:extLst>
            </a:blip>
            <a:srcRect/>
            <a:stretch>
              <a:fillRect/>
            </a:stretch>
          </p:blipFill>
          <p:spPr>
            <a:xfrm>
              <a:off x="4302125" y="2355532"/>
              <a:ext cx="3587750" cy="2146935"/>
            </a:xfrm>
            <a:prstGeom prst="rect">
              <a:avLst/>
            </a:prstGeom>
            <a:noFill/>
            <a:ln>
              <a:noFill/>
            </a:ln>
          </p:spPr>
        </p:pic>
        <p:sp>
          <p:nvSpPr>
            <p:cNvPr id="13" name="矩形 12"/>
            <p:cNvSpPr/>
            <p:nvPr/>
          </p:nvSpPr>
          <p:spPr>
            <a:xfrm>
              <a:off x="4764681" y="4579515"/>
              <a:ext cx="2698175" cy="309267"/>
            </a:xfrm>
            <a:prstGeom prst="rect">
              <a:avLst/>
            </a:prstGeom>
          </p:spPr>
          <p:txBody>
            <a:bodyPr wrap="square">
              <a:spAutoFit/>
            </a:bodyPr>
            <a:lstStyle/>
            <a:p>
              <a:r>
                <a:rPr lang="zh-CN" altLang="en-US" sz="1400" dirty="0">
                  <a:latin typeface="宋体" panose="02010600030101010101" pitchFamily="2" charset="-122"/>
                  <a:ea typeface="宋体" panose="02010600030101010101" pitchFamily="2" charset="-122"/>
                </a:rPr>
                <a:t>图</a:t>
              </a:r>
              <a:r>
                <a:rPr lang="en-US" altLang="zh-CN" sz="1400" dirty="0">
                  <a:latin typeface="宋体" panose="02010600030101010101" pitchFamily="2" charset="-122"/>
                  <a:ea typeface="宋体" panose="02010600030101010101" pitchFamily="2" charset="-122"/>
                </a:rPr>
                <a:t>2-20</a:t>
              </a:r>
              <a:r>
                <a:rPr lang="zh-CN" altLang="en-US" sz="1400" dirty="0">
                  <a:latin typeface="宋体" panose="02010600030101010101" pitchFamily="2" charset="-122"/>
                  <a:ea typeface="宋体" panose="02010600030101010101" pitchFamily="2" charset="-122"/>
                </a:rPr>
                <a:t>　发光二极管的发光原理</a:t>
              </a:r>
            </a:p>
          </p:txBody>
        </p:sp>
      </p:grpSp>
      <p:sp>
        <p:nvSpPr>
          <p:cNvPr id="16" name="矩形 15"/>
          <p:cNvSpPr/>
          <p:nvPr/>
        </p:nvSpPr>
        <p:spPr>
          <a:xfrm>
            <a:off x="767715" y="1625600"/>
            <a:ext cx="9906000" cy="922020"/>
          </a:xfrm>
          <a:prstGeom prst="rect">
            <a:avLst/>
          </a:prstGeom>
        </p:spPr>
        <p:txBody>
          <a:bodyPr wrap="square">
            <a:spAutoFit/>
          </a:bodyPr>
          <a:lstStyle/>
          <a:p>
            <a:pPr>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发光二极管（</a:t>
            </a:r>
            <a:r>
              <a:rPr lang="en-US" altLang="zh-CN" kern="100" dirty="0">
                <a:latin typeface="微软雅黑" panose="020B0503020204020204" pitchFamily="34" charset="-122"/>
                <a:ea typeface="微软雅黑" panose="020B0503020204020204" pitchFamily="34" charset="-122"/>
              </a:rPr>
              <a:t>light-emitting diode, LED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）是一种</a:t>
            </a:r>
            <a:r>
              <a:rPr lang="zh-CN" altLang="zh-CN"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将电能转换化光能</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的半导体光源</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LED</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具有</a:t>
            </a:r>
            <a:r>
              <a:rPr lang="zh-CN" altLang="en-US"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体积小、寿命长、效率高、响应速度快</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等优点。</a:t>
            </a:r>
            <a:endParaRPr lang="zh-CN" altLang="en-US" dirty="0">
              <a:latin typeface="微软雅黑" panose="020B0503020204020204" pitchFamily="34" charset="-122"/>
              <a:ea typeface="微软雅黑" panose="020B0503020204020204" pitchFamily="34" charset="-122"/>
            </a:endParaRPr>
          </a:p>
        </p:txBody>
      </p:sp>
      <p:sp>
        <p:nvSpPr>
          <p:cNvPr id="17" name="矩形 16"/>
          <p:cNvSpPr/>
          <p:nvPr/>
        </p:nvSpPr>
        <p:spPr>
          <a:xfrm>
            <a:off x="867410" y="2961640"/>
            <a:ext cx="5962650" cy="2168525"/>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发光二极管的核心是</a:t>
            </a:r>
            <a:r>
              <a:rPr lang="en-US" altLang="zh-CN" b="1" kern="100" dirty="0">
                <a:solidFill>
                  <a:srgbClr val="FF0000"/>
                </a:solidFill>
                <a:latin typeface="微软雅黑" panose="020B0503020204020204" pitchFamily="34" charset="-122"/>
                <a:ea typeface="微软雅黑" panose="020B0503020204020204" pitchFamily="34" charset="-122"/>
              </a:rPr>
              <a:t>PN</a:t>
            </a:r>
            <a:r>
              <a:rPr lang="zh-CN"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结</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，由直接带隙半导体材料制成的</a:t>
            </a:r>
            <a:r>
              <a:rPr lang="en-US" altLang="zh-CN" kern="100" dirty="0">
                <a:latin typeface="微软雅黑" panose="020B0503020204020204" pitchFamily="34" charset="-122"/>
                <a:ea typeface="微软雅黑" panose="020B0503020204020204" pitchFamily="34" charset="-122"/>
              </a:rPr>
              <a:t>P-N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结，在正向电压作用下，电子由</a:t>
            </a:r>
            <a:r>
              <a:rPr lang="en-US" altLang="zh-CN" kern="100" dirty="0">
                <a:latin typeface="微软雅黑" panose="020B0503020204020204" pitchFamily="34" charset="-122"/>
                <a:ea typeface="微软雅黑" panose="020B0503020204020204" pitchFamily="34" charset="-122"/>
              </a:rPr>
              <a:t>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区注入</a:t>
            </a:r>
            <a:r>
              <a:rPr lang="en-US" altLang="zh-CN" kern="100" dirty="0">
                <a:latin typeface="微软雅黑" panose="020B0503020204020204" pitchFamily="34" charset="-122"/>
                <a:ea typeface="微软雅黑" panose="020B0503020204020204" pitchFamily="34" charset="-122"/>
              </a:rPr>
              <a:t>P</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区，而空穴由</a:t>
            </a:r>
            <a:r>
              <a:rPr lang="en-US" altLang="zh-CN" kern="100" dirty="0">
                <a:latin typeface="微软雅黑" panose="020B0503020204020204" pitchFamily="34" charset="-122"/>
                <a:ea typeface="微软雅黑" panose="020B0503020204020204" pitchFamily="34" charset="-122"/>
              </a:rPr>
              <a:t>P</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区注入</a:t>
            </a:r>
            <a:r>
              <a:rPr lang="en-US" altLang="zh-CN" kern="100" dirty="0">
                <a:latin typeface="微软雅黑" panose="020B0503020204020204" pitchFamily="34" charset="-122"/>
                <a:ea typeface="微软雅黑" panose="020B0503020204020204" pitchFamily="34" charset="-122"/>
              </a:rPr>
              <a:t>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区，注入的少数载流子与多数载流子复合时会把多余的能量以光的形式释放出来，从而把电能直接转换为光能，这种复合辐射称为</a:t>
            </a:r>
            <a:r>
              <a:rPr lang="zh-CN"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“注入式电致发光”</a:t>
            </a:r>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2.3.1  </a:t>
            </a:r>
            <a:r>
              <a:rPr lang="zh-CN" altLang="en-US" b="1" dirty="0">
                <a:solidFill>
                  <a:srgbClr val="002060"/>
                </a:solidFill>
              </a:rPr>
              <a:t>光源</a:t>
            </a:r>
          </a:p>
        </p:txBody>
      </p:sp>
      <p:sp>
        <p:nvSpPr>
          <p:cNvPr id="2" name="矩形 1"/>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35</a:t>
            </a:fld>
            <a:endParaRPr kumimoji="1" lang="zh-CN" altLang="en-US"/>
          </a:p>
        </p:txBody>
      </p:sp>
      <p:sp>
        <p:nvSpPr>
          <p:cNvPr id="7" name="矩形 6"/>
          <p:cNvSpPr/>
          <p:nvPr/>
        </p:nvSpPr>
        <p:spPr>
          <a:xfrm>
            <a:off x="538144" y="1231403"/>
            <a:ext cx="10600889" cy="398780"/>
          </a:xfrm>
          <a:prstGeom prst="rect">
            <a:avLst/>
          </a:prstGeom>
        </p:spPr>
        <p:txBody>
          <a:bodyPr wrap="square">
            <a:spAutoFit/>
          </a:bodyPr>
          <a:lstStyle/>
          <a:p>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LED</a:t>
            </a:r>
            <a:r>
              <a:rPr lang="zh-CN"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的特性参数：</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sp>
        <p:nvSpPr>
          <p:cNvPr id="8" name="矩形 7"/>
          <p:cNvSpPr/>
          <p:nvPr/>
        </p:nvSpPr>
        <p:spPr>
          <a:xfrm>
            <a:off x="731090" y="1704718"/>
            <a:ext cx="10466666" cy="4613892"/>
          </a:xfrm>
          <a:prstGeom prst="rect">
            <a:avLst/>
          </a:prstGeom>
        </p:spPr>
        <p:txBody>
          <a:bodyPr wrap="square">
            <a:spAutoFit/>
          </a:bodyPr>
          <a:lstStyle/>
          <a:p>
            <a:pPr marL="342900" indent="-342900" algn="just">
              <a:lnSpc>
                <a:spcPct val="150000"/>
              </a:lnSpc>
              <a:spcAft>
                <a:spcPts val="0"/>
              </a:spcAft>
              <a:buFont typeface="+mj-lt"/>
              <a:buAutoNum type="arabicPeriod"/>
            </a:pPr>
            <a:r>
              <a:rPr lang="zh-CN" altLang="zh-CN"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伏安特性</a:t>
            </a:r>
            <a:r>
              <a:rPr lang="zh-CN" altLang="zh-CN"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LED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的伏安特性取决于器件的结构和</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PN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结的半导体材料，当</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PN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结上施加的电压达到导通或开启电压时，</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LED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的电流随着电压的增加而迅速增大。</a:t>
            </a:r>
          </a:p>
          <a:p>
            <a:pPr marL="342900" indent="-342900" algn="just">
              <a:lnSpc>
                <a:spcPct val="150000"/>
              </a:lnSpc>
              <a:spcAft>
                <a:spcPts val="0"/>
              </a:spcAft>
              <a:buFont typeface="+mj-lt"/>
              <a:buAutoNum type="arabicPeriod"/>
            </a:pPr>
            <a:r>
              <a:rPr lang="zh-CN" altLang="zh-CN"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温度特性</a:t>
            </a:r>
            <a:r>
              <a:rPr lang="zh-CN" altLang="zh-CN"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随着温度的升高，会导致半导体的禁带宽度变窄、载流子的复合效率下降。因此</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LED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对温度非常敏感，其发光波长、强度和发光效率都会随</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PN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结结温的变化而变化。</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50000"/>
              </a:lnSpc>
              <a:spcAft>
                <a:spcPts val="0"/>
              </a:spcAft>
              <a:buFont typeface="+mj-lt"/>
              <a:buAutoNum type="arabicPeriod"/>
            </a:pPr>
            <a:r>
              <a:rPr lang="zh-CN" altLang="zh-CN" b="1"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光谱特性。</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LED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发光的相对强度（或能量）随波长（或频率）变化的分布情况，它决定着发光二极管的发光颜色和光谱范围。</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latinLnBrk="1">
              <a:lnSpc>
                <a:spcPct val="150000"/>
              </a:lnSpc>
              <a:buFont typeface="+mj-lt"/>
              <a:buAutoNum type="arabicPeriod"/>
            </a:pPr>
            <a:r>
              <a:rPr lang="zh-CN" altLang="zh-CN" b="1" dirty="0">
                <a:solidFill>
                  <a:schemeClr val="accent5"/>
                </a:solidFill>
                <a:latin typeface="微软雅黑" panose="020B0503020204020204" pitchFamily="34" charset="-122"/>
                <a:ea typeface="微软雅黑" panose="020B0503020204020204" pitchFamily="34" charset="-122"/>
              </a:rPr>
              <a:t>发光强度</a:t>
            </a:r>
            <a:r>
              <a:rPr lang="zh-CN" altLang="en-US" b="1" dirty="0">
                <a:solidFill>
                  <a:schemeClr val="accent5"/>
                </a:solidFill>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LED</a:t>
            </a:r>
            <a:r>
              <a:rPr lang="zh-CN" altLang="zh-CN" dirty="0">
                <a:latin typeface="微软雅黑" panose="020B0503020204020204" pitchFamily="34" charset="-122"/>
                <a:ea typeface="微软雅黑" panose="020B0503020204020204" pitchFamily="34" charset="-122"/>
              </a:rPr>
              <a:t>在单位立体角范围内发光的亮度，单位是坎德拉（</a:t>
            </a:r>
            <a:r>
              <a:rPr lang="en-US" altLang="zh-CN" dirty="0">
                <a:latin typeface="微软雅黑" panose="020B0503020204020204" pitchFamily="34" charset="-122"/>
                <a:ea typeface="微软雅黑" panose="020B0503020204020204" pitchFamily="34" charset="-122"/>
              </a:rPr>
              <a:t>Candela</a:t>
            </a:r>
            <a:r>
              <a:rPr lang="zh-CN" altLang="zh-CN" dirty="0">
                <a:latin typeface="微软雅黑" panose="020B0503020204020204" pitchFamily="34" charset="-122"/>
                <a:ea typeface="微软雅黑" panose="020B0503020204020204" pitchFamily="34" charset="-122"/>
              </a:rPr>
              <a:t>，缩写为</a:t>
            </a:r>
            <a:r>
              <a:rPr lang="en-US" altLang="zh-CN" dirty="0">
                <a:latin typeface="微软雅黑" panose="020B0503020204020204" pitchFamily="34" charset="-122"/>
                <a:ea typeface="微软雅黑" panose="020B0503020204020204" pitchFamily="34" charset="-122"/>
              </a:rPr>
              <a:t>cd</a:t>
            </a:r>
            <a:r>
              <a:rPr lang="zh-CN" altLang="zh-CN" dirty="0">
                <a:latin typeface="微软雅黑" panose="020B0503020204020204" pitchFamily="34" charset="-122"/>
                <a:ea typeface="微软雅黑" panose="020B0503020204020204" pitchFamily="34" charset="-122"/>
              </a:rPr>
              <a:t>）。发光强度越高，</a:t>
            </a:r>
            <a:r>
              <a:rPr lang="en-US" altLang="zh-CN" dirty="0">
                <a:latin typeface="微软雅黑" panose="020B0503020204020204" pitchFamily="34" charset="-122"/>
                <a:ea typeface="微软雅黑" panose="020B0503020204020204" pitchFamily="34" charset="-122"/>
              </a:rPr>
              <a:t>LED</a:t>
            </a:r>
            <a:r>
              <a:rPr lang="zh-CN" altLang="zh-CN" dirty="0">
                <a:latin typeface="微软雅黑" panose="020B0503020204020204" pitchFamily="34" charset="-122"/>
                <a:ea typeface="微软雅黑" panose="020B0503020204020204" pitchFamily="34" charset="-122"/>
              </a:rPr>
              <a:t>的亮度越大。</a:t>
            </a:r>
          </a:p>
          <a:p>
            <a:pPr marL="342900" indent="-342900" latinLnBrk="1">
              <a:lnSpc>
                <a:spcPct val="150000"/>
              </a:lnSpc>
              <a:buFont typeface="+mj-lt"/>
              <a:buAutoNum type="arabicPeriod"/>
            </a:pPr>
            <a:r>
              <a:rPr lang="zh-CN" altLang="zh-CN" b="1" dirty="0">
                <a:solidFill>
                  <a:schemeClr val="accent5"/>
                </a:solidFill>
                <a:latin typeface="微软雅黑" panose="020B0503020204020204" pitchFamily="34" charset="-122"/>
                <a:ea typeface="微软雅黑" panose="020B0503020204020204" pitchFamily="34" charset="-122"/>
              </a:rPr>
              <a:t>响应时间。</a:t>
            </a:r>
            <a:r>
              <a:rPr lang="zh-CN" altLang="zh-CN" dirty="0">
                <a:latin typeface="微软雅黑" panose="020B0503020204020204" pitchFamily="34" charset="-122"/>
                <a:ea typeface="微软雅黑" panose="020B0503020204020204" pitchFamily="34" charset="-122"/>
              </a:rPr>
              <a:t>点亮与熄灭</a:t>
            </a:r>
            <a:r>
              <a:rPr lang="en-US" altLang="zh-CN" dirty="0">
                <a:latin typeface="微软雅黑" panose="020B0503020204020204" pitchFamily="34" charset="-122"/>
                <a:ea typeface="微软雅黑" panose="020B0503020204020204" pitchFamily="34" charset="-122"/>
              </a:rPr>
              <a:t>LED</a:t>
            </a:r>
            <a:r>
              <a:rPr lang="zh-CN" altLang="zh-CN" dirty="0">
                <a:latin typeface="微软雅黑" panose="020B0503020204020204" pitchFamily="34" charset="-122"/>
                <a:ea typeface="微软雅黑" panose="020B0503020204020204" pitchFamily="34" charset="-122"/>
              </a:rPr>
              <a:t>所延迟的时间，主要取决于载流子寿命、器件的结电容及电路阻抗。</a:t>
            </a:r>
            <a:endParaRPr lang="en-US" altLang="zh-CN" dirty="0">
              <a:latin typeface="微软雅黑" panose="020B0503020204020204" pitchFamily="34" charset="-122"/>
              <a:ea typeface="微软雅黑" panose="020B0503020204020204" pitchFamily="34" charset="-122"/>
            </a:endParaRPr>
          </a:p>
          <a:p>
            <a:pPr marL="342900" indent="-342900" latinLnBrk="1">
              <a:lnSpc>
                <a:spcPct val="150000"/>
              </a:lnSpc>
              <a:buFont typeface="+mj-lt"/>
              <a:buAutoNum type="arabicPeriod"/>
            </a:pPr>
            <a:r>
              <a:rPr lang="zh-CN" altLang="zh-CN" b="1" dirty="0">
                <a:solidFill>
                  <a:schemeClr val="accent5"/>
                </a:solidFill>
                <a:latin typeface="微软雅黑" panose="020B0503020204020204" pitchFamily="34" charset="-122"/>
                <a:ea typeface="微软雅黑" panose="020B0503020204020204" pitchFamily="34" charset="-122"/>
              </a:rPr>
              <a:t>寿命</a:t>
            </a:r>
            <a:r>
              <a:rPr lang="zh-CN" altLang="en-US" b="1" dirty="0">
                <a:solidFill>
                  <a:schemeClr val="accent5"/>
                </a:solidFill>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其光通量降低到原有亮度一半时所经历的时间。二极管的寿命一般都很长，一般可达</a:t>
            </a:r>
            <a:r>
              <a:rPr lang="en-US" altLang="zh-CN" dirty="0">
                <a:latin typeface="微软雅黑" panose="020B0503020204020204" pitchFamily="34" charset="-122"/>
                <a:ea typeface="微软雅黑" panose="020B0503020204020204" pitchFamily="34" charset="-122"/>
              </a:rPr>
              <a:t>10</a:t>
            </a:r>
            <a:r>
              <a:rPr lang="zh-CN" altLang="zh-CN" dirty="0">
                <a:latin typeface="微软雅黑" panose="020B0503020204020204" pitchFamily="34" charset="-122"/>
                <a:ea typeface="微软雅黑" panose="020B0503020204020204" pitchFamily="34" charset="-122"/>
              </a:rPr>
              <a:t>万小时（</a:t>
            </a:r>
            <a:r>
              <a:rPr lang="en-US" altLang="zh-CN" dirty="0">
                <a:latin typeface="微软雅黑" panose="020B0503020204020204" pitchFamily="34" charset="-122"/>
                <a:ea typeface="微软雅黑" panose="020B0503020204020204" pitchFamily="34" charset="-122"/>
              </a:rPr>
              <a:t>13.7</a:t>
            </a:r>
            <a:r>
              <a:rPr lang="zh-CN" altLang="zh-CN" dirty="0">
                <a:latin typeface="微软雅黑" panose="020B0503020204020204" pitchFamily="34" charset="-122"/>
                <a:ea typeface="微软雅黑" panose="020B0503020204020204" pitchFamily="34" charset="-122"/>
              </a:rPr>
              <a:t>年）以上。</a:t>
            </a:r>
            <a:endPar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2.3.1  </a:t>
            </a:r>
            <a:r>
              <a:rPr lang="zh-CN" altLang="en-US" b="1" dirty="0">
                <a:solidFill>
                  <a:srgbClr val="002060"/>
                </a:solidFill>
              </a:rPr>
              <a:t>光源</a:t>
            </a:r>
          </a:p>
        </p:txBody>
      </p:sp>
      <p:sp>
        <p:nvSpPr>
          <p:cNvPr id="2" name="矩形 1"/>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36</a:t>
            </a:fld>
            <a:endParaRPr kumimoji="1" lang="zh-CN" altLang="en-US"/>
          </a:p>
        </p:txBody>
      </p:sp>
      <p:sp>
        <p:nvSpPr>
          <p:cNvPr id="7" name="矩形 6"/>
          <p:cNvSpPr/>
          <p:nvPr/>
        </p:nvSpPr>
        <p:spPr>
          <a:xfrm>
            <a:off x="527386" y="1109950"/>
            <a:ext cx="1957587" cy="499624"/>
          </a:xfrm>
          <a:prstGeom prst="rect">
            <a:avLst/>
          </a:prstGeom>
        </p:spPr>
        <p:txBody>
          <a:bodyPr wrap="none">
            <a:spAutoFit/>
          </a:bodyPr>
          <a:lstStyle/>
          <a:p>
            <a:pPr algn="just">
              <a:lnSpc>
                <a:spcPct val="150000"/>
              </a:lnSpc>
              <a:spcBef>
                <a:spcPts val="600"/>
              </a:spcBef>
              <a:spcAft>
                <a:spcPts val="600"/>
              </a:spcAft>
            </a:pPr>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LED</a:t>
            </a:r>
            <a:r>
              <a:rPr lang="zh-CN"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的驱动方式</a:t>
            </a:r>
            <a:endParaRPr lang="zh-CN" altLang="zh-CN" sz="16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p:cNvSpPr/>
          <p:nvPr/>
        </p:nvSpPr>
        <p:spPr>
          <a:xfrm>
            <a:off x="905792" y="1723995"/>
            <a:ext cx="8154318" cy="369332"/>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驱动方式是指</a:t>
            </a:r>
            <a:r>
              <a:rPr lang="en-US" altLang="zh-CN" dirty="0">
                <a:solidFill>
                  <a:schemeClr val="accent5"/>
                </a:solidFill>
                <a:latin typeface="微软雅黑" panose="020B0503020204020204" pitchFamily="34" charset="-122"/>
                <a:ea typeface="微软雅黑" panose="020B0503020204020204" pitchFamily="34" charset="-122"/>
              </a:rPr>
              <a:t>LED</a:t>
            </a:r>
            <a:r>
              <a:rPr lang="zh-CN" altLang="en-US" dirty="0">
                <a:solidFill>
                  <a:schemeClr val="accent5"/>
                </a:solidFill>
                <a:latin typeface="微软雅黑" panose="020B0503020204020204" pitchFamily="34" charset="-122"/>
                <a:ea typeface="微软雅黑" panose="020B0503020204020204" pitchFamily="34" charset="-122"/>
              </a:rPr>
              <a:t>的供电方式</a:t>
            </a:r>
            <a:r>
              <a:rPr lang="zh-CN" altLang="en-US" dirty="0">
                <a:latin typeface="微软雅黑" panose="020B0503020204020204" pitchFamily="34" charset="-122"/>
                <a:ea typeface="微软雅黑" panose="020B0503020204020204" pitchFamily="34" charset="-122"/>
              </a:rPr>
              <a:t>，常见的有</a:t>
            </a:r>
            <a:r>
              <a:rPr lang="zh-CN" altLang="en-US" dirty="0">
                <a:solidFill>
                  <a:schemeClr val="accent5"/>
                </a:solidFill>
                <a:latin typeface="微软雅黑" panose="020B0503020204020204" pitchFamily="34" charset="-122"/>
                <a:ea typeface="微软雅黑" panose="020B0503020204020204" pitchFamily="34" charset="-122"/>
              </a:rPr>
              <a:t>恒流</a:t>
            </a:r>
            <a:r>
              <a:rPr lang="zh-CN" altLang="en-US" dirty="0">
                <a:latin typeface="微软雅黑" panose="020B0503020204020204" pitchFamily="34" charset="-122"/>
                <a:ea typeface="微软雅黑" panose="020B0503020204020204" pitchFamily="34" charset="-122"/>
              </a:rPr>
              <a:t>驱动和</a:t>
            </a:r>
            <a:r>
              <a:rPr lang="zh-CN" altLang="en-US" dirty="0">
                <a:solidFill>
                  <a:schemeClr val="accent5"/>
                </a:solidFill>
                <a:latin typeface="微软雅黑" panose="020B0503020204020204" pitchFamily="34" charset="-122"/>
                <a:ea typeface="微软雅黑" panose="020B0503020204020204" pitchFamily="34" charset="-122"/>
              </a:rPr>
              <a:t>恒压</a:t>
            </a:r>
            <a:r>
              <a:rPr lang="zh-CN" altLang="en-US" dirty="0">
                <a:latin typeface="微软雅黑" panose="020B0503020204020204" pitchFamily="34" charset="-122"/>
                <a:ea typeface="微软雅黑" panose="020B0503020204020204" pitchFamily="34" charset="-122"/>
              </a:rPr>
              <a:t>驱动。</a:t>
            </a:r>
          </a:p>
        </p:txBody>
      </p:sp>
      <p:grpSp>
        <p:nvGrpSpPr>
          <p:cNvPr id="13" name="组合 12"/>
          <p:cNvGrpSpPr/>
          <p:nvPr/>
        </p:nvGrpSpPr>
        <p:grpSpPr>
          <a:xfrm>
            <a:off x="1576705" y="2449195"/>
            <a:ext cx="4043680" cy="3051195"/>
            <a:chOff x="3330429" y="2174522"/>
            <a:chExt cx="3856352" cy="3051356"/>
          </a:xfrm>
        </p:grpSpPr>
        <p:pic>
          <p:nvPicPr>
            <p:cNvPr id="10" name="图片 9"/>
            <p:cNvPicPr/>
            <p:nvPr/>
          </p:nvPicPr>
          <p:blipFill>
            <a:blip r:embed="rId2"/>
            <a:stretch>
              <a:fillRect/>
            </a:stretch>
          </p:blipFill>
          <p:spPr>
            <a:xfrm>
              <a:off x="3330429" y="2207749"/>
              <a:ext cx="1674792" cy="2556926"/>
            </a:xfrm>
            <a:prstGeom prst="rect">
              <a:avLst/>
            </a:prstGeom>
          </p:spPr>
        </p:pic>
        <p:pic>
          <p:nvPicPr>
            <p:cNvPr id="11" name="图片 10"/>
            <p:cNvPicPr/>
            <p:nvPr/>
          </p:nvPicPr>
          <p:blipFill>
            <a:blip r:embed="rId3"/>
            <a:stretch>
              <a:fillRect/>
            </a:stretch>
          </p:blipFill>
          <p:spPr>
            <a:xfrm>
              <a:off x="5296520" y="2174522"/>
              <a:ext cx="1890261" cy="2590152"/>
            </a:xfrm>
            <a:prstGeom prst="rect">
              <a:avLst/>
            </a:prstGeom>
          </p:spPr>
        </p:pic>
        <p:sp>
          <p:nvSpPr>
            <p:cNvPr id="12" name="矩形 11"/>
            <p:cNvSpPr/>
            <p:nvPr/>
          </p:nvSpPr>
          <p:spPr>
            <a:xfrm>
              <a:off x="4455650" y="4919157"/>
              <a:ext cx="1890261" cy="306721"/>
            </a:xfrm>
            <a:prstGeom prst="rect">
              <a:avLst/>
            </a:prstGeom>
          </p:spPr>
          <p:txBody>
            <a:bodyPr wrap="square">
              <a:spAutoFit/>
            </a:bodyPr>
            <a:lstStyle/>
            <a:p>
              <a:r>
                <a:rPr lang="zh-CN" altLang="zh-CN" sz="1400" kern="100" dirty="0">
                  <a:latin typeface="宋体" panose="02010600030101010101" pitchFamily="2" charset="-122"/>
                  <a:ea typeface="宋体" panose="02010600030101010101" pitchFamily="2" charset="-122"/>
                  <a:cs typeface="Times New Roman" panose="02020603050405020304" pitchFamily="18" charset="0"/>
                </a:rPr>
                <a:t>图</a:t>
              </a:r>
              <a:r>
                <a:rPr lang="en-US" altLang="zh-CN" sz="1400" kern="100" dirty="0">
                  <a:latin typeface="宋体" panose="02010600030101010101" pitchFamily="2" charset="-122"/>
                  <a:ea typeface="宋体" panose="02010600030101010101" pitchFamily="2" charset="-122"/>
                </a:rPr>
                <a:t>2-21</a:t>
              </a:r>
              <a:r>
                <a:rPr lang="zh-CN" altLang="zh-CN" sz="1400" kern="100" dirty="0">
                  <a:latin typeface="宋体" panose="02010600030101010101" pitchFamily="2" charset="-122"/>
                  <a:ea typeface="宋体" panose="02010600030101010101" pitchFamily="2" charset="-122"/>
                  <a:cs typeface="Times New Roman" panose="02020603050405020304" pitchFamily="18" charset="0"/>
                </a:rPr>
                <a:t>　恒流源电路</a:t>
              </a:r>
              <a:r>
                <a:rPr lang="en-US" altLang="zh-CN" sz="1400" kern="100" dirty="0">
                  <a:latin typeface="宋体" panose="02010600030101010101" pitchFamily="2" charset="-122"/>
                  <a:ea typeface="宋体" panose="02010600030101010101" pitchFamily="2" charset="-122"/>
                  <a:cs typeface="Times New Roman" panose="02020603050405020304" pitchFamily="18" charset="0"/>
                </a:rPr>
                <a:t> </a:t>
              </a:r>
              <a:endParaRPr lang="zh-CN" altLang="en-US" sz="1400" dirty="0">
                <a:latin typeface="宋体" panose="02010600030101010101" pitchFamily="2" charset="-122"/>
                <a:ea typeface="宋体" panose="02010600030101010101" pitchFamily="2" charset="-122"/>
              </a:endParaRPr>
            </a:p>
          </p:txBody>
        </p:sp>
      </p:grpSp>
      <p:sp>
        <p:nvSpPr>
          <p:cNvPr id="14" name="矩形 13"/>
          <p:cNvSpPr/>
          <p:nvPr/>
        </p:nvSpPr>
        <p:spPr>
          <a:xfrm>
            <a:off x="6588760" y="2726055"/>
            <a:ext cx="3747770" cy="2168525"/>
          </a:xfrm>
          <a:prstGeom prst="rect">
            <a:avLst/>
          </a:prstGeom>
        </p:spPr>
        <p:txBody>
          <a:bodyPr wrap="square">
            <a:spAutoFit/>
          </a:bodyPr>
          <a:lstStyle/>
          <a:p>
            <a:pPr>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目前已有多款</a:t>
            </a:r>
            <a:r>
              <a:rPr lang="en-US" altLang="zh-CN" kern="100" dirty="0">
                <a:latin typeface="微软雅黑" panose="020B0503020204020204" pitchFamily="34" charset="-122"/>
                <a:ea typeface="微软雅黑" panose="020B0503020204020204" pitchFamily="34" charset="-122"/>
              </a:rPr>
              <a:t>LED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恒流驱动芯片，采用</a:t>
            </a:r>
            <a:r>
              <a:rPr lang="zh-CN"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脉冲宽度调制</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的恒流变流驱动方法，通过</a:t>
            </a:r>
            <a:r>
              <a:rPr lang="zh-CN"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改变脉冲周期的占空比</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，来改变驱动电流的大小，达到控制</a:t>
            </a:r>
            <a:r>
              <a:rPr lang="en-US" altLang="zh-CN" kern="100" dirty="0">
                <a:latin typeface="微软雅黑" panose="020B0503020204020204" pitchFamily="34" charset="-122"/>
                <a:ea typeface="微软雅黑" panose="020B0503020204020204" pitchFamily="34" charset="-122"/>
              </a:rPr>
              <a:t>LED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亮度的目的。</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2.3.1  </a:t>
            </a:r>
            <a:r>
              <a:rPr lang="zh-CN" altLang="en-US" b="1" dirty="0">
                <a:solidFill>
                  <a:srgbClr val="002060"/>
                </a:solidFill>
              </a:rPr>
              <a:t>光源</a:t>
            </a:r>
          </a:p>
        </p:txBody>
      </p:sp>
      <p:sp>
        <p:nvSpPr>
          <p:cNvPr id="2" name="矩形 1"/>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37</a:t>
            </a:fld>
            <a:endParaRPr kumimoji="1" lang="zh-CN" altLang="en-US"/>
          </a:p>
        </p:txBody>
      </p:sp>
      <p:sp>
        <p:nvSpPr>
          <p:cNvPr id="7" name="矩形 6"/>
          <p:cNvSpPr/>
          <p:nvPr/>
        </p:nvSpPr>
        <p:spPr>
          <a:xfrm>
            <a:off x="525760" y="1229041"/>
            <a:ext cx="1503680" cy="398780"/>
          </a:xfrm>
          <a:prstGeom prst="rect">
            <a:avLst/>
          </a:prstGeom>
        </p:spPr>
        <p:txBody>
          <a:bodyPr wrap="none">
            <a:spAutoFit/>
          </a:bodyPr>
          <a:lstStyle/>
          <a:p>
            <a:r>
              <a:rPr lang="en-US" altLang="zh-CN" sz="2000" b="1" kern="100" dirty="0">
                <a:solidFill>
                  <a:srgbClr val="002060"/>
                </a:solidFill>
                <a:latin typeface="微软雅黑" panose="020B0503020204020204" pitchFamily="34" charset="-122"/>
                <a:ea typeface="微软雅黑" panose="020B0503020204020204" pitchFamily="34" charset="-122"/>
              </a:rPr>
              <a:t>3. </a:t>
            </a:r>
            <a:r>
              <a:rPr lang="zh-CN" altLang="en-US" sz="2000" b="1" kern="100" dirty="0">
                <a:solidFill>
                  <a:srgbClr val="002060"/>
                </a:solidFill>
                <a:latin typeface="微软雅黑" panose="020B0503020204020204" pitchFamily="34" charset="-122"/>
                <a:ea typeface="微软雅黑" panose="020B0503020204020204" pitchFamily="34" charset="-122"/>
              </a:rPr>
              <a:t>激光光源</a:t>
            </a:r>
            <a:endParaRPr lang="zh-CN" altLang="en-US" sz="2000" dirty="0">
              <a:solidFill>
                <a:srgbClr val="002060"/>
              </a:solidFill>
              <a:latin typeface="微软雅黑" panose="020B0503020204020204" pitchFamily="34" charset="-122"/>
              <a:ea typeface="微软雅黑" panose="020B0503020204020204" pitchFamily="34" charset="-122"/>
            </a:endParaRPr>
          </a:p>
        </p:txBody>
      </p:sp>
      <p:sp>
        <p:nvSpPr>
          <p:cNvPr id="8" name="矩形 7"/>
          <p:cNvSpPr/>
          <p:nvPr/>
        </p:nvSpPr>
        <p:spPr>
          <a:xfrm>
            <a:off x="1020142" y="1892319"/>
            <a:ext cx="2651688" cy="400110"/>
          </a:xfrm>
          <a:prstGeom prst="rect">
            <a:avLst/>
          </a:prstGeom>
        </p:spPr>
        <p:txBody>
          <a:bodyPr wrap="none">
            <a:spAutoFit/>
          </a:bodyPr>
          <a:lstStyle/>
          <a:p>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激光的工作原理</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sp>
        <p:nvSpPr>
          <p:cNvPr id="10" name="矩形 9"/>
          <p:cNvSpPr/>
          <p:nvPr/>
        </p:nvSpPr>
        <p:spPr>
          <a:xfrm>
            <a:off x="5552440" y="1881505"/>
            <a:ext cx="5803265" cy="3569335"/>
          </a:xfrm>
          <a:prstGeom prst="rect">
            <a:avLst/>
          </a:prstGeom>
        </p:spPr>
        <p:txBody>
          <a:bodyPr wrap="square">
            <a:spAutoFit/>
          </a:bodyPr>
          <a:lstStyle/>
          <a:p>
            <a:pPr marL="342900" indent="-342900" fontAlgn="auto">
              <a:lnSpc>
                <a:spcPct val="150000"/>
              </a:lnSpc>
              <a:spcBef>
                <a:spcPts val="600"/>
              </a:spcBef>
              <a:buFont typeface="+mj-lt"/>
              <a:buAutoNum type="alphaLcParenR"/>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受激辐射放大：</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是指处于高能级的粒子在外来激发光的激发下，跃迁到低能级而发出光子的过程。</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fontAlgn="auto">
              <a:lnSpc>
                <a:spcPct val="150000"/>
              </a:lnSpc>
              <a:spcBef>
                <a:spcPts val="600"/>
              </a:spcBef>
              <a:buFont typeface="+mj-lt"/>
              <a:buAutoNum type="alphaLcParenR"/>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粒子数反转：</a:t>
            </a:r>
            <a:r>
              <a:rPr lang="zh-CN" altLang="en-US" dirty="0">
                <a:latin typeface="微软雅黑" panose="020B0503020204020204" pitchFamily="34" charset="-122"/>
                <a:ea typeface="微软雅黑" panose="020B0503020204020204" pitchFamily="34" charset="-122"/>
              </a:rPr>
              <a:t>即高能级的粒子数要远高于低能级的粒子数，只有这样才有充足的粒子不断地从高能级跃迁至低能级，从而产生光放大作用。</a:t>
            </a:r>
            <a:endParaRPr lang="en-US" altLang="zh-CN" dirty="0">
              <a:latin typeface="微软雅黑" panose="020B0503020204020204" pitchFamily="34" charset="-122"/>
              <a:ea typeface="微软雅黑" panose="020B0503020204020204" pitchFamily="34" charset="-122"/>
            </a:endParaRPr>
          </a:p>
          <a:p>
            <a:pPr marL="342900" indent="-342900" fontAlgn="auto">
              <a:lnSpc>
                <a:spcPct val="150000"/>
              </a:lnSpc>
              <a:spcBef>
                <a:spcPts val="600"/>
              </a:spcBef>
              <a:buFont typeface="+mj-lt"/>
              <a:buAutoNum type="alphaLcParenR"/>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谐振腔：</a:t>
            </a:r>
            <a:r>
              <a:rPr lang="zh-CN" altLang="en-US" dirty="0">
                <a:latin typeface="微软雅黑" panose="020B0503020204020204" pitchFamily="34" charset="-122"/>
                <a:ea typeface="微软雅黑" panose="020B0503020204020204" pitchFamily="34" charset="-122"/>
              </a:rPr>
              <a:t>使一个特定模式（特定频率、方向、偏振状态）的辐射得到加强，而抑制其它模式的辐射，使得激光具有更好的方向性和单色性。</a:t>
            </a:r>
          </a:p>
        </p:txBody>
      </p:sp>
      <p:grpSp>
        <p:nvGrpSpPr>
          <p:cNvPr id="12" name="组合 11"/>
          <p:cNvGrpSpPr/>
          <p:nvPr/>
        </p:nvGrpSpPr>
        <p:grpSpPr>
          <a:xfrm>
            <a:off x="882311" y="2930845"/>
            <a:ext cx="4479721" cy="2402696"/>
            <a:chOff x="882311" y="2930845"/>
            <a:chExt cx="4479721" cy="2402696"/>
          </a:xfrm>
        </p:grpSpPr>
        <p:pic>
          <p:nvPicPr>
            <p:cNvPr id="9" name="图片 8"/>
            <p:cNvPicPr/>
            <p:nvPr/>
          </p:nvPicPr>
          <p:blipFill>
            <a:blip r:embed="rId2">
              <a:extLst>
                <a:ext uri="{28A0092B-C50C-407E-A947-70E740481C1C}">
                  <a14:useLocalDpi xmlns:a14="http://schemas.microsoft.com/office/drawing/2010/main" val="0"/>
                </a:ext>
              </a:extLst>
            </a:blip>
            <a:srcRect/>
            <a:stretch>
              <a:fillRect/>
            </a:stretch>
          </p:blipFill>
          <p:spPr>
            <a:xfrm>
              <a:off x="882311" y="2930845"/>
              <a:ext cx="4479721" cy="1916887"/>
            </a:xfrm>
            <a:prstGeom prst="rect">
              <a:avLst/>
            </a:prstGeom>
            <a:noFill/>
            <a:ln>
              <a:noFill/>
            </a:ln>
          </p:spPr>
        </p:pic>
        <p:sp>
          <p:nvSpPr>
            <p:cNvPr id="11" name="矩形 10"/>
            <p:cNvSpPr/>
            <p:nvPr/>
          </p:nvSpPr>
          <p:spPr>
            <a:xfrm>
              <a:off x="1869298" y="4954911"/>
              <a:ext cx="2353528" cy="378630"/>
            </a:xfrm>
            <a:prstGeom prst="rect">
              <a:avLst/>
            </a:prstGeom>
          </p:spPr>
          <p:txBody>
            <a:bodyPr wrap="none">
              <a:spAutoFit/>
            </a:bodyPr>
            <a:lstStyle/>
            <a:p>
              <a:pPr algn="ctr">
                <a:lnSpc>
                  <a:spcPct val="150000"/>
                </a:lnSpc>
                <a:spcAft>
                  <a:spcPts val="0"/>
                </a:spcAft>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2-22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粒子数反转基本原理</a:t>
              </a:r>
              <a:endParaRPr lang="zh-CN" altLang="zh-CN" sz="1400" kern="100" dirty="0">
                <a:latin typeface="Calibri" panose="020F0502020204030204" pitchFamily="34" charset="0"/>
                <a:ea typeface="宋体" panose="02010600030101010101" pitchFamily="2" charset="-122"/>
                <a:cs typeface="Times New Roman" panose="02020603050405020304" pitchFamily="18" charset="0"/>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2.3.1  </a:t>
            </a:r>
            <a:r>
              <a:rPr lang="zh-CN" altLang="en-US" b="1" dirty="0">
                <a:solidFill>
                  <a:srgbClr val="002060"/>
                </a:solidFill>
              </a:rPr>
              <a:t>光源</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38</a:t>
            </a:fld>
            <a:endParaRPr kumimoji="1" lang="zh-CN" altLang="en-US"/>
          </a:p>
        </p:txBody>
      </p:sp>
      <p:sp>
        <p:nvSpPr>
          <p:cNvPr id="7" name="矩形 6"/>
          <p:cNvSpPr/>
          <p:nvPr/>
        </p:nvSpPr>
        <p:spPr>
          <a:xfrm>
            <a:off x="888062" y="1470603"/>
            <a:ext cx="2908168" cy="400110"/>
          </a:xfrm>
          <a:prstGeom prst="rect">
            <a:avLst/>
          </a:prstGeom>
        </p:spPr>
        <p:txBody>
          <a:bodyPr wrap="none">
            <a:spAutoFit/>
          </a:bodyPr>
          <a:lstStyle/>
          <a:p>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）激光器的组成结构</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1215390" y="2428240"/>
            <a:ext cx="3512820" cy="2709221"/>
            <a:chOff x="803396" y="1935084"/>
            <a:chExt cx="3315597" cy="2165052"/>
          </a:xfrm>
        </p:grpSpPr>
        <p:pic>
          <p:nvPicPr>
            <p:cNvPr id="8" name="图片 7"/>
            <p:cNvPicPr/>
            <p:nvPr/>
          </p:nvPicPr>
          <p:blipFill>
            <a:blip r:embed="rId2">
              <a:extLst>
                <a:ext uri="{28A0092B-C50C-407E-A947-70E740481C1C}">
                  <a14:useLocalDpi xmlns:a14="http://schemas.microsoft.com/office/drawing/2010/main" val="0"/>
                </a:ext>
              </a:extLst>
            </a:blip>
            <a:srcRect/>
            <a:stretch>
              <a:fillRect/>
            </a:stretch>
          </p:blipFill>
          <p:spPr>
            <a:xfrm>
              <a:off x="803396" y="1935084"/>
              <a:ext cx="3315597" cy="1705738"/>
            </a:xfrm>
            <a:prstGeom prst="rect">
              <a:avLst/>
            </a:prstGeom>
            <a:noFill/>
            <a:ln>
              <a:noFill/>
            </a:ln>
          </p:spPr>
        </p:pic>
        <p:sp>
          <p:nvSpPr>
            <p:cNvPr id="10" name="矩形 9"/>
            <p:cNvSpPr/>
            <p:nvPr/>
          </p:nvSpPr>
          <p:spPr>
            <a:xfrm>
              <a:off x="1291044" y="3855035"/>
              <a:ext cx="2339102" cy="245101"/>
            </a:xfrm>
            <a:prstGeom prst="rect">
              <a:avLst/>
            </a:prstGeom>
          </p:spPr>
          <p:txBody>
            <a:bodyPr wrap="square">
              <a:spAutoFit/>
            </a:bodyPr>
            <a:lstStyle/>
            <a:p>
              <a:r>
                <a:rPr lang="zh-CN" altLang="en-US" sz="1400" dirty="0">
                  <a:latin typeface="宋体" panose="02010600030101010101" pitchFamily="2" charset="-122"/>
                  <a:ea typeface="宋体" panose="02010600030101010101" pitchFamily="2" charset="-122"/>
                </a:rPr>
                <a:t>图</a:t>
              </a:r>
              <a:r>
                <a:rPr lang="en-US" altLang="zh-CN" sz="1400" dirty="0">
                  <a:latin typeface="宋体" panose="02010600030101010101" pitchFamily="2" charset="-122"/>
                  <a:ea typeface="宋体" panose="02010600030101010101" pitchFamily="2" charset="-122"/>
                </a:rPr>
                <a:t>2-23</a:t>
              </a:r>
              <a:r>
                <a:rPr lang="zh-CN" altLang="en-US" sz="1400" dirty="0">
                  <a:latin typeface="宋体" panose="02010600030101010101" pitchFamily="2" charset="-122"/>
                  <a:ea typeface="宋体" panose="02010600030101010101" pitchFamily="2" charset="-122"/>
                </a:rPr>
                <a:t>　产生激光的三要素</a:t>
              </a:r>
            </a:p>
          </p:txBody>
        </p:sp>
      </p:grpSp>
      <p:sp>
        <p:nvSpPr>
          <p:cNvPr id="12" name="矩形 11"/>
          <p:cNvSpPr/>
          <p:nvPr/>
        </p:nvSpPr>
        <p:spPr>
          <a:xfrm>
            <a:off x="5347970" y="2289810"/>
            <a:ext cx="5805805" cy="2738120"/>
          </a:xfrm>
          <a:prstGeom prst="rect">
            <a:avLst/>
          </a:prstGeom>
        </p:spPr>
        <p:txBody>
          <a:bodyPr wrap="square">
            <a:spAutoFit/>
          </a:bodyPr>
          <a:lstStyle/>
          <a:p>
            <a:pPr marL="342900" indent="-342900" fontAlgn="auto">
              <a:lnSpc>
                <a:spcPct val="150000"/>
              </a:lnSpc>
              <a:spcBef>
                <a:spcPts val="600"/>
              </a:spcBef>
              <a:buFont typeface="+mj-lt"/>
              <a:buAutoNum type="alphaLcParenR"/>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工作物质：</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激光器的核心，是激光器产生受激辐射和放大的条件；</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fontAlgn="auto">
              <a:lnSpc>
                <a:spcPct val="150000"/>
              </a:lnSpc>
              <a:spcBef>
                <a:spcPts val="600"/>
              </a:spcBef>
              <a:buFont typeface="+mj-lt"/>
              <a:buAutoNum type="alphaLcParenR"/>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泵浦源：</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为实现工作物质中粒子数反转提供能源，工作物质类型不同采用的泵浦方式亦不同；</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fontAlgn="auto">
              <a:lnSpc>
                <a:spcPct val="150000"/>
              </a:lnSpc>
              <a:spcBef>
                <a:spcPts val="600"/>
              </a:spcBef>
              <a:buFont typeface="+mj-lt"/>
              <a:buAutoNum type="alphaLcParenR"/>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光学谐振腔：</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为激光提供正反馈，同时具有选模的作用，光学谐振腔的参数会影响激光器输出光的质量。</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2.3.1  </a:t>
            </a:r>
            <a:r>
              <a:rPr lang="zh-CN" altLang="en-US" b="1" dirty="0">
                <a:solidFill>
                  <a:srgbClr val="002060"/>
                </a:solidFill>
              </a:rPr>
              <a:t>光源</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39</a:t>
            </a:fld>
            <a:endParaRPr kumimoji="1" lang="zh-CN" altLang="en-US"/>
          </a:p>
        </p:txBody>
      </p:sp>
      <p:sp>
        <p:nvSpPr>
          <p:cNvPr id="7" name="矩形 6"/>
          <p:cNvSpPr/>
          <p:nvPr/>
        </p:nvSpPr>
        <p:spPr>
          <a:xfrm>
            <a:off x="866472" y="1438218"/>
            <a:ext cx="2651688" cy="400110"/>
          </a:xfrm>
          <a:prstGeom prst="rect">
            <a:avLst/>
          </a:prstGeom>
        </p:spPr>
        <p:txBody>
          <a:bodyPr wrap="none">
            <a:spAutoFit/>
          </a:bodyPr>
          <a:lstStyle/>
          <a:p>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）激光的主要特性</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sp>
        <p:nvSpPr>
          <p:cNvPr id="3" name="矩形 2"/>
          <p:cNvSpPr/>
          <p:nvPr/>
        </p:nvSpPr>
        <p:spPr>
          <a:xfrm>
            <a:off x="888062" y="2084648"/>
            <a:ext cx="10712457" cy="3830955"/>
          </a:xfrm>
          <a:prstGeom prst="rect">
            <a:avLst/>
          </a:prstGeom>
        </p:spPr>
        <p:txBody>
          <a:bodyPr wrap="square">
            <a:spAutoFit/>
          </a:bodyPr>
          <a:lstStyle/>
          <a:p>
            <a:pPr marL="342900" indent="-342900" algn="just" latinLnBrk="1">
              <a:lnSpc>
                <a:spcPct val="150000"/>
              </a:lnSpc>
              <a:spcAft>
                <a:spcPts val="0"/>
              </a:spcAft>
              <a:buFont typeface="+mj-lt"/>
              <a:buAutoNum type="alphaLcParenR"/>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单色性，</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指激光的谱线宽度非常窄。如稳频的</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He-Ne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激光器</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632.8 nm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谱线的宽度为</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10</a:t>
            </a:r>
            <a:r>
              <a:rPr lang="en-US" altLang="zh-CN" kern="100" baseline="30000" dirty="0">
                <a:latin typeface="微软雅黑" panose="020B0503020204020204" pitchFamily="34" charset="-122"/>
                <a:ea typeface="微软雅黑" panose="020B0503020204020204" pitchFamily="34" charset="-122"/>
                <a:cs typeface="Times New Roman" panose="02020603050405020304" pitchFamily="18" charset="0"/>
              </a:rPr>
              <a:t>-8 </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nm</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p>
          <a:p>
            <a:pPr marL="342900" indent="-342900" algn="just" latinLnBrk="1">
              <a:lnSpc>
                <a:spcPct val="150000"/>
              </a:lnSpc>
              <a:spcAft>
                <a:spcPts val="0"/>
              </a:spcAft>
              <a:buFont typeface="+mj-lt"/>
              <a:buAutoNum type="alphaLcParenR"/>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方向性，</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指激光的发散角非常小。激光发散角约为</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10</a:t>
            </a:r>
            <a:r>
              <a:rPr lang="en-US" altLang="zh-CN" kern="100" baseline="30000"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弧度量级，而普通光源中方向性最好的探照灯发散角为</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10</a:t>
            </a:r>
            <a:r>
              <a:rPr lang="en-US" altLang="zh-CN" kern="100" baseline="30000" dirty="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弧度。</a:t>
            </a:r>
          </a:p>
          <a:p>
            <a:pPr marL="342900" indent="-342900" algn="just" latinLnBrk="1">
              <a:lnSpc>
                <a:spcPct val="150000"/>
              </a:lnSpc>
              <a:spcAft>
                <a:spcPts val="0"/>
              </a:spcAft>
              <a:buFont typeface="+mj-lt"/>
              <a:buAutoNum type="alphaLcParenR"/>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相干性，</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激光是一种相干光源。相干性包括时间相干性和空间相干性，它们分别与单色性和方向性相关，单色性越好则相干时间越长，方向性越好则相干面积越大。</a:t>
            </a:r>
          </a:p>
          <a:p>
            <a:pPr marL="342900" indent="-342900" algn="just" latinLnBrk="1">
              <a:lnSpc>
                <a:spcPct val="150000"/>
              </a:lnSpc>
              <a:spcAft>
                <a:spcPts val="0"/>
              </a:spcAft>
              <a:buFont typeface="+mj-lt"/>
              <a:buAutoNum type="alphaLcParenR"/>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瞬时性，</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激光的脉冲宽度很窄，即能量在时间上高度集中。目前已经出现了皮秒（</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10</a:t>
            </a:r>
            <a:r>
              <a:rPr lang="en-US" altLang="zh-CN" kern="100" baseline="30000" dirty="0">
                <a:latin typeface="微软雅黑" panose="020B0503020204020204" pitchFamily="34" charset="-122"/>
                <a:ea typeface="微软雅黑" panose="020B0503020204020204" pitchFamily="34" charset="-122"/>
                <a:cs typeface="Times New Roman" panose="02020603050405020304" pitchFamily="18" charset="0"/>
              </a:rPr>
              <a:t>-12</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）、飞秒（</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10</a:t>
            </a:r>
            <a:r>
              <a:rPr lang="en-US" altLang="zh-CN" kern="100" baseline="30000" dirty="0">
                <a:latin typeface="微软雅黑" panose="020B0503020204020204" pitchFamily="34" charset="-122"/>
                <a:ea typeface="微软雅黑" panose="020B0503020204020204" pitchFamily="34" charset="-122"/>
                <a:cs typeface="Times New Roman" panose="02020603050405020304" pitchFamily="18" charset="0"/>
              </a:rPr>
              <a:t>-15</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）和阿秒（</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10</a:t>
            </a:r>
            <a:r>
              <a:rPr lang="en-US" altLang="zh-CN" kern="100" baseline="30000" dirty="0">
                <a:latin typeface="微软雅黑" panose="020B0503020204020204" pitchFamily="34" charset="-122"/>
                <a:ea typeface="微软雅黑" panose="020B0503020204020204" pitchFamily="34" charset="-122"/>
                <a:cs typeface="Times New Roman" panose="02020603050405020304" pitchFamily="18" charset="0"/>
              </a:rPr>
              <a:t>-18</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）级的激光脉冲，利用它们可以探测超快过程。</a:t>
            </a:r>
          </a:p>
          <a:p>
            <a:pPr marL="342900" indent="-342900" algn="just" latinLnBrk="1">
              <a:lnSpc>
                <a:spcPct val="150000"/>
              </a:lnSpc>
              <a:spcAft>
                <a:spcPts val="0"/>
              </a:spcAft>
              <a:buFont typeface="+mj-lt"/>
              <a:buAutoNum type="alphaLcParenR"/>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高功率密度，</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激光的发光面积小，而且发散角也非常小（光束细），所以其发光功率密度非常高。功率为</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1 </a:t>
            </a:r>
            <a:r>
              <a:rPr lang="en-US" altLang="zh-CN" kern="100" dirty="0" err="1">
                <a:latin typeface="微软雅黑" panose="020B0503020204020204" pitchFamily="34" charset="-122"/>
                <a:ea typeface="微软雅黑" panose="020B0503020204020204" pitchFamily="34" charset="-122"/>
                <a:cs typeface="Times New Roman" panose="02020603050405020304" pitchFamily="18" charset="0"/>
              </a:rPr>
              <a:t>mW</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He-Ne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激光器的亮度比太阳的亮度高出约</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100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倍。</a:t>
            </a:r>
            <a:endPar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2.3.1  </a:t>
            </a:r>
            <a:r>
              <a:rPr lang="zh-CN" altLang="en-US" b="1" dirty="0">
                <a:solidFill>
                  <a:srgbClr val="002060"/>
                </a:solidFill>
              </a:rPr>
              <a:t>光源</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40</a:t>
            </a:fld>
            <a:endParaRPr kumimoji="1" lang="zh-CN" altLang="en-US"/>
          </a:p>
        </p:txBody>
      </p:sp>
      <p:sp>
        <p:nvSpPr>
          <p:cNvPr id="3" name="矩形 2"/>
          <p:cNvSpPr/>
          <p:nvPr/>
        </p:nvSpPr>
        <p:spPr>
          <a:xfrm>
            <a:off x="378281" y="1160284"/>
            <a:ext cx="2173993" cy="458908"/>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）半导体激光器</a:t>
            </a:r>
            <a:endParaRPr lang="zh-CN" altLang="zh-CN" sz="14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p:cNvSpPr/>
          <p:nvPr/>
        </p:nvSpPr>
        <p:spPr>
          <a:xfrm>
            <a:off x="1006678" y="1763463"/>
            <a:ext cx="10348240" cy="1705403"/>
          </a:xfrm>
          <a:prstGeom prst="rect">
            <a:avLst/>
          </a:prstGeom>
        </p:spPr>
        <p:txBody>
          <a:bodyPr wrap="square">
            <a:spAutoFit/>
          </a:bodyPr>
          <a:lstStyle/>
          <a:p>
            <a:pPr>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半导体激光器也称为半导体激光二极管简称激光二极管（</a:t>
            </a:r>
            <a:r>
              <a:rPr lang="en-US" altLang="zh-CN" kern="100" dirty="0">
                <a:latin typeface="微软雅黑" panose="020B0503020204020204" pitchFamily="34" charset="-122"/>
                <a:ea typeface="微软雅黑" panose="020B0503020204020204" pitchFamily="34" charset="-122"/>
              </a:rPr>
              <a:t>Laser Diode</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latin typeface="微软雅黑" panose="020B0503020204020204" pitchFamily="34" charset="-122"/>
                <a:ea typeface="微软雅黑" panose="020B0503020204020204" pitchFamily="34" charset="-122"/>
              </a:rPr>
              <a:t>LD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）是</a:t>
            </a:r>
            <a:r>
              <a:rPr lang="zh-CN" altLang="zh-CN"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以半导体材料为工作物质</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的激光器件。常用的半导体材料有砷化镓（</a:t>
            </a:r>
            <a:r>
              <a:rPr lang="en-US" altLang="zh-CN" kern="100" dirty="0">
                <a:latin typeface="微软雅黑" panose="020B0503020204020204" pitchFamily="34" charset="-122"/>
                <a:ea typeface="微软雅黑" panose="020B0503020204020204" pitchFamily="34" charset="-122"/>
              </a:rPr>
              <a:t>GaAs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）、掺铝砷化镓和硫化镉（</a:t>
            </a:r>
            <a:r>
              <a:rPr lang="en-US" altLang="zh-CN" kern="100" dirty="0" err="1">
                <a:latin typeface="微软雅黑" panose="020B0503020204020204" pitchFamily="34" charset="-122"/>
                <a:ea typeface="微软雅黑" panose="020B0503020204020204" pitchFamily="34" charset="-122"/>
              </a:rPr>
              <a:t>CdS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）、磷化铟</a:t>
            </a:r>
            <a:r>
              <a:rPr lang="en-US" altLang="zh-CN" kern="100" dirty="0">
                <a:latin typeface="微软雅黑" panose="020B0503020204020204" pitchFamily="34" charset="-122"/>
                <a:ea typeface="微软雅黑" panose="020B0503020204020204" pitchFamily="34" charset="-122"/>
              </a:rPr>
              <a:t>(</a:t>
            </a:r>
            <a:r>
              <a:rPr lang="en-US" altLang="zh-CN" kern="100" dirty="0" err="1">
                <a:latin typeface="微软雅黑" panose="020B0503020204020204" pitchFamily="34" charset="-122"/>
                <a:ea typeface="微软雅黑" panose="020B0503020204020204" pitchFamily="34" charset="-122"/>
              </a:rPr>
              <a:t>InP</a:t>
            </a:r>
            <a:r>
              <a:rPr lang="en-US" altLang="zh-CN" kern="100" dirty="0">
                <a:latin typeface="微软雅黑" panose="020B0503020204020204" pitchFamily="34" charset="-122"/>
                <a:ea typeface="微软雅黑" panose="020B0503020204020204" pitchFamily="34" charset="-122"/>
              </a:rPr>
              <a:t>)</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、硫化锌</a:t>
            </a:r>
            <a:r>
              <a:rPr lang="en-US" altLang="zh-CN" kern="100" dirty="0">
                <a:latin typeface="微软雅黑" panose="020B0503020204020204" pitchFamily="34" charset="-122"/>
                <a:ea typeface="微软雅黑" panose="020B0503020204020204" pitchFamily="34" charset="-122"/>
              </a:rPr>
              <a:t>(ZnS)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等。</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波长范围从</a:t>
            </a:r>
            <a:r>
              <a:rPr lang="zh-CN" altLang="en-US"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紫外到红外</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波段（</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300nm~</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几微米），功率范围通常在几毫瓦到几瓦之间，有些大功率激光器可达几十瓦。</a:t>
            </a:r>
            <a:endParaRPr lang="zh-CN" altLang="en-US" dirty="0">
              <a:latin typeface="微软雅黑" panose="020B0503020204020204" pitchFamily="34" charset="-122"/>
              <a:ea typeface="微软雅黑" panose="020B0503020204020204" pitchFamily="34" charset="-122"/>
            </a:endParaRPr>
          </a:p>
        </p:txBody>
      </p:sp>
      <p:sp>
        <p:nvSpPr>
          <p:cNvPr id="13" name="矩形 12"/>
          <p:cNvSpPr/>
          <p:nvPr/>
        </p:nvSpPr>
        <p:spPr>
          <a:xfrm>
            <a:off x="378282" y="3870565"/>
            <a:ext cx="1943161" cy="455894"/>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）其他激光器</a:t>
            </a:r>
          </a:p>
        </p:txBody>
      </p:sp>
      <p:sp>
        <p:nvSpPr>
          <p:cNvPr id="14" name="矩形 13"/>
          <p:cNvSpPr/>
          <p:nvPr/>
        </p:nvSpPr>
        <p:spPr>
          <a:xfrm>
            <a:off x="1006678" y="4470730"/>
            <a:ext cx="10209403" cy="874407"/>
          </a:xfrm>
          <a:prstGeom prst="rect">
            <a:avLst/>
          </a:prstGeom>
        </p:spPr>
        <p:txBody>
          <a:bodyPr wrap="square">
            <a:spAutoFit/>
          </a:bodyPr>
          <a:lstStyle/>
          <a:p>
            <a:pPr>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其他激光器包括</a:t>
            </a:r>
            <a:r>
              <a:rPr lang="zh-CN" altLang="zh-CN"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固体激光器</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气体激光器</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和</a:t>
            </a:r>
            <a:r>
              <a:rPr lang="zh-CN" altLang="zh-CN"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液体激光器</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。常见的固体激光器有红宝石激光器、</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YAG</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激光器和玻璃激光器等，它们具有</a:t>
            </a:r>
            <a:r>
              <a:rPr lang="zh-CN" altLang="zh-CN" kern="100" dirty="0">
                <a:solidFill>
                  <a:schemeClr val="accent5"/>
                </a:solidFill>
                <a:latin typeface="微软雅黑" panose="020B0503020204020204" pitchFamily="34" charset="-122"/>
                <a:ea typeface="微软雅黑" panose="020B0503020204020204" pitchFamily="34" charset="-122"/>
                <a:cs typeface="Times New Roman" panose="02020603050405020304" pitchFamily="18" charset="0"/>
              </a:rPr>
              <a:t>器件小、坚固、使用方便、输出光功率大</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等特点</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2.3.1  </a:t>
            </a:r>
            <a:r>
              <a:rPr lang="zh-CN" altLang="en-US" b="1" dirty="0">
                <a:solidFill>
                  <a:srgbClr val="002060"/>
                </a:solidFill>
              </a:rPr>
              <a:t>光源</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41</a:t>
            </a:fld>
            <a:endParaRPr kumimoji="1" lang="zh-CN" altLang="en-US"/>
          </a:p>
        </p:txBody>
      </p:sp>
      <p:sp>
        <p:nvSpPr>
          <p:cNvPr id="3" name="矩形 2"/>
          <p:cNvSpPr/>
          <p:nvPr/>
        </p:nvSpPr>
        <p:spPr>
          <a:xfrm>
            <a:off x="546118" y="1189031"/>
            <a:ext cx="1174115" cy="398780"/>
          </a:xfrm>
          <a:prstGeom prst="rect">
            <a:avLst/>
          </a:prstGeom>
        </p:spPr>
        <p:txBody>
          <a:bodyPr wrap="none">
            <a:spAutoFit/>
          </a:bodyPr>
          <a:lstStyle/>
          <a:p>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热光源</a:t>
            </a:r>
            <a:endParaRPr lang="zh-CN" altLang="en-US" sz="2000" dirty="0">
              <a:solidFill>
                <a:srgbClr val="002060"/>
              </a:solidFill>
              <a:latin typeface="微软雅黑" panose="020B0503020204020204" pitchFamily="34" charset="-122"/>
              <a:ea typeface="微软雅黑" panose="020B0503020204020204" pitchFamily="34" charset="-122"/>
            </a:endParaRPr>
          </a:p>
        </p:txBody>
      </p:sp>
      <p:sp>
        <p:nvSpPr>
          <p:cNvPr id="7" name="矩形 6"/>
          <p:cNvSpPr/>
          <p:nvPr/>
        </p:nvSpPr>
        <p:spPr>
          <a:xfrm>
            <a:off x="905192" y="1541082"/>
            <a:ext cx="9891439" cy="2167068"/>
          </a:xfrm>
          <a:prstGeom prst="rect">
            <a:avLst/>
          </a:prstGeom>
        </p:spPr>
        <p:txBody>
          <a:bodyPr wrap="square">
            <a:spAutoFit/>
          </a:bodyPr>
          <a:lstStyle/>
          <a:p>
            <a:pPr>
              <a:lnSpc>
                <a:spcPct val="150000"/>
              </a:lnSpc>
            </a:pPr>
            <a:r>
              <a:rPr lang="zh-CN"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利用物体升温产生光辐射</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的原理制成的光源。</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zh-CN" sz="2000" kern="100" dirty="0">
                <a:latin typeface="微软雅黑" panose="020B0503020204020204" pitchFamily="34" charset="-122"/>
                <a:ea typeface="微软雅黑" panose="020B0503020204020204" pitchFamily="34" charset="-122"/>
                <a:cs typeface="Times New Roman" panose="02020603050405020304" pitchFamily="18" charset="0"/>
              </a:rPr>
              <a:t>特点：</a:t>
            </a:r>
            <a:endParaRPr lang="en-US" altLang="zh-CN" sz="2000" kern="100"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pPr>
            <a:r>
              <a:rPr lang="en-US" altLang="zh-CN" kern="100" dirty="0">
                <a:latin typeface="微软雅黑" panose="020B0503020204020204" pitchFamily="34" charset="-122"/>
                <a:ea typeface="微软雅黑" panose="020B0503020204020204" pitchFamily="34" charset="-122"/>
              </a:rPr>
              <a:t>1</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）发光特性（光谱分布、出射度、亮度）可以用普朗克公式估算；</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pPr>
            <a:r>
              <a:rPr lang="en-US" altLang="zh-CN" kern="100" dirty="0">
                <a:latin typeface="微软雅黑" panose="020B0503020204020204" pitchFamily="34" charset="-122"/>
                <a:ea typeface="微软雅黑" panose="020B0503020204020204" pitchFamily="34" charset="-122"/>
              </a:rPr>
              <a:t>2</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）发出连续光谱，谱宽很宽，适应性强。</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pPr>
            <a:r>
              <a:rPr lang="en-US" altLang="zh-CN" kern="100" dirty="0">
                <a:latin typeface="微软雅黑" panose="020B0503020204020204" pitchFamily="34" charset="-122"/>
                <a:ea typeface="微软雅黑" panose="020B0503020204020204" pitchFamily="34" charset="-122"/>
              </a:rPr>
              <a:t>3</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）大多属于电热型，可以通过控制输入电量控制发光特性。</a:t>
            </a:r>
            <a:endParaRPr lang="zh-CN" altLang="en-US" dirty="0">
              <a:latin typeface="微软雅黑" panose="020B0503020204020204" pitchFamily="34" charset="-122"/>
              <a:ea typeface="微软雅黑" panose="020B0503020204020204" pitchFamily="34" charset="-122"/>
            </a:endParaRPr>
          </a:p>
        </p:txBody>
      </p:sp>
      <p:sp>
        <p:nvSpPr>
          <p:cNvPr id="8" name="矩形 7"/>
          <p:cNvSpPr/>
          <p:nvPr/>
        </p:nvSpPr>
        <p:spPr>
          <a:xfrm>
            <a:off x="481717" y="3753478"/>
            <a:ext cx="1242648" cy="369332"/>
          </a:xfrm>
          <a:prstGeom prst="rect">
            <a:avLst/>
          </a:prstGeom>
        </p:spPr>
        <p:txBody>
          <a:bodyPr wrap="none">
            <a:spAutoFit/>
          </a:bodyPr>
          <a:lstStyle/>
          <a:p>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latin typeface="微软雅黑" panose="020B0503020204020204" pitchFamily="34" charset="-122"/>
                <a:ea typeface="微软雅黑" panose="020B0503020204020204" pitchFamily="34" charset="-122"/>
              </a:rPr>
              <a:t>1</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）氘灯</a:t>
            </a:r>
            <a:endParaRPr lang="zh-CN" altLang="en-US" dirty="0">
              <a:latin typeface="微软雅黑" panose="020B0503020204020204" pitchFamily="34" charset="-122"/>
              <a:ea typeface="微软雅黑" panose="020B0503020204020204" pitchFamily="34" charset="-122"/>
            </a:endParaRPr>
          </a:p>
        </p:txBody>
      </p:sp>
      <p:grpSp>
        <p:nvGrpSpPr>
          <p:cNvPr id="10" name="组合 9"/>
          <p:cNvGrpSpPr/>
          <p:nvPr/>
        </p:nvGrpSpPr>
        <p:grpSpPr>
          <a:xfrm>
            <a:off x="1931434" y="3938144"/>
            <a:ext cx="2957047" cy="2748620"/>
            <a:chOff x="1480728" y="3018974"/>
            <a:chExt cx="2957047" cy="2748620"/>
          </a:xfrm>
        </p:grpSpPr>
        <p:pic>
          <p:nvPicPr>
            <p:cNvPr id="11" name="Picture 7"/>
            <p:cNvPicPr/>
            <p:nvPr/>
          </p:nvPicPr>
          <p:blipFill>
            <a:blip r:embed="rId2">
              <a:extLst>
                <a:ext uri="{28A0092B-C50C-407E-A947-70E740481C1C}">
                  <a14:useLocalDpi xmlns:a14="http://schemas.microsoft.com/office/drawing/2010/main" val="0"/>
                </a:ext>
              </a:extLst>
            </a:blip>
            <a:srcRect/>
            <a:stretch>
              <a:fillRect/>
            </a:stretch>
          </p:blipFill>
          <p:spPr>
            <a:xfrm>
              <a:off x="1480728" y="3018974"/>
              <a:ext cx="2957047" cy="2324579"/>
            </a:xfrm>
            <a:prstGeom prst="rect">
              <a:avLst/>
            </a:prstGeom>
            <a:noFill/>
            <a:ln>
              <a:noFill/>
            </a:ln>
          </p:spPr>
        </p:pic>
        <p:sp>
          <p:nvSpPr>
            <p:cNvPr id="12" name="矩形 11"/>
            <p:cNvSpPr/>
            <p:nvPr/>
          </p:nvSpPr>
          <p:spPr>
            <a:xfrm>
              <a:off x="1724365" y="5459817"/>
              <a:ext cx="2518638" cy="307777"/>
            </a:xfrm>
            <a:prstGeom prst="rect">
              <a:avLst/>
            </a:prstGeom>
          </p:spPr>
          <p:txBody>
            <a:bodyPr wrap="none">
              <a:spAutoFit/>
            </a:bodyPr>
            <a:lstStyle/>
            <a:p>
              <a:r>
                <a:rPr lang="zh-CN" altLang="zh-CN" sz="1400" kern="100" dirty="0">
                  <a:latin typeface="宋体" panose="02010600030101010101" pitchFamily="2" charset="-122"/>
                  <a:ea typeface="宋体" panose="02010600030101010101" pitchFamily="2" charset="-122"/>
                  <a:cs typeface="Times New Roman" panose="02020603050405020304" pitchFamily="18" charset="0"/>
                </a:rPr>
                <a:t>图</a:t>
              </a:r>
              <a:r>
                <a:rPr lang="en-US" altLang="zh-CN" sz="1400" kern="100" dirty="0">
                  <a:latin typeface="宋体" panose="02010600030101010101" pitchFamily="2" charset="-122"/>
                  <a:ea typeface="宋体" panose="02010600030101010101" pitchFamily="2" charset="-122"/>
                </a:rPr>
                <a:t>2-24  </a:t>
              </a:r>
              <a:r>
                <a:rPr lang="zh-CN" altLang="zh-CN" sz="1400" kern="100" dirty="0">
                  <a:latin typeface="宋体" panose="02010600030101010101" pitchFamily="2" charset="-122"/>
                  <a:ea typeface="宋体" panose="02010600030101010101" pitchFamily="2" charset="-122"/>
                  <a:cs typeface="Times New Roman" panose="02020603050405020304" pitchFamily="18" charset="0"/>
                </a:rPr>
                <a:t>氘灯的紫外辐射光谱</a:t>
              </a:r>
              <a:endParaRPr lang="zh-CN" altLang="en-US" sz="1400" dirty="0">
                <a:latin typeface="宋体" panose="02010600030101010101" pitchFamily="2" charset="-122"/>
                <a:ea typeface="宋体" panose="02010600030101010101" pitchFamily="2" charset="-122"/>
              </a:endParaRPr>
            </a:p>
          </p:txBody>
        </p:sp>
      </p:grpSp>
      <p:sp>
        <p:nvSpPr>
          <p:cNvPr id="13" name="矩形 12"/>
          <p:cNvSpPr/>
          <p:nvPr/>
        </p:nvSpPr>
        <p:spPr>
          <a:xfrm>
            <a:off x="6261456" y="3753478"/>
            <a:ext cx="1242648" cy="369332"/>
          </a:xfrm>
          <a:prstGeom prst="rect">
            <a:avLst/>
          </a:prstGeom>
        </p:spPr>
        <p:txBody>
          <a:bodyPr wrap="none">
            <a:spAutoFit/>
          </a:bodyPr>
          <a:lstStyle/>
          <a:p>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latin typeface="微软雅黑" panose="020B0503020204020204" pitchFamily="34" charset="-122"/>
                <a:ea typeface="微软雅黑" panose="020B0503020204020204" pitchFamily="34" charset="-122"/>
              </a:rPr>
              <a:t>2</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）氙灯</a:t>
            </a:r>
            <a:endParaRPr lang="zh-CN" altLang="en-US"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7498293" y="3808818"/>
            <a:ext cx="4095750" cy="2743503"/>
            <a:chOff x="7034606" y="3059517"/>
            <a:chExt cx="4095750" cy="2743503"/>
          </a:xfrm>
        </p:grpSpPr>
        <p:pic>
          <p:nvPicPr>
            <p:cNvPr id="16" name="图片 15" descr="氙灯光谱.jpg"/>
            <p:cNvPicPr/>
            <p:nvPr/>
          </p:nvPicPr>
          <p:blipFill>
            <a:blip r:embed="rId3">
              <a:extLst>
                <a:ext uri="{28A0092B-C50C-407E-A947-70E740481C1C}">
                  <a14:useLocalDpi xmlns:a14="http://schemas.microsoft.com/office/drawing/2010/main" val="0"/>
                </a:ext>
              </a:extLst>
            </a:blip>
            <a:srcRect/>
            <a:stretch>
              <a:fillRect/>
            </a:stretch>
          </p:blipFill>
          <p:spPr>
            <a:xfrm>
              <a:off x="7034606" y="3059517"/>
              <a:ext cx="4095750" cy="2400300"/>
            </a:xfrm>
            <a:prstGeom prst="rect">
              <a:avLst/>
            </a:prstGeom>
            <a:noFill/>
            <a:ln>
              <a:noFill/>
            </a:ln>
          </p:spPr>
        </p:pic>
        <p:sp>
          <p:nvSpPr>
            <p:cNvPr id="17" name="矩形 16"/>
            <p:cNvSpPr/>
            <p:nvPr/>
          </p:nvSpPr>
          <p:spPr>
            <a:xfrm>
              <a:off x="7970516" y="5424390"/>
              <a:ext cx="2816797" cy="378630"/>
            </a:xfrm>
            <a:prstGeom prst="rect">
              <a:avLst/>
            </a:prstGeom>
          </p:spPr>
          <p:txBody>
            <a:bodyPr wrap="none">
              <a:spAutoFit/>
            </a:bodyPr>
            <a:lstStyle/>
            <a:p>
              <a:pPr algn="ctr">
                <a:lnSpc>
                  <a:spcPct val="150000"/>
                </a:lnSpc>
                <a:spcAft>
                  <a:spcPts val="0"/>
                </a:spcAft>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2-25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氙灯的紫外</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可见辐射光谱</a:t>
              </a:r>
              <a:endParaRPr lang="zh-CN" altLang="zh-CN" sz="1400" kern="100" dirty="0">
                <a:latin typeface="Calibri" panose="020F0502020204030204" pitchFamily="34" charset="0"/>
                <a:ea typeface="宋体" panose="02010600030101010101" pitchFamily="2" charset="-122"/>
                <a:cs typeface="Times New Roman" panose="02020603050405020304" pitchFamily="18" charset="0"/>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nvSpPr>
        <p:spPr>
          <a:xfrm>
            <a:off x="783590" y="1356995"/>
            <a:ext cx="10654665" cy="874395"/>
          </a:xfrm>
          <a:prstGeom prst="round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p>
        </p:txBody>
      </p:sp>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42</a:t>
            </a:fld>
            <a:endParaRPr kumimoji="1" lang="zh-CN" altLang="en-US"/>
          </a:p>
        </p:txBody>
      </p:sp>
      <p:sp>
        <p:nvSpPr>
          <p:cNvPr id="3" name="矩形 2"/>
          <p:cNvSpPr/>
          <p:nvPr/>
        </p:nvSpPr>
        <p:spPr>
          <a:xfrm>
            <a:off x="847491" y="1298320"/>
            <a:ext cx="10571946" cy="874407"/>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光电探测器是</a:t>
            </a:r>
            <a:r>
              <a:rPr lang="zh-CN"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将光信号转变为电信号</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的器件，也称为光电传感器，是光电传感器、光电检测系统和光学成像系统必不可少的器件。</a:t>
            </a:r>
            <a:endParaRPr lang="zh-CN" altLang="en-US" dirty="0">
              <a:latin typeface="微软雅黑" panose="020B0503020204020204" pitchFamily="34" charset="-122"/>
              <a:ea typeface="微软雅黑" panose="020B0503020204020204" pitchFamily="34" charset="-122"/>
            </a:endParaRPr>
          </a:p>
        </p:txBody>
      </p:sp>
      <p:sp>
        <p:nvSpPr>
          <p:cNvPr id="8" name="矩形 7"/>
          <p:cNvSpPr/>
          <p:nvPr/>
        </p:nvSpPr>
        <p:spPr>
          <a:xfrm>
            <a:off x="531846" y="2604059"/>
            <a:ext cx="3206115" cy="398780"/>
          </a:xfrm>
          <a:prstGeom prst="rect">
            <a:avLst/>
          </a:prstGeom>
        </p:spPr>
        <p:txBody>
          <a:bodyPr wrap="none">
            <a:spAutoFit/>
          </a:bodyPr>
          <a:lstStyle/>
          <a:p>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光电探测器的分类与特性</a:t>
            </a:r>
            <a:endParaRPr lang="zh-CN" altLang="en-US" sz="2000" dirty="0">
              <a:solidFill>
                <a:srgbClr val="002060"/>
              </a:solidFill>
              <a:latin typeface="微软雅黑" panose="020B0503020204020204" pitchFamily="34" charset="-122"/>
              <a:ea typeface="微软雅黑" panose="020B0503020204020204" pitchFamily="34" charset="-122"/>
            </a:endParaRPr>
          </a:p>
        </p:txBody>
      </p:sp>
      <p:graphicFrame>
        <p:nvGraphicFramePr>
          <p:cNvPr id="9" name="表格 8"/>
          <p:cNvGraphicFramePr>
            <a:graphicFrameLocks noGrp="1"/>
          </p:cNvGraphicFramePr>
          <p:nvPr/>
        </p:nvGraphicFramePr>
        <p:xfrm>
          <a:off x="1749683" y="3205509"/>
          <a:ext cx="8692632" cy="2511313"/>
        </p:xfrm>
        <a:graphic>
          <a:graphicData uri="http://schemas.openxmlformats.org/drawingml/2006/table">
            <a:tbl>
              <a:tblPr firstRow="1" bandRow="1">
                <a:tableStyleId>{BDBED569-4797-4DF1-A0F4-6AAB3CD982D8}</a:tableStyleId>
              </a:tblPr>
              <a:tblGrid>
                <a:gridCol w="1441043">
                  <a:extLst>
                    <a:ext uri="{9D8B030D-6E8A-4147-A177-3AD203B41FA5}">
                      <a16:colId xmlns:a16="http://schemas.microsoft.com/office/drawing/2014/main" val="20000"/>
                    </a:ext>
                  </a:extLst>
                </a:gridCol>
                <a:gridCol w="1530297">
                  <a:extLst>
                    <a:ext uri="{9D8B030D-6E8A-4147-A177-3AD203B41FA5}">
                      <a16:colId xmlns:a16="http://schemas.microsoft.com/office/drawing/2014/main" val="20001"/>
                    </a:ext>
                  </a:extLst>
                </a:gridCol>
                <a:gridCol w="2290194">
                  <a:extLst>
                    <a:ext uri="{9D8B030D-6E8A-4147-A177-3AD203B41FA5}">
                      <a16:colId xmlns:a16="http://schemas.microsoft.com/office/drawing/2014/main" val="20002"/>
                    </a:ext>
                  </a:extLst>
                </a:gridCol>
                <a:gridCol w="3431098">
                  <a:extLst>
                    <a:ext uri="{9D8B030D-6E8A-4147-A177-3AD203B41FA5}">
                      <a16:colId xmlns:a16="http://schemas.microsoft.com/office/drawing/2014/main" val="20003"/>
                    </a:ext>
                  </a:extLst>
                </a:gridCol>
              </a:tblGrid>
              <a:tr h="591073">
                <a:tc>
                  <a:txBody>
                    <a:bodyPr/>
                    <a:lstStyle/>
                    <a:p>
                      <a:pPr algn="ctr"/>
                      <a:r>
                        <a:rPr lang="zh-CN" altLang="en-US" dirty="0">
                          <a:latin typeface="微软雅黑" panose="020B0503020204020204" pitchFamily="34" charset="-122"/>
                          <a:ea typeface="微软雅黑" panose="020B0503020204020204" pitchFamily="34" charset="-122"/>
                        </a:rPr>
                        <a:t>分类</a:t>
                      </a:r>
                    </a:p>
                  </a:txBody>
                  <a:tcPr anchor="ctr"/>
                </a:tc>
                <a:tc>
                  <a:txBody>
                    <a:bodyPr/>
                    <a:lstStyle/>
                    <a:p>
                      <a:pPr algn="ctr"/>
                      <a:r>
                        <a:rPr lang="zh-CN" altLang="zh-CN" sz="1800" kern="1200" dirty="0">
                          <a:effectLst/>
                          <a:latin typeface="微软雅黑" panose="020B0503020204020204" pitchFamily="34" charset="-122"/>
                          <a:ea typeface="微软雅黑" panose="020B0503020204020204" pitchFamily="34" charset="-122"/>
                        </a:rPr>
                        <a:t>原理</a:t>
                      </a:r>
                    </a:p>
                  </a:txBody>
                  <a:tcPr anchor="ctr"/>
                </a:tc>
                <a:tc>
                  <a:txBody>
                    <a:bodyPr/>
                    <a:lstStyle/>
                    <a:p>
                      <a:pPr algn="ctr"/>
                      <a:r>
                        <a:rPr lang="zh-CN" altLang="en-US" dirty="0">
                          <a:latin typeface="微软雅黑" panose="020B0503020204020204" pitchFamily="34" charset="-122"/>
                          <a:ea typeface="微软雅黑" panose="020B0503020204020204" pitchFamily="34" charset="-122"/>
                        </a:rPr>
                        <a:t>细分类</a:t>
                      </a:r>
                    </a:p>
                  </a:txBody>
                  <a:tcPr anchor="ctr"/>
                </a:tc>
                <a:tc>
                  <a:txBody>
                    <a:bodyPr/>
                    <a:lstStyle/>
                    <a:p>
                      <a:pPr algn="ctr"/>
                      <a:r>
                        <a:rPr lang="zh-CN" altLang="en-US" dirty="0">
                          <a:latin typeface="微软雅黑" panose="020B0503020204020204" pitchFamily="34" charset="-122"/>
                          <a:ea typeface="微软雅黑" panose="020B0503020204020204" pitchFamily="34" charset="-122"/>
                        </a:rPr>
                        <a:t>例子</a:t>
                      </a:r>
                    </a:p>
                  </a:txBody>
                  <a:tcPr anchor="ctr"/>
                </a:tc>
                <a:extLst>
                  <a:ext uri="{0D108BD9-81ED-4DB2-BD59-A6C34878D82A}">
                    <a16:rowId xmlns:a16="http://schemas.microsoft.com/office/drawing/2014/main" val="10000"/>
                  </a:ext>
                </a:extLst>
              </a:tr>
              <a:tr h="370840">
                <a:tc rowSpan="2">
                  <a:txBody>
                    <a:bodyPr/>
                    <a:lstStyle/>
                    <a:p>
                      <a:pPr algn="ctr"/>
                      <a:r>
                        <a:rPr lang="zh-CN" altLang="zh-CN" sz="1800" kern="1200" dirty="0">
                          <a:effectLst/>
                          <a:latin typeface="微软雅黑" panose="020B0503020204020204" pitchFamily="34" charset="-122"/>
                          <a:ea typeface="微软雅黑" panose="020B0503020204020204" pitchFamily="34" charset="-122"/>
                        </a:rPr>
                        <a:t>光子探测器</a:t>
                      </a:r>
                    </a:p>
                  </a:txBody>
                  <a:tcPr anchor="ctr"/>
                </a:tc>
                <a:tc rowSpan="2">
                  <a:txBody>
                    <a:bodyPr/>
                    <a:lstStyle/>
                    <a:p>
                      <a:pPr algn="ctr"/>
                      <a:r>
                        <a:rPr lang="zh-CN" altLang="zh-CN" sz="1800" kern="1200" dirty="0">
                          <a:effectLst/>
                          <a:latin typeface="微软雅黑" panose="020B0503020204020204" pitchFamily="34" charset="-122"/>
                          <a:ea typeface="微软雅黑" panose="020B0503020204020204" pitchFamily="34" charset="-122"/>
                        </a:rPr>
                        <a:t>光电效应</a:t>
                      </a:r>
                    </a:p>
                  </a:txBody>
                  <a:tcPr anchor="ctr"/>
                </a:tc>
                <a:tc>
                  <a:txBody>
                    <a:bodyPr/>
                    <a:lstStyle/>
                    <a:p>
                      <a:pPr algn="ctr"/>
                      <a:r>
                        <a:rPr lang="zh-CN" altLang="zh-CN" sz="1800" kern="1200" dirty="0">
                          <a:effectLst/>
                          <a:latin typeface="微软雅黑" panose="020B0503020204020204" pitchFamily="34" charset="-122"/>
                          <a:ea typeface="微软雅黑" panose="020B0503020204020204" pitchFamily="34" charset="-122"/>
                        </a:rPr>
                        <a:t>内光电效应探测器</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kern="1200" dirty="0">
                          <a:effectLst/>
                          <a:latin typeface="微软雅黑" panose="020B0503020204020204" pitchFamily="34" charset="-122"/>
                          <a:ea typeface="微软雅黑" panose="020B0503020204020204" pitchFamily="34" charset="-122"/>
                        </a:rPr>
                        <a:t>光敏电阻</a:t>
                      </a:r>
                      <a:r>
                        <a:rPr lang="zh-CN" altLang="en-US" sz="1800" kern="1200" dirty="0">
                          <a:effectLst/>
                          <a:latin typeface="微软雅黑" panose="020B0503020204020204" pitchFamily="34" charset="-122"/>
                          <a:ea typeface="微软雅黑" panose="020B0503020204020204" pitchFamily="34" charset="-122"/>
                        </a:rPr>
                        <a:t>、</a:t>
                      </a:r>
                      <a:r>
                        <a:rPr lang="zh-CN" altLang="zh-CN" sz="1800" kern="1200" dirty="0">
                          <a:effectLst/>
                          <a:latin typeface="微软雅黑" panose="020B0503020204020204" pitchFamily="34" charset="-122"/>
                          <a:ea typeface="微软雅黑" panose="020B0503020204020204" pitchFamily="34" charset="-122"/>
                        </a:rPr>
                        <a:t>光电池、光电二极管</a:t>
                      </a:r>
                      <a:r>
                        <a:rPr lang="zh-CN" altLang="en-US" sz="1800" kern="1200" dirty="0">
                          <a:effectLst/>
                          <a:latin typeface="微软雅黑" panose="020B0503020204020204" pitchFamily="34" charset="-122"/>
                          <a:ea typeface="微软雅黑" panose="020B0503020204020204" pitchFamily="34" charset="-122"/>
                        </a:rPr>
                        <a:t>、</a:t>
                      </a:r>
                      <a:r>
                        <a:rPr lang="zh-CN" altLang="zh-CN" sz="1800" kern="1200" dirty="0">
                          <a:effectLst/>
                          <a:latin typeface="微软雅黑" panose="020B0503020204020204" pitchFamily="34" charset="-122"/>
                          <a:ea typeface="微软雅黑" panose="020B0503020204020204" pitchFamily="34" charset="-122"/>
                        </a:rPr>
                        <a:t>光电三极管</a:t>
                      </a:r>
                      <a:endParaRPr lang="zh-CN" altLang="en-US"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1"/>
                  </a:ext>
                </a:extLst>
              </a:tr>
              <a:tr h="370840">
                <a:tc vMerge="1">
                  <a:txBody>
                    <a:bodyPr/>
                    <a:lstStyle/>
                    <a:p>
                      <a:endParaRPr lang="zh-CN"/>
                    </a:p>
                  </a:txBody>
                  <a:tcPr/>
                </a:tc>
                <a:tc vMerge="1">
                  <a:txBody>
                    <a:bodyPr/>
                    <a:lstStyle/>
                    <a:p>
                      <a:endParaRPr lang="zh-CN"/>
                    </a:p>
                  </a:txBody>
                  <a:tcPr/>
                </a:tc>
                <a:tc>
                  <a:txBody>
                    <a:bodyPr/>
                    <a:lstStyle/>
                    <a:p>
                      <a:pPr algn="ctr"/>
                      <a:r>
                        <a:rPr lang="zh-CN" altLang="zh-CN" sz="1800" kern="1200" dirty="0">
                          <a:effectLst/>
                          <a:latin typeface="微软雅黑" panose="020B0503020204020204" pitchFamily="34" charset="-122"/>
                          <a:ea typeface="微软雅黑" panose="020B0503020204020204" pitchFamily="34" charset="-122"/>
                        </a:rPr>
                        <a:t>外光电效应探测器</a:t>
                      </a:r>
                    </a:p>
                  </a:txBody>
                  <a:tcPr anchor="ctr"/>
                </a:tc>
                <a:tc>
                  <a:txBody>
                    <a:bodyPr/>
                    <a:lstStyle/>
                    <a:p>
                      <a:pPr algn="l"/>
                      <a:r>
                        <a:rPr lang="zh-CN" altLang="zh-CN" sz="1800" kern="1200" dirty="0">
                          <a:effectLst/>
                          <a:latin typeface="微软雅黑" panose="020B0503020204020204" pitchFamily="34" charset="-122"/>
                          <a:ea typeface="微软雅黑" panose="020B0503020204020204" pitchFamily="34" charset="-122"/>
                        </a:rPr>
                        <a:t>光电管、光电倍增管</a:t>
                      </a:r>
                      <a:r>
                        <a:rPr lang="zh-CN" altLang="en-US" sz="1800" kern="1200" dirty="0">
                          <a:effectLst/>
                          <a:latin typeface="微软雅黑" panose="020B0503020204020204" pitchFamily="34" charset="-122"/>
                          <a:ea typeface="微软雅黑" panose="020B0503020204020204" pitchFamily="34" charset="-122"/>
                        </a:rPr>
                        <a:t>、</a:t>
                      </a:r>
                      <a:r>
                        <a:rPr lang="zh-CN" altLang="zh-CN" sz="1800" kern="1200" dirty="0">
                          <a:effectLst/>
                          <a:latin typeface="微软雅黑" panose="020B0503020204020204" pitchFamily="34" charset="-122"/>
                          <a:ea typeface="微软雅黑" panose="020B0503020204020204" pitchFamily="34" charset="-122"/>
                        </a:rPr>
                        <a:t>单光子计数器</a:t>
                      </a:r>
                      <a:endParaRPr lang="zh-CN" altLang="en-US"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2"/>
                  </a:ext>
                </a:extLst>
              </a:tr>
              <a:tr h="370840">
                <a:tc>
                  <a:txBody>
                    <a:bodyPr/>
                    <a:lstStyle/>
                    <a:p>
                      <a:pPr algn="ctr"/>
                      <a:r>
                        <a:rPr lang="zh-CN" altLang="zh-CN" sz="1800" kern="1200" dirty="0">
                          <a:effectLst/>
                          <a:latin typeface="微软雅黑" panose="020B0503020204020204" pitchFamily="34" charset="-122"/>
                          <a:ea typeface="微软雅黑" panose="020B0503020204020204" pitchFamily="34" charset="-122"/>
                        </a:rPr>
                        <a:t>热探测器</a:t>
                      </a:r>
                    </a:p>
                  </a:txBody>
                  <a:tcPr anchor="ctr"/>
                </a:tc>
                <a:tc>
                  <a:txBody>
                    <a:bodyPr/>
                    <a:lstStyle/>
                    <a:p>
                      <a:pPr algn="ctr"/>
                      <a:r>
                        <a:rPr lang="zh-CN" altLang="zh-CN" sz="1800" kern="1200" dirty="0">
                          <a:effectLst/>
                          <a:latin typeface="微软雅黑" panose="020B0503020204020204" pitchFamily="34" charset="-122"/>
                          <a:ea typeface="微软雅黑" panose="020B0503020204020204" pitchFamily="34" charset="-122"/>
                        </a:rPr>
                        <a:t>光热效应</a:t>
                      </a:r>
                    </a:p>
                  </a:txBody>
                  <a:tcPr anchor="ctr"/>
                </a:tc>
                <a:tc>
                  <a:txBody>
                    <a:bodyPr/>
                    <a:lstStyle/>
                    <a:p>
                      <a:pPr algn="ctr"/>
                      <a:endParaRPr lang="zh-CN" altLang="en-US" dirty="0">
                        <a:latin typeface="微软雅黑" panose="020B0503020204020204" pitchFamily="34" charset="-122"/>
                        <a:ea typeface="微软雅黑" panose="020B0503020204020204" pitchFamily="34" charset="-122"/>
                      </a:endParaRPr>
                    </a:p>
                  </a:txBody>
                  <a:tcPr anchor="ctr"/>
                </a:tc>
                <a:tc>
                  <a:txBody>
                    <a:bodyPr/>
                    <a:lstStyle/>
                    <a:p>
                      <a:pPr algn="l"/>
                      <a:r>
                        <a:rPr lang="zh-CN" altLang="zh-CN" sz="1800" kern="1200" dirty="0">
                          <a:effectLst/>
                          <a:latin typeface="微软雅黑" panose="020B0503020204020204" pitchFamily="34" charset="-122"/>
                          <a:ea typeface="微软雅黑" panose="020B0503020204020204" pitchFamily="34" charset="-122"/>
                        </a:rPr>
                        <a:t>热敏电阻、热电偶</a:t>
                      </a:r>
                      <a:r>
                        <a:rPr lang="zh-CN" altLang="en-US" sz="1800" kern="1200" dirty="0">
                          <a:effectLst/>
                          <a:latin typeface="微软雅黑" panose="020B0503020204020204" pitchFamily="34" charset="-122"/>
                          <a:ea typeface="微软雅黑" panose="020B0503020204020204" pitchFamily="34" charset="-122"/>
                        </a:rPr>
                        <a:t>、</a:t>
                      </a:r>
                      <a:r>
                        <a:rPr lang="zh-CN" altLang="zh-CN" sz="1800" kern="1200" dirty="0">
                          <a:effectLst/>
                          <a:latin typeface="微软雅黑" panose="020B0503020204020204" pitchFamily="34" charset="-122"/>
                          <a:ea typeface="微软雅黑" panose="020B0503020204020204" pitchFamily="34" charset="-122"/>
                        </a:rPr>
                        <a:t>热（释）电探测器</a:t>
                      </a:r>
                      <a:endParaRPr lang="zh-CN" altLang="en-US"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43</a:t>
            </a:fld>
            <a:endParaRPr kumimoji="1" lang="zh-CN" altLang="en-US"/>
          </a:p>
        </p:txBody>
      </p:sp>
      <p:sp>
        <p:nvSpPr>
          <p:cNvPr id="8" name="矩形 7"/>
          <p:cNvSpPr/>
          <p:nvPr/>
        </p:nvSpPr>
        <p:spPr>
          <a:xfrm>
            <a:off x="413101" y="1184955"/>
            <a:ext cx="3206115" cy="398780"/>
          </a:xfrm>
          <a:prstGeom prst="rect">
            <a:avLst/>
          </a:prstGeom>
        </p:spPr>
        <p:txBody>
          <a:bodyPr wrap="none">
            <a:spAutoFit/>
          </a:bodyPr>
          <a:lstStyle/>
          <a:p>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光电探测器的分类与特性</a:t>
            </a:r>
            <a:endParaRPr lang="zh-CN" altLang="en-US" sz="2000" dirty="0">
              <a:solidFill>
                <a:srgbClr val="002060"/>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custDataLst>
              <p:tags r:id="rId1"/>
            </p:custDataLst>
          </p:nvPr>
        </p:nvGraphicFramePr>
        <p:xfrm>
          <a:off x="1486535" y="1861185"/>
          <a:ext cx="9219565" cy="4194810"/>
        </p:xfrm>
        <a:graphic>
          <a:graphicData uri="http://schemas.openxmlformats.org/drawingml/2006/table">
            <a:tbl>
              <a:tblPr firstRow="1" firstCol="1" bandRow="1">
                <a:tableStyleId>{BDBED569-4797-4DF1-A0F4-6AAB3CD982D8}</a:tableStyleId>
              </a:tblPr>
              <a:tblGrid>
                <a:gridCol w="2080260">
                  <a:extLst>
                    <a:ext uri="{9D8B030D-6E8A-4147-A177-3AD203B41FA5}">
                      <a16:colId xmlns:a16="http://schemas.microsoft.com/office/drawing/2014/main" val="20000"/>
                    </a:ext>
                  </a:extLst>
                </a:gridCol>
                <a:gridCol w="7139305">
                  <a:extLst>
                    <a:ext uri="{9D8B030D-6E8A-4147-A177-3AD203B41FA5}">
                      <a16:colId xmlns:a16="http://schemas.microsoft.com/office/drawing/2014/main" val="20001"/>
                    </a:ext>
                  </a:extLst>
                </a:gridCol>
              </a:tblGrid>
              <a:tr h="414020">
                <a:tc>
                  <a:txBody>
                    <a:bodyPr/>
                    <a:lstStyle/>
                    <a:p>
                      <a:pPr algn="ctr">
                        <a:lnSpc>
                          <a:spcPct val="100000"/>
                        </a:lnSpc>
                        <a:spcAft>
                          <a:spcPts val="0"/>
                        </a:spcAft>
                      </a:pPr>
                      <a:r>
                        <a:rPr lang="zh-CN" sz="1800" kern="100" dirty="0">
                          <a:effectLst/>
                          <a:latin typeface="微软雅黑" panose="020B0503020204020204" pitchFamily="34" charset="-122"/>
                          <a:ea typeface="微软雅黑" panose="020B0503020204020204" pitchFamily="34" charset="-122"/>
                        </a:rPr>
                        <a:t>参数</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ct val="100000"/>
                        </a:lnSpc>
                        <a:spcAft>
                          <a:spcPts val="0"/>
                        </a:spcAft>
                      </a:pPr>
                      <a:r>
                        <a:rPr lang="zh-CN" sz="1800" kern="100" dirty="0">
                          <a:effectLst/>
                          <a:latin typeface="微软雅黑" panose="020B0503020204020204" pitchFamily="34" charset="-122"/>
                          <a:ea typeface="微软雅黑" panose="020B0503020204020204" pitchFamily="34" charset="-122"/>
                        </a:rPr>
                        <a:t>参数说明</a:t>
                      </a:r>
                      <a:endParaRPr 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904875">
                <a:tc>
                  <a:txBody>
                    <a:bodyPr/>
                    <a:lstStyle/>
                    <a:p>
                      <a:pPr algn="ctr">
                        <a:lnSpc>
                          <a:spcPct val="100000"/>
                        </a:lnSpc>
                        <a:spcAft>
                          <a:spcPts val="0"/>
                        </a:spcAft>
                      </a:pPr>
                      <a:r>
                        <a:rPr lang="zh-CN" sz="1600" kern="100" dirty="0">
                          <a:effectLst/>
                          <a:latin typeface="微软雅黑" panose="020B0503020204020204" pitchFamily="34" charset="-122"/>
                          <a:ea typeface="微软雅黑" panose="020B0503020204020204" pitchFamily="34" charset="-122"/>
                        </a:rPr>
                        <a:t>光照特性</a:t>
                      </a:r>
                      <a:r>
                        <a:rPr lang="en-US" sz="1600" kern="100" dirty="0">
                          <a:effectLst/>
                          <a:latin typeface="微软雅黑" panose="020B0503020204020204" pitchFamily="34" charset="-122"/>
                          <a:ea typeface="微软雅黑" panose="020B0503020204020204" pitchFamily="34" charset="-122"/>
                        </a:rPr>
                        <a:t>/</a:t>
                      </a:r>
                      <a:r>
                        <a:rPr lang="zh-CN" sz="1600" kern="100" dirty="0">
                          <a:effectLst/>
                          <a:latin typeface="微软雅黑" panose="020B0503020204020204" pitchFamily="34" charset="-122"/>
                          <a:ea typeface="微软雅黑" panose="020B0503020204020204" pitchFamily="34" charset="-122"/>
                        </a:rPr>
                        <a:t>光电特性</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00000"/>
                        </a:lnSpc>
                        <a:spcAft>
                          <a:spcPts val="0"/>
                        </a:spcAft>
                      </a:pPr>
                      <a:r>
                        <a:rPr lang="zh-CN" sz="1600" kern="100" dirty="0">
                          <a:effectLst/>
                          <a:latin typeface="微软雅黑" panose="020B0503020204020204" pitchFamily="34" charset="-122"/>
                          <a:ea typeface="微软雅黑" panose="020B0503020204020204" pitchFamily="34" charset="-122"/>
                        </a:rPr>
                        <a:t>光电探测器的输入输出特性，即输入光信号与输出电信号的关系曲线。输出光电流</a:t>
                      </a:r>
                      <a:r>
                        <a:rPr lang="en-US" sz="1600" kern="100" dirty="0">
                          <a:effectLst/>
                          <a:latin typeface="微软雅黑" panose="020B0503020204020204" pitchFamily="34" charset="-122"/>
                          <a:ea typeface="微软雅黑" panose="020B0503020204020204" pitchFamily="34" charset="-122"/>
                        </a:rPr>
                        <a:t>I</a:t>
                      </a:r>
                      <a:r>
                        <a:rPr lang="zh-CN" sz="1600" kern="100" dirty="0">
                          <a:effectLst/>
                          <a:latin typeface="微软雅黑" panose="020B0503020204020204" pitchFamily="34" charset="-122"/>
                          <a:ea typeface="微软雅黑" panose="020B0503020204020204" pitchFamily="34" charset="-122"/>
                        </a:rPr>
                        <a:t>与入射光通量Φ的关系</a:t>
                      </a:r>
                      <a:r>
                        <a:rPr lang="en-US" sz="1600" kern="100" dirty="0">
                          <a:effectLst/>
                          <a:latin typeface="微软雅黑" panose="020B0503020204020204" pitchFamily="34" charset="-122"/>
                          <a:ea typeface="微软雅黑" panose="020B0503020204020204" pitchFamily="34" charset="-122"/>
                        </a:rPr>
                        <a:t>I=F</a:t>
                      </a:r>
                      <a:r>
                        <a:rPr lang="zh-CN" sz="1600" kern="100" dirty="0">
                          <a:effectLst/>
                          <a:latin typeface="微软雅黑" panose="020B0503020204020204" pitchFamily="34" charset="-122"/>
                          <a:ea typeface="微软雅黑" panose="020B0503020204020204" pitchFamily="34" charset="-122"/>
                        </a:rPr>
                        <a:t>（Φ）称为光电特性；输出光电流</a:t>
                      </a:r>
                      <a:r>
                        <a:rPr lang="en-US" sz="1600" kern="100" dirty="0">
                          <a:effectLst/>
                          <a:latin typeface="微软雅黑" panose="020B0503020204020204" pitchFamily="34" charset="-122"/>
                          <a:ea typeface="微软雅黑" panose="020B0503020204020204" pitchFamily="34" charset="-122"/>
                        </a:rPr>
                        <a:t>I</a:t>
                      </a:r>
                      <a:r>
                        <a:rPr lang="zh-CN" sz="1600" kern="100" dirty="0">
                          <a:effectLst/>
                          <a:latin typeface="微软雅黑" panose="020B0503020204020204" pitchFamily="34" charset="-122"/>
                          <a:ea typeface="微软雅黑" panose="020B0503020204020204" pitchFamily="34" charset="-122"/>
                        </a:rPr>
                        <a:t>与入射光照度</a:t>
                      </a:r>
                      <a:r>
                        <a:rPr lang="en-US" sz="1600" kern="100" dirty="0">
                          <a:effectLst/>
                          <a:latin typeface="微软雅黑" panose="020B0503020204020204" pitchFamily="34" charset="-122"/>
                          <a:ea typeface="微软雅黑" panose="020B0503020204020204" pitchFamily="34" charset="-122"/>
                        </a:rPr>
                        <a:t>L</a:t>
                      </a:r>
                      <a:r>
                        <a:rPr lang="zh-CN" sz="1600" kern="100" dirty="0">
                          <a:effectLst/>
                          <a:latin typeface="微软雅黑" panose="020B0503020204020204" pitchFamily="34" charset="-122"/>
                          <a:ea typeface="微软雅黑" panose="020B0503020204020204" pitchFamily="34" charset="-122"/>
                        </a:rPr>
                        <a:t>的关系</a:t>
                      </a:r>
                      <a:r>
                        <a:rPr lang="en-US" sz="1600" kern="100" dirty="0">
                          <a:effectLst/>
                          <a:latin typeface="微软雅黑" panose="020B0503020204020204" pitchFamily="34" charset="-122"/>
                          <a:ea typeface="微软雅黑" panose="020B0503020204020204" pitchFamily="34" charset="-122"/>
                        </a:rPr>
                        <a:t>I=F</a:t>
                      </a:r>
                      <a:r>
                        <a:rPr lang="zh-CN" sz="1600" kern="100" dirty="0">
                          <a:effectLst/>
                          <a:latin typeface="微软雅黑" panose="020B0503020204020204" pitchFamily="34" charset="-122"/>
                          <a:ea typeface="微软雅黑" panose="020B0503020204020204" pitchFamily="34" charset="-122"/>
                        </a:rPr>
                        <a:t>（</a:t>
                      </a:r>
                      <a:r>
                        <a:rPr lang="en-US" sz="1600" kern="100" dirty="0">
                          <a:effectLst/>
                          <a:latin typeface="微软雅黑" panose="020B0503020204020204" pitchFamily="34" charset="-122"/>
                          <a:ea typeface="微软雅黑" panose="020B0503020204020204" pitchFamily="34" charset="-122"/>
                        </a:rPr>
                        <a:t>L</a:t>
                      </a:r>
                      <a:r>
                        <a:rPr lang="zh-CN" sz="1600" kern="100" dirty="0">
                          <a:effectLst/>
                          <a:latin typeface="微软雅黑" panose="020B0503020204020204" pitchFamily="34" charset="-122"/>
                          <a:ea typeface="微软雅黑" panose="020B0503020204020204" pitchFamily="34" charset="-122"/>
                        </a:rPr>
                        <a:t>）称为光照特性。</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596265">
                <a:tc>
                  <a:txBody>
                    <a:bodyPr/>
                    <a:lstStyle/>
                    <a:p>
                      <a:pPr algn="ctr">
                        <a:lnSpc>
                          <a:spcPct val="100000"/>
                        </a:lnSpc>
                        <a:spcAft>
                          <a:spcPts val="0"/>
                        </a:spcAft>
                      </a:pPr>
                      <a:r>
                        <a:rPr lang="zh-CN" sz="1600" kern="100">
                          <a:effectLst/>
                          <a:latin typeface="微软雅黑" panose="020B0503020204020204" pitchFamily="34" charset="-122"/>
                          <a:ea typeface="微软雅黑" panose="020B0503020204020204" pitchFamily="34" charset="-122"/>
                        </a:rPr>
                        <a:t>光谱特性</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l">
                        <a:lnSpc>
                          <a:spcPct val="100000"/>
                        </a:lnSpc>
                        <a:spcAft>
                          <a:spcPts val="0"/>
                        </a:spcAft>
                      </a:pPr>
                      <a:r>
                        <a:rPr lang="zh-CN" sz="1600" kern="0" dirty="0">
                          <a:effectLst/>
                          <a:latin typeface="微软雅黑" panose="020B0503020204020204" pitchFamily="34" charset="-122"/>
                          <a:ea typeface="微软雅黑" panose="020B0503020204020204" pitchFamily="34" charset="-122"/>
                        </a:rPr>
                        <a:t>探测器输出信号随入射光波长的变化关系，反映了探测器对不同波长入射光的响应能力</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61645">
                <a:tc>
                  <a:txBody>
                    <a:bodyPr/>
                    <a:lstStyle/>
                    <a:p>
                      <a:pPr indent="0" algn="ctr" fontAlgn="auto">
                        <a:lnSpc>
                          <a:spcPct val="120000"/>
                        </a:lnSpc>
                        <a:spcAft>
                          <a:spcPts val="0"/>
                        </a:spcAft>
                      </a:pPr>
                      <a:r>
                        <a:rPr lang="zh-CN" sz="1600" kern="100">
                          <a:effectLst/>
                          <a:latin typeface="微软雅黑" panose="020B0503020204020204" pitchFamily="34" charset="-122"/>
                          <a:ea typeface="微软雅黑" panose="020B0503020204020204" pitchFamily="34" charset="-122"/>
                        </a:rPr>
                        <a:t>频率特性</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fontAlgn="auto">
                        <a:lnSpc>
                          <a:spcPct val="120000"/>
                        </a:lnSpc>
                        <a:spcAft>
                          <a:spcPts val="0"/>
                        </a:spcAft>
                      </a:pPr>
                      <a:r>
                        <a:rPr lang="zh-CN" sz="1600" kern="100" dirty="0">
                          <a:effectLst/>
                          <a:latin typeface="微软雅黑" panose="020B0503020204020204" pitchFamily="34" charset="-122"/>
                          <a:ea typeface="微软雅黑" panose="020B0503020204020204" pitchFamily="34" charset="-122"/>
                        </a:rPr>
                        <a:t>探测器对快速变化光信号的响应能力；常用响应时间这一指标来反映频率特性</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63855">
                <a:tc>
                  <a:txBody>
                    <a:bodyPr/>
                    <a:lstStyle/>
                    <a:p>
                      <a:pPr indent="0" algn="ctr" fontAlgn="auto">
                        <a:lnSpc>
                          <a:spcPct val="120000"/>
                        </a:lnSpc>
                        <a:spcAft>
                          <a:spcPts val="0"/>
                        </a:spcAft>
                      </a:pPr>
                      <a:r>
                        <a:rPr lang="zh-CN" sz="1600" kern="100">
                          <a:effectLst/>
                          <a:latin typeface="微软雅黑" panose="020B0503020204020204" pitchFamily="34" charset="-122"/>
                          <a:ea typeface="微软雅黑" panose="020B0503020204020204" pitchFamily="34" charset="-122"/>
                        </a:rPr>
                        <a:t>灵敏度</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fontAlgn="auto">
                        <a:lnSpc>
                          <a:spcPct val="120000"/>
                        </a:lnSpc>
                        <a:spcAft>
                          <a:spcPts val="0"/>
                        </a:spcAft>
                      </a:pPr>
                      <a:r>
                        <a:rPr lang="zh-CN" sz="1600" kern="100" dirty="0">
                          <a:effectLst/>
                          <a:latin typeface="微软雅黑" panose="020B0503020204020204" pitchFamily="34" charset="-122"/>
                          <a:ea typeface="微软雅黑" panose="020B0503020204020204" pitchFamily="34" charset="-122"/>
                        </a:rPr>
                        <a:t>探测器对辐射信号强弱的敏感程度</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63220">
                <a:tc>
                  <a:txBody>
                    <a:bodyPr/>
                    <a:lstStyle/>
                    <a:p>
                      <a:pPr indent="0" algn="ctr" fontAlgn="auto">
                        <a:lnSpc>
                          <a:spcPct val="120000"/>
                        </a:lnSpc>
                        <a:spcAft>
                          <a:spcPts val="0"/>
                        </a:spcAft>
                      </a:pPr>
                      <a:r>
                        <a:rPr lang="zh-CN" sz="1600" kern="100">
                          <a:effectLst/>
                          <a:latin typeface="微软雅黑" panose="020B0503020204020204" pitchFamily="34" charset="-122"/>
                          <a:ea typeface="微软雅黑" panose="020B0503020204020204" pitchFamily="34" charset="-122"/>
                        </a:rPr>
                        <a:t>信噪比</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fontAlgn="auto">
                        <a:lnSpc>
                          <a:spcPct val="120000"/>
                        </a:lnSpc>
                        <a:spcAft>
                          <a:spcPts val="0"/>
                        </a:spcAft>
                      </a:pPr>
                      <a:r>
                        <a:rPr lang="zh-CN" sz="1600" kern="100" dirty="0">
                          <a:effectLst/>
                          <a:latin typeface="微软雅黑" panose="020B0503020204020204" pitchFamily="34" charset="-122"/>
                          <a:ea typeface="微软雅黑" panose="020B0503020204020204" pitchFamily="34" charset="-122"/>
                        </a:rPr>
                        <a:t>探测器输出信号受噪声的影响程度</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63855">
                <a:tc>
                  <a:txBody>
                    <a:bodyPr/>
                    <a:lstStyle/>
                    <a:p>
                      <a:pPr indent="0" algn="ctr" fontAlgn="auto">
                        <a:lnSpc>
                          <a:spcPct val="120000"/>
                        </a:lnSpc>
                        <a:spcAft>
                          <a:spcPts val="0"/>
                        </a:spcAft>
                      </a:pPr>
                      <a:r>
                        <a:rPr lang="zh-CN" sz="1600" kern="100">
                          <a:effectLst/>
                          <a:latin typeface="微软雅黑" panose="020B0503020204020204" pitchFamily="34" charset="-122"/>
                          <a:ea typeface="微软雅黑" panose="020B0503020204020204" pitchFamily="34" charset="-122"/>
                        </a:rPr>
                        <a:t>线性度</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fontAlgn="auto">
                        <a:lnSpc>
                          <a:spcPct val="120000"/>
                        </a:lnSpc>
                        <a:spcAft>
                          <a:spcPts val="0"/>
                        </a:spcAft>
                      </a:pPr>
                      <a:r>
                        <a:rPr lang="zh-CN" sz="1600" kern="100" dirty="0">
                          <a:effectLst/>
                          <a:latin typeface="微软雅黑" panose="020B0503020204020204" pitchFamily="34" charset="-122"/>
                          <a:ea typeface="微软雅黑" panose="020B0503020204020204" pitchFamily="34" charset="-122"/>
                        </a:rPr>
                        <a:t>探测器输出信号与输入光辐射信号的线性关系</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363220">
                <a:tc>
                  <a:txBody>
                    <a:bodyPr/>
                    <a:lstStyle/>
                    <a:p>
                      <a:pPr indent="0" algn="ctr" fontAlgn="auto">
                        <a:lnSpc>
                          <a:spcPct val="120000"/>
                        </a:lnSpc>
                        <a:spcAft>
                          <a:spcPts val="0"/>
                        </a:spcAft>
                      </a:pPr>
                      <a:r>
                        <a:rPr lang="zh-CN" sz="1600" kern="100">
                          <a:effectLst/>
                          <a:latin typeface="微软雅黑" panose="020B0503020204020204" pitchFamily="34" charset="-122"/>
                          <a:ea typeface="微软雅黑" panose="020B0503020204020204" pitchFamily="34" charset="-122"/>
                        </a:rPr>
                        <a:t>暗电流</a:t>
                      </a:r>
                      <a:r>
                        <a:rPr lang="en-US" sz="1600" kern="100">
                          <a:effectLst/>
                          <a:latin typeface="微软雅黑" panose="020B0503020204020204" pitchFamily="34" charset="-122"/>
                          <a:ea typeface="微软雅黑" panose="020B0503020204020204" pitchFamily="34" charset="-122"/>
                        </a:rPr>
                        <a:t>/</a:t>
                      </a:r>
                      <a:r>
                        <a:rPr lang="zh-CN" sz="1600" kern="100">
                          <a:effectLst/>
                          <a:latin typeface="微软雅黑" panose="020B0503020204020204" pitchFamily="34" charset="-122"/>
                          <a:ea typeface="微软雅黑" panose="020B0503020204020204" pitchFamily="34" charset="-122"/>
                        </a:rPr>
                        <a:t>暗电阻</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fontAlgn="auto">
                        <a:lnSpc>
                          <a:spcPct val="120000"/>
                        </a:lnSpc>
                        <a:spcAft>
                          <a:spcPts val="0"/>
                        </a:spcAft>
                      </a:pPr>
                      <a:r>
                        <a:rPr lang="zh-CN" sz="1600" kern="100" dirty="0">
                          <a:effectLst/>
                          <a:latin typeface="微软雅黑" panose="020B0503020204020204" pitchFamily="34" charset="-122"/>
                          <a:ea typeface="微软雅黑" panose="020B0503020204020204" pitchFamily="34" charset="-122"/>
                        </a:rPr>
                        <a:t>无光照时，光电器件的输出信号</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r h="363855">
                <a:tc>
                  <a:txBody>
                    <a:bodyPr/>
                    <a:lstStyle/>
                    <a:p>
                      <a:pPr indent="0" algn="ctr" fontAlgn="auto">
                        <a:lnSpc>
                          <a:spcPct val="120000"/>
                        </a:lnSpc>
                        <a:spcAft>
                          <a:spcPts val="0"/>
                        </a:spcAft>
                      </a:pPr>
                      <a:r>
                        <a:rPr lang="zh-CN" sz="1600" kern="100">
                          <a:effectLst/>
                          <a:latin typeface="微软雅黑" panose="020B0503020204020204" pitchFamily="34" charset="-122"/>
                          <a:ea typeface="微软雅黑" panose="020B0503020204020204" pitchFamily="34" charset="-122"/>
                        </a:rPr>
                        <a:t>温度特性</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l" fontAlgn="auto">
                        <a:lnSpc>
                          <a:spcPct val="120000"/>
                        </a:lnSpc>
                        <a:spcAft>
                          <a:spcPts val="0"/>
                        </a:spcAft>
                      </a:pPr>
                      <a:r>
                        <a:rPr lang="zh-CN" sz="1600" kern="100" dirty="0">
                          <a:effectLst/>
                          <a:latin typeface="微软雅黑" panose="020B0503020204020204" pitchFamily="34" charset="-122"/>
                          <a:ea typeface="微软雅黑" panose="020B0503020204020204" pitchFamily="34" charset="-122"/>
                        </a:rPr>
                        <a:t>探测器输出信号随温度的变化特性</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44</a:t>
            </a:fld>
            <a:endParaRPr kumimoji="1" lang="zh-CN" altLang="en-US"/>
          </a:p>
        </p:txBody>
      </p:sp>
      <p:sp>
        <p:nvSpPr>
          <p:cNvPr id="8" name="矩形 7"/>
          <p:cNvSpPr/>
          <p:nvPr/>
        </p:nvSpPr>
        <p:spPr>
          <a:xfrm>
            <a:off x="380716" y="1184955"/>
            <a:ext cx="2519680" cy="398780"/>
          </a:xfrm>
          <a:prstGeom prst="rect">
            <a:avLst/>
          </a:prstGeom>
        </p:spPr>
        <p:txBody>
          <a:bodyPr wrap="none">
            <a:spAutoFit/>
          </a:bodyPr>
          <a:lstStyle/>
          <a:p>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内光电效应探测器</a:t>
            </a:r>
            <a:endParaRPr lang="zh-CN" altLang="en-US" sz="2000" dirty="0">
              <a:solidFill>
                <a:srgbClr val="002060"/>
              </a:solidFill>
              <a:latin typeface="微软雅黑" panose="020B0503020204020204" pitchFamily="34" charset="-122"/>
              <a:ea typeface="微软雅黑" panose="020B0503020204020204" pitchFamily="34" charset="-122"/>
            </a:endParaRPr>
          </a:p>
        </p:txBody>
      </p:sp>
      <p:sp>
        <p:nvSpPr>
          <p:cNvPr id="3" name="矩形 2"/>
          <p:cNvSpPr/>
          <p:nvPr/>
        </p:nvSpPr>
        <p:spPr>
          <a:xfrm>
            <a:off x="657137" y="1667132"/>
            <a:ext cx="10852557" cy="874407"/>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内光电效应探测器由</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半导体材料</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制作而成，包括基于光电导效应的光敏电阻，基于光生伏特效应的光电池、光电二极管和光电三极管等。</a:t>
            </a:r>
            <a:endParaRPr lang="zh-CN" altLang="en-US" dirty="0">
              <a:latin typeface="微软雅黑" panose="020B0503020204020204" pitchFamily="34" charset="-122"/>
              <a:ea typeface="微软雅黑" panose="020B0503020204020204" pitchFamily="34" charset="-122"/>
            </a:endParaRPr>
          </a:p>
        </p:txBody>
      </p:sp>
      <p:sp>
        <p:nvSpPr>
          <p:cNvPr id="7" name="矩形 6"/>
          <p:cNvSpPr/>
          <p:nvPr/>
        </p:nvSpPr>
        <p:spPr>
          <a:xfrm>
            <a:off x="371098" y="2616026"/>
            <a:ext cx="1704313" cy="458908"/>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）光敏电阻</a:t>
            </a:r>
            <a:endParaRPr lang="zh-CN" altLang="zh-CN" sz="14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p:cNvSpPr/>
          <p:nvPr/>
        </p:nvSpPr>
        <p:spPr>
          <a:xfrm>
            <a:off x="1001086" y="3118132"/>
            <a:ext cx="10353832" cy="874407"/>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光敏电阻在无光照时呈高电阻状态。当其受到光辐射时，半导体材料会释放出载流子，辐射光强越大释放出的载流子越多，导致光敏电阻的电导率增大即阻值变小。</a:t>
            </a:r>
            <a:endParaRPr lang="zh-CN" altLang="en-US" dirty="0">
              <a:latin typeface="微软雅黑" panose="020B0503020204020204" pitchFamily="34" charset="-122"/>
              <a:ea typeface="微软雅黑" panose="020B0503020204020204" pitchFamily="34" charset="-122"/>
            </a:endParaRPr>
          </a:p>
        </p:txBody>
      </p:sp>
      <p:sp>
        <p:nvSpPr>
          <p:cNvPr id="10" name="矩形 9"/>
          <p:cNvSpPr/>
          <p:nvPr/>
        </p:nvSpPr>
        <p:spPr>
          <a:xfrm>
            <a:off x="1001086" y="4128994"/>
            <a:ext cx="10353832" cy="2120902"/>
          </a:xfrm>
          <a:prstGeom prst="rect">
            <a:avLst/>
          </a:prstGeom>
        </p:spPr>
        <p:txBody>
          <a:bodyPr wrap="square">
            <a:spAutoFit/>
          </a:bodyPr>
          <a:lstStyle/>
          <a:p>
            <a:pPr>
              <a:lnSpc>
                <a:spcPct val="150000"/>
              </a:lnSpc>
            </a:pP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不同材料制成的光敏电阻对不同波段的光灵敏度不同</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nSpc>
                <a:spcPct val="150000"/>
              </a:lnSpc>
              <a:buFont typeface="Arial" panose="020B0604020202020204" pitchFamily="34" charset="0"/>
              <a:buChar char="•"/>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硫化铅、硒化铅制成的光敏电阻的主要波段为红外波段，常用于辐射温度计、火焰监测器、红外通信之中；</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nSpc>
                <a:spcPct val="150000"/>
              </a:lnSpc>
              <a:buFont typeface="Arial" panose="020B0604020202020204" pitchFamily="34" charset="0"/>
              <a:buChar char="•"/>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硫化镉制成的光敏电阻的主要波段为紫外波段和可见光波段，常用于各种光电控制系统、极薄零件的厚度检测器、自动曝光装置以及光电计数器等方面。</a:t>
            </a:r>
            <a:endParaRPr lang="zh-CN" altLang="en-US"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45</a:t>
            </a:fld>
            <a:endParaRPr kumimoji="1" lang="zh-CN" altLang="en-US"/>
          </a:p>
        </p:txBody>
      </p:sp>
      <p:sp>
        <p:nvSpPr>
          <p:cNvPr id="7" name="矩形 6"/>
          <p:cNvSpPr/>
          <p:nvPr/>
        </p:nvSpPr>
        <p:spPr>
          <a:xfrm>
            <a:off x="328889" y="1114397"/>
            <a:ext cx="1481496" cy="458908"/>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光电池</a:t>
            </a:r>
            <a:endParaRPr lang="zh-CN" altLang="zh-CN" sz="14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615192" y="1628507"/>
            <a:ext cx="10852558" cy="874407"/>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光电池是典型的光伏效应探测器。当</a:t>
            </a:r>
            <a:r>
              <a:rPr lang="en-US" altLang="zh-CN" kern="100" dirty="0">
                <a:latin typeface="微软雅黑" panose="020B0503020204020204" pitchFamily="34" charset="-122"/>
                <a:ea typeface="微软雅黑" panose="020B0503020204020204" pitchFamily="34" charset="-122"/>
              </a:rPr>
              <a:t>PN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结受到光辐射时，产生电子空穴对，电子和空穴在过渡层的内电场作用下分别向</a:t>
            </a:r>
            <a:r>
              <a:rPr lang="en-US" altLang="zh-CN" kern="100" dirty="0">
                <a:latin typeface="微软雅黑" panose="020B0503020204020204" pitchFamily="34" charset="-122"/>
                <a:ea typeface="微软雅黑" panose="020B0503020204020204" pitchFamily="34" charset="-122"/>
              </a:rPr>
              <a:t>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区和</a:t>
            </a:r>
            <a:r>
              <a:rPr lang="en-US" altLang="zh-CN" kern="100" dirty="0">
                <a:latin typeface="微软雅黑" panose="020B0503020204020204" pitchFamily="34" charset="-122"/>
                <a:ea typeface="微软雅黑" panose="020B0503020204020204" pitchFamily="34" charset="-122"/>
              </a:rPr>
              <a:t>P</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区移动，使得</a:t>
            </a:r>
            <a:r>
              <a:rPr lang="en-US" altLang="zh-CN" kern="100" dirty="0">
                <a:latin typeface="微软雅黑" panose="020B0503020204020204" pitchFamily="34" charset="-122"/>
                <a:ea typeface="微软雅黑" panose="020B0503020204020204" pitchFamily="34" charset="-122"/>
              </a:rPr>
              <a:t>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区带负电，</a:t>
            </a:r>
            <a:r>
              <a:rPr lang="en-US" altLang="zh-CN" kern="100" dirty="0">
                <a:latin typeface="微软雅黑" panose="020B0503020204020204" pitchFamily="34" charset="-122"/>
                <a:ea typeface="微软雅黑" panose="020B0503020204020204" pitchFamily="34" charset="-122"/>
              </a:rPr>
              <a:t>P</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区带正电，形成光生电动势。</a:t>
            </a:r>
            <a:endParaRPr lang="zh-CN" altLang="en-US"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724250" y="2502914"/>
            <a:ext cx="3697419" cy="2311228"/>
            <a:chOff x="4247290" y="2558116"/>
            <a:chExt cx="3697419" cy="2311228"/>
          </a:xfrm>
        </p:grpSpPr>
        <p:pic>
          <p:nvPicPr>
            <p:cNvPr id="9" name="图片 8" descr="IMG_256"/>
            <p:cNvPicPr/>
            <p:nvPr/>
          </p:nvPicPr>
          <p:blipFill>
            <a:blip r:embed="rId2"/>
            <a:stretch>
              <a:fillRect/>
            </a:stretch>
          </p:blipFill>
          <p:spPr>
            <a:xfrm>
              <a:off x="4247290" y="2558116"/>
              <a:ext cx="3697419" cy="2071978"/>
            </a:xfrm>
            <a:prstGeom prst="rect">
              <a:avLst/>
            </a:prstGeom>
            <a:noFill/>
            <a:ln w="9525">
              <a:noFill/>
            </a:ln>
          </p:spPr>
        </p:pic>
        <p:sp>
          <p:nvSpPr>
            <p:cNvPr id="10" name="矩形 9"/>
            <p:cNvSpPr/>
            <p:nvPr/>
          </p:nvSpPr>
          <p:spPr>
            <a:xfrm>
              <a:off x="4752496" y="4490714"/>
              <a:ext cx="2577949" cy="378630"/>
            </a:xfrm>
            <a:prstGeom prst="rect">
              <a:avLst/>
            </a:prstGeom>
          </p:spPr>
          <p:txBody>
            <a:bodyPr wrap="none">
              <a:spAutoFit/>
            </a:bodyPr>
            <a:lstStyle/>
            <a:p>
              <a:pPr algn="ctr">
                <a:lnSpc>
                  <a:spcPct val="150000"/>
                </a:lnSpc>
                <a:spcAft>
                  <a:spcPts val="0"/>
                </a:spcAft>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2-26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光电池工作原理示意图</a:t>
              </a:r>
              <a:endParaRPr lang="zh-CN" altLang="zh-CN" sz="1400" kern="100" dirty="0">
                <a:latin typeface="Calibri" panose="020F0502020204030204" pitchFamily="34" charset="0"/>
                <a:ea typeface="宋体" panose="02010600030101010101" pitchFamily="2" charset="-122"/>
                <a:cs typeface="Times New Roman" panose="02020603050405020304" pitchFamily="18" charset="0"/>
              </a:endParaRPr>
            </a:p>
          </p:txBody>
        </p:sp>
      </p:grpSp>
      <p:grpSp>
        <p:nvGrpSpPr>
          <p:cNvPr id="14" name="组合 13"/>
          <p:cNvGrpSpPr/>
          <p:nvPr/>
        </p:nvGrpSpPr>
        <p:grpSpPr>
          <a:xfrm>
            <a:off x="5443855" y="2622674"/>
            <a:ext cx="6023484" cy="2196548"/>
            <a:chOff x="6096000" y="2617594"/>
            <a:chExt cx="6023484" cy="2196548"/>
          </a:xfrm>
        </p:grpSpPr>
        <p:pic>
          <p:nvPicPr>
            <p:cNvPr id="12" name="图片 11"/>
            <p:cNvPicPr/>
            <p:nvPr/>
          </p:nvPicPr>
          <p:blipFill>
            <a:blip r:embed="rId3">
              <a:extLst>
                <a:ext uri="{28A0092B-C50C-407E-A947-70E740481C1C}">
                  <a14:useLocalDpi xmlns:a14="http://schemas.microsoft.com/office/drawing/2010/main" val="0"/>
                </a:ext>
              </a:extLst>
            </a:blip>
            <a:srcRect/>
            <a:stretch>
              <a:fillRect/>
            </a:stretch>
          </p:blipFill>
          <p:spPr>
            <a:xfrm>
              <a:off x="6096000" y="2617594"/>
              <a:ext cx="6023484" cy="1964037"/>
            </a:xfrm>
            <a:prstGeom prst="rect">
              <a:avLst/>
            </a:prstGeom>
            <a:noFill/>
            <a:ln>
              <a:noFill/>
            </a:ln>
          </p:spPr>
        </p:pic>
        <p:sp>
          <p:nvSpPr>
            <p:cNvPr id="13" name="矩形 12"/>
            <p:cNvSpPr/>
            <p:nvPr/>
          </p:nvSpPr>
          <p:spPr>
            <a:xfrm>
              <a:off x="7820636" y="4435512"/>
              <a:ext cx="3116558" cy="378630"/>
            </a:xfrm>
            <a:prstGeom prst="rect">
              <a:avLst/>
            </a:prstGeom>
          </p:spPr>
          <p:txBody>
            <a:bodyPr wrap="none">
              <a:spAutoFit/>
            </a:bodyPr>
            <a:lstStyle/>
            <a:p>
              <a:pPr algn="ctr">
                <a:lnSpc>
                  <a:spcPct val="150000"/>
                </a:lnSpc>
                <a:spcAft>
                  <a:spcPts val="0"/>
                </a:spcAft>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2-27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光电池的光照特性和光谱特性</a:t>
              </a:r>
              <a:endParaRPr lang="zh-CN" altLang="zh-CN" sz="1400" kern="100" dirty="0">
                <a:latin typeface="Calibri" panose="020F0502020204030204" pitchFamily="34" charset="0"/>
                <a:ea typeface="宋体" panose="02010600030101010101" pitchFamily="2" charset="-122"/>
                <a:cs typeface="Times New Roman" panose="02020603050405020304" pitchFamily="18" charset="0"/>
              </a:endParaRPr>
            </a:p>
          </p:txBody>
        </p:sp>
      </p:grpSp>
      <p:sp>
        <p:nvSpPr>
          <p:cNvPr id="15" name="矩形 14"/>
          <p:cNvSpPr/>
          <p:nvPr/>
        </p:nvSpPr>
        <p:spPr>
          <a:xfrm>
            <a:off x="328889" y="4706234"/>
            <a:ext cx="11348585" cy="1663065"/>
          </a:xfrm>
          <a:prstGeom prst="rect">
            <a:avLst/>
          </a:prstGeom>
        </p:spPr>
        <p:txBody>
          <a:bodyPr wrap="square">
            <a:spAutoFit/>
          </a:bodyPr>
          <a:lstStyle/>
          <a:p>
            <a:pPr indent="304800" algn="just">
              <a:lnSpc>
                <a:spcPct val="150000"/>
              </a:lnSpc>
              <a:spcBef>
                <a:spcPts val="360"/>
              </a:spcBef>
              <a:spcAft>
                <a:spcPts val="0"/>
              </a:spcAft>
            </a:pP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光电池的应用</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gn="just" fontAlgn="auto">
              <a:lnSpc>
                <a:spcPct val="130000"/>
              </a:lnSpc>
              <a:spcBef>
                <a:spcPts val="300"/>
              </a:spcBef>
              <a:buFont typeface="Arial" panose="020B0604020202020204" pitchFamily="34" charset="0"/>
              <a:buChar char="•"/>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太阳能电池</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。太阳能电池根据光伏效应直接将太阳能转换成电能，追求最大的输出功率和转换效率。</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gn="just" fontAlgn="auto">
              <a:lnSpc>
                <a:spcPct val="130000"/>
              </a:lnSpc>
              <a:spcBef>
                <a:spcPts val="300"/>
              </a:spcBef>
              <a:buFont typeface="Arial" panose="020B0604020202020204" pitchFamily="34" charset="0"/>
              <a:buChar char="•"/>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光电转换器件。</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硅光电池在光电测量系统中有着广泛的应用，可做照度计、光度计、比色计以及检测仪器的光信号接收元件。</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46</a:t>
            </a:fld>
            <a:endParaRPr kumimoji="1" lang="zh-CN" altLang="en-US"/>
          </a:p>
        </p:txBody>
      </p:sp>
      <p:sp>
        <p:nvSpPr>
          <p:cNvPr id="7" name="矩形 6"/>
          <p:cNvSpPr/>
          <p:nvPr/>
        </p:nvSpPr>
        <p:spPr>
          <a:xfrm>
            <a:off x="209520" y="1157577"/>
            <a:ext cx="1943161" cy="458908"/>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光电二极管</a:t>
            </a:r>
            <a:endParaRPr lang="zh-CN" altLang="zh-CN" sz="14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682303" y="1795725"/>
            <a:ext cx="10844169" cy="874407"/>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光电二极管利用内光电效应在</a:t>
            </a:r>
            <a:r>
              <a:rPr lang="en-US" altLang="zh-CN" kern="100" dirty="0">
                <a:latin typeface="微软雅黑" panose="020B0503020204020204" pitchFamily="34" charset="-122"/>
                <a:ea typeface="微软雅黑" panose="020B0503020204020204" pitchFamily="34" charset="-122"/>
              </a:rPr>
              <a:t>PN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结上产生光生电流。当光照射到</a:t>
            </a:r>
            <a:r>
              <a:rPr lang="en-US" altLang="zh-CN" kern="100" dirty="0">
                <a:latin typeface="微软雅黑" panose="020B0503020204020204" pitchFamily="34" charset="-122"/>
                <a:ea typeface="微软雅黑" panose="020B0503020204020204" pitchFamily="34" charset="-122"/>
              </a:rPr>
              <a:t>PN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结上时，光子能量被转化为电子能量，光生电子和光生空穴会被</a:t>
            </a:r>
            <a:r>
              <a:rPr lang="en-US" altLang="zh-CN" kern="100" dirty="0">
                <a:latin typeface="微软雅黑" panose="020B0503020204020204" pitchFamily="34" charset="-122"/>
                <a:ea typeface="微软雅黑" panose="020B0503020204020204" pitchFamily="34" charset="-122"/>
              </a:rPr>
              <a:t>PN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结电场分离，形成电流，实现光电转换。</a:t>
            </a:r>
            <a:endParaRPr lang="zh-CN" altLang="en-US" dirty="0">
              <a:latin typeface="微软雅黑" panose="020B0503020204020204" pitchFamily="34" charset="-122"/>
              <a:ea typeface="微软雅黑" panose="020B0503020204020204" pitchFamily="34" charset="-122"/>
            </a:endParaRPr>
          </a:p>
        </p:txBody>
      </p:sp>
      <p:grpSp>
        <p:nvGrpSpPr>
          <p:cNvPr id="12" name="组合 11"/>
          <p:cNvGrpSpPr/>
          <p:nvPr/>
        </p:nvGrpSpPr>
        <p:grpSpPr>
          <a:xfrm>
            <a:off x="683489" y="3429000"/>
            <a:ext cx="3685624" cy="1984461"/>
            <a:chOff x="1290596" y="2564708"/>
            <a:chExt cx="3685624" cy="1984461"/>
          </a:xfrm>
        </p:grpSpPr>
        <p:pic>
          <p:nvPicPr>
            <p:cNvPr id="9" name="图片 8"/>
            <p:cNvPicPr/>
            <p:nvPr/>
          </p:nvPicPr>
          <p:blipFill>
            <a:blip r:embed="rId2"/>
            <a:stretch>
              <a:fillRect/>
            </a:stretch>
          </p:blipFill>
          <p:spPr>
            <a:xfrm>
              <a:off x="1290596" y="2564708"/>
              <a:ext cx="1843405" cy="1518285"/>
            </a:xfrm>
            <a:prstGeom prst="rect">
              <a:avLst/>
            </a:prstGeom>
          </p:spPr>
        </p:pic>
        <p:sp>
          <p:nvSpPr>
            <p:cNvPr id="10" name="矩形 9"/>
            <p:cNvSpPr/>
            <p:nvPr/>
          </p:nvSpPr>
          <p:spPr>
            <a:xfrm>
              <a:off x="1290596" y="4241392"/>
              <a:ext cx="3685624" cy="307777"/>
            </a:xfrm>
            <a:prstGeom prst="rect">
              <a:avLst/>
            </a:prstGeom>
          </p:spPr>
          <p:txBody>
            <a:bodyPr wrap="none">
              <a:spAutoFit/>
            </a:bodyPr>
            <a:lstStyle/>
            <a:p>
              <a:r>
                <a:rPr lang="zh-CN" altLang="zh-CN" sz="1400" kern="100" dirty="0">
                  <a:latin typeface="宋体" panose="02010600030101010101" pitchFamily="2" charset="-122"/>
                  <a:ea typeface="宋体" panose="02010600030101010101" pitchFamily="2" charset="-122"/>
                  <a:cs typeface="Times New Roman" panose="02020603050405020304" pitchFamily="18" charset="0"/>
                </a:rPr>
                <a:t>图</a:t>
              </a:r>
              <a:r>
                <a:rPr lang="en-US" altLang="zh-CN" sz="1400" kern="100" dirty="0">
                  <a:latin typeface="宋体" panose="02010600030101010101" pitchFamily="2" charset="-122"/>
                  <a:ea typeface="宋体" panose="02010600030101010101" pitchFamily="2" charset="-122"/>
                </a:rPr>
                <a:t>2-28  PIN</a:t>
              </a:r>
              <a:r>
                <a:rPr lang="zh-CN" altLang="zh-CN" sz="1400" kern="100" dirty="0">
                  <a:latin typeface="宋体" panose="02010600030101010101" pitchFamily="2" charset="-122"/>
                  <a:ea typeface="宋体" panose="02010600030101010101" pitchFamily="2" charset="-122"/>
                  <a:cs typeface="Times New Roman" panose="02020603050405020304" pitchFamily="18" charset="0"/>
                </a:rPr>
                <a:t>光电二极管</a:t>
              </a:r>
              <a:r>
                <a:rPr lang="zh-CN" altLang="zh-CN" sz="1400" dirty="0">
                  <a:latin typeface="宋体" panose="02010600030101010101" pitchFamily="2" charset="-122"/>
                  <a:ea typeface="宋体" panose="02010600030101010101" pitchFamily="2" charset="-122"/>
                </a:rPr>
                <a:t>和雪崩二极管的结构</a:t>
              </a:r>
              <a:endParaRPr lang="zh-CN" altLang="en-US" sz="1400" dirty="0">
                <a:latin typeface="宋体" panose="02010600030101010101" pitchFamily="2" charset="-122"/>
                <a:ea typeface="宋体" panose="02010600030101010101" pitchFamily="2" charset="-122"/>
              </a:endParaRPr>
            </a:p>
          </p:txBody>
        </p:sp>
        <p:pic>
          <p:nvPicPr>
            <p:cNvPr id="11" name="图片 10"/>
            <p:cNvPicPr/>
            <p:nvPr/>
          </p:nvPicPr>
          <p:blipFill>
            <a:blip r:embed="rId3"/>
            <a:stretch>
              <a:fillRect/>
            </a:stretch>
          </p:blipFill>
          <p:spPr>
            <a:xfrm>
              <a:off x="3419200" y="2564708"/>
              <a:ext cx="1557020" cy="1518285"/>
            </a:xfrm>
            <a:prstGeom prst="rect">
              <a:avLst/>
            </a:prstGeom>
          </p:spPr>
        </p:pic>
      </p:grpSp>
      <p:sp>
        <p:nvSpPr>
          <p:cNvPr id="13" name="矩形 12"/>
          <p:cNvSpPr/>
          <p:nvPr/>
        </p:nvSpPr>
        <p:spPr>
          <a:xfrm>
            <a:off x="4918745" y="3143888"/>
            <a:ext cx="6960066" cy="2738120"/>
          </a:xfrm>
          <a:prstGeom prst="rect">
            <a:avLst/>
          </a:prstGeom>
        </p:spPr>
        <p:txBody>
          <a:bodyPr wrap="square">
            <a:spAutoFit/>
          </a:bodyPr>
          <a:lstStyle/>
          <a:p>
            <a:pPr marL="342900" indent="-342900" algn="just" fontAlgn="auto">
              <a:lnSpc>
                <a:spcPct val="150000"/>
              </a:lnSpc>
              <a:spcBef>
                <a:spcPts val="600"/>
              </a:spcBef>
              <a:spcAft>
                <a:spcPts val="0"/>
              </a:spcAft>
              <a:buFont typeface="+mj-ea"/>
              <a:buAutoNum type="circleNumDbPlain"/>
            </a:pP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光照特性</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。光电二极管上没有光照时，输出电流极其微弱；有光照时，输出电流迅速增大到几十微安，光照强度越大，输出电流也越大，并且输出电流与输入光照具有很好的线性度。</a:t>
            </a: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fontAlgn="auto">
              <a:lnSpc>
                <a:spcPct val="150000"/>
              </a:lnSpc>
              <a:spcBef>
                <a:spcPts val="600"/>
              </a:spcBef>
              <a:spcAft>
                <a:spcPts val="0"/>
              </a:spcAft>
              <a:buFont typeface="+mj-ea"/>
              <a:buAutoNum type="circleNumDbPlain"/>
            </a:pP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光谱特性</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。光电二极管的光谱特性由其材料决定，不同的材料有不同的敏感波段，因此具有不同的光谱特性。</a:t>
            </a: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fontAlgn="auto">
              <a:lnSpc>
                <a:spcPct val="150000"/>
              </a:lnSpc>
              <a:spcBef>
                <a:spcPts val="600"/>
              </a:spcBef>
              <a:spcAft>
                <a:spcPts val="0"/>
              </a:spcAft>
              <a:buFont typeface="+mj-ea"/>
              <a:buAutoNum type="circleNumDbPlain"/>
            </a:pP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温度特性</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。光电二极管的输出电流随温度上升而增大。 </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47</a:t>
            </a:fld>
            <a:endParaRPr kumimoji="1" lang="zh-CN" altLang="en-US"/>
          </a:p>
        </p:txBody>
      </p:sp>
      <p:sp>
        <p:nvSpPr>
          <p:cNvPr id="7" name="矩形 6"/>
          <p:cNvSpPr/>
          <p:nvPr/>
        </p:nvSpPr>
        <p:spPr>
          <a:xfrm>
            <a:off x="198725" y="1114397"/>
            <a:ext cx="1943161" cy="458908"/>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光电三极管</a:t>
            </a:r>
            <a:endParaRPr lang="zh-CN" altLang="zh-CN" sz="14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715859" y="1646234"/>
            <a:ext cx="10944837" cy="874407"/>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光电三极管（光电晶体管）是一种</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结合了光电效应和晶体管原理</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的器件，它利用</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内光电效应</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在基区产生光生载流子，又利用了晶体管的放大功能。目前的光电三极管大都是</a:t>
            </a:r>
            <a:r>
              <a:rPr lang="en-US" altLang="zh-CN" kern="100" dirty="0">
                <a:latin typeface="微软雅黑" panose="020B0503020204020204" pitchFamily="34" charset="-122"/>
                <a:ea typeface="微软雅黑" panose="020B0503020204020204" pitchFamily="34" charset="-122"/>
              </a:rPr>
              <a:t>NPN</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型硅光电三极管</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379730" y="3287395"/>
            <a:ext cx="3599815" cy="2138031"/>
            <a:chOff x="1007050" y="3018198"/>
            <a:chExt cx="3599943" cy="2083000"/>
          </a:xfrm>
        </p:grpSpPr>
        <p:pic>
          <p:nvPicPr>
            <p:cNvPr id="9" name="图片 8" descr="https://img-blog.csdnimg.cn/20200629101022741.PNG"/>
            <p:cNvPicPr/>
            <p:nvPr/>
          </p:nvPicPr>
          <p:blipFill>
            <a:blip r:embed="rId2">
              <a:extLst>
                <a:ext uri="{28A0092B-C50C-407E-A947-70E740481C1C}">
                  <a14:useLocalDpi xmlns:a14="http://schemas.microsoft.com/office/drawing/2010/main" val="0"/>
                </a:ext>
              </a:extLst>
            </a:blip>
            <a:srcRect l="10687" t="6509" r="25191"/>
            <a:stretch>
              <a:fillRect/>
            </a:stretch>
          </p:blipFill>
          <p:spPr>
            <a:xfrm>
              <a:off x="1007050" y="3018198"/>
              <a:ext cx="3565400" cy="1679637"/>
            </a:xfrm>
            <a:prstGeom prst="rect">
              <a:avLst/>
            </a:prstGeom>
            <a:noFill/>
            <a:ln>
              <a:noFill/>
            </a:ln>
          </p:spPr>
        </p:pic>
        <p:sp>
          <p:nvSpPr>
            <p:cNvPr id="10" name="矩形 9"/>
            <p:cNvSpPr/>
            <p:nvPr/>
          </p:nvSpPr>
          <p:spPr>
            <a:xfrm>
              <a:off x="1041593" y="4697835"/>
              <a:ext cx="3565400" cy="403363"/>
            </a:xfrm>
            <a:prstGeom prst="rect">
              <a:avLst/>
            </a:prstGeom>
          </p:spPr>
          <p:txBody>
            <a:bodyPr wrap="square">
              <a:spAutoFit/>
            </a:bodyPr>
            <a:lstStyle/>
            <a:p>
              <a:pPr indent="266700" algn="ctr">
                <a:lnSpc>
                  <a:spcPct val="150000"/>
                </a:lnSpc>
                <a:spcBef>
                  <a:spcPts val="360"/>
                </a:spcBef>
                <a:spcAft>
                  <a:spcPts val="0"/>
                </a:spcAft>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2-29  NPN</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型硅光电三极管结构和符号</a:t>
              </a:r>
              <a:endParaRPr lang="zh-CN" altLang="zh-CN" sz="1400" kern="100" dirty="0">
                <a:latin typeface="Calibri" panose="020F0502020204030204" pitchFamily="34" charset="0"/>
                <a:ea typeface="宋体" panose="02010600030101010101" pitchFamily="2" charset="-122"/>
                <a:cs typeface="Times New Roman" panose="02020603050405020304" pitchFamily="18" charset="0"/>
              </a:endParaRPr>
            </a:p>
          </p:txBody>
        </p:sp>
      </p:grpSp>
      <p:sp>
        <p:nvSpPr>
          <p:cNvPr id="12" name="矩形 11"/>
          <p:cNvSpPr/>
          <p:nvPr/>
        </p:nvSpPr>
        <p:spPr>
          <a:xfrm>
            <a:off x="4220210" y="2729230"/>
            <a:ext cx="7500620" cy="3461385"/>
          </a:xfrm>
          <a:prstGeom prst="rect">
            <a:avLst/>
          </a:prstGeom>
        </p:spPr>
        <p:txBody>
          <a:bodyPr wrap="square">
            <a:spAutoFit/>
          </a:bodyPr>
          <a:lstStyle/>
          <a:p>
            <a:pPr indent="304800" algn="just">
              <a:lnSpc>
                <a:spcPct val="150000"/>
              </a:lnSpc>
              <a:spcAft>
                <a:spcPts val="0"/>
              </a:spcAft>
            </a:pPr>
            <a:r>
              <a:rPr lang="zh-CN" altLang="zh-CN"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光电三极管有三种工作状态：</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截止状态</a:t>
            </a:r>
            <a:r>
              <a:rPr lang="zh-CN" altLang="zh-CN"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放大状态</a:t>
            </a:r>
            <a:r>
              <a:rPr lang="zh-CN" altLang="zh-CN"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以及</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饱和状态</a:t>
            </a:r>
            <a:r>
              <a:rPr lang="zh-CN" altLang="zh-CN"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50000"/>
              </a:lnSpc>
              <a:spcAft>
                <a:spcPts val="0"/>
              </a:spcAft>
              <a:buFont typeface="+mj-ea"/>
              <a:buAutoNum type="circleNumDbPlain"/>
            </a:pPr>
            <a:r>
              <a:rPr lang="zh-CN"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当三极管的发射结和集电结均反向偏置时，三极管处于截止状态。集电极与发射极不导通（截止），相当于开关管处于断开状态。</a:t>
            </a:r>
            <a:endParaRPr lang="zh-CN" altLang="zh-CN" sz="12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50000"/>
              </a:lnSpc>
              <a:spcAft>
                <a:spcPts val="0"/>
              </a:spcAft>
              <a:buFont typeface="+mj-ea"/>
              <a:buAutoNum type="circleNumDbPlain"/>
            </a:pPr>
            <a:r>
              <a:rPr lang="zh-CN"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当三极管发射结正向偏置且集电结反相偏置时，三极管处于放大状态。此时，基极电流</a:t>
            </a:r>
            <a:r>
              <a:rPr lang="en-US" altLang="zh-CN" sz="1600" kern="100" dirty="0" err="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kern="100" baseline="-25000" dirty="0" err="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在集电极得到放大。所以</a:t>
            </a:r>
            <a:r>
              <a:rPr lang="en-US"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光电三极管</a:t>
            </a:r>
            <a:r>
              <a:rPr lang="zh-CN"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的灵敏度比光电二极管高，输出电流多为</a:t>
            </a:r>
            <a:r>
              <a:rPr lang="en-US"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毫安</a:t>
            </a:r>
            <a:r>
              <a:rPr lang="zh-CN"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级。</a:t>
            </a:r>
            <a:endParaRPr lang="zh-CN" altLang="zh-CN" sz="12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50000"/>
              </a:lnSpc>
              <a:buFont typeface="+mj-ea"/>
              <a:buAutoNum type="circleNumDbPlain"/>
            </a:pPr>
            <a:r>
              <a:rPr lang="zh-CN"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当三极管发射结和集电结均正向偏置时，三极管工作在饱和状态。当基极电流</a:t>
            </a:r>
            <a:r>
              <a:rPr lang="en-US" altLang="zh-CN" sz="1600" kern="100" dirty="0" err="1">
                <a:solidFill>
                  <a:schemeClr val="tx1"/>
                </a:solidFill>
                <a:latin typeface="微软雅黑" panose="020B0503020204020204" pitchFamily="34" charset="-122"/>
                <a:ea typeface="微软雅黑" panose="020B0503020204020204" pitchFamily="34" charset="-122"/>
              </a:rPr>
              <a:t>I</a:t>
            </a:r>
            <a:r>
              <a:rPr lang="en-US" altLang="zh-CN" sz="1600" kern="100" baseline="-25000" dirty="0" err="1">
                <a:solidFill>
                  <a:schemeClr val="tx1"/>
                </a:solidFill>
                <a:latin typeface="微软雅黑" panose="020B0503020204020204" pitchFamily="34" charset="-122"/>
                <a:ea typeface="微软雅黑" panose="020B0503020204020204" pitchFamily="34" charset="-122"/>
              </a:rPr>
              <a:t>b</a:t>
            </a:r>
            <a:r>
              <a:rPr lang="zh-CN"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高过一定值时，集电极电流</a:t>
            </a:r>
            <a:r>
              <a:rPr lang="en-US" altLang="zh-CN" sz="1600" kern="100" dirty="0" err="1">
                <a:solidFill>
                  <a:schemeClr val="tx1"/>
                </a:solidFill>
                <a:latin typeface="微软雅黑" panose="020B0503020204020204" pitchFamily="34" charset="-122"/>
                <a:ea typeface="微软雅黑" panose="020B0503020204020204" pitchFamily="34" charset="-122"/>
              </a:rPr>
              <a:t>I</a:t>
            </a:r>
            <a:r>
              <a:rPr lang="en-US" altLang="zh-CN" sz="1600" kern="100" baseline="-25000" dirty="0" err="1">
                <a:solidFill>
                  <a:schemeClr val="tx1"/>
                </a:solidFill>
                <a:latin typeface="微软雅黑" panose="020B0503020204020204" pitchFamily="34" charset="-122"/>
                <a:ea typeface="微软雅黑" panose="020B0503020204020204" pitchFamily="34" charset="-122"/>
              </a:rPr>
              <a:t>c</a:t>
            </a:r>
            <a:r>
              <a:rPr lang="zh-CN"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就达到饱和值，</a:t>
            </a:r>
            <a:r>
              <a:rPr lang="en-US" altLang="zh-CN" sz="1600" kern="100" dirty="0" err="1">
                <a:solidFill>
                  <a:schemeClr val="tx1"/>
                </a:solidFill>
                <a:latin typeface="微软雅黑" panose="020B0503020204020204" pitchFamily="34" charset="-122"/>
                <a:ea typeface="微软雅黑" panose="020B0503020204020204" pitchFamily="34" charset="-122"/>
              </a:rPr>
              <a:t>I</a:t>
            </a:r>
            <a:r>
              <a:rPr lang="en-US" altLang="zh-CN" sz="1600" kern="100" baseline="-25000" dirty="0" err="1">
                <a:solidFill>
                  <a:schemeClr val="tx1"/>
                </a:solidFill>
                <a:latin typeface="微软雅黑" panose="020B0503020204020204" pitchFamily="34" charset="-122"/>
                <a:ea typeface="微软雅黑" panose="020B0503020204020204" pitchFamily="34" charset="-122"/>
              </a:rPr>
              <a:t>c</a:t>
            </a:r>
            <a:r>
              <a:rPr lang="zh-CN"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与</a:t>
            </a:r>
            <a:r>
              <a:rPr lang="en-US" altLang="zh-CN" sz="1600" kern="100" dirty="0" err="1">
                <a:solidFill>
                  <a:schemeClr val="tx1"/>
                </a:solidFill>
                <a:latin typeface="微软雅黑" panose="020B0503020204020204" pitchFamily="34" charset="-122"/>
                <a:ea typeface="微软雅黑" panose="020B0503020204020204" pitchFamily="34" charset="-122"/>
              </a:rPr>
              <a:t>I</a:t>
            </a:r>
            <a:r>
              <a:rPr lang="en-US" altLang="zh-CN" sz="1600" kern="100" baseline="-25000" dirty="0" err="1">
                <a:solidFill>
                  <a:schemeClr val="tx1"/>
                </a:solidFill>
                <a:latin typeface="微软雅黑" panose="020B0503020204020204" pitchFamily="34" charset="-122"/>
                <a:ea typeface="微软雅黑" panose="020B0503020204020204" pitchFamily="34" charset="-122"/>
              </a:rPr>
              <a:t>b</a:t>
            </a:r>
            <a:r>
              <a:rPr lang="zh-CN" altLang="zh-CN" sz="16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不再成比例关系。即集电极和发射集饱和导通，相当于开关管处于导通状态。</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48</a:t>
            </a:fld>
            <a:endParaRPr kumimoji="1" lang="zh-CN" altLang="en-US"/>
          </a:p>
        </p:txBody>
      </p:sp>
      <p:sp>
        <p:nvSpPr>
          <p:cNvPr id="8" name="矩形 7"/>
          <p:cNvSpPr/>
          <p:nvPr/>
        </p:nvSpPr>
        <p:spPr>
          <a:xfrm>
            <a:off x="380716" y="1130980"/>
            <a:ext cx="2519680" cy="398780"/>
          </a:xfrm>
          <a:prstGeom prst="rect">
            <a:avLst/>
          </a:prstGeom>
        </p:spPr>
        <p:txBody>
          <a:bodyPr wrap="none">
            <a:spAutoFit/>
          </a:bodyPr>
          <a:lstStyle/>
          <a:p>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外光电效应探测器</a:t>
            </a:r>
            <a:endParaRPr lang="zh-CN" altLang="en-US" sz="2000" dirty="0">
              <a:solidFill>
                <a:srgbClr val="002060"/>
              </a:solidFill>
              <a:latin typeface="微软雅黑" panose="020B0503020204020204" pitchFamily="34" charset="-122"/>
              <a:ea typeface="微软雅黑" panose="020B0503020204020204" pitchFamily="34" charset="-122"/>
            </a:endParaRPr>
          </a:p>
        </p:txBody>
      </p:sp>
      <p:sp>
        <p:nvSpPr>
          <p:cNvPr id="3" name="矩形 2"/>
          <p:cNvSpPr/>
          <p:nvPr/>
        </p:nvSpPr>
        <p:spPr>
          <a:xfrm>
            <a:off x="799749" y="1592645"/>
            <a:ext cx="10693167" cy="874407"/>
          </a:xfrm>
          <a:prstGeom prst="rect">
            <a:avLst/>
          </a:prstGeom>
        </p:spPr>
        <p:txBody>
          <a:bodyPr wrap="square">
            <a:spAutoFit/>
          </a:bodyPr>
          <a:lstStyle/>
          <a:p>
            <a:pPr indent="304800" algn="just">
              <a:lnSpc>
                <a:spcPct val="150000"/>
              </a:lnSpc>
              <a:spcAft>
                <a:spcPts val="0"/>
              </a:spcAft>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外光电效应探测器在吸收光子时会向外发射电子，常用的外光电效应探测器有光电管、光电倍增管和单光子计数器。</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6"/>
          <p:cNvSpPr/>
          <p:nvPr/>
        </p:nvSpPr>
        <p:spPr>
          <a:xfrm>
            <a:off x="346523" y="2581453"/>
            <a:ext cx="1473480" cy="458908"/>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）光电管</a:t>
            </a:r>
            <a:endParaRPr lang="zh-CN" altLang="zh-CN" sz="14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1" name="组合 10"/>
          <p:cNvGrpSpPr/>
          <p:nvPr/>
        </p:nvGrpSpPr>
        <p:grpSpPr>
          <a:xfrm>
            <a:off x="9378915" y="2311017"/>
            <a:ext cx="2194332" cy="2219056"/>
            <a:chOff x="9489581" y="3141926"/>
            <a:chExt cx="2194332" cy="2219056"/>
          </a:xfrm>
        </p:grpSpPr>
        <p:pic>
          <p:nvPicPr>
            <p:cNvPr id="9" name="图片 8"/>
            <p:cNvPicPr/>
            <p:nvPr/>
          </p:nvPicPr>
          <p:blipFill>
            <a:blip r:embed="rId2"/>
            <a:stretch>
              <a:fillRect/>
            </a:stretch>
          </p:blipFill>
          <p:spPr>
            <a:xfrm>
              <a:off x="9489581" y="3141926"/>
              <a:ext cx="2194332" cy="1894401"/>
            </a:xfrm>
            <a:prstGeom prst="rect">
              <a:avLst/>
            </a:prstGeom>
          </p:spPr>
        </p:pic>
        <p:sp>
          <p:nvSpPr>
            <p:cNvPr id="10" name="矩形 9"/>
            <p:cNvSpPr/>
            <p:nvPr/>
          </p:nvSpPr>
          <p:spPr>
            <a:xfrm>
              <a:off x="9770886" y="4982352"/>
              <a:ext cx="1635384" cy="378630"/>
            </a:xfrm>
            <a:prstGeom prst="rect">
              <a:avLst/>
            </a:prstGeom>
          </p:spPr>
          <p:txBody>
            <a:bodyPr wrap="none">
              <a:spAutoFit/>
            </a:bodyPr>
            <a:lstStyle/>
            <a:p>
              <a:pPr algn="ctr">
                <a:lnSpc>
                  <a:spcPct val="150000"/>
                </a:lnSpc>
                <a:spcBef>
                  <a:spcPts val="360"/>
                </a:spcBef>
                <a:spcAft>
                  <a:spcPts val="0"/>
                </a:spcAft>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2-30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光电管结构</a:t>
              </a:r>
              <a:endParaRPr lang="zh-CN" altLang="zh-CN" sz="1400" kern="100" dirty="0">
                <a:latin typeface="Calibri" panose="020F0502020204030204" pitchFamily="34" charset="0"/>
                <a:ea typeface="宋体" panose="02010600030101010101" pitchFamily="2" charset="-122"/>
                <a:cs typeface="Times New Roman" panose="02020603050405020304" pitchFamily="18" charset="0"/>
              </a:endParaRPr>
            </a:p>
          </p:txBody>
        </p:sp>
      </p:grpSp>
      <p:sp>
        <p:nvSpPr>
          <p:cNvPr id="12" name="矩形 11"/>
          <p:cNvSpPr/>
          <p:nvPr/>
        </p:nvSpPr>
        <p:spPr>
          <a:xfrm>
            <a:off x="799748" y="3096690"/>
            <a:ext cx="8293917" cy="874407"/>
          </a:xfrm>
          <a:prstGeom prst="rect">
            <a:avLst/>
          </a:prstGeom>
        </p:spPr>
        <p:txBody>
          <a:bodyPr wrap="square">
            <a:spAutoFit/>
          </a:bodyPr>
          <a:lstStyle/>
          <a:p>
            <a:pPr>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阴极材料在受到光辐射时发射电子，电子在外加电压作用下向阳极移动，阴极材料受到的光辐射强度越大，发射的电子就越多（即检流计探测到的电流越大）。</a:t>
            </a:r>
            <a:endParaRPr lang="zh-CN" altLang="en-US" dirty="0">
              <a:latin typeface="微软雅黑" panose="020B0503020204020204" pitchFamily="34" charset="-122"/>
              <a:ea typeface="微软雅黑" panose="020B0503020204020204" pitchFamily="34" charset="-122"/>
            </a:endParaRPr>
          </a:p>
        </p:txBody>
      </p:sp>
      <p:sp>
        <p:nvSpPr>
          <p:cNvPr id="13" name="矩形 12"/>
          <p:cNvSpPr/>
          <p:nvPr/>
        </p:nvSpPr>
        <p:spPr>
          <a:xfrm>
            <a:off x="380716" y="4039683"/>
            <a:ext cx="2476960" cy="463588"/>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）光电倍增管</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PMT</a:t>
            </a:r>
            <a:endPar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矩形 13"/>
          <p:cNvSpPr/>
          <p:nvPr/>
        </p:nvSpPr>
        <p:spPr>
          <a:xfrm>
            <a:off x="799749" y="4588519"/>
            <a:ext cx="8293916" cy="1289905"/>
          </a:xfrm>
          <a:prstGeom prst="rect">
            <a:avLst/>
          </a:prstGeom>
        </p:spPr>
        <p:txBody>
          <a:bodyPr wrap="square">
            <a:spAutoFit/>
          </a:bodyPr>
          <a:lstStyle/>
          <a:p>
            <a:pPr>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当光电倍增管的阴极受到光辐射后向外发射电子，发射的电子经过外电场或磁场加速后聚焦在第一倍增级上，在第一倍增级上激发出更多的电子，这些电子又一次被聚焦在第二倍增级上。以此类推，最终可以在阳极收集到被放大的电流。</a:t>
            </a:r>
            <a:endParaRPr lang="zh-CN" altLang="en-US"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7" name="组合 16"/>
          <p:cNvGrpSpPr/>
          <p:nvPr/>
        </p:nvGrpSpPr>
        <p:grpSpPr>
          <a:xfrm>
            <a:off x="9173249" y="4617984"/>
            <a:ext cx="2590726" cy="2211467"/>
            <a:chOff x="9173249" y="4617984"/>
            <a:chExt cx="2590726" cy="2211467"/>
          </a:xfrm>
        </p:grpSpPr>
        <p:pic>
          <p:nvPicPr>
            <p:cNvPr id="15" name="图片 14"/>
            <p:cNvPicPr/>
            <p:nvPr/>
          </p:nvPicPr>
          <p:blipFill>
            <a:blip r:embed="rId3"/>
            <a:stretch>
              <a:fillRect/>
            </a:stretch>
          </p:blipFill>
          <p:spPr>
            <a:xfrm>
              <a:off x="9378915" y="4617984"/>
              <a:ext cx="2385060" cy="1974215"/>
            </a:xfrm>
            <a:prstGeom prst="rect">
              <a:avLst/>
            </a:prstGeom>
          </p:spPr>
        </p:pic>
        <p:sp>
          <p:nvSpPr>
            <p:cNvPr id="16" name="矩形 15"/>
            <p:cNvSpPr/>
            <p:nvPr/>
          </p:nvSpPr>
          <p:spPr>
            <a:xfrm>
              <a:off x="9173249" y="6450821"/>
              <a:ext cx="2263761" cy="378630"/>
            </a:xfrm>
            <a:prstGeom prst="rect">
              <a:avLst/>
            </a:prstGeom>
          </p:spPr>
          <p:txBody>
            <a:bodyPr wrap="none">
              <a:spAutoFit/>
            </a:bodyPr>
            <a:lstStyle/>
            <a:p>
              <a:pPr indent="266700" algn="ctr">
                <a:lnSpc>
                  <a:spcPct val="150000"/>
                </a:lnSpc>
                <a:spcBef>
                  <a:spcPts val="360"/>
                </a:spcBef>
                <a:spcAft>
                  <a:spcPts val="0"/>
                </a:spcAft>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2-31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光电倍增管结构</a:t>
              </a:r>
              <a:endParaRPr lang="zh-CN" altLang="zh-CN" sz="1400" kern="100" dirty="0">
                <a:latin typeface="Calibri" panose="020F0502020204030204" pitchFamily="34" charset="0"/>
                <a:ea typeface="宋体" panose="02010600030101010101" pitchFamily="2" charset="-122"/>
                <a:cs typeface="Times New Roman" panose="02020603050405020304" pitchFamily="18" charset="0"/>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49</a:t>
            </a:fld>
            <a:endParaRPr kumimoji="1" lang="zh-CN" altLang="en-US"/>
          </a:p>
        </p:txBody>
      </p:sp>
      <p:sp>
        <p:nvSpPr>
          <p:cNvPr id="3" name="矩形 2"/>
          <p:cNvSpPr/>
          <p:nvPr/>
        </p:nvSpPr>
        <p:spPr>
          <a:xfrm>
            <a:off x="202112" y="1126728"/>
            <a:ext cx="2173993" cy="458908"/>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）单光子计数器</a:t>
            </a:r>
            <a:endParaRPr lang="zh-CN" altLang="zh-CN" sz="14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6"/>
          <p:cNvSpPr/>
          <p:nvPr/>
        </p:nvSpPr>
        <p:spPr>
          <a:xfrm>
            <a:off x="861512" y="1632699"/>
            <a:ext cx="10344445" cy="1289905"/>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当光信号很微弱时，光子一个个离散地到达探测器，所产生的光电流呈一个个脉冲形式而非连续的电流信号。单位时间内的脉冲数反映了光辐射的强弱，此时测量单位时间内的脉冲数比测量时间周期平均的光电流更灵敏。</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对单位时间内的脉冲进行计数的探测技术称为单光子计数</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3229763" y="3156713"/>
            <a:ext cx="5247986" cy="1531341"/>
            <a:chOff x="3229763" y="3156713"/>
            <a:chExt cx="5247986" cy="1531341"/>
          </a:xfrm>
        </p:grpSpPr>
        <p:pic>
          <p:nvPicPr>
            <p:cNvPr id="9" name="图片 8"/>
            <p:cNvPicPr/>
            <p:nvPr/>
          </p:nvPicPr>
          <p:blipFill>
            <a:blip r:embed="rId2">
              <a:extLst>
                <a:ext uri="{28A0092B-C50C-407E-A947-70E740481C1C}">
                  <a14:useLocalDpi xmlns:a14="http://schemas.microsoft.com/office/drawing/2010/main" val="0"/>
                </a:ext>
              </a:extLst>
            </a:blip>
            <a:srcRect/>
            <a:stretch>
              <a:fillRect/>
            </a:stretch>
          </p:blipFill>
          <p:spPr>
            <a:xfrm>
              <a:off x="3229763" y="3156713"/>
              <a:ext cx="5247986" cy="1230950"/>
            </a:xfrm>
            <a:prstGeom prst="rect">
              <a:avLst/>
            </a:prstGeom>
            <a:noFill/>
            <a:ln>
              <a:noFill/>
            </a:ln>
          </p:spPr>
        </p:pic>
        <p:sp>
          <p:nvSpPr>
            <p:cNvPr id="10" name="矩形 9"/>
            <p:cNvSpPr/>
            <p:nvPr/>
          </p:nvSpPr>
          <p:spPr>
            <a:xfrm>
              <a:off x="4497455" y="4309424"/>
              <a:ext cx="2712602" cy="378630"/>
            </a:xfrm>
            <a:prstGeom prst="rect">
              <a:avLst/>
            </a:prstGeom>
          </p:spPr>
          <p:txBody>
            <a:bodyPr wrap="none">
              <a:spAutoFit/>
            </a:bodyPr>
            <a:lstStyle/>
            <a:p>
              <a:pPr indent="266700" algn="ctr">
                <a:lnSpc>
                  <a:spcPct val="150000"/>
                </a:lnSpc>
                <a:spcBef>
                  <a:spcPts val="360"/>
                </a:spcBef>
                <a:spcAft>
                  <a:spcPts val="0"/>
                </a:spcAft>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2-32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单光子计数器的组成</a:t>
              </a:r>
              <a:endParaRPr lang="zh-CN" altLang="zh-CN" sz="1400" kern="100" dirty="0">
                <a:latin typeface="Calibri" panose="020F0502020204030204" pitchFamily="34" charset="0"/>
                <a:ea typeface="宋体" panose="02010600030101010101" pitchFamily="2" charset="-122"/>
                <a:cs typeface="Times New Roman" panose="02020603050405020304" pitchFamily="18" charset="0"/>
              </a:endParaRPr>
            </a:p>
          </p:txBody>
        </p:sp>
      </p:grpSp>
      <p:sp>
        <p:nvSpPr>
          <p:cNvPr id="12" name="矩形 11"/>
          <p:cNvSpPr/>
          <p:nvPr/>
        </p:nvSpPr>
        <p:spPr>
          <a:xfrm>
            <a:off x="861512" y="4662988"/>
            <a:ext cx="10235388" cy="1568450"/>
          </a:xfrm>
          <a:prstGeom prst="rect">
            <a:avLst/>
          </a:prstGeom>
        </p:spPr>
        <p:txBody>
          <a:bodyPr wrap="square">
            <a:spAutoFit/>
          </a:bodyPr>
          <a:lstStyle/>
          <a:p>
            <a:pPr indent="266700" algn="just">
              <a:lnSpc>
                <a:spcPct val="150000"/>
              </a:lnSpc>
              <a:spcAft>
                <a:spcPts val="0"/>
              </a:spcAft>
            </a:pPr>
            <a:r>
              <a:rPr lang="zh-CN" altLang="zh-CN" sz="1600" kern="100" dirty="0">
                <a:latin typeface="微软雅黑" panose="020B0503020204020204" pitchFamily="34" charset="-122"/>
                <a:ea typeface="微软雅黑" panose="020B0503020204020204" pitchFamily="34" charset="-122"/>
                <a:cs typeface="Arial" panose="020B0604020202020204" pitchFamily="34" charset="0"/>
              </a:rPr>
              <a:t>单光子计数具有以下优点：</a:t>
            </a:r>
            <a:endParaRPr lang="en-US" altLang="zh-CN" sz="1600" kern="100" dirty="0">
              <a:latin typeface="微软雅黑" panose="020B0503020204020204" pitchFamily="34" charset="-122"/>
              <a:ea typeface="微软雅黑" panose="020B0503020204020204" pitchFamily="34" charset="-122"/>
              <a:cs typeface="Arial" panose="020B0604020202020204" pitchFamily="34" charset="0"/>
            </a:endParaRPr>
          </a:p>
          <a:p>
            <a:pPr indent="266700" algn="just">
              <a:lnSpc>
                <a:spcPct val="150000"/>
              </a:lnSpc>
              <a:spcAft>
                <a:spcPts val="0"/>
              </a:spcAft>
            </a:pPr>
            <a:r>
              <a:rPr lang="zh-CN" altLang="zh-CN" sz="1600" kern="100" dirty="0">
                <a:latin typeface="微软雅黑" panose="020B0503020204020204" pitchFamily="34" charset="-122"/>
                <a:ea typeface="微软雅黑" panose="020B0503020204020204" pitchFamily="34" charset="-122"/>
                <a:cs typeface="Arial" panose="020B0604020202020204" pitchFamily="34" charset="0"/>
              </a:rPr>
              <a:t>①光电倍增管增益的微小波动不会影响脉冲个数，即不会影响测量结果；</a:t>
            </a:r>
            <a:endParaRPr lang="en-US" altLang="zh-CN" sz="1600" kern="100" dirty="0">
              <a:latin typeface="微软雅黑" panose="020B0503020204020204" pitchFamily="34" charset="-122"/>
              <a:ea typeface="微软雅黑" panose="020B0503020204020204" pitchFamily="34" charset="-122"/>
              <a:cs typeface="Arial" panose="020B0604020202020204" pitchFamily="34" charset="0"/>
            </a:endParaRPr>
          </a:p>
          <a:p>
            <a:pPr indent="266700" algn="just">
              <a:lnSpc>
                <a:spcPct val="150000"/>
              </a:lnSpc>
              <a:spcAft>
                <a:spcPts val="0"/>
              </a:spcAft>
            </a:pPr>
            <a:r>
              <a:rPr lang="zh-CN" altLang="zh-CN" sz="1600" kern="100" dirty="0">
                <a:latin typeface="微软雅黑" panose="020B0503020204020204" pitchFamily="34" charset="-122"/>
                <a:ea typeface="微软雅黑" panose="020B0503020204020204" pitchFamily="34" charset="-122"/>
                <a:cs typeface="Arial" panose="020B0604020202020204" pitchFamily="34" charset="0"/>
              </a:rPr>
              <a:t>②由于采用了电平比较器，所以可以抑制热电子的暗电流、管座引线的漏电流等噪声；</a:t>
            </a:r>
            <a:endParaRPr lang="en-US" altLang="zh-CN" sz="1600" kern="100" dirty="0">
              <a:latin typeface="微软雅黑" panose="020B0503020204020204" pitchFamily="34" charset="-122"/>
              <a:ea typeface="微软雅黑" panose="020B0503020204020204" pitchFamily="34" charset="-122"/>
              <a:cs typeface="Arial" panose="020B0604020202020204" pitchFamily="34" charset="0"/>
            </a:endParaRPr>
          </a:p>
          <a:p>
            <a:pPr indent="266700" algn="just">
              <a:lnSpc>
                <a:spcPct val="150000"/>
              </a:lnSpc>
              <a:spcAft>
                <a:spcPts val="0"/>
              </a:spcAft>
            </a:pPr>
            <a:r>
              <a:rPr lang="zh-CN" altLang="zh-CN" sz="1600" kern="100" dirty="0">
                <a:latin typeface="微软雅黑" panose="020B0503020204020204" pitchFamily="34" charset="-122"/>
                <a:ea typeface="微软雅黑" panose="020B0503020204020204" pitchFamily="34" charset="-122"/>
                <a:cs typeface="Arial" panose="020B0604020202020204" pitchFamily="34" charset="0"/>
              </a:rPr>
              <a:t>③脉冲信号便于微控制器的测量和处理。</a:t>
            </a:r>
            <a:endParaRPr lang="zh-CN" alt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50</a:t>
            </a:fld>
            <a:endParaRPr kumimoji="1" lang="zh-CN" altLang="en-US"/>
          </a:p>
        </p:txBody>
      </p:sp>
      <p:sp>
        <p:nvSpPr>
          <p:cNvPr id="8" name="矩形 7"/>
          <p:cNvSpPr/>
          <p:nvPr/>
        </p:nvSpPr>
        <p:spPr>
          <a:xfrm>
            <a:off x="380716" y="1130980"/>
            <a:ext cx="1757680" cy="39878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4. </a:t>
            </a:r>
            <a:r>
              <a:rPr lang="zh-CN" altLang="en-US" sz="2000" b="1" dirty="0">
                <a:solidFill>
                  <a:srgbClr val="002060"/>
                </a:solidFill>
                <a:latin typeface="微软雅黑" panose="020B0503020204020204" pitchFamily="34" charset="-122"/>
                <a:ea typeface="微软雅黑" panose="020B0503020204020204" pitchFamily="34" charset="-122"/>
              </a:rPr>
              <a:t>图像传感器</a:t>
            </a:r>
          </a:p>
        </p:txBody>
      </p:sp>
      <p:sp>
        <p:nvSpPr>
          <p:cNvPr id="3" name="矩形 2"/>
          <p:cNvSpPr/>
          <p:nvPr/>
        </p:nvSpPr>
        <p:spPr>
          <a:xfrm>
            <a:off x="841695" y="1527875"/>
            <a:ext cx="10399553" cy="874407"/>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常用的图像传感器有电荷耦合器件</a:t>
            </a:r>
            <a:r>
              <a:rPr lang="en-US" altLang="zh-CN" kern="100" dirty="0">
                <a:latin typeface="微软雅黑" panose="020B0503020204020204" pitchFamily="34" charset="-122"/>
                <a:ea typeface="微软雅黑" panose="020B0503020204020204" pitchFamily="34" charset="-122"/>
              </a:rPr>
              <a:t>CCD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latin typeface="微软雅黑" panose="020B0503020204020204" pitchFamily="34" charset="-122"/>
                <a:ea typeface="微软雅黑" panose="020B0503020204020204" pitchFamily="34" charset="-122"/>
              </a:rPr>
              <a:t>Charge Coupled Device</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）和互补金属氧化物半导体</a:t>
            </a:r>
            <a:r>
              <a:rPr lang="en-US" altLang="zh-CN" kern="100" dirty="0">
                <a:latin typeface="微软雅黑" panose="020B0503020204020204" pitchFamily="34" charset="-122"/>
                <a:ea typeface="微软雅黑" panose="020B0503020204020204" pitchFamily="34" charset="-122"/>
              </a:rPr>
              <a:t>CMOS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latin typeface="微软雅黑" panose="020B0503020204020204" pitchFamily="34" charset="-122"/>
                <a:ea typeface="微软雅黑" panose="020B0503020204020204" pitchFamily="34" charset="-122"/>
              </a:rPr>
              <a:t>Complementary Metal Oxide Semiconductor</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endParaRPr>
          </a:p>
        </p:txBody>
      </p:sp>
      <p:sp>
        <p:nvSpPr>
          <p:cNvPr id="7" name="矩形 6"/>
          <p:cNvSpPr/>
          <p:nvPr/>
        </p:nvSpPr>
        <p:spPr>
          <a:xfrm>
            <a:off x="282933" y="2460262"/>
            <a:ext cx="2839239" cy="460382"/>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）图像传感器的光敏元</a:t>
            </a:r>
            <a:endParaRPr lang="zh-CN" altLang="zh-CN" sz="14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p:cNvSpPr/>
          <p:nvPr/>
        </p:nvSpPr>
        <p:spPr>
          <a:xfrm>
            <a:off x="699082" y="2920644"/>
            <a:ext cx="7220125" cy="2951898"/>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图像传感器的最小可测量区域称为</a:t>
            </a:r>
            <a:r>
              <a:rPr lang="zh-CN" altLang="zh-CN" dirty="0">
                <a:solidFill>
                  <a:srgbClr val="0070C0"/>
                </a:solidFill>
                <a:latin typeface="微软雅黑" panose="020B0503020204020204" pitchFamily="34" charset="-122"/>
                <a:ea typeface="微软雅黑" panose="020B0503020204020204" pitchFamily="34" charset="-122"/>
              </a:rPr>
              <a:t>像素</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Pixel</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CCD</a:t>
            </a:r>
            <a:r>
              <a:rPr lang="zh-CN" altLang="zh-CN"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CMOS</a:t>
            </a:r>
            <a:r>
              <a:rPr lang="zh-CN" altLang="zh-CN" dirty="0">
                <a:latin typeface="微软雅黑" panose="020B0503020204020204" pitchFamily="34" charset="-122"/>
                <a:ea typeface="微软雅黑" panose="020B0503020204020204" pitchFamily="34" charset="-122"/>
              </a:rPr>
              <a:t>中每个像素的感光元是</a:t>
            </a:r>
            <a:r>
              <a:rPr lang="en-US" altLang="zh-CN" dirty="0">
                <a:solidFill>
                  <a:srgbClr val="0070C0"/>
                </a:solidFill>
                <a:latin typeface="微软雅黑" panose="020B0503020204020204" pitchFamily="34" charset="-122"/>
                <a:ea typeface="微软雅黑" panose="020B0503020204020204" pitchFamily="34" charset="-122"/>
              </a:rPr>
              <a:t>MOS</a:t>
            </a:r>
            <a:r>
              <a:rPr lang="zh-CN" altLang="zh-CN" dirty="0">
                <a:solidFill>
                  <a:srgbClr val="0070C0"/>
                </a:solidFill>
                <a:latin typeface="微软雅黑" panose="020B0503020204020204" pitchFamily="34" charset="-122"/>
                <a:ea typeface="微软雅黑" panose="020B0503020204020204" pitchFamily="34" charset="-122"/>
              </a:rPr>
              <a:t>（</a:t>
            </a:r>
            <a:r>
              <a:rPr lang="en-US" altLang="zh-CN" dirty="0">
                <a:solidFill>
                  <a:srgbClr val="0070C0"/>
                </a:solidFill>
                <a:latin typeface="微软雅黑" panose="020B0503020204020204" pitchFamily="34" charset="-122"/>
                <a:ea typeface="微软雅黑" panose="020B0503020204020204" pitchFamily="34" charset="-122"/>
              </a:rPr>
              <a:t>Metal-Oxide-Semiconductor</a:t>
            </a:r>
            <a:r>
              <a:rPr lang="zh-CN" altLang="zh-CN" dirty="0">
                <a:solidFill>
                  <a:srgbClr val="0070C0"/>
                </a:solidFill>
                <a:latin typeface="微软雅黑" panose="020B0503020204020204" pitchFamily="34" charset="-122"/>
                <a:ea typeface="微软雅黑" panose="020B0503020204020204" pitchFamily="34" charset="-122"/>
              </a:rPr>
              <a:t>）光敏元</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       MOS</a:t>
            </a:r>
            <a:r>
              <a:rPr lang="zh-CN" altLang="en-US" dirty="0">
                <a:latin typeface="微软雅黑" panose="020B0503020204020204" pitchFamily="34" charset="-122"/>
                <a:ea typeface="微软雅黑" panose="020B0503020204020204" pitchFamily="34" charset="-122"/>
              </a:rPr>
              <a:t>光敏元</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以硅半导体为衬底，在其上部生长一层二氧化硅，再蒸涂具有一定形状的金属层作为电极。在金属栅极施加电压时，</a:t>
            </a:r>
            <a:r>
              <a:rPr lang="en-US" altLang="zh-CN" kern="100" dirty="0">
                <a:latin typeface="微软雅黑" panose="020B0503020204020204" pitchFamily="34" charset="-122"/>
                <a:ea typeface="微软雅黑" panose="020B0503020204020204" pitchFamily="34" charset="-122"/>
              </a:rPr>
              <a:t>MOS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元具有吸引电子的能力，此时若有光照就会因光生电子而形成</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电子“势阱”</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，并且电压越高，势阱越深。</a:t>
            </a:r>
            <a:endParaRPr lang="zh-CN" altLang="en-US"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8462198" y="3083702"/>
            <a:ext cx="2624984" cy="2354236"/>
            <a:chOff x="8151806" y="3429000"/>
            <a:chExt cx="2624984" cy="2354236"/>
          </a:xfrm>
        </p:grpSpPr>
        <p:graphicFrame>
          <p:nvGraphicFramePr>
            <p:cNvPr id="11" name="对象 10"/>
            <p:cNvGraphicFramePr>
              <a:graphicFrameLocks noChangeAspect="1"/>
            </p:cNvGraphicFramePr>
            <p:nvPr/>
          </p:nvGraphicFramePr>
          <p:xfrm>
            <a:off x="8151806" y="3429000"/>
            <a:ext cx="2624984" cy="1767146"/>
          </p:xfrm>
          <a:graphic>
            <a:graphicData uri="http://schemas.openxmlformats.org/presentationml/2006/ole">
              <mc:AlternateContent xmlns:mc="http://schemas.openxmlformats.org/markup-compatibility/2006">
                <mc:Choice xmlns:v="urn:schemas-microsoft-com:vml" Requires="v">
                  <p:oleObj name="BMP 图像" r:id="rId2" imgW="1250950" imgH="800100" progId="Paint.Picture">
                    <p:embed/>
                  </p:oleObj>
                </mc:Choice>
                <mc:Fallback>
                  <p:oleObj name="BMP 图像" r:id="rId2" imgW="1250950" imgH="800100" progId="Paint.Picture">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1806" y="3429000"/>
                          <a:ext cx="2624984" cy="1767146"/>
                        </a:xfrm>
                        <a:prstGeom prst="rect">
                          <a:avLst/>
                        </a:prstGeom>
                        <a:noFill/>
                      </p:spPr>
                    </p:pic>
                  </p:oleObj>
                </mc:Fallback>
              </mc:AlternateContent>
            </a:graphicData>
          </a:graphic>
        </p:graphicFrame>
        <p:sp>
          <p:nvSpPr>
            <p:cNvPr id="12" name="矩形 11"/>
            <p:cNvSpPr/>
            <p:nvPr/>
          </p:nvSpPr>
          <p:spPr>
            <a:xfrm>
              <a:off x="8611448" y="5475459"/>
              <a:ext cx="2069797" cy="307777"/>
            </a:xfrm>
            <a:prstGeom prst="rect">
              <a:avLst/>
            </a:prstGeom>
          </p:spPr>
          <p:txBody>
            <a:bodyPr wrap="none">
              <a:spAutoFit/>
            </a:bodyPr>
            <a:lstStyle/>
            <a:p>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dirty="0">
                  <a:latin typeface="Times New Roman" panose="02020603050405020304" pitchFamily="18" charset="0"/>
                  <a:ea typeface="宋体" panose="02010600030101010101" pitchFamily="2" charset="-122"/>
                </a:rPr>
                <a:t>2-33  MOS</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光敏元结构</a:t>
              </a:r>
              <a:endParaRPr lang="zh-CN" altLang="en-US" sz="1400" dirty="0"/>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51</a:t>
            </a:fld>
            <a:endParaRPr kumimoji="1" lang="zh-CN" altLang="en-US"/>
          </a:p>
        </p:txBody>
      </p:sp>
      <p:sp>
        <p:nvSpPr>
          <p:cNvPr id="3" name="矩形 2"/>
          <p:cNvSpPr/>
          <p:nvPr/>
        </p:nvSpPr>
        <p:spPr>
          <a:xfrm>
            <a:off x="261287" y="1090684"/>
            <a:ext cx="2427268" cy="460382"/>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CCD</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图像传感器</a:t>
            </a:r>
            <a:endParaRPr lang="zh-CN" altLang="zh-CN" sz="14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6"/>
          <p:cNvSpPr/>
          <p:nvPr/>
        </p:nvSpPr>
        <p:spPr>
          <a:xfrm>
            <a:off x="905192" y="1573873"/>
            <a:ext cx="10449726" cy="875881"/>
          </a:xfrm>
          <a:prstGeom prst="rect">
            <a:avLst/>
          </a:prstGeom>
        </p:spPr>
        <p:txBody>
          <a:bodyPr wrap="square">
            <a:spAutoFit/>
          </a:bodyPr>
          <a:lstStyle/>
          <a:p>
            <a:pPr indent="304800" algn="just">
              <a:lnSpc>
                <a:spcPct val="150000"/>
              </a:lnSpc>
              <a:spcAft>
                <a:spcPts val="0"/>
              </a:spcAft>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CCD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图像传感器由大量</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MOS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光敏元组成。光敏元的数量就是</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CCD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的像素数量，每个光敏元的大小就是</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CCD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像元（像素）的大小。</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矩形 8"/>
          <p:cNvSpPr/>
          <p:nvPr/>
        </p:nvSpPr>
        <p:spPr>
          <a:xfrm>
            <a:off x="583239" y="3683705"/>
            <a:ext cx="11025521" cy="2680349"/>
          </a:xfrm>
          <a:prstGeom prst="rect">
            <a:avLst/>
          </a:prstGeom>
        </p:spPr>
        <p:txBody>
          <a:bodyPr wrap="square">
            <a:spAutoFit/>
          </a:bodyPr>
          <a:lstStyle/>
          <a:p>
            <a:pPr indent="304800" algn="just">
              <a:lnSpc>
                <a:spcPct val="150000"/>
              </a:lnSpc>
              <a:spcAft>
                <a:spcPts val="0"/>
              </a:spcAft>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线阵</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CCD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的工作过程分为电荷的</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产生、存储、转移和读出（测量）</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个过程。</a:t>
            </a: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50000"/>
              </a:lnSpc>
              <a:spcAft>
                <a:spcPts val="0"/>
              </a:spcAft>
              <a:buFont typeface="+mj-ea"/>
              <a:buAutoNum type="circleNumDbPlain"/>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电荷的产生。当光照射到</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MOS</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光敏元时，在靠近金属栅极的半导体体内产生光生电子。</a:t>
            </a:r>
            <a:endPar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50000"/>
              </a:lnSpc>
              <a:spcAft>
                <a:spcPts val="0"/>
              </a:spcAft>
              <a:buFont typeface="+mj-ea"/>
              <a:buAutoNum type="circleNumDbPlain"/>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电荷的存储。当金属栅极加正向偏压时，光生电子被收集在势阱（光积分区）中，形成信号电荷，这个时间一般为</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 1~10ns</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。产生的电荷数量与光强和施加电压有关，增加电极电压，会增加电荷量。</a:t>
            </a:r>
            <a:endPar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50000"/>
              </a:lnSpc>
              <a:spcAft>
                <a:spcPts val="0"/>
              </a:spcAft>
              <a:buFont typeface="+mj-ea"/>
              <a:buAutoNum type="circleNumDbPlain"/>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电荷的转移。通过时钟信号的控制，将各</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MOS</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光积分区收集的电荷量从一个像元转移到下一个像元，并沿转移栅全部输出。</a:t>
            </a:r>
            <a:endPar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ct val="150000"/>
              </a:lnSpc>
              <a:spcAft>
                <a:spcPts val="0"/>
              </a:spcAft>
              <a:buFont typeface="+mj-ea"/>
              <a:buAutoNum type="circleNumDbPlain"/>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电荷的读出（测量）。将输出的电荷转化为电流或者电压，并通过外部电路对转化得到的电流或电压进行测量。</a:t>
            </a:r>
            <a:endParaRPr lang="zh-CN" alt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 name="组合 11"/>
          <p:cNvGrpSpPr/>
          <p:nvPr/>
        </p:nvGrpSpPr>
        <p:grpSpPr>
          <a:xfrm>
            <a:off x="4364313" y="2209946"/>
            <a:ext cx="3521337" cy="1495904"/>
            <a:chOff x="4364313" y="2209946"/>
            <a:chExt cx="3521337" cy="1495904"/>
          </a:xfrm>
        </p:grpSpPr>
        <p:pic>
          <p:nvPicPr>
            <p:cNvPr id="10" name="图片 9"/>
            <p:cNvPicPr/>
            <p:nvPr/>
          </p:nvPicPr>
          <p:blipFill>
            <a:blip r:embed="rId2" cstate="print">
              <a:extLst>
                <a:ext uri="{28A0092B-C50C-407E-A947-70E740481C1C}">
                  <a14:useLocalDpi xmlns:a14="http://schemas.microsoft.com/office/drawing/2010/main" val="0"/>
                </a:ext>
              </a:extLst>
            </a:blip>
            <a:srcRect/>
            <a:stretch>
              <a:fillRect/>
            </a:stretch>
          </p:blipFill>
          <p:spPr>
            <a:xfrm>
              <a:off x="4364313" y="2209946"/>
              <a:ext cx="3521337" cy="1219054"/>
            </a:xfrm>
            <a:prstGeom prst="rect">
              <a:avLst/>
            </a:prstGeom>
            <a:noFill/>
            <a:ln>
              <a:noFill/>
            </a:ln>
          </p:spPr>
        </p:pic>
        <p:sp>
          <p:nvSpPr>
            <p:cNvPr id="11" name="矩形 10"/>
            <p:cNvSpPr/>
            <p:nvPr/>
          </p:nvSpPr>
          <p:spPr>
            <a:xfrm>
              <a:off x="4689331" y="3398073"/>
              <a:ext cx="2274982" cy="307777"/>
            </a:xfrm>
            <a:prstGeom prst="rect">
              <a:avLst/>
            </a:prstGeom>
          </p:spPr>
          <p:txBody>
            <a:bodyPr wrap="none">
              <a:spAutoFit/>
            </a:bodyPr>
            <a:lstStyle/>
            <a:p>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2-34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线阵</a:t>
              </a:r>
              <a:r>
                <a:rPr lang="en-US" altLang="zh-CN" sz="1400" kern="100" dirty="0">
                  <a:latin typeface="Times New Roman" panose="02020603050405020304" pitchFamily="18" charset="0"/>
                  <a:ea typeface="宋体" panose="02010600030101010101" pitchFamily="2" charset="-122"/>
                </a:rPr>
                <a:t> CCD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结构原理</a:t>
              </a:r>
              <a:endParaRPr lang="zh-CN" altLang="en-US" sz="1400" dirty="0"/>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52</a:t>
            </a:fld>
            <a:endParaRPr kumimoji="1" lang="zh-CN" altLang="en-US"/>
          </a:p>
        </p:txBody>
      </p:sp>
      <p:sp>
        <p:nvSpPr>
          <p:cNvPr id="3" name="矩形 2"/>
          <p:cNvSpPr/>
          <p:nvPr/>
        </p:nvSpPr>
        <p:spPr>
          <a:xfrm>
            <a:off x="226861" y="1160285"/>
            <a:ext cx="2664512" cy="458908"/>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CMOS</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图像传感器</a:t>
            </a:r>
            <a:endParaRPr lang="zh-CN" altLang="zh-CN" sz="14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6"/>
          <p:cNvSpPr/>
          <p:nvPr/>
        </p:nvSpPr>
        <p:spPr>
          <a:xfrm>
            <a:off x="722175" y="1684738"/>
            <a:ext cx="10747650" cy="1289905"/>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rPr>
              <a:t>       CMOS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图像传感器集成了</a:t>
            </a:r>
            <a:r>
              <a:rPr lang="en-US" altLang="zh-CN" kern="100" dirty="0">
                <a:solidFill>
                  <a:srgbClr val="0070C0"/>
                </a:solidFill>
                <a:latin typeface="微软雅黑" panose="020B0503020204020204" pitchFamily="34" charset="-122"/>
                <a:ea typeface="微软雅黑" panose="020B0503020204020204" pitchFamily="34" charset="-122"/>
              </a:rPr>
              <a:t>MOS</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像元阵列（感光区）</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时序控制</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模拟电路</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和</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模数转换器</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等模块</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latin typeface="微软雅黑" panose="020B0503020204020204" pitchFamily="34" charset="-122"/>
                <a:ea typeface="微软雅黑" panose="020B0503020204020204" pitchFamily="34" charset="-122"/>
              </a:rPr>
              <a:t>每个像元内除感光元外还有晶体管，在每个像元内就把光生电子转换成了电压，即</a:t>
            </a:r>
            <a:r>
              <a:rPr lang="zh-CN" altLang="zh-CN" dirty="0">
                <a:solidFill>
                  <a:srgbClr val="0070C0"/>
                </a:solidFill>
                <a:latin typeface="微软雅黑" panose="020B0503020204020204" pitchFamily="34" charset="-122"/>
                <a:ea typeface="微软雅黑" panose="020B0503020204020204" pitchFamily="34" charset="-122"/>
              </a:rPr>
              <a:t>在每个</a:t>
            </a:r>
            <a:r>
              <a:rPr lang="en-US" altLang="zh-CN" dirty="0">
                <a:solidFill>
                  <a:srgbClr val="0070C0"/>
                </a:solidFill>
                <a:latin typeface="微软雅黑" panose="020B0503020204020204" pitchFamily="34" charset="-122"/>
                <a:ea typeface="微软雅黑" panose="020B0503020204020204" pitchFamily="34" charset="-122"/>
              </a:rPr>
              <a:t>MOS</a:t>
            </a:r>
            <a:r>
              <a:rPr lang="zh-CN" altLang="zh-CN" dirty="0">
                <a:solidFill>
                  <a:srgbClr val="0070C0"/>
                </a:solidFill>
                <a:latin typeface="微软雅黑" panose="020B0503020204020204" pitchFamily="34" charset="-122"/>
                <a:ea typeface="微软雅黑" panose="020B0503020204020204" pitchFamily="34" charset="-122"/>
              </a:rPr>
              <a:t>光敏元就完成了电荷的产生、收集和测量</a:t>
            </a:r>
            <a:r>
              <a:rPr lang="zh-CN" altLang="zh-CN" dirty="0">
                <a:latin typeface="微软雅黑" panose="020B0503020204020204" pitchFamily="34" charset="-122"/>
                <a:ea typeface="微软雅黑" panose="020B0503020204020204" pitchFamily="34" charset="-122"/>
              </a:rPr>
              <a:t>，没有</a:t>
            </a:r>
            <a:r>
              <a:rPr lang="en-US" altLang="zh-CN" dirty="0">
                <a:latin typeface="微软雅黑" panose="020B0503020204020204" pitchFamily="34" charset="-122"/>
                <a:ea typeface="微软雅黑" panose="020B0503020204020204" pitchFamily="34" charset="-122"/>
              </a:rPr>
              <a:t>CCD</a:t>
            </a:r>
            <a:r>
              <a:rPr lang="zh-CN" altLang="zh-CN" dirty="0">
                <a:latin typeface="微软雅黑" panose="020B0503020204020204" pitchFamily="34" charset="-122"/>
                <a:ea typeface="微软雅黑" panose="020B0503020204020204" pitchFamily="34" charset="-122"/>
              </a:rPr>
              <a:t>需要的像素间的电荷转移过程。</a:t>
            </a:r>
            <a:endParaRPr lang="zh-CN" altLang="en-US" dirty="0">
              <a:latin typeface="微软雅黑" panose="020B0503020204020204" pitchFamily="34" charset="-122"/>
              <a:ea typeface="微软雅黑" panose="020B0503020204020204" pitchFamily="34" charset="-122"/>
            </a:endParaRPr>
          </a:p>
        </p:txBody>
      </p:sp>
      <p:grpSp>
        <p:nvGrpSpPr>
          <p:cNvPr id="11" name="组合 10"/>
          <p:cNvGrpSpPr/>
          <p:nvPr/>
        </p:nvGrpSpPr>
        <p:grpSpPr>
          <a:xfrm>
            <a:off x="3714115" y="3327400"/>
            <a:ext cx="3873500" cy="2924194"/>
            <a:chOff x="3947711" y="2921688"/>
            <a:chExt cx="3468180" cy="2773121"/>
          </a:xfrm>
        </p:grpSpPr>
        <p:pic>
          <p:nvPicPr>
            <p:cNvPr id="9" name="图片 8"/>
            <p:cNvPicPr/>
            <p:nvPr/>
          </p:nvPicPr>
          <p:blipFill>
            <a:blip r:embed="rId2">
              <a:extLst>
                <a:ext uri="{28A0092B-C50C-407E-A947-70E740481C1C}">
                  <a14:useLocalDpi xmlns:a14="http://schemas.microsoft.com/office/drawing/2010/main" val="0"/>
                </a:ext>
              </a:extLst>
            </a:blip>
            <a:srcRect/>
            <a:stretch>
              <a:fillRect/>
            </a:stretch>
          </p:blipFill>
          <p:spPr>
            <a:xfrm>
              <a:off x="4118994" y="2921688"/>
              <a:ext cx="3296897" cy="2380153"/>
            </a:xfrm>
            <a:prstGeom prst="rect">
              <a:avLst/>
            </a:prstGeom>
            <a:noFill/>
            <a:ln>
              <a:noFill/>
            </a:ln>
          </p:spPr>
        </p:pic>
        <p:sp>
          <p:nvSpPr>
            <p:cNvPr id="10" name="矩形 9"/>
            <p:cNvSpPr/>
            <p:nvPr/>
          </p:nvSpPr>
          <p:spPr>
            <a:xfrm>
              <a:off x="3947711" y="5302179"/>
              <a:ext cx="3357009" cy="392630"/>
            </a:xfrm>
            <a:prstGeom prst="rect">
              <a:avLst/>
            </a:prstGeom>
          </p:spPr>
          <p:txBody>
            <a:bodyPr wrap="square">
              <a:spAutoFit/>
            </a:bodyPr>
            <a:lstStyle/>
            <a:p>
              <a:pPr indent="266700" algn="ctr">
                <a:lnSpc>
                  <a:spcPct val="150000"/>
                </a:lnSpc>
                <a:spcAft>
                  <a:spcPts val="0"/>
                </a:spcAft>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2-35  CMOS</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图像传感器结构与组成</a:t>
              </a:r>
              <a:endParaRPr lang="zh-CN" altLang="zh-CN" sz="1400" kern="100" dirty="0">
                <a:latin typeface="Calibri" panose="020F0502020204030204" pitchFamily="34" charset="0"/>
                <a:ea typeface="宋体" panose="02010600030101010101" pitchFamily="2" charset="-122"/>
                <a:cs typeface="Times New Roman" panose="02020603050405020304" pitchFamily="18" charset="0"/>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53</a:t>
            </a:fld>
            <a:endParaRPr kumimoji="1" lang="zh-CN" altLang="en-US"/>
          </a:p>
        </p:txBody>
      </p:sp>
      <p:sp>
        <p:nvSpPr>
          <p:cNvPr id="3" name="矩形 2"/>
          <p:cNvSpPr/>
          <p:nvPr/>
        </p:nvSpPr>
        <p:spPr>
          <a:xfrm>
            <a:off x="199849" y="1083519"/>
            <a:ext cx="3070071" cy="460382"/>
          </a:xfrm>
          <a:prstGeom prst="rect">
            <a:avLst/>
          </a:prstGeom>
        </p:spPr>
        <p:txBody>
          <a:bodyPr wrap="non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）图像传感器的性能指标</a:t>
            </a:r>
            <a:endParaRPr lang="zh-CN" altLang="zh-CN" sz="1400" b="1" kern="100" dirty="0">
              <a:solidFill>
                <a:srgbClr val="00206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7" name="表格 6"/>
          <p:cNvGraphicFramePr>
            <a:graphicFrameLocks noGrp="1"/>
          </p:cNvGraphicFramePr>
          <p:nvPr>
            <p:custDataLst>
              <p:tags r:id="rId1"/>
            </p:custDataLst>
          </p:nvPr>
        </p:nvGraphicFramePr>
        <p:xfrm>
          <a:off x="1113790" y="1925320"/>
          <a:ext cx="10109200" cy="3820290"/>
        </p:xfrm>
        <a:graphic>
          <a:graphicData uri="http://schemas.openxmlformats.org/drawingml/2006/table">
            <a:tbl>
              <a:tblPr firstRow="1" bandRow="1">
                <a:tableStyleId>{5C22544A-7EE6-4342-B048-85BDC9FD1C3A}</a:tableStyleId>
              </a:tblPr>
              <a:tblGrid>
                <a:gridCol w="1430020">
                  <a:extLst>
                    <a:ext uri="{9D8B030D-6E8A-4147-A177-3AD203B41FA5}">
                      <a16:colId xmlns:a16="http://schemas.microsoft.com/office/drawing/2014/main" val="20000"/>
                    </a:ext>
                  </a:extLst>
                </a:gridCol>
                <a:gridCol w="8679180">
                  <a:extLst>
                    <a:ext uri="{9D8B030D-6E8A-4147-A177-3AD203B41FA5}">
                      <a16:colId xmlns:a16="http://schemas.microsoft.com/office/drawing/2014/main" val="20001"/>
                    </a:ext>
                  </a:extLst>
                </a:gridCol>
              </a:tblGrid>
              <a:tr h="482730">
                <a:tc>
                  <a:txBody>
                    <a:bodyPr/>
                    <a:lstStyle/>
                    <a:p>
                      <a:pPr indent="0" algn="ctr" fontAlgn="auto">
                        <a:lnSpc>
                          <a:spcPct val="125000"/>
                        </a:lnSpc>
                      </a:pPr>
                      <a:r>
                        <a:rPr lang="zh-CN" altLang="zh-CN" sz="1600" b="1" kern="1200" dirty="0">
                          <a:solidFill>
                            <a:schemeClr val="lt1"/>
                          </a:solidFill>
                          <a:effectLst/>
                          <a:latin typeface="微软雅黑" panose="020B0503020204020204" pitchFamily="34" charset="-122"/>
                          <a:ea typeface="微软雅黑" panose="020B0503020204020204" pitchFamily="34" charset="-122"/>
                          <a:cs typeface="+mn-cs"/>
                        </a:rPr>
                        <a:t>性能指标</a:t>
                      </a:r>
                    </a:p>
                  </a:txBody>
                  <a:tcPr anchor="ctr"/>
                </a:tc>
                <a:tc>
                  <a:txBody>
                    <a:bodyPr/>
                    <a:lstStyle/>
                    <a:p>
                      <a:pPr indent="0" algn="ctr" fontAlgn="auto">
                        <a:lnSpc>
                          <a:spcPct val="125000"/>
                        </a:lnSpc>
                      </a:pPr>
                      <a:r>
                        <a:rPr lang="zh-CN" altLang="en-US" sz="1600" dirty="0">
                          <a:latin typeface="微软雅黑" panose="020B0503020204020204" pitchFamily="34" charset="-122"/>
                          <a:ea typeface="微软雅黑" panose="020B0503020204020204" pitchFamily="34" charset="-122"/>
                        </a:rPr>
                        <a:t>具体说明</a:t>
                      </a:r>
                    </a:p>
                  </a:txBody>
                  <a:tcPr anchor="ctr"/>
                </a:tc>
                <a:extLst>
                  <a:ext uri="{0D108BD9-81ED-4DB2-BD59-A6C34878D82A}">
                    <a16:rowId xmlns:a16="http://schemas.microsoft.com/office/drawing/2014/main" val="10000"/>
                  </a:ext>
                </a:extLst>
              </a:tr>
              <a:tr h="370840">
                <a:tc>
                  <a:txBody>
                    <a:bodyPr/>
                    <a:lstStyle/>
                    <a:p>
                      <a:pPr indent="0" algn="ctr"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分辨率</a:t>
                      </a:r>
                    </a:p>
                  </a:txBody>
                  <a:tcPr anchor="ctr"/>
                </a:tc>
                <a:tc>
                  <a:txBody>
                    <a:bodyPr/>
                    <a:lstStyle/>
                    <a:p>
                      <a:pPr indent="0"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图像传感器的分辨率由像素数量决定，分辨率</a:t>
                      </a:r>
                      <a:r>
                        <a:rPr lang="en-US" altLang="zh-CN" sz="160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zh-CN" sz="160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像元数量</a:t>
                      </a:r>
                    </a:p>
                  </a:txBody>
                  <a:tcPr/>
                </a:tc>
                <a:extLst>
                  <a:ext uri="{0D108BD9-81ED-4DB2-BD59-A6C34878D82A}">
                    <a16:rowId xmlns:a16="http://schemas.microsoft.com/office/drawing/2014/main" val="10001"/>
                  </a:ext>
                </a:extLst>
              </a:tr>
              <a:tr h="370840">
                <a:tc>
                  <a:txBody>
                    <a:bodyPr/>
                    <a:lstStyle/>
                    <a:p>
                      <a:pPr indent="0" algn="ctr"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像元尺寸</a:t>
                      </a:r>
                    </a:p>
                  </a:txBody>
                  <a:tcPr anchor="ctr"/>
                </a:tc>
                <a:tc>
                  <a:txBody>
                    <a:bodyPr/>
                    <a:lstStyle/>
                    <a:p>
                      <a:pPr indent="0"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即一个像素的大小。像元尺寸越大，能收集的光子数量越多</a:t>
                      </a:r>
                    </a:p>
                  </a:txBody>
                  <a:tcPr/>
                </a:tc>
                <a:extLst>
                  <a:ext uri="{0D108BD9-81ED-4DB2-BD59-A6C34878D82A}">
                    <a16:rowId xmlns:a16="http://schemas.microsoft.com/office/drawing/2014/main" val="10002"/>
                  </a:ext>
                </a:extLst>
              </a:tr>
              <a:tr h="370840">
                <a:tc>
                  <a:txBody>
                    <a:bodyPr/>
                    <a:lstStyle/>
                    <a:p>
                      <a:pPr indent="0" algn="ctr"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帧率</a:t>
                      </a:r>
                    </a:p>
                  </a:txBody>
                  <a:tcPr anchor="ctr"/>
                </a:tc>
                <a:tc>
                  <a:txBody>
                    <a:bodyPr/>
                    <a:lstStyle/>
                    <a:p>
                      <a:pPr indent="0"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单位时间内能够拍摄的图像数量</a:t>
                      </a:r>
                    </a:p>
                  </a:txBody>
                  <a:tcPr/>
                </a:tc>
                <a:extLst>
                  <a:ext uri="{0D108BD9-81ED-4DB2-BD59-A6C34878D82A}">
                    <a16:rowId xmlns:a16="http://schemas.microsoft.com/office/drawing/2014/main" val="10003"/>
                  </a:ext>
                </a:extLst>
              </a:tr>
              <a:tr h="370840">
                <a:tc>
                  <a:txBody>
                    <a:bodyPr/>
                    <a:lstStyle/>
                    <a:p>
                      <a:pPr indent="0" algn="ctr"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灵敏度</a:t>
                      </a:r>
                    </a:p>
                  </a:txBody>
                  <a:tcPr anchor="ctr"/>
                </a:tc>
                <a:tc>
                  <a:txBody>
                    <a:bodyPr/>
                    <a:lstStyle/>
                    <a:p>
                      <a:pPr indent="0"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高灵敏度意味着可以在光照较暗或曝光时间较短的情况下得到清晰的图像</a:t>
                      </a:r>
                    </a:p>
                  </a:txBody>
                  <a:tcPr/>
                </a:tc>
                <a:extLst>
                  <a:ext uri="{0D108BD9-81ED-4DB2-BD59-A6C34878D82A}">
                    <a16:rowId xmlns:a16="http://schemas.microsoft.com/office/drawing/2014/main" val="10004"/>
                  </a:ext>
                </a:extLst>
              </a:tr>
              <a:tr h="370840">
                <a:tc>
                  <a:txBody>
                    <a:bodyPr/>
                    <a:lstStyle/>
                    <a:p>
                      <a:pPr indent="0" algn="ctr"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光谱响应</a:t>
                      </a:r>
                    </a:p>
                  </a:txBody>
                  <a:tcPr anchor="ctr"/>
                </a:tc>
                <a:tc>
                  <a:txBody>
                    <a:bodyPr/>
                    <a:lstStyle/>
                    <a:p>
                      <a:pPr indent="0"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图像传感器输出电信号大小与入射光波长的关系，反映了传感器对不同波长入射光的响应能力</a:t>
                      </a:r>
                    </a:p>
                  </a:txBody>
                  <a:tcPr/>
                </a:tc>
                <a:extLst>
                  <a:ext uri="{0D108BD9-81ED-4DB2-BD59-A6C34878D82A}">
                    <a16:rowId xmlns:a16="http://schemas.microsoft.com/office/drawing/2014/main" val="10005"/>
                  </a:ext>
                </a:extLst>
              </a:tr>
              <a:tr h="370840">
                <a:tc>
                  <a:txBody>
                    <a:bodyPr/>
                    <a:lstStyle/>
                    <a:p>
                      <a:pPr indent="0" algn="ctr"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动态范围</a:t>
                      </a:r>
                    </a:p>
                  </a:txBody>
                  <a:tcPr anchor="ctr"/>
                </a:tc>
                <a:tc>
                  <a:txBody>
                    <a:bodyPr/>
                    <a:lstStyle/>
                    <a:p>
                      <a:pPr indent="0"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由图像传感器的信号处理能力和噪声决定，反映了图像传感器所能接收的入射光强的范围</a:t>
                      </a:r>
                    </a:p>
                  </a:txBody>
                  <a:tcPr/>
                </a:tc>
                <a:extLst>
                  <a:ext uri="{0D108BD9-81ED-4DB2-BD59-A6C34878D82A}">
                    <a16:rowId xmlns:a16="http://schemas.microsoft.com/office/drawing/2014/main" val="10006"/>
                  </a:ext>
                </a:extLst>
              </a:tr>
              <a:tr h="370840">
                <a:tc>
                  <a:txBody>
                    <a:bodyPr/>
                    <a:lstStyle/>
                    <a:p>
                      <a:pPr indent="0" algn="ctr"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信噪比</a:t>
                      </a:r>
                    </a:p>
                  </a:txBody>
                  <a:tcPr anchor="ctr"/>
                </a:tc>
                <a:tc>
                  <a:txBody>
                    <a:bodyPr/>
                    <a:lstStyle/>
                    <a:p>
                      <a:pPr indent="0"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信噪比越大说明对噪声的控制越好，图像越清晰。</a:t>
                      </a:r>
                    </a:p>
                  </a:txBody>
                  <a:tcPr/>
                </a:tc>
                <a:extLst>
                  <a:ext uri="{0D108BD9-81ED-4DB2-BD59-A6C34878D82A}">
                    <a16:rowId xmlns:a16="http://schemas.microsoft.com/office/drawing/2014/main" val="10007"/>
                  </a:ext>
                </a:extLst>
              </a:tr>
              <a:tr h="370840">
                <a:tc>
                  <a:txBody>
                    <a:bodyPr/>
                    <a:lstStyle/>
                    <a:p>
                      <a:pPr indent="0" algn="ctr"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噪声</a:t>
                      </a:r>
                    </a:p>
                  </a:txBody>
                  <a:tcPr anchor="ctr"/>
                </a:tc>
                <a:tc>
                  <a:txBody>
                    <a:bodyPr/>
                    <a:lstStyle/>
                    <a:p>
                      <a:pPr indent="0"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噪声是影响图像传感器性能的首要因素，包括散粒噪声、暗电流噪声和热噪声。</a:t>
                      </a:r>
                    </a:p>
                  </a:txBody>
                  <a:tcPr/>
                </a:tc>
                <a:extLst>
                  <a:ext uri="{0D108BD9-81ED-4DB2-BD59-A6C34878D82A}">
                    <a16:rowId xmlns:a16="http://schemas.microsoft.com/office/drawing/2014/main" val="10008"/>
                  </a:ext>
                </a:extLst>
              </a:tr>
              <a:tr h="370840">
                <a:tc>
                  <a:txBody>
                    <a:bodyPr/>
                    <a:lstStyle/>
                    <a:p>
                      <a:pPr indent="0" algn="ctr"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暗电流</a:t>
                      </a:r>
                    </a:p>
                  </a:txBody>
                  <a:tcPr anchor="ctr"/>
                </a:tc>
                <a:tc>
                  <a:txBody>
                    <a:bodyPr/>
                    <a:lstStyle/>
                    <a:p>
                      <a:pPr indent="0" fontAlgn="auto">
                        <a:lnSpc>
                          <a:spcPct val="125000"/>
                        </a:lnSpc>
                      </a:pPr>
                      <a:r>
                        <a:rPr lang="zh-CN" altLang="zh-CN" sz="1600" kern="1200" dirty="0">
                          <a:solidFill>
                            <a:schemeClr val="dk1"/>
                          </a:solidFill>
                          <a:effectLst/>
                          <a:latin typeface="微软雅黑" panose="020B0503020204020204" pitchFamily="34" charset="-122"/>
                          <a:ea typeface="微软雅黑" panose="020B0503020204020204" pitchFamily="34" charset="-122"/>
                          <a:cs typeface="+mn-cs"/>
                        </a:rPr>
                        <a:t>没有光照时像素单元也会产生电荷，这些电荷产生的电流称为暗电流。</a:t>
                      </a:r>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光的特性及光电系统基础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54</a:t>
            </a:fld>
            <a:endParaRPr kumimoji="1" lang="zh-CN" altLang="en-US"/>
          </a:p>
        </p:txBody>
      </p:sp>
      <p:sp>
        <p:nvSpPr>
          <p:cNvPr id="3" name="矩形 2"/>
          <p:cNvSpPr/>
          <p:nvPr/>
        </p:nvSpPr>
        <p:spPr>
          <a:xfrm>
            <a:off x="600710" y="1405255"/>
            <a:ext cx="10728960" cy="4384675"/>
          </a:xfrm>
          <a:prstGeom prst="rect">
            <a:avLst/>
          </a:prstGeom>
        </p:spPr>
        <p:txBody>
          <a:bodyPr wrap="square">
            <a:spAutoFit/>
          </a:bodyPr>
          <a:lstStyle/>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CCD</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CMOS</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的性能差异</a:t>
            </a:r>
          </a:p>
          <a:p>
            <a:pPr marL="742950" lvl="1" indent="-285750" algn="just">
              <a:lnSpc>
                <a:spcPct val="150000"/>
              </a:lnSpc>
              <a:buFont typeface="Arial" panose="020B0604020202020204" pitchFamily="34" charset="0"/>
              <a:buChar char="•"/>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CCD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传感器的图像质量、灵敏度和分辨率要优于</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CMOS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传感器</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gn="just">
              <a:lnSpc>
                <a:spcPct val="150000"/>
              </a:lnSpc>
              <a:buFont typeface="Arial" panose="020B0604020202020204" pitchFamily="34" charset="0"/>
              <a:buChar char="•"/>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CCD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制造工艺复杂、成本相对较高，而且</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CCD</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需外加电源、功耗也相对较高</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gn="just">
              <a:lnSpc>
                <a:spcPct val="150000"/>
              </a:lnSpc>
              <a:buFont typeface="Arial" panose="020B0604020202020204" pitchFamily="34" charset="0"/>
              <a:buChar char="•"/>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CMOS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传感器的响应速度较快，可以更好地捕捉瞬变信号，并具有功耗低、集成度高、价格低廉、体积小、可靠性高和使用方便等优点，已成为各种用途相机、摄像机首选的图像传感器。</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lnSpc>
                <a:spcPct val="150000"/>
              </a:lnSpc>
              <a:spcAft>
                <a:spcPts val="0"/>
              </a:spcAft>
            </a:pP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Bef>
                <a:spcPts val="600"/>
              </a:spcBef>
              <a:spcAft>
                <a:spcPts val="60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）图像传感器的应用</a:t>
            </a:r>
          </a:p>
          <a:p>
            <a:pPr lvl="1" indent="304800" algn="just">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图像传感器是图像、视频采集的关键器件，随着图像处理、人工智能和机器视觉等技术的发展，图像传感器在</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航空航天、目标识别、无人驾驶</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和</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水下成像、</a:t>
            </a:r>
            <a:r>
              <a:rPr lang="en-US"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VR</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等等领域得到了广泛的应用。几乎呈现出“无处不在”、“无时不在”的态势。</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en-US" altLang="zh-CN" b="1" dirty="0">
                <a:solidFill>
                  <a:srgbClr val="002060"/>
                </a:solidFill>
              </a:rPr>
              <a:t>2.3.2  </a:t>
            </a:r>
            <a:r>
              <a:rPr lang="zh-CN" altLang="en-US" b="1" dirty="0">
                <a:solidFill>
                  <a:srgbClr val="002060"/>
                </a:solidFill>
              </a:rPr>
              <a:t>光电探测器</a:t>
            </a:r>
          </a:p>
        </p:txBody>
      </p:sp>
      <p:sp>
        <p:nvSpPr>
          <p:cNvPr id="2" name="矩形 1"/>
          <p:cNvSpPr/>
          <p:nvPr/>
        </p:nvSpPr>
        <p:spPr>
          <a:xfrm>
            <a:off x="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2.3  </a:t>
            </a:r>
            <a:r>
              <a:rPr lang="zh-CN" altLang="en-US" sz="1600" dirty="0">
                <a:solidFill>
                  <a:srgbClr val="002060"/>
                </a:solidFill>
                <a:latin typeface="微软雅黑" panose="020B0503020204020204" pitchFamily="34" charset="-122"/>
                <a:ea typeface="微软雅黑" panose="020B0503020204020204" pitchFamily="34" charset="-122"/>
              </a:rPr>
              <a:t>光电系统基础</a:t>
            </a:r>
            <a:endParaRPr lang="zh-CN" altLang="en-US" sz="1600" dirty="0">
              <a:solidFill>
                <a:srgbClr val="002060"/>
              </a:solidFill>
            </a:endParaRPr>
          </a:p>
        </p:txBody>
      </p:sp>
      <p:sp>
        <p:nvSpPr>
          <p:cNvPr id="4" name="内容占位符 3"/>
          <p:cNvSpPr txBox="1"/>
          <p:nvPr/>
        </p:nvSpPr>
        <p:spPr>
          <a:xfrm>
            <a:off x="-3938" y="13970"/>
            <a:ext cx="3126110"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章  光电特性及光电系统基础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t>55</a:t>
            </a:fld>
            <a:endParaRPr kumimoji="1" lang="zh-CN" altLang="en-US"/>
          </a:p>
        </p:txBody>
      </p:sp>
      <p:sp>
        <p:nvSpPr>
          <p:cNvPr id="8" name="矩形 7"/>
          <p:cNvSpPr/>
          <p:nvPr/>
        </p:nvSpPr>
        <p:spPr>
          <a:xfrm>
            <a:off x="467076" y="1195750"/>
            <a:ext cx="1503680" cy="398780"/>
          </a:xfrm>
          <a:prstGeom prst="rect">
            <a:avLst/>
          </a:prstGeom>
        </p:spPr>
        <p:txBody>
          <a:bodyPr wrap="none">
            <a:spAutoFit/>
          </a:bodyPr>
          <a:lstStyle/>
          <a:p>
            <a:r>
              <a:rPr lang="en-US" altLang="zh-CN"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5. </a:t>
            </a:r>
            <a:r>
              <a:rPr lang="zh-CN" altLang="en-US" sz="20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热探测器</a:t>
            </a:r>
            <a:endParaRPr lang="zh-CN" altLang="en-US" sz="2000" dirty="0">
              <a:solidFill>
                <a:srgbClr val="002060"/>
              </a:solidFill>
              <a:latin typeface="微软雅黑" panose="020B0503020204020204" pitchFamily="34" charset="-122"/>
              <a:ea typeface="微软雅黑" panose="020B0503020204020204" pitchFamily="34" charset="-122"/>
            </a:endParaRPr>
          </a:p>
        </p:txBody>
      </p:sp>
      <p:sp>
        <p:nvSpPr>
          <p:cNvPr id="3" name="矩形 2"/>
          <p:cNvSpPr/>
          <p:nvPr/>
        </p:nvSpPr>
        <p:spPr>
          <a:xfrm>
            <a:off x="857318" y="1700467"/>
            <a:ext cx="10352834" cy="4046220"/>
          </a:xfrm>
          <a:prstGeom prst="rect">
            <a:avLst/>
          </a:prstGeom>
        </p:spPr>
        <p:txBody>
          <a:bodyPr wrap="square">
            <a:spAutoFit/>
          </a:bodyPr>
          <a:lstStyle/>
          <a:p>
            <a:pPr algn="just">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常用的热探测器有</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热敏电阻</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热电偶</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和</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热（释）电探测器</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等。</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indent="0" algn="just" fontAlgn="auto">
              <a:lnSpc>
                <a:spcPct val="100000"/>
              </a:lnSpc>
            </a:pP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pPr>
            <a:r>
              <a:rPr lang="zh-CN" altLang="en-US"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特点</a:t>
            </a:r>
            <a:endPar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具有平坦的光谱响应特性，它仅与辐射能量有关而与波长无关、响应速度较慢。</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fontAlgn="base">
              <a:lnSpc>
                <a:spcPct val="150000"/>
              </a:lnSpc>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工作原理</a:t>
            </a:r>
            <a:endPar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fontAlgn="base">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电阻的温度效应，即辐射引起电阻率变化，热敏电阻有金属热敏电阻和半导体热敏电阻。半导体热敏电阻是由负电阻温度系数的金属氧化物制成，常用锰、镍、钴三种金属氧化物，其电阻随温度的升高而呈指数增大。金属热敏电阻是由具有正温度系数的金属制成，最常用的金属是铂。</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fontAlgn="base">
              <a:lnSpc>
                <a:spcPct val="150000"/>
              </a:lnSpc>
              <a:spcAft>
                <a:spcPts val="0"/>
              </a:spcAft>
            </a:pPr>
            <a:r>
              <a:rPr lang="zh-CN"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用途</a:t>
            </a:r>
            <a:endParaRPr lang="en-US" altLang="zh-CN"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fontAlgn="base">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研制温度传感器。热电偶和热（释）电探测器在海洋中极少使用，因此不作介绍。</a:t>
            </a:r>
            <a:endPar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4398429" y="1970314"/>
            <a:ext cx="6334125" cy="3429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spcBef>
                <a:spcPts val="600"/>
              </a:spcBef>
              <a:defRPr/>
            </a:pPr>
            <a:r>
              <a:rPr lang="zh-CN" altLang="en-US" sz="6600" b="1" dirty="0">
                <a:gradFill>
                  <a:gsLst>
                    <a:gs pos="0">
                      <a:srgbClr val="012D86"/>
                    </a:gs>
                    <a:gs pos="100000">
                      <a:srgbClr val="0E2557"/>
                    </a:gs>
                  </a:gsLst>
                  <a:lin scaled="0"/>
                </a:gradFill>
              </a:rPr>
              <a:t>谢 谢！</a:t>
            </a:r>
            <a:br>
              <a:rPr lang="en-US" altLang="zh-CN" dirty="0">
                <a:gradFill>
                  <a:gsLst>
                    <a:gs pos="0">
                      <a:srgbClr val="012D86"/>
                    </a:gs>
                    <a:gs pos="100000">
                      <a:srgbClr val="0E2557"/>
                    </a:gs>
                  </a:gsLst>
                  <a:lin scaled="0"/>
                </a:gradFill>
              </a:rPr>
            </a:br>
            <a:endParaRPr lang="en-US" altLang="zh-CN" dirty="0">
              <a:gradFill>
                <a:gsLst>
                  <a:gs pos="0">
                    <a:srgbClr val="012D86"/>
                  </a:gs>
                  <a:gs pos="100000">
                    <a:srgbClr val="0E2557"/>
                  </a:gs>
                </a:gsLst>
                <a:lin scaled="0"/>
              </a:gradFill>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t>56</a:t>
            </a:fld>
            <a:endParaRPr kumimoji="1"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493e2680-5c48-4766-8d92-b0cbf666fc85"/>
  <p:tag name="COMMONDATA" val="eyJoZGlkIjoiNjAxMzZkNjFiYzY0ZjVlYTliMzkwNjk3ZmNiNzgzYTA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3.69149606299214,&quot;left&quot;:122.76503937007874,&quot;top&quot;:135.3307874015748,&quot;width&quot;:799.56803149606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3.69149606299214,&quot;left&quot;:122.76503937007874,&quot;top&quot;:135.3307874015748,&quot;width&quot;:799.56803149606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3.69149606299214,&quot;left&quot;:122.76503937007874,&quot;top&quot;:135.3307874015748,&quot;width&quot;:799.56803149606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3.69149606299214,&quot;left&quot;:122.76503937007874,&quot;top&quot;:135.3307874015748,&quot;width&quot;:799.56803149606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3.69149606299214,&quot;left&quot;:122.76503937007874,&quot;top&quot;:135.3307874015748,&quot;width&quot;:799.56803149606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3.69149606299214,&quot;left&quot;:122.76503937007874,&quot;top&quot;:135.3307874015748,&quot;width&quot;:799.56803149606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3.69149606299214,&quot;left&quot;:122.76503937007874,&quot;top&quot;:135.3307874015748,&quot;width&quot;:799.56803149606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3.69149606299214,&quot;left&quot;:122.76503937007874,&quot;top&quot;:135.3307874015748,&quot;width&quot;:799.568031496063}"/>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826*255"/>
  <p:tag name="TABLE_ENDDRAG_RECT" val="98*200*826*255"/>
</p:tagLst>
</file>

<file path=ppt/tags/tag11.xml><?xml version="1.0" encoding="utf-8"?>
<p:tagLst xmlns:a="http://schemas.openxmlformats.org/drawingml/2006/main" xmlns:r="http://schemas.openxmlformats.org/officeDocument/2006/relationships" xmlns:p="http://schemas.openxmlformats.org/presentationml/2006/main">
  <p:tag name="TABLE_ENDDRAG_ORIGIN_RECT" val="725*347"/>
  <p:tag name="TABLE_ENDDRAG_RECT" val="117*132*725*347"/>
</p:tagLst>
</file>

<file path=ppt/tags/tag12.xml><?xml version="1.0" encoding="utf-8"?>
<p:tagLst xmlns:a="http://schemas.openxmlformats.org/drawingml/2006/main" xmlns:r="http://schemas.openxmlformats.org/officeDocument/2006/relationships" xmlns:p="http://schemas.openxmlformats.org/presentationml/2006/main">
  <p:tag name="TABLE_ENDDRAG_ORIGIN_RECT" val="806*342"/>
  <p:tag name="TABLE_ENDDRAG_RECT" val="87*133*806*34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7729</Words>
  <Application>Microsoft Office PowerPoint</Application>
  <PresentationFormat>宽屏</PresentationFormat>
  <Paragraphs>669</Paragraphs>
  <Slides>57</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4</vt:i4>
      </vt:variant>
      <vt:variant>
        <vt:lpstr>幻灯片标题</vt:lpstr>
      </vt:variant>
      <vt:variant>
        <vt:i4>57</vt:i4>
      </vt:variant>
    </vt:vector>
  </HeadingPairs>
  <TitlesOfParts>
    <vt:vector size="70" baseType="lpstr">
      <vt:lpstr>等线</vt:lpstr>
      <vt:lpstr>宋体</vt:lpstr>
      <vt:lpstr>微软雅黑</vt:lpstr>
      <vt:lpstr>Arial</vt:lpstr>
      <vt:lpstr>Calibri</vt:lpstr>
      <vt:lpstr>Cambria Math</vt:lpstr>
      <vt:lpstr>Times New Roman</vt:lpstr>
      <vt:lpstr>Wingdings</vt:lpstr>
      <vt:lpstr>Office 主题​​</vt:lpstr>
      <vt:lpstr>BMP 图像</vt:lpstr>
      <vt:lpstr>Equation</vt:lpstr>
      <vt:lpstr>MathType 7.0 Equation</vt:lpstr>
      <vt:lpstr>AxMath</vt:lpstr>
      <vt:lpstr>PowerPoint 演示文稿</vt:lpstr>
      <vt:lpstr>第2章  概述</vt:lpstr>
      <vt:lpstr>PowerPoint 演示文稿</vt:lpstr>
      <vt:lpstr>2.1.1  光的电磁理论基础</vt:lpstr>
      <vt:lpstr>2.1.1  光的电磁理论基础</vt:lpstr>
      <vt:lpstr>2.1.1  光的电磁理论基础</vt:lpstr>
      <vt:lpstr>2.1.2  反射与折射</vt:lpstr>
      <vt:lpstr>2.1.2  反射与折射</vt:lpstr>
      <vt:lpstr>2.1.2  反射与折射</vt:lpstr>
      <vt:lpstr>2.1.2  反射与折射</vt:lpstr>
      <vt:lpstr>2.1.3  干涉与衍射</vt:lpstr>
      <vt:lpstr>2.1.3  干涉与衍射</vt:lpstr>
      <vt:lpstr>2.1.3  干涉与衍射</vt:lpstr>
      <vt:lpstr>2.1.3  干涉与衍射</vt:lpstr>
      <vt:lpstr>2.1.3  干涉与衍射</vt:lpstr>
      <vt:lpstr>2.1.3  干涉与衍射</vt:lpstr>
      <vt:lpstr>2.1.3  干涉与衍射</vt:lpstr>
      <vt:lpstr>2.1.4  光的偏振</vt:lpstr>
      <vt:lpstr>2.1.4  光的偏振</vt:lpstr>
      <vt:lpstr>2.1.4  光的偏振</vt:lpstr>
      <vt:lpstr>2.1.4  光的偏振</vt:lpstr>
      <vt:lpstr>2.1.4  光的偏振</vt:lpstr>
      <vt:lpstr>2.1.4  光的偏振</vt:lpstr>
      <vt:lpstr>PowerPoint 演示文稿</vt:lpstr>
      <vt:lpstr>2.2.1  海水主要成分</vt:lpstr>
      <vt:lpstr>2.2.1  海水主要成分</vt:lpstr>
      <vt:lpstr>2.2.2  海水的光学特性</vt:lpstr>
      <vt:lpstr>2.2.2  海水的光学特性</vt:lpstr>
      <vt:lpstr>2.2.2  海水的光学特性</vt:lpstr>
      <vt:lpstr>2.2.2  海水的光学特性</vt:lpstr>
      <vt:lpstr>2.2.3  海水的传输特性</vt:lpstr>
      <vt:lpstr>PowerPoint 演示文稿</vt:lpstr>
      <vt:lpstr>2.3.1  光源</vt:lpstr>
      <vt:lpstr>2.3.1  光源</vt:lpstr>
      <vt:lpstr>2.3.1  光源</vt:lpstr>
      <vt:lpstr>2.3.1  光源</vt:lpstr>
      <vt:lpstr>2.3.1  光源</vt:lpstr>
      <vt:lpstr>2.3.1  光源</vt:lpstr>
      <vt:lpstr>2.3.1  光源</vt:lpstr>
      <vt:lpstr>2.3.1  光源</vt:lpstr>
      <vt:lpstr>2.3.1  光源</vt:lpstr>
      <vt:lpstr>2.3.1  光源</vt:lpstr>
      <vt:lpstr>2.3.2  光电探测器</vt:lpstr>
      <vt:lpstr>2.3.2  光电探测器</vt:lpstr>
      <vt:lpstr>2.3.2  光电探测器</vt:lpstr>
      <vt:lpstr>2.3.2  光电探测器</vt:lpstr>
      <vt:lpstr>2.3.2  光电探测器</vt:lpstr>
      <vt:lpstr>2.3.2  光电探测器</vt:lpstr>
      <vt:lpstr>2.3.2  光电探测器</vt:lpstr>
      <vt:lpstr>2.3.2  光电探测器</vt:lpstr>
      <vt:lpstr>2.3.2  光电探测器</vt:lpstr>
      <vt:lpstr>2.3.2  光电探测器</vt:lpstr>
      <vt:lpstr>2.3.2  光电探测器</vt:lpstr>
      <vt:lpstr>2.3.2  光电探测器</vt:lpstr>
      <vt:lpstr>2.3.2  光电探测器</vt:lpstr>
      <vt:lpstr>2.3.2  光电探测器</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重大研发项目构想</dc:title>
  <dc:creator>Mengmeng Tong</dc:creator>
  <cp:lastModifiedBy>Zejun Zhang</cp:lastModifiedBy>
  <cp:revision>220</cp:revision>
  <dcterms:created xsi:type="dcterms:W3CDTF">2020-04-09T12:05:00Z</dcterms:created>
  <dcterms:modified xsi:type="dcterms:W3CDTF">2025-07-16T02:27:39Z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18EB5994D66841669FA959F92D8A5122_13</vt:lpwstr>
  </property>
</Properties>
</file>