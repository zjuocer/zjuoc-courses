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46104a1bd9c46c26bbeff6e22b2979f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7840" y="610235"/>
            <a:ext cx="3698240" cy="20808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52522" y="2691325"/>
            <a:ext cx="3829434" cy="645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/>
              <a:t>China's iron ore import volume and its proportion of the global total import volume from 2002 to 2023</a:t>
            </a:r>
            <a:endParaRPr lang="en-US" altLang="zh-CN" sz="1200" b="1" dirty="0"/>
          </a:p>
          <a:p>
            <a:pPr algn="ctr"/>
            <a:r>
              <a:rPr lang="en-US" altLang="zh-CN" sz="1200" dirty="0"/>
              <a:t>Source: </a:t>
            </a:r>
            <a:r>
              <a:rPr lang="en-US" altLang="zh-CN" sz="1200" dirty="0">
                <a:cs typeface="+mn-lt"/>
              </a:rPr>
              <a:t>China Iron&amp;Steel Association</a:t>
            </a:r>
            <a:endParaRPr lang="en-US" altLang="zh-CN" sz="1200" dirty="0">
              <a:cs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405" y="3677285"/>
            <a:ext cx="4936490" cy="19500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468745" y="5740400"/>
            <a:ext cx="5591175" cy="460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/>
              <a:t>China's crude oil import volume from 2013 to 2024</a:t>
            </a:r>
            <a:endParaRPr lang="en-US" altLang="zh-CN" sz="1200" b="1" dirty="0"/>
          </a:p>
          <a:p>
            <a:pPr algn="ctr"/>
            <a:r>
              <a:rPr lang="en-US" altLang="zh-CN" sz="1200" dirty="0"/>
              <a:t>Source: </a:t>
            </a:r>
            <a:r>
              <a:rPr lang="en-US" altLang="zh-CN" sz="1200" dirty="0">
                <a:cs typeface="+mn-lt"/>
              </a:rPr>
              <a:t>WWW.CEICDATA.COM | Organization of the Petroleum Exporting Countries</a:t>
            </a:r>
            <a:endParaRPr lang="en-US" altLang="zh-CN" sz="1200" dirty="0">
              <a:cs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5625" y="438468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4000">
                <a:latin typeface="等线 Light" panose="02010600030101010101" charset="-122"/>
                <a:ea typeface="等线 Light" panose="02010600030101010101" charset="-122"/>
              </a:rPr>
              <a:t>Research Background</a:t>
            </a:r>
            <a:endParaRPr lang="en-US" altLang="zh-CN" sz="4000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4810" y="1276985"/>
            <a:ext cx="7433310" cy="1960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1.The Strategic Importance of Energy and Resources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Energy security is an integral component of national security, serving as the foundational safeguard for a nation's economic and social development.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As the world's second-largest economy, China is at a critical juncture of industrialization and urbanization, making stable and cost-effective resource supplies vital to its long-term development.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4810" y="3855085"/>
            <a:ext cx="5918200" cy="2293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2.Rising External Dependency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Iron Ore: 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China is the world's largest steel producer, with import volumes reaching a historical peak of 1.17 billion tons in 2020.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Crude Oil: 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China is the world’s largest oil importer, with foreign dependency consistently hovering above 70% and projected to exceed 75% by 2030.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555625" y="438468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4000">
                <a:latin typeface="等线 Light" panose="02010600030101010101" charset="-122"/>
                <a:ea typeface="等线 Light" panose="02010600030101010101" charset="-122"/>
              </a:rPr>
              <a:t>Research Motivation</a:t>
            </a:r>
            <a:endParaRPr lang="en-US" altLang="zh-CN" sz="4000"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2338"/>
          <a:stretch>
            <a:fillRect/>
          </a:stretch>
        </p:blipFill>
        <p:spPr>
          <a:xfrm>
            <a:off x="5884545" y="685165"/>
            <a:ext cx="6107430" cy="22288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23187" y="3165035"/>
            <a:ext cx="3829434" cy="460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ym typeface="+mn-ea"/>
              </a:rPr>
              <a:t>Critical Maritime Trade Chokepoints</a:t>
            </a:r>
            <a:endParaRPr lang="en-US" altLang="zh-CN" sz="1200" b="1" dirty="0">
              <a:sym typeface="+mn-ea"/>
            </a:endParaRPr>
          </a:p>
          <a:p>
            <a:pPr algn="ctr"/>
            <a:r>
              <a:rPr lang="en-US" altLang="zh-CN" sz="1200" dirty="0"/>
              <a:t>Source: </a:t>
            </a:r>
            <a:r>
              <a:rPr lang="en-US" altLang="zh-CN" sz="1200" dirty="0">
                <a:cs typeface="+mn-lt"/>
              </a:rPr>
              <a:t>info.oceania.kln.com</a:t>
            </a:r>
            <a:endParaRPr lang="en-US" altLang="zh-CN" sz="1200" dirty="0"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575" y="1145540"/>
            <a:ext cx="5777230" cy="247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1.Addressing "Dual Dependence" Vulnerability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High Concentration: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 Iron ore sourcing is dominated by Australia and Brazil (~90%) , while oil relies heavily on the Middle East and Russia.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Transit Chokepoints: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 80% of oil imports pass through the Strait of Malacca , creating a critical "transit dependence".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5575" y="3876040"/>
            <a:ext cx="5407660" cy="2406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2.Mitigating Geopolitical and Security Risks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Global Volatility: 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Conflict in Ukraine and Middle East tensions (e.g., U.S.-Iran) destabilize resource supply chains.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Maritime Threats: 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Key lanes face risks from major-power rivalry , piracy in the Somali basin , and shipping accidents.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25160" y="3876040"/>
            <a:ext cx="6210935" cy="2317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3.Strategic Diversification &amp; Innovation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The "Malacca Dilemma": 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An urgent need to break the reliance on a single, vulnerable corridor.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New Strategic Corridors:</a:t>
            </a:r>
            <a:r>
              <a:rPr lang="en-US" altLang="zh-CN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 Evaluating the potential of the China-Pakistan Economic Corridor (CPEC) and the Arctic Sea Route to enhance resilience and reduce costs.</a:t>
            </a:r>
            <a:endParaRPr lang="en-US" altLang="zh-CN" sz="20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1936</Words>
  <Application>WPS 演示</Application>
  <PresentationFormat>宽屏</PresentationFormat>
  <Paragraphs>33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等线 Light</vt:lpstr>
      <vt:lpstr>等线</vt:lpstr>
      <vt:lpstr>Calibri</vt:lpstr>
      <vt:lpstr>微软雅黑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吴蕴然</cp:lastModifiedBy>
  <cp:revision>9</cp:revision>
  <dcterms:created xsi:type="dcterms:W3CDTF">2023-08-09T12:44:00Z</dcterms:created>
  <dcterms:modified xsi:type="dcterms:W3CDTF">2026-04-08T11:58:55Z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F54D93CDCB7548B6A54C6C7A69370931_12</vt:lpwstr>
  </property>
</Properties>
</file>