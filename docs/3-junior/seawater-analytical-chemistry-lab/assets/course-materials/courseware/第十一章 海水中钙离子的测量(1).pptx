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68" r:id="rId2"/>
    <p:sldId id="364" r:id="rId3"/>
    <p:sldId id="427" r:id="rId4"/>
    <p:sldId id="428" r:id="rId5"/>
    <p:sldId id="368" r:id="rId6"/>
    <p:sldId id="430" r:id="rId7"/>
    <p:sldId id="369" r:id="rId8"/>
    <p:sldId id="322" r:id="rId9"/>
    <p:sldId id="543" r:id="rId10"/>
    <p:sldId id="526" r:id="rId11"/>
    <p:sldId id="536" r:id="rId12"/>
    <p:sldId id="527" r:id="rId13"/>
    <p:sldId id="538" r:id="rId14"/>
    <p:sldId id="539" r:id="rId15"/>
    <p:sldId id="545" r:id="rId16"/>
    <p:sldId id="546" r:id="rId17"/>
    <p:sldId id="541" r:id="rId18"/>
    <p:sldId id="544" r:id="rId19"/>
    <p:sldId id="542" r:id="rId20"/>
    <p:sldId id="531" r:id="rId21"/>
    <p:sldId id="529" r:id="rId22"/>
    <p:sldId id="532" r:id="rId23"/>
    <p:sldId id="533" r:id="rId24"/>
    <p:sldId id="534" r:id="rId25"/>
    <p:sldId id="535" r:id="rId26"/>
    <p:sldId id="537" r:id="rId2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172" autoAdjust="0"/>
    <p:restoredTop sz="94477" autoAdjust="0"/>
  </p:normalViewPr>
  <p:slideViewPr>
    <p:cSldViewPr>
      <p:cViewPr varScale="1">
        <p:scale>
          <a:sx n="104" d="100"/>
          <a:sy n="104" d="100"/>
        </p:scale>
        <p:origin x="2346"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4C2AD-C9B0-406F-8123-A0E121BD4683}" type="datetimeFigureOut">
              <a:rPr lang="zh-CN" altLang="en-US" smtClean="0"/>
              <a:pPr/>
              <a:t>2020/12/27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D5C9DF-7B2A-45F8-A4B2-C2901DB614D7}" type="slidenum">
              <a:rPr lang="zh-CN" altLang="en-US" smtClean="0"/>
              <a:pPr/>
              <a:t>‹#›</a:t>
            </a:fld>
            <a:endParaRPr lang="zh-CN" altLang="en-US"/>
          </a:p>
        </p:txBody>
      </p:sp>
    </p:spTree>
    <p:extLst>
      <p:ext uri="{BB962C8B-B14F-4D97-AF65-F5344CB8AC3E}">
        <p14:creationId xmlns:p14="http://schemas.microsoft.com/office/powerpoint/2010/main" val="1501093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zh-CN"/>
          </a:p>
        </p:txBody>
      </p:sp>
      <p:sp>
        <p:nvSpPr>
          <p:cNvPr id="4" name="Rectangle 3"/>
          <p:cNvSpPr>
            <a:spLocks noGrp="1"/>
          </p:cNvSpPr>
          <p:nvPr>
            <p:ph type="sldNum" sz="quarter" idx="10"/>
          </p:nvPr>
        </p:nvSpPr>
        <p:spPr/>
        <p:txBody>
          <a:bodyPr/>
          <a:lstStyle/>
          <a:p>
            <a:fld id="{CA5D3BF3-D352-46FC-8343-31F56E6730EA}" type="slidenum">
              <a:rPr lang="en-US" altLang="zh-CN" smtClean="0"/>
              <a:pPr/>
              <a:t>1</a:t>
            </a:fld>
            <a:endParaRPr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lvl1pPr>
              <a:defRPr>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94D163F-C9B0-4A35-98DC-3A4DEFF7EC3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95955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mj-lt"/>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sz="2800">
                <a:latin typeface="+mj-lt"/>
              </a:defRPr>
            </a:lvl1pPr>
            <a:lvl2pPr>
              <a:defRPr sz="2400">
                <a:latin typeface="+mj-lt"/>
              </a:defRPr>
            </a:lvl2pPr>
            <a:lvl3pPr>
              <a:defRPr sz="2000">
                <a:latin typeface="+mj-lt"/>
              </a:defRPr>
            </a:lvl3pPr>
            <a:lvl4pPr>
              <a:defRPr>
                <a:latin typeface="+mj-lt"/>
              </a:defRPr>
            </a:lvl4pPr>
            <a:lvl5pPr>
              <a:defRPr>
                <a:latin typeface="+mj-l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47D8075-E72B-4BF6-9481-6760148A8FB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54219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457C1C9-6B1A-4E8D-80D9-1F406FED743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6852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mj-lt"/>
              </a:defRPr>
            </a:lvl1p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EC21727-E14B-4214-A96B-5D5149B9EB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78907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EA1E3A4-CA4C-4B0F-B7EE-93652856C6C1}"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1903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Arial" pitchFamily="34" charset="0"/>
                <a:cs typeface="Arial" pitchFamily="34" charset="0"/>
              </a:defRPr>
            </a:lvl1pPr>
          </a:lstStyle>
          <a:p>
            <a:r>
              <a:rPr lang="zh-CN" altLang="en-US" dirty="0"/>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38CECA82-AB81-42B0-A316-04B221EF0F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51880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0B41B4E-1D51-4764-BB26-0A928DDC693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66309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70AD128-FF11-46E7-83AD-EE5A40B3154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2287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A050332-BC1C-4A8B-973F-88E43E2277C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26207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017FBC4-3B96-4753-85AE-096B9B71EBC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92845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AFF8586-B1A6-49E8-9A88-F7855FBD37B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35470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pPr eaLnBrk="1" latinLnBrk="0" hangingPunct="1"/>
            <a:r>
              <a:rPr lang="zh-CN" altLang="en-US"/>
              <a:t>单击此处编辑母版标题样式</a:t>
            </a:r>
            <a:endParaRPr/>
          </a:p>
        </p:txBody>
      </p:sp>
      <p:sp>
        <p:nvSpPr>
          <p:cNvPr id="3" name="Rectangle 2"/>
          <p:cNvSpPr>
            <a:spLocks noGrp="1"/>
          </p:cNvSpPr>
          <p:nvPr>
            <p:ph type="dt" sz="half" idx="10"/>
          </p:nvPr>
        </p:nvSpPr>
        <p:spPr/>
        <p:txBody>
          <a:bodyPr/>
          <a:lstStyle/>
          <a:p>
            <a:fld id="{E4606EA6-EFEA-4C30-9264-4F9291A5780D}" type="datetime1">
              <a:rPr lang="zh-CN" altLang="en-US"/>
              <a:pPr/>
              <a:t>2020/12/27</a:t>
            </a:fld>
            <a:endParaRPr kumimoji="0" lang="zh-CN"/>
          </a:p>
        </p:txBody>
      </p:sp>
      <p:sp>
        <p:nvSpPr>
          <p:cNvPr id="4" name="Rectangle 3"/>
          <p:cNvSpPr>
            <a:spLocks noGrp="1"/>
          </p:cNvSpPr>
          <p:nvPr>
            <p:ph type="ftr" sz="quarter" idx="11"/>
          </p:nvPr>
        </p:nvSpPr>
        <p:spPr/>
        <p:txBody>
          <a:bodyPr/>
          <a:lstStyle/>
          <a:p>
            <a:endParaRPr kumimoji="0" lang="zh-CN"/>
          </a:p>
        </p:txBody>
      </p:sp>
      <p:sp>
        <p:nvSpPr>
          <p:cNvPr id="5" name="Rectangle 4"/>
          <p:cNvSpPr>
            <a:spLocks noGrp="1"/>
          </p:cNvSpPr>
          <p:nvPr>
            <p:ph type="sldNum" sz="quarter" idx="12"/>
          </p:nvPr>
        </p:nvSpPr>
        <p:spPr/>
        <p:txBody>
          <a:bodyPr/>
          <a:lstStyle/>
          <a:p>
            <a:pPr algn="ctr"/>
            <a:fld id="{8F82E0A0-C266-4798-8C8F-B9F91E9DA37E}" type="slidenum">
              <a:rPr kumimoji="0" lang="zh-CN" sz="1400" b="1">
                <a:solidFill>
                  <a:srgbClr val="FFFFFF"/>
                </a:solidFill>
              </a:rPr>
              <a:pPr algn="ctr"/>
              <a:t>‹#›</a:t>
            </a:fld>
            <a:endParaRPr kumimoji="0" lang="zh-CN"/>
          </a:p>
        </p:txBody>
      </p:sp>
      <p:sp>
        <p:nvSpPr>
          <p:cNvPr id="7" name="Rectangle 6"/>
          <p:cNvSpPr>
            <a:spLocks noGrp="1"/>
          </p:cNvSpPr>
          <p:nvPr>
            <p:ph sz="quarter" idx="13"/>
          </p:nvPr>
        </p:nvSpPr>
        <p:spPr>
          <a:xfrm>
            <a:off x="609600" y="1803400"/>
            <a:ext cx="8153400" cy="43688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ea typeface="+mn-ea"/>
              </a:defRPr>
            </a:lvl1pPr>
          </a:lstStyle>
          <a:p>
            <a:pPr fontAlgn="base">
              <a:spcBef>
                <a:spcPct val="0"/>
              </a:spcBef>
              <a:spcAft>
                <a:spcPct val="0"/>
              </a:spcAft>
              <a:defRPr/>
            </a:pPr>
            <a:endParaRPr lang="en-US" altLang="zh-CN">
              <a:solidFill>
                <a:srgbClr val="000000"/>
              </a:solidFill>
              <a:latin typeface="Arial"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ea typeface="+mn-ea"/>
              </a:defRPr>
            </a:lvl1pPr>
          </a:lstStyle>
          <a:p>
            <a:pPr fontAlgn="base">
              <a:spcBef>
                <a:spcPct val="0"/>
              </a:spcBef>
              <a:spcAft>
                <a:spcPct val="0"/>
              </a:spcAft>
              <a:defRPr/>
            </a:pPr>
            <a:endParaRPr lang="en-US" altLang="zh-CN">
              <a:solidFill>
                <a:srgbClr val="000000"/>
              </a:solidFill>
              <a:latin typeface="Arial"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ea typeface="+mn-ea"/>
              </a:defRPr>
            </a:lvl1pPr>
          </a:lstStyle>
          <a:p>
            <a:pPr fontAlgn="base">
              <a:spcBef>
                <a:spcPct val="0"/>
              </a:spcBef>
              <a:spcAft>
                <a:spcPct val="0"/>
              </a:spcAft>
              <a:defRPr/>
            </a:pPr>
            <a:fld id="{F9E0FACD-AE8A-4C16-8A1E-FCBCB8577A05}" type="slidenum">
              <a:rPr lang="en-US" altLang="zh-CN">
                <a:solidFill>
                  <a:srgbClr val="000000"/>
                </a:solidFill>
                <a:latin typeface="Arial" charset="0"/>
              </a:rPr>
              <a:pPr fontAlgn="base">
                <a:spcBef>
                  <a:spcPct val="0"/>
                </a:spcBef>
                <a:spcAft>
                  <a:spcPct val="0"/>
                </a:spcAft>
                <a:defRPr/>
              </a:pPr>
              <a:t>‹#›</a:t>
            </a:fld>
            <a:endParaRPr lang="en-US" altLang="zh-CN">
              <a:solidFill>
                <a:srgbClr val="000000"/>
              </a:solidFill>
              <a:latin typeface="Arial" charset="0"/>
            </a:endParaRPr>
          </a:p>
        </p:txBody>
      </p:sp>
      <p:pic>
        <p:nvPicPr>
          <p:cNvPr id="7" name="图片 6" descr="院标-圆形图案 无背景.png"/>
          <p:cNvPicPr>
            <a:picLocks noChangeAspect="1"/>
          </p:cNvPicPr>
          <p:nvPr userDrawn="1"/>
        </p:nvPicPr>
        <p:blipFill>
          <a:blip r:embed="rId15" cstate="print"/>
          <a:srcRect l="10812" t="7462" r="8098" b="13504"/>
          <a:stretch>
            <a:fillRect/>
          </a:stretch>
        </p:blipFill>
        <p:spPr>
          <a:xfrm>
            <a:off x="149675" y="188640"/>
            <a:ext cx="1181965" cy="1152000"/>
          </a:xfrm>
          <a:prstGeom prst="rect">
            <a:avLst/>
          </a:prstGeom>
        </p:spPr>
      </p:pic>
    </p:spTree>
    <p:extLst>
      <p:ext uri="{BB962C8B-B14F-4D97-AF65-F5344CB8AC3E}">
        <p14:creationId xmlns:p14="http://schemas.microsoft.com/office/powerpoint/2010/main" val="1017989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6.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baike.baidu.com/item/%E8%9E%AF%E5%90%88%E5%89%82"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baike.baidu.com/item/%E4%B8%AD%E5%BF%83%E4%BD%93" TargetMode="External"/><Relationship Id="rId7" Type="http://schemas.openxmlformats.org/officeDocument/2006/relationships/hyperlink" Target="https://baike.baidu.com/item/%E7%BE%A7%E5%9F%BA" TargetMode="Externa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hyperlink" Target="https://baike.baidu.com/item/%E8%9E%AF%E5%90%88%E7%8E%AF" TargetMode="External"/><Relationship Id="rId5" Type="http://schemas.openxmlformats.org/officeDocument/2006/relationships/hyperlink" Target="https://baike.baidu.com/item/%E9%94%AE%E5%90%88" TargetMode="Externa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hyperlink" Target="https://baike.baidu.com/item/%E6%BB%B4%E5%AE%9A"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p:cNvSpPr>
          <p:nvPr>
            <p:ph type="body" idx="1"/>
          </p:nvPr>
        </p:nvSpPr>
        <p:spPr>
          <a:xfrm>
            <a:off x="1214414" y="3643314"/>
            <a:ext cx="7123113" cy="1673225"/>
          </a:xfrm>
        </p:spPr>
        <p:txBody>
          <a:bodyPr>
            <a:noAutofit/>
          </a:bodyPr>
          <a:lstStyle/>
          <a:p>
            <a:pPr algn="ctr"/>
            <a:r>
              <a:rPr lang="zh-CN" altLang="en-US" sz="2000" dirty="0">
                <a:latin typeface="Adobe 黑体 Std R" pitchFamily="34" charset="-122"/>
                <a:ea typeface="Adobe 黑体 Std R" pitchFamily="34" charset="-122"/>
              </a:rPr>
              <a:t>潘依雯</a:t>
            </a:r>
            <a:endParaRPr lang="en-US" altLang="zh-CN" sz="2000" dirty="0">
              <a:latin typeface="Adobe 黑体 Std R" pitchFamily="34" charset="-122"/>
              <a:ea typeface="Adobe 黑体 Std R" pitchFamily="34" charset="-122"/>
            </a:endParaRPr>
          </a:p>
          <a:p>
            <a:pPr algn="ctr"/>
            <a:r>
              <a:rPr lang="zh-CN" altLang="en-US" sz="2000" dirty="0">
                <a:latin typeface="Adobe 黑体 Std R" pitchFamily="34" charset="-122"/>
                <a:ea typeface="Adobe 黑体 Std R" pitchFamily="34" charset="-122"/>
              </a:rPr>
              <a:t>海洋学院</a:t>
            </a:r>
            <a:r>
              <a:rPr lang="zh-CN" altLang="en-US" dirty="0">
                <a:latin typeface="Adobe 黑体 Std R" pitchFamily="34" charset="-122"/>
                <a:ea typeface="Adobe 黑体 Std R" pitchFamily="34" charset="-122"/>
              </a:rPr>
              <a:t>海洋化学与环境所</a:t>
            </a:r>
            <a:endParaRPr lang="en-US" altLang="zh-CN" sz="2000" dirty="0">
              <a:latin typeface="Adobe 黑体 Std R" pitchFamily="34" charset="-122"/>
              <a:ea typeface="Adobe 黑体 Std R" pitchFamily="34" charset="-122"/>
            </a:endParaRPr>
          </a:p>
          <a:p>
            <a:pPr algn="ctr"/>
            <a:r>
              <a:rPr lang="zh-CN" altLang="en-US" sz="2000" dirty="0"/>
              <a:t>海科楼</a:t>
            </a:r>
            <a:r>
              <a:rPr lang="en-US" altLang="zh-CN" sz="2000" dirty="0"/>
              <a:t>319</a:t>
            </a:r>
            <a:r>
              <a:rPr lang="zh-CN" altLang="en-US" sz="2000" dirty="0"/>
              <a:t>，</a:t>
            </a:r>
            <a:r>
              <a:rPr lang="en-US" altLang="zh-CN" sz="2000" dirty="0"/>
              <a:t>Email: evelynpan@zju.edu.cn</a:t>
            </a:r>
            <a:endParaRPr lang="zh-CN" sz="2000" dirty="0"/>
          </a:p>
        </p:txBody>
      </p:sp>
      <p:sp>
        <p:nvSpPr>
          <p:cNvPr id="4" name="Rectangle 3"/>
          <p:cNvSpPr>
            <a:spLocks noGrp="1"/>
          </p:cNvSpPr>
          <p:nvPr>
            <p:ph type="title"/>
          </p:nvPr>
        </p:nvSpPr>
        <p:spPr>
          <a:xfrm>
            <a:off x="1142976" y="428604"/>
            <a:ext cx="7171730" cy="1797920"/>
          </a:xfrm>
        </p:spPr>
        <p:txBody>
          <a:bodyPr>
            <a:normAutofit fontScale="90000"/>
          </a:bodyPr>
          <a:lstStyle/>
          <a:p>
            <a:pPr algn="ctr"/>
            <a:r>
              <a:rPr lang="zh-CN" altLang="en-US" dirty="0"/>
              <a:t>海水分析化学</a:t>
            </a:r>
            <a:br>
              <a:rPr lang="en-US" altLang="zh-CN" dirty="0"/>
            </a:br>
            <a:r>
              <a:rPr lang="en-US" altLang="zh-CN" sz="3600" dirty="0"/>
              <a:t>Chemistry of seawater analysis </a:t>
            </a:r>
            <a:endParaRPr lang="zh-CN" dirty="0"/>
          </a:p>
        </p:txBody>
      </p:sp>
      <p:sp>
        <p:nvSpPr>
          <p:cNvPr id="8" name="TextBox 6"/>
          <p:cNvSpPr txBox="1">
            <a:spLocks noChangeArrowheads="1"/>
          </p:cNvSpPr>
          <p:nvPr/>
        </p:nvSpPr>
        <p:spPr bwMode="auto">
          <a:xfrm>
            <a:off x="7524328" y="6021289"/>
            <a:ext cx="1491086" cy="461653"/>
          </a:xfrm>
          <a:prstGeom prst="rect">
            <a:avLst/>
          </a:prstGeom>
          <a:noFill/>
          <a:ln w="9525">
            <a:noFill/>
            <a:miter lim="800000"/>
            <a:headEnd/>
            <a:tailEnd/>
          </a:ln>
        </p:spPr>
        <p:txBody>
          <a:bodyPr wrap="none" lIns="91426" tIns="45714" rIns="91426" bIns="45714">
            <a:spAutoFit/>
          </a:bodyPr>
          <a:lstStyle/>
          <a:p>
            <a:r>
              <a:rPr lang="zh-CN" altLang="en-US" sz="2400" dirty="0">
                <a:solidFill>
                  <a:srgbClr val="00B0F0"/>
                </a:solidFill>
                <a:latin typeface="华文行楷" pitchFamily="2" charset="-122"/>
                <a:ea typeface="华文行楷" pitchFamily="2" charset="-122"/>
              </a:rPr>
              <a:t>宽厚 跨越</a:t>
            </a:r>
          </a:p>
        </p:txBody>
      </p:sp>
      <p:sp>
        <p:nvSpPr>
          <p:cNvPr id="6" name="Rectangle 3"/>
          <p:cNvSpPr txBox="1">
            <a:spLocks/>
          </p:cNvSpPr>
          <p:nvPr/>
        </p:nvSpPr>
        <p:spPr bwMode="auto">
          <a:xfrm>
            <a:off x="1142976" y="2071678"/>
            <a:ext cx="7171730" cy="17979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7500"/>
          </a:bodyPr>
          <a:lstStyle/>
          <a:p>
            <a:pPr marL="0" marR="0" lvl="0" indent="0" algn="ctr" defTabSz="914400" rtl="0" eaLnBrk="0" fontAlgn="base" latinLnBrk="0" hangingPunct="0">
              <a:lnSpc>
                <a:spcPct val="100000"/>
              </a:lnSpc>
              <a:spcBef>
                <a:spcPct val="0"/>
              </a:spcBef>
              <a:spcAft>
                <a:spcPct val="0"/>
              </a:spcAft>
              <a:buClrTx/>
              <a:buSzTx/>
              <a:buFontTx/>
              <a:buNone/>
              <a:tabLst/>
              <a:defRPr/>
            </a:pPr>
            <a:br>
              <a:rPr kumimoji="0" lang="en-US" altLang="zh-CN" sz="3600" b="1" i="0" u="none" strike="noStrike" kern="0" cap="all" spc="0" normalizeH="0" baseline="0" noProof="0" dirty="0">
                <a:ln>
                  <a:noFill/>
                </a:ln>
                <a:solidFill>
                  <a:schemeClr val="tx2"/>
                </a:solidFill>
                <a:effectLst/>
                <a:uLnTx/>
                <a:uFillTx/>
                <a:latin typeface="+mj-lt"/>
                <a:ea typeface="+mj-ea"/>
                <a:cs typeface="+mj-cs"/>
              </a:rPr>
            </a:br>
            <a:r>
              <a:rPr kumimoji="0" lang="en-US" altLang="zh-CN" sz="3300" b="1" i="0" u="none" strike="noStrike" kern="0" cap="all" spc="0" normalizeH="0" baseline="0" noProof="0" dirty="0">
                <a:ln>
                  <a:noFill/>
                </a:ln>
                <a:solidFill>
                  <a:srgbClr val="FF0000"/>
                </a:solidFill>
                <a:effectLst/>
                <a:uLnTx/>
                <a:uFillTx/>
                <a:latin typeface="+mj-lt"/>
                <a:ea typeface="+mj-ea"/>
                <a:cs typeface="+mj-cs"/>
              </a:rPr>
              <a:t>Methods of seawater analysis </a:t>
            </a:r>
            <a:endParaRPr kumimoji="0" lang="zh-CN" sz="3600" b="1" i="0" u="none" strike="noStrike" kern="0" cap="all"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4">
            <a:extLst>
              <a:ext uri="{FF2B5EF4-FFF2-40B4-BE49-F238E27FC236}">
                <a16:creationId xmlns:a16="http://schemas.microsoft.com/office/drawing/2014/main" id="{2EC4CB6D-1B7C-49C4-96B8-10A6B79B6152}"/>
              </a:ext>
            </a:extLst>
          </p:cNvPr>
          <p:cNvSpPr txBox="1">
            <a:spLocks noChangeArrowheads="1"/>
          </p:cNvSpPr>
          <p:nvPr/>
        </p:nvSpPr>
        <p:spPr bwMode="auto">
          <a:xfrm>
            <a:off x="926308" y="2025254"/>
            <a:ext cx="6669881" cy="224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3500" tIns="27000" rIns="13500" bIns="8100">
            <a:spAutoFit/>
          </a:bodyPr>
          <a:lstStyle>
            <a:lvl1pPr marL="466725" indent="-466725"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ts val="450"/>
              </a:spcBef>
              <a:buFont typeface="Arial" panose="020B0604020202020204" pitchFamily="34" charset="0"/>
              <a:buChar cha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海洋中碳酸钙的形成与溶解在全球碳循环中起重要作用，是调控大气</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CO</a:t>
            </a:r>
            <a:r>
              <a:rPr lang="en-US" altLang="zh-CN"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的关键因子之一。</a:t>
            </a:r>
          </a:p>
          <a:p>
            <a:pPr eaLnBrk="1" hangingPunct="1">
              <a:lnSpc>
                <a:spcPct val="150000"/>
              </a:lnSpc>
              <a:spcBef>
                <a:spcPts val="450"/>
              </a:spcBef>
              <a:buFont typeface="Arial" panose="020B0604020202020204" pitchFamily="34" charset="0"/>
              <a:buChar char="•"/>
            </a:pPr>
            <a:r>
              <a:rPr lang="en-US" altLang="zh-CN" dirty="0">
                <a:latin typeface="Times New Roman" panose="02020603050405020304" pitchFamily="18" charset="0"/>
                <a:ea typeface="黑体" panose="02010609060101010101" pitchFamily="49" charset="-122"/>
                <a:cs typeface="Times New Roman" panose="02020603050405020304" pitchFamily="18" charset="0"/>
              </a:rPr>
              <a:t>CaCO</a:t>
            </a:r>
            <a:r>
              <a:rPr lang="en-US" altLang="zh-CN" baseline="-2500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dirty="0">
                <a:latin typeface="Times New Roman" panose="02020603050405020304" pitchFamily="18" charset="0"/>
                <a:ea typeface="黑体" panose="02010609060101010101" pitchFamily="49" charset="-122"/>
                <a:cs typeface="Times New Roman" panose="02020603050405020304" pitchFamily="18" charset="0"/>
              </a:rPr>
              <a:t>饱和状态决定着碳酸钙的沉淀与溶解，其与海水</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CO</a:t>
            </a:r>
            <a:r>
              <a:rPr lang="en-US" altLang="zh-CN" baseline="-25000" dirty="0">
                <a:latin typeface="Times New Roman" panose="02020603050405020304" pitchFamily="18" charset="0"/>
                <a:ea typeface="黑体" panose="02010609060101010101" pitchFamily="49" charset="-122"/>
                <a:cs typeface="Times New Roman" panose="02020603050405020304" pitchFamily="18" charset="0"/>
              </a:rPr>
              <a:t>3</a:t>
            </a:r>
            <a:r>
              <a:rPr lang="en-US" altLang="zh-CN" baseline="30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浓度密切相关。</a:t>
            </a:r>
          </a:p>
        </p:txBody>
      </p:sp>
      <p:sp>
        <p:nvSpPr>
          <p:cNvPr id="108547" name="Rectangle 6">
            <a:extLst>
              <a:ext uri="{FF2B5EF4-FFF2-40B4-BE49-F238E27FC236}">
                <a16:creationId xmlns:a16="http://schemas.microsoft.com/office/drawing/2014/main" id="{40515C63-B476-46CE-A8C2-71EE36349BD1}"/>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08548" name="Rectangle 8">
            <a:extLst>
              <a:ext uri="{FF2B5EF4-FFF2-40B4-BE49-F238E27FC236}">
                <a16:creationId xmlns:a16="http://schemas.microsoft.com/office/drawing/2014/main" id="{CA38AF25-8028-4262-9CA7-EBC3A0FC48F0}"/>
              </a:ext>
            </a:extLst>
          </p:cNvPr>
          <p:cNvSpPr>
            <a:spLocks noChangeArrowheads="1"/>
          </p:cNvSpPr>
          <p:nvPr/>
        </p:nvSpPr>
        <p:spPr bwMode="auto">
          <a:xfrm>
            <a:off x="1143000" y="3097758"/>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08549" name="Rectangle 12">
            <a:extLst>
              <a:ext uri="{FF2B5EF4-FFF2-40B4-BE49-F238E27FC236}">
                <a16:creationId xmlns:a16="http://schemas.microsoft.com/office/drawing/2014/main" id="{B82D65AE-026C-4790-8C8D-12ACD3AF17EC}"/>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08550" name="Rectangle 14">
            <a:extLst>
              <a:ext uri="{FF2B5EF4-FFF2-40B4-BE49-F238E27FC236}">
                <a16:creationId xmlns:a16="http://schemas.microsoft.com/office/drawing/2014/main" id="{60C6E398-1417-4A77-8665-0A87FD409B17}"/>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08551" name="Rectangle 16">
            <a:extLst>
              <a:ext uri="{FF2B5EF4-FFF2-40B4-BE49-F238E27FC236}">
                <a16:creationId xmlns:a16="http://schemas.microsoft.com/office/drawing/2014/main" id="{58573562-D64B-4DFE-B156-F2233456221E}"/>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08552" name="Rectangle 17">
            <a:extLst>
              <a:ext uri="{FF2B5EF4-FFF2-40B4-BE49-F238E27FC236}">
                <a16:creationId xmlns:a16="http://schemas.microsoft.com/office/drawing/2014/main" id="{5AE30817-5919-4C58-BB4D-32427093A313}"/>
              </a:ext>
            </a:extLst>
          </p:cNvPr>
          <p:cNvSpPr>
            <a:spLocks noChangeArrowheads="1"/>
          </p:cNvSpPr>
          <p:nvPr/>
        </p:nvSpPr>
        <p:spPr bwMode="auto">
          <a:xfrm>
            <a:off x="1763688" y="548680"/>
            <a:ext cx="6669881"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1066800" indent="-106680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00000"/>
              </a:lnSpc>
              <a:spcBef>
                <a:spcPct val="0"/>
              </a:spcBef>
              <a:buFontTx/>
              <a:buNone/>
            </a:pPr>
            <a:r>
              <a:rPr lang="zh-CN" altLang="en-US" sz="3000" dirty="0">
                <a:solidFill>
                  <a:schemeClr val="accent2">
                    <a:lumMod val="75000"/>
                  </a:schemeClr>
                </a:solidFill>
                <a:latin typeface="Times New Roman" panose="02020603050405020304" pitchFamily="18" charset="0"/>
                <a:ea typeface="黑体" panose="02010609060101010101" pitchFamily="49" charset="-122"/>
                <a:cs typeface="Times New Roman" panose="02020603050405020304" pitchFamily="18" charset="0"/>
              </a:rPr>
              <a:t>海水中碳酸钙的沉淀与溶解平衡</a:t>
            </a:r>
          </a:p>
        </p:txBody>
      </p:sp>
    </p:spTree>
    <p:extLst>
      <p:ext uri="{BB962C8B-B14F-4D97-AF65-F5344CB8AC3E}">
        <p14:creationId xmlns:p14="http://schemas.microsoft.com/office/powerpoint/2010/main" val="3217480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4">
            <a:extLst>
              <a:ext uri="{FF2B5EF4-FFF2-40B4-BE49-F238E27FC236}">
                <a16:creationId xmlns:a16="http://schemas.microsoft.com/office/drawing/2014/main" id="{76FABB26-407E-4B70-A86C-0DA2A5994CD1}"/>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37892" name="Rectangle 5">
            <a:extLst>
              <a:ext uri="{FF2B5EF4-FFF2-40B4-BE49-F238E27FC236}">
                <a16:creationId xmlns:a16="http://schemas.microsoft.com/office/drawing/2014/main" id="{42BCD245-4556-4684-AEFB-7D4D834CB06E}"/>
              </a:ext>
            </a:extLst>
          </p:cNvPr>
          <p:cNvSpPr>
            <a:spLocks noChangeArrowheads="1"/>
          </p:cNvSpPr>
          <p:nvPr/>
        </p:nvSpPr>
        <p:spPr bwMode="auto">
          <a:xfrm>
            <a:off x="1143000" y="3097758"/>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37893" name="Rectangle 6">
            <a:extLst>
              <a:ext uri="{FF2B5EF4-FFF2-40B4-BE49-F238E27FC236}">
                <a16:creationId xmlns:a16="http://schemas.microsoft.com/office/drawing/2014/main" id="{FE137F82-66F0-4271-9A3C-B8BDF13A77BC}"/>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37894" name="Rectangle 8">
            <a:extLst>
              <a:ext uri="{FF2B5EF4-FFF2-40B4-BE49-F238E27FC236}">
                <a16:creationId xmlns:a16="http://schemas.microsoft.com/office/drawing/2014/main" id="{4CD287F2-B903-43FF-9464-8FFEF89FAEB0}"/>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37895" name="Rectangle 10">
            <a:extLst>
              <a:ext uri="{FF2B5EF4-FFF2-40B4-BE49-F238E27FC236}">
                <a16:creationId xmlns:a16="http://schemas.microsoft.com/office/drawing/2014/main" id="{1435BB9F-22EF-4A23-A048-D144EDF3B9E1}"/>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37896" name="Rectangle 13">
            <a:extLst>
              <a:ext uri="{FF2B5EF4-FFF2-40B4-BE49-F238E27FC236}">
                <a16:creationId xmlns:a16="http://schemas.microsoft.com/office/drawing/2014/main" id="{DE92748C-8D33-40B5-A75A-19753C939C52}"/>
              </a:ext>
            </a:extLst>
          </p:cNvPr>
          <p:cNvSpPr>
            <a:spLocks noChangeArrowheads="1"/>
          </p:cNvSpPr>
          <p:nvPr/>
        </p:nvSpPr>
        <p:spPr bwMode="auto">
          <a:xfrm>
            <a:off x="1615084" y="404664"/>
            <a:ext cx="5832872" cy="46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square" lIns="13500" tIns="27000" rIns="13500" bIns="8100" anchor="ctr">
            <a:spAutoFit/>
          </a:bodyPr>
          <a:lstStyle>
            <a:lvl1pPr eaLnBrk="0" hangingPunct="0">
              <a:tabLst>
                <a:tab pos="533400" algn="l"/>
              </a:tabLst>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tabLst>
                <a:tab pos="533400" algn="l"/>
              </a:tabLst>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tabLst>
                <a:tab pos="533400" algn="l"/>
              </a:tabLst>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tabLst>
                <a:tab pos="533400" algn="l"/>
              </a:tabLst>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tabLst>
                <a:tab pos="533400" algn="l"/>
              </a:tabLst>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tabLst>
                <a:tab pos="533400" algn="l"/>
              </a:tabLst>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tabLst>
                <a:tab pos="533400" algn="l"/>
              </a:tabLst>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tabLst>
                <a:tab pos="533400" algn="l"/>
              </a:tabLst>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tabLst>
                <a:tab pos="533400" algn="l"/>
              </a:tabLst>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00000"/>
              </a:lnSpc>
              <a:spcBef>
                <a:spcPct val="0"/>
              </a:spcBef>
              <a:buFontTx/>
              <a:buNone/>
            </a:pPr>
            <a:r>
              <a:rPr lang="zh-CN" altLang="en-US"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一、海水中</a:t>
            </a:r>
            <a:r>
              <a:rPr lang="en-US" altLang="zh-CN"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CaCO</a:t>
            </a:r>
            <a:r>
              <a:rPr lang="en-US" altLang="zh-CN" sz="2800" baseline="-250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的表观溶度积</a:t>
            </a:r>
          </a:p>
        </p:txBody>
      </p:sp>
      <p:sp>
        <p:nvSpPr>
          <p:cNvPr id="37897" name="Rectangle 15">
            <a:extLst>
              <a:ext uri="{FF2B5EF4-FFF2-40B4-BE49-F238E27FC236}">
                <a16:creationId xmlns:a16="http://schemas.microsoft.com/office/drawing/2014/main" id="{F1E91F09-B94A-4E78-A767-657F5D29133B}"/>
              </a:ext>
            </a:extLst>
          </p:cNvPr>
          <p:cNvSpPr>
            <a:spLocks noChangeArrowheads="1"/>
          </p:cNvSpPr>
          <p:nvPr/>
        </p:nvSpPr>
        <p:spPr bwMode="auto">
          <a:xfrm>
            <a:off x="1143000" y="317276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graphicFrame>
        <p:nvGraphicFramePr>
          <p:cNvPr id="37890" name="Object 14">
            <a:extLst>
              <a:ext uri="{FF2B5EF4-FFF2-40B4-BE49-F238E27FC236}">
                <a16:creationId xmlns:a16="http://schemas.microsoft.com/office/drawing/2014/main" id="{6831443C-8101-493C-92CB-EF67CF360484}"/>
              </a:ext>
            </a:extLst>
          </p:cNvPr>
          <p:cNvGraphicFramePr>
            <a:graphicFrameLocks noChangeAspect="1"/>
          </p:cNvGraphicFramePr>
          <p:nvPr/>
        </p:nvGraphicFramePr>
        <p:xfrm>
          <a:off x="2303861" y="2240756"/>
          <a:ext cx="4455319" cy="509588"/>
        </p:xfrm>
        <a:graphic>
          <a:graphicData uri="http://schemas.openxmlformats.org/presentationml/2006/ole">
            <mc:AlternateContent xmlns:mc="http://schemas.openxmlformats.org/markup-compatibility/2006">
              <mc:Choice xmlns:v="urn:schemas-microsoft-com:vml" Requires="v">
                <p:oleObj name="Equation" r:id="rId2" imgW="2336800" imgH="266700" progId="Equation.DSMT4">
                  <p:embed/>
                </p:oleObj>
              </mc:Choice>
              <mc:Fallback>
                <p:oleObj name="Equation" r:id="rId2" imgW="2336800" imgH="266700" progId="Equation.DSMT4">
                  <p:embed/>
                  <p:pic>
                    <p:nvPicPr>
                      <p:cNvPr id="37890" name="Object 14">
                        <a:extLst>
                          <a:ext uri="{FF2B5EF4-FFF2-40B4-BE49-F238E27FC236}">
                            <a16:creationId xmlns:a16="http://schemas.microsoft.com/office/drawing/2014/main" id="{6831443C-8101-493C-92CB-EF67CF3604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3861" y="2240756"/>
                        <a:ext cx="4455319" cy="509588"/>
                      </a:xfrm>
                      <a:prstGeom prst="rect">
                        <a:avLst/>
                      </a:prstGeom>
                      <a:solidFill>
                        <a:srgbClr val="CCFFFF"/>
                      </a:solidFill>
                      <a:ln w="12700">
                        <a:solidFill>
                          <a:srgbClr val="800000"/>
                        </a:solidFill>
                        <a:miter lim="800000"/>
                        <a:headEnd/>
                        <a:tailEnd/>
                      </a:ln>
                    </p:spPr>
                  </p:pic>
                </p:oleObj>
              </mc:Fallback>
            </mc:AlternateContent>
          </a:graphicData>
        </a:graphic>
      </p:graphicFrame>
      <p:sp>
        <p:nvSpPr>
          <p:cNvPr id="37898" name="Rectangle 16">
            <a:extLst>
              <a:ext uri="{FF2B5EF4-FFF2-40B4-BE49-F238E27FC236}">
                <a16:creationId xmlns:a16="http://schemas.microsoft.com/office/drawing/2014/main" id="{AD8D9377-A7F7-4B67-BA67-685F84FED6A5}"/>
              </a:ext>
            </a:extLst>
          </p:cNvPr>
          <p:cNvSpPr>
            <a:spLocks noChangeArrowheads="1"/>
          </p:cNvSpPr>
          <p:nvPr/>
        </p:nvSpPr>
        <p:spPr bwMode="auto">
          <a:xfrm>
            <a:off x="1282018" y="3204262"/>
            <a:ext cx="6499003" cy="1627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squar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ts val="450"/>
              </a:spcBef>
            </a:pPr>
            <a:r>
              <a:rPr lang="zh-CN" altLang="en-US" dirty="0">
                <a:latin typeface="Times New Roman" panose="02020603050405020304" pitchFamily="18" charset="0"/>
                <a:ea typeface="黑体" panose="02010609060101010101" pitchFamily="49" charset="-122"/>
                <a:cs typeface="Times New Roman" panose="02020603050405020304" pitchFamily="18" charset="0"/>
              </a:rPr>
              <a:t>达到热力学平衡时，</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CaCO</a:t>
            </a:r>
            <a:r>
              <a:rPr lang="en-US" altLang="zh-CN" baseline="-2500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溶解速率等于沉淀速率，海水中各组分含量保持恒定，</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CaCO</a:t>
            </a:r>
            <a:r>
              <a:rPr lang="en-US" altLang="zh-CN" baseline="-2500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净溶解不再发生，此时海水中</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CaCO</a:t>
            </a:r>
            <a:r>
              <a:rPr lang="en-US" altLang="zh-CN" baseline="-2500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为饱和。</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7899" name="Rectangle 18">
            <a:extLst>
              <a:ext uri="{FF2B5EF4-FFF2-40B4-BE49-F238E27FC236}">
                <a16:creationId xmlns:a16="http://schemas.microsoft.com/office/drawing/2014/main" id="{25235724-DF90-488B-BF0C-D7298505F5AB}"/>
              </a:ext>
            </a:extLst>
          </p:cNvPr>
          <p:cNvSpPr>
            <a:spLocks noChangeArrowheads="1"/>
          </p:cNvSpPr>
          <p:nvPr/>
        </p:nvSpPr>
        <p:spPr bwMode="auto">
          <a:xfrm>
            <a:off x="1143000" y="31763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Tree>
    <p:extLst>
      <p:ext uri="{BB962C8B-B14F-4D97-AF65-F5344CB8AC3E}">
        <p14:creationId xmlns:p14="http://schemas.microsoft.com/office/powerpoint/2010/main" val="1368430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a:extLst>
              <a:ext uri="{FF2B5EF4-FFF2-40B4-BE49-F238E27FC236}">
                <a16:creationId xmlns:a16="http://schemas.microsoft.com/office/drawing/2014/main" id="{772BAE72-DA26-449A-A869-61CE27706BD7}"/>
              </a:ext>
            </a:extLst>
          </p:cNvPr>
          <p:cNvSpPr txBox="1">
            <a:spLocks noChangeArrowheads="1"/>
          </p:cNvSpPr>
          <p:nvPr/>
        </p:nvSpPr>
        <p:spPr bwMode="auto">
          <a:xfrm>
            <a:off x="1430976" y="2619376"/>
            <a:ext cx="6786104" cy="3289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3500" tIns="27000" rIns="13500" bIns="8100">
            <a:spAutoFit/>
          </a:bodyPr>
          <a:lstStyle>
            <a:lvl1pPr marL="466725" indent="-466725"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50000"/>
              </a:lnSpc>
              <a:spcBef>
                <a:spcPct val="0"/>
              </a:spcBef>
              <a:buFont typeface="Arial" panose="020B0604020202020204" pitchFamily="34" charset="0"/>
              <a:buChar char="•"/>
            </a:pP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K</a:t>
            </a:r>
            <a:r>
              <a:rPr lang="en-US" altLang="zh-CN" baseline="-25000" dirty="0" err="1">
                <a:latin typeface="Times New Roman" panose="02020603050405020304" pitchFamily="18" charset="0"/>
                <a:ea typeface="黑体" panose="02010609060101010101" pitchFamily="49" charset="-122"/>
                <a:cs typeface="Times New Roman" panose="02020603050405020304" pitchFamily="18" charset="0"/>
              </a:rPr>
              <a:t>sp</a:t>
            </a:r>
            <a:r>
              <a:rPr lang="en-US" altLang="zh-CN" baseline="30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CaCO</a:t>
            </a:r>
            <a:r>
              <a:rPr lang="en-US" altLang="zh-CN" baseline="-2500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存在晶型有关，不同晶型具有不同的生成自由能，其溶度积不同。</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 typeface="Arial" panose="020B0604020202020204" pitchFamily="34" charset="0"/>
              <a:buChar char="•"/>
            </a:pPr>
            <a:r>
              <a:rPr lang="zh-CN" altLang="en-US" dirty="0">
                <a:latin typeface="Times New Roman" panose="02020603050405020304" pitchFamily="18" charset="0"/>
                <a:ea typeface="黑体" panose="02010609060101010101" pitchFamily="49" charset="-122"/>
                <a:cs typeface="Times New Roman" panose="02020603050405020304" pitchFamily="18" charset="0"/>
              </a:rPr>
              <a:t>天然</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CaCO</a:t>
            </a:r>
            <a:r>
              <a:rPr lang="en-US" altLang="zh-CN" baseline="-2500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主要存在</a:t>
            </a:r>
            <a:r>
              <a:rPr lang="en-US" altLang="zh-CN"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种晶型：</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 typeface="Wingdings" panose="05000000000000000000" pitchFamily="2" charset="2"/>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方解石（</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calcite</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 typeface="Wingdings" panose="05000000000000000000" pitchFamily="2" charset="2"/>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文石（</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aragonite</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 typeface="Wingdings" panose="05000000000000000000" pitchFamily="2" charset="2"/>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009900"/>
                </a:solidFill>
                <a:latin typeface="Times New Roman" panose="02020603050405020304" pitchFamily="18" charset="0"/>
                <a:ea typeface="黑体" panose="02010609060101010101" pitchFamily="49" charset="-122"/>
                <a:cs typeface="Times New Roman" panose="02020603050405020304" pitchFamily="18" charset="0"/>
              </a:rPr>
              <a:t>球文石</a:t>
            </a:r>
            <a:endParaRPr lang="zh-CN" altLang="en-US" sz="2100" dirty="0">
              <a:solidFill>
                <a:srgbClr val="0099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8916" name="Rectangle 4">
            <a:extLst>
              <a:ext uri="{FF2B5EF4-FFF2-40B4-BE49-F238E27FC236}">
                <a16:creationId xmlns:a16="http://schemas.microsoft.com/office/drawing/2014/main" id="{E8A80031-1AD4-4069-ADAA-D6AEA0345A51}"/>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38917" name="Rectangle 5">
            <a:extLst>
              <a:ext uri="{FF2B5EF4-FFF2-40B4-BE49-F238E27FC236}">
                <a16:creationId xmlns:a16="http://schemas.microsoft.com/office/drawing/2014/main" id="{C9DA1133-F897-4B93-82FD-5B26A50092B7}"/>
              </a:ext>
            </a:extLst>
          </p:cNvPr>
          <p:cNvSpPr>
            <a:spLocks noChangeArrowheads="1"/>
          </p:cNvSpPr>
          <p:nvPr/>
        </p:nvSpPr>
        <p:spPr bwMode="auto">
          <a:xfrm>
            <a:off x="1143000" y="3097758"/>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38918" name="Rectangle 6">
            <a:extLst>
              <a:ext uri="{FF2B5EF4-FFF2-40B4-BE49-F238E27FC236}">
                <a16:creationId xmlns:a16="http://schemas.microsoft.com/office/drawing/2014/main" id="{445E4233-CF52-4F95-82D9-B9BEC057A5EA}"/>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38919" name="Rectangle 8">
            <a:extLst>
              <a:ext uri="{FF2B5EF4-FFF2-40B4-BE49-F238E27FC236}">
                <a16:creationId xmlns:a16="http://schemas.microsoft.com/office/drawing/2014/main" id="{B0AEDC7B-2DF7-4788-8763-DC5C0F649FC1}"/>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38920" name="Rectangle 10">
            <a:extLst>
              <a:ext uri="{FF2B5EF4-FFF2-40B4-BE49-F238E27FC236}">
                <a16:creationId xmlns:a16="http://schemas.microsoft.com/office/drawing/2014/main" id="{CDED8547-DF5A-47D4-B11D-B31E7434D8FB}"/>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graphicFrame>
        <p:nvGraphicFramePr>
          <p:cNvPr id="38914" name="Object 17">
            <a:extLst>
              <a:ext uri="{FF2B5EF4-FFF2-40B4-BE49-F238E27FC236}">
                <a16:creationId xmlns:a16="http://schemas.microsoft.com/office/drawing/2014/main" id="{89495298-EF11-47A6-9E51-B427146807CD}"/>
              </a:ext>
            </a:extLst>
          </p:cNvPr>
          <p:cNvGraphicFramePr>
            <a:graphicFrameLocks noChangeAspect="1"/>
          </p:cNvGraphicFramePr>
          <p:nvPr>
            <p:extLst>
              <p:ext uri="{D42A27DB-BD31-4B8C-83A1-F6EECF244321}">
                <p14:modId xmlns:p14="http://schemas.microsoft.com/office/powerpoint/2010/main" val="2863535602"/>
              </p:ext>
            </p:extLst>
          </p:nvPr>
        </p:nvGraphicFramePr>
        <p:xfrm>
          <a:off x="2699792" y="1700808"/>
          <a:ext cx="3344466" cy="540544"/>
        </p:xfrm>
        <a:graphic>
          <a:graphicData uri="http://schemas.openxmlformats.org/presentationml/2006/ole">
            <mc:AlternateContent xmlns:mc="http://schemas.openxmlformats.org/markup-compatibility/2006">
              <mc:Choice xmlns:v="urn:schemas-microsoft-com:vml" Requires="v">
                <p:oleObj name="Equation" r:id="rId2" imgW="1586811" imgH="253890" progId="Equation.DSMT4">
                  <p:embed/>
                </p:oleObj>
              </mc:Choice>
              <mc:Fallback>
                <p:oleObj name="Equation" r:id="rId2" imgW="1586811" imgH="253890" progId="Equation.DSMT4">
                  <p:embed/>
                  <p:pic>
                    <p:nvPicPr>
                      <p:cNvPr id="38914" name="Object 17">
                        <a:extLst>
                          <a:ext uri="{FF2B5EF4-FFF2-40B4-BE49-F238E27FC236}">
                            <a16:creationId xmlns:a16="http://schemas.microsoft.com/office/drawing/2014/main" id="{89495298-EF11-47A6-9E51-B427146807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1700808"/>
                        <a:ext cx="3344466" cy="540544"/>
                      </a:xfrm>
                      <a:prstGeom prst="rect">
                        <a:avLst/>
                      </a:prstGeom>
                      <a:solidFill>
                        <a:srgbClr val="CCFFFF"/>
                      </a:solidFill>
                      <a:ln w="12700">
                        <a:solidFill>
                          <a:srgbClr val="800000"/>
                        </a:solidFill>
                        <a:miter lim="800000"/>
                        <a:headEnd/>
                        <a:tailEnd/>
                      </a:ln>
                    </p:spPr>
                  </p:pic>
                </p:oleObj>
              </mc:Fallback>
            </mc:AlternateContent>
          </a:graphicData>
        </a:graphic>
      </p:graphicFrame>
      <p:sp>
        <p:nvSpPr>
          <p:cNvPr id="2" name="矩形 1">
            <a:extLst>
              <a:ext uri="{FF2B5EF4-FFF2-40B4-BE49-F238E27FC236}">
                <a16:creationId xmlns:a16="http://schemas.microsoft.com/office/drawing/2014/main" id="{102581E2-5211-4F35-ADE5-0BBC31D5BAC9}"/>
              </a:ext>
            </a:extLst>
          </p:cNvPr>
          <p:cNvSpPr/>
          <p:nvPr/>
        </p:nvSpPr>
        <p:spPr>
          <a:xfrm>
            <a:off x="1547664" y="476672"/>
            <a:ext cx="5150769" cy="523220"/>
          </a:xfrm>
          <a:prstGeom prst="rect">
            <a:avLst/>
          </a:prstGeom>
        </p:spPr>
        <p:txBody>
          <a:bodyPr wrap="none">
            <a:spAutoFit/>
          </a:bodyPr>
          <a:lstStyle/>
          <a:p>
            <a:pPr>
              <a:spcBef>
                <a:spcPct val="0"/>
              </a:spcBef>
            </a:pPr>
            <a:r>
              <a:rPr lang="zh-CN" altLang="en-US"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一、海水中</a:t>
            </a:r>
            <a:r>
              <a:rPr lang="en-US" altLang="zh-CN"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CaCO</a:t>
            </a:r>
            <a:r>
              <a:rPr lang="en-US" altLang="zh-CN" sz="2800" baseline="-250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的表观溶度积</a:t>
            </a:r>
          </a:p>
        </p:txBody>
      </p:sp>
    </p:spTree>
    <p:extLst>
      <p:ext uri="{BB962C8B-B14F-4D97-AF65-F5344CB8AC3E}">
        <p14:creationId xmlns:p14="http://schemas.microsoft.com/office/powerpoint/2010/main" val="1680243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4">
            <a:extLst>
              <a:ext uri="{FF2B5EF4-FFF2-40B4-BE49-F238E27FC236}">
                <a16:creationId xmlns:a16="http://schemas.microsoft.com/office/drawing/2014/main" id="{51FE8E3F-E1E0-4895-AE8F-A818D3FA040F}"/>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0" name="Rectangle 5">
            <a:extLst>
              <a:ext uri="{FF2B5EF4-FFF2-40B4-BE49-F238E27FC236}">
                <a16:creationId xmlns:a16="http://schemas.microsoft.com/office/drawing/2014/main" id="{922DD4E6-E3F2-4D36-A403-8E7ECEE33045}"/>
              </a:ext>
            </a:extLst>
          </p:cNvPr>
          <p:cNvSpPr>
            <a:spLocks noChangeArrowheads="1"/>
          </p:cNvSpPr>
          <p:nvPr/>
        </p:nvSpPr>
        <p:spPr bwMode="auto">
          <a:xfrm>
            <a:off x="1143000" y="3097758"/>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1" name="Rectangle 6">
            <a:extLst>
              <a:ext uri="{FF2B5EF4-FFF2-40B4-BE49-F238E27FC236}">
                <a16:creationId xmlns:a16="http://schemas.microsoft.com/office/drawing/2014/main" id="{836D3388-46DE-418C-BAA7-8E5A1AA5CD15}"/>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2" name="Rectangle 7">
            <a:extLst>
              <a:ext uri="{FF2B5EF4-FFF2-40B4-BE49-F238E27FC236}">
                <a16:creationId xmlns:a16="http://schemas.microsoft.com/office/drawing/2014/main" id="{03B673E2-B6C1-4C0E-8DE9-0CCB7F2C7F61}"/>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3" name="Rectangle 8">
            <a:extLst>
              <a:ext uri="{FF2B5EF4-FFF2-40B4-BE49-F238E27FC236}">
                <a16:creationId xmlns:a16="http://schemas.microsoft.com/office/drawing/2014/main" id="{E216391D-C83D-473B-A3AB-FF2DADDA0BC0}"/>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4" name="Rectangle 9">
            <a:extLst>
              <a:ext uri="{FF2B5EF4-FFF2-40B4-BE49-F238E27FC236}">
                <a16:creationId xmlns:a16="http://schemas.microsoft.com/office/drawing/2014/main" id="{F5E162B7-5944-4F56-B30D-7E546C338394}"/>
              </a:ext>
            </a:extLst>
          </p:cNvPr>
          <p:cNvSpPr>
            <a:spLocks noChangeArrowheads="1"/>
          </p:cNvSpPr>
          <p:nvPr/>
        </p:nvSpPr>
        <p:spPr bwMode="auto">
          <a:xfrm>
            <a:off x="1143000" y="31763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5" name="Rectangle 10">
            <a:extLst>
              <a:ext uri="{FF2B5EF4-FFF2-40B4-BE49-F238E27FC236}">
                <a16:creationId xmlns:a16="http://schemas.microsoft.com/office/drawing/2014/main" id="{9262EA0E-8855-4D4B-BAA5-0420AFB849AD}"/>
              </a:ext>
            </a:extLst>
          </p:cNvPr>
          <p:cNvSpPr>
            <a:spLocks noChangeArrowheads="1"/>
          </p:cNvSpPr>
          <p:nvPr/>
        </p:nvSpPr>
        <p:spPr bwMode="auto">
          <a:xfrm>
            <a:off x="1143000" y="31763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6" name="Rectangle 11">
            <a:extLst>
              <a:ext uri="{FF2B5EF4-FFF2-40B4-BE49-F238E27FC236}">
                <a16:creationId xmlns:a16="http://schemas.microsoft.com/office/drawing/2014/main" id="{4AA09E67-18DA-47FC-A314-BE81F919C4F7}"/>
              </a:ext>
            </a:extLst>
          </p:cNvPr>
          <p:cNvSpPr>
            <a:spLocks noChangeArrowheads="1"/>
          </p:cNvSpPr>
          <p:nvPr/>
        </p:nvSpPr>
        <p:spPr bwMode="auto">
          <a:xfrm>
            <a:off x="1143000" y="300131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7" name="Rectangle 12">
            <a:extLst>
              <a:ext uri="{FF2B5EF4-FFF2-40B4-BE49-F238E27FC236}">
                <a16:creationId xmlns:a16="http://schemas.microsoft.com/office/drawing/2014/main" id="{7C7E81A4-EA8E-4ADE-86AE-992E83A702C5}"/>
              </a:ext>
            </a:extLst>
          </p:cNvPr>
          <p:cNvSpPr>
            <a:spLocks noChangeArrowheads="1"/>
          </p:cNvSpPr>
          <p:nvPr/>
        </p:nvSpPr>
        <p:spPr bwMode="auto">
          <a:xfrm>
            <a:off x="1143000" y="325849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8" name="Rectangle 13">
            <a:extLst>
              <a:ext uri="{FF2B5EF4-FFF2-40B4-BE49-F238E27FC236}">
                <a16:creationId xmlns:a16="http://schemas.microsoft.com/office/drawing/2014/main" id="{C9FBB8B1-3D74-4380-9687-069896DAA4B7}"/>
              </a:ext>
            </a:extLst>
          </p:cNvPr>
          <p:cNvSpPr>
            <a:spLocks noChangeArrowheads="1"/>
          </p:cNvSpPr>
          <p:nvPr/>
        </p:nvSpPr>
        <p:spPr bwMode="auto">
          <a:xfrm>
            <a:off x="1143000" y="340136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1999" name="Rectangle 14">
            <a:extLst>
              <a:ext uri="{FF2B5EF4-FFF2-40B4-BE49-F238E27FC236}">
                <a16:creationId xmlns:a16="http://schemas.microsoft.com/office/drawing/2014/main" id="{7FE00313-8EED-4F1F-82F7-340923D250DB}"/>
              </a:ext>
            </a:extLst>
          </p:cNvPr>
          <p:cNvSpPr>
            <a:spLocks noChangeArrowheads="1"/>
          </p:cNvSpPr>
          <p:nvPr/>
        </p:nvSpPr>
        <p:spPr bwMode="auto">
          <a:xfrm>
            <a:off x="1143000" y="314419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2000" name="Rectangle 15">
            <a:extLst>
              <a:ext uri="{FF2B5EF4-FFF2-40B4-BE49-F238E27FC236}">
                <a16:creationId xmlns:a16="http://schemas.microsoft.com/office/drawing/2014/main" id="{351156AE-B9D0-45A0-8C2B-17C2B59D89EE}"/>
              </a:ext>
            </a:extLst>
          </p:cNvPr>
          <p:cNvSpPr>
            <a:spLocks noChangeArrowheads="1"/>
          </p:cNvSpPr>
          <p:nvPr/>
        </p:nvSpPr>
        <p:spPr bwMode="auto">
          <a:xfrm>
            <a:off x="1143000" y="310490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2001" name="Rectangle 17">
            <a:extLst>
              <a:ext uri="{FF2B5EF4-FFF2-40B4-BE49-F238E27FC236}">
                <a16:creationId xmlns:a16="http://schemas.microsoft.com/office/drawing/2014/main" id="{F284A0D7-9CC5-417D-A1E7-2583F7CC134D}"/>
              </a:ext>
            </a:extLst>
          </p:cNvPr>
          <p:cNvSpPr>
            <a:spLocks noChangeArrowheads="1"/>
          </p:cNvSpPr>
          <p:nvPr/>
        </p:nvSpPr>
        <p:spPr bwMode="auto">
          <a:xfrm>
            <a:off x="1143000" y="29477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2002" name="Rectangle 19">
            <a:extLst>
              <a:ext uri="{FF2B5EF4-FFF2-40B4-BE49-F238E27FC236}">
                <a16:creationId xmlns:a16="http://schemas.microsoft.com/office/drawing/2014/main" id="{14CCE0C9-3774-4FD7-B2EA-AD91950915BD}"/>
              </a:ext>
            </a:extLst>
          </p:cNvPr>
          <p:cNvSpPr>
            <a:spLocks noChangeArrowheads="1"/>
          </p:cNvSpPr>
          <p:nvPr/>
        </p:nvSpPr>
        <p:spPr bwMode="auto">
          <a:xfrm>
            <a:off x="1143000" y="309061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2003" name="Rectangle 21">
            <a:extLst>
              <a:ext uri="{FF2B5EF4-FFF2-40B4-BE49-F238E27FC236}">
                <a16:creationId xmlns:a16="http://schemas.microsoft.com/office/drawing/2014/main" id="{6EA5219B-9286-40B5-9695-5C12D1315CB3}"/>
              </a:ext>
            </a:extLst>
          </p:cNvPr>
          <p:cNvSpPr>
            <a:spLocks noChangeArrowheads="1"/>
          </p:cNvSpPr>
          <p:nvPr/>
        </p:nvSpPr>
        <p:spPr bwMode="auto">
          <a:xfrm>
            <a:off x="1143000" y="3254921"/>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2004" name="Rectangle 23">
            <a:extLst>
              <a:ext uri="{FF2B5EF4-FFF2-40B4-BE49-F238E27FC236}">
                <a16:creationId xmlns:a16="http://schemas.microsoft.com/office/drawing/2014/main" id="{13EA655C-4B34-4F34-B23C-0BB4AF6EBA7F}"/>
              </a:ext>
            </a:extLst>
          </p:cNvPr>
          <p:cNvSpPr>
            <a:spLocks noChangeArrowheads="1"/>
          </p:cNvSpPr>
          <p:nvPr/>
        </p:nvSpPr>
        <p:spPr bwMode="auto">
          <a:xfrm>
            <a:off x="1143000" y="341922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42005" name="Rectangle 26">
            <a:extLst>
              <a:ext uri="{FF2B5EF4-FFF2-40B4-BE49-F238E27FC236}">
                <a16:creationId xmlns:a16="http://schemas.microsoft.com/office/drawing/2014/main" id="{FCE7A353-EE8B-400F-820A-54CE814C2395}"/>
              </a:ext>
            </a:extLst>
          </p:cNvPr>
          <p:cNvSpPr>
            <a:spLocks noChangeArrowheads="1"/>
          </p:cNvSpPr>
          <p:nvPr/>
        </p:nvSpPr>
        <p:spPr bwMode="auto">
          <a:xfrm>
            <a:off x="1143000" y="310133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graphicFrame>
        <p:nvGraphicFramePr>
          <p:cNvPr id="41986" name="Object 25">
            <a:extLst>
              <a:ext uri="{FF2B5EF4-FFF2-40B4-BE49-F238E27FC236}">
                <a16:creationId xmlns:a16="http://schemas.microsoft.com/office/drawing/2014/main" id="{AFE6A920-0E34-408D-ACE8-9F752B42FF81}"/>
              </a:ext>
            </a:extLst>
          </p:cNvPr>
          <p:cNvGraphicFramePr>
            <a:graphicFrameLocks noChangeAspect="1"/>
          </p:cNvGraphicFramePr>
          <p:nvPr>
            <p:extLst>
              <p:ext uri="{D42A27DB-BD31-4B8C-83A1-F6EECF244321}">
                <p14:modId xmlns:p14="http://schemas.microsoft.com/office/powerpoint/2010/main" val="2842187036"/>
              </p:ext>
            </p:extLst>
          </p:nvPr>
        </p:nvGraphicFramePr>
        <p:xfrm>
          <a:off x="3347864" y="1617076"/>
          <a:ext cx="2096661" cy="857157"/>
        </p:xfrm>
        <a:graphic>
          <a:graphicData uri="http://schemas.openxmlformats.org/presentationml/2006/ole">
            <mc:AlternateContent xmlns:mc="http://schemas.openxmlformats.org/markup-compatibility/2006">
              <mc:Choice xmlns:v="urn:schemas-microsoft-com:vml" Requires="v">
                <p:oleObj name="公式" r:id="rId2" imgW="1206360" imgH="495000" progId="Equation.3">
                  <p:embed/>
                </p:oleObj>
              </mc:Choice>
              <mc:Fallback>
                <p:oleObj name="公式" r:id="rId2" imgW="1206360" imgH="495000" progId="Equation.3">
                  <p:embed/>
                  <p:pic>
                    <p:nvPicPr>
                      <p:cNvPr id="41986" name="Object 25">
                        <a:extLst>
                          <a:ext uri="{FF2B5EF4-FFF2-40B4-BE49-F238E27FC236}">
                            <a16:creationId xmlns:a16="http://schemas.microsoft.com/office/drawing/2014/main" id="{AFE6A920-0E34-408D-ACE8-9F752B42FF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1617076"/>
                        <a:ext cx="2096661" cy="857157"/>
                      </a:xfrm>
                      <a:prstGeom prst="rect">
                        <a:avLst/>
                      </a:prstGeom>
                      <a:solidFill>
                        <a:srgbClr val="CCFFFF"/>
                      </a:solidFill>
                      <a:ln w="12700">
                        <a:solidFill>
                          <a:srgbClr val="800000"/>
                        </a:solidFill>
                        <a:miter lim="800000"/>
                        <a:headEnd/>
                        <a:tailEnd/>
                      </a:ln>
                    </p:spPr>
                  </p:pic>
                </p:oleObj>
              </mc:Fallback>
            </mc:AlternateContent>
          </a:graphicData>
        </a:graphic>
      </p:graphicFrame>
      <p:sp>
        <p:nvSpPr>
          <p:cNvPr id="42006" name="Text Box 27">
            <a:extLst>
              <a:ext uri="{FF2B5EF4-FFF2-40B4-BE49-F238E27FC236}">
                <a16:creationId xmlns:a16="http://schemas.microsoft.com/office/drawing/2014/main" id="{25C50EBB-5CBA-4059-A276-232713F3FDB5}"/>
              </a:ext>
            </a:extLst>
          </p:cNvPr>
          <p:cNvSpPr txBox="1">
            <a:spLocks noChangeArrowheads="1"/>
          </p:cNvSpPr>
          <p:nvPr/>
        </p:nvSpPr>
        <p:spPr bwMode="auto">
          <a:xfrm>
            <a:off x="1709737" y="2798929"/>
            <a:ext cx="6263935" cy="4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3500" tIns="27000" rIns="13500" bIns="8100">
            <a:spAutoFit/>
          </a:bodyPr>
          <a:lstStyle>
            <a:lvl1pPr marL="342900" indent="-34290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buFont typeface="Wingdings" panose="05000000000000000000" pitchFamily="2" charset="2"/>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Ca</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为常量元素，其含量与盐度呈正相关：</a:t>
            </a:r>
          </a:p>
        </p:txBody>
      </p:sp>
      <p:sp>
        <p:nvSpPr>
          <p:cNvPr id="42007" name="Rectangle 29">
            <a:extLst>
              <a:ext uri="{FF2B5EF4-FFF2-40B4-BE49-F238E27FC236}">
                <a16:creationId xmlns:a16="http://schemas.microsoft.com/office/drawing/2014/main" id="{B3EB8735-C640-44A2-8A6E-ECBDF48AC23A}"/>
              </a:ext>
            </a:extLst>
          </p:cNvPr>
          <p:cNvSpPr>
            <a:spLocks noChangeArrowheads="1"/>
          </p:cNvSpPr>
          <p:nvPr/>
        </p:nvSpPr>
        <p:spPr bwMode="auto">
          <a:xfrm>
            <a:off x="1143000" y="319062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graphicFrame>
        <p:nvGraphicFramePr>
          <p:cNvPr id="41987" name="Object 28">
            <a:extLst>
              <a:ext uri="{FF2B5EF4-FFF2-40B4-BE49-F238E27FC236}">
                <a16:creationId xmlns:a16="http://schemas.microsoft.com/office/drawing/2014/main" id="{596055BF-C6F4-4480-B1A9-AD3F51A0539C}"/>
              </a:ext>
            </a:extLst>
          </p:cNvPr>
          <p:cNvGraphicFramePr>
            <a:graphicFrameLocks noChangeAspect="1"/>
          </p:cNvGraphicFramePr>
          <p:nvPr>
            <p:extLst>
              <p:ext uri="{D42A27DB-BD31-4B8C-83A1-F6EECF244321}">
                <p14:modId xmlns:p14="http://schemas.microsoft.com/office/powerpoint/2010/main" val="786653346"/>
              </p:ext>
            </p:extLst>
          </p:nvPr>
        </p:nvGraphicFramePr>
        <p:xfrm>
          <a:off x="3219237" y="3401368"/>
          <a:ext cx="2461235" cy="413396"/>
        </p:xfrm>
        <a:graphic>
          <a:graphicData uri="http://schemas.openxmlformats.org/presentationml/2006/ole">
            <mc:AlternateContent xmlns:mc="http://schemas.openxmlformats.org/markup-compatibility/2006">
              <mc:Choice xmlns:v="urn:schemas-microsoft-com:vml" Requires="v">
                <p:oleObj name="Equation" r:id="rId4" imgW="1384200" imgH="228600" progId="Equation.3">
                  <p:embed/>
                </p:oleObj>
              </mc:Choice>
              <mc:Fallback>
                <p:oleObj name="Equation" r:id="rId4" imgW="1384200" imgH="228600" progId="Equation.3">
                  <p:embed/>
                  <p:pic>
                    <p:nvPicPr>
                      <p:cNvPr id="41987" name="Object 28">
                        <a:extLst>
                          <a:ext uri="{FF2B5EF4-FFF2-40B4-BE49-F238E27FC236}">
                            <a16:creationId xmlns:a16="http://schemas.microsoft.com/office/drawing/2014/main" id="{596055BF-C6F4-4480-B1A9-AD3F51A053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9237" y="3401368"/>
                        <a:ext cx="2461235" cy="413396"/>
                      </a:xfrm>
                      <a:prstGeom prst="rect">
                        <a:avLst/>
                      </a:prstGeom>
                      <a:solidFill>
                        <a:srgbClr val="FFE4C9"/>
                      </a:solidFill>
                      <a:ln w="9525">
                        <a:solidFill>
                          <a:srgbClr val="0033CC"/>
                        </a:solidFill>
                        <a:miter lim="800000"/>
                        <a:headEnd/>
                        <a:tailEnd/>
                      </a:ln>
                    </p:spPr>
                  </p:pic>
                </p:oleObj>
              </mc:Fallback>
            </mc:AlternateContent>
          </a:graphicData>
        </a:graphic>
      </p:graphicFrame>
      <p:sp>
        <p:nvSpPr>
          <p:cNvPr id="42008" name="Text Box 30">
            <a:extLst>
              <a:ext uri="{FF2B5EF4-FFF2-40B4-BE49-F238E27FC236}">
                <a16:creationId xmlns:a16="http://schemas.microsoft.com/office/drawing/2014/main" id="{9C8CCBD2-1E2E-488F-9682-4A5FF2A34BD2}"/>
              </a:ext>
            </a:extLst>
          </p:cNvPr>
          <p:cNvSpPr txBox="1">
            <a:spLocks noChangeArrowheads="1"/>
          </p:cNvSpPr>
          <p:nvPr/>
        </p:nvSpPr>
        <p:spPr bwMode="auto">
          <a:xfrm>
            <a:off x="1709737" y="4063857"/>
            <a:ext cx="6119766" cy="4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3500" tIns="27000" rIns="13500" bIns="8100">
            <a:spAutoFit/>
          </a:bodyPr>
          <a:lstStyle>
            <a:lvl1pPr marL="342900" indent="-342900"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buFont typeface="Wingdings" panose="05000000000000000000" pitchFamily="2" charset="2"/>
              <a:buNone/>
            </a:pPr>
            <a:r>
              <a:rPr lang="zh-CN" altLang="en-US" dirty="0">
                <a:latin typeface="Times New Roman" panose="02020603050405020304" pitchFamily="18" charset="0"/>
                <a:ea typeface="黑体" panose="02010609060101010101" pitchFamily="49" charset="-122"/>
                <a:cs typeface="Times New Roman" panose="02020603050405020304" pitchFamily="18" charset="0"/>
              </a:rPr>
              <a:t>对开阔大洋水，</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a:t>
            </a:r>
            <a:r>
              <a:rPr lang="en-US" altLang="zh-CN" baseline="30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变化很小（</a:t>
            </a:r>
            <a:r>
              <a:rPr lang="en-US" altLang="zh-CN" dirty="0">
                <a:latin typeface="Times New Roman" panose="02020603050405020304" pitchFamily="18" charset="0"/>
                <a:ea typeface="黑体" panose="02010609060101010101" pitchFamily="49" charset="-122"/>
                <a:cs typeface="Times New Roman" panose="02020603050405020304" pitchFamily="18" charset="0"/>
              </a:rPr>
              <a:t>&lt;1%</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42009" name="Rectangle 32">
            <a:extLst>
              <a:ext uri="{FF2B5EF4-FFF2-40B4-BE49-F238E27FC236}">
                <a16:creationId xmlns:a16="http://schemas.microsoft.com/office/drawing/2014/main" id="{D0D8717E-AE4F-4246-B569-9A3302FFC467}"/>
              </a:ext>
            </a:extLst>
          </p:cNvPr>
          <p:cNvSpPr>
            <a:spLocks noChangeArrowheads="1"/>
          </p:cNvSpPr>
          <p:nvPr/>
        </p:nvSpPr>
        <p:spPr bwMode="auto">
          <a:xfrm>
            <a:off x="1143000" y="310490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graphicFrame>
        <p:nvGraphicFramePr>
          <p:cNvPr id="41988" name="Object 31">
            <a:extLst>
              <a:ext uri="{FF2B5EF4-FFF2-40B4-BE49-F238E27FC236}">
                <a16:creationId xmlns:a16="http://schemas.microsoft.com/office/drawing/2014/main" id="{912BA9E8-364E-4140-B3D0-912BEE53799F}"/>
              </a:ext>
            </a:extLst>
          </p:cNvPr>
          <p:cNvGraphicFramePr>
            <a:graphicFrameLocks noChangeAspect="1"/>
          </p:cNvGraphicFramePr>
          <p:nvPr>
            <p:extLst>
              <p:ext uri="{D42A27DB-BD31-4B8C-83A1-F6EECF244321}">
                <p14:modId xmlns:p14="http://schemas.microsoft.com/office/powerpoint/2010/main" val="3805632906"/>
              </p:ext>
            </p:extLst>
          </p:nvPr>
        </p:nvGraphicFramePr>
        <p:xfrm>
          <a:off x="3491880" y="4646344"/>
          <a:ext cx="1952645" cy="943194"/>
        </p:xfrm>
        <a:graphic>
          <a:graphicData uri="http://schemas.openxmlformats.org/presentationml/2006/ole">
            <mc:AlternateContent xmlns:mc="http://schemas.openxmlformats.org/markup-compatibility/2006">
              <mc:Choice xmlns:v="urn:schemas-microsoft-com:vml" Requires="v">
                <p:oleObj name="公式" r:id="rId6" imgW="1002960" imgH="482400" progId="Equation.3">
                  <p:embed/>
                </p:oleObj>
              </mc:Choice>
              <mc:Fallback>
                <p:oleObj name="公式" r:id="rId6" imgW="1002960" imgH="482400" progId="Equation.3">
                  <p:embed/>
                  <p:pic>
                    <p:nvPicPr>
                      <p:cNvPr id="41988" name="Object 31">
                        <a:extLst>
                          <a:ext uri="{FF2B5EF4-FFF2-40B4-BE49-F238E27FC236}">
                            <a16:creationId xmlns:a16="http://schemas.microsoft.com/office/drawing/2014/main" id="{912BA9E8-364E-4140-B3D0-912BEE5379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1880" y="4646344"/>
                        <a:ext cx="1952645" cy="943194"/>
                      </a:xfrm>
                      <a:prstGeom prst="rect">
                        <a:avLst/>
                      </a:prstGeom>
                      <a:solidFill>
                        <a:srgbClr val="CCFFFF"/>
                      </a:solidFill>
                      <a:ln w="12700">
                        <a:solidFill>
                          <a:srgbClr val="800000"/>
                        </a:solidFill>
                        <a:miter lim="800000"/>
                        <a:headEnd/>
                        <a:tailEnd/>
                      </a:ln>
                    </p:spPr>
                  </p:pic>
                </p:oleObj>
              </mc:Fallback>
            </mc:AlternateContent>
          </a:graphicData>
        </a:graphic>
      </p:graphicFrame>
      <p:sp>
        <p:nvSpPr>
          <p:cNvPr id="42010" name="Rectangle 41">
            <a:extLst>
              <a:ext uri="{FF2B5EF4-FFF2-40B4-BE49-F238E27FC236}">
                <a16:creationId xmlns:a16="http://schemas.microsoft.com/office/drawing/2014/main" id="{2C93EF6D-F4E8-4452-8A10-58E57C7FDB49}"/>
              </a:ext>
            </a:extLst>
          </p:cNvPr>
          <p:cNvSpPr>
            <a:spLocks noChangeArrowheads="1"/>
          </p:cNvSpPr>
          <p:nvPr/>
        </p:nvSpPr>
        <p:spPr bwMode="auto">
          <a:xfrm>
            <a:off x="1684097" y="428947"/>
            <a:ext cx="4968479" cy="527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squar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00000"/>
              </a:lnSpc>
              <a:spcBef>
                <a:spcPct val="0"/>
              </a:spcBef>
              <a:buFontTx/>
              <a:buNone/>
            </a:pPr>
            <a:r>
              <a:rPr lang="zh-CN" altLang="en-US" sz="32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二、海水中</a:t>
            </a:r>
            <a:r>
              <a:rPr lang="en-US" altLang="zh-CN" sz="32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CaCO</a:t>
            </a:r>
            <a:r>
              <a:rPr lang="en-US" altLang="zh-CN" sz="3200" baseline="-250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32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的饱和度 </a:t>
            </a:r>
          </a:p>
        </p:txBody>
      </p:sp>
    </p:spTree>
    <p:extLst>
      <p:ext uri="{BB962C8B-B14F-4D97-AF65-F5344CB8AC3E}">
        <p14:creationId xmlns:p14="http://schemas.microsoft.com/office/powerpoint/2010/main" val="4221202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a:extLst>
              <a:ext uri="{FF2B5EF4-FFF2-40B4-BE49-F238E27FC236}">
                <a16:creationId xmlns:a16="http://schemas.microsoft.com/office/drawing/2014/main" id="{F64D22A5-03B8-4484-81EC-AEBF13721647}"/>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19" name="Rectangle 4">
            <a:extLst>
              <a:ext uri="{FF2B5EF4-FFF2-40B4-BE49-F238E27FC236}">
                <a16:creationId xmlns:a16="http://schemas.microsoft.com/office/drawing/2014/main" id="{11558FD5-3A16-4507-91B8-CD0D86D6A8AB}"/>
              </a:ext>
            </a:extLst>
          </p:cNvPr>
          <p:cNvSpPr>
            <a:spLocks noChangeArrowheads="1"/>
          </p:cNvSpPr>
          <p:nvPr/>
        </p:nvSpPr>
        <p:spPr bwMode="auto">
          <a:xfrm>
            <a:off x="1143000" y="3097758"/>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0" name="Rectangle 5">
            <a:extLst>
              <a:ext uri="{FF2B5EF4-FFF2-40B4-BE49-F238E27FC236}">
                <a16:creationId xmlns:a16="http://schemas.microsoft.com/office/drawing/2014/main" id="{2B8C4F02-CBF0-4ACF-B5C3-0B7997B1A253}"/>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1" name="Rectangle 6">
            <a:extLst>
              <a:ext uri="{FF2B5EF4-FFF2-40B4-BE49-F238E27FC236}">
                <a16:creationId xmlns:a16="http://schemas.microsoft.com/office/drawing/2014/main" id="{ECD090C8-347C-4B72-80BE-A5C917FB2709}"/>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2" name="Rectangle 7">
            <a:extLst>
              <a:ext uri="{FF2B5EF4-FFF2-40B4-BE49-F238E27FC236}">
                <a16:creationId xmlns:a16="http://schemas.microsoft.com/office/drawing/2014/main" id="{9D713625-9451-4870-BDDC-F9F9E647FFED}"/>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3" name="Rectangle 8">
            <a:extLst>
              <a:ext uri="{FF2B5EF4-FFF2-40B4-BE49-F238E27FC236}">
                <a16:creationId xmlns:a16="http://schemas.microsoft.com/office/drawing/2014/main" id="{2940100C-4025-4352-856D-055AA5411656}"/>
              </a:ext>
            </a:extLst>
          </p:cNvPr>
          <p:cNvSpPr>
            <a:spLocks noChangeArrowheads="1"/>
          </p:cNvSpPr>
          <p:nvPr/>
        </p:nvSpPr>
        <p:spPr bwMode="auto">
          <a:xfrm>
            <a:off x="1143000" y="31763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4" name="Rectangle 9">
            <a:extLst>
              <a:ext uri="{FF2B5EF4-FFF2-40B4-BE49-F238E27FC236}">
                <a16:creationId xmlns:a16="http://schemas.microsoft.com/office/drawing/2014/main" id="{B714020F-2FB1-494B-96DD-6AE3F694D506}"/>
              </a:ext>
            </a:extLst>
          </p:cNvPr>
          <p:cNvSpPr>
            <a:spLocks noChangeArrowheads="1"/>
          </p:cNvSpPr>
          <p:nvPr/>
        </p:nvSpPr>
        <p:spPr bwMode="auto">
          <a:xfrm>
            <a:off x="1143000" y="31763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5" name="Rectangle 10">
            <a:extLst>
              <a:ext uri="{FF2B5EF4-FFF2-40B4-BE49-F238E27FC236}">
                <a16:creationId xmlns:a16="http://schemas.microsoft.com/office/drawing/2014/main" id="{A10FC652-28F5-4766-9105-62BE63DC3F42}"/>
              </a:ext>
            </a:extLst>
          </p:cNvPr>
          <p:cNvSpPr>
            <a:spLocks noChangeArrowheads="1"/>
          </p:cNvSpPr>
          <p:nvPr/>
        </p:nvSpPr>
        <p:spPr bwMode="auto">
          <a:xfrm>
            <a:off x="1143000" y="300131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6" name="Rectangle 11">
            <a:extLst>
              <a:ext uri="{FF2B5EF4-FFF2-40B4-BE49-F238E27FC236}">
                <a16:creationId xmlns:a16="http://schemas.microsoft.com/office/drawing/2014/main" id="{0C340194-8ECA-4D0E-BB67-9FF4A7E0781C}"/>
              </a:ext>
            </a:extLst>
          </p:cNvPr>
          <p:cNvSpPr>
            <a:spLocks noChangeArrowheads="1"/>
          </p:cNvSpPr>
          <p:nvPr/>
        </p:nvSpPr>
        <p:spPr bwMode="auto">
          <a:xfrm>
            <a:off x="1143000" y="325849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7" name="Rectangle 12">
            <a:extLst>
              <a:ext uri="{FF2B5EF4-FFF2-40B4-BE49-F238E27FC236}">
                <a16:creationId xmlns:a16="http://schemas.microsoft.com/office/drawing/2014/main" id="{C2AB7D94-82C1-4299-9511-9454D6B3DA1D}"/>
              </a:ext>
            </a:extLst>
          </p:cNvPr>
          <p:cNvSpPr>
            <a:spLocks noChangeArrowheads="1"/>
          </p:cNvSpPr>
          <p:nvPr/>
        </p:nvSpPr>
        <p:spPr bwMode="auto">
          <a:xfrm>
            <a:off x="1143000" y="340136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8" name="Rectangle 13">
            <a:extLst>
              <a:ext uri="{FF2B5EF4-FFF2-40B4-BE49-F238E27FC236}">
                <a16:creationId xmlns:a16="http://schemas.microsoft.com/office/drawing/2014/main" id="{ABDD99E9-061B-4E07-AF59-73775AF52CC0}"/>
              </a:ext>
            </a:extLst>
          </p:cNvPr>
          <p:cNvSpPr>
            <a:spLocks noChangeArrowheads="1"/>
          </p:cNvSpPr>
          <p:nvPr/>
        </p:nvSpPr>
        <p:spPr bwMode="auto">
          <a:xfrm>
            <a:off x="1143000" y="314419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29" name="Rectangle 14">
            <a:extLst>
              <a:ext uri="{FF2B5EF4-FFF2-40B4-BE49-F238E27FC236}">
                <a16:creationId xmlns:a16="http://schemas.microsoft.com/office/drawing/2014/main" id="{CB2E538C-0128-443E-881D-65080E684E51}"/>
              </a:ext>
            </a:extLst>
          </p:cNvPr>
          <p:cNvSpPr>
            <a:spLocks noChangeArrowheads="1"/>
          </p:cNvSpPr>
          <p:nvPr/>
        </p:nvSpPr>
        <p:spPr bwMode="auto">
          <a:xfrm>
            <a:off x="1143000" y="310490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30" name="Rectangle 15">
            <a:extLst>
              <a:ext uri="{FF2B5EF4-FFF2-40B4-BE49-F238E27FC236}">
                <a16:creationId xmlns:a16="http://schemas.microsoft.com/office/drawing/2014/main" id="{B0306670-AEE6-4C79-9D75-E09B7942607B}"/>
              </a:ext>
            </a:extLst>
          </p:cNvPr>
          <p:cNvSpPr>
            <a:spLocks noChangeArrowheads="1"/>
          </p:cNvSpPr>
          <p:nvPr/>
        </p:nvSpPr>
        <p:spPr bwMode="auto">
          <a:xfrm>
            <a:off x="1143000" y="29477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31" name="Rectangle 16">
            <a:extLst>
              <a:ext uri="{FF2B5EF4-FFF2-40B4-BE49-F238E27FC236}">
                <a16:creationId xmlns:a16="http://schemas.microsoft.com/office/drawing/2014/main" id="{0EBB1D96-CC24-481A-88AD-E8FD9A15298B}"/>
              </a:ext>
            </a:extLst>
          </p:cNvPr>
          <p:cNvSpPr>
            <a:spLocks noChangeArrowheads="1"/>
          </p:cNvSpPr>
          <p:nvPr/>
        </p:nvSpPr>
        <p:spPr bwMode="auto">
          <a:xfrm>
            <a:off x="1143000" y="309061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32" name="Rectangle 17">
            <a:extLst>
              <a:ext uri="{FF2B5EF4-FFF2-40B4-BE49-F238E27FC236}">
                <a16:creationId xmlns:a16="http://schemas.microsoft.com/office/drawing/2014/main" id="{13733F5D-C204-4981-8806-2BCBC1565DAE}"/>
              </a:ext>
            </a:extLst>
          </p:cNvPr>
          <p:cNvSpPr>
            <a:spLocks noChangeArrowheads="1"/>
          </p:cNvSpPr>
          <p:nvPr/>
        </p:nvSpPr>
        <p:spPr bwMode="auto">
          <a:xfrm>
            <a:off x="1143000" y="3254921"/>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33" name="Rectangle 18">
            <a:extLst>
              <a:ext uri="{FF2B5EF4-FFF2-40B4-BE49-F238E27FC236}">
                <a16:creationId xmlns:a16="http://schemas.microsoft.com/office/drawing/2014/main" id="{68861049-A05A-4025-980D-33C94E5F7B19}"/>
              </a:ext>
            </a:extLst>
          </p:cNvPr>
          <p:cNvSpPr>
            <a:spLocks noChangeArrowheads="1"/>
          </p:cNvSpPr>
          <p:nvPr/>
        </p:nvSpPr>
        <p:spPr bwMode="auto">
          <a:xfrm>
            <a:off x="1143000" y="341922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34" name="Rectangle 19">
            <a:extLst>
              <a:ext uri="{FF2B5EF4-FFF2-40B4-BE49-F238E27FC236}">
                <a16:creationId xmlns:a16="http://schemas.microsoft.com/office/drawing/2014/main" id="{9537AF8B-92EC-4F20-92D1-2B3228DA5FDE}"/>
              </a:ext>
            </a:extLst>
          </p:cNvPr>
          <p:cNvSpPr>
            <a:spLocks noChangeArrowheads="1"/>
          </p:cNvSpPr>
          <p:nvPr/>
        </p:nvSpPr>
        <p:spPr bwMode="auto">
          <a:xfrm>
            <a:off x="1143000" y="2021433"/>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1635" name="Rectangle 23">
            <a:extLst>
              <a:ext uri="{FF2B5EF4-FFF2-40B4-BE49-F238E27FC236}">
                <a16:creationId xmlns:a16="http://schemas.microsoft.com/office/drawing/2014/main" id="{07F66196-CF8F-45EC-9D0A-C6AE46F74D0A}"/>
              </a:ext>
            </a:extLst>
          </p:cNvPr>
          <p:cNvSpPr>
            <a:spLocks noChangeArrowheads="1"/>
          </p:cNvSpPr>
          <p:nvPr/>
        </p:nvSpPr>
        <p:spPr bwMode="auto">
          <a:xfrm>
            <a:off x="1763688" y="468977"/>
            <a:ext cx="5328592" cy="46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squar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lnSpc>
                <a:spcPct val="100000"/>
              </a:lnSpc>
              <a:spcBef>
                <a:spcPct val="0"/>
              </a:spcBef>
              <a:buFontTx/>
              <a:buNone/>
            </a:pPr>
            <a:r>
              <a:rPr lang="zh-CN" altLang="en-US"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三、海水中</a:t>
            </a:r>
            <a:r>
              <a:rPr lang="en-US" altLang="zh-CN"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CaCO</a:t>
            </a:r>
            <a:r>
              <a:rPr lang="en-US" altLang="zh-CN" sz="2800" baseline="-250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的饱和深度 </a:t>
            </a:r>
          </a:p>
        </p:txBody>
      </p:sp>
      <p:pic>
        <p:nvPicPr>
          <p:cNvPr id="111636" name="Picture 25" descr="图4-8-5">
            <a:extLst>
              <a:ext uri="{FF2B5EF4-FFF2-40B4-BE49-F238E27FC236}">
                <a16:creationId xmlns:a16="http://schemas.microsoft.com/office/drawing/2014/main" id="{01052248-85EB-453D-A1FF-EEF6D56881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20" t="2693" r="2113" b="3612"/>
          <a:stretch>
            <a:fillRect/>
          </a:stretch>
        </p:blipFill>
        <p:spPr bwMode="auto">
          <a:xfrm>
            <a:off x="2123728" y="1414278"/>
            <a:ext cx="3924698" cy="459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0496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4">
            <a:extLst>
              <a:ext uri="{FF2B5EF4-FFF2-40B4-BE49-F238E27FC236}">
                <a16:creationId xmlns:a16="http://schemas.microsoft.com/office/drawing/2014/main" id="{31A43FE7-04A7-4E4C-A8F6-9D116D9FBB4F}"/>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43" name="Rectangle 5">
            <a:extLst>
              <a:ext uri="{FF2B5EF4-FFF2-40B4-BE49-F238E27FC236}">
                <a16:creationId xmlns:a16="http://schemas.microsoft.com/office/drawing/2014/main" id="{9FABE8C4-B04B-45F8-B30E-949A2C4A16E6}"/>
              </a:ext>
            </a:extLst>
          </p:cNvPr>
          <p:cNvSpPr>
            <a:spLocks noChangeArrowheads="1"/>
          </p:cNvSpPr>
          <p:nvPr/>
        </p:nvSpPr>
        <p:spPr bwMode="auto">
          <a:xfrm>
            <a:off x="1143000" y="3097758"/>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44" name="Rectangle 6">
            <a:extLst>
              <a:ext uri="{FF2B5EF4-FFF2-40B4-BE49-F238E27FC236}">
                <a16:creationId xmlns:a16="http://schemas.microsoft.com/office/drawing/2014/main" id="{DC1D3351-09E2-4B70-B999-EF7FEDCBA247}"/>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45" name="Rectangle 7">
            <a:extLst>
              <a:ext uri="{FF2B5EF4-FFF2-40B4-BE49-F238E27FC236}">
                <a16:creationId xmlns:a16="http://schemas.microsoft.com/office/drawing/2014/main" id="{2EBDB43A-9131-4A3B-B5E7-C3A667EC8A3A}"/>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46" name="Rectangle 8">
            <a:extLst>
              <a:ext uri="{FF2B5EF4-FFF2-40B4-BE49-F238E27FC236}">
                <a16:creationId xmlns:a16="http://schemas.microsoft.com/office/drawing/2014/main" id="{4812F48E-5748-4EAC-B310-AFC316DD77D6}"/>
              </a:ext>
            </a:extLst>
          </p:cNvPr>
          <p:cNvSpPr>
            <a:spLocks noChangeArrowheads="1"/>
          </p:cNvSpPr>
          <p:nvPr/>
        </p:nvSpPr>
        <p:spPr bwMode="auto">
          <a:xfrm>
            <a:off x="1143000" y="318705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47" name="Rectangle 9">
            <a:extLst>
              <a:ext uri="{FF2B5EF4-FFF2-40B4-BE49-F238E27FC236}">
                <a16:creationId xmlns:a16="http://schemas.microsoft.com/office/drawing/2014/main" id="{9F1459A9-9763-4495-9660-B0913E0CF2F8}"/>
              </a:ext>
            </a:extLst>
          </p:cNvPr>
          <p:cNvSpPr>
            <a:spLocks noChangeArrowheads="1"/>
          </p:cNvSpPr>
          <p:nvPr/>
        </p:nvSpPr>
        <p:spPr bwMode="auto">
          <a:xfrm>
            <a:off x="1143000" y="31763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48" name="Rectangle 10">
            <a:extLst>
              <a:ext uri="{FF2B5EF4-FFF2-40B4-BE49-F238E27FC236}">
                <a16:creationId xmlns:a16="http://schemas.microsoft.com/office/drawing/2014/main" id="{60F4F967-06BE-42D4-9AAE-091BCCEA33A5}"/>
              </a:ext>
            </a:extLst>
          </p:cNvPr>
          <p:cNvSpPr>
            <a:spLocks noChangeArrowheads="1"/>
          </p:cNvSpPr>
          <p:nvPr/>
        </p:nvSpPr>
        <p:spPr bwMode="auto">
          <a:xfrm>
            <a:off x="1143000" y="31763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49" name="Rectangle 11">
            <a:extLst>
              <a:ext uri="{FF2B5EF4-FFF2-40B4-BE49-F238E27FC236}">
                <a16:creationId xmlns:a16="http://schemas.microsoft.com/office/drawing/2014/main" id="{426A1128-2D2D-403E-8741-CE64DA3C4162}"/>
              </a:ext>
            </a:extLst>
          </p:cNvPr>
          <p:cNvSpPr>
            <a:spLocks noChangeArrowheads="1"/>
          </p:cNvSpPr>
          <p:nvPr/>
        </p:nvSpPr>
        <p:spPr bwMode="auto">
          <a:xfrm>
            <a:off x="1143000" y="300131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0" name="Rectangle 12">
            <a:extLst>
              <a:ext uri="{FF2B5EF4-FFF2-40B4-BE49-F238E27FC236}">
                <a16:creationId xmlns:a16="http://schemas.microsoft.com/office/drawing/2014/main" id="{FAA8A86B-71A4-4AB0-9595-1CE7219F9E66}"/>
              </a:ext>
            </a:extLst>
          </p:cNvPr>
          <p:cNvSpPr>
            <a:spLocks noChangeArrowheads="1"/>
          </p:cNvSpPr>
          <p:nvPr/>
        </p:nvSpPr>
        <p:spPr bwMode="auto">
          <a:xfrm>
            <a:off x="1143000" y="325849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1" name="Rectangle 13">
            <a:extLst>
              <a:ext uri="{FF2B5EF4-FFF2-40B4-BE49-F238E27FC236}">
                <a16:creationId xmlns:a16="http://schemas.microsoft.com/office/drawing/2014/main" id="{8F6E4364-D02E-465E-9E08-3DC11AAECBE1}"/>
              </a:ext>
            </a:extLst>
          </p:cNvPr>
          <p:cNvSpPr>
            <a:spLocks noChangeArrowheads="1"/>
          </p:cNvSpPr>
          <p:nvPr/>
        </p:nvSpPr>
        <p:spPr bwMode="auto">
          <a:xfrm>
            <a:off x="1143000" y="340136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2" name="Rectangle 14">
            <a:extLst>
              <a:ext uri="{FF2B5EF4-FFF2-40B4-BE49-F238E27FC236}">
                <a16:creationId xmlns:a16="http://schemas.microsoft.com/office/drawing/2014/main" id="{0201F681-98BD-43DB-9BC0-045222C5B752}"/>
              </a:ext>
            </a:extLst>
          </p:cNvPr>
          <p:cNvSpPr>
            <a:spLocks noChangeArrowheads="1"/>
          </p:cNvSpPr>
          <p:nvPr/>
        </p:nvSpPr>
        <p:spPr bwMode="auto">
          <a:xfrm>
            <a:off x="1143000" y="314419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3" name="Rectangle 15">
            <a:extLst>
              <a:ext uri="{FF2B5EF4-FFF2-40B4-BE49-F238E27FC236}">
                <a16:creationId xmlns:a16="http://schemas.microsoft.com/office/drawing/2014/main" id="{299EE5CC-A8A3-4F7B-A59B-0378C470BAB0}"/>
              </a:ext>
            </a:extLst>
          </p:cNvPr>
          <p:cNvSpPr>
            <a:spLocks noChangeArrowheads="1"/>
          </p:cNvSpPr>
          <p:nvPr/>
        </p:nvSpPr>
        <p:spPr bwMode="auto">
          <a:xfrm>
            <a:off x="1143000" y="3104902"/>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4" name="Rectangle 17">
            <a:extLst>
              <a:ext uri="{FF2B5EF4-FFF2-40B4-BE49-F238E27FC236}">
                <a16:creationId xmlns:a16="http://schemas.microsoft.com/office/drawing/2014/main" id="{5E4FB6BB-097A-40C6-B80A-450295AEDD13}"/>
              </a:ext>
            </a:extLst>
          </p:cNvPr>
          <p:cNvSpPr>
            <a:spLocks noChangeArrowheads="1"/>
          </p:cNvSpPr>
          <p:nvPr/>
        </p:nvSpPr>
        <p:spPr bwMode="auto">
          <a:xfrm>
            <a:off x="1143000" y="2947740"/>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5" name="Rectangle 19">
            <a:extLst>
              <a:ext uri="{FF2B5EF4-FFF2-40B4-BE49-F238E27FC236}">
                <a16:creationId xmlns:a16="http://schemas.microsoft.com/office/drawing/2014/main" id="{A2C46BAE-0DAC-4E42-8987-7F0E5BB6310D}"/>
              </a:ext>
            </a:extLst>
          </p:cNvPr>
          <p:cNvSpPr>
            <a:spLocks noChangeArrowheads="1"/>
          </p:cNvSpPr>
          <p:nvPr/>
        </p:nvSpPr>
        <p:spPr bwMode="auto">
          <a:xfrm>
            <a:off x="1143000" y="3090615"/>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6" name="Rectangle 21">
            <a:extLst>
              <a:ext uri="{FF2B5EF4-FFF2-40B4-BE49-F238E27FC236}">
                <a16:creationId xmlns:a16="http://schemas.microsoft.com/office/drawing/2014/main" id="{0D3AEF69-BAC8-464D-8C77-C0FF9055947F}"/>
              </a:ext>
            </a:extLst>
          </p:cNvPr>
          <p:cNvSpPr>
            <a:spLocks noChangeArrowheads="1"/>
          </p:cNvSpPr>
          <p:nvPr/>
        </p:nvSpPr>
        <p:spPr bwMode="auto">
          <a:xfrm>
            <a:off x="1143000" y="3254921"/>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7" name="Rectangle 23">
            <a:extLst>
              <a:ext uri="{FF2B5EF4-FFF2-40B4-BE49-F238E27FC236}">
                <a16:creationId xmlns:a16="http://schemas.microsoft.com/office/drawing/2014/main" id="{D4AF71FA-C7AB-42F2-8A26-D04C295DB50F}"/>
              </a:ext>
            </a:extLst>
          </p:cNvPr>
          <p:cNvSpPr>
            <a:spLocks noChangeArrowheads="1"/>
          </p:cNvSpPr>
          <p:nvPr/>
        </p:nvSpPr>
        <p:spPr bwMode="auto">
          <a:xfrm>
            <a:off x="1143000" y="3419227"/>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8" name="Rectangle 26">
            <a:extLst>
              <a:ext uri="{FF2B5EF4-FFF2-40B4-BE49-F238E27FC236}">
                <a16:creationId xmlns:a16="http://schemas.microsoft.com/office/drawing/2014/main" id="{85ECC27D-5064-47C6-995B-801A871C0232}"/>
              </a:ext>
            </a:extLst>
          </p:cNvPr>
          <p:cNvSpPr>
            <a:spLocks noChangeArrowheads="1"/>
          </p:cNvSpPr>
          <p:nvPr/>
        </p:nvSpPr>
        <p:spPr bwMode="auto">
          <a:xfrm>
            <a:off x="1143000" y="2021433"/>
            <a:ext cx="27328" cy="31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wrap="none"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eaLnBrk="1" hangingPunct="1"/>
            <a:endParaRPr lang="zh-CN" altLang="en-US" sz="1800"/>
          </a:p>
        </p:txBody>
      </p:sp>
      <p:sp>
        <p:nvSpPr>
          <p:cNvPr id="112659" name="Rectangle 27">
            <a:extLst>
              <a:ext uri="{FF2B5EF4-FFF2-40B4-BE49-F238E27FC236}">
                <a16:creationId xmlns:a16="http://schemas.microsoft.com/office/drawing/2014/main" id="{769C4E59-1D95-4952-B5C3-DB9068A2FB4A}"/>
              </a:ext>
            </a:extLst>
          </p:cNvPr>
          <p:cNvSpPr>
            <a:spLocks noChangeArrowheads="1"/>
          </p:cNvSpPr>
          <p:nvPr/>
        </p:nvSpPr>
        <p:spPr bwMode="auto">
          <a:xfrm>
            <a:off x="1403648" y="377469"/>
            <a:ext cx="5643563" cy="4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lgn="ctr">
                <a:solidFill>
                  <a:srgbClr val="000000"/>
                </a:solidFill>
                <a:miter lim="800000"/>
                <a:headEnd/>
                <a:tailEnd/>
              </a14:hiddenLine>
            </a:ext>
          </a:extLst>
        </p:spPr>
        <p:txBody>
          <a:bodyPr lIns="13500" tIns="27000" rIns="13500" bIns="8100" anchor="ctr">
            <a:spAutoFit/>
          </a:bodyPr>
          <a:lstStyle>
            <a:lvl1pPr eaLnBrk="0" hangingPunct="0">
              <a:defRPr sz="2400" b="1">
                <a:solidFill>
                  <a:schemeClr val="tx1"/>
                </a:solidFill>
                <a:latin typeface="华文新魏" panose="02010800040101010101" pitchFamily="2" charset="-122"/>
                <a:ea typeface="华文新魏" panose="02010800040101010101" pitchFamily="2" charset="-122"/>
              </a:defRPr>
            </a:lvl1pPr>
            <a:lvl2pPr marL="742950" indent="-285750" eaLnBrk="0" hangingPunct="0">
              <a:defRPr sz="2400" b="1">
                <a:solidFill>
                  <a:schemeClr val="tx1"/>
                </a:solidFill>
                <a:latin typeface="华文新魏" panose="02010800040101010101" pitchFamily="2" charset="-122"/>
                <a:ea typeface="华文新魏" panose="02010800040101010101" pitchFamily="2" charset="-122"/>
              </a:defRPr>
            </a:lvl2pPr>
            <a:lvl3pPr marL="1143000" indent="-228600" eaLnBrk="0" hangingPunct="0">
              <a:defRPr sz="2400" b="1">
                <a:solidFill>
                  <a:schemeClr val="tx1"/>
                </a:solidFill>
                <a:latin typeface="华文新魏" panose="02010800040101010101" pitchFamily="2" charset="-122"/>
                <a:ea typeface="华文新魏" panose="02010800040101010101" pitchFamily="2" charset="-122"/>
              </a:defRPr>
            </a:lvl3pPr>
            <a:lvl4pPr marL="1600200" indent="-228600" eaLnBrk="0" hangingPunct="0">
              <a:defRPr sz="2400" b="1">
                <a:solidFill>
                  <a:schemeClr val="tx1"/>
                </a:solidFill>
                <a:latin typeface="华文新魏" panose="02010800040101010101" pitchFamily="2" charset="-122"/>
                <a:ea typeface="华文新魏" panose="02010800040101010101" pitchFamily="2" charset="-122"/>
              </a:defRPr>
            </a:lvl4pPr>
            <a:lvl5pPr marL="2057400" indent="-228600" eaLnBrk="0" hangingPunct="0">
              <a:defRPr sz="24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lnSpc>
                <a:spcPct val="120000"/>
              </a:lnSpc>
              <a:spcBef>
                <a:spcPct val="10000"/>
              </a:spcBef>
              <a:spcAft>
                <a:spcPct val="0"/>
              </a:spcAft>
              <a:buFont typeface="Wingdings" panose="05000000000000000000" pitchFamily="2" charset="2"/>
              <a:buChar char="l"/>
              <a:defRPr sz="2400" b="1">
                <a:solidFill>
                  <a:schemeClr val="tx1"/>
                </a:solidFill>
                <a:latin typeface="华文新魏" panose="02010800040101010101" pitchFamily="2" charset="-122"/>
                <a:ea typeface="华文新魏" panose="02010800040101010101" pitchFamily="2" charset="-122"/>
              </a:defRPr>
            </a:lvl9pPr>
          </a:lstStyle>
          <a:p>
            <a:pPr algn="ctr" eaLnBrk="1" hangingPunct="1">
              <a:lnSpc>
                <a:spcPct val="100000"/>
              </a:lnSpc>
              <a:spcBef>
                <a:spcPct val="0"/>
              </a:spcBef>
              <a:buFontTx/>
              <a:buNone/>
            </a:pP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大洋水体方解石、文石饱和度的垂直分布</a:t>
            </a:r>
            <a:endParaRPr lang="zh-CN" altLang="en-US" b="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2660" name="Picture 32">
            <a:extLst>
              <a:ext uri="{FF2B5EF4-FFF2-40B4-BE49-F238E27FC236}">
                <a16:creationId xmlns:a16="http://schemas.microsoft.com/office/drawing/2014/main" id="{4A4C3EC4-23C4-4DD8-934F-5427A0876D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552" y="1484784"/>
            <a:ext cx="5660606" cy="4320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662" name="组合 27">
            <a:extLst>
              <a:ext uri="{FF2B5EF4-FFF2-40B4-BE49-F238E27FC236}">
                <a16:creationId xmlns:a16="http://schemas.microsoft.com/office/drawing/2014/main" id="{975BAEAB-1C6C-4C27-8737-A561C34087F5}"/>
              </a:ext>
            </a:extLst>
          </p:cNvPr>
          <p:cNvGrpSpPr>
            <a:grpSpLocks/>
          </p:cNvGrpSpPr>
          <p:nvPr/>
        </p:nvGrpSpPr>
        <p:grpSpPr bwMode="auto">
          <a:xfrm>
            <a:off x="4572000" y="4508899"/>
            <a:ext cx="2591991" cy="507831"/>
            <a:chOff x="5292080" y="4509120"/>
            <a:chExt cx="3456384" cy="676382"/>
          </a:xfrm>
        </p:grpSpPr>
        <p:sp>
          <p:nvSpPr>
            <p:cNvPr id="24" name="矩形 23">
              <a:extLst>
                <a:ext uri="{FF2B5EF4-FFF2-40B4-BE49-F238E27FC236}">
                  <a16:creationId xmlns:a16="http://schemas.microsoft.com/office/drawing/2014/main" id="{2196CC70-0644-492C-9158-83DCBCAA1F22}"/>
                </a:ext>
              </a:extLst>
            </p:cNvPr>
            <p:cNvSpPr/>
            <p:nvPr/>
          </p:nvSpPr>
          <p:spPr>
            <a:xfrm>
              <a:off x="6012888" y="4509120"/>
              <a:ext cx="2735576" cy="676382"/>
            </a:xfrm>
            <a:prstGeom prst="rect">
              <a:avLst/>
            </a:prstGeom>
          </p:spPr>
          <p:style>
            <a:lnRef idx="2">
              <a:schemeClr val="accent2"/>
            </a:lnRef>
            <a:fillRef idx="1">
              <a:schemeClr val="lt1"/>
            </a:fillRef>
            <a:effectRef idx="0">
              <a:schemeClr val="accent2"/>
            </a:effectRef>
            <a:fontRef idx="minor">
              <a:schemeClr val="dk1"/>
            </a:fontRef>
          </p:style>
          <p:txBody>
            <a:bodyPr lIns="27000" rIns="27000">
              <a:spAutoFit/>
            </a:bodyPr>
            <a:lstStyle/>
            <a:p>
              <a:pPr>
                <a:buFont typeface="Wingdings" panose="05000000000000000000" pitchFamily="2" charset="2"/>
                <a:buNone/>
                <a:defRPr/>
              </a:pPr>
              <a:r>
                <a:rPr lang="zh-CN" altLang="en-US" sz="1350" dirty="0">
                  <a:solidFill>
                    <a:srgbClr val="0000FF"/>
                  </a:solidFill>
                  <a:latin typeface="Times New Roman" pitchFamily="18" charset="0"/>
                  <a:ea typeface="黑体" pitchFamily="49" charset="-122"/>
                  <a:cs typeface="Times New Roman" pitchFamily="18" charset="0"/>
                </a:rPr>
                <a:t>温度降低</a:t>
              </a:r>
              <a:r>
                <a:rPr lang="en-US" altLang="zh-CN" sz="1350" dirty="0">
                  <a:solidFill>
                    <a:srgbClr val="0000FF"/>
                  </a:solidFill>
                  <a:latin typeface="Times New Roman" pitchFamily="18" charset="0"/>
                  <a:ea typeface="黑体" pitchFamily="49" charset="-122"/>
                  <a:cs typeface="Times New Roman" pitchFamily="18" charset="0"/>
                </a:rPr>
                <a:t>/</a:t>
              </a:r>
              <a:r>
                <a:rPr lang="zh-CN" altLang="en-US" sz="1350" dirty="0">
                  <a:solidFill>
                    <a:srgbClr val="0000FF"/>
                  </a:solidFill>
                  <a:latin typeface="Times New Roman" pitchFamily="18" charset="0"/>
                  <a:ea typeface="黑体" pitchFamily="49" charset="-122"/>
                  <a:cs typeface="Times New Roman" pitchFamily="18" charset="0"/>
                </a:rPr>
                <a:t>压力升高</a:t>
              </a:r>
              <a:r>
                <a:rPr lang="en-US" altLang="zh-CN" sz="1350" dirty="0">
                  <a:solidFill>
                    <a:srgbClr val="0000FF"/>
                  </a:solidFill>
                  <a:latin typeface="Times New Roman" pitchFamily="18" charset="0"/>
                  <a:ea typeface="黑体" pitchFamily="49" charset="-122"/>
                  <a:cs typeface="Times New Roman" pitchFamily="18" charset="0"/>
                </a:rPr>
                <a:t>/</a:t>
              </a:r>
              <a:r>
                <a:rPr lang="zh-CN" altLang="en-US" sz="1350" dirty="0">
                  <a:solidFill>
                    <a:srgbClr val="0000FF"/>
                  </a:solidFill>
                  <a:latin typeface="Times New Roman" pitchFamily="18" charset="0"/>
                  <a:ea typeface="黑体" pitchFamily="49" charset="-122"/>
                  <a:cs typeface="Times New Roman" pitchFamily="18" charset="0"/>
                </a:rPr>
                <a:t>有机物氧化</a:t>
              </a:r>
            </a:p>
          </p:txBody>
        </p:sp>
        <p:cxnSp>
          <p:nvCxnSpPr>
            <p:cNvPr id="26" name="直接箭头连接符 25">
              <a:extLst>
                <a:ext uri="{FF2B5EF4-FFF2-40B4-BE49-F238E27FC236}">
                  <a16:creationId xmlns:a16="http://schemas.microsoft.com/office/drawing/2014/main" id="{968F2357-EB46-4D3C-9EE0-EB30AA9CA065}"/>
                </a:ext>
              </a:extLst>
            </p:cNvPr>
            <p:cNvCxnSpPr/>
            <p:nvPr/>
          </p:nvCxnSpPr>
          <p:spPr>
            <a:xfrm rot="10800000" flipV="1">
              <a:off x="5292080" y="4869096"/>
              <a:ext cx="647774" cy="71361"/>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CE0EDDF8-D636-4EB9-9BC6-D741244B5885}"/>
              </a:ext>
            </a:extLst>
          </p:cNvPr>
          <p:cNvSpPr txBox="1"/>
          <p:nvPr/>
        </p:nvSpPr>
        <p:spPr>
          <a:xfrm>
            <a:off x="6516292" y="2025255"/>
            <a:ext cx="1350169" cy="507831"/>
          </a:xfrm>
          <a:prstGeom prst="rect">
            <a:avLst/>
          </a:prstGeom>
          <a:solidFill>
            <a:schemeClr val="accent6">
              <a:lumMod val="20000"/>
              <a:lumOff val="80000"/>
            </a:schemeClr>
          </a:solidFill>
          <a:ln>
            <a:solidFill>
              <a:srgbClr val="00B050"/>
            </a:solidFill>
          </a:ln>
        </p:spPr>
        <p:txBody>
          <a:bodyPr>
            <a:spAutoFit/>
          </a:bodyPr>
          <a:lstStyle/>
          <a:p>
            <a:pPr>
              <a:buFont typeface="Wingdings" panose="05000000000000000000" pitchFamily="2" charset="2"/>
              <a:buNone/>
              <a:defRPr/>
            </a:pPr>
            <a:r>
              <a:rPr lang="zh-CN" altLang="en-US" sz="1350" dirty="0">
                <a:latin typeface="Times New Roman" pitchFamily="18" charset="0"/>
                <a:ea typeface="黑体" pitchFamily="49" charset="-122"/>
                <a:cs typeface="Times New Roman" pitchFamily="18" charset="0"/>
              </a:rPr>
              <a:t>为何</a:t>
            </a:r>
            <a:r>
              <a:rPr lang="en-US" altLang="zh-CN" sz="1350" dirty="0">
                <a:latin typeface="Times New Roman" pitchFamily="18" charset="0"/>
                <a:ea typeface="黑体" pitchFamily="49" charset="-122"/>
                <a:cs typeface="Times New Roman" pitchFamily="18" charset="0"/>
              </a:rPr>
              <a:t>CaCO</a:t>
            </a:r>
            <a:r>
              <a:rPr lang="en-US" altLang="zh-CN" sz="1350" baseline="-25000" dirty="0">
                <a:latin typeface="Times New Roman" pitchFamily="18" charset="0"/>
                <a:ea typeface="黑体" pitchFamily="49" charset="-122"/>
                <a:cs typeface="Times New Roman" pitchFamily="18" charset="0"/>
              </a:rPr>
              <a:t>3</a:t>
            </a:r>
            <a:r>
              <a:rPr lang="zh-CN" altLang="en-US" sz="1350" dirty="0">
                <a:latin typeface="Times New Roman" pitchFamily="18" charset="0"/>
                <a:ea typeface="黑体" pitchFamily="49" charset="-122"/>
                <a:cs typeface="Times New Roman" pitchFamily="18" charset="0"/>
              </a:rPr>
              <a:t>沉淀不产生？</a:t>
            </a:r>
          </a:p>
        </p:txBody>
      </p:sp>
      <p:cxnSp>
        <p:nvCxnSpPr>
          <p:cNvPr id="28" name="直接箭头连接符 27">
            <a:extLst>
              <a:ext uri="{FF2B5EF4-FFF2-40B4-BE49-F238E27FC236}">
                <a16:creationId xmlns:a16="http://schemas.microsoft.com/office/drawing/2014/main" id="{C104C015-A190-4E75-8939-8476E20146C0}"/>
              </a:ext>
            </a:extLst>
          </p:cNvPr>
          <p:cNvCxnSpPr/>
          <p:nvPr/>
        </p:nvCxnSpPr>
        <p:spPr bwMode="auto">
          <a:xfrm flipH="1" flipV="1">
            <a:off x="5922170" y="2132411"/>
            <a:ext cx="594122" cy="216694"/>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8149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6743" name="Group 7">
            <a:extLst>
              <a:ext uri="{FF2B5EF4-FFF2-40B4-BE49-F238E27FC236}">
                <a16:creationId xmlns:a16="http://schemas.microsoft.com/office/drawing/2014/main" id="{C2564620-6B94-4AD6-871F-8753A14A30B1}"/>
              </a:ext>
            </a:extLst>
          </p:cNvPr>
          <p:cNvGraphicFramePr>
            <a:graphicFrameLocks noGrp="1"/>
          </p:cNvGraphicFramePr>
          <p:nvPr>
            <p:ph sz="half" idx="2"/>
          </p:nvPr>
        </p:nvGraphicFramePr>
        <p:xfrm>
          <a:off x="323850" y="1268413"/>
          <a:ext cx="8496300" cy="5397500"/>
        </p:xfrm>
        <a:graphic>
          <a:graphicData uri="http://schemas.openxmlformats.org/drawingml/2006/table">
            <a:tbl>
              <a:tblPr/>
              <a:tblGrid>
                <a:gridCol w="2832100">
                  <a:extLst>
                    <a:ext uri="{9D8B030D-6E8A-4147-A177-3AD203B41FA5}">
                      <a16:colId xmlns:a16="http://schemas.microsoft.com/office/drawing/2014/main" val="3969333750"/>
                    </a:ext>
                  </a:extLst>
                </a:gridCol>
                <a:gridCol w="2832100">
                  <a:extLst>
                    <a:ext uri="{9D8B030D-6E8A-4147-A177-3AD203B41FA5}">
                      <a16:colId xmlns:a16="http://schemas.microsoft.com/office/drawing/2014/main" val="2525726130"/>
                    </a:ext>
                  </a:extLst>
                </a:gridCol>
                <a:gridCol w="2832100">
                  <a:extLst>
                    <a:ext uri="{9D8B030D-6E8A-4147-A177-3AD203B41FA5}">
                      <a16:colId xmlns:a16="http://schemas.microsoft.com/office/drawing/2014/main" val="1440600437"/>
                    </a:ext>
                  </a:extLst>
                </a:gridCol>
              </a:tblGrid>
              <a:tr h="603250">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离子</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DBEEF4"/>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含量（</a:t>
                      </a: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g/kg</a:t>
                      </a: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S=35</a:t>
                      </a: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DBEEF4"/>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与氯度比值（</a:t>
                      </a: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g/kg/Cl‰</a:t>
                      </a:r>
                      <a:r>
                        <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DBEEF4"/>
                    </a:solidFill>
                  </a:tcPr>
                </a:tc>
                <a:extLst>
                  <a:ext uri="{0D108BD9-81ED-4DB2-BD59-A6C34878D82A}">
                    <a16:rowId xmlns:a16="http://schemas.microsoft.com/office/drawing/2014/main" val="3510235787"/>
                  </a:ext>
                </a:extLst>
              </a:tr>
              <a:tr h="434975">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Cl</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19.344</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550500105"/>
                  </a:ext>
                </a:extLst>
              </a:tr>
              <a:tr h="434975">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Na</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10.773</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0.556</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159957893"/>
                  </a:ext>
                </a:extLst>
              </a:tr>
              <a:tr h="438150">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SO</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2.712</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0.1400</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3088944009"/>
                  </a:ext>
                </a:extLst>
              </a:tr>
              <a:tr h="434975">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Mg</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1.294</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0.0668</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3565382286"/>
                  </a:ext>
                </a:extLst>
              </a:tr>
              <a:tr h="434975">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0.412</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0.02125</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4101450915"/>
                  </a:ext>
                </a:extLst>
              </a:tr>
              <a:tr h="438150">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0.399</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0.02060</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3654558310"/>
                  </a:ext>
                </a:extLst>
              </a:tr>
              <a:tr h="434975">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HCO</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0.142</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非保守</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4023919426"/>
                  </a:ext>
                </a:extLst>
              </a:tr>
              <a:tr h="434975">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Br</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0.0674</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0.00348</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1606538795"/>
                  </a:ext>
                </a:extLst>
              </a:tr>
              <a:tr h="434975">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Sr</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0.0079</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0.00041</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913353477"/>
                  </a:ext>
                </a:extLst>
              </a:tr>
              <a:tr h="438150">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0.00445</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0.00023</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3049190230"/>
                  </a:ext>
                </a:extLst>
              </a:tr>
              <a:tr h="434975">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0.00128</a:t>
                      </a: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tc>
                  <a:txBody>
                    <a:bodyPr/>
                    <a:lstStyle>
                      <a:lvl1pPr marL="342900" indent="-342900" eaLnBrk="0" hangingPunct="0">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6.67</a:t>
                      </a: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-5</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endParaRPr>
                    </a:p>
                  </a:txBody>
                  <a:tcPr marL="18000" marR="18000" marT="18000" marB="18000" anchor="ctr" horzOverflow="overflow">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a:noFill/>
                    </a:lnTlToBr>
                    <a:lnBlToTr>
                      <a:noFill/>
                    </a:lnBlToTr>
                    <a:solidFill>
                      <a:srgbClr val="FDEADA"/>
                    </a:solidFill>
                  </a:tcPr>
                </a:tc>
                <a:extLst>
                  <a:ext uri="{0D108BD9-81ED-4DB2-BD59-A6C34878D82A}">
                    <a16:rowId xmlns:a16="http://schemas.microsoft.com/office/drawing/2014/main" val="3000205570"/>
                  </a:ext>
                </a:extLst>
              </a:tr>
            </a:tbl>
          </a:graphicData>
        </a:graphic>
      </p:graphicFrame>
      <p:sp>
        <p:nvSpPr>
          <p:cNvPr id="35896" name="Rectangle 4">
            <a:extLst>
              <a:ext uri="{FF2B5EF4-FFF2-40B4-BE49-F238E27FC236}">
                <a16:creationId xmlns:a16="http://schemas.microsoft.com/office/drawing/2014/main" id="{DE49DE9D-04EB-41E4-9B49-4075C7C90D3A}"/>
              </a:ext>
            </a:extLst>
          </p:cNvPr>
          <p:cNvSpPr>
            <a:spLocks noChangeArrowheads="1"/>
          </p:cNvSpPr>
          <p:nvPr/>
        </p:nvSpPr>
        <p:spPr bwMode="auto">
          <a:xfrm>
            <a:off x="0" y="1717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7" name="Rectangle 5">
            <a:extLst>
              <a:ext uri="{FF2B5EF4-FFF2-40B4-BE49-F238E27FC236}">
                <a16:creationId xmlns:a16="http://schemas.microsoft.com/office/drawing/2014/main" id="{1F662035-1153-49B0-95D0-9118A8C84E84}"/>
              </a:ext>
            </a:extLst>
          </p:cNvPr>
          <p:cNvSpPr>
            <a:spLocks noChangeArrowheads="1"/>
          </p:cNvSpPr>
          <p:nvPr/>
        </p:nvSpPr>
        <p:spPr bwMode="auto">
          <a:xfrm>
            <a:off x="0" y="3422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8" name="Text Box 3">
            <a:extLst>
              <a:ext uri="{FF2B5EF4-FFF2-40B4-BE49-F238E27FC236}">
                <a16:creationId xmlns:a16="http://schemas.microsoft.com/office/drawing/2014/main" id="{DBB7220B-7F13-4EC6-A1CA-D9FCB1028AE0}"/>
              </a:ext>
            </a:extLst>
          </p:cNvPr>
          <p:cNvSpPr txBox="1">
            <a:spLocks noChangeArrowheads="1"/>
          </p:cNvSpPr>
          <p:nvPr/>
        </p:nvSpPr>
        <p:spPr bwMode="auto">
          <a:xfrm>
            <a:off x="1403648" y="404664"/>
            <a:ext cx="8281988"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36000" rIns="18000" bIns="10800">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8000"/>
                </a:solidFill>
                <a:latin typeface="Times New Roman" panose="02020603050405020304" pitchFamily="18" charset="0"/>
                <a:ea typeface="黑体" panose="02010609060101010101" pitchFamily="49" charset="-122"/>
                <a:cs typeface="Times New Roman" panose="02020603050405020304" pitchFamily="18" charset="0"/>
              </a:rPr>
              <a:t>海水主要成分（常量元素）组成的恒定性</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A9C0B60-CFF4-4D9F-B83B-EB2B13C40F65}"/>
              </a:ext>
            </a:extLst>
          </p:cNvPr>
          <p:cNvSpPr>
            <a:spLocks noGrp="1"/>
          </p:cNvSpPr>
          <p:nvPr>
            <p:ph type="title"/>
          </p:nvPr>
        </p:nvSpPr>
        <p:spPr/>
        <p:txBody>
          <a:bodyPr/>
          <a:lstStyle/>
          <a:p>
            <a:r>
              <a:rPr lang="zh-CN" altLang="en-US" dirty="0"/>
              <a:t>海水中钙离子的特点</a:t>
            </a:r>
          </a:p>
        </p:txBody>
      </p:sp>
      <p:sp>
        <p:nvSpPr>
          <p:cNvPr id="3" name="内容占位符 2">
            <a:extLst>
              <a:ext uri="{FF2B5EF4-FFF2-40B4-BE49-F238E27FC236}">
                <a16:creationId xmlns:a16="http://schemas.microsoft.com/office/drawing/2014/main" id="{A740FA0F-11B3-44A1-95DD-90ECC21CA47A}"/>
              </a:ext>
            </a:extLst>
          </p:cNvPr>
          <p:cNvSpPr>
            <a:spLocks noGrp="1"/>
          </p:cNvSpPr>
          <p:nvPr>
            <p:ph idx="1"/>
          </p:nvPr>
        </p:nvSpPr>
        <p:spPr>
          <a:xfrm>
            <a:off x="457200" y="1600201"/>
            <a:ext cx="8229600" cy="3701008"/>
          </a:xfrm>
        </p:spPr>
        <p:txBody>
          <a:bodyPr/>
          <a:lstStyle/>
          <a:p>
            <a:r>
              <a:rPr lang="zh-CN" altLang="en-US" sz="2400" kern="1200" dirty="0">
                <a:latin typeface="Times New Roman" panose="02020603050405020304" pitchFamily="18" charset="0"/>
                <a:ea typeface="黑体" panose="02010609060101010101" pitchFamily="49" charset="-122"/>
                <a:cs typeface="Times New Roman" panose="02020603050405020304" pitchFamily="18" charset="0"/>
              </a:rPr>
              <a:t>钙离子是海水中</a:t>
            </a:r>
            <a:r>
              <a:rPr lang="en-US" altLang="zh-CN" sz="2400" kern="1200" dirty="0">
                <a:latin typeface="Times New Roman" panose="02020603050405020304" pitchFamily="18" charset="0"/>
                <a:ea typeface="黑体" panose="02010609060101010101" pitchFamily="49" charset="-122"/>
                <a:cs typeface="Times New Roman" panose="02020603050405020304" pitchFamily="18" charset="0"/>
              </a:rPr>
              <a:t>11</a:t>
            </a:r>
            <a:r>
              <a:rPr lang="zh-CN" altLang="en-US" sz="2400" kern="1200" dirty="0">
                <a:latin typeface="Times New Roman" panose="02020603050405020304" pitchFamily="18" charset="0"/>
                <a:ea typeface="黑体" panose="02010609060101010101" pitchFamily="49" charset="-122"/>
                <a:cs typeface="Times New Roman" panose="02020603050405020304" pitchFamily="18" charset="0"/>
              </a:rPr>
              <a:t>种主要成分之一</a:t>
            </a:r>
            <a:r>
              <a:rPr lang="en-US" altLang="zh-CN" sz="2400" kern="1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kern="1200" dirty="0">
                <a:latin typeface="Times New Roman" panose="02020603050405020304" pitchFamily="18" charset="0"/>
                <a:ea typeface="黑体" panose="02010609060101010101" pitchFamily="49" charset="-122"/>
                <a:cs typeface="Times New Roman" panose="02020603050405020304" pitchFamily="18" charset="0"/>
              </a:rPr>
              <a:t>在盐度为</a:t>
            </a:r>
            <a:r>
              <a:rPr lang="en-US" altLang="zh-CN" sz="2400" kern="1200" dirty="0">
                <a:latin typeface="Times New Roman" panose="02020603050405020304" pitchFamily="18" charset="0"/>
                <a:ea typeface="黑体" panose="02010609060101010101" pitchFamily="49" charset="-122"/>
                <a:cs typeface="Times New Roman" panose="02020603050405020304" pitchFamily="18" charset="0"/>
              </a:rPr>
              <a:t>35</a:t>
            </a:r>
            <a:r>
              <a:rPr lang="zh-CN" altLang="en-US" sz="2400" kern="1200" dirty="0">
                <a:latin typeface="Times New Roman" panose="02020603050405020304" pitchFamily="18" charset="0"/>
                <a:ea typeface="黑体" panose="02010609060101010101" pitchFamily="49" charset="-122"/>
                <a:cs typeface="Times New Roman" panose="02020603050405020304" pitchFamily="18" charset="0"/>
              </a:rPr>
              <a:t>的海水中其浓度为 </a:t>
            </a:r>
            <a:r>
              <a:rPr lang="en-US" altLang="zh-CN" sz="2400" kern="1200" dirty="0">
                <a:latin typeface="Times New Roman" panose="02020603050405020304" pitchFamily="18" charset="0"/>
                <a:ea typeface="黑体" panose="02010609060101010101" pitchFamily="49" charset="-122"/>
                <a:cs typeface="Times New Roman" panose="02020603050405020304" pitchFamily="18" charset="0"/>
              </a:rPr>
              <a:t>0.412 g/kg (10.28 mmol/kg), </a:t>
            </a:r>
            <a:r>
              <a:rPr lang="zh-CN" altLang="en-US" sz="2400" kern="1200" dirty="0">
                <a:latin typeface="Times New Roman" panose="02020603050405020304" pitchFamily="18" charset="0"/>
                <a:ea typeface="黑体" panose="02010609060101010101" pitchFamily="49" charset="-122"/>
                <a:cs typeface="Times New Roman" panose="02020603050405020304" pitchFamily="18" charset="0"/>
              </a:rPr>
              <a:t>仅次于主要阳离子中的</a:t>
            </a:r>
            <a:r>
              <a:rPr lang="en-US" altLang="zh-CN" sz="2400" kern="1200" dirty="0">
                <a:latin typeface="Times New Roman" panose="02020603050405020304" pitchFamily="18" charset="0"/>
                <a:ea typeface="黑体" panose="02010609060101010101" pitchFamily="49" charset="-122"/>
                <a:cs typeface="Times New Roman" panose="02020603050405020304" pitchFamily="18" charset="0"/>
              </a:rPr>
              <a:t>Na</a:t>
            </a:r>
            <a:r>
              <a:rPr lang="en-US" altLang="zh-CN" sz="2400" kern="1200" baseline="30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kern="12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kern="1200" dirty="0">
                <a:latin typeface="Times New Roman" panose="02020603050405020304" pitchFamily="18" charset="0"/>
                <a:ea typeface="黑体" panose="02010609060101010101" pitchFamily="49" charset="-122"/>
                <a:cs typeface="Times New Roman" panose="02020603050405020304" pitchFamily="18" charset="0"/>
              </a:rPr>
              <a:t>Mg</a:t>
            </a:r>
            <a:r>
              <a:rPr lang="en-US" altLang="zh-CN" sz="2400" kern="1200" baseline="30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2400" kern="12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kern="1200" baseline="300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kern="1200" dirty="0">
                <a:latin typeface="Times New Roman" panose="02020603050405020304" pitchFamily="18" charset="0"/>
                <a:ea typeface="黑体" panose="02010609060101010101" pitchFamily="49" charset="-122"/>
                <a:cs typeface="Times New Roman" panose="02020603050405020304" pitchFamily="18" charset="0"/>
              </a:rPr>
              <a:t>与</a:t>
            </a:r>
            <a:r>
              <a:rPr lang="en-US" altLang="zh-CN" sz="2400" kern="1200" dirty="0">
                <a:latin typeface="Times New Roman" panose="02020603050405020304" pitchFamily="18" charset="0"/>
                <a:ea typeface="黑体" panose="02010609060101010101" pitchFamily="49" charset="-122"/>
                <a:cs typeface="Times New Roman" panose="02020603050405020304" pitchFamily="18" charset="0"/>
              </a:rPr>
              <a:t>K</a:t>
            </a:r>
            <a:r>
              <a:rPr lang="en-US" altLang="zh-CN" sz="2400" kern="1200" baseline="30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kern="1200" dirty="0">
                <a:latin typeface="Times New Roman" panose="02020603050405020304" pitchFamily="18" charset="0"/>
                <a:ea typeface="黑体" panose="02010609060101010101" pitchFamily="49" charset="-122"/>
                <a:cs typeface="Times New Roman" panose="02020603050405020304" pitchFamily="18" charset="0"/>
              </a:rPr>
              <a:t>的浓度接近</a:t>
            </a:r>
            <a:endParaRPr lang="en-US" altLang="zh-CN" sz="2400" kern="12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400" kern="1200" dirty="0">
                <a:solidFill>
                  <a:schemeClr val="accent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与其它阳离子相比</a:t>
            </a:r>
            <a:r>
              <a:rPr lang="en-US" altLang="zh-CN" sz="2400" kern="1200" dirty="0">
                <a:solidFill>
                  <a:schemeClr val="accent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kern="1200" dirty="0">
                <a:solidFill>
                  <a:schemeClr val="accent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海水中钙离子的浓度有着系统且微小的变化</a:t>
            </a:r>
            <a:r>
              <a:rPr lang="en-US" altLang="zh-CN" sz="2400" kern="1200" dirty="0">
                <a:solidFill>
                  <a:schemeClr val="accent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kern="1200" dirty="0">
                <a:solidFill>
                  <a:schemeClr val="accent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即钙离子的变化常与海洋中钙的输入、生源碳酸钙的形成和溶解有关</a:t>
            </a:r>
            <a:endParaRPr lang="en-US" altLang="zh-CN" sz="2400" kern="1200" dirty="0">
              <a:solidFill>
                <a:schemeClr val="accent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400" kern="1200" dirty="0">
                <a:solidFill>
                  <a:schemeClr val="accent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碳酸钙沉淀或溶解会改变总碱度和溶解无机碳</a:t>
            </a:r>
            <a:r>
              <a:rPr lang="en-US" altLang="zh-CN" sz="2400" kern="1200" dirty="0">
                <a:solidFill>
                  <a:schemeClr val="accent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kern="1200" dirty="0">
                <a:solidFill>
                  <a:schemeClr val="accent2">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因此通过钙离子的变化也能间接讨论海水碳酸盐体系的过程以及海洋吸收二氧化碳的能力</a:t>
            </a:r>
          </a:p>
        </p:txBody>
      </p:sp>
      <p:sp>
        <p:nvSpPr>
          <p:cNvPr id="6" name="文本框 5">
            <a:extLst>
              <a:ext uri="{FF2B5EF4-FFF2-40B4-BE49-F238E27FC236}">
                <a16:creationId xmlns:a16="http://schemas.microsoft.com/office/drawing/2014/main" id="{9A94F464-64D7-428D-A3C7-73CC44271CEC}"/>
              </a:ext>
            </a:extLst>
          </p:cNvPr>
          <p:cNvSpPr txBox="1"/>
          <p:nvPr/>
        </p:nvSpPr>
        <p:spPr>
          <a:xfrm>
            <a:off x="1619672" y="5157192"/>
            <a:ext cx="7211144" cy="1200329"/>
          </a:xfrm>
          <a:prstGeom prst="rect">
            <a:avLst/>
          </a:prstGeom>
          <a:noFill/>
        </p:spPr>
        <p:txBody>
          <a:bodyPr wrap="square" rtlCol="0">
            <a:spAutoFit/>
          </a:bodyPr>
          <a:lstStyle/>
          <a:p>
            <a:pPr marL="342900" indent="-342900">
              <a:buFont typeface="Wingdings" panose="05000000000000000000" pitchFamily="2" charset="2"/>
              <a:buChar char="ü"/>
            </a:pPr>
            <a:r>
              <a:rPr lang="zh-CN" altLang="en-US" sz="2400" dirty="0">
                <a:solidFill>
                  <a:srgbClr val="C00000"/>
                </a:solidFill>
              </a:rPr>
              <a:t>海水中钙离子的特点：高浓度，变化幅度小</a:t>
            </a:r>
          </a:p>
          <a:p>
            <a:pPr marL="342900" indent="-342900">
              <a:buFont typeface="Wingdings" panose="05000000000000000000" pitchFamily="2" charset="2"/>
              <a:buChar char="ü"/>
            </a:pPr>
            <a:r>
              <a:rPr lang="zh-CN" altLang="en-US" sz="2400" dirty="0">
                <a:solidFill>
                  <a:srgbClr val="C00000"/>
                </a:solidFill>
              </a:rPr>
              <a:t>钙离子的测量精度至少要到小于千分之一，才能使钙离子的数据可用于解释碳循环体系的变化</a:t>
            </a:r>
            <a:endParaRPr lang="en-US" altLang="zh-CN" sz="2400" dirty="0">
              <a:solidFill>
                <a:srgbClr val="C00000"/>
              </a:solidFill>
            </a:endParaRPr>
          </a:p>
        </p:txBody>
      </p:sp>
    </p:spTree>
    <p:extLst>
      <p:ext uri="{BB962C8B-B14F-4D97-AF65-F5344CB8AC3E}">
        <p14:creationId xmlns:p14="http://schemas.microsoft.com/office/powerpoint/2010/main" val="4148702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C92603-3EAF-4F34-9B00-29F88C399751}"/>
              </a:ext>
            </a:extLst>
          </p:cNvPr>
          <p:cNvSpPr>
            <a:spLocks noGrp="1"/>
          </p:cNvSpPr>
          <p:nvPr>
            <p:ph type="title"/>
          </p:nvPr>
        </p:nvSpPr>
        <p:spPr/>
        <p:txBody>
          <a:bodyPr/>
          <a:lstStyle/>
          <a:p>
            <a:r>
              <a:rPr lang="zh-CN" altLang="en-US" sz="3600" dirty="0"/>
              <a:t>钙</a:t>
            </a:r>
            <a:r>
              <a:rPr lang="zh-CN" altLang="en-US" dirty="0"/>
              <a:t>离子的分析方法</a:t>
            </a:r>
          </a:p>
        </p:txBody>
      </p:sp>
      <p:sp>
        <p:nvSpPr>
          <p:cNvPr id="3" name="内容占位符 2">
            <a:extLst>
              <a:ext uri="{FF2B5EF4-FFF2-40B4-BE49-F238E27FC236}">
                <a16:creationId xmlns:a16="http://schemas.microsoft.com/office/drawing/2014/main" id="{2940987B-8262-4063-9FFC-A7AD54E7C5A2}"/>
              </a:ext>
            </a:extLst>
          </p:cNvPr>
          <p:cNvSpPr>
            <a:spLocks noGrp="1"/>
          </p:cNvSpPr>
          <p:nvPr>
            <p:ph idx="1"/>
          </p:nvPr>
        </p:nvSpPr>
        <p:spPr>
          <a:xfrm>
            <a:off x="684329" y="1484784"/>
            <a:ext cx="7995474" cy="4659982"/>
          </a:xfrm>
        </p:spPr>
        <p:txBody>
          <a:bodyPr/>
          <a:lstStyle/>
          <a:p>
            <a:pPr>
              <a:spcBef>
                <a:spcPts val="1200"/>
              </a:spcBef>
            </a:pPr>
            <a:r>
              <a:rPr lang="en-US" altLang="zh-CN" sz="2400" dirty="0"/>
              <a:t>Ca</a:t>
            </a:r>
            <a:r>
              <a:rPr lang="zh-CN" altLang="en-US" sz="2400" dirty="0"/>
              <a:t>离子的分析方法中，钙与镁、钙与锶的分离极为困难</a:t>
            </a:r>
            <a:endParaRPr lang="en-US" altLang="zh-CN" sz="2000" dirty="0"/>
          </a:p>
          <a:p>
            <a:pPr lvl="1">
              <a:spcBef>
                <a:spcPts val="1200"/>
              </a:spcBef>
            </a:pPr>
            <a:r>
              <a:rPr lang="zh-CN" altLang="en-US" dirty="0"/>
              <a:t>草酸钙重量法</a:t>
            </a:r>
            <a:endParaRPr lang="en-US" altLang="zh-CN" dirty="0"/>
          </a:p>
          <a:p>
            <a:pPr lvl="1">
              <a:spcBef>
                <a:spcPts val="1200"/>
              </a:spcBef>
            </a:pPr>
            <a:r>
              <a:rPr lang="zh-CN" altLang="en-US" dirty="0"/>
              <a:t>高锰酸钾容量法</a:t>
            </a:r>
            <a:endParaRPr lang="en-US" altLang="zh-CN" dirty="0"/>
          </a:p>
          <a:p>
            <a:pPr lvl="1">
              <a:spcBef>
                <a:spcPts val="1200"/>
              </a:spcBef>
            </a:pPr>
            <a:r>
              <a:rPr lang="zh-CN" altLang="en-US" dirty="0"/>
              <a:t>络合滴定法</a:t>
            </a:r>
            <a:endParaRPr lang="en-US" altLang="zh-CN" dirty="0"/>
          </a:p>
          <a:p>
            <a:pPr lvl="1">
              <a:spcBef>
                <a:spcPts val="1200"/>
              </a:spcBef>
            </a:pPr>
            <a:r>
              <a:rPr lang="zh-CN" altLang="en-US" dirty="0"/>
              <a:t>离子色谱法</a:t>
            </a:r>
            <a:endParaRPr lang="en-US" altLang="zh-CN" dirty="0"/>
          </a:p>
          <a:p>
            <a:pPr lvl="1">
              <a:spcBef>
                <a:spcPts val="1200"/>
              </a:spcBef>
            </a:pPr>
            <a:endParaRPr lang="en-US" altLang="zh-CN" dirty="0"/>
          </a:p>
          <a:p>
            <a:endParaRPr lang="zh-CN" altLang="en-US" dirty="0"/>
          </a:p>
        </p:txBody>
      </p:sp>
    </p:spTree>
    <p:extLst>
      <p:ext uri="{BB962C8B-B14F-4D97-AF65-F5344CB8AC3E}">
        <p14:creationId xmlns:p14="http://schemas.microsoft.com/office/powerpoint/2010/main" val="3890100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C92603-3EAF-4F34-9B00-29F88C399751}"/>
              </a:ext>
            </a:extLst>
          </p:cNvPr>
          <p:cNvSpPr>
            <a:spLocks noGrp="1"/>
          </p:cNvSpPr>
          <p:nvPr>
            <p:ph type="title"/>
          </p:nvPr>
        </p:nvSpPr>
        <p:spPr/>
        <p:txBody>
          <a:bodyPr/>
          <a:lstStyle/>
          <a:p>
            <a:r>
              <a:rPr lang="zh-CN" altLang="en-US" sz="3600" dirty="0"/>
              <a:t>钙</a:t>
            </a:r>
            <a:r>
              <a:rPr lang="zh-CN" altLang="en-US" dirty="0"/>
              <a:t>离子的分析方法</a:t>
            </a:r>
          </a:p>
        </p:txBody>
      </p:sp>
      <p:sp>
        <p:nvSpPr>
          <p:cNvPr id="3" name="内容占位符 2">
            <a:extLst>
              <a:ext uri="{FF2B5EF4-FFF2-40B4-BE49-F238E27FC236}">
                <a16:creationId xmlns:a16="http://schemas.microsoft.com/office/drawing/2014/main" id="{2940987B-8262-4063-9FFC-A7AD54E7C5A2}"/>
              </a:ext>
            </a:extLst>
          </p:cNvPr>
          <p:cNvSpPr>
            <a:spLocks noGrp="1"/>
          </p:cNvSpPr>
          <p:nvPr>
            <p:ph idx="1"/>
          </p:nvPr>
        </p:nvSpPr>
        <p:spPr>
          <a:xfrm>
            <a:off x="678396" y="1340768"/>
            <a:ext cx="7787208" cy="4659982"/>
          </a:xfrm>
        </p:spPr>
        <p:txBody>
          <a:bodyPr/>
          <a:lstStyle/>
          <a:p>
            <a:r>
              <a:rPr lang="zh-CN" altLang="en-US" dirty="0"/>
              <a:t>草酸钙重量法</a:t>
            </a:r>
            <a:endParaRPr lang="en-US" altLang="zh-CN" dirty="0"/>
          </a:p>
          <a:p>
            <a:pPr lvl="1"/>
            <a:r>
              <a:rPr lang="zh-CN" altLang="en-US" sz="2000" dirty="0"/>
              <a:t>海水中的钙离子与外加的草酸盐形成草酸钙沉淀， 然后灼烧成氧化钙的形式称量</a:t>
            </a:r>
            <a:endParaRPr lang="en-US" altLang="zh-CN" sz="2000" dirty="0"/>
          </a:p>
          <a:p>
            <a:pPr lvl="1"/>
            <a:r>
              <a:rPr lang="en-US" altLang="zh-CN" sz="2000" dirty="0"/>
              <a:t>1884 </a:t>
            </a:r>
            <a:r>
              <a:rPr lang="zh-CN" altLang="en-US" sz="2000" dirty="0"/>
              <a:t>年，</a:t>
            </a:r>
            <a:r>
              <a:rPr lang="en-US" altLang="zh-CN" sz="2000" dirty="0"/>
              <a:t>Dittmar</a:t>
            </a:r>
            <a:r>
              <a:rPr lang="zh-CN" altLang="en-US" sz="2000" dirty="0"/>
              <a:t>便应用此法测定海水中钙离子含量，但海水中碱金属离子的共沉淀作用，尤其是镁离子的共沉淀，严重地影响到方法的准确度</a:t>
            </a:r>
            <a:endParaRPr lang="en-US" altLang="zh-CN" sz="2000" dirty="0"/>
          </a:p>
          <a:p>
            <a:pPr lvl="1"/>
            <a:r>
              <a:rPr lang="en-US" altLang="zh-CN" sz="2000" dirty="0"/>
              <a:t>Robert­son</a:t>
            </a:r>
            <a:r>
              <a:rPr lang="zh-CN" altLang="en-US" sz="2000" dirty="0"/>
              <a:t>与</a:t>
            </a:r>
            <a:r>
              <a:rPr lang="en-US" altLang="zh-CN" sz="2000" dirty="0" err="1"/>
              <a:t>Webbcoi</a:t>
            </a:r>
            <a:r>
              <a:rPr lang="zh-CN" altLang="en-US" sz="2000" dirty="0"/>
              <a:t>利用光谱分析，对 </a:t>
            </a:r>
            <a:r>
              <a:rPr lang="en-US" altLang="zh-CN" sz="2000" dirty="0" err="1"/>
              <a:t>Oripenberg</a:t>
            </a:r>
            <a:r>
              <a:rPr lang="en-US" altLang="zh-CN" sz="2000" dirty="0"/>
              <a:t> </a:t>
            </a:r>
            <a:r>
              <a:rPr lang="zh-CN" altLang="en-US" sz="2000" dirty="0"/>
              <a:t>提出的多次沉淀提纯法进行研究，提出该法误差有三个来源：</a:t>
            </a:r>
            <a:r>
              <a:rPr lang="en-US" altLang="zh-CN" sz="2000" dirty="0"/>
              <a:t>1</a:t>
            </a:r>
            <a:r>
              <a:rPr lang="zh-CN" altLang="en-US" sz="2000" dirty="0"/>
              <a:t>）镁离子的共沉淀作用，引起正误差； </a:t>
            </a:r>
            <a:r>
              <a:rPr lang="en-US" altLang="zh-CN" sz="2000" dirty="0"/>
              <a:t>2</a:t>
            </a:r>
            <a:r>
              <a:rPr lang="zh-CN" altLang="en-US" sz="2000" dirty="0"/>
              <a:t>）钠离子成为草酸钠的共沉淀，引起正误差；</a:t>
            </a:r>
            <a:r>
              <a:rPr lang="en-US" altLang="zh-CN" sz="2000" dirty="0"/>
              <a:t>3</a:t>
            </a:r>
            <a:r>
              <a:rPr lang="zh-CN" altLang="en-US" sz="2000" dirty="0"/>
              <a:t>）钙离子的沉淀不完全</a:t>
            </a:r>
            <a:endParaRPr lang="en-US" altLang="zh-CN" sz="2000" dirty="0"/>
          </a:p>
          <a:p>
            <a:pPr lvl="1"/>
            <a:r>
              <a:rPr lang="en-US" altLang="zh-CN" sz="2000" dirty="0"/>
              <a:t>Webb</a:t>
            </a:r>
            <a:r>
              <a:rPr lang="zh-CN" altLang="en-US" sz="2000" dirty="0"/>
              <a:t>对测定海水中钙含量时锶的影响进行研究，发现锶全部包含在草酸钙沉淀中，滤液中没有发现锶的存在。海水中锶的含量虽然很小，但需要对其进行修正</a:t>
            </a:r>
            <a:endParaRPr lang="en-US" altLang="zh-CN" sz="2000" dirty="0"/>
          </a:p>
          <a:p>
            <a:endParaRPr lang="en-US" altLang="zh-CN" sz="2400" dirty="0"/>
          </a:p>
          <a:p>
            <a:endParaRPr lang="zh-CN" altLang="en-US" dirty="0"/>
          </a:p>
        </p:txBody>
      </p:sp>
    </p:spTree>
    <p:extLst>
      <p:ext uri="{BB962C8B-B14F-4D97-AF65-F5344CB8AC3E}">
        <p14:creationId xmlns:p14="http://schemas.microsoft.com/office/powerpoint/2010/main" val="3106323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CDF24A-BF08-4859-8E7D-05655CA7DD73}"/>
              </a:ext>
            </a:extLst>
          </p:cNvPr>
          <p:cNvSpPr>
            <a:spLocks noGrp="1"/>
          </p:cNvSpPr>
          <p:nvPr>
            <p:ph type="title"/>
          </p:nvPr>
        </p:nvSpPr>
        <p:spPr/>
        <p:txBody>
          <a:bodyPr/>
          <a:lstStyle/>
          <a:p>
            <a:r>
              <a:rPr lang="zh-CN" altLang="en-US" sz="3600" dirty="0"/>
              <a:t>钙</a:t>
            </a:r>
            <a:r>
              <a:rPr lang="zh-CN" altLang="en-US" dirty="0"/>
              <a:t>离子的分析方法</a:t>
            </a:r>
          </a:p>
        </p:txBody>
      </p:sp>
      <p:sp>
        <p:nvSpPr>
          <p:cNvPr id="3" name="内容占位符 2">
            <a:extLst>
              <a:ext uri="{FF2B5EF4-FFF2-40B4-BE49-F238E27FC236}">
                <a16:creationId xmlns:a16="http://schemas.microsoft.com/office/drawing/2014/main" id="{99CDD1E0-6E0E-44E3-B350-0E92359B5031}"/>
              </a:ext>
            </a:extLst>
          </p:cNvPr>
          <p:cNvSpPr>
            <a:spLocks noGrp="1"/>
          </p:cNvSpPr>
          <p:nvPr>
            <p:ph idx="1"/>
          </p:nvPr>
        </p:nvSpPr>
        <p:spPr>
          <a:xfrm>
            <a:off x="827584" y="1449821"/>
            <a:ext cx="8064896" cy="5323730"/>
          </a:xfrm>
        </p:spPr>
        <p:txBody>
          <a:bodyPr/>
          <a:lstStyle/>
          <a:p>
            <a:r>
              <a:rPr lang="zh-CN" altLang="en-US" sz="2400" dirty="0"/>
              <a:t>容量法有草酸钙－高锰酸钾间接容量法和络合滴定法两种</a:t>
            </a:r>
            <a:endParaRPr lang="en-US" altLang="zh-CN" sz="2400" dirty="0"/>
          </a:p>
          <a:p>
            <a:r>
              <a:rPr lang="zh-CN" altLang="en-US" sz="2400" dirty="0"/>
              <a:t>草酸钙－高锰酸钾间接容量法</a:t>
            </a:r>
            <a:endParaRPr lang="en-US" altLang="zh-CN" sz="2400" dirty="0"/>
          </a:p>
          <a:p>
            <a:pPr lvl="1"/>
            <a:r>
              <a:rPr lang="en-US" altLang="zh-CN" sz="2000" dirty="0"/>
              <a:t>1933</a:t>
            </a:r>
            <a:r>
              <a:rPr lang="zh-CN" altLang="en-US" sz="2000" dirty="0"/>
              <a:t>年</a:t>
            </a:r>
            <a:r>
              <a:rPr lang="en-US" altLang="zh-CN" sz="2000" dirty="0"/>
              <a:t>Kirk</a:t>
            </a:r>
            <a:r>
              <a:rPr lang="zh-CN" altLang="en-US" sz="2000" dirty="0"/>
              <a:t>等提出</a:t>
            </a:r>
            <a:endParaRPr lang="en-US" altLang="zh-CN" sz="2000" dirty="0"/>
          </a:p>
          <a:p>
            <a:pPr lvl="1"/>
            <a:r>
              <a:rPr lang="zh-CN" altLang="en-US" sz="2000" dirty="0"/>
              <a:t>在草酸钙二次沉淀后不将它饶灼成</a:t>
            </a:r>
            <a:r>
              <a:rPr lang="en-US" altLang="zh-CN" sz="2000" dirty="0" err="1"/>
              <a:t>CaO</a:t>
            </a:r>
            <a:r>
              <a:rPr lang="zh-CN" altLang="en-US" sz="2000" dirty="0"/>
              <a:t>，而以酸溶解，用</a:t>
            </a:r>
            <a:r>
              <a:rPr lang="en-US" altLang="zh-CN" sz="2000" dirty="0"/>
              <a:t>KMnO</a:t>
            </a:r>
            <a:r>
              <a:rPr lang="en-US" altLang="zh-CN" sz="2000" baseline="-25000" dirty="0"/>
              <a:t>4</a:t>
            </a:r>
            <a:r>
              <a:rPr lang="zh-CN" altLang="en-US" sz="2000" dirty="0"/>
              <a:t>标准溶液滴定与</a:t>
            </a:r>
            <a:r>
              <a:rPr lang="en-US" altLang="zh-CN" sz="2000" dirty="0"/>
              <a:t>Ca</a:t>
            </a:r>
            <a:r>
              <a:rPr lang="zh-CN" altLang="en-US" sz="2000" dirty="0"/>
              <a:t>等当量的草酸根离子</a:t>
            </a:r>
            <a:endParaRPr lang="en-US" altLang="zh-CN" sz="2000" dirty="0"/>
          </a:p>
          <a:p>
            <a:pPr lvl="1"/>
            <a:r>
              <a:rPr lang="zh-CN" altLang="en-US" sz="2000" dirty="0"/>
              <a:t>此法的误差低于</a:t>
            </a:r>
            <a:r>
              <a:rPr lang="en-US" altLang="zh-CN" sz="2000" dirty="0"/>
              <a:t>0.5%</a:t>
            </a:r>
          </a:p>
          <a:p>
            <a:pPr lvl="1"/>
            <a:r>
              <a:rPr lang="en-US" altLang="zh-CN" sz="2000" dirty="0"/>
              <a:t>Robertson</a:t>
            </a:r>
            <a:r>
              <a:rPr lang="zh-CN" altLang="en-US" sz="2000" dirty="0"/>
              <a:t>和</a:t>
            </a:r>
            <a:r>
              <a:rPr lang="en-US" altLang="zh-CN" sz="2000" dirty="0" err="1"/>
              <a:t>Webbrn</a:t>
            </a:r>
            <a:r>
              <a:rPr lang="zh-CN" altLang="en-US" sz="2000" dirty="0"/>
              <a:t>使用硫酸铈代替高锰酸钾，硫酸铈法比高锰酸钾法稳定，在稀溶液中终点更为敏锐，不用小心控制温度</a:t>
            </a:r>
            <a:endParaRPr lang="en-US" altLang="zh-CN" sz="2000" dirty="0"/>
          </a:p>
          <a:p>
            <a:pPr lvl="1"/>
            <a:r>
              <a:rPr lang="zh-CN" altLang="en-US" sz="2000" dirty="0"/>
              <a:t>方法的缺陷</a:t>
            </a:r>
            <a:endParaRPr lang="zh-CN" altLang="en-US" dirty="0"/>
          </a:p>
        </p:txBody>
      </p:sp>
    </p:spTree>
    <p:extLst>
      <p:ext uri="{BB962C8B-B14F-4D97-AF65-F5344CB8AC3E}">
        <p14:creationId xmlns:p14="http://schemas.microsoft.com/office/powerpoint/2010/main" val="3140336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descr="https://gss1.bdstatic.com/9vo3dSag_xI4khGkpoWK1HF6hhy/baike/c0%3Dbaike80%2C5%2C5%2C80%2C26/sign=951a5e7a3d9b033b3885f48874a75db6/6609c93d70cf3bc7de0d8e92d800baa1cd112ab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2120" y="47545"/>
            <a:ext cx="3417590" cy="298401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6E72A811-5C03-49AD-A208-539FB2798276}"/>
              </a:ext>
            </a:extLst>
          </p:cNvPr>
          <p:cNvSpPr>
            <a:spLocks noGrp="1"/>
          </p:cNvSpPr>
          <p:nvPr>
            <p:ph type="title"/>
          </p:nvPr>
        </p:nvSpPr>
        <p:spPr>
          <a:xfrm>
            <a:off x="1105272" y="300252"/>
            <a:ext cx="4546848" cy="1143000"/>
          </a:xfrm>
        </p:spPr>
        <p:txBody>
          <a:bodyPr/>
          <a:lstStyle/>
          <a:p>
            <a:r>
              <a:rPr lang="zh-CN" altLang="en-US" sz="3600" dirty="0"/>
              <a:t>钙</a:t>
            </a:r>
            <a:r>
              <a:rPr lang="zh-CN" altLang="en-US" dirty="0"/>
              <a:t>离子的分析方法</a:t>
            </a:r>
          </a:p>
        </p:txBody>
      </p:sp>
      <p:sp>
        <p:nvSpPr>
          <p:cNvPr id="3" name="内容占位符 2">
            <a:extLst>
              <a:ext uri="{FF2B5EF4-FFF2-40B4-BE49-F238E27FC236}">
                <a16:creationId xmlns:a16="http://schemas.microsoft.com/office/drawing/2014/main" id="{A43D6824-3FCB-446D-A0A7-14C76379AFC0}"/>
              </a:ext>
            </a:extLst>
          </p:cNvPr>
          <p:cNvSpPr>
            <a:spLocks noGrp="1"/>
          </p:cNvSpPr>
          <p:nvPr>
            <p:ph idx="1"/>
          </p:nvPr>
        </p:nvSpPr>
        <p:spPr>
          <a:xfrm>
            <a:off x="251520" y="1880474"/>
            <a:ext cx="8496944" cy="3904060"/>
          </a:xfrm>
        </p:spPr>
        <p:txBody>
          <a:bodyPr/>
          <a:lstStyle/>
          <a:p>
            <a:r>
              <a:rPr lang="zh-CN" altLang="en-US" dirty="0"/>
              <a:t>络合滴定法</a:t>
            </a:r>
            <a:endParaRPr lang="en-US" altLang="zh-CN" dirty="0"/>
          </a:p>
          <a:p>
            <a:pPr lvl="1"/>
            <a:r>
              <a:rPr lang="zh-CN" altLang="en-US" sz="2000" dirty="0"/>
              <a:t>络合滴定法采用乙二胺四乙酸（以下简称</a:t>
            </a:r>
            <a:r>
              <a:rPr lang="en-US" altLang="zh-CN" sz="2000" dirty="0"/>
              <a:t>EDTA</a:t>
            </a:r>
            <a:r>
              <a:rPr lang="zh-CN" altLang="en-US" sz="2000" dirty="0"/>
              <a:t>）为 标准溶液，用适当指示剂指示将点．海水中钙离子可以应接用</a:t>
            </a:r>
            <a:endParaRPr lang="en-US" altLang="zh-CN" sz="2000" dirty="0"/>
          </a:p>
          <a:p>
            <a:pPr lvl="1"/>
            <a:r>
              <a:rPr lang="en-US" altLang="zh-CN" sz="2000" dirty="0"/>
              <a:t>EDTA</a:t>
            </a:r>
            <a:r>
              <a:rPr lang="zh-CN" altLang="en-US" sz="2000" dirty="0"/>
              <a:t>是一种能与</a:t>
            </a:r>
            <a:r>
              <a:rPr lang="en-US" altLang="zh-CN" sz="2000" dirty="0"/>
              <a:t>Mg</a:t>
            </a:r>
            <a:r>
              <a:rPr lang="en-US" altLang="zh-CN" sz="2000" baseline="30000" dirty="0"/>
              <a:t>2+</a:t>
            </a:r>
            <a:r>
              <a:rPr lang="zh-CN" altLang="en-US" sz="2000" dirty="0"/>
              <a:t>、</a:t>
            </a:r>
            <a:r>
              <a:rPr lang="en-US" altLang="zh-CN" sz="2000" dirty="0"/>
              <a:t>Ca</a:t>
            </a:r>
            <a:r>
              <a:rPr lang="en-US" altLang="zh-CN" sz="2000" baseline="30000" dirty="0"/>
              <a:t>2+</a:t>
            </a:r>
            <a:r>
              <a:rPr lang="zh-CN" altLang="en-US" sz="2000" dirty="0"/>
              <a:t>、</a:t>
            </a:r>
            <a:r>
              <a:rPr lang="en-US" altLang="zh-CN" sz="2000" dirty="0"/>
              <a:t>Mn</a:t>
            </a:r>
            <a:r>
              <a:rPr lang="en-US" altLang="zh-CN" sz="2000" baseline="30000" dirty="0"/>
              <a:t>2+</a:t>
            </a:r>
            <a:r>
              <a:rPr lang="zh-CN" altLang="en-US" sz="2000" dirty="0"/>
              <a:t>、</a:t>
            </a:r>
            <a:r>
              <a:rPr lang="en-US" altLang="zh-CN" sz="2000" dirty="0"/>
              <a:t>Fe</a:t>
            </a:r>
            <a:r>
              <a:rPr lang="en-US" altLang="zh-CN" sz="2000" baseline="30000" dirty="0"/>
              <a:t>2+</a:t>
            </a:r>
            <a:r>
              <a:rPr lang="zh-CN" altLang="en-US" sz="2000" dirty="0"/>
              <a:t>等二价金属离子结合的</a:t>
            </a:r>
            <a:r>
              <a:rPr lang="zh-CN" altLang="en-US" sz="2000" dirty="0">
                <a:hlinkClick r:id="rId3"/>
              </a:rPr>
              <a:t>螯合剂</a:t>
            </a:r>
            <a:r>
              <a:rPr lang="zh-CN" altLang="en-US" sz="2000" dirty="0"/>
              <a:t>。</a:t>
            </a:r>
          </a:p>
          <a:p>
            <a:pPr lvl="1"/>
            <a:r>
              <a:rPr lang="en-US" altLang="zh-CN" sz="2000" dirty="0"/>
              <a:t>EDTA</a:t>
            </a:r>
            <a:r>
              <a:rPr lang="zh-CN" altLang="en-US" sz="2000" dirty="0"/>
              <a:t>标准溶液滴定，</a:t>
            </a:r>
            <a:r>
              <a:rPr lang="zh-CN" altLang="en-US" sz="2000" dirty="0">
                <a:latin typeface="+mn-ea"/>
              </a:rPr>
              <a:t>但该方法在实际测量中是钙镁一起测量，即先测定钙镁总量，再进行钙的测定，然后由两次测定的差来求出镁的含量。</a:t>
            </a:r>
            <a:endParaRPr lang="en-US" altLang="zh-CN" sz="2000" dirty="0">
              <a:latin typeface="+mn-ea"/>
            </a:endParaRPr>
          </a:p>
          <a:p>
            <a:pPr lvl="1"/>
            <a:r>
              <a:rPr lang="zh-CN" altLang="en-US" sz="2000" dirty="0">
                <a:latin typeface="+mn-ea"/>
              </a:rPr>
              <a:t>该方法主要的问题是选择适当指示剂（比如钙试剂，钙试剂能和水中的钙离子络合成红色络合物）指示终点。滴定过程中溶液</a:t>
            </a:r>
            <a:r>
              <a:rPr lang="en-US" altLang="zh-CN" sz="2000" dirty="0">
                <a:latin typeface="+mn-ea"/>
              </a:rPr>
              <a:t>pH</a:t>
            </a:r>
            <a:r>
              <a:rPr lang="zh-CN" altLang="en-US" sz="2000" dirty="0">
                <a:latin typeface="+mn-ea"/>
              </a:rPr>
              <a:t>值要保持在</a:t>
            </a:r>
            <a:r>
              <a:rPr lang="en-US" altLang="zh-CN" sz="2000" dirty="0">
                <a:latin typeface="+mn-ea"/>
              </a:rPr>
              <a:t>11.75-12.55</a:t>
            </a:r>
            <a:r>
              <a:rPr lang="zh-CN" altLang="en-US" sz="2000" dirty="0">
                <a:latin typeface="+mn-ea"/>
              </a:rPr>
              <a:t>之间，稳定且误差小。</a:t>
            </a:r>
            <a:endParaRPr lang="en-US" altLang="zh-CN" sz="2000" dirty="0">
              <a:latin typeface="+mn-ea"/>
            </a:endParaRPr>
          </a:p>
          <a:p>
            <a:endParaRPr lang="en-US" altLang="zh-CN" sz="2000" dirty="0">
              <a:latin typeface="+mn-ea"/>
            </a:endParaRPr>
          </a:p>
          <a:p>
            <a:endParaRPr lang="zh-CN" altLang="en-US" sz="2000" dirty="0"/>
          </a:p>
        </p:txBody>
      </p:sp>
    </p:spTree>
    <p:extLst>
      <p:ext uri="{BB962C8B-B14F-4D97-AF65-F5344CB8AC3E}">
        <p14:creationId xmlns:p14="http://schemas.microsoft.com/office/powerpoint/2010/main" val="36054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descr="https://gss1.bdstatic.com/9vo3dSag_xI4khGkpoWK1HF6hhy/baike/c0%3Dbaike80%2C5%2C5%2C80%2C26/sign=951a5e7a3d9b033b3885f48874a75db6/6609c93d70cf3bc7de0d8e92d800baa1cd112ab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6166" y="298157"/>
            <a:ext cx="3777630" cy="329837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6E72A811-5C03-49AD-A208-539FB2798276}"/>
              </a:ext>
            </a:extLst>
          </p:cNvPr>
          <p:cNvSpPr>
            <a:spLocks noGrp="1"/>
          </p:cNvSpPr>
          <p:nvPr>
            <p:ph type="title"/>
          </p:nvPr>
        </p:nvSpPr>
        <p:spPr>
          <a:xfrm>
            <a:off x="1043608" y="332656"/>
            <a:ext cx="4248472" cy="1143000"/>
          </a:xfrm>
        </p:spPr>
        <p:txBody>
          <a:bodyPr/>
          <a:lstStyle/>
          <a:p>
            <a:r>
              <a:rPr lang="zh-CN" altLang="en-US" sz="3600" dirty="0"/>
              <a:t>钙</a:t>
            </a:r>
            <a:r>
              <a:rPr lang="zh-CN" altLang="en-US" dirty="0"/>
              <a:t>离子的分析方法</a:t>
            </a:r>
          </a:p>
        </p:txBody>
      </p:sp>
      <p:sp>
        <p:nvSpPr>
          <p:cNvPr id="4" name="矩形 3"/>
          <p:cNvSpPr/>
          <p:nvPr/>
        </p:nvSpPr>
        <p:spPr>
          <a:xfrm>
            <a:off x="499098" y="1653120"/>
            <a:ext cx="4572000" cy="1015663"/>
          </a:xfrm>
          <a:prstGeom prst="rect">
            <a:avLst/>
          </a:prstGeom>
        </p:spPr>
        <p:txBody>
          <a:bodyPr>
            <a:spAutoFit/>
          </a:bodyPr>
          <a:lstStyle/>
          <a:p>
            <a:pPr marL="285750" indent="-285750" algn="just">
              <a:buFont typeface="Arial" panose="020B0604020202020204" pitchFamily="34" charset="0"/>
              <a:buChar char="•"/>
            </a:pPr>
            <a:r>
              <a:rPr lang="zh-CN" altLang="en-US" sz="2000" b="1" dirty="0"/>
              <a:t>螯合物</a:t>
            </a:r>
            <a:r>
              <a:rPr lang="zh-CN" altLang="en-US" sz="2000" dirty="0"/>
              <a:t>是配合物的一种，在螯合物的结构中，一定有一个或多个多齿配体提供多对电子与</a:t>
            </a:r>
            <a:r>
              <a:rPr lang="zh-CN" altLang="en-US" sz="2000" dirty="0">
                <a:hlinkClick r:id="rId3"/>
              </a:rPr>
              <a:t>中心体</a:t>
            </a:r>
            <a:r>
              <a:rPr lang="zh-CN" altLang="en-US" sz="2000" dirty="0"/>
              <a:t>形成配位键。</a:t>
            </a:r>
          </a:p>
        </p:txBody>
      </p:sp>
      <p:pic>
        <p:nvPicPr>
          <p:cNvPr id="134146" name="Picture 2" descr="https://gss1.bdstatic.com/-vo3dSag_xI4khGkpoWK1HF6hhy/baike/w%3D268/sign=d0b5440f73f082022d92963973fafb8a/4bed2e738bd4b31cfaff349787d6277f9f2ff8df.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5988" y="3637186"/>
            <a:ext cx="1689813" cy="234461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467544" y="2780928"/>
            <a:ext cx="4644008" cy="1631216"/>
          </a:xfrm>
          <a:prstGeom prst="rect">
            <a:avLst/>
          </a:prstGeom>
        </p:spPr>
        <p:txBody>
          <a:bodyPr wrap="square">
            <a:spAutoFit/>
          </a:bodyPr>
          <a:lstStyle/>
          <a:p>
            <a:pPr marL="342900" indent="-342900" algn="just">
              <a:buFont typeface="Arial" panose="020B0604020202020204" pitchFamily="34" charset="0"/>
              <a:buChar char="•"/>
            </a:pPr>
            <a:r>
              <a:rPr lang="zh-CN" altLang="en-US" sz="2000" dirty="0"/>
              <a:t>能与许多金属离子如</a:t>
            </a:r>
            <a:r>
              <a:rPr lang="en-US" altLang="zh-CN" sz="2000" dirty="0"/>
              <a:t>Fe</a:t>
            </a:r>
            <a:r>
              <a:rPr lang="zh-CN" altLang="en-US" sz="2000" dirty="0"/>
              <a:t>、</a:t>
            </a:r>
            <a:r>
              <a:rPr lang="en-US" altLang="zh-CN" sz="2000" dirty="0" err="1"/>
              <a:t>Th</a:t>
            </a:r>
            <a:r>
              <a:rPr lang="zh-CN" altLang="en-US" sz="2000" dirty="0"/>
              <a:t>、</a:t>
            </a:r>
            <a:r>
              <a:rPr lang="en-US" altLang="zh-CN" sz="2000" dirty="0"/>
              <a:t>Hg</a:t>
            </a:r>
            <a:r>
              <a:rPr lang="zh-CN" altLang="en-US" sz="2000" dirty="0"/>
              <a:t>、</a:t>
            </a:r>
            <a:r>
              <a:rPr lang="en-US" altLang="zh-CN" sz="2000" dirty="0"/>
              <a:t>Cu</a:t>
            </a:r>
            <a:r>
              <a:rPr lang="zh-CN" altLang="en-US" sz="2000" dirty="0"/>
              <a:t>、</a:t>
            </a:r>
            <a:r>
              <a:rPr lang="en-US" altLang="zh-CN" sz="2000" dirty="0"/>
              <a:t>Ni</a:t>
            </a:r>
            <a:r>
              <a:rPr lang="zh-CN" altLang="en-US" sz="2000" dirty="0"/>
              <a:t>、</a:t>
            </a:r>
            <a:r>
              <a:rPr lang="en-US" altLang="zh-CN" sz="2000" dirty="0" err="1"/>
              <a:t>Pb</a:t>
            </a:r>
            <a:r>
              <a:rPr lang="zh-CN" altLang="en-US" sz="2000" dirty="0"/>
              <a:t>等通过四个 </a:t>
            </a:r>
            <a:r>
              <a:rPr lang="en-US" altLang="zh-CN" sz="2000" dirty="0"/>
              <a:t>(</a:t>
            </a:r>
            <a:r>
              <a:rPr lang="zh-CN" altLang="en-US" sz="2000" dirty="0"/>
              <a:t>有时为三个</a:t>
            </a:r>
            <a:r>
              <a:rPr lang="en-US" altLang="zh-CN" sz="2000" dirty="0"/>
              <a:t>) </a:t>
            </a:r>
            <a:r>
              <a:rPr lang="zh-CN" altLang="en-US" sz="2000" dirty="0"/>
              <a:t>羧酸基和二个氮原子</a:t>
            </a:r>
            <a:r>
              <a:rPr lang="zh-CN" altLang="en-US" sz="2000" dirty="0">
                <a:hlinkClick r:id="rId5"/>
              </a:rPr>
              <a:t>键合</a:t>
            </a:r>
            <a:r>
              <a:rPr lang="zh-CN" altLang="en-US" sz="2000" dirty="0"/>
              <a:t>而形成五个五元</a:t>
            </a:r>
            <a:r>
              <a:rPr lang="zh-CN" altLang="en-US" sz="2000" dirty="0">
                <a:hlinkClick r:id="rId6"/>
              </a:rPr>
              <a:t>螯合环</a:t>
            </a:r>
            <a:r>
              <a:rPr lang="zh-CN" altLang="en-US" sz="2000" dirty="0"/>
              <a:t>，生成比络合物具有更高稳定性的金属</a:t>
            </a:r>
            <a:r>
              <a:rPr lang="en-US" altLang="zh-CN" sz="2000" dirty="0"/>
              <a:t>——EDTA</a:t>
            </a:r>
            <a:r>
              <a:rPr lang="zh-CN" altLang="en-US" sz="2000" dirty="0"/>
              <a:t>螯合物。</a:t>
            </a:r>
          </a:p>
        </p:txBody>
      </p:sp>
      <p:sp>
        <p:nvSpPr>
          <p:cNvPr id="7" name="矩形 6"/>
          <p:cNvSpPr/>
          <p:nvPr/>
        </p:nvSpPr>
        <p:spPr>
          <a:xfrm>
            <a:off x="539552" y="4504476"/>
            <a:ext cx="5256584" cy="1323439"/>
          </a:xfrm>
          <a:prstGeom prst="rect">
            <a:avLst/>
          </a:prstGeom>
        </p:spPr>
        <p:txBody>
          <a:bodyPr wrap="square">
            <a:spAutoFit/>
          </a:bodyPr>
          <a:lstStyle/>
          <a:p>
            <a:pPr marL="285750" indent="-285750" algn="just">
              <a:buFont typeface="Arial" panose="020B0604020202020204" pitchFamily="34" charset="0"/>
              <a:buChar char="•"/>
            </a:pPr>
            <a:r>
              <a:rPr lang="en-US" altLang="zh-CN" sz="2000" dirty="0"/>
              <a:t>EDTA (</a:t>
            </a:r>
            <a:r>
              <a:rPr lang="en-US" altLang="zh-CN" sz="2000" dirty="0" err="1"/>
              <a:t>ethylenediaminetetracetic</a:t>
            </a:r>
            <a:r>
              <a:rPr lang="en-US" altLang="zh-CN" sz="2000" dirty="0"/>
              <a:t> acid</a:t>
            </a:r>
            <a:r>
              <a:rPr lang="zh-CN" altLang="en-US" sz="2000" dirty="0"/>
              <a:t>），它能提供</a:t>
            </a:r>
            <a:r>
              <a:rPr lang="en-US" altLang="zh-CN" sz="2000" dirty="0"/>
              <a:t>2</a:t>
            </a:r>
            <a:r>
              <a:rPr lang="zh-CN" altLang="en-US" sz="2000" dirty="0"/>
              <a:t>个氮原子和</a:t>
            </a:r>
            <a:r>
              <a:rPr lang="en-US" altLang="zh-CN" sz="2000" dirty="0"/>
              <a:t>4</a:t>
            </a:r>
            <a:r>
              <a:rPr lang="zh-CN" altLang="en-US" sz="2000" dirty="0"/>
              <a:t>个</a:t>
            </a:r>
            <a:r>
              <a:rPr lang="zh-CN" altLang="en-US" sz="2000" dirty="0">
                <a:hlinkClick r:id="rId7"/>
              </a:rPr>
              <a:t>羧基</a:t>
            </a:r>
            <a:r>
              <a:rPr lang="zh-CN" altLang="en-US" sz="2000" dirty="0"/>
              <a:t>氧原子与金属配合，可以用</a:t>
            </a:r>
            <a:r>
              <a:rPr lang="en-US" altLang="zh-CN" sz="2000" dirty="0"/>
              <a:t>1</a:t>
            </a:r>
            <a:r>
              <a:rPr lang="zh-CN" altLang="en-US" sz="2000" dirty="0"/>
              <a:t>个分子把需要</a:t>
            </a:r>
            <a:r>
              <a:rPr lang="en-US" altLang="zh-CN" sz="2000" dirty="0"/>
              <a:t>6</a:t>
            </a:r>
            <a:r>
              <a:rPr lang="zh-CN" altLang="en-US" sz="2000" dirty="0"/>
              <a:t>配位的钙离子紧紧包裹起来，生成极稳定的产物。</a:t>
            </a:r>
          </a:p>
        </p:txBody>
      </p:sp>
    </p:spTree>
    <p:extLst>
      <p:ext uri="{BB962C8B-B14F-4D97-AF65-F5344CB8AC3E}">
        <p14:creationId xmlns:p14="http://schemas.microsoft.com/office/powerpoint/2010/main" val="2081401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https://gss2.bdstatic.com/-fo3dSag_xI4khGkpoWK1HF6hhy/baike/c0%3Dbaike72%2C5%2C5%2C72%2C24/sign=2c3a09e4f2d3572c72ef948eeb7a0842/9c16fdfaaf51f3de9264e76994eef01f3b2979e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8956" y="0"/>
            <a:ext cx="2929508"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395536" y="223705"/>
            <a:ext cx="5842992" cy="1143000"/>
          </a:xfrm>
        </p:spPr>
        <p:txBody>
          <a:bodyPr/>
          <a:lstStyle/>
          <a:p>
            <a:r>
              <a:rPr lang="zh-CN" altLang="en-US" sz="3200" dirty="0"/>
              <a:t>钙离子的络合滴定法</a:t>
            </a:r>
          </a:p>
        </p:txBody>
      </p:sp>
      <p:pic>
        <p:nvPicPr>
          <p:cNvPr id="9" name="图片 8">
            <a:extLst>
              <a:ext uri="{FF2B5EF4-FFF2-40B4-BE49-F238E27FC236}">
                <a16:creationId xmlns:a16="http://schemas.microsoft.com/office/drawing/2014/main" id="{81C1F5EE-E18F-4084-8E43-D92294919456}"/>
              </a:ext>
            </a:extLst>
          </p:cNvPr>
          <p:cNvPicPr>
            <a:picLocks noChangeAspect="1"/>
          </p:cNvPicPr>
          <p:nvPr/>
        </p:nvPicPr>
        <p:blipFill rotWithShape="1">
          <a:blip r:embed="rId3"/>
          <a:srcRect t="34296" r="4" b="28215"/>
          <a:stretch/>
        </p:blipFill>
        <p:spPr>
          <a:xfrm>
            <a:off x="0" y="2033134"/>
            <a:ext cx="9054066" cy="2072286"/>
          </a:xfrm>
          <a:prstGeom prst="rect">
            <a:avLst/>
          </a:prstGeom>
        </p:spPr>
      </p:pic>
      <p:sp>
        <p:nvSpPr>
          <p:cNvPr id="11" name="TextBox 6">
            <a:extLst>
              <a:ext uri="{FF2B5EF4-FFF2-40B4-BE49-F238E27FC236}">
                <a16:creationId xmlns:a16="http://schemas.microsoft.com/office/drawing/2014/main" id="{5F8277D1-5609-4870-BC53-E45F93392CA7}"/>
              </a:ext>
            </a:extLst>
          </p:cNvPr>
          <p:cNvSpPr txBox="1"/>
          <p:nvPr/>
        </p:nvSpPr>
        <p:spPr>
          <a:xfrm>
            <a:off x="683568" y="1590410"/>
            <a:ext cx="1415772" cy="461665"/>
          </a:xfrm>
          <a:prstGeom prst="rect">
            <a:avLst/>
          </a:prstGeom>
          <a:noFill/>
        </p:spPr>
        <p:txBody>
          <a:bodyPr wrap="none" rtlCol="0">
            <a:spAutoFit/>
          </a:bodyPr>
          <a:lstStyle/>
          <a:p>
            <a:r>
              <a:rPr lang="zh-CN" altLang="en-US" sz="2400" dirty="0"/>
              <a:t>滴定原理</a:t>
            </a:r>
          </a:p>
        </p:txBody>
      </p:sp>
      <p:sp>
        <p:nvSpPr>
          <p:cNvPr id="12" name="矩形 11">
            <a:extLst>
              <a:ext uri="{FF2B5EF4-FFF2-40B4-BE49-F238E27FC236}">
                <a16:creationId xmlns:a16="http://schemas.microsoft.com/office/drawing/2014/main" id="{93701E10-FEC8-4DA7-8519-DADDE300B258}"/>
              </a:ext>
            </a:extLst>
          </p:cNvPr>
          <p:cNvSpPr/>
          <p:nvPr/>
        </p:nvSpPr>
        <p:spPr>
          <a:xfrm>
            <a:off x="971600" y="4086479"/>
            <a:ext cx="5826414" cy="400110"/>
          </a:xfrm>
          <a:prstGeom prst="rect">
            <a:avLst/>
          </a:prstGeom>
        </p:spPr>
        <p:txBody>
          <a:bodyPr wrap="square">
            <a:spAutoFit/>
          </a:bodyPr>
          <a:lstStyle/>
          <a:p>
            <a:pPr marL="342900" indent="-342900">
              <a:buFont typeface="Arial" panose="020B0604020202020204" pitchFamily="34" charset="0"/>
              <a:buChar char="•"/>
            </a:pPr>
            <a:r>
              <a:rPr lang="en-US" altLang="zh-CN" sz="2000" dirty="0"/>
              <a:t>EGTA</a:t>
            </a:r>
            <a:r>
              <a:rPr lang="zh-CN" altLang="en-US" sz="2000" dirty="0"/>
              <a:t>是一种化学物质，分子式是</a:t>
            </a:r>
            <a:r>
              <a:rPr lang="en-US" altLang="zh-CN" sz="2000" dirty="0"/>
              <a:t>C</a:t>
            </a:r>
            <a:r>
              <a:rPr lang="en-US" altLang="zh-CN" sz="2000" baseline="-25000" dirty="0"/>
              <a:t>14</a:t>
            </a:r>
            <a:r>
              <a:rPr lang="en-US" altLang="zh-CN" sz="2000" dirty="0"/>
              <a:t>H</a:t>
            </a:r>
            <a:r>
              <a:rPr lang="en-US" altLang="zh-CN" sz="2000" baseline="-25000" dirty="0"/>
              <a:t>24</a:t>
            </a:r>
            <a:r>
              <a:rPr lang="en-US" altLang="zh-CN" sz="2000" dirty="0"/>
              <a:t>N</a:t>
            </a:r>
            <a:r>
              <a:rPr lang="en-US" altLang="zh-CN" sz="2000" baseline="-25000" dirty="0"/>
              <a:t>2</a:t>
            </a:r>
            <a:r>
              <a:rPr lang="en-US" altLang="zh-CN" sz="2000" dirty="0"/>
              <a:t>O</a:t>
            </a:r>
            <a:r>
              <a:rPr lang="en-US" altLang="zh-CN" sz="2000" baseline="-25000" dirty="0"/>
              <a:t>10</a:t>
            </a:r>
            <a:endParaRPr lang="zh-CN" altLang="en-US" sz="2000" baseline="-25000" dirty="0"/>
          </a:p>
        </p:txBody>
      </p:sp>
      <p:sp>
        <p:nvSpPr>
          <p:cNvPr id="13" name="矩形 12">
            <a:extLst>
              <a:ext uri="{FF2B5EF4-FFF2-40B4-BE49-F238E27FC236}">
                <a16:creationId xmlns:a16="http://schemas.microsoft.com/office/drawing/2014/main" id="{9CB589F4-B007-44A2-B9B2-EE3553DFC6BE}"/>
              </a:ext>
            </a:extLst>
          </p:cNvPr>
          <p:cNvSpPr/>
          <p:nvPr/>
        </p:nvSpPr>
        <p:spPr>
          <a:xfrm>
            <a:off x="981632" y="4486589"/>
            <a:ext cx="8072612" cy="1323439"/>
          </a:xfrm>
          <a:prstGeom prst="rect">
            <a:avLst/>
          </a:prstGeom>
        </p:spPr>
        <p:txBody>
          <a:bodyPr wrap="square">
            <a:spAutoFit/>
          </a:bodyPr>
          <a:lstStyle/>
          <a:p>
            <a:pPr marL="342900" indent="-342900">
              <a:buFont typeface="Arial" panose="020B0604020202020204" pitchFamily="34" charset="0"/>
              <a:buChar char="•"/>
            </a:pPr>
            <a:r>
              <a:rPr lang="zh-CN" altLang="en-US" sz="2000" dirty="0"/>
              <a:t>在</a:t>
            </a:r>
            <a:r>
              <a:rPr lang="en-US" altLang="zh-CN" sz="2000" dirty="0"/>
              <a:t>Mg</a:t>
            </a:r>
            <a:r>
              <a:rPr lang="en-US" altLang="zh-CN" sz="2000" baseline="30000" dirty="0"/>
              <a:t>2+</a:t>
            </a:r>
            <a:r>
              <a:rPr lang="zh-CN" altLang="en-US" sz="2000" dirty="0"/>
              <a:t>存在下测定</a:t>
            </a:r>
            <a:r>
              <a:rPr lang="en-US" altLang="zh-CN" sz="2000" dirty="0"/>
              <a:t>Ca</a:t>
            </a:r>
            <a:r>
              <a:rPr lang="en-US" altLang="zh-CN" sz="2000" baseline="30000" dirty="0"/>
              <a:t>2+</a:t>
            </a:r>
            <a:r>
              <a:rPr lang="zh-CN" altLang="en-US" sz="2000" dirty="0"/>
              <a:t>时</a:t>
            </a:r>
            <a:r>
              <a:rPr lang="en-US" altLang="zh-CN" sz="2000" dirty="0"/>
              <a:t>,</a:t>
            </a:r>
            <a:r>
              <a:rPr lang="zh-CN" altLang="en-US" sz="2000" dirty="0"/>
              <a:t>可用</a:t>
            </a:r>
            <a:r>
              <a:rPr lang="en-US" altLang="zh-CN" sz="2000" dirty="0"/>
              <a:t>EGTA</a:t>
            </a:r>
            <a:r>
              <a:rPr lang="zh-CN" altLang="en-US" sz="2000" dirty="0"/>
              <a:t>直接</a:t>
            </a:r>
            <a:r>
              <a:rPr lang="zh-CN" altLang="en-US" sz="2000" dirty="0">
                <a:hlinkClick r:id="rId4"/>
              </a:rPr>
              <a:t>滴定</a:t>
            </a:r>
            <a:r>
              <a:rPr lang="zh-CN" altLang="en-US" sz="2000" dirty="0"/>
              <a:t>。</a:t>
            </a:r>
            <a:endParaRPr lang="en-US" altLang="zh-CN" sz="2000" dirty="0"/>
          </a:p>
          <a:p>
            <a:pPr marL="285750" indent="-285750">
              <a:buFont typeface="Arial" panose="020B0604020202020204" pitchFamily="34" charset="0"/>
              <a:buChar char="•"/>
            </a:pPr>
            <a:r>
              <a:rPr lang="en-US" altLang="zh-CN" sz="2000" dirty="0" err="1"/>
              <a:t>logK</a:t>
            </a:r>
            <a:r>
              <a:rPr lang="en-US" altLang="zh-CN" sz="2000" baseline="-25000" dirty="0" err="1"/>
              <a:t>Ca</a:t>
            </a:r>
            <a:r>
              <a:rPr lang="en-US" altLang="zh-CN" sz="2000" baseline="-25000" dirty="0"/>
              <a:t>-EGTA</a:t>
            </a:r>
            <a:r>
              <a:rPr lang="en-US" altLang="zh-CN" sz="2000" dirty="0"/>
              <a:t>=10.97</a:t>
            </a:r>
            <a:r>
              <a:rPr lang="zh-CN" altLang="en-US" sz="2000" dirty="0"/>
              <a:t>，</a:t>
            </a:r>
            <a:r>
              <a:rPr lang="en-US" altLang="zh-CN" sz="2000" dirty="0"/>
              <a:t> </a:t>
            </a:r>
            <a:r>
              <a:rPr lang="en-US" altLang="zh-CN" sz="2000" dirty="0" err="1"/>
              <a:t>logK</a:t>
            </a:r>
            <a:r>
              <a:rPr lang="en-US" altLang="zh-CN" sz="2000" baseline="-25000" dirty="0" err="1"/>
              <a:t>Mg</a:t>
            </a:r>
            <a:r>
              <a:rPr lang="en-US" altLang="zh-CN" sz="2000" baseline="-25000" dirty="0"/>
              <a:t>-EGTA</a:t>
            </a:r>
            <a:r>
              <a:rPr lang="en-US" altLang="zh-CN" sz="2000" dirty="0"/>
              <a:t>=5.21</a:t>
            </a:r>
            <a:r>
              <a:rPr lang="zh-CN" altLang="en-US" sz="2000" dirty="0"/>
              <a:t>，可见</a:t>
            </a:r>
            <a:r>
              <a:rPr lang="en-US" altLang="zh-CN" sz="2000" dirty="0"/>
              <a:t>EGTA</a:t>
            </a:r>
            <a:r>
              <a:rPr lang="zh-CN" altLang="en-US" sz="2000" dirty="0"/>
              <a:t>镁配合物很不稳定</a:t>
            </a:r>
            <a:r>
              <a:rPr lang="en-US" altLang="zh-CN" sz="2000" dirty="0"/>
              <a:t>,</a:t>
            </a:r>
            <a:r>
              <a:rPr lang="zh-CN" altLang="en-US" sz="2000" dirty="0"/>
              <a:t>而</a:t>
            </a:r>
            <a:r>
              <a:rPr lang="en-US" altLang="zh-CN" sz="2000" dirty="0"/>
              <a:t>EGTA</a:t>
            </a:r>
            <a:r>
              <a:rPr lang="zh-CN" altLang="en-US" sz="2000" dirty="0"/>
              <a:t>钙配合物仍很稳定。</a:t>
            </a:r>
            <a:r>
              <a:rPr lang="en-US" altLang="zh-CN" sz="2000" dirty="0"/>
              <a:t>△</a:t>
            </a:r>
            <a:r>
              <a:rPr lang="en-US" altLang="zh-CN" sz="2000" dirty="0" err="1"/>
              <a:t>lgK</a:t>
            </a:r>
            <a:r>
              <a:rPr lang="en-US" altLang="zh-CN" sz="2000" dirty="0"/>
              <a:t>=10.97-5.21=5.76&gt;5,</a:t>
            </a:r>
            <a:r>
              <a:rPr lang="zh-CN" altLang="en-US" sz="2000" dirty="0"/>
              <a:t>滴定误差小于</a:t>
            </a:r>
            <a:r>
              <a:rPr lang="en-US" altLang="zh-CN" sz="2000" dirty="0"/>
              <a:t>0.3% ,</a:t>
            </a:r>
            <a:r>
              <a:rPr lang="zh-CN" altLang="en-US" sz="2000" dirty="0"/>
              <a:t>比用</a:t>
            </a:r>
            <a:r>
              <a:rPr lang="en-US" altLang="zh-CN" sz="2000" dirty="0"/>
              <a:t>EDTA</a:t>
            </a:r>
            <a:r>
              <a:rPr lang="zh-CN" altLang="en-US" sz="2000" dirty="0"/>
              <a:t>滴定提高了选择性。</a:t>
            </a:r>
            <a:endParaRPr lang="en-US" altLang="zh-CN" sz="2000" dirty="0"/>
          </a:p>
        </p:txBody>
      </p:sp>
      <p:sp>
        <p:nvSpPr>
          <p:cNvPr id="15" name="矩形 14">
            <a:extLst>
              <a:ext uri="{FF2B5EF4-FFF2-40B4-BE49-F238E27FC236}">
                <a16:creationId xmlns:a16="http://schemas.microsoft.com/office/drawing/2014/main" id="{751FAC4A-A240-4E10-AB42-0CBC5905B7D5}"/>
              </a:ext>
            </a:extLst>
          </p:cNvPr>
          <p:cNvSpPr/>
          <p:nvPr/>
        </p:nvSpPr>
        <p:spPr>
          <a:xfrm>
            <a:off x="2843808" y="3420050"/>
            <a:ext cx="2911151" cy="4758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17259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https://gss2.bdstatic.com/-fo3dSag_xI4khGkpoWK1HF6hhy/baike/c0%3Dbaike72%2C5%2C5%2C72%2C24/sign=2c3a09e4f2d3572c72ef948eeb7a0842/9c16fdfaaf51f3de9264e76994eef01f3b2979e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4120" y="239011"/>
            <a:ext cx="2929508"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395536" y="223705"/>
            <a:ext cx="5842992" cy="1143000"/>
          </a:xfrm>
        </p:spPr>
        <p:txBody>
          <a:bodyPr/>
          <a:lstStyle/>
          <a:p>
            <a:r>
              <a:rPr lang="zh-CN" altLang="en-US" sz="3200" dirty="0"/>
              <a:t>钙离子的络合滴定法</a:t>
            </a:r>
          </a:p>
        </p:txBody>
      </p:sp>
      <p:sp>
        <p:nvSpPr>
          <p:cNvPr id="7" name="TextBox 6"/>
          <p:cNvSpPr txBox="1"/>
          <p:nvPr/>
        </p:nvSpPr>
        <p:spPr>
          <a:xfrm>
            <a:off x="611560" y="1436928"/>
            <a:ext cx="1415772" cy="461665"/>
          </a:xfrm>
          <a:prstGeom prst="rect">
            <a:avLst/>
          </a:prstGeom>
          <a:noFill/>
        </p:spPr>
        <p:txBody>
          <a:bodyPr wrap="none" rtlCol="0">
            <a:spAutoFit/>
          </a:bodyPr>
          <a:lstStyle/>
          <a:p>
            <a:r>
              <a:rPr lang="zh-CN" altLang="en-US" sz="2400" dirty="0"/>
              <a:t>实验过程</a:t>
            </a:r>
          </a:p>
        </p:txBody>
      </p:sp>
      <p:pic>
        <p:nvPicPr>
          <p:cNvPr id="8" name="ECB019B1-382A-4266-B25C-5B523AA43C14-1" descr="qt_temp">
            <a:extLst>
              <a:ext uri="{FF2B5EF4-FFF2-40B4-BE49-F238E27FC236}">
                <a16:creationId xmlns:a16="http://schemas.microsoft.com/office/drawing/2014/main" id="{47199768-7246-40FD-8B67-11075CF116D5}"/>
              </a:ext>
            </a:extLst>
          </p:cNvPr>
          <p:cNvPicPr>
            <a:picLocks noChangeAspect="1"/>
          </p:cNvPicPr>
          <p:nvPr/>
        </p:nvPicPr>
        <p:blipFill rotWithShape="1">
          <a:blip r:embed="rId3"/>
          <a:srcRect r="42858"/>
          <a:stretch/>
        </p:blipFill>
        <p:spPr>
          <a:xfrm>
            <a:off x="789" y="1898593"/>
            <a:ext cx="8782839" cy="2101477"/>
          </a:xfrm>
          <a:prstGeom prst="rect">
            <a:avLst/>
          </a:prstGeom>
        </p:spPr>
      </p:pic>
      <p:pic>
        <p:nvPicPr>
          <p:cNvPr id="10" name="ECB019B1-382A-4266-B25C-5B523AA43C14-1" descr="qt_temp">
            <a:extLst>
              <a:ext uri="{FF2B5EF4-FFF2-40B4-BE49-F238E27FC236}">
                <a16:creationId xmlns:a16="http://schemas.microsoft.com/office/drawing/2014/main" id="{C522DFE6-F9B2-4AB6-A8A8-FCA2B748B111}"/>
              </a:ext>
            </a:extLst>
          </p:cNvPr>
          <p:cNvPicPr>
            <a:picLocks noChangeAspect="1"/>
          </p:cNvPicPr>
          <p:nvPr/>
        </p:nvPicPr>
        <p:blipFill rotWithShape="1">
          <a:blip r:embed="rId3"/>
          <a:srcRect l="57206"/>
          <a:stretch/>
        </p:blipFill>
        <p:spPr>
          <a:xfrm>
            <a:off x="1619672" y="3111817"/>
            <a:ext cx="6132979" cy="2231382"/>
          </a:xfrm>
          <a:prstGeom prst="rect">
            <a:avLst/>
          </a:prstGeom>
        </p:spPr>
      </p:pic>
      <p:sp>
        <p:nvSpPr>
          <p:cNvPr id="11" name="矩形 10">
            <a:extLst>
              <a:ext uri="{FF2B5EF4-FFF2-40B4-BE49-F238E27FC236}">
                <a16:creationId xmlns:a16="http://schemas.microsoft.com/office/drawing/2014/main" id="{D2E786ED-06E0-4B5C-95C7-D393C8C39151}"/>
              </a:ext>
            </a:extLst>
          </p:cNvPr>
          <p:cNvSpPr/>
          <p:nvPr/>
        </p:nvSpPr>
        <p:spPr>
          <a:xfrm>
            <a:off x="584026" y="5329041"/>
            <a:ext cx="8092429" cy="400110"/>
          </a:xfrm>
          <a:prstGeom prst="rect">
            <a:avLst/>
          </a:prstGeom>
        </p:spPr>
        <p:txBody>
          <a:bodyPr wrap="square">
            <a:spAutoFit/>
          </a:bodyPr>
          <a:lstStyle/>
          <a:p>
            <a:pPr marL="285750" indent="-285750" algn="just">
              <a:buFont typeface="Arial" panose="020B0604020202020204" pitchFamily="34" charset="0"/>
              <a:buChar char="•"/>
            </a:pPr>
            <a:r>
              <a:rPr lang="zh-CN" altLang="en-US" sz="2000" dirty="0"/>
              <a:t>通过指示剂的颜色变化判断终点，其终点很难精准判断。</a:t>
            </a:r>
          </a:p>
        </p:txBody>
      </p:sp>
      <p:sp>
        <p:nvSpPr>
          <p:cNvPr id="12" name="TextBox 6">
            <a:extLst>
              <a:ext uri="{FF2B5EF4-FFF2-40B4-BE49-F238E27FC236}">
                <a16:creationId xmlns:a16="http://schemas.microsoft.com/office/drawing/2014/main" id="{86CD5917-5793-4A3B-98D8-ECDB418DA46E}"/>
              </a:ext>
            </a:extLst>
          </p:cNvPr>
          <p:cNvSpPr txBox="1"/>
          <p:nvPr/>
        </p:nvSpPr>
        <p:spPr>
          <a:xfrm>
            <a:off x="656035" y="4797152"/>
            <a:ext cx="1415772" cy="461665"/>
          </a:xfrm>
          <a:prstGeom prst="rect">
            <a:avLst/>
          </a:prstGeom>
          <a:noFill/>
        </p:spPr>
        <p:txBody>
          <a:bodyPr wrap="none" rtlCol="0">
            <a:spAutoFit/>
          </a:bodyPr>
          <a:lstStyle/>
          <a:p>
            <a:r>
              <a:rPr lang="zh-CN" altLang="en-US" sz="2400" dirty="0"/>
              <a:t>终点判断</a:t>
            </a:r>
          </a:p>
        </p:txBody>
      </p:sp>
    </p:spTree>
    <p:extLst>
      <p:ext uri="{BB962C8B-B14F-4D97-AF65-F5344CB8AC3E}">
        <p14:creationId xmlns:p14="http://schemas.microsoft.com/office/powerpoint/2010/main" val="540074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https://gss2.bdstatic.com/-fo3dSag_xI4khGkpoWK1HF6hhy/baike/c0%3Dbaike72%2C5%2C5%2C72%2C24/sign=2c3a09e4f2d3572c72ef948eeb7a0842/9c16fdfaaf51f3de9264e76994eef01f3b2979e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4940" y="404664"/>
            <a:ext cx="2929508"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395536" y="223705"/>
            <a:ext cx="5842992" cy="1143000"/>
          </a:xfrm>
        </p:spPr>
        <p:txBody>
          <a:bodyPr/>
          <a:lstStyle/>
          <a:p>
            <a:r>
              <a:rPr lang="zh-CN" altLang="en-US" sz="3200" dirty="0"/>
              <a:t>钙离子的络合滴定法</a:t>
            </a:r>
          </a:p>
        </p:txBody>
      </p:sp>
      <p:sp>
        <p:nvSpPr>
          <p:cNvPr id="3" name="矩形 2"/>
          <p:cNvSpPr/>
          <p:nvPr/>
        </p:nvSpPr>
        <p:spPr>
          <a:xfrm>
            <a:off x="539552" y="1968817"/>
            <a:ext cx="4824536" cy="707886"/>
          </a:xfrm>
          <a:prstGeom prst="rect">
            <a:avLst/>
          </a:prstGeom>
        </p:spPr>
        <p:txBody>
          <a:bodyPr wrap="square">
            <a:spAutoFit/>
          </a:bodyPr>
          <a:lstStyle/>
          <a:p>
            <a:pPr marL="285750" indent="-285750" algn="just">
              <a:buFont typeface="Arial" panose="020B0604020202020204" pitchFamily="34" charset="0"/>
              <a:buChar char="•"/>
            </a:pPr>
            <a:r>
              <a:rPr lang="zh-CN" altLang="en-US" sz="2000" dirty="0"/>
              <a:t>通过</a:t>
            </a:r>
            <a:r>
              <a:rPr lang="en-US" altLang="zh-CN" sz="2000" dirty="0"/>
              <a:t>GBHA</a:t>
            </a:r>
            <a:r>
              <a:rPr lang="zh-CN" altLang="en-US" sz="2000" dirty="0"/>
              <a:t>指示剂的颜色变化判断终点，其终点很难精准判断。</a:t>
            </a:r>
          </a:p>
        </p:txBody>
      </p:sp>
      <p:sp>
        <p:nvSpPr>
          <p:cNvPr id="7" name="TextBox 6"/>
          <p:cNvSpPr txBox="1"/>
          <p:nvPr/>
        </p:nvSpPr>
        <p:spPr>
          <a:xfrm>
            <a:off x="611560" y="1436928"/>
            <a:ext cx="1415772" cy="461665"/>
          </a:xfrm>
          <a:prstGeom prst="rect">
            <a:avLst/>
          </a:prstGeom>
          <a:noFill/>
        </p:spPr>
        <p:txBody>
          <a:bodyPr wrap="none" rtlCol="0">
            <a:spAutoFit/>
          </a:bodyPr>
          <a:lstStyle/>
          <a:p>
            <a:r>
              <a:rPr lang="zh-CN" altLang="en-US" sz="2400" dirty="0"/>
              <a:t>终点判断</a:t>
            </a:r>
          </a:p>
        </p:txBody>
      </p:sp>
      <p:sp>
        <p:nvSpPr>
          <p:cNvPr id="8" name="矩形 7"/>
          <p:cNvSpPr/>
          <p:nvPr/>
        </p:nvSpPr>
        <p:spPr>
          <a:xfrm>
            <a:off x="490364" y="2612286"/>
            <a:ext cx="8056657" cy="3970318"/>
          </a:xfrm>
          <a:prstGeom prst="rect">
            <a:avLst/>
          </a:prstGeom>
        </p:spPr>
        <p:txBody>
          <a:bodyPr wrap="square">
            <a:spAutoFit/>
          </a:bodyPr>
          <a:lstStyle/>
          <a:p>
            <a:pPr marL="285750" indent="-285750">
              <a:buFont typeface="Arial" panose="020B0604020202020204" pitchFamily="34" charset="0"/>
              <a:buChar char="•"/>
            </a:pPr>
            <a:r>
              <a:rPr lang="en-US" altLang="zh-CN" dirty="0"/>
              <a:t>Cao and Dai (2011) </a:t>
            </a:r>
            <a:r>
              <a:rPr lang="zh-CN" altLang="en-US" dirty="0"/>
              <a:t>提出改良</a:t>
            </a:r>
            <a:r>
              <a:rPr lang="en-US" altLang="zh-CN" dirty="0"/>
              <a:t>Lebel and Poisson (1976) </a:t>
            </a:r>
            <a:r>
              <a:rPr lang="zh-CN" altLang="en-US" dirty="0"/>
              <a:t>方法：使用</a:t>
            </a:r>
            <a:r>
              <a:rPr lang="en-US" altLang="zh-CN" dirty="0"/>
              <a:t>EGTA </a:t>
            </a:r>
            <a:r>
              <a:rPr lang="zh-CN" altLang="en-US" dirty="0"/>
              <a:t>和混合银电极来判断终点。该方法的精度可以达到</a:t>
            </a:r>
            <a:r>
              <a:rPr lang="en-US" altLang="zh-CN" dirty="0"/>
              <a:t>0.06%[Ca</a:t>
            </a:r>
            <a:r>
              <a:rPr lang="en-US" altLang="zh-CN" baseline="30000" dirty="0"/>
              <a:t>2+</a:t>
            </a:r>
            <a:r>
              <a:rPr lang="en-US" altLang="zh-CN" dirty="0"/>
              <a:t>]</a:t>
            </a:r>
            <a:r>
              <a:rPr lang="zh-CN" altLang="en-US" dirty="0"/>
              <a:t>，但是该方法需要在溶液中加大量的氯化汞，对环境和对测量人都有毒性。</a:t>
            </a:r>
            <a:endParaRPr lang="en-US" altLang="zh-CN" dirty="0"/>
          </a:p>
          <a:p>
            <a:pPr marL="342900" indent="-342900">
              <a:buFont typeface="+mj-lt"/>
              <a:buAutoNum type="arabicPeriod"/>
            </a:pPr>
            <a:r>
              <a:rPr lang="en-US" altLang="zh-CN" dirty="0"/>
              <a:t>About 4 g of seawater and 4 g of HgCl</a:t>
            </a:r>
            <a:r>
              <a:rPr lang="en-US" altLang="zh-CN" baseline="-25000" dirty="0"/>
              <a:t>2</a:t>
            </a:r>
            <a:r>
              <a:rPr lang="en-US" altLang="zh-CN" dirty="0"/>
              <a:t> solution (∼1 mmol /L) were accurately weighed out; </a:t>
            </a:r>
          </a:p>
          <a:p>
            <a:pPr marL="342900" indent="-342900">
              <a:buFont typeface="+mj-lt"/>
              <a:buAutoNum type="arabicPeriod"/>
            </a:pPr>
            <a:r>
              <a:rPr lang="en-US" altLang="zh-CN" dirty="0"/>
              <a:t>about 4 g of a concentrated EGTA solution (∼10 mmol /L, also by weighing) was added to complex Hg</a:t>
            </a:r>
            <a:r>
              <a:rPr lang="en-US" altLang="zh-CN" baseline="30000" dirty="0"/>
              <a:t>2+ </a:t>
            </a:r>
            <a:r>
              <a:rPr lang="en-US" altLang="zh-CN" dirty="0"/>
              <a:t>completely and nearly 95% of Ca</a:t>
            </a:r>
            <a:r>
              <a:rPr lang="en-US" altLang="zh-CN" baseline="30000" dirty="0"/>
              <a:t>2+</a:t>
            </a:r>
            <a:r>
              <a:rPr lang="zh-CN" altLang="en-US" dirty="0"/>
              <a:t>；</a:t>
            </a:r>
            <a:r>
              <a:rPr lang="en-US" altLang="zh-CN" baseline="30000" dirty="0"/>
              <a:t> </a:t>
            </a:r>
          </a:p>
          <a:p>
            <a:pPr marL="342900" indent="-342900">
              <a:buFont typeface="+mj-lt"/>
              <a:buAutoNum type="arabicPeriod"/>
            </a:pPr>
            <a:r>
              <a:rPr lang="en-US" altLang="zh-CN" dirty="0"/>
              <a:t>After adding 4 mL of borate buffer, the remaining Ca</a:t>
            </a:r>
            <a:r>
              <a:rPr lang="en-US" altLang="zh-CN" baseline="30000" dirty="0"/>
              <a:t>2+ </a:t>
            </a:r>
            <a:r>
              <a:rPr lang="en-US" altLang="zh-CN" dirty="0"/>
              <a:t>was titrated by a diluted solution of EGTA(∼2mmol/L) up to the end point potential, which was given by the </a:t>
            </a:r>
            <a:r>
              <a:rPr lang="en-US" altLang="zh-CN" dirty="0" err="1"/>
              <a:t>Methrom</a:t>
            </a:r>
            <a:r>
              <a:rPr lang="en-US" altLang="zh-CN" dirty="0"/>
              <a:t> 809 TITRANDO potentiometer with an amalgamated silver combined electrode;</a:t>
            </a:r>
          </a:p>
          <a:p>
            <a:pPr marL="342900" indent="-342900">
              <a:buFont typeface="+mj-lt"/>
              <a:buAutoNum type="arabicPeriod"/>
            </a:pPr>
            <a:r>
              <a:rPr lang="en-US" altLang="zh-CN" dirty="0"/>
              <a:t>the volume of the diluted solution of EGTA necessary for the remaining ∼5% of Ca</a:t>
            </a:r>
            <a:r>
              <a:rPr lang="en-US" altLang="zh-CN" baseline="30000" dirty="0"/>
              <a:t>2+ </a:t>
            </a:r>
            <a:r>
              <a:rPr lang="en-US" altLang="zh-CN" dirty="0"/>
              <a:t>was obtained by manually fitting the first derivative of the titration curve, which proved to be optimal for better measurement precision.</a:t>
            </a:r>
            <a:endParaRPr lang="zh-CN" altLang="zh-CN" dirty="0"/>
          </a:p>
        </p:txBody>
      </p:sp>
    </p:spTree>
    <p:extLst>
      <p:ext uri="{BB962C8B-B14F-4D97-AF65-F5344CB8AC3E}">
        <p14:creationId xmlns:p14="http://schemas.microsoft.com/office/powerpoint/2010/main" val="4225441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97658A-2DA1-4D2D-A749-7BF0B387A5B5}"/>
              </a:ext>
            </a:extLst>
          </p:cNvPr>
          <p:cNvSpPr>
            <a:spLocks noGrp="1"/>
          </p:cNvSpPr>
          <p:nvPr>
            <p:ph type="title"/>
          </p:nvPr>
        </p:nvSpPr>
        <p:spPr/>
        <p:txBody>
          <a:bodyPr/>
          <a:lstStyle/>
          <a:p>
            <a:r>
              <a:rPr lang="zh-CN" altLang="en-US" dirty="0"/>
              <a:t>钙离子的络合滴定法</a:t>
            </a:r>
          </a:p>
        </p:txBody>
      </p:sp>
      <p:sp>
        <p:nvSpPr>
          <p:cNvPr id="4" name="内容占位符 3">
            <a:extLst>
              <a:ext uri="{FF2B5EF4-FFF2-40B4-BE49-F238E27FC236}">
                <a16:creationId xmlns:a16="http://schemas.microsoft.com/office/drawing/2014/main" id="{DCE0555F-3A2B-400F-803B-245F853DA218}"/>
              </a:ext>
            </a:extLst>
          </p:cNvPr>
          <p:cNvSpPr>
            <a:spLocks noGrp="1"/>
          </p:cNvSpPr>
          <p:nvPr>
            <p:ph idx="1"/>
          </p:nvPr>
        </p:nvSpPr>
        <p:spPr>
          <a:xfrm>
            <a:off x="457200" y="1600200"/>
            <a:ext cx="8229600" cy="2702278"/>
          </a:xfrm>
          <a:prstGeom prst="rect">
            <a:avLst/>
          </a:prstGeom>
        </p:spPr>
        <p:txBody>
          <a:bodyPr wrap="square">
            <a:spAutoFit/>
          </a:bodyPr>
          <a:lstStyle/>
          <a:p>
            <a:pPr marL="285750" indent="-285750">
              <a:buFont typeface="Arial" panose="020B0604020202020204" pitchFamily="34" charset="0"/>
              <a:buChar char="•"/>
            </a:pPr>
            <a:r>
              <a:rPr lang="zh-CN" altLang="en-US" sz="2400" dirty="0"/>
              <a:t>使用</a:t>
            </a:r>
            <a:r>
              <a:rPr lang="en-US" altLang="zh-CN" sz="2400" dirty="0"/>
              <a:t>EGTA </a:t>
            </a:r>
            <a:r>
              <a:rPr lang="zh-CN" altLang="en-US" sz="2400" dirty="0"/>
              <a:t>和混合银电极来判断终点方法的弱点</a:t>
            </a:r>
            <a:endParaRPr lang="en-US" altLang="zh-CN" sz="2400" dirty="0"/>
          </a:p>
          <a:p>
            <a:pPr marL="857250" lvl="1" indent="-457200">
              <a:buFont typeface="+mj-lt"/>
              <a:buAutoNum type="arabicPeriod"/>
            </a:pPr>
            <a:r>
              <a:rPr lang="en-US" altLang="zh-CN" sz="2000" dirty="0"/>
              <a:t>a large sample volume </a:t>
            </a:r>
            <a:r>
              <a:rPr lang="zh-CN" altLang="en-US" sz="2000" dirty="0"/>
              <a:t>（</a:t>
            </a:r>
            <a:r>
              <a:rPr lang="en-US" altLang="zh-CN" sz="2000" dirty="0"/>
              <a:t>of the order of 4 to 30 ml</a:t>
            </a:r>
            <a:r>
              <a:rPr lang="zh-CN" altLang="en-US" sz="2000" dirty="0"/>
              <a:t>）</a:t>
            </a:r>
            <a:endParaRPr lang="en-US" altLang="zh-CN" sz="2000" dirty="0"/>
          </a:p>
          <a:p>
            <a:pPr marL="857250" lvl="1" indent="-457200">
              <a:buFont typeface="+mj-lt"/>
              <a:buAutoNum type="arabicPeriod"/>
            </a:pPr>
            <a:r>
              <a:rPr lang="en-US" altLang="zh-CN" sz="2000" dirty="0"/>
              <a:t>To suppress possible Ca precipitations at higher pH, especially in waters with high [Ca</a:t>
            </a:r>
            <a:r>
              <a:rPr lang="en-US" altLang="zh-CN" sz="2000" baseline="30000" dirty="0"/>
              <a:t>2+</a:t>
            </a:r>
            <a:r>
              <a:rPr lang="en-US" altLang="zh-CN" sz="2000" dirty="0"/>
              <a:t>], the buffer solution had to be added following 90% of EGTA delivery to neutralize excess Ca</a:t>
            </a:r>
            <a:r>
              <a:rPr lang="en-US" altLang="zh-CN" sz="2000" baseline="30000" dirty="0"/>
              <a:t>2+</a:t>
            </a:r>
          </a:p>
          <a:p>
            <a:pPr marL="857250" lvl="1" indent="-457200">
              <a:buFont typeface="+mj-lt"/>
              <a:buAutoNum type="arabicPeriod"/>
            </a:pPr>
            <a:r>
              <a:rPr lang="zh-CN" altLang="en-US" sz="2000" dirty="0"/>
              <a:t>要加入大量</a:t>
            </a:r>
            <a:r>
              <a:rPr lang="en-US" altLang="zh-CN" sz="2000" dirty="0"/>
              <a:t>HgCl</a:t>
            </a:r>
            <a:r>
              <a:rPr lang="en-US" altLang="zh-CN" sz="2000" baseline="-25000" dirty="0"/>
              <a:t>2</a:t>
            </a:r>
            <a:r>
              <a:rPr lang="zh-CN" altLang="en-US" sz="2000" dirty="0"/>
              <a:t>，对环境和操作都有一定的毒性</a:t>
            </a:r>
            <a:endParaRPr lang="en-US" altLang="zh-CN" sz="2000" dirty="0"/>
          </a:p>
          <a:p>
            <a:pPr marL="857250" lvl="1" indent="-457200">
              <a:buFont typeface="+mj-lt"/>
              <a:buAutoNum type="arabicPeriod"/>
            </a:pPr>
            <a:endParaRPr lang="zh-CN" altLang="en-US" dirty="0"/>
          </a:p>
        </p:txBody>
      </p:sp>
    </p:spTree>
    <p:extLst>
      <p:ext uri="{BB962C8B-B14F-4D97-AF65-F5344CB8AC3E}">
        <p14:creationId xmlns:p14="http://schemas.microsoft.com/office/powerpoint/2010/main" val="2652279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钙离子的络合滴定法</a:t>
            </a:r>
          </a:p>
        </p:txBody>
      </p:sp>
      <p:sp>
        <p:nvSpPr>
          <p:cNvPr id="3" name="内容占位符 2"/>
          <p:cNvSpPr>
            <a:spLocks noGrp="1"/>
          </p:cNvSpPr>
          <p:nvPr>
            <p:ph idx="1"/>
          </p:nvPr>
        </p:nvSpPr>
        <p:spPr/>
        <p:txBody>
          <a:bodyPr/>
          <a:lstStyle/>
          <a:p>
            <a:pPr marL="514350" indent="-457200">
              <a:buFont typeface="Arial" panose="020B0604020202020204" pitchFamily="34" charset="0"/>
              <a:buChar char="•"/>
            </a:pPr>
            <a:r>
              <a:rPr lang="zh-CN" altLang="en-US" dirty="0"/>
              <a:t>使用钙离子选择电极来判断终点</a:t>
            </a:r>
            <a:endParaRPr lang="en-US" altLang="zh-CN" dirty="0"/>
          </a:p>
          <a:p>
            <a:pPr marL="800100" lvl="1" indent="-342900">
              <a:buFont typeface="+mj-lt"/>
              <a:buAutoNum type="arabicPeriod"/>
            </a:pPr>
            <a:r>
              <a:rPr lang="en-US" altLang="zh-CN" sz="2000" dirty="0"/>
              <a:t>digital pumps for precise deliveries of sample and EGTA solutions; </a:t>
            </a:r>
          </a:p>
          <a:p>
            <a:pPr marL="800100" lvl="1" indent="-342900">
              <a:buFont typeface="+mj-lt"/>
              <a:buAutoNum type="arabicPeriod"/>
            </a:pPr>
            <a:r>
              <a:rPr lang="en-US" altLang="zh-CN" sz="2000" dirty="0"/>
              <a:t>use a </a:t>
            </a:r>
            <a:r>
              <a:rPr lang="en-US" altLang="zh-CN" sz="2000" dirty="0" err="1"/>
              <a:t>Metrohm</a:t>
            </a:r>
            <a:r>
              <a:rPr lang="en-US" altLang="zh-CN" sz="2000" dirty="0"/>
              <a:t> calcium ISE probe with high selectivity constant of Ca</a:t>
            </a:r>
            <a:r>
              <a:rPr lang="en-US" altLang="zh-CN" sz="2000" baseline="30000" dirty="0"/>
              <a:t>2+</a:t>
            </a:r>
            <a:r>
              <a:rPr lang="en-US" altLang="zh-CN" sz="2000" dirty="0"/>
              <a:t> over Mg</a:t>
            </a:r>
            <a:r>
              <a:rPr lang="en-US" altLang="zh-CN" sz="2000" baseline="30000" dirty="0"/>
              <a:t>2+</a:t>
            </a:r>
            <a:r>
              <a:rPr lang="en-US" altLang="zh-CN" sz="2000" dirty="0"/>
              <a:t> and Sr</a:t>
            </a:r>
            <a:r>
              <a:rPr lang="en-US" altLang="zh-CN" sz="2000" baseline="30000" dirty="0"/>
              <a:t>2+</a:t>
            </a:r>
            <a:r>
              <a:rPr lang="en-US" altLang="zh-CN" sz="2000" dirty="0"/>
              <a:t>; </a:t>
            </a:r>
          </a:p>
          <a:p>
            <a:pPr marL="800100" lvl="1" indent="-342900">
              <a:buFont typeface="+mj-lt"/>
              <a:buAutoNum type="arabicPeriod"/>
            </a:pPr>
            <a:r>
              <a:rPr lang="en-US" altLang="zh-CN" sz="2000" dirty="0"/>
              <a:t>determine the titration endpoint (EGTA volume) with a precision of better than 0.01</a:t>
            </a:r>
            <a:r>
              <a:rPr lang="en-US" altLang="zh-CN" sz="2000" dirty="0">
                <a:sym typeface="Symbol"/>
              </a:rPr>
              <a:t></a:t>
            </a:r>
            <a:r>
              <a:rPr lang="en-US" altLang="zh-CN" sz="2000" dirty="0"/>
              <a:t>L through an innovative curve fitting protocol. </a:t>
            </a:r>
          </a:p>
          <a:p>
            <a:pPr marL="800100" lvl="1" indent="-342900">
              <a:buFont typeface="+mj-lt"/>
              <a:buAutoNum type="arabicPeriod"/>
            </a:pPr>
            <a:r>
              <a:rPr lang="en-US" altLang="zh-CN" sz="2000" dirty="0"/>
              <a:t>our technique requires only a small sample volume (1 ml of seawater) which is diluted to 20 ml with DI.</a:t>
            </a:r>
            <a:endParaRPr lang="zh-CN" altLang="en-US" sz="2000" dirty="0"/>
          </a:p>
        </p:txBody>
      </p:sp>
    </p:spTree>
    <p:extLst>
      <p:ext uri="{BB962C8B-B14F-4D97-AF65-F5344CB8AC3E}">
        <p14:creationId xmlns:p14="http://schemas.microsoft.com/office/powerpoint/2010/main" val="2828407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C51F7F-B1B3-4893-A26B-6F3B312FFF2D}"/>
              </a:ext>
            </a:extLst>
          </p:cNvPr>
          <p:cNvSpPr>
            <a:spLocks noGrp="1"/>
          </p:cNvSpPr>
          <p:nvPr>
            <p:ph type="title"/>
          </p:nvPr>
        </p:nvSpPr>
        <p:spPr/>
        <p:txBody>
          <a:bodyPr/>
          <a:lstStyle/>
          <a:p>
            <a:r>
              <a:rPr lang="zh-CN" altLang="en-US" dirty="0"/>
              <a:t>钙离子的络合滴定法</a:t>
            </a:r>
          </a:p>
        </p:txBody>
      </p:sp>
      <p:pic>
        <p:nvPicPr>
          <p:cNvPr id="4" name="Picture 1">
            <a:extLst>
              <a:ext uri="{FF2B5EF4-FFF2-40B4-BE49-F238E27FC236}">
                <a16:creationId xmlns:a16="http://schemas.microsoft.com/office/drawing/2014/main" id="{30EAF354-5809-442C-9F22-8CA15191E973}"/>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48536" y="3678963"/>
            <a:ext cx="3523463" cy="2238267"/>
          </a:xfrm>
          <a:prstGeom prst="rect">
            <a:avLst/>
          </a:prstGeom>
          <a:noFill/>
          <a:ln>
            <a:noFill/>
          </a:ln>
        </p:spPr>
      </p:pic>
      <p:pic>
        <p:nvPicPr>
          <p:cNvPr id="5" name="Picture 1">
            <a:extLst>
              <a:ext uri="{FF2B5EF4-FFF2-40B4-BE49-F238E27FC236}">
                <a16:creationId xmlns:a16="http://schemas.microsoft.com/office/drawing/2014/main" id="{B028D3CD-7D9A-4645-8FDD-0615B017F87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66809" y="3678963"/>
            <a:ext cx="3469823" cy="2414333"/>
          </a:xfrm>
          <a:prstGeom prst="rect">
            <a:avLst/>
          </a:prstGeom>
          <a:noFill/>
          <a:ln>
            <a:noFill/>
          </a:ln>
        </p:spPr>
      </p:pic>
      <p:pic>
        <p:nvPicPr>
          <p:cNvPr id="6" name="图片 5" descr="fig2b">
            <a:extLst>
              <a:ext uri="{FF2B5EF4-FFF2-40B4-BE49-F238E27FC236}">
                <a16:creationId xmlns:a16="http://schemas.microsoft.com/office/drawing/2014/main" id="{365741B8-51CE-44D6-BE46-555DEE478E5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28456" y="1628800"/>
            <a:ext cx="3103984" cy="1904991"/>
          </a:xfrm>
          <a:prstGeom prst="rect">
            <a:avLst/>
          </a:prstGeom>
          <a:noFill/>
          <a:ln>
            <a:noFill/>
          </a:ln>
        </p:spPr>
      </p:pic>
      <p:pic>
        <p:nvPicPr>
          <p:cNvPr id="7" name="图片 6">
            <a:extLst>
              <a:ext uri="{FF2B5EF4-FFF2-40B4-BE49-F238E27FC236}">
                <a16:creationId xmlns:a16="http://schemas.microsoft.com/office/drawing/2014/main" id="{512CBAC4-D75A-4C54-AD36-226C9C76D632}"/>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899592" y="1567083"/>
            <a:ext cx="4267217" cy="2040461"/>
          </a:xfrm>
          <a:prstGeom prst="rect">
            <a:avLst/>
          </a:prstGeom>
          <a:noFill/>
          <a:ln>
            <a:noFill/>
          </a:ln>
        </p:spPr>
      </p:pic>
    </p:spTree>
    <p:extLst>
      <p:ext uri="{BB962C8B-B14F-4D97-AF65-F5344CB8AC3E}">
        <p14:creationId xmlns:p14="http://schemas.microsoft.com/office/powerpoint/2010/main" val="203465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1B669-E871-4C56-A943-1565C5F447E6}"/>
              </a:ext>
            </a:extLst>
          </p:cNvPr>
          <p:cNvSpPr>
            <a:spLocks noGrp="1"/>
          </p:cNvSpPr>
          <p:nvPr>
            <p:ph type="title"/>
          </p:nvPr>
        </p:nvSpPr>
        <p:spPr>
          <a:xfrm>
            <a:off x="755576" y="260648"/>
            <a:ext cx="8229600" cy="1143000"/>
          </a:xfrm>
        </p:spPr>
        <p:txBody>
          <a:bodyPr/>
          <a:lstStyle/>
          <a:p>
            <a:r>
              <a:rPr lang="zh-CN" altLang="en-US" sz="3200" dirty="0"/>
              <a:t>利用电极指示终点的钙离子络合滴定法</a:t>
            </a:r>
          </a:p>
        </p:txBody>
      </p:sp>
      <p:sp>
        <p:nvSpPr>
          <p:cNvPr id="3" name="内容占位符 2">
            <a:extLst>
              <a:ext uri="{FF2B5EF4-FFF2-40B4-BE49-F238E27FC236}">
                <a16:creationId xmlns:a16="http://schemas.microsoft.com/office/drawing/2014/main" id="{B5531723-B31E-47EC-954D-88FFADEEBDFA}"/>
              </a:ext>
            </a:extLst>
          </p:cNvPr>
          <p:cNvSpPr>
            <a:spLocks noGrp="1"/>
          </p:cNvSpPr>
          <p:nvPr>
            <p:ph idx="1"/>
          </p:nvPr>
        </p:nvSpPr>
        <p:spPr>
          <a:xfrm>
            <a:off x="457200" y="1600200"/>
            <a:ext cx="8363272" cy="4525963"/>
          </a:xfrm>
        </p:spPr>
        <p:txBody>
          <a:bodyPr/>
          <a:lstStyle/>
          <a:p>
            <a:pPr algn="just"/>
            <a:r>
              <a:rPr lang="en-US" altLang="zh-CN" sz="2000" dirty="0"/>
              <a:t>This probe was purchased from </a:t>
            </a:r>
            <a:r>
              <a:rPr lang="en-US" altLang="zh-CN" sz="2000" dirty="0" err="1"/>
              <a:t>Metrohm</a:t>
            </a:r>
            <a:r>
              <a:rPr lang="en-US" altLang="zh-CN" sz="2000" dirty="0"/>
              <a:t>. It has negligibly small selectivity constants (K values, 0.0006 and 0.008 respectively for Mg</a:t>
            </a:r>
            <a:r>
              <a:rPr lang="en-US" altLang="zh-CN" sz="2000" baseline="30000" dirty="0"/>
              <a:t>2+</a:t>
            </a:r>
            <a:r>
              <a:rPr lang="en-US" altLang="zh-CN" sz="2000" dirty="0"/>
              <a:t> and Sr</a:t>
            </a:r>
            <a:r>
              <a:rPr lang="en-US" altLang="zh-CN" sz="2000" baseline="30000" dirty="0"/>
              <a:t>2+</a:t>
            </a:r>
            <a:r>
              <a:rPr lang="en-US" altLang="zh-CN" sz="2000" dirty="0"/>
              <a:t>), compared to that for Ca</a:t>
            </a:r>
            <a:r>
              <a:rPr lang="en-US" altLang="zh-CN" sz="2000" baseline="30000" dirty="0"/>
              <a:t>2+</a:t>
            </a:r>
            <a:r>
              <a:rPr lang="en-US" altLang="zh-CN" sz="2000" dirty="0"/>
              <a:t>. Its detection limit for [Ca</a:t>
            </a:r>
            <a:r>
              <a:rPr lang="en-US" altLang="zh-CN" sz="2000" baseline="30000" dirty="0"/>
              <a:t>2+</a:t>
            </a:r>
            <a:r>
              <a:rPr lang="en-US" altLang="zh-CN" sz="2000" dirty="0"/>
              <a:t>] is as low as 10</a:t>
            </a:r>
            <a:r>
              <a:rPr lang="en-US" altLang="zh-CN" sz="2000" baseline="30000" dirty="0"/>
              <a:t>-7</a:t>
            </a:r>
            <a:r>
              <a:rPr lang="en-US" altLang="zh-CN" sz="2000" dirty="0"/>
              <a:t> M.</a:t>
            </a:r>
          </a:p>
          <a:p>
            <a:pPr algn="just"/>
            <a:r>
              <a:rPr lang="en-US" altLang="zh-CN" sz="2000" dirty="0"/>
              <a:t>The ISE generates an EMF signal (E, mV) which is proportional to [Ca</a:t>
            </a:r>
            <a:r>
              <a:rPr lang="en-US" altLang="zh-CN" sz="2000" baseline="30000" dirty="0"/>
              <a:t>2+</a:t>
            </a:r>
            <a:r>
              <a:rPr lang="en-US" altLang="zh-CN" sz="2000" dirty="0"/>
              <a:t>] in the solution. As Ca</a:t>
            </a:r>
            <a:r>
              <a:rPr lang="en-US" altLang="zh-CN" sz="2000" baseline="30000" dirty="0"/>
              <a:t>2+</a:t>
            </a:r>
            <a:r>
              <a:rPr lang="en-US" altLang="zh-CN" sz="2000" dirty="0"/>
              <a:t> complexes with EGTA during titration, free [Ca</a:t>
            </a:r>
            <a:r>
              <a:rPr lang="en-US" altLang="zh-CN" sz="2000" baseline="30000" dirty="0"/>
              <a:t>2+</a:t>
            </a:r>
            <a:r>
              <a:rPr lang="en-US" altLang="zh-CN" sz="2000" dirty="0"/>
              <a:t>] in the solution decreases and so does the potential response of the probe. The rate of drop of EMF with respect to EGTA volume (V) follows the Nernstian response curve given by Equation (1) and shown in Fig. 1.</a:t>
            </a:r>
            <a:endParaRPr lang="zh-CN" altLang="zh-CN" sz="2000" dirty="0"/>
          </a:p>
          <a:p>
            <a:pPr algn="just">
              <a:spcBef>
                <a:spcPts val="600"/>
              </a:spcBef>
            </a:pPr>
            <a:r>
              <a:rPr lang="en-US" altLang="zh-CN" sz="2000" dirty="0"/>
              <a:t>EMF = EMF</a:t>
            </a:r>
            <a:r>
              <a:rPr lang="en-US" altLang="zh-CN" sz="2000" baseline="30000" dirty="0"/>
              <a:t>0</a:t>
            </a:r>
            <a:r>
              <a:rPr lang="en-US" altLang="zh-CN" sz="2000" dirty="0"/>
              <a:t> – </a:t>
            </a:r>
            <a:r>
              <a:rPr lang="en-US" altLang="zh-CN" sz="2000" dirty="0" err="1"/>
              <a:t>k×ln</a:t>
            </a:r>
            <a:r>
              <a:rPr lang="en-US" altLang="zh-CN" sz="2000" dirty="0"/>
              <a:t> [Ca</a:t>
            </a:r>
            <a:r>
              <a:rPr lang="en-US" altLang="zh-CN" sz="2000" baseline="30000" dirty="0"/>
              <a:t>2+</a:t>
            </a:r>
            <a:r>
              <a:rPr lang="en-US" altLang="zh-CN" sz="2000" dirty="0"/>
              <a:t>]                (1)</a:t>
            </a:r>
            <a:endParaRPr lang="zh-CN" altLang="zh-CN" sz="2000" dirty="0"/>
          </a:p>
          <a:p>
            <a:endParaRPr lang="en-US" altLang="zh-CN" sz="2000" dirty="0"/>
          </a:p>
          <a:p>
            <a:endParaRPr lang="zh-CN" altLang="en-US" sz="2000" dirty="0"/>
          </a:p>
        </p:txBody>
      </p:sp>
    </p:spTree>
    <p:extLst>
      <p:ext uri="{BB962C8B-B14F-4D97-AF65-F5344CB8AC3E}">
        <p14:creationId xmlns:p14="http://schemas.microsoft.com/office/powerpoint/2010/main" val="854943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67A7CE-4DC2-400E-80D8-1A31F46B5EF1}"/>
              </a:ext>
            </a:extLst>
          </p:cNvPr>
          <p:cNvSpPr>
            <a:spLocks noGrp="1"/>
          </p:cNvSpPr>
          <p:nvPr>
            <p:ph type="title"/>
          </p:nvPr>
        </p:nvSpPr>
        <p:spPr>
          <a:xfrm>
            <a:off x="827584" y="260648"/>
            <a:ext cx="8229600" cy="1143000"/>
          </a:xfrm>
        </p:spPr>
        <p:txBody>
          <a:bodyPr/>
          <a:lstStyle/>
          <a:p>
            <a:r>
              <a:rPr lang="zh-CN" altLang="en-US" sz="3200" dirty="0"/>
              <a:t>利用电极指示终点的钙离子络合滴定法</a:t>
            </a:r>
          </a:p>
        </p:txBody>
      </p:sp>
      <p:sp>
        <p:nvSpPr>
          <p:cNvPr id="3" name="内容占位符 2">
            <a:extLst>
              <a:ext uri="{FF2B5EF4-FFF2-40B4-BE49-F238E27FC236}">
                <a16:creationId xmlns:a16="http://schemas.microsoft.com/office/drawing/2014/main" id="{3DEA59C3-FFCA-4579-BB27-8B222EDBBE14}"/>
              </a:ext>
            </a:extLst>
          </p:cNvPr>
          <p:cNvSpPr>
            <a:spLocks noGrp="1"/>
          </p:cNvSpPr>
          <p:nvPr>
            <p:ph idx="1"/>
          </p:nvPr>
        </p:nvSpPr>
        <p:spPr/>
        <p:txBody>
          <a:bodyPr/>
          <a:lstStyle/>
          <a:p>
            <a:r>
              <a:rPr lang="zh-CN" altLang="en-US" dirty="0"/>
              <a:t>终点判断</a:t>
            </a:r>
          </a:p>
        </p:txBody>
      </p:sp>
      <p:pic>
        <p:nvPicPr>
          <p:cNvPr id="4" name="Picture 1">
            <a:extLst>
              <a:ext uri="{FF2B5EF4-FFF2-40B4-BE49-F238E27FC236}">
                <a16:creationId xmlns:a16="http://schemas.microsoft.com/office/drawing/2014/main" id="{AA399AAC-B8C6-4279-9F75-8C82E1363034}"/>
              </a:ext>
            </a:extLst>
          </p:cNvPr>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2120" y="2564904"/>
            <a:ext cx="3268964" cy="2036256"/>
          </a:xfrm>
          <a:prstGeom prst="rect">
            <a:avLst/>
          </a:prstGeom>
          <a:noFill/>
          <a:ln w="9525">
            <a:noFill/>
            <a:miter lim="800000"/>
            <a:headEnd/>
            <a:tailEnd/>
          </a:ln>
        </p:spPr>
      </p:pic>
      <p:sp>
        <p:nvSpPr>
          <p:cNvPr id="5" name="矩形 4">
            <a:extLst>
              <a:ext uri="{FF2B5EF4-FFF2-40B4-BE49-F238E27FC236}">
                <a16:creationId xmlns:a16="http://schemas.microsoft.com/office/drawing/2014/main" id="{AAF98AA2-FB6E-4136-8A85-62E0A1567211}"/>
              </a:ext>
            </a:extLst>
          </p:cNvPr>
          <p:cNvSpPr/>
          <p:nvPr/>
        </p:nvSpPr>
        <p:spPr>
          <a:xfrm>
            <a:off x="457200" y="2193030"/>
            <a:ext cx="4978896" cy="1938992"/>
          </a:xfrm>
          <a:prstGeom prst="rect">
            <a:avLst/>
          </a:prstGeom>
        </p:spPr>
        <p:txBody>
          <a:bodyPr wrap="square">
            <a:spAutoFit/>
          </a:bodyPr>
          <a:lstStyle/>
          <a:p>
            <a:pPr marL="285750" indent="-285750" algn="just">
              <a:buFont typeface="Arial" panose="020B0604020202020204" pitchFamily="34" charset="0"/>
              <a:buChar char="•"/>
            </a:pPr>
            <a:r>
              <a:rPr lang="en-US" altLang="zh-CN" dirty="0">
                <a:latin typeface="Times New Roman" panose="02020603050405020304" pitchFamily="18" charset="0"/>
                <a:ea typeface="Calibri" panose="020F0502020204030204" pitchFamily="34" charset="0"/>
              </a:rPr>
              <a:t> </a:t>
            </a:r>
            <a:r>
              <a:rPr lang="en-US" altLang="zh-CN" sz="2000" dirty="0" err="1">
                <a:latin typeface="Times New Roman" panose="02020603050405020304" pitchFamily="18" charset="0"/>
                <a:ea typeface="Calibri" panose="020F0502020204030204" pitchFamily="34" charset="0"/>
              </a:rPr>
              <a:t>Culkin</a:t>
            </a:r>
            <a:r>
              <a:rPr lang="en-US" altLang="zh-CN" sz="2000" dirty="0">
                <a:latin typeface="Times New Roman" panose="02020603050405020304" pitchFamily="18" charset="0"/>
                <a:ea typeface="Calibri" panose="020F0502020204030204" pitchFamily="34" charset="0"/>
              </a:rPr>
              <a:t> and Cox (1966) determined the endpoint by fitting two straight lines to data points with the greatest voltage drop, or highest slope of the titration curve before the endpoint, (Line A) and the last 2 or 3 data points after the endpoint (Line B).</a:t>
            </a:r>
            <a:endParaRPr lang="zh-CN" altLang="en-US" dirty="0"/>
          </a:p>
        </p:txBody>
      </p:sp>
      <p:sp>
        <p:nvSpPr>
          <p:cNvPr id="6" name="矩形 5">
            <a:extLst>
              <a:ext uri="{FF2B5EF4-FFF2-40B4-BE49-F238E27FC236}">
                <a16:creationId xmlns:a16="http://schemas.microsoft.com/office/drawing/2014/main" id="{34A27981-9B63-4DE3-8CC7-32D4E5C603C2}"/>
              </a:ext>
            </a:extLst>
          </p:cNvPr>
          <p:cNvSpPr/>
          <p:nvPr/>
        </p:nvSpPr>
        <p:spPr>
          <a:xfrm>
            <a:off x="457200" y="4132022"/>
            <a:ext cx="4998631" cy="1631216"/>
          </a:xfrm>
          <a:prstGeom prst="rect">
            <a:avLst/>
          </a:prstGeom>
        </p:spPr>
        <p:txBody>
          <a:bodyPr wrap="square">
            <a:spAutoFit/>
          </a:bodyPr>
          <a:lstStyle/>
          <a:p>
            <a:pPr marL="285750" indent="-285750" algn="just">
              <a:buFont typeface="Arial" panose="020B0604020202020204" pitchFamily="34" charset="0"/>
              <a:buChar char="•"/>
            </a:pPr>
            <a:r>
              <a:rPr lang="en-US" altLang="zh-CN" sz="2000" dirty="0">
                <a:latin typeface="Times New Roman" panose="02020603050405020304" pitchFamily="18" charset="0"/>
                <a:ea typeface="Calibri" panose="020F0502020204030204" pitchFamily="34" charset="0"/>
              </a:rPr>
              <a:t>the determination of the endpoint depends on how many data points are taken for lines A and B, and how much they deviate from a straight line fit, the error from this procedure could be large. </a:t>
            </a:r>
            <a:endParaRPr lang="zh-CN" altLang="en-US" sz="2000" dirty="0"/>
          </a:p>
        </p:txBody>
      </p:sp>
    </p:spTree>
    <p:extLst>
      <p:ext uri="{BB962C8B-B14F-4D97-AF65-F5344CB8AC3E}">
        <p14:creationId xmlns:p14="http://schemas.microsoft.com/office/powerpoint/2010/main" val="2564910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88862C-9C66-4FCF-9E85-FC64050BEFCD}"/>
              </a:ext>
            </a:extLst>
          </p:cNvPr>
          <p:cNvSpPr>
            <a:spLocks noGrp="1"/>
          </p:cNvSpPr>
          <p:nvPr>
            <p:ph type="title"/>
          </p:nvPr>
        </p:nvSpPr>
        <p:spPr>
          <a:xfrm>
            <a:off x="683568" y="260648"/>
            <a:ext cx="8229600" cy="1143000"/>
          </a:xfrm>
        </p:spPr>
        <p:txBody>
          <a:bodyPr/>
          <a:lstStyle/>
          <a:p>
            <a:r>
              <a:rPr lang="zh-CN" altLang="en-US" sz="3200" dirty="0"/>
              <a:t>利用电极指示终点的钙离子络合滴定法</a:t>
            </a:r>
          </a:p>
        </p:txBody>
      </p:sp>
      <p:sp>
        <p:nvSpPr>
          <p:cNvPr id="3" name="内容占位符 2">
            <a:extLst>
              <a:ext uri="{FF2B5EF4-FFF2-40B4-BE49-F238E27FC236}">
                <a16:creationId xmlns:a16="http://schemas.microsoft.com/office/drawing/2014/main" id="{2E119411-8E3F-43C5-89FB-F97F1E586329}"/>
              </a:ext>
            </a:extLst>
          </p:cNvPr>
          <p:cNvSpPr>
            <a:spLocks noGrp="1"/>
          </p:cNvSpPr>
          <p:nvPr>
            <p:ph idx="1"/>
          </p:nvPr>
        </p:nvSpPr>
        <p:spPr>
          <a:xfrm>
            <a:off x="437462" y="1700808"/>
            <a:ext cx="7806946" cy="4680520"/>
          </a:xfrm>
        </p:spPr>
        <p:txBody>
          <a:bodyPr/>
          <a:lstStyle/>
          <a:p>
            <a:r>
              <a:rPr lang="en-US" altLang="zh-CN" sz="2000" dirty="0"/>
              <a:t>Kanamori and Ikegami (1980) used Gran plots (Gran, 1952) to determine the endpoint. </a:t>
            </a:r>
          </a:p>
          <a:p>
            <a:r>
              <a:rPr lang="en-US" altLang="zh-CN" sz="2000" dirty="0"/>
              <a:t>requires a large number of data points, before and after the endpoint, to reasonably fit Gran lines using (V</a:t>
            </a:r>
            <a:r>
              <a:rPr lang="en-US" altLang="zh-CN" sz="2000" baseline="-25000" dirty="0"/>
              <a:t>0</a:t>
            </a:r>
            <a:r>
              <a:rPr lang="en-US" altLang="zh-CN" sz="2000" dirty="0"/>
              <a:t>+V)10</a:t>
            </a:r>
            <a:r>
              <a:rPr lang="en-US" altLang="zh-CN" sz="2000" baseline="30000" dirty="0"/>
              <a:t>E/K</a:t>
            </a:r>
            <a:r>
              <a:rPr lang="en-US" altLang="zh-CN" sz="2000" dirty="0"/>
              <a:t> vs. the titration fraction. </a:t>
            </a:r>
          </a:p>
          <a:p>
            <a:r>
              <a:rPr lang="en-US" altLang="zh-CN" sz="2000" dirty="0"/>
              <a:t>a precision of better than 0.1% on [Ca</a:t>
            </a:r>
            <a:r>
              <a:rPr lang="en-US" altLang="zh-CN" sz="2000" baseline="30000" dirty="0"/>
              <a:t>2+</a:t>
            </a:r>
            <a:r>
              <a:rPr lang="en-US" altLang="zh-CN" sz="2000" dirty="0"/>
              <a:t>], with no corrections required for Mg</a:t>
            </a:r>
            <a:r>
              <a:rPr lang="en-US" altLang="zh-CN" sz="2000" baseline="30000" dirty="0"/>
              <a:t>2+</a:t>
            </a:r>
            <a:r>
              <a:rPr lang="en-US" altLang="zh-CN" sz="2000" dirty="0"/>
              <a:t> and Sr</a:t>
            </a:r>
            <a:r>
              <a:rPr lang="en-US" altLang="zh-CN" sz="2000" baseline="30000" dirty="0"/>
              <a:t>2+</a:t>
            </a:r>
            <a:r>
              <a:rPr lang="en-US" altLang="zh-CN" sz="2000" dirty="0"/>
              <a:t> in the sample.</a:t>
            </a:r>
          </a:p>
          <a:p>
            <a:r>
              <a:rPr lang="en-US" altLang="zh-CN" sz="2000" dirty="0"/>
              <a:t>the shortcoming of this approach, however, is in the requirements of either to choose the data points for a linear curve fitting (</a:t>
            </a:r>
            <a:r>
              <a:rPr lang="en-US" altLang="zh-CN" sz="2000" dirty="0" err="1"/>
              <a:t>Culkin</a:t>
            </a:r>
            <a:r>
              <a:rPr lang="en-US" altLang="zh-CN" sz="2000" dirty="0"/>
              <a:t> and Cox, 1966), or acquire a relatively large set of data points – even after the end-point so as to obtain the steady EMF value for the Gran plots (Kanamori and Ikegami, 1980). </a:t>
            </a:r>
            <a:endParaRPr lang="zh-CN" altLang="zh-CN" sz="2000" dirty="0"/>
          </a:p>
          <a:p>
            <a:endParaRPr lang="zh-CN" altLang="zh-CN" sz="2000" dirty="0"/>
          </a:p>
          <a:p>
            <a:endParaRPr lang="zh-CN" altLang="en-US" sz="1500" dirty="0"/>
          </a:p>
        </p:txBody>
      </p:sp>
    </p:spTree>
    <p:extLst>
      <p:ext uri="{BB962C8B-B14F-4D97-AF65-F5344CB8AC3E}">
        <p14:creationId xmlns:p14="http://schemas.microsoft.com/office/powerpoint/2010/main" val="1777019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EDF7B2-E05E-4AF7-A0A5-0E7CA49DB28F}"/>
              </a:ext>
            </a:extLst>
          </p:cNvPr>
          <p:cNvSpPr>
            <a:spLocks noGrp="1"/>
          </p:cNvSpPr>
          <p:nvPr>
            <p:ph type="title"/>
          </p:nvPr>
        </p:nvSpPr>
        <p:spPr>
          <a:xfrm>
            <a:off x="806896" y="327124"/>
            <a:ext cx="8229600" cy="1143000"/>
          </a:xfrm>
        </p:spPr>
        <p:txBody>
          <a:bodyPr/>
          <a:lstStyle/>
          <a:p>
            <a:r>
              <a:rPr lang="zh-CN" altLang="en-US" sz="3200" dirty="0"/>
              <a:t>利用电极指示终点的钙离子络合滴定法</a:t>
            </a:r>
          </a:p>
        </p:txBody>
      </p:sp>
      <p:sp>
        <p:nvSpPr>
          <p:cNvPr id="3" name="内容占位符 2">
            <a:extLst>
              <a:ext uri="{FF2B5EF4-FFF2-40B4-BE49-F238E27FC236}">
                <a16:creationId xmlns:a16="http://schemas.microsoft.com/office/drawing/2014/main" id="{6FE71876-33AB-4B81-BD9E-D977E67C2467}"/>
              </a:ext>
            </a:extLst>
          </p:cNvPr>
          <p:cNvSpPr>
            <a:spLocks noGrp="1"/>
          </p:cNvSpPr>
          <p:nvPr>
            <p:ph idx="1"/>
          </p:nvPr>
        </p:nvSpPr>
        <p:spPr>
          <a:xfrm>
            <a:off x="251520" y="1628800"/>
            <a:ext cx="5328592" cy="3394472"/>
          </a:xfrm>
        </p:spPr>
        <p:txBody>
          <a:bodyPr/>
          <a:lstStyle/>
          <a:p>
            <a:r>
              <a:rPr lang="en-US" altLang="zh-CN" sz="2000" dirty="0"/>
              <a:t>a procedure similar to that of </a:t>
            </a:r>
            <a:r>
              <a:rPr lang="en-US" altLang="zh-CN" sz="2000" dirty="0" err="1"/>
              <a:t>Krumgalz</a:t>
            </a:r>
            <a:r>
              <a:rPr lang="en-US" altLang="zh-CN" sz="2000" dirty="0"/>
              <a:t> and Holzer (1980) to determine the endpoint (V</a:t>
            </a:r>
            <a:r>
              <a:rPr lang="en-US" altLang="zh-CN" sz="2000" baseline="-25000" dirty="0"/>
              <a:t>E</a:t>
            </a:r>
            <a:r>
              <a:rPr lang="en-US" altLang="zh-CN" sz="2000" dirty="0"/>
              <a:t>).</a:t>
            </a:r>
          </a:p>
          <a:p>
            <a:r>
              <a:rPr lang="en-US" altLang="zh-CN" sz="2000" dirty="0">
                <a:latin typeface="Times New Roman" panose="02020603050405020304" pitchFamily="18" charset="0"/>
                <a:ea typeface="Calibri" panose="020F0502020204030204" pitchFamily="34" charset="0"/>
                <a:cs typeface="Times New Roman" panose="02020603050405020304" pitchFamily="18" charset="0"/>
              </a:rPr>
              <a:t>ΔE/ΔV values and plotted against V (Fig. 2a). The point of inflexion with the highest slope corresponding to (ΔE/ΔV)</a:t>
            </a:r>
            <a:r>
              <a:rPr lang="en-US" altLang="zh-CN" sz="2000" baseline="-25000" dirty="0">
                <a:latin typeface="Times New Roman" panose="02020603050405020304" pitchFamily="18" charset="0"/>
                <a:ea typeface="Calibri" panose="020F0502020204030204" pitchFamily="34" charset="0"/>
                <a:cs typeface="Times New Roman" panose="02020603050405020304" pitchFamily="18" charset="0"/>
              </a:rPr>
              <a:t>min</a:t>
            </a:r>
            <a:r>
              <a:rPr lang="en-US" altLang="zh-CN" sz="2000" dirty="0">
                <a:latin typeface="Times New Roman" panose="02020603050405020304" pitchFamily="18" charset="0"/>
                <a:ea typeface="Calibri" panose="020F0502020204030204" pitchFamily="34" charset="0"/>
                <a:cs typeface="Times New Roman" panose="02020603050405020304" pitchFamily="18" charset="0"/>
              </a:rPr>
              <a:t> on this plot is taken as the endpoint. As our Ca ISE generated negative voltages, we have a minimum as the point of inflexion, or of the highest slope, as shown in Fig. 2, instead of a maxima. </a:t>
            </a:r>
            <a:endParaRPr lang="zh-CN" altLang="zh-CN" sz="2000" dirty="0">
              <a:latin typeface="Calibri" panose="020F0502020204030204" pitchFamily="34" charset="0"/>
              <a:ea typeface="Calibri" panose="020F0502020204030204" pitchFamily="34" charset="0"/>
              <a:cs typeface="Times New Roman" panose="02020603050405020304" pitchFamily="18" charset="0"/>
            </a:endParaRPr>
          </a:p>
          <a:p>
            <a:endParaRPr lang="zh-CN" altLang="en-US" sz="1500" dirty="0"/>
          </a:p>
        </p:txBody>
      </p:sp>
      <p:pic>
        <p:nvPicPr>
          <p:cNvPr id="4" name="Picture 1">
            <a:extLst>
              <a:ext uri="{FF2B5EF4-FFF2-40B4-BE49-F238E27FC236}">
                <a16:creationId xmlns:a16="http://schemas.microsoft.com/office/drawing/2014/main" id="{32D89BAA-1B55-4EFD-B8F0-C2B46F60D7E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772816"/>
            <a:ext cx="3456384" cy="2376264"/>
          </a:xfrm>
          <a:prstGeom prst="rect">
            <a:avLst/>
          </a:prstGeom>
          <a:noFill/>
          <a:ln>
            <a:noFill/>
          </a:ln>
        </p:spPr>
      </p:pic>
    </p:spTree>
    <p:extLst>
      <p:ext uri="{BB962C8B-B14F-4D97-AF65-F5344CB8AC3E}">
        <p14:creationId xmlns:p14="http://schemas.microsoft.com/office/powerpoint/2010/main" val="3096886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1DB16-7EEC-4D47-A631-93CFFF864724}"/>
              </a:ext>
            </a:extLst>
          </p:cNvPr>
          <p:cNvSpPr>
            <a:spLocks noGrp="1"/>
          </p:cNvSpPr>
          <p:nvPr>
            <p:ph type="title"/>
          </p:nvPr>
        </p:nvSpPr>
        <p:spPr>
          <a:xfrm>
            <a:off x="755576" y="260648"/>
            <a:ext cx="8229600" cy="1143000"/>
          </a:xfrm>
        </p:spPr>
        <p:txBody>
          <a:bodyPr/>
          <a:lstStyle/>
          <a:p>
            <a:r>
              <a:rPr lang="zh-CN" altLang="en-US" sz="3200" dirty="0"/>
              <a:t>利用电极指示终点的钙离子络合滴定法</a:t>
            </a:r>
          </a:p>
        </p:txBody>
      </p:sp>
      <p:sp>
        <p:nvSpPr>
          <p:cNvPr id="3" name="矩形 2">
            <a:extLst>
              <a:ext uri="{FF2B5EF4-FFF2-40B4-BE49-F238E27FC236}">
                <a16:creationId xmlns:a16="http://schemas.microsoft.com/office/drawing/2014/main" id="{646AFD35-5916-4AD1-81C6-180A9BA990B9}"/>
              </a:ext>
            </a:extLst>
          </p:cNvPr>
          <p:cNvSpPr/>
          <p:nvPr/>
        </p:nvSpPr>
        <p:spPr>
          <a:xfrm>
            <a:off x="437462" y="1628800"/>
            <a:ext cx="4278554" cy="3970318"/>
          </a:xfrm>
          <a:prstGeom prst="rect">
            <a:avLst/>
          </a:prstGeom>
        </p:spPr>
        <p:txBody>
          <a:bodyPr wrap="square">
            <a:spAutoFit/>
          </a:bodyPr>
          <a:lstStyle/>
          <a:p>
            <a:pPr algn="just"/>
            <a:r>
              <a:rPr lang="en-US" altLang="zh-CN" dirty="0">
                <a:latin typeface="Times New Roman" panose="02020603050405020304" pitchFamily="18" charset="0"/>
                <a:ea typeface="Calibri" panose="020F0502020204030204" pitchFamily="34" charset="0"/>
              </a:rPr>
              <a:t>we employed a curve fitting of the observed E and V data (a total of just 4 to 5 points) from the zone of rapidly decreasing E, using a second degree polynomial, rather than a linear fit. Volume interval of 20 to 30 </a:t>
            </a:r>
            <a:r>
              <a:rPr lang="en-US" altLang="zh-CN"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Calibri" panose="020F0502020204030204" pitchFamily="34" charset="0"/>
              </a:rPr>
              <a:t>L around the observed maximum EMF decrease (or the highest slope around (ΔE/ΔV)</a:t>
            </a:r>
            <a:r>
              <a:rPr lang="en-US" altLang="zh-CN" baseline="-25000" dirty="0">
                <a:latin typeface="Times New Roman" panose="02020603050405020304" pitchFamily="18" charset="0"/>
                <a:ea typeface="Calibri" panose="020F0502020204030204" pitchFamily="34" charset="0"/>
              </a:rPr>
              <a:t>min</a:t>
            </a:r>
            <a:r>
              <a:rPr lang="en-US" altLang="zh-CN" dirty="0">
                <a:latin typeface="Times New Roman" panose="02020603050405020304" pitchFamily="18" charset="0"/>
                <a:ea typeface="Calibri" panose="020F0502020204030204" pitchFamily="34" charset="0"/>
              </a:rPr>
              <a:t>) (Fig. 2a), was divided into 50000 intervals and (ΔE/ΔV) calculated at each point using the best fit curve (Fig. 2b). This procedure yielded a unique value for the EGTA volume corresponding to (ΔE/ΔV)</a:t>
            </a:r>
            <a:r>
              <a:rPr lang="en-US" altLang="zh-CN" baseline="-25000" dirty="0">
                <a:latin typeface="Times New Roman" panose="02020603050405020304" pitchFamily="18" charset="0"/>
                <a:ea typeface="Calibri" panose="020F0502020204030204" pitchFamily="34" charset="0"/>
              </a:rPr>
              <a:t>min</a:t>
            </a:r>
            <a:r>
              <a:rPr lang="en-US" altLang="zh-CN" dirty="0">
                <a:latin typeface="Times New Roman" panose="02020603050405020304" pitchFamily="18" charset="0"/>
                <a:ea typeface="Calibri" panose="020F0502020204030204" pitchFamily="34" charset="0"/>
              </a:rPr>
              <a:t> with an accuracy of better than 0.01 </a:t>
            </a:r>
            <a:r>
              <a:rPr lang="en-US" altLang="zh-CN"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Calibri" panose="020F0502020204030204" pitchFamily="34" charset="0"/>
              </a:rPr>
              <a:t>L (Fig. 2b insert).</a:t>
            </a:r>
            <a:endParaRPr lang="zh-CN" altLang="en-US" dirty="0"/>
          </a:p>
        </p:txBody>
      </p:sp>
      <p:pic>
        <p:nvPicPr>
          <p:cNvPr id="4" name="图片 3" descr="fig2b">
            <a:extLst>
              <a:ext uri="{FF2B5EF4-FFF2-40B4-BE49-F238E27FC236}">
                <a16:creationId xmlns:a16="http://schemas.microsoft.com/office/drawing/2014/main" id="{1A7124FC-CB39-4B36-96B7-F1DFB483E3C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7025" y="3645024"/>
            <a:ext cx="3551439" cy="2664296"/>
          </a:xfrm>
          <a:prstGeom prst="rect">
            <a:avLst/>
          </a:prstGeom>
          <a:noFill/>
          <a:ln>
            <a:noFill/>
          </a:ln>
        </p:spPr>
      </p:pic>
      <p:pic>
        <p:nvPicPr>
          <p:cNvPr id="5" name="Picture 1">
            <a:extLst>
              <a:ext uri="{FF2B5EF4-FFF2-40B4-BE49-F238E27FC236}">
                <a16:creationId xmlns:a16="http://schemas.microsoft.com/office/drawing/2014/main" id="{D4A5E2BF-7CF4-4BCD-88ED-FD0222A3208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7025" y="1196752"/>
            <a:ext cx="3551439" cy="2376264"/>
          </a:xfrm>
          <a:prstGeom prst="rect">
            <a:avLst/>
          </a:prstGeom>
          <a:noFill/>
          <a:ln>
            <a:noFill/>
          </a:ln>
        </p:spPr>
      </p:pic>
    </p:spTree>
    <p:extLst>
      <p:ext uri="{BB962C8B-B14F-4D97-AF65-F5344CB8AC3E}">
        <p14:creationId xmlns:p14="http://schemas.microsoft.com/office/powerpoint/2010/main" val="1145226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1B1935D-B87B-4B00-83EE-632FB12991D0}"/>
              </a:ext>
            </a:extLst>
          </p:cNvPr>
          <p:cNvSpPr/>
          <p:nvPr/>
        </p:nvSpPr>
        <p:spPr>
          <a:xfrm>
            <a:off x="457200" y="1700808"/>
            <a:ext cx="8363272" cy="2272417"/>
          </a:xfrm>
          <a:prstGeom prst="rect">
            <a:avLst/>
          </a:prstGeom>
        </p:spPr>
        <p:txBody>
          <a:bodyPr wrap="square">
            <a:spAutoFit/>
          </a:bodyPr>
          <a:lstStyle/>
          <a:p>
            <a:pPr marL="457200" indent="457200" algn="ctr">
              <a:lnSpc>
                <a:spcPct val="150000"/>
              </a:lnSpc>
              <a:spcAft>
                <a:spcPts val="800"/>
              </a:spcAft>
            </a:pPr>
            <a:r>
              <a:rPr lang="en-US" altLang="zh-CN" dirty="0">
                <a:latin typeface="Times New Roman" panose="02020603050405020304" pitchFamily="18" charset="0"/>
                <a:ea typeface="Calibri" panose="020F0502020204030204" pitchFamily="34" charset="0"/>
                <a:cs typeface="Times New Roman" panose="02020603050405020304" pitchFamily="18" charset="0"/>
              </a:rPr>
              <a:t>[Ca</a:t>
            </a:r>
            <a:r>
              <a:rPr lang="en-US" altLang="zh-CN" baseline="30000" dirty="0">
                <a:latin typeface="Times New Roman" panose="02020603050405020304" pitchFamily="18" charset="0"/>
                <a:ea typeface="Calibri" panose="020F0502020204030204" pitchFamily="34" charset="0"/>
                <a:cs typeface="Times New Roman" panose="02020603050405020304" pitchFamily="18" charset="0"/>
              </a:rPr>
              <a:t>2+</a:t>
            </a:r>
            <a:r>
              <a:rPr lang="en-US" altLang="zh-CN" dirty="0">
                <a:latin typeface="Times New Roman" panose="02020603050405020304" pitchFamily="18" charset="0"/>
                <a:ea typeface="Calibri" panose="020F0502020204030204" pitchFamily="34" charset="0"/>
                <a:cs typeface="Times New Roman" panose="02020603050405020304" pitchFamily="18" charset="0"/>
              </a:rPr>
              <a:t>] = V</a:t>
            </a:r>
            <a:r>
              <a:rPr lang="en-US" altLang="zh-CN" baseline="-25000" dirty="0">
                <a:latin typeface="Times New Roman" panose="02020603050405020304" pitchFamily="18" charset="0"/>
                <a:ea typeface="Calibri" panose="020F0502020204030204" pitchFamily="34" charset="0"/>
                <a:cs typeface="Times New Roman" panose="02020603050405020304" pitchFamily="18" charset="0"/>
              </a:rPr>
              <a:t>E </a:t>
            </a:r>
            <a:r>
              <a:rPr lang="en-US" altLang="zh-CN" dirty="0">
                <a:latin typeface="Times New Roman" panose="02020603050405020304" pitchFamily="18" charset="0"/>
                <a:ea typeface="Calibri" panose="020F0502020204030204" pitchFamily="34" charset="0"/>
                <a:cs typeface="Times New Roman" panose="02020603050405020304" pitchFamily="18" charset="0"/>
              </a:rPr>
              <a:t>× M/</a:t>
            </a:r>
            <a:r>
              <a:rPr lang="en-US" altLang="zh-CN" i="1" dirty="0">
                <a:latin typeface="Times New Roman" panose="02020603050405020304" pitchFamily="18" charset="0"/>
                <a:ea typeface="Calibri" panose="020F0502020204030204" pitchFamily="34" charset="0"/>
                <a:cs typeface="Times New Roman" panose="02020603050405020304" pitchFamily="18" charset="0"/>
              </a:rPr>
              <a:t>w</a:t>
            </a:r>
            <a:r>
              <a:rPr lang="en-US" altLang="zh-CN" dirty="0">
                <a:latin typeface="Times New Roman" panose="02020603050405020304" pitchFamily="18" charset="0"/>
                <a:ea typeface="Calibri" panose="020F0502020204030204" pitchFamily="34" charset="0"/>
                <a:cs typeface="Times New Roman" panose="02020603050405020304" pitchFamily="18" charset="0"/>
              </a:rPr>
              <a:t>					</a:t>
            </a:r>
            <a:endParaRPr lang="zh-CN" altLang="zh-CN" dirty="0">
              <a:latin typeface="Calibri" panose="020F0502020204030204" pitchFamily="34" charset="0"/>
              <a:ea typeface="Calibri" panose="020F0502020204030204" pitchFamily="34" charset="0"/>
              <a:cs typeface="Times New Roman" panose="02020603050405020304" pitchFamily="18" charset="0"/>
            </a:endParaRPr>
          </a:p>
          <a:p>
            <a:r>
              <a:rPr lang="en-US" altLang="zh-CN" dirty="0">
                <a:latin typeface="Times New Roman" panose="02020603050405020304" pitchFamily="18" charset="0"/>
                <a:ea typeface="Calibri" panose="020F0502020204030204" pitchFamily="34" charset="0"/>
              </a:rPr>
              <a:t>Where, [Ca</a:t>
            </a:r>
            <a:r>
              <a:rPr lang="en-US" altLang="zh-CN" baseline="30000" dirty="0">
                <a:latin typeface="Times New Roman" panose="02020603050405020304" pitchFamily="18" charset="0"/>
                <a:ea typeface="Calibri" panose="020F0502020204030204" pitchFamily="34" charset="0"/>
              </a:rPr>
              <a:t>2+</a:t>
            </a:r>
            <a:r>
              <a:rPr lang="en-US" altLang="zh-CN" dirty="0">
                <a:latin typeface="Times New Roman" panose="02020603050405020304" pitchFamily="18" charset="0"/>
                <a:ea typeface="Calibri" panose="020F0502020204030204" pitchFamily="34" charset="0"/>
              </a:rPr>
              <a:t>] is the concentration of Ca</a:t>
            </a:r>
            <a:r>
              <a:rPr lang="en-US" altLang="zh-CN" baseline="30000" dirty="0">
                <a:latin typeface="Times New Roman" panose="02020603050405020304" pitchFamily="18" charset="0"/>
                <a:ea typeface="Calibri" panose="020F0502020204030204" pitchFamily="34" charset="0"/>
              </a:rPr>
              <a:t>2+</a:t>
            </a:r>
            <a:r>
              <a:rPr lang="en-US" altLang="zh-CN" dirty="0">
                <a:latin typeface="Times New Roman" panose="02020603050405020304" pitchFamily="18" charset="0"/>
                <a:ea typeface="Calibri" panose="020F0502020204030204" pitchFamily="34" charset="0"/>
              </a:rPr>
              <a:t> in the sample (</a:t>
            </a:r>
            <a:r>
              <a:rPr lang="en-US" altLang="zh-CN"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Calibri" panose="020F0502020204030204" pitchFamily="34" charset="0"/>
              </a:rPr>
              <a:t>mol/L), V</a:t>
            </a:r>
            <a:r>
              <a:rPr lang="en-US" altLang="zh-CN" baseline="-25000" dirty="0">
                <a:latin typeface="Times New Roman" panose="02020603050405020304" pitchFamily="18" charset="0"/>
                <a:ea typeface="Calibri" panose="020F0502020204030204" pitchFamily="34" charset="0"/>
              </a:rPr>
              <a:t>E</a:t>
            </a:r>
            <a:r>
              <a:rPr lang="en-US" altLang="zh-CN" dirty="0">
                <a:latin typeface="Times New Roman" panose="02020603050405020304" pitchFamily="18" charset="0"/>
                <a:ea typeface="Calibri" panose="020F0502020204030204" pitchFamily="34" charset="0"/>
              </a:rPr>
              <a:t> is the EGTA volume at the endpoint (</a:t>
            </a:r>
            <a:r>
              <a:rPr lang="en-US" altLang="zh-CN"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Calibri" panose="020F0502020204030204" pitchFamily="34" charset="0"/>
              </a:rPr>
              <a:t>L), M is the molarity of EGTA solution (</a:t>
            </a:r>
            <a:r>
              <a:rPr lang="en-US" altLang="zh-CN"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Calibri" panose="020F0502020204030204" pitchFamily="34" charset="0"/>
              </a:rPr>
              <a:t>mol/L), and </a:t>
            </a:r>
            <a:r>
              <a:rPr lang="en-US" altLang="zh-CN" i="1" dirty="0">
                <a:latin typeface="Times New Roman" panose="02020603050405020304" pitchFamily="18" charset="0"/>
                <a:ea typeface="Calibri" panose="020F0502020204030204" pitchFamily="34" charset="0"/>
              </a:rPr>
              <a:t>w</a:t>
            </a:r>
            <a:r>
              <a:rPr lang="en-US" altLang="zh-CN" dirty="0">
                <a:latin typeface="Times New Roman" panose="02020603050405020304" pitchFamily="18" charset="0"/>
                <a:ea typeface="Calibri" panose="020F0502020204030204" pitchFamily="34" charset="0"/>
              </a:rPr>
              <a:t> is the sample volume (</a:t>
            </a:r>
            <a:r>
              <a:rPr lang="en-US" altLang="zh-CN"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Calibri" panose="020F0502020204030204" pitchFamily="34" charset="0"/>
              </a:rPr>
              <a:t>L). Since we were working with volumes and not weights, we also noted down the temperature of the solutions accurately and ensured it did not change throughout the experiment. Accurate temperature values also help convert the concentration units from </a:t>
            </a:r>
            <a:r>
              <a:rPr lang="en-US" altLang="zh-CN"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Calibri" panose="020F0502020204030204" pitchFamily="34" charset="0"/>
              </a:rPr>
              <a:t>mol/L to </a:t>
            </a:r>
            <a:r>
              <a:rPr lang="en-US" altLang="zh-CN" dirty="0">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Calibri" panose="020F0502020204030204" pitchFamily="34" charset="0"/>
              </a:rPr>
              <a:t>mol/kg if needed. </a:t>
            </a:r>
            <a:endParaRPr lang="zh-CN" altLang="en-US" dirty="0"/>
          </a:p>
        </p:txBody>
      </p:sp>
      <p:sp>
        <p:nvSpPr>
          <p:cNvPr id="4" name="标题 1">
            <a:extLst>
              <a:ext uri="{FF2B5EF4-FFF2-40B4-BE49-F238E27FC236}">
                <a16:creationId xmlns:a16="http://schemas.microsoft.com/office/drawing/2014/main" id="{9132937B-885F-4DA9-8E76-7ADBA762D755}"/>
              </a:ext>
            </a:extLst>
          </p:cNvPr>
          <p:cNvSpPr>
            <a:spLocks noGrp="1"/>
          </p:cNvSpPr>
          <p:nvPr>
            <p:ph type="title"/>
          </p:nvPr>
        </p:nvSpPr>
        <p:spPr>
          <a:xfrm>
            <a:off x="914400" y="404664"/>
            <a:ext cx="8229600" cy="1143000"/>
          </a:xfrm>
        </p:spPr>
        <p:txBody>
          <a:bodyPr/>
          <a:lstStyle/>
          <a:p>
            <a:r>
              <a:rPr lang="zh-CN" altLang="en-US" sz="3200" dirty="0"/>
              <a:t>利用电极指示终点的钙离子络合滴定法</a:t>
            </a:r>
          </a:p>
        </p:txBody>
      </p:sp>
    </p:spTree>
    <p:extLst>
      <p:ext uri="{BB962C8B-B14F-4D97-AF65-F5344CB8AC3E}">
        <p14:creationId xmlns:p14="http://schemas.microsoft.com/office/powerpoint/2010/main" val="483607632"/>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1">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rgbClr val="3399FF"/>
            </a:solidFill>
            <a:effectLst/>
            <a:latin typeface="Arial" charset="0"/>
            <a:ea typeface="华文行楷" pitchFamily="2" charset="-122"/>
          </a:defRPr>
        </a:defPPr>
      </a:lstStyle>
    </a:spDef>
    <a:lnDef>
      <a:spPr bwMode="auto">
        <a:solidFill>
          <a:schemeClr val="accent1"/>
        </a:solidFill>
        <a:ln w="25400" cap="flat" cmpd="sng" algn="ctr">
          <a:solidFill>
            <a:schemeClr val="tx1"/>
          </a:solidFill>
          <a:prstDash val="solid"/>
          <a:round/>
          <a:headEnd type="none" w="med" len="med"/>
          <a:tailEnd type="arrow"/>
        </a:ln>
        <a:effectLst/>
      </a:spPr>
      <a:body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2324</Words>
  <Application>Microsoft Office PowerPoint</Application>
  <PresentationFormat>全屏显示(4:3)</PresentationFormat>
  <Paragraphs>148</Paragraphs>
  <Slides>26</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26</vt:i4>
      </vt:variant>
    </vt:vector>
  </HeadingPairs>
  <TitlesOfParts>
    <vt:vector size="37" baseType="lpstr">
      <vt:lpstr>Adobe 黑体 Std R</vt:lpstr>
      <vt:lpstr>黑体</vt:lpstr>
      <vt:lpstr>华文行楷</vt:lpstr>
      <vt:lpstr>华文新魏</vt:lpstr>
      <vt:lpstr>Arial</vt:lpstr>
      <vt:lpstr>Calibri</vt:lpstr>
      <vt:lpstr>Times New Roman</vt:lpstr>
      <vt:lpstr>Wingdings</vt:lpstr>
      <vt:lpstr>默认设计模板</vt:lpstr>
      <vt:lpstr>Equation</vt:lpstr>
      <vt:lpstr>公式</vt:lpstr>
      <vt:lpstr>海水分析化学 Chemistry of seawater analysis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海水中钙离子的特点</vt:lpstr>
      <vt:lpstr>钙离子的分析方法</vt:lpstr>
      <vt:lpstr>钙离子的分析方法</vt:lpstr>
      <vt:lpstr>钙离子的分析方法</vt:lpstr>
      <vt:lpstr>钙离子的分析方法</vt:lpstr>
      <vt:lpstr>钙离子的分析方法</vt:lpstr>
      <vt:lpstr>钙离子的络合滴定法</vt:lpstr>
      <vt:lpstr>钙离子的络合滴定法</vt:lpstr>
      <vt:lpstr>钙离子的络合滴定法</vt:lpstr>
      <vt:lpstr>钙离子的络合滴定法</vt:lpstr>
      <vt:lpstr>钙离子的络合滴定法</vt:lpstr>
      <vt:lpstr>钙离子的络合滴定法</vt:lpstr>
      <vt:lpstr>利用电极指示终点的钙离子络合滴定法</vt:lpstr>
      <vt:lpstr>利用电极指示终点的钙离子络合滴定法</vt:lpstr>
      <vt:lpstr>利用电极指示终点的钙离子络合滴定法</vt:lpstr>
      <vt:lpstr>利用电极指示终点的钙离子络合滴定法</vt:lpstr>
      <vt:lpstr>利用电极指示终点的钙离子络合滴定法</vt:lpstr>
      <vt:lpstr>利用电极指示终点的钙离子络合滴定法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dc:creator>
  <cp:lastModifiedBy>潘 依雯</cp:lastModifiedBy>
  <cp:revision>1422</cp:revision>
  <dcterms:created xsi:type="dcterms:W3CDTF">2013-10-17T05:15:34Z</dcterms:created>
  <dcterms:modified xsi:type="dcterms:W3CDTF">2020-12-27T08:55:47Z</dcterms:modified>
</cp:coreProperties>
</file>