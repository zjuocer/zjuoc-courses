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68" r:id="rId2"/>
    <p:sldId id="424" r:id="rId3"/>
    <p:sldId id="425" r:id="rId4"/>
    <p:sldId id="427" r:id="rId5"/>
    <p:sldId id="428" r:id="rId6"/>
    <p:sldId id="399" r:id="rId7"/>
    <p:sldId id="398" r:id="rId8"/>
    <p:sldId id="426" r:id="rId9"/>
    <p:sldId id="397" r:id="rId10"/>
    <p:sldId id="400" r:id="rId11"/>
    <p:sldId id="419" r:id="rId12"/>
    <p:sldId id="431" r:id="rId13"/>
    <p:sldId id="430" r:id="rId14"/>
    <p:sldId id="429" r:id="rId15"/>
    <p:sldId id="403" r:id="rId16"/>
    <p:sldId id="408" r:id="rId17"/>
    <p:sldId id="401" r:id="rId18"/>
    <p:sldId id="406" r:id="rId19"/>
    <p:sldId id="434" r:id="rId20"/>
    <p:sldId id="433" r:id="rId21"/>
    <p:sldId id="407" r:id="rId22"/>
    <p:sldId id="404" r:id="rId23"/>
    <p:sldId id="420" r:id="rId24"/>
    <p:sldId id="421" r:id="rId25"/>
    <p:sldId id="422" r:id="rId26"/>
    <p:sldId id="409" r:id="rId27"/>
    <p:sldId id="423" r:id="rId28"/>
    <p:sldId id="411" r:id="rId29"/>
    <p:sldId id="410" r:id="rId30"/>
    <p:sldId id="413" r:id="rId31"/>
    <p:sldId id="432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7" autoAdjust="0"/>
  </p:normalViewPr>
  <p:slideViewPr>
    <p:cSldViewPr>
      <p:cViewPr varScale="1">
        <p:scale>
          <a:sx n="91" d="100"/>
          <a:sy n="91" d="100"/>
        </p:scale>
        <p:origin x="97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4C2AD-C9B0-406F-8123-A0E121BD4683}" type="datetimeFigureOut">
              <a:rPr lang="zh-CN" altLang="en-US" smtClean="0"/>
              <a:pPr/>
              <a:t>2022/9/25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5C9DF-7B2A-45F8-A4B2-C2901DB614D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41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altLang="zh-CN" smtClean="0"/>
              <a:pPr/>
              <a:t>1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5C9DF-7B2A-45F8-A4B2-C2901DB614D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753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D163F-C9B0-4A35-98DC-3A4DEFF7EC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5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D8075-E72B-4BF6-9481-6760148A8FB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7C1C9-6B1A-4E8D-80D9-1F406FED743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2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21727-E14B-4214-A96B-5D5149B9EB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90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1E3A4-CA4C-4B0F-B7EE-93652856C6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0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CA82-AB81-42B0-A316-04B221EF0F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88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1B4E-1D51-4764-BB26-0A928DDC693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0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AD128-FF11-46E7-83AD-EE5A40B315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7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50332-BC1C-4A8B-973F-88E43E2277C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07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7FBC4-3B96-4753-85AE-096B9B71EBC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4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F8586-B1A6-49E8-9A88-F7855FBD37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470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zh-CN" altLang="en-US"/>
              <a:pPr/>
              <a:t>2022/9/25</a:t>
            </a:fld>
            <a:endParaRPr kumimoji="0"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zh-CN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E0FACD-AE8A-4C16-8A1E-FCBCB8577A05}" type="slidenum">
              <a:rPr lang="en-US" altLang="zh-CN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图片 6" descr="院标-圆形图案 无背景.png"/>
          <p:cNvPicPr>
            <a:picLocks noChangeAspect="1"/>
          </p:cNvPicPr>
          <p:nvPr userDrawn="1"/>
        </p:nvPicPr>
        <p:blipFill>
          <a:blip r:embed="rId15" cstate="print"/>
          <a:srcRect l="10812" t="7462" r="8098" b="13504"/>
          <a:stretch>
            <a:fillRect/>
          </a:stretch>
        </p:blipFill>
        <p:spPr>
          <a:xfrm>
            <a:off x="149675" y="188640"/>
            <a:ext cx="1181965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8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body" idx="1"/>
          </p:nvPr>
        </p:nvSpPr>
        <p:spPr>
          <a:xfrm>
            <a:off x="1214414" y="3643314"/>
            <a:ext cx="7123113" cy="1673225"/>
          </a:xfrm>
        </p:spPr>
        <p:txBody>
          <a:bodyPr>
            <a:noAutofit/>
          </a:bodyPr>
          <a:lstStyle/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潘依雯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海洋学院</a:t>
            </a:r>
            <a:r>
              <a:rPr lang="zh-CN" altLang="en-US" dirty="0">
                <a:latin typeface="Adobe 黑体 Std R" pitchFamily="34" charset="-122"/>
                <a:ea typeface="Adobe 黑体 Std R" pitchFamily="34" charset="-122"/>
              </a:rPr>
              <a:t>海洋化学与环境所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/>
              <a:t>海科楼</a:t>
            </a:r>
            <a:r>
              <a:rPr lang="en-US" altLang="zh-CN" sz="2000" dirty="0"/>
              <a:t>319</a:t>
            </a:r>
            <a:r>
              <a:rPr lang="zh-CN" altLang="en-US" sz="2000" dirty="0"/>
              <a:t>，</a:t>
            </a:r>
            <a:r>
              <a:rPr lang="en-US" altLang="zh-CN" sz="2000" dirty="0"/>
              <a:t>Email: evelynpan@zju.edu.cn</a:t>
            </a:r>
            <a:endParaRPr lang="zh-CN" sz="2000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142976" y="428604"/>
            <a:ext cx="7171730" cy="179792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海水分析化学</a:t>
            </a:r>
            <a:br>
              <a:rPr lang="en-US" altLang="zh-CN" dirty="0"/>
            </a:br>
            <a:r>
              <a:rPr lang="en-US" altLang="zh-CN" sz="3600" dirty="0"/>
              <a:t>Chemistry of seawater analysis </a:t>
            </a:r>
            <a:endParaRPr lang="zh-CN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524328" y="6021289"/>
            <a:ext cx="1491086" cy="46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华文行楷" pitchFamily="2" charset="-122"/>
                <a:ea typeface="华文行楷" pitchFamily="2" charset="-122"/>
              </a:rPr>
              <a:t>宽厚 跨越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 bwMode="auto">
          <a:xfrm>
            <a:off x="1142976" y="2071678"/>
            <a:ext cx="7171730" cy="179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3600" b="1" i="0" u="none" strike="noStrike" kern="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3300" b="1" i="0" u="none" strike="noStrike" kern="0" cap="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Methods of seawater analysis </a:t>
            </a:r>
            <a:endParaRPr kumimoji="0" lang="zh-CN" sz="3600" b="1" i="0" u="none" strike="noStrike" kern="0" cap="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432" y="1628800"/>
            <a:ext cx="7139136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理解测量</a:t>
            </a:r>
            <a:r>
              <a:rPr lang="en-US" altLang="zh-CN" sz="2400" dirty="0"/>
              <a:t>COD</a:t>
            </a:r>
            <a:r>
              <a:rPr lang="zh-CN" altLang="en-US" sz="2400" dirty="0"/>
              <a:t>的目的及其与有机物之间的关系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理解</a:t>
            </a:r>
            <a:r>
              <a:rPr lang="en-US" altLang="zh-CN" sz="2400" dirty="0"/>
              <a:t>COD</a:t>
            </a:r>
            <a:r>
              <a:rPr lang="zh-CN" altLang="en-US" sz="2400" dirty="0"/>
              <a:t>与其它标定水体中有机物方法间的区别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了解海水中</a:t>
            </a:r>
            <a:r>
              <a:rPr lang="en-US" altLang="zh-CN" sz="2400" dirty="0"/>
              <a:t>COD</a:t>
            </a:r>
            <a:r>
              <a:rPr lang="zh-CN" altLang="en-US" sz="2400" dirty="0"/>
              <a:t>的测量方法及注意事项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明确海水中测量</a:t>
            </a:r>
            <a:r>
              <a:rPr lang="en-US" altLang="zh-CN" sz="2400" dirty="0"/>
              <a:t>COD</a:t>
            </a:r>
            <a:r>
              <a:rPr lang="zh-CN" altLang="en-US" sz="2400" dirty="0"/>
              <a:t>和其它水体中测量</a:t>
            </a:r>
            <a:r>
              <a:rPr lang="en-US" altLang="zh-CN" sz="2400" dirty="0"/>
              <a:t>COD</a:t>
            </a:r>
            <a:r>
              <a:rPr lang="zh-CN" altLang="en-US" sz="2400" dirty="0"/>
              <a:t>的共性与差别</a:t>
            </a:r>
            <a:endParaRPr lang="en-US" altLang="zh-CN" sz="2400" dirty="0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23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03232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理解测量</a:t>
            </a:r>
            <a:r>
              <a:rPr lang="en-US" altLang="zh-CN" sz="2400" dirty="0"/>
              <a:t>COD</a:t>
            </a:r>
            <a:r>
              <a:rPr lang="zh-CN" altLang="en-US" sz="2400" dirty="0"/>
              <a:t>的目的及其与有机物之间的关系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理解</a:t>
            </a:r>
            <a:r>
              <a:rPr lang="en-US" altLang="zh-CN" sz="2400" dirty="0"/>
              <a:t>COD</a:t>
            </a:r>
            <a:r>
              <a:rPr lang="zh-CN" altLang="en-US" sz="2400" dirty="0"/>
              <a:t>与其它标定水体中有机物方法间的区别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了解海水中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的测量方法及注意事项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明确海水中测量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和其它水体中测量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的共性与差别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26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D00B315-7896-4322-AF4C-D415D0EC0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758373"/>
            <a:ext cx="4716016" cy="452596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F472CB-FF06-44E9-A985-884B81B38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4" y="1628800"/>
            <a:ext cx="4430268" cy="4655536"/>
          </a:xfrm>
          <a:prstGeom prst="rect">
            <a:avLst/>
          </a:prstGeom>
        </p:spPr>
      </p:pic>
      <p:sp>
        <p:nvSpPr>
          <p:cNvPr id="9" name="云形 8">
            <a:extLst>
              <a:ext uri="{FF2B5EF4-FFF2-40B4-BE49-F238E27FC236}">
                <a16:creationId xmlns:a16="http://schemas.microsoft.com/office/drawing/2014/main" id="{3D62EDC3-8D1B-4810-85FF-856E380B6F5D}"/>
              </a:ext>
            </a:extLst>
          </p:cNvPr>
          <p:cNvSpPr/>
          <p:nvPr/>
        </p:nvSpPr>
        <p:spPr bwMode="auto">
          <a:xfrm>
            <a:off x="1475656" y="314348"/>
            <a:ext cx="5904656" cy="1055953"/>
          </a:xfrm>
          <a:prstGeom prst="cloud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水质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COD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指标和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BOD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指标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水质</a:t>
            </a:r>
            <a:r>
              <a:rPr lang="en-US" altLang="zh-CN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COD</a:t>
            </a:r>
            <a:r>
              <a:rPr lang="zh-CN" altLang="en-US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指标真的重要吗？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B64FFFF-0BF0-4CB2-95AD-129290161402}"/>
              </a:ext>
            </a:extLst>
          </p:cNvPr>
          <p:cNvSpPr/>
          <p:nvPr/>
        </p:nvSpPr>
        <p:spPr bwMode="auto">
          <a:xfrm>
            <a:off x="4427984" y="5517232"/>
            <a:ext cx="4680520" cy="767104"/>
          </a:xfrm>
          <a:prstGeom prst="roundRect">
            <a:avLst/>
          </a:prstGeom>
          <a:noFill/>
          <a:ln w="158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468F97-6825-4989-A9AA-11276E70A903}"/>
              </a:ext>
            </a:extLst>
          </p:cNvPr>
          <p:cNvSpPr/>
          <p:nvPr/>
        </p:nvSpPr>
        <p:spPr bwMode="auto">
          <a:xfrm>
            <a:off x="6084168" y="2052053"/>
            <a:ext cx="1368152" cy="152811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2FB6727-2EC0-4A69-BDE4-77E05F380511}"/>
              </a:ext>
            </a:extLst>
          </p:cNvPr>
          <p:cNvSpPr/>
          <p:nvPr/>
        </p:nvSpPr>
        <p:spPr bwMode="auto">
          <a:xfrm>
            <a:off x="3239852" y="5854799"/>
            <a:ext cx="504056" cy="101567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DDDB14-6B3D-435C-A726-EF959AC06D25}"/>
              </a:ext>
            </a:extLst>
          </p:cNvPr>
          <p:cNvSpPr/>
          <p:nvPr/>
        </p:nvSpPr>
        <p:spPr bwMode="auto">
          <a:xfrm>
            <a:off x="6236568" y="2204453"/>
            <a:ext cx="1368152" cy="152811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940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B24A68-751B-4744-8C63-88769E3F3614}"/>
              </a:ext>
            </a:extLst>
          </p:cNvPr>
          <p:cNvSpPr txBox="1"/>
          <p:nvPr/>
        </p:nvSpPr>
        <p:spPr>
          <a:xfrm>
            <a:off x="577977" y="1859364"/>
            <a:ext cx="2016223" cy="1631216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1988</a:t>
            </a:r>
            <a:r>
              <a:rPr lang="zh-CN" altLang="en-US" sz="2000" dirty="0"/>
              <a:t>年中国选择</a:t>
            </a:r>
            <a:r>
              <a:rPr lang="en-US" altLang="zh-CN" sz="2000" dirty="0"/>
              <a:t>COD</a:t>
            </a:r>
            <a:r>
              <a:rPr lang="zh-CN" altLang="en-US" sz="2000" dirty="0"/>
              <a:t>指标原因及</a:t>
            </a:r>
            <a:r>
              <a:rPr lang="en-US" altLang="zh-CN" sz="2000" dirty="0"/>
              <a:t>10</a:t>
            </a:r>
            <a:r>
              <a:rPr lang="zh-CN" altLang="en-US" sz="2000" dirty="0"/>
              <a:t>年后废弃</a:t>
            </a:r>
            <a:r>
              <a:rPr lang="en-US" altLang="zh-CN" sz="2000" dirty="0"/>
              <a:t>COD</a:t>
            </a:r>
            <a:r>
              <a:rPr lang="zh-CN" altLang="en-US" sz="2000" dirty="0"/>
              <a:t>指标用</a:t>
            </a:r>
            <a:r>
              <a:rPr lang="en-US" altLang="zh-CN" sz="2000" dirty="0"/>
              <a:t>BOD</a:t>
            </a:r>
            <a:r>
              <a:rPr lang="zh-CN" altLang="en-US" sz="2000" dirty="0"/>
              <a:t>指标的约定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588F41-F476-42E0-8851-E9F36C22E7EF}"/>
              </a:ext>
            </a:extLst>
          </p:cNvPr>
          <p:cNvSpPr txBox="1"/>
          <p:nvPr/>
        </p:nvSpPr>
        <p:spPr>
          <a:xfrm>
            <a:off x="3149160" y="1985545"/>
            <a:ext cx="2016224" cy="1323439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1995</a:t>
            </a:r>
            <a:r>
              <a:rPr lang="zh-CN" altLang="en-US" sz="2000" dirty="0"/>
              <a:t>年实验获得</a:t>
            </a:r>
            <a:r>
              <a:rPr lang="en-US" altLang="zh-CN" sz="2000" dirty="0"/>
              <a:t>COD 45</a:t>
            </a:r>
            <a:r>
              <a:rPr lang="zh-CN" altLang="en-US" sz="2000" dirty="0"/>
              <a:t>毫克</a:t>
            </a:r>
            <a:r>
              <a:rPr lang="en-US" altLang="zh-CN" sz="2000" dirty="0"/>
              <a:t>/</a:t>
            </a:r>
            <a:r>
              <a:rPr lang="zh-CN" altLang="en-US" sz="2000" dirty="0"/>
              <a:t>升与水清之间的定性关系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BFA246-C2C3-4813-8376-92A6F0565CF2}"/>
              </a:ext>
            </a:extLst>
          </p:cNvPr>
          <p:cNvSpPr txBox="1"/>
          <p:nvPr/>
        </p:nvSpPr>
        <p:spPr>
          <a:xfrm>
            <a:off x="5700758" y="3737161"/>
            <a:ext cx="2304256" cy="1323439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新的城镇污水处理厂排放标准：水质</a:t>
            </a:r>
            <a:r>
              <a:rPr lang="en-US" altLang="zh-CN" sz="2000" dirty="0"/>
              <a:t>COD</a:t>
            </a:r>
            <a:r>
              <a:rPr lang="zh-CN" altLang="en-US" sz="2000" dirty="0"/>
              <a:t>指标</a:t>
            </a:r>
            <a:r>
              <a:rPr lang="en-US" altLang="zh-CN" sz="2000" dirty="0"/>
              <a:t>30~40</a:t>
            </a:r>
            <a:r>
              <a:rPr lang="zh-CN" altLang="en-US" sz="2000" dirty="0"/>
              <a:t>毫克</a:t>
            </a:r>
            <a:r>
              <a:rPr lang="en-US" altLang="zh-CN" sz="2000" dirty="0"/>
              <a:t>/</a:t>
            </a:r>
            <a:r>
              <a:rPr lang="zh-CN" altLang="en-US" sz="2000" dirty="0"/>
              <a:t>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50FDE3-B786-4A0E-8C5F-CBEF6381050A}"/>
              </a:ext>
            </a:extLst>
          </p:cNvPr>
          <p:cNvSpPr txBox="1"/>
          <p:nvPr/>
        </p:nvSpPr>
        <p:spPr>
          <a:xfrm>
            <a:off x="624073" y="4279247"/>
            <a:ext cx="296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COD</a:t>
            </a:r>
            <a:r>
              <a:rPr lang="zh-CN" altLang="en-US" sz="2000" dirty="0"/>
              <a:t>：</a:t>
            </a:r>
            <a:r>
              <a:rPr lang="en-US" altLang="zh-CN" sz="2000" dirty="0"/>
              <a:t>Chemical Oxygen Demand 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48A6E0-EE77-484A-B65F-DE179808425F}"/>
              </a:ext>
            </a:extLst>
          </p:cNvPr>
          <p:cNvSpPr txBox="1"/>
          <p:nvPr/>
        </p:nvSpPr>
        <p:spPr>
          <a:xfrm>
            <a:off x="630145" y="3679082"/>
            <a:ext cx="3278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BOD</a:t>
            </a:r>
            <a:r>
              <a:rPr lang="zh-CN" altLang="en-US" sz="2000" dirty="0"/>
              <a:t>：</a:t>
            </a:r>
            <a:r>
              <a:rPr lang="en-US" altLang="zh-CN" sz="2000" dirty="0"/>
              <a:t>Biochemical Oxygen Demand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703E6B-DD5C-4A26-9160-48FA4B0E94A2}"/>
              </a:ext>
            </a:extLst>
          </p:cNvPr>
          <p:cNvSpPr txBox="1"/>
          <p:nvPr/>
        </p:nvSpPr>
        <p:spPr>
          <a:xfrm>
            <a:off x="3723418" y="3639708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五日</a:t>
            </a:r>
            <a:r>
              <a:rPr lang="en-US" altLang="zh-CN" sz="2000" dirty="0"/>
              <a:t>BOD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85A21C-EC7E-44C8-BCDD-32D431913161}"/>
              </a:ext>
            </a:extLst>
          </p:cNvPr>
          <p:cNvSpPr txBox="1"/>
          <p:nvPr/>
        </p:nvSpPr>
        <p:spPr>
          <a:xfrm>
            <a:off x="3723418" y="407919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铬法</a:t>
            </a:r>
            <a:r>
              <a:rPr lang="en-US" altLang="zh-CN" sz="2000" dirty="0"/>
              <a:t>COD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E7FCA6-0732-4A81-B03A-2F9442A28980}"/>
              </a:ext>
            </a:extLst>
          </p:cNvPr>
          <p:cNvSpPr txBox="1"/>
          <p:nvPr/>
        </p:nvSpPr>
        <p:spPr>
          <a:xfrm>
            <a:off x="3723418" y="4507612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锰法</a:t>
            </a:r>
            <a:r>
              <a:rPr lang="en-US" altLang="zh-CN" sz="2000" dirty="0"/>
              <a:t>COD</a:t>
            </a:r>
            <a:endParaRPr lang="zh-CN" altLang="en-US" sz="2000" dirty="0"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98CE8963-AB64-4E19-B4D6-032C95FB88A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331640" y="317470"/>
            <a:ext cx="8229600" cy="1143000"/>
          </a:xfrm>
          <a:prstGeom prst="cloud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水质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COD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指标和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BOD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3399FF"/>
                </a:solidFill>
                <a:effectLst/>
                <a:latin typeface="Arial" charset="0"/>
                <a:ea typeface="华文行楷" pitchFamily="2" charset="-122"/>
              </a:rPr>
              <a:t>指标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水质</a:t>
            </a:r>
            <a:r>
              <a:rPr lang="en-US" altLang="zh-CN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COD</a:t>
            </a:r>
            <a:r>
              <a:rPr lang="zh-CN" altLang="en-US" sz="2400" dirty="0">
                <a:solidFill>
                  <a:srgbClr val="3399FF"/>
                </a:solidFill>
                <a:latin typeface="Arial" charset="0"/>
                <a:ea typeface="华文行楷" pitchFamily="2" charset="-122"/>
              </a:rPr>
              <a:t>指标真的重要吗？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846FCE-B4D8-4BB4-B941-FABEA61A82B3}"/>
              </a:ext>
            </a:extLst>
          </p:cNvPr>
          <p:cNvSpPr txBox="1"/>
          <p:nvPr/>
        </p:nvSpPr>
        <p:spPr>
          <a:xfrm>
            <a:off x="5700758" y="5470524"/>
            <a:ext cx="2287627" cy="707886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批判排放标准的制定人（专家）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69491073-6A48-4999-B465-044B0C288B5B}"/>
              </a:ext>
            </a:extLst>
          </p:cNvPr>
          <p:cNvSpPr/>
          <p:nvPr/>
        </p:nvSpPr>
        <p:spPr bwMode="auto">
          <a:xfrm>
            <a:off x="5265559" y="2470282"/>
            <a:ext cx="396044" cy="262148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EA32659-5BDA-4614-9269-9F75FFB72A2B}"/>
              </a:ext>
            </a:extLst>
          </p:cNvPr>
          <p:cNvSpPr/>
          <p:nvPr/>
        </p:nvSpPr>
        <p:spPr bwMode="auto">
          <a:xfrm>
            <a:off x="2663788" y="2478773"/>
            <a:ext cx="396044" cy="230147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B633655A-4888-47BF-A5E9-D320E1F9982B}"/>
              </a:ext>
            </a:extLst>
          </p:cNvPr>
          <p:cNvSpPr/>
          <p:nvPr/>
        </p:nvSpPr>
        <p:spPr bwMode="auto">
          <a:xfrm>
            <a:off x="6618796" y="3286556"/>
            <a:ext cx="370907" cy="408048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85461826-A13F-41B9-A274-75FCE6343268}"/>
              </a:ext>
            </a:extLst>
          </p:cNvPr>
          <p:cNvSpPr/>
          <p:nvPr/>
        </p:nvSpPr>
        <p:spPr bwMode="auto">
          <a:xfrm>
            <a:off x="6612485" y="5103157"/>
            <a:ext cx="370907" cy="329513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D0D79A-BEFD-40B5-9EAE-22097F8318B0}"/>
              </a:ext>
            </a:extLst>
          </p:cNvPr>
          <p:cNvSpPr txBox="1"/>
          <p:nvPr/>
        </p:nvSpPr>
        <p:spPr>
          <a:xfrm>
            <a:off x="5844774" y="1911756"/>
            <a:ext cx="2016224" cy="1323439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1999</a:t>
            </a:r>
            <a:r>
              <a:rPr lang="zh-CN" altLang="en-US" sz="2000" dirty="0"/>
              <a:t>年继续使用</a:t>
            </a:r>
            <a:r>
              <a:rPr lang="en-US" altLang="zh-CN" sz="2000" dirty="0"/>
              <a:t>COD</a:t>
            </a:r>
            <a:r>
              <a:rPr lang="zh-CN" altLang="en-US" sz="2000" dirty="0"/>
              <a:t>指标，加入锰法</a:t>
            </a:r>
            <a:r>
              <a:rPr lang="en-US" altLang="zh-CN" sz="2000" dirty="0"/>
              <a:t>COD</a:t>
            </a:r>
            <a:r>
              <a:rPr lang="zh-CN" altLang="en-US" sz="2000" dirty="0"/>
              <a:t>，继续不用</a:t>
            </a:r>
            <a:r>
              <a:rPr lang="en-US" altLang="zh-CN" sz="2000" dirty="0"/>
              <a:t>BOD</a:t>
            </a:r>
            <a:r>
              <a:rPr lang="zh-CN" altLang="en-US" sz="2000" dirty="0"/>
              <a:t>指标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56A2AE-AA22-4720-AFBF-D22D2C8A4020}"/>
              </a:ext>
            </a:extLst>
          </p:cNvPr>
          <p:cNvSpPr/>
          <p:nvPr/>
        </p:nvSpPr>
        <p:spPr>
          <a:xfrm>
            <a:off x="240928" y="4947096"/>
            <a:ext cx="5634372" cy="79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理解测量</a:t>
            </a:r>
            <a:r>
              <a:rPr lang="en-US" altLang="zh-CN" sz="2000" dirty="0">
                <a:solidFill>
                  <a:srgbClr val="C00000"/>
                </a:solidFill>
              </a:rPr>
              <a:t>COD</a:t>
            </a:r>
            <a:r>
              <a:rPr lang="zh-CN" altLang="en-US" sz="2000" dirty="0">
                <a:solidFill>
                  <a:srgbClr val="C00000"/>
                </a:solidFill>
              </a:rPr>
              <a:t>的目的及其与有机物之间的关系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理解</a:t>
            </a:r>
            <a:r>
              <a:rPr lang="en-US" altLang="zh-CN" sz="2000" dirty="0">
                <a:solidFill>
                  <a:srgbClr val="C00000"/>
                </a:solidFill>
              </a:rPr>
              <a:t>COD</a:t>
            </a:r>
            <a:r>
              <a:rPr lang="zh-CN" altLang="en-US" sz="2000" dirty="0">
                <a:solidFill>
                  <a:srgbClr val="C00000"/>
                </a:solidFill>
              </a:rPr>
              <a:t>与其它标定水体中有机物方法间的区别</a:t>
            </a:r>
            <a:endParaRPr lang="en-US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89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3" grpId="0" animBg="1"/>
      <p:bldP spid="18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75656" y="404664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568" y="1340768"/>
            <a:ext cx="74168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</a:rPr>
              <a:t>1.1 </a:t>
            </a:r>
            <a:r>
              <a:rPr lang="zh-CN" altLang="en-US" sz="2400" dirty="0">
                <a:latin typeface="+mn-ea"/>
              </a:rPr>
              <a:t>化学耗氧量的定义：</a:t>
            </a:r>
            <a:endParaRPr lang="en-US" altLang="zh-CN" sz="2400" dirty="0">
              <a:latin typeface="+mn-ea"/>
            </a:endParaRPr>
          </a:p>
          <a:p>
            <a:endParaRPr lang="zh-CN" altLang="en-US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5AD76E-6EE6-4A73-B3A3-5F928200B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765826"/>
            <a:ext cx="6598429" cy="10081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D3C4D98-444D-4952-B7F5-757552982817}"/>
              </a:ext>
            </a:extLst>
          </p:cNvPr>
          <p:cNvSpPr txBox="1"/>
          <p:nvPr/>
        </p:nvSpPr>
        <p:spPr>
          <a:xfrm>
            <a:off x="1331640" y="5064103"/>
            <a:ext cx="5184576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建立</a:t>
            </a:r>
            <a:r>
              <a:rPr lang="en-US" altLang="zh-CN" sz="2000" b="1" dirty="0">
                <a:solidFill>
                  <a:schemeClr val="bg1"/>
                </a:solidFill>
              </a:rPr>
              <a:t>COD</a:t>
            </a:r>
            <a:r>
              <a:rPr lang="zh-CN" altLang="en-US" sz="2000" b="1" dirty="0">
                <a:solidFill>
                  <a:schemeClr val="bg1"/>
                </a:solidFill>
              </a:rPr>
              <a:t>指标与水质关系的依据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F1CDA0-F152-4A30-806F-80B38352E568}"/>
              </a:ext>
            </a:extLst>
          </p:cNvPr>
          <p:cNvSpPr txBox="1"/>
          <p:nvPr/>
        </p:nvSpPr>
        <p:spPr>
          <a:xfrm>
            <a:off x="781936" y="2260909"/>
            <a:ext cx="7580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定义：</a:t>
            </a:r>
            <a:endParaRPr lang="en-US" altLang="zh-CN" sz="2400" dirty="0"/>
          </a:p>
          <a:p>
            <a:pPr lvl="1"/>
            <a:r>
              <a:rPr lang="zh-CN" altLang="en-US" sz="2400" dirty="0"/>
              <a:t>一定条件下，一升水中，有机物质被强氧化剂氧化过程中，所消耗氧化剂的量，以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表示（</a:t>
            </a:r>
            <a:r>
              <a:rPr lang="en-US" altLang="zh-CN" sz="2400" dirty="0"/>
              <a:t>mg/L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17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63816" y="404664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pic>
        <p:nvPicPr>
          <p:cNvPr id="1026" name="Picture 2" descr="E:\课程\课件\课程图片\有机物来源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27287"/>
            <a:ext cx="6840760" cy="2018419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102CA5C-CC17-4C85-B397-73E7A097C9FA}"/>
              </a:ext>
            </a:extLst>
          </p:cNvPr>
          <p:cNvSpPr txBox="1"/>
          <p:nvPr/>
        </p:nvSpPr>
        <p:spPr>
          <a:xfrm>
            <a:off x="395536" y="1364499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1. 2 </a:t>
            </a:r>
            <a:r>
              <a:rPr lang="zh-CN" altLang="en-US" sz="2400" dirty="0">
                <a:latin typeface="+mn-ea"/>
              </a:rPr>
              <a:t>水体中有机物的来源</a:t>
            </a:r>
            <a:endParaRPr lang="zh-CN" altLang="en-US" sz="28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9FA1DD-C32B-4EA2-B32E-03FEBB2C6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933056"/>
            <a:ext cx="7056784" cy="223370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BE1B851-C19D-4864-8563-41E230F73466}"/>
              </a:ext>
            </a:extLst>
          </p:cNvPr>
          <p:cNvSpPr txBox="1"/>
          <p:nvPr/>
        </p:nvSpPr>
        <p:spPr>
          <a:xfrm>
            <a:off x="4139952" y="1195221"/>
            <a:ext cx="4934604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不建议使用</a:t>
            </a:r>
            <a:r>
              <a:rPr lang="en-US" altLang="zh-CN" sz="2000" b="1" dirty="0">
                <a:solidFill>
                  <a:schemeClr val="bg1"/>
                </a:solidFill>
              </a:rPr>
              <a:t>COD</a:t>
            </a:r>
            <a:r>
              <a:rPr lang="zh-CN" altLang="en-US" sz="2000" b="1" dirty="0">
                <a:solidFill>
                  <a:schemeClr val="bg1"/>
                </a:solidFill>
              </a:rPr>
              <a:t>指标作为定义水质的依据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/>
              <a:t>理解测量</a:t>
            </a:r>
            <a:r>
              <a:rPr lang="en-US" altLang="zh-CN" sz="2400" dirty="0"/>
              <a:t>COD</a:t>
            </a:r>
            <a:r>
              <a:rPr lang="zh-CN" altLang="en-US" sz="2400" dirty="0"/>
              <a:t>的目的及其与有机物之间的关系</a:t>
            </a:r>
            <a:endParaRPr lang="en-US" altLang="zh-CN" sz="2400" dirty="0"/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测量化学耗氧量（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）是表征水体中有机物总量的一种方法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/>
              <a:t>理解</a:t>
            </a:r>
            <a:r>
              <a:rPr lang="en-US" altLang="zh-CN" sz="2400" dirty="0"/>
              <a:t>COD</a:t>
            </a:r>
            <a:r>
              <a:rPr lang="zh-CN" altLang="en-US" sz="2400" dirty="0"/>
              <a:t>与其它标定水体中有机物方法间的区别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了解海水中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的测量方法及注意事项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明确海水中测量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和其它水体中测量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的共性与差别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36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75656" y="476672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5536" y="1340768"/>
            <a:ext cx="8424936" cy="4968552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latin typeface="+mn-ea"/>
              </a:rPr>
              <a:t>2.1 </a:t>
            </a:r>
            <a:r>
              <a:rPr lang="zh-CN" altLang="en-US" dirty="0">
                <a:latin typeface="+mn-ea"/>
              </a:rPr>
              <a:t>有机物的测定方法</a:t>
            </a:r>
            <a:endParaRPr lang="en-US" altLang="zh-CN" dirty="0">
              <a:latin typeface="+mn-ea"/>
            </a:endParaRP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+mn-ea"/>
              </a:rPr>
              <a:t>水体中的有机物主要有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C</a:t>
            </a:r>
            <a:r>
              <a:rPr lang="zh-CN" altLang="en-US" dirty="0">
                <a:solidFill>
                  <a:schemeClr val="accent2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H</a:t>
            </a:r>
            <a:r>
              <a:rPr lang="zh-CN" altLang="en-US" dirty="0">
                <a:solidFill>
                  <a:schemeClr val="accent2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O</a:t>
            </a:r>
            <a:r>
              <a:rPr lang="zh-CN" altLang="en-US" dirty="0">
                <a:solidFill>
                  <a:schemeClr val="accent2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N</a:t>
            </a:r>
            <a:r>
              <a:rPr lang="zh-CN" altLang="en-US" dirty="0">
                <a:solidFill>
                  <a:schemeClr val="accent2"/>
                </a:solidFill>
                <a:latin typeface="+mn-ea"/>
              </a:rPr>
              <a:t>组分组成，以及少量的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P</a:t>
            </a:r>
            <a:r>
              <a:rPr lang="zh-CN" altLang="en-US" dirty="0">
                <a:solidFill>
                  <a:schemeClr val="accent2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chemeClr val="accent2"/>
                </a:solidFill>
                <a:latin typeface="+mn-lt"/>
              </a:rPr>
              <a:t>S</a:t>
            </a:r>
            <a:r>
              <a:rPr lang="zh-CN" altLang="en-US" dirty="0">
                <a:solidFill>
                  <a:schemeClr val="accent2"/>
                </a:solidFill>
                <a:latin typeface="+mn-ea"/>
              </a:rPr>
              <a:t>等。由于污染水中的有机物组成复杂，区分测定困难，因此，在污染标志参数中常常测量其总量。</a:t>
            </a:r>
            <a:endParaRPr lang="en-US" altLang="zh-CN" dirty="0">
              <a:solidFill>
                <a:schemeClr val="accent2"/>
              </a:solidFill>
              <a:latin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化学方法</a:t>
            </a:r>
            <a:endParaRPr lang="en-US" altLang="zh-CN" dirty="0">
              <a:latin typeface="+mn-ea"/>
            </a:endParaRPr>
          </a:p>
          <a:p>
            <a:pPr marL="1314450" lvl="2" indent="-457200">
              <a:buFont typeface="+mj-ea"/>
              <a:buAutoNum type="circleNumDbPlain"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元素分析：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  <a:p>
            <a:pPr marL="857250" lvl="2" indent="0">
              <a:buNone/>
            </a:pPr>
            <a:r>
              <a:rPr lang="zh-CN" altLang="en-US" sz="2400" dirty="0">
                <a:latin typeface="+mn-ea"/>
              </a:rPr>
              <a:t>   分析测定海水中总有机碳、有机氮、有机磷等。</a:t>
            </a:r>
            <a:endParaRPr lang="en-US" altLang="zh-CN" sz="2400" dirty="0">
              <a:latin typeface="+mn-ea"/>
            </a:endParaRPr>
          </a:p>
          <a:p>
            <a:pPr marL="1314450" lvl="2" indent="-457200">
              <a:buFont typeface="+mj-ea"/>
              <a:buAutoNum type="circleNumDbPlain" startAt="2"/>
            </a:pP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化学耗氧量（</a:t>
            </a:r>
            <a:r>
              <a:rPr lang="en-US" altLang="zh-CN" sz="2400" dirty="0">
                <a:solidFill>
                  <a:schemeClr val="accent2"/>
                </a:solidFill>
                <a:latin typeface="+mn-lt"/>
              </a:rPr>
              <a:t>COD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）：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  <a:p>
            <a:pPr marL="1314450" lvl="3" indent="0">
              <a:buNone/>
            </a:pPr>
            <a:r>
              <a:rPr lang="zh-CN" altLang="en-US" sz="2400" dirty="0">
                <a:latin typeface="+mn-ea"/>
              </a:rPr>
              <a:t>用强氧化剂氧化水体中的有机物，根据耗氧的多少间接判断有机物的多少</a:t>
            </a:r>
            <a:endParaRPr lang="en-US" altLang="zh-CN" sz="2400" dirty="0">
              <a:latin typeface="+mn-ea"/>
            </a:endParaRPr>
          </a:p>
          <a:p>
            <a:pPr marL="1314450" lvl="3" indent="0">
              <a:buNone/>
            </a:pPr>
            <a:r>
              <a:rPr lang="zh-CN" altLang="en-US" sz="2400" dirty="0">
                <a:latin typeface="+mn-ea"/>
              </a:rPr>
              <a:t>一般针对河口、近岸附近或者针对污水。</a:t>
            </a:r>
            <a:endParaRPr lang="en-US" altLang="zh-CN" sz="2400" dirty="0">
              <a:latin typeface="+mn-ea"/>
            </a:endParaRPr>
          </a:p>
          <a:p>
            <a:pPr marL="857250" lvl="2" indent="0">
              <a:buNone/>
            </a:pP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03648" y="435795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新魏" pitchFamily="2" charset="-122"/>
                <a:cs typeface="Times New Roman" panose="02020603050405020304" pitchFamily="18" charset="0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pic>
        <p:nvPicPr>
          <p:cNvPr id="3074" name="Picture 2" descr="E:\课程\课件\课程图片\COD两种化学试剂的选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41315"/>
            <a:ext cx="6696744" cy="2129655"/>
          </a:xfrm>
          <a:prstGeom prst="rect">
            <a:avLst/>
          </a:prstGeom>
          <a:noFill/>
        </p:spPr>
      </p:pic>
      <p:pic>
        <p:nvPicPr>
          <p:cNvPr id="3075" name="Picture 3" descr="E:\课程\课件\课程图片\高锰酸钾法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428284"/>
            <a:ext cx="7200800" cy="884918"/>
          </a:xfrm>
          <a:prstGeom prst="rect">
            <a:avLst/>
          </a:prstGeom>
          <a:noFill/>
        </p:spPr>
      </p:pic>
      <p:pic>
        <p:nvPicPr>
          <p:cNvPr id="3076" name="Picture 4" descr="E:\课程\课件\课程图片\重铬酸钾法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5311590"/>
            <a:ext cx="7200800" cy="1080992"/>
          </a:xfrm>
          <a:prstGeom prst="rect">
            <a:avLst/>
          </a:prstGeom>
          <a:noFill/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FD81CEF-9F93-493C-8DD0-5BCF40FBAD68}"/>
              </a:ext>
            </a:extLst>
          </p:cNvPr>
          <p:cNvSpPr txBox="1"/>
          <p:nvPr/>
        </p:nvSpPr>
        <p:spPr>
          <a:xfrm>
            <a:off x="539552" y="3889400"/>
            <a:ext cx="74168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化学耗氧量测量的注意事项：</a:t>
            </a:r>
            <a:endParaRPr lang="en-US" altLang="zh-CN" sz="2400" dirty="0">
              <a:latin typeface="+mn-ea"/>
            </a:endParaRPr>
          </a:p>
          <a:p>
            <a:endParaRPr lang="zh-CN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DE748-E102-4485-8ECB-2CE0F8421C62}"/>
              </a:ext>
            </a:extLst>
          </p:cNvPr>
          <p:cNvSpPr txBox="1"/>
          <p:nvPr/>
        </p:nvSpPr>
        <p:spPr>
          <a:xfrm>
            <a:off x="418430" y="1295039"/>
            <a:ext cx="74168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化学耗氧量</a:t>
            </a:r>
            <a:r>
              <a:rPr lang="en-US" altLang="zh-CN" sz="2400" dirty="0">
                <a:latin typeface="+mj-lt"/>
              </a:rPr>
              <a:t>COD</a:t>
            </a:r>
            <a:r>
              <a:rPr lang="zh-CN" altLang="en-US" sz="2400" dirty="0">
                <a:latin typeface="+mn-ea"/>
              </a:rPr>
              <a:t>测量中的重铬酸钾法和高锰酸钾法：</a:t>
            </a:r>
            <a:endParaRPr lang="en-US" altLang="zh-CN" sz="2400" dirty="0">
              <a:latin typeface="+mn-ea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952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763688" y="477517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5536" y="1412776"/>
            <a:ext cx="8568952" cy="50035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2.1 </a:t>
            </a:r>
            <a:r>
              <a:rPr lang="zh-CN" altLang="en-US" sz="2400" dirty="0">
                <a:latin typeface="+mn-ea"/>
              </a:rPr>
              <a:t>有机物的测定方法</a:t>
            </a:r>
            <a:endParaRPr lang="en-US" altLang="zh-CN" sz="2400" dirty="0">
              <a:latin typeface="+mn-ea"/>
            </a:endParaRPr>
          </a:p>
          <a:p>
            <a:pPr marL="914400" lvl="1" indent="-457200">
              <a:lnSpc>
                <a:spcPct val="120000"/>
              </a:lnSpc>
              <a:buFont typeface="+mj-ea"/>
              <a:buAutoNum type="circleNumDbPlain" startAt="3"/>
            </a:pPr>
            <a:r>
              <a:rPr lang="zh-CN" altLang="en-US" dirty="0">
                <a:latin typeface="+mn-ea"/>
              </a:rPr>
              <a:t>生物化学方法</a:t>
            </a:r>
            <a:endParaRPr lang="en-US" altLang="zh-CN" dirty="0">
              <a:latin typeface="+mn-ea"/>
            </a:endParaRPr>
          </a:p>
          <a:p>
            <a:pPr marL="72000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+mn-ea"/>
              </a:rPr>
              <a:t>生化需氧量（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Biochemical Oxygen Demand</a:t>
            </a:r>
            <a:r>
              <a:rPr lang="zh-CN" altLang="en-US" sz="2000" dirty="0">
                <a:latin typeface="+mn-ea"/>
              </a:rPr>
              <a:t>生化需氧量）</a:t>
            </a:r>
            <a:endParaRPr lang="en-US" altLang="zh-CN" sz="2000" dirty="0">
              <a:latin typeface="+mn-ea"/>
            </a:endParaRPr>
          </a:p>
          <a:p>
            <a:pPr marL="72000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+mn-ea"/>
              </a:rPr>
              <a:t>水体中有机物，在微生物作用下，转化为无机盐过程所消耗的氧。根据耗氧的多少，间接判断可被生物降解的有机物含量</a:t>
            </a:r>
            <a:endParaRPr lang="en-US" altLang="zh-CN" sz="2000" dirty="0">
              <a:latin typeface="+mn-ea"/>
            </a:endParaRPr>
          </a:p>
          <a:p>
            <a:pPr marL="72000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+mn-ea"/>
              </a:rPr>
              <a:t>水中有机物质的分解是分两个阶段进行的。第一阶段为碳氧化阶段，第二阶段为硝化阶段，碳氧化阶段所消耗的氧化量称为碳化生化需氧量（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</a:t>
            </a:r>
            <a:r>
              <a:rPr lang="zh-CN" altLang="en-US" sz="2000" dirty="0">
                <a:latin typeface="+mn-ea"/>
              </a:rPr>
              <a:t>）</a:t>
            </a:r>
            <a:endParaRPr lang="en-US" altLang="zh-CN" sz="2000" dirty="0">
              <a:latin typeface="+mn-ea"/>
            </a:endParaRPr>
          </a:p>
          <a:p>
            <a:pPr marL="720000"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 dirty="0">
                <a:latin typeface="+mn-ea"/>
              </a:rPr>
              <a:t>对于一般的生活污水有机废水，硝化过程在</a:t>
            </a:r>
            <a:r>
              <a:rPr lang="en-US" altLang="zh-CN" sz="2000" dirty="0">
                <a:latin typeface="+mn-ea"/>
              </a:rPr>
              <a:t>5-7</a:t>
            </a:r>
            <a:r>
              <a:rPr lang="zh-CN" altLang="en-US" sz="2000" dirty="0">
                <a:latin typeface="+mn-ea"/>
              </a:rPr>
              <a:t>天以后才能显著展开，五日生化需氧量（</a:t>
            </a:r>
            <a:r>
              <a:rPr lang="en-US" altLang="zh-CN" sz="2000" dirty="0">
                <a:latin typeface="+mn-lt"/>
              </a:rPr>
              <a:t>BOD5</a:t>
            </a:r>
            <a:r>
              <a:rPr lang="zh-CN" altLang="en-US" sz="2000" dirty="0">
                <a:latin typeface="+mn-ea"/>
              </a:rPr>
              <a:t>）</a:t>
            </a:r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是比较常用的一种指标</a:t>
            </a:r>
            <a:endParaRPr lang="en-US" altLang="zh-CN" sz="2000" dirty="0">
              <a:latin typeface="+mn-ea"/>
            </a:endParaRPr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665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03648" y="402936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FD81CEF-9F93-493C-8DD0-5BCF40FBAD68}"/>
              </a:ext>
            </a:extLst>
          </p:cNvPr>
          <p:cNvSpPr txBox="1"/>
          <p:nvPr/>
        </p:nvSpPr>
        <p:spPr>
          <a:xfrm>
            <a:off x="575556" y="1544798"/>
            <a:ext cx="741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2.2 </a:t>
            </a:r>
            <a:r>
              <a:rPr lang="zh-CN" altLang="en-US" sz="2800" dirty="0">
                <a:latin typeface="+mn-ea"/>
              </a:rPr>
              <a:t>化学耗氧量测量的注意事项：</a:t>
            </a:r>
            <a:endParaRPr lang="en-US" altLang="zh-CN" sz="2800" dirty="0">
              <a:latin typeface="+mn-ea"/>
            </a:endParaRPr>
          </a:p>
          <a:p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29A731-3FC2-4A87-8A89-6F73112BBCBC}"/>
              </a:ext>
            </a:extLst>
          </p:cNvPr>
          <p:cNvSpPr txBox="1"/>
          <p:nvPr/>
        </p:nvSpPr>
        <p:spPr>
          <a:xfrm>
            <a:off x="755576" y="2204864"/>
            <a:ext cx="7311275" cy="2897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了解有机物含量的相对比值时，宜采用操作简便而重现性好的方法</a:t>
            </a:r>
            <a:endParaRPr lang="en-US" altLang="zh-CN" sz="2200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表示有机物总量时，必须选择强氧化条件</a:t>
            </a:r>
            <a:endParaRPr lang="en-US" altLang="zh-CN" sz="2200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含有悬浮有机物水样定量时，必须选择强的氧化条件</a:t>
            </a:r>
            <a:endParaRPr lang="en-US" altLang="zh-CN" sz="2200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/>
              <a:t>化学耗氧量的测量值还取决于氧化剂的浓度、介质的酸碱度、氧化温度和时间等。因此，分析水样时，必须严格控制相同的实验条件，才有比较的价值。</a:t>
            </a:r>
          </a:p>
        </p:txBody>
      </p:sp>
    </p:spTree>
    <p:extLst>
      <p:ext uri="{BB962C8B-B14F-4D97-AF65-F5344CB8AC3E}">
        <p14:creationId xmlns:p14="http://schemas.microsoft.com/office/powerpoint/2010/main" val="81446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84784"/>
            <a:ext cx="8435280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200" dirty="0"/>
              <a:t>理解测量</a:t>
            </a:r>
            <a:r>
              <a:rPr lang="en-US" altLang="zh-CN" sz="2200" dirty="0"/>
              <a:t>COD</a:t>
            </a:r>
            <a:r>
              <a:rPr lang="zh-CN" altLang="en-US" sz="2200" dirty="0"/>
              <a:t>的目的及其与有机物之间的关系</a:t>
            </a:r>
            <a:endParaRPr lang="en-US" altLang="zh-CN" sz="2200" dirty="0"/>
          </a:p>
          <a:p>
            <a:pPr marL="400050" lvl="1" indent="0">
              <a:lnSpc>
                <a:spcPct val="120000"/>
              </a:lnSpc>
              <a:buNone/>
            </a:pPr>
            <a:r>
              <a:rPr lang="zh-CN" altLang="en-US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测量化学耗氧量（</a:t>
            </a:r>
            <a:r>
              <a:rPr lang="en-US" altLang="zh-CN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）是表征水体中有机物总量的一种方法</a:t>
            </a:r>
            <a:endParaRPr lang="en-US" altLang="zh-CN" sz="2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200" dirty="0"/>
              <a:t>理解</a:t>
            </a:r>
            <a:r>
              <a:rPr lang="en-US" altLang="zh-CN" sz="2200" dirty="0"/>
              <a:t>COD</a:t>
            </a:r>
            <a:r>
              <a:rPr lang="zh-CN" altLang="en-US" sz="2200" dirty="0"/>
              <a:t>与其它标定水体中有机物方法间的区别</a:t>
            </a:r>
            <a:endParaRPr lang="en-US" altLang="zh-CN" sz="2200" dirty="0"/>
          </a:p>
          <a:p>
            <a:pPr marL="400050" lvl="1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是最快捷方便的一种定性标定水体中有机物的方法，测量值与测量水体、检测方法及实验条件有密切联系。</a:t>
            </a:r>
            <a:endParaRPr lang="en-US" altLang="zh-CN" sz="2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了解海水中</a:t>
            </a:r>
            <a:r>
              <a:rPr lang="en-US" altLang="zh-CN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的测量方法及注意事项</a:t>
            </a:r>
            <a:endParaRPr lang="en-US" altLang="zh-CN" sz="2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明确海水中测量</a:t>
            </a:r>
            <a:r>
              <a:rPr lang="en-US" altLang="zh-CN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和其它水体中测量</a:t>
            </a:r>
            <a:r>
              <a:rPr lang="en-US" altLang="zh-CN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的共性与差别</a:t>
            </a:r>
            <a:endParaRPr lang="en-US" altLang="zh-CN" sz="2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046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理解测量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的目的及其与有机物之间的关系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理解</a:t>
            </a:r>
            <a:r>
              <a:rPr lang="en-US" altLang="zh-CN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COD</a:t>
            </a:r>
            <a:r>
              <a:rPr lang="zh-CN" alt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与其它标定水体中有机物方法间的区别</a:t>
            </a:r>
            <a:endParaRPr lang="en-US" altLang="zh-CN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/>
              <a:t>了解海水中</a:t>
            </a:r>
            <a:r>
              <a:rPr lang="en-US" altLang="zh-CN" sz="2400" dirty="0"/>
              <a:t>COD</a:t>
            </a:r>
            <a:r>
              <a:rPr lang="zh-CN" altLang="en-US" sz="2400" dirty="0"/>
              <a:t>的测量方法及注意事项</a:t>
            </a:r>
            <a:endParaRPr lang="en-US" altLang="zh-CN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400" dirty="0"/>
              <a:t>明确海水中测量</a:t>
            </a:r>
            <a:r>
              <a:rPr lang="en-US" altLang="zh-CN" sz="2400" dirty="0"/>
              <a:t>COD</a:t>
            </a:r>
            <a:r>
              <a:rPr lang="zh-CN" altLang="en-US" sz="2400" dirty="0"/>
              <a:t>和其它水体中测量</a:t>
            </a:r>
            <a:r>
              <a:rPr lang="en-US" altLang="zh-CN" sz="2400" dirty="0"/>
              <a:t>COD</a:t>
            </a:r>
            <a:r>
              <a:rPr lang="zh-CN" altLang="en-US" sz="2400" dirty="0"/>
              <a:t>的共性与差别</a:t>
            </a:r>
            <a:endParaRPr lang="en-US" altLang="zh-CN" sz="2400" dirty="0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057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 txBox="1">
            <a:spLocks noGrp="1"/>
          </p:cNvSpPr>
          <p:nvPr>
            <p:ph type="title"/>
          </p:nvPr>
        </p:nvSpPr>
        <p:spPr>
          <a:xfrm>
            <a:off x="395536" y="404664"/>
            <a:ext cx="71151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543B6DA-9C29-4D33-911B-BA6C2947D6BD}"/>
              </a:ext>
            </a:extLst>
          </p:cNvPr>
          <p:cNvSpPr txBox="1"/>
          <p:nvPr/>
        </p:nvSpPr>
        <p:spPr>
          <a:xfrm>
            <a:off x="370444" y="1372640"/>
            <a:ext cx="7416824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+mn-ea"/>
              </a:rPr>
              <a:t>3.1 </a:t>
            </a:r>
            <a:r>
              <a:rPr lang="zh-CN" altLang="en-US" sz="2400" dirty="0">
                <a:latin typeface="+mn-ea"/>
              </a:rPr>
              <a:t>测量海水中</a:t>
            </a:r>
            <a:r>
              <a:rPr lang="en-US" altLang="zh-CN" sz="2400" dirty="0"/>
              <a:t>COD</a:t>
            </a:r>
            <a:r>
              <a:rPr lang="zh-CN" altLang="en-US" sz="2400" dirty="0">
                <a:latin typeface="+mn-ea"/>
              </a:rPr>
              <a:t>只能采用碱性高锰酸钾法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+mn-ea"/>
              </a:rPr>
              <a:t>三种氧化剂的差别：</a:t>
            </a:r>
            <a:endParaRPr lang="en-US" altLang="zh-CN" sz="2400" dirty="0">
              <a:latin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重铬酸钾</a:t>
            </a:r>
            <a:endParaRPr lang="en-US" altLang="zh-CN" sz="2400" dirty="0">
              <a:latin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酸性高锰酸钾</a:t>
            </a:r>
            <a:endParaRPr lang="en-US" altLang="zh-CN" sz="2400" dirty="0">
              <a:latin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碱性高锰酸钾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20000"/>
              </a:lnSpc>
            </a:pPr>
            <a:endParaRPr lang="zh-CN" altLang="en-US" sz="24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1838D76-783B-4FB7-B3A7-EBF366E9B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8" y="3717032"/>
            <a:ext cx="7056430" cy="2298523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54DF406E-FD44-4B00-B212-F820F54931B3}"/>
              </a:ext>
            </a:extLst>
          </p:cNvPr>
          <p:cNvSpPr txBox="1"/>
          <p:nvPr/>
        </p:nvSpPr>
        <p:spPr>
          <a:xfrm>
            <a:off x="6358604" y="2879100"/>
            <a:ext cx="2304256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为什么海水只能用碱性高锰酸钾法？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E:\课程\海水分析化学 本科\课件\课程图片\酸性高猛酸碱法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9" y="4685536"/>
            <a:ext cx="4824536" cy="578143"/>
          </a:xfrm>
          <a:prstGeom prst="rect">
            <a:avLst/>
          </a:prstGeom>
          <a:noFill/>
        </p:spPr>
      </p:pic>
      <p:pic>
        <p:nvPicPr>
          <p:cNvPr id="3074" name="Picture 2" descr="E:\课程\海水分析化学 本科\课件\课程图片\重铬酸钾法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7" y="5554447"/>
            <a:ext cx="6984776" cy="1038170"/>
          </a:xfrm>
          <a:prstGeom prst="rect">
            <a:avLst/>
          </a:prstGeom>
          <a:noFill/>
        </p:spPr>
      </p:pic>
      <p:sp>
        <p:nvSpPr>
          <p:cNvPr id="5" name="标题 4"/>
          <p:cNvSpPr txBox="1">
            <a:spLocks noGrp="1"/>
          </p:cNvSpPr>
          <p:nvPr>
            <p:ph type="title"/>
          </p:nvPr>
        </p:nvSpPr>
        <p:spPr>
          <a:xfrm>
            <a:off x="1373231" y="305295"/>
            <a:ext cx="7770769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/>
          <a:lstStyle/>
          <a:p>
            <a:r>
              <a:rPr lang="zh-CN" altLang="en-US" dirty="0"/>
              <a:t>碱性介质</a:t>
            </a:r>
            <a:endParaRPr lang="en-US" altLang="zh-CN" dirty="0"/>
          </a:p>
          <a:p>
            <a:pPr lvl="1"/>
            <a:r>
              <a:rPr lang="zh-CN" altLang="en-US" dirty="0"/>
              <a:t>碱性高锰酸钾法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酸性介质</a:t>
            </a:r>
            <a:endParaRPr lang="en-US" altLang="zh-CN" dirty="0"/>
          </a:p>
          <a:p>
            <a:pPr lvl="1"/>
            <a:r>
              <a:rPr lang="zh-CN" altLang="en-US" dirty="0"/>
              <a:t>酸性高锰酸钾法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重铬酸法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Picture 2" descr="E:\课程\课件\课程图片\高锰酸钾氧化有机物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395" y="2418423"/>
            <a:ext cx="7848872" cy="138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9512" y="1305819"/>
            <a:ext cx="2800767" cy="936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3.2 </a:t>
            </a:r>
            <a:r>
              <a:rPr lang="zh-CN" altLang="en-US" sz="2400" dirty="0"/>
              <a:t>碱性高锰酸钾法</a:t>
            </a:r>
            <a:endParaRPr lang="en-US" altLang="zh-CN" sz="2400" dirty="0"/>
          </a:p>
          <a:p>
            <a:pPr marL="914400" lvl="1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altLang="zh-CN" sz="2400" dirty="0"/>
              <a:t> </a:t>
            </a:r>
            <a:r>
              <a:rPr lang="zh-CN" altLang="en-US" sz="2400" dirty="0"/>
              <a:t>原理</a:t>
            </a:r>
          </a:p>
        </p:txBody>
      </p:sp>
      <p:pic>
        <p:nvPicPr>
          <p:cNvPr id="4098" name="Picture 2" descr="E:\课程\课件\课程图片\高锰酸钾氧化有机物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181" y="2255499"/>
            <a:ext cx="7770770" cy="1344941"/>
          </a:xfrm>
          <a:prstGeom prst="rect">
            <a:avLst/>
          </a:prstGeom>
          <a:noFill/>
        </p:spPr>
      </p:pic>
      <p:pic>
        <p:nvPicPr>
          <p:cNvPr id="4099" name="Picture 3" descr="E:\课程\课件\课程图片\多余高锰酸钾和二氧化锰被滴定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108" y="4483560"/>
            <a:ext cx="8153784" cy="799215"/>
          </a:xfrm>
          <a:prstGeom prst="rect">
            <a:avLst/>
          </a:prstGeom>
          <a:noFill/>
        </p:spPr>
      </p:pic>
      <p:pic>
        <p:nvPicPr>
          <p:cNvPr id="4100" name="Picture 4" descr="E:\课程\课件\课程图片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6988" y="3526425"/>
            <a:ext cx="7677420" cy="856973"/>
          </a:xfrm>
          <a:prstGeom prst="rect">
            <a:avLst/>
          </a:prstGeom>
          <a:noFill/>
        </p:spPr>
      </p:pic>
      <p:pic>
        <p:nvPicPr>
          <p:cNvPr id="4101" name="Picture 5" descr="E:\课程\课件\课程图片\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485676"/>
            <a:ext cx="6336705" cy="982233"/>
          </a:xfrm>
          <a:prstGeom prst="rect">
            <a:avLst/>
          </a:prstGeom>
          <a:noFill/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379B8517-8118-4F78-B008-19DA6F66E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3231" y="305295"/>
            <a:ext cx="7770769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课程\海水分析化学 本科\课件\课程图片\碱性高锰酸钾法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331" y="1916832"/>
            <a:ext cx="7776864" cy="3566472"/>
          </a:xfrm>
          <a:prstGeom prst="rect">
            <a:avLst/>
          </a:prstGeom>
          <a:noFill/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9E999015-756A-4D24-B0E2-6315F9DAF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3325" y="272798"/>
            <a:ext cx="7447241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AE9F3-9FBA-47CA-A702-B730DF518C5F}"/>
              </a:ext>
            </a:extLst>
          </p:cNvPr>
          <p:cNvSpPr txBox="1"/>
          <p:nvPr/>
        </p:nvSpPr>
        <p:spPr>
          <a:xfrm>
            <a:off x="300331" y="1844824"/>
            <a:ext cx="193514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zh-CN" altLang="en-US" sz="2400" dirty="0"/>
              <a:t>测定方法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A78250C-43BD-416A-AC27-6DDDFE1C2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" y="1556792"/>
            <a:ext cx="8983367" cy="4027026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9E999015-756A-4D24-B0E2-6315F9DAF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3325" y="272798"/>
            <a:ext cx="7447241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AE9F3-9FBA-47CA-A702-B730DF518C5F}"/>
              </a:ext>
            </a:extLst>
          </p:cNvPr>
          <p:cNvSpPr txBox="1"/>
          <p:nvPr/>
        </p:nvSpPr>
        <p:spPr>
          <a:xfrm>
            <a:off x="395752" y="1366587"/>
            <a:ext cx="193514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zh-CN" altLang="en-US" sz="2400" dirty="0"/>
              <a:t>测定方法</a:t>
            </a:r>
          </a:p>
        </p:txBody>
      </p:sp>
    </p:spTree>
    <p:extLst>
      <p:ext uri="{BB962C8B-B14F-4D97-AF65-F5344CB8AC3E}">
        <p14:creationId xmlns:p14="http://schemas.microsoft.com/office/powerpoint/2010/main" val="1317208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17257" y="1921356"/>
            <a:ext cx="7509485" cy="1456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取同体积的重蒸馏水，按相应的步骤，相同用量，获得样品消耗硫代硫酸钠的体积</a:t>
            </a:r>
            <a:endParaRPr lang="en-US" altLang="zh-CN" sz="24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按照以下公式计算</a:t>
            </a:r>
            <a:endParaRPr lang="en-US" altLang="zh-CN" sz="2400" dirty="0"/>
          </a:p>
        </p:txBody>
      </p:sp>
      <p:pic>
        <p:nvPicPr>
          <p:cNvPr id="5122" name="Picture 2" descr="E:\课程\课件\课程图片\COD计算公式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1509" y="3870096"/>
            <a:ext cx="7240982" cy="1339967"/>
          </a:xfrm>
          <a:prstGeom prst="rect">
            <a:avLst/>
          </a:prstGeom>
          <a:noFill/>
        </p:spPr>
      </p:pic>
      <p:sp>
        <p:nvSpPr>
          <p:cNvPr id="9" name="标题 4">
            <a:extLst>
              <a:ext uri="{FF2B5EF4-FFF2-40B4-BE49-F238E27FC236}">
                <a16:creationId xmlns:a16="http://schemas.microsoft.com/office/drawing/2014/main" id="{C28409A1-DC06-4318-B54C-029B7EC27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1640" y="351887"/>
            <a:ext cx="7770769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</p:spTree>
    <p:extLst>
      <p:ext uri="{BB962C8B-B14F-4D97-AF65-F5344CB8AC3E}">
        <p14:creationId xmlns:p14="http://schemas.microsoft.com/office/powerpoint/2010/main" val="89682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63D305-E91B-4F02-968D-7D0B74B60B12}"/>
              </a:ext>
            </a:extLst>
          </p:cNvPr>
          <p:cNvSpPr txBox="1"/>
          <p:nvPr/>
        </p:nvSpPr>
        <p:spPr>
          <a:xfrm>
            <a:off x="683568" y="1556792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ea"/>
              <a:buAutoNum type="circleNumDbPlain" startAt="3"/>
            </a:pPr>
            <a:r>
              <a:rPr lang="zh-CN" altLang="en-US" sz="2800" dirty="0"/>
              <a:t>注意事项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06B35C-26D2-45F0-AE13-D001C10B5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31284"/>
            <a:ext cx="7848873" cy="306992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63ACEF8-2CA2-48B4-9C87-3B009F8C2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3231" y="305295"/>
            <a:ext cx="7770769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海水中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b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   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碱性高锰酸钾法  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75656" y="332656"/>
            <a:ext cx="5904656" cy="1015663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5"/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酸性高锰酸钾法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528" y="1429479"/>
            <a:ext cx="2800767" cy="1013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dirty="0"/>
              <a:t>3.3 </a:t>
            </a:r>
            <a:r>
              <a:rPr lang="zh-CN" altLang="en-US" sz="2400" dirty="0"/>
              <a:t>酸性高锰酸钾法</a:t>
            </a:r>
            <a:endParaRPr lang="en-US" altLang="zh-CN" sz="2400" dirty="0"/>
          </a:p>
          <a:p>
            <a:pPr marL="889200" lvl="1" indent="-457200">
              <a:lnSpc>
                <a:spcPct val="12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400" dirty="0"/>
              <a:t>原理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39E07AF3-343A-4C6D-95C7-889DDAE9EA75}"/>
              </a:ext>
            </a:extLst>
          </p:cNvPr>
          <p:cNvSpPr txBox="1"/>
          <p:nvPr/>
        </p:nvSpPr>
        <p:spPr>
          <a:xfrm>
            <a:off x="921602" y="2442770"/>
            <a:ext cx="7509485" cy="3614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酸性条件下，加入已知定量</a:t>
            </a:r>
            <a:r>
              <a:rPr lang="en-US" altLang="zh-CN" sz="2400" dirty="0"/>
              <a:t>KMnO</a:t>
            </a:r>
            <a:r>
              <a:rPr lang="en-US" altLang="zh-CN" sz="2400" baseline="-25000" dirty="0"/>
              <a:t>4</a:t>
            </a:r>
            <a:r>
              <a:rPr lang="zh-CN" altLang="en-US" sz="2400" dirty="0"/>
              <a:t>溶液，准确煮沸</a:t>
            </a:r>
            <a:r>
              <a:rPr lang="en-US" altLang="zh-CN" sz="2400" dirty="0"/>
              <a:t>10 min</a:t>
            </a:r>
            <a:r>
              <a:rPr lang="zh-CN" altLang="en-US" sz="2400" dirty="0"/>
              <a:t>，氧化水样中的有机物：</a:t>
            </a:r>
            <a:endParaRPr lang="en-US" altLang="zh-CN" sz="24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加入过量草酸钠</a:t>
            </a:r>
            <a:r>
              <a:rPr lang="en-US" altLang="zh-CN" sz="2400" dirty="0"/>
              <a:t>Na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4</a:t>
            </a:r>
            <a:r>
              <a:rPr lang="zh-CN" altLang="en-US" sz="2400" dirty="0"/>
              <a:t>溶液，还原剩余的</a:t>
            </a:r>
            <a:r>
              <a:rPr lang="en-US" altLang="zh-CN" sz="2400" dirty="0"/>
              <a:t>KMnO</a:t>
            </a:r>
            <a:r>
              <a:rPr lang="en-US" altLang="zh-CN" sz="2400" baseline="-25000" dirty="0"/>
              <a:t>4</a:t>
            </a: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aseline="-250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aseline="-250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aseline="-25000" dirty="0"/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用</a:t>
            </a:r>
            <a:r>
              <a:rPr lang="en-US" altLang="zh-CN" sz="2400" dirty="0"/>
              <a:t>KMnO</a:t>
            </a:r>
            <a:r>
              <a:rPr lang="en-US" altLang="zh-CN" sz="2400" baseline="-25000" dirty="0"/>
              <a:t>4</a:t>
            </a:r>
            <a:r>
              <a:rPr lang="zh-CN" altLang="en-US" sz="2400" dirty="0"/>
              <a:t>溶液滴定过量的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4</a:t>
            </a:r>
            <a:r>
              <a:rPr lang="en-US" altLang="zh-CN" sz="2400" baseline="30000" dirty="0"/>
              <a:t>2-</a:t>
            </a:r>
            <a:r>
              <a:rPr lang="zh-CN" altLang="en-US" sz="2400" dirty="0"/>
              <a:t>，计算</a:t>
            </a:r>
            <a:r>
              <a:rPr lang="en-US" altLang="zh-CN" sz="2400" dirty="0"/>
              <a:t>COD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058259-A1AA-4ABC-B328-25B2CC3B4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451168"/>
            <a:ext cx="5184576" cy="5470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D6A055C-833D-4F23-89FC-782EC467C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604791"/>
            <a:ext cx="7099447" cy="8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>
            <a:extLst>
              <a:ext uri="{FF2B5EF4-FFF2-40B4-BE49-F238E27FC236}">
                <a16:creationId xmlns:a16="http://schemas.microsoft.com/office/drawing/2014/main" id="{CA794127-2A8F-4509-AC31-185F638CF514}"/>
              </a:ext>
            </a:extLst>
          </p:cNvPr>
          <p:cNvSpPr txBox="1"/>
          <p:nvPr/>
        </p:nvSpPr>
        <p:spPr>
          <a:xfrm>
            <a:off x="1475656" y="332656"/>
            <a:ext cx="5904656" cy="1015663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5"/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酸性高锰酸钾法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080FBC0-09E2-4012-AD99-C5D42F96DAFD}"/>
              </a:ext>
            </a:extLst>
          </p:cNvPr>
          <p:cNvSpPr txBox="1"/>
          <p:nvPr/>
        </p:nvSpPr>
        <p:spPr>
          <a:xfrm>
            <a:off x="755576" y="1435000"/>
            <a:ext cx="2140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zh-CN" altLang="en-US" sz="2800" dirty="0"/>
              <a:t>测定方法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6084D2-6AAD-4A92-9015-AF2944250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044901"/>
            <a:ext cx="7173298" cy="38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77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4">
            <a:extLst>
              <a:ext uri="{FF2B5EF4-FFF2-40B4-BE49-F238E27FC236}">
                <a16:creationId xmlns:a16="http://schemas.microsoft.com/office/drawing/2014/main" id="{E93E1773-CD5F-40FE-BBE3-91E6EBDA0517}"/>
              </a:ext>
            </a:extLst>
          </p:cNvPr>
          <p:cNvSpPr txBox="1"/>
          <p:nvPr/>
        </p:nvSpPr>
        <p:spPr>
          <a:xfrm>
            <a:off x="1475656" y="332656"/>
            <a:ext cx="5904656" cy="1015663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5"/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酸性高锰酸钾法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944BE-0BD7-418E-BD59-64D352B2F076}"/>
              </a:ext>
            </a:extLst>
          </p:cNvPr>
          <p:cNvSpPr txBox="1"/>
          <p:nvPr/>
        </p:nvSpPr>
        <p:spPr>
          <a:xfrm>
            <a:off x="683568" y="3735903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3"/>
            </a:pPr>
            <a:r>
              <a:rPr lang="zh-CN" altLang="en-US" sz="2800" dirty="0"/>
              <a:t>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684E3F-08B6-488F-AD8A-974145B7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08061"/>
            <a:ext cx="7632848" cy="22278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60B7D2-15E8-4149-B304-72EDE172B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250198"/>
            <a:ext cx="8772596" cy="164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01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>
            <a:extLst>
              <a:ext uri="{FF2B5EF4-FFF2-40B4-BE49-F238E27FC236}">
                <a16:creationId xmlns:a16="http://schemas.microsoft.com/office/drawing/2014/main" id="{28B013B7-6388-4470-8D49-04D904888BC0}"/>
              </a:ext>
            </a:extLst>
          </p:cNvPr>
          <p:cNvSpPr txBox="1"/>
          <p:nvPr/>
        </p:nvSpPr>
        <p:spPr>
          <a:xfrm>
            <a:off x="1475656" y="332656"/>
            <a:ext cx="5904656" cy="1015663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5"/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酸性高锰酸钾法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CE339D4-BE09-419E-9888-0614BD3855E9}"/>
              </a:ext>
            </a:extLst>
          </p:cNvPr>
          <p:cNvSpPr txBox="1"/>
          <p:nvPr/>
        </p:nvSpPr>
        <p:spPr>
          <a:xfrm>
            <a:off x="1115616" y="1556792"/>
            <a:ext cx="2140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4"/>
            </a:pPr>
            <a:r>
              <a:rPr lang="zh-CN" altLang="en-US" sz="2800" dirty="0"/>
              <a:t>注意事项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4CE9D4-8283-474A-B34F-90390455E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204864"/>
            <a:ext cx="6902983" cy="315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85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课程\海水分析化学 本科\课件\课程图片\重铬酸钾法原理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276872"/>
            <a:ext cx="7920880" cy="4110177"/>
          </a:xfrm>
          <a:prstGeom prst="rect">
            <a:avLst/>
          </a:prstGeom>
          <a:noFill/>
        </p:spPr>
      </p:pic>
      <p:sp>
        <p:nvSpPr>
          <p:cNvPr id="25" name="TextBox 24"/>
          <p:cNvSpPr txBox="1"/>
          <p:nvPr/>
        </p:nvSpPr>
        <p:spPr>
          <a:xfrm>
            <a:off x="1763688" y="263550"/>
            <a:ext cx="6048672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6"/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重铬酸钾法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1556792"/>
            <a:ext cx="2185214" cy="936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3.4 </a:t>
            </a:r>
            <a:r>
              <a:rPr lang="zh-CN" altLang="en-US" sz="2400" dirty="0"/>
              <a:t>重铬酸钾法</a:t>
            </a:r>
            <a:endParaRPr lang="en-US" altLang="zh-CN" sz="2400" dirty="0"/>
          </a:p>
          <a:p>
            <a:pPr marL="914400" lvl="1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altLang="zh-CN" sz="2400" dirty="0"/>
              <a:t>  </a:t>
            </a:r>
            <a:r>
              <a:rPr lang="zh-CN" altLang="en-US" sz="2400" dirty="0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7D319B-1F38-4C39-814B-252A80F85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556792"/>
            <a:ext cx="8953500" cy="19240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225FC0-0F6C-4941-A5A8-50F4F1188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789040"/>
            <a:ext cx="7704856" cy="2057845"/>
          </a:xfrm>
          <a:prstGeom prst="rect">
            <a:avLst/>
          </a:prstGeom>
        </p:spPr>
      </p:pic>
      <p:sp>
        <p:nvSpPr>
          <p:cNvPr id="6" name="TextBox 24">
            <a:extLst>
              <a:ext uri="{FF2B5EF4-FFF2-40B4-BE49-F238E27FC236}">
                <a16:creationId xmlns:a16="http://schemas.microsoft.com/office/drawing/2014/main" id="{D86F96C0-08DA-42AE-AFEB-B964AE16F35F}"/>
              </a:ext>
            </a:extLst>
          </p:cNvPr>
          <p:cNvSpPr txBox="1"/>
          <p:nvPr/>
        </p:nvSpPr>
        <p:spPr>
          <a:xfrm>
            <a:off x="1763688" y="263550"/>
            <a:ext cx="6048672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6"/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重铬酸钾法</a:t>
            </a:r>
          </a:p>
        </p:txBody>
      </p:sp>
    </p:spTree>
    <p:extLst>
      <p:ext uri="{BB962C8B-B14F-4D97-AF65-F5344CB8AC3E}">
        <p14:creationId xmlns:p14="http://schemas.microsoft.com/office/powerpoint/2010/main" val="1820317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课程\海水分析化学 本科\课件\课程图片\重铬酸钾法图示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988840"/>
            <a:ext cx="7560840" cy="458000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13767" y="1340768"/>
            <a:ext cx="2140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zh-CN" altLang="en-US" sz="2800" dirty="0"/>
              <a:t>测定方法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93FBE297-DC0B-4E65-89D5-02D30A8C92D7}"/>
              </a:ext>
            </a:extLst>
          </p:cNvPr>
          <p:cNvSpPr txBox="1"/>
          <p:nvPr/>
        </p:nvSpPr>
        <p:spPr>
          <a:xfrm>
            <a:off x="1763688" y="263550"/>
            <a:ext cx="6048672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6"/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重铬酸钾法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693F78EC-C3A2-452C-8D4B-C632212828E1}"/>
              </a:ext>
            </a:extLst>
          </p:cNvPr>
          <p:cNvSpPr txBox="1"/>
          <p:nvPr/>
        </p:nvSpPr>
        <p:spPr>
          <a:xfrm>
            <a:off x="813767" y="1340768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3"/>
            </a:pPr>
            <a:r>
              <a:rPr lang="zh-CN" altLang="en-US" sz="2800" dirty="0"/>
              <a:t>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1C1807-3A57-4FA0-B020-364E4E881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48" y="1953950"/>
            <a:ext cx="8020050" cy="66675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CD880C83-DA4E-4C9D-9271-8DE289A0E995}"/>
              </a:ext>
            </a:extLst>
          </p:cNvPr>
          <p:cNvSpPr txBox="1"/>
          <p:nvPr/>
        </p:nvSpPr>
        <p:spPr>
          <a:xfrm>
            <a:off x="849267" y="2775450"/>
            <a:ext cx="2140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ea"/>
              <a:buAutoNum type="circleNumDbPlain" startAt="4"/>
            </a:pPr>
            <a:r>
              <a:rPr lang="zh-CN" altLang="en-US" sz="2800" dirty="0"/>
              <a:t>注意事项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597307-0D9A-471C-A1ED-72BC7C553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14953"/>
            <a:ext cx="6984776" cy="2869033"/>
          </a:xfrm>
          <a:prstGeom prst="rect">
            <a:avLst/>
          </a:prstGeom>
        </p:spPr>
      </p:pic>
      <p:sp>
        <p:nvSpPr>
          <p:cNvPr id="8" name="TextBox 24">
            <a:extLst>
              <a:ext uri="{FF2B5EF4-FFF2-40B4-BE49-F238E27FC236}">
                <a16:creationId xmlns:a16="http://schemas.microsoft.com/office/drawing/2014/main" id="{8CFF1540-3754-4400-BDE6-10E4AA1C3116}"/>
              </a:ext>
            </a:extLst>
          </p:cNvPr>
          <p:cNvSpPr txBox="1"/>
          <p:nvPr/>
        </p:nvSpPr>
        <p:spPr>
          <a:xfrm>
            <a:off x="1763688" y="263550"/>
            <a:ext cx="6048672" cy="1077218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endParaRPr lang="en-US" altLang="zh-CN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lvl="6"/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重铬酸钾法</a:t>
            </a:r>
          </a:p>
        </p:txBody>
      </p:sp>
    </p:spTree>
    <p:extLst>
      <p:ext uri="{BB962C8B-B14F-4D97-AF65-F5344CB8AC3E}">
        <p14:creationId xmlns:p14="http://schemas.microsoft.com/office/powerpoint/2010/main" val="551582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75656" y="375978"/>
            <a:ext cx="544638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测定总结</a:t>
            </a:r>
          </a:p>
        </p:txBody>
      </p:sp>
      <p:pic>
        <p:nvPicPr>
          <p:cNvPr id="7170" name="Picture 2" descr="E:\课程\海水分析化学 本科\课件\课程图片\COD检测综述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988840"/>
            <a:ext cx="6912768" cy="4026460"/>
          </a:xfrm>
          <a:prstGeom prst="rect">
            <a:avLst/>
          </a:prstGeom>
          <a:noFill/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DA6FF08-52AC-4A03-9888-7D63F4ACBFE0}"/>
              </a:ext>
            </a:extLst>
          </p:cNvPr>
          <p:cNvSpPr txBox="1"/>
          <p:nvPr/>
        </p:nvSpPr>
        <p:spPr>
          <a:xfrm>
            <a:off x="539552" y="1415579"/>
            <a:ext cx="5375189" cy="493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4.1  </a:t>
            </a:r>
            <a:r>
              <a:rPr lang="zh-CN" altLang="en-US" sz="2400" dirty="0"/>
              <a:t>比较</a:t>
            </a:r>
            <a:r>
              <a:rPr lang="en-US" altLang="zh-CN" sz="2400" dirty="0"/>
              <a:t>COD</a:t>
            </a:r>
            <a:r>
              <a:rPr lang="zh-CN" altLang="en-US" sz="2400" dirty="0"/>
              <a:t>的几种不同氧化剂测量法</a:t>
            </a:r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71C11-8CCF-44D0-87C4-1901769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003232" cy="319695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目标</a:t>
            </a:r>
            <a:endParaRPr lang="en-US" altLang="zh-CN" dirty="0"/>
          </a:p>
          <a:p>
            <a:pPr marL="91440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理解测量</a:t>
            </a:r>
            <a:r>
              <a:rPr lang="en-US" altLang="zh-CN" dirty="0"/>
              <a:t>COD</a:t>
            </a:r>
            <a:r>
              <a:rPr lang="zh-CN" altLang="en-US" dirty="0"/>
              <a:t>的目的及其与有机物之间的关系</a:t>
            </a:r>
            <a:endParaRPr lang="en-US" altLang="zh-CN" dirty="0"/>
          </a:p>
          <a:p>
            <a:pPr marL="91440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理解</a:t>
            </a:r>
            <a:r>
              <a:rPr lang="en-US" altLang="zh-CN" dirty="0"/>
              <a:t>COD</a:t>
            </a:r>
            <a:r>
              <a:rPr lang="zh-CN" altLang="en-US" dirty="0"/>
              <a:t>与其它标定水体中有机物方法间的区别</a:t>
            </a:r>
            <a:endParaRPr lang="en-US" altLang="zh-CN" dirty="0"/>
          </a:p>
          <a:p>
            <a:pPr marL="91440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了解海水中</a:t>
            </a:r>
            <a:r>
              <a:rPr lang="en-US" altLang="zh-CN" dirty="0"/>
              <a:t>COD</a:t>
            </a:r>
            <a:r>
              <a:rPr lang="zh-CN" altLang="en-US" dirty="0"/>
              <a:t>的测量方法及注意事项</a:t>
            </a:r>
            <a:endParaRPr lang="en-US" altLang="zh-CN" dirty="0"/>
          </a:p>
          <a:p>
            <a:pPr marL="914400" lvl="1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明确海水中测量</a:t>
            </a:r>
            <a:r>
              <a:rPr lang="en-US" altLang="zh-CN" dirty="0"/>
              <a:t>COD</a:t>
            </a:r>
            <a:r>
              <a:rPr lang="zh-CN" altLang="en-US" dirty="0"/>
              <a:t>和其它水体中测量</a:t>
            </a:r>
            <a:r>
              <a:rPr lang="en-US" altLang="zh-CN" dirty="0"/>
              <a:t>COD</a:t>
            </a:r>
            <a:r>
              <a:rPr lang="zh-CN" altLang="en-US" dirty="0"/>
              <a:t>的共性与差别</a:t>
            </a:r>
            <a:endParaRPr lang="en-US" altLang="zh-CN" dirty="0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D74CD4F-ED2B-4E43-9F3A-F9F8A2C47DCE}"/>
              </a:ext>
            </a:extLst>
          </p:cNvPr>
          <p:cNvSpPr txBox="1"/>
          <p:nvPr/>
        </p:nvSpPr>
        <p:spPr>
          <a:xfrm>
            <a:off x="1475656" y="497022"/>
            <a:ext cx="6696744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第二章 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COD</a:t>
            </a:r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测定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主要内容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544175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3399FF"/>
            </a:solidFill>
            <a:effectLst/>
            <a:latin typeface="Arial" charset="0"/>
            <a:ea typeface="华文行楷" pitchFamily="2" charset="-122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1235</Words>
  <Application>Microsoft Office PowerPoint</Application>
  <PresentationFormat>全屏显示(4:3)</PresentationFormat>
  <Paragraphs>164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Adobe 黑体 Std R</vt:lpstr>
      <vt:lpstr>黑体</vt:lpstr>
      <vt:lpstr>华文新魏</vt:lpstr>
      <vt:lpstr>华文行楷</vt:lpstr>
      <vt:lpstr>宋体</vt:lpstr>
      <vt:lpstr>Arial</vt:lpstr>
      <vt:lpstr>Calibri</vt:lpstr>
      <vt:lpstr>Times New Roman</vt:lpstr>
      <vt:lpstr>Wingdings</vt:lpstr>
      <vt:lpstr>默认设计模板</vt:lpstr>
      <vt:lpstr>海水分析化学 Chemistry of seawater analysis </vt:lpstr>
      <vt:lpstr>PowerPoint 演示文稿</vt:lpstr>
      <vt:lpstr>PowerPoint 演示文稿</vt:lpstr>
      <vt:lpstr>PowerPoint 演示文稿</vt:lpstr>
      <vt:lpstr>水质COD指标和BOD指标 水质COD指标真的重要吗？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 海水中COD测定</vt:lpstr>
      <vt:lpstr>第二章 海水中COD测定                             ——碱性高锰酸钾法  </vt:lpstr>
      <vt:lpstr>第二章 海水中COD测定                             ——碱性高锰酸钾法  </vt:lpstr>
      <vt:lpstr>第二章 海水中COD测定                             ——碱性高锰酸钾法  </vt:lpstr>
      <vt:lpstr>第二章 海水中COD测定                             ——碱性高锰酸钾法  </vt:lpstr>
      <vt:lpstr>第二章 海水中COD测定                             ——碱性高锰酸钾法  </vt:lpstr>
      <vt:lpstr>第二章 海水中COD测定                             ——碱性高锰酸钾法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</dc:creator>
  <cp:lastModifiedBy>要要</cp:lastModifiedBy>
  <cp:revision>1066</cp:revision>
  <dcterms:created xsi:type="dcterms:W3CDTF">2013-10-17T05:15:34Z</dcterms:created>
  <dcterms:modified xsi:type="dcterms:W3CDTF">2022-09-25T02:43:31Z</dcterms:modified>
</cp:coreProperties>
</file>