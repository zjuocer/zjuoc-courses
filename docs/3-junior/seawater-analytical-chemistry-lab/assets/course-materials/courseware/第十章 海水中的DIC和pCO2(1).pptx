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68" r:id="rId2"/>
    <p:sldId id="529" r:id="rId3"/>
    <p:sldId id="489" r:id="rId4"/>
    <p:sldId id="357" r:id="rId5"/>
    <p:sldId id="402" r:id="rId6"/>
    <p:sldId id="488" r:id="rId7"/>
    <p:sldId id="403" r:id="rId8"/>
    <p:sldId id="473" r:id="rId9"/>
    <p:sldId id="404" r:id="rId10"/>
    <p:sldId id="405" r:id="rId11"/>
    <p:sldId id="406" r:id="rId12"/>
    <p:sldId id="490" r:id="rId13"/>
    <p:sldId id="491" r:id="rId14"/>
    <p:sldId id="492" r:id="rId15"/>
    <p:sldId id="494" r:id="rId16"/>
    <p:sldId id="493" r:id="rId17"/>
    <p:sldId id="495" r:id="rId18"/>
    <p:sldId id="496" r:id="rId19"/>
    <p:sldId id="497" r:id="rId20"/>
    <p:sldId id="498" r:id="rId21"/>
    <p:sldId id="502" r:id="rId22"/>
    <p:sldId id="530" r:id="rId23"/>
    <p:sldId id="501" r:id="rId24"/>
    <p:sldId id="531" r:id="rId25"/>
    <p:sldId id="499" r:id="rId26"/>
    <p:sldId id="508" r:id="rId27"/>
    <p:sldId id="500" r:id="rId28"/>
    <p:sldId id="503" r:id="rId29"/>
    <p:sldId id="504" r:id="rId30"/>
    <p:sldId id="412" r:id="rId31"/>
    <p:sldId id="505" r:id="rId32"/>
    <p:sldId id="507" r:id="rId33"/>
    <p:sldId id="506" r:id="rId3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172" autoAdjust="0"/>
    <p:restoredTop sz="94477" autoAdjust="0"/>
  </p:normalViewPr>
  <p:slideViewPr>
    <p:cSldViewPr>
      <p:cViewPr varScale="1">
        <p:scale>
          <a:sx n="104" d="100"/>
          <a:sy n="104" d="100"/>
        </p:scale>
        <p:origin x="234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4C2AD-C9B0-406F-8123-A0E121BD4683}" type="datetimeFigureOut">
              <a:rPr lang="zh-CN" altLang="en-US" smtClean="0"/>
              <a:pPr/>
              <a:t>2022/12/5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D5C9DF-7B2A-45F8-A4B2-C2901DB614D7}" type="slidenum">
              <a:rPr lang="zh-CN" altLang="en-US" smtClean="0"/>
              <a:pPr/>
              <a:t>‹#›</a:t>
            </a:fld>
            <a:endParaRPr lang="zh-CN" altLang="en-US"/>
          </a:p>
        </p:txBody>
      </p:sp>
    </p:spTree>
    <p:extLst>
      <p:ext uri="{BB962C8B-B14F-4D97-AF65-F5344CB8AC3E}">
        <p14:creationId xmlns:p14="http://schemas.microsoft.com/office/powerpoint/2010/main" val="1501093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zh-CN"/>
          </a:p>
        </p:txBody>
      </p:sp>
      <p:sp>
        <p:nvSpPr>
          <p:cNvPr id="4" name="Rectangle 3"/>
          <p:cNvSpPr>
            <a:spLocks noGrp="1"/>
          </p:cNvSpPr>
          <p:nvPr>
            <p:ph type="sldNum" sz="quarter" idx="10"/>
          </p:nvPr>
        </p:nvSpPr>
        <p:spPr/>
        <p:txBody>
          <a:bodyPr/>
          <a:lstStyle/>
          <a:p>
            <a:fld id="{CA5D3BF3-D352-46FC-8343-31F56E6730EA}" type="slidenum">
              <a:rPr lang="en-US" altLang="zh-CN" smtClean="0"/>
              <a:pPr/>
              <a:t>1</a:t>
            </a:fld>
            <a:endParaRPr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lvl1pPr>
              <a:defRPr>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94D163F-C9B0-4A35-98DC-3A4DEFF7EC3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9595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mj-lt"/>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sz="2800">
                <a:latin typeface="+mj-lt"/>
              </a:defRPr>
            </a:lvl1pPr>
            <a:lvl2pPr>
              <a:defRPr sz="2400">
                <a:latin typeface="+mj-lt"/>
              </a:defRPr>
            </a:lvl2pPr>
            <a:lvl3pPr>
              <a:defRPr sz="2000">
                <a:latin typeface="+mj-lt"/>
              </a:defRPr>
            </a:lvl3pPr>
            <a:lvl4pPr>
              <a:defRPr>
                <a:latin typeface="+mj-lt"/>
              </a:defRPr>
            </a:lvl4pPr>
            <a:lvl5pPr>
              <a:defRPr>
                <a:latin typeface="+mj-l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47D8075-E72B-4BF6-9481-6760148A8FB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4219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457C1C9-6B1A-4E8D-80D9-1F406FED743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6852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j-lt"/>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EC21727-E14B-4214-A96B-5D5149B9EB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78907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EA1E3A4-CA4C-4B0F-B7EE-93652856C6C1}"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1903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Arial" pitchFamily="34" charset="0"/>
                <a:cs typeface="Arial" pitchFamily="34" charset="0"/>
              </a:defRPr>
            </a:lvl1pPr>
          </a:lstStyle>
          <a:p>
            <a:r>
              <a:rPr lang="zh-CN" altLang="en-US" dirty="0"/>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8CECA82-AB81-42B0-A316-04B221EF0F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51880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0B41B4E-1D51-4764-BB26-0A928DDC693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66309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70AD128-FF11-46E7-83AD-EE5A40B3154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2287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A050332-BC1C-4A8B-973F-88E43E2277C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6207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017FBC4-3B96-4753-85AE-096B9B71EBC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9284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AFF8586-B1A6-49E8-9A88-F7855FBD37B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35470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pPr eaLnBrk="1" latinLnBrk="0" hangingPunct="1"/>
            <a:r>
              <a:rPr lang="zh-CN" altLang="en-US"/>
              <a:t>单击此处编辑母版标题样式</a:t>
            </a:r>
            <a:endParaRPr/>
          </a:p>
        </p:txBody>
      </p:sp>
      <p:sp>
        <p:nvSpPr>
          <p:cNvPr id="3" name="Rectangle 2"/>
          <p:cNvSpPr>
            <a:spLocks noGrp="1"/>
          </p:cNvSpPr>
          <p:nvPr>
            <p:ph type="dt" sz="half" idx="10"/>
          </p:nvPr>
        </p:nvSpPr>
        <p:spPr/>
        <p:txBody>
          <a:bodyPr/>
          <a:lstStyle/>
          <a:p>
            <a:fld id="{E4606EA6-EFEA-4C30-9264-4F9291A5780D}" type="datetime1">
              <a:rPr lang="zh-CN" altLang="en-US"/>
              <a:pPr/>
              <a:t>2022/12/5</a:t>
            </a:fld>
            <a:endParaRPr kumimoji="0" lang="zh-CN"/>
          </a:p>
        </p:txBody>
      </p:sp>
      <p:sp>
        <p:nvSpPr>
          <p:cNvPr id="4" name="Rectangle 3"/>
          <p:cNvSpPr>
            <a:spLocks noGrp="1"/>
          </p:cNvSpPr>
          <p:nvPr>
            <p:ph type="ftr" sz="quarter" idx="11"/>
          </p:nvPr>
        </p:nvSpPr>
        <p:spPr/>
        <p:txBody>
          <a:bodyPr/>
          <a:lstStyle/>
          <a:p>
            <a:endParaRPr kumimoji="0" lang="zh-CN"/>
          </a:p>
        </p:txBody>
      </p:sp>
      <p:sp>
        <p:nvSpPr>
          <p:cNvPr id="5" name="Rectangle 4"/>
          <p:cNvSpPr>
            <a:spLocks noGrp="1"/>
          </p:cNvSpPr>
          <p:nvPr>
            <p:ph type="sldNum" sz="quarter" idx="12"/>
          </p:nvPr>
        </p:nvSpPr>
        <p:spPr/>
        <p:txBody>
          <a:bodyPr/>
          <a:lstStyle/>
          <a:p>
            <a:pPr algn="ctr"/>
            <a:fld id="{8F82E0A0-C266-4798-8C8F-B9F91E9DA37E}" type="slidenum">
              <a:rPr kumimoji="0" lang="zh-CN" sz="1400" b="1">
                <a:solidFill>
                  <a:srgbClr val="FFFFFF"/>
                </a:solidFill>
              </a:rPr>
              <a:pPr algn="ctr"/>
              <a:t>‹#›</a:t>
            </a:fld>
            <a:endParaRPr kumimoji="0" lang="zh-CN"/>
          </a:p>
        </p:txBody>
      </p:sp>
      <p:sp>
        <p:nvSpPr>
          <p:cNvPr id="7" name="Rectangle 6"/>
          <p:cNvSpPr>
            <a:spLocks noGrp="1"/>
          </p:cNvSpPr>
          <p:nvPr>
            <p:ph sz="quarter" idx="13"/>
          </p:nvPr>
        </p:nvSpPr>
        <p:spPr>
          <a:xfrm>
            <a:off x="609600" y="1803400"/>
            <a:ext cx="8153400" cy="43688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ea typeface="+mn-ea"/>
              </a:defRPr>
            </a:lvl1pPr>
          </a:lstStyle>
          <a:p>
            <a:pPr fontAlgn="base">
              <a:spcBef>
                <a:spcPct val="0"/>
              </a:spcBef>
              <a:spcAft>
                <a:spcPct val="0"/>
              </a:spcAft>
              <a:defRPr/>
            </a:pPr>
            <a:endParaRPr lang="en-US" altLang="zh-CN">
              <a:solidFill>
                <a:srgbClr val="000000"/>
              </a:solidFill>
              <a:latin typeface="Arial"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ea typeface="+mn-ea"/>
              </a:defRPr>
            </a:lvl1pPr>
          </a:lstStyle>
          <a:p>
            <a:pPr fontAlgn="base">
              <a:spcBef>
                <a:spcPct val="0"/>
              </a:spcBef>
              <a:spcAft>
                <a:spcPct val="0"/>
              </a:spcAft>
              <a:defRPr/>
            </a:pPr>
            <a:endParaRPr lang="en-US" altLang="zh-CN">
              <a:solidFill>
                <a:srgbClr val="000000"/>
              </a:solidFill>
              <a:latin typeface="Arial"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ea typeface="+mn-ea"/>
              </a:defRPr>
            </a:lvl1pPr>
          </a:lstStyle>
          <a:p>
            <a:pPr fontAlgn="base">
              <a:spcBef>
                <a:spcPct val="0"/>
              </a:spcBef>
              <a:spcAft>
                <a:spcPct val="0"/>
              </a:spcAft>
              <a:defRPr/>
            </a:pPr>
            <a:fld id="{F9E0FACD-AE8A-4C16-8A1E-FCBCB8577A05}" type="slidenum">
              <a:rPr lang="en-US" altLang="zh-CN">
                <a:solidFill>
                  <a:srgbClr val="000000"/>
                </a:solidFill>
                <a:latin typeface="Arial" charset="0"/>
              </a:rPr>
              <a:pPr fontAlgn="base">
                <a:spcBef>
                  <a:spcPct val="0"/>
                </a:spcBef>
                <a:spcAft>
                  <a:spcPct val="0"/>
                </a:spcAft>
                <a:defRPr/>
              </a:pPr>
              <a:t>‹#›</a:t>
            </a:fld>
            <a:endParaRPr lang="en-US" altLang="zh-CN">
              <a:solidFill>
                <a:srgbClr val="000000"/>
              </a:solidFill>
              <a:latin typeface="Arial" charset="0"/>
            </a:endParaRPr>
          </a:p>
        </p:txBody>
      </p:sp>
      <p:pic>
        <p:nvPicPr>
          <p:cNvPr id="7" name="图片 6" descr="院标-圆形图案 无背景.png"/>
          <p:cNvPicPr>
            <a:picLocks noChangeAspect="1"/>
          </p:cNvPicPr>
          <p:nvPr userDrawn="1"/>
        </p:nvPicPr>
        <p:blipFill>
          <a:blip r:embed="rId15" cstate="print"/>
          <a:srcRect l="10812" t="7462" r="8098" b="13504"/>
          <a:stretch>
            <a:fillRect/>
          </a:stretch>
        </p:blipFill>
        <p:spPr>
          <a:xfrm>
            <a:off x="149675" y="188640"/>
            <a:ext cx="1181965" cy="1152000"/>
          </a:xfrm>
          <a:prstGeom prst="rect">
            <a:avLst/>
          </a:prstGeom>
        </p:spPr>
      </p:pic>
    </p:spTree>
    <p:extLst>
      <p:ext uri="{BB962C8B-B14F-4D97-AF65-F5344CB8AC3E}">
        <p14:creationId xmlns:p14="http://schemas.microsoft.com/office/powerpoint/2010/main" val="1017989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3.w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baike.baidu.com/item/%E7%94%B5%E5%8C%96%E5%AD%A6%E5%88%86%E6%9E%90%E6%B3%95/6060226"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wmf"/><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p:cNvSpPr>
          <p:nvPr>
            <p:ph type="body" idx="1"/>
          </p:nvPr>
        </p:nvSpPr>
        <p:spPr>
          <a:xfrm>
            <a:off x="1214414" y="3643314"/>
            <a:ext cx="7123113" cy="1673225"/>
          </a:xfrm>
        </p:spPr>
        <p:txBody>
          <a:bodyPr>
            <a:noAutofit/>
          </a:bodyPr>
          <a:lstStyle/>
          <a:p>
            <a:pPr algn="ctr"/>
            <a:r>
              <a:rPr lang="zh-CN" altLang="en-US" sz="2000" dirty="0">
                <a:latin typeface="Adobe 黑体 Std R" pitchFamily="34" charset="-122"/>
                <a:ea typeface="Adobe 黑体 Std R" pitchFamily="34" charset="-122"/>
              </a:rPr>
              <a:t>潘依雯</a:t>
            </a:r>
            <a:endParaRPr lang="en-US" altLang="zh-CN" sz="2000" dirty="0">
              <a:latin typeface="Adobe 黑体 Std R" pitchFamily="34" charset="-122"/>
              <a:ea typeface="Adobe 黑体 Std R" pitchFamily="34" charset="-122"/>
            </a:endParaRPr>
          </a:p>
          <a:p>
            <a:pPr algn="ctr"/>
            <a:r>
              <a:rPr lang="zh-CN" altLang="en-US" sz="2000" dirty="0">
                <a:latin typeface="Adobe 黑体 Std R" pitchFamily="34" charset="-122"/>
                <a:ea typeface="Adobe 黑体 Std R" pitchFamily="34" charset="-122"/>
              </a:rPr>
              <a:t>海洋学院</a:t>
            </a:r>
            <a:r>
              <a:rPr lang="zh-CN" altLang="en-US" dirty="0">
                <a:latin typeface="Adobe 黑体 Std R" pitchFamily="34" charset="-122"/>
                <a:ea typeface="Adobe 黑体 Std R" pitchFamily="34" charset="-122"/>
              </a:rPr>
              <a:t>海洋化学与环境所</a:t>
            </a:r>
            <a:endParaRPr lang="en-US" altLang="zh-CN" sz="2000" dirty="0">
              <a:latin typeface="Adobe 黑体 Std R" pitchFamily="34" charset="-122"/>
              <a:ea typeface="Adobe 黑体 Std R" pitchFamily="34" charset="-122"/>
            </a:endParaRPr>
          </a:p>
          <a:p>
            <a:pPr algn="ctr"/>
            <a:r>
              <a:rPr lang="zh-CN" altLang="en-US" sz="2000" dirty="0"/>
              <a:t>海科楼</a:t>
            </a:r>
            <a:r>
              <a:rPr lang="en-US" altLang="zh-CN" sz="2000" dirty="0"/>
              <a:t>319</a:t>
            </a:r>
            <a:r>
              <a:rPr lang="zh-CN" altLang="en-US" sz="2000" dirty="0"/>
              <a:t>，</a:t>
            </a:r>
            <a:r>
              <a:rPr lang="en-US" altLang="zh-CN" sz="2000" dirty="0"/>
              <a:t>Email: evelynpan@zju.edu.cn</a:t>
            </a:r>
            <a:endParaRPr lang="zh-CN" sz="2000" dirty="0"/>
          </a:p>
        </p:txBody>
      </p:sp>
      <p:sp>
        <p:nvSpPr>
          <p:cNvPr id="4" name="Rectangle 3"/>
          <p:cNvSpPr>
            <a:spLocks noGrp="1"/>
          </p:cNvSpPr>
          <p:nvPr>
            <p:ph type="title"/>
          </p:nvPr>
        </p:nvSpPr>
        <p:spPr>
          <a:xfrm>
            <a:off x="1142976" y="428604"/>
            <a:ext cx="7171730" cy="1797920"/>
          </a:xfrm>
        </p:spPr>
        <p:txBody>
          <a:bodyPr>
            <a:normAutofit fontScale="90000"/>
          </a:bodyPr>
          <a:lstStyle/>
          <a:p>
            <a:pPr algn="ctr"/>
            <a:r>
              <a:rPr lang="zh-CN" altLang="en-US" dirty="0"/>
              <a:t>海水分析化学</a:t>
            </a:r>
            <a:br>
              <a:rPr lang="en-US" altLang="zh-CN" dirty="0"/>
            </a:br>
            <a:r>
              <a:rPr lang="en-US" altLang="zh-CN" sz="3600" dirty="0"/>
              <a:t>Chemistry of seawater analysis </a:t>
            </a:r>
            <a:endParaRPr lang="zh-CN" dirty="0"/>
          </a:p>
        </p:txBody>
      </p:sp>
      <p:sp>
        <p:nvSpPr>
          <p:cNvPr id="8" name="TextBox 6"/>
          <p:cNvSpPr txBox="1">
            <a:spLocks noChangeArrowheads="1"/>
          </p:cNvSpPr>
          <p:nvPr/>
        </p:nvSpPr>
        <p:spPr bwMode="auto">
          <a:xfrm>
            <a:off x="7524328" y="6021289"/>
            <a:ext cx="1491086" cy="461653"/>
          </a:xfrm>
          <a:prstGeom prst="rect">
            <a:avLst/>
          </a:prstGeom>
          <a:noFill/>
          <a:ln w="9525">
            <a:noFill/>
            <a:miter lim="800000"/>
            <a:headEnd/>
            <a:tailEnd/>
          </a:ln>
        </p:spPr>
        <p:txBody>
          <a:bodyPr wrap="none" lIns="91426" tIns="45714" rIns="91426" bIns="45714">
            <a:spAutoFit/>
          </a:bodyPr>
          <a:lstStyle/>
          <a:p>
            <a:r>
              <a:rPr lang="zh-CN" altLang="en-US" sz="2400" dirty="0">
                <a:solidFill>
                  <a:srgbClr val="00B0F0"/>
                </a:solidFill>
                <a:latin typeface="华文行楷" pitchFamily="2" charset="-122"/>
                <a:ea typeface="华文行楷" pitchFamily="2" charset="-122"/>
              </a:rPr>
              <a:t>宽厚 跨越</a:t>
            </a:r>
          </a:p>
        </p:txBody>
      </p:sp>
      <p:sp>
        <p:nvSpPr>
          <p:cNvPr id="6" name="Rectangle 3"/>
          <p:cNvSpPr txBox="1">
            <a:spLocks/>
          </p:cNvSpPr>
          <p:nvPr/>
        </p:nvSpPr>
        <p:spPr bwMode="auto">
          <a:xfrm>
            <a:off x="1142976" y="2071678"/>
            <a:ext cx="7171730" cy="17979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7500"/>
          </a:bodyPr>
          <a:lstStyle/>
          <a:p>
            <a:pPr marL="0" marR="0" lvl="0" indent="0" algn="ctr" defTabSz="914400" rtl="0" eaLnBrk="0" fontAlgn="base" latinLnBrk="0" hangingPunct="0">
              <a:lnSpc>
                <a:spcPct val="100000"/>
              </a:lnSpc>
              <a:spcBef>
                <a:spcPct val="0"/>
              </a:spcBef>
              <a:spcAft>
                <a:spcPct val="0"/>
              </a:spcAft>
              <a:buClrTx/>
              <a:buSzTx/>
              <a:buFontTx/>
              <a:buNone/>
              <a:tabLst/>
              <a:defRPr/>
            </a:pPr>
            <a:br>
              <a:rPr kumimoji="0" lang="en-US" altLang="zh-CN" sz="3600" b="1" i="0" u="none" strike="noStrike" kern="0" cap="all" spc="0" normalizeH="0" baseline="0" noProof="0" dirty="0">
                <a:ln>
                  <a:noFill/>
                </a:ln>
                <a:solidFill>
                  <a:schemeClr val="tx2"/>
                </a:solidFill>
                <a:effectLst/>
                <a:uLnTx/>
                <a:uFillTx/>
                <a:latin typeface="+mj-lt"/>
                <a:ea typeface="+mj-ea"/>
                <a:cs typeface="+mj-cs"/>
              </a:rPr>
            </a:br>
            <a:r>
              <a:rPr kumimoji="0" lang="en-US" altLang="zh-CN" sz="3300" b="1" i="0" u="none" strike="noStrike" kern="0" cap="all" spc="0" normalizeH="0" baseline="0" noProof="0" dirty="0">
                <a:ln>
                  <a:noFill/>
                </a:ln>
                <a:solidFill>
                  <a:srgbClr val="FF0000"/>
                </a:solidFill>
                <a:effectLst/>
                <a:uLnTx/>
                <a:uFillTx/>
                <a:latin typeface="+mj-lt"/>
                <a:ea typeface="+mj-ea"/>
                <a:cs typeface="+mj-cs"/>
              </a:rPr>
              <a:t>Methods of seawater analysis </a:t>
            </a:r>
            <a:endParaRPr kumimoji="0" lang="zh-CN" sz="3600" b="1" i="0" u="none" strike="noStrike" kern="0" cap="all"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a:extLst>
              <a:ext uri="{FF2B5EF4-FFF2-40B4-BE49-F238E27FC236}">
                <a16:creationId xmlns:a16="http://schemas.microsoft.com/office/drawing/2014/main" id="{A2D4AFCF-4863-4C14-BC4F-C4FFBDCA7560}"/>
              </a:ext>
            </a:extLst>
          </p:cNvPr>
          <p:cNvSpPr txBox="1">
            <a:spLocks/>
          </p:cNvSpPr>
          <p:nvPr/>
        </p:nvSpPr>
        <p:spPr>
          <a:xfrm>
            <a:off x="457200" y="1484784"/>
            <a:ext cx="8229600" cy="4525963"/>
          </a:xfrm>
          <a:prstGeom prst="rect">
            <a:avLst/>
          </a:prstGeom>
        </p:spPr>
        <p:txBody>
          <a:bodyPr/>
          <a:lstStyle>
            <a:lvl1pPr marL="320040" indent="-320040" algn="l" rtl="0" eaLnBrk="1" latinLnBrk="0" hangingPunct="1">
              <a:spcBef>
                <a:spcPts val="700"/>
              </a:spcBef>
              <a:buClr>
                <a:schemeClr val="accent2"/>
              </a:buClr>
              <a:buSzPct val="60000"/>
              <a:buFont typeface="Wingdings"/>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lang="zh-CN" sz="1800" kern="1200" baseline="0">
                <a:solidFill>
                  <a:schemeClr val="tx1"/>
                </a:solidFill>
                <a:latin typeface="+mn-lt"/>
                <a:ea typeface="+mn-ea"/>
                <a:cs typeface="+mn-cs"/>
              </a:defRPr>
            </a:lvl9pPr>
            <a:extLst/>
          </a:lstStyle>
          <a:p>
            <a:r>
              <a:rPr lang="zh-CN" altLang="en-US" dirty="0"/>
              <a:t>提纲</a:t>
            </a:r>
          </a:p>
          <a:p>
            <a:pPr marL="914400" lvl="1" indent="-457200">
              <a:buFont typeface="+mj-lt"/>
              <a:buAutoNum type="arabicPeriod"/>
            </a:pPr>
            <a:r>
              <a:rPr lang="en-US" altLang="zh-CN" sz="2800" dirty="0"/>
              <a:t>DIC</a:t>
            </a:r>
          </a:p>
          <a:p>
            <a:pPr marL="1188720" lvl="2" indent="-457200">
              <a:buFont typeface="+mj-ea"/>
              <a:buAutoNum type="circleNumDbPlain"/>
            </a:pPr>
            <a:r>
              <a:rPr lang="zh-CN" altLang="en-US" sz="2500" dirty="0"/>
              <a:t>海水中</a:t>
            </a:r>
            <a:r>
              <a:rPr lang="en-US" altLang="zh-CN" sz="2500" dirty="0"/>
              <a:t>DIC</a:t>
            </a:r>
            <a:r>
              <a:rPr lang="zh-CN" altLang="en-US" sz="2500" dirty="0"/>
              <a:t>的定义以及与</a:t>
            </a:r>
            <a:r>
              <a:rPr lang="en-US" altLang="zh-CN" sz="2500" dirty="0"/>
              <a:t>TA</a:t>
            </a:r>
            <a:r>
              <a:rPr lang="zh-CN" altLang="en-US" sz="2500" dirty="0"/>
              <a:t>的关系</a:t>
            </a:r>
            <a:endParaRPr lang="en-US" altLang="zh-CN" sz="2500" dirty="0"/>
          </a:p>
          <a:p>
            <a:pPr marL="1188720" lvl="2" indent="-457200">
              <a:buFont typeface="+mj-ea"/>
              <a:buAutoNum type="circleNumDbPlain"/>
            </a:pPr>
            <a:r>
              <a:rPr lang="zh-CN" altLang="en-US" sz="2500" dirty="0"/>
              <a:t>影响海水</a:t>
            </a:r>
            <a:r>
              <a:rPr lang="en-US" altLang="zh-CN" sz="2500" dirty="0"/>
              <a:t>DIC</a:t>
            </a:r>
            <a:r>
              <a:rPr lang="zh-CN" altLang="en-US" sz="2500" dirty="0"/>
              <a:t>的主要因素</a:t>
            </a:r>
            <a:endParaRPr lang="en-US" altLang="zh-CN" sz="2500" dirty="0"/>
          </a:p>
          <a:p>
            <a:pPr marL="1188720" lvl="2" indent="-457200">
              <a:buFont typeface="+mj-ea"/>
              <a:buAutoNum type="circleNumDbPlain"/>
            </a:pPr>
            <a:r>
              <a:rPr lang="zh-CN" altLang="en-US" sz="2500" dirty="0"/>
              <a:t>测量</a:t>
            </a:r>
            <a:r>
              <a:rPr lang="en-US" altLang="zh-CN" sz="2500" dirty="0"/>
              <a:t>DIC</a:t>
            </a:r>
            <a:r>
              <a:rPr lang="zh-CN" altLang="en-US" sz="2500" dirty="0"/>
              <a:t>的方法</a:t>
            </a:r>
            <a:endParaRPr lang="en-US" altLang="zh-CN" sz="2500" dirty="0"/>
          </a:p>
          <a:p>
            <a:pPr marL="1645920" lvl="3" indent="-457200">
              <a:buFont typeface="+mj-ea"/>
              <a:buAutoNum type="circleNumDbPlain"/>
            </a:pPr>
            <a:r>
              <a:rPr lang="zh-CN" altLang="en-US" sz="2200" dirty="0"/>
              <a:t>库伦法</a:t>
            </a:r>
            <a:endParaRPr lang="en-US" altLang="zh-CN" sz="2200" dirty="0"/>
          </a:p>
          <a:p>
            <a:pPr marL="1645920" lvl="3" indent="-457200">
              <a:buFont typeface="+mj-ea"/>
              <a:buAutoNum type="circleNumDbPlain"/>
            </a:pPr>
            <a:r>
              <a:rPr lang="zh-CN" altLang="en-US" sz="2200" dirty="0"/>
              <a:t>红外法</a:t>
            </a:r>
            <a:endParaRPr lang="en-US" altLang="zh-CN" sz="2200" dirty="0"/>
          </a:p>
          <a:p>
            <a:pPr marL="914400" lvl="1" indent="-457200">
              <a:buFont typeface="+mj-ea"/>
              <a:buAutoNum type="arabicPeriod"/>
            </a:pPr>
            <a:r>
              <a:rPr lang="en-US" altLang="zh-CN" sz="2800" dirty="0"/>
              <a:t>pCO2</a:t>
            </a:r>
          </a:p>
          <a:p>
            <a:pPr marL="914400" lvl="1" indent="-457200">
              <a:buFont typeface="+mj-ea"/>
              <a:buAutoNum type="arabicPeriod"/>
            </a:pPr>
            <a:endParaRPr lang="en-US" altLang="zh-CN" sz="2800" dirty="0"/>
          </a:p>
          <a:p>
            <a:pPr marL="914400" lvl="1" indent="-457200">
              <a:buFont typeface="+mj-lt"/>
              <a:buAutoNum type="arabicPeriod"/>
            </a:pPr>
            <a:endParaRPr lang="zh-CN" altLang="en-US" dirty="0"/>
          </a:p>
          <a:p>
            <a:pPr marL="914400" lvl="1" indent="-457200">
              <a:buFont typeface="+mj-lt"/>
              <a:buAutoNum type="arabicPeriod"/>
            </a:pPr>
            <a:endParaRPr lang="zh-CN" altLang="en-US" dirty="0"/>
          </a:p>
        </p:txBody>
      </p:sp>
      <p:sp>
        <p:nvSpPr>
          <p:cNvPr id="5" name="TextBox 24">
            <a:extLst>
              <a:ext uri="{FF2B5EF4-FFF2-40B4-BE49-F238E27FC236}">
                <a16:creationId xmlns:a16="http://schemas.microsoft.com/office/drawing/2014/main" id="{EA2362A1-586F-44D1-BA02-A8DFEFCD7525}"/>
              </a:ext>
            </a:extLst>
          </p:cNvPr>
          <p:cNvSpPr txBox="1"/>
          <p:nvPr/>
        </p:nvSpPr>
        <p:spPr>
          <a:xfrm>
            <a:off x="1547664" y="548680"/>
            <a:ext cx="5518396" cy="584775"/>
          </a:xfrm>
          <a:prstGeom prst="rect">
            <a:avLst/>
          </a:prstGeom>
          <a:noFill/>
          <a:ln w="2222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第十章 海水中</a:t>
            </a:r>
            <a:r>
              <a:rPr lang="en-US" altLang="zh-CN" sz="3200" b="1" dirty="0">
                <a:solidFill>
                  <a:schemeClr val="bg2">
                    <a:lumMod val="25000"/>
                  </a:schemeClr>
                </a:solidFill>
                <a:latin typeface="华文新魏" pitchFamily="2" charset="-122"/>
                <a:ea typeface="华文新魏" pitchFamily="2" charset="-122"/>
              </a:rPr>
              <a:t>DIC</a:t>
            </a:r>
            <a:r>
              <a:rPr lang="zh-CN" altLang="en-US" sz="3200" b="1" dirty="0">
                <a:solidFill>
                  <a:schemeClr val="bg2">
                    <a:lumMod val="25000"/>
                  </a:schemeClr>
                </a:solidFill>
                <a:latin typeface="华文新魏" pitchFamily="2" charset="-122"/>
                <a:ea typeface="华文新魏" pitchFamily="2" charset="-122"/>
              </a:rPr>
              <a:t>和</a:t>
            </a:r>
            <a:r>
              <a:rPr lang="en-US" altLang="zh-CN" sz="3200" b="1" dirty="0">
                <a:solidFill>
                  <a:schemeClr val="bg2">
                    <a:lumMod val="25000"/>
                  </a:schemeClr>
                </a:solidFill>
                <a:latin typeface="华文新魏" pitchFamily="2" charset="-122"/>
                <a:ea typeface="华文新魏" pitchFamily="2" charset="-122"/>
              </a:rPr>
              <a:t>pCO2</a:t>
            </a:r>
            <a:endParaRPr lang="zh-CN" altLang="en-US" sz="3200" b="1"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1771203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250825" y="1340767"/>
            <a:ext cx="5545311" cy="503907"/>
          </a:xfrm>
        </p:spPr>
        <p:txBody>
          <a:bodyPr/>
          <a:lstStyle/>
          <a:p>
            <a:pPr marL="1066800" indent="-1066800" algn="l" eaLnBrk="1" hangingPunct="1"/>
            <a:r>
              <a:rPr lang="zh-CN" altLang="en-US" sz="3600" b="1" dirty="0">
                <a:solidFill>
                  <a:srgbClr val="7030A0"/>
                </a:solidFill>
                <a:latin typeface="Times New Roman" pitchFamily="18" charset="0"/>
                <a:ea typeface="黑体" pitchFamily="49" charset="-122"/>
                <a:cs typeface="Times New Roman" pitchFamily="18" charset="0"/>
              </a:rPr>
              <a:t>一、总二氧化碳（</a:t>
            </a:r>
            <a:r>
              <a:rPr lang="en-US" altLang="zh-CN" sz="3600" b="1" dirty="0">
                <a:solidFill>
                  <a:srgbClr val="7030A0"/>
                </a:solidFill>
                <a:latin typeface="Times New Roman" pitchFamily="18" charset="0"/>
                <a:ea typeface="黑体" pitchFamily="49" charset="-122"/>
                <a:cs typeface="Times New Roman" pitchFamily="18" charset="0"/>
              </a:rPr>
              <a:t>TCO</a:t>
            </a:r>
            <a:r>
              <a:rPr lang="en-US" altLang="zh-CN" sz="3600" b="1" baseline="-25000" dirty="0">
                <a:solidFill>
                  <a:srgbClr val="7030A0"/>
                </a:solidFill>
                <a:latin typeface="Times New Roman" pitchFamily="18" charset="0"/>
                <a:ea typeface="黑体" pitchFamily="49" charset="-122"/>
                <a:cs typeface="Times New Roman" pitchFamily="18" charset="0"/>
              </a:rPr>
              <a:t>2</a:t>
            </a:r>
            <a:r>
              <a:rPr lang="zh-CN" altLang="en-US" sz="3600" b="1" dirty="0">
                <a:solidFill>
                  <a:srgbClr val="7030A0"/>
                </a:solidFill>
                <a:latin typeface="Times New Roman" pitchFamily="18" charset="0"/>
                <a:ea typeface="黑体" pitchFamily="49" charset="-122"/>
                <a:cs typeface="Times New Roman" pitchFamily="18" charset="0"/>
              </a:rPr>
              <a:t>）</a:t>
            </a:r>
          </a:p>
        </p:txBody>
      </p:sp>
      <p:sp>
        <p:nvSpPr>
          <p:cNvPr id="19461" name="Rectangle 4"/>
          <p:cNvSpPr>
            <a:spLocks noChangeArrowheads="1"/>
          </p:cNvSpPr>
          <p:nvPr/>
        </p:nvSpPr>
        <p:spPr bwMode="auto">
          <a:xfrm>
            <a:off x="1571604" y="214290"/>
            <a:ext cx="4321175" cy="647700"/>
          </a:xfrm>
          <a:prstGeom prst="rect">
            <a:avLst/>
          </a:prstGeom>
          <a:noFill/>
          <a:ln w="9525">
            <a:noFill/>
            <a:miter lim="800000"/>
            <a:headEnd/>
            <a:tailEnd/>
          </a:ln>
        </p:spPr>
        <p:txBody>
          <a:bodyPr anchor="ctr"/>
          <a:lstStyle/>
          <a:p>
            <a:pPr marL="1066800" indent="-1066800">
              <a:lnSpc>
                <a:spcPct val="100000"/>
              </a:lnSpc>
              <a:spcBef>
                <a:spcPct val="0"/>
              </a:spcBef>
              <a:buFontTx/>
              <a:buNone/>
            </a:pPr>
            <a:r>
              <a:rPr lang="zh-CN" altLang="en-US" sz="4000" dirty="0">
                <a:solidFill>
                  <a:srgbClr val="FF0000"/>
                </a:solidFill>
                <a:latin typeface="Times New Roman" pitchFamily="18" charset="0"/>
                <a:ea typeface="黑体" pitchFamily="49" charset="-122"/>
                <a:cs typeface="Times New Roman" pitchFamily="18" charset="0"/>
              </a:rPr>
              <a:t>总二氧化碳</a:t>
            </a:r>
          </a:p>
        </p:txBody>
      </p:sp>
      <p:sp>
        <p:nvSpPr>
          <p:cNvPr id="19462" name="Text Box 5"/>
          <p:cNvSpPr txBox="1">
            <a:spLocks noChangeArrowheads="1"/>
          </p:cNvSpPr>
          <p:nvPr/>
        </p:nvSpPr>
        <p:spPr bwMode="auto">
          <a:xfrm>
            <a:off x="179388" y="2060575"/>
            <a:ext cx="8713787" cy="2632075"/>
          </a:xfrm>
          <a:prstGeom prst="rect">
            <a:avLst/>
          </a:prstGeom>
          <a:noFill/>
          <a:ln w="9525">
            <a:noFill/>
            <a:miter lim="800000"/>
            <a:headEnd/>
            <a:tailEnd/>
          </a:ln>
        </p:spPr>
        <p:txBody>
          <a:bodyPr lIns="18000" tIns="36000" rIns="18000" bIns="10800">
            <a:spAutoFit/>
          </a:bodyPr>
          <a:lstStyle/>
          <a:p>
            <a:pPr marL="466725" indent="-466725">
              <a:lnSpc>
                <a:spcPct val="150000"/>
              </a:lnSpc>
              <a:spcBef>
                <a:spcPct val="0"/>
              </a:spcBef>
            </a:pPr>
            <a:r>
              <a:rPr lang="zh-CN" altLang="en-US" sz="2800" dirty="0">
                <a:solidFill>
                  <a:srgbClr val="0000FF"/>
                </a:solidFill>
                <a:latin typeface="Times New Roman" pitchFamily="18" charset="0"/>
                <a:ea typeface="黑体" pitchFamily="49" charset="-122"/>
                <a:cs typeface="Times New Roman" pitchFamily="18" charset="0"/>
              </a:rPr>
              <a:t>无机碳在海水的主要存在形态：</a:t>
            </a:r>
            <a:r>
              <a:rPr lang="en-US" altLang="zh-CN" sz="2800" dirty="0">
                <a:latin typeface="Times New Roman" pitchFamily="18" charset="0"/>
                <a:ea typeface="黑体" pitchFamily="49" charset="-122"/>
                <a:cs typeface="Times New Roman" pitchFamily="18" charset="0"/>
              </a:rPr>
              <a:t>CO</a:t>
            </a:r>
            <a:r>
              <a:rPr lang="en-US" altLang="zh-CN" sz="2800" baseline="-25000" dirty="0">
                <a:latin typeface="Times New Roman" pitchFamily="18" charset="0"/>
                <a:ea typeface="黑体" pitchFamily="49" charset="-122"/>
                <a:cs typeface="Times New Roman" pitchFamily="18" charset="0"/>
              </a:rPr>
              <a:t>2</a:t>
            </a:r>
            <a:r>
              <a:rPr lang="zh-CN" altLang="en-US" sz="2800" dirty="0">
                <a:latin typeface="Times New Roman" pitchFamily="18" charset="0"/>
                <a:ea typeface="黑体" pitchFamily="49" charset="-122"/>
                <a:cs typeface="Times New Roman" pitchFamily="18" charset="0"/>
              </a:rPr>
              <a:t>（</a:t>
            </a:r>
            <a:r>
              <a:rPr lang="en-US" altLang="zh-CN" sz="2800" dirty="0" err="1">
                <a:latin typeface="Times New Roman" pitchFamily="18" charset="0"/>
                <a:ea typeface="黑体" pitchFamily="49" charset="-122"/>
                <a:cs typeface="Times New Roman" pitchFamily="18" charset="0"/>
              </a:rPr>
              <a:t>aq</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H</a:t>
            </a:r>
            <a:r>
              <a:rPr lang="en-US" altLang="zh-CN" sz="2800" baseline="-25000" dirty="0">
                <a:latin typeface="Times New Roman" pitchFamily="18" charset="0"/>
                <a:ea typeface="黑体" pitchFamily="49" charset="-122"/>
                <a:cs typeface="Times New Roman" pitchFamily="18" charset="0"/>
              </a:rPr>
              <a:t>2</a:t>
            </a:r>
            <a:r>
              <a:rPr lang="en-US" altLang="zh-CN" sz="2800" dirty="0">
                <a:latin typeface="Times New Roman" pitchFamily="18" charset="0"/>
                <a:ea typeface="黑体" pitchFamily="49" charset="-122"/>
                <a:cs typeface="Times New Roman" pitchFamily="18" charset="0"/>
              </a:rPr>
              <a:t>CO</a:t>
            </a:r>
            <a:r>
              <a:rPr lang="en-US" altLang="zh-CN" sz="2800" baseline="-25000" dirty="0">
                <a:latin typeface="Times New Roman" pitchFamily="18" charset="0"/>
                <a:ea typeface="黑体" pitchFamily="49" charset="-122"/>
                <a:cs typeface="Times New Roman" pitchFamily="18" charset="0"/>
              </a:rPr>
              <a:t>3</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HCO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和</a:t>
            </a:r>
            <a:r>
              <a:rPr lang="en-US" altLang="zh-CN" sz="2800" dirty="0">
                <a:latin typeface="Times New Roman" pitchFamily="18" charset="0"/>
                <a:ea typeface="黑体" pitchFamily="49" charset="-122"/>
                <a:cs typeface="Times New Roman" pitchFamily="18" charset="0"/>
              </a:rPr>
              <a:t>CO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2-</a:t>
            </a:r>
            <a:endParaRPr lang="zh-CN" altLang="en-US" sz="2800" dirty="0">
              <a:latin typeface="Times New Roman" pitchFamily="18" charset="0"/>
              <a:ea typeface="黑体" pitchFamily="49" charset="-122"/>
              <a:cs typeface="Times New Roman" pitchFamily="18" charset="0"/>
            </a:endParaRPr>
          </a:p>
          <a:p>
            <a:pPr marL="466725" indent="-466725">
              <a:lnSpc>
                <a:spcPct val="150000"/>
              </a:lnSpc>
              <a:spcBef>
                <a:spcPct val="0"/>
              </a:spcBef>
            </a:pPr>
            <a:r>
              <a:rPr lang="zh-CN" altLang="en-US" sz="2800" dirty="0">
                <a:solidFill>
                  <a:srgbClr val="0000FF"/>
                </a:solidFill>
                <a:latin typeface="Times New Roman" pitchFamily="18" charset="0"/>
                <a:ea typeface="黑体" pitchFamily="49" charset="-122"/>
                <a:cs typeface="Times New Roman" pitchFamily="18" charset="0"/>
              </a:rPr>
              <a:t>总二氧化碳（</a:t>
            </a:r>
            <a:r>
              <a:rPr lang="en-US" altLang="zh-CN" sz="2800" dirty="0">
                <a:solidFill>
                  <a:srgbClr val="0000FF"/>
                </a:solidFill>
                <a:latin typeface="Times New Roman" pitchFamily="18" charset="0"/>
                <a:ea typeface="黑体" pitchFamily="49" charset="-122"/>
                <a:cs typeface="Times New Roman" pitchFamily="18" charset="0"/>
              </a:rPr>
              <a:t>TCO</a:t>
            </a:r>
            <a:r>
              <a:rPr lang="en-US" altLang="zh-CN" sz="2800" baseline="-25000" dirty="0">
                <a:solidFill>
                  <a:srgbClr val="0000FF"/>
                </a:solidFill>
                <a:latin typeface="Times New Roman" pitchFamily="18" charset="0"/>
                <a:ea typeface="黑体" pitchFamily="49" charset="-122"/>
                <a:cs typeface="Times New Roman" pitchFamily="18" charset="0"/>
              </a:rPr>
              <a:t>2</a:t>
            </a:r>
            <a:r>
              <a:rPr lang="zh-CN" altLang="en-US" sz="2800" dirty="0">
                <a:solidFill>
                  <a:srgbClr val="0000FF"/>
                </a:solidFill>
                <a:latin typeface="Times New Roman" pitchFamily="18" charset="0"/>
                <a:ea typeface="黑体" pitchFamily="49" charset="-122"/>
                <a:cs typeface="Times New Roman" pitchFamily="18" charset="0"/>
              </a:rPr>
              <a:t>）或总溶解无机碳（</a:t>
            </a:r>
            <a:r>
              <a:rPr lang="en-US" altLang="zh-CN" sz="2800" dirty="0">
                <a:solidFill>
                  <a:srgbClr val="0000FF"/>
                </a:solidFill>
                <a:latin typeface="Times New Roman" pitchFamily="18" charset="0"/>
                <a:ea typeface="黑体" pitchFamily="49" charset="-122"/>
                <a:cs typeface="Times New Roman" pitchFamily="18" charset="0"/>
              </a:rPr>
              <a:t>DIC</a:t>
            </a:r>
            <a:r>
              <a:rPr lang="zh-CN" altLang="en-US" sz="2800" dirty="0">
                <a:solidFill>
                  <a:srgbClr val="0000FF"/>
                </a:solidFill>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海水中各种无机碳形态浓度之和。</a:t>
            </a:r>
          </a:p>
        </p:txBody>
      </p:sp>
      <p:sp>
        <p:nvSpPr>
          <p:cNvPr id="19463" name="Rectangle 9"/>
          <p:cNvSpPr>
            <a:spLocks noChangeArrowheads="1"/>
          </p:cNvSpPr>
          <p:nvPr/>
        </p:nvSpPr>
        <p:spPr bwMode="auto">
          <a:xfrm>
            <a:off x="0" y="33004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9464" name="Rectangle 11"/>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graphicFrame>
        <p:nvGraphicFramePr>
          <p:cNvPr id="19459" name="Object 10"/>
          <p:cNvGraphicFramePr>
            <a:graphicFrameLocks noChangeAspect="1"/>
          </p:cNvGraphicFramePr>
          <p:nvPr/>
        </p:nvGraphicFramePr>
        <p:xfrm>
          <a:off x="684213" y="5084763"/>
          <a:ext cx="7920037" cy="582612"/>
        </p:xfrm>
        <a:graphic>
          <a:graphicData uri="http://schemas.openxmlformats.org/presentationml/2006/ole">
            <mc:AlternateContent xmlns:mc="http://schemas.openxmlformats.org/markup-compatibility/2006">
              <mc:Choice xmlns:v="urn:schemas-microsoft-com:vml" Requires="v">
                <p:oleObj spid="_x0000_s1029" name="Equation" r:id="rId3" imgW="3238500" imgH="241300" progId="Equation.DSMT4">
                  <p:embed/>
                </p:oleObj>
              </mc:Choice>
              <mc:Fallback>
                <p:oleObj name="Equation" r:id="rId3" imgW="3238500" imgH="2413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5084763"/>
                        <a:ext cx="7920037" cy="582612"/>
                      </a:xfrm>
                      <a:prstGeom prst="rect">
                        <a:avLst/>
                      </a:prstGeom>
                      <a:solidFill>
                        <a:srgbClr val="CCFFFF">
                          <a:alpha val="58038"/>
                        </a:srgbClr>
                      </a:solidFill>
                      <a:ln w="9525">
                        <a:solidFill>
                          <a:srgbClr val="800000"/>
                        </a:solidFill>
                        <a:miter lim="800000"/>
                        <a:headEnd/>
                        <a:tailEnd/>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a:extLst>
              <a:ext uri="{FF2B5EF4-FFF2-40B4-BE49-F238E27FC236}">
                <a16:creationId xmlns:a16="http://schemas.microsoft.com/office/drawing/2014/main" id="{C433EF06-27B5-423D-ABE5-32BD4FE2A263}"/>
              </a:ext>
            </a:extLst>
          </p:cNvPr>
          <p:cNvSpPr txBox="1">
            <a:spLocks noChangeArrowheads="1"/>
          </p:cNvSpPr>
          <p:nvPr/>
        </p:nvSpPr>
        <p:spPr bwMode="auto">
          <a:xfrm>
            <a:off x="323850" y="1341438"/>
            <a:ext cx="8424863"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36000" rIns="18000" bIns="10800">
            <a:spAutoFit/>
          </a:bodyPr>
          <a:lstStyle>
            <a:lvl1pPr marL="466725" indent="-466725"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ts val="600"/>
              </a:spcBef>
            </a:pP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游离的二氧化碳：</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a:latin typeface="Times New Roman" panose="02020603050405020304" pitchFamily="18" charset="0"/>
                <a:ea typeface="黑体" panose="02010609060101010101" pitchFamily="49" charset="-122"/>
                <a:cs typeface="Times New Roman" panose="02020603050405020304" pitchFamily="18" charset="0"/>
              </a:rPr>
              <a:t>(aq)</a:t>
            </a:r>
            <a:r>
              <a:rPr lang="zh-CN" altLang="en-US" sz="280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a:latin typeface="Times New Roman" panose="02020603050405020304" pitchFamily="18" charset="0"/>
                <a:ea typeface="黑体" panose="02010609060101010101" pitchFamily="49" charset="-122"/>
                <a:cs typeface="Times New Roman" panose="02020603050405020304" pitchFamily="18" charset="0"/>
              </a:rPr>
              <a:t>H</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rPr>
              <a:t>均是电荷数为</a:t>
            </a:r>
            <a:r>
              <a:rPr lang="en-US" altLang="zh-CN" sz="280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a:latin typeface="Times New Roman" panose="02020603050405020304" pitchFamily="18" charset="0"/>
                <a:ea typeface="黑体" panose="02010609060101010101" pitchFamily="49" charset="-122"/>
                <a:cs typeface="Times New Roman" panose="02020603050405020304" pitchFamily="18" charset="0"/>
              </a:rPr>
              <a:t>的中性分子，从化学角度是无法分离的，二者浓度之和称为游离的二氧化碳。</a:t>
            </a:r>
          </a:p>
        </p:txBody>
      </p:sp>
      <p:sp>
        <p:nvSpPr>
          <p:cNvPr id="20484" name="Rectangle 4">
            <a:extLst>
              <a:ext uri="{FF2B5EF4-FFF2-40B4-BE49-F238E27FC236}">
                <a16:creationId xmlns:a16="http://schemas.microsoft.com/office/drawing/2014/main" id="{6FE918D9-05FC-49CE-9C6F-413F27E6F8B9}"/>
              </a:ext>
            </a:extLst>
          </p:cNvPr>
          <p:cNvSpPr>
            <a:spLocks noChangeArrowheads="1"/>
          </p:cNvSpPr>
          <p:nvPr/>
        </p:nvSpPr>
        <p:spPr bwMode="auto">
          <a:xfrm>
            <a:off x="0" y="3238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85" name="Rectangle 5">
            <a:extLst>
              <a:ext uri="{FF2B5EF4-FFF2-40B4-BE49-F238E27FC236}">
                <a16:creationId xmlns:a16="http://schemas.microsoft.com/office/drawing/2014/main" id="{DE6FDC38-838D-4D6C-A896-52FA19C39647}"/>
              </a:ext>
            </a:extLst>
          </p:cNvPr>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86" name="Rectangle 6">
            <a:extLst>
              <a:ext uri="{FF2B5EF4-FFF2-40B4-BE49-F238E27FC236}">
                <a16:creationId xmlns:a16="http://schemas.microsoft.com/office/drawing/2014/main" id="{1D1F4DC4-AD87-4883-9710-36E001862BC1}"/>
              </a:ext>
            </a:extLst>
          </p:cNvPr>
          <p:cNvSpPr>
            <a:spLocks noChangeArrowheads="1"/>
          </p:cNvSpPr>
          <p:nvPr/>
        </p:nvSpPr>
        <p:spPr bwMode="auto">
          <a:xfrm>
            <a:off x="0" y="3243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87" name="Rectangle 8">
            <a:extLst>
              <a:ext uri="{FF2B5EF4-FFF2-40B4-BE49-F238E27FC236}">
                <a16:creationId xmlns:a16="http://schemas.microsoft.com/office/drawing/2014/main" id="{0BF2C334-D361-45C8-B276-CD519D56C98F}"/>
              </a:ext>
            </a:extLst>
          </p:cNvPr>
          <p:cNvSpPr>
            <a:spLocks noChangeArrowheads="1"/>
          </p:cNvSpPr>
          <p:nvPr/>
        </p:nvSpPr>
        <p:spPr bwMode="auto">
          <a:xfrm>
            <a:off x="0" y="2349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88" name="Rectangle 9">
            <a:extLst>
              <a:ext uri="{FF2B5EF4-FFF2-40B4-BE49-F238E27FC236}">
                <a16:creationId xmlns:a16="http://schemas.microsoft.com/office/drawing/2014/main" id="{439CBD03-F156-456C-9068-A09FA802B971}"/>
              </a:ext>
            </a:extLst>
          </p:cNvPr>
          <p:cNvSpPr>
            <a:spLocks noChangeArrowheads="1"/>
          </p:cNvSpPr>
          <p:nvPr/>
        </p:nvSpPr>
        <p:spPr bwMode="auto">
          <a:xfrm>
            <a:off x="0" y="1230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89" name="Rectangle 10">
            <a:extLst>
              <a:ext uri="{FF2B5EF4-FFF2-40B4-BE49-F238E27FC236}">
                <a16:creationId xmlns:a16="http://schemas.microsoft.com/office/drawing/2014/main" id="{C75E396F-ED2C-4BAB-9AEB-7F348275A19B}"/>
              </a:ext>
            </a:extLst>
          </p:cNvPr>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0" name="Rectangle 11">
            <a:extLst>
              <a:ext uri="{FF2B5EF4-FFF2-40B4-BE49-F238E27FC236}">
                <a16:creationId xmlns:a16="http://schemas.microsoft.com/office/drawing/2014/main" id="{16881BB7-AB14-4C72-A575-EECD4E088854}"/>
              </a:ext>
            </a:extLst>
          </p:cNvPr>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1" name="Rectangle 12">
            <a:extLst>
              <a:ext uri="{FF2B5EF4-FFF2-40B4-BE49-F238E27FC236}">
                <a16:creationId xmlns:a16="http://schemas.microsoft.com/office/drawing/2014/main" id="{FDC481BD-9058-4BAA-AE7F-6CCF7E7C853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2" name="Rectangle 13">
            <a:extLst>
              <a:ext uri="{FF2B5EF4-FFF2-40B4-BE49-F238E27FC236}">
                <a16:creationId xmlns:a16="http://schemas.microsoft.com/office/drawing/2014/main" id="{A9758EA0-4EEA-471B-A2F1-A4E507F17FA7}"/>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3" name="Rectangle 14">
            <a:extLst>
              <a:ext uri="{FF2B5EF4-FFF2-40B4-BE49-F238E27FC236}">
                <a16:creationId xmlns:a16="http://schemas.microsoft.com/office/drawing/2014/main" id="{7620292A-C664-4D4E-9512-F25E338FCD3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4" name="Rectangle 16">
            <a:extLst>
              <a:ext uri="{FF2B5EF4-FFF2-40B4-BE49-F238E27FC236}">
                <a16:creationId xmlns:a16="http://schemas.microsoft.com/office/drawing/2014/main" id="{6C1F470D-498E-44D6-8683-0853F53CA60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5" name="Rectangle 18">
            <a:extLst>
              <a:ext uri="{FF2B5EF4-FFF2-40B4-BE49-F238E27FC236}">
                <a16:creationId xmlns:a16="http://schemas.microsoft.com/office/drawing/2014/main" id="{E103705B-B53B-4A54-89F7-5650AAF13F7F}"/>
              </a:ext>
            </a:extLst>
          </p:cNvPr>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6" name="Rectangle 21">
            <a:extLst>
              <a:ext uri="{FF2B5EF4-FFF2-40B4-BE49-F238E27FC236}">
                <a16:creationId xmlns:a16="http://schemas.microsoft.com/office/drawing/2014/main" id="{4A340CEB-C39C-4C78-8627-F012BFECB1C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7" name="Rectangle 23">
            <a:extLst>
              <a:ext uri="{FF2B5EF4-FFF2-40B4-BE49-F238E27FC236}">
                <a16:creationId xmlns:a16="http://schemas.microsoft.com/office/drawing/2014/main" id="{CE5E5430-D153-4E2E-9609-1CE4FE814EC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8" name="Rectangle 25">
            <a:extLst>
              <a:ext uri="{FF2B5EF4-FFF2-40B4-BE49-F238E27FC236}">
                <a16:creationId xmlns:a16="http://schemas.microsoft.com/office/drawing/2014/main" id="{14F78309-9DE4-407C-B052-35EBCA82F835}"/>
              </a:ext>
            </a:extLst>
          </p:cNvPr>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499" name="Rectangle 27">
            <a:extLst>
              <a:ext uri="{FF2B5EF4-FFF2-40B4-BE49-F238E27FC236}">
                <a16:creationId xmlns:a16="http://schemas.microsoft.com/office/drawing/2014/main" id="{05FDAEF4-8DDC-4E2A-8ACA-96205E7ECAA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500" name="Rectangle 29">
            <a:extLst>
              <a:ext uri="{FF2B5EF4-FFF2-40B4-BE49-F238E27FC236}">
                <a16:creationId xmlns:a16="http://schemas.microsoft.com/office/drawing/2014/main" id="{6473FA1C-2CB6-4226-8742-04A66C14110F}"/>
              </a:ext>
            </a:extLst>
          </p:cNvPr>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0501" name="Rectangle 35">
            <a:extLst>
              <a:ext uri="{FF2B5EF4-FFF2-40B4-BE49-F238E27FC236}">
                <a16:creationId xmlns:a16="http://schemas.microsoft.com/office/drawing/2014/main" id="{8A3AB237-5C4E-4A12-9AD5-3067D17E343E}"/>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graphicFrame>
        <p:nvGraphicFramePr>
          <p:cNvPr id="20482" name="Object 34">
            <a:extLst>
              <a:ext uri="{FF2B5EF4-FFF2-40B4-BE49-F238E27FC236}">
                <a16:creationId xmlns:a16="http://schemas.microsoft.com/office/drawing/2014/main" id="{64D6190E-3AA2-4F56-B526-EC54B9A26780}"/>
              </a:ext>
            </a:extLst>
          </p:cNvPr>
          <p:cNvGraphicFramePr>
            <a:graphicFrameLocks noChangeAspect="1"/>
          </p:cNvGraphicFramePr>
          <p:nvPr/>
        </p:nvGraphicFramePr>
        <p:xfrm>
          <a:off x="1763713" y="3644900"/>
          <a:ext cx="5489575" cy="720725"/>
        </p:xfrm>
        <a:graphic>
          <a:graphicData uri="http://schemas.openxmlformats.org/presentationml/2006/ole">
            <mc:AlternateContent xmlns:mc="http://schemas.openxmlformats.org/markup-compatibility/2006">
              <mc:Choice xmlns:v="urn:schemas-microsoft-com:vml" Requires="v">
                <p:oleObj spid="_x0000_s2053" name="Equation" r:id="rId3" imgW="1739900" imgH="228600" progId="Equation.DSMT4">
                  <p:embed/>
                </p:oleObj>
              </mc:Choice>
              <mc:Fallback>
                <p:oleObj name="Equation" r:id="rId3" imgW="1739900" imgH="228600" progId="Equation.DSMT4">
                  <p:embed/>
                  <p:pic>
                    <p:nvPicPr>
                      <p:cNvPr id="20482" name="Object 34">
                        <a:extLst>
                          <a:ext uri="{FF2B5EF4-FFF2-40B4-BE49-F238E27FC236}">
                            <a16:creationId xmlns:a16="http://schemas.microsoft.com/office/drawing/2014/main" id="{64D6190E-3AA2-4F56-B526-EC54B9A267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3644900"/>
                        <a:ext cx="5489575" cy="720725"/>
                      </a:xfrm>
                      <a:prstGeom prst="rect">
                        <a:avLst/>
                      </a:prstGeom>
                      <a:solidFill>
                        <a:srgbClr val="CCFFFF">
                          <a:alpha val="59000"/>
                        </a:srgbClr>
                      </a:solidFill>
                      <a:ln w="9525">
                        <a:solidFill>
                          <a:srgbClr val="800000"/>
                        </a:solidFill>
                        <a:miter lim="800000"/>
                        <a:headEnd/>
                        <a:tailEnd/>
                      </a:ln>
                    </p:spPr>
                  </p:pic>
                </p:oleObj>
              </mc:Fallback>
            </mc:AlternateContent>
          </a:graphicData>
        </a:graphic>
      </p:graphicFrame>
      <p:sp>
        <p:nvSpPr>
          <p:cNvPr id="20503" name="Rectangle 2">
            <a:extLst>
              <a:ext uri="{FF2B5EF4-FFF2-40B4-BE49-F238E27FC236}">
                <a16:creationId xmlns:a16="http://schemas.microsoft.com/office/drawing/2014/main" id="{925A6729-4F91-4267-9616-687D32DCB89C}"/>
              </a:ext>
            </a:extLst>
          </p:cNvPr>
          <p:cNvSpPr>
            <a:spLocks noGrp="1" noChangeArrowheads="1"/>
          </p:cNvSpPr>
          <p:nvPr>
            <p:ph type="title"/>
          </p:nvPr>
        </p:nvSpPr>
        <p:spPr>
          <a:xfrm>
            <a:off x="1367631" y="206674"/>
            <a:ext cx="3168650" cy="576262"/>
          </a:xfrm>
        </p:spPr>
        <p:txBody>
          <a:bodyPr/>
          <a:lstStyle/>
          <a:p>
            <a:pPr marL="1066800" indent="-1066800" algn="l" eaLnBrk="1" hangingPunct="1"/>
            <a:r>
              <a:rPr lang="zh-CN" altLang="en-US" sz="32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游离的二氧化碳</a:t>
            </a:r>
          </a:p>
        </p:txBody>
      </p:sp>
    </p:spTree>
    <p:extLst>
      <p:ext uri="{BB962C8B-B14F-4D97-AF65-F5344CB8AC3E}">
        <p14:creationId xmlns:p14="http://schemas.microsoft.com/office/powerpoint/2010/main" val="2858141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6DB7481B-ACF7-47CA-8DBF-CD26F59EFC71}"/>
              </a:ext>
            </a:extLst>
          </p:cNvPr>
          <p:cNvSpPr>
            <a:spLocks noGrp="1" noChangeArrowheads="1"/>
          </p:cNvSpPr>
          <p:nvPr>
            <p:ph type="title"/>
          </p:nvPr>
        </p:nvSpPr>
        <p:spPr>
          <a:xfrm>
            <a:off x="250825" y="1268413"/>
            <a:ext cx="5761038" cy="576262"/>
          </a:xfrm>
        </p:spPr>
        <p:txBody>
          <a:bodyPr/>
          <a:lstStyle/>
          <a:p>
            <a:pPr marL="1066800" indent="-1066800" algn="l" eaLnBrk="1" hangingPunct="1"/>
            <a:r>
              <a:rPr lang="zh-CN" altLang="en-US" sz="3600" b="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一、总二氧化碳（</a:t>
            </a:r>
            <a:r>
              <a:rPr lang="en-US" altLang="zh-CN" sz="3600" b="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3600" b="1" baseline="-2500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3600" b="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9461" name="Rectangle 4">
            <a:extLst>
              <a:ext uri="{FF2B5EF4-FFF2-40B4-BE49-F238E27FC236}">
                <a16:creationId xmlns:a16="http://schemas.microsoft.com/office/drawing/2014/main" id="{74AE04C0-E614-4ADC-813E-4D54960D5A68}"/>
              </a:ext>
            </a:extLst>
          </p:cNvPr>
          <p:cNvSpPr>
            <a:spLocks noChangeArrowheads="1"/>
          </p:cNvSpPr>
          <p:nvPr/>
        </p:nvSpPr>
        <p:spPr bwMode="auto">
          <a:xfrm>
            <a:off x="2051720" y="324644"/>
            <a:ext cx="43211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1066800" indent="-10668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00000"/>
              </a:lnSpc>
              <a:spcBef>
                <a:spcPct val="0"/>
              </a:spcBef>
              <a:buFontTx/>
              <a:buNone/>
            </a:pPr>
            <a:r>
              <a:rPr lang="zh-CN" altLang="en-US" sz="4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总二氧化碳</a:t>
            </a:r>
          </a:p>
        </p:txBody>
      </p:sp>
      <p:sp>
        <p:nvSpPr>
          <p:cNvPr id="19462" name="Text Box 5">
            <a:extLst>
              <a:ext uri="{FF2B5EF4-FFF2-40B4-BE49-F238E27FC236}">
                <a16:creationId xmlns:a16="http://schemas.microsoft.com/office/drawing/2014/main" id="{EE463389-17CE-4EAD-8CC5-1F714F1A48C5}"/>
              </a:ext>
            </a:extLst>
          </p:cNvPr>
          <p:cNvSpPr txBox="1">
            <a:spLocks noChangeArrowheads="1"/>
          </p:cNvSpPr>
          <p:nvPr/>
        </p:nvSpPr>
        <p:spPr bwMode="auto">
          <a:xfrm>
            <a:off x="179388" y="2060575"/>
            <a:ext cx="8713787"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36000" rIns="18000" bIns="10800">
            <a:spAutoFit/>
          </a:bodyPr>
          <a:lstStyle>
            <a:lvl1pPr marL="466725" indent="-466725"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ct val="0"/>
              </a:spcBef>
            </a:pP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无机碳在海水的主要存在形态：</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rPr>
              <a:t>aq</a:t>
            </a:r>
            <a:r>
              <a:rPr lang="zh-CN" altLang="en-US" sz="280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rPr>
              <a:t>H</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rPr>
              <a:t>HCO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en-US" altLang="zh-CN" sz="2800" baseline="3000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en-US" altLang="zh-CN" sz="2800" baseline="30000">
                <a:latin typeface="Times New Roman" panose="02020603050405020304" pitchFamily="18" charset="0"/>
                <a:ea typeface="黑体" panose="02010609060101010101" pitchFamily="49" charset="-122"/>
                <a:cs typeface="Times New Roman" panose="02020603050405020304" pitchFamily="18" charset="0"/>
              </a:rPr>
              <a:t>2-</a:t>
            </a:r>
            <a:endParaRPr lang="zh-CN" altLang="en-US" sz="280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pP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总二氧化碳（</a:t>
            </a: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）或总溶解无机碳（</a:t>
            </a: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DIC</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a:latin typeface="Times New Roman" panose="02020603050405020304" pitchFamily="18" charset="0"/>
                <a:ea typeface="黑体" panose="02010609060101010101" pitchFamily="49" charset="-122"/>
                <a:cs typeface="Times New Roman" panose="02020603050405020304" pitchFamily="18" charset="0"/>
              </a:rPr>
              <a:t>海水中各种无机碳形态浓度之和。或以            </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a:latin typeface="Times New Roman" panose="02020603050405020304" pitchFamily="18" charset="0"/>
                <a:ea typeface="黑体" panose="02010609060101010101" pitchFamily="49" charset="-122"/>
                <a:cs typeface="Times New Roman" panose="02020603050405020304" pitchFamily="18" charset="0"/>
              </a:rPr>
              <a:t>表示</a:t>
            </a:r>
          </a:p>
        </p:txBody>
      </p:sp>
      <p:sp>
        <p:nvSpPr>
          <p:cNvPr id="19463" name="Rectangle 9">
            <a:extLst>
              <a:ext uri="{FF2B5EF4-FFF2-40B4-BE49-F238E27FC236}">
                <a16:creationId xmlns:a16="http://schemas.microsoft.com/office/drawing/2014/main" id="{3C3492CB-8F22-4109-9232-171283880E59}"/>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graphicFrame>
        <p:nvGraphicFramePr>
          <p:cNvPr id="19458" name="Object 8">
            <a:extLst>
              <a:ext uri="{FF2B5EF4-FFF2-40B4-BE49-F238E27FC236}">
                <a16:creationId xmlns:a16="http://schemas.microsoft.com/office/drawing/2014/main" id="{A9F61DED-6F04-4DFC-8080-8C7694EB76C3}"/>
              </a:ext>
            </a:extLst>
          </p:cNvPr>
          <p:cNvGraphicFramePr>
            <a:graphicFrameLocks noChangeAspect="1"/>
          </p:cNvGraphicFramePr>
          <p:nvPr/>
        </p:nvGraphicFramePr>
        <p:xfrm>
          <a:off x="6011863" y="4149725"/>
          <a:ext cx="1008409" cy="549275"/>
        </p:xfrm>
        <a:graphic>
          <a:graphicData uri="http://schemas.openxmlformats.org/presentationml/2006/ole">
            <mc:AlternateContent xmlns:mc="http://schemas.openxmlformats.org/markup-compatibility/2006">
              <mc:Choice xmlns:v="urn:schemas-microsoft-com:vml" Requires="v">
                <p:oleObj spid="_x0000_s3080" name="Equation" r:id="rId3" imgW="507780" imgH="253890" progId="Equation.DSMT4">
                  <p:embed/>
                </p:oleObj>
              </mc:Choice>
              <mc:Fallback>
                <p:oleObj name="Equation" r:id="rId3" imgW="507780" imgH="253890" progId="Equation.DSMT4">
                  <p:embed/>
                  <p:pic>
                    <p:nvPicPr>
                      <p:cNvPr id="19458" name="Object 8">
                        <a:extLst>
                          <a:ext uri="{FF2B5EF4-FFF2-40B4-BE49-F238E27FC236}">
                            <a16:creationId xmlns:a16="http://schemas.microsoft.com/office/drawing/2014/main" id="{A9F61DED-6F04-4DFC-8080-8C7694EB76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1863" y="4149725"/>
                        <a:ext cx="1008409" cy="549275"/>
                      </a:xfrm>
                      <a:prstGeom prst="rect">
                        <a:avLst/>
                      </a:prstGeom>
                      <a:noFill/>
                    </p:spPr>
                  </p:pic>
                </p:oleObj>
              </mc:Fallback>
            </mc:AlternateContent>
          </a:graphicData>
        </a:graphic>
      </p:graphicFrame>
      <p:sp>
        <p:nvSpPr>
          <p:cNvPr id="19464" name="Rectangle 11">
            <a:extLst>
              <a:ext uri="{FF2B5EF4-FFF2-40B4-BE49-F238E27FC236}">
                <a16:creationId xmlns:a16="http://schemas.microsoft.com/office/drawing/2014/main" id="{93CCE771-8F98-464B-8AF8-799A856825D2}"/>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graphicFrame>
        <p:nvGraphicFramePr>
          <p:cNvPr id="19459" name="Object 10">
            <a:extLst>
              <a:ext uri="{FF2B5EF4-FFF2-40B4-BE49-F238E27FC236}">
                <a16:creationId xmlns:a16="http://schemas.microsoft.com/office/drawing/2014/main" id="{D9C7CEC0-5A80-441B-A4E0-D72E9558D42D}"/>
              </a:ext>
            </a:extLst>
          </p:cNvPr>
          <p:cNvGraphicFramePr>
            <a:graphicFrameLocks noChangeAspect="1"/>
          </p:cNvGraphicFramePr>
          <p:nvPr/>
        </p:nvGraphicFramePr>
        <p:xfrm>
          <a:off x="684213" y="5084763"/>
          <a:ext cx="7920037" cy="582612"/>
        </p:xfrm>
        <a:graphic>
          <a:graphicData uri="http://schemas.openxmlformats.org/presentationml/2006/ole">
            <mc:AlternateContent xmlns:mc="http://schemas.openxmlformats.org/markup-compatibility/2006">
              <mc:Choice xmlns:v="urn:schemas-microsoft-com:vml" Requires="v">
                <p:oleObj spid="_x0000_s3081" name="Equation" r:id="rId5" imgW="3238500" imgH="241300" progId="Equation.DSMT4">
                  <p:embed/>
                </p:oleObj>
              </mc:Choice>
              <mc:Fallback>
                <p:oleObj name="Equation" r:id="rId5" imgW="3238500" imgH="241300" progId="Equation.DSMT4">
                  <p:embed/>
                  <p:pic>
                    <p:nvPicPr>
                      <p:cNvPr id="19459" name="Object 10">
                        <a:extLst>
                          <a:ext uri="{FF2B5EF4-FFF2-40B4-BE49-F238E27FC236}">
                            <a16:creationId xmlns:a16="http://schemas.microsoft.com/office/drawing/2014/main" id="{D9C7CEC0-5A80-441B-A4E0-D72E9558D4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5084763"/>
                        <a:ext cx="7920037" cy="582612"/>
                      </a:xfrm>
                      <a:prstGeom prst="rect">
                        <a:avLst/>
                      </a:prstGeom>
                      <a:solidFill>
                        <a:srgbClr val="CCFFFF">
                          <a:alpha val="58000"/>
                        </a:srgbClr>
                      </a:solidFill>
                      <a:ln w="9525">
                        <a:solidFill>
                          <a:srgbClr val="800000"/>
                        </a:solidFill>
                        <a:miter lim="800000"/>
                        <a:headEnd/>
                        <a:tailEnd/>
                      </a:ln>
                    </p:spPr>
                  </p:pic>
                </p:oleObj>
              </mc:Fallback>
            </mc:AlternateContent>
          </a:graphicData>
        </a:graphic>
      </p:graphicFrame>
    </p:spTree>
    <p:extLst>
      <p:ext uri="{BB962C8B-B14F-4D97-AF65-F5344CB8AC3E}">
        <p14:creationId xmlns:p14="http://schemas.microsoft.com/office/powerpoint/2010/main" val="209879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1547664" y="332656"/>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第十章 海水中的</a:t>
            </a:r>
            <a:r>
              <a:rPr lang="en-US" altLang="zh-CN" sz="3200" b="1" dirty="0">
                <a:solidFill>
                  <a:schemeClr val="bg2">
                    <a:lumMod val="25000"/>
                  </a:schemeClr>
                </a:solidFill>
                <a:latin typeface="华文新魏" pitchFamily="2" charset="-122"/>
                <a:ea typeface="华文新魏" pitchFamily="2" charset="-122"/>
              </a:rPr>
              <a:t>TA</a:t>
            </a:r>
            <a:r>
              <a:rPr lang="zh-CN" altLang="en-US" sz="3200" b="1" dirty="0">
                <a:solidFill>
                  <a:schemeClr val="bg2">
                    <a:lumMod val="25000"/>
                  </a:schemeClr>
                </a:solidFill>
                <a:latin typeface="华文新魏" pitchFamily="2" charset="-122"/>
                <a:ea typeface="华文新魏" pitchFamily="2" charset="-122"/>
              </a:rPr>
              <a:t>和</a:t>
            </a:r>
            <a:r>
              <a:rPr lang="en-US" altLang="zh-CN" sz="3200" b="1" dirty="0">
                <a:solidFill>
                  <a:schemeClr val="bg2">
                    <a:lumMod val="25000"/>
                  </a:schemeClr>
                </a:solidFill>
                <a:latin typeface="华文新魏" pitchFamily="2" charset="-122"/>
                <a:ea typeface="华文新魏" pitchFamily="2" charset="-122"/>
              </a:rPr>
              <a:t>DIC</a:t>
            </a:r>
            <a:endParaRPr lang="zh-CN" altLang="en-US" sz="3200" b="1" dirty="0">
              <a:solidFill>
                <a:schemeClr val="bg2">
                  <a:lumMod val="25000"/>
                </a:schemeClr>
              </a:solidFill>
              <a:latin typeface="华文新魏" pitchFamily="2" charset="-122"/>
              <a:ea typeface="华文新魏" pitchFamily="2" charset="-122"/>
            </a:endParaRPr>
          </a:p>
        </p:txBody>
      </p:sp>
      <p:sp>
        <p:nvSpPr>
          <p:cNvPr id="9" name="内容占位符 8"/>
          <p:cNvSpPr>
            <a:spLocks noGrp="1"/>
          </p:cNvSpPr>
          <p:nvPr>
            <p:ph idx="1"/>
          </p:nvPr>
        </p:nvSpPr>
        <p:spPr>
          <a:xfrm>
            <a:off x="692931" y="1484784"/>
            <a:ext cx="7758138" cy="3730166"/>
          </a:xfrm>
        </p:spPr>
        <p:txBody>
          <a:bodyPr/>
          <a:lstStyle/>
          <a:p>
            <a:pPr marL="0" indent="0" algn="ctr">
              <a:lnSpc>
                <a:spcPct val="150000"/>
              </a:lnSpc>
              <a:buNone/>
            </a:pPr>
            <a:r>
              <a:rPr lang="zh-CN" altLang="en-US" sz="2400" dirty="0"/>
              <a:t>海水中</a:t>
            </a:r>
            <a:r>
              <a:rPr lang="en-US" altLang="zh-CN" sz="2400" dirty="0"/>
              <a:t>DIC</a:t>
            </a:r>
            <a:r>
              <a:rPr lang="zh-CN" altLang="en-US" sz="2400" dirty="0"/>
              <a:t>的定义以及与</a:t>
            </a:r>
            <a:r>
              <a:rPr lang="en-US" altLang="zh-CN" sz="2400" dirty="0"/>
              <a:t>TA</a:t>
            </a:r>
            <a:r>
              <a:rPr lang="zh-CN" altLang="en-US" sz="2400" dirty="0"/>
              <a:t>的关系</a:t>
            </a:r>
            <a:endParaRPr lang="en-US" altLang="zh-CN" sz="2400" dirty="0"/>
          </a:p>
          <a:p>
            <a:pPr marL="571500" indent="-571500">
              <a:lnSpc>
                <a:spcPct val="150000"/>
              </a:lnSpc>
              <a:buBlip>
                <a:blip r:embed="rId2"/>
              </a:buBlip>
            </a:pPr>
            <a:r>
              <a:rPr lang="zh-CN" altLang="en-US" sz="2400" dirty="0"/>
              <a:t>为什么</a:t>
            </a:r>
            <a:r>
              <a:rPr lang="en-US" altLang="zh-CN" sz="2400" dirty="0"/>
              <a:t>TA</a:t>
            </a:r>
            <a:r>
              <a:rPr lang="zh-CN" altLang="en-US" sz="2400" dirty="0"/>
              <a:t>和</a:t>
            </a:r>
            <a:r>
              <a:rPr lang="en-US" altLang="zh-CN" sz="2400" dirty="0"/>
              <a:t>DIC</a:t>
            </a:r>
            <a:r>
              <a:rPr lang="zh-CN" altLang="en-US" sz="2400" dirty="0"/>
              <a:t>放在一起讲？</a:t>
            </a:r>
            <a:endParaRPr lang="en-US" altLang="zh-CN" sz="2400" dirty="0"/>
          </a:p>
          <a:p>
            <a:pPr marL="571500" indent="-571500">
              <a:lnSpc>
                <a:spcPct val="150000"/>
              </a:lnSpc>
              <a:buBlip>
                <a:blip r:embed="rId2"/>
              </a:buBlip>
            </a:pPr>
            <a:r>
              <a:rPr lang="zh-CN" altLang="en-US" sz="2400" dirty="0"/>
              <a:t>在碳酸盐体系里，用</a:t>
            </a:r>
            <a:r>
              <a:rPr lang="en-US" altLang="zh-CN" sz="2400" dirty="0"/>
              <a:t>TA</a:t>
            </a:r>
            <a:r>
              <a:rPr lang="zh-CN" altLang="en-US" sz="2400" dirty="0"/>
              <a:t>和</a:t>
            </a:r>
            <a:r>
              <a:rPr lang="en-US" altLang="zh-CN" sz="2400" dirty="0"/>
              <a:t>DIC</a:t>
            </a:r>
            <a:r>
              <a:rPr lang="zh-CN" altLang="en-US" sz="2400" dirty="0"/>
              <a:t>来计算其它两个量从计算角度讲是最不精确的，为什么？</a:t>
            </a:r>
            <a:endParaRPr lang="en-US" altLang="zh-CN" sz="2400" dirty="0"/>
          </a:p>
          <a:p>
            <a:pPr marL="571500" indent="-571500">
              <a:lnSpc>
                <a:spcPct val="150000"/>
              </a:lnSpc>
              <a:buBlip>
                <a:blip r:embed="rId2"/>
              </a:buBlip>
            </a:pPr>
            <a:r>
              <a:rPr lang="zh-CN" altLang="en-US" sz="2400" dirty="0"/>
              <a:t>为什么还经常用</a:t>
            </a:r>
            <a:r>
              <a:rPr lang="en-US" altLang="zh-CN" sz="2400" dirty="0"/>
              <a:t>TA</a:t>
            </a:r>
            <a:r>
              <a:rPr lang="zh-CN" altLang="en-US" sz="2400" dirty="0"/>
              <a:t>和</a:t>
            </a:r>
            <a:r>
              <a:rPr lang="en-US" altLang="zh-CN" sz="2400" dirty="0"/>
              <a:t>DIC</a:t>
            </a:r>
            <a:r>
              <a:rPr lang="zh-CN" altLang="en-US" sz="2400" dirty="0"/>
              <a:t>来计算碳酸盐体系？</a:t>
            </a:r>
            <a:endParaRPr lang="en-US" altLang="zh-CN" sz="2400" dirty="0"/>
          </a:p>
          <a:p>
            <a:pPr marL="971550" lvl="1" indent="-571500">
              <a:buNone/>
            </a:pPr>
            <a:r>
              <a:rPr lang="en-US" altLang="zh-CN" dirty="0"/>
              <a:t>    </a:t>
            </a:r>
          </a:p>
          <a:p>
            <a:pPr marL="571500" indent="-571500">
              <a:buFont typeface="Wingdings" pitchFamily="2" charset="2"/>
              <a:buChar char="Ø"/>
            </a:pPr>
            <a:endParaRPr lang="en-US" altLang="zh-CN" dirty="0"/>
          </a:p>
          <a:p>
            <a:pPr marL="571500" indent="-571500">
              <a:buNone/>
            </a:pPr>
            <a:endParaRPr lang="zh-CN" altLang="en-US" sz="2400" dirty="0"/>
          </a:p>
        </p:txBody>
      </p:sp>
    </p:spTree>
    <p:extLst>
      <p:ext uri="{BB962C8B-B14F-4D97-AF65-F5344CB8AC3E}">
        <p14:creationId xmlns:p14="http://schemas.microsoft.com/office/powerpoint/2010/main" val="4235697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BB9BF415-804C-4C00-ADD7-FA15E91674AE}"/>
              </a:ext>
            </a:extLst>
          </p:cNvPr>
          <p:cNvSpPr>
            <a:spLocks noGrp="1" noChangeArrowheads="1"/>
          </p:cNvSpPr>
          <p:nvPr>
            <p:ph type="title"/>
          </p:nvPr>
        </p:nvSpPr>
        <p:spPr>
          <a:xfrm>
            <a:off x="1007268" y="332656"/>
            <a:ext cx="7129463" cy="576263"/>
          </a:xfrm>
        </p:spPr>
        <p:txBody>
          <a:bodyPr/>
          <a:lstStyle/>
          <a:p>
            <a:pPr marL="1066800" indent="-1066800" algn="l" eaLnBrk="1" hangingPunct="1"/>
            <a:r>
              <a:rPr lang="zh-CN" altLang="en-US" sz="36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二、影响总二氧化碳的海洋学过程</a:t>
            </a:r>
          </a:p>
        </p:txBody>
      </p:sp>
      <p:sp>
        <p:nvSpPr>
          <p:cNvPr id="89091" name="Rectangle 6">
            <a:extLst>
              <a:ext uri="{FF2B5EF4-FFF2-40B4-BE49-F238E27FC236}">
                <a16:creationId xmlns:a16="http://schemas.microsoft.com/office/drawing/2014/main" id="{A7BE5B9B-DEB5-46A1-B49A-641ACB57FD76}"/>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89092" name="Rectangle 8">
            <a:extLst>
              <a:ext uri="{FF2B5EF4-FFF2-40B4-BE49-F238E27FC236}">
                <a16:creationId xmlns:a16="http://schemas.microsoft.com/office/drawing/2014/main" id="{D14E4EC9-E35C-4F4A-A527-7A792B1A674C}"/>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89093" name="Text Box 10">
            <a:extLst>
              <a:ext uri="{FF2B5EF4-FFF2-40B4-BE49-F238E27FC236}">
                <a16:creationId xmlns:a16="http://schemas.microsoft.com/office/drawing/2014/main" id="{F5C94F88-6387-43DE-879A-FC7625890CDA}"/>
              </a:ext>
            </a:extLst>
          </p:cNvPr>
          <p:cNvSpPr txBox="1">
            <a:spLocks noChangeArrowheads="1"/>
          </p:cNvSpPr>
          <p:nvPr/>
        </p:nvSpPr>
        <p:spPr bwMode="auto">
          <a:xfrm>
            <a:off x="1258888" y="1628775"/>
            <a:ext cx="5400675"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lIns="18000" tIns="36000" rIns="18000" bIns="10800">
            <a:spAutoFit/>
          </a:bodyPr>
          <a:lstStyle>
            <a:lvl1pPr marL="514350" indent="-51435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ts val="600"/>
              </a:spcBef>
              <a:buFont typeface="Calibri" panose="020F0502020204030204" pitchFamily="34" charset="0"/>
              <a:buAutoNum type="arabicPeriod"/>
            </a:pP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盐度</a:t>
            </a:r>
            <a:endParaRPr lang="en-US" altLang="zh-CN" sz="32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ts val="600"/>
              </a:spcBef>
              <a:buFont typeface="Calibri" panose="020F0502020204030204" pitchFamily="34" charset="0"/>
              <a:buAutoNum type="arabicPeriod"/>
            </a:pP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生物光合作用</a:t>
            </a:r>
            <a:endParaRPr lang="en-US" altLang="zh-CN" sz="32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ts val="600"/>
              </a:spcBef>
              <a:buFont typeface="Calibri" panose="020F0502020204030204" pitchFamily="34" charset="0"/>
              <a:buAutoNum type="arabicPeriod"/>
            </a:pP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有机物再矿化</a:t>
            </a:r>
            <a:endParaRPr lang="en-US" altLang="zh-CN" sz="32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ts val="600"/>
              </a:spcBef>
              <a:buFont typeface="Calibri" panose="020F0502020204030204" pitchFamily="34" charset="0"/>
              <a:buAutoNum type="arabicPeriod"/>
            </a:pP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CaCO</a:t>
            </a:r>
            <a:r>
              <a:rPr lang="en-US" altLang="zh-CN" sz="3200" baseline="-2500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的沉淀与溶解</a:t>
            </a:r>
          </a:p>
        </p:txBody>
      </p:sp>
      <p:sp>
        <p:nvSpPr>
          <p:cNvPr id="89094" name="Rectangle 12">
            <a:extLst>
              <a:ext uri="{FF2B5EF4-FFF2-40B4-BE49-F238E27FC236}">
                <a16:creationId xmlns:a16="http://schemas.microsoft.com/office/drawing/2014/main" id="{4DF3A0F5-9E48-42EA-8DF4-693D16675881}"/>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5">
            <a:extLst>
              <a:ext uri="{FF2B5EF4-FFF2-40B4-BE49-F238E27FC236}">
                <a16:creationId xmlns:a16="http://schemas.microsoft.com/office/drawing/2014/main" id="{64D8E486-DCB2-4A61-B569-2DE793EBB76B}"/>
              </a:ext>
            </a:extLst>
          </p:cNvPr>
          <p:cNvSpPr txBox="1">
            <a:spLocks noChangeArrowheads="1"/>
          </p:cNvSpPr>
          <p:nvPr/>
        </p:nvSpPr>
        <p:spPr bwMode="auto">
          <a:xfrm>
            <a:off x="395288" y="1341438"/>
            <a:ext cx="8351837"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36000" rIns="18000" bIns="10800">
            <a:spAutoFit/>
          </a:bodyPr>
          <a:lstStyle>
            <a:lvl1pPr marL="466725" indent="-466725"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ts val="600"/>
              </a:spcBef>
            </a:pP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海水盐度越高，</a:t>
            </a: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亦较高：</a:t>
            </a:r>
            <a:r>
              <a:rPr lang="zh-CN" altLang="en-US" sz="2800">
                <a:latin typeface="Times New Roman" panose="02020603050405020304" pitchFamily="18" charset="0"/>
                <a:ea typeface="黑体" panose="02010609060101010101" pitchFamily="49" charset="-122"/>
                <a:cs typeface="Times New Roman" panose="02020603050405020304" pitchFamily="18" charset="0"/>
              </a:rPr>
              <a:t>降雨、蒸发、淡水输入、海冰的形成与融化等。</a:t>
            </a:r>
          </a:p>
          <a:p>
            <a:pPr eaLnBrk="1" hangingPunct="1">
              <a:lnSpc>
                <a:spcPct val="150000"/>
              </a:lnSpc>
              <a:spcBef>
                <a:spcPts val="600"/>
              </a:spcBef>
            </a:pP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归一化</a:t>
            </a: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a:latin typeface="Times New Roman" panose="02020603050405020304" pitchFamily="18" charset="0"/>
                <a:ea typeface="黑体" panose="02010609060101010101" pitchFamily="49" charset="-122"/>
                <a:cs typeface="Times New Roman" panose="02020603050405020304" pitchFamily="18" charset="0"/>
              </a:rPr>
              <a:t>为消除盐度的影响，可对盐度进行归一化处理，校正至同一盐度水平进行</a:t>
            </a:r>
            <a:r>
              <a:rPr lang="en-US" altLang="zh-CN" sz="2800">
                <a:latin typeface="Times New Roman" panose="02020603050405020304" pitchFamily="18" charset="0"/>
                <a:ea typeface="黑体" panose="02010609060101010101" pitchFamily="49" charset="-122"/>
                <a:cs typeface="Times New Roman" panose="02020603050405020304" pitchFamily="18" charset="0"/>
              </a:rPr>
              <a:t>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rPr>
              <a:t>比较：</a:t>
            </a:r>
          </a:p>
        </p:txBody>
      </p:sp>
      <p:sp>
        <p:nvSpPr>
          <p:cNvPr id="22532" name="Rectangle 6">
            <a:extLst>
              <a:ext uri="{FF2B5EF4-FFF2-40B4-BE49-F238E27FC236}">
                <a16:creationId xmlns:a16="http://schemas.microsoft.com/office/drawing/2014/main" id="{7FD0A2A2-64FE-4924-B2F7-863C2D871AFF}"/>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2533" name="Rectangle 8">
            <a:extLst>
              <a:ext uri="{FF2B5EF4-FFF2-40B4-BE49-F238E27FC236}">
                <a16:creationId xmlns:a16="http://schemas.microsoft.com/office/drawing/2014/main" id="{E2CB7C6F-6885-4CA8-A565-BABE84051C1B}"/>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22534" name="Text Box 10">
            <a:extLst>
              <a:ext uri="{FF2B5EF4-FFF2-40B4-BE49-F238E27FC236}">
                <a16:creationId xmlns:a16="http://schemas.microsoft.com/office/drawing/2014/main" id="{2D307938-5811-4E36-9A53-3B66791CB48A}"/>
              </a:ext>
            </a:extLst>
          </p:cNvPr>
          <p:cNvSpPr txBox="1">
            <a:spLocks noChangeArrowheads="1"/>
          </p:cNvSpPr>
          <p:nvPr/>
        </p:nvSpPr>
        <p:spPr bwMode="auto">
          <a:xfrm>
            <a:off x="1763688" y="343694"/>
            <a:ext cx="36718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lIns="18000" tIns="36000" rIns="18000" bIns="10800">
            <a:spAutoFit/>
          </a:bodyPr>
          <a:lstStyle>
            <a:lvl1pPr marL="342900" indent="-3429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spcBef>
                <a:spcPct val="50000"/>
              </a:spcBef>
              <a:buFont typeface="Wingdings" panose="05000000000000000000" pitchFamily="2" charset="2"/>
              <a:buNone/>
            </a:pP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盐度对</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的影响</a:t>
            </a:r>
          </a:p>
        </p:txBody>
      </p:sp>
      <p:sp>
        <p:nvSpPr>
          <p:cNvPr id="22535" name="Rectangle 12">
            <a:extLst>
              <a:ext uri="{FF2B5EF4-FFF2-40B4-BE49-F238E27FC236}">
                <a16:creationId xmlns:a16="http://schemas.microsoft.com/office/drawing/2014/main" id="{23247B32-3A28-43AD-876A-DFC79E8FDE65}"/>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graphicFrame>
        <p:nvGraphicFramePr>
          <p:cNvPr id="22530" name="Object 11">
            <a:extLst>
              <a:ext uri="{FF2B5EF4-FFF2-40B4-BE49-F238E27FC236}">
                <a16:creationId xmlns:a16="http://schemas.microsoft.com/office/drawing/2014/main" id="{B8119514-6843-4034-A965-7F41C1F4DE36}"/>
              </a:ext>
            </a:extLst>
          </p:cNvPr>
          <p:cNvGraphicFramePr>
            <a:graphicFrameLocks noChangeAspect="1"/>
          </p:cNvGraphicFramePr>
          <p:nvPr/>
        </p:nvGraphicFramePr>
        <p:xfrm>
          <a:off x="2700338" y="4221163"/>
          <a:ext cx="3321050" cy="1008062"/>
        </p:xfrm>
        <a:graphic>
          <a:graphicData uri="http://schemas.openxmlformats.org/presentationml/2006/ole">
            <mc:AlternateContent xmlns:mc="http://schemas.openxmlformats.org/markup-compatibility/2006">
              <mc:Choice xmlns:v="urn:schemas-microsoft-com:vml" Requires="v">
                <p:oleObj spid="_x0000_s4101" name="Equation" r:id="rId3" imgW="1282700" imgH="393700" progId="Equation.DSMT4">
                  <p:embed/>
                </p:oleObj>
              </mc:Choice>
              <mc:Fallback>
                <p:oleObj name="Equation" r:id="rId3" imgW="1282700" imgH="393700" progId="Equation.DSMT4">
                  <p:embed/>
                  <p:pic>
                    <p:nvPicPr>
                      <p:cNvPr id="22530" name="Object 11">
                        <a:extLst>
                          <a:ext uri="{FF2B5EF4-FFF2-40B4-BE49-F238E27FC236}">
                            <a16:creationId xmlns:a16="http://schemas.microsoft.com/office/drawing/2014/main" id="{B8119514-6843-4034-A965-7F41C1F4DE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4221163"/>
                        <a:ext cx="3321050" cy="1008062"/>
                      </a:xfrm>
                      <a:prstGeom prst="rect">
                        <a:avLst/>
                      </a:prstGeom>
                      <a:solidFill>
                        <a:srgbClr val="CCFFFF">
                          <a:alpha val="59000"/>
                        </a:srgbClr>
                      </a:solidFill>
                      <a:ln w="9525">
                        <a:solidFill>
                          <a:srgbClr val="800000"/>
                        </a:solidFill>
                        <a:miter lim="800000"/>
                        <a:headEnd/>
                        <a:tailEnd/>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4">
            <a:extLst>
              <a:ext uri="{FF2B5EF4-FFF2-40B4-BE49-F238E27FC236}">
                <a16:creationId xmlns:a16="http://schemas.microsoft.com/office/drawing/2014/main" id="{306D438C-F72A-4362-97E2-41FF397D32CB}"/>
              </a:ext>
            </a:extLst>
          </p:cNvPr>
          <p:cNvSpPr txBox="1">
            <a:spLocks noChangeArrowheads="1"/>
          </p:cNvSpPr>
          <p:nvPr/>
        </p:nvSpPr>
        <p:spPr bwMode="auto">
          <a:xfrm>
            <a:off x="395288" y="1557338"/>
            <a:ext cx="8280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36000" rIns="18000" bIns="10800">
            <a:spAutoFit/>
          </a:bodyPr>
          <a:lstStyle>
            <a:lvl1pPr marL="466725" indent="-466725"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ts val="600"/>
              </a:spcBef>
            </a:pP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光合作用强，海水</a:t>
            </a: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一般较低，反之亦然。</a:t>
            </a:r>
            <a:endPar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ts val="600"/>
              </a:spcBef>
            </a:pPr>
            <a:r>
              <a:rPr lang="zh-CN" altLang="en-US" sz="2800">
                <a:latin typeface="Times New Roman" panose="02020603050405020304" pitchFamily="18" charset="0"/>
                <a:ea typeface="黑体" panose="02010609060101010101" pitchFamily="49" charset="-122"/>
                <a:cs typeface="Times New Roman" panose="02020603050405020304" pitchFamily="18" charset="0"/>
              </a:rPr>
              <a:t>生物光合作用的实质：将海水中的溶解无机碳（</a:t>
            </a:r>
            <a:r>
              <a:rPr lang="en-US" altLang="zh-CN" sz="2800">
                <a:latin typeface="Times New Roman" panose="02020603050405020304" pitchFamily="18" charset="0"/>
                <a:ea typeface="黑体" panose="02010609060101010101" pitchFamily="49" charset="-122"/>
                <a:cs typeface="Times New Roman" panose="02020603050405020304" pitchFamily="18" charset="0"/>
              </a:rPr>
              <a:t>DIC</a:t>
            </a:r>
            <a:r>
              <a:rPr lang="zh-CN" altLang="en-US" sz="2800">
                <a:latin typeface="Times New Roman" panose="02020603050405020304" pitchFamily="18" charset="0"/>
                <a:ea typeface="黑体" panose="02010609060101010101" pitchFamily="49" charset="-122"/>
                <a:cs typeface="Times New Roman" panose="02020603050405020304" pitchFamily="18" charset="0"/>
              </a:rPr>
              <a:t>）经过生物化学过程转化为有机碳。</a:t>
            </a:r>
          </a:p>
        </p:txBody>
      </p:sp>
      <p:sp>
        <p:nvSpPr>
          <p:cNvPr id="90115" name="Rectangle 5">
            <a:extLst>
              <a:ext uri="{FF2B5EF4-FFF2-40B4-BE49-F238E27FC236}">
                <a16:creationId xmlns:a16="http://schemas.microsoft.com/office/drawing/2014/main" id="{4AD0F765-3964-4EB3-AB48-C1A538A9EEBB}"/>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90116" name="Rectangle 6">
            <a:extLst>
              <a:ext uri="{FF2B5EF4-FFF2-40B4-BE49-F238E27FC236}">
                <a16:creationId xmlns:a16="http://schemas.microsoft.com/office/drawing/2014/main" id="{AFA35592-360B-4400-AFEF-8DB39647CA86}"/>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90117" name="Rectangle 8">
            <a:extLst>
              <a:ext uri="{FF2B5EF4-FFF2-40B4-BE49-F238E27FC236}">
                <a16:creationId xmlns:a16="http://schemas.microsoft.com/office/drawing/2014/main" id="{E8D9DEA8-58F8-4985-8F1C-CAC1E228EF7A}"/>
              </a:ext>
            </a:extLst>
          </p:cNvPr>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90118" name="Text Box 10">
            <a:extLst>
              <a:ext uri="{FF2B5EF4-FFF2-40B4-BE49-F238E27FC236}">
                <a16:creationId xmlns:a16="http://schemas.microsoft.com/office/drawing/2014/main" id="{71982A12-1FC2-46A0-BAC9-C68533220A80}"/>
              </a:ext>
            </a:extLst>
          </p:cNvPr>
          <p:cNvSpPr txBox="1">
            <a:spLocks noChangeArrowheads="1"/>
          </p:cNvSpPr>
          <p:nvPr/>
        </p:nvSpPr>
        <p:spPr bwMode="auto">
          <a:xfrm>
            <a:off x="1403350" y="404664"/>
            <a:ext cx="62642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lIns="18000" tIns="36000" rIns="18000" bIns="10800">
            <a:spAutoFit/>
          </a:bodyPr>
          <a:lstStyle>
            <a:lvl1pPr marL="342900" indent="-3429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spcBef>
                <a:spcPct val="50000"/>
              </a:spcBef>
              <a:buFont typeface="Wingdings" panose="05000000000000000000" pitchFamily="2" charset="2"/>
              <a:buNone/>
            </a:pP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生物光合作用对</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的影响</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3">
            <a:extLst>
              <a:ext uri="{FF2B5EF4-FFF2-40B4-BE49-F238E27FC236}">
                <a16:creationId xmlns:a16="http://schemas.microsoft.com/office/drawing/2014/main" id="{C946CAF3-F16F-47FA-BD1C-C5592428768C}"/>
              </a:ext>
            </a:extLst>
          </p:cNvPr>
          <p:cNvSpPr txBox="1">
            <a:spLocks noChangeArrowheads="1"/>
          </p:cNvSpPr>
          <p:nvPr/>
        </p:nvSpPr>
        <p:spPr bwMode="auto">
          <a:xfrm>
            <a:off x="468313" y="1628775"/>
            <a:ext cx="8351837"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36000" rIns="18000" bIns="10800">
            <a:spAutoFit/>
          </a:bodyPr>
          <a:lstStyle>
            <a:lvl1pPr marL="466725" indent="-466725"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ts val="600"/>
              </a:spcBef>
            </a:pP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有机物再矿化增加海水</a:t>
            </a: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a:latin typeface="Times New Roman" panose="02020603050405020304" pitchFamily="18" charset="0"/>
                <a:ea typeface="黑体" panose="02010609060101010101" pitchFamily="49" charset="-122"/>
                <a:cs typeface="Times New Roman" panose="02020603050405020304" pitchFamily="18" charset="0"/>
              </a:rPr>
              <a:t>产生</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rPr>
              <a:t>，进而快速水解成</a:t>
            </a:r>
            <a:r>
              <a:rPr lang="en-US" altLang="zh-CN" sz="2800">
                <a:latin typeface="Times New Roman" panose="02020603050405020304" pitchFamily="18" charset="0"/>
                <a:ea typeface="黑体" panose="02010609060101010101" pitchFamily="49" charset="-122"/>
                <a:cs typeface="Times New Roman" panose="02020603050405020304" pitchFamily="18" charset="0"/>
              </a:rPr>
              <a:t>HCO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en-US" altLang="zh-CN" sz="2800" baseline="3000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en-US" altLang="zh-CN" sz="2800" baseline="3000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rPr>
              <a:t>离子。</a:t>
            </a:r>
            <a:endParaRPr lang="en-US" altLang="zh-CN" sz="280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ts val="600"/>
              </a:spcBef>
            </a:pPr>
            <a:r>
              <a:rPr lang="zh-CN" altLang="en-US" sz="2800">
                <a:latin typeface="Times New Roman" panose="02020603050405020304" pitchFamily="18" charset="0"/>
                <a:ea typeface="黑体" panose="02010609060101010101" pitchFamily="49" charset="-122"/>
                <a:cs typeface="Times New Roman" panose="02020603050405020304" pitchFamily="18" charset="0"/>
              </a:rPr>
              <a:t>该影响对于中深层水体尤为重要。</a:t>
            </a:r>
          </a:p>
        </p:txBody>
      </p:sp>
      <p:sp>
        <p:nvSpPr>
          <p:cNvPr id="91139" name="Rectangle 4">
            <a:extLst>
              <a:ext uri="{FF2B5EF4-FFF2-40B4-BE49-F238E27FC236}">
                <a16:creationId xmlns:a16="http://schemas.microsoft.com/office/drawing/2014/main" id="{51ACAF1A-40E5-4935-B367-BF2D1EEE378B}"/>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91140" name="Rectangle 5">
            <a:extLst>
              <a:ext uri="{FF2B5EF4-FFF2-40B4-BE49-F238E27FC236}">
                <a16:creationId xmlns:a16="http://schemas.microsoft.com/office/drawing/2014/main" id="{10D24EC8-6296-4682-A530-CEDFC5024472}"/>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91141" name="Text Box 6">
            <a:extLst>
              <a:ext uri="{FF2B5EF4-FFF2-40B4-BE49-F238E27FC236}">
                <a16:creationId xmlns:a16="http://schemas.microsoft.com/office/drawing/2014/main" id="{6721DDC1-89A7-4CA7-B2BB-E56AA9E3B56A}"/>
              </a:ext>
            </a:extLst>
          </p:cNvPr>
          <p:cNvSpPr txBox="1">
            <a:spLocks noChangeArrowheads="1"/>
          </p:cNvSpPr>
          <p:nvPr/>
        </p:nvSpPr>
        <p:spPr bwMode="auto">
          <a:xfrm>
            <a:off x="1403648" y="332656"/>
            <a:ext cx="53276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lIns="18000" tIns="36000" rIns="18000" bIns="10800">
            <a:spAutoFit/>
          </a:bodyPr>
          <a:lstStyle>
            <a:lvl1pPr marL="342900" indent="-3429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spcBef>
                <a:spcPct val="50000"/>
              </a:spcBef>
              <a:buFont typeface="Wingdings" panose="05000000000000000000" pitchFamily="2" charset="2"/>
              <a:buNone/>
            </a:pP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有机物再矿化对</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的影响</a:t>
            </a:r>
            <a:endParaRPr lang="zh-CN" altLang="en-US" sz="3200" dirty="0">
              <a:solidFill>
                <a:srgbClr val="0000FF"/>
              </a:solidFill>
              <a:ea typeface="黑体" panose="02010609060101010101" pitchFamily="49" charset="-122"/>
              <a:cs typeface="Times New Roman" panose="02020603050405020304" pitchFamily="18" charset="0"/>
            </a:endParaRPr>
          </a:p>
        </p:txBody>
      </p:sp>
      <p:sp>
        <p:nvSpPr>
          <p:cNvPr id="91142" name="Rectangle 7">
            <a:extLst>
              <a:ext uri="{FF2B5EF4-FFF2-40B4-BE49-F238E27FC236}">
                <a16:creationId xmlns:a16="http://schemas.microsoft.com/office/drawing/2014/main" id="{81889CFF-0B30-461F-8456-3300A0ADDBD3}"/>
              </a:ext>
            </a:extLst>
          </p:cNvPr>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3">
            <a:extLst>
              <a:ext uri="{FF2B5EF4-FFF2-40B4-BE49-F238E27FC236}">
                <a16:creationId xmlns:a16="http://schemas.microsoft.com/office/drawing/2014/main" id="{D8A736D4-70FB-4FAE-B396-B0616F09303A}"/>
              </a:ext>
            </a:extLst>
          </p:cNvPr>
          <p:cNvSpPr txBox="1">
            <a:spLocks noChangeArrowheads="1"/>
          </p:cNvSpPr>
          <p:nvPr/>
        </p:nvSpPr>
        <p:spPr bwMode="auto">
          <a:xfrm>
            <a:off x="323850" y="1484313"/>
            <a:ext cx="8496300" cy="270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36000" rIns="18000" bIns="10800">
            <a:spAutoFit/>
          </a:bodyPr>
          <a:lstStyle>
            <a:lvl1pPr marL="466725" indent="-466725"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ts val="600"/>
              </a:spcBef>
            </a:pP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CaCO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沉淀降低海水</a:t>
            </a: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a:latin typeface="Times New Roman" panose="02020603050405020304" pitchFamily="18" charset="0"/>
                <a:ea typeface="黑体" panose="02010609060101010101" pitchFamily="49" charset="-122"/>
                <a:cs typeface="Times New Roman" panose="02020603050405020304" pitchFamily="18" charset="0"/>
              </a:rPr>
              <a:t>海洋钙质生物生长过程中利用</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en-US" altLang="zh-CN" sz="2800" baseline="3000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rPr>
              <a:t>合成其</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CaCO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rPr>
              <a:t>壳体或骨骼。</a:t>
            </a:r>
          </a:p>
          <a:p>
            <a:pPr eaLnBrk="1" hangingPunct="1">
              <a:lnSpc>
                <a:spcPct val="150000"/>
              </a:lnSpc>
              <a:spcBef>
                <a:spcPts val="600"/>
              </a:spcBef>
            </a:pP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CaCO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溶解增加海水</a:t>
            </a:r>
            <a:r>
              <a:rPr lang="en-US" altLang="zh-CN"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2800" baseline="-250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a:latin typeface="Times New Roman" panose="02020603050405020304" pitchFamily="18" charset="0"/>
                <a:ea typeface="黑体" panose="02010609060101010101" pitchFamily="49" charset="-122"/>
                <a:cs typeface="Times New Roman" panose="02020603050405020304" pitchFamily="18" charset="0"/>
              </a:rPr>
              <a:t>当</a:t>
            </a:r>
            <a:r>
              <a:rPr lang="en-US" altLang="zh-CN" sz="2800">
                <a:latin typeface="Times New Roman" panose="02020603050405020304" pitchFamily="18" charset="0"/>
                <a:ea typeface="黑体" panose="02010609060101010101" pitchFamily="49" charset="-122"/>
                <a:cs typeface="Times New Roman" panose="02020603050405020304" pitchFamily="18" charset="0"/>
              </a:rPr>
              <a:t>CaCO</a:t>
            </a:r>
            <a:r>
              <a:rPr lang="en-US" altLang="zh-CN" sz="2800" baseline="-25000">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rPr>
              <a:t>壳体或骨骼输送进入中深层海洋后会溶解。</a:t>
            </a:r>
          </a:p>
        </p:txBody>
      </p:sp>
      <p:sp>
        <p:nvSpPr>
          <p:cNvPr id="92163" name="Rectangle 4">
            <a:extLst>
              <a:ext uri="{FF2B5EF4-FFF2-40B4-BE49-F238E27FC236}">
                <a16:creationId xmlns:a16="http://schemas.microsoft.com/office/drawing/2014/main" id="{D753B36E-F14F-4977-AB52-59FA7134E75A}"/>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92164" name="Rectangle 5">
            <a:extLst>
              <a:ext uri="{FF2B5EF4-FFF2-40B4-BE49-F238E27FC236}">
                <a16:creationId xmlns:a16="http://schemas.microsoft.com/office/drawing/2014/main" id="{73EF1380-7CEF-45B0-95D7-74B5EF4AF92B}"/>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92165" name="Text Box 6">
            <a:extLst>
              <a:ext uri="{FF2B5EF4-FFF2-40B4-BE49-F238E27FC236}">
                <a16:creationId xmlns:a16="http://schemas.microsoft.com/office/drawing/2014/main" id="{FE8D1789-B99A-44BE-A0F4-9D9B8EAD5D19}"/>
              </a:ext>
            </a:extLst>
          </p:cNvPr>
          <p:cNvSpPr txBox="1">
            <a:spLocks noChangeArrowheads="1"/>
          </p:cNvSpPr>
          <p:nvPr/>
        </p:nvSpPr>
        <p:spPr bwMode="auto">
          <a:xfrm>
            <a:off x="1547664" y="476672"/>
            <a:ext cx="6408738"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lIns="18000" tIns="36000" rIns="18000" bIns="10800">
            <a:spAutoFit/>
          </a:bodyPr>
          <a:lstStyle>
            <a:lvl1pPr marL="342900" indent="-3429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spcBef>
                <a:spcPct val="50000"/>
              </a:spcBef>
              <a:buFont typeface="Wingdings" panose="05000000000000000000" pitchFamily="2" charset="2"/>
              <a:buNone/>
            </a:pP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CaCO</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沉淀与溶解对</a:t>
            </a:r>
            <a:r>
              <a:rPr lang="en-US" altLang="zh-CN"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TCO</a:t>
            </a:r>
            <a:r>
              <a:rPr lang="en-US" altLang="zh-CN" sz="3200"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3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的影响</a:t>
            </a:r>
            <a:endParaRPr lang="zh-CN" altLang="en-US" sz="3200" dirty="0">
              <a:solidFill>
                <a:srgbClr val="0000FF"/>
              </a:solidFill>
              <a:ea typeface="黑体" panose="02010609060101010101" pitchFamily="49" charset="-122"/>
              <a:cs typeface="Times New Roman" panose="02020603050405020304" pitchFamily="18" charset="0"/>
            </a:endParaRPr>
          </a:p>
        </p:txBody>
      </p:sp>
      <p:sp>
        <p:nvSpPr>
          <p:cNvPr id="92166" name="Rectangle 7">
            <a:extLst>
              <a:ext uri="{FF2B5EF4-FFF2-40B4-BE49-F238E27FC236}">
                <a16:creationId xmlns:a16="http://schemas.microsoft.com/office/drawing/2014/main" id="{F36BF2FB-5E15-43C5-82BA-8E358FF6876C}"/>
              </a:ext>
            </a:extLst>
          </p:cNvPr>
          <p:cNvSpPr>
            <a:spLocks noChangeArrowheads="1"/>
          </p:cNvSpPr>
          <p:nvPr/>
        </p:nvSpPr>
        <p:spPr bwMode="auto">
          <a:xfrm>
            <a:off x="0" y="3213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500034" y="1285860"/>
            <a:ext cx="8429684" cy="4786346"/>
          </a:xfrm>
        </p:spPr>
        <p:txBody>
          <a:bodyPr/>
          <a:lstStyle/>
          <a:p>
            <a:r>
              <a:rPr lang="zh-CN" altLang="en-US" dirty="0"/>
              <a:t>生化过程对</a:t>
            </a:r>
            <a:r>
              <a:rPr lang="en-US" altLang="zh-CN" dirty="0"/>
              <a:t>DIC</a:t>
            </a:r>
            <a:r>
              <a:rPr lang="zh-CN" altLang="en-US" dirty="0"/>
              <a:t>和</a:t>
            </a:r>
            <a:r>
              <a:rPr lang="en-US" altLang="zh-CN" dirty="0"/>
              <a:t>TA</a:t>
            </a:r>
            <a:r>
              <a:rPr lang="zh-CN" altLang="en-US" dirty="0"/>
              <a:t>的影响</a:t>
            </a:r>
            <a:endParaRPr lang="en-US" altLang="zh-CN" dirty="0"/>
          </a:p>
          <a:p>
            <a:pPr lvl="1">
              <a:buNone/>
            </a:pPr>
            <a:r>
              <a:rPr lang="zh-CN" altLang="en-US" sz="2000" dirty="0"/>
              <a:t>合成和分解碳水化合物</a:t>
            </a:r>
            <a:endParaRPr lang="en-US" altLang="zh-CN" sz="2000" dirty="0"/>
          </a:p>
          <a:p>
            <a:pPr>
              <a:buNone/>
            </a:pPr>
            <a:r>
              <a:rPr lang="en-US" altLang="zh-CN" sz="2400" dirty="0"/>
              <a:t>CO</a:t>
            </a:r>
            <a:r>
              <a:rPr lang="en-US" altLang="zh-CN" sz="2400" baseline="-25000" dirty="0"/>
              <a:t>2</a:t>
            </a:r>
            <a:r>
              <a:rPr lang="en-US" altLang="zh-CN" sz="2400" dirty="0"/>
              <a:t>+H</a:t>
            </a:r>
            <a:r>
              <a:rPr lang="en-US" altLang="zh-CN" sz="2400" baseline="-25000" dirty="0"/>
              <a:t>2</a:t>
            </a:r>
            <a:r>
              <a:rPr lang="en-US" altLang="zh-CN" sz="2400" dirty="0"/>
              <a:t>O → C</a:t>
            </a:r>
            <a:r>
              <a:rPr lang="en-US" sz="2400" dirty="0"/>
              <a:t>H</a:t>
            </a:r>
            <a:r>
              <a:rPr lang="en-US" altLang="zh-CN" sz="2400" baseline="-25000" dirty="0"/>
              <a:t>2</a:t>
            </a:r>
            <a:r>
              <a:rPr lang="en-US" altLang="zh-CN" sz="2400" dirty="0"/>
              <a:t>O</a:t>
            </a:r>
            <a:r>
              <a:rPr lang="en-US" sz="2400" b="1" baseline="-25000" dirty="0"/>
              <a:t>(</a:t>
            </a:r>
            <a:r>
              <a:rPr lang="en-US" altLang="zh-CN" sz="2400" b="1" baseline="-25000" dirty="0"/>
              <a:t>org</a:t>
            </a:r>
            <a:r>
              <a:rPr lang="en-US" sz="2400" b="1" baseline="-25000" dirty="0"/>
              <a:t>)</a:t>
            </a:r>
            <a:r>
              <a:rPr lang="en-US" sz="2400" dirty="0"/>
              <a:t>+</a:t>
            </a:r>
            <a:r>
              <a:rPr lang="en-US" altLang="zh-CN" sz="2400" dirty="0"/>
              <a:t>O</a:t>
            </a:r>
            <a:r>
              <a:rPr lang="en-US" altLang="zh-CN" sz="2400" baseline="-25000" dirty="0"/>
              <a:t>2</a:t>
            </a:r>
            <a:r>
              <a:rPr lang="en-US" sz="2400" b="1" baseline="-25000" dirty="0"/>
              <a:t>  ----------------------------</a:t>
            </a:r>
            <a:r>
              <a:rPr lang="en-US" sz="2400" dirty="0"/>
              <a:t>(1)</a:t>
            </a:r>
          </a:p>
          <a:p>
            <a:pPr>
              <a:buNone/>
            </a:pPr>
            <a:endParaRPr lang="zh-CN" altLang="en-US" sz="1800" dirty="0"/>
          </a:p>
          <a:p>
            <a:pPr marL="0" lvl="1" indent="0">
              <a:buNone/>
            </a:pPr>
            <a:r>
              <a:rPr lang="en-US" altLang="zh-CN" dirty="0">
                <a:cs typeface="+mn-cs"/>
              </a:rPr>
              <a:t>HCO</a:t>
            </a:r>
            <a:r>
              <a:rPr lang="en-US" altLang="zh-CN" baseline="-25000" dirty="0">
                <a:cs typeface="+mn-cs"/>
              </a:rPr>
              <a:t>3</a:t>
            </a:r>
            <a:r>
              <a:rPr lang="en-US" altLang="zh-CN" baseline="30000" dirty="0">
                <a:cs typeface="+mn-cs"/>
              </a:rPr>
              <a:t>-</a:t>
            </a:r>
            <a:r>
              <a:rPr lang="en-US" altLang="zh-CN" dirty="0">
                <a:cs typeface="+mn-cs"/>
              </a:rPr>
              <a:t>+H</a:t>
            </a:r>
            <a:r>
              <a:rPr lang="en-US" altLang="zh-CN" baseline="-25000" dirty="0">
                <a:cs typeface="+mn-cs"/>
              </a:rPr>
              <a:t>2</a:t>
            </a:r>
            <a:r>
              <a:rPr lang="en-US" altLang="zh-CN" dirty="0">
                <a:cs typeface="+mn-cs"/>
              </a:rPr>
              <a:t>O</a:t>
            </a:r>
            <a:r>
              <a:rPr lang="en-US" altLang="zh-CN" dirty="0"/>
              <a:t> → </a:t>
            </a:r>
            <a:r>
              <a:rPr lang="en-US" altLang="zh-CN" dirty="0">
                <a:cs typeface="+mn-cs"/>
              </a:rPr>
              <a:t>CH</a:t>
            </a:r>
            <a:r>
              <a:rPr lang="en-US" altLang="zh-CN" baseline="-25000" dirty="0">
                <a:cs typeface="+mn-cs"/>
              </a:rPr>
              <a:t>2</a:t>
            </a:r>
            <a:r>
              <a:rPr lang="en-US" altLang="zh-CN" dirty="0">
                <a:cs typeface="+mn-cs"/>
              </a:rPr>
              <a:t>O(org)+OH</a:t>
            </a:r>
            <a:r>
              <a:rPr lang="en-US" altLang="zh-CN" baseline="30000" dirty="0">
                <a:cs typeface="+mn-cs"/>
              </a:rPr>
              <a:t>-</a:t>
            </a:r>
            <a:r>
              <a:rPr lang="en-US" altLang="zh-CN" dirty="0">
                <a:cs typeface="+mn-cs"/>
              </a:rPr>
              <a:t>+O</a:t>
            </a:r>
            <a:r>
              <a:rPr lang="en-US" altLang="zh-CN" baseline="-25000" dirty="0">
                <a:cs typeface="+mn-cs"/>
              </a:rPr>
              <a:t>2</a:t>
            </a:r>
            <a:r>
              <a:rPr lang="en-US" altLang="zh-CN" dirty="0">
                <a:cs typeface="+mn-cs"/>
              </a:rPr>
              <a:t>  ----------------(2)</a:t>
            </a:r>
          </a:p>
          <a:p>
            <a:pPr marL="0" lvl="1" indent="0">
              <a:buNone/>
            </a:pPr>
            <a:endParaRPr lang="en-US" altLang="zh-CN" dirty="0">
              <a:cs typeface="+mn-cs"/>
            </a:endParaRPr>
          </a:p>
          <a:p>
            <a:pPr marL="400050" lvl="2" indent="0">
              <a:buNone/>
            </a:pPr>
            <a:r>
              <a:rPr lang="zh-CN" altLang="en-US" dirty="0">
                <a:cs typeface="+mn-cs"/>
              </a:rPr>
              <a:t>有氧分解</a:t>
            </a:r>
            <a:endParaRPr lang="en-US" altLang="zh-CN" dirty="0">
              <a:cs typeface="+mn-cs"/>
            </a:endParaRPr>
          </a:p>
          <a:p>
            <a:pPr marL="0" lvl="1" indent="0">
              <a:buNone/>
            </a:pPr>
            <a:r>
              <a:rPr lang="en-US" altLang="zh-CN" dirty="0"/>
              <a:t>CH</a:t>
            </a:r>
            <a:r>
              <a:rPr lang="en-US" altLang="zh-CN" baseline="-25000" dirty="0"/>
              <a:t>2</a:t>
            </a:r>
            <a:r>
              <a:rPr lang="en-US" altLang="zh-CN" dirty="0"/>
              <a:t>O(org)+OH</a:t>
            </a:r>
            <a:r>
              <a:rPr lang="en-US" altLang="zh-CN" baseline="30000" dirty="0"/>
              <a:t>-</a:t>
            </a:r>
            <a:r>
              <a:rPr lang="en-US" altLang="zh-CN" dirty="0"/>
              <a:t>+O</a:t>
            </a:r>
            <a:r>
              <a:rPr lang="en-US" altLang="zh-CN" baseline="-25000" dirty="0"/>
              <a:t>2 </a:t>
            </a:r>
            <a:r>
              <a:rPr lang="en-US" altLang="zh-CN" dirty="0"/>
              <a:t>→</a:t>
            </a:r>
            <a:r>
              <a:rPr lang="en-US" altLang="zh-CN" baseline="-25000" dirty="0"/>
              <a:t> </a:t>
            </a:r>
            <a:r>
              <a:rPr lang="en-US" altLang="zh-CN" dirty="0"/>
              <a:t>HCO</a:t>
            </a:r>
            <a:r>
              <a:rPr lang="en-US" altLang="zh-CN" baseline="-25000" dirty="0"/>
              <a:t>3</a:t>
            </a:r>
            <a:r>
              <a:rPr lang="en-US" altLang="zh-CN" baseline="30000" dirty="0"/>
              <a:t>-</a:t>
            </a:r>
            <a:r>
              <a:rPr lang="en-US" altLang="zh-CN" dirty="0"/>
              <a:t>+H</a:t>
            </a:r>
            <a:r>
              <a:rPr lang="en-US" altLang="zh-CN" baseline="-25000" dirty="0"/>
              <a:t>2</a:t>
            </a:r>
            <a:r>
              <a:rPr lang="en-US" altLang="zh-CN" dirty="0"/>
              <a:t>O</a:t>
            </a:r>
          </a:p>
          <a:p>
            <a:pPr marL="400050" lvl="2" indent="0">
              <a:buNone/>
            </a:pPr>
            <a:r>
              <a:rPr lang="zh-CN" altLang="en-US" dirty="0">
                <a:cs typeface="+mn-cs"/>
              </a:rPr>
              <a:t>无氧分解</a:t>
            </a:r>
            <a:endParaRPr lang="en-US" altLang="zh-CN" dirty="0">
              <a:cs typeface="+mn-cs"/>
            </a:endParaRPr>
          </a:p>
          <a:p>
            <a:pPr marL="0" lvl="1" indent="0">
              <a:buNone/>
            </a:pPr>
            <a:r>
              <a:rPr lang="en-US" altLang="zh-CN" dirty="0"/>
              <a:t>2CH</a:t>
            </a:r>
            <a:r>
              <a:rPr lang="en-US" altLang="zh-CN" baseline="-25000" dirty="0"/>
              <a:t>2</a:t>
            </a:r>
            <a:r>
              <a:rPr lang="en-US" altLang="zh-CN" dirty="0"/>
              <a:t>O(org)+SO</a:t>
            </a:r>
            <a:r>
              <a:rPr lang="en-US" altLang="zh-CN" baseline="-25000" dirty="0"/>
              <a:t>4</a:t>
            </a:r>
            <a:r>
              <a:rPr lang="en-US" altLang="zh-CN" baseline="30000" dirty="0"/>
              <a:t>2- </a:t>
            </a:r>
            <a:r>
              <a:rPr lang="en-US" altLang="zh-CN" dirty="0"/>
              <a:t>→</a:t>
            </a:r>
            <a:r>
              <a:rPr lang="en-US" altLang="zh-CN" baseline="-25000" dirty="0"/>
              <a:t> </a:t>
            </a:r>
            <a:r>
              <a:rPr lang="en-US" altLang="zh-CN" dirty="0"/>
              <a:t>HCO</a:t>
            </a:r>
            <a:r>
              <a:rPr lang="en-US" altLang="zh-CN" baseline="-25000" dirty="0"/>
              <a:t>3</a:t>
            </a:r>
            <a:r>
              <a:rPr lang="en-US" altLang="zh-CN" baseline="30000" dirty="0"/>
              <a:t>-</a:t>
            </a:r>
            <a:r>
              <a:rPr lang="en-US" altLang="zh-CN" dirty="0"/>
              <a:t>+CO</a:t>
            </a:r>
            <a:r>
              <a:rPr lang="en-US" altLang="zh-CN" baseline="-25000" dirty="0"/>
              <a:t>2</a:t>
            </a:r>
            <a:r>
              <a:rPr lang="en-US" altLang="zh-CN" dirty="0"/>
              <a:t>+HS</a:t>
            </a:r>
            <a:r>
              <a:rPr lang="en-US" altLang="zh-CN" baseline="30000" dirty="0"/>
              <a:t>-</a:t>
            </a:r>
            <a:r>
              <a:rPr lang="en-US" altLang="zh-CN" dirty="0"/>
              <a:t>+H</a:t>
            </a:r>
            <a:r>
              <a:rPr lang="en-US" altLang="zh-CN" baseline="-25000" dirty="0"/>
              <a:t>2</a:t>
            </a:r>
            <a:r>
              <a:rPr lang="en-US" altLang="zh-CN" dirty="0"/>
              <a:t>O</a:t>
            </a:r>
            <a:endParaRPr lang="en-US" altLang="zh-CN" dirty="0">
              <a:cs typeface="+mn-cs"/>
            </a:endParaRPr>
          </a:p>
          <a:p>
            <a:pPr>
              <a:buNone/>
            </a:pPr>
            <a:endParaRPr lang="zh-CN" altLang="en-US" dirty="0"/>
          </a:p>
        </p:txBody>
      </p:sp>
      <p:sp>
        <p:nvSpPr>
          <p:cNvPr id="4" name="TextBox 3"/>
          <p:cNvSpPr txBox="1"/>
          <p:nvPr/>
        </p:nvSpPr>
        <p:spPr>
          <a:xfrm>
            <a:off x="500034" y="2571744"/>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=0</a:t>
            </a:r>
            <a:r>
              <a:rPr lang="zh-CN" altLang="en-US" dirty="0"/>
              <a:t>， △</a:t>
            </a:r>
            <a:r>
              <a:rPr lang="en-US" altLang="zh-CN" dirty="0"/>
              <a:t>C</a:t>
            </a:r>
            <a:r>
              <a:rPr lang="en-US" altLang="zh-CN" baseline="-25000" dirty="0"/>
              <a:t>T</a:t>
            </a:r>
            <a:r>
              <a:rPr lang="en-US" altLang="zh-CN" dirty="0"/>
              <a:t>=-1</a:t>
            </a:r>
            <a:endParaRPr lang="zh-CN" altLang="en-US" dirty="0"/>
          </a:p>
        </p:txBody>
      </p:sp>
      <p:sp>
        <p:nvSpPr>
          <p:cNvPr id="6" name="TextBox 5"/>
          <p:cNvSpPr txBox="1"/>
          <p:nvPr/>
        </p:nvSpPr>
        <p:spPr>
          <a:xfrm>
            <a:off x="571472" y="3357562"/>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=0</a:t>
            </a:r>
            <a:r>
              <a:rPr lang="zh-CN" altLang="en-US" dirty="0"/>
              <a:t>， △</a:t>
            </a:r>
            <a:r>
              <a:rPr lang="en-US" altLang="zh-CN" dirty="0"/>
              <a:t>C</a:t>
            </a:r>
            <a:r>
              <a:rPr lang="en-US" altLang="zh-CN" baseline="-25000" dirty="0"/>
              <a:t>T</a:t>
            </a:r>
            <a:r>
              <a:rPr lang="en-US" altLang="zh-CN" dirty="0"/>
              <a:t>=-1</a:t>
            </a:r>
            <a:endParaRPr lang="zh-CN" altLang="en-US" dirty="0"/>
          </a:p>
        </p:txBody>
      </p:sp>
      <p:sp>
        <p:nvSpPr>
          <p:cNvPr id="7" name="TextBox 6"/>
          <p:cNvSpPr txBox="1"/>
          <p:nvPr/>
        </p:nvSpPr>
        <p:spPr>
          <a:xfrm>
            <a:off x="5357818" y="4143380"/>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=0</a:t>
            </a:r>
            <a:r>
              <a:rPr lang="zh-CN" altLang="en-US" dirty="0"/>
              <a:t>， △</a:t>
            </a:r>
            <a:r>
              <a:rPr lang="en-US" altLang="zh-CN" dirty="0"/>
              <a:t>C</a:t>
            </a:r>
            <a:r>
              <a:rPr lang="en-US" altLang="zh-CN" baseline="-25000" dirty="0"/>
              <a:t>T</a:t>
            </a:r>
            <a:r>
              <a:rPr lang="en-US" altLang="zh-CN" dirty="0"/>
              <a:t>=1</a:t>
            </a:r>
            <a:endParaRPr lang="zh-CN" altLang="en-US" dirty="0"/>
          </a:p>
        </p:txBody>
      </p:sp>
      <p:sp>
        <p:nvSpPr>
          <p:cNvPr id="8" name="TextBox 7"/>
          <p:cNvSpPr txBox="1"/>
          <p:nvPr/>
        </p:nvSpPr>
        <p:spPr>
          <a:xfrm>
            <a:off x="6444208" y="5028504"/>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=2</a:t>
            </a:r>
            <a:r>
              <a:rPr lang="zh-CN" altLang="en-US" dirty="0"/>
              <a:t>， △</a:t>
            </a:r>
            <a:r>
              <a:rPr lang="en-US" altLang="zh-CN" dirty="0"/>
              <a:t>C</a:t>
            </a:r>
            <a:r>
              <a:rPr lang="en-US" altLang="zh-CN" baseline="-25000" dirty="0"/>
              <a:t>T</a:t>
            </a:r>
            <a:r>
              <a:rPr lang="en-US" altLang="zh-CN" dirty="0"/>
              <a:t>=2</a:t>
            </a:r>
            <a:endParaRPr lang="zh-CN" altLang="en-US" dirty="0"/>
          </a:p>
        </p:txBody>
      </p:sp>
      <p:sp>
        <p:nvSpPr>
          <p:cNvPr id="11" name="TextBox 10"/>
          <p:cNvSpPr txBox="1"/>
          <p:nvPr/>
        </p:nvSpPr>
        <p:spPr>
          <a:xfrm>
            <a:off x="1547664" y="332656"/>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第十章 海水中的</a:t>
            </a:r>
            <a:r>
              <a:rPr lang="en-US" altLang="zh-CN" sz="3200" b="1" dirty="0">
                <a:solidFill>
                  <a:schemeClr val="bg2">
                    <a:lumMod val="25000"/>
                  </a:schemeClr>
                </a:solidFill>
                <a:latin typeface="华文新魏" pitchFamily="2" charset="-122"/>
                <a:ea typeface="华文新魏" pitchFamily="2" charset="-122"/>
              </a:rPr>
              <a:t>TA</a:t>
            </a:r>
            <a:r>
              <a:rPr lang="zh-CN" altLang="en-US" sz="3200" b="1" dirty="0">
                <a:solidFill>
                  <a:schemeClr val="bg2">
                    <a:lumMod val="25000"/>
                  </a:schemeClr>
                </a:solidFill>
                <a:latin typeface="华文新魏" pitchFamily="2" charset="-122"/>
                <a:ea typeface="华文新魏" pitchFamily="2" charset="-122"/>
              </a:rPr>
              <a:t>和</a:t>
            </a:r>
            <a:r>
              <a:rPr lang="en-US" altLang="zh-CN" sz="3200" b="1" dirty="0">
                <a:solidFill>
                  <a:schemeClr val="bg2">
                    <a:lumMod val="25000"/>
                  </a:schemeClr>
                </a:solidFill>
                <a:latin typeface="华文新魏" pitchFamily="2" charset="-122"/>
                <a:ea typeface="华文新魏" pitchFamily="2" charset="-122"/>
              </a:rPr>
              <a:t>DIC</a:t>
            </a:r>
            <a:endParaRPr lang="zh-CN" altLang="en-US" sz="3200" b="1" dirty="0">
              <a:solidFill>
                <a:schemeClr val="bg2">
                  <a:lumMod val="25000"/>
                </a:schemeClr>
              </a:solidFill>
              <a:latin typeface="华文新魏" pitchFamily="2" charset="-122"/>
              <a:ea typeface="华文新魏" pitchFamily="2" charset="-122"/>
            </a:endParaRPr>
          </a:p>
        </p:txBody>
      </p:sp>
      <p:pic>
        <p:nvPicPr>
          <p:cNvPr id="9" name="Picture 3" descr="E:\课程\课件\课程图片\碱度的滴定终点.png">
            <a:extLst>
              <a:ext uri="{FF2B5EF4-FFF2-40B4-BE49-F238E27FC236}">
                <a16:creationId xmlns:a16="http://schemas.microsoft.com/office/drawing/2014/main" id="{D5538FA1-B60F-42D2-BF8D-BCEBD7C4A030}"/>
              </a:ext>
            </a:extLst>
          </p:cNvPr>
          <p:cNvPicPr>
            <a:picLocks noChangeAspect="1" noChangeArrowheads="1"/>
          </p:cNvPicPr>
          <p:nvPr/>
        </p:nvPicPr>
        <p:blipFill>
          <a:blip r:embed="rId2" cstate="print"/>
          <a:srcRect/>
          <a:stretch>
            <a:fillRect/>
          </a:stretch>
        </p:blipFill>
        <p:spPr bwMode="auto">
          <a:xfrm>
            <a:off x="395536" y="5466648"/>
            <a:ext cx="7587850" cy="111776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wipe(down)">
                                      <p:cBhvr>
                                        <p:cTn id="19" dur="5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txEl>
                                              <p:pRg st="0" end="0"/>
                                            </p:txEl>
                                          </p:spTgt>
                                        </p:tgtEl>
                                        <p:attrNameLst>
                                          <p:attrName>style.visibility</p:attrName>
                                        </p:attrNameLst>
                                      </p:cBhvr>
                                      <p:to>
                                        <p:strVal val="visible"/>
                                      </p:to>
                                    </p:set>
                                    <p:animEffect transition="in" filter="wipe(down)">
                                      <p:cBhvr>
                                        <p:cTn id="24" dur="500"/>
                                        <p:tgtEl>
                                          <p:spTgt spid="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6" grpId="0" build="allAtOnce"/>
      <p:bldP spid="7" grpId="0" build="allAtOnce"/>
      <p:bldP spid="8"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500034" y="1285860"/>
            <a:ext cx="8429684" cy="4500595"/>
          </a:xfrm>
        </p:spPr>
        <p:txBody>
          <a:bodyPr/>
          <a:lstStyle/>
          <a:p>
            <a:r>
              <a:rPr lang="zh-CN" altLang="en-US" dirty="0"/>
              <a:t>生化过程对</a:t>
            </a:r>
            <a:r>
              <a:rPr lang="en-US" altLang="zh-CN" dirty="0"/>
              <a:t>DIC</a:t>
            </a:r>
            <a:r>
              <a:rPr lang="zh-CN" altLang="en-US" dirty="0"/>
              <a:t>和</a:t>
            </a:r>
            <a:r>
              <a:rPr lang="en-US" altLang="zh-CN" dirty="0"/>
              <a:t>TA</a:t>
            </a:r>
            <a:r>
              <a:rPr lang="zh-CN" altLang="en-US" dirty="0"/>
              <a:t>的影响</a:t>
            </a:r>
            <a:endParaRPr lang="en-US" altLang="zh-CN" dirty="0"/>
          </a:p>
          <a:p>
            <a:pPr lvl="1">
              <a:buNone/>
            </a:pPr>
            <a:r>
              <a:rPr lang="zh-CN" altLang="en-US" sz="2000" dirty="0"/>
              <a:t>吸收硝酸或铵盐生成有机氮</a:t>
            </a:r>
            <a:endParaRPr lang="en-US" altLang="zh-CN" sz="2000" dirty="0"/>
          </a:p>
          <a:p>
            <a:pPr>
              <a:buNone/>
            </a:pPr>
            <a:r>
              <a:rPr lang="en-US" altLang="zh-CN" sz="2400" dirty="0"/>
              <a:t>H</a:t>
            </a:r>
            <a:r>
              <a:rPr lang="en-US" altLang="zh-CN" sz="2400" baseline="30000" dirty="0"/>
              <a:t>+</a:t>
            </a:r>
            <a:r>
              <a:rPr lang="en-US" altLang="zh-CN" sz="2400" dirty="0"/>
              <a:t>+NO</a:t>
            </a:r>
            <a:r>
              <a:rPr lang="en-US" altLang="zh-CN" sz="2400" baseline="-25000" dirty="0"/>
              <a:t>3</a:t>
            </a:r>
            <a:r>
              <a:rPr lang="en-US" altLang="zh-CN" sz="2400" baseline="30000" dirty="0"/>
              <a:t>-</a:t>
            </a:r>
            <a:r>
              <a:rPr lang="en-US" altLang="zh-CN" sz="2400" dirty="0"/>
              <a:t> +H</a:t>
            </a:r>
            <a:r>
              <a:rPr lang="en-US" altLang="zh-CN" sz="2400" baseline="-25000" dirty="0"/>
              <a:t>2</a:t>
            </a:r>
            <a:r>
              <a:rPr lang="en-US" altLang="zh-CN" sz="2400" dirty="0"/>
              <a:t>O → NH</a:t>
            </a:r>
            <a:r>
              <a:rPr lang="en-US" altLang="zh-CN" sz="2400" baseline="-25000" dirty="0"/>
              <a:t>3</a:t>
            </a:r>
            <a:r>
              <a:rPr lang="en-US" altLang="zh-CN" sz="2400" dirty="0"/>
              <a:t>(org)+2O</a:t>
            </a:r>
            <a:r>
              <a:rPr lang="en-US" altLang="zh-CN" sz="2400" baseline="-25000" dirty="0"/>
              <a:t>2</a:t>
            </a:r>
            <a:r>
              <a:rPr lang="en-US" altLang="zh-CN" sz="2400" dirty="0"/>
              <a:t>  ---------  (1)</a:t>
            </a:r>
          </a:p>
          <a:p>
            <a:pPr>
              <a:buNone/>
            </a:pPr>
            <a:endParaRPr lang="zh-CN" altLang="en-US" sz="2400" dirty="0"/>
          </a:p>
          <a:p>
            <a:pPr>
              <a:buNone/>
            </a:pPr>
            <a:r>
              <a:rPr lang="en-US" altLang="zh-CN" sz="2400" dirty="0"/>
              <a:t>NH</a:t>
            </a:r>
            <a:r>
              <a:rPr lang="en-US" altLang="zh-CN" sz="2400" baseline="-25000" dirty="0"/>
              <a:t>4</a:t>
            </a:r>
            <a:r>
              <a:rPr lang="en-US" altLang="zh-CN" sz="2400" baseline="30000" dirty="0"/>
              <a:t>+</a:t>
            </a:r>
            <a:r>
              <a:rPr lang="en-US" altLang="zh-CN" sz="2400" dirty="0"/>
              <a:t> → NH</a:t>
            </a:r>
            <a:r>
              <a:rPr lang="en-US" altLang="zh-CN" sz="2400" baseline="-25000" dirty="0"/>
              <a:t>3</a:t>
            </a:r>
            <a:r>
              <a:rPr lang="en-US" altLang="zh-CN" sz="2400" dirty="0"/>
              <a:t>(org)+H</a:t>
            </a:r>
            <a:r>
              <a:rPr lang="en-US" altLang="zh-CN" sz="2400" baseline="30000" dirty="0"/>
              <a:t>+</a:t>
            </a:r>
            <a:r>
              <a:rPr lang="en-US" altLang="zh-CN" sz="2400" dirty="0"/>
              <a:t>  ------------------------(2)</a:t>
            </a:r>
          </a:p>
          <a:p>
            <a:pPr>
              <a:buNone/>
            </a:pPr>
            <a:endParaRPr lang="en-US" altLang="zh-CN" sz="2400" dirty="0"/>
          </a:p>
          <a:p>
            <a:pPr>
              <a:buNone/>
            </a:pPr>
            <a:r>
              <a:rPr lang="en-US" altLang="zh-CN" sz="2400" dirty="0"/>
              <a:t>NH</a:t>
            </a:r>
            <a:r>
              <a:rPr lang="en-US" altLang="zh-CN" sz="2400" baseline="-25000" dirty="0"/>
              <a:t>3</a:t>
            </a:r>
            <a:r>
              <a:rPr lang="en-US" altLang="zh-CN" sz="2400" dirty="0"/>
              <a:t>(org) +2O</a:t>
            </a:r>
            <a:r>
              <a:rPr lang="en-US" altLang="zh-CN" sz="2400" baseline="-25000" dirty="0"/>
              <a:t>2</a:t>
            </a:r>
            <a:r>
              <a:rPr lang="en-US" altLang="zh-CN" sz="2400" dirty="0"/>
              <a:t>→ NO</a:t>
            </a:r>
            <a:r>
              <a:rPr lang="en-US" altLang="zh-CN" sz="2400" baseline="-25000" dirty="0"/>
              <a:t>3</a:t>
            </a:r>
            <a:r>
              <a:rPr lang="en-US" altLang="zh-CN" sz="2400" baseline="30000" dirty="0"/>
              <a:t>-</a:t>
            </a:r>
            <a:r>
              <a:rPr lang="en-US" altLang="zh-CN" sz="2400" dirty="0"/>
              <a:t> +H</a:t>
            </a:r>
            <a:r>
              <a:rPr lang="en-US" altLang="zh-CN" sz="2400" baseline="30000" dirty="0"/>
              <a:t>+</a:t>
            </a:r>
            <a:r>
              <a:rPr lang="en-US" altLang="zh-CN" sz="2400" dirty="0"/>
              <a:t> +H</a:t>
            </a:r>
            <a:r>
              <a:rPr lang="en-US" altLang="zh-CN" sz="2400" baseline="-25000" dirty="0"/>
              <a:t>2</a:t>
            </a:r>
            <a:r>
              <a:rPr lang="en-US" altLang="zh-CN" sz="2400" dirty="0"/>
              <a:t>O -----------(3)</a:t>
            </a:r>
          </a:p>
          <a:p>
            <a:pPr lvl="1">
              <a:buNone/>
            </a:pPr>
            <a:r>
              <a:rPr lang="en-US" altLang="zh-CN" sz="2000" dirty="0"/>
              <a:t> </a:t>
            </a:r>
            <a:r>
              <a:rPr lang="zh-CN" altLang="en-US" sz="2000" dirty="0"/>
              <a:t>生成和溶解碳酸钙</a:t>
            </a:r>
          </a:p>
          <a:p>
            <a:pPr>
              <a:buNone/>
            </a:pPr>
            <a:r>
              <a:rPr lang="en-US" altLang="zh-CN" sz="2400" dirty="0"/>
              <a:t>Ca</a:t>
            </a:r>
            <a:r>
              <a:rPr lang="en-US" altLang="zh-CN" sz="2400" baseline="30000" dirty="0"/>
              <a:t>2+</a:t>
            </a:r>
            <a:r>
              <a:rPr lang="en-US" altLang="zh-CN" sz="2400" dirty="0"/>
              <a:t>+2HCO</a:t>
            </a:r>
            <a:r>
              <a:rPr lang="en-US" altLang="zh-CN" sz="2400" baseline="-25000" dirty="0"/>
              <a:t>3</a:t>
            </a:r>
            <a:r>
              <a:rPr lang="en-US" altLang="zh-CN" sz="2400" baseline="30000" dirty="0"/>
              <a:t>- </a:t>
            </a:r>
            <a:r>
              <a:rPr lang="en-US" altLang="zh-CN" sz="2400" dirty="0"/>
              <a:t>→ CaCO</a:t>
            </a:r>
            <a:r>
              <a:rPr lang="en-US" altLang="zh-CN" sz="2400" baseline="-25000" dirty="0"/>
              <a:t>3</a:t>
            </a:r>
            <a:r>
              <a:rPr lang="en-US" altLang="zh-CN" sz="2400" dirty="0"/>
              <a:t>(s)+CO</a:t>
            </a:r>
            <a:r>
              <a:rPr lang="en-US" altLang="zh-CN" sz="2400" baseline="-25000" dirty="0"/>
              <a:t>2</a:t>
            </a:r>
            <a:r>
              <a:rPr lang="en-US" altLang="zh-CN" sz="2400" dirty="0"/>
              <a:t> +H</a:t>
            </a:r>
            <a:r>
              <a:rPr lang="en-US" altLang="zh-CN" sz="2400" baseline="-25000" dirty="0"/>
              <a:t>2</a:t>
            </a:r>
            <a:r>
              <a:rPr lang="en-US" altLang="zh-CN" sz="2400" dirty="0"/>
              <a:t>O ----- (1)</a:t>
            </a:r>
          </a:p>
          <a:p>
            <a:pPr>
              <a:buNone/>
            </a:pPr>
            <a:endParaRPr lang="zh-CN" altLang="en-US" sz="2400" dirty="0"/>
          </a:p>
          <a:p>
            <a:pPr>
              <a:buNone/>
            </a:pPr>
            <a:r>
              <a:rPr lang="en-US" altLang="zh-CN" sz="2400" dirty="0"/>
              <a:t>CaCO</a:t>
            </a:r>
            <a:r>
              <a:rPr lang="en-US" altLang="zh-CN" sz="2400" baseline="-25000" dirty="0"/>
              <a:t>3</a:t>
            </a:r>
            <a:r>
              <a:rPr lang="en-US" altLang="zh-CN" sz="2400" dirty="0"/>
              <a:t>(s)+CO</a:t>
            </a:r>
            <a:r>
              <a:rPr lang="en-US" altLang="zh-CN" sz="2400" baseline="-25000" dirty="0"/>
              <a:t>2</a:t>
            </a:r>
            <a:r>
              <a:rPr lang="en-US" altLang="zh-CN" sz="2400" dirty="0"/>
              <a:t> +H</a:t>
            </a:r>
            <a:r>
              <a:rPr lang="en-US" altLang="zh-CN" sz="2400" baseline="-25000" dirty="0"/>
              <a:t>2</a:t>
            </a:r>
            <a:r>
              <a:rPr lang="en-US" altLang="zh-CN" sz="2400" dirty="0"/>
              <a:t>O → Ca</a:t>
            </a:r>
            <a:r>
              <a:rPr lang="en-US" altLang="zh-CN" sz="2400" baseline="30000" dirty="0"/>
              <a:t>2+</a:t>
            </a:r>
            <a:r>
              <a:rPr lang="en-US" altLang="zh-CN" sz="2400" dirty="0"/>
              <a:t>+2HCO</a:t>
            </a:r>
            <a:r>
              <a:rPr lang="en-US" altLang="zh-CN" sz="2400" baseline="-25000" dirty="0"/>
              <a:t>3</a:t>
            </a:r>
            <a:r>
              <a:rPr lang="en-US" altLang="zh-CN" sz="2400" baseline="30000" dirty="0"/>
              <a:t>- </a:t>
            </a:r>
            <a:r>
              <a:rPr lang="en-US" altLang="zh-CN" sz="2400" dirty="0"/>
              <a:t>----- (2)</a:t>
            </a:r>
            <a:endParaRPr lang="zh-CN" altLang="en-US" sz="2400" dirty="0"/>
          </a:p>
        </p:txBody>
      </p:sp>
      <p:sp>
        <p:nvSpPr>
          <p:cNvPr id="4" name="TextBox 3"/>
          <p:cNvSpPr txBox="1"/>
          <p:nvPr/>
        </p:nvSpPr>
        <p:spPr>
          <a:xfrm>
            <a:off x="4429124" y="2643182"/>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=1</a:t>
            </a:r>
            <a:r>
              <a:rPr lang="zh-CN" altLang="en-US" dirty="0"/>
              <a:t>， △</a:t>
            </a:r>
            <a:r>
              <a:rPr lang="en-US" altLang="zh-CN" dirty="0"/>
              <a:t>C</a:t>
            </a:r>
            <a:r>
              <a:rPr lang="en-US" altLang="zh-CN" baseline="-25000" dirty="0"/>
              <a:t>T</a:t>
            </a:r>
            <a:r>
              <a:rPr lang="en-US" altLang="zh-CN" dirty="0"/>
              <a:t>=0</a:t>
            </a:r>
            <a:endParaRPr lang="zh-CN" altLang="en-US" dirty="0"/>
          </a:p>
        </p:txBody>
      </p:sp>
      <p:sp>
        <p:nvSpPr>
          <p:cNvPr id="6" name="TextBox 5"/>
          <p:cNvSpPr txBox="1"/>
          <p:nvPr/>
        </p:nvSpPr>
        <p:spPr>
          <a:xfrm>
            <a:off x="4286248" y="3500438"/>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=-1</a:t>
            </a:r>
            <a:r>
              <a:rPr lang="zh-CN" altLang="en-US" dirty="0"/>
              <a:t>， △</a:t>
            </a:r>
            <a:r>
              <a:rPr lang="en-US" altLang="zh-CN" dirty="0"/>
              <a:t>C</a:t>
            </a:r>
            <a:r>
              <a:rPr lang="en-US" altLang="zh-CN" baseline="-25000" dirty="0"/>
              <a:t>T</a:t>
            </a:r>
            <a:r>
              <a:rPr lang="en-US" altLang="zh-CN" dirty="0"/>
              <a:t>=0</a:t>
            </a:r>
            <a:endParaRPr lang="zh-CN" altLang="en-US" dirty="0"/>
          </a:p>
        </p:txBody>
      </p:sp>
      <p:sp>
        <p:nvSpPr>
          <p:cNvPr id="7" name="TextBox 6"/>
          <p:cNvSpPr txBox="1"/>
          <p:nvPr/>
        </p:nvSpPr>
        <p:spPr>
          <a:xfrm>
            <a:off x="4286248" y="4357694"/>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=-1</a:t>
            </a:r>
            <a:r>
              <a:rPr lang="zh-CN" altLang="en-US" dirty="0"/>
              <a:t>， △</a:t>
            </a:r>
            <a:r>
              <a:rPr lang="en-US" altLang="zh-CN" dirty="0"/>
              <a:t>C</a:t>
            </a:r>
            <a:r>
              <a:rPr lang="en-US" altLang="zh-CN" baseline="-25000" dirty="0"/>
              <a:t>T</a:t>
            </a:r>
            <a:r>
              <a:rPr lang="en-US" altLang="zh-CN" dirty="0"/>
              <a:t>=0</a:t>
            </a:r>
            <a:endParaRPr lang="zh-CN" altLang="en-US" dirty="0"/>
          </a:p>
        </p:txBody>
      </p:sp>
      <p:sp>
        <p:nvSpPr>
          <p:cNvPr id="8" name="TextBox 7"/>
          <p:cNvSpPr txBox="1"/>
          <p:nvPr/>
        </p:nvSpPr>
        <p:spPr>
          <a:xfrm>
            <a:off x="4286248" y="5214950"/>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=-2</a:t>
            </a:r>
            <a:r>
              <a:rPr lang="zh-CN" altLang="en-US" dirty="0"/>
              <a:t>， △</a:t>
            </a:r>
            <a:r>
              <a:rPr lang="en-US" altLang="zh-CN" dirty="0"/>
              <a:t>C</a:t>
            </a:r>
            <a:r>
              <a:rPr lang="en-US" altLang="zh-CN" baseline="-25000" dirty="0"/>
              <a:t>T</a:t>
            </a:r>
            <a:r>
              <a:rPr lang="en-US" altLang="zh-CN" dirty="0"/>
              <a:t>=-1</a:t>
            </a:r>
            <a:endParaRPr lang="zh-CN" altLang="en-US" dirty="0"/>
          </a:p>
        </p:txBody>
      </p:sp>
      <p:sp>
        <p:nvSpPr>
          <p:cNvPr id="9" name="TextBox 8"/>
          <p:cNvSpPr txBox="1"/>
          <p:nvPr/>
        </p:nvSpPr>
        <p:spPr>
          <a:xfrm>
            <a:off x="4286248" y="6072206"/>
            <a:ext cx="3429024" cy="369332"/>
          </a:xfrm>
          <a:prstGeom prst="rect">
            <a:avLst/>
          </a:prstGeom>
          <a:noFill/>
        </p:spPr>
        <p:txBody>
          <a:bodyPr wrap="square" rtlCol="0">
            <a:spAutoFit/>
          </a:bodyPr>
          <a:lstStyle/>
          <a:p>
            <a:r>
              <a:rPr lang="zh-CN" altLang="en-US" dirty="0"/>
              <a:t>△</a:t>
            </a:r>
            <a:r>
              <a:rPr lang="en-US" altLang="zh-CN" dirty="0"/>
              <a:t>A</a:t>
            </a:r>
            <a:r>
              <a:rPr lang="en-US" altLang="zh-CN" baseline="-25000" dirty="0"/>
              <a:t>T</a:t>
            </a:r>
            <a:r>
              <a:rPr lang="en-US" altLang="zh-CN" dirty="0"/>
              <a:t>=2</a:t>
            </a:r>
            <a:r>
              <a:rPr lang="zh-CN" altLang="en-US" dirty="0"/>
              <a:t>， △</a:t>
            </a:r>
            <a:r>
              <a:rPr lang="en-US" altLang="zh-CN" dirty="0"/>
              <a:t>C</a:t>
            </a:r>
            <a:r>
              <a:rPr lang="en-US" altLang="zh-CN" baseline="-25000" dirty="0"/>
              <a:t>T</a:t>
            </a:r>
            <a:r>
              <a:rPr lang="en-US" altLang="zh-CN" dirty="0"/>
              <a:t>=1</a:t>
            </a:r>
            <a:endParaRPr lang="zh-CN" altLang="en-US" dirty="0"/>
          </a:p>
        </p:txBody>
      </p:sp>
      <p:sp>
        <p:nvSpPr>
          <p:cNvPr id="10" name="TextBox 10">
            <a:extLst>
              <a:ext uri="{FF2B5EF4-FFF2-40B4-BE49-F238E27FC236}">
                <a16:creationId xmlns:a16="http://schemas.microsoft.com/office/drawing/2014/main" id="{6887AD41-603B-49F3-83B2-88C51603A5AF}"/>
              </a:ext>
            </a:extLst>
          </p:cNvPr>
          <p:cNvSpPr txBox="1"/>
          <p:nvPr/>
        </p:nvSpPr>
        <p:spPr>
          <a:xfrm>
            <a:off x="1547664" y="332656"/>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第十章 海水中的</a:t>
            </a:r>
            <a:r>
              <a:rPr lang="en-US" altLang="zh-CN" sz="3200" b="1" dirty="0">
                <a:solidFill>
                  <a:schemeClr val="bg2">
                    <a:lumMod val="25000"/>
                  </a:schemeClr>
                </a:solidFill>
                <a:latin typeface="华文新魏" pitchFamily="2" charset="-122"/>
                <a:ea typeface="华文新魏" pitchFamily="2" charset="-122"/>
              </a:rPr>
              <a:t>TA</a:t>
            </a:r>
            <a:r>
              <a:rPr lang="zh-CN" altLang="en-US" sz="3200" b="1" dirty="0">
                <a:solidFill>
                  <a:schemeClr val="bg2">
                    <a:lumMod val="25000"/>
                  </a:schemeClr>
                </a:solidFill>
                <a:latin typeface="华文新魏" pitchFamily="2" charset="-122"/>
                <a:ea typeface="华文新魏" pitchFamily="2" charset="-122"/>
              </a:rPr>
              <a:t>和</a:t>
            </a:r>
            <a:r>
              <a:rPr lang="en-US" altLang="zh-CN" sz="3200" b="1" dirty="0">
                <a:solidFill>
                  <a:schemeClr val="bg2">
                    <a:lumMod val="25000"/>
                  </a:schemeClr>
                </a:solidFill>
                <a:latin typeface="华文新魏" pitchFamily="2" charset="-122"/>
                <a:ea typeface="华文新魏" pitchFamily="2" charset="-122"/>
              </a:rPr>
              <a:t>DIC</a:t>
            </a:r>
            <a:endParaRPr lang="zh-CN" altLang="en-US" sz="3200" b="1" dirty="0">
              <a:solidFill>
                <a:schemeClr val="bg2">
                  <a:lumMod val="25000"/>
                </a:schemeClr>
              </a:solidFill>
              <a:latin typeface="华文新魏" pitchFamily="2" charset="-122"/>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20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wipe(down)">
                                      <p:cBhvr>
                                        <p:cTn id="2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6" grpId="0" build="allAtOnce"/>
      <p:bldP spid="7" grpId="0" build="allAtOnce"/>
      <p:bldP spid="8" grpId="0" build="allAtOnce"/>
      <p:bldP spid="9"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323528" y="1340769"/>
            <a:ext cx="8429684" cy="4680519"/>
          </a:xfrm>
        </p:spPr>
        <p:txBody>
          <a:bodyPr/>
          <a:lstStyle/>
          <a:p>
            <a:r>
              <a:rPr lang="zh-CN" altLang="en-US" dirty="0"/>
              <a:t>总碱度（</a:t>
            </a:r>
            <a:r>
              <a:rPr lang="en-US" altLang="zh-CN" dirty="0"/>
              <a:t>TA</a:t>
            </a:r>
            <a:r>
              <a:rPr lang="zh-CN" altLang="en-US" dirty="0"/>
              <a:t>）</a:t>
            </a:r>
            <a:endParaRPr lang="en-US" altLang="zh-CN" dirty="0"/>
          </a:p>
          <a:p>
            <a:pPr lvl="1"/>
            <a:r>
              <a:rPr lang="zh-CN" altLang="en-US" dirty="0"/>
              <a:t>电位滴定法</a:t>
            </a:r>
            <a:endParaRPr lang="en-US" altLang="zh-CN" dirty="0"/>
          </a:p>
          <a:p>
            <a:pPr lvl="1"/>
            <a:r>
              <a:rPr lang="zh-CN" altLang="en-US" dirty="0"/>
              <a:t>电位中和法（回滴）</a:t>
            </a:r>
            <a:endParaRPr lang="en-US" altLang="zh-CN" dirty="0"/>
          </a:p>
          <a:p>
            <a:pPr lvl="1"/>
            <a:r>
              <a:rPr lang="en-US" altLang="zh-CN" dirty="0"/>
              <a:t>pH</a:t>
            </a:r>
            <a:r>
              <a:rPr lang="zh-CN" altLang="en-US" dirty="0"/>
              <a:t>法</a:t>
            </a:r>
            <a:endParaRPr lang="en-US" altLang="zh-CN" dirty="0"/>
          </a:p>
          <a:p>
            <a:r>
              <a:rPr lang="zh-CN" altLang="en-US" dirty="0"/>
              <a:t>总二氧化碳（</a:t>
            </a:r>
            <a:r>
              <a:rPr lang="en-US" altLang="zh-CN" dirty="0"/>
              <a:t>TCO</a:t>
            </a:r>
            <a:r>
              <a:rPr lang="en-US" altLang="zh-CN" baseline="-25000" dirty="0"/>
              <a:t>2</a:t>
            </a:r>
            <a:r>
              <a:rPr lang="zh-CN" altLang="en-US" dirty="0"/>
              <a:t>）</a:t>
            </a:r>
            <a:endParaRPr lang="en-US" altLang="zh-CN" dirty="0"/>
          </a:p>
          <a:p>
            <a:pPr lvl="1"/>
            <a:r>
              <a:rPr lang="zh-CN" altLang="en-US" dirty="0"/>
              <a:t>电位滴定法</a:t>
            </a:r>
            <a:endParaRPr lang="en-US" altLang="zh-CN" dirty="0"/>
          </a:p>
          <a:p>
            <a:pPr lvl="1"/>
            <a:r>
              <a:rPr lang="zh-CN" altLang="en-US" dirty="0"/>
              <a:t>库仑法</a:t>
            </a:r>
            <a:endParaRPr lang="en-US" altLang="zh-CN" dirty="0"/>
          </a:p>
          <a:p>
            <a:pPr lvl="1"/>
            <a:r>
              <a:rPr lang="zh-CN" altLang="en-US" dirty="0"/>
              <a:t>红外检测法</a:t>
            </a:r>
            <a:endParaRPr lang="en-US" altLang="zh-CN" dirty="0"/>
          </a:p>
          <a:p>
            <a:endParaRPr lang="en-US" altLang="zh-CN" dirty="0"/>
          </a:p>
          <a:p>
            <a:pPr lvl="1">
              <a:buNone/>
            </a:pPr>
            <a:endParaRPr lang="zh-CN" altLang="en-US" sz="2000" dirty="0"/>
          </a:p>
        </p:txBody>
      </p:sp>
      <p:sp>
        <p:nvSpPr>
          <p:cNvPr id="4" name="TextBox 10">
            <a:extLst>
              <a:ext uri="{FF2B5EF4-FFF2-40B4-BE49-F238E27FC236}">
                <a16:creationId xmlns:a16="http://schemas.microsoft.com/office/drawing/2014/main" id="{8E0FC3A6-9467-48F2-9113-9DA55D097F47}"/>
              </a:ext>
            </a:extLst>
          </p:cNvPr>
          <p:cNvSpPr txBox="1"/>
          <p:nvPr/>
        </p:nvSpPr>
        <p:spPr>
          <a:xfrm>
            <a:off x="1547664" y="332656"/>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第十章 海水中的</a:t>
            </a:r>
            <a:r>
              <a:rPr lang="en-US" altLang="zh-CN" sz="3200" b="1" dirty="0">
                <a:solidFill>
                  <a:schemeClr val="bg2">
                    <a:lumMod val="25000"/>
                  </a:schemeClr>
                </a:solidFill>
                <a:latin typeface="华文新魏" pitchFamily="2" charset="-122"/>
                <a:ea typeface="华文新魏" pitchFamily="2" charset="-122"/>
              </a:rPr>
              <a:t>DIC</a:t>
            </a:r>
            <a:endParaRPr lang="zh-CN" altLang="en-US" sz="3200" b="1"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556792"/>
            <a:ext cx="8329642" cy="4268799"/>
          </a:xfrm>
        </p:spPr>
        <p:txBody>
          <a:bodyPr/>
          <a:lstStyle/>
          <a:p>
            <a:r>
              <a:rPr lang="zh-CN" altLang="en-US" dirty="0"/>
              <a:t>电位滴定法</a:t>
            </a:r>
            <a:endParaRPr lang="en-US" altLang="zh-CN" dirty="0"/>
          </a:p>
          <a:p>
            <a:pPr>
              <a:buNone/>
            </a:pPr>
            <a:r>
              <a:rPr lang="zh-CN" altLang="en-US" dirty="0"/>
              <a:t>（</a:t>
            </a:r>
            <a:r>
              <a:rPr lang="en-US" altLang="zh-CN" dirty="0"/>
              <a:t>Gran</a:t>
            </a:r>
            <a:r>
              <a:rPr lang="zh-CN" altLang="en-US" dirty="0"/>
              <a:t>滴定法）</a:t>
            </a:r>
            <a:endParaRPr lang="en-US" altLang="zh-CN" dirty="0"/>
          </a:p>
          <a:p>
            <a:pPr>
              <a:buFont typeface="Wingdings" pitchFamily="2" charset="2"/>
              <a:buChar char="Ø"/>
            </a:pPr>
            <a:r>
              <a:rPr lang="en-US" altLang="zh-CN" dirty="0"/>
              <a:t>Gran</a:t>
            </a:r>
            <a:r>
              <a:rPr lang="zh-CN" altLang="en-US" dirty="0"/>
              <a:t>滴定法可以同时测</a:t>
            </a:r>
            <a:r>
              <a:rPr lang="en-US" altLang="zh-CN" dirty="0"/>
              <a:t>DIC</a:t>
            </a:r>
            <a:r>
              <a:rPr lang="zh-CN" altLang="en-US" dirty="0"/>
              <a:t>和</a:t>
            </a:r>
            <a:r>
              <a:rPr lang="en-US" altLang="zh-CN" dirty="0"/>
              <a:t>TA</a:t>
            </a:r>
            <a:r>
              <a:rPr lang="zh-CN" altLang="en-US" dirty="0"/>
              <a:t>，只要能精确定位</a:t>
            </a:r>
            <a:r>
              <a:rPr lang="en-US" altLang="zh-CN" dirty="0"/>
              <a:t>V</a:t>
            </a:r>
            <a:r>
              <a:rPr lang="en-US" altLang="zh-CN" baseline="-25000" dirty="0"/>
              <a:t>1</a:t>
            </a:r>
            <a:r>
              <a:rPr lang="zh-CN" altLang="en-US" dirty="0"/>
              <a:t>和</a:t>
            </a:r>
            <a:r>
              <a:rPr lang="en-US" altLang="zh-CN" dirty="0"/>
              <a:t>V</a:t>
            </a:r>
            <a:r>
              <a:rPr lang="en-US" altLang="zh-CN" baseline="-25000" dirty="0"/>
              <a:t>2</a:t>
            </a:r>
          </a:p>
          <a:p>
            <a:pPr marL="342900" lvl="1" indent="-342900">
              <a:buFont typeface="Wingdings" pitchFamily="2" charset="2"/>
              <a:buChar char="Ø"/>
            </a:pPr>
            <a:r>
              <a:rPr lang="zh-CN" altLang="en-US" dirty="0"/>
              <a:t>其中</a:t>
            </a:r>
            <a:r>
              <a:rPr lang="en-US" altLang="zh-CN" dirty="0"/>
              <a:t>V</a:t>
            </a:r>
            <a:r>
              <a:rPr lang="en-US" altLang="zh-CN" baseline="-25000" dirty="0"/>
              <a:t>2</a:t>
            </a:r>
            <a:r>
              <a:rPr lang="zh-CN" altLang="en-US" dirty="0"/>
              <a:t>等当点的确认主要依据滴加</a:t>
            </a:r>
            <a:r>
              <a:rPr lang="en-US" altLang="zh-CN" dirty="0" err="1"/>
              <a:t>HCl</a:t>
            </a:r>
            <a:r>
              <a:rPr lang="zh-CN" altLang="en-US" dirty="0"/>
              <a:t>超过等当点</a:t>
            </a:r>
            <a:r>
              <a:rPr lang="en-US" altLang="zh-CN" dirty="0"/>
              <a:t>V</a:t>
            </a:r>
            <a:r>
              <a:rPr lang="en-US" altLang="zh-CN" baseline="-25000" dirty="0"/>
              <a:t>2</a:t>
            </a:r>
            <a:r>
              <a:rPr lang="zh-CN" altLang="en-US" dirty="0"/>
              <a:t>时，</a:t>
            </a:r>
            <a:endParaRPr lang="en-US" altLang="zh-CN" dirty="0"/>
          </a:p>
          <a:p>
            <a:pPr>
              <a:buFont typeface="Wingdings" pitchFamily="2" charset="2"/>
              <a:buChar char="Ø"/>
            </a:pPr>
            <a:endParaRPr lang="en-US" altLang="zh-CN" dirty="0"/>
          </a:p>
          <a:p>
            <a:pPr>
              <a:buNone/>
            </a:pPr>
            <a:endParaRPr lang="zh-CN" altLang="en-US" dirty="0"/>
          </a:p>
        </p:txBody>
      </p:sp>
      <p:pic>
        <p:nvPicPr>
          <p:cNvPr id="96257" name="Picture 1" descr="E:\课程\海水分析化学 本科\课件\课程图片\alk滴定电位和V.png"/>
          <p:cNvPicPr>
            <a:picLocks noChangeAspect="1" noChangeArrowheads="1"/>
          </p:cNvPicPr>
          <p:nvPr/>
        </p:nvPicPr>
        <p:blipFill>
          <a:blip r:embed="rId2" cstate="print"/>
          <a:srcRect/>
          <a:stretch>
            <a:fillRect/>
          </a:stretch>
        </p:blipFill>
        <p:spPr bwMode="auto">
          <a:xfrm>
            <a:off x="5214942" y="0"/>
            <a:ext cx="3750593" cy="2647904"/>
          </a:xfrm>
          <a:prstGeom prst="rect">
            <a:avLst/>
          </a:prstGeom>
          <a:noFill/>
        </p:spPr>
      </p:pic>
      <p:sp>
        <p:nvSpPr>
          <p:cNvPr id="5" name="标题 4"/>
          <p:cNvSpPr txBox="1">
            <a:spLocks noGrp="1"/>
          </p:cNvSpPr>
          <p:nvPr>
            <p:ph type="title"/>
          </p:nvPr>
        </p:nvSpPr>
        <p:spPr>
          <a:xfrm>
            <a:off x="1007789" y="413756"/>
            <a:ext cx="4221682"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第十章 海水中的</a:t>
            </a:r>
            <a:r>
              <a:rPr lang="en-US" altLang="zh-CN" sz="3200" b="1" dirty="0">
                <a:solidFill>
                  <a:schemeClr val="bg2">
                    <a:lumMod val="25000"/>
                  </a:schemeClr>
                </a:solidFill>
                <a:latin typeface="华文新魏" pitchFamily="2" charset="-122"/>
                <a:ea typeface="华文新魏" pitchFamily="2" charset="-122"/>
              </a:rPr>
              <a:t>DIC</a:t>
            </a:r>
            <a:endParaRPr lang="zh-CN" altLang="en-US" sz="3200" b="1" dirty="0">
              <a:solidFill>
                <a:schemeClr val="bg2">
                  <a:lumMod val="25000"/>
                </a:schemeClr>
              </a:solidFill>
              <a:latin typeface="华文新魏" pitchFamily="2" charset="-122"/>
              <a:ea typeface="华文新魏" pitchFamily="2" charset="-122"/>
            </a:endParaRPr>
          </a:p>
        </p:txBody>
      </p:sp>
      <p:pic>
        <p:nvPicPr>
          <p:cNvPr id="6" name="Picture 3" descr="E:\课程\课件\课程图片\碱度的滴定终点.png"/>
          <p:cNvPicPr>
            <a:picLocks noChangeAspect="1" noChangeArrowheads="1"/>
          </p:cNvPicPr>
          <p:nvPr/>
        </p:nvPicPr>
        <p:blipFill>
          <a:blip r:embed="rId3" cstate="print"/>
          <a:srcRect/>
          <a:stretch>
            <a:fillRect/>
          </a:stretch>
        </p:blipFill>
        <p:spPr bwMode="auto">
          <a:xfrm>
            <a:off x="755576" y="4149080"/>
            <a:ext cx="8001056" cy="1266826"/>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4">
            <a:extLst>
              <a:ext uri="{FF2B5EF4-FFF2-40B4-BE49-F238E27FC236}">
                <a16:creationId xmlns:a16="http://schemas.microsoft.com/office/drawing/2014/main" id="{23A459B6-E788-4902-9959-6026AAB6F852}"/>
              </a:ext>
            </a:extLst>
          </p:cNvPr>
          <p:cNvSpPr txBox="1">
            <a:spLocks/>
          </p:cNvSpPr>
          <p:nvPr/>
        </p:nvSpPr>
        <p:spPr bwMode="auto">
          <a:xfrm>
            <a:off x="1419592" y="415081"/>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pic>
        <p:nvPicPr>
          <p:cNvPr id="8" name="内容占位符 7">
            <a:extLst>
              <a:ext uri="{FF2B5EF4-FFF2-40B4-BE49-F238E27FC236}">
                <a16:creationId xmlns:a16="http://schemas.microsoft.com/office/drawing/2014/main" id="{24BD9D60-DA6F-4EAA-BAB8-6A1DE252DA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21" y="1412776"/>
            <a:ext cx="7286422" cy="1674384"/>
          </a:xfrm>
        </p:spPr>
      </p:pic>
      <p:pic>
        <p:nvPicPr>
          <p:cNvPr id="6" name="Picture 1" descr="E:\课程\海水分析化学 本科\课件\课程图片\alk滴定电位和V.png"/>
          <p:cNvPicPr>
            <a:picLocks noChangeAspect="1" noChangeArrowheads="1"/>
          </p:cNvPicPr>
          <p:nvPr/>
        </p:nvPicPr>
        <p:blipFill>
          <a:blip r:embed="rId3" cstate="print"/>
          <a:srcRect/>
          <a:stretch>
            <a:fillRect/>
          </a:stretch>
        </p:blipFill>
        <p:spPr bwMode="auto">
          <a:xfrm>
            <a:off x="5869998" y="1448240"/>
            <a:ext cx="3244689" cy="2290738"/>
          </a:xfrm>
          <a:prstGeom prst="rect">
            <a:avLst/>
          </a:prstGeom>
          <a:noFill/>
        </p:spPr>
      </p:pic>
      <p:pic>
        <p:nvPicPr>
          <p:cNvPr id="10" name="图片 9">
            <a:extLst>
              <a:ext uri="{FF2B5EF4-FFF2-40B4-BE49-F238E27FC236}">
                <a16:creationId xmlns:a16="http://schemas.microsoft.com/office/drawing/2014/main" id="{0D2DFD59-49C7-4024-8440-FF8408ADF7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539" y="3157953"/>
            <a:ext cx="1714500" cy="581025"/>
          </a:xfrm>
          <a:prstGeom prst="rect">
            <a:avLst/>
          </a:prstGeom>
        </p:spPr>
      </p:pic>
      <p:pic>
        <p:nvPicPr>
          <p:cNvPr id="12" name="图片 11">
            <a:extLst>
              <a:ext uri="{FF2B5EF4-FFF2-40B4-BE49-F238E27FC236}">
                <a16:creationId xmlns:a16="http://schemas.microsoft.com/office/drawing/2014/main" id="{0EF748B8-B90D-4FF7-ADDC-FB51A51475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05682" y="3205578"/>
            <a:ext cx="3314700" cy="1066800"/>
          </a:xfrm>
          <a:prstGeom prst="rect">
            <a:avLst/>
          </a:prstGeom>
        </p:spPr>
      </p:pic>
      <p:sp>
        <p:nvSpPr>
          <p:cNvPr id="14" name="矩形 13">
            <a:extLst>
              <a:ext uri="{FF2B5EF4-FFF2-40B4-BE49-F238E27FC236}">
                <a16:creationId xmlns:a16="http://schemas.microsoft.com/office/drawing/2014/main" id="{4C596C5B-BE87-4554-9AA4-1A4A83A7EFA2}"/>
              </a:ext>
            </a:extLst>
          </p:cNvPr>
          <p:cNvSpPr/>
          <p:nvPr/>
        </p:nvSpPr>
        <p:spPr bwMode="auto">
          <a:xfrm>
            <a:off x="6084169" y="2680727"/>
            <a:ext cx="576063" cy="432048"/>
          </a:xfrm>
          <a:prstGeom prst="rect">
            <a:avLst/>
          </a:prstGeom>
          <a:noFill/>
          <a:ln w="222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pic>
        <p:nvPicPr>
          <p:cNvPr id="15" name="图片 14">
            <a:extLst>
              <a:ext uri="{FF2B5EF4-FFF2-40B4-BE49-F238E27FC236}">
                <a16:creationId xmlns:a16="http://schemas.microsoft.com/office/drawing/2014/main" id="{D9D92CAF-07BF-4063-80B7-AA9CFB786D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8320" y="3770841"/>
            <a:ext cx="3057525" cy="942975"/>
          </a:xfrm>
          <a:prstGeom prst="rect">
            <a:avLst/>
          </a:prstGeom>
        </p:spPr>
      </p:pic>
      <p:pic>
        <p:nvPicPr>
          <p:cNvPr id="17" name="图片 16">
            <a:extLst>
              <a:ext uri="{FF2B5EF4-FFF2-40B4-BE49-F238E27FC236}">
                <a16:creationId xmlns:a16="http://schemas.microsoft.com/office/drawing/2014/main" id="{E8B98790-20B6-4377-BB33-B1BBBFB325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5616" y="4653136"/>
            <a:ext cx="4604999" cy="432048"/>
          </a:xfrm>
          <a:prstGeom prst="rect">
            <a:avLst/>
          </a:prstGeom>
        </p:spPr>
      </p:pic>
      <p:pic>
        <p:nvPicPr>
          <p:cNvPr id="19" name="图片 18">
            <a:extLst>
              <a:ext uri="{FF2B5EF4-FFF2-40B4-BE49-F238E27FC236}">
                <a16:creationId xmlns:a16="http://schemas.microsoft.com/office/drawing/2014/main" id="{5F018516-74BE-44B9-9880-2B9CFFA10B7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4149" y="5271131"/>
            <a:ext cx="5112568" cy="933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E:\课程\海水分析化学 本科\课件\课程图片\alk滴定电位和V.png"/>
          <p:cNvPicPr>
            <a:picLocks noChangeAspect="1" noChangeArrowheads="1"/>
          </p:cNvPicPr>
          <p:nvPr/>
        </p:nvPicPr>
        <p:blipFill>
          <a:blip r:embed="rId2" cstate="print"/>
          <a:srcRect/>
          <a:stretch>
            <a:fillRect/>
          </a:stretch>
        </p:blipFill>
        <p:spPr bwMode="auto">
          <a:xfrm>
            <a:off x="5899311" y="267173"/>
            <a:ext cx="3244689" cy="2290738"/>
          </a:xfrm>
          <a:prstGeom prst="rect">
            <a:avLst/>
          </a:prstGeom>
          <a:noFill/>
        </p:spPr>
      </p:pic>
      <p:sp>
        <p:nvSpPr>
          <p:cNvPr id="7" name="标题 4">
            <a:extLst>
              <a:ext uri="{FF2B5EF4-FFF2-40B4-BE49-F238E27FC236}">
                <a16:creationId xmlns:a16="http://schemas.microsoft.com/office/drawing/2014/main" id="{8ECA7598-D787-46CE-9C70-04C7B00DD171}"/>
              </a:ext>
            </a:extLst>
          </p:cNvPr>
          <p:cNvSpPr txBox="1">
            <a:spLocks/>
          </p:cNvSpPr>
          <p:nvPr/>
        </p:nvSpPr>
        <p:spPr bwMode="auto">
          <a:xfrm>
            <a:off x="1007789" y="413756"/>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pic>
        <p:nvPicPr>
          <p:cNvPr id="8" name="图片 7">
            <a:extLst>
              <a:ext uri="{FF2B5EF4-FFF2-40B4-BE49-F238E27FC236}">
                <a16:creationId xmlns:a16="http://schemas.microsoft.com/office/drawing/2014/main" id="{94267E4D-CBDA-454D-868F-E8309A719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968" y="1472061"/>
            <a:ext cx="2876550" cy="1085850"/>
          </a:xfrm>
          <a:prstGeom prst="rect">
            <a:avLst/>
          </a:prstGeom>
        </p:spPr>
      </p:pic>
      <p:sp>
        <p:nvSpPr>
          <p:cNvPr id="9" name="矩形 8">
            <a:extLst>
              <a:ext uri="{FF2B5EF4-FFF2-40B4-BE49-F238E27FC236}">
                <a16:creationId xmlns:a16="http://schemas.microsoft.com/office/drawing/2014/main" id="{EC389BDD-4970-4029-8EB8-02A0268420B8}"/>
              </a:ext>
            </a:extLst>
          </p:cNvPr>
          <p:cNvSpPr/>
          <p:nvPr/>
        </p:nvSpPr>
        <p:spPr bwMode="auto">
          <a:xfrm>
            <a:off x="6732239" y="1047157"/>
            <a:ext cx="789415" cy="432048"/>
          </a:xfrm>
          <a:prstGeom prst="rect">
            <a:avLst/>
          </a:prstGeom>
          <a:noFill/>
          <a:ln w="222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pic>
        <p:nvPicPr>
          <p:cNvPr id="11" name="图片 10">
            <a:extLst>
              <a:ext uri="{FF2B5EF4-FFF2-40B4-BE49-F238E27FC236}">
                <a16:creationId xmlns:a16="http://schemas.microsoft.com/office/drawing/2014/main" id="{FF386217-CE2C-49B4-8F4B-628119ABA6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584" y="2565869"/>
            <a:ext cx="2876550" cy="504825"/>
          </a:xfrm>
          <a:prstGeom prst="rect">
            <a:avLst/>
          </a:prstGeom>
        </p:spPr>
      </p:pic>
      <p:pic>
        <p:nvPicPr>
          <p:cNvPr id="13" name="图片 12">
            <a:extLst>
              <a:ext uri="{FF2B5EF4-FFF2-40B4-BE49-F238E27FC236}">
                <a16:creationId xmlns:a16="http://schemas.microsoft.com/office/drawing/2014/main" id="{9B1AC4B0-2AC2-488B-8D74-FDF6588DDC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0114" y="2323397"/>
            <a:ext cx="1699754" cy="849877"/>
          </a:xfrm>
          <a:prstGeom prst="rect">
            <a:avLst/>
          </a:prstGeom>
        </p:spPr>
      </p:pic>
      <p:pic>
        <p:nvPicPr>
          <p:cNvPr id="15" name="图片 14">
            <a:extLst>
              <a:ext uri="{FF2B5EF4-FFF2-40B4-BE49-F238E27FC236}">
                <a16:creationId xmlns:a16="http://schemas.microsoft.com/office/drawing/2014/main" id="{5216F6A6-AD5D-4CCE-B7D8-01CBFCE136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3980" y="3173274"/>
            <a:ext cx="3914775" cy="923925"/>
          </a:xfrm>
          <a:prstGeom prst="rect">
            <a:avLst/>
          </a:prstGeom>
        </p:spPr>
      </p:pic>
      <p:pic>
        <p:nvPicPr>
          <p:cNvPr id="17" name="图片 16">
            <a:extLst>
              <a:ext uri="{FF2B5EF4-FFF2-40B4-BE49-F238E27FC236}">
                <a16:creationId xmlns:a16="http://schemas.microsoft.com/office/drawing/2014/main" id="{62F6B175-3A34-4685-A5C0-825D27354A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74465" y="3126061"/>
            <a:ext cx="3790950" cy="714375"/>
          </a:xfrm>
          <a:prstGeom prst="rect">
            <a:avLst/>
          </a:prstGeom>
        </p:spPr>
      </p:pic>
      <p:pic>
        <p:nvPicPr>
          <p:cNvPr id="19" name="图片 18">
            <a:extLst>
              <a:ext uri="{FF2B5EF4-FFF2-40B4-BE49-F238E27FC236}">
                <a16:creationId xmlns:a16="http://schemas.microsoft.com/office/drawing/2014/main" id="{F20BA074-2CDB-4DE1-AA8F-6B0D764FBB5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24400" y="3782874"/>
            <a:ext cx="4419600" cy="628650"/>
          </a:xfrm>
          <a:prstGeom prst="rect">
            <a:avLst/>
          </a:prstGeom>
        </p:spPr>
      </p:pic>
      <p:pic>
        <p:nvPicPr>
          <p:cNvPr id="21" name="图片 20">
            <a:extLst>
              <a:ext uri="{FF2B5EF4-FFF2-40B4-BE49-F238E27FC236}">
                <a16:creationId xmlns:a16="http://schemas.microsoft.com/office/drawing/2014/main" id="{182C6A3D-15B4-4B96-9407-15DCBDE9C3E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51097" y="4356416"/>
            <a:ext cx="5857875" cy="752475"/>
          </a:xfrm>
          <a:prstGeom prst="rect">
            <a:avLst/>
          </a:prstGeom>
        </p:spPr>
      </p:pic>
      <p:sp>
        <p:nvSpPr>
          <p:cNvPr id="22" name="文本框 21">
            <a:extLst>
              <a:ext uri="{FF2B5EF4-FFF2-40B4-BE49-F238E27FC236}">
                <a16:creationId xmlns:a16="http://schemas.microsoft.com/office/drawing/2014/main" id="{2D2881A7-C363-44A1-90A2-0F7BDD576969}"/>
              </a:ext>
            </a:extLst>
          </p:cNvPr>
          <p:cNvSpPr txBox="1"/>
          <p:nvPr/>
        </p:nvSpPr>
        <p:spPr>
          <a:xfrm>
            <a:off x="288076" y="4330917"/>
            <a:ext cx="2727993" cy="923330"/>
          </a:xfrm>
          <a:prstGeom prst="rect">
            <a:avLst/>
          </a:prstGeom>
          <a:noFill/>
        </p:spPr>
        <p:txBody>
          <a:bodyPr wrap="square" rtlCol="0">
            <a:spAutoFit/>
          </a:bodyPr>
          <a:lstStyle/>
          <a:p>
            <a:r>
              <a:rPr lang="zh-CN" altLang="en-US" dirty="0"/>
              <a:t>其中，</a:t>
            </a:r>
            <a:r>
              <a:rPr lang="en-US" altLang="zh-CN" dirty="0"/>
              <a:t>C</a:t>
            </a:r>
            <a:r>
              <a:rPr lang="en-US" altLang="zh-CN" baseline="-25000" dirty="0"/>
              <a:t>A</a:t>
            </a:r>
            <a:r>
              <a:rPr lang="zh-CN" altLang="en-US" dirty="0"/>
              <a:t>是滴定盐酸用的浓度，</a:t>
            </a:r>
            <a:r>
              <a:rPr lang="en-US" altLang="zh-CN" dirty="0"/>
              <a:t>V</a:t>
            </a:r>
            <a:r>
              <a:rPr lang="zh-CN" altLang="en-US" dirty="0"/>
              <a:t>是滴定盐酸用的体积，</a:t>
            </a:r>
            <a:r>
              <a:rPr lang="en-US" altLang="zh-CN" dirty="0"/>
              <a:t>V</a:t>
            </a:r>
            <a:r>
              <a:rPr lang="en-US" altLang="zh-CN" baseline="-25000" dirty="0"/>
              <a:t>0</a:t>
            </a:r>
            <a:r>
              <a:rPr lang="zh-CN" altLang="en-US" dirty="0"/>
              <a:t>是样品的体积</a:t>
            </a:r>
          </a:p>
        </p:txBody>
      </p:sp>
      <p:pic>
        <p:nvPicPr>
          <p:cNvPr id="24" name="图片 23">
            <a:extLst>
              <a:ext uri="{FF2B5EF4-FFF2-40B4-BE49-F238E27FC236}">
                <a16:creationId xmlns:a16="http://schemas.microsoft.com/office/drawing/2014/main" id="{36E2F3BD-F784-47F5-B512-8BF7BB5CD4A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16069" y="5415733"/>
            <a:ext cx="4029075" cy="533400"/>
          </a:xfrm>
          <a:prstGeom prst="rect">
            <a:avLst/>
          </a:prstGeom>
        </p:spPr>
      </p:pic>
      <p:pic>
        <p:nvPicPr>
          <p:cNvPr id="26" name="内容占位符 4">
            <a:extLst>
              <a:ext uri="{FF2B5EF4-FFF2-40B4-BE49-F238E27FC236}">
                <a16:creationId xmlns:a16="http://schemas.microsoft.com/office/drawing/2014/main" id="{1912F5B3-701C-47E6-95E2-F03B9DD42459}"/>
              </a:ext>
            </a:extLst>
          </p:cNvPr>
          <p:cNvPicPr>
            <a:picLocks noGrp="1" noChangeAspect="1"/>
          </p:cNvPicPr>
          <p:nvPr>
            <p:ph idx="1"/>
          </p:nvPr>
        </p:nvPicPr>
        <p:blipFill>
          <a:blip r:embed="rId11">
            <a:extLst>
              <a:ext uri="{28A0092B-C50C-407E-A947-70E740481C1C}">
                <a14:useLocalDpi xmlns:a14="http://schemas.microsoft.com/office/drawing/2010/main" val="0"/>
              </a:ext>
            </a:extLst>
          </a:blip>
          <a:stretch>
            <a:fillRect/>
          </a:stretch>
        </p:blipFill>
        <p:spPr>
          <a:xfrm>
            <a:off x="1873209" y="5938454"/>
            <a:ext cx="7305675" cy="523875"/>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additive="base">
                                        <p:cTn id="53" dur="500" fill="hold"/>
                                        <p:tgtEl>
                                          <p:spTgt spid="24"/>
                                        </p:tgtEl>
                                        <p:attrNameLst>
                                          <p:attrName>ppt_x</p:attrName>
                                        </p:attrNameLst>
                                      </p:cBhvr>
                                      <p:tavLst>
                                        <p:tav tm="0">
                                          <p:val>
                                            <p:strVal val="#ppt_x"/>
                                          </p:val>
                                        </p:tav>
                                        <p:tav tm="100000">
                                          <p:val>
                                            <p:strVal val="#ppt_x"/>
                                          </p:val>
                                        </p:tav>
                                      </p:tavLst>
                                    </p:anim>
                                    <p:anim calcmode="lin" valueType="num">
                                      <p:cBhvr additive="base">
                                        <p:cTn id="5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500" fill="hold"/>
                                        <p:tgtEl>
                                          <p:spTgt spid="26"/>
                                        </p:tgtEl>
                                        <p:attrNameLst>
                                          <p:attrName>ppt_x</p:attrName>
                                        </p:attrNameLst>
                                      </p:cBhvr>
                                      <p:tavLst>
                                        <p:tav tm="0">
                                          <p:val>
                                            <p:strVal val="#ppt_x"/>
                                          </p:val>
                                        </p:tav>
                                        <p:tav tm="100000">
                                          <p:val>
                                            <p:strVal val="#ppt_x"/>
                                          </p:val>
                                        </p:tav>
                                      </p:tavLst>
                                    </p:anim>
                                    <p:anim calcmode="lin" valueType="num">
                                      <p:cBhvr additive="base">
                                        <p:cTn id="6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9" name="Picture 3" descr="E:\课程\课件\课程图片\0.png"/>
          <p:cNvPicPr>
            <a:picLocks noChangeAspect="1" noChangeArrowheads="1"/>
          </p:cNvPicPr>
          <p:nvPr/>
        </p:nvPicPr>
        <p:blipFill>
          <a:blip r:embed="rId2" cstate="print"/>
          <a:srcRect/>
          <a:stretch>
            <a:fillRect/>
          </a:stretch>
        </p:blipFill>
        <p:spPr bwMode="auto">
          <a:xfrm>
            <a:off x="471434" y="4363388"/>
            <a:ext cx="8410575" cy="2251058"/>
          </a:xfrm>
          <a:prstGeom prst="rect">
            <a:avLst/>
          </a:prstGeom>
          <a:noFill/>
        </p:spPr>
      </p:pic>
      <p:sp>
        <p:nvSpPr>
          <p:cNvPr id="7" name="标题 4">
            <a:extLst>
              <a:ext uri="{FF2B5EF4-FFF2-40B4-BE49-F238E27FC236}">
                <a16:creationId xmlns:a16="http://schemas.microsoft.com/office/drawing/2014/main" id="{06164DBE-A762-4272-B418-3F1DF3EDDF27}"/>
              </a:ext>
            </a:extLst>
          </p:cNvPr>
          <p:cNvSpPr txBox="1">
            <a:spLocks/>
          </p:cNvSpPr>
          <p:nvPr/>
        </p:nvSpPr>
        <p:spPr bwMode="auto">
          <a:xfrm>
            <a:off x="1691680" y="476672"/>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pic>
        <p:nvPicPr>
          <p:cNvPr id="5" name="内容占位符 4">
            <a:extLst>
              <a:ext uri="{FF2B5EF4-FFF2-40B4-BE49-F238E27FC236}">
                <a16:creationId xmlns:a16="http://schemas.microsoft.com/office/drawing/2014/main" id="{5C05CF38-9582-424E-A507-297B3839B30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2955" y="1338262"/>
            <a:ext cx="7305675" cy="523875"/>
          </a:xfrm>
        </p:spPr>
      </p:pic>
      <p:pic>
        <p:nvPicPr>
          <p:cNvPr id="8" name="Picture 1" descr="E:\课程\海水分析化学 本科\课件\课程图片\alk滴定电位和V.png">
            <a:extLst>
              <a:ext uri="{FF2B5EF4-FFF2-40B4-BE49-F238E27FC236}">
                <a16:creationId xmlns:a16="http://schemas.microsoft.com/office/drawing/2014/main" id="{82F0B53D-EC64-40BA-A42E-28FE1EDDDEC5}"/>
              </a:ext>
            </a:extLst>
          </p:cNvPr>
          <p:cNvPicPr>
            <a:picLocks noChangeAspect="1" noChangeArrowheads="1"/>
          </p:cNvPicPr>
          <p:nvPr/>
        </p:nvPicPr>
        <p:blipFill>
          <a:blip r:embed="rId4" cstate="print"/>
          <a:srcRect/>
          <a:stretch>
            <a:fillRect/>
          </a:stretch>
        </p:blipFill>
        <p:spPr bwMode="auto">
          <a:xfrm>
            <a:off x="5637320" y="2110143"/>
            <a:ext cx="3244689" cy="2290738"/>
          </a:xfrm>
          <a:prstGeom prst="rect">
            <a:avLst/>
          </a:prstGeom>
          <a:noFill/>
        </p:spPr>
      </p:pic>
      <p:pic>
        <p:nvPicPr>
          <p:cNvPr id="9" name="图片 8">
            <a:extLst>
              <a:ext uri="{FF2B5EF4-FFF2-40B4-BE49-F238E27FC236}">
                <a16:creationId xmlns:a16="http://schemas.microsoft.com/office/drawing/2014/main" id="{05CFFE69-66CA-4D62-94F0-94C29C95A4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2955" y="2004296"/>
            <a:ext cx="1390650" cy="581025"/>
          </a:xfrm>
          <a:prstGeom prst="rect">
            <a:avLst/>
          </a:prstGeom>
        </p:spPr>
      </p:pic>
      <p:sp>
        <p:nvSpPr>
          <p:cNvPr id="10" name="文本框 9">
            <a:extLst>
              <a:ext uri="{FF2B5EF4-FFF2-40B4-BE49-F238E27FC236}">
                <a16:creationId xmlns:a16="http://schemas.microsoft.com/office/drawing/2014/main" id="{FAED2D52-34ED-4B5B-953B-5A613A8897BA}"/>
              </a:ext>
            </a:extLst>
          </p:cNvPr>
          <p:cNvSpPr txBox="1"/>
          <p:nvPr/>
        </p:nvSpPr>
        <p:spPr>
          <a:xfrm>
            <a:off x="1859721" y="2125281"/>
            <a:ext cx="4312142" cy="369332"/>
          </a:xfrm>
          <a:prstGeom prst="rect">
            <a:avLst/>
          </a:prstGeom>
          <a:noFill/>
        </p:spPr>
        <p:txBody>
          <a:bodyPr wrap="square" rtlCol="0">
            <a:spAutoFit/>
          </a:bodyPr>
          <a:lstStyle/>
          <a:p>
            <a:r>
              <a:rPr lang="zh-CN" altLang="en-US" dirty="0"/>
              <a:t>当</a:t>
            </a:r>
            <a:r>
              <a:rPr lang="en-US" altLang="zh-CN" dirty="0"/>
              <a:t>F</a:t>
            </a:r>
            <a:r>
              <a:rPr lang="en-US" altLang="zh-CN" baseline="-25000" dirty="0"/>
              <a:t>1</a:t>
            </a:r>
            <a:r>
              <a:rPr lang="en-US" altLang="zh-CN" dirty="0"/>
              <a:t>=0</a:t>
            </a:r>
            <a:r>
              <a:rPr lang="zh-CN" altLang="en-US" dirty="0"/>
              <a:t>时，</a:t>
            </a:r>
            <a:r>
              <a:rPr lang="en-US" altLang="zh-CN" dirty="0"/>
              <a:t>V=V</a:t>
            </a:r>
            <a:r>
              <a:rPr lang="en-US" altLang="zh-CN" baseline="-25000" dirty="0"/>
              <a:t>1</a:t>
            </a:r>
            <a:r>
              <a:rPr lang="zh-CN" altLang="en-US" dirty="0"/>
              <a:t>，即找到等当点</a:t>
            </a:r>
            <a:r>
              <a:rPr lang="en-US" altLang="zh-CN" dirty="0"/>
              <a:t>V</a:t>
            </a:r>
            <a:r>
              <a:rPr lang="en-US" altLang="zh-CN" baseline="-25000" dirty="0"/>
              <a:t>1</a:t>
            </a:r>
            <a:endParaRPr lang="zh-CN" altLang="en-US" dirty="0"/>
          </a:p>
        </p:txBody>
      </p:sp>
      <p:pic>
        <p:nvPicPr>
          <p:cNvPr id="12" name="图片 11">
            <a:extLst>
              <a:ext uri="{FF2B5EF4-FFF2-40B4-BE49-F238E27FC236}">
                <a16:creationId xmlns:a16="http://schemas.microsoft.com/office/drawing/2014/main" id="{D26F8A49-6908-40C4-B648-9AFFFFEB7A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09069" y="2646021"/>
            <a:ext cx="4133850" cy="831866"/>
          </a:xfrm>
          <a:prstGeom prst="rect">
            <a:avLst/>
          </a:prstGeom>
        </p:spPr>
      </p:pic>
      <p:pic>
        <p:nvPicPr>
          <p:cNvPr id="14" name="图片 13">
            <a:extLst>
              <a:ext uri="{FF2B5EF4-FFF2-40B4-BE49-F238E27FC236}">
                <a16:creationId xmlns:a16="http://schemas.microsoft.com/office/drawing/2014/main" id="{1F9CAFEE-D499-492E-B6E1-66303FEA2B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59632" y="3600455"/>
            <a:ext cx="4133850" cy="542925"/>
          </a:xfrm>
          <a:prstGeom prst="rect">
            <a:avLst/>
          </a:prstGeom>
        </p:spPr>
      </p:pic>
      <p:pic>
        <p:nvPicPr>
          <p:cNvPr id="16" name="图片 15">
            <a:extLst>
              <a:ext uri="{FF2B5EF4-FFF2-40B4-BE49-F238E27FC236}">
                <a16:creationId xmlns:a16="http://schemas.microsoft.com/office/drawing/2014/main" id="{927823DD-70BF-4902-BE24-5274207FCA3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0147" y="2646021"/>
            <a:ext cx="1543050" cy="542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1379"/>
                                        </p:tgtEl>
                                        <p:attrNameLst>
                                          <p:attrName>style.visibility</p:attrName>
                                        </p:attrNameLst>
                                      </p:cBhvr>
                                      <p:to>
                                        <p:strVal val="visible"/>
                                      </p:to>
                                    </p:set>
                                    <p:anim calcmode="lin" valueType="num">
                                      <p:cBhvr additive="base">
                                        <p:cTn id="35" dur="500" fill="hold"/>
                                        <p:tgtEl>
                                          <p:spTgt spid="101379"/>
                                        </p:tgtEl>
                                        <p:attrNameLst>
                                          <p:attrName>ppt_x</p:attrName>
                                        </p:attrNameLst>
                                      </p:cBhvr>
                                      <p:tavLst>
                                        <p:tav tm="0">
                                          <p:val>
                                            <p:strVal val="#ppt_x"/>
                                          </p:val>
                                        </p:tav>
                                        <p:tav tm="100000">
                                          <p:val>
                                            <p:strVal val="#ppt_x"/>
                                          </p:val>
                                        </p:tav>
                                      </p:tavLst>
                                    </p:anim>
                                    <p:anim calcmode="lin" valueType="num">
                                      <p:cBhvr additive="base">
                                        <p:cTn id="36" dur="500" fill="hold"/>
                                        <p:tgtEl>
                                          <p:spTgt spid="1013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descr="E:\课程\课件\课程图片\0.png"/>
          <p:cNvPicPr>
            <a:picLocks noChangeAspect="1" noChangeArrowheads="1"/>
          </p:cNvPicPr>
          <p:nvPr/>
        </p:nvPicPr>
        <p:blipFill>
          <a:blip r:embed="rId2" cstate="print"/>
          <a:srcRect/>
          <a:stretch>
            <a:fillRect/>
          </a:stretch>
        </p:blipFill>
        <p:spPr bwMode="auto">
          <a:xfrm>
            <a:off x="755576" y="1372021"/>
            <a:ext cx="7385474" cy="3493578"/>
          </a:xfrm>
          <a:prstGeom prst="rect">
            <a:avLst/>
          </a:prstGeom>
          <a:noFill/>
        </p:spPr>
      </p:pic>
      <p:sp>
        <p:nvSpPr>
          <p:cNvPr id="7" name="TextBox 6"/>
          <p:cNvSpPr txBox="1"/>
          <p:nvPr/>
        </p:nvSpPr>
        <p:spPr>
          <a:xfrm>
            <a:off x="755576" y="4865599"/>
            <a:ext cx="7632848" cy="1200329"/>
          </a:xfrm>
          <a:prstGeom prst="rect">
            <a:avLst/>
          </a:prstGeom>
          <a:noFill/>
        </p:spPr>
        <p:txBody>
          <a:bodyPr wrap="square" rtlCol="0">
            <a:spAutoFit/>
          </a:bodyPr>
          <a:lstStyle/>
          <a:p>
            <a:r>
              <a:rPr lang="zh-CN" altLang="en-US" sz="2400" dirty="0"/>
              <a:t>作业：为什么</a:t>
            </a:r>
            <a:r>
              <a:rPr lang="en-US" altLang="zh-CN" sz="2400" dirty="0"/>
              <a:t>Gran</a:t>
            </a:r>
            <a:r>
              <a:rPr lang="zh-CN" altLang="en-US" sz="2400" dirty="0"/>
              <a:t>滴定法现在主要用于测量</a:t>
            </a:r>
            <a:r>
              <a:rPr lang="en-US" altLang="zh-CN" sz="2400" dirty="0"/>
              <a:t>TA</a:t>
            </a:r>
            <a:r>
              <a:rPr lang="zh-CN" altLang="en-US" sz="2400" dirty="0"/>
              <a:t>而测量而测量</a:t>
            </a:r>
            <a:r>
              <a:rPr lang="en-US" altLang="zh-CN" sz="2400" dirty="0"/>
              <a:t>DIC</a:t>
            </a:r>
            <a:r>
              <a:rPr lang="zh-CN" altLang="en-US" sz="2400" dirty="0"/>
              <a:t>已经基本不用这个方法了。撇开新技术的发展，从方法本身上分析</a:t>
            </a:r>
            <a:r>
              <a:rPr lang="en-US" altLang="zh-CN" sz="2400" dirty="0"/>
              <a:t>Gran</a:t>
            </a:r>
            <a:r>
              <a:rPr lang="zh-CN" altLang="en-US" sz="2400" dirty="0"/>
              <a:t>滴定法测量</a:t>
            </a:r>
            <a:r>
              <a:rPr lang="en-US" altLang="zh-CN" sz="2400" dirty="0"/>
              <a:t>DIC</a:t>
            </a:r>
            <a:r>
              <a:rPr lang="zh-CN" altLang="en-US" sz="2400" dirty="0"/>
              <a:t>有哪些缺陷？</a:t>
            </a:r>
          </a:p>
        </p:txBody>
      </p:sp>
      <p:sp>
        <p:nvSpPr>
          <p:cNvPr id="8" name="标题 4">
            <a:extLst>
              <a:ext uri="{FF2B5EF4-FFF2-40B4-BE49-F238E27FC236}">
                <a16:creationId xmlns:a16="http://schemas.microsoft.com/office/drawing/2014/main" id="{69B3188D-DEE6-4F0E-B9B7-75D413A462D4}"/>
              </a:ext>
            </a:extLst>
          </p:cNvPr>
          <p:cNvSpPr txBox="1">
            <a:spLocks/>
          </p:cNvSpPr>
          <p:nvPr/>
        </p:nvSpPr>
        <p:spPr bwMode="auto">
          <a:xfrm>
            <a:off x="1007789" y="413756"/>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42910" y="1379903"/>
            <a:ext cx="7429552" cy="1453411"/>
          </a:xfrm>
          <a:prstGeom prst="rect">
            <a:avLst/>
          </a:prstGeom>
          <a:noFill/>
        </p:spPr>
        <p:txBody>
          <a:bodyPr wrap="square" rtlCol="0">
            <a:spAutoFit/>
          </a:bodyPr>
          <a:lstStyle/>
          <a:p>
            <a:pPr marL="457200" indent="-457200">
              <a:lnSpc>
                <a:spcPct val="120000"/>
              </a:lnSpc>
              <a:buFont typeface="+mj-lt"/>
              <a:buAutoNum type="alphaUcPeriod" startAt="2"/>
            </a:pPr>
            <a:r>
              <a:rPr lang="zh-CN" altLang="en-US" sz="2400" dirty="0"/>
              <a:t>  </a:t>
            </a:r>
            <a:r>
              <a:rPr lang="zh-CN" altLang="en-US" sz="2800" dirty="0"/>
              <a:t>库仑法和红外法</a:t>
            </a:r>
            <a:endParaRPr lang="en-US" altLang="zh-CN" sz="2800" dirty="0"/>
          </a:p>
          <a:p>
            <a:pPr marL="914400" lvl="1" indent="-457200">
              <a:lnSpc>
                <a:spcPct val="120000"/>
              </a:lnSpc>
              <a:buFont typeface="Wingdings" panose="05000000000000000000" pitchFamily="2" charset="2"/>
              <a:buChar char="Ø"/>
            </a:pPr>
            <a:r>
              <a:rPr lang="en-US" altLang="zh-CN" sz="2400" dirty="0"/>
              <a:t> </a:t>
            </a:r>
            <a:r>
              <a:rPr lang="zh-CN" altLang="en-US" sz="2400" dirty="0"/>
              <a:t>与电位滴定法相比，采用的原理完全不同</a:t>
            </a:r>
            <a:endParaRPr lang="en-US" altLang="zh-CN" sz="2400" dirty="0"/>
          </a:p>
          <a:p>
            <a:pPr marL="914400" lvl="1" indent="-457200">
              <a:lnSpc>
                <a:spcPct val="120000"/>
              </a:lnSpc>
              <a:buFont typeface="Wingdings" panose="05000000000000000000" pitchFamily="2" charset="2"/>
              <a:buChar char="Ø"/>
            </a:pPr>
            <a:r>
              <a:rPr lang="zh-CN" altLang="en-US" sz="2400" dirty="0"/>
              <a:t> 库仑法和红外法的差别只在检测方式不同</a:t>
            </a:r>
            <a:endParaRPr lang="zh-CN" altLang="en-US" sz="2000" dirty="0"/>
          </a:p>
        </p:txBody>
      </p:sp>
      <p:pic>
        <p:nvPicPr>
          <p:cNvPr id="103427" name="Picture 3" descr="E:\课程\课件\课程图片\IMG_20160514_113203.jpg"/>
          <p:cNvPicPr>
            <a:picLocks noChangeAspect="1" noChangeArrowheads="1"/>
          </p:cNvPicPr>
          <p:nvPr/>
        </p:nvPicPr>
        <p:blipFill>
          <a:blip r:embed="rId2" cstate="print"/>
          <a:srcRect/>
          <a:stretch>
            <a:fillRect/>
          </a:stretch>
        </p:blipFill>
        <p:spPr bwMode="auto">
          <a:xfrm>
            <a:off x="642910" y="3214686"/>
            <a:ext cx="7643866" cy="2561841"/>
          </a:xfrm>
          <a:prstGeom prst="rect">
            <a:avLst/>
          </a:prstGeom>
          <a:noFill/>
        </p:spPr>
      </p:pic>
      <p:sp>
        <p:nvSpPr>
          <p:cNvPr id="8" name="标题 4">
            <a:extLst>
              <a:ext uri="{FF2B5EF4-FFF2-40B4-BE49-F238E27FC236}">
                <a16:creationId xmlns:a16="http://schemas.microsoft.com/office/drawing/2014/main" id="{335BF5A6-9167-4BE2-9977-5BFFA7920D8F}"/>
              </a:ext>
            </a:extLst>
          </p:cNvPr>
          <p:cNvSpPr txBox="1">
            <a:spLocks/>
          </p:cNvSpPr>
          <p:nvPr/>
        </p:nvSpPr>
        <p:spPr bwMode="auto">
          <a:xfrm>
            <a:off x="1403648" y="413756"/>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50067" y="1547446"/>
            <a:ext cx="7961538" cy="2677656"/>
          </a:xfrm>
          <a:prstGeom prst="rect">
            <a:avLst/>
          </a:prstGeom>
          <a:noFill/>
        </p:spPr>
        <p:txBody>
          <a:bodyPr wrap="square" rtlCol="0">
            <a:spAutoFit/>
          </a:bodyPr>
          <a:lstStyle/>
          <a:p>
            <a:pPr marL="457200" indent="-457200">
              <a:buFont typeface="+mj-lt"/>
              <a:buAutoNum type="arabicPeriod"/>
            </a:pPr>
            <a:r>
              <a:rPr lang="en-US" altLang="zh-CN" sz="2400" dirty="0"/>
              <a:t>Sample</a:t>
            </a:r>
            <a:r>
              <a:rPr lang="zh-CN" altLang="en-US" sz="2400" dirty="0"/>
              <a:t>进入</a:t>
            </a:r>
            <a:r>
              <a:rPr lang="en-US" altLang="zh-CN" sz="2400" dirty="0"/>
              <a:t>cell</a:t>
            </a:r>
          </a:p>
          <a:p>
            <a:pPr marL="457200" indent="-457200">
              <a:buFont typeface="+mj-lt"/>
              <a:buAutoNum type="arabicPeriod"/>
            </a:pPr>
            <a:r>
              <a:rPr lang="zh-CN" altLang="en-US" sz="2400" dirty="0"/>
              <a:t>加酸将</a:t>
            </a:r>
            <a:r>
              <a:rPr lang="en-US" altLang="zh-CN" sz="2400" dirty="0"/>
              <a:t>sample</a:t>
            </a:r>
            <a:r>
              <a:rPr lang="zh-CN" altLang="en-US" sz="2400" dirty="0"/>
              <a:t>的</a:t>
            </a:r>
            <a:r>
              <a:rPr lang="en-US" altLang="zh-CN" sz="2400" dirty="0"/>
              <a:t>pH</a:t>
            </a:r>
            <a:r>
              <a:rPr lang="zh-CN" altLang="en-US" sz="2400" dirty="0"/>
              <a:t>调至合适（酸用的是磷酸）</a:t>
            </a:r>
            <a:endParaRPr lang="en-US" altLang="zh-CN" sz="2400" dirty="0"/>
          </a:p>
          <a:p>
            <a:pPr marL="457200" indent="-457200">
              <a:buFont typeface="+mj-lt"/>
              <a:buAutoNum type="arabicPeriod"/>
            </a:pPr>
            <a:r>
              <a:rPr lang="zh-CN" altLang="en-US" sz="2400" dirty="0"/>
              <a:t>用没有</a:t>
            </a:r>
            <a:r>
              <a:rPr lang="en-US" altLang="zh-CN" sz="2400" dirty="0"/>
              <a:t>CO</a:t>
            </a:r>
            <a:r>
              <a:rPr lang="en-US" altLang="zh-CN" sz="2400" baseline="-25000" dirty="0"/>
              <a:t>2</a:t>
            </a:r>
            <a:r>
              <a:rPr lang="zh-CN" altLang="en-US" sz="2400" dirty="0"/>
              <a:t>的气体通入</a:t>
            </a:r>
            <a:r>
              <a:rPr lang="en-US" altLang="zh-CN" sz="2400" dirty="0"/>
              <a:t>cell</a:t>
            </a:r>
            <a:r>
              <a:rPr lang="zh-CN" altLang="en-US" sz="2400" dirty="0"/>
              <a:t>将溶液中的</a:t>
            </a:r>
            <a:r>
              <a:rPr lang="en-US" altLang="zh-CN" sz="2400" dirty="0"/>
              <a:t>CO</a:t>
            </a:r>
            <a:r>
              <a:rPr lang="en-US" altLang="zh-CN" sz="2400" baseline="-25000" dirty="0"/>
              <a:t>2</a:t>
            </a:r>
            <a:r>
              <a:rPr lang="zh-CN" altLang="en-US" sz="2400" dirty="0"/>
              <a:t>赶出来并带走</a:t>
            </a:r>
            <a:endParaRPr lang="en-US" altLang="zh-CN" sz="2400" dirty="0"/>
          </a:p>
          <a:p>
            <a:pPr marL="457200" indent="-457200">
              <a:buFont typeface="+mj-lt"/>
              <a:buAutoNum type="arabicPeriod"/>
            </a:pPr>
            <a:r>
              <a:rPr lang="zh-CN" altLang="en-US" sz="2400" dirty="0"/>
              <a:t>带出的气体进行纯化（去除对反应有影响的气体）</a:t>
            </a:r>
            <a:endParaRPr lang="en-US" altLang="zh-CN" sz="2400" dirty="0"/>
          </a:p>
          <a:p>
            <a:pPr marL="457200" indent="-457200">
              <a:buFont typeface="+mj-lt"/>
              <a:buAutoNum type="arabicPeriod"/>
            </a:pPr>
            <a:r>
              <a:rPr lang="zh-CN" altLang="en-US" sz="2400" dirty="0"/>
              <a:t>检测池</a:t>
            </a:r>
            <a:endParaRPr lang="en-US" altLang="zh-CN" sz="2400" dirty="0"/>
          </a:p>
          <a:p>
            <a:pPr marL="457200" indent="-457200">
              <a:buFont typeface="+mj-lt"/>
              <a:buAutoNum type="arabicPeriod"/>
            </a:pPr>
            <a:r>
              <a:rPr lang="zh-CN" altLang="en-US" sz="2400" dirty="0"/>
              <a:t>气体校正系统</a:t>
            </a:r>
            <a:endParaRPr lang="en-US" altLang="zh-CN" sz="2400" dirty="0"/>
          </a:p>
          <a:p>
            <a:pPr marL="457200" indent="-457200">
              <a:buFont typeface="+mj-lt"/>
              <a:buAutoNum type="arabicPeriod"/>
            </a:pPr>
            <a:endParaRPr lang="zh-CN" altLang="en-US" sz="2400" dirty="0"/>
          </a:p>
        </p:txBody>
      </p:sp>
      <p:pic>
        <p:nvPicPr>
          <p:cNvPr id="103427" name="Picture 3" descr="E:\课程\课件\课程图片\IMG_20160514_113203.jpg"/>
          <p:cNvPicPr>
            <a:picLocks noChangeAspect="1" noChangeArrowheads="1"/>
          </p:cNvPicPr>
          <p:nvPr/>
        </p:nvPicPr>
        <p:blipFill>
          <a:blip r:embed="rId2" cstate="print"/>
          <a:srcRect/>
          <a:stretch>
            <a:fillRect/>
          </a:stretch>
        </p:blipFill>
        <p:spPr bwMode="auto">
          <a:xfrm>
            <a:off x="750067" y="3869649"/>
            <a:ext cx="7643866" cy="2561841"/>
          </a:xfrm>
          <a:prstGeom prst="rect">
            <a:avLst/>
          </a:prstGeom>
          <a:noFill/>
        </p:spPr>
      </p:pic>
      <p:sp>
        <p:nvSpPr>
          <p:cNvPr id="8" name="标题 4">
            <a:extLst>
              <a:ext uri="{FF2B5EF4-FFF2-40B4-BE49-F238E27FC236}">
                <a16:creationId xmlns:a16="http://schemas.microsoft.com/office/drawing/2014/main" id="{3852C5B2-75A6-433B-9A85-25A457D4398D}"/>
              </a:ext>
            </a:extLst>
          </p:cNvPr>
          <p:cNvSpPr txBox="1">
            <a:spLocks/>
          </p:cNvSpPr>
          <p:nvPr/>
        </p:nvSpPr>
        <p:spPr bwMode="auto">
          <a:xfrm>
            <a:off x="1439993" y="332656"/>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sp>
        <p:nvSpPr>
          <p:cNvPr id="2" name="矩形 1">
            <a:extLst>
              <a:ext uri="{FF2B5EF4-FFF2-40B4-BE49-F238E27FC236}">
                <a16:creationId xmlns:a16="http://schemas.microsoft.com/office/drawing/2014/main" id="{696C3863-484E-4F40-8432-62B818986BB2}"/>
              </a:ext>
            </a:extLst>
          </p:cNvPr>
          <p:cNvSpPr/>
          <p:nvPr/>
        </p:nvSpPr>
        <p:spPr>
          <a:xfrm>
            <a:off x="750067" y="1054298"/>
            <a:ext cx="2800767" cy="493148"/>
          </a:xfrm>
          <a:prstGeom prst="rect">
            <a:avLst/>
          </a:prstGeom>
        </p:spPr>
        <p:txBody>
          <a:bodyPr wrap="none">
            <a:spAutoFit/>
          </a:bodyPr>
          <a:lstStyle/>
          <a:p>
            <a:pPr marL="457200" indent="-457200">
              <a:lnSpc>
                <a:spcPct val="120000"/>
              </a:lnSpc>
              <a:buFont typeface="+mj-lt"/>
              <a:buAutoNum type="alphaUcPeriod" startAt="2"/>
            </a:pPr>
            <a:r>
              <a:rPr lang="zh-CN" altLang="en-US" sz="2400" dirty="0"/>
              <a:t>库仑法和红外法</a:t>
            </a:r>
            <a:endParaRPr lang="en-US" altLang="zh-CN"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A3D400-67FF-49AB-B39F-B00227703982}"/>
              </a:ext>
            </a:extLst>
          </p:cNvPr>
          <p:cNvSpPr>
            <a:spLocks noGrp="1"/>
          </p:cNvSpPr>
          <p:nvPr>
            <p:ph type="title"/>
          </p:nvPr>
        </p:nvSpPr>
        <p:spPr/>
        <p:txBody>
          <a:bodyPr/>
          <a:lstStyle/>
          <a:p>
            <a:r>
              <a:rPr lang="zh-CN" altLang="en-US" dirty="0"/>
              <a:t>库伦分析法</a:t>
            </a:r>
          </a:p>
        </p:txBody>
      </p:sp>
      <p:sp>
        <p:nvSpPr>
          <p:cNvPr id="3" name="内容占位符 2">
            <a:extLst>
              <a:ext uri="{FF2B5EF4-FFF2-40B4-BE49-F238E27FC236}">
                <a16:creationId xmlns:a16="http://schemas.microsoft.com/office/drawing/2014/main" id="{81218DE3-9BE5-4603-BA91-349A30C07DDA}"/>
              </a:ext>
            </a:extLst>
          </p:cNvPr>
          <p:cNvSpPr>
            <a:spLocks noGrp="1"/>
          </p:cNvSpPr>
          <p:nvPr>
            <p:ph idx="1"/>
          </p:nvPr>
        </p:nvSpPr>
        <p:spPr>
          <a:xfrm>
            <a:off x="472993" y="1628800"/>
            <a:ext cx="8003232" cy="4525963"/>
          </a:xfrm>
        </p:spPr>
        <p:txBody>
          <a:bodyPr/>
          <a:lstStyle/>
          <a:p>
            <a:r>
              <a:rPr lang="zh-CN" altLang="en-US" sz="2400" dirty="0"/>
              <a:t>库仑分析法创立于</a:t>
            </a:r>
            <a:r>
              <a:rPr lang="en-US" altLang="zh-CN" sz="2400" dirty="0"/>
              <a:t>1940</a:t>
            </a:r>
            <a:r>
              <a:rPr lang="zh-CN" altLang="en-US" sz="2400" dirty="0"/>
              <a:t>年左右，其理论基础就是法拉第电解定律。</a:t>
            </a:r>
            <a:endParaRPr lang="en-US" altLang="zh-CN" sz="2400" dirty="0"/>
          </a:p>
          <a:p>
            <a:r>
              <a:rPr lang="zh-CN" altLang="en-US" sz="2400" dirty="0"/>
              <a:t>库仑分析法是对试样溶液进行电解，但它不需要称量电极上析出物的质量，而是通过测量电解过程中所消耗的电量，由法拉第电解定律计算出分析结果。</a:t>
            </a:r>
            <a:endParaRPr lang="en-US" altLang="zh-CN" sz="2400" dirty="0"/>
          </a:p>
          <a:p>
            <a:r>
              <a:rPr lang="zh-CN" altLang="en-US" sz="2400" dirty="0"/>
              <a:t>以测量电解过程中被测物质在电极上发生电化学反应所消耗的电量来进行定量分析的一种</a:t>
            </a:r>
            <a:r>
              <a:rPr lang="zh-CN" altLang="en-US" sz="2400" dirty="0">
                <a:hlinkClick r:id="rId2"/>
              </a:rPr>
              <a:t>电化学分析法</a:t>
            </a:r>
            <a:r>
              <a:rPr lang="zh-CN" altLang="en-US" sz="2400" dirty="0"/>
              <a:t>。</a:t>
            </a:r>
          </a:p>
        </p:txBody>
      </p:sp>
    </p:spTree>
    <p:extLst>
      <p:ext uri="{BB962C8B-B14F-4D97-AF65-F5344CB8AC3E}">
        <p14:creationId xmlns:p14="http://schemas.microsoft.com/office/powerpoint/2010/main" val="3476694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3" name="Picture 5" descr="E:\课程\课件\课程图片\0.png"/>
          <p:cNvPicPr>
            <a:picLocks noChangeAspect="1" noChangeArrowheads="1"/>
          </p:cNvPicPr>
          <p:nvPr/>
        </p:nvPicPr>
        <p:blipFill>
          <a:blip r:embed="rId2" cstate="print"/>
          <a:srcRect/>
          <a:stretch>
            <a:fillRect/>
          </a:stretch>
        </p:blipFill>
        <p:spPr bwMode="auto">
          <a:xfrm>
            <a:off x="971600" y="4892337"/>
            <a:ext cx="3200422" cy="500066"/>
          </a:xfrm>
          <a:prstGeom prst="rect">
            <a:avLst/>
          </a:prstGeom>
          <a:noFill/>
        </p:spPr>
      </p:pic>
      <p:pic>
        <p:nvPicPr>
          <p:cNvPr id="124932" name="Picture 4" descr="E:\课程\课件\课程图片\0.png"/>
          <p:cNvPicPr>
            <a:picLocks noChangeAspect="1" noChangeArrowheads="1"/>
          </p:cNvPicPr>
          <p:nvPr/>
        </p:nvPicPr>
        <p:blipFill>
          <a:blip r:embed="rId3" cstate="print"/>
          <a:srcRect/>
          <a:stretch>
            <a:fillRect/>
          </a:stretch>
        </p:blipFill>
        <p:spPr bwMode="auto">
          <a:xfrm>
            <a:off x="827584" y="3982861"/>
            <a:ext cx="2928958" cy="671220"/>
          </a:xfrm>
          <a:prstGeom prst="rect">
            <a:avLst/>
          </a:prstGeom>
          <a:noFill/>
        </p:spPr>
      </p:pic>
      <p:sp>
        <p:nvSpPr>
          <p:cNvPr id="6" name="内容占位符 5"/>
          <p:cNvSpPr>
            <a:spLocks noGrp="1"/>
          </p:cNvSpPr>
          <p:nvPr>
            <p:ph idx="1"/>
          </p:nvPr>
        </p:nvSpPr>
        <p:spPr>
          <a:xfrm>
            <a:off x="484074" y="1232510"/>
            <a:ext cx="8175852" cy="5500702"/>
          </a:xfrm>
        </p:spPr>
        <p:txBody>
          <a:bodyPr/>
          <a:lstStyle/>
          <a:p>
            <a:pPr marL="514350" indent="-514350">
              <a:buFont typeface="+mj-lt"/>
              <a:buAutoNum type="alphaUcPeriod" startAt="2"/>
            </a:pPr>
            <a:r>
              <a:rPr lang="zh-CN" altLang="en-US" dirty="0"/>
              <a:t>库仑法</a:t>
            </a:r>
            <a:endParaRPr lang="en-US" altLang="zh-CN" dirty="0"/>
          </a:p>
          <a:p>
            <a:pPr lvl="1"/>
            <a:r>
              <a:rPr lang="zh-CN" altLang="en-US" dirty="0"/>
              <a:t>被赶出的纯</a:t>
            </a:r>
            <a:r>
              <a:rPr lang="en-US" altLang="zh-CN" dirty="0"/>
              <a:t>CO</a:t>
            </a:r>
            <a:r>
              <a:rPr lang="en-US" altLang="zh-CN" baseline="-25000" dirty="0"/>
              <a:t>2</a:t>
            </a:r>
            <a:r>
              <a:rPr lang="zh-CN" altLang="en-US" dirty="0"/>
              <a:t>被溶剂吸收，与溶液中原有的乙醇胺发生如下反应</a:t>
            </a:r>
            <a:endParaRPr lang="en-US" altLang="zh-CN" dirty="0"/>
          </a:p>
          <a:p>
            <a:pPr lvl="1">
              <a:lnSpc>
                <a:spcPct val="150000"/>
              </a:lnSpc>
            </a:pPr>
            <a:endParaRPr lang="en-US" altLang="zh-CN" dirty="0"/>
          </a:p>
          <a:p>
            <a:pPr lvl="1"/>
            <a:r>
              <a:rPr lang="en-US" altLang="zh-CN" dirty="0"/>
              <a:t> </a:t>
            </a:r>
            <a:r>
              <a:rPr lang="zh-CN" altLang="en-US" dirty="0"/>
              <a:t>酸碱滴定至滴定终点用百里酚酞指示，</a:t>
            </a:r>
            <a:r>
              <a:rPr lang="en-US" altLang="zh-CN" dirty="0"/>
              <a:t>pH=10.5</a:t>
            </a:r>
            <a:r>
              <a:rPr lang="zh-CN" altLang="en-US" dirty="0"/>
              <a:t>变蓝（</a:t>
            </a:r>
            <a:r>
              <a:rPr lang="en-US" altLang="zh-CN" dirty="0"/>
              <a:t>610nm</a:t>
            </a:r>
            <a:r>
              <a:rPr lang="zh-CN" altLang="en-US" dirty="0"/>
              <a:t>下监测）</a:t>
            </a:r>
            <a:endParaRPr lang="en-US" altLang="zh-CN" dirty="0"/>
          </a:p>
          <a:p>
            <a:pPr lvl="1"/>
            <a:endParaRPr lang="en-US" altLang="zh-CN" dirty="0"/>
          </a:p>
          <a:p>
            <a:pPr lvl="1"/>
            <a:r>
              <a:rPr lang="en-US" altLang="zh-CN" dirty="0"/>
              <a:t>OH</a:t>
            </a:r>
            <a:r>
              <a:rPr lang="en-US" altLang="zh-CN" baseline="30000" dirty="0"/>
              <a:t>-</a:t>
            </a:r>
            <a:r>
              <a:rPr lang="zh-CN" altLang="en-US" dirty="0"/>
              <a:t>从哪里来？阴极的</a:t>
            </a:r>
            <a:r>
              <a:rPr lang="en-US" altLang="zh-CN" dirty="0"/>
              <a:t>Pt</a:t>
            </a:r>
            <a:r>
              <a:rPr lang="zh-CN" altLang="en-US" dirty="0"/>
              <a:t>电极上发生反应</a:t>
            </a:r>
            <a:endParaRPr lang="en-US" altLang="zh-CN" dirty="0"/>
          </a:p>
          <a:p>
            <a:pPr lvl="1"/>
            <a:endParaRPr lang="en-US" altLang="zh-CN" dirty="0"/>
          </a:p>
          <a:p>
            <a:pPr lvl="1"/>
            <a:r>
              <a:rPr lang="zh-CN" altLang="en-US" dirty="0"/>
              <a:t>同时，阳极</a:t>
            </a:r>
            <a:r>
              <a:rPr lang="en-US" altLang="zh-CN" dirty="0"/>
              <a:t>Ag</a:t>
            </a:r>
            <a:r>
              <a:rPr lang="zh-CN" altLang="en-US" dirty="0"/>
              <a:t>电极上发生氧化反应</a:t>
            </a:r>
            <a:endParaRPr lang="en-US" altLang="zh-CN" dirty="0"/>
          </a:p>
          <a:p>
            <a:pPr lvl="1"/>
            <a:r>
              <a:rPr lang="en-US" altLang="zh-CN" dirty="0"/>
              <a:t> </a:t>
            </a:r>
            <a:r>
              <a:rPr lang="zh-CN" altLang="en-US" dirty="0"/>
              <a:t>测量的是总共消耗的电量，与</a:t>
            </a:r>
            <a:r>
              <a:rPr lang="en-US" altLang="zh-CN" dirty="0"/>
              <a:t>CO</a:t>
            </a:r>
            <a:r>
              <a:rPr lang="en-US" altLang="zh-CN" baseline="-25000" dirty="0"/>
              <a:t>2</a:t>
            </a:r>
            <a:r>
              <a:rPr lang="zh-CN" altLang="en-US" dirty="0"/>
              <a:t>成</a:t>
            </a:r>
            <a:r>
              <a:rPr lang="en-US" altLang="zh-CN" dirty="0"/>
              <a:t>1:1</a:t>
            </a:r>
            <a:r>
              <a:rPr lang="zh-CN" altLang="en-US" dirty="0"/>
              <a:t>关系</a:t>
            </a:r>
          </a:p>
        </p:txBody>
      </p:sp>
      <p:pic>
        <p:nvPicPr>
          <p:cNvPr id="124930" name="Picture 2" descr="E:\课程\课件\课程图片\0.png"/>
          <p:cNvPicPr>
            <a:picLocks noChangeAspect="1" noChangeArrowheads="1"/>
          </p:cNvPicPr>
          <p:nvPr/>
        </p:nvPicPr>
        <p:blipFill>
          <a:blip r:embed="rId4" cstate="print"/>
          <a:srcRect/>
          <a:stretch>
            <a:fillRect/>
          </a:stretch>
        </p:blipFill>
        <p:spPr bwMode="auto">
          <a:xfrm>
            <a:off x="827584" y="2517949"/>
            <a:ext cx="7029499" cy="714380"/>
          </a:xfrm>
          <a:prstGeom prst="rect">
            <a:avLst/>
          </a:prstGeom>
          <a:noFill/>
        </p:spPr>
      </p:pic>
      <p:pic>
        <p:nvPicPr>
          <p:cNvPr id="124934" name="Picture 6" descr="E:\课程\课件\课程图片\0.png"/>
          <p:cNvPicPr>
            <a:picLocks noChangeAspect="1" noChangeArrowheads="1"/>
          </p:cNvPicPr>
          <p:nvPr/>
        </p:nvPicPr>
        <p:blipFill>
          <a:blip r:embed="rId5" cstate="print"/>
          <a:srcRect/>
          <a:stretch>
            <a:fillRect/>
          </a:stretch>
        </p:blipFill>
        <p:spPr bwMode="auto">
          <a:xfrm>
            <a:off x="6372200" y="5394737"/>
            <a:ext cx="2000264" cy="375049"/>
          </a:xfrm>
          <a:prstGeom prst="rect">
            <a:avLst/>
          </a:prstGeom>
          <a:noFill/>
        </p:spPr>
      </p:pic>
      <p:sp>
        <p:nvSpPr>
          <p:cNvPr id="10" name="标题 4">
            <a:extLst>
              <a:ext uri="{FF2B5EF4-FFF2-40B4-BE49-F238E27FC236}">
                <a16:creationId xmlns:a16="http://schemas.microsoft.com/office/drawing/2014/main" id="{7C9B0A8D-3409-4440-903F-71E2306C3AC9}"/>
              </a:ext>
            </a:extLst>
          </p:cNvPr>
          <p:cNvSpPr txBox="1">
            <a:spLocks/>
          </p:cNvSpPr>
          <p:nvPr/>
        </p:nvSpPr>
        <p:spPr bwMode="auto">
          <a:xfrm>
            <a:off x="1547664" y="398507"/>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6CD092-FE24-47F3-A911-36E4C368E42A}"/>
              </a:ext>
            </a:extLst>
          </p:cNvPr>
          <p:cNvSpPr>
            <a:spLocks noGrp="1"/>
          </p:cNvSpPr>
          <p:nvPr>
            <p:ph type="title"/>
          </p:nvPr>
        </p:nvSpPr>
        <p:spPr/>
        <p:txBody>
          <a:bodyPr/>
          <a:lstStyle/>
          <a:p>
            <a:r>
              <a:rPr lang="zh-CN" altLang="en-US" dirty="0"/>
              <a:t>库伦法</a:t>
            </a:r>
          </a:p>
        </p:txBody>
      </p:sp>
      <p:sp>
        <p:nvSpPr>
          <p:cNvPr id="3" name="内容占位符 2">
            <a:extLst>
              <a:ext uri="{FF2B5EF4-FFF2-40B4-BE49-F238E27FC236}">
                <a16:creationId xmlns:a16="http://schemas.microsoft.com/office/drawing/2014/main" id="{824155DB-DE1C-4932-BADA-9E6BCED54427}"/>
              </a:ext>
            </a:extLst>
          </p:cNvPr>
          <p:cNvSpPr>
            <a:spLocks noGrp="1"/>
          </p:cNvSpPr>
          <p:nvPr>
            <p:ph idx="1"/>
          </p:nvPr>
        </p:nvSpPr>
        <p:spPr>
          <a:xfrm>
            <a:off x="457200" y="1556792"/>
            <a:ext cx="8579296" cy="4569371"/>
          </a:xfrm>
        </p:spPr>
        <p:txBody>
          <a:bodyPr/>
          <a:lstStyle/>
          <a:p>
            <a:r>
              <a:rPr lang="zh-CN" altLang="en-US" dirty="0"/>
              <a:t>凡能与电解时所产生的试剂迅速反应的物质，均可用库仑滴定法测定，因此，能用容量分析的各类滴定，如酸碱滴定、氧化还原滴定、沉淀滴定和络合滴定等测定的物质，均可用于库仑滴定法。</a:t>
            </a:r>
          </a:p>
          <a:p>
            <a:r>
              <a:rPr lang="en-US" altLang="zh-CN" b="1" dirty="0"/>
              <a:t>1.</a:t>
            </a:r>
            <a:r>
              <a:rPr lang="zh-CN" altLang="en-US" b="1" dirty="0"/>
              <a:t>酸碱滴定：</a:t>
            </a:r>
            <a:r>
              <a:rPr lang="zh-CN" altLang="en-US" dirty="0"/>
              <a:t>阳极反应：</a:t>
            </a:r>
            <a:r>
              <a:rPr lang="en-US" altLang="zh-CN" dirty="0"/>
              <a:t>H</a:t>
            </a:r>
            <a:r>
              <a:rPr lang="en-US" altLang="zh-CN" baseline="-25000" dirty="0"/>
              <a:t>2</a:t>
            </a:r>
            <a:r>
              <a:rPr lang="en-US" altLang="zh-CN" dirty="0"/>
              <a:t>O = 1/2O</a:t>
            </a:r>
            <a:r>
              <a:rPr lang="en-US" altLang="zh-CN" baseline="-25000" dirty="0"/>
              <a:t>2</a:t>
            </a:r>
            <a:r>
              <a:rPr lang="en-US" altLang="zh-CN" dirty="0"/>
              <a:t>+2H</a:t>
            </a:r>
            <a:r>
              <a:rPr lang="en-US" altLang="zh-CN" baseline="30000" dirty="0"/>
              <a:t>+</a:t>
            </a:r>
            <a:r>
              <a:rPr lang="en-US" altLang="zh-CN" dirty="0"/>
              <a:t> +2e</a:t>
            </a:r>
          </a:p>
          <a:p>
            <a:pPr marL="0" indent="0">
              <a:buNone/>
            </a:pPr>
            <a:r>
              <a:rPr lang="zh-CN" altLang="en-US" dirty="0"/>
              <a:t>                           阴极反应：</a:t>
            </a:r>
            <a:r>
              <a:rPr lang="en-US" altLang="zh-CN" dirty="0"/>
              <a:t>2H</a:t>
            </a:r>
            <a:r>
              <a:rPr lang="en-US" altLang="zh-CN" baseline="-25000" dirty="0"/>
              <a:t>2</a:t>
            </a:r>
            <a:r>
              <a:rPr lang="en-US" altLang="zh-CN" dirty="0"/>
              <a:t>O =H</a:t>
            </a:r>
            <a:r>
              <a:rPr lang="en-US" altLang="zh-CN" baseline="-25000" dirty="0"/>
              <a:t>2</a:t>
            </a:r>
            <a:r>
              <a:rPr lang="en-US" altLang="zh-CN" dirty="0"/>
              <a:t> +2OH</a:t>
            </a:r>
            <a:r>
              <a:rPr lang="en-US" altLang="zh-CN" baseline="30000" dirty="0"/>
              <a:t>-</a:t>
            </a:r>
            <a:r>
              <a:rPr lang="en-US" altLang="zh-CN" dirty="0"/>
              <a:t>+2e</a:t>
            </a:r>
          </a:p>
          <a:p>
            <a:r>
              <a:rPr lang="en-US" altLang="zh-CN" b="1" dirty="0"/>
              <a:t>2.</a:t>
            </a:r>
            <a:r>
              <a:rPr lang="zh-CN" altLang="en-US" b="1" dirty="0"/>
              <a:t>沉淀滴定：</a:t>
            </a:r>
            <a:r>
              <a:rPr lang="zh-CN" altLang="en-US" dirty="0"/>
              <a:t>阳极反应：</a:t>
            </a:r>
            <a:r>
              <a:rPr lang="en-US" altLang="zh-CN" dirty="0"/>
              <a:t>Ag=Ag</a:t>
            </a:r>
            <a:r>
              <a:rPr lang="en-US" altLang="zh-CN" baseline="30000" dirty="0"/>
              <a:t>+</a:t>
            </a:r>
            <a:r>
              <a:rPr lang="en-US" altLang="zh-CN" dirty="0"/>
              <a:t>+e </a:t>
            </a:r>
            <a:r>
              <a:rPr lang="zh-CN" altLang="en-US" dirty="0"/>
              <a:t>（</a:t>
            </a:r>
            <a:r>
              <a:rPr lang="en-US" altLang="zh-CN" dirty="0"/>
              <a:t>Pb=Pb</a:t>
            </a:r>
            <a:r>
              <a:rPr lang="en-US" altLang="zh-CN" baseline="30000" dirty="0"/>
              <a:t>2+ </a:t>
            </a:r>
            <a:r>
              <a:rPr lang="en-US" altLang="zh-CN" dirty="0"/>
              <a:t>+2e</a:t>
            </a:r>
            <a:r>
              <a:rPr lang="zh-CN" altLang="en-US" dirty="0"/>
              <a:t>）</a:t>
            </a:r>
          </a:p>
          <a:p>
            <a:r>
              <a:rPr lang="en-US" altLang="zh-CN" b="1" dirty="0"/>
              <a:t>3.</a:t>
            </a:r>
            <a:r>
              <a:rPr lang="zh-CN" altLang="en-US" b="1" dirty="0"/>
              <a:t>配位滴定：</a:t>
            </a:r>
            <a:r>
              <a:rPr lang="zh-CN" altLang="en-US" dirty="0"/>
              <a:t>阴极反应：</a:t>
            </a:r>
            <a:endParaRPr lang="en-US" altLang="zh-CN" dirty="0"/>
          </a:p>
          <a:p>
            <a:r>
              <a:rPr lang="en-US" altLang="zh-CN" b="1" dirty="0"/>
              <a:t>4.</a:t>
            </a:r>
            <a:r>
              <a:rPr lang="zh-CN" altLang="en-US" b="1" dirty="0"/>
              <a:t>氧化还原滴定：</a:t>
            </a:r>
            <a:r>
              <a:rPr lang="zh-CN" altLang="en-US" dirty="0"/>
              <a:t>阳极反应：</a:t>
            </a:r>
            <a:r>
              <a:rPr lang="en-US" altLang="zh-CN" dirty="0"/>
              <a:t>2Br- = Br</a:t>
            </a:r>
            <a:r>
              <a:rPr lang="en-US" altLang="zh-CN" baseline="-25000" dirty="0"/>
              <a:t>2</a:t>
            </a:r>
            <a:r>
              <a:rPr lang="en-US" altLang="zh-CN" dirty="0"/>
              <a:t>+2e</a:t>
            </a:r>
          </a:p>
          <a:p>
            <a:endParaRPr lang="zh-CN" altLang="en-US" dirty="0"/>
          </a:p>
        </p:txBody>
      </p:sp>
    </p:spTree>
    <p:extLst>
      <p:ext uri="{BB962C8B-B14F-4D97-AF65-F5344CB8AC3E}">
        <p14:creationId xmlns:p14="http://schemas.microsoft.com/office/powerpoint/2010/main" val="638527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99592" y="1052736"/>
            <a:ext cx="7429552" cy="1692771"/>
          </a:xfrm>
          <a:prstGeom prst="rect">
            <a:avLst/>
          </a:prstGeom>
          <a:noFill/>
        </p:spPr>
        <p:txBody>
          <a:bodyPr wrap="square" rtlCol="0">
            <a:spAutoFit/>
          </a:bodyPr>
          <a:lstStyle/>
          <a:p>
            <a:pPr marL="514350" indent="-514350">
              <a:buFont typeface="+mj-lt"/>
              <a:buAutoNum type="alphaUcPeriod" startAt="3"/>
            </a:pPr>
            <a:r>
              <a:rPr lang="zh-CN" altLang="en-US" sz="2800" dirty="0"/>
              <a:t> 红外法</a:t>
            </a:r>
            <a:endParaRPr lang="en-US" altLang="zh-CN" sz="2800" dirty="0"/>
          </a:p>
          <a:p>
            <a:pPr>
              <a:buFont typeface="Arial" pitchFamily="34" charset="0"/>
              <a:buChar char="•"/>
            </a:pPr>
            <a:endParaRPr lang="en-US" altLang="zh-CN" sz="2800" dirty="0"/>
          </a:p>
          <a:p>
            <a:pPr>
              <a:buFont typeface="Arial" pitchFamily="34" charset="0"/>
              <a:buChar char="•"/>
            </a:pPr>
            <a:endParaRPr lang="en-US" altLang="zh-CN" sz="2400" dirty="0"/>
          </a:p>
          <a:p>
            <a:endParaRPr lang="zh-CN" altLang="en-US" sz="2400" dirty="0"/>
          </a:p>
        </p:txBody>
      </p:sp>
      <p:pic>
        <p:nvPicPr>
          <p:cNvPr id="104450" name="Picture 2" descr="E:\课程\课件\课程图片\0.png"/>
          <p:cNvPicPr>
            <a:picLocks noChangeAspect="1" noChangeArrowheads="1"/>
          </p:cNvPicPr>
          <p:nvPr/>
        </p:nvPicPr>
        <p:blipFill>
          <a:blip r:embed="rId2" cstate="print"/>
          <a:srcRect/>
          <a:stretch>
            <a:fillRect/>
          </a:stretch>
        </p:blipFill>
        <p:spPr bwMode="auto">
          <a:xfrm>
            <a:off x="1259632" y="1556792"/>
            <a:ext cx="7143800" cy="4608512"/>
          </a:xfrm>
          <a:prstGeom prst="rect">
            <a:avLst/>
          </a:prstGeom>
          <a:noFill/>
        </p:spPr>
      </p:pic>
      <p:sp>
        <p:nvSpPr>
          <p:cNvPr id="8" name="标题 4">
            <a:extLst>
              <a:ext uri="{FF2B5EF4-FFF2-40B4-BE49-F238E27FC236}">
                <a16:creationId xmlns:a16="http://schemas.microsoft.com/office/drawing/2014/main" id="{40C0815E-E34E-478E-B0A5-A4AE6668B56F}"/>
              </a:ext>
            </a:extLst>
          </p:cNvPr>
          <p:cNvSpPr txBox="1">
            <a:spLocks/>
          </p:cNvSpPr>
          <p:nvPr/>
        </p:nvSpPr>
        <p:spPr bwMode="auto">
          <a:xfrm>
            <a:off x="1007789" y="413756"/>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descr="E:\课程\课件\课程图片\IMG_20160515_114407.jpg"/>
          <p:cNvPicPr>
            <a:picLocks noChangeAspect="1" noChangeArrowheads="1"/>
          </p:cNvPicPr>
          <p:nvPr/>
        </p:nvPicPr>
        <p:blipFill>
          <a:blip r:embed="rId2" cstate="print"/>
          <a:srcRect/>
          <a:stretch>
            <a:fillRect/>
          </a:stretch>
        </p:blipFill>
        <p:spPr bwMode="auto">
          <a:xfrm>
            <a:off x="4362450" y="357166"/>
            <a:ext cx="4781550" cy="6124575"/>
          </a:xfrm>
          <a:prstGeom prst="rect">
            <a:avLst/>
          </a:prstGeom>
          <a:noFill/>
        </p:spPr>
      </p:pic>
      <p:sp>
        <p:nvSpPr>
          <p:cNvPr id="81922"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81923"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81924"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81925"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81926"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81927"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81928"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8192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81930"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1" name="Rectangle 13"/>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2" name="Rectangle 14"/>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3" name="Rectangle 15"/>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81934" name="Rectangle 16"/>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6" name="Text Box 13"/>
          <p:cNvSpPr txBox="1">
            <a:spLocks noChangeArrowheads="1"/>
          </p:cNvSpPr>
          <p:nvPr/>
        </p:nvSpPr>
        <p:spPr bwMode="auto">
          <a:xfrm>
            <a:off x="1357290" y="357166"/>
            <a:ext cx="4248150" cy="539700"/>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测量</a:t>
            </a:r>
            <a:r>
              <a:rPr lang="en-US" altLang="zh-CN" sz="3200" dirty="0">
                <a:solidFill>
                  <a:srgbClr val="0000FF"/>
                </a:solidFill>
                <a:latin typeface="Times New Roman" pitchFamily="18" charset="0"/>
                <a:ea typeface="黑体" pitchFamily="49" charset="-122"/>
                <a:cs typeface="Times New Roman" pitchFamily="18" charset="0"/>
              </a:rPr>
              <a:t>pCO</a:t>
            </a:r>
            <a:r>
              <a:rPr lang="en-US" altLang="zh-CN" sz="3200" baseline="-25000" dirty="0">
                <a:solidFill>
                  <a:srgbClr val="0000FF"/>
                </a:solidFill>
                <a:latin typeface="Times New Roman" pitchFamily="18" charset="0"/>
                <a:ea typeface="黑体" pitchFamily="49" charset="-122"/>
                <a:cs typeface="Times New Roman" pitchFamily="18" charset="0"/>
              </a:rPr>
              <a:t>2</a:t>
            </a:r>
            <a:r>
              <a:rPr lang="zh-CN" altLang="en-US" sz="3200" dirty="0">
                <a:solidFill>
                  <a:srgbClr val="0000FF"/>
                </a:solidFill>
                <a:latin typeface="Times New Roman" pitchFamily="18" charset="0"/>
                <a:ea typeface="黑体" pitchFamily="49" charset="-122"/>
                <a:cs typeface="Times New Roman" pitchFamily="18" charset="0"/>
              </a:rPr>
              <a:t>的原理</a:t>
            </a:r>
          </a:p>
        </p:txBody>
      </p:sp>
      <p:sp>
        <p:nvSpPr>
          <p:cNvPr id="30" name="TextBox 29"/>
          <p:cNvSpPr txBox="1"/>
          <p:nvPr/>
        </p:nvSpPr>
        <p:spPr>
          <a:xfrm>
            <a:off x="285720" y="1428736"/>
            <a:ext cx="3929090" cy="1200329"/>
          </a:xfrm>
          <a:prstGeom prst="rect">
            <a:avLst/>
          </a:prstGeom>
          <a:noFill/>
        </p:spPr>
        <p:txBody>
          <a:bodyPr wrap="square" rtlCol="0">
            <a:spAutoFit/>
          </a:bodyPr>
          <a:lstStyle/>
          <a:p>
            <a:r>
              <a:rPr lang="zh-CN" altLang="en-US" sz="2400" dirty="0"/>
              <a:t>红外测量仪</a:t>
            </a:r>
            <a:endParaRPr lang="en-US" altLang="zh-CN" sz="2400" dirty="0"/>
          </a:p>
          <a:p>
            <a:endParaRPr lang="en-US" altLang="zh-CN" sz="2400" dirty="0"/>
          </a:p>
          <a:p>
            <a:endParaRPr lang="en-US" altLang="zh-CN" sz="2400" dirty="0"/>
          </a:p>
        </p:txBody>
      </p:sp>
      <p:pic>
        <p:nvPicPr>
          <p:cNvPr id="125955" name="Picture 3" descr="E:\课程\课件\课程图片\0.png"/>
          <p:cNvPicPr>
            <a:picLocks noChangeAspect="1" noChangeArrowheads="1"/>
          </p:cNvPicPr>
          <p:nvPr/>
        </p:nvPicPr>
        <p:blipFill>
          <a:blip r:embed="rId3" cstate="print"/>
          <a:srcRect/>
          <a:stretch>
            <a:fillRect/>
          </a:stretch>
        </p:blipFill>
        <p:spPr bwMode="auto">
          <a:xfrm>
            <a:off x="142844" y="2000240"/>
            <a:ext cx="8509586" cy="1928826"/>
          </a:xfrm>
          <a:prstGeom prst="rect">
            <a:avLst/>
          </a:prstGeom>
          <a:noFill/>
        </p:spPr>
      </p:pic>
      <p:pic>
        <p:nvPicPr>
          <p:cNvPr id="125956" name="Picture 4" descr="E:\课程\课件\课程图片\QQ截图20160515114944.png"/>
          <p:cNvPicPr>
            <a:picLocks noChangeAspect="1" noChangeArrowheads="1"/>
          </p:cNvPicPr>
          <p:nvPr/>
        </p:nvPicPr>
        <p:blipFill>
          <a:blip r:embed="rId4" cstate="print"/>
          <a:srcRect/>
          <a:stretch>
            <a:fillRect/>
          </a:stretch>
        </p:blipFill>
        <p:spPr bwMode="auto">
          <a:xfrm>
            <a:off x="285720" y="4286256"/>
            <a:ext cx="8286808" cy="191119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955"/>
                                        </p:tgtEl>
                                        <p:attrNameLst>
                                          <p:attrName>style.visibility</p:attrName>
                                        </p:attrNameLst>
                                      </p:cBhvr>
                                      <p:to>
                                        <p:strVal val="visible"/>
                                      </p:to>
                                    </p:set>
                                    <p:anim calcmode="lin" valueType="num">
                                      <p:cBhvr additive="base">
                                        <p:cTn id="7" dur="500" fill="hold"/>
                                        <p:tgtEl>
                                          <p:spTgt spid="125955"/>
                                        </p:tgtEl>
                                        <p:attrNameLst>
                                          <p:attrName>ppt_x</p:attrName>
                                        </p:attrNameLst>
                                      </p:cBhvr>
                                      <p:tavLst>
                                        <p:tav tm="0">
                                          <p:val>
                                            <p:strVal val="#ppt_x"/>
                                          </p:val>
                                        </p:tav>
                                        <p:tav tm="100000">
                                          <p:val>
                                            <p:strVal val="#ppt_x"/>
                                          </p:val>
                                        </p:tav>
                                      </p:tavLst>
                                    </p:anim>
                                    <p:anim calcmode="lin" valueType="num">
                                      <p:cBhvr additive="base">
                                        <p:cTn id="8" dur="500" fill="hold"/>
                                        <p:tgtEl>
                                          <p:spTgt spid="1259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5956"/>
                                        </p:tgtEl>
                                        <p:attrNameLst>
                                          <p:attrName>style.visibility</p:attrName>
                                        </p:attrNameLst>
                                      </p:cBhvr>
                                      <p:to>
                                        <p:strVal val="visible"/>
                                      </p:to>
                                    </p:set>
                                    <p:anim calcmode="lin" valueType="num">
                                      <p:cBhvr additive="base">
                                        <p:cTn id="13" dur="500" fill="hold"/>
                                        <p:tgtEl>
                                          <p:spTgt spid="125956"/>
                                        </p:tgtEl>
                                        <p:attrNameLst>
                                          <p:attrName>ppt_x</p:attrName>
                                        </p:attrNameLst>
                                      </p:cBhvr>
                                      <p:tavLst>
                                        <p:tav tm="0">
                                          <p:val>
                                            <p:strVal val="#ppt_x"/>
                                          </p:val>
                                        </p:tav>
                                        <p:tav tm="100000">
                                          <p:val>
                                            <p:strVal val="#ppt_x"/>
                                          </p:val>
                                        </p:tav>
                                      </p:tavLst>
                                    </p:anim>
                                    <p:anim calcmode="lin" valueType="num">
                                      <p:cBhvr additive="base">
                                        <p:cTn id="14" dur="500" fill="hold"/>
                                        <p:tgtEl>
                                          <p:spTgt spid="1259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14348" y="1285860"/>
            <a:ext cx="7429552" cy="1692771"/>
          </a:xfrm>
          <a:prstGeom prst="rect">
            <a:avLst/>
          </a:prstGeom>
          <a:noFill/>
        </p:spPr>
        <p:txBody>
          <a:bodyPr wrap="square" rtlCol="0">
            <a:spAutoFit/>
          </a:bodyPr>
          <a:lstStyle/>
          <a:p>
            <a:pPr>
              <a:buFont typeface="Arial" pitchFamily="34" charset="0"/>
              <a:buChar char="•"/>
            </a:pPr>
            <a:r>
              <a:rPr lang="zh-CN" altLang="en-US" sz="2800" dirty="0"/>
              <a:t> 红外法</a:t>
            </a:r>
            <a:endParaRPr lang="en-US" altLang="zh-CN" sz="2800" dirty="0"/>
          </a:p>
          <a:p>
            <a:pPr>
              <a:buFont typeface="Arial" pitchFamily="34" charset="0"/>
              <a:buChar char="•"/>
            </a:pPr>
            <a:endParaRPr lang="en-US" altLang="zh-CN" sz="2800" dirty="0"/>
          </a:p>
          <a:p>
            <a:pPr>
              <a:buFont typeface="Arial" pitchFamily="34" charset="0"/>
              <a:buChar char="•"/>
            </a:pPr>
            <a:endParaRPr lang="en-US" altLang="zh-CN" sz="2400" dirty="0"/>
          </a:p>
          <a:p>
            <a:endParaRPr lang="zh-CN" altLang="en-US" sz="2400" dirty="0"/>
          </a:p>
        </p:txBody>
      </p:sp>
      <p:sp>
        <p:nvSpPr>
          <p:cNvPr id="6" name="矩形 5"/>
          <p:cNvSpPr/>
          <p:nvPr/>
        </p:nvSpPr>
        <p:spPr>
          <a:xfrm>
            <a:off x="714348" y="1857364"/>
            <a:ext cx="7500990" cy="2862322"/>
          </a:xfrm>
          <a:prstGeom prst="rect">
            <a:avLst/>
          </a:prstGeom>
        </p:spPr>
        <p:txBody>
          <a:bodyPr wrap="square">
            <a:spAutoFit/>
          </a:bodyPr>
          <a:lstStyle/>
          <a:p>
            <a:pPr>
              <a:lnSpc>
                <a:spcPct val="150000"/>
              </a:lnSpc>
            </a:pPr>
            <a:r>
              <a:rPr lang="en-US" sz="2400" dirty="0"/>
              <a:t> </a:t>
            </a:r>
            <a:r>
              <a:rPr lang="en-US" sz="2400" b="1" dirty="0"/>
              <a:t>LI-7000 CO</a:t>
            </a:r>
            <a:r>
              <a:rPr lang="en-US" sz="2400" b="1" baseline="-25000" dirty="0"/>
              <a:t>2</a:t>
            </a:r>
            <a:r>
              <a:rPr lang="en-US" sz="2400" b="1" dirty="0"/>
              <a:t>/H</a:t>
            </a:r>
            <a:r>
              <a:rPr lang="en-US" sz="2400" b="1" baseline="-25000" dirty="0"/>
              <a:t>2</a:t>
            </a:r>
            <a:r>
              <a:rPr lang="en-US" sz="2400" b="1" dirty="0"/>
              <a:t>O</a:t>
            </a:r>
            <a:r>
              <a:rPr lang="zh-CN" altLang="en-US" sz="2400" b="1" dirty="0"/>
              <a:t>分析仪</a:t>
            </a:r>
            <a:r>
              <a:rPr lang="zh-CN" altLang="en-US" sz="2400" dirty="0"/>
              <a:t>是一款高精度</a:t>
            </a:r>
            <a:r>
              <a:rPr lang="en-US" sz="2400" dirty="0"/>
              <a:t>CO</a:t>
            </a:r>
            <a:r>
              <a:rPr lang="en-US" sz="2400" baseline="-25000" dirty="0"/>
              <a:t>2</a:t>
            </a:r>
            <a:r>
              <a:rPr lang="en-US" sz="2400" dirty="0"/>
              <a:t>/H</a:t>
            </a:r>
            <a:r>
              <a:rPr lang="en-US" sz="2400" baseline="-25000" dirty="0"/>
              <a:t>2</a:t>
            </a:r>
            <a:r>
              <a:rPr lang="en-US" sz="2400" dirty="0"/>
              <a:t>O</a:t>
            </a:r>
            <a:r>
              <a:rPr lang="zh-CN" altLang="en-US" sz="2400" dirty="0"/>
              <a:t>气体分析仪，可以实时检测气流中的</a:t>
            </a:r>
            <a:r>
              <a:rPr lang="en-US" sz="2400" dirty="0"/>
              <a:t>CO</a:t>
            </a:r>
            <a:r>
              <a:rPr lang="en-US" sz="2400" baseline="-25000" dirty="0"/>
              <a:t>2</a:t>
            </a:r>
            <a:r>
              <a:rPr lang="zh-CN" altLang="en-US" sz="2400" dirty="0"/>
              <a:t>和</a:t>
            </a:r>
            <a:r>
              <a:rPr lang="en-US" sz="2400" dirty="0"/>
              <a:t>H</a:t>
            </a:r>
            <a:r>
              <a:rPr lang="en-US" sz="2400" baseline="-25000" dirty="0"/>
              <a:t>2</a:t>
            </a:r>
            <a:r>
              <a:rPr lang="en-US" sz="2400" dirty="0"/>
              <a:t>O</a:t>
            </a:r>
            <a:r>
              <a:rPr lang="zh-CN" altLang="en-US" sz="2400" dirty="0"/>
              <a:t>浓度</a:t>
            </a:r>
            <a:endParaRPr lang="en-US" altLang="zh-CN" sz="2400" dirty="0"/>
          </a:p>
          <a:p>
            <a:pPr>
              <a:lnSpc>
                <a:spcPct val="150000"/>
              </a:lnSpc>
            </a:pPr>
            <a:r>
              <a:rPr lang="zh-CN" altLang="en-US" sz="2400" dirty="0"/>
              <a:t>在</a:t>
            </a:r>
            <a:r>
              <a:rPr lang="en-US" altLang="zh-CN" sz="2400" dirty="0"/>
              <a:t>DIC</a:t>
            </a:r>
            <a:r>
              <a:rPr lang="zh-CN" altLang="en-US" sz="2400" dirty="0"/>
              <a:t>检测中，</a:t>
            </a:r>
            <a:r>
              <a:rPr lang="en-US" altLang="zh-CN" sz="2400" dirty="0"/>
              <a:t>H</a:t>
            </a:r>
            <a:r>
              <a:rPr lang="en-US" altLang="zh-CN" sz="2400" baseline="-25000" dirty="0"/>
              <a:t>2</a:t>
            </a:r>
            <a:r>
              <a:rPr lang="en-US" altLang="zh-CN" sz="2400" dirty="0"/>
              <a:t>O</a:t>
            </a:r>
            <a:r>
              <a:rPr lang="zh-CN" altLang="en-US" sz="2400" dirty="0"/>
              <a:t>的大量存在会聚集在气管里，所以在</a:t>
            </a:r>
            <a:r>
              <a:rPr lang="en-US" altLang="zh-CN" sz="2400" dirty="0"/>
              <a:t>purification</a:t>
            </a:r>
            <a:r>
              <a:rPr lang="zh-CN" altLang="en-US" sz="2400" dirty="0"/>
              <a:t>过程中，要加上吸水避免大量水气的聚集，常用的是高氯酸镁</a:t>
            </a:r>
          </a:p>
        </p:txBody>
      </p:sp>
      <p:sp>
        <p:nvSpPr>
          <p:cNvPr id="8" name="标题 4">
            <a:extLst>
              <a:ext uri="{FF2B5EF4-FFF2-40B4-BE49-F238E27FC236}">
                <a16:creationId xmlns:a16="http://schemas.microsoft.com/office/drawing/2014/main" id="{91AA5C19-13E8-4564-B097-D25025FBA8EB}"/>
              </a:ext>
            </a:extLst>
          </p:cNvPr>
          <p:cNvSpPr txBox="1">
            <a:spLocks/>
          </p:cNvSpPr>
          <p:nvPr/>
        </p:nvSpPr>
        <p:spPr bwMode="auto">
          <a:xfrm>
            <a:off x="1475656" y="415333"/>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14348" y="1285860"/>
            <a:ext cx="7429552" cy="1692771"/>
          </a:xfrm>
          <a:prstGeom prst="rect">
            <a:avLst/>
          </a:prstGeom>
          <a:noFill/>
        </p:spPr>
        <p:txBody>
          <a:bodyPr wrap="square" rtlCol="0">
            <a:spAutoFit/>
          </a:bodyPr>
          <a:lstStyle/>
          <a:p>
            <a:pPr>
              <a:buFont typeface="Arial" pitchFamily="34" charset="0"/>
              <a:buChar char="•"/>
            </a:pPr>
            <a:r>
              <a:rPr lang="zh-CN" altLang="en-US" sz="2800" dirty="0"/>
              <a:t> 标准品</a:t>
            </a:r>
            <a:endParaRPr lang="en-US" altLang="zh-CN" sz="2800" dirty="0"/>
          </a:p>
          <a:p>
            <a:pPr>
              <a:buFont typeface="Arial" pitchFamily="34" charset="0"/>
              <a:buChar char="•"/>
            </a:pPr>
            <a:endParaRPr lang="en-US" altLang="zh-CN" sz="2800" dirty="0"/>
          </a:p>
          <a:p>
            <a:pPr>
              <a:buFont typeface="Arial" pitchFamily="34" charset="0"/>
              <a:buChar char="•"/>
            </a:pPr>
            <a:endParaRPr lang="en-US" altLang="zh-CN" sz="2400" dirty="0"/>
          </a:p>
          <a:p>
            <a:endParaRPr lang="zh-CN" altLang="en-US" sz="2400" dirty="0"/>
          </a:p>
        </p:txBody>
      </p:sp>
      <p:sp>
        <p:nvSpPr>
          <p:cNvPr id="6" name="矩形 5"/>
          <p:cNvSpPr/>
          <p:nvPr/>
        </p:nvSpPr>
        <p:spPr>
          <a:xfrm>
            <a:off x="714348" y="1857364"/>
            <a:ext cx="7500990" cy="3903954"/>
          </a:xfrm>
          <a:prstGeom prst="rect">
            <a:avLst/>
          </a:prstGeom>
        </p:spPr>
        <p:txBody>
          <a:bodyPr wrap="square">
            <a:spAutoFit/>
          </a:bodyPr>
          <a:lstStyle/>
          <a:p>
            <a:pPr>
              <a:lnSpc>
                <a:spcPct val="150000"/>
              </a:lnSpc>
            </a:pPr>
            <a:r>
              <a:rPr lang="en-US" sz="2400" dirty="0"/>
              <a:t> </a:t>
            </a:r>
            <a:r>
              <a:rPr lang="en-US" altLang="zh-CN" sz="2400" dirty="0"/>
              <a:t>TA</a:t>
            </a:r>
            <a:r>
              <a:rPr lang="zh-CN" altLang="en-US" sz="2400" dirty="0"/>
              <a:t>：</a:t>
            </a:r>
            <a:endParaRPr lang="en-US" altLang="zh-CN" sz="2400" dirty="0"/>
          </a:p>
          <a:p>
            <a:pPr marL="457200" indent="-457200">
              <a:lnSpc>
                <a:spcPct val="150000"/>
              </a:lnSpc>
              <a:buAutoNum type="arabicPeriod"/>
            </a:pPr>
            <a:r>
              <a:rPr lang="zh-CN" altLang="en-US" sz="2400" dirty="0"/>
              <a:t>是否要标准品？</a:t>
            </a:r>
            <a:r>
              <a:rPr lang="en-US" altLang="zh-CN" sz="2400" dirty="0"/>
              <a:t>2. </a:t>
            </a:r>
            <a:r>
              <a:rPr lang="zh-CN" altLang="en-US" sz="2400" dirty="0"/>
              <a:t>标准品的作用？</a:t>
            </a:r>
            <a:endParaRPr lang="en-US" altLang="zh-CN" sz="2400" dirty="0"/>
          </a:p>
          <a:p>
            <a:pPr marL="457200" indent="-457200">
              <a:lnSpc>
                <a:spcPct val="150000"/>
              </a:lnSpc>
            </a:pPr>
            <a:r>
              <a:rPr lang="en-US" altLang="zh-CN" sz="2400" dirty="0"/>
              <a:t>DIC</a:t>
            </a:r>
            <a:r>
              <a:rPr lang="zh-CN" altLang="en-US" sz="2400" dirty="0"/>
              <a:t>（红外法）：</a:t>
            </a:r>
            <a:endParaRPr lang="en-US" altLang="zh-CN" sz="2400" dirty="0"/>
          </a:p>
          <a:p>
            <a:pPr marL="457200" indent="-457200">
              <a:lnSpc>
                <a:spcPct val="150000"/>
              </a:lnSpc>
              <a:buAutoNum type="arabicPeriod"/>
            </a:pPr>
            <a:r>
              <a:rPr lang="zh-CN" altLang="en-US" sz="2400" dirty="0"/>
              <a:t>是否要标准品？</a:t>
            </a:r>
            <a:r>
              <a:rPr lang="en-US" altLang="zh-CN" sz="2400" dirty="0"/>
              <a:t>2. </a:t>
            </a:r>
            <a:r>
              <a:rPr lang="zh-CN" altLang="en-US" sz="2400" dirty="0"/>
              <a:t>标准品的作用？</a:t>
            </a:r>
            <a:endParaRPr lang="en-US" altLang="zh-CN" sz="2400" dirty="0"/>
          </a:p>
          <a:p>
            <a:pPr>
              <a:lnSpc>
                <a:spcPct val="150000"/>
              </a:lnSpc>
            </a:pPr>
            <a:r>
              <a:rPr lang="en-US" altLang="zh-CN" sz="2400" dirty="0"/>
              <a:t>DIC</a:t>
            </a:r>
            <a:r>
              <a:rPr lang="zh-CN" altLang="en-US" sz="2400" dirty="0"/>
              <a:t>（库伦法）：</a:t>
            </a:r>
            <a:endParaRPr lang="en-US" altLang="zh-CN" sz="2400" dirty="0"/>
          </a:p>
          <a:p>
            <a:pPr marL="457200" indent="-457200">
              <a:lnSpc>
                <a:spcPct val="150000"/>
              </a:lnSpc>
              <a:buFontTx/>
              <a:buAutoNum type="arabicPeriod"/>
            </a:pPr>
            <a:r>
              <a:rPr lang="zh-CN" altLang="en-US" sz="2400" dirty="0"/>
              <a:t>是否要标准品？</a:t>
            </a:r>
            <a:r>
              <a:rPr lang="en-US" altLang="zh-CN" sz="2400"/>
              <a:t>2. </a:t>
            </a:r>
            <a:r>
              <a:rPr lang="zh-CN" altLang="en-US" sz="2400"/>
              <a:t>标准品</a:t>
            </a:r>
            <a:r>
              <a:rPr lang="zh-CN" altLang="en-US" sz="2400" dirty="0"/>
              <a:t>的作用？</a:t>
            </a:r>
            <a:endParaRPr lang="en-US" altLang="zh-CN" sz="2400" dirty="0"/>
          </a:p>
          <a:p>
            <a:pPr marL="457200" indent="-457200">
              <a:lnSpc>
                <a:spcPct val="150000"/>
              </a:lnSpc>
              <a:buAutoNum type="arabicPeriod"/>
            </a:pPr>
            <a:endParaRPr lang="zh-CN" altLang="en-US" sz="2400" dirty="0"/>
          </a:p>
        </p:txBody>
      </p:sp>
      <p:sp>
        <p:nvSpPr>
          <p:cNvPr id="8" name="TextBox 7"/>
          <p:cNvSpPr txBox="1"/>
          <p:nvPr/>
        </p:nvSpPr>
        <p:spPr>
          <a:xfrm>
            <a:off x="683568" y="5178659"/>
            <a:ext cx="7429552" cy="1200329"/>
          </a:xfrm>
          <a:prstGeom prst="rect">
            <a:avLst/>
          </a:prstGeom>
          <a:noFill/>
        </p:spPr>
        <p:txBody>
          <a:bodyPr wrap="square" rtlCol="0">
            <a:spAutoFit/>
          </a:bodyPr>
          <a:lstStyle/>
          <a:p>
            <a:r>
              <a:rPr lang="zh-CN" altLang="en-US" sz="2400" dirty="0"/>
              <a:t>作业：为什么</a:t>
            </a:r>
            <a:r>
              <a:rPr lang="en-US" altLang="zh-CN" sz="2400" dirty="0"/>
              <a:t>Gran</a:t>
            </a:r>
            <a:r>
              <a:rPr lang="zh-CN" altLang="en-US" sz="2400" dirty="0"/>
              <a:t>滴定法现在主要用于测量</a:t>
            </a:r>
            <a:r>
              <a:rPr lang="en-US" altLang="zh-CN" sz="2400" dirty="0"/>
              <a:t>TA</a:t>
            </a:r>
            <a:r>
              <a:rPr lang="zh-CN" altLang="en-US" sz="2400" dirty="0"/>
              <a:t>而测量而测量</a:t>
            </a:r>
            <a:r>
              <a:rPr lang="en-US" altLang="zh-CN" sz="2400" dirty="0"/>
              <a:t>DIC</a:t>
            </a:r>
            <a:r>
              <a:rPr lang="zh-CN" altLang="en-US" sz="2400" dirty="0"/>
              <a:t>已经基本不用这个方法了。撇开新技术的发展，从方法本身上分析</a:t>
            </a:r>
            <a:r>
              <a:rPr lang="en-US" altLang="zh-CN" sz="2400" dirty="0"/>
              <a:t>Gran</a:t>
            </a:r>
            <a:r>
              <a:rPr lang="zh-CN" altLang="en-US" sz="2400" dirty="0"/>
              <a:t>滴定法测量</a:t>
            </a:r>
            <a:r>
              <a:rPr lang="en-US" altLang="zh-CN" sz="2400" dirty="0"/>
              <a:t>DIC</a:t>
            </a:r>
            <a:r>
              <a:rPr lang="zh-CN" altLang="en-US" sz="2400" dirty="0"/>
              <a:t>有哪些缺陷</a:t>
            </a:r>
          </a:p>
        </p:txBody>
      </p:sp>
      <p:sp>
        <p:nvSpPr>
          <p:cNvPr id="9" name="标题 4">
            <a:extLst>
              <a:ext uri="{FF2B5EF4-FFF2-40B4-BE49-F238E27FC236}">
                <a16:creationId xmlns:a16="http://schemas.microsoft.com/office/drawing/2014/main" id="{39BAC1DA-DC32-4080-81AB-4D5DCF2B36B3}"/>
              </a:ext>
            </a:extLst>
          </p:cNvPr>
          <p:cNvSpPr txBox="1">
            <a:spLocks/>
          </p:cNvSpPr>
          <p:nvPr/>
        </p:nvSpPr>
        <p:spPr bwMode="auto">
          <a:xfrm>
            <a:off x="1475656" y="415333"/>
            <a:ext cx="422168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第十章 海水中的</a:t>
            </a:r>
            <a:r>
              <a:rPr lang="en-US" altLang="zh-CN" sz="3200" b="1" kern="0" dirty="0">
                <a:solidFill>
                  <a:schemeClr val="bg2">
                    <a:lumMod val="25000"/>
                  </a:schemeClr>
                </a:solidFill>
                <a:latin typeface="华文新魏" pitchFamily="2" charset="-122"/>
                <a:ea typeface="华文新魏" pitchFamily="2" charset="-122"/>
              </a:rPr>
              <a:t>DIC</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81923"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81924"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81925"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81926"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81927"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81928"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8192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81930"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1" name="Rectangle 13"/>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2" name="Rectangle 14"/>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3" name="Rectangle 15"/>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81934" name="Rectangle 16"/>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6" name="Text Box 13"/>
          <p:cNvSpPr txBox="1">
            <a:spLocks noChangeArrowheads="1"/>
          </p:cNvSpPr>
          <p:nvPr/>
        </p:nvSpPr>
        <p:spPr bwMode="auto">
          <a:xfrm>
            <a:off x="1571604" y="357166"/>
            <a:ext cx="4248150" cy="539700"/>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测量</a:t>
            </a:r>
            <a:r>
              <a:rPr lang="en-US" altLang="zh-CN" sz="3200" dirty="0">
                <a:solidFill>
                  <a:srgbClr val="0000FF"/>
                </a:solidFill>
                <a:latin typeface="Times New Roman" pitchFamily="18" charset="0"/>
                <a:ea typeface="黑体" pitchFamily="49" charset="-122"/>
                <a:cs typeface="Times New Roman" pitchFamily="18" charset="0"/>
              </a:rPr>
              <a:t>pCO</a:t>
            </a:r>
            <a:r>
              <a:rPr lang="en-US" altLang="zh-CN" sz="3200" baseline="-25000" dirty="0">
                <a:solidFill>
                  <a:srgbClr val="0000FF"/>
                </a:solidFill>
                <a:latin typeface="Times New Roman" pitchFamily="18" charset="0"/>
                <a:ea typeface="黑体" pitchFamily="49" charset="-122"/>
                <a:cs typeface="Times New Roman" pitchFamily="18" charset="0"/>
              </a:rPr>
              <a:t>2</a:t>
            </a:r>
            <a:r>
              <a:rPr lang="zh-CN" altLang="en-US" sz="3200" dirty="0">
                <a:solidFill>
                  <a:srgbClr val="0000FF"/>
                </a:solidFill>
                <a:latin typeface="Times New Roman" pitchFamily="18" charset="0"/>
                <a:ea typeface="黑体" pitchFamily="49" charset="-122"/>
                <a:cs typeface="Times New Roman" pitchFamily="18" charset="0"/>
              </a:rPr>
              <a:t>的意义</a:t>
            </a:r>
          </a:p>
        </p:txBody>
      </p:sp>
      <p:grpSp>
        <p:nvGrpSpPr>
          <p:cNvPr id="2" name="组合 20"/>
          <p:cNvGrpSpPr>
            <a:grpSpLocks/>
          </p:cNvGrpSpPr>
          <p:nvPr/>
        </p:nvGrpSpPr>
        <p:grpSpPr bwMode="auto">
          <a:xfrm>
            <a:off x="107504" y="1264070"/>
            <a:ext cx="5554662" cy="2952750"/>
            <a:chOff x="0" y="1989138"/>
            <a:chExt cx="5900926" cy="2933700"/>
          </a:xfrm>
        </p:grpSpPr>
        <p:grpSp>
          <p:nvGrpSpPr>
            <p:cNvPr id="3" name="Group 28"/>
            <p:cNvGrpSpPr>
              <a:grpSpLocks/>
            </p:cNvGrpSpPr>
            <p:nvPr/>
          </p:nvGrpSpPr>
          <p:grpSpPr bwMode="auto">
            <a:xfrm>
              <a:off x="0" y="1989138"/>
              <a:ext cx="4429126" cy="2933700"/>
              <a:chOff x="0" y="1253"/>
              <a:chExt cx="2790" cy="1848"/>
            </a:xfrm>
          </p:grpSpPr>
          <p:pic>
            <p:nvPicPr>
              <p:cNvPr id="21" name="Picture 24"/>
              <p:cNvPicPr>
                <a:picLocks noChangeAspect="1" noChangeArrowheads="1"/>
              </p:cNvPicPr>
              <p:nvPr/>
            </p:nvPicPr>
            <p:blipFill>
              <a:blip r:embed="rId2" cstate="print"/>
              <a:srcRect/>
              <a:stretch>
                <a:fillRect/>
              </a:stretch>
            </p:blipFill>
            <p:spPr bwMode="auto">
              <a:xfrm>
                <a:off x="0" y="1253"/>
                <a:ext cx="2699" cy="1848"/>
              </a:xfrm>
              <a:prstGeom prst="rect">
                <a:avLst/>
              </a:prstGeom>
              <a:noFill/>
              <a:ln w="31750" algn="ctr">
                <a:noFill/>
                <a:miter lim="800000"/>
                <a:headEnd/>
                <a:tailEnd/>
              </a:ln>
            </p:spPr>
          </p:pic>
          <p:sp>
            <p:nvSpPr>
              <p:cNvPr id="22" name="AutoShape 21"/>
              <p:cNvSpPr>
                <a:spLocks noChangeArrowheads="1"/>
              </p:cNvSpPr>
              <p:nvPr/>
            </p:nvSpPr>
            <p:spPr bwMode="auto">
              <a:xfrm>
                <a:off x="2653" y="1570"/>
                <a:ext cx="137" cy="408"/>
              </a:xfrm>
              <a:prstGeom prst="upArrow">
                <a:avLst>
                  <a:gd name="adj1" fmla="val 50000"/>
                  <a:gd name="adj2" fmla="val 74453"/>
                </a:avLst>
              </a:prstGeom>
              <a:noFill/>
              <a:ln w="31750" algn="ctr">
                <a:solidFill>
                  <a:srgbClr val="0000FF"/>
                </a:solidFill>
                <a:miter lim="800000"/>
                <a:headEnd/>
                <a:tailEnd/>
              </a:ln>
            </p:spPr>
            <p:txBody>
              <a:bodyPr lIns="18000" tIns="36000" rIns="18000" bIns="10800" anchor="ctr">
                <a:spAutoFit/>
              </a:bodyPr>
              <a:lstStyle/>
              <a:p>
                <a:endParaRPr lang="zh-CN" altLang="en-US"/>
              </a:p>
            </p:txBody>
          </p:sp>
          <p:sp>
            <p:nvSpPr>
              <p:cNvPr id="23" name="Line 26"/>
              <p:cNvSpPr>
                <a:spLocks noChangeShapeType="1"/>
              </p:cNvSpPr>
              <p:nvPr/>
            </p:nvSpPr>
            <p:spPr bwMode="auto">
              <a:xfrm>
                <a:off x="2200" y="1525"/>
                <a:ext cx="317" cy="0"/>
              </a:xfrm>
              <a:prstGeom prst="line">
                <a:avLst/>
              </a:prstGeom>
              <a:noFill/>
              <a:ln w="50800">
                <a:solidFill>
                  <a:srgbClr val="0000FF"/>
                </a:solidFill>
                <a:round/>
                <a:headEnd/>
                <a:tailEnd type="triangle" w="med" len="med"/>
              </a:ln>
            </p:spPr>
            <p:txBody>
              <a:bodyPr lIns="18000" tIns="36000" rIns="18000" bIns="10800">
                <a:spAutoFit/>
              </a:bodyPr>
              <a:lstStyle/>
              <a:p>
                <a:endParaRPr lang="zh-CN" altLang="en-US"/>
              </a:p>
            </p:txBody>
          </p:sp>
          <p:sp>
            <p:nvSpPr>
              <p:cNvPr id="24" name="Line 27"/>
              <p:cNvSpPr>
                <a:spLocks noChangeShapeType="1"/>
              </p:cNvSpPr>
              <p:nvPr/>
            </p:nvSpPr>
            <p:spPr bwMode="auto">
              <a:xfrm flipH="1">
                <a:off x="385" y="2704"/>
                <a:ext cx="318" cy="0"/>
              </a:xfrm>
              <a:prstGeom prst="line">
                <a:avLst/>
              </a:prstGeom>
              <a:noFill/>
              <a:ln w="50800">
                <a:solidFill>
                  <a:srgbClr val="0000FF"/>
                </a:solidFill>
                <a:round/>
                <a:headEnd/>
                <a:tailEnd type="triangle" w="med" len="med"/>
              </a:ln>
            </p:spPr>
            <p:txBody>
              <a:bodyPr lIns="18000" tIns="36000" rIns="18000" bIns="10800">
                <a:spAutoFit/>
              </a:bodyPr>
              <a:lstStyle/>
              <a:p>
                <a:endParaRPr lang="zh-CN" altLang="en-US"/>
              </a:p>
            </p:txBody>
          </p:sp>
        </p:grpSp>
        <p:sp>
          <p:nvSpPr>
            <p:cNvPr id="19" name="Rectangle 20"/>
            <p:cNvSpPr>
              <a:spLocks noChangeArrowheads="1"/>
            </p:cNvSpPr>
            <p:nvPr/>
          </p:nvSpPr>
          <p:spPr bwMode="auto">
            <a:xfrm>
              <a:off x="3059113" y="4005263"/>
              <a:ext cx="826632" cy="293478"/>
            </a:xfrm>
            <a:prstGeom prst="rect">
              <a:avLst/>
            </a:prstGeom>
            <a:noFill/>
            <a:ln w="31750" algn="ctr">
              <a:noFill/>
              <a:miter lim="800000"/>
              <a:headEnd/>
              <a:tailEnd/>
            </a:ln>
          </p:spPr>
          <p:txBody>
            <a:bodyPr wrap="none" lIns="18000" tIns="36000" rIns="18000" bIns="10800" anchor="ctr">
              <a:spAutoFit/>
            </a:bodyPr>
            <a:lstStyle/>
            <a:p>
              <a:pPr algn="ctr">
                <a:lnSpc>
                  <a:spcPct val="100000"/>
                </a:lnSpc>
                <a:spcBef>
                  <a:spcPct val="0"/>
                </a:spcBef>
                <a:buFontTx/>
                <a:buNone/>
              </a:pPr>
              <a:r>
                <a:rPr lang="zh-CN" altLang="en-US" sz="1600">
                  <a:latin typeface="Times New Roman" pitchFamily="18" charset="0"/>
                  <a:ea typeface="黑体" pitchFamily="49" charset="-122"/>
                  <a:cs typeface="Times New Roman" pitchFamily="18" charset="0"/>
                </a:rPr>
                <a:t>大气</a:t>
              </a:r>
              <a:r>
                <a:rPr lang="en-US" altLang="zh-CN" sz="1600">
                  <a:latin typeface="Times New Roman" pitchFamily="18" charset="0"/>
                  <a:ea typeface="黑体" pitchFamily="49" charset="-122"/>
                  <a:cs typeface="Times New Roman" pitchFamily="18" charset="0"/>
                </a:rPr>
                <a:t>CO</a:t>
              </a:r>
              <a:r>
                <a:rPr lang="en-US" altLang="zh-CN" sz="1600" baseline="-25000">
                  <a:latin typeface="Times New Roman" pitchFamily="18" charset="0"/>
                  <a:ea typeface="黑体" pitchFamily="49" charset="-122"/>
                  <a:cs typeface="Times New Roman" pitchFamily="18" charset="0"/>
                </a:rPr>
                <a:t>2</a:t>
              </a:r>
              <a:endParaRPr lang="zh-CN" altLang="en-US" sz="1600">
                <a:latin typeface="Times New Roman" pitchFamily="18" charset="0"/>
                <a:ea typeface="黑体" pitchFamily="49" charset="-122"/>
                <a:cs typeface="Times New Roman" pitchFamily="18" charset="0"/>
              </a:endParaRPr>
            </a:p>
          </p:txBody>
        </p:sp>
        <p:sp>
          <p:nvSpPr>
            <p:cNvPr id="20" name="Text Box 22"/>
            <p:cNvSpPr txBox="1">
              <a:spLocks noChangeArrowheads="1"/>
            </p:cNvSpPr>
            <p:nvPr/>
          </p:nvSpPr>
          <p:spPr bwMode="auto">
            <a:xfrm>
              <a:off x="4207917" y="3134207"/>
              <a:ext cx="1693009" cy="377216"/>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en-US" altLang="zh-CN" sz="1800">
                  <a:solidFill>
                    <a:srgbClr val="0033CC"/>
                  </a:solidFill>
                  <a:latin typeface="Times New Roman" pitchFamily="18" charset="0"/>
                  <a:ea typeface="黑体" pitchFamily="49" charset="-122"/>
                  <a:cs typeface="Times New Roman" pitchFamily="18" charset="0"/>
                </a:rPr>
                <a:t>0.25% per year</a:t>
              </a:r>
            </a:p>
          </p:txBody>
        </p:sp>
      </p:grpSp>
      <p:grpSp>
        <p:nvGrpSpPr>
          <p:cNvPr id="4" name="组合 27"/>
          <p:cNvGrpSpPr>
            <a:grpSpLocks/>
          </p:cNvGrpSpPr>
          <p:nvPr/>
        </p:nvGrpSpPr>
        <p:grpSpPr bwMode="auto">
          <a:xfrm>
            <a:off x="6143636" y="1142984"/>
            <a:ext cx="1944688" cy="2854325"/>
            <a:chOff x="5940152" y="4005064"/>
            <a:chExt cx="1944216" cy="2852936"/>
          </a:xfrm>
        </p:grpSpPr>
        <p:pic>
          <p:nvPicPr>
            <p:cNvPr id="26" name="Picture 27" descr="http://t3.gstatic.com/images?q=tbn:ANd9GcR972lUDhr5pPPoZb3u0MbzpF6gKvxjTKdp0yzWjWeIuMVoEM8&amp;t=1&amp;usg=__e02oqS2A_STRl963iikT2nRe7bU="/>
            <p:cNvPicPr>
              <a:picLocks noChangeAspect="1" noChangeArrowheads="1"/>
            </p:cNvPicPr>
            <p:nvPr/>
          </p:nvPicPr>
          <p:blipFill>
            <a:blip r:embed="rId3" cstate="print"/>
            <a:srcRect r="16000"/>
            <a:stretch>
              <a:fillRect/>
            </a:stretch>
          </p:blipFill>
          <p:spPr bwMode="auto">
            <a:xfrm>
              <a:off x="5940152" y="4005064"/>
              <a:ext cx="1944216" cy="2507456"/>
            </a:xfrm>
            <a:prstGeom prst="rect">
              <a:avLst/>
            </a:prstGeom>
            <a:noFill/>
            <a:ln w="9525">
              <a:noFill/>
              <a:miter lim="800000"/>
              <a:headEnd/>
              <a:tailEnd/>
            </a:ln>
          </p:spPr>
        </p:pic>
        <p:sp>
          <p:nvSpPr>
            <p:cNvPr id="27" name="矩形 26"/>
            <p:cNvSpPr>
              <a:spLocks noChangeArrowheads="1"/>
            </p:cNvSpPr>
            <p:nvPr/>
          </p:nvSpPr>
          <p:spPr bwMode="auto">
            <a:xfrm>
              <a:off x="5940152" y="6529640"/>
              <a:ext cx="1920719" cy="328360"/>
            </a:xfrm>
            <a:prstGeom prst="rect">
              <a:avLst/>
            </a:prstGeom>
            <a:noFill/>
            <a:ln w="9525">
              <a:noFill/>
              <a:miter lim="800000"/>
              <a:headEnd/>
              <a:tailEnd/>
            </a:ln>
          </p:spPr>
          <p:txBody>
            <a:bodyPr wrap="none">
              <a:spAutoFit/>
            </a:bodyPr>
            <a:lstStyle/>
            <a:p>
              <a:pPr>
                <a:buFont typeface="Wingdings" pitchFamily="2" charset="2"/>
                <a:buNone/>
              </a:pPr>
              <a:r>
                <a:rPr lang="en-US" altLang="zh-CN" sz="1400">
                  <a:solidFill>
                    <a:srgbClr val="0033CC"/>
                  </a:solidFill>
                  <a:latin typeface="Times New Roman" pitchFamily="18" charset="0"/>
                  <a:cs typeface="Times New Roman" pitchFamily="18" charset="0"/>
                </a:rPr>
                <a:t>Charles David Keeling</a:t>
              </a:r>
              <a:endParaRPr lang="zh-CN" altLang="en-US" sz="1400">
                <a:solidFill>
                  <a:srgbClr val="0033CC"/>
                </a:solidFill>
                <a:latin typeface="Times New Roman" pitchFamily="18" charset="0"/>
                <a:cs typeface="Times New Roman" pitchFamily="18" charset="0"/>
              </a:endParaRPr>
            </a:p>
          </p:txBody>
        </p:sp>
      </p:grpSp>
      <p:pic>
        <p:nvPicPr>
          <p:cNvPr id="28" name="Picture 15"/>
          <p:cNvPicPr>
            <a:picLocks noChangeAspect="1" noChangeArrowheads="1"/>
          </p:cNvPicPr>
          <p:nvPr/>
        </p:nvPicPr>
        <p:blipFill>
          <a:blip r:embed="rId4" cstate="print"/>
          <a:srcRect/>
          <a:stretch>
            <a:fillRect/>
          </a:stretch>
        </p:blipFill>
        <p:spPr bwMode="auto">
          <a:xfrm>
            <a:off x="3168632" y="2016351"/>
            <a:ext cx="5975368" cy="488047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13A69058-7620-4D99-835B-CC7FF056A602}"/>
              </a:ext>
            </a:extLst>
          </p:cNvPr>
          <p:cNvSpPr>
            <a:spLocks noGrp="1" noChangeArrowheads="1"/>
          </p:cNvSpPr>
          <p:nvPr>
            <p:ph type="title"/>
          </p:nvPr>
        </p:nvSpPr>
        <p:spPr>
          <a:xfrm>
            <a:off x="250825" y="1341438"/>
            <a:ext cx="7273925" cy="576262"/>
          </a:xfrm>
        </p:spPr>
        <p:txBody>
          <a:bodyPr/>
          <a:lstStyle/>
          <a:p>
            <a:pPr marL="1066800" indent="-1066800" algn="l" eaLnBrk="1" hangingPunct="1"/>
            <a:r>
              <a:rPr lang="zh-CN" altLang="en-US" sz="3600" b="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一、海水二氧化碳分压的表达方式</a:t>
            </a:r>
          </a:p>
        </p:txBody>
      </p:sp>
      <p:sp>
        <p:nvSpPr>
          <p:cNvPr id="97283" name="Rectangle 4">
            <a:extLst>
              <a:ext uri="{FF2B5EF4-FFF2-40B4-BE49-F238E27FC236}">
                <a16:creationId xmlns:a16="http://schemas.microsoft.com/office/drawing/2014/main" id="{DC6D6E2E-4E40-44BB-AAD9-8B58E59148AD}"/>
              </a:ext>
            </a:extLst>
          </p:cNvPr>
          <p:cNvSpPr>
            <a:spLocks noChangeArrowheads="1"/>
          </p:cNvSpPr>
          <p:nvPr/>
        </p:nvSpPr>
        <p:spPr bwMode="auto">
          <a:xfrm>
            <a:off x="1907704" y="309564"/>
            <a:ext cx="59055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1066800" indent="-10668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00000"/>
              </a:lnSpc>
              <a:spcBef>
                <a:spcPct val="0"/>
              </a:spcBef>
              <a:buFontTx/>
              <a:buNone/>
            </a:pPr>
            <a:r>
              <a:rPr lang="zh-CN" altLang="en-US" sz="4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海水二氧化碳分压</a:t>
            </a:r>
          </a:p>
        </p:txBody>
      </p:sp>
      <p:sp>
        <p:nvSpPr>
          <p:cNvPr id="97284" name="Rectangle 6">
            <a:extLst>
              <a:ext uri="{FF2B5EF4-FFF2-40B4-BE49-F238E27FC236}">
                <a16:creationId xmlns:a16="http://schemas.microsoft.com/office/drawing/2014/main" id="{C955CF53-885D-4969-BE99-5627AA3CCA32}"/>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sp>
        <p:nvSpPr>
          <p:cNvPr id="97285" name="Rectangle 8">
            <a:extLst>
              <a:ext uri="{FF2B5EF4-FFF2-40B4-BE49-F238E27FC236}">
                <a16:creationId xmlns:a16="http://schemas.microsoft.com/office/drawing/2014/main" id="{4CEEC9B4-1229-4DC1-A689-EC9D8B2A3187}"/>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8000" tIns="36000" rIns="18000" bIns="108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a:p>
        </p:txBody>
      </p:sp>
      <p:graphicFrame>
        <p:nvGraphicFramePr>
          <p:cNvPr id="230637" name="Group 237">
            <a:extLst>
              <a:ext uri="{FF2B5EF4-FFF2-40B4-BE49-F238E27FC236}">
                <a16:creationId xmlns:a16="http://schemas.microsoft.com/office/drawing/2014/main" id="{09CEF87A-CB7E-4C10-AD76-3601734F5071}"/>
              </a:ext>
            </a:extLst>
          </p:cNvPr>
          <p:cNvGraphicFramePr>
            <a:graphicFrameLocks noGrp="1"/>
          </p:cNvGraphicFramePr>
          <p:nvPr/>
        </p:nvGraphicFramePr>
        <p:xfrm>
          <a:off x="179388" y="2133600"/>
          <a:ext cx="8712200" cy="4176713"/>
        </p:xfrm>
        <a:graphic>
          <a:graphicData uri="http://schemas.openxmlformats.org/drawingml/2006/table">
            <a:tbl>
              <a:tblPr/>
              <a:tblGrid>
                <a:gridCol w="1914340">
                  <a:extLst>
                    <a:ext uri="{9D8B030D-6E8A-4147-A177-3AD203B41FA5}">
                      <a16:colId xmlns:a16="http://schemas.microsoft.com/office/drawing/2014/main" val="20000"/>
                    </a:ext>
                  </a:extLst>
                </a:gridCol>
                <a:gridCol w="1419476">
                  <a:extLst>
                    <a:ext uri="{9D8B030D-6E8A-4147-A177-3AD203B41FA5}">
                      <a16:colId xmlns:a16="http://schemas.microsoft.com/office/drawing/2014/main" val="20001"/>
                    </a:ext>
                  </a:extLst>
                </a:gridCol>
                <a:gridCol w="1666909">
                  <a:extLst>
                    <a:ext uri="{9D8B030D-6E8A-4147-A177-3AD203B41FA5}">
                      <a16:colId xmlns:a16="http://schemas.microsoft.com/office/drawing/2014/main" val="20002"/>
                    </a:ext>
                  </a:extLst>
                </a:gridCol>
                <a:gridCol w="1136232">
                  <a:extLst>
                    <a:ext uri="{9D8B030D-6E8A-4147-A177-3AD203B41FA5}">
                      <a16:colId xmlns:a16="http://schemas.microsoft.com/office/drawing/2014/main" val="20003"/>
                    </a:ext>
                  </a:extLst>
                </a:gridCol>
                <a:gridCol w="2575243">
                  <a:extLst>
                    <a:ext uri="{9D8B030D-6E8A-4147-A177-3AD203B41FA5}">
                      <a16:colId xmlns:a16="http://schemas.microsoft.com/office/drawing/2014/main" val="20004"/>
                    </a:ext>
                  </a:extLst>
                </a:gridCol>
              </a:tblGrid>
              <a:tr h="932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CO</a:t>
                      </a:r>
                      <a:r>
                        <a:rPr kumimoji="0" lang="en-US" altLang="zh-CN" sz="24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2</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含量</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表达方式</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符号</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单位</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数值</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说明</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70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摩尔分数</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x</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 CO</a:t>
                      </a:r>
                      <a:r>
                        <a:rPr kumimoji="0" lang="en-US" altLang="zh-CN" sz="24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2</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sym typeface="Symbol" pitchFamily="18" charset="2"/>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mol/mol</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sym typeface="Symbol" pitchFamily="18" charset="2"/>
                      </a:endParaRP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360.0</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干空气</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69262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体积浓度</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cs typeface="Times New Roman" pitchFamily="18" charset="0"/>
                        </a:rPr>
                        <a:t>x</a:t>
                      </a: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 CO</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ppm</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ppmv</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360.0</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干空气</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2"/>
                  </a:ext>
                </a:extLst>
              </a:tr>
              <a:tr h="91040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CO</a:t>
                      </a:r>
                      <a:r>
                        <a:rPr kumimoji="0" lang="en-US" altLang="zh-CN" sz="24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2</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分压</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p</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CO</a:t>
                      </a:r>
                      <a:r>
                        <a:rPr kumimoji="0" lang="en-US" altLang="zh-CN" sz="2400" b="1" i="0" u="none" strike="noStrike" cap="none" normalizeH="0" baseline="-25000" dirty="0">
                          <a:ln>
                            <a:noFill/>
                          </a:ln>
                          <a:solidFill>
                            <a:schemeClr val="tx1"/>
                          </a:solidFill>
                          <a:effectLst/>
                          <a:latin typeface="Times New Roman" pitchFamily="18" charset="0"/>
                          <a:ea typeface="黑体" pitchFamily="49" charset="-122"/>
                          <a:cs typeface="Times New Roman" pitchFamily="18" charset="0"/>
                        </a:rPr>
                        <a:t>2</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sym typeface="Symbol" pitchFamily="18" charset="2"/>
                        </a:rPr>
                        <a:t></a:t>
                      </a:r>
                      <a:r>
                        <a:rPr kumimoji="0" lang="en-US" altLang="zh-CN" sz="2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atm</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sym typeface="Symbol" pitchFamily="18" charset="2"/>
                      </a:endParaRP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349.0</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100%</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相对湿度、</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T=25℃</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S=35</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3"/>
                  </a:ext>
                </a:extLst>
              </a:tr>
              <a:tr h="932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CO</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r>
                        <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有效压力</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cs typeface="Times New Roman" pitchFamily="18" charset="0"/>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CO</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atm</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sym typeface="Symbol" pitchFamily="18" charset="2"/>
                      </a:endParaRP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347.9</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100%</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相对湿度、</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T=25℃</a:t>
                      </a:r>
                    </a:p>
                  </a:txBody>
                  <a:tcPr marL="17998" marR="17998" marT="36002" marB="10801"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81923"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81924"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81925"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81926"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81927"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81928"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8192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81930"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1" name="Rectangle 13"/>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2" name="Rectangle 14"/>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3" name="Rectangle 15"/>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81934" name="Rectangle 16"/>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6" name="Text Box 13"/>
          <p:cNvSpPr txBox="1">
            <a:spLocks noChangeArrowheads="1"/>
          </p:cNvSpPr>
          <p:nvPr/>
        </p:nvSpPr>
        <p:spPr bwMode="auto">
          <a:xfrm>
            <a:off x="1357290" y="357166"/>
            <a:ext cx="4248150" cy="539700"/>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测量</a:t>
            </a:r>
            <a:r>
              <a:rPr lang="en-US" altLang="zh-CN" sz="3200" dirty="0">
                <a:solidFill>
                  <a:srgbClr val="0000FF"/>
                </a:solidFill>
                <a:latin typeface="Times New Roman" pitchFamily="18" charset="0"/>
                <a:ea typeface="黑体" pitchFamily="49" charset="-122"/>
                <a:cs typeface="Times New Roman" pitchFamily="18" charset="0"/>
              </a:rPr>
              <a:t>pCO</a:t>
            </a:r>
            <a:r>
              <a:rPr lang="en-US" altLang="zh-CN" sz="3200" baseline="-25000" dirty="0">
                <a:solidFill>
                  <a:srgbClr val="0000FF"/>
                </a:solidFill>
                <a:latin typeface="Times New Roman" pitchFamily="18" charset="0"/>
                <a:ea typeface="黑体" pitchFamily="49" charset="-122"/>
                <a:cs typeface="Times New Roman" pitchFamily="18" charset="0"/>
              </a:rPr>
              <a:t>2</a:t>
            </a:r>
            <a:r>
              <a:rPr lang="zh-CN" altLang="en-US" sz="3200" dirty="0">
                <a:solidFill>
                  <a:srgbClr val="0000FF"/>
                </a:solidFill>
                <a:latin typeface="Times New Roman" pitchFamily="18" charset="0"/>
                <a:ea typeface="黑体" pitchFamily="49" charset="-122"/>
                <a:cs typeface="Times New Roman" pitchFamily="18" charset="0"/>
              </a:rPr>
              <a:t>的原理</a:t>
            </a:r>
          </a:p>
        </p:txBody>
      </p:sp>
      <p:pic>
        <p:nvPicPr>
          <p:cNvPr id="124930" name="Picture 2" descr="E:\课程\课件\课程图片\IMG_20160515_101627.jpg"/>
          <p:cNvPicPr>
            <a:picLocks noChangeAspect="1" noChangeArrowheads="1"/>
          </p:cNvPicPr>
          <p:nvPr/>
        </p:nvPicPr>
        <p:blipFill>
          <a:blip r:embed="rId2" cstate="print"/>
          <a:srcRect/>
          <a:stretch>
            <a:fillRect/>
          </a:stretch>
        </p:blipFill>
        <p:spPr bwMode="auto">
          <a:xfrm>
            <a:off x="4886323" y="322351"/>
            <a:ext cx="4257677" cy="6215106"/>
          </a:xfrm>
          <a:prstGeom prst="rect">
            <a:avLst/>
          </a:prstGeom>
          <a:noFill/>
        </p:spPr>
      </p:pic>
      <p:pic>
        <p:nvPicPr>
          <p:cNvPr id="124931" name="Picture 3" descr="E:\课程\课件\课程图片\0.png"/>
          <p:cNvPicPr>
            <a:picLocks noChangeAspect="1" noChangeArrowheads="1"/>
          </p:cNvPicPr>
          <p:nvPr/>
        </p:nvPicPr>
        <p:blipFill>
          <a:blip r:embed="rId3" cstate="print"/>
          <a:srcRect/>
          <a:stretch>
            <a:fillRect/>
          </a:stretch>
        </p:blipFill>
        <p:spPr bwMode="auto">
          <a:xfrm>
            <a:off x="357158" y="5404686"/>
            <a:ext cx="3566770" cy="536933"/>
          </a:xfrm>
          <a:prstGeom prst="rect">
            <a:avLst/>
          </a:prstGeom>
          <a:noFill/>
        </p:spPr>
      </p:pic>
      <p:sp>
        <p:nvSpPr>
          <p:cNvPr id="30" name="TextBox 29"/>
          <p:cNvSpPr txBox="1"/>
          <p:nvPr/>
        </p:nvSpPr>
        <p:spPr>
          <a:xfrm>
            <a:off x="359576" y="3272375"/>
            <a:ext cx="4071966" cy="2289858"/>
          </a:xfrm>
          <a:prstGeom prst="rect">
            <a:avLst/>
          </a:prstGeom>
          <a:noFill/>
        </p:spPr>
        <p:txBody>
          <a:bodyPr wrap="square" rtlCol="0">
            <a:spAutoFit/>
          </a:bodyPr>
          <a:lstStyle/>
          <a:p>
            <a:pPr>
              <a:lnSpc>
                <a:spcPct val="120000"/>
              </a:lnSpc>
            </a:pPr>
            <a:r>
              <a:rPr lang="zh-CN" altLang="en-US" sz="2400" b="1" dirty="0">
                <a:latin typeface="+mn-ea"/>
              </a:rPr>
              <a:t>测量方法：</a:t>
            </a:r>
            <a:endParaRPr lang="en-US" altLang="zh-CN" sz="2400" b="1" dirty="0">
              <a:latin typeface="+mn-ea"/>
            </a:endParaRPr>
          </a:p>
          <a:p>
            <a:pPr>
              <a:lnSpc>
                <a:spcPct val="120000"/>
              </a:lnSpc>
            </a:pPr>
            <a:r>
              <a:rPr lang="zh-CN" altLang="en-US" sz="2000" dirty="0"/>
              <a:t>测量</a:t>
            </a:r>
            <a:r>
              <a:rPr lang="en-US" altLang="zh-CN" sz="2000" dirty="0"/>
              <a:t>pCO</a:t>
            </a:r>
            <a:r>
              <a:rPr lang="en-US" altLang="zh-CN" sz="2000" baseline="-25000" dirty="0"/>
              <a:t>2</a:t>
            </a:r>
            <a:r>
              <a:rPr lang="zh-CN" altLang="en-US" sz="2000" dirty="0"/>
              <a:t>的方法是通过将大体积海水和小体积的空气实现充分交换达到平衡后，测定气相中的</a:t>
            </a:r>
            <a:r>
              <a:rPr lang="en-US" altLang="zh-CN" sz="2000" dirty="0"/>
              <a:t>CO</a:t>
            </a:r>
            <a:r>
              <a:rPr lang="en-US" altLang="zh-CN" sz="2000" baseline="-25000" dirty="0"/>
              <a:t>2</a:t>
            </a:r>
            <a:r>
              <a:rPr lang="zh-CN" altLang="en-US" sz="2000" dirty="0"/>
              <a:t>摩尔分数（</a:t>
            </a:r>
            <a:r>
              <a:rPr lang="en-US" altLang="zh-CN" sz="2000" dirty="0"/>
              <a:t>xCO</a:t>
            </a:r>
            <a:r>
              <a:rPr lang="en-US" altLang="zh-CN" sz="2000" baseline="-25000" dirty="0"/>
              <a:t>2</a:t>
            </a:r>
            <a:r>
              <a:rPr lang="zh-CN" altLang="en-US" sz="2000" dirty="0"/>
              <a:t>），并计算</a:t>
            </a:r>
            <a:r>
              <a:rPr lang="en-US" altLang="zh-CN" sz="2000" dirty="0"/>
              <a:t>pCO</a:t>
            </a:r>
            <a:r>
              <a:rPr lang="en-US" altLang="zh-CN" sz="2000" baseline="-25000" dirty="0"/>
              <a:t>2</a:t>
            </a:r>
          </a:p>
          <a:p>
            <a:endParaRPr lang="en-US" altLang="zh-CN" dirty="0"/>
          </a:p>
        </p:txBody>
      </p:sp>
      <p:sp>
        <p:nvSpPr>
          <p:cNvPr id="31" name="矩形 30"/>
          <p:cNvSpPr/>
          <p:nvPr/>
        </p:nvSpPr>
        <p:spPr>
          <a:xfrm>
            <a:off x="357158" y="1452520"/>
            <a:ext cx="4000528" cy="1534331"/>
          </a:xfrm>
          <a:prstGeom prst="rect">
            <a:avLst/>
          </a:prstGeom>
        </p:spPr>
        <p:txBody>
          <a:bodyPr wrap="square">
            <a:spAutoFit/>
          </a:bodyPr>
          <a:lstStyle/>
          <a:p>
            <a:r>
              <a:rPr lang="en-US" altLang="zh-CN" sz="2400" b="1" dirty="0">
                <a:latin typeface="+mn-ea"/>
              </a:rPr>
              <a:t>pCO</a:t>
            </a:r>
            <a:r>
              <a:rPr lang="en-US" altLang="zh-CN" sz="2400" b="1" baseline="-25000" dirty="0">
                <a:latin typeface="+mn-ea"/>
              </a:rPr>
              <a:t>2</a:t>
            </a:r>
            <a:r>
              <a:rPr lang="zh-CN" altLang="en-US" sz="2400" b="1" dirty="0">
                <a:latin typeface="+mn-ea"/>
              </a:rPr>
              <a:t>定义：</a:t>
            </a:r>
            <a:endParaRPr lang="en-US" altLang="zh-CN" sz="2400" b="1" dirty="0">
              <a:latin typeface="+mn-ea"/>
            </a:endParaRPr>
          </a:p>
          <a:p>
            <a:pPr>
              <a:lnSpc>
                <a:spcPct val="120000"/>
              </a:lnSpc>
            </a:pPr>
            <a:r>
              <a:rPr lang="zh-CN" altLang="en-US" sz="2000" dirty="0"/>
              <a:t>对某一海水样品来说，其二氧化碳分压（</a:t>
            </a:r>
            <a:r>
              <a:rPr lang="en-US" altLang="zh-CN" sz="2000" dirty="0"/>
              <a:t>pCO</a:t>
            </a:r>
            <a:r>
              <a:rPr lang="en-US" altLang="zh-CN" sz="2000" baseline="-25000" dirty="0"/>
              <a:t>2</a:t>
            </a:r>
            <a:r>
              <a:rPr lang="zh-CN" altLang="en-US" sz="2000" dirty="0"/>
              <a:t>）是指与该海水达到平衡时气相中</a:t>
            </a:r>
            <a:r>
              <a:rPr lang="en-US" altLang="zh-CN" sz="2000" dirty="0"/>
              <a:t>CO</a:t>
            </a:r>
            <a:r>
              <a:rPr lang="en-US" altLang="zh-CN" sz="2000" baseline="-25000" dirty="0"/>
              <a:t>2</a:t>
            </a:r>
            <a:r>
              <a:rPr lang="zh-CN" altLang="en-US" sz="2000" dirty="0"/>
              <a:t>的分压</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4931"/>
                                        </p:tgtEl>
                                        <p:attrNameLst>
                                          <p:attrName>style.visibility</p:attrName>
                                        </p:attrNameLst>
                                      </p:cBhvr>
                                      <p:to>
                                        <p:strVal val="visible"/>
                                      </p:to>
                                    </p:set>
                                    <p:anim calcmode="lin" valueType="num">
                                      <p:cBhvr additive="base">
                                        <p:cTn id="13" dur="500" fill="hold"/>
                                        <p:tgtEl>
                                          <p:spTgt spid="124931"/>
                                        </p:tgtEl>
                                        <p:attrNameLst>
                                          <p:attrName>ppt_x</p:attrName>
                                        </p:attrNameLst>
                                      </p:cBhvr>
                                      <p:tavLst>
                                        <p:tav tm="0">
                                          <p:val>
                                            <p:strVal val="#ppt_x"/>
                                          </p:val>
                                        </p:tav>
                                        <p:tav tm="100000">
                                          <p:val>
                                            <p:strVal val="#ppt_x"/>
                                          </p:val>
                                        </p:tav>
                                      </p:tavLst>
                                    </p:anim>
                                    <p:anim calcmode="lin" valueType="num">
                                      <p:cBhvr additive="base">
                                        <p:cTn id="14" dur="500" fill="hold"/>
                                        <p:tgtEl>
                                          <p:spTgt spid="1249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descr="E:\课程\课件\课程图片\IMG_20160515_114407.jpg"/>
          <p:cNvPicPr>
            <a:picLocks noChangeAspect="1" noChangeArrowheads="1"/>
          </p:cNvPicPr>
          <p:nvPr/>
        </p:nvPicPr>
        <p:blipFill>
          <a:blip r:embed="rId2" cstate="print"/>
          <a:srcRect/>
          <a:stretch>
            <a:fillRect/>
          </a:stretch>
        </p:blipFill>
        <p:spPr bwMode="auto">
          <a:xfrm>
            <a:off x="4362450" y="357166"/>
            <a:ext cx="4781550" cy="6124575"/>
          </a:xfrm>
          <a:prstGeom prst="rect">
            <a:avLst/>
          </a:prstGeom>
          <a:noFill/>
        </p:spPr>
      </p:pic>
      <p:sp>
        <p:nvSpPr>
          <p:cNvPr id="81922"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81923"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81924"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81925"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81926"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81927"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81928"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8192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81930"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1" name="Rectangle 13"/>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2" name="Rectangle 14"/>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3" name="Rectangle 15"/>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81934" name="Rectangle 16"/>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6" name="Text Box 13"/>
          <p:cNvSpPr txBox="1">
            <a:spLocks noChangeArrowheads="1"/>
          </p:cNvSpPr>
          <p:nvPr/>
        </p:nvSpPr>
        <p:spPr bwMode="auto">
          <a:xfrm>
            <a:off x="1357290" y="357166"/>
            <a:ext cx="4248150" cy="539700"/>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测量</a:t>
            </a:r>
            <a:r>
              <a:rPr lang="en-US" altLang="zh-CN" sz="3200" dirty="0">
                <a:solidFill>
                  <a:srgbClr val="0000FF"/>
                </a:solidFill>
                <a:latin typeface="Times New Roman" pitchFamily="18" charset="0"/>
                <a:ea typeface="黑体" pitchFamily="49" charset="-122"/>
                <a:cs typeface="Times New Roman" pitchFamily="18" charset="0"/>
              </a:rPr>
              <a:t>pCO2</a:t>
            </a:r>
            <a:r>
              <a:rPr lang="zh-CN" altLang="en-US" sz="3200" dirty="0">
                <a:solidFill>
                  <a:srgbClr val="0000FF"/>
                </a:solidFill>
                <a:latin typeface="Times New Roman" pitchFamily="18" charset="0"/>
                <a:ea typeface="黑体" pitchFamily="49" charset="-122"/>
                <a:cs typeface="Times New Roman" pitchFamily="18" charset="0"/>
              </a:rPr>
              <a:t>的原理</a:t>
            </a:r>
          </a:p>
        </p:txBody>
      </p:sp>
      <p:sp>
        <p:nvSpPr>
          <p:cNvPr id="30" name="TextBox 29"/>
          <p:cNvSpPr txBox="1"/>
          <p:nvPr/>
        </p:nvSpPr>
        <p:spPr>
          <a:xfrm>
            <a:off x="285720" y="1428736"/>
            <a:ext cx="3929090" cy="1200329"/>
          </a:xfrm>
          <a:prstGeom prst="rect">
            <a:avLst/>
          </a:prstGeom>
          <a:noFill/>
        </p:spPr>
        <p:txBody>
          <a:bodyPr wrap="square" rtlCol="0">
            <a:spAutoFit/>
          </a:bodyPr>
          <a:lstStyle/>
          <a:p>
            <a:r>
              <a:rPr lang="zh-CN" altLang="en-US" sz="2400" dirty="0"/>
              <a:t>红外测量仪</a:t>
            </a:r>
            <a:endParaRPr lang="en-US" altLang="zh-CN" sz="2400" dirty="0"/>
          </a:p>
          <a:p>
            <a:endParaRPr lang="en-US" altLang="zh-CN" sz="2400" dirty="0"/>
          </a:p>
          <a:p>
            <a:endParaRPr lang="en-US" altLang="zh-CN" sz="2400" dirty="0"/>
          </a:p>
        </p:txBody>
      </p:sp>
      <p:pic>
        <p:nvPicPr>
          <p:cNvPr id="125955" name="Picture 3" descr="E:\课程\课件\课程图片\0.png"/>
          <p:cNvPicPr>
            <a:picLocks noChangeAspect="1" noChangeArrowheads="1"/>
          </p:cNvPicPr>
          <p:nvPr/>
        </p:nvPicPr>
        <p:blipFill>
          <a:blip r:embed="rId3" cstate="print"/>
          <a:srcRect/>
          <a:stretch>
            <a:fillRect/>
          </a:stretch>
        </p:blipFill>
        <p:spPr bwMode="auto">
          <a:xfrm>
            <a:off x="142844" y="2000240"/>
            <a:ext cx="8509586" cy="1928826"/>
          </a:xfrm>
          <a:prstGeom prst="rect">
            <a:avLst/>
          </a:prstGeom>
          <a:noFill/>
        </p:spPr>
      </p:pic>
      <p:pic>
        <p:nvPicPr>
          <p:cNvPr id="125956" name="Picture 4" descr="E:\课程\课件\课程图片\QQ截图20160515114944.png"/>
          <p:cNvPicPr>
            <a:picLocks noChangeAspect="1" noChangeArrowheads="1"/>
          </p:cNvPicPr>
          <p:nvPr/>
        </p:nvPicPr>
        <p:blipFill>
          <a:blip r:embed="rId4" cstate="print"/>
          <a:srcRect/>
          <a:stretch>
            <a:fillRect/>
          </a:stretch>
        </p:blipFill>
        <p:spPr bwMode="auto">
          <a:xfrm>
            <a:off x="285720" y="4286256"/>
            <a:ext cx="8286808" cy="191119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954"/>
                                        </p:tgtEl>
                                        <p:attrNameLst>
                                          <p:attrName>style.visibility</p:attrName>
                                        </p:attrNameLst>
                                      </p:cBhvr>
                                      <p:to>
                                        <p:strVal val="visible"/>
                                      </p:to>
                                    </p:set>
                                    <p:anim calcmode="lin" valueType="num">
                                      <p:cBhvr additive="base">
                                        <p:cTn id="7" dur="500" fill="hold"/>
                                        <p:tgtEl>
                                          <p:spTgt spid="125954"/>
                                        </p:tgtEl>
                                        <p:attrNameLst>
                                          <p:attrName>ppt_x</p:attrName>
                                        </p:attrNameLst>
                                      </p:cBhvr>
                                      <p:tavLst>
                                        <p:tav tm="0">
                                          <p:val>
                                            <p:strVal val="#ppt_x"/>
                                          </p:val>
                                        </p:tav>
                                        <p:tav tm="100000">
                                          <p:val>
                                            <p:strVal val="#ppt_x"/>
                                          </p:val>
                                        </p:tav>
                                      </p:tavLst>
                                    </p:anim>
                                    <p:anim calcmode="lin" valueType="num">
                                      <p:cBhvr additive="base">
                                        <p:cTn id="8" dur="500" fill="hold"/>
                                        <p:tgtEl>
                                          <p:spTgt spid="1259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5955"/>
                                        </p:tgtEl>
                                        <p:attrNameLst>
                                          <p:attrName>style.visibility</p:attrName>
                                        </p:attrNameLst>
                                      </p:cBhvr>
                                      <p:to>
                                        <p:strVal val="visible"/>
                                      </p:to>
                                    </p:set>
                                    <p:anim calcmode="lin" valueType="num">
                                      <p:cBhvr additive="base">
                                        <p:cTn id="13" dur="500" fill="hold"/>
                                        <p:tgtEl>
                                          <p:spTgt spid="125955"/>
                                        </p:tgtEl>
                                        <p:attrNameLst>
                                          <p:attrName>ppt_x</p:attrName>
                                        </p:attrNameLst>
                                      </p:cBhvr>
                                      <p:tavLst>
                                        <p:tav tm="0">
                                          <p:val>
                                            <p:strVal val="#ppt_x"/>
                                          </p:val>
                                        </p:tav>
                                        <p:tav tm="100000">
                                          <p:val>
                                            <p:strVal val="#ppt_x"/>
                                          </p:val>
                                        </p:tav>
                                      </p:tavLst>
                                    </p:anim>
                                    <p:anim calcmode="lin" valueType="num">
                                      <p:cBhvr additive="base">
                                        <p:cTn id="14" dur="500" fill="hold"/>
                                        <p:tgtEl>
                                          <p:spTgt spid="12595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5956"/>
                                        </p:tgtEl>
                                        <p:attrNameLst>
                                          <p:attrName>style.visibility</p:attrName>
                                        </p:attrNameLst>
                                      </p:cBhvr>
                                      <p:to>
                                        <p:strVal val="visible"/>
                                      </p:to>
                                    </p:set>
                                    <p:anim calcmode="lin" valueType="num">
                                      <p:cBhvr additive="base">
                                        <p:cTn id="19" dur="500" fill="hold"/>
                                        <p:tgtEl>
                                          <p:spTgt spid="125956"/>
                                        </p:tgtEl>
                                        <p:attrNameLst>
                                          <p:attrName>ppt_x</p:attrName>
                                        </p:attrNameLst>
                                      </p:cBhvr>
                                      <p:tavLst>
                                        <p:tav tm="0">
                                          <p:val>
                                            <p:strVal val="#ppt_x"/>
                                          </p:val>
                                        </p:tav>
                                        <p:tav tm="100000">
                                          <p:val>
                                            <p:strVal val="#ppt_x"/>
                                          </p:val>
                                        </p:tav>
                                      </p:tavLst>
                                    </p:anim>
                                    <p:anim calcmode="lin" valueType="num">
                                      <p:cBhvr additive="base">
                                        <p:cTn id="20" dur="500" fill="hold"/>
                                        <p:tgtEl>
                                          <p:spTgt spid="1259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81923"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81924"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81925"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81926"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81927"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81928"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8192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81930"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1" name="Rectangle 13"/>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2" name="Rectangle 14"/>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3" name="Rectangle 15"/>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81934" name="Rectangle 16"/>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6" name="Text Box 13"/>
          <p:cNvSpPr txBox="1">
            <a:spLocks noChangeArrowheads="1"/>
          </p:cNvSpPr>
          <p:nvPr/>
        </p:nvSpPr>
        <p:spPr bwMode="auto">
          <a:xfrm>
            <a:off x="1357290" y="357166"/>
            <a:ext cx="4248150" cy="539700"/>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测量</a:t>
            </a:r>
            <a:r>
              <a:rPr lang="en-US" altLang="zh-CN" sz="3200" dirty="0">
                <a:solidFill>
                  <a:srgbClr val="0000FF"/>
                </a:solidFill>
                <a:latin typeface="Times New Roman" pitchFamily="18" charset="0"/>
                <a:ea typeface="黑体" pitchFamily="49" charset="-122"/>
                <a:cs typeface="Times New Roman" pitchFamily="18" charset="0"/>
              </a:rPr>
              <a:t>pCO</a:t>
            </a:r>
            <a:r>
              <a:rPr lang="en-US" altLang="zh-CN" sz="3200" baseline="-25000" dirty="0">
                <a:solidFill>
                  <a:srgbClr val="0000FF"/>
                </a:solidFill>
                <a:latin typeface="Times New Roman" pitchFamily="18" charset="0"/>
                <a:ea typeface="黑体" pitchFamily="49" charset="-122"/>
                <a:cs typeface="Times New Roman" pitchFamily="18" charset="0"/>
              </a:rPr>
              <a:t>2</a:t>
            </a:r>
            <a:r>
              <a:rPr lang="zh-CN" altLang="en-US" sz="3200" dirty="0">
                <a:solidFill>
                  <a:srgbClr val="0000FF"/>
                </a:solidFill>
                <a:latin typeface="Times New Roman" pitchFamily="18" charset="0"/>
                <a:ea typeface="黑体" pitchFamily="49" charset="-122"/>
                <a:cs typeface="Times New Roman" pitchFamily="18" charset="0"/>
              </a:rPr>
              <a:t>的原理</a:t>
            </a:r>
          </a:p>
        </p:txBody>
      </p:sp>
      <p:sp>
        <p:nvSpPr>
          <p:cNvPr id="31" name="矩形 30"/>
          <p:cNvSpPr/>
          <p:nvPr/>
        </p:nvSpPr>
        <p:spPr>
          <a:xfrm>
            <a:off x="500034" y="1500174"/>
            <a:ext cx="7572428" cy="3108543"/>
          </a:xfrm>
          <a:prstGeom prst="rect">
            <a:avLst/>
          </a:prstGeom>
        </p:spPr>
        <p:txBody>
          <a:bodyPr wrap="square">
            <a:spAutoFit/>
          </a:bodyPr>
          <a:lstStyle/>
          <a:p>
            <a:pPr>
              <a:buFont typeface="Arial" pitchFamily="34" charset="0"/>
              <a:buChar char="•"/>
            </a:pPr>
            <a:r>
              <a:rPr lang="en-US" altLang="zh-CN" sz="2800" dirty="0"/>
              <a:t> pCO</a:t>
            </a:r>
            <a:r>
              <a:rPr lang="en-US" altLang="zh-CN" sz="2800" baseline="-25000" dirty="0"/>
              <a:t>2</a:t>
            </a:r>
            <a:r>
              <a:rPr lang="zh-CN" altLang="en-US" sz="2800" dirty="0"/>
              <a:t>测量分离散样的</a:t>
            </a:r>
            <a:r>
              <a:rPr lang="en-US" altLang="zh-CN" sz="2800" dirty="0"/>
              <a:t>pCO</a:t>
            </a:r>
            <a:r>
              <a:rPr lang="en-US" altLang="zh-CN" sz="2800" baseline="-25000" dirty="0"/>
              <a:t>2</a:t>
            </a:r>
            <a:r>
              <a:rPr lang="zh-CN" altLang="en-US" sz="2800" dirty="0"/>
              <a:t>测量和走航式连续</a:t>
            </a:r>
            <a:r>
              <a:rPr lang="en-US" altLang="zh-CN" sz="2800" dirty="0"/>
              <a:t>pCO</a:t>
            </a:r>
            <a:r>
              <a:rPr lang="en-US" altLang="zh-CN" sz="2800" baseline="-25000" dirty="0"/>
              <a:t>2</a:t>
            </a:r>
            <a:r>
              <a:rPr lang="zh-CN" altLang="en-US" sz="2800" dirty="0"/>
              <a:t>测量</a:t>
            </a:r>
            <a:endParaRPr lang="en-US" altLang="zh-CN" sz="2800" dirty="0"/>
          </a:p>
          <a:p>
            <a:pPr>
              <a:buFont typeface="Arial" pitchFamily="34" charset="0"/>
              <a:buChar char="•"/>
            </a:pPr>
            <a:endParaRPr lang="en-US" altLang="zh-CN" sz="2800" dirty="0"/>
          </a:p>
          <a:p>
            <a:pPr>
              <a:buFont typeface="Arial" pitchFamily="34" charset="0"/>
              <a:buChar char="•"/>
            </a:pPr>
            <a:r>
              <a:rPr lang="en-US" altLang="zh-CN" sz="2800" dirty="0"/>
              <a:t> pCO</a:t>
            </a:r>
            <a:r>
              <a:rPr lang="en-US" altLang="zh-CN" sz="2800" baseline="-25000" dirty="0"/>
              <a:t>2</a:t>
            </a:r>
            <a:r>
              <a:rPr lang="zh-CN" altLang="en-US" sz="2800" dirty="0"/>
              <a:t>只能测量海水表面的二氧化碳分压，这是为什么？</a:t>
            </a:r>
            <a:endParaRPr lang="en-US" altLang="zh-CN" sz="2800" dirty="0"/>
          </a:p>
          <a:p>
            <a:endParaRPr lang="en-US" altLang="zh-CN" sz="2800" dirty="0"/>
          </a:p>
          <a:p>
            <a:endParaRPr lang="en-US" altLang="zh-CN" sz="2800"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1">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rgbClr val="3399FF"/>
            </a:solidFill>
            <a:effectLst/>
            <a:latin typeface="Arial" charset="0"/>
            <a:ea typeface="华文行楷" pitchFamily="2" charset="-122"/>
          </a:defRPr>
        </a:defPPr>
      </a:lstStyle>
    </a:spDef>
    <a:lnDef>
      <a:spPr bwMode="auto">
        <a:solidFill>
          <a:schemeClr val="accent1"/>
        </a:solidFill>
        <a:ln w="25400" cap="flat" cmpd="sng" algn="ctr">
          <a:solidFill>
            <a:schemeClr val="tx1"/>
          </a:solidFill>
          <a:prstDash val="solid"/>
          <a:round/>
          <a:headEnd type="none" w="med" len="med"/>
          <a:tailEnd type="arrow"/>
        </a:ln>
        <a:effectLst/>
      </a:spPr>
      <a:body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1539</Words>
  <Application>Microsoft Office PowerPoint</Application>
  <PresentationFormat>全屏显示(4:3)</PresentationFormat>
  <Paragraphs>200</Paragraphs>
  <Slides>33</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45" baseType="lpstr">
      <vt:lpstr>Adobe 黑体 Std R</vt:lpstr>
      <vt:lpstr>黑体</vt:lpstr>
      <vt:lpstr>华文行楷</vt:lpstr>
      <vt:lpstr>华文新魏</vt:lpstr>
      <vt:lpstr>宋体</vt:lpstr>
      <vt:lpstr>Arial</vt:lpstr>
      <vt:lpstr>Calibri</vt:lpstr>
      <vt:lpstr>Symbol</vt:lpstr>
      <vt:lpstr>Times New Roman</vt:lpstr>
      <vt:lpstr>Wingdings</vt:lpstr>
      <vt:lpstr>默认设计模板</vt:lpstr>
      <vt:lpstr>Equation</vt:lpstr>
      <vt:lpstr>海水分析化学 Chemistry of seawater analysis </vt:lpstr>
      <vt:lpstr>PowerPoint 演示文稿</vt:lpstr>
      <vt:lpstr>一、总二氧化碳（TCO2）</vt:lpstr>
      <vt:lpstr>游离的二氧化碳</vt:lpstr>
      <vt:lpstr>一、总二氧化碳（TCO2）</vt:lpstr>
      <vt:lpstr>PowerPoint 演示文稿</vt:lpstr>
      <vt:lpstr>二、影响总二氧化碳的海洋学过程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第十章 海水中的DIC</vt:lpstr>
      <vt:lpstr>PowerPoint 演示文稿</vt:lpstr>
      <vt:lpstr>PowerPoint 演示文稿</vt:lpstr>
      <vt:lpstr>PowerPoint 演示文稿</vt:lpstr>
      <vt:lpstr>PowerPoint 演示文稿</vt:lpstr>
      <vt:lpstr>PowerPoint 演示文稿</vt:lpstr>
      <vt:lpstr>PowerPoint 演示文稿</vt:lpstr>
      <vt:lpstr>库伦分析法</vt:lpstr>
      <vt:lpstr>PowerPoint 演示文稿</vt:lpstr>
      <vt:lpstr>库伦法</vt:lpstr>
      <vt:lpstr>PowerPoint 演示文稿</vt:lpstr>
      <vt:lpstr>PowerPoint 演示文稿</vt:lpstr>
      <vt:lpstr>PowerPoint 演示文稿</vt:lpstr>
      <vt:lpstr>PowerPoint 演示文稿</vt:lpstr>
      <vt:lpstr>PowerPoint 演示文稿</vt:lpstr>
      <vt:lpstr>一、海水二氧化碳分压的表达方式</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dc:creator>
  <cp:lastModifiedBy>Administrator</cp:lastModifiedBy>
  <cp:revision>1483</cp:revision>
  <dcterms:created xsi:type="dcterms:W3CDTF">2013-10-17T05:15:34Z</dcterms:created>
  <dcterms:modified xsi:type="dcterms:W3CDTF">2022-12-05T01:22:00Z</dcterms:modified>
</cp:coreProperties>
</file>