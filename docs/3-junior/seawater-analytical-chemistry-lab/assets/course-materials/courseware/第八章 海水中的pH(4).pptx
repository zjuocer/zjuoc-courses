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68" r:id="rId2"/>
    <p:sldId id="465" r:id="rId3"/>
    <p:sldId id="301" r:id="rId4"/>
    <p:sldId id="414" r:id="rId5"/>
    <p:sldId id="416" r:id="rId6"/>
    <p:sldId id="418" r:id="rId7"/>
    <p:sldId id="419" r:id="rId8"/>
    <p:sldId id="466" r:id="rId9"/>
    <p:sldId id="420" r:id="rId10"/>
    <p:sldId id="421" r:id="rId11"/>
    <p:sldId id="449" r:id="rId12"/>
    <p:sldId id="467" r:id="rId13"/>
    <p:sldId id="439" r:id="rId14"/>
    <p:sldId id="461" r:id="rId15"/>
    <p:sldId id="455" r:id="rId16"/>
    <p:sldId id="456" r:id="rId17"/>
    <p:sldId id="458" r:id="rId18"/>
    <p:sldId id="459" r:id="rId19"/>
    <p:sldId id="460" r:id="rId20"/>
    <p:sldId id="473" r:id="rId21"/>
    <p:sldId id="474" r:id="rId22"/>
    <p:sldId id="468" r:id="rId23"/>
    <p:sldId id="426" r:id="rId24"/>
    <p:sldId id="432" r:id="rId25"/>
    <p:sldId id="429" r:id="rId26"/>
    <p:sldId id="427" r:id="rId27"/>
    <p:sldId id="422" r:id="rId28"/>
    <p:sldId id="470" r:id="rId29"/>
    <p:sldId id="464" r:id="rId30"/>
    <p:sldId id="462" r:id="rId31"/>
    <p:sldId id="463" r:id="rId32"/>
    <p:sldId id="457" r:id="rId33"/>
    <p:sldId id="469" r:id="rId34"/>
    <p:sldId id="430" r:id="rId35"/>
    <p:sldId id="433" r:id="rId36"/>
    <p:sldId id="448" r:id="rId37"/>
    <p:sldId id="435" r:id="rId38"/>
    <p:sldId id="436" r:id="rId39"/>
    <p:sldId id="434" r:id="rId40"/>
    <p:sldId id="437" r:id="rId41"/>
    <p:sldId id="442" r:id="rId42"/>
    <p:sldId id="444" r:id="rId43"/>
    <p:sldId id="431" r:id="rId44"/>
    <p:sldId id="446" r:id="rId45"/>
    <p:sldId id="441" r:id="rId46"/>
    <p:sldId id="447" r:id="rId47"/>
    <p:sldId id="443" r:id="rId48"/>
    <p:sldId id="445" r:id="rId4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47" autoAdjust="0"/>
    <p:restoredTop sz="94477" autoAdjust="0"/>
  </p:normalViewPr>
  <p:slideViewPr>
    <p:cSldViewPr>
      <p:cViewPr varScale="1">
        <p:scale>
          <a:sx n="104" d="100"/>
          <a:sy n="104" d="100"/>
        </p:scale>
        <p:origin x="211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7.wmf"/><Relationship Id="rId1" Type="http://schemas.openxmlformats.org/officeDocument/2006/relationships/image" Target="../media/image55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6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8.wmf"/><Relationship Id="rId1" Type="http://schemas.openxmlformats.org/officeDocument/2006/relationships/image" Target="../media/image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4C2AD-C9B0-406F-8123-A0E121BD4683}" type="datetimeFigureOut">
              <a:rPr lang="zh-CN" altLang="en-US" smtClean="0"/>
              <a:pPr/>
              <a:t>2022/11/28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5C9DF-7B2A-45F8-A4B2-C2901DB614D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altLang="zh-CN" smtClean="0"/>
              <a:pPr/>
              <a:t>1</a:t>
            </a:fld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D163F-C9B0-4A35-98DC-3A4DEFF7EC3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95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D8075-E72B-4BF6-9481-6760148A8FB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19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7C1C9-6B1A-4E8D-80D9-1F406FED743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52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21727-E14B-4214-A96B-5D5149B9EB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90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1E3A4-CA4C-4B0F-B7EE-93652856C6C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03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ECA82-AB81-42B0-A316-04B221EF0F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88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1B4E-1D51-4764-BB26-0A928DDC693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30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AD128-FF11-46E7-83AD-EE5A40B3154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7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50332-BC1C-4A8B-973F-88E43E2277C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07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17FBC4-3B96-4753-85AE-096B9B71EBC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4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F8586-B1A6-49E8-9A88-F7855FBD37B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470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zh-CN" altLang="en-US"/>
              <a:pPr/>
              <a:t>2022/11/28</a:t>
            </a:fld>
            <a:endParaRPr kumimoji="0" lang="zh-CN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zh-CN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zh-CN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zh-CN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803400"/>
            <a:ext cx="8153400" cy="4368800"/>
          </a:xfrm>
        </p:spPr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6800" y="1600201"/>
            <a:ext cx="38100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76800" y="3941763"/>
            <a:ext cx="38100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914400" y="6249988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EA372E-3F1E-4E02-9CA0-C05609DB50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E0FACD-AE8A-4C16-8A1E-FCBCB8577A05}" type="slidenum">
              <a:rPr lang="en-US" altLang="zh-CN">
                <a:solidFill>
                  <a:srgbClr val="000000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7" name="图片 6" descr="院标-圆形图案 无背景.png"/>
          <p:cNvPicPr>
            <a:picLocks noChangeAspect="1"/>
          </p:cNvPicPr>
          <p:nvPr userDrawn="1"/>
        </p:nvPicPr>
        <p:blipFill>
          <a:blip r:embed="rId16" cstate="print"/>
          <a:srcRect l="10812" t="7462" r="8098" b="13504"/>
          <a:stretch>
            <a:fillRect/>
          </a:stretch>
        </p:blipFill>
        <p:spPr>
          <a:xfrm>
            <a:off x="149675" y="188640"/>
            <a:ext cx="1181965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8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image" Target="../media/image37.jpeg"/><Relationship Id="rId7" Type="http://schemas.openxmlformats.org/officeDocument/2006/relationships/image" Target="../media/image41.emf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hyperlink" Target="http://baike.baidu.com/view/414285.htm" TargetMode="External"/><Relationship Id="rId4" Type="http://schemas.openxmlformats.org/officeDocument/2006/relationships/image" Target="../media/image5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hyperlink" Target="http://baike.baidu.com/view/414285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1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1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6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0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6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51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body" idx="1"/>
          </p:nvPr>
        </p:nvSpPr>
        <p:spPr>
          <a:xfrm>
            <a:off x="1214414" y="3643314"/>
            <a:ext cx="7123113" cy="1673225"/>
          </a:xfrm>
        </p:spPr>
        <p:txBody>
          <a:bodyPr>
            <a:noAutofit/>
          </a:bodyPr>
          <a:lstStyle/>
          <a:p>
            <a:pPr algn="ctr"/>
            <a:r>
              <a:rPr lang="zh-CN" altLang="en-US" sz="2000" dirty="0">
                <a:latin typeface="Adobe 黑体 Std R" pitchFamily="34" charset="-122"/>
                <a:ea typeface="Adobe 黑体 Std R" pitchFamily="34" charset="-122"/>
              </a:rPr>
              <a:t>潘依雯</a:t>
            </a:r>
            <a:endParaRPr lang="en-US" altLang="zh-CN" sz="2000" dirty="0">
              <a:latin typeface="Adobe 黑体 Std R" pitchFamily="34" charset="-122"/>
              <a:ea typeface="Adobe 黑体 Std R" pitchFamily="34" charset="-122"/>
            </a:endParaRPr>
          </a:p>
          <a:p>
            <a:pPr algn="ctr"/>
            <a:r>
              <a:rPr lang="zh-CN" altLang="en-US" sz="2000" dirty="0">
                <a:latin typeface="Adobe 黑体 Std R" pitchFamily="34" charset="-122"/>
                <a:ea typeface="Adobe 黑体 Std R" pitchFamily="34" charset="-122"/>
              </a:rPr>
              <a:t>海洋学院</a:t>
            </a:r>
            <a:r>
              <a:rPr lang="zh-CN" altLang="en-US" dirty="0">
                <a:latin typeface="Adobe 黑体 Std R" pitchFamily="34" charset="-122"/>
                <a:ea typeface="Adobe 黑体 Std R" pitchFamily="34" charset="-122"/>
              </a:rPr>
              <a:t>海洋化学与环境所</a:t>
            </a:r>
            <a:endParaRPr lang="en-US" altLang="zh-CN" sz="2000" dirty="0">
              <a:latin typeface="Adobe 黑体 Std R" pitchFamily="34" charset="-122"/>
              <a:ea typeface="Adobe 黑体 Std R" pitchFamily="34" charset="-122"/>
            </a:endParaRPr>
          </a:p>
          <a:p>
            <a:pPr algn="ctr"/>
            <a:r>
              <a:rPr lang="zh-CN" altLang="en-US" sz="2000" dirty="0"/>
              <a:t>海科楼</a:t>
            </a:r>
            <a:r>
              <a:rPr lang="en-US" altLang="zh-CN" sz="2000" dirty="0"/>
              <a:t>319</a:t>
            </a:r>
            <a:r>
              <a:rPr lang="zh-CN" altLang="en-US" sz="2000" dirty="0"/>
              <a:t>，</a:t>
            </a:r>
            <a:r>
              <a:rPr lang="en-US" altLang="zh-CN" sz="2000" dirty="0"/>
              <a:t>Email: evelynpan@zju.edu.cn</a:t>
            </a:r>
            <a:endParaRPr lang="zh-CN" sz="2000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1142976" y="428604"/>
            <a:ext cx="7171730" cy="179792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海水分析化学</a:t>
            </a:r>
            <a:br>
              <a:rPr lang="en-US" altLang="zh-CN" dirty="0"/>
            </a:br>
            <a:r>
              <a:rPr lang="en-US" altLang="zh-CN" sz="3600" dirty="0"/>
              <a:t>Chemistry of seawater analysis </a:t>
            </a:r>
            <a:endParaRPr lang="zh-CN" dirty="0"/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7524328" y="6021289"/>
            <a:ext cx="1491086" cy="46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华文行楷" pitchFamily="2" charset="-122"/>
                <a:ea typeface="华文行楷" pitchFamily="2" charset="-122"/>
              </a:rPr>
              <a:t>宽厚 跨越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 bwMode="auto">
          <a:xfrm>
            <a:off x="1142976" y="2071678"/>
            <a:ext cx="7171730" cy="1797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3600" b="1" i="0" u="none" strike="noStrike" kern="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3300" b="1" i="0" u="none" strike="noStrike" kern="0" cap="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Methods of seawater analysis </a:t>
            </a:r>
            <a:endParaRPr kumimoji="0" lang="zh-CN" sz="3600" b="1" i="0" u="none" strike="noStrike" kern="0" cap="all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5">
            <a:extLst>
              <a:ext uri="{FF2B5EF4-FFF2-40B4-BE49-F238E27FC236}">
                <a16:creationId xmlns:a16="http://schemas.microsoft.com/office/drawing/2014/main" id="{A2D4AFCF-4863-4C14-BC4F-C4FFBDCA7560}"/>
              </a:ext>
            </a:extLst>
          </p:cNvPr>
          <p:cNvSpPr txBox="1">
            <a:spLocks/>
          </p:cNvSpPr>
          <p:nvPr/>
        </p:nvSpPr>
        <p:spPr>
          <a:xfrm>
            <a:off x="457200" y="1484784"/>
            <a:ext cx="8229600" cy="4525963"/>
          </a:xfrm>
          <a:prstGeom prst="rect">
            <a:avLst/>
          </a:prstGeom>
        </p:spPr>
        <p:txBody>
          <a:bodyPr/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lang="zh-CN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lang="zh-CN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lang="zh-CN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dirty="0"/>
              <a:t>提纲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海水中测量</a:t>
            </a:r>
            <a:r>
              <a:rPr lang="en-US" altLang="zh-CN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的意义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影响海水中</a:t>
            </a:r>
            <a:r>
              <a:rPr lang="en-US" altLang="zh-CN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的主要因素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海水</a:t>
            </a:r>
            <a:r>
              <a:rPr lang="en-US" altLang="zh-CN" sz="2800" dirty="0"/>
              <a:t>pH</a:t>
            </a:r>
            <a:r>
              <a:rPr lang="zh-CN" altLang="en-US" sz="2800" dirty="0"/>
              <a:t>的四种标度</a:t>
            </a:r>
            <a:endParaRPr lang="en-US" altLang="zh-CN" sz="2800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测量海水</a:t>
            </a:r>
            <a:r>
              <a:rPr lang="en-US" altLang="zh-CN" sz="2800" dirty="0"/>
              <a:t>pH</a:t>
            </a:r>
            <a:r>
              <a:rPr lang="zh-CN" altLang="en-US" sz="2800" dirty="0"/>
              <a:t>的方法</a:t>
            </a:r>
            <a:endParaRPr lang="en-US" altLang="zh-CN" sz="2800" dirty="0"/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/>
              <a:t>电极法</a:t>
            </a:r>
            <a:endParaRPr lang="en-US" altLang="zh-CN" sz="2500" dirty="0"/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/>
              <a:t>紫外分光光度法</a:t>
            </a:r>
            <a:endParaRPr lang="en-US" altLang="zh-CN" sz="2500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EA2362A1-586F-44D1-BA02-A8DFEFCD7525}"/>
              </a:ext>
            </a:extLst>
          </p:cNvPr>
          <p:cNvSpPr txBox="1"/>
          <p:nvPr/>
        </p:nvSpPr>
        <p:spPr>
          <a:xfrm>
            <a:off x="1547664" y="548680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580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547664" y="332656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42910" y="1214422"/>
            <a:ext cx="7758138" cy="4446826"/>
          </a:xfrm>
        </p:spPr>
        <p:txBody>
          <a:bodyPr/>
          <a:lstStyle/>
          <a:p>
            <a:pPr algn="ctr"/>
            <a:r>
              <a:rPr lang="en-US" altLang="zh-CN" dirty="0"/>
              <a:t>8.1 </a:t>
            </a:r>
            <a:r>
              <a:rPr lang="zh-CN" altLang="en-US" dirty="0"/>
              <a:t>海水中的</a:t>
            </a:r>
            <a:r>
              <a:rPr lang="en-US" altLang="zh-CN" dirty="0"/>
              <a:t>pH</a:t>
            </a:r>
          </a:p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r>
              <a:rPr lang="zh-CN" altLang="en-US" sz="2400" dirty="0"/>
              <a:t>为什么</a:t>
            </a:r>
            <a:r>
              <a:rPr lang="en-US" altLang="zh-CN" sz="2400" dirty="0"/>
              <a:t>pH</a:t>
            </a:r>
            <a:r>
              <a:rPr lang="zh-CN" altLang="en-US" sz="2400" dirty="0"/>
              <a:t>被认为是系统的</a:t>
            </a:r>
            <a:r>
              <a:rPr lang="en-US" altLang="zh-CN" sz="2400" dirty="0"/>
              <a:t>master variable?</a:t>
            </a:r>
          </a:p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r>
              <a:rPr lang="zh-CN" altLang="en-US" sz="2400" dirty="0"/>
              <a:t>一个系统除了</a:t>
            </a:r>
            <a:r>
              <a:rPr lang="en-US" altLang="zh-CN" sz="2400" dirty="0"/>
              <a:t>pH</a:t>
            </a:r>
            <a:r>
              <a:rPr lang="zh-CN" altLang="en-US" sz="2400" dirty="0"/>
              <a:t>之外还有没有</a:t>
            </a:r>
            <a:r>
              <a:rPr lang="en-US" altLang="zh-CN" sz="2400" dirty="0"/>
              <a:t>master variable</a:t>
            </a:r>
            <a:r>
              <a:rPr lang="zh-CN" altLang="en-US" sz="2400" dirty="0"/>
              <a:t>？</a:t>
            </a:r>
            <a:endParaRPr lang="en-US" altLang="zh-CN" sz="2400" dirty="0"/>
          </a:p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r>
              <a:rPr lang="zh-CN" altLang="en-US" sz="2400" dirty="0"/>
              <a:t>在海水系统里</a:t>
            </a:r>
            <a:r>
              <a:rPr lang="en-US" altLang="zh-CN" sz="2400" dirty="0"/>
              <a:t>pH</a:t>
            </a:r>
            <a:r>
              <a:rPr lang="zh-CN" altLang="en-US" sz="2400" dirty="0"/>
              <a:t>常常与碳酸盐系统联系在一起，这是为什么？</a:t>
            </a:r>
            <a:endParaRPr lang="en-US" altLang="zh-CN" sz="2400" dirty="0"/>
          </a:p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r>
              <a:rPr lang="zh-CN" altLang="en-US" sz="2400" dirty="0"/>
              <a:t>测量海水的</a:t>
            </a:r>
            <a:r>
              <a:rPr lang="en-US" altLang="zh-CN" sz="2400" dirty="0"/>
              <a:t>pH</a:t>
            </a:r>
            <a:r>
              <a:rPr lang="zh-CN" altLang="en-US" sz="2400" dirty="0"/>
              <a:t>值近年来（</a:t>
            </a:r>
            <a:r>
              <a:rPr lang="en-US" altLang="zh-CN" sz="2400" dirty="0"/>
              <a:t>~1999</a:t>
            </a:r>
            <a:r>
              <a:rPr lang="zh-CN" altLang="en-US" sz="2400" dirty="0"/>
              <a:t>）又成为一个热点，其原因是海水酸化</a:t>
            </a:r>
            <a:endParaRPr lang="en-US" altLang="zh-CN" sz="2400" dirty="0"/>
          </a:p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endParaRPr lang="en-US" altLang="zh-CN" sz="2400" dirty="0"/>
          </a:p>
          <a:p>
            <a:pPr marL="971550" lvl="1" indent="-571500">
              <a:buNone/>
            </a:pPr>
            <a:r>
              <a:rPr lang="en-US" altLang="zh-CN" dirty="0"/>
              <a:t>    </a:t>
            </a:r>
          </a:p>
          <a:p>
            <a:pPr marL="571500" indent="-571500">
              <a:buFont typeface="Wingdings" pitchFamily="2" charset="2"/>
              <a:buChar char="Ø"/>
            </a:pPr>
            <a:endParaRPr lang="en-US" altLang="zh-CN" dirty="0"/>
          </a:p>
          <a:p>
            <a:pPr marL="571500" indent="-57150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3569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1000108"/>
            <a:ext cx="8640763" cy="2519362"/>
          </a:xfrm>
        </p:spPr>
        <p:txBody>
          <a:bodyPr/>
          <a:lstStyle/>
          <a:p>
            <a:pPr algn="ctr" eaLnBrk="1" hangingPunct="1">
              <a:lnSpc>
                <a:spcPct val="105000"/>
              </a:lnSpc>
            </a:pPr>
            <a:r>
              <a:rPr lang="zh-CN" altLang="en-US" sz="6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升高的</a:t>
            </a:r>
            <a:r>
              <a:rPr lang="en-US" altLang="zh-CN" sz="6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CO</a:t>
            </a:r>
            <a:r>
              <a:rPr lang="en-US" altLang="zh-CN" sz="6000" b="1" baseline="-250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br>
              <a:rPr lang="en-US" altLang="zh-CN" sz="6000" b="1" baseline="-250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5400" b="1" dirty="0">
                <a:latin typeface="黑体" pitchFamily="49" charset="-122"/>
                <a:ea typeface="黑体" pitchFamily="49" charset="-122"/>
              </a:rPr>
              <a:t>能被地球系统吸收吗？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03237" y="3500438"/>
            <a:ext cx="8640763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海水降低的</a:t>
            </a:r>
            <a:r>
              <a:rPr kumimoji="0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pH</a:t>
            </a: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值</a:t>
            </a:r>
            <a:br>
              <a:rPr kumimoji="0" lang="en-US" altLang="zh-CN" sz="60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</a:b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能被海洋系统自动修复吗？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7704" y="404664"/>
            <a:ext cx="5256584" cy="782960"/>
          </a:xfrm>
          <a:ln w="22225"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热力学和动力学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584" y="1412776"/>
            <a:ext cx="7762056" cy="4824536"/>
          </a:xfrm>
        </p:spPr>
        <p:txBody>
          <a:bodyPr/>
          <a:lstStyle/>
          <a:p>
            <a:r>
              <a:rPr lang="zh-CN" altLang="en-US" dirty="0"/>
              <a:t>海洋</a:t>
            </a:r>
            <a:endParaRPr lang="en-US" altLang="zh-CN" dirty="0"/>
          </a:p>
          <a:p>
            <a:pPr lvl="1"/>
            <a:r>
              <a:rPr lang="zh-CN" altLang="en-US" dirty="0"/>
              <a:t>海水的酸化</a:t>
            </a:r>
            <a:endParaRPr lang="en-US" altLang="zh-CN" dirty="0"/>
          </a:p>
          <a:p>
            <a:pPr lvl="1"/>
            <a:r>
              <a:rPr lang="en-US" altLang="zh-CN" dirty="0"/>
              <a:t>pH</a:t>
            </a:r>
            <a:r>
              <a:rPr lang="zh-CN" altLang="en-US" dirty="0"/>
              <a:t>值主要是由碳酸盐和硅铝盐类控制</a:t>
            </a:r>
            <a:endParaRPr lang="en-US" altLang="zh-CN" dirty="0"/>
          </a:p>
          <a:p>
            <a:pPr lvl="1"/>
            <a:r>
              <a:rPr lang="zh-CN" altLang="en-US" dirty="0"/>
              <a:t>硅铝盐的缓冲能力约为碳酸盐系统的</a:t>
            </a:r>
            <a:r>
              <a:rPr lang="en-US" altLang="zh-CN" dirty="0"/>
              <a:t>2000</a:t>
            </a:r>
            <a:r>
              <a:rPr lang="zh-CN" altLang="en-US" dirty="0"/>
              <a:t>倍</a:t>
            </a:r>
            <a:endParaRPr lang="en-US" altLang="zh-CN" dirty="0"/>
          </a:p>
          <a:p>
            <a:pPr lvl="1"/>
            <a:r>
              <a:rPr lang="zh-CN" altLang="en-US" dirty="0"/>
              <a:t>大气二氧化碳浓度上升</a:t>
            </a:r>
            <a:r>
              <a:rPr lang="en-US" altLang="zh-CN" dirty="0"/>
              <a:t>2.5</a:t>
            </a:r>
            <a:r>
              <a:rPr lang="zh-CN" altLang="en-US" dirty="0"/>
              <a:t>倍，表层海水</a:t>
            </a:r>
            <a:r>
              <a:rPr lang="en-US" altLang="zh-CN" dirty="0"/>
              <a:t>pH</a:t>
            </a:r>
            <a:r>
              <a:rPr lang="zh-CN" altLang="en-US" dirty="0"/>
              <a:t>将减少</a:t>
            </a:r>
            <a:r>
              <a:rPr lang="en-US" altLang="zh-CN" dirty="0"/>
              <a:t>0.2</a:t>
            </a:r>
            <a:r>
              <a:rPr lang="zh-CN" altLang="en-US" dirty="0"/>
              <a:t>个单位</a:t>
            </a:r>
            <a:endParaRPr lang="en-US" altLang="zh-CN" dirty="0"/>
          </a:p>
          <a:p>
            <a:pPr lvl="1"/>
            <a:r>
              <a:rPr lang="zh-CN" altLang="en-US" dirty="0"/>
              <a:t>碳酸钙溶解，硅铝系统重新平衡，使得</a:t>
            </a:r>
            <a:r>
              <a:rPr lang="en-US" altLang="zh-CN" dirty="0"/>
              <a:t>pH</a:t>
            </a:r>
            <a:r>
              <a:rPr lang="zh-CN" altLang="en-US" dirty="0"/>
              <a:t>重新恢复到原始值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3284984"/>
            <a:ext cx="6480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耗时需要数百年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6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9"/>
          <p:cNvSpPr>
            <a:spLocks noChangeArrowheads="1"/>
          </p:cNvSpPr>
          <p:nvPr/>
        </p:nvSpPr>
        <p:spPr bwMode="auto">
          <a:xfrm>
            <a:off x="395536" y="1772816"/>
            <a:ext cx="8064252" cy="49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10800" rIns="18000" bIns="10800" anchor="ctr">
            <a:spAutoFit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zh-CN" sz="1200" b="0" dirty="0">
                <a:latin typeface="Arial" charset="0"/>
                <a:ea typeface="宋体" charset="-122"/>
                <a:cs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海洋中的无机碳主要包含于二氧化碳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—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碳酸盐系统：</a:t>
            </a:r>
          </a:p>
        </p:txBody>
      </p:sp>
      <p:sp>
        <p:nvSpPr>
          <p:cNvPr id="1033" name="Rectangle 20"/>
          <p:cNvSpPr>
            <a:spLocks noChangeArrowheads="1"/>
          </p:cNvSpPr>
          <p:nvPr/>
        </p:nvSpPr>
        <p:spPr bwMode="auto">
          <a:xfrm>
            <a:off x="0" y="3408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7" name="Object 17"/>
          <p:cNvGraphicFramePr>
            <a:graphicFrameLocks noChangeAspect="1"/>
          </p:cNvGraphicFramePr>
          <p:nvPr/>
        </p:nvGraphicFramePr>
        <p:xfrm>
          <a:off x="642938" y="2643188"/>
          <a:ext cx="80010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3" imgW="2908080" imgH="533160" progId="">
                  <p:embed/>
                </p:oleObj>
              </mc:Choice>
              <mc:Fallback>
                <p:oleObj name="Equation" r:id="rId3" imgW="2908080" imgH="53316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643188"/>
                        <a:ext cx="8001000" cy="14478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Rectangle 21"/>
          <p:cNvSpPr>
            <a:spLocks noChangeArrowheads="1"/>
          </p:cNvSpPr>
          <p:nvPr/>
        </p:nvSpPr>
        <p:spPr bwMode="auto">
          <a:xfrm>
            <a:off x="0" y="36845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5" name="Rectangle 22"/>
          <p:cNvSpPr>
            <a:spLocks noChangeArrowheads="1"/>
          </p:cNvSpPr>
          <p:nvPr/>
        </p:nvSpPr>
        <p:spPr bwMode="auto">
          <a:xfrm>
            <a:off x="-900113" y="4149725"/>
            <a:ext cx="9144001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1043608" y="353847"/>
            <a:ext cx="7056784" cy="1152128"/>
          </a:xfrm>
          <a:ln w="22225">
            <a:noFill/>
          </a:ln>
        </p:spPr>
        <p:txBody>
          <a:bodyPr/>
          <a:lstStyle/>
          <a:p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6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b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</a:br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             </a:t>
            </a:r>
            <a:r>
              <a:rPr lang="en-US" altLang="zh-CN" sz="36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——</a:t>
            </a:r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硅铝盐系统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584" y="1340768"/>
            <a:ext cx="7272808" cy="864096"/>
          </a:xfrm>
        </p:spPr>
        <p:txBody>
          <a:bodyPr/>
          <a:lstStyle/>
          <a:p>
            <a:r>
              <a:rPr lang="zh-CN" altLang="en-US" sz="2400" dirty="0"/>
              <a:t>海水一般呈弱碱性，</a:t>
            </a:r>
            <a:r>
              <a:rPr lang="en-US" altLang="zh-CN" sz="2400" dirty="0"/>
              <a:t>7.5~8.6</a:t>
            </a:r>
            <a:r>
              <a:rPr lang="zh-CN" altLang="en-US" sz="2400" dirty="0"/>
              <a:t>之间，一般情况表层或近表层</a:t>
            </a:r>
            <a:r>
              <a:rPr lang="en-US" altLang="zh-CN" sz="2400" dirty="0"/>
              <a:t>pH</a:t>
            </a:r>
            <a:r>
              <a:rPr lang="zh-CN" altLang="en-US" sz="2400" dirty="0"/>
              <a:t>较高</a:t>
            </a:r>
            <a:endParaRPr lang="en-US" altLang="zh-CN" sz="2400" dirty="0"/>
          </a:p>
        </p:txBody>
      </p:sp>
      <p:pic>
        <p:nvPicPr>
          <p:cNvPr id="4098" name="Picture 2" descr="E:\课程\海水分析化学 本科\课件\课程图片\海水pH分布示意图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132856"/>
            <a:ext cx="7683971" cy="4206500"/>
          </a:xfrm>
          <a:prstGeom prst="rect">
            <a:avLst/>
          </a:prstGeom>
          <a:noFill/>
        </p:spPr>
      </p:pic>
      <p:sp>
        <p:nvSpPr>
          <p:cNvPr id="7" name="TextBox 24">
            <a:extLst>
              <a:ext uri="{FF2B5EF4-FFF2-40B4-BE49-F238E27FC236}">
                <a16:creationId xmlns:a16="http://schemas.microsoft.com/office/drawing/2014/main" id="{2EFA69E0-7BD8-4086-8B4E-A56FDA236C89}"/>
              </a:ext>
            </a:extLst>
          </p:cNvPr>
          <p:cNvSpPr txBox="1"/>
          <p:nvPr/>
        </p:nvSpPr>
        <p:spPr>
          <a:xfrm>
            <a:off x="1547664" y="518644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5">
            <a:extLst>
              <a:ext uri="{FF2B5EF4-FFF2-40B4-BE49-F238E27FC236}">
                <a16:creationId xmlns:a16="http://schemas.microsoft.com/office/drawing/2014/main" id="{A2D4AFCF-4863-4C14-BC4F-C4FFBDCA7560}"/>
              </a:ext>
            </a:extLst>
          </p:cNvPr>
          <p:cNvSpPr txBox="1">
            <a:spLocks/>
          </p:cNvSpPr>
          <p:nvPr/>
        </p:nvSpPr>
        <p:spPr>
          <a:xfrm>
            <a:off x="457200" y="1484784"/>
            <a:ext cx="8229600" cy="4525963"/>
          </a:xfrm>
          <a:prstGeom prst="rect">
            <a:avLst/>
          </a:prstGeom>
        </p:spPr>
        <p:txBody>
          <a:bodyPr/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lang="zh-CN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lang="zh-CN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lang="zh-CN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dirty="0"/>
              <a:t>提纲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海水中测量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的意义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/>
                </a:solidFill>
              </a:rPr>
              <a:t>影响海水中</a:t>
            </a:r>
            <a:r>
              <a:rPr lang="en-US" altLang="zh-CN" sz="2800" dirty="0">
                <a:solidFill>
                  <a:schemeClr val="tx2"/>
                </a:solidFill>
              </a:rPr>
              <a:t>pH</a:t>
            </a:r>
            <a:r>
              <a:rPr lang="zh-CN" altLang="en-US" sz="2800" dirty="0">
                <a:solidFill>
                  <a:schemeClr val="tx2"/>
                </a:solidFill>
              </a:rPr>
              <a:t>的主要因素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海水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的四种标度</a:t>
            </a:r>
            <a:endParaRPr lang="en-US" altLang="zh-CN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测量海水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的方法</a:t>
            </a:r>
            <a:endParaRPr lang="en-US" altLang="zh-CN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电极法</a:t>
            </a:r>
            <a:endParaRPr lang="en-US" altLang="zh-CN" sz="25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紫外分光光度法</a:t>
            </a:r>
            <a:endParaRPr lang="en-US" altLang="zh-CN" sz="25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EA2362A1-586F-44D1-BA02-A8DFEFCD7525}"/>
              </a:ext>
            </a:extLst>
          </p:cNvPr>
          <p:cNvSpPr txBox="1"/>
          <p:nvPr/>
        </p:nvSpPr>
        <p:spPr>
          <a:xfrm>
            <a:off x="1547664" y="548680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616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3648" y="260648"/>
            <a:ext cx="6408712" cy="782960"/>
          </a:xfrm>
          <a:ln w="22225">
            <a:noFill/>
          </a:ln>
        </p:spPr>
        <p:txBody>
          <a:bodyPr/>
          <a:lstStyle/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第八章 影响海水中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的主要因素</a:t>
            </a:r>
          </a:p>
        </p:txBody>
      </p:sp>
      <p:pic>
        <p:nvPicPr>
          <p:cNvPr id="6146" name="Picture 2" descr="E:\课程\海水分析化学 本科\课件\课程图片\pH影响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196752"/>
            <a:ext cx="7101235" cy="1708076"/>
          </a:xfrm>
          <a:prstGeom prst="rect">
            <a:avLst/>
          </a:prstGeom>
          <a:noFill/>
        </p:spPr>
      </p:pic>
      <p:pic>
        <p:nvPicPr>
          <p:cNvPr id="6147" name="Picture 3" descr="E:\课程\海水分析化学 本科\课件\课程图片\pH影响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2924944"/>
            <a:ext cx="6499647" cy="1290982"/>
          </a:xfrm>
          <a:prstGeom prst="rect">
            <a:avLst/>
          </a:prstGeom>
          <a:noFill/>
        </p:spPr>
      </p:pic>
      <p:pic>
        <p:nvPicPr>
          <p:cNvPr id="6148" name="Picture 4" descr="E:\课程\海水分析化学 本科\课件\课程图片\pH影响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4149080"/>
            <a:ext cx="6306865" cy="875784"/>
          </a:xfrm>
          <a:prstGeom prst="rect">
            <a:avLst/>
          </a:prstGeom>
          <a:noFill/>
        </p:spPr>
      </p:pic>
      <p:pic>
        <p:nvPicPr>
          <p:cNvPr id="6149" name="Picture 5" descr="E:\课程\海水分析化学 本科\课件\课程图片\pH影响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43608" y="5085184"/>
            <a:ext cx="6696744" cy="11619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:\课程\海水分析化学 本科\课件\课程图片\pH的影响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340768"/>
            <a:ext cx="7344816" cy="2947244"/>
          </a:xfrm>
          <a:prstGeom prst="rect">
            <a:avLst/>
          </a:prstGeom>
          <a:noFill/>
        </p:spPr>
      </p:pic>
      <p:pic>
        <p:nvPicPr>
          <p:cNvPr id="7171" name="Picture 3" descr="E:\课程\海水分析化学 本科\课件\课程图片\pH的影响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4437112"/>
            <a:ext cx="7272808" cy="1327155"/>
          </a:xfrm>
          <a:prstGeom prst="rect">
            <a:avLst/>
          </a:prstGeom>
          <a:noFill/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9D99F725-0B76-442F-915B-D5A56AE84617}"/>
              </a:ext>
            </a:extLst>
          </p:cNvPr>
          <p:cNvSpPr txBox="1"/>
          <p:nvPr/>
        </p:nvSpPr>
        <p:spPr>
          <a:xfrm>
            <a:off x="1475656" y="389056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C:\Users\402\Desktop\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348880"/>
            <a:ext cx="7704856" cy="3968384"/>
          </a:xfrm>
          <a:prstGeom prst="rect">
            <a:avLst/>
          </a:prstGeom>
          <a:noFill/>
        </p:spPr>
      </p:pic>
      <p:sp>
        <p:nvSpPr>
          <p:cNvPr id="7" name="矩形 6"/>
          <p:cNvSpPr/>
          <p:nvPr/>
        </p:nvSpPr>
        <p:spPr>
          <a:xfrm>
            <a:off x="467544" y="1412776"/>
            <a:ext cx="6984776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spcBef>
                <a:spcPts val="600"/>
              </a:spcBef>
              <a:buBlip>
                <a:blip r:embed="rId3"/>
              </a:buBlip>
            </a:pPr>
            <a:r>
              <a:rPr lang="zh-CN" altLang="en-US" sz="2400" dirty="0"/>
              <a:t>为什么</a:t>
            </a:r>
            <a:r>
              <a:rPr lang="en-US" altLang="zh-CN" sz="2400" dirty="0"/>
              <a:t>pH</a:t>
            </a:r>
            <a:r>
              <a:rPr lang="zh-CN" altLang="en-US" sz="2400" dirty="0"/>
              <a:t>被认为是系统的</a:t>
            </a:r>
            <a:r>
              <a:rPr lang="en-US" altLang="zh-CN" sz="2400" dirty="0"/>
              <a:t>master variable?</a:t>
            </a:r>
          </a:p>
          <a:p>
            <a:pPr marL="571500" indent="-571500">
              <a:spcBef>
                <a:spcPts val="600"/>
              </a:spcBef>
              <a:buBlip>
                <a:blip r:embed="rId3"/>
              </a:buBlip>
            </a:pPr>
            <a:r>
              <a:rPr lang="zh-CN" altLang="en-US" sz="2400" dirty="0"/>
              <a:t>海洋中研究</a:t>
            </a:r>
            <a:r>
              <a:rPr lang="en-US" altLang="zh-CN" sz="2400" dirty="0"/>
              <a:t>pH</a:t>
            </a:r>
            <a:r>
              <a:rPr lang="zh-CN" altLang="en-US" sz="2400" dirty="0"/>
              <a:t>的意义</a:t>
            </a:r>
            <a:endParaRPr lang="en-US" altLang="zh-CN" sz="2400"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50642BA5-3871-451C-84A9-EEE3F9E6E3F3}"/>
              </a:ext>
            </a:extLst>
          </p:cNvPr>
          <p:cNvSpPr txBox="1"/>
          <p:nvPr/>
        </p:nvSpPr>
        <p:spPr>
          <a:xfrm>
            <a:off x="1547664" y="332656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5">
            <a:extLst>
              <a:ext uri="{FF2B5EF4-FFF2-40B4-BE49-F238E27FC236}">
                <a16:creationId xmlns:a16="http://schemas.microsoft.com/office/drawing/2014/main" id="{A2D4AFCF-4863-4C14-BC4F-C4FFBDCA7560}"/>
              </a:ext>
            </a:extLst>
          </p:cNvPr>
          <p:cNvSpPr txBox="1">
            <a:spLocks/>
          </p:cNvSpPr>
          <p:nvPr/>
        </p:nvSpPr>
        <p:spPr>
          <a:xfrm>
            <a:off x="457200" y="1484784"/>
            <a:ext cx="8229600" cy="4525963"/>
          </a:xfrm>
          <a:prstGeom prst="rect">
            <a:avLst/>
          </a:prstGeom>
        </p:spPr>
        <p:txBody>
          <a:bodyPr/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lang="zh-CN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lang="zh-CN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lang="zh-CN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dirty="0"/>
              <a:t>提纲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海水中测量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的意义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影响海水中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的主要因素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/>
                </a:solidFill>
              </a:rPr>
              <a:t>海水</a:t>
            </a:r>
            <a:r>
              <a:rPr lang="en-US" altLang="zh-CN" sz="2800" dirty="0">
                <a:solidFill>
                  <a:schemeClr val="tx2"/>
                </a:solidFill>
              </a:rPr>
              <a:t>pH</a:t>
            </a:r>
            <a:r>
              <a:rPr lang="zh-CN" altLang="en-US" sz="2800" dirty="0">
                <a:solidFill>
                  <a:schemeClr val="tx2"/>
                </a:solidFill>
              </a:rPr>
              <a:t>的四种标度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测量海水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的方法</a:t>
            </a:r>
            <a:endParaRPr lang="en-US" altLang="zh-CN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电极法</a:t>
            </a:r>
            <a:endParaRPr lang="en-US" altLang="zh-CN" sz="25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紫外分光光度法</a:t>
            </a:r>
            <a:endParaRPr lang="en-US" altLang="zh-CN" sz="25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EA2362A1-586F-44D1-BA02-A8DFEFCD7525}"/>
              </a:ext>
            </a:extLst>
          </p:cNvPr>
          <p:cNvSpPr txBox="1"/>
          <p:nvPr/>
        </p:nvSpPr>
        <p:spPr>
          <a:xfrm>
            <a:off x="1547664" y="548680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6883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>
          <a:xfrm>
            <a:off x="1475656" y="188640"/>
            <a:ext cx="3024188" cy="576262"/>
          </a:xfrm>
          <a:noFill/>
        </p:spPr>
        <p:txBody>
          <a:bodyPr>
            <a:noAutofit/>
          </a:bodyPr>
          <a:lstStyle/>
          <a:p>
            <a:pPr marL="1066800" indent="-1066800" algn="l" eaLnBrk="1" hangingPunct="1"/>
            <a:r>
              <a:rPr lang="zh-CN" altLang="en-US" sz="32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lang="en-US" altLang="zh-CN" sz="32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lang="zh-CN" altLang="en-US" sz="32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395288" y="1125538"/>
            <a:ext cx="8353425" cy="7725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实际工作会采用不同标准，衍生出不同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标度：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  <a:r>
              <a:rPr lang="en-US" altLang="zh-CN" sz="2800" dirty="0" err="1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lang="en-US" altLang="zh-CN" sz="2800" baseline="-25000" dirty="0" err="1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NBS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标度，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美国国家标准局提出，</a:t>
            </a:r>
            <a:r>
              <a:rPr lang="en-US" altLang="zh-CN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0.05 mol/dm</a:t>
            </a:r>
            <a:r>
              <a:rPr lang="en-US" altLang="zh-CN" sz="2800" baseline="300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邻苯二甲酸氢钾溶液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存在问题：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标准溶液离子强度（</a:t>
            </a:r>
            <a:r>
              <a:rPr lang="en-US" altLang="zh-CN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0.1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）与海水（</a:t>
            </a:r>
            <a:r>
              <a:rPr lang="en-US" altLang="zh-CN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0.7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  <a:endParaRPr lang="en-US" altLang="zh-CN" sz="2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              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差异大，测量误差大于期望精确度                     </a:t>
            </a:r>
            <a:endParaRPr lang="en-US" altLang="zh-CN" sz="2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             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0.01-0.001 pH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单位）</a:t>
            </a:r>
            <a:endParaRPr lang="en-US" altLang="zh-CN" sz="2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987425" indent="-987425">
              <a:lnSpc>
                <a:spcPct val="150000"/>
              </a:lnSpc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标度，</a:t>
            </a:r>
            <a:r>
              <a:rPr lang="en-US" altLang="zh-CN" sz="2800" dirty="0" err="1"/>
              <a:t>Hansoon</a:t>
            </a:r>
            <a:r>
              <a:rPr lang="en-US" altLang="zh-CN" sz="2800" dirty="0"/>
              <a:t> Scale 1973</a:t>
            </a:r>
            <a:r>
              <a:rPr lang="zh-CN" altLang="en-US" sz="2800" dirty="0"/>
              <a:t>年提出，以人工海水配置的有机缓冲溶液作为标准品</a:t>
            </a:r>
            <a:endParaRPr lang="en-US" altLang="zh-CN" sz="2000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endParaRPr lang="zh-CN" altLang="en-US" sz="2800" dirty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endParaRPr lang="en-US" altLang="zh-CN" sz="2800" dirty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</a:t>
            </a:r>
          </a:p>
          <a:p>
            <a:pPr>
              <a:lnSpc>
                <a:spcPct val="150000"/>
              </a:lnSpc>
              <a:buFontTx/>
              <a:buNone/>
            </a:pPr>
            <a:endParaRPr lang="en-US" altLang="zh-CN"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endParaRPr lang="zh-CN" altLang="en-US"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4" name="Rectangle 14"/>
          <p:cNvSpPr>
            <a:spLocks noChangeArrowheads="1"/>
          </p:cNvSpPr>
          <p:nvPr/>
        </p:nvSpPr>
        <p:spPr bwMode="auto">
          <a:xfrm>
            <a:off x="0" y="3100388"/>
            <a:ext cx="9144000" cy="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 lIns="18000" tIns="36000" rIns="18000" bIns="10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8" name="Object 13"/>
          <p:cNvGraphicFramePr>
            <a:graphicFrameLocks noChangeAspect="1"/>
          </p:cNvGraphicFramePr>
          <p:nvPr/>
        </p:nvGraphicFramePr>
        <p:xfrm>
          <a:off x="971600" y="5589240"/>
          <a:ext cx="64071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Equation" r:id="rId3" imgW="2349500" imgH="241300" progId="Equation.DSMT4">
                  <p:embed/>
                </p:oleObj>
              </mc:Choice>
              <mc:Fallback>
                <p:oleObj name="Equation" r:id="rId3" imgW="2349500" imgH="241300" progId="Equation.DSMT4">
                  <p:embed/>
                  <p:pic>
                    <p:nvPicPr>
                      <p:cNvPr id="409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5589240"/>
                        <a:ext cx="6407150" cy="6477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9"/>
          <p:cNvGraphicFramePr>
            <a:graphicFrameLocks noChangeAspect="1"/>
          </p:cNvGraphicFramePr>
          <p:nvPr/>
        </p:nvGraphicFramePr>
        <p:xfrm>
          <a:off x="4572000" y="332656"/>
          <a:ext cx="382587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公式" r:id="rId5" imgW="1384200" imgH="241200" progId="">
                  <p:embed/>
                </p:oleObj>
              </mc:Choice>
              <mc:Fallback>
                <p:oleObj name="公式" r:id="rId5" imgW="1384200" imgH="241200" progId="">
                  <p:embed/>
                  <p:pic>
                    <p:nvPicPr>
                      <p:cNvPr id="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2656"/>
                        <a:ext cx="3825875" cy="6588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58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1"/>
          <p:cNvSpPr>
            <a:spLocks noGrp="1" noChangeArrowheads="1"/>
          </p:cNvSpPr>
          <p:nvPr>
            <p:ph sz="half" idx="1"/>
          </p:nvPr>
        </p:nvSpPr>
        <p:spPr bwMode="auto">
          <a:xfrm>
            <a:off x="477404" y="3900378"/>
            <a:ext cx="8219256" cy="656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4.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dirty="0" err="1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lang="en-US" altLang="zh-CN" sz="2800" baseline="-25000" dirty="0" err="1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sw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，待测溶液中除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HSO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lang="en-US" altLang="zh-CN" sz="2800" baseline="300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外还有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HF</a:t>
            </a:r>
            <a:endParaRPr lang="zh-CN" altLang="en-US" sz="2800" dirty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1580" y="5061083"/>
            <a:ext cx="70567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rgbClr val="C00000"/>
                </a:solidFill>
              </a:rPr>
              <a:t>问题： 仍然有很多文章在讨论</a:t>
            </a:r>
            <a:r>
              <a:rPr lang="en-US" altLang="zh-CN" sz="2400" dirty="0">
                <a:solidFill>
                  <a:srgbClr val="C00000"/>
                </a:solidFill>
              </a:rPr>
              <a:t>pH scale</a:t>
            </a:r>
            <a:r>
              <a:rPr lang="zh-CN" altLang="en-US" sz="2400" dirty="0">
                <a:solidFill>
                  <a:srgbClr val="C00000"/>
                </a:solidFill>
              </a:rPr>
              <a:t>的问题，依然有很多</a:t>
            </a:r>
            <a:r>
              <a:rPr lang="en-US" altLang="zh-CN" sz="2400" dirty="0">
                <a:solidFill>
                  <a:srgbClr val="C00000"/>
                </a:solidFill>
              </a:rPr>
              <a:t>paper</a:t>
            </a:r>
            <a:r>
              <a:rPr lang="zh-CN" altLang="en-US" sz="2400" dirty="0">
                <a:solidFill>
                  <a:srgbClr val="C00000"/>
                </a:solidFill>
              </a:rPr>
              <a:t>不给出所用的</a:t>
            </a:r>
            <a:r>
              <a:rPr lang="en-US" altLang="zh-CN" sz="2400" dirty="0">
                <a:solidFill>
                  <a:srgbClr val="C00000"/>
                </a:solidFill>
              </a:rPr>
              <a:t>pH scale</a:t>
            </a:r>
            <a:r>
              <a:rPr lang="zh-CN" altLang="en-US" sz="2400" dirty="0">
                <a:solidFill>
                  <a:srgbClr val="C00000"/>
                </a:solidFill>
              </a:rPr>
              <a:t>的标度，很多实验室仍然用</a:t>
            </a:r>
            <a:r>
              <a:rPr lang="en-US" altLang="zh-CN" sz="2400" dirty="0">
                <a:solidFill>
                  <a:srgbClr val="C00000"/>
                </a:solidFill>
              </a:rPr>
              <a:t>NBS scale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67544" y="1196752"/>
            <a:ext cx="7704856" cy="2600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en-US" altLang="zh-CN" sz="2800" dirty="0" err="1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lang="en-US" altLang="zh-CN" sz="2800" baseline="-25000" dirty="0" err="1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F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标度（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H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 ，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F</a:t>
            </a:r>
            <a:r>
              <a:rPr lang="zh-CN" altLang="zh-CN" sz="2800" dirty="0"/>
              <a:t>游离氢离子浓度标度</a:t>
            </a:r>
            <a:endParaRPr lang="en-US" altLang="zh-CN" sz="2800" dirty="0"/>
          </a:p>
          <a:p>
            <a:pPr marL="514350" indent="-514350">
              <a:lnSpc>
                <a:spcPct val="150000"/>
              </a:lnSpc>
              <a:buAutoNum type="arabicPeriod" startAt="3"/>
            </a:pPr>
            <a:endParaRPr lang="en-US" altLang="zh-CN" sz="2800" dirty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 startAt="3"/>
            </a:pPr>
            <a:endParaRPr lang="en-US" altLang="zh-CN" sz="2800" dirty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800" dirty="0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31640" y="1844824"/>
            <a:ext cx="5112568" cy="648072"/>
          </a:xfrm>
          <a:prstGeom prst="rect">
            <a:avLst/>
          </a:prstGeom>
          <a:noFill/>
        </p:spPr>
      </p:pic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75656" y="188640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AE6A9C-B36C-442D-B384-4310B4749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669480"/>
            <a:ext cx="5905500" cy="9429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875229B-80CF-4052-9D00-889570299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386901"/>
            <a:ext cx="38671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29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03648" y="432743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pic>
        <p:nvPicPr>
          <p:cNvPr id="76802" name="Picture 2" descr="C:\Users\402\Desktop\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844824"/>
            <a:ext cx="7344816" cy="3109409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539552" y="1340768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1. NBS scale</a:t>
            </a:r>
            <a:endParaRPr lang="zh-CN" altLang="en-US" sz="2800" dirty="0"/>
          </a:p>
        </p:txBody>
      </p:sp>
      <p:pic>
        <p:nvPicPr>
          <p:cNvPr id="76803" name="Picture 3" descr="C:\Users\402\Desktop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5013176"/>
            <a:ext cx="5400675" cy="1123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3149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09214" y="366027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552" y="1340768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1. NBS scale</a:t>
            </a:r>
            <a:endParaRPr lang="zh-CN" alt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19BDBB-F35F-4EE3-9699-CDCE4E6D0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863988"/>
            <a:ext cx="6552728" cy="20288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849CEF-5A41-419B-B324-EF95FC74D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053686"/>
            <a:ext cx="6480720" cy="18764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A5541BF-E987-4722-A415-17940E9BCCE8}"/>
              </a:ext>
            </a:extLst>
          </p:cNvPr>
          <p:cNvSpPr/>
          <p:nvPr/>
        </p:nvSpPr>
        <p:spPr bwMode="auto">
          <a:xfrm>
            <a:off x="1259632" y="2878400"/>
            <a:ext cx="6408712" cy="622603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462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57549" y="395939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6073C4B-6843-440C-85D5-D2491DFE0AF7}"/>
              </a:ext>
            </a:extLst>
          </p:cNvPr>
          <p:cNvSpPr txBox="1"/>
          <p:nvPr/>
        </p:nvSpPr>
        <p:spPr>
          <a:xfrm>
            <a:off x="539552" y="13407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2. Hansson scale — pH</a:t>
            </a:r>
            <a:r>
              <a:rPr lang="en-US" altLang="zh-CN" sz="2800" baseline="-25000" dirty="0"/>
              <a:t>T</a:t>
            </a:r>
            <a:endParaRPr lang="zh-CN" altLang="en-US" sz="2800" baseline="-25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67428B-38EA-4C70-9916-5B5D3904D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863988"/>
            <a:ext cx="7128792" cy="11345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2C8B001-A199-4961-A5AA-5B6F74952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032650"/>
            <a:ext cx="6480720" cy="14764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12024D-17A1-46BF-A7BE-C0CFF4F09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94" y="4543280"/>
            <a:ext cx="6566595" cy="126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30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57549" y="395939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6073C4B-6843-440C-85D5-D2491DFE0AF7}"/>
              </a:ext>
            </a:extLst>
          </p:cNvPr>
          <p:cNvSpPr txBox="1"/>
          <p:nvPr/>
        </p:nvSpPr>
        <p:spPr>
          <a:xfrm>
            <a:off x="539552" y="13407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2. Hansson scale — pH</a:t>
            </a:r>
            <a:r>
              <a:rPr lang="en-US" altLang="zh-CN" sz="2800" baseline="-25000" dirty="0"/>
              <a:t>T</a:t>
            </a:r>
            <a:endParaRPr lang="zh-CN" altLang="en-US" sz="2800" baseline="-25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F8BCED-0638-4C88-9670-8B0606781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63988"/>
            <a:ext cx="6984776" cy="252353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6C73A55-C30A-4928-9CFC-68F4B0C91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910740"/>
            <a:ext cx="6585525" cy="82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3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57549" y="395939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6073C4B-6843-440C-85D5-D2491DFE0AF7}"/>
              </a:ext>
            </a:extLst>
          </p:cNvPr>
          <p:cNvSpPr txBox="1"/>
          <p:nvPr/>
        </p:nvSpPr>
        <p:spPr>
          <a:xfrm>
            <a:off x="539552" y="13407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2. Hansson scale — pH</a:t>
            </a:r>
            <a:r>
              <a:rPr lang="en-US" altLang="zh-CN" sz="2800" baseline="-25000" dirty="0"/>
              <a:t>T</a:t>
            </a:r>
            <a:endParaRPr lang="zh-CN" altLang="en-US" sz="2800" baseline="-25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7D9958-4FE6-4A20-BF68-802C54496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846672"/>
            <a:ext cx="5600700" cy="18002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4CE9C6-1535-43FF-A610-30A01AE50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671714"/>
            <a:ext cx="5667375" cy="6667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191CF9D-F654-449B-8528-30880F1B1D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18" y="4363281"/>
            <a:ext cx="562927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73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57549" y="395939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6073C4B-6843-440C-85D5-D2491DFE0AF7}"/>
              </a:ext>
            </a:extLst>
          </p:cNvPr>
          <p:cNvSpPr txBox="1"/>
          <p:nvPr/>
        </p:nvSpPr>
        <p:spPr>
          <a:xfrm>
            <a:off x="539552" y="13407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3. </a:t>
            </a:r>
            <a:r>
              <a:rPr lang="zh-CN" altLang="en-US" sz="2800" dirty="0"/>
              <a:t>游离氢离子浓度标度</a:t>
            </a:r>
            <a:r>
              <a:rPr lang="en-US" altLang="zh-CN" sz="2800" dirty="0"/>
              <a:t> — p</a:t>
            </a:r>
            <a:r>
              <a:rPr lang="en-US" altLang="zh-CN" sz="2800" baseline="-25000" dirty="0"/>
              <a:t>m</a:t>
            </a:r>
            <a:r>
              <a:rPr lang="en-US" altLang="zh-CN" sz="2800" dirty="0"/>
              <a:t>H</a:t>
            </a:r>
            <a:endParaRPr lang="zh-CN" altLang="en-US" sz="2800" baseline="-25000" dirty="0"/>
          </a:p>
        </p:txBody>
      </p:sp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3E6B9056-1599-4838-8AEC-57CA3E55121D}"/>
              </a:ext>
            </a:extLst>
          </p:cNvPr>
          <p:cNvSpPr txBox="1">
            <a:spLocks/>
          </p:cNvSpPr>
          <p:nvPr/>
        </p:nvSpPr>
        <p:spPr>
          <a:xfrm>
            <a:off x="539552" y="1958106"/>
            <a:ext cx="8229600" cy="4525963"/>
          </a:xfrm>
          <a:prstGeom prst="rect">
            <a:avLst/>
          </a:prstGeom>
        </p:spPr>
        <p:txBody>
          <a:bodyPr/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lang="zh-CN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lang="zh-CN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lang="zh-CN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914400" lvl="1" indent="-457200">
              <a:buFont typeface="+mj-lt"/>
              <a:buAutoNum type="arabicPeriod"/>
            </a:pPr>
            <a:r>
              <a:rPr lang="en-US" altLang="zh-CN" sz="2800" dirty="0">
                <a:solidFill>
                  <a:schemeClr val="tx2"/>
                </a:solidFill>
              </a:rPr>
              <a:t>Hansson</a:t>
            </a:r>
            <a:r>
              <a:rPr lang="zh-CN" altLang="en-US" sz="2800" dirty="0">
                <a:solidFill>
                  <a:schemeClr val="tx2"/>
                </a:solidFill>
              </a:rPr>
              <a:t>标度可用于实测，但对标</a:t>
            </a:r>
            <a:r>
              <a:rPr lang="en-US" altLang="zh-CN" sz="2800" dirty="0">
                <a:solidFill>
                  <a:schemeClr val="tx2"/>
                </a:solidFill>
              </a:rPr>
              <a:t>pH</a:t>
            </a:r>
            <a:r>
              <a:rPr lang="zh-CN" altLang="en-US" sz="2800" dirty="0">
                <a:solidFill>
                  <a:schemeClr val="tx2"/>
                </a:solidFill>
              </a:rPr>
              <a:t>的原始定义是不明晰的。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2800" dirty="0">
                <a:solidFill>
                  <a:schemeClr val="tx2"/>
                </a:solidFill>
              </a:rPr>
              <a:t>Bates</a:t>
            </a:r>
            <a:r>
              <a:rPr lang="zh-CN" altLang="en-US" sz="2800" dirty="0">
                <a:solidFill>
                  <a:schemeClr val="tx2"/>
                </a:solidFill>
              </a:rPr>
              <a:t>提出了游离氢离子浓度标度，以游离氢离子浓度进行定义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zh-CN" alt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/>
                </a:solidFill>
              </a:rPr>
              <a:t>更多的是一种概念上的</a:t>
            </a:r>
            <a:r>
              <a:rPr lang="en-US" altLang="zh-CN" sz="2800" dirty="0">
                <a:solidFill>
                  <a:schemeClr val="tx2"/>
                </a:solidFill>
              </a:rPr>
              <a:t>pH</a:t>
            </a:r>
            <a:r>
              <a:rPr lang="zh-CN" altLang="en-US" sz="2800" dirty="0">
                <a:solidFill>
                  <a:schemeClr val="tx2"/>
                </a:solidFill>
              </a:rPr>
              <a:t>定义，本质上等同于</a:t>
            </a:r>
            <a:r>
              <a:rPr lang="en-US" altLang="zh-CN" sz="2800" dirty="0" err="1">
                <a:solidFill>
                  <a:schemeClr val="tx2"/>
                </a:solidFill>
              </a:rPr>
              <a:t>Hansoon</a:t>
            </a:r>
            <a:r>
              <a:rPr lang="zh-CN" altLang="en-US" sz="2800" dirty="0">
                <a:solidFill>
                  <a:schemeClr val="tx2"/>
                </a:solidFill>
              </a:rPr>
              <a:t>标度</a:t>
            </a:r>
            <a:endParaRPr lang="en-US" altLang="zh-CN" sz="2500" dirty="0"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BE7206-6015-42B8-80B0-F475D012DF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00" t="54868" r="74318" b="43504"/>
          <a:stretch/>
        </p:blipFill>
        <p:spPr>
          <a:xfrm>
            <a:off x="2339752" y="3933056"/>
            <a:ext cx="3204356" cy="3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45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57549" y="395939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6073C4B-6843-440C-85D5-D2491DFE0AF7}"/>
              </a:ext>
            </a:extLst>
          </p:cNvPr>
          <p:cNvSpPr txBox="1"/>
          <p:nvPr/>
        </p:nvSpPr>
        <p:spPr>
          <a:xfrm>
            <a:off x="539552" y="13407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3. </a:t>
            </a:r>
            <a:r>
              <a:rPr lang="zh-CN" altLang="en-US" sz="2800" dirty="0"/>
              <a:t>游离氢离子浓度标度</a:t>
            </a:r>
            <a:r>
              <a:rPr lang="en-US" altLang="zh-CN" sz="2800" dirty="0"/>
              <a:t> — p</a:t>
            </a:r>
            <a:r>
              <a:rPr lang="en-US" altLang="zh-CN" sz="2800" baseline="-25000" dirty="0"/>
              <a:t>m</a:t>
            </a:r>
            <a:r>
              <a:rPr lang="en-US" altLang="zh-CN" sz="2800" dirty="0"/>
              <a:t>H</a:t>
            </a:r>
            <a:endParaRPr lang="zh-CN" altLang="en-US" sz="2800" baseline="-25000" dirty="0"/>
          </a:p>
        </p:txBody>
      </p:sp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3E6B9056-1599-4838-8AEC-57CA3E55121D}"/>
              </a:ext>
            </a:extLst>
          </p:cNvPr>
          <p:cNvSpPr txBox="1">
            <a:spLocks/>
          </p:cNvSpPr>
          <p:nvPr/>
        </p:nvSpPr>
        <p:spPr>
          <a:xfrm>
            <a:off x="539552" y="1958106"/>
            <a:ext cx="8229600" cy="4525963"/>
          </a:xfrm>
          <a:prstGeom prst="rect">
            <a:avLst/>
          </a:prstGeom>
        </p:spPr>
        <p:txBody>
          <a:bodyPr/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lang="zh-CN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lang="zh-CN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lang="zh-CN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914400" lvl="1" indent="-457200">
              <a:buFont typeface="+mj-lt"/>
              <a:buAutoNum type="arabicPeriod"/>
            </a:pPr>
            <a:r>
              <a:rPr lang="en-US" altLang="zh-CN" sz="2800" dirty="0">
                <a:solidFill>
                  <a:schemeClr val="tx2"/>
                </a:solidFill>
              </a:rPr>
              <a:t>Hansson</a:t>
            </a:r>
            <a:r>
              <a:rPr lang="zh-CN" altLang="en-US" sz="2800" dirty="0">
                <a:solidFill>
                  <a:schemeClr val="tx2"/>
                </a:solidFill>
              </a:rPr>
              <a:t>标度可用于实测，但对标</a:t>
            </a:r>
            <a:r>
              <a:rPr lang="en-US" altLang="zh-CN" sz="2800" dirty="0">
                <a:solidFill>
                  <a:schemeClr val="tx2"/>
                </a:solidFill>
              </a:rPr>
              <a:t>pH</a:t>
            </a:r>
            <a:r>
              <a:rPr lang="zh-CN" altLang="en-US" sz="2800" dirty="0">
                <a:solidFill>
                  <a:schemeClr val="tx2"/>
                </a:solidFill>
              </a:rPr>
              <a:t>的原始定义是不明晰的。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2800" dirty="0">
                <a:solidFill>
                  <a:schemeClr val="tx2"/>
                </a:solidFill>
              </a:rPr>
              <a:t>Bates</a:t>
            </a:r>
            <a:r>
              <a:rPr lang="zh-CN" altLang="en-US" sz="2800" dirty="0">
                <a:solidFill>
                  <a:schemeClr val="tx2"/>
                </a:solidFill>
              </a:rPr>
              <a:t>提出了游离氢离子浓度标度，以游离氢离子浓度进行定义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zh-CN" alt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/>
                </a:solidFill>
              </a:rPr>
              <a:t>更多的是一种概念上的</a:t>
            </a:r>
            <a:r>
              <a:rPr lang="en-US" altLang="zh-CN" sz="2800" dirty="0">
                <a:solidFill>
                  <a:schemeClr val="tx2"/>
                </a:solidFill>
              </a:rPr>
              <a:t>pH</a:t>
            </a:r>
            <a:r>
              <a:rPr lang="zh-CN" altLang="en-US" sz="2800" dirty="0">
                <a:solidFill>
                  <a:schemeClr val="tx2"/>
                </a:solidFill>
              </a:rPr>
              <a:t>定义，本质上等同于</a:t>
            </a:r>
            <a:r>
              <a:rPr lang="en-US" altLang="zh-CN" sz="2800" dirty="0" err="1">
                <a:solidFill>
                  <a:schemeClr val="tx2"/>
                </a:solidFill>
              </a:rPr>
              <a:t>Hansoon</a:t>
            </a:r>
            <a:r>
              <a:rPr lang="zh-CN" altLang="en-US" sz="2800" dirty="0">
                <a:solidFill>
                  <a:schemeClr val="tx2"/>
                </a:solidFill>
              </a:rPr>
              <a:t>标度</a:t>
            </a:r>
            <a:endParaRPr lang="en-US" altLang="zh-CN" sz="2500" dirty="0"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BE7206-6015-42B8-80B0-F475D012DF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00" t="54868" r="74318" b="43504"/>
          <a:stretch/>
        </p:blipFill>
        <p:spPr>
          <a:xfrm>
            <a:off x="2339752" y="3933056"/>
            <a:ext cx="3204356" cy="3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49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5">
            <a:extLst>
              <a:ext uri="{FF2B5EF4-FFF2-40B4-BE49-F238E27FC236}">
                <a16:creationId xmlns:a16="http://schemas.microsoft.com/office/drawing/2014/main" id="{A2D4AFCF-4863-4C14-BC4F-C4FFBDCA7560}"/>
              </a:ext>
            </a:extLst>
          </p:cNvPr>
          <p:cNvSpPr txBox="1">
            <a:spLocks/>
          </p:cNvSpPr>
          <p:nvPr/>
        </p:nvSpPr>
        <p:spPr>
          <a:xfrm>
            <a:off x="457200" y="1484784"/>
            <a:ext cx="8229600" cy="4525963"/>
          </a:xfrm>
          <a:prstGeom prst="rect">
            <a:avLst/>
          </a:prstGeom>
        </p:spPr>
        <p:txBody>
          <a:bodyPr/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lang="zh-CN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lang="zh-CN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lang="zh-CN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dirty="0"/>
              <a:t>提纲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海水中测量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的意义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影响海水中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的主要因素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海水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的四种标度</a:t>
            </a:r>
            <a:endParaRPr lang="en-US" altLang="zh-CN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/>
                </a:solidFill>
              </a:rPr>
              <a:t>测量海水</a:t>
            </a:r>
            <a:r>
              <a:rPr lang="en-US" altLang="zh-CN" sz="2800" dirty="0">
                <a:solidFill>
                  <a:schemeClr val="tx2"/>
                </a:solidFill>
              </a:rPr>
              <a:t>pH</a:t>
            </a:r>
            <a:r>
              <a:rPr lang="zh-CN" altLang="en-US" sz="2800" dirty="0">
                <a:solidFill>
                  <a:schemeClr val="tx2"/>
                </a:solidFill>
              </a:rPr>
              <a:t>的方法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>
                <a:solidFill>
                  <a:schemeClr val="tx2"/>
                </a:solidFill>
              </a:rPr>
              <a:t>电极法</a:t>
            </a:r>
            <a:endParaRPr lang="en-US" altLang="zh-CN" sz="2500" dirty="0">
              <a:solidFill>
                <a:schemeClr val="tx2"/>
              </a:solidFill>
            </a:endParaRPr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>
                <a:solidFill>
                  <a:schemeClr val="tx2"/>
                </a:solidFill>
              </a:rPr>
              <a:t>紫外分光光度法</a:t>
            </a:r>
            <a:endParaRPr lang="en-US" altLang="zh-CN" sz="2500" dirty="0"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EA2362A1-586F-44D1-BA02-A8DFEFCD7525}"/>
              </a:ext>
            </a:extLst>
          </p:cNvPr>
          <p:cNvSpPr txBox="1"/>
          <p:nvPr/>
        </p:nvSpPr>
        <p:spPr>
          <a:xfrm>
            <a:off x="1547664" y="548680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0857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00594"/>
          </a:xfrm>
        </p:spPr>
        <p:txBody>
          <a:bodyPr/>
          <a:lstStyle/>
          <a:p>
            <a:r>
              <a:rPr lang="en-US" altLang="zh-CN" dirty="0"/>
              <a:t>pH</a:t>
            </a:r>
            <a:r>
              <a:rPr lang="zh-CN" altLang="en-US" dirty="0"/>
              <a:t>测量方法主要分两种：</a:t>
            </a:r>
            <a:endParaRPr lang="en-US" altLang="zh-CN" dirty="0"/>
          </a:p>
          <a:p>
            <a:pPr marL="523875" indent="-466725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海水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值测定：</a:t>
            </a:r>
            <a:endParaRPr lang="en-US" altLang="zh-CN" dirty="0">
              <a:solidFill>
                <a:srgbClr val="0000FF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电极电位法</a:t>
            </a:r>
            <a:endParaRPr lang="en-US" altLang="zh-CN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紫外分光光度法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pH</a:t>
            </a:r>
            <a:r>
              <a:rPr lang="zh-CN" altLang="en-US" dirty="0"/>
              <a:t>测量中，必须注意</a:t>
            </a:r>
            <a:r>
              <a:rPr lang="en-US" altLang="zh-CN" dirty="0"/>
              <a:t>scale</a:t>
            </a:r>
            <a:r>
              <a:rPr lang="zh-CN" altLang="en-US" dirty="0"/>
              <a:t>标度的选择</a:t>
            </a:r>
            <a:endParaRPr lang="en-US" altLang="zh-CN" dirty="0"/>
          </a:p>
          <a:p>
            <a:r>
              <a:rPr lang="zh-CN" altLang="en-US" dirty="0"/>
              <a:t>为什么存在不同的标度？</a:t>
            </a:r>
            <a:endParaRPr lang="en-US" altLang="zh-CN" dirty="0"/>
          </a:p>
          <a:p>
            <a:r>
              <a:rPr lang="zh-CN" altLang="en-US" dirty="0"/>
              <a:t>什么时候应该用什么标度？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3968" y="2492896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问题：如何体现</a:t>
            </a:r>
            <a:r>
              <a:rPr lang="en-US" altLang="zh-CN" sz="2800" dirty="0">
                <a:solidFill>
                  <a:srgbClr val="FF0000"/>
                </a:solidFill>
              </a:rPr>
              <a:t>pH</a:t>
            </a:r>
            <a:r>
              <a:rPr lang="zh-CN" altLang="en-US" sz="2800" dirty="0">
                <a:solidFill>
                  <a:srgbClr val="FF0000"/>
                </a:solidFill>
              </a:rPr>
              <a:t>的标度？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15E62F7C-4961-43AA-8C6C-F4373494AEB5}"/>
              </a:ext>
            </a:extLst>
          </p:cNvPr>
          <p:cNvSpPr txBox="1"/>
          <p:nvPr/>
        </p:nvSpPr>
        <p:spPr>
          <a:xfrm>
            <a:off x="1524770" y="503965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837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552" y="1268760"/>
            <a:ext cx="8229600" cy="5072097"/>
          </a:xfrm>
        </p:spPr>
        <p:txBody>
          <a:bodyPr/>
          <a:lstStyle/>
          <a:p>
            <a:r>
              <a:rPr lang="zh-CN" altLang="en-US" dirty="0"/>
              <a:t>电极法测量</a:t>
            </a:r>
            <a:r>
              <a:rPr lang="en-US" altLang="zh-CN" dirty="0"/>
              <a:t>pH</a:t>
            </a:r>
          </a:p>
          <a:p>
            <a:pPr lvl="1"/>
            <a:r>
              <a:rPr lang="zh-CN" altLang="en-US" dirty="0"/>
              <a:t>玻璃电极</a:t>
            </a:r>
            <a:endParaRPr lang="en-US" altLang="zh-CN" dirty="0"/>
          </a:p>
          <a:p>
            <a:pPr lvl="1"/>
            <a:r>
              <a:rPr lang="zh-CN" altLang="en-US" dirty="0"/>
              <a:t>通过标准缓冲溶液获得电极的工作曲线</a:t>
            </a:r>
            <a:endParaRPr lang="en-US" altLang="zh-CN" dirty="0"/>
          </a:p>
          <a:p>
            <a:pPr lvl="1"/>
            <a:r>
              <a:rPr lang="zh-CN" altLang="en-US" dirty="0"/>
              <a:t>测量未知溶液的电势</a:t>
            </a:r>
            <a:endParaRPr lang="en-US" altLang="zh-CN" dirty="0"/>
          </a:p>
          <a:p>
            <a:pPr lvl="1"/>
            <a:r>
              <a:rPr lang="zh-CN" altLang="en-US" dirty="0"/>
              <a:t>通过工作曲线获得未知溶液的</a:t>
            </a:r>
            <a:r>
              <a:rPr lang="en-US" altLang="zh-CN" dirty="0"/>
              <a:t>pH</a:t>
            </a:r>
            <a:r>
              <a:rPr lang="zh-CN" altLang="en-US" dirty="0"/>
              <a:t>值</a:t>
            </a:r>
            <a:endParaRPr lang="en-US" altLang="zh-CN" dirty="0"/>
          </a:p>
          <a:p>
            <a:r>
              <a:rPr lang="zh-CN" altLang="en-US" dirty="0"/>
              <a:t>电极法测量</a:t>
            </a:r>
            <a:r>
              <a:rPr lang="en-US" altLang="zh-CN" dirty="0"/>
              <a:t>pH</a:t>
            </a:r>
            <a:r>
              <a:rPr lang="zh-CN" altLang="en-US" dirty="0"/>
              <a:t>能否测准的主要影响因素</a:t>
            </a:r>
            <a:endParaRPr lang="en-US" altLang="zh-CN" dirty="0"/>
          </a:p>
          <a:p>
            <a:pPr lvl="1"/>
            <a:r>
              <a:rPr lang="zh-CN" altLang="en-US" dirty="0"/>
              <a:t>电极性能</a:t>
            </a:r>
            <a:endParaRPr lang="en-US" altLang="zh-CN" dirty="0"/>
          </a:p>
          <a:p>
            <a:pPr lvl="1"/>
            <a:r>
              <a:rPr lang="zh-CN" altLang="en-US" dirty="0"/>
              <a:t>工作曲线的准确性</a:t>
            </a:r>
            <a:endParaRPr lang="en-US" altLang="zh-CN" dirty="0"/>
          </a:p>
          <a:p>
            <a:pPr lvl="2"/>
            <a:r>
              <a:rPr lang="zh-CN" altLang="en-US" dirty="0"/>
              <a:t>获得工作曲线的状态与测量未知溶液的状态是否一致</a:t>
            </a:r>
            <a:endParaRPr lang="en-US" altLang="zh-CN" dirty="0"/>
          </a:p>
          <a:p>
            <a:pPr lvl="2"/>
            <a:r>
              <a:rPr lang="zh-CN" altLang="en-US" dirty="0"/>
              <a:t>温度、压力、</a:t>
            </a:r>
            <a:endParaRPr lang="en-US" altLang="zh-CN" dirty="0"/>
          </a:p>
          <a:p>
            <a:pPr lvl="2"/>
            <a:r>
              <a:rPr lang="zh-CN" altLang="en-US" dirty="0"/>
              <a:t>标准溶液与未知溶液的离子强度（产生了标度）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884271B1-E46E-4B54-9C2A-6B3C9917091C}"/>
              </a:ext>
            </a:extLst>
          </p:cNvPr>
          <p:cNvSpPr txBox="1"/>
          <p:nvPr/>
        </p:nvSpPr>
        <p:spPr>
          <a:xfrm>
            <a:off x="1547664" y="332656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7939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3" descr="E:\课程\海水分析化学 本科\课件\课程图片\玻璃电极的玻璃膜电位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3619500"/>
            <a:ext cx="5616624" cy="2977852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0725" y="332656"/>
            <a:ext cx="6192688" cy="634082"/>
          </a:xfrm>
          <a:ln w="15875"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离子选择性电极的工作原理</a:t>
            </a:r>
          </a:p>
        </p:txBody>
      </p:sp>
      <p:pic>
        <p:nvPicPr>
          <p:cNvPr id="33794" name="Picture 2" descr="E:\课程\海水分析化学 本科\课件\课程图片\膜电位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196752"/>
            <a:ext cx="7056784" cy="24098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29969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7664" y="340953"/>
            <a:ext cx="5833814" cy="634082"/>
          </a:xfrm>
          <a:ln w="15875">
            <a:solidFill>
              <a:schemeClr val="bg2">
                <a:lumMod val="25000"/>
              </a:schemeClr>
            </a:solidFill>
          </a:ln>
        </p:spPr>
        <p:txBody>
          <a:bodyPr/>
          <a:lstStyle/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离子选择性电极的工作原理</a:t>
            </a:r>
          </a:p>
        </p:txBody>
      </p:sp>
      <p:pic>
        <p:nvPicPr>
          <p:cNvPr id="27650" name="Picture 2" descr="E:\课程\海水分析化学 本科\课件\课程图片\离子选择性电极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412776"/>
            <a:ext cx="4086225" cy="2809875"/>
          </a:xfrm>
          <a:prstGeom prst="rect">
            <a:avLst/>
          </a:prstGeom>
          <a:noFill/>
        </p:spPr>
      </p:pic>
      <p:pic>
        <p:nvPicPr>
          <p:cNvPr id="26628" name="Picture 4" descr="E:\课程\海水分析化学 本科\课件\课程图片\复合电极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3933056"/>
            <a:ext cx="6513513" cy="2266950"/>
          </a:xfrm>
          <a:prstGeom prst="rect">
            <a:avLst/>
          </a:prstGeom>
          <a:noFill/>
        </p:spPr>
      </p:pic>
      <p:pic>
        <p:nvPicPr>
          <p:cNvPr id="27652" name="Picture 4" descr="http://f.hiphotos.baidu.com/baike/c0%3Dbaike72%2C5%2C5%2C72%2C24/sign=2e0d98036b600c33e474d69a7b253a6a/838ba61ea8d3fd1f045af92d304e251f95ca5f5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24128" y="1052736"/>
            <a:ext cx="1801366" cy="31058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246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/>
          <a:lstStyle/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第八章 离子选择性电极的工作原理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616" y="5157192"/>
            <a:ext cx="1080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Buffer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Sample</a:t>
            </a:r>
            <a:r>
              <a:rPr lang="zh-CN" altLang="en-US" dirty="0"/>
              <a:t>：</a:t>
            </a:r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1844824"/>
            <a:ext cx="482600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3153640"/>
            <a:ext cx="50292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FB5558-421D-4A63-9EB9-B9D311BC0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968" y="5690555"/>
            <a:ext cx="2133600" cy="8572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133D6AD-87A8-4741-9528-E132F7EAC5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4852759"/>
            <a:ext cx="2209800" cy="7905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3FF2D3B-0E10-4BFC-A773-12AEE58E3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090" y="1519604"/>
            <a:ext cx="1897200" cy="288106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61CFA9A-22A3-44EC-8BFD-E4F9B5BDAB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1929" y="4954251"/>
            <a:ext cx="2679982" cy="6349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D2B928A-A8A8-4C79-B1FE-C55F905FD1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2573" y="5671558"/>
            <a:ext cx="2417153" cy="66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2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E6E8A8-3479-4DFF-B302-10026F157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7650"/>
            <a:ext cx="8543925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42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75656" y="188640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445751BA-F307-406D-B5AB-F0855E84BB10}"/>
              </a:ext>
            </a:extLst>
          </p:cNvPr>
          <p:cNvSpPr txBox="1"/>
          <p:nvPr/>
        </p:nvSpPr>
        <p:spPr>
          <a:xfrm>
            <a:off x="539552" y="13407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5. </a:t>
            </a:r>
            <a:r>
              <a:rPr lang="zh-CN" altLang="en-US" sz="2800" dirty="0"/>
              <a:t>各种标度之间的比较</a:t>
            </a:r>
            <a:endParaRPr lang="zh-CN" altLang="en-US" sz="2800" baseline="-25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F1D2D2-31B0-423B-8966-C362F9734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863989"/>
            <a:ext cx="6552727" cy="420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26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75656" y="188640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45359B-D501-43ED-8F8F-6A8A94947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863988"/>
            <a:ext cx="5915025" cy="1657350"/>
          </a:xfrm>
          <a:prstGeom prst="rect">
            <a:avLst/>
          </a:prstGeom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445751BA-F307-406D-B5AB-F0855E84BB10}"/>
              </a:ext>
            </a:extLst>
          </p:cNvPr>
          <p:cNvSpPr txBox="1"/>
          <p:nvPr/>
        </p:nvSpPr>
        <p:spPr>
          <a:xfrm>
            <a:off x="539552" y="13407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5. </a:t>
            </a:r>
            <a:r>
              <a:rPr lang="zh-CN" altLang="en-US" sz="2800" dirty="0"/>
              <a:t>各种标度之间的比较</a:t>
            </a:r>
            <a:endParaRPr lang="zh-CN" altLang="en-US" sz="2800" baseline="-25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B693D8B-4170-4EDC-86C6-559AA34DF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7" y="3635637"/>
            <a:ext cx="57721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13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75656" y="188640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445751BA-F307-406D-B5AB-F0855E84BB10}"/>
              </a:ext>
            </a:extLst>
          </p:cNvPr>
          <p:cNvSpPr txBox="1"/>
          <p:nvPr/>
        </p:nvSpPr>
        <p:spPr>
          <a:xfrm>
            <a:off x="539552" y="134076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5. </a:t>
            </a:r>
            <a:r>
              <a:rPr lang="zh-CN" altLang="en-US" sz="2800" dirty="0"/>
              <a:t>各种标度之间的比较</a:t>
            </a:r>
            <a:endParaRPr lang="zh-CN" altLang="en-US" sz="2800" baseline="-25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4651B4-DE2E-4741-AD01-2D82CF70C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1" y="1828155"/>
            <a:ext cx="6772879" cy="412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38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457549" y="395939"/>
            <a:ext cx="3024188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1066800" marR="0" lvl="0" indent="-1066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四种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pH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639448-3B5C-4D89-8B1B-191C5D250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57530"/>
            <a:ext cx="6840760" cy="11641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D47310-6110-4938-8A1F-CA3CA274B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21" y="2636913"/>
            <a:ext cx="6984776" cy="8814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CFE1DBA-AC4A-4BDA-BAF8-AD5A12787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624152"/>
            <a:ext cx="6408712" cy="238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62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5">
            <a:extLst>
              <a:ext uri="{FF2B5EF4-FFF2-40B4-BE49-F238E27FC236}">
                <a16:creationId xmlns:a16="http://schemas.microsoft.com/office/drawing/2014/main" id="{A2D4AFCF-4863-4C14-BC4F-C4FFBDCA7560}"/>
              </a:ext>
            </a:extLst>
          </p:cNvPr>
          <p:cNvSpPr txBox="1">
            <a:spLocks/>
          </p:cNvSpPr>
          <p:nvPr/>
        </p:nvSpPr>
        <p:spPr>
          <a:xfrm>
            <a:off x="457200" y="1484784"/>
            <a:ext cx="8229600" cy="4525963"/>
          </a:xfrm>
          <a:prstGeom prst="rect">
            <a:avLst/>
          </a:prstGeom>
        </p:spPr>
        <p:txBody>
          <a:bodyPr/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lang="zh-CN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lang="zh-CN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lang="zh-CN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lang="zh-CN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zh-CN" altLang="en-US" dirty="0"/>
              <a:t>提纲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海水中测量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的意义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影响海水中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的主要因素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海水</a:t>
            </a:r>
            <a:r>
              <a:rPr lang="en-US" altLang="zh-CN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</a:t>
            </a:r>
            <a:r>
              <a:rPr lang="zh-CN" alt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的四种标度</a:t>
            </a:r>
            <a:endParaRPr lang="en-US" altLang="zh-CN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测量海水</a:t>
            </a:r>
            <a:r>
              <a:rPr lang="en-US" altLang="zh-CN" sz="2800" dirty="0"/>
              <a:t>pH</a:t>
            </a:r>
            <a:r>
              <a:rPr lang="zh-CN" altLang="en-US" sz="2800" dirty="0"/>
              <a:t>的方法</a:t>
            </a:r>
            <a:endParaRPr lang="en-US" altLang="zh-CN" sz="2800" dirty="0"/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电极法</a:t>
            </a:r>
            <a:endParaRPr lang="en-US" altLang="zh-CN" sz="25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1188720" lvl="2" indent="-457200">
              <a:buFont typeface="+mj-lt"/>
              <a:buAutoNum type="alphaUcPeriod"/>
            </a:pPr>
            <a:r>
              <a:rPr lang="zh-CN" altLang="en-US" sz="2500" dirty="0"/>
              <a:t>紫外分光光度法</a:t>
            </a:r>
            <a:endParaRPr lang="en-US" altLang="zh-CN" sz="2500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EA2362A1-586F-44D1-BA02-A8DFEFCD7525}"/>
              </a:ext>
            </a:extLst>
          </p:cNvPr>
          <p:cNvSpPr txBox="1"/>
          <p:nvPr/>
        </p:nvSpPr>
        <p:spPr>
          <a:xfrm>
            <a:off x="1547664" y="548680"/>
            <a:ext cx="5518396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2535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552" y="1412776"/>
            <a:ext cx="8392446" cy="4444547"/>
          </a:xfrm>
        </p:spPr>
        <p:txBody>
          <a:bodyPr/>
          <a:lstStyle/>
          <a:p>
            <a:r>
              <a:rPr lang="zh-CN" altLang="en-US" dirty="0"/>
              <a:t>光谱法原理</a:t>
            </a:r>
            <a:endParaRPr lang="en-US" altLang="zh-CN" dirty="0"/>
          </a:p>
          <a:p>
            <a:pPr lvl="1"/>
            <a:r>
              <a:rPr lang="zh-CN" altLang="en-US" dirty="0"/>
              <a:t>通过指示剂在不同</a:t>
            </a:r>
            <a:r>
              <a:rPr lang="en-US" altLang="zh-CN" dirty="0"/>
              <a:t>pH</a:t>
            </a:r>
            <a:r>
              <a:rPr lang="zh-CN" altLang="en-US" dirty="0"/>
              <a:t>下变色的原理</a:t>
            </a:r>
            <a:endParaRPr lang="en-US" altLang="zh-CN" dirty="0"/>
          </a:p>
          <a:p>
            <a:r>
              <a:rPr lang="zh-CN" altLang="en-US" dirty="0"/>
              <a:t>指示剂</a:t>
            </a:r>
            <a:endParaRPr lang="en-US" altLang="zh-CN" dirty="0"/>
          </a:p>
          <a:p>
            <a:pPr lvl="1"/>
            <a:r>
              <a:rPr lang="en-US" altLang="zh-CN" dirty="0"/>
              <a:t>m-cresol purple</a:t>
            </a:r>
            <a:r>
              <a:rPr lang="zh-CN" altLang="en-US" dirty="0"/>
              <a:t>（甲酚紫），</a:t>
            </a:r>
            <a:r>
              <a:rPr lang="en-US" altLang="zh-CN" dirty="0" err="1"/>
              <a:t>thymol</a:t>
            </a:r>
            <a:r>
              <a:rPr lang="en-US" altLang="zh-CN" dirty="0"/>
              <a:t> blue</a:t>
            </a:r>
            <a:r>
              <a:rPr lang="zh-CN" altLang="en-US" dirty="0"/>
              <a:t>（百里酚蓝），</a:t>
            </a:r>
            <a:r>
              <a:rPr lang="en-US" altLang="zh-CN" dirty="0"/>
              <a:t>cresol red</a:t>
            </a:r>
            <a:r>
              <a:rPr lang="zh-CN" altLang="en-US" dirty="0"/>
              <a:t>（甲酚红）</a:t>
            </a:r>
            <a:endParaRPr lang="en-US" altLang="zh-CN" dirty="0"/>
          </a:p>
          <a:p>
            <a:r>
              <a:rPr lang="zh-CN" altLang="en-US" dirty="0"/>
              <a:t>指示剂随</a:t>
            </a:r>
            <a:r>
              <a:rPr lang="en-US" altLang="zh-CN" dirty="0"/>
              <a:t>pH</a:t>
            </a:r>
            <a:r>
              <a:rPr lang="zh-CN" altLang="en-US" dirty="0"/>
              <a:t>变化发生颜色变化的原理</a:t>
            </a:r>
            <a:endParaRPr lang="en-US" altLang="zh-CN" dirty="0"/>
          </a:p>
          <a:p>
            <a:pPr algn="ctr">
              <a:buNone/>
            </a:pPr>
            <a:r>
              <a:rPr lang="en-US" sz="2400" dirty="0"/>
              <a:t>HI</a:t>
            </a:r>
            <a:r>
              <a:rPr lang="en-US" sz="2400" b="1" baseline="30000" dirty="0"/>
              <a:t>-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</a:t>
            </a:r>
            <a:r>
              <a:rPr lang="en-US" sz="2400" dirty="0"/>
              <a:t>=H</a:t>
            </a:r>
            <a:r>
              <a:rPr lang="en-US" sz="2400" b="1" baseline="30000" dirty="0"/>
              <a:t>+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</a:t>
            </a:r>
            <a:r>
              <a:rPr lang="en-US" sz="2400" dirty="0"/>
              <a:t>+I</a:t>
            </a:r>
            <a:r>
              <a:rPr lang="en-US" sz="2400" b="1" baseline="30000" dirty="0"/>
              <a:t>2-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  ----------------------------</a:t>
            </a:r>
            <a:r>
              <a:rPr lang="en-US" sz="2400" b="1" dirty="0"/>
              <a:t>(1)</a:t>
            </a:r>
            <a:endParaRPr lang="zh-CN" altLang="en-US" sz="2400" dirty="0"/>
          </a:p>
          <a:p>
            <a:pPr lvl="8">
              <a:buNone/>
            </a:pPr>
            <a:r>
              <a:rPr lang="en-US" sz="1800" dirty="0"/>
              <a:t>I-Indicate</a:t>
            </a:r>
            <a:endParaRPr lang="zh-CN" altLang="en-US" sz="1800" dirty="0"/>
          </a:p>
          <a:p>
            <a:pPr lvl="1">
              <a:buNone/>
            </a:pPr>
            <a:r>
              <a:rPr lang="en-US" dirty="0"/>
              <a:t>                H</a:t>
            </a:r>
            <a:r>
              <a:rPr lang="en-US" baseline="-25000" dirty="0"/>
              <a:t>2</a:t>
            </a:r>
            <a:r>
              <a:rPr lang="en-US" dirty="0"/>
              <a:t>I</a:t>
            </a:r>
            <a:r>
              <a:rPr lang="en-US" b="1" baseline="-25000" dirty="0"/>
              <a:t>(</a:t>
            </a:r>
            <a:r>
              <a:rPr lang="en-US" b="1" baseline="-25000" dirty="0" err="1"/>
              <a:t>aq</a:t>
            </a:r>
            <a:r>
              <a:rPr lang="en-US" b="1" baseline="-25000" dirty="0"/>
              <a:t>)</a:t>
            </a:r>
            <a:r>
              <a:rPr lang="en-US" dirty="0"/>
              <a:t>=H</a:t>
            </a:r>
            <a:r>
              <a:rPr lang="en-US" b="1" baseline="30000" dirty="0"/>
              <a:t>+</a:t>
            </a:r>
            <a:r>
              <a:rPr lang="en-US" b="1" baseline="-25000" dirty="0"/>
              <a:t>(</a:t>
            </a:r>
            <a:r>
              <a:rPr lang="en-US" b="1" baseline="-25000" dirty="0" err="1"/>
              <a:t>aq</a:t>
            </a:r>
            <a:r>
              <a:rPr lang="en-US" b="1" baseline="-25000" dirty="0"/>
              <a:t>)</a:t>
            </a:r>
            <a:r>
              <a:rPr lang="en-US" dirty="0"/>
              <a:t>+</a:t>
            </a:r>
            <a:r>
              <a:rPr lang="en-US" altLang="zh-CN" dirty="0"/>
              <a:t>H</a:t>
            </a:r>
            <a:r>
              <a:rPr lang="en-US" dirty="0"/>
              <a:t>I</a:t>
            </a:r>
            <a:r>
              <a:rPr lang="en-US" b="1" baseline="30000" dirty="0"/>
              <a:t>-</a:t>
            </a:r>
            <a:r>
              <a:rPr lang="en-US" b="1" baseline="-25000" dirty="0"/>
              <a:t>(</a:t>
            </a:r>
            <a:r>
              <a:rPr lang="en-US" b="1" baseline="-25000" dirty="0" err="1"/>
              <a:t>aq</a:t>
            </a:r>
            <a:r>
              <a:rPr lang="en-US" b="1" baseline="-25000" dirty="0"/>
              <a:t>)  ----------------------------</a:t>
            </a:r>
            <a:r>
              <a:rPr lang="en-US" b="1" dirty="0"/>
              <a:t>(2)</a:t>
            </a:r>
          </a:p>
          <a:p>
            <a:r>
              <a:rPr lang="zh-CN" altLang="en-US" dirty="0"/>
              <a:t>在海水的</a:t>
            </a:r>
            <a:r>
              <a:rPr lang="en-US" altLang="zh-CN" dirty="0"/>
              <a:t>pH</a:t>
            </a:r>
            <a:r>
              <a:rPr lang="zh-CN" altLang="en-US" dirty="0"/>
              <a:t>值范围内，</a:t>
            </a:r>
            <a:r>
              <a:rPr lang="en-US" altLang="zh-CN" dirty="0"/>
              <a:t>Eq.2 </a:t>
            </a:r>
            <a:r>
              <a:rPr lang="zh-CN" altLang="en-US" dirty="0"/>
              <a:t>可忽略</a:t>
            </a: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00034" y="1428736"/>
            <a:ext cx="8429684" cy="4500595"/>
          </a:xfrm>
        </p:spPr>
        <p:txBody>
          <a:bodyPr/>
          <a:lstStyle/>
          <a:p>
            <a:r>
              <a:rPr lang="zh-CN" altLang="en-US" dirty="0"/>
              <a:t>指示剂随</a:t>
            </a:r>
            <a:r>
              <a:rPr lang="en-US" altLang="zh-CN" dirty="0"/>
              <a:t>pH</a:t>
            </a:r>
            <a:r>
              <a:rPr lang="zh-CN" altLang="en-US" dirty="0"/>
              <a:t>变化发生颜色变化的原理</a:t>
            </a:r>
            <a:endParaRPr lang="en-US" altLang="zh-CN" dirty="0"/>
          </a:p>
          <a:p>
            <a:pPr algn="ctr">
              <a:buNone/>
            </a:pPr>
            <a:r>
              <a:rPr lang="en-US" sz="2400" dirty="0"/>
              <a:t>HI</a:t>
            </a:r>
            <a:r>
              <a:rPr lang="en-US" sz="2400" b="1" baseline="30000" dirty="0"/>
              <a:t>-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</a:t>
            </a:r>
            <a:r>
              <a:rPr lang="en-US" sz="2400" dirty="0"/>
              <a:t>=H</a:t>
            </a:r>
            <a:r>
              <a:rPr lang="en-US" sz="2400" b="1" baseline="30000" dirty="0"/>
              <a:t>+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</a:t>
            </a:r>
            <a:r>
              <a:rPr lang="en-US" sz="2400" dirty="0"/>
              <a:t>+I</a:t>
            </a:r>
            <a:r>
              <a:rPr lang="en-US" sz="2400" b="1" baseline="30000" dirty="0"/>
              <a:t>2-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  ----------------------------</a:t>
            </a:r>
            <a:r>
              <a:rPr lang="en-US" sz="2400" b="1" dirty="0"/>
              <a:t>(1)</a:t>
            </a:r>
            <a:endParaRPr lang="zh-CN" altLang="en-US" sz="2400" dirty="0"/>
          </a:p>
          <a:p>
            <a:pPr lvl="8">
              <a:buNone/>
            </a:pPr>
            <a:r>
              <a:rPr lang="en-US" sz="1800" dirty="0"/>
              <a:t>I-Indicate</a:t>
            </a:r>
            <a:endParaRPr lang="zh-CN" altLang="en-US" sz="1800" dirty="0"/>
          </a:p>
          <a:p>
            <a:pPr lvl="1">
              <a:buNone/>
            </a:pPr>
            <a:r>
              <a:rPr lang="en-US" dirty="0"/>
              <a:t>                </a:t>
            </a:r>
            <a:endParaRPr lang="zh-CN" altLang="en-US" dirty="0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4817" name="Object 1"/>
          <p:cNvGraphicFramePr>
            <a:graphicFrameLocks noChangeAspect="1"/>
          </p:cNvGraphicFramePr>
          <p:nvPr/>
        </p:nvGraphicFramePr>
        <p:xfrm>
          <a:off x="2214546" y="2714620"/>
          <a:ext cx="2908905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3" imgW="2005729" imgH="545863" progId="">
                  <p:embed/>
                </p:oleObj>
              </mc:Choice>
              <mc:Fallback>
                <p:oleObj name="Equation" r:id="rId3" imgW="2005729" imgH="545863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2714620"/>
                        <a:ext cx="2908905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571472" y="3571876"/>
            <a:ext cx="7816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000" b="1" dirty="0"/>
              <a:t> 朗博比尔</a:t>
            </a:r>
            <a:r>
              <a:rPr lang="en-US" altLang="zh-CN" sz="2000" dirty="0"/>
              <a:t>(Lambert)-</a:t>
            </a:r>
            <a:r>
              <a:rPr lang="zh-CN" altLang="en-US" sz="2000" b="1" dirty="0"/>
              <a:t> </a:t>
            </a:r>
            <a:r>
              <a:rPr lang="en-US" altLang="zh-CN" sz="2000" dirty="0"/>
              <a:t>(Beer)</a:t>
            </a:r>
            <a:r>
              <a:rPr lang="zh-CN" altLang="en-US" sz="2000" dirty="0"/>
              <a:t>定律</a:t>
            </a:r>
            <a:r>
              <a:rPr lang="en-US" altLang="zh-CN" sz="2000" dirty="0"/>
              <a:t>: I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=I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*</a:t>
            </a:r>
            <a:r>
              <a:rPr lang="en-US" altLang="zh-CN" sz="2000" dirty="0"/>
              <a:t>10</a:t>
            </a:r>
            <a:r>
              <a:rPr lang="zh-CN" altLang="en-US" sz="2000" baseline="30000" dirty="0"/>
              <a:t>（</a:t>
            </a:r>
            <a:r>
              <a:rPr lang="en-US" altLang="zh-CN" sz="2000" baseline="30000" dirty="0"/>
              <a:t>-</a:t>
            </a:r>
            <a:r>
              <a:rPr lang="en-US" altLang="zh-CN" sz="2000" baseline="30000" dirty="0" err="1"/>
              <a:t>klc</a:t>
            </a:r>
            <a:r>
              <a:rPr lang="zh-CN" altLang="en-US" sz="2000" baseline="30000" dirty="0"/>
              <a:t>）</a:t>
            </a:r>
            <a:endParaRPr lang="en-US" altLang="zh-CN" sz="2000" baseline="30000" dirty="0"/>
          </a:p>
          <a:p>
            <a:pPr marL="320040" lvl="1" indent="-32004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zh-CN" altLang="en-US" sz="2000" dirty="0">
                <a:ln>
                  <a:solidFill>
                    <a:schemeClr val="accent1"/>
                  </a:solidFill>
                </a:ln>
                <a:solidFill>
                  <a:schemeClr val="accent6"/>
                </a:solidFill>
              </a:rPr>
              <a:t>当溶液中的物质浓度和显色强度成正比时，可以通过显色强度求溶液物质浓度。</a:t>
            </a:r>
            <a:endParaRPr lang="en-US" altLang="zh-CN" sz="2000" dirty="0">
              <a:ln>
                <a:solidFill>
                  <a:schemeClr val="accent1"/>
                </a:solidFill>
              </a:ln>
              <a:solidFill>
                <a:schemeClr val="accent6"/>
              </a:solidFill>
            </a:endParaRPr>
          </a:p>
          <a:p>
            <a:pPr marL="320040" lvl="1" indent="-32004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zh-CN" altLang="en-US" sz="2000" dirty="0"/>
              <a:t>定义</a:t>
            </a:r>
            <a:r>
              <a:rPr lang="en-US" altLang="zh-CN" sz="2000" dirty="0"/>
              <a:t>ABS=</a:t>
            </a:r>
            <a:r>
              <a:rPr lang="en-US" altLang="zh-CN" sz="2000" dirty="0" err="1"/>
              <a:t>klc</a:t>
            </a:r>
            <a:r>
              <a:rPr lang="zh-CN" altLang="en-US" sz="2000" dirty="0"/>
              <a:t>，式中</a:t>
            </a:r>
            <a:r>
              <a:rPr lang="en-US" altLang="zh-CN" sz="2000" i="1" dirty="0"/>
              <a:t>ABS</a:t>
            </a:r>
            <a:r>
              <a:rPr lang="zh-CN" altLang="en-US" sz="2000" dirty="0"/>
              <a:t>为</a:t>
            </a:r>
            <a:r>
              <a:rPr lang="zh-CN" altLang="en-US" sz="2000" dirty="0">
                <a:hlinkClick r:id="rId5"/>
              </a:rPr>
              <a:t>吸光度</a:t>
            </a:r>
            <a:r>
              <a:rPr lang="en-US" altLang="zh-CN" sz="2000" dirty="0"/>
              <a:t>=-</a:t>
            </a:r>
            <a:r>
              <a:rPr lang="en-US" altLang="zh-CN" sz="2000" dirty="0" err="1"/>
              <a:t>lg</a:t>
            </a:r>
            <a:r>
              <a:rPr lang="zh-CN" altLang="en-US" sz="2000" dirty="0"/>
              <a:t>（</a:t>
            </a:r>
            <a:r>
              <a:rPr lang="en-US" altLang="zh-CN" sz="2000" dirty="0"/>
              <a:t>I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/I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），</a:t>
            </a:r>
            <a:r>
              <a:rPr lang="en-US" altLang="zh-CN" sz="2000" dirty="0"/>
              <a:t>l</a:t>
            </a:r>
            <a:r>
              <a:rPr lang="zh-CN" altLang="en-US" sz="2000" dirty="0"/>
              <a:t>为溶液层厚度，</a:t>
            </a:r>
            <a:r>
              <a:rPr lang="en-US" altLang="zh-CN" sz="2000" i="1" dirty="0"/>
              <a:t>c</a:t>
            </a:r>
            <a:r>
              <a:rPr lang="zh-CN" altLang="en-US" sz="2000" dirty="0"/>
              <a:t>为溶液的浓度， </a:t>
            </a:r>
            <a:r>
              <a:rPr lang="en-US" altLang="zh-CN" sz="2000" dirty="0"/>
              <a:t>k</a:t>
            </a:r>
            <a:r>
              <a:rPr lang="zh-CN" altLang="en-US" sz="2000" dirty="0"/>
              <a:t>为吸光系数。吸光系数</a:t>
            </a:r>
            <a:r>
              <a:rPr lang="en-US" altLang="zh-CN" sz="2000" dirty="0"/>
              <a:t>k</a:t>
            </a:r>
            <a:r>
              <a:rPr lang="zh-CN" altLang="en-US" sz="2000" dirty="0"/>
              <a:t>与溶液的本性、温度以及波长等因素有关。当固定溶液层厚度</a:t>
            </a:r>
            <a:r>
              <a:rPr lang="en-US" altLang="zh-CN" sz="2000" dirty="0"/>
              <a:t>l</a:t>
            </a:r>
            <a:r>
              <a:rPr lang="zh-CN" altLang="en-US" sz="2000" dirty="0"/>
              <a:t>和吸光系数</a:t>
            </a:r>
            <a:r>
              <a:rPr lang="en-US" altLang="zh-CN" sz="2000" dirty="0"/>
              <a:t>k</a:t>
            </a:r>
            <a:r>
              <a:rPr lang="zh-CN" altLang="en-US" sz="2000" dirty="0"/>
              <a:t>时，吸光度</a:t>
            </a:r>
            <a:r>
              <a:rPr lang="en-US" altLang="zh-CN" sz="2000" dirty="0"/>
              <a:t>A</a:t>
            </a:r>
            <a:r>
              <a:rPr lang="zh-CN" altLang="en-US" sz="2000" dirty="0"/>
              <a:t>与溶液的浓度成线性关系。</a:t>
            </a:r>
            <a:endParaRPr lang="en-US" altLang="zh-CN" sz="2000" dirty="0"/>
          </a:p>
        </p:txBody>
      </p:sp>
      <p:sp>
        <p:nvSpPr>
          <p:cNvPr id="7" name="椭圆 6"/>
          <p:cNvSpPr/>
          <p:nvPr/>
        </p:nvSpPr>
        <p:spPr bwMode="auto">
          <a:xfrm>
            <a:off x="4000496" y="2643182"/>
            <a:ext cx="1571636" cy="857256"/>
          </a:xfrm>
          <a:prstGeom prst="ellipse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51520" y="1196752"/>
            <a:ext cx="8064896" cy="2272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000" b="1" dirty="0"/>
              <a:t> 朗博比尔</a:t>
            </a:r>
            <a:r>
              <a:rPr lang="en-US" altLang="zh-CN" sz="2000" dirty="0"/>
              <a:t>(Lambert)-</a:t>
            </a:r>
            <a:r>
              <a:rPr lang="zh-CN" altLang="en-US" sz="2000" b="1" dirty="0"/>
              <a:t> </a:t>
            </a:r>
            <a:r>
              <a:rPr lang="en-US" altLang="zh-CN" sz="2000" dirty="0"/>
              <a:t>(Beer)</a:t>
            </a:r>
            <a:r>
              <a:rPr lang="zh-CN" altLang="en-US" sz="2000" dirty="0"/>
              <a:t>定律</a:t>
            </a:r>
            <a:r>
              <a:rPr lang="en-US" altLang="zh-CN" sz="2000" dirty="0"/>
              <a:t>: I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=I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*</a:t>
            </a:r>
            <a:r>
              <a:rPr lang="en-US" altLang="zh-CN" sz="2000" dirty="0"/>
              <a:t>10</a:t>
            </a:r>
            <a:r>
              <a:rPr lang="zh-CN" altLang="en-US" sz="2000" baseline="30000" dirty="0"/>
              <a:t>（</a:t>
            </a:r>
            <a:r>
              <a:rPr lang="en-US" altLang="zh-CN" sz="2000" baseline="30000" dirty="0"/>
              <a:t>-</a:t>
            </a:r>
            <a:r>
              <a:rPr lang="en-US" altLang="zh-CN" sz="2000" baseline="30000" dirty="0" err="1"/>
              <a:t>klc</a:t>
            </a:r>
            <a:r>
              <a:rPr lang="zh-CN" altLang="en-US" sz="2000" baseline="30000" dirty="0"/>
              <a:t>）</a:t>
            </a:r>
            <a:r>
              <a:rPr lang="zh-CN" altLang="en-US" sz="2000" dirty="0">
                <a:ln>
                  <a:solidFill>
                    <a:schemeClr val="accent1"/>
                  </a:solidFill>
                </a:ln>
                <a:solidFill>
                  <a:schemeClr val="accent6"/>
                </a:solidFill>
              </a:rPr>
              <a:t>当溶液中的物质浓度和显色强度成正比时，可以通过显色强度求溶液物质浓度。</a:t>
            </a:r>
            <a:endParaRPr lang="en-US" altLang="zh-CN" sz="2000" dirty="0">
              <a:ln>
                <a:solidFill>
                  <a:schemeClr val="accent1"/>
                </a:solidFill>
              </a:ln>
              <a:solidFill>
                <a:schemeClr val="accent6"/>
              </a:solidFill>
            </a:endParaRPr>
          </a:p>
          <a:p>
            <a:pPr marL="320040" lvl="1" indent="-32004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zh-CN" altLang="en-US" sz="2000" dirty="0"/>
              <a:t>定义</a:t>
            </a:r>
            <a:r>
              <a:rPr lang="en-US" altLang="zh-CN" sz="2000" dirty="0"/>
              <a:t>ABS=</a:t>
            </a:r>
            <a:r>
              <a:rPr lang="en-US" altLang="zh-CN" sz="2000" dirty="0" err="1"/>
              <a:t>klc</a:t>
            </a:r>
            <a:r>
              <a:rPr lang="zh-CN" altLang="en-US" sz="2000" dirty="0"/>
              <a:t>，式中</a:t>
            </a:r>
            <a:r>
              <a:rPr lang="en-US" altLang="zh-CN" sz="2000" i="1" dirty="0"/>
              <a:t>ABS</a:t>
            </a:r>
            <a:r>
              <a:rPr lang="zh-CN" altLang="en-US" sz="2000" dirty="0"/>
              <a:t>为</a:t>
            </a:r>
            <a:r>
              <a:rPr lang="zh-CN" altLang="en-US" sz="2000" dirty="0">
                <a:hlinkClick r:id="rId2"/>
              </a:rPr>
              <a:t>吸光度</a:t>
            </a:r>
            <a:r>
              <a:rPr lang="en-US" altLang="zh-CN" sz="2000" dirty="0"/>
              <a:t>=-</a:t>
            </a:r>
            <a:r>
              <a:rPr lang="en-US" altLang="zh-CN" sz="2000" dirty="0" err="1"/>
              <a:t>lg</a:t>
            </a:r>
            <a:r>
              <a:rPr lang="zh-CN" altLang="en-US" sz="2000" dirty="0"/>
              <a:t>（</a:t>
            </a:r>
            <a:r>
              <a:rPr lang="en-US" altLang="zh-CN" sz="2000" dirty="0"/>
              <a:t>I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/I</a:t>
            </a:r>
            <a:r>
              <a:rPr lang="en-US" altLang="zh-CN" sz="2000" baseline="-25000" dirty="0"/>
              <a:t>0</a:t>
            </a:r>
            <a:r>
              <a:rPr lang="zh-CN" altLang="en-US" sz="2000" dirty="0"/>
              <a:t>），</a:t>
            </a:r>
            <a:r>
              <a:rPr lang="en-US" altLang="zh-CN" sz="2000" dirty="0"/>
              <a:t>l</a:t>
            </a:r>
            <a:r>
              <a:rPr lang="zh-CN" altLang="en-US" sz="2000" dirty="0"/>
              <a:t>为溶液层厚度，</a:t>
            </a:r>
            <a:r>
              <a:rPr lang="en-US" altLang="zh-CN" sz="2000" i="1" dirty="0"/>
              <a:t>c</a:t>
            </a:r>
            <a:r>
              <a:rPr lang="zh-CN" altLang="en-US" sz="2000" dirty="0"/>
              <a:t>为溶液的浓度， </a:t>
            </a:r>
            <a:r>
              <a:rPr lang="en-US" altLang="zh-CN" sz="2000" dirty="0"/>
              <a:t>k</a:t>
            </a:r>
            <a:r>
              <a:rPr lang="zh-CN" altLang="en-US" sz="2000" dirty="0"/>
              <a:t>为吸光系数。吸光系数</a:t>
            </a:r>
            <a:r>
              <a:rPr lang="en-US" altLang="zh-CN" sz="2000" dirty="0"/>
              <a:t>k</a:t>
            </a:r>
            <a:r>
              <a:rPr lang="zh-CN" altLang="en-US" sz="2000" dirty="0"/>
              <a:t>与溶液的本性、温度以及波长等因素有关。当固定溶液层厚度</a:t>
            </a:r>
            <a:r>
              <a:rPr lang="en-US" altLang="zh-CN" sz="2000" dirty="0"/>
              <a:t>l</a:t>
            </a:r>
            <a:r>
              <a:rPr lang="zh-CN" altLang="en-US" sz="2000" dirty="0"/>
              <a:t>和吸光系数</a:t>
            </a:r>
            <a:r>
              <a:rPr lang="en-US" altLang="zh-CN" sz="2000" dirty="0"/>
              <a:t>k</a:t>
            </a:r>
            <a:r>
              <a:rPr lang="zh-CN" altLang="en-US" sz="2000" dirty="0"/>
              <a:t>时，吸光度</a:t>
            </a:r>
            <a:r>
              <a:rPr lang="en-US" altLang="zh-CN" sz="2000" dirty="0"/>
              <a:t>A</a:t>
            </a:r>
            <a:r>
              <a:rPr lang="zh-CN" altLang="en-US" sz="2000" dirty="0"/>
              <a:t>与溶液的浓度成线性关系。</a:t>
            </a:r>
            <a:endParaRPr lang="en-US" altLang="zh-CN" sz="2000" dirty="0"/>
          </a:p>
        </p:txBody>
      </p:sp>
      <p:pic>
        <p:nvPicPr>
          <p:cNvPr id="70660" name="Picture 4" descr="https://ss0.bdstatic.com/94oJfD_bAAcT8t7mm9GUKT-xh_/timg?image&amp;quality=100&amp;size=b4000_4000&amp;sec=1460942240&amp;di=3388552863347d5d815819a595139e9f&amp;src=http://files.instrument.com.cn/bbs/upfile/images/20101111/20101111204250286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3429000"/>
            <a:ext cx="2952328" cy="3280365"/>
          </a:xfrm>
          <a:prstGeom prst="rect">
            <a:avLst/>
          </a:prstGeom>
          <a:noFill/>
        </p:spPr>
      </p:pic>
      <p:pic>
        <p:nvPicPr>
          <p:cNvPr id="70662" name="Picture 6" descr="http://www.instrument.com.cn/bbs/images/upfile/2009771665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3476625"/>
            <a:ext cx="4905375" cy="33813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00034" y="1428736"/>
            <a:ext cx="8429684" cy="4500595"/>
          </a:xfrm>
        </p:spPr>
        <p:txBody>
          <a:bodyPr/>
          <a:lstStyle/>
          <a:p>
            <a:r>
              <a:rPr lang="zh-CN" altLang="en-US" dirty="0"/>
              <a:t>指示剂随</a:t>
            </a:r>
            <a:r>
              <a:rPr lang="en-US" altLang="zh-CN" dirty="0"/>
              <a:t>pH</a:t>
            </a:r>
            <a:r>
              <a:rPr lang="zh-CN" altLang="en-US" dirty="0"/>
              <a:t>变化发生颜色变化的原理</a:t>
            </a:r>
            <a:endParaRPr lang="en-US" altLang="zh-CN" dirty="0"/>
          </a:p>
          <a:p>
            <a:pPr algn="ctr">
              <a:buNone/>
            </a:pPr>
            <a:r>
              <a:rPr lang="en-US" sz="2400" dirty="0"/>
              <a:t>HI</a:t>
            </a:r>
            <a:r>
              <a:rPr lang="en-US" sz="2400" b="1" baseline="30000" dirty="0"/>
              <a:t>-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</a:t>
            </a:r>
            <a:r>
              <a:rPr lang="en-US" sz="2400" dirty="0"/>
              <a:t>=H</a:t>
            </a:r>
            <a:r>
              <a:rPr lang="en-US" sz="2400" b="1" baseline="30000" dirty="0"/>
              <a:t>+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</a:t>
            </a:r>
            <a:r>
              <a:rPr lang="en-US" sz="2400" dirty="0"/>
              <a:t>+I</a:t>
            </a:r>
            <a:r>
              <a:rPr lang="en-US" sz="2400" b="1" baseline="30000" dirty="0"/>
              <a:t>2-</a:t>
            </a:r>
            <a:r>
              <a:rPr lang="en-US" sz="2400" b="1" baseline="-25000" dirty="0"/>
              <a:t>(</a:t>
            </a:r>
            <a:r>
              <a:rPr lang="en-US" sz="2400" b="1" baseline="-25000" dirty="0" err="1"/>
              <a:t>aq</a:t>
            </a:r>
            <a:r>
              <a:rPr lang="en-US" sz="2400" b="1" baseline="-25000" dirty="0"/>
              <a:t>)  ----------------------------</a:t>
            </a:r>
            <a:r>
              <a:rPr lang="en-US" sz="2400" b="1" dirty="0"/>
              <a:t>(1)</a:t>
            </a:r>
            <a:endParaRPr lang="zh-CN" altLang="en-US" sz="2400" dirty="0"/>
          </a:p>
          <a:p>
            <a:pPr lvl="8">
              <a:buNone/>
            </a:pPr>
            <a:r>
              <a:rPr lang="en-US" sz="1800" dirty="0"/>
              <a:t>I-Indicate</a:t>
            </a:r>
            <a:endParaRPr lang="zh-CN" altLang="en-US" sz="1800" dirty="0"/>
          </a:p>
          <a:p>
            <a:pPr lvl="1">
              <a:buNone/>
            </a:pPr>
            <a:r>
              <a:rPr lang="en-US" dirty="0"/>
              <a:t>                </a:t>
            </a:r>
            <a:endParaRPr lang="zh-CN" altLang="en-US" dirty="0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4817" name="Object 1"/>
          <p:cNvGraphicFramePr>
            <a:graphicFrameLocks noChangeAspect="1"/>
          </p:cNvGraphicFramePr>
          <p:nvPr/>
        </p:nvGraphicFramePr>
        <p:xfrm>
          <a:off x="2214546" y="2714620"/>
          <a:ext cx="2908905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name="Equation" r:id="rId3" imgW="2005729" imgH="545863" progId="">
                  <p:embed/>
                </p:oleObj>
              </mc:Choice>
              <mc:Fallback>
                <p:oleObj name="Equation" r:id="rId3" imgW="2005729" imgH="54586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2714620"/>
                        <a:ext cx="2908905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椭圆 6"/>
          <p:cNvSpPr/>
          <p:nvPr/>
        </p:nvSpPr>
        <p:spPr bwMode="auto">
          <a:xfrm>
            <a:off x="4000496" y="2643182"/>
            <a:ext cx="1571636" cy="857256"/>
          </a:xfrm>
          <a:prstGeom prst="ellipse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214546" y="3786190"/>
          <a:ext cx="38973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name="Equation" r:id="rId5" imgW="2514600" imgH="406080" progId="">
                  <p:embed/>
                </p:oleObj>
              </mc:Choice>
              <mc:Fallback>
                <p:oleObj name="Equation" r:id="rId5" imgW="2514600" imgH="4060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3786190"/>
                        <a:ext cx="3897312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642910" y="4572008"/>
            <a:ext cx="76014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 434nm</a:t>
            </a:r>
            <a:r>
              <a:rPr lang="zh-TW" altLang="en-US" sz="2400" dirty="0"/>
              <a:t>是</a:t>
            </a:r>
            <a:r>
              <a:rPr lang="en-US" altLang="zh-TW" sz="2400" dirty="0"/>
              <a:t>m-cresol</a:t>
            </a:r>
            <a:r>
              <a:rPr lang="zh-CN" altLang="en-US" sz="2400" dirty="0"/>
              <a:t>中</a:t>
            </a:r>
            <a:r>
              <a:rPr lang="zh-TW" altLang="en-US" sz="2400" dirty="0"/>
              <a:t> </a:t>
            </a:r>
            <a:r>
              <a:rPr lang="en-US" sz="2400" dirty="0"/>
              <a:t>[HI</a:t>
            </a:r>
            <a:r>
              <a:rPr lang="en-US" sz="2400" b="1" baseline="30000" dirty="0"/>
              <a:t>-</a:t>
            </a:r>
            <a:r>
              <a:rPr lang="en-US" sz="2400" dirty="0"/>
              <a:t>]</a:t>
            </a:r>
            <a:r>
              <a:rPr lang="zh-CN" altLang="en-US" sz="2400" dirty="0"/>
              <a:t>的特征波长，</a:t>
            </a:r>
            <a:r>
              <a:rPr lang="en-US" sz="2400" dirty="0"/>
              <a:t>578nm</a:t>
            </a:r>
            <a:r>
              <a:rPr lang="zh-TW" altLang="en-US" sz="2400" dirty="0"/>
              <a:t>为</a:t>
            </a:r>
            <a:r>
              <a:rPr lang="en-US" sz="2400" dirty="0"/>
              <a:t>[I</a:t>
            </a:r>
            <a:r>
              <a:rPr lang="en-US" sz="2400" b="1" baseline="30000" dirty="0"/>
              <a:t>2-</a:t>
            </a:r>
            <a:r>
              <a:rPr lang="en-US" sz="2400" dirty="0"/>
              <a:t>]</a:t>
            </a:r>
            <a:r>
              <a:rPr lang="zh-CN" altLang="en-US" sz="2400" dirty="0"/>
              <a:t>的特征波长</a:t>
            </a:r>
            <a:endParaRPr lang="en-US" altLang="zh-CN" sz="2400" dirty="0"/>
          </a:p>
          <a:p>
            <a:pPr>
              <a:buFont typeface="Arial" pitchFamily="34" charset="0"/>
              <a:buChar char="•"/>
            </a:pPr>
            <a:r>
              <a:rPr lang="en-US" altLang="zh-CN" sz="2400" dirty="0"/>
              <a:t> </a:t>
            </a:r>
            <a:r>
              <a:rPr lang="zh-CN" altLang="en-US" sz="2400" dirty="0"/>
              <a:t>分别用</a:t>
            </a:r>
            <a:r>
              <a:rPr lang="en-US" altLang="zh-CN" sz="2400" dirty="0"/>
              <a:t>578nm</a:t>
            </a:r>
            <a:r>
              <a:rPr lang="zh-CN" altLang="en-US" sz="2400" dirty="0"/>
              <a:t>和</a:t>
            </a:r>
            <a:r>
              <a:rPr lang="en-US" altLang="zh-CN" sz="2400" dirty="0"/>
              <a:t>434nm</a:t>
            </a:r>
            <a:r>
              <a:rPr lang="zh-CN" altLang="en-US" sz="2400" dirty="0"/>
              <a:t>的入射光，可以得到两个方程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000232" y="5786454"/>
          <a:ext cx="5429288" cy="816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Equation" r:id="rId7" imgW="3606800" imgH="546100" progId="">
                  <p:embed/>
                </p:oleObj>
              </mc:Choice>
              <mc:Fallback>
                <p:oleObj name="Equation" r:id="rId7" imgW="3606800" imgH="5461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32" y="5786454"/>
                        <a:ext cx="5429288" cy="8165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42910" y="4572008"/>
            <a:ext cx="781752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 434nm</a:t>
            </a:r>
            <a:r>
              <a:rPr lang="zh-TW" altLang="en-US" sz="2400" dirty="0"/>
              <a:t>是</a:t>
            </a:r>
            <a:r>
              <a:rPr lang="en-US" altLang="zh-TW" sz="2400" dirty="0"/>
              <a:t>m-cresol</a:t>
            </a:r>
            <a:r>
              <a:rPr lang="zh-CN" altLang="en-US" sz="2400" dirty="0"/>
              <a:t>中</a:t>
            </a:r>
            <a:r>
              <a:rPr lang="zh-TW" altLang="en-US" sz="2400" dirty="0"/>
              <a:t> </a:t>
            </a:r>
            <a:r>
              <a:rPr lang="en-US" sz="2400" dirty="0"/>
              <a:t>[HI</a:t>
            </a:r>
            <a:r>
              <a:rPr lang="en-US" sz="2400" b="1" baseline="30000" dirty="0"/>
              <a:t>-</a:t>
            </a:r>
            <a:r>
              <a:rPr lang="en-US" sz="2400" dirty="0"/>
              <a:t>]</a:t>
            </a:r>
            <a:r>
              <a:rPr lang="zh-CN" altLang="en-US" sz="2400" dirty="0"/>
              <a:t>的特征波长，</a:t>
            </a:r>
            <a:r>
              <a:rPr lang="en-US" sz="2400" dirty="0"/>
              <a:t>578nm</a:t>
            </a:r>
            <a:r>
              <a:rPr lang="zh-TW" altLang="en-US" sz="2400" dirty="0"/>
              <a:t>为</a:t>
            </a:r>
            <a:r>
              <a:rPr lang="en-US" sz="2400" dirty="0"/>
              <a:t>[I</a:t>
            </a:r>
            <a:r>
              <a:rPr lang="en-US" sz="2400" b="1" baseline="30000" dirty="0"/>
              <a:t>2-</a:t>
            </a:r>
            <a:r>
              <a:rPr lang="en-US" sz="2400" dirty="0"/>
              <a:t>]</a:t>
            </a:r>
            <a:r>
              <a:rPr lang="zh-CN" altLang="en-US" sz="2400" dirty="0"/>
              <a:t>的特  征波长</a:t>
            </a:r>
            <a:endParaRPr lang="en-US" altLang="zh-CN" sz="2400" dirty="0"/>
          </a:p>
          <a:p>
            <a:pPr>
              <a:buFont typeface="Arial" pitchFamily="34" charset="0"/>
              <a:buChar char="•"/>
            </a:pPr>
            <a:r>
              <a:rPr lang="en-US" altLang="zh-CN" sz="2400" dirty="0"/>
              <a:t> </a:t>
            </a:r>
            <a:r>
              <a:rPr lang="zh-CN" altLang="en-US" sz="2400" dirty="0"/>
              <a:t>在</a:t>
            </a:r>
            <a:r>
              <a:rPr lang="en-US" altLang="zh-CN" sz="2400" dirty="0"/>
              <a:t>indicator</a:t>
            </a:r>
            <a:r>
              <a:rPr lang="zh-CN" altLang="en-US" sz="2400" dirty="0"/>
              <a:t>的两种物质最高吸收特征峰测量获得的测量精度最高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D1BCE5-AB1C-4851-95AD-F758FAA35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002" y="1085533"/>
            <a:ext cx="5098726" cy="32461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42910" y="2714620"/>
            <a:ext cx="3857652" cy="1500198"/>
          </a:xfrm>
        </p:spPr>
        <p:txBody>
          <a:bodyPr/>
          <a:lstStyle/>
          <a:p>
            <a:r>
              <a:rPr lang="en-US" sz="2400" dirty="0"/>
              <a:t>λ</a:t>
            </a:r>
            <a:r>
              <a:rPr lang="en-US" sz="2400" baseline="-25000" dirty="0"/>
              <a:t>1</a:t>
            </a:r>
            <a:r>
              <a:rPr lang="zh-TW" altLang="en-US" sz="2400" dirty="0"/>
              <a:t>＝</a:t>
            </a:r>
            <a:r>
              <a:rPr lang="en-US" sz="2400" dirty="0"/>
              <a:t>578nm</a:t>
            </a:r>
            <a:endParaRPr lang="zh-CN" altLang="en-US" sz="2400" dirty="0"/>
          </a:p>
          <a:p>
            <a:r>
              <a:rPr lang="en-US" sz="2400" dirty="0"/>
              <a:t>λ</a:t>
            </a:r>
            <a:r>
              <a:rPr lang="en-US" sz="2400" baseline="-25000" dirty="0"/>
              <a:t>2</a:t>
            </a:r>
            <a:r>
              <a:rPr lang="zh-TW" altLang="en-US" sz="2400" dirty="0"/>
              <a:t>＝</a:t>
            </a:r>
            <a:r>
              <a:rPr lang="en-US" sz="2400" dirty="0"/>
              <a:t>434nm</a:t>
            </a:r>
          </a:p>
          <a:p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/A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是测出来的</a:t>
            </a:r>
          </a:p>
          <a:p>
            <a:endParaRPr lang="zh-CN" altLang="en-US" dirty="0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1857356" y="1357298"/>
          <a:ext cx="5429288" cy="816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" name="Equation" r:id="rId3" imgW="3606800" imgH="546100" progId="">
                  <p:embed/>
                </p:oleObj>
              </mc:Choice>
              <mc:Fallback>
                <p:oleObj name="Equation" r:id="rId3" imgW="3606800" imgH="5461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1357298"/>
                        <a:ext cx="5429288" cy="8165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4643438" y="2643182"/>
          <a:ext cx="3357586" cy="140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" name="Equation" r:id="rId5" imgW="1688760" imgH="736560" progId="">
                  <p:embed/>
                </p:oleObj>
              </mc:Choice>
              <mc:Fallback>
                <p:oleObj name="Equation" r:id="rId5" imgW="1688760" imgH="73656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643182"/>
                        <a:ext cx="3357586" cy="1404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2143108" y="4429132"/>
          <a:ext cx="29083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" name="Equation" r:id="rId7" imgW="2005729" imgH="545863" progId="">
                  <p:embed/>
                </p:oleObj>
              </mc:Choice>
              <mc:Fallback>
                <p:oleObj name="Equation" r:id="rId7" imgW="2005729" imgH="545863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8" y="4429132"/>
                        <a:ext cx="290830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椭圆 13"/>
          <p:cNvSpPr/>
          <p:nvPr/>
        </p:nvSpPr>
        <p:spPr bwMode="auto">
          <a:xfrm>
            <a:off x="2714612" y="4429132"/>
            <a:ext cx="1071570" cy="714380"/>
          </a:xfrm>
          <a:prstGeom prst="ellipse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15" name="内容占位符 4"/>
          <p:cNvSpPr txBox="1">
            <a:spLocks/>
          </p:cNvSpPr>
          <p:nvPr/>
        </p:nvSpPr>
        <p:spPr bwMode="auto">
          <a:xfrm>
            <a:off x="142844" y="5143512"/>
            <a:ext cx="4500594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zh-CN" altLang="en-US" sz="2800" kern="0" dirty="0">
                <a:latin typeface="+mj-lt"/>
              </a:rPr>
              <a:t>常数，可查</a:t>
            </a:r>
            <a:endParaRPr lang="en-US" altLang="zh-CN" sz="2800" kern="0" dirty="0">
              <a:latin typeface="+mj-lt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与指示剂有关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800100" lvl="1" indent="-3429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kern="0" dirty="0">
                <a:latin typeface="+mj-lt"/>
              </a:rPr>
              <a:t>与温度、压力、盐度有关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9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721440"/>
              </p:ext>
            </p:extLst>
          </p:nvPr>
        </p:nvGraphicFramePr>
        <p:xfrm>
          <a:off x="3744331" y="5316637"/>
          <a:ext cx="5142283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" name="Equation" r:id="rId9" imgW="3556000" imgH="546100" progId="">
                  <p:embed/>
                </p:oleObj>
              </mc:Choice>
              <mc:Fallback>
                <p:oleObj name="Equation" r:id="rId9" imgW="3556000" imgH="5461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331" y="5316637"/>
                        <a:ext cx="5142283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4714876" y="6143644"/>
          <a:ext cx="4259587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" name="Equation" r:id="rId11" imgW="3276600" imgH="241300" progId="">
                  <p:embed/>
                </p:oleObj>
              </mc:Choice>
              <mc:Fallback>
                <p:oleObj name="Equation" r:id="rId11" imgW="3276600" imgH="2413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6" y="6143644"/>
                        <a:ext cx="4259587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第八章 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712788" y="1500188"/>
          <a:ext cx="785971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Equation" r:id="rId3" imgW="5435280" imgH="545760" progId="">
                  <p:embed/>
                </p:oleObj>
              </mc:Choice>
              <mc:Fallback>
                <p:oleObj name="Equation" r:id="rId3" imgW="5435280" imgH="54576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1500188"/>
                        <a:ext cx="7859712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785786" y="2571744"/>
          <a:ext cx="4914561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Equation" r:id="rId5" imgW="3276600" imgH="241300" progId="">
                  <p:embed/>
                </p:oleObj>
              </mc:Choice>
              <mc:Fallback>
                <p:oleObj name="Equation" r:id="rId5" imgW="3276600" imgH="24130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2571744"/>
                        <a:ext cx="4914561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14348" y="3000372"/>
            <a:ext cx="8286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 </a:t>
            </a:r>
            <a:r>
              <a:rPr lang="en-US" altLang="zh-CN" sz="2400" dirty="0"/>
              <a:t>Q=A578/A434</a:t>
            </a:r>
          </a:p>
          <a:p>
            <a:pPr>
              <a:buFont typeface="Arial" pitchFamily="34" charset="0"/>
              <a:buChar char="•"/>
            </a:pPr>
            <a:r>
              <a:rPr lang="zh-CN" altLang="en-US" sz="2400" dirty="0"/>
              <a:t> 甲酚紫</a:t>
            </a:r>
            <a:r>
              <a:rPr lang="en-US" altLang="zh-CN" sz="2400" dirty="0"/>
              <a:t>m-cresol purple</a:t>
            </a:r>
            <a:r>
              <a:rPr lang="zh-CN" altLang="en-US" sz="2400" dirty="0"/>
              <a:t>并不适合全海域</a:t>
            </a:r>
            <a:endParaRPr lang="en-US" altLang="zh-CN" sz="2400" dirty="0"/>
          </a:p>
          <a:p>
            <a:pPr>
              <a:buFont typeface="Arial" pitchFamily="34" charset="0"/>
              <a:buChar char="•"/>
            </a:pPr>
            <a:r>
              <a:rPr lang="en-US" altLang="zh-CN" sz="2400" dirty="0"/>
              <a:t> </a:t>
            </a:r>
            <a:r>
              <a:rPr lang="zh-CN" altLang="en-US" sz="2400" dirty="0"/>
              <a:t>百里酚蓝指示剂的应用范围为</a:t>
            </a:r>
            <a:r>
              <a:rPr lang="en-US" altLang="zh-CN" sz="2400" dirty="0"/>
              <a:t>278K </a:t>
            </a:r>
            <a:r>
              <a:rPr lang="zh-CN" altLang="en-US" sz="2400" dirty="0"/>
              <a:t>≤</a:t>
            </a:r>
            <a:r>
              <a:rPr lang="en-US" altLang="zh-CN" sz="2400" dirty="0"/>
              <a:t> T</a:t>
            </a:r>
            <a:r>
              <a:rPr lang="zh-CN" altLang="en-US" sz="2400" dirty="0"/>
              <a:t> ≤</a:t>
            </a:r>
            <a:r>
              <a:rPr lang="en-US" altLang="zh-CN" sz="2400" dirty="0"/>
              <a:t>  308K, 30 </a:t>
            </a:r>
            <a:r>
              <a:rPr lang="zh-CN" altLang="en-US" sz="2400" dirty="0"/>
              <a:t>≤</a:t>
            </a:r>
            <a:r>
              <a:rPr lang="en-US" altLang="zh-CN" sz="2400" dirty="0"/>
              <a:t> S</a:t>
            </a:r>
            <a:r>
              <a:rPr lang="zh-CN" altLang="en-US" sz="2400" dirty="0"/>
              <a:t> ≤</a:t>
            </a:r>
            <a:r>
              <a:rPr lang="en-US" altLang="zh-CN" sz="2400" dirty="0"/>
              <a:t> 40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CC8A91-3896-451B-AD8E-9FC5EBD57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227" y="4361278"/>
            <a:ext cx="6482101" cy="199306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第八章 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71472" y="1285860"/>
            <a:ext cx="8286808" cy="400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校正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400" dirty="0"/>
              <a:t> 杂质校正</a:t>
            </a:r>
            <a:endParaRPr lang="en-US" altLang="zh-CN" sz="2400" dirty="0"/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400" dirty="0"/>
              <a:t> 730nm</a:t>
            </a:r>
            <a:r>
              <a:rPr lang="zh-CN" altLang="en-US" sz="2400" dirty="0"/>
              <a:t>波长扫描，在这个波长下理论上不会有吸收值</a:t>
            </a:r>
            <a:endParaRPr lang="en-US" altLang="zh-CN" sz="2400" dirty="0"/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400" dirty="0"/>
              <a:t> </a:t>
            </a:r>
            <a:r>
              <a:rPr lang="zh-CN" altLang="en-US" sz="2400" dirty="0"/>
              <a:t>如果有，代表存在杂质或者石英池需要擦拭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altLang="zh-CN" sz="2400" dirty="0"/>
              <a:t> </a:t>
            </a:r>
            <a:r>
              <a:rPr lang="zh-CN" altLang="en-US" sz="2400" dirty="0"/>
              <a:t>指示剂校正</a:t>
            </a:r>
            <a:endParaRPr lang="en-US" altLang="zh-CN" sz="2400" dirty="0"/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400" dirty="0"/>
              <a:t> Indicator</a:t>
            </a:r>
            <a:r>
              <a:rPr lang="zh-CN" altLang="en-US" sz="2400" dirty="0"/>
              <a:t>的加入会改变溶液</a:t>
            </a:r>
            <a:r>
              <a:rPr lang="en-US" altLang="zh-CN" sz="2400" dirty="0"/>
              <a:t>pH</a:t>
            </a:r>
            <a:r>
              <a:rPr lang="zh-CN" altLang="en-US" sz="2400" dirty="0"/>
              <a:t>值</a:t>
            </a:r>
            <a:endParaRPr lang="en-US" altLang="zh-CN" sz="2400" dirty="0"/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400" dirty="0"/>
              <a:t> Indicator</a:t>
            </a:r>
            <a:r>
              <a:rPr lang="zh-CN" altLang="en-US" sz="2400" dirty="0"/>
              <a:t>的配置对测量结果的精度有很大关联</a:t>
            </a:r>
            <a:endParaRPr lang="en-US" altLang="zh-CN" sz="2400" dirty="0"/>
          </a:p>
          <a:p>
            <a:pPr lvl="1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400" dirty="0"/>
              <a:t> Indicator</a:t>
            </a:r>
            <a:r>
              <a:rPr lang="zh-CN" altLang="en-US" sz="2400" dirty="0"/>
              <a:t>的校正与所用</a:t>
            </a:r>
            <a:r>
              <a:rPr lang="en-US" altLang="zh-CN" sz="2400" dirty="0"/>
              <a:t>Indicator</a:t>
            </a:r>
            <a:r>
              <a:rPr lang="zh-CN" altLang="en-US" sz="2400" dirty="0"/>
              <a:t>种类有关，配置有关</a:t>
            </a:r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-1588" y="752475"/>
            <a:ext cx="9144001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71472" y="1285860"/>
            <a:ext cx="82868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指示剂校正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400" dirty="0"/>
              <a:t> 对比加两份</a:t>
            </a:r>
            <a:r>
              <a:rPr lang="en-US" altLang="zh-CN" sz="2400" dirty="0"/>
              <a:t>indicator</a:t>
            </a:r>
            <a:r>
              <a:rPr lang="zh-CN" altLang="en-US" sz="2400" dirty="0"/>
              <a:t>和一份</a:t>
            </a:r>
            <a:r>
              <a:rPr lang="en-US" altLang="zh-CN" sz="2400" dirty="0"/>
              <a:t>indicator</a:t>
            </a:r>
            <a:r>
              <a:rPr lang="zh-CN" altLang="en-US" sz="2400" dirty="0"/>
              <a:t>的海水样品</a:t>
            </a:r>
            <a:r>
              <a:rPr lang="en-US" altLang="zh-CN" sz="2400" dirty="0"/>
              <a:t>pH</a:t>
            </a:r>
            <a:r>
              <a:rPr lang="zh-CN" altLang="en-US" sz="2400" dirty="0"/>
              <a:t>变化</a:t>
            </a:r>
            <a:endParaRPr lang="en-US" altLang="zh-CN" sz="2400" dirty="0"/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400" dirty="0"/>
              <a:t> </a:t>
            </a:r>
            <a:r>
              <a:rPr lang="zh-CN" altLang="en-US" sz="2400" dirty="0"/>
              <a:t>进行指示剂滴定海水样品的理论计算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sp>
        <p:nvSpPr>
          <p:cNvPr id="12" name="矩形 11"/>
          <p:cNvSpPr/>
          <p:nvPr/>
        </p:nvSpPr>
        <p:spPr>
          <a:xfrm>
            <a:off x="571472" y="2714620"/>
            <a:ext cx="7643866" cy="356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en-US" sz="2400" dirty="0"/>
              <a:t> 当指示剂为甲酚紫时</a:t>
            </a:r>
            <a:endParaRPr lang="en-US" altLang="zh-TW" sz="2400" dirty="0"/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2400" dirty="0"/>
              <a:t> Dickson(1996)</a:t>
            </a:r>
            <a:r>
              <a:rPr lang="zh-TW" altLang="en-US" sz="2400" dirty="0"/>
              <a:t>指出</a:t>
            </a:r>
            <a:r>
              <a:rPr lang="en-US" sz="2400" dirty="0"/>
              <a:t>m-cresol purple</a:t>
            </a:r>
            <a:r>
              <a:rPr lang="zh-TW" altLang="en-US" sz="2400" dirty="0"/>
              <a:t>加入海水中會造成海水</a:t>
            </a:r>
            <a:r>
              <a:rPr lang="en-US" sz="2400" dirty="0"/>
              <a:t>pH</a:t>
            </a:r>
            <a:r>
              <a:rPr lang="zh-TW" altLang="en-US" sz="2400" dirty="0"/>
              <a:t>的改變，修正式如</a:t>
            </a: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/>
              <a:t>    V</a:t>
            </a:r>
            <a:r>
              <a:rPr lang="zh-TW" altLang="en-US" sz="2400" dirty="0"/>
              <a:t>為指示劑添加量、</a:t>
            </a:r>
            <a:r>
              <a:rPr lang="en-US" sz="2400" dirty="0"/>
              <a:t>0.125</a:t>
            </a:r>
            <a:r>
              <a:rPr lang="zh-TW" altLang="en-US" sz="2400" dirty="0"/>
              <a:t>為截距 、</a:t>
            </a:r>
            <a:r>
              <a:rPr lang="en-US" sz="2400" dirty="0"/>
              <a:t>0.147</a:t>
            </a:r>
            <a:r>
              <a:rPr lang="zh-TW" altLang="en-US" sz="2400" dirty="0"/>
              <a:t>為斜率</a:t>
            </a:r>
            <a:endParaRPr lang="en-US" altLang="zh-TW" sz="2400" dirty="0"/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zh-TW" altLang="en-US" sz="2400" dirty="0"/>
              <a:t> 海水添加指示劑量實驗，結果顯示同一海水每添加不同指示劑量，經由上式作修正後，其</a:t>
            </a:r>
            <a:r>
              <a:rPr lang="en-US" sz="2400" dirty="0"/>
              <a:t>pH</a:t>
            </a:r>
            <a:r>
              <a:rPr lang="zh-TW" altLang="en-US" sz="2400" dirty="0"/>
              <a:t>值平均為</a:t>
            </a:r>
            <a:r>
              <a:rPr lang="en-US" sz="2400" dirty="0"/>
              <a:t>8.1169</a:t>
            </a:r>
            <a:r>
              <a:rPr lang="zh-TW" altLang="en-US" sz="2400" dirty="0"/>
              <a:t>，標準偏差僅</a:t>
            </a:r>
            <a:r>
              <a:rPr lang="en-US" sz="2400" dirty="0"/>
              <a:t>0.0003 pH</a:t>
            </a:r>
            <a:r>
              <a:rPr lang="zh-TW" altLang="en-US" sz="2400" dirty="0"/>
              <a:t>單位</a:t>
            </a:r>
            <a:endParaRPr lang="zh-CN" altLang="en-US" sz="2400" dirty="0"/>
          </a:p>
        </p:txBody>
      </p:sp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5537" name="Object 1"/>
          <p:cNvGraphicFramePr>
            <a:graphicFrameLocks noChangeAspect="1"/>
          </p:cNvGraphicFramePr>
          <p:nvPr/>
        </p:nvGraphicFramePr>
        <p:xfrm>
          <a:off x="785786" y="4071942"/>
          <a:ext cx="5000660" cy="415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name="Equation" r:id="rId3" imgW="3556000" imgH="292100" progId="">
                  <p:embed/>
                </p:oleObj>
              </mc:Choice>
              <mc:Fallback>
                <p:oleObj name="Equation" r:id="rId3" imgW="3556000" imgH="2921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4071942"/>
                        <a:ext cx="5000660" cy="4156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-1588" y="752475"/>
            <a:ext cx="9144001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1604" y="428604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00034" y="1428737"/>
            <a:ext cx="8229600" cy="4500594"/>
          </a:xfrm>
        </p:spPr>
        <p:txBody>
          <a:bodyPr/>
          <a:lstStyle/>
          <a:p>
            <a:r>
              <a:rPr lang="zh-CN" altLang="en-US" sz="2400" dirty="0"/>
              <a:t>在</a:t>
            </a:r>
            <a:r>
              <a:rPr lang="en-US" altLang="zh-CN" sz="2400" dirty="0"/>
              <a:t>pH</a:t>
            </a:r>
            <a:r>
              <a:rPr lang="zh-CN" altLang="en-US" sz="2400" dirty="0"/>
              <a:t>测量中，最重要的就是</a:t>
            </a:r>
            <a:r>
              <a:rPr lang="en-US" altLang="zh-CN" sz="2400" dirty="0"/>
              <a:t>scale</a:t>
            </a:r>
            <a:r>
              <a:rPr lang="zh-CN" altLang="en-US" sz="2400" dirty="0"/>
              <a:t>标度的选择</a:t>
            </a:r>
            <a:endParaRPr lang="en-US" altLang="zh-CN" sz="2400" dirty="0"/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为什么存在不同的标度？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什么时候应该用什么标度？</a:t>
            </a:r>
            <a:endParaRPr lang="en-US" altLang="zh-CN" sz="2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r>
              <a:rPr lang="zh-CN" altLang="en-US" sz="2400" dirty="0"/>
              <a:t>光谱法中海水的</a:t>
            </a:r>
            <a:r>
              <a:rPr lang="en-US" altLang="zh-CN" sz="2400" dirty="0"/>
              <a:t>scale</a:t>
            </a:r>
            <a:r>
              <a:rPr lang="zh-CN" altLang="en-US" sz="2400" dirty="0"/>
              <a:t>主要体现在哪儿？</a:t>
            </a:r>
            <a:endParaRPr lang="en-US" altLang="zh-CN" sz="2400" dirty="0"/>
          </a:p>
          <a:p>
            <a:endParaRPr lang="zh-CN" altLang="en-US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5120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623192"/>
              </p:ext>
            </p:extLst>
          </p:nvPr>
        </p:nvGraphicFramePr>
        <p:xfrm>
          <a:off x="1320372" y="3464724"/>
          <a:ext cx="29083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Equation" r:id="rId3" imgW="2005729" imgH="545863" progId="">
                  <p:embed/>
                </p:oleObj>
              </mc:Choice>
              <mc:Fallback>
                <p:oleObj name="Equation" r:id="rId3" imgW="2005729" imgH="545863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372" y="3464724"/>
                        <a:ext cx="290830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394116"/>
              </p:ext>
            </p:extLst>
          </p:nvPr>
        </p:nvGraphicFramePr>
        <p:xfrm>
          <a:off x="1297679" y="4403783"/>
          <a:ext cx="514191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Equation" r:id="rId5" imgW="3556000" imgH="546100" progId="">
                  <p:embed/>
                </p:oleObj>
              </mc:Choice>
              <mc:Fallback>
                <p:oleObj name="Equation" r:id="rId5" imgW="3556000" imgH="5461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679" y="4403783"/>
                        <a:ext cx="5141912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963171"/>
              </p:ext>
            </p:extLst>
          </p:nvPr>
        </p:nvGraphicFramePr>
        <p:xfrm>
          <a:off x="1297679" y="5266602"/>
          <a:ext cx="54292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Equation" r:id="rId7" imgW="3606800" imgH="546100" progId="">
                  <p:embed/>
                </p:oleObj>
              </mc:Choice>
              <mc:Fallback>
                <p:oleObj name="Equation" r:id="rId7" imgW="3606800" imgH="5461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679" y="5266602"/>
                        <a:ext cx="5429250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1604" y="428604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光谱法测量海水中的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552" y="1484784"/>
            <a:ext cx="7848872" cy="4500594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pH</a:t>
            </a:r>
            <a:r>
              <a:rPr lang="zh-CN" altLang="en-US" dirty="0"/>
              <a:t>测量中，除了标度外，影响测量准确度的最主要参数</a:t>
            </a:r>
            <a:endParaRPr lang="en-US" altLang="zh-CN" dirty="0"/>
          </a:p>
          <a:p>
            <a:pPr lvl="1"/>
            <a:r>
              <a:rPr lang="zh-CN" altLang="en-US" dirty="0"/>
              <a:t>标度 </a:t>
            </a:r>
            <a:r>
              <a:rPr lang="en-US" altLang="zh-CN" dirty="0"/>
              <a:t>~ </a:t>
            </a:r>
            <a:r>
              <a:rPr lang="zh-CN" altLang="en-US" dirty="0"/>
              <a:t>盐度</a:t>
            </a:r>
            <a:endParaRPr lang="en-US" altLang="zh-CN" dirty="0"/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温度</a:t>
            </a:r>
            <a:endParaRPr lang="en-US" altLang="zh-CN" dirty="0"/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压力（一个大气压）</a:t>
            </a:r>
            <a:endParaRPr lang="en-US" altLang="zh-CN" dirty="0"/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外界干扰溶液</a:t>
            </a:r>
            <a:r>
              <a:rPr lang="en-US" altLang="zh-CN" dirty="0"/>
              <a:t>pH</a:t>
            </a:r>
            <a:r>
              <a:rPr lang="zh-CN" altLang="en-US" dirty="0"/>
              <a:t>的因素（</a:t>
            </a:r>
            <a:r>
              <a:rPr lang="en-US" altLang="zh-CN" dirty="0"/>
              <a:t>CO</a:t>
            </a:r>
            <a:r>
              <a:rPr lang="en-US" altLang="zh-CN" baseline="-25000" dirty="0"/>
              <a:t>2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760640" cy="720080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第八章 两种方法的对比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00034" y="1357298"/>
            <a:ext cx="8643966" cy="5143536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电极法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用玻璃电极法精确测量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的历史更悠久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仪器相对简单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但电极的漂移性能需要经常做校正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的测量精度主要受限于标准溶液的配置精度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玻璃电极法的使用温度需要＞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℃，否则响应速率太慢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光谱法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随着高精度光谱技术的成熟才开始用于精确测量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</a:t>
            </a:r>
          </a:p>
          <a:p>
            <a:pPr lvl="1"/>
            <a:r>
              <a:rPr lang="zh-CN" alt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操作比电极复杂，但复杂的校准步骤不需要频繁进行</a:t>
            </a:r>
            <a:endParaRPr lang="en-US" altLang="zh-CN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tx2">
                    <a:lumMod val="65000"/>
                    <a:lumOff val="35000"/>
                  </a:schemeClr>
                </a:solidFill>
              </a:rPr>
              <a:t>pH</a:t>
            </a:r>
            <a:r>
              <a:rPr lang="zh-CN" alt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的测量精度主要受限于</a:t>
            </a:r>
            <a:r>
              <a:rPr lang="en-US" altLang="zh-CN" dirty="0" err="1">
                <a:solidFill>
                  <a:schemeClr val="tx2">
                    <a:lumMod val="65000"/>
                    <a:lumOff val="35000"/>
                  </a:schemeClr>
                </a:solidFill>
              </a:rPr>
              <a:t>pK</a:t>
            </a:r>
            <a:r>
              <a:rPr lang="zh-CN" alt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tx2">
                    <a:lumMod val="65000"/>
                    <a:lumOff val="35000"/>
                  </a:schemeClr>
                </a:solidFill>
              </a:rPr>
              <a:t>I</a:t>
            </a:r>
            <a:r>
              <a:rPr lang="zh-CN" altLang="en-US" dirty="0">
                <a:solidFill>
                  <a:schemeClr val="tx2">
                    <a:lumMod val="65000"/>
                    <a:lumOff val="35000"/>
                  </a:schemeClr>
                </a:solidFill>
              </a:rPr>
              <a:t>），这个值可以不断改进，从而修正</a:t>
            </a:r>
            <a:r>
              <a:rPr lang="en-US" altLang="zh-CN" dirty="0">
                <a:solidFill>
                  <a:schemeClr val="tx2">
                    <a:lumMod val="65000"/>
                    <a:lumOff val="35000"/>
                  </a:schemeClr>
                </a:solidFill>
              </a:rPr>
              <a:t>pH</a:t>
            </a:r>
            <a:endParaRPr lang="zh-CN" altLang="en-US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测量</a:t>
            </a:r>
            <a:r>
              <a:rPr lang="en-US" altLang="zh-CN" dirty="0"/>
              <a:t>pH</a:t>
            </a:r>
            <a:r>
              <a:rPr lang="zh-CN" altLang="en-US" dirty="0"/>
              <a:t>的海水封装和贮存</a:t>
            </a:r>
          </a:p>
        </p:txBody>
      </p:sp>
      <p:pic>
        <p:nvPicPr>
          <p:cNvPr id="70658" name="Picture 2" descr="E:\课程\课件\课程图片\pH水样的采集和贮存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532" y="1772816"/>
            <a:ext cx="7672936" cy="30891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第八章 海水中的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pH</a:t>
            </a:r>
            <a:endParaRPr lang="zh-CN" altLang="en-US" sz="3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00022" y="1556792"/>
            <a:ext cx="8543956" cy="45259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校正到原位数据（温度、压力）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海水中的</a:t>
            </a:r>
            <a:r>
              <a:rPr lang="en-US" altLang="zh-CN" dirty="0"/>
              <a:t>pH</a:t>
            </a:r>
            <a:r>
              <a:rPr lang="zh-CN" altLang="en-US" dirty="0"/>
              <a:t>可以通过碳酸盐计算方法（计算软件）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通过</a:t>
            </a:r>
            <a:r>
              <a:rPr lang="en-US" altLang="zh-CN" dirty="0"/>
              <a:t>pH</a:t>
            </a:r>
            <a:r>
              <a:rPr lang="zh-CN" altLang="en-US" dirty="0"/>
              <a:t>和另一个碳酸盐系统的参数（</a:t>
            </a:r>
            <a:r>
              <a:rPr lang="en-US" altLang="zh-CN" dirty="0"/>
              <a:t>TA</a:t>
            </a:r>
            <a:r>
              <a:rPr lang="zh-CN" altLang="en-US" dirty="0"/>
              <a:t>或</a:t>
            </a:r>
            <a:r>
              <a:rPr lang="en-US" altLang="zh-CN" dirty="0"/>
              <a:t>DIC</a:t>
            </a:r>
            <a:r>
              <a:rPr lang="zh-CN" altLang="en-US" dirty="0"/>
              <a:t>或</a:t>
            </a:r>
            <a:r>
              <a:rPr lang="en-US" altLang="zh-CN" dirty="0"/>
              <a:t>pCO2</a:t>
            </a:r>
            <a:r>
              <a:rPr lang="zh-CN" altLang="en-US" dirty="0"/>
              <a:t>），计算不同温度压力状态下的值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也可以通过经验公式计算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sz="2400" dirty="0"/>
              <a:t>温度（校正公式随不同的</a:t>
            </a:r>
            <a:r>
              <a:rPr lang="en-US" altLang="zh-CN" sz="2400" dirty="0"/>
              <a:t>scale</a:t>
            </a:r>
            <a:r>
              <a:rPr lang="zh-CN" altLang="en-US" sz="2400" dirty="0"/>
              <a:t>会略有不同）</a:t>
            </a:r>
            <a:endParaRPr lang="en-US" altLang="zh-CN" sz="2400" dirty="0"/>
          </a:p>
          <a:p>
            <a:pPr lvl="2">
              <a:lnSpc>
                <a:spcPct val="120000"/>
              </a:lnSpc>
            </a:pPr>
            <a:r>
              <a:rPr lang="zh-CN" altLang="en-US" sz="2400" dirty="0"/>
              <a:t>压力</a:t>
            </a:r>
            <a:endParaRPr lang="en-US" altLang="zh-CN" sz="2400" dirty="0"/>
          </a:p>
          <a:p>
            <a:pPr lvl="1"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在电极法和光谱法中，不同的</a:t>
            </a:r>
            <a:r>
              <a:rPr lang="en-US" altLang="zh-CN" dirty="0"/>
              <a:t>pH scale</a:t>
            </a:r>
            <a:r>
              <a:rPr lang="zh-CN" altLang="en-US" dirty="0"/>
              <a:t>主要体现在测量的哪个环节？哪种方法下</a:t>
            </a:r>
            <a:r>
              <a:rPr lang="en-US" altLang="zh-CN" dirty="0"/>
              <a:t>2016</a:t>
            </a:r>
            <a:r>
              <a:rPr lang="zh-CN" altLang="en-US" dirty="0"/>
              <a:t>年测的</a:t>
            </a:r>
            <a:r>
              <a:rPr lang="en-US" altLang="zh-CN" dirty="0"/>
              <a:t>pH</a:t>
            </a:r>
            <a:r>
              <a:rPr lang="zh-CN" altLang="en-US" dirty="0"/>
              <a:t>数据到</a:t>
            </a:r>
            <a:r>
              <a:rPr lang="en-US" altLang="zh-CN" dirty="0"/>
              <a:t>2018</a:t>
            </a:r>
            <a:r>
              <a:rPr lang="zh-CN" altLang="en-US" dirty="0"/>
              <a:t>年能修正到更精确的值，哪种方法 不行，为什么？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3399FF"/>
            </a:solidFill>
            <a:effectLst/>
            <a:latin typeface="Arial" charset="0"/>
            <a:ea typeface="华文行楷" pitchFamily="2" charset="-122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1958</Words>
  <Application>Microsoft Office PowerPoint</Application>
  <PresentationFormat>全屏显示(4:3)</PresentationFormat>
  <Paragraphs>238</Paragraphs>
  <Slides>48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60" baseType="lpstr">
      <vt:lpstr>Adobe 黑体 Std R</vt:lpstr>
      <vt:lpstr>黑体</vt:lpstr>
      <vt:lpstr>华文行楷</vt:lpstr>
      <vt:lpstr>华文新魏</vt:lpstr>
      <vt:lpstr>宋体</vt:lpstr>
      <vt:lpstr>Arial</vt:lpstr>
      <vt:lpstr>Calibri</vt:lpstr>
      <vt:lpstr>Times New Roman</vt:lpstr>
      <vt:lpstr>Wingdings</vt:lpstr>
      <vt:lpstr>默认设计模板</vt:lpstr>
      <vt:lpstr>Equation</vt:lpstr>
      <vt:lpstr>公式</vt:lpstr>
      <vt:lpstr>海水分析化学 Chemistry of seawater analysis </vt:lpstr>
      <vt:lpstr>PowerPoint 演示文稿</vt:lpstr>
      <vt:lpstr>PowerPoint 演示文稿</vt:lpstr>
      <vt:lpstr>升高的CO2 能被地球系统吸收吗？</vt:lpstr>
      <vt:lpstr>热力学和动力学</vt:lpstr>
      <vt:lpstr>第八章 海水中的pH                          ——硅铝盐系统</vt:lpstr>
      <vt:lpstr>PowerPoint 演示文稿</vt:lpstr>
      <vt:lpstr>PowerPoint 演示文稿</vt:lpstr>
      <vt:lpstr>第八章 影响海水中pH的主要因素</vt:lpstr>
      <vt:lpstr>PowerPoint 演示文稿</vt:lpstr>
      <vt:lpstr>PowerPoint 演示文稿</vt:lpstr>
      <vt:lpstr>PowerPoint 演示文稿</vt:lpstr>
      <vt:lpstr>四种pH标度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离子选择性电极的工作原理</vt:lpstr>
      <vt:lpstr>离子选择性电极的工作原理</vt:lpstr>
      <vt:lpstr>第八章 离子选择性电极的工作原理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第八章 海水中的pH</vt:lpstr>
      <vt:lpstr>光谱法测量海水中的pH</vt:lpstr>
      <vt:lpstr>光谱法测量海水中的pH</vt:lpstr>
      <vt:lpstr>光谱法测量海水中的pH</vt:lpstr>
      <vt:lpstr>光谱法测量海水中的pH</vt:lpstr>
      <vt:lpstr>光谱法测量海水中的pH</vt:lpstr>
      <vt:lpstr>第八章 光谱法测量海水中的pH</vt:lpstr>
      <vt:lpstr>第八章 光谱法测量海水中的pH</vt:lpstr>
      <vt:lpstr>光谱法测量海水中的pH</vt:lpstr>
      <vt:lpstr>光谱法测量海水中的pH</vt:lpstr>
      <vt:lpstr>光谱法测量海水中的pH</vt:lpstr>
      <vt:lpstr>第八章 两种方法的对比</vt:lpstr>
      <vt:lpstr>测量pH的海水封装和贮存</vt:lpstr>
      <vt:lpstr>第八章 海水中的pH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</dc:creator>
  <cp:lastModifiedBy>Administrator</cp:lastModifiedBy>
  <cp:revision>1071</cp:revision>
  <dcterms:created xsi:type="dcterms:W3CDTF">2013-10-17T05:15:34Z</dcterms:created>
  <dcterms:modified xsi:type="dcterms:W3CDTF">2022-11-28T01:19:50Z</dcterms:modified>
</cp:coreProperties>
</file>