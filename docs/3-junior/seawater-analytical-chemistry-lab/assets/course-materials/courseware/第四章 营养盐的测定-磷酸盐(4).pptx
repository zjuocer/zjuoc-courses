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68" r:id="rId2"/>
    <p:sldId id="571" r:id="rId3"/>
    <p:sldId id="603" r:id="rId4"/>
    <p:sldId id="510" r:id="rId5"/>
    <p:sldId id="511" r:id="rId6"/>
    <p:sldId id="512" r:id="rId7"/>
    <p:sldId id="572" r:id="rId8"/>
    <p:sldId id="522" r:id="rId9"/>
    <p:sldId id="585" r:id="rId10"/>
    <p:sldId id="513" r:id="rId11"/>
    <p:sldId id="514" r:id="rId12"/>
    <p:sldId id="515" r:id="rId13"/>
    <p:sldId id="516" r:id="rId14"/>
    <p:sldId id="586" r:id="rId15"/>
    <p:sldId id="448" r:id="rId16"/>
    <p:sldId id="518" r:id="rId17"/>
    <p:sldId id="519" r:id="rId18"/>
    <p:sldId id="521" r:id="rId19"/>
    <p:sldId id="587" r:id="rId20"/>
    <p:sldId id="588" r:id="rId21"/>
    <p:sldId id="580" r:id="rId22"/>
    <p:sldId id="581" r:id="rId23"/>
    <p:sldId id="582" r:id="rId24"/>
    <p:sldId id="574" r:id="rId25"/>
    <p:sldId id="590" r:id="rId26"/>
    <p:sldId id="589" r:id="rId27"/>
    <p:sldId id="575" r:id="rId28"/>
    <p:sldId id="577" r:id="rId29"/>
    <p:sldId id="576" r:id="rId30"/>
    <p:sldId id="578" r:id="rId31"/>
    <p:sldId id="579" r:id="rId32"/>
    <p:sldId id="460" r:id="rId33"/>
    <p:sldId id="584" r:id="rId34"/>
    <p:sldId id="524" r:id="rId35"/>
    <p:sldId id="525" r:id="rId36"/>
    <p:sldId id="526" r:id="rId37"/>
    <p:sldId id="527" r:id="rId38"/>
    <p:sldId id="528" r:id="rId39"/>
    <p:sldId id="594" r:id="rId40"/>
    <p:sldId id="593" r:id="rId41"/>
    <p:sldId id="595" r:id="rId42"/>
    <p:sldId id="596" r:id="rId43"/>
    <p:sldId id="597" r:id="rId44"/>
    <p:sldId id="529" r:id="rId45"/>
    <p:sldId id="530" r:id="rId46"/>
    <p:sldId id="531" r:id="rId47"/>
    <p:sldId id="532" r:id="rId48"/>
    <p:sldId id="533" r:id="rId49"/>
    <p:sldId id="600" r:id="rId50"/>
    <p:sldId id="598" r:id="rId51"/>
    <p:sldId id="555" r:id="rId52"/>
    <p:sldId id="534" r:id="rId53"/>
    <p:sldId id="591" r:id="rId54"/>
    <p:sldId id="601" r:id="rId55"/>
    <p:sldId id="592" r:id="rId56"/>
    <p:sldId id="543" r:id="rId57"/>
    <p:sldId id="567" r:id="rId58"/>
    <p:sldId id="562" r:id="rId59"/>
    <p:sldId id="569" r:id="rId60"/>
    <p:sldId id="570" r:id="rId61"/>
    <p:sldId id="602" r:id="rId6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4" autoAdjust="0"/>
    <p:restoredTop sz="94477" autoAdjust="0"/>
  </p:normalViewPr>
  <p:slideViewPr>
    <p:cSldViewPr>
      <p:cViewPr varScale="1">
        <p:scale>
          <a:sx n="104" d="100"/>
          <a:sy n="104" d="100"/>
        </p:scale>
        <p:origin x="1638"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4C2AD-C9B0-406F-8123-A0E121BD4683}" type="datetimeFigureOut">
              <a:rPr lang="zh-CN" altLang="en-US" smtClean="0"/>
              <a:pPr/>
              <a:t>2022/10/31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D5C9DF-7B2A-45F8-A4B2-C2901DB614D7}" type="slidenum">
              <a:rPr lang="zh-CN" altLang="en-US" smtClean="0"/>
              <a:pPr/>
              <a:t>‹#›</a:t>
            </a:fld>
            <a:endParaRPr lang="zh-CN" altLang="en-US"/>
          </a:p>
        </p:txBody>
      </p:sp>
    </p:spTree>
    <p:extLst>
      <p:ext uri="{BB962C8B-B14F-4D97-AF65-F5344CB8AC3E}">
        <p14:creationId xmlns:p14="http://schemas.microsoft.com/office/powerpoint/2010/main" val="3159665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zh-CN" dirty="0"/>
          </a:p>
        </p:txBody>
      </p:sp>
      <p:sp>
        <p:nvSpPr>
          <p:cNvPr id="4" name="Rectangle 3"/>
          <p:cNvSpPr>
            <a:spLocks noGrp="1"/>
          </p:cNvSpPr>
          <p:nvPr>
            <p:ph type="sldNum" sz="quarter" idx="10"/>
          </p:nvPr>
        </p:nvSpPr>
        <p:spPr/>
        <p:txBody>
          <a:bodyPr/>
          <a:lstStyle/>
          <a:p>
            <a:fld id="{CA5D3BF3-D352-46FC-8343-31F56E6730EA}" type="slidenum">
              <a:rPr lang="en-US" altLang="zh-CN" smtClean="0"/>
              <a:pPr/>
              <a:t>1</a:t>
            </a:fld>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228600" indent="-228600">
              <a:buAutoNum type="arabicPeriod"/>
            </a:pPr>
            <a:r>
              <a:rPr lang="zh-CN" altLang="en-US" dirty="0"/>
              <a:t>光合作用产生有机质所需要的必要元素。</a:t>
            </a:r>
            <a:r>
              <a:rPr lang="en-US" altLang="zh-CN" dirty="0"/>
              <a:t>2. </a:t>
            </a:r>
            <a:r>
              <a:rPr lang="zh-CN" altLang="en-US" dirty="0"/>
              <a:t>系统里缺乏该要素。</a:t>
            </a:r>
            <a:endParaRPr lang="en-US" altLang="zh-CN" dirty="0"/>
          </a:p>
          <a:p>
            <a:pPr marL="228600" indent="-228600">
              <a:buAutoNum type="arabicPeriod"/>
            </a:pPr>
            <a:r>
              <a:rPr lang="zh-CN" altLang="en-US" dirty="0"/>
              <a:t>在传统意义上，特指磷、无机氮化合物、硅。但是，海洋里除这种元素外，还有一些痕量金属元素参与到光合作用中，所以也属于营养要素。比如铁。但在这里仍然局限于传统定义</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10"/>
          </p:nvPr>
        </p:nvSpPr>
        <p:spPr/>
        <p:txBody>
          <a:bodyPr/>
          <a:lstStyle/>
          <a:p>
            <a:fld id="{CA5D3BF3-D352-46FC-8343-31F56E6730EA}" type="slidenum">
              <a:rPr lang="en-US" altLang="zh-CN" smtClean="0"/>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A5D3BF3-D352-46FC-8343-31F56E6730EA}" type="slidenum">
              <a:rPr lang="en-US" altLang="zh-CN" smtClean="0"/>
              <a:pPr/>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D5C9DF-7B2A-45F8-A4B2-C2901DB614D7}" type="slidenum">
              <a:rPr lang="zh-CN" altLang="en-US" smtClean="0"/>
              <a:pPr/>
              <a:t>8</a:t>
            </a:fld>
            <a:endParaRPr lang="zh-CN" altLang="en-US"/>
          </a:p>
        </p:txBody>
      </p:sp>
    </p:spTree>
    <p:extLst>
      <p:ext uri="{BB962C8B-B14F-4D97-AF65-F5344CB8AC3E}">
        <p14:creationId xmlns:p14="http://schemas.microsoft.com/office/powerpoint/2010/main" val="4208186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6D5C9DF-7B2A-45F8-A4B2-C2901DB614D7}" type="slidenum">
              <a:rPr lang="zh-CN" altLang="en-US" smtClean="0"/>
              <a:pPr/>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a:defRPr>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94D163F-C9B0-4A35-98DC-3A4DEFF7EC3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9595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mj-lt"/>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2800">
                <a:latin typeface="+mj-lt"/>
              </a:defRPr>
            </a:lvl1pPr>
            <a:lvl2pPr>
              <a:defRPr sz="2400">
                <a:latin typeface="+mj-lt"/>
              </a:defRPr>
            </a:lvl2pPr>
            <a:lvl3pPr>
              <a:defRPr sz="2000">
                <a:latin typeface="+mj-lt"/>
              </a:defRPr>
            </a:lvl3pPr>
            <a:lvl4pPr>
              <a:defRPr>
                <a:latin typeface="+mj-lt"/>
              </a:defRPr>
            </a:lvl4pPr>
            <a:lvl5pPr>
              <a:defRPr>
                <a:latin typeface="+mj-l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47D8075-E72B-4BF6-9481-6760148A8FB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4219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57C1C9-6B1A-4E8D-80D9-1F406FED74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6852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lt"/>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EC21727-E14B-4214-A96B-5D5149B9EB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78907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EA1E3A4-CA4C-4B0F-B7EE-93652856C6C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1903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itchFamily="34" charset="0"/>
                <a:cs typeface="Arial" pitchFamily="34" charset="0"/>
              </a:defRPr>
            </a:lvl1pPr>
          </a:lstStyle>
          <a:p>
            <a:r>
              <a:rPr lang="zh-CN" altLang="en-US" dirty="0"/>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8CECA82-AB81-42B0-A316-04B221EF0F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5188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0B41B4E-1D51-4764-BB26-0A928DDC693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6630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70AD128-FF11-46E7-83AD-EE5A40B3154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2287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A050332-BC1C-4A8B-973F-88E43E2277C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6207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017FBC4-3B96-4753-85AE-096B9B71EBC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9284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AFF8586-B1A6-49E8-9A88-F7855FBD37B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35470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0" hangingPunct="1"/>
            <a:r>
              <a:rPr lang="zh-CN" altLang="en-US"/>
              <a:t>单击此处编辑母版标题样式</a:t>
            </a:r>
            <a:endParaRPr/>
          </a:p>
        </p:txBody>
      </p:sp>
      <p:sp>
        <p:nvSpPr>
          <p:cNvPr id="3" name="Rectangle 2"/>
          <p:cNvSpPr>
            <a:spLocks noGrp="1"/>
          </p:cNvSpPr>
          <p:nvPr>
            <p:ph type="dt" sz="half" idx="10"/>
          </p:nvPr>
        </p:nvSpPr>
        <p:spPr/>
        <p:txBody>
          <a:bodyPr/>
          <a:lstStyle/>
          <a:p>
            <a:fld id="{E4606EA6-EFEA-4C30-9264-4F9291A5780D}" type="datetime1">
              <a:rPr lang="zh-CN" altLang="en-US"/>
              <a:pPr/>
              <a:t>2022/10/31</a:t>
            </a:fld>
            <a:endParaRPr kumimoji="0" lang="zh-CN"/>
          </a:p>
        </p:txBody>
      </p:sp>
      <p:sp>
        <p:nvSpPr>
          <p:cNvPr id="4" name="Rectangle 3"/>
          <p:cNvSpPr>
            <a:spLocks noGrp="1"/>
          </p:cNvSpPr>
          <p:nvPr>
            <p:ph type="ftr" sz="quarter" idx="11"/>
          </p:nvPr>
        </p:nvSpPr>
        <p:spPr/>
        <p:txBody>
          <a:bodyPr/>
          <a:lstStyle/>
          <a:p>
            <a:endParaRPr kumimoji="0" lang="zh-CN"/>
          </a:p>
        </p:txBody>
      </p:sp>
      <p:sp>
        <p:nvSpPr>
          <p:cNvPr id="5" name="Rectangle 4"/>
          <p:cNvSpPr>
            <a:spLocks noGrp="1"/>
          </p:cNvSpPr>
          <p:nvPr>
            <p:ph type="sldNum" sz="quarter" idx="12"/>
          </p:nvPr>
        </p:nvSpPr>
        <p:spPr/>
        <p:txBody>
          <a:bodyPr/>
          <a:lstStyle/>
          <a:p>
            <a:pPr algn="ctr"/>
            <a:fld id="{8F82E0A0-C266-4798-8C8F-B9F91E9DA37E}" type="slidenum">
              <a:rPr kumimoji="0" lang="zh-CN" sz="1400" b="1">
                <a:solidFill>
                  <a:srgbClr val="FFFFFF"/>
                </a:solidFill>
              </a:rPr>
              <a:pPr algn="ctr"/>
              <a:t>‹#›</a:t>
            </a:fld>
            <a:endParaRPr kumimoji="0" lang="zh-CN"/>
          </a:p>
        </p:txBody>
      </p:sp>
      <p:sp>
        <p:nvSpPr>
          <p:cNvPr id="7" name="Rectangle 6"/>
          <p:cNvSpPr>
            <a:spLocks noGrp="1"/>
          </p:cNvSpPr>
          <p:nvPr>
            <p:ph sz="quarter" idx="13"/>
          </p:nvPr>
        </p:nvSpPr>
        <p:spPr>
          <a:xfrm>
            <a:off x="609600" y="1803400"/>
            <a:ext cx="8153400" cy="4368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77813"/>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914400" y="1600200"/>
            <a:ext cx="38100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76800" y="1600201"/>
            <a:ext cx="38100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76800" y="3941763"/>
            <a:ext cx="38100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914400" y="6251575"/>
            <a:ext cx="1981200" cy="457200"/>
          </a:xfrm>
        </p:spPr>
        <p:txBody>
          <a:bodyPr/>
          <a:lstStyle>
            <a:lvl1pPr>
              <a:defRPr/>
            </a:lvl1pPr>
          </a:lstStyle>
          <a:p>
            <a:pPr>
              <a:defRPr/>
            </a:pPr>
            <a:endParaRPr lang="en-US" altLang="zh-CN"/>
          </a:p>
        </p:txBody>
      </p:sp>
      <p:sp>
        <p:nvSpPr>
          <p:cNvPr id="7" name="页脚占位符 6"/>
          <p:cNvSpPr>
            <a:spLocks noGrp="1"/>
          </p:cNvSpPr>
          <p:nvPr>
            <p:ph type="ftr" sz="quarter" idx="11"/>
          </p:nvPr>
        </p:nvSpPr>
        <p:spPr>
          <a:xfrm>
            <a:off x="3352800" y="6248400"/>
            <a:ext cx="2971800" cy="457200"/>
          </a:xfrm>
        </p:spPr>
        <p:txBody>
          <a:bodyPr/>
          <a:lstStyle>
            <a:lvl1pPr>
              <a:defRPr/>
            </a:lvl1pPr>
          </a:lstStyle>
          <a:p>
            <a:pPr>
              <a:defRPr/>
            </a:pPr>
            <a:endParaRPr lang="en-US" altLang="zh-CN"/>
          </a:p>
        </p:txBody>
      </p:sp>
      <p:sp>
        <p:nvSpPr>
          <p:cNvPr id="8" name="灯片编号占位符 7"/>
          <p:cNvSpPr>
            <a:spLocks noGrp="1"/>
          </p:cNvSpPr>
          <p:nvPr>
            <p:ph type="sldNum" sz="quarter" idx="12"/>
          </p:nvPr>
        </p:nvSpPr>
        <p:spPr>
          <a:xfrm>
            <a:off x="6781800" y="6248400"/>
            <a:ext cx="1905000" cy="457200"/>
          </a:xfrm>
        </p:spPr>
        <p:txBody>
          <a:bodyPr/>
          <a:lstStyle>
            <a:lvl1pPr>
              <a:defRPr/>
            </a:lvl1pPr>
          </a:lstStyle>
          <a:p>
            <a:pPr>
              <a:defRPr/>
            </a:pPr>
            <a:fld id="{93416691-2343-4BC4-86C2-D995FACFD07B}"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ea typeface="+mn-ea"/>
              </a:defRPr>
            </a:lvl1pPr>
          </a:lstStyle>
          <a:p>
            <a:pPr fontAlgn="base">
              <a:spcBef>
                <a:spcPct val="0"/>
              </a:spcBef>
              <a:spcAft>
                <a:spcPct val="0"/>
              </a:spcAft>
              <a:defRPr/>
            </a:pPr>
            <a:fld id="{F9E0FACD-AE8A-4C16-8A1E-FCBCB8577A05}" type="slidenum">
              <a:rPr lang="en-US" altLang="zh-CN">
                <a:solidFill>
                  <a:srgbClr val="000000"/>
                </a:solidFill>
                <a:latin typeface="Arial" charset="0"/>
              </a:rPr>
              <a:pPr fontAlgn="base">
                <a:spcBef>
                  <a:spcPct val="0"/>
                </a:spcBef>
                <a:spcAft>
                  <a:spcPct val="0"/>
                </a:spcAft>
                <a:defRPr/>
              </a:pPr>
              <a:t>‹#›</a:t>
            </a:fld>
            <a:endParaRPr lang="en-US" altLang="zh-CN">
              <a:solidFill>
                <a:srgbClr val="000000"/>
              </a:solidFill>
              <a:latin typeface="Arial" charset="0"/>
            </a:endParaRPr>
          </a:p>
        </p:txBody>
      </p:sp>
      <p:pic>
        <p:nvPicPr>
          <p:cNvPr id="7" name="图片 6" descr="院标-圆形图案 无背景.png"/>
          <p:cNvPicPr>
            <a:picLocks noChangeAspect="1"/>
          </p:cNvPicPr>
          <p:nvPr userDrawn="1"/>
        </p:nvPicPr>
        <p:blipFill>
          <a:blip r:embed="rId16" cstate="print"/>
          <a:srcRect l="10812" t="7462" r="8098" b="13504"/>
          <a:stretch>
            <a:fillRect/>
          </a:stretch>
        </p:blipFill>
        <p:spPr>
          <a:xfrm>
            <a:off x="149675" y="188640"/>
            <a:ext cx="1181965" cy="1152000"/>
          </a:xfrm>
          <a:prstGeom prst="rect">
            <a:avLst/>
          </a:prstGeom>
        </p:spPr>
      </p:pic>
    </p:spTree>
    <p:extLst>
      <p:ext uri="{BB962C8B-B14F-4D97-AF65-F5344CB8AC3E}">
        <p14:creationId xmlns:p14="http://schemas.microsoft.com/office/powerpoint/2010/main" val="1017989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7.emf"/><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baike.baidu.com/item/%E8%BD%AC%E5%8A%A8%E8%83%BD%E7%BA%A7" TargetMode="External"/><Relationship Id="rId2" Type="http://schemas.openxmlformats.org/officeDocument/2006/relationships/hyperlink" Target="http://baike.baidu.com/item/%E9%87%8F%E5%AD%90%E5%8C%96" TargetMode="External"/><Relationship Id="rId1" Type="http://schemas.openxmlformats.org/officeDocument/2006/relationships/slideLayout" Target="../slideLayouts/slideLayout2.xml"/><Relationship Id="rId6" Type="http://schemas.openxmlformats.org/officeDocument/2006/relationships/hyperlink" Target="http://baike.baidu.com/item/%E7%94%B5%E5%AD%90%E5%85%89%E8%B0%B1" TargetMode="External"/><Relationship Id="rId5" Type="http://schemas.openxmlformats.org/officeDocument/2006/relationships/hyperlink" Target="http://baike.baidu.com/item/%E7%94%B5%E5%AD%90%E8%83%BD%E7%BA%A7" TargetMode="External"/><Relationship Id="rId4" Type="http://schemas.openxmlformats.org/officeDocument/2006/relationships/hyperlink" Target="http://baike.baidu.com/item/%E6%8C%AF%E5%8A%A8%E8%83%BD%E7%BA%A7"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baike.baidu.com/item/%E5%85%89%E9%80%9F" TargetMode="External"/><Relationship Id="rId7" Type="http://schemas.openxmlformats.org/officeDocument/2006/relationships/hyperlink" Target="https://baike.baidu.com/item/%E7%94%B5%E5%AD%90%E5%85%89%E8%B0%B1" TargetMode="External"/><Relationship Id="rId2" Type="http://schemas.openxmlformats.org/officeDocument/2006/relationships/hyperlink" Target="https://baike.baidu.com/item/%E6%99%AE%E6%9C%97%E5%85%8B%E5%B8%B8%E9%87%8F" TargetMode="External"/><Relationship Id="rId1" Type="http://schemas.openxmlformats.org/officeDocument/2006/relationships/slideLayout" Target="../slideLayouts/slideLayout2.xml"/><Relationship Id="rId6" Type="http://schemas.openxmlformats.org/officeDocument/2006/relationships/hyperlink" Target="https://baike.baidu.com/item/%E5%88%86%E5%AD%90%E5%85%89%E8%B0%B1/5193898" TargetMode="External"/><Relationship Id="rId5" Type="http://schemas.openxmlformats.org/officeDocument/2006/relationships/hyperlink" Target="https://baike.baidu.com/item/%E8%83%BD%E9%87%8F/290246" TargetMode="External"/><Relationship Id="rId4" Type="http://schemas.openxmlformats.org/officeDocument/2006/relationships/hyperlink" Target="https://baike.baidu.com/item/%E7%94%B5%E5%AD%90%E8%B7%83%E8%BF%8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baike.baidu.com/view/414285.htm" TargetMode="Externa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8.xml.rels><?xml version="1.0" encoding="UTF-8" standalone="yes"?>
<Relationships xmlns="http://schemas.openxmlformats.org/package/2006/relationships"><Relationship Id="rId3" Type="http://schemas.openxmlformats.org/officeDocument/2006/relationships/hyperlink" Target="http://baike.baidu.com/subview/275137/7583885.htm" TargetMode="External"/><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hyperlink" Target="http://baike.baidu.com/view/1073612.ht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baike.baidu.com/view/414285.htm"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p:cNvSpPr>
          <p:nvPr>
            <p:ph type="body" idx="1"/>
          </p:nvPr>
        </p:nvSpPr>
        <p:spPr>
          <a:xfrm>
            <a:off x="1214414" y="3643314"/>
            <a:ext cx="7123113" cy="1673225"/>
          </a:xfrm>
        </p:spPr>
        <p:txBody>
          <a:bodyPr>
            <a:noAutofit/>
          </a:bodyPr>
          <a:lstStyle/>
          <a:p>
            <a:pPr algn="ctr"/>
            <a:r>
              <a:rPr lang="zh-CN" altLang="en-US" sz="2000" dirty="0">
                <a:latin typeface="Adobe 黑体 Std R" pitchFamily="34" charset="-122"/>
                <a:ea typeface="Adobe 黑体 Std R" pitchFamily="34" charset="-122"/>
              </a:rPr>
              <a:t>潘依雯</a:t>
            </a:r>
            <a:endParaRPr lang="en-US" altLang="zh-CN" sz="2000" dirty="0">
              <a:latin typeface="Adobe 黑体 Std R" pitchFamily="34" charset="-122"/>
              <a:ea typeface="Adobe 黑体 Std R" pitchFamily="34" charset="-122"/>
            </a:endParaRPr>
          </a:p>
          <a:p>
            <a:pPr algn="ctr"/>
            <a:r>
              <a:rPr lang="zh-CN" altLang="en-US" sz="2000" dirty="0">
                <a:latin typeface="Adobe 黑体 Std R" pitchFamily="34" charset="-122"/>
                <a:ea typeface="Adobe 黑体 Std R" pitchFamily="34" charset="-122"/>
              </a:rPr>
              <a:t>海洋学院</a:t>
            </a:r>
            <a:r>
              <a:rPr lang="zh-CN" altLang="en-US" dirty="0">
                <a:latin typeface="Adobe 黑体 Std R" pitchFamily="34" charset="-122"/>
                <a:ea typeface="Adobe 黑体 Std R" pitchFamily="34" charset="-122"/>
              </a:rPr>
              <a:t>海洋化学与环境所</a:t>
            </a:r>
            <a:endParaRPr lang="en-US" altLang="zh-CN" sz="2000" dirty="0">
              <a:latin typeface="Adobe 黑体 Std R" pitchFamily="34" charset="-122"/>
              <a:ea typeface="Adobe 黑体 Std R" pitchFamily="34" charset="-122"/>
            </a:endParaRPr>
          </a:p>
          <a:p>
            <a:pPr algn="ctr"/>
            <a:r>
              <a:rPr lang="zh-CN" altLang="en-US" sz="2000" dirty="0"/>
              <a:t>海科楼</a:t>
            </a:r>
            <a:r>
              <a:rPr lang="en-US" altLang="zh-CN" sz="2000" dirty="0"/>
              <a:t>319</a:t>
            </a:r>
            <a:r>
              <a:rPr lang="zh-CN" altLang="en-US" sz="2000" dirty="0"/>
              <a:t>，</a:t>
            </a:r>
            <a:r>
              <a:rPr lang="en-US" altLang="zh-CN" sz="2000" dirty="0"/>
              <a:t>Email: evelynpan@zju.edu.cn</a:t>
            </a:r>
            <a:endParaRPr lang="zh-CN" sz="2000" dirty="0"/>
          </a:p>
        </p:txBody>
      </p:sp>
      <p:sp>
        <p:nvSpPr>
          <p:cNvPr id="4" name="Rectangle 3"/>
          <p:cNvSpPr>
            <a:spLocks noGrp="1"/>
          </p:cNvSpPr>
          <p:nvPr>
            <p:ph type="title"/>
          </p:nvPr>
        </p:nvSpPr>
        <p:spPr>
          <a:xfrm>
            <a:off x="1142976" y="428604"/>
            <a:ext cx="7171730" cy="1797920"/>
          </a:xfrm>
        </p:spPr>
        <p:txBody>
          <a:bodyPr>
            <a:normAutofit fontScale="90000"/>
          </a:bodyPr>
          <a:lstStyle/>
          <a:p>
            <a:pPr algn="ctr"/>
            <a:r>
              <a:rPr lang="zh-CN" altLang="en-US" dirty="0"/>
              <a:t>海水分析化学</a:t>
            </a:r>
            <a:br>
              <a:rPr lang="en-US" altLang="zh-CN" dirty="0"/>
            </a:br>
            <a:r>
              <a:rPr lang="en-US" altLang="zh-CN" sz="3600" dirty="0"/>
              <a:t>Chemistry of seawater analysis </a:t>
            </a:r>
            <a:endParaRPr lang="zh-CN" dirty="0"/>
          </a:p>
        </p:txBody>
      </p:sp>
      <p:sp>
        <p:nvSpPr>
          <p:cNvPr id="8" name="TextBox 6"/>
          <p:cNvSpPr txBox="1">
            <a:spLocks noChangeArrowheads="1"/>
          </p:cNvSpPr>
          <p:nvPr/>
        </p:nvSpPr>
        <p:spPr bwMode="auto">
          <a:xfrm>
            <a:off x="7524328" y="6021289"/>
            <a:ext cx="1491086" cy="461653"/>
          </a:xfrm>
          <a:prstGeom prst="rect">
            <a:avLst/>
          </a:prstGeom>
          <a:noFill/>
          <a:ln w="9525">
            <a:noFill/>
            <a:miter lim="800000"/>
            <a:headEnd/>
            <a:tailEnd/>
          </a:ln>
        </p:spPr>
        <p:txBody>
          <a:bodyPr wrap="none" lIns="91426" tIns="45714" rIns="91426" bIns="45714">
            <a:spAutoFit/>
          </a:bodyPr>
          <a:lstStyle/>
          <a:p>
            <a:r>
              <a:rPr lang="zh-CN" altLang="en-US" sz="2400" dirty="0">
                <a:solidFill>
                  <a:srgbClr val="00B0F0"/>
                </a:solidFill>
                <a:latin typeface="华文行楷" pitchFamily="2" charset="-122"/>
                <a:ea typeface="华文行楷" pitchFamily="2" charset="-122"/>
              </a:rPr>
              <a:t>宽厚 跨越</a:t>
            </a:r>
          </a:p>
        </p:txBody>
      </p:sp>
      <p:sp>
        <p:nvSpPr>
          <p:cNvPr id="6" name="Rectangle 3"/>
          <p:cNvSpPr txBox="1">
            <a:spLocks/>
          </p:cNvSpPr>
          <p:nvPr/>
        </p:nvSpPr>
        <p:spPr bwMode="auto">
          <a:xfrm>
            <a:off x="1142976" y="2071678"/>
            <a:ext cx="7171730" cy="1797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7500"/>
          </a:bodyPr>
          <a:lstStyle/>
          <a:p>
            <a:pPr marL="0" marR="0" lvl="0" indent="0" algn="ctr" defTabSz="914400" rtl="0" eaLnBrk="0" fontAlgn="base" latinLnBrk="0" hangingPunct="0">
              <a:lnSpc>
                <a:spcPct val="100000"/>
              </a:lnSpc>
              <a:spcBef>
                <a:spcPct val="0"/>
              </a:spcBef>
              <a:spcAft>
                <a:spcPct val="0"/>
              </a:spcAft>
              <a:buClrTx/>
              <a:buSzTx/>
              <a:buFontTx/>
              <a:buNone/>
              <a:tabLst/>
              <a:defRPr/>
            </a:pPr>
            <a:br>
              <a:rPr kumimoji="0" lang="en-US" altLang="zh-CN" sz="3600" b="1" i="0" u="none" strike="noStrike" kern="0" cap="all" spc="0" normalizeH="0" baseline="0" noProof="0" dirty="0">
                <a:ln>
                  <a:noFill/>
                </a:ln>
                <a:solidFill>
                  <a:schemeClr val="tx2"/>
                </a:solidFill>
                <a:effectLst/>
                <a:uLnTx/>
                <a:uFillTx/>
                <a:latin typeface="+mj-lt"/>
                <a:ea typeface="+mj-ea"/>
                <a:cs typeface="+mj-cs"/>
              </a:rPr>
            </a:br>
            <a:r>
              <a:rPr kumimoji="0" lang="en-US" altLang="zh-CN" sz="3300" b="1" i="0" u="none" strike="noStrike" kern="0" cap="all" spc="0" normalizeH="0" baseline="0" noProof="0" dirty="0">
                <a:ln>
                  <a:noFill/>
                </a:ln>
                <a:solidFill>
                  <a:srgbClr val="FF0000"/>
                </a:solidFill>
                <a:effectLst/>
                <a:uLnTx/>
                <a:uFillTx/>
                <a:latin typeface="+mj-lt"/>
                <a:ea typeface="+mj-ea"/>
                <a:cs typeface="+mj-cs"/>
              </a:rPr>
              <a:t>Methods of seawater analysis </a:t>
            </a:r>
            <a:endParaRPr kumimoji="0" lang="zh-CN" sz="3600" b="1" i="0" u="none" strike="noStrike" kern="0" cap="all"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zh-CN" altLang="en-US" dirty="0"/>
              <a:t>提纲</a:t>
            </a:r>
            <a:endParaRPr lang="en-US" altLang="zh-CN" dirty="0"/>
          </a:p>
          <a:p>
            <a:pPr marL="914400" lvl="1" indent="-457200">
              <a:buFont typeface="+mj-lt"/>
              <a:buAutoNum type="arabicPeriod"/>
            </a:pPr>
            <a:r>
              <a:rPr lang="zh-CN" altLang="en-US" sz="2800" dirty="0"/>
              <a:t>海水中营养要素的组成</a:t>
            </a:r>
            <a:endParaRPr lang="en-US" altLang="zh-CN" sz="2800" dirty="0"/>
          </a:p>
          <a:p>
            <a:pPr marL="914400" lvl="1" indent="-457200">
              <a:buFont typeface="+mj-lt"/>
              <a:buAutoNum type="arabicPeriod"/>
            </a:pPr>
            <a:r>
              <a:rPr lang="zh-CN" altLang="en-US" sz="2800" dirty="0"/>
              <a:t>海水中磷循环的重要意义</a:t>
            </a:r>
            <a:endParaRPr lang="en-US" altLang="zh-CN" sz="2800" dirty="0"/>
          </a:p>
          <a:p>
            <a:pPr marL="914400" lvl="1" indent="-457200">
              <a:buFont typeface="+mj-lt"/>
              <a:buAutoNum type="arabicPeriod"/>
            </a:pPr>
            <a:r>
              <a:rPr lang="zh-CN" altLang="en-US" sz="2800" dirty="0"/>
              <a:t>海水中磷酸盐的组成及主要存在形式</a:t>
            </a:r>
            <a:endParaRPr lang="en-US" altLang="zh-CN" sz="2800" dirty="0"/>
          </a:p>
          <a:p>
            <a:pPr marL="914400" lvl="1" indent="-457200">
              <a:buFont typeface="+mj-lt"/>
              <a:buAutoNum type="arabicPeriod"/>
            </a:pPr>
            <a:r>
              <a:rPr lang="zh-CN" altLang="en-US" sz="2800" dirty="0"/>
              <a:t>海水中磷酸盐的测定方法</a:t>
            </a:r>
            <a:endParaRPr lang="en-US" altLang="zh-CN" sz="2800" dirty="0"/>
          </a:p>
          <a:p>
            <a:pPr marL="1314450" lvl="2" indent="-457200">
              <a:buFont typeface="+mj-lt"/>
              <a:buAutoNum type="alphaUcPeriod"/>
            </a:pPr>
            <a:r>
              <a:rPr lang="zh-CN" altLang="en-US" sz="2400" dirty="0"/>
              <a:t>磷钼黄法</a:t>
            </a:r>
            <a:endParaRPr lang="en-US" altLang="zh-CN" sz="2400" dirty="0"/>
          </a:p>
          <a:p>
            <a:pPr marL="1314450" lvl="2" indent="-457200">
              <a:buFont typeface="+mj-lt"/>
              <a:buAutoNum type="alphaUcPeriod"/>
            </a:pPr>
            <a:r>
              <a:rPr lang="zh-CN" altLang="en-US" sz="2400" dirty="0"/>
              <a:t>磷钼蓝法</a:t>
            </a:r>
            <a:endParaRPr lang="en-US" altLang="zh-CN" dirty="0"/>
          </a:p>
          <a:p>
            <a:pPr marL="914400" lvl="1" indent="-457200">
              <a:buFont typeface="+mj-lt"/>
              <a:buAutoNum type="arabicPeriod"/>
            </a:pPr>
            <a:r>
              <a:rPr lang="zh-CN" altLang="en-US" sz="2800" dirty="0"/>
              <a:t>紫外分光光度法的测量原理</a:t>
            </a:r>
            <a:endParaRPr lang="en-US" altLang="zh-CN" sz="2800" dirty="0"/>
          </a:p>
          <a:p>
            <a:pPr marL="914400" lvl="1" indent="-457200">
              <a:buFont typeface="+mj-lt"/>
              <a:buAutoNum type="arabicPeriod"/>
            </a:pPr>
            <a:endParaRPr lang="en-US" altLang="zh-CN" dirty="0"/>
          </a:p>
          <a:p>
            <a:pPr marL="914400" lvl="1" indent="-457200">
              <a:buFont typeface="+mj-lt"/>
              <a:buAutoNum type="arabicPeriod"/>
            </a:pPr>
            <a:endParaRPr lang="zh-CN" altLang="en-US" dirty="0"/>
          </a:p>
        </p:txBody>
      </p:sp>
      <p:sp>
        <p:nvSpPr>
          <p:cNvPr id="4" name="标题 1"/>
          <p:cNvSpPr txBox="1">
            <a:spLocks/>
          </p:cNvSpPr>
          <p:nvPr/>
        </p:nvSpPr>
        <p:spPr bwMode="auto">
          <a:xfrm>
            <a:off x="1357290" y="500042"/>
            <a:ext cx="7224706" cy="836712"/>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all"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zh-CN" altLang="en-US" dirty="0"/>
              <a:t>提纲</a:t>
            </a:r>
            <a:endParaRPr lang="en-US" altLang="zh-CN" dirty="0"/>
          </a:p>
          <a:p>
            <a:pPr marL="914400" lvl="1" indent="-457200">
              <a:buFont typeface="+mj-lt"/>
              <a:buAutoNum type="arabicPeriod"/>
            </a:pPr>
            <a:r>
              <a:rPr lang="zh-CN" altLang="en-US" sz="2800" dirty="0"/>
              <a:t>海水中营养要素的组成</a:t>
            </a:r>
            <a:endParaRPr lang="en-US" altLang="zh-CN" sz="2800" dirty="0"/>
          </a:p>
          <a:p>
            <a:pPr marL="914400" lvl="1" indent="-457200">
              <a:buFont typeface="+mj-lt"/>
              <a:buAutoNum type="arabicPeriod"/>
            </a:pPr>
            <a:r>
              <a:rPr lang="zh-CN" altLang="en-US" sz="2800" dirty="0">
                <a:solidFill>
                  <a:schemeClr val="bg2">
                    <a:lumMod val="40000"/>
                    <a:lumOff val="60000"/>
                  </a:schemeClr>
                </a:solidFill>
              </a:rPr>
              <a:t>海水中磷循环的重要意义</a:t>
            </a:r>
            <a:endParaRPr lang="en-US" altLang="zh-CN" sz="2800" dirty="0">
              <a:solidFill>
                <a:schemeClr val="bg2">
                  <a:lumMod val="40000"/>
                  <a:lumOff val="60000"/>
                </a:schemeClr>
              </a:solidFill>
            </a:endParaRPr>
          </a:p>
          <a:p>
            <a:pPr marL="914400" lvl="1" indent="-457200">
              <a:buFont typeface="+mj-lt"/>
              <a:buAutoNum type="arabicPeriod"/>
            </a:pPr>
            <a:r>
              <a:rPr lang="zh-CN" altLang="en-US" sz="2800" dirty="0">
                <a:solidFill>
                  <a:schemeClr val="bg2">
                    <a:lumMod val="40000"/>
                    <a:lumOff val="60000"/>
                  </a:schemeClr>
                </a:solidFill>
              </a:rPr>
              <a:t>海水中磷酸盐的组成及主要存在形式</a:t>
            </a:r>
            <a:endParaRPr lang="en-US" altLang="zh-CN" sz="2800" dirty="0">
              <a:solidFill>
                <a:schemeClr val="bg2">
                  <a:lumMod val="40000"/>
                  <a:lumOff val="60000"/>
                </a:schemeClr>
              </a:solidFill>
            </a:endParaRPr>
          </a:p>
          <a:p>
            <a:pPr marL="914400" lvl="1" indent="-457200">
              <a:buFont typeface="+mj-lt"/>
              <a:buAutoNum type="arabicPeriod"/>
            </a:pPr>
            <a:r>
              <a:rPr lang="zh-CN" altLang="en-US" sz="2800" dirty="0">
                <a:solidFill>
                  <a:schemeClr val="bg2">
                    <a:lumMod val="40000"/>
                    <a:lumOff val="60000"/>
                  </a:schemeClr>
                </a:solidFill>
              </a:rPr>
              <a:t>海水中磷酸盐的测定方法</a:t>
            </a:r>
            <a:endParaRPr lang="en-US" altLang="zh-CN" sz="2800" dirty="0">
              <a:solidFill>
                <a:schemeClr val="bg2">
                  <a:lumMod val="40000"/>
                  <a:lumOff val="60000"/>
                </a:schemeClr>
              </a:solidFill>
            </a:endParaRPr>
          </a:p>
          <a:p>
            <a:pPr marL="1314450" lvl="2" indent="-457200">
              <a:buFont typeface="+mj-lt"/>
              <a:buAutoNum type="alphaUcPeriod"/>
            </a:pPr>
            <a:r>
              <a:rPr lang="zh-CN" altLang="en-US" sz="2400" dirty="0">
                <a:solidFill>
                  <a:schemeClr val="bg2">
                    <a:lumMod val="40000"/>
                    <a:lumOff val="60000"/>
                  </a:schemeClr>
                </a:solidFill>
              </a:rPr>
              <a:t>磷钼黄法</a:t>
            </a:r>
            <a:endParaRPr lang="en-US" altLang="zh-CN" sz="2400" dirty="0">
              <a:solidFill>
                <a:schemeClr val="bg2">
                  <a:lumMod val="40000"/>
                  <a:lumOff val="60000"/>
                </a:schemeClr>
              </a:solidFill>
            </a:endParaRPr>
          </a:p>
          <a:p>
            <a:pPr marL="1314450" lvl="2" indent="-457200">
              <a:buFont typeface="+mj-lt"/>
              <a:buAutoNum type="alphaUcPeriod"/>
            </a:pPr>
            <a:r>
              <a:rPr lang="zh-CN" altLang="en-US" sz="2400" dirty="0">
                <a:solidFill>
                  <a:schemeClr val="bg2">
                    <a:lumMod val="40000"/>
                    <a:lumOff val="60000"/>
                  </a:schemeClr>
                </a:solidFill>
              </a:rPr>
              <a:t>磷钼蓝法</a:t>
            </a:r>
            <a:endParaRPr lang="en-US" altLang="zh-CN" dirty="0">
              <a:solidFill>
                <a:schemeClr val="bg2">
                  <a:lumMod val="40000"/>
                  <a:lumOff val="60000"/>
                </a:schemeClr>
              </a:solidFill>
            </a:endParaRPr>
          </a:p>
          <a:p>
            <a:pPr marL="914400" lvl="1" indent="-457200">
              <a:buFont typeface="+mj-lt"/>
              <a:buAutoNum type="arabicPeriod"/>
            </a:pPr>
            <a:r>
              <a:rPr lang="zh-CN" altLang="en-US" sz="2800" dirty="0">
                <a:solidFill>
                  <a:schemeClr val="bg2">
                    <a:lumMod val="40000"/>
                    <a:lumOff val="60000"/>
                  </a:schemeClr>
                </a:solidFill>
              </a:rPr>
              <a:t>紫外分光光度法的测量原理</a:t>
            </a:r>
            <a:endParaRPr lang="en-US" altLang="zh-CN" sz="2800" dirty="0">
              <a:solidFill>
                <a:schemeClr val="bg2">
                  <a:lumMod val="40000"/>
                  <a:lumOff val="60000"/>
                </a:schemeClr>
              </a:solidFill>
            </a:endParaRPr>
          </a:p>
          <a:p>
            <a:pPr marL="914400" lvl="1" indent="-457200">
              <a:buFont typeface="+mj-lt"/>
              <a:buAutoNum type="arabicPeriod"/>
            </a:pPr>
            <a:endParaRPr lang="en-US" altLang="zh-CN" dirty="0"/>
          </a:p>
          <a:p>
            <a:pPr marL="914400" lvl="1" indent="-457200">
              <a:buFont typeface="+mj-lt"/>
              <a:buAutoNum type="arabicPeriod"/>
            </a:pPr>
            <a:endParaRPr lang="zh-CN" altLang="en-US" dirty="0"/>
          </a:p>
        </p:txBody>
      </p:sp>
      <p:sp>
        <p:nvSpPr>
          <p:cNvPr id="4" name="标题 1"/>
          <p:cNvSpPr txBox="1">
            <a:spLocks/>
          </p:cNvSpPr>
          <p:nvPr/>
        </p:nvSpPr>
        <p:spPr bwMode="auto">
          <a:xfrm>
            <a:off x="1357290" y="500042"/>
            <a:ext cx="7224706" cy="836712"/>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all"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Tree>
    <p:extLst>
      <p:ext uri="{BB962C8B-B14F-4D97-AF65-F5344CB8AC3E}">
        <p14:creationId xmlns:p14="http://schemas.microsoft.com/office/powerpoint/2010/main" val="2275857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课程\课件\课程图片\藻类图片.jpg"/>
          <p:cNvPicPr>
            <a:picLocks noChangeAspect="1" noChangeArrowheads="1"/>
          </p:cNvPicPr>
          <p:nvPr/>
        </p:nvPicPr>
        <p:blipFill>
          <a:blip r:embed="rId3" cstate="print"/>
          <a:srcRect/>
          <a:stretch>
            <a:fillRect/>
          </a:stretch>
        </p:blipFill>
        <p:spPr bwMode="auto">
          <a:xfrm>
            <a:off x="395536" y="2492896"/>
            <a:ext cx="3384376" cy="2976331"/>
          </a:xfrm>
          <a:prstGeom prst="rect">
            <a:avLst/>
          </a:prstGeom>
          <a:noFill/>
        </p:spPr>
      </p:pic>
      <p:pic>
        <p:nvPicPr>
          <p:cNvPr id="8" name="j0178459.jpg"/>
          <p:cNvPicPr>
            <a:picLocks noChangeAspect="1"/>
          </p:cNvPicPr>
          <p:nvPr/>
        </p:nvPicPr>
        <p:blipFill>
          <a:blip r:embed="rId4" cstate="print"/>
          <a:srcRect t="16280" b="16280"/>
          <a:stretch>
            <a:fillRect/>
          </a:stretch>
        </p:blipFill>
        <p:spPr>
          <a:xfrm>
            <a:off x="3858645" y="2464429"/>
            <a:ext cx="5218112" cy="3072341"/>
          </a:xfrm>
          <a:prstGeom prst="rect">
            <a:avLst/>
          </a:prstGeom>
        </p:spPr>
      </p:pic>
      <p:sp>
        <p:nvSpPr>
          <p:cNvPr id="2" name="标题 1"/>
          <p:cNvSpPr>
            <a:spLocks noGrp="1"/>
          </p:cNvSpPr>
          <p:nvPr>
            <p:ph type="title"/>
          </p:nvPr>
        </p:nvSpPr>
        <p:spPr>
          <a:xfrm>
            <a:off x="1270500" y="450386"/>
            <a:ext cx="7224706" cy="836712"/>
          </a:xfrm>
          <a:solidFill>
            <a:schemeClr val="accent1"/>
          </a:solidFill>
        </p:spPr>
        <p:txBody>
          <a:bodyPr>
            <a:normAutofit/>
          </a:bodyPr>
          <a:lstStyle/>
          <a:p>
            <a:pPr algn="l"/>
            <a:r>
              <a:rPr lang="zh-CN" altLang="en-US" sz="4000" b="1" dirty="0">
                <a:solidFill>
                  <a:schemeClr val="accent2">
                    <a:lumMod val="75000"/>
                  </a:schemeClr>
                </a:solidFill>
              </a:rPr>
              <a:t>第四章 海水中营养元素的测定</a:t>
            </a:r>
          </a:p>
        </p:txBody>
      </p:sp>
      <p:sp>
        <p:nvSpPr>
          <p:cNvPr id="3" name="内容占位符 2"/>
          <p:cNvSpPr>
            <a:spLocks noGrp="1"/>
          </p:cNvSpPr>
          <p:nvPr>
            <p:ph sz="quarter" idx="13"/>
          </p:nvPr>
        </p:nvSpPr>
        <p:spPr>
          <a:xfrm>
            <a:off x="367444" y="1911482"/>
            <a:ext cx="3674368" cy="4368800"/>
          </a:xfrm>
        </p:spPr>
        <p:txBody>
          <a:bodyPr/>
          <a:lstStyle/>
          <a:p>
            <a:r>
              <a:rPr lang="zh-CN" altLang="en-US" sz="2800" dirty="0"/>
              <a:t>营养要素的组成</a:t>
            </a:r>
            <a:endParaRPr lang="en-US" altLang="zh-CN" sz="2800" dirty="0"/>
          </a:p>
          <a:p>
            <a:pPr lvl="1"/>
            <a:r>
              <a:rPr lang="en-US" altLang="zh-CN" dirty="0">
                <a:solidFill>
                  <a:schemeClr val="bg1"/>
                </a:solidFill>
              </a:rPr>
              <a:t>N</a:t>
            </a:r>
          </a:p>
          <a:p>
            <a:pPr lvl="1"/>
            <a:r>
              <a:rPr lang="en-US" altLang="zh-CN" dirty="0">
                <a:solidFill>
                  <a:schemeClr val="bg1"/>
                </a:solidFill>
              </a:rPr>
              <a:t>P</a:t>
            </a:r>
          </a:p>
          <a:p>
            <a:pPr lvl="1"/>
            <a:r>
              <a:rPr lang="en-US" altLang="zh-CN" dirty="0">
                <a:solidFill>
                  <a:schemeClr val="bg1"/>
                </a:solidFill>
              </a:rPr>
              <a:t>Si</a:t>
            </a:r>
            <a:endParaRPr lang="zh-CN" altLang="en-US" dirty="0">
              <a:solidFill>
                <a:schemeClr val="bg1"/>
              </a:solidFill>
            </a:endParaRPr>
          </a:p>
        </p:txBody>
      </p:sp>
      <p:sp>
        <p:nvSpPr>
          <p:cNvPr id="5" name="TextBox 6"/>
          <p:cNvSpPr txBox="1">
            <a:spLocks noChangeArrowheads="1"/>
          </p:cNvSpPr>
          <p:nvPr/>
        </p:nvSpPr>
        <p:spPr bwMode="auto">
          <a:xfrm>
            <a:off x="7452320" y="5637246"/>
            <a:ext cx="1491086" cy="461653"/>
          </a:xfrm>
          <a:prstGeom prst="rect">
            <a:avLst/>
          </a:prstGeom>
          <a:noFill/>
          <a:ln w="9525">
            <a:noFill/>
            <a:miter lim="800000"/>
            <a:headEnd/>
            <a:tailEnd/>
          </a:ln>
        </p:spPr>
        <p:txBody>
          <a:bodyPr wrap="none" lIns="91426" tIns="45714" rIns="91426" bIns="45714">
            <a:spAutoFit/>
          </a:bodyPr>
          <a:lstStyle/>
          <a:p>
            <a:r>
              <a:rPr lang="zh-CN" altLang="en-US" sz="2400" dirty="0">
                <a:solidFill>
                  <a:srgbClr val="00B0F0"/>
                </a:solidFill>
                <a:latin typeface="华文行楷" pitchFamily="2" charset="-122"/>
                <a:ea typeface="华文行楷" pitchFamily="2" charset="-122"/>
              </a:rPr>
              <a:t>宽厚 跨越</a:t>
            </a:r>
          </a:p>
        </p:txBody>
      </p:sp>
      <p:sp>
        <p:nvSpPr>
          <p:cNvPr id="6" name="内容占位符 2"/>
          <p:cNvSpPr txBox="1">
            <a:spLocks/>
          </p:cNvSpPr>
          <p:nvPr/>
        </p:nvSpPr>
        <p:spPr>
          <a:xfrm>
            <a:off x="3950786" y="1911482"/>
            <a:ext cx="3573040" cy="3744416"/>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zh-CN" altLang="en-US" sz="2900" b="0" i="0" u="none" strike="noStrike" kern="1200" cap="none" spc="0" normalizeH="0" baseline="0" noProof="0" dirty="0">
                <a:ln>
                  <a:noFill/>
                </a:ln>
                <a:solidFill>
                  <a:schemeClr val="tx1"/>
                </a:solidFill>
                <a:effectLst/>
                <a:uLnTx/>
                <a:uFillTx/>
                <a:latin typeface="+mn-lt"/>
                <a:ea typeface="+mn-ea"/>
                <a:cs typeface="+mn-cs"/>
              </a:rPr>
              <a:t>营养要素的组成</a:t>
            </a:r>
            <a:endParaRPr kumimoji="0" lang="en-US" altLang="zh-CN" sz="2900" b="0" i="0" u="none" strike="noStrike" kern="1200" cap="none" spc="0" normalizeH="0" baseline="0" noProof="0" dirty="0">
              <a:ln>
                <a:noFill/>
              </a:ln>
              <a:solidFill>
                <a:schemeClr val="tx1"/>
              </a:solidFill>
              <a:effectLst/>
              <a:uLnTx/>
              <a:uFillTx/>
              <a:latin typeface="+mn-lt"/>
              <a:ea typeface="+mn-ea"/>
              <a:cs typeface="+mn-cs"/>
            </a:endParaRPr>
          </a:p>
          <a:p>
            <a:pPr marL="640080" lvl="1" indent="-274320">
              <a:spcBef>
                <a:spcPts val="550"/>
              </a:spcBef>
              <a:buClr>
                <a:schemeClr val="accent1"/>
              </a:buClr>
              <a:buSzPct val="70000"/>
              <a:buFont typeface="Wingdings 2"/>
              <a:buChar char=""/>
            </a:pPr>
            <a:r>
              <a:rPr lang="en-US" altLang="zh-CN" sz="2600" dirty="0"/>
              <a:t>N</a:t>
            </a:r>
          </a:p>
          <a:p>
            <a:pPr marL="640080" lvl="1" indent="-274320">
              <a:spcBef>
                <a:spcPts val="550"/>
              </a:spcBef>
              <a:buClr>
                <a:schemeClr val="accent1"/>
              </a:buClr>
              <a:buSzPct val="70000"/>
              <a:buFont typeface="Wingdings 2"/>
              <a:buChar char=""/>
            </a:pPr>
            <a:r>
              <a:rPr lang="en-US" altLang="zh-CN" sz="2600" dirty="0"/>
              <a:t>P</a:t>
            </a:r>
          </a:p>
          <a:p>
            <a:pPr marL="640080" lvl="1" indent="-274320">
              <a:spcBef>
                <a:spcPts val="550"/>
              </a:spcBef>
              <a:buClr>
                <a:schemeClr val="accent1"/>
              </a:buClr>
              <a:buSzPct val="70000"/>
              <a:buFont typeface="Wingdings 2"/>
              <a:buChar char=""/>
            </a:pPr>
            <a:r>
              <a:rPr lang="en-US" altLang="zh-CN" sz="2600" dirty="0"/>
              <a:t>K</a:t>
            </a:r>
          </a:p>
          <a:p>
            <a:pPr marL="640080" lvl="1" indent="-274320">
              <a:spcBef>
                <a:spcPts val="550"/>
              </a:spcBef>
              <a:buClr>
                <a:schemeClr val="accent1"/>
              </a:buClr>
              <a:buSzPct val="70000"/>
              <a:buFont typeface="Wingdings 2"/>
              <a:buChar char=""/>
            </a:pPr>
            <a:r>
              <a:rPr lang="en-US" altLang="zh-CN" sz="2600" dirty="0"/>
              <a:t>Ca</a:t>
            </a:r>
            <a:endParaRPr lang="zh-CN" altLang="en-US" sz="2600" dirty="0"/>
          </a:p>
        </p:txBody>
      </p:sp>
      <p:sp>
        <p:nvSpPr>
          <p:cNvPr id="11" name="TextBox 10"/>
          <p:cNvSpPr txBox="1"/>
          <p:nvPr/>
        </p:nvSpPr>
        <p:spPr>
          <a:xfrm>
            <a:off x="755576" y="5541235"/>
            <a:ext cx="8388424" cy="954107"/>
          </a:xfrm>
          <a:prstGeom prst="rect">
            <a:avLst/>
          </a:prstGeom>
          <a:noFill/>
        </p:spPr>
        <p:txBody>
          <a:bodyPr wrap="square" rtlCol="0">
            <a:spAutoFit/>
          </a:bodyPr>
          <a:lstStyle/>
          <a:p>
            <a:r>
              <a:rPr lang="zh-CN" altLang="en-US" sz="2800" b="1" dirty="0">
                <a:solidFill>
                  <a:srgbClr val="C00000"/>
                </a:solidFill>
                <a:latin typeface="幼圆" pitchFamily="49" charset="-122"/>
                <a:ea typeface="幼圆" pitchFamily="49" charset="-122"/>
              </a:rPr>
              <a:t>营养要素的定义？</a:t>
            </a:r>
            <a:endParaRPr lang="en-US" altLang="zh-CN" sz="2800" b="1" dirty="0">
              <a:solidFill>
                <a:srgbClr val="C00000"/>
              </a:solidFill>
              <a:latin typeface="幼圆" pitchFamily="49" charset="-122"/>
              <a:ea typeface="幼圆" pitchFamily="49" charset="-122"/>
            </a:endParaRPr>
          </a:p>
          <a:p>
            <a:r>
              <a:rPr lang="zh-CN" altLang="en-US" sz="2800" b="1" dirty="0">
                <a:solidFill>
                  <a:srgbClr val="C00000"/>
                </a:solidFill>
                <a:latin typeface="幼圆" pitchFamily="49" charset="-122"/>
                <a:ea typeface="幼圆" pitchFamily="49" charset="-122"/>
              </a:rPr>
              <a:t>为什么海洋系统和陆地系统的营养要素组成不同？</a:t>
            </a:r>
          </a:p>
        </p:txBody>
      </p:sp>
      <p:sp>
        <p:nvSpPr>
          <p:cNvPr id="10" name="TextBox 9"/>
          <p:cNvSpPr txBox="1"/>
          <p:nvPr/>
        </p:nvSpPr>
        <p:spPr>
          <a:xfrm>
            <a:off x="1270500" y="1303020"/>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itchFamily="2" charset="-122"/>
                <a:ea typeface="华文新魏" pitchFamily="2" charset="-122"/>
              </a:rPr>
              <a:t>营养要素的组成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wipe(down)">
                                      <p:cBhvr>
                                        <p:cTn id="21" dur="500"/>
                                        <p:tgtEl>
                                          <p:spTgt spid="6">
                                            <p:txEl>
                                              <p:pRg st="0" end="0"/>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wipe(down)">
                                      <p:cBhvr>
                                        <p:cTn id="24" dur="500"/>
                                        <p:tgtEl>
                                          <p:spTgt spid="6">
                                            <p:txEl>
                                              <p:pRg st="1" end="1"/>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wipe(down)">
                                      <p:cBhvr>
                                        <p:cTn id="27" dur="500"/>
                                        <p:tgtEl>
                                          <p:spTgt spid="6">
                                            <p:txEl>
                                              <p:pRg st="2" end="2"/>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wipe(down)">
                                      <p:cBhvr>
                                        <p:cTn id="30" dur="500"/>
                                        <p:tgtEl>
                                          <p:spTgt spid="6">
                                            <p:txEl>
                                              <p:pRg st="3" end="3"/>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wipe(down)">
                                      <p:cBhvr>
                                        <p:cTn id="3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6"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0"/>
          <p:cNvSpPr>
            <a:spLocks noChangeArrowheads="1"/>
          </p:cNvSpPr>
          <p:nvPr/>
        </p:nvSpPr>
        <p:spPr bwMode="auto">
          <a:xfrm>
            <a:off x="1" y="3162141"/>
            <a:ext cx="184731" cy="369332"/>
          </a:xfrm>
          <a:prstGeom prst="rect">
            <a:avLst/>
          </a:prstGeom>
          <a:noFill/>
          <a:ln w="9525">
            <a:noFill/>
            <a:miter lim="800000"/>
            <a:headEnd/>
            <a:tailEnd/>
          </a:ln>
        </p:spPr>
        <p:txBody>
          <a:bodyPr wrap="none" anchor="ctr">
            <a:spAutoFit/>
          </a:bodyPr>
          <a:lstStyle/>
          <a:p>
            <a:endParaRPr lang="zh-CN" altLang="en-US"/>
          </a:p>
        </p:txBody>
      </p:sp>
      <p:sp>
        <p:nvSpPr>
          <p:cNvPr id="24581" name="Rectangle 21"/>
          <p:cNvSpPr>
            <a:spLocks noChangeArrowheads="1"/>
          </p:cNvSpPr>
          <p:nvPr/>
        </p:nvSpPr>
        <p:spPr bwMode="auto">
          <a:xfrm>
            <a:off x="1" y="3438367"/>
            <a:ext cx="184731" cy="369332"/>
          </a:xfrm>
          <a:prstGeom prst="rect">
            <a:avLst/>
          </a:prstGeom>
          <a:noFill/>
          <a:ln w="9525">
            <a:noFill/>
            <a:miter lim="800000"/>
            <a:headEnd/>
            <a:tailEnd/>
          </a:ln>
        </p:spPr>
        <p:txBody>
          <a:bodyPr wrap="none" anchor="ctr">
            <a:spAutoFit/>
          </a:bodyPr>
          <a:lstStyle/>
          <a:p>
            <a:endParaRPr lang="zh-CN" altLang="en-US"/>
          </a:p>
        </p:txBody>
      </p:sp>
      <p:sp>
        <p:nvSpPr>
          <p:cNvPr id="24582" name="Rectangle 22"/>
          <p:cNvSpPr>
            <a:spLocks noChangeArrowheads="1"/>
          </p:cNvSpPr>
          <p:nvPr/>
        </p:nvSpPr>
        <p:spPr bwMode="auto">
          <a:xfrm>
            <a:off x="-900112" y="3903504"/>
            <a:ext cx="184731" cy="369332"/>
          </a:xfrm>
          <a:prstGeom prst="rect">
            <a:avLst/>
          </a:prstGeom>
          <a:noFill/>
          <a:ln w="9525">
            <a:noFill/>
            <a:miter lim="800000"/>
            <a:headEnd/>
            <a:tailEnd/>
          </a:ln>
        </p:spPr>
        <p:txBody>
          <a:bodyPr wrap="none" anchor="ctr">
            <a:spAutoFit/>
          </a:bodyPr>
          <a:lstStyle/>
          <a:p>
            <a:endParaRPr lang="zh-CN" altLang="en-US" dirty="0"/>
          </a:p>
        </p:txBody>
      </p:sp>
      <p:sp>
        <p:nvSpPr>
          <p:cNvPr id="24583" name="Rectangle 27"/>
          <p:cNvSpPr>
            <a:spLocks noChangeArrowheads="1"/>
          </p:cNvSpPr>
          <p:nvPr/>
        </p:nvSpPr>
        <p:spPr bwMode="auto">
          <a:xfrm>
            <a:off x="1920313" y="2412532"/>
            <a:ext cx="5422441" cy="478144"/>
          </a:xfrm>
          <a:prstGeom prst="rect">
            <a:avLst/>
          </a:prstGeom>
          <a:noFill/>
          <a:ln w="31750" algn="ctr">
            <a:noFill/>
            <a:miter lim="800000"/>
            <a:headEnd/>
            <a:tailEnd/>
          </a:ln>
        </p:spPr>
        <p:txBody>
          <a:bodyPr wrap="none" lIns="18000" tIns="36000" rIns="18000" bIns="10800" anchor="ctr">
            <a:spAutoFit/>
          </a:bodyPr>
          <a:lstStyle/>
          <a:p>
            <a:pPr algn="ctr">
              <a:lnSpc>
                <a:spcPct val="100000"/>
              </a:lnSpc>
              <a:spcBef>
                <a:spcPct val="0"/>
              </a:spcBef>
              <a:buFontTx/>
              <a:buNone/>
            </a:pPr>
            <a:r>
              <a:rPr lang="zh-CN" altLang="en-US" sz="2800" dirty="0">
                <a:solidFill>
                  <a:srgbClr val="0000FF"/>
                </a:solidFill>
                <a:latin typeface="Times New Roman" pitchFamily="18" charset="0"/>
                <a:ea typeface="黑体" pitchFamily="49" charset="-122"/>
                <a:cs typeface="Times New Roman" pitchFamily="18" charset="0"/>
              </a:rPr>
              <a:t>海洋植物与动物生长所必需的元素</a:t>
            </a:r>
          </a:p>
        </p:txBody>
      </p:sp>
      <p:graphicFrame>
        <p:nvGraphicFramePr>
          <p:cNvPr id="27738" name="Group 90"/>
          <p:cNvGraphicFramePr>
            <a:graphicFrameLocks noGrp="1"/>
          </p:cNvGraphicFramePr>
          <p:nvPr>
            <p:extLst>
              <p:ext uri="{D42A27DB-BD31-4B8C-83A1-F6EECF244321}">
                <p14:modId xmlns:p14="http://schemas.microsoft.com/office/powerpoint/2010/main" val="3849155055"/>
              </p:ext>
            </p:extLst>
          </p:nvPr>
        </p:nvGraphicFramePr>
        <p:xfrm>
          <a:off x="179388" y="3213101"/>
          <a:ext cx="8784976" cy="2300161"/>
        </p:xfrm>
        <a:graphic>
          <a:graphicData uri="http://schemas.openxmlformats.org/drawingml/2006/table">
            <a:tbl>
              <a:tblPr/>
              <a:tblGrid>
                <a:gridCol w="3744540">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gridCol w="2016100">
                  <a:extLst>
                    <a:ext uri="{9D8B030D-6E8A-4147-A177-3AD203B41FA5}">
                      <a16:colId xmlns:a16="http://schemas.microsoft.com/office/drawing/2014/main" val="20002"/>
                    </a:ext>
                  </a:extLst>
                </a:gridCol>
              </a:tblGrid>
              <a:tr h="936625">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所有生物</a:t>
                      </a:r>
                    </a:p>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必需元素</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部分生物</a:t>
                      </a:r>
                    </a:p>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必需元素</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少量生物</a:t>
                      </a:r>
                    </a:p>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必需元素</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1363536">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H</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C</a:t>
                      </a:r>
                      <a:r>
                        <a:rPr kumimoji="0" lang="zh-CN" altLang="en-US" sz="2400" b="1" i="0" u="none" strike="noStrike" cap="none" normalizeH="0" baseline="0" dirty="0">
                          <a:ln>
                            <a:noFill/>
                          </a:ln>
                          <a:solidFill>
                            <a:srgbClr val="0033CC"/>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N</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O</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Na</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Mg</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P</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S</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rgbClr val="0000FF"/>
                          </a:solidFill>
                          <a:effectLst/>
                          <a:latin typeface="Times New Roman" pitchFamily="18" charset="0"/>
                          <a:ea typeface="黑体" pitchFamily="49" charset="-122"/>
                          <a:cs typeface="Times New Roman" pitchFamily="18" charset="0"/>
                        </a:rPr>
                        <a:t>Cl</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K</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Mn</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Ca</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Fe</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Co</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Zn</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Se</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EF2E8"/>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Si</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V</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Co</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Mo</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I</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B</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F</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Cr</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Br</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Ru</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Sn</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EF2E8"/>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Li</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Al</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Ni</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Sr</a:t>
                      </a:r>
                      <a:r>
                        <a:rPr kumimoji="0" lang="zh-CN" altLang="en-US"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Ba</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EF2E8"/>
                    </a:solidFill>
                  </a:tcPr>
                </a:tc>
                <a:extLst>
                  <a:ext uri="{0D108BD9-81ED-4DB2-BD59-A6C34878D82A}">
                    <a16:rowId xmlns:a16="http://schemas.microsoft.com/office/drawing/2014/main" val="10001"/>
                  </a:ext>
                </a:extLst>
              </a:tr>
            </a:tbl>
          </a:graphicData>
        </a:graphic>
      </p:graphicFrame>
      <p:sp>
        <p:nvSpPr>
          <p:cNvPr id="12" name="标题 1"/>
          <p:cNvSpPr txBox="1">
            <a:spLocks/>
          </p:cNvSpPr>
          <p:nvPr/>
        </p:nvSpPr>
        <p:spPr>
          <a:xfrm>
            <a:off x="1285852" y="285728"/>
            <a:ext cx="7174580" cy="836712"/>
          </a:xfrm>
          <a:prstGeom prst="rect">
            <a:avLst/>
          </a:prstGeom>
          <a:solidFill>
            <a:schemeClr val="accent1"/>
          </a:solidFill>
        </p:spPr>
        <p:txBody>
          <a:bodyPr vert="horz" anchor="b">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
        <p:nvSpPr>
          <p:cNvPr id="14" name="TextBox 13"/>
          <p:cNvSpPr txBox="1"/>
          <p:nvPr/>
        </p:nvSpPr>
        <p:spPr>
          <a:xfrm>
            <a:off x="1285852" y="1173400"/>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itchFamily="2" charset="-122"/>
                <a:ea typeface="华文新魏" pitchFamily="2" charset="-122"/>
              </a:rPr>
              <a:t>营养要素的组成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0"/>
          <p:cNvSpPr>
            <a:spLocks noChangeArrowheads="1"/>
          </p:cNvSpPr>
          <p:nvPr/>
        </p:nvSpPr>
        <p:spPr bwMode="auto">
          <a:xfrm>
            <a:off x="1" y="3162141"/>
            <a:ext cx="184731" cy="369332"/>
          </a:xfrm>
          <a:prstGeom prst="rect">
            <a:avLst/>
          </a:prstGeom>
          <a:noFill/>
          <a:ln w="9525">
            <a:noFill/>
            <a:miter lim="800000"/>
            <a:headEnd/>
            <a:tailEnd/>
          </a:ln>
        </p:spPr>
        <p:txBody>
          <a:bodyPr wrap="none" anchor="ctr">
            <a:spAutoFit/>
          </a:bodyPr>
          <a:lstStyle/>
          <a:p>
            <a:endParaRPr lang="zh-CN" altLang="en-US"/>
          </a:p>
        </p:txBody>
      </p:sp>
      <p:sp>
        <p:nvSpPr>
          <p:cNvPr id="24581" name="Rectangle 21"/>
          <p:cNvSpPr>
            <a:spLocks noChangeArrowheads="1"/>
          </p:cNvSpPr>
          <p:nvPr/>
        </p:nvSpPr>
        <p:spPr bwMode="auto">
          <a:xfrm>
            <a:off x="1" y="3438367"/>
            <a:ext cx="184731" cy="369332"/>
          </a:xfrm>
          <a:prstGeom prst="rect">
            <a:avLst/>
          </a:prstGeom>
          <a:noFill/>
          <a:ln w="9525">
            <a:noFill/>
            <a:miter lim="800000"/>
            <a:headEnd/>
            <a:tailEnd/>
          </a:ln>
        </p:spPr>
        <p:txBody>
          <a:bodyPr wrap="none" anchor="ctr">
            <a:spAutoFit/>
          </a:bodyPr>
          <a:lstStyle/>
          <a:p>
            <a:endParaRPr lang="zh-CN" altLang="en-US"/>
          </a:p>
        </p:txBody>
      </p:sp>
      <p:sp>
        <p:nvSpPr>
          <p:cNvPr id="24582" name="Rectangle 22"/>
          <p:cNvSpPr>
            <a:spLocks noChangeArrowheads="1"/>
          </p:cNvSpPr>
          <p:nvPr/>
        </p:nvSpPr>
        <p:spPr bwMode="auto">
          <a:xfrm>
            <a:off x="-900112" y="3903504"/>
            <a:ext cx="184731" cy="369332"/>
          </a:xfrm>
          <a:prstGeom prst="rect">
            <a:avLst/>
          </a:prstGeom>
          <a:noFill/>
          <a:ln w="9525">
            <a:noFill/>
            <a:miter lim="800000"/>
            <a:headEnd/>
            <a:tailEnd/>
          </a:ln>
        </p:spPr>
        <p:txBody>
          <a:bodyPr wrap="none" anchor="ctr">
            <a:spAutoFit/>
          </a:bodyPr>
          <a:lstStyle/>
          <a:p>
            <a:endParaRPr lang="zh-CN" altLang="en-US" dirty="0"/>
          </a:p>
        </p:txBody>
      </p:sp>
      <p:sp>
        <p:nvSpPr>
          <p:cNvPr id="12" name="标题 1"/>
          <p:cNvSpPr txBox="1">
            <a:spLocks/>
          </p:cNvSpPr>
          <p:nvPr/>
        </p:nvSpPr>
        <p:spPr>
          <a:xfrm>
            <a:off x="1285852" y="214290"/>
            <a:ext cx="7390604" cy="836712"/>
          </a:xfrm>
          <a:prstGeom prst="rect">
            <a:avLst/>
          </a:prstGeom>
          <a:solidFill>
            <a:schemeClr val="accent1"/>
          </a:solidFill>
        </p:spPr>
        <p:txBody>
          <a:bodyPr vert="horz" anchor="b">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
        <p:nvSpPr>
          <p:cNvPr id="14" name="TextBox 13"/>
          <p:cNvSpPr txBox="1"/>
          <p:nvPr/>
        </p:nvSpPr>
        <p:spPr>
          <a:xfrm>
            <a:off x="1285852" y="1142984"/>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itchFamily="2" charset="-122"/>
                <a:ea typeface="华文新魏" pitchFamily="2" charset="-122"/>
              </a:rPr>
              <a:t>营养要素的组成</a:t>
            </a:r>
          </a:p>
        </p:txBody>
      </p:sp>
      <p:sp>
        <p:nvSpPr>
          <p:cNvPr id="10" name="Rectangle 20"/>
          <p:cNvSpPr>
            <a:spLocks noChangeArrowheads="1"/>
          </p:cNvSpPr>
          <p:nvPr/>
        </p:nvSpPr>
        <p:spPr bwMode="auto">
          <a:xfrm>
            <a:off x="611561" y="1892830"/>
            <a:ext cx="7921625" cy="3407353"/>
          </a:xfrm>
          <a:prstGeom prst="rect">
            <a:avLst/>
          </a:prstGeom>
          <a:noFill/>
          <a:ln w="9525">
            <a:noFill/>
            <a:miter lim="800000"/>
            <a:headEnd/>
            <a:tailEnd/>
          </a:ln>
        </p:spPr>
        <p:txBody>
          <a:bodyPr wrap="square" lIns="18000" tIns="10800" rIns="18000" bIns="10800" anchor="ctr">
            <a:spAutoFit/>
          </a:bodyPr>
          <a:lstStyle/>
          <a:p>
            <a:pPr marL="514350" indent="-514350">
              <a:lnSpc>
                <a:spcPct val="150000"/>
              </a:lnSpc>
              <a:spcBef>
                <a:spcPts val="600"/>
              </a:spcBef>
              <a:buFontTx/>
              <a:buAutoNum type="circleNumDbPlain"/>
            </a:pPr>
            <a:r>
              <a:rPr lang="zh-CN" altLang="en-US" sz="2800" dirty="0">
                <a:solidFill>
                  <a:srgbClr val="0000FF"/>
                </a:solidFill>
                <a:latin typeface="Times New Roman" pitchFamily="18" charset="0"/>
                <a:ea typeface="黑体" pitchFamily="49" charset="-122"/>
                <a:cs typeface="Times New Roman" pitchFamily="18" charset="0"/>
              </a:rPr>
              <a:t>微量</a:t>
            </a:r>
            <a:r>
              <a:rPr lang="en-US" altLang="zh-CN" sz="2800" dirty="0">
                <a:solidFill>
                  <a:srgbClr val="0000FF"/>
                </a:solidFill>
                <a:latin typeface="Times New Roman" pitchFamily="18" charset="0"/>
                <a:ea typeface="黑体" pitchFamily="49" charset="-122"/>
                <a:cs typeface="Times New Roman" pitchFamily="18" charset="0"/>
              </a:rPr>
              <a:t>/</a:t>
            </a:r>
            <a:r>
              <a:rPr lang="zh-CN" altLang="en-US" sz="2800" dirty="0">
                <a:solidFill>
                  <a:srgbClr val="0000FF"/>
                </a:solidFill>
                <a:latin typeface="Times New Roman" pitchFamily="18" charset="0"/>
                <a:ea typeface="黑体" pitchFamily="49" charset="-122"/>
                <a:cs typeface="Times New Roman" pitchFamily="18" charset="0"/>
              </a:rPr>
              <a:t>痕量营养盐：</a:t>
            </a:r>
            <a:r>
              <a:rPr lang="en-US" altLang="zh-CN" sz="2800" dirty="0">
                <a:latin typeface="Times New Roman" pitchFamily="18" charset="0"/>
                <a:ea typeface="黑体" pitchFamily="49" charset="-122"/>
                <a:cs typeface="Times New Roman" pitchFamily="18" charset="0"/>
              </a:rPr>
              <a:t>Fe</a:t>
            </a:r>
            <a:r>
              <a:rPr lang="zh-CN" altLang="en-US" sz="2800" dirty="0">
                <a:latin typeface="Times New Roman" pitchFamily="18" charset="0"/>
                <a:ea typeface="黑体" pitchFamily="49" charset="-122"/>
                <a:cs typeface="Times New Roman" pitchFamily="18" charset="0"/>
              </a:rPr>
              <a:t>、</a:t>
            </a:r>
            <a:r>
              <a:rPr lang="en-US" altLang="zh-CN" sz="2800" dirty="0" err="1">
                <a:latin typeface="Times New Roman" pitchFamily="18" charset="0"/>
                <a:ea typeface="黑体" pitchFamily="49" charset="-122"/>
                <a:cs typeface="Times New Roman" pitchFamily="18" charset="0"/>
              </a:rPr>
              <a:t>Mn</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Co</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Zn</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Se</a:t>
            </a:r>
            <a:r>
              <a:rPr lang="zh-CN" altLang="en-US" sz="2800" dirty="0">
                <a:latin typeface="Times New Roman" pitchFamily="18" charset="0"/>
                <a:ea typeface="黑体" pitchFamily="49" charset="-122"/>
                <a:cs typeface="Times New Roman" pitchFamily="18" charset="0"/>
              </a:rPr>
              <a:t>等</a:t>
            </a:r>
            <a:endParaRPr lang="en-US" altLang="zh-CN" sz="2800" dirty="0">
              <a:latin typeface="Times New Roman" pitchFamily="18" charset="0"/>
              <a:ea typeface="黑体" pitchFamily="49" charset="-122"/>
              <a:cs typeface="Times New Roman" pitchFamily="18" charset="0"/>
            </a:endParaRPr>
          </a:p>
          <a:p>
            <a:pPr marL="514350" indent="-514350">
              <a:lnSpc>
                <a:spcPct val="150000"/>
              </a:lnSpc>
              <a:spcBef>
                <a:spcPts val="600"/>
              </a:spcBef>
              <a:buFontTx/>
              <a:buAutoNum type="circleNumDbPlain"/>
            </a:pPr>
            <a:r>
              <a:rPr lang="zh-CN" altLang="en-US" sz="2800" dirty="0">
                <a:solidFill>
                  <a:srgbClr val="0000FF"/>
                </a:solidFill>
                <a:latin typeface="Times New Roman" pitchFamily="18" charset="0"/>
                <a:ea typeface="黑体" pitchFamily="49" charset="-122"/>
                <a:cs typeface="Times New Roman" pitchFamily="18" charset="0"/>
              </a:rPr>
              <a:t>主要营养盐： </a:t>
            </a:r>
            <a:r>
              <a:rPr lang="en-US" altLang="zh-CN" sz="2800" dirty="0">
                <a:latin typeface="Times New Roman" pitchFamily="18" charset="0"/>
                <a:ea typeface="黑体" pitchFamily="49" charset="-122"/>
                <a:cs typeface="Times New Roman" pitchFamily="18" charset="0"/>
              </a:rPr>
              <a:t>N</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P</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Si</a:t>
            </a:r>
            <a:r>
              <a:rPr lang="zh-CN" altLang="en-US" sz="2800" dirty="0">
                <a:latin typeface="Times New Roman" pitchFamily="18" charset="0"/>
                <a:ea typeface="黑体" pitchFamily="49" charset="-122"/>
                <a:cs typeface="Times New Roman" pitchFamily="18" charset="0"/>
              </a:rPr>
              <a:t>；海洋初级生产过程和食物链的基础</a:t>
            </a:r>
            <a:endParaRPr lang="en-US" altLang="zh-CN" sz="2800" dirty="0">
              <a:latin typeface="Times New Roman" pitchFamily="18" charset="0"/>
              <a:ea typeface="黑体" pitchFamily="49" charset="-122"/>
              <a:cs typeface="Times New Roman" pitchFamily="18" charset="0"/>
            </a:endParaRPr>
          </a:p>
          <a:p>
            <a:pPr marL="514350" indent="-514350">
              <a:lnSpc>
                <a:spcPct val="150000"/>
              </a:lnSpc>
              <a:spcBef>
                <a:spcPts val="600"/>
              </a:spcBef>
              <a:buFontTx/>
              <a:buAutoNum type="circleNumDbPlain"/>
            </a:pPr>
            <a:r>
              <a:rPr lang="zh-CN" altLang="en-US" sz="2800" dirty="0">
                <a:latin typeface="Times New Roman" pitchFamily="18" charset="0"/>
                <a:ea typeface="黑体" pitchFamily="49" charset="-122"/>
                <a:cs typeface="Times New Roman" pitchFamily="18" charset="0"/>
              </a:rPr>
              <a:t>常量元素：</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SO</a:t>
            </a:r>
            <a:r>
              <a:rPr lang="en-US" altLang="zh-CN" sz="2800" baseline="-25000" dirty="0">
                <a:latin typeface="Times New Roman" pitchFamily="18" charset="0"/>
                <a:ea typeface="黑体" pitchFamily="49" charset="-122"/>
                <a:cs typeface="Times New Roman" pitchFamily="18" charset="0"/>
              </a:rPr>
              <a:t>4</a:t>
            </a:r>
            <a:r>
              <a:rPr lang="en-US" altLang="zh-CN" sz="2800" baseline="30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HBO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Mg</a:t>
            </a:r>
            <a:r>
              <a:rPr lang="en-US" altLang="zh-CN" sz="2800" baseline="30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a:t>
            </a:r>
            <a:r>
              <a:rPr lang="en-US" altLang="zh-CN" sz="2800" dirty="0" err="1">
                <a:latin typeface="Times New Roman" pitchFamily="18" charset="0"/>
                <a:ea typeface="黑体" pitchFamily="49" charset="-122"/>
                <a:cs typeface="Times New Roman" pitchFamily="18" charset="0"/>
              </a:rPr>
              <a:t>Cl</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K</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Ca</a:t>
            </a:r>
            <a:r>
              <a:rPr lang="en-US" altLang="zh-CN" sz="2800" baseline="30000" dirty="0">
                <a:latin typeface="Times New Roman" pitchFamily="18" charset="0"/>
                <a:ea typeface="黑体" pitchFamily="49" charset="-122"/>
                <a:cs typeface="Times New Roman" pitchFamily="18" charset="0"/>
              </a:rPr>
              <a:t>2+</a:t>
            </a:r>
            <a:endParaRPr lang="zh-CN" altLang="en-US" sz="2800" baseline="30000" dirty="0">
              <a:latin typeface="Times New Roman" pitchFamily="18" charset="0"/>
              <a:ea typeface="黑体" pitchFamily="49" charset="-122"/>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endParaRPr lang="zh-CN" altLang="en-US"/>
          </a:p>
        </p:txBody>
      </p:sp>
      <p:sp>
        <p:nvSpPr>
          <p:cNvPr id="11" name="内容占位符 10"/>
          <p:cNvSpPr>
            <a:spLocks noGrp="1"/>
          </p:cNvSpPr>
          <p:nvPr>
            <p:ph idx="1"/>
          </p:nvPr>
        </p:nvSpPr>
        <p:spPr>
          <a:xfrm>
            <a:off x="457200" y="2000240"/>
            <a:ext cx="8229600" cy="4125923"/>
          </a:xfrm>
        </p:spPr>
        <p:txBody>
          <a:bodyPr/>
          <a:lstStyle/>
          <a:p>
            <a:pPr>
              <a:buFont typeface="Wingdings" pitchFamily="2" charset="2"/>
              <a:buChar char="Ø"/>
            </a:pPr>
            <a:r>
              <a:rPr lang="en-US" altLang="zh-CN" dirty="0"/>
              <a:t> N</a:t>
            </a:r>
            <a:r>
              <a:rPr lang="zh-CN" altLang="en-US" dirty="0"/>
              <a:t>（活性）：</a:t>
            </a:r>
            <a:r>
              <a:rPr lang="en-US" altLang="zh-CN" dirty="0"/>
              <a:t>NO</a:t>
            </a:r>
            <a:r>
              <a:rPr lang="en-US" altLang="zh-CN" baseline="-25000" dirty="0"/>
              <a:t>3</a:t>
            </a:r>
            <a:r>
              <a:rPr lang="en-US" altLang="zh-CN" baseline="30000" dirty="0"/>
              <a:t>-</a:t>
            </a:r>
            <a:r>
              <a:rPr lang="en-US" altLang="zh-CN" dirty="0"/>
              <a:t>-N</a:t>
            </a:r>
            <a:r>
              <a:rPr lang="zh-CN" altLang="en-US" dirty="0"/>
              <a:t>，</a:t>
            </a:r>
            <a:r>
              <a:rPr lang="en-US" altLang="zh-CN" dirty="0"/>
              <a:t>NO</a:t>
            </a:r>
            <a:r>
              <a:rPr lang="en-US" altLang="zh-CN" baseline="-25000" dirty="0"/>
              <a:t>2</a:t>
            </a:r>
            <a:r>
              <a:rPr lang="en-US" altLang="zh-CN" baseline="30000" dirty="0"/>
              <a:t>-</a:t>
            </a:r>
            <a:r>
              <a:rPr lang="en-US" altLang="zh-CN" dirty="0"/>
              <a:t>-N</a:t>
            </a:r>
            <a:r>
              <a:rPr lang="zh-CN" altLang="en-US" dirty="0"/>
              <a:t>，</a:t>
            </a:r>
            <a:r>
              <a:rPr lang="en-US" altLang="zh-CN" dirty="0"/>
              <a:t>NH</a:t>
            </a:r>
            <a:r>
              <a:rPr lang="en-US" altLang="zh-CN" baseline="-25000" dirty="0"/>
              <a:t>4</a:t>
            </a:r>
            <a:r>
              <a:rPr lang="en-US" altLang="zh-CN" baseline="30000" dirty="0"/>
              <a:t>+</a:t>
            </a:r>
            <a:r>
              <a:rPr lang="en-US" altLang="zh-CN" dirty="0"/>
              <a:t>-N</a:t>
            </a:r>
          </a:p>
          <a:p>
            <a:pPr>
              <a:buFont typeface="Wingdings" pitchFamily="2" charset="2"/>
              <a:buChar char="Ø"/>
            </a:pPr>
            <a:endParaRPr lang="en-US" altLang="zh-CN" dirty="0"/>
          </a:p>
          <a:p>
            <a:pPr>
              <a:buFont typeface="Wingdings" pitchFamily="2" charset="2"/>
              <a:buChar char="Ø"/>
            </a:pPr>
            <a:r>
              <a:rPr lang="en-US" altLang="zh-CN" dirty="0"/>
              <a:t> P</a:t>
            </a:r>
            <a:r>
              <a:rPr lang="zh-CN" altLang="en-US" dirty="0"/>
              <a:t>（活性）：</a:t>
            </a:r>
            <a:r>
              <a:rPr lang="en-US" altLang="zh-CN" dirty="0"/>
              <a:t>PO</a:t>
            </a:r>
            <a:r>
              <a:rPr lang="en-US" altLang="zh-CN" baseline="-25000" dirty="0"/>
              <a:t>4</a:t>
            </a:r>
            <a:r>
              <a:rPr lang="en-US" altLang="zh-CN" dirty="0"/>
              <a:t>-P</a:t>
            </a:r>
          </a:p>
          <a:p>
            <a:pPr lvl="1">
              <a:buFont typeface="Wingdings" pitchFamily="2" charset="2"/>
              <a:buChar char="ü"/>
            </a:pPr>
            <a:r>
              <a:rPr lang="zh-CN" altLang="en-US" dirty="0"/>
              <a:t>海水中的溶解无机磷主要以</a:t>
            </a:r>
            <a:r>
              <a:rPr lang="en-US" altLang="zh-CN" dirty="0"/>
              <a:t>HPO</a:t>
            </a:r>
            <a:r>
              <a:rPr lang="en-US" altLang="zh-CN" baseline="-25000" dirty="0"/>
              <a:t>4</a:t>
            </a:r>
            <a:r>
              <a:rPr lang="en-US" altLang="zh-CN" baseline="30000" dirty="0"/>
              <a:t>2-</a:t>
            </a:r>
            <a:r>
              <a:rPr lang="zh-CN" altLang="en-US" dirty="0"/>
              <a:t>和</a:t>
            </a:r>
            <a:r>
              <a:rPr lang="en-US" altLang="zh-CN" dirty="0"/>
              <a:t>PO</a:t>
            </a:r>
            <a:r>
              <a:rPr lang="en-US" altLang="zh-CN" baseline="-25000" dirty="0"/>
              <a:t>4</a:t>
            </a:r>
            <a:r>
              <a:rPr lang="en-US" altLang="zh-CN" baseline="30000" dirty="0"/>
              <a:t>3-</a:t>
            </a:r>
            <a:r>
              <a:rPr lang="zh-CN" altLang="en-US" dirty="0"/>
              <a:t>形式存在，通常又称“活性磷”（可测）</a:t>
            </a:r>
            <a:endParaRPr lang="en-US" altLang="zh-CN" dirty="0"/>
          </a:p>
          <a:p>
            <a:pPr>
              <a:buFont typeface="Wingdings" pitchFamily="2" charset="2"/>
              <a:buChar char="Ø"/>
            </a:pPr>
            <a:endParaRPr lang="en-US" altLang="zh-CN" dirty="0"/>
          </a:p>
          <a:p>
            <a:pPr>
              <a:buFont typeface="Wingdings" pitchFamily="2" charset="2"/>
              <a:buChar char="Ø"/>
            </a:pPr>
            <a:r>
              <a:rPr lang="en-US" altLang="zh-CN" dirty="0"/>
              <a:t>Si</a:t>
            </a:r>
            <a:r>
              <a:rPr lang="zh-CN" altLang="en-US" dirty="0"/>
              <a:t>（活性）：</a:t>
            </a:r>
            <a:r>
              <a:rPr lang="en-US" altLang="zh-CN" dirty="0"/>
              <a:t>SiO</a:t>
            </a:r>
            <a:r>
              <a:rPr lang="en-US" altLang="zh-CN" baseline="-25000" dirty="0"/>
              <a:t>3</a:t>
            </a:r>
            <a:r>
              <a:rPr lang="en-US" altLang="zh-CN" dirty="0"/>
              <a:t>-Si</a:t>
            </a:r>
            <a:endParaRPr lang="zh-CN" altLang="en-US" dirty="0"/>
          </a:p>
        </p:txBody>
      </p:sp>
      <p:sp>
        <p:nvSpPr>
          <p:cNvPr id="6" name="标题 1"/>
          <p:cNvSpPr txBox="1">
            <a:spLocks/>
          </p:cNvSpPr>
          <p:nvPr/>
        </p:nvSpPr>
        <p:spPr>
          <a:xfrm>
            <a:off x="1272932" y="313481"/>
            <a:ext cx="7439020" cy="836712"/>
          </a:xfrm>
          <a:prstGeom prst="rect">
            <a:avLst/>
          </a:prstGeom>
          <a:solidFill>
            <a:schemeClr val="accent1"/>
          </a:solidFill>
        </p:spPr>
        <p:txBody>
          <a:bodyPr vert="horz" anchor="b">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
        <p:nvSpPr>
          <p:cNvPr id="7" name="TextBox 6"/>
          <p:cNvSpPr txBox="1"/>
          <p:nvPr/>
        </p:nvSpPr>
        <p:spPr>
          <a:xfrm>
            <a:off x="1272932" y="1186805"/>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itchFamily="2" charset="-122"/>
                <a:ea typeface="华文新魏" pitchFamily="2" charset="-122"/>
              </a:rPr>
              <a:t>营养要素的组成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7">
            <a:extLst>
              <a:ext uri="{FF2B5EF4-FFF2-40B4-BE49-F238E27FC236}">
                <a16:creationId xmlns:a16="http://schemas.microsoft.com/office/drawing/2014/main" id="{294D24B8-7646-48D7-8434-EA4049580C2F}"/>
              </a:ext>
            </a:extLst>
          </p:cNvPr>
          <p:cNvPicPr>
            <a:picLocks noChangeAspect="1" noChangeArrowheads="1"/>
          </p:cNvPicPr>
          <p:nvPr/>
        </p:nvPicPr>
        <p:blipFill>
          <a:blip r:embed="rId3" cstate="print"/>
          <a:srcRect/>
          <a:stretch>
            <a:fillRect/>
          </a:stretch>
        </p:blipFill>
        <p:spPr bwMode="auto">
          <a:xfrm>
            <a:off x="3091067" y="1784458"/>
            <a:ext cx="2961865" cy="3683080"/>
          </a:xfrm>
          <a:prstGeom prst="rect">
            <a:avLst/>
          </a:prstGeom>
          <a:noFill/>
          <a:ln w="9525">
            <a:noFill/>
            <a:miter lim="800000"/>
            <a:headEnd/>
            <a:tailEnd/>
          </a:ln>
        </p:spPr>
      </p:pic>
      <p:sp>
        <p:nvSpPr>
          <p:cNvPr id="24580" name="Rectangle 20"/>
          <p:cNvSpPr>
            <a:spLocks noChangeArrowheads="1"/>
          </p:cNvSpPr>
          <p:nvPr/>
        </p:nvSpPr>
        <p:spPr bwMode="auto">
          <a:xfrm>
            <a:off x="1" y="3162141"/>
            <a:ext cx="184731" cy="369332"/>
          </a:xfrm>
          <a:prstGeom prst="rect">
            <a:avLst/>
          </a:prstGeom>
          <a:noFill/>
          <a:ln w="9525">
            <a:noFill/>
            <a:miter lim="800000"/>
            <a:headEnd/>
            <a:tailEnd/>
          </a:ln>
        </p:spPr>
        <p:txBody>
          <a:bodyPr wrap="none" anchor="ctr">
            <a:spAutoFit/>
          </a:bodyPr>
          <a:lstStyle/>
          <a:p>
            <a:endParaRPr lang="zh-CN" altLang="en-US"/>
          </a:p>
        </p:txBody>
      </p:sp>
      <p:sp>
        <p:nvSpPr>
          <p:cNvPr id="24581" name="Rectangle 21"/>
          <p:cNvSpPr>
            <a:spLocks noChangeArrowheads="1"/>
          </p:cNvSpPr>
          <p:nvPr/>
        </p:nvSpPr>
        <p:spPr bwMode="auto">
          <a:xfrm>
            <a:off x="1" y="3438367"/>
            <a:ext cx="184731" cy="369332"/>
          </a:xfrm>
          <a:prstGeom prst="rect">
            <a:avLst/>
          </a:prstGeom>
          <a:noFill/>
          <a:ln w="9525">
            <a:noFill/>
            <a:miter lim="800000"/>
            <a:headEnd/>
            <a:tailEnd/>
          </a:ln>
        </p:spPr>
        <p:txBody>
          <a:bodyPr wrap="none" anchor="ctr">
            <a:spAutoFit/>
          </a:bodyPr>
          <a:lstStyle/>
          <a:p>
            <a:endParaRPr lang="zh-CN" altLang="en-US"/>
          </a:p>
        </p:txBody>
      </p:sp>
      <p:sp>
        <p:nvSpPr>
          <p:cNvPr id="24582" name="Rectangle 22"/>
          <p:cNvSpPr>
            <a:spLocks noChangeArrowheads="1"/>
          </p:cNvSpPr>
          <p:nvPr/>
        </p:nvSpPr>
        <p:spPr bwMode="auto">
          <a:xfrm>
            <a:off x="-900112" y="3903504"/>
            <a:ext cx="184731" cy="369332"/>
          </a:xfrm>
          <a:prstGeom prst="rect">
            <a:avLst/>
          </a:prstGeom>
          <a:noFill/>
          <a:ln w="9525">
            <a:noFill/>
            <a:miter lim="800000"/>
            <a:headEnd/>
            <a:tailEnd/>
          </a:ln>
        </p:spPr>
        <p:txBody>
          <a:bodyPr wrap="none" anchor="ctr">
            <a:spAutoFit/>
          </a:bodyPr>
          <a:lstStyle/>
          <a:p>
            <a:endParaRPr lang="zh-CN" altLang="en-US" dirty="0"/>
          </a:p>
        </p:txBody>
      </p:sp>
      <p:sp>
        <p:nvSpPr>
          <p:cNvPr id="12" name="标题 1"/>
          <p:cNvSpPr txBox="1">
            <a:spLocks/>
          </p:cNvSpPr>
          <p:nvPr/>
        </p:nvSpPr>
        <p:spPr>
          <a:xfrm>
            <a:off x="1285852" y="214290"/>
            <a:ext cx="7439020" cy="836712"/>
          </a:xfrm>
          <a:prstGeom prst="rect">
            <a:avLst/>
          </a:prstGeom>
          <a:solidFill>
            <a:schemeClr val="accent1"/>
          </a:solidFill>
        </p:spPr>
        <p:txBody>
          <a:bodyPr vert="horz" anchor="b">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
        <p:nvSpPr>
          <p:cNvPr id="14" name="TextBox 13"/>
          <p:cNvSpPr txBox="1"/>
          <p:nvPr/>
        </p:nvSpPr>
        <p:spPr>
          <a:xfrm>
            <a:off x="1285852" y="1071546"/>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itchFamily="2" charset="-122"/>
                <a:ea typeface="华文新魏" pitchFamily="2" charset="-122"/>
              </a:rPr>
              <a:t>营养要素的组成</a:t>
            </a:r>
          </a:p>
        </p:txBody>
      </p:sp>
      <p:pic>
        <p:nvPicPr>
          <p:cNvPr id="9" name="Picture 14">
            <a:extLst>
              <a:ext uri="{FF2B5EF4-FFF2-40B4-BE49-F238E27FC236}">
                <a16:creationId xmlns:a16="http://schemas.microsoft.com/office/drawing/2014/main" id="{50862D86-5A50-44A5-B73C-F981A7E44C06}"/>
              </a:ext>
            </a:extLst>
          </p:cNvPr>
          <p:cNvPicPr>
            <a:picLocks noChangeAspect="1" noChangeArrowheads="1"/>
          </p:cNvPicPr>
          <p:nvPr/>
        </p:nvPicPr>
        <p:blipFill>
          <a:blip r:embed="rId4" cstate="print"/>
          <a:srcRect/>
          <a:stretch>
            <a:fillRect/>
          </a:stretch>
        </p:blipFill>
        <p:spPr bwMode="auto">
          <a:xfrm>
            <a:off x="5997402" y="1540978"/>
            <a:ext cx="2961865" cy="3980990"/>
          </a:xfrm>
          <a:prstGeom prst="rect">
            <a:avLst/>
          </a:prstGeom>
          <a:noFill/>
          <a:ln w="9525">
            <a:noFill/>
            <a:miter lim="800000"/>
            <a:headEnd/>
            <a:tailEnd/>
          </a:ln>
        </p:spPr>
      </p:pic>
      <p:pic>
        <p:nvPicPr>
          <p:cNvPr id="8" name="Picture 13">
            <a:extLst>
              <a:ext uri="{FF2B5EF4-FFF2-40B4-BE49-F238E27FC236}">
                <a16:creationId xmlns:a16="http://schemas.microsoft.com/office/drawing/2014/main" id="{50C231BF-1AE8-44A1-A27A-6854CB4B00BC}"/>
              </a:ext>
            </a:extLst>
          </p:cNvPr>
          <p:cNvPicPr>
            <a:picLocks noChangeAspect="1" noChangeArrowheads="1"/>
          </p:cNvPicPr>
          <p:nvPr/>
        </p:nvPicPr>
        <p:blipFill>
          <a:blip r:embed="rId5" cstate="print"/>
          <a:srcRect/>
          <a:stretch>
            <a:fillRect/>
          </a:stretch>
        </p:blipFill>
        <p:spPr bwMode="auto">
          <a:xfrm>
            <a:off x="92366" y="1655540"/>
            <a:ext cx="3329103" cy="4221732"/>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zh-CN" altLang="en-US" dirty="0"/>
              <a:t>提纲</a:t>
            </a:r>
            <a:endParaRPr lang="en-US" altLang="zh-CN" dirty="0"/>
          </a:p>
          <a:p>
            <a:pPr marL="914400" lvl="1" indent="-457200">
              <a:buFont typeface="+mj-lt"/>
              <a:buAutoNum type="arabicPeriod"/>
            </a:pPr>
            <a:r>
              <a:rPr lang="zh-CN" altLang="en-US" sz="2800" dirty="0">
                <a:solidFill>
                  <a:schemeClr val="tx1">
                    <a:lumMod val="50000"/>
                    <a:lumOff val="50000"/>
                  </a:schemeClr>
                </a:solidFill>
              </a:rPr>
              <a:t>海水中营养要素的组成</a:t>
            </a:r>
            <a:endParaRPr lang="en-US" altLang="zh-CN" sz="2800" dirty="0">
              <a:solidFill>
                <a:schemeClr val="tx1">
                  <a:lumMod val="50000"/>
                  <a:lumOff val="50000"/>
                </a:schemeClr>
              </a:solidFill>
            </a:endParaRPr>
          </a:p>
          <a:p>
            <a:pPr marL="914400" lvl="1" indent="-457200">
              <a:buFont typeface="+mj-lt"/>
              <a:buAutoNum type="arabicPeriod"/>
            </a:pPr>
            <a:r>
              <a:rPr lang="zh-CN" altLang="en-US" sz="2800" dirty="0"/>
              <a:t>海水中磷循环的重要意义</a:t>
            </a:r>
            <a:endParaRPr lang="en-US" altLang="zh-CN" sz="2800" dirty="0"/>
          </a:p>
          <a:p>
            <a:pPr marL="914400" lvl="1" indent="-457200">
              <a:buFont typeface="+mj-lt"/>
              <a:buAutoNum type="arabicPeriod"/>
            </a:pPr>
            <a:r>
              <a:rPr lang="zh-CN" altLang="en-US" sz="2800" dirty="0">
                <a:solidFill>
                  <a:schemeClr val="tx1">
                    <a:lumMod val="50000"/>
                    <a:lumOff val="50000"/>
                  </a:schemeClr>
                </a:solidFill>
              </a:rPr>
              <a:t>海水中磷酸盐的组成及主要存在形式</a:t>
            </a:r>
            <a:endParaRPr lang="en-US" altLang="zh-CN" sz="2800" dirty="0">
              <a:solidFill>
                <a:schemeClr val="tx1">
                  <a:lumMod val="50000"/>
                  <a:lumOff val="50000"/>
                </a:schemeClr>
              </a:solidFill>
            </a:endParaRPr>
          </a:p>
          <a:p>
            <a:pPr marL="914400" lvl="1" indent="-457200">
              <a:buFont typeface="+mj-lt"/>
              <a:buAutoNum type="arabicPeriod"/>
            </a:pPr>
            <a:r>
              <a:rPr lang="zh-CN" altLang="en-US" sz="2800" dirty="0">
                <a:solidFill>
                  <a:schemeClr val="tx1">
                    <a:lumMod val="50000"/>
                    <a:lumOff val="50000"/>
                  </a:schemeClr>
                </a:solidFill>
              </a:rPr>
              <a:t>海水中磷酸盐的测定方法</a:t>
            </a:r>
            <a:endParaRPr lang="en-US" altLang="zh-CN" sz="2800" dirty="0">
              <a:solidFill>
                <a:schemeClr val="tx1">
                  <a:lumMod val="50000"/>
                  <a:lumOff val="50000"/>
                </a:schemeClr>
              </a:solidFill>
            </a:endParaRPr>
          </a:p>
          <a:p>
            <a:pPr marL="1314450" lvl="2" indent="-457200">
              <a:buFont typeface="+mj-lt"/>
              <a:buAutoNum type="alphaUcPeriod"/>
            </a:pPr>
            <a:r>
              <a:rPr lang="zh-CN" altLang="en-US" sz="2400" dirty="0">
                <a:solidFill>
                  <a:schemeClr val="tx1">
                    <a:lumMod val="50000"/>
                    <a:lumOff val="50000"/>
                  </a:schemeClr>
                </a:solidFill>
              </a:rPr>
              <a:t>磷钼黄法</a:t>
            </a:r>
            <a:endParaRPr lang="en-US" altLang="zh-CN" sz="2400" dirty="0">
              <a:solidFill>
                <a:schemeClr val="tx1">
                  <a:lumMod val="50000"/>
                  <a:lumOff val="50000"/>
                </a:schemeClr>
              </a:solidFill>
            </a:endParaRPr>
          </a:p>
          <a:p>
            <a:pPr marL="1314450" lvl="2" indent="-457200">
              <a:buFont typeface="+mj-lt"/>
              <a:buAutoNum type="alphaUcPeriod"/>
            </a:pPr>
            <a:r>
              <a:rPr lang="zh-CN" altLang="en-US" sz="2400" dirty="0">
                <a:solidFill>
                  <a:schemeClr val="tx1">
                    <a:lumMod val="50000"/>
                    <a:lumOff val="50000"/>
                  </a:schemeClr>
                </a:solidFill>
              </a:rPr>
              <a:t>磷钼蓝法</a:t>
            </a:r>
            <a:endParaRPr lang="en-US" altLang="zh-CN" dirty="0">
              <a:solidFill>
                <a:schemeClr val="tx1">
                  <a:lumMod val="50000"/>
                  <a:lumOff val="50000"/>
                </a:schemeClr>
              </a:solidFill>
            </a:endParaRPr>
          </a:p>
          <a:p>
            <a:pPr marL="914400" lvl="1" indent="-457200">
              <a:buFont typeface="+mj-lt"/>
              <a:buAutoNum type="arabicPeriod"/>
            </a:pPr>
            <a:r>
              <a:rPr lang="zh-CN" altLang="en-US" sz="2800" dirty="0">
                <a:solidFill>
                  <a:schemeClr val="tx1">
                    <a:lumMod val="50000"/>
                    <a:lumOff val="50000"/>
                  </a:schemeClr>
                </a:solidFill>
              </a:rPr>
              <a:t>紫外分光光度法的测量原理</a:t>
            </a:r>
            <a:endParaRPr lang="en-US" altLang="zh-CN" sz="2800" dirty="0">
              <a:solidFill>
                <a:schemeClr val="tx1">
                  <a:lumMod val="50000"/>
                  <a:lumOff val="50000"/>
                </a:schemeClr>
              </a:solidFill>
            </a:endParaRPr>
          </a:p>
          <a:p>
            <a:pPr marL="914400" lvl="1" indent="-457200">
              <a:buFont typeface="+mj-lt"/>
              <a:buAutoNum type="arabicPeriod"/>
            </a:pPr>
            <a:endParaRPr lang="en-US" altLang="zh-CN" dirty="0"/>
          </a:p>
          <a:p>
            <a:pPr marL="914400" lvl="1" indent="-457200">
              <a:buFont typeface="+mj-lt"/>
              <a:buAutoNum type="arabicPeriod"/>
            </a:pPr>
            <a:endParaRPr lang="zh-CN" altLang="en-US" dirty="0"/>
          </a:p>
        </p:txBody>
      </p:sp>
      <p:sp>
        <p:nvSpPr>
          <p:cNvPr id="4" name="标题 1"/>
          <p:cNvSpPr txBox="1">
            <a:spLocks/>
          </p:cNvSpPr>
          <p:nvPr/>
        </p:nvSpPr>
        <p:spPr bwMode="auto">
          <a:xfrm>
            <a:off x="1357290" y="500042"/>
            <a:ext cx="7224706" cy="836712"/>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0" cap="all"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Tree>
    <p:extLst>
      <p:ext uri="{BB962C8B-B14F-4D97-AF65-F5344CB8AC3E}">
        <p14:creationId xmlns:p14="http://schemas.microsoft.com/office/powerpoint/2010/main" val="495938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5"/>
          <p:cNvSpPr>
            <a:spLocks noChangeArrowheads="1"/>
          </p:cNvSpPr>
          <p:nvPr/>
        </p:nvSpPr>
        <p:spPr bwMode="auto">
          <a:xfrm>
            <a:off x="1475656" y="483249"/>
            <a:ext cx="6913562" cy="647799"/>
          </a:xfrm>
          <a:prstGeom prst="rect">
            <a:avLst/>
          </a:prstGeom>
          <a:noFill/>
          <a:ln w="9525">
            <a:noFill/>
            <a:miter lim="800000"/>
            <a:headEnd/>
            <a:tailEnd/>
          </a:ln>
        </p:spPr>
        <p:txBody>
          <a:bodyPr anchor="ctr"/>
          <a:lstStyle/>
          <a:p>
            <a:pPr marL="1066800" indent="-1066800">
              <a:lnSpc>
                <a:spcPct val="100000"/>
              </a:lnSpc>
              <a:spcBef>
                <a:spcPct val="0"/>
              </a:spcBef>
              <a:buFontTx/>
              <a:buNone/>
            </a:pPr>
            <a:r>
              <a:rPr lang="zh-CN" altLang="en-US" sz="4000" dirty="0">
                <a:solidFill>
                  <a:srgbClr val="FF0000"/>
                </a:solidFill>
                <a:latin typeface="Calibri" panose="020F0502020204030204" pitchFamily="34" charset="0"/>
                <a:ea typeface="微软雅黑" pitchFamily="34" charset="-122"/>
                <a:cs typeface="Calibri" panose="020F0502020204030204" pitchFamily="34" charset="0"/>
              </a:rPr>
              <a:t>磷的生物地球化学循环</a:t>
            </a:r>
            <a:r>
              <a:rPr lang="zh-CN" altLang="en-US" sz="4000" b="0" dirty="0">
                <a:solidFill>
                  <a:srgbClr val="FF0000"/>
                </a:solidFill>
                <a:latin typeface="Calibri" panose="020F0502020204030204" pitchFamily="34" charset="0"/>
                <a:ea typeface="微软雅黑" pitchFamily="34" charset="-122"/>
                <a:cs typeface="Calibri" panose="020F0502020204030204" pitchFamily="34" charset="0"/>
              </a:rPr>
              <a:t> </a:t>
            </a:r>
          </a:p>
        </p:txBody>
      </p:sp>
      <p:sp>
        <p:nvSpPr>
          <p:cNvPr id="54277" name="Rectangle 6"/>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54278"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54279"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2" name="Text Box 12"/>
          <p:cNvSpPr txBox="1">
            <a:spLocks noChangeArrowheads="1"/>
          </p:cNvSpPr>
          <p:nvPr/>
        </p:nvSpPr>
        <p:spPr bwMode="auto">
          <a:xfrm>
            <a:off x="683568" y="2204864"/>
            <a:ext cx="7777163" cy="1646605"/>
          </a:xfrm>
          <a:prstGeom prst="rect">
            <a:avLst/>
          </a:prstGeom>
          <a:noFill/>
          <a:ln w="31750" algn="ctr">
            <a:noFill/>
            <a:miter lim="800000"/>
            <a:headEnd/>
            <a:tailEnd/>
          </a:ln>
          <a:effectLst/>
        </p:spPr>
        <p:txBody>
          <a:bodyPr>
            <a:spAutoFit/>
          </a:bodyPr>
          <a:lstStyle/>
          <a:p>
            <a:pPr marL="468000" indent="-468000">
              <a:lnSpc>
                <a:spcPct val="150000"/>
              </a:lnSpc>
              <a:spcBef>
                <a:spcPts val="600"/>
              </a:spcBef>
              <a:buFontTx/>
              <a:buNone/>
              <a:defRPr/>
            </a:pPr>
            <a:r>
              <a:rPr kumimoji="1" lang="zh-CN" altLang="en-US" sz="3200" dirty="0">
                <a:latin typeface="Times New Roman" pitchFamily="18" charset="0"/>
                <a:ea typeface="黑体" pitchFamily="49" charset="-122"/>
                <a:cs typeface="Times New Roman" pitchFamily="18" charset="0"/>
              </a:rPr>
              <a:t>长期争论的科学问题：</a:t>
            </a:r>
          </a:p>
          <a:p>
            <a:pPr marL="468000" indent="-468000">
              <a:lnSpc>
                <a:spcPct val="150000"/>
              </a:lnSpc>
              <a:spcBef>
                <a:spcPts val="600"/>
              </a:spcBef>
              <a:buFontTx/>
              <a:buNone/>
              <a:defRPr/>
            </a:pPr>
            <a:r>
              <a:rPr kumimoji="1" lang="zh-CN" altLang="en-US" sz="3200" dirty="0">
                <a:latin typeface="Times New Roman" pitchFamily="18" charset="0"/>
                <a:ea typeface="黑体" pitchFamily="49" charset="-122"/>
                <a:cs typeface="Times New Roman" pitchFamily="18" charset="0"/>
              </a:rPr>
              <a:t>     </a:t>
            </a:r>
            <a:r>
              <a:rPr kumimoji="1" lang="zh-CN" altLang="en-US" sz="3200" dirty="0">
                <a:solidFill>
                  <a:srgbClr val="0000FF"/>
                </a:solidFill>
                <a:latin typeface="Times New Roman" pitchFamily="18" charset="0"/>
                <a:ea typeface="黑体" pitchFamily="49" charset="-122"/>
                <a:cs typeface="Times New Roman" pitchFamily="18" charset="0"/>
              </a:rPr>
              <a:t>海洋生物生产力的主要限制性营养盐？</a:t>
            </a:r>
            <a:endParaRPr kumimoji="1" lang="zh-CN" altLang="en-US" sz="3200" dirty="0">
              <a:solidFill>
                <a:srgbClr val="0000FF"/>
              </a:solidFill>
              <a:effectLst>
                <a:outerShdw blurRad="38100" dist="38100" dir="2700000" algn="tl">
                  <a:srgbClr val="000000"/>
                </a:outerShdw>
              </a:effectLst>
              <a:latin typeface="Times New Roman" pitchFamily="18" charset="0"/>
              <a:ea typeface="黑体" pitchFamily="49" charset="-122"/>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539750" y="1484313"/>
            <a:ext cx="8135938" cy="3770529"/>
          </a:xfrm>
          <a:prstGeom prst="rect">
            <a:avLst/>
          </a:prstGeom>
          <a:noFill/>
          <a:ln w="9525">
            <a:noFill/>
            <a:miter lim="800000"/>
            <a:headEnd/>
            <a:tailEnd/>
          </a:ln>
        </p:spPr>
        <p:txBody>
          <a:bodyPr lIns="18000" tIns="10800" rIns="18000" bIns="10800">
            <a:spAutoFit/>
          </a:bodyPr>
          <a:lstStyle/>
          <a:p>
            <a:pPr>
              <a:lnSpc>
                <a:spcPct val="130000"/>
              </a:lnSpc>
              <a:spcBef>
                <a:spcPts val="600"/>
              </a:spcBef>
              <a:buFontTx/>
              <a:buNone/>
            </a:pPr>
            <a:r>
              <a:rPr lang="zh-CN" altLang="en-US" sz="3200" dirty="0">
                <a:solidFill>
                  <a:srgbClr val="0000FF"/>
                </a:solidFill>
                <a:latin typeface="Times New Roman" pitchFamily="18" charset="0"/>
                <a:ea typeface="黑体" pitchFamily="49" charset="-122"/>
                <a:cs typeface="Times New Roman" pitchFamily="18" charset="0"/>
              </a:rPr>
              <a:t>地球化学家：</a:t>
            </a:r>
            <a:r>
              <a:rPr lang="zh-CN" altLang="en-US" sz="3200" dirty="0">
                <a:solidFill>
                  <a:srgbClr val="C00000"/>
                </a:solidFill>
                <a:latin typeface="Times New Roman" pitchFamily="18" charset="0"/>
                <a:ea typeface="黑体" pitchFamily="49" charset="-122"/>
                <a:cs typeface="Times New Roman" pitchFamily="18" charset="0"/>
              </a:rPr>
              <a:t>磷限制</a:t>
            </a:r>
          </a:p>
          <a:p>
            <a:pPr>
              <a:lnSpc>
                <a:spcPct val="130000"/>
              </a:lnSpc>
              <a:spcBef>
                <a:spcPts val="600"/>
              </a:spcBef>
            </a:pPr>
            <a:r>
              <a:rPr kumimoji="1" lang="zh-CN" altLang="en-US" sz="2800" dirty="0">
                <a:latin typeface="Times New Roman" pitchFamily="18" charset="0"/>
                <a:ea typeface="黑体" pitchFamily="49" charset="-122"/>
                <a:cs typeface="Times New Roman" pitchFamily="18" charset="0"/>
              </a:rPr>
              <a:t>  海洋存在生物固氮作用。</a:t>
            </a:r>
            <a:endParaRPr kumimoji="1" lang="en-US" altLang="zh-CN" sz="2800" dirty="0">
              <a:latin typeface="Times New Roman" pitchFamily="18" charset="0"/>
              <a:ea typeface="黑体" pitchFamily="49" charset="-122"/>
              <a:cs typeface="Times New Roman" pitchFamily="18" charset="0"/>
            </a:endParaRPr>
          </a:p>
          <a:p>
            <a:pPr>
              <a:lnSpc>
                <a:spcPct val="130000"/>
              </a:lnSpc>
              <a:spcBef>
                <a:spcPts val="600"/>
              </a:spcBef>
            </a:pPr>
            <a:r>
              <a:rPr lang="en-US" altLang="zh-CN" sz="2800" dirty="0">
                <a:latin typeface="Times New Roman" pitchFamily="18" charset="0"/>
                <a:ea typeface="黑体" pitchFamily="49" charset="-122"/>
                <a:cs typeface="Times New Roman" pitchFamily="18" charset="0"/>
              </a:rPr>
              <a:t>  </a:t>
            </a:r>
            <a:r>
              <a:rPr lang="zh-CN" altLang="zh-CN" sz="2800" dirty="0">
                <a:latin typeface="Times New Roman" pitchFamily="18" charset="0"/>
                <a:ea typeface="黑体" pitchFamily="49" charset="-122"/>
                <a:cs typeface="Times New Roman" pitchFamily="18" charset="0"/>
              </a:rPr>
              <a:t>大气</a:t>
            </a:r>
            <a:r>
              <a:rPr lang="zh-CN" altLang="en-US" sz="2800" dirty="0">
                <a:latin typeface="Times New Roman" pitchFamily="18" charset="0"/>
                <a:ea typeface="黑体" pitchFamily="49" charset="-122"/>
                <a:cs typeface="Times New Roman" pitchFamily="18" charset="0"/>
              </a:rPr>
              <a:t>输入的</a:t>
            </a:r>
            <a:r>
              <a:rPr lang="zh-CN" altLang="zh-CN" sz="2800" dirty="0">
                <a:latin typeface="Times New Roman" pitchFamily="18" charset="0"/>
                <a:ea typeface="黑体" pitchFamily="49" charset="-122"/>
                <a:cs typeface="Times New Roman" pitchFamily="18" charset="0"/>
              </a:rPr>
              <a:t>磷</a:t>
            </a:r>
            <a:r>
              <a:rPr lang="zh-CN" altLang="en-US" sz="2800" dirty="0">
                <a:latin typeface="Times New Roman" pitchFamily="18" charset="0"/>
                <a:ea typeface="黑体" pitchFamily="49" charset="-122"/>
                <a:cs typeface="Times New Roman" pitchFamily="18" charset="0"/>
              </a:rPr>
              <a:t>极少，海洋磷</a:t>
            </a:r>
            <a:r>
              <a:rPr lang="zh-CN" altLang="zh-CN" sz="2800" dirty="0">
                <a:latin typeface="Times New Roman" pitchFamily="18" charset="0"/>
                <a:ea typeface="黑体" pitchFamily="49" charset="-122"/>
                <a:cs typeface="Times New Roman" pitchFamily="18" charset="0"/>
              </a:rPr>
              <a:t>没有可替代来源</a:t>
            </a:r>
            <a:r>
              <a:rPr lang="zh-CN" altLang="en-US" sz="2800" dirty="0">
                <a:latin typeface="Times New Roman" pitchFamily="18" charset="0"/>
                <a:ea typeface="黑体" pitchFamily="49" charset="-122"/>
                <a:cs typeface="Times New Roman" pitchFamily="18" charset="0"/>
              </a:rPr>
              <a:t>。</a:t>
            </a:r>
            <a:endParaRPr lang="en-US" altLang="zh-CN" sz="2800" dirty="0">
              <a:latin typeface="Times New Roman" pitchFamily="18" charset="0"/>
              <a:ea typeface="黑体" pitchFamily="49" charset="-122"/>
              <a:cs typeface="Times New Roman" pitchFamily="18" charset="0"/>
            </a:endParaRPr>
          </a:p>
          <a:p>
            <a:pPr>
              <a:lnSpc>
                <a:spcPct val="130000"/>
              </a:lnSpc>
              <a:spcBef>
                <a:spcPts val="600"/>
              </a:spcBef>
              <a:buFontTx/>
              <a:buNone/>
            </a:pPr>
            <a:r>
              <a:rPr lang="zh-CN" altLang="en-US" sz="2800" dirty="0">
                <a:solidFill>
                  <a:srgbClr val="C00000"/>
                </a:solidFill>
                <a:latin typeface="Times New Roman" pitchFamily="18" charset="0"/>
                <a:ea typeface="黑体" pitchFamily="49" charset="-122"/>
                <a:cs typeface="Times New Roman" pitchFamily="18" charset="0"/>
              </a:rPr>
              <a:t>结论：</a:t>
            </a:r>
            <a:endParaRPr lang="en-US" altLang="zh-CN" sz="2800" dirty="0">
              <a:solidFill>
                <a:srgbClr val="C00000"/>
              </a:solidFill>
              <a:latin typeface="Times New Roman" pitchFamily="18" charset="0"/>
              <a:ea typeface="黑体" pitchFamily="49" charset="-122"/>
              <a:cs typeface="Times New Roman" pitchFamily="18" charset="0"/>
            </a:endParaRPr>
          </a:p>
          <a:p>
            <a:pPr>
              <a:lnSpc>
                <a:spcPct val="130000"/>
              </a:lnSpc>
              <a:spcBef>
                <a:spcPts val="600"/>
              </a:spcBef>
              <a:buFontTx/>
              <a:buNone/>
            </a:pPr>
            <a:r>
              <a:rPr lang="en-US" altLang="zh-CN" sz="2800" dirty="0">
                <a:latin typeface="Times New Roman" pitchFamily="18" charset="0"/>
                <a:ea typeface="黑体" pitchFamily="49" charset="-122"/>
                <a:cs typeface="Times New Roman" pitchFamily="18" charset="0"/>
              </a:rPr>
              <a:t>      </a:t>
            </a:r>
            <a:r>
              <a:rPr lang="zh-CN" altLang="zh-CN" sz="2800" dirty="0">
                <a:latin typeface="Times New Roman" pitchFamily="18" charset="0"/>
                <a:ea typeface="黑体" pitchFamily="49" charset="-122"/>
                <a:cs typeface="Times New Roman" pitchFamily="18" charset="0"/>
              </a:rPr>
              <a:t>硝酸盐应追随磷酸盐的变化而变化，海洋中磷</a:t>
            </a:r>
            <a:r>
              <a:rPr lang="zh-CN" altLang="en-US" sz="2800" dirty="0">
                <a:latin typeface="Times New Roman" pitchFamily="18" charset="0"/>
                <a:ea typeface="黑体" pitchFamily="49" charset="-122"/>
                <a:cs typeface="Times New Roman" pitchFamily="18" charset="0"/>
              </a:rPr>
              <a:t>的</a:t>
            </a:r>
            <a:r>
              <a:rPr lang="zh-CN" altLang="zh-CN" sz="2800" dirty="0">
                <a:latin typeface="Times New Roman" pitchFamily="18" charset="0"/>
                <a:ea typeface="黑体" pitchFamily="49" charset="-122"/>
                <a:cs typeface="Times New Roman" pitchFamily="18" charset="0"/>
              </a:rPr>
              <a:t>动力学控制着生物生产力</a:t>
            </a:r>
            <a:r>
              <a:rPr lang="zh-CN" altLang="en-US" sz="2800" dirty="0">
                <a:latin typeface="Times New Roman" pitchFamily="18" charset="0"/>
                <a:ea typeface="黑体" pitchFamily="49" charset="-122"/>
                <a:cs typeface="Times New Roman" pitchFamily="18" charset="0"/>
              </a:rPr>
              <a:t>。</a:t>
            </a:r>
          </a:p>
        </p:txBody>
      </p:sp>
      <p:sp>
        <p:nvSpPr>
          <p:cNvPr id="3" name="Rectangle 3"/>
          <p:cNvSpPr txBox="1">
            <a:spLocks noChangeArrowheads="1"/>
          </p:cNvSpPr>
          <p:nvPr/>
        </p:nvSpPr>
        <p:spPr>
          <a:xfrm>
            <a:off x="1475656" y="476672"/>
            <a:ext cx="4464050" cy="576263"/>
          </a:xfrm>
          <a:prstGeom prst="rect">
            <a:avLst/>
          </a:prstGeom>
        </p:spPr>
        <p:txBody>
          <a:bodyPr>
            <a:normAutofit fontScale="90000" lnSpcReduction="20000"/>
          </a:bodyPr>
          <a:lstStyle/>
          <a:p>
            <a:pPr marL="1066800" indent="-1066800" fontAlgn="auto">
              <a:lnSpc>
                <a:spcPct val="100000"/>
              </a:lnSpc>
              <a:spcBef>
                <a:spcPct val="0"/>
              </a:spcBef>
              <a:spcAft>
                <a:spcPts val="0"/>
              </a:spcAft>
              <a:buFontTx/>
              <a:buNone/>
              <a:defRPr/>
            </a:pPr>
            <a:r>
              <a:rPr lang="zh-CN" altLang="en-US" sz="4000" dirty="0">
                <a:solidFill>
                  <a:srgbClr val="0000FF"/>
                </a:solidFill>
                <a:latin typeface="微软雅黑" pitchFamily="34" charset="-122"/>
                <a:ea typeface="微软雅黑" pitchFamily="34" charset="-122"/>
                <a:cs typeface="Times New Roman" pitchFamily="18" charset="0"/>
              </a:rPr>
              <a:t>海洋磷循环的重要性</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539750" y="1412875"/>
            <a:ext cx="8208963" cy="4330683"/>
          </a:xfrm>
          <a:prstGeom prst="rect">
            <a:avLst/>
          </a:prstGeom>
          <a:noFill/>
          <a:ln w="9525">
            <a:noFill/>
            <a:miter lim="800000"/>
            <a:headEnd/>
            <a:tailEnd/>
          </a:ln>
        </p:spPr>
        <p:txBody>
          <a:bodyPr lIns="18000" tIns="10800" rIns="18000" bIns="10800">
            <a:spAutoFit/>
          </a:bodyPr>
          <a:lstStyle/>
          <a:p>
            <a:pPr>
              <a:lnSpc>
                <a:spcPct val="130000"/>
              </a:lnSpc>
              <a:spcBef>
                <a:spcPts val="600"/>
              </a:spcBef>
              <a:buFontTx/>
              <a:buNone/>
              <a:defRPr/>
            </a:pPr>
            <a:r>
              <a:rPr lang="zh-CN" altLang="en-US" sz="3200" dirty="0">
                <a:solidFill>
                  <a:srgbClr val="0000FF"/>
                </a:solidFill>
                <a:latin typeface="Times New Roman" pitchFamily="18" charset="0"/>
                <a:ea typeface="黑体" pitchFamily="49" charset="-122"/>
                <a:cs typeface="Times New Roman" pitchFamily="18" charset="0"/>
              </a:rPr>
              <a:t>生物学家：</a:t>
            </a:r>
            <a:r>
              <a:rPr lang="zh-CN" altLang="en-US" sz="3200" dirty="0">
                <a:solidFill>
                  <a:srgbClr val="C00000"/>
                </a:solidFill>
                <a:latin typeface="Times New Roman" pitchFamily="18" charset="0"/>
                <a:ea typeface="黑体" pitchFamily="49" charset="-122"/>
                <a:cs typeface="Times New Roman" pitchFamily="18" charset="0"/>
              </a:rPr>
              <a:t>氮限制</a:t>
            </a:r>
          </a:p>
          <a:p>
            <a:pPr marL="468000" indent="-468000">
              <a:lnSpc>
                <a:spcPct val="130000"/>
              </a:lnSpc>
              <a:spcBef>
                <a:spcPts val="600"/>
              </a:spcBef>
              <a:defRPr/>
            </a:pPr>
            <a:r>
              <a:rPr lang="zh-CN" altLang="en-US" sz="2800" dirty="0">
                <a:latin typeface="Times New Roman" pitchFamily="18" charset="0"/>
                <a:ea typeface="黑体" pitchFamily="49" charset="-122"/>
                <a:cs typeface="Times New Roman" pitchFamily="18" charset="0"/>
              </a:rPr>
              <a:t>大量数据表明，</a:t>
            </a:r>
            <a:r>
              <a:rPr lang="en-US" altLang="zh-CN" sz="2800" dirty="0">
                <a:latin typeface="Times New Roman" pitchFamily="18" charset="0"/>
                <a:ea typeface="黑体" pitchFamily="49" charset="-122"/>
                <a:cs typeface="Times New Roman" pitchFamily="18" charset="0"/>
              </a:rPr>
              <a:t>NO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比</a:t>
            </a:r>
            <a:r>
              <a:rPr lang="en-US" altLang="zh-CN" sz="2800" dirty="0">
                <a:latin typeface="Times New Roman" pitchFamily="18" charset="0"/>
                <a:ea typeface="黑体" pitchFamily="49" charset="-122"/>
                <a:cs typeface="Times New Roman" pitchFamily="18" charset="0"/>
              </a:rPr>
              <a:t>PO</a:t>
            </a:r>
            <a:r>
              <a:rPr lang="en-US" altLang="zh-CN" sz="2800" baseline="-25000" dirty="0">
                <a:latin typeface="Times New Roman" pitchFamily="18" charset="0"/>
                <a:ea typeface="黑体" pitchFamily="49" charset="-122"/>
                <a:cs typeface="Times New Roman" pitchFamily="18" charset="0"/>
              </a:rPr>
              <a:t>4</a:t>
            </a:r>
            <a:r>
              <a:rPr lang="en-US" altLang="zh-CN" sz="2800" baseline="30000" dirty="0">
                <a:latin typeface="Times New Roman" pitchFamily="18" charset="0"/>
                <a:ea typeface="黑体" pitchFamily="49" charset="-122"/>
                <a:cs typeface="Times New Roman" pitchFamily="18" charset="0"/>
              </a:rPr>
              <a:t>3-</a:t>
            </a:r>
            <a:r>
              <a:rPr lang="zh-CN" altLang="zh-CN" sz="2800" dirty="0">
                <a:latin typeface="Times New Roman" pitchFamily="18" charset="0"/>
                <a:ea typeface="黑体" pitchFamily="49" charset="-122"/>
                <a:cs typeface="Times New Roman" pitchFamily="18" charset="0"/>
              </a:rPr>
              <a:t>稍早耗完，营养盐缺乏水体</a:t>
            </a:r>
            <a:r>
              <a:rPr lang="zh-CN" altLang="en-US" sz="2800" dirty="0">
                <a:latin typeface="Times New Roman" pitchFamily="18" charset="0"/>
                <a:ea typeface="黑体" pitchFamily="49" charset="-122"/>
                <a:cs typeface="Times New Roman" pitchFamily="18" charset="0"/>
              </a:rPr>
              <a:t>仍</a:t>
            </a:r>
            <a:r>
              <a:rPr lang="zh-CN" altLang="zh-CN" sz="2800" dirty="0">
                <a:latin typeface="Times New Roman" pitchFamily="18" charset="0"/>
                <a:ea typeface="黑体" pitchFamily="49" charset="-122"/>
                <a:cs typeface="Times New Roman" pitchFamily="18" charset="0"/>
              </a:rPr>
              <a:t>含</a:t>
            </a:r>
            <a:r>
              <a:rPr lang="zh-CN" altLang="en-US" sz="2800" dirty="0">
                <a:latin typeface="Times New Roman" pitchFamily="18" charset="0"/>
                <a:ea typeface="黑体" pitchFamily="49" charset="-122"/>
                <a:cs typeface="Times New Roman" pitchFamily="18" charset="0"/>
              </a:rPr>
              <a:t>有</a:t>
            </a:r>
            <a:r>
              <a:rPr lang="zh-CN" altLang="zh-CN" sz="2800" dirty="0">
                <a:latin typeface="Times New Roman" pitchFamily="18" charset="0"/>
                <a:ea typeface="黑体" pitchFamily="49" charset="-122"/>
                <a:cs typeface="Times New Roman" pitchFamily="18" charset="0"/>
              </a:rPr>
              <a:t>少量残余</a:t>
            </a:r>
            <a:r>
              <a:rPr lang="en-US" altLang="zh-CN" sz="2800" dirty="0">
                <a:latin typeface="Times New Roman" pitchFamily="18" charset="0"/>
                <a:ea typeface="黑体" pitchFamily="49" charset="-122"/>
                <a:cs typeface="Times New Roman" pitchFamily="18" charset="0"/>
              </a:rPr>
              <a:t>PO</a:t>
            </a:r>
            <a:r>
              <a:rPr lang="en-US" altLang="zh-CN" sz="2800" baseline="-25000" dirty="0">
                <a:latin typeface="Times New Roman" pitchFamily="18" charset="0"/>
                <a:ea typeface="黑体" pitchFamily="49" charset="-122"/>
                <a:cs typeface="Times New Roman" pitchFamily="18" charset="0"/>
              </a:rPr>
              <a:t>4</a:t>
            </a:r>
            <a:r>
              <a:rPr lang="en-US" altLang="zh-CN" sz="2800" baseline="30000" dirty="0">
                <a:latin typeface="Times New Roman" pitchFamily="18" charset="0"/>
                <a:ea typeface="黑体" pitchFamily="49" charset="-122"/>
                <a:cs typeface="Times New Roman" pitchFamily="18" charset="0"/>
              </a:rPr>
              <a:t>3-</a:t>
            </a:r>
            <a:r>
              <a:rPr lang="zh-CN" altLang="zh-CN" sz="2800" dirty="0">
                <a:latin typeface="Times New Roman" pitchFamily="18" charset="0"/>
                <a:ea typeface="黑体" pitchFamily="49" charset="-122"/>
                <a:cs typeface="Times New Roman" pitchFamily="18" charset="0"/>
              </a:rPr>
              <a:t>，而</a:t>
            </a:r>
            <a:r>
              <a:rPr lang="en-US" altLang="zh-CN" sz="2800" dirty="0">
                <a:latin typeface="Times New Roman" pitchFamily="18" charset="0"/>
                <a:ea typeface="黑体" pitchFamily="49" charset="-122"/>
                <a:cs typeface="Times New Roman" pitchFamily="18" charset="0"/>
              </a:rPr>
              <a:t>NO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检测不到。</a:t>
            </a:r>
            <a:endParaRPr lang="en-US" altLang="zh-CN" sz="2800" dirty="0">
              <a:latin typeface="Times New Roman" pitchFamily="18" charset="0"/>
              <a:ea typeface="黑体" pitchFamily="49" charset="-122"/>
              <a:cs typeface="Times New Roman" pitchFamily="18" charset="0"/>
            </a:endParaRPr>
          </a:p>
          <a:p>
            <a:pPr marL="468000" indent="-468000">
              <a:lnSpc>
                <a:spcPct val="130000"/>
              </a:lnSpc>
              <a:spcBef>
                <a:spcPts val="600"/>
              </a:spcBef>
              <a:defRPr/>
            </a:pPr>
            <a:r>
              <a:rPr lang="zh-CN" altLang="en-US" sz="2800" dirty="0">
                <a:latin typeface="Times New Roman" pitchFamily="18" charset="0"/>
                <a:ea typeface="黑体" pitchFamily="49" charset="-122"/>
                <a:cs typeface="Times New Roman" pitchFamily="18" charset="0"/>
              </a:rPr>
              <a:t>贫营养水体加入</a:t>
            </a:r>
            <a:r>
              <a:rPr lang="en-US" altLang="zh-CN" sz="2800" dirty="0">
                <a:latin typeface="Times New Roman" pitchFamily="18" charset="0"/>
                <a:ea typeface="黑体" pitchFamily="49" charset="-122"/>
                <a:cs typeface="Times New Roman" pitchFamily="18" charset="0"/>
              </a:rPr>
              <a:t>NO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可激发浮游植物生长，但加入</a:t>
            </a:r>
            <a:r>
              <a:rPr lang="en-US" altLang="zh-CN" sz="2800" dirty="0">
                <a:latin typeface="Times New Roman" pitchFamily="18" charset="0"/>
                <a:ea typeface="黑体" pitchFamily="49" charset="-122"/>
                <a:cs typeface="Times New Roman" pitchFamily="18" charset="0"/>
              </a:rPr>
              <a:t>PO</a:t>
            </a:r>
            <a:r>
              <a:rPr lang="en-US" altLang="zh-CN" sz="2800" baseline="-25000" dirty="0">
                <a:latin typeface="Times New Roman" pitchFamily="18" charset="0"/>
                <a:ea typeface="黑体" pitchFamily="49" charset="-122"/>
                <a:cs typeface="Times New Roman" pitchFamily="18" charset="0"/>
              </a:rPr>
              <a:t>4</a:t>
            </a:r>
            <a:r>
              <a:rPr lang="en-US" altLang="zh-CN" sz="2800" baseline="30000" dirty="0">
                <a:latin typeface="Times New Roman" pitchFamily="18" charset="0"/>
                <a:ea typeface="黑体" pitchFamily="49" charset="-122"/>
                <a:cs typeface="Times New Roman" pitchFamily="18" charset="0"/>
              </a:rPr>
              <a:t>3-</a:t>
            </a:r>
            <a:r>
              <a:rPr lang="zh-CN" altLang="zh-CN" sz="2800" dirty="0">
                <a:latin typeface="Times New Roman" pitchFamily="18" charset="0"/>
                <a:ea typeface="黑体" pitchFamily="49" charset="-122"/>
                <a:cs typeface="Times New Roman" pitchFamily="18" charset="0"/>
              </a:rPr>
              <a:t>则不起作用</a:t>
            </a:r>
            <a:r>
              <a:rPr lang="zh-CN" altLang="en-US" sz="2800" dirty="0">
                <a:latin typeface="Times New Roman" pitchFamily="18" charset="0"/>
                <a:ea typeface="黑体" pitchFamily="49" charset="-122"/>
                <a:cs typeface="Times New Roman" pitchFamily="18" charset="0"/>
              </a:rPr>
              <a:t>。</a:t>
            </a:r>
            <a:endParaRPr lang="en-US" altLang="zh-CN" sz="2800" dirty="0">
              <a:latin typeface="Times New Roman" pitchFamily="18" charset="0"/>
              <a:ea typeface="黑体" pitchFamily="49" charset="-122"/>
              <a:cs typeface="Times New Roman" pitchFamily="18" charset="0"/>
            </a:endParaRPr>
          </a:p>
          <a:p>
            <a:pPr marL="468000" indent="-468000">
              <a:lnSpc>
                <a:spcPct val="130000"/>
              </a:lnSpc>
              <a:spcBef>
                <a:spcPts val="600"/>
              </a:spcBef>
              <a:buFont typeface="Wingdings" pitchFamily="2" charset="2"/>
              <a:buNone/>
              <a:defRPr/>
            </a:pPr>
            <a:r>
              <a:rPr lang="zh-CN" altLang="en-US" sz="2800" dirty="0">
                <a:solidFill>
                  <a:srgbClr val="C00000"/>
                </a:solidFill>
                <a:latin typeface="Times New Roman" pitchFamily="18" charset="0"/>
                <a:ea typeface="黑体" pitchFamily="49" charset="-122"/>
                <a:cs typeface="Times New Roman" pitchFamily="18" charset="0"/>
              </a:rPr>
              <a:t>结论：</a:t>
            </a:r>
            <a:endParaRPr lang="en-US" altLang="zh-CN" sz="2800" dirty="0">
              <a:solidFill>
                <a:srgbClr val="C00000"/>
              </a:solidFill>
              <a:latin typeface="Times New Roman" pitchFamily="18" charset="0"/>
              <a:ea typeface="黑体" pitchFamily="49" charset="-122"/>
              <a:cs typeface="Times New Roman" pitchFamily="18" charset="0"/>
            </a:endParaRPr>
          </a:p>
          <a:p>
            <a:pPr>
              <a:lnSpc>
                <a:spcPct val="130000"/>
              </a:lnSpc>
              <a:spcBef>
                <a:spcPts val="600"/>
              </a:spcBef>
              <a:buFontTx/>
              <a:buNone/>
              <a:defRPr/>
            </a:pPr>
            <a:r>
              <a:rPr lang="en-US" altLang="zh-CN" sz="2800" dirty="0">
                <a:latin typeface="Times New Roman" pitchFamily="18" charset="0"/>
                <a:ea typeface="黑体" pitchFamily="49" charset="-122"/>
                <a:cs typeface="Times New Roman" pitchFamily="18" charset="0"/>
              </a:rPr>
              <a:t>     </a:t>
            </a:r>
            <a:r>
              <a:rPr lang="zh-CN" altLang="zh-CN" sz="2800" dirty="0">
                <a:latin typeface="Times New Roman" pitchFamily="18" charset="0"/>
                <a:ea typeface="黑体" pitchFamily="49" charset="-122"/>
                <a:cs typeface="Times New Roman" pitchFamily="18" charset="0"/>
              </a:rPr>
              <a:t>海洋氮</a:t>
            </a:r>
            <a:r>
              <a:rPr lang="zh-CN" altLang="en-US" sz="2800" dirty="0">
                <a:latin typeface="Times New Roman" pitchFamily="18" charset="0"/>
                <a:ea typeface="黑体" pitchFamily="49" charset="-122"/>
                <a:cs typeface="Times New Roman" pitchFamily="18" charset="0"/>
              </a:rPr>
              <a:t>营养盐</a:t>
            </a:r>
            <a:r>
              <a:rPr lang="zh-CN" altLang="zh-CN" sz="2800" dirty="0">
                <a:latin typeface="Times New Roman" pitchFamily="18" charset="0"/>
                <a:ea typeface="黑体" pitchFamily="49" charset="-122"/>
                <a:cs typeface="Times New Roman" pitchFamily="18" charset="0"/>
              </a:rPr>
              <a:t>调控着生物生产力</a:t>
            </a:r>
            <a:endParaRPr lang="zh-CN" altLang="en-US" sz="2800" dirty="0">
              <a:latin typeface="Times New Roman" pitchFamily="18" charset="0"/>
              <a:ea typeface="黑体" pitchFamily="49" charset="-122"/>
              <a:cs typeface="Times New Roman" pitchFamily="18" charset="0"/>
            </a:endParaRPr>
          </a:p>
        </p:txBody>
      </p:sp>
      <p:sp>
        <p:nvSpPr>
          <p:cNvPr id="3" name="Rectangle 3"/>
          <p:cNvSpPr txBox="1">
            <a:spLocks noChangeArrowheads="1"/>
          </p:cNvSpPr>
          <p:nvPr/>
        </p:nvSpPr>
        <p:spPr>
          <a:xfrm>
            <a:off x="1475656" y="538179"/>
            <a:ext cx="4464050" cy="576263"/>
          </a:xfrm>
          <a:prstGeom prst="rect">
            <a:avLst/>
          </a:prstGeom>
        </p:spPr>
        <p:txBody>
          <a:bodyPr>
            <a:normAutofit fontScale="90000" lnSpcReduction="20000"/>
          </a:bodyPr>
          <a:lstStyle/>
          <a:p>
            <a:pPr marL="1066800" indent="-1066800" fontAlgn="auto">
              <a:lnSpc>
                <a:spcPct val="100000"/>
              </a:lnSpc>
              <a:spcBef>
                <a:spcPct val="0"/>
              </a:spcBef>
              <a:spcAft>
                <a:spcPts val="0"/>
              </a:spcAft>
              <a:buFontTx/>
              <a:buNone/>
              <a:defRPr/>
            </a:pPr>
            <a:r>
              <a:rPr lang="zh-CN" altLang="en-US" sz="4000" dirty="0">
                <a:solidFill>
                  <a:srgbClr val="0000FF"/>
                </a:solidFill>
                <a:latin typeface="微软雅黑" pitchFamily="34" charset="-122"/>
                <a:ea typeface="微软雅黑" pitchFamily="34" charset="-122"/>
                <a:cs typeface="Times New Roman" pitchFamily="18" charset="0"/>
              </a:rPr>
              <a:t>海洋磷循环的重要性</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323528" y="1484784"/>
            <a:ext cx="8496300" cy="4596653"/>
          </a:xfrm>
          <a:prstGeom prst="rect">
            <a:avLst/>
          </a:prstGeom>
          <a:noFill/>
          <a:ln w="9525">
            <a:noFill/>
            <a:miter lim="800000"/>
            <a:headEnd/>
            <a:tailEnd/>
          </a:ln>
        </p:spPr>
        <p:txBody>
          <a:bodyPr lIns="18000" tIns="10800" rIns="18000" bIns="10800">
            <a:spAutoFit/>
          </a:bodyPr>
          <a:lstStyle/>
          <a:p>
            <a:pPr>
              <a:lnSpc>
                <a:spcPct val="130000"/>
              </a:lnSpc>
              <a:spcBef>
                <a:spcPts val="600"/>
              </a:spcBef>
              <a:buFontTx/>
              <a:buNone/>
              <a:defRPr/>
            </a:pPr>
            <a:r>
              <a:rPr lang="en-US" altLang="zh-CN" sz="2800" dirty="0">
                <a:latin typeface="Times New Roman" pitchFamily="18" charset="0"/>
                <a:ea typeface="黑体" pitchFamily="49" charset="-122"/>
                <a:cs typeface="Times New Roman" pitchFamily="18" charset="0"/>
              </a:rPr>
              <a:t>Tyrrell (1999)</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NO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zh-CN" sz="2800" dirty="0">
                <a:latin typeface="Times New Roman" pitchFamily="18" charset="0"/>
                <a:ea typeface="黑体" pitchFamily="49" charset="-122"/>
                <a:cs typeface="Times New Roman" pitchFamily="18" charset="0"/>
              </a:rPr>
              <a:t>是潜在限制性营养盐</a:t>
            </a:r>
            <a:r>
              <a:rPr lang="zh-CN" altLang="zh-CN" sz="1600" dirty="0">
                <a:latin typeface="Times New Roman" pitchFamily="18" charset="0"/>
                <a:ea typeface="黑体" pitchFamily="49" charset="-122"/>
                <a:cs typeface="Times New Roman" pitchFamily="18" charset="0"/>
              </a:rPr>
              <a:t>（</a:t>
            </a:r>
            <a:r>
              <a:rPr lang="en-US" altLang="zh-CN" sz="1600" dirty="0">
                <a:latin typeface="Times New Roman" pitchFamily="18" charset="0"/>
                <a:ea typeface="黑体" pitchFamily="49" charset="-122"/>
                <a:cs typeface="Times New Roman" pitchFamily="18" charset="0"/>
              </a:rPr>
              <a:t>proximate limiting nutrient</a:t>
            </a:r>
            <a:r>
              <a:rPr lang="zh-CN" altLang="zh-CN" sz="1600" dirty="0">
                <a:latin typeface="Times New Roman" pitchFamily="18" charset="0"/>
                <a:ea typeface="黑体" pitchFamily="49" charset="-122"/>
                <a:cs typeface="Times New Roman" pitchFamily="18" charset="0"/>
              </a:rPr>
              <a:t>）</a:t>
            </a:r>
            <a:r>
              <a:rPr lang="zh-CN" altLang="zh-CN"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PO</a:t>
            </a:r>
            <a:r>
              <a:rPr lang="en-US" altLang="zh-CN" sz="2800" baseline="-25000" dirty="0">
                <a:latin typeface="Times New Roman" pitchFamily="18" charset="0"/>
                <a:ea typeface="黑体" pitchFamily="49" charset="-122"/>
                <a:cs typeface="Times New Roman" pitchFamily="18" charset="0"/>
              </a:rPr>
              <a:t>4</a:t>
            </a:r>
            <a:r>
              <a:rPr lang="en-US" altLang="zh-CN" sz="2800" baseline="30000" dirty="0">
                <a:latin typeface="Times New Roman" pitchFamily="18" charset="0"/>
                <a:ea typeface="黑体" pitchFamily="49" charset="-122"/>
                <a:cs typeface="Times New Roman" pitchFamily="18" charset="0"/>
              </a:rPr>
              <a:t>3-</a:t>
            </a:r>
            <a:r>
              <a:rPr lang="zh-CN" altLang="zh-CN" sz="2800" dirty="0">
                <a:latin typeface="Times New Roman" pitchFamily="18" charset="0"/>
                <a:ea typeface="黑体" pitchFamily="49" charset="-122"/>
                <a:cs typeface="Times New Roman" pitchFamily="18" charset="0"/>
              </a:rPr>
              <a:t>是最终限制性营养盐</a:t>
            </a:r>
            <a:r>
              <a:rPr lang="zh-CN" altLang="zh-CN" dirty="0">
                <a:latin typeface="Times New Roman" pitchFamily="18" charset="0"/>
                <a:ea typeface="黑体" pitchFamily="49" charset="-122"/>
                <a:cs typeface="Times New Roman" pitchFamily="18" charset="0"/>
              </a:rPr>
              <a:t>（</a:t>
            </a:r>
            <a:r>
              <a:rPr lang="en-US" altLang="zh-CN" sz="1600" dirty="0">
                <a:latin typeface="Times New Roman" pitchFamily="18" charset="0"/>
                <a:ea typeface="黑体" pitchFamily="49" charset="-122"/>
                <a:cs typeface="Times New Roman" pitchFamily="18" charset="0"/>
              </a:rPr>
              <a:t>ultimate limiting nutrient</a:t>
            </a:r>
            <a:r>
              <a:rPr lang="zh-CN" altLang="zh-CN" sz="1600" dirty="0">
                <a:latin typeface="Times New Roman" pitchFamily="18" charset="0"/>
                <a:ea typeface="黑体" pitchFamily="49" charset="-122"/>
                <a:cs typeface="Times New Roman" pitchFamily="18" charset="0"/>
              </a:rPr>
              <a:t>）</a:t>
            </a:r>
            <a:endParaRPr lang="zh-CN" altLang="zh-CN" sz="2800" dirty="0">
              <a:latin typeface="Times New Roman" pitchFamily="18" charset="0"/>
              <a:ea typeface="黑体" pitchFamily="49" charset="-122"/>
              <a:cs typeface="Times New Roman" pitchFamily="18" charset="0"/>
            </a:endParaRPr>
          </a:p>
          <a:p>
            <a:pPr marL="468000" indent="-468000">
              <a:lnSpc>
                <a:spcPct val="130000"/>
              </a:lnSpc>
              <a:spcBef>
                <a:spcPts val="600"/>
              </a:spcBef>
              <a:defRPr/>
            </a:pPr>
            <a:r>
              <a:rPr lang="zh-CN" altLang="zh-CN" sz="2800" dirty="0">
                <a:solidFill>
                  <a:srgbClr val="0000FF"/>
                </a:solidFill>
                <a:latin typeface="Times New Roman" pitchFamily="18" charset="0"/>
                <a:ea typeface="黑体" pitchFamily="49" charset="-122"/>
                <a:cs typeface="Times New Roman" pitchFamily="18" charset="0"/>
              </a:rPr>
              <a:t>潜在限制性营养盐：</a:t>
            </a:r>
            <a:r>
              <a:rPr lang="zh-CN" altLang="zh-CN" sz="2800" dirty="0">
                <a:latin typeface="Times New Roman" pitchFamily="18" charset="0"/>
                <a:ea typeface="黑体" pitchFamily="49" charset="-122"/>
                <a:cs typeface="Times New Roman" pitchFamily="18" charset="0"/>
              </a:rPr>
              <a:t>依据</a:t>
            </a:r>
            <a:r>
              <a:rPr lang="en-US" altLang="zh-CN" sz="2800" dirty="0">
                <a:latin typeface="Times New Roman" pitchFamily="18" charset="0"/>
                <a:ea typeface="黑体" pitchFamily="49" charset="-122"/>
                <a:cs typeface="Times New Roman" pitchFamily="18" charset="0"/>
              </a:rPr>
              <a:t>Liebig</a:t>
            </a:r>
            <a:r>
              <a:rPr lang="zh-CN" altLang="zh-CN" sz="2800" dirty="0">
                <a:latin typeface="Times New Roman" pitchFamily="18" charset="0"/>
                <a:ea typeface="黑体" pitchFamily="49" charset="-122"/>
                <a:cs typeface="Times New Roman" pitchFamily="18" charset="0"/>
              </a:rPr>
              <a:t>法则得到的区域限制性营养盐。加入</a:t>
            </a:r>
            <a:r>
              <a:rPr lang="en-US" altLang="zh-CN" sz="2800" dirty="0">
                <a:latin typeface="Times New Roman" pitchFamily="18" charset="0"/>
                <a:ea typeface="黑体" pitchFamily="49" charset="-122"/>
                <a:cs typeface="Times New Roman" pitchFamily="18" charset="0"/>
              </a:rPr>
              <a:t>PLN</a:t>
            </a:r>
            <a:r>
              <a:rPr lang="zh-CN" altLang="zh-CN" sz="2800" dirty="0">
                <a:latin typeface="Times New Roman" pitchFamily="18" charset="0"/>
                <a:ea typeface="黑体" pitchFamily="49" charset="-122"/>
                <a:cs typeface="Times New Roman" pitchFamily="18" charset="0"/>
              </a:rPr>
              <a:t>可在几小时到几天尺度上加强生物生产力。</a:t>
            </a:r>
          </a:p>
          <a:p>
            <a:pPr marL="468000" indent="-468000">
              <a:lnSpc>
                <a:spcPct val="130000"/>
              </a:lnSpc>
              <a:spcBef>
                <a:spcPts val="600"/>
              </a:spcBef>
              <a:defRPr/>
            </a:pPr>
            <a:r>
              <a:rPr lang="zh-CN" altLang="zh-CN" sz="2800" dirty="0">
                <a:solidFill>
                  <a:srgbClr val="0000FF"/>
                </a:solidFill>
                <a:latin typeface="Times New Roman" pitchFamily="18" charset="0"/>
                <a:ea typeface="黑体" pitchFamily="49" charset="-122"/>
                <a:cs typeface="Times New Roman" pitchFamily="18" charset="0"/>
              </a:rPr>
              <a:t>最终限制性营养盐：</a:t>
            </a:r>
            <a:r>
              <a:rPr lang="zh-CN" altLang="zh-CN" sz="2800" dirty="0">
                <a:latin typeface="Times New Roman" pitchFamily="18" charset="0"/>
                <a:ea typeface="黑体" pitchFamily="49" charset="-122"/>
                <a:cs typeface="Times New Roman" pitchFamily="18" charset="0"/>
              </a:rPr>
              <a:t>营养盐提供速率在长时间尺度上驱动整个生态系统的生产力。如果</a:t>
            </a:r>
            <a:r>
              <a:rPr lang="en-US" altLang="zh-CN" sz="2800" dirty="0">
                <a:latin typeface="Times New Roman" pitchFamily="18" charset="0"/>
                <a:ea typeface="黑体" pitchFamily="49" charset="-122"/>
                <a:cs typeface="Times New Roman" pitchFamily="18" charset="0"/>
              </a:rPr>
              <a:t>ULN</a:t>
            </a:r>
            <a:r>
              <a:rPr lang="zh-CN" altLang="zh-CN" sz="2800" dirty="0">
                <a:latin typeface="Times New Roman" pitchFamily="18" charset="0"/>
                <a:ea typeface="黑体" pitchFamily="49" charset="-122"/>
                <a:cs typeface="Times New Roman" pitchFamily="18" charset="0"/>
              </a:rPr>
              <a:t>输入</a:t>
            </a:r>
            <a:r>
              <a:rPr lang="zh-CN" altLang="en-US" sz="2800" dirty="0">
                <a:latin typeface="Times New Roman" pitchFamily="18" charset="0"/>
                <a:ea typeface="黑体" pitchFamily="49" charset="-122"/>
                <a:cs typeface="Times New Roman" pitchFamily="18" charset="0"/>
              </a:rPr>
              <a:t>发生</a:t>
            </a:r>
            <a:r>
              <a:rPr lang="zh-CN" altLang="zh-CN" sz="2800" dirty="0">
                <a:latin typeface="Times New Roman" pitchFamily="18" charset="0"/>
                <a:ea typeface="黑体" pitchFamily="49" charset="-122"/>
                <a:cs typeface="Times New Roman" pitchFamily="18" charset="0"/>
              </a:rPr>
              <a:t>变化，生产力</a:t>
            </a:r>
            <a:r>
              <a:rPr lang="zh-CN" altLang="en-US" sz="2800" dirty="0">
                <a:latin typeface="Times New Roman" pitchFamily="18" charset="0"/>
                <a:ea typeface="黑体" pitchFamily="49" charset="-122"/>
                <a:cs typeface="Times New Roman" pitchFamily="18" charset="0"/>
              </a:rPr>
              <a:t>将在</a:t>
            </a:r>
            <a:r>
              <a:rPr lang="zh-CN" altLang="zh-CN" sz="2800" dirty="0">
                <a:latin typeface="Times New Roman" pitchFamily="18" charset="0"/>
                <a:ea typeface="黑体" pitchFamily="49" charset="-122"/>
                <a:cs typeface="Times New Roman" pitchFamily="18" charset="0"/>
              </a:rPr>
              <a:t>成百上千年尺度</a:t>
            </a:r>
            <a:r>
              <a:rPr lang="zh-CN" altLang="en-US" sz="2800" dirty="0">
                <a:latin typeface="Times New Roman" pitchFamily="18" charset="0"/>
                <a:ea typeface="黑体" pitchFamily="49" charset="-122"/>
                <a:cs typeface="Times New Roman" pitchFamily="18" charset="0"/>
              </a:rPr>
              <a:t>上</a:t>
            </a:r>
            <a:r>
              <a:rPr lang="zh-CN" altLang="zh-CN" sz="2800" dirty="0">
                <a:latin typeface="Times New Roman" pitchFamily="18" charset="0"/>
                <a:ea typeface="黑体" pitchFamily="49" charset="-122"/>
                <a:cs typeface="Times New Roman" pitchFamily="18" charset="0"/>
              </a:rPr>
              <a:t>发生变化。       </a:t>
            </a:r>
            <a:endParaRPr lang="zh-CN" altLang="en-US" sz="2800" dirty="0">
              <a:latin typeface="Times New Roman" pitchFamily="18" charset="0"/>
              <a:ea typeface="黑体" pitchFamily="49" charset="-122"/>
              <a:cs typeface="Times New Roman" pitchFamily="18" charset="0"/>
            </a:endParaRPr>
          </a:p>
        </p:txBody>
      </p:sp>
      <p:sp>
        <p:nvSpPr>
          <p:cNvPr id="3" name="Rectangle 3"/>
          <p:cNvSpPr txBox="1">
            <a:spLocks noChangeArrowheads="1"/>
          </p:cNvSpPr>
          <p:nvPr/>
        </p:nvSpPr>
        <p:spPr>
          <a:xfrm>
            <a:off x="1259632" y="488431"/>
            <a:ext cx="7884368" cy="576263"/>
          </a:xfrm>
          <a:prstGeom prst="rect">
            <a:avLst/>
          </a:prstGeom>
        </p:spPr>
        <p:txBody>
          <a:bodyPr>
            <a:normAutofit fontScale="82500" lnSpcReduction="10000"/>
          </a:bodyPr>
          <a:lstStyle/>
          <a:p>
            <a:pPr marL="1066800" indent="-1066800" fontAlgn="auto">
              <a:lnSpc>
                <a:spcPct val="100000"/>
              </a:lnSpc>
              <a:spcBef>
                <a:spcPct val="0"/>
              </a:spcBef>
              <a:spcAft>
                <a:spcPts val="0"/>
              </a:spcAft>
              <a:buFontTx/>
              <a:buNone/>
              <a:defRPr/>
            </a:pPr>
            <a:r>
              <a:rPr lang="zh-CN" altLang="en-US" sz="4000" dirty="0">
                <a:solidFill>
                  <a:srgbClr val="0000FF"/>
                </a:solidFill>
                <a:latin typeface="微软雅黑" pitchFamily="34" charset="-122"/>
                <a:ea typeface="微软雅黑" pitchFamily="34" charset="-122"/>
                <a:cs typeface="Times New Roman" pitchFamily="18" charset="0"/>
              </a:rPr>
              <a:t>海洋磷循环的重要性：</a:t>
            </a:r>
            <a:r>
              <a:rPr lang="zh-CN" altLang="en-US" sz="4000" dirty="0">
                <a:solidFill>
                  <a:srgbClr val="C00000"/>
                </a:solidFill>
                <a:latin typeface="Times New Roman" pitchFamily="18" charset="0"/>
                <a:ea typeface="黑体" pitchFamily="49" charset="-122"/>
                <a:cs typeface="Times New Roman" pitchFamily="18" charset="0"/>
              </a:rPr>
              <a:t>时间尺度的考量</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zh-CN" altLang="en-US" dirty="0"/>
              <a:t>提纲</a:t>
            </a:r>
            <a:endParaRPr lang="en-US" altLang="zh-CN" dirty="0"/>
          </a:p>
          <a:p>
            <a:pPr marL="914400" lvl="1" indent="-457200">
              <a:buFont typeface="+mj-lt"/>
              <a:buAutoNum type="arabicPeriod"/>
            </a:pPr>
            <a:r>
              <a:rPr lang="zh-CN" altLang="en-US" sz="2800" dirty="0">
                <a:solidFill>
                  <a:schemeClr val="tx1">
                    <a:lumMod val="50000"/>
                    <a:lumOff val="50000"/>
                  </a:schemeClr>
                </a:solidFill>
              </a:rPr>
              <a:t>海水中营养要素的组成</a:t>
            </a:r>
            <a:endParaRPr lang="en-US" altLang="zh-CN" sz="2800" dirty="0">
              <a:solidFill>
                <a:schemeClr val="tx1">
                  <a:lumMod val="50000"/>
                  <a:lumOff val="50000"/>
                </a:schemeClr>
              </a:solidFill>
            </a:endParaRPr>
          </a:p>
          <a:p>
            <a:pPr marL="914400" lvl="1" indent="-457200">
              <a:buFont typeface="+mj-lt"/>
              <a:buAutoNum type="arabicPeriod"/>
            </a:pPr>
            <a:r>
              <a:rPr lang="zh-CN" altLang="en-US" sz="2800" dirty="0">
                <a:solidFill>
                  <a:schemeClr val="tx1">
                    <a:lumMod val="50000"/>
                    <a:lumOff val="50000"/>
                  </a:schemeClr>
                </a:solidFill>
              </a:rPr>
              <a:t>海水中磷循环的重要意义</a:t>
            </a:r>
            <a:endParaRPr lang="en-US" altLang="zh-CN" sz="2800" dirty="0">
              <a:solidFill>
                <a:schemeClr val="tx1">
                  <a:lumMod val="50000"/>
                  <a:lumOff val="50000"/>
                </a:schemeClr>
              </a:solidFill>
            </a:endParaRPr>
          </a:p>
          <a:p>
            <a:pPr marL="914400" lvl="1" indent="-457200">
              <a:buFont typeface="+mj-lt"/>
              <a:buAutoNum type="arabicPeriod"/>
            </a:pPr>
            <a:r>
              <a:rPr lang="zh-CN" altLang="en-US" sz="2800" dirty="0"/>
              <a:t>海水中磷酸盐的组成及主要存在形式</a:t>
            </a:r>
            <a:endParaRPr lang="en-US" altLang="zh-CN" sz="2800" dirty="0"/>
          </a:p>
          <a:p>
            <a:pPr marL="914400" lvl="1" indent="-457200">
              <a:buFont typeface="+mj-lt"/>
              <a:buAutoNum type="arabicPeriod"/>
            </a:pPr>
            <a:r>
              <a:rPr lang="zh-CN" altLang="en-US" sz="2800" dirty="0">
                <a:solidFill>
                  <a:schemeClr val="tx1">
                    <a:lumMod val="50000"/>
                    <a:lumOff val="50000"/>
                  </a:schemeClr>
                </a:solidFill>
              </a:rPr>
              <a:t>海水中磷酸盐的测定方法</a:t>
            </a:r>
            <a:endParaRPr lang="en-US" altLang="zh-CN" sz="2800" dirty="0">
              <a:solidFill>
                <a:schemeClr val="tx1">
                  <a:lumMod val="50000"/>
                  <a:lumOff val="50000"/>
                </a:schemeClr>
              </a:solidFill>
            </a:endParaRPr>
          </a:p>
          <a:p>
            <a:pPr marL="1314450" lvl="2" indent="-457200">
              <a:buFont typeface="+mj-lt"/>
              <a:buAutoNum type="alphaUcPeriod"/>
            </a:pPr>
            <a:r>
              <a:rPr lang="zh-CN" altLang="en-US" sz="2400" dirty="0">
                <a:solidFill>
                  <a:schemeClr val="tx1">
                    <a:lumMod val="50000"/>
                    <a:lumOff val="50000"/>
                  </a:schemeClr>
                </a:solidFill>
              </a:rPr>
              <a:t>磷钼黄法</a:t>
            </a:r>
            <a:endParaRPr lang="en-US" altLang="zh-CN" sz="2400" dirty="0">
              <a:solidFill>
                <a:schemeClr val="tx1">
                  <a:lumMod val="50000"/>
                  <a:lumOff val="50000"/>
                </a:schemeClr>
              </a:solidFill>
            </a:endParaRPr>
          </a:p>
          <a:p>
            <a:pPr marL="1314450" lvl="2" indent="-457200">
              <a:buFont typeface="+mj-lt"/>
              <a:buAutoNum type="alphaUcPeriod"/>
            </a:pPr>
            <a:r>
              <a:rPr lang="zh-CN" altLang="en-US" sz="2400" dirty="0">
                <a:solidFill>
                  <a:schemeClr val="tx1">
                    <a:lumMod val="50000"/>
                    <a:lumOff val="50000"/>
                  </a:schemeClr>
                </a:solidFill>
              </a:rPr>
              <a:t>磷钼蓝法</a:t>
            </a:r>
            <a:endParaRPr lang="en-US" altLang="zh-CN" dirty="0">
              <a:solidFill>
                <a:schemeClr val="tx1">
                  <a:lumMod val="50000"/>
                  <a:lumOff val="50000"/>
                </a:schemeClr>
              </a:solidFill>
            </a:endParaRPr>
          </a:p>
          <a:p>
            <a:pPr marL="914400" lvl="1" indent="-457200">
              <a:buFont typeface="+mj-lt"/>
              <a:buAutoNum type="arabicPeriod"/>
            </a:pPr>
            <a:r>
              <a:rPr lang="zh-CN" altLang="en-US" sz="2800" dirty="0">
                <a:solidFill>
                  <a:schemeClr val="tx1">
                    <a:lumMod val="50000"/>
                    <a:lumOff val="50000"/>
                  </a:schemeClr>
                </a:solidFill>
              </a:rPr>
              <a:t>紫外分光光度法的测量原理</a:t>
            </a:r>
            <a:endParaRPr lang="en-US" altLang="zh-CN" sz="2800" dirty="0">
              <a:solidFill>
                <a:schemeClr val="tx1">
                  <a:lumMod val="50000"/>
                  <a:lumOff val="50000"/>
                </a:schemeClr>
              </a:solidFill>
            </a:endParaRPr>
          </a:p>
          <a:p>
            <a:pPr marL="914400" lvl="1" indent="-457200">
              <a:buFont typeface="+mj-lt"/>
              <a:buAutoNum type="arabicPeriod"/>
            </a:pPr>
            <a:endParaRPr lang="en-US" altLang="zh-CN" dirty="0"/>
          </a:p>
          <a:p>
            <a:pPr marL="914400" lvl="1" indent="-457200">
              <a:buFont typeface="+mj-lt"/>
              <a:buAutoNum type="arabicPeriod"/>
            </a:pPr>
            <a:endParaRPr lang="zh-CN" altLang="en-US" dirty="0"/>
          </a:p>
        </p:txBody>
      </p:sp>
      <p:sp>
        <p:nvSpPr>
          <p:cNvPr id="4" name="标题 1"/>
          <p:cNvSpPr txBox="1">
            <a:spLocks/>
          </p:cNvSpPr>
          <p:nvPr/>
        </p:nvSpPr>
        <p:spPr bwMode="auto">
          <a:xfrm>
            <a:off x="1357290" y="500042"/>
            <a:ext cx="7224706" cy="836712"/>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0" cap="all"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Tree>
    <p:extLst>
      <p:ext uri="{BB962C8B-B14F-4D97-AF65-F5344CB8AC3E}">
        <p14:creationId xmlns:p14="http://schemas.microsoft.com/office/powerpoint/2010/main" val="164611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467544" y="1853536"/>
            <a:ext cx="8429684" cy="1296143"/>
          </a:xfrm>
        </p:spPr>
        <p:txBody>
          <a:bodyPr/>
          <a:lstStyle/>
          <a:p>
            <a:pPr>
              <a:spcBef>
                <a:spcPts val="1200"/>
              </a:spcBef>
            </a:pPr>
            <a:r>
              <a:rPr lang="zh-CN" altLang="en-US" sz="2400" dirty="0"/>
              <a:t>海水中的磷主要以有机磷和无机磷两种形式存在</a:t>
            </a:r>
            <a:endParaRPr lang="en-US" altLang="zh-CN" sz="2400" dirty="0"/>
          </a:p>
          <a:p>
            <a:pPr>
              <a:spcBef>
                <a:spcPts val="1200"/>
              </a:spcBef>
            </a:pPr>
            <a:r>
              <a:rPr lang="zh-CN" altLang="en-US" sz="2400" dirty="0"/>
              <a:t>其中每种又分溶解态和颗粒态</a:t>
            </a:r>
          </a:p>
        </p:txBody>
      </p:sp>
      <p:sp>
        <p:nvSpPr>
          <p:cNvPr id="11" name="TextBox 10"/>
          <p:cNvSpPr txBox="1"/>
          <p:nvPr/>
        </p:nvSpPr>
        <p:spPr>
          <a:xfrm>
            <a:off x="1547664" y="332656"/>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pic>
        <p:nvPicPr>
          <p:cNvPr id="91139" name="Picture 3" descr="D:\课程\课件\课程图片\0.png"/>
          <p:cNvPicPr>
            <a:picLocks noChangeAspect="1" noChangeArrowheads="1"/>
          </p:cNvPicPr>
          <p:nvPr/>
        </p:nvPicPr>
        <p:blipFill>
          <a:blip r:embed="rId3" cstate="print"/>
          <a:srcRect/>
          <a:stretch>
            <a:fillRect/>
          </a:stretch>
        </p:blipFill>
        <p:spPr bwMode="auto">
          <a:xfrm>
            <a:off x="292503" y="3126510"/>
            <a:ext cx="8151813" cy="28194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a:xfrm>
            <a:off x="1691680" y="428482"/>
            <a:ext cx="5329237" cy="576262"/>
          </a:xfrm>
        </p:spPr>
        <p:txBody>
          <a:bodyPr rtlCol="0">
            <a:normAutofit fontScale="90000"/>
          </a:bodyPr>
          <a:lstStyle/>
          <a:p>
            <a:pPr marL="1066800" indent="-1066800" algn="l" eaLnBrk="1" fontAlgn="auto" hangingPunct="1">
              <a:spcAft>
                <a:spcPts val="0"/>
              </a:spcAft>
              <a:defRPr/>
            </a:pPr>
            <a:r>
              <a:rPr lang="zh-CN" altLang="en-US" sz="4000" b="1" dirty="0">
                <a:solidFill>
                  <a:srgbClr val="C00000"/>
                </a:solidFill>
                <a:latin typeface="微软雅黑" pitchFamily="34" charset="-122"/>
                <a:ea typeface="微软雅黑" pitchFamily="34" charset="-122"/>
                <a:cs typeface="Times New Roman" pitchFamily="18" charset="0"/>
              </a:rPr>
              <a:t>磷的存在形态与储库</a:t>
            </a:r>
          </a:p>
        </p:txBody>
      </p:sp>
      <p:sp>
        <p:nvSpPr>
          <p:cNvPr id="61443" name="Text Box 4"/>
          <p:cNvSpPr txBox="1">
            <a:spLocks noChangeArrowheads="1"/>
          </p:cNvSpPr>
          <p:nvPr/>
        </p:nvSpPr>
        <p:spPr bwMode="auto">
          <a:xfrm>
            <a:off x="2123281" y="2112913"/>
            <a:ext cx="3529013" cy="2114550"/>
          </a:xfrm>
          <a:prstGeom prst="rect">
            <a:avLst/>
          </a:prstGeom>
          <a:noFill/>
          <a:ln w="9525">
            <a:noFill/>
            <a:miter lim="800000"/>
            <a:headEnd/>
            <a:tailEnd/>
          </a:ln>
        </p:spPr>
        <p:txBody>
          <a:bodyPr lIns="18000" tIns="10800" rIns="18000" bIns="10800">
            <a:spAutoFit/>
          </a:bodyPr>
          <a:lstStyle/>
          <a:p>
            <a:pPr marL="466725" indent="-466725">
              <a:lnSpc>
                <a:spcPct val="150000"/>
              </a:lnSpc>
              <a:spcBef>
                <a:spcPts val="600"/>
              </a:spcBef>
            </a:pPr>
            <a:r>
              <a:rPr lang="en-US" altLang="zh-CN" sz="2800" dirty="0">
                <a:latin typeface="Times New Roman" pitchFamily="18" charset="0"/>
                <a:ea typeface="黑体" pitchFamily="49" charset="-122"/>
                <a:cs typeface="Times New Roman" pitchFamily="18" charset="0"/>
              </a:rPr>
              <a:t>TP = PP + TDP</a:t>
            </a:r>
          </a:p>
          <a:p>
            <a:pPr marL="466725" indent="-466725">
              <a:lnSpc>
                <a:spcPct val="150000"/>
              </a:lnSpc>
              <a:spcBef>
                <a:spcPts val="600"/>
              </a:spcBef>
            </a:pPr>
            <a:r>
              <a:rPr lang="en-US" altLang="zh-CN" sz="2800" dirty="0">
                <a:latin typeface="Times New Roman" pitchFamily="18" charset="0"/>
                <a:ea typeface="黑体" pitchFamily="49" charset="-122"/>
                <a:cs typeface="Times New Roman" pitchFamily="18" charset="0"/>
              </a:rPr>
              <a:t>PP = POP + PIP</a:t>
            </a:r>
          </a:p>
          <a:p>
            <a:pPr marL="466725" indent="-466725">
              <a:lnSpc>
                <a:spcPct val="150000"/>
              </a:lnSpc>
              <a:spcBef>
                <a:spcPts val="600"/>
              </a:spcBef>
            </a:pPr>
            <a:r>
              <a:rPr lang="en-US" altLang="zh-CN" sz="2800" dirty="0">
                <a:latin typeface="Times New Roman" pitchFamily="18" charset="0"/>
                <a:ea typeface="黑体" pitchFamily="49" charset="-122"/>
                <a:cs typeface="Times New Roman" pitchFamily="18" charset="0"/>
              </a:rPr>
              <a:t>TDP = DOP + DIP</a:t>
            </a:r>
            <a:endParaRPr lang="zh-CN" altLang="en-US" sz="2800" dirty="0">
              <a:latin typeface="Times New Roman" pitchFamily="18" charset="0"/>
              <a:ea typeface="黑体" pitchFamily="49" charset="-122"/>
              <a:cs typeface="Times New Roman" pitchFamily="18" charset="0"/>
            </a:endParaRPr>
          </a:p>
        </p:txBody>
      </p:sp>
      <p:sp>
        <p:nvSpPr>
          <p:cNvPr id="61444" name="Rectangle 6"/>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61445"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1446"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1447" name="Text Box 9"/>
          <p:cNvSpPr txBox="1">
            <a:spLocks noChangeArrowheads="1"/>
          </p:cNvSpPr>
          <p:nvPr/>
        </p:nvSpPr>
        <p:spPr bwMode="auto">
          <a:xfrm>
            <a:off x="539750" y="1484313"/>
            <a:ext cx="3167063" cy="646112"/>
          </a:xfrm>
          <a:prstGeom prst="rect">
            <a:avLst/>
          </a:prstGeom>
          <a:noFill/>
          <a:ln w="9525">
            <a:noFill/>
            <a:miter lim="800000"/>
            <a:headEnd/>
            <a:tailEnd/>
          </a:ln>
        </p:spPr>
        <p:txBody>
          <a:bodyPr>
            <a:spAutoFit/>
          </a:bodyPr>
          <a:lstStyle/>
          <a:p>
            <a:pPr marL="342900" indent="-342900">
              <a:lnSpc>
                <a:spcPct val="100000"/>
              </a:lnSpc>
              <a:spcBef>
                <a:spcPct val="50000"/>
              </a:spcBef>
              <a:buFontTx/>
              <a:buNone/>
            </a:pPr>
            <a:r>
              <a:rPr lang="zh-CN" altLang="en-US" sz="3600">
                <a:solidFill>
                  <a:srgbClr val="0000FF"/>
                </a:solidFill>
                <a:latin typeface="Times New Roman" pitchFamily="18" charset="0"/>
                <a:ea typeface="黑体" pitchFamily="49" charset="-122"/>
                <a:cs typeface="Times New Roman" pitchFamily="18" charset="0"/>
              </a:rPr>
              <a:t>磷的存在形态：</a:t>
            </a:r>
          </a:p>
        </p:txBody>
      </p:sp>
      <p:sp>
        <p:nvSpPr>
          <p:cNvPr id="2" name="矩形 1">
            <a:extLst>
              <a:ext uri="{FF2B5EF4-FFF2-40B4-BE49-F238E27FC236}">
                <a16:creationId xmlns:a16="http://schemas.microsoft.com/office/drawing/2014/main" id="{40AE0E00-FBEB-4F3E-9CC2-6F3417F14C41}"/>
              </a:ext>
            </a:extLst>
          </p:cNvPr>
          <p:cNvSpPr/>
          <p:nvPr/>
        </p:nvSpPr>
        <p:spPr>
          <a:xfrm>
            <a:off x="611560" y="4425035"/>
            <a:ext cx="7632848" cy="1354217"/>
          </a:xfrm>
          <a:prstGeom prst="rect">
            <a:avLst/>
          </a:prstGeom>
        </p:spPr>
        <p:txBody>
          <a:bodyPr wrap="square">
            <a:spAutoFit/>
          </a:bodyPr>
          <a:lstStyle/>
          <a:p>
            <a:pPr marL="342900" indent="-342900">
              <a:spcBef>
                <a:spcPts val="1200"/>
              </a:spcBef>
              <a:buFont typeface="Arial" panose="020B0604020202020204" pitchFamily="34" charset="0"/>
              <a:buChar char="•"/>
            </a:pPr>
            <a:r>
              <a:rPr lang="zh-CN" altLang="en-US" sz="2400" dirty="0"/>
              <a:t>海水中的溶解无机磷主要以</a:t>
            </a:r>
            <a:r>
              <a:rPr lang="en-US" altLang="zh-CN" sz="2400" dirty="0"/>
              <a:t>HPO</a:t>
            </a:r>
            <a:r>
              <a:rPr lang="en-US" altLang="zh-CN" sz="2400" baseline="-25000" dirty="0"/>
              <a:t>4</a:t>
            </a:r>
            <a:r>
              <a:rPr lang="en-US" altLang="zh-CN" sz="2400" baseline="30000" dirty="0"/>
              <a:t>2-</a:t>
            </a:r>
            <a:r>
              <a:rPr lang="zh-CN" altLang="en-US" sz="2400" dirty="0"/>
              <a:t>和</a:t>
            </a:r>
            <a:r>
              <a:rPr lang="en-US" altLang="zh-CN" sz="2400" dirty="0"/>
              <a:t>PO</a:t>
            </a:r>
            <a:r>
              <a:rPr lang="en-US" altLang="zh-CN" sz="2400" baseline="-25000" dirty="0"/>
              <a:t>4</a:t>
            </a:r>
            <a:r>
              <a:rPr lang="en-US" altLang="zh-CN" sz="2400" baseline="30000" dirty="0"/>
              <a:t>3-</a:t>
            </a:r>
            <a:r>
              <a:rPr lang="zh-CN" altLang="en-US" sz="2400" dirty="0"/>
              <a:t>形式存在，通常又称“活性磷”（可测）</a:t>
            </a:r>
            <a:endParaRPr lang="en-US" altLang="zh-CN" sz="2400" dirty="0"/>
          </a:p>
          <a:p>
            <a:pPr marL="342900" indent="-342900">
              <a:spcBef>
                <a:spcPts val="1200"/>
              </a:spcBef>
              <a:buFont typeface="Arial" panose="020B0604020202020204" pitchFamily="34" charset="0"/>
              <a:buChar char="•"/>
            </a:pPr>
            <a:r>
              <a:rPr lang="zh-CN" altLang="en-US" sz="2400" dirty="0"/>
              <a:t>另一部分在海化测量标准里可测的是总磷（</a:t>
            </a:r>
            <a:r>
              <a:rPr lang="en-US" altLang="zh-CN" sz="2400" dirty="0"/>
              <a:t>TP</a:t>
            </a:r>
            <a:r>
              <a:rPr lang="zh-CN" altLang="en-US" sz="2400" dirty="0"/>
              <a:t>）</a:t>
            </a:r>
            <a:r>
              <a:rPr lang="en-US" altLang="zh-CN" sz="24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62468"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2469"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2470" name="Text Box 8"/>
          <p:cNvSpPr txBox="1">
            <a:spLocks noChangeArrowheads="1"/>
          </p:cNvSpPr>
          <p:nvPr/>
        </p:nvSpPr>
        <p:spPr bwMode="auto">
          <a:xfrm>
            <a:off x="1403648" y="476672"/>
            <a:ext cx="3600450" cy="646112"/>
          </a:xfrm>
          <a:prstGeom prst="rect">
            <a:avLst/>
          </a:prstGeom>
          <a:noFill/>
          <a:ln w="9525">
            <a:noFill/>
            <a:miter lim="800000"/>
            <a:headEnd/>
            <a:tailEnd/>
          </a:ln>
        </p:spPr>
        <p:txBody>
          <a:bodyPr>
            <a:spAutoFit/>
          </a:bodyPr>
          <a:lstStyle/>
          <a:p>
            <a:pPr marL="342900" indent="-342900">
              <a:lnSpc>
                <a:spcPct val="100000"/>
              </a:lnSpc>
              <a:spcBef>
                <a:spcPct val="50000"/>
              </a:spcBef>
              <a:buFontTx/>
              <a:buNone/>
            </a:pPr>
            <a:r>
              <a:rPr lang="zh-CN" altLang="en-US" sz="3600" dirty="0">
                <a:solidFill>
                  <a:srgbClr val="0000FF"/>
                </a:solidFill>
                <a:latin typeface="微软雅黑" pitchFamily="34" charset="-122"/>
                <a:ea typeface="微软雅黑" pitchFamily="34" charset="-122"/>
                <a:cs typeface="Times New Roman" pitchFamily="18" charset="0"/>
              </a:rPr>
              <a:t>无机磷存在形态</a:t>
            </a:r>
          </a:p>
        </p:txBody>
      </p:sp>
      <p:graphicFrame>
        <p:nvGraphicFramePr>
          <p:cNvPr id="10" name="表格 9"/>
          <p:cNvGraphicFramePr>
            <a:graphicFrameLocks noGrp="1"/>
          </p:cNvGraphicFramePr>
          <p:nvPr/>
        </p:nvGraphicFramePr>
        <p:xfrm>
          <a:off x="323528" y="1412776"/>
          <a:ext cx="8496944" cy="3893725"/>
        </p:xfrm>
        <a:graphic>
          <a:graphicData uri="http://schemas.openxmlformats.org/drawingml/2006/table">
            <a:tbl>
              <a:tblPr firstRow="1" bandRow="1">
                <a:tableStyleId>{5C22544A-7EE6-4342-B048-85BDC9FD1C3A}</a:tableStyleId>
              </a:tblPr>
              <a:tblGrid>
                <a:gridCol w="4032448">
                  <a:extLst>
                    <a:ext uri="{9D8B030D-6E8A-4147-A177-3AD203B41FA5}">
                      <a16:colId xmlns:a16="http://schemas.microsoft.com/office/drawing/2014/main" val="20000"/>
                    </a:ext>
                  </a:extLst>
                </a:gridCol>
                <a:gridCol w="2088232">
                  <a:extLst>
                    <a:ext uri="{9D8B030D-6E8A-4147-A177-3AD203B41FA5}">
                      <a16:colId xmlns:a16="http://schemas.microsoft.com/office/drawing/2014/main" val="20001"/>
                    </a:ext>
                  </a:extLst>
                </a:gridCol>
                <a:gridCol w="2376264">
                  <a:extLst>
                    <a:ext uri="{9D8B030D-6E8A-4147-A177-3AD203B41FA5}">
                      <a16:colId xmlns:a16="http://schemas.microsoft.com/office/drawing/2014/main" val="20002"/>
                    </a:ext>
                  </a:extLst>
                </a:gridCol>
              </a:tblGrid>
              <a:tr h="576064">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形态</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CFFFF"/>
                    </a:solidFill>
                  </a:tcPr>
                </a:tc>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相态</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CFFFF"/>
                    </a:solidFill>
                  </a:tcPr>
                </a:tc>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测量方法</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CCFFFF"/>
                    </a:solidFill>
                  </a:tcPr>
                </a:tc>
                <a:extLst>
                  <a:ext uri="{0D108BD9-81ED-4DB2-BD59-A6C34878D82A}">
                    <a16:rowId xmlns:a16="http://schemas.microsoft.com/office/drawing/2014/main" val="10000"/>
                  </a:ext>
                </a:extLst>
              </a:tr>
              <a:tr h="1083731">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正磷酸盐（</a:t>
                      </a:r>
                      <a:r>
                        <a:rPr lang="en-US" altLang="zh-CN" sz="2400" b="1" dirty="0">
                          <a:solidFill>
                            <a:schemeClr val="tx1"/>
                          </a:solidFill>
                          <a:latin typeface="Times New Roman" pitchFamily="18" charset="0"/>
                          <a:ea typeface="黑体" pitchFamily="49" charset="-122"/>
                          <a:cs typeface="Times New Roman" pitchFamily="18" charset="0"/>
                        </a:rPr>
                        <a:t>H</a:t>
                      </a:r>
                      <a:r>
                        <a:rPr lang="en-US" altLang="zh-CN" sz="2400" b="1" baseline="-25000" dirty="0">
                          <a:solidFill>
                            <a:schemeClr val="tx1"/>
                          </a:solidFill>
                          <a:latin typeface="Times New Roman" pitchFamily="18" charset="0"/>
                          <a:ea typeface="黑体" pitchFamily="49" charset="-122"/>
                          <a:cs typeface="Times New Roman" pitchFamily="18" charset="0"/>
                        </a:rPr>
                        <a:t>2</a:t>
                      </a:r>
                      <a:r>
                        <a:rPr lang="en-US" altLang="zh-CN" sz="2400" b="1" dirty="0">
                          <a:solidFill>
                            <a:schemeClr val="tx1"/>
                          </a:solidFill>
                          <a:latin typeface="Times New Roman" pitchFamily="18" charset="0"/>
                          <a:ea typeface="黑体" pitchFamily="49" charset="-122"/>
                          <a:cs typeface="Times New Roman" pitchFamily="18" charset="0"/>
                        </a:rPr>
                        <a:t>PO</a:t>
                      </a:r>
                      <a:r>
                        <a:rPr lang="en-US" altLang="zh-CN" sz="2400" b="1" baseline="-25000" dirty="0">
                          <a:solidFill>
                            <a:schemeClr val="tx1"/>
                          </a:solidFill>
                          <a:latin typeface="Times New Roman" pitchFamily="18" charset="0"/>
                          <a:ea typeface="黑体" pitchFamily="49" charset="-122"/>
                          <a:cs typeface="Times New Roman" pitchFamily="18" charset="0"/>
                        </a:rPr>
                        <a:t>4</a:t>
                      </a:r>
                      <a:r>
                        <a:rPr lang="en-US" altLang="zh-CN" sz="2400" b="1" baseline="30000" dirty="0">
                          <a:solidFill>
                            <a:schemeClr val="tx1"/>
                          </a:solidFill>
                          <a:latin typeface="Times New Roman" pitchFamily="18" charset="0"/>
                          <a:ea typeface="黑体" pitchFamily="49" charset="-122"/>
                          <a:cs typeface="Times New Roman" pitchFamily="18" charset="0"/>
                        </a:rPr>
                        <a:t>-</a:t>
                      </a:r>
                      <a:r>
                        <a:rPr lang="zh-CN" altLang="en-US" sz="2400" b="1" dirty="0">
                          <a:solidFill>
                            <a:schemeClr val="tx1"/>
                          </a:solidFill>
                          <a:latin typeface="Times New Roman" pitchFamily="18" charset="0"/>
                          <a:ea typeface="黑体" pitchFamily="49" charset="-122"/>
                          <a:cs typeface="Times New Roman" pitchFamily="18" charset="0"/>
                        </a:rPr>
                        <a:t>、</a:t>
                      </a:r>
                      <a:r>
                        <a:rPr lang="en-US" altLang="zh-CN" sz="2400" b="1" dirty="0">
                          <a:solidFill>
                            <a:schemeClr val="tx1"/>
                          </a:solidFill>
                          <a:latin typeface="Times New Roman" pitchFamily="18" charset="0"/>
                          <a:ea typeface="黑体" pitchFamily="49" charset="-122"/>
                          <a:cs typeface="Times New Roman" pitchFamily="18" charset="0"/>
                        </a:rPr>
                        <a:t>HPO</a:t>
                      </a:r>
                      <a:r>
                        <a:rPr lang="en-US" altLang="zh-CN" sz="2400" b="1" baseline="-25000" dirty="0">
                          <a:solidFill>
                            <a:schemeClr val="tx1"/>
                          </a:solidFill>
                          <a:latin typeface="Times New Roman" pitchFamily="18" charset="0"/>
                          <a:ea typeface="黑体" pitchFamily="49" charset="-122"/>
                          <a:cs typeface="Times New Roman" pitchFamily="18" charset="0"/>
                        </a:rPr>
                        <a:t>4</a:t>
                      </a:r>
                      <a:r>
                        <a:rPr lang="en-US" altLang="zh-CN" sz="2400" b="1" baseline="30000" dirty="0">
                          <a:solidFill>
                            <a:schemeClr val="tx1"/>
                          </a:solidFill>
                          <a:latin typeface="Times New Roman" pitchFamily="18" charset="0"/>
                          <a:ea typeface="黑体" pitchFamily="49" charset="-122"/>
                          <a:cs typeface="Times New Roman" pitchFamily="18" charset="0"/>
                        </a:rPr>
                        <a:t>2-</a:t>
                      </a:r>
                      <a:r>
                        <a:rPr lang="zh-CN" altLang="en-US" sz="2400" b="1" dirty="0">
                          <a:solidFill>
                            <a:schemeClr val="tx1"/>
                          </a:solidFill>
                          <a:latin typeface="Times New Roman" pitchFamily="18" charset="0"/>
                          <a:ea typeface="黑体" pitchFamily="49" charset="-122"/>
                          <a:cs typeface="Times New Roman" pitchFamily="18" charset="0"/>
                        </a:rPr>
                        <a:t>、</a:t>
                      </a:r>
                      <a:r>
                        <a:rPr lang="en-US" altLang="zh-CN" sz="2400" b="1" dirty="0">
                          <a:solidFill>
                            <a:schemeClr val="tx1"/>
                          </a:solidFill>
                          <a:latin typeface="Times New Roman" pitchFamily="18" charset="0"/>
                          <a:ea typeface="黑体" pitchFamily="49" charset="-122"/>
                          <a:cs typeface="Times New Roman" pitchFamily="18" charset="0"/>
                        </a:rPr>
                        <a:t>PO</a:t>
                      </a:r>
                      <a:r>
                        <a:rPr lang="en-US" altLang="zh-CN" sz="2400" b="1" baseline="-25000" dirty="0">
                          <a:solidFill>
                            <a:schemeClr val="tx1"/>
                          </a:solidFill>
                          <a:latin typeface="Times New Roman" pitchFamily="18" charset="0"/>
                          <a:ea typeface="黑体" pitchFamily="49" charset="-122"/>
                          <a:cs typeface="Times New Roman" pitchFamily="18" charset="0"/>
                        </a:rPr>
                        <a:t>4</a:t>
                      </a:r>
                      <a:r>
                        <a:rPr lang="en-US" altLang="zh-CN" sz="2400" b="1" baseline="30000" dirty="0">
                          <a:solidFill>
                            <a:schemeClr val="tx1"/>
                          </a:solidFill>
                          <a:latin typeface="Times New Roman" pitchFamily="18" charset="0"/>
                          <a:ea typeface="黑体" pitchFamily="49" charset="-122"/>
                          <a:cs typeface="Times New Roman" pitchFamily="18" charset="0"/>
                        </a:rPr>
                        <a:t>3-</a:t>
                      </a:r>
                      <a:r>
                        <a:rPr lang="zh-CN" altLang="en-US" sz="2400" b="1" dirty="0">
                          <a:solidFill>
                            <a:schemeClr val="tx1"/>
                          </a:solidFill>
                          <a:latin typeface="Times New Roman" pitchFamily="18" charset="0"/>
                          <a:ea typeface="黑体" pitchFamily="49" charset="-122"/>
                          <a:cs typeface="Times New Roman" pitchFamily="18" charset="0"/>
                        </a:rPr>
                        <a:t>）</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真溶解态、细胞内</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磷钼蓝法</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extLst>
                  <a:ext uri="{0D108BD9-81ED-4DB2-BD59-A6C34878D82A}">
                    <a16:rowId xmlns:a16="http://schemas.microsoft.com/office/drawing/2014/main" val="10001"/>
                  </a:ext>
                </a:extLst>
              </a:tr>
              <a:tr h="1083731">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焦磷酸盐（</a:t>
                      </a:r>
                      <a:r>
                        <a:rPr lang="en-US" altLang="zh-CN" sz="2400" b="1" dirty="0">
                          <a:solidFill>
                            <a:schemeClr val="tx1"/>
                          </a:solidFill>
                          <a:latin typeface="Times New Roman" pitchFamily="18" charset="0"/>
                          <a:ea typeface="黑体" pitchFamily="49" charset="-122"/>
                          <a:cs typeface="Times New Roman" pitchFamily="18" charset="0"/>
                        </a:rPr>
                        <a:t>P</a:t>
                      </a:r>
                      <a:r>
                        <a:rPr lang="en-US" altLang="zh-CN" sz="2400" b="1" baseline="-25000" dirty="0">
                          <a:solidFill>
                            <a:schemeClr val="tx1"/>
                          </a:solidFill>
                          <a:latin typeface="Times New Roman" pitchFamily="18" charset="0"/>
                          <a:ea typeface="黑体" pitchFamily="49" charset="-122"/>
                          <a:cs typeface="Times New Roman" pitchFamily="18" charset="0"/>
                        </a:rPr>
                        <a:t>2</a:t>
                      </a:r>
                      <a:r>
                        <a:rPr lang="en-US" altLang="zh-CN" sz="2400" b="1" dirty="0">
                          <a:solidFill>
                            <a:schemeClr val="tx1"/>
                          </a:solidFill>
                          <a:latin typeface="Times New Roman" pitchFamily="18" charset="0"/>
                          <a:ea typeface="黑体" pitchFamily="49" charset="-122"/>
                          <a:cs typeface="Times New Roman" pitchFamily="18" charset="0"/>
                        </a:rPr>
                        <a:t>O</a:t>
                      </a:r>
                      <a:r>
                        <a:rPr lang="en-US" altLang="zh-CN" sz="2400" b="1" baseline="-25000" dirty="0">
                          <a:solidFill>
                            <a:schemeClr val="tx1"/>
                          </a:solidFill>
                          <a:latin typeface="Times New Roman" pitchFamily="18" charset="0"/>
                          <a:ea typeface="黑体" pitchFamily="49" charset="-122"/>
                          <a:cs typeface="Times New Roman" pitchFamily="18" charset="0"/>
                        </a:rPr>
                        <a:t>7</a:t>
                      </a:r>
                      <a:r>
                        <a:rPr lang="en-US" altLang="zh-CN" sz="2400" b="1" baseline="30000" dirty="0">
                          <a:solidFill>
                            <a:schemeClr val="tx1"/>
                          </a:solidFill>
                          <a:latin typeface="Times New Roman" pitchFamily="18" charset="0"/>
                          <a:ea typeface="黑体" pitchFamily="49" charset="-122"/>
                          <a:cs typeface="Times New Roman" pitchFamily="18" charset="0"/>
                        </a:rPr>
                        <a:t>4-</a:t>
                      </a:r>
                      <a:r>
                        <a:rPr lang="zh-CN" altLang="en-US" sz="2400" b="1" dirty="0">
                          <a:solidFill>
                            <a:schemeClr val="tx1"/>
                          </a:solidFill>
                          <a:latin typeface="Times New Roman" pitchFamily="18" charset="0"/>
                          <a:ea typeface="黑体" pitchFamily="49" charset="-122"/>
                          <a:cs typeface="Times New Roman" pitchFamily="18" charset="0"/>
                        </a:rPr>
                        <a:t>）</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真溶解态、细胞内</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tc>
                  <a:txBody>
                    <a:bodyPr/>
                    <a:lstStyle/>
                    <a:p>
                      <a:pPr marL="0" marR="0" indent="0" algn="ctr" defTabSz="914400" rtl="0" eaLnBrk="1" fontAlgn="auto" latinLnBrk="0" hangingPunct="1">
                        <a:lnSpc>
                          <a:spcPct val="120000"/>
                        </a:lnSpc>
                        <a:spcBef>
                          <a:spcPts val="0"/>
                        </a:spcBef>
                        <a:spcAft>
                          <a:spcPts val="0"/>
                        </a:spcAft>
                        <a:buClrTx/>
                        <a:buSzTx/>
                        <a:buFontTx/>
                        <a:buNone/>
                        <a:tabLst/>
                        <a:defRPr/>
                      </a:pPr>
                      <a:r>
                        <a:rPr lang="zh-CN" altLang="en-US" sz="2400" b="1" dirty="0">
                          <a:solidFill>
                            <a:schemeClr val="tx1"/>
                          </a:solidFill>
                          <a:latin typeface="Times New Roman" pitchFamily="18" charset="0"/>
                          <a:ea typeface="黑体" pitchFamily="49" charset="-122"/>
                          <a:cs typeface="Times New Roman" pitchFamily="18" charset="0"/>
                        </a:rPr>
                        <a:t>水解为活性磷酸盐后，磷钼蓝法</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extLst>
                  <a:ext uri="{0D108BD9-81ED-4DB2-BD59-A6C34878D82A}">
                    <a16:rowId xmlns:a16="http://schemas.microsoft.com/office/drawing/2014/main" val="10002"/>
                  </a:ext>
                </a:extLst>
              </a:tr>
              <a:tr h="1150199">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缩聚的环状（偏磷酸盐）和线状（多聚磷酸盐）聚合物</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tc>
                  <a:txBody>
                    <a:bodyPr/>
                    <a:lstStyle/>
                    <a:p>
                      <a:pPr algn="ctr">
                        <a:lnSpc>
                          <a:spcPct val="120000"/>
                        </a:lnSpc>
                      </a:pPr>
                      <a:r>
                        <a:rPr lang="zh-CN" altLang="en-US" sz="2400" b="1" dirty="0">
                          <a:solidFill>
                            <a:schemeClr val="tx1"/>
                          </a:solidFill>
                          <a:latin typeface="Times New Roman" pitchFamily="18" charset="0"/>
                          <a:ea typeface="黑体" pitchFamily="49" charset="-122"/>
                          <a:cs typeface="Times New Roman" pitchFamily="18" charset="0"/>
                        </a:rPr>
                        <a:t>溶解态、胶体态、颗粒态</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tc>
                  <a:txBody>
                    <a:bodyPr/>
                    <a:lstStyle/>
                    <a:p>
                      <a:pPr marL="0" marR="0" indent="0" algn="ctr" defTabSz="914400" rtl="0" eaLnBrk="1" fontAlgn="auto" latinLnBrk="0" hangingPunct="1">
                        <a:lnSpc>
                          <a:spcPct val="120000"/>
                        </a:lnSpc>
                        <a:spcBef>
                          <a:spcPts val="0"/>
                        </a:spcBef>
                        <a:spcAft>
                          <a:spcPts val="0"/>
                        </a:spcAft>
                        <a:buClrTx/>
                        <a:buSzTx/>
                        <a:buFontTx/>
                        <a:buNone/>
                        <a:tabLst/>
                        <a:defRPr/>
                      </a:pPr>
                      <a:r>
                        <a:rPr lang="zh-CN" altLang="en-US" sz="2400" b="1" dirty="0">
                          <a:solidFill>
                            <a:schemeClr val="tx1"/>
                          </a:solidFill>
                          <a:latin typeface="Times New Roman" pitchFamily="18" charset="0"/>
                          <a:ea typeface="黑体" pitchFamily="49" charset="-122"/>
                          <a:cs typeface="Times New Roman" pitchFamily="18" charset="0"/>
                        </a:rPr>
                        <a:t>水解为活性磷酸盐后，磷钼蓝法</a:t>
                      </a:r>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EF2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ChangeArrowheads="1"/>
          </p:cNvSpPr>
          <p:nvPr/>
        </p:nvSpPr>
        <p:spPr bwMode="auto">
          <a:xfrm>
            <a:off x="5724128" y="1408090"/>
            <a:ext cx="2803525" cy="355600"/>
          </a:xfrm>
          <a:prstGeom prst="rect">
            <a:avLst/>
          </a:prstGeom>
          <a:noFill/>
          <a:ln w="31750" algn="ctr">
            <a:noFill/>
            <a:miter lim="800000"/>
            <a:headEnd/>
            <a:tailEnd/>
          </a:ln>
        </p:spPr>
        <p:txBody>
          <a:bodyPr wrap="none" lIns="18000" tIns="36000" rIns="18000" bIns="10800" anchor="ctr">
            <a:spAutoFit/>
          </a:bodyPr>
          <a:lstStyle/>
          <a:p>
            <a:pPr algn="ctr">
              <a:lnSpc>
                <a:spcPct val="100000"/>
              </a:lnSpc>
              <a:spcBef>
                <a:spcPct val="0"/>
              </a:spcBef>
              <a:buFontTx/>
              <a:buNone/>
            </a:pPr>
            <a:r>
              <a:rPr lang="en-US" altLang="zh-CN" sz="1000" dirty="0">
                <a:latin typeface="Arial" pitchFamily="34" charset="0"/>
                <a:ea typeface="宋体" pitchFamily="2" charset="-122"/>
                <a:cs typeface="Times New Roman" pitchFamily="18" charset="0"/>
              </a:rPr>
              <a:t> </a:t>
            </a:r>
            <a:r>
              <a:rPr lang="en-US" altLang="zh-CN" sz="2000" dirty="0">
                <a:latin typeface="Times New Roman" pitchFamily="18" charset="0"/>
                <a:ea typeface="宋体" pitchFamily="2" charset="-122"/>
                <a:cs typeface="Times New Roman" pitchFamily="18" charset="0"/>
              </a:rPr>
              <a:t>T=25</a:t>
            </a:r>
            <a:r>
              <a:rPr lang="en-US" altLang="zh-CN" sz="2000" dirty="0">
                <a:latin typeface="Times New Roman" pitchFamily="18" charset="0"/>
                <a:ea typeface="宋体" pitchFamily="2" charset="-122"/>
                <a:cs typeface="Times New Roman" pitchFamily="18" charset="0"/>
                <a:sym typeface="Symbol" pitchFamily="18" charset="2"/>
              </a:rPr>
              <a:t></a:t>
            </a:r>
            <a:r>
              <a:rPr lang="en-US" altLang="zh-CN" sz="2000" dirty="0">
                <a:latin typeface="Times New Roman" pitchFamily="18" charset="0"/>
                <a:ea typeface="宋体" pitchFamily="2" charset="-122"/>
                <a:cs typeface="Times New Roman" pitchFamily="18" charset="0"/>
              </a:rPr>
              <a:t>C</a:t>
            </a:r>
            <a:r>
              <a:rPr lang="zh-CN" altLang="en-US" sz="2000" dirty="0">
                <a:latin typeface="Times New Roman" pitchFamily="18" charset="0"/>
                <a:ea typeface="宋体" pitchFamily="2" charset="-122"/>
                <a:cs typeface="Times New Roman" pitchFamily="18" charset="0"/>
                <a:sym typeface="Symbol" pitchFamily="18" charset="2"/>
              </a:rPr>
              <a:t>、</a:t>
            </a:r>
            <a:r>
              <a:rPr lang="en-US" altLang="zh-CN" sz="2000" dirty="0">
                <a:latin typeface="Times New Roman" pitchFamily="18" charset="0"/>
                <a:ea typeface="宋体" pitchFamily="2" charset="-122"/>
                <a:cs typeface="Times New Roman" pitchFamily="18" charset="0"/>
                <a:sym typeface="Symbol" pitchFamily="18" charset="2"/>
              </a:rPr>
              <a:t>pH=8.1</a:t>
            </a:r>
            <a:r>
              <a:rPr lang="zh-CN" altLang="en-US" sz="2000" dirty="0">
                <a:latin typeface="Times New Roman" pitchFamily="18" charset="0"/>
                <a:ea typeface="宋体" pitchFamily="2" charset="-122"/>
                <a:cs typeface="Times New Roman" pitchFamily="18" charset="0"/>
                <a:sym typeface="Symbol" pitchFamily="18" charset="2"/>
              </a:rPr>
              <a:t>、</a:t>
            </a:r>
            <a:r>
              <a:rPr lang="en-US" altLang="zh-CN" sz="2000" dirty="0">
                <a:latin typeface="Times New Roman" pitchFamily="18" charset="0"/>
                <a:ea typeface="宋体" pitchFamily="2" charset="-122"/>
                <a:cs typeface="Times New Roman" pitchFamily="18" charset="0"/>
                <a:sym typeface="Symbol" pitchFamily="18" charset="2"/>
              </a:rPr>
              <a:t>S=35</a:t>
            </a:r>
            <a:endParaRPr lang="zh-CN" altLang="en-US" sz="2000" dirty="0">
              <a:latin typeface="Times New Roman" pitchFamily="18" charset="0"/>
              <a:ea typeface="宋体" pitchFamily="2" charset="-122"/>
              <a:cs typeface="Times New Roman" pitchFamily="18" charset="0"/>
              <a:sym typeface="Symbol" pitchFamily="18" charset="2"/>
            </a:endParaRPr>
          </a:p>
        </p:txBody>
      </p:sp>
      <p:graphicFrame>
        <p:nvGraphicFramePr>
          <p:cNvPr id="242785" name="Group 97"/>
          <p:cNvGraphicFramePr>
            <a:graphicFrameLocks noGrp="1"/>
          </p:cNvGraphicFramePr>
          <p:nvPr/>
        </p:nvGraphicFramePr>
        <p:xfrm>
          <a:off x="4572000" y="1916113"/>
          <a:ext cx="4392488" cy="3196338"/>
        </p:xfrm>
        <a:graphic>
          <a:graphicData uri="http://schemas.openxmlformats.org/drawingml/2006/table">
            <a:tbl>
              <a:tblPr/>
              <a:tblGrid>
                <a:gridCol w="2509993">
                  <a:extLst>
                    <a:ext uri="{9D8B030D-6E8A-4147-A177-3AD203B41FA5}">
                      <a16:colId xmlns:a16="http://schemas.microsoft.com/office/drawing/2014/main" val="20000"/>
                    </a:ext>
                  </a:extLst>
                </a:gridCol>
                <a:gridCol w="1882495">
                  <a:extLst>
                    <a:ext uri="{9D8B030D-6E8A-4147-A177-3AD203B41FA5}">
                      <a16:colId xmlns:a16="http://schemas.microsoft.com/office/drawing/2014/main" val="20001"/>
                    </a:ext>
                  </a:extLst>
                </a:gridCol>
              </a:tblGrid>
              <a:tr h="755650">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无机磷形态</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份额（</a:t>
                      </a: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zh-CN" altLang="en-US"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423863">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H</a:t>
                      </a:r>
                      <a:r>
                        <a:rPr kumimoji="0" lang="en-US" altLang="zh-CN" sz="28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3</a:t>
                      </a: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PO</a:t>
                      </a:r>
                      <a:r>
                        <a:rPr kumimoji="0" lang="en-US" altLang="zh-CN" sz="28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4</a:t>
                      </a:r>
                      <a:endPar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1"/>
                  </a:ext>
                </a:extLst>
              </a:tr>
              <a:tr h="422275">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H</a:t>
                      </a:r>
                      <a:r>
                        <a:rPr kumimoji="0" lang="en-US" altLang="zh-CN" sz="28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r>
                        <a:rPr kumimoji="0" lang="en-US" altLang="zh-CN" sz="2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PO</a:t>
                      </a:r>
                      <a:r>
                        <a:rPr kumimoji="0" lang="en-US" altLang="zh-CN" sz="28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4</a:t>
                      </a:r>
                      <a:r>
                        <a:rPr kumimoji="0" lang="en-US" altLang="zh-CN" sz="28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a:t>
                      </a:r>
                      <a:endParaRPr kumimoji="0" lang="en-US" altLang="zh-CN" sz="2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0.5</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423863">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HPO</a:t>
                      </a:r>
                      <a:r>
                        <a:rPr kumimoji="0" lang="en-US" altLang="zh-CN" sz="28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4</a:t>
                      </a:r>
                      <a:r>
                        <a:rPr kumimoji="0" lang="en-US" altLang="zh-CN" sz="28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en-US" altLang="zh-CN" sz="2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79.2</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3"/>
                  </a:ext>
                </a:extLst>
              </a:tr>
              <a:tr h="422275">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PO</a:t>
                      </a:r>
                      <a:r>
                        <a:rPr kumimoji="0" lang="en-US" altLang="zh-CN" sz="28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4</a:t>
                      </a:r>
                      <a:r>
                        <a:rPr kumimoji="0" lang="en-US" altLang="zh-CN" sz="28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3-</a:t>
                      </a:r>
                      <a:endPar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ctr" defTabSz="914400" rtl="0" eaLnBrk="1" fontAlgn="base" latinLnBrk="0" hangingPunct="1">
                        <a:lnSpc>
                          <a:spcPct val="15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20.4</a:t>
                      </a:r>
                    </a:p>
                  </a:txBody>
                  <a:tcPr marL="18000" marR="18000" marT="36000" marB="108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9240" name="Rectangle 67"/>
          <p:cNvSpPr>
            <a:spLocks noChangeArrowheads="1"/>
          </p:cNvSpPr>
          <p:nvPr/>
        </p:nvSpPr>
        <p:spPr bwMode="auto">
          <a:xfrm>
            <a:off x="1285875" y="4081463"/>
            <a:ext cx="180975" cy="230187"/>
          </a:xfrm>
          <a:prstGeom prst="rect">
            <a:avLst/>
          </a:prstGeom>
          <a:noFill/>
          <a:ln w="31750" algn="ctr">
            <a:noFill/>
            <a:miter lim="800000"/>
            <a:headEnd/>
            <a:tailEnd/>
          </a:ln>
        </p:spPr>
        <p:txBody>
          <a:bodyPr wrap="none" lIns="18000" tIns="36000" rIns="18000" bIns="10800" anchor="ctr">
            <a:spAutoFit/>
          </a:bodyPr>
          <a:lstStyle/>
          <a:p>
            <a:pPr>
              <a:lnSpc>
                <a:spcPct val="100000"/>
              </a:lnSpc>
              <a:spcBef>
                <a:spcPct val="0"/>
              </a:spcBef>
              <a:buFontTx/>
              <a:buNone/>
            </a:pPr>
            <a:r>
              <a:rPr lang="en-US" altLang="zh-CN" sz="1200" b="0">
                <a:ea typeface="宋体" pitchFamily="2" charset="-122"/>
                <a:cs typeface="Times New Roman" pitchFamily="18" charset="0"/>
              </a:rPr>
              <a:t>    </a:t>
            </a:r>
            <a:endParaRPr lang="en-US" altLang="zh-CN" sz="1800" b="0">
              <a:latin typeface="Arial" pitchFamily="34" charset="0"/>
              <a:ea typeface="宋体" pitchFamily="2" charset="-122"/>
              <a:cs typeface="Times New Roman" pitchFamily="18" charset="0"/>
            </a:endParaRPr>
          </a:p>
        </p:txBody>
      </p:sp>
      <p:graphicFrame>
        <p:nvGraphicFramePr>
          <p:cNvPr id="9218" name="Object 98"/>
          <p:cNvGraphicFramePr>
            <a:graphicFrameLocks noGrp="1" noChangeAspect="1"/>
          </p:cNvGraphicFramePr>
          <p:nvPr>
            <p:ph sz="half" idx="2"/>
          </p:nvPr>
        </p:nvGraphicFramePr>
        <p:xfrm>
          <a:off x="250825" y="2133600"/>
          <a:ext cx="4249738" cy="3146425"/>
        </p:xfrm>
        <a:graphic>
          <a:graphicData uri="http://schemas.openxmlformats.org/presentationml/2006/ole">
            <mc:AlternateContent xmlns:mc="http://schemas.openxmlformats.org/markup-compatibility/2006">
              <mc:Choice xmlns:v="urn:schemas-microsoft-com:vml" Requires="v">
                <p:oleObj spid="_x0000_s126296" name="SPW 10.0 Graph" r:id="rId3" imgW="9643262" imgH="7144207" progId="SigmaPlotGraphicObject.9">
                  <p:embed/>
                </p:oleObj>
              </mc:Choice>
              <mc:Fallback>
                <p:oleObj name="SPW 10.0 Graph" r:id="rId3" imgW="9643262" imgH="7144207" progId="SigmaPlotGraphicObject.9">
                  <p:embed/>
                  <p:pic>
                    <p:nvPicPr>
                      <p:cNvPr id="0" name="Picture 46"/>
                      <p:cNvPicPr>
                        <a:picLocks noGrp="1" noChangeAspect="1" noChangeArrowheads="1"/>
                      </p:cNvPicPr>
                      <p:nvPr/>
                    </p:nvPicPr>
                    <p:blipFill>
                      <a:blip r:embed="rId4">
                        <a:extLst>
                          <a:ext uri="{28A0092B-C50C-407E-A947-70E740481C1C}">
                            <a14:useLocalDpi xmlns:a14="http://schemas.microsoft.com/office/drawing/2010/main" val="0"/>
                          </a:ext>
                        </a:extLst>
                      </a:blip>
                      <a:srcRect l="3563" t="12096" r="3790" b="4991"/>
                      <a:stretch>
                        <a:fillRect/>
                      </a:stretch>
                    </p:blipFill>
                    <p:spPr bwMode="auto">
                      <a:xfrm>
                        <a:off x="250825" y="2133600"/>
                        <a:ext cx="4249738" cy="314642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rgbClr val="FF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330099"/>
                              </a:outerShdw>
                            </a:effectLst>
                          </a14:hiddenEffects>
                        </a:ext>
                      </a:extLst>
                    </p:spPr>
                  </p:pic>
                </p:oleObj>
              </mc:Fallback>
            </mc:AlternateContent>
          </a:graphicData>
        </a:graphic>
      </p:graphicFrame>
      <p:sp>
        <p:nvSpPr>
          <p:cNvPr id="9241" name="Rectangle 74"/>
          <p:cNvSpPr>
            <a:spLocks noChangeArrowheads="1"/>
          </p:cNvSpPr>
          <p:nvPr/>
        </p:nvSpPr>
        <p:spPr bwMode="auto">
          <a:xfrm>
            <a:off x="0" y="193198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dirty="0"/>
          </a:p>
        </p:txBody>
      </p:sp>
      <p:sp>
        <p:nvSpPr>
          <p:cNvPr id="9242" name="Rectangle 75"/>
          <p:cNvSpPr>
            <a:spLocks noChangeArrowheads="1"/>
          </p:cNvSpPr>
          <p:nvPr/>
        </p:nvSpPr>
        <p:spPr bwMode="auto">
          <a:xfrm>
            <a:off x="3708400" y="2349500"/>
            <a:ext cx="471488" cy="292100"/>
          </a:xfrm>
          <a:prstGeom prst="rect">
            <a:avLst/>
          </a:prstGeom>
          <a:noFill/>
          <a:ln w="31750" algn="ctr">
            <a:noFill/>
            <a:miter lim="800000"/>
            <a:headEnd/>
            <a:tailEnd/>
          </a:ln>
        </p:spPr>
        <p:txBody>
          <a:bodyPr wrap="none" lIns="18000" tIns="36000" rIns="18000" bIns="10800" anchor="ctr">
            <a:spAutoFit/>
          </a:bodyPr>
          <a:lstStyle/>
          <a:p>
            <a:pPr algn="ctr">
              <a:lnSpc>
                <a:spcPct val="100000"/>
              </a:lnSpc>
              <a:spcBef>
                <a:spcPct val="0"/>
              </a:spcBef>
              <a:buFontTx/>
              <a:buNone/>
            </a:pPr>
            <a:r>
              <a:rPr lang="en-US" altLang="zh-CN" sz="1600">
                <a:latin typeface="Times New Roman" pitchFamily="18" charset="0"/>
                <a:ea typeface="宋体" pitchFamily="2" charset="-122"/>
                <a:cs typeface="Times New Roman" pitchFamily="18" charset="0"/>
              </a:rPr>
              <a:t>S=35</a:t>
            </a:r>
            <a:endParaRPr lang="zh-CN" altLang="en-US" sz="1600" b="0">
              <a:latin typeface="Times New Roman" pitchFamily="18" charset="0"/>
              <a:ea typeface="宋体" pitchFamily="2" charset="-122"/>
              <a:cs typeface="Times New Roman" pitchFamily="18" charset="0"/>
            </a:endParaRPr>
          </a:p>
        </p:txBody>
      </p:sp>
      <p:sp>
        <p:nvSpPr>
          <p:cNvPr id="9243" name="Text Box 8"/>
          <p:cNvSpPr txBox="1">
            <a:spLocks noChangeArrowheads="1"/>
          </p:cNvSpPr>
          <p:nvPr/>
        </p:nvSpPr>
        <p:spPr bwMode="auto">
          <a:xfrm>
            <a:off x="1619672" y="404472"/>
            <a:ext cx="4392612" cy="646112"/>
          </a:xfrm>
          <a:prstGeom prst="rect">
            <a:avLst/>
          </a:prstGeom>
          <a:noFill/>
          <a:ln w="9525">
            <a:noFill/>
            <a:miter lim="800000"/>
            <a:headEnd/>
            <a:tailEnd/>
          </a:ln>
        </p:spPr>
        <p:txBody>
          <a:bodyPr>
            <a:spAutoFit/>
          </a:bodyPr>
          <a:lstStyle/>
          <a:p>
            <a:pPr marL="342900" indent="-342900">
              <a:lnSpc>
                <a:spcPct val="100000"/>
              </a:lnSpc>
              <a:spcBef>
                <a:spcPct val="50000"/>
              </a:spcBef>
              <a:buFontTx/>
              <a:buNone/>
            </a:pPr>
            <a:r>
              <a:rPr lang="zh-CN" altLang="en-US" sz="3600" dirty="0">
                <a:solidFill>
                  <a:srgbClr val="0000FF"/>
                </a:solidFill>
                <a:latin typeface="微软雅黑" pitchFamily="34" charset="-122"/>
                <a:ea typeface="微软雅黑" pitchFamily="34" charset="-122"/>
                <a:cs typeface="Times New Roman" pitchFamily="18" charset="0"/>
              </a:rPr>
              <a:t>各形态无机磷的份额</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3"/>
          <p:cNvSpPr txBox="1">
            <a:spLocks noChangeArrowheads="1"/>
          </p:cNvSpPr>
          <p:nvPr/>
        </p:nvSpPr>
        <p:spPr bwMode="auto">
          <a:xfrm>
            <a:off x="467544" y="1560095"/>
            <a:ext cx="8280920" cy="3499686"/>
          </a:xfrm>
          <a:prstGeom prst="rect">
            <a:avLst/>
          </a:prstGeom>
          <a:noFill/>
          <a:ln w="9525">
            <a:noFill/>
            <a:miter lim="800000"/>
            <a:headEnd/>
            <a:tailEnd/>
          </a:ln>
        </p:spPr>
        <p:txBody>
          <a:bodyPr wrap="square" lIns="18000" tIns="10800" rIns="18000" bIns="10800">
            <a:spAutoFit/>
          </a:bodyPr>
          <a:lstStyle/>
          <a:p>
            <a:pPr marL="466725" indent="-466725">
              <a:spcBef>
                <a:spcPts val="1800"/>
              </a:spcBef>
              <a:buFont typeface="Arial" panose="020B0604020202020204" pitchFamily="34" charset="0"/>
              <a:buChar char="•"/>
            </a:pPr>
            <a:r>
              <a:rPr lang="zh-CN" altLang="en-US" sz="2800" dirty="0">
                <a:solidFill>
                  <a:srgbClr val="0000FF"/>
                </a:solidFill>
                <a:latin typeface="Times New Roman" pitchFamily="18" charset="0"/>
                <a:ea typeface="黑体" pitchFamily="49" charset="-122"/>
                <a:cs typeface="Times New Roman" pitchFamily="18" charset="0"/>
              </a:rPr>
              <a:t>磷钼蓝法：</a:t>
            </a:r>
            <a:r>
              <a:rPr lang="zh-CN" altLang="en-US" sz="2800" dirty="0">
                <a:latin typeface="Times New Roman" pitchFamily="18" charset="0"/>
                <a:ea typeface="黑体" pitchFamily="49" charset="-122"/>
                <a:cs typeface="Times New Roman" pitchFamily="18" charset="0"/>
              </a:rPr>
              <a:t>有机磷部分水解，导致对无机磷酸盐真实浓度的高估。</a:t>
            </a:r>
          </a:p>
          <a:p>
            <a:pPr marL="466725" indent="-466725">
              <a:spcBef>
                <a:spcPts val="1800"/>
              </a:spcBef>
              <a:buFont typeface="Arial" panose="020B0604020202020204" pitchFamily="34" charset="0"/>
              <a:buChar char="•"/>
            </a:pPr>
            <a:r>
              <a:rPr lang="zh-CN" altLang="en-US" sz="2800" dirty="0">
                <a:solidFill>
                  <a:srgbClr val="0000FF"/>
                </a:solidFill>
                <a:latin typeface="Times New Roman" pitchFamily="18" charset="0"/>
                <a:ea typeface="黑体" pitchFamily="49" charset="-122"/>
                <a:cs typeface="Times New Roman" pitchFamily="18" charset="0"/>
              </a:rPr>
              <a:t>活性磷酸盐（</a:t>
            </a:r>
            <a:r>
              <a:rPr lang="en-US" altLang="zh-CN" sz="2800" dirty="0">
                <a:solidFill>
                  <a:srgbClr val="0000FF"/>
                </a:solidFill>
                <a:latin typeface="Times New Roman" pitchFamily="18" charset="0"/>
                <a:ea typeface="黑体" pitchFamily="49" charset="-122"/>
                <a:cs typeface="Times New Roman" pitchFamily="18" charset="0"/>
              </a:rPr>
              <a:t>SRP</a:t>
            </a:r>
            <a:r>
              <a:rPr lang="zh-CN" altLang="en-US" sz="2800" dirty="0">
                <a:solidFill>
                  <a:srgbClr val="0000FF"/>
                </a:solidFill>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标准磷钼蓝法测定的组分，</a:t>
            </a:r>
            <a:r>
              <a:rPr lang="en-US" altLang="zh-CN" sz="2800" dirty="0">
                <a:latin typeface="Times New Roman" pitchFamily="18" charset="0"/>
                <a:ea typeface="黑体" pitchFamily="49" charset="-122"/>
                <a:cs typeface="Times New Roman" pitchFamily="18" charset="0"/>
              </a:rPr>
              <a:t>SRP </a:t>
            </a:r>
            <a:r>
              <a:rPr lang="en-US" altLang="zh-CN" sz="2800" dirty="0">
                <a:latin typeface="Times New Roman" pitchFamily="18" charset="0"/>
                <a:ea typeface="黑体" pitchFamily="49" charset="-122"/>
                <a:cs typeface="Times New Roman" pitchFamily="18" charset="0"/>
                <a:sym typeface="Symbol" pitchFamily="18" charset="2"/>
              </a:rPr>
              <a:t> </a:t>
            </a:r>
            <a:r>
              <a:rPr lang="zh-CN" altLang="en-US" sz="2800" dirty="0">
                <a:latin typeface="Times New Roman" pitchFamily="18" charset="0"/>
                <a:ea typeface="黑体" pitchFamily="49" charset="-122"/>
                <a:cs typeface="Times New Roman" pitchFamily="18" charset="0"/>
              </a:rPr>
              <a:t>无机磷酸盐，但实际上，</a:t>
            </a:r>
            <a:r>
              <a:rPr lang="en-US" altLang="zh-CN" sz="2800" dirty="0">
                <a:latin typeface="Times New Roman" pitchFamily="18" charset="0"/>
                <a:ea typeface="黑体" pitchFamily="49" charset="-122"/>
                <a:cs typeface="Times New Roman" pitchFamily="18" charset="0"/>
              </a:rPr>
              <a:t>SRP&gt;</a:t>
            </a:r>
            <a:r>
              <a:rPr lang="zh-CN" altLang="en-US" sz="2800" dirty="0">
                <a:latin typeface="Times New Roman" pitchFamily="18" charset="0"/>
                <a:ea typeface="黑体" pitchFamily="49" charset="-122"/>
                <a:cs typeface="Times New Roman" pitchFamily="18" charset="0"/>
              </a:rPr>
              <a:t>无机磷酸盐。</a:t>
            </a:r>
          </a:p>
          <a:p>
            <a:pPr marL="466725" indent="-466725">
              <a:spcBef>
                <a:spcPts val="1800"/>
              </a:spcBef>
              <a:buFont typeface="Arial" panose="020B0604020202020204" pitchFamily="34" charset="0"/>
              <a:buChar char="•"/>
            </a:pPr>
            <a:r>
              <a:rPr lang="zh-CN" altLang="en-US" sz="2800" dirty="0">
                <a:solidFill>
                  <a:srgbClr val="0000FF"/>
                </a:solidFill>
                <a:latin typeface="Times New Roman" pitchFamily="18" charset="0"/>
                <a:ea typeface="黑体" pitchFamily="49" charset="-122"/>
                <a:cs typeface="Times New Roman" pitchFamily="18" charset="0"/>
              </a:rPr>
              <a:t>溶解非活性磷</a:t>
            </a:r>
            <a:r>
              <a:rPr lang="zh-CN" altLang="en-US" dirty="0">
                <a:solidFill>
                  <a:srgbClr val="0000FF"/>
                </a:solidFill>
                <a:latin typeface="Times New Roman" pitchFamily="18" charset="0"/>
                <a:ea typeface="黑体" pitchFamily="49" charset="-122"/>
                <a:cs typeface="Times New Roman" pitchFamily="18" charset="0"/>
              </a:rPr>
              <a:t>（</a:t>
            </a:r>
            <a:r>
              <a:rPr lang="en-US" altLang="zh-CN" dirty="0">
                <a:solidFill>
                  <a:srgbClr val="0000FF"/>
                </a:solidFill>
                <a:latin typeface="Times New Roman" pitchFamily="18" charset="0"/>
                <a:ea typeface="黑体" pitchFamily="49" charset="-122"/>
                <a:cs typeface="Times New Roman" pitchFamily="18" charset="0"/>
              </a:rPr>
              <a:t>soluble nonreactive P</a:t>
            </a:r>
            <a:r>
              <a:rPr lang="zh-CN" altLang="en-US" dirty="0">
                <a:solidFill>
                  <a:srgbClr val="0000FF"/>
                </a:solidFill>
                <a:latin typeface="Times New Roman" pitchFamily="18" charset="0"/>
                <a:ea typeface="黑体" pitchFamily="49" charset="-122"/>
                <a:cs typeface="Times New Roman" pitchFamily="18" charset="0"/>
              </a:rPr>
              <a:t>，</a:t>
            </a:r>
            <a:r>
              <a:rPr lang="en-US" altLang="zh-CN" dirty="0">
                <a:solidFill>
                  <a:srgbClr val="0000FF"/>
                </a:solidFill>
                <a:latin typeface="Times New Roman" pitchFamily="18" charset="0"/>
                <a:ea typeface="黑体" pitchFamily="49" charset="-122"/>
                <a:cs typeface="Times New Roman" pitchFamily="18" charset="0"/>
              </a:rPr>
              <a:t>SNP</a:t>
            </a:r>
            <a:r>
              <a:rPr lang="zh-CN" altLang="en-US" dirty="0">
                <a:solidFill>
                  <a:srgbClr val="0000FF"/>
                </a:solidFill>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TDP - SRP</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SNP</a:t>
            </a:r>
            <a:r>
              <a:rPr lang="zh-CN" altLang="en-US" sz="2800" dirty="0">
                <a:latin typeface="Times New Roman" pitchFamily="18" charset="0"/>
                <a:ea typeface="黑体" pitchFamily="49" charset="-122"/>
                <a:cs typeface="Times New Roman" pitchFamily="18" charset="0"/>
              </a:rPr>
              <a:t>与分析所用氧化</a:t>
            </a:r>
            <a:r>
              <a:rPr lang="en-US" altLang="zh-CN" sz="28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水解条件有关，包括有机磷、焦磷酸盐、无机磷聚合物，</a:t>
            </a:r>
            <a:r>
              <a:rPr lang="en-US" altLang="zh-CN" sz="2800" dirty="0">
                <a:latin typeface="Times New Roman" pitchFamily="18" charset="0"/>
                <a:ea typeface="黑体" pitchFamily="49" charset="-122"/>
                <a:cs typeface="Times New Roman" pitchFamily="18" charset="0"/>
              </a:rPr>
              <a:t>SNP&gt;DOP</a:t>
            </a:r>
            <a:r>
              <a:rPr lang="zh-CN" altLang="en-US" sz="2800" dirty="0">
                <a:latin typeface="Times New Roman" pitchFamily="18" charset="0"/>
                <a:ea typeface="黑体" pitchFamily="49" charset="-122"/>
                <a:cs typeface="Times New Roman" pitchFamily="18" charset="0"/>
              </a:rPr>
              <a:t>。</a:t>
            </a:r>
          </a:p>
        </p:txBody>
      </p:sp>
      <p:sp>
        <p:nvSpPr>
          <p:cNvPr id="65539" name="Rectangle 4"/>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65540"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5541"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5542" name="Text Box 7"/>
          <p:cNvSpPr txBox="1">
            <a:spLocks noChangeArrowheads="1"/>
          </p:cNvSpPr>
          <p:nvPr/>
        </p:nvSpPr>
        <p:spPr bwMode="auto">
          <a:xfrm>
            <a:off x="1547664" y="360363"/>
            <a:ext cx="5184775" cy="646112"/>
          </a:xfrm>
          <a:prstGeom prst="rect">
            <a:avLst/>
          </a:prstGeom>
          <a:noFill/>
          <a:ln w="9525">
            <a:noFill/>
            <a:miter lim="800000"/>
            <a:headEnd/>
            <a:tailEnd/>
          </a:ln>
        </p:spPr>
        <p:txBody>
          <a:bodyPr>
            <a:spAutoFit/>
          </a:bodyPr>
          <a:lstStyle/>
          <a:p>
            <a:pPr marL="342900" indent="-342900">
              <a:lnSpc>
                <a:spcPct val="100000"/>
              </a:lnSpc>
              <a:spcBef>
                <a:spcPct val="50000"/>
              </a:spcBef>
              <a:buFontTx/>
              <a:buNone/>
            </a:pPr>
            <a:r>
              <a:rPr lang="zh-CN" altLang="en-US" sz="3600" dirty="0">
                <a:solidFill>
                  <a:srgbClr val="0000FF"/>
                </a:solidFill>
                <a:latin typeface="微软雅黑" pitchFamily="34" charset="-122"/>
                <a:ea typeface="微软雅黑" pitchFamily="34" charset="-122"/>
                <a:cs typeface="Times New Roman" pitchFamily="18" charset="0"/>
              </a:rPr>
              <a:t>磷存在形态：</a:t>
            </a:r>
            <a:r>
              <a:rPr lang="zh-CN" altLang="en-US" sz="3600" dirty="0">
                <a:solidFill>
                  <a:srgbClr val="C00000"/>
                </a:solidFill>
                <a:latin typeface="Times New Roman" pitchFamily="18" charset="0"/>
                <a:ea typeface="黑体" pitchFamily="49" charset="-122"/>
                <a:cs typeface="Times New Roman" pitchFamily="18" charset="0"/>
              </a:rPr>
              <a:t>测定问题</a:t>
            </a:r>
          </a:p>
        </p:txBody>
      </p:sp>
    </p:spTree>
    <p:extLst>
      <p:ext uri="{BB962C8B-B14F-4D97-AF65-F5344CB8AC3E}">
        <p14:creationId xmlns:p14="http://schemas.microsoft.com/office/powerpoint/2010/main" val="4026679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3"/>
          <p:cNvSpPr txBox="1">
            <a:spLocks noChangeArrowheads="1"/>
          </p:cNvSpPr>
          <p:nvPr/>
        </p:nvSpPr>
        <p:spPr bwMode="auto">
          <a:xfrm>
            <a:off x="395287" y="1700808"/>
            <a:ext cx="8353425" cy="2837966"/>
          </a:xfrm>
          <a:prstGeom prst="rect">
            <a:avLst/>
          </a:prstGeom>
          <a:noFill/>
          <a:ln w="9525">
            <a:noFill/>
            <a:miter lim="800000"/>
            <a:headEnd/>
            <a:tailEnd/>
          </a:ln>
        </p:spPr>
        <p:txBody>
          <a:bodyPr lIns="18000" tIns="10800" rIns="18000" bIns="10800">
            <a:spAutoFit/>
          </a:bodyPr>
          <a:lstStyle/>
          <a:p>
            <a:pPr marL="466725" indent="-466725">
              <a:spcBef>
                <a:spcPts val="1800"/>
              </a:spcBef>
            </a:pPr>
            <a:r>
              <a:rPr lang="en-US" altLang="zh-CN" sz="2800" dirty="0">
                <a:solidFill>
                  <a:srgbClr val="0000FF"/>
                </a:solidFill>
                <a:latin typeface="Times New Roman" pitchFamily="18" charset="0"/>
                <a:ea typeface="黑体" pitchFamily="49" charset="-122"/>
                <a:cs typeface="Times New Roman" pitchFamily="18" charset="0"/>
              </a:rPr>
              <a:t>TDP</a:t>
            </a:r>
            <a:r>
              <a:rPr lang="zh-CN" altLang="en-US" sz="2800" dirty="0">
                <a:solidFill>
                  <a:srgbClr val="0000FF"/>
                </a:solidFill>
                <a:latin typeface="Times New Roman" pitchFamily="18" charset="0"/>
                <a:ea typeface="黑体" pitchFamily="49" charset="-122"/>
                <a:cs typeface="Times New Roman" pitchFamily="18" charset="0"/>
              </a:rPr>
              <a:t>的测定：</a:t>
            </a:r>
            <a:r>
              <a:rPr lang="zh-CN" altLang="en-US" sz="2800" dirty="0">
                <a:latin typeface="Times New Roman" pitchFamily="18" charset="0"/>
                <a:ea typeface="黑体" pitchFamily="49" charset="-122"/>
                <a:cs typeface="Times New Roman" pitchFamily="18" charset="0"/>
              </a:rPr>
              <a:t>高强度紫外光</a:t>
            </a:r>
            <a:r>
              <a:rPr lang="en-US" altLang="zh-CN" sz="28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高温湿法氧化</a:t>
            </a:r>
            <a:r>
              <a:rPr lang="en-US" altLang="zh-CN" sz="28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二者结合将</a:t>
            </a:r>
            <a:r>
              <a:rPr lang="en-US" altLang="zh-CN" sz="2800" dirty="0">
                <a:latin typeface="Times New Roman" pitchFamily="18" charset="0"/>
                <a:ea typeface="黑体" pitchFamily="49" charset="-122"/>
                <a:cs typeface="Times New Roman" pitchFamily="18" charset="0"/>
              </a:rPr>
              <a:t>SNP</a:t>
            </a:r>
            <a:r>
              <a:rPr lang="zh-CN" altLang="en-US" sz="2800" dirty="0">
                <a:latin typeface="Times New Roman" pitchFamily="18" charset="0"/>
                <a:ea typeface="黑体" pitchFamily="49" charset="-122"/>
                <a:cs typeface="Times New Roman" pitchFamily="18" charset="0"/>
              </a:rPr>
              <a:t>转化为</a:t>
            </a:r>
            <a:r>
              <a:rPr lang="en-US" altLang="zh-CN" sz="2800" dirty="0">
                <a:latin typeface="Times New Roman" pitchFamily="18" charset="0"/>
                <a:ea typeface="黑体" pitchFamily="49" charset="-122"/>
                <a:cs typeface="Times New Roman" pitchFamily="18" charset="0"/>
              </a:rPr>
              <a:t>DIP</a:t>
            </a:r>
            <a:r>
              <a:rPr lang="zh-CN" altLang="en-US" sz="2800" dirty="0">
                <a:latin typeface="Times New Roman" pitchFamily="18" charset="0"/>
                <a:ea typeface="黑体" pitchFamily="49" charset="-122"/>
                <a:cs typeface="Times New Roman" pitchFamily="18" charset="0"/>
              </a:rPr>
              <a:t>，用磷钼蓝法测量。存在问题：无法定量转化。</a:t>
            </a:r>
          </a:p>
          <a:p>
            <a:pPr marL="466725" indent="-466725">
              <a:spcBef>
                <a:spcPts val="1800"/>
              </a:spcBef>
            </a:pPr>
            <a:r>
              <a:rPr lang="zh-CN" altLang="en-US" sz="2800" dirty="0">
                <a:solidFill>
                  <a:srgbClr val="0000FF"/>
                </a:solidFill>
                <a:latin typeface="Times New Roman" pitchFamily="18" charset="0"/>
                <a:ea typeface="黑体" pitchFamily="49" charset="-122"/>
                <a:cs typeface="Times New Roman" pitchFamily="18" charset="0"/>
              </a:rPr>
              <a:t>生物可利用磷</a:t>
            </a:r>
            <a:r>
              <a:rPr lang="zh-CN" altLang="en-US" sz="2000" dirty="0">
                <a:solidFill>
                  <a:srgbClr val="0000FF"/>
                </a:solidFill>
                <a:latin typeface="Times New Roman" pitchFamily="18" charset="0"/>
                <a:ea typeface="黑体" pitchFamily="49" charset="-122"/>
                <a:cs typeface="Times New Roman" pitchFamily="18" charset="0"/>
              </a:rPr>
              <a:t>（</a:t>
            </a:r>
            <a:r>
              <a:rPr lang="en-US" altLang="zh-CN" sz="2400" dirty="0">
                <a:solidFill>
                  <a:srgbClr val="0000FF"/>
                </a:solidFill>
                <a:latin typeface="Times New Roman" pitchFamily="18" charset="0"/>
                <a:ea typeface="黑体" pitchFamily="49" charset="-122"/>
                <a:cs typeface="Times New Roman" pitchFamily="18" charset="0"/>
              </a:rPr>
              <a:t>biologically available P</a:t>
            </a:r>
            <a:r>
              <a:rPr lang="zh-CN" altLang="en-US" sz="2400" dirty="0">
                <a:solidFill>
                  <a:srgbClr val="0000FF"/>
                </a:solidFill>
                <a:latin typeface="Times New Roman" pitchFamily="18" charset="0"/>
                <a:ea typeface="黑体" pitchFamily="49" charset="-122"/>
                <a:cs typeface="Times New Roman" pitchFamily="18" charset="0"/>
              </a:rPr>
              <a:t>，</a:t>
            </a:r>
            <a:r>
              <a:rPr lang="en-US" altLang="zh-CN" sz="2400" dirty="0">
                <a:solidFill>
                  <a:srgbClr val="0000FF"/>
                </a:solidFill>
                <a:latin typeface="Times New Roman" pitchFamily="18" charset="0"/>
                <a:ea typeface="黑体" pitchFamily="49" charset="-122"/>
                <a:cs typeface="Times New Roman" pitchFamily="18" charset="0"/>
              </a:rPr>
              <a:t>BAP</a:t>
            </a:r>
            <a:r>
              <a:rPr lang="zh-CN" altLang="en-US" sz="2000" dirty="0">
                <a:solidFill>
                  <a:srgbClr val="0000FF"/>
                </a:solidFill>
                <a:latin typeface="Times New Roman" pitchFamily="18" charset="0"/>
                <a:ea typeface="黑体" pitchFamily="49" charset="-122"/>
                <a:cs typeface="Times New Roman" pitchFamily="18" charset="0"/>
              </a:rPr>
              <a:t>）</a:t>
            </a:r>
            <a:r>
              <a:rPr lang="zh-CN" altLang="en-US" sz="2800" dirty="0">
                <a:solidFill>
                  <a:srgbClr val="0000FF"/>
                </a:solidFill>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包括无机磷酸盐和</a:t>
            </a:r>
            <a:r>
              <a:rPr lang="en-US" altLang="zh-CN" sz="2800" dirty="0">
                <a:latin typeface="Times New Roman" pitchFamily="18" charset="0"/>
                <a:ea typeface="黑体" pitchFamily="49" charset="-122"/>
                <a:cs typeface="Times New Roman" pitchFamily="18" charset="0"/>
              </a:rPr>
              <a:t>SNP</a:t>
            </a:r>
            <a:r>
              <a:rPr lang="zh-CN" altLang="en-US" sz="2800" dirty="0">
                <a:latin typeface="Times New Roman" pitchFamily="18" charset="0"/>
                <a:ea typeface="黑体" pitchFamily="49" charset="-122"/>
                <a:cs typeface="Times New Roman" pitchFamily="18" charset="0"/>
              </a:rPr>
              <a:t>中部分生物可利用的组分，尚没有常规测量方法。</a:t>
            </a:r>
          </a:p>
        </p:txBody>
      </p:sp>
      <p:sp>
        <p:nvSpPr>
          <p:cNvPr id="66563" name="Rectangle 4"/>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6656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6565"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6567" name="Text Box 7"/>
          <p:cNvSpPr txBox="1">
            <a:spLocks noChangeArrowheads="1"/>
          </p:cNvSpPr>
          <p:nvPr/>
        </p:nvSpPr>
        <p:spPr bwMode="auto">
          <a:xfrm>
            <a:off x="1475656" y="419336"/>
            <a:ext cx="4897437" cy="646112"/>
          </a:xfrm>
          <a:prstGeom prst="rect">
            <a:avLst/>
          </a:prstGeom>
          <a:noFill/>
          <a:ln w="9525">
            <a:noFill/>
            <a:miter lim="800000"/>
            <a:headEnd/>
            <a:tailEnd/>
          </a:ln>
        </p:spPr>
        <p:txBody>
          <a:bodyPr>
            <a:spAutoFit/>
          </a:bodyPr>
          <a:lstStyle/>
          <a:p>
            <a:pPr marL="342900" indent="-342900">
              <a:lnSpc>
                <a:spcPct val="100000"/>
              </a:lnSpc>
              <a:spcBef>
                <a:spcPct val="50000"/>
              </a:spcBef>
              <a:buFontTx/>
              <a:buNone/>
            </a:pPr>
            <a:r>
              <a:rPr lang="zh-CN" altLang="en-US" sz="3600" dirty="0">
                <a:solidFill>
                  <a:srgbClr val="0000FF"/>
                </a:solidFill>
                <a:latin typeface="微软雅黑" pitchFamily="34" charset="-122"/>
                <a:ea typeface="微软雅黑" pitchFamily="34" charset="-122"/>
                <a:cs typeface="Times New Roman" pitchFamily="18" charset="0"/>
              </a:rPr>
              <a:t>磷存在形态：</a:t>
            </a:r>
            <a:r>
              <a:rPr lang="zh-CN" altLang="en-US" sz="3600" dirty="0">
                <a:solidFill>
                  <a:srgbClr val="C00000"/>
                </a:solidFill>
                <a:latin typeface="Times New Roman" pitchFamily="18" charset="0"/>
                <a:ea typeface="黑体" pitchFamily="49" charset="-122"/>
                <a:cs typeface="Times New Roman" pitchFamily="18" charset="0"/>
              </a:rPr>
              <a:t>测定问题</a:t>
            </a:r>
          </a:p>
        </p:txBody>
      </p:sp>
    </p:spTree>
    <p:extLst>
      <p:ext uri="{BB962C8B-B14F-4D97-AF65-F5344CB8AC3E}">
        <p14:creationId xmlns:p14="http://schemas.microsoft.com/office/powerpoint/2010/main" val="2166514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dirty="0"/>
          </a:p>
        </p:txBody>
      </p:sp>
      <p:sp>
        <p:nvSpPr>
          <p:cNvPr id="6" name="内容占位符 5"/>
          <p:cNvSpPr>
            <a:spLocks noGrp="1"/>
          </p:cNvSpPr>
          <p:nvPr>
            <p:ph idx="1"/>
          </p:nvPr>
        </p:nvSpPr>
        <p:spPr>
          <a:xfrm>
            <a:off x="457200" y="1600200"/>
            <a:ext cx="8229600" cy="4277071"/>
          </a:xfrm>
        </p:spPr>
        <p:txBody>
          <a:bodyPr/>
          <a:lstStyle/>
          <a:p>
            <a:r>
              <a:rPr lang="zh-CN" altLang="en-US" dirty="0"/>
              <a:t>提纲</a:t>
            </a:r>
            <a:endParaRPr lang="en-US" altLang="zh-CN" dirty="0"/>
          </a:p>
          <a:p>
            <a:pPr marL="914400" lvl="1" indent="-457200">
              <a:buFont typeface="+mj-lt"/>
              <a:buAutoNum type="arabicPeriod"/>
            </a:pPr>
            <a:r>
              <a:rPr lang="zh-CN" altLang="en-US" sz="2800" dirty="0">
                <a:solidFill>
                  <a:schemeClr val="bg2"/>
                </a:solidFill>
              </a:rPr>
              <a:t>海水中营养要素的组成</a:t>
            </a:r>
            <a:endParaRPr lang="en-US" altLang="zh-CN" sz="2800" dirty="0">
              <a:solidFill>
                <a:schemeClr val="bg2"/>
              </a:solidFill>
            </a:endParaRPr>
          </a:p>
          <a:p>
            <a:pPr marL="914400" lvl="1" indent="-457200">
              <a:buFont typeface="+mj-lt"/>
              <a:buAutoNum type="arabicPeriod"/>
            </a:pPr>
            <a:r>
              <a:rPr lang="zh-CN" altLang="en-US" sz="2800" dirty="0">
                <a:solidFill>
                  <a:schemeClr val="bg2"/>
                </a:solidFill>
              </a:rPr>
              <a:t>海水中磷循环的重要意义</a:t>
            </a:r>
            <a:endParaRPr lang="en-US" altLang="zh-CN" sz="2800" dirty="0">
              <a:solidFill>
                <a:schemeClr val="bg2"/>
              </a:solidFill>
            </a:endParaRPr>
          </a:p>
          <a:p>
            <a:pPr marL="914400" lvl="1" indent="-457200">
              <a:buFont typeface="+mj-lt"/>
              <a:buAutoNum type="arabicPeriod"/>
            </a:pPr>
            <a:r>
              <a:rPr lang="zh-CN" altLang="en-US" sz="2800" dirty="0">
                <a:solidFill>
                  <a:schemeClr val="bg2"/>
                </a:solidFill>
              </a:rPr>
              <a:t>海水中磷酸盐的组成及主要存在形式</a:t>
            </a:r>
            <a:endParaRPr lang="en-US" altLang="zh-CN" sz="2800" dirty="0">
              <a:solidFill>
                <a:schemeClr val="bg2"/>
              </a:solidFill>
            </a:endParaRPr>
          </a:p>
          <a:p>
            <a:pPr marL="914400" lvl="1" indent="-457200">
              <a:buFont typeface="+mj-lt"/>
              <a:buAutoNum type="arabicPeriod"/>
            </a:pPr>
            <a:r>
              <a:rPr lang="zh-CN" altLang="en-US" sz="2800" dirty="0"/>
              <a:t>海水中磷酸盐的测定方法</a:t>
            </a:r>
            <a:endParaRPr lang="en-US" altLang="zh-CN" sz="2800" dirty="0"/>
          </a:p>
          <a:p>
            <a:pPr marL="1314450" lvl="2" indent="-457200">
              <a:buFont typeface="+mj-lt"/>
              <a:buAutoNum type="alphaUcPeriod"/>
            </a:pPr>
            <a:r>
              <a:rPr lang="zh-CN" altLang="en-US" sz="2400" dirty="0"/>
              <a:t>磷钼黄法</a:t>
            </a:r>
            <a:endParaRPr lang="en-US" altLang="zh-CN" sz="2400" dirty="0"/>
          </a:p>
          <a:p>
            <a:pPr marL="1314450" lvl="2" indent="-457200">
              <a:buFont typeface="+mj-lt"/>
              <a:buAutoNum type="alphaUcPeriod"/>
            </a:pPr>
            <a:r>
              <a:rPr lang="zh-CN" altLang="en-US" sz="2400" dirty="0"/>
              <a:t>磷钼蓝法</a:t>
            </a:r>
            <a:endParaRPr lang="en-US" altLang="zh-CN" sz="2400" dirty="0"/>
          </a:p>
          <a:p>
            <a:pPr marL="971550" lvl="1" indent="-514350">
              <a:buFont typeface="+mj-lt"/>
              <a:buAutoNum type="arabicPeriod"/>
            </a:pPr>
            <a:r>
              <a:rPr lang="zh-CN" altLang="en-US" sz="2800" dirty="0"/>
              <a:t>理解紫外分光光度法定量测量的原理</a:t>
            </a: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en-US" altLang="zh-CN" dirty="0"/>
          </a:p>
          <a:p>
            <a:pPr marL="914400" lvl="1" indent="-457200">
              <a:buFont typeface="+mj-lt"/>
              <a:buAutoNum type="arabicPeriod"/>
            </a:pPr>
            <a:endParaRPr lang="zh-CN" altLang="en-US" dirty="0"/>
          </a:p>
        </p:txBody>
      </p:sp>
      <p:sp>
        <p:nvSpPr>
          <p:cNvPr id="4" name="标题 1"/>
          <p:cNvSpPr txBox="1">
            <a:spLocks/>
          </p:cNvSpPr>
          <p:nvPr/>
        </p:nvSpPr>
        <p:spPr bwMode="auto">
          <a:xfrm>
            <a:off x="1357290" y="500042"/>
            <a:ext cx="7224706" cy="836712"/>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4000" b="1" i="0" u="none" strike="noStrike" kern="0" cap="all" spc="0" normalizeH="0" baseline="0" noProof="0" dirty="0">
                <a:ln>
                  <a:noFill/>
                </a:ln>
                <a:solidFill>
                  <a:schemeClr val="accent2">
                    <a:lumMod val="75000"/>
                  </a:schemeClr>
                </a:solidFill>
                <a:effectLst/>
                <a:uLnTx/>
                <a:uFillTx/>
                <a:latin typeface="+mj-lt"/>
                <a:ea typeface="+mj-ea"/>
                <a:cs typeface="+mj-cs"/>
              </a:rPr>
              <a:t>第四章 海水中营养元素的测定</a:t>
            </a:r>
          </a:p>
        </p:txBody>
      </p:sp>
    </p:spTree>
    <p:extLst>
      <p:ext uri="{BB962C8B-B14F-4D97-AF65-F5344CB8AC3E}">
        <p14:creationId xmlns:p14="http://schemas.microsoft.com/office/powerpoint/2010/main" val="123819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28736"/>
            <a:ext cx="8401080" cy="4376528"/>
          </a:xfrm>
        </p:spPr>
        <p:txBody>
          <a:bodyPr/>
          <a:lstStyle/>
          <a:p>
            <a:pPr marL="514350" indent="-514350"/>
            <a:r>
              <a:rPr lang="zh-CN" altLang="en-US" dirty="0"/>
              <a:t>海水中活性磷（</a:t>
            </a:r>
            <a:r>
              <a:rPr lang="en-US" altLang="zh-CN" dirty="0"/>
              <a:t>DIP</a:t>
            </a:r>
            <a:r>
              <a:rPr lang="zh-CN" altLang="en-US" dirty="0"/>
              <a:t>）的测定</a:t>
            </a:r>
            <a:endParaRPr lang="en-US" altLang="zh-CN" dirty="0"/>
          </a:p>
          <a:p>
            <a:pPr marL="514350" indent="-514350"/>
            <a:r>
              <a:rPr lang="zh-CN" altLang="en-US" dirty="0"/>
              <a:t>磷钼黄法：</a:t>
            </a:r>
            <a:endParaRPr lang="en-US" altLang="zh-CN" dirty="0"/>
          </a:p>
          <a:p>
            <a:pPr marL="914400" lvl="1" indent="-514350"/>
            <a:r>
              <a:rPr lang="zh-CN" altLang="en-US" dirty="0"/>
              <a:t>磷钼黄法是</a:t>
            </a:r>
            <a:r>
              <a:rPr lang="en-US" altLang="zh-CN" dirty="0"/>
              <a:t>West Knight 1880</a:t>
            </a:r>
            <a:r>
              <a:rPr lang="zh-CN" altLang="en-US" dirty="0"/>
              <a:t>年发现的。</a:t>
            </a:r>
            <a:endParaRPr lang="en-US" altLang="zh-CN" dirty="0"/>
          </a:p>
          <a:p>
            <a:pPr marL="914400" lvl="1" indent="-514350"/>
            <a:r>
              <a:rPr lang="zh-CN" altLang="en-US" dirty="0"/>
              <a:t>磷钼黄法具有很多优点，试剂稳定，络合物颜色稳定，可重复性好等。</a:t>
            </a:r>
            <a:endParaRPr lang="en-US" altLang="zh-CN" dirty="0"/>
          </a:p>
          <a:p>
            <a:pPr marL="914400" lvl="1" indent="-514350"/>
            <a:r>
              <a:rPr lang="zh-CN" altLang="en-US" dirty="0"/>
              <a:t>磷钼黄的缺点是</a:t>
            </a:r>
            <a:r>
              <a:rPr lang="zh-CN" altLang="en-US" dirty="0">
                <a:solidFill>
                  <a:srgbClr val="FF0000"/>
                </a:solidFill>
              </a:rPr>
              <a:t>灵敏度差</a:t>
            </a:r>
            <a:r>
              <a:rPr lang="zh-CN" altLang="en-US" dirty="0"/>
              <a:t>，因此不适合做海水低磷酸盐的测量。</a:t>
            </a:r>
            <a:endParaRPr lang="en-US" altLang="zh-CN" dirty="0"/>
          </a:p>
          <a:p>
            <a:pPr marL="514350" indent="-514350"/>
            <a:r>
              <a:rPr lang="zh-CN" altLang="en-US" dirty="0"/>
              <a:t>磷钼蓝法：</a:t>
            </a:r>
            <a:endParaRPr lang="en-US" altLang="zh-CN" dirty="0"/>
          </a:p>
          <a:p>
            <a:pPr marL="914400" lvl="1" indent="-514350"/>
            <a:r>
              <a:rPr lang="zh-CN" altLang="en-US" dirty="0"/>
              <a:t>磷钼蓝法是将磷钼酸（黄色）通过还原剂还原成磷钼蓝。</a:t>
            </a: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dirty="0"/>
          </a:p>
          <a:p>
            <a:pPr lvl="1">
              <a:buNone/>
            </a:pPr>
            <a:endParaRPr lang="zh-CN" altLang="en-US" dirty="0"/>
          </a:p>
        </p:txBody>
      </p:sp>
      <p:sp>
        <p:nvSpPr>
          <p:cNvPr id="6" name="TextBox 5"/>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rgbClr val="808080">
                    <a:lumMod val="25000"/>
                  </a:srgbClr>
                </a:solidFill>
                <a:latin typeface="华文新魏" pitchFamily="2" charset="-122"/>
                <a:ea typeface="华文新魏" pitchFamily="2" charset="-122"/>
              </a:rPr>
              <a:t>第四章 海水中的磷酸盐</a:t>
            </a:r>
          </a:p>
        </p:txBody>
      </p:sp>
    </p:spTree>
    <p:extLst>
      <p:ext uri="{BB962C8B-B14F-4D97-AF65-F5344CB8AC3E}">
        <p14:creationId xmlns:p14="http://schemas.microsoft.com/office/powerpoint/2010/main" val="3051953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紫外可见分光光度法</a:t>
            </a:r>
            <a:br>
              <a:rPr lang="en-US" altLang="zh-CN" dirty="0"/>
            </a:br>
            <a:r>
              <a:rPr lang="zh-CN" altLang="en-US" dirty="0"/>
              <a:t>测量营养盐的共性问题</a:t>
            </a:r>
          </a:p>
        </p:txBody>
      </p:sp>
      <p:sp>
        <p:nvSpPr>
          <p:cNvPr id="4" name="内容占位符 3"/>
          <p:cNvSpPr>
            <a:spLocks noGrp="1"/>
          </p:cNvSpPr>
          <p:nvPr>
            <p:ph idx="1"/>
          </p:nvPr>
        </p:nvSpPr>
        <p:spPr>
          <a:xfrm>
            <a:off x="898600" y="1700808"/>
            <a:ext cx="7787208" cy="4525963"/>
          </a:xfrm>
        </p:spPr>
        <p:txBody>
          <a:bodyPr/>
          <a:lstStyle/>
          <a:p>
            <a:pPr marL="514350" indent="-514350">
              <a:spcBef>
                <a:spcPts val="1200"/>
              </a:spcBef>
              <a:buFont typeface="+mj-lt"/>
              <a:buAutoNum type="arabicPeriod"/>
            </a:pPr>
            <a:r>
              <a:rPr lang="zh-CN" altLang="en-US" dirty="0"/>
              <a:t>为什么要将硅钼黄、磷钼黄转成磷钼蓝、硅钼蓝测定？</a:t>
            </a:r>
            <a:endParaRPr lang="en-US" altLang="zh-CN" dirty="0"/>
          </a:p>
          <a:p>
            <a:pPr marL="514350" indent="-514350">
              <a:spcBef>
                <a:spcPts val="1200"/>
              </a:spcBef>
              <a:buFont typeface="+mj-lt"/>
              <a:buAutoNum type="arabicPeriod"/>
            </a:pPr>
            <a:r>
              <a:rPr lang="zh-CN" altLang="en-US" dirty="0"/>
              <a:t>怎么知道测量的</a:t>
            </a:r>
            <a:r>
              <a:rPr lang="zh-CN" altLang="en-US" dirty="0">
                <a:solidFill>
                  <a:srgbClr val="FF0000"/>
                </a:solidFill>
              </a:rPr>
              <a:t>量程</a:t>
            </a:r>
            <a:r>
              <a:rPr lang="zh-CN" altLang="en-US" dirty="0"/>
              <a:t>？</a:t>
            </a:r>
            <a:endParaRPr lang="en-US" altLang="zh-CN" dirty="0"/>
          </a:p>
          <a:p>
            <a:pPr marL="514350" indent="-514350">
              <a:spcBef>
                <a:spcPts val="1200"/>
              </a:spcBef>
              <a:buFont typeface="+mj-lt"/>
              <a:buAutoNum type="arabicPeriod"/>
            </a:pPr>
            <a:r>
              <a:rPr lang="en-US" altLang="zh-CN" dirty="0"/>
              <a:t> </a:t>
            </a:r>
            <a:r>
              <a:rPr lang="zh-CN" altLang="en-US" dirty="0"/>
              <a:t>测量中有液槽校正，空白值校正，浊度校正等，为什么要做？获得工作曲线后怎么利用这些校正吸光值？</a:t>
            </a:r>
            <a:endParaRPr lang="en-US" altLang="zh-CN" dirty="0"/>
          </a:p>
          <a:p>
            <a:pPr marL="514350" indent="-514350">
              <a:spcBef>
                <a:spcPts val="1200"/>
              </a:spcBef>
              <a:buFont typeface="+mj-lt"/>
              <a:buAutoNum type="arabicPeriod"/>
            </a:pPr>
            <a:r>
              <a:rPr lang="en-US" altLang="zh-CN" dirty="0"/>
              <a:t> </a:t>
            </a:r>
            <a:r>
              <a:rPr lang="zh-CN" altLang="en-US" dirty="0"/>
              <a:t>海水中的盐效应是怎么作用在测量上的？</a:t>
            </a:r>
          </a:p>
        </p:txBody>
      </p:sp>
    </p:spTree>
    <p:extLst>
      <p:ext uri="{BB962C8B-B14F-4D97-AF65-F5344CB8AC3E}">
        <p14:creationId xmlns:p14="http://schemas.microsoft.com/office/powerpoint/2010/main" val="2226786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4480" y="476672"/>
            <a:ext cx="6275040" cy="724942"/>
          </a:xfrm>
          <a:ln w="15875">
            <a:solidFill>
              <a:schemeClr val="tx1"/>
            </a:solidFill>
          </a:ln>
        </p:spPr>
        <p:txBody>
          <a:bodyPr/>
          <a:lstStyle/>
          <a:p>
            <a:r>
              <a:rPr lang="zh-CN" altLang="en-US" sz="3200" dirty="0">
                <a:latin typeface="华文新魏" panose="02010800040101010101" pitchFamily="2" charset="-122"/>
                <a:ea typeface="华文新魏" panose="02010800040101010101" pitchFamily="2" charset="-122"/>
              </a:rPr>
              <a:t>紫外吸收光谱的原理</a:t>
            </a:r>
          </a:p>
        </p:txBody>
      </p:sp>
      <p:sp>
        <p:nvSpPr>
          <p:cNvPr id="4" name="内容占位符 3"/>
          <p:cNvSpPr>
            <a:spLocks noGrp="1"/>
          </p:cNvSpPr>
          <p:nvPr>
            <p:ph idx="1"/>
          </p:nvPr>
        </p:nvSpPr>
        <p:spPr>
          <a:xfrm>
            <a:off x="534380" y="1720840"/>
            <a:ext cx="8075240" cy="3859518"/>
          </a:xfrm>
          <a:prstGeom prst="rect">
            <a:avLst/>
          </a:prstGeom>
        </p:spPr>
        <p:txBody>
          <a:bodyPr wrap="square">
            <a:spAutoFit/>
          </a:bodyPr>
          <a:lstStyle/>
          <a:p>
            <a:pPr>
              <a:lnSpc>
                <a:spcPct val="120000"/>
              </a:lnSpc>
              <a:spcBef>
                <a:spcPts val="0"/>
              </a:spcBef>
              <a:buFont typeface="Wingdings" panose="05000000000000000000" pitchFamily="2" charset="2"/>
              <a:buChar char="p"/>
            </a:pPr>
            <a:r>
              <a:rPr lang="zh-CN" altLang="en-US" sz="2400" dirty="0"/>
              <a:t> 分子内部的运动有转动、振动和电子运动，相应状态的能量（状态的本征值）是</a:t>
            </a:r>
            <a:r>
              <a:rPr lang="zh-CN" altLang="en-US" sz="2400" dirty="0">
                <a:hlinkClick r:id="rId2"/>
              </a:rPr>
              <a:t>量子化</a:t>
            </a:r>
            <a:r>
              <a:rPr lang="zh-CN" altLang="en-US" sz="2400" dirty="0"/>
              <a:t>的，因此分子具有</a:t>
            </a:r>
            <a:r>
              <a:rPr lang="zh-CN" altLang="en-US" sz="2400" dirty="0">
                <a:hlinkClick r:id="rId3"/>
              </a:rPr>
              <a:t>转动能级</a:t>
            </a:r>
            <a:r>
              <a:rPr lang="zh-CN" altLang="en-US" sz="2400" dirty="0"/>
              <a:t>、</a:t>
            </a:r>
            <a:r>
              <a:rPr lang="zh-CN" altLang="en-US" sz="2400" dirty="0">
                <a:hlinkClick r:id="rId4"/>
              </a:rPr>
              <a:t>振动能级</a:t>
            </a:r>
            <a:r>
              <a:rPr lang="zh-CN" altLang="en-US" sz="2400" dirty="0"/>
              <a:t>和</a:t>
            </a:r>
            <a:r>
              <a:rPr lang="zh-CN" altLang="en-US" sz="2400" dirty="0">
                <a:hlinkClick r:id="rId5"/>
              </a:rPr>
              <a:t>电子能级</a:t>
            </a:r>
            <a:r>
              <a:rPr lang="zh-CN" altLang="en-US" sz="2400" dirty="0"/>
              <a:t>。</a:t>
            </a:r>
            <a:endParaRPr lang="en-US" altLang="zh-CN" sz="2400" dirty="0"/>
          </a:p>
          <a:p>
            <a:pPr>
              <a:lnSpc>
                <a:spcPct val="120000"/>
              </a:lnSpc>
              <a:spcBef>
                <a:spcPts val="0"/>
              </a:spcBef>
              <a:buFont typeface="Wingdings" panose="05000000000000000000" pitchFamily="2" charset="2"/>
              <a:buChar char="p"/>
            </a:pPr>
            <a:r>
              <a:rPr lang="en-US" altLang="zh-CN" sz="2400" baseline="30000" dirty="0"/>
              <a:t> </a:t>
            </a:r>
            <a:r>
              <a:rPr lang="zh-CN" altLang="en-US" sz="2400" dirty="0"/>
              <a:t>紫外吸收光谱是由于分子中价电子的跃迁而产生的，也可以称它为</a:t>
            </a:r>
            <a:r>
              <a:rPr lang="zh-CN" altLang="en-US" sz="2400" dirty="0">
                <a:hlinkClick r:id="rId6"/>
              </a:rPr>
              <a:t>电子光谱</a:t>
            </a:r>
            <a:r>
              <a:rPr lang="zh-CN" altLang="en-US" sz="2400" dirty="0"/>
              <a:t>。</a:t>
            </a:r>
            <a:endParaRPr lang="en-US" altLang="zh-CN" sz="2400" dirty="0"/>
          </a:p>
          <a:p>
            <a:pPr>
              <a:lnSpc>
                <a:spcPct val="120000"/>
              </a:lnSpc>
              <a:spcBef>
                <a:spcPts val="0"/>
              </a:spcBef>
              <a:buFont typeface="Wingdings" panose="05000000000000000000" pitchFamily="2" charset="2"/>
              <a:buChar char="p"/>
            </a:pPr>
            <a:r>
              <a:rPr lang="zh-CN" altLang="en-US" sz="2400" dirty="0"/>
              <a:t>紫外吸收光谱可用于结构鉴定和定量分析</a:t>
            </a:r>
            <a:endParaRPr lang="en-US" altLang="zh-CN" sz="2400" dirty="0"/>
          </a:p>
          <a:p>
            <a:pPr>
              <a:lnSpc>
                <a:spcPct val="120000"/>
              </a:lnSpc>
              <a:spcBef>
                <a:spcPts val="0"/>
              </a:spcBef>
              <a:buFont typeface="Wingdings" pitchFamily="2" charset="2"/>
              <a:buChar char="Ø"/>
            </a:pPr>
            <a:endParaRPr lang="en-US" altLang="zh-CN" sz="2000" dirty="0"/>
          </a:p>
          <a:p>
            <a:pPr>
              <a:lnSpc>
                <a:spcPct val="120000"/>
              </a:lnSpc>
              <a:spcBef>
                <a:spcPts val="0"/>
              </a:spcBef>
              <a:buFont typeface="Wingdings" pitchFamily="2" charset="2"/>
              <a:buChar char="Ø"/>
            </a:pPr>
            <a:endParaRPr lang="en-US" altLang="zh-CN" sz="2000" dirty="0"/>
          </a:p>
          <a:p>
            <a:pPr>
              <a:lnSpc>
                <a:spcPct val="120000"/>
              </a:lnSpc>
              <a:spcBef>
                <a:spcPts val="0"/>
              </a:spcBef>
              <a:buFont typeface="Wingdings" pitchFamily="2" charset="2"/>
              <a:buChar char="Ø"/>
            </a:pP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down)">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DEC2F1F-616A-4DA7-B40B-53EC088B6217}"/>
              </a:ext>
            </a:extLst>
          </p:cNvPr>
          <p:cNvSpPr>
            <a:spLocks noGrp="1"/>
          </p:cNvSpPr>
          <p:nvPr>
            <p:ph idx="1"/>
          </p:nvPr>
        </p:nvSpPr>
        <p:spPr>
          <a:xfrm>
            <a:off x="457200" y="1600200"/>
            <a:ext cx="7931224" cy="4525963"/>
          </a:xfrm>
        </p:spPr>
        <p:txBody>
          <a:bodyPr/>
          <a:lstStyle/>
          <a:p>
            <a:r>
              <a:rPr lang="pt-BR" altLang="zh-CN" dirty="0"/>
              <a:t>ΔE=hν=h×c/λ</a:t>
            </a:r>
            <a:endParaRPr lang="en-US" altLang="zh-CN" dirty="0"/>
          </a:p>
          <a:p>
            <a:pPr lvl="1"/>
            <a:r>
              <a:rPr lang="zh-CN" altLang="en-US" dirty="0">
                <a:latin typeface="Calibri" panose="020F0502020204030204" pitchFamily="34" charset="0"/>
                <a:cs typeface="Calibri" panose="020F0502020204030204" pitchFamily="34" charset="0"/>
              </a:rPr>
              <a:t>式中</a:t>
            </a:r>
            <a:r>
              <a:rPr lang="en-US" altLang="zh-CN" dirty="0">
                <a:latin typeface="Calibri" panose="020F0502020204030204" pitchFamily="34" charset="0"/>
                <a:cs typeface="Calibri" panose="020F0502020204030204" pitchFamily="34" charset="0"/>
              </a:rPr>
              <a:t>h</a:t>
            </a:r>
            <a:r>
              <a:rPr lang="zh-CN" altLang="en-US" dirty="0">
                <a:latin typeface="Calibri" panose="020F0502020204030204" pitchFamily="34" charset="0"/>
                <a:cs typeface="Calibri" panose="020F0502020204030204" pitchFamily="34" charset="0"/>
              </a:rPr>
              <a:t>是</a:t>
            </a:r>
            <a:r>
              <a:rPr lang="zh-CN" altLang="en-US" u="sng" dirty="0">
                <a:latin typeface="Calibri" panose="020F0502020204030204" pitchFamily="34" charset="0"/>
                <a:cs typeface="Calibri" panose="020F0502020204030204" pitchFamily="34" charset="0"/>
                <a:hlinkClick r:id="rId2"/>
              </a:rPr>
              <a:t>普朗克常量</a:t>
            </a:r>
            <a:r>
              <a:rPr lang="zh-CN" altLang="en-US" dirty="0">
                <a:latin typeface="Calibri" panose="020F0502020204030204" pitchFamily="34" charset="0"/>
                <a:cs typeface="Calibri" panose="020F0502020204030204" pitchFamily="34" charset="0"/>
              </a:rPr>
              <a:t>，为</a:t>
            </a:r>
            <a:r>
              <a:rPr lang="en-US" altLang="zh-CN" dirty="0">
                <a:latin typeface="Calibri" panose="020F0502020204030204" pitchFamily="34" charset="0"/>
                <a:cs typeface="Calibri" panose="020F0502020204030204" pitchFamily="34" charset="0"/>
              </a:rPr>
              <a:t>6.624×10⁻³⁴J·s=4.136×10⁻¹⁵ </a:t>
            </a:r>
            <a:r>
              <a:rPr lang="en-US" altLang="zh-CN" dirty="0" err="1">
                <a:latin typeface="Calibri" panose="020F0502020204030204" pitchFamily="34" charset="0"/>
                <a:cs typeface="Calibri" panose="020F0502020204030204" pitchFamily="34" charset="0"/>
              </a:rPr>
              <a:t>eV·s</a:t>
            </a:r>
            <a:r>
              <a:rPr lang="zh-CN" altLang="en-US" dirty="0">
                <a:latin typeface="Calibri" panose="020F0502020204030204" pitchFamily="34" charset="0"/>
                <a:cs typeface="Calibri" panose="020F0502020204030204" pitchFamily="34" charset="0"/>
              </a:rPr>
              <a:t>；</a:t>
            </a:r>
            <a:r>
              <a:rPr lang="en-US" altLang="zh-CN" dirty="0">
                <a:latin typeface="Calibri" panose="020F0502020204030204" pitchFamily="34" charset="0"/>
                <a:cs typeface="Calibri" panose="020F0502020204030204" pitchFamily="34" charset="0"/>
              </a:rPr>
              <a:t>c</a:t>
            </a:r>
            <a:r>
              <a:rPr lang="zh-CN" altLang="en-US" dirty="0">
                <a:latin typeface="Calibri" panose="020F0502020204030204" pitchFamily="34" charset="0"/>
                <a:cs typeface="Calibri" panose="020F0502020204030204" pitchFamily="34" charset="0"/>
              </a:rPr>
              <a:t>是</a:t>
            </a:r>
            <a:r>
              <a:rPr lang="zh-CN" altLang="en-US" dirty="0">
                <a:latin typeface="Calibri" panose="020F0502020204030204" pitchFamily="34" charset="0"/>
                <a:cs typeface="Calibri" panose="020F0502020204030204" pitchFamily="34" charset="0"/>
                <a:hlinkClick r:id="rId3"/>
              </a:rPr>
              <a:t>光速</a:t>
            </a:r>
            <a:r>
              <a:rPr lang="zh-CN" altLang="en-US" dirty="0">
                <a:latin typeface="Calibri" panose="020F0502020204030204" pitchFamily="34" charset="0"/>
                <a:cs typeface="Calibri" panose="020F0502020204030204" pitchFamily="34" charset="0"/>
              </a:rPr>
              <a:t>，为</a:t>
            </a:r>
            <a:r>
              <a:rPr lang="en-US" altLang="zh-CN" dirty="0">
                <a:latin typeface="Calibri" panose="020F0502020204030204" pitchFamily="34" charset="0"/>
                <a:cs typeface="Calibri" panose="020F0502020204030204" pitchFamily="34" charset="0"/>
              </a:rPr>
              <a:t>2. 998×10¹⁰ cm/s</a:t>
            </a:r>
            <a:r>
              <a:rPr lang="zh-CN" altLang="en-US" dirty="0">
                <a:latin typeface="Calibri" panose="020F0502020204030204" pitchFamily="34" charset="0"/>
                <a:cs typeface="Calibri" panose="020F0502020204030204" pitchFamily="34" charset="0"/>
              </a:rPr>
              <a:t>。应用该公式可以计算出</a:t>
            </a:r>
            <a:r>
              <a:rPr lang="zh-CN" altLang="en-US" dirty="0">
                <a:latin typeface="Calibri" panose="020F0502020204030204" pitchFamily="34" charset="0"/>
                <a:cs typeface="Calibri" panose="020F0502020204030204" pitchFamily="34" charset="0"/>
                <a:hlinkClick r:id="rId4"/>
              </a:rPr>
              <a:t>电子跃迁</a:t>
            </a:r>
            <a:r>
              <a:rPr lang="zh-CN" altLang="en-US" dirty="0">
                <a:latin typeface="Calibri" panose="020F0502020204030204" pitchFamily="34" charset="0"/>
                <a:cs typeface="Calibri" panose="020F0502020204030204" pitchFamily="34" charset="0"/>
              </a:rPr>
              <a:t>时吸收光的波长</a:t>
            </a:r>
            <a:r>
              <a:rPr lang="zh-CN" altLang="en-US" dirty="0"/>
              <a:t>。</a:t>
            </a:r>
            <a:endParaRPr lang="en-US" altLang="zh-CN" dirty="0"/>
          </a:p>
          <a:p>
            <a:pPr lvl="1"/>
            <a:r>
              <a:rPr lang="zh-CN" altLang="en-US" dirty="0">
                <a:solidFill>
                  <a:schemeClr val="accent2">
                    <a:lumMod val="60000"/>
                    <a:lumOff val="40000"/>
                  </a:schemeClr>
                </a:solidFill>
                <a:latin typeface="Calibri" panose="020F0502020204030204" pitchFamily="34" charset="0"/>
                <a:cs typeface="Calibri" panose="020F0502020204030204" pitchFamily="34" charset="0"/>
              </a:rPr>
              <a:t>紫外光度：电子能级的跃迁所需</a:t>
            </a:r>
            <a:r>
              <a:rPr lang="zh-CN" altLang="en-US" dirty="0">
                <a:solidFill>
                  <a:schemeClr val="accent2">
                    <a:lumMod val="60000"/>
                    <a:lumOff val="40000"/>
                  </a:schemeClr>
                </a:solidFill>
                <a:latin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能量</a:t>
            </a:r>
            <a:r>
              <a:rPr lang="zh-CN" altLang="en-US" dirty="0">
                <a:solidFill>
                  <a:schemeClr val="accent2">
                    <a:lumMod val="60000"/>
                    <a:lumOff val="40000"/>
                  </a:schemeClr>
                </a:solidFill>
                <a:latin typeface="Calibri" panose="020F0502020204030204" pitchFamily="34" charset="0"/>
                <a:cs typeface="Calibri" panose="020F0502020204030204" pitchFamily="34" charset="0"/>
              </a:rPr>
              <a:t>大致在</a:t>
            </a:r>
            <a:r>
              <a:rPr lang="en-US" altLang="zh-CN" dirty="0">
                <a:solidFill>
                  <a:schemeClr val="accent2">
                    <a:lumMod val="60000"/>
                    <a:lumOff val="40000"/>
                  </a:schemeClr>
                </a:solidFill>
                <a:latin typeface="Calibri" panose="020F0502020204030204" pitchFamily="34" charset="0"/>
                <a:cs typeface="Calibri" panose="020F0502020204030204" pitchFamily="34" charset="0"/>
              </a:rPr>
              <a:t>1</a:t>
            </a:r>
            <a:r>
              <a:rPr lang="zh-CN" altLang="en-US" dirty="0">
                <a:solidFill>
                  <a:schemeClr val="accent2">
                    <a:lumMod val="60000"/>
                    <a:lumOff val="40000"/>
                  </a:schemeClr>
                </a:solidFill>
                <a:latin typeface="Calibri" panose="020F0502020204030204" pitchFamily="34" charset="0"/>
                <a:cs typeface="Calibri" panose="020F0502020204030204" pitchFamily="34" charset="0"/>
              </a:rPr>
              <a:t>～</a:t>
            </a:r>
            <a:r>
              <a:rPr lang="en-US" altLang="zh-CN" dirty="0">
                <a:solidFill>
                  <a:schemeClr val="accent2">
                    <a:lumMod val="60000"/>
                    <a:lumOff val="40000"/>
                  </a:schemeClr>
                </a:solidFill>
                <a:latin typeface="Calibri" panose="020F0502020204030204" pitchFamily="34" charset="0"/>
                <a:cs typeface="Calibri" panose="020F0502020204030204" pitchFamily="34" charset="0"/>
              </a:rPr>
              <a:t>20 eV(</a:t>
            </a:r>
            <a:r>
              <a:rPr lang="zh-CN" altLang="en-US" dirty="0">
                <a:solidFill>
                  <a:schemeClr val="accent2">
                    <a:lumMod val="60000"/>
                    <a:lumOff val="40000"/>
                  </a:schemeClr>
                </a:solidFill>
                <a:latin typeface="Calibri" panose="020F0502020204030204" pitchFamily="34" charset="0"/>
                <a:cs typeface="Calibri" panose="020F0502020204030204" pitchFamily="34" charset="0"/>
              </a:rPr>
              <a:t>电子伏特）之间。</a:t>
            </a:r>
            <a:endParaRPr lang="en-US" altLang="zh-CN" dirty="0">
              <a:solidFill>
                <a:schemeClr val="accent2">
                  <a:lumMod val="60000"/>
                  <a:lumOff val="40000"/>
                </a:schemeClr>
              </a:solidFill>
              <a:latin typeface="Calibri" panose="020F0502020204030204" pitchFamily="34" charset="0"/>
              <a:cs typeface="Calibri" panose="020F0502020204030204" pitchFamily="34" charset="0"/>
            </a:endParaRPr>
          </a:p>
          <a:p>
            <a:pPr lvl="1"/>
            <a:r>
              <a:rPr lang="zh-CN" altLang="en-US" dirty="0"/>
              <a:t>紫外吸收光谱和可见吸收光谱都属于</a:t>
            </a:r>
            <a:r>
              <a:rPr lang="zh-CN" altLang="en-US" u="sng" dirty="0">
                <a:hlinkClick r:id="rId6"/>
              </a:rPr>
              <a:t>分子光谱</a:t>
            </a:r>
            <a:r>
              <a:rPr lang="zh-CN" altLang="en-US" u="sng" dirty="0"/>
              <a:t>。</a:t>
            </a:r>
            <a:r>
              <a:rPr lang="zh-CN" altLang="en-US" dirty="0">
                <a:cs typeface="+mn-cs"/>
              </a:rPr>
              <a:t>许多分子中的价电子跃迁，须吸收波长在</a:t>
            </a:r>
            <a:r>
              <a:rPr lang="en-US" altLang="zh-CN" dirty="0">
                <a:cs typeface="+mn-cs"/>
              </a:rPr>
              <a:t>200</a:t>
            </a:r>
            <a:r>
              <a:rPr lang="zh-CN" altLang="en-US" dirty="0">
                <a:cs typeface="+mn-cs"/>
              </a:rPr>
              <a:t>～</a:t>
            </a:r>
            <a:r>
              <a:rPr lang="en-US" altLang="zh-CN" dirty="0">
                <a:cs typeface="+mn-cs"/>
              </a:rPr>
              <a:t>1000 nm</a:t>
            </a:r>
            <a:r>
              <a:rPr lang="zh-CN" altLang="en-US" dirty="0">
                <a:cs typeface="+mn-cs"/>
              </a:rPr>
              <a:t>范围内的光，恰好落在紫外</a:t>
            </a:r>
            <a:r>
              <a:rPr lang="en-US" altLang="zh-CN" dirty="0">
                <a:cs typeface="+mn-cs"/>
              </a:rPr>
              <a:t>-</a:t>
            </a:r>
            <a:r>
              <a:rPr lang="zh-CN" altLang="en-US" dirty="0">
                <a:cs typeface="+mn-cs"/>
              </a:rPr>
              <a:t>可见光区域。因此，紫外吸收光谱是由于分子中价电子的跃迁而产生的，也可以称它为</a:t>
            </a:r>
            <a:r>
              <a:rPr lang="zh-CN" altLang="en-US" dirty="0">
                <a:hlinkClick r:id="rId7"/>
              </a:rPr>
              <a:t>电子光谱</a:t>
            </a:r>
            <a:r>
              <a:rPr lang="zh-CN" altLang="en-US" dirty="0"/>
              <a:t>。</a:t>
            </a:r>
            <a:endParaRPr lang="en-US" altLang="zh-CN" dirty="0"/>
          </a:p>
          <a:p>
            <a:pPr lvl="1"/>
            <a:endParaRPr lang="zh-CN" altLang="en-US" dirty="0"/>
          </a:p>
        </p:txBody>
      </p:sp>
      <p:sp>
        <p:nvSpPr>
          <p:cNvPr id="6" name="标题 1">
            <a:extLst>
              <a:ext uri="{FF2B5EF4-FFF2-40B4-BE49-F238E27FC236}">
                <a16:creationId xmlns:a16="http://schemas.microsoft.com/office/drawing/2014/main" id="{6C1C2998-3945-48D0-A300-D079FFAEAD15}"/>
              </a:ext>
            </a:extLst>
          </p:cNvPr>
          <p:cNvSpPr>
            <a:spLocks noGrp="1"/>
          </p:cNvSpPr>
          <p:nvPr>
            <p:ph type="title"/>
          </p:nvPr>
        </p:nvSpPr>
        <p:spPr>
          <a:xfrm>
            <a:off x="1475656" y="369366"/>
            <a:ext cx="6275040" cy="724942"/>
          </a:xfrm>
          <a:ln w="15875">
            <a:solidFill>
              <a:schemeClr val="tx1"/>
            </a:solidFill>
          </a:ln>
        </p:spPr>
        <p:txBody>
          <a:bodyPr/>
          <a:lstStyle/>
          <a:p>
            <a:r>
              <a:rPr lang="zh-CN" altLang="en-US" sz="3200" dirty="0">
                <a:latin typeface="华文新魏" panose="02010800040101010101" pitchFamily="2" charset="-122"/>
                <a:ea typeface="华文新魏" panose="02010800040101010101" pitchFamily="2" charset="-122"/>
              </a:rPr>
              <a:t>紫外吸收光谱的原理</a:t>
            </a:r>
          </a:p>
        </p:txBody>
      </p:sp>
    </p:spTree>
    <p:extLst>
      <p:ext uri="{BB962C8B-B14F-4D97-AF65-F5344CB8AC3E}">
        <p14:creationId xmlns:p14="http://schemas.microsoft.com/office/powerpoint/2010/main" val="93027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B445E-3D22-468A-B34A-7DAFB0F570AF}"/>
              </a:ext>
            </a:extLst>
          </p:cNvPr>
          <p:cNvSpPr>
            <a:spLocks noGrp="1"/>
          </p:cNvSpPr>
          <p:nvPr>
            <p:ph type="title"/>
          </p:nvPr>
        </p:nvSpPr>
        <p:spPr>
          <a:xfrm>
            <a:off x="1475656" y="476672"/>
            <a:ext cx="6059016" cy="720080"/>
          </a:xfrm>
          <a:ln w="15875">
            <a:solidFill>
              <a:schemeClr val="tx1"/>
            </a:solidFill>
          </a:ln>
        </p:spPr>
        <p:txBody>
          <a:bodyPr/>
          <a:lstStyle/>
          <a:p>
            <a:r>
              <a:rPr lang="zh-CN" altLang="en-US" sz="3200" dirty="0">
                <a:latin typeface="华文新魏" panose="02010800040101010101" pitchFamily="2" charset="-122"/>
                <a:ea typeface="华文新魏" panose="02010800040101010101" pitchFamily="2" charset="-122"/>
              </a:rPr>
              <a:t>那么红外光谱，</a:t>
            </a:r>
            <a:r>
              <a:rPr lang="en-US" altLang="zh-CN" sz="3200" dirty="0">
                <a:latin typeface="华文新魏" panose="02010800040101010101" pitchFamily="2" charset="-122"/>
                <a:ea typeface="华文新魏" panose="02010800040101010101" pitchFamily="2" charset="-122"/>
              </a:rPr>
              <a:t>XPS</a:t>
            </a:r>
            <a:r>
              <a:rPr lang="zh-CN" altLang="en-US" sz="3200" dirty="0">
                <a:latin typeface="华文新魏" panose="02010800040101010101" pitchFamily="2" charset="-122"/>
                <a:ea typeface="华文新魏" panose="02010800040101010101" pitchFamily="2" charset="-122"/>
              </a:rPr>
              <a:t>呢？</a:t>
            </a:r>
          </a:p>
        </p:txBody>
      </p:sp>
      <p:sp>
        <p:nvSpPr>
          <p:cNvPr id="3" name="内容占位符 2">
            <a:extLst>
              <a:ext uri="{FF2B5EF4-FFF2-40B4-BE49-F238E27FC236}">
                <a16:creationId xmlns:a16="http://schemas.microsoft.com/office/drawing/2014/main" id="{12E5A181-0822-4A74-9402-343FE17953B2}"/>
              </a:ext>
            </a:extLst>
          </p:cNvPr>
          <p:cNvSpPr>
            <a:spLocks noGrp="1"/>
          </p:cNvSpPr>
          <p:nvPr>
            <p:ph idx="1"/>
          </p:nvPr>
        </p:nvSpPr>
        <p:spPr/>
        <p:txBody>
          <a:bodyPr/>
          <a:lstStyle/>
          <a:p>
            <a:r>
              <a:rPr lang="en-US" altLang="zh-CN" dirty="0"/>
              <a:t>XPS</a:t>
            </a:r>
            <a:r>
              <a:rPr lang="zh-CN" altLang="en-US" dirty="0"/>
              <a:t>：</a:t>
            </a:r>
            <a:r>
              <a:rPr lang="zh-CN" altLang="en-US" sz="2400" dirty="0"/>
              <a:t>用</a:t>
            </a:r>
            <a:r>
              <a:rPr lang="en-US" altLang="zh-CN" sz="2400" dirty="0"/>
              <a:t>X</a:t>
            </a:r>
            <a:r>
              <a:rPr lang="zh-CN" altLang="en-US" sz="2400" dirty="0"/>
              <a:t>射线去辐射样品，使原子或分子的内层电子或价电子受激发射出来。被光子激发出来的电子称为光电子。可以测量光电子的能量，以光电子的动能</a:t>
            </a:r>
            <a:r>
              <a:rPr lang="en-US" altLang="zh-CN" sz="2400" dirty="0"/>
              <a:t>/</a:t>
            </a:r>
            <a:r>
              <a:rPr lang="zh-CN" altLang="en-US" sz="2400" dirty="0"/>
              <a:t>束缚能 </a:t>
            </a:r>
            <a:r>
              <a:rPr lang="en-US" altLang="zh-CN" sz="2400" dirty="0"/>
              <a:t>binding energy,(Eb=</a:t>
            </a:r>
            <a:r>
              <a:rPr lang="en-US" altLang="zh-CN" sz="2400" dirty="0" err="1"/>
              <a:t>hv</a:t>
            </a:r>
            <a:r>
              <a:rPr lang="zh-CN" altLang="en-US" sz="2400" dirty="0"/>
              <a:t>光能量</a:t>
            </a:r>
            <a:r>
              <a:rPr lang="en-US" altLang="zh-CN" sz="2400" dirty="0"/>
              <a:t>-</a:t>
            </a:r>
            <a:r>
              <a:rPr lang="en-US" altLang="zh-CN" sz="2400" dirty="0" err="1"/>
              <a:t>Ek</a:t>
            </a:r>
            <a:r>
              <a:rPr lang="zh-CN" altLang="en-US" sz="2400" dirty="0"/>
              <a:t>动能</a:t>
            </a:r>
            <a:r>
              <a:rPr lang="en-US" altLang="zh-CN" sz="2400" dirty="0"/>
              <a:t>-W</a:t>
            </a:r>
            <a:r>
              <a:rPr lang="zh-CN" altLang="en-US" sz="2400" dirty="0"/>
              <a:t>功函数</a:t>
            </a:r>
            <a:r>
              <a:rPr lang="en-US" altLang="zh-CN" sz="2400" dirty="0"/>
              <a:t>)</a:t>
            </a:r>
            <a:r>
              <a:rPr lang="zh-CN" altLang="en-US" sz="2400" dirty="0"/>
              <a:t>为横坐标，相对强度（脉冲</a:t>
            </a:r>
            <a:r>
              <a:rPr lang="en-US" altLang="zh-CN" sz="2400" dirty="0"/>
              <a:t>/s</a:t>
            </a:r>
            <a:r>
              <a:rPr lang="zh-CN" altLang="en-US" sz="2400" dirty="0"/>
              <a:t>）为纵坐标可做出光电子能谱图。从而获得试样有关信息。</a:t>
            </a:r>
            <a:endParaRPr lang="en-US" altLang="zh-CN" sz="2400" dirty="0"/>
          </a:p>
          <a:p>
            <a:r>
              <a:rPr lang="zh-CN" altLang="en-US" dirty="0"/>
              <a:t>红外光谱：</a:t>
            </a:r>
            <a:r>
              <a:rPr lang="zh-CN" altLang="en-US" sz="2400" dirty="0"/>
              <a:t>红外光谱是分子能选择性吸收某些波长的红外线</a:t>
            </a:r>
            <a:r>
              <a:rPr lang="en-US" altLang="zh-CN" sz="2400" dirty="0"/>
              <a:t>,</a:t>
            </a:r>
            <a:r>
              <a:rPr lang="zh-CN" altLang="en-US" sz="2400" dirty="0"/>
              <a:t>而引起分子中振动能级和转动能级的跃迁，检测红外线被吸收的情况可得到物质的红外吸收光谱，又称分子振动光谱或振转光谱。</a:t>
            </a:r>
            <a:endParaRPr lang="zh-CN" altLang="en-US" dirty="0"/>
          </a:p>
        </p:txBody>
      </p:sp>
    </p:spTree>
    <p:extLst>
      <p:ext uri="{BB962C8B-B14F-4D97-AF65-F5344CB8AC3E}">
        <p14:creationId xmlns:p14="http://schemas.microsoft.com/office/powerpoint/2010/main" val="1245150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251520" y="1196752"/>
            <a:ext cx="8286808" cy="2308324"/>
          </a:xfrm>
          <a:prstGeom prst="rect">
            <a:avLst/>
          </a:prstGeom>
        </p:spPr>
        <p:txBody>
          <a:bodyPr wrap="square">
            <a:spAutoFit/>
          </a:bodyPr>
          <a:lstStyle/>
          <a:p>
            <a:pPr>
              <a:lnSpc>
                <a:spcPct val="120000"/>
              </a:lnSpc>
              <a:spcBef>
                <a:spcPts val="0"/>
              </a:spcBef>
              <a:buFont typeface="Wingdings" pitchFamily="2" charset="2"/>
              <a:buChar char="Ø"/>
            </a:pPr>
            <a:r>
              <a:rPr lang="zh-CN" altLang="en-US" sz="2000" b="1" dirty="0"/>
              <a:t> 朗博比尔</a:t>
            </a:r>
            <a:r>
              <a:rPr lang="en-US" altLang="zh-CN" sz="2000" dirty="0"/>
              <a:t>(Lambert)-</a:t>
            </a:r>
            <a:r>
              <a:rPr lang="zh-CN" altLang="en-US" sz="2000" b="1" dirty="0"/>
              <a:t> </a:t>
            </a:r>
            <a:r>
              <a:rPr lang="en-US" altLang="zh-CN" sz="2000" dirty="0"/>
              <a:t>(Beer)</a:t>
            </a:r>
            <a:r>
              <a:rPr lang="zh-CN" altLang="en-US" sz="2000" dirty="0"/>
              <a:t>定律</a:t>
            </a:r>
            <a:r>
              <a:rPr lang="en-US" altLang="zh-CN" sz="2000" dirty="0"/>
              <a:t>: I</a:t>
            </a:r>
            <a:r>
              <a:rPr lang="en-US" altLang="zh-CN" sz="2000" baseline="-25000" dirty="0"/>
              <a:t>1</a:t>
            </a:r>
            <a:r>
              <a:rPr lang="en-US" altLang="zh-CN" sz="2000" dirty="0"/>
              <a:t>=I</a:t>
            </a:r>
            <a:r>
              <a:rPr lang="en-US" altLang="zh-CN" sz="2000" baseline="-25000" dirty="0"/>
              <a:t>0</a:t>
            </a:r>
            <a:r>
              <a:rPr lang="zh-CN" altLang="en-US" sz="2000" dirty="0"/>
              <a:t>*</a:t>
            </a:r>
            <a:r>
              <a:rPr lang="en-US" altLang="zh-CN" sz="2000" dirty="0"/>
              <a:t>10</a:t>
            </a:r>
            <a:r>
              <a:rPr lang="zh-CN" altLang="en-US" sz="2000" baseline="30000" dirty="0"/>
              <a:t>（</a:t>
            </a:r>
            <a:r>
              <a:rPr lang="en-US" altLang="zh-CN" sz="2000" baseline="30000" dirty="0"/>
              <a:t>-</a:t>
            </a:r>
            <a:r>
              <a:rPr lang="el-GR" altLang="zh-CN" sz="2000" baseline="30000" dirty="0"/>
              <a:t>ε</a:t>
            </a:r>
            <a:r>
              <a:rPr lang="en-US" altLang="zh-CN" sz="2000" baseline="30000" dirty="0" err="1"/>
              <a:t>lc</a:t>
            </a:r>
            <a:r>
              <a:rPr lang="zh-CN" altLang="en-US" sz="2000" baseline="30000" dirty="0"/>
              <a:t>）</a:t>
            </a:r>
            <a:r>
              <a:rPr lang="zh-CN" altLang="en-US" sz="2000" b="1" dirty="0">
                <a:ln>
                  <a:solidFill>
                    <a:schemeClr val="accent1"/>
                  </a:solidFill>
                </a:ln>
              </a:rPr>
              <a:t>当溶液中的物质浓度和显色强度成正比时，可以通过显色强度求溶液物质浓度</a:t>
            </a:r>
            <a:r>
              <a:rPr lang="zh-CN" altLang="en-US" sz="2000" dirty="0">
                <a:ln>
                  <a:solidFill>
                    <a:schemeClr val="accent1"/>
                  </a:solidFill>
                </a:ln>
                <a:solidFill>
                  <a:schemeClr val="accent6"/>
                </a:solidFill>
              </a:rPr>
              <a:t>。</a:t>
            </a:r>
            <a:endParaRPr lang="en-US" altLang="zh-CN" sz="2000" dirty="0">
              <a:ln>
                <a:solidFill>
                  <a:schemeClr val="accent1"/>
                </a:solidFill>
              </a:ln>
              <a:solidFill>
                <a:schemeClr val="accent6"/>
              </a:solidFill>
            </a:endParaRPr>
          </a:p>
          <a:p>
            <a:pPr marL="320040" lvl="1" indent="-320040">
              <a:lnSpc>
                <a:spcPct val="120000"/>
              </a:lnSpc>
              <a:spcBef>
                <a:spcPts val="0"/>
              </a:spcBef>
              <a:buClr>
                <a:schemeClr val="accent2"/>
              </a:buClr>
              <a:buSzPct val="60000"/>
              <a:buFont typeface="Wingdings"/>
              <a:buChar char=""/>
            </a:pPr>
            <a:r>
              <a:rPr lang="zh-CN" altLang="en-US" sz="2000" dirty="0"/>
              <a:t>定义</a:t>
            </a:r>
            <a:r>
              <a:rPr lang="en-US" altLang="zh-CN" sz="2000" dirty="0"/>
              <a:t>ABS=</a:t>
            </a:r>
            <a:r>
              <a:rPr lang="el-GR" altLang="zh-CN" sz="2000" dirty="0"/>
              <a:t>ε</a:t>
            </a:r>
            <a:r>
              <a:rPr lang="en-US" altLang="zh-CN" sz="2000" dirty="0" err="1"/>
              <a:t>lc</a:t>
            </a:r>
            <a:r>
              <a:rPr lang="zh-CN" altLang="en-US" sz="2000" dirty="0"/>
              <a:t>，式中</a:t>
            </a:r>
            <a:r>
              <a:rPr lang="en-US" altLang="zh-CN" sz="2000" i="1" dirty="0"/>
              <a:t>ABS</a:t>
            </a:r>
            <a:r>
              <a:rPr lang="zh-CN" altLang="en-US" sz="2000" dirty="0"/>
              <a:t>为</a:t>
            </a:r>
            <a:r>
              <a:rPr lang="zh-CN" altLang="en-US" sz="2000" dirty="0">
                <a:hlinkClick r:id="rId2"/>
              </a:rPr>
              <a:t>吸光度</a:t>
            </a:r>
            <a:r>
              <a:rPr lang="en-US" altLang="zh-CN" sz="2000" dirty="0"/>
              <a:t>=-</a:t>
            </a:r>
            <a:r>
              <a:rPr lang="en-US" altLang="zh-CN" sz="2000" dirty="0" err="1"/>
              <a:t>lg</a:t>
            </a:r>
            <a:r>
              <a:rPr lang="zh-CN" altLang="en-US" sz="2000" dirty="0"/>
              <a:t>（</a:t>
            </a:r>
            <a:r>
              <a:rPr lang="en-US" altLang="zh-CN" sz="2000" dirty="0"/>
              <a:t>I</a:t>
            </a:r>
            <a:r>
              <a:rPr lang="en-US" altLang="zh-CN" sz="2000" baseline="-25000" dirty="0"/>
              <a:t>1</a:t>
            </a:r>
            <a:r>
              <a:rPr lang="en-US" altLang="zh-CN" sz="2000" dirty="0"/>
              <a:t>/I</a:t>
            </a:r>
            <a:r>
              <a:rPr lang="en-US" altLang="zh-CN" sz="2000" baseline="-25000" dirty="0"/>
              <a:t>0</a:t>
            </a:r>
            <a:r>
              <a:rPr lang="zh-CN" altLang="en-US" sz="2000" dirty="0"/>
              <a:t>），</a:t>
            </a:r>
            <a:r>
              <a:rPr lang="en-US" altLang="zh-CN" sz="2000" dirty="0"/>
              <a:t>l</a:t>
            </a:r>
            <a:r>
              <a:rPr lang="zh-CN" altLang="en-US" sz="2000" dirty="0"/>
              <a:t>为溶液层厚度，</a:t>
            </a:r>
            <a:r>
              <a:rPr lang="en-US" altLang="zh-CN" sz="2000" i="1" dirty="0"/>
              <a:t>c</a:t>
            </a:r>
            <a:r>
              <a:rPr lang="zh-CN" altLang="en-US" sz="2000" dirty="0"/>
              <a:t>为溶液的摩尔浓度， </a:t>
            </a:r>
            <a:r>
              <a:rPr lang="el-GR" altLang="zh-CN" sz="2000" dirty="0"/>
              <a:t>ε</a:t>
            </a:r>
            <a:r>
              <a:rPr lang="zh-CN" altLang="en-US" sz="2000" dirty="0"/>
              <a:t>为摩尔吸光系数。吸光系数与溶液的本性、温度以及波长等因素有关。当固定溶液层厚度</a:t>
            </a:r>
            <a:r>
              <a:rPr lang="en-US" altLang="zh-CN" sz="2000" dirty="0"/>
              <a:t>l</a:t>
            </a:r>
            <a:r>
              <a:rPr lang="zh-CN" altLang="en-US" sz="2000" dirty="0"/>
              <a:t>和吸光系数</a:t>
            </a:r>
            <a:r>
              <a:rPr lang="el-GR" altLang="zh-CN" sz="2000" dirty="0"/>
              <a:t>ε</a:t>
            </a:r>
            <a:r>
              <a:rPr lang="zh-CN" altLang="en-US" sz="2000" dirty="0"/>
              <a:t>时，吸光度</a:t>
            </a:r>
            <a:r>
              <a:rPr lang="en-US" altLang="zh-CN" sz="2000" dirty="0"/>
              <a:t>A</a:t>
            </a:r>
            <a:r>
              <a:rPr lang="zh-CN" altLang="en-US" sz="2000" dirty="0"/>
              <a:t>与溶液的浓度成线性关系。</a:t>
            </a:r>
            <a:endParaRPr lang="en-US" altLang="zh-CN" sz="2000" dirty="0"/>
          </a:p>
        </p:txBody>
      </p:sp>
      <p:pic>
        <p:nvPicPr>
          <p:cNvPr id="70660" name="Picture 4" descr="https://ss0.bdstatic.com/94oJfD_bAAcT8t7mm9GUKT-xh_/timg?image&amp;quality=100&amp;size=b4000_4000&amp;sec=1460942240&amp;di=3388552863347d5d815819a595139e9f&amp;src=http://files.instrument.com.cn/bbs/upfile/images/20101111/201011112042502863.jpg"/>
          <p:cNvPicPr>
            <a:picLocks noChangeAspect="1" noChangeArrowheads="1"/>
          </p:cNvPicPr>
          <p:nvPr/>
        </p:nvPicPr>
        <p:blipFill>
          <a:blip r:embed="rId3" cstate="print"/>
          <a:srcRect/>
          <a:stretch>
            <a:fillRect/>
          </a:stretch>
        </p:blipFill>
        <p:spPr bwMode="auto">
          <a:xfrm>
            <a:off x="5436096" y="3429000"/>
            <a:ext cx="2952328" cy="3280365"/>
          </a:xfrm>
          <a:prstGeom prst="rect">
            <a:avLst/>
          </a:prstGeom>
          <a:noFill/>
        </p:spPr>
      </p:pic>
      <p:pic>
        <p:nvPicPr>
          <p:cNvPr id="70662" name="Picture 6" descr="http://www.instrument.com.cn/bbs/images/upfile/20097716652.jpg"/>
          <p:cNvPicPr>
            <a:picLocks noChangeAspect="1" noChangeArrowheads="1"/>
          </p:cNvPicPr>
          <p:nvPr/>
        </p:nvPicPr>
        <p:blipFill>
          <a:blip r:embed="rId4" cstate="print"/>
          <a:srcRect/>
          <a:stretch>
            <a:fillRect/>
          </a:stretch>
        </p:blipFill>
        <p:spPr bwMode="auto">
          <a:xfrm>
            <a:off x="323528" y="3476626"/>
            <a:ext cx="4905375" cy="3232740"/>
          </a:xfrm>
          <a:prstGeom prst="rect">
            <a:avLst/>
          </a:prstGeom>
          <a:noFill/>
        </p:spPr>
      </p:pic>
      <p:sp>
        <p:nvSpPr>
          <p:cNvPr id="9" name="标题 1">
            <a:extLst>
              <a:ext uri="{FF2B5EF4-FFF2-40B4-BE49-F238E27FC236}">
                <a16:creationId xmlns:a16="http://schemas.microsoft.com/office/drawing/2014/main" id="{F005D17A-8967-4F40-80A2-E1EA1F151C74}"/>
              </a:ext>
            </a:extLst>
          </p:cNvPr>
          <p:cNvSpPr>
            <a:spLocks noGrp="1"/>
          </p:cNvSpPr>
          <p:nvPr>
            <p:ph type="title"/>
          </p:nvPr>
        </p:nvSpPr>
        <p:spPr>
          <a:xfrm>
            <a:off x="1619672" y="404664"/>
            <a:ext cx="5256584" cy="699260"/>
          </a:xfrm>
          <a:ln w="15875">
            <a:solidFill>
              <a:schemeClr val="tx1"/>
            </a:solidFill>
          </a:ln>
        </p:spPr>
        <p:txBody>
          <a:bodyPr/>
          <a:lstStyle/>
          <a:p>
            <a:r>
              <a:rPr lang="zh-CN" altLang="en-US" sz="3200" dirty="0">
                <a:latin typeface="华文新魏" panose="02010800040101010101" pitchFamily="2" charset="-122"/>
                <a:ea typeface="华文新魏" panose="02010800040101010101" pitchFamily="2" charset="-122"/>
              </a:rPr>
              <a:t>紫外吸收光谱的原理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62"/>
                                        </p:tgtEl>
                                        <p:attrNameLst>
                                          <p:attrName>style.visibility</p:attrName>
                                        </p:attrNameLst>
                                      </p:cBhvr>
                                      <p:to>
                                        <p:strVal val="visible"/>
                                      </p:to>
                                    </p:set>
                                    <p:anim calcmode="lin" valueType="num">
                                      <p:cBhvr additive="base">
                                        <p:cTn id="7" dur="500" fill="hold"/>
                                        <p:tgtEl>
                                          <p:spTgt spid="70662"/>
                                        </p:tgtEl>
                                        <p:attrNameLst>
                                          <p:attrName>ppt_x</p:attrName>
                                        </p:attrNameLst>
                                      </p:cBhvr>
                                      <p:tavLst>
                                        <p:tav tm="0">
                                          <p:val>
                                            <p:strVal val="#ppt_x"/>
                                          </p:val>
                                        </p:tav>
                                        <p:tav tm="100000">
                                          <p:val>
                                            <p:strVal val="#ppt_x"/>
                                          </p:val>
                                        </p:tav>
                                      </p:tavLst>
                                    </p:anim>
                                    <p:anim calcmode="lin" valueType="num">
                                      <p:cBhvr additive="base">
                                        <p:cTn id="8" dur="500" fill="hold"/>
                                        <p:tgtEl>
                                          <p:spTgt spid="706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60"/>
                                        </p:tgtEl>
                                        <p:attrNameLst>
                                          <p:attrName>style.visibility</p:attrName>
                                        </p:attrNameLst>
                                      </p:cBhvr>
                                      <p:to>
                                        <p:strVal val="visible"/>
                                      </p:to>
                                    </p:set>
                                    <p:anim calcmode="lin" valueType="num">
                                      <p:cBhvr additive="base">
                                        <p:cTn id="13" dur="500" fill="hold"/>
                                        <p:tgtEl>
                                          <p:spTgt spid="70660"/>
                                        </p:tgtEl>
                                        <p:attrNameLst>
                                          <p:attrName>ppt_x</p:attrName>
                                        </p:attrNameLst>
                                      </p:cBhvr>
                                      <p:tavLst>
                                        <p:tav tm="0">
                                          <p:val>
                                            <p:strVal val="#ppt_x"/>
                                          </p:val>
                                        </p:tav>
                                        <p:tav tm="100000">
                                          <p:val>
                                            <p:strVal val="#ppt_x"/>
                                          </p:val>
                                        </p:tav>
                                      </p:tavLst>
                                    </p:anim>
                                    <p:anim calcmode="lin" valueType="num">
                                      <p:cBhvr additive="base">
                                        <p:cTn id="14" dur="500" fill="hold"/>
                                        <p:tgtEl>
                                          <p:spTgt spid="706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58722" name="Picture 2" descr="E:\课程\课件\课程图片\IMG_20160603_142350.jpg"/>
          <p:cNvPicPr>
            <a:picLocks noGrp="1" noChangeAspect="1" noChangeArrowheads="1"/>
          </p:cNvPicPr>
          <p:nvPr>
            <p:ph idx="1"/>
          </p:nvPr>
        </p:nvPicPr>
        <p:blipFill>
          <a:blip r:embed="rId2" cstate="print"/>
          <a:srcRect/>
          <a:stretch>
            <a:fillRect/>
          </a:stretch>
        </p:blipFill>
        <p:spPr bwMode="auto">
          <a:xfrm>
            <a:off x="3688592" y="379191"/>
            <a:ext cx="5435052" cy="5857916"/>
          </a:xfrm>
          <a:prstGeom prst="rect">
            <a:avLst/>
          </a:prstGeom>
          <a:noFill/>
        </p:spPr>
      </p:pic>
      <p:sp>
        <p:nvSpPr>
          <p:cNvPr id="5" name="矩形 4"/>
          <p:cNvSpPr/>
          <p:nvPr/>
        </p:nvSpPr>
        <p:spPr>
          <a:xfrm>
            <a:off x="19364" y="1268760"/>
            <a:ext cx="3637068" cy="4555093"/>
          </a:xfrm>
          <a:prstGeom prst="rect">
            <a:avLst/>
          </a:prstGeom>
        </p:spPr>
        <p:txBody>
          <a:bodyPr wrap="square">
            <a:spAutoFit/>
          </a:bodyPr>
          <a:lstStyle/>
          <a:p>
            <a:pPr marL="342900" indent="-342900">
              <a:spcBef>
                <a:spcPts val="600"/>
              </a:spcBef>
              <a:buFont typeface="Arial" panose="020B0604020202020204" pitchFamily="34" charset="0"/>
              <a:buChar char="•"/>
            </a:pPr>
            <a:r>
              <a:rPr lang="zh-CN" altLang="en-US" sz="2000" dirty="0"/>
              <a:t>物质的吸收光谱就是物质中的分子和原子吸收了入射光中的某些特定波长的光能量，相应地发生了分子振动能级跃迁和电子能级跃迁的</a:t>
            </a:r>
            <a:r>
              <a:rPr lang="zh-CN" altLang="en-US" sz="2000" dirty="0">
                <a:hlinkClick r:id="rId3"/>
              </a:rPr>
              <a:t>结果</a:t>
            </a:r>
            <a:r>
              <a:rPr lang="zh-CN" altLang="en-US" sz="2000" dirty="0"/>
              <a:t>。</a:t>
            </a:r>
            <a:endParaRPr lang="en-US" altLang="zh-CN" sz="2000" dirty="0"/>
          </a:p>
          <a:p>
            <a:pPr marL="342900" indent="-342900">
              <a:spcBef>
                <a:spcPts val="600"/>
              </a:spcBef>
              <a:buFont typeface="Arial" panose="020B0604020202020204" pitchFamily="34" charset="0"/>
              <a:buChar char="•"/>
            </a:pPr>
            <a:r>
              <a:rPr lang="zh-CN" altLang="en-US" sz="2000" dirty="0">
                <a:solidFill>
                  <a:schemeClr val="accent2">
                    <a:lumMod val="60000"/>
                    <a:lumOff val="40000"/>
                  </a:schemeClr>
                </a:solidFill>
              </a:rPr>
              <a:t>由于各种物质具有各自不同的分子 、原子和不同的分子空间结构，其吸收光能量的情况也就不会相同。每种物质就有其特有的、固定的吸收光谱曲线。</a:t>
            </a:r>
            <a:endParaRPr lang="en-US" altLang="zh-CN" sz="2000" dirty="0">
              <a:solidFill>
                <a:schemeClr val="accent2">
                  <a:lumMod val="60000"/>
                  <a:lumOff val="40000"/>
                </a:schemeClr>
              </a:solidFill>
            </a:endParaRPr>
          </a:p>
          <a:p>
            <a:pPr marL="342900" indent="-342900">
              <a:spcBef>
                <a:spcPts val="600"/>
              </a:spcBef>
              <a:buFont typeface="Arial" panose="020B0604020202020204" pitchFamily="34" charset="0"/>
              <a:buChar char="•"/>
            </a:pPr>
            <a:r>
              <a:rPr lang="zh-CN" altLang="en-US" sz="2000" dirty="0"/>
              <a:t>可根据吸收光谱上的某些特征波长处的吸光度的高低判别或测定该物质的</a:t>
            </a:r>
            <a:r>
              <a:rPr lang="zh-CN" altLang="en-US" sz="2000" dirty="0">
                <a:hlinkClick r:id="rId4"/>
              </a:rPr>
              <a:t>含量</a:t>
            </a:r>
            <a:r>
              <a:rPr lang="zh-CN" altLang="en-US" sz="2000"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3648" y="397588"/>
            <a:ext cx="5544616" cy="668497"/>
          </a:xfrm>
          <a:ln w="15875">
            <a:solidFill>
              <a:schemeClr val="bg2">
                <a:lumMod val="25000"/>
              </a:schemeClr>
            </a:solidFill>
          </a:ln>
        </p:spPr>
        <p:txBody>
          <a:bodyPr/>
          <a:lstStyle/>
          <a:p>
            <a:r>
              <a:rPr lang="zh-CN" altLang="en-US" sz="3200" dirty="0">
                <a:latin typeface="华文新魏" panose="02010800040101010101" pitchFamily="2" charset="-122"/>
                <a:ea typeface="华文新魏" panose="02010800040101010101" pitchFamily="2" charset="-122"/>
              </a:rPr>
              <a:t>紫外分光光度法的</a:t>
            </a:r>
            <a:r>
              <a:rPr lang="zh-CN" altLang="en-US" sz="3200" dirty="0"/>
              <a:t>灵敏度</a:t>
            </a:r>
          </a:p>
        </p:txBody>
      </p:sp>
      <p:sp>
        <p:nvSpPr>
          <p:cNvPr id="3" name="内容占位符 2"/>
          <p:cNvSpPr>
            <a:spLocks noGrp="1"/>
          </p:cNvSpPr>
          <p:nvPr>
            <p:ph idx="1"/>
          </p:nvPr>
        </p:nvSpPr>
        <p:spPr/>
        <p:txBody>
          <a:bodyPr/>
          <a:lstStyle/>
          <a:p>
            <a:pPr>
              <a:spcBef>
                <a:spcPts val="1200"/>
              </a:spcBef>
              <a:buFont typeface="Wingdings" panose="05000000000000000000" pitchFamily="2" charset="2"/>
              <a:buChar char="p"/>
            </a:pPr>
            <a:r>
              <a:rPr lang="zh-CN" altLang="en-US" dirty="0"/>
              <a:t> 磷钼蓝的摩尔吸光系数</a:t>
            </a:r>
            <a:r>
              <a:rPr lang="el-GR" altLang="zh-CN" dirty="0">
                <a:latin typeface="Arial Unicode MS"/>
                <a:ea typeface="Arial Unicode MS"/>
                <a:cs typeface="Arial Unicode MS"/>
              </a:rPr>
              <a:t>ε</a:t>
            </a:r>
            <a:r>
              <a:rPr lang="zh-CN" altLang="en-US" dirty="0"/>
              <a:t>为</a:t>
            </a:r>
            <a:r>
              <a:rPr lang="en-US" altLang="zh-CN" dirty="0"/>
              <a:t>22700L/</a:t>
            </a:r>
            <a:r>
              <a:rPr lang="zh-CN" altLang="en-US" dirty="0"/>
              <a:t>（</a:t>
            </a:r>
            <a:r>
              <a:rPr lang="en-US" altLang="zh-CN" dirty="0" err="1"/>
              <a:t>mol</a:t>
            </a:r>
            <a:r>
              <a:rPr lang="en-US" altLang="zh-CN" dirty="0" err="1">
                <a:latin typeface="Times New Roman"/>
                <a:cs typeface="Times New Roman"/>
              </a:rPr>
              <a:t>·</a:t>
            </a:r>
            <a:r>
              <a:rPr lang="en-US" altLang="zh-CN" dirty="0" err="1"/>
              <a:t>cm</a:t>
            </a:r>
            <a:r>
              <a:rPr lang="zh-CN" altLang="en-US" dirty="0"/>
              <a:t>）在</a:t>
            </a:r>
            <a:r>
              <a:rPr lang="en-US" altLang="zh-CN" dirty="0"/>
              <a:t>880nm</a:t>
            </a:r>
            <a:r>
              <a:rPr lang="zh-CN" altLang="en-US" dirty="0"/>
              <a:t>波长下</a:t>
            </a:r>
            <a:endParaRPr lang="en-US" altLang="zh-CN" dirty="0"/>
          </a:p>
          <a:p>
            <a:pPr>
              <a:spcBef>
                <a:spcPts val="1200"/>
              </a:spcBef>
              <a:buFont typeface="Wingdings" panose="05000000000000000000" pitchFamily="2" charset="2"/>
              <a:buChar char="p"/>
            </a:pPr>
            <a:r>
              <a:rPr lang="zh-CN" altLang="en-US" dirty="0"/>
              <a:t> 磷钼黄的摩尔吸光系数</a:t>
            </a:r>
            <a:r>
              <a:rPr lang="el-GR" altLang="zh-CN" dirty="0">
                <a:latin typeface="Arial Unicode MS"/>
                <a:ea typeface="Arial Unicode MS"/>
                <a:cs typeface="Arial Unicode MS"/>
              </a:rPr>
              <a:t>ε</a:t>
            </a:r>
            <a:r>
              <a:rPr lang="zh-CN" altLang="en-US" dirty="0"/>
              <a:t>为</a:t>
            </a:r>
            <a:r>
              <a:rPr lang="en-US" altLang="zh-CN" dirty="0"/>
              <a:t>1800L/</a:t>
            </a:r>
            <a:r>
              <a:rPr lang="zh-CN" altLang="en-US" dirty="0"/>
              <a:t> （</a:t>
            </a:r>
            <a:r>
              <a:rPr lang="en-US" altLang="zh-CN" dirty="0" err="1"/>
              <a:t>mol</a:t>
            </a:r>
            <a:r>
              <a:rPr lang="en-US" altLang="zh-CN" dirty="0" err="1">
                <a:cs typeface="Times New Roman"/>
              </a:rPr>
              <a:t>·</a:t>
            </a:r>
            <a:r>
              <a:rPr lang="en-US" altLang="zh-CN" dirty="0" err="1"/>
              <a:t>cm</a:t>
            </a:r>
            <a:r>
              <a:rPr lang="zh-CN" altLang="en-US" dirty="0"/>
              <a:t>）在</a:t>
            </a:r>
            <a:r>
              <a:rPr lang="en-US" altLang="zh-CN" dirty="0"/>
              <a:t>420nm</a:t>
            </a:r>
            <a:r>
              <a:rPr lang="zh-CN" altLang="en-US" dirty="0"/>
              <a:t>波长下</a:t>
            </a:r>
            <a:endParaRPr lang="en-US" altLang="zh-CN" dirty="0"/>
          </a:p>
          <a:p>
            <a:pPr>
              <a:buNone/>
            </a:pPr>
            <a:endParaRPr lang="zh-CN" altLang="en-US" dirty="0"/>
          </a:p>
        </p:txBody>
      </p:sp>
      <p:sp>
        <p:nvSpPr>
          <p:cNvPr id="4" name="矩形 3"/>
          <p:cNvSpPr/>
          <p:nvPr/>
        </p:nvSpPr>
        <p:spPr>
          <a:xfrm>
            <a:off x="575556" y="4604231"/>
            <a:ext cx="7992888" cy="1631216"/>
          </a:xfrm>
          <a:prstGeom prst="rect">
            <a:avLst/>
          </a:prstGeom>
        </p:spPr>
        <p:txBody>
          <a:bodyPr wrap="square">
            <a:spAutoFit/>
          </a:bodyPr>
          <a:lstStyle/>
          <a:p>
            <a:r>
              <a:rPr lang="zh-CN" altLang="en-US" sz="2800" dirty="0"/>
              <a:t> </a:t>
            </a:r>
            <a:r>
              <a:rPr lang="zh-CN" altLang="en-US" sz="2400" dirty="0"/>
              <a:t>测量磷钼蓝法并非一定要在</a:t>
            </a:r>
            <a:r>
              <a:rPr lang="en-US" altLang="zh-CN" sz="2400" dirty="0"/>
              <a:t>880nm</a:t>
            </a:r>
            <a:r>
              <a:rPr lang="zh-CN" altLang="en-US" sz="2400" dirty="0"/>
              <a:t>左右的波长下，在</a:t>
            </a:r>
            <a:r>
              <a:rPr lang="en-US" altLang="zh-CN" sz="2400" dirty="0"/>
              <a:t>660~700nm</a:t>
            </a:r>
            <a:r>
              <a:rPr lang="zh-CN" altLang="en-US" sz="2400" dirty="0"/>
              <a:t>下也可以测量，此时，可测量的磷钼蓝浓度范围会增加可测到的高浓度端，降低低浓度端，即降低了灵敏度。</a:t>
            </a:r>
            <a:endParaRPr lang="en-US" altLang="zh-CN" sz="2800" dirty="0"/>
          </a:p>
        </p:txBody>
      </p:sp>
      <p:sp>
        <p:nvSpPr>
          <p:cNvPr id="5" name="文本框 4">
            <a:extLst>
              <a:ext uri="{FF2B5EF4-FFF2-40B4-BE49-F238E27FC236}">
                <a16:creationId xmlns:a16="http://schemas.microsoft.com/office/drawing/2014/main" id="{97590C6F-C732-48C0-9EC7-DD15ADFA8A31}"/>
              </a:ext>
            </a:extLst>
          </p:cNvPr>
          <p:cNvSpPr txBox="1"/>
          <p:nvPr/>
        </p:nvSpPr>
        <p:spPr>
          <a:xfrm>
            <a:off x="575556" y="3540840"/>
            <a:ext cx="7992888" cy="954107"/>
          </a:xfrm>
          <a:prstGeom prst="rect">
            <a:avLst/>
          </a:prstGeom>
          <a:solidFill>
            <a:schemeClr val="accent2">
              <a:lumMod val="75000"/>
            </a:schemeClr>
          </a:solidFill>
        </p:spPr>
        <p:txBody>
          <a:bodyPr wrap="square" rtlCol="0">
            <a:spAutoFit/>
          </a:bodyPr>
          <a:lstStyle/>
          <a:p>
            <a:r>
              <a:rPr lang="en-US" altLang="zh-CN" sz="2800" dirty="0">
                <a:solidFill>
                  <a:srgbClr val="FFFF00"/>
                </a:solidFill>
              </a:rPr>
              <a:t>Question</a:t>
            </a:r>
            <a:r>
              <a:rPr lang="zh-CN" altLang="en-US" sz="2800" dirty="0">
                <a:solidFill>
                  <a:srgbClr val="FFFF00"/>
                </a:solidFill>
              </a:rPr>
              <a:t>：使用磷钼蓝法测量时，是否一定要使用其在</a:t>
            </a:r>
            <a:r>
              <a:rPr lang="en-US" altLang="zh-CN" sz="2800" dirty="0">
                <a:solidFill>
                  <a:srgbClr val="FFFF00"/>
                </a:solidFill>
              </a:rPr>
              <a:t>~880nm</a:t>
            </a:r>
            <a:r>
              <a:rPr lang="zh-CN" altLang="en-US" sz="2800" dirty="0">
                <a:solidFill>
                  <a:srgbClr val="FFFF00"/>
                </a:solidFill>
              </a:rPr>
              <a:t>的特征峰？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5656" y="366096"/>
            <a:ext cx="5915000" cy="686640"/>
          </a:xfrm>
          <a:ln w="15875">
            <a:solidFill>
              <a:schemeClr val="bg2">
                <a:lumMod val="25000"/>
              </a:schemeClr>
            </a:solidFill>
          </a:ln>
        </p:spPr>
        <p:txBody>
          <a:bodyPr/>
          <a:lstStyle/>
          <a:p>
            <a:r>
              <a:rPr lang="zh-CN" altLang="en-US" dirty="0">
                <a:latin typeface="华文新魏" panose="02010800040101010101" pitchFamily="2" charset="-122"/>
                <a:ea typeface="华文新魏" panose="02010800040101010101" pitchFamily="2" charset="-122"/>
              </a:rPr>
              <a:t>紫外分光光度法的</a:t>
            </a:r>
            <a:r>
              <a:rPr lang="zh-CN" altLang="en-US" dirty="0"/>
              <a:t>量程</a:t>
            </a:r>
          </a:p>
        </p:txBody>
      </p:sp>
      <p:sp>
        <p:nvSpPr>
          <p:cNvPr id="3" name="内容占位符 2"/>
          <p:cNvSpPr>
            <a:spLocks noGrp="1"/>
          </p:cNvSpPr>
          <p:nvPr>
            <p:ph idx="1"/>
          </p:nvPr>
        </p:nvSpPr>
        <p:spPr>
          <a:xfrm>
            <a:off x="457200" y="1357298"/>
            <a:ext cx="8229600" cy="4768865"/>
          </a:xfrm>
        </p:spPr>
        <p:txBody>
          <a:bodyPr/>
          <a:lstStyle/>
          <a:p>
            <a:r>
              <a:rPr lang="zh-CN" altLang="en-US" dirty="0"/>
              <a:t>正常情况下的量程（摩尔吸光系数为</a:t>
            </a:r>
            <a:r>
              <a:rPr lang="en-US" altLang="zh-CN" dirty="0"/>
              <a:t>22700L/mol cm</a:t>
            </a:r>
            <a:r>
              <a:rPr lang="zh-CN" altLang="en-US" dirty="0"/>
              <a:t>在</a:t>
            </a:r>
            <a:r>
              <a:rPr lang="en-US" altLang="zh-CN" dirty="0"/>
              <a:t>880nm</a:t>
            </a:r>
            <a:r>
              <a:rPr lang="zh-CN" altLang="en-US" dirty="0"/>
              <a:t>波长下）</a:t>
            </a:r>
            <a:endParaRPr lang="en-US" altLang="zh-CN" dirty="0"/>
          </a:p>
          <a:p>
            <a:pPr lvl="1"/>
            <a:r>
              <a:rPr lang="zh-CN" altLang="en-US" dirty="0"/>
              <a:t>在较好的紫外光光度计上，可测到的最低吸光度值大概是</a:t>
            </a:r>
            <a:r>
              <a:rPr lang="en-US" altLang="zh-CN" dirty="0"/>
              <a:t>0.002</a:t>
            </a:r>
            <a:r>
              <a:rPr lang="zh-CN" altLang="en-US" dirty="0"/>
              <a:t>，因此，测量磷钼蓝的最低限度就是用比色皿长</a:t>
            </a:r>
            <a:r>
              <a:rPr lang="en-US" altLang="zh-CN" dirty="0"/>
              <a:t>10cm</a:t>
            </a:r>
            <a:r>
              <a:rPr lang="zh-CN" altLang="en-US" dirty="0"/>
              <a:t>测到的</a:t>
            </a:r>
            <a:r>
              <a:rPr lang="en-US" altLang="zh-CN" dirty="0"/>
              <a:t>c=0.002/(0.0227</a:t>
            </a:r>
            <a:r>
              <a:rPr lang="zh-CN" altLang="en-US" dirty="0"/>
              <a:t>*</a:t>
            </a:r>
            <a:r>
              <a:rPr lang="en-US" altLang="zh-CN" dirty="0"/>
              <a:t>10)</a:t>
            </a:r>
            <a:r>
              <a:rPr lang="zh-CN" altLang="en-US" dirty="0"/>
              <a:t>≈</a:t>
            </a:r>
            <a:r>
              <a:rPr lang="en-US" altLang="zh-CN" dirty="0"/>
              <a:t>0.01µmol</a:t>
            </a:r>
          </a:p>
          <a:p>
            <a:pPr lvl="1"/>
            <a:r>
              <a:rPr lang="zh-CN" altLang="en-US" dirty="0"/>
              <a:t>最大值</a:t>
            </a:r>
            <a:r>
              <a:rPr lang="en-US" altLang="zh-CN" dirty="0"/>
              <a:t>~28µmol</a:t>
            </a:r>
            <a:r>
              <a:rPr lang="zh-CN" altLang="en-US" dirty="0"/>
              <a:t>，即用</a:t>
            </a:r>
            <a:r>
              <a:rPr lang="en-US" altLang="zh-CN" dirty="0"/>
              <a:t>1cm</a:t>
            </a:r>
            <a:r>
              <a:rPr lang="zh-CN" altLang="en-US" dirty="0"/>
              <a:t>比色皿时，吸光度为</a:t>
            </a:r>
            <a:r>
              <a:rPr lang="en-US" altLang="zh-CN" dirty="0"/>
              <a:t>0.630</a:t>
            </a:r>
          </a:p>
          <a:p>
            <a:pPr lvl="1"/>
            <a:r>
              <a:rPr lang="zh-CN" altLang="en-US" dirty="0"/>
              <a:t>测量硅钼蓝法并非一定要在</a:t>
            </a:r>
            <a:r>
              <a:rPr lang="en-US" altLang="zh-CN" dirty="0"/>
              <a:t>880nm</a:t>
            </a:r>
            <a:r>
              <a:rPr lang="zh-CN" altLang="en-US" dirty="0"/>
              <a:t>左右的波长下，在</a:t>
            </a:r>
            <a:r>
              <a:rPr lang="en-US" altLang="zh-CN" dirty="0"/>
              <a:t>660~700nm</a:t>
            </a:r>
            <a:r>
              <a:rPr lang="zh-CN" altLang="en-US" dirty="0"/>
              <a:t>下可测量的硅钼蓝浓度范围会增加高浓度端，牺牲低浓度端，即降低了灵敏度</a:t>
            </a:r>
            <a:endParaRPr lang="en-US" altLang="zh-CN" dirty="0"/>
          </a:p>
          <a:p>
            <a:r>
              <a:rPr lang="zh-CN" altLang="en-US" dirty="0"/>
              <a:t>线性度</a:t>
            </a:r>
            <a:endParaRPr lang="en-US" altLang="zh-CN" dirty="0"/>
          </a:p>
          <a:p>
            <a:pPr lvl="1"/>
            <a:r>
              <a:rPr lang="zh-CN" altLang="en-US" b="1" dirty="0"/>
              <a:t>朗博比尔</a:t>
            </a:r>
            <a:r>
              <a:rPr lang="en-US" altLang="zh-CN" dirty="0"/>
              <a:t>(Lambert)-</a:t>
            </a:r>
            <a:r>
              <a:rPr lang="zh-CN" altLang="en-US" b="1" dirty="0"/>
              <a:t> </a:t>
            </a:r>
            <a:r>
              <a:rPr lang="en-US" altLang="zh-CN" dirty="0"/>
              <a:t>(Beer)</a:t>
            </a:r>
            <a:r>
              <a:rPr lang="zh-CN" altLang="en-US" dirty="0"/>
              <a:t>定律</a:t>
            </a:r>
            <a:r>
              <a:rPr lang="en-US" altLang="zh-CN" dirty="0"/>
              <a:t>: I</a:t>
            </a:r>
            <a:r>
              <a:rPr lang="en-US" altLang="zh-CN" baseline="-25000" dirty="0"/>
              <a:t>1</a:t>
            </a:r>
            <a:r>
              <a:rPr lang="en-US" altLang="zh-CN" dirty="0"/>
              <a:t>=I</a:t>
            </a:r>
            <a:r>
              <a:rPr lang="en-US" altLang="zh-CN" baseline="-25000" dirty="0"/>
              <a:t>0</a:t>
            </a:r>
            <a:r>
              <a:rPr lang="zh-CN" altLang="en-US" dirty="0"/>
              <a:t>*</a:t>
            </a:r>
            <a:r>
              <a:rPr lang="en-US" altLang="zh-CN" dirty="0"/>
              <a:t>10</a:t>
            </a:r>
            <a:r>
              <a:rPr lang="zh-CN" altLang="en-US" baseline="30000" dirty="0"/>
              <a:t>（</a:t>
            </a:r>
            <a:r>
              <a:rPr lang="en-US" altLang="zh-CN" baseline="30000" dirty="0"/>
              <a:t>-</a:t>
            </a:r>
            <a:r>
              <a:rPr lang="en-US" altLang="zh-CN" baseline="30000" dirty="0" err="1"/>
              <a:t>klc</a:t>
            </a:r>
            <a:r>
              <a:rPr lang="zh-CN" altLang="en-US" baseline="30000" dirty="0"/>
              <a:t>）</a:t>
            </a:r>
            <a:r>
              <a:rPr lang="zh-CN" altLang="en-US" dirty="0"/>
              <a:t>是理想化状态</a:t>
            </a:r>
            <a:endParaRPr lang="en-US" altLang="zh-CN" dirty="0"/>
          </a:p>
          <a:p>
            <a:pPr lvl="1"/>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57298"/>
            <a:ext cx="8229600" cy="4768865"/>
          </a:xfrm>
        </p:spPr>
        <p:txBody>
          <a:bodyPr/>
          <a:lstStyle/>
          <a:p>
            <a:r>
              <a:rPr lang="zh-CN" altLang="en-US" dirty="0"/>
              <a:t>线性度</a:t>
            </a:r>
            <a:endParaRPr lang="en-US" altLang="zh-CN" dirty="0"/>
          </a:p>
          <a:p>
            <a:pPr lvl="1"/>
            <a:r>
              <a:rPr lang="zh-CN" altLang="en-US" b="1" dirty="0"/>
              <a:t>朗博比尔</a:t>
            </a:r>
            <a:r>
              <a:rPr lang="en-US" altLang="zh-CN" dirty="0"/>
              <a:t>(Lambert)-</a:t>
            </a:r>
            <a:r>
              <a:rPr lang="zh-CN" altLang="en-US" b="1" dirty="0"/>
              <a:t> </a:t>
            </a:r>
            <a:r>
              <a:rPr lang="en-US" altLang="zh-CN" dirty="0"/>
              <a:t>(Beer)</a:t>
            </a:r>
            <a:r>
              <a:rPr lang="zh-CN" altLang="en-US" dirty="0"/>
              <a:t>定律</a:t>
            </a:r>
            <a:r>
              <a:rPr lang="en-US" altLang="zh-CN" dirty="0"/>
              <a:t>: I</a:t>
            </a:r>
            <a:r>
              <a:rPr lang="en-US" altLang="zh-CN" baseline="-25000" dirty="0"/>
              <a:t>1</a:t>
            </a:r>
            <a:r>
              <a:rPr lang="en-US" altLang="zh-CN" dirty="0"/>
              <a:t>=I</a:t>
            </a:r>
            <a:r>
              <a:rPr lang="en-US" altLang="zh-CN" baseline="-25000" dirty="0"/>
              <a:t>0</a:t>
            </a:r>
            <a:r>
              <a:rPr lang="zh-CN" altLang="en-US" dirty="0"/>
              <a:t>*</a:t>
            </a:r>
            <a:r>
              <a:rPr lang="en-US" altLang="zh-CN" dirty="0"/>
              <a:t>10</a:t>
            </a:r>
            <a:r>
              <a:rPr lang="zh-CN" altLang="en-US" baseline="30000" dirty="0"/>
              <a:t>（</a:t>
            </a:r>
            <a:r>
              <a:rPr lang="en-US" altLang="zh-CN" baseline="30000" dirty="0"/>
              <a:t>-</a:t>
            </a:r>
            <a:r>
              <a:rPr lang="en-US" altLang="zh-CN" baseline="30000" dirty="0" err="1"/>
              <a:t>klc</a:t>
            </a:r>
            <a:r>
              <a:rPr lang="zh-CN" altLang="en-US" baseline="30000" dirty="0"/>
              <a:t>）</a:t>
            </a:r>
            <a:r>
              <a:rPr lang="zh-CN" altLang="en-US" dirty="0"/>
              <a:t>是理想化状态</a:t>
            </a:r>
            <a:endParaRPr lang="en-US" altLang="zh-CN" dirty="0"/>
          </a:p>
          <a:p>
            <a:pPr lvl="1"/>
            <a:r>
              <a:rPr lang="zh-CN" altLang="en-US" dirty="0"/>
              <a:t>实际上，吸光度和溶液浓度之间只有在</a:t>
            </a:r>
            <a:r>
              <a:rPr lang="en-US" altLang="zh-CN" dirty="0"/>
              <a:t>1-1.5</a:t>
            </a:r>
            <a:r>
              <a:rPr lang="zh-CN" altLang="en-US" dirty="0"/>
              <a:t>个单位的吸光度范围内才是线性的（线性度与化学物质的性质有很大关联）</a:t>
            </a:r>
            <a:endParaRPr lang="en-US" altLang="zh-CN" dirty="0"/>
          </a:p>
          <a:p>
            <a:pPr lvl="1"/>
            <a:r>
              <a:rPr lang="zh-CN" altLang="en-US" dirty="0"/>
              <a:t>一般来说，分光光度计的精度在高吸光度范围内下降很快。所以，分光光度计如果测量的溶液浓度范围很大，就一定会牺牲测量精度</a:t>
            </a:r>
            <a:endParaRPr lang="en-US" altLang="zh-CN" dirty="0"/>
          </a:p>
          <a:p>
            <a:pPr lvl="1"/>
            <a:r>
              <a:rPr lang="zh-CN" altLang="en-US" dirty="0"/>
              <a:t>所以，实际测量的量程（高浓度端）应小于按照吸光度计算所得到的浓度值</a:t>
            </a:r>
            <a:endParaRPr lang="en-US" altLang="zh-CN" dirty="0"/>
          </a:p>
        </p:txBody>
      </p:sp>
      <p:sp>
        <p:nvSpPr>
          <p:cNvPr id="6" name="标题 1">
            <a:extLst>
              <a:ext uri="{FF2B5EF4-FFF2-40B4-BE49-F238E27FC236}">
                <a16:creationId xmlns:a16="http://schemas.microsoft.com/office/drawing/2014/main" id="{A206582F-8B3B-4DC0-90EF-98211F32D15B}"/>
              </a:ext>
            </a:extLst>
          </p:cNvPr>
          <p:cNvSpPr txBox="1">
            <a:spLocks/>
          </p:cNvSpPr>
          <p:nvPr/>
        </p:nvSpPr>
        <p:spPr bwMode="auto">
          <a:xfrm>
            <a:off x="1475656" y="402100"/>
            <a:ext cx="5915000" cy="659474"/>
          </a:xfrm>
          <a:prstGeom prst="rect">
            <a:avLst/>
          </a:prstGeom>
          <a:noFill/>
          <a:ln w="15875">
            <a:solidFill>
              <a:schemeClr val="bg2">
                <a:lumMod val="25000"/>
              </a:schemeClr>
            </a:solid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kern="0">
                <a:latin typeface="华文新魏" panose="02010800040101010101" pitchFamily="2" charset="-122"/>
                <a:ea typeface="华文新魏" panose="02010800040101010101" pitchFamily="2" charset="-122"/>
              </a:rPr>
              <a:t>紫外分光光度法的</a:t>
            </a:r>
            <a:r>
              <a:rPr lang="zh-CN" altLang="en-US" kern="0"/>
              <a:t>量程</a:t>
            </a:r>
            <a:endParaRPr lang="zh-CN" altLang="en-US" kern="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28736"/>
            <a:ext cx="8401080" cy="1143008"/>
          </a:xfrm>
        </p:spPr>
        <p:txBody>
          <a:bodyPr/>
          <a:lstStyle/>
          <a:p>
            <a:pPr marL="514350" indent="-514350"/>
            <a:r>
              <a:rPr lang="zh-CN" altLang="en-US" dirty="0"/>
              <a:t>海水中活性磷（</a:t>
            </a:r>
            <a:r>
              <a:rPr lang="en-US" altLang="zh-CN" dirty="0"/>
              <a:t>DIP</a:t>
            </a:r>
            <a:r>
              <a:rPr lang="zh-CN" altLang="en-US" dirty="0"/>
              <a:t>）的测定</a:t>
            </a:r>
            <a:endParaRPr lang="en-US" altLang="zh-CN" dirty="0"/>
          </a:p>
          <a:p>
            <a:pPr marL="914400" lvl="1" indent="-514350"/>
            <a:r>
              <a:rPr lang="zh-CN" altLang="en-US" dirty="0"/>
              <a:t>原理：紫外分光光度法，利用无机磷酸盐与试剂反应生成稳定的显色化合物，来测量其浓度</a:t>
            </a:r>
            <a:endParaRPr lang="en-US" altLang="zh-CN" dirty="0"/>
          </a:p>
          <a:p>
            <a:pPr marL="971550" lvl="1" indent="-514350">
              <a:buNone/>
            </a:pP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dirty="0"/>
          </a:p>
          <a:p>
            <a:r>
              <a:rPr lang="en-US" sz="2400" dirty="0"/>
              <a:t>PO</a:t>
            </a:r>
            <a:r>
              <a:rPr lang="en-US" sz="2400" baseline="-25000" dirty="0"/>
              <a:t>4</a:t>
            </a:r>
            <a:r>
              <a:rPr lang="en-US" sz="2400" baseline="30000" dirty="0"/>
              <a:t>3-</a:t>
            </a:r>
            <a:r>
              <a:rPr lang="en-US" sz="2400" dirty="0"/>
              <a:t> + 12MoO</a:t>
            </a:r>
            <a:r>
              <a:rPr lang="en-US" sz="2400" baseline="-25000" dirty="0"/>
              <a:t>4</a:t>
            </a:r>
            <a:r>
              <a:rPr lang="en-US" sz="2400" baseline="30000" dirty="0"/>
              <a:t>2-</a:t>
            </a:r>
            <a:r>
              <a:rPr lang="en-US" sz="2400" dirty="0"/>
              <a:t> + 24H</a:t>
            </a:r>
            <a:r>
              <a:rPr lang="en-US" sz="2400" baseline="30000" dirty="0"/>
              <a:t>+</a:t>
            </a:r>
            <a:r>
              <a:rPr lang="en-US" sz="2400" dirty="0"/>
              <a:t> = </a:t>
            </a:r>
            <a:r>
              <a:rPr lang="en-US" altLang="zh-CN" sz="2400" dirty="0"/>
              <a:t>H</a:t>
            </a:r>
            <a:r>
              <a:rPr lang="en-US" sz="2400" baseline="-25000" dirty="0"/>
              <a:t>3</a:t>
            </a:r>
            <a:r>
              <a:rPr lang="en-US" sz="2400" dirty="0"/>
              <a:t>P(Mo</a:t>
            </a:r>
            <a:r>
              <a:rPr lang="en-US" sz="2400" baseline="-25000" dirty="0"/>
              <a:t>3</a:t>
            </a:r>
            <a:r>
              <a:rPr lang="en-US" sz="2400" dirty="0"/>
              <a:t>O</a:t>
            </a:r>
            <a:r>
              <a:rPr lang="en-US" sz="2400" baseline="-25000" dirty="0"/>
              <a:t>10</a:t>
            </a:r>
            <a:r>
              <a:rPr lang="en-US" sz="2400" dirty="0"/>
              <a:t>)</a:t>
            </a:r>
            <a:r>
              <a:rPr lang="en-US" sz="2400" baseline="-25000" dirty="0"/>
              <a:t>4</a:t>
            </a:r>
            <a:r>
              <a:rPr lang="en-US" sz="2400" dirty="0"/>
              <a:t>·nH</a:t>
            </a:r>
            <a:r>
              <a:rPr lang="en-US" sz="2400" baseline="-25000" dirty="0"/>
              <a:t>2</a:t>
            </a:r>
            <a:r>
              <a:rPr lang="en-US" sz="2400" dirty="0"/>
              <a:t>O</a:t>
            </a:r>
            <a:endParaRPr lang="en-US" altLang="zh-CN" sz="2400" dirty="0"/>
          </a:p>
          <a:p>
            <a:pPr lvl="1">
              <a:buNone/>
            </a:pPr>
            <a:endParaRPr lang="zh-CN" altLang="en-US" dirty="0"/>
          </a:p>
        </p:txBody>
      </p:sp>
      <p:pic>
        <p:nvPicPr>
          <p:cNvPr id="178180" name="Picture 4" descr="D:\课程\课件\课程图片\0.png"/>
          <p:cNvPicPr>
            <a:picLocks noChangeAspect="1" noChangeArrowheads="1"/>
          </p:cNvPicPr>
          <p:nvPr/>
        </p:nvPicPr>
        <p:blipFill>
          <a:blip r:embed="rId2" cstate="print"/>
          <a:srcRect/>
          <a:stretch>
            <a:fillRect/>
          </a:stretch>
        </p:blipFill>
        <p:spPr bwMode="auto">
          <a:xfrm>
            <a:off x="714348" y="2857496"/>
            <a:ext cx="7713663" cy="1524000"/>
          </a:xfrm>
          <a:prstGeom prst="rect">
            <a:avLst/>
          </a:prstGeom>
          <a:noFill/>
        </p:spPr>
      </p:pic>
      <p:pic>
        <p:nvPicPr>
          <p:cNvPr id="178181" name="Picture 5" descr="D:\课程\课件\课程图片\0.png"/>
          <p:cNvPicPr>
            <a:picLocks noChangeAspect="1" noChangeArrowheads="1"/>
          </p:cNvPicPr>
          <p:nvPr/>
        </p:nvPicPr>
        <p:blipFill>
          <a:blip r:embed="rId3" cstate="print"/>
          <a:srcRect/>
          <a:stretch>
            <a:fillRect/>
          </a:stretch>
        </p:blipFill>
        <p:spPr bwMode="auto">
          <a:xfrm>
            <a:off x="928662" y="5072074"/>
            <a:ext cx="5857875" cy="428625"/>
          </a:xfrm>
          <a:prstGeom prst="rect">
            <a:avLst/>
          </a:prstGeom>
          <a:noFill/>
        </p:spPr>
      </p:pic>
      <p:sp>
        <p:nvSpPr>
          <p:cNvPr id="7" name="TextBox 5">
            <a:extLst>
              <a:ext uri="{FF2B5EF4-FFF2-40B4-BE49-F238E27FC236}">
                <a16:creationId xmlns:a16="http://schemas.microsoft.com/office/drawing/2014/main" id="{80624A91-8FF8-4BA8-80C2-2D9721B41D86}"/>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rgbClr val="808080">
                    <a:lumMod val="25000"/>
                  </a:srgbClr>
                </a:solidFill>
                <a:latin typeface="华文新魏" pitchFamily="2" charset="-122"/>
                <a:ea typeface="华文新魏" pitchFamily="2" charset="-122"/>
              </a:rPr>
              <a:t>第四章 海水中的磷酸盐</a:t>
            </a:r>
          </a:p>
        </p:txBody>
      </p:sp>
    </p:spTree>
    <p:extLst>
      <p:ext uri="{BB962C8B-B14F-4D97-AF65-F5344CB8AC3E}">
        <p14:creationId xmlns:p14="http://schemas.microsoft.com/office/powerpoint/2010/main" val="1360964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180"/>
                                        </p:tgtEl>
                                        <p:attrNameLst>
                                          <p:attrName>style.visibility</p:attrName>
                                        </p:attrNameLst>
                                      </p:cBhvr>
                                      <p:to>
                                        <p:strVal val="visible"/>
                                      </p:to>
                                    </p:set>
                                    <p:anim calcmode="lin" valueType="num">
                                      <p:cBhvr additive="base">
                                        <p:cTn id="7" dur="500" fill="hold"/>
                                        <p:tgtEl>
                                          <p:spTgt spid="178180"/>
                                        </p:tgtEl>
                                        <p:attrNameLst>
                                          <p:attrName>ppt_x</p:attrName>
                                        </p:attrNameLst>
                                      </p:cBhvr>
                                      <p:tavLst>
                                        <p:tav tm="0">
                                          <p:val>
                                            <p:strVal val="#ppt_x"/>
                                          </p:val>
                                        </p:tav>
                                        <p:tav tm="100000">
                                          <p:val>
                                            <p:strVal val="#ppt_x"/>
                                          </p:val>
                                        </p:tav>
                                      </p:tavLst>
                                    </p:anim>
                                    <p:anim calcmode="lin" valueType="num">
                                      <p:cBhvr additive="base">
                                        <p:cTn id="8" dur="500" fill="hold"/>
                                        <p:tgtEl>
                                          <p:spTgt spid="1781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81"/>
                                        </p:tgtEl>
                                        <p:attrNameLst>
                                          <p:attrName>style.visibility</p:attrName>
                                        </p:attrNameLst>
                                      </p:cBhvr>
                                      <p:to>
                                        <p:strVal val="visible"/>
                                      </p:to>
                                    </p:set>
                                    <p:anim calcmode="lin" valueType="num">
                                      <p:cBhvr additive="base">
                                        <p:cTn id="13" dur="500" fill="hold"/>
                                        <p:tgtEl>
                                          <p:spTgt spid="178181"/>
                                        </p:tgtEl>
                                        <p:attrNameLst>
                                          <p:attrName>ppt_x</p:attrName>
                                        </p:attrNameLst>
                                      </p:cBhvr>
                                      <p:tavLst>
                                        <p:tav tm="0">
                                          <p:val>
                                            <p:strVal val="#ppt_x"/>
                                          </p:val>
                                        </p:tav>
                                        <p:tav tm="100000">
                                          <p:val>
                                            <p:strVal val="#ppt_x"/>
                                          </p:val>
                                        </p:tav>
                                      </p:tavLst>
                                    </p:anim>
                                    <p:anim calcmode="lin" valueType="num">
                                      <p:cBhvr additive="base">
                                        <p:cTn id="14" dur="500" fill="hold"/>
                                        <p:tgtEl>
                                          <p:spTgt spid="1781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2">
            <a:extLst>
              <a:ext uri="{FF2B5EF4-FFF2-40B4-BE49-F238E27FC236}">
                <a16:creationId xmlns:a16="http://schemas.microsoft.com/office/drawing/2014/main" id="{DE0512ED-50F4-486B-844B-95CB052F026B}"/>
              </a:ext>
            </a:extLst>
          </p:cNvPr>
          <p:cNvSpPr txBox="1">
            <a:spLocks noGrp="1"/>
          </p:cNvSpPr>
          <p:nvPr>
            <p:ph idx="1"/>
          </p:nvPr>
        </p:nvSpPr>
        <p:spPr>
          <a:xfrm>
            <a:off x="457200" y="1600200"/>
            <a:ext cx="8003232" cy="3637919"/>
          </a:xfrm>
          <a:prstGeom prst="rect">
            <a:avLst/>
          </a:prstGeom>
          <a:noFill/>
        </p:spPr>
        <p:txBody>
          <a:bodyPr wrap="square" rtlCol="0">
            <a:spAutoFit/>
          </a:bodyPr>
          <a:lstStyle/>
          <a:p>
            <a:pPr>
              <a:buFont typeface="Arial" panose="020B0604020202020204" pitchFamily="34" charset="0"/>
              <a:buChar char="•"/>
            </a:pPr>
            <a:r>
              <a:rPr lang="en-US" altLang="zh-CN" sz="2400" dirty="0"/>
              <a:t>PO</a:t>
            </a:r>
            <a:r>
              <a:rPr lang="en-US" altLang="zh-CN" sz="2400" baseline="-25000" dirty="0"/>
              <a:t>4</a:t>
            </a:r>
            <a:r>
              <a:rPr lang="en-US" altLang="zh-CN" sz="2400" baseline="30000" dirty="0"/>
              <a:t>3-</a:t>
            </a:r>
            <a:r>
              <a:rPr lang="en-US" altLang="zh-CN" sz="2400" dirty="0"/>
              <a:t> + 12MoO</a:t>
            </a:r>
            <a:r>
              <a:rPr lang="en-US" altLang="zh-CN" sz="2400" baseline="-25000" dirty="0"/>
              <a:t>4</a:t>
            </a:r>
            <a:r>
              <a:rPr lang="en-US" altLang="zh-CN" sz="2400" baseline="30000" dirty="0"/>
              <a:t>2-</a:t>
            </a:r>
            <a:r>
              <a:rPr lang="en-US" altLang="zh-CN" sz="2400" dirty="0"/>
              <a:t> + 24H</a:t>
            </a:r>
            <a:r>
              <a:rPr lang="en-US" altLang="zh-CN" sz="2400" baseline="30000" dirty="0"/>
              <a:t>+</a:t>
            </a:r>
            <a:r>
              <a:rPr lang="en-US" altLang="zh-CN" sz="2400" dirty="0"/>
              <a:t> = H</a:t>
            </a:r>
            <a:r>
              <a:rPr lang="en-US" altLang="zh-CN" sz="2400" baseline="-25000" dirty="0"/>
              <a:t>3</a:t>
            </a:r>
            <a:r>
              <a:rPr lang="en-US" altLang="zh-CN" sz="2400" dirty="0"/>
              <a:t>P(Mo</a:t>
            </a:r>
            <a:r>
              <a:rPr lang="en-US" altLang="zh-CN" sz="2400" baseline="-25000" dirty="0"/>
              <a:t>3</a:t>
            </a:r>
            <a:r>
              <a:rPr lang="en-US" altLang="zh-CN" sz="2400" dirty="0"/>
              <a:t>O</a:t>
            </a:r>
            <a:r>
              <a:rPr lang="en-US" altLang="zh-CN" sz="2400" baseline="-25000" dirty="0"/>
              <a:t>10</a:t>
            </a:r>
            <a:r>
              <a:rPr lang="en-US" altLang="zh-CN" sz="2400" dirty="0"/>
              <a:t>)</a:t>
            </a:r>
            <a:r>
              <a:rPr lang="en-US" altLang="zh-CN" sz="2400" baseline="-25000" dirty="0"/>
              <a:t>4</a:t>
            </a:r>
            <a:r>
              <a:rPr lang="en-US" altLang="zh-CN" sz="2400" dirty="0"/>
              <a:t>·nH</a:t>
            </a:r>
            <a:r>
              <a:rPr lang="en-US" altLang="zh-CN" sz="2400" baseline="-25000" dirty="0"/>
              <a:t>2</a:t>
            </a:r>
            <a:r>
              <a:rPr lang="en-US" altLang="zh-CN" sz="2400" dirty="0"/>
              <a:t>O</a:t>
            </a:r>
          </a:p>
          <a:p>
            <a:pPr>
              <a:buFont typeface="Arial" panose="020B0604020202020204" pitchFamily="34" charset="0"/>
              <a:buChar char="•"/>
            </a:pPr>
            <a:r>
              <a:rPr lang="zh-CN" altLang="en-US" sz="2400" dirty="0"/>
              <a:t>其中</a:t>
            </a:r>
            <a:r>
              <a:rPr lang="el-GR" altLang="zh-CN" sz="2400" dirty="0"/>
              <a:t>α</a:t>
            </a:r>
            <a:r>
              <a:rPr lang="en-US" altLang="zh-CN" sz="2400" dirty="0"/>
              <a:t>-</a:t>
            </a:r>
            <a:r>
              <a:rPr lang="zh-CN" altLang="en-US" sz="2400" dirty="0"/>
              <a:t>磷钼酸为黄色，</a:t>
            </a:r>
            <a:r>
              <a:rPr lang="el-GR" altLang="zh-CN" sz="2400" dirty="0"/>
              <a:t>β</a:t>
            </a:r>
            <a:r>
              <a:rPr lang="en-US" altLang="zh-CN" sz="2400" dirty="0"/>
              <a:t>-</a:t>
            </a:r>
            <a:r>
              <a:rPr lang="zh-CN" altLang="en-US" sz="2400" dirty="0"/>
              <a:t>磷钼酸为无色。</a:t>
            </a:r>
            <a:r>
              <a:rPr lang="el-GR" altLang="zh-CN" sz="2400" dirty="0"/>
              <a:t> β</a:t>
            </a:r>
            <a:r>
              <a:rPr lang="en-US" altLang="zh-CN" sz="2400" dirty="0"/>
              <a:t>-</a:t>
            </a:r>
            <a:r>
              <a:rPr lang="zh-CN" altLang="en-US" sz="2400" dirty="0"/>
              <a:t>磷钼酸易向</a:t>
            </a:r>
            <a:r>
              <a:rPr lang="el-GR" altLang="zh-CN" sz="2400" dirty="0"/>
              <a:t>α</a:t>
            </a:r>
            <a:r>
              <a:rPr lang="en-US" altLang="zh-CN" sz="2400" dirty="0"/>
              <a:t>-</a:t>
            </a:r>
            <a:r>
              <a:rPr lang="zh-CN" altLang="en-US" sz="2400" dirty="0"/>
              <a:t>转化。生成</a:t>
            </a:r>
            <a:r>
              <a:rPr lang="el-GR" altLang="zh-CN" sz="2400" dirty="0"/>
              <a:t>α</a:t>
            </a:r>
            <a:r>
              <a:rPr lang="en-US" altLang="zh-CN" sz="2400" dirty="0"/>
              <a:t>-</a:t>
            </a:r>
            <a:r>
              <a:rPr lang="zh-CN" altLang="en-US" sz="2400" dirty="0"/>
              <a:t>磷钼酸和</a:t>
            </a:r>
            <a:r>
              <a:rPr lang="el-GR" altLang="zh-CN" sz="2400" dirty="0"/>
              <a:t>β</a:t>
            </a:r>
            <a:r>
              <a:rPr lang="en-US" altLang="zh-CN" sz="2400" dirty="0"/>
              <a:t>-</a:t>
            </a:r>
            <a:r>
              <a:rPr lang="zh-CN" altLang="en-US" sz="2400" dirty="0"/>
              <a:t>磷钼酸的比例主要靠溶液的</a:t>
            </a:r>
            <a:r>
              <a:rPr lang="en-US" altLang="zh-CN" sz="2400" dirty="0"/>
              <a:t>pH</a:t>
            </a:r>
            <a:r>
              <a:rPr lang="zh-CN" altLang="en-US" sz="2400" dirty="0"/>
              <a:t>决定。若降低酸度并控制好钼酸盐浓度，有利于形成</a:t>
            </a:r>
            <a:r>
              <a:rPr lang="el-GR" altLang="zh-CN" sz="2400" dirty="0"/>
              <a:t>β</a:t>
            </a:r>
            <a:r>
              <a:rPr lang="en-US" altLang="zh-CN" sz="2400" dirty="0"/>
              <a:t>-</a:t>
            </a:r>
            <a:r>
              <a:rPr lang="zh-CN" altLang="en-US" sz="2400" dirty="0"/>
              <a:t>磷钼酸</a:t>
            </a:r>
            <a:endParaRPr lang="en-US" altLang="zh-CN" sz="2400" dirty="0"/>
          </a:p>
          <a:p>
            <a:pPr>
              <a:buFont typeface="Arial" panose="020B0604020202020204" pitchFamily="34" charset="0"/>
              <a:buChar char="•"/>
            </a:pPr>
            <a:r>
              <a:rPr lang="zh-CN" altLang="en-US" sz="2400" dirty="0"/>
              <a:t>酸度太低（</a:t>
            </a:r>
            <a:r>
              <a:rPr lang="en-US" altLang="zh-CN" sz="2400" dirty="0"/>
              <a:t>pH</a:t>
            </a:r>
            <a:r>
              <a:rPr lang="zh-CN" altLang="en-US" sz="2400" dirty="0"/>
              <a:t>较高），钼酸铵本身会被还原，钼酸铵被还原后呈现蓝色</a:t>
            </a:r>
            <a:endParaRPr lang="en-US" altLang="zh-CN" sz="2400" dirty="0"/>
          </a:p>
          <a:p>
            <a:pPr>
              <a:buFont typeface="Arial" panose="020B0604020202020204" pitchFamily="34" charset="0"/>
              <a:buChar char="•"/>
            </a:pPr>
            <a:r>
              <a:rPr lang="zh-CN" altLang="en-US" sz="2400" dirty="0"/>
              <a:t>酸度太高（</a:t>
            </a:r>
            <a:r>
              <a:rPr lang="en-US" altLang="zh-CN" sz="2400" dirty="0"/>
              <a:t>pH</a:t>
            </a:r>
            <a:r>
              <a:rPr lang="zh-CN" altLang="en-US" sz="2400" dirty="0"/>
              <a:t>较低），还原磷钼黄的速率降低，且存在有机磷水解的可能性</a:t>
            </a:r>
          </a:p>
        </p:txBody>
      </p:sp>
      <p:sp>
        <p:nvSpPr>
          <p:cNvPr id="2" name="文本框 1">
            <a:extLst>
              <a:ext uri="{FF2B5EF4-FFF2-40B4-BE49-F238E27FC236}">
                <a16:creationId xmlns:a16="http://schemas.microsoft.com/office/drawing/2014/main" id="{2012B077-3788-4745-81B5-C71D7ADEDC96}"/>
              </a:ext>
            </a:extLst>
          </p:cNvPr>
          <p:cNvSpPr txBox="1"/>
          <p:nvPr/>
        </p:nvSpPr>
        <p:spPr>
          <a:xfrm>
            <a:off x="1259632" y="5517232"/>
            <a:ext cx="6264696" cy="523220"/>
          </a:xfrm>
          <a:prstGeom prst="rect">
            <a:avLst/>
          </a:prstGeom>
          <a:solidFill>
            <a:schemeClr val="accent2">
              <a:lumMod val="75000"/>
            </a:schemeClr>
          </a:solidFill>
        </p:spPr>
        <p:txBody>
          <a:bodyPr wrap="square" rtlCol="0">
            <a:spAutoFit/>
          </a:bodyPr>
          <a:lstStyle/>
          <a:p>
            <a:pPr marL="457200" indent="-457200">
              <a:buFont typeface="Wingdings" panose="05000000000000000000" pitchFamily="2" charset="2"/>
              <a:buChar char="ü"/>
            </a:pPr>
            <a:r>
              <a:rPr lang="zh-CN" altLang="en-US" sz="2800" dirty="0">
                <a:solidFill>
                  <a:srgbClr val="FFFF00"/>
                </a:solidFill>
              </a:rPr>
              <a:t>必须选择适宜的酸度和试剂的浓度</a:t>
            </a:r>
          </a:p>
        </p:txBody>
      </p:sp>
      <p:sp>
        <p:nvSpPr>
          <p:cNvPr id="7" name="TextBox 5">
            <a:extLst>
              <a:ext uri="{FF2B5EF4-FFF2-40B4-BE49-F238E27FC236}">
                <a16:creationId xmlns:a16="http://schemas.microsoft.com/office/drawing/2014/main" id="{FC838F2F-2C3B-40C0-BA35-CE9D11531620}"/>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rgbClr val="808080">
                    <a:lumMod val="25000"/>
                  </a:srgbClr>
                </a:solidFill>
                <a:latin typeface="华文新魏" pitchFamily="2" charset="-122"/>
                <a:ea typeface="华文新魏" pitchFamily="2" charset="-122"/>
              </a:rPr>
              <a:t>第四章 海水中的磷酸盐</a:t>
            </a:r>
          </a:p>
        </p:txBody>
      </p:sp>
    </p:spTree>
    <p:extLst>
      <p:ext uri="{BB962C8B-B14F-4D97-AF65-F5344CB8AC3E}">
        <p14:creationId xmlns:p14="http://schemas.microsoft.com/office/powerpoint/2010/main" val="10487319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28736"/>
            <a:ext cx="8401080" cy="2571768"/>
          </a:xfrm>
        </p:spPr>
        <p:txBody>
          <a:bodyPr/>
          <a:lstStyle/>
          <a:p>
            <a:pPr marL="571500" indent="-514350"/>
            <a:r>
              <a:rPr lang="zh-CN" altLang="en-US" dirty="0"/>
              <a:t>磷钼蓝法是将磷钼酸（黄色）通过还原剂还原成磷钼蓝</a:t>
            </a:r>
            <a:endParaRPr lang="en-US" altLang="zh-CN" dirty="0"/>
          </a:p>
          <a:p>
            <a:pPr marL="571500" indent="-514350"/>
            <a:r>
              <a:rPr lang="zh-CN" altLang="en-US" dirty="0"/>
              <a:t>对于活性磷钼蓝法的改进主要在还原剂</a:t>
            </a: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dirty="0"/>
          </a:p>
          <a:p>
            <a:pPr lvl="1">
              <a:buNone/>
            </a:pPr>
            <a:endParaRPr lang="zh-CN" altLang="en-US" dirty="0"/>
          </a:p>
        </p:txBody>
      </p:sp>
      <p:pic>
        <p:nvPicPr>
          <p:cNvPr id="177154" name="Picture 2" descr="D:\课程\课件\课程图片\0.png"/>
          <p:cNvPicPr>
            <a:picLocks noChangeAspect="1" noChangeArrowheads="1"/>
          </p:cNvPicPr>
          <p:nvPr/>
        </p:nvPicPr>
        <p:blipFill>
          <a:blip r:embed="rId2" cstate="print"/>
          <a:srcRect/>
          <a:stretch>
            <a:fillRect/>
          </a:stretch>
        </p:blipFill>
        <p:spPr bwMode="auto">
          <a:xfrm>
            <a:off x="857224" y="3000372"/>
            <a:ext cx="7446963" cy="1552575"/>
          </a:xfrm>
          <a:prstGeom prst="rect">
            <a:avLst/>
          </a:prstGeom>
          <a:noFill/>
        </p:spPr>
      </p:pic>
      <p:sp>
        <p:nvSpPr>
          <p:cNvPr id="8" name="TextBox 7"/>
          <p:cNvSpPr txBox="1"/>
          <p:nvPr/>
        </p:nvSpPr>
        <p:spPr>
          <a:xfrm>
            <a:off x="571472" y="4643446"/>
            <a:ext cx="8429652" cy="1569660"/>
          </a:xfrm>
          <a:prstGeom prst="rect">
            <a:avLst/>
          </a:prstGeom>
          <a:noFill/>
        </p:spPr>
        <p:txBody>
          <a:bodyPr wrap="square" rtlCol="0">
            <a:spAutoFit/>
          </a:bodyPr>
          <a:lstStyle/>
          <a:p>
            <a:pPr>
              <a:buFont typeface="Arial" pitchFamily="34" charset="0"/>
              <a:buChar char="•"/>
            </a:pPr>
            <a:r>
              <a:rPr lang="en-US" altLang="zh-CN" sz="2400" dirty="0"/>
              <a:t>   SnCl</a:t>
            </a:r>
            <a:r>
              <a:rPr lang="en-US" altLang="zh-CN" sz="2400" baseline="-25000" dirty="0"/>
              <a:t>2</a:t>
            </a:r>
            <a:r>
              <a:rPr lang="zh-CN" altLang="en-US" sz="2400" dirty="0"/>
              <a:t>还原剂的优点：显色反应快、灵敏度高</a:t>
            </a:r>
            <a:endParaRPr lang="en-US" altLang="zh-CN" sz="2400" dirty="0"/>
          </a:p>
          <a:p>
            <a:pPr>
              <a:buFont typeface="Arial" pitchFamily="34" charset="0"/>
              <a:buChar char="•"/>
            </a:pPr>
            <a:r>
              <a:rPr lang="zh-CN" altLang="en-US" sz="2400" dirty="0"/>
              <a:t>   </a:t>
            </a:r>
            <a:r>
              <a:rPr lang="en-US" altLang="zh-CN" sz="2400" dirty="0"/>
              <a:t>SnCl</a:t>
            </a:r>
            <a:r>
              <a:rPr lang="en-US" altLang="zh-CN" sz="2400" baseline="-25000" dirty="0"/>
              <a:t>2</a:t>
            </a:r>
            <a:r>
              <a:rPr lang="zh-CN" altLang="en-US" sz="2400" dirty="0"/>
              <a:t>的缺点：显色后颜色强度不稳定（半个小时候颜色强度开始下降），显色时间依赖温度和盐度，显色强度依赖溶液的温度和</a:t>
            </a:r>
            <a:r>
              <a:rPr lang="en-US" altLang="zh-CN" sz="2400" dirty="0"/>
              <a:t>SnCl2</a:t>
            </a:r>
            <a:r>
              <a:rPr lang="zh-CN" altLang="en-US" sz="2400" dirty="0"/>
              <a:t>浓度，盐误差较大</a:t>
            </a:r>
          </a:p>
        </p:txBody>
      </p:sp>
      <p:sp>
        <p:nvSpPr>
          <p:cNvPr id="7" name="TextBox 5">
            <a:extLst>
              <a:ext uri="{FF2B5EF4-FFF2-40B4-BE49-F238E27FC236}">
                <a16:creationId xmlns:a16="http://schemas.microsoft.com/office/drawing/2014/main" id="{C4673A3C-240A-4576-A45F-2CD5815AE162}"/>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7154"/>
                                        </p:tgtEl>
                                        <p:attrNameLst>
                                          <p:attrName>style.visibility</p:attrName>
                                        </p:attrNameLst>
                                      </p:cBhvr>
                                      <p:to>
                                        <p:strVal val="visible"/>
                                      </p:to>
                                    </p:set>
                                    <p:anim calcmode="lin" valueType="num">
                                      <p:cBhvr additive="base">
                                        <p:cTn id="7" dur="500" fill="hold"/>
                                        <p:tgtEl>
                                          <p:spTgt spid="177154"/>
                                        </p:tgtEl>
                                        <p:attrNameLst>
                                          <p:attrName>ppt_x</p:attrName>
                                        </p:attrNameLst>
                                      </p:cBhvr>
                                      <p:tavLst>
                                        <p:tav tm="0">
                                          <p:val>
                                            <p:strVal val="#ppt_x"/>
                                          </p:val>
                                        </p:tav>
                                        <p:tav tm="100000">
                                          <p:val>
                                            <p:strVal val="#ppt_x"/>
                                          </p:val>
                                        </p:tav>
                                      </p:tavLst>
                                    </p:anim>
                                    <p:anim calcmode="lin" valueType="num">
                                      <p:cBhvr additive="base">
                                        <p:cTn id="8" dur="500" fill="hold"/>
                                        <p:tgtEl>
                                          <p:spTgt spid="1771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28736"/>
            <a:ext cx="8401080" cy="3357586"/>
          </a:xfrm>
        </p:spPr>
        <p:txBody>
          <a:bodyPr/>
          <a:lstStyle/>
          <a:p>
            <a:pPr marL="571500" indent="-514350"/>
            <a:r>
              <a:rPr lang="zh-CN" altLang="en-US" dirty="0"/>
              <a:t>抗坏血酸（维生素</a:t>
            </a:r>
            <a:r>
              <a:rPr lang="en-US" altLang="zh-CN" dirty="0"/>
              <a:t>C</a:t>
            </a:r>
            <a:r>
              <a:rPr lang="zh-CN" altLang="en-US" dirty="0"/>
              <a:t>）还原剂</a:t>
            </a:r>
            <a:endParaRPr lang="en-US" altLang="zh-CN" dirty="0"/>
          </a:p>
          <a:p>
            <a:pPr marL="971550" lvl="1" indent="-514350"/>
            <a:r>
              <a:rPr lang="zh-CN" altLang="en-US" dirty="0"/>
              <a:t>反应时间长，需要在</a:t>
            </a:r>
            <a:r>
              <a:rPr lang="en-US" altLang="zh-CN" dirty="0"/>
              <a:t>60</a:t>
            </a:r>
            <a:r>
              <a:rPr lang="zh-CN" altLang="en-US" dirty="0"/>
              <a:t>℃加热</a:t>
            </a:r>
            <a:r>
              <a:rPr lang="en-US" altLang="zh-CN" dirty="0"/>
              <a:t>30</a:t>
            </a:r>
            <a:r>
              <a:rPr lang="zh-CN" altLang="en-US" dirty="0"/>
              <a:t>分钟才能完全显色，还原剂本身不够稳定，灵敏度不及</a:t>
            </a:r>
            <a:r>
              <a:rPr lang="en-US" altLang="zh-CN" dirty="0"/>
              <a:t>SnCl</a:t>
            </a:r>
            <a:r>
              <a:rPr lang="en-US" altLang="zh-CN" baseline="-25000" dirty="0"/>
              <a:t>2</a:t>
            </a:r>
            <a:r>
              <a:rPr lang="zh-CN" altLang="en-US" dirty="0"/>
              <a:t>好</a:t>
            </a:r>
            <a:endParaRPr lang="en-US" altLang="zh-CN" dirty="0"/>
          </a:p>
          <a:p>
            <a:pPr marL="971550" lvl="1" indent="-514350"/>
            <a:r>
              <a:rPr lang="zh-CN" altLang="en-US" dirty="0"/>
              <a:t>显色后颜色稳定性好（可稳定</a:t>
            </a:r>
            <a:r>
              <a:rPr lang="en-US" altLang="zh-CN" dirty="0"/>
              <a:t>60</a:t>
            </a:r>
            <a:r>
              <a:rPr lang="zh-CN" altLang="en-US" dirty="0"/>
              <a:t>小时以上），盐度误差小</a:t>
            </a:r>
            <a:endParaRPr lang="en-US" altLang="zh-CN" dirty="0"/>
          </a:p>
          <a:p>
            <a:pPr marL="971550" lvl="1" indent="-514350"/>
            <a:endParaRPr lang="en-US" altLang="zh-CN" dirty="0"/>
          </a:p>
          <a:p>
            <a:pPr marL="971550" lvl="1" indent="-514350"/>
            <a:endParaRPr lang="en-US" altLang="zh-CN" dirty="0"/>
          </a:p>
          <a:p>
            <a:pPr marL="971550" lvl="1" indent="-514350"/>
            <a:endParaRPr lang="en-US" altLang="zh-CN" dirty="0"/>
          </a:p>
          <a:p>
            <a:pPr marL="971550" lvl="1" indent="-514350"/>
            <a:r>
              <a:rPr lang="zh-CN" altLang="en-US" dirty="0"/>
              <a:t>通过在抗坏血酸试剂中加入</a:t>
            </a:r>
            <a:r>
              <a:rPr lang="en-US" altLang="zh-CN" dirty="0"/>
              <a:t>EDTA</a:t>
            </a:r>
            <a:r>
              <a:rPr lang="zh-CN" altLang="en-US" dirty="0"/>
              <a:t>和甲酸，延长抗坏血酸还原剂的稳定时间</a:t>
            </a:r>
            <a:endParaRPr lang="en-US" altLang="zh-CN" dirty="0"/>
          </a:p>
          <a:p>
            <a:pPr marL="914400" lvl="1" indent="-457200">
              <a:buFont typeface="+mj-lt"/>
              <a:buAutoNum type="arabicPeriod"/>
            </a:pPr>
            <a:endParaRPr lang="en-US" altLang="zh-CN" dirty="0"/>
          </a:p>
          <a:p>
            <a:pPr lvl="1"/>
            <a:endParaRPr lang="en-US" altLang="zh-CN" dirty="0"/>
          </a:p>
          <a:p>
            <a:pPr lvl="1">
              <a:buNone/>
            </a:pPr>
            <a:endParaRPr lang="zh-CN" altLang="en-US" dirty="0"/>
          </a:p>
        </p:txBody>
      </p:sp>
      <p:sp>
        <p:nvSpPr>
          <p:cNvPr id="6" name="TextBox 5"/>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pic>
        <p:nvPicPr>
          <p:cNvPr id="158722" name="Picture 2" descr="D:\课程\课件\课程图片\3.png"/>
          <p:cNvPicPr>
            <a:picLocks noChangeAspect="1" noChangeArrowheads="1"/>
          </p:cNvPicPr>
          <p:nvPr/>
        </p:nvPicPr>
        <p:blipFill>
          <a:blip r:embed="rId2" cstate="print"/>
          <a:srcRect/>
          <a:stretch>
            <a:fillRect/>
          </a:stretch>
        </p:blipFill>
        <p:spPr bwMode="auto">
          <a:xfrm>
            <a:off x="642910" y="3571876"/>
            <a:ext cx="7913687" cy="1228725"/>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28736"/>
            <a:ext cx="8401080" cy="3357586"/>
          </a:xfrm>
        </p:spPr>
        <p:txBody>
          <a:bodyPr/>
          <a:lstStyle/>
          <a:p>
            <a:pPr marL="571500" indent="-514350"/>
            <a:r>
              <a:rPr lang="zh-CN" altLang="en-US" dirty="0"/>
              <a:t>米吐尔还原剂</a:t>
            </a:r>
            <a:endParaRPr lang="en-US" altLang="zh-CN" dirty="0"/>
          </a:p>
          <a:p>
            <a:pPr marL="971550" lvl="1" indent="-514350"/>
            <a:r>
              <a:rPr lang="zh-CN" altLang="en-US" dirty="0"/>
              <a:t>反应时间长，需要在</a:t>
            </a:r>
            <a:r>
              <a:rPr lang="en-US" altLang="zh-CN" dirty="0"/>
              <a:t>100</a:t>
            </a:r>
            <a:r>
              <a:rPr lang="zh-CN" altLang="en-US" dirty="0"/>
              <a:t>℃加热</a:t>
            </a:r>
            <a:r>
              <a:rPr lang="en-US" altLang="zh-CN" dirty="0"/>
              <a:t>2</a:t>
            </a:r>
            <a:r>
              <a:rPr lang="zh-CN" altLang="en-US" dirty="0"/>
              <a:t>小时，时常出现色阶不规则现象</a:t>
            </a:r>
            <a:endParaRPr lang="en-US" altLang="zh-CN" dirty="0"/>
          </a:p>
          <a:p>
            <a:pPr marL="971550" lvl="1" indent="-514350"/>
            <a:r>
              <a:rPr lang="zh-CN" altLang="en-US" dirty="0"/>
              <a:t>显色后颜色稳定性好（可稳定</a:t>
            </a:r>
            <a:r>
              <a:rPr lang="en-US" altLang="zh-CN" dirty="0"/>
              <a:t>60</a:t>
            </a:r>
            <a:r>
              <a:rPr lang="zh-CN" altLang="en-US" dirty="0"/>
              <a:t>小时以上），盐度误差小</a:t>
            </a:r>
            <a:endParaRPr lang="en-US" altLang="zh-CN" dirty="0"/>
          </a:p>
          <a:p>
            <a:pPr marL="971550" lvl="1" indent="-514350"/>
            <a:endParaRPr lang="en-US" altLang="zh-CN" dirty="0"/>
          </a:p>
          <a:p>
            <a:pPr marL="971550" lvl="1" indent="-514350"/>
            <a:endParaRPr lang="en-US" altLang="zh-CN" dirty="0"/>
          </a:p>
          <a:p>
            <a:pPr marL="971550" lvl="1" indent="-514350"/>
            <a:endParaRPr lang="en-US" altLang="zh-CN" dirty="0"/>
          </a:p>
          <a:p>
            <a:pPr marL="971550" lvl="1" indent="-514350"/>
            <a:r>
              <a:rPr lang="zh-CN" altLang="en-US" dirty="0"/>
              <a:t>通过在抗坏血酸试剂中加入</a:t>
            </a:r>
            <a:r>
              <a:rPr lang="en-US" altLang="zh-CN" dirty="0"/>
              <a:t>EDTA</a:t>
            </a:r>
            <a:r>
              <a:rPr lang="zh-CN" altLang="en-US" dirty="0"/>
              <a:t>和甲酸，延长抗坏血酸还原剂的稳定时间</a:t>
            </a:r>
            <a:endParaRPr lang="en-US" altLang="zh-CN" dirty="0"/>
          </a:p>
          <a:p>
            <a:pPr marL="914400" lvl="1" indent="-457200">
              <a:buFont typeface="+mj-lt"/>
              <a:buAutoNum type="arabicPeriod"/>
            </a:pPr>
            <a:endParaRPr lang="en-US" altLang="zh-CN" dirty="0"/>
          </a:p>
          <a:p>
            <a:pPr lvl="1"/>
            <a:endParaRPr lang="en-US" altLang="zh-CN" dirty="0"/>
          </a:p>
          <a:p>
            <a:pPr lvl="1">
              <a:buNone/>
            </a:pPr>
            <a:endParaRPr lang="zh-CN" altLang="en-US" dirty="0"/>
          </a:p>
        </p:txBody>
      </p:sp>
      <p:pic>
        <p:nvPicPr>
          <p:cNvPr id="158722" name="Picture 2" descr="D:\课程\课件\课程图片\3.png"/>
          <p:cNvPicPr>
            <a:picLocks noChangeAspect="1" noChangeArrowheads="1"/>
          </p:cNvPicPr>
          <p:nvPr/>
        </p:nvPicPr>
        <p:blipFill>
          <a:blip r:embed="rId2" cstate="print"/>
          <a:srcRect/>
          <a:stretch>
            <a:fillRect/>
          </a:stretch>
        </p:blipFill>
        <p:spPr bwMode="auto">
          <a:xfrm>
            <a:off x="642910" y="3571876"/>
            <a:ext cx="7913687" cy="1228725"/>
          </a:xfrm>
          <a:prstGeom prst="rect">
            <a:avLst/>
          </a:prstGeom>
          <a:noFill/>
        </p:spPr>
      </p:pic>
      <p:sp>
        <p:nvSpPr>
          <p:cNvPr id="5" name="TextBox 5">
            <a:extLst>
              <a:ext uri="{FF2B5EF4-FFF2-40B4-BE49-F238E27FC236}">
                <a16:creationId xmlns:a16="http://schemas.microsoft.com/office/drawing/2014/main" id="{27309C89-CBC2-470D-8A3E-D23A46A20E5C}"/>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D:\课程\课件\课程图片\0.png"/>
          <p:cNvPicPr>
            <a:picLocks noChangeAspect="1" noChangeArrowheads="1"/>
          </p:cNvPicPr>
          <p:nvPr/>
        </p:nvPicPr>
        <p:blipFill>
          <a:blip r:embed="rId2" cstate="print"/>
          <a:srcRect/>
          <a:stretch>
            <a:fillRect/>
          </a:stretch>
        </p:blipFill>
        <p:spPr bwMode="auto">
          <a:xfrm>
            <a:off x="677863" y="1407932"/>
            <a:ext cx="8251823" cy="1949615"/>
          </a:xfrm>
          <a:prstGeom prst="rect">
            <a:avLst/>
          </a:prstGeom>
          <a:noFill/>
        </p:spPr>
      </p:pic>
      <p:pic>
        <p:nvPicPr>
          <p:cNvPr id="159747" name="Picture 3" descr="D:\课程\课件\课程图片\0.png"/>
          <p:cNvPicPr>
            <a:picLocks noChangeAspect="1" noChangeArrowheads="1"/>
          </p:cNvPicPr>
          <p:nvPr/>
        </p:nvPicPr>
        <p:blipFill>
          <a:blip r:embed="rId3" cstate="print"/>
          <a:srcRect/>
          <a:stretch>
            <a:fillRect/>
          </a:stretch>
        </p:blipFill>
        <p:spPr bwMode="auto">
          <a:xfrm>
            <a:off x="500034" y="3286124"/>
            <a:ext cx="7837487" cy="542925"/>
          </a:xfrm>
          <a:prstGeom prst="rect">
            <a:avLst/>
          </a:prstGeom>
          <a:noFill/>
        </p:spPr>
      </p:pic>
      <p:pic>
        <p:nvPicPr>
          <p:cNvPr id="159748" name="Picture 4" descr="D:\课程\课件\课程图片\0.png"/>
          <p:cNvPicPr>
            <a:picLocks noChangeAspect="1" noChangeArrowheads="1"/>
          </p:cNvPicPr>
          <p:nvPr/>
        </p:nvPicPr>
        <p:blipFill>
          <a:blip r:embed="rId4" cstate="print"/>
          <a:srcRect/>
          <a:stretch>
            <a:fillRect/>
          </a:stretch>
        </p:blipFill>
        <p:spPr bwMode="auto">
          <a:xfrm>
            <a:off x="683568" y="3829049"/>
            <a:ext cx="7980363" cy="2603946"/>
          </a:xfrm>
          <a:prstGeom prst="rect">
            <a:avLst/>
          </a:prstGeom>
          <a:noFill/>
        </p:spPr>
      </p:pic>
      <p:sp>
        <p:nvSpPr>
          <p:cNvPr id="9" name="TextBox 8"/>
          <p:cNvSpPr txBox="1"/>
          <p:nvPr/>
        </p:nvSpPr>
        <p:spPr>
          <a:xfrm>
            <a:off x="5786446" y="1428736"/>
            <a:ext cx="3143240" cy="984885"/>
          </a:xfrm>
          <a:prstGeom prst="rect">
            <a:avLst/>
          </a:prstGeom>
          <a:noFill/>
        </p:spPr>
        <p:txBody>
          <a:bodyPr wrap="square" rtlCol="0">
            <a:spAutoFit/>
          </a:bodyPr>
          <a:lstStyle/>
          <a:p>
            <a:r>
              <a:rPr lang="zh-CN" altLang="en-US" sz="2000" dirty="0"/>
              <a:t>控制溶液的</a:t>
            </a:r>
            <a:r>
              <a:rPr lang="en-US" altLang="zh-CN" sz="2000" dirty="0"/>
              <a:t>pH</a:t>
            </a:r>
            <a:r>
              <a:rPr lang="zh-CN" altLang="en-US" sz="2000" dirty="0"/>
              <a:t>值≤</a:t>
            </a:r>
            <a:r>
              <a:rPr lang="en-US" altLang="zh-CN" sz="2000" dirty="0"/>
              <a:t>1</a:t>
            </a:r>
          </a:p>
          <a:p>
            <a:r>
              <a:rPr lang="zh-CN" altLang="en-US" sz="2000" dirty="0"/>
              <a:t>控制硫酸</a:t>
            </a:r>
            <a:r>
              <a:rPr lang="en-US" altLang="zh-CN" sz="2000" dirty="0"/>
              <a:t>/</a:t>
            </a:r>
            <a:r>
              <a:rPr lang="zh-CN" altLang="en-US" sz="2000" dirty="0"/>
              <a:t>钼酸盐的摩尔比</a:t>
            </a:r>
            <a:endParaRPr lang="en-US" altLang="zh-CN" sz="2000" dirty="0"/>
          </a:p>
          <a:p>
            <a:r>
              <a:rPr lang="zh-CN" altLang="en-US" dirty="0"/>
              <a:t>（</a:t>
            </a:r>
            <a:r>
              <a:rPr lang="en-US" altLang="zh-CN" dirty="0"/>
              <a:t>230—330</a:t>
            </a:r>
            <a:r>
              <a:rPr lang="zh-CN" altLang="en-US" dirty="0"/>
              <a:t>）</a:t>
            </a:r>
          </a:p>
        </p:txBody>
      </p:sp>
      <p:sp>
        <p:nvSpPr>
          <p:cNvPr id="7" name="TextBox 5">
            <a:extLst>
              <a:ext uri="{FF2B5EF4-FFF2-40B4-BE49-F238E27FC236}">
                <a16:creationId xmlns:a16="http://schemas.microsoft.com/office/drawing/2014/main" id="{FF401850-9E6D-4A97-A9F7-021F7D83D459}"/>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descr="D:\课程\课件\课程图片\0.png"/>
          <p:cNvPicPr>
            <a:picLocks noChangeAspect="1" noChangeArrowheads="1"/>
          </p:cNvPicPr>
          <p:nvPr/>
        </p:nvPicPr>
        <p:blipFill>
          <a:blip r:embed="rId2" cstate="print"/>
          <a:srcRect/>
          <a:stretch>
            <a:fillRect/>
          </a:stretch>
        </p:blipFill>
        <p:spPr bwMode="auto">
          <a:xfrm>
            <a:off x="571472" y="1412776"/>
            <a:ext cx="7713688" cy="5088058"/>
          </a:xfrm>
          <a:prstGeom prst="rect">
            <a:avLst/>
          </a:prstGeom>
          <a:noFill/>
          <a:effectLst>
            <a:outerShdw blurRad="50800" dist="50800" dir="5400000" algn="ctr" rotWithShape="0">
              <a:schemeClr val="accent5">
                <a:lumMod val="75000"/>
              </a:schemeClr>
            </a:outerShdw>
          </a:effectLst>
        </p:spPr>
      </p:pic>
      <p:pic>
        <p:nvPicPr>
          <p:cNvPr id="4" name="图片 3">
            <a:extLst>
              <a:ext uri="{FF2B5EF4-FFF2-40B4-BE49-F238E27FC236}">
                <a16:creationId xmlns:a16="http://schemas.microsoft.com/office/drawing/2014/main" id="{BADF7AC6-34E8-4D71-9067-5ECBB5A93F21}"/>
              </a:ext>
            </a:extLst>
          </p:cNvPr>
          <p:cNvPicPr/>
          <p:nvPr/>
        </p:nvPicPr>
        <p:blipFill>
          <a:blip r:embed="rId3"/>
          <a:stretch>
            <a:fillRect/>
          </a:stretch>
        </p:blipFill>
        <p:spPr>
          <a:xfrm>
            <a:off x="4067944" y="1421160"/>
            <a:ext cx="4234728" cy="3058953"/>
          </a:xfrm>
          <a:prstGeom prst="rect">
            <a:avLst/>
          </a:prstGeom>
        </p:spPr>
      </p:pic>
      <mc:AlternateContent xmlns:mc="http://schemas.openxmlformats.org/markup-compatibility/2006" xmlns:a14="http://schemas.microsoft.com/office/drawing/2010/main">
        <mc:Choice Requires="a14">
          <p:sp>
            <p:nvSpPr>
              <p:cNvPr id="160788" name="矩形 160787">
                <a:extLst>
                  <a:ext uri="{FF2B5EF4-FFF2-40B4-BE49-F238E27FC236}">
                    <a16:creationId xmlns:a16="http://schemas.microsoft.com/office/drawing/2014/main" id="{91E5824D-AE34-4A75-85E0-CB75393FBEB3}"/>
                  </a:ext>
                </a:extLst>
              </p:cNvPr>
              <p:cNvSpPr/>
              <p:nvPr/>
            </p:nvSpPr>
            <p:spPr>
              <a:xfrm>
                <a:off x="1428728" y="4868863"/>
                <a:ext cx="6120680" cy="735394"/>
              </a:xfrm>
              <a:prstGeom prst="rect">
                <a:avLst/>
              </a:prstGeom>
              <a:solidFill>
                <a:schemeClr val="accent1"/>
              </a:solidFill>
              <a:effectLst>
                <a:outerShdw blurRad="50800" dist="50800" dir="5400000" algn="ctr" rotWithShape="0">
                  <a:srgbClr val="00B050"/>
                </a:outerShdw>
              </a:effectLst>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𝐹</m:t>
                      </m:r>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V</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V</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A</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A</m:t>
                              </m:r>
                            </m:e>
                            <m:sub>
                              <m:r>
                                <a:rPr lang="zh-CN" altLang="en-US" i="0">
                                  <a:latin typeface="Cambria Math" panose="02040503050406030204" pitchFamily="18" charset="0"/>
                                </a:rPr>
                                <m:t>1</m:t>
                              </m:r>
                            </m:sub>
                          </m:sSub>
                        </m:den>
                      </m:f>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0">
                              <a:latin typeface="Cambria Math" panose="02040503050406030204" pitchFamily="18" charset="0"/>
                            </a:rPr>
                            <m:t>使</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1000</m:t>
                          </m:r>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𝑉</m:t>
                              </m:r>
                            </m:e>
                            <m:sub>
                              <m:r>
                                <a:rPr lang="zh-CN" altLang="en-US" i="0">
                                  <a:latin typeface="Cambria Math" panose="02040503050406030204" pitchFamily="18" charset="0"/>
                                </a:rPr>
                                <m:t>样</m:t>
                              </m:r>
                            </m:sub>
                          </m:sSub>
                        </m:den>
                      </m:f>
                      <m:r>
                        <a:rPr lang="zh-CN" altLang="en-US" i="0">
                          <a:latin typeface="Cambria Math" panose="02040503050406030204" pitchFamily="18" charset="0"/>
                        </a:rPr>
                        <m:t>          </m:t>
                      </m:r>
                      <m:r>
                        <a:rPr lang="zh-CN" altLang="en-US" i="0">
                          <a:latin typeface="Cambria Math" panose="02040503050406030204" pitchFamily="18" charset="0"/>
                        </a:rPr>
                        <m:t>（</m:t>
                      </m:r>
                      <m:r>
                        <a:rPr lang="zh-CN" altLang="en-US" i="1">
                          <a:latin typeface="Cambria Math" panose="02040503050406030204" pitchFamily="18" charset="0"/>
                        </a:rPr>
                        <m:t>𝜇</m:t>
                      </m:r>
                      <m:r>
                        <a:rPr lang="zh-CN" altLang="en-US" i="1">
                          <a:latin typeface="Cambria Math" panose="02040503050406030204" pitchFamily="18" charset="0"/>
                        </a:rPr>
                        <m:t>𝑚𝑜</m:t>
                      </m:r>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𝑙</m:t>
                          </m:r>
                        </m:num>
                        <m:den>
                          <m:r>
                            <a:rPr lang="zh-CN" altLang="en-US" i="0">
                              <a:latin typeface="Cambria Math" panose="02040503050406030204" pitchFamily="18" charset="0"/>
                            </a:rPr>
                            <m:t>(</m:t>
                          </m:r>
                        </m:den>
                      </m:f>
                      <m:r>
                        <a:rPr lang="zh-CN" altLang="en-US" i="1">
                          <a:latin typeface="Cambria Math" panose="02040503050406030204" pitchFamily="18" charset="0"/>
                        </a:rPr>
                        <m:t>𝑑</m:t>
                      </m:r>
                      <m:sSup>
                        <m:sSupPr>
                          <m:ctrlPr>
                            <a:rPr lang="zh-CN" altLang="en-US" i="1">
                              <a:latin typeface="Cambria Math" panose="02040503050406030204" pitchFamily="18" charset="0"/>
                            </a:rPr>
                          </m:ctrlPr>
                        </m:sSupPr>
                        <m:e>
                          <m:r>
                            <a:rPr lang="zh-CN" altLang="en-US" i="1">
                              <a:latin typeface="Cambria Math" panose="02040503050406030204" pitchFamily="18" charset="0"/>
                            </a:rPr>
                            <m:t>𝑚</m:t>
                          </m:r>
                        </m:e>
                        <m:sup>
                          <m:r>
                            <a:rPr lang="zh-CN" altLang="en-US" i="0">
                              <a:latin typeface="Cambria Math" panose="02040503050406030204" pitchFamily="18" charset="0"/>
                            </a:rPr>
                            <m:t>3</m:t>
                          </m:r>
                        </m:sup>
                      </m:sSup>
                      <m:r>
                        <a:rPr lang="zh-CN" altLang="en-US" i="0">
                          <a:latin typeface="Cambria Math" panose="02040503050406030204" pitchFamily="18" charset="0"/>
                        </a:rPr>
                        <m:t>∙</m:t>
                      </m:r>
                      <m:r>
                        <a:rPr lang="zh-CN" altLang="en-US" i="1">
                          <a:latin typeface="Cambria Math" panose="02040503050406030204" pitchFamily="18" charset="0"/>
                        </a:rPr>
                        <m:t>𝐴</m:t>
                      </m:r>
                      <m:r>
                        <a:rPr lang="zh-CN" altLang="en-US" i="0">
                          <a:latin typeface="Cambria Math" panose="02040503050406030204" pitchFamily="18" charset="0"/>
                        </a:rPr>
                        <m:t>)</m:t>
                      </m:r>
                      <m:r>
                        <a:rPr lang="zh-CN" altLang="en-US" i="0">
                          <a:latin typeface="Cambria Math" panose="02040503050406030204" pitchFamily="18" charset="0"/>
                        </a:rPr>
                        <m:t>）</m:t>
                      </m:r>
                    </m:oMath>
                  </m:oMathPara>
                </a14:m>
                <a:endParaRPr lang="zh-CN" altLang="en-US" dirty="0"/>
              </a:p>
            </p:txBody>
          </p:sp>
        </mc:Choice>
        <mc:Fallback xmlns="">
          <p:sp>
            <p:nvSpPr>
              <p:cNvPr id="160788" name="矩形 160787">
                <a:extLst>
                  <a:ext uri="{FF2B5EF4-FFF2-40B4-BE49-F238E27FC236}">
                    <a16:creationId xmlns:a16="http://schemas.microsoft.com/office/drawing/2014/main" id="{91E5824D-AE34-4A75-85E0-CB75393FBEB3}"/>
                  </a:ext>
                </a:extLst>
              </p:cNvPr>
              <p:cNvSpPr>
                <a:spLocks noRot="1" noChangeAspect="1" noMove="1" noResize="1" noEditPoints="1" noAdjustHandles="1" noChangeArrowheads="1" noChangeShapeType="1" noTextEdit="1"/>
              </p:cNvSpPr>
              <p:nvPr/>
            </p:nvSpPr>
            <p:spPr>
              <a:xfrm>
                <a:off x="1428728" y="4868863"/>
                <a:ext cx="6120680" cy="735394"/>
              </a:xfrm>
              <a:prstGeom prst="rect">
                <a:avLst/>
              </a:prstGeom>
              <a:blipFill>
                <a:blip r:embed="rId5"/>
                <a:stretch>
                  <a:fillRect/>
                </a:stretch>
              </a:blipFill>
              <a:effectLst>
                <a:outerShdw blurRad="50800" dist="50800" dir="5400000" algn="ctr" rotWithShape="0">
                  <a:srgbClr val="00B05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0789" name="矩形 160788">
                <a:extLst>
                  <a:ext uri="{FF2B5EF4-FFF2-40B4-BE49-F238E27FC236}">
                    <a16:creationId xmlns:a16="http://schemas.microsoft.com/office/drawing/2014/main" id="{7591991F-E22A-49E8-96C8-89BD9ABE84F4}"/>
                  </a:ext>
                </a:extLst>
              </p:cNvPr>
              <p:cNvSpPr/>
              <p:nvPr/>
            </p:nvSpPr>
            <p:spPr>
              <a:xfrm>
                <a:off x="4909272" y="4808072"/>
                <a:ext cx="4234728" cy="923330"/>
              </a:xfrm>
              <a:prstGeom prst="rect">
                <a:avLst/>
              </a:prstGeom>
              <a:solidFill>
                <a:schemeClr val="accent1"/>
              </a:solidFill>
            </p:spPr>
            <p:txBody>
              <a:bodyPr wrap="square">
                <a:spAutoFit/>
              </a:bodyPr>
              <a:lstStyle/>
              <a:p>
                <a:r>
                  <a:rPr lang="en-US" altLang="zh-CN" dirty="0">
                    <a:latin typeface="Calibri" panose="020F0502020204030204" pitchFamily="34" charset="0"/>
                    <a:ea typeface="宋体" panose="02010600030101010101" pitchFamily="2" charset="-122"/>
                    <a:cs typeface="Times New Roman" panose="02020603050405020304" pitchFamily="18" charset="0"/>
                  </a:rPr>
                  <a:t>V</a:t>
                </a:r>
                <a:r>
                  <a:rPr lang="en-US" altLang="zh-CN" baseline="-25000" dirty="0">
                    <a:latin typeface="Calibri" panose="020F0502020204030204" pitchFamily="34" charset="0"/>
                    <a:ea typeface="宋体" panose="02010600030101010101" pitchFamily="2" charset="-122"/>
                    <a:cs typeface="Times New Roman" panose="02020603050405020304" pitchFamily="18" charset="0"/>
                  </a:rPr>
                  <a:t>1</a:t>
                </a:r>
                <a:r>
                  <a:rPr lang="zh-CN" altLang="zh-CN" dirty="0">
                    <a:latin typeface="Calibri" panose="020F0502020204030204" pitchFamily="34" charset="0"/>
                    <a:ea typeface="宋体" panose="02010600030101010101" pitchFamily="2" charset="-122"/>
                    <a:cs typeface="Times New Roman" panose="02020603050405020304" pitchFamily="18" charset="0"/>
                  </a:rPr>
                  <a:t>，</a:t>
                </a:r>
                <a:r>
                  <a:rPr lang="en-US" altLang="zh-CN" dirty="0">
                    <a:latin typeface="Calibri" panose="020F0502020204030204" pitchFamily="34" charset="0"/>
                    <a:ea typeface="宋体" panose="02010600030101010101" pitchFamily="2" charset="-122"/>
                    <a:cs typeface="Times New Roman" panose="02020603050405020304" pitchFamily="18" charset="0"/>
                  </a:rPr>
                  <a:t>V</a:t>
                </a:r>
                <a:r>
                  <a:rPr lang="en-US" altLang="zh-CN" baseline="-25000" dirty="0">
                    <a:latin typeface="Calibri" panose="020F0502020204030204" pitchFamily="34" charset="0"/>
                    <a:ea typeface="宋体" panose="02010600030101010101" pitchFamily="2" charset="-122"/>
                    <a:cs typeface="Times New Roman" panose="02020603050405020304" pitchFamily="18" charset="0"/>
                  </a:rPr>
                  <a:t>2</a:t>
                </a:r>
                <a:r>
                  <a:rPr lang="zh-CN" altLang="zh-CN" dirty="0">
                    <a:latin typeface="Calibri" panose="020F0502020204030204" pitchFamily="34" charset="0"/>
                    <a:ea typeface="宋体" panose="02010600030101010101" pitchFamily="2" charset="-122"/>
                    <a:cs typeface="Times New Roman" panose="02020603050405020304" pitchFamily="18" charset="0"/>
                  </a:rPr>
                  <a:t>分别是加入标准的体积数。</a:t>
                </a:r>
                <a:r>
                  <a:rPr lang="en-US" altLang="zh-CN" dirty="0">
                    <a:latin typeface="Calibri" panose="020F0502020204030204" pitchFamily="34" charset="0"/>
                    <a:ea typeface="宋体" panose="02010600030101010101" pitchFamily="2" charset="-122"/>
                    <a:cs typeface="Times New Roman" panose="02020603050405020304" pitchFamily="18" charset="0"/>
                  </a:rPr>
                  <a:t>A</a:t>
                </a:r>
                <a:r>
                  <a:rPr lang="en-US" altLang="zh-CN" baseline="-25000" dirty="0">
                    <a:latin typeface="Calibri" panose="020F0502020204030204" pitchFamily="34" charset="0"/>
                    <a:ea typeface="宋体" panose="02010600030101010101" pitchFamily="2" charset="-122"/>
                    <a:cs typeface="Times New Roman" panose="02020603050405020304" pitchFamily="18" charset="0"/>
                  </a:rPr>
                  <a:t>1</a:t>
                </a:r>
                <a:r>
                  <a:rPr lang="zh-CN" altLang="zh-CN" dirty="0">
                    <a:latin typeface="Calibri" panose="020F0502020204030204" pitchFamily="34" charset="0"/>
                    <a:ea typeface="宋体" panose="02010600030101010101" pitchFamily="2" charset="-122"/>
                    <a:cs typeface="Times New Roman" panose="02020603050405020304" pitchFamily="18" charset="0"/>
                  </a:rPr>
                  <a:t>，</a:t>
                </a:r>
                <a:r>
                  <a:rPr lang="en-US" altLang="zh-CN" dirty="0">
                    <a:latin typeface="Calibri" panose="020F0502020204030204" pitchFamily="34" charset="0"/>
                    <a:ea typeface="宋体" panose="02010600030101010101" pitchFamily="2" charset="-122"/>
                    <a:cs typeface="Times New Roman" panose="02020603050405020304" pitchFamily="18" charset="0"/>
                  </a:rPr>
                  <a:t>A</a:t>
                </a:r>
                <a:r>
                  <a:rPr lang="en-US" altLang="zh-CN" baseline="-25000" dirty="0">
                    <a:latin typeface="Calibri" panose="020F0502020204030204" pitchFamily="34" charset="0"/>
                    <a:ea typeface="宋体" panose="02010600030101010101" pitchFamily="2" charset="-122"/>
                    <a:cs typeface="Times New Roman" panose="02020603050405020304" pitchFamily="18" charset="0"/>
                  </a:rPr>
                  <a:t>2</a:t>
                </a:r>
                <a:r>
                  <a:rPr lang="zh-CN" altLang="zh-CN" dirty="0">
                    <a:latin typeface="Calibri" panose="020F0502020204030204" pitchFamily="34" charset="0"/>
                    <a:ea typeface="宋体" panose="02010600030101010101" pitchFamily="2" charset="-122"/>
                    <a:cs typeface="Times New Roman" panose="02020603050405020304" pitchFamily="18" charset="0"/>
                  </a:rPr>
                  <a:t>分别是</a:t>
                </a:r>
                <a:r>
                  <a:rPr lang="en-US" altLang="zh-CN" dirty="0">
                    <a:latin typeface="Calibri" panose="020F0502020204030204" pitchFamily="34" charset="0"/>
                    <a:ea typeface="宋体" panose="02010600030101010101" pitchFamily="2" charset="-122"/>
                    <a:cs typeface="Times New Roman" panose="02020603050405020304" pitchFamily="18" charset="0"/>
                  </a:rPr>
                  <a:t>V</a:t>
                </a:r>
                <a:r>
                  <a:rPr lang="en-US" altLang="zh-CN" baseline="-25000" dirty="0">
                    <a:latin typeface="Calibri" panose="020F0502020204030204" pitchFamily="34" charset="0"/>
                    <a:ea typeface="宋体" panose="02010600030101010101" pitchFamily="2" charset="-122"/>
                    <a:cs typeface="Times New Roman" panose="02020603050405020304" pitchFamily="18" charset="0"/>
                  </a:rPr>
                  <a:t>1</a:t>
                </a:r>
                <a:r>
                  <a:rPr lang="zh-CN" altLang="zh-CN" dirty="0">
                    <a:latin typeface="Calibri" panose="020F0502020204030204" pitchFamily="34" charset="0"/>
                    <a:ea typeface="宋体" panose="02010600030101010101" pitchFamily="2" charset="-122"/>
                    <a:cs typeface="Times New Roman" panose="02020603050405020304" pitchFamily="18" charset="0"/>
                  </a:rPr>
                  <a:t>，</a:t>
                </a:r>
                <a:r>
                  <a:rPr lang="en-US" altLang="zh-CN" dirty="0">
                    <a:latin typeface="Calibri" panose="020F0502020204030204" pitchFamily="34" charset="0"/>
                    <a:ea typeface="宋体" panose="02010600030101010101" pitchFamily="2" charset="-122"/>
                    <a:cs typeface="Times New Roman" panose="02020603050405020304" pitchFamily="18" charset="0"/>
                  </a:rPr>
                  <a:t>V</a:t>
                </a:r>
                <a:r>
                  <a:rPr lang="en-US" altLang="zh-CN" baseline="-25000" dirty="0">
                    <a:latin typeface="Calibri" panose="020F0502020204030204" pitchFamily="34" charset="0"/>
                    <a:ea typeface="宋体" panose="02010600030101010101" pitchFamily="2" charset="-122"/>
                    <a:cs typeface="Times New Roman" panose="02020603050405020304" pitchFamily="18" charset="0"/>
                  </a:rPr>
                  <a:t>2</a:t>
                </a:r>
                <a:r>
                  <a:rPr lang="zh-CN" altLang="zh-CN" dirty="0">
                    <a:latin typeface="Calibri" panose="020F0502020204030204" pitchFamily="34" charset="0"/>
                    <a:ea typeface="宋体" panose="02010600030101010101" pitchFamily="2" charset="-122"/>
                    <a:cs typeface="Times New Roman" panose="02020603050405020304" pitchFamily="18" charset="0"/>
                  </a:rPr>
                  <a:t>所对应的吸光度。</a:t>
                </a:r>
                <a:r>
                  <a:rPr lang="en-US" altLang="zh-CN" dirty="0">
                    <a:latin typeface="Calibri" panose="020F0502020204030204" pitchFamily="34" charset="0"/>
                    <a:ea typeface="宋体" panose="02010600030101010101" pitchFamily="2" charset="-122"/>
                    <a:cs typeface="Times New Roman" panose="02020603050405020304" pitchFamily="18" charset="0"/>
                  </a:rPr>
                  <a:t>c</a:t>
                </a:r>
                <a:r>
                  <a:rPr lang="zh-CN" altLang="zh-CN" baseline="-25000" dirty="0">
                    <a:latin typeface="Calibri" panose="020F0502020204030204" pitchFamily="34" charset="0"/>
                    <a:ea typeface="宋体" panose="02010600030101010101" pitchFamily="2" charset="-122"/>
                    <a:cs typeface="Times New Roman" panose="02020603050405020304" pitchFamily="18" charset="0"/>
                  </a:rPr>
                  <a:t>使</a:t>
                </a:r>
                <a:r>
                  <a:rPr lang="zh-CN" altLang="zh-CN" dirty="0">
                    <a:latin typeface="Calibri" panose="020F0502020204030204" pitchFamily="34" charset="0"/>
                    <a:ea typeface="宋体" panose="02010600030101010101" pitchFamily="2" charset="-122"/>
                    <a:cs typeface="Times New Roman" panose="02020603050405020304" pitchFamily="18" charset="0"/>
                  </a:rPr>
                  <a:t>为使用标准溶液的浓度，</a:t>
                </a:r>
                <a14:m>
                  <m:oMath xmlns:m="http://schemas.openxmlformats.org/officeDocument/2006/math">
                    <m:r>
                      <a:rPr lang="en-US" altLang="zh-CN" i="1">
                        <a:latin typeface="Cambria Math" panose="02040503050406030204" pitchFamily="18" charset="0"/>
                        <a:ea typeface="宋体" panose="02010600030101010101" pitchFamily="2" charset="-122"/>
                        <a:cs typeface="MS Gothic" panose="020B0609070205080204" pitchFamily="49" charset="-128"/>
                      </a:rPr>
                      <m:t>𝜇</m:t>
                    </m:r>
                    <m:r>
                      <a:rPr lang="en-US" altLang="zh-CN" i="1">
                        <a:latin typeface="Cambria Math" panose="02040503050406030204" pitchFamily="18" charset="0"/>
                        <a:ea typeface="宋体" panose="02010600030101010101" pitchFamily="2" charset="-122"/>
                        <a:cs typeface="MS Gothic" panose="020B0609070205080204" pitchFamily="49" charset="-128"/>
                      </a:rPr>
                      <m:t>𝑚𝑜𝑙</m:t>
                    </m:r>
                    <m:r>
                      <a:rPr lang="en-US" altLang="zh-CN" i="1">
                        <a:latin typeface="Cambria Math" panose="02040503050406030204" pitchFamily="18" charset="0"/>
                        <a:ea typeface="宋体" panose="02010600030101010101" pitchFamily="2" charset="-122"/>
                        <a:cs typeface="MS Gothic" panose="020B0609070205080204" pitchFamily="49" charset="-128"/>
                      </a:rPr>
                      <m:t>/</m:t>
                    </m:r>
                    <m:sSup>
                      <m:sSupPr>
                        <m:ctrlPr>
                          <a:rPr lang="zh-CN" altLang="zh-CN" i="1">
                            <a:latin typeface="Cambria Math" panose="02040503050406030204" pitchFamily="18" charset="0"/>
                            <a:ea typeface="Cambria Math" panose="02040503050406030204" pitchFamily="18" charset="0"/>
                          </a:rPr>
                        </m:ctrlPr>
                      </m:sSupPr>
                      <m:e>
                        <m:r>
                          <m:rPr>
                            <m:sty m:val="p"/>
                          </m:rPr>
                          <a:rPr lang="en-US" altLang="zh-CN">
                            <a:latin typeface="Cambria Math" panose="02040503050406030204" pitchFamily="18" charset="0"/>
                            <a:ea typeface="宋体" panose="02010600030101010101" pitchFamily="2" charset="-122"/>
                            <a:cs typeface="Times New Roman" panose="02020603050405020304" pitchFamily="18" charset="0"/>
                          </a:rPr>
                          <m:t>cm</m:t>
                        </m:r>
                      </m:e>
                      <m:sup>
                        <m:r>
                          <a:rPr lang="en-US" altLang="zh-CN" baseline="30000">
                            <a:latin typeface="Cambria Math" panose="02040503050406030204" pitchFamily="18" charset="0"/>
                            <a:ea typeface="宋体" panose="02010600030101010101" pitchFamily="2" charset="-122"/>
                            <a:cs typeface="Times New Roman" panose="02020603050405020304" pitchFamily="18" charset="0"/>
                          </a:rPr>
                          <m:t>3</m:t>
                        </m:r>
                      </m:sup>
                    </m:sSup>
                  </m:oMath>
                </a14:m>
                <a:r>
                  <a:rPr lang="zh-CN" altLang="zh-CN" dirty="0">
                    <a:latin typeface="Calibri" panose="020F0502020204030204" pitchFamily="34" charset="0"/>
                    <a:ea typeface="宋体" panose="02010600030101010101" pitchFamily="2" charset="-122"/>
                    <a:cs typeface="Times New Roman" panose="02020603050405020304" pitchFamily="18" charset="0"/>
                  </a:rPr>
                  <a:t>。</a:t>
                </a:r>
                <a:endParaRPr lang="zh-CN" altLang="en-US" dirty="0"/>
              </a:p>
            </p:txBody>
          </p:sp>
        </mc:Choice>
        <mc:Fallback xmlns="">
          <p:sp>
            <p:nvSpPr>
              <p:cNvPr id="160789" name="矩形 160788">
                <a:extLst>
                  <a:ext uri="{FF2B5EF4-FFF2-40B4-BE49-F238E27FC236}">
                    <a16:creationId xmlns:a16="http://schemas.microsoft.com/office/drawing/2014/main" id="{7591991F-E22A-49E8-96C8-89BD9ABE84F4}"/>
                  </a:ext>
                </a:extLst>
              </p:cNvPr>
              <p:cNvSpPr>
                <a:spLocks noRot="1" noChangeAspect="1" noMove="1" noResize="1" noEditPoints="1" noAdjustHandles="1" noChangeArrowheads="1" noChangeShapeType="1" noTextEdit="1"/>
              </p:cNvSpPr>
              <p:nvPr/>
            </p:nvSpPr>
            <p:spPr>
              <a:xfrm>
                <a:off x="4909272" y="4808072"/>
                <a:ext cx="4234728" cy="923330"/>
              </a:xfrm>
              <a:prstGeom prst="rect">
                <a:avLst/>
              </a:prstGeom>
              <a:blipFill>
                <a:blip r:embed="rId6"/>
                <a:stretch>
                  <a:fillRect l="-1151" t="-5960" r="-144" b="-8609"/>
                </a:stretch>
              </a:blipFill>
            </p:spPr>
            <p:txBody>
              <a:bodyPr/>
              <a:lstStyle/>
              <a:p>
                <a:r>
                  <a:rPr lang="zh-CN" altLang="en-US">
                    <a:noFill/>
                  </a:rPr>
                  <a:t> </a:t>
                </a:r>
              </a:p>
            </p:txBody>
          </p:sp>
        </mc:Fallback>
      </mc:AlternateContent>
      <p:sp>
        <p:nvSpPr>
          <p:cNvPr id="160791" name="矩形 160790">
            <a:extLst>
              <a:ext uri="{FF2B5EF4-FFF2-40B4-BE49-F238E27FC236}">
                <a16:creationId xmlns:a16="http://schemas.microsoft.com/office/drawing/2014/main" id="{1B210AC4-9776-4CE8-873C-8F6BD8614EB2}"/>
              </a:ext>
            </a:extLst>
          </p:cNvPr>
          <p:cNvSpPr/>
          <p:nvPr/>
        </p:nvSpPr>
        <p:spPr bwMode="auto">
          <a:xfrm>
            <a:off x="2849064" y="2420888"/>
            <a:ext cx="720080" cy="360040"/>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
        <p:nvSpPr>
          <p:cNvPr id="160792" name="文本框 160791">
            <a:extLst>
              <a:ext uri="{FF2B5EF4-FFF2-40B4-BE49-F238E27FC236}">
                <a16:creationId xmlns:a16="http://schemas.microsoft.com/office/drawing/2014/main" id="{3FC85A7D-8FD3-42A7-AF5A-25D420456DE7}"/>
              </a:ext>
            </a:extLst>
          </p:cNvPr>
          <p:cNvSpPr txBox="1"/>
          <p:nvPr/>
        </p:nvSpPr>
        <p:spPr>
          <a:xfrm>
            <a:off x="2266429" y="1805619"/>
            <a:ext cx="1943745" cy="646331"/>
          </a:xfrm>
          <a:prstGeom prst="rect">
            <a:avLst/>
          </a:prstGeom>
          <a:noFill/>
        </p:spPr>
        <p:txBody>
          <a:bodyPr wrap="square" rtlCol="0">
            <a:spAutoFit/>
          </a:bodyPr>
          <a:lstStyle/>
          <a:p>
            <a:pPr algn="r"/>
            <a:r>
              <a:rPr lang="zh-CN" altLang="en-US" dirty="0"/>
              <a:t>为什么要有标准？标准怎么来的？</a:t>
            </a:r>
          </a:p>
        </p:txBody>
      </p:sp>
      <p:sp>
        <p:nvSpPr>
          <p:cNvPr id="160793" name="矩形 160792">
            <a:extLst>
              <a:ext uri="{FF2B5EF4-FFF2-40B4-BE49-F238E27FC236}">
                <a16:creationId xmlns:a16="http://schemas.microsoft.com/office/drawing/2014/main" id="{C21E953C-B993-4220-9943-DE1FD43DE666}"/>
              </a:ext>
            </a:extLst>
          </p:cNvPr>
          <p:cNvSpPr/>
          <p:nvPr/>
        </p:nvSpPr>
        <p:spPr>
          <a:xfrm>
            <a:off x="7109223" y="5645966"/>
            <a:ext cx="703137" cy="923330"/>
          </a:xfrm>
          <a:prstGeom prst="rect">
            <a:avLst/>
          </a:prstGeom>
          <a:noFill/>
        </p:spPr>
        <p:txBody>
          <a:bodyPr wrap="square" lIns="91440" tIns="45720" rIns="91440" bIns="45720">
            <a:spAutoFit/>
          </a:bodyPr>
          <a:lstStyle/>
          <a:p>
            <a:pPr algn="ctr"/>
            <a:r>
              <a:rPr lang="zh-CN" altLang="en-US" sz="5400" b="1" cap="none" spc="0" dirty="0">
                <a:ln w="22225">
                  <a:solidFill>
                    <a:schemeClr val="accent2"/>
                  </a:solidFill>
                  <a:prstDash val="solid"/>
                </a:ln>
                <a:solidFill>
                  <a:schemeClr val="accent2">
                    <a:lumMod val="40000"/>
                    <a:lumOff val="60000"/>
                  </a:schemeClr>
                </a:solidFill>
                <a:effectLst/>
              </a:rPr>
              <a:t>？</a:t>
            </a:r>
          </a:p>
        </p:txBody>
      </p:sp>
      <p:sp>
        <p:nvSpPr>
          <p:cNvPr id="160794" name="文本框 160793">
            <a:extLst>
              <a:ext uri="{FF2B5EF4-FFF2-40B4-BE49-F238E27FC236}">
                <a16:creationId xmlns:a16="http://schemas.microsoft.com/office/drawing/2014/main" id="{72581A65-B41D-461E-AE94-31B5BDAA7DE1}"/>
              </a:ext>
            </a:extLst>
          </p:cNvPr>
          <p:cNvSpPr txBox="1"/>
          <p:nvPr/>
        </p:nvSpPr>
        <p:spPr>
          <a:xfrm>
            <a:off x="7514903" y="5960143"/>
            <a:ext cx="770257" cy="369332"/>
          </a:xfrm>
          <a:prstGeom prst="rect">
            <a:avLst/>
          </a:prstGeom>
          <a:noFill/>
        </p:spPr>
        <p:txBody>
          <a:bodyPr wrap="square" rtlCol="0">
            <a:spAutoFit/>
          </a:bodyPr>
          <a:lstStyle/>
          <a:p>
            <a:r>
              <a:rPr lang="zh-CN" altLang="en-US" dirty="0"/>
              <a:t>作业</a:t>
            </a:r>
          </a:p>
        </p:txBody>
      </p:sp>
      <p:sp>
        <p:nvSpPr>
          <p:cNvPr id="11" name="TextBox 5">
            <a:extLst>
              <a:ext uri="{FF2B5EF4-FFF2-40B4-BE49-F238E27FC236}">
                <a16:creationId xmlns:a16="http://schemas.microsoft.com/office/drawing/2014/main" id="{4C61FC8C-2668-494D-9ED8-1EEDA4D75C2F}"/>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0788"/>
                                        </p:tgtEl>
                                        <p:attrNameLst>
                                          <p:attrName>style.visibility</p:attrName>
                                        </p:attrNameLst>
                                      </p:cBhvr>
                                      <p:to>
                                        <p:strVal val="visible"/>
                                      </p:to>
                                    </p:set>
                                    <p:anim calcmode="lin" valueType="num">
                                      <p:cBhvr additive="base">
                                        <p:cTn id="11" dur="500" fill="hold"/>
                                        <p:tgtEl>
                                          <p:spTgt spid="160788"/>
                                        </p:tgtEl>
                                        <p:attrNameLst>
                                          <p:attrName>ppt_x</p:attrName>
                                        </p:attrNameLst>
                                      </p:cBhvr>
                                      <p:tavLst>
                                        <p:tav tm="0">
                                          <p:val>
                                            <p:strVal val="#ppt_x"/>
                                          </p:val>
                                        </p:tav>
                                        <p:tav tm="100000">
                                          <p:val>
                                            <p:strVal val="#ppt_x"/>
                                          </p:val>
                                        </p:tav>
                                      </p:tavLst>
                                    </p:anim>
                                    <p:anim calcmode="lin" valueType="num">
                                      <p:cBhvr additive="base">
                                        <p:cTn id="12" dur="500" fill="hold"/>
                                        <p:tgtEl>
                                          <p:spTgt spid="16078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0789"/>
                                        </p:tgtEl>
                                        <p:attrNameLst>
                                          <p:attrName>style.visibility</p:attrName>
                                        </p:attrNameLst>
                                      </p:cBhvr>
                                      <p:to>
                                        <p:strVal val="visible"/>
                                      </p:to>
                                    </p:set>
                                    <p:anim calcmode="lin" valueType="num">
                                      <p:cBhvr additive="base">
                                        <p:cTn id="15" dur="500" fill="hold"/>
                                        <p:tgtEl>
                                          <p:spTgt spid="160789"/>
                                        </p:tgtEl>
                                        <p:attrNameLst>
                                          <p:attrName>ppt_x</p:attrName>
                                        </p:attrNameLst>
                                      </p:cBhvr>
                                      <p:tavLst>
                                        <p:tav tm="0">
                                          <p:val>
                                            <p:strVal val="#ppt_x"/>
                                          </p:val>
                                        </p:tav>
                                        <p:tav tm="100000">
                                          <p:val>
                                            <p:strVal val="#ppt_x"/>
                                          </p:val>
                                        </p:tav>
                                      </p:tavLst>
                                    </p:anim>
                                    <p:anim calcmode="lin" valueType="num">
                                      <p:cBhvr additive="base">
                                        <p:cTn id="16" dur="500" fill="hold"/>
                                        <p:tgtEl>
                                          <p:spTgt spid="16078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60791"/>
                                        </p:tgtEl>
                                        <p:attrNameLst>
                                          <p:attrName>style.visibility</p:attrName>
                                        </p:attrNameLst>
                                      </p:cBhvr>
                                      <p:to>
                                        <p:strVal val="visible"/>
                                      </p:to>
                                    </p:set>
                                    <p:anim calcmode="lin" valueType="num">
                                      <p:cBhvr additive="base">
                                        <p:cTn id="21" dur="500" fill="hold"/>
                                        <p:tgtEl>
                                          <p:spTgt spid="160791"/>
                                        </p:tgtEl>
                                        <p:attrNameLst>
                                          <p:attrName>ppt_x</p:attrName>
                                        </p:attrNameLst>
                                      </p:cBhvr>
                                      <p:tavLst>
                                        <p:tav tm="0">
                                          <p:val>
                                            <p:strVal val="#ppt_x"/>
                                          </p:val>
                                        </p:tav>
                                        <p:tav tm="100000">
                                          <p:val>
                                            <p:strVal val="#ppt_x"/>
                                          </p:val>
                                        </p:tav>
                                      </p:tavLst>
                                    </p:anim>
                                    <p:anim calcmode="lin" valueType="num">
                                      <p:cBhvr additive="base">
                                        <p:cTn id="22" dur="500" fill="hold"/>
                                        <p:tgtEl>
                                          <p:spTgt spid="16079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0792"/>
                                        </p:tgtEl>
                                        <p:attrNameLst>
                                          <p:attrName>style.visibility</p:attrName>
                                        </p:attrNameLst>
                                      </p:cBhvr>
                                      <p:to>
                                        <p:strVal val="visible"/>
                                      </p:to>
                                    </p:set>
                                    <p:anim calcmode="lin" valueType="num">
                                      <p:cBhvr additive="base">
                                        <p:cTn id="27" dur="500" fill="hold"/>
                                        <p:tgtEl>
                                          <p:spTgt spid="160792"/>
                                        </p:tgtEl>
                                        <p:attrNameLst>
                                          <p:attrName>ppt_x</p:attrName>
                                        </p:attrNameLst>
                                      </p:cBhvr>
                                      <p:tavLst>
                                        <p:tav tm="0">
                                          <p:val>
                                            <p:strVal val="#ppt_x"/>
                                          </p:val>
                                        </p:tav>
                                        <p:tav tm="100000">
                                          <p:val>
                                            <p:strVal val="#ppt_x"/>
                                          </p:val>
                                        </p:tav>
                                      </p:tavLst>
                                    </p:anim>
                                    <p:anim calcmode="lin" valueType="num">
                                      <p:cBhvr additive="base">
                                        <p:cTn id="28" dur="500" fill="hold"/>
                                        <p:tgtEl>
                                          <p:spTgt spid="16079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0794"/>
                                        </p:tgtEl>
                                        <p:attrNameLst>
                                          <p:attrName>style.visibility</p:attrName>
                                        </p:attrNameLst>
                                      </p:cBhvr>
                                      <p:to>
                                        <p:strVal val="visible"/>
                                      </p:to>
                                    </p:set>
                                    <p:anim calcmode="lin" valueType="num">
                                      <p:cBhvr additive="base">
                                        <p:cTn id="33" dur="500" fill="hold"/>
                                        <p:tgtEl>
                                          <p:spTgt spid="160794"/>
                                        </p:tgtEl>
                                        <p:attrNameLst>
                                          <p:attrName>ppt_x</p:attrName>
                                        </p:attrNameLst>
                                      </p:cBhvr>
                                      <p:tavLst>
                                        <p:tav tm="0">
                                          <p:val>
                                            <p:strVal val="#ppt_x"/>
                                          </p:val>
                                        </p:tav>
                                        <p:tav tm="100000">
                                          <p:val>
                                            <p:strVal val="#ppt_x"/>
                                          </p:val>
                                        </p:tav>
                                      </p:tavLst>
                                    </p:anim>
                                    <p:anim calcmode="lin" valueType="num">
                                      <p:cBhvr additive="base">
                                        <p:cTn id="34" dur="500" fill="hold"/>
                                        <p:tgtEl>
                                          <p:spTgt spid="16079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60793"/>
                                        </p:tgtEl>
                                        <p:attrNameLst>
                                          <p:attrName>style.visibility</p:attrName>
                                        </p:attrNameLst>
                                      </p:cBhvr>
                                      <p:to>
                                        <p:strVal val="visible"/>
                                      </p:to>
                                    </p:set>
                                    <p:anim calcmode="lin" valueType="num">
                                      <p:cBhvr additive="base">
                                        <p:cTn id="37" dur="500" fill="hold"/>
                                        <p:tgtEl>
                                          <p:spTgt spid="160793"/>
                                        </p:tgtEl>
                                        <p:attrNameLst>
                                          <p:attrName>ppt_x</p:attrName>
                                        </p:attrNameLst>
                                      </p:cBhvr>
                                      <p:tavLst>
                                        <p:tav tm="0">
                                          <p:val>
                                            <p:strVal val="#ppt_x"/>
                                          </p:val>
                                        </p:tav>
                                        <p:tav tm="100000">
                                          <p:val>
                                            <p:strVal val="#ppt_x"/>
                                          </p:val>
                                        </p:tav>
                                      </p:tavLst>
                                    </p:anim>
                                    <p:anim calcmode="lin" valueType="num">
                                      <p:cBhvr additive="base">
                                        <p:cTn id="38" dur="500" fill="hold"/>
                                        <p:tgtEl>
                                          <p:spTgt spid="1607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88" grpId="0" animBg="1"/>
      <p:bldP spid="160789" grpId="0" animBg="1"/>
      <p:bldP spid="160791" grpId="0" animBg="1"/>
      <p:bldP spid="160792" grpId="0"/>
      <p:bldP spid="160793" grpId="0"/>
      <p:bldP spid="16079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3B3FD8B-9444-4D33-AFDF-7A75AAA73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804" y="1484784"/>
            <a:ext cx="3286125" cy="1695450"/>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21DF50EC-EF4D-4611-96CF-2BC3AE201511}"/>
                  </a:ext>
                </a:extLst>
              </p:cNvPr>
              <p:cNvSpPr/>
              <p:nvPr/>
            </p:nvSpPr>
            <p:spPr>
              <a:xfrm>
                <a:off x="1157889" y="3126782"/>
                <a:ext cx="3809184" cy="506870"/>
              </a:xfrm>
              <a:prstGeom prst="rect">
                <a:avLst/>
              </a:prstGeom>
              <a:solidFill>
                <a:schemeClr val="accent5">
                  <a:lumMod val="75000"/>
                </a:schemeClr>
              </a:solidFill>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0">
                                  <a:latin typeface="Cambria Math" panose="02040503050406030204" pitchFamily="18" charset="0"/>
                                </a:rPr>
                                <m:t>样</m:t>
                              </m:r>
                            </m:sub>
                          </m:sSub>
                          <m:r>
                            <a:rPr lang="zh-CN" altLang="en-US" i="0">
                              <a:latin typeface="Cambria Math" panose="02040503050406030204" pitchFamily="18" charset="0"/>
                            </a:rPr>
                            <m:t>=</m:t>
                          </m:r>
                          <m:r>
                            <a:rPr lang="zh-CN" altLang="en-US" i="1">
                              <a:latin typeface="Cambria Math" panose="02040503050406030204" pitchFamily="18" charset="0"/>
                            </a:rPr>
                            <m:t>𝐹</m:t>
                          </m:r>
                          <m:r>
                            <a:rPr lang="zh-CN" altLang="en-US" i="0">
                              <a:latin typeface="Cambria Math" panose="02040503050406030204" pitchFamily="18" charset="0"/>
                            </a:rPr>
                            <m:t>×</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𝑤</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𝑐</m:t>
                                  </m:r>
                                </m:sub>
                              </m:sSub>
                            </m:e>
                          </m:d>
                          <m:r>
                            <a:rPr lang="zh-CN" altLang="en-US" i="0">
                              <a:latin typeface="Cambria Math" panose="02040503050406030204" pitchFamily="18" charset="0"/>
                            </a:rPr>
                            <m:t>  (</m:t>
                          </m:r>
                          <m:r>
                            <a:rPr lang="zh-CN" altLang="en-US" i="1">
                              <a:latin typeface="Cambria Math" panose="02040503050406030204" pitchFamily="18" charset="0"/>
                            </a:rPr>
                            <m:t>𝜇</m:t>
                          </m:r>
                          <m:r>
                            <a:rPr lang="zh-CN" altLang="en-US" i="1">
                              <a:latin typeface="Cambria Math" panose="02040503050406030204" pitchFamily="18" charset="0"/>
                            </a:rPr>
                            <m:t>𝑚𝑜</m:t>
                          </m:r>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𝑙</m:t>
                              </m:r>
                            </m:num>
                            <m:den>
                              <m:r>
                                <a:rPr lang="zh-CN" altLang="en-US" i="1">
                                  <a:latin typeface="Cambria Math" panose="02040503050406030204" pitchFamily="18" charset="0"/>
                                </a:rPr>
                                <m:t>𝑑</m:t>
                              </m:r>
                            </m:den>
                          </m:f>
                          <m:sSup>
                            <m:sSupPr>
                              <m:ctrlPr>
                                <a:rPr lang="zh-CN" altLang="en-US" i="1">
                                  <a:latin typeface="Cambria Math" panose="02040503050406030204" pitchFamily="18" charset="0"/>
                                </a:rPr>
                              </m:ctrlPr>
                            </m:sSupPr>
                            <m:e>
                              <m:r>
                                <a:rPr lang="zh-CN" altLang="en-US" i="1">
                                  <a:latin typeface="Cambria Math" panose="02040503050406030204" pitchFamily="18" charset="0"/>
                                </a:rPr>
                                <m:t>𝑚</m:t>
                              </m:r>
                            </m:e>
                            <m:sup>
                              <m:r>
                                <a:rPr lang="zh-CN" altLang="en-US" i="0">
                                  <a:latin typeface="Cambria Math" panose="02040503050406030204" pitchFamily="18" charset="0"/>
                                </a:rPr>
                                <m:t>3</m:t>
                              </m:r>
                            </m:sup>
                          </m:sSup>
                        </m:e>
                      </m:d>
                    </m:oMath>
                  </m:oMathPara>
                </a14:m>
                <a:endParaRPr lang="zh-CN" altLang="en-US" dirty="0"/>
              </a:p>
            </p:txBody>
          </p:sp>
        </mc:Choice>
        <mc:Fallback xmlns="">
          <p:sp>
            <p:nvSpPr>
              <p:cNvPr id="5" name="矩形 4">
                <a:extLst>
                  <a:ext uri="{FF2B5EF4-FFF2-40B4-BE49-F238E27FC236}">
                    <a16:creationId xmlns:a16="http://schemas.microsoft.com/office/drawing/2014/main" id="{21DF50EC-EF4D-4611-96CF-2BC3AE201511}"/>
                  </a:ext>
                </a:extLst>
              </p:cNvPr>
              <p:cNvSpPr>
                <a:spLocks noRot="1" noChangeAspect="1" noMove="1" noResize="1" noEditPoints="1" noAdjustHandles="1" noChangeArrowheads="1" noChangeShapeType="1" noTextEdit="1"/>
              </p:cNvSpPr>
              <p:nvPr/>
            </p:nvSpPr>
            <p:spPr>
              <a:xfrm>
                <a:off x="1157889" y="3126782"/>
                <a:ext cx="3809184" cy="506870"/>
              </a:xfrm>
              <a:prstGeom prst="rect">
                <a:avLst/>
              </a:prstGeom>
              <a:blipFill>
                <a:blip r:embed="rId3"/>
                <a:stretch>
                  <a:fillRect t="-179518" r="-23680" b="-26144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5DBDF560-F6BB-4931-90A4-E26B593835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8104" y="1165696"/>
            <a:ext cx="2619375" cy="2333625"/>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7E68B52-85C8-42BE-8794-178431E85A11}"/>
                  </a:ext>
                </a:extLst>
              </p:cNvPr>
              <p:cNvSpPr txBox="1"/>
              <p:nvPr/>
            </p:nvSpPr>
            <p:spPr>
              <a:xfrm>
                <a:off x="1157889" y="3815716"/>
                <a:ext cx="5831508" cy="369332"/>
              </a:xfrm>
              <a:prstGeom prst="rect">
                <a:avLst/>
              </a:prstGeom>
              <a:solidFill>
                <a:schemeClr val="accent5">
                  <a:lumMod val="75000"/>
                </a:schemeClr>
              </a:solidFill>
            </p:spPr>
            <p:txBody>
              <a:bodyPr wrap="square" rtlCol="0">
                <a:spAutoFit/>
              </a:bodyPr>
              <a:lstStyle/>
              <a:p>
                <a:r>
                  <a:rPr lang="zh-CN" altLang="zh-CN" dirty="0"/>
                  <a:t>式中，</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𝑤</m:t>
                        </m:r>
                      </m:sub>
                    </m:sSub>
                  </m:oMath>
                </a14:m>
                <a:r>
                  <a:rPr lang="zh-CN" altLang="zh-CN" dirty="0"/>
                  <a:t>为待测溶液的吸光度，</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𝑐</m:t>
                        </m:r>
                      </m:sub>
                    </m:sSub>
                  </m:oMath>
                </a14:m>
                <a:r>
                  <a:rPr lang="zh-CN" altLang="zh-CN" dirty="0"/>
                  <a:t>为液槽校正</a:t>
                </a:r>
                <a:endParaRPr lang="zh-CN" altLang="en-US" dirty="0"/>
              </a:p>
            </p:txBody>
          </p:sp>
        </mc:Choice>
        <mc:Fallback xmlns="">
          <p:sp>
            <p:nvSpPr>
              <p:cNvPr id="9" name="文本框 8">
                <a:extLst>
                  <a:ext uri="{FF2B5EF4-FFF2-40B4-BE49-F238E27FC236}">
                    <a16:creationId xmlns:a16="http://schemas.microsoft.com/office/drawing/2014/main" id="{F7E68B52-85C8-42BE-8794-178431E85A11}"/>
                  </a:ext>
                </a:extLst>
              </p:cNvPr>
              <p:cNvSpPr txBox="1">
                <a:spLocks noRot="1" noChangeAspect="1" noMove="1" noResize="1" noEditPoints="1" noAdjustHandles="1" noChangeArrowheads="1" noChangeShapeType="1" noTextEdit="1"/>
              </p:cNvSpPr>
              <p:nvPr/>
            </p:nvSpPr>
            <p:spPr>
              <a:xfrm>
                <a:off x="1157889" y="3815716"/>
                <a:ext cx="5831508" cy="369332"/>
              </a:xfrm>
              <a:prstGeom prst="rect">
                <a:avLst/>
              </a:prstGeom>
              <a:blipFill>
                <a:blip r:embed="rId5"/>
                <a:stretch>
                  <a:fillRect l="-940" t="-13115" b="-21311"/>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8D2417A6-2A6E-49D5-A142-663BF6DF2D56}"/>
              </a:ext>
            </a:extLst>
          </p:cNvPr>
          <p:cNvSpPr txBox="1"/>
          <p:nvPr/>
        </p:nvSpPr>
        <p:spPr>
          <a:xfrm>
            <a:off x="1043608" y="4276583"/>
            <a:ext cx="7920879" cy="2221121"/>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dirty="0"/>
              <a:t>E</a:t>
            </a:r>
            <a:r>
              <a:rPr lang="zh-CN" altLang="en-US" baseline="-25000" dirty="0"/>
              <a:t>浊</a:t>
            </a:r>
            <a:r>
              <a:rPr lang="zh-CN" altLang="en-US" dirty="0"/>
              <a:t>：浊度校正，由于海水的浊度引起的吸光度差（</a:t>
            </a:r>
            <a:r>
              <a:rPr lang="en-US" altLang="zh-CN" dirty="0"/>
              <a:t>A</a:t>
            </a:r>
            <a:r>
              <a:rPr lang="en-US" altLang="zh-CN" baseline="-25000" dirty="0"/>
              <a:t>T</a:t>
            </a:r>
            <a:r>
              <a:rPr lang="zh-CN" altLang="en-US" dirty="0"/>
              <a:t>）。如果溶液浊度低，可通过差分分光光度计用样品校正掉。溶液清澈，可以不测浊度校正</a:t>
            </a:r>
            <a:endParaRPr lang="en-US" altLang="zh-CN" baseline="-25000" dirty="0"/>
          </a:p>
          <a:p>
            <a:pPr marL="285750" indent="-285750">
              <a:lnSpc>
                <a:spcPct val="120000"/>
              </a:lnSpc>
              <a:buFont typeface="Wingdings" panose="05000000000000000000" pitchFamily="2" charset="2"/>
              <a:buChar char="p"/>
            </a:pPr>
            <a:r>
              <a:rPr lang="en-US" altLang="zh-CN" dirty="0"/>
              <a:t>E</a:t>
            </a:r>
            <a:r>
              <a:rPr lang="en-US" altLang="zh-CN" baseline="-25000" dirty="0"/>
              <a:t>b</a:t>
            </a:r>
            <a:r>
              <a:rPr lang="zh-CN" altLang="en-US" dirty="0"/>
              <a:t>：空白校正，</a:t>
            </a:r>
            <a:r>
              <a:rPr lang="en-US" altLang="zh-CN" dirty="0" err="1"/>
              <a:t>A</a:t>
            </a:r>
            <a:r>
              <a:rPr lang="en-US" altLang="zh-CN" baseline="-25000" dirty="0" err="1"/>
              <a:t>blank</a:t>
            </a:r>
            <a:r>
              <a:rPr lang="en-US" altLang="zh-CN" baseline="-25000" dirty="0"/>
              <a:t> </a:t>
            </a:r>
            <a:r>
              <a:rPr lang="en-US" altLang="zh-CN" dirty="0"/>
              <a:t>=</a:t>
            </a:r>
            <a:r>
              <a:rPr lang="en-US" altLang="zh-CN" dirty="0" err="1"/>
              <a:t>A</a:t>
            </a:r>
            <a:r>
              <a:rPr lang="en-US" altLang="zh-CN" baseline="-25000" dirty="0" err="1"/>
              <a:t>c</a:t>
            </a:r>
            <a:r>
              <a:rPr lang="en-US" altLang="zh-CN" dirty="0" err="1"/>
              <a:t>+A</a:t>
            </a:r>
            <a:r>
              <a:rPr lang="en-US" altLang="zh-CN" baseline="-25000" dirty="0" err="1"/>
              <a:t>reage</a:t>
            </a:r>
            <a:r>
              <a:rPr lang="zh-CN" altLang="en-US" dirty="0"/>
              <a:t>，</a:t>
            </a:r>
            <a:r>
              <a:rPr lang="en-US" altLang="zh-CN" dirty="0"/>
              <a:t>A</a:t>
            </a:r>
            <a:r>
              <a:rPr lang="en-US" altLang="zh-CN" baseline="-25000" dirty="0"/>
              <a:t>c</a:t>
            </a:r>
            <a:r>
              <a:rPr lang="en-US" altLang="zh-CN" dirty="0"/>
              <a:t>: cell blank</a:t>
            </a:r>
            <a:r>
              <a:rPr lang="zh-CN" altLang="en-US" dirty="0"/>
              <a:t>造成的吸收，</a:t>
            </a:r>
            <a:r>
              <a:rPr lang="en-US" altLang="zh-CN" dirty="0" err="1"/>
              <a:t>A</a:t>
            </a:r>
            <a:r>
              <a:rPr lang="en-US" altLang="zh-CN" baseline="-25000" dirty="0" err="1"/>
              <a:t>reage</a:t>
            </a:r>
            <a:r>
              <a:rPr lang="zh-CN" altLang="en-US" dirty="0"/>
              <a:t> </a:t>
            </a:r>
            <a:r>
              <a:rPr lang="en-US" altLang="zh-CN" dirty="0"/>
              <a:t>: </a:t>
            </a:r>
            <a:r>
              <a:rPr lang="zh-CN" altLang="en-US" dirty="0"/>
              <a:t>溶剂造成的吸收，</a:t>
            </a:r>
            <a:r>
              <a:rPr lang="en-US" altLang="zh-CN" dirty="0"/>
              <a:t> </a:t>
            </a:r>
            <a:r>
              <a:rPr lang="en-US" altLang="zh-CN" dirty="0" err="1"/>
              <a:t>A</a:t>
            </a:r>
            <a:r>
              <a:rPr lang="en-US" altLang="zh-CN" baseline="-25000" dirty="0" err="1"/>
              <a:t>blank</a:t>
            </a:r>
            <a:r>
              <a:rPr lang="zh-CN" altLang="en-US" dirty="0"/>
              <a:t>可测，以纯水做参比，测量纯水</a:t>
            </a:r>
            <a:r>
              <a:rPr lang="en-US" altLang="zh-CN" dirty="0"/>
              <a:t>+</a:t>
            </a:r>
            <a:r>
              <a:rPr lang="zh-CN" altLang="en-US" dirty="0"/>
              <a:t>反应试剂所获得的吸光值。由于反应试剂引起的吸光值（测量纯水和纯水加反应试剂直接的吸光值差（</a:t>
            </a:r>
            <a:r>
              <a:rPr lang="en-US" altLang="zh-CN" dirty="0" err="1"/>
              <a:t>Areag</a:t>
            </a:r>
            <a:r>
              <a:rPr lang="zh-CN" altLang="en-US" dirty="0"/>
              <a:t>）</a:t>
            </a:r>
          </a:p>
        </p:txBody>
      </p:sp>
      <p:sp>
        <p:nvSpPr>
          <p:cNvPr id="11" name="矩形 10">
            <a:extLst>
              <a:ext uri="{FF2B5EF4-FFF2-40B4-BE49-F238E27FC236}">
                <a16:creationId xmlns:a16="http://schemas.microsoft.com/office/drawing/2014/main" id="{00643D6D-16B1-4CE9-9C39-AE39CCC2A822}"/>
              </a:ext>
            </a:extLst>
          </p:cNvPr>
          <p:cNvSpPr/>
          <p:nvPr/>
        </p:nvSpPr>
        <p:spPr bwMode="auto">
          <a:xfrm>
            <a:off x="2699792" y="2060848"/>
            <a:ext cx="432048" cy="506870"/>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
        <p:nvSpPr>
          <p:cNvPr id="19" name="矩形 18">
            <a:extLst>
              <a:ext uri="{FF2B5EF4-FFF2-40B4-BE49-F238E27FC236}">
                <a16:creationId xmlns:a16="http://schemas.microsoft.com/office/drawing/2014/main" id="{FF83D677-400D-4865-B476-803FD62E1A28}"/>
              </a:ext>
            </a:extLst>
          </p:cNvPr>
          <p:cNvSpPr/>
          <p:nvPr/>
        </p:nvSpPr>
        <p:spPr bwMode="auto">
          <a:xfrm>
            <a:off x="1279838" y="4302113"/>
            <a:ext cx="555858" cy="506870"/>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
        <p:nvSpPr>
          <p:cNvPr id="20" name="矩形 19">
            <a:extLst>
              <a:ext uri="{FF2B5EF4-FFF2-40B4-BE49-F238E27FC236}">
                <a16:creationId xmlns:a16="http://schemas.microsoft.com/office/drawing/2014/main" id="{9A2AA6CC-D841-492E-A64E-75C5521823CF}"/>
              </a:ext>
            </a:extLst>
          </p:cNvPr>
          <p:cNvSpPr/>
          <p:nvPr/>
        </p:nvSpPr>
        <p:spPr bwMode="auto">
          <a:xfrm>
            <a:off x="1279838" y="5085184"/>
            <a:ext cx="555858" cy="461886"/>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
        <p:nvSpPr>
          <p:cNvPr id="21" name="矩形 20">
            <a:extLst>
              <a:ext uri="{FF2B5EF4-FFF2-40B4-BE49-F238E27FC236}">
                <a16:creationId xmlns:a16="http://schemas.microsoft.com/office/drawing/2014/main" id="{525E0E71-C28F-4B9A-AB9D-E4D835230D0D}"/>
              </a:ext>
            </a:extLst>
          </p:cNvPr>
          <p:cNvSpPr/>
          <p:nvPr/>
        </p:nvSpPr>
        <p:spPr bwMode="auto">
          <a:xfrm>
            <a:off x="3298031" y="2058034"/>
            <a:ext cx="432048" cy="506870"/>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
        <p:nvSpPr>
          <p:cNvPr id="12" name="TextBox 5">
            <a:extLst>
              <a:ext uri="{FF2B5EF4-FFF2-40B4-BE49-F238E27FC236}">
                <a16:creationId xmlns:a16="http://schemas.microsoft.com/office/drawing/2014/main" id="{83CE65BB-B407-46DA-8DD8-29110A2F3AEE}"/>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extLst>
      <p:ext uri="{BB962C8B-B14F-4D97-AF65-F5344CB8AC3E}">
        <p14:creationId xmlns:p14="http://schemas.microsoft.com/office/powerpoint/2010/main" val="363603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20"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t>紫外可见分光光度法</a:t>
            </a:r>
            <a:br>
              <a:rPr lang="en-US" altLang="zh-CN" sz="3200" dirty="0"/>
            </a:br>
            <a:r>
              <a:rPr lang="zh-CN" altLang="en-US" sz="3200" dirty="0"/>
              <a:t>测量营养盐的共性问题</a:t>
            </a:r>
          </a:p>
        </p:txBody>
      </p:sp>
      <p:sp>
        <p:nvSpPr>
          <p:cNvPr id="4" name="内容占位符 3"/>
          <p:cNvSpPr>
            <a:spLocks noGrp="1"/>
          </p:cNvSpPr>
          <p:nvPr>
            <p:ph idx="1"/>
          </p:nvPr>
        </p:nvSpPr>
        <p:spPr/>
        <p:txBody>
          <a:bodyPr/>
          <a:lstStyle/>
          <a:p>
            <a:pPr>
              <a:spcBef>
                <a:spcPts val="1200"/>
              </a:spcBef>
            </a:pPr>
            <a:r>
              <a:rPr lang="zh-CN" altLang="en-US" dirty="0"/>
              <a:t>为什么测量海水中磷酸盐要将磷钼黄转成磷钼蓝进行测定？</a:t>
            </a:r>
            <a:endParaRPr lang="en-US" altLang="zh-CN" dirty="0"/>
          </a:p>
          <a:p>
            <a:pPr>
              <a:spcBef>
                <a:spcPts val="1200"/>
              </a:spcBef>
            </a:pPr>
            <a:r>
              <a:rPr lang="zh-CN" altLang="en-US" dirty="0">
                <a:solidFill>
                  <a:schemeClr val="accent2">
                    <a:lumMod val="60000"/>
                    <a:lumOff val="40000"/>
                  </a:schemeClr>
                </a:solidFill>
              </a:rPr>
              <a:t>怎么知道测量的量程？量程和灵敏度之间的内在联系是什么？</a:t>
            </a:r>
            <a:endParaRPr lang="en-US" altLang="zh-CN" dirty="0">
              <a:solidFill>
                <a:schemeClr val="accent2">
                  <a:lumMod val="60000"/>
                  <a:lumOff val="40000"/>
                </a:schemeClr>
              </a:solidFill>
            </a:endParaRPr>
          </a:p>
          <a:p>
            <a:pPr>
              <a:spcBef>
                <a:spcPts val="1200"/>
              </a:spcBef>
            </a:pPr>
            <a:r>
              <a:rPr lang="en-US" altLang="zh-CN" dirty="0"/>
              <a:t> </a:t>
            </a:r>
            <a:r>
              <a:rPr lang="zh-CN" altLang="en-US" dirty="0"/>
              <a:t>测量中有液槽校正，空白值校正，浊度校正等，为什么要做？获得工作曲线后怎么利用这些校正吸光值？</a:t>
            </a:r>
            <a:endParaRPr lang="en-US" altLang="zh-CN" dirty="0"/>
          </a:p>
          <a:p>
            <a:pPr>
              <a:spcBef>
                <a:spcPts val="1200"/>
              </a:spcBef>
            </a:pPr>
            <a:r>
              <a:rPr lang="en-US" altLang="zh-CN" dirty="0"/>
              <a:t> </a:t>
            </a:r>
            <a:r>
              <a:rPr lang="zh-CN" altLang="en-US" dirty="0">
                <a:solidFill>
                  <a:schemeClr val="accent2">
                    <a:lumMod val="60000"/>
                    <a:lumOff val="40000"/>
                  </a:schemeClr>
                </a:solidFill>
              </a:rPr>
              <a:t>海水中的盐效应是怎么作用在测量上的？</a:t>
            </a:r>
            <a:endParaRPr lang="zh-CN" altLang="en-US" sz="3200" dirty="0">
              <a:solidFill>
                <a:schemeClr val="accent2">
                  <a:lumMod val="60000"/>
                  <a:lumOff val="40000"/>
                </a:schemeClr>
              </a:solidFill>
            </a:endParaRPr>
          </a:p>
        </p:txBody>
      </p:sp>
    </p:spTree>
    <p:extLst>
      <p:ext uri="{BB962C8B-B14F-4D97-AF65-F5344CB8AC3E}">
        <p14:creationId xmlns:p14="http://schemas.microsoft.com/office/powerpoint/2010/main" val="363611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4">
                                            <p:txEl>
                                              <p:pRg st="0" end="0"/>
                                            </p:txEl>
                                          </p:spTgt>
                                        </p:tgtEl>
                                        <p:attrNameLst>
                                          <p:attrName>style.color</p:attrName>
                                        </p:attrNameLst>
                                      </p:cBhvr>
                                      <p:to>
                                        <a:srgbClr val="C00000"/>
                                      </p:to>
                                    </p:animClr>
                                  </p:childTnLst>
                                </p:cTn>
                              </p:par>
                              <p:par>
                                <p:cTn id="7" presetID="3" presetClass="emph" presetSubtype="2" fill="hold" nodeType="withEffect">
                                  <p:stCondLst>
                                    <p:cond delay="0"/>
                                  </p:stCondLst>
                                  <p:childTnLst>
                                    <p:animClr clrSpc="rgb" dir="cw">
                                      <p:cBhvr override="childStyle">
                                        <p:cTn id="8" dur="2000" fill="hold"/>
                                        <p:tgtEl>
                                          <p:spTgt spid="4">
                                            <p:txEl>
                                              <p:pRg st="1" end="1"/>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p:cNvPicPr>
            <a:picLocks noGrp="1" noChangeAspect="1" noChangeArrowheads="1"/>
          </p:cNvPicPr>
          <p:nvPr>
            <p:ph idx="1"/>
          </p:nvPr>
        </p:nvPicPr>
        <p:blipFill>
          <a:blip r:embed="rId2" cstate="print"/>
          <a:srcRect/>
          <a:stretch>
            <a:fillRect/>
          </a:stretch>
        </p:blipFill>
        <p:spPr bwMode="auto">
          <a:xfrm>
            <a:off x="4287199" y="1484784"/>
            <a:ext cx="4653580" cy="4347667"/>
          </a:xfrm>
          <a:prstGeom prst="rect">
            <a:avLst/>
          </a:prstGeom>
          <a:noFill/>
          <a:ln w="9525">
            <a:noFill/>
            <a:miter lim="800000"/>
            <a:headEnd/>
            <a:tailEnd/>
          </a:ln>
          <a:effectLst/>
        </p:spPr>
      </p:pic>
      <p:sp>
        <p:nvSpPr>
          <p:cNvPr id="5" name="TextBox 4"/>
          <p:cNvSpPr txBox="1"/>
          <p:nvPr/>
        </p:nvSpPr>
        <p:spPr>
          <a:xfrm>
            <a:off x="395536" y="1556792"/>
            <a:ext cx="3456384" cy="3046988"/>
          </a:xfrm>
          <a:prstGeom prst="rect">
            <a:avLst/>
          </a:prstGeom>
          <a:noFill/>
        </p:spPr>
        <p:txBody>
          <a:bodyPr wrap="square" rtlCol="0">
            <a:spAutoFit/>
          </a:bodyPr>
          <a:lstStyle/>
          <a:p>
            <a:pPr>
              <a:lnSpc>
                <a:spcPct val="120000"/>
              </a:lnSpc>
              <a:buFont typeface="Arial" pitchFamily="34" charset="0"/>
              <a:buChar char="•"/>
            </a:pPr>
            <a:r>
              <a:rPr lang="zh-CN" altLang="en-US" sz="2000" dirty="0"/>
              <a:t> </a:t>
            </a:r>
            <a:r>
              <a:rPr lang="en-US" altLang="zh-CN" sz="2000" dirty="0"/>
              <a:t> C=5.1286A-0.0318</a:t>
            </a:r>
          </a:p>
          <a:p>
            <a:pPr>
              <a:lnSpc>
                <a:spcPct val="120000"/>
              </a:lnSpc>
              <a:buFont typeface="Arial" pitchFamily="34" charset="0"/>
              <a:buChar char="•"/>
            </a:pPr>
            <a:r>
              <a:rPr lang="zh-CN" altLang="en-US" sz="2000" dirty="0"/>
              <a:t> 理论上应该过原点</a:t>
            </a:r>
            <a:endParaRPr lang="en-US" altLang="zh-CN" sz="2000" dirty="0"/>
          </a:p>
          <a:p>
            <a:pPr>
              <a:lnSpc>
                <a:spcPct val="120000"/>
              </a:lnSpc>
              <a:buFont typeface="Arial" pitchFamily="34" charset="0"/>
              <a:buChar char="•"/>
            </a:pPr>
            <a:r>
              <a:rPr lang="en-US" altLang="zh-CN" sz="2000" dirty="0"/>
              <a:t> </a:t>
            </a:r>
            <a:r>
              <a:rPr lang="zh-CN" altLang="en-US" sz="2000" dirty="0"/>
              <a:t>截距</a:t>
            </a:r>
            <a:r>
              <a:rPr lang="en-US" altLang="zh-CN" sz="2000" dirty="0"/>
              <a:t>-0.0318</a:t>
            </a:r>
            <a:r>
              <a:rPr lang="zh-CN" altLang="en-US" sz="2000" dirty="0"/>
              <a:t>（</a:t>
            </a:r>
            <a:r>
              <a:rPr lang="en-US" altLang="zh-CN" sz="2000" dirty="0" err="1"/>
              <a:t>Azero</a:t>
            </a:r>
            <a:r>
              <a:rPr lang="zh-CN" altLang="en-US" sz="2000" dirty="0"/>
              <a:t>）主要由什么造成？</a:t>
            </a:r>
            <a:endParaRPr lang="en-US" altLang="zh-CN" sz="2000" dirty="0"/>
          </a:p>
          <a:p>
            <a:pPr>
              <a:lnSpc>
                <a:spcPct val="120000"/>
              </a:lnSpc>
              <a:buFont typeface="Wingdings" pitchFamily="2" charset="2"/>
              <a:buChar char="Ø"/>
            </a:pPr>
            <a:r>
              <a:rPr lang="en-US" altLang="zh-CN" sz="2000" dirty="0"/>
              <a:t> A</a:t>
            </a:r>
            <a:r>
              <a:rPr lang="en-US" altLang="zh-CN" sz="2000" baseline="-25000" dirty="0"/>
              <a:t>blank</a:t>
            </a:r>
            <a:r>
              <a:rPr lang="en-US" altLang="zh-CN" sz="2000" dirty="0"/>
              <a:t>: </a:t>
            </a:r>
            <a:r>
              <a:rPr lang="zh-CN" altLang="en-US" sz="2000" dirty="0"/>
              <a:t>空白吸收</a:t>
            </a:r>
            <a:endParaRPr lang="en-US" altLang="zh-CN" sz="2000" dirty="0"/>
          </a:p>
          <a:p>
            <a:pPr>
              <a:lnSpc>
                <a:spcPct val="120000"/>
              </a:lnSpc>
              <a:buFont typeface="Wingdings" pitchFamily="2" charset="2"/>
              <a:buChar char="Ø"/>
            </a:pPr>
            <a:r>
              <a:rPr lang="en-US" altLang="zh-CN" sz="2000" dirty="0"/>
              <a:t> A</a:t>
            </a:r>
            <a:r>
              <a:rPr lang="en-US" altLang="zh-CN" sz="2000" baseline="-25000" dirty="0"/>
              <a:t>blank </a:t>
            </a:r>
            <a:r>
              <a:rPr lang="en-US" altLang="zh-CN" sz="2000" dirty="0"/>
              <a:t>=A</a:t>
            </a:r>
            <a:r>
              <a:rPr lang="en-US" altLang="zh-CN" sz="2000" baseline="-25000" dirty="0"/>
              <a:t>c</a:t>
            </a:r>
            <a:r>
              <a:rPr lang="en-US" altLang="zh-CN" sz="2000" dirty="0"/>
              <a:t>+A</a:t>
            </a:r>
            <a:r>
              <a:rPr lang="en-US" altLang="zh-CN" sz="2000" baseline="-25000" dirty="0"/>
              <a:t>reage</a:t>
            </a:r>
            <a:r>
              <a:rPr lang="zh-CN" altLang="en-US" sz="2000" dirty="0"/>
              <a:t> </a:t>
            </a:r>
            <a:endParaRPr lang="en-US" altLang="zh-CN" sz="2000" dirty="0"/>
          </a:p>
          <a:p>
            <a:pPr marL="342900" indent="-342900">
              <a:lnSpc>
                <a:spcPct val="120000"/>
              </a:lnSpc>
              <a:buFont typeface="Wingdings" panose="05000000000000000000" pitchFamily="2" charset="2"/>
              <a:buChar char="Ø"/>
            </a:pPr>
            <a:r>
              <a:rPr lang="en-US" altLang="zh-CN" sz="2000" dirty="0"/>
              <a:t>A</a:t>
            </a:r>
            <a:r>
              <a:rPr lang="en-US" altLang="zh-CN" sz="2000" baseline="-25000" dirty="0"/>
              <a:t>T</a:t>
            </a:r>
            <a:r>
              <a:rPr lang="zh-CN" altLang="en-US" sz="2000" baseline="-25000" dirty="0"/>
              <a:t>：</a:t>
            </a:r>
            <a:r>
              <a:rPr lang="zh-CN" altLang="en-US" sz="2000" dirty="0"/>
              <a:t>浊度校正</a:t>
            </a:r>
            <a:endParaRPr lang="en-US" altLang="zh-CN" sz="2000" dirty="0"/>
          </a:p>
          <a:p>
            <a:endParaRPr lang="zh-CN" altLang="en-US" sz="2400" dirty="0"/>
          </a:p>
        </p:txBody>
      </p:sp>
      <p:sp>
        <p:nvSpPr>
          <p:cNvPr id="4" name="标题 1"/>
          <p:cNvSpPr>
            <a:spLocks noGrp="1"/>
          </p:cNvSpPr>
          <p:nvPr>
            <p:ph type="title"/>
          </p:nvPr>
        </p:nvSpPr>
        <p:spPr>
          <a:xfrm>
            <a:off x="0" y="188640"/>
            <a:ext cx="8229600" cy="1143000"/>
          </a:xfrm>
        </p:spPr>
        <p:txBody>
          <a:bodyPr/>
          <a:lstStyle/>
          <a:p>
            <a:r>
              <a:rPr lang="zh-CN" altLang="en-US" dirty="0"/>
              <a:t>校正</a:t>
            </a:r>
          </a:p>
        </p:txBody>
      </p:sp>
      <p:sp>
        <p:nvSpPr>
          <p:cNvPr id="2" name="矩形 1">
            <a:extLst>
              <a:ext uri="{FF2B5EF4-FFF2-40B4-BE49-F238E27FC236}">
                <a16:creationId xmlns:a16="http://schemas.microsoft.com/office/drawing/2014/main" id="{B2980864-C8E3-4CF3-A259-FCE9C58A21D4}"/>
              </a:ext>
            </a:extLst>
          </p:cNvPr>
          <p:cNvSpPr/>
          <p:nvPr/>
        </p:nvSpPr>
        <p:spPr>
          <a:xfrm>
            <a:off x="278460" y="4437112"/>
            <a:ext cx="3888432" cy="1477328"/>
          </a:xfrm>
          <a:prstGeom prst="rect">
            <a:avLst/>
          </a:prstGeom>
        </p:spPr>
        <p:txBody>
          <a:bodyPr wrap="square">
            <a:spAutoFit/>
          </a:bodyPr>
          <a:lstStyle/>
          <a:p>
            <a:r>
              <a:rPr lang="en-US" altLang="zh-CN" dirty="0" err="1"/>
              <a:t>C</a:t>
            </a:r>
            <a:r>
              <a:rPr lang="en-US" altLang="zh-CN" baseline="-25000" dirty="0" err="1"/>
              <a:t>sample</a:t>
            </a:r>
            <a:r>
              <a:rPr lang="en-US" altLang="zh-CN" dirty="0"/>
              <a:t> = F</a:t>
            </a:r>
            <a:r>
              <a:rPr lang="zh-CN" altLang="en-US" dirty="0"/>
              <a:t>*（</a:t>
            </a:r>
            <a:r>
              <a:rPr lang="en-US" altLang="zh-CN" dirty="0" err="1"/>
              <a:t>A</a:t>
            </a:r>
            <a:r>
              <a:rPr lang="en-US" altLang="zh-CN" baseline="-25000" dirty="0" err="1"/>
              <a:t>mea</a:t>
            </a:r>
            <a:r>
              <a:rPr lang="en-US" altLang="zh-CN" dirty="0"/>
              <a:t>-A</a:t>
            </a:r>
            <a:r>
              <a:rPr lang="en-US" altLang="zh-CN" baseline="-25000" dirty="0"/>
              <a:t>c</a:t>
            </a:r>
            <a:r>
              <a:rPr lang="en-US" altLang="zh-CN" dirty="0"/>
              <a:t>-</a:t>
            </a:r>
            <a:r>
              <a:rPr lang="en-US" altLang="zh-CN" dirty="0" err="1"/>
              <a:t>A</a:t>
            </a:r>
            <a:r>
              <a:rPr lang="en-US" altLang="zh-CN" baseline="-25000" dirty="0" err="1"/>
              <a:t>reag</a:t>
            </a:r>
            <a:r>
              <a:rPr lang="en-US" altLang="zh-CN" dirty="0"/>
              <a:t>-</a:t>
            </a:r>
            <a:r>
              <a:rPr lang="en-US" altLang="zh-CN" dirty="0" err="1"/>
              <a:t>A</a:t>
            </a:r>
            <a:r>
              <a:rPr lang="en-US" altLang="zh-CN" baseline="-25000" dirty="0" err="1"/>
              <a:t>tur</a:t>
            </a:r>
            <a:r>
              <a:rPr lang="zh-CN" altLang="en-US" dirty="0"/>
              <a:t>）</a:t>
            </a:r>
            <a:endParaRPr lang="en-US" altLang="zh-CN" dirty="0"/>
          </a:p>
          <a:p>
            <a:r>
              <a:rPr lang="zh-CN" altLang="en-US" dirty="0"/>
              <a:t>理论上校正完后，工作曲线应当过原点</a:t>
            </a:r>
            <a:endParaRPr lang="en-US" altLang="zh-CN" dirty="0"/>
          </a:p>
          <a:p>
            <a:r>
              <a:rPr lang="zh-CN" altLang="en-US" dirty="0"/>
              <a:t>如果以去离子水作为</a:t>
            </a:r>
            <a:r>
              <a:rPr lang="en-US" altLang="zh-CN" dirty="0"/>
              <a:t>reference</a:t>
            </a:r>
            <a:r>
              <a:rPr lang="zh-CN" altLang="en-US" dirty="0"/>
              <a:t>，那么理论上工作曲线是不经过原点的</a:t>
            </a:r>
          </a:p>
        </p:txBody>
      </p:sp>
    </p:spTree>
    <p:extLst>
      <p:ext uri="{BB962C8B-B14F-4D97-AF65-F5344CB8AC3E}">
        <p14:creationId xmlns:p14="http://schemas.microsoft.com/office/powerpoint/2010/main" val="346928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1437021"/>
            <a:ext cx="7992888" cy="3595536"/>
          </a:xfrm>
          <a:prstGeom prst="rect">
            <a:avLst/>
          </a:prstGeom>
        </p:spPr>
        <p:txBody>
          <a:bodyPr wrap="square">
            <a:spAutoFit/>
          </a:bodyPr>
          <a:lstStyle/>
          <a:p>
            <a:pPr>
              <a:lnSpc>
                <a:spcPct val="120000"/>
              </a:lnSpc>
              <a:buFont typeface="Wingdings" pitchFamily="2" charset="2"/>
              <a:buChar char="Ø"/>
            </a:pPr>
            <a:r>
              <a:rPr lang="zh-CN" altLang="en-US" dirty="0"/>
              <a:t> </a:t>
            </a:r>
            <a:r>
              <a:rPr lang="zh-CN" altLang="en-US" sz="2400" dirty="0"/>
              <a:t>液槽校正（</a:t>
            </a:r>
            <a:r>
              <a:rPr lang="en-US" altLang="zh-CN" sz="2400" dirty="0"/>
              <a:t>Ac</a:t>
            </a:r>
            <a:r>
              <a:rPr lang="zh-CN" altLang="en-US" sz="2400" dirty="0"/>
              <a:t>）：主要校正样品和参比比色皿通道的光学性质差</a:t>
            </a:r>
            <a:endParaRPr lang="en-US" altLang="zh-CN" sz="2400" dirty="0"/>
          </a:p>
          <a:p>
            <a:pPr lvl="1">
              <a:lnSpc>
                <a:spcPct val="120000"/>
              </a:lnSpc>
              <a:buFont typeface="Wingdings" pitchFamily="2" charset="2"/>
              <a:buChar char="ü"/>
            </a:pPr>
            <a:r>
              <a:rPr lang="zh-CN" altLang="en-US" sz="2400" dirty="0"/>
              <a:t>比色皿的尺寸不会完全一致，因此换比色皿需要重新校正</a:t>
            </a:r>
            <a:endParaRPr lang="en-US" altLang="zh-CN" sz="2400" dirty="0"/>
          </a:p>
          <a:p>
            <a:pPr>
              <a:lnSpc>
                <a:spcPct val="120000"/>
              </a:lnSpc>
              <a:buFont typeface="Wingdings" pitchFamily="2" charset="2"/>
              <a:buChar char="Ø"/>
            </a:pPr>
            <a:r>
              <a:rPr lang="zh-CN" altLang="en-US" sz="2400" dirty="0"/>
              <a:t> 空白校正：由于反应试剂引起的吸光值（测量纯水和纯水加反应试剂直接的吸光值差（</a:t>
            </a:r>
            <a:r>
              <a:rPr lang="en-US" altLang="zh-CN" sz="2400" dirty="0" err="1"/>
              <a:t>Areag</a:t>
            </a:r>
            <a:r>
              <a:rPr lang="zh-CN" altLang="en-US" sz="2400" dirty="0"/>
              <a:t>）</a:t>
            </a:r>
            <a:endParaRPr lang="en-US" altLang="zh-CN" sz="2400" dirty="0"/>
          </a:p>
          <a:p>
            <a:pPr>
              <a:lnSpc>
                <a:spcPct val="120000"/>
              </a:lnSpc>
              <a:buFont typeface="Wingdings" pitchFamily="2" charset="2"/>
              <a:buChar char="Ø"/>
            </a:pPr>
            <a:r>
              <a:rPr lang="en-US" altLang="zh-CN" sz="2400" dirty="0"/>
              <a:t> </a:t>
            </a:r>
            <a:r>
              <a:rPr lang="zh-CN" altLang="en-US" sz="2400" dirty="0"/>
              <a:t>浊度校正：由于海水的浊度引起的吸光度差（</a:t>
            </a:r>
            <a:r>
              <a:rPr lang="en-US" altLang="zh-CN" sz="2400" dirty="0"/>
              <a:t>A</a:t>
            </a:r>
            <a:r>
              <a:rPr lang="en-US" altLang="zh-CN" sz="2400" baseline="-25000" dirty="0"/>
              <a:t>T</a:t>
            </a:r>
            <a:r>
              <a:rPr lang="zh-CN" altLang="en-US" sz="2400" dirty="0"/>
              <a:t>）。如果浊度很少，可通过差分分光光度计用样品校正掉</a:t>
            </a:r>
            <a:endParaRPr lang="en-US" altLang="zh-CN" sz="2400" dirty="0"/>
          </a:p>
        </p:txBody>
      </p:sp>
      <p:sp>
        <p:nvSpPr>
          <p:cNvPr id="5" name="TextBox 4"/>
          <p:cNvSpPr txBox="1"/>
          <p:nvPr/>
        </p:nvSpPr>
        <p:spPr>
          <a:xfrm>
            <a:off x="899592" y="5157192"/>
            <a:ext cx="7848872" cy="1015663"/>
          </a:xfrm>
          <a:prstGeom prst="rect">
            <a:avLst/>
          </a:prstGeom>
          <a:noFill/>
        </p:spPr>
        <p:txBody>
          <a:bodyPr wrap="square" rtlCol="0">
            <a:spAutoFit/>
          </a:bodyPr>
          <a:lstStyle/>
          <a:p>
            <a:r>
              <a:rPr lang="en-US" altLang="zh-CN" sz="2000" dirty="0"/>
              <a:t>C</a:t>
            </a:r>
            <a:r>
              <a:rPr lang="en-US" altLang="zh-CN" sz="2000" baseline="-25000" dirty="0"/>
              <a:t>sample</a:t>
            </a:r>
            <a:r>
              <a:rPr lang="en-US" altLang="zh-CN" sz="2000" dirty="0"/>
              <a:t> = F</a:t>
            </a:r>
            <a:r>
              <a:rPr lang="zh-CN" altLang="en-US" sz="2000" dirty="0"/>
              <a:t>*（</a:t>
            </a:r>
            <a:r>
              <a:rPr lang="en-US" altLang="zh-CN" sz="2000" dirty="0"/>
              <a:t>A</a:t>
            </a:r>
            <a:r>
              <a:rPr lang="en-US" altLang="zh-CN" sz="2000" baseline="-25000" dirty="0"/>
              <a:t>mea</a:t>
            </a:r>
            <a:r>
              <a:rPr lang="en-US" altLang="zh-CN" sz="2000" dirty="0"/>
              <a:t>-A</a:t>
            </a:r>
            <a:r>
              <a:rPr lang="en-US" altLang="zh-CN" sz="2000" baseline="-25000" dirty="0"/>
              <a:t>c</a:t>
            </a:r>
            <a:r>
              <a:rPr lang="en-US" altLang="zh-CN" sz="2000" dirty="0"/>
              <a:t>-A</a:t>
            </a:r>
            <a:r>
              <a:rPr lang="en-US" altLang="zh-CN" sz="2000" baseline="-25000" dirty="0"/>
              <a:t>reag</a:t>
            </a:r>
            <a:r>
              <a:rPr lang="en-US" altLang="zh-CN" sz="2000" dirty="0"/>
              <a:t>-A</a:t>
            </a:r>
            <a:r>
              <a:rPr lang="en-US" altLang="zh-CN" sz="2000" baseline="-25000" dirty="0"/>
              <a:t>tur</a:t>
            </a:r>
            <a:r>
              <a:rPr lang="zh-CN" altLang="en-US" sz="2000" dirty="0"/>
              <a:t>）</a:t>
            </a:r>
            <a:endParaRPr lang="en-US" altLang="zh-CN" sz="2000" dirty="0"/>
          </a:p>
          <a:p>
            <a:r>
              <a:rPr lang="zh-CN" altLang="en-US" sz="2000" dirty="0"/>
              <a:t>理论上校正完后，工作曲线应当过原点</a:t>
            </a:r>
            <a:endParaRPr lang="en-US" altLang="zh-CN" sz="2000" dirty="0"/>
          </a:p>
          <a:p>
            <a:r>
              <a:rPr lang="zh-CN" altLang="en-US" sz="2000" dirty="0"/>
              <a:t>如果以去离子水作为</a:t>
            </a:r>
            <a:r>
              <a:rPr lang="en-US" altLang="zh-CN" sz="2000" dirty="0"/>
              <a:t>reference</a:t>
            </a:r>
            <a:r>
              <a:rPr lang="zh-CN" altLang="en-US" sz="2000" dirty="0"/>
              <a:t>，那么理论上工作曲线是不经过原点的</a:t>
            </a:r>
          </a:p>
        </p:txBody>
      </p:sp>
      <p:sp>
        <p:nvSpPr>
          <p:cNvPr id="6" name="标题 1"/>
          <p:cNvSpPr>
            <a:spLocks noGrp="1"/>
          </p:cNvSpPr>
          <p:nvPr>
            <p:ph type="title"/>
          </p:nvPr>
        </p:nvSpPr>
        <p:spPr>
          <a:xfrm>
            <a:off x="0" y="260648"/>
            <a:ext cx="8229600" cy="1143000"/>
          </a:xfrm>
        </p:spPr>
        <p:txBody>
          <a:bodyPr/>
          <a:lstStyle/>
          <a:p>
            <a:r>
              <a:rPr lang="zh-CN" altLang="en-US" dirty="0"/>
              <a:t>校正</a:t>
            </a:r>
          </a:p>
        </p:txBody>
      </p:sp>
    </p:spTree>
    <p:extLst>
      <p:ext uri="{BB962C8B-B14F-4D97-AF65-F5344CB8AC3E}">
        <p14:creationId xmlns:p14="http://schemas.microsoft.com/office/powerpoint/2010/main" val="1288648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p:cNvPicPr>
            <a:picLocks noGrp="1" noChangeAspect="1" noChangeArrowheads="1"/>
          </p:cNvPicPr>
          <p:nvPr>
            <p:ph idx="1"/>
          </p:nvPr>
        </p:nvPicPr>
        <p:blipFill>
          <a:blip r:embed="rId2" cstate="print"/>
          <a:srcRect/>
          <a:stretch>
            <a:fillRect/>
          </a:stretch>
        </p:blipFill>
        <p:spPr bwMode="auto">
          <a:xfrm>
            <a:off x="4067944" y="1340768"/>
            <a:ext cx="4844421" cy="4525963"/>
          </a:xfrm>
          <a:prstGeom prst="rect">
            <a:avLst/>
          </a:prstGeom>
          <a:noFill/>
          <a:ln w="9525">
            <a:noFill/>
            <a:miter lim="800000"/>
            <a:headEnd/>
            <a:tailEnd/>
          </a:ln>
          <a:effectLst/>
        </p:spPr>
      </p:pic>
      <p:sp>
        <p:nvSpPr>
          <p:cNvPr id="5" name="TextBox 4"/>
          <p:cNvSpPr txBox="1"/>
          <p:nvPr/>
        </p:nvSpPr>
        <p:spPr>
          <a:xfrm>
            <a:off x="179512" y="1196752"/>
            <a:ext cx="3816424" cy="6223242"/>
          </a:xfrm>
          <a:prstGeom prst="rect">
            <a:avLst/>
          </a:prstGeom>
          <a:noFill/>
        </p:spPr>
        <p:txBody>
          <a:bodyPr wrap="square" rtlCol="0">
            <a:spAutoFit/>
          </a:bodyPr>
          <a:lstStyle/>
          <a:p>
            <a:pPr>
              <a:lnSpc>
                <a:spcPct val="120000"/>
              </a:lnSpc>
              <a:buFont typeface="Arial" pitchFamily="34" charset="0"/>
              <a:buChar char="•"/>
            </a:pPr>
            <a:r>
              <a:rPr lang="zh-CN" altLang="en-US" sz="2400" dirty="0"/>
              <a:t> </a:t>
            </a:r>
            <a:r>
              <a:rPr lang="en-US" altLang="zh-CN" sz="2400" dirty="0"/>
              <a:t> C=5.1286A-0.0318</a:t>
            </a:r>
          </a:p>
          <a:p>
            <a:pPr>
              <a:lnSpc>
                <a:spcPct val="120000"/>
              </a:lnSpc>
              <a:buFont typeface="Arial" pitchFamily="34" charset="0"/>
              <a:buChar char="•"/>
            </a:pPr>
            <a:r>
              <a:rPr lang="zh-CN" altLang="en-US" sz="2400" dirty="0"/>
              <a:t> </a:t>
            </a:r>
            <a:r>
              <a:rPr lang="zh-CN" altLang="en-US" sz="2400" dirty="0">
                <a:solidFill>
                  <a:srgbClr val="00B0F0"/>
                </a:solidFill>
              </a:rPr>
              <a:t>理论上应该过原点</a:t>
            </a:r>
            <a:endParaRPr lang="en-US" altLang="zh-CN" sz="2400" dirty="0">
              <a:solidFill>
                <a:srgbClr val="00B0F0"/>
              </a:solidFill>
            </a:endParaRPr>
          </a:p>
          <a:p>
            <a:pPr>
              <a:lnSpc>
                <a:spcPct val="120000"/>
              </a:lnSpc>
              <a:buFont typeface="Arial" pitchFamily="34" charset="0"/>
              <a:buChar char="•"/>
            </a:pPr>
            <a:r>
              <a:rPr lang="en-US" altLang="zh-CN" sz="2400" dirty="0"/>
              <a:t> </a:t>
            </a:r>
            <a:r>
              <a:rPr lang="zh-CN" altLang="en-US" sz="2400" dirty="0"/>
              <a:t>截距：</a:t>
            </a:r>
            <a:r>
              <a:rPr lang="en-US" altLang="zh-CN" sz="2400" dirty="0"/>
              <a:t>-0.0318</a:t>
            </a:r>
            <a:r>
              <a:rPr lang="zh-CN" altLang="en-US" sz="2400" dirty="0"/>
              <a:t>（</a:t>
            </a:r>
            <a:r>
              <a:rPr lang="en-US" altLang="zh-CN" sz="2400" dirty="0" err="1"/>
              <a:t>Azero</a:t>
            </a:r>
            <a:r>
              <a:rPr lang="zh-CN" altLang="en-US" sz="2400" dirty="0"/>
              <a:t>）若测量得到</a:t>
            </a:r>
            <a:r>
              <a:rPr lang="en-US" altLang="zh-CN" sz="2400" dirty="0"/>
              <a:t>A</a:t>
            </a:r>
            <a:r>
              <a:rPr lang="en-US" altLang="zh-CN" sz="2400" baseline="-25000" dirty="0"/>
              <a:t>blank</a:t>
            </a:r>
            <a:r>
              <a:rPr lang="en-US" altLang="zh-CN" sz="2400" dirty="0"/>
              <a:t>=0.005</a:t>
            </a:r>
          </a:p>
          <a:p>
            <a:pPr>
              <a:lnSpc>
                <a:spcPct val="120000"/>
              </a:lnSpc>
            </a:pPr>
            <a:r>
              <a:rPr lang="en-US" altLang="zh-CN" sz="2400" dirty="0"/>
              <a:t>C=5.1286</a:t>
            </a:r>
            <a:r>
              <a:rPr lang="zh-CN" altLang="en-US" sz="2400" dirty="0"/>
              <a:t>（</a:t>
            </a:r>
            <a:r>
              <a:rPr lang="en-US" altLang="zh-CN" sz="2400" dirty="0"/>
              <a:t>A-0.005</a:t>
            </a:r>
            <a:r>
              <a:rPr lang="zh-CN" altLang="en-US" sz="2400" dirty="0"/>
              <a:t>）</a:t>
            </a:r>
            <a:endParaRPr lang="en-US" altLang="zh-CN" sz="2400" dirty="0"/>
          </a:p>
          <a:p>
            <a:pPr>
              <a:lnSpc>
                <a:spcPct val="120000"/>
              </a:lnSpc>
            </a:pPr>
            <a:r>
              <a:rPr lang="en-US" altLang="zh-CN" sz="2400" dirty="0"/>
              <a:t>   = 5.1286A-0.0256</a:t>
            </a:r>
          </a:p>
          <a:p>
            <a:pPr>
              <a:lnSpc>
                <a:spcPct val="120000"/>
              </a:lnSpc>
            </a:pPr>
            <a:r>
              <a:rPr lang="zh-CN" altLang="en-US" sz="2400" dirty="0">
                <a:solidFill>
                  <a:srgbClr val="00B0F0"/>
                </a:solidFill>
              </a:rPr>
              <a:t>与实际的工作曲线相比，截距有差别。该差别反算之后等于</a:t>
            </a:r>
            <a:r>
              <a:rPr lang="en-US" altLang="zh-CN" sz="2400" dirty="0">
                <a:solidFill>
                  <a:srgbClr val="00B0F0"/>
                </a:solidFill>
              </a:rPr>
              <a:t>0.0062umol/L</a:t>
            </a:r>
            <a:r>
              <a:rPr lang="zh-CN" altLang="en-US" sz="2400" dirty="0">
                <a:solidFill>
                  <a:srgbClr val="00B0F0"/>
                </a:solidFill>
              </a:rPr>
              <a:t>的待测营养物质。那么这个营养物质还可能是来自哪儿？</a:t>
            </a:r>
            <a:endParaRPr lang="en-US" altLang="zh-CN" sz="2400" dirty="0">
              <a:solidFill>
                <a:srgbClr val="00B0F0"/>
              </a:solidFill>
            </a:endParaRPr>
          </a:p>
          <a:p>
            <a:pPr>
              <a:lnSpc>
                <a:spcPct val="120000"/>
              </a:lnSpc>
            </a:pPr>
            <a:endParaRPr lang="en-US" altLang="zh-CN" sz="2400" dirty="0"/>
          </a:p>
          <a:p>
            <a:pPr>
              <a:lnSpc>
                <a:spcPct val="120000"/>
              </a:lnSpc>
            </a:pPr>
            <a:endParaRPr lang="en-US" altLang="zh-CN" sz="2400" dirty="0"/>
          </a:p>
          <a:p>
            <a:endParaRPr lang="zh-CN" altLang="en-US" sz="2400" dirty="0"/>
          </a:p>
        </p:txBody>
      </p:sp>
      <p:sp>
        <p:nvSpPr>
          <p:cNvPr id="4" name="标题 1"/>
          <p:cNvSpPr>
            <a:spLocks noGrp="1"/>
          </p:cNvSpPr>
          <p:nvPr>
            <p:ph type="title"/>
          </p:nvPr>
        </p:nvSpPr>
        <p:spPr>
          <a:xfrm>
            <a:off x="0" y="188640"/>
            <a:ext cx="8229600" cy="1143000"/>
          </a:xfrm>
        </p:spPr>
        <p:txBody>
          <a:bodyPr/>
          <a:lstStyle/>
          <a:p>
            <a:r>
              <a:rPr lang="zh-CN" altLang="en-US" dirty="0"/>
              <a:t>校正</a:t>
            </a:r>
          </a:p>
        </p:txBody>
      </p:sp>
    </p:spTree>
    <p:extLst>
      <p:ext uri="{BB962C8B-B14F-4D97-AF65-F5344CB8AC3E}">
        <p14:creationId xmlns:p14="http://schemas.microsoft.com/office/powerpoint/2010/main" val="3136975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D:\课程\课件\课程图片\0.png"/>
          <p:cNvPicPr>
            <a:picLocks noChangeAspect="1" noChangeArrowheads="1"/>
          </p:cNvPicPr>
          <p:nvPr/>
        </p:nvPicPr>
        <p:blipFill>
          <a:blip r:embed="rId2" cstate="print"/>
          <a:srcRect/>
          <a:stretch>
            <a:fillRect/>
          </a:stretch>
        </p:blipFill>
        <p:spPr bwMode="auto">
          <a:xfrm>
            <a:off x="755576" y="1930322"/>
            <a:ext cx="8218487" cy="1885950"/>
          </a:xfrm>
          <a:prstGeom prst="rect">
            <a:avLst/>
          </a:prstGeom>
          <a:noFill/>
        </p:spPr>
      </p:pic>
      <p:pic>
        <p:nvPicPr>
          <p:cNvPr id="161796" name="Picture 4" descr="D:\课程\课件\课程图片\0.png"/>
          <p:cNvPicPr>
            <a:picLocks noChangeAspect="1" noChangeArrowheads="1"/>
          </p:cNvPicPr>
          <p:nvPr/>
        </p:nvPicPr>
        <p:blipFill>
          <a:blip r:embed="rId3" cstate="print"/>
          <a:srcRect/>
          <a:stretch>
            <a:fillRect/>
          </a:stretch>
        </p:blipFill>
        <p:spPr bwMode="auto">
          <a:xfrm>
            <a:off x="507330" y="3872164"/>
            <a:ext cx="7809086" cy="2503049"/>
          </a:xfrm>
          <a:prstGeom prst="rect">
            <a:avLst/>
          </a:prstGeom>
          <a:noFill/>
        </p:spPr>
      </p:pic>
      <p:pic>
        <p:nvPicPr>
          <p:cNvPr id="3" name="图片 2">
            <a:extLst>
              <a:ext uri="{FF2B5EF4-FFF2-40B4-BE49-F238E27FC236}">
                <a16:creationId xmlns:a16="http://schemas.microsoft.com/office/drawing/2014/main" id="{4EBA8D3E-29CF-4841-8247-AC38AB744A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60" y="1360080"/>
            <a:ext cx="1895475" cy="514350"/>
          </a:xfrm>
          <a:prstGeom prst="rect">
            <a:avLst/>
          </a:prstGeom>
        </p:spPr>
      </p:pic>
      <p:sp>
        <p:nvSpPr>
          <p:cNvPr id="7" name="TextBox 5">
            <a:extLst>
              <a:ext uri="{FF2B5EF4-FFF2-40B4-BE49-F238E27FC236}">
                <a16:creationId xmlns:a16="http://schemas.microsoft.com/office/drawing/2014/main" id="{16AC2A5D-03C0-493D-B3EE-64D16787C11C}"/>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2" descr="D:\课程\课件\课程图片\0.png"/>
          <p:cNvPicPr>
            <a:picLocks noChangeAspect="1" noChangeArrowheads="1"/>
          </p:cNvPicPr>
          <p:nvPr/>
        </p:nvPicPr>
        <p:blipFill>
          <a:blip r:embed="rId2" cstate="print"/>
          <a:srcRect/>
          <a:stretch>
            <a:fillRect/>
          </a:stretch>
        </p:blipFill>
        <p:spPr bwMode="auto">
          <a:xfrm>
            <a:off x="683568" y="1486015"/>
            <a:ext cx="8130773" cy="4871943"/>
          </a:xfrm>
          <a:prstGeom prst="rect">
            <a:avLst/>
          </a:prstGeom>
          <a:noFill/>
        </p:spPr>
      </p:pic>
      <p:sp>
        <p:nvSpPr>
          <p:cNvPr id="4" name="TextBox 5">
            <a:extLst>
              <a:ext uri="{FF2B5EF4-FFF2-40B4-BE49-F238E27FC236}">
                <a16:creationId xmlns:a16="http://schemas.microsoft.com/office/drawing/2014/main" id="{F8BDBD1D-F94F-4063-8988-057CA8E174B3}"/>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descr="D:\课程\课件\课程图片\0.png"/>
          <p:cNvPicPr>
            <a:picLocks noChangeAspect="1" noChangeArrowheads="1"/>
          </p:cNvPicPr>
          <p:nvPr/>
        </p:nvPicPr>
        <p:blipFill>
          <a:blip r:embed="rId2" cstate="print"/>
          <a:srcRect/>
          <a:stretch>
            <a:fillRect/>
          </a:stretch>
        </p:blipFill>
        <p:spPr bwMode="auto">
          <a:xfrm>
            <a:off x="571472" y="1357298"/>
            <a:ext cx="8123237" cy="4695825"/>
          </a:xfrm>
          <a:prstGeom prst="rect">
            <a:avLst/>
          </a:prstGeom>
          <a:noFill/>
        </p:spPr>
      </p:pic>
      <p:sp>
        <p:nvSpPr>
          <p:cNvPr id="4" name="TextBox 5">
            <a:extLst>
              <a:ext uri="{FF2B5EF4-FFF2-40B4-BE49-F238E27FC236}">
                <a16:creationId xmlns:a16="http://schemas.microsoft.com/office/drawing/2014/main" id="{D4B71C50-631C-41B4-8105-FB1DFC9F8029}"/>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2" descr="D:\课程\课件\课程图片\0.png"/>
          <p:cNvPicPr>
            <a:picLocks noChangeAspect="1" noChangeArrowheads="1"/>
          </p:cNvPicPr>
          <p:nvPr/>
        </p:nvPicPr>
        <p:blipFill>
          <a:blip r:embed="rId2" cstate="print"/>
          <a:srcRect/>
          <a:stretch>
            <a:fillRect/>
          </a:stretch>
        </p:blipFill>
        <p:spPr bwMode="auto">
          <a:xfrm>
            <a:off x="642910" y="1285860"/>
            <a:ext cx="7866063" cy="3676650"/>
          </a:xfrm>
          <a:prstGeom prst="rect">
            <a:avLst/>
          </a:prstGeom>
          <a:noFill/>
        </p:spPr>
      </p:pic>
      <p:sp>
        <p:nvSpPr>
          <p:cNvPr id="4" name="TextBox 3"/>
          <p:cNvSpPr txBox="1"/>
          <p:nvPr/>
        </p:nvSpPr>
        <p:spPr>
          <a:xfrm>
            <a:off x="647564" y="4869160"/>
            <a:ext cx="7848872" cy="1569660"/>
          </a:xfrm>
          <a:prstGeom prst="rect">
            <a:avLst/>
          </a:prstGeom>
          <a:noFill/>
        </p:spPr>
        <p:txBody>
          <a:bodyPr wrap="square" rtlCol="0">
            <a:spAutoFit/>
          </a:bodyPr>
          <a:lstStyle/>
          <a:p>
            <a:pPr>
              <a:buFont typeface="Arial" pitchFamily="34" charset="0"/>
              <a:buChar char="•"/>
            </a:pPr>
            <a:r>
              <a:rPr lang="zh-CN" altLang="en-US" sz="2400" dirty="0"/>
              <a:t> 铜浓度</a:t>
            </a:r>
            <a:r>
              <a:rPr lang="en-US" altLang="zh-CN" sz="2400" dirty="0"/>
              <a:t>&gt; 160 </a:t>
            </a:r>
            <a:r>
              <a:rPr lang="el-GR" altLang="zh-CN" sz="2400" dirty="0">
                <a:latin typeface="Arial Unicode MS"/>
                <a:ea typeface="Arial Unicode MS"/>
                <a:cs typeface="Arial Unicode MS"/>
              </a:rPr>
              <a:t>μ</a:t>
            </a:r>
            <a:r>
              <a:rPr lang="en-US" altLang="zh-CN" sz="2400" dirty="0">
                <a:latin typeface="Arial Unicode MS"/>
                <a:ea typeface="Arial Unicode MS"/>
                <a:cs typeface="Arial Unicode MS"/>
              </a:rPr>
              <a:t>mol/L, </a:t>
            </a:r>
            <a:r>
              <a:rPr lang="zh-CN" altLang="en-US" sz="2400" dirty="0"/>
              <a:t>铬（三价）浓度＞</a:t>
            </a:r>
            <a:r>
              <a:rPr lang="en-US" altLang="zh-CN" sz="2400" dirty="0"/>
              <a:t>600</a:t>
            </a:r>
            <a:r>
              <a:rPr lang="el-GR" altLang="zh-CN" sz="2400" dirty="0">
                <a:latin typeface="Arial Unicode MS"/>
                <a:ea typeface="Arial Unicode MS"/>
                <a:cs typeface="Arial Unicode MS"/>
              </a:rPr>
              <a:t> μ</a:t>
            </a:r>
            <a:r>
              <a:rPr lang="en-US" altLang="zh-CN" sz="2400" dirty="0">
                <a:latin typeface="Arial Unicode MS"/>
                <a:ea typeface="Arial Unicode MS"/>
                <a:cs typeface="Arial Unicode MS"/>
              </a:rPr>
              <a:t>mol/L</a:t>
            </a:r>
            <a:r>
              <a:rPr lang="zh-CN" altLang="en-US" sz="2400" dirty="0">
                <a:latin typeface="Arial Unicode MS"/>
                <a:ea typeface="Arial Unicode MS"/>
                <a:cs typeface="Arial Unicode MS"/>
              </a:rPr>
              <a:t>，</a:t>
            </a:r>
            <a:r>
              <a:rPr lang="zh-CN" altLang="en-US" sz="2400" dirty="0"/>
              <a:t>铬（四价）浓度＞</a:t>
            </a:r>
            <a:r>
              <a:rPr lang="en-US" altLang="zh-CN" sz="2400" dirty="0"/>
              <a:t>40</a:t>
            </a:r>
            <a:r>
              <a:rPr lang="el-GR" altLang="zh-CN" sz="2400" dirty="0">
                <a:latin typeface="Arial Unicode MS"/>
                <a:ea typeface="Arial Unicode MS"/>
                <a:cs typeface="Arial Unicode MS"/>
              </a:rPr>
              <a:t> μ</a:t>
            </a:r>
            <a:r>
              <a:rPr lang="en-US" altLang="zh-CN" sz="2400" dirty="0">
                <a:latin typeface="Arial Unicode MS"/>
                <a:ea typeface="Arial Unicode MS"/>
                <a:cs typeface="Arial Unicode MS"/>
              </a:rPr>
              <a:t>mol/L</a:t>
            </a:r>
            <a:r>
              <a:rPr lang="zh-CN" altLang="en-US" sz="2400" dirty="0">
                <a:latin typeface="Arial Unicode MS"/>
                <a:ea typeface="Arial Unicode MS"/>
                <a:cs typeface="Arial Unicode MS"/>
              </a:rPr>
              <a:t>，</a:t>
            </a:r>
            <a:r>
              <a:rPr lang="zh-CN" altLang="en-US" sz="2400" dirty="0"/>
              <a:t>铬（六价）浓度</a:t>
            </a:r>
            <a:r>
              <a:rPr lang="en-US" altLang="zh-CN" sz="2400" dirty="0"/>
              <a:t>&gt;180</a:t>
            </a:r>
            <a:r>
              <a:rPr lang="el-GR" altLang="zh-CN" sz="2400" dirty="0">
                <a:latin typeface="Arial Unicode MS"/>
                <a:ea typeface="Arial Unicode MS"/>
                <a:cs typeface="Arial Unicode MS"/>
              </a:rPr>
              <a:t>μ</a:t>
            </a:r>
            <a:r>
              <a:rPr lang="en-US" altLang="zh-CN" sz="2400" dirty="0">
                <a:latin typeface="Arial Unicode MS"/>
                <a:ea typeface="Arial Unicode MS"/>
                <a:cs typeface="Arial Unicode MS"/>
              </a:rPr>
              <a:t>mol/L</a:t>
            </a:r>
            <a:endParaRPr lang="en-US" altLang="zh-CN" sz="2400" dirty="0"/>
          </a:p>
          <a:p>
            <a:pPr>
              <a:buFont typeface="Arial" pitchFamily="34" charset="0"/>
              <a:buChar char="•"/>
            </a:pPr>
            <a:r>
              <a:rPr lang="zh-CN" altLang="en-US" sz="2400" dirty="0"/>
              <a:t> 在造纸厂废水排放物中，木质素的含量超过</a:t>
            </a:r>
            <a:r>
              <a:rPr lang="en-US" altLang="zh-CN" sz="2400" dirty="0"/>
              <a:t>200 mg/L</a:t>
            </a:r>
            <a:r>
              <a:rPr lang="zh-CN" altLang="en-US" sz="2400" dirty="0"/>
              <a:t>也会降低磷钼蓝颜色</a:t>
            </a:r>
          </a:p>
        </p:txBody>
      </p:sp>
      <p:sp>
        <p:nvSpPr>
          <p:cNvPr id="5" name="TextBox 5">
            <a:extLst>
              <a:ext uri="{FF2B5EF4-FFF2-40B4-BE49-F238E27FC236}">
                <a16:creationId xmlns:a16="http://schemas.microsoft.com/office/drawing/2014/main" id="{F835A341-3168-47D7-A1BC-E157D5DEFEC8}"/>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1" name="Picture 3" descr="D:\课程\课件\课程图片\0.png"/>
          <p:cNvPicPr>
            <a:picLocks noChangeAspect="1" noChangeArrowheads="1"/>
          </p:cNvPicPr>
          <p:nvPr/>
        </p:nvPicPr>
        <p:blipFill>
          <a:blip r:embed="rId2" cstate="print"/>
          <a:srcRect/>
          <a:stretch>
            <a:fillRect/>
          </a:stretch>
        </p:blipFill>
        <p:spPr bwMode="auto">
          <a:xfrm>
            <a:off x="577873" y="5461536"/>
            <a:ext cx="7351713" cy="1285875"/>
          </a:xfrm>
          <a:prstGeom prst="rect">
            <a:avLst/>
          </a:prstGeom>
          <a:noFill/>
        </p:spPr>
      </p:pic>
      <p:pic>
        <p:nvPicPr>
          <p:cNvPr id="161795" name="Picture 3" descr="D:\课程\课件\课程图片\0.png"/>
          <p:cNvPicPr>
            <a:picLocks noChangeAspect="1" noChangeArrowheads="1"/>
          </p:cNvPicPr>
          <p:nvPr/>
        </p:nvPicPr>
        <p:blipFill>
          <a:blip r:embed="rId3" cstate="print"/>
          <a:srcRect/>
          <a:stretch>
            <a:fillRect/>
          </a:stretch>
        </p:blipFill>
        <p:spPr bwMode="auto">
          <a:xfrm>
            <a:off x="577873" y="2907974"/>
            <a:ext cx="7923217" cy="2553562"/>
          </a:xfrm>
          <a:prstGeom prst="rect">
            <a:avLst/>
          </a:prstGeom>
          <a:noFill/>
        </p:spPr>
      </p:pic>
      <p:pic>
        <p:nvPicPr>
          <p:cNvPr id="165890" name="Picture 2" descr="D:\课程\课件\课程图片\0.png"/>
          <p:cNvPicPr>
            <a:picLocks noChangeAspect="1" noChangeArrowheads="1"/>
          </p:cNvPicPr>
          <p:nvPr/>
        </p:nvPicPr>
        <p:blipFill>
          <a:blip r:embed="rId4" cstate="print"/>
          <a:srcRect/>
          <a:stretch>
            <a:fillRect/>
          </a:stretch>
        </p:blipFill>
        <p:spPr bwMode="auto">
          <a:xfrm>
            <a:off x="467544" y="1336663"/>
            <a:ext cx="8019408" cy="1592271"/>
          </a:xfrm>
          <a:prstGeom prst="rect">
            <a:avLst/>
          </a:prstGeom>
          <a:noFill/>
        </p:spPr>
      </p:pic>
      <p:sp>
        <p:nvSpPr>
          <p:cNvPr id="7" name="TextBox 5">
            <a:extLst>
              <a:ext uri="{FF2B5EF4-FFF2-40B4-BE49-F238E27FC236}">
                <a16:creationId xmlns:a16="http://schemas.microsoft.com/office/drawing/2014/main" id="{3FC3FCBD-7097-4779-92AA-4ED07C2E0EB3}"/>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3" name="Picture 3" descr="E:\课程\课件\课程图片\0.png"/>
          <p:cNvPicPr>
            <a:picLocks noChangeAspect="1" noChangeArrowheads="1"/>
          </p:cNvPicPr>
          <p:nvPr/>
        </p:nvPicPr>
        <p:blipFill>
          <a:blip r:embed="rId2" cstate="print"/>
          <a:srcRect/>
          <a:stretch>
            <a:fillRect/>
          </a:stretch>
        </p:blipFill>
        <p:spPr bwMode="auto">
          <a:xfrm>
            <a:off x="6300192" y="792429"/>
            <a:ext cx="2581275" cy="2095500"/>
          </a:xfrm>
          <a:prstGeom prst="rect">
            <a:avLst/>
          </a:prstGeom>
          <a:noFill/>
        </p:spPr>
      </p:pic>
      <p:sp>
        <p:nvSpPr>
          <p:cNvPr id="8" name="内容占位符 7"/>
          <p:cNvSpPr>
            <a:spLocks noGrp="1"/>
          </p:cNvSpPr>
          <p:nvPr>
            <p:ph idx="1"/>
          </p:nvPr>
        </p:nvSpPr>
        <p:spPr>
          <a:xfrm>
            <a:off x="457200" y="2387997"/>
            <a:ext cx="8229600" cy="2971807"/>
          </a:xfrm>
        </p:spPr>
        <p:txBody>
          <a:bodyPr/>
          <a:lstStyle/>
          <a:p>
            <a:r>
              <a:rPr lang="zh-CN" altLang="en-US" dirty="0"/>
              <a:t>盐指效应</a:t>
            </a:r>
            <a:endParaRPr lang="en-US" altLang="zh-CN" dirty="0"/>
          </a:p>
          <a:p>
            <a:pPr lvl="1"/>
            <a:r>
              <a:rPr lang="zh-CN" altLang="en-US" dirty="0"/>
              <a:t>用海水或人工海水配置标准磷酸盐溶液，做工作曲线</a:t>
            </a:r>
            <a:endParaRPr lang="en-US" altLang="zh-CN" dirty="0"/>
          </a:p>
          <a:p>
            <a:pPr lvl="1"/>
            <a:r>
              <a:rPr lang="zh-CN" altLang="en-US" dirty="0">
                <a:solidFill>
                  <a:schemeClr val="tx1">
                    <a:lumMod val="65000"/>
                    <a:lumOff val="35000"/>
                  </a:schemeClr>
                </a:solidFill>
              </a:rPr>
              <a:t>磷酸盐（抗坏血酸</a:t>
            </a:r>
            <a:r>
              <a:rPr lang="en-US" altLang="zh-CN" dirty="0">
                <a:solidFill>
                  <a:schemeClr val="tx1">
                    <a:lumMod val="65000"/>
                    <a:lumOff val="35000"/>
                  </a:schemeClr>
                </a:solidFill>
              </a:rPr>
              <a:t>+</a:t>
            </a:r>
            <a:r>
              <a:rPr lang="zh-CN" altLang="en-US" dirty="0">
                <a:solidFill>
                  <a:schemeClr val="tx1">
                    <a:lumMod val="65000"/>
                    <a:lumOff val="35000"/>
                  </a:schemeClr>
                </a:solidFill>
              </a:rPr>
              <a:t>酒石酸锑钾还原剂法）</a:t>
            </a:r>
            <a:endParaRPr lang="en-US" altLang="zh-CN" dirty="0">
              <a:solidFill>
                <a:schemeClr val="tx1">
                  <a:lumMod val="65000"/>
                  <a:lumOff val="35000"/>
                </a:schemeClr>
              </a:solidFill>
            </a:endParaRPr>
          </a:p>
          <a:p>
            <a:pPr lvl="1"/>
            <a:endParaRPr lang="en-US" altLang="zh-CN" dirty="0"/>
          </a:p>
          <a:p>
            <a:pPr lvl="1"/>
            <a:r>
              <a:rPr lang="zh-CN" altLang="en-US" dirty="0">
                <a:solidFill>
                  <a:schemeClr val="tx1">
                    <a:lumMod val="65000"/>
                    <a:lumOff val="35000"/>
                  </a:schemeClr>
                </a:solidFill>
              </a:rPr>
              <a:t>在高灵敏度测量中，需要做盐度校正</a:t>
            </a:r>
            <a:endParaRPr lang="en-US" altLang="zh-CN" dirty="0">
              <a:solidFill>
                <a:schemeClr val="tx1">
                  <a:lumMod val="65000"/>
                  <a:lumOff val="35000"/>
                </a:schemeClr>
              </a:solidFill>
            </a:endParaRPr>
          </a:p>
          <a:p>
            <a:pPr lvl="1"/>
            <a:r>
              <a:rPr lang="zh-CN" altLang="en-US" dirty="0">
                <a:solidFill>
                  <a:schemeClr val="tx1">
                    <a:lumMod val="65000"/>
                    <a:lumOff val="35000"/>
                  </a:schemeClr>
                </a:solidFill>
              </a:rPr>
              <a:t>用</a:t>
            </a:r>
            <a:r>
              <a:rPr lang="en-US" altLang="zh-CN" dirty="0">
                <a:solidFill>
                  <a:schemeClr val="tx1">
                    <a:lumMod val="65000"/>
                    <a:lumOff val="35000"/>
                  </a:schemeClr>
                </a:solidFill>
              </a:rPr>
              <a:t>SnCl</a:t>
            </a:r>
            <a:r>
              <a:rPr lang="en-US" altLang="zh-CN" baseline="-25000" dirty="0">
                <a:solidFill>
                  <a:schemeClr val="tx1">
                    <a:lumMod val="65000"/>
                    <a:lumOff val="35000"/>
                  </a:schemeClr>
                </a:solidFill>
              </a:rPr>
              <a:t>2</a:t>
            </a:r>
            <a:r>
              <a:rPr lang="zh-CN" altLang="en-US" dirty="0">
                <a:solidFill>
                  <a:schemeClr val="tx1">
                    <a:lumMod val="65000"/>
                    <a:lumOff val="35000"/>
                  </a:schemeClr>
                </a:solidFill>
              </a:rPr>
              <a:t>做还原剂时，需要做盐度校正</a:t>
            </a:r>
            <a:endParaRPr lang="en-US" altLang="zh-CN" dirty="0">
              <a:solidFill>
                <a:schemeClr val="tx1">
                  <a:lumMod val="65000"/>
                  <a:lumOff val="35000"/>
                </a:schemeClr>
              </a:solidFill>
            </a:endParaRPr>
          </a:p>
          <a:p>
            <a:pPr lvl="2"/>
            <a:endParaRPr lang="zh-CN" altLang="en-US" dirty="0"/>
          </a:p>
        </p:txBody>
      </p:sp>
      <p:pic>
        <p:nvPicPr>
          <p:cNvPr id="159746" name="Picture 2" descr="E:\课程\课件\课程图片\0.png"/>
          <p:cNvPicPr>
            <a:picLocks noChangeAspect="1" noChangeArrowheads="1"/>
          </p:cNvPicPr>
          <p:nvPr/>
        </p:nvPicPr>
        <p:blipFill>
          <a:blip r:embed="rId3" cstate="print"/>
          <a:srcRect/>
          <a:stretch>
            <a:fillRect/>
          </a:stretch>
        </p:blipFill>
        <p:spPr bwMode="auto">
          <a:xfrm>
            <a:off x="971600" y="3789040"/>
            <a:ext cx="4500594" cy="394971"/>
          </a:xfrm>
          <a:prstGeom prst="rect">
            <a:avLst/>
          </a:prstGeom>
          <a:noFill/>
        </p:spPr>
      </p:pic>
      <p:sp>
        <p:nvSpPr>
          <p:cNvPr id="7" name="TextBox 5">
            <a:extLst>
              <a:ext uri="{FF2B5EF4-FFF2-40B4-BE49-F238E27FC236}">
                <a16:creationId xmlns:a16="http://schemas.microsoft.com/office/drawing/2014/main" id="{11096CEB-1F00-46C5-B65F-7589791B3455}"/>
              </a:ext>
            </a:extLst>
          </p:cNvPr>
          <p:cNvSpPr txBox="1"/>
          <p:nvPr/>
        </p:nvSpPr>
        <p:spPr>
          <a:xfrm>
            <a:off x="1043608" y="500041"/>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extLst>
      <p:ext uri="{BB962C8B-B14F-4D97-AF65-F5344CB8AC3E}">
        <p14:creationId xmlns:p14="http://schemas.microsoft.com/office/powerpoint/2010/main" val="31652369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紫外可见分光光度法</a:t>
            </a:r>
            <a:br>
              <a:rPr lang="en-US" altLang="zh-CN" dirty="0"/>
            </a:br>
            <a:r>
              <a:rPr lang="zh-CN" altLang="en-US" dirty="0"/>
              <a:t>测量营养盐的共性问题</a:t>
            </a:r>
          </a:p>
        </p:txBody>
      </p:sp>
      <p:sp>
        <p:nvSpPr>
          <p:cNvPr id="4" name="内容占位符 3"/>
          <p:cNvSpPr>
            <a:spLocks noGrp="1"/>
          </p:cNvSpPr>
          <p:nvPr>
            <p:ph idx="1"/>
          </p:nvPr>
        </p:nvSpPr>
        <p:spPr>
          <a:xfrm>
            <a:off x="539552" y="1628800"/>
            <a:ext cx="8229600" cy="4525963"/>
          </a:xfrm>
        </p:spPr>
        <p:txBody>
          <a:bodyPr/>
          <a:lstStyle/>
          <a:p>
            <a:pPr>
              <a:spcBef>
                <a:spcPts val="1200"/>
              </a:spcBef>
            </a:pPr>
            <a:r>
              <a:rPr lang="zh-CN" altLang="en-US" dirty="0">
                <a:solidFill>
                  <a:schemeClr val="accent4">
                    <a:lumMod val="75000"/>
                    <a:lumOff val="25000"/>
                  </a:schemeClr>
                </a:solidFill>
              </a:rPr>
              <a:t>为什么测量海水中磷酸盐要将磷钼黄转成磷钼蓝进行测定？</a:t>
            </a:r>
            <a:endParaRPr lang="en-US" altLang="zh-CN" dirty="0">
              <a:solidFill>
                <a:schemeClr val="accent4">
                  <a:lumMod val="75000"/>
                  <a:lumOff val="25000"/>
                </a:schemeClr>
              </a:solidFill>
            </a:endParaRPr>
          </a:p>
          <a:p>
            <a:pPr>
              <a:spcBef>
                <a:spcPts val="1200"/>
              </a:spcBef>
            </a:pPr>
            <a:r>
              <a:rPr lang="zh-CN" altLang="en-US" dirty="0">
                <a:solidFill>
                  <a:schemeClr val="accent4">
                    <a:lumMod val="75000"/>
                    <a:lumOff val="25000"/>
                  </a:schemeClr>
                </a:solidFill>
              </a:rPr>
              <a:t>怎么知道测量的量程？量程和灵敏度之间的内在联系是什么？</a:t>
            </a:r>
            <a:endParaRPr lang="en-US" altLang="zh-CN" dirty="0">
              <a:solidFill>
                <a:schemeClr val="accent4">
                  <a:lumMod val="75000"/>
                  <a:lumOff val="25000"/>
                </a:schemeClr>
              </a:solidFill>
            </a:endParaRPr>
          </a:p>
          <a:p>
            <a:pPr>
              <a:spcBef>
                <a:spcPts val="1200"/>
              </a:spcBef>
            </a:pPr>
            <a:r>
              <a:rPr lang="en-US" altLang="zh-CN" dirty="0">
                <a:solidFill>
                  <a:schemeClr val="accent4">
                    <a:lumMod val="75000"/>
                    <a:lumOff val="25000"/>
                  </a:schemeClr>
                </a:solidFill>
              </a:rPr>
              <a:t> </a:t>
            </a:r>
            <a:r>
              <a:rPr lang="zh-CN" altLang="en-US" dirty="0">
                <a:solidFill>
                  <a:schemeClr val="accent4">
                    <a:lumMod val="75000"/>
                    <a:lumOff val="25000"/>
                  </a:schemeClr>
                </a:solidFill>
              </a:rPr>
              <a:t>测量中有液槽校正，空白值校正，浊度校正等，为什么要做？获得工作曲线后怎么利用这些校正吸光值？</a:t>
            </a:r>
            <a:endParaRPr lang="en-US" altLang="zh-CN" dirty="0">
              <a:solidFill>
                <a:schemeClr val="accent4">
                  <a:lumMod val="75000"/>
                  <a:lumOff val="25000"/>
                </a:schemeClr>
              </a:solidFill>
            </a:endParaRPr>
          </a:p>
          <a:p>
            <a:pPr>
              <a:spcBef>
                <a:spcPts val="1200"/>
              </a:spcBef>
            </a:pPr>
            <a:r>
              <a:rPr lang="en-US" altLang="zh-CN" dirty="0">
                <a:solidFill>
                  <a:schemeClr val="accent4">
                    <a:lumMod val="75000"/>
                    <a:lumOff val="25000"/>
                  </a:schemeClr>
                </a:solidFill>
              </a:rPr>
              <a:t> </a:t>
            </a:r>
            <a:r>
              <a:rPr lang="zh-CN" altLang="en-US" dirty="0">
                <a:solidFill>
                  <a:schemeClr val="accent4">
                    <a:lumMod val="75000"/>
                    <a:lumOff val="25000"/>
                  </a:schemeClr>
                </a:solidFill>
              </a:rPr>
              <a:t>海水中的盐效应是怎么作用在测量上的？</a:t>
            </a:r>
          </a:p>
        </p:txBody>
      </p:sp>
    </p:spTree>
    <p:extLst>
      <p:ext uri="{BB962C8B-B14F-4D97-AF65-F5344CB8AC3E}">
        <p14:creationId xmlns:p14="http://schemas.microsoft.com/office/powerpoint/2010/main" val="218643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4">
                                            <p:txEl>
                                              <p:pRg st="2" end="2"/>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endParaRPr lang="zh-CN" altLang="en-US"/>
          </a:p>
        </p:txBody>
      </p:sp>
      <p:pic>
        <p:nvPicPr>
          <p:cNvPr id="172034" name="Picture 2" descr="E:\课程\课件\课程图片\0.png"/>
          <p:cNvPicPr>
            <a:picLocks noChangeAspect="1" noChangeArrowheads="1"/>
          </p:cNvPicPr>
          <p:nvPr/>
        </p:nvPicPr>
        <p:blipFill>
          <a:blip r:embed="rId2" cstate="print"/>
          <a:srcRect/>
          <a:stretch>
            <a:fillRect/>
          </a:stretch>
        </p:blipFill>
        <p:spPr bwMode="auto">
          <a:xfrm>
            <a:off x="642910" y="1357298"/>
            <a:ext cx="7867650" cy="5191125"/>
          </a:xfrm>
          <a:prstGeom prst="rect">
            <a:avLst/>
          </a:prstGeom>
          <a:noFill/>
        </p:spPr>
      </p:pic>
      <p:sp>
        <p:nvSpPr>
          <p:cNvPr id="7" name="TextBox 5">
            <a:extLst>
              <a:ext uri="{FF2B5EF4-FFF2-40B4-BE49-F238E27FC236}">
                <a16:creationId xmlns:a16="http://schemas.microsoft.com/office/drawing/2014/main" id="{CE7E197F-86C9-4047-8198-D1FF1E2D7481}"/>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descr="D:\课程\课件\课程图片\0.png"/>
          <p:cNvPicPr>
            <a:picLocks noChangeAspect="1" noChangeArrowheads="1"/>
          </p:cNvPicPr>
          <p:nvPr/>
        </p:nvPicPr>
        <p:blipFill>
          <a:blip r:embed="rId2" cstate="print"/>
          <a:srcRect/>
          <a:stretch>
            <a:fillRect/>
          </a:stretch>
        </p:blipFill>
        <p:spPr bwMode="auto">
          <a:xfrm>
            <a:off x="500034" y="1085850"/>
            <a:ext cx="8370887" cy="5772150"/>
          </a:xfrm>
          <a:prstGeom prst="rect">
            <a:avLst/>
          </a:prstGeom>
          <a:noFill/>
        </p:spPr>
      </p:pic>
      <p:sp>
        <p:nvSpPr>
          <p:cNvPr id="4" name="TextBox 5">
            <a:extLst>
              <a:ext uri="{FF2B5EF4-FFF2-40B4-BE49-F238E27FC236}">
                <a16:creationId xmlns:a16="http://schemas.microsoft.com/office/drawing/2014/main" id="{01D94567-BD57-40FB-91F0-F4BC75B4470D}"/>
              </a:ext>
            </a:extLst>
          </p:cNvPr>
          <p:cNvSpPr txBox="1"/>
          <p:nvPr/>
        </p:nvSpPr>
        <p:spPr>
          <a:xfrm>
            <a:off x="1428728" y="500042"/>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第四章 海水中的磷酸盐</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01E83-B934-474D-ABDC-9DB8B59B0EA5}"/>
              </a:ext>
            </a:extLst>
          </p:cNvPr>
          <p:cNvSpPr>
            <a:spLocks noGrp="1"/>
          </p:cNvSpPr>
          <p:nvPr>
            <p:ph type="title"/>
          </p:nvPr>
        </p:nvSpPr>
        <p:spPr>
          <a:xfrm>
            <a:off x="1547664" y="332656"/>
            <a:ext cx="5976664" cy="1143000"/>
          </a:xfrm>
        </p:spPr>
        <p:txBody>
          <a:bodyPr/>
          <a:lstStyle/>
          <a:p>
            <a:r>
              <a:rPr lang="zh-CN" altLang="en-US" dirty="0">
                <a:solidFill>
                  <a:schemeClr val="accent2">
                    <a:lumMod val="75000"/>
                  </a:schemeClr>
                </a:solidFill>
              </a:rPr>
              <a:t>萃取法测定溶解无机磷酸盐（高灵敏）</a:t>
            </a:r>
          </a:p>
        </p:txBody>
      </p:sp>
      <p:sp>
        <p:nvSpPr>
          <p:cNvPr id="3" name="内容占位符 2">
            <a:extLst>
              <a:ext uri="{FF2B5EF4-FFF2-40B4-BE49-F238E27FC236}">
                <a16:creationId xmlns:a16="http://schemas.microsoft.com/office/drawing/2014/main" id="{DAB0D74B-D04D-46D8-A322-400E8F2EAFA3}"/>
              </a:ext>
            </a:extLst>
          </p:cNvPr>
          <p:cNvSpPr>
            <a:spLocks noGrp="1"/>
          </p:cNvSpPr>
          <p:nvPr>
            <p:ph idx="1"/>
          </p:nvPr>
        </p:nvSpPr>
        <p:spPr>
          <a:xfrm>
            <a:off x="457200" y="1600200"/>
            <a:ext cx="8435280" cy="4525963"/>
          </a:xfrm>
        </p:spPr>
        <p:txBody>
          <a:bodyPr/>
          <a:lstStyle/>
          <a:p>
            <a:r>
              <a:rPr lang="zh-CN" altLang="en-US" dirty="0"/>
              <a:t>检测下限可以到</a:t>
            </a:r>
            <a:r>
              <a:rPr lang="en-US" altLang="zh-CN" dirty="0"/>
              <a:t>~0.004 </a:t>
            </a:r>
            <a:r>
              <a:rPr lang="el-GR" altLang="zh-CN" dirty="0"/>
              <a:t>μ</a:t>
            </a:r>
            <a:r>
              <a:rPr lang="en-US" altLang="zh-CN" dirty="0" err="1"/>
              <a:t>mol</a:t>
            </a:r>
            <a:r>
              <a:rPr lang="en-US" altLang="zh-CN" dirty="0"/>
              <a:t>/L</a:t>
            </a:r>
          </a:p>
          <a:p>
            <a:r>
              <a:rPr lang="zh-CN" altLang="en-US" dirty="0"/>
              <a:t>检测步骤：</a:t>
            </a:r>
            <a:endParaRPr lang="en-US" altLang="zh-CN" dirty="0"/>
          </a:p>
          <a:p>
            <a:pPr lvl="1"/>
            <a:r>
              <a:rPr lang="zh-CN" altLang="en-US" dirty="0"/>
              <a:t>加</a:t>
            </a:r>
            <a:r>
              <a:rPr lang="en-US" altLang="zh-CN" dirty="0"/>
              <a:t>5mL</a:t>
            </a:r>
            <a:r>
              <a:rPr lang="zh-CN" altLang="en-US" dirty="0"/>
              <a:t>混合溶液，</a:t>
            </a:r>
            <a:r>
              <a:rPr lang="en-US" altLang="zh-CN" dirty="0"/>
              <a:t>5mL</a:t>
            </a:r>
            <a:r>
              <a:rPr lang="zh-CN" altLang="en-US" dirty="0"/>
              <a:t>抗坏血酸溶液，混匀。放置</a:t>
            </a:r>
            <a:r>
              <a:rPr lang="en-US" altLang="zh-CN" dirty="0"/>
              <a:t>10min</a:t>
            </a:r>
            <a:r>
              <a:rPr lang="zh-CN" altLang="en-US" dirty="0"/>
              <a:t>，加入</a:t>
            </a:r>
            <a:r>
              <a:rPr lang="en-US" altLang="zh-CN" dirty="0"/>
              <a:t>25.0mL</a:t>
            </a:r>
            <a:r>
              <a:rPr lang="zh-CN" altLang="en-US" dirty="0"/>
              <a:t>正已醇，振荡</a:t>
            </a:r>
            <a:r>
              <a:rPr lang="en-US" altLang="zh-CN" dirty="0"/>
              <a:t>2min</a:t>
            </a:r>
            <a:r>
              <a:rPr lang="zh-CN" altLang="en-US" dirty="0"/>
              <a:t>，静置</a:t>
            </a:r>
            <a:r>
              <a:rPr lang="en-US" altLang="zh-CN" dirty="0"/>
              <a:t>10min</a:t>
            </a:r>
            <a:r>
              <a:rPr lang="zh-CN" altLang="en-US" dirty="0"/>
              <a:t>，弃去水相，把有机相放入</a:t>
            </a:r>
            <a:r>
              <a:rPr lang="en-US" altLang="zh-CN" dirty="0"/>
              <a:t>25mL</a:t>
            </a:r>
            <a:r>
              <a:rPr lang="zh-CN" altLang="en-US" dirty="0"/>
              <a:t>具塞比色管中，加</a:t>
            </a:r>
            <a:r>
              <a:rPr lang="en-US" altLang="zh-CN" dirty="0"/>
              <a:t>1.0mL</a:t>
            </a:r>
            <a:r>
              <a:rPr lang="zh-CN" altLang="en-US" dirty="0"/>
              <a:t>无水乙醇，混匀。放置</a:t>
            </a:r>
            <a:r>
              <a:rPr lang="en-US" altLang="zh-CN" dirty="0"/>
              <a:t>5min</a:t>
            </a:r>
            <a:r>
              <a:rPr lang="zh-CN" altLang="en-US" dirty="0"/>
              <a:t>。  </a:t>
            </a:r>
            <a:endParaRPr lang="en-US" altLang="zh-CN" dirty="0"/>
          </a:p>
          <a:p>
            <a:pPr lvl="1"/>
            <a:r>
              <a:rPr lang="zh-CN" altLang="en-US" dirty="0"/>
              <a:t>将萃取液倒入</a:t>
            </a:r>
            <a:r>
              <a:rPr lang="en-US" altLang="zh-CN" dirty="0"/>
              <a:t>5cm</a:t>
            </a:r>
            <a:r>
              <a:rPr lang="zh-CN" altLang="en-US" dirty="0"/>
              <a:t>吸收皿中，以正已醇作参比，于波长</a:t>
            </a:r>
            <a:r>
              <a:rPr lang="en-US" altLang="zh-CN" dirty="0"/>
              <a:t>700nm</a:t>
            </a:r>
            <a:r>
              <a:rPr lang="zh-CN" altLang="en-US" dirty="0"/>
              <a:t>处测定吸光度</a:t>
            </a:r>
            <a:r>
              <a:rPr lang="en-US" altLang="zh-CN" dirty="0"/>
              <a:t>Ai</a:t>
            </a:r>
            <a:r>
              <a:rPr lang="zh-CN" altLang="en-US" dirty="0"/>
              <a:t>和</a:t>
            </a:r>
            <a:r>
              <a:rPr lang="en-US" altLang="zh-CN" dirty="0" err="1"/>
              <a:t>Ao</a:t>
            </a:r>
            <a:r>
              <a:rPr lang="zh-CN" altLang="en-US" dirty="0"/>
              <a:t>（标准空白）。  </a:t>
            </a:r>
            <a:endParaRPr lang="en-US" altLang="zh-CN" dirty="0"/>
          </a:p>
          <a:p>
            <a:pPr lvl="1"/>
            <a:r>
              <a:rPr lang="zh-CN" altLang="en-US" dirty="0"/>
              <a:t>以吸光度</a:t>
            </a:r>
            <a:r>
              <a:rPr lang="en-US" altLang="zh-CN" dirty="0"/>
              <a:t>(Ai</a:t>
            </a:r>
            <a:r>
              <a:rPr lang="zh-CN" altLang="en-US" dirty="0"/>
              <a:t>－</a:t>
            </a:r>
            <a:r>
              <a:rPr lang="en-US" altLang="zh-CN" dirty="0" err="1"/>
              <a:t>Ao</a:t>
            </a:r>
            <a:r>
              <a:rPr lang="en-US" altLang="zh-CN" dirty="0"/>
              <a:t>)</a:t>
            </a:r>
            <a:r>
              <a:rPr lang="zh-CN" altLang="en-US" dirty="0"/>
              <a:t>为纵坐标，相应的磷酸盐浓度</a:t>
            </a:r>
            <a:r>
              <a:rPr lang="en-US" altLang="zh-CN" dirty="0"/>
              <a:t>(</a:t>
            </a:r>
            <a:r>
              <a:rPr lang="en-US" altLang="zh-CN" dirty="0" err="1"/>
              <a:t>μg</a:t>
            </a:r>
            <a:r>
              <a:rPr lang="en-US" altLang="zh-CN" dirty="0"/>
              <a:t>/L-P)</a:t>
            </a:r>
            <a:r>
              <a:rPr lang="zh-CN" altLang="en-US" dirty="0"/>
              <a:t>为横坐标，绘制标准曲线</a:t>
            </a:r>
          </a:p>
        </p:txBody>
      </p:sp>
    </p:spTree>
    <p:extLst>
      <p:ext uri="{BB962C8B-B14F-4D97-AF65-F5344CB8AC3E}">
        <p14:creationId xmlns:p14="http://schemas.microsoft.com/office/powerpoint/2010/main" val="39518088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69184-FC11-4A11-A518-8ED5141605E2}"/>
              </a:ext>
            </a:extLst>
          </p:cNvPr>
          <p:cNvSpPr>
            <a:spLocks noGrp="1"/>
          </p:cNvSpPr>
          <p:nvPr>
            <p:ph type="title"/>
          </p:nvPr>
        </p:nvSpPr>
        <p:spPr>
          <a:xfrm>
            <a:off x="1619672" y="404664"/>
            <a:ext cx="5904656" cy="1143000"/>
          </a:xfrm>
        </p:spPr>
        <p:txBody>
          <a:bodyPr/>
          <a:lstStyle/>
          <a:p>
            <a:r>
              <a:rPr lang="zh-CN" altLang="en-US" dirty="0">
                <a:solidFill>
                  <a:schemeClr val="accent2">
                    <a:lumMod val="75000"/>
                  </a:schemeClr>
                </a:solidFill>
              </a:rPr>
              <a:t>萃取法测定溶解无机磷酸盐（高灵敏）</a:t>
            </a:r>
            <a:endParaRPr lang="zh-CN" altLang="en-US" dirty="0"/>
          </a:p>
        </p:txBody>
      </p:sp>
      <p:sp>
        <p:nvSpPr>
          <p:cNvPr id="3" name="内容占位符 2">
            <a:extLst>
              <a:ext uri="{FF2B5EF4-FFF2-40B4-BE49-F238E27FC236}">
                <a16:creationId xmlns:a16="http://schemas.microsoft.com/office/drawing/2014/main" id="{CDEEF5EF-D969-47BC-8844-BA581018D550}"/>
              </a:ext>
            </a:extLst>
          </p:cNvPr>
          <p:cNvSpPr>
            <a:spLocks noGrp="1"/>
          </p:cNvSpPr>
          <p:nvPr>
            <p:ph idx="1"/>
          </p:nvPr>
        </p:nvSpPr>
        <p:spPr>
          <a:xfrm>
            <a:off x="755576" y="1844825"/>
            <a:ext cx="7704856" cy="2808312"/>
          </a:xfrm>
        </p:spPr>
        <p:txBody>
          <a:bodyPr/>
          <a:lstStyle/>
          <a:p>
            <a:pPr>
              <a:spcBef>
                <a:spcPts val="1200"/>
              </a:spcBef>
              <a:buFont typeface="Wingdings" panose="05000000000000000000" pitchFamily="2" charset="2"/>
              <a:buChar char="p"/>
            </a:pPr>
            <a:r>
              <a:rPr lang="zh-CN" altLang="en-US" sz="2400" b="1" dirty="0"/>
              <a:t>朗博比尔</a:t>
            </a:r>
            <a:r>
              <a:rPr lang="en-US" altLang="zh-CN" sz="2400" dirty="0"/>
              <a:t>(Lambert)-</a:t>
            </a:r>
            <a:r>
              <a:rPr lang="zh-CN" altLang="en-US" sz="2400" b="1" dirty="0"/>
              <a:t> </a:t>
            </a:r>
            <a:r>
              <a:rPr lang="en-US" altLang="zh-CN" sz="2400" dirty="0"/>
              <a:t>(Beer)</a:t>
            </a:r>
            <a:r>
              <a:rPr lang="zh-CN" altLang="en-US" sz="2400" dirty="0"/>
              <a:t>定律</a:t>
            </a:r>
            <a:r>
              <a:rPr lang="en-US" altLang="zh-CN" sz="2400" dirty="0"/>
              <a:t>: I</a:t>
            </a:r>
            <a:r>
              <a:rPr lang="en-US" altLang="zh-CN" sz="2400" baseline="-25000" dirty="0"/>
              <a:t>1</a:t>
            </a:r>
            <a:r>
              <a:rPr lang="en-US" altLang="zh-CN" sz="2400" dirty="0"/>
              <a:t>=I</a:t>
            </a:r>
            <a:r>
              <a:rPr lang="en-US" altLang="zh-CN" sz="2400" baseline="-25000" dirty="0"/>
              <a:t>0</a:t>
            </a:r>
            <a:r>
              <a:rPr lang="zh-CN" altLang="en-US" sz="2400" dirty="0"/>
              <a:t>*</a:t>
            </a:r>
            <a:r>
              <a:rPr lang="en-US" altLang="zh-CN" sz="2400" dirty="0"/>
              <a:t>10</a:t>
            </a:r>
            <a:r>
              <a:rPr lang="zh-CN" altLang="en-US" sz="2400" baseline="30000" dirty="0"/>
              <a:t>（</a:t>
            </a:r>
            <a:r>
              <a:rPr lang="en-US" altLang="zh-CN" sz="2400" baseline="30000" dirty="0"/>
              <a:t>-</a:t>
            </a:r>
            <a:r>
              <a:rPr lang="el-GR" altLang="zh-CN" sz="2400" baseline="30000" dirty="0"/>
              <a:t>ε</a:t>
            </a:r>
            <a:r>
              <a:rPr lang="en-US" altLang="zh-CN" sz="2400" baseline="30000" dirty="0" err="1"/>
              <a:t>lc</a:t>
            </a:r>
            <a:r>
              <a:rPr lang="zh-CN" altLang="en-US" sz="2400" baseline="30000" dirty="0"/>
              <a:t>）</a:t>
            </a:r>
            <a:endParaRPr lang="en-US" altLang="zh-CN" sz="2400" baseline="30000" dirty="0"/>
          </a:p>
          <a:p>
            <a:pPr>
              <a:spcBef>
                <a:spcPts val="1200"/>
              </a:spcBef>
              <a:buFont typeface="Wingdings" panose="05000000000000000000" pitchFamily="2" charset="2"/>
              <a:buChar char="p"/>
            </a:pPr>
            <a:r>
              <a:rPr lang="zh-CN" altLang="en-US" sz="2400" dirty="0"/>
              <a:t>定义</a:t>
            </a:r>
            <a:r>
              <a:rPr lang="en-US" altLang="zh-CN" sz="2400" dirty="0"/>
              <a:t>ABS=</a:t>
            </a:r>
            <a:r>
              <a:rPr lang="el-GR" altLang="zh-CN" sz="2400" dirty="0"/>
              <a:t>ε</a:t>
            </a:r>
            <a:r>
              <a:rPr lang="en-US" altLang="zh-CN" sz="2400" dirty="0" err="1"/>
              <a:t>lc</a:t>
            </a:r>
            <a:r>
              <a:rPr lang="zh-CN" altLang="en-US" sz="2400" dirty="0"/>
              <a:t>，式中</a:t>
            </a:r>
            <a:r>
              <a:rPr lang="en-US" altLang="zh-CN" sz="2400" i="1" dirty="0"/>
              <a:t>ABS</a:t>
            </a:r>
            <a:r>
              <a:rPr lang="zh-CN" altLang="en-US" sz="2400" dirty="0"/>
              <a:t>为</a:t>
            </a:r>
            <a:r>
              <a:rPr lang="zh-CN" altLang="en-US" sz="2400" dirty="0">
                <a:hlinkClick r:id="rId2"/>
              </a:rPr>
              <a:t>吸光度</a:t>
            </a:r>
            <a:r>
              <a:rPr lang="en-US" altLang="zh-CN" sz="2400" dirty="0"/>
              <a:t>=-</a:t>
            </a:r>
            <a:r>
              <a:rPr lang="en-US" altLang="zh-CN" sz="2400" dirty="0" err="1"/>
              <a:t>lg</a:t>
            </a:r>
            <a:r>
              <a:rPr lang="zh-CN" altLang="en-US" sz="2400" dirty="0"/>
              <a:t>（</a:t>
            </a:r>
            <a:r>
              <a:rPr lang="en-US" altLang="zh-CN" sz="2400" dirty="0"/>
              <a:t>I</a:t>
            </a:r>
            <a:r>
              <a:rPr lang="en-US" altLang="zh-CN" sz="2400" baseline="-25000" dirty="0"/>
              <a:t>1</a:t>
            </a:r>
            <a:r>
              <a:rPr lang="en-US" altLang="zh-CN" sz="2400" dirty="0"/>
              <a:t>/I</a:t>
            </a:r>
            <a:r>
              <a:rPr lang="en-US" altLang="zh-CN" sz="2400" baseline="-25000" dirty="0"/>
              <a:t>0</a:t>
            </a:r>
            <a:r>
              <a:rPr lang="zh-CN" altLang="en-US" sz="2400" dirty="0"/>
              <a:t>），</a:t>
            </a:r>
            <a:r>
              <a:rPr lang="en-US" altLang="zh-CN" sz="2400" dirty="0"/>
              <a:t>l</a:t>
            </a:r>
            <a:r>
              <a:rPr lang="zh-CN" altLang="en-US" sz="2400" dirty="0"/>
              <a:t>为溶液层厚度，</a:t>
            </a:r>
            <a:r>
              <a:rPr lang="en-US" altLang="zh-CN" sz="2400" i="1" dirty="0"/>
              <a:t>c</a:t>
            </a:r>
            <a:r>
              <a:rPr lang="zh-CN" altLang="en-US" sz="2400" dirty="0"/>
              <a:t>为溶液的摩尔浓度， </a:t>
            </a:r>
            <a:r>
              <a:rPr lang="el-GR" altLang="zh-CN" sz="2400" dirty="0"/>
              <a:t>ε</a:t>
            </a:r>
            <a:r>
              <a:rPr lang="zh-CN" altLang="en-US" sz="2400" dirty="0"/>
              <a:t>为摩尔吸光系数。</a:t>
            </a:r>
            <a:endParaRPr lang="en-US" altLang="zh-CN" sz="2400" dirty="0"/>
          </a:p>
          <a:p>
            <a:pPr>
              <a:spcBef>
                <a:spcPts val="1200"/>
              </a:spcBef>
              <a:buFont typeface="Wingdings" panose="05000000000000000000" pitchFamily="2" charset="2"/>
              <a:buChar char="p"/>
            </a:pPr>
            <a:r>
              <a:rPr lang="zh-CN" altLang="en-US" sz="2400" dirty="0"/>
              <a:t>假设基于磷钼蓝法测量溶解无机磷酸盐的原理不变，通过哪些方法（角度），可以降低磷钼蓝法的检测下限？</a:t>
            </a:r>
          </a:p>
          <a:p>
            <a:endParaRPr lang="zh-CN" altLang="en-US" dirty="0"/>
          </a:p>
        </p:txBody>
      </p:sp>
    </p:spTree>
    <p:extLst>
      <p:ext uri="{BB962C8B-B14F-4D97-AF65-F5344CB8AC3E}">
        <p14:creationId xmlns:p14="http://schemas.microsoft.com/office/powerpoint/2010/main" val="14440499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C9FAAC-1F29-4060-A2DD-77DE03F05E92}"/>
              </a:ext>
            </a:extLst>
          </p:cNvPr>
          <p:cNvSpPr>
            <a:spLocks noGrp="1"/>
          </p:cNvSpPr>
          <p:nvPr>
            <p:ph type="title"/>
          </p:nvPr>
        </p:nvSpPr>
        <p:spPr/>
        <p:txBody>
          <a:bodyPr/>
          <a:lstStyle/>
          <a:p>
            <a:r>
              <a:rPr lang="zh-CN" altLang="en-US" dirty="0">
                <a:solidFill>
                  <a:schemeClr val="accent2">
                    <a:lumMod val="75000"/>
                  </a:schemeClr>
                </a:solidFill>
              </a:rPr>
              <a:t>测定低剂量溶解无机磷酸盐</a:t>
            </a:r>
            <a:endParaRPr lang="zh-CN" altLang="en-US" dirty="0"/>
          </a:p>
        </p:txBody>
      </p:sp>
      <p:pic>
        <p:nvPicPr>
          <p:cNvPr id="5" name="内容占位符 4">
            <a:extLst>
              <a:ext uri="{FF2B5EF4-FFF2-40B4-BE49-F238E27FC236}">
                <a16:creationId xmlns:a16="http://schemas.microsoft.com/office/drawing/2014/main" id="{DF6E1B7C-13F7-48B9-8AC3-F806DFD69B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760" y="1359843"/>
            <a:ext cx="8892480" cy="4138313"/>
          </a:xfrm>
        </p:spPr>
      </p:pic>
      <p:sp>
        <p:nvSpPr>
          <p:cNvPr id="6" name="文本框 5">
            <a:extLst>
              <a:ext uri="{FF2B5EF4-FFF2-40B4-BE49-F238E27FC236}">
                <a16:creationId xmlns:a16="http://schemas.microsoft.com/office/drawing/2014/main" id="{F2C79F78-27D5-4C09-8E53-E7A49275FC42}"/>
              </a:ext>
            </a:extLst>
          </p:cNvPr>
          <p:cNvSpPr txBox="1"/>
          <p:nvPr/>
        </p:nvSpPr>
        <p:spPr>
          <a:xfrm>
            <a:off x="5364088" y="5542564"/>
            <a:ext cx="3456384" cy="369332"/>
          </a:xfrm>
          <a:prstGeom prst="rect">
            <a:avLst/>
          </a:prstGeom>
          <a:noFill/>
        </p:spPr>
        <p:txBody>
          <a:bodyPr wrap="square" rtlCol="0">
            <a:spAutoFit/>
          </a:bodyPr>
          <a:lstStyle/>
          <a:p>
            <a:r>
              <a:rPr lang="zh-CN" altLang="en-US" dirty="0"/>
              <a:t>袁东星等，环境化学，</a:t>
            </a:r>
            <a:r>
              <a:rPr lang="en-US" altLang="zh-CN" dirty="0"/>
              <a:t>2006</a:t>
            </a:r>
            <a:endParaRPr lang="zh-CN" altLang="en-US" dirty="0"/>
          </a:p>
        </p:txBody>
      </p:sp>
    </p:spTree>
    <p:extLst>
      <p:ext uri="{BB962C8B-B14F-4D97-AF65-F5344CB8AC3E}">
        <p14:creationId xmlns:p14="http://schemas.microsoft.com/office/powerpoint/2010/main" val="8113188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35696" y="446794"/>
            <a:ext cx="4511424" cy="584775"/>
          </a:xfrm>
          <a:prstGeom prst="rect">
            <a:avLst/>
          </a:prstGeom>
          <a:noFill/>
          <a:ln w="15875">
            <a:noFill/>
          </a:ln>
        </p:spPr>
        <p:txBody>
          <a:bodyPr wrap="square" rtlCol="0">
            <a:spAutoFit/>
          </a:bodyPr>
          <a:lstStyle/>
          <a:p>
            <a:r>
              <a:rPr lang="zh-CN" altLang="en-US" sz="3200" b="1" dirty="0">
                <a:solidFill>
                  <a:schemeClr val="bg2">
                    <a:lumMod val="25000"/>
                  </a:schemeClr>
                </a:solidFill>
                <a:latin typeface="华文新魏" pitchFamily="2" charset="-122"/>
                <a:ea typeface="华文新魏" pitchFamily="2" charset="-122"/>
              </a:rPr>
              <a:t>第四章 海水中的总磷</a:t>
            </a:r>
          </a:p>
        </p:txBody>
      </p:sp>
      <p:pic>
        <p:nvPicPr>
          <p:cNvPr id="159747" name="Picture 3" descr="E:\课程\课件\课程图片\0.png"/>
          <p:cNvPicPr>
            <a:picLocks noChangeAspect="1" noChangeArrowheads="1"/>
          </p:cNvPicPr>
          <p:nvPr/>
        </p:nvPicPr>
        <p:blipFill>
          <a:blip r:embed="rId2" cstate="print"/>
          <a:srcRect/>
          <a:stretch>
            <a:fillRect/>
          </a:stretch>
        </p:blipFill>
        <p:spPr bwMode="auto">
          <a:xfrm>
            <a:off x="539552" y="1412776"/>
            <a:ext cx="7849662" cy="1024263"/>
          </a:xfrm>
          <a:prstGeom prst="rect">
            <a:avLst/>
          </a:prstGeom>
          <a:noFill/>
        </p:spPr>
      </p:pic>
      <p:pic>
        <p:nvPicPr>
          <p:cNvPr id="159751" name="Picture 7" descr="E:\课程\课件\课程图片\0.png"/>
          <p:cNvPicPr>
            <a:picLocks noChangeAspect="1" noChangeArrowheads="1"/>
          </p:cNvPicPr>
          <p:nvPr/>
        </p:nvPicPr>
        <p:blipFill>
          <a:blip r:embed="rId3" cstate="print"/>
          <a:srcRect/>
          <a:stretch>
            <a:fillRect/>
          </a:stretch>
        </p:blipFill>
        <p:spPr bwMode="auto">
          <a:xfrm>
            <a:off x="714348" y="2500306"/>
            <a:ext cx="7417371" cy="3357586"/>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测量精度</a:t>
            </a:r>
          </a:p>
        </p:txBody>
      </p:sp>
      <p:sp>
        <p:nvSpPr>
          <p:cNvPr id="3" name="内容占位符 2"/>
          <p:cNvSpPr>
            <a:spLocks noGrp="1"/>
          </p:cNvSpPr>
          <p:nvPr>
            <p:ph idx="1"/>
          </p:nvPr>
        </p:nvSpPr>
        <p:spPr/>
        <p:txBody>
          <a:bodyPr/>
          <a:lstStyle/>
          <a:p>
            <a:r>
              <a:rPr lang="zh-CN" altLang="en-US"/>
              <a:t>测量精度（活性磷酸盐）</a:t>
            </a:r>
            <a:endParaRPr lang="en-US" altLang="zh-CN" dirty="0"/>
          </a:p>
          <a:p>
            <a:pPr lvl="1"/>
            <a:r>
              <a:rPr lang="zh-CN" altLang="en-US" dirty="0"/>
              <a:t>在低浓度（</a:t>
            </a:r>
            <a:r>
              <a:rPr lang="en-US" altLang="zh-CN" dirty="0"/>
              <a:t>~0.2 µmol/L</a:t>
            </a:r>
            <a:r>
              <a:rPr lang="zh-CN" altLang="en-US" dirty="0"/>
              <a:t>）区，</a:t>
            </a:r>
            <a:r>
              <a:rPr lang="en-US" altLang="zh-CN" dirty="0"/>
              <a:t>±15%</a:t>
            </a:r>
          </a:p>
          <a:p>
            <a:pPr lvl="1"/>
            <a:r>
              <a:rPr lang="zh-CN" altLang="en-US" dirty="0"/>
              <a:t>在中浓度（</a:t>
            </a:r>
            <a:r>
              <a:rPr lang="en-US" altLang="zh-CN" dirty="0"/>
              <a:t>~0.9 µmol/L</a:t>
            </a:r>
            <a:r>
              <a:rPr lang="zh-CN" altLang="en-US" dirty="0"/>
              <a:t>）区，</a:t>
            </a:r>
            <a:r>
              <a:rPr lang="en-US" altLang="zh-CN" dirty="0"/>
              <a:t>±5%</a:t>
            </a:r>
          </a:p>
          <a:p>
            <a:pPr lvl="1"/>
            <a:r>
              <a:rPr lang="zh-CN" altLang="en-US" dirty="0"/>
              <a:t>在高浓度（</a:t>
            </a:r>
            <a:r>
              <a:rPr lang="en-US" altLang="zh-CN" dirty="0"/>
              <a:t>~2.8 µmol/L</a:t>
            </a:r>
            <a:r>
              <a:rPr lang="zh-CN" altLang="en-US" dirty="0"/>
              <a:t>）区，</a:t>
            </a:r>
            <a:r>
              <a:rPr lang="en-US" altLang="zh-CN" dirty="0"/>
              <a:t>±2%</a:t>
            </a:r>
          </a:p>
          <a:p>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校正</a:t>
            </a:r>
          </a:p>
        </p:txBody>
      </p:sp>
      <p:sp>
        <p:nvSpPr>
          <p:cNvPr id="3" name="内容占位符 2"/>
          <p:cNvSpPr>
            <a:spLocks noGrp="1"/>
          </p:cNvSpPr>
          <p:nvPr>
            <p:ph idx="1"/>
          </p:nvPr>
        </p:nvSpPr>
        <p:spPr>
          <a:xfrm>
            <a:off x="467544" y="1268760"/>
            <a:ext cx="8229600" cy="4768865"/>
          </a:xfrm>
        </p:spPr>
        <p:txBody>
          <a:bodyPr/>
          <a:lstStyle/>
          <a:p>
            <a:r>
              <a:rPr lang="zh-CN" altLang="en-US" dirty="0"/>
              <a:t>工作曲线（标准曲线）</a:t>
            </a:r>
            <a:endParaRPr lang="en-US" altLang="zh-CN" dirty="0"/>
          </a:p>
          <a:p>
            <a:pPr lvl="1"/>
            <a:r>
              <a:rPr lang="zh-CN" altLang="en-US" dirty="0"/>
              <a:t>标准曲线的浓度范围与测量浓度越接近，它的准确度越好</a:t>
            </a:r>
            <a:endParaRPr lang="en-US" altLang="zh-CN" dirty="0"/>
          </a:p>
          <a:p>
            <a:pPr lvl="1"/>
            <a:r>
              <a:rPr lang="en-US" altLang="zh-CN" dirty="0"/>
              <a:t> </a:t>
            </a:r>
            <a:r>
              <a:rPr lang="zh-CN" altLang="en-US" dirty="0"/>
              <a:t>如果未知浓度，那么全范围的标准曲线必须从</a:t>
            </a:r>
            <a:r>
              <a:rPr lang="en-US" altLang="zh-CN" dirty="0"/>
              <a:t>0</a:t>
            </a:r>
            <a:r>
              <a:rPr lang="zh-CN" altLang="en-US" dirty="0"/>
              <a:t>浓度开始做起</a:t>
            </a:r>
            <a:endParaRPr lang="en-US" altLang="zh-CN" dirty="0"/>
          </a:p>
          <a:p>
            <a:pPr lvl="1"/>
            <a:r>
              <a:rPr lang="zh-CN" altLang="en-US" dirty="0"/>
              <a:t>如果样品的浓度范围已知，则只需要</a:t>
            </a:r>
            <a:r>
              <a:rPr lang="en-US" altLang="zh-CN" dirty="0"/>
              <a:t>2</a:t>
            </a:r>
            <a:r>
              <a:rPr lang="zh-CN" altLang="en-US" dirty="0"/>
              <a:t>到</a:t>
            </a:r>
            <a:r>
              <a:rPr lang="en-US" altLang="zh-CN" dirty="0"/>
              <a:t>3</a:t>
            </a:r>
            <a:r>
              <a:rPr lang="zh-CN" altLang="en-US" dirty="0"/>
              <a:t>个点的标曲即可</a:t>
            </a:r>
            <a:endParaRPr lang="en-US" altLang="zh-CN" dirty="0"/>
          </a:p>
          <a:p>
            <a:pPr lvl="1"/>
            <a:r>
              <a:rPr lang="zh-CN" altLang="en-US" dirty="0"/>
              <a:t>为了检测仪器是否有漂移，在实际测量中，每</a:t>
            </a:r>
            <a:r>
              <a:rPr lang="en-US" altLang="zh-CN" dirty="0"/>
              <a:t>20~40</a:t>
            </a:r>
            <a:r>
              <a:rPr lang="zh-CN" altLang="en-US" dirty="0"/>
              <a:t>个样品间会插入标样来检验仪器是否存在漂移（在手工做和机器做两种方法都需要插标样）</a:t>
            </a:r>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盐效应</a:t>
            </a:r>
          </a:p>
        </p:txBody>
      </p:sp>
      <p:sp>
        <p:nvSpPr>
          <p:cNvPr id="7" name="内容占位符 6"/>
          <p:cNvSpPr>
            <a:spLocks noGrp="1"/>
          </p:cNvSpPr>
          <p:nvPr>
            <p:ph idx="1"/>
          </p:nvPr>
        </p:nvSpPr>
        <p:spPr/>
        <p:txBody>
          <a:bodyPr/>
          <a:lstStyle/>
          <a:p>
            <a:r>
              <a:rPr lang="zh-CN" altLang="en-US" dirty="0"/>
              <a:t>盐效应在分光光度法中主要可能作用在两部分</a:t>
            </a:r>
            <a:endParaRPr lang="en-US" altLang="zh-CN" dirty="0"/>
          </a:p>
          <a:p>
            <a:pPr lvl="1"/>
            <a:r>
              <a:rPr lang="zh-CN" altLang="en-US" dirty="0"/>
              <a:t>由于海水中离子造成削弱待测样品的吸光度（磷钼蓝法和硅钼蓝法）</a:t>
            </a:r>
            <a:endParaRPr lang="en-US" altLang="zh-CN" dirty="0"/>
          </a:p>
          <a:p>
            <a:pPr lvl="1"/>
            <a:r>
              <a:rPr lang="en-US" altLang="zh-CN" dirty="0"/>
              <a:t> </a:t>
            </a:r>
            <a:r>
              <a:rPr lang="zh-CN" altLang="en-US" dirty="0"/>
              <a:t>由于海水中的离子改变了反应的</a:t>
            </a:r>
            <a:r>
              <a:rPr lang="en-US" altLang="zh-CN" dirty="0"/>
              <a:t>pH</a:t>
            </a:r>
            <a:r>
              <a:rPr lang="zh-CN" altLang="en-US" dirty="0"/>
              <a:t>缓冲能力，改变了反应的</a:t>
            </a:r>
            <a:r>
              <a:rPr lang="en-US" altLang="zh-CN" dirty="0"/>
              <a:t>pH</a:t>
            </a:r>
            <a:r>
              <a:rPr lang="zh-CN" altLang="en-US" dirty="0"/>
              <a:t>值（测量氨氮中，海水中的镁离子与反应试剂柠檬酸形成新的</a:t>
            </a:r>
            <a:r>
              <a:rPr lang="en-US" altLang="zh-CN" dirty="0"/>
              <a:t>buffer</a:t>
            </a:r>
            <a:r>
              <a:rPr lang="zh-CN" altLang="en-US" dirty="0"/>
              <a:t>体系，改变了反应的</a:t>
            </a:r>
            <a:r>
              <a:rPr lang="en-US" altLang="zh-CN" dirty="0"/>
              <a:t>pH</a:t>
            </a:r>
            <a:r>
              <a:rPr lang="zh-CN" altLang="en-US" dirty="0"/>
              <a:t>值）</a:t>
            </a:r>
            <a:endParaRPr lang="en-US" altLang="zh-CN" dirty="0"/>
          </a:p>
          <a:p>
            <a:pPr lvl="1">
              <a:buFont typeface="Wingdings" panose="05000000000000000000" pitchFamily="2" charset="2"/>
              <a:buChar char="ü"/>
            </a:pPr>
            <a:r>
              <a:rPr lang="zh-CN" altLang="en-US" dirty="0"/>
              <a:t>最好的解决方法是用与样品相同的溶液基底来做工作曲线</a:t>
            </a:r>
            <a:endParaRPr lang="en-US" altLang="zh-CN" dirty="0"/>
          </a:p>
          <a:p>
            <a:pPr lvl="1">
              <a:buFont typeface="Wingdings" panose="05000000000000000000" pitchFamily="2" charset="2"/>
              <a:buChar char="ü"/>
            </a:pPr>
            <a:r>
              <a:rPr lang="zh-CN" altLang="en-US" dirty="0"/>
              <a:t>或者预先算出盐度对样品的干扰度，再对测量结果进行校准</a:t>
            </a:r>
            <a:endParaRPr lang="en-US" altLang="zh-CN" dirty="0"/>
          </a:p>
          <a:p>
            <a:pPr lvl="1"/>
            <a:endParaRPr lang="en-US" altLang="zh-CN" dirty="0"/>
          </a:p>
          <a:p>
            <a:pPr lvl="1"/>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75656" y="404664"/>
            <a:ext cx="7416824" cy="2585323"/>
          </a:xfrm>
          <a:prstGeom prst="rect">
            <a:avLst/>
          </a:prstGeom>
        </p:spPr>
        <p:txBody>
          <a:bodyPr wrap="square">
            <a:spAutoFit/>
          </a:bodyPr>
          <a:lstStyle/>
          <a:p>
            <a:r>
              <a:rPr lang="zh-CN" altLang="en-US" dirty="0"/>
              <a:t>流动注射分析</a:t>
            </a:r>
            <a:r>
              <a:rPr lang="en-US" altLang="zh-CN" dirty="0"/>
              <a:t>(Flow Injection Analysis</a:t>
            </a:r>
            <a:r>
              <a:rPr lang="zh-CN" altLang="en-US" dirty="0"/>
              <a:t>，</a:t>
            </a:r>
            <a:r>
              <a:rPr lang="en-US" altLang="zh-CN" dirty="0"/>
              <a:t>FIA)</a:t>
            </a:r>
            <a:r>
              <a:rPr lang="zh-CN" altLang="en-US" dirty="0"/>
              <a:t>，是由丹麦技术大学的</a:t>
            </a:r>
            <a:r>
              <a:rPr lang="en-US" altLang="zh-CN" dirty="0" err="1"/>
              <a:t>J.Ruzicka</a:t>
            </a:r>
            <a:r>
              <a:rPr lang="en-US" altLang="zh-CN" dirty="0"/>
              <a:t> </a:t>
            </a:r>
            <a:r>
              <a:rPr lang="zh-CN" altLang="en-US" dirty="0"/>
              <a:t>和</a:t>
            </a:r>
            <a:r>
              <a:rPr lang="en-US" altLang="zh-CN" dirty="0" err="1"/>
              <a:t>E.H.Hansen</a:t>
            </a:r>
            <a:r>
              <a:rPr lang="zh-CN" altLang="en-US" dirty="0"/>
              <a:t>于</a:t>
            </a:r>
            <a:r>
              <a:rPr lang="en-US" altLang="zh-CN" dirty="0"/>
              <a:t>1975</a:t>
            </a:r>
            <a:r>
              <a:rPr lang="zh-CN" altLang="en-US" dirty="0"/>
              <a:t>年提出了的新概念，即在</a:t>
            </a:r>
            <a:r>
              <a:rPr lang="zh-CN" altLang="en-US" dirty="0">
                <a:solidFill>
                  <a:srgbClr val="FF0000"/>
                </a:solidFill>
              </a:rPr>
              <a:t>热力学非平衡条件</a:t>
            </a:r>
            <a:r>
              <a:rPr lang="zh-CN" altLang="en-US" dirty="0"/>
              <a:t>下</a:t>
            </a:r>
            <a:r>
              <a:rPr lang="en-US" altLang="zh-CN" dirty="0"/>
              <a:t>,</a:t>
            </a:r>
            <a:r>
              <a:rPr lang="zh-CN" altLang="en-US" dirty="0"/>
              <a:t>在液流中重现地处理试样或试剂区带的定量流动分析技术。它是近</a:t>
            </a:r>
            <a:r>
              <a:rPr lang="en-US" altLang="zh-CN" dirty="0"/>
              <a:t>20</a:t>
            </a:r>
            <a:r>
              <a:rPr lang="zh-CN" altLang="en-US" dirty="0"/>
              <a:t>年来才出现的一项分析技术</a:t>
            </a:r>
            <a:r>
              <a:rPr lang="en-US" altLang="zh-CN" dirty="0"/>
              <a:t>,</a:t>
            </a:r>
            <a:r>
              <a:rPr lang="zh-CN" altLang="en-US" dirty="0"/>
              <a:t>它与其它分析技术相结合极大地推动了自动化分析和仪器的发展</a:t>
            </a:r>
            <a:r>
              <a:rPr lang="en-US" altLang="zh-CN" dirty="0"/>
              <a:t>,</a:t>
            </a:r>
            <a:r>
              <a:rPr lang="zh-CN" altLang="en-US" dirty="0"/>
              <a:t>成为一门新型的微量、高速和自动化的分析技术。流动注射分析发展迅速</a:t>
            </a:r>
            <a:r>
              <a:rPr lang="en-US" altLang="zh-CN" dirty="0"/>
              <a:t>,</a:t>
            </a:r>
            <a:r>
              <a:rPr lang="zh-CN" altLang="en-US" dirty="0"/>
              <a:t>它已被广泛应用于很多分析领域。目前</a:t>
            </a:r>
            <a:r>
              <a:rPr lang="en-US" altLang="zh-CN" dirty="0"/>
              <a:t>,</a:t>
            </a:r>
            <a:r>
              <a:rPr lang="zh-CN" altLang="en-US" dirty="0"/>
              <a:t>应用的主要领域有</a:t>
            </a:r>
            <a:r>
              <a:rPr lang="en-US" altLang="zh-CN" dirty="0"/>
              <a:t>:</a:t>
            </a:r>
            <a:r>
              <a:rPr lang="zh-CN" altLang="en-US" dirty="0"/>
              <a:t>水质检测、土壤样品分析、农业和环境监测、科研与教学、发酵过程监测、药物研究、禁药检测、血液分析、食品和饮料、分光光度分析等等。</a:t>
            </a:r>
          </a:p>
        </p:txBody>
      </p:sp>
      <p:pic>
        <p:nvPicPr>
          <p:cNvPr id="158722" name="Picture 2" descr="E:\课程\海水分析化学 本科\课件\课程图片\pH的影响5.png"/>
          <p:cNvPicPr>
            <a:picLocks noChangeAspect="1" noChangeArrowheads="1"/>
          </p:cNvPicPr>
          <p:nvPr/>
        </p:nvPicPr>
        <p:blipFill>
          <a:blip r:embed="rId2" cstate="print"/>
          <a:srcRect/>
          <a:stretch>
            <a:fillRect/>
          </a:stretch>
        </p:blipFill>
        <p:spPr bwMode="auto">
          <a:xfrm>
            <a:off x="4221931" y="3600788"/>
            <a:ext cx="4922069" cy="3257212"/>
          </a:xfrm>
          <a:prstGeom prst="rect">
            <a:avLst/>
          </a:prstGeom>
          <a:noFill/>
        </p:spPr>
      </p:pic>
      <p:pic>
        <p:nvPicPr>
          <p:cNvPr id="158723" name="Picture 3" descr="E:\课程\海水分析化学 本科\课件\课程图片\3.png"/>
          <p:cNvPicPr>
            <a:picLocks noChangeAspect="1" noChangeArrowheads="1"/>
          </p:cNvPicPr>
          <p:nvPr/>
        </p:nvPicPr>
        <p:blipFill>
          <a:blip r:embed="rId3" cstate="print"/>
          <a:srcRect/>
          <a:stretch>
            <a:fillRect/>
          </a:stretch>
        </p:blipFill>
        <p:spPr bwMode="auto">
          <a:xfrm>
            <a:off x="0" y="3140968"/>
            <a:ext cx="5076056" cy="2623064"/>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内容占位符 3"/>
          <p:cNvSpPr txBox="1">
            <a:spLocks noGrp="1"/>
          </p:cNvSpPr>
          <p:nvPr>
            <p:ph idx="1"/>
          </p:nvPr>
        </p:nvSpPr>
        <p:spPr>
          <a:xfrm>
            <a:off x="457200" y="1600200"/>
            <a:ext cx="8229600" cy="2886944"/>
          </a:xfrm>
          <a:prstGeom prst="rect">
            <a:avLst/>
          </a:prstGeom>
          <a:noFill/>
        </p:spPr>
        <p:txBody>
          <a:bodyPr wrap="square" rtlCol="0">
            <a:spAutoFit/>
          </a:bodyPr>
          <a:lstStyle/>
          <a:p>
            <a:r>
              <a:rPr lang="zh-CN" altLang="en-US" dirty="0"/>
              <a:t>作业：</a:t>
            </a:r>
            <a:endParaRPr lang="en-US" altLang="zh-CN" dirty="0"/>
          </a:p>
          <a:p>
            <a:pPr marL="514350" indent="-514350">
              <a:buFont typeface="+mj-lt"/>
              <a:buAutoNum type="arabicPeriod"/>
            </a:pPr>
            <a:r>
              <a:rPr lang="zh-CN" altLang="en-US" sz="2400" dirty="0"/>
              <a:t>在测量磷酸盐时，硅酸盐的存在是一种干扰。硅酸盐的影响和等待时间与溶液</a:t>
            </a:r>
            <a:r>
              <a:rPr lang="en-US" altLang="zh-CN" sz="2400" dirty="0"/>
              <a:t>pH</a:t>
            </a:r>
            <a:r>
              <a:rPr lang="zh-CN" altLang="en-US" sz="2400" dirty="0"/>
              <a:t>值有关（</a:t>
            </a:r>
            <a:r>
              <a:rPr lang="en-US" altLang="zh-CN" sz="2400" dirty="0"/>
              <a:t>5</a:t>
            </a:r>
            <a:r>
              <a:rPr lang="zh-CN" altLang="en-US" sz="2400" dirty="0"/>
              <a:t>分钟马上测，</a:t>
            </a:r>
            <a:r>
              <a:rPr lang="en-US" altLang="zh-CN" sz="2400" dirty="0"/>
              <a:t>Si350</a:t>
            </a:r>
            <a:r>
              <a:rPr lang="el-GR" altLang="zh-CN" sz="2400" dirty="0"/>
              <a:t> μ</a:t>
            </a:r>
            <a:r>
              <a:rPr lang="en-US" altLang="zh-CN" sz="2400" dirty="0"/>
              <a:t>mol</a:t>
            </a:r>
            <a:r>
              <a:rPr lang="zh-CN" altLang="en-US" sz="2400" dirty="0"/>
              <a:t>不影响），那么，溶液酸度从</a:t>
            </a:r>
            <a:r>
              <a:rPr lang="en-US" altLang="zh-CN" sz="2400" dirty="0"/>
              <a:t>pH=1.00</a:t>
            </a:r>
            <a:r>
              <a:rPr lang="zh-CN" altLang="en-US" sz="2400" dirty="0"/>
              <a:t>到</a:t>
            </a:r>
            <a:r>
              <a:rPr lang="en-US" altLang="zh-CN" sz="2400" dirty="0"/>
              <a:t>pH=2.00</a:t>
            </a:r>
            <a:r>
              <a:rPr lang="zh-CN" altLang="en-US" sz="2400" dirty="0"/>
              <a:t>时</a:t>
            </a:r>
            <a:r>
              <a:rPr lang="en-US" altLang="zh-CN" sz="2400" dirty="0"/>
              <a:t>, </a:t>
            </a:r>
            <a:r>
              <a:rPr lang="zh-CN" altLang="en-US" sz="2400" dirty="0"/>
              <a:t>溶液放置颜色在半小时后哪个变的更深？为什么？</a:t>
            </a:r>
            <a:endParaRPr lang="en-US" altLang="zh-CN" sz="2400" dirty="0"/>
          </a:p>
          <a:p>
            <a:pPr marL="514350" indent="-514350">
              <a:buFont typeface="+mj-lt"/>
              <a:buAutoNum type="arabicPeriod"/>
            </a:pPr>
            <a:r>
              <a:rPr lang="zh-CN" altLang="en-US" sz="2400" dirty="0"/>
              <a:t>为什么当更换磷酸盐标准溶液，或者更换测量过程所配试剂时，需要重新做工作曲线（标准曲线）？</a:t>
            </a:r>
          </a:p>
        </p:txBody>
      </p:sp>
    </p:spTree>
    <p:extLst>
      <p:ext uri="{BB962C8B-B14F-4D97-AF65-F5344CB8AC3E}">
        <p14:creationId xmlns:p14="http://schemas.microsoft.com/office/powerpoint/2010/main" val="1322943259"/>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rgbClr val="3399FF"/>
            </a:solidFill>
            <a:effectLst/>
            <a:latin typeface="Arial" charset="0"/>
            <a:ea typeface="华文行楷" pitchFamily="2" charset="-122"/>
          </a:defRPr>
        </a:defPPr>
      </a:lstStyle>
    </a:spDef>
    <a:lnDef>
      <a:spPr bwMode="auto">
        <a:solidFill>
          <a:schemeClr val="accent1"/>
        </a:solidFill>
        <a:ln w="25400" cap="flat" cmpd="sng" algn="ctr">
          <a:solidFill>
            <a:schemeClr val="tx1"/>
          </a:solidFill>
          <a:prstDash val="solid"/>
          <a:round/>
          <a:headEnd type="none" w="med" len="med"/>
          <a:tailEnd type="arrow"/>
        </a:ln>
        <a:effectLst/>
      </a:spPr>
      <a:body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4238</Words>
  <Application>Microsoft Office PowerPoint</Application>
  <PresentationFormat>全屏显示(4:3)</PresentationFormat>
  <Paragraphs>355</Paragraphs>
  <Slides>61</Slides>
  <Notes>5</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79" baseType="lpstr">
      <vt:lpstr>Adobe 黑体 Std R</vt:lpstr>
      <vt:lpstr>Arial Unicode MS</vt:lpstr>
      <vt:lpstr>MS Gothic</vt:lpstr>
      <vt:lpstr>黑体</vt:lpstr>
      <vt:lpstr>华文行楷</vt:lpstr>
      <vt:lpstr>华文新魏</vt:lpstr>
      <vt:lpstr>宋体</vt:lpstr>
      <vt:lpstr>微软雅黑</vt:lpstr>
      <vt:lpstr>幼圆</vt:lpstr>
      <vt:lpstr>Arial</vt:lpstr>
      <vt:lpstr>Calibri</vt:lpstr>
      <vt:lpstr>Cambria Math</vt:lpstr>
      <vt:lpstr>Symbol</vt:lpstr>
      <vt:lpstr>Times New Roman</vt:lpstr>
      <vt:lpstr>Wingdings</vt:lpstr>
      <vt:lpstr>Wingdings 2</vt:lpstr>
      <vt:lpstr>默认设计模板</vt:lpstr>
      <vt:lpstr>SPW 10.0 Graph</vt:lpstr>
      <vt:lpstr>海水分析化学 Chemistry of seawater analysis </vt:lpstr>
      <vt:lpstr>PowerPoint 演示文稿</vt:lpstr>
      <vt:lpstr>PowerPoint 演示文稿</vt:lpstr>
      <vt:lpstr>第四章 海水中营养元素的测定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磷的存在形态与储库</vt:lpstr>
      <vt:lpstr>PowerPoint 演示文稿</vt:lpstr>
      <vt:lpstr>PowerPoint 演示文稿</vt:lpstr>
      <vt:lpstr>PowerPoint 演示文稿</vt:lpstr>
      <vt:lpstr>PowerPoint 演示文稿</vt:lpstr>
      <vt:lpstr>PowerPoint 演示文稿</vt:lpstr>
      <vt:lpstr>PowerPoint 演示文稿</vt:lpstr>
      <vt:lpstr>紫外可见分光光度法 测量营养盐的共性问题</vt:lpstr>
      <vt:lpstr>紫外吸收光谱的原理</vt:lpstr>
      <vt:lpstr>紫外吸收光谱的原理</vt:lpstr>
      <vt:lpstr>那么红外光谱，XPS呢？</vt:lpstr>
      <vt:lpstr>紫外吸收光谱的原理</vt:lpstr>
      <vt:lpstr>PowerPoint 演示文稿</vt:lpstr>
      <vt:lpstr>紫外分光光度法的灵敏度</vt:lpstr>
      <vt:lpstr>紫外分光光度法的量程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紫外可见分光光度法 测量营养盐的共性问题</vt:lpstr>
      <vt:lpstr>校正</vt:lpstr>
      <vt:lpstr>校正</vt:lpstr>
      <vt:lpstr>校正</vt:lpstr>
      <vt:lpstr>PowerPoint 演示文稿</vt:lpstr>
      <vt:lpstr>PowerPoint 演示文稿</vt:lpstr>
      <vt:lpstr>PowerPoint 演示文稿</vt:lpstr>
      <vt:lpstr>PowerPoint 演示文稿</vt:lpstr>
      <vt:lpstr>PowerPoint 演示文稿</vt:lpstr>
      <vt:lpstr>PowerPoint 演示文稿</vt:lpstr>
      <vt:lpstr>紫外可见分光光度法 测量营养盐的共性问题</vt:lpstr>
      <vt:lpstr>PowerPoint 演示文稿</vt:lpstr>
      <vt:lpstr>PowerPoint 演示文稿</vt:lpstr>
      <vt:lpstr>萃取法测定溶解无机磷酸盐（高灵敏）</vt:lpstr>
      <vt:lpstr>萃取法测定溶解无机磷酸盐（高灵敏）</vt:lpstr>
      <vt:lpstr>测定低剂量溶解无机磷酸盐</vt:lpstr>
      <vt:lpstr>PowerPoint 演示文稿</vt:lpstr>
      <vt:lpstr>测量精度</vt:lpstr>
      <vt:lpstr>校正</vt:lpstr>
      <vt:lpstr>盐效应</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dc:creator>
  <cp:lastModifiedBy>Administrator</cp:lastModifiedBy>
  <cp:revision>1719</cp:revision>
  <dcterms:created xsi:type="dcterms:W3CDTF">2013-10-17T05:15:34Z</dcterms:created>
  <dcterms:modified xsi:type="dcterms:W3CDTF">2022-10-31T00:52:09Z</dcterms:modified>
</cp:coreProperties>
</file>