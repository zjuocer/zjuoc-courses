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4"/>
  </p:notesMasterIdLst>
  <p:sldIdLst>
    <p:sldId id="256" r:id="rId3"/>
    <p:sldId id="330" r:id="rId5"/>
    <p:sldId id="267" r:id="rId6"/>
    <p:sldId id="271" r:id="rId7"/>
    <p:sldId id="273" r:id="rId8"/>
    <p:sldId id="274" r:id="rId9"/>
    <p:sldId id="275" r:id="rId10"/>
    <p:sldId id="276" r:id="rId11"/>
    <p:sldId id="579" r:id="rId12"/>
    <p:sldId id="584" r:id="rId13"/>
    <p:sldId id="290" r:id="rId14"/>
    <p:sldId id="287" r:id="rId15"/>
    <p:sldId id="575" r:id="rId16"/>
    <p:sldId id="576" r:id="rId17"/>
    <p:sldId id="577" r:id="rId18"/>
    <p:sldId id="297" r:id="rId19"/>
    <p:sldId id="293" r:id="rId20"/>
    <p:sldId id="292" r:id="rId21"/>
    <p:sldId id="298" r:id="rId22"/>
    <p:sldId id="578" r:id="rId23"/>
    <p:sldId id="299" r:id="rId24"/>
    <p:sldId id="300" r:id="rId25"/>
    <p:sldId id="301" r:id="rId26"/>
    <p:sldId id="302" r:id="rId27"/>
    <p:sldId id="303" r:id="rId28"/>
    <p:sldId id="304" r:id="rId29"/>
    <p:sldId id="305" r:id="rId30"/>
    <p:sldId id="586" r:id="rId31"/>
    <p:sldId id="306" r:id="rId32"/>
    <p:sldId id="307" r:id="rId33"/>
    <p:sldId id="308" r:id="rId34"/>
    <p:sldId id="309" r:id="rId35"/>
    <p:sldId id="312" r:id="rId36"/>
    <p:sldId id="313" r:id="rId37"/>
    <p:sldId id="314" r:id="rId38"/>
    <p:sldId id="325" r:id="rId39"/>
    <p:sldId id="310" r:id="rId40"/>
    <p:sldId id="311" r:id="rId41"/>
    <p:sldId id="315" r:id="rId42"/>
    <p:sldId id="580" r:id="rId43"/>
    <p:sldId id="316" r:id="rId44"/>
    <p:sldId id="326" r:id="rId45"/>
    <p:sldId id="317" r:id="rId46"/>
    <p:sldId id="327" r:id="rId47"/>
    <p:sldId id="321" r:id="rId48"/>
    <p:sldId id="585" r:id="rId49"/>
    <p:sldId id="322" r:id="rId50"/>
    <p:sldId id="329" r:id="rId51"/>
    <p:sldId id="328" r:id="rId52"/>
    <p:sldId id="318" r:id="rId53"/>
    <p:sldId id="581" r:id="rId54"/>
    <p:sldId id="319" r:id="rId55"/>
    <p:sldId id="323" r:id="rId56"/>
    <p:sldId id="324" r:id="rId57"/>
    <p:sldId id="320" r:id="rId58"/>
    <p:sldId id="582" r:id="rId59"/>
    <p:sldId id="583" r:id="rId60"/>
  </p:sldIdLst>
  <p:sldSz cx="9144000" cy="6858000" type="screen4x3"/>
  <p:notesSz cx="6858000" cy="9144000"/>
  <p:custDataLst>
    <p:tags r:id="rId64"/>
  </p:custDataLst>
  <p:defaultTextStyle>
    <a:lvl1pPr marL="0" algn="l" rtl="0" latinLnBrk="0">
      <a:defRPr lang="zh-CN" sz="1800" kern="1200">
        <a:solidFill>
          <a:schemeClr val="tx1"/>
        </a:solidFill>
        <a:latin typeface="+mn-lt"/>
        <a:ea typeface="+mn-ea"/>
        <a:cs typeface="+mn-cs"/>
      </a:defRPr>
    </a:lvl1pPr>
    <a:lvl2pPr marL="457200" algn="l" rtl="0" latinLnBrk="0">
      <a:defRPr lang="zh-CN" sz="1800" kern="1200">
        <a:solidFill>
          <a:schemeClr val="tx1"/>
        </a:solidFill>
        <a:latin typeface="+mn-lt"/>
        <a:ea typeface="+mn-ea"/>
        <a:cs typeface="+mn-cs"/>
      </a:defRPr>
    </a:lvl2pPr>
    <a:lvl3pPr marL="914400" algn="l" rtl="0" latinLnBrk="0">
      <a:defRPr lang="zh-CN" sz="1800" kern="1200">
        <a:solidFill>
          <a:schemeClr val="tx1"/>
        </a:solidFill>
        <a:latin typeface="+mn-lt"/>
        <a:ea typeface="+mn-ea"/>
        <a:cs typeface="+mn-cs"/>
      </a:defRPr>
    </a:lvl3pPr>
    <a:lvl4pPr marL="1371600" algn="l" rtl="0" latinLnBrk="0">
      <a:defRPr lang="zh-CN" sz="1800" kern="1200">
        <a:solidFill>
          <a:schemeClr val="tx1"/>
        </a:solidFill>
        <a:latin typeface="+mn-lt"/>
        <a:ea typeface="+mn-ea"/>
        <a:cs typeface="+mn-cs"/>
      </a:defRPr>
    </a:lvl4pPr>
    <a:lvl5pPr marL="1828800" algn="l" rtl="0" latinLnBrk="0">
      <a:defRPr lang="zh-CN" sz="1800" kern="1200">
        <a:solidFill>
          <a:schemeClr val="tx1"/>
        </a:solidFill>
        <a:latin typeface="+mn-lt"/>
        <a:ea typeface="+mn-ea"/>
        <a:cs typeface="+mn-cs"/>
      </a:defRPr>
    </a:lvl5pPr>
    <a:lvl6pPr marL="2286000" algn="l" rtl="0" latinLnBrk="0">
      <a:defRPr lang="zh-CN" sz="1800" kern="1200">
        <a:solidFill>
          <a:schemeClr val="tx1"/>
        </a:solidFill>
        <a:latin typeface="+mn-lt"/>
        <a:ea typeface="+mn-ea"/>
        <a:cs typeface="+mn-cs"/>
      </a:defRPr>
    </a:lvl6pPr>
    <a:lvl7pPr marL="2743200" algn="l" rtl="0" latinLnBrk="0">
      <a:defRPr lang="zh-CN" sz="1800" kern="1200">
        <a:solidFill>
          <a:schemeClr val="tx1"/>
        </a:solidFill>
        <a:latin typeface="+mn-lt"/>
        <a:ea typeface="+mn-ea"/>
        <a:cs typeface="+mn-cs"/>
      </a:defRPr>
    </a:lvl7pPr>
    <a:lvl8pPr marL="3200400" algn="l" rtl="0" latinLnBrk="0">
      <a:defRPr lang="zh-CN" sz="1800" kern="1200">
        <a:solidFill>
          <a:schemeClr val="tx1"/>
        </a:solidFill>
        <a:latin typeface="+mn-lt"/>
        <a:ea typeface="+mn-ea"/>
        <a:cs typeface="+mn-cs"/>
      </a:defRPr>
    </a:lvl8pPr>
    <a:lvl9pPr marL="3657600" algn="l" rtl="0" latinLnBrk="0">
      <a:defRPr lang="zh-CN"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6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34587" autoAdjust="0"/>
    <p:restoredTop sz="87662" autoAdjust="0"/>
  </p:normalViewPr>
  <p:slideViewPr>
    <p:cSldViewPr showGuides="1">
      <p:cViewPr varScale="1">
        <p:scale>
          <a:sx n="96" d="100"/>
          <a:sy n="96" d="100"/>
        </p:scale>
        <p:origin x="1548" y="90"/>
      </p:cViewPr>
      <p:guideLst>
        <p:guide orient="horz" pos="2160"/>
        <p:guide pos="2863"/>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4" Type="http://schemas.openxmlformats.org/officeDocument/2006/relationships/tags" Target="tags/tag1.xml"/><Relationship Id="rId63" Type="http://schemas.openxmlformats.org/officeDocument/2006/relationships/tableStyles" Target="tableStyles.xml"/><Relationship Id="rId62" Type="http://schemas.openxmlformats.org/officeDocument/2006/relationships/viewProps" Target="viewProps.xml"/><Relationship Id="rId61" Type="http://schemas.openxmlformats.org/officeDocument/2006/relationships/presProps" Target="presProps.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rtlCol="0"/>
          <a:lstStyle>
            <a:lvl1pPr algn="l" latinLnBrk="0">
              <a:defRPr lang="zh-CN" sz="1200"/>
            </a:lvl1pPr>
          </a:lstStyle>
          <a:p>
            <a:endParaRPr lang="zh-CN"/>
          </a:p>
        </p:txBody>
      </p:sp>
      <p:sp>
        <p:nvSpPr>
          <p:cNvPr id="3" name="Date Placeholder 2"/>
          <p:cNvSpPr>
            <a:spLocks noGrp="1"/>
          </p:cNvSpPr>
          <p:nvPr>
            <p:ph type="dt" idx="1"/>
          </p:nvPr>
        </p:nvSpPr>
        <p:spPr>
          <a:xfrm>
            <a:off x="3884613" y="0"/>
            <a:ext cx="2971800" cy="457200"/>
          </a:xfrm>
          <a:prstGeom prst="rect">
            <a:avLst/>
          </a:prstGeom>
        </p:spPr>
        <p:txBody>
          <a:bodyPr vert="horz" rtlCol="0"/>
          <a:lstStyle>
            <a:lvl1pPr algn="r" latinLnBrk="0">
              <a:defRPr lang="zh-CN" sz="1200"/>
            </a:lvl1pPr>
          </a:lstStyle>
          <a:p>
            <a:fld id="{A8ADFD5B-A66C-449C-B6E8-FB716D07777D}" type="datetimeFigureOut">
              <a:rPr lang="zh-CN" altLang="en-US"/>
            </a:fld>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rtlCol="0" anchor="ctr"/>
          <a:lstStyle/>
          <a:p>
            <a:endParaRPr lang="zh-CN"/>
          </a:p>
        </p:txBody>
      </p:sp>
      <p:sp>
        <p:nvSpPr>
          <p:cNvPr id="5" name="Notes Placeholder 4"/>
          <p:cNvSpPr>
            <a:spLocks noGrp="1"/>
          </p:cNvSpPr>
          <p:nvPr>
            <p:ph type="body" sz="quarter" idx="3"/>
          </p:nvPr>
        </p:nvSpPr>
        <p:spPr>
          <a:xfrm>
            <a:off x="685800" y="4343400"/>
            <a:ext cx="5486400" cy="4114800"/>
          </a:xfrm>
          <a:prstGeom prst="rect">
            <a:avLst/>
          </a:prstGeom>
        </p:spPr>
        <p:txBody>
          <a:bodyPr vert="horz" rtlCol="0">
            <a:normAutofit/>
          </a:bodyPr>
          <a:lstStyle/>
          <a:p>
            <a:pPr lvl="0"/>
            <a:r>
              <a:rPr lang="zh-CN"/>
              <a:t>单击此处编辑母版文本样式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vert="horz" rtlCol="0" anchor="b"/>
          <a:lstStyle>
            <a:lvl1pPr algn="l" latinLnBrk="0">
              <a:defRPr lang="zh-CN" sz="1200"/>
            </a:lvl1pPr>
          </a:lstStyle>
          <a:p>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rtlCol="0" anchor="b"/>
          <a:lstStyle>
            <a:lvl1pPr algn="r" latinLnBrk="0">
              <a:defRPr lang="zh-CN" sz="1200"/>
            </a:lvl1pPr>
          </a:lstStyle>
          <a:p>
            <a:fld id="{CA5D3BF3-D352-46FC-8343-31F56E6730EA}" type="slidenum">
              <a:rPr/>
            </a:fld>
            <a:endParaRPr lang="zh-CN"/>
          </a:p>
        </p:txBody>
      </p:sp>
    </p:spTree>
  </p:cSld>
  <p:clrMap bg1="lt1" tx1="dk1" bg2="lt2" tx2="dk2" accent1="accent1" accent2="accent2" accent3="accent3" accent4="accent4" accent5="accent5" accent6="accent6" hlink="hlink" folHlink="folHlink"/>
  <p:notesStyle>
    <a:lvl1pPr marL="0" algn="l" rtl="0" latinLnBrk="0">
      <a:defRPr lang="zh-CN" sz="1200" kern="1200">
        <a:solidFill>
          <a:schemeClr val="tx1"/>
        </a:solidFill>
        <a:latin typeface="+mn-lt"/>
        <a:ea typeface="+mn-ea"/>
        <a:cs typeface="+mn-cs"/>
      </a:defRPr>
    </a:lvl1pPr>
    <a:lvl2pPr marL="457200" algn="l" rtl="0" latinLnBrk="0">
      <a:defRPr lang="zh-CN" sz="1200" kern="1200">
        <a:solidFill>
          <a:schemeClr val="tx1"/>
        </a:solidFill>
        <a:latin typeface="+mn-lt"/>
        <a:ea typeface="+mn-ea"/>
        <a:cs typeface="+mn-cs"/>
      </a:defRPr>
    </a:lvl2pPr>
    <a:lvl3pPr marL="914400" algn="l" rtl="0" latinLnBrk="0">
      <a:defRPr lang="zh-CN" sz="1200" kern="1200">
        <a:solidFill>
          <a:schemeClr val="tx1"/>
        </a:solidFill>
        <a:latin typeface="+mn-lt"/>
        <a:ea typeface="+mn-ea"/>
        <a:cs typeface="+mn-cs"/>
      </a:defRPr>
    </a:lvl3pPr>
    <a:lvl4pPr marL="1371600" algn="l" rtl="0" latinLnBrk="0">
      <a:defRPr lang="zh-CN" sz="1200" kern="1200">
        <a:solidFill>
          <a:schemeClr val="tx1"/>
        </a:solidFill>
        <a:latin typeface="+mn-lt"/>
        <a:ea typeface="+mn-ea"/>
        <a:cs typeface="+mn-cs"/>
      </a:defRPr>
    </a:lvl4pPr>
    <a:lvl5pPr marL="1828800" algn="l" rtl="0" latinLnBrk="0">
      <a:defRPr lang="zh-CN" sz="1200" kern="1200">
        <a:solidFill>
          <a:schemeClr val="tx1"/>
        </a:solidFill>
        <a:latin typeface="+mn-lt"/>
        <a:ea typeface="+mn-ea"/>
        <a:cs typeface="+mn-cs"/>
      </a:defRPr>
    </a:lvl5pPr>
    <a:lvl6pPr marL="2286000" algn="l" rtl="0" latinLnBrk="0">
      <a:defRPr lang="zh-CN" sz="1200" kern="1200">
        <a:solidFill>
          <a:schemeClr val="tx1"/>
        </a:solidFill>
        <a:latin typeface="+mn-lt"/>
        <a:ea typeface="+mn-ea"/>
        <a:cs typeface="+mn-cs"/>
      </a:defRPr>
    </a:lvl6pPr>
    <a:lvl7pPr marL="2743200" algn="l" rtl="0" latinLnBrk="0">
      <a:defRPr lang="zh-CN" sz="1200" kern="1200">
        <a:solidFill>
          <a:schemeClr val="tx1"/>
        </a:solidFill>
        <a:latin typeface="+mn-lt"/>
        <a:ea typeface="+mn-ea"/>
        <a:cs typeface="+mn-cs"/>
      </a:defRPr>
    </a:lvl7pPr>
    <a:lvl8pPr marL="3200400" algn="l" rtl="0" latinLnBrk="0">
      <a:defRPr lang="zh-CN" sz="1200" kern="1200">
        <a:solidFill>
          <a:schemeClr val="tx1"/>
        </a:solidFill>
        <a:latin typeface="+mn-lt"/>
        <a:ea typeface="+mn-ea"/>
        <a:cs typeface="+mn-cs"/>
      </a:defRPr>
    </a:lvl8pPr>
    <a:lvl9pPr marL="3657600" algn="l" rtl="0" latinLnBrk="0">
      <a:defRPr lang="zh-CN"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a:xfrm>
            <a:off x="1143000" y="685800"/>
            <a:ext cx="4572000" cy="3429000"/>
          </a:xfrm>
        </p:spPr>
      </p:sp>
      <p:sp>
        <p:nvSpPr>
          <p:cNvPr id="3" name="Rectangle 2"/>
          <p:cNvSpPr>
            <a:spLocks noGrp="1"/>
          </p:cNvSpPr>
          <p:nvPr>
            <p:ph type="body" idx="1"/>
          </p:nvPr>
        </p:nvSpPr>
        <p:spPr/>
        <p:txBody>
          <a:bodyPr/>
          <a:lstStyle/>
          <a:p>
            <a:endParaRPr lang="zh-CN"/>
          </a:p>
        </p:txBody>
      </p:sp>
      <p:sp>
        <p:nvSpPr>
          <p:cNvPr id="4" name="Rectangle 3"/>
          <p:cNvSpPr>
            <a:spLocks noGrp="1"/>
          </p:cNvSpPr>
          <p:nvPr>
            <p:ph type="sldNum" sz="quarter" idx="10"/>
          </p:nvPr>
        </p:nvSpPr>
        <p:spPr/>
        <p:txBody>
          <a:bodyPr/>
          <a:lstStyle/>
          <a:p>
            <a:fld id="{CA5D3BF3-D352-46FC-8343-31F56E6730EA}" type="slidenum">
              <a:rPr lang="zh-CN" smtClean="0"/>
            </a:fld>
            <a:endParaRPr 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A5D3BF3-D352-46FC-8343-31F56E6730EA}" type="slidenum">
              <a:rPr lang="en-US" altLang="zh-CN"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CA5D3BF3-D352-46FC-8343-31F56E6730EA}" type="slidenum">
              <a:rPr lang="en-US" altLang="zh-CN"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CA5D3BF3-D352-46FC-8343-31F56E6730EA}" type="slidenum">
              <a:rPr lang="en-US" altLang="zh-CN"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A5D3BF3-D352-46FC-8343-31F56E6730EA}" type="slidenum">
              <a:rPr lang="en-US" altLang="zh-CN"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A5D3BF3-D352-46FC-8343-31F56E6730EA}" type="slidenum">
              <a:rPr lang="en-US" altLang="zh-CN"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标题幻灯片">
    <p:bg>
      <p:bgRef idx="1001">
        <a:schemeClr val="bg2"/>
      </p:bgRef>
    </p:bg>
    <p:spTree>
      <p:nvGrpSpPr>
        <p:cNvPr id="1" name=""/>
        <p:cNvGrpSpPr/>
        <p:nvPr/>
      </p:nvGrpSpPr>
      <p:grpSpPr>
        <a:xfrm>
          <a:off x="0" y="0"/>
          <a:ext cx="0" cy="0"/>
          <a:chOff x="0" y="0"/>
          <a:chExt cx="0" cy="0"/>
        </a:xfrm>
      </p:grpSpPr>
      <p:sp>
        <p:nvSpPr>
          <p:cNvPr id="7" name="Rectangle 6"/>
          <p:cNvSpPr/>
          <p:nvPr/>
        </p:nvSpPr>
        <p:spPr>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zh-CN"/>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zh-CN"/>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zh-CN"/>
          </a:p>
        </p:txBody>
      </p:sp>
      <p:sp>
        <p:nvSpPr>
          <p:cNvPr id="9" name="Subtitle 8"/>
          <p:cNvSpPr>
            <a:spLocks noGrp="1"/>
          </p:cNvSpPr>
          <p:nvPr>
            <p:ph type="subTitle" idx="1"/>
          </p:nvPr>
        </p:nvSpPr>
        <p:spPr>
          <a:xfrm>
            <a:off x="2362200" y="6050037"/>
            <a:ext cx="6515100" cy="685800"/>
          </a:xfrm>
        </p:spPr>
        <p:txBody>
          <a:bodyPr anchor="ctr"/>
          <a:lstStyle>
            <a:lvl1pPr marL="0" indent="0" algn="l" eaLnBrk="1" latinLnBrk="0" hangingPunct="1">
              <a:buNone/>
              <a:defRPr kumimoji="0" lang="zh-CN" sz="2800">
                <a:solidFill>
                  <a:srgbClr val="FFFFFF"/>
                </a:solidFill>
              </a:defRPr>
            </a:lvl1pPr>
            <a:lvl2pPr marL="457200" indent="0" algn="ctr" eaLnBrk="1" latinLnBrk="0" hangingPunct="1">
              <a:buNone/>
            </a:lvl2pPr>
            <a:lvl3pPr marL="914400" indent="0" algn="ctr" eaLnBrk="1" latinLnBrk="0" hangingPunct="1">
              <a:buNone/>
            </a:lvl3pPr>
            <a:lvl4pPr marL="1371600" indent="0" algn="ctr" eaLnBrk="1" latinLnBrk="0" hangingPunct="1">
              <a:buNone/>
            </a:lvl4pPr>
            <a:lvl5pPr marL="1828800" indent="0" algn="ctr" eaLnBrk="1" latinLnBrk="0" hangingPunct="1">
              <a:buNone/>
            </a:lvl5pPr>
            <a:lvl6pPr marL="2286000" indent="0" algn="ctr" eaLnBrk="1" latinLnBrk="0" hangingPunct="1">
              <a:buNone/>
            </a:lvl6pPr>
            <a:lvl7pPr marL="2743200" indent="0" algn="ctr" eaLnBrk="1" latinLnBrk="0" hangingPunct="1">
              <a:buNone/>
            </a:lvl7pPr>
            <a:lvl8pPr marL="3200400" indent="0" algn="ctr" eaLnBrk="1" latinLnBrk="0" hangingPunct="1">
              <a:buNone/>
            </a:lvl8pPr>
            <a:lvl9pPr marL="3657600" indent="0" algn="ctr" eaLnBrk="1" latinLnBrk="0" hangingPunct="1">
              <a:buNone/>
            </a:lvl9pPr>
          </a:lstStyle>
          <a:p>
            <a:pPr eaLnBrk="1" latinLnBrk="0" hangingPunct="1"/>
            <a:r>
              <a:rPr lang="zh-CN" altLang="en-US"/>
              <a:t>单击此处编辑母版副标题样式</a:t>
            </a:r>
            <a:endParaRPr lang="zh-CN" alt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eaLnBrk="1" latinLnBrk="0" hangingPunct="1">
              <a:defRPr kumimoji="0" lang="zh-CN" sz="2000">
                <a:solidFill>
                  <a:srgbClr val="FFFFFF"/>
                </a:solidFill>
              </a:defRPr>
            </a:lvl1pPr>
          </a:lstStyle>
          <a:p>
            <a:pPr algn="ctr"/>
            <a:fld id="{047E157E-8DCB-4F70-A0AF-5EB586A91DD4}" type="datetime1">
              <a:rPr kumimoji="0" lang="en-US" altLang="zh-CN">
                <a:solidFill>
                  <a:srgbClr val="FFFFFF"/>
                </a:solidFill>
              </a:rPr>
            </a:fld>
            <a:endParaRPr kumimoji="0" lang="zh-CN" sz="2000">
              <a:solidFill>
                <a:srgbClr val="FFFFFF"/>
              </a:solidFill>
            </a:endParaRPr>
          </a:p>
        </p:txBody>
      </p:sp>
      <p:sp>
        <p:nvSpPr>
          <p:cNvPr id="17" name="Footer Placeholder 16"/>
          <p:cNvSpPr>
            <a:spLocks noGrp="1"/>
          </p:cNvSpPr>
          <p:nvPr>
            <p:ph type="ftr" sz="quarter" idx="11"/>
          </p:nvPr>
        </p:nvSpPr>
        <p:spPr>
          <a:xfrm>
            <a:off x="2085393" y="236539"/>
            <a:ext cx="5867400" cy="365125"/>
          </a:xfrm>
        </p:spPr>
        <p:txBody>
          <a:bodyPr/>
          <a:lstStyle>
            <a:lvl1pPr algn="r" eaLnBrk="1" latinLnBrk="0" hangingPunct="1">
              <a:defRPr kumimoji="0" lang="zh-CN">
                <a:solidFill>
                  <a:schemeClr val="tx2"/>
                </a:solidFill>
              </a:defRPr>
            </a:lvl1pPr>
          </a:lstStyle>
          <a:p>
            <a:pPr algn="r"/>
            <a:endParaRPr kumimoji="0" lang="zh-CN">
              <a:solidFill>
                <a:schemeClr val="tx2"/>
              </a:solidFill>
            </a:endParaRPr>
          </a:p>
        </p:txBody>
      </p:sp>
      <p:sp>
        <p:nvSpPr>
          <p:cNvPr id="29" name="Slide Number Placeholder 28"/>
          <p:cNvSpPr>
            <a:spLocks noGrp="1"/>
          </p:cNvSpPr>
          <p:nvPr>
            <p:ph type="sldNum" sz="quarter" idx="12"/>
          </p:nvPr>
        </p:nvSpPr>
        <p:spPr>
          <a:xfrm>
            <a:off x="8001000" y="228600"/>
            <a:ext cx="838200" cy="381000"/>
          </a:xfrm>
        </p:spPr>
        <p:txBody>
          <a:bodyPr/>
          <a:lstStyle>
            <a:lvl1pPr eaLnBrk="1" latinLnBrk="0" hangingPunct="1">
              <a:defRPr kumimoji="0" lang="zh-CN">
                <a:solidFill>
                  <a:schemeClr val="tx2"/>
                </a:solidFill>
              </a:defRPr>
            </a:lvl1pPr>
          </a:lstStyle>
          <a:p>
            <a:fld id="{8F82E0A0-C266-4798-8C8F-B9F91E9DA37E}" type="slidenum">
              <a:rPr kumimoji="0" lang="zh-CN">
                <a:solidFill>
                  <a:schemeClr val="tx2"/>
                </a:solidFill>
              </a:rPr>
            </a:fld>
            <a:endParaRPr kumimoji="0" lang="zh-CN">
              <a:solidFill>
                <a:schemeClr val="tx2"/>
              </a:solidFill>
            </a:endParaRPr>
          </a:p>
        </p:txBody>
      </p:sp>
      <p:sp>
        <p:nvSpPr>
          <p:cNvPr id="12" name="Rectangle 11"/>
          <p:cNvSpPr>
            <a:spLocks noGrp="1"/>
          </p:cNvSpPr>
          <p:nvPr>
            <p:ph type="title"/>
          </p:nvPr>
        </p:nvSpPr>
        <p:spPr>
          <a:xfrm>
            <a:off x="2362200" y="3124200"/>
            <a:ext cx="6477000" cy="2717800"/>
          </a:xfrm>
        </p:spPr>
        <p:txBody>
          <a:bodyPr rtlCol="0" anchor="b"/>
          <a:lstStyle>
            <a:lvl1pPr eaLnBrk="1" latinLnBrk="0" hangingPunct="1">
              <a:defRPr kumimoji="0" lang="zh-CN" cap="all" baseline="0"/>
            </a:lvl1pPr>
          </a:lstStyle>
          <a:p>
            <a:pPr eaLnBrk="1" latinLnBrk="0" hangingPunct="1"/>
            <a:r>
              <a:rPr lang="zh-CN" altLang="en-US"/>
              <a:t>单击此处编辑母版标题样式</a:t>
            </a:r>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pPr eaLnBrk="1" latinLnBrk="0" hangingPunct="1"/>
            <a:r>
              <a:rPr lang="zh-CN" altLang="en-US"/>
              <a:t>单击此处编辑母版标题样式</a:t>
            </a:r>
            <a:endParaRPr lang="zh-CN" altLang="en-US"/>
          </a:p>
        </p:txBody>
      </p:sp>
      <p:sp>
        <p:nvSpPr>
          <p:cNvPr id="3" name="Rectangle 2"/>
          <p:cNvSpPr>
            <a:spLocks noGrp="1"/>
          </p:cNvSpPr>
          <p:nvPr>
            <p:ph type="dt" sz="half" idx="10"/>
          </p:nvPr>
        </p:nvSpPr>
        <p:spPr/>
        <p:txBody>
          <a:bodyPr/>
          <a:lstStyle/>
          <a:p>
            <a:fld id="{E4606EA6-EFEA-4C30-9264-4F9291A5780D}" type="datetime1">
              <a:rPr lang="zh-CN" altLang="en-US"/>
            </a:fld>
            <a:endParaRPr kumimoji="0" lang="zh-CN"/>
          </a:p>
        </p:txBody>
      </p:sp>
      <p:sp>
        <p:nvSpPr>
          <p:cNvPr id="4" name="Rectangle 3"/>
          <p:cNvSpPr>
            <a:spLocks noGrp="1"/>
          </p:cNvSpPr>
          <p:nvPr>
            <p:ph type="ftr" sz="quarter" idx="11"/>
          </p:nvPr>
        </p:nvSpPr>
        <p:spPr/>
        <p:txBody>
          <a:bodyPr/>
          <a:lstStyle/>
          <a:p>
            <a:endParaRPr kumimoji="0" lang="zh-CN"/>
          </a:p>
        </p:txBody>
      </p:sp>
      <p:sp>
        <p:nvSpPr>
          <p:cNvPr id="5" name="Rectangle 4"/>
          <p:cNvSpPr>
            <a:spLocks noGrp="1"/>
          </p:cNvSpPr>
          <p:nvPr>
            <p:ph type="sldNum" sz="quarter" idx="12"/>
          </p:nvPr>
        </p:nvSpPr>
        <p:spPr/>
        <p:txBody>
          <a:bodyPr/>
          <a:lstStyle/>
          <a:p>
            <a:pPr algn="ctr"/>
            <a:fld id="{8F82E0A0-C266-4798-8C8F-B9F91E9DA37E}" type="slidenum">
              <a:rPr kumimoji="0" lang="zh-CN" sz="1400" b="1">
                <a:solidFill>
                  <a:srgbClr val="FFFFFF"/>
                </a:solidFill>
              </a:rPr>
            </a:fld>
            <a:endParaRPr kumimoji="0" lang="zh-CN"/>
          </a:p>
        </p:txBody>
      </p:sp>
      <p:sp>
        <p:nvSpPr>
          <p:cNvPr id="7" name="Rectangle 6"/>
          <p:cNvSpPr>
            <a:spLocks noGrp="1"/>
          </p:cNvSpPr>
          <p:nvPr>
            <p:ph sz="quarter" idx="13"/>
          </p:nvPr>
        </p:nvSpPr>
        <p:spPr>
          <a:xfrm>
            <a:off x="609600" y="1803400"/>
            <a:ext cx="8153400" cy="4368800"/>
          </a:xfrm>
        </p:spPr>
        <p:txBody>
          <a:body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1" y="2743201"/>
            <a:ext cx="7123113" cy="1673225"/>
          </a:xfrm>
        </p:spPr>
        <p:txBody>
          <a:bodyPr anchor="t"/>
          <a:lstStyle>
            <a:lvl1pPr eaLnBrk="1" latinLnBrk="0" hangingPunct="1">
              <a:buNone/>
              <a:defRPr kumimoji="0" lang="zh-CN" sz="2800">
                <a:solidFill>
                  <a:schemeClr val="tx2"/>
                </a:solidFill>
              </a:defRPr>
            </a:lvl1pPr>
            <a:lvl2pPr eaLnBrk="1" latinLnBrk="0" hangingPunct="1">
              <a:buNone/>
              <a:defRPr kumimoji="0" lang="zh-CN" sz="1800">
                <a:solidFill>
                  <a:schemeClr val="tx1">
                    <a:tint val="75000"/>
                  </a:schemeClr>
                </a:solidFill>
              </a:defRPr>
            </a:lvl2pPr>
            <a:lvl3pPr eaLnBrk="1" latinLnBrk="0" hangingPunct="1">
              <a:buNone/>
              <a:defRPr kumimoji="0" lang="zh-CN" sz="1600">
                <a:solidFill>
                  <a:schemeClr val="tx1">
                    <a:tint val="75000"/>
                  </a:schemeClr>
                </a:solidFill>
              </a:defRPr>
            </a:lvl3pPr>
            <a:lvl4pPr eaLnBrk="1" latinLnBrk="0" hangingPunct="1">
              <a:buNone/>
              <a:defRPr kumimoji="0" lang="zh-CN" sz="1400">
                <a:solidFill>
                  <a:schemeClr val="tx1">
                    <a:tint val="75000"/>
                  </a:schemeClr>
                </a:solidFill>
              </a:defRPr>
            </a:lvl4pPr>
            <a:lvl5pPr eaLnBrk="1" latinLnBrk="0" hangingPunct="1">
              <a:buNone/>
              <a:defRPr kumimoji="0" lang="zh-CN" sz="1400">
                <a:solidFill>
                  <a:schemeClr val="tx1">
                    <a:tint val="75000"/>
                  </a:schemeClr>
                </a:solidFill>
              </a:defRPr>
            </a:lvl5pPr>
          </a:lstStyle>
          <a:p>
            <a:pPr lvl="0" eaLnBrk="1" latinLnBrk="0" hangingPunct="1"/>
            <a:r>
              <a:rPr lang="zh-CN" altLang="en-US"/>
              <a:t>单击此处编辑母版文本样式</a:t>
            </a:r>
            <a:endParaRPr lang="zh-CN" altLang="en-US"/>
          </a:p>
        </p:txBody>
      </p:sp>
      <p:sp>
        <p:nvSpPr>
          <p:cNvPr id="7" name="Rectangle 6"/>
          <p:cNvSpPr/>
          <p:nvPr/>
        </p:nvSpPr>
        <p:spPr>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zh-CN"/>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zh-CN"/>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zh-CN"/>
          </a:p>
        </p:txBody>
      </p:sp>
      <p:sp>
        <p:nvSpPr>
          <p:cNvPr id="2" name="Title 1"/>
          <p:cNvSpPr>
            <a:spLocks noGrp="1"/>
          </p:cNvSpPr>
          <p:nvPr>
            <p:ph type="title"/>
          </p:nvPr>
        </p:nvSpPr>
        <p:spPr>
          <a:xfrm>
            <a:off x="1371600" y="1600200"/>
            <a:ext cx="7620000" cy="990600"/>
          </a:xfrm>
        </p:spPr>
        <p:txBody>
          <a:bodyPr/>
          <a:lstStyle>
            <a:lvl1pPr algn="l" eaLnBrk="1" latinLnBrk="0" hangingPunct="1">
              <a:buNone/>
              <a:defRPr kumimoji="0" lang="zh-CN" sz="4400" b="0" cap="none">
                <a:solidFill>
                  <a:srgbClr val="FFFFFF"/>
                </a:solidFill>
              </a:defRPr>
            </a:lvl1pPr>
          </a:lstStyle>
          <a:p>
            <a:r>
              <a:rPr kumimoji="0" lang="zh-CN"/>
              <a:t>单击此处编辑母版标题样式</a:t>
            </a:r>
            <a:endParaRPr kumimoji="0" lang="zh-CN"/>
          </a:p>
        </p:txBody>
      </p:sp>
      <p:sp>
        <p:nvSpPr>
          <p:cNvPr id="12" name="Date Placeholder 11"/>
          <p:cNvSpPr>
            <a:spLocks noGrp="1"/>
          </p:cNvSpPr>
          <p:nvPr>
            <p:ph type="dt" sz="half" idx="10"/>
          </p:nvPr>
        </p:nvSpPr>
        <p:spPr/>
        <p:txBody>
          <a:bodyPr/>
          <a:lstStyle/>
          <a:p>
            <a:fld id="{6FCF9F07-3BC7-4570-B054-79111B0A380C}" type="datetime1">
              <a:rPr lang="zh-CN" altLang="en-US"/>
            </a:fld>
            <a:endParaRPr kumimoji="0" lang="zh-CN"/>
          </a:p>
        </p:txBody>
      </p:sp>
      <p:sp>
        <p:nvSpPr>
          <p:cNvPr id="13" name="Slide Number Placeholder 12"/>
          <p:cNvSpPr>
            <a:spLocks noGrp="1"/>
          </p:cNvSpPr>
          <p:nvPr>
            <p:ph type="sldNum" sz="quarter" idx="11"/>
          </p:nvPr>
        </p:nvSpPr>
        <p:spPr>
          <a:xfrm>
            <a:off x="0" y="1752601"/>
            <a:ext cx="1295400" cy="701676"/>
          </a:xfrm>
        </p:spPr>
        <p:txBody>
          <a:bodyPr>
            <a:noAutofit/>
          </a:bodyPr>
          <a:lstStyle>
            <a:lvl1pPr eaLnBrk="1" latinLnBrk="0" hangingPunct="1">
              <a:defRPr kumimoji="0" lang="zh-CN" sz="2400">
                <a:solidFill>
                  <a:srgbClr val="FFFFFF"/>
                </a:solidFill>
              </a:defRPr>
            </a:lvl1pPr>
          </a:lstStyle>
          <a:p>
            <a:pPr algn="ctr"/>
            <a:fld id="{8F82E0A0-C266-4798-8C8F-B9F91E9DA37E}" type="slidenum">
              <a:rPr kumimoji="0" lang="zh-CN" sz="2400" b="1">
                <a:solidFill>
                  <a:srgbClr val="FFFFFF"/>
                </a:solidFill>
              </a:rPr>
            </a:fld>
            <a:endParaRPr kumimoji="0" lang="zh-CN" sz="2400">
              <a:solidFill>
                <a:srgbClr val="FFFFFF"/>
              </a:solidFill>
            </a:endParaRPr>
          </a:p>
        </p:txBody>
      </p:sp>
      <p:sp>
        <p:nvSpPr>
          <p:cNvPr id="14" name="Footer Placeholder 13"/>
          <p:cNvSpPr>
            <a:spLocks noGrp="1"/>
          </p:cNvSpPr>
          <p:nvPr>
            <p:ph type="ftr" sz="quarter" idx="12"/>
          </p:nvPr>
        </p:nvSpPr>
        <p:spPr/>
        <p:txBody>
          <a:bodyPr/>
          <a:lstStyle/>
          <a:p>
            <a:endParaRPr kumimoji="0" lang="zh-CN"/>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latinLnBrk="0" hangingPunct="1"/>
            <a:r>
              <a:rPr lang="zh-CN" altLang="en-US"/>
              <a:t>单击此处编辑母版标题样式</a:t>
            </a:r>
            <a:endParaRPr lang="zh-CN" altLang="en-US"/>
          </a:p>
        </p:txBody>
      </p:sp>
      <p:sp>
        <p:nvSpPr>
          <p:cNvPr id="9" name="Content Placeholder 8"/>
          <p:cNvSpPr>
            <a:spLocks noGrp="1"/>
          </p:cNvSpPr>
          <p:nvPr>
            <p:ph sz="quarter" idx="13"/>
          </p:nvPr>
        </p:nvSpPr>
        <p:spPr>
          <a:xfrm>
            <a:off x="609600" y="1803402"/>
            <a:ext cx="3886200" cy="4358165"/>
          </a:xfrm>
        </p:spPr>
        <p:txBody>
          <a:body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lang="zh-CN" altLang="en-US"/>
          </a:p>
        </p:txBody>
      </p:sp>
      <p:sp>
        <p:nvSpPr>
          <p:cNvPr id="11" name="Content Placeholder 10"/>
          <p:cNvSpPr>
            <a:spLocks noGrp="1"/>
          </p:cNvSpPr>
          <p:nvPr>
            <p:ph sz="quarter" idx="14"/>
          </p:nvPr>
        </p:nvSpPr>
        <p:spPr>
          <a:xfrm>
            <a:off x="4844901" y="1803399"/>
            <a:ext cx="3886200" cy="4358167"/>
          </a:xfrm>
        </p:spPr>
        <p:txBody>
          <a:body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lang="zh-CN" altLang="en-US"/>
          </a:p>
        </p:txBody>
      </p:sp>
      <p:sp>
        <p:nvSpPr>
          <p:cNvPr id="8" name="Date Placeholder 7"/>
          <p:cNvSpPr>
            <a:spLocks noGrp="1"/>
          </p:cNvSpPr>
          <p:nvPr>
            <p:ph type="dt" sz="half" idx="15"/>
          </p:nvPr>
        </p:nvSpPr>
        <p:spPr/>
        <p:txBody>
          <a:bodyPr rtlCol="0"/>
          <a:lstStyle/>
          <a:p>
            <a:fld id="{E4606EA6-EFEA-4C30-9264-4F9291A5780D}" type="datetime1">
              <a:rPr lang="zh-CN" altLang="en-US"/>
            </a:fld>
            <a:endParaRPr kumimoji="0" lang="zh-CN"/>
          </a:p>
        </p:txBody>
      </p:sp>
      <p:sp>
        <p:nvSpPr>
          <p:cNvPr id="10" name="Slide Number Placeholder 9"/>
          <p:cNvSpPr>
            <a:spLocks noGrp="1"/>
          </p:cNvSpPr>
          <p:nvPr>
            <p:ph type="sldNum" sz="quarter" idx="16"/>
          </p:nvPr>
        </p:nvSpPr>
        <p:spPr/>
        <p:txBody>
          <a:bodyPr rtlCol="0"/>
          <a:lstStyle/>
          <a:p>
            <a:pPr algn="ctr"/>
            <a:fld id="{8F82E0A0-C266-4798-8C8F-B9F91E9DA37E}" type="slidenum">
              <a:rPr kumimoji="0" lang="zh-CN" sz="1400" b="1">
                <a:solidFill>
                  <a:srgbClr val="FFFFFF"/>
                </a:solidFill>
              </a:rPr>
            </a:fld>
            <a:endParaRPr kumimoji="0" lang="zh-CN"/>
          </a:p>
        </p:txBody>
      </p:sp>
      <p:sp>
        <p:nvSpPr>
          <p:cNvPr id="12" name="Footer Placeholder 11"/>
          <p:cNvSpPr>
            <a:spLocks noGrp="1"/>
          </p:cNvSpPr>
          <p:nvPr>
            <p:ph type="ftr" sz="quarter" idx="17"/>
          </p:nvPr>
        </p:nvSpPr>
        <p:spPr/>
        <p:txBody>
          <a:bodyPr rtlCol="0"/>
          <a:lstStyle/>
          <a:p>
            <a:endParaRPr kumimoji="0"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12648" y="157480"/>
            <a:ext cx="8153400" cy="1341120"/>
          </a:xfrm>
        </p:spPr>
        <p:txBody>
          <a:bodyPr anchor="b"/>
          <a:lstStyle>
            <a:lvl1pPr eaLnBrk="1" latinLnBrk="0" hangingPunct="1">
              <a:defRPr kumimoji="0" lang="zh-CN"/>
            </a:lvl1pPr>
          </a:lstStyle>
          <a:p>
            <a:pPr eaLnBrk="1" latinLnBrk="0" hangingPunct="1"/>
            <a:r>
              <a:rPr lang="zh-CN" altLang="en-US"/>
              <a:t>单击此处编辑母版标题样式</a:t>
            </a:r>
            <a:endParaRPr lang="zh-CN" altLang="en-US"/>
          </a:p>
        </p:txBody>
      </p:sp>
      <p:sp>
        <p:nvSpPr>
          <p:cNvPr id="11" name="Content Placeholder 10"/>
          <p:cNvSpPr>
            <a:spLocks noGrp="1"/>
          </p:cNvSpPr>
          <p:nvPr>
            <p:ph sz="quarter" idx="13"/>
          </p:nvPr>
        </p:nvSpPr>
        <p:spPr>
          <a:xfrm>
            <a:off x="609600" y="2559757"/>
            <a:ext cx="3886200" cy="3505200"/>
          </a:xfrm>
        </p:spPr>
        <p:txBody>
          <a:body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lang="zh-CN" altLang="en-US"/>
          </a:p>
        </p:txBody>
      </p:sp>
      <p:sp>
        <p:nvSpPr>
          <p:cNvPr id="13" name="Content Placeholder 12"/>
          <p:cNvSpPr>
            <a:spLocks noGrp="1"/>
          </p:cNvSpPr>
          <p:nvPr>
            <p:ph sz="quarter" idx="14"/>
          </p:nvPr>
        </p:nvSpPr>
        <p:spPr>
          <a:xfrm>
            <a:off x="4800600" y="2559757"/>
            <a:ext cx="3886200" cy="3505200"/>
          </a:xfrm>
        </p:spPr>
        <p:txBody>
          <a:body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lang="zh-CN" altLang="en-US"/>
          </a:p>
        </p:txBody>
      </p:sp>
      <p:sp>
        <p:nvSpPr>
          <p:cNvPr id="10" name="Date Placeholder 9"/>
          <p:cNvSpPr>
            <a:spLocks noGrp="1"/>
          </p:cNvSpPr>
          <p:nvPr>
            <p:ph type="dt" sz="half" idx="15"/>
          </p:nvPr>
        </p:nvSpPr>
        <p:spPr/>
        <p:txBody>
          <a:bodyPr rtlCol="0"/>
          <a:lstStyle/>
          <a:p>
            <a:fld id="{E4606EA6-EFEA-4C30-9264-4F9291A5780D}" type="datetime1">
              <a:rPr lang="zh-CN" altLang="en-US"/>
            </a:fld>
            <a:endParaRPr kumimoji="0" lang="zh-CN"/>
          </a:p>
        </p:txBody>
      </p:sp>
      <p:sp>
        <p:nvSpPr>
          <p:cNvPr id="12" name="Slide Number Placeholder 11"/>
          <p:cNvSpPr>
            <a:spLocks noGrp="1"/>
          </p:cNvSpPr>
          <p:nvPr>
            <p:ph type="sldNum" sz="quarter" idx="16"/>
          </p:nvPr>
        </p:nvSpPr>
        <p:spPr/>
        <p:txBody>
          <a:bodyPr rtlCol="0"/>
          <a:lstStyle/>
          <a:p>
            <a:pPr algn="ctr"/>
            <a:fld id="{8F82E0A0-C266-4798-8C8F-B9F91E9DA37E}" type="slidenum">
              <a:rPr kumimoji="0" lang="zh-CN" sz="1400" b="1">
                <a:solidFill>
                  <a:srgbClr val="FFFFFF"/>
                </a:solidFill>
              </a:rPr>
            </a:fld>
            <a:endParaRPr kumimoji="0" lang="zh-CN"/>
          </a:p>
        </p:txBody>
      </p:sp>
      <p:sp>
        <p:nvSpPr>
          <p:cNvPr id="14" name="Footer Placeholder 13"/>
          <p:cNvSpPr>
            <a:spLocks noGrp="1"/>
          </p:cNvSpPr>
          <p:nvPr>
            <p:ph type="ftr" sz="quarter" idx="17"/>
          </p:nvPr>
        </p:nvSpPr>
        <p:spPr/>
        <p:txBody>
          <a:bodyPr rtlCol="0"/>
          <a:lstStyle/>
          <a:p>
            <a:endParaRPr kumimoji="0" lang="zh-CN"/>
          </a:p>
        </p:txBody>
      </p:sp>
      <p:sp>
        <p:nvSpPr>
          <p:cNvPr id="16" name="Text Placeholder 15"/>
          <p:cNvSpPr>
            <a:spLocks noGrp="1"/>
          </p:cNvSpPr>
          <p:nvPr>
            <p:ph type="body" sz="quarter" idx="18"/>
          </p:nvPr>
        </p:nvSpPr>
        <p:spPr>
          <a:xfrm>
            <a:off x="609600" y="1816383"/>
            <a:ext cx="3886200" cy="707136"/>
          </a:xfrm>
          <a:solidFill>
            <a:schemeClr val="accent2"/>
          </a:solidFill>
        </p:spPr>
        <p:txBody>
          <a:bodyPr rtlCol="0" anchor="ctr"/>
          <a:lstStyle>
            <a:lvl1pPr eaLnBrk="1" latinLnBrk="0" hangingPunct="1">
              <a:buFontTx/>
              <a:buNone/>
              <a:defRPr kumimoji="0" lang="zh-CN" sz="2000" b="1">
                <a:solidFill>
                  <a:srgbClr val="FFFFFF"/>
                </a:solidFill>
              </a:defRPr>
            </a:lvl1pPr>
          </a:lstStyle>
          <a:p>
            <a:pPr lvl="0" eaLnBrk="1" latinLnBrk="0" hangingPunct="1"/>
            <a:r>
              <a:rPr lang="zh-CN" altLang="en-US"/>
              <a:t>单击此处编辑母版文本样式</a:t>
            </a:r>
            <a:endParaRPr lang="zh-CN" altLang="en-US"/>
          </a:p>
        </p:txBody>
      </p:sp>
      <p:sp>
        <p:nvSpPr>
          <p:cNvPr id="15" name="Text Placeholder 14"/>
          <p:cNvSpPr>
            <a:spLocks noGrp="1"/>
          </p:cNvSpPr>
          <p:nvPr>
            <p:ph type="body" sz="quarter" idx="19"/>
          </p:nvPr>
        </p:nvSpPr>
        <p:spPr>
          <a:xfrm>
            <a:off x="4800600" y="1816383"/>
            <a:ext cx="3886200" cy="707136"/>
          </a:xfrm>
          <a:solidFill>
            <a:schemeClr val="accent4"/>
          </a:solidFill>
        </p:spPr>
        <p:txBody>
          <a:bodyPr rtlCol="0" anchor="ctr"/>
          <a:lstStyle>
            <a:lvl1pPr eaLnBrk="1" latinLnBrk="0" hangingPunct="1">
              <a:buFontTx/>
              <a:buNone/>
              <a:defRPr kumimoji="0" lang="zh-CN" sz="2000" b="1">
                <a:solidFill>
                  <a:srgbClr val="FFFFFF"/>
                </a:solidFill>
              </a:defRPr>
            </a:lvl1pPr>
          </a:lstStyle>
          <a:p>
            <a:pPr lvl="0" eaLnBrk="1" latinLnBrk="0" hangingPunct="1"/>
            <a:r>
              <a:rPr lang="zh-CN" altLang="en-US"/>
              <a:t>单击此处编辑母版文本样式</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latinLnBrk="0" hangingPunct="1"/>
            <a:r>
              <a:rPr lang="zh-CN" altLang="en-US"/>
              <a:t>单击此处编辑母版标题样式</a:t>
            </a:r>
            <a:endParaRPr lang="zh-CN" altLang="en-US"/>
          </a:p>
        </p:txBody>
      </p:sp>
      <p:sp>
        <p:nvSpPr>
          <p:cNvPr id="3" name="Date Placeholder 2"/>
          <p:cNvSpPr>
            <a:spLocks noGrp="1"/>
          </p:cNvSpPr>
          <p:nvPr>
            <p:ph type="dt" sz="half" idx="10"/>
          </p:nvPr>
        </p:nvSpPr>
        <p:spPr/>
        <p:txBody>
          <a:bodyPr/>
          <a:lstStyle/>
          <a:p>
            <a:fld id="{6DFADB5D-B7A0-47E3-AD2D-B1A6F8614213}" type="datetime1">
              <a:rPr lang="zh-CN" altLang="en-US"/>
            </a:fld>
            <a:endParaRPr kumimoji="0" lang="zh-CN"/>
          </a:p>
        </p:txBody>
      </p:sp>
      <p:sp>
        <p:nvSpPr>
          <p:cNvPr id="4" name="Footer Placeholder 3"/>
          <p:cNvSpPr>
            <a:spLocks noGrp="1"/>
          </p:cNvSpPr>
          <p:nvPr>
            <p:ph type="ftr" sz="quarter" idx="11"/>
          </p:nvPr>
        </p:nvSpPr>
        <p:spPr/>
        <p:txBody>
          <a:bodyPr/>
          <a:lstStyle/>
          <a:p>
            <a:endParaRPr kumimoji="0" lang="zh-CN"/>
          </a:p>
        </p:txBody>
      </p:sp>
      <p:sp>
        <p:nvSpPr>
          <p:cNvPr id="5" name="Slide Number Placeholder 4"/>
          <p:cNvSpPr>
            <a:spLocks noGrp="1"/>
          </p:cNvSpPr>
          <p:nvPr>
            <p:ph type="sldNum" sz="quarter" idx="12"/>
          </p:nvPr>
        </p:nvSpPr>
        <p:spPr/>
        <p:txBody>
          <a:bodyPr/>
          <a:lstStyle>
            <a:lvl1pPr eaLnBrk="1" latinLnBrk="0" hangingPunct="1">
              <a:defRPr kumimoji="0" lang="zh-CN">
                <a:solidFill>
                  <a:srgbClr val="FFFFFF"/>
                </a:solidFill>
              </a:defRPr>
            </a:lvl1pPr>
          </a:lstStyle>
          <a:p>
            <a:fld id="{A3F7CB7D-F184-43C7-B6FD-03D728E1BBFF}" type="slidenum">
              <a:rPr kumimoji="0" lang="zh-CN">
                <a:solidFill>
                  <a:srgbClr val="FFFFFF"/>
                </a:solidFill>
              </a:rPr>
            </a:fld>
            <a:endParaRPr kumimoji="0" lang="zh-CN">
              <a:solidFill>
                <a:srgbClr val="FFFFFF"/>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968126-03FC-49C0-B9B8-2B561CCC3D90}" type="datetime1">
              <a:rPr lang="zh-CN" altLang="en-US"/>
            </a:fld>
            <a:endParaRPr kumimoji="0" lang="zh-CN"/>
          </a:p>
        </p:txBody>
      </p:sp>
      <p:sp>
        <p:nvSpPr>
          <p:cNvPr id="3" name="Footer Placeholder 2"/>
          <p:cNvSpPr>
            <a:spLocks noGrp="1"/>
          </p:cNvSpPr>
          <p:nvPr>
            <p:ph type="ftr" sz="quarter" idx="11"/>
          </p:nvPr>
        </p:nvSpPr>
        <p:spPr/>
        <p:txBody>
          <a:bodyPr/>
          <a:lstStyle/>
          <a:p>
            <a:endParaRPr kumimoji="0" lang="zh-CN"/>
          </a:p>
        </p:txBody>
      </p:sp>
      <p:sp>
        <p:nvSpPr>
          <p:cNvPr id="4" name="Slide Number Placeholder 3"/>
          <p:cNvSpPr>
            <a:spLocks noGrp="1"/>
          </p:cNvSpPr>
          <p:nvPr>
            <p:ph type="sldNum" sz="quarter" idx="12"/>
          </p:nvPr>
        </p:nvSpPr>
        <p:spPr>
          <a:xfrm>
            <a:off x="0" y="6248400"/>
            <a:ext cx="533400" cy="381000"/>
          </a:xfrm>
        </p:spPr>
        <p:txBody>
          <a:bodyPr/>
          <a:lstStyle>
            <a:lvl1pPr eaLnBrk="1" latinLnBrk="0" hangingPunct="1">
              <a:defRPr kumimoji="0" lang="zh-CN">
                <a:solidFill>
                  <a:schemeClr val="tx2"/>
                </a:solidFill>
              </a:defRPr>
            </a:lvl1pPr>
          </a:lstStyle>
          <a:p>
            <a:fld id="{A3F7CB7D-F184-43C7-B6FD-03D728E1BBFF}" type="slidenum">
              <a:rPr kumimoji="0" lang="zh-CN">
                <a:solidFill>
                  <a:schemeClr val="tx2"/>
                </a:solidFill>
              </a:rPr>
            </a:fld>
            <a:endParaRPr kumimoji="0" lang="zh-CN">
              <a:solidFill>
                <a:schemeClr val="tx2"/>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09600" y="157480"/>
            <a:ext cx="8153400" cy="1341120"/>
          </a:xfrm>
        </p:spPr>
        <p:txBody>
          <a:bodyPr anchor="b"/>
          <a:lstStyle>
            <a:lvl1pPr algn="l" eaLnBrk="1" latinLnBrk="0" hangingPunct="1">
              <a:buNone/>
              <a:defRPr kumimoji="0" lang="zh-CN" sz="4200" b="0"/>
            </a:lvl1pPr>
          </a:lstStyle>
          <a:p>
            <a:pPr eaLnBrk="1" latinLnBrk="0" hangingPunct="1"/>
            <a:r>
              <a:rPr lang="zh-CN" altLang="en-US"/>
              <a:t>单击此处编辑母版标题样式</a:t>
            </a:r>
            <a:endParaRPr lang="zh-CN" altLang="en-US"/>
          </a:p>
        </p:txBody>
      </p:sp>
      <p:sp>
        <p:nvSpPr>
          <p:cNvPr id="5" name="Date Placeholder 4"/>
          <p:cNvSpPr>
            <a:spLocks noGrp="1"/>
          </p:cNvSpPr>
          <p:nvPr>
            <p:ph type="dt" sz="half" idx="10"/>
          </p:nvPr>
        </p:nvSpPr>
        <p:spPr/>
        <p:txBody>
          <a:bodyPr/>
          <a:lstStyle/>
          <a:p>
            <a:fld id="{F49A8198-4617-485E-9585-4840B69DBBA6}" type="datetime1">
              <a:rPr lang="zh-CN" altLang="en-US"/>
            </a:fld>
            <a:endParaRPr kumimoji="0" lang="zh-CN"/>
          </a:p>
        </p:txBody>
      </p:sp>
      <p:sp>
        <p:nvSpPr>
          <p:cNvPr id="6" name="Footer Placeholder 5"/>
          <p:cNvSpPr>
            <a:spLocks noGrp="1"/>
          </p:cNvSpPr>
          <p:nvPr>
            <p:ph type="ftr" sz="quarter" idx="11"/>
          </p:nvPr>
        </p:nvSpPr>
        <p:spPr/>
        <p:txBody>
          <a:bodyPr/>
          <a:lstStyle/>
          <a:p>
            <a:endParaRPr kumimoji="0" lang="zh-CN"/>
          </a:p>
        </p:txBody>
      </p:sp>
      <p:sp>
        <p:nvSpPr>
          <p:cNvPr id="7" name="Slide Number Placeholder 6"/>
          <p:cNvSpPr>
            <a:spLocks noGrp="1"/>
          </p:cNvSpPr>
          <p:nvPr>
            <p:ph type="sldNum" sz="quarter" idx="12"/>
          </p:nvPr>
        </p:nvSpPr>
        <p:spPr/>
        <p:txBody>
          <a:bodyPr/>
          <a:lstStyle>
            <a:lvl1pPr eaLnBrk="1" latinLnBrk="0" hangingPunct="1">
              <a:defRPr kumimoji="0" lang="zh-CN">
                <a:solidFill>
                  <a:srgbClr val="FFFFFF"/>
                </a:solidFill>
              </a:defRPr>
            </a:lvl1pPr>
          </a:lstStyle>
          <a:p>
            <a:fld id="{A3F7CB7D-F184-43C7-B6FD-03D728E1BBFF}" type="slidenum">
              <a:rPr kumimoji="0" lang="zh-CN">
                <a:solidFill>
                  <a:srgbClr val="FFFFFF"/>
                </a:solidFill>
              </a:rPr>
            </a:fld>
            <a:endParaRPr kumimoji="0" lang="zh-CN">
              <a:solidFill>
                <a:srgbClr val="FFFFFF"/>
              </a:solidFill>
            </a:endParaRPr>
          </a:p>
        </p:txBody>
      </p:sp>
      <p:sp>
        <p:nvSpPr>
          <p:cNvPr id="3" name="Text Placeholder 2"/>
          <p:cNvSpPr>
            <a:spLocks noGrp="1"/>
          </p:cNvSpPr>
          <p:nvPr>
            <p:ph type="body" idx="1"/>
          </p:nvPr>
        </p:nvSpPr>
        <p:spPr>
          <a:xfrm>
            <a:off x="609600" y="1905000"/>
            <a:ext cx="1600200" cy="41656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eaLnBrk="1" latinLnBrk="0" hangingPunct="1">
              <a:spcAft>
                <a:spcPts val="1000"/>
              </a:spcAft>
              <a:buNone/>
              <a:defRPr kumimoji="0" lang="zh-CN" sz="1800"/>
            </a:lvl1pPr>
            <a:lvl2pPr eaLnBrk="1" latinLnBrk="0" hangingPunct="1">
              <a:buNone/>
              <a:defRPr kumimoji="0" lang="zh-CN" sz="1200"/>
            </a:lvl2pPr>
            <a:lvl3pPr eaLnBrk="1" latinLnBrk="0" hangingPunct="1">
              <a:buNone/>
              <a:defRPr kumimoji="0" lang="zh-CN" sz="1000"/>
            </a:lvl3pPr>
            <a:lvl4pPr eaLnBrk="1" latinLnBrk="0" hangingPunct="1">
              <a:buNone/>
              <a:defRPr kumimoji="0" lang="zh-CN" sz="900"/>
            </a:lvl4pPr>
            <a:lvl5pPr eaLnBrk="1" latinLnBrk="0" hangingPunct="1">
              <a:buNone/>
              <a:defRPr kumimoji="0" lang="zh-CN" sz="900"/>
            </a:lvl5pPr>
          </a:lstStyle>
          <a:p>
            <a:pPr lvl="0" eaLnBrk="1" latinLnBrk="0" hangingPunct="1"/>
            <a:r>
              <a:rPr lang="zh-CN" altLang="en-US"/>
              <a:t>单击此处编辑母版文本样式</a:t>
            </a:r>
            <a:endParaRPr lang="zh-CN" altLang="en-US"/>
          </a:p>
        </p:txBody>
      </p:sp>
      <p:sp>
        <p:nvSpPr>
          <p:cNvPr id="9" name="Content Placeholder 8"/>
          <p:cNvSpPr>
            <a:spLocks noGrp="1"/>
          </p:cNvSpPr>
          <p:nvPr>
            <p:ph sz="quarter" idx="13"/>
          </p:nvPr>
        </p:nvSpPr>
        <p:spPr>
          <a:xfrm>
            <a:off x="2362200" y="1905000"/>
            <a:ext cx="6400800" cy="4267200"/>
          </a:xfrm>
        </p:spPr>
        <p:txBody>
          <a:body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Ref idx="1001">
        <a:schemeClr val="bg2"/>
      </p:bgRef>
    </p:bg>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557668" y="0"/>
            <a:ext cx="7586332" cy="4559808"/>
          </a:xfrm>
          <a:solidFill>
            <a:schemeClr val="tx2">
              <a:shade val="50000"/>
            </a:schemeClr>
          </a:solidFill>
          <a:ln>
            <a:noFill/>
          </a:ln>
        </p:spPr>
        <p:txBody>
          <a:bodyPr/>
          <a:lstStyle>
            <a:lvl1pPr eaLnBrk="1" latinLnBrk="0" hangingPunct="1">
              <a:buNone/>
              <a:defRPr kumimoji="0" lang="zh-CN" sz="3200"/>
            </a:lvl1pPr>
          </a:lstStyle>
          <a:p>
            <a:r>
              <a:rPr kumimoji="0" lang="zh-CN" altLang="en-US"/>
              <a:t>单击图标添加图片</a:t>
            </a:r>
            <a:endParaRPr kumimoji="0" lang="zh-CN"/>
          </a:p>
        </p:txBody>
      </p:sp>
      <p:sp>
        <p:nvSpPr>
          <p:cNvPr id="4" name="Text Placeholder 3"/>
          <p:cNvSpPr>
            <a:spLocks noGrp="1"/>
          </p:cNvSpPr>
          <p:nvPr>
            <p:ph type="body" sz="half" idx="2"/>
          </p:nvPr>
        </p:nvSpPr>
        <p:spPr>
          <a:xfrm>
            <a:off x="1600200" y="5486400"/>
            <a:ext cx="7315200" cy="685800"/>
          </a:xfrm>
        </p:spPr>
        <p:txBody>
          <a:bodyPr/>
          <a:lstStyle>
            <a:lvl1pPr marL="0" indent="0" eaLnBrk="1" latinLnBrk="0" hangingPunct="1">
              <a:buFontTx/>
              <a:buNone/>
              <a:defRPr kumimoji="0" lang="zh-CN" sz="1700"/>
            </a:lvl1pPr>
            <a:lvl2pPr eaLnBrk="1" latinLnBrk="0" hangingPunct="1">
              <a:buFontTx/>
              <a:buNone/>
              <a:defRPr kumimoji="0" lang="zh-CN" sz="1200"/>
            </a:lvl2pPr>
            <a:lvl3pPr eaLnBrk="1" latinLnBrk="0" hangingPunct="1">
              <a:buFontTx/>
              <a:buNone/>
              <a:defRPr kumimoji="0" lang="zh-CN" sz="1000"/>
            </a:lvl3pPr>
            <a:lvl4pPr eaLnBrk="1" latinLnBrk="0" hangingPunct="1">
              <a:buFontTx/>
              <a:buNone/>
              <a:defRPr kumimoji="0" lang="zh-CN" sz="900"/>
            </a:lvl4pPr>
            <a:lvl5pPr eaLnBrk="1" latinLnBrk="0" hangingPunct="1">
              <a:buFontTx/>
              <a:buNone/>
              <a:defRPr kumimoji="0" lang="zh-CN" sz="900"/>
            </a:lvl5pPr>
          </a:lstStyle>
          <a:p>
            <a:pPr lvl="0" eaLnBrk="1" latinLnBrk="0" hangingPunct="1"/>
            <a:r>
              <a:rPr lang="zh-CN" altLang="en-US"/>
              <a:t>单击此处编辑母版文本样式</a:t>
            </a:r>
            <a:endParaRPr lang="zh-CN" altLang="en-US"/>
          </a:p>
        </p:txBody>
      </p:sp>
      <p:sp>
        <p:nvSpPr>
          <p:cNvPr id="8" name="Rectangle 7"/>
          <p:cNvSpPr/>
          <p:nvPr/>
        </p:nvSpPr>
        <p:spPr>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zh-CN"/>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zh-CN"/>
          </a:p>
        </p:txBody>
      </p:sp>
      <p:sp>
        <p:nvSpPr>
          <p:cNvPr id="10" name="Rectangle 9"/>
          <p:cNvSpPr/>
          <p:nvPr/>
        </p:nvSpPr>
        <p:spPr>
          <a:xfrm>
            <a:off x="1545336" y="4654296"/>
            <a:ext cx="7589520"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zh-CN"/>
          </a:p>
        </p:txBody>
      </p:sp>
      <p:sp>
        <p:nvSpPr>
          <p:cNvPr id="2" name="Title 1"/>
          <p:cNvSpPr>
            <a:spLocks noGrp="1"/>
          </p:cNvSpPr>
          <p:nvPr>
            <p:ph type="title"/>
          </p:nvPr>
        </p:nvSpPr>
        <p:spPr>
          <a:xfrm>
            <a:off x="1600200" y="4724400"/>
            <a:ext cx="7315200" cy="609600"/>
          </a:xfrm>
        </p:spPr>
        <p:txBody>
          <a:bodyPr anchor="ctr"/>
          <a:lstStyle>
            <a:lvl1pPr algn="l" eaLnBrk="1" latinLnBrk="0" hangingPunct="1">
              <a:buNone/>
              <a:defRPr kumimoji="0" lang="zh-CN" sz="2800" b="0">
                <a:solidFill>
                  <a:srgbClr val="FFFFFF"/>
                </a:solidFill>
              </a:defRPr>
            </a:lvl1pPr>
          </a:lstStyle>
          <a:p>
            <a:pPr eaLnBrk="1" latinLnBrk="0" hangingPunct="1"/>
            <a:r>
              <a:rPr lang="zh-CN" altLang="en-US"/>
              <a:t>单击此处编辑母版标题样式</a:t>
            </a:r>
            <a:endParaRPr lang="zh-CN" altLang="en-US"/>
          </a:p>
        </p:txBody>
      </p:sp>
      <p:sp>
        <p:nvSpPr>
          <p:cNvPr id="11" name="Rectangle 10"/>
          <p:cNvSpPr/>
          <p:nvPr/>
        </p:nvSpPr>
        <p:spPr>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zh-CN"/>
          </a:p>
        </p:txBody>
      </p:sp>
      <p:sp>
        <p:nvSpPr>
          <p:cNvPr id="12" name="Date Placeholder 11"/>
          <p:cNvSpPr>
            <a:spLocks noGrp="1"/>
          </p:cNvSpPr>
          <p:nvPr>
            <p:ph type="dt" sz="half" idx="10"/>
          </p:nvPr>
        </p:nvSpPr>
        <p:spPr>
          <a:xfrm>
            <a:off x="6248400" y="6248400"/>
            <a:ext cx="2667000" cy="365125"/>
          </a:xfrm>
        </p:spPr>
        <p:txBody>
          <a:bodyPr rtlCol="0"/>
          <a:lstStyle/>
          <a:p>
            <a:fld id="{E4606EA6-EFEA-4C30-9264-4F9291A5780D}" type="datetime1">
              <a:rPr lang="zh-CN" altLang="en-US"/>
            </a:fld>
            <a:endParaRPr kumimoji="0" lang="zh-CN"/>
          </a:p>
        </p:txBody>
      </p:sp>
      <p:sp>
        <p:nvSpPr>
          <p:cNvPr id="13" name="Slide Number Placeholder 12"/>
          <p:cNvSpPr>
            <a:spLocks noGrp="1"/>
          </p:cNvSpPr>
          <p:nvPr>
            <p:ph type="sldNum" sz="quarter" idx="11"/>
          </p:nvPr>
        </p:nvSpPr>
        <p:spPr>
          <a:xfrm>
            <a:off x="0" y="4667249"/>
            <a:ext cx="1447800" cy="663579"/>
          </a:xfrm>
        </p:spPr>
        <p:txBody>
          <a:bodyPr rtlCol="0"/>
          <a:lstStyle>
            <a:lvl1pPr eaLnBrk="1" latinLnBrk="0" hangingPunct="1">
              <a:defRPr kumimoji="0" lang="zh-CN" sz="2800"/>
            </a:lvl1pPr>
          </a:lstStyle>
          <a:p>
            <a:pPr algn="ctr"/>
            <a:fld id="{8F82E0A0-C266-4798-8C8F-B9F91E9DA37E}" type="slidenum">
              <a:rPr kumimoji="0" lang="zh-CN" sz="2800" b="1">
                <a:solidFill>
                  <a:srgbClr val="FFFFFF"/>
                </a:solidFill>
              </a:rPr>
            </a:fld>
            <a:endParaRPr kumimoji="0" lang="zh-CN" sz="2800"/>
          </a:p>
        </p:txBody>
      </p:sp>
      <p:sp>
        <p:nvSpPr>
          <p:cNvPr id="14" name="Footer Placeholder 13"/>
          <p:cNvSpPr>
            <a:spLocks noGrp="1"/>
          </p:cNvSpPr>
          <p:nvPr>
            <p:ph type="ftr" sz="quarter" idx="12"/>
          </p:nvPr>
        </p:nvSpPr>
        <p:spPr>
          <a:xfrm>
            <a:off x="1600200" y="6248207"/>
            <a:ext cx="4572000" cy="365125"/>
          </a:xfrm>
        </p:spPr>
        <p:txBody>
          <a:bodyPr rtlCol="0"/>
          <a:lstStyle/>
          <a:p>
            <a:endParaRPr kumimoji="0" lang="zh-CN"/>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46294191-3DDD-49E8-B9BD-E75AE74640BA}"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Text Placeholder 12"/>
          <p:cNvSpPr>
            <a:spLocks noGrp="1"/>
          </p:cNvSpPr>
          <p:nvPr>
            <p:ph type="body" idx="1"/>
          </p:nvPr>
        </p:nvSpPr>
        <p:spPr>
          <a:xfrm>
            <a:off x="612648" y="1803400"/>
            <a:ext cx="8153400" cy="4323080"/>
          </a:xfrm>
          <a:prstGeom prst="rect">
            <a:avLst/>
          </a:prstGeom>
        </p:spPr>
        <p:txBody>
          <a:bodyPr vert="horz">
            <a:normAutofit/>
          </a:bodyPr>
          <a:lstStyle/>
          <a:p>
            <a:pPr lvl="0" eaLnBrk="1" latinLnBrk="0" hangingPunct="1"/>
            <a:r>
              <a:rPr kumimoji="0" lang="zh-CN" altLang="en-US"/>
              <a:t>单击此处编辑母版文本样式</a:t>
            </a:r>
            <a:endParaRPr kumimoji="0" lang="zh-CN" altLang="en-US"/>
          </a:p>
          <a:p>
            <a:pPr lvl="1" eaLnBrk="1" latinLnBrk="0" hangingPunct="1"/>
            <a:r>
              <a:rPr kumimoji="0" lang="zh-CN" altLang="en-US"/>
              <a:t>第二级</a:t>
            </a:r>
            <a:endParaRPr kumimoji="0" lang="zh-CN" altLang="en-US"/>
          </a:p>
          <a:p>
            <a:pPr lvl="2" eaLnBrk="1" latinLnBrk="0" hangingPunct="1"/>
            <a:r>
              <a:rPr kumimoji="0" lang="zh-CN" altLang="en-US"/>
              <a:t>第三级</a:t>
            </a:r>
            <a:endParaRPr kumimoji="0" lang="zh-CN" altLang="en-US"/>
          </a:p>
          <a:p>
            <a:pPr lvl="3" eaLnBrk="1" latinLnBrk="0" hangingPunct="1"/>
            <a:r>
              <a:rPr kumimoji="0" lang="zh-CN" altLang="en-US"/>
              <a:t>第四级</a:t>
            </a:r>
            <a:endParaRPr kumimoji="0" lang="zh-CN" altLang="en-US"/>
          </a:p>
          <a:p>
            <a:pPr lvl="4" eaLnBrk="1" latinLnBrk="0" hangingPunct="1"/>
            <a:r>
              <a:rPr kumimoji="0" lang="zh-CN" altLang="en-US"/>
              <a:t>第五级</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lang="zh-CN" sz="1400">
                <a:solidFill>
                  <a:schemeClr val="tx2"/>
                </a:solidFill>
              </a:defRPr>
            </a:lvl1pPr>
          </a:lstStyle>
          <a:p>
            <a:fld id="{E4606EA6-EFEA-4C30-9264-4F9291A5780D}" type="datetime1">
              <a:rPr lang="zh-CN" altLang="en-US"/>
            </a:fld>
            <a:endParaRPr kumimoji="0" lang="zh-CN" sz="1400">
              <a:solidFill>
                <a:schemeClr val="tx2"/>
              </a:solidFill>
            </a:endParaRPr>
          </a:p>
        </p:txBody>
      </p:sp>
      <p:sp>
        <p:nvSpPr>
          <p:cNvPr id="3" name="Footer Placeholder 2"/>
          <p:cNvSpPr>
            <a:spLocks noGrp="1"/>
          </p:cNvSpPr>
          <p:nvPr>
            <p:ph type="ftr" sz="quarter" idx="3"/>
          </p:nvPr>
        </p:nvSpPr>
        <p:spPr>
          <a:xfrm>
            <a:off x="609602" y="6248207"/>
            <a:ext cx="5421083" cy="365125"/>
          </a:xfrm>
          <a:prstGeom prst="rect">
            <a:avLst/>
          </a:prstGeom>
        </p:spPr>
        <p:txBody>
          <a:bodyPr vert="horz" anchor="ctr"/>
          <a:lstStyle>
            <a:lvl1pPr algn="r" eaLnBrk="1" latinLnBrk="0" hangingPunct="1">
              <a:defRPr kumimoji="0" lang="zh-CN" sz="1400">
                <a:solidFill>
                  <a:schemeClr val="tx2"/>
                </a:solidFill>
              </a:defRPr>
            </a:lvl1pPr>
          </a:lstStyle>
          <a:p>
            <a:pPr algn="r"/>
            <a:endParaRPr kumimoji="0" lang="zh-CN" sz="1400">
              <a:solidFill>
                <a:schemeClr val="tx2"/>
              </a:solidFill>
            </a:endParaRPr>
          </a:p>
        </p:txBody>
      </p:sp>
      <p:sp>
        <p:nvSpPr>
          <p:cNvPr id="7" name="Rectangle 6"/>
          <p:cNvSpPr/>
          <p:nvPr/>
        </p:nvSpPr>
        <p:spPr>
          <a:xfrm>
            <a:off x="0" y="1460227"/>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zh-CN"/>
          </a:p>
        </p:txBody>
      </p:sp>
      <p:sp>
        <p:nvSpPr>
          <p:cNvPr id="8" name="Rectangle 7"/>
          <p:cNvSpPr/>
          <p:nvPr/>
        </p:nvSpPr>
        <p:spPr>
          <a:xfrm>
            <a:off x="0" y="1505947"/>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zh-CN"/>
          </a:p>
        </p:txBody>
      </p:sp>
      <p:sp>
        <p:nvSpPr>
          <p:cNvPr id="9" name="Rectangle 8"/>
          <p:cNvSpPr/>
          <p:nvPr/>
        </p:nvSpPr>
        <p:spPr>
          <a:xfrm>
            <a:off x="590550" y="1505947"/>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kumimoji="0" lang="zh-CN"/>
          </a:p>
        </p:txBody>
      </p:sp>
      <p:sp>
        <p:nvSpPr>
          <p:cNvPr id="23" name="Slide Number Placeholder 22"/>
          <p:cNvSpPr>
            <a:spLocks noGrp="1"/>
          </p:cNvSpPr>
          <p:nvPr>
            <p:ph type="sldNum" sz="quarter" idx="4"/>
          </p:nvPr>
        </p:nvSpPr>
        <p:spPr>
          <a:xfrm>
            <a:off x="0" y="1498010"/>
            <a:ext cx="533400" cy="244476"/>
          </a:xfrm>
          <a:prstGeom prst="rect">
            <a:avLst/>
          </a:prstGeom>
        </p:spPr>
        <p:txBody>
          <a:bodyPr vert="horz" anchor="ctr" anchorCtr="0">
            <a:normAutofit/>
          </a:bodyPr>
          <a:lstStyle>
            <a:lvl1pPr algn="ctr" eaLnBrk="1" latinLnBrk="0" hangingPunct="1">
              <a:defRPr kumimoji="0" lang="zh-CN" sz="1400" b="1">
                <a:solidFill>
                  <a:srgbClr val="FFFFFF"/>
                </a:solidFill>
              </a:defRPr>
            </a:lvl1pPr>
          </a:lstStyle>
          <a:p>
            <a:pPr algn="ctr"/>
            <a:fld id="{8F82E0A0-C266-4798-8C8F-B9F91E9DA37E}" type="slidenum">
              <a:rPr kumimoji="0" lang="zh-CN" sz="1400" b="1">
                <a:solidFill>
                  <a:srgbClr val="FFFFFF"/>
                </a:solidFill>
              </a:rPr>
            </a:fld>
            <a:endParaRPr kumimoji="0" lang="zh-CN" sz="1400" b="1">
              <a:solidFill>
                <a:srgbClr val="FFFFFF"/>
              </a:solidFill>
            </a:endParaRPr>
          </a:p>
        </p:txBody>
      </p:sp>
      <p:sp>
        <p:nvSpPr>
          <p:cNvPr id="22" name="Title Placeholder 21"/>
          <p:cNvSpPr>
            <a:spLocks noGrp="1"/>
          </p:cNvSpPr>
          <p:nvPr>
            <p:ph type="title"/>
          </p:nvPr>
        </p:nvSpPr>
        <p:spPr>
          <a:xfrm>
            <a:off x="609600" y="157480"/>
            <a:ext cx="8153400" cy="1341120"/>
          </a:xfrm>
          <a:prstGeom prst="rect">
            <a:avLst/>
          </a:prstGeom>
        </p:spPr>
        <p:txBody>
          <a:bodyPr vert="horz" anchor="b">
            <a:normAutofit/>
          </a:bodyPr>
          <a:lstStyle/>
          <a:p>
            <a:pPr eaLnBrk="1" latinLnBrk="0" hangingPunct="1"/>
            <a:r>
              <a:rPr kumimoji="0" lang="zh-CN" altLang="en-US"/>
              <a:t>单击此处编辑母版标题样式</a:t>
            </a:r>
            <a:endParaRPr kumimoji="0"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rtl="0" eaLnBrk="1" latinLnBrk="0" hangingPunct="1">
        <a:spcBef>
          <a:spcPct val="0"/>
        </a:spcBef>
        <a:buNone/>
        <a:defRPr kumimoji="0" lang="zh-CN" sz="42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panose="05000000000000000000"/>
        <a:buChar char=""/>
        <a:defRPr kumimoji="0" lang="zh-CN"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panose="05020102010507070707"/>
        <a:buChar char=""/>
        <a:defRPr kumimoji="0" lang="zh-CN"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panose="05000000000000000000"/>
        <a:buChar char=""/>
        <a:defRPr kumimoji="0" lang="zh-CN"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panose="05000000000000000000"/>
        <a:buChar char=""/>
        <a:defRPr kumimoji="0" lang="zh-CN"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panose="05000000000000000000"/>
        <a:buChar char=""/>
        <a:defRPr kumimoji="0" lang="zh-CN"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panose="05000000000000000000"/>
        <a:buNone/>
        <a:defRPr kumimoji="0" lang="zh-CN"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kumimoji="0" lang="zh-CN"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kumimoji="0" lang="zh-CN"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kumimoji="0" lang="zh-CN" sz="1800" kern="1200" baseline="0">
          <a:solidFill>
            <a:schemeClr val="tx1"/>
          </a:solidFill>
          <a:latin typeface="+mn-lt"/>
          <a:ea typeface="+mn-ea"/>
          <a:cs typeface="+mn-cs"/>
        </a:defRPr>
      </a:lvl9pPr>
    </p:bodyStyle>
    <p:otherStyle>
      <a:lvl1pPr marL="0" algn="l" rtl="0" eaLnBrk="1" latinLnBrk="0" hangingPunct="1">
        <a:defRPr kumimoji="0" lang="zh-CN" kern="1200">
          <a:solidFill>
            <a:schemeClr val="tx1"/>
          </a:solidFill>
          <a:latin typeface="+mn-lt"/>
          <a:ea typeface="+mn-ea"/>
          <a:cs typeface="+mn-cs"/>
        </a:defRPr>
      </a:lvl1pPr>
      <a:lvl2pPr marL="457200" algn="l" rtl="0" eaLnBrk="1" latinLnBrk="0" hangingPunct="1">
        <a:defRPr kumimoji="0" lang="zh-CN" kern="1200">
          <a:solidFill>
            <a:schemeClr val="tx1"/>
          </a:solidFill>
          <a:latin typeface="+mn-lt"/>
          <a:ea typeface="+mn-ea"/>
          <a:cs typeface="+mn-cs"/>
        </a:defRPr>
      </a:lvl2pPr>
      <a:lvl3pPr marL="914400" algn="l" rtl="0" eaLnBrk="1" latinLnBrk="0" hangingPunct="1">
        <a:defRPr kumimoji="0" lang="zh-CN" kern="1200">
          <a:solidFill>
            <a:schemeClr val="tx1"/>
          </a:solidFill>
          <a:latin typeface="+mn-lt"/>
          <a:ea typeface="+mn-ea"/>
          <a:cs typeface="+mn-cs"/>
        </a:defRPr>
      </a:lvl3pPr>
      <a:lvl4pPr marL="1371600" algn="l" rtl="0" eaLnBrk="1" latinLnBrk="0" hangingPunct="1">
        <a:defRPr kumimoji="0" lang="zh-CN" kern="1200">
          <a:solidFill>
            <a:schemeClr val="tx1"/>
          </a:solidFill>
          <a:latin typeface="+mn-lt"/>
          <a:ea typeface="+mn-ea"/>
          <a:cs typeface="+mn-cs"/>
        </a:defRPr>
      </a:lvl4pPr>
      <a:lvl5pPr marL="1828800" algn="l" rtl="0" eaLnBrk="1" latinLnBrk="0" hangingPunct="1">
        <a:defRPr kumimoji="0" lang="zh-CN" kern="1200">
          <a:solidFill>
            <a:schemeClr val="tx1"/>
          </a:solidFill>
          <a:latin typeface="+mn-lt"/>
          <a:ea typeface="+mn-ea"/>
          <a:cs typeface="+mn-cs"/>
        </a:defRPr>
      </a:lvl5pPr>
      <a:lvl6pPr marL="2286000" algn="l" rtl="0" eaLnBrk="1" latinLnBrk="0" hangingPunct="1">
        <a:defRPr kumimoji="0" lang="zh-CN" kern="1200">
          <a:solidFill>
            <a:schemeClr val="tx1"/>
          </a:solidFill>
          <a:latin typeface="+mn-lt"/>
          <a:ea typeface="+mn-ea"/>
          <a:cs typeface="+mn-cs"/>
        </a:defRPr>
      </a:lvl6pPr>
      <a:lvl7pPr marL="2743200" algn="l" rtl="0" eaLnBrk="1" latinLnBrk="0" hangingPunct="1">
        <a:defRPr kumimoji="0" lang="zh-CN" kern="1200">
          <a:solidFill>
            <a:schemeClr val="tx1"/>
          </a:solidFill>
          <a:latin typeface="+mn-lt"/>
          <a:ea typeface="+mn-ea"/>
          <a:cs typeface="+mn-cs"/>
        </a:defRPr>
      </a:lvl7pPr>
      <a:lvl8pPr marL="3200400" algn="l" rtl="0" eaLnBrk="1" latinLnBrk="0" hangingPunct="1">
        <a:defRPr kumimoji="0" lang="zh-CN" kern="1200">
          <a:solidFill>
            <a:schemeClr val="tx1"/>
          </a:solidFill>
          <a:latin typeface="+mn-lt"/>
          <a:ea typeface="+mn-ea"/>
          <a:cs typeface="+mn-cs"/>
        </a:defRPr>
      </a:lvl8pPr>
      <a:lvl9pPr marL="3657600" algn="l" rtl="0" eaLnBrk="1" latinLnBrk="0" hangingPunct="1">
        <a:defRPr kumimoji="0" lang="zh-CN"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jpe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jpeg"/><Relationship Id="rId1" Type="http://schemas.openxmlformats.org/officeDocument/2006/relationships/image" Target="../media/image6.emf"/></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2.jpeg"/><Relationship Id="rId1" Type="http://schemas.openxmlformats.org/officeDocument/2006/relationships/hyperlink" Target="http://baike.baidu.com/view/414285.htm" TargetMode="Externa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10.xml"/><Relationship Id="rId3" Type="http://schemas.openxmlformats.org/officeDocument/2006/relationships/image" Target="../media/image2.jpeg"/><Relationship Id="rId2" Type="http://schemas.openxmlformats.org/officeDocument/2006/relationships/hyperlink" Target="https://baike.baidu.com/item/%E5%85%89%E8%B0%B1%E5%B8%A6" TargetMode="External"/><Relationship Id="rId1" Type="http://schemas.openxmlformats.org/officeDocument/2006/relationships/hyperlink" Target="https://baike.baidu.com/item/%E5%85%A5%E5%B0%84%E5%85%89"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2.jpe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2.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2.jpe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2.jpe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2.jpeg"/></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2.jpe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2.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jpeg"/></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jpe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jpeg"/><Relationship Id="rId1" Type="http://schemas.openxmlformats.org/officeDocument/2006/relationships/image" Target="../media/image27.png"/></Relationships>
</file>

<file path=ppt/slides/_rels/slide2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jpeg"/></Relationships>
</file>

<file path=ppt/slides/_rels/slide30.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3" Type="http://schemas.openxmlformats.org/officeDocument/2006/relationships/image" Target="../media/image32.png"/><Relationship Id="rId2" Type="http://schemas.openxmlformats.org/officeDocument/2006/relationships/image" Target="../media/image30.png"/><Relationship Id="rId1" Type="http://schemas.openxmlformats.org/officeDocument/2006/relationships/image" Target="../media/image2.jpeg"/></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7.png"/><Relationship Id="rId3" Type="http://schemas.openxmlformats.org/officeDocument/2006/relationships/image" Target="../media/image35.png"/><Relationship Id="rId2" Type="http://schemas.openxmlformats.org/officeDocument/2006/relationships/image" Target="../media/image2.jpeg"/><Relationship Id="rId1" Type="http://schemas.openxmlformats.org/officeDocument/2006/relationships/image" Target="../media/image36.png"/></Relationships>
</file>

<file path=ppt/slides/_rels/slide3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8.png"/><Relationship Id="rId3" Type="http://schemas.openxmlformats.org/officeDocument/2006/relationships/image" Target="../media/image35.png"/><Relationship Id="rId2" Type="http://schemas.openxmlformats.org/officeDocument/2006/relationships/image" Target="../media/image2.jpeg"/><Relationship Id="rId1" Type="http://schemas.openxmlformats.org/officeDocument/2006/relationships/image" Target="../media/image36.png"/></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2.jpeg"/></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1.png"/><Relationship Id="rId2" Type="http://schemas.openxmlformats.org/officeDocument/2006/relationships/image" Target="../media/image39.png"/><Relationship Id="rId1" Type="http://schemas.openxmlformats.org/officeDocument/2006/relationships/image" Target="../media/image2.jpeg"/></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2.jpe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4.png"/><Relationship Id="rId1" Type="http://schemas.openxmlformats.org/officeDocument/2006/relationships/image" Target="../media/image2.jpe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5.png"/><Relationship Id="rId1" Type="http://schemas.openxmlformats.org/officeDocument/2006/relationships/image" Target="../media/image2.jpe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46.png"/><Relationship Id="rId1" Type="http://schemas.openxmlformats.org/officeDocument/2006/relationships/image" Target="../media/image2.jpe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0.xml"/><Relationship Id="rId2" Type="http://schemas.openxmlformats.org/officeDocument/2006/relationships/image" Target="../media/image35.png"/><Relationship Id="rId1" Type="http://schemas.openxmlformats.org/officeDocument/2006/relationships/image" Target="../media/image2.jpe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7.png"/><Relationship Id="rId1" Type="http://schemas.openxmlformats.org/officeDocument/2006/relationships/image" Target="../media/image2.jpeg"/></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image" Target="../media/image2.jpeg"/></Relationships>
</file>

<file path=ppt/slides/_rels/slide4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image" Target="../media/image2.jpeg"/></Relationships>
</file>

<file path=ppt/slides/_rels/slide4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image" Target="../media/image2.jpe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4.png"/><Relationship Id="rId1" Type="http://schemas.openxmlformats.org/officeDocument/2006/relationships/image" Target="../media/image2.jpe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jpeg"/></Relationships>
</file>

<file path=ppt/slides/_rels/slide50.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2.xml"/><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image" Target="../media/image2.jpeg"/></Relationships>
</file>

<file path=ppt/slides/_rels/slide5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image" Target="../media/image2.jpeg"/></Relationships>
</file>

<file path=ppt/slides/_rels/slide5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image" Target="../media/image2.jpe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1.png"/><Relationship Id="rId1" Type="http://schemas.openxmlformats.org/officeDocument/2006/relationships/image" Target="../media/image2.jpe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2.png"/><Relationship Id="rId1" Type="http://schemas.openxmlformats.org/officeDocument/2006/relationships/image" Target="../media/image2.jpe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3.png"/><Relationship Id="rId1" Type="http://schemas.openxmlformats.org/officeDocument/2006/relationships/image" Target="../media/image2.jpe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4.png"/><Relationship Id="rId1" Type="http://schemas.openxmlformats.org/officeDocument/2006/relationships/image" Target="../media/image2.jpeg"/></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65.png"/><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Grp="1"/>
          </p:cNvSpPr>
          <p:nvPr>
            <p:ph type="body" idx="1"/>
          </p:nvPr>
        </p:nvSpPr>
        <p:spPr>
          <a:xfrm>
            <a:off x="1403649" y="3332990"/>
            <a:ext cx="7123113" cy="1673225"/>
          </a:xfrm>
        </p:spPr>
        <p:txBody>
          <a:bodyPr>
            <a:noAutofit/>
          </a:bodyPr>
          <a:lstStyle/>
          <a:p>
            <a:pPr algn="ctr"/>
            <a:r>
              <a:rPr lang="zh-CN" altLang="en-US" sz="2000" dirty="0">
                <a:latin typeface="Adobe 黑体 Std R" pitchFamily="34" charset="-122"/>
                <a:ea typeface="Adobe 黑体 Std R" pitchFamily="34" charset="-122"/>
              </a:rPr>
              <a:t>潘依雯</a:t>
            </a:r>
            <a:endParaRPr lang="en-US" altLang="zh-CN" sz="2000" dirty="0">
              <a:latin typeface="Adobe 黑体 Std R" pitchFamily="34" charset="-122"/>
              <a:ea typeface="Adobe 黑体 Std R" pitchFamily="34" charset="-122"/>
            </a:endParaRPr>
          </a:p>
          <a:p>
            <a:pPr algn="ctr"/>
            <a:r>
              <a:rPr lang="zh-CN" altLang="en-US" sz="2000" dirty="0">
                <a:latin typeface="Adobe 黑体 Std R" pitchFamily="34" charset="-122"/>
                <a:ea typeface="Adobe 黑体 Std R" pitchFamily="34" charset="-122"/>
              </a:rPr>
              <a:t>海洋学院</a:t>
            </a:r>
            <a:endParaRPr lang="en-US" altLang="zh-CN" sz="2000" dirty="0">
              <a:latin typeface="Adobe 黑体 Std R" pitchFamily="34" charset="-122"/>
              <a:ea typeface="Adobe 黑体 Std R" pitchFamily="34" charset="-122"/>
            </a:endParaRPr>
          </a:p>
          <a:p>
            <a:pPr algn="ctr"/>
            <a:r>
              <a:rPr lang="en-US" altLang="zh-CN" sz="2000" dirty="0"/>
              <a:t>Email: evelynpan@zju.edu.cn</a:t>
            </a:r>
            <a:endParaRPr lang="zh-CN" sz="2000" dirty="0"/>
          </a:p>
        </p:txBody>
      </p:sp>
      <p:sp>
        <p:nvSpPr>
          <p:cNvPr id="4" name="Rectangle 3"/>
          <p:cNvSpPr>
            <a:spLocks noGrp="1"/>
          </p:cNvSpPr>
          <p:nvPr>
            <p:ph type="title"/>
          </p:nvPr>
        </p:nvSpPr>
        <p:spPr/>
        <p:txBody>
          <a:bodyPr>
            <a:normAutofit/>
          </a:bodyPr>
          <a:lstStyle/>
          <a:p>
            <a:r>
              <a:rPr lang="zh-CN" altLang="en-US" b="1" dirty="0"/>
              <a:t>第六章 海水中氮元素的测定</a:t>
            </a:r>
            <a:endParaRPr lang="zh-CN" b="1" dirty="0"/>
          </a:p>
        </p:txBody>
      </p:sp>
      <p:sp>
        <p:nvSpPr>
          <p:cNvPr id="6" name="TextBox 5"/>
          <p:cNvSpPr txBox="1"/>
          <p:nvPr/>
        </p:nvSpPr>
        <p:spPr>
          <a:xfrm>
            <a:off x="2267744" y="260649"/>
            <a:ext cx="4968552" cy="830997"/>
          </a:xfrm>
          <a:prstGeom prst="rect">
            <a:avLst/>
          </a:prstGeom>
          <a:noFill/>
        </p:spPr>
        <p:txBody>
          <a:bodyPr wrap="square" rtlCol="0">
            <a:spAutoFit/>
          </a:bodyPr>
          <a:lstStyle/>
          <a:p>
            <a:pPr algn="ctr"/>
            <a:r>
              <a:rPr lang="zh-CN" altLang="en-US" sz="2400" b="1" dirty="0">
                <a:solidFill>
                  <a:schemeClr val="bg2">
                    <a:lumMod val="25000"/>
                  </a:schemeClr>
                </a:solidFill>
              </a:rPr>
              <a:t>海水分析化学 </a:t>
            </a:r>
            <a:endParaRPr lang="en-US" altLang="zh-CN" sz="2400" b="1" dirty="0">
              <a:solidFill>
                <a:schemeClr val="bg2">
                  <a:lumMod val="25000"/>
                </a:schemeClr>
              </a:solidFill>
            </a:endParaRPr>
          </a:p>
          <a:p>
            <a:pPr algn="ctr"/>
            <a:r>
              <a:rPr lang="en-US" altLang="zh-CN" sz="2400" b="1" dirty="0">
                <a:solidFill>
                  <a:schemeClr val="bg2">
                    <a:lumMod val="25000"/>
                  </a:schemeClr>
                </a:solidFill>
              </a:rPr>
              <a:t>Analysis of Seawater</a:t>
            </a:r>
            <a:endParaRPr lang="zh-CN" altLang="en-US" sz="2400" b="1" dirty="0">
              <a:solidFill>
                <a:schemeClr val="bg2">
                  <a:lumMod val="25000"/>
                </a:schemeClr>
              </a:solidFill>
            </a:endParaRPr>
          </a:p>
        </p:txBody>
      </p:sp>
      <p:pic>
        <p:nvPicPr>
          <p:cNvPr id="7" name="图片 5" descr="logo.jpg"/>
          <p:cNvPicPr>
            <a:picLocks noChangeAspect="1"/>
          </p:cNvPicPr>
          <p:nvPr/>
        </p:nvPicPr>
        <p:blipFill>
          <a:blip r:embed="rId1" cstate="print"/>
          <a:srcRect l="26245" t="34250" r="32184" b="36349"/>
          <a:stretch>
            <a:fillRect/>
          </a:stretch>
        </p:blipFill>
        <p:spPr bwMode="auto">
          <a:xfrm>
            <a:off x="7596336" y="164637"/>
            <a:ext cx="1269554" cy="1308696"/>
          </a:xfrm>
          <a:prstGeom prst="rect">
            <a:avLst/>
          </a:prstGeom>
          <a:noFill/>
          <a:ln w="9525">
            <a:noFill/>
            <a:miter lim="800000"/>
            <a:headEnd/>
            <a:tailEnd/>
          </a:ln>
        </p:spPr>
      </p:pic>
      <p:sp>
        <p:nvSpPr>
          <p:cNvPr id="8" name="TextBox 6"/>
          <p:cNvSpPr txBox="1">
            <a:spLocks noChangeArrowheads="1"/>
          </p:cNvSpPr>
          <p:nvPr/>
        </p:nvSpPr>
        <p:spPr bwMode="auto">
          <a:xfrm>
            <a:off x="7524328" y="6021289"/>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0"/>
            <a:ext cx="8153400" cy="836712"/>
          </a:xfrm>
          <a:solidFill>
            <a:schemeClr val="accent1"/>
          </a:solidFill>
        </p:spPr>
        <p:txBody>
          <a:bodyPr>
            <a:normAutofit/>
          </a:bodyPr>
          <a:lstStyle/>
          <a:p>
            <a:r>
              <a:rPr lang="zh-CN" altLang="en-US" sz="4000" b="1" dirty="0">
                <a:solidFill>
                  <a:schemeClr val="bg2"/>
                </a:solidFill>
              </a:rPr>
              <a:t>第六章 海水中氮元素的测定</a:t>
            </a:r>
            <a:endParaRPr lang="zh-CN" altLang="en-US" sz="4000" b="1" dirty="0">
              <a:solidFill>
                <a:schemeClr val="bg2"/>
              </a:solidFill>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524328" y="164637"/>
            <a:ext cx="1341562" cy="1308696"/>
          </a:xfrm>
          <a:prstGeom prst="rect">
            <a:avLst/>
          </a:prstGeom>
          <a:noFill/>
          <a:ln w="9525">
            <a:noFill/>
            <a:miter lim="800000"/>
            <a:headEnd/>
            <a:tailEnd/>
          </a:ln>
        </p:spPr>
      </p:pic>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sp>
        <p:nvSpPr>
          <p:cNvPr id="6" name="内容占位符 2"/>
          <p:cNvSpPr txBox="1"/>
          <p:nvPr/>
        </p:nvSpPr>
        <p:spPr>
          <a:xfrm>
            <a:off x="4427984" y="1796819"/>
            <a:ext cx="3458344" cy="3744416"/>
          </a:xfrm>
          <a:prstGeom prst="rect">
            <a:avLst/>
          </a:prstGeom>
        </p:spPr>
        <p:txBody>
          <a:bodyPr vert="horz">
            <a:normAutofit/>
          </a:bodyPr>
          <a:lstStyle/>
          <a:p>
            <a:pPr marL="640080" lvl="1" indent="-274320">
              <a:spcBef>
                <a:spcPts val="550"/>
              </a:spcBef>
              <a:buClr>
                <a:schemeClr val="accent1"/>
              </a:buClr>
              <a:buSzPct val="70000"/>
            </a:pPr>
            <a:endParaRPr lang="zh-CN" altLang="en-US" sz="2600" dirty="0"/>
          </a:p>
        </p:txBody>
      </p:sp>
      <p:sp>
        <p:nvSpPr>
          <p:cNvPr id="10" name="TextBox 9"/>
          <p:cNvSpPr txBox="1"/>
          <p:nvPr/>
        </p:nvSpPr>
        <p:spPr>
          <a:xfrm>
            <a:off x="1259632" y="836713"/>
            <a:ext cx="5832648" cy="461665"/>
          </a:xfrm>
          <a:prstGeom prst="rect">
            <a:avLst/>
          </a:prstGeom>
          <a:noFill/>
          <a:ln w="15875">
            <a:solidFill>
              <a:schemeClr val="bg2">
                <a:lumMod val="25000"/>
              </a:schemeClr>
            </a:solidFill>
          </a:ln>
        </p:spPr>
        <p:txBody>
          <a:bodyPr wrap="square" rtlCol="0">
            <a:spAutoFit/>
          </a:bodyPr>
          <a:lstStyle/>
          <a:p>
            <a:r>
              <a:rPr lang="zh-CN" altLang="en-US" sz="2400" b="1" dirty="0">
                <a:solidFill>
                  <a:schemeClr val="bg2">
                    <a:lumMod val="25000"/>
                  </a:schemeClr>
                </a:solidFill>
                <a:latin typeface="华文新魏" panose="02010800040101010101" pitchFamily="2" charset="-122"/>
                <a:ea typeface="华文新魏" panose="02010800040101010101" pitchFamily="2" charset="-122"/>
              </a:rPr>
              <a:t>营养要素的组成</a:t>
            </a:r>
            <a:endParaRPr lang="zh-CN" altLang="en-US" sz="24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14" name="内容占位符 5"/>
          <p:cNvSpPr txBox="1"/>
          <p:nvPr/>
        </p:nvSpPr>
        <p:spPr>
          <a:xfrm>
            <a:off x="457200" y="1922969"/>
            <a:ext cx="8229600" cy="4525963"/>
          </a:xfrm>
          <a:prstGeom prst="rect">
            <a:avLst/>
          </a:prstGeom>
        </p:spPr>
        <p:txBody>
          <a:bodyPr/>
          <a:lstStyle>
            <a:lvl1pPr marL="320040" indent="-320040" algn="l" rtl="0" eaLnBrk="1" latinLnBrk="0" hangingPunct="1">
              <a:spcBef>
                <a:spcPts val="700"/>
              </a:spcBef>
              <a:buClr>
                <a:schemeClr val="accent2"/>
              </a:buClr>
              <a:buSzPct val="60000"/>
              <a:buFont typeface="Wingdings" panose="05000000000000000000"/>
              <a:buChar char=""/>
              <a:defRPr kumimoji="0" lang="zh-CN"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panose="05020102010507070707"/>
              <a:buChar char=""/>
              <a:defRPr kumimoji="0" lang="zh-CN"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panose="05000000000000000000"/>
              <a:buChar char=""/>
              <a:defRPr kumimoji="0" lang="zh-CN"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panose="05000000000000000000"/>
              <a:buChar char=""/>
              <a:defRPr kumimoji="0" lang="zh-CN"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panose="05000000000000000000"/>
              <a:buChar char=""/>
              <a:defRPr kumimoji="0" lang="zh-CN"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panose="05000000000000000000"/>
              <a:buNone/>
              <a:defRPr kumimoji="0" lang="zh-CN"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kumimoji="0" lang="zh-CN"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kumimoji="0" lang="zh-CN"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kumimoji="0" lang="zh-CN" sz="1800" kern="1200" baseline="0">
                <a:solidFill>
                  <a:schemeClr val="tx1"/>
                </a:solidFill>
                <a:latin typeface="+mn-lt"/>
                <a:ea typeface="+mn-ea"/>
                <a:cs typeface="+mn-cs"/>
              </a:defRPr>
            </a:lvl9pPr>
          </a:lstStyle>
          <a:p>
            <a:r>
              <a:rPr lang="zh-CN" altLang="en-US" dirty="0">
                <a:latin typeface="微软雅黑" panose="020B0503020204020204" pitchFamily="34" charset="-122"/>
                <a:ea typeface="微软雅黑" panose="020B0503020204020204" pitchFamily="34" charset="-122"/>
              </a:rPr>
              <a:t>提纲</a:t>
            </a:r>
            <a:endParaRPr lang="zh-CN" altLang="en-US" dirty="0">
              <a:latin typeface="微软雅黑" panose="020B0503020204020204" pitchFamily="34" charset="-122"/>
              <a:ea typeface="微软雅黑" panose="020B0503020204020204" pitchFamily="34" charset="-122"/>
            </a:endParaRPr>
          </a:p>
          <a:p>
            <a:pPr marL="914400" lvl="1" indent="-457200">
              <a:buFont typeface="+mj-lt"/>
              <a:buAutoNum type="arabicPeriod"/>
            </a:pPr>
            <a:r>
              <a:rPr lang="zh-CN" altLang="en-US" sz="2800" dirty="0">
                <a:latin typeface="微软雅黑" panose="020B0503020204020204" pitchFamily="34" charset="-122"/>
                <a:ea typeface="微软雅黑" panose="020B0503020204020204" pitchFamily="34" charset="-122"/>
              </a:rPr>
              <a:t>海水中的氮元素组成</a:t>
            </a:r>
            <a:endParaRPr lang="zh-CN" altLang="en-US" sz="2800" dirty="0">
              <a:latin typeface="微软雅黑" panose="020B0503020204020204" pitchFamily="34" charset="-122"/>
              <a:ea typeface="微软雅黑" panose="020B0503020204020204" pitchFamily="34" charset="-122"/>
            </a:endParaRPr>
          </a:p>
          <a:p>
            <a:pPr marL="914400" lvl="1" indent="-457200">
              <a:buFont typeface="+mj-lt"/>
              <a:buAutoNum type="arabicPeriod"/>
            </a:pPr>
            <a:r>
              <a:rPr lang="zh-CN" altLang="en-US" sz="2800" dirty="0">
                <a:latin typeface="微软雅黑" panose="020B0503020204020204" pitchFamily="34" charset="-122"/>
                <a:ea typeface="微软雅黑" panose="020B0503020204020204" pitchFamily="34" charset="-122"/>
              </a:rPr>
              <a:t>海水中氮循环的重要意义</a:t>
            </a:r>
            <a:endParaRPr lang="zh-CN" altLang="en-US" sz="2800" dirty="0">
              <a:latin typeface="微软雅黑" panose="020B0503020204020204" pitchFamily="34" charset="-122"/>
              <a:ea typeface="微软雅黑" panose="020B0503020204020204" pitchFamily="34" charset="-122"/>
            </a:endParaRPr>
          </a:p>
          <a:p>
            <a:pPr marL="914400" lvl="1" indent="-457200">
              <a:buFont typeface="+mj-lt"/>
              <a:buAutoNum type="arabicPeriod"/>
            </a:pPr>
            <a:r>
              <a:rPr lang="zh-CN" altLang="en-US" sz="2800" dirty="0">
                <a:solidFill>
                  <a:schemeClr val="tx2">
                    <a:lumMod val="65000"/>
                    <a:lumOff val="35000"/>
                  </a:schemeClr>
                </a:solidFill>
                <a:latin typeface="微软雅黑" panose="020B0503020204020204" pitchFamily="34" charset="-122"/>
                <a:ea typeface="微软雅黑" panose="020B0503020204020204" pitchFamily="34" charset="-122"/>
              </a:rPr>
              <a:t>海水中氮元素的测定方法</a:t>
            </a:r>
            <a:endParaRPr lang="zh-CN" altLang="en-US" sz="2800" dirty="0">
              <a:solidFill>
                <a:schemeClr val="tx2">
                  <a:lumMod val="65000"/>
                  <a:lumOff val="35000"/>
                </a:schemeClr>
              </a:solidFill>
              <a:latin typeface="微软雅黑" panose="020B0503020204020204" pitchFamily="34" charset="-122"/>
              <a:ea typeface="微软雅黑" panose="020B0503020204020204" pitchFamily="34" charset="-122"/>
            </a:endParaRPr>
          </a:p>
          <a:p>
            <a:pPr marL="1314450" lvl="2" indent="-457200">
              <a:buFont typeface="+mj-lt"/>
              <a:buAutoNum type="alphaUcPeriod"/>
            </a:pPr>
            <a:r>
              <a:rPr lang="zh-CN" altLang="en-US" sz="2400" dirty="0">
                <a:solidFill>
                  <a:schemeClr val="tx2">
                    <a:lumMod val="65000"/>
                    <a:lumOff val="35000"/>
                  </a:schemeClr>
                </a:solidFill>
                <a:latin typeface="微软雅黑" panose="020B0503020204020204" pitchFamily="34" charset="-122"/>
                <a:ea typeface="微软雅黑" panose="020B0503020204020204" pitchFamily="34" charset="-122"/>
              </a:rPr>
              <a:t>亚硝酸盐</a:t>
            </a:r>
            <a:endParaRPr lang="en-US" altLang="zh-CN" sz="2400" dirty="0">
              <a:solidFill>
                <a:schemeClr val="tx2">
                  <a:lumMod val="65000"/>
                  <a:lumOff val="35000"/>
                </a:schemeClr>
              </a:solidFill>
              <a:latin typeface="微软雅黑" panose="020B0503020204020204" pitchFamily="34" charset="-122"/>
              <a:ea typeface="微软雅黑" panose="020B0503020204020204" pitchFamily="34" charset="-122"/>
            </a:endParaRPr>
          </a:p>
          <a:p>
            <a:pPr marL="1314450" lvl="2" indent="-457200">
              <a:buFont typeface="+mj-lt"/>
              <a:buAutoNum type="alphaUcPeriod"/>
            </a:pPr>
            <a:r>
              <a:rPr lang="zh-CN" altLang="en-US" sz="2400" dirty="0">
                <a:solidFill>
                  <a:schemeClr val="tx2">
                    <a:lumMod val="65000"/>
                    <a:lumOff val="35000"/>
                  </a:schemeClr>
                </a:solidFill>
                <a:latin typeface="微软雅黑" panose="020B0503020204020204" pitchFamily="34" charset="-122"/>
                <a:ea typeface="微软雅黑" panose="020B0503020204020204" pitchFamily="34" charset="-122"/>
              </a:rPr>
              <a:t>硝酸盐</a:t>
            </a:r>
            <a:endParaRPr lang="en-US" altLang="zh-CN" sz="2400" dirty="0">
              <a:solidFill>
                <a:schemeClr val="tx2">
                  <a:lumMod val="65000"/>
                  <a:lumOff val="35000"/>
                </a:schemeClr>
              </a:solidFill>
              <a:latin typeface="微软雅黑" panose="020B0503020204020204" pitchFamily="34" charset="-122"/>
              <a:ea typeface="微软雅黑" panose="020B0503020204020204" pitchFamily="34" charset="-122"/>
            </a:endParaRPr>
          </a:p>
          <a:p>
            <a:pPr marL="1314450" lvl="2" indent="-457200">
              <a:buFont typeface="+mj-lt"/>
              <a:buAutoNum type="alphaUcPeriod"/>
            </a:pPr>
            <a:r>
              <a:rPr lang="zh-CN" altLang="en-US" dirty="0">
                <a:solidFill>
                  <a:schemeClr val="tx2">
                    <a:lumMod val="65000"/>
                    <a:lumOff val="35000"/>
                  </a:schemeClr>
                </a:solidFill>
                <a:latin typeface="微软雅黑" panose="020B0503020204020204" pitchFamily="34" charset="-122"/>
                <a:ea typeface="微软雅黑" panose="020B0503020204020204" pitchFamily="34" charset="-122"/>
              </a:rPr>
              <a:t>铵盐</a:t>
            </a:r>
            <a:endParaRPr lang="zh-CN" altLang="en-US" dirty="0">
              <a:solidFill>
                <a:schemeClr val="tx2">
                  <a:lumMod val="65000"/>
                  <a:lumOff val="35000"/>
                </a:schemeClr>
              </a:solidFill>
              <a:latin typeface="微软雅黑" panose="020B0503020204020204" pitchFamily="34" charset="-122"/>
              <a:ea typeface="微软雅黑" panose="020B0503020204020204" pitchFamily="34" charset="-122"/>
            </a:endParaRPr>
          </a:p>
          <a:p>
            <a:pPr marL="914400" lvl="1" indent="-457200">
              <a:buFont typeface="+mj-lt"/>
              <a:buAutoNum type="arabicPeriod"/>
            </a:pPr>
            <a:r>
              <a:rPr lang="zh-CN" altLang="en-US" sz="2800" dirty="0">
                <a:solidFill>
                  <a:schemeClr val="tx2">
                    <a:lumMod val="65000"/>
                    <a:lumOff val="35000"/>
                  </a:schemeClr>
                </a:solidFill>
                <a:latin typeface="微软雅黑" panose="020B0503020204020204" pitchFamily="34" charset="-122"/>
                <a:ea typeface="微软雅黑" panose="020B0503020204020204" pitchFamily="34" charset="-122"/>
              </a:rPr>
              <a:t>总氮的测量方法</a:t>
            </a:r>
            <a:endParaRPr lang="zh-CN" altLang="en-US" sz="2800" dirty="0">
              <a:solidFill>
                <a:schemeClr val="tx2">
                  <a:lumMod val="65000"/>
                  <a:lumOff val="35000"/>
                </a:schemeClr>
              </a:solidFill>
              <a:latin typeface="微软雅黑" panose="020B0503020204020204" pitchFamily="34" charset="-122"/>
              <a:ea typeface="微软雅黑" panose="020B0503020204020204" pitchFamily="34" charset="-122"/>
            </a:endParaRPr>
          </a:p>
          <a:p>
            <a:pPr marL="914400" lvl="1" indent="-457200">
              <a:buFont typeface="+mj-lt"/>
              <a:buAutoNum type="arabicPeriod"/>
            </a:pPr>
            <a:endParaRPr lang="zh-CN" altLang="en-US" dirty="0"/>
          </a:p>
          <a:p>
            <a:pPr marL="914400" lvl="1" indent="-457200">
              <a:buFont typeface="+mj-lt"/>
              <a:buAutoNum type="arabicPeriod"/>
            </a:pP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D:\课程\课件\课程图片\藻类图片.jpg"/>
          <p:cNvPicPr>
            <a:picLocks noChangeAspect="1" noChangeArrowheads="1"/>
          </p:cNvPicPr>
          <p:nvPr/>
        </p:nvPicPr>
        <p:blipFill>
          <a:blip r:embed="rId1" cstate="print"/>
          <a:srcRect/>
          <a:stretch>
            <a:fillRect/>
          </a:stretch>
        </p:blipFill>
        <p:spPr bwMode="auto">
          <a:xfrm>
            <a:off x="482974" y="2354041"/>
            <a:ext cx="3240360" cy="2976331"/>
          </a:xfrm>
          <a:prstGeom prst="rect">
            <a:avLst/>
          </a:prstGeom>
          <a:noFill/>
        </p:spPr>
      </p:pic>
      <p:sp>
        <p:nvSpPr>
          <p:cNvPr id="2" name="标题 1"/>
          <p:cNvSpPr>
            <a:spLocks noGrp="1"/>
          </p:cNvSpPr>
          <p:nvPr>
            <p:ph type="title"/>
          </p:nvPr>
        </p:nvSpPr>
        <p:spPr>
          <a:xfrm>
            <a:off x="467544" y="0"/>
            <a:ext cx="8153400" cy="836712"/>
          </a:xfrm>
          <a:solidFill>
            <a:schemeClr val="accent1"/>
          </a:solidFill>
        </p:spPr>
        <p:txBody>
          <a:bodyPr>
            <a:normAutofit/>
          </a:bodyPr>
          <a:lstStyle/>
          <a:p>
            <a:r>
              <a:rPr lang="zh-CN" altLang="en-US" sz="4000" b="1" dirty="0">
                <a:solidFill>
                  <a:schemeClr val="bg2"/>
                </a:solidFill>
              </a:rPr>
              <a:t>第六章 海水中氮元素的测定</a:t>
            </a:r>
            <a:endParaRPr lang="zh-CN" altLang="en-US" sz="4000" b="1" dirty="0">
              <a:solidFill>
                <a:schemeClr val="bg2"/>
              </a:solidFill>
            </a:endParaRPr>
          </a:p>
        </p:txBody>
      </p:sp>
      <p:sp>
        <p:nvSpPr>
          <p:cNvPr id="3" name="内容占位符 2"/>
          <p:cNvSpPr>
            <a:spLocks noGrp="1"/>
          </p:cNvSpPr>
          <p:nvPr>
            <p:ph sz="quarter" idx="13"/>
          </p:nvPr>
        </p:nvSpPr>
        <p:spPr>
          <a:xfrm>
            <a:off x="444524" y="1719781"/>
            <a:ext cx="3098304" cy="4368800"/>
          </a:xfrm>
        </p:spPr>
        <p:txBody>
          <a:bodyPr/>
          <a:lstStyle/>
          <a:p>
            <a:r>
              <a:rPr lang="zh-CN" altLang="en-US" dirty="0"/>
              <a:t>营养要素的组成</a:t>
            </a:r>
            <a:endParaRPr lang="en-US" altLang="zh-CN" dirty="0"/>
          </a:p>
          <a:p>
            <a:pPr lvl="1"/>
            <a:r>
              <a:rPr lang="en-US" altLang="zh-CN" dirty="0">
                <a:solidFill>
                  <a:schemeClr val="bg2">
                    <a:lumMod val="90000"/>
                  </a:schemeClr>
                </a:solidFill>
              </a:rPr>
              <a:t>N</a:t>
            </a:r>
            <a:endParaRPr lang="en-US" altLang="zh-CN" dirty="0">
              <a:solidFill>
                <a:schemeClr val="bg2">
                  <a:lumMod val="90000"/>
                </a:schemeClr>
              </a:solidFill>
            </a:endParaRPr>
          </a:p>
          <a:p>
            <a:pPr lvl="1"/>
            <a:r>
              <a:rPr lang="en-US" altLang="zh-CN" dirty="0">
                <a:solidFill>
                  <a:schemeClr val="bg2">
                    <a:lumMod val="90000"/>
                  </a:schemeClr>
                </a:solidFill>
              </a:rPr>
              <a:t>P</a:t>
            </a:r>
            <a:endParaRPr lang="en-US" altLang="zh-CN" dirty="0">
              <a:solidFill>
                <a:schemeClr val="bg2">
                  <a:lumMod val="90000"/>
                </a:schemeClr>
              </a:solidFill>
            </a:endParaRPr>
          </a:p>
          <a:p>
            <a:pPr lvl="1"/>
            <a:r>
              <a:rPr lang="en-US" altLang="zh-CN" dirty="0">
                <a:solidFill>
                  <a:schemeClr val="bg2">
                    <a:lumMod val="90000"/>
                  </a:schemeClr>
                </a:solidFill>
              </a:rPr>
              <a:t>Si</a:t>
            </a:r>
            <a:endParaRPr lang="zh-CN" altLang="en-US" dirty="0">
              <a:solidFill>
                <a:schemeClr val="bg2">
                  <a:lumMod val="90000"/>
                </a:schemeClr>
              </a:solidFill>
            </a:endParaRPr>
          </a:p>
        </p:txBody>
      </p:sp>
      <p:pic>
        <p:nvPicPr>
          <p:cNvPr id="4" name="图片 5" descr="logo.jpg"/>
          <p:cNvPicPr>
            <a:picLocks noChangeAspect="1"/>
          </p:cNvPicPr>
          <p:nvPr/>
        </p:nvPicPr>
        <p:blipFill>
          <a:blip r:embed="rId2" cstate="print"/>
          <a:srcRect l="26245" t="34250" r="32184" b="36349"/>
          <a:stretch>
            <a:fillRect/>
          </a:stretch>
        </p:blipFill>
        <p:spPr bwMode="auto">
          <a:xfrm>
            <a:off x="7668344" y="164637"/>
            <a:ext cx="1197546" cy="1308696"/>
          </a:xfrm>
          <a:prstGeom prst="rect">
            <a:avLst/>
          </a:prstGeom>
          <a:noFill/>
          <a:ln w="9525">
            <a:noFill/>
            <a:miter lim="800000"/>
            <a:headEnd/>
            <a:tailEnd/>
          </a:ln>
        </p:spPr>
      </p:pic>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sp>
        <p:nvSpPr>
          <p:cNvPr id="6" name="内容占位符 2"/>
          <p:cNvSpPr txBox="1"/>
          <p:nvPr/>
        </p:nvSpPr>
        <p:spPr>
          <a:xfrm>
            <a:off x="4427984" y="1796819"/>
            <a:ext cx="3458344" cy="3744416"/>
          </a:xfrm>
          <a:prstGeom prst="rect">
            <a:avLst/>
          </a:prstGeom>
        </p:spPr>
        <p:txBody>
          <a:bodyPr vert="horz">
            <a:normAutofit/>
          </a:bodyPr>
          <a:lstStyle/>
          <a:p>
            <a:pPr marL="640080" lvl="1" indent="-274320">
              <a:spcBef>
                <a:spcPts val="550"/>
              </a:spcBef>
              <a:buClr>
                <a:schemeClr val="accent1"/>
              </a:buClr>
              <a:buSzPct val="70000"/>
            </a:pPr>
            <a:endParaRPr lang="zh-CN" altLang="en-US" sz="2600" dirty="0"/>
          </a:p>
        </p:txBody>
      </p:sp>
      <p:sp>
        <p:nvSpPr>
          <p:cNvPr id="10" name="TextBox 9"/>
          <p:cNvSpPr txBox="1"/>
          <p:nvPr/>
        </p:nvSpPr>
        <p:spPr>
          <a:xfrm>
            <a:off x="1259632" y="836713"/>
            <a:ext cx="5832648" cy="461665"/>
          </a:xfrm>
          <a:prstGeom prst="rect">
            <a:avLst/>
          </a:prstGeom>
          <a:noFill/>
          <a:ln w="15875">
            <a:solidFill>
              <a:schemeClr val="bg2">
                <a:lumMod val="25000"/>
              </a:schemeClr>
            </a:solidFill>
          </a:ln>
        </p:spPr>
        <p:txBody>
          <a:bodyPr wrap="square" rtlCol="0">
            <a:spAutoFit/>
          </a:bodyPr>
          <a:lstStyle/>
          <a:p>
            <a:r>
              <a:rPr lang="zh-CN" altLang="en-US" sz="2400" b="1" dirty="0">
                <a:solidFill>
                  <a:schemeClr val="bg2">
                    <a:lumMod val="25000"/>
                  </a:schemeClr>
                </a:solidFill>
                <a:latin typeface="华文新魏" panose="02010800040101010101" pitchFamily="2" charset="-122"/>
                <a:ea typeface="华文新魏" panose="02010800040101010101" pitchFamily="2" charset="-122"/>
              </a:rPr>
              <a:t>营养要素的组成</a:t>
            </a:r>
            <a:endParaRPr lang="zh-CN" altLang="en-US" sz="24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12" name="内容占位符 2"/>
          <p:cNvSpPr txBox="1"/>
          <p:nvPr/>
        </p:nvSpPr>
        <p:spPr>
          <a:xfrm>
            <a:off x="4036112" y="1719781"/>
            <a:ext cx="4968552" cy="4368800"/>
          </a:xfrm>
          <a:prstGeom prst="rect">
            <a:avLst/>
          </a:prstGeom>
        </p:spPr>
        <p:txBody>
          <a:bodyPr vert="horz">
            <a:normAutofit/>
          </a:bodyPr>
          <a:lstStyle/>
          <a:p>
            <a:pPr marL="640080" marR="0" lvl="1" indent="-274320" algn="l" defTabSz="914400" rtl="0" eaLnBrk="1" fontAlgn="auto" latinLnBrk="0" hangingPunct="1">
              <a:lnSpc>
                <a:spcPct val="100000"/>
              </a:lnSpc>
              <a:spcBef>
                <a:spcPts val="550"/>
              </a:spcBef>
              <a:spcAft>
                <a:spcPts val="0"/>
              </a:spcAft>
              <a:buClr>
                <a:schemeClr val="accent1"/>
              </a:buClr>
              <a:buSzPct val="70000"/>
              <a:buFont typeface="Wingdings 2" panose="05020102010507070707"/>
              <a:buChar char=""/>
              <a:defRPr/>
            </a:pPr>
            <a:r>
              <a:rPr lang="en-US" altLang="zh-CN" sz="2600" dirty="0">
                <a:solidFill>
                  <a:schemeClr val="bg2">
                    <a:lumMod val="25000"/>
                  </a:schemeClr>
                </a:solidFill>
              </a:rPr>
              <a:t>N </a:t>
            </a:r>
            <a:r>
              <a:rPr lang="zh-CN" altLang="en-US" sz="2000" b="1" dirty="0">
                <a:solidFill>
                  <a:schemeClr val="bg2">
                    <a:lumMod val="25000"/>
                  </a:schemeClr>
                </a:solidFill>
              </a:rPr>
              <a:t>海洋中氮的存在价态与形态</a:t>
            </a:r>
            <a:endParaRPr lang="en-US" altLang="zh-CN" sz="2600" b="1" baseline="30000" dirty="0">
              <a:solidFill>
                <a:schemeClr val="bg2">
                  <a:lumMod val="25000"/>
                </a:schemeClr>
              </a:solidFill>
            </a:endParaRPr>
          </a:p>
          <a:p>
            <a:pPr marL="640080" marR="0" lvl="1" indent="-274320" algn="l" defTabSz="914400" rtl="0" eaLnBrk="1" fontAlgn="auto" latinLnBrk="0" hangingPunct="1">
              <a:lnSpc>
                <a:spcPct val="100000"/>
              </a:lnSpc>
              <a:spcBef>
                <a:spcPts val="550"/>
              </a:spcBef>
              <a:spcAft>
                <a:spcPts val="0"/>
              </a:spcAft>
              <a:buClr>
                <a:schemeClr val="accent1"/>
              </a:buClr>
              <a:buSzPct val="70000"/>
              <a:defRPr/>
            </a:pPr>
            <a:endParaRPr kumimoji="0" lang="en-US" altLang="zh-CN" sz="2600" b="0" i="0" u="none" strike="noStrike" kern="1200" cap="none" spc="0" normalizeH="0" baseline="30000" noProof="0" dirty="0">
              <a:ln>
                <a:noFill/>
              </a:ln>
              <a:solidFill>
                <a:schemeClr val="bg2">
                  <a:lumMod val="25000"/>
                </a:schemeClr>
              </a:solidFill>
              <a:effectLst/>
              <a:uLnTx/>
              <a:uFillTx/>
              <a:latin typeface="+mn-lt"/>
              <a:ea typeface="+mn-ea"/>
              <a:cs typeface="+mn-cs"/>
            </a:endParaRPr>
          </a:p>
        </p:txBody>
      </p:sp>
      <p:graphicFrame>
        <p:nvGraphicFramePr>
          <p:cNvPr id="13" name="表格 12"/>
          <p:cNvGraphicFramePr>
            <a:graphicFrameLocks noGrp="1"/>
          </p:cNvGraphicFramePr>
          <p:nvPr/>
        </p:nvGraphicFramePr>
        <p:xfrm>
          <a:off x="3738764" y="2267451"/>
          <a:ext cx="5364087" cy="4590549"/>
        </p:xfrm>
        <a:graphic>
          <a:graphicData uri="http://schemas.openxmlformats.org/drawingml/2006/table">
            <a:tbl>
              <a:tblPr firstRow="1" bandRow="1">
                <a:tableStyleId>{5C22544A-7EE6-4342-B048-85BDC9FD1C3A}</a:tableStyleId>
              </a:tblPr>
              <a:tblGrid>
                <a:gridCol w="699663"/>
                <a:gridCol w="1010626"/>
                <a:gridCol w="1245509"/>
                <a:gridCol w="594340"/>
                <a:gridCol w="1114286"/>
                <a:gridCol w="699663"/>
              </a:tblGrid>
              <a:tr h="712436">
                <a:tc>
                  <a:txBody>
                    <a:bodyPr/>
                    <a:lstStyle/>
                    <a:p>
                      <a:r>
                        <a:rPr lang="zh-CN" altLang="en-US" sz="2000" dirty="0"/>
                        <a:t>价态</a:t>
                      </a:r>
                      <a:endParaRPr lang="zh-CN" altLang="en-US" sz="2000" dirty="0"/>
                    </a:p>
                  </a:txBody>
                  <a:tcPr marT="60960" marB="60960"/>
                </a:tc>
                <a:tc>
                  <a:txBody>
                    <a:bodyPr/>
                    <a:lstStyle/>
                    <a:p>
                      <a:r>
                        <a:rPr lang="zh-CN" altLang="en-US" sz="2000" dirty="0"/>
                        <a:t>分子式</a:t>
                      </a:r>
                      <a:endParaRPr lang="zh-CN" altLang="en-US" sz="2000" dirty="0"/>
                    </a:p>
                  </a:txBody>
                  <a:tcPr marT="60960" marB="60960"/>
                </a:tc>
                <a:tc>
                  <a:txBody>
                    <a:bodyPr/>
                    <a:lstStyle/>
                    <a:p>
                      <a:r>
                        <a:rPr lang="zh-CN" altLang="en-US" sz="2000" dirty="0"/>
                        <a:t>名称</a:t>
                      </a:r>
                      <a:endParaRPr lang="zh-CN" altLang="en-US" sz="2000" dirty="0"/>
                    </a:p>
                  </a:txBody>
                  <a:tcPr marT="60960" marB="60960"/>
                </a:tc>
                <a:tc>
                  <a:txBody>
                    <a:bodyPr/>
                    <a:lstStyle/>
                    <a:p>
                      <a:r>
                        <a:rPr lang="zh-CN" altLang="en-US" sz="2000" dirty="0"/>
                        <a:t>价态</a:t>
                      </a:r>
                      <a:endParaRPr lang="zh-CN" altLang="en-US" sz="2000" dirty="0"/>
                    </a:p>
                  </a:txBody>
                  <a:tcPr marT="60960" marB="60960"/>
                </a:tc>
                <a:tc>
                  <a:txBody>
                    <a:bodyPr/>
                    <a:lstStyle/>
                    <a:p>
                      <a:r>
                        <a:rPr lang="zh-CN" altLang="en-US" sz="2000" dirty="0"/>
                        <a:t>分子式</a:t>
                      </a:r>
                      <a:endParaRPr lang="zh-CN" altLang="en-US" sz="2000" dirty="0"/>
                    </a:p>
                  </a:txBody>
                  <a:tcPr marT="60960" marB="60960"/>
                </a:tc>
                <a:tc>
                  <a:txBody>
                    <a:bodyPr/>
                    <a:lstStyle/>
                    <a:p>
                      <a:r>
                        <a:rPr lang="zh-CN" altLang="en-US" sz="2000" dirty="0"/>
                        <a:t>名称</a:t>
                      </a:r>
                      <a:endParaRPr lang="zh-CN" altLang="en-US" sz="2000" dirty="0"/>
                    </a:p>
                  </a:txBody>
                  <a:tcPr marT="60960" marB="60960"/>
                </a:tc>
              </a:tr>
              <a:tr h="712436">
                <a:tc>
                  <a:txBody>
                    <a:bodyPr/>
                    <a:lstStyle/>
                    <a:p>
                      <a:r>
                        <a:rPr lang="en-US" altLang="zh-CN" sz="2000" dirty="0"/>
                        <a:t>+5</a:t>
                      </a:r>
                      <a:endParaRPr lang="en-US" altLang="zh-CN" sz="2000" dirty="0"/>
                    </a:p>
                  </a:txBody>
                  <a:tcPr marT="60960" marB="60960"/>
                </a:tc>
                <a:tc>
                  <a:txBody>
                    <a:bodyPr/>
                    <a:lstStyle/>
                    <a:p>
                      <a:r>
                        <a:rPr lang="en-US" altLang="zh-CN" sz="2000" dirty="0">
                          <a:solidFill>
                            <a:schemeClr val="bg2">
                              <a:lumMod val="25000"/>
                            </a:schemeClr>
                          </a:solidFill>
                        </a:rPr>
                        <a:t>NO</a:t>
                      </a:r>
                      <a:r>
                        <a:rPr lang="en-US" altLang="zh-CN" sz="2000" baseline="-25000" dirty="0">
                          <a:solidFill>
                            <a:schemeClr val="bg2">
                              <a:lumMod val="25000"/>
                            </a:schemeClr>
                          </a:solidFill>
                        </a:rPr>
                        <a:t>3</a:t>
                      </a:r>
                      <a:r>
                        <a:rPr lang="en-US" altLang="zh-CN" sz="2000" baseline="30000" dirty="0">
                          <a:solidFill>
                            <a:schemeClr val="bg2">
                              <a:lumMod val="25000"/>
                            </a:schemeClr>
                          </a:solidFill>
                        </a:rPr>
                        <a:t>-</a:t>
                      </a:r>
                      <a:endParaRPr lang="zh-CN" altLang="en-US" sz="2000" dirty="0"/>
                    </a:p>
                  </a:txBody>
                  <a:tcPr marT="60960" marB="60960"/>
                </a:tc>
                <a:tc>
                  <a:txBody>
                    <a:bodyPr/>
                    <a:lstStyle/>
                    <a:p>
                      <a:r>
                        <a:rPr lang="zh-CN" altLang="en-US" sz="2000" dirty="0"/>
                        <a:t>硝酸盐</a:t>
                      </a:r>
                      <a:endParaRPr lang="zh-CN" altLang="en-US" sz="2000" dirty="0"/>
                    </a:p>
                  </a:txBody>
                  <a:tcPr marT="60960" marB="60960"/>
                </a:tc>
                <a:tc>
                  <a:txBody>
                    <a:bodyPr/>
                    <a:lstStyle/>
                    <a:p>
                      <a:r>
                        <a:rPr lang="en-US" altLang="zh-CN" sz="2000" dirty="0"/>
                        <a:t>-1</a:t>
                      </a:r>
                      <a:endParaRPr lang="zh-CN" altLang="en-US" sz="2000" dirty="0"/>
                    </a:p>
                  </a:txBody>
                  <a:tcPr marT="60960" marB="60960"/>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000" dirty="0"/>
                        <a:t>NH</a:t>
                      </a:r>
                      <a:r>
                        <a:rPr lang="en-US" altLang="zh-CN" sz="2000" baseline="-25000" dirty="0"/>
                        <a:t>2</a:t>
                      </a:r>
                      <a:r>
                        <a:rPr lang="en-US" altLang="zh-CN" sz="2000" dirty="0"/>
                        <a:t>OH</a:t>
                      </a:r>
                      <a:endParaRPr lang="zh-CN" altLang="en-US" sz="2000" dirty="0"/>
                    </a:p>
                  </a:txBody>
                  <a:tcPr marT="60960" marB="60960"/>
                </a:tc>
                <a:tc>
                  <a:txBody>
                    <a:bodyPr/>
                    <a:lstStyle/>
                    <a:p>
                      <a:r>
                        <a:rPr lang="zh-CN" altLang="en-US" sz="2000" dirty="0"/>
                        <a:t>羟胺</a:t>
                      </a:r>
                      <a:endParaRPr lang="zh-CN" altLang="en-US" sz="2000" dirty="0"/>
                    </a:p>
                  </a:txBody>
                  <a:tcPr marT="60960" marB="60960"/>
                </a:tc>
              </a:tr>
              <a:tr h="712436">
                <a:tc>
                  <a:txBody>
                    <a:bodyPr/>
                    <a:lstStyle/>
                    <a:p>
                      <a:r>
                        <a:rPr lang="en-US" altLang="zh-CN" sz="2000" dirty="0"/>
                        <a:t>+4</a:t>
                      </a:r>
                      <a:endParaRPr lang="zh-CN" altLang="en-US" sz="2000" dirty="0"/>
                    </a:p>
                  </a:txBody>
                  <a:tcPr marT="60960" marB="60960"/>
                </a:tc>
                <a:tc>
                  <a:txBody>
                    <a:bodyPr/>
                    <a:lstStyle/>
                    <a:p>
                      <a:r>
                        <a:rPr lang="en-US" altLang="zh-CN" sz="2000" dirty="0">
                          <a:solidFill>
                            <a:schemeClr val="bg2">
                              <a:lumMod val="25000"/>
                            </a:schemeClr>
                          </a:solidFill>
                        </a:rPr>
                        <a:t>NO</a:t>
                      </a:r>
                      <a:r>
                        <a:rPr lang="en-US" altLang="zh-CN" sz="2000" baseline="-25000" dirty="0">
                          <a:solidFill>
                            <a:schemeClr val="bg2">
                              <a:lumMod val="25000"/>
                            </a:schemeClr>
                          </a:solidFill>
                        </a:rPr>
                        <a:t>2</a:t>
                      </a:r>
                      <a:endParaRPr lang="zh-CN" altLang="en-US" sz="2000" dirty="0"/>
                    </a:p>
                  </a:txBody>
                  <a:tcPr marT="60960" marB="60960"/>
                </a:tc>
                <a:tc>
                  <a:txBody>
                    <a:bodyPr/>
                    <a:lstStyle/>
                    <a:p>
                      <a:r>
                        <a:rPr lang="zh-CN" altLang="en-US" sz="2000" dirty="0"/>
                        <a:t>二氧化氮</a:t>
                      </a:r>
                      <a:endParaRPr lang="zh-CN" altLang="en-US" sz="2000" dirty="0"/>
                    </a:p>
                  </a:txBody>
                  <a:tcPr marT="60960" marB="60960"/>
                </a:tc>
                <a:tc>
                  <a:txBody>
                    <a:bodyPr/>
                    <a:lstStyle/>
                    <a:p>
                      <a:r>
                        <a:rPr lang="en-US" altLang="zh-CN" sz="2000" dirty="0"/>
                        <a:t>-2</a:t>
                      </a:r>
                      <a:endParaRPr lang="zh-CN" altLang="en-US" sz="2000" dirty="0"/>
                    </a:p>
                  </a:txBody>
                  <a:tcPr marT="60960" marB="60960"/>
                </a:tc>
                <a:tc>
                  <a:txBody>
                    <a:bodyPr/>
                    <a:lstStyle/>
                    <a:p>
                      <a:r>
                        <a:rPr lang="en-US" altLang="zh-CN" sz="2000" dirty="0"/>
                        <a:t>N</a:t>
                      </a:r>
                      <a:r>
                        <a:rPr kumimoji="0" lang="en-US" altLang="zh-CN" sz="2000" kern="1200" baseline="-25000" dirty="0">
                          <a:solidFill>
                            <a:schemeClr val="dk1"/>
                          </a:solidFill>
                          <a:latin typeface="+mn-lt"/>
                          <a:ea typeface="+mn-ea"/>
                          <a:cs typeface="+mn-cs"/>
                        </a:rPr>
                        <a:t>2</a:t>
                      </a:r>
                      <a:r>
                        <a:rPr lang="en-US" altLang="zh-CN" sz="2000" dirty="0"/>
                        <a:t>H</a:t>
                      </a:r>
                      <a:r>
                        <a:rPr kumimoji="0" lang="en-US" altLang="zh-CN" sz="2000" kern="1200" baseline="-25000" dirty="0">
                          <a:solidFill>
                            <a:schemeClr val="dk1"/>
                          </a:solidFill>
                          <a:latin typeface="+mn-lt"/>
                          <a:ea typeface="+mn-ea"/>
                          <a:cs typeface="+mn-cs"/>
                        </a:rPr>
                        <a:t>4</a:t>
                      </a:r>
                      <a:endParaRPr kumimoji="0" lang="zh-CN" altLang="en-US" sz="2000" kern="1200" baseline="-25000" dirty="0">
                        <a:solidFill>
                          <a:schemeClr val="dk1"/>
                        </a:solidFill>
                        <a:latin typeface="+mn-lt"/>
                        <a:ea typeface="+mn-ea"/>
                        <a:cs typeface="+mn-cs"/>
                      </a:endParaRPr>
                    </a:p>
                  </a:txBody>
                  <a:tcPr marT="60960" marB="60960"/>
                </a:tc>
                <a:tc>
                  <a:txBody>
                    <a:bodyPr/>
                    <a:lstStyle/>
                    <a:p>
                      <a:r>
                        <a:rPr lang="zh-CN" altLang="en-US" sz="2000" dirty="0"/>
                        <a:t>联氨</a:t>
                      </a:r>
                      <a:endParaRPr lang="zh-CN" altLang="en-US" sz="2000" dirty="0"/>
                    </a:p>
                  </a:txBody>
                  <a:tcPr marT="60960" marB="60960"/>
                </a:tc>
              </a:tr>
              <a:tr h="712436">
                <a:tc>
                  <a:txBody>
                    <a:bodyPr/>
                    <a:lstStyle/>
                    <a:p>
                      <a:r>
                        <a:rPr lang="en-US" altLang="zh-CN" sz="2000" dirty="0"/>
                        <a:t>+3</a:t>
                      </a:r>
                      <a:endParaRPr lang="zh-CN" altLang="en-US" sz="2000" dirty="0"/>
                    </a:p>
                  </a:txBody>
                  <a:tcPr marT="60960" marB="60960"/>
                </a:tc>
                <a:tc>
                  <a:txBody>
                    <a:bodyPr/>
                    <a:lstStyle/>
                    <a:p>
                      <a:r>
                        <a:rPr lang="en-US" altLang="zh-CN" sz="2000" dirty="0">
                          <a:solidFill>
                            <a:schemeClr val="bg2">
                              <a:lumMod val="25000"/>
                            </a:schemeClr>
                          </a:solidFill>
                        </a:rPr>
                        <a:t>NO</a:t>
                      </a:r>
                      <a:r>
                        <a:rPr lang="en-US" altLang="zh-CN" sz="2000" baseline="-25000" dirty="0">
                          <a:solidFill>
                            <a:schemeClr val="bg2">
                              <a:lumMod val="25000"/>
                            </a:schemeClr>
                          </a:solidFill>
                        </a:rPr>
                        <a:t>2</a:t>
                      </a:r>
                      <a:r>
                        <a:rPr lang="en-US" altLang="zh-CN" sz="2000" baseline="30000" dirty="0">
                          <a:solidFill>
                            <a:schemeClr val="bg2">
                              <a:lumMod val="25000"/>
                            </a:schemeClr>
                          </a:solidFill>
                        </a:rPr>
                        <a:t>-</a:t>
                      </a:r>
                      <a:endParaRPr lang="zh-CN" altLang="en-US" sz="2000" dirty="0"/>
                    </a:p>
                  </a:txBody>
                  <a:tcPr marT="60960" marB="60960"/>
                </a:tc>
                <a:tc>
                  <a:txBody>
                    <a:bodyPr/>
                    <a:lstStyle/>
                    <a:p>
                      <a:r>
                        <a:rPr lang="zh-CN" altLang="en-US" sz="2000" dirty="0"/>
                        <a:t>亚硝酸盐</a:t>
                      </a:r>
                      <a:endParaRPr lang="zh-CN" altLang="en-US" sz="2000" dirty="0"/>
                    </a:p>
                  </a:txBody>
                  <a:tcPr marT="60960" marB="60960"/>
                </a:tc>
                <a:tc rowSpan="4">
                  <a:txBody>
                    <a:bodyPr/>
                    <a:lstStyle/>
                    <a:p>
                      <a:r>
                        <a:rPr lang="en-US" altLang="zh-CN" sz="2000" dirty="0"/>
                        <a:t>-3</a:t>
                      </a:r>
                      <a:endParaRPr lang="zh-CN" altLang="en-US" sz="2000" dirty="0"/>
                    </a:p>
                  </a:txBody>
                  <a:tcPr marT="60960" marB="60960"/>
                </a:tc>
                <a:tc>
                  <a:txBody>
                    <a:bodyPr/>
                    <a:lstStyle/>
                    <a:p>
                      <a:r>
                        <a:rPr lang="en-US" altLang="zh-CN" sz="2000" dirty="0"/>
                        <a:t>NH</a:t>
                      </a:r>
                      <a:r>
                        <a:rPr kumimoji="0" lang="en-US" altLang="zh-CN" sz="2000" kern="1200" baseline="-25000" dirty="0">
                          <a:solidFill>
                            <a:schemeClr val="dk1"/>
                          </a:solidFill>
                          <a:latin typeface="+mn-lt"/>
                          <a:ea typeface="+mn-ea"/>
                          <a:cs typeface="+mn-cs"/>
                        </a:rPr>
                        <a:t>3</a:t>
                      </a:r>
                      <a:endParaRPr kumimoji="0" lang="zh-CN" altLang="en-US" sz="2000" kern="1200" baseline="-25000" dirty="0">
                        <a:solidFill>
                          <a:schemeClr val="dk1"/>
                        </a:solidFill>
                        <a:latin typeface="+mn-lt"/>
                        <a:ea typeface="+mn-ea"/>
                        <a:cs typeface="+mn-cs"/>
                      </a:endParaRPr>
                    </a:p>
                  </a:txBody>
                  <a:tcPr marT="60960" marB="60960"/>
                </a:tc>
                <a:tc>
                  <a:txBody>
                    <a:bodyPr/>
                    <a:lstStyle/>
                    <a:p>
                      <a:r>
                        <a:rPr lang="zh-CN" altLang="en-US" sz="2000" dirty="0"/>
                        <a:t>氨气</a:t>
                      </a:r>
                      <a:endParaRPr lang="zh-CN" altLang="en-US" sz="2000" dirty="0"/>
                    </a:p>
                  </a:txBody>
                  <a:tcPr marT="60960" marB="60960"/>
                </a:tc>
              </a:tr>
              <a:tr h="712436">
                <a:tc>
                  <a:txBody>
                    <a:bodyPr/>
                    <a:lstStyle/>
                    <a:p>
                      <a:r>
                        <a:rPr lang="en-US" altLang="zh-CN" sz="2000" dirty="0"/>
                        <a:t>+2</a:t>
                      </a:r>
                      <a:endParaRPr lang="zh-CN" altLang="en-US" sz="2000" dirty="0"/>
                    </a:p>
                  </a:txBody>
                  <a:tcPr marT="60960" marB="60960"/>
                </a:tc>
                <a:tc>
                  <a:txBody>
                    <a:bodyPr/>
                    <a:lstStyle/>
                    <a:p>
                      <a:r>
                        <a:rPr lang="en-US" altLang="zh-CN" sz="2000" dirty="0"/>
                        <a:t>NO</a:t>
                      </a:r>
                      <a:endParaRPr lang="zh-CN" altLang="en-US" sz="2000" dirty="0"/>
                    </a:p>
                  </a:txBody>
                  <a:tcPr marT="60960" marB="60960"/>
                </a:tc>
                <a:tc>
                  <a:txBody>
                    <a:bodyPr/>
                    <a:lstStyle/>
                    <a:p>
                      <a:r>
                        <a:rPr lang="zh-CN" altLang="en-US" sz="2000" dirty="0"/>
                        <a:t>一氧化氮</a:t>
                      </a:r>
                      <a:endParaRPr lang="zh-CN" altLang="en-US" sz="2000" dirty="0"/>
                    </a:p>
                  </a:txBody>
                  <a:tcPr marT="60960" marB="60960"/>
                </a:tc>
                <a:tc vMerge="1">
                  <a:tcPr/>
                </a:tc>
                <a:tc>
                  <a:txBody>
                    <a:bodyPr/>
                    <a:lstStyle/>
                    <a:p>
                      <a:r>
                        <a:rPr lang="en-US" altLang="zh-CN" sz="2000" dirty="0">
                          <a:solidFill>
                            <a:schemeClr val="bg2">
                              <a:lumMod val="25000"/>
                            </a:schemeClr>
                          </a:solidFill>
                        </a:rPr>
                        <a:t>NH</a:t>
                      </a:r>
                      <a:r>
                        <a:rPr lang="en-US" altLang="zh-CN" sz="2000" baseline="-25000" dirty="0">
                          <a:solidFill>
                            <a:schemeClr val="bg2">
                              <a:lumMod val="25000"/>
                            </a:schemeClr>
                          </a:solidFill>
                        </a:rPr>
                        <a:t>4</a:t>
                      </a:r>
                      <a:r>
                        <a:rPr lang="en-US" altLang="zh-CN" sz="2000" baseline="30000" dirty="0">
                          <a:solidFill>
                            <a:schemeClr val="bg2">
                              <a:lumMod val="25000"/>
                            </a:schemeClr>
                          </a:solidFill>
                        </a:rPr>
                        <a:t>+</a:t>
                      </a:r>
                      <a:endParaRPr lang="zh-CN" altLang="en-US" sz="2000" dirty="0"/>
                    </a:p>
                  </a:txBody>
                  <a:tcPr marT="60960" marB="60960"/>
                </a:tc>
                <a:tc>
                  <a:txBody>
                    <a:bodyPr/>
                    <a:lstStyle/>
                    <a:p>
                      <a:r>
                        <a:rPr lang="zh-CN" altLang="en-US" sz="2000" dirty="0"/>
                        <a:t>铵盐</a:t>
                      </a:r>
                      <a:endParaRPr lang="zh-CN" altLang="en-US" sz="2000" dirty="0"/>
                    </a:p>
                  </a:txBody>
                  <a:tcPr marT="60960" marB="60960"/>
                </a:tc>
              </a:tr>
              <a:tr h="435378">
                <a:tc>
                  <a:txBody>
                    <a:bodyPr/>
                    <a:lstStyle/>
                    <a:p>
                      <a:r>
                        <a:rPr lang="en-US" altLang="zh-CN" sz="2000" dirty="0"/>
                        <a:t>+1</a:t>
                      </a:r>
                      <a:endParaRPr lang="zh-CN" altLang="en-US" sz="2000" dirty="0"/>
                    </a:p>
                  </a:txBody>
                  <a:tcPr marT="60960" marB="60960"/>
                </a:tc>
                <a:tc>
                  <a:txBody>
                    <a:bodyPr/>
                    <a:lstStyle/>
                    <a:p>
                      <a:r>
                        <a:rPr lang="en-US" altLang="zh-CN" sz="2000" dirty="0"/>
                        <a:t>N</a:t>
                      </a:r>
                      <a:r>
                        <a:rPr lang="en-US" altLang="zh-CN" sz="2000" baseline="-25000" dirty="0"/>
                        <a:t>2</a:t>
                      </a:r>
                      <a:r>
                        <a:rPr lang="en-US" altLang="zh-CN" sz="2000" dirty="0"/>
                        <a:t>O</a:t>
                      </a:r>
                      <a:endParaRPr lang="zh-CN" altLang="en-US" sz="2000" dirty="0"/>
                    </a:p>
                  </a:txBody>
                  <a:tcPr marT="60960" marB="60960"/>
                </a:tc>
                <a:tc>
                  <a:txBody>
                    <a:bodyPr/>
                    <a:lstStyle/>
                    <a:p>
                      <a:r>
                        <a:rPr lang="zh-CN" altLang="en-US" sz="2000" dirty="0"/>
                        <a:t>氧化亚氮</a:t>
                      </a:r>
                      <a:endParaRPr lang="zh-CN" altLang="en-US" sz="2000" dirty="0"/>
                    </a:p>
                  </a:txBody>
                  <a:tcPr marT="60960" marB="60960"/>
                </a:tc>
                <a:tc vMerge="1">
                  <a:tcPr/>
                </a:tc>
                <a:tc rowSpan="2">
                  <a:txBody>
                    <a:bodyPr/>
                    <a:lstStyle/>
                    <a:p>
                      <a:r>
                        <a:rPr lang="en-US" altLang="zh-CN" sz="2000" dirty="0"/>
                        <a:t>RNH</a:t>
                      </a:r>
                      <a:r>
                        <a:rPr kumimoji="0" lang="en-US" altLang="zh-CN" sz="2000" kern="1200" baseline="-25000" dirty="0">
                          <a:solidFill>
                            <a:schemeClr val="dk1"/>
                          </a:solidFill>
                          <a:latin typeface="+mn-lt"/>
                          <a:ea typeface="+mn-ea"/>
                          <a:cs typeface="+mn-cs"/>
                        </a:rPr>
                        <a:t>2</a:t>
                      </a:r>
                      <a:endParaRPr kumimoji="0" lang="zh-CN" altLang="en-US" sz="2000" kern="1200" baseline="-25000" dirty="0">
                        <a:solidFill>
                          <a:schemeClr val="dk1"/>
                        </a:solidFill>
                        <a:latin typeface="+mn-lt"/>
                        <a:ea typeface="+mn-ea"/>
                        <a:cs typeface="+mn-cs"/>
                      </a:endParaRPr>
                    </a:p>
                  </a:txBody>
                  <a:tcPr marT="60960" marB="60960"/>
                </a:tc>
                <a:tc rowSpan="2">
                  <a:txBody>
                    <a:bodyPr/>
                    <a:lstStyle/>
                    <a:p>
                      <a:r>
                        <a:rPr lang="zh-CN" altLang="en-US" sz="2000" dirty="0"/>
                        <a:t>有机胺</a:t>
                      </a:r>
                      <a:endParaRPr lang="zh-CN" altLang="en-US" sz="2000" dirty="0"/>
                    </a:p>
                  </a:txBody>
                  <a:tcPr marT="60960" marB="60960"/>
                </a:tc>
              </a:tr>
              <a:tr h="573907">
                <a:tc>
                  <a:txBody>
                    <a:bodyPr/>
                    <a:lstStyle/>
                    <a:p>
                      <a:r>
                        <a:rPr lang="en-US" altLang="zh-CN" sz="2000" dirty="0"/>
                        <a:t>0</a:t>
                      </a:r>
                      <a:endParaRPr lang="zh-CN" altLang="en-US" sz="2000" dirty="0"/>
                    </a:p>
                  </a:txBody>
                  <a:tcPr marT="60960" marB="60960"/>
                </a:tc>
                <a:tc>
                  <a:txBody>
                    <a:bodyPr/>
                    <a:lstStyle/>
                    <a:p>
                      <a:r>
                        <a:rPr lang="en-US" altLang="zh-CN" sz="2000" dirty="0"/>
                        <a:t>N</a:t>
                      </a:r>
                      <a:r>
                        <a:rPr kumimoji="0" lang="en-US" altLang="zh-CN" sz="2000" kern="1200" baseline="-25000" dirty="0">
                          <a:solidFill>
                            <a:schemeClr val="dk1"/>
                          </a:solidFill>
                          <a:latin typeface="+mn-lt"/>
                          <a:ea typeface="+mn-ea"/>
                          <a:cs typeface="+mn-cs"/>
                        </a:rPr>
                        <a:t>2</a:t>
                      </a:r>
                      <a:endParaRPr kumimoji="0" lang="zh-CN" altLang="en-US" sz="2000" kern="1200" baseline="-25000" dirty="0">
                        <a:solidFill>
                          <a:schemeClr val="dk1"/>
                        </a:solidFill>
                        <a:latin typeface="+mn-lt"/>
                        <a:ea typeface="+mn-ea"/>
                        <a:cs typeface="+mn-cs"/>
                      </a:endParaRPr>
                    </a:p>
                  </a:txBody>
                  <a:tcPr marT="60960" marB="60960"/>
                </a:tc>
                <a:tc>
                  <a:txBody>
                    <a:bodyPr/>
                    <a:lstStyle/>
                    <a:p>
                      <a:r>
                        <a:rPr lang="zh-CN" altLang="en-US" sz="2000" dirty="0"/>
                        <a:t>氮气</a:t>
                      </a:r>
                      <a:endParaRPr lang="zh-CN" altLang="en-US" sz="2000" dirty="0"/>
                    </a:p>
                  </a:txBody>
                  <a:tcPr marT="60960" marB="60960"/>
                </a:tc>
                <a:tc vMerge="1">
                  <a:tcPr/>
                </a:tc>
                <a:tc vMerge="1">
                  <a:tcPr/>
                </a:tc>
                <a:tc vMerge="1">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153400"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第六章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596336" y="164637"/>
            <a:ext cx="1269554" cy="1308696"/>
          </a:xfrm>
          <a:prstGeom prst="rect">
            <a:avLst/>
          </a:prstGeom>
          <a:noFill/>
          <a:ln w="9525">
            <a:noFill/>
            <a:miter lim="800000"/>
            <a:headEnd/>
            <a:tailEnd/>
          </a:ln>
        </p:spPr>
      </p:pic>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sp>
        <p:nvSpPr>
          <p:cNvPr id="6" name="TextBox 5"/>
          <p:cNvSpPr txBox="1"/>
          <p:nvPr/>
        </p:nvSpPr>
        <p:spPr>
          <a:xfrm>
            <a:off x="1259632" y="836713"/>
            <a:ext cx="5832648" cy="461665"/>
          </a:xfrm>
          <a:prstGeom prst="rect">
            <a:avLst/>
          </a:prstGeom>
          <a:noFill/>
          <a:ln w="15875">
            <a:solidFill>
              <a:schemeClr val="bg2">
                <a:lumMod val="25000"/>
              </a:schemeClr>
            </a:solidFill>
          </a:ln>
        </p:spPr>
        <p:txBody>
          <a:bodyPr wrap="square" rtlCol="0">
            <a:spAutoFit/>
          </a:bodyPr>
          <a:lstStyle/>
          <a:p>
            <a:r>
              <a:rPr lang="zh-CN" altLang="en-US" sz="2400" b="1" dirty="0">
                <a:solidFill>
                  <a:schemeClr val="bg2">
                    <a:lumMod val="25000"/>
                  </a:schemeClr>
                </a:solidFill>
                <a:latin typeface="华文新魏" panose="02010800040101010101" pitchFamily="2" charset="-122"/>
                <a:ea typeface="华文新魏" panose="02010800040101010101" pitchFamily="2" charset="-122"/>
              </a:rPr>
              <a:t>测量营养要素的意义</a:t>
            </a:r>
            <a:endParaRPr lang="zh-CN" altLang="en-US" sz="24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8" name="内容占位符 7"/>
          <p:cNvSpPr>
            <a:spLocks noGrp="1"/>
          </p:cNvSpPr>
          <p:nvPr>
            <p:ph sz="quarter" idx="13"/>
          </p:nvPr>
        </p:nvSpPr>
        <p:spPr>
          <a:xfrm>
            <a:off x="609600" y="1803400"/>
            <a:ext cx="5618584" cy="2489696"/>
          </a:xfrm>
        </p:spPr>
        <p:txBody>
          <a:bodyPr/>
          <a:lstStyle/>
          <a:p>
            <a:endParaRPr lang="zh-CN" altLang="en-US" dirty="0"/>
          </a:p>
        </p:txBody>
      </p:sp>
      <p:pic>
        <p:nvPicPr>
          <p:cNvPr id="9" name="Picture 20" descr="图5-1-1"/>
          <p:cNvPicPr>
            <a:picLocks noChangeAspect="1" noChangeArrowheads="1"/>
          </p:cNvPicPr>
          <p:nvPr/>
        </p:nvPicPr>
        <p:blipFill>
          <a:blip r:embed="rId2" cstate="print"/>
          <a:srcRect/>
          <a:stretch>
            <a:fillRect/>
          </a:stretch>
        </p:blipFill>
        <p:spPr bwMode="auto">
          <a:xfrm>
            <a:off x="611188" y="1700807"/>
            <a:ext cx="5405448" cy="5012732"/>
          </a:xfrm>
          <a:prstGeom prst="rect">
            <a:avLst/>
          </a:prstGeom>
          <a:noFill/>
          <a:ln w="9525">
            <a:noFill/>
            <a:miter lim="800000"/>
            <a:headEnd/>
            <a:tailEnd/>
          </a:ln>
        </p:spPr>
      </p:pic>
      <p:sp>
        <p:nvSpPr>
          <p:cNvPr id="10" name="Text Box 4"/>
          <p:cNvSpPr txBox="1">
            <a:spLocks noChangeArrowheads="1"/>
          </p:cNvSpPr>
          <p:nvPr/>
        </p:nvSpPr>
        <p:spPr bwMode="auto">
          <a:xfrm>
            <a:off x="6191672" y="2564904"/>
            <a:ext cx="2556792" cy="3001912"/>
          </a:xfrm>
          <a:prstGeom prst="rect">
            <a:avLst/>
          </a:prstGeom>
          <a:noFill/>
          <a:ln w="9525">
            <a:noFill/>
            <a:miter lim="800000"/>
          </a:ln>
        </p:spPr>
        <p:txBody>
          <a:bodyPr wrap="square" lIns="18000" tIns="36000" rIns="18000" bIns="10800">
            <a:spAutoFit/>
          </a:bodyPr>
          <a:lstStyle/>
          <a:p>
            <a:pPr>
              <a:lnSpc>
                <a:spcPct val="150000"/>
              </a:lnSpc>
              <a:spcBef>
                <a:spcPct val="0"/>
              </a:spcBef>
              <a:buClr>
                <a:schemeClr val="tx1"/>
              </a:buClr>
              <a:buFont typeface="Arial" panose="020B0604020202020204" pitchFamily="34" charset="0"/>
              <a:buChar char="•"/>
            </a:pPr>
            <a:r>
              <a:rPr lang="zh-CN" altLang="en-US" sz="2000" dirty="0">
                <a:latin typeface="Times New Roman" panose="02020603050405020304" pitchFamily="18" charset="0"/>
                <a:ea typeface="黑体" panose="02010609060101010101" charset="-122"/>
                <a:cs typeface="Times New Roman" panose="02020603050405020304" pitchFamily="18" charset="0"/>
              </a:rPr>
              <a:t>含量与分布不均匀，存在明显的季节与区域变化</a:t>
            </a:r>
            <a:endParaRPr lang="en-US" altLang="zh-CN" sz="2000" dirty="0">
              <a:latin typeface="Times New Roman" panose="02020603050405020304" pitchFamily="18" charset="0"/>
              <a:ea typeface="黑体" panose="02010609060101010101" charset="-122"/>
              <a:cs typeface="Times New Roman" panose="02020603050405020304" pitchFamily="18" charset="0"/>
            </a:endParaRPr>
          </a:p>
          <a:p>
            <a:pPr>
              <a:lnSpc>
                <a:spcPct val="150000"/>
              </a:lnSpc>
              <a:spcBef>
                <a:spcPct val="0"/>
              </a:spcBef>
              <a:buClr>
                <a:schemeClr val="tx1"/>
              </a:buClr>
              <a:buFont typeface="Arial" panose="020B0604020202020204" pitchFamily="34" charset="0"/>
              <a:buChar char="•"/>
            </a:pPr>
            <a:r>
              <a:rPr lang="zh-CN" altLang="en-US" sz="2000" dirty="0">
                <a:latin typeface="Times New Roman" panose="02020603050405020304" pitchFamily="18" charset="0"/>
                <a:ea typeface="黑体" panose="02010609060101010101" charset="-122"/>
                <a:cs typeface="Times New Roman" panose="02020603050405020304" pitchFamily="18" charset="0"/>
              </a:rPr>
              <a:t>生物体重要组成元素</a:t>
            </a:r>
            <a:endParaRPr lang="zh-CN" altLang="en-US" sz="2000" dirty="0">
              <a:latin typeface="Times New Roman" panose="02020603050405020304" pitchFamily="18" charset="0"/>
              <a:ea typeface="黑体" panose="02010609060101010101" charset="-122"/>
              <a:cs typeface="Times New Roman" panose="02020603050405020304" pitchFamily="18" charset="0"/>
            </a:endParaRPr>
          </a:p>
          <a:p>
            <a:pPr>
              <a:lnSpc>
                <a:spcPct val="150000"/>
              </a:lnSpc>
              <a:spcBef>
                <a:spcPct val="0"/>
              </a:spcBef>
              <a:buClr>
                <a:schemeClr val="tx1"/>
              </a:buClr>
              <a:buFont typeface="Arial" panose="020B0604020202020204" pitchFamily="34" charset="0"/>
              <a:buChar char="•"/>
            </a:pPr>
            <a:endParaRPr lang="en-US" altLang="zh-CN" sz="2000" dirty="0">
              <a:latin typeface="Times New Roman" panose="02020603050405020304" pitchFamily="18" charset="0"/>
              <a:ea typeface="黑体" panose="02010609060101010101" charset="-122"/>
              <a:cs typeface="Times New Roman" panose="02020603050405020304" pitchFamily="18" charset="0"/>
            </a:endParaRPr>
          </a:p>
          <a:p>
            <a:pPr>
              <a:lnSpc>
                <a:spcPct val="150000"/>
              </a:lnSpc>
              <a:spcBef>
                <a:spcPct val="0"/>
              </a:spcBef>
              <a:buClr>
                <a:schemeClr val="tx1"/>
              </a:buClr>
              <a:buFont typeface="Wingdings" panose="05000000000000000000" pitchFamily="2" charset="2"/>
              <a:buNone/>
            </a:pPr>
            <a:endParaRPr lang="zh-CN" altLang="en-US" sz="2800" dirty="0">
              <a:latin typeface="Times New Roman" panose="02020603050405020304" pitchFamily="18" charset="0"/>
              <a:ea typeface="黑体" panose="02010609060101010101" charset="-122"/>
              <a:cs typeface="Times New Roman" panose="02020603050405020304" pitchFamily="18" charset="0"/>
            </a:endParaRPr>
          </a:p>
        </p:txBody>
      </p:sp>
      <p:sp>
        <p:nvSpPr>
          <p:cNvPr id="11" name="矩形 10"/>
          <p:cNvSpPr/>
          <p:nvPr/>
        </p:nvSpPr>
        <p:spPr>
          <a:xfrm>
            <a:off x="107504" y="1892829"/>
            <a:ext cx="504056" cy="1477328"/>
          </a:xfrm>
          <a:prstGeom prst="rect">
            <a:avLst/>
          </a:prstGeom>
        </p:spPr>
        <p:txBody>
          <a:bodyPr wrap="square">
            <a:spAutoFit/>
          </a:bodyPr>
          <a:lstStyle/>
          <a:p>
            <a:r>
              <a:rPr lang="zh-CN" altLang="en-US"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营养盐循环</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153400"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第六章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596336" y="164637"/>
            <a:ext cx="1269554" cy="1308696"/>
          </a:xfrm>
          <a:prstGeom prst="rect">
            <a:avLst/>
          </a:prstGeom>
          <a:noFill/>
          <a:ln w="9525">
            <a:noFill/>
            <a:miter lim="800000"/>
            <a:headEnd/>
            <a:tailEnd/>
          </a:ln>
        </p:spPr>
      </p:pic>
      <p:sp>
        <p:nvSpPr>
          <p:cNvPr id="6" name="TextBox 5"/>
          <p:cNvSpPr txBox="1"/>
          <p:nvPr/>
        </p:nvSpPr>
        <p:spPr>
          <a:xfrm>
            <a:off x="1259632" y="836713"/>
            <a:ext cx="5832648" cy="461665"/>
          </a:xfrm>
          <a:prstGeom prst="rect">
            <a:avLst/>
          </a:prstGeom>
          <a:noFill/>
          <a:ln w="15875">
            <a:solidFill>
              <a:schemeClr val="bg2">
                <a:lumMod val="25000"/>
              </a:schemeClr>
            </a:solidFill>
          </a:ln>
        </p:spPr>
        <p:txBody>
          <a:bodyPr wrap="square" rtlCol="0">
            <a:spAutoFit/>
          </a:bodyPr>
          <a:lstStyle/>
          <a:p>
            <a:r>
              <a:rPr lang="zh-CN" altLang="en-US" sz="2400" b="1" dirty="0">
                <a:solidFill>
                  <a:schemeClr val="bg2">
                    <a:lumMod val="25000"/>
                  </a:schemeClr>
                </a:solidFill>
                <a:latin typeface="华文新魏" panose="02010800040101010101" pitchFamily="2" charset="-122"/>
                <a:ea typeface="华文新魏" panose="02010800040101010101" pitchFamily="2" charset="-122"/>
              </a:rPr>
              <a:t>测量氮元素的意义</a:t>
            </a:r>
            <a:endParaRPr lang="zh-CN" altLang="en-US" sz="24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sp>
        <p:nvSpPr>
          <p:cNvPr id="8" name="内容占位符 7"/>
          <p:cNvSpPr>
            <a:spLocks noGrp="1"/>
          </p:cNvSpPr>
          <p:nvPr>
            <p:ph sz="quarter" idx="13"/>
          </p:nvPr>
        </p:nvSpPr>
        <p:spPr>
          <a:xfrm>
            <a:off x="539552" y="1988840"/>
            <a:ext cx="6914728" cy="4224469"/>
          </a:xfrm>
        </p:spPr>
        <p:txBody>
          <a:bodyPr>
            <a:normAutofit/>
          </a:bodyPr>
          <a:lstStyle/>
          <a:p>
            <a:r>
              <a:rPr lang="zh-CN" altLang="en-US" sz="2800" dirty="0"/>
              <a:t>海洋氮储库的变化可能是导致海洋生物生产力和大气</a:t>
            </a:r>
            <a:r>
              <a:rPr lang="en-US" altLang="zh-CN" sz="2800" dirty="0"/>
              <a:t>CO</a:t>
            </a:r>
            <a:r>
              <a:rPr lang="en-US" altLang="zh-CN" sz="2800" baseline="-25000" dirty="0"/>
              <a:t>2</a:t>
            </a:r>
            <a:r>
              <a:rPr lang="zh-CN" altLang="en-US" sz="2800" dirty="0"/>
              <a:t>浓度变化的重要原因</a:t>
            </a:r>
            <a:endParaRPr lang="en-US" altLang="zh-CN" sz="2800" dirty="0"/>
          </a:p>
          <a:p>
            <a:endParaRPr lang="en-US" altLang="zh-CN" sz="2800" dirty="0"/>
          </a:p>
          <a:p>
            <a:r>
              <a:rPr lang="zh-CN" altLang="en-US" sz="2800" dirty="0"/>
              <a:t>深入了解氮的生物地球化学循环，对于阐释海洋生态系统的功能，全球气候变化具有重要意义。</a:t>
            </a:r>
            <a:endParaRPr lang="zh-CN" altLang="en-US" sz="2800" dirty="0"/>
          </a:p>
        </p:txBody>
      </p:sp>
      <p:sp>
        <p:nvSpPr>
          <p:cNvPr id="9" name="下箭头 8"/>
          <p:cNvSpPr/>
          <p:nvPr/>
        </p:nvSpPr>
        <p:spPr>
          <a:xfrm>
            <a:off x="3419872" y="2996952"/>
            <a:ext cx="576064" cy="50405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153400"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第六章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596336" y="164637"/>
            <a:ext cx="1269554" cy="1308696"/>
          </a:xfrm>
          <a:prstGeom prst="rect">
            <a:avLst/>
          </a:prstGeom>
          <a:noFill/>
          <a:ln w="9525">
            <a:noFill/>
            <a:miter lim="800000"/>
            <a:headEnd/>
            <a:tailEnd/>
          </a:ln>
        </p:spPr>
      </p:pic>
      <p:sp>
        <p:nvSpPr>
          <p:cNvPr id="6" name="TextBox 5"/>
          <p:cNvSpPr txBox="1"/>
          <p:nvPr/>
        </p:nvSpPr>
        <p:spPr>
          <a:xfrm>
            <a:off x="1259632" y="836713"/>
            <a:ext cx="5832648" cy="461665"/>
          </a:xfrm>
          <a:prstGeom prst="rect">
            <a:avLst/>
          </a:prstGeom>
          <a:noFill/>
          <a:ln w="15875">
            <a:solidFill>
              <a:schemeClr val="bg2">
                <a:lumMod val="25000"/>
              </a:schemeClr>
            </a:solidFill>
          </a:ln>
        </p:spPr>
        <p:txBody>
          <a:bodyPr wrap="square" rtlCol="0">
            <a:spAutoFit/>
          </a:bodyPr>
          <a:lstStyle/>
          <a:p>
            <a:r>
              <a:rPr lang="zh-CN" altLang="en-US" sz="2400" b="1" dirty="0">
                <a:solidFill>
                  <a:schemeClr val="bg2">
                    <a:lumMod val="25000"/>
                  </a:schemeClr>
                </a:solidFill>
                <a:latin typeface="华文新魏" panose="02010800040101010101" pitchFamily="2" charset="-122"/>
                <a:ea typeface="华文新魏" panose="02010800040101010101" pitchFamily="2" charset="-122"/>
              </a:rPr>
              <a:t>氮元素测定对研究海洋氮循环的意义</a:t>
            </a:r>
            <a:endParaRPr lang="zh-CN" altLang="en-US" sz="24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pic>
        <p:nvPicPr>
          <p:cNvPr id="12" name="Picture 39" descr="图5-2-5"/>
          <p:cNvPicPr>
            <a:picLocks noChangeAspect="1" noChangeArrowheads="1"/>
          </p:cNvPicPr>
          <p:nvPr/>
        </p:nvPicPr>
        <p:blipFill>
          <a:blip r:embed="rId2" cstate="print"/>
          <a:srcRect/>
          <a:stretch>
            <a:fillRect/>
          </a:stretch>
        </p:blipFill>
        <p:spPr bwMode="auto">
          <a:xfrm>
            <a:off x="0" y="1700808"/>
            <a:ext cx="5975350" cy="5157192"/>
          </a:xfrm>
          <a:prstGeom prst="rect">
            <a:avLst/>
          </a:prstGeom>
          <a:noFill/>
          <a:ln w="9525">
            <a:solidFill>
              <a:schemeClr val="bg1">
                <a:lumMod val="50000"/>
              </a:schemeClr>
            </a:solidFill>
            <a:miter lim="800000"/>
            <a:headEnd/>
            <a:tailEnd/>
          </a:ln>
        </p:spPr>
      </p:pic>
      <p:sp>
        <p:nvSpPr>
          <p:cNvPr id="13" name="Text Box 5"/>
          <p:cNvSpPr txBox="1">
            <a:spLocks noChangeArrowheads="1"/>
          </p:cNvSpPr>
          <p:nvPr/>
        </p:nvSpPr>
        <p:spPr bwMode="auto">
          <a:xfrm>
            <a:off x="6082408" y="2180862"/>
            <a:ext cx="3061593" cy="2308324"/>
          </a:xfrm>
          <a:prstGeom prst="rect">
            <a:avLst/>
          </a:prstGeom>
          <a:noFill/>
          <a:ln w="9525">
            <a:noFill/>
            <a:miter lim="800000"/>
          </a:ln>
        </p:spPr>
        <p:txBody>
          <a:bodyPr wrap="square">
            <a:spAutoFit/>
          </a:bodyPr>
          <a:lstStyle/>
          <a:p>
            <a:pPr marL="466725" indent="-466725">
              <a:lnSpc>
                <a:spcPct val="150000"/>
              </a:lnSpc>
              <a:spcBef>
                <a:spcPts val="0"/>
              </a:spcBef>
              <a:buFontTx/>
              <a:buNone/>
            </a:pPr>
            <a:r>
              <a:rPr lang="en-US" altLang="zh-CN" sz="2400" dirty="0">
                <a:latin typeface="Times New Roman" panose="02020603050405020304" pitchFamily="18" charset="0"/>
                <a:ea typeface="黑体" panose="02010609060101010101" charset="-122"/>
                <a:cs typeface="Times New Roman" panose="02020603050405020304" pitchFamily="18" charset="0"/>
              </a:rPr>
              <a:t>1</a:t>
            </a:r>
            <a:r>
              <a:rPr lang="zh-CN" altLang="en-US" sz="2400" dirty="0">
                <a:latin typeface="Times New Roman" panose="02020603050405020304" pitchFamily="18" charset="0"/>
                <a:ea typeface="黑体" panose="02010609060101010101" charset="-122"/>
                <a:cs typeface="Times New Roman" panose="02020603050405020304" pitchFamily="18" charset="0"/>
              </a:rPr>
              <a:t>、氮的生物吸收</a:t>
            </a:r>
            <a:endParaRPr lang="zh-CN" altLang="en-US" sz="2400" dirty="0">
              <a:latin typeface="Times New Roman" panose="02020603050405020304" pitchFamily="18" charset="0"/>
              <a:ea typeface="黑体" panose="02010609060101010101" charset="-122"/>
              <a:cs typeface="Times New Roman" panose="02020603050405020304" pitchFamily="18" charset="0"/>
            </a:endParaRPr>
          </a:p>
          <a:p>
            <a:pPr marL="466725" indent="-466725">
              <a:lnSpc>
                <a:spcPct val="150000"/>
              </a:lnSpc>
              <a:spcBef>
                <a:spcPts val="0"/>
              </a:spcBef>
              <a:buFontTx/>
              <a:buNone/>
            </a:pPr>
            <a:r>
              <a:rPr lang="en-US" altLang="zh-CN" sz="2400" dirty="0">
                <a:latin typeface="Times New Roman" panose="02020603050405020304" pitchFamily="18" charset="0"/>
                <a:ea typeface="黑体" panose="02010609060101010101" charset="-122"/>
                <a:cs typeface="Times New Roman" panose="02020603050405020304" pitchFamily="18" charset="0"/>
              </a:rPr>
              <a:t>2</a:t>
            </a:r>
            <a:r>
              <a:rPr lang="zh-CN" altLang="en-US" sz="2400" dirty="0">
                <a:latin typeface="Times New Roman" panose="02020603050405020304" pitchFamily="18" charset="0"/>
                <a:ea typeface="黑体" panose="02010609060101010101" charset="-122"/>
                <a:cs typeface="Times New Roman" panose="02020603050405020304" pitchFamily="18" charset="0"/>
              </a:rPr>
              <a:t>、生物固氮作用</a:t>
            </a:r>
            <a:endParaRPr lang="zh-CN" altLang="en-US" sz="2400" dirty="0">
              <a:latin typeface="Times New Roman" panose="02020603050405020304" pitchFamily="18" charset="0"/>
              <a:ea typeface="黑体" panose="02010609060101010101" charset="-122"/>
              <a:cs typeface="Times New Roman" panose="02020603050405020304" pitchFamily="18" charset="0"/>
            </a:endParaRPr>
          </a:p>
          <a:p>
            <a:pPr marL="466725" indent="-466725">
              <a:lnSpc>
                <a:spcPct val="150000"/>
              </a:lnSpc>
              <a:spcBef>
                <a:spcPts val="0"/>
              </a:spcBef>
              <a:buFontTx/>
              <a:buNone/>
            </a:pPr>
            <a:r>
              <a:rPr lang="en-US" altLang="zh-CN" sz="2400" dirty="0">
                <a:latin typeface="Times New Roman" panose="02020603050405020304" pitchFamily="18" charset="0"/>
                <a:ea typeface="黑体" panose="02010609060101010101" charset="-122"/>
                <a:cs typeface="Times New Roman" panose="02020603050405020304" pitchFamily="18" charset="0"/>
              </a:rPr>
              <a:t>3</a:t>
            </a:r>
            <a:r>
              <a:rPr lang="zh-CN" altLang="en-US" sz="2400" dirty="0">
                <a:latin typeface="Times New Roman" panose="02020603050405020304" pitchFamily="18" charset="0"/>
                <a:ea typeface="黑体" panose="02010609060101010101" charset="-122"/>
                <a:cs typeface="Times New Roman" panose="02020603050405020304" pitchFamily="18" charset="0"/>
              </a:rPr>
              <a:t>、硝化作用</a:t>
            </a:r>
            <a:endParaRPr lang="zh-CN" altLang="en-US" sz="2400" dirty="0">
              <a:latin typeface="Times New Roman" panose="02020603050405020304" pitchFamily="18" charset="0"/>
              <a:ea typeface="黑体" panose="02010609060101010101" charset="-122"/>
              <a:cs typeface="Times New Roman" panose="02020603050405020304" pitchFamily="18" charset="0"/>
            </a:endParaRPr>
          </a:p>
          <a:p>
            <a:pPr marL="466725" indent="-466725">
              <a:lnSpc>
                <a:spcPct val="150000"/>
              </a:lnSpc>
              <a:spcBef>
                <a:spcPts val="0"/>
              </a:spcBef>
              <a:buFontTx/>
              <a:buNone/>
            </a:pPr>
            <a:r>
              <a:rPr lang="en-US" altLang="zh-CN" sz="2400" dirty="0">
                <a:latin typeface="Times New Roman" panose="02020603050405020304" pitchFamily="18" charset="0"/>
                <a:ea typeface="黑体" panose="02010609060101010101" charset="-122"/>
                <a:cs typeface="Times New Roman" panose="02020603050405020304" pitchFamily="18" charset="0"/>
              </a:rPr>
              <a:t>4</a:t>
            </a:r>
            <a:r>
              <a:rPr lang="zh-CN" altLang="en-US" sz="2400" dirty="0">
                <a:latin typeface="Times New Roman" panose="02020603050405020304" pitchFamily="18" charset="0"/>
                <a:ea typeface="黑体" panose="02010609060101010101" charset="-122"/>
                <a:cs typeface="Times New Roman" panose="02020603050405020304" pitchFamily="18" charset="0"/>
              </a:rPr>
              <a:t>、反硝化作用</a:t>
            </a:r>
            <a:endParaRPr lang="zh-CN" altLang="en-US" sz="2800" dirty="0">
              <a:latin typeface="Times New Roman" panose="02020603050405020304" pitchFamily="18" charset="0"/>
              <a:ea typeface="黑体" panose="02010609060101010101" charset="-122"/>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3"/>
          <p:cNvSpPr>
            <a:spLocks noChangeArrowheads="1"/>
          </p:cNvSpPr>
          <p:nvPr/>
        </p:nvSpPr>
        <p:spPr bwMode="auto">
          <a:xfrm>
            <a:off x="1" y="1888967"/>
            <a:ext cx="184731" cy="369332"/>
          </a:xfrm>
          <a:prstGeom prst="rect">
            <a:avLst/>
          </a:prstGeom>
          <a:noFill/>
          <a:ln w="9525">
            <a:noFill/>
            <a:miter lim="800000"/>
          </a:ln>
        </p:spPr>
        <p:txBody>
          <a:bodyPr wrap="none" anchor="ctr">
            <a:spAutoFit/>
          </a:bodyPr>
          <a:lstStyle/>
          <a:p>
            <a:endParaRPr lang="zh-CN" altLang="en-US"/>
          </a:p>
        </p:txBody>
      </p:sp>
      <p:sp>
        <p:nvSpPr>
          <p:cNvPr id="40963" name="Text Box 4"/>
          <p:cNvSpPr txBox="1">
            <a:spLocks noChangeArrowheads="1"/>
          </p:cNvSpPr>
          <p:nvPr/>
        </p:nvSpPr>
        <p:spPr bwMode="auto">
          <a:xfrm>
            <a:off x="179512" y="188914"/>
            <a:ext cx="3097088" cy="646331"/>
          </a:xfrm>
          <a:prstGeom prst="rect">
            <a:avLst/>
          </a:prstGeom>
          <a:noFill/>
          <a:ln w="9525">
            <a:noFill/>
            <a:miter lim="800000"/>
          </a:ln>
        </p:spPr>
        <p:txBody>
          <a:bodyPr wrap="square">
            <a:spAutoFit/>
          </a:bodyPr>
          <a:lstStyle/>
          <a:p>
            <a:pPr marL="342900" indent="-342900">
              <a:lnSpc>
                <a:spcPct val="100000"/>
              </a:lnSpc>
              <a:spcBef>
                <a:spcPct val="50000"/>
              </a:spcBef>
              <a:buFontTx/>
              <a:buNone/>
            </a:pPr>
            <a:r>
              <a:rPr lang="zh-CN" altLang="en-US" sz="3600"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rPr>
              <a:t>氮的生物吸收</a:t>
            </a:r>
            <a:endParaRPr lang="zh-CN" altLang="en-US" sz="3600"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6084" name="Rectangle 5"/>
          <p:cNvSpPr>
            <a:spLocks noChangeArrowheads="1"/>
          </p:cNvSpPr>
          <p:nvPr/>
        </p:nvSpPr>
        <p:spPr bwMode="auto">
          <a:xfrm>
            <a:off x="107504" y="1750097"/>
            <a:ext cx="4104580" cy="3371244"/>
          </a:xfrm>
          <a:prstGeom prst="rect">
            <a:avLst/>
          </a:prstGeom>
          <a:solidFill>
            <a:srgbClr val="CCFFFF"/>
          </a:solidFill>
          <a:ln w="12700">
            <a:solidFill>
              <a:srgbClr val="C00000"/>
            </a:solidFill>
          </a:ln>
        </p:spPr>
        <p:style>
          <a:lnRef idx="2">
            <a:schemeClr val="accent2"/>
          </a:lnRef>
          <a:fillRef idx="1">
            <a:schemeClr val="lt1"/>
          </a:fillRef>
          <a:effectRef idx="0">
            <a:schemeClr val="accent2"/>
          </a:effectRef>
          <a:fontRef idx="minor">
            <a:schemeClr val="dk1"/>
          </a:fontRef>
        </p:style>
        <p:txBody>
          <a:bodyPr wrap="square" lIns="18000" tIns="36000" rIns="18000" bIns="10800" anchor="ctr">
            <a:spAutoFit/>
          </a:bodyPr>
          <a:lstStyle/>
          <a:p>
            <a:pPr>
              <a:lnSpc>
                <a:spcPct val="150000"/>
              </a:lnSpc>
              <a:spcBef>
                <a:spcPct val="0"/>
              </a:spcBef>
              <a:buFontTx/>
              <a:buNone/>
              <a:defRPr/>
            </a:pPr>
            <a:r>
              <a:rPr lang="zh-CN" altLang="en-US" sz="2400" dirty="0">
                <a:latin typeface="Times New Roman" panose="02020603050405020304" pitchFamily="18" charset="0"/>
                <a:ea typeface="黑体" panose="02010609060101010101" charset="-122"/>
                <a:cs typeface="Times New Roman" panose="02020603050405020304" pitchFamily="18" charset="0"/>
              </a:rPr>
              <a:t>开阔大洋的初级生产往往受氮所限制。大部分浮游植物无法直接利用</a:t>
            </a:r>
            <a:r>
              <a:rPr lang="en-US" altLang="zh-CN" sz="2400" dirty="0">
                <a:latin typeface="Times New Roman" panose="02020603050405020304" pitchFamily="18" charset="0"/>
                <a:ea typeface="黑体" panose="02010609060101010101" charset="-122"/>
                <a:cs typeface="Times New Roman" panose="02020603050405020304" pitchFamily="18" charset="0"/>
              </a:rPr>
              <a:t>N</a:t>
            </a:r>
            <a:r>
              <a:rPr lang="en-US" altLang="zh-CN" sz="2400" baseline="-25000" dirty="0">
                <a:latin typeface="Times New Roman" panose="02020603050405020304" pitchFamily="18" charset="0"/>
                <a:ea typeface="黑体" panose="02010609060101010101" charset="-122"/>
                <a:cs typeface="Times New Roman" panose="02020603050405020304" pitchFamily="18" charset="0"/>
              </a:rPr>
              <a:t>2</a:t>
            </a:r>
            <a:r>
              <a:rPr lang="zh-CN" altLang="en-US" sz="2400" dirty="0">
                <a:latin typeface="Times New Roman" panose="02020603050405020304" pitchFamily="18" charset="0"/>
                <a:ea typeface="黑体" panose="02010609060101010101" charset="-122"/>
                <a:cs typeface="Times New Roman" panose="02020603050405020304" pitchFamily="18" charset="0"/>
              </a:rPr>
              <a:t>，它们必须通过吸收溶解态氮（</a:t>
            </a:r>
            <a:r>
              <a:rPr lang="en-US" altLang="zh-CN" sz="2400" dirty="0">
                <a:latin typeface="Times New Roman" panose="02020603050405020304" pitchFamily="18" charset="0"/>
                <a:ea typeface="黑体" panose="02010609060101010101" charset="-122"/>
                <a:cs typeface="Times New Roman" panose="02020603050405020304" pitchFamily="18" charset="0"/>
              </a:rPr>
              <a:t>NO</a:t>
            </a:r>
            <a:r>
              <a:rPr lang="en-US" altLang="zh-CN" sz="2400" baseline="-25000" dirty="0">
                <a:latin typeface="Times New Roman" panose="02020603050405020304" pitchFamily="18" charset="0"/>
                <a:ea typeface="黑体" panose="02010609060101010101" charset="-122"/>
                <a:cs typeface="Times New Roman" panose="02020603050405020304" pitchFamily="18" charset="0"/>
              </a:rPr>
              <a:t>3</a:t>
            </a:r>
            <a:r>
              <a:rPr lang="en-US" altLang="zh-CN" sz="2400" baseline="30000" dirty="0">
                <a:latin typeface="Times New Roman" panose="02020603050405020304" pitchFamily="18" charset="0"/>
                <a:ea typeface="黑体" panose="02010609060101010101" charset="-122"/>
                <a:cs typeface="Times New Roman" panose="02020603050405020304" pitchFamily="18" charset="0"/>
              </a:rPr>
              <a:t>-</a:t>
            </a:r>
            <a:r>
              <a:rPr lang="zh-CN" altLang="en-US" sz="2400" dirty="0">
                <a:latin typeface="Times New Roman" panose="02020603050405020304" pitchFamily="18" charset="0"/>
                <a:ea typeface="黑体" panose="02010609060101010101" charset="-122"/>
                <a:cs typeface="Times New Roman" panose="02020603050405020304" pitchFamily="18" charset="0"/>
              </a:rPr>
              <a:t>、</a:t>
            </a:r>
            <a:r>
              <a:rPr lang="en-US" altLang="zh-CN" sz="2400" dirty="0">
                <a:latin typeface="Times New Roman" panose="02020603050405020304" pitchFamily="18" charset="0"/>
                <a:ea typeface="黑体" panose="02010609060101010101" charset="-122"/>
                <a:cs typeface="Times New Roman" panose="02020603050405020304" pitchFamily="18" charset="0"/>
              </a:rPr>
              <a:t>NO</a:t>
            </a:r>
            <a:r>
              <a:rPr lang="en-US" altLang="zh-CN" sz="2400" baseline="-25000" dirty="0">
                <a:latin typeface="Times New Roman" panose="02020603050405020304" pitchFamily="18" charset="0"/>
                <a:ea typeface="黑体" panose="02010609060101010101" charset="-122"/>
                <a:cs typeface="Times New Roman" panose="02020603050405020304" pitchFamily="18" charset="0"/>
              </a:rPr>
              <a:t>2</a:t>
            </a:r>
            <a:r>
              <a:rPr lang="en-US" altLang="zh-CN" sz="2400" baseline="30000" dirty="0">
                <a:latin typeface="Times New Roman" panose="02020603050405020304" pitchFamily="18" charset="0"/>
                <a:ea typeface="黑体" panose="02010609060101010101" charset="-122"/>
                <a:cs typeface="Times New Roman" panose="02020603050405020304" pitchFamily="18" charset="0"/>
              </a:rPr>
              <a:t>-</a:t>
            </a:r>
            <a:r>
              <a:rPr lang="zh-CN" altLang="en-US" sz="2400" dirty="0">
                <a:latin typeface="Times New Roman" panose="02020603050405020304" pitchFamily="18" charset="0"/>
                <a:ea typeface="黑体" panose="02010609060101010101" charset="-122"/>
                <a:cs typeface="Times New Roman" panose="02020603050405020304" pitchFamily="18" charset="0"/>
              </a:rPr>
              <a:t>、</a:t>
            </a:r>
            <a:r>
              <a:rPr lang="en-US" altLang="zh-CN" sz="2400" dirty="0">
                <a:latin typeface="Times New Roman" panose="02020603050405020304" pitchFamily="18" charset="0"/>
                <a:ea typeface="黑体" panose="02010609060101010101" charset="-122"/>
                <a:cs typeface="Times New Roman" panose="02020603050405020304" pitchFamily="18" charset="0"/>
              </a:rPr>
              <a:t>NH</a:t>
            </a:r>
            <a:r>
              <a:rPr lang="en-US" altLang="zh-CN" sz="2400" baseline="-25000" dirty="0">
                <a:latin typeface="Times New Roman" panose="02020603050405020304" pitchFamily="18" charset="0"/>
                <a:ea typeface="黑体" panose="02010609060101010101" charset="-122"/>
                <a:cs typeface="Times New Roman" panose="02020603050405020304" pitchFamily="18" charset="0"/>
              </a:rPr>
              <a:t>4</a:t>
            </a:r>
            <a:r>
              <a:rPr lang="en-US" altLang="zh-CN" sz="2400" baseline="30000" dirty="0">
                <a:latin typeface="Times New Roman" panose="02020603050405020304" pitchFamily="18" charset="0"/>
                <a:ea typeface="黑体" panose="02010609060101010101" charset="-122"/>
                <a:cs typeface="Times New Roman" panose="02020603050405020304" pitchFamily="18" charset="0"/>
              </a:rPr>
              <a:t>+</a:t>
            </a:r>
            <a:r>
              <a:rPr lang="zh-CN" altLang="en-US" sz="2400" dirty="0">
                <a:latin typeface="Times New Roman" panose="02020603050405020304" pitchFamily="18" charset="0"/>
                <a:ea typeface="黑体" panose="02010609060101010101" charset="-122"/>
                <a:cs typeface="Times New Roman" panose="02020603050405020304" pitchFamily="18" charset="0"/>
              </a:rPr>
              <a:t>、尿素）来满足其光合作用需要。</a:t>
            </a:r>
            <a:endParaRPr lang="zh-CN" altLang="en-US" sz="2400" dirty="0">
              <a:latin typeface="Times New Roman" panose="02020603050405020304" pitchFamily="18" charset="0"/>
              <a:ea typeface="黑体" panose="02010609060101010101" charset="-122"/>
              <a:cs typeface="Times New Roman" panose="02020603050405020304" pitchFamily="18" charset="0"/>
            </a:endParaRPr>
          </a:p>
        </p:txBody>
      </p:sp>
      <p:sp>
        <p:nvSpPr>
          <p:cNvPr id="40965" name="Rectangle 6"/>
          <p:cNvSpPr>
            <a:spLocks noChangeArrowheads="1"/>
          </p:cNvSpPr>
          <p:nvPr/>
        </p:nvSpPr>
        <p:spPr bwMode="auto">
          <a:xfrm>
            <a:off x="0" y="1622155"/>
            <a:ext cx="36416" cy="324256"/>
          </a:xfrm>
          <a:prstGeom prst="rect">
            <a:avLst/>
          </a:prstGeom>
          <a:noFill/>
          <a:ln w="31750" algn="ctr">
            <a:noFill/>
            <a:miter lim="800000"/>
          </a:ln>
        </p:spPr>
        <p:txBody>
          <a:bodyPr wrap="none" lIns="18000" tIns="36000" rIns="18000" bIns="10800" anchor="ctr">
            <a:spAutoFit/>
          </a:bodyPr>
          <a:lstStyle/>
          <a:p>
            <a:endParaRPr lang="zh-CN" altLang="en-US"/>
          </a:p>
        </p:txBody>
      </p:sp>
      <p:pic>
        <p:nvPicPr>
          <p:cNvPr id="40966" name="Picture 7"/>
          <p:cNvPicPr>
            <a:picLocks noChangeAspect="1" noChangeArrowheads="1"/>
          </p:cNvPicPr>
          <p:nvPr/>
        </p:nvPicPr>
        <p:blipFill>
          <a:blip r:embed="rId1" cstate="print"/>
          <a:srcRect l="1538" r="3864"/>
          <a:stretch>
            <a:fillRect/>
          </a:stretch>
        </p:blipFill>
        <p:spPr bwMode="auto">
          <a:xfrm>
            <a:off x="4356102" y="1341439"/>
            <a:ext cx="4608513" cy="4683125"/>
          </a:xfrm>
          <a:prstGeom prst="rect">
            <a:avLst/>
          </a:prstGeom>
          <a:noFill/>
          <a:ln w="9525">
            <a:solidFill>
              <a:schemeClr val="tx1">
                <a:lumMod val="85000"/>
                <a:lumOff val="15000"/>
              </a:schemeClr>
            </a:solidFill>
            <a:miter lim="800000"/>
            <a:headEnd/>
            <a:tailEnd/>
          </a:ln>
        </p:spPr>
      </p:pic>
      <p:pic>
        <p:nvPicPr>
          <p:cNvPr id="10" name="图片 5" descr="logo.jpg"/>
          <p:cNvPicPr>
            <a:picLocks noChangeAspect="1"/>
          </p:cNvPicPr>
          <p:nvPr/>
        </p:nvPicPr>
        <p:blipFill>
          <a:blip r:embed="rId2" cstate="print"/>
          <a:srcRect l="26245" t="34250" r="32184" b="36349"/>
          <a:stretch>
            <a:fillRect/>
          </a:stretch>
        </p:blipFill>
        <p:spPr bwMode="auto">
          <a:xfrm>
            <a:off x="7668344" y="0"/>
            <a:ext cx="1197546" cy="1308696"/>
          </a:xfrm>
          <a:prstGeom prst="rect">
            <a:avLst/>
          </a:prstGeom>
          <a:noFill/>
          <a:ln w="9525">
            <a:noFill/>
            <a:miter lim="800000"/>
            <a:headEnd/>
            <a:tailEnd/>
          </a:ln>
        </p:spPr>
      </p:pic>
      <p:sp>
        <p:nvSpPr>
          <p:cNvPr id="11" name="TextBox 6"/>
          <p:cNvSpPr txBox="1">
            <a:spLocks noChangeArrowheads="1"/>
          </p:cNvSpPr>
          <p:nvPr/>
        </p:nvSpPr>
        <p:spPr bwMode="auto">
          <a:xfrm>
            <a:off x="7524328" y="6077826"/>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idx="1"/>
          </p:nvPr>
        </p:nvSpPr>
        <p:spPr>
          <a:xfrm>
            <a:off x="611561" y="1796819"/>
            <a:ext cx="7920037" cy="3816351"/>
          </a:xfrm>
        </p:spPr>
        <p:txBody>
          <a:bodyPr lIns="18000" tIns="10800" rIns="18000" bIns="10800">
            <a:normAutofit/>
          </a:bodyPr>
          <a:lstStyle/>
          <a:p>
            <a:pPr marL="466725" indent="-466725" eaLnBrk="1" hangingPunct="1">
              <a:lnSpc>
                <a:spcPct val="160000"/>
              </a:lnSpc>
              <a:spcBef>
                <a:spcPts val="600"/>
              </a:spcBef>
              <a:buClr>
                <a:schemeClr val="tx1"/>
              </a:buClr>
              <a:buFont typeface="Wingdings" panose="05000000000000000000" pitchFamily="2" charset="2"/>
              <a:buChar char="l"/>
            </a:pPr>
            <a:r>
              <a:rPr lang="zh-CN" altLang="en-US" sz="2800" b="1" dirty="0">
                <a:latin typeface="Times New Roman" panose="02020603050405020304" pitchFamily="18" charset="0"/>
                <a:ea typeface="黑体" panose="02010609060101010101" charset="-122"/>
                <a:cs typeface="Times New Roman" panose="02020603050405020304" pitchFamily="18" charset="0"/>
              </a:rPr>
              <a:t>如果将混合了溶解态尿素、氨盐、亚硝酸盐和硝酸盐的溶液来培养浮游植物，浮游植物利用低价态氮的速率最快。</a:t>
            </a:r>
            <a:endParaRPr lang="zh-CN" altLang="en-US" sz="2800" b="1" dirty="0">
              <a:latin typeface="Times New Roman" panose="02020603050405020304" pitchFamily="18" charset="0"/>
              <a:ea typeface="黑体" panose="02010609060101010101" charset="-122"/>
              <a:cs typeface="Times New Roman" panose="02020603050405020304" pitchFamily="18" charset="0"/>
            </a:endParaRPr>
          </a:p>
          <a:p>
            <a:pPr marL="466725" indent="-466725" eaLnBrk="1" hangingPunct="1">
              <a:lnSpc>
                <a:spcPct val="160000"/>
              </a:lnSpc>
              <a:spcBef>
                <a:spcPts val="600"/>
              </a:spcBef>
              <a:buClr>
                <a:schemeClr val="tx1"/>
              </a:buClr>
              <a:buFont typeface="Wingdings" panose="05000000000000000000" pitchFamily="2" charset="2"/>
              <a:buChar char="l"/>
            </a:pPr>
            <a:r>
              <a:rPr lang="zh-CN" altLang="en-US" sz="2800" b="1" dirty="0">
                <a:latin typeface="Times New Roman" panose="02020603050405020304" pitchFamily="18" charset="0"/>
                <a:ea typeface="黑体" panose="02010609060101010101" charset="-122"/>
                <a:cs typeface="Times New Roman" panose="02020603050405020304" pitchFamily="18" charset="0"/>
              </a:rPr>
              <a:t>在沿岸海域，尿素由于有较快的产生速率，生物对其的吸收也比较重要。</a:t>
            </a:r>
            <a:endParaRPr lang="zh-CN" altLang="en-US" sz="2800" b="1" dirty="0">
              <a:latin typeface="Times New Roman" panose="02020603050405020304" pitchFamily="18" charset="0"/>
              <a:ea typeface="黑体" panose="02010609060101010101" charset="-122"/>
              <a:cs typeface="Times New Roman" panose="02020603050405020304" pitchFamily="18" charset="0"/>
            </a:endParaRPr>
          </a:p>
        </p:txBody>
      </p:sp>
      <p:sp>
        <p:nvSpPr>
          <p:cNvPr id="41987" name="Rectangle 3"/>
          <p:cNvSpPr>
            <a:spLocks noChangeArrowheads="1"/>
          </p:cNvSpPr>
          <p:nvPr/>
        </p:nvSpPr>
        <p:spPr bwMode="auto">
          <a:xfrm>
            <a:off x="0" y="3098530"/>
            <a:ext cx="36416" cy="324256"/>
          </a:xfrm>
          <a:prstGeom prst="rect">
            <a:avLst/>
          </a:prstGeom>
          <a:noFill/>
          <a:ln w="31750" algn="ctr">
            <a:noFill/>
            <a:miter lim="800000"/>
          </a:ln>
        </p:spPr>
        <p:txBody>
          <a:bodyPr wrap="none" lIns="18000" tIns="36000" rIns="18000" bIns="10800" anchor="ctr">
            <a:spAutoFit/>
          </a:bodyPr>
          <a:lstStyle/>
          <a:p>
            <a:endParaRPr lang="zh-CN" altLang="en-US"/>
          </a:p>
        </p:txBody>
      </p:sp>
      <p:sp>
        <p:nvSpPr>
          <p:cNvPr id="41988" name="Rectangle 4"/>
          <p:cNvSpPr>
            <a:spLocks noChangeArrowheads="1"/>
          </p:cNvSpPr>
          <p:nvPr/>
        </p:nvSpPr>
        <p:spPr bwMode="auto">
          <a:xfrm>
            <a:off x="0" y="1045892"/>
            <a:ext cx="36416" cy="324256"/>
          </a:xfrm>
          <a:prstGeom prst="rect">
            <a:avLst/>
          </a:prstGeom>
          <a:noFill/>
          <a:ln w="31750" algn="ctr">
            <a:noFill/>
            <a:miter lim="800000"/>
          </a:ln>
        </p:spPr>
        <p:txBody>
          <a:bodyPr wrap="none" lIns="18000" tIns="36000" rIns="18000" bIns="10800" anchor="ctr">
            <a:spAutoFit/>
          </a:bodyPr>
          <a:lstStyle/>
          <a:p>
            <a:endParaRPr lang="zh-CN" altLang="en-US"/>
          </a:p>
        </p:txBody>
      </p:sp>
      <p:sp>
        <p:nvSpPr>
          <p:cNvPr id="41989" name="Rectangle 5"/>
          <p:cNvSpPr>
            <a:spLocks noChangeArrowheads="1"/>
          </p:cNvSpPr>
          <p:nvPr/>
        </p:nvSpPr>
        <p:spPr bwMode="auto">
          <a:xfrm>
            <a:off x="0" y="3084243"/>
            <a:ext cx="36416" cy="324256"/>
          </a:xfrm>
          <a:prstGeom prst="rect">
            <a:avLst/>
          </a:prstGeom>
          <a:noFill/>
          <a:ln w="31750" algn="ctr">
            <a:noFill/>
            <a:miter lim="800000"/>
          </a:ln>
        </p:spPr>
        <p:txBody>
          <a:bodyPr wrap="none" lIns="18000" tIns="36000" rIns="18000" bIns="10800" anchor="ctr">
            <a:spAutoFit/>
          </a:bodyPr>
          <a:lstStyle/>
          <a:p>
            <a:endParaRPr lang="zh-CN" altLang="en-US"/>
          </a:p>
        </p:txBody>
      </p:sp>
      <p:sp>
        <p:nvSpPr>
          <p:cNvPr id="41990" name="Rectangle 7"/>
          <p:cNvSpPr>
            <a:spLocks noChangeArrowheads="1"/>
          </p:cNvSpPr>
          <p:nvPr/>
        </p:nvSpPr>
        <p:spPr bwMode="auto">
          <a:xfrm>
            <a:off x="0" y="3084243"/>
            <a:ext cx="36416" cy="324256"/>
          </a:xfrm>
          <a:prstGeom prst="rect">
            <a:avLst/>
          </a:prstGeom>
          <a:noFill/>
          <a:ln w="31750" algn="ctr">
            <a:noFill/>
            <a:miter lim="800000"/>
          </a:ln>
        </p:spPr>
        <p:txBody>
          <a:bodyPr wrap="none" lIns="18000" tIns="36000" rIns="18000" bIns="10800" anchor="ctr">
            <a:spAutoFit/>
          </a:bodyPr>
          <a:lstStyle/>
          <a:p>
            <a:endParaRPr lang="zh-CN" altLang="en-US"/>
          </a:p>
        </p:txBody>
      </p:sp>
      <p:sp>
        <p:nvSpPr>
          <p:cNvPr id="41991" name="Rectangle 9"/>
          <p:cNvSpPr>
            <a:spLocks noChangeArrowheads="1"/>
          </p:cNvSpPr>
          <p:nvPr/>
        </p:nvSpPr>
        <p:spPr bwMode="auto">
          <a:xfrm>
            <a:off x="0" y="3084243"/>
            <a:ext cx="36416" cy="324256"/>
          </a:xfrm>
          <a:prstGeom prst="rect">
            <a:avLst/>
          </a:prstGeom>
          <a:noFill/>
          <a:ln w="31750" algn="ctr">
            <a:noFill/>
            <a:miter lim="800000"/>
          </a:ln>
        </p:spPr>
        <p:txBody>
          <a:bodyPr wrap="none" lIns="18000" tIns="36000" rIns="18000" bIns="10800" anchor="ctr">
            <a:spAutoFit/>
          </a:bodyPr>
          <a:lstStyle/>
          <a:p>
            <a:endParaRPr lang="zh-CN" altLang="en-US"/>
          </a:p>
        </p:txBody>
      </p:sp>
      <p:sp>
        <p:nvSpPr>
          <p:cNvPr id="41992" name="Rectangle 11"/>
          <p:cNvSpPr>
            <a:spLocks noChangeArrowheads="1"/>
          </p:cNvSpPr>
          <p:nvPr/>
        </p:nvSpPr>
        <p:spPr bwMode="auto">
          <a:xfrm>
            <a:off x="0" y="3084243"/>
            <a:ext cx="36416" cy="324256"/>
          </a:xfrm>
          <a:prstGeom prst="rect">
            <a:avLst/>
          </a:prstGeom>
          <a:noFill/>
          <a:ln w="31750" algn="ctr">
            <a:noFill/>
            <a:miter lim="800000"/>
          </a:ln>
        </p:spPr>
        <p:txBody>
          <a:bodyPr wrap="none" lIns="18000" tIns="36000" rIns="18000" bIns="10800" anchor="ctr">
            <a:spAutoFit/>
          </a:bodyPr>
          <a:lstStyle/>
          <a:p>
            <a:endParaRPr lang="zh-CN" altLang="en-US"/>
          </a:p>
        </p:txBody>
      </p:sp>
      <p:sp>
        <p:nvSpPr>
          <p:cNvPr id="41993" name="Rectangle 13"/>
          <p:cNvSpPr>
            <a:spLocks noChangeArrowheads="1"/>
          </p:cNvSpPr>
          <p:nvPr/>
        </p:nvSpPr>
        <p:spPr bwMode="auto">
          <a:xfrm>
            <a:off x="0" y="3117580"/>
            <a:ext cx="36416" cy="324256"/>
          </a:xfrm>
          <a:prstGeom prst="rect">
            <a:avLst/>
          </a:prstGeom>
          <a:noFill/>
          <a:ln w="31750" algn="ctr">
            <a:noFill/>
            <a:miter lim="800000"/>
          </a:ln>
        </p:spPr>
        <p:txBody>
          <a:bodyPr wrap="none" lIns="18000" tIns="36000" rIns="18000" bIns="10800" anchor="ctr">
            <a:spAutoFit/>
          </a:bodyPr>
          <a:lstStyle/>
          <a:p>
            <a:endParaRPr lang="zh-CN" altLang="en-US"/>
          </a:p>
        </p:txBody>
      </p:sp>
      <p:sp>
        <p:nvSpPr>
          <p:cNvPr id="41994" name="Rectangle 15"/>
          <p:cNvSpPr>
            <a:spLocks noChangeArrowheads="1"/>
          </p:cNvSpPr>
          <p:nvPr/>
        </p:nvSpPr>
        <p:spPr bwMode="auto">
          <a:xfrm>
            <a:off x="0" y="3117580"/>
            <a:ext cx="36416" cy="324256"/>
          </a:xfrm>
          <a:prstGeom prst="rect">
            <a:avLst/>
          </a:prstGeom>
          <a:noFill/>
          <a:ln w="31750" algn="ctr">
            <a:noFill/>
            <a:miter lim="800000"/>
          </a:ln>
        </p:spPr>
        <p:txBody>
          <a:bodyPr wrap="none" lIns="18000" tIns="36000" rIns="18000" bIns="10800" anchor="ctr">
            <a:spAutoFit/>
          </a:bodyPr>
          <a:lstStyle/>
          <a:p>
            <a:endParaRPr lang="zh-CN" altLang="en-US"/>
          </a:p>
        </p:txBody>
      </p:sp>
      <p:sp>
        <p:nvSpPr>
          <p:cNvPr id="41995" name="Text Box 4"/>
          <p:cNvSpPr txBox="1">
            <a:spLocks noChangeArrowheads="1"/>
          </p:cNvSpPr>
          <p:nvPr/>
        </p:nvSpPr>
        <p:spPr bwMode="auto">
          <a:xfrm>
            <a:off x="179512" y="188914"/>
            <a:ext cx="3097088" cy="646331"/>
          </a:xfrm>
          <a:prstGeom prst="rect">
            <a:avLst/>
          </a:prstGeom>
          <a:noFill/>
          <a:ln w="9525">
            <a:noFill/>
            <a:miter lim="800000"/>
          </a:ln>
        </p:spPr>
        <p:txBody>
          <a:bodyPr wrap="square">
            <a:spAutoFit/>
          </a:bodyPr>
          <a:lstStyle/>
          <a:p>
            <a:pPr marL="342900" indent="-342900">
              <a:lnSpc>
                <a:spcPct val="100000"/>
              </a:lnSpc>
              <a:spcBef>
                <a:spcPct val="50000"/>
              </a:spcBef>
              <a:buFontTx/>
              <a:buNone/>
            </a:pPr>
            <a:r>
              <a:rPr lang="zh-CN" altLang="en-US" sz="3600"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rPr>
              <a:t>氮的生物吸收</a:t>
            </a:r>
            <a:endParaRPr lang="zh-CN" altLang="en-US" sz="3600"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5" name="图片 5" descr="logo.jpg"/>
          <p:cNvPicPr>
            <a:picLocks noChangeAspect="1"/>
          </p:cNvPicPr>
          <p:nvPr/>
        </p:nvPicPr>
        <p:blipFill>
          <a:blip r:embed="rId1" cstate="print"/>
          <a:srcRect l="26245" t="34250" r="32184" b="36349"/>
          <a:stretch>
            <a:fillRect/>
          </a:stretch>
        </p:blipFill>
        <p:spPr bwMode="auto">
          <a:xfrm>
            <a:off x="7668344" y="164637"/>
            <a:ext cx="1197546" cy="1308696"/>
          </a:xfrm>
          <a:prstGeom prst="rect">
            <a:avLst/>
          </a:prstGeom>
          <a:noFill/>
          <a:ln w="9525">
            <a:noFill/>
            <a:miter lim="800000"/>
            <a:headEnd/>
            <a:tailEnd/>
          </a:ln>
        </p:spPr>
      </p:pic>
      <p:sp>
        <p:nvSpPr>
          <p:cNvPr id="16"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0"/>
            <a:ext cx="8153400" cy="836712"/>
          </a:xfrm>
          <a:solidFill>
            <a:schemeClr val="accent1"/>
          </a:solidFill>
        </p:spPr>
        <p:txBody>
          <a:bodyPr>
            <a:normAutofit/>
          </a:bodyPr>
          <a:lstStyle/>
          <a:p>
            <a:r>
              <a:rPr lang="zh-CN" altLang="en-US" sz="4000" b="1">
                <a:solidFill>
                  <a:schemeClr val="bg2"/>
                </a:solidFill>
              </a:rPr>
              <a:t>第六章 </a:t>
            </a:r>
            <a:r>
              <a:rPr lang="zh-CN" altLang="en-US" sz="4000" b="1" dirty="0">
                <a:solidFill>
                  <a:schemeClr val="bg2"/>
                </a:solidFill>
              </a:rPr>
              <a:t>海水中氮元素的测定</a:t>
            </a:r>
            <a:endParaRPr lang="zh-CN" altLang="en-US" sz="4000" b="1" dirty="0">
              <a:solidFill>
                <a:schemeClr val="bg2"/>
              </a:solidFill>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668344" y="164637"/>
            <a:ext cx="1197546" cy="1308696"/>
          </a:xfrm>
          <a:prstGeom prst="rect">
            <a:avLst/>
          </a:prstGeom>
          <a:noFill/>
          <a:ln w="9525">
            <a:noFill/>
            <a:miter lim="800000"/>
            <a:headEnd/>
            <a:tailEnd/>
          </a:ln>
        </p:spPr>
      </p:pic>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sp>
        <p:nvSpPr>
          <p:cNvPr id="6" name="内容占位符 2"/>
          <p:cNvSpPr txBox="1"/>
          <p:nvPr/>
        </p:nvSpPr>
        <p:spPr>
          <a:xfrm>
            <a:off x="4427984" y="1796819"/>
            <a:ext cx="3458344" cy="3744416"/>
          </a:xfrm>
          <a:prstGeom prst="rect">
            <a:avLst/>
          </a:prstGeom>
        </p:spPr>
        <p:txBody>
          <a:bodyPr vert="horz">
            <a:normAutofit/>
          </a:bodyPr>
          <a:lstStyle/>
          <a:p>
            <a:pPr marL="640080" lvl="1" indent="-274320">
              <a:spcBef>
                <a:spcPts val="550"/>
              </a:spcBef>
              <a:buClr>
                <a:schemeClr val="accent1"/>
              </a:buClr>
              <a:buSzPct val="70000"/>
            </a:pPr>
            <a:endParaRPr lang="zh-CN" altLang="en-US" sz="2600" dirty="0"/>
          </a:p>
        </p:txBody>
      </p:sp>
      <p:sp>
        <p:nvSpPr>
          <p:cNvPr id="10" name="TextBox 9"/>
          <p:cNvSpPr txBox="1"/>
          <p:nvPr/>
        </p:nvSpPr>
        <p:spPr>
          <a:xfrm>
            <a:off x="1259632" y="836713"/>
            <a:ext cx="5832648" cy="461665"/>
          </a:xfrm>
          <a:prstGeom prst="rect">
            <a:avLst/>
          </a:prstGeom>
          <a:noFill/>
          <a:ln w="15875">
            <a:solidFill>
              <a:schemeClr val="bg2">
                <a:lumMod val="25000"/>
              </a:schemeClr>
            </a:solidFill>
          </a:ln>
        </p:spPr>
        <p:txBody>
          <a:bodyPr wrap="square" rtlCol="0">
            <a:spAutoFit/>
          </a:bodyPr>
          <a:lstStyle/>
          <a:p>
            <a:r>
              <a:rPr lang="zh-CN" altLang="en-US" sz="2400" b="1" dirty="0">
                <a:solidFill>
                  <a:schemeClr val="bg2">
                    <a:lumMod val="25000"/>
                  </a:schemeClr>
                </a:solidFill>
                <a:latin typeface="华文新魏" panose="02010800040101010101" pitchFamily="2" charset="-122"/>
                <a:ea typeface="华文新魏" panose="02010800040101010101" pitchFamily="2" charset="-122"/>
              </a:rPr>
              <a:t>营养要素的组成</a:t>
            </a:r>
            <a:endParaRPr lang="zh-CN" altLang="en-US" sz="24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14" name="内容占位符 5"/>
          <p:cNvSpPr txBox="1"/>
          <p:nvPr/>
        </p:nvSpPr>
        <p:spPr>
          <a:xfrm>
            <a:off x="457200" y="1922969"/>
            <a:ext cx="8229600" cy="4525963"/>
          </a:xfrm>
          <a:prstGeom prst="rect">
            <a:avLst/>
          </a:prstGeom>
        </p:spPr>
        <p:txBody>
          <a:bodyPr/>
          <a:lstStyle>
            <a:lvl1pPr marL="320040" indent="-320040" algn="l" rtl="0" eaLnBrk="1" latinLnBrk="0" hangingPunct="1">
              <a:spcBef>
                <a:spcPts val="700"/>
              </a:spcBef>
              <a:buClr>
                <a:schemeClr val="accent2"/>
              </a:buClr>
              <a:buSzPct val="60000"/>
              <a:buFont typeface="Wingdings" panose="05000000000000000000"/>
              <a:buChar char=""/>
              <a:defRPr kumimoji="0" lang="zh-CN"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panose="05020102010507070707"/>
              <a:buChar char=""/>
              <a:defRPr kumimoji="0" lang="zh-CN"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panose="05000000000000000000"/>
              <a:buChar char=""/>
              <a:defRPr kumimoji="0" lang="zh-CN"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panose="05000000000000000000"/>
              <a:buChar char=""/>
              <a:defRPr kumimoji="0" lang="zh-CN"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panose="05000000000000000000"/>
              <a:buChar char=""/>
              <a:defRPr kumimoji="0" lang="zh-CN"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panose="05000000000000000000"/>
              <a:buNone/>
              <a:defRPr kumimoji="0" lang="zh-CN"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kumimoji="0" lang="zh-CN"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kumimoji="0" lang="zh-CN"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kumimoji="0" lang="zh-CN" sz="1800" kern="1200" baseline="0">
                <a:solidFill>
                  <a:schemeClr val="tx1"/>
                </a:solidFill>
                <a:latin typeface="+mn-lt"/>
                <a:ea typeface="+mn-ea"/>
                <a:cs typeface="+mn-cs"/>
              </a:defRPr>
            </a:lvl9pPr>
          </a:lstStyle>
          <a:p>
            <a:r>
              <a:rPr lang="zh-CN" altLang="en-US" dirty="0"/>
              <a:t>提纲</a:t>
            </a:r>
            <a:endParaRPr lang="zh-CN" altLang="en-US" dirty="0"/>
          </a:p>
          <a:p>
            <a:pPr marL="914400" lvl="1" indent="-457200">
              <a:buFont typeface="+mj-lt"/>
              <a:buAutoNum type="arabicPeriod"/>
            </a:pPr>
            <a:r>
              <a:rPr lang="zh-CN" altLang="en-US" sz="2800" dirty="0">
                <a:solidFill>
                  <a:schemeClr val="tx2">
                    <a:lumMod val="65000"/>
                    <a:lumOff val="35000"/>
                  </a:schemeClr>
                </a:solidFill>
              </a:rPr>
              <a:t>海水中的氮元素组成</a:t>
            </a:r>
            <a:endParaRPr lang="zh-CN" altLang="en-US" sz="2800" dirty="0">
              <a:solidFill>
                <a:schemeClr val="tx2">
                  <a:lumMod val="65000"/>
                  <a:lumOff val="35000"/>
                </a:schemeClr>
              </a:solidFill>
            </a:endParaRPr>
          </a:p>
          <a:p>
            <a:pPr marL="914400" lvl="1" indent="-457200">
              <a:buFont typeface="+mj-lt"/>
              <a:buAutoNum type="arabicPeriod"/>
            </a:pPr>
            <a:r>
              <a:rPr lang="zh-CN" altLang="en-US" sz="2800" dirty="0">
                <a:solidFill>
                  <a:schemeClr val="tx2">
                    <a:lumMod val="65000"/>
                    <a:lumOff val="35000"/>
                  </a:schemeClr>
                </a:solidFill>
              </a:rPr>
              <a:t>海水中氮循环的重要意义</a:t>
            </a:r>
            <a:endParaRPr lang="zh-CN" altLang="en-US" sz="2800" dirty="0">
              <a:solidFill>
                <a:schemeClr val="tx2">
                  <a:lumMod val="65000"/>
                  <a:lumOff val="35000"/>
                </a:schemeClr>
              </a:solidFill>
            </a:endParaRPr>
          </a:p>
          <a:p>
            <a:pPr marL="914400" lvl="1" indent="-457200">
              <a:buFont typeface="+mj-lt"/>
              <a:buAutoNum type="arabicPeriod"/>
            </a:pPr>
            <a:r>
              <a:rPr lang="zh-CN" altLang="en-US" sz="2800" dirty="0"/>
              <a:t>海水中氮元素的测定方法</a:t>
            </a:r>
            <a:endParaRPr lang="zh-CN" altLang="en-US" sz="2800" dirty="0"/>
          </a:p>
          <a:p>
            <a:pPr marL="1314450" lvl="2" indent="-457200">
              <a:buFont typeface="+mj-lt"/>
              <a:buAutoNum type="alphaUcPeriod"/>
            </a:pPr>
            <a:r>
              <a:rPr lang="zh-CN" altLang="en-US" sz="2400" b="1" dirty="0"/>
              <a:t>亚硝酸盐</a:t>
            </a:r>
            <a:endParaRPr lang="en-US" altLang="zh-CN" sz="2400" b="1" dirty="0"/>
          </a:p>
          <a:p>
            <a:pPr marL="1314450" lvl="2" indent="-457200">
              <a:buFont typeface="+mj-lt"/>
              <a:buAutoNum type="alphaUcPeriod"/>
            </a:pPr>
            <a:r>
              <a:rPr lang="zh-CN" altLang="en-US" sz="2400" dirty="0">
                <a:solidFill>
                  <a:schemeClr val="tx2">
                    <a:lumMod val="65000"/>
                    <a:lumOff val="35000"/>
                  </a:schemeClr>
                </a:solidFill>
              </a:rPr>
              <a:t>硝酸盐</a:t>
            </a:r>
            <a:endParaRPr lang="en-US" altLang="zh-CN" sz="2400" dirty="0">
              <a:solidFill>
                <a:schemeClr val="tx2">
                  <a:lumMod val="65000"/>
                  <a:lumOff val="35000"/>
                </a:schemeClr>
              </a:solidFill>
            </a:endParaRPr>
          </a:p>
          <a:p>
            <a:pPr marL="1314450" lvl="2" indent="-457200">
              <a:buFont typeface="+mj-lt"/>
              <a:buAutoNum type="alphaUcPeriod"/>
            </a:pPr>
            <a:r>
              <a:rPr lang="zh-CN" altLang="en-US" dirty="0">
                <a:solidFill>
                  <a:schemeClr val="tx2">
                    <a:lumMod val="65000"/>
                    <a:lumOff val="35000"/>
                  </a:schemeClr>
                </a:solidFill>
              </a:rPr>
              <a:t>铵盐</a:t>
            </a:r>
            <a:endParaRPr lang="zh-CN" altLang="en-US" dirty="0">
              <a:solidFill>
                <a:schemeClr val="tx2">
                  <a:lumMod val="65000"/>
                  <a:lumOff val="35000"/>
                </a:schemeClr>
              </a:solidFill>
            </a:endParaRPr>
          </a:p>
          <a:p>
            <a:pPr marL="914400" lvl="1" indent="-457200">
              <a:buFont typeface="+mj-lt"/>
              <a:buAutoNum type="arabicPeriod"/>
            </a:pPr>
            <a:r>
              <a:rPr lang="zh-CN" altLang="en-US" sz="2800" dirty="0">
                <a:solidFill>
                  <a:schemeClr val="tx2">
                    <a:lumMod val="60000"/>
                    <a:lumOff val="40000"/>
                  </a:schemeClr>
                </a:solidFill>
              </a:rPr>
              <a:t>总氮的测量方法</a:t>
            </a:r>
            <a:endParaRPr lang="zh-CN" altLang="en-US" sz="2800" dirty="0">
              <a:solidFill>
                <a:schemeClr val="tx2">
                  <a:lumMod val="60000"/>
                  <a:lumOff val="40000"/>
                </a:schemeClr>
              </a:solidFill>
            </a:endParaRPr>
          </a:p>
          <a:p>
            <a:pPr marL="914400" lvl="1" indent="-457200">
              <a:buFont typeface="+mj-lt"/>
              <a:buAutoNum type="arabicPeriod"/>
            </a:pPr>
            <a:endParaRPr lang="zh-CN" altLang="en-US" dirty="0"/>
          </a:p>
          <a:p>
            <a:pPr marL="914400" lvl="1" indent="-457200">
              <a:buFont typeface="+mj-lt"/>
              <a:buAutoNum type="arabicPeriod"/>
            </a:pPr>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0"/>
            <a:ext cx="8153400" cy="1341120"/>
          </a:xfrm>
        </p:spPr>
        <p:txBody>
          <a:bodyPr>
            <a:normAutofit/>
          </a:bodyPr>
          <a:lstStyle/>
          <a:p>
            <a:r>
              <a:rPr lang="zh-CN" altLang="en-US" sz="3600" dirty="0">
                <a:latin typeface="华文新魏" panose="02010800040101010101" pitchFamily="2" charset="-122"/>
                <a:ea typeface="华文新魏" panose="02010800040101010101" pitchFamily="2" charset="-122"/>
              </a:rPr>
              <a:t>海水中的亚硝酸盐分布特点</a:t>
            </a:r>
            <a:endParaRPr lang="zh-CN" altLang="en-US" sz="3600" dirty="0">
              <a:latin typeface="华文新魏" panose="02010800040101010101" pitchFamily="2" charset="-122"/>
              <a:ea typeface="华文新魏" panose="02010800040101010101" pitchFamily="2" charset="-122"/>
            </a:endParaRPr>
          </a:p>
        </p:txBody>
      </p:sp>
      <p:pic>
        <p:nvPicPr>
          <p:cNvPr id="5" name="内容占位符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611560" y="1916831"/>
            <a:ext cx="5544616" cy="510301"/>
          </a:xfrm>
        </p:spPr>
      </p:pic>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568" y="2348880"/>
            <a:ext cx="5735664" cy="1433916"/>
          </a:xfrm>
          <a:prstGeom prst="rect">
            <a:avLst/>
          </a:prstGeom>
        </p:spPr>
      </p:pic>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7645" y="3760309"/>
            <a:ext cx="6806683" cy="1306967"/>
          </a:xfrm>
          <a:prstGeom prst="rect">
            <a:avLst/>
          </a:prstGeom>
        </p:spPr>
      </p:pic>
      <p:pic>
        <p:nvPicPr>
          <p:cNvPr id="11" name="图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7645" y="5125332"/>
            <a:ext cx="6624090" cy="14720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596336" y="164637"/>
            <a:ext cx="1269554" cy="1308696"/>
          </a:xfrm>
          <a:prstGeom prst="rect">
            <a:avLst/>
          </a:prstGeom>
          <a:noFill/>
          <a:ln w="9525">
            <a:noFill/>
            <a:miter lim="800000"/>
            <a:headEnd/>
            <a:tailEnd/>
          </a:ln>
        </p:spPr>
      </p:pic>
      <p:sp>
        <p:nvSpPr>
          <p:cNvPr id="6" name="TextBox 5"/>
          <p:cNvSpPr txBox="1"/>
          <p:nvPr/>
        </p:nvSpPr>
        <p:spPr>
          <a:xfrm>
            <a:off x="1259632" y="836713"/>
            <a:ext cx="5832648" cy="461665"/>
          </a:xfrm>
          <a:prstGeom prst="rect">
            <a:avLst/>
          </a:prstGeom>
          <a:noFill/>
          <a:ln w="15875">
            <a:solidFill>
              <a:schemeClr val="bg2">
                <a:lumMod val="25000"/>
              </a:schemeClr>
            </a:solidFill>
          </a:ln>
        </p:spPr>
        <p:txBody>
          <a:bodyPr wrap="square" rtlCol="0">
            <a:spAutoFit/>
          </a:bodyPr>
          <a:lstStyle/>
          <a:p>
            <a:r>
              <a:rPr lang="zh-CN" altLang="en-US" sz="2400" b="1" dirty="0">
                <a:solidFill>
                  <a:schemeClr val="bg2">
                    <a:lumMod val="25000"/>
                  </a:schemeClr>
                </a:solidFill>
                <a:latin typeface="华文新魏" panose="02010800040101010101" pitchFamily="2" charset="-122"/>
                <a:ea typeface="华文新魏" panose="02010800040101010101" pitchFamily="2" charset="-122"/>
              </a:rPr>
              <a:t>亚硝酸盐的测定方法</a:t>
            </a:r>
            <a:endParaRPr lang="zh-CN" altLang="en-US" sz="24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sp>
        <p:nvSpPr>
          <p:cNvPr id="9" name="内容占位符 8"/>
          <p:cNvSpPr>
            <a:spLocks noGrp="1"/>
          </p:cNvSpPr>
          <p:nvPr>
            <p:ph sz="quarter" idx="13"/>
          </p:nvPr>
        </p:nvSpPr>
        <p:spPr>
          <a:xfrm>
            <a:off x="467544" y="1844824"/>
            <a:ext cx="8153400" cy="4536504"/>
          </a:xfrm>
        </p:spPr>
        <p:txBody>
          <a:bodyPr>
            <a:normAutofit/>
          </a:bodyPr>
          <a:lstStyle/>
          <a:p>
            <a:r>
              <a:rPr lang="zh-CN" altLang="en-US" b="1" dirty="0"/>
              <a:t>测量方法：</a:t>
            </a:r>
            <a:r>
              <a:rPr lang="zh-CN" altLang="en-US" dirty="0"/>
              <a:t>分光光度法</a:t>
            </a:r>
            <a:endParaRPr lang="en-US" altLang="zh-CN" dirty="0"/>
          </a:p>
          <a:p>
            <a:pPr latinLnBrk="1"/>
            <a:r>
              <a:rPr lang="zh-CN" altLang="en-US" b="1" dirty="0"/>
              <a:t>分光光度法原理：</a:t>
            </a:r>
            <a:endParaRPr lang="en-US" altLang="zh-CN" b="1" dirty="0"/>
          </a:p>
          <a:p>
            <a:pPr marL="360680" lvl="1" indent="6350" latinLnBrk="1">
              <a:buNone/>
            </a:pPr>
            <a:r>
              <a:rPr lang="zh-CN" altLang="en-US" dirty="0"/>
              <a:t>通过测定被测物质在特定波长处或一定波长范围内光的吸光度或发光强度，对该物质进行定性和定量分析的方法。</a:t>
            </a:r>
            <a:endParaRPr lang="en-US" altLang="zh-C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596336" y="164637"/>
            <a:ext cx="1269554" cy="1308696"/>
          </a:xfrm>
          <a:prstGeom prst="rect">
            <a:avLst/>
          </a:prstGeom>
          <a:noFill/>
          <a:ln w="9525">
            <a:noFill/>
            <a:miter lim="800000"/>
            <a:headEnd/>
            <a:tailEnd/>
          </a:ln>
        </p:spPr>
      </p:pic>
      <p:sp>
        <p:nvSpPr>
          <p:cNvPr id="6" name="TextBox 5"/>
          <p:cNvSpPr txBox="1"/>
          <p:nvPr/>
        </p:nvSpPr>
        <p:spPr>
          <a:xfrm>
            <a:off x="1259632" y="836713"/>
            <a:ext cx="5832648" cy="461665"/>
          </a:xfrm>
          <a:prstGeom prst="rect">
            <a:avLst/>
          </a:prstGeom>
          <a:noFill/>
          <a:ln w="15875">
            <a:solidFill>
              <a:schemeClr val="bg2">
                <a:lumMod val="25000"/>
              </a:schemeClr>
            </a:solidFill>
          </a:ln>
        </p:spPr>
        <p:txBody>
          <a:bodyPr wrap="square" rtlCol="0">
            <a:spAutoFit/>
          </a:bodyPr>
          <a:lstStyle/>
          <a:p>
            <a:r>
              <a:rPr lang="zh-CN" altLang="en-US" sz="2400" b="1" dirty="0">
                <a:solidFill>
                  <a:schemeClr val="bg2">
                    <a:lumMod val="25000"/>
                  </a:schemeClr>
                </a:solidFill>
                <a:latin typeface="华文新魏" panose="02010800040101010101" pitchFamily="2" charset="-122"/>
                <a:ea typeface="华文新魏" panose="02010800040101010101" pitchFamily="2" charset="-122"/>
              </a:rPr>
              <a:t>亚硝酸盐的测定方法</a:t>
            </a:r>
            <a:endParaRPr lang="zh-CN" altLang="en-US" sz="24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sp>
        <p:nvSpPr>
          <p:cNvPr id="9" name="内容占位符 8"/>
          <p:cNvSpPr>
            <a:spLocks noGrp="1"/>
          </p:cNvSpPr>
          <p:nvPr>
            <p:ph sz="quarter" idx="13"/>
          </p:nvPr>
        </p:nvSpPr>
        <p:spPr>
          <a:xfrm>
            <a:off x="467544" y="1700808"/>
            <a:ext cx="8153400" cy="5157192"/>
          </a:xfrm>
        </p:spPr>
        <p:txBody>
          <a:bodyPr>
            <a:normAutofit/>
          </a:bodyPr>
          <a:lstStyle/>
          <a:p>
            <a:r>
              <a:rPr lang="zh-CN" altLang="en-US" b="1" dirty="0"/>
              <a:t>国标亚硝酸盐的测量方法：</a:t>
            </a:r>
            <a:endParaRPr lang="en-US" altLang="zh-CN" dirty="0"/>
          </a:p>
          <a:p>
            <a:pPr marL="319405" indent="41275">
              <a:buFont typeface="Wingdings" panose="05000000000000000000" pitchFamily="2" charset="2"/>
              <a:buChar char="ü"/>
            </a:pPr>
            <a:r>
              <a:rPr lang="en-US" altLang="zh-CN" dirty="0"/>
              <a:t>  </a:t>
            </a:r>
            <a:r>
              <a:rPr lang="zh-CN" altLang="en-US" sz="2400" dirty="0"/>
              <a:t>一定酸度下，亚硝酸盐与氨基苯磺酰胺反应重氮化合物，再与</a:t>
            </a:r>
            <a:r>
              <a:rPr lang="en-US" altLang="zh-CN" sz="2400" dirty="0"/>
              <a:t>α-</a:t>
            </a:r>
            <a:r>
              <a:rPr lang="zh-CN" altLang="en-US" sz="2400" dirty="0"/>
              <a:t>萘乙二胺偶联，生成红色的偶氮化合物。</a:t>
            </a:r>
            <a:endParaRPr lang="en-US" altLang="zh-CN" sz="2400" dirty="0"/>
          </a:p>
          <a:p>
            <a:pPr lvl="1">
              <a:buFont typeface="Wingdings" panose="05000000000000000000" pitchFamily="2" charset="2"/>
              <a:buChar char="ü"/>
            </a:pPr>
            <a:r>
              <a:rPr lang="zh-CN" altLang="en-US" sz="2400" dirty="0"/>
              <a:t>红色偶氮化合物的最大吸收波长</a:t>
            </a:r>
            <a:r>
              <a:rPr lang="en-US" altLang="zh-CN" sz="2400" dirty="0"/>
              <a:t>540nm</a:t>
            </a:r>
            <a:r>
              <a:rPr lang="zh-CN" altLang="en-US" sz="2400" dirty="0"/>
              <a:t>。</a:t>
            </a:r>
            <a:endParaRPr lang="en-US" altLang="zh-CN" sz="2400" dirty="0"/>
          </a:p>
          <a:p>
            <a:pPr>
              <a:buFont typeface="Wingdings" panose="05000000000000000000" pitchFamily="2" charset="2"/>
              <a:buChar char="p"/>
            </a:pPr>
            <a:r>
              <a:rPr altLang="en-US" sz="2700" dirty="0"/>
              <a:t>测量范围</a:t>
            </a:r>
            <a:endParaRPr lang="en-US" altLang="en-US" sz="2700" dirty="0"/>
          </a:p>
          <a:p>
            <a:pPr lvl="1">
              <a:buFont typeface="Wingdings" panose="05000000000000000000" pitchFamily="2" charset="2"/>
              <a:buChar char="ü"/>
            </a:pPr>
            <a:r>
              <a:rPr lang="en-US" altLang="zh-CN" sz="2400" dirty="0"/>
              <a:t> </a:t>
            </a:r>
            <a:r>
              <a:rPr altLang="en-US" sz="2400" dirty="0"/>
              <a:t>摩尔吸光系数</a:t>
            </a:r>
            <a:r>
              <a:rPr lang="en-US" altLang="en-US" sz="2400" dirty="0"/>
              <a:t>46000 </a:t>
            </a:r>
            <a:r>
              <a:rPr lang="en-US" altLang="zh-CN" sz="2400" dirty="0"/>
              <a:t>L/mol cm</a:t>
            </a:r>
            <a:r>
              <a:rPr altLang="en-US" sz="2400" dirty="0"/>
              <a:t>（在</a:t>
            </a:r>
            <a:r>
              <a:rPr lang="en-US" altLang="en-US" sz="2400" dirty="0"/>
              <a:t>540</a:t>
            </a:r>
            <a:r>
              <a:rPr lang="en-US" altLang="zh-CN" sz="2400" dirty="0"/>
              <a:t>nm</a:t>
            </a:r>
            <a:r>
              <a:rPr altLang="en-US" sz="2400" dirty="0"/>
              <a:t>上），</a:t>
            </a:r>
            <a:r>
              <a:rPr altLang="en-US" sz="2400" dirty="0" err="1"/>
              <a:t>因此，紫外分光光度法测量亚硝酸盐的灵敏度很高</a:t>
            </a:r>
            <a:r>
              <a:rPr altLang="en-US" sz="2400" dirty="0"/>
              <a:t>。</a:t>
            </a:r>
            <a:endParaRPr lang="en-US" altLang="en-US" sz="2400" dirty="0"/>
          </a:p>
          <a:p>
            <a:pPr lvl="1">
              <a:buFont typeface="Wingdings" panose="05000000000000000000" pitchFamily="2" charset="2"/>
              <a:buChar char="ü"/>
            </a:pPr>
            <a:endParaRPr lang="en-US" altLang="en-US" sz="2400" dirty="0"/>
          </a:p>
          <a:p>
            <a:pPr lvl="1">
              <a:buFont typeface="Wingdings" panose="05000000000000000000" pitchFamily="2" charset="2"/>
              <a:buChar char="ü"/>
            </a:pPr>
            <a:r>
              <a:rPr lang="zh-CN" altLang="en-US" sz="2400" dirty="0"/>
              <a:t>根据比尔朗伯定律，</a:t>
            </a:r>
            <a:r>
              <a:rPr altLang="en-US" sz="2400" dirty="0" err="1"/>
              <a:t>亚硝酸的线性浓度</a:t>
            </a:r>
            <a:r>
              <a:rPr lang="zh-CN" altLang="en-US" sz="2400" dirty="0"/>
              <a:t>在上限可</a:t>
            </a:r>
            <a:r>
              <a:rPr altLang="en-US" sz="2400" dirty="0"/>
              <a:t>到</a:t>
            </a:r>
            <a:r>
              <a:rPr lang="en-US" altLang="en-US" sz="2400" dirty="0"/>
              <a:t>10µ</a:t>
            </a:r>
            <a:r>
              <a:rPr lang="en-US" altLang="zh-CN" sz="2400" dirty="0"/>
              <a:t>mol/L</a:t>
            </a:r>
            <a:r>
              <a:rPr altLang="en-US" sz="2400" dirty="0" err="1"/>
              <a:t>，但是因为摩尔吸光系数高，因此</a:t>
            </a:r>
            <a:r>
              <a:rPr lang="zh-CN" altLang="en-US" sz="2400" dirty="0"/>
              <a:t>实际测量中，</a:t>
            </a:r>
            <a:r>
              <a:rPr altLang="en-US" sz="2400" dirty="0"/>
              <a:t>浓度超过</a:t>
            </a:r>
            <a:r>
              <a:rPr lang="en-US" altLang="en-US" sz="2400" dirty="0"/>
              <a:t>3µ</a:t>
            </a:r>
            <a:r>
              <a:rPr lang="en-US" altLang="zh-CN" sz="2400" dirty="0"/>
              <a:t>mol/L</a:t>
            </a:r>
            <a:r>
              <a:rPr altLang="en-US" sz="2400" dirty="0"/>
              <a:t>，溶液就要稀释测量了</a:t>
            </a:r>
            <a:endParaRPr lang="en-US" altLang="zh-CN" sz="2400" dirty="0"/>
          </a:p>
        </p:txBody>
      </p:sp>
      <p:sp>
        <p:nvSpPr>
          <p:cNvPr id="7" name="TextBox 6"/>
          <p:cNvSpPr txBox="1"/>
          <p:nvPr/>
        </p:nvSpPr>
        <p:spPr>
          <a:xfrm>
            <a:off x="395536" y="4869160"/>
            <a:ext cx="8892480" cy="461665"/>
          </a:xfrm>
          <a:prstGeom prst="rect">
            <a:avLst/>
          </a:prstGeom>
          <a:noFill/>
        </p:spPr>
        <p:txBody>
          <a:bodyPr wrap="square" rtlCol="0">
            <a:spAutoFit/>
          </a:bodyPr>
          <a:lstStyle/>
          <a:p>
            <a:pPr lvl="1">
              <a:buFont typeface="Wingdings" panose="05000000000000000000" pitchFamily="2" charset="2"/>
              <a:buChar char="ü"/>
            </a:pPr>
            <a:r>
              <a:rPr lang="zh-CN" altLang="en-US" sz="2400" dirty="0"/>
              <a:t>磷钼蓝的摩尔吸光系数</a:t>
            </a:r>
            <a:r>
              <a:rPr lang="el-GR" altLang="zh-CN" sz="2400" dirty="0">
                <a:latin typeface="Arial Unicode MS"/>
                <a:ea typeface="Arial Unicode MS"/>
                <a:cs typeface="Arial Unicode MS"/>
              </a:rPr>
              <a:t>ε</a:t>
            </a:r>
            <a:r>
              <a:rPr lang="zh-CN" altLang="en-US" sz="2400" dirty="0"/>
              <a:t>为</a:t>
            </a:r>
            <a:r>
              <a:rPr lang="en-US" altLang="zh-CN" sz="2400" dirty="0"/>
              <a:t>22700L/mol cm</a:t>
            </a:r>
            <a:r>
              <a:rPr lang="zh-CN" altLang="en-US" sz="2400" dirty="0"/>
              <a:t>在</a:t>
            </a:r>
            <a:r>
              <a:rPr lang="en-US" altLang="zh-CN" sz="2400" dirty="0"/>
              <a:t>880nm</a:t>
            </a:r>
            <a:r>
              <a:rPr lang="zh-CN" altLang="en-US" sz="2400" dirty="0"/>
              <a:t>波长下</a:t>
            </a:r>
            <a:endParaRPr lang="en-US" altLang="en-US" sz="2400" dirty="0"/>
          </a:p>
        </p:txBody>
      </p:sp>
      <p:cxnSp>
        <p:nvCxnSpPr>
          <p:cNvPr id="8" name="直接连接符 7"/>
          <p:cNvCxnSpPr/>
          <p:nvPr/>
        </p:nvCxnSpPr>
        <p:spPr>
          <a:xfrm>
            <a:off x="1259632" y="4437112"/>
            <a:ext cx="4032448"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3923928" y="5661248"/>
            <a:ext cx="4032448"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mph" presetSubtype="2" fill="hold" nodeType="clickEffect">
                                  <p:stCondLst>
                                    <p:cond delay="0"/>
                                  </p:stCondLst>
                                  <p:childTnLst>
                                    <p:animClr clrSpc="rgb" dir="cw">
                                      <p:cBhvr override="childStyle">
                                        <p:cTn id="12" dur="2000" fill="hold"/>
                                        <p:tgtEl>
                                          <p:spTgt spid="9">
                                            <p:txEl>
                                              <p:pRg st="6" end="6"/>
                                            </p:txEl>
                                          </p:spTgt>
                                        </p:tgtEl>
                                        <p:attrNameLst>
                                          <p:attrName>style.color</p:attrName>
                                        </p:attrNameLst>
                                      </p:cBhvr>
                                      <p:to>
                                        <a:schemeClr val="accent2"/>
                                      </p:to>
                                    </p:animClr>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6" name="矩形 5"/>
          <p:cNvSpPr/>
          <p:nvPr/>
        </p:nvSpPr>
        <p:spPr>
          <a:xfrm>
            <a:off x="251520" y="1772816"/>
            <a:ext cx="8496944" cy="4867166"/>
          </a:xfrm>
          <a:prstGeom prst="rect">
            <a:avLst/>
          </a:prstGeom>
        </p:spPr>
        <p:txBody>
          <a:bodyPr wrap="square">
            <a:spAutoFit/>
          </a:bodyPr>
          <a:lstStyle/>
          <a:p>
            <a:pPr>
              <a:lnSpc>
                <a:spcPct val="120000"/>
              </a:lnSpc>
              <a:spcBef>
                <a:spcPts val="0"/>
              </a:spcBef>
              <a:buFont typeface="Wingdings" panose="05000000000000000000" pitchFamily="2" charset="2"/>
              <a:buChar char="Ø"/>
            </a:pPr>
            <a:r>
              <a:rPr lang="zh-CN" altLang="en-US" sz="2000" b="1" dirty="0"/>
              <a:t> 朗博比尔</a:t>
            </a:r>
            <a:r>
              <a:rPr lang="en-US" altLang="zh-CN" sz="2000" dirty="0"/>
              <a:t>(Lambert)-</a:t>
            </a:r>
            <a:r>
              <a:rPr lang="zh-CN" altLang="en-US" sz="2000" b="1" dirty="0"/>
              <a:t> </a:t>
            </a:r>
            <a:r>
              <a:rPr lang="en-US" altLang="zh-CN" sz="2000" dirty="0"/>
              <a:t>(Beer)</a:t>
            </a:r>
            <a:r>
              <a:rPr lang="zh-CN" altLang="en-US" sz="2000" dirty="0"/>
              <a:t>定律</a:t>
            </a:r>
            <a:r>
              <a:rPr lang="en-US" altLang="zh-CN" sz="2000" dirty="0"/>
              <a:t>: I</a:t>
            </a:r>
            <a:r>
              <a:rPr lang="en-US" altLang="zh-CN" sz="2000" baseline="-25000" dirty="0"/>
              <a:t>1</a:t>
            </a:r>
            <a:r>
              <a:rPr lang="en-US" altLang="zh-CN" sz="2000" dirty="0"/>
              <a:t>=I</a:t>
            </a:r>
            <a:r>
              <a:rPr lang="en-US" altLang="zh-CN" sz="2000" baseline="-25000" dirty="0"/>
              <a:t>0</a:t>
            </a:r>
            <a:r>
              <a:rPr lang="zh-CN" altLang="en-US" sz="2000" dirty="0"/>
              <a:t>*</a:t>
            </a:r>
            <a:r>
              <a:rPr lang="en-US" altLang="zh-CN" sz="2000" dirty="0"/>
              <a:t>10</a:t>
            </a:r>
            <a:r>
              <a:rPr lang="zh-CN" altLang="en-US" sz="2000" baseline="30000" dirty="0"/>
              <a:t>（</a:t>
            </a:r>
            <a:r>
              <a:rPr lang="en-US" altLang="zh-CN" sz="2000" baseline="30000" dirty="0"/>
              <a:t>-</a:t>
            </a:r>
            <a:r>
              <a:rPr lang="el-GR" altLang="zh-CN" sz="2000" baseline="30000" dirty="0"/>
              <a:t>ε</a:t>
            </a:r>
            <a:r>
              <a:rPr lang="en-US" altLang="zh-CN" sz="2000" baseline="30000" dirty="0" err="1"/>
              <a:t>lc</a:t>
            </a:r>
            <a:r>
              <a:rPr lang="zh-CN" altLang="en-US" sz="2000" baseline="30000" dirty="0"/>
              <a:t>）</a:t>
            </a:r>
            <a:r>
              <a:rPr lang="zh-CN" altLang="en-US" sz="2000" b="1" dirty="0">
                <a:ln>
                  <a:solidFill>
                    <a:schemeClr val="accent1"/>
                  </a:solidFill>
                </a:ln>
              </a:rPr>
              <a:t>当溶液中的物质浓度和显色强度成正比时，可以通过显色强度求溶液物质浓度</a:t>
            </a:r>
            <a:r>
              <a:rPr lang="zh-CN" altLang="en-US" sz="2000" dirty="0">
                <a:ln>
                  <a:solidFill>
                    <a:schemeClr val="accent1"/>
                  </a:solidFill>
                </a:ln>
                <a:solidFill>
                  <a:schemeClr val="accent6"/>
                </a:solidFill>
              </a:rPr>
              <a:t>。</a:t>
            </a:r>
            <a:endParaRPr lang="en-US" altLang="zh-CN" sz="2000" dirty="0">
              <a:ln>
                <a:solidFill>
                  <a:schemeClr val="accent1"/>
                </a:solidFill>
              </a:ln>
              <a:solidFill>
                <a:schemeClr val="accent6"/>
              </a:solidFill>
            </a:endParaRPr>
          </a:p>
          <a:p>
            <a:pPr marL="320040" lvl="1" indent="-320040">
              <a:lnSpc>
                <a:spcPct val="120000"/>
              </a:lnSpc>
              <a:spcBef>
                <a:spcPts val="0"/>
              </a:spcBef>
              <a:buClr>
                <a:schemeClr val="accent2"/>
              </a:buClr>
              <a:buSzPct val="60000"/>
              <a:buFont typeface="Wingdings" panose="05000000000000000000"/>
              <a:buChar char=""/>
            </a:pPr>
            <a:r>
              <a:rPr lang="zh-CN" altLang="en-US" sz="2000" dirty="0"/>
              <a:t>定义</a:t>
            </a:r>
            <a:r>
              <a:rPr lang="en-US" altLang="zh-CN" sz="2000" dirty="0"/>
              <a:t>ABS=</a:t>
            </a:r>
            <a:r>
              <a:rPr lang="el-GR" altLang="zh-CN" sz="2000" dirty="0"/>
              <a:t>ε</a:t>
            </a:r>
            <a:r>
              <a:rPr lang="en-US" altLang="zh-CN" sz="2000" dirty="0" err="1"/>
              <a:t>lc</a:t>
            </a:r>
            <a:r>
              <a:rPr lang="zh-CN" altLang="en-US" sz="2000" dirty="0"/>
              <a:t>，式中</a:t>
            </a:r>
            <a:r>
              <a:rPr lang="en-US" altLang="zh-CN" sz="2000" i="1" dirty="0"/>
              <a:t>ABS</a:t>
            </a:r>
            <a:r>
              <a:rPr lang="zh-CN" altLang="en-US" sz="2000" dirty="0"/>
              <a:t>为</a:t>
            </a:r>
            <a:r>
              <a:rPr lang="zh-CN" altLang="en-US" sz="2000" dirty="0">
                <a:hlinkClick r:id="rId1"/>
              </a:rPr>
              <a:t>吸光度</a:t>
            </a:r>
            <a:r>
              <a:rPr lang="en-US" altLang="zh-CN" sz="2000" dirty="0"/>
              <a:t>=-</a:t>
            </a:r>
            <a:r>
              <a:rPr lang="en-US" altLang="zh-CN" sz="2000" dirty="0" err="1"/>
              <a:t>lg</a:t>
            </a:r>
            <a:r>
              <a:rPr lang="zh-CN" altLang="en-US" sz="2000" dirty="0"/>
              <a:t>（</a:t>
            </a:r>
            <a:r>
              <a:rPr lang="en-US" altLang="zh-CN" sz="2000" dirty="0"/>
              <a:t>I</a:t>
            </a:r>
            <a:r>
              <a:rPr lang="en-US" altLang="zh-CN" sz="2000" baseline="-25000" dirty="0"/>
              <a:t>1</a:t>
            </a:r>
            <a:r>
              <a:rPr lang="en-US" altLang="zh-CN" sz="2000" dirty="0"/>
              <a:t>/I</a:t>
            </a:r>
            <a:r>
              <a:rPr lang="en-US" altLang="zh-CN" sz="2000" baseline="-25000" dirty="0"/>
              <a:t>0</a:t>
            </a:r>
            <a:r>
              <a:rPr lang="zh-CN" altLang="en-US" sz="2000" dirty="0"/>
              <a:t>），</a:t>
            </a:r>
            <a:r>
              <a:rPr lang="en-US" altLang="zh-CN" sz="2000" dirty="0"/>
              <a:t>l</a:t>
            </a:r>
            <a:r>
              <a:rPr lang="zh-CN" altLang="en-US" sz="2000" dirty="0"/>
              <a:t>为溶液层厚度，</a:t>
            </a:r>
            <a:r>
              <a:rPr lang="en-US" altLang="zh-CN" sz="2000" i="1" dirty="0"/>
              <a:t>c</a:t>
            </a:r>
            <a:r>
              <a:rPr lang="zh-CN" altLang="en-US" sz="2000" dirty="0"/>
              <a:t>为溶液的摩尔浓度， </a:t>
            </a:r>
            <a:r>
              <a:rPr lang="el-GR" altLang="zh-CN" sz="2000" dirty="0"/>
              <a:t>ε</a:t>
            </a:r>
            <a:r>
              <a:rPr lang="zh-CN" altLang="en-US" sz="2000" dirty="0"/>
              <a:t>为摩尔吸光系数。吸光系数与溶液的本性、温度以及波长等因素有关。当固定溶液层厚度</a:t>
            </a:r>
            <a:r>
              <a:rPr lang="en-US" altLang="zh-CN" sz="2000" dirty="0"/>
              <a:t>l</a:t>
            </a:r>
            <a:r>
              <a:rPr lang="zh-CN" altLang="en-US" sz="2000" dirty="0"/>
              <a:t>和吸光系数</a:t>
            </a:r>
            <a:r>
              <a:rPr lang="el-GR" altLang="zh-CN" sz="2000" dirty="0"/>
              <a:t>ε</a:t>
            </a:r>
            <a:r>
              <a:rPr lang="zh-CN" altLang="en-US" sz="2000" dirty="0"/>
              <a:t>时，吸光度</a:t>
            </a:r>
            <a:r>
              <a:rPr lang="en-US" altLang="zh-CN" sz="2000" dirty="0"/>
              <a:t>A</a:t>
            </a:r>
            <a:r>
              <a:rPr lang="zh-CN" altLang="en-US" sz="2000" dirty="0"/>
              <a:t>与溶液的浓度成线性关系。</a:t>
            </a:r>
            <a:endParaRPr lang="en-US" altLang="zh-CN" sz="2000" dirty="0"/>
          </a:p>
          <a:p>
            <a:pPr marL="320040" lvl="1" indent="-320040">
              <a:lnSpc>
                <a:spcPct val="120000"/>
              </a:lnSpc>
              <a:spcBef>
                <a:spcPts val="0"/>
              </a:spcBef>
              <a:buClr>
                <a:schemeClr val="accent2"/>
              </a:buClr>
              <a:buSzPct val="60000"/>
              <a:buFont typeface="Wingdings" panose="05000000000000000000"/>
              <a:buChar char=""/>
            </a:pPr>
            <a:r>
              <a:rPr lang="zh-CN" altLang="en-US" sz="2000" b="1" dirty="0"/>
              <a:t>在分光光度分析中，比尔定律是一个有限的定律，其成立条件是待测物为均一的稀溶液、气体等，无溶质、溶剂及悬浊物引起的散射；入射光为单色平行光。</a:t>
            </a:r>
            <a:endParaRPr lang="en-US" altLang="zh-CN" sz="2000" b="1" dirty="0"/>
          </a:p>
          <a:p>
            <a:pPr marL="320040" lvl="1" indent="-320040">
              <a:lnSpc>
                <a:spcPct val="120000"/>
              </a:lnSpc>
              <a:spcBef>
                <a:spcPts val="0"/>
              </a:spcBef>
              <a:buClr>
                <a:schemeClr val="accent2"/>
              </a:buClr>
              <a:buSzPct val="60000"/>
              <a:buFont typeface="Wingdings" panose="05000000000000000000"/>
              <a:buChar char=""/>
            </a:pPr>
            <a:r>
              <a:rPr lang="zh-CN" altLang="en-US" sz="2000" b="1" dirty="0"/>
              <a:t>不符合朗博比尔定律的前提条件，会造成偏离</a:t>
            </a:r>
            <a:endParaRPr lang="en-US" altLang="zh-CN" sz="2000" b="1" dirty="0"/>
          </a:p>
          <a:p>
            <a:pPr marL="800100" lvl="2" indent="-342900">
              <a:lnSpc>
                <a:spcPct val="120000"/>
              </a:lnSpc>
              <a:buClr>
                <a:schemeClr val="accent2"/>
              </a:buClr>
              <a:buSzPct val="60000"/>
              <a:buFont typeface="Wingdings" panose="05000000000000000000" pitchFamily="2" charset="2"/>
              <a:buChar char="ü"/>
            </a:pPr>
            <a:r>
              <a:rPr lang="zh-CN" altLang="en-US" sz="2000" b="1" dirty="0"/>
              <a:t>物理：</a:t>
            </a:r>
            <a:r>
              <a:rPr lang="zh-CN" altLang="en-US" sz="2000" dirty="0"/>
              <a:t>入射光的单色性不纯</a:t>
            </a:r>
            <a:endParaRPr lang="en-US" altLang="zh-CN" sz="2000" b="1" dirty="0"/>
          </a:p>
          <a:p>
            <a:pPr marL="800100" lvl="2" indent="-342900">
              <a:lnSpc>
                <a:spcPct val="120000"/>
              </a:lnSpc>
              <a:buClr>
                <a:schemeClr val="accent2"/>
              </a:buClr>
              <a:buSzPct val="60000"/>
              <a:buFont typeface="Wingdings" panose="05000000000000000000" pitchFamily="2" charset="2"/>
              <a:buChar char="ü"/>
            </a:pPr>
            <a:r>
              <a:rPr lang="zh-CN" altLang="en-US" sz="2000" b="1" dirty="0"/>
              <a:t>化学：</a:t>
            </a:r>
            <a:r>
              <a:rPr lang="zh-CN" altLang="en-US" sz="2000" dirty="0"/>
              <a:t>溶液本身化学变化</a:t>
            </a:r>
            <a:endParaRPr lang="en-US" altLang="zh-CN" sz="2000" b="1" dirty="0"/>
          </a:p>
          <a:p>
            <a:pPr marL="800100" lvl="2" indent="-342900">
              <a:lnSpc>
                <a:spcPct val="120000"/>
              </a:lnSpc>
              <a:buClr>
                <a:schemeClr val="accent2"/>
              </a:buClr>
              <a:buSzPct val="60000"/>
              <a:buFont typeface="Wingdings" panose="05000000000000000000" pitchFamily="2" charset="2"/>
              <a:buChar char="ü"/>
            </a:pPr>
            <a:endParaRPr lang="en-US" altLang="zh-CN" sz="2000" b="1" dirty="0"/>
          </a:p>
        </p:txBody>
      </p:sp>
      <p:sp>
        <p:nvSpPr>
          <p:cNvPr id="9" name="标题 1"/>
          <p:cNvSpPr>
            <a:spLocks noGrp="1"/>
          </p:cNvSpPr>
          <p:nvPr>
            <p:ph type="title"/>
          </p:nvPr>
        </p:nvSpPr>
        <p:spPr>
          <a:xfrm>
            <a:off x="1655304" y="268228"/>
            <a:ext cx="5256584" cy="699260"/>
          </a:xfrm>
          <a:solidFill>
            <a:schemeClr val="accent1"/>
          </a:solidFill>
          <a:ln w="15875">
            <a:solidFill>
              <a:schemeClr val="tx1"/>
            </a:solidFill>
          </a:ln>
        </p:spPr>
        <p:txBody>
          <a:bodyPr/>
          <a:lstStyle/>
          <a:p>
            <a:pPr algn="ctr"/>
            <a:r>
              <a:rPr lang="zh-CN" altLang="en-US" sz="3200" dirty="0">
                <a:solidFill>
                  <a:schemeClr val="bg1"/>
                </a:solidFill>
                <a:latin typeface="华文新魏" panose="02010800040101010101" pitchFamily="2" charset="-122"/>
                <a:ea typeface="华文新魏" panose="02010800040101010101" pitchFamily="2" charset="-122"/>
              </a:rPr>
              <a:t>紫外吸收光谱的原理</a:t>
            </a:r>
            <a:endParaRPr lang="zh-CN" altLang="en-US" sz="3200" dirty="0">
              <a:solidFill>
                <a:schemeClr val="bg1"/>
              </a:solidFill>
              <a:latin typeface="华文新魏" panose="02010800040101010101" pitchFamily="2" charset="-122"/>
              <a:ea typeface="华文新魏" panose="02010800040101010101" pitchFamily="2" charset="-122"/>
            </a:endParaRPr>
          </a:p>
        </p:txBody>
      </p:sp>
      <p:pic>
        <p:nvPicPr>
          <p:cNvPr id="7" name="图片 5" descr="logo.jpg"/>
          <p:cNvPicPr>
            <a:picLocks noChangeAspect="1"/>
          </p:cNvPicPr>
          <p:nvPr/>
        </p:nvPicPr>
        <p:blipFill>
          <a:blip r:embed="rId2" cstate="print"/>
          <a:srcRect l="26245" t="34250" r="32184" b="36349"/>
          <a:stretch>
            <a:fillRect/>
          </a:stretch>
        </p:blipFill>
        <p:spPr bwMode="auto">
          <a:xfrm>
            <a:off x="7930033" y="116632"/>
            <a:ext cx="1187624" cy="1126226"/>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6" name="矩形 5"/>
          <p:cNvSpPr/>
          <p:nvPr/>
        </p:nvSpPr>
        <p:spPr>
          <a:xfrm>
            <a:off x="323528" y="1124744"/>
            <a:ext cx="8496944" cy="5975162"/>
          </a:xfrm>
          <a:prstGeom prst="rect">
            <a:avLst/>
          </a:prstGeom>
        </p:spPr>
        <p:txBody>
          <a:bodyPr wrap="square">
            <a:spAutoFit/>
          </a:bodyPr>
          <a:lstStyle/>
          <a:p>
            <a:pPr>
              <a:lnSpc>
                <a:spcPct val="120000"/>
              </a:lnSpc>
              <a:spcBef>
                <a:spcPts val="0"/>
              </a:spcBef>
              <a:buFont typeface="Wingdings" panose="05000000000000000000" pitchFamily="2" charset="2"/>
              <a:buChar char="Ø"/>
            </a:pPr>
            <a:r>
              <a:rPr lang="zh-CN" altLang="en-US" sz="2000" b="1" dirty="0"/>
              <a:t> 朗博比尔</a:t>
            </a:r>
            <a:r>
              <a:rPr lang="en-US" altLang="zh-CN" sz="2000" dirty="0"/>
              <a:t>(Lambert)-</a:t>
            </a:r>
            <a:r>
              <a:rPr lang="zh-CN" altLang="en-US" sz="2000" b="1" dirty="0"/>
              <a:t> </a:t>
            </a:r>
            <a:r>
              <a:rPr lang="en-US" altLang="zh-CN" sz="2000" dirty="0"/>
              <a:t>(Beer)</a:t>
            </a:r>
            <a:r>
              <a:rPr lang="zh-CN" altLang="en-US" sz="2000" dirty="0"/>
              <a:t>定律</a:t>
            </a:r>
            <a:r>
              <a:rPr lang="zh-CN" altLang="en-US" sz="2000" b="1" dirty="0"/>
              <a:t>是一个有限的定律，其成立条件是待测物为均一的稀溶液、气体等，无溶质、溶剂及悬浊物引起的散射；入射光为单色平行光。</a:t>
            </a:r>
            <a:endParaRPr lang="en-US" altLang="zh-CN" sz="2000" b="1" dirty="0"/>
          </a:p>
          <a:p>
            <a:pPr marL="320040" lvl="1" indent="-320040">
              <a:lnSpc>
                <a:spcPct val="120000"/>
              </a:lnSpc>
              <a:spcBef>
                <a:spcPts val="0"/>
              </a:spcBef>
              <a:buClr>
                <a:schemeClr val="accent2"/>
              </a:buClr>
              <a:buSzPct val="60000"/>
              <a:buFont typeface="Wingdings" panose="05000000000000000000"/>
              <a:buChar char=""/>
            </a:pPr>
            <a:r>
              <a:rPr lang="zh-CN" altLang="en-US" sz="2000" b="1" dirty="0"/>
              <a:t>不符合朗博比尔定律的前提条件，会造成偏离</a:t>
            </a:r>
            <a:endParaRPr lang="en-US" altLang="zh-CN" sz="2000" b="1" dirty="0"/>
          </a:p>
          <a:p>
            <a:pPr marL="800100" lvl="2" indent="-342900">
              <a:lnSpc>
                <a:spcPct val="120000"/>
              </a:lnSpc>
              <a:buClr>
                <a:schemeClr val="accent2"/>
              </a:buClr>
              <a:buSzPct val="60000"/>
              <a:buFont typeface="Wingdings" panose="05000000000000000000" pitchFamily="2" charset="2"/>
              <a:buChar char="ü"/>
            </a:pPr>
            <a:r>
              <a:rPr lang="zh-CN" altLang="en-US" sz="2000" b="1" dirty="0"/>
              <a:t>物理：</a:t>
            </a:r>
            <a:r>
              <a:rPr lang="zh-CN" altLang="en-US" sz="2000" dirty="0"/>
              <a:t>入射光的单色性不纯</a:t>
            </a:r>
            <a:endParaRPr lang="en-US" altLang="zh-CN" sz="2000" dirty="0"/>
          </a:p>
          <a:p>
            <a:pPr lvl="2" indent="-457200">
              <a:lnSpc>
                <a:spcPct val="120000"/>
              </a:lnSpc>
              <a:buClr>
                <a:schemeClr val="accent2"/>
              </a:buClr>
              <a:buSzPct val="60000"/>
              <a:buFont typeface="+mj-lt"/>
              <a:buAutoNum type="arabicPeriod"/>
            </a:pPr>
            <a:r>
              <a:rPr lang="zh-CN" altLang="en-US" sz="2000" dirty="0">
                <a:hlinkClick r:id="rId1"/>
              </a:rPr>
              <a:t>入射光</a:t>
            </a:r>
            <a:r>
              <a:rPr lang="zh-CN" altLang="en-US" sz="2000" dirty="0"/>
              <a:t>实际为一很窄波段的谱带，由于分光光度计分光系统在工作波长附近或多或少含有其他杂色光，杂散光</a:t>
            </a:r>
            <a:r>
              <a:rPr lang="en-US" altLang="zh-CN" sz="2000" dirty="0"/>
              <a:t>(</a:t>
            </a:r>
            <a:r>
              <a:rPr lang="zh-CN" altLang="en-US" sz="2000" dirty="0"/>
              <a:t>非吸收光</a:t>
            </a:r>
            <a:r>
              <a:rPr lang="en-US" altLang="zh-CN" sz="2000" dirty="0"/>
              <a:t>)</a:t>
            </a:r>
            <a:r>
              <a:rPr lang="zh-CN" altLang="en-US" sz="2000" dirty="0"/>
              <a:t>也会对比尔定律产生影响。</a:t>
            </a:r>
            <a:endParaRPr lang="en-US" altLang="zh-CN" sz="2000" dirty="0"/>
          </a:p>
          <a:p>
            <a:pPr lvl="2" indent="-457200">
              <a:lnSpc>
                <a:spcPct val="120000"/>
              </a:lnSpc>
              <a:buClr>
                <a:schemeClr val="accent2"/>
              </a:buClr>
              <a:buSzPct val="60000"/>
              <a:buFont typeface="Wingdings" panose="05000000000000000000" pitchFamily="2" charset="2"/>
              <a:buChar char="l"/>
            </a:pPr>
            <a:r>
              <a:rPr lang="zh-CN" altLang="en-US" sz="2000" dirty="0"/>
              <a:t>尽量使入射光的波长范围窄</a:t>
            </a:r>
            <a:endParaRPr lang="en-US" altLang="zh-CN" sz="2000" dirty="0"/>
          </a:p>
          <a:p>
            <a:pPr lvl="2" indent="-457200">
              <a:lnSpc>
                <a:spcPct val="120000"/>
              </a:lnSpc>
              <a:buClr>
                <a:schemeClr val="accent2"/>
              </a:buClr>
              <a:buSzPct val="60000"/>
              <a:buFont typeface="+mj-lt"/>
              <a:buAutoNum type="arabicPeriod"/>
            </a:pPr>
            <a:r>
              <a:rPr lang="zh-CN" altLang="en-US" sz="2000" dirty="0"/>
              <a:t>来自出射狭缝的光，其光谱带宽度大于吸收</a:t>
            </a:r>
            <a:r>
              <a:rPr lang="zh-CN" altLang="en-US" sz="2000" dirty="0">
                <a:hlinkClick r:id="rId2"/>
              </a:rPr>
              <a:t>光谱带</a:t>
            </a:r>
            <a:r>
              <a:rPr lang="zh-CN" altLang="en-US" sz="2000" dirty="0"/>
              <a:t>时，则投射在试样上的光就有非吸收，导致灵敏度的下降，且使校正曲线弯向横坐标轴，偏离朗伯</a:t>
            </a:r>
            <a:r>
              <a:rPr lang="en-US" altLang="zh-CN" sz="2000" dirty="0"/>
              <a:t>-</a:t>
            </a:r>
            <a:r>
              <a:rPr lang="zh-CN" altLang="en-US" sz="2000" dirty="0"/>
              <a:t>比尔定律。</a:t>
            </a:r>
            <a:endParaRPr lang="en-US" altLang="zh-CN" sz="2000" dirty="0"/>
          </a:p>
          <a:p>
            <a:pPr lvl="2" indent="-457200">
              <a:lnSpc>
                <a:spcPct val="120000"/>
              </a:lnSpc>
              <a:buClr>
                <a:schemeClr val="accent2"/>
              </a:buClr>
              <a:buSzPct val="60000"/>
              <a:buFont typeface="+mj-lt"/>
              <a:buAutoNum type="arabicPeriod"/>
            </a:pPr>
            <a:r>
              <a:rPr lang="zh-CN" altLang="en-US" sz="2000" dirty="0"/>
              <a:t>随着被测试样浓度的增加，非吸收光的影响增大。当吸收很小时，非吸收光的影响可忽略不计</a:t>
            </a:r>
            <a:endParaRPr lang="en-US" altLang="zh-CN" sz="2000" dirty="0"/>
          </a:p>
          <a:p>
            <a:pPr lvl="2" indent="-457200">
              <a:lnSpc>
                <a:spcPct val="120000"/>
              </a:lnSpc>
              <a:buClr>
                <a:schemeClr val="accent2"/>
              </a:buClr>
              <a:buSzPct val="60000"/>
              <a:buFont typeface="Wingdings" panose="05000000000000000000" pitchFamily="2" charset="2"/>
              <a:buChar char="l"/>
            </a:pPr>
            <a:r>
              <a:rPr lang="zh-CN" altLang="en-US" sz="2000" b="1" dirty="0"/>
              <a:t>降低被测物浓度</a:t>
            </a:r>
            <a:endParaRPr lang="en-US" altLang="zh-CN" sz="2000" b="1" dirty="0"/>
          </a:p>
          <a:p>
            <a:pPr marL="800100" lvl="2" indent="-342900">
              <a:lnSpc>
                <a:spcPct val="120000"/>
              </a:lnSpc>
              <a:buClr>
                <a:schemeClr val="accent2"/>
              </a:buClr>
              <a:buSzPct val="60000"/>
              <a:buFont typeface="Wingdings" panose="05000000000000000000" pitchFamily="2" charset="2"/>
              <a:buChar char="ü"/>
            </a:pPr>
            <a:endParaRPr lang="en-US" altLang="zh-CN" sz="2000" b="1" dirty="0"/>
          </a:p>
        </p:txBody>
      </p:sp>
      <p:sp>
        <p:nvSpPr>
          <p:cNvPr id="9" name="标题 1"/>
          <p:cNvSpPr>
            <a:spLocks noGrp="1"/>
          </p:cNvSpPr>
          <p:nvPr>
            <p:ph type="title"/>
          </p:nvPr>
        </p:nvSpPr>
        <p:spPr>
          <a:xfrm>
            <a:off x="1655304" y="268228"/>
            <a:ext cx="5256584" cy="699260"/>
          </a:xfrm>
          <a:solidFill>
            <a:schemeClr val="accent1"/>
          </a:solidFill>
          <a:ln w="15875">
            <a:solidFill>
              <a:schemeClr val="tx1"/>
            </a:solidFill>
          </a:ln>
        </p:spPr>
        <p:txBody>
          <a:bodyPr/>
          <a:lstStyle/>
          <a:p>
            <a:pPr algn="ctr"/>
            <a:r>
              <a:rPr lang="zh-CN" altLang="en-US" sz="3200" dirty="0">
                <a:solidFill>
                  <a:schemeClr val="bg1"/>
                </a:solidFill>
                <a:latin typeface="华文新魏" panose="02010800040101010101" pitchFamily="2" charset="-122"/>
                <a:ea typeface="华文新魏" panose="02010800040101010101" pitchFamily="2" charset="-122"/>
              </a:rPr>
              <a:t>紫外吸收光谱的原理</a:t>
            </a:r>
            <a:endParaRPr lang="zh-CN" altLang="en-US" sz="3200" dirty="0">
              <a:solidFill>
                <a:schemeClr val="bg1"/>
              </a:solidFill>
              <a:latin typeface="华文新魏" panose="02010800040101010101" pitchFamily="2" charset="-122"/>
              <a:ea typeface="华文新魏" panose="02010800040101010101" pitchFamily="2" charset="-122"/>
            </a:endParaRPr>
          </a:p>
        </p:txBody>
      </p:sp>
      <p:pic>
        <p:nvPicPr>
          <p:cNvPr id="5" name="图片 5" descr="logo.jpg"/>
          <p:cNvPicPr>
            <a:picLocks noChangeAspect="1"/>
          </p:cNvPicPr>
          <p:nvPr/>
        </p:nvPicPr>
        <p:blipFill>
          <a:blip r:embed="rId3" cstate="print"/>
          <a:srcRect l="26245" t="34250" r="32184" b="36349"/>
          <a:stretch>
            <a:fillRect/>
          </a:stretch>
        </p:blipFill>
        <p:spPr bwMode="auto">
          <a:xfrm>
            <a:off x="7956376" y="-1488"/>
            <a:ext cx="1187624" cy="1126226"/>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6" name="矩形 5"/>
          <p:cNvSpPr/>
          <p:nvPr/>
        </p:nvSpPr>
        <p:spPr>
          <a:xfrm>
            <a:off x="251520" y="1412776"/>
            <a:ext cx="8640960" cy="7083157"/>
          </a:xfrm>
          <a:prstGeom prst="rect">
            <a:avLst/>
          </a:prstGeom>
        </p:spPr>
        <p:txBody>
          <a:bodyPr wrap="square">
            <a:spAutoFit/>
          </a:bodyPr>
          <a:lstStyle/>
          <a:p>
            <a:pPr>
              <a:lnSpc>
                <a:spcPct val="120000"/>
              </a:lnSpc>
              <a:spcBef>
                <a:spcPts val="0"/>
              </a:spcBef>
              <a:buFont typeface="Wingdings" panose="05000000000000000000" pitchFamily="2" charset="2"/>
              <a:buChar char="Ø"/>
            </a:pPr>
            <a:r>
              <a:rPr lang="zh-CN" altLang="en-US" sz="2000" b="1" dirty="0"/>
              <a:t> 朗博比尔</a:t>
            </a:r>
            <a:r>
              <a:rPr lang="en-US" altLang="zh-CN" sz="2000" dirty="0"/>
              <a:t>(Lambert)-</a:t>
            </a:r>
            <a:r>
              <a:rPr lang="zh-CN" altLang="en-US" sz="2000" b="1" dirty="0"/>
              <a:t> </a:t>
            </a:r>
            <a:r>
              <a:rPr lang="en-US" altLang="zh-CN" sz="2000" dirty="0"/>
              <a:t>(Beer)</a:t>
            </a:r>
            <a:r>
              <a:rPr lang="zh-CN" altLang="en-US" sz="2000" dirty="0"/>
              <a:t>定律</a:t>
            </a:r>
            <a:r>
              <a:rPr lang="zh-CN" altLang="en-US" sz="2000" b="1" dirty="0"/>
              <a:t>是一个有限的定律，其成立条件是待测物为均一的稀溶液、气体等，无溶质、溶剂及悬浊物引起的散射；入射光为单色平行光。</a:t>
            </a:r>
            <a:endParaRPr lang="en-US" altLang="zh-CN" sz="2000" b="1" dirty="0"/>
          </a:p>
          <a:p>
            <a:pPr marL="320040" lvl="1" indent="-320040">
              <a:lnSpc>
                <a:spcPct val="120000"/>
              </a:lnSpc>
              <a:spcBef>
                <a:spcPts val="0"/>
              </a:spcBef>
              <a:buClr>
                <a:schemeClr val="accent2"/>
              </a:buClr>
              <a:buSzPct val="60000"/>
              <a:buFont typeface="Wingdings" panose="05000000000000000000"/>
              <a:buChar char=""/>
            </a:pPr>
            <a:r>
              <a:rPr lang="zh-CN" altLang="en-US" sz="2000" b="1" dirty="0"/>
              <a:t>不符合朗博比尔定律的前提条件，会造成偏离</a:t>
            </a:r>
            <a:endParaRPr lang="en-US" altLang="zh-CN" sz="2000" b="1" dirty="0"/>
          </a:p>
          <a:p>
            <a:pPr marL="800100" lvl="2" indent="-342900">
              <a:lnSpc>
                <a:spcPct val="120000"/>
              </a:lnSpc>
              <a:buClr>
                <a:schemeClr val="accent2"/>
              </a:buClr>
              <a:buSzPct val="60000"/>
              <a:buFont typeface="Wingdings" panose="05000000000000000000" pitchFamily="2" charset="2"/>
              <a:buChar char="ü"/>
            </a:pPr>
            <a:r>
              <a:rPr lang="zh-CN" altLang="en-US" sz="2000" b="1" dirty="0"/>
              <a:t>化学：</a:t>
            </a:r>
            <a:r>
              <a:rPr lang="zh-CN" altLang="en-US" sz="2000" dirty="0"/>
              <a:t>溶液本身化学变化</a:t>
            </a:r>
            <a:endParaRPr lang="en-US" altLang="zh-CN" sz="2000" dirty="0"/>
          </a:p>
          <a:p>
            <a:pPr lvl="2" indent="-457200">
              <a:lnSpc>
                <a:spcPct val="120000"/>
              </a:lnSpc>
              <a:buClr>
                <a:schemeClr val="accent2"/>
              </a:buClr>
              <a:buSzPct val="60000"/>
              <a:buFont typeface="+mj-lt"/>
              <a:buAutoNum type="arabicPeriod"/>
            </a:pPr>
            <a:r>
              <a:rPr lang="zh-CN" altLang="en-US" sz="2000" dirty="0"/>
              <a:t>样品溶液浓度：浓度高时，吸光粒子间的平均距离减小，受粒子间电荷分布相互作用的影响，他们的摩尔吸收系数发生改变，导致偏离比尔定律。浓度小于</a:t>
            </a:r>
            <a:r>
              <a:rPr lang="en-US" altLang="zh-CN" sz="2000" dirty="0"/>
              <a:t>0.01mol/L</a:t>
            </a:r>
            <a:r>
              <a:rPr lang="zh-CN" altLang="en-US" sz="2000" dirty="0"/>
              <a:t>的稀溶液。</a:t>
            </a:r>
            <a:endParaRPr lang="en-US" altLang="zh-CN" sz="2000" dirty="0"/>
          </a:p>
          <a:p>
            <a:pPr lvl="2" indent="-457200">
              <a:lnSpc>
                <a:spcPct val="120000"/>
              </a:lnSpc>
              <a:buClr>
                <a:schemeClr val="accent2"/>
              </a:buClr>
              <a:buSzPct val="60000"/>
              <a:buFont typeface="+mj-lt"/>
              <a:buAutoNum type="arabicPeriod"/>
            </a:pPr>
            <a:r>
              <a:rPr lang="zh-CN" altLang="en-US" sz="2000" b="1" dirty="0"/>
              <a:t>溶质和溶剂的性质</a:t>
            </a:r>
            <a:endParaRPr lang="en-US" altLang="zh-CN" sz="2000" b="1" dirty="0"/>
          </a:p>
          <a:p>
            <a:pPr lvl="2" indent="-457200">
              <a:lnSpc>
                <a:spcPct val="120000"/>
              </a:lnSpc>
              <a:buClr>
                <a:schemeClr val="accent2"/>
              </a:buClr>
              <a:buSzPct val="60000"/>
              <a:buFont typeface="+mj-lt"/>
              <a:buAutoNum type="arabicPeriod"/>
            </a:pPr>
            <a:r>
              <a:rPr lang="zh-CN" altLang="en-US" sz="2000" b="1" dirty="0"/>
              <a:t>介质不均匀性</a:t>
            </a:r>
            <a:endParaRPr lang="en-US" altLang="zh-CN" sz="2000" b="1" dirty="0"/>
          </a:p>
          <a:p>
            <a:pPr lvl="2" indent="-457200">
              <a:lnSpc>
                <a:spcPct val="120000"/>
              </a:lnSpc>
              <a:buClr>
                <a:schemeClr val="accent2"/>
              </a:buClr>
              <a:buSzPct val="60000"/>
              <a:buFont typeface="+mj-lt"/>
              <a:buAutoNum type="arabicPeriod"/>
            </a:pPr>
            <a:r>
              <a:rPr lang="zh-CN" altLang="en-US" sz="2000" b="1" dirty="0"/>
              <a:t>溶质的变化</a:t>
            </a:r>
            <a:endParaRPr lang="en-US" altLang="zh-CN" sz="2000" b="1" dirty="0"/>
          </a:p>
          <a:p>
            <a:pPr lvl="1" indent="-457200">
              <a:lnSpc>
                <a:spcPct val="120000"/>
              </a:lnSpc>
              <a:buClr>
                <a:schemeClr val="accent2"/>
              </a:buClr>
              <a:buSzPct val="60000"/>
              <a:buFont typeface="Wingdings" panose="05000000000000000000" pitchFamily="2" charset="2"/>
              <a:buChar char="p"/>
            </a:pPr>
            <a:r>
              <a:rPr lang="zh-CN" altLang="en-US" sz="2000" dirty="0"/>
              <a:t>根据比尔朗伯定律，亚硝酸的线性浓度在上限可到</a:t>
            </a:r>
            <a:r>
              <a:rPr lang="en-US" altLang="zh-CN" sz="2000" dirty="0"/>
              <a:t>10µmol/L</a:t>
            </a:r>
            <a:r>
              <a:rPr lang="zh-CN" altLang="en-US" sz="2000" dirty="0"/>
              <a:t>，但是因为摩尔吸光系数高，因此实际测量中，浓度超过</a:t>
            </a:r>
            <a:r>
              <a:rPr lang="en-US" altLang="zh-CN" sz="2000" dirty="0"/>
              <a:t>3µmol/L</a:t>
            </a:r>
            <a:r>
              <a:rPr lang="zh-CN" altLang="en-US" sz="2000" dirty="0"/>
              <a:t>，溶液就要稀释测量了</a:t>
            </a:r>
            <a:endParaRPr lang="zh-CN" altLang="en-US" sz="2000" dirty="0"/>
          </a:p>
          <a:p>
            <a:pPr lvl="2" indent="-457200">
              <a:lnSpc>
                <a:spcPct val="120000"/>
              </a:lnSpc>
              <a:buClr>
                <a:schemeClr val="accent2"/>
              </a:buClr>
              <a:buSzPct val="60000"/>
              <a:buFont typeface="+mj-lt"/>
              <a:buAutoNum type="arabicPeriod"/>
            </a:pPr>
            <a:endParaRPr lang="zh-CN" altLang="en-US" sz="2000" dirty="0"/>
          </a:p>
          <a:p>
            <a:pPr lvl="2" indent="-457200">
              <a:lnSpc>
                <a:spcPct val="120000"/>
              </a:lnSpc>
              <a:buClr>
                <a:schemeClr val="accent2"/>
              </a:buClr>
              <a:buSzPct val="60000"/>
              <a:buFont typeface="+mj-lt"/>
              <a:buAutoNum type="arabicPeriod"/>
            </a:pPr>
            <a:endParaRPr lang="zh-CN" altLang="en-US" sz="2000" dirty="0"/>
          </a:p>
          <a:p>
            <a:pPr lvl="2" indent="-457200">
              <a:lnSpc>
                <a:spcPct val="120000"/>
              </a:lnSpc>
              <a:buClr>
                <a:schemeClr val="accent2"/>
              </a:buClr>
              <a:buSzPct val="60000"/>
              <a:buFont typeface="+mj-lt"/>
              <a:buAutoNum type="arabicPeriod"/>
            </a:pPr>
            <a:endParaRPr lang="en-US" altLang="zh-CN" sz="2000" dirty="0"/>
          </a:p>
          <a:p>
            <a:pPr lvl="2" indent="-457200">
              <a:lnSpc>
                <a:spcPct val="120000"/>
              </a:lnSpc>
              <a:buClr>
                <a:schemeClr val="accent2"/>
              </a:buClr>
              <a:buSzPct val="60000"/>
              <a:buFont typeface="+mj-lt"/>
              <a:buAutoNum type="arabicPeriod"/>
            </a:pPr>
            <a:endParaRPr lang="en-US" altLang="zh-CN" sz="2000" b="1" dirty="0"/>
          </a:p>
          <a:p>
            <a:pPr marL="800100" lvl="2" indent="-342900">
              <a:lnSpc>
                <a:spcPct val="120000"/>
              </a:lnSpc>
              <a:buClr>
                <a:schemeClr val="accent2"/>
              </a:buClr>
              <a:buSzPct val="60000"/>
              <a:buFont typeface="Wingdings" panose="05000000000000000000" pitchFamily="2" charset="2"/>
              <a:buChar char="ü"/>
            </a:pPr>
            <a:endParaRPr lang="en-US" altLang="zh-CN" sz="2000" b="1" dirty="0"/>
          </a:p>
        </p:txBody>
      </p:sp>
      <p:sp>
        <p:nvSpPr>
          <p:cNvPr id="9" name="标题 1"/>
          <p:cNvSpPr>
            <a:spLocks noGrp="1"/>
          </p:cNvSpPr>
          <p:nvPr>
            <p:ph type="title"/>
          </p:nvPr>
        </p:nvSpPr>
        <p:spPr>
          <a:xfrm>
            <a:off x="1655304" y="268228"/>
            <a:ext cx="5256584" cy="699260"/>
          </a:xfrm>
          <a:solidFill>
            <a:schemeClr val="accent1"/>
          </a:solidFill>
          <a:ln w="15875">
            <a:solidFill>
              <a:schemeClr val="tx1"/>
            </a:solidFill>
          </a:ln>
        </p:spPr>
        <p:txBody>
          <a:bodyPr/>
          <a:lstStyle/>
          <a:p>
            <a:pPr algn="ctr"/>
            <a:r>
              <a:rPr lang="zh-CN" altLang="en-US" sz="3200" dirty="0">
                <a:solidFill>
                  <a:schemeClr val="bg1"/>
                </a:solidFill>
                <a:latin typeface="华文新魏" panose="02010800040101010101" pitchFamily="2" charset="-122"/>
                <a:ea typeface="华文新魏" panose="02010800040101010101" pitchFamily="2" charset="-122"/>
              </a:rPr>
              <a:t>紫外吸收光谱的原理</a:t>
            </a:r>
            <a:endParaRPr lang="zh-CN" altLang="en-US" sz="3200" dirty="0">
              <a:solidFill>
                <a:schemeClr val="bg1"/>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596336" y="164637"/>
            <a:ext cx="1269554" cy="1308696"/>
          </a:xfrm>
          <a:prstGeom prst="rect">
            <a:avLst/>
          </a:prstGeom>
          <a:noFill/>
          <a:ln w="9525">
            <a:noFill/>
            <a:miter lim="800000"/>
            <a:headEnd/>
            <a:tailEnd/>
          </a:ln>
        </p:spPr>
      </p:pic>
      <p:sp>
        <p:nvSpPr>
          <p:cNvPr id="6" name="TextBox 5"/>
          <p:cNvSpPr txBox="1"/>
          <p:nvPr/>
        </p:nvSpPr>
        <p:spPr>
          <a:xfrm>
            <a:off x="1259632" y="836713"/>
            <a:ext cx="5832648" cy="461665"/>
          </a:xfrm>
          <a:prstGeom prst="rect">
            <a:avLst/>
          </a:prstGeom>
          <a:noFill/>
          <a:ln w="15875">
            <a:solidFill>
              <a:schemeClr val="bg2">
                <a:lumMod val="25000"/>
              </a:schemeClr>
            </a:solidFill>
          </a:ln>
        </p:spPr>
        <p:txBody>
          <a:bodyPr wrap="square" rtlCol="0">
            <a:spAutoFit/>
          </a:bodyPr>
          <a:lstStyle/>
          <a:p>
            <a:r>
              <a:rPr lang="zh-CN" altLang="en-US" sz="2400" b="1" dirty="0">
                <a:solidFill>
                  <a:schemeClr val="bg2">
                    <a:lumMod val="25000"/>
                  </a:schemeClr>
                </a:solidFill>
                <a:latin typeface="华文新魏" panose="02010800040101010101" pitchFamily="2" charset="-122"/>
                <a:ea typeface="华文新魏" panose="02010800040101010101" pitchFamily="2" charset="-122"/>
              </a:rPr>
              <a:t>亚硝酸盐的测定方法</a:t>
            </a:r>
            <a:endParaRPr lang="zh-CN" altLang="en-US" sz="24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sp>
        <p:nvSpPr>
          <p:cNvPr id="9" name="内容占位符 8"/>
          <p:cNvSpPr>
            <a:spLocks noGrp="1"/>
          </p:cNvSpPr>
          <p:nvPr>
            <p:ph sz="quarter" idx="13"/>
          </p:nvPr>
        </p:nvSpPr>
        <p:spPr>
          <a:xfrm>
            <a:off x="467544" y="1700808"/>
            <a:ext cx="8153400" cy="5157192"/>
          </a:xfrm>
        </p:spPr>
        <p:txBody>
          <a:bodyPr>
            <a:normAutofit/>
          </a:bodyPr>
          <a:lstStyle/>
          <a:p>
            <a:pPr>
              <a:buFont typeface="Wingdings" panose="05000000000000000000" pitchFamily="2" charset="2"/>
              <a:buChar char="p"/>
            </a:pPr>
            <a:r>
              <a:rPr altLang="en-US" sz="2700" dirty="0"/>
              <a:t>测量步骤的分析</a:t>
            </a:r>
            <a:endParaRPr lang="en-US" altLang="en-US" sz="2700" dirty="0"/>
          </a:p>
          <a:p>
            <a:pPr lvl="1">
              <a:buFont typeface="Wingdings" panose="05000000000000000000" pitchFamily="2" charset="2"/>
              <a:buChar char="ü"/>
            </a:pPr>
            <a:r>
              <a:rPr altLang="en-US" sz="2400" dirty="0"/>
              <a:t>大量亚硝酸盐的存在说明细菌活性高，应尽快加入试剂测量（</a:t>
            </a:r>
            <a:r>
              <a:rPr lang="en-US" altLang="en-US" sz="2400" dirty="0"/>
              <a:t>30</a:t>
            </a:r>
            <a:r>
              <a:rPr altLang="en-US" sz="2400" dirty="0"/>
              <a:t>分钟内）</a:t>
            </a:r>
            <a:endParaRPr lang="en-US" altLang="en-US" sz="2400" dirty="0"/>
          </a:p>
          <a:p>
            <a:pPr lvl="1">
              <a:buFont typeface="Wingdings" panose="05000000000000000000" pitchFamily="2" charset="2"/>
              <a:buChar char="ü"/>
            </a:pPr>
            <a:r>
              <a:rPr altLang="en-US" sz="2400" dirty="0"/>
              <a:t>浊度对水样的影响较大，因此当水样比较浑浊时，除了液槽校正、空白校正外，还需要做浊度校正</a:t>
            </a:r>
            <a:endParaRPr lang="en-US" altLang="en-US" sz="2400" dirty="0"/>
          </a:p>
          <a:p>
            <a:pPr lvl="1">
              <a:buFont typeface="Wingdings" panose="05000000000000000000" pitchFamily="2" charset="2"/>
              <a:buChar char="ü"/>
            </a:pPr>
            <a:r>
              <a:rPr lang="en-US" altLang="en-US" sz="2400" dirty="0"/>
              <a:t> </a:t>
            </a:r>
            <a:r>
              <a:rPr altLang="en-US" sz="2400" dirty="0"/>
              <a:t>亚硝酸盐生成偶氮化合物的速率很快，反应在</a:t>
            </a:r>
            <a:r>
              <a:rPr lang="en-US" altLang="en-US" sz="2400" dirty="0"/>
              <a:t>10</a:t>
            </a:r>
            <a:r>
              <a:rPr altLang="en-US" sz="2400" dirty="0"/>
              <a:t>分钟内</a:t>
            </a:r>
            <a:endParaRPr lang="en-US" altLang="en-US" sz="2400" dirty="0"/>
          </a:p>
          <a:p>
            <a:pPr lvl="1">
              <a:buFont typeface="Wingdings" panose="05000000000000000000" pitchFamily="2" charset="2"/>
              <a:buChar char="ü"/>
            </a:pPr>
            <a:endParaRPr lang="en-US" altLang="en-US" sz="2400" dirty="0"/>
          </a:p>
          <a:p>
            <a:pPr lvl="1">
              <a:buFont typeface="Wingdings" panose="05000000000000000000" pitchFamily="2" charset="2"/>
              <a:buChar char="ü"/>
            </a:pPr>
            <a:endParaRPr lang="en-US" altLang="zh-CN" sz="2400" dirty="0"/>
          </a:p>
        </p:txBody>
      </p:sp>
      <p:cxnSp>
        <p:nvCxnSpPr>
          <p:cNvPr id="7" name="直接连接符 6"/>
          <p:cNvCxnSpPr/>
          <p:nvPr/>
        </p:nvCxnSpPr>
        <p:spPr>
          <a:xfrm>
            <a:off x="3995936" y="4221088"/>
            <a:ext cx="4032448"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596336" y="164637"/>
            <a:ext cx="1269554" cy="1308696"/>
          </a:xfrm>
          <a:prstGeom prst="rect">
            <a:avLst/>
          </a:prstGeom>
          <a:noFill/>
          <a:ln w="9525">
            <a:noFill/>
            <a:miter lim="800000"/>
            <a:headEnd/>
            <a:tailEnd/>
          </a:ln>
        </p:spPr>
      </p:pic>
      <p:sp>
        <p:nvSpPr>
          <p:cNvPr id="6" name="TextBox 5"/>
          <p:cNvSpPr txBox="1"/>
          <p:nvPr/>
        </p:nvSpPr>
        <p:spPr>
          <a:xfrm>
            <a:off x="1259632" y="836713"/>
            <a:ext cx="5832648" cy="461665"/>
          </a:xfrm>
          <a:prstGeom prst="rect">
            <a:avLst/>
          </a:prstGeom>
          <a:noFill/>
          <a:ln w="15875">
            <a:solidFill>
              <a:schemeClr val="bg2">
                <a:lumMod val="25000"/>
              </a:schemeClr>
            </a:solidFill>
          </a:ln>
        </p:spPr>
        <p:txBody>
          <a:bodyPr wrap="square" rtlCol="0">
            <a:spAutoFit/>
          </a:bodyPr>
          <a:lstStyle/>
          <a:p>
            <a:r>
              <a:rPr lang="zh-CN" altLang="en-US" sz="2400" b="1" dirty="0">
                <a:solidFill>
                  <a:schemeClr val="bg2">
                    <a:lumMod val="25000"/>
                  </a:schemeClr>
                </a:solidFill>
                <a:latin typeface="华文新魏" panose="02010800040101010101" pitchFamily="2" charset="-122"/>
                <a:ea typeface="华文新魏" panose="02010800040101010101" pitchFamily="2" charset="-122"/>
              </a:rPr>
              <a:t>亚硝酸盐的测定步骤</a:t>
            </a:r>
            <a:endParaRPr lang="zh-CN" altLang="en-US" sz="2400" b="1" dirty="0">
              <a:solidFill>
                <a:schemeClr val="bg2">
                  <a:lumMod val="25000"/>
                </a:schemeClr>
              </a:solidFill>
              <a:latin typeface="华文新魏" panose="02010800040101010101" pitchFamily="2" charset="-122"/>
              <a:ea typeface="华文新魏" panose="02010800040101010101" pitchFamily="2" charset="-122"/>
            </a:endParaRPr>
          </a:p>
        </p:txBody>
      </p:sp>
      <p:pic>
        <p:nvPicPr>
          <p:cNvPr id="38914" name="Picture 2"/>
          <p:cNvPicPr>
            <a:picLocks noChangeAspect="1" noChangeArrowheads="1"/>
          </p:cNvPicPr>
          <p:nvPr/>
        </p:nvPicPr>
        <p:blipFill>
          <a:blip r:embed="rId2" cstate="print"/>
          <a:srcRect/>
          <a:stretch>
            <a:fillRect/>
          </a:stretch>
        </p:blipFill>
        <p:spPr bwMode="auto">
          <a:xfrm>
            <a:off x="3059833" y="1796819"/>
            <a:ext cx="5975623" cy="4776192"/>
          </a:xfrm>
          <a:prstGeom prst="rect">
            <a:avLst/>
          </a:prstGeom>
          <a:noFill/>
          <a:ln w="9525">
            <a:noFill/>
            <a:miter lim="800000"/>
            <a:headEnd/>
            <a:tailEnd/>
          </a:ln>
        </p:spPr>
      </p:pic>
      <p:sp>
        <p:nvSpPr>
          <p:cNvPr id="10" name="内容占位符 9"/>
          <p:cNvSpPr>
            <a:spLocks noGrp="1"/>
          </p:cNvSpPr>
          <p:nvPr>
            <p:ph sz="quarter" idx="13"/>
          </p:nvPr>
        </p:nvSpPr>
        <p:spPr>
          <a:xfrm>
            <a:off x="-15822" y="1892122"/>
            <a:ext cx="3312368" cy="4368800"/>
          </a:xfrm>
        </p:spPr>
        <p:txBody>
          <a:bodyPr>
            <a:normAutofit/>
          </a:bodyPr>
          <a:lstStyle/>
          <a:p>
            <a:pPr>
              <a:buNone/>
            </a:pPr>
            <a:r>
              <a:rPr lang="en-US" altLang="zh-CN" sz="2400" b="1" dirty="0">
                <a:solidFill>
                  <a:schemeClr val="accent4">
                    <a:lumMod val="75000"/>
                  </a:schemeClr>
                </a:solidFill>
                <a:latin typeface="华文楷体" panose="02010600040101010101" pitchFamily="2" charset="-122"/>
                <a:ea typeface="华文楷体" panose="02010600040101010101" pitchFamily="2" charset="-122"/>
              </a:rPr>
              <a:t>1</a:t>
            </a:r>
            <a:r>
              <a:rPr lang="zh-CN" altLang="en-US" sz="2400" b="1" dirty="0">
                <a:solidFill>
                  <a:schemeClr val="accent4">
                    <a:lumMod val="75000"/>
                  </a:schemeClr>
                </a:solidFill>
                <a:latin typeface="华文楷体" panose="02010600040101010101" pitchFamily="2" charset="-122"/>
                <a:ea typeface="华文楷体" panose="02010600040101010101" pitchFamily="2" charset="-122"/>
              </a:rPr>
              <a:t>）采样</a:t>
            </a:r>
            <a:endParaRPr lang="en-US" altLang="zh-CN" sz="2400" b="1" dirty="0">
              <a:solidFill>
                <a:schemeClr val="accent4">
                  <a:lumMod val="75000"/>
                </a:schemeClr>
              </a:solidFill>
              <a:latin typeface="华文楷体" panose="02010600040101010101" pitchFamily="2" charset="-122"/>
              <a:ea typeface="华文楷体" panose="02010600040101010101" pitchFamily="2" charset="-122"/>
            </a:endParaRPr>
          </a:p>
          <a:p>
            <a:pPr lvl="1">
              <a:buFont typeface="Wingdings" panose="05000000000000000000" pitchFamily="2" charset="2"/>
              <a:buChar char="Ø"/>
            </a:pPr>
            <a:r>
              <a:rPr lang="zh-CN" altLang="en-US" sz="2000" b="1" dirty="0">
                <a:solidFill>
                  <a:schemeClr val="accent4">
                    <a:lumMod val="75000"/>
                  </a:schemeClr>
                </a:solidFill>
                <a:latin typeface="华文楷体" panose="02010600040101010101" pitchFamily="2" charset="-122"/>
                <a:ea typeface="华文楷体" panose="02010600040101010101" pitchFamily="2" charset="-122"/>
              </a:rPr>
              <a:t>无需特别注意事项</a:t>
            </a:r>
            <a:endParaRPr lang="en-US" altLang="zh-CN" sz="2000" b="1" dirty="0">
              <a:solidFill>
                <a:schemeClr val="accent4">
                  <a:lumMod val="75000"/>
                </a:schemeClr>
              </a:solidFill>
              <a:latin typeface="华文楷体" panose="02010600040101010101" pitchFamily="2" charset="-122"/>
              <a:ea typeface="华文楷体" panose="02010600040101010101" pitchFamily="2" charset="-122"/>
            </a:endParaRPr>
          </a:p>
          <a:p>
            <a:pPr lvl="1">
              <a:buFont typeface="Wingdings" panose="05000000000000000000" pitchFamily="2" charset="2"/>
              <a:buChar char="Ø"/>
            </a:pPr>
            <a:r>
              <a:rPr lang="zh-CN" altLang="en-US" sz="2000" b="1" dirty="0">
                <a:solidFill>
                  <a:schemeClr val="accent4">
                    <a:lumMod val="75000"/>
                  </a:schemeClr>
                </a:solidFill>
                <a:latin typeface="华文楷体" panose="02010600040101010101" pitchFamily="2" charset="-122"/>
                <a:ea typeface="华文楷体" panose="02010600040101010101" pitchFamily="2" charset="-122"/>
              </a:rPr>
              <a:t>水样浑浊必须过滤。</a:t>
            </a:r>
            <a:r>
              <a:rPr lang="en-US" altLang="zh-CN" sz="2000" b="1" dirty="0" err="1">
                <a:solidFill>
                  <a:schemeClr val="accent4">
                    <a:lumMod val="75000"/>
                  </a:schemeClr>
                </a:solidFill>
                <a:latin typeface="华文楷体" panose="02010600040101010101" pitchFamily="2" charset="-122"/>
                <a:ea typeface="华文楷体" panose="02010600040101010101" pitchFamily="2" charset="-122"/>
              </a:rPr>
              <a:t>Nuclepore</a:t>
            </a:r>
            <a:r>
              <a:rPr lang="zh-CN" altLang="en-US" sz="2000" b="1" dirty="0">
                <a:solidFill>
                  <a:schemeClr val="accent4">
                    <a:lumMod val="75000"/>
                  </a:schemeClr>
                </a:solidFill>
                <a:latin typeface="华文楷体" panose="02010600040101010101" pitchFamily="2" charset="-122"/>
                <a:ea typeface="华文楷体" panose="02010600040101010101" pitchFamily="2" charset="-122"/>
              </a:rPr>
              <a:t>或</a:t>
            </a:r>
            <a:r>
              <a:rPr lang="en-US" altLang="zh-CN" sz="2000" b="1" dirty="0" err="1">
                <a:solidFill>
                  <a:schemeClr val="accent4">
                    <a:lumMod val="75000"/>
                  </a:schemeClr>
                </a:solidFill>
                <a:latin typeface="华文楷体" panose="02010600040101010101" pitchFamily="2" charset="-122"/>
                <a:ea typeface="华文楷体" panose="02010600040101010101" pitchFamily="2" charset="-122"/>
              </a:rPr>
              <a:t>Milipore</a:t>
            </a:r>
            <a:endParaRPr lang="en-US" altLang="zh-CN" sz="2000" b="1" dirty="0">
              <a:solidFill>
                <a:schemeClr val="accent4">
                  <a:lumMod val="75000"/>
                </a:schemeClr>
              </a:solidFill>
              <a:latin typeface="华文楷体" panose="02010600040101010101" pitchFamily="2" charset="-122"/>
              <a:ea typeface="华文楷体" panose="02010600040101010101" pitchFamily="2" charset="-122"/>
            </a:endParaRPr>
          </a:p>
          <a:p>
            <a:pPr lvl="1">
              <a:buFont typeface="Wingdings" panose="05000000000000000000" pitchFamily="2" charset="2"/>
              <a:buChar char="Ø"/>
            </a:pPr>
            <a:r>
              <a:rPr lang="zh-CN" altLang="en-US" sz="2000" b="1" dirty="0">
                <a:solidFill>
                  <a:schemeClr val="accent4">
                    <a:lumMod val="75000"/>
                  </a:schemeClr>
                </a:solidFill>
                <a:latin typeface="华文楷体" panose="02010600040101010101" pitchFamily="2" charset="-122"/>
                <a:ea typeface="华文楷体" panose="02010600040101010101" pitchFamily="2" charset="-122"/>
              </a:rPr>
              <a:t>大量亚硝酸盐存在，表明细菌活性高。应在分样后</a:t>
            </a:r>
            <a:r>
              <a:rPr lang="en-US" altLang="zh-CN" sz="2000" b="1" dirty="0">
                <a:solidFill>
                  <a:schemeClr val="accent4">
                    <a:lumMod val="75000"/>
                  </a:schemeClr>
                </a:solidFill>
                <a:latin typeface="华文楷体" panose="02010600040101010101" pitchFamily="2" charset="-122"/>
                <a:ea typeface="华文楷体" panose="02010600040101010101" pitchFamily="2" charset="-122"/>
              </a:rPr>
              <a:t>30</a:t>
            </a:r>
            <a:r>
              <a:rPr lang="zh-CN" altLang="en-US" sz="2000" b="1" dirty="0">
                <a:solidFill>
                  <a:schemeClr val="accent4">
                    <a:lumMod val="75000"/>
                  </a:schemeClr>
                </a:solidFill>
                <a:latin typeface="华文楷体" panose="02010600040101010101" pitchFamily="2" charset="-122"/>
                <a:ea typeface="华文楷体" panose="02010600040101010101" pitchFamily="2" charset="-122"/>
              </a:rPr>
              <a:t>分钟内加入试剂</a:t>
            </a:r>
            <a:endParaRPr lang="zh-CN" altLang="en-US" sz="2000" b="1" dirty="0">
              <a:solidFill>
                <a:schemeClr val="accent4">
                  <a:lumMod val="75000"/>
                </a:schemeClr>
              </a:solidFill>
              <a:latin typeface="华文楷体" panose="02010600040101010101" pitchFamily="2" charset="-122"/>
              <a:ea typeface="华文楷体" panose="020106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596336" y="164637"/>
            <a:ext cx="1269554" cy="1308696"/>
          </a:xfrm>
          <a:prstGeom prst="rect">
            <a:avLst/>
          </a:prstGeom>
          <a:noFill/>
          <a:ln w="9525">
            <a:noFill/>
            <a:miter lim="800000"/>
            <a:headEnd/>
            <a:tailEnd/>
          </a:ln>
        </p:spPr>
      </p:pic>
      <p:sp>
        <p:nvSpPr>
          <p:cNvPr id="6" name="TextBox 5"/>
          <p:cNvSpPr txBox="1"/>
          <p:nvPr/>
        </p:nvSpPr>
        <p:spPr>
          <a:xfrm>
            <a:off x="1259632" y="836713"/>
            <a:ext cx="5832648" cy="461665"/>
          </a:xfrm>
          <a:prstGeom prst="rect">
            <a:avLst/>
          </a:prstGeom>
          <a:noFill/>
          <a:ln w="15875">
            <a:solidFill>
              <a:schemeClr val="bg2">
                <a:lumMod val="25000"/>
              </a:schemeClr>
            </a:solidFill>
          </a:ln>
        </p:spPr>
        <p:txBody>
          <a:bodyPr wrap="square" rtlCol="0">
            <a:spAutoFit/>
          </a:bodyPr>
          <a:lstStyle/>
          <a:p>
            <a:r>
              <a:rPr lang="zh-CN" altLang="en-US" sz="2400" b="1" dirty="0">
                <a:solidFill>
                  <a:schemeClr val="bg2">
                    <a:lumMod val="25000"/>
                  </a:schemeClr>
                </a:solidFill>
                <a:latin typeface="华文新魏" panose="02010800040101010101" pitchFamily="2" charset="-122"/>
                <a:ea typeface="华文新魏" panose="02010800040101010101" pitchFamily="2" charset="-122"/>
              </a:rPr>
              <a:t>亚硝酸盐的测定步骤</a:t>
            </a:r>
            <a:endParaRPr lang="zh-CN" altLang="en-US" sz="24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pic>
        <p:nvPicPr>
          <p:cNvPr id="37890" name="Picture 2"/>
          <p:cNvPicPr>
            <a:picLocks noChangeAspect="1" noChangeArrowheads="1"/>
          </p:cNvPicPr>
          <p:nvPr/>
        </p:nvPicPr>
        <p:blipFill>
          <a:blip r:embed="rId2" cstate="print"/>
          <a:srcRect/>
          <a:stretch>
            <a:fillRect/>
          </a:stretch>
        </p:blipFill>
        <p:spPr bwMode="auto">
          <a:xfrm>
            <a:off x="611560" y="1796819"/>
            <a:ext cx="3600400" cy="4704523"/>
          </a:xfrm>
          <a:prstGeom prst="rect">
            <a:avLst/>
          </a:prstGeom>
          <a:noFill/>
          <a:ln w="9525">
            <a:noFill/>
            <a:miter lim="800000"/>
            <a:headEnd/>
            <a:tailEnd/>
          </a:ln>
        </p:spPr>
      </p:pic>
      <p:pic>
        <p:nvPicPr>
          <p:cNvPr id="37891" name="Picture 3"/>
          <p:cNvPicPr>
            <a:picLocks noChangeAspect="1" noChangeArrowheads="1"/>
          </p:cNvPicPr>
          <p:nvPr/>
        </p:nvPicPr>
        <p:blipFill>
          <a:blip r:embed="rId3" cstate="print"/>
          <a:srcRect/>
          <a:stretch>
            <a:fillRect/>
          </a:stretch>
        </p:blipFill>
        <p:spPr bwMode="auto">
          <a:xfrm>
            <a:off x="4355976" y="1796820"/>
            <a:ext cx="3524250" cy="4556257"/>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668344" y="164637"/>
            <a:ext cx="1197546" cy="1308696"/>
          </a:xfrm>
          <a:prstGeom prst="rect">
            <a:avLst/>
          </a:prstGeom>
          <a:noFill/>
          <a:ln w="9525">
            <a:noFill/>
            <a:miter lim="800000"/>
            <a:headEnd/>
            <a:tailEnd/>
          </a:ln>
        </p:spPr>
      </p:pic>
      <p:sp>
        <p:nvSpPr>
          <p:cNvPr id="6" name="TextBox 5"/>
          <p:cNvSpPr txBox="1"/>
          <p:nvPr/>
        </p:nvSpPr>
        <p:spPr>
          <a:xfrm>
            <a:off x="1259632" y="836713"/>
            <a:ext cx="5832648" cy="461665"/>
          </a:xfrm>
          <a:prstGeom prst="rect">
            <a:avLst/>
          </a:prstGeom>
          <a:noFill/>
          <a:ln w="15875">
            <a:solidFill>
              <a:schemeClr val="bg2">
                <a:lumMod val="25000"/>
              </a:schemeClr>
            </a:solidFill>
          </a:ln>
        </p:spPr>
        <p:txBody>
          <a:bodyPr wrap="square" rtlCol="0">
            <a:spAutoFit/>
          </a:bodyPr>
          <a:lstStyle/>
          <a:p>
            <a:r>
              <a:rPr lang="zh-CN" altLang="en-US" sz="2400" b="1" dirty="0">
                <a:solidFill>
                  <a:schemeClr val="bg2">
                    <a:lumMod val="25000"/>
                  </a:schemeClr>
                </a:solidFill>
                <a:latin typeface="华文新魏" panose="02010800040101010101" pitchFamily="2" charset="-122"/>
                <a:ea typeface="华文新魏" panose="02010800040101010101" pitchFamily="2" charset="-122"/>
              </a:rPr>
              <a:t>亚硝酸盐的测定步骤</a:t>
            </a:r>
            <a:endParaRPr lang="zh-CN" altLang="en-US" sz="24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pic>
        <p:nvPicPr>
          <p:cNvPr id="1026" name="Picture 2" descr="E:\课程\课件\课程图片\0.png"/>
          <p:cNvPicPr>
            <a:picLocks noChangeAspect="1" noChangeArrowheads="1"/>
          </p:cNvPicPr>
          <p:nvPr/>
        </p:nvPicPr>
        <p:blipFill>
          <a:blip r:embed="rId2" cstate="print"/>
          <a:srcRect/>
          <a:stretch>
            <a:fillRect/>
          </a:stretch>
        </p:blipFill>
        <p:spPr bwMode="auto">
          <a:xfrm>
            <a:off x="500034" y="1904990"/>
            <a:ext cx="7500990" cy="1381301"/>
          </a:xfrm>
          <a:prstGeom prst="rect">
            <a:avLst/>
          </a:prstGeom>
          <a:noFill/>
        </p:spPr>
      </p:pic>
      <p:pic>
        <p:nvPicPr>
          <p:cNvPr id="1027" name="Picture 3" descr="E:\课程\课件\课程图片\0.png"/>
          <p:cNvPicPr>
            <a:picLocks noChangeAspect="1" noChangeArrowheads="1"/>
          </p:cNvPicPr>
          <p:nvPr/>
        </p:nvPicPr>
        <p:blipFill>
          <a:blip r:embed="rId3" cstate="print"/>
          <a:srcRect/>
          <a:stretch>
            <a:fillRect/>
          </a:stretch>
        </p:blipFill>
        <p:spPr bwMode="auto">
          <a:xfrm>
            <a:off x="500034" y="3429000"/>
            <a:ext cx="6429420" cy="2000264"/>
          </a:xfrm>
          <a:prstGeom prst="rect">
            <a:avLst/>
          </a:prstGeom>
          <a:noFill/>
        </p:spPr>
      </p:pic>
      <p:cxnSp>
        <p:nvCxnSpPr>
          <p:cNvPr id="8" name="直接连接符 7"/>
          <p:cNvCxnSpPr/>
          <p:nvPr/>
        </p:nvCxnSpPr>
        <p:spPr>
          <a:xfrm>
            <a:off x="1547664" y="4365104"/>
            <a:ext cx="4032448"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1403648" y="2852936"/>
            <a:ext cx="6264696"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0"/>
            <a:ext cx="8153400" cy="836712"/>
          </a:xfrm>
          <a:solidFill>
            <a:schemeClr val="accent1"/>
          </a:solidFill>
        </p:spPr>
        <p:txBody>
          <a:bodyPr>
            <a:normAutofit/>
          </a:bodyPr>
          <a:lstStyle/>
          <a:p>
            <a:r>
              <a:rPr lang="zh-CN" altLang="en-US" sz="4000" b="1" dirty="0">
                <a:solidFill>
                  <a:schemeClr val="bg2"/>
                </a:solidFill>
              </a:rPr>
              <a:t>第九章 海水中氮元素的测定</a:t>
            </a:r>
            <a:endParaRPr lang="zh-CN" altLang="en-US" sz="4000" b="1" dirty="0">
              <a:solidFill>
                <a:schemeClr val="bg2"/>
              </a:solidFill>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668344" y="164637"/>
            <a:ext cx="1197546" cy="1308696"/>
          </a:xfrm>
          <a:prstGeom prst="rect">
            <a:avLst/>
          </a:prstGeom>
          <a:noFill/>
          <a:ln w="9525">
            <a:noFill/>
            <a:miter lim="800000"/>
            <a:headEnd/>
            <a:tailEnd/>
          </a:ln>
        </p:spPr>
      </p:pic>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sp>
        <p:nvSpPr>
          <p:cNvPr id="6" name="内容占位符 2"/>
          <p:cNvSpPr txBox="1"/>
          <p:nvPr/>
        </p:nvSpPr>
        <p:spPr>
          <a:xfrm>
            <a:off x="4427984" y="1796819"/>
            <a:ext cx="3458344" cy="3744416"/>
          </a:xfrm>
          <a:prstGeom prst="rect">
            <a:avLst/>
          </a:prstGeom>
        </p:spPr>
        <p:txBody>
          <a:bodyPr vert="horz">
            <a:normAutofit/>
          </a:bodyPr>
          <a:lstStyle/>
          <a:p>
            <a:pPr marL="640080" lvl="1" indent="-274320">
              <a:spcBef>
                <a:spcPts val="550"/>
              </a:spcBef>
              <a:buClr>
                <a:schemeClr val="accent1"/>
              </a:buClr>
              <a:buSzPct val="70000"/>
            </a:pPr>
            <a:endParaRPr lang="zh-CN" altLang="en-US" sz="2600" dirty="0"/>
          </a:p>
        </p:txBody>
      </p:sp>
      <p:sp>
        <p:nvSpPr>
          <p:cNvPr id="10" name="TextBox 9"/>
          <p:cNvSpPr txBox="1"/>
          <p:nvPr/>
        </p:nvSpPr>
        <p:spPr>
          <a:xfrm>
            <a:off x="1259632" y="836713"/>
            <a:ext cx="5832648" cy="461665"/>
          </a:xfrm>
          <a:prstGeom prst="rect">
            <a:avLst/>
          </a:prstGeom>
          <a:noFill/>
          <a:ln w="15875">
            <a:solidFill>
              <a:schemeClr val="bg2">
                <a:lumMod val="25000"/>
              </a:schemeClr>
            </a:solidFill>
          </a:ln>
        </p:spPr>
        <p:txBody>
          <a:bodyPr wrap="square" rtlCol="0">
            <a:spAutoFit/>
          </a:bodyPr>
          <a:lstStyle/>
          <a:p>
            <a:r>
              <a:rPr lang="zh-CN" altLang="en-US" sz="2400" b="1" dirty="0">
                <a:solidFill>
                  <a:schemeClr val="bg2">
                    <a:lumMod val="25000"/>
                  </a:schemeClr>
                </a:solidFill>
                <a:latin typeface="华文新魏" panose="02010800040101010101" pitchFamily="2" charset="-122"/>
                <a:ea typeface="华文新魏" panose="02010800040101010101" pitchFamily="2" charset="-122"/>
              </a:rPr>
              <a:t>营养要素的组成</a:t>
            </a:r>
            <a:endParaRPr lang="zh-CN" altLang="en-US" sz="24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14" name="内容占位符 5"/>
          <p:cNvSpPr txBox="1"/>
          <p:nvPr/>
        </p:nvSpPr>
        <p:spPr>
          <a:xfrm>
            <a:off x="457200" y="1922969"/>
            <a:ext cx="8229600" cy="4525963"/>
          </a:xfrm>
          <a:prstGeom prst="rect">
            <a:avLst/>
          </a:prstGeom>
        </p:spPr>
        <p:txBody>
          <a:bodyPr/>
          <a:lstStyle>
            <a:lvl1pPr marL="320040" indent="-320040" algn="l" rtl="0" eaLnBrk="1" latinLnBrk="0" hangingPunct="1">
              <a:spcBef>
                <a:spcPts val="700"/>
              </a:spcBef>
              <a:buClr>
                <a:schemeClr val="accent2"/>
              </a:buClr>
              <a:buSzPct val="60000"/>
              <a:buFont typeface="Wingdings" panose="05000000000000000000"/>
              <a:buChar char=""/>
              <a:defRPr kumimoji="0" lang="zh-CN"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panose="05020102010507070707"/>
              <a:buChar char=""/>
              <a:defRPr kumimoji="0" lang="zh-CN"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panose="05000000000000000000"/>
              <a:buChar char=""/>
              <a:defRPr kumimoji="0" lang="zh-CN"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panose="05000000000000000000"/>
              <a:buChar char=""/>
              <a:defRPr kumimoji="0" lang="zh-CN"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panose="05000000000000000000"/>
              <a:buChar char=""/>
              <a:defRPr kumimoji="0" lang="zh-CN"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panose="05000000000000000000"/>
              <a:buNone/>
              <a:defRPr kumimoji="0" lang="zh-CN"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kumimoji="0" lang="zh-CN"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kumimoji="0" lang="zh-CN"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kumimoji="0" lang="zh-CN" sz="1800" kern="1200" baseline="0">
                <a:solidFill>
                  <a:schemeClr val="tx1"/>
                </a:solidFill>
                <a:latin typeface="+mn-lt"/>
                <a:ea typeface="+mn-ea"/>
                <a:cs typeface="+mn-cs"/>
              </a:defRPr>
            </a:lvl9pPr>
          </a:lstStyle>
          <a:p>
            <a:r>
              <a:rPr lang="zh-CN" altLang="en-US" dirty="0"/>
              <a:t>提纲</a:t>
            </a:r>
            <a:endParaRPr lang="zh-CN" altLang="en-US" dirty="0"/>
          </a:p>
          <a:p>
            <a:pPr marL="914400" lvl="1" indent="-457200">
              <a:buFont typeface="+mj-lt"/>
              <a:buAutoNum type="arabicPeriod"/>
            </a:pPr>
            <a:r>
              <a:rPr lang="zh-CN" altLang="en-US" sz="2800" dirty="0">
                <a:solidFill>
                  <a:schemeClr val="tx2">
                    <a:lumMod val="65000"/>
                    <a:lumOff val="35000"/>
                  </a:schemeClr>
                </a:solidFill>
              </a:rPr>
              <a:t>海水中的氮元素组成</a:t>
            </a:r>
            <a:endParaRPr lang="zh-CN" altLang="en-US" sz="2800" dirty="0">
              <a:solidFill>
                <a:schemeClr val="tx2">
                  <a:lumMod val="65000"/>
                  <a:lumOff val="35000"/>
                </a:schemeClr>
              </a:solidFill>
            </a:endParaRPr>
          </a:p>
          <a:p>
            <a:pPr marL="914400" lvl="1" indent="-457200">
              <a:buFont typeface="+mj-lt"/>
              <a:buAutoNum type="arabicPeriod"/>
            </a:pPr>
            <a:r>
              <a:rPr lang="zh-CN" altLang="en-US" sz="2800" dirty="0">
                <a:solidFill>
                  <a:schemeClr val="tx2">
                    <a:lumMod val="65000"/>
                    <a:lumOff val="35000"/>
                  </a:schemeClr>
                </a:solidFill>
              </a:rPr>
              <a:t>海水中氮循环的重要意义</a:t>
            </a:r>
            <a:endParaRPr lang="zh-CN" altLang="en-US" sz="2800" dirty="0">
              <a:solidFill>
                <a:schemeClr val="tx2">
                  <a:lumMod val="65000"/>
                  <a:lumOff val="35000"/>
                </a:schemeClr>
              </a:solidFill>
            </a:endParaRPr>
          </a:p>
          <a:p>
            <a:pPr marL="914400" lvl="1" indent="-457200">
              <a:buFont typeface="+mj-lt"/>
              <a:buAutoNum type="arabicPeriod"/>
            </a:pPr>
            <a:r>
              <a:rPr lang="zh-CN" altLang="en-US" sz="2800" dirty="0"/>
              <a:t>海水中氮元素的测定方法</a:t>
            </a:r>
            <a:endParaRPr lang="zh-CN" altLang="en-US" sz="2800" dirty="0"/>
          </a:p>
          <a:p>
            <a:pPr marL="1314450" lvl="2" indent="-457200">
              <a:buFont typeface="+mj-lt"/>
              <a:buAutoNum type="alphaUcPeriod"/>
            </a:pPr>
            <a:r>
              <a:rPr lang="zh-CN" altLang="en-US" sz="2400" dirty="0">
                <a:solidFill>
                  <a:schemeClr val="tx2">
                    <a:lumMod val="65000"/>
                    <a:lumOff val="35000"/>
                  </a:schemeClr>
                </a:solidFill>
              </a:rPr>
              <a:t>亚硝酸盐</a:t>
            </a:r>
            <a:endParaRPr lang="en-US" altLang="zh-CN" sz="2400" dirty="0">
              <a:solidFill>
                <a:schemeClr val="tx2">
                  <a:lumMod val="65000"/>
                  <a:lumOff val="35000"/>
                </a:schemeClr>
              </a:solidFill>
            </a:endParaRPr>
          </a:p>
          <a:p>
            <a:pPr marL="1314450" lvl="2" indent="-457200">
              <a:buFont typeface="+mj-lt"/>
              <a:buAutoNum type="alphaUcPeriod"/>
            </a:pPr>
            <a:r>
              <a:rPr lang="zh-CN" altLang="en-US" sz="2400" b="1" dirty="0"/>
              <a:t>硝酸盐</a:t>
            </a:r>
            <a:endParaRPr lang="en-US" altLang="zh-CN" sz="2400" b="1" dirty="0"/>
          </a:p>
          <a:p>
            <a:pPr marL="1314450" lvl="2" indent="-457200">
              <a:buFont typeface="+mj-lt"/>
              <a:buAutoNum type="alphaUcPeriod"/>
            </a:pPr>
            <a:r>
              <a:rPr lang="zh-CN" altLang="en-US" dirty="0">
                <a:solidFill>
                  <a:schemeClr val="tx2">
                    <a:lumMod val="65000"/>
                    <a:lumOff val="35000"/>
                  </a:schemeClr>
                </a:solidFill>
              </a:rPr>
              <a:t>铵盐</a:t>
            </a:r>
            <a:endParaRPr lang="zh-CN" altLang="en-US" dirty="0">
              <a:solidFill>
                <a:schemeClr val="tx2">
                  <a:lumMod val="65000"/>
                  <a:lumOff val="35000"/>
                </a:schemeClr>
              </a:solidFill>
            </a:endParaRPr>
          </a:p>
          <a:p>
            <a:pPr marL="914400" lvl="1" indent="-457200">
              <a:buFont typeface="+mj-lt"/>
              <a:buAutoNum type="arabicPeriod"/>
            </a:pPr>
            <a:r>
              <a:rPr lang="zh-CN" altLang="en-US" sz="2800" dirty="0">
                <a:solidFill>
                  <a:schemeClr val="tx2">
                    <a:lumMod val="60000"/>
                    <a:lumOff val="40000"/>
                  </a:schemeClr>
                </a:solidFill>
              </a:rPr>
              <a:t>总氮的测量方法</a:t>
            </a:r>
            <a:endParaRPr lang="zh-CN" altLang="en-US" sz="2800" dirty="0">
              <a:solidFill>
                <a:schemeClr val="tx2">
                  <a:lumMod val="60000"/>
                  <a:lumOff val="40000"/>
                </a:schemeClr>
              </a:solidFill>
            </a:endParaRPr>
          </a:p>
          <a:p>
            <a:pPr marL="914400" lvl="1" indent="-457200">
              <a:buFont typeface="+mj-lt"/>
              <a:buAutoNum type="arabicPeriod"/>
            </a:pPr>
            <a:endParaRPr lang="zh-CN" altLang="en-US" dirty="0"/>
          </a:p>
          <a:p>
            <a:pPr marL="914400" lvl="1" indent="-457200">
              <a:buFont typeface="+mj-lt"/>
              <a:buAutoNum type="arabicPeriod"/>
            </a:pPr>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668344" y="164637"/>
            <a:ext cx="1197546" cy="1308696"/>
          </a:xfrm>
          <a:prstGeom prst="rect">
            <a:avLst/>
          </a:prstGeom>
          <a:noFill/>
          <a:ln w="9525">
            <a:noFill/>
            <a:miter lim="800000"/>
            <a:headEnd/>
            <a:tailEnd/>
          </a:ln>
        </p:spPr>
      </p:pic>
      <p:sp>
        <p:nvSpPr>
          <p:cNvPr id="6" name="TextBox 5"/>
          <p:cNvSpPr txBox="1"/>
          <p:nvPr/>
        </p:nvSpPr>
        <p:spPr>
          <a:xfrm>
            <a:off x="1259632" y="836713"/>
            <a:ext cx="5832648" cy="523220"/>
          </a:xfrm>
          <a:prstGeom prst="rect">
            <a:avLst/>
          </a:prstGeom>
          <a:noFill/>
          <a:ln w="15875">
            <a:solidFill>
              <a:schemeClr val="bg2">
                <a:lumMod val="25000"/>
              </a:schemeClr>
            </a:solidFill>
          </a:ln>
        </p:spPr>
        <p:txBody>
          <a:bodyPr wrap="square" rtlCol="0">
            <a:spAutoFit/>
          </a:bodyPr>
          <a:lstStyle/>
          <a:p>
            <a:r>
              <a:rPr altLang="en-US" sz="2800" b="1" dirty="0">
                <a:solidFill>
                  <a:schemeClr val="bg2">
                    <a:lumMod val="25000"/>
                  </a:schemeClr>
                </a:solidFill>
                <a:latin typeface="华文新魏" panose="02010800040101010101" pitchFamily="2" charset="-122"/>
                <a:ea typeface="华文新魏" panose="02010800040101010101" pitchFamily="2" charset="-122"/>
              </a:rPr>
              <a:t>海水中的</a:t>
            </a:r>
            <a:r>
              <a:rPr lang="zh-CN" altLang="en-US" sz="2800" b="1" dirty="0">
                <a:solidFill>
                  <a:schemeClr val="bg2">
                    <a:lumMod val="25000"/>
                  </a:schemeClr>
                </a:solidFill>
                <a:latin typeface="华文新魏" panose="02010800040101010101" pitchFamily="2" charset="-122"/>
                <a:ea typeface="华文新魏" panose="02010800040101010101" pitchFamily="2" charset="-122"/>
              </a:rPr>
              <a:t>硝酸盐</a:t>
            </a:r>
            <a:endParaRPr lang="zh-CN" altLang="en-US" sz="28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pic>
        <p:nvPicPr>
          <p:cNvPr id="2050" name="Picture 2" descr="E:\课程\课件\课程图片\0.png"/>
          <p:cNvPicPr>
            <a:picLocks noChangeAspect="1" noChangeArrowheads="1"/>
          </p:cNvPicPr>
          <p:nvPr/>
        </p:nvPicPr>
        <p:blipFill>
          <a:blip r:embed="rId2" cstate="print"/>
          <a:srcRect/>
          <a:stretch>
            <a:fillRect/>
          </a:stretch>
        </p:blipFill>
        <p:spPr bwMode="auto">
          <a:xfrm>
            <a:off x="642910" y="2714620"/>
            <a:ext cx="7929618" cy="3772959"/>
          </a:xfrm>
          <a:prstGeom prst="rect">
            <a:avLst/>
          </a:prstGeom>
          <a:noFill/>
        </p:spPr>
      </p:pic>
      <p:pic>
        <p:nvPicPr>
          <p:cNvPr id="9" name="Picture 2" descr="E:\课程\课件\课程图片\0.png"/>
          <p:cNvPicPr>
            <a:picLocks noChangeAspect="1" noChangeArrowheads="1"/>
          </p:cNvPicPr>
          <p:nvPr/>
        </p:nvPicPr>
        <p:blipFill>
          <a:blip r:embed="rId3" cstate="print"/>
          <a:srcRect/>
          <a:stretch>
            <a:fillRect/>
          </a:stretch>
        </p:blipFill>
        <p:spPr bwMode="auto">
          <a:xfrm>
            <a:off x="642910" y="1785926"/>
            <a:ext cx="7867648" cy="936949"/>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668344" y="164637"/>
            <a:ext cx="1197546" cy="1308696"/>
          </a:xfrm>
          <a:prstGeom prst="rect">
            <a:avLst/>
          </a:prstGeom>
          <a:noFill/>
          <a:ln w="9525">
            <a:noFill/>
            <a:miter lim="800000"/>
            <a:headEnd/>
            <a:tailEnd/>
          </a:ln>
        </p:spPr>
      </p:pic>
      <p:sp>
        <p:nvSpPr>
          <p:cNvPr id="6" name="TextBox 5"/>
          <p:cNvSpPr txBox="1"/>
          <p:nvPr/>
        </p:nvSpPr>
        <p:spPr>
          <a:xfrm>
            <a:off x="1259632" y="836713"/>
            <a:ext cx="5832648" cy="523220"/>
          </a:xfrm>
          <a:prstGeom prst="rect">
            <a:avLst/>
          </a:prstGeom>
          <a:noFill/>
          <a:ln w="15875">
            <a:solidFill>
              <a:schemeClr val="bg2">
                <a:lumMod val="25000"/>
              </a:schemeClr>
            </a:solidFill>
          </a:ln>
        </p:spPr>
        <p:txBody>
          <a:bodyPr wrap="square" rtlCol="0">
            <a:spAutoFit/>
          </a:bodyPr>
          <a:lstStyle/>
          <a:p>
            <a:r>
              <a:rPr altLang="en-US" sz="2800" b="1" dirty="0">
                <a:solidFill>
                  <a:schemeClr val="bg2">
                    <a:lumMod val="25000"/>
                  </a:schemeClr>
                </a:solidFill>
                <a:latin typeface="华文新魏" panose="02010800040101010101" pitchFamily="2" charset="-122"/>
                <a:ea typeface="华文新魏" panose="02010800040101010101" pitchFamily="2" charset="-122"/>
              </a:rPr>
              <a:t>海水中的</a:t>
            </a:r>
            <a:r>
              <a:rPr lang="zh-CN" altLang="en-US" sz="2800" b="1" dirty="0">
                <a:solidFill>
                  <a:schemeClr val="bg2">
                    <a:lumMod val="25000"/>
                  </a:schemeClr>
                </a:solidFill>
                <a:latin typeface="华文新魏" panose="02010800040101010101" pitchFamily="2" charset="-122"/>
                <a:ea typeface="华文新魏" panose="02010800040101010101" pitchFamily="2" charset="-122"/>
              </a:rPr>
              <a:t>硝酸盐</a:t>
            </a:r>
            <a:endParaRPr lang="zh-CN" altLang="en-US" sz="28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pic>
        <p:nvPicPr>
          <p:cNvPr id="3075" name="Picture 3" descr="E:\课程\课件\课程图片\0.png"/>
          <p:cNvPicPr>
            <a:picLocks noChangeAspect="1" noChangeArrowheads="1"/>
          </p:cNvPicPr>
          <p:nvPr/>
        </p:nvPicPr>
        <p:blipFill>
          <a:blip r:embed="rId2" cstate="print"/>
          <a:srcRect/>
          <a:stretch>
            <a:fillRect/>
          </a:stretch>
        </p:blipFill>
        <p:spPr bwMode="auto">
          <a:xfrm>
            <a:off x="323528" y="1988840"/>
            <a:ext cx="8382735" cy="3295664"/>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596336" y="164637"/>
            <a:ext cx="1269554" cy="1308696"/>
          </a:xfrm>
          <a:prstGeom prst="rect">
            <a:avLst/>
          </a:prstGeom>
          <a:noFill/>
          <a:ln w="9525">
            <a:noFill/>
            <a:miter lim="800000"/>
            <a:headEnd/>
            <a:tailEnd/>
          </a:ln>
        </p:spPr>
      </p:pic>
      <p:sp>
        <p:nvSpPr>
          <p:cNvPr id="6" name="TextBox 5"/>
          <p:cNvSpPr txBox="1"/>
          <p:nvPr/>
        </p:nvSpPr>
        <p:spPr>
          <a:xfrm>
            <a:off x="1259632" y="836713"/>
            <a:ext cx="5832648" cy="523220"/>
          </a:xfrm>
          <a:prstGeom prst="rect">
            <a:avLst/>
          </a:prstGeom>
          <a:noFill/>
          <a:ln w="15875">
            <a:solidFill>
              <a:schemeClr val="bg2">
                <a:lumMod val="25000"/>
              </a:schemeClr>
            </a:solidFill>
          </a:ln>
        </p:spPr>
        <p:txBody>
          <a:bodyPr wrap="square" rtlCol="0">
            <a:spAutoFit/>
          </a:bodyPr>
          <a:lstStyle/>
          <a:p>
            <a:r>
              <a:rPr lang="zh-CN" altLang="en-US" sz="2800" b="1" dirty="0">
                <a:solidFill>
                  <a:schemeClr val="bg2">
                    <a:lumMod val="25000"/>
                  </a:schemeClr>
                </a:solidFill>
                <a:latin typeface="华文新魏" panose="02010800040101010101" pitchFamily="2" charset="-122"/>
                <a:ea typeface="华文新魏" panose="02010800040101010101" pitchFamily="2" charset="-122"/>
              </a:rPr>
              <a:t>硝酸盐</a:t>
            </a:r>
            <a:r>
              <a:rPr altLang="en-US" sz="2800" b="1" dirty="0">
                <a:solidFill>
                  <a:schemeClr val="bg2">
                    <a:lumMod val="25000"/>
                  </a:schemeClr>
                </a:solidFill>
                <a:latin typeface="华文新魏" panose="02010800040101010101" pitchFamily="2" charset="-122"/>
                <a:ea typeface="华文新魏" panose="02010800040101010101" pitchFamily="2" charset="-122"/>
              </a:rPr>
              <a:t>的测量方法</a:t>
            </a:r>
            <a:endParaRPr lang="zh-CN" altLang="en-US" sz="28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sp>
        <p:nvSpPr>
          <p:cNvPr id="8" name="内容占位符 7"/>
          <p:cNvSpPr>
            <a:spLocks noGrp="1"/>
          </p:cNvSpPr>
          <p:nvPr>
            <p:ph sz="quarter" idx="13"/>
          </p:nvPr>
        </p:nvSpPr>
        <p:spPr>
          <a:xfrm>
            <a:off x="609600" y="1803400"/>
            <a:ext cx="7922840" cy="2554294"/>
          </a:xfrm>
        </p:spPr>
        <p:txBody>
          <a:bodyPr>
            <a:normAutofit/>
          </a:bodyPr>
          <a:lstStyle/>
          <a:p>
            <a:r>
              <a:rPr altLang="en-US" sz="2400" dirty="0">
                <a:latin typeface="微软雅黑" panose="020B0503020204020204" pitchFamily="34" charset="-122"/>
                <a:ea typeface="微软雅黑" panose="020B0503020204020204" pitchFamily="34" charset="-122"/>
              </a:rPr>
              <a:t>硝酸盐的测量主要以光度法为主，可分为直接法和间接法</a:t>
            </a:r>
            <a:endParaRPr lang="en-US" altLang="en-US" sz="2400" dirty="0">
              <a:latin typeface="微软雅黑" panose="020B0503020204020204" pitchFamily="34" charset="-122"/>
              <a:ea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rPr>
              <a:t> </a:t>
            </a:r>
            <a:r>
              <a:rPr altLang="en-US" sz="2400" dirty="0" err="1">
                <a:latin typeface="微软雅黑" panose="020B0503020204020204" pitchFamily="34" charset="-122"/>
                <a:ea typeface="微软雅黑" panose="020B0503020204020204" pitchFamily="34" charset="-122"/>
              </a:rPr>
              <a:t>硝酸</a:t>
            </a:r>
            <a:r>
              <a:rPr lang="zh-CN" altLang="en-US" sz="2400" dirty="0">
                <a:latin typeface="微软雅黑" panose="020B0503020204020204" pitchFamily="34" charset="-122"/>
                <a:ea typeface="微软雅黑" panose="020B0503020204020204" pitchFamily="34" charset="-122"/>
              </a:rPr>
              <a:t>盐</a:t>
            </a:r>
            <a:r>
              <a:rPr altLang="en-US" sz="2400" dirty="0" err="1">
                <a:latin typeface="微软雅黑" panose="020B0503020204020204" pitchFamily="34" charset="-122"/>
                <a:ea typeface="微软雅黑" panose="020B0503020204020204" pitchFamily="34" charset="-122"/>
              </a:rPr>
              <a:t>比较难测准，主要问题是测量方法的灵敏度，反应时间和海水中相关离子的干扰问题</a:t>
            </a:r>
            <a:endParaRPr lang="en-US" altLang="en-US" sz="2400" dirty="0">
              <a:latin typeface="微软雅黑" panose="020B0503020204020204" pitchFamily="34" charset="-122"/>
              <a:ea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rPr>
              <a:t> </a:t>
            </a:r>
            <a:r>
              <a:rPr altLang="en-US" sz="2400" dirty="0">
                <a:latin typeface="微软雅黑" panose="020B0503020204020204" pitchFamily="34" charset="-122"/>
                <a:ea typeface="微软雅黑" panose="020B0503020204020204" pitchFamily="34" charset="-122"/>
              </a:rPr>
              <a:t>直接法</a:t>
            </a:r>
            <a:endParaRPr lang="zh-CN" altLang="en-US" sz="2400" dirty="0">
              <a:latin typeface="微软雅黑" panose="020B0503020204020204" pitchFamily="34" charset="-122"/>
              <a:ea typeface="微软雅黑" panose="020B0503020204020204" pitchFamily="34" charset="-122"/>
            </a:endParaRPr>
          </a:p>
        </p:txBody>
      </p:sp>
      <p:pic>
        <p:nvPicPr>
          <p:cNvPr id="4098" name="Picture 2" descr="E:\课程\课件\课程图片\0.png"/>
          <p:cNvPicPr>
            <a:picLocks noChangeAspect="1" noChangeArrowheads="1"/>
          </p:cNvPicPr>
          <p:nvPr/>
        </p:nvPicPr>
        <p:blipFill>
          <a:blip r:embed="rId2" cstate="print"/>
          <a:srcRect/>
          <a:stretch>
            <a:fillRect/>
          </a:stretch>
        </p:blipFill>
        <p:spPr bwMode="auto">
          <a:xfrm>
            <a:off x="684820" y="4147864"/>
            <a:ext cx="7772400" cy="1981200"/>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668344" y="164637"/>
            <a:ext cx="1197546" cy="1308696"/>
          </a:xfrm>
          <a:prstGeom prst="rect">
            <a:avLst/>
          </a:prstGeom>
          <a:noFill/>
          <a:ln w="9525">
            <a:noFill/>
            <a:miter lim="800000"/>
            <a:headEnd/>
            <a:tailEnd/>
          </a:ln>
        </p:spPr>
      </p:pic>
      <p:sp>
        <p:nvSpPr>
          <p:cNvPr id="6" name="TextBox 5"/>
          <p:cNvSpPr txBox="1"/>
          <p:nvPr/>
        </p:nvSpPr>
        <p:spPr>
          <a:xfrm>
            <a:off x="1259632" y="836713"/>
            <a:ext cx="5832648" cy="523220"/>
          </a:xfrm>
          <a:prstGeom prst="rect">
            <a:avLst/>
          </a:prstGeom>
          <a:noFill/>
          <a:ln w="15875">
            <a:solidFill>
              <a:schemeClr val="bg2">
                <a:lumMod val="25000"/>
              </a:schemeClr>
            </a:solidFill>
          </a:ln>
        </p:spPr>
        <p:txBody>
          <a:bodyPr wrap="square" rtlCol="0">
            <a:spAutoFit/>
          </a:bodyPr>
          <a:lstStyle/>
          <a:p>
            <a:r>
              <a:rPr lang="zh-CN" altLang="en-US" sz="2800" b="1" dirty="0">
                <a:solidFill>
                  <a:schemeClr val="bg2">
                    <a:lumMod val="25000"/>
                  </a:schemeClr>
                </a:solidFill>
                <a:latin typeface="华文新魏" panose="02010800040101010101" pitchFamily="2" charset="-122"/>
                <a:ea typeface="华文新魏" panose="02010800040101010101" pitchFamily="2" charset="-122"/>
              </a:rPr>
              <a:t>硝酸盐</a:t>
            </a:r>
            <a:r>
              <a:rPr altLang="en-US" sz="2800" b="1" dirty="0">
                <a:solidFill>
                  <a:schemeClr val="bg2">
                    <a:lumMod val="25000"/>
                  </a:schemeClr>
                </a:solidFill>
                <a:latin typeface="华文新魏" panose="02010800040101010101" pitchFamily="2" charset="-122"/>
                <a:ea typeface="华文新魏" panose="02010800040101010101" pitchFamily="2" charset="-122"/>
              </a:rPr>
              <a:t>的测量方法</a:t>
            </a:r>
            <a:endParaRPr lang="zh-CN" altLang="en-US" sz="28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pic>
        <p:nvPicPr>
          <p:cNvPr id="5122" name="Picture 2" descr="E:\课程\课件\课程图片\0.png"/>
          <p:cNvPicPr>
            <a:picLocks noChangeAspect="1" noChangeArrowheads="1"/>
          </p:cNvPicPr>
          <p:nvPr/>
        </p:nvPicPr>
        <p:blipFill>
          <a:blip r:embed="rId2" cstate="print"/>
          <a:srcRect/>
          <a:stretch>
            <a:fillRect/>
          </a:stretch>
        </p:blipFill>
        <p:spPr bwMode="auto">
          <a:xfrm>
            <a:off x="500034" y="1928802"/>
            <a:ext cx="8086725" cy="1352550"/>
          </a:xfrm>
          <a:prstGeom prst="rect">
            <a:avLst/>
          </a:prstGeom>
          <a:noFill/>
        </p:spPr>
      </p:pic>
      <p:pic>
        <p:nvPicPr>
          <p:cNvPr id="5123" name="Picture 3" descr="E:\课程\课件\课程图片\0.png"/>
          <p:cNvPicPr>
            <a:picLocks noChangeAspect="1" noChangeArrowheads="1"/>
          </p:cNvPicPr>
          <p:nvPr/>
        </p:nvPicPr>
        <p:blipFill>
          <a:blip r:embed="rId3" cstate="print"/>
          <a:srcRect/>
          <a:stretch>
            <a:fillRect/>
          </a:stretch>
        </p:blipFill>
        <p:spPr bwMode="auto">
          <a:xfrm>
            <a:off x="428596" y="3357562"/>
            <a:ext cx="8358246" cy="1290590"/>
          </a:xfrm>
          <a:prstGeom prst="rect">
            <a:avLst/>
          </a:prstGeom>
          <a:noFill/>
        </p:spPr>
      </p:pic>
      <p:pic>
        <p:nvPicPr>
          <p:cNvPr id="5124" name="Picture 4" descr="E:\课程\课件\课程图片\0.png"/>
          <p:cNvPicPr>
            <a:picLocks noGrp="1" noChangeAspect="1" noChangeArrowheads="1"/>
          </p:cNvPicPr>
          <p:nvPr>
            <p:ph sz="quarter" idx="13"/>
          </p:nvPr>
        </p:nvPicPr>
        <p:blipFill>
          <a:blip r:embed="rId4" cstate="print"/>
          <a:srcRect/>
          <a:stretch>
            <a:fillRect/>
          </a:stretch>
        </p:blipFill>
        <p:spPr bwMode="auto">
          <a:xfrm>
            <a:off x="500034" y="4786322"/>
            <a:ext cx="8161478" cy="1143008"/>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668344" y="164637"/>
            <a:ext cx="1197546" cy="1308696"/>
          </a:xfrm>
          <a:prstGeom prst="rect">
            <a:avLst/>
          </a:prstGeom>
          <a:noFill/>
          <a:ln w="9525">
            <a:noFill/>
            <a:miter lim="800000"/>
            <a:headEnd/>
            <a:tailEnd/>
          </a:ln>
        </p:spPr>
      </p:pic>
      <p:sp>
        <p:nvSpPr>
          <p:cNvPr id="6" name="TextBox 5"/>
          <p:cNvSpPr txBox="1"/>
          <p:nvPr/>
        </p:nvSpPr>
        <p:spPr>
          <a:xfrm>
            <a:off x="1259632" y="836713"/>
            <a:ext cx="5832648" cy="523220"/>
          </a:xfrm>
          <a:prstGeom prst="rect">
            <a:avLst/>
          </a:prstGeom>
          <a:noFill/>
          <a:ln w="15875">
            <a:solidFill>
              <a:schemeClr val="bg2">
                <a:lumMod val="25000"/>
              </a:schemeClr>
            </a:solidFill>
          </a:ln>
        </p:spPr>
        <p:txBody>
          <a:bodyPr wrap="square" rtlCol="0">
            <a:spAutoFit/>
          </a:bodyPr>
          <a:lstStyle/>
          <a:p>
            <a:r>
              <a:rPr lang="zh-CN" altLang="en-US" sz="2800" b="1" dirty="0">
                <a:solidFill>
                  <a:schemeClr val="bg2">
                    <a:lumMod val="25000"/>
                  </a:schemeClr>
                </a:solidFill>
                <a:latin typeface="华文新魏" panose="02010800040101010101" pitchFamily="2" charset="-122"/>
                <a:ea typeface="华文新魏" panose="02010800040101010101" pitchFamily="2" charset="-122"/>
              </a:rPr>
              <a:t>硝酸盐</a:t>
            </a:r>
            <a:r>
              <a:rPr altLang="en-US" sz="2800" b="1" dirty="0">
                <a:solidFill>
                  <a:schemeClr val="bg2">
                    <a:lumMod val="25000"/>
                  </a:schemeClr>
                </a:solidFill>
                <a:latin typeface="华文新魏" panose="02010800040101010101" pitchFamily="2" charset="-122"/>
                <a:ea typeface="华文新魏" panose="02010800040101010101" pitchFamily="2" charset="-122"/>
              </a:rPr>
              <a:t>的测量方法</a:t>
            </a:r>
            <a:endParaRPr lang="zh-CN" altLang="en-US" sz="28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sp>
        <p:nvSpPr>
          <p:cNvPr id="9" name="内容占位符 8"/>
          <p:cNvSpPr>
            <a:spLocks noGrp="1"/>
          </p:cNvSpPr>
          <p:nvPr>
            <p:ph sz="quarter" idx="13"/>
          </p:nvPr>
        </p:nvSpPr>
        <p:spPr/>
        <p:txBody>
          <a:bodyPr/>
          <a:lstStyle/>
          <a:p>
            <a:r>
              <a:rPr altLang="en-US" dirty="0">
                <a:latin typeface="微软雅黑" panose="020B0503020204020204" pitchFamily="34" charset="-122"/>
                <a:ea typeface="微软雅黑" panose="020B0503020204020204" pitchFamily="34" charset="-122"/>
              </a:rPr>
              <a:t>还原剂的要求：</a:t>
            </a:r>
            <a:endParaRPr lang="en-US" altLang="en-US" dirty="0">
              <a:latin typeface="微软雅黑" panose="020B0503020204020204" pitchFamily="34" charset="-122"/>
              <a:ea typeface="微软雅黑" panose="020B0503020204020204" pitchFamily="34" charset="-122"/>
            </a:endParaRPr>
          </a:p>
          <a:p>
            <a:pPr lvl="1">
              <a:buFont typeface="Wingdings" panose="05000000000000000000" pitchFamily="2" charset="2"/>
              <a:buChar char="ü"/>
            </a:pPr>
            <a:r>
              <a:rPr altLang="en-US" dirty="0">
                <a:latin typeface="微软雅黑" panose="020B0503020204020204" pitchFamily="34" charset="-122"/>
                <a:ea typeface="微软雅黑" panose="020B0503020204020204" pitchFamily="34" charset="-122"/>
              </a:rPr>
              <a:t>能将硝酸盐定量还原成亚硝酸盐，还原率尽量高但</a:t>
            </a:r>
            <a:endParaRPr lang="en-US" altLang="en-US" dirty="0">
              <a:latin typeface="微软雅黑" panose="020B0503020204020204" pitchFamily="34" charset="-122"/>
              <a:ea typeface="微软雅黑" panose="020B0503020204020204" pitchFamily="34" charset="-122"/>
            </a:endParaRPr>
          </a:p>
          <a:p>
            <a:pPr lvl="1">
              <a:buNone/>
            </a:pPr>
            <a:r>
              <a:rPr altLang="en-US" dirty="0">
                <a:latin typeface="微软雅黑" panose="020B0503020204020204" pitchFamily="34" charset="-122"/>
                <a:ea typeface="微软雅黑" panose="020B0503020204020204" pitchFamily="34" charset="-122"/>
              </a:rPr>
              <a:t>不能过度还原</a:t>
            </a:r>
            <a:endParaRPr lang="en-US" altLang="en-US" dirty="0">
              <a:latin typeface="微软雅黑" panose="020B0503020204020204" pitchFamily="34" charset="-122"/>
              <a:ea typeface="微软雅黑" panose="020B0503020204020204" pitchFamily="34" charset="-122"/>
            </a:endParaRPr>
          </a:p>
          <a:p>
            <a:pPr lvl="1">
              <a:buFont typeface="Wingdings" panose="05000000000000000000" pitchFamily="2" charset="2"/>
              <a:buChar char="ü"/>
            </a:pPr>
            <a:r>
              <a:rPr lang="en-US" altLang="en-US" dirty="0">
                <a:latin typeface="微软雅黑" panose="020B0503020204020204" pitchFamily="34" charset="-122"/>
                <a:ea typeface="微软雅黑" panose="020B0503020204020204" pitchFamily="34" charset="-122"/>
              </a:rPr>
              <a:t> </a:t>
            </a:r>
            <a:r>
              <a:rPr altLang="en-US" dirty="0">
                <a:latin typeface="微软雅黑" panose="020B0503020204020204" pitchFamily="34" charset="-122"/>
                <a:ea typeface="微软雅黑" panose="020B0503020204020204" pitchFamily="34" charset="-122"/>
              </a:rPr>
              <a:t>还原速度要比较快</a:t>
            </a:r>
            <a:endParaRPr lang="en-US" altLang="en-US" dirty="0">
              <a:latin typeface="微软雅黑" panose="020B0503020204020204" pitchFamily="34" charset="-122"/>
              <a:ea typeface="微软雅黑" panose="020B0503020204020204" pitchFamily="34" charset="-122"/>
            </a:endParaRPr>
          </a:p>
          <a:p>
            <a:endParaRPr lang="zh-CN" altLang="en-US" dirty="0"/>
          </a:p>
        </p:txBody>
      </p:sp>
      <p:pic>
        <p:nvPicPr>
          <p:cNvPr id="6146" name="Picture 2" descr="E:\课程\课件\课程图片\0.png"/>
          <p:cNvPicPr>
            <a:picLocks noChangeAspect="1" noChangeArrowheads="1"/>
          </p:cNvPicPr>
          <p:nvPr/>
        </p:nvPicPr>
        <p:blipFill>
          <a:blip r:embed="rId2" cstate="print"/>
          <a:srcRect/>
          <a:stretch>
            <a:fillRect/>
          </a:stretch>
        </p:blipFill>
        <p:spPr bwMode="auto">
          <a:xfrm>
            <a:off x="500034" y="3857628"/>
            <a:ext cx="7734300" cy="1028700"/>
          </a:xfrm>
          <a:prstGeom prst="rect">
            <a:avLst/>
          </a:prstGeom>
          <a:noFill/>
        </p:spPr>
      </p:pic>
      <p:sp>
        <p:nvSpPr>
          <p:cNvPr id="12" name="矩形 11"/>
          <p:cNvSpPr/>
          <p:nvPr/>
        </p:nvSpPr>
        <p:spPr>
          <a:xfrm>
            <a:off x="971600" y="5156537"/>
            <a:ext cx="7643866" cy="1015663"/>
          </a:xfrm>
          <a:prstGeom prst="rect">
            <a:avLst/>
          </a:prstGeom>
        </p:spPr>
        <p:txBody>
          <a:bodyPr wrap="square">
            <a:spAutoFit/>
          </a:bodyPr>
          <a:lstStyle/>
          <a:p>
            <a:r>
              <a:rPr altLang="en-US" sz="2000" dirty="0">
                <a:latin typeface="微软雅黑" panose="020B0503020204020204" pitchFamily="34" charset="-122"/>
                <a:ea typeface="微软雅黑" panose="020B0503020204020204" pitchFamily="34" charset="-122"/>
              </a:rPr>
              <a:t>均相反应是在单一固相，气相，液相中进行的化学反应，即在反应过程中与其他物相没有物质交换的反应。固体均相反应是指在单一的固相中结构组元发生的局域重排过程。</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596336" y="164637"/>
            <a:ext cx="1269554" cy="1308696"/>
          </a:xfrm>
          <a:prstGeom prst="rect">
            <a:avLst/>
          </a:prstGeom>
          <a:noFill/>
          <a:ln w="9525">
            <a:noFill/>
            <a:miter lim="800000"/>
            <a:headEnd/>
            <a:tailEnd/>
          </a:ln>
        </p:spPr>
      </p:pic>
      <p:sp>
        <p:nvSpPr>
          <p:cNvPr id="6" name="TextBox 5"/>
          <p:cNvSpPr txBox="1"/>
          <p:nvPr/>
        </p:nvSpPr>
        <p:spPr>
          <a:xfrm>
            <a:off x="1259632" y="836713"/>
            <a:ext cx="5832648" cy="523220"/>
          </a:xfrm>
          <a:prstGeom prst="rect">
            <a:avLst/>
          </a:prstGeom>
          <a:noFill/>
          <a:ln w="15875">
            <a:solidFill>
              <a:schemeClr val="bg2">
                <a:lumMod val="25000"/>
              </a:schemeClr>
            </a:solidFill>
          </a:ln>
        </p:spPr>
        <p:txBody>
          <a:bodyPr wrap="square" rtlCol="0">
            <a:spAutoFit/>
          </a:bodyPr>
          <a:lstStyle/>
          <a:p>
            <a:r>
              <a:rPr lang="zh-CN" altLang="en-US" sz="2800" b="1" dirty="0">
                <a:solidFill>
                  <a:schemeClr val="bg2">
                    <a:lumMod val="25000"/>
                  </a:schemeClr>
                </a:solidFill>
                <a:latin typeface="华文新魏" panose="02010800040101010101" pitchFamily="2" charset="-122"/>
                <a:ea typeface="华文新魏" panose="02010800040101010101" pitchFamily="2" charset="-122"/>
              </a:rPr>
              <a:t>硝酸盐</a:t>
            </a:r>
            <a:r>
              <a:rPr altLang="en-US" sz="2800" b="1" dirty="0">
                <a:solidFill>
                  <a:schemeClr val="bg2">
                    <a:lumMod val="25000"/>
                  </a:schemeClr>
                </a:solidFill>
                <a:latin typeface="华文新魏" panose="02010800040101010101" pitchFamily="2" charset="-122"/>
                <a:ea typeface="华文新魏" panose="02010800040101010101" pitchFamily="2" charset="-122"/>
              </a:rPr>
              <a:t>的测量方法</a:t>
            </a:r>
            <a:endParaRPr lang="zh-CN" altLang="en-US" sz="28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sp>
        <p:nvSpPr>
          <p:cNvPr id="7" name="内容占位符 6"/>
          <p:cNvSpPr>
            <a:spLocks noGrp="1"/>
          </p:cNvSpPr>
          <p:nvPr>
            <p:ph idx="1"/>
          </p:nvPr>
        </p:nvSpPr>
        <p:spPr/>
        <p:txBody>
          <a:bodyPr/>
          <a:lstStyle/>
          <a:p>
            <a:r>
              <a:rPr lang="zh-CN" altLang="en-US" dirty="0">
                <a:latin typeface="微软雅黑" panose="020B0503020204020204" pitchFamily="34" charset="-122"/>
                <a:ea typeface="微软雅黑" panose="020B0503020204020204" pitchFamily="34" charset="-122"/>
              </a:rPr>
              <a:t>均相还原法：硫酸肼等。</a:t>
            </a:r>
            <a:endParaRPr lang="en-US" altLang="zh-CN" dirty="0">
              <a:latin typeface="微软雅黑" panose="020B0503020204020204" pitchFamily="34" charset="-122"/>
              <a:ea typeface="微软雅黑" panose="020B0503020204020204" pitchFamily="34" charset="-122"/>
            </a:endParaRPr>
          </a:p>
          <a:p>
            <a:pPr lvl="1">
              <a:buFont typeface="Wingdings" panose="05000000000000000000" pitchFamily="2" charset="2"/>
              <a:buChar char="ü"/>
            </a:pPr>
            <a:r>
              <a:rPr lang="zh-CN" altLang="en-US" dirty="0">
                <a:latin typeface="微软雅黑" panose="020B0503020204020204" pitchFamily="34" charset="-122"/>
                <a:ea typeface="微软雅黑" panose="020B0503020204020204" pitchFamily="34" charset="-122"/>
              </a:rPr>
              <a:t>在碱性介质中用铜离子催化</a:t>
            </a:r>
            <a:endParaRPr lang="en-US" altLang="zh-CN" dirty="0">
              <a:latin typeface="微软雅黑" panose="020B0503020204020204" pitchFamily="34" charset="-122"/>
              <a:ea typeface="微软雅黑" panose="020B0503020204020204" pitchFamily="34" charset="-122"/>
            </a:endParaRPr>
          </a:p>
          <a:p>
            <a:pPr lvl="1">
              <a:buFont typeface="Wingdings" panose="05000000000000000000" pitchFamily="2" charset="2"/>
              <a:buChar char="ü"/>
            </a:pPr>
            <a:r>
              <a:rPr lang="zh-CN" altLang="en-US" dirty="0">
                <a:latin typeface="微软雅黑" panose="020B0503020204020204" pitchFamily="34" charset="-122"/>
                <a:ea typeface="微软雅黑" panose="020B0503020204020204" pitchFamily="34" charset="-122"/>
              </a:rPr>
              <a:t>以酚</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酚钠盐为缓冲溶液，控制</a:t>
            </a:r>
            <a:r>
              <a:rPr lang="en-US" altLang="zh-CN" dirty="0">
                <a:latin typeface="微软雅黑" panose="020B0503020204020204" pitchFamily="34" charset="-122"/>
                <a:ea typeface="微软雅黑" panose="020B0503020204020204" pitchFamily="34" charset="-122"/>
              </a:rPr>
              <a:t>pH</a:t>
            </a:r>
            <a:r>
              <a:rPr lang="zh-CN" altLang="en-US" dirty="0">
                <a:latin typeface="微软雅黑" panose="020B0503020204020204" pitchFamily="34" charset="-122"/>
                <a:ea typeface="微软雅黑" panose="020B0503020204020204" pitchFamily="34" charset="-122"/>
              </a:rPr>
              <a:t>在</a:t>
            </a:r>
            <a:r>
              <a:rPr lang="en-US" altLang="zh-CN" dirty="0">
                <a:latin typeface="微软雅黑" panose="020B0503020204020204" pitchFamily="34" charset="-122"/>
                <a:ea typeface="微软雅黑" panose="020B0503020204020204" pitchFamily="34" charset="-122"/>
              </a:rPr>
              <a:t>9-9.5</a:t>
            </a:r>
            <a:r>
              <a:rPr lang="zh-CN" altLang="en-US" dirty="0">
                <a:latin typeface="微软雅黑" panose="020B0503020204020204" pitchFamily="34" charset="-122"/>
                <a:ea typeface="微软雅黑" panose="020B0503020204020204" pitchFamily="34" charset="-122"/>
              </a:rPr>
              <a:t>之间</a:t>
            </a:r>
            <a:endParaRPr lang="en-US" altLang="zh-CN" dirty="0">
              <a:latin typeface="微软雅黑" panose="020B0503020204020204" pitchFamily="34" charset="-122"/>
              <a:ea typeface="微软雅黑" panose="020B0503020204020204" pitchFamily="34" charset="-122"/>
            </a:endParaRPr>
          </a:p>
          <a:p>
            <a:pPr lvl="1">
              <a:buFont typeface="Wingdings" panose="05000000000000000000" pitchFamily="2" charset="2"/>
              <a:buChar char="ü"/>
            </a:pPr>
            <a:r>
              <a:rPr lang="zh-CN" altLang="en-US" dirty="0">
                <a:latin typeface="微软雅黑" panose="020B0503020204020204" pitchFamily="34" charset="-122"/>
                <a:ea typeface="微软雅黑" panose="020B0503020204020204" pitchFamily="34" charset="-122"/>
              </a:rPr>
              <a:t>还原时间太长（约</a:t>
            </a:r>
            <a:r>
              <a:rPr lang="en-US" altLang="zh-CN" dirty="0">
                <a:latin typeface="微软雅黑" panose="020B0503020204020204" pitchFamily="34" charset="-122"/>
                <a:ea typeface="微软雅黑" panose="020B0503020204020204" pitchFamily="34" charset="-122"/>
              </a:rPr>
              <a:t>24</a:t>
            </a:r>
            <a:r>
              <a:rPr lang="zh-CN" altLang="en-US" dirty="0">
                <a:latin typeface="微软雅黑" panose="020B0503020204020204" pitchFamily="34" charset="-122"/>
                <a:ea typeface="微软雅黑" panose="020B0503020204020204" pitchFamily="34" charset="-122"/>
              </a:rPr>
              <a:t>小时）</a:t>
            </a:r>
            <a:endParaRPr lang="en-US" altLang="zh-CN" dirty="0">
              <a:latin typeface="微软雅黑" panose="020B0503020204020204" pitchFamily="34" charset="-122"/>
              <a:ea typeface="微软雅黑" panose="020B0503020204020204" pitchFamily="34" charset="-122"/>
            </a:endParaRPr>
          </a:p>
          <a:p>
            <a:pPr lvl="1">
              <a:buFont typeface="Wingdings" panose="05000000000000000000" pitchFamily="2" charset="2"/>
              <a:buChar char="ü"/>
            </a:pPr>
            <a:r>
              <a:rPr lang="zh-CN" altLang="en-US" dirty="0">
                <a:latin typeface="微软雅黑" panose="020B0503020204020204" pitchFamily="34" charset="-122"/>
                <a:ea typeface="微软雅黑" panose="020B0503020204020204" pitchFamily="34" charset="-122"/>
              </a:rPr>
              <a:t>还原率低（只有</a:t>
            </a:r>
            <a:r>
              <a:rPr lang="en-US" altLang="zh-CN" dirty="0">
                <a:latin typeface="微软雅黑" panose="020B0503020204020204" pitchFamily="34" charset="-122"/>
                <a:ea typeface="微软雅黑" panose="020B0503020204020204" pitchFamily="34" charset="-122"/>
              </a:rPr>
              <a:t>85%</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1">
              <a:buFont typeface="Wingdings" panose="05000000000000000000" pitchFamily="2" charset="2"/>
              <a:buChar char="ü"/>
            </a:pPr>
            <a:r>
              <a:rPr lang="zh-CN" altLang="en-US" dirty="0">
                <a:latin typeface="微软雅黑" panose="020B0503020204020204" pitchFamily="34" charset="-122"/>
                <a:ea typeface="微软雅黑" panose="020B0503020204020204" pitchFamily="34" charset="-122"/>
              </a:rPr>
              <a:t>温度不能超过</a:t>
            </a:r>
            <a:r>
              <a:rPr lang="en-US" altLang="zh-CN" dirty="0">
                <a:latin typeface="微软雅黑" panose="020B0503020204020204" pitchFamily="34" charset="-122"/>
                <a:ea typeface="微软雅黑" panose="020B0503020204020204" pitchFamily="34" charset="-122"/>
              </a:rPr>
              <a:t>30</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该方法没有得到普及</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596336" y="164637"/>
            <a:ext cx="1269554" cy="1308696"/>
          </a:xfrm>
          <a:prstGeom prst="rect">
            <a:avLst/>
          </a:prstGeom>
          <a:noFill/>
          <a:ln w="9525">
            <a:noFill/>
            <a:miter lim="800000"/>
            <a:headEnd/>
            <a:tailEnd/>
          </a:ln>
        </p:spPr>
      </p:pic>
      <p:sp>
        <p:nvSpPr>
          <p:cNvPr id="6" name="TextBox 5"/>
          <p:cNvSpPr txBox="1"/>
          <p:nvPr/>
        </p:nvSpPr>
        <p:spPr>
          <a:xfrm>
            <a:off x="1259632" y="836713"/>
            <a:ext cx="5832648" cy="523220"/>
          </a:xfrm>
          <a:prstGeom prst="rect">
            <a:avLst/>
          </a:prstGeom>
          <a:noFill/>
          <a:ln w="15875">
            <a:solidFill>
              <a:schemeClr val="bg2">
                <a:lumMod val="25000"/>
              </a:schemeClr>
            </a:solidFill>
          </a:ln>
        </p:spPr>
        <p:txBody>
          <a:bodyPr wrap="square" rtlCol="0">
            <a:spAutoFit/>
          </a:bodyPr>
          <a:lstStyle/>
          <a:p>
            <a:r>
              <a:rPr lang="zh-CN" altLang="en-US" sz="2800" b="1" dirty="0">
                <a:solidFill>
                  <a:schemeClr val="bg2">
                    <a:lumMod val="25000"/>
                  </a:schemeClr>
                </a:solidFill>
                <a:latin typeface="华文新魏" panose="02010800040101010101" pitchFamily="2" charset="-122"/>
                <a:ea typeface="华文新魏" panose="02010800040101010101" pitchFamily="2" charset="-122"/>
              </a:rPr>
              <a:t>硝酸盐</a:t>
            </a:r>
            <a:r>
              <a:rPr altLang="en-US" sz="2800" b="1" dirty="0">
                <a:solidFill>
                  <a:schemeClr val="bg2">
                    <a:lumMod val="25000"/>
                  </a:schemeClr>
                </a:solidFill>
                <a:latin typeface="华文新魏" panose="02010800040101010101" pitchFamily="2" charset="-122"/>
                <a:ea typeface="华文新魏" panose="02010800040101010101" pitchFamily="2" charset="-122"/>
              </a:rPr>
              <a:t>的测量方法</a:t>
            </a:r>
            <a:endParaRPr lang="zh-CN" altLang="en-US" sz="28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pic>
        <p:nvPicPr>
          <p:cNvPr id="7170" name="Picture 2" descr="E:\课程\课件\课程图片\0.png"/>
          <p:cNvPicPr>
            <a:picLocks noChangeAspect="1" noChangeArrowheads="1"/>
          </p:cNvPicPr>
          <p:nvPr/>
        </p:nvPicPr>
        <p:blipFill>
          <a:blip r:embed="rId2" cstate="print"/>
          <a:srcRect/>
          <a:stretch>
            <a:fillRect/>
          </a:stretch>
        </p:blipFill>
        <p:spPr bwMode="auto">
          <a:xfrm>
            <a:off x="142844" y="1643050"/>
            <a:ext cx="9001156" cy="1285884"/>
          </a:xfrm>
          <a:prstGeom prst="rect">
            <a:avLst/>
          </a:prstGeom>
          <a:noFill/>
        </p:spPr>
      </p:pic>
      <p:sp>
        <p:nvSpPr>
          <p:cNvPr id="9" name="内容占位符 8"/>
          <p:cNvSpPr>
            <a:spLocks noGrp="1"/>
          </p:cNvSpPr>
          <p:nvPr>
            <p:ph sz="quarter" idx="13"/>
          </p:nvPr>
        </p:nvSpPr>
        <p:spPr>
          <a:xfrm>
            <a:off x="357158" y="2857496"/>
            <a:ext cx="8153400" cy="4099896"/>
          </a:xfrm>
        </p:spPr>
        <p:txBody>
          <a:bodyPr>
            <a:normAutofit/>
          </a:bodyPr>
          <a:lstStyle/>
          <a:p>
            <a:r>
              <a:rPr altLang="en-US" sz="2400" dirty="0">
                <a:latin typeface="微软雅黑" panose="020B0503020204020204" pitchFamily="34" charset="-122"/>
                <a:ea typeface="微软雅黑" panose="020B0503020204020204" pitchFamily="34" charset="-122"/>
              </a:rPr>
              <a:t>影响还原反应的主要因素</a:t>
            </a:r>
            <a:endParaRPr lang="en-US" altLang="en-US" sz="2400" dirty="0">
              <a:latin typeface="微软雅黑" panose="020B0503020204020204" pitchFamily="34" charset="-122"/>
              <a:ea typeface="微软雅黑" panose="020B0503020204020204" pitchFamily="34" charset="-122"/>
            </a:endParaRPr>
          </a:p>
          <a:p>
            <a:pPr marL="880110" lvl="1" indent="-514350">
              <a:buFont typeface="+mj-lt"/>
              <a:buAutoNum type="arabicPeriod"/>
            </a:pPr>
            <a:r>
              <a:rPr altLang="en-US" dirty="0"/>
              <a:t>金属的选择（金属的电负性）</a:t>
            </a:r>
            <a:endParaRPr lang="en-US" altLang="en-US" dirty="0"/>
          </a:p>
          <a:p>
            <a:pPr lvl="1">
              <a:buFont typeface="Wingdings" panose="05000000000000000000" pitchFamily="2" charset="2"/>
              <a:buChar char="ü"/>
            </a:pPr>
            <a:endParaRPr lang="en-US" altLang="en-US" dirty="0"/>
          </a:p>
          <a:p>
            <a:pPr lvl="2">
              <a:buFont typeface="Wingdings" panose="05000000000000000000" pitchFamily="2" charset="2"/>
              <a:buChar char="Ø"/>
            </a:pPr>
            <a:r>
              <a:rPr altLang="en-US" dirty="0"/>
              <a:t>主要的金属还原剂：</a:t>
            </a:r>
            <a:r>
              <a:rPr lang="en-US" altLang="zh-CN" dirty="0"/>
              <a:t>Zn</a:t>
            </a:r>
            <a:r>
              <a:rPr altLang="en-US" dirty="0"/>
              <a:t>，</a:t>
            </a:r>
            <a:r>
              <a:rPr lang="en-US" altLang="zh-CN" dirty="0" err="1"/>
              <a:t>Cd</a:t>
            </a:r>
            <a:r>
              <a:rPr lang="en-US" altLang="zh-CN" dirty="0"/>
              <a:t>-Hg</a:t>
            </a:r>
            <a:r>
              <a:rPr altLang="en-US" dirty="0"/>
              <a:t>，</a:t>
            </a:r>
            <a:r>
              <a:rPr lang="en-US" altLang="zh-CN" dirty="0" err="1"/>
              <a:t>Cd</a:t>
            </a:r>
            <a:r>
              <a:rPr lang="en-US" altLang="zh-CN" dirty="0"/>
              <a:t>-Cu</a:t>
            </a:r>
            <a:r>
              <a:rPr altLang="en-US" dirty="0"/>
              <a:t>，</a:t>
            </a:r>
            <a:r>
              <a:rPr lang="en-US" altLang="zh-CN" dirty="0"/>
              <a:t>Zn-</a:t>
            </a:r>
            <a:r>
              <a:rPr lang="en-US" altLang="zh-CN" dirty="0" err="1"/>
              <a:t>Cd</a:t>
            </a:r>
            <a:endParaRPr lang="en-US" altLang="en-US" dirty="0"/>
          </a:p>
          <a:p>
            <a:pPr marL="880110" lvl="1" indent="-514350">
              <a:buFont typeface="+mj-lt"/>
              <a:buAutoNum type="arabicPeriod" startAt="2"/>
            </a:pPr>
            <a:r>
              <a:rPr lang="en-US" altLang="zh-CN" dirty="0"/>
              <a:t> </a:t>
            </a:r>
            <a:r>
              <a:rPr altLang="en-US" dirty="0"/>
              <a:t>金属的比表面积和表面活性</a:t>
            </a:r>
            <a:endParaRPr lang="en-US" altLang="en-US" dirty="0"/>
          </a:p>
          <a:p>
            <a:pPr lvl="2">
              <a:buFont typeface="Wingdings" panose="05000000000000000000" pitchFamily="2" charset="2"/>
              <a:buChar char="Ø"/>
            </a:pPr>
            <a:r>
              <a:rPr lang="en-US" altLang="en-US" dirty="0"/>
              <a:t> </a:t>
            </a:r>
            <a:r>
              <a:rPr altLang="en-US" dirty="0"/>
              <a:t>表面活性高且不易中毒</a:t>
            </a:r>
            <a:endParaRPr lang="en-US" altLang="en-US" dirty="0"/>
          </a:p>
          <a:p>
            <a:pPr marL="880110" lvl="1" indent="-514350">
              <a:buFont typeface="+mj-lt"/>
              <a:buAutoNum type="arabicPeriod" startAt="2"/>
            </a:pPr>
            <a:r>
              <a:rPr lang="en-US" altLang="zh-CN" dirty="0"/>
              <a:t> </a:t>
            </a:r>
            <a:r>
              <a:rPr altLang="en-US" dirty="0"/>
              <a:t>介质的</a:t>
            </a:r>
            <a:r>
              <a:rPr lang="en-US" altLang="zh-CN" dirty="0"/>
              <a:t>pH</a:t>
            </a:r>
            <a:r>
              <a:rPr altLang="en-US" dirty="0"/>
              <a:t>值</a:t>
            </a:r>
            <a:endParaRPr lang="zh-CN" altLang="en-US" dirty="0"/>
          </a:p>
        </p:txBody>
      </p:sp>
      <p:pic>
        <p:nvPicPr>
          <p:cNvPr id="1026" name="Picture 2" descr="E:\课程\课件\课程图片\0.png"/>
          <p:cNvPicPr>
            <a:picLocks noChangeAspect="1" noChangeArrowheads="1"/>
          </p:cNvPicPr>
          <p:nvPr/>
        </p:nvPicPr>
        <p:blipFill>
          <a:blip r:embed="rId3" cstate="print"/>
          <a:srcRect/>
          <a:stretch>
            <a:fillRect/>
          </a:stretch>
        </p:blipFill>
        <p:spPr bwMode="auto">
          <a:xfrm>
            <a:off x="1285852" y="3857628"/>
            <a:ext cx="5643602" cy="428628"/>
          </a:xfrm>
          <a:prstGeom prst="rect">
            <a:avLst/>
          </a:prstGeom>
          <a:noFill/>
        </p:spPr>
      </p:pic>
      <p:sp>
        <p:nvSpPr>
          <p:cNvPr id="10" name="矩形 9"/>
          <p:cNvSpPr/>
          <p:nvPr/>
        </p:nvSpPr>
        <p:spPr>
          <a:xfrm>
            <a:off x="5652120" y="3098651"/>
            <a:ext cx="3314766" cy="707886"/>
          </a:xfrm>
          <a:prstGeom prst="rect">
            <a:avLst/>
          </a:prstGeom>
        </p:spPr>
        <p:txBody>
          <a:bodyPr wrap="square">
            <a:spAutoFit/>
          </a:bodyPr>
          <a:lstStyle/>
          <a:p>
            <a:r>
              <a:rPr altLang="en-US" sz="2000" dirty="0"/>
              <a:t>电负性是元素的原子在化合物中吸引电子的能力的标度。</a:t>
            </a:r>
            <a:endParaRPr lang="zh-CN" altLang="en-US" sz="2000" dirty="0"/>
          </a:p>
        </p:txBody>
      </p:sp>
      <p:pic>
        <p:nvPicPr>
          <p:cNvPr id="1027" name="Picture 3" descr="E:\课程\课件\课程图片\0.png"/>
          <p:cNvPicPr>
            <a:picLocks noChangeAspect="1" noChangeArrowheads="1"/>
          </p:cNvPicPr>
          <p:nvPr/>
        </p:nvPicPr>
        <p:blipFill>
          <a:blip r:embed="rId4" cstate="print"/>
          <a:srcRect/>
          <a:stretch>
            <a:fillRect/>
          </a:stretch>
        </p:blipFill>
        <p:spPr bwMode="auto">
          <a:xfrm>
            <a:off x="1013478" y="6165305"/>
            <a:ext cx="7324064" cy="66167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 calcmode="lin" valueType="num">
                                      <p:cBhvr additive="base">
                                        <p:cTn id="7"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26"/>
                                        </p:tgtEl>
                                        <p:attrNameLst>
                                          <p:attrName>style.visibility</p:attrName>
                                        </p:attrNameLst>
                                      </p:cBhvr>
                                      <p:to>
                                        <p:strVal val="visible"/>
                                      </p:to>
                                    </p:set>
                                    <p:anim calcmode="lin" valueType="num">
                                      <p:cBhvr additive="base">
                                        <p:cTn id="13" dur="500" fill="hold"/>
                                        <p:tgtEl>
                                          <p:spTgt spid="1026"/>
                                        </p:tgtEl>
                                        <p:attrNameLst>
                                          <p:attrName>ppt_x</p:attrName>
                                        </p:attrNameLst>
                                      </p:cBhvr>
                                      <p:tavLst>
                                        <p:tav tm="0">
                                          <p:val>
                                            <p:strVal val="#ppt_x"/>
                                          </p:val>
                                        </p:tav>
                                        <p:tav tm="100000">
                                          <p:val>
                                            <p:strVal val="#ppt_x"/>
                                          </p:val>
                                        </p:tav>
                                      </p:tavLst>
                                    </p:anim>
                                    <p:anim calcmode="lin" valueType="num">
                                      <p:cBhvr additive="base">
                                        <p:cTn id="14"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anim calcmode="lin" valueType="num">
                                      <p:cBhvr additive="base">
                                        <p:cTn id="19"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
                                            <p:txEl>
                                              <p:pRg st="4" end="4"/>
                                            </p:txEl>
                                          </p:spTgt>
                                        </p:tgtEl>
                                        <p:attrNameLst>
                                          <p:attrName>style.visibility</p:attrName>
                                        </p:attrNameLst>
                                      </p:cBhvr>
                                      <p:to>
                                        <p:strVal val="visible"/>
                                      </p:to>
                                    </p:set>
                                    <p:anim calcmode="lin" valueType="num">
                                      <p:cBhvr additive="base">
                                        <p:cTn id="25"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
                                            <p:txEl>
                                              <p:pRg st="5" end="5"/>
                                            </p:txEl>
                                          </p:spTgt>
                                        </p:tgtEl>
                                        <p:attrNameLst>
                                          <p:attrName>style.visibility</p:attrName>
                                        </p:attrNameLst>
                                      </p:cBhvr>
                                      <p:to>
                                        <p:strVal val="visible"/>
                                      </p:to>
                                    </p:set>
                                    <p:anim calcmode="lin" valueType="num">
                                      <p:cBhvr additive="base">
                                        <p:cTn id="31"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9">
                                            <p:txEl>
                                              <p:pRg st="6" end="6"/>
                                            </p:txEl>
                                          </p:spTgt>
                                        </p:tgtEl>
                                        <p:attrNameLst>
                                          <p:attrName>style.visibility</p:attrName>
                                        </p:attrNameLst>
                                      </p:cBhvr>
                                      <p:to>
                                        <p:strVal val="visible"/>
                                      </p:to>
                                    </p:set>
                                    <p:anim calcmode="lin" valueType="num">
                                      <p:cBhvr additive="base">
                                        <p:cTn id="37" dur="500" fill="hold"/>
                                        <p:tgtEl>
                                          <p:spTgt spid="9">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027"/>
                                        </p:tgtEl>
                                        <p:attrNameLst>
                                          <p:attrName>style.visibility</p:attrName>
                                        </p:attrNameLst>
                                      </p:cBhvr>
                                      <p:to>
                                        <p:strVal val="visible"/>
                                      </p:to>
                                    </p:set>
                                    <p:anim calcmode="lin" valueType="num">
                                      <p:cBhvr additive="base">
                                        <p:cTn id="43" dur="500" fill="hold"/>
                                        <p:tgtEl>
                                          <p:spTgt spid="1027"/>
                                        </p:tgtEl>
                                        <p:attrNameLst>
                                          <p:attrName>ppt_x</p:attrName>
                                        </p:attrNameLst>
                                      </p:cBhvr>
                                      <p:tavLst>
                                        <p:tav tm="0">
                                          <p:val>
                                            <p:strVal val="#ppt_x"/>
                                          </p:val>
                                        </p:tav>
                                        <p:tav tm="100000">
                                          <p:val>
                                            <p:strVal val="#ppt_x"/>
                                          </p:val>
                                        </p:tav>
                                      </p:tavLst>
                                    </p:anim>
                                    <p:anim calcmode="lin" valueType="num">
                                      <p:cBhvr additive="base">
                                        <p:cTn id="44" dur="500" fill="hold"/>
                                        <p:tgtEl>
                                          <p:spTgt spid="102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0"/>
                                        </p:tgtEl>
                                        <p:attrNameLst>
                                          <p:attrName>style.visibility</p:attrName>
                                        </p:attrNameLst>
                                      </p:cBhvr>
                                      <p:to>
                                        <p:strVal val="visible"/>
                                      </p:to>
                                    </p:set>
                                    <p:anim calcmode="lin" valueType="num">
                                      <p:cBhvr additive="base">
                                        <p:cTn id="49" dur="500" fill="hold"/>
                                        <p:tgtEl>
                                          <p:spTgt spid="10"/>
                                        </p:tgtEl>
                                        <p:attrNameLst>
                                          <p:attrName>ppt_x</p:attrName>
                                        </p:attrNameLst>
                                      </p:cBhvr>
                                      <p:tavLst>
                                        <p:tav tm="0">
                                          <p:val>
                                            <p:strVal val="#ppt_x"/>
                                          </p:val>
                                        </p:tav>
                                        <p:tav tm="100000">
                                          <p:val>
                                            <p:strVal val="#ppt_x"/>
                                          </p:val>
                                        </p:tav>
                                      </p:tavLst>
                                    </p:anim>
                                    <p:anim calcmode="lin" valueType="num">
                                      <p:cBhvr additive="base">
                                        <p:cTn id="5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allAtOnce"/>
      <p:bldP spid="1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sz="quarter" idx="13"/>
          </p:nvPr>
        </p:nvPicPr>
        <p:blipFill>
          <a:blip r:embed="rId1">
            <a:extLst>
              <a:ext uri="{28A0092B-C50C-407E-A947-70E740481C1C}">
                <a14:useLocalDpi xmlns:a14="http://schemas.microsoft.com/office/drawing/2010/main" val="0"/>
              </a:ext>
            </a:extLst>
          </a:blip>
          <a:stretch>
            <a:fillRect/>
          </a:stretch>
        </p:blipFill>
        <p:spPr>
          <a:xfrm>
            <a:off x="0" y="0"/>
            <a:ext cx="9144000" cy="2520280"/>
          </a:xfrm>
        </p:spPr>
      </p:pic>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528" y="2520281"/>
            <a:ext cx="8820472" cy="5445224"/>
          </a:xfrm>
          <a:prstGeom prst="rect">
            <a:avLst/>
          </a:prstGeom>
        </p:spPr>
      </p:pic>
      <p:sp>
        <p:nvSpPr>
          <p:cNvPr id="6" name="矩形 5"/>
          <p:cNvSpPr/>
          <p:nvPr/>
        </p:nvSpPr>
        <p:spPr>
          <a:xfrm>
            <a:off x="5292080" y="0"/>
            <a:ext cx="792088" cy="288032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596336" y="164637"/>
            <a:ext cx="1269554" cy="1308696"/>
          </a:xfrm>
          <a:prstGeom prst="rect">
            <a:avLst/>
          </a:prstGeom>
          <a:noFill/>
          <a:ln w="9525">
            <a:noFill/>
            <a:miter lim="800000"/>
            <a:headEnd/>
            <a:tailEnd/>
          </a:ln>
        </p:spPr>
      </p:pic>
      <p:sp>
        <p:nvSpPr>
          <p:cNvPr id="6" name="TextBox 5"/>
          <p:cNvSpPr txBox="1"/>
          <p:nvPr/>
        </p:nvSpPr>
        <p:spPr>
          <a:xfrm>
            <a:off x="1259632" y="836713"/>
            <a:ext cx="5832648" cy="523220"/>
          </a:xfrm>
          <a:prstGeom prst="rect">
            <a:avLst/>
          </a:prstGeom>
          <a:noFill/>
          <a:ln w="15875">
            <a:solidFill>
              <a:schemeClr val="bg2">
                <a:lumMod val="25000"/>
              </a:schemeClr>
            </a:solidFill>
          </a:ln>
        </p:spPr>
        <p:txBody>
          <a:bodyPr wrap="square" rtlCol="0">
            <a:spAutoFit/>
          </a:bodyPr>
          <a:lstStyle/>
          <a:p>
            <a:r>
              <a:rPr lang="zh-CN" altLang="en-US" sz="2800" b="1" dirty="0">
                <a:solidFill>
                  <a:schemeClr val="bg2">
                    <a:lumMod val="25000"/>
                  </a:schemeClr>
                </a:solidFill>
                <a:latin typeface="华文新魏" panose="02010800040101010101" pitchFamily="2" charset="-122"/>
                <a:ea typeface="华文新魏" panose="02010800040101010101" pitchFamily="2" charset="-122"/>
              </a:rPr>
              <a:t>硝酸盐</a:t>
            </a:r>
            <a:r>
              <a:rPr altLang="en-US" sz="2800" b="1" dirty="0">
                <a:solidFill>
                  <a:schemeClr val="bg2">
                    <a:lumMod val="25000"/>
                  </a:schemeClr>
                </a:solidFill>
                <a:latin typeface="华文新魏" panose="02010800040101010101" pitchFamily="2" charset="-122"/>
                <a:ea typeface="华文新魏" panose="02010800040101010101" pitchFamily="2" charset="-122"/>
              </a:rPr>
              <a:t>的测量方法</a:t>
            </a:r>
            <a:endParaRPr lang="zh-CN" altLang="en-US" sz="28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pic>
        <p:nvPicPr>
          <p:cNvPr id="2050" name="Picture 2" descr="E:\课程\课件\课程图片\0.png"/>
          <p:cNvPicPr>
            <a:picLocks noChangeAspect="1" noChangeArrowheads="1"/>
          </p:cNvPicPr>
          <p:nvPr/>
        </p:nvPicPr>
        <p:blipFill>
          <a:blip r:embed="rId2" cstate="print"/>
          <a:srcRect/>
          <a:stretch>
            <a:fillRect/>
          </a:stretch>
        </p:blipFill>
        <p:spPr bwMode="auto">
          <a:xfrm>
            <a:off x="395536" y="1628800"/>
            <a:ext cx="8415203" cy="2180618"/>
          </a:xfrm>
          <a:prstGeom prst="rect">
            <a:avLst/>
          </a:prstGeom>
          <a:noFill/>
        </p:spPr>
      </p:pic>
      <p:pic>
        <p:nvPicPr>
          <p:cNvPr id="2051" name="Picture 3" descr="E:\课程\课件\课程图片\0.png"/>
          <p:cNvPicPr>
            <a:picLocks noChangeAspect="1" noChangeArrowheads="1"/>
          </p:cNvPicPr>
          <p:nvPr/>
        </p:nvPicPr>
        <p:blipFill>
          <a:blip r:embed="rId3" cstate="print"/>
          <a:srcRect/>
          <a:stretch>
            <a:fillRect/>
          </a:stretch>
        </p:blipFill>
        <p:spPr bwMode="auto">
          <a:xfrm>
            <a:off x="1142976" y="4357694"/>
            <a:ext cx="5061038" cy="357190"/>
          </a:xfrm>
          <a:prstGeom prst="rect">
            <a:avLst/>
          </a:prstGeom>
          <a:noFill/>
        </p:spPr>
      </p:pic>
      <p:sp>
        <p:nvSpPr>
          <p:cNvPr id="14" name="TextBox 13"/>
          <p:cNvSpPr txBox="1"/>
          <p:nvPr/>
        </p:nvSpPr>
        <p:spPr>
          <a:xfrm>
            <a:off x="571472" y="3786190"/>
            <a:ext cx="6429420" cy="461665"/>
          </a:xfrm>
          <a:prstGeom prst="rect">
            <a:avLst/>
          </a:prstGeom>
          <a:noFill/>
        </p:spPr>
        <p:txBody>
          <a:bodyPr wrap="square" rtlCol="0">
            <a:spAutoFit/>
          </a:bodyPr>
          <a:lstStyle/>
          <a:p>
            <a:pPr>
              <a:buFont typeface="Arial" panose="020B0604020202020204" pitchFamily="34" charset="0"/>
              <a:buChar char="•"/>
            </a:pPr>
            <a:r>
              <a:rPr altLang="en-US" sz="2400" dirty="0"/>
              <a:t>  铜镉粒还原法的原理</a:t>
            </a:r>
            <a:endParaRPr lang="zh-CN" altLang="en-US" sz="2400" dirty="0"/>
          </a:p>
        </p:txBody>
      </p:sp>
      <p:pic>
        <p:nvPicPr>
          <p:cNvPr id="2052" name="Picture 4" descr="E:\课程\课件\课程图片\0.png"/>
          <p:cNvPicPr>
            <a:picLocks noChangeAspect="1" noChangeArrowheads="1"/>
          </p:cNvPicPr>
          <p:nvPr/>
        </p:nvPicPr>
        <p:blipFill>
          <a:blip r:embed="rId4" cstate="print"/>
          <a:srcRect/>
          <a:stretch>
            <a:fillRect/>
          </a:stretch>
        </p:blipFill>
        <p:spPr bwMode="auto">
          <a:xfrm>
            <a:off x="428596" y="4824723"/>
            <a:ext cx="8319868" cy="1218899"/>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596336" y="164637"/>
            <a:ext cx="1269554" cy="1308696"/>
          </a:xfrm>
          <a:prstGeom prst="rect">
            <a:avLst/>
          </a:prstGeom>
          <a:noFill/>
          <a:ln w="9525">
            <a:noFill/>
            <a:miter lim="800000"/>
            <a:headEnd/>
            <a:tailEnd/>
          </a:ln>
        </p:spPr>
      </p:pic>
      <p:sp>
        <p:nvSpPr>
          <p:cNvPr id="6" name="TextBox 5"/>
          <p:cNvSpPr txBox="1"/>
          <p:nvPr/>
        </p:nvSpPr>
        <p:spPr>
          <a:xfrm>
            <a:off x="1259632" y="836713"/>
            <a:ext cx="5832648" cy="523220"/>
          </a:xfrm>
          <a:prstGeom prst="rect">
            <a:avLst/>
          </a:prstGeom>
          <a:noFill/>
          <a:ln w="15875">
            <a:solidFill>
              <a:schemeClr val="bg2">
                <a:lumMod val="25000"/>
              </a:schemeClr>
            </a:solidFill>
          </a:ln>
        </p:spPr>
        <p:txBody>
          <a:bodyPr wrap="square" rtlCol="0">
            <a:spAutoFit/>
          </a:bodyPr>
          <a:lstStyle/>
          <a:p>
            <a:r>
              <a:rPr lang="zh-CN" altLang="en-US" sz="2800" b="1" dirty="0">
                <a:solidFill>
                  <a:schemeClr val="bg2">
                    <a:lumMod val="25000"/>
                  </a:schemeClr>
                </a:solidFill>
                <a:latin typeface="华文新魏" panose="02010800040101010101" pitchFamily="2" charset="-122"/>
                <a:ea typeface="华文新魏" panose="02010800040101010101" pitchFamily="2" charset="-122"/>
              </a:rPr>
              <a:t>硝酸盐</a:t>
            </a:r>
            <a:r>
              <a:rPr altLang="en-US" sz="2800" b="1" dirty="0">
                <a:solidFill>
                  <a:schemeClr val="bg2">
                    <a:lumMod val="25000"/>
                  </a:schemeClr>
                </a:solidFill>
                <a:latin typeface="华文新魏" panose="02010800040101010101" pitchFamily="2" charset="-122"/>
                <a:ea typeface="华文新魏" panose="02010800040101010101" pitchFamily="2" charset="-122"/>
              </a:rPr>
              <a:t>的测量方法</a:t>
            </a:r>
            <a:endParaRPr lang="zh-CN" altLang="en-US" sz="28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sp>
        <p:nvSpPr>
          <p:cNvPr id="11" name="内容占位符 10"/>
          <p:cNvSpPr>
            <a:spLocks noGrp="1"/>
          </p:cNvSpPr>
          <p:nvPr>
            <p:ph sz="quarter" idx="13"/>
          </p:nvPr>
        </p:nvSpPr>
        <p:spPr>
          <a:xfrm>
            <a:off x="523281" y="1637970"/>
            <a:ext cx="8493671" cy="5054600"/>
          </a:xfrm>
        </p:spPr>
        <p:txBody>
          <a:bodyPr>
            <a:normAutofit fontScale="92500"/>
          </a:bodyPr>
          <a:lstStyle/>
          <a:p>
            <a:r>
              <a:rPr altLang="en-US" dirty="0"/>
              <a:t>影响铜镉粒还原法的主要因素</a:t>
            </a:r>
            <a:endParaRPr lang="en-US" altLang="en-US" dirty="0"/>
          </a:p>
          <a:p>
            <a:pPr lvl="1"/>
            <a:r>
              <a:rPr altLang="en-US" dirty="0"/>
              <a:t>目标：</a:t>
            </a:r>
            <a:endParaRPr lang="en-US" altLang="en-US" dirty="0"/>
          </a:p>
          <a:p>
            <a:pPr lvl="1"/>
            <a:r>
              <a:rPr altLang="en-US" dirty="0"/>
              <a:t>干扰：过度还原</a:t>
            </a:r>
            <a:endParaRPr lang="en-US" altLang="en-US" dirty="0"/>
          </a:p>
          <a:p>
            <a:pPr lvl="1"/>
            <a:endParaRPr lang="en-US" altLang="en-US" dirty="0"/>
          </a:p>
          <a:p>
            <a:pPr lvl="1"/>
            <a:endParaRPr lang="en-US" altLang="en-US" dirty="0"/>
          </a:p>
          <a:p>
            <a:pPr lvl="1"/>
            <a:r>
              <a:rPr altLang="en-US" dirty="0"/>
              <a:t>在酸性条件下，很难避免硝酸盐的过度还原</a:t>
            </a:r>
            <a:endParaRPr lang="en-US" altLang="en-US" dirty="0"/>
          </a:p>
          <a:p>
            <a:pPr lvl="1"/>
            <a:r>
              <a:rPr altLang="en-US" dirty="0"/>
              <a:t>在中性或弱碱性情况下</a:t>
            </a:r>
            <a:r>
              <a:rPr lang="zh-CN" altLang="en-US" dirty="0"/>
              <a:t>（海水自然的</a:t>
            </a:r>
            <a:r>
              <a:rPr lang="en-US" altLang="zh-CN" dirty="0"/>
              <a:t>pH</a:t>
            </a:r>
            <a:r>
              <a:rPr lang="zh-CN" altLang="en-US" dirty="0"/>
              <a:t>值）</a:t>
            </a:r>
            <a:r>
              <a:rPr altLang="en-US" dirty="0"/>
              <a:t>，</a:t>
            </a:r>
            <a:r>
              <a:rPr lang="zh-CN" altLang="en-US" dirty="0"/>
              <a:t>可以定量还原</a:t>
            </a:r>
            <a:endParaRPr lang="en-US" altLang="en-US" dirty="0"/>
          </a:p>
          <a:p>
            <a:endParaRPr lang="en-US" altLang="en-US" dirty="0"/>
          </a:p>
          <a:p>
            <a:pPr lvl="1"/>
            <a:r>
              <a:rPr altLang="en-US" dirty="0"/>
              <a:t>干扰：</a:t>
            </a:r>
            <a:r>
              <a:rPr lang="en-US" altLang="en-US" dirty="0"/>
              <a:t>1. </a:t>
            </a:r>
            <a:r>
              <a:rPr altLang="en-US" dirty="0"/>
              <a:t>反应生成的</a:t>
            </a:r>
            <a:r>
              <a:rPr lang="en-US" altLang="zh-CN" dirty="0"/>
              <a:t>Cd</a:t>
            </a:r>
            <a:r>
              <a:rPr lang="en-US" altLang="zh-CN" baseline="30000" dirty="0"/>
              <a:t>2+</a:t>
            </a:r>
            <a:r>
              <a:rPr altLang="en-US" dirty="0"/>
              <a:t>和</a:t>
            </a:r>
            <a:r>
              <a:rPr lang="en-US" altLang="zh-CN" dirty="0"/>
              <a:t>OH</a:t>
            </a:r>
            <a:r>
              <a:rPr lang="en-US" altLang="zh-CN" baseline="30000" dirty="0"/>
              <a:t>-</a:t>
            </a:r>
            <a:r>
              <a:rPr altLang="en-US" dirty="0"/>
              <a:t>反应生成絮状沉淀</a:t>
            </a:r>
            <a:endParaRPr lang="en-US" altLang="en-US" dirty="0"/>
          </a:p>
          <a:p>
            <a:pPr lvl="1">
              <a:buNone/>
            </a:pPr>
            <a:r>
              <a:rPr lang="en-US" altLang="zh-CN" dirty="0"/>
              <a:t>              2. </a:t>
            </a:r>
            <a:r>
              <a:rPr altLang="en-US" dirty="0"/>
              <a:t>反应生成的</a:t>
            </a:r>
            <a:r>
              <a:rPr lang="en-US" altLang="zh-CN" dirty="0"/>
              <a:t>OH</a:t>
            </a:r>
            <a:r>
              <a:rPr lang="en-US" altLang="zh-CN" baseline="30000" dirty="0"/>
              <a:t>-</a:t>
            </a:r>
            <a:r>
              <a:rPr altLang="en-US" dirty="0"/>
              <a:t>改变溶液酸碱度，影响反应速率</a:t>
            </a:r>
            <a:endParaRPr lang="zh-CN" altLang="en-US" dirty="0"/>
          </a:p>
        </p:txBody>
      </p:sp>
      <p:pic>
        <p:nvPicPr>
          <p:cNvPr id="12" name="Picture 3" descr="E:\课程\课件\课程图片\0.png"/>
          <p:cNvPicPr>
            <a:picLocks noChangeAspect="1" noChangeArrowheads="1"/>
          </p:cNvPicPr>
          <p:nvPr/>
        </p:nvPicPr>
        <p:blipFill>
          <a:blip r:embed="rId2" cstate="print"/>
          <a:srcRect/>
          <a:stretch>
            <a:fillRect/>
          </a:stretch>
        </p:blipFill>
        <p:spPr bwMode="auto">
          <a:xfrm>
            <a:off x="2041481" y="2154634"/>
            <a:ext cx="5061038" cy="357190"/>
          </a:xfrm>
          <a:prstGeom prst="rect">
            <a:avLst/>
          </a:prstGeom>
          <a:noFill/>
        </p:spPr>
      </p:pic>
      <p:pic>
        <p:nvPicPr>
          <p:cNvPr id="3074" name="Picture 2" descr="E:\课程\课件\课程图片\0.png"/>
          <p:cNvPicPr>
            <a:picLocks noChangeAspect="1" noChangeArrowheads="1"/>
          </p:cNvPicPr>
          <p:nvPr/>
        </p:nvPicPr>
        <p:blipFill>
          <a:blip r:embed="rId3" cstate="print"/>
          <a:srcRect/>
          <a:stretch>
            <a:fillRect/>
          </a:stretch>
        </p:blipFill>
        <p:spPr bwMode="auto">
          <a:xfrm>
            <a:off x="3658194" y="2557659"/>
            <a:ext cx="4962525" cy="357190"/>
          </a:xfrm>
          <a:prstGeom prst="rect">
            <a:avLst/>
          </a:prstGeom>
          <a:noFill/>
        </p:spPr>
      </p:pic>
      <p:pic>
        <p:nvPicPr>
          <p:cNvPr id="3075" name="Picture 3" descr="E:\课程\课件\课程图片\0.png"/>
          <p:cNvPicPr>
            <a:picLocks noChangeAspect="1" noChangeArrowheads="1"/>
          </p:cNvPicPr>
          <p:nvPr/>
        </p:nvPicPr>
        <p:blipFill>
          <a:blip r:embed="rId4" cstate="print"/>
          <a:srcRect/>
          <a:stretch>
            <a:fillRect/>
          </a:stretch>
        </p:blipFill>
        <p:spPr bwMode="auto">
          <a:xfrm>
            <a:off x="3615331" y="2967744"/>
            <a:ext cx="5048250" cy="357190"/>
          </a:xfrm>
          <a:prstGeom prst="rect">
            <a:avLst/>
          </a:prstGeom>
          <a:noFill/>
        </p:spPr>
      </p:pic>
      <p:pic>
        <p:nvPicPr>
          <p:cNvPr id="3076" name="Picture 4" descr="E:\课程\课件\课程图片\0.png"/>
          <p:cNvPicPr>
            <a:picLocks noChangeAspect="1" noChangeArrowheads="1"/>
          </p:cNvPicPr>
          <p:nvPr/>
        </p:nvPicPr>
        <p:blipFill>
          <a:blip r:embed="rId5" cstate="print"/>
          <a:srcRect/>
          <a:stretch>
            <a:fillRect/>
          </a:stretch>
        </p:blipFill>
        <p:spPr bwMode="auto">
          <a:xfrm>
            <a:off x="857224" y="3433765"/>
            <a:ext cx="7553325" cy="352425"/>
          </a:xfrm>
          <a:prstGeom prst="rect">
            <a:avLst/>
          </a:prstGeom>
          <a:noFill/>
        </p:spPr>
      </p:pic>
      <p:sp>
        <p:nvSpPr>
          <p:cNvPr id="16" name="矩形 15"/>
          <p:cNvSpPr/>
          <p:nvPr/>
        </p:nvSpPr>
        <p:spPr>
          <a:xfrm>
            <a:off x="2088534" y="2966936"/>
            <a:ext cx="1569660" cy="461665"/>
          </a:xfrm>
          <a:prstGeom prst="rect">
            <a:avLst/>
          </a:prstGeom>
        </p:spPr>
        <p:txBody>
          <a:bodyPr wrap="none">
            <a:spAutoFit/>
          </a:bodyPr>
          <a:lstStyle/>
          <a:p>
            <a:pPr lvl="1"/>
            <a:r>
              <a:rPr altLang="en-US" sz="2400" dirty="0"/>
              <a:t>目标：</a:t>
            </a:r>
            <a:endParaRPr altLang="en-US" sz="2400" dirty="0"/>
          </a:p>
        </p:txBody>
      </p:sp>
      <p:pic>
        <p:nvPicPr>
          <p:cNvPr id="3077" name="Picture 5" descr="E:\课程\课件\课程图片\0.png"/>
          <p:cNvPicPr>
            <a:picLocks noChangeAspect="1" noChangeArrowheads="1"/>
          </p:cNvPicPr>
          <p:nvPr/>
        </p:nvPicPr>
        <p:blipFill>
          <a:blip r:embed="rId6" cstate="print"/>
          <a:srcRect/>
          <a:stretch>
            <a:fillRect/>
          </a:stretch>
        </p:blipFill>
        <p:spPr bwMode="auto">
          <a:xfrm>
            <a:off x="1619672" y="5072692"/>
            <a:ext cx="5472608" cy="3524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 calcmode="lin" valueType="num">
                                      <p:cBhvr additive="base">
                                        <p:cTn id="7" dur="500" fill="hold"/>
                                        <p:tgtEl>
                                          <p:spTgt spid="1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 calcmode="lin" valueType="num">
                                      <p:cBhvr additive="base">
                                        <p:cTn id="17" dur="500" fill="hold"/>
                                        <p:tgtEl>
                                          <p:spTgt spid="1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1">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074"/>
                                        </p:tgtEl>
                                        <p:attrNameLst>
                                          <p:attrName>style.visibility</p:attrName>
                                        </p:attrNameLst>
                                      </p:cBhvr>
                                      <p:to>
                                        <p:strVal val="visible"/>
                                      </p:to>
                                    </p:set>
                                    <p:anim calcmode="lin" valueType="num">
                                      <p:cBhvr additive="base">
                                        <p:cTn id="21" dur="500" fill="hold"/>
                                        <p:tgtEl>
                                          <p:spTgt spid="3074"/>
                                        </p:tgtEl>
                                        <p:attrNameLst>
                                          <p:attrName>ppt_x</p:attrName>
                                        </p:attrNameLst>
                                      </p:cBhvr>
                                      <p:tavLst>
                                        <p:tav tm="0">
                                          <p:val>
                                            <p:strVal val="#ppt_x"/>
                                          </p:val>
                                        </p:tav>
                                        <p:tav tm="100000">
                                          <p:val>
                                            <p:strVal val="#ppt_x"/>
                                          </p:val>
                                        </p:tav>
                                      </p:tavLst>
                                    </p:anim>
                                    <p:anim calcmode="lin" valueType="num">
                                      <p:cBhvr additive="base">
                                        <p:cTn id="22" dur="500" fill="hold"/>
                                        <p:tgtEl>
                                          <p:spTgt spid="3074"/>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075"/>
                                        </p:tgtEl>
                                        <p:attrNameLst>
                                          <p:attrName>style.visibility</p:attrName>
                                        </p:attrNameLst>
                                      </p:cBhvr>
                                      <p:to>
                                        <p:strVal val="visible"/>
                                      </p:to>
                                    </p:set>
                                    <p:anim calcmode="lin" valueType="num">
                                      <p:cBhvr additive="base">
                                        <p:cTn id="25" dur="500" fill="hold"/>
                                        <p:tgtEl>
                                          <p:spTgt spid="3075"/>
                                        </p:tgtEl>
                                        <p:attrNameLst>
                                          <p:attrName>ppt_x</p:attrName>
                                        </p:attrNameLst>
                                      </p:cBhvr>
                                      <p:tavLst>
                                        <p:tav tm="0">
                                          <p:val>
                                            <p:strVal val="#ppt_x"/>
                                          </p:val>
                                        </p:tav>
                                        <p:tav tm="100000">
                                          <p:val>
                                            <p:strVal val="#ppt_x"/>
                                          </p:val>
                                        </p:tav>
                                      </p:tavLst>
                                    </p:anim>
                                    <p:anim calcmode="lin" valueType="num">
                                      <p:cBhvr additive="base">
                                        <p:cTn id="26" dur="500" fill="hold"/>
                                        <p:tgtEl>
                                          <p:spTgt spid="307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
                                            <p:txEl>
                                              <p:pRg st="5" end="5"/>
                                            </p:txEl>
                                          </p:spTgt>
                                        </p:tgtEl>
                                        <p:attrNameLst>
                                          <p:attrName>style.visibility</p:attrName>
                                        </p:attrNameLst>
                                      </p:cBhvr>
                                      <p:to>
                                        <p:strVal val="visible"/>
                                      </p:to>
                                    </p:set>
                                    <p:anim calcmode="lin" valueType="num">
                                      <p:cBhvr additive="base">
                                        <p:cTn id="31" dur="500" fill="hold"/>
                                        <p:tgtEl>
                                          <p:spTgt spid="11">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1">
                                            <p:txEl>
                                              <p:pRg st="6" end="6"/>
                                            </p:txEl>
                                          </p:spTgt>
                                        </p:tgtEl>
                                        <p:attrNameLst>
                                          <p:attrName>style.visibility</p:attrName>
                                        </p:attrNameLst>
                                      </p:cBhvr>
                                      <p:to>
                                        <p:strVal val="visible"/>
                                      </p:to>
                                    </p:set>
                                    <p:anim calcmode="lin" valueType="num">
                                      <p:cBhvr additive="base">
                                        <p:cTn id="35" dur="500" fill="hold"/>
                                        <p:tgtEl>
                                          <p:spTgt spid="11">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076"/>
                                        </p:tgtEl>
                                        <p:attrNameLst>
                                          <p:attrName>style.visibility</p:attrName>
                                        </p:attrNameLst>
                                      </p:cBhvr>
                                      <p:to>
                                        <p:strVal val="visible"/>
                                      </p:to>
                                    </p:set>
                                    <p:anim calcmode="lin" valueType="num">
                                      <p:cBhvr additive="base">
                                        <p:cTn id="41" dur="500" fill="hold"/>
                                        <p:tgtEl>
                                          <p:spTgt spid="3076"/>
                                        </p:tgtEl>
                                        <p:attrNameLst>
                                          <p:attrName>ppt_x</p:attrName>
                                        </p:attrNameLst>
                                      </p:cBhvr>
                                      <p:tavLst>
                                        <p:tav tm="0">
                                          <p:val>
                                            <p:strVal val="#ppt_x"/>
                                          </p:val>
                                        </p:tav>
                                        <p:tav tm="100000">
                                          <p:val>
                                            <p:strVal val="#ppt_x"/>
                                          </p:val>
                                        </p:tav>
                                      </p:tavLst>
                                    </p:anim>
                                    <p:anim calcmode="lin" valueType="num">
                                      <p:cBhvr additive="base">
                                        <p:cTn id="42" dur="500" fill="hold"/>
                                        <p:tgtEl>
                                          <p:spTgt spid="3076"/>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1">
                                            <p:txEl>
                                              <p:pRg st="8" end="8"/>
                                            </p:txEl>
                                          </p:spTgt>
                                        </p:tgtEl>
                                        <p:attrNameLst>
                                          <p:attrName>style.visibility</p:attrName>
                                        </p:attrNameLst>
                                      </p:cBhvr>
                                      <p:to>
                                        <p:strVal val="visible"/>
                                      </p:to>
                                    </p:set>
                                    <p:anim calcmode="lin" valueType="num">
                                      <p:cBhvr additive="base">
                                        <p:cTn id="47" dur="500" fill="hold"/>
                                        <p:tgtEl>
                                          <p:spTgt spid="11">
                                            <p:txEl>
                                              <p:pRg st="8" end="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1">
                                            <p:txEl>
                                              <p:pRg st="8" end="8"/>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1">
                                            <p:txEl>
                                              <p:pRg st="9" end="9"/>
                                            </p:txEl>
                                          </p:spTgt>
                                        </p:tgtEl>
                                        <p:attrNameLst>
                                          <p:attrName>style.visibility</p:attrName>
                                        </p:attrNameLst>
                                      </p:cBhvr>
                                      <p:to>
                                        <p:strVal val="visible"/>
                                      </p:to>
                                    </p:set>
                                    <p:anim calcmode="lin" valueType="num">
                                      <p:cBhvr additive="base">
                                        <p:cTn id="51" dur="500" fill="hold"/>
                                        <p:tgtEl>
                                          <p:spTgt spid="11">
                                            <p:txEl>
                                              <p:pRg st="9" end="9"/>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1">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uiExpand="1" build="allAtOnce"/>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E:\课程\课件\课程图片\0.png"/>
          <p:cNvPicPr>
            <a:picLocks noChangeAspect="1" noChangeArrowheads="1"/>
          </p:cNvPicPr>
          <p:nvPr/>
        </p:nvPicPr>
        <p:blipFill>
          <a:blip r:embed="rId1" cstate="print"/>
          <a:srcRect/>
          <a:stretch>
            <a:fillRect/>
          </a:stretch>
        </p:blipFill>
        <p:spPr bwMode="auto">
          <a:xfrm>
            <a:off x="5500694" y="3214686"/>
            <a:ext cx="3643306" cy="984403"/>
          </a:xfrm>
          <a:prstGeom prst="rect">
            <a:avLst/>
          </a:prstGeom>
          <a:noFill/>
        </p:spPr>
      </p:pic>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2" cstate="print"/>
          <a:srcRect l="26245" t="34250" r="32184" b="36349"/>
          <a:stretch>
            <a:fillRect/>
          </a:stretch>
        </p:blipFill>
        <p:spPr bwMode="auto">
          <a:xfrm>
            <a:off x="7596336" y="164637"/>
            <a:ext cx="1269554" cy="1308696"/>
          </a:xfrm>
          <a:prstGeom prst="rect">
            <a:avLst/>
          </a:prstGeom>
          <a:noFill/>
          <a:ln w="9525">
            <a:noFill/>
            <a:miter lim="800000"/>
            <a:headEnd/>
            <a:tailEnd/>
          </a:ln>
        </p:spPr>
      </p:pic>
      <p:sp>
        <p:nvSpPr>
          <p:cNvPr id="6" name="TextBox 5"/>
          <p:cNvSpPr txBox="1"/>
          <p:nvPr/>
        </p:nvSpPr>
        <p:spPr>
          <a:xfrm>
            <a:off x="1259632" y="836713"/>
            <a:ext cx="5832648" cy="523220"/>
          </a:xfrm>
          <a:prstGeom prst="rect">
            <a:avLst/>
          </a:prstGeom>
          <a:noFill/>
          <a:ln w="15875">
            <a:solidFill>
              <a:schemeClr val="bg2">
                <a:lumMod val="25000"/>
              </a:schemeClr>
            </a:solidFill>
          </a:ln>
        </p:spPr>
        <p:txBody>
          <a:bodyPr wrap="square" rtlCol="0">
            <a:spAutoFit/>
          </a:bodyPr>
          <a:lstStyle/>
          <a:p>
            <a:r>
              <a:rPr lang="zh-CN" altLang="en-US" sz="2800" b="1" dirty="0">
                <a:solidFill>
                  <a:schemeClr val="bg2">
                    <a:lumMod val="25000"/>
                  </a:schemeClr>
                </a:solidFill>
                <a:latin typeface="华文新魏" panose="02010800040101010101" pitchFamily="2" charset="-122"/>
                <a:ea typeface="华文新魏" panose="02010800040101010101" pitchFamily="2" charset="-122"/>
              </a:rPr>
              <a:t>硝酸盐</a:t>
            </a:r>
            <a:r>
              <a:rPr altLang="en-US" sz="2800" b="1" dirty="0">
                <a:solidFill>
                  <a:schemeClr val="bg2">
                    <a:lumMod val="25000"/>
                  </a:schemeClr>
                </a:solidFill>
                <a:latin typeface="华文新魏" panose="02010800040101010101" pitchFamily="2" charset="-122"/>
                <a:ea typeface="华文新魏" panose="02010800040101010101" pitchFamily="2" charset="-122"/>
              </a:rPr>
              <a:t>的测量方法</a:t>
            </a:r>
            <a:endParaRPr lang="zh-CN" altLang="en-US" sz="28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sp>
        <p:nvSpPr>
          <p:cNvPr id="11" name="内容占位符 10"/>
          <p:cNvSpPr>
            <a:spLocks noGrp="1"/>
          </p:cNvSpPr>
          <p:nvPr>
            <p:ph sz="quarter" idx="13"/>
          </p:nvPr>
        </p:nvSpPr>
        <p:spPr>
          <a:xfrm>
            <a:off x="357158" y="1928802"/>
            <a:ext cx="8643998" cy="4929198"/>
          </a:xfrm>
        </p:spPr>
        <p:txBody>
          <a:bodyPr>
            <a:normAutofit/>
          </a:bodyPr>
          <a:lstStyle/>
          <a:p>
            <a:r>
              <a:rPr altLang="en-US" sz="2800" dirty="0"/>
              <a:t>干扰：</a:t>
            </a:r>
            <a:r>
              <a:rPr lang="en-US" altLang="zh-CN" sz="2400" dirty="0"/>
              <a:t>1. </a:t>
            </a:r>
            <a:r>
              <a:rPr lang="zh-CN" altLang="en-US" sz="2400" dirty="0"/>
              <a:t>反应生成的</a:t>
            </a:r>
            <a:r>
              <a:rPr lang="en-US" altLang="zh-CN" sz="2400" dirty="0"/>
              <a:t>Cd</a:t>
            </a:r>
            <a:r>
              <a:rPr lang="en-US" altLang="zh-CN" sz="2400" baseline="30000" dirty="0"/>
              <a:t>2+</a:t>
            </a:r>
            <a:r>
              <a:rPr lang="zh-CN" altLang="en-US" sz="2400" dirty="0"/>
              <a:t>和</a:t>
            </a:r>
            <a:r>
              <a:rPr lang="en-US" altLang="zh-CN" sz="2400" dirty="0"/>
              <a:t>OH</a:t>
            </a:r>
            <a:r>
              <a:rPr lang="en-US" altLang="zh-CN" sz="2400" baseline="30000" dirty="0"/>
              <a:t>-</a:t>
            </a:r>
            <a:r>
              <a:rPr lang="zh-CN" altLang="en-US" sz="2400" dirty="0"/>
              <a:t>反应生成絮状沉淀</a:t>
            </a:r>
            <a:endParaRPr lang="zh-CN" altLang="en-US" sz="2800" dirty="0"/>
          </a:p>
          <a:p>
            <a:pPr lvl="1">
              <a:buNone/>
            </a:pPr>
            <a:r>
              <a:rPr lang="zh-CN" altLang="en-US" sz="2400" dirty="0"/>
              <a:t>            </a:t>
            </a:r>
            <a:r>
              <a:rPr lang="en-US" altLang="zh-CN" sz="2400" dirty="0"/>
              <a:t>2. </a:t>
            </a:r>
            <a:r>
              <a:rPr lang="zh-CN" altLang="en-US" sz="2400" dirty="0"/>
              <a:t>反应生成的</a:t>
            </a:r>
            <a:r>
              <a:rPr lang="en-US" altLang="zh-CN" sz="2400" dirty="0"/>
              <a:t>OH</a:t>
            </a:r>
            <a:r>
              <a:rPr lang="en-US" altLang="zh-CN" sz="2400" baseline="30000" dirty="0"/>
              <a:t>-</a:t>
            </a:r>
            <a:r>
              <a:rPr lang="zh-CN" altLang="en-US" sz="2400" dirty="0"/>
              <a:t>改变溶液酸碱度（特别是在颗粒物      表面局部区域），影响反应速率</a:t>
            </a:r>
            <a:endParaRPr lang="zh-CN" altLang="en-US" sz="2400" dirty="0"/>
          </a:p>
          <a:p>
            <a:pPr lvl="1">
              <a:buNone/>
            </a:pPr>
            <a:endParaRPr altLang="en-US" sz="2800" dirty="0"/>
          </a:p>
        </p:txBody>
      </p:sp>
      <p:pic>
        <p:nvPicPr>
          <p:cNvPr id="13" name="Picture 5" descr="E:\课程\课件\课程图片\0.png"/>
          <p:cNvPicPr>
            <a:picLocks noChangeAspect="1" noChangeArrowheads="1"/>
          </p:cNvPicPr>
          <p:nvPr/>
        </p:nvPicPr>
        <p:blipFill>
          <a:blip r:embed="rId3" cstate="print"/>
          <a:srcRect/>
          <a:stretch>
            <a:fillRect/>
          </a:stretch>
        </p:blipFill>
        <p:spPr bwMode="auto">
          <a:xfrm>
            <a:off x="428596" y="3571876"/>
            <a:ext cx="5429288" cy="378111"/>
          </a:xfrm>
          <a:prstGeom prst="rect">
            <a:avLst/>
          </a:prstGeom>
          <a:noFill/>
        </p:spPr>
      </p:pic>
      <p:pic>
        <p:nvPicPr>
          <p:cNvPr id="4099" name="Picture 3" descr="E:\课程\课件\课程图片\0.png"/>
          <p:cNvPicPr>
            <a:picLocks noChangeAspect="1" noChangeArrowheads="1"/>
          </p:cNvPicPr>
          <p:nvPr/>
        </p:nvPicPr>
        <p:blipFill>
          <a:blip r:embed="rId4" cstate="print"/>
          <a:srcRect/>
          <a:stretch>
            <a:fillRect/>
          </a:stretch>
        </p:blipFill>
        <p:spPr bwMode="auto">
          <a:xfrm>
            <a:off x="571472" y="4405456"/>
            <a:ext cx="8220075" cy="1183783"/>
          </a:xfrm>
          <a:prstGeom prst="rect">
            <a:avLst/>
          </a:prstGeom>
          <a:noFill/>
        </p:spPr>
      </p:pic>
      <p:pic>
        <p:nvPicPr>
          <p:cNvPr id="10" name="Picture 5" descr="E:\课程\课件\课程图片\0.png"/>
          <p:cNvPicPr>
            <a:picLocks noChangeAspect="1" noChangeArrowheads="1"/>
          </p:cNvPicPr>
          <p:nvPr/>
        </p:nvPicPr>
        <p:blipFill>
          <a:blip r:embed="rId3" cstate="print"/>
          <a:srcRect/>
          <a:stretch>
            <a:fillRect/>
          </a:stretch>
        </p:blipFill>
        <p:spPr bwMode="auto">
          <a:xfrm>
            <a:off x="1439652" y="1557327"/>
            <a:ext cx="5472608" cy="37147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098"/>
                                        </p:tgtEl>
                                        <p:attrNameLst>
                                          <p:attrName>style.visibility</p:attrName>
                                        </p:attrNameLst>
                                      </p:cBhvr>
                                      <p:to>
                                        <p:strVal val="visible"/>
                                      </p:to>
                                    </p:set>
                                    <p:anim calcmode="lin" valueType="num">
                                      <p:cBhvr additive="base">
                                        <p:cTn id="13" dur="500" fill="hold"/>
                                        <p:tgtEl>
                                          <p:spTgt spid="4098"/>
                                        </p:tgtEl>
                                        <p:attrNameLst>
                                          <p:attrName>ppt_x</p:attrName>
                                        </p:attrNameLst>
                                      </p:cBhvr>
                                      <p:tavLst>
                                        <p:tav tm="0">
                                          <p:val>
                                            <p:strVal val="#ppt_x"/>
                                          </p:val>
                                        </p:tav>
                                        <p:tav tm="100000">
                                          <p:val>
                                            <p:strVal val="#ppt_x"/>
                                          </p:val>
                                        </p:tav>
                                      </p:tavLst>
                                    </p:anim>
                                    <p:anim calcmode="lin" valueType="num">
                                      <p:cBhvr additive="base">
                                        <p:cTn id="14" dur="500" fill="hold"/>
                                        <p:tgtEl>
                                          <p:spTgt spid="409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099"/>
                                        </p:tgtEl>
                                        <p:attrNameLst>
                                          <p:attrName>style.visibility</p:attrName>
                                        </p:attrNameLst>
                                      </p:cBhvr>
                                      <p:to>
                                        <p:strVal val="visible"/>
                                      </p:to>
                                    </p:set>
                                    <p:anim calcmode="lin" valueType="num">
                                      <p:cBhvr additive="base">
                                        <p:cTn id="19" dur="500" fill="hold"/>
                                        <p:tgtEl>
                                          <p:spTgt spid="4099"/>
                                        </p:tgtEl>
                                        <p:attrNameLst>
                                          <p:attrName>ppt_x</p:attrName>
                                        </p:attrNameLst>
                                      </p:cBhvr>
                                      <p:tavLst>
                                        <p:tav tm="0">
                                          <p:val>
                                            <p:strVal val="#ppt_x"/>
                                          </p:val>
                                        </p:tav>
                                        <p:tav tm="100000">
                                          <p:val>
                                            <p:strVal val="#ppt_x"/>
                                          </p:val>
                                        </p:tav>
                                      </p:tavLst>
                                    </p:anim>
                                    <p:anim calcmode="lin" valueType="num">
                                      <p:cBhvr additive="base">
                                        <p:cTn id="20" dur="500" fill="hold"/>
                                        <p:tgtEl>
                                          <p:spTgt spid="40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E:\课程\课件\课程图片\0.png"/>
          <p:cNvPicPr>
            <a:picLocks noChangeAspect="1" noChangeArrowheads="1"/>
          </p:cNvPicPr>
          <p:nvPr/>
        </p:nvPicPr>
        <p:blipFill>
          <a:blip r:embed="rId1" cstate="print"/>
          <a:srcRect/>
          <a:stretch>
            <a:fillRect/>
          </a:stretch>
        </p:blipFill>
        <p:spPr bwMode="auto">
          <a:xfrm>
            <a:off x="5500694" y="3071810"/>
            <a:ext cx="3643306" cy="984403"/>
          </a:xfrm>
          <a:prstGeom prst="rect">
            <a:avLst/>
          </a:prstGeom>
          <a:noFill/>
        </p:spPr>
      </p:pic>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2" cstate="print"/>
          <a:srcRect l="26245" t="34250" r="32184" b="36349"/>
          <a:stretch>
            <a:fillRect/>
          </a:stretch>
        </p:blipFill>
        <p:spPr bwMode="auto">
          <a:xfrm>
            <a:off x="7643834" y="164637"/>
            <a:ext cx="1222056" cy="1308696"/>
          </a:xfrm>
          <a:prstGeom prst="rect">
            <a:avLst/>
          </a:prstGeom>
          <a:noFill/>
          <a:ln w="9525">
            <a:noFill/>
            <a:miter lim="800000"/>
            <a:headEnd/>
            <a:tailEnd/>
          </a:ln>
        </p:spPr>
      </p:pic>
      <p:sp>
        <p:nvSpPr>
          <p:cNvPr id="6" name="TextBox 5"/>
          <p:cNvSpPr txBox="1"/>
          <p:nvPr/>
        </p:nvSpPr>
        <p:spPr>
          <a:xfrm>
            <a:off x="1259632" y="836713"/>
            <a:ext cx="5832648" cy="523220"/>
          </a:xfrm>
          <a:prstGeom prst="rect">
            <a:avLst/>
          </a:prstGeom>
          <a:noFill/>
          <a:ln w="15875">
            <a:solidFill>
              <a:schemeClr val="bg2">
                <a:lumMod val="25000"/>
              </a:schemeClr>
            </a:solidFill>
          </a:ln>
        </p:spPr>
        <p:txBody>
          <a:bodyPr wrap="square" rtlCol="0">
            <a:spAutoFit/>
          </a:bodyPr>
          <a:lstStyle/>
          <a:p>
            <a:r>
              <a:rPr lang="zh-CN" altLang="en-US" sz="2800" b="1" dirty="0">
                <a:solidFill>
                  <a:schemeClr val="bg2">
                    <a:lumMod val="25000"/>
                  </a:schemeClr>
                </a:solidFill>
                <a:latin typeface="华文新魏" panose="02010800040101010101" pitchFamily="2" charset="-122"/>
                <a:ea typeface="华文新魏" panose="02010800040101010101" pitchFamily="2" charset="-122"/>
              </a:rPr>
              <a:t>硝酸盐</a:t>
            </a:r>
            <a:r>
              <a:rPr altLang="en-US" sz="2800" b="1" dirty="0">
                <a:solidFill>
                  <a:schemeClr val="bg2">
                    <a:lumMod val="25000"/>
                  </a:schemeClr>
                </a:solidFill>
                <a:latin typeface="华文新魏" panose="02010800040101010101" pitchFamily="2" charset="-122"/>
                <a:ea typeface="华文新魏" panose="02010800040101010101" pitchFamily="2" charset="-122"/>
              </a:rPr>
              <a:t>的测量方法</a:t>
            </a:r>
            <a:endParaRPr lang="zh-CN" altLang="en-US" sz="28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sp>
        <p:nvSpPr>
          <p:cNvPr id="11" name="内容占位符 10"/>
          <p:cNvSpPr>
            <a:spLocks noGrp="1"/>
          </p:cNvSpPr>
          <p:nvPr>
            <p:ph sz="quarter" idx="13"/>
          </p:nvPr>
        </p:nvSpPr>
        <p:spPr>
          <a:xfrm>
            <a:off x="357158" y="1928802"/>
            <a:ext cx="8643998" cy="4929198"/>
          </a:xfrm>
        </p:spPr>
        <p:txBody>
          <a:bodyPr>
            <a:normAutofit/>
          </a:bodyPr>
          <a:lstStyle/>
          <a:p>
            <a:r>
              <a:rPr altLang="en-US" sz="2800" dirty="0"/>
              <a:t>干扰：</a:t>
            </a:r>
            <a:r>
              <a:rPr lang="zh-CN" altLang="en-US" sz="2400" dirty="0"/>
              <a:t>    </a:t>
            </a:r>
            <a:r>
              <a:rPr lang="en-US" altLang="zh-CN" sz="2400" dirty="0"/>
              <a:t>1. </a:t>
            </a:r>
            <a:r>
              <a:rPr altLang="en-US" sz="2400" dirty="0"/>
              <a:t>反应生成的</a:t>
            </a:r>
            <a:r>
              <a:rPr lang="en-US" altLang="zh-CN" sz="2400" dirty="0"/>
              <a:t>Cd</a:t>
            </a:r>
            <a:r>
              <a:rPr lang="en-US" altLang="zh-CN" sz="2400" baseline="30000" dirty="0"/>
              <a:t>2+</a:t>
            </a:r>
            <a:r>
              <a:rPr altLang="en-US" sz="2400" dirty="0"/>
              <a:t>和</a:t>
            </a:r>
            <a:r>
              <a:rPr lang="en-US" altLang="zh-CN" sz="2400" dirty="0"/>
              <a:t>OH</a:t>
            </a:r>
            <a:r>
              <a:rPr lang="en-US" altLang="zh-CN" sz="2400" baseline="30000" dirty="0"/>
              <a:t>-</a:t>
            </a:r>
            <a:r>
              <a:rPr altLang="en-US" sz="2400" dirty="0"/>
              <a:t>反应生成絮状沉淀</a:t>
            </a:r>
            <a:endParaRPr altLang="en-US" sz="2800" dirty="0"/>
          </a:p>
          <a:p>
            <a:pPr lvl="1">
              <a:buNone/>
            </a:pPr>
            <a:r>
              <a:rPr altLang="en-US" sz="2400" dirty="0"/>
              <a:t>  </a:t>
            </a:r>
            <a:r>
              <a:rPr lang="en-US" altLang="zh-CN" sz="2400" dirty="0"/>
              <a:t>2. </a:t>
            </a:r>
            <a:r>
              <a:rPr altLang="en-US" sz="2400" dirty="0"/>
              <a:t>反应生成的</a:t>
            </a:r>
            <a:r>
              <a:rPr lang="en-US" altLang="zh-CN" sz="2400" dirty="0"/>
              <a:t>OH</a:t>
            </a:r>
            <a:r>
              <a:rPr lang="en-US" altLang="zh-CN" sz="2400" baseline="30000" dirty="0"/>
              <a:t>-</a:t>
            </a:r>
            <a:r>
              <a:rPr altLang="en-US" sz="2400" dirty="0"/>
              <a:t>改变溶液酸碱度（特别是在颗粒物表面局部区域），影响反应速率</a:t>
            </a:r>
            <a:endParaRPr lang="en-US" altLang="en-US" sz="2400" dirty="0"/>
          </a:p>
          <a:p>
            <a:pPr lvl="1">
              <a:buNone/>
            </a:pPr>
            <a:endParaRPr altLang="en-US" sz="2800" dirty="0"/>
          </a:p>
        </p:txBody>
      </p:sp>
      <p:pic>
        <p:nvPicPr>
          <p:cNvPr id="13" name="Picture 5" descr="E:\课程\课件\课程图片\0.png"/>
          <p:cNvPicPr>
            <a:picLocks noChangeAspect="1" noChangeArrowheads="1"/>
          </p:cNvPicPr>
          <p:nvPr/>
        </p:nvPicPr>
        <p:blipFill>
          <a:blip r:embed="rId3" cstate="print"/>
          <a:srcRect/>
          <a:stretch>
            <a:fillRect/>
          </a:stretch>
        </p:blipFill>
        <p:spPr bwMode="auto">
          <a:xfrm>
            <a:off x="428596" y="3429000"/>
            <a:ext cx="5429288" cy="378111"/>
          </a:xfrm>
          <a:prstGeom prst="rect">
            <a:avLst/>
          </a:prstGeom>
          <a:noFill/>
        </p:spPr>
      </p:pic>
      <p:pic>
        <p:nvPicPr>
          <p:cNvPr id="5122" name="Picture 2" descr="E:\课程\课件\课程图片\0.png"/>
          <p:cNvPicPr>
            <a:picLocks noChangeAspect="1" noChangeArrowheads="1"/>
          </p:cNvPicPr>
          <p:nvPr/>
        </p:nvPicPr>
        <p:blipFill>
          <a:blip r:embed="rId4" cstate="print"/>
          <a:srcRect/>
          <a:stretch>
            <a:fillRect/>
          </a:stretch>
        </p:blipFill>
        <p:spPr bwMode="auto">
          <a:xfrm>
            <a:off x="641047" y="4056213"/>
            <a:ext cx="8267700" cy="2133600"/>
          </a:xfrm>
          <a:prstGeom prst="rect">
            <a:avLst/>
          </a:prstGeom>
          <a:noFill/>
        </p:spPr>
      </p:pic>
      <p:sp>
        <p:nvSpPr>
          <p:cNvPr id="12" name="TextBox 11"/>
          <p:cNvSpPr txBox="1"/>
          <p:nvPr/>
        </p:nvSpPr>
        <p:spPr>
          <a:xfrm>
            <a:off x="626789" y="6173215"/>
            <a:ext cx="6858048" cy="523220"/>
          </a:xfrm>
          <a:prstGeom prst="rect">
            <a:avLst/>
          </a:prstGeom>
          <a:noFill/>
        </p:spPr>
        <p:txBody>
          <a:bodyPr wrap="square" rtlCol="0">
            <a:spAutoFit/>
          </a:bodyPr>
          <a:lstStyle/>
          <a:p>
            <a:pPr>
              <a:buFont typeface="Arial" panose="020B0604020202020204" pitchFamily="34" charset="0"/>
              <a:buChar char="•"/>
            </a:pPr>
            <a:r>
              <a:rPr altLang="en-US" sz="2800" dirty="0"/>
              <a:t> 需要控制样品与铜镉粒的反应时间</a:t>
            </a:r>
            <a:endParaRPr lang="zh-CN" altLang="en-US" sz="2800" dirty="0"/>
          </a:p>
        </p:txBody>
      </p:sp>
      <p:sp>
        <p:nvSpPr>
          <p:cNvPr id="2" name="文本框 1"/>
          <p:cNvSpPr txBox="1"/>
          <p:nvPr/>
        </p:nvSpPr>
        <p:spPr>
          <a:xfrm>
            <a:off x="6373247" y="4895424"/>
            <a:ext cx="1914729" cy="369332"/>
          </a:xfrm>
          <a:prstGeom prst="rect">
            <a:avLst/>
          </a:prstGeom>
          <a:noFill/>
        </p:spPr>
        <p:txBody>
          <a:bodyPr wrap="square" rtlCol="0">
            <a:spAutoFit/>
          </a:bodyPr>
          <a:lstStyle/>
          <a:p>
            <a:r>
              <a:rPr lang="en-US" altLang="zh-CN" dirty="0" err="1"/>
              <a:t>pk</a:t>
            </a:r>
            <a:r>
              <a:rPr lang="en-US" altLang="zh-CN" dirty="0"/>
              <a:t>=9.26</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down)">
                                      <p:cBhvr>
                                        <p:cTn id="7"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allAtOnce"/>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596162" y="164637"/>
            <a:ext cx="1269728" cy="1308696"/>
          </a:xfrm>
          <a:prstGeom prst="rect">
            <a:avLst/>
          </a:prstGeom>
          <a:noFill/>
          <a:ln w="9525">
            <a:noFill/>
            <a:miter lim="800000"/>
            <a:headEnd/>
            <a:tailEnd/>
          </a:ln>
        </p:spPr>
      </p:pic>
      <p:sp>
        <p:nvSpPr>
          <p:cNvPr id="6" name="TextBox 5"/>
          <p:cNvSpPr txBox="1"/>
          <p:nvPr/>
        </p:nvSpPr>
        <p:spPr>
          <a:xfrm>
            <a:off x="1259632" y="836713"/>
            <a:ext cx="5832648" cy="523220"/>
          </a:xfrm>
          <a:prstGeom prst="rect">
            <a:avLst/>
          </a:prstGeom>
          <a:noFill/>
          <a:ln w="15875">
            <a:solidFill>
              <a:schemeClr val="bg2">
                <a:lumMod val="25000"/>
              </a:schemeClr>
            </a:solidFill>
          </a:ln>
        </p:spPr>
        <p:txBody>
          <a:bodyPr wrap="square" rtlCol="0">
            <a:spAutoFit/>
          </a:bodyPr>
          <a:lstStyle/>
          <a:p>
            <a:r>
              <a:rPr lang="zh-CN" altLang="en-US" sz="2800" b="1" dirty="0">
                <a:solidFill>
                  <a:schemeClr val="bg2">
                    <a:lumMod val="25000"/>
                  </a:schemeClr>
                </a:solidFill>
                <a:latin typeface="华文新魏" panose="02010800040101010101" pitchFamily="2" charset="-122"/>
                <a:ea typeface="华文新魏" panose="02010800040101010101" pitchFamily="2" charset="-122"/>
              </a:rPr>
              <a:t>硝酸盐</a:t>
            </a:r>
            <a:r>
              <a:rPr altLang="en-US" sz="2800" b="1" dirty="0">
                <a:solidFill>
                  <a:schemeClr val="bg2">
                    <a:lumMod val="25000"/>
                  </a:schemeClr>
                </a:solidFill>
                <a:latin typeface="华文新魏" panose="02010800040101010101" pitchFamily="2" charset="-122"/>
                <a:ea typeface="华文新魏" panose="02010800040101010101" pitchFamily="2" charset="-122"/>
              </a:rPr>
              <a:t>还原柱</a:t>
            </a:r>
            <a:endParaRPr lang="zh-CN" altLang="en-US" sz="28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pic>
        <p:nvPicPr>
          <p:cNvPr id="7170" name="Picture 2" descr="E:\课程\课件\课程图片\0.png"/>
          <p:cNvPicPr>
            <a:picLocks noChangeAspect="1" noChangeArrowheads="1"/>
          </p:cNvPicPr>
          <p:nvPr/>
        </p:nvPicPr>
        <p:blipFill>
          <a:blip r:embed="rId2" cstate="print"/>
          <a:srcRect/>
          <a:stretch>
            <a:fillRect/>
          </a:stretch>
        </p:blipFill>
        <p:spPr bwMode="auto">
          <a:xfrm>
            <a:off x="7475304" y="1714488"/>
            <a:ext cx="1668696" cy="3786214"/>
          </a:xfrm>
          <a:prstGeom prst="rect">
            <a:avLst/>
          </a:prstGeom>
          <a:noFill/>
        </p:spPr>
      </p:pic>
      <p:sp>
        <p:nvSpPr>
          <p:cNvPr id="11" name="内容占位符 10"/>
          <p:cNvSpPr>
            <a:spLocks noGrp="1"/>
          </p:cNvSpPr>
          <p:nvPr>
            <p:ph sz="quarter" idx="13"/>
          </p:nvPr>
        </p:nvSpPr>
        <p:spPr>
          <a:xfrm>
            <a:off x="357158" y="1714488"/>
            <a:ext cx="6929486" cy="4368800"/>
          </a:xfrm>
        </p:spPr>
        <p:txBody>
          <a:bodyPr/>
          <a:lstStyle/>
          <a:p>
            <a:r>
              <a:rPr altLang="en-US" sz="2800" dirty="0"/>
              <a:t>还原柱的制备</a:t>
            </a:r>
            <a:endParaRPr lang="en-US" altLang="en-US" sz="2800" dirty="0"/>
          </a:p>
          <a:p>
            <a:pPr lvl="1"/>
            <a:r>
              <a:rPr lang="en-US" altLang="en-US" dirty="0"/>
              <a:t> </a:t>
            </a:r>
            <a:r>
              <a:rPr altLang="en-US" dirty="0"/>
              <a:t>玻璃管</a:t>
            </a:r>
            <a:r>
              <a:rPr lang="en-US" altLang="en-US" dirty="0"/>
              <a:t>10</a:t>
            </a:r>
            <a:r>
              <a:rPr lang="en-US" altLang="zh-CN" dirty="0"/>
              <a:t>~25 cm</a:t>
            </a:r>
            <a:r>
              <a:rPr altLang="en-US" dirty="0"/>
              <a:t>长，内径</a:t>
            </a:r>
            <a:r>
              <a:rPr lang="en-US" altLang="en-US" dirty="0"/>
              <a:t>3</a:t>
            </a:r>
            <a:r>
              <a:rPr lang="en-US" altLang="zh-CN" dirty="0"/>
              <a:t>-5 mm</a:t>
            </a:r>
            <a:endParaRPr lang="en-US" altLang="zh-CN" dirty="0"/>
          </a:p>
          <a:p>
            <a:pPr lvl="1"/>
            <a:r>
              <a:rPr lang="en-US" altLang="en-US" dirty="0"/>
              <a:t> </a:t>
            </a:r>
            <a:r>
              <a:rPr altLang="en-US" dirty="0"/>
              <a:t>手工测一般用右图所示的装置，机器测时还原柱的形状各异</a:t>
            </a:r>
            <a:endParaRPr lang="en-US" altLang="en-US" dirty="0"/>
          </a:p>
          <a:p>
            <a:pPr lvl="1"/>
            <a:r>
              <a:rPr lang="en-US" altLang="en-US" dirty="0"/>
              <a:t> </a:t>
            </a:r>
            <a:r>
              <a:rPr altLang="en-US" dirty="0"/>
              <a:t>管子的长度和内径应当与流速相配合</a:t>
            </a:r>
            <a:endParaRPr lang="en-US" altLang="en-US" dirty="0"/>
          </a:p>
          <a:p>
            <a:pPr lvl="2"/>
            <a:r>
              <a:rPr lang="en-US" altLang="en-US" dirty="0"/>
              <a:t>20 </a:t>
            </a:r>
            <a:r>
              <a:rPr lang="en-US" altLang="zh-CN" dirty="0"/>
              <a:t>cm</a:t>
            </a:r>
            <a:r>
              <a:rPr altLang="en-US" dirty="0"/>
              <a:t>长，</a:t>
            </a:r>
            <a:r>
              <a:rPr lang="en-US" altLang="en-US" dirty="0"/>
              <a:t>4 </a:t>
            </a:r>
            <a:r>
              <a:rPr lang="en-US" altLang="zh-CN" dirty="0"/>
              <a:t>mm</a:t>
            </a:r>
            <a:r>
              <a:rPr altLang="en-US" dirty="0"/>
              <a:t>内径，流速应当控制在</a:t>
            </a:r>
            <a:r>
              <a:rPr lang="en-US" altLang="en-US" dirty="0"/>
              <a:t>6</a:t>
            </a:r>
            <a:r>
              <a:rPr lang="en-US" altLang="zh-CN" dirty="0"/>
              <a:t>-8 ml/min</a:t>
            </a:r>
            <a:r>
              <a:rPr altLang="en-US" dirty="0"/>
              <a:t>。因此，</a:t>
            </a:r>
            <a:r>
              <a:rPr lang="en-US" altLang="en-US" dirty="0"/>
              <a:t>50 </a:t>
            </a:r>
            <a:r>
              <a:rPr lang="en-US" altLang="zh-CN" dirty="0"/>
              <a:t>ml</a:t>
            </a:r>
            <a:r>
              <a:rPr altLang="en-US" dirty="0"/>
              <a:t>的样品大约的反应时间在</a:t>
            </a:r>
            <a:r>
              <a:rPr lang="en-US" altLang="en-US" dirty="0"/>
              <a:t>6</a:t>
            </a:r>
            <a:r>
              <a:rPr lang="en-US" altLang="zh-CN" dirty="0"/>
              <a:t>~8</a:t>
            </a:r>
            <a:r>
              <a:rPr altLang="en-US" dirty="0"/>
              <a:t>分钟</a:t>
            </a:r>
            <a:endParaRPr lang="en-US" altLang="en-US" dirty="0"/>
          </a:p>
          <a:p>
            <a:pPr lvl="2"/>
            <a:r>
              <a:rPr lang="en-US" altLang="en-US" dirty="0"/>
              <a:t> </a:t>
            </a:r>
            <a:r>
              <a:rPr lang="en-US" altLang="zh-CN" dirty="0" err="1"/>
              <a:t>Cd</a:t>
            </a:r>
            <a:r>
              <a:rPr altLang="en-US" dirty="0"/>
              <a:t>粒是消耗品，需要定时补充</a:t>
            </a:r>
            <a:endParaRPr lang="zh-CN" altLang="en-US" dirty="0"/>
          </a:p>
        </p:txBody>
      </p:sp>
      <p:pic>
        <p:nvPicPr>
          <p:cNvPr id="7171" name="Picture 3" descr="E:\课程\课件\课程图片\1.png"/>
          <p:cNvPicPr>
            <a:picLocks noChangeAspect="1" noChangeArrowheads="1"/>
          </p:cNvPicPr>
          <p:nvPr/>
        </p:nvPicPr>
        <p:blipFill>
          <a:blip r:embed="rId3" cstate="print"/>
          <a:srcRect/>
          <a:stretch>
            <a:fillRect/>
          </a:stretch>
        </p:blipFill>
        <p:spPr bwMode="auto">
          <a:xfrm>
            <a:off x="928662" y="5715016"/>
            <a:ext cx="6667500" cy="619125"/>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668344" y="164637"/>
            <a:ext cx="1197546" cy="1308696"/>
          </a:xfrm>
          <a:prstGeom prst="rect">
            <a:avLst/>
          </a:prstGeom>
          <a:noFill/>
          <a:ln w="9525">
            <a:noFill/>
            <a:miter lim="800000"/>
            <a:headEnd/>
            <a:tailEnd/>
          </a:ln>
        </p:spPr>
      </p:pic>
      <p:sp>
        <p:nvSpPr>
          <p:cNvPr id="6" name="TextBox 5"/>
          <p:cNvSpPr txBox="1"/>
          <p:nvPr/>
        </p:nvSpPr>
        <p:spPr>
          <a:xfrm>
            <a:off x="1259632" y="836713"/>
            <a:ext cx="5832648" cy="523220"/>
          </a:xfrm>
          <a:prstGeom prst="rect">
            <a:avLst/>
          </a:prstGeom>
          <a:noFill/>
          <a:ln w="15875">
            <a:solidFill>
              <a:schemeClr val="bg2">
                <a:lumMod val="25000"/>
              </a:schemeClr>
            </a:solidFill>
          </a:ln>
        </p:spPr>
        <p:txBody>
          <a:bodyPr wrap="square" rtlCol="0">
            <a:spAutoFit/>
          </a:bodyPr>
          <a:lstStyle/>
          <a:p>
            <a:r>
              <a:rPr lang="zh-CN" altLang="en-US" sz="2800" b="1" dirty="0">
                <a:solidFill>
                  <a:schemeClr val="bg2">
                    <a:lumMod val="25000"/>
                  </a:schemeClr>
                </a:solidFill>
                <a:latin typeface="华文新魏" panose="02010800040101010101" pitchFamily="2" charset="-122"/>
                <a:ea typeface="华文新魏" panose="02010800040101010101" pitchFamily="2" charset="-122"/>
              </a:rPr>
              <a:t>硝酸盐</a:t>
            </a:r>
            <a:r>
              <a:rPr altLang="en-US" sz="2800" b="1" dirty="0">
                <a:solidFill>
                  <a:schemeClr val="bg2">
                    <a:lumMod val="25000"/>
                  </a:schemeClr>
                </a:solidFill>
                <a:latin typeface="华文新魏" panose="02010800040101010101" pitchFamily="2" charset="-122"/>
                <a:ea typeface="华文新魏" panose="02010800040101010101" pitchFamily="2" charset="-122"/>
              </a:rPr>
              <a:t>还原柱</a:t>
            </a:r>
            <a:endParaRPr lang="zh-CN" altLang="en-US" sz="28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pic>
        <p:nvPicPr>
          <p:cNvPr id="7170" name="Picture 2" descr="E:\课程\课件\课程图片\0.png"/>
          <p:cNvPicPr>
            <a:picLocks noChangeAspect="1" noChangeArrowheads="1"/>
          </p:cNvPicPr>
          <p:nvPr/>
        </p:nvPicPr>
        <p:blipFill>
          <a:blip r:embed="rId2" cstate="print"/>
          <a:srcRect/>
          <a:stretch>
            <a:fillRect/>
          </a:stretch>
        </p:blipFill>
        <p:spPr bwMode="auto">
          <a:xfrm>
            <a:off x="7213879" y="1785753"/>
            <a:ext cx="1883010" cy="4286280"/>
          </a:xfrm>
          <a:prstGeom prst="rect">
            <a:avLst/>
          </a:prstGeom>
          <a:noFill/>
        </p:spPr>
      </p:pic>
      <p:sp>
        <p:nvSpPr>
          <p:cNvPr id="11" name="内容占位符 10"/>
          <p:cNvSpPr>
            <a:spLocks noGrp="1"/>
          </p:cNvSpPr>
          <p:nvPr>
            <p:ph sz="quarter" idx="13"/>
          </p:nvPr>
        </p:nvSpPr>
        <p:spPr>
          <a:xfrm>
            <a:off x="16768" y="1751870"/>
            <a:ext cx="7380312" cy="5229200"/>
          </a:xfrm>
        </p:spPr>
        <p:txBody>
          <a:bodyPr>
            <a:normAutofit lnSpcReduction="10000"/>
          </a:bodyPr>
          <a:lstStyle/>
          <a:p>
            <a:r>
              <a:rPr altLang="en-US" dirty="0" err="1"/>
              <a:t>还原柱的制备</a:t>
            </a:r>
            <a:endParaRPr lang="en-US" altLang="en-US" dirty="0"/>
          </a:p>
          <a:p>
            <a:pPr lvl="1">
              <a:lnSpc>
                <a:spcPct val="120000"/>
              </a:lnSpc>
            </a:pPr>
            <a:r>
              <a:rPr lang="en-US" altLang="en-US" sz="2200" dirty="0"/>
              <a:t>Cd</a:t>
            </a:r>
            <a:r>
              <a:rPr lang="zh-CN" altLang="en-US" sz="2200" dirty="0"/>
              <a:t>粒用</a:t>
            </a:r>
            <a:r>
              <a:rPr lang="en-US" altLang="zh-CN" sz="2200" dirty="0"/>
              <a:t>2M HCl</a:t>
            </a:r>
            <a:r>
              <a:rPr lang="zh-CN" altLang="en-US" sz="2200" dirty="0"/>
              <a:t>浸洗，用蒸馏水洗涤，再加入  </a:t>
            </a:r>
            <a:r>
              <a:rPr lang="en-US" altLang="zh-CN" sz="2200" dirty="0"/>
              <a:t>CuSO</a:t>
            </a:r>
            <a:r>
              <a:rPr lang="en-US" altLang="zh-CN" sz="2200" baseline="-25000" dirty="0"/>
              <a:t>4</a:t>
            </a:r>
            <a:r>
              <a:rPr lang="zh-CN" altLang="en-US" sz="2200" dirty="0"/>
              <a:t>溶液振摇，最后用蒸馏水洗涤</a:t>
            </a:r>
            <a:r>
              <a:rPr lang="en-US" altLang="zh-CN" sz="2200" dirty="0"/>
              <a:t>5-6</a:t>
            </a:r>
            <a:r>
              <a:rPr lang="zh-CN" altLang="en-US" sz="2200" dirty="0"/>
              <a:t>次，形成表面镀铜的镉粒装入还原柱</a:t>
            </a:r>
            <a:endParaRPr lang="en-US" altLang="en-US" sz="2200" dirty="0"/>
          </a:p>
          <a:p>
            <a:pPr lvl="1"/>
            <a:endParaRPr lang="en-US" altLang="en-US" dirty="0"/>
          </a:p>
          <a:p>
            <a:pPr lvl="1">
              <a:lnSpc>
                <a:spcPct val="120000"/>
              </a:lnSpc>
            </a:pPr>
            <a:r>
              <a:rPr altLang="en-US" sz="2200" dirty="0"/>
              <a:t>还原柱需要活化：含</a:t>
            </a:r>
            <a:r>
              <a:rPr lang="en-US" altLang="en-US" sz="2200" dirty="0"/>
              <a:t>100 µ</a:t>
            </a:r>
            <a:r>
              <a:rPr lang="en-US" altLang="zh-CN" sz="2200" dirty="0"/>
              <a:t>mol/L NO</a:t>
            </a:r>
            <a:r>
              <a:rPr lang="en-US" altLang="zh-CN" sz="2200" baseline="-25000" dirty="0"/>
              <a:t>3</a:t>
            </a:r>
            <a:r>
              <a:rPr lang="en-US" altLang="zh-CN" sz="2200" baseline="30000" dirty="0"/>
              <a:t>-</a:t>
            </a:r>
            <a:r>
              <a:rPr altLang="en-US" sz="2200" dirty="0"/>
              <a:t>的</a:t>
            </a:r>
            <a:r>
              <a:rPr lang="en-US" altLang="en-US" sz="2200" dirty="0"/>
              <a:t>250 </a:t>
            </a:r>
            <a:r>
              <a:rPr lang="en-US" altLang="zh-CN" sz="2200" dirty="0" err="1"/>
              <a:t>ml</a:t>
            </a:r>
            <a:r>
              <a:rPr altLang="en-US" sz="2200" dirty="0" err="1"/>
              <a:t>氨性缓冲溶液通过还原柱，再用缓冲溶液反复冲洗后，还原柱可用</a:t>
            </a:r>
            <a:endParaRPr lang="en-US" altLang="en-US" sz="2200" dirty="0"/>
          </a:p>
          <a:p>
            <a:pPr lvl="1">
              <a:lnSpc>
                <a:spcPct val="120000"/>
              </a:lnSpc>
            </a:pPr>
            <a:r>
              <a:rPr altLang="en-US" sz="2000" dirty="0"/>
              <a:t>在停用时，铜镉还原柱应该一直浸泡在氨性缓冲溶液中</a:t>
            </a:r>
            <a:endParaRPr lang="en-US" altLang="en-US" sz="2000" dirty="0"/>
          </a:p>
          <a:p>
            <a:pPr lvl="1">
              <a:lnSpc>
                <a:spcPct val="120000"/>
              </a:lnSpc>
            </a:pPr>
            <a:r>
              <a:rPr altLang="en-US" sz="2000" dirty="0"/>
              <a:t>当还原率低于</a:t>
            </a:r>
            <a:r>
              <a:rPr lang="en-US" altLang="en-US" sz="2000" dirty="0"/>
              <a:t>95</a:t>
            </a:r>
            <a:r>
              <a:rPr lang="en-US" altLang="zh-CN" sz="2000" dirty="0"/>
              <a:t>%</a:t>
            </a:r>
            <a:r>
              <a:rPr altLang="en-US" sz="2000" dirty="0"/>
              <a:t>（</a:t>
            </a:r>
            <a:r>
              <a:rPr lang="en-US" altLang="en-US" sz="2000" dirty="0"/>
              <a:t>90</a:t>
            </a:r>
            <a:r>
              <a:rPr lang="en-US" altLang="zh-CN" sz="2000" dirty="0"/>
              <a:t>%</a:t>
            </a:r>
            <a:r>
              <a:rPr altLang="en-US" sz="2000" dirty="0"/>
              <a:t>），需要重做铜镉还原柱</a:t>
            </a:r>
            <a:endParaRPr lang="en-US" altLang="en-US" sz="2000" dirty="0"/>
          </a:p>
          <a:p>
            <a:pPr lvl="1">
              <a:lnSpc>
                <a:spcPct val="120000"/>
              </a:lnSpc>
            </a:pPr>
            <a:r>
              <a:rPr altLang="en-US" sz="2000" dirty="0"/>
              <a:t>一段时间不用后或者要测微量</a:t>
            </a:r>
            <a:r>
              <a:rPr lang="en-US" altLang="zh-CN" sz="2000" dirty="0"/>
              <a:t>NO</a:t>
            </a:r>
            <a:r>
              <a:rPr lang="en-US" altLang="zh-CN" sz="2000" baseline="-25000" dirty="0"/>
              <a:t>3</a:t>
            </a:r>
            <a:r>
              <a:rPr lang="en-US" altLang="zh-CN" sz="2000" baseline="30000" dirty="0"/>
              <a:t>-</a:t>
            </a:r>
            <a:r>
              <a:rPr altLang="en-US" sz="2000" dirty="0"/>
              <a:t>时，都需要对管子进行活化</a:t>
            </a:r>
            <a:endParaRPr lang="zh-CN" altLang="en-US" sz="2000" dirty="0"/>
          </a:p>
        </p:txBody>
      </p:sp>
      <p:pic>
        <p:nvPicPr>
          <p:cNvPr id="8195" name="Picture 3" descr="E:\课程\课件\课程图片\1.png"/>
          <p:cNvPicPr>
            <a:picLocks noChangeAspect="1" noChangeArrowheads="1"/>
          </p:cNvPicPr>
          <p:nvPr/>
        </p:nvPicPr>
        <p:blipFill>
          <a:blip r:embed="rId3" cstate="print"/>
          <a:srcRect/>
          <a:stretch>
            <a:fillRect/>
          </a:stretch>
        </p:blipFill>
        <p:spPr bwMode="auto">
          <a:xfrm>
            <a:off x="507207" y="3356992"/>
            <a:ext cx="5400600" cy="414569"/>
          </a:xfrm>
          <a:prstGeom prst="rect">
            <a:avLst/>
          </a:prstGeo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596336" y="164637"/>
            <a:ext cx="1269554" cy="1308696"/>
          </a:xfrm>
          <a:prstGeom prst="rect">
            <a:avLst/>
          </a:prstGeom>
          <a:noFill/>
          <a:ln w="9525">
            <a:noFill/>
            <a:miter lim="800000"/>
            <a:headEnd/>
            <a:tailEnd/>
          </a:ln>
        </p:spPr>
      </p:pic>
      <p:sp>
        <p:nvSpPr>
          <p:cNvPr id="6" name="TextBox 5"/>
          <p:cNvSpPr txBox="1"/>
          <p:nvPr/>
        </p:nvSpPr>
        <p:spPr>
          <a:xfrm>
            <a:off x="1259632" y="836713"/>
            <a:ext cx="5832648" cy="523220"/>
          </a:xfrm>
          <a:prstGeom prst="rect">
            <a:avLst/>
          </a:prstGeom>
          <a:noFill/>
          <a:ln w="15875">
            <a:solidFill>
              <a:schemeClr val="bg2">
                <a:lumMod val="25000"/>
              </a:schemeClr>
            </a:solidFill>
          </a:ln>
        </p:spPr>
        <p:txBody>
          <a:bodyPr wrap="square" rtlCol="0">
            <a:spAutoFit/>
          </a:bodyPr>
          <a:lstStyle/>
          <a:p>
            <a:r>
              <a:rPr lang="zh-CN" altLang="en-US" sz="2800" b="1" dirty="0">
                <a:solidFill>
                  <a:schemeClr val="bg2">
                    <a:lumMod val="25000"/>
                  </a:schemeClr>
                </a:solidFill>
                <a:latin typeface="华文新魏" panose="02010800040101010101" pitchFamily="2" charset="-122"/>
                <a:ea typeface="华文新魏" panose="02010800040101010101" pitchFamily="2" charset="-122"/>
              </a:rPr>
              <a:t>硝酸盐</a:t>
            </a:r>
            <a:r>
              <a:rPr altLang="en-US" sz="2800" b="1" dirty="0">
                <a:solidFill>
                  <a:schemeClr val="bg2">
                    <a:lumMod val="25000"/>
                  </a:schemeClr>
                </a:solidFill>
                <a:latin typeface="华文新魏" panose="02010800040101010101" pitchFamily="2" charset="-122"/>
                <a:ea typeface="华文新魏" panose="02010800040101010101" pitchFamily="2" charset="-122"/>
              </a:rPr>
              <a:t>测量方法</a:t>
            </a:r>
            <a:endParaRPr lang="zh-CN" altLang="en-US" sz="28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pic>
        <p:nvPicPr>
          <p:cNvPr id="9218" name="Picture 2" descr="E:\课程\课件\课程图片\1.png"/>
          <p:cNvPicPr>
            <a:picLocks noChangeAspect="1" noChangeArrowheads="1"/>
          </p:cNvPicPr>
          <p:nvPr/>
        </p:nvPicPr>
        <p:blipFill>
          <a:blip r:embed="rId2" cstate="print"/>
          <a:srcRect/>
          <a:stretch>
            <a:fillRect/>
          </a:stretch>
        </p:blipFill>
        <p:spPr bwMode="auto">
          <a:xfrm>
            <a:off x="357158" y="4050590"/>
            <a:ext cx="7143800" cy="2504302"/>
          </a:xfrm>
          <a:prstGeom prst="rect">
            <a:avLst/>
          </a:prstGeom>
          <a:noFill/>
        </p:spPr>
      </p:pic>
      <p:pic>
        <p:nvPicPr>
          <p:cNvPr id="9219" name="Picture 3" descr="E:\课程\课件\课程图片\1.png"/>
          <p:cNvPicPr>
            <a:picLocks noChangeAspect="1" noChangeArrowheads="1"/>
          </p:cNvPicPr>
          <p:nvPr/>
        </p:nvPicPr>
        <p:blipFill>
          <a:blip r:embed="rId3" cstate="print"/>
          <a:srcRect/>
          <a:stretch>
            <a:fillRect/>
          </a:stretch>
        </p:blipFill>
        <p:spPr bwMode="auto">
          <a:xfrm>
            <a:off x="413429" y="1714488"/>
            <a:ext cx="8730571" cy="2357454"/>
          </a:xfrm>
          <a:prstGeom prst="rect">
            <a:avLst/>
          </a:prstGeom>
          <a:noFill/>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524328" y="164637"/>
            <a:ext cx="1341562" cy="1308696"/>
          </a:xfrm>
          <a:prstGeom prst="rect">
            <a:avLst/>
          </a:prstGeom>
          <a:noFill/>
          <a:ln w="9525">
            <a:noFill/>
            <a:miter lim="800000"/>
            <a:headEnd/>
            <a:tailEnd/>
          </a:ln>
        </p:spPr>
      </p:pic>
      <p:sp>
        <p:nvSpPr>
          <p:cNvPr id="6" name="TextBox 5"/>
          <p:cNvSpPr txBox="1"/>
          <p:nvPr/>
        </p:nvSpPr>
        <p:spPr>
          <a:xfrm>
            <a:off x="1259632" y="836713"/>
            <a:ext cx="5832648" cy="523220"/>
          </a:xfrm>
          <a:prstGeom prst="rect">
            <a:avLst/>
          </a:prstGeom>
          <a:noFill/>
          <a:ln w="15875">
            <a:solidFill>
              <a:schemeClr val="bg2">
                <a:lumMod val="25000"/>
              </a:schemeClr>
            </a:solidFill>
          </a:ln>
        </p:spPr>
        <p:txBody>
          <a:bodyPr wrap="square" rtlCol="0">
            <a:spAutoFit/>
          </a:bodyPr>
          <a:lstStyle/>
          <a:p>
            <a:r>
              <a:rPr lang="zh-CN" altLang="en-US" sz="2800" b="1" dirty="0">
                <a:solidFill>
                  <a:schemeClr val="bg2">
                    <a:lumMod val="25000"/>
                  </a:schemeClr>
                </a:solidFill>
                <a:latin typeface="华文新魏" panose="02010800040101010101" pitchFamily="2" charset="-122"/>
                <a:ea typeface="华文新魏" panose="02010800040101010101" pitchFamily="2" charset="-122"/>
              </a:rPr>
              <a:t>硝酸盐</a:t>
            </a:r>
            <a:r>
              <a:rPr altLang="en-US" sz="2800" b="1" dirty="0">
                <a:solidFill>
                  <a:schemeClr val="bg2">
                    <a:lumMod val="25000"/>
                  </a:schemeClr>
                </a:solidFill>
                <a:latin typeface="华文新魏" panose="02010800040101010101" pitchFamily="2" charset="-122"/>
                <a:ea typeface="华文新魏" panose="02010800040101010101" pitchFamily="2" charset="-122"/>
              </a:rPr>
              <a:t>测量方法</a:t>
            </a:r>
            <a:endParaRPr lang="zh-CN" altLang="en-US" sz="28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pic>
        <p:nvPicPr>
          <p:cNvPr id="2050" name="Picture 2" descr="C:\Users\402\Desktop\1.png"/>
          <p:cNvPicPr>
            <a:picLocks noChangeAspect="1" noChangeArrowheads="1"/>
          </p:cNvPicPr>
          <p:nvPr/>
        </p:nvPicPr>
        <p:blipFill>
          <a:blip r:embed="rId2" cstate="print"/>
          <a:srcRect/>
          <a:stretch>
            <a:fillRect/>
          </a:stretch>
        </p:blipFill>
        <p:spPr bwMode="auto">
          <a:xfrm>
            <a:off x="323528" y="2060848"/>
            <a:ext cx="8424936" cy="2779582"/>
          </a:xfrm>
          <a:prstGeom prst="rect">
            <a:avLst/>
          </a:prstGeom>
          <a:noFill/>
        </p:spPr>
      </p:pic>
      <p:sp>
        <p:nvSpPr>
          <p:cNvPr id="9" name="TextBox 8"/>
          <p:cNvSpPr txBox="1"/>
          <p:nvPr/>
        </p:nvSpPr>
        <p:spPr>
          <a:xfrm>
            <a:off x="611560" y="5013176"/>
            <a:ext cx="5529078" cy="461665"/>
          </a:xfrm>
          <a:prstGeom prst="rect">
            <a:avLst/>
          </a:prstGeom>
          <a:noFill/>
        </p:spPr>
        <p:txBody>
          <a:bodyPr wrap="none" rtlCol="0">
            <a:spAutoFit/>
          </a:bodyPr>
          <a:lstStyle/>
          <a:p>
            <a:pPr>
              <a:buFont typeface="Arial" panose="020B0604020202020204" pitchFamily="34" charset="0"/>
              <a:buChar char="•"/>
            </a:pPr>
            <a:r>
              <a:rPr lang="zh-CN" altLang="en-US" sz="2400" dirty="0"/>
              <a:t> </a:t>
            </a:r>
            <a:r>
              <a:rPr lang="zh-CN" altLang="en-US" sz="2400" dirty="0">
                <a:latin typeface="微软雅黑" panose="020B0503020204020204" pitchFamily="34" charset="-122"/>
                <a:ea typeface="微软雅黑" panose="020B0503020204020204" pitchFamily="34" charset="-122"/>
              </a:rPr>
              <a:t>加入</a:t>
            </a:r>
            <a:r>
              <a:rPr lang="en-US" altLang="zh-CN" sz="2400" dirty="0">
                <a:latin typeface="微软雅黑" panose="020B0503020204020204" pitchFamily="34" charset="-122"/>
                <a:ea typeface="微软雅黑" panose="020B0503020204020204" pitchFamily="34" charset="-122"/>
              </a:rPr>
              <a:t>HgCl</a:t>
            </a:r>
            <a:r>
              <a:rPr lang="en-US" altLang="zh-CN" sz="2400" baseline="-250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储存溶液，就不能过铜镉柱</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524328" y="164637"/>
            <a:ext cx="1341562" cy="1308696"/>
          </a:xfrm>
          <a:prstGeom prst="rect">
            <a:avLst/>
          </a:prstGeom>
          <a:noFill/>
          <a:ln w="9525">
            <a:noFill/>
            <a:miter lim="800000"/>
            <a:headEnd/>
            <a:tailEnd/>
          </a:ln>
        </p:spPr>
      </p:pic>
      <p:sp>
        <p:nvSpPr>
          <p:cNvPr id="6" name="TextBox 5"/>
          <p:cNvSpPr txBox="1"/>
          <p:nvPr/>
        </p:nvSpPr>
        <p:spPr>
          <a:xfrm>
            <a:off x="1259632" y="836713"/>
            <a:ext cx="5832648" cy="523220"/>
          </a:xfrm>
          <a:prstGeom prst="rect">
            <a:avLst/>
          </a:prstGeom>
          <a:noFill/>
          <a:ln w="15875">
            <a:solidFill>
              <a:schemeClr val="bg2">
                <a:lumMod val="25000"/>
              </a:schemeClr>
            </a:solidFill>
          </a:ln>
        </p:spPr>
        <p:txBody>
          <a:bodyPr wrap="square" rtlCol="0">
            <a:spAutoFit/>
          </a:bodyPr>
          <a:lstStyle/>
          <a:p>
            <a:r>
              <a:rPr lang="zh-CN" altLang="en-US" sz="2800" b="1" dirty="0">
                <a:solidFill>
                  <a:schemeClr val="bg2">
                    <a:lumMod val="25000"/>
                  </a:schemeClr>
                </a:solidFill>
                <a:latin typeface="华文新魏" panose="02010800040101010101" pitchFamily="2" charset="-122"/>
                <a:ea typeface="华文新魏" panose="02010800040101010101" pitchFamily="2" charset="-122"/>
              </a:rPr>
              <a:t>硝酸盐</a:t>
            </a:r>
            <a:r>
              <a:rPr altLang="en-US" sz="2800" b="1" dirty="0">
                <a:solidFill>
                  <a:schemeClr val="bg2">
                    <a:lumMod val="25000"/>
                  </a:schemeClr>
                </a:solidFill>
                <a:latin typeface="华文新魏" panose="02010800040101010101" pitchFamily="2" charset="-122"/>
                <a:ea typeface="华文新魏" panose="02010800040101010101" pitchFamily="2" charset="-122"/>
              </a:rPr>
              <a:t>的测量方法</a:t>
            </a:r>
            <a:endParaRPr lang="zh-CN" altLang="en-US" sz="28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sp>
        <p:nvSpPr>
          <p:cNvPr id="11" name="内容占位符 10"/>
          <p:cNvSpPr>
            <a:spLocks noGrp="1"/>
          </p:cNvSpPr>
          <p:nvPr>
            <p:ph sz="quarter" idx="13"/>
          </p:nvPr>
        </p:nvSpPr>
        <p:spPr>
          <a:xfrm>
            <a:off x="395536" y="2132856"/>
            <a:ext cx="8352928" cy="3143272"/>
          </a:xfrm>
        </p:spPr>
        <p:txBody>
          <a:bodyPr>
            <a:normAutofit/>
          </a:bodyPr>
          <a:lstStyle/>
          <a:p>
            <a:r>
              <a:rPr altLang="en-US" sz="2800" dirty="0">
                <a:latin typeface="微软雅黑" panose="020B0503020204020204" pitchFamily="34" charset="-122"/>
                <a:ea typeface="微软雅黑" panose="020B0503020204020204" pitchFamily="34" charset="-122"/>
              </a:rPr>
              <a:t>测到的亚硝酸盐是由两部分构成的，海水里原有的亚硝酸盐，和由硝酸</a:t>
            </a:r>
            <a:r>
              <a:rPr lang="zh-CN" altLang="en-US" sz="2800" dirty="0">
                <a:latin typeface="微软雅黑" panose="020B0503020204020204" pitchFamily="34" charset="-122"/>
                <a:ea typeface="微软雅黑" panose="020B0503020204020204" pitchFamily="34" charset="-122"/>
              </a:rPr>
              <a:t>盐</a:t>
            </a:r>
            <a:r>
              <a:rPr altLang="en-US" sz="2800" dirty="0">
                <a:latin typeface="微软雅黑" panose="020B0503020204020204" pitchFamily="34" charset="-122"/>
                <a:ea typeface="微软雅黑" panose="020B0503020204020204" pitchFamily="34" charset="-122"/>
              </a:rPr>
              <a:t>还原得到的亚硝酸盐。</a:t>
            </a:r>
            <a:endParaRPr lang="en-US" altLang="en-US" sz="2800" dirty="0">
              <a:latin typeface="微软雅黑" panose="020B0503020204020204" pitchFamily="34" charset="-122"/>
              <a:ea typeface="微软雅黑" panose="020B0503020204020204" pitchFamily="34" charset="-122"/>
            </a:endParaRPr>
          </a:p>
          <a:p>
            <a:r>
              <a:rPr altLang="en-US" sz="2800" dirty="0">
                <a:latin typeface="微软雅黑" panose="020B0503020204020204" pitchFamily="34" charset="-122"/>
                <a:ea typeface="微软雅黑" panose="020B0503020204020204" pitchFamily="34" charset="-122"/>
              </a:rPr>
              <a:t>所以，在间接法中</a:t>
            </a:r>
            <a:r>
              <a:rPr lang="en-US" altLang="en-US" sz="2800" dirty="0">
                <a:latin typeface="微软雅黑" panose="020B0503020204020204" pitchFamily="34" charset="-122"/>
                <a:ea typeface="微软雅黑" panose="020B0503020204020204" pitchFamily="34" charset="-122"/>
              </a:rPr>
              <a:t> </a:t>
            </a:r>
            <a:r>
              <a:rPr altLang="en-US" sz="2800" dirty="0">
                <a:latin typeface="微软雅黑" panose="020B0503020204020204" pitchFamily="34" charset="-122"/>
                <a:ea typeface="微软雅黑" panose="020B0503020204020204" pitchFamily="34" charset="-122"/>
              </a:rPr>
              <a:t>要得到硝酸盐的含量，必须减去海水中原有亚硝酸盐的含量</a:t>
            </a:r>
            <a:endParaRPr altLang="en-US" sz="28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596336" y="164637"/>
            <a:ext cx="1269554" cy="1308696"/>
          </a:xfrm>
          <a:prstGeom prst="rect">
            <a:avLst/>
          </a:prstGeom>
          <a:noFill/>
          <a:ln w="9525">
            <a:noFill/>
            <a:miter lim="800000"/>
            <a:headEnd/>
            <a:tailEnd/>
          </a:ln>
        </p:spPr>
      </p:pic>
      <p:sp>
        <p:nvSpPr>
          <p:cNvPr id="6" name="TextBox 5"/>
          <p:cNvSpPr txBox="1"/>
          <p:nvPr/>
        </p:nvSpPr>
        <p:spPr>
          <a:xfrm>
            <a:off x="1259632" y="836713"/>
            <a:ext cx="5832648" cy="523220"/>
          </a:xfrm>
          <a:prstGeom prst="rect">
            <a:avLst/>
          </a:prstGeom>
          <a:noFill/>
          <a:ln w="15875">
            <a:solidFill>
              <a:schemeClr val="bg2">
                <a:lumMod val="25000"/>
              </a:schemeClr>
            </a:solidFill>
          </a:ln>
        </p:spPr>
        <p:txBody>
          <a:bodyPr wrap="square" rtlCol="0">
            <a:spAutoFit/>
          </a:bodyPr>
          <a:lstStyle/>
          <a:p>
            <a:r>
              <a:rPr lang="zh-CN" altLang="en-US" sz="2800" b="1" dirty="0">
                <a:solidFill>
                  <a:schemeClr val="bg2">
                    <a:lumMod val="25000"/>
                  </a:schemeClr>
                </a:solidFill>
                <a:latin typeface="华文新魏" panose="02010800040101010101" pitchFamily="2" charset="-122"/>
                <a:ea typeface="华文新魏" panose="02010800040101010101" pitchFamily="2" charset="-122"/>
              </a:rPr>
              <a:t>硝酸盐</a:t>
            </a:r>
            <a:r>
              <a:rPr altLang="en-US" sz="2800" b="1" dirty="0">
                <a:solidFill>
                  <a:schemeClr val="bg2">
                    <a:lumMod val="25000"/>
                  </a:schemeClr>
                </a:solidFill>
                <a:latin typeface="华文新魏" panose="02010800040101010101" pitchFamily="2" charset="-122"/>
                <a:ea typeface="华文新魏" panose="02010800040101010101" pitchFamily="2" charset="-122"/>
              </a:rPr>
              <a:t>的测量方法</a:t>
            </a:r>
            <a:endParaRPr lang="zh-CN" altLang="en-US" sz="28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sp>
        <p:nvSpPr>
          <p:cNvPr id="7" name="内容占位符 6"/>
          <p:cNvSpPr>
            <a:spLocks noGrp="1"/>
          </p:cNvSpPr>
          <p:nvPr>
            <p:ph sz="quarter" idx="13"/>
          </p:nvPr>
        </p:nvSpPr>
        <p:spPr>
          <a:xfrm>
            <a:off x="357158" y="1803400"/>
            <a:ext cx="8405842" cy="2840046"/>
          </a:xfrm>
        </p:spPr>
        <p:txBody>
          <a:bodyPr>
            <a:normAutofit/>
          </a:bodyPr>
          <a:lstStyle/>
          <a:p>
            <a:r>
              <a:rPr altLang="en-US" sz="2400" dirty="0">
                <a:latin typeface="微软雅黑" panose="020B0503020204020204" pitchFamily="34" charset="-122"/>
                <a:ea typeface="微软雅黑" panose="020B0503020204020204" pitchFamily="34" charset="-122"/>
              </a:rPr>
              <a:t>海水中对硝酸盐测量的干扰因素</a:t>
            </a:r>
            <a:endParaRPr lang="en-US" altLang="en-US" sz="2400" dirty="0">
              <a:latin typeface="微软雅黑" panose="020B0503020204020204" pitchFamily="34" charset="-122"/>
              <a:ea typeface="微软雅黑" panose="020B0503020204020204" pitchFamily="34" charset="-122"/>
            </a:endParaRPr>
          </a:p>
          <a:p>
            <a:pPr lvl="1"/>
            <a:r>
              <a:rPr altLang="en-US" sz="2400" dirty="0">
                <a:latin typeface="微软雅黑" panose="020B0503020204020204" pitchFamily="34" charset="-122"/>
                <a:ea typeface="微软雅黑" panose="020B0503020204020204" pitchFamily="34" charset="-122"/>
              </a:rPr>
              <a:t>基本不受天然海水中其它化学组分的干扰</a:t>
            </a:r>
            <a:endParaRPr lang="en-US" altLang="en-US" sz="2400" dirty="0">
              <a:latin typeface="微软雅黑" panose="020B0503020204020204" pitchFamily="34" charset="-122"/>
              <a:ea typeface="微软雅黑" panose="020B0503020204020204" pitchFamily="34" charset="-122"/>
            </a:endParaRPr>
          </a:p>
          <a:p>
            <a:pPr lvl="1"/>
            <a:r>
              <a:rPr lang="en-US" altLang="en-US" sz="2400" dirty="0">
                <a:latin typeface="微软雅黑" panose="020B0503020204020204" pitchFamily="34" charset="-122"/>
                <a:ea typeface="微软雅黑" panose="020B0503020204020204" pitchFamily="34" charset="-122"/>
              </a:rPr>
              <a:t> </a:t>
            </a:r>
            <a:r>
              <a:rPr altLang="en-US" sz="2400" dirty="0">
                <a:latin typeface="微软雅黑" panose="020B0503020204020204" pitchFamily="34" charset="-122"/>
                <a:ea typeface="微软雅黑" panose="020B0503020204020204" pitchFamily="34" charset="-122"/>
              </a:rPr>
              <a:t>用铜镉还原法，样品中不能含</a:t>
            </a:r>
            <a:r>
              <a:rPr lang="en-US" altLang="zh-CN" sz="2400" dirty="0">
                <a:latin typeface="微软雅黑" panose="020B0503020204020204" pitchFamily="34" charset="-122"/>
                <a:ea typeface="微软雅黑" panose="020B0503020204020204" pitchFamily="34" charset="-122"/>
              </a:rPr>
              <a:t>HgCl</a:t>
            </a:r>
            <a:r>
              <a:rPr lang="en-US" altLang="zh-CN" sz="2400" baseline="-25000" dirty="0">
                <a:latin typeface="微软雅黑" panose="020B0503020204020204" pitchFamily="34" charset="-122"/>
                <a:ea typeface="微软雅黑" panose="020B0503020204020204" pitchFamily="34" charset="-122"/>
              </a:rPr>
              <a:t>2</a:t>
            </a:r>
            <a:endParaRPr lang="en-US" altLang="en-US" sz="2400" baseline="-25000" dirty="0">
              <a:latin typeface="微软雅黑" panose="020B0503020204020204" pitchFamily="34" charset="-122"/>
              <a:ea typeface="微软雅黑" panose="020B0503020204020204" pitchFamily="34" charset="-122"/>
            </a:endParaRPr>
          </a:p>
          <a:p>
            <a:pPr lvl="1"/>
            <a:r>
              <a:rPr lang="en-US" altLang="zh-CN" sz="2400" dirty="0">
                <a:latin typeface="微软雅黑" panose="020B0503020204020204" pitchFamily="34" charset="-122"/>
                <a:ea typeface="微软雅黑" panose="020B0503020204020204" pitchFamily="34" charset="-122"/>
              </a:rPr>
              <a:t> </a:t>
            </a:r>
            <a:r>
              <a:rPr altLang="en-US" sz="2400" dirty="0">
                <a:latin typeface="微软雅黑" panose="020B0503020204020204" pitchFamily="34" charset="-122"/>
                <a:ea typeface="微软雅黑" panose="020B0503020204020204" pitchFamily="34" charset="-122"/>
              </a:rPr>
              <a:t>受</a:t>
            </a:r>
            <a:r>
              <a:rPr lang="en-US" altLang="zh-CN" sz="2400" dirty="0">
                <a:latin typeface="微软雅黑" panose="020B0503020204020204" pitchFamily="34" charset="-122"/>
                <a:ea typeface="微软雅黑" panose="020B0503020204020204" pitchFamily="34" charset="-122"/>
              </a:rPr>
              <a:t>H</a:t>
            </a:r>
            <a:r>
              <a:rPr lang="en-US" altLang="zh-CN" sz="2400" baseline="-25000" dirty="0">
                <a:latin typeface="微软雅黑" panose="020B0503020204020204" pitchFamily="34" charset="-122"/>
                <a:ea typeface="微软雅黑" panose="020B0503020204020204" pitchFamily="34" charset="-122"/>
              </a:rPr>
              <a:t>2</a:t>
            </a:r>
            <a:r>
              <a:rPr lang="en-US" altLang="zh-CN" sz="2400" dirty="0">
                <a:latin typeface="微软雅黑" panose="020B0503020204020204" pitchFamily="34" charset="-122"/>
                <a:ea typeface="微软雅黑" panose="020B0503020204020204" pitchFamily="34" charset="-122"/>
              </a:rPr>
              <a:t>S</a:t>
            </a:r>
            <a:r>
              <a:rPr altLang="en-US" sz="2400" dirty="0">
                <a:latin typeface="微软雅黑" panose="020B0503020204020204" pitchFamily="34" charset="-122"/>
                <a:ea typeface="微软雅黑" panose="020B0503020204020204" pitchFamily="34" charset="-122"/>
              </a:rPr>
              <a:t>干扰，发现偶尔有样品存在少量</a:t>
            </a:r>
            <a:r>
              <a:rPr lang="en-US" altLang="zh-CN" sz="2400" dirty="0">
                <a:latin typeface="微软雅黑" panose="020B0503020204020204" pitchFamily="34" charset="-122"/>
                <a:ea typeface="微软雅黑" panose="020B0503020204020204" pitchFamily="34" charset="-122"/>
              </a:rPr>
              <a:t>H</a:t>
            </a:r>
            <a:r>
              <a:rPr lang="en-US" altLang="zh-CN" sz="2400" baseline="-25000" dirty="0">
                <a:latin typeface="微软雅黑" panose="020B0503020204020204" pitchFamily="34" charset="-122"/>
                <a:ea typeface="微软雅黑" panose="020B0503020204020204" pitchFamily="34" charset="-122"/>
              </a:rPr>
              <a:t>2</a:t>
            </a:r>
            <a:r>
              <a:rPr lang="en-US" altLang="zh-CN" sz="2400" dirty="0">
                <a:latin typeface="微软雅黑" panose="020B0503020204020204" pitchFamily="34" charset="-122"/>
                <a:ea typeface="微软雅黑" panose="020B0503020204020204" pitchFamily="34" charset="-122"/>
              </a:rPr>
              <a:t>S</a:t>
            </a:r>
            <a:r>
              <a:rPr altLang="en-US" sz="2400" dirty="0">
                <a:latin typeface="微软雅黑" panose="020B0503020204020204" pitchFamily="34" charset="-122"/>
                <a:ea typeface="微软雅黑" panose="020B0503020204020204" pitchFamily="34" charset="-122"/>
              </a:rPr>
              <a:t>共存现象</a:t>
            </a:r>
            <a:endParaRPr lang="zh-CN" altLang="en-US" sz="2400" dirty="0">
              <a:latin typeface="微软雅黑" panose="020B0503020204020204" pitchFamily="34" charset="-122"/>
              <a:ea typeface="微软雅黑" panose="020B0503020204020204" pitchFamily="34" charset="-122"/>
            </a:endParaRPr>
          </a:p>
        </p:txBody>
      </p:sp>
      <p:pic>
        <p:nvPicPr>
          <p:cNvPr id="6147" name="Picture 3" descr="E:\课程\课件\课程图片\0.png"/>
          <p:cNvPicPr>
            <a:picLocks noChangeAspect="1" noChangeArrowheads="1"/>
          </p:cNvPicPr>
          <p:nvPr/>
        </p:nvPicPr>
        <p:blipFill>
          <a:blip r:embed="rId2" cstate="print"/>
          <a:srcRect/>
          <a:stretch>
            <a:fillRect/>
          </a:stretch>
        </p:blipFill>
        <p:spPr bwMode="auto">
          <a:xfrm>
            <a:off x="626254" y="3711040"/>
            <a:ext cx="7867650" cy="2762250"/>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668344" y="164637"/>
            <a:ext cx="1197546" cy="1203668"/>
          </a:xfrm>
          <a:prstGeom prst="rect">
            <a:avLst/>
          </a:prstGeom>
          <a:noFill/>
          <a:ln w="9525">
            <a:noFill/>
            <a:miter lim="800000"/>
            <a:headEnd/>
            <a:tailEnd/>
          </a:ln>
        </p:spPr>
      </p:pic>
      <p:sp>
        <p:nvSpPr>
          <p:cNvPr id="6" name="TextBox 5"/>
          <p:cNvSpPr txBox="1"/>
          <p:nvPr/>
        </p:nvSpPr>
        <p:spPr>
          <a:xfrm>
            <a:off x="1259632" y="836713"/>
            <a:ext cx="5832648" cy="523220"/>
          </a:xfrm>
          <a:prstGeom prst="rect">
            <a:avLst/>
          </a:prstGeom>
          <a:noFill/>
          <a:ln w="15875">
            <a:solidFill>
              <a:schemeClr val="bg2">
                <a:lumMod val="25000"/>
              </a:schemeClr>
            </a:solidFill>
          </a:ln>
        </p:spPr>
        <p:txBody>
          <a:bodyPr wrap="square" rtlCol="0">
            <a:spAutoFit/>
          </a:bodyPr>
          <a:lstStyle/>
          <a:p>
            <a:r>
              <a:rPr lang="zh-CN" altLang="en-US" sz="2800" b="1" dirty="0">
                <a:solidFill>
                  <a:schemeClr val="bg2">
                    <a:lumMod val="25000"/>
                  </a:schemeClr>
                </a:solidFill>
                <a:latin typeface="华文新魏" panose="02010800040101010101" pitchFamily="2" charset="-122"/>
                <a:ea typeface="华文新魏" panose="02010800040101010101" pitchFamily="2" charset="-122"/>
              </a:rPr>
              <a:t>硝酸盐</a:t>
            </a:r>
            <a:r>
              <a:rPr altLang="en-US" sz="2800" b="1" dirty="0">
                <a:solidFill>
                  <a:schemeClr val="bg2">
                    <a:lumMod val="25000"/>
                  </a:schemeClr>
                </a:solidFill>
                <a:latin typeface="华文新魏" panose="02010800040101010101" pitchFamily="2" charset="-122"/>
                <a:ea typeface="华文新魏" panose="02010800040101010101" pitchFamily="2" charset="-122"/>
              </a:rPr>
              <a:t>测定方法</a:t>
            </a:r>
            <a:endParaRPr lang="zh-CN" altLang="en-US" sz="28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pic>
        <p:nvPicPr>
          <p:cNvPr id="1026" name="Picture 2" descr="E:\课程\课件\课程图片\1.png"/>
          <p:cNvPicPr>
            <a:picLocks noChangeAspect="1" noChangeArrowheads="1"/>
          </p:cNvPicPr>
          <p:nvPr/>
        </p:nvPicPr>
        <p:blipFill>
          <a:blip r:embed="rId2" cstate="print"/>
          <a:srcRect/>
          <a:stretch>
            <a:fillRect/>
          </a:stretch>
        </p:blipFill>
        <p:spPr bwMode="auto">
          <a:xfrm>
            <a:off x="642910" y="1428736"/>
            <a:ext cx="8248650" cy="5214950"/>
          </a:xfrm>
          <a:prstGeom prst="rect">
            <a:avLst/>
          </a:prstGeo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668344" y="164637"/>
            <a:ext cx="1197546" cy="1203668"/>
          </a:xfrm>
          <a:prstGeom prst="rect">
            <a:avLst/>
          </a:prstGeom>
          <a:noFill/>
          <a:ln w="9525">
            <a:noFill/>
            <a:miter lim="800000"/>
            <a:headEnd/>
            <a:tailEnd/>
          </a:ln>
        </p:spPr>
      </p:pic>
      <p:sp>
        <p:nvSpPr>
          <p:cNvPr id="6" name="TextBox 5"/>
          <p:cNvSpPr txBox="1"/>
          <p:nvPr/>
        </p:nvSpPr>
        <p:spPr>
          <a:xfrm>
            <a:off x="1259632" y="836713"/>
            <a:ext cx="5832648" cy="523220"/>
          </a:xfrm>
          <a:prstGeom prst="rect">
            <a:avLst/>
          </a:prstGeom>
          <a:noFill/>
          <a:ln w="15875">
            <a:solidFill>
              <a:schemeClr val="bg2">
                <a:lumMod val="25000"/>
              </a:schemeClr>
            </a:solidFill>
          </a:ln>
        </p:spPr>
        <p:txBody>
          <a:bodyPr wrap="square" rtlCol="0">
            <a:spAutoFit/>
          </a:bodyPr>
          <a:lstStyle/>
          <a:p>
            <a:r>
              <a:rPr lang="zh-CN" altLang="en-US" sz="2800" b="1" dirty="0">
                <a:solidFill>
                  <a:schemeClr val="bg2">
                    <a:lumMod val="25000"/>
                  </a:schemeClr>
                </a:solidFill>
                <a:latin typeface="华文新魏" panose="02010800040101010101" pitchFamily="2" charset="-122"/>
                <a:ea typeface="华文新魏" panose="02010800040101010101" pitchFamily="2" charset="-122"/>
              </a:rPr>
              <a:t>硝酸盐</a:t>
            </a:r>
            <a:r>
              <a:rPr altLang="en-US" sz="2800" b="1" dirty="0">
                <a:solidFill>
                  <a:schemeClr val="bg2">
                    <a:lumMod val="25000"/>
                  </a:schemeClr>
                </a:solidFill>
                <a:latin typeface="华文新魏" panose="02010800040101010101" pitchFamily="2" charset="-122"/>
                <a:ea typeface="华文新魏" panose="02010800040101010101" pitchFamily="2" charset="-122"/>
              </a:rPr>
              <a:t>测定方法</a:t>
            </a:r>
            <a:endParaRPr lang="zh-CN" altLang="en-US" sz="28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sp>
        <p:nvSpPr>
          <p:cNvPr id="7" name="内容占位符 6"/>
          <p:cNvSpPr>
            <a:spLocks noGrp="1"/>
          </p:cNvSpPr>
          <p:nvPr>
            <p:ph idx="1"/>
          </p:nvPr>
        </p:nvSpPr>
        <p:spPr/>
        <p:txBody>
          <a:bodyPr>
            <a:normAutofit/>
          </a:bodyPr>
          <a:lstStyle/>
          <a:p>
            <a:r>
              <a:rPr lang="zh-CN" altLang="en-US" dirty="0">
                <a:latin typeface="微软雅黑" panose="020B0503020204020204" pitchFamily="34" charset="-122"/>
                <a:ea typeface="微软雅黑" panose="020B0503020204020204" pitchFamily="34" charset="-122"/>
              </a:rPr>
              <a:t>铜镉法和锌镉法</a:t>
            </a:r>
            <a:endParaRPr lang="en-US" altLang="zh-CN" dirty="0">
              <a:latin typeface="微软雅黑" panose="020B0503020204020204" pitchFamily="34" charset="-122"/>
              <a:ea typeface="微软雅黑" panose="020B0503020204020204" pitchFamily="34" charset="-122"/>
            </a:endParaRPr>
          </a:p>
          <a:p>
            <a:endParaRPr lang="en-US" altLang="zh-CN" dirty="0"/>
          </a:p>
          <a:p>
            <a:pPr marL="320040" lvl="1" indent="0">
              <a:buNone/>
            </a:pPr>
            <a:r>
              <a:rPr lang="en-US" altLang="zh-CN" dirty="0"/>
              <a:t>Cd</a:t>
            </a:r>
            <a:r>
              <a:rPr lang="en-US" altLang="zh-CN" baseline="30000" dirty="0"/>
              <a:t>2+ </a:t>
            </a:r>
            <a:r>
              <a:rPr lang="en-US" altLang="zh-CN" dirty="0"/>
              <a:t>+ 2e</a:t>
            </a:r>
            <a:r>
              <a:rPr lang="en-US" altLang="zh-CN" baseline="30000" dirty="0"/>
              <a:t>-</a:t>
            </a:r>
            <a:r>
              <a:rPr lang="en-US" altLang="zh-CN" dirty="0"/>
              <a:t>      Cd                 E</a:t>
            </a:r>
            <a:r>
              <a:rPr lang="en-US" altLang="zh-CN" baseline="-25000" dirty="0"/>
              <a:t>0</a:t>
            </a:r>
            <a:r>
              <a:rPr lang="en-US" altLang="zh-CN" dirty="0"/>
              <a:t>=-0.403V</a:t>
            </a:r>
            <a:endParaRPr lang="en-US" altLang="zh-CN" dirty="0"/>
          </a:p>
          <a:p>
            <a:pPr marL="320040" lvl="1" indent="0">
              <a:buNone/>
            </a:pPr>
            <a:r>
              <a:rPr lang="en-US" altLang="zh-CN" dirty="0"/>
              <a:t>Cu</a:t>
            </a:r>
            <a:r>
              <a:rPr lang="en-US" altLang="zh-CN" baseline="30000" dirty="0"/>
              <a:t>2+ </a:t>
            </a:r>
            <a:r>
              <a:rPr lang="en-US" altLang="zh-CN" dirty="0"/>
              <a:t>+ 2e</a:t>
            </a:r>
            <a:r>
              <a:rPr lang="en-US" altLang="zh-CN" baseline="30000" dirty="0"/>
              <a:t>-</a:t>
            </a:r>
            <a:r>
              <a:rPr lang="en-US" altLang="zh-CN" dirty="0"/>
              <a:t>      Cu                  E</a:t>
            </a:r>
            <a:r>
              <a:rPr lang="en-US" altLang="zh-CN" baseline="-25000" dirty="0"/>
              <a:t>0</a:t>
            </a:r>
            <a:r>
              <a:rPr lang="en-US" altLang="zh-CN" dirty="0"/>
              <a:t>=0.34V</a:t>
            </a:r>
            <a:endParaRPr lang="en-US" altLang="zh-CN" dirty="0"/>
          </a:p>
          <a:p>
            <a:pPr marL="320040" lvl="1" indent="0">
              <a:buNone/>
            </a:pPr>
            <a:r>
              <a:rPr lang="en-US" altLang="zh-CN" dirty="0"/>
              <a:t>Zn</a:t>
            </a:r>
            <a:r>
              <a:rPr lang="en-US" altLang="zh-CN" baseline="30000" dirty="0"/>
              <a:t>2+ </a:t>
            </a:r>
            <a:r>
              <a:rPr lang="en-US" altLang="zh-CN" dirty="0"/>
              <a:t>+ 2e</a:t>
            </a:r>
            <a:r>
              <a:rPr lang="en-US" altLang="zh-CN" baseline="30000" dirty="0"/>
              <a:t>-</a:t>
            </a:r>
            <a:r>
              <a:rPr lang="en-US" altLang="zh-CN" dirty="0"/>
              <a:t>      Zn                   E</a:t>
            </a:r>
            <a:r>
              <a:rPr lang="en-US" altLang="zh-CN" baseline="-25000" dirty="0"/>
              <a:t>0</a:t>
            </a:r>
            <a:r>
              <a:rPr lang="en-US" altLang="zh-CN" dirty="0"/>
              <a:t>=-0.7618V</a:t>
            </a:r>
            <a:endParaRPr lang="en-US" altLang="zh-CN" dirty="0"/>
          </a:p>
          <a:p>
            <a:pPr marL="320040" lvl="1" indent="0">
              <a:spcBef>
                <a:spcPts val="600"/>
              </a:spcBef>
              <a:buNone/>
            </a:pPr>
            <a:r>
              <a:rPr lang="en-US" altLang="zh-CN" sz="2400" dirty="0">
                <a:latin typeface="微软雅黑" panose="020B0503020204020204" pitchFamily="34" charset="-122"/>
                <a:ea typeface="微软雅黑" panose="020B0503020204020204" pitchFamily="34" charset="-122"/>
              </a:rPr>
              <a:t>Cu-Cd</a:t>
            </a:r>
            <a:r>
              <a:rPr lang="zh-CN" altLang="en-US" sz="2400" dirty="0">
                <a:latin typeface="微软雅黑" panose="020B0503020204020204" pitchFamily="34" charset="-122"/>
                <a:ea typeface="微软雅黑" panose="020B0503020204020204" pitchFamily="34" charset="-122"/>
              </a:rPr>
              <a:t>法用的是</a:t>
            </a:r>
            <a:r>
              <a:rPr lang="en-US" altLang="zh-CN" sz="2400" dirty="0">
                <a:latin typeface="微软雅黑" panose="020B0503020204020204" pitchFamily="34" charset="-122"/>
                <a:ea typeface="微软雅黑" panose="020B0503020204020204" pitchFamily="34" charset="-122"/>
              </a:rPr>
              <a:t>Cd-Cd</a:t>
            </a:r>
            <a:r>
              <a:rPr lang="en-US" altLang="zh-CN" sz="2400" baseline="300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的反应。</a:t>
            </a:r>
            <a:r>
              <a:rPr lang="en-US" altLang="zh-CN" sz="2400" dirty="0">
                <a:latin typeface="微软雅黑" panose="020B0503020204020204" pitchFamily="34" charset="-122"/>
                <a:ea typeface="微软雅黑" panose="020B0503020204020204" pitchFamily="34" charset="-122"/>
              </a:rPr>
              <a:t>Cd</a:t>
            </a:r>
            <a:r>
              <a:rPr lang="zh-CN" altLang="en-US" sz="2400" dirty="0">
                <a:latin typeface="微软雅黑" panose="020B0503020204020204" pitchFamily="34" charset="-122"/>
                <a:ea typeface="微软雅黑" panose="020B0503020204020204" pitchFamily="34" charset="-122"/>
              </a:rPr>
              <a:t>的还原性偏强，用表面部分镀铜来中和它的还原性。</a:t>
            </a:r>
            <a:endParaRPr lang="en-US" altLang="zh-CN" sz="2400" dirty="0">
              <a:latin typeface="微软雅黑" panose="020B0503020204020204" pitchFamily="34" charset="-122"/>
              <a:ea typeface="微软雅黑" panose="020B0503020204020204" pitchFamily="34" charset="-122"/>
            </a:endParaRPr>
          </a:p>
          <a:p>
            <a:pPr marL="320040" lvl="1" indent="0">
              <a:spcBef>
                <a:spcPts val="600"/>
              </a:spcBef>
              <a:buNone/>
            </a:pPr>
            <a:r>
              <a:rPr lang="en-US" altLang="zh-CN" sz="2400" dirty="0">
                <a:latin typeface="微软雅黑" panose="020B0503020204020204" pitchFamily="34" charset="-122"/>
                <a:ea typeface="微软雅黑" panose="020B0503020204020204" pitchFamily="34" charset="-122"/>
              </a:rPr>
              <a:t>Zn-Cd</a:t>
            </a:r>
            <a:r>
              <a:rPr lang="zh-CN" altLang="en-US" sz="2400" dirty="0">
                <a:latin typeface="微软雅黑" panose="020B0503020204020204" pitchFamily="34" charset="-122"/>
                <a:ea typeface="微软雅黑" panose="020B0503020204020204" pitchFamily="34" charset="-122"/>
              </a:rPr>
              <a:t>法用的是</a:t>
            </a:r>
            <a:r>
              <a:rPr lang="en-US" altLang="zh-CN" sz="2400" dirty="0">
                <a:latin typeface="微软雅黑" panose="020B0503020204020204" pitchFamily="34" charset="-122"/>
                <a:ea typeface="微软雅黑" panose="020B0503020204020204" pitchFamily="34" charset="-122"/>
              </a:rPr>
              <a:t>Zn-Zn</a:t>
            </a:r>
            <a:r>
              <a:rPr lang="en-US" altLang="zh-CN" sz="2400" baseline="300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的反应。</a:t>
            </a:r>
            <a:r>
              <a:rPr lang="en-US" altLang="zh-CN" sz="2400" dirty="0">
                <a:latin typeface="微软雅黑" panose="020B0503020204020204" pitchFamily="34" charset="-122"/>
                <a:ea typeface="微软雅黑" panose="020B0503020204020204" pitchFamily="34" charset="-122"/>
              </a:rPr>
              <a:t>Zn</a:t>
            </a:r>
            <a:r>
              <a:rPr lang="zh-CN" altLang="en-US" sz="2400" dirty="0">
                <a:latin typeface="微软雅黑" panose="020B0503020204020204" pitchFamily="34" charset="-122"/>
                <a:ea typeface="微软雅黑" panose="020B0503020204020204" pitchFamily="34" charset="-122"/>
              </a:rPr>
              <a:t>的还原性更强，即使中和了</a:t>
            </a:r>
            <a:r>
              <a:rPr lang="en-US" altLang="zh-CN" sz="2400" dirty="0">
                <a:latin typeface="微软雅黑" panose="020B0503020204020204" pitchFamily="34" charset="-122"/>
                <a:ea typeface="微软雅黑" panose="020B0503020204020204" pitchFamily="34" charset="-122"/>
              </a:rPr>
              <a:t>Zn-Zn</a:t>
            </a:r>
            <a:r>
              <a:rPr lang="en-US" altLang="zh-CN" sz="2400" baseline="300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的反应，依然存在过度还原的情况。</a:t>
            </a:r>
            <a:endParaRPr lang="en-US" altLang="zh-CN" sz="2400" dirty="0">
              <a:latin typeface="微软雅黑" panose="020B0503020204020204" pitchFamily="34" charset="-122"/>
              <a:ea typeface="微软雅黑" panose="020B0503020204020204" pitchFamily="34" charset="-122"/>
            </a:endParaRPr>
          </a:p>
          <a:p>
            <a:pPr marL="320040" lvl="1" indent="0">
              <a:buNone/>
            </a:pPr>
            <a:endParaRPr lang="zh-CN" altLang="en-US" dirty="0"/>
          </a:p>
        </p:txBody>
      </p:sp>
      <p:pic>
        <p:nvPicPr>
          <p:cNvPr id="9" name="Picture 5" descr="E:\课程\课件\课程图片\0.png"/>
          <p:cNvPicPr>
            <a:picLocks noChangeAspect="1" noChangeArrowheads="1"/>
          </p:cNvPicPr>
          <p:nvPr/>
        </p:nvPicPr>
        <p:blipFill>
          <a:blip r:embed="rId2" cstate="print"/>
          <a:srcRect/>
          <a:stretch>
            <a:fillRect/>
          </a:stretch>
        </p:blipFill>
        <p:spPr bwMode="auto">
          <a:xfrm>
            <a:off x="899592" y="2468316"/>
            <a:ext cx="5472608" cy="371475"/>
          </a:xfrm>
          <a:prstGeom prst="rect">
            <a:avLst/>
          </a:prstGeom>
          <a:noFill/>
        </p:spPr>
      </p:pic>
      <p:sp>
        <p:nvSpPr>
          <p:cNvPr id="11" name="箭头: 右 10"/>
          <p:cNvSpPr/>
          <p:nvPr/>
        </p:nvSpPr>
        <p:spPr>
          <a:xfrm>
            <a:off x="2627784" y="3068960"/>
            <a:ext cx="288032"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箭头: 右 12"/>
          <p:cNvSpPr/>
          <p:nvPr/>
        </p:nvSpPr>
        <p:spPr>
          <a:xfrm>
            <a:off x="2555776" y="3527297"/>
            <a:ext cx="288032"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箭头: 右 14"/>
          <p:cNvSpPr/>
          <p:nvPr/>
        </p:nvSpPr>
        <p:spPr>
          <a:xfrm>
            <a:off x="2555776" y="4031353"/>
            <a:ext cx="288032"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668344" y="164637"/>
            <a:ext cx="1197546" cy="1308696"/>
          </a:xfrm>
          <a:prstGeom prst="rect">
            <a:avLst/>
          </a:prstGeom>
          <a:noFill/>
          <a:ln w="9525">
            <a:noFill/>
            <a:miter lim="800000"/>
            <a:headEnd/>
            <a:tailEnd/>
          </a:ln>
        </p:spPr>
      </p:pic>
      <p:sp>
        <p:nvSpPr>
          <p:cNvPr id="6" name="TextBox 5"/>
          <p:cNvSpPr txBox="1"/>
          <p:nvPr/>
        </p:nvSpPr>
        <p:spPr>
          <a:xfrm>
            <a:off x="1259632" y="836713"/>
            <a:ext cx="5832648" cy="523220"/>
          </a:xfrm>
          <a:prstGeom prst="rect">
            <a:avLst/>
          </a:prstGeom>
          <a:noFill/>
          <a:ln w="15875">
            <a:solidFill>
              <a:schemeClr val="bg2">
                <a:lumMod val="25000"/>
              </a:schemeClr>
            </a:solidFill>
          </a:ln>
        </p:spPr>
        <p:txBody>
          <a:bodyPr wrap="square" rtlCol="0">
            <a:spAutoFit/>
          </a:bodyPr>
          <a:lstStyle/>
          <a:p>
            <a:r>
              <a:rPr lang="zh-CN" altLang="en-US" sz="2800" b="1" dirty="0">
                <a:solidFill>
                  <a:schemeClr val="bg2">
                    <a:lumMod val="25000"/>
                  </a:schemeClr>
                </a:solidFill>
                <a:latin typeface="华文新魏" panose="02010800040101010101" pitchFamily="2" charset="-122"/>
                <a:ea typeface="华文新魏" panose="02010800040101010101" pitchFamily="2" charset="-122"/>
              </a:rPr>
              <a:t>氨氮的</a:t>
            </a:r>
            <a:r>
              <a:rPr altLang="en-US" sz="2800" b="1" dirty="0" err="1">
                <a:solidFill>
                  <a:schemeClr val="bg2">
                    <a:lumMod val="25000"/>
                  </a:schemeClr>
                </a:solidFill>
                <a:latin typeface="华文新魏" panose="02010800040101010101" pitchFamily="2" charset="-122"/>
                <a:ea typeface="华文新魏" panose="02010800040101010101" pitchFamily="2" charset="-122"/>
              </a:rPr>
              <a:t>测定方法</a:t>
            </a:r>
            <a:endParaRPr lang="zh-CN" altLang="en-US" sz="28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sp>
        <p:nvSpPr>
          <p:cNvPr id="8" name="内容占位符 7"/>
          <p:cNvSpPr>
            <a:spLocks noGrp="1"/>
          </p:cNvSpPr>
          <p:nvPr>
            <p:ph sz="quarter" idx="13"/>
          </p:nvPr>
        </p:nvSpPr>
        <p:spPr>
          <a:xfrm>
            <a:off x="609600" y="1803400"/>
            <a:ext cx="8354888" cy="4368800"/>
          </a:xfrm>
        </p:spPr>
        <p:txBody>
          <a:bodyPr>
            <a:normAutofit/>
          </a:bodyPr>
          <a:lstStyle/>
          <a:p>
            <a:r>
              <a:rPr lang="zh-CN" altLang="en-US" sz="2400" dirty="0">
                <a:latin typeface="微软雅黑" panose="020B0503020204020204" pitchFamily="34" charset="-122"/>
                <a:ea typeface="微软雅黑" panose="020B0503020204020204" pitchFamily="34" charset="-122"/>
              </a:rPr>
              <a:t>氨在海洋中主要以</a:t>
            </a:r>
            <a:r>
              <a:rPr lang="en-US" altLang="zh-CN" sz="2400" dirty="0">
                <a:latin typeface="微软雅黑" panose="020B0503020204020204" pitchFamily="34" charset="-122"/>
                <a:ea typeface="微软雅黑" panose="020B0503020204020204" pitchFamily="34" charset="-122"/>
              </a:rPr>
              <a:t>NH</a:t>
            </a:r>
            <a:r>
              <a:rPr lang="en-US" altLang="zh-CN" sz="2400" baseline="-25000" dirty="0">
                <a:latin typeface="微软雅黑" panose="020B0503020204020204" pitchFamily="34" charset="-122"/>
                <a:ea typeface="微软雅黑" panose="020B0503020204020204" pitchFamily="34" charset="-122"/>
              </a:rPr>
              <a:t>4</a:t>
            </a:r>
            <a:r>
              <a:rPr lang="en-US" altLang="zh-CN" sz="2400" baseline="300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形式存在，</a:t>
            </a:r>
            <a:r>
              <a:rPr lang="en-US" altLang="zh-CN" sz="2400" dirty="0">
                <a:latin typeface="微软雅黑" panose="020B0503020204020204" pitchFamily="34" charset="-122"/>
                <a:ea typeface="微软雅黑" panose="020B0503020204020204" pitchFamily="34" charset="-122"/>
              </a:rPr>
              <a:t> NH</a:t>
            </a:r>
            <a:r>
              <a:rPr lang="en-US" altLang="zh-CN" sz="2400" baseline="-25000" dirty="0">
                <a:latin typeface="微软雅黑" panose="020B0503020204020204" pitchFamily="34" charset="-122"/>
                <a:ea typeface="微软雅黑" panose="020B0503020204020204" pitchFamily="34" charset="-122"/>
              </a:rPr>
              <a:t>4</a:t>
            </a:r>
            <a:r>
              <a:rPr lang="en-US" altLang="zh-CN" sz="2400" baseline="300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本身是无毒的，同时有少量的</a:t>
            </a:r>
            <a:r>
              <a:rPr lang="en-US" altLang="zh-CN" sz="2400" dirty="0">
                <a:latin typeface="微软雅黑" panose="020B0503020204020204" pitchFamily="34" charset="-122"/>
                <a:ea typeface="微软雅黑" panose="020B0503020204020204" pitchFamily="34" charset="-122"/>
              </a:rPr>
              <a:t>NH</a:t>
            </a:r>
            <a:r>
              <a:rPr lang="en-US" altLang="zh-CN" sz="2400" baseline="-250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和</a:t>
            </a:r>
            <a:r>
              <a:rPr lang="en-US" altLang="zh-CN" sz="2400" dirty="0">
                <a:latin typeface="微软雅黑" panose="020B0503020204020204" pitchFamily="34" charset="-122"/>
                <a:ea typeface="微软雅黑" panose="020B0503020204020204" pitchFamily="34" charset="-122"/>
              </a:rPr>
              <a:t>NH</a:t>
            </a:r>
            <a:r>
              <a:rPr lang="en-US" altLang="zh-CN" sz="2400" baseline="-25000" dirty="0">
                <a:latin typeface="微软雅黑" panose="020B0503020204020204" pitchFamily="34" charset="-122"/>
                <a:ea typeface="微软雅黑" panose="020B0503020204020204" pitchFamily="34" charset="-122"/>
              </a:rPr>
              <a:t>4</a:t>
            </a:r>
            <a:r>
              <a:rPr lang="en-US" altLang="zh-CN" sz="2400" dirty="0">
                <a:latin typeface="微软雅黑" panose="020B0503020204020204" pitchFamily="34" charset="-122"/>
                <a:ea typeface="微软雅黑" panose="020B0503020204020204" pitchFamily="34" charset="-122"/>
              </a:rPr>
              <a:t>OH</a:t>
            </a:r>
            <a:r>
              <a:rPr lang="zh-CN" altLang="en-US" sz="2400" dirty="0">
                <a:latin typeface="微软雅黑" panose="020B0503020204020204" pitchFamily="34" charset="-122"/>
                <a:ea typeface="微软雅黑" panose="020B0503020204020204" pitchFamily="34" charset="-122"/>
              </a:rPr>
              <a:t>。海洋中的氨氮主要指三者之和。</a:t>
            </a:r>
            <a:endParaRPr lang="en-US" altLang="zh-CN" sz="2400" dirty="0">
              <a:latin typeface="微软雅黑" panose="020B0503020204020204" pitchFamily="34" charset="-122"/>
              <a:ea typeface="微软雅黑" panose="020B0503020204020204" pitchFamily="34" charset="-122"/>
            </a:endParaRPr>
          </a:p>
          <a:p>
            <a:r>
              <a:rPr lang="en-US" altLang="zh-CN" sz="2400" dirty="0">
                <a:latin typeface="微软雅黑" panose="020B0503020204020204" pitchFamily="34" charset="-122"/>
                <a:ea typeface="微软雅黑" panose="020B0503020204020204" pitchFamily="34" charset="-122"/>
              </a:rPr>
              <a:t>NH</a:t>
            </a:r>
            <a:r>
              <a:rPr lang="en-US" altLang="zh-CN" sz="2400" baseline="-25000" dirty="0">
                <a:latin typeface="微软雅黑" panose="020B0503020204020204" pitchFamily="34" charset="-122"/>
                <a:ea typeface="微软雅黑" panose="020B0503020204020204" pitchFamily="34" charset="-122"/>
              </a:rPr>
              <a:t>3</a:t>
            </a:r>
            <a:r>
              <a:rPr lang="en-US" altLang="zh-CN" sz="2400" dirty="0">
                <a:latin typeface="微软雅黑" panose="020B0503020204020204" pitchFamily="34" charset="-122"/>
                <a:ea typeface="微软雅黑" panose="020B0503020204020204" pitchFamily="34" charset="-122"/>
              </a:rPr>
              <a:t>, NH</a:t>
            </a:r>
            <a:r>
              <a:rPr lang="en-US" altLang="zh-CN" sz="2400" baseline="-25000" dirty="0">
                <a:latin typeface="微软雅黑" panose="020B0503020204020204" pitchFamily="34" charset="-122"/>
                <a:ea typeface="微软雅黑" panose="020B0503020204020204" pitchFamily="34" charset="-122"/>
              </a:rPr>
              <a:t>4</a:t>
            </a:r>
            <a:r>
              <a:rPr lang="en-US" altLang="zh-CN" sz="2400" baseline="300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和</a:t>
            </a:r>
            <a:r>
              <a:rPr lang="en-US" altLang="zh-CN" sz="2400" dirty="0">
                <a:latin typeface="微软雅黑" panose="020B0503020204020204" pitchFamily="34" charset="-122"/>
                <a:ea typeface="微软雅黑" panose="020B0503020204020204" pitchFamily="34" charset="-122"/>
              </a:rPr>
              <a:t>NH</a:t>
            </a:r>
            <a:r>
              <a:rPr lang="en-US" altLang="zh-CN" sz="2400" baseline="-25000" dirty="0">
                <a:latin typeface="微软雅黑" panose="020B0503020204020204" pitchFamily="34" charset="-122"/>
                <a:ea typeface="微软雅黑" panose="020B0503020204020204" pitchFamily="34" charset="-122"/>
              </a:rPr>
              <a:t>4</a:t>
            </a:r>
            <a:r>
              <a:rPr lang="en-US" altLang="zh-CN" sz="2400" dirty="0">
                <a:latin typeface="微软雅黑" panose="020B0503020204020204" pitchFamily="34" charset="-122"/>
                <a:ea typeface="微软雅黑" panose="020B0503020204020204" pitchFamily="34" charset="-122"/>
              </a:rPr>
              <a:t>OH</a:t>
            </a:r>
            <a:r>
              <a:rPr lang="zh-CN" altLang="en-US" sz="2400" dirty="0">
                <a:latin typeface="微软雅黑" panose="020B0503020204020204" pitchFamily="34" charset="-122"/>
                <a:ea typeface="微软雅黑" panose="020B0503020204020204" pitchFamily="34" charset="-122"/>
              </a:rPr>
              <a:t>在海水中的比例主要由</a:t>
            </a:r>
            <a:r>
              <a:rPr lang="en-US" altLang="zh-CN" sz="2400" dirty="0">
                <a:latin typeface="微软雅黑" panose="020B0503020204020204" pitchFamily="34" charset="-122"/>
                <a:ea typeface="微软雅黑" panose="020B0503020204020204" pitchFamily="34" charset="-122"/>
              </a:rPr>
              <a:t>pH</a:t>
            </a:r>
            <a:r>
              <a:rPr lang="zh-CN" altLang="en-US" sz="2400" dirty="0">
                <a:latin typeface="微软雅黑" panose="020B0503020204020204" pitchFamily="34" charset="-122"/>
                <a:ea typeface="微软雅黑" panose="020B0503020204020204" pitchFamily="34" charset="-122"/>
              </a:rPr>
              <a:t>和温度决定</a:t>
            </a:r>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对于海藻来说，氨氮是非常容易利用的营养盐，其含量是海区营养状态的主要指标之一。</a:t>
            </a:r>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对于海洋环境来说，在污染严重的近岸，氨氮的成分会很高，而在开阔大洋，氨氮的成分通常很少。因此，测量氨氮是监测海水污染的重要指标之一</a:t>
            </a:r>
            <a:endParaRPr lang="en-US" altLang="zh-CN" sz="2400" dirty="0">
              <a:latin typeface="微软雅黑" panose="020B0503020204020204" pitchFamily="34" charset="-122"/>
              <a:ea typeface="微软雅黑" panose="020B0503020204020204" pitchFamily="34" charset="-122"/>
            </a:endParaRPr>
          </a:p>
          <a:p>
            <a:endParaRPr lang="zh-CN" altLang="en-US" sz="2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668344" y="164637"/>
            <a:ext cx="1197546" cy="1308696"/>
          </a:xfrm>
          <a:prstGeom prst="rect">
            <a:avLst/>
          </a:prstGeom>
          <a:noFill/>
          <a:ln w="9525">
            <a:noFill/>
            <a:miter lim="800000"/>
            <a:headEnd/>
            <a:tailEnd/>
          </a:ln>
        </p:spPr>
      </p:pic>
      <p:sp>
        <p:nvSpPr>
          <p:cNvPr id="6" name="TextBox 5"/>
          <p:cNvSpPr txBox="1"/>
          <p:nvPr/>
        </p:nvSpPr>
        <p:spPr>
          <a:xfrm>
            <a:off x="1259632" y="836713"/>
            <a:ext cx="5832648" cy="523220"/>
          </a:xfrm>
          <a:prstGeom prst="rect">
            <a:avLst/>
          </a:prstGeom>
          <a:noFill/>
          <a:ln w="15875">
            <a:solidFill>
              <a:schemeClr val="bg2">
                <a:lumMod val="25000"/>
              </a:schemeClr>
            </a:solidFill>
          </a:ln>
        </p:spPr>
        <p:txBody>
          <a:bodyPr wrap="square" rtlCol="0">
            <a:spAutoFit/>
          </a:bodyPr>
          <a:lstStyle/>
          <a:p>
            <a:r>
              <a:rPr lang="zh-CN" altLang="en-US" sz="2800" b="1" dirty="0">
                <a:solidFill>
                  <a:schemeClr val="bg2">
                    <a:lumMod val="25000"/>
                  </a:schemeClr>
                </a:solidFill>
                <a:latin typeface="华文新魏" panose="02010800040101010101" pitchFamily="2" charset="-122"/>
                <a:ea typeface="华文新魏" panose="02010800040101010101" pitchFamily="2" charset="-122"/>
              </a:rPr>
              <a:t>氨氮的</a:t>
            </a:r>
            <a:r>
              <a:rPr altLang="en-US" sz="2800" b="1" dirty="0" err="1">
                <a:solidFill>
                  <a:schemeClr val="bg2">
                    <a:lumMod val="25000"/>
                  </a:schemeClr>
                </a:solidFill>
                <a:latin typeface="华文新魏" panose="02010800040101010101" pitchFamily="2" charset="-122"/>
                <a:ea typeface="华文新魏" panose="02010800040101010101" pitchFamily="2" charset="-122"/>
              </a:rPr>
              <a:t>测定方法</a:t>
            </a:r>
            <a:endParaRPr lang="zh-CN" altLang="en-US" sz="28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sp>
        <p:nvSpPr>
          <p:cNvPr id="7" name="内容占位符 6"/>
          <p:cNvSpPr>
            <a:spLocks noGrp="1"/>
          </p:cNvSpPr>
          <p:nvPr>
            <p:ph sz="quarter" idx="13"/>
          </p:nvPr>
        </p:nvSpPr>
        <p:spPr>
          <a:xfrm>
            <a:off x="609600" y="3933056"/>
            <a:ext cx="7920880" cy="2239144"/>
          </a:xfrm>
        </p:spPr>
        <p:txBody>
          <a:bodyPr>
            <a:normAutofit/>
          </a:bodyPr>
          <a:lstStyle/>
          <a:p>
            <a:r>
              <a:rPr lang="zh-CN" altLang="en-US" sz="2400" dirty="0">
                <a:latin typeface="微软雅黑" panose="020B0503020204020204" pitchFamily="34" charset="-122"/>
                <a:ea typeface="微软雅黑" panose="020B0503020204020204" pitchFamily="34" charset="-122"/>
              </a:rPr>
              <a:t>氨氮的含量在空间分布一般不均匀，与生物活动有着密切的关系</a:t>
            </a:r>
            <a:endParaRPr lang="zh-CN" altLang="en-US" sz="2400" dirty="0">
              <a:latin typeface="微软雅黑" panose="020B0503020204020204" pitchFamily="34" charset="-122"/>
              <a:ea typeface="微软雅黑" panose="020B0503020204020204" pitchFamily="34" charset="-122"/>
            </a:endParaRPr>
          </a:p>
        </p:txBody>
      </p:sp>
      <p:pic>
        <p:nvPicPr>
          <p:cNvPr id="9" name="Picture 2" descr="E:\课程\海水分析化学 本科\课件\课程图片\0.png"/>
          <p:cNvPicPr>
            <a:picLocks noChangeAspect="1" noChangeArrowheads="1"/>
          </p:cNvPicPr>
          <p:nvPr/>
        </p:nvPicPr>
        <p:blipFill>
          <a:blip r:embed="rId2" cstate="print"/>
          <a:srcRect/>
          <a:stretch>
            <a:fillRect/>
          </a:stretch>
        </p:blipFill>
        <p:spPr bwMode="auto">
          <a:xfrm>
            <a:off x="611560" y="1916832"/>
            <a:ext cx="7920880" cy="1805047"/>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668344" y="164637"/>
            <a:ext cx="1197546" cy="1308696"/>
          </a:xfrm>
          <a:prstGeom prst="rect">
            <a:avLst/>
          </a:prstGeom>
          <a:noFill/>
          <a:ln w="9525">
            <a:noFill/>
            <a:miter lim="800000"/>
            <a:headEnd/>
            <a:tailEnd/>
          </a:ln>
        </p:spPr>
      </p:pic>
      <p:sp>
        <p:nvSpPr>
          <p:cNvPr id="6" name="TextBox 5"/>
          <p:cNvSpPr txBox="1"/>
          <p:nvPr/>
        </p:nvSpPr>
        <p:spPr>
          <a:xfrm>
            <a:off x="1259632" y="836713"/>
            <a:ext cx="5832648" cy="523220"/>
          </a:xfrm>
          <a:prstGeom prst="rect">
            <a:avLst/>
          </a:prstGeom>
          <a:noFill/>
          <a:ln w="15875">
            <a:solidFill>
              <a:schemeClr val="bg2">
                <a:lumMod val="25000"/>
              </a:schemeClr>
            </a:solidFill>
          </a:ln>
        </p:spPr>
        <p:txBody>
          <a:bodyPr wrap="square" rtlCol="0">
            <a:spAutoFit/>
          </a:bodyPr>
          <a:lstStyle/>
          <a:p>
            <a:r>
              <a:rPr lang="zh-CN" altLang="en-US" sz="2800" b="1" dirty="0">
                <a:solidFill>
                  <a:schemeClr val="bg2">
                    <a:lumMod val="25000"/>
                  </a:schemeClr>
                </a:solidFill>
                <a:latin typeface="华文新魏" panose="02010800040101010101" pitchFamily="2" charset="-122"/>
                <a:ea typeface="华文新魏" panose="02010800040101010101" pitchFamily="2" charset="-122"/>
              </a:rPr>
              <a:t>氨氮的</a:t>
            </a:r>
            <a:r>
              <a:rPr altLang="en-US" sz="2800" b="1" dirty="0" err="1">
                <a:solidFill>
                  <a:schemeClr val="bg2">
                    <a:lumMod val="25000"/>
                  </a:schemeClr>
                </a:solidFill>
                <a:latin typeface="华文新魏" panose="02010800040101010101" pitchFamily="2" charset="-122"/>
                <a:ea typeface="华文新魏" panose="02010800040101010101" pitchFamily="2" charset="-122"/>
              </a:rPr>
              <a:t>测定方法</a:t>
            </a:r>
            <a:endParaRPr lang="zh-CN" altLang="en-US" sz="28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sp>
        <p:nvSpPr>
          <p:cNvPr id="8" name="内容占位符 7"/>
          <p:cNvSpPr>
            <a:spLocks noGrp="1"/>
          </p:cNvSpPr>
          <p:nvPr>
            <p:ph sz="quarter" idx="13"/>
          </p:nvPr>
        </p:nvSpPr>
        <p:spPr>
          <a:xfrm>
            <a:off x="467544" y="1700808"/>
            <a:ext cx="8295456" cy="5658048"/>
          </a:xfrm>
        </p:spPr>
        <p:txBody>
          <a:bodyPr>
            <a:normAutofit/>
          </a:bodyPr>
          <a:lstStyle/>
          <a:p>
            <a:r>
              <a:rPr lang="zh-CN" altLang="en-US" sz="2400" dirty="0">
                <a:latin typeface="微软雅黑" panose="020B0503020204020204" pitchFamily="34" charset="-122"/>
                <a:ea typeface="微软雅黑" panose="020B0503020204020204" pitchFamily="34" charset="-122"/>
              </a:rPr>
              <a:t>氨氮测定的是</a:t>
            </a:r>
            <a:r>
              <a:rPr lang="en-US" altLang="zh-CN" sz="2400" dirty="0">
                <a:latin typeface="微软雅黑" panose="020B0503020204020204" pitchFamily="34" charset="-122"/>
                <a:ea typeface="微软雅黑" panose="020B0503020204020204" pitchFamily="34" charset="-122"/>
              </a:rPr>
              <a:t>NH</a:t>
            </a:r>
            <a:r>
              <a:rPr lang="en-US" altLang="zh-CN" sz="2400" baseline="-25000" dirty="0">
                <a:latin typeface="微软雅黑" panose="020B0503020204020204" pitchFamily="34" charset="-122"/>
                <a:ea typeface="微软雅黑" panose="020B0503020204020204" pitchFamily="34" charset="-122"/>
              </a:rPr>
              <a:t>4</a:t>
            </a:r>
            <a:r>
              <a:rPr lang="en-US" altLang="zh-CN" sz="2400" baseline="300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和</a:t>
            </a:r>
            <a:r>
              <a:rPr lang="en-US" altLang="zh-CN" sz="2400" dirty="0">
                <a:latin typeface="微软雅黑" panose="020B0503020204020204" pitchFamily="34" charset="-122"/>
                <a:ea typeface="微软雅黑" panose="020B0503020204020204" pitchFamily="34" charset="-122"/>
              </a:rPr>
              <a:t>NH</a:t>
            </a:r>
            <a:r>
              <a:rPr lang="en-US" altLang="zh-CN" sz="2400" baseline="-250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之和</a:t>
            </a:r>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氨氮很难测准，原因主要有两个方面</a:t>
            </a:r>
            <a:endParaRPr lang="en-US" altLang="zh-CN" sz="2400" dirty="0">
              <a:latin typeface="微软雅黑" panose="020B0503020204020204" pitchFamily="34" charset="-122"/>
              <a:ea typeface="微软雅黑" panose="020B0503020204020204" pitchFamily="34" charset="-122"/>
            </a:endParaRPr>
          </a:p>
          <a:p>
            <a:pPr lvl="1"/>
            <a:r>
              <a:rPr lang="zh-CN" altLang="en-US" sz="2100" dirty="0">
                <a:latin typeface="微软雅黑" panose="020B0503020204020204" pitchFamily="34" charset="-122"/>
                <a:ea typeface="微软雅黑" panose="020B0503020204020204" pitchFamily="34" charset="-122"/>
              </a:rPr>
              <a:t>环境污染高（空气中氨的含量高，且氨很容易溶于水）</a:t>
            </a:r>
            <a:endParaRPr lang="en-US" altLang="zh-CN" sz="2100" dirty="0">
              <a:latin typeface="微软雅黑" panose="020B0503020204020204" pitchFamily="34" charset="-122"/>
              <a:ea typeface="微软雅黑" panose="020B0503020204020204" pitchFamily="34" charset="-122"/>
            </a:endParaRPr>
          </a:p>
          <a:p>
            <a:pPr lvl="1"/>
            <a:r>
              <a:rPr lang="zh-CN" altLang="en-US" sz="2100" dirty="0">
                <a:latin typeface="微软雅黑" panose="020B0503020204020204" pitchFamily="34" charset="-122"/>
                <a:ea typeface="微软雅黑" panose="020B0503020204020204" pitchFamily="34" charset="-122"/>
              </a:rPr>
              <a:t>测量氨氮的相关方法都有局限性</a:t>
            </a:r>
            <a:endParaRPr lang="en-US" altLang="zh-CN" sz="21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氨氮的主要分析方法</a:t>
            </a:r>
            <a:endParaRPr lang="en-US" altLang="zh-CN" sz="2400" dirty="0">
              <a:latin typeface="微软雅黑" panose="020B0503020204020204" pitchFamily="34" charset="-122"/>
              <a:ea typeface="微软雅黑" panose="020B0503020204020204" pitchFamily="34" charset="-122"/>
            </a:endParaRPr>
          </a:p>
          <a:p>
            <a:pPr lvl="1"/>
            <a:r>
              <a:rPr lang="zh-CN" altLang="en-US" sz="2100" dirty="0">
                <a:latin typeface="微软雅黑" panose="020B0503020204020204" pitchFamily="34" charset="-122"/>
                <a:ea typeface="微软雅黑" panose="020B0503020204020204" pitchFamily="34" charset="-122"/>
              </a:rPr>
              <a:t>分光光度法</a:t>
            </a:r>
            <a:endParaRPr lang="en-US" altLang="zh-CN" sz="2100" dirty="0">
              <a:latin typeface="微软雅黑" panose="020B0503020204020204" pitchFamily="34" charset="-122"/>
              <a:ea typeface="微软雅黑" panose="020B0503020204020204" pitchFamily="34" charset="-122"/>
            </a:endParaRPr>
          </a:p>
          <a:p>
            <a:pPr lvl="1"/>
            <a:r>
              <a:rPr lang="zh-CN" altLang="en-US" sz="2100" dirty="0">
                <a:latin typeface="微软雅黑" panose="020B0503020204020204" pitchFamily="34" charset="-122"/>
                <a:ea typeface="微软雅黑" panose="020B0503020204020204" pitchFamily="34" charset="-122"/>
              </a:rPr>
              <a:t>荧光分析法</a:t>
            </a:r>
            <a:endParaRPr lang="en-US" altLang="zh-CN" sz="2100" dirty="0">
              <a:latin typeface="微软雅黑" panose="020B0503020204020204" pitchFamily="34" charset="-122"/>
              <a:ea typeface="微软雅黑" panose="020B0503020204020204" pitchFamily="34" charset="-122"/>
            </a:endParaRPr>
          </a:p>
          <a:p>
            <a:pPr lvl="1"/>
            <a:endParaRPr lang="en-US" altLang="zh-CN" sz="2100" dirty="0">
              <a:latin typeface="微软雅黑" panose="020B0503020204020204" pitchFamily="34" charset="-122"/>
              <a:ea typeface="微软雅黑" panose="020B0503020204020204" pitchFamily="34" charset="-122"/>
            </a:endParaRPr>
          </a:p>
          <a:p>
            <a:pPr lvl="1"/>
            <a:endParaRPr lang="en-US" altLang="zh-CN" sz="2100" dirty="0">
              <a:latin typeface="微软雅黑" panose="020B0503020204020204" pitchFamily="34" charset="-122"/>
              <a:ea typeface="微软雅黑" panose="020B0503020204020204" pitchFamily="34" charset="-122"/>
            </a:endParaRPr>
          </a:p>
          <a:p>
            <a:pPr lvl="1"/>
            <a:endParaRPr lang="en-US" altLang="zh-CN" sz="2100" dirty="0">
              <a:latin typeface="微软雅黑" panose="020B0503020204020204" pitchFamily="34" charset="-122"/>
              <a:ea typeface="微软雅黑" panose="020B0503020204020204" pitchFamily="34" charset="-122"/>
            </a:endParaRPr>
          </a:p>
          <a:p>
            <a:pPr lvl="1"/>
            <a:r>
              <a:rPr lang="zh-CN" altLang="en-US" sz="2100" dirty="0">
                <a:latin typeface="微软雅黑" panose="020B0503020204020204" pitchFamily="34" charset="-122"/>
                <a:ea typeface="微软雅黑" panose="020B0503020204020204" pitchFamily="34" charset="-122"/>
              </a:rPr>
              <a:t>离子选择性电极</a:t>
            </a:r>
            <a:endParaRPr lang="en-US" altLang="zh-CN" sz="2100" dirty="0">
              <a:latin typeface="微软雅黑" panose="020B0503020204020204" pitchFamily="34" charset="-122"/>
              <a:ea typeface="微软雅黑" panose="020B0503020204020204" pitchFamily="34" charset="-122"/>
            </a:endParaRPr>
          </a:p>
          <a:p>
            <a:pPr lvl="1"/>
            <a:r>
              <a:rPr lang="zh-CN" altLang="en-US" sz="2100" dirty="0">
                <a:latin typeface="微软雅黑" panose="020B0503020204020204" pitchFamily="34" charset="-122"/>
                <a:ea typeface="微软雅黑" panose="020B0503020204020204" pitchFamily="34" charset="-122"/>
              </a:rPr>
              <a:t>离子色谱法</a:t>
            </a:r>
            <a:endParaRPr lang="zh-CN" altLang="en-US" sz="2400" dirty="0">
              <a:latin typeface="微软雅黑" panose="020B0503020204020204" pitchFamily="34" charset="-122"/>
              <a:ea typeface="微软雅黑" panose="020B0503020204020204" pitchFamily="34" charset="-122"/>
            </a:endParaRPr>
          </a:p>
        </p:txBody>
      </p:sp>
      <p:pic>
        <p:nvPicPr>
          <p:cNvPr id="2050" name="Picture 2" descr="E:\课程\海水分析化学 本科\课件\课程图片\0.png"/>
          <p:cNvPicPr>
            <a:picLocks noChangeAspect="1" noChangeArrowheads="1"/>
          </p:cNvPicPr>
          <p:nvPr/>
        </p:nvPicPr>
        <p:blipFill>
          <a:blip r:embed="rId2" cstate="print"/>
          <a:srcRect/>
          <a:stretch>
            <a:fillRect/>
          </a:stretch>
        </p:blipFill>
        <p:spPr bwMode="auto">
          <a:xfrm>
            <a:off x="2771800" y="3861048"/>
            <a:ext cx="5948709" cy="1198107"/>
          </a:xfrm>
          <a:prstGeom prst="rect">
            <a:avLst/>
          </a:prstGeom>
          <a:noFill/>
        </p:spPr>
      </p:pic>
      <p:pic>
        <p:nvPicPr>
          <p:cNvPr id="2051" name="Picture 3" descr="E:\课程\海水分析化学 本科\课件\课程图片\0.png"/>
          <p:cNvPicPr>
            <a:picLocks noChangeAspect="1" noChangeArrowheads="1"/>
          </p:cNvPicPr>
          <p:nvPr/>
        </p:nvPicPr>
        <p:blipFill>
          <a:blip r:embed="rId3" cstate="print"/>
          <a:srcRect/>
          <a:stretch>
            <a:fillRect/>
          </a:stretch>
        </p:blipFill>
        <p:spPr bwMode="auto">
          <a:xfrm>
            <a:off x="2843808" y="5013176"/>
            <a:ext cx="6107583" cy="828051"/>
          </a:xfrm>
          <a:prstGeom prst="rect">
            <a:avLst/>
          </a:prstGeom>
          <a:noFill/>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596336" y="164637"/>
            <a:ext cx="1269554" cy="1308696"/>
          </a:xfrm>
          <a:prstGeom prst="rect">
            <a:avLst/>
          </a:prstGeom>
          <a:noFill/>
          <a:ln w="9525">
            <a:noFill/>
            <a:miter lim="800000"/>
            <a:headEnd/>
            <a:tailEnd/>
          </a:ln>
        </p:spPr>
      </p:pic>
      <p:sp>
        <p:nvSpPr>
          <p:cNvPr id="6" name="TextBox 5"/>
          <p:cNvSpPr txBox="1"/>
          <p:nvPr/>
        </p:nvSpPr>
        <p:spPr>
          <a:xfrm>
            <a:off x="1259632" y="836713"/>
            <a:ext cx="5832648" cy="523220"/>
          </a:xfrm>
          <a:prstGeom prst="rect">
            <a:avLst/>
          </a:prstGeom>
          <a:noFill/>
          <a:ln w="15875">
            <a:solidFill>
              <a:schemeClr val="bg2">
                <a:lumMod val="25000"/>
              </a:schemeClr>
            </a:solidFill>
          </a:ln>
        </p:spPr>
        <p:txBody>
          <a:bodyPr wrap="square" rtlCol="0">
            <a:spAutoFit/>
          </a:bodyPr>
          <a:lstStyle/>
          <a:p>
            <a:r>
              <a:rPr lang="zh-CN" altLang="en-US" sz="2800" b="1" dirty="0">
                <a:solidFill>
                  <a:schemeClr val="bg2">
                    <a:lumMod val="25000"/>
                  </a:schemeClr>
                </a:solidFill>
                <a:latin typeface="华文新魏" panose="02010800040101010101" pitchFamily="2" charset="-122"/>
                <a:ea typeface="华文新魏" panose="02010800040101010101" pitchFamily="2" charset="-122"/>
              </a:rPr>
              <a:t>氨氮的</a:t>
            </a:r>
            <a:r>
              <a:rPr altLang="en-US" sz="2800" b="1" dirty="0" err="1">
                <a:solidFill>
                  <a:schemeClr val="bg2">
                    <a:lumMod val="25000"/>
                  </a:schemeClr>
                </a:solidFill>
                <a:latin typeface="华文新魏" panose="02010800040101010101" pitchFamily="2" charset="-122"/>
                <a:ea typeface="华文新魏" panose="02010800040101010101" pitchFamily="2" charset="-122"/>
              </a:rPr>
              <a:t>测定方法</a:t>
            </a:r>
            <a:endParaRPr lang="zh-CN" altLang="en-US" sz="28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pic>
        <p:nvPicPr>
          <p:cNvPr id="3074" name="Picture 2" descr="C:\Users\402\Desktop\1.png"/>
          <p:cNvPicPr>
            <a:picLocks noChangeAspect="1" noChangeArrowheads="1"/>
          </p:cNvPicPr>
          <p:nvPr/>
        </p:nvPicPr>
        <p:blipFill>
          <a:blip r:embed="rId2" cstate="print"/>
          <a:srcRect/>
          <a:stretch>
            <a:fillRect/>
          </a:stretch>
        </p:blipFill>
        <p:spPr bwMode="auto">
          <a:xfrm>
            <a:off x="395536" y="1844824"/>
            <a:ext cx="8136904" cy="3823540"/>
          </a:xfrm>
          <a:prstGeom prst="rect">
            <a:avLst/>
          </a:prstGeom>
          <a:noFill/>
        </p:spPr>
      </p:pic>
      <p:pic>
        <p:nvPicPr>
          <p:cNvPr id="3075" name="Picture 3" descr="C:\Users\402\Desktop\1.png"/>
          <p:cNvPicPr>
            <a:picLocks noChangeAspect="1" noChangeArrowheads="1"/>
          </p:cNvPicPr>
          <p:nvPr/>
        </p:nvPicPr>
        <p:blipFill>
          <a:blip r:embed="rId3" cstate="print"/>
          <a:srcRect/>
          <a:stretch>
            <a:fillRect/>
          </a:stretch>
        </p:blipFill>
        <p:spPr bwMode="auto">
          <a:xfrm>
            <a:off x="323528" y="5661248"/>
            <a:ext cx="8316416" cy="865509"/>
          </a:xfrm>
          <a:prstGeom prst="rect">
            <a:avLst/>
          </a:prstGeom>
          <a:noFill/>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668344" y="164637"/>
            <a:ext cx="1197546" cy="1308696"/>
          </a:xfrm>
          <a:prstGeom prst="rect">
            <a:avLst/>
          </a:prstGeom>
          <a:noFill/>
          <a:ln w="9525">
            <a:noFill/>
            <a:miter lim="800000"/>
            <a:headEnd/>
            <a:tailEnd/>
          </a:ln>
        </p:spPr>
      </p:pic>
      <p:sp>
        <p:nvSpPr>
          <p:cNvPr id="6" name="TextBox 5"/>
          <p:cNvSpPr txBox="1"/>
          <p:nvPr/>
        </p:nvSpPr>
        <p:spPr>
          <a:xfrm>
            <a:off x="1259632" y="836713"/>
            <a:ext cx="5832648" cy="523220"/>
          </a:xfrm>
          <a:prstGeom prst="rect">
            <a:avLst/>
          </a:prstGeom>
          <a:noFill/>
          <a:ln w="15875">
            <a:solidFill>
              <a:schemeClr val="bg2">
                <a:lumMod val="25000"/>
              </a:schemeClr>
            </a:solidFill>
          </a:ln>
        </p:spPr>
        <p:txBody>
          <a:bodyPr wrap="square" rtlCol="0">
            <a:spAutoFit/>
          </a:bodyPr>
          <a:lstStyle/>
          <a:p>
            <a:r>
              <a:rPr lang="zh-CN" altLang="en-US" sz="2800" b="1" dirty="0">
                <a:solidFill>
                  <a:schemeClr val="bg2">
                    <a:lumMod val="25000"/>
                  </a:schemeClr>
                </a:solidFill>
                <a:latin typeface="华文新魏" panose="02010800040101010101" pitchFamily="2" charset="-122"/>
                <a:ea typeface="华文新魏" panose="02010800040101010101" pitchFamily="2" charset="-122"/>
              </a:rPr>
              <a:t>氨氮的</a:t>
            </a:r>
            <a:r>
              <a:rPr altLang="en-US" sz="2800" b="1" dirty="0" err="1">
                <a:solidFill>
                  <a:schemeClr val="bg2">
                    <a:lumMod val="25000"/>
                  </a:schemeClr>
                </a:solidFill>
                <a:latin typeface="华文新魏" panose="02010800040101010101" pitchFamily="2" charset="-122"/>
                <a:ea typeface="华文新魏" panose="02010800040101010101" pitchFamily="2" charset="-122"/>
              </a:rPr>
              <a:t>测定方法</a:t>
            </a:r>
            <a:endParaRPr lang="zh-CN" altLang="en-US" sz="28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sp>
        <p:nvSpPr>
          <p:cNvPr id="8" name="内容占位符 7"/>
          <p:cNvSpPr>
            <a:spLocks noGrp="1"/>
          </p:cNvSpPr>
          <p:nvPr>
            <p:ph sz="quarter" idx="13"/>
          </p:nvPr>
        </p:nvSpPr>
        <p:spPr>
          <a:xfrm>
            <a:off x="467544" y="1700808"/>
            <a:ext cx="8295456" cy="5658048"/>
          </a:xfrm>
        </p:spPr>
        <p:txBody>
          <a:bodyPr>
            <a:normAutofit/>
          </a:bodyPr>
          <a:lstStyle/>
          <a:p>
            <a:r>
              <a:rPr lang="zh-CN" altLang="en-US" sz="2400" dirty="0">
                <a:latin typeface="微软雅黑" panose="020B0503020204020204" pitchFamily="34" charset="-122"/>
                <a:ea typeface="微软雅黑" panose="020B0503020204020204" pitchFamily="34" charset="-122"/>
              </a:rPr>
              <a:t>分光光度法</a:t>
            </a:r>
            <a:endParaRPr lang="en-US" altLang="zh-CN" sz="2400" dirty="0">
              <a:latin typeface="微软雅黑" panose="020B0503020204020204" pitchFamily="34" charset="-122"/>
              <a:ea typeface="微软雅黑" panose="020B0503020204020204" pitchFamily="34" charset="-122"/>
            </a:endParaRPr>
          </a:p>
          <a:p>
            <a:pPr lvl="1"/>
            <a:r>
              <a:rPr lang="zh-CN" altLang="en-US" sz="2100" dirty="0">
                <a:latin typeface="微软雅黑" panose="020B0503020204020204" pitchFamily="34" charset="-122"/>
                <a:ea typeface="微软雅黑" panose="020B0503020204020204" pitchFamily="34" charset="-122"/>
              </a:rPr>
              <a:t>靛酚蓝法</a:t>
            </a:r>
            <a:endParaRPr lang="en-US" altLang="zh-CN" sz="2100" dirty="0">
              <a:latin typeface="微软雅黑" panose="020B0503020204020204" pitchFamily="34" charset="-122"/>
              <a:ea typeface="微软雅黑" panose="020B0503020204020204" pitchFamily="34" charset="-122"/>
            </a:endParaRPr>
          </a:p>
          <a:p>
            <a:pPr lvl="1"/>
            <a:endParaRPr lang="en-US" altLang="zh-CN" sz="2100" dirty="0"/>
          </a:p>
          <a:p>
            <a:pPr lvl="1"/>
            <a:endParaRPr lang="en-US" altLang="zh-CN" sz="2100" dirty="0"/>
          </a:p>
          <a:p>
            <a:pPr lvl="1"/>
            <a:endParaRPr lang="en-US" altLang="zh-CN" sz="2100" dirty="0"/>
          </a:p>
          <a:p>
            <a:pPr lvl="1"/>
            <a:endParaRPr lang="en-US" altLang="zh-CN" sz="2100" dirty="0"/>
          </a:p>
          <a:p>
            <a:pPr lvl="1"/>
            <a:endParaRPr lang="en-US" altLang="zh-CN" sz="2100" dirty="0"/>
          </a:p>
          <a:p>
            <a:pPr lvl="1"/>
            <a:endParaRPr lang="en-US" altLang="zh-CN" sz="2100" dirty="0"/>
          </a:p>
          <a:p>
            <a:pPr lvl="1"/>
            <a:r>
              <a:rPr lang="zh-CN" altLang="en-US" sz="2100" dirty="0">
                <a:latin typeface="微软雅黑" panose="020B0503020204020204" pitchFamily="34" charset="-122"/>
                <a:ea typeface="微软雅黑" panose="020B0503020204020204" pitchFamily="34" charset="-122"/>
              </a:rPr>
              <a:t>靛酚蓝法在海水中不容易测准，除了空气中氨的干扰外，靛酚蓝法用到的试剂会受到海水中</a:t>
            </a:r>
            <a:r>
              <a:rPr lang="en-US" altLang="zh-CN" sz="2100" dirty="0">
                <a:latin typeface="微软雅黑" panose="020B0503020204020204" pitchFamily="34" charset="-122"/>
                <a:ea typeface="微软雅黑" panose="020B0503020204020204" pitchFamily="34" charset="-122"/>
              </a:rPr>
              <a:t>Ca</a:t>
            </a:r>
            <a:r>
              <a:rPr lang="en-US" altLang="zh-CN" sz="2100" baseline="30000" dirty="0">
                <a:latin typeface="微软雅黑" panose="020B0503020204020204" pitchFamily="34" charset="-122"/>
                <a:ea typeface="微软雅黑" panose="020B0503020204020204" pitchFamily="34" charset="-122"/>
              </a:rPr>
              <a:t>2+</a:t>
            </a:r>
            <a:r>
              <a:rPr lang="zh-CN" altLang="en-US" sz="2100" dirty="0">
                <a:latin typeface="微软雅黑" panose="020B0503020204020204" pitchFamily="34" charset="-122"/>
                <a:ea typeface="微软雅黑" panose="020B0503020204020204" pitchFamily="34" charset="-122"/>
              </a:rPr>
              <a:t>和</a:t>
            </a:r>
            <a:r>
              <a:rPr lang="en-US" altLang="zh-CN" sz="2100" dirty="0">
                <a:latin typeface="微软雅黑" panose="020B0503020204020204" pitchFamily="34" charset="-122"/>
                <a:ea typeface="微软雅黑" panose="020B0503020204020204" pitchFamily="34" charset="-122"/>
              </a:rPr>
              <a:t>Mg</a:t>
            </a:r>
            <a:r>
              <a:rPr lang="en-US" altLang="zh-CN" sz="2100" baseline="30000" dirty="0">
                <a:latin typeface="微软雅黑" panose="020B0503020204020204" pitchFamily="34" charset="-122"/>
                <a:ea typeface="微软雅黑" panose="020B0503020204020204" pitchFamily="34" charset="-122"/>
              </a:rPr>
              <a:t>2+</a:t>
            </a:r>
            <a:r>
              <a:rPr lang="zh-CN" altLang="en-US" sz="2100" dirty="0">
                <a:latin typeface="微软雅黑" panose="020B0503020204020204" pitchFamily="34" charset="-122"/>
                <a:ea typeface="微软雅黑" panose="020B0503020204020204" pitchFamily="34" charset="-122"/>
              </a:rPr>
              <a:t>的干扰，导致测不准</a:t>
            </a:r>
            <a:endParaRPr lang="en-US" altLang="zh-CN" sz="2100" dirty="0">
              <a:latin typeface="微软雅黑" panose="020B0503020204020204" pitchFamily="34" charset="-122"/>
              <a:ea typeface="微软雅黑" panose="020B0503020204020204" pitchFamily="34" charset="-122"/>
            </a:endParaRPr>
          </a:p>
          <a:p>
            <a:pPr lvl="1"/>
            <a:endParaRPr lang="en-US" altLang="zh-CN" sz="2100" dirty="0"/>
          </a:p>
          <a:p>
            <a:pPr lvl="1"/>
            <a:endParaRPr lang="en-US" altLang="zh-CN" sz="2100" dirty="0"/>
          </a:p>
          <a:p>
            <a:pPr lvl="1"/>
            <a:endParaRPr lang="en-US" altLang="zh-CN" sz="2100" dirty="0"/>
          </a:p>
          <a:p>
            <a:pPr lvl="1"/>
            <a:endParaRPr lang="en-US" altLang="zh-CN" sz="2100" dirty="0"/>
          </a:p>
          <a:p>
            <a:pPr lvl="1"/>
            <a:endParaRPr lang="en-US" altLang="zh-CN" sz="2100" dirty="0"/>
          </a:p>
          <a:p>
            <a:pPr lvl="1"/>
            <a:endParaRPr lang="en-US" altLang="zh-CN" sz="2100" dirty="0"/>
          </a:p>
          <a:p>
            <a:pPr lvl="1"/>
            <a:endParaRPr lang="en-US" altLang="zh-CN" sz="2100" dirty="0"/>
          </a:p>
        </p:txBody>
      </p:sp>
      <p:pic>
        <p:nvPicPr>
          <p:cNvPr id="6146" name="Picture 2" descr="E:\课程\海水分析化学 本科\课件\课程图片\0.png"/>
          <p:cNvPicPr>
            <a:picLocks noChangeAspect="1" noChangeArrowheads="1"/>
          </p:cNvPicPr>
          <p:nvPr/>
        </p:nvPicPr>
        <p:blipFill>
          <a:blip r:embed="rId2" cstate="print"/>
          <a:srcRect/>
          <a:stretch>
            <a:fillRect/>
          </a:stretch>
        </p:blipFill>
        <p:spPr bwMode="auto">
          <a:xfrm>
            <a:off x="539552" y="2636912"/>
            <a:ext cx="8010103" cy="995606"/>
          </a:xfrm>
          <a:prstGeom prst="rect">
            <a:avLst/>
          </a:prstGeom>
          <a:noFill/>
        </p:spPr>
      </p:pic>
      <p:pic>
        <p:nvPicPr>
          <p:cNvPr id="6147" name="Picture 3" descr="E:\课程\海水分析化学 本科\课件\课程图片\0.png"/>
          <p:cNvPicPr>
            <a:picLocks noChangeAspect="1" noChangeArrowheads="1"/>
          </p:cNvPicPr>
          <p:nvPr/>
        </p:nvPicPr>
        <p:blipFill>
          <a:blip r:embed="rId3" cstate="print"/>
          <a:srcRect/>
          <a:stretch>
            <a:fillRect/>
          </a:stretch>
        </p:blipFill>
        <p:spPr bwMode="auto">
          <a:xfrm>
            <a:off x="539552" y="3717032"/>
            <a:ext cx="7265987" cy="1257300"/>
          </a:xfrm>
          <a:prstGeom prst="rect">
            <a:avLst/>
          </a:prstGeom>
          <a:noFill/>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668344" y="164637"/>
            <a:ext cx="1197546" cy="1308696"/>
          </a:xfrm>
          <a:prstGeom prst="rect">
            <a:avLst/>
          </a:prstGeom>
          <a:noFill/>
          <a:ln w="9525">
            <a:noFill/>
            <a:miter lim="800000"/>
            <a:headEnd/>
            <a:tailEnd/>
          </a:ln>
        </p:spPr>
      </p:pic>
      <p:sp>
        <p:nvSpPr>
          <p:cNvPr id="6" name="TextBox 5"/>
          <p:cNvSpPr txBox="1"/>
          <p:nvPr/>
        </p:nvSpPr>
        <p:spPr>
          <a:xfrm>
            <a:off x="1259632" y="836713"/>
            <a:ext cx="5832648" cy="523220"/>
          </a:xfrm>
          <a:prstGeom prst="rect">
            <a:avLst/>
          </a:prstGeom>
          <a:noFill/>
          <a:ln w="15875">
            <a:solidFill>
              <a:schemeClr val="bg2">
                <a:lumMod val="25000"/>
              </a:schemeClr>
            </a:solidFill>
          </a:ln>
        </p:spPr>
        <p:txBody>
          <a:bodyPr wrap="square" rtlCol="0">
            <a:spAutoFit/>
          </a:bodyPr>
          <a:lstStyle/>
          <a:p>
            <a:r>
              <a:rPr lang="zh-CN" altLang="en-US" sz="2800" b="1" dirty="0">
                <a:solidFill>
                  <a:schemeClr val="bg2">
                    <a:lumMod val="25000"/>
                  </a:schemeClr>
                </a:solidFill>
                <a:latin typeface="华文新魏" panose="02010800040101010101" pitchFamily="2" charset="-122"/>
                <a:ea typeface="华文新魏" panose="02010800040101010101" pitchFamily="2" charset="-122"/>
              </a:rPr>
              <a:t>氨氮的</a:t>
            </a:r>
            <a:r>
              <a:rPr altLang="en-US" sz="2800" b="1" dirty="0" err="1">
                <a:solidFill>
                  <a:schemeClr val="bg2">
                    <a:lumMod val="25000"/>
                  </a:schemeClr>
                </a:solidFill>
                <a:latin typeface="华文新魏" panose="02010800040101010101" pitchFamily="2" charset="-122"/>
                <a:ea typeface="华文新魏" panose="02010800040101010101" pitchFamily="2" charset="-122"/>
              </a:rPr>
              <a:t>测定方法</a:t>
            </a:r>
            <a:endParaRPr lang="zh-CN" altLang="en-US" sz="28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sp>
        <p:nvSpPr>
          <p:cNvPr id="8" name="内容占位符 7"/>
          <p:cNvSpPr>
            <a:spLocks noGrp="1"/>
          </p:cNvSpPr>
          <p:nvPr>
            <p:ph sz="quarter" idx="13"/>
          </p:nvPr>
        </p:nvSpPr>
        <p:spPr>
          <a:xfrm>
            <a:off x="467544" y="1700808"/>
            <a:ext cx="8295456" cy="5658048"/>
          </a:xfrm>
        </p:spPr>
        <p:txBody>
          <a:bodyPr>
            <a:normAutofit/>
          </a:bodyPr>
          <a:lstStyle/>
          <a:p>
            <a:r>
              <a:rPr lang="zh-CN" altLang="en-US" sz="2400" dirty="0">
                <a:latin typeface="微软雅黑" panose="020B0503020204020204" pitchFamily="34" charset="-122"/>
                <a:ea typeface="微软雅黑" panose="020B0503020204020204" pitchFamily="34" charset="-122"/>
              </a:rPr>
              <a:t>靛酚蓝法</a:t>
            </a:r>
            <a:endParaRPr lang="en-US" altLang="zh-CN" sz="2400" dirty="0">
              <a:latin typeface="微软雅黑" panose="020B0503020204020204" pitchFamily="34" charset="-122"/>
              <a:ea typeface="微软雅黑" panose="020B0503020204020204" pitchFamily="34" charset="-122"/>
            </a:endParaRPr>
          </a:p>
          <a:p>
            <a:pPr lvl="1"/>
            <a:r>
              <a:rPr lang="zh-CN" altLang="en-US" sz="2400" dirty="0">
                <a:latin typeface="微软雅黑" panose="020B0503020204020204" pitchFamily="34" charset="-122"/>
                <a:ea typeface="微软雅黑" panose="020B0503020204020204" pitchFamily="34" charset="-122"/>
              </a:rPr>
              <a:t>水中的氨与氯反应生成一氯氨。在高</a:t>
            </a:r>
            <a:r>
              <a:rPr lang="en-US" altLang="zh-CN" sz="2400" dirty="0">
                <a:latin typeface="微软雅黑" panose="020B0503020204020204" pitchFamily="34" charset="-122"/>
                <a:ea typeface="微软雅黑" panose="020B0503020204020204" pitchFamily="34" charset="-122"/>
              </a:rPr>
              <a:t>pH</a:t>
            </a:r>
            <a:r>
              <a:rPr lang="zh-CN" altLang="en-US" sz="2400" dirty="0">
                <a:latin typeface="微软雅黑" panose="020B0503020204020204" pitchFamily="34" charset="-122"/>
                <a:ea typeface="微软雅黑" panose="020B0503020204020204" pitchFamily="34" charset="-122"/>
              </a:rPr>
              <a:t>条件，室温，且溶液中有亚硝酰氰铁络离子存在时，一氯氨会与酚反应生成靛酚蓝：</a:t>
            </a:r>
            <a:endParaRPr lang="en-US" altLang="zh-CN" sz="2400" dirty="0">
              <a:latin typeface="微软雅黑" panose="020B0503020204020204" pitchFamily="34" charset="-122"/>
              <a:ea typeface="微软雅黑" panose="020B0503020204020204" pitchFamily="34" charset="-122"/>
            </a:endParaRPr>
          </a:p>
          <a:p>
            <a:pPr marL="365760" lvl="1" indent="0">
              <a:buNone/>
            </a:pPr>
            <a:r>
              <a:rPr lang="en-US" altLang="zh-CN" sz="2400" dirty="0">
                <a:latin typeface="微软雅黑" panose="020B0503020204020204" pitchFamily="34" charset="-122"/>
                <a:ea typeface="微软雅黑" panose="020B0503020204020204" pitchFamily="34" charset="-122"/>
              </a:rPr>
              <a:t>NH</a:t>
            </a:r>
            <a:r>
              <a:rPr lang="en-US" altLang="zh-CN" sz="2400" baseline="-25000" dirty="0">
                <a:latin typeface="微软雅黑" panose="020B0503020204020204" pitchFamily="34" charset="-122"/>
                <a:ea typeface="微软雅黑" panose="020B0503020204020204" pitchFamily="34" charset="-122"/>
              </a:rPr>
              <a:t>3</a:t>
            </a:r>
            <a:r>
              <a:rPr lang="en-US" altLang="zh-CN" sz="2400" dirty="0">
                <a:latin typeface="微软雅黑" panose="020B0503020204020204" pitchFamily="34" charset="-122"/>
                <a:ea typeface="微软雅黑" panose="020B0503020204020204" pitchFamily="34" charset="-122"/>
              </a:rPr>
              <a:t>+OCl</a:t>
            </a:r>
            <a:r>
              <a:rPr lang="en-US" altLang="zh-CN" sz="2400" baseline="30000" dirty="0">
                <a:latin typeface="微软雅黑" panose="020B0503020204020204" pitchFamily="34" charset="-122"/>
                <a:ea typeface="微软雅黑" panose="020B0503020204020204" pitchFamily="34" charset="-122"/>
              </a:rPr>
              <a:t>- </a:t>
            </a:r>
            <a:r>
              <a:rPr lang="zh-CN" altLang="en-US" sz="2400" baseline="-25000" dirty="0">
                <a:latin typeface="微软雅黑" panose="020B0503020204020204" pitchFamily="34" charset="-122"/>
                <a:ea typeface="微软雅黑" panose="020B0503020204020204" pitchFamily="34" charset="-122"/>
              </a:rPr>
              <a:t>（次氯酸根离子）</a:t>
            </a:r>
            <a:r>
              <a:rPr lang="pt-BR" altLang="zh-CN" sz="2400" dirty="0">
                <a:latin typeface="微软雅黑" panose="020B0503020204020204" pitchFamily="34" charset="-122"/>
                <a:ea typeface="微软雅黑" panose="020B0503020204020204" pitchFamily="34" charset="-122"/>
              </a:rPr>
              <a:t>→ NH</a:t>
            </a:r>
            <a:r>
              <a:rPr lang="pt-BR" altLang="zh-CN" sz="2400" baseline="-25000" dirty="0">
                <a:latin typeface="微软雅黑" panose="020B0503020204020204" pitchFamily="34" charset="-122"/>
                <a:ea typeface="微软雅黑" panose="020B0503020204020204" pitchFamily="34" charset="-122"/>
              </a:rPr>
              <a:t>2</a:t>
            </a:r>
            <a:r>
              <a:rPr lang="pt-BR" altLang="zh-CN" sz="2400" dirty="0">
                <a:latin typeface="微软雅黑" panose="020B0503020204020204" pitchFamily="34" charset="-122"/>
                <a:ea typeface="微软雅黑" panose="020B0503020204020204" pitchFamily="34" charset="-122"/>
              </a:rPr>
              <a:t>Cl+OH</a:t>
            </a:r>
            <a:r>
              <a:rPr lang="pt-BR" altLang="zh-CN" sz="2400" baseline="30000" dirty="0">
                <a:latin typeface="微软雅黑" panose="020B0503020204020204" pitchFamily="34" charset="-122"/>
                <a:ea typeface="微软雅黑" panose="020B0503020204020204" pitchFamily="34" charset="-122"/>
              </a:rPr>
              <a:t>-</a:t>
            </a:r>
            <a:endParaRPr lang="pt-BR" altLang="zh-CN" sz="2400" baseline="30000" dirty="0">
              <a:latin typeface="微软雅黑" panose="020B0503020204020204" pitchFamily="34" charset="-122"/>
              <a:ea typeface="微软雅黑" panose="020B0503020204020204" pitchFamily="34" charset="-122"/>
            </a:endParaRPr>
          </a:p>
          <a:p>
            <a:pPr marL="365760" lvl="1" indent="0">
              <a:buNone/>
            </a:pPr>
            <a:r>
              <a:rPr lang="pt-BR" altLang="zh-CN" sz="2400" dirty="0">
                <a:latin typeface="微软雅黑" panose="020B0503020204020204" pitchFamily="34" charset="-122"/>
                <a:ea typeface="微软雅黑" panose="020B0503020204020204" pitchFamily="34" charset="-122"/>
              </a:rPr>
              <a:t>NH</a:t>
            </a:r>
            <a:r>
              <a:rPr lang="pt-BR" altLang="zh-CN" sz="2400" baseline="-25000" dirty="0">
                <a:latin typeface="微软雅黑" panose="020B0503020204020204" pitchFamily="34" charset="-122"/>
                <a:ea typeface="微软雅黑" panose="020B0503020204020204" pitchFamily="34" charset="-122"/>
              </a:rPr>
              <a:t>2</a:t>
            </a:r>
            <a:r>
              <a:rPr lang="pt-BR" altLang="zh-CN" sz="2400" dirty="0">
                <a:latin typeface="微软雅黑" panose="020B0503020204020204" pitchFamily="34" charset="-122"/>
                <a:ea typeface="微软雅黑" panose="020B0503020204020204" pitchFamily="34" charset="-122"/>
              </a:rPr>
              <a:t>Cl+PhOH</a:t>
            </a:r>
            <a:r>
              <a:rPr lang="zh-CN" altLang="en-US" sz="2400" baseline="-25000" dirty="0">
                <a:latin typeface="微软雅黑" panose="020B0503020204020204" pitchFamily="34" charset="-122"/>
                <a:ea typeface="微软雅黑" panose="020B0503020204020204" pitchFamily="34" charset="-122"/>
              </a:rPr>
              <a:t>（酚）</a:t>
            </a:r>
            <a:r>
              <a:rPr lang="pt-BR" altLang="zh-CN" sz="2400" dirty="0">
                <a:latin typeface="微软雅黑" panose="020B0503020204020204" pitchFamily="34" charset="-122"/>
                <a:ea typeface="微软雅黑" panose="020B0503020204020204" pitchFamily="34" charset="-122"/>
              </a:rPr>
              <a:t> → O:Ph:N-Cl</a:t>
            </a:r>
            <a:endParaRPr lang="pt-BR" altLang="zh-CN" sz="2400" dirty="0">
              <a:latin typeface="微软雅黑" panose="020B0503020204020204" pitchFamily="34" charset="-122"/>
              <a:ea typeface="微软雅黑" panose="020B0503020204020204" pitchFamily="34" charset="-122"/>
            </a:endParaRPr>
          </a:p>
          <a:p>
            <a:pPr marL="365760" lvl="1" indent="0">
              <a:buNone/>
            </a:pPr>
            <a:r>
              <a:rPr lang="pt-BR" altLang="zh-CN" sz="2400" dirty="0">
                <a:latin typeface="微软雅黑" panose="020B0503020204020204" pitchFamily="34" charset="-122"/>
                <a:ea typeface="微软雅黑" panose="020B0503020204020204" pitchFamily="34" charset="-122"/>
              </a:rPr>
              <a:t>O:Ph:N-Cl +PhOH → O:Ph:N-P</a:t>
            </a:r>
            <a:r>
              <a:rPr lang="en-US" altLang="zh-CN" sz="2400" dirty="0">
                <a:latin typeface="微软雅黑" panose="020B0503020204020204" pitchFamily="34" charset="-122"/>
                <a:ea typeface="微软雅黑" panose="020B0503020204020204" pitchFamily="34" charset="-122"/>
              </a:rPr>
              <a:t>h</a:t>
            </a:r>
            <a:r>
              <a:rPr lang="pt-BR" altLang="zh-CN" sz="2400" dirty="0">
                <a:latin typeface="微软雅黑" panose="020B0503020204020204" pitchFamily="34" charset="-122"/>
                <a:ea typeface="微软雅黑" panose="020B0503020204020204" pitchFamily="34" charset="-122"/>
              </a:rPr>
              <a:t>OH </a:t>
            </a:r>
            <a:endParaRPr lang="pt-BR" altLang="zh-CN" sz="2400" dirty="0">
              <a:latin typeface="微软雅黑" panose="020B0503020204020204" pitchFamily="34" charset="-122"/>
              <a:ea typeface="微软雅黑" panose="020B0503020204020204" pitchFamily="34" charset="-122"/>
            </a:endParaRPr>
          </a:p>
          <a:p>
            <a:pPr lvl="1"/>
            <a:r>
              <a:rPr lang="zh-CN" altLang="en-US" sz="2400" dirty="0">
                <a:latin typeface="微软雅黑" panose="020B0503020204020204" pitchFamily="34" charset="-122"/>
                <a:ea typeface="微软雅黑" panose="020B0503020204020204" pitchFamily="34" charset="-122"/>
              </a:rPr>
              <a:t>在碱性溶液中生成蓝色靛酚阴离子</a:t>
            </a:r>
            <a:r>
              <a:rPr lang="pt-BR" altLang="zh-CN" sz="2400" dirty="0">
                <a:latin typeface="微软雅黑" panose="020B0503020204020204" pitchFamily="34" charset="-122"/>
                <a:ea typeface="微软雅黑" panose="020B0503020204020204" pitchFamily="34" charset="-122"/>
              </a:rPr>
              <a:t>O:Ph:N-P</a:t>
            </a:r>
            <a:r>
              <a:rPr lang="en-US" altLang="zh-CN" sz="2400" dirty="0">
                <a:latin typeface="微软雅黑" panose="020B0503020204020204" pitchFamily="34" charset="-122"/>
                <a:ea typeface="微软雅黑" panose="020B0503020204020204" pitchFamily="34" charset="-122"/>
              </a:rPr>
              <a:t>h</a:t>
            </a:r>
            <a:r>
              <a:rPr lang="pt-BR" altLang="zh-CN" sz="2400" dirty="0">
                <a:latin typeface="微软雅黑" panose="020B0503020204020204" pitchFamily="34" charset="-122"/>
                <a:ea typeface="微软雅黑" panose="020B0503020204020204" pitchFamily="34" charset="-122"/>
              </a:rPr>
              <a:t>O</a:t>
            </a:r>
            <a:r>
              <a:rPr lang="pt-BR" altLang="zh-CN" sz="2400" baseline="300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lvl="1"/>
            <a:r>
              <a:rPr lang="zh-CN" altLang="en-US" sz="2400" dirty="0">
                <a:latin typeface="微软雅黑" panose="020B0503020204020204" pitchFamily="34" charset="-122"/>
                <a:ea typeface="微软雅黑" panose="020B0503020204020204" pitchFamily="34" charset="-122"/>
              </a:rPr>
              <a:t>显色剂：</a:t>
            </a:r>
            <a:endParaRPr lang="en-US" altLang="zh-CN" sz="2400" dirty="0">
              <a:latin typeface="微软雅黑" panose="020B0503020204020204" pitchFamily="34" charset="-122"/>
              <a:ea typeface="微软雅黑" panose="020B0503020204020204" pitchFamily="34" charset="-122"/>
            </a:endParaRPr>
          </a:p>
          <a:p>
            <a:pPr lvl="2"/>
            <a:r>
              <a:rPr lang="en-US" altLang="zh-CN" sz="2000" dirty="0">
                <a:latin typeface="微软雅黑" panose="020B0503020204020204" pitchFamily="34" charset="-122"/>
                <a:ea typeface="微软雅黑" panose="020B0503020204020204" pitchFamily="34" charset="-122"/>
              </a:rPr>
              <a:t>1. 40%</a:t>
            </a:r>
            <a:r>
              <a:rPr lang="zh-CN" altLang="en-US" sz="2000" dirty="0">
                <a:latin typeface="微软雅黑" panose="020B0503020204020204" pitchFamily="34" charset="-122"/>
                <a:ea typeface="微软雅黑" panose="020B0503020204020204" pitchFamily="34" charset="-122"/>
              </a:rPr>
              <a:t>柠檬酸三钠；</a:t>
            </a:r>
            <a:r>
              <a:rPr lang="en-US" altLang="zh-CN" sz="2000" dirty="0">
                <a:latin typeface="微软雅黑" panose="020B0503020204020204" pitchFamily="34" charset="-122"/>
                <a:ea typeface="微软雅黑" panose="020B0503020204020204" pitchFamily="34" charset="-122"/>
              </a:rPr>
              <a:t>2. 1%</a:t>
            </a:r>
            <a:r>
              <a:rPr lang="zh-CN" altLang="en-US" sz="2000" dirty="0">
                <a:latin typeface="微软雅黑" panose="020B0503020204020204" pitchFamily="34" charset="-122"/>
                <a:ea typeface="微软雅黑" panose="020B0503020204020204" pitchFamily="34" charset="-122"/>
              </a:rPr>
              <a:t>硝普钠溶液；</a:t>
            </a:r>
            <a:r>
              <a:rPr lang="en-US" altLang="zh-CN" sz="2000" dirty="0">
                <a:latin typeface="微软雅黑" panose="020B0503020204020204" pitchFamily="34" charset="-122"/>
                <a:ea typeface="微软雅黑" panose="020B0503020204020204" pitchFamily="34" charset="-122"/>
              </a:rPr>
              <a:t>3. </a:t>
            </a:r>
            <a:r>
              <a:rPr lang="zh-CN" altLang="en-US" sz="2000" dirty="0">
                <a:latin typeface="微软雅黑" panose="020B0503020204020204" pitchFamily="34" charset="-122"/>
                <a:ea typeface="微软雅黑" panose="020B0503020204020204" pitchFamily="34" charset="-122"/>
              </a:rPr>
              <a:t>酚</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乙醇溶液（含</a:t>
            </a:r>
            <a:r>
              <a:rPr lang="en-US" altLang="zh-CN" sz="2000" dirty="0">
                <a:latin typeface="微软雅黑" panose="020B0503020204020204" pitchFamily="34" charset="-122"/>
                <a:ea typeface="微软雅黑" panose="020B0503020204020204" pitchFamily="34" charset="-122"/>
              </a:rPr>
              <a:t>6.05M </a:t>
            </a:r>
            <a:r>
              <a:rPr lang="zh-CN" altLang="en-US" sz="2000" dirty="0">
                <a:latin typeface="微软雅黑" panose="020B0503020204020204" pitchFamily="34" charset="-122"/>
                <a:ea typeface="微软雅黑" panose="020B0503020204020204" pitchFamily="34" charset="-122"/>
              </a:rPr>
              <a:t>苯酚溶液）；</a:t>
            </a:r>
            <a:r>
              <a:rPr lang="en-US" altLang="zh-CN" sz="2000" dirty="0">
                <a:latin typeface="微软雅黑" panose="020B0503020204020204" pitchFamily="34" charset="-122"/>
                <a:ea typeface="微软雅黑" panose="020B0503020204020204" pitchFamily="34" charset="-122"/>
              </a:rPr>
              <a:t>4. 6.05 M</a:t>
            </a:r>
            <a:r>
              <a:rPr lang="zh-CN" altLang="en-US" sz="2000" dirty="0">
                <a:latin typeface="微软雅黑" panose="020B0503020204020204" pitchFamily="34" charset="-122"/>
                <a:ea typeface="微软雅黑" panose="020B0503020204020204" pitchFamily="34" charset="-122"/>
              </a:rPr>
              <a:t>氢氧化钠溶液</a:t>
            </a:r>
            <a:endParaRPr lang="en-US" altLang="zh-CN" sz="2000" dirty="0">
              <a:latin typeface="微软雅黑" panose="020B0503020204020204" pitchFamily="34" charset="-122"/>
              <a:ea typeface="微软雅黑" panose="020B0503020204020204" pitchFamily="34" charset="-122"/>
            </a:endParaRPr>
          </a:p>
          <a:p>
            <a:pPr lvl="2"/>
            <a:endParaRPr lang="en-US" altLang="zh-CN" sz="1800" dirty="0"/>
          </a:p>
          <a:p>
            <a:pPr lvl="1"/>
            <a:endParaRPr lang="en-US" altLang="zh-CN" sz="2100" dirty="0"/>
          </a:p>
          <a:p>
            <a:pPr lvl="1"/>
            <a:endParaRPr lang="en-US" altLang="zh-CN" sz="2100" dirty="0"/>
          </a:p>
          <a:p>
            <a:pPr lvl="1"/>
            <a:endParaRPr lang="en-US" altLang="zh-CN" sz="2100" dirty="0"/>
          </a:p>
          <a:p>
            <a:pPr lvl="1"/>
            <a:endParaRPr lang="en-US" altLang="zh-CN" sz="2100" dirty="0"/>
          </a:p>
          <a:p>
            <a:pPr lvl="1"/>
            <a:endParaRPr lang="en-US" altLang="zh-CN" sz="2100" dirty="0"/>
          </a:p>
          <a:p>
            <a:pPr lvl="1"/>
            <a:endParaRPr lang="en-US" altLang="zh-CN" sz="2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596336" y="164637"/>
            <a:ext cx="1269554" cy="1308696"/>
          </a:xfrm>
          <a:prstGeom prst="rect">
            <a:avLst/>
          </a:prstGeom>
          <a:noFill/>
          <a:ln w="9525">
            <a:noFill/>
            <a:miter lim="800000"/>
            <a:headEnd/>
            <a:tailEnd/>
          </a:ln>
        </p:spPr>
      </p:pic>
      <p:sp>
        <p:nvSpPr>
          <p:cNvPr id="6" name="TextBox 5"/>
          <p:cNvSpPr txBox="1"/>
          <p:nvPr/>
        </p:nvSpPr>
        <p:spPr>
          <a:xfrm>
            <a:off x="1259632" y="836713"/>
            <a:ext cx="5832648" cy="523220"/>
          </a:xfrm>
          <a:prstGeom prst="rect">
            <a:avLst/>
          </a:prstGeom>
          <a:noFill/>
          <a:ln w="15875">
            <a:solidFill>
              <a:schemeClr val="bg2">
                <a:lumMod val="25000"/>
              </a:schemeClr>
            </a:solidFill>
          </a:ln>
        </p:spPr>
        <p:txBody>
          <a:bodyPr wrap="square" rtlCol="0">
            <a:spAutoFit/>
          </a:bodyPr>
          <a:lstStyle/>
          <a:p>
            <a:r>
              <a:rPr lang="zh-CN" altLang="en-US" sz="2800" b="1" dirty="0">
                <a:solidFill>
                  <a:schemeClr val="bg2">
                    <a:lumMod val="25000"/>
                  </a:schemeClr>
                </a:solidFill>
                <a:latin typeface="华文新魏" panose="02010800040101010101" pitchFamily="2" charset="-122"/>
                <a:ea typeface="华文新魏" panose="02010800040101010101" pitchFamily="2" charset="-122"/>
              </a:rPr>
              <a:t>氨氮的</a:t>
            </a:r>
            <a:r>
              <a:rPr altLang="en-US" sz="2800" b="1" dirty="0" err="1">
                <a:solidFill>
                  <a:schemeClr val="bg2">
                    <a:lumMod val="25000"/>
                  </a:schemeClr>
                </a:solidFill>
                <a:latin typeface="华文新魏" panose="02010800040101010101" pitchFamily="2" charset="-122"/>
                <a:ea typeface="华文新魏" panose="02010800040101010101" pitchFamily="2" charset="-122"/>
              </a:rPr>
              <a:t>测定方法</a:t>
            </a:r>
            <a:endParaRPr lang="zh-CN" altLang="en-US" sz="28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sp>
        <p:nvSpPr>
          <p:cNvPr id="8" name="内容占位符 7"/>
          <p:cNvSpPr>
            <a:spLocks noGrp="1"/>
          </p:cNvSpPr>
          <p:nvPr>
            <p:ph sz="quarter" idx="13"/>
          </p:nvPr>
        </p:nvSpPr>
        <p:spPr>
          <a:xfrm>
            <a:off x="467544" y="1916832"/>
            <a:ext cx="8295456" cy="4464496"/>
          </a:xfrm>
        </p:spPr>
        <p:txBody>
          <a:bodyPr>
            <a:normAutofit/>
          </a:bodyPr>
          <a:lstStyle/>
          <a:p>
            <a:r>
              <a:rPr lang="zh-CN" altLang="en-US" sz="2800" dirty="0">
                <a:latin typeface="微软雅黑" panose="020B0503020204020204" pitchFamily="34" charset="-122"/>
                <a:ea typeface="微软雅黑" panose="020B0503020204020204" pitchFamily="34" charset="-122"/>
              </a:rPr>
              <a:t>分光光度法</a:t>
            </a:r>
            <a:endParaRPr lang="en-US" altLang="zh-CN" sz="2800" dirty="0">
              <a:latin typeface="微软雅黑" panose="020B0503020204020204" pitchFamily="34" charset="-122"/>
              <a:ea typeface="微软雅黑" panose="020B0503020204020204" pitchFamily="34" charset="-122"/>
            </a:endParaRPr>
          </a:p>
          <a:p>
            <a:pPr lvl="1"/>
            <a:r>
              <a:rPr lang="zh-CN" altLang="en-US" sz="2400" dirty="0">
                <a:latin typeface="微软雅黑" panose="020B0503020204020204" pitchFamily="34" charset="-122"/>
                <a:ea typeface="微软雅黑" panose="020B0503020204020204" pitchFamily="34" charset="-122"/>
              </a:rPr>
              <a:t>靛酚蓝法的主要干扰因素</a:t>
            </a:r>
            <a:endParaRPr lang="en-US" altLang="zh-CN" sz="2400" dirty="0">
              <a:latin typeface="微软雅黑" panose="020B0503020204020204" pitchFamily="34" charset="-122"/>
              <a:ea typeface="微软雅黑" panose="020B0503020204020204" pitchFamily="34" charset="-122"/>
            </a:endParaRPr>
          </a:p>
          <a:p>
            <a:pPr lvl="1"/>
            <a:r>
              <a:rPr lang="zh-CN" altLang="en-US" sz="2400" dirty="0">
                <a:latin typeface="微软雅黑" panose="020B0503020204020204" pitchFamily="34" charset="-122"/>
                <a:ea typeface="微软雅黑" panose="020B0503020204020204" pitchFamily="34" charset="-122"/>
              </a:rPr>
              <a:t>海水中的</a:t>
            </a:r>
            <a:r>
              <a:rPr lang="en-US" altLang="zh-CN" sz="2400" dirty="0">
                <a:latin typeface="微软雅黑" panose="020B0503020204020204" pitchFamily="34" charset="-122"/>
                <a:ea typeface="微软雅黑" panose="020B0503020204020204" pitchFamily="34" charset="-122"/>
              </a:rPr>
              <a:t>Ca</a:t>
            </a:r>
            <a:r>
              <a:rPr lang="en-US" altLang="zh-CN" sz="2400" baseline="300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和</a:t>
            </a:r>
            <a:r>
              <a:rPr lang="en-US" altLang="zh-CN" sz="2400" dirty="0">
                <a:latin typeface="微软雅黑" panose="020B0503020204020204" pitchFamily="34" charset="-122"/>
                <a:ea typeface="微软雅黑" panose="020B0503020204020204" pitchFamily="34" charset="-122"/>
              </a:rPr>
              <a:t>Mg</a:t>
            </a:r>
            <a:r>
              <a:rPr lang="en-US" altLang="zh-CN" sz="2400" baseline="300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 </a:t>
            </a:r>
            <a:r>
              <a:rPr lang="zh-CN" altLang="en-US" sz="2400" dirty="0">
                <a:latin typeface="微软雅黑" panose="020B0503020204020204" pitchFamily="34" charset="-122"/>
                <a:ea typeface="微软雅黑" panose="020B0503020204020204" pitchFamily="34" charset="-122"/>
              </a:rPr>
              <a:t>当</a:t>
            </a:r>
            <a:r>
              <a:rPr lang="en-US" altLang="zh-CN" sz="2400" dirty="0">
                <a:latin typeface="微软雅黑" panose="020B0503020204020204" pitchFamily="34" charset="-122"/>
                <a:ea typeface="微软雅黑" panose="020B0503020204020204" pitchFamily="34" charset="-122"/>
              </a:rPr>
              <a:t>pH&gt;9.6</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Ca(OH)</a:t>
            </a:r>
            <a:r>
              <a:rPr lang="en-US" altLang="zh-CN" sz="2400" baseline="-25000" dirty="0">
                <a:latin typeface="微软雅黑" panose="020B0503020204020204" pitchFamily="34" charset="-122"/>
                <a:ea typeface="微软雅黑" panose="020B0503020204020204" pitchFamily="34" charset="-122"/>
              </a:rPr>
              <a:t>2</a:t>
            </a:r>
            <a:r>
              <a:rPr lang="en-US" altLang="zh-CN" sz="2400" dirty="0">
                <a:latin typeface="微软雅黑" panose="020B0503020204020204" pitchFamily="34" charset="-122"/>
                <a:ea typeface="微软雅黑" panose="020B0503020204020204" pitchFamily="34" charset="-122"/>
              </a:rPr>
              <a:t>, Mg(OH)</a:t>
            </a:r>
            <a:r>
              <a:rPr lang="en-US" altLang="zh-CN" sz="2400" baseline="-250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会沉淀；</a:t>
            </a:r>
            <a:r>
              <a:rPr lang="en-US" altLang="zh-CN" sz="2400" dirty="0">
                <a:latin typeface="微软雅黑" panose="020B0503020204020204" pitchFamily="34" charset="-122"/>
                <a:ea typeface="微软雅黑" panose="020B0503020204020204" pitchFamily="34" charset="-122"/>
              </a:rPr>
              <a:t>2. Mg</a:t>
            </a:r>
            <a:r>
              <a:rPr lang="en-US" altLang="zh-CN" sz="2400" baseline="300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和反应试剂柠檬酸会形成络合物，形成一个缓冲体系，</a:t>
            </a:r>
            <a:r>
              <a:rPr lang="en-US" altLang="zh-CN" sz="2800" dirty="0">
                <a:latin typeface="微软雅黑" panose="020B0503020204020204" pitchFamily="34" charset="-122"/>
                <a:ea typeface="微软雅黑" panose="020B0503020204020204" pitchFamily="34" charset="-122"/>
              </a:rPr>
              <a:t> </a:t>
            </a:r>
            <a:r>
              <a:rPr lang="en-US" altLang="zh-CN" sz="2800" dirty="0" err="1">
                <a:latin typeface="微软雅黑" panose="020B0503020204020204" pitchFamily="34" charset="-122"/>
                <a:ea typeface="微软雅黑" panose="020B0503020204020204" pitchFamily="34" charset="-122"/>
              </a:rPr>
              <a:t>p</a:t>
            </a:r>
            <a:r>
              <a:rPr lang="en-US" altLang="zh-CN" sz="2800" i="1" dirty="0" err="1">
                <a:latin typeface="微软雅黑" panose="020B0503020204020204" pitchFamily="34" charset="-122"/>
                <a:ea typeface="微软雅黑" panose="020B0503020204020204" pitchFamily="34" charset="-122"/>
              </a:rPr>
              <a:t>Ka</a:t>
            </a:r>
            <a:r>
              <a:rPr lang="zh-CN" altLang="zh-CN" sz="2800" dirty="0">
                <a:latin typeface="微软雅黑" panose="020B0503020204020204" pitchFamily="34" charset="-122"/>
                <a:ea typeface="微软雅黑" panose="020B0503020204020204" pitchFamily="34" charset="-122"/>
              </a:rPr>
              <a:t>大约在</a:t>
            </a:r>
            <a:r>
              <a:rPr lang="en-US" altLang="zh-CN" sz="2800" dirty="0">
                <a:latin typeface="微软雅黑" panose="020B0503020204020204" pitchFamily="34" charset="-122"/>
                <a:ea typeface="微软雅黑" panose="020B0503020204020204" pitchFamily="34" charset="-122"/>
              </a:rPr>
              <a:t>10.2</a:t>
            </a:r>
            <a:r>
              <a:rPr lang="zh-CN" altLang="en-US" sz="28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从而降低了预先设定的反应</a:t>
            </a:r>
            <a:r>
              <a:rPr lang="en-US" altLang="zh-CN" sz="2400" dirty="0">
                <a:latin typeface="微软雅黑" panose="020B0503020204020204" pitchFamily="34" charset="-122"/>
                <a:ea typeface="微软雅黑" panose="020B0503020204020204" pitchFamily="34" charset="-122"/>
              </a:rPr>
              <a:t>pH</a:t>
            </a:r>
            <a:r>
              <a:rPr lang="zh-CN" altLang="en-US" sz="2400" dirty="0">
                <a:latin typeface="微软雅黑" panose="020B0503020204020204" pitchFamily="34" charset="-122"/>
                <a:ea typeface="微软雅黑" panose="020B0503020204020204" pitchFamily="34" charset="-122"/>
              </a:rPr>
              <a:t>值</a:t>
            </a:r>
            <a:endParaRPr lang="en-US" altLang="zh-CN" sz="2400" dirty="0">
              <a:latin typeface="微软雅黑" panose="020B0503020204020204" pitchFamily="34" charset="-122"/>
              <a:ea typeface="微软雅黑" panose="020B0503020204020204" pitchFamily="34" charset="-122"/>
            </a:endParaRPr>
          </a:p>
          <a:p>
            <a:pPr lvl="1"/>
            <a:r>
              <a:rPr lang="zh-CN" altLang="en-US" sz="2400" dirty="0">
                <a:latin typeface="微软雅黑" panose="020B0503020204020204" pitchFamily="34" charset="-122"/>
                <a:ea typeface="微软雅黑" panose="020B0503020204020204" pitchFamily="34" charset="-122"/>
              </a:rPr>
              <a:t>反应速率慢，形成靛酚蓝在常温下大约要几个小时。</a:t>
            </a:r>
            <a:endParaRPr lang="en-US" altLang="zh-CN" sz="2400" dirty="0">
              <a:latin typeface="微软雅黑" panose="020B0503020204020204" pitchFamily="34" charset="-122"/>
              <a:ea typeface="微软雅黑" panose="020B0503020204020204" pitchFamily="34" charset="-122"/>
            </a:endParaRPr>
          </a:p>
          <a:p>
            <a:pPr lvl="1"/>
            <a:r>
              <a:rPr lang="zh-CN" altLang="en-US" sz="2400" dirty="0">
                <a:latin typeface="微软雅黑" panose="020B0503020204020204" pitchFamily="34" charset="-122"/>
                <a:ea typeface="微软雅黑" panose="020B0503020204020204" pitchFamily="34" charset="-122"/>
              </a:rPr>
              <a:t>反应速率主要与溶液的</a:t>
            </a:r>
            <a:r>
              <a:rPr lang="en-US" altLang="zh-CN" sz="2400" dirty="0">
                <a:latin typeface="微软雅黑" panose="020B0503020204020204" pitchFamily="34" charset="-122"/>
                <a:ea typeface="微软雅黑" panose="020B0503020204020204" pitchFamily="34" charset="-122"/>
              </a:rPr>
              <a:t>pH</a:t>
            </a:r>
            <a:r>
              <a:rPr lang="zh-CN" altLang="en-US" sz="2400" dirty="0">
                <a:latin typeface="微软雅黑" panose="020B0503020204020204" pitchFamily="34" charset="-122"/>
                <a:ea typeface="微软雅黑" panose="020B0503020204020204" pitchFamily="34" charset="-122"/>
              </a:rPr>
              <a:t>，反应温度，反应物的浓度，另外，要加催化剂</a:t>
            </a:r>
            <a:endParaRPr lang="en-US" altLang="zh-CN" sz="2400" dirty="0">
              <a:latin typeface="微软雅黑" panose="020B0503020204020204" pitchFamily="34" charset="-122"/>
              <a:ea typeface="微软雅黑" panose="020B0503020204020204" pitchFamily="34" charset="-122"/>
            </a:endParaRPr>
          </a:p>
          <a:p>
            <a:pPr lvl="1"/>
            <a:endParaRPr lang="en-US" altLang="zh-CN" sz="2100" dirty="0"/>
          </a:p>
          <a:p>
            <a:pPr lvl="1"/>
            <a:endParaRPr lang="en-US" altLang="zh-CN" sz="2100" dirty="0"/>
          </a:p>
          <a:p>
            <a:pPr lvl="1"/>
            <a:endParaRPr lang="en-US" altLang="zh-CN" sz="2100" dirty="0"/>
          </a:p>
          <a:p>
            <a:pPr lvl="1"/>
            <a:endParaRPr lang="en-US" altLang="zh-CN" sz="2100" dirty="0"/>
          </a:p>
          <a:p>
            <a:pPr lvl="1"/>
            <a:endParaRPr lang="en-US" altLang="zh-CN" sz="2100" dirty="0"/>
          </a:p>
          <a:p>
            <a:pPr lvl="1"/>
            <a:endParaRPr lang="en-US" altLang="zh-CN" sz="2100" dirty="0"/>
          </a:p>
          <a:p>
            <a:pPr lvl="1"/>
            <a:endParaRPr lang="en-US" altLang="zh-CN" sz="2100" dirty="0"/>
          </a:p>
          <a:p>
            <a:pPr lvl="1"/>
            <a:endParaRPr lang="en-US" altLang="zh-CN" sz="2100" dirty="0"/>
          </a:p>
          <a:p>
            <a:pPr lvl="1"/>
            <a:endParaRPr lang="en-US" altLang="zh-CN" sz="2100" dirty="0"/>
          </a:p>
          <a:p>
            <a:pPr lvl="1"/>
            <a:endParaRPr lang="en-US" altLang="zh-CN" sz="2100" dirty="0"/>
          </a:p>
          <a:p>
            <a:pPr lvl="1"/>
            <a:endParaRPr lang="en-US" altLang="zh-CN" sz="2100" dirty="0"/>
          </a:p>
          <a:p>
            <a:pPr lvl="1"/>
            <a:endParaRPr lang="en-US" altLang="zh-CN" sz="2100" dirty="0"/>
          </a:p>
          <a:p>
            <a:pPr lvl="1"/>
            <a:endParaRPr lang="en-US" altLang="zh-CN" sz="2100" dirty="0"/>
          </a:p>
          <a:p>
            <a:pPr lvl="1"/>
            <a:endParaRPr lang="en-US" altLang="zh-CN" sz="2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596336" y="164637"/>
            <a:ext cx="1269554" cy="1308696"/>
          </a:xfrm>
          <a:prstGeom prst="rect">
            <a:avLst/>
          </a:prstGeom>
          <a:noFill/>
          <a:ln w="9525">
            <a:noFill/>
            <a:miter lim="800000"/>
            <a:headEnd/>
            <a:tailEnd/>
          </a:ln>
        </p:spPr>
      </p:pic>
      <p:sp>
        <p:nvSpPr>
          <p:cNvPr id="6" name="TextBox 5"/>
          <p:cNvSpPr txBox="1"/>
          <p:nvPr/>
        </p:nvSpPr>
        <p:spPr>
          <a:xfrm>
            <a:off x="1259632" y="836713"/>
            <a:ext cx="5832648" cy="523220"/>
          </a:xfrm>
          <a:prstGeom prst="rect">
            <a:avLst/>
          </a:prstGeom>
          <a:noFill/>
          <a:ln w="15875">
            <a:solidFill>
              <a:schemeClr val="bg2">
                <a:lumMod val="25000"/>
              </a:schemeClr>
            </a:solidFill>
          </a:ln>
        </p:spPr>
        <p:txBody>
          <a:bodyPr wrap="square" rtlCol="0">
            <a:spAutoFit/>
          </a:bodyPr>
          <a:lstStyle/>
          <a:p>
            <a:r>
              <a:rPr lang="zh-CN" altLang="en-US" sz="2800" b="1" dirty="0">
                <a:solidFill>
                  <a:schemeClr val="bg2">
                    <a:lumMod val="25000"/>
                  </a:schemeClr>
                </a:solidFill>
                <a:latin typeface="华文新魏" panose="02010800040101010101" pitchFamily="2" charset="-122"/>
                <a:ea typeface="华文新魏" panose="02010800040101010101" pitchFamily="2" charset="-122"/>
              </a:rPr>
              <a:t>氨氮的</a:t>
            </a:r>
            <a:r>
              <a:rPr altLang="en-US" sz="2800" b="1" dirty="0" err="1">
                <a:solidFill>
                  <a:schemeClr val="bg2">
                    <a:lumMod val="25000"/>
                  </a:schemeClr>
                </a:solidFill>
                <a:latin typeface="华文新魏" panose="02010800040101010101" pitchFamily="2" charset="-122"/>
                <a:ea typeface="华文新魏" panose="02010800040101010101" pitchFamily="2" charset="-122"/>
              </a:rPr>
              <a:t>测定方法</a:t>
            </a:r>
            <a:endParaRPr lang="zh-CN" altLang="en-US" sz="28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pic>
        <p:nvPicPr>
          <p:cNvPr id="1026" name="Picture 2" descr="C:\Users\dell\Desktop\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734" y="1844442"/>
            <a:ext cx="8614108" cy="3955054"/>
          </a:xfrm>
          <a:prstGeom prst="rect">
            <a:avLst/>
          </a:prstGeom>
          <a:noFill/>
          <a:extLst>
            <a:ext uri="{909E8E84-426E-40DD-AFC4-6F175D3DCCD1}">
              <a14:hiddenFill xmlns:a14="http://schemas.microsoft.com/office/drawing/2010/main">
                <a:solidFill>
                  <a:srgbClr val="FFFFFF"/>
                </a:solidFill>
              </a14:hiddenFill>
            </a:ext>
          </a:extLst>
        </p:spPr>
      </p:pic>
      <p:sp>
        <p:nvSpPr>
          <p:cNvPr id="2" name="内容占位符 1"/>
          <p:cNvSpPr>
            <a:spLocks noGrp="1"/>
          </p:cNvSpPr>
          <p:nvPr>
            <p:ph sz="quarter" idx="13"/>
          </p:nvPr>
        </p:nvSpPr>
        <p:spPr/>
        <p:txBody>
          <a:bodyPr/>
          <a:lstStyle/>
          <a:p>
            <a:endParaRPr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盐效应</a:t>
            </a:r>
            <a:endParaRPr lang="zh-CN" altLang="en-US" dirty="0"/>
          </a:p>
        </p:txBody>
      </p:sp>
      <p:sp>
        <p:nvSpPr>
          <p:cNvPr id="7" name="内容占位符 6"/>
          <p:cNvSpPr>
            <a:spLocks noGrp="1"/>
          </p:cNvSpPr>
          <p:nvPr>
            <p:ph idx="1"/>
          </p:nvPr>
        </p:nvSpPr>
        <p:spPr/>
        <p:txBody>
          <a:bodyPr>
            <a:normAutofit fontScale="92500"/>
          </a:bodyPr>
          <a:lstStyle/>
          <a:p>
            <a:r>
              <a:rPr lang="zh-CN" altLang="en-US" dirty="0">
                <a:latin typeface="微软雅黑" panose="020B0503020204020204" pitchFamily="34" charset="-122"/>
                <a:ea typeface="微软雅黑" panose="020B0503020204020204" pitchFamily="34" charset="-122"/>
              </a:rPr>
              <a:t>盐效应在分光光度法中主要可能作用在两部分</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由于海水中离子造成削弱待测样品的吸光度（磷钼蓝法和硅钼蓝法）</a:t>
            </a:r>
            <a:endParaRPr lang="en-US" altLang="zh-CN" dirty="0">
              <a:latin typeface="微软雅黑" panose="020B0503020204020204" pitchFamily="34" charset="-122"/>
              <a:ea typeface="微软雅黑" panose="020B0503020204020204" pitchFamily="34" charset="-122"/>
            </a:endParaRPr>
          </a:p>
          <a:p>
            <a:pPr lvl="1"/>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由于海水中的离子改变了反应的</a:t>
            </a:r>
            <a:r>
              <a:rPr lang="en-US" altLang="zh-CN" dirty="0">
                <a:latin typeface="微软雅黑" panose="020B0503020204020204" pitchFamily="34" charset="-122"/>
                <a:ea typeface="微软雅黑" panose="020B0503020204020204" pitchFamily="34" charset="-122"/>
              </a:rPr>
              <a:t>pH</a:t>
            </a:r>
            <a:r>
              <a:rPr lang="zh-CN" altLang="en-US" dirty="0">
                <a:latin typeface="微软雅黑" panose="020B0503020204020204" pitchFamily="34" charset="-122"/>
                <a:ea typeface="微软雅黑" panose="020B0503020204020204" pitchFamily="34" charset="-122"/>
              </a:rPr>
              <a:t>缓冲能力，改变了反应的</a:t>
            </a:r>
            <a:r>
              <a:rPr lang="en-US" altLang="zh-CN" dirty="0">
                <a:latin typeface="微软雅黑" panose="020B0503020204020204" pitchFamily="34" charset="-122"/>
                <a:ea typeface="微软雅黑" panose="020B0503020204020204" pitchFamily="34" charset="-122"/>
              </a:rPr>
              <a:t>pH</a:t>
            </a:r>
            <a:r>
              <a:rPr lang="zh-CN" altLang="en-US" dirty="0">
                <a:latin typeface="微软雅黑" panose="020B0503020204020204" pitchFamily="34" charset="-122"/>
                <a:ea typeface="微软雅黑" panose="020B0503020204020204" pitchFamily="34" charset="-122"/>
              </a:rPr>
              <a:t>值（测量氨氮中，海水中的镁离子与反应试剂柠檬酸形成新的</a:t>
            </a:r>
            <a:r>
              <a:rPr lang="en-US" altLang="zh-CN" dirty="0">
                <a:latin typeface="微软雅黑" panose="020B0503020204020204" pitchFamily="34" charset="-122"/>
                <a:ea typeface="微软雅黑" panose="020B0503020204020204" pitchFamily="34" charset="-122"/>
              </a:rPr>
              <a:t>buffer</a:t>
            </a:r>
            <a:r>
              <a:rPr lang="zh-CN" altLang="en-US" dirty="0">
                <a:latin typeface="微软雅黑" panose="020B0503020204020204" pitchFamily="34" charset="-122"/>
                <a:ea typeface="微软雅黑" panose="020B0503020204020204" pitchFamily="34" charset="-122"/>
              </a:rPr>
              <a:t>体系，改变了反应的</a:t>
            </a:r>
            <a:r>
              <a:rPr lang="en-US" altLang="zh-CN" dirty="0">
                <a:latin typeface="微软雅黑" panose="020B0503020204020204" pitchFamily="34" charset="-122"/>
                <a:ea typeface="微软雅黑" panose="020B0503020204020204" pitchFamily="34" charset="-122"/>
              </a:rPr>
              <a:t>pH</a:t>
            </a:r>
            <a:r>
              <a:rPr lang="zh-CN" altLang="en-US" dirty="0">
                <a:latin typeface="微软雅黑" panose="020B0503020204020204" pitchFamily="34" charset="-122"/>
                <a:ea typeface="微软雅黑" panose="020B0503020204020204" pitchFamily="34" charset="-122"/>
              </a:rPr>
              <a:t>值）</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最好的解决方法是用与样品相同的溶液基底来做工作曲线</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或者预先算出盐度对样品的干扰度，再对测量结果进行校准</a:t>
            </a:r>
            <a:endParaRPr lang="en-US" altLang="zh-CN" dirty="0">
              <a:latin typeface="微软雅黑" panose="020B0503020204020204" pitchFamily="34" charset="-122"/>
              <a:ea typeface="微软雅黑" panose="020B0503020204020204" pitchFamily="34" charset="-122"/>
            </a:endParaRPr>
          </a:p>
          <a:p>
            <a:pPr lvl="1"/>
            <a:endParaRPr lang="en-US" altLang="zh-CN" dirty="0"/>
          </a:p>
          <a:p>
            <a:pPr lvl="1"/>
            <a:endParaRPr lang="zh-CN" altLang="en-US" dirty="0"/>
          </a:p>
        </p:txBody>
      </p:sp>
      <p:pic>
        <p:nvPicPr>
          <p:cNvPr id="4" name="图片 5" descr="logo.jpg"/>
          <p:cNvPicPr>
            <a:picLocks noChangeAspect="1"/>
          </p:cNvPicPr>
          <p:nvPr/>
        </p:nvPicPr>
        <p:blipFill>
          <a:blip r:embed="rId1" cstate="print"/>
          <a:srcRect l="26245" t="34250" r="32184" b="36349"/>
          <a:stretch>
            <a:fillRect/>
          </a:stretch>
        </p:blipFill>
        <p:spPr bwMode="auto">
          <a:xfrm>
            <a:off x="7596336" y="164637"/>
            <a:ext cx="1269554" cy="1308696"/>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668344" y="164637"/>
            <a:ext cx="1197546" cy="1308696"/>
          </a:xfrm>
          <a:prstGeom prst="rect">
            <a:avLst/>
          </a:prstGeom>
          <a:noFill/>
          <a:ln w="9525">
            <a:noFill/>
            <a:miter lim="800000"/>
            <a:headEnd/>
            <a:tailEnd/>
          </a:ln>
        </p:spPr>
      </p:pic>
      <p:sp>
        <p:nvSpPr>
          <p:cNvPr id="6" name="TextBox 5"/>
          <p:cNvSpPr txBox="1"/>
          <p:nvPr/>
        </p:nvSpPr>
        <p:spPr>
          <a:xfrm>
            <a:off x="1259632" y="836713"/>
            <a:ext cx="5832648" cy="523220"/>
          </a:xfrm>
          <a:prstGeom prst="rect">
            <a:avLst/>
          </a:prstGeom>
          <a:noFill/>
          <a:ln w="15875">
            <a:solidFill>
              <a:schemeClr val="bg2">
                <a:lumMod val="25000"/>
              </a:schemeClr>
            </a:solidFill>
          </a:ln>
        </p:spPr>
        <p:txBody>
          <a:bodyPr wrap="square" rtlCol="0">
            <a:spAutoFit/>
          </a:bodyPr>
          <a:lstStyle/>
          <a:p>
            <a:r>
              <a:rPr lang="zh-CN" altLang="en-US" sz="2800" b="1" dirty="0">
                <a:solidFill>
                  <a:schemeClr val="bg2">
                    <a:lumMod val="25000"/>
                  </a:schemeClr>
                </a:solidFill>
                <a:latin typeface="华文新魏" panose="02010800040101010101" pitchFamily="2" charset="-122"/>
                <a:ea typeface="华文新魏" panose="02010800040101010101" pitchFamily="2" charset="-122"/>
              </a:rPr>
              <a:t>氨氮的</a:t>
            </a:r>
            <a:r>
              <a:rPr altLang="en-US" sz="2800" b="1" dirty="0" err="1">
                <a:solidFill>
                  <a:schemeClr val="bg2">
                    <a:lumMod val="25000"/>
                  </a:schemeClr>
                </a:solidFill>
                <a:latin typeface="华文新魏" panose="02010800040101010101" pitchFamily="2" charset="-122"/>
                <a:ea typeface="华文新魏" panose="02010800040101010101" pitchFamily="2" charset="-122"/>
              </a:rPr>
              <a:t>测定方法</a:t>
            </a:r>
            <a:endParaRPr lang="zh-CN" altLang="en-US" sz="28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sp>
        <p:nvSpPr>
          <p:cNvPr id="8" name="内容占位符 7"/>
          <p:cNvSpPr>
            <a:spLocks noGrp="1"/>
          </p:cNvSpPr>
          <p:nvPr>
            <p:ph sz="quarter" idx="13"/>
          </p:nvPr>
        </p:nvSpPr>
        <p:spPr>
          <a:xfrm>
            <a:off x="467544" y="1700808"/>
            <a:ext cx="8295456" cy="5658048"/>
          </a:xfrm>
        </p:spPr>
        <p:txBody>
          <a:bodyPr>
            <a:normAutofit/>
          </a:bodyPr>
          <a:lstStyle/>
          <a:p>
            <a:r>
              <a:rPr lang="zh-CN" altLang="en-US" sz="2400" dirty="0"/>
              <a:t>分光光度法</a:t>
            </a:r>
            <a:endParaRPr lang="en-US" altLang="zh-CN" sz="2400" dirty="0"/>
          </a:p>
          <a:p>
            <a:pPr lvl="1"/>
            <a:r>
              <a:rPr lang="zh-CN" altLang="en-US" sz="2100" dirty="0"/>
              <a:t>次氯酸钠和次溴酸钠氧化法</a:t>
            </a:r>
            <a:endParaRPr lang="en-US" altLang="zh-CN" sz="2100" dirty="0"/>
          </a:p>
          <a:p>
            <a:pPr lvl="1"/>
            <a:endParaRPr lang="en-US" altLang="zh-CN" sz="2100" dirty="0"/>
          </a:p>
        </p:txBody>
      </p:sp>
      <p:pic>
        <p:nvPicPr>
          <p:cNvPr id="3075" name="Picture 3" descr="E:\课程\海水分析化学 本科\课件\课程图片\0.png"/>
          <p:cNvPicPr>
            <a:picLocks noChangeAspect="1" noChangeArrowheads="1"/>
          </p:cNvPicPr>
          <p:nvPr/>
        </p:nvPicPr>
        <p:blipFill>
          <a:blip r:embed="rId2" cstate="print"/>
          <a:srcRect/>
          <a:stretch>
            <a:fillRect/>
          </a:stretch>
        </p:blipFill>
        <p:spPr bwMode="auto">
          <a:xfrm>
            <a:off x="540569" y="2420759"/>
            <a:ext cx="7404323" cy="1588589"/>
          </a:xfrm>
          <a:prstGeom prst="rect">
            <a:avLst/>
          </a:prstGeom>
          <a:noFill/>
        </p:spPr>
      </p:pic>
      <p:pic>
        <p:nvPicPr>
          <p:cNvPr id="3076" name="Picture 4" descr="E:\课程\海水分析化学 本科\课件\课程图片\0.png"/>
          <p:cNvPicPr>
            <a:picLocks noChangeAspect="1" noChangeArrowheads="1"/>
          </p:cNvPicPr>
          <p:nvPr/>
        </p:nvPicPr>
        <p:blipFill>
          <a:blip r:embed="rId3" cstate="print"/>
          <a:srcRect/>
          <a:stretch>
            <a:fillRect/>
          </a:stretch>
        </p:blipFill>
        <p:spPr bwMode="auto">
          <a:xfrm>
            <a:off x="901065" y="4220845"/>
            <a:ext cx="6684010" cy="1261110"/>
          </a:xfrm>
          <a:prstGeom prst="rect">
            <a:avLst/>
          </a:prstGeom>
          <a:noFill/>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668344" y="164637"/>
            <a:ext cx="1197546" cy="1308696"/>
          </a:xfrm>
          <a:prstGeom prst="rect">
            <a:avLst/>
          </a:prstGeom>
          <a:noFill/>
          <a:ln w="9525">
            <a:noFill/>
            <a:miter lim="800000"/>
            <a:headEnd/>
            <a:tailEnd/>
          </a:ln>
        </p:spPr>
      </p:pic>
      <p:sp>
        <p:nvSpPr>
          <p:cNvPr id="6" name="TextBox 5"/>
          <p:cNvSpPr txBox="1"/>
          <p:nvPr/>
        </p:nvSpPr>
        <p:spPr>
          <a:xfrm>
            <a:off x="1259632" y="836713"/>
            <a:ext cx="5832648" cy="523220"/>
          </a:xfrm>
          <a:prstGeom prst="rect">
            <a:avLst/>
          </a:prstGeom>
          <a:noFill/>
          <a:ln w="15875">
            <a:solidFill>
              <a:schemeClr val="bg2">
                <a:lumMod val="25000"/>
              </a:schemeClr>
            </a:solidFill>
          </a:ln>
        </p:spPr>
        <p:txBody>
          <a:bodyPr wrap="square" rtlCol="0">
            <a:spAutoFit/>
          </a:bodyPr>
          <a:lstStyle/>
          <a:p>
            <a:r>
              <a:rPr lang="zh-CN" altLang="en-US" sz="2800" b="1" dirty="0">
                <a:solidFill>
                  <a:schemeClr val="bg2">
                    <a:lumMod val="25000"/>
                  </a:schemeClr>
                </a:solidFill>
                <a:latin typeface="华文新魏" panose="02010800040101010101" pitchFamily="2" charset="-122"/>
                <a:ea typeface="华文新魏" panose="02010800040101010101" pitchFamily="2" charset="-122"/>
              </a:rPr>
              <a:t>氨氮的</a:t>
            </a:r>
            <a:r>
              <a:rPr altLang="en-US" sz="2800" b="1" dirty="0" err="1">
                <a:solidFill>
                  <a:schemeClr val="bg2">
                    <a:lumMod val="25000"/>
                  </a:schemeClr>
                </a:solidFill>
                <a:latin typeface="华文新魏" panose="02010800040101010101" pitchFamily="2" charset="-122"/>
                <a:ea typeface="华文新魏" panose="02010800040101010101" pitchFamily="2" charset="-122"/>
              </a:rPr>
              <a:t>测定方法</a:t>
            </a:r>
            <a:endParaRPr lang="zh-CN" altLang="en-US" sz="28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sp>
        <p:nvSpPr>
          <p:cNvPr id="8" name="内容占位符 7"/>
          <p:cNvSpPr>
            <a:spLocks noGrp="1"/>
          </p:cNvSpPr>
          <p:nvPr>
            <p:ph sz="quarter" idx="13"/>
          </p:nvPr>
        </p:nvSpPr>
        <p:spPr>
          <a:xfrm>
            <a:off x="392088" y="1359933"/>
            <a:ext cx="8295456" cy="5658048"/>
          </a:xfrm>
        </p:spPr>
        <p:txBody>
          <a:bodyPr>
            <a:normAutofit/>
          </a:bodyPr>
          <a:lstStyle/>
          <a:p>
            <a:r>
              <a:rPr lang="zh-CN" altLang="en-US" sz="2400" b="1" dirty="0"/>
              <a:t>次氯酸钠法</a:t>
            </a:r>
            <a:endParaRPr lang="en-US" altLang="zh-CN" sz="2400" b="1" dirty="0"/>
          </a:p>
          <a:p>
            <a:pPr marL="365760" lvl="1" indent="0">
              <a:buNone/>
            </a:pPr>
            <a:endParaRPr lang="en-US" altLang="zh-CN" sz="2100" dirty="0"/>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2536" y="1772816"/>
            <a:ext cx="8380040" cy="2754216"/>
          </a:xfrm>
          <a:prstGeom prst="rect">
            <a:avLst/>
          </a:prstGeom>
        </p:spPr>
      </p:pic>
      <p:pic>
        <p:nvPicPr>
          <p:cNvPr id="10"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2088" y="4188957"/>
            <a:ext cx="8203951" cy="2609933"/>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4000" b="1" i="0" u="none" strike="noStrike" kern="1200" cap="none" spc="0" normalizeH="0" baseline="0" noProof="0">
                <a:ln>
                  <a:noFill/>
                </a:ln>
                <a:solidFill>
                  <a:schemeClr val="bg2"/>
                </a:solidFill>
                <a:effectLst/>
                <a:uLnTx/>
                <a:uFillTx/>
                <a:latin typeface="+mj-lt"/>
                <a:ea typeface="+mj-ea"/>
                <a:cs typeface="+mj-cs"/>
              </a:rPr>
              <a:t>第八章 海水中营养元素的测定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884368" y="164637"/>
            <a:ext cx="981522" cy="1308696"/>
          </a:xfrm>
          <a:prstGeom prst="rect">
            <a:avLst/>
          </a:prstGeom>
          <a:noFill/>
          <a:ln w="9525">
            <a:noFill/>
            <a:miter lim="800000"/>
            <a:headEnd/>
            <a:tailEnd/>
          </a:ln>
        </p:spPr>
      </p:pic>
      <p:sp>
        <p:nvSpPr>
          <p:cNvPr id="6" name="TextBox 5"/>
          <p:cNvSpPr txBox="1"/>
          <p:nvPr/>
        </p:nvSpPr>
        <p:spPr>
          <a:xfrm>
            <a:off x="1259632" y="836713"/>
            <a:ext cx="5832648" cy="523220"/>
          </a:xfrm>
          <a:prstGeom prst="rect">
            <a:avLst/>
          </a:prstGeom>
          <a:noFill/>
          <a:ln w="15875">
            <a:solidFill>
              <a:schemeClr val="bg2">
                <a:lumMod val="25000"/>
              </a:schemeClr>
            </a:solidFill>
          </a:ln>
        </p:spPr>
        <p:txBody>
          <a:bodyPr wrap="square" rtlCol="0">
            <a:spAutoFit/>
          </a:bodyPr>
          <a:lstStyle/>
          <a:p>
            <a:r>
              <a:rPr lang="zh-CN" altLang="en-US" sz="2800" b="1" dirty="0">
                <a:solidFill>
                  <a:schemeClr val="bg2">
                    <a:lumMod val="25000"/>
                  </a:schemeClr>
                </a:solidFill>
                <a:latin typeface="华文新魏" panose="02010800040101010101" pitchFamily="2" charset="-122"/>
                <a:ea typeface="华文新魏" panose="02010800040101010101" pitchFamily="2" charset="-122"/>
              </a:rPr>
              <a:t>氨氮的</a:t>
            </a:r>
            <a:r>
              <a:rPr altLang="en-US" sz="2800" b="1" dirty="0" err="1">
                <a:solidFill>
                  <a:schemeClr val="bg2">
                    <a:lumMod val="25000"/>
                  </a:schemeClr>
                </a:solidFill>
                <a:latin typeface="华文新魏" panose="02010800040101010101" pitchFamily="2" charset="-122"/>
                <a:ea typeface="华文新魏" panose="02010800040101010101" pitchFamily="2" charset="-122"/>
              </a:rPr>
              <a:t>测定方法</a:t>
            </a:r>
            <a:endParaRPr lang="zh-CN" altLang="en-US" sz="28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sp>
        <p:nvSpPr>
          <p:cNvPr id="8" name="内容占位符 7"/>
          <p:cNvSpPr>
            <a:spLocks noGrp="1"/>
          </p:cNvSpPr>
          <p:nvPr>
            <p:ph sz="quarter" idx="13"/>
          </p:nvPr>
        </p:nvSpPr>
        <p:spPr>
          <a:xfrm>
            <a:off x="467544" y="1700808"/>
            <a:ext cx="8295456" cy="5658048"/>
          </a:xfrm>
        </p:spPr>
        <p:txBody>
          <a:bodyPr>
            <a:normAutofit/>
          </a:bodyPr>
          <a:lstStyle/>
          <a:p>
            <a:r>
              <a:rPr lang="zh-CN" altLang="en-US" sz="2400" dirty="0"/>
              <a:t>次溴酸钠氧化法</a:t>
            </a:r>
            <a:endParaRPr lang="en-US" altLang="zh-CN" sz="2400" dirty="0"/>
          </a:p>
          <a:p>
            <a:pPr marL="365760" lvl="1" indent="0">
              <a:buNone/>
            </a:pPr>
            <a:endParaRPr lang="en-US" altLang="zh-CN" sz="2100" dirty="0"/>
          </a:p>
          <a:p>
            <a:pPr lvl="1"/>
            <a:endParaRPr lang="en-US" altLang="zh-CN" sz="2100" dirty="0"/>
          </a:p>
          <a:p>
            <a:pPr lvl="1"/>
            <a:endParaRPr lang="en-US" altLang="zh-CN" sz="2100" dirty="0"/>
          </a:p>
          <a:p>
            <a:pPr lvl="1"/>
            <a:endParaRPr lang="en-US" altLang="zh-CN" sz="2100" dirty="0"/>
          </a:p>
          <a:p>
            <a:pPr lvl="1"/>
            <a:endParaRPr lang="en-US" altLang="zh-CN" sz="2100" dirty="0"/>
          </a:p>
          <a:p>
            <a:pPr lvl="1"/>
            <a:endParaRPr lang="en-US" altLang="zh-CN" sz="2100" dirty="0"/>
          </a:p>
          <a:p>
            <a:pPr marL="365760" lvl="1" indent="0">
              <a:buNone/>
            </a:pPr>
            <a:endParaRPr lang="en-US" altLang="zh-CN" sz="2100" dirty="0"/>
          </a:p>
        </p:txBody>
      </p:sp>
      <p:pic>
        <p:nvPicPr>
          <p:cNvPr id="4098" name="Picture 2" descr="E:\课程\海水分析化学 本科\课件\课程图片\0.png"/>
          <p:cNvPicPr>
            <a:picLocks noChangeAspect="1" noChangeArrowheads="1"/>
          </p:cNvPicPr>
          <p:nvPr/>
        </p:nvPicPr>
        <p:blipFill>
          <a:blip r:embed="rId2" cstate="print"/>
          <a:srcRect/>
          <a:stretch>
            <a:fillRect/>
          </a:stretch>
        </p:blipFill>
        <p:spPr bwMode="auto">
          <a:xfrm>
            <a:off x="899592" y="2105603"/>
            <a:ext cx="7118202" cy="2287754"/>
          </a:xfrm>
          <a:prstGeom prst="rect">
            <a:avLst/>
          </a:prstGeom>
          <a:noFill/>
        </p:spPr>
      </p:pic>
      <p:pic>
        <p:nvPicPr>
          <p:cNvPr id="4099" name="Picture 3" descr="E:\课程\海水分析化学 本科\课件\课程图片\0.png"/>
          <p:cNvPicPr>
            <a:picLocks noChangeAspect="1" noChangeArrowheads="1"/>
          </p:cNvPicPr>
          <p:nvPr/>
        </p:nvPicPr>
        <p:blipFill>
          <a:blip r:embed="rId3" cstate="print"/>
          <a:srcRect/>
          <a:stretch>
            <a:fillRect/>
          </a:stretch>
        </p:blipFill>
        <p:spPr bwMode="auto">
          <a:xfrm>
            <a:off x="4716016" y="4514949"/>
            <a:ext cx="3829050" cy="2181225"/>
          </a:xfrm>
          <a:prstGeom prst="rect">
            <a:avLst/>
          </a:prstGeom>
          <a:noFill/>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596336" y="164637"/>
            <a:ext cx="1269554" cy="1308696"/>
          </a:xfrm>
          <a:prstGeom prst="rect">
            <a:avLst/>
          </a:prstGeom>
          <a:noFill/>
          <a:ln w="9525">
            <a:noFill/>
            <a:miter lim="800000"/>
            <a:headEnd/>
            <a:tailEnd/>
          </a:ln>
        </p:spPr>
      </p:pic>
      <p:sp>
        <p:nvSpPr>
          <p:cNvPr id="6" name="TextBox 5"/>
          <p:cNvSpPr txBox="1"/>
          <p:nvPr/>
        </p:nvSpPr>
        <p:spPr>
          <a:xfrm>
            <a:off x="1259632" y="836713"/>
            <a:ext cx="5832648" cy="523220"/>
          </a:xfrm>
          <a:prstGeom prst="rect">
            <a:avLst/>
          </a:prstGeom>
          <a:noFill/>
          <a:ln w="15875">
            <a:solidFill>
              <a:schemeClr val="bg2">
                <a:lumMod val="25000"/>
              </a:schemeClr>
            </a:solidFill>
          </a:ln>
        </p:spPr>
        <p:txBody>
          <a:bodyPr wrap="square" rtlCol="0">
            <a:spAutoFit/>
          </a:bodyPr>
          <a:lstStyle/>
          <a:p>
            <a:r>
              <a:rPr lang="zh-CN" altLang="en-US" sz="2800" b="1" dirty="0">
                <a:solidFill>
                  <a:schemeClr val="bg2">
                    <a:lumMod val="25000"/>
                  </a:schemeClr>
                </a:solidFill>
                <a:latin typeface="华文新魏" panose="02010800040101010101" pitchFamily="2" charset="-122"/>
                <a:ea typeface="华文新魏" panose="02010800040101010101" pitchFamily="2" charset="-122"/>
              </a:rPr>
              <a:t>氨氮的</a:t>
            </a:r>
            <a:r>
              <a:rPr altLang="en-US" sz="2800" b="1" dirty="0" err="1">
                <a:solidFill>
                  <a:schemeClr val="bg2">
                    <a:lumMod val="25000"/>
                  </a:schemeClr>
                </a:solidFill>
                <a:latin typeface="华文新魏" panose="02010800040101010101" pitchFamily="2" charset="-122"/>
                <a:ea typeface="华文新魏" panose="02010800040101010101" pitchFamily="2" charset="-122"/>
              </a:rPr>
              <a:t>测定方法</a:t>
            </a:r>
            <a:endParaRPr lang="zh-CN" altLang="en-US" sz="28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sp>
        <p:nvSpPr>
          <p:cNvPr id="8" name="内容占位符 7"/>
          <p:cNvSpPr>
            <a:spLocks noGrp="1"/>
          </p:cNvSpPr>
          <p:nvPr>
            <p:ph sz="quarter" idx="13"/>
          </p:nvPr>
        </p:nvSpPr>
        <p:spPr>
          <a:xfrm>
            <a:off x="467544" y="1700808"/>
            <a:ext cx="8295456" cy="5658048"/>
          </a:xfrm>
        </p:spPr>
        <p:txBody>
          <a:bodyPr>
            <a:normAutofit/>
          </a:bodyPr>
          <a:lstStyle/>
          <a:p>
            <a:pPr lvl="1"/>
            <a:endParaRPr lang="en-US" altLang="zh-CN" sz="2100" dirty="0"/>
          </a:p>
          <a:p>
            <a:pPr lvl="1"/>
            <a:endParaRPr lang="en-US" altLang="zh-CN" sz="2100" dirty="0"/>
          </a:p>
          <a:p>
            <a:pPr lvl="1"/>
            <a:endParaRPr lang="en-US" altLang="zh-CN" sz="2100" dirty="0"/>
          </a:p>
          <a:p>
            <a:pPr lvl="1"/>
            <a:endParaRPr lang="en-US" altLang="zh-CN" sz="2100" dirty="0"/>
          </a:p>
          <a:p>
            <a:pPr lvl="1"/>
            <a:endParaRPr lang="en-US" altLang="zh-CN" sz="2100" dirty="0"/>
          </a:p>
          <a:p>
            <a:pPr lvl="1"/>
            <a:endParaRPr lang="en-US" altLang="zh-CN" sz="2100" dirty="0"/>
          </a:p>
          <a:p>
            <a:pPr lvl="1"/>
            <a:endParaRPr lang="en-US" altLang="zh-CN" sz="2100" dirty="0"/>
          </a:p>
        </p:txBody>
      </p:sp>
      <p:pic>
        <p:nvPicPr>
          <p:cNvPr id="7170" name="Picture 2" descr="E:\课程\海水分析化学 本科\课件\课程图片\0.png"/>
          <p:cNvPicPr>
            <a:picLocks noChangeAspect="1" noChangeArrowheads="1"/>
          </p:cNvPicPr>
          <p:nvPr/>
        </p:nvPicPr>
        <p:blipFill>
          <a:blip r:embed="rId2" cstate="print"/>
          <a:srcRect/>
          <a:stretch>
            <a:fillRect/>
          </a:stretch>
        </p:blipFill>
        <p:spPr bwMode="auto">
          <a:xfrm>
            <a:off x="611560" y="1844824"/>
            <a:ext cx="7936384" cy="4573995"/>
          </a:xfrm>
          <a:prstGeom prst="rect">
            <a:avLst/>
          </a:prstGeom>
          <a:noFill/>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524328" y="164637"/>
            <a:ext cx="1341562" cy="1308696"/>
          </a:xfrm>
          <a:prstGeom prst="rect">
            <a:avLst/>
          </a:prstGeom>
          <a:noFill/>
          <a:ln w="9525">
            <a:noFill/>
            <a:miter lim="800000"/>
            <a:headEnd/>
            <a:tailEnd/>
          </a:ln>
        </p:spPr>
      </p:pic>
      <p:sp>
        <p:nvSpPr>
          <p:cNvPr id="6" name="TextBox 5"/>
          <p:cNvSpPr txBox="1"/>
          <p:nvPr/>
        </p:nvSpPr>
        <p:spPr>
          <a:xfrm>
            <a:off x="1259632" y="836713"/>
            <a:ext cx="5832648" cy="523220"/>
          </a:xfrm>
          <a:prstGeom prst="rect">
            <a:avLst/>
          </a:prstGeom>
          <a:noFill/>
          <a:ln w="15875">
            <a:solidFill>
              <a:schemeClr val="bg2">
                <a:lumMod val="25000"/>
              </a:schemeClr>
            </a:solidFill>
          </a:ln>
        </p:spPr>
        <p:txBody>
          <a:bodyPr wrap="square" rtlCol="0">
            <a:spAutoFit/>
          </a:bodyPr>
          <a:lstStyle/>
          <a:p>
            <a:r>
              <a:rPr lang="zh-CN" altLang="en-US" sz="2800" b="1" dirty="0">
                <a:solidFill>
                  <a:schemeClr val="bg2">
                    <a:lumMod val="25000"/>
                  </a:schemeClr>
                </a:solidFill>
                <a:latin typeface="华文新魏" panose="02010800040101010101" pitchFamily="2" charset="-122"/>
                <a:ea typeface="华文新魏" panose="02010800040101010101" pitchFamily="2" charset="-122"/>
              </a:rPr>
              <a:t>氨氮的</a:t>
            </a:r>
            <a:r>
              <a:rPr altLang="en-US" sz="2800" b="1" dirty="0" err="1">
                <a:solidFill>
                  <a:schemeClr val="bg2">
                    <a:lumMod val="25000"/>
                  </a:schemeClr>
                </a:solidFill>
                <a:latin typeface="华文新魏" panose="02010800040101010101" pitchFamily="2" charset="-122"/>
                <a:ea typeface="华文新魏" panose="02010800040101010101" pitchFamily="2" charset="-122"/>
              </a:rPr>
              <a:t>测定方法</a:t>
            </a:r>
            <a:endParaRPr lang="zh-CN" altLang="en-US" sz="28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sp>
        <p:nvSpPr>
          <p:cNvPr id="8" name="内容占位符 7"/>
          <p:cNvSpPr>
            <a:spLocks noGrp="1"/>
          </p:cNvSpPr>
          <p:nvPr>
            <p:ph sz="quarter" idx="13"/>
          </p:nvPr>
        </p:nvSpPr>
        <p:spPr>
          <a:xfrm>
            <a:off x="467544" y="1700808"/>
            <a:ext cx="8295456" cy="5658048"/>
          </a:xfrm>
        </p:spPr>
        <p:txBody>
          <a:bodyPr>
            <a:normAutofit/>
          </a:bodyPr>
          <a:lstStyle/>
          <a:p>
            <a:pPr lvl="1"/>
            <a:endParaRPr lang="en-US" altLang="zh-CN" sz="2100" dirty="0"/>
          </a:p>
          <a:p>
            <a:pPr lvl="1"/>
            <a:endParaRPr lang="en-US" altLang="zh-CN" sz="2100" dirty="0"/>
          </a:p>
          <a:p>
            <a:pPr lvl="1"/>
            <a:endParaRPr lang="en-US" altLang="zh-CN" sz="2100" dirty="0"/>
          </a:p>
          <a:p>
            <a:pPr lvl="1"/>
            <a:endParaRPr lang="en-US" altLang="zh-CN" sz="2100" dirty="0"/>
          </a:p>
          <a:p>
            <a:pPr lvl="1"/>
            <a:endParaRPr lang="en-US" altLang="zh-CN" sz="2100" dirty="0"/>
          </a:p>
          <a:p>
            <a:pPr lvl="1"/>
            <a:endParaRPr lang="en-US" altLang="zh-CN" sz="2100" dirty="0"/>
          </a:p>
          <a:p>
            <a:pPr lvl="1"/>
            <a:endParaRPr lang="en-US" altLang="zh-CN" sz="2100" dirty="0"/>
          </a:p>
        </p:txBody>
      </p:sp>
      <p:pic>
        <p:nvPicPr>
          <p:cNvPr id="8194" name="Picture 2" descr="E:\课程\海水分析化学 本科\课件\课程图片\0.png"/>
          <p:cNvPicPr>
            <a:picLocks noChangeAspect="1" noChangeArrowheads="1"/>
          </p:cNvPicPr>
          <p:nvPr/>
        </p:nvPicPr>
        <p:blipFill>
          <a:blip r:embed="rId2" cstate="print"/>
          <a:srcRect/>
          <a:stretch>
            <a:fillRect/>
          </a:stretch>
        </p:blipFill>
        <p:spPr bwMode="auto">
          <a:xfrm>
            <a:off x="395536" y="1700808"/>
            <a:ext cx="7619901" cy="5014580"/>
          </a:xfrm>
          <a:prstGeom prst="rect">
            <a:avLst/>
          </a:prstGeom>
          <a:noFill/>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524328" y="164637"/>
            <a:ext cx="1341562" cy="1308696"/>
          </a:xfrm>
          <a:prstGeom prst="rect">
            <a:avLst/>
          </a:prstGeom>
          <a:noFill/>
          <a:ln w="9525">
            <a:noFill/>
            <a:miter lim="800000"/>
            <a:headEnd/>
            <a:tailEnd/>
          </a:ln>
        </p:spPr>
      </p:pic>
      <p:sp>
        <p:nvSpPr>
          <p:cNvPr id="6" name="TextBox 5"/>
          <p:cNvSpPr txBox="1"/>
          <p:nvPr/>
        </p:nvSpPr>
        <p:spPr>
          <a:xfrm>
            <a:off x="1259632" y="836713"/>
            <a:ext cx="5832648" cy="523220"/>
          </a:xfrm>
          <a:prstGeom prst="rect">
            <a:avLst/>
          </a:prstGeom>
          <a:noFill/>
          <a:ln w="15875">
            <a:solidFill>
              <a:schemeClr val="bg2">
                <a:lumMod val="25000"/>
              </a:schemeClr>
            </a:solidFill>
          </a:ln>
        </p:spPr>
        <p:txBody>
          <a:bodyPr wrap="square" rtlCol="0">
            <a:spAutoFit/>
          </a:bodyPr>
          <a:lstStyle/>
          <a:p>
            <a:r>
              <a:rPr lang="zh-CN" altLang="en-US" sz="2800" b="1" dirty="0">
                <a:solidFill>
                  <a:schemeClr val="bg2">
                    <a:lumMod val="25000"/>
                  </a:schemeClr>
                </a:solidFill>
                <a:latin typeface="华文新魏" panose="02010800040101010101" pitchFamily="2" charset="-122"/>
                <a:ea typeface="华文新魏" panose="02010800040101010101" pitchFamily="2" charset="-122"/>
              </a:rPr>
              <a:t>氨氮的</a:t>
            </a:r>
            <a:r>
              <a:rPr altLang="en-US" sz="2800" b="1" dirty="0" err="1">
                <a:solidFill>
                  <a:schemeClr val="bg2">
                    <a:lumMod val="25000"/>
                  </a:schemeClr>
                </a:solidFill>
                <a:latin typeface="华文新魏" panose="02010800040101010101" pitchFamily="2" charset="-122"/>
                <a:ea typeface="华文新魏" panose="02010800040101010101" pitchFamily="2" charset="-122"/>
              </a:rPr>
              <a:t>测定方法</a:t>
            </a:r>
            <a:endParaRPr lang="zh-CN" altLang="en-US" sz="28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sp>
        <p:nvSpPr>
          <p:cNvPr id="8" name="内容占位符 7"/>
          <p:cNvSpPr>
            <a:spLocks noGrp="1"/>
          </p:cNvSpPr>
          <p:nvPr>
            <p:ph sz="quarter" idx="13"/>
          </p:nvPr>
        </p:nvSpPr>
        <p:spPr>
          <a:xfrm>
            <a:off x="467544" y="1700808"/>
            <a:ext cx="8295456" cy="5658048"/>
          </a:xfrm>
        </p:spPr>
        <p:txBody>
          <a:bodyPr>
            <a:normAutofit/>
          </a:bodyPr>
          <a:lstStyle/>
          <a:p>
            <a:r>
              <a:rPr lang="zh-CN" altLang="en-US" sz="2400" dirty="0"/>
              <a:t>分光光度法</a:t>
            </a:r>
            <a:endParaRPr lang="en-US" altLang="zh-CN" sz="2400" dirty="0"/>
          </a:p>
          <a:p>
            <a:pPr lvl="1"/>
            <a:r>
              <a:rPr lang="zh-CN" altLang="en-US" sz="2100" dirty="0"/>
              <a:t>次氯酸钠和次溴酸钠氧化法</a:t>
            </a:r>
            <a:endParaRPr lang="en-US" altLang="zh-CN" sz="2100" dirty="0"/>
          </a:p>
          <a:p>
            <a:pPr lvl="1"/>
            <a:endParaRPr lang="en-US" altLang="zh-CN" sz="2100" dirty="0"/>
          </a:p>
          <a:p>
            <a:pPr lvl="1"/>
            <a:endParaRPr lang="en-US" altLang="zh-CN" sz="2100" dirty="0"/>
          </a:p>
          <a:p>
            <a:pPr lvl="1"/>
            <a:endParaRPr lang="en-US" altLang="zh-CN" sz="2100" dirty="0"/>
          </a:p>
          <a:p>
            <a:pPr lvl="1"/>
            <a:endParaRPr lang="en-US" altLang="zh-CN" sz="2100" dirty="0"/>
          </a:p>
          <a:p>
            <a:pPr lvl="1"/>
            <a:endParaRPr lang="en-US" altLang="zh-CN" sz="2100" dirty="0"/>
          </a:p>
          <a:p>
            <a:pPr lvl="1"/>
            <a:endParaRPr lang="en-US" altLang="zh-CN" sz="2100" dirty="0"/>
          </a:p>
          <a:p>
            <a:pPr lvl="1"/>
            <a:endParaRPr lang="en-US" altLang="zh-CN" sz="2100" dirty="0"/>
          </a:p>
        </p:txBody>
      </p:sp>
      <p:pic>
        <p:nvPicPr>
          <p:cNvPr id="5122" name="Picture 2" descr="E:\课程\海水分析化学 本科\课件\课程图片\0.png"/>
          <p:cNvPicPr>
            <a:picLocks noChangeAspect="1" noChangeArrowheads="1"/>
          </p:cNvPicPr>
          <p:nvPr/>
        </p:nvPicPr>
        <p:blipFill>
          <a:blip r:embed="rId2" cstate="print"/>
          <a:srcRect/>
          <a:stretch>
            <a:fillRect/>
          </a:stretch>
        </p:blipFill>
        <p:spPr bwMode="auto">
          <a:xfrm>
            <a:off x="539552" y="2636912"/>
            <a:ext cx="6985700" cy="3528392"/>
          </a:xfrm>
          <a:prstGeom prst="rect">
            <a:avLst/>
          </a:prstGeom>
          <a:noFill/>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524328" y="164637"/>
            <a:ext cx="1341562" cy="1308696"/>
          </a:xfrm>
          <a:prstGeom prst="rect">
            <a:avLst/>
          </a:prstGeom>
          <a:noFill/>
          <a:ln w="9525">
            <a:noFill/>
            <a:miter lim="800000"/>
            <a:headEnd/>
            <a:tailEnd/>
          </a:ln>
        </p:spPr>
      </p:pic>
      <p:sp>
        <p:nvSpPr>
          <p:cNvPr id="6" name="TextBox 5"/>
          <p:cNvSpPr txBox="1"/>
          <p:nvPr/>
        </p:nvSpPr>
        <p:spPr>
          <a:xfrm>
            <a:off x="1259632" y="836713"/>
            <a:ext cx="5832648" cy="523220"/>
          </a:xfrm>
          <a:prstGeom prst="rect">
            <a:avLst/>
          </a:prstGeom>
          <a:noFill/>
          <a:ln w="15875">
            <a:solidFill>
              <a:schemeClr val="bg2">
                <a:lumMod val="25000"/>
              </a:schemeClr>
            </a:solidFill>
          </a:ln>
        </p:spPr>
        <p:txBody>
          <a:bodyPr wrap="square" rtlCol="0">
            <a:spAutoFit/>
          </a:bodyPr>
          <a:lstStyle/>
          <a:p>
            <a:r>
              <a:rPr lang="zh-CN" altLang="en-US" sz="2800" b="1" dirty="0">
                <a:solidFill>
                  <a:schemeClr val="bg2">
                    <a:lumMod val="25000"/>
                  </a:schemeClr>
                </a:solidFill>
                <a:latin typeface="华文新魏" panose="02010800040101010101" pitchFamily="2" charset="-122"/>
                <a:ea typeface="华文新魏" panose="02010800040101010101" pitchFamily="2" charset="-122"/>
              </a:rPr>
              <a:t>氨氮的</a:t>
            </a:r>
            <a:r>
              <a:rPr altLang="en-US" sz="2800" b="1" dirty="0" err="1">
                <a:solidFill>
                  <a:schemeClr val="bg2">
                    <a:lumMod val="25000"/>
                  </a:schemeClr>
                </a:solidFill>
                <a:latin typeface="华文新魏" panose="02010800040101010101" pitchFamily="2" charset="-122"/>
                <a:ea typeface="华文新魏" panose="02010800040101010101" pitchFamily="2" charset="-122"/>
              </a:rPr>
              <a:t>测定方法</a:t>
            </a:r>
            <a:endParaRPr lang="zh-CN" altLang="en-US" sz="28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sp>
        <p:nvSpPr>
          <p:cNvPr id="8" name="内容占位符 7"/>
          <p:cNvSpPr>
            <a:spLocks noGrp="1"/>
          </p:cNvSpPr>
          <p:nvPr>
            <p:ph sz="quarter" idx="13"/>
          </p:nvPr>
        </p:nvSpPr>
        <p:spPr>
          <a:xfrm>
            <a:off x="467544" y="1700808"/>
            <a:ext cx="8295456" cy="720080"/>
          </a:xfrm>
        </p:spPr>
        <p:txBody>
          <a:bodyPr>
            <a:normAutofit/>
          </a:bodyPr>
          <a:lstStyle/>
          <a:p>
            <a:r>
              <a:rPr lang="zh-CN" altLang="en-US" sz="2400" dirty="0"/>
              <a:t>离子选择性电极</a:t>
            </a:r>
            <a:endParaRPr lang="en-US" altLang="zh-CN" sz="2400" dirty="0"/>
          </a:p>
          <a:p>
            <a:pPr lvl="1"/>
            <a:endParaRPr lang="en-US" altLang="zh-CN" sz="2100" dirty="0"/>
          </a:p>
          <a:p>
            <a:pPr lvl="1"/>
            <a:endParaRPr lang="en-US" altLang="zh-CN" sz="2100" dirty="0"/>
          </a:p>
          <a:p>
            <a:pPr lvl="1"/>
            <a:endParaRPr lang="en-US" altLang="zh-CN" sz="2100" dirty="0"/>
          </a:p>
          <a:p>
            <a:pPr lvl="1"/>
            <a:endParaRPr lang="en-US" altLang="zh-CN" sz="2100" dirty="0"/>
          </a:p>
          <a:p>
            <a:pPr lvl="1"/>
            <a:endParaRPr lang="en-US" altLang="zh-CN" sz="2100" dirty="0"/>
          </a:p>
          <a:p>
            <a:pPr lvl="1"/>
            <a:endParaRPr lang="en-US" altLang="zh-CN" sz="2100" dirty="0"/>
          </a:p>
          <a:p>
            <a:pPr lvl="1"/>
            <a:endParaRPr lang="en-US" altLang="zh-CN" sz="2100" dirty="0"/>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9091" y="2067301"/>
            <a:ext cx="8113909" cy="4405989"/>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467544" y="0"/>
            <a:ext cx="8352928" cy="836712"/>
          </a:xfrm>
          <a:prstGeom prst="rect">
            <a:avLst/>
          </a:prstGeom>
          <a:solidFill>
            <a:schemeClr val="accent1"/>
          </a:solidFill>
        </p:spPr>
        <p:txBody>
          <a:bodyPr vert="horz" anchor="b">
            <a:normAutofit fontScale="97500"/>
          </a:bodyPr>
          <a:lstStyle/>
          <a:p>
            <a:pPr lvl="0">
              <a:spcBef>
                <a:spcPct val="0"/>
              </a:spcBef>
              <a:defRPr/>
            </a:pPr>
            <a:r>
              <a:rPr lang="zh-CN" altLang="en-US" sz="4000" b="1" dirty="0">
                <a:solidFill>
                  <a:schemeClr val="bg2"/>
                </a:solidFill>
              </a:rPr>
              <a:t>第九章 海水中氮元素的测定</a:t>
            </a:r>
            <a:endParaRPr kumimoji="0" lang="zh-CN" altLang="en-US" sz="4000" b="1" i="0" u="none" strike="noStrike" kern="1200" cap="none" spc="0" normalizeH="0" baseline="0" noProof="0" dirty="0">
              <a:ln>
                <a:noFill/>
              </a:ln>
              <a:solidFill>
                <a:schemeClr val="bg2"/>
              </a:solidFill>
              <a:effectLst/>
              <a:uLnTx/>
              <a:uFillTx/>
              <a:latin typeface="+mj-lt"/>
              <a:ea typeface="+mj-ea"/>
              <a:cs typeface="+mj-cs"/>
            </a:endParaRPr>
          </a:p>
        </p:txBody>
      </p:sp>
      <p:pic>
        <p:nvPicPr>
          <p:cNvPr id="4" name="图片 5" descr="logo.jpg"/>
          <p:cNvPicPr>
            <a:picLocks noChangeAspect="1"/>
          </p:cNvPicPr>
          <p:nvPr/>
        </p:nvPicPr>
        <p:blipFill>
          <a:blip r:embed="rId1" cstate="print"/>
          <a:srcRect l="26245" t="34250" r="32184" b="36349"/>
          <a:stretch>
            <a:fillRect/>
          </a:stretch>
        </p:blipFill>
        <p:spPr bwMode="auto">
          <a:xfrm>
            <a:off x="7524328" y="164637"/>
            <a:ext cx="1341562" cy="1308696"/>
          </a:xfrm>
          <a:prstGeom prst="rect">
            <a:avLst/>
          </a:prstGeom>
          <a:noFill/>
          <a:ln w="9525">
            <a:noFill/>
            <a:miter lim="800000"/>
            <a:headEnd/>
            <a:tailEnd/>
          </a:ln>
        </p:spPr>
      </p:pic>
      <p:sp>
        <p:nvSpPr>
          <p:cNvPr id="6" name="TextBox 5"/>
          <p:cNvSpPr txBox="1"/>
          <p:nvPr/>
        </p:nvSpPr>
        <p:spPr>
          <a:xfrm>
            <a:off x="1259632" y="836713"/>
            <a:ext cx="5832648" cy="523220"/>
          </a:xfrm>
          <a:prstGeom prst="rect">
            <a:avLst/>
          </a:prstGeom>
          <a:noFill/>
          <a:ln w="15875">
            <a:solidFill>
              <a:schemeClr val="bg2">
                <a:lumMod val="25000"/>
              </a:schemeClr>
            </a:solidFill>
          </a:ln>
        </p:spPr>
        <p:txBody>
          <a:bodyPr wrap="square" rtlCol="0">
            <a:spAutoFit/>
          </a:bodyPr>
          <a:lstStyle/>
          <a:p>
            <a:r>
              <a:rPr lang="zh-CN" altLang="en-US" sz="2800" b="1" dirty="0">
                <a:solidFill>
                  <a:schemeClr val="bg2">
                    <a:lumMod val="25000"/>
                  </a:schemeClr>
                </a:solidFill>
                <a:latin typeface="华文新魏" panose="02010800040101010101" pitchFamily="2" charset="-122"/>
                <a:ea typeface="华文新魏" panose="02010800040101010101" pitchFamily="2" charset="-122"/>
              </a:rPr>
              <a:t>氨氮的</a:t>
            </a:r>
            <a:r>
              <a:rPr altLang="en-US" sz="2800" b="1" dirty="0" err="1">
                <a:solidFill>
                  <a:schemeClr val="bg2">
                    <a:lumMod val="25000"/>
                  </a:schemeClr>
                </a:solidFill>
                <a:latin typeface="华文新魏" panose="02010800040101010101" pitchFamily="2" charset="-122"/>
                <a:ea typeface="华文新魏" panose="02010800040101010101" pitchFamily="2" charset="-122"/>
              </a:rPr>
              <a:t>测定方法</a:t>
            </a:r>
            <a:endParaRPr lang="zh-CN" altLang="en-US" sz="2800" b="1" dirty="0">
              <a:solidFill>
                <a:schemeClr val="bg2">
                  <a:lumMod val="25000"/>
                </a:schemeClr>
              </a:solidFill>
              <a:latin typeface="华文新魏" panose="02010800040101010101" pitchFamily="2" charset="-122"/>
              <a:ea typeface="华文新魏" panose="02010800040101010101" pitchFamily="2" charset="-122"/>
            </a:endParaRPr>
          </a:p>
        </p:txBody>
      </p:sp>
      <p:sp>
        <p:nvSpPr>
          <p:cNvPr id="5" name="TextBox 6"/>
          <p:cNvSpPr txBox="1">
            <a:spLocks noChangeArrowheads="1"/>
          </p:cNvSpPr>
          <p:nvPr/>
        </p:nvSpPr>
        <p:spPr bwMode="auto">
          <a:xfrm>
            <a:off x="7524328" y="6242464"/>
            <a:ext cx="1491086" cy="461653"/>
          </a:xfrm>
          <a:prstGeom prst="rect">
            <a:avLst/>
          </a:prstGeom>
          <a:noFill/>
          <a:ln w="9525">
            <a:noFill/>
            <a:miter lim="800000"/>
          </a:ln>
        </p:spPr>
        <p:txBody>
          <a:bodyPr wrap="none" lIns="91426" tIns="45714" rIns="91426" bIns="45714">
            <a:spAutoFit/>
          </a:bodyPr>
          <a:lstStyle/>
          <a:p>
            <a:r>
              <a:rPr lang="zh-CN" altLang="en-US" sz="2400" dirty="0">
                <a:solidFill>
                  <a:srgbClr val="00B0F0"/>
                </a:solidFill>
                <a:latin typeface="华文行楷" panose="02010800040101010101" pitchFamily="2" charset="-122"/>
                <a:ea typeface="华文行楷" panose="02010800040101010101" pitchFamily="2" charset="-122"/>
              </a:rPr>
              <a:t>宽厚 跨越</a:t>
            </a:r>
            <a:endParaRPr lang="zh-CN" altLang="en-US" sz="2400" dirty="0">
              <a:solidFill>
                <a:srgbClr val="00B0F0"/>
              </a:solidFill>
              <a:latin typeface="华文行楷" panose="02010800040101010101" pitchFamily="2" charset="-122"/>
              <a:ea typeface="华文行楷" panose="02010800040101010101" pitchFamily="2" charset="-122"/>
            </a:endParaRPr>
          </a:p>
        </p:txBody>
      </p:sp>
      <p:sp>
        <p:nvSpPr>
          <p:cNvPr id="8" name="内容占位符 7"/>
          <p:cNvSpPr>
            <a:spLocks noGrp="1"/>
          </p:cNvSpPr>
          <p:nvPr>
            <p:ph sz="quarter" idx="13"/>
          </p:nvPr>
        </p:nvSpPr>
        <p:spPr>
          <a:xfrm>
            <a:off x="467544" y="1700808"/>
            <a:ext cx="8295456" cy="720080"/>
          </a:xfrm>
        </p:spPr>
        <p:txBody>
          <a:bodyPr>
            <a:normAutofit/>
          </a:bodyPr>
          <a:lstStyle/>
          <a:p>
            <a:r>
              <a:rPr lang="zh-CN" altLang="en-US" sz="2400" dirty="0"/>
              <a:t>离子选择性电极</a:t>
            </a:r>
            <a:endParaRPr lang="en-US" altLang="zh-CN" sz="2400" dirty="0"/>
          </a:p>
          <a:p>
            <a:pPr lvl="1"/>
            <a:endParaRPr lang="en-US" altLang="zh-CN" sz="2100" dirty="0"/>
          </a:p>
          <a:p>
            <a:pPr lvl="1"/>
            <a:endParaRPr lang="en-US" altLang="zh-CN" sz="2100" dirty="0"/>
          </a:p>
          <a:p>
            <a:pPr lvl="1"/>
            <a:endParaRPr lang="en-US" altLang="zh-CN" sz="2100" dirty="0"/>
          </a:p>
          <a:p>
            <a:pPr lvl="1"/>
            <a:endParaRPr lang="en-US" altLang="zh-CN" sz="2100" dirty="0"/>
          </a:p>
          <a:p>
            <a:pPr lvl="1"/>
            <a:endParaRPr lang="en-US" altLang="zh-CN" sz="2100" dirty="0"/>
          </a:p>
          <a:p>
            <a:pPr lvl="1"/>
            <a:endParaRPr lang="en-US" altLang="zh-CN" sz="2100" dirty="0"/>
          </a:p>
          <a:p>
            <a:pPr lvl="1"/>
            <a:endParaRPr lang="en-US" altLang="zh-CN" sz="2100" dirty="0"/>
          </a:p>
        </p:txBody>
      </p:sp>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159" y="2110132"/>
            <a:ext cx="8166298" cy="4653962"/>
          </a:xfrm>
          <a:prstGeom prst="rect">
            <a:avLst/>
          </a:prstGeom>
        </p:spPr>
      </p:pic>
    </p:spTree>
  </p:cSld>
  <p:clrMapOvr>
    <a:masterClrMapping/>
  </p:clrMapOvr>
</p:sld>
</file>

<file path=ppt/tags/tag1.xml><?xml version="1.0" encoding="utf-8"?>
<p:tagLst xmlns:p="http://schemas.openxmlformats.org/presentationml/2006/main">
  <p:tag name="commondata" val="eyJoZGlkIjoiNTIyODdmZjY0Zjg0ZWQ3ZmVhZDA3NDFkNTYwZGEwNjYifQ=="/>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idescreenPresentation">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shade val="45000"/>
                <a:satMod val="150000"/>
              </a:schemeClr>
            </a:gs>
            <a:gs pos="35000">
              <a:schemeClr val="phClr">
                <a:shade val="60000"/>
                <a:satMod val="150000"/>
              </a:schemeClr>
            </a:gs>
            <a:gs pos="100000">
              <a:schemeClr val="phClr">
                <a:tint val="97000"/>
                <a:satMod val="200000"/>
              </a:schemeClr>
            </a:gs>
          </a:gsLst>
          <a:lin ang="16200000" scaled="1"/>
        </a:gra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WidescreenPresentation</Template>
  <TotalTime>0</TotalTime>
  <Words>5872</Words>
  <Application>WPS 演示</Application>
  <PresentationFormat>全屏显示(4:3)</PresentationFormat>
  <Paragraphs>752</Paragraphs>
  <Slides>57</Slides>
  <Notes>6</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57</vt:i4>
      </vt:variant>
    </vt:vector>
  </HeadingPairs>
  <TitlesOfParts>
    <vt:vector size="75" baseType="lpstr">
      <vt:lpstr>Arial</vt:lpstr>
      <vt:lpstr>宋体</vt:lpstr>
      <vt:lpstr>Wingdings</vt:lpstr>
      <vt:lpstr>Wingdings</vt:lpstr>
      <vt:lpstr>Wingdings 2</vt:lpstr>
      <vt:lpstr>Adobe 黑体 Std R</vt:lpstr>
      <vt:lpstr>黑体</vt:lpstr>
      <vt:lpstr>华文行楷</vt:lpstr>
      <vt:lpstr>华文新魏</vt:lpstr>
      <vt:lpstr>微软雅黑</vt:lpstr>
      <vt:lpstr>Times New Roman</vt:lpstr>
      <vt:lpstr>Tw Cen MT</vt:lpstr>
      <vt:lpstr>华文仿宋</vt:lpstr>
      <vt:lpstr>Arial Unicode MS</vt:lpstr>
      <vt:lpstr>Calibri</vt:lpstr>
      <vt:lpstr>Arial Unicode MS</vt:lpstr>
      <vt:lpstr>华文楷体</vt:lpstr>
      <vt:lpstr>WidescreenPresentation</vt:lpstr>
      <vt:lpstr>第六章 海水中氮元素的测定</vt:lpstr>
      <vt:lpstr>第六章 海水中氮元素的测定</vt:lpstr>
      <vt:lpstr>第六章 海水中氮元素的测定</vt:lpstr>
      <vt:lpstr>PowerPoint 演示文稿</vt:lpstr>
      <vt:lpstr>PowerPoint 演示文稿</vt:lpstr>
      <vt:lpstr>PowerPoint 演示文稿</vt:lpstr>
      <vt:lpstr>PowerPoint 演示文稿</vt:lpstr>
      <vt:lpstr>PowerPoint 演示文稿</vt:lpstr>
      <vt:lpstr>第六章 海水中氮元素的测定</vt:lpstr>
      <vt:lpstr>海水中的亚硝酸盐分布特点</vt:lpstr>
      <vt:lpstr>PowerPoint 演示文稿</vt:lpstr>
      <vt:lpstr>PowerPoint 演示文稿</vt:lpstr>
      <vt:lpstr>紫外吸收光谱的原理</vt:lpstr>
      <vt:lpstr>紫外吸收光谱的原理</vt:lpstr>
      <vt:lpstr>紫外吸收光谱的原理</vt:lpstr>
      <vt:lpstr>PowerPoint 演示文稿</vt:lpstr>
      <vt:lpstr>PowerPoint 演示文稿</vt:lpstr>
      <vt:lpstr>PowerPoint 演示文稿</vt:lpstr>
      <vt:lpstr>PowerPoint 演示文稿</vt:lpstr>
      <vt:lpstr>第九章 海水中氮元素的测定</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盐效应</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柯泓宇</cp:lastModifiedBy>
  <cp:revision>2</cp:revision>
  <dcterms:created xsi:type="dcterms:W3CDTF">2013-08-15T08:06:00Z</dcterms:created>
  <dcterms:modified xsi:type="dcterms:W3CDTF">2025-01-07T12:35:37Z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LCID">
    <vt:i4>2052</vt:i4>
  </property>
  <property fmtid="{D5CDD505-2E9C-101B-9397-08002B2CF9AE}" pid="3" name="_Version">
    <vt:lpwstr>12.0.4518</vt:lpwstr>
  </property>
  <property fmtid="{D5CDD505-2E9C-101B-9397-08002B2CF9AE}" pid="4" name="ICV">
    <vt:lpwstr>CF3B5E29D58D48058EAFB6D49A09156C_12</vt:lpwstr>
  </property>
  <property fmtid="{D5CDD505-2E9C-101B-9397-08002B2CF9AE}" pid="5" name="KSOProductBuildVer">
    <vt:lpwstr>2052-12.1.0.18276</vt:lpwstr>
  </property>
</Properties>
</file>