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54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268" r:id="rId2"/>
    <p:sldId id="571" r:id="rId3"/>
    <p:sldId id="612" r:id="rId4"/>
    <p:sldId id="613" r:id="rId5"/>
    <p:sldId id="614" r:id="rId6"/>
    <p:sldId id="593" r:id="rId7"/>
    <p:sldId id="592" r:id="rId8"/>
    <p:sldId id="624" r:id="rId9"/>
    <p:sldId id="620" r:id="rId10"/>
    <p:sldId id="595" r:id="rId11"/>
    <p:sldId id="591" r:id="rId12"/>
    <p:sldId id="616" r:id="rId13"/>
    <p:sldId id="617" r:id="rId14"/>
    <p:sldId id="618" r:id="rId15"/>
    <p:sldId id="619" r:id="rId16"/>
    <p:sldId id="596" r:id="rId17"/>
    <p:sldId id="597" r:id="rId18"/>
    <p:sldId id="621" r:id="rId19"/>
    <p:sldId id="598" r:id="rId20"/>
    <p:sldId id="599" r:id="rId21"/>
    <p:sldId id="600" r:id="rId22"/>
    <p:sldId id="601" r:id="rId23"/>
    <p:sldId id="602" r:id="rId24"/>
    <p:sldId id="603" r:id="rId25"/>
    <p:sldId id="611" r:id="rId26"/>
    <p:sldId id="555" r:id="rId27"/>
    <p:sldId id="625" r:id="rId28"/>
    <p:sldId id="604" r:id="rId29"/>
    <p:sldId id="605" r:id="rId30"/>
    <p:sldId id="606" r:id="rId31"/>
    <p:sldId id="607" r:id="rId32"/>
    <p:sldId id="608" r:id="rId33"/>
    <p:sldId id="626" r:id="rId34"/>
    <p:sldId id="610" r:id="rId35"/>
    <p:sldId id="627" r:id="rId36"/>
    <p:sldId id="623" r:id="rId37"/>
    <p:sldId id="609" r:id="rId38"/>
    <p:sldId id="622" r:id="rId39"/>
    <p:sldId id="628" r:id="rId4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4" autoAdjust="0"/>
    <p:restoredTop sz="94477" autoAdjust="0"/>
  </p:normalViewPr>
  <p:slideViewPr>
    <p:cSldViewPr>
      <p:cViewPr varScale="1">
        <p:scale>
          <a:sx n="104" d="100"/>
          <a:sy n="104" d="100"/>
        </p:scale>
        <p:origin x="163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4C2AD-C9B0-406F-8123-A0E121BD4683}" type="datetimeFigureOut">
              <a:rPr lang="zh-CN" altLang="en-US" smtClean="0"/>
              <a:pPr/>
              <a:t>2022/11/7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5C9DF-7B2A-45F8-A4B2-C2901DB614D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66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n-US" altLang="zh-CN" smtClean="0"/>
              <a:pPr/>
              <a:t>1</a:t>
            </a:fld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4D163F-C9B0-4A35-98DC-3A4DEFF7EC3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955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  <a:ea typeface="黑体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+mj-lt"/>
              </a:defRPr>
            </a:lvl1pPr>
            <a:lvl2pPr>
              <a:defRPr sz="24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7D8075-E72B-4BF6-9481-6760148A8FB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19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7C1C9-6B1A-4E8D-80D9-1F406FED743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524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21727-E14B-4214-A96B-5D5149B9EBF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90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1E3A4-CA4C-4B0F-B7EE-93652856C6C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03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ECA82-AB81-42B0-A316-04B221EF0FF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880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1B4E-1D51-4764-BB26-0A928DDC693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309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AD128-FF11-46E7-83AD-EE5A40B3154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871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050332-BC1C-4A8B-973F-88E43E2277C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07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17FBC4-3B96-4753-85AE-096B9B71EBC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84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F8586-B1A6-49E8-9A88-F7855FBD37B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47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E0FACD-AE8A-4C16-8A1E-FCBCB8577A05}" type="slidenum">
              <a:rPr lang="en-US" altLang="zh-CN">
                <a:solidFill>
                  <a:srgbClr val="000000"/>
                </a:solidFill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7" name="图片 6" descr="院标-圆形图案 无背景.png"/>
          <p:cNvPicPr>
            <a:picLocks noChangeAspect="1"/>
          </p:cNvPicPr>
          <p:nvPr userDrawn="1"/>
        </p:nvPicPr>
        <p:blipFill>
          <a:blip r:embed="rId14" cstate="print"/>
          <a:srcRect l="10812" t="7462" r="8098" b="13504"/>
          <a:stretch>
            <a:fillRect/>
          </a:stretch>
        </p:blipFill>
        <p:spPr>
          <a:xfrm>
            <a:off x="149675" y="188640"/>
            <a:ext cx="1181965" cy="1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89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body" idx="1"/>
          </p:nvPr>
        </p:nvSpPr>
        <p:spPr>
          <a:xfrm>
            <a:off x="1214414" y="3643314"/>
            <a:ext cx="7123113" cy="1673225"/>
          </a:xfrm>
        </p:spPr>
        <p:txBody>
          <a:bodyPr>
            <a:noAutofit/>
          </a:bodyPr>
          <a:lstStyle/>
          <a:p>
            <a:pPr algn="ctr"/>
            <a:r>
              <a:rPr lang="zh-CN" altLang="en-US" sz="2000" dirty="0">
                <a:latin typeface="Adobe 黑体 Std R" pitchFamily="34" charset="-122"/>
                <a:ea typeface="Adobe 黑体 Std R" pitchFamily="34" charset="-122"/>
              </a:rPr>
              <a:t>潘依雯</a:t>
            </a:r>
            <a:endParaRPr lang="en-US" altLang="zh-CN" sz="2000" dirty="0">
              <a:latin typeface="Adobe 黑体 Std R" pitchFamily="34" charset="-122"/>
              <a:ea typeface="Adobe 黑体 Std R" pitchFamily="34" charset="-122"/>
            </a:endParaRPr>
          </a:p>
          <a:p>
            <a:pPr algn="ctr"/>
            <a:r>
              <a:rPr lang="zh-CN" altLang="en-US" sz="2000" dirty="0">
                <a:latin typeface="Adobe 黑体 Std R" pitchFamily="34" charset="-122"/>
                <a:ea typeface="Adobe 黑体 Std R" pitchFamily="34" charset="-122"/>
              </a:rPr>
              <a:t>海洋学院</a:t>
            </a:r>
            <a:r>
              <a:rPr lang="zh-CN" altLang="en-US" dirty="0">
                <a:latin typeface="Adobe 黑体 Std R" pitchFamily="34" charset="-122"/>
                <a:ea typeface="Adobe 黑体 Std R" pitchFamily="34" charset="-122"/>
              </a:rPr>
              <a:t>海洋化学与环境所</a:t>
            </a:r>
            <a:endParaRPr lang="en-US" altLang="zh-CN" sz="2000" dirty="0">
              <a:latin typeface="Adobe 黑体 Std R" pitchFamily="34" charset="-122"/>
              <a:ea typeface="Adobe 黑体 Std R" pitchFamily="34" charset="-122"/>
            </a:endParaRPr>
          </a:p>
          <a:p>
            <a:pPr algn="ctr"/>
            <a:r>
              <a:rPr lang="zh-CN" altLang="en-US" sz="2000" dirty="0"/>
              <a:t>海科楼</a:t>
            </a:r>
            <a:r>
              <a:rPr lang="en-US" altLang="zh-CN" sz="2000" dirty="0"/>
              <a:t>319</a:t>
            </a:r>
            <a:r>
              <a:rPr lang="zh-CN" altLang="en-US" sz="2000" dirty="0"/>
              <a:t>，</a:t>
            </a:r>
            <a:r>
              <a:rPr lang="en-US" altLang="zh-CN" sz="2000" dirty="0"/>
              <a:t>Email: evelynpan@zju.edu.cn</a:t>
            </a:r>
            <a:endParaRPr lang="zh-CN" sz="2000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>
          <a:xfrm>
            <a:off x="1142976" y="428604"/>
            <a:ext cx="7171730" cy="179792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海水分析化学</a:t>
            </a:r>
            <a:br>
              <a:rPr lang="en-US" altLang="zh-CN" dirty="0"/>
            </a:br>
            <a:r>
              <a:rPr lang="en-US" altLang="zh-CN" sz="3600" dirty="0"/>
              <a:t>Chemistry of seawater analysis </a:t>
            </a:r>
            <a:endParaRPr lang="zh-CN" dirty="0"/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7524328" y="6021289"/>
            <a:ext cx="1491086" cy="461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26" tIns="45714" rIns="91426" bIns="45714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华文行楷" pitchFamily="2" charset="-122"/>
                <a:ea typeface="华文行楷" pitchFamily="2" charset="-122"/>
              </a:rPr>
              <a:t>宽厚 跨越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 bwMode="auto">
          <a:xfrm>
            <a:off x="1142976" y="2071678"/>
            <a:ext cx="7171730" cy="1797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zh-CN" sz="3600" b="1" i="0" u="none" strike="noStrike" kern="0" cap="all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3300" b="1" i="0" u="none" strike="noStrike" kern="0" cap="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Methods of seawater analysis </a:t>
            </a:r>
            <a:endParaRPr kumimoji="0" lang="zh-CN" sz="3600" b="1" i="0" u="none" strike="noStrike" kern="0" cap="all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/>
              <a:t>海水中的硅酸盐及硅循环的重要意义</a:t>
            </a:r>
            <a:endParaRPr lang="en-US" altLang="zh-CN" sz="2800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/>
              <a:t>海水中硅的分布</a:t>
            </a:r>
            <a:endParaRPr lang="en-US" altLang="zh-CN" sz="2800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/>
              <a:t>海水中硅酸盐的测定方法</a:t>
            </a:r>
            <a:endParaRPr lang="en-US" altLang="zh-CN" sz="2800" dirty="0"/>
          </a:p>
          <a:p>
            <a:pPr marL="1314450" lvl="2" indent="-457200">
              <a:buFont typeface="+mj-lt"/>
              <a:buAutoNum type="alphaUcPeriod"/>
            </a:pPr>
            <a:r>
              <a:rPr lang="zh-CN" altLang="en-US" sz="2400" dirty="0"/>
              <a:t>硅钼黄法</a:t>
            </a:r>
            <a:endParaRPr lang="en-US" altLang="zh-CN" sz="2400" dirty="0"/>
          </a:p>
          <a:p>
            <a:pPr marL="1314450" lvl="2" indent="-457200">
              <a:buFont typeface="+mj-lt"/>
              <a:buAutoNum type="alphaUcPeriod"/>
            </a:pPr>
            <a:r>
              <a:rPr lang="zh-CN" altLang="en-US" sz="2400" dirty="0"/>
              <a:t>硅钼蓝法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/>
              <a:t>硅酸盐和磷酸盐测量方法的对比</a:t>
            </a:r>
            <a:endParaRPr lang="en-US" altLang="zh-CN" sz="2800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/>
              <a:t>总磷、总硅的测量方法</a:t>
            </a:r>
            <a:endParaRPr lang="en-US" altLang="zh-CN" sz="2800" dirty="0"/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1357290" y="500042"/>
            <a:ext cx="7224706" cy="83671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0" cap="all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第五章 海水中</a:t>
            </a:r>
            <a:r>
              <a:rPr lang="zh-CN" altLang="en-US" sz="4000" b="1" kern="0" cap="all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硅酸盐的</a:t>
            </a:r>
            <a:r>
              <a:rPr kumimoji="0" lang="zh-CN" altLang="en-US" sz="4000" b="1" i="0" u="none" strike="noStrike" kern="0" cap="all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测定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/>
          <p:cNvSpPr>
            <a:spLocks noGrp="1" noChangeArrowheads="1"/>
          </p:cNvSpPr>
          <p:nvPr>
            <p:ph type="title"/>
          </p:nvPr>
        </p:nvSpPr>
        <p:spPr>
          <a:xfrm>
            <a:off x="179512" y="1340768"/>
            <a:ext cx="4608512" cy="576263"/>
          </a:xfrm>
          <a:noFill/>
        </p:spPr>
        <p:txBody>
          <a:bodyPr lIns="18000" rIns="18000"/>
          <a:lstStyle/>
          <a:p>
            <a:pPr marL="1066800" indent="-1066800" algn="l" eaLnBrk="1" hangingPunct="1"/>
            <a:r>
              <a:rPr lang="zh-CN" altLang="en-US" sz="3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一、硅循环的重要性</a:t>
            </a:r>
          </a:p>
        </p:txBody>
      </p:sp>
      <p:sp>
        <p:nvSpPr>
          <p:cNvPr id="86019" name="Text Box 4"/>
          <p:cNvSpPr txBox="1">
            <a:spLocks noChangeArrowheads="1"/>
          </p:cNvSpPr>
          <p:nvPr/>
        </p:nvSpPr>
        <p:spPr bwMode="auto">
          <a:xfrm>
            <a:off x="179512" y="2348880"/>
            <a:ext cx="5112568" cy="3253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tIns="10800" rIns="18000" bIns="10800">
            <a:spAutoFit/>
          </a:bodyPr>
          <a:lstStyle/>
          <a:p>
            <a:pPr marL="466725" indent="-466725">
              <a:lnSpc>
                <a:spcPct val="150000"/>
              </a:lnSpc>
              <a:spcBef>
                <a:spcPct val="0"/>
              </a:spcBef>
            </a:pPr>
            <a:r>
              <a:rPr lang="zh-CN" altLang="it-IT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对浮游生物种类组成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</a:t>
            </a:r>
            <a:r>
              <a:rPr lang="zh-CN" altLang="it-IT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影响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若</a:t>
            </a:r>
            <a:r>
              <a:rPr lang="zh-CN" altLang="it-IT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硅酸盐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比</a:t>
            </a:r>
            <a:r>
              <a:rPr lang="zh-CN" altLang="it-IT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现在低</a:t>
            </a:r>
            <a:r>
              <a:rPr lang="it-IT" altLang="zh-CN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100</a:t>
            </a:r>
            <a:r>
              <a:rPr lang="zh-CN" altLang="it-IT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倍，生产力可能维持同样水平，但很少有硅藻和放射虫，碳输出也</a:t>
            </a:r>
            <a:r>
              <a:rPr lang="zh-CN" altLang="en-US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会</a:t>
            </a:r>
            <a:r>
              <a:rPr lang="zh-CN" altLang="it-IT" sz="28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发生变化。</a:t>
            </a:r>
            <a:endParaRPr lang="zh-CN" altLang="en-US"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86020" name="Rectangle 5"/>
          <p:cNvSpPr>
            <a:spLocks noChangeArrowheads="1"/>
          </p:cNvSpPr>
          <p:nvPr/>
        </p:nvSpPr>
        <p:spPr bwMode="auto">
          <a:xfrm>
            <a:off x="1259632" y="375415"/>
            <a:ext cx="6768752" cy="519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1066800" indent="-10668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硅的生物地球化学循环</a:t>
            </a:r>
          </a:p>
        </p:txBody>
      </p:sp>
      <p:sp>
        <p:nvSpPr>
          <p:cNvPr id="86021" name="Rectangle 6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602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602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6024" name="Rectangle 11"/>
          <p:cNvSpPr>
            <a:spLocks noChangeArrowheads="1"/>
          </p:cNvSpPr>
          <p:nvPr/>
        </p:nvSpPr>
        <p:spPr bwMode="auto">
          <a:xfrm>
            <a:off x="0" y="554038"/>
            <a:ext cx="9144000" cy="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wrap="none" lIns="18000" tIns="36000" rIns="18000" bIns="10800" anchor="ctr">
            <a:spAutoFit/>
          </a:bodyPr>
          <a:lstStyle/>
          <a:p>
            <a:endParaRPr lang="zh-CN" altLang="en-US"/>
          </a:p>
        </p:txBody>
      </p:sp>
      <p:pic>
        <p:nvPicPr>
          <p:cNvPr id="86025" name="Picture 13" descr="图5-4-1"/>
          <p:cNvPicPr>
            <a:picLocks noChangeAspect="1" noChangeArrowheads="1"/>
          </p:cNvPicPr>
          <p:nvPr/>
        </p:nvPicPr>
        <p:blipFill>
          <a:blip r:embed="rId2" cstate="print"/>
          <a:srcRect l="2539" t="1514" r="8405"/>
          <a:stretch>
            <a:fillRect/>
          </a:stretch>
        </p:blipFill>
        <p:spPr bwMode="auto">
          <a:xfrm>
            <a:off x="5148063" y="1196752"/>
            <a:ext cx="3971299" cy="566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90331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4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806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806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8069" name="Rectangle 16"/>
          <p:cNvSpPr>
            <a:spLocks noChangeArrowheads="1"/>
          </p:cNvSpPr>
          <p:nvPr/>
        </p:nvSpPr>
        <p:spPr bwMode="auto">
          <a:xfrm>
            <a:off x="0" y="4695825"/>
            <a:ext cx="9144000" cy="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wrap="none" lIns="18000" tIns="36000" rIns="18000" bIns="10800" anchor="ctr">
            <a:spAutoFit/>
          </a:bodyPr>
          <a:lstStyle/>
          <a:p>
            <a:endParaRPr lang="zh-CN" altLang="en-US"/>
          </a:p>
        </p:txBody>
      </p:sp>
      <p:sp>
        <p:nvSpPr>
          <p:cNvPr id="88070" name="Rectangle 17"/>
          <p:cNvSpPr>
            <a:spLocks noChangeArrowheads="1"/>
          </p:cNvSpPr>
          <p:nvPr/>
        </p:nvSpPr>
        <p:spPr bwMode="auto">
          <a:xfrm>
            <a:off x="1475656" y="319088"/>
            <a:ext cx="5402138" cy="601662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wrap="square" lIns="18000" tIns="36000" rIns="18000" bIns="1080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6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溶解态硅的主要存在形态</a:t>
            </a:r>
          </a:p>
        </p:txBody>
      </p:sp>
      <p:sp>
        <p:nvSpPr>
          <p:cNvPr id="88071" name="Rectangle 20"/>
          <p:cNvSpPr>
            <a:spLocks noChangeArrowheads="1"/>
          </p:cNvSpPr>
          <p:nvPr/>
        </p:nvSpPr>
        <p:spPr bwMode="auto">
          <a:xfrm>
            <a:off x="0" y="1795463"/>
            <a:ext cx="9144000" cy="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wrap="none" lIns="18000" tIns="36000" rIns="18000" bIns="10800" anchor="ctr">
            <a:spAutoFit/>
          </a:bodyPr>
          <a:lstStyle/>
          <a:p>
            <a:endParaRPr lang="zh-CN" altLang="en-US"/>
          </a:p>
        </p:txBody>
      </p:sp>
      <p:pic>
        <p:nvPicPr>
          <p:cNvPr id="88072" name="Picture 2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731315"/>
            <a:ext cx="7560840" cy="3785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7">
            <a:extLst>
              <a:ext uri="{FF2B5EF4-FFF2-40B4-BE49-F238E27FC236}">
                <a16:creationId xmlns:a16="http://schemas.microsoft.com/office/drawing/2014/main" id="{B08B4B82-C25A-4DE2-9D92-9E4117F3E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261" y="1232765"/>
            <a:ext cx="4176712" cy="416589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lIns="18000" tIns="36000" rIns="18000" bIns="10800" anchor="ctr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25°C</a:t>
            </a:r>
            <a:r>
              <a:rPr lang="zh-CN" altLang="en-US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0.6 M </a:t>
            </a:r>
            <a:r>
              <a:rPr lang="en-US" altLang="zh-CN" sz="2400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NaCl</a:t>
            </a:r>
            <a:r>
              <a:rPr lang="zh-CN" altLang="en-US" sz="24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溶液：</a:t>
            </a:r>
          </a:p>
        </p:txBody>
      </p:sp>
      <p:graphicFrame>
        <p:nvGraphicFramePr>
          <p:cNvPr id="13" name="Object 22">
            <a:extLst>
              <a:ext uri="{FF2B5EF4-FFF2-40B4-BE49-F238E27FC236}">
                <a16:creationId xmlns:a16="http://schemas.microsoft.com/office/drawing/2014/main" id="{3A516A5E-BD08-447E-81FF-306EA01821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018231"/>
              </p:ext>
            </p:extLst>
          </p:nvPr>
        </p:nvGraphicFramePr>
        <p:xfrm>
          <a:off x="6122144" y="960238"/>
          <a:ext cx="15113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364" name="Equation" r:id="rId4" imgW="761669" imgH="241195" progId="Equation.DSMT4">
                  <p:embed/>
                </p:oleObj>
              </mc:Choice>
              <mc:Fallback>
                <p:oleObj name="Equation" r:id="rId4" imgW="761669" imgH="241195" progId="Equation.DSMT4">
                  <p:embed/>
                  <p:pic>
                    <p:nvPicPr>
                      <p:cNvPr id="1331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2144" y="960238"/>
                        <a:ext cx="1511300" cy="473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0983D140-263B-418B-A5F7-0AAFEB6838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533209"/>
              </p:ext>
            </p:extLst>
          </p:nvPr>
        </p:nvGraphicFramePr>
        <p:xfrm>
          <a:off x="6150489" y="1433313"/>
          <a:ext cx="16192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365" name="Equation" r:id="rId6" imgW="825500" imgH="241300" progId="Equation.DSMT4">
                  <p:embed/>
                </p:oleObj>
              </mc:Choice>
              <mc:Fallback>
                <p:oleObj name="Equation" r:id="rId6" imgW="825500" imgH="241300" progId="Equation.DSMT4">
                  <p:embed/>
                  <p:pic>
                    <p:nvPicPr>
                      <p:cNvPr id="1332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0489" y="1433313"/>
                        <a:ext cx="1619250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BE6FDE91-9AA2-46DD-876D-E53C35944E52}"/>
              </a:ext>
            </a:extLst>
          </p:cNvPr>
          <p:cNvSpPr txBox="1"/>
          <p:nvPr/>
        </p:nvSpPr>
        <p:spPr>
          <a:xfrm>
            <a:off x="978986" y="5581353"/>
            <a:ext cx="71934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/>
              <a:t>在海水的</a:t>
            </a:r>
            <a:r>
              <a:rPr lang="en-US" altLang="zh-CN" sz="2000" dirty="0"/>
              <a:t>pH</a:t>
            </a:r>
            <a:r>
              <a:rPr lang="zh-CN" altLang="en-US" sz="2000" dirty="0"/>
              <a:t>条件下，硅酸盐主要以</a:t>
            </a:r>
            <a:r>
              <a:rPr lang="en-US" altLang="zh-CN" sz="2000" dirty="0"/>
              <a:t>Si(OH)</a:t>
            </a:r>
            <a:r>
              <a:rPr lang="en-US" altLang="zh-CN" sz="2000" baseline="-25000" dirty="0"/>
              <a:t>4</a:t>
            </a:r>
            <a:r>
              <a:rPr lang="zh-CN" altLang="en-US" sz="2000" dirty="0"/>
              <a:t>形式存在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21189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404813"/>
            <a:ext cx="3528888" cy="576262"/>
          </a:xfrm>
          <a:noFill/>
        </p:spPr>
        <p:txBody>
          <a:bodyPr/>
          <a:lstStyle/>
          <a:p>
            <a:pPr marL="1066800" indent="-1066800" algn="l" eaLnBrk="1" hangingPunct="1"/>
            <a:r>
              <a:rPr lang="zh-CN" altLang="en-US" sz="36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海洋硅循环</a:t>
            </a:r>
          </a:p>
        </p:txBody>
      </p:sp>
      <p:sp>
        <p:nvSpPr>
          <p:cNvPr id="89091" name="Rectangle 4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094" name="Rectangle 16"/>
          <p:cNvSpPr>
            <a:spLocks noChangeArrowheads="1"/>
          </p:cNvSpPr>
          <p:nvPr/>
        </p:nvSpPr>
        <p:spPr bwMode="auto">
          <a:xfrm>
            <a:off x="0" y="4695825"/>
            <a:ext cx="9144000" cy="0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wrap="none" lIns="18000" tIns="36000" rIns="18000" bIns="10800" anchor="ctr">
            <a:spAutoFit/>
          </a:bodyPr>
          <a:lstStyle/>
          <a:p>
            <a:endParaRPr lang="zh-CN" altLang="en-US"/>
          </a:p>
        </p:txBody>
      </p:sp>
      <p:sp>
        <p:nvSpPr>
          <p:cNvPr id="89096" name="Rectangle 7"/>
          <p:cNvSpPr>
            <a:spLocks noChangeArrowheads="1"/>
          </p:cNvSpPr>
          <p:nvPr/>
        </p:nvSpPr>
        <p:spPr bwMode="auto">
          <a:xfrm>
            <a:off x="1187450" y="1412875"/>
            <a:ext cx="6840538" cy="477838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</p:spPr>
        <p:txBody>
          <a:bodyPr lIns="18000" tIns="36000" rIns="18000" bIns="1080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溶解态硅的收支平衡状况（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10</a:t>
            </a:r>
            <a:r>
              <a:rPr lang="en-US" altLang="zh-CN" sz="2800" baseline="300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14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gSiO</a:t>
            </a:r>
            <a:r>
              <a:rPr lang="en-US" altLang="zh-CN" sz="2800" baseline="-250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en-US" altLang="zh-CN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/a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）</a:t>
            </a:r>
          </a:p>
        </p:txBody>
      </p:sp>
      <p:graphicFrame>
        <p:nvGraphicFramePr>
          <p:cNvPr id="15" name="Group 174"/>
          <p:cNvGraphicFramePr>
            <a:graphicFrameLocks noGrp="1"/>
          </p:cNvGraphicFramePr>
          <p:nvPr/>
        </p:nvGraphicFramePr>
        <p:xfrm>
          <a:off x="251520" y="2132856"/>
          <a:ext cx="8712968" cy="4103684"/>
        </p:xfrm>
        <a:graphic>
          <a:graphicData uri="http://schemas.openxmlformats.org/drawingml/2006/table">
            <a:tbl>
              <a:tblPr/>
              <a:tblGrid>
                <a:gridCol w="3672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0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输入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迁出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7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河流输送溶解态硅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4.3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蛋白石的埋藏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10.4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7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海底热液作用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0.9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河口区的无机吸附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0.4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7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沉积物间隙水向上扩散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5.7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7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合计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10.9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黑体" pitchFamily="49" charset="-122"/>
                        <a:cs typeface="Times New Roman" pitchFamily="18" charset="0"/>
                      </a:endParaRP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49" charset="-122"/>
                          <a:cs typeface="Times New Roman" pitchFamily="18" charset="0"/>
                        </a:rPr>
                        <a:t>10.8</a:t>
                      </a:r>
                    </a:p>
                  </a:txBody>
                  <a:tcPr marL="18000" marR="18000" marT="36000" marB="10800" anchor="ctr" horzOverflow="overflow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959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第五章 海水中的硅酸盐</a:t>
            </a:r>
          </a:p>
        </p:txBody>
      </p:sp>
      <p:pic>
        <p:nvPicPr>
          <p:cNvPr id="7" name="Picture 15" descr="图5-4-3"/>
          <p:cNvPicPr>
            <a:picLocks noChangeAspect="1" noChangeArrowheads="1"/>
          </p:cNvPicPr>
          <p:nvPr/>
        </p:nvPicPr>
        <p:blipFill>
          <a:blip r:embed="rId2" cstate="print"/>
          <a:srcRect l="1685" t="5667" r="2574" b="3606"/>
          <a:stretch>
            <a:fillRect/>
          </a:stretch>
        </p:blipFill>
        <p:spPr bwMode="auto">
          <a:xfrm>
            <a:off x="500034" y="1428736"/>
            <a:ext cx="820737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22740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8808" y="181674"/>
            <a:ext cx="8229600" cy="1143000"/>
          </a:xfrm>
        </p:spPr>
        <p:txBody>
          <a:bodyPr/>
          <a:lstStyle/>
          <a:p>
            <a:r>
              <a:rPr lang="zh-CN" altLang="en-US" dirty="0"/>
              <a:t>第五章 海水中的硅酸盐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142984"/>
            <a:ext cx="8229600" cy="54292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主要存在形式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dirty="0"/>
              <a:t>溶解无机硅：单硅酸分子加低聚合度的硅酸分子</a:t>
            </a:r>
            <a:endParaRPr lang="en-US" altLang="zh-CN" dirty="0"/>
          </a:p>
          <a:p>
            <a:pPr lvl="1">
              <a:spcBef>
                <a:spcPts val="0"/>
              </a:spcBef>
            </a:pPr>
            <a:endParaRPr lang="en-US" altLang="zh-CN" dirty="0"/>
          </a:p>
          <a:p>
            <a:pPr lvl="1">
              <a:spcBef>
                <a:spcPts val="0"/>
              </a:spcBef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形态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含量</a:t>
            </a:r>
            <a:endParaRPr lang="en-US" altLang="zh-CN" dirty="0"/>
          </a:p>
          <a:p>
            <a:pPr lvl="1"/>
            <a:r>
              <a:rPr lang="zh-CN" altLang="en-US" dirty="0"/>
              <a:t>含量的变化幅度大（特别是溶解态的无机硅）</a:t>
            </a:r>
            <a:endParaRPr lang="en-US" altLang="zh-CN" dirty="0"/>
          </a:p>
          <a:p>
            <a:pPr lvl="1"/>
            <a:r>
              <a:rPr lang="zh-CN" altLang="en-US" dirty="0"/>
              <a:t>随季节变化很大</a:t>
            </a:r>
          </a:p>
        </p:txBody>
      </p:sp>
      <p:pic>
        <p:nvPicPr>
          <p:cNvPr id="158723" name="Picture 3" descr="E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1359" y="1795446"/>
            <a:ext cx="7524750" cy="981075"/>
          </a:xfrm>
          <a:prstGeom prst="rect">
            <a:avLst/>
          </a:prstGeom>
          <a:noFill/>
        </p:spPr>
      </p:pic>
      <p:pic>
        <p:nvPicPr>
          <p:cNvPr id="158725" name="Picture 5" descr="E:\课程\课件\课程图片\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1359" y="4570409"/>
            <a:ext cx="7200900" cy="666750"/>
          </a:xfrm>
          <a:prstGeom prst="rect">
            <a:avLst/>
          </a:prstGeom>
          <a:noFill/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11AEEB3-FE8F-4817-8699-5312C12520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424251"/>
            <a:ext cx="6512709" cy="66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44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海水中的硅酸盐及硅循环的重要意义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海水中硅酸盐的分布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/>
              <a:t>海水中硅酸盐的测定方法</a:t>
            </a:r>
            <a:endParaRPr lang="en-US" altLang="zh-CN" sz="2800" dirty="0"/>
          </a:p>
          <a:p>
            <a:pPr marL="1314450" lvl="2" indent="-457200">
              <a:buFont typeface="+mj-lt"/>
              <a:buAutoNum type="alphaUcPeriod"/>
            </a:pPr>
            <a:r>
              <a:rPr lang="zh-CN" altLang="en-US" sz="2400" dirty="0"/>
              <a:t>硅钼黄法</a:t>
            </a:r>
            <a:endParaRPr lang="en-US" altLang="zh-CN" sz="2400" dirty="0"/>
          </a:p>
          <a:p>
            <a:pPr marL="1314450" lvl="2" indent="-457200">
              <a:buFont typeface="+mj-lt"/>
              <a:buAutoNum type="alphaUcPeriod"/>
            </a:pPr>
            <a:r>
              <a:rPr lang="zh-CN" altLang="en-US" sz="2400" dirty="0"/>
              <a:t>硅钼蓝法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硅酸盐和磷酸盐测量方法的对比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总磷、总硅的测量方法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1357290" y="500042"/>
            <a:ext cx="7224706" cy="83671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all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第五章 海水中</a:t>
            </a:r>
            <a:r>
              <a:rPr lang="zh-CN" altLang="en-US" sz="3600" b="1" kern="0" cap="all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硅酸盐的</a:t>
            </a:r>
            <a:r>
              <a:rPr kumimoji="0" lang="zh-CN" altLang="en-US" sz="3600" b="1" i="0" u="none" strike="noStrike" kern="0" cap="all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测定</a:t>
            </a:r>
          </a:p>
        </p:txBody>
      </p:sp>
    </p:spTree>
    <p:extLst>
      <p:ext uri="{BB962C8B-B14F-4D97-AF65-F5344CB8AC3E}">
        <p14:creationId xmlns:p14="http://schemas.microsoft.com/office/powerpoint/2010/main" val="3562715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47" name="Picture 3" descr="E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068960"/>
            <a:ext cx="7248903" cy="1263486"/>
          </a:xfrm>
          <a:prstGeom prst="rect">
            <a:avLst/>
          </a:prstGeom>
          <a:noFill/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492896"/>
            <a:ext cx="8229600" cy="5429288"/>
          </a:xfrm>
        </p:spPr>
        <p:txBody>
          <a:bodyPr/>
          <a:lstStyle/>
          <a:p>
            <a:r>
              <a:rPr lang="zh-CN" altLang="en-US" sz="2400" dirty="0"/>
              <a:t>测量活性硅酸盐</a:t>
            </a:r>
            <a:endParaRPr lang="en-US" altLang="zh-CN" sz="2400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sz="2400" dirty="0"/>
              <a:t>另一部分在海化测量标准里可测的是总硅酸盐</a:t>
            </a:r>
            <a:endParaRPr lang="en-US" altLang="zh-CN" sz="2400" dirty="0"/>
          </a:p>
          <a:p>
            <a:r>
              <a:rPr lang="zh-CN" altLang="en-US" sz="2400" dirty="0"/>
              <a:t>硅钼黄和硅钼蓝法的主要区别</a:t>
            </a:r>
            <a:endParaRPr lang="en-US" altLang="zh-CN" sz="2400" dirty="0"/>
          </a:p>
          <a:p>
            <a:pPr lvl="1"/>
            <a:r>
              <a:rPr lang="zh-CN" altLang="en-US" dirty="0"/>
              <a:t>灵敏度</a:t>
            </a:r>
            <a:endParaRPr lang="en-US" altLang="zh-CN" dirty="0"/>
          </a:p>
          <a:p>
            <a:pPr lvl="1"/>
            <a:r>
              <a:rPr lang="zh-CN" altLang="en-US" dirty="0"/>
              <a:t>在大洋里多用硅钼蓝而在河口区多用硅钼黄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78D4BFCC-FE83-4F04-B7D7-C970D2E3F48B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621AD2-FC49-4F9D-ADD1-0C0954AF73E5}"/>
              </a:ext>
            </a:extLst>
          </p:cNvPr>
          <p:cNvSpPr/>
          <p:nvPr/>
        </p:nvSpPr>
        <p:spPr>
          <a:xfrm>
            <a:off x="179512" y="1420428"/>
            <a:ext cx="5976664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800" dirty="0"/>
              <a:t>3</a:t>
            </a:r>
            <a:r>
              <a:rPr lang="zh-CN" altLang="en-US" sz="2800" dirty="0"/>
              <a:t>、海水中的硅酸盐测量方法</a:t>
            </a:r>
            <a:endParaRPr lang="en-US" altLang="zh-CN" sz="2800" dirty="0"/>
          </a:p>
          <a:p>
            <a:pPr>
              <a:spcBef>
                <a:spcPts val="600"/>
              </a:spcBef>
            </a:pPr>
            <a:r>
              <a:rPr lang="en-US" altLang="zh-CN" sz="2800" dirty="0"/>
              <a:t>       3.1 </a:t>
            </a:r>
            <a:r>
              <a:rPr lang="zh-CN" altLang="en-US" sz="2800" dirty="0"/>
              <a:t>可测量的硅酸盐部分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962929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657D903-FBE0-48E1-B378-096AF10FF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420888"/>
            <a:ext cx="7365764" cy="373909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86A3865-8165-4ADB-9860-5406EEDF1394}"/>
              </a:ext>
            </a:extLst>
          </p:cNvPr>
          <p:cNvSpPr txBox="1"/>
          <p:nvPr/>
        </p:nvSpPr>
        <p:spPr>
          <a:xfrm>
            <a:off x="539552" y="1412776"/>
            <a:ext cx="6984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3</a:t>
            </a:r>
            <a:r>
              <a:rPr lang="zh-CN" altLang="en-US" sz="2800" dirty="0"/>
              <a:t>、海水中的硅酸盐测量方法</a:t>
            </a:r>
            <a:endParaRPr lang="en-US" altLang="zh-CN" sz="2800" dirty="0"/>
          </a:p>
          <a:p>
            <a:r>
              <a:rPr lang="en-US" altLang="zh-CN" sz="2800" dirty="0"/>
              <a:t>       3.2 </a:t>
            </a:r>
            <a:r>
              <a:rPr lang="zh-CN" altLang="en-US" sz="2800" dirty="0"/>
              <a:t>重量法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DFF3F66-A0F2-46A1-8CF8-BFD1B2DEDBB6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216356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  <p:pic>
        <p:nvPicPr>
          <p:cNvPr id="167939" name="Picture 3" descr="D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8668" y="2220958"/>
            <a:ext cx="8104187" cy="771525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654186" y="1179860"/>
            <a:ext cx="40010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800" dirty="0"/>
              <a:t> 3.3 </a:t>
            </a:r>
            <a:r>
              <a:rPr lang="zh-CN" altLang="en-US" sz="2800" dirty="0"/>
              <a:t>硅钼黄法</a:t>
            </a:r>
            <a:endParaRPr lang="en-US" altLang="zh-CN" sz="2800" dirty="0"/>
          </a:p>
          <a:p>
            <a:pPr>
              <a:spcBef>
                <a:spcPts val="1200"/>
              </a:spcBef>
            </a:pPr>
            <a:r>
              <a:rPr lang="en-US" altLang="zh-CN" sz="2800" dirty="0"/>
              <a:t>1</a:t>
            </a:r>
            <a:r>
              <a:rPr lang="zh-CN" altLang="en-US" sz="2800" dirty="0"/>
              <a:t>）方法原理</a:t>
            </a:r>
          </a:p>
        </p:txBody>
      </p:sp>
      <p:pic>
        <p:nvPicPr>
          <p:cNvPr id="167940" name="Picture 4" descr="D:\课程\课件\课程图片\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3143248"/>
            <a:ext cx="7951787" cy="1695450"/>
          </a:xfrm>
          <a:prstGeom prst="rect">
            <a:avLst/>
          </a:prstGeom>
          <a:noFill/>
        </p:spPr>
      </p:pic>
      <p:pic>
        <p:nvPicPr>
          <p:cNvPr id="167941" name="Picture 5" descr="D:\课程\课件\课程图片\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4348" y="4954240"/>
            <a:ext cx="7113587" cy="1447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8540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B298FE8-FAC3-4F57-8920-2D2E369C4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464924"/>
            <a:ext cx="7272808" cy="462837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125E4A-76D4-4DF4-8AD2-045EB122B6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78496" y="620688"/>
            <a:ext cx="5987008" cy="595033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814475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6C0E2E0F-E47C-42D7-94D5-95F8A3AD5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672605"/>
            <a:ext cx="7090670" cy="1296144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756B066-7E97-4631-9845-1F9313FC0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3102079"/>
            <a:ext cx="4766824" cy="6221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7D2B7FC-280C-419C-A309-D3E2BE5B8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889252"/>
            <a:ext cx="5619750" cy="10763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341FEC9-769D-437F-A5E3-A590BC3A80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965577"/>
            <a:ext cx="4582271" cy="744488"/>
          </a:xfrm>
          <a:prstGeom prst="rect">
            <a:avLst/>
          </a:prstGeom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A51BD95D-1CC1-437A-B6C1-4D68F105F1F0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1026367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07759C6-80AD-42E9-93F4-25308D15F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628800"/>
            <a:ext cx="4333875" cy="1447800"/>
          </a:xfr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059B617-33E4-4B19-B005-050B5AFD2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212976"/>
            <a:ext cx="6448425" cy="178117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468B46C-7074-4A44-9165-BD4D3350F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5130527"/>
            <a:ext cx="6010275" cy="762000"/>
          </a:xfrm>
          <a:prstGeom prst="rect">
            <a:avLst/>
          </a:prstGeom>
        </p:spPr>
      </p:pic>
      <p:pic>
        <p:nvPicPr>
          <p:cNvPr id="14" name="Picture 3" descr="E:\课程\课件\课程图片\0.png">
            <a:extLst>
              <a:ext uri="{FF2B5EF4-FFF2-40B4-BE49-F238E27FC236}">
                <a16:creationId xmlns:a16="http://schemas.microsoft.com/office/drawing/2014/main" id="{26C380CA-CE6F-4CA4-B79C-41647841C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82404" y="1384822"/>
            <a:ext cx="2581275" cy="2095500"/>
          </a:xfrm>
          <a:prstGeom prst="rect">
            <a:avLst/>
          </a:prstGeom>
          <a:noFill/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78CA1355-F2CD-42D2-B8B4-3ED649C8070E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1147803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3038330-D557-44E8-A955-8FD569197B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36096"/>
            <a:ext cx="6851104" cy="3062721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19E95D-4240-41A1-9FC2-F7F103169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52" y="4365104"/>
            <a:ext cx="5529808" cy="1591914"/>
          </a:xfrm>
          <a:prstGeom prst="rect">
            <a:avLst/>
          </a:prstGeom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2322549F-140E-4D7D-B1AA-59A801A81AF7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3084867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79621" y="1273230"/>
            <a:ext cx="8001056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sz="2800" dirty="0"/>
              <a:t>  </a:t>
            </a:r>
            <a:r>
              <a:rPr lang="en-US" altLang="zh-CN" sz="2800" dirty="0"/>
              <a:t>3.4</a:t>
            </a:r>
            <a:r>
              <a:rPr lang="zh-CN" altLang="en-US" sz="2800" dirty="0"/>
              <a:t> 硅钼蓝法</a:t>
            </a:r>
            <a:endParaRPr lang="en-US" altLang="zh-CN" sz="2800" dirty="0"/>
          </a:p>
          <a:p>
            <a:pPr>
              <a:spcBef>
                <a:spcPts val="600"/>
              </a:spcBef>
            </a:pPr>
            <a:r>
              <a:rPr lang="zh-CN" altLang="en-US" sz="2800" dirty="0"/>
              <a:t>        方法原理</a:t>
            </a:r>
            <a:endParaRPr lang="en-US" altLang="zh-CN" sz="2800" dirty="0"/>
          </a:p>
          <a:p>
            <a:pPr>
              <a:buFont typeface="Arial" pitchFamily="34" charset="0"/>
              <a:buChar char="•"/>
            </a:pPr>
            <a:endParaRPr lang="en-US" altLang="zh-CN" sz="2800" dirty="0"/>
          </a:p>
          <a:p>
            <a:pPr>
              <a:buFont typeface="Arial" pitchFamily="34" charset="0"/>
              <a:buChar char="•"/>
            </a:pPr>
            <a:endParaRPr lang="en-US" altLang="zh-CN" sz="2800" dirty="0"/>
          </a:p>
          <a:p>
            <a:pPr>
              <a:buFont typeface="Arial" pitchFamily="34" charset="0"/>
              <a:buChar char="•"/>
            </a:pPr>
            <a:endParaRPr lang="en-US" altLang="zh-CN" sz="2800" dirty="0"/>
          </a:p>
          <a:p>
            <a:pPr>
              <a:buFont typeface="Arial" pitchFamily="34" charset="0"/>
              <a:buChar char="•"/>
            </a:pPr>
            <a:endParaRPr lang="en-US" altLang="zh-CN" sz="280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400" dirty="0"/>
              <a:t>为什么把硅钼黄还原成硅钼蓝？</a:t>
            </a:r>
            <a:endParaRPr lang="en-US" altLang="zh-CN" sz="2400" dirty="0"/>
          </a:p>
          <a:p>
            <a:pPr>
              <a:spcBef>
                <a:spcPts val="1200"/>
              </a:spcBef>
              <a:buFont typeface="Arial" pitchFamily="34" charset="0"/>
              <a:buChar char="•"/>
            </a:pPr>
            <a:r>
              <a:rPr lang="zh-CN" altLang="en-US" sz="2400" dirty="0"/>
              <a:t>    硅钼黄被还原到硅钼蓝的还原剂选择</a:t>
            </a:r>
            <a:endParaRPr lang="en-US" altLang="zh-CN" sz="2400" dirty="0"/>
          </a:p>
          <a:p>
            <a:pPr marL="800100" lvl="1" indent="-3429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zh-CN" altLang="en-US" sz="2000" dirty="0"/>
              <a:t>最早用亚硫酸钠在低酸度</a:t>
            </a:r>
            <a:r>
              <a:rPr lang="en-US" altLang="zh-CN" sz="2000" dirty="0"/>
              <a:t>100</a:t>
            </a:r>
            <a:r>
              <a:rPr lang="zh-CN" altLang="en-US" sz="2000" dirty="0"/>
              <a:t>℃下还原</a:t>
            </a:r>
            <a:endParaRPr lang="en-US" altLang="zh-CN" sz="2000" dirty="0"/>
          </a:p>
          <a:p>
            <a:pPr marL="800100" lvl="1" indent="-3429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zh-CN" sz="2000" dirty="0"/>
              <a:t> </a:t>
            </a:r>
            <a:r>
              <a:rPr lang="zh-CN" altLang="en-US" sz="2000" dirty="0"/>
              <a:t>亚硫酸钠在</a:t>
            </a:r>
            <a:r>
              <a:rPr lang="en-US" altLang="zh-CN" sz="2000" dirty="0"/>
              <a:t>pH2.4~2.7</a:t>
            </a:r>
            <a:r>
              <a:rPr lang="zh-CN" altLang="en-US" sz="2000" dirty="0"/>
              <a:t>范围内常温还原</a:t>
            </a:r>
          </a:p>
        </p:txBody>
      </p:sp>
      <p:pic>
        <p:nvPicPr>
          <p:cNvPr id="11" name="Picture 3" descr="D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7966" y="2260369"/>
            <a:ext cx="7634614" cy="736583"/>
          </a:xfrm>
          <a:prstGeom prst="rect">
            <a:avLst/>
          </a:prstGeom>
          <a:noFill/>
        </p:spPr>
      </p:pic>
      <p:pic>
        <p:nvPicPr>
          <p:cNvPr id="161794" name="Picture 2" descr="E:\课程\课件\课程图片\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3018591"/>
            <a:ext cx="7354956" cy="1098584"/>
          </a:xfrm>
          <a:prstGeom prst="rect">
            <a:avLst/>
          </a:prstGeom>
          <a:noFill/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77DF603C-43BB-49B2-AF05-0438F2567897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2304204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2910" y="1357298"/>
            <a:ext cx="8001056" cy="568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CN" altLang="en-US" sz="2800" dirty="0"/>
              <a:t> 硅钼黄被还原到硅钼蓝的过程不同还原剂的效果不同</a:t>
            </a:r>
            <a:endParaRPr lang="en-US" altLang="zh-CN" sz="2800" dirty="0"/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 最早用亚硫酸钠在低酸度</a:t>
            </a:r>
            <a:r>
              <a:rPr lang="en-US" altLang="zh-CN" sz="2400" dirty="0"/>
              <a:t>100</a:t>
            </a:r>
            <a:r>
              <a:rPr lang="zh-CN" altLang="en-US" sz="2400" dirty="0"/>
              <a:t>℃下还原</a:t>
            </a:r>
            <a:endParaRPr lang="en-US" altLang="zh-CN" sz="2400" dirty="0"/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/>
              <a:t> </a:t>
            </a:r>
            <a:r>
              <a:rPr lang="zh-CN" altLang="en-US" sz="2400" dirty="0"/>
              <a:t>亚硫酸钠在</a:t>
            </a:r>
            <a:r>
              <a:rPr lang="en-US" altLang="zh-CN" sz="2400" dirty="0"/>
              <a:t>pH2.4~2.7</a:t>
            </a:r>
            <a:r>
              <a:rPr lang="zh-CN" altLang="en-US" sz="2400" dirty="0"/>
              <a:t>范围内常温还原</a:t>
            </a:r>
            <a:endParaRPr lang="en-US" altLang="zh-CN" sz="2400" dirty="0"/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/>
              <a:t> </a:t>
            </a:r>
            <a:r>
              <a:rPr lang="zh-CN" altLang="en-US" sz="2400" dirty="0"/>
              <a:t>常用的是</a:t>
            </a:r>
            <a:r>
              <a:rPr lang="en-US" altLang="zh-CN" sz="2400" dirty="0"/>
              <a:t>1,2,4-</a:t>
            </a:r>
            <a:r>
              <a:rPr lang="zh-CN" altLang="en-US" sz="2400" dirty="0"/>
              <a:t>氨基萘磺酸混合物，</a:t>
            </a:r>
            <a:r>
              <a:rPr lang="en-US" altLang="zh-CN" sz="2400" dirty="0"/>
              <a:t>SnCl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和米吐尔</a:t>
            </a:r>
            <a:endParaRPr lang="en-US" altLang="zh-CN" sz="2400" dirty="0"/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/>
              <a:t> </a:t>
            </a:r>
            <a:r>
              <a:rPr lang="zh-CN" altLang="en-US" sz="2400" dirty="0"/>
              <a:t>其中最稳定、灵敏度最高的是米吐尔</a:t>
            </a:r>
            <a:endParaRPr lang="en-US" altLang="zh-CN" sz="2400" dirty="0"/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 米吐尔加亚硫酸钠还原剂加入后</a:t>
            </a:r>
            <a:r>
              <a:rPr lang="en-US" altLang="zh-CN" sz="2400" dirty="0"/>
              <a:t>30</a:t>
            </a:r>
            <a:r>
              <a:rPr lang="zh-CN" altLang="en-US" sz="2400" dirty="0"/>
              <a:t>分钟内开始显色，但需要</a:t>
            </a:r>
            <a:r>
              <a:rPr lang="en-US" altLang="zh-CN" sz="2400" dirty="0"/>
              <a:t>3</a:t>
            </a:r>
            <a:r>
              <a:rPr lang="zh-CN" altLang="en-US" sz="2400" dirty="0"/>
              <a:t>小时候，颜色才达到稳定，这是米吐尔还原的最大缺点</a:t>
            </a:r>
            <a:endParaRPr lang="en-US" altLang="zh-CN" sz="2400" dirty="0"/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/>
              <a:t> </a:t>
            </a:r>
            <a:r>
              <a:rPr lang="zh-CN" altLang="en-US" sz="2400" dirty="0"/>
              <a:t>米吐尔中亚硫酸钠可以提高还原剂的效率，且米吐尔需要加过量</a:t>
            </a:r>
            <a:endParaRPr lang="en-US" altLang="zh-CN" sz="2400" dirty="0"/>
          </a:p>
          <a:p>
            <a:pPr lvl="1">
              <a:buFont typeface="Arial" pitchFamily="34" charset="0"/>
              <a:buChar char="•"/>
            </a:pPr>
            <a:endParaRPr lang="en-US" altLang="zh-CN" sz="2400" dirty="0"/>
          </a:p>
          <a:p>
            <a:pPr lvl="1">
              <a:buFont typeface="Arial" pitchFamily="34" charset="0"/>
              <a:buChar char="•"/>
            </a:pPr>
            <a:endParaRPr lang="zh-CN" altLang="en-US" sz="24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5FC232FD-0190-4074-9F96-FCA05957953A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3350115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E:\课程\课件\课程图片\0.png">
            <a:extLst>
              <a:ext uri="{FF2B5EF4-FFF2-40B4-BE49-F238E27FC236}">
                <a16:creationId xmlns:a16="http://schemas.microsoft.com/office/drawing/2014/main" id="{2857718E-64AC-440D-8EB1-EE62432379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00808"/>
            <a:ext cx="7934325" cy="1162050"/>
          </a:xfrm>
          <a:prstGeom prst="rect">
            <a:avLst/>
          </a:prstGeom>
          <a:noFill/>
        </p:spPr>
      </p:pic>
      <p:pic>
        <p:nvPicPr>
          <p:cNvPr id="6" name="Picture 2" descr="E:\课程\课件\课程图片\0.png">
            <a:extLst>
              <a:ext uri="{FF2B5EF4-FFF2-40B4-BE49-F238E27FC236}">
                <a16:creationId xmlns:a16="http://schemas.microsoft.com/office/drawing/2014/main" id="{E1ACE781-9C9B-434B-9AE6-3BEFE9C62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190660"/>
            <a:ext cx="7315200" cy="2847975"/>
          </a:xfrm>
          <a:prstGeom prst="rect">
            <a:avLst/>
          </a:prstGeom>
          <a:noFill/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AF7663E-5AF3-4756-B804-366B31FC8A07}"/>
              </a:ext>
            </a:extLst>
          </p:cNvPr>
          <p:cNvSpPr/>
          <p:nvPr/>
        </p:nvSpPr>
        <p:spPr bwMode="auto">
          <a:xfrm>
            <a:off x="1043608" y="4399758"/>
            <a:ext cx="1584176" cy="360041"/>
          </a:xfrm>
          <a:prstGeom prst="rect">
            <a:avLst/>
          </a:prstGeom>
          <a:noFill/>
          <a:ln w="222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rgbClr val="3399FF"/>
              </a:solidFill>
              <a:effectLst/>
              <a:latin typeface="Arial" charset="0"/>
              <a:ea typeface="华文行楷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8C3722-CC03-43AF-BC17-2FC6867AF986}"/>
              </a:ext>
            </a:extLst>
          </p:cNvPr>
          <p:cNvSpPr txBox="1"/>
          <p:nvPr/>
        </p:nvSpPr>
        <p:spPr>
          <a:xfrm>
            <a:off x="573801" y="2862858"/>
            <a:ext cx="2772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</a:t>
            </a:r>
            <a:r>
              <a:rPr lang="zh-CN" altLang="en-US" sz="2400" dirty="0"/>
              <a:t>）实验步骤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672D2CD0-9F1E-44C7-A369-D014B3051F33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332107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2A3EECD-3E2C-4030-8980-5821792965C3}"/>
              </a:ext>
            </a:extLst>
          </p:cNvPr>
          <p:cNvSpPr txBox="1"/>
          <p:nvPr/>
        </p:nvSpPr>
        <p:spPr>
          <a:xfrm>
            <a:off x="683568" y="1340768"/>
            <a:ext cx="65527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加入草酸的作用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不让多余的钼酸被还原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减少磷酸和砷酸的影响</a:t>
            </a:r>
            <a:endParaRPr lang="en-US" altLang="zh-CN" sz="24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加入草酸的</a:t>
            </a:r>
            <a:r>
              <a:rPr lang="en-US" altLang="zh-CN" sz="2400" dirty="0"/>
              <a:t>side effect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在草酸的存在下，硅化合物的稳定性有限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/>
              <a:t>需要在加入草酸后迅速加入还原剂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8E743D-2453-420B-AA8E-8EC8615D3397}"/>
              </a:ext>
            </a:extLst>
          </p:cNvPr>
          <p:cNvSpPr/>
          <p:nvPr/>
        </p:nvSpPr>
        <p:spPr>
          <a:xfrm>
            <a:off x="899592" y="4689873"/>
            <a:ext cx="8032968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为什么加入草酸可以起到以下作用呢？</a:t>
            </a:r>
            <a:endParaRPr lang="en-US" altLang="zh-CN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在形成硅钼杂多酸的同时，磷酸和砷酸也能形成相关杂多酸。加入草酸后，</a:t>
            </a:r>
            <a:endParaRPr lang="en-US" altLang="zh-CN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磷元素和砷元素形成的杂多酸会被迅速破坏，硅钼杂多酸也会被破坏，但由于</a:t>
            </a:r>
            <a:endParaRPr lang="en-US" altLang="zh-CN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磷和砷是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+5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价元素，会迅速破坏，而硅为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+4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价，破坏速度较慢。</a:t>
            </a:r>
            <a:endParaRPr lang="en-US" altLang="zh-CN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草酸有很强的络合能力，能与钼酸和铁等形成络合物。</a:t>
            </a:r>
            <a:endParaRPr lang="zh-CN" altLang="en-US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9BB419F-AEBD-4B85-AA16-E2A698FFB501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ED3F773-016F-4855-B9E2-A5F6DE2B9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1353204"/>
            <a:ext cx="2016224" cy="167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75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66" name="Picture 2" descr="E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214422"/>
            <a:ext cx="8043890" cy="5335140"/>
          </a:xfrm>
          <a:prstGeom prst="rect">
            <a:avLst/>
          </a:prstGeom>
          <a:noFill/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6408536E-90F7-4B6D-BF0C-1444C9DD3856}"/>
              </a:ext>
            </a:extLst>
          </p:cNvPr>
          <p:cNvSpPr txBox="1"/>
          <p:nvPr/>
        </p:nvSpPr>
        <p:spPr>
          <a:xfrm>
            <a:off x="1619672" y="47667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1997024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90" name="Picture 2" descr="E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428736"/>
            <a:ext cx="7810500" cy="5000625"/>
          </a:xfrm>
          <a:prstGeom prst="rect">
            <a:avLst/>
          </a:prstGeom>
          <a:noFill/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760469C3-2E25-4DA8-8D95-DC6A007F4C83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4166883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B9A144A1-22EF-4381-AB04-758CC24B0429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B40B5A-2AE5-4988-AA1A-DD75069C65B5}"/>
              </a:ext>
            </a:extLst>
          </p:cNvPr>
          <p:cNvSpPr txBox="1"/>
          <p:nvPr/>
        </p:nvSpPr>
        <p:spPr>
          <a:xfrm>
            <a:off x="755576" y="1412776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3</a:t>
            </a:r>
            <a:r>
              <a:rPr lang="zh-CN" altLang="en-US" sz="2400" dirty="0"/>
              <a:t>）影响硅酸盐测定的因素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94366F-80C7-49FA-B533-348C77B87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50" y="1988840"/>
            <a:ext cx="7339732" cy="18699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B76195A-A3B1-4C7D-8A55-7E4F0122E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45" y="3973182"/>
            <a:ext cx="6840571" cy="182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9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38" name="Picture 2" descr="E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2943" y="1484784"/>
            <a:ext cx="7358114" cy="4116131"/>
          </a:xfrm>
          <a:prstGeom prst="rect">
            <a:avLst/>
          </a:prstGeom>
          <a:noFill/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D722C673-3A51-4786-A0CF-09F6FD7451DE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1984263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62" name="Picture 2" descr="E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1357298"/>
            <a:ext cx="7491437" cy="4707398"/>
          </a:xfrm>
          <a:prstGeom prst="rect">
            <a:avLst/>
          </a:prstGeom>
          <a:noFill/>
        </p:spPr>
      </p:pic>
      <p:sp>
        <p:nvSpPr>
          <p:cNvPr id="4" name="TextBox 5">
            <a:extLst>
              <a:ext uri="{FF2B5EF4-FFF2-40B4-BE49-F238E27FC236}">
                <a16:creationId xmlns:a16="http://schemas.microsoft.com/office/drawing/2014/main" id="{D0597396-CDB6-44FC-9440-2C6C0FFB6E71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1387227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10" name="Picture 2" descr="E:\课程\课件\课程图片\0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3588" y="1988840"/>
            <a:ext cx="7272808" cy="3640759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9BFAC9-16AE-4F7F-96D0-9740AF2540D8}"/>
              </a:ext>
            </a:extLst>
          </p:cNvPr>
          <p:cNvSpPr txBox="1"/>
          <p:nvPr/>
        </p:nvSpPr>
        <p:spPr>
          <a:xfrm>
            <a:off x="1115616" y="467719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6D0638-B67A-4940-81D2-06543C7CD314}"/>
              </a:ext>
            </a:extLst>
          </p:cNvPr>
          <p:cNvSpPr txBox="1"/>
          <p:nvPr/>
        </p:nvSpPr>
        <p:spPr>
          <a:xfrm>
            <a:off x="899592" y="1340768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4</a:t>
            </a:r>
            <a:r>
              <a:rPr lang="zh-CN" altLang="en-US" sz="2800" dirty="0"/>
              <a:t>）取样和贮存</a:t>
            </a:r>
          </a:p>
        </p:txBody>
      </p:sp>
    </p:spTree>
    <p:extLst>
      <p:ext uri="{BB962C8B-B14F-4D97-AF65-F5344CB8AC3E}">
        <p14:creationId xmlns:p14="http://schemas.microsoft.com/office/powerpoint/2010/main" val="772071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72034" name="Picture 2" descr="E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5" y="1267618"/>
            <a:ext cx="7867650" cy="5191125"/>
          </a:xfrm>
          <a:prstGeom prst="rect">
            <a:avLst/>
          </a:prstGeom>
          <a:noFill/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9F962182-7413-4B51-9A59-FA74BCFF5A99}"/>
              </a:ext>
            </a:extLst>
          </p:cNvPr>
          <p:cNvSpPr txBox="1"/>
          <p:nvPr/>
        </p:nvSpPr>
        <p:spPr>
          <a:xfrm>
            <a:off x="1115616" y="467719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2724501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海水中的硅酸盐</a:t>
            </a:r>
            <a:endParaRPr lang="en-US" altLang="zh-CN" sz="28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海水中硅循环的重要意义</a:t>
            </a:r>
            <a:endParaRPr lang="en-US" altLang="zh-CN" sz="28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海水中硅酸盐的测定方法</a:t>
            </a:r>
            <a:endParaRPr lang="en-US" altLang="zh-CN" sz="28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1314450" lvl="2" indent="-457200">
              <a:buFont typeface="+mj-lt"/>
              <a:buAutoNum type="alphaUcPeriod"/>
            </a:pPr>
            <a:r>
              <a:rPr lang="zh-CN" altLang="en-US" sz="24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硅钼黄法</a:t>
            </a:r>
            <a:endParaRPr lang="en-US" altLang="zh-CN" sz="24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1314450" lvl="2" indent="-457200">
              <a:buFont typeface="+mj-lt"/>
              <a:buAutoNum type="alphaUcPeriod"/>
            </a:pPr>
            <a:r>
              <a:rPr lang="zh-CN" altLang="en-US" sz="24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硅钼蓝法</a:t>
            </a:r>
            <a:endParaRPr lang="en-US" altLang="zh-CN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/>
              <a:t>硅酸盐和磷酸盐测量方法的对比</a:t>
            </a:r>
            <a:endParaRPr lang="en-US" altLang="zh-CN" sz="2800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总磷、总硅的测量方法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1357290" y="500042"/>
            <a:ext cx="7224706" cy="83671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0" cap="all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第五章 海水中</a:t>
            </a:r>
            <a:r>
              <a:rPr lang="zh-CN" altLang="en-US" sz="4000" b="1" kern="0" cap="all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硅酸盐的</a:t>
            </a:r>
            <a:r>
              <a:rPr kumimoji="0" lang="zh-CN" altLang="en-US" sz="4000" b="1" i="0" u="none" strike="noStrike" kern="0" cap="all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测定</a:t>
            </a:r>
          </a:p>
        </p:txBody>
      </p:sp>
    </p:spTree>
    <p:extLst>
      <p:ext uri="{BB962C8B-B14F-4D97-AF65-F5344CB8AC3E}">
        <p14:creationId xmlns:p14="http://schemas.microsoft.com/office/powerpoint/2010/main" val="72837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39" name="Picture 3" descr="D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857364"/>
            <a:ext cx="8104187" cy="771525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642910" y="1357298"/>
            <a:ext cx="6357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sz="2800" dirty="0"/>
              <a:t> </a:t>
            </a:r>
            <a:r>
              <a:rPr lang="zh-CN" altLang="en-US" sz="2800" dirty="0"/>
              <a:t>硅钼黄法和磷钼黄法的区别</a:t>
            </a:r>
          </a:p>
        </p:txBody>
      </p:sp>
      <p:pic>
        <p:nvPicPr>
          <p:cNvPr id="167940" name="Picture 4" descr="D:\课程\课件\课程图片\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916" y="2662244"/>
            <a:ext cx="7951787" cy="1695450"/>
          </a:xfrm>
          <a:prstGeom prst="rect">
            <a:avLst/>
          </a:prstGeom>
          <a:noFill/>
        </p:spPr>
      </p:pic>
      <p:sp>
        <p:nvSpPr>
          <p:cNvPr id="8" name="矩形 7"/>
          <p:cNvSpPr/>
          <p:nvPr/>
        </p:nvSpPr>
        <p:spPr>
          <a:xfrm>
            <a:off x="785786" y="4357694"/>
            <a:ext cx="75009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PO</a:t>
            </a:r>
            <a:r>
              <a:rPr lang="en-US" sz="2000" baseline="-25000" dirty="0"/>
              <a:t>4</a:t>
            </a:r>
            <a:r>
              <a:rPr lang="en-US" sz="2000" baseline="30000" dirty="0"/>
              <a:t>3-</a:t>
            </a:r>
            <a:r>
              <a:rPr lang="en-US" sz="2000" dirty="0"/>
              <a:t> + 12MoO</a:t>
            </a:r>
            <a:r>
              <a:rPr lang="en-US" sz="2000" baseline="-25000" dirty="0"/>
              <a:t>4</a:t>
            </a:r>
            <a:r>
              <a:rPr lang="en-US" sz="2000" baseline="30000" dirty="0"/>
              <a:t>2-</a:t>
            </a:r>
            <a:r>
              <a:rPr lang="en-US" sz="2000" dirty="0"/>
              <a:t> + 24H</a:t>
            </a:r>
            <a:r>
              <a:rPr lang="en-US" sz="2000" baseline="30000" dirty="0"/>
              <a:t>+</a:t>
            </a:r>
            <a:r>
              <a:rPr lang="en-US" sz="2000" dirty="0"/>
              <a:t> = </a:t>
            </a:r>
            <a:r>
              <a:rPr lang="en-US" altLang="zh-CN" sz="2000" dirty="0"/>
              <a:t>H</a:t>
            </a:r>
            <a:r>
              <a:rPr lang="en-US" sz="2000" baseline="-25000" dirty="0"/>
              <a:t>3</a:t>
            </a:r>
            <a:r>
              <a:rPr lang="en-US" sz="2000" dirty="0"/>
              <a:t>P(Mo</a:t>
            </a:r>
            <a:r>
              <a:rPr lang="en-US" sz="2000" baseline="-25000" dirty="0"/>
              <a:t>3</a:t>
            </a:r>
            <a:r>
              <a:rPr lang="en-US" sz="2000" dirty="0"/>
              <a:t>O</a:t>
            </a:r>
            <a:r>
              <a:rPr lang="en-US" sz="2000" baseline="-25000" dirty="0"/>
              <a:t>10</a:t>
            </a:r>
            <a:r>
              <a:rPr lang="en-US" sz="2000" dirty="0"/>
              <a:t>)</a:t>
            </a:r>
            <a:r>
              <a:rPr lang="en-US" sz="2000" baseline="-25000" dirty="0"/>
              <a:t>4</a:t>
            </a:r>
            <a:r>
              <a:rPr lang="en-US" sz="2000" dirty="0"/>
              <a:t>·nH</a:t>
            </a:r>
            <a:r>
              <a:rPr lang="en-US" sz="2000" baseline="-25000" dirty="0"/>
              <a:t>2</a:t>
            </a:r>
            <a:r>
              <a:rPr lang="en-US" sz="2000" dirty="0"/>
              <a:t>O</a:t>
            </a:r>
            <a:endParaRPr lang="en-US" altLang="zh-CN" sz="2000" dirty="0"/>
          </a:p>
        </p:txBody>
      </p:sp>
      <p:pic>
        <p:nvPicPr>
          <p:cNvPr id="9" name="Picture 5" descr="D:\课程\课件\课程图片\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85852" y="4714884"/>
            <a:ext cx="5715040" cy="418174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1643042" y="5159047"/>
            <a:ext cx="6643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其中</a:t>
            </a:r>
            <a:r>
              <a:rPr lang="el-GR" altLang="zh-CN" sz="2400" dirty="0"/>
              <a:t>α</a:t>
            </a:r>
            <a:r>
              <a:rPr lang="en-US" altLang="zh-CN" sz="2400" dirty="0"/>
              <a:t>-</a:t>
            </a:r>
            <a:r>
              <a:rPr lang="zh-CN" altLang="en-US" sz="2400" dirty="0"/>
              <a:t>磷钼酸为黄色，</a:t>
            </a:r>
            <a:r>
              <a:rPr lang="el-GR" altLang="zh-CN" sz="2400" dirty="0"/>
              <a:t>β</a:t>
            </a:r>
            <a:r>
              <a:rPr lang="en-US" altLang="zh-CN" sz="2400" dirty="0"/>
              <a:t>-</a:t>
            </a:r>
            <a:r>
              <a:rPr lang="zh-CN" altLang="en-US" sz="2400" dirty="0"/>
              <a:t>磷钼酸为无色。</a:t>
            </a:r>
            <a:r>
              <a:rPr lang="el-GR" altLang="zh-CN" sz="2400" dirty="0"/>
              <a:t> β</a:t>
            </a:r>
            <a:r>
              <a:rPr lang="en-US" altLang="zh-CN" sz="2400" dirty="0"/>
              <a:t>-</a:t>
            </a:r>
            <a:r>
              <a:rPr lang="zh-CN" altLang="en-US" sz="2400" dirty="0"/>
              <a:t>磷钼酸易向</a:t>
            </a:r>
            <a:r>
              <a:rPr lang="el-GR" altLang="zh-CN" sz="2400" dirty="0"/>
              <a:t>α</a:t>
            </a:r>
            <a:r>
              <a:rPr lang="en-US" altLang="zh-CN" sz="2400" dirty="0"/>
              <a:t>-</a:t>
            </a:r>
            <a:r>
              <a:rPr lang="zh-CN" altLang="en-US" sz="2400" dirty="0"/>
              <a:t>转化。生成</a:t>
            </a:r>
            <a:r>
              <a:rPr lang="el-GR" altLang="zh-CN" sz="2400" dirty="0"/>
              <a:t>α</a:t>
            </a:r>
            <a:r>
              <a:rPr lang="en-US" altLang="zh-CN" sz="2400" dirty="0"/>
              <a:t>-</a:t>
            </a:r>
            <a:r>
              <a:rPr lang="zh-CN" altLang="en-US" sz="2400" dirty="0"/>
              <a:t>磷钼酸和</a:t>
            </a:r>
            <a:r>
              <a:rPr lang="el-GR" altLang="zh-CN" sz="2400" dirty="0"/>
              <a:t>β</a:t>
            </a:r>
            <a:r>
              <a:rPr lang="en-US" altLang="zh-CN" sz="2400" dirty="0"/>
              <a:t>-</a:t>
            </a:r>
            <a:r>
              <a:rPr lang="zh-CN" altLang="en-US" sz="2400" dirty="0"/>
              <a:t>磷钼酸的比例主要靠溶液的</a:t>
            </a:r>
            <a:r>
              <a:rPr lang="en-US" altLang="zh-CN" sz="2400" dirty="0"/>
              <a:t>pH</a:t>
            </a:r>
            <a:r>
              <a:rPr lang="zh-CN" altLang="en-US" sz="2400" dirty="0"/>
              <a:t>决定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85E1CAAE-C7E4-4DA9-BF28-B9F1AC8C9E18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1480048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43377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zh-CN" altLang="en-US" dirty="0"/>
              <a:t>硅钼蓝法和磷钼蓝法的区别</a:t>
            </a:r>
            <a:endParaRPr lang="en-US" altLang="zh-CN" dirty="0"/>
          </a:p>
          <a:p>
            <a:pPr lvl="1"/>
            <a:r>
              <a:rPr lang="zh-CN" altLang="en-US" dirty="0"/>
              <a:t>酸度（</a:t>
            </a:r>
            <a:r>
              <a:rPr lang="en-US" altLang="zh-CN" dirty="0"/>
              <a:t>pH</a:t>
            </a:r>
            <a:r>
              <a:rPr lang="zh-CN" altLang="en-US" dirty="0"/>
              <a:t>）和钼酸铵浓度的比值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pH</a:t>
            </a:r>
          </a:p>
          <a:p>
            <a:pPr lvl="1"/>
            <a:r>
              <a:rPr lang="zh-CN" altLang="en-US" dirty="0"/>
              <a:t>硅酸盐：酸度高（</a:t>
            </a:r>
            <a:r>
              <a:rPr lang="en-US" altLang="zh-CN" dirty="0"/>
              <a:t>pH&lt;2)</a:t>
            </a:r>
            <a:r>
              <a:rPr lang="zh-CN" altLang="en-US" dirty="0"/>
              <a:t>，硅酸盐易聚合为多硅酸，且反应慢；若酸度太低（</a:t>
            </a:r>
            <a:r>
              <a:rPr lang="en-US" altLang="zh-CN" dirty="0"/>
              <a:t>pH&gt;4)</a:t>
            </a:r>
            <a:r>
              <a:rPr lang="zh-CN" altLang="en-US" dirty="0"/>
              <a:t>，显色的强度会降低</a:t>
            </a:r>
            <a:endParaRPr lang="en-US" altLang="zh-CN" dirty="0"/>
          </a:p>
          <a:p>
            <a:pPr lvl="1"/>
            <a:r>
              <a:rPr lang="zh-CN" altLang="en-US" dirty="0"/>
              <a:t>磷酸盐：</a:t>
            </a:r>
            <a:endParaRPr lang="en-US" altLang="zh-CN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pic>
        <p:nvPicPr>
          <p:cNvPr id="167941" name="Picture 5" descr="D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2552704"/>
            <a:ext cx="7113587" cy="1447800"/>
          </a:xfrm>
          <a:prstGeom prst="rect">
            <a:avLst/>
          </a:prstGeom>
          <a:noFill/>
        </p:spPr>
      </p:pic>
      <p:pic>
        <p:nvPicPr>
          <p:cNvPr id="158724" name="Picture 4" descr="E:\课程\课件\课程图片\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8860" y="5257800"/>
            <a:ext cx="6072230" cy="1145649"/>
          </a:xfrm>
          <a:prstGeom prst="rect">
            <a:avLst/>
          </a:prstGeom>
          <a:noFill/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8D125AEA-881C-4EF0-9EC0-20725ADF5AD2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2399042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47664" y="485570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500034" y="1357298"/>
            <a:ext cx="8229600" cy="4043377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zh-CN" altLang="en-US" dirty="0"/>
              <a:t>硅钼蓝法和磷钼蓝法的区别</a:t>
            </a:r>
            <a:endParaRPr lang="en-US" altLang="zh-CN" dirty="0"/>
          </a:p>
          <a:p>
            <a:pPr lvl="1"/>
            <a:r>
              <a:rPr lang="zh-CN" altLang="en-US" dirty="0"/>
              <a:t>酸度（</a:t>
            </a:r>
            <a:r>
              <a:rPr lang="en-US" altLang="zh-CN" dirty="0"/>
              <a:t>pH</a:t>
            </a:r>
            <a:r>
              <a:rPr lang="zh-CN" altLang="en-US" dirty="0"/>
              <a:t>）和钼酸铵浓度的比值</a:t>
            </a:r>
            <a:endParaRPr lang="en-US" altLang="zh-CN" dirty="0"/>
          </a:p>
          <a:p>
            <a:pPr lvl="1"/>
            <a:r>
              <a:rPr lang="zh-CN" altLang="en-US" dirty="0"/>
              <a:t>硅酸盐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159746" name="Picture 2" descr="E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2714620"/>
            <a:ext cx="7658100" cy="234315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1071538" y="5072074"/>
            <a:ext cx="6643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其中</a:t>
            </a:r>
            <a:r>
              <a:rPr lang="el-GR" altLang="zh-CN" sz="2400" dirty="0"/>
              <a:t>α</a:t>
            </a:r>
            <a:r>
              <a:rPr lang="en-US" altLang="zh-CN" sz="2400" dirty="0"/>
              <a:t>-</a:t>
            </a:r>
            <a:r>
              <a:rPr lang="zh-CN" altLang="en-US" sz="2400" dirty="0"/>
              <a:t>磷钼酸为黄色，</a:t>
            </a:r>
            <a:r>
              <a:rPr lang="el-GR" altLang="zh-CN" sz="2400" dirty="0"/>
              <a:t>β</a:t>
            </a:r>
            <a:r>
              <a:rPr lang="en-US" altLang="zh-CN" sz="2400" dirty="0"/>
              <a:t>-</a:t>
            </a:r>
            <a:r>
              <a:rPr lang="zh-CN" altLang="en-US" sz="2400" dirty="0"/>
              <a:t>磷钼酸为无色。</a:t>
            </a:r>
            <a:r>
              <a:rPr lang="el-GR" altLang="zh-CN" sz="2400" dirty="0"/>
              <a:t> β</a:t>
            </a:r>
            <a:r>
              <a:rPr lang="en-US" altLang="zh-CN" sz="2400" dirty="0"/>
              <a:t>-</a:t>
            </a:r>
            <a:r>
              <a:rPr lang="zh-CN" altLang="en-US" sz="2400" dirty="0"/>
              <a:t>磷钼酸易向</a:t>
            </a:r>
            <a:r>
              <a:rPr lang="el-GR" altLang="zh-CN" sz="2400" dirty="0"/>
              <a:t>α</a:t>
            </a:r>
            <a:r>
              <a:rPr lang="en-US" altLang="zh-CN" sz="2400" dirty="0"/>
              <a:t>-</a:t>
            </a:r>
            <a:r>
              <a:rPr lang="zh-CN" altLang="en-US" sz="2400" dirty="0"/>
              <a:t>转化。生成</a:t>
            </a:r>
            <a:r>
              <a:rPr lang="el-GR" altLang="zh-CN" sz="2400" dirty="0"/>
              <a:t>α</a:t>
            </a:r>
            <a:r>
              <a:rPr lang="en-US" altLang="zh-CN" sz="2400" dirty="0"/>
              <a:t>-</a:t>
            </a:r>
            <a:r>
              <a:rPr lang="zh-CN" altLang="en-US" sz="2400" dirty="0"/>
              <a:t>磷钼酸和</a:t>
            </a:r>
            <a:r>
              <a:rPr lang="el-GR" altLang="zh-CN" sz="2400" dirty="0"/>
              <a:t>β</a:t>
            </a:r>
            <a:r>
              <a:rPr lang="en-US" altLang="zh-CN" sz="2400" dirty="0"/>
              <a:t>-</a:t>
            </a:r>
            <a:r>
              <a:rPr lang="zh-CN" altLang="en-US" sz="2400" dirty="0"/>
              <a:t>磷钼酸的比例主要靠溶液的</a:t>
            </a:r>
            <a:r>
              <a:rPr lang="en-US" altLang="zh-CN" sz="2400" dirty="0"/>
              <a:t>pH</a:t>
            </a:r>
            <a:r>
              <a:rPr lang="zh-CN" altLang="en-US" sz="2400" dirty="0"/>
              <a:t>决定</a:t>
            </a:r>
          </a:p>
        </p:txBody>
      </p:sp>
    </p:spTree>
    <p:extLst>
      <p:ext uri="{BB962C8B-B14F-4D97-AF65-F5344CB8AC3E}">
        <p14:creationId xmlns:p14="http://schemas.microsoft.com/office/powerpoint/2010/main" val="6463394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2" name="Picture 2" descr="E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2" y="1714488"/>
            <a:ext cx="4451136" cy="1428760"/>
          </a:xfrm>
          <a:prstGeom prst="rect">
            <a:avLst/>
          </a:prstGeom>
          <a:noFill/>
        </p:spPr>
      </p:pic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500034" y="1357298"/>
            <a:ext cx="5786478" cy="4043377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zh-CN" altLang="en-US" dirty="0"/>
              <a:t>硅钼蓝法和磷钼蓝法的区别</a:t>
            </a:r>
            <a:endParaRPr lang="en-US" altLang="zh-CN" dirty="0"/>
          </a:p>
          <a:p>
            <a:pPr lvl="1"/>
            <a:r>
              <a:rPr lang="zh-CN" altLang="en-US" dirty="0"/>
              <a:t>硅酸盐可用硅钼黄法测量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小时后硅钼黄的黄色会褪</a:t>
            </a:r>
            <a:endParaRPr lang="en-US" altLang="zh-CN" dirty="0"/>
          </a:p>
          <a:p>
            <a:pPr lvl="1"/>
            <a:r>
              <a:rPr lang="zh-CN" altLang="en-US" dirty="0"/>
              <a:t>不够灵敏</a:t>
            </a:r>
            <a:endParaRPr lang="en-US" altLang="zh-CN" dirty="0"/>
          </a:p>
          <a:p>
            <a:pPr lvl="1"/>
            <a:r>
              <a:rPr lang="zh-CN" altLang="en-US" dirty="0"/>
              <a:t>硅钼黄法有明显的盐指效应</a:t>
            </a:r>
            <a:endParaRPr lang="en-US" altLang="zh-CN" dirty="0"/>
          </a:p>
          <a:p>
            <a:pPr lvl="1"/>
            <a:r>
              <a:rPr lang="zh-CN" altLang="en-US" dirty="0"/>
              <a:t>硅钼蓝法也有明显的盐指效应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磷钼蓝法的盐指效应并不明显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158725" name="Picture 5" descr="E:\课程\课件\课程图片\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4555130"/>
            <a:ext cx="6984776" cy="1744025"/>
          </a:xfrm>
          <a:prstGeom prst="rect">
            <a:avLst/>
          </a:prstGeom>
          <a:noFill/>
        </p:spPr>
      </p:pic>
      <p:sp>
        <p:nvSpPr>
          <p:cNvPr id="7" name="TextBox 5">
            <a:extLst>
              <a:ext uri="{FF2B5EF4-FFF2-40B4-BE49-F238E27FC236}">
                <a16:creationId xmlns:a16="http://schemas.microsoft.com/office/drawing/2014/main" id="{40877EE3-826F-4EB8-BD19-19FB92ED5030}"/>
              </a:ext>
            </a:extLst>
          </p:cNvPr>
          <p:cNvSpPr txBox="1"/>
          <p:nvPr/>
        </p:nvSpPr>
        <p:spPr>
          <a:xfrm>
            <a:off x="1428728" y="500042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3836593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2500306"/>
            <a:ext cx="7515225" cy="447675"/>
          </a:xfrm>
          <a:prstGeom prst="rect">
            <a:avLst/>
          </a:prstGeom>
          <a:noFill/>
        </p:spPr>
      </p:pic>
      <p:pic>
        <p:nvPicPr>
          <p:cNvPr id="158723" name="Picture 3" descr="E:\课程\课件\课程图片\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57950" y="285728"/>
            <a:ext cx="2581275" cy="2095500"/>
          </a:xfrm>
          <a:prstGeom prst="rect">
            <a:avLst/>
          </a:prstGeom>
          <a:noFill/>
        </p:spPr>
      </p:pic>
      <p:pic>
        <p:nvPicPr>
          <p:cNvPr id="158724" name="Picture 4" descr="E:\课程\课件\课程图片\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10" y="2928934"/>
            <a:ext cx="7724775" cy="1390650"/>
          </a:xfrm>
          <a:prstGeom prst="rect">
            <a:avLst/>
          </a:prstGeom>
          <a:noFill/>
        </p:spPr>
      </p:pic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971807"/>
          </a:xfrm>
        </p:spPr>
        <p:txBody>
          <a:bodyPr/>
          <a:lstStyle/>
          <a:p>
            <a:r>
              <a:rPr lang="zh-CN" altLang="en-US" dirty="0"/>
              <a:t>盐指效应的本质</a:t>
            </a:r>
            <a:endParaRPr lang="en-US" altLang="zh-CN" dirty="0"/>
          </a:p>
          <a:p>
            <a:pPr lvl="1"/>
            <a:r>
              <a:rPr lang="zh-CN" altLang="en-US" dirty="0"/>
              <a:t>硅酸盐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用海水或人工海水配置标准硅酸盐溶液，做工作曲线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磷酸盐（抗坏血酸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酒石酸锑钾还原剂法）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在高灵敏度测量中，需要做盐度校正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SnCl2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做还原剂时，需要做盐度校正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2"/>
            <a:endParaRPr lang="zh-CN" altLang="en-US" dirty="0"/>
          </a:p>
        </p:txBody>
      </p:sp>
      <p:pic>
        <p:nvPicPr>
          <p:cNvPr id="159746" name="Picture 2" descr="E:\课程\课件\课程图片\0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4415" y="5177169"/>
            <a:ext cx="4500594" cy="394971"/>
          </a:xfrm>
          <a:prstGeom prst="rect">
            <a:avLst/>
          </a:prstGeom>
          <a:noFill/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131DDF23-FFAB-4E1F-811E-090C77280B17}"/>
              </a:ext>
            </a:extLst>
          </p:cNvPr>
          <p:cNvSpPr txBox="1"/>
          <p:nvPr/>
        </p:nvSpPr>
        <p:spPr>
          <a:xfrm>
            <a:off x="1115616" y="467719"/>
            <a:ext cx="5518396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第五章 海水中的硅酸盐</a:t>
            </a:r>
          </a:p>
        </p:txBody>
      </p:sp>
    </p:spTree>
    <p:extLst>
      <p:ext uri="{BB962C8B-B14F-4D97-AF65-F5344CB8AC3E}">
        <p14:creationId xmlns:p14="http://schemas.microsoft.com/office/powerpoint/2010/main" val="13034087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海水中的硅酸盐和海水中硅循环的重要意义</a:t>
            </a:r>
            <a:endParaRPr lang="en-US" altLang="zh-CN" sz="28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海水中硅酸盐的分布</a:t>
            </a:r>
            <a:endParaRPr lang="en-US" altLang="zh-CN" sz="28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海水中硅酸盐的测定方法</a:t>
            </a:r>
            <a:endParaRPr lang="en-US" altLang="zh-CN" sz="28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1314450" lvl="2" indent="-457200">
              <a:buFont typeface="+mj-lt"/>
              <a:buAutoNum type="alphaUcPeriod"/>
            </a:pPr>
            <a:r>
              <a:rPr lang="zh-CN" altLang="en-US" sz="24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硅钼黄法</a:t>
            </a:r>
            <a:endParaRPr lang="en-US" altLang="zh-CN" sz="24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1314450" lvl="2" indent="-457200">
              <a:buFont typeface="+mj-lt"/>
              <a:buAutoNum type="alphaUcPeriod"/>
            </a:pPr>
            <a:r>
              <a:rPr lang="zh-CN" altLang="en-US" sz="24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硅钼蓝法</a:t>
            </a:r>
            <a:endParaRPr lang="en-US" altLang="zh-CN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硅酸盐和磷酸盐测量方法的对比</a:t>
            </a:r>
            <a:endParaRPr lang="en-US" altLang="zh-CN" sz="28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CN" altLang="en-US" sz="2800" dirty="0"/>
              <a:t>总磷、总硅的测量方法</a:t>
            </a:r>
            <a:endParaRPr lang="en-US" altLang="zh-CN" sz="2800" dirty="0"/>
          </a:p>
          <a:p>
            <a:pPr marL="914400" lvl="1" indent="-457200">
              <a:buFont typeface="+mj-lt"/>
              <a:buAutoNum type="arabicPeriod"/>
            </a:pP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1357290" y="500042"/>
            <a:ext cx="7224706" cy="83671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0" cap="all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第五章 海水中</a:t>
            </a:r>
            <a:r>
              <a:rPr lang="zh-CN" altLang="en-US" sz="4000" b="1" kern="0" cap="all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硅酸盐的</a:t>
            </a:r>
            <a:r>
              <a:rPr kumimoji="0" lang="zh-CN" altLang="en-US" sz="4000" b="1" i="0" u="none" strike="noStrike" kern="0" cap="all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测定</a:t>
            </a:r>
          </a:p>
        </p:txBody>
      </p:sp>
    </p:spTree>
    <p:extLst>
      <p:ext uri="{BB962C8B-B14F-4D97-AF65-F5344CB8AC3E}">
        <p14:creationId xmlns:p14="http://schemas.microsoft.com/office/powerpoint/2010/main" val="22712692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0D7F01-FE21-4AD3-80AE-6D917C267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819" y="2410831"/>
            <a:ext cx="5328592" cy="8679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B34F112-146B-4B00-9EEA-6F3F7556A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366758"/>
            <a:ext cx="2181225" cy="13716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7C48D1D-CC50-4393-8889-AEC483C98F90}"/>
              </a:ext>
            </a:extLst>
          </p:cNvPr>
          <p:cNvSpPr txBox="1"/>
          <p:nvPr/>
        </p:nvSpPr>
        <p:spPr>
          <a:xfrm>
            <a:off x="827584" y="3921384"/>
            <a:ext cx="68871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消解过程除了使用强氧化剂之外，一般还辅助加热或者紫外照射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溶液的酸碱度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其它强氧化剂（过氧化氢，硫酸</a:t>
            </a:r>
            <a:r>
              <a:rPr lang="en-US" altLang="zh-CN" sz="2400" dirty="0"/>
              <a:t>-</a:t>
            </a:r>
            <a:r>
              <a:rPr lang="zh-CN" altLang="en-US" sz="2400" dirty="0"/>
              <a:t>过硫酸钾，硝酸</a:t>
            </a:r>
            <a:r>
              <a:rPr lang="en-US" altLang="zh-CN" sz="2400" dirty="0"/>
              <a:t>-</a:t>
            </a:r>
            <a:r>
              <a:rPr lang="zh-CN" altLang="en-US" sz="2400" dirty="0"/>
              <a:t>高氯酸，硝酸</a:t>
            </a:r>
            <a:r>
              <a:rPr lang="en-US" altLang="zh-CN" sz="2400" dirty="0"/>
              <a:t>-</a:t>
            </a:r>
            <a:r>
              <a:rPr lang="zh-CN" altLang="en-US" sz="2400" dirty="0"/>
              <a:t>硫酸）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9EC5A5-A52B-45E9-B172-A232873820D7}"/>
              </a:ext>
            </a:extLst>
          </p:cNvPr>
          <p:cNvSpPr txBox="1"/>
          <p:nvPr/>
        </p:nvSpPr>
        <p:spPr>
          <a:xfrm>
            <a:off x="827584" y="1352735"/>
            <a:ext cx="7344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dirty="0"/>
              <a:t>碱性过硫酸钾氧化分解总磷、总氮和总硅成为活性磷酸盐、硝酸盐和磷酸盐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C7040132-C4E8-459A-B88E-69CB418AA785}"/>
              </a:ext>
            </a:extLst>
          </p:cNvPr>
          <p:cNvSpPr txBox="1"/>
          <p:nvPr/>
        </p:nvSpPr>
        <p:spPr>
          <a:xfrm>
            <a:off x="1403648" y="384060"/>
            <a:ext cx="7607768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海水中的总磷、总硅和总氮的消解</a:t>
            </a:r>
          </a:p>
        </p:txBody>
      </p:sp>
    </p:spTree>
    <p:extLst>
      <p:ext uri="{BB962C8B-B14F-4D97-AF65-F5344CB8AC3E}">
        <p14:creationId xmlns:p14="http://schemas.microsoft.com/office/powerpoint/2010/main" val="40234032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C69EC5A5-A52B-45E9-B172-A232873820D7}"/>
              </a:ext>
            </a:extLst>
          </p:cNvPr>
          <p:cNvSpPr txBox="1"/>
          <p:nvPr/>
        </p:nvSpPr>
        <p:spPr>
          <a:xfrm>
            <a:off x="827584" y="1352735"/>
            <a:ext cx="734481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/>
              <a:t>消解步骤所导致的准确度偏差原因</a:t>
            </a:r>
            <a:endParaRPr lang="en-US" altLang="zh-CN" sz="2400" dirty="0"/>
          </a:p>
          <a:p>
            <a:pPr marL="800100" lvl="1" indent="-3429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zh-CN" altLang="en-US" sz="2400" dirty="0"/>
              <a:t>样品中非均质的无机和有机质组成</a:t>
            </a:r>
            <a:endParaRPr lang="en-US" altLang="zh-CN" sz="2400" dirty="0"/>
          </a:p>
          <a:p>
            <a:pPr marL="800100" lvl="1" indent="-3429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zh-CN" altLang="en-US" sz="2400" dirty="0"/>
              <a:t>由于样品处理过程带来的目标物质增减</a:t>
            </a:r>
            <a:endParaRPr lang="en-US" altLang="zh-CN" sz="2400" dirty="0"/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/>
              <a:t>标准的校正步骤要求空白值、标准品都需要经过与样品相同的处理过程</a:t>
            </a:r>
            <a:endParaRPr lang="en-US" altLang="zh-CN" sz="2400" dirty="0"/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p"/>
            </a:pPr>
            <a:r>
              <a:rPr lang="zh-CN" altLang="en-US" sz="2400" dirty="0"/>
              <a:t>实际操作中，如果可以通过实验证明，前处理过程没有改变待测物质的浓度，可以简化标准曲线的绘制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93917502-A6BB-408A-BF66-64C82A7DC141}"/>
              </a:ext>
            </a:extLst>
          </p:cNvPr>
          <p:cNvSpPr txBox="1"/>
          <p:nvPr/>
        </p:nvSpPr>
        <p:spPr>
          <a:xfrm>
            <a:off x="1403648" y="384060"/>
            <a:ext cx="7607768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海水中的总磷、总硅和总氮的消解</a:t>
            </a:r>
          </a:p>
        </p:txBody>
      </p:sp>
    </p:spTree>
    <p:extLst>
      <p:ext uri="{BB962C8B-B14F-4D97-AF65-F5344CB8AC3E}">
        <p14:creationId xmlns:p14="http://schemas.microsoft.com/office/powerpoint/2010/main" val="36094086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C69EC5A5-A52B-45E9-B172-A232873820D7}"/>
              </a:ext>
            </a:extLst>
          </p:cNvPr>
          <p:cNvSpPr txBox="1"/>
          <p:nvPr/>
        </p:nvSpPr>
        <p:spPr>
          <a:xfrm>
            <a:off x="827584" y="1352735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400" dirty="0"/>
              <a:t>碱性过硫酸钾氧化分解总氮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58FE264-6099-47D1-B244-5C6C116DC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691" y="2526095"/>
            <a:ext cx="5400600" cy="30194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DBCD9B-AA94-4978-BBF0-0F0180C223D0}"/>
              </a:ext>
            </a:extLst>
          </p:cNvPr>
          <p:cNvSpPr txBox="1"/>
          <p:nvPr/>
        </p:nvSpPr>
        <p:spPr>
          <a:xfrm>
            <a:off x="6876256" y="5711627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Roig</a:t>
            </a:r>
            <a:r>
              <a:rPr lang="en-US" altLang="zh-CN" sz="1600" dirty="0"/>
              <a:t> et</a:t>
            </a:r>
            <a:r>
              <a:rPr lang="zh-CN" altLang="en-US" sz="1600" dirty="0"/>
              <a:t> </a:t>
            </a:r>
            <a:r>
              <a:rPr lang="en-US" altLang="zh-CN" sz="1600" dirty="0"/>
              <a:t>al.,</a:t>
            </a:r>
            <a:r>
              <a:rPr lang="zh-CN" altLang="en-US" sz="1600" dirty="0"/>
              <a:t> </a:t>
            </a:r>
            <a:r>
              <a:rPr lang="en-US" altLang="zh-CN" sz="1600" dirty="0"/>
              <a:t>1999, Analytica </a:t>
            </a:r>
            <a:r>
              <a:rPr lang="en-US" altLang="zh-CN" sz="1600" dirty="0" err="1"/>
              <a:t>Chimica</a:t>
            </a:r>
            <a:r>
              <a:rPr lang="en-US" altLang="zh-CN" sz="1600" dirty="0"/>
              <a:t> Acta</a:t>
            </a:r>
            <a:endParaRPr lang="zh-CN" altLang="en-US" sz="1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389DEC-23E7-47E1-AE05-86E7D864E2FE}"/>
              </a:ext>
            </a:extLst>
          </p:cNvPr>
          <p:cNvSpPr/>
          <p:nvPr/>
        </p:nvSpPr>
        <p:spPr>
          <a:xfrm>
            <a:off x="2195736" y="2842904"/>
            <a:ext cx="5421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505050"/>
                </a:solidFill>
                <a:latin typeface="Arial" panose="020B0604020202020204" pitchFamily="34" charset="0"/>
              </a:rPr>
              <a:t>urea</a:t>
            </a:r>
            <a:endParaRPr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382817-8F30-45EC-9820-2AE0482F87B5}"/>
              </a:ext>
            </a:extLst>
          </p:cNvPr>
          <p:cNvSpPr/>
          <p:nvPr/>
        </p:nvSpPr>
        <p:spPr>
          <a:xfrm>
            <a:off x="1457565" y="3064406"/>
            <a:ext cx="11610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505050"/>
                </a:solidFill>
                <a:latin typeface="Arial" panose="020B0604020202020204" pitchFamily="34" charset="0"/>
              </a:rPr>
              <a:t>ammonium</a:t>
            </a:r>
            <a:endParaRPr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F0DED3-0ECB-4018-89FF-947F29C9DBF4}"/>
              </a:ext>
            </a:extLst>
          </p:cNvPr>
          <p:cNvSpPr/>
          <p:nvPr/>
        </p:nvSpPr>
        <p:spPr>
          <a:xfrm>
            <a:off x="849280" y="1929202"/>
            <a:ext cx="23775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溶液的酸碱度</a:t>
            </a:r>
            <a:endParaRPr lang="en-US" altLang="zh-CN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63206E-E5E4-4407-979F-01C0F3EF1AFF}"/>
              </a:ext>
            </a:extLst>
          </p:cNvPr>
          <p:cNvSpPr/>
          <p:nvPr/>
        </p:nvSpPr>
        <p:spPr>
          <a:xfrm>
            <a:off x="1627443" y="5480858"/>
            <a:ext cx="540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737373"/>
                </a:solidFill>
                <a:latin typeface="Arial" panose="020B0604020202020204" pitchFamily="34" charset="0"/>
              </a:rPr>
              <a:t>Fig. 4. Comparison of the photooxidation of urea and ammonium chloride at different pH values in the presence of </a:t>
            </a:r>
            <a:r>
              <a:rPr lang="en-US" altLang="zh-CN" dirty="0" err="1">
                <a:solidFill>
                  <a:srgbClr val="737373"/>
                </a:solidFill>
                <a:latin typeface="Arial" panose="020B0604020202020204" pitchFamily="34" charset="0"/>
              </a:rPr>
              <a:t>peroxodisulphate</a:t>
            </a:r>
            <a:r>
              <a:rPr lang="en-US" altLang="zh-CN" dirty="0">
                <a:solidFill>
                  <a:srgbClr val="737373"/>
                </a:solidFill>
                <a:latin typeface="Arial" panose="020B0604020202020204" pitchFamily="34" charset="0"/>
              </a:rPr>
              <a:t> (4 g l</a:t>
            </a:r>
            <a:r>
              <a:rPr lang="en-US" altLang="zh-CN" baseline="30000" dirty="0">
                <a:solidFill>
                  <a:srgbClr val="737373"/>
                </a:solidFill>
                <a:latin typeface="Arial" panose="020B0604020202020204" pitchFamily="34" charset="0"/>
              </a:rPr>
              <a:t>−1</a:t>
            </a:r>
            <a:r>
              <a:rPr lang="en-US" altLang="zh-CN" dirty="0">
                <a:solidFill>
                  <a:srgbClr val="737373"/>
                </a:solidFill>
                <a:latin typeface="Arial" panose="020B0604020202020204" pitchFamily="34" charset="0"/>
              </a:rPr>
              <a:t>)</a:t>
            </a:r>
            <a:endParaRPr lang="zh-CN" altLang="en-US" dirty="0"/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5DB0756C-27E8-492A-A5B5-9E60E56AD151}"/>
              </a:ext>
            </a:extLst>
          </p:cNvPr>
          <p:cNvSpPr txBox="1"/>
          <p:nvPr/>
        </p:nvSpPr>
        <p:spPr>
          <a:xfrm>
            <a:off x="1403648" y="384060"/>
            <a:ext cx="7607768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海水中的总磷、总硅和总氮的消解</a:t>
            </a:r>
          </a:p>
        </p:txBody>
      </p:sp>
    </p:spTree>
    <p:extLst>
      <p:ext uri="{BB962C8B-B14F-4D97-AF65-F5344CB8AC3E}">
        <p14:creationId xmlns:p14="http://schemas.microsoft.com/office/powerpoint/2010/main" val="12491350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619672" y="452411"/>
            <a:ext cx="6357982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海水中的总磷</a:t>
            </a:r>
          </a:p>
        </p:txBody>
      </p:sp>
      <p:pic>
        <p:nvPicPr>
          <p:cNvPr id="159747" name="Picture 3" descr="E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385589"/>
            <a:ext cx="8031836" cy="1048034"/>
          </a:xfrm>
          <a:prstGeom prst="rect">
            <a:avLst/>
          </a:prstGeom>
          <a:noFill/>
        </p:spPr>
      </p:pic>
      <p:pic>
        <p:nvPicPr>
          <p:cNvPr id="159751" name="Picture 7" descr="E:\课程\课件\课程图片\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2500306"/>
            <a:ext cx="7417371" cy="33575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85120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28728" y="500042"/>
            <a:ext cx="6357982" cy="58477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2">
                    <a:lumMod val="25000"/>
                  </a:schemeClr>
                </a:solidFill>
                <a:latin typeface="华文新魏" pitchFamily="2" charset="-122"/>
                <a:ea typeface="华文新魏" pitchFamily="2" charset="-122"/>
              </a:rPr>
              <a:t>海水中的总硅</a:t>
            </a:r>
          </a:p>
        </p:txBody>
      </p:sp>
      <p:pic>
        <p:nvPicPr>
          <p:cNvPr id="169986" name="Picture 2" descr="E:\课程\课件\课程图片\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696" y="2693883"/>
            <a:ext cx="7846207" cy="3664075"/>
          </a:xfrm>
          <a:prstGeom prst="rect">
            <a:avLst/>
          </a:prstGeom>
          <a:noFill/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E5D4D47-7FDD-4898-B8CE-A6E4544C3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96" y="1282830"/>
            <a:ext cx="7671412" cy="78477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AF5771B-6304-4BCD-8133-455EE44D2E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56" y="2085159"/>
            <a:ext cx="6235700" cy="48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382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82EC1-F9E3-467C-87EB-264E74CF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CFB712-18B7-4177-847A-1F7718ACE064}"/>
              </a:ext>
            </a:extLst>
          </p:cNvPr>
          <p:cNvSpPr/>
          <p:nvPr/>
        </p:nvSpPr>
        <p:spPr>
          <a:xfrm>
            <a:off x="539552" y="1772816"/>
            <a:ext cx="79928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磷钼蓝就是磷钼酸的</a:t>
            </a:r>
            <a:r>
              <a:rPr lang="en-US" altLang="zh-CN" dirty="0"/>
              <a:t>+6</a:t>
            </a:r>
            <a:r>
              <a:rPr lang="zh-CN" altLang="en-US" dirty="0"/>
              <a:t>价钼原子一部分被还原成了</a:t>
            </a:r>
            <a:r>
              <a:rPr lang="en-US" altLang="zh-CN" dirty="0"/>
              <a:t>+5</a:t>
            </a:r>
            <a:r>
              <a:rPr lang="zh-CN" altLang="en-US" dirty="0"/>
              <a:t>价</a:t>
            </a:r>
            <a:r>
              <a:rPr lang="en-US" altLang="zh-CN" dirty="0"/>
              <a:t>,</a:t>
            </a:r>
            <a:r>
              <a:rPr lang="zh-CN" altLang="en-US" dirty="0"/>
              <a:t>结构上和磷钼酸阴离子没有本质区别</a:t>
            </a:r>
            <a:r>
              <a:rPr lang="en-US" altLang="zh-CN" dirty="0"/>
              <a:t>,</a:t>
            </a:r>
            <a:r>
              <a:rPr lang="zh-CN" altLang="en-US" dirty="0"/>
              <a:t>仍然保持</a:t>
            </a:r>
            <a:r>
              <a:rPr lang="en-US" altLang="zh-CN" dirty="0" err="1"/>
              <a:t>keggin</a:t>
            </a:r>
            <a:r>
              <a:rPr lang="zh-CN" altLang="en-US" dirty="0"/>
              <a:t>结构。显色原理是</a:t>
            </a:r>
            <a:r>
              <a:rPr lang="en-US" altLang="zh-CN" dirty="0"/>
              <a:t>Mo(VI)</a:t>
            </a:r>
            <a:r>
              <a:rPr lang="zh-CN" altLang="en-US" dirty="0"/>
              <a:t>和</a:t>
            </a:r>
            <a:r>
              <a:rPr lang="en-US" altLang="zh-CN" dirty="0"/>
              <a:t>Mo(V)</a:t>
            </a:r>
            <a:r>
              <a:rPr lang="zh-CN" altLang="en-US" dirty="0"/>
              <a:t>之间的</a:t>
            </a:r>
            <a:r>
              <a:rPr lang="en-US" altLang="zh-CN" dirty="0"/>
              <a:t>LVCT</a:t>
            </a:r>
            <a:r>
              <a:rPr lang="zh-CN" altLang="en-US" dirty="0"/>
              <a:t>价间荷移。杂多酸在碱性条件下就分解不存在了。写结构式的话，比较清楚地一种是探究一下磷钼蓝的显色原理及其结构式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E87C5B-B5E4-4769-BC88-424182601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552" y="2973145"/>
            <a:ext cx="3280715" cy="328071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EFC7A18-D15E-4141-909B-701636F970D5}"/>
              </a:ext>
            </a:extLst>
          </p:cNvPr>
          <p:cNvSpPr/>
          <p:nvPr/>
        </p:nvSpPr>
        <p:spPr>
          <a:xfrm>
            <a:off x="539552" y="332832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钼酸（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Molybdic Acid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）是指水合形式的三氧化钼和相关物。一水合物是的</a:t>
            </a:r>
            <a:r>
              <a:rPr lang="en-US" altLang="zh-CN" dirty="0" err="1">
                <a:solidFill>
                  <a:srgbClr val="333333"/>
                </a:solidFill>
                <a:latin typeface="arial" panose="020B0604020202020204" pitchFamily="34" charset="0"/>
              </a:rPr>
              <a:t>MoO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 </a:t>
            </a:r>
            <a:r>
              <a:rPr lang="en-US" altLang="zh-CN" baseline="-25000" dirty="0">
                <a:solidFill>
                  <a:srgbClr val="333333"/>
                </a:solidFill>
                <a:latin typeface="arial" panose="020B0604020202020204" pitchFamily="34" charset="0"/>
              </a:rPr>
              <a:t>3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 ·H</a:t>
            </a:r>
            <a:r>
              <a:rPr lang="en-US" altLang="zh-CN" baseline="-25000" dirty="0">
                <a:solidFill>
                  <a:srgbClr val="333333"/>
                </a:solidFill>
                <a:latin typeface="arial" panose="020B0604020202020204" pitchFamily="34" charset="0"/>
              </a:rPr>
              <a:t>2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 O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与二水合物的</a:t>
            </a:r>
            <a:r>
              <a:rPr lang="en-US" altLang="zh-CN" dirty="0" err="1">
                <a:solidFill>
                  <a:srgbClr val="333333"/>
                </a:solidFill>
                <a:latin typeface="arial" panose="020B0604020202020204" pitchFamily="34" charset="0"/>
              </a:rPr>
              <a:t>MoO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 </a:t>
            </a:r>
            <a:r>
              <a:rPr lang="en-US" altLang="zh-CN" baseline="-25000" dirty="0">
                <a:solidFill>
                  <a:srgbClr val="333333"/>
                </a:solidFill>
                <a:latin typeface="arial" panose="020B0604020202020204" pitchFamily="34" charset="0"/>
              </a:rPr>
              <a:t>3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 ·2H</a:t>
            </a:r>
            <a:r>
              <a:rPr lang="en-US" altLang="zh-CN" baseline="-25000" dirty="0">
                <a:solidFill>
                  <a:srgbClr val="333333"/>
                </a:solidFill>
                <a:latin typeface="arial" panose="020B0604020202020204" pitchFamily="34" charset="0"/>
              </a:rPr>
              <a:t>2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 O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7888390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 1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rgbClr val="3399FF"/>
            </a:solidFill>
            <a:effectLst/>
            <a:latin typeface="Arial" charset="0"/>
            <a:ea typeface="华文行楷" pitchFamily="2" charset="-122"/>
          </a:defRPr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1555</Words>
  <Application>Microsoft Office PowerPoint</Application>
  <PresentationFormat>全屏显示(4:3)</PresentationFormat>
  <Paragraphs>204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2" baseType="lpstr">
      <vt:lpstr>Adobe 黑体 Std R</vt:lpstr>
      <vt:lpstr>黑体</vt:lpstr>
      <vt:lpstr>华文行楷</vt:lpstr>
      <vt:lpstr>华文新魏</vt:lpstr>
      <vt:lpstr>宋体</vt:lpstr>
      <vt:lpstr>微软雅黑</vt:lpstr>
      <vt:lpstr>Arial</vt:lpstr>
      <vt:lpstr>Arial</vt:lpstr>
      <vt:lpstr>Calibri</vt:lpstr>
      <vt:lpstr>Times New Roman</vt:lpstr>
      <vt:lpstr>Wingdings</vt:lpstr>
      <vt:lpstr>默认设计模板</vt:lpstr>
      <vt:lpstr>Equation</vt:lpstr>
      <vt:lpstr>海水分析化学 Chemistry of seawater analysis </vt:lpstr>
      <vt:lpstr>PowerPoint 演示文稿</vt:lpstr>
      <vt:lpstr>一、硅循环的重要性</vt:lpstr>
      <vt:lpstr>PowerPoint 演示文稿</vt:lpstr>
      <vt:lpstr>海洋硅循环</vt:lpstr>
      <vt:lpstr>第五章 海水中的硅酸盐</vt:lpstr>
      <vt:lpstr>第五章 海水中的硅酸盐</vt:lpstr>
      <vt:lpstr>PowerPoint 演示文稿</vt:lpstr>
      <vt:lpstr>PowerPoint 演示文稿</vt:lpstr>
      <vt:lpstr>PowerPoint 演示文稿</vt:lpstr>
      <vt:lpstr>PowerPoint 演示文稿</vt:lpstr>
      <vt:lpstr>第五章 海水中的硅酸盐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</dc:creator>
  <cp:lastModifiedBy>Administrator</cp:lastModifiedBy>
  <cp:revision>1715</cp:revision>
  <dcterms:created xsi:type="dcterms:W3CDTF">2013-10-17T05:15:34Z</dcterms:created>
  <dcterms:modified xsi:type="dcterms:W3CDTF">2022-11-07T01:06:04Z</dcterms:modified>
</cp:coreProperties>
</file>