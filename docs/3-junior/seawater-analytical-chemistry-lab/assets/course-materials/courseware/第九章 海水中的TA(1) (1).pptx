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68" r:id="rId2"/>
    <p:sldId id="526" r:id="rId3"/>
    <p:sldId id="449" r:id="rId4"/>
    <p:sldId id="450" r:id="rId5"/>
    <p:sldId id="451" r:id="rId6"/>
    <p:sldId id="532" r:id="rId7"/>
    <p:sldId id="452" r:id="rId8"/>
    <p:sldId id="520" r:id="rId9"/>
    <p:sldId id="510" r:id="rId10"/>
    <p:sldId id="530" r:id="rId11"/>
    <p:sldId id="448" r:id="rId12"/>
    <p:sldId id="482" r:id="rId13"/>
    <p:sldId id="525" r:id="rId14"/>
    <p:sldId id="467" r:id="rId15"/>
    <p:sldId id="462" r:id="rId16"/>
    <p:sldId id="460" r:id="rId17"/>
    <p:sldId id="521" r:id="rId18"/>
    <p:sldId id="459" r:id="rId19"/>
    <p:sldId id="522" r:id="rId20"/>
    <p:sldId id="464" r:id="rId21"/>
    <p:sldId id="523" r:id="rId22"/>
    <p:sldId id="465" r:id="rId23"/>
    <p:sldId id="466" r:id="rId24"/>
    <p:sldId id="484" r:id="rId25"/>
    <p:sldId id="478" r:id="rId26"/>
    <p:sldId id="477" r:id="rId27"/>
    <p:sldId id="524" r:id="rId28"/>
    <p:sldId id="480" r:id="rId29"/>
    <p:sldId id="481" r:id="rId30"/>
    <p:sldId id="509" r:id="rId31"/>
    <p:sldId id="511" r:id="rId32"/>
    <p:sldId id="513" r:id="rId33"/>
    <p:sldId id="512" r:id="rId34"/>
    <p:sldId id="514" r:id="rId35"/>
    <p:sldId id="483" r:id="rId36"/>
    <p:sldId id="516" r:id="rId37"/>
    <p:sldId id="517" r:id="rId38"/>
    <p:sldId id="518" r:id="rId39"/>
    <p:sldId id="519" r:id="rId40"/>
    <p:sldId id="531" r:id="rId41"/>
    <p:sldId id="486" r:id="rId4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172" autoAdjust="0"/>
    <p:restoredTop sz="94477" autoAdjust="0"/>
  </p:normalViewPr>
  <p:slideViewPr>
    <p:cSldViewPr>
      <p:cViewPr varScale="1">
        <p:scale>
          <a:sx n="104" d="100"/>
          <a:sy n="104" d="100"/>
        </p:scale>
        <p:origin x="234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4C2AD-C9B0-406F-8123-A0E121BD4683}" type="datetimeFigureOut">
              <a:rPr lang="zh-CN" altLang="en-US" smtClean="0"/>
              <a:pPr/>
              <a:t>2022/11/28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D5C9DF-7B2A-45F8-A4B2-C2901DB614D7}" type="slidenum">
              <a:rPr lang="zh-CN" altLang="en-US" smtClean="0"/>
              <a:pPr/>
              <a:t>‹#›</a:t>
            </a:fld>
            <a:endParaRPr lang="zh-CN" altLang="en-US"/>
          </a:p>
        </p:txBody>
      </p:sp>
    </p:spTree>
    <p:extLst>
      <p:ext uri="{BB962C8B-B14F-4D97-AF65-F5344CB8AC3E}">
        <p14:creationId xmlns:p14="http://schemas.microsoft.com/office/powerpoint/2010/main" val="1501093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zh-CN"/>
          </a:p>
        </p:txBody>
      </p:sp>
      <p:sp>
        <p:nvSpPr>
          <p:cNvPr id="4" name="Rectangle 3"/>
          <p:cNvSpPr>
            <a:spLocks noGrp="1"/>
          </p:cNvSpPr>
          <p:nvPr>
            <p:ph type="sldNum" sz="quarter" idx="10"/>
          </p:nvPr>
        </p:nvSpPr>
        <p:spPr/>
        <p:txBody>
          <a:bodyPr/>
          <a:lstStyle/>
          <a:p>
            <a:fld id="{CA5D3BF3-D352-46FC-8343-31F56E6730EA}" type="slidenum">
              <a:rPr lang="en-US" altLang="zh-CN" smtClean="0"/>
              <a:pPr/>
              <a:t>1</a:t>
            </a:fld>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a:defRPr>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94D163F-C9B0-4A35-98DC-3A4DEFF7EC3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95955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mj-lt"/>
                <a:ea typeface="黑体" pitchFamily="49"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sz="2800">
                <a:latin typeface="+mj-lt"/>
              </a:defRPr>
            </a:lvl1pPr>
            <a:lvl2pPr>
              <a:defRPr sz="2400">
                <a:latin typeface="+mj-lt"/>
              </a:defRPr>
            </a:lvl2pPr>
            <a:lvl3pPr>
              <a:defRPr sz="2000">
                <a:latin typeface="+mj-lt"/>
              </a:defRPr>
            </a:lvl3pPr>
            <a:lvl4pPr>
              <a:defRPr>
                <a:latin typeface="+mj-lt"/>
              </a:defRPr>
            </a:lvl4pPr>
            <a:lvl5pPr>
              <a:defRPr>
                <a:latin typeface="+mj-l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47D8075-E72B-4BF6-9481-6760148A8FB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4219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457C1C9-6B1A-4E8D-80D9-1F406FED743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6852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mj-lt"/>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EC21727-E14B-4214-A96B-5D5149B9EB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878907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EA1E3A4-CA4C-4B0F-B7EE-93652856C6C1}"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1903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rial" pitchFamily="34" charset="0"/>
                <a:cs typeface="Arial" pitchFamily="34" charset="0"/>
              </a:defRPr>
            </a:lvl1pPr>
          </a:lstStyle>
          <a:p>
            <a:r>
              <a:rPr lang="zh-CN" altLang="en-US" dirty="0"/>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8CECA82-AB81-42B0-A316-04B221EF0FF5}"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5188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0B41B4E-1D51-4764-BB26-0A928DDC6932}"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6630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70AD128-FF11-46E7-83AD-EE5A40B3154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2287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A050332-BC1C-4A8B-973F-88E43E2277C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62072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017FBC4-3B96-4753-85AE-096B9B71EBCA}"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79284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AFF8586-B1A6-49E8-9A88-F7855FBD37B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35470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pPr eaLnBrk="1" latinLnBrk="0" hangingPunct="1"/>
            <a:r>
              <a:rPr lang="zh-CN" altLang="en-US"/>
              <a:t>单击此处编辑母版标题样式</a:t>
            </a:r>
            <a:endParaRPr/>
          </a:p>
        </p:txBody>
      </p:sp>
      <p:sp>
        <p:nvSpPr>
          <p:cNvPr id="3" name="Rectangle 2"/>
          <p:cNvSpPr>
            <a:spLocks noGrp="1"/>
          </p:cNvSpPr>
          <p:nvPr>
            <p:ph type="dt" sz="half" idx="10"/>
          </p:nvPr>
        </p:nvSpPr>
        <p:spPr/>
        <p:txBody>
          <a:bodyPr/>
          <a:lstStyle/>
          <a:p>
            <a:fld id="{E4606EA6-EFEA-4C30-9264-4F9291A5780D}" type="datetime1">
              <a:rPr lang="zh-CN" altLang="en-US"/>
              <a:pPr/>
              <a:t>2022/11/28</a:t>
            </a:fld>
            <a:endParaRPr kumimoji="0" lang="zh-CN"/>
          </a:p>
        </p:txBody>
      </p:sp>
      <p:sp>
        <p:nvSpPr>
          <p:cNvPr id="4" name="Rectangle 3"/>
          <p:cNvSpPr>
            <a:spLocks noGrp="1"/>
          </p:cNvSpPr>
          <p:nvPr>
            <p:ph type="ftr" sz="quarter" idx="11"/>
          </p:nvPr>
        </p:nvSpPr>
        <p:spPr/>
        <p:txBody>
          <a:bodyPr/>
          <a:lstStyle/>
          <a:p>
            <a:endParaRPr kumimoji="0" lang="zh-CN"/>
          </a:p>
        </p:txBody>
      </p:sp>
      <p:sp>
        <p:nvSpPr>
          <p:cNvPr id="5" name="Rectangle 4"/>
          <p:cNvSpPr>
            <a:spLocks noGrp="1"/>
          </p:cNvSpPr>
          <p:nvPr>
            <p:ph type="sldNum" sz="quarter" idx="12"/>
          </p:nvPr>
        </p:nvSpPr>
        <p:spPr/>
        <p:txBody>
          <a:bodyPr/>
          <a:lstStyle/>
          <a:p>
            <a:pPr algn="ctr"/>
            <a:fld id="{8F82E0A0-C266-4798-8C8F-B9F91E9DA37E}" type="slidenum">
              <a:rPr kumimoji="0" lang="zh-CN" sz="1400" b="1">
                <a:solidFill>
                  <a:srgbClr val="FFFFFF"/>
                </a:solidFill>
              </a:rPr>
              <a:pPr algn="ctr"/>
              <a:t>‹#›</a:t>
            </a:fld>
            <a:endParaRPr kumimoji="0" lang="zh-CN"/>
          </a:p>
        </p:txBody>
      </p:sp>
      <p:sp>
        <p:nvSpPr>
          <p:cNvPr id="7" name="Rectangle 6"/>
          <p:cNvSpPr>
            <a:spLocks noGrp="1"/>
          </p:cNvSpPr>
          <p:nvPr>
            <p:ph sz="quarter" idx="13"/>
          </p:nvPr>
        </p:nvSpPr>
        <p:spPr>
          <a:xfrm>
            <a:off x="609600" y="1803400"/>
            <a:ext cx="8153400" cy="4368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ea typeface="+mn-ea"/>
              </a:defRPr>
            </a:lvl1pPr>
          </a:lstStyle>
          <a:p>
            <a:pPr fontAlgn="base">
              <a:spcBef>
                <a:spcPct val="0"/>
              </a:spcBef>
              <a:spcAft>
                <a:spcPct val="0"/>
              </a:spcAft>
              <a:defRPr/>
            </a:pPr>
            <a:endParaRPr lang="en-US" altLang="zh-CN">
              <a:solidFill>
                <a:srgbClr val="000000"/>
              </a:solidFill>
              <a:latin typeface="Arial"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ea typeface="+mn-ea"/>
              </a:defRPr>
            </a:lvl1pPr>
          </a:lstStyle>
          <a:p>
            <a:pPr fontAlgn="base">
              <a:spcBef>
                <a:spcPct val="0"/>
              </a:spcBef>
              <a:spcAft>
                <a:spcPct val="0"/>
              </a:spcAft>
              <a:defRPr/>
            </a:pPr>
            <a:fld id="{F9E0FACD-AE8A-4C16-8A1E-FCBCB8577A05}" type="slidenum">
              <a:rPr lang="en-US" altLang="zh-CN">
                <a:solidFill>
                  <a:srgbClr val="000000"/>
                </a:solidFill>
                <a:latin typeface="Arial" charset="0"/>
              </a:rPr>
              <a:pPr fontAlgn="base">
                <a:spcBef>
                  <a:spcPct val="0"/>
                </a:spcBef>
                <a:spcAft>
                  <a:spcPct val="0"/>
                </a:spcAft>
                <a:defRPr/>
              </a:pPr>
              <a:t>‹#›</a:t>
            </a:fld>
            <a:endParaRPr lang="en-US" altLang="zh-CN">
              <a:solidFill>
                <a:srgbClr val="000000"/>
              </a:solidFill>
              <a:latin typeface="Arial" charset="0"/>
            </a:endParaRPr>
          </a:p>
        </p:txBody>
      </p:sp>
      <p:pic>
        <p:nvPicPr>
          <p:cNvPr id="7" name="图片 6" descr="院标-圆形图案 无背景.png"/>
          <p:cNvPicPr>
            <a:picLocks noChangeAspect="1"/>
          </p:cNvPicPr>
          <p:nvPr userDrawn="1"/>
        </p:nvPicPr>
        <p:blipFill>
          <a:blip r:embed="rId15" cstate="print"/>
          <a:srcRect l="10812" t="7462" r="8098" b="13504"/>
          <a:stretch>
            <a:fillRect/>
          </a:stretch>
        </p:blipFill>
        <p:spPr>
          <a:xfrm>
            <a:off x="149675" y="188640"/>
            <a:ext cx="1181965" cy="1152000"/>
          </a:xfrm>
          <a:prstGeom prst="rect">
            <a:avLst/>
          </a:prstGeom>
        </p:spPr>
      </p:pic>
    </p:spTree>
    <p:extLst>
      <p:ext uri="{BB962C8B-B14F-4D97-AF65-F5344CB8AC3E}">
        <p14:creationId xmlns:p14="http://schemas.microsoft.com/office/powerpoint/2010/main" val="10179896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p:cNvSpPr>
          <p:nvPr>
            <p:ph type="body" idx="1"/>
          </p:nvPr>
        </p:nvSpPr>
        <p:spPr>
          <a:xfrm>
            <a:off x="1214414" y="3643314"/>
            <a:ext cx="7123113" cy="1673225"/>
          </a:xfrm>
        </p:spPr>
        <p:txBody>
          <a:bodyPr>
            <a:noAutofit/>
          </a:bodyPr>
          <a:lstStyle/>
          <a:p>
            <a:pPr algn="ctr"/>
            <a:r>
              <a:rPr lang="zh-CN" altLang="en-US" sz="2000" dirty="0">
                <a:latin typeface="Adobe 黑体 Std R" pitchFamily="34" charset="-122"/>
                <a:ea typeface="Adobe 黑体 Std R" pitchFamily="34" charset="-122"/>
              </a:rPr>
              <a:t>潘依雯</a:t>
            </a:r>
            <a:endParaRPr lang="en-US" altLang="zh-CN" sz="2000" dirty="0">
              <a:latin typeface="Adobe 黑体 Std R" pitchFamily="34" charset="-122"/>
              <a:ea typeface="Adobe 黑体 Std R" pitchFamily="34" charset="-122"/>
            </a:endParaRPr>
          </a:p>
          <a:p>
            <a:pPr algn="ctr"/>
            <a:r>
              <a:rPr lang="zh-CN" altLang="en-US" sz="2000" dirty="0">
                <a:latin typeface="Adobe 黑体 Std R" pitchFamily="34" charset="-122"/>
                <a:ea typeface="Adobe 黑体 Std R" pitchFamily="34" charset="-122"/>
              </a:rPr>
              <a:t>海洋学院</a:t>
            </a:r>
            <a:r>
              <a:rPr lang="zh-CN" altLang="en-US" dirty="0">
                <a:latin typeface="Adobe 黑体 Std R" pitchFamily="34" charset="-122"/>
                <a:ea typeface="Adobe 黑体 Std R" pitchFamily="34" charset="-122"/>
              </a:rPr>
              <a:t>海洋化学与环境所</a:t>
            </a:r>
            <a:endParaRPr lang="en-US" altLang="zh-CN" sz="2000" dirty="0">
              <a:latin typeface="Adobe 黑体 Std R" pitchFamily="34" charset="-122"/>
              <a:ea typeface="Adobe 黑体 Std R" pitchFamily="34" charset="-122"/>
            </a:endParaRPr>
          </a:p>
          <a:p>
            <a:pPr algn="ctr"/>
            <a:r>
              <a:rPr lang="zh-CN" altLang="en-US" sz="2000" dirty="0"/>
              <a:t>海科楼</a:t>
            </a:r>
            <a:r>
              <a:rPr lang="en-US" altLang="zh-CN" sz="2000" dirty="0"/>
              <a:t>319</a:t>
            </a:r>
            <a:r>
              <a:rPr lang="zh-CN" altLang="en-US" sz="2000" dirty="0"/>
              <a:t>，</a:t>
            </a:r>
            <a:r>
              <a:rPr lang="en-US" altLang="zh-CN" sz="2000" dirty="0"/>
              <a:t>Email: evelynpan@zju.edu.cn</a:t>
            </a:r>
            <a:endParaRPr lang="zh-CN" sz="2000" dirty="0"/>
          </a:p>
        </p:txBody>
      </p:sp>
      <p:sp>
        <p:nvSpPr>
          <p:cNvPr id="4" name="Rectangle 3"/>
          <p:cNvSpPr>
            <a:spLocks noGrp="1"/>
          </p:cNvSpPr>
          <p:nvPr>
            <p:ph type="title"/>
          </p:nvPr>
        </p:nvSpPr>
        <p:spPr>
          <a:xfrm>
            <a:off x="1142976" y="428604"/>
            <a:ext cx="7171730" cy="1797920"/>
          </a:xfrm>
        </p:spPr>
        <p:txBody>
          <a:bodyPr>
            <a:normAutofit fontScale="90000"/>
          </a:bodyPr>
          <a:lstStyle/>
          <a:p>
            <a:pPr algn="ctr"/>
            <a:r>
              <a:rPr lang="zh-CN" altLang="en-US" dirty="0"/>
              <a:t>海水分析化学</a:t>
            </a:r>
            <a:br>
              <a:rPr lang="en-US" altLang="zh-CN" dirty="0"/>
            </a:br>
            <a:r>
              <a:rPr lang="en-US" altLang="zh-CN" sz="3600" dirty="0"/>
              <a:t>Chemistry of seawater analysis </a:t>
            </a:r>
            <a:endParaRPr lang="zh-CN" dirty="0"/>
          </a:p>
        </p:txBody>
      </p:sp>
      <p:sp>
        <p:nvSpPr>
          <p:cNvPr id="8" name="TextBox 6"/>
          <p:cNvSpPr txBox="1">
            <a:spLocks noChangeArrowheads="1"/>
          </p:cNvSpPr>
          <p:nvPr/>
        </p:nvSpPr>
        <p:spPr bwMode="auto">
          <a:xfrm>
            <a:off x="7524328" y="6021289"/>
            <a:ext cx="1491086" cy="461653"/>
          </a:xfrm>
          <a:prstGeom prst="rect">
            <a:avLst/>
          </a:prstGeom>
          <a:noFill/>
          <a:ln w="9525">
            <a:noFill/>
            <a:miter lim="800000"/>
            <a:headEnd/>
            <a:tailEnd/>
          </a:ln>
        </p:spPr>
        <p:txBody>
          <a:bodyPr wrap="none" lIns="91426" tIns="45714" rIns="91426" bIns="45714">
            <a:spAutoFit/>
          </a:bodyPr>
          <a:lstStyle/>
          <a:p>
            <a:r>
              <a:rPr lang="zh-CN" altLang="en-US" sz="2400" dirty="0">
                <a:solidFill>
                  <a:srgbClr val="00B0F0"/>
                </a:solidFill>
                <a:latin typeface="华文行楷" pitchFamily="2" charset="-122"/>
                <a:ea typeface="华文行楷" pitchFamily="2" charset="-122"/>
              </a:rPr>
              <a:t>宽厚 跨越</a:t>
            </a:r>
          </a:p>
        </p:txBody>
      </p:sp>
      <p:sp>
        <p:nvSpPr>
          <p:cNvPr id="6" name="Rectangle 3"/>
          <p:cNvSpPr txBox="1">
            <a:spLocks/>
          </p:cNvSpPr>
          <p:nvPr/>
        </p:nvSpPr>
        <p:spPr bwMode="auto">
          <a:xfrm>
            <a:off x="1142976" y="2071678"/>
            <a:ext cx="7171730" cy="17979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7500"/>
          </a:bodyPr>
          <a:lstStyle/>
          <a:p>
            <a:pPr marL="0" marR="0" lvl="0" indent="0" algn="ctr" defTabSz="914400" rtl="0" eaLnBrk="0" fontAlgn="base" latinLnBrk="0" hangingPunct="0">
              <a:lnSpc>
                <a:spcPct val="100000"/>
              </a:lnSpc>
              <a:spcBef>
                <a:spcPct val="0"/>
              </a:spcBef>
              <a:spcAft>
                <a:spcPct val="0"/>
              </a:spcAft>
              <a:buClrTx/>
              <a:buSzTx/>
              <a:buFontTx/>
              <a:buNone/>
              <a:tabLst/>
              <a:defRPr/>
            </a:pPr>
            <a:br>
              <a:rPr kumimoji="0" lang="en-US" altLang="zh-CN" sz="3600" b="1" i="0" u="none" strike="noStrike" kern="0" cap="all" spc="0" normalizeH="0" baseline="0" noProof="0" dirty="0">
                <a:ln>
                  <a:noFill/>
                </a:ln>
                <a:solidFill>
                  <a:schemeClr val="tx2"/>
                </a:solidFill>
                <a:effectLst/>
                <a:uLnTx/>
                <a:uFillTx/>
                <a:latin typeface="+mj-lt"/>
                <a:ea typeface="+mj-ea"/>
                <a:cs typeface="+mj-cs"/>
              </a:rPr>
            </a:br>
            <a:r>
              <a:rPr kumimoji="0" lang="en-US" altLang="zh-CN" sz="3300" b="1" i="0" u="none" strike="noStrike" kern="0" cap="all" spc="0" normalizeH="0" baseline="0" noProof="0" dirty="0">
                <a:ln>
                  <a:noFill/>
                </a:ln>
                <a:solidFill>
                  <a:srgbClr val="FF0000"/>
                </a:solidFill>
                <a:effectLst/>
                <a:uLnTx/>
                <a:uFillTx/>
                <a:latin typeface="+mj-lt"/>
                <a:ea typeface="+mj-ea"/>
                <a:cs typeface="+mj-cs"/>
              </a:rPr>
              <a:t>Methods of seawater analysis </a:t>
            </a:r>
            <a:endParaRPr kumimoji="0" lang="zh-CN" sz="3600" b="1" i="0" u="none" strike="noStrike" kern="0" cap="all"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a:extLst>
              <a:ext uri="{FF2B5EF4-FFF2-40B4-BE49-F238E27FC236}">
                <a16:creationId xmlns:a16="http://schemas.microsoft.com/office/drawing/2014/main" id="{A2D4AFCF-4863-4C14-BC4F-C4FFBDCA7560}"/>
              </a:ext>
            </a:extLst>
          </p:cNvPr>
          <p:cNvSpPr txBox="1">
            <a:spLocks/>
          </p:cNvSpPr>
          <p:nvPr/>
        </p:nvSpPr>
        <p:spPr>
          <a:xfrm>
            <a:off x="457200" y="1412776"/>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zh-CN" sz="1800" kern="1200" baseline="0">
                <a:solidFill>
                  <a:schemeClr val="tx1"/>
                </a:solidFill>
                <a:latin typeface="+mn-lt"/>
                <a:ea typeface="+mn-ea"/>
                <a:cs typeface="+mn-cs"/>
              </a:defRPr>
            </a:lvl9pPr>
            <a:extLst/>
          </a:lstStyle>
          <a:p>
            <a:r>
              <a:rPr lang="zh-CN" altLang="en-US" dirty="0"/>
              <a:t>提纲</a:t>
            </a:r>
          </a:p>
          <a:p>
            <a:pPr marL="914400" lvl="1" indent="-457200">
              <a:buFont typeface="+mj-lt"/>
              <a:buAutoNum type="arabicPeriod"/>
            </a:pPr>
            <a:r>
              <a:rPr lang="en-US" altLang="zh-CN" sz="2800" dirty="0"/>
              <a:t>TA</a:t>
            </a:r>
          </a:p>
          <a:p>
            <a:pPr marL="1188720" lvl="2" indent="-457200">
              <a:buFont typeface="+mj-ea"/>
              <a:buAutoNum type="circleNumDbPlain"/>
            </a:pPr>
            <a:r>
              <a:rPr lang="zh-CN" altLang="en-US" sz="2500" dirty="0"/>
              <a:t>海水中</a:t>
            </a:r>
            <a:r>
              <a:rPr lang="en-US" altLang="zh-CN" sz="2500" dirty="0"/>
              <a:t>TA</a:t>
            </a:r>
            <a:r>
              <a:rPr lang="zh-CN" altLang="en-US" sz="2500" dirty="0"/>
              <a:t>的定义</a:t>
            </a:r>
            <a:endParaRPr lang="zh-CN" altLang="en-US" sz="2800" dirty="0"/>
          </a:p>
          <a:p>
            <a:pPr marL="1188720" lvl="2" indent="-457200">
              <a:buFont typeface="+mj-lt"/>
              <a:buAutoNum type="circleNumDbPlain"/>
            </a:pPr>
            <a:r>
              <a:rPr lang="zh-CN" altLang="en-US" sz="2500" dirty="0"/>
              <a:t>影响海水</a:t>
            </a:r>
            <a:r>
              <a:rPr lang="en-US" altLang="zh-CN" sz="2500" dirty="0"/>
              <a:t>TA</a:t>
            </a:r>
            <a:r>
              <a:rPr lang="zh-CN" altLang="en-US" sz="2500" dirty="0"/>
              <a:t>的主要因素</a:t>
            </a:r>
            <a:endParaRPr lang="en-US" altLang="zh-CN" sz="2500" dirty="0"/>
          </a:p>
          <a:p>
            <a:pPr marL="1188720" lvl="2" indent="-457200">
              <a:buFont typeface="+mj-lt"/>
              <a:buAutoNum type="circleNumDbPlain"/>
            </a:pPr>
            <a:r>
              <a:rPr lang="zh-CN" altLang="en-US" sz="2500" dirty="0"/>
              <a:t>测量</a:t>
            </a:r>
            <a:r>
              <a:rPr lang="en-US" altLang="zh-CN" sz="2500" dirty="0"/>
              <a:t>TA</a:t>
            </a:r>
            <a:r>
              <a:rPr lang="zh-CN" altLang="en-US" sz="2500" dirty="0"/>
              <a:t>的方法</a:t>
            </a:r>
          </a:p>
          <a:p>
            <a:pPr marL="1703070" lvl="3" indent="-514350">
              <a:buFont typeface="+mj-lt"/>
              <a:buAutoNum type="circleNumDbPlain"/>
            </a:pPr>
            <a:r>
              <a:rPr lang="zh-CN" altLang="en-US" dirty="0"/>
              <a:t>碘量法</a:t>
            </a:r>
            <a:endParaRPr lang="en-US" altLang="zh-CN" dirty="0"/>
          </a:p>
          <a:p>
            <a:pPr marL="1703070" lvl="3" indent="-514350">
              <a:buFont typeface="+mj-lt"/>
              <a:buAutoNum type="circleNumDbPlain"/>
            </a:pPr>
            <a:r>
              <a:rPr lang="zh-CN" altLang="en-US" dirty="0"/>
              <a:t>回滴法</a:t>
            </a:r>
            <a:endParaRPr lang="en-US" altLang="zh-CN" dirty="0"/>
          </a:p>
          <a:p>
            <a:pPr marL="1703070" lvl="3" indent="-514350">
              <a:buFont typeface="+mj-lt"/>
              <a:buAutoNum type="circleNumDbPlain"/>
            </a:pPr>
            <a:r>
              <a:rPr lang="zh-CN" altLang="en-US" dirty="0"/>
              <a:t>电导法</a:t>
            </a:r>
            <a:endParaRPr lang="en-US" altLang="zh-CN" dirty="0"/>
          </a:p>
          <a:p>
            <a:pPr marL="1703070" lvl="3" indent="-514350">
              <a:buFont typeface="+mj-lt"/>
              <a:buAutoNum type="circleNumDbPlain"/>
            </a:pPr>
            <a:r>
              <a:rPr lang="zh-CN" altLang="en-US" dirty="0"/>
              <a:t>电位法</a:t>
            </a:r>
            <a:endParaRPr lang="en-US" altLang="zh-CN" dirty="0"/>
          </a:p>
          <a:p>
            <a:pPr marL="1703070" lvl="3" indent="-514350">
              <a:buFont typeface="+mj-lt"/>
              <a:buAutoNum type="circleNumDbPlain"/>
            </a:pPr>
            <a:r>
              <a:rPr lang="zh-CN" altLang="en-US" dirty="0"/>
              <a:t>直接</a:t>
            </a:r>
            <a:r>
              <a:rPr lang="en-US" altLang="zh-CN" dirty="0"/>
              <a:t>pH</a:t>
            </a:r>
            <a:r>
              <a:rPr lang="zh-CN" altLang="en-US" dirty="0"/>
              <a:t>测量法</a:t>
            </a:r>
            <a:endParaRPr lang="en-US" altLang="zh-CN" dirty="0"/>
          </a:p>
          <a:p>
            <a:pPr marL="1245870" lvl="2" indent="-514350">
              <a:buFont typeface="+mj-lt"/>
              <a:buAutoNum type="circleNumDbPlain"/>
            </a:pPr>
            <a:r>
              <a:rPr lang="zh-CN" altLang="en-US" dirty="0"/>
              <a:t>测量</a:t>
            </a:r>
            <a:r>
              <a:rPr lang="en-US" altLang="zh-CN" dirty="0"/>
              <a:t>TA</a:t>
            </a:r>
            <a:r>
              <a:rPr lang="zh-CN" altLang="en-US" dirty="0"/>
              <a:t>的仪器</a:t>
            </a:r>
          </a:p>
          <a:p>
            <a:pPr marL="914400" lvl="1" indent="-457200">
              <a:buFont typeface="+mj-lt"/>
              <a:buAutoNum type="arabicPeriod"/>
            </a:pPr>
            <a:endParaRPr lang="zh-CN" altLang="en-US" dirty="0"/>
          </a:p>
        </p:txBody>
      </p:sp>
      <p:sp>
        <p:nvSpPr>
          <p:cNvPr id="5" name="TextBox 24">
            <a:extLst>
              <a:ext uri="{FF2B5EF4-FFF2-40B4-BE49-F238E27FC236}">
                <a16:creationId xmlns:a16="http://schemas.microsoft.com/office/drawing/2014/main" id="{EA2362A1-586F-44D1-BA02-A8DFEFCD7525}"/>
              </a:ext>
            </a:extLst>
          </p:cNvPr>
          <p:cNvSpPr txBox="1"/>
          <p:nvPr/>
        </p:nvSpPr>
        <p:spPr>
          <a:xfrm>
            <a:off x="1547664" y="548680"/>
            <a:ext cx="5518396" cy="584775"/>
          </a:xfrm>
          <a:prstGeom prst="rect">
            <a:avLst/>
          </a:prstGeom>
          <a:noFill/>
          <a:ln w="2222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第九章 海水中的</a:t>
            </a:r>
            <a:r>
              <a:rPr lang="en-US" altLang="zh-CN" sz="3200" b="1" dirty="0">
                <a:solidFill>
                  <a:schemeClr val="bg2">
                    <a:lumMod val="25000"/>
                  </a:schemeClr>
                </a:solidFill>
                <a:latin typeface="华文新魏" pitchFamily="2" charset="-122"/>
                <a:ea typeface="华文新魏" pitchFamily="2" charset="-122"/>
              </a:rPr>
              <a:t>TA</a:t>
            </a:r>
            <a:endParaRPr lang="zh-CN" altLang="en-US" sz="3200" b="1"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396883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323528" y="1268760"/>
            <a:ext cx="3671888" cy="576262"/>
          </a:xfrm>
        </p:spPr>
        <p:txBody>
          <a:bodyPr>
            <a:normAutofit fontScale="90000"/>
          </a:bodyPr>
          <a:lstStyle/>
          <a:p>
            <a:pPr marL="1066800" indent="-1066800" algn="l" eaLnBrk="1" hangingPunct="1"/>
            <a:r>
              <a:rPr lang="zh-CN" altLang="en-US" sz="3600" b="1" dirty="0">
                <a:solidFill>
                  <a:srgbClr val="7030A0"/>
                </a:solidFill>
                <a:latin typeface="Times New Roman" pitchFamily="18" charset="0"/>
                <a:ea typeface="黑体" pitchFamily="49" charset="-122"/>
                <a:cs typeface="Times New Roman" pitchFamily="18" charset="0"/>
              </a:rPr>
              <a:t>一、总碱度定义</a:t>
            </a:r>
          </a:p>
        </p:txBody>
      </p:sp>
      <p:sp>
        <p:nvSpPr>
          <p:cNvPr id="13316" name="Rectangle 5"/>
          <p:cNvSpPr>
            <a:spLocks noChangeArrowheads="1"/>
          </p:cNvSpPr>
          <p:nvPr/>
        </p:nvSpPr>
        <p:spPr bwMode="auto">
          <a:xfrm>
            <a:off x="1763688" y="332656"/>
            <a:ext cx="3241675" cy="719137"/>
          </a:xfrm>
          <a:prstGeom prst="rect">
            <a:avLst/>
          </a:prstGeom>
          <a:noFill/>
          <a:ln w="9525">
            <a:noFill/>
            <a:miter lim="800000"/>
            <a:headEnd/>
            <a:tailEnd/>
          </a:ln>
        </p:spPr>
        <p:txBody>
          <a:bodyPr anchor="ctr"/>
          <a:lstStyle/>
          <a:p>
            <a:pPr marL="1066800" indent="-1066800">
              <a:lnSpc>
                <a:spcPct val="100000"/>
              </a:lnSpc>
              <a:spcBef>
                <a:spcPct val="0"/>
              </a:spcBef>
              <a:buFontTx/>
              <a:buNone/>
            </a:pPr>
            <a:r>
              <a:rPr lang="zh-CN" altLang="en-US" sz="4000" dirty="0">
                <a:latin typeface="Times New Roman" pitchFamily="18" charset="0"/>
                <a:ea typeface="黑体" pitchFamily="49" charset="-122"/>
                <a:cs typeface="Times New Roman" pitchFamily="18" charset="0"/>
              </a:rPr>
              <a:t>总碱度</a:t>
            </a:r>
          </a:p>
        </p:txBody>
      </p:sp>
      <p:sp>
        <p:nvSpPr>
          <p:cNvPr id="13317" name="Text Box 6"/>
          <p:cNvSpPr txBox="1">
            <a:spLocks noChangeArrowheads="1"/>
          </p:cNvSpPr>
          <p:nvPr/>
        </p:nvSpPr>
        <p:spPr bwMode="auto">
          <a:xfrm>
            <a:off x="539552" y="1916832"/>
            <a:ext cx="8207375" cy="3925242"/>
          </a:xfrm>
          <a:prstGeom prst="rect">
            <a:avLst/>
          </a:prstGeom>
          <a:noFill/>
          <a:ln w="9525">
            <a:noFill/>
            <a:miter lim="800000"/>
            <a:headEnd/>
            <a:tailEnd/>
          </a:ln>
        </p:spPr>
        <p:txBody>
          <a:bodyPr lIns="18000" tIns="36000" rIns="18000" bIns="10800">
            <a:spAutoFit/>
          </a:bodyPr>
          <a:lstStyle/>
          <a:p>
            <a:pPr>
              <a:lnSpc>
                <a:spcPct val="150000"/>
              </a:lnSpc>
              <a:spcBef>
                <a:spcPct val="0"/>
              </a:spcBef>
              <a:buFont typeface="Arial" pitchFamily="34" charset="0"/>
              <a:buChar char="•"/>
            </a:pPr>
            <a:r>
              <a:rPr lang="zh-CN" altLang="en-US" sz="2800" dirty="0">
                <a:latin typeface="Times New Roman" pitchFamily="18" charset="0"/>
                <a:ea typeface="黑体" pitchFamily="49" charset="-122"/>
                <a:cs typeface="Times New Roman" pitchFamily="18" charset="0"/>
              </a:rPr>
              <a:t> 海水中含有相当数量的弱酸阴离子，它们都是氢离子的接受体。</a:t>
            </a:r>
            <a:r>
              <a:rPr lang="zh-CN" altLang="en-US" sz="2800" dirty="0">
                <a:solidFill>
                  <a:srgbClr val="0000FF"/>
                </a:solidFill>
                <a:latin typeface="Times New Roman" pitchFamily="18" charset="0"/>
                <a:ea typeface="黑体" pitchFamily="49" charset="-122"/>
                <a:cs typeface="Times New Roman" pitchFamily="18" charset="0"/>
              </a:rPr>
              <a:t>海水中氢离子接受体的净浓度总和称为“碱度”或“总碱度”</a:t>
            </a:r>
            <a:r>
              <a:rPr lang="zh-CN" altLang="en-US" sz="2800" dirty="0">
                <a:latin typeface="Times New Roman" pitchFamily="18" charset="0"/>
                <a:ea typeface="黑体" pitchFamily="49" charset="-122"/>
                <a:cs typeface="Times New Roman" pitchFamily="18" charset="0"/>
              </a:rPr>
              <a:t>，用符号</a:t>
            </a:r>
            <a:r>
              <a:rPr lang="en-US" altLang="zh-CN" sz="2800" dirty="0" err="1">
                <a:latin typeface="Times New Roman" pitchFamily="18" charset="0"/>
                <a:ea typeface="黑体" pitchFamily="49" charset="-122"/>
                <a:cs typeface="Times New Roman" pitchFamily="18" charset="0"/>
              </a:rPr>
              <a:t>Alk</a:t>
            </a:r>
            <a:r>
              <a:rPr lang="zh-CN" altLang="en-US" sz="2800" dirty="0">
                <a:latin typeface="Times New Roman" pitchFamily="18" charset="0"/>
                <a:ea typeface="黑体" pitchFamily="49" charset="-122"/>
                <a:cs typeface="Times New Roman" pitchFamily="18" charset="0"/>
              </a:rPr>
              <a:t>或</a:t>
            </a:r>
            <a:r>
              <a:rPr lang="en-US" altLang="zh-CN" sz="2800" dirty="0">
                <a:latin typeface="Times New Roman" pitchFamily="18" charset="0"/>
                <a:ea typeface="黑体" pitchFamily="49" charset="-122"/>
                <a:cs typeface="Times New Roman" pitchFamily="18" charset="0"/>
              </a:rPr>
              <a:t>TA</a:t>
            </a:r>
            <a:r>
              <a:rPr lang="zh-CN" altLang="en-US" sz="2800" dirty="0">
                <a:latin typeface="Times New Roman" pitchFamily="18" charset="0"/>
                <a:ea typeface="黑体" pitchFamily="49" charset="-122"/>
                <a:cs typeface="Times New Roman" pitchFamily="18" charset="0"/>
              </a:rPr>
              <a:t>表示，单位为</a:t>
            </a:r>
            <a:r>
              <a:rPr lang="en-US" altLang="zh-CN" sz="2800" dirty="0">
                <a:latin typeface="Times New Roman" pitchFamily="18" charset="0"/>
                <a:ea typeface="黑体" pitchFamily="49" charset="-122"/>
                <a:cs typeface="Times New Roman" pitchFamily="18" charset="0"/>
              </a:rPr>
              <a:t>mol/dm</a:t>
            </a:r>
            <a:r>
              <a:rPr lang="en-US" altLang="zh-CN" sz="2800" baseline="30000" dirty="0">
                <a:latin typeface="Times New Roman" pitchFamily="18" charset="0"/>
                <a:ea typeface="黑体" pitchFamily="49" charset="-122"/>
                <a:cs typeface="Times New Roman" pitchFamily="18" charset="0"/>
              </a:rPr>
              <a:t>3</a:t>
            </a:r>
            <a:r>
              <a:rPr lang="zh-CN" altLang="en-US" sz="2800" dirty="0">
                <a:latin typeface="Times New Roman" pitchFamily="18" charset="0"/>
                <a:ea typeface="黑体" pitchFamily="49" charset="-122"/>
                <a:cs typeface="Times New Roman" pitchFamily="18" charset="0"/>
              </a:rPr>
              <a:t>或</a:t>
            </a:r>
            <a:r>
              <a:rPr lang="en-US" altLang="zh-CN" sz="2800" dirty="0">
                <a:latin typeface="Times New Roman" pitchFamily="18" charset="0"/>
                <a:ea typeface="黑体" pitchFamily="49" charset="-122"/>
                <a:cs typeface="Times New Roman" pitchFamily="18" charset="0"/>
              </a:rPr>
              <a:t>mol/kg</a:t>
            </a:r>
            <a:r>
              <a:rPr lang="zh-CN" altLang="en-US" sz="2800" dirty="0">
                <a:latin typeface="Times New Roman" pitchFamily="18" charset="0"/>
                <a:ea typeface="黑体" pitchFamily="49" charset="-122"/>
                <a:cs typeface="Times New Roman" pitchFamily="18" charset="0"/>
              </a:rPr>
              <a:t>。</a:t>
            </a:r>
            <a:endParaRPr lang="en-US" altLang="zh-CN" sz="2800" dirty="0">
              <a:latin typeface="Times New Roman" pitchFamily="18" charset="0"/>
              <a:ea typeface="黑体" pitchFamily="49" charset="-122"/>
              <a:cs typeface="Times New Roman" pitchFamily="18" charset="0"/>
            </a:endParaRPr>
          </a:p>
          <a:p>
            <a:pPr>
              <a:lnSpc>
                <a:spcPct val="150000"/>
              </a:lnSpc>
              <a:spcBef>
                <a:spcPct val="0"/>
              </a:spcBef>
              <a:buFont typeface="Arial" pitchFamily="34" charset="0"/>
              <a:buChar char="•"/>
            </a:pPr>
            <a:r>
              <a:rPr lang="zh-CN" altLang="en-US" sz="2800" dirty="0">
                <a:solidFill>
                  <a:srgbClr val="0000FF"/>
                </a:solidFill>
                <a:latin typeface="Times New Roman" pitchFamily="18" charset="0"/>
                <a:ea typeface="黑体" pitchFamily="49" charset="-122"/>
                <a:cs typeface="Times New Roman" pitchFamily="18" charset="0"/>
              </a:rPr>
              <a:t>总碱度实际上代表的是海水中保守性阳离子与保守性阴离子的电荷差别</a:t>
            </a:r>
            <a:endParaRPr lang="zh-CN" altLang="en-US" sz="2800" dirty="0">
              <a:latin typeface="Times New Roman" pitchFamily="18" charset="0"/>
              <a:ea typeface="黑体" pitchFamily="49"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anim calcmode="lin" valueType="num">
                                      <p:cBhvr additive="base">
                                        <p:cTn id="7" dur="500" fill="hold"/>
                                        <p:tgtEl>
                                          <p:spTgt spid="133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7">
                                            <p:txEl>
                                              <p:pRg st="1" end="1"/>
                                            </p:txEl>
                                          </p:spTgt>
                                        </p:tgtEl>
                                        <p:attrNameLst>
                                          <p:attrName>style.visibility</p:attrName>
                                        </p:attrNameLst>
                                      </p:cBhvr>
                                      <p:to>
                                        <p:strVal val="visible"/>
                                      </p:to>
                                    </p:set>
                                    <p:anim calcmode="lin" valueType="num">
                                      <p:cBhvr additive="base">
                                        <p:cTn id="13" dur="500" fill="hold"/>
                                        <p:tgtEl>
                                          <p:spTgt spid="1331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17412"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17413"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17414"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17415"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17416"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17417"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17418"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7419"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7421" name="Rectangle 14"/>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7422" name="Rectangle 16"/>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7423" name="Rectangle 17"/>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17424" name="Rectangle 21"/>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graphicFrame>
        <p:nvGraphicFramePr>
          <p:cNvPr id="17410" name="Object 20"/>
          <p:cNvGraphicFramePr>
            <a:graphicFrameLocks noChangeAspect="1"/>
          </p:cNvGraphicFramePr>
          <p:nvPr>
            <p:extLst>
              <p:ext uri="{D42A27DB-BD31-4B8C-83A1-F6EECF244321}">
                <p14:modId xmlns:p14="http://schemas.microsoft.com/office/powerpoint/2010/main" val="309077533"/>
              </p:ext>
            </p:extLst>
          </p:nvPr>
        </p:nvGraphicFramePr>
        <p:xfrm>
          <a:off x="251520" y="3904471"/>
          <a:ext cx="8110538" cy="1367854"/>
        </p:xfrm>
        <a:graphic>
          <a:graphicData uri="http://schemas.openxmlformats.org/presentationml/2006/ole">
            <mc:AlternateContent xmlns:mc="http://schemas.openxmlformats.org/markup-compatibility/2006">
              <mc:Choice xmlns:v="urn:schemas-microsoft-com:vml" Requires="v">
                <p:oleObj spid="_x0000_s1034" name="Equation" r:id="rId3" imgW="3860800" imgH="685800" progId="Equation.DSMT4">
                  <p:embed/>
                </p:oleObj>
              </mc:Choice>
              <mc:Fallback>
                <p:oleObj name="Equation" r:id="rId3" imgW="3860800" imgH="6858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3904471"/>
                        <a:ext cx="8110538" cy="1367854"/>
                      </a:xfrm>
                      <a:prstGeom prst="rect">
                        <a:avLst/>
                      </a:prstGeom>
                      <a:solidFill>
                        <a:srgbClr val="CCFFFF"/>
                      </a:solidFill>
                      <a:ln w="9525">
                        <a:solidFill>
                          <a:srgbClr val="800000"/>
                        </a:solidFill>
                        <a:miter lim="800000"/>
                        <a:headEnd/>
                        <a:tailEnd/>
                      </a:ln>
                    </p:spPr>
                  </p:pic>
                </p:oleObj>
              </mc:Fallback>
            </mc:AlternateContent>
          </a:graphicData>
        </a:graphic>
      </p:graphicFrame>
      <p:sp>
        <p:nvSpPr>
          <p:cNvPr id="17426" name="Text Box 13"/>
          <p:cNvSpPr txBox="1">
            <a:spLocks noChangeArrowheads="1"/>
          </p:cNvSpPr>
          <p:nvPr/>
        </p:nvSpPr>
        <p:spPr bwMode="auto">
          <a:xfrm>
            <a:off x="1403648" y="476672"/>
            <a:ext cx="4681537" cy="539700"/>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latin typeface="Times New Roman" pitchFamily="18" charset="0"/>
                <a:ea typeface="黑体" pitchFamily="49" charset="-122"/>
                <a:cs typeface="Times New Roman" pitchFamily="18" charset="0"/>
              </a:rPr>
              <a:t>总碱度的地球化学性质</a:t>
            </a:r>
          </a:p>
        </p:txBody>
      </p:sp>
      <p:graphicFrame>
        <p:nvGraphicFramePr>
          <p:cNvPr id="60419" name="Object 7"/>
          <p:cNvGraphicFramePr>
            <a:graphicFrameLocks noChangeAspect="1"/>
          </p:cNvGraphicFramePr>
          <p:nvPr>
            <p:extLst>
              <p:ext uri="{D42A27DB-BD31-4B8C-83A1-F6EECF244321}">
                <p14:modId xmlns:p14="http://schemas.microsoft.com/office/powerpoint/2010/main" val="1609014466"/>
              </p:ext>
            </p:extLst>
          </p:nvPr>
        </p:nvGraphicFramePr>
        <p:xfrm>
          <a:off x="251520" y="2060848"/>
          <a:ext cx="8784976" cy="792088"/>
        </p:xfrm>
        <a:graphic>
          <a:graphicData uri="http://schemas.openxmlformats.org/presentationml/2006/ole">
            <mc:AlternateContent xmlns:mc="http://schemas.openxmlformats.org/markup-compatibility/2006">
              <mc:Choice xmlns:v="urn:schemas-microsoft-com:vml" Requires="v">
                <p:oleObj spid="_x0000_s1035" name="公式" r:id="rId5" imgW="5283200" imgH="444500" progId="Equation.3">
                  <p:embed/>
                </p:oleObj>
              </mc:Choice>
              <mc:Fallback>
                <p:oleObj name="公式" r:id="rId5" imgW="5283200" imgH="4445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520" y="2060848"/>
                        <a:ext cx="8784976" cy="792088"/>
                      </a:xfrm>
                      <a:prstGeom prst="rect">
                        <a:avLst/>
                      </a:prstGeom>
                      <a:solidFill>
                        <a:srgbClr val="CCFFFF"/>
                      </a:solidFill>
                      <a:ln w="12700">
                        <a:solidFill>
                          <a:srgbClr val="800000"/>
                        </a:solidFill>
                        <a:miter lim="800000"/>
                        <a:headEnd/>
                        <a:tailEnd/>
                      </a:ln>
                    </p:spPr>
                  </p:pic>
                </p:oleObj>
              </mc:Fallback>
            </mc:AlternateContent>
          </a:graphicData>
        </a:graphic>
      </p:graphicFrame>
      <p:sp>
        <p:nvSpPr>
          <p:cNvPr id="23" name="矩形 22"/>
          <p:cNvSpPr/>
          <p:nvPr/>
        </p:nvSpPr>
        <p:spPr>
          <a:xfrm>
            <a:off x="251520" y="1412776"/>
            <a:ext cx="1988045" cy="523220"/>
          </a:xfrm>
          <a:prstGeom prst="rect">
            <a:avLst/>
          </a:prstGeom>
        </p:spPr>
        <p:txBody>
          <a:bodyPr wrap="none">
            <a:spAutoFit/>
          </a:bodyPr>
          <a:lstStyle/>
          <a:p>
            <a:r>
              <a:rPr lang="zh-CN" altLang="en-US" sz="2800" b="1" dirty="0">
                <a:solidFill>
                  <a:srgbClr val="7030A0"/>
                </a:solidFill>
                <a:latin typeface="Times New Roman" pitchFamily="18" charset="0"/>
                <a:ea typeface="黑体" pitchFamily="49" charset="-122"/>
                <a:cs typeface="Times New Roman" pitchFamily="18" charset="0"/>
              </a:rPr>
              <a:t>总碱度定义</a:t>
            </a:r>
            <a:endParaRPr lang="zh-CN" altLang="en-US" sz="2800" dirty="0"/>
          </a:p>
        </p:txBody>
      </p:sp>
      <p:sp>
        <p:nvSpPr>
          <p:cNvPr id="24" name="矩形 23"/>
          <p:cNvSpPr/>
          <p:nvPr/>
        </p:nvSpPr>
        <p:spPr>
          <a:xfrm>
            <a:off x="323528" y="3140968"/>
            <a:ext cx="7704856" cy="523220"/>
          </a:xfrm>
          <a:prstGeom prst="rect">
            <a:avLst/>
          </a:prstGeom>
        </p:spPr>
        <p:txBody>
          <a:bodyPr wrap="square">
            <a:spAutoFit/>
          </a:bodyPr>
          <a:lstStyle/>
          <a:p>
            <a:r>
              <a:rPr lang="zh-CN" altLang="en-US" sz="2800" dirty="0">
                <a:solidFill>
                  <a:srgbClr val="0000FF"/>
                </a:solidFill>
                <a:latin typeface="Times New Roman" pitchFamily="18" charset="0"/>
                <a:ea typeface="黑体" pitchFamily="49" charset="-122"/>
                <a:cs typeface="Times New Roman" pitchFamily="18" charset="0"/>
              </a:rPr>
              <a:t>海水中保守性阳离子与保守性阴离子的电荷差别</a:t>
            </a:r>
            <a:endParaRPr lang="zh-CN" altLang="en-US" sz="2800" dirty="0"/>
          </a:p>
        </p:txBody>
      </p:sp>
      <p:sp>
        <p:nvSpPr>
          <p:cNvPr id="25" name="TextBox 24"/>
          <p:cNvSpPr txBox="1"/>
          <p:nvPr/>
        </p:nvSpPr>
        <p:spPr>
          <a:xfrm>
            <a:off x="395536" y="5517232"/>
            <a:ext cx="7344816" cy="523220"/>
          </a:xfrm>
          <a:prstGeom prst="rect">
            <a:avLst/>
          </a:prstGeom>
          <a:noFill/>
        </p:spPr>
        <p:txBody>
          <a:bodyPr wrap="square" rtlCol="0">
            <a:spAutoFit/>
          </a:bodyPr>
          <a:lstStyle/>
          <a:p>
            <a:r>
              <a:rPr lang="en-US" altLang="zh-CN" sz="2800" dirty="0"/>
              <a:t>TA=</a:t>
            </a:r>
            <a:r>
              <a:rPr lang="zh-CN" altLang="en-US" sz="2800" dirty="0"/>
              <a:t>保守阳离子总和</a:t>
            </a:r>
            <a:r>
              <a:rPr lang="en-US" altLang="zh-CN" sz="2800" dirty="0"/>
              <a:t>-</a:t>
            </a:r>
            <a:r>
              <a:rPr lang="zh-CN" altLang="en-US" sz="2800" dirty="0"/>
              <a:t>保守阴离子总和</a:t>
            </a:r>
          </a:p>
        </p:txBody>
      </p:sp>
      <p:sp>
        <p:nvSpPr>
          <p:cNvPr id="2" name="椭圆 1">
            <a:extLst>
              <a:ext uri="{FF2B5EF4-FFF2-40B4-BE49-F238E27FC236}">
                <a16:creationId xmlns:a16="http://schemas.microsoft.com/office/drawing/2014/main" id="{52EFD7F9-9947-428F-A947-7121F5CC496B}"/>
              </a:ext>
            </a:extLst>
          </p:cNvPr>
          <p:cNvSpPr/>
          <p:nvPr/>
        </p:nvSpPr>
        <p:spPr bwMode="auto">
          <a:xfrm>
            <a:off x="4427984" y="1844824"/>
            <a:ext cx="936104" cy="818194"/>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sp>
        <p:nvSpPr>
          <p:cNvPr id="22" name="椭圆 21">
            <a:extLst>
              <a:ext uri="{FF2B5EF4-FFF2-40B4-BE49-F238E27FC236}">
                <a16:creationId xmlns:a16="http://schemas.microsoft.com/office/drawing/2014/main" id="{7B32711C-5D64-40A6-A45F-1BDA2FE0DA04}"/>
              </a:ext>
            </a:extLst>
          </p:cNvPr>
          <p:cNvSpPr/>
          <p:nvPr/>
        </p:nvSpPr>
        <p:spPr bwMode="auto">
          <a:xfrm>
            <a:off x="5479925" y="1885487"/>
            <a:ext cx="936104" cy="818194"/>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0" i="0" u="none" strike="noStrike" cap="none" normalizeH="0" baseline="0">
              <a:ln>
                <a:noFill/>
              </a:ln>
              <a:solidFill>
                <a:srgbClr val="3399FF"/>
              </a:solidFill>
              <a:effectLst/>
              <a:latin typeface="Arial" charset="0"/>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419"/>
                                        </p:tgtEl>
                                        <p:attrNameLst>
                                          <p:attrName>style.visibility</p:attrName>
                                        </p:attrNameLst>
                                      </p:cBhvr>
                                      <p:to>
                                        <p:strVal val="visible"/>
                                      </p:to>
                                    </p:set>
                                    <p:anim calcmode="lin" valueType="num">
                                      <p:cBhvr additive="base">
                                        <p:cTn id="7" dur="500" fill="hold"/>
                                        <p:tgtEl>
                                          <p:spTgt spid="60419"/>
                                        </p:tgtEl>
                                        <p:attrNameLst>
                                          <p:attrName>ppt_x</p:attrName>
                                        </p:attrNameLst>
                                      </p:cBhvr>
                                      <p:tavLst>
                                        <p:tav tm="0">
                                          <p:val>
                                            <p:strVal val="#ppt_x"/>
                                          </p:val>
                                        </p:tav>
                                        <p:tav tm="100000">
                                          <p:val>
                                            <p:strVal val="#ppt_x"/>
                                          </p:val>
                                        </p:tav>
                                      </p:tavLst>
                                    </p:anim>
                                    <p:anim calcmode="lin" valueType="num">
                                      <p:cBhvr additive="base">
                                        <p:cTn id="8" dur="500" fill="hold"/>
                                        <p:tgtEl>
                                          <p:spTgt spid="604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0"/>
                                        </p:tgtEl>
                                        <p:attrNameLst>
                                          <p:attrName>style.visibility</p:attrName>
                                        </p:attrNameLst>
                                      </p:cBhvr>
                                      <p:to>
                                        <p:strVal val="visible"/>
                                      </p:to>
                                    </p:set>
                                    <p:anim calcmode="lin" valueType="num">
                                      <p:cBhvr additive="base">
                                        <p:cTn id="13" dur="500" fill="hold"/>
                                        <p:tgtEl>
                                          <p:spTgt spid="17410"/>
                                        </p:tgtEl>
                                        <p:attrNameLst>
                                          <p:attrName>ppt_x</p:attrName>
                                        </p:attrNameLst>
                                      </p:cBhvr>
                                      <p:tavLst>
                                        <p:tav tm="0">
                                          <p:val>
                                            <p:strVal val="#ppt_x"/>
                                          </p:val>
                                        </p:tav>
                                        <p:tav tm="100000">
                                          <p:val>
                                            <p:strVal val="#ppt_x"/>
                                          </p:val>
                                        </p:tav>
                                      </p:tavLst>
                                    </p:anim>
                                    <p:anim calcmode="lin" valueType="num">
                                      <p:cBhvr additive="base">
                                        <p:cTn id="14" dur="500" fill="hold"/>
                                        <p:tgtEl>
                                          <p:spTgt spid="174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ppt_x"/>
                                          </p:val>
                                        </p:tav>
                                        <p:tav tm="100000">
                                          <p:val>
                                            <p:strVal val="#ppt_x"/>
                                          </p:val>
                                        </p:tav>
                                      </p:tavLst>
                                    </p:anim>
                                    <p:anim calcmode="lin" valueType="num">
                                      <p:cBhvr additive="base">
                                        <p:cTn id="2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0899"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0900"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0901"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0902"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0903"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0904"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0905"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0906"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0907"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0908"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0909"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0910"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0911" name="Rectangle 19"/>
          <p:cNvSpPr>
            <a:spLocks noChangeArrowheads="1"/>
          </p:cNvSpPr>
          <p:nvPr/>
        </p:nvSpPr>
        <p:spPr bwMode="auto">
          <a:xfrm>
            <a:off x="539750" y="1196975"/>
            <a:ext cx="8299450" cy="477838"/>
          </a:xfrm>
          <a:prstGeom prst="rect">
            <a:avLst/>
          </a:prstGeom>
          <a:noFill/>
          <a:ln w="31750" algn="ctr">
            <a:noFill/>
            <a:miter lim="800000"/>
            <a:headEnd/>
            <a:tailEnd/>
          </a:ln>
        </p:spPr>
        <p:txBody>
          <a:bodyPr lIns="18000" tIns="36000" rIns="18000" bIns="10800" anchor="ctr">
            <a:spAutoFit/>
          </a:bodyPr>
          <a:lstStyle/>
          <a:p>
            <a:pPr algn="ctr">
              <a:lnSpc>
                <a:spcPct val="100000"/>
              </a:lnSpc>
              <a:spcBef>
                <a:spcPct val="0"/>
              </a:spcBef>
              <a:buFontTx/>
              <a:buNone/>
            </a:pPr>
            <a:r>
              <a:rPr lang="en-US" altLang="zh-CN" sz="2800">
                <a:latin typeface="Times New Roman" pitchFamily="18" charset="0"/>
                <a:ea typeface="黑体" pitchFamily="49" charset="-122"/>
                <a:cs typeface="Times New Roman" pitchFamily="18" charset="0"/>
              </a:rPr>
              <a:t>S=35</a:t>
            </a:r>
            <a:r>
              <a:rPr lang="zh-CN" altLang="en-US" sz="2800">
                <a:latin typeface="Times New Roman" pitchFamily="18" charset="0"/>
                <a:ea typeface="黑体" pitchFamily="49" charset="-122"/>
                <a:cs typeface="Times New Roman" pitchFamily="18" charset="0"/>
              </a:rPr>
              <a:t>天然海水中保守性离子的浓度及电荷浓度</a:t>
            </a:r>
          </a:p>
        </p:txBody>
      </p:sp>
      <p:graphicFrame>
        <p:nvGraphicFramePr>
          <p:cNvPr id="207243" name="Group 395"/>
          <p:cNvGraphicFramePr>
            <a:graphicFrameLocks noGrp="1"/>
          </p:cNvGraphicFramePr>
          <p:nvPr/>
        </p:nvGraphicFramePr>
        <p:xfrm>
          <a:off x="179388" y="1844675"/>
          <a:ext cx="8785225" cy="4535334"/>
        </p:xfrm>
        <a:graphic>
          <a:graphicData uri="http://schemas.openxmlformats.org/drawingml/2006/table">
            <a:tbl>
              <a:tblPr/>
              <a:tblGrid>
                <a:gridCol w="1008112">
                  <a:extLst>
                    <a:ext uri="{9D8B030D-6E8A-4147-A177-3AD203B41FA5}">
                      <a16:colId xmlns:a16="http://schemas.microsoft.com/office/drawing/2014/main" val="20000"/>
                    </a:ext>
                  </a:extLst>
                </a:gridCol>
                <a:gridCol w="1800200">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1584176">
                  <a:extLst>
                    <a:ext uri="{9D8B030D-6E8A-4147-A177-3AD203B41FA5}">
                      <a16:colId xmlns:a16="http://schemas.microsoft.com/office/drawing/2014/main" val="20004"/>
                    </a:ext>
                  </a:extLst>
                </a:gridCol>
                <a:gridCol w="1584425">
                  <a:extLst>
                    <a:ext uri="{9D8B030D-6E8A-4147-A177-3AD203B41FA5}">
                      <a16:colId xmlns:a16="http://schemas.microsoft.com/office/drawing/2014/main" val="20005"/>
                    </a:ext>
                  </a:extLst>
                </a:gridCol>
              </a:tblGrid>
              <a:tr h="100811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阳离子</a:t>
                      </a:r>
                    </a:p>
                  </a:txBody>
                  <a:tcPr marL="18000" marR="18000" marT="36000" marB="10800" anchor="ctr" horzOverflow="overflow">
                    <a:lnL w="28575"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28575"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离子浓度</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mmol</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/kg</a:t>
                      </a: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28575"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电荷浓度</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mmol</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/kg</a:t>
                      </a: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28575"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阴离子</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28575"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离子浓度</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mmol</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/kg</a:t>
                      </a: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28575"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电荷浓度</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r>
                        <a:rPr kumimoji="0" lang="en-US" altLang="zh-CN" sz="2000" b="1" i="0" u="none" strike="noStrike" cap="none" normalizeH="0" baseline="0" dirty="0" err="1">
                          <a:ln>
                            <a:noFill/>
                          </a:ln>
                          <a:solidFill>
                            <a:schemeClr val="tx1"/>
                          </a:solidFill>
                          <a:effectLst/>
                          <a:latin typeface="Times New Roman" pitchFamily="18" charset="0"/>
                          <a:ea typeface="黑体" pitchFamily="49" charset="-122"/>
                          <a:cs typeface="Times New Roman" pitchFamily="18" charset="0"/>
                        </a:rPr>
                        <a:t>mmol</a:t>
                      </a:r>
                      <a:r>
                        <a:rPr kumimoji="0" lang="en-US" altLang="zh-CN"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/kg</a:t>
                      </a:r>
                      <a:r>
                        <a:rPr kumimoji="0" lang="zh-CN" altLang="en-US" sz="20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a:t>
                      </a:r>
                    </a:p>
                  </a:txBody>
                  <a:tcPr marL="18000" marR="18000" marT="36000" marB="10800" anchor="ctr" horzOverflow="overflow">
                    <a:lnL w="12700" cap="flat" cmpd="sng" algn="ctr">
                      <a:solidFill>
                        <a:srgbClr val="FF3399"/>
                      </a:solidFill>
                      <a:prstDash val="solid"/>
                      <a:round/>
                      <a:headEnd type="none" w="med" len="med"/>
                      <a:tailEnd type="none" w="med" len="med"/>
                    </a:lnL>
                    <a:lnR w="28575" cap="flat" cmpd="sng" algn="ctr">
                      <a:solidFill>
                        <a:srgbClr val="FF3399"/>
                      </a:solidFill>
                      <a:prstDash val="solid"/>
                      <a:round/>
                      <a:headEnd type="none" w="med" len="med"/>
                      <a:tailEnd type="none" w="med" len="med"/>
                    </a:lnR>
                    <a:lnT w="28575"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5828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Na</a:t>
                      </a:r>
                      <a:r>
                        <a:rPr kumimoji="0" lang="en-US" altLang="zh-CN" sz="24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28575"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467.8</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467.8</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Cl</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545.5</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545.5</a:t>
                      </a:r>
                    </a:p>
                  </a:txBody>
                  <a:tcPr marL="18000" marR="18000" marT="36000" marB="10800" anchor="ctr" horzOverflow="overflow">
                    <a:lnL w="12700" cap="flat" cmpd="sng" algn="ctr">
                      <a:solidFill>
                        <a:srgbClr val="FF3399"/>
                      </a:solidFill>
                      <a:prstDash val="solid"/>
                      <a:round/>
                      <a:headEnd type="none" w="med" len="med"/>
                      <a:tailEnd type="none" w="med" len="med"/>
                    </a:lnL>
                    <a:lnR w="28575"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1"/>
                  </a:ext>
                </a:extLst>
              </a:tr>
              <a:tr h="5555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Mg</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28575"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53.3</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106.5</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SO</a:t>
                      </a:r>
                      <a:r>
                        <a:rPr kumimoji="0" lang="en-US" altLang="zh-CN" sz="24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4</a:t>
                      </a:r>
                      <a:r>
                        <a:rPr kumimoji="0" lang="en-US" altLang="zh-CN" sz="24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2-</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28.2</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56.4</a:t>
                      </a:r>
                    </a:p>
                  </a:txBody>
                  <a:tcPr marL="18000" marR="18000" marT="36000" marB="10800" anchor="ctr" horzOverflow="overflow">
                    <a:lnL w="12700" cap="flat" cmpd="sng" algn="ctr">
                      <a:solidFill>
                        <a:srgbClr val="FF3399"/>
                      </a:solidFill>
                      <a:prstDash val="solid"/>
                      <a:round/>
                      <a:headEnd type="none" w="med" len="med"/>
                      <a:tailEnd type="none" w="med" len="med"/>
                    </a:lnL>
                    <a:lnR w="28575"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2"/>
                  </a:ext>
                </a:extLst>
              </a:tr>
              <a:tr h="6250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Ca</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28575"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10.3</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20.6</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Br</a:t>
                      </a:r>
                      <a:r>
                        <a:rPr kumimoji="0" lang="en-US" altLang="zh-CN" sz="2400" b="1" i="0" u="none" strike="noStrike" cap="none" normalizeH="0" baseline="30000" dirty="0">
                          <a:ln>
                            <a:noFill/>
                          </a:ln>
                          <a:solidFill>
                            <a:schemeClr val="tx1"/>
                          </a:solidFill>
                          <a:effectLst/>
                          <a:latin typeface="Times New Roman" pitchFamily="18" charset="0"/>
                          <a:ea typeface="黑体" pitchFamily="49" charset="-122"/>
                          <a:cs typeface="Times New Roman" pitchFamily="18" charset="0"/>
                        </a:rPr>
                        <a:t>-</a:t>
                      </a:r>
                      <a:endPar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0.8</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0.8</a:t>
                      </a:r>
                    </a:p>
                  </a:txBody>
                  <a:tcPr marL="18000" marR="18000" marT="36000" marB="10800" anchor="ctr" horzOverflow="overflow">
                    <a:lnL w="12700" cap="flat" cmpd="sng" algn="ctr">
                      <a:solidFill>
                        <a:srgbClr val="FF3399"/>
                      </a:solidFill>
                      <a:prstDash val="solid"/>
                      <a:round/>
                      <a:headEnd type="none" w="med" len="med"/>
                      <a:tailEnd type="none" w="med" len="med"/>
                    </a:lnL>
                    <a:lnR w="28575"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3"/>
                  </a:ext>
                </a:extLst>
              </a:tr>
              <a:tr h="5555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K</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28575"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9.9</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9.9</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F</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rPr>
                        <a:t>0.1</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0.1</a:t>
                      </a:r>
                    </a:p>
                  </a:txBody>
                  <a:tcPr marL="18000" marR="18000" marT="36000" marB="10800" anchor="ctr" horzOverflow="overflow">
                    <a:lnL w="12700" cap="flat" cmpd="sng" algn="ctr">
                      <a:solidFill>
                        <a:srgbClr val="FF3399"/>
                      </a:solidFill>
                      <a:prstDash val="solid"/>
                      <a:round/>
                      <a:headEnd type="none" w="med" len="med"/>
                      <a:tailEnd type="none" w="med" len="med"/>
                    </a:lnL>
                    <a:lnR w="28575"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4"/>
                  </a:ext>
                </a:extLst>
              </a:tr>
              <a:tr h="55002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Sr</a:t>
                      </a:r>
                      <a:r>
                        <a:rPr kumimoji="0" lang="en-US" altLang="zh-CN" sz="2400" b="1" i="0" u="none" strike="noStrike" cap="none" normalizeH="0" baseline="30000">
                          <a:ln>
                            <a:noFill/>
                          </a:ln>
                          <a:solidFill>
                            <a:schemeClr val="tx1"/>
                          </a:solidFill>
                          <a:effectLst/>
                          <a:latin typeface="Times New Roman" pitchFamily="18" charset="0"/>
                          <a:ea typeface="黑体" pitchFamily="49" charset="-122"/>
                          <a:cs typeface="Times New Roman" pitchFamily="18" charset="0"/>
                        </a:rPr>
                        <a:t>2+</a:t>
                      </a:r>
                      <a:endPar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28575"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0.1</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0.2</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28575"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12700"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5"/>
                  </a:ext>
                </a:extLst>
              </a:tr>
              <a:tr h="658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总和</a:t>
                      </a:r>
                    </a:p>
                  </a:txBody>
                  <a:tcPr marL="18000" marR="18000" marT="36000" marB="10800" anchor="ctr" horzOverflow="overflow">
                    <a:lnL w="28575"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28575"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28575"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605.0</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28575"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黑体" pitchFamily="49" charset="-122"/>
                          <a:cs typeface="Times New Roman" pitchFamily="18" charset="0"/>
                        </a:rPr>
                        <a:t>总和</a:t>
                      </a: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28575"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2400" b="1" i="0" u="none" strike="noStrike" cap="none" normalizeH="0" baseline="0" dirty="0">
                        <a:ln>
                          <a:noFill/>
                        </a:ln>
                        <a:solidFill>
                          <a:schemeClr val="tx1"/>
                        </a:solidFill>
                        <a:effectLst/>
                        <a:latin typeface="Times New Roman" pitchFamily="18" charset="0"/>
                        <a:ea typeface="黑体" pitchFamily="49" charset="-122"/>
                        <a:cs typeface="Times New Roman" pitchFamily="18" charset="0"/>
                      </a:endParaRPr>
                    </a:p>
                  </a:txBody>
                  <a:tcPr marL="18000" marR="18000" marT="36000" marB="10800" anchor="ctr" horzOverflow="overflow">
                    <a:lnL w="12700" cap="flat" cmpd="sng" algn="ctr">
                      <a:solidFill>
                        <a:srgbClr val="FF3399"/>
                      </a:solidFill>
                      <a:prstDash val="solid"/>
                      <a:round/>
                      <a:headEnd type="none" w="med" len="med"/>
                      <a:tailEnd type="none" w="med" len="med"/>
                    </a:lnL>
                    <a:lnR w="12700"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28575"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Times New Roman" pitchFamily="18" charset="0"/>
                          <a:ea typeface="黑体" pitchFamily="49" charset="-122"/>
                          <a:cs typeface="Times New Roman" pitchFamily="18" charset="0"/>
                        </a:rPr>
                        <a:t>602.8</a:t>
                      </a:r>
                    </a:p>
                  </a:txBody>
                  <a:tcPr marL="18000" marR="18000" marT="36000" marB="10800" anchor="ctr" horzOverflow="overflow">
                    <a:lnL w="12700" cap="flat" cmpd="sng" algn="ctr">
                      <a:solidFill>
                        <a:srgbClr val="FF3399"/>
                      </a:solidFill>
                      <a:prstDash val="solid"/>
                      <a:round/>
                      <a:headEnd type="none" w="med" len="med"/>
                      <a:tailEnd type="none" w="med" len="med"/>
                    </a:lnL>
                    <a:lnR w="28575" cap="flat" cmpd="sng" algn="ctr">
                      <a:solidFill>
                        <a:srgbClr val="FF3399"/>
                      </a:solidFill>
                      <a:prstDash val="solid"/>
                      <a:round/>
                      <a:headEnd type="none" w="med" len="med"/>
                      <a:tailEnd type="none" w="med" len="med"/>
                    </a:lnR>
                    <a:lnT w="12700" cap="flat" cmpd="sng" algn="ctr">
                      <a:solidFill>
                        <a:srgbClr val="FF3399"/>
                      </a:solidFill>
                      <a:prstDash val="solid"/>
                      <a:round/>
                      <a:headEnd type="none" w="med" len="med"/>
                      <a:tailEnd type="none" w="med" len="med"/>
                    </a:lnT>
                    <a:lnB w="28575" cap="flat" cmpd="sng" algn="ctr">
                      <a:solidFill>
                        <a:srgbClr val="FF3399"/>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6"/>
                  </a:ext>
                </a:extLst>
              </a:tr>
            </a:tbl>
          </a:graphicData>
        </a:graphic>
      </p:graphicFrame>
      <p:sp>
        <p:nvSpPr>
          <p:cNvPr id="80970" name="Text Box 13"/>
          <p:cNvSpPr txBox="1">
            <a:spLocks noChangeArrowheads="1"/>
          </p:cNvSpPr>
          <p:nvPr/>
        </p:nvSpPr>
        <p:spPr bwMode="auto">
          <a:xfrm>
            <a:off x="1475656" y="356462"/>
            <a:ext cx="4248150" cy="581025"/>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总碱度的地球化学性质</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a:extLst>
              <a:ext uri="{FF2B5EF4-FFF2-40B4-BE49-F238E27FC236}">
                <a16:creationId xmlns:a16="http://schemas.microsoft.com/office/drawing/2014/main" id="{A2D4AFCF-4863-4C14-BC4F-C4FFBDCA7560}"/>
              </a:ext>
            </a:extLst>
          </p:cNvPr>
          <p:cNvSpPr txBox="1">
            <a:spLocks/>
          </p:cNvSpPr>
          <p:nvPr/>
        </p:nvSpPr>
        <p:spPr>
          <a:xfrm>
            <a:off x="457200" y="1412776"/>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zh-CN" sz="1800" kern="1200" baseline="0">
                <a:solidFill>
                  <a:schemeClr val="tx1"/>
                </a:solidFill>
                <a:latin typeface="+mn-lt"/>
                <a:ea typeface="+mn-ea"/>
                <a:cs typeface="+mn-cs"/>
              </a:defRPr>
            </a:lvl9pPr>
            <a:extLst/>
          </a:lstStyle>
          <a:p>
            <a:r>
              <a:rPr lang="zh-CN" altLang="en-US" dirty="0"/>
              <a:t>提纲</a:t>
            </a:r>
          </a:p>
          <a:p>
            <a:pPr marL="914400" lvl="1" indent="-457200">
              <a:buFont typeface="+mj-lt"/>
              <a:buAutoNum type="arabicPeriod"/>
            </a:pPr>
            <a:r>
              <a:rPr lang="en-US" altLang="zh-CN" sz="2800" dirty="0"/>
              <a:t>TA</a:t>
            </a:r>
          </a:p>
          <a:p>
            <a:pPr marL="1188720" lvl="2" indent="-457200">
              <a:buFont typeface="+mj-ea"/>
              <a:buAutoNum type="circleNumDbPlain"/>
            </a:pPr>
            <a:r>
              <a:rPr lang="zh-CN" altLang="en-US" sz="2500" dirty="0">
                <a:solidFill>
                  <a:schemeClr val="bg1">
                    <a:lumMod val="75000"/>
                  </a:schemeClr>
                </a:solidFill>
              </a:rPr>
              <a:t>海水中</a:t>
            </a:r>
            <a:r>
              <a:rPr lang="en-US" altLang="zh-CN" sz="2500" dirty="0">
                <a:solidFill>
                  <a:schemeClr val="bg1">
                    <a:lumMod val="75000"/>
                  </a:schemeClr>
                </a:solidFill>
              </a:rPr>
              <a:t>TA</a:t>
            </a:r>
            <a:r>
              <a:rPr lang="zh-CN" altLang="en-US" sz="2500" dirty="0">
                <a:solidFill>
                  <a:schemeClr val="bg1">
                    <a:lumMod val="75000"/>
                  </a:schemeClr>
                </a:solidFill>
              </a:rPr>
              <a:t>的定义</a:t>
            </a:r>
            <a:endParaRPr lang="zh-CN" altLang="en-US" sz="2800" dirty="0">
              <a:solidFill>
                <a:schemeClr val="bg1">
                  <a:lumMod val="75000"/>
                </a:schemeClr>
              </a:solidFill>
            </a:endParaRPr>
          </a:p>
          <a:p>
            <a:pPr marL="1188720" lvl="2" indent="-457200">
              <a:buFont typeface="+mj-lt"/>
              <a:buAutoNum type="circleNumDbPlain"/>
            </a:pPr>
            <a:r>
              <a:rPr lang="zh-CN" altLang="en-US" sz="2500" dirty="0">
                <a:solidFill>
                  <a:schemeClr val="bg1">
                    <a:lumMod val="75000"/>
                  </a:schemeClr>
                </a:solidFill>
              </a:rPr>
              <a:t>影响海水</a:t>
            </a:r>
            <a:r>
              <a:rPr lang="en-US" altLang="zh-CN" sz="2500" dirty="0">
                <a:solidFill>
                  <a:schemeClr val="bg1">
                    <a:lumMod val="75000"/>
                  </a:schemeClr>
                </a:solidFill>
              </a:rPr>
              <a:t>TA</a:t>
            </a:r>
            <a:r>
              <a:rPr lang="zh-CN" altLang="en-US" sz="2500" dirty="0">
                <a:solidFill>
                  <a:schemeClr val="bg1">
                    <a:lumMod val="75000"/>
                  </a:schemeClr>
                </a:solidFill>
              </a:rPr>
              <a:t>的主要因素</a:t>
            </a:r>
            <a:endParaRPr lang="en-US" altLang="zh-CN" sz="2500" dirty="0">
              <a:solidFill>
                <a:schemeClr val="bg1">
                  <a:lumMod val="75000"/>
                </a:schemeClr>
              </a:solidFill>
            </a:endParaRPr>
          </a:p>
          <a:p>
            <a:pPr marL="1188720" lvl="2" indent="-457200">
              <a:buFont typeface="+mj-lt"/>
              <a:buAutoNum type="circleNumDbPlain"/>
            </a:pPr>
            <a:r>
              <a:rPr lang="zh-CN" altLang="en-US" sz="2500" dirty="0"/>
              <a:t>测量</a:t>
            </a:r>
            <a:r>
              <a:rPr lang="en-US" altLang="zh-CN" sz="2500" dirty="0"/>
              <a:t>TA</a:t>
            </a:r>
            <a:r>
              <a:rPr lang="zh-CN" altLang="en-US" sz="2500" dirty="0"/>
              <a:t>的方法</a:t>
            </a:r>
          </a:p>
          <a:p>
            <a:pPr marL="1703070" lvl="3" indent="-514350">
              <a:buFont typeface="+mj-lt"/>
              <a:buAutoNum type="circleNumDbPlain"/>
            </a:pPr>
            <a:r>
              <a:rPr lang="zh-CN" altLang="en-US" dirty="0"/>
              <a:t>碘量法</a:t>
            </a:r>
            <a:endParaRPr lang="en-US" altLang="zh-CN" dirty="0"/>
          </a:p>
          <a:p>
            <a:pPr marL="1703070" lvl="3" indent="-514350">
              <a:buFont typeface="+mj-lt"/>
              <a:buAutoNum type="circleNumDbPlain"/>
            </a:pPr>
            <a:r>
              <a:rPr lang="zh-CN" altLang="en-US" dirty="0"/>
              <a:t>回滴法</a:t>
            </a:r>
            <a:endParaRPr lang="en-US" altLang="zh-CN" dirty="0"/>
          </a:p>
          <a:p>
            <a:pPr marL="1703070" lvl="3" indent="-514350">
              <a:buFont typeface="+mj-lt"/>
              <a:buAutoNum type="circleNumDbPlain"/>
            </a:pPr>
            <a:r>
              <a:rPr lang="zh-CN" altLang="en-US" dirty="0"/>
              <a:t>电导法</a:t>
            </a:r>
            <a:endParaRPr lang="en-US" altLang="zh-CN" dirty="0"/>
          </a:p>
          <a:p>
            <a:pPr marL="1703070" lvl="3" indent="-514350">
              <a:buFont typeface="+mj-lt"/>
              <a:buAutoNum type="circleNumDbPlain"/>
            </a:pPr>
            <a:r>
              <a:rPr lang="zh-CN" altLang="en-US" dirty="0"/>
              <a:t>电位法</a:t>
            </a:r>
            <a:endParaRPr lang="en-US" altLang="zh-CN" dirty="0"/>
          </a:p>
          <a:p>
            <a:pPr marL="1703070" lvl="3" indent="-514350">
              <a:buFont typeface="+mj-lt"/>
              <a:buAutoNum type="circleNumDbPlain"/>
            </a:pPr>
            <a:r>
              <a:rPr lang="zh-CN" altLang="en-US" dirty="0"/>
              <a:t>直接</a:t>
            </a:r>
            <a:r>
              <a:rPr lang="en-US" altLang="zh-CN" dirty="0"/>
              <a:t>pH</a:t>
            </a:r>
            <a:r>
              <a:rPr lang="zh-CN" altLang="en-US" dirty="0"/>
              <a:t>测量法</a:t>
            </a:r>
            <a:endParaRPr lang="en-US" altLang="zh-CN" dirty="0"/>
          </a:p>
          <a:p>
            <a:pPr marL="1245870" lvl="2" indent="-514350">
              <a:buFont typeface="+mj-lt"/>
              <a:buAutoNum type="circleNumDbPlain"/>
            </a:pPr>
            <a:r>
              <a:rPr lang="zh-CN" altLang="en-US" dirty="0">
                <a:solidFill>
                  <a:schemeClr val="bg1">
                    <a:lumMod val="75000"/>
                  </a:schemeClr>
                </a:solidFill>
              </a:rPr>
              <a:t>测量</a:t>
            </a:r>
            <a:r>
              <a:rPr lang="en-US" altLang="zh-CN" dirty="0">
                <a:solidFill>
                  <a:schemeClr val="bg1">
                    <a:lumMod val="75000"/>
                  </a:schemeClr>
                </a:solidFill>
              </a:rPr>
              <a:t>TA</a:t>
            </a:r>
            <a:r>
              <a:rPr lang="zh-CN" altLang="en-US" dirty="0">
                <a:solidFill>
                  <a:schemeClr val="bg1">
                    <a:lumMod val="75000"/>
                  </a:schemeClr>
                </a:solidFill>
              </a:rPr>
              <a:t>的仪器</a:t>
            </a:r>
          </a:p>
          <a:p>
            <a:pPr marL="914400" lvl="1" indent="-457200">
              <a:buFont typeface="+mj-lt"/>
              <a:buAutoNum type="arabicPeriod"/>
            </a:pPr>
            <a:endParaRPr lang="zh-CN" altLang="en-US" dirty="0"/>
          </a:p>
        </p:txBody>
      </p:sp>
      <p:sp>
        <p:nvSpPr>
          <p:cNvPr id="5" name="TextBox 24">
            <a:extLst>
              <a:ext uri="{FF2B5EF4-FFF2-40B4-BE49-F238E27FC236}">
                <a16:creationId xmlns:a16="http://schemas.microsoft.com/office/drawing/2014/main" id="{EA2362A1-586F-44D1-BA02-A8DFEFCD7525}"/>
              </a:ext>
            </a:extLst>
          </p:cNvPr>
          <p:cNvSpPr txBox="1"/>
          <p:nvPr/>
        </p:nvSpPr>
        <p:spPr>
          <a:xfrm>
            <a:off x="1547664" y="548680"/>
            <a:ext cx="5518396" cy="584775"/>
          </a:xfrm>
          <a:prstGeom prst="rect">
            <a:avLst/>
          </a:prstGeom>
          <a:noFill/>
          <a:ln w="2222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第九章 海水中的</a:t>
            </a:r>
            <a:r>
              <a:rPr lang="en-US" altLang="zh-CN" sz="3200" b="1" dirty="0">
                <a:solidFill>
                  <a:schemeClr val="bg2">
                    <a:lumMod val="25000"/>
                  </a:schemeClr>
                </a:solidFill>
                <a:latin typeface="华文新魏" pitchFamily="2" charset="-122"/>
                <a:ea typeface="华文新魏" pitchFamily="2" charset="-122"/>
              </a:rPr>
              <a:t>TA</a:t>
            </a:r>
            <a:endParaRPr lang="zh-CN" altLang="en-US" sz="3200" b="1"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15484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1923"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1924"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1925"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1926"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1927"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1928"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192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1930"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1"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2"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3"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1934"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5" name="Rectangle 18"/>
          <p:cNvSpPr>
            <a:spLocks noChangeArrowheads="1"/>
          </p:cNvSpPr>
          <p:nvPr/>
        </p:nvSpPr>
        <p:spPr bwMode="auto">
          <a:xfrm>
            <a:off x="723879" y="1421599"/>
            <a:ext cx="6481092" cy="1493807"/>
          </a:xfrm>
          <a:prstGeom prst="rect">
            <a:avLst/>
          </a:prstGeom>
          <a:noFill/>
          <a:ln w="31750" algn="ctr">
            <a:noFill/>
            <a:miter lim="800000"/>
            <a:headEnd/>
            <a:tailEnd/>
          </a:ln>
        </p:spPr>
        <p:txBody>
          <a:bodyPr wrap="square" lIns="18000" tIns="36000" rIns="18000" bIns="10800" anchor="ctr">
            <a:spAutoFit/>
          </a:bodyPr>
          <a:lstStyle/>
          <a:p>
            <a:pPr marL="466725" indent="-466725">
              <a:spcBef>
                <a:spcPts val="600"/>
              </a:spcBef>
            </a:pPr>
            <a:r>
              <a:rPr lang="zh-CN" altLang="en-US" sz="2800" dirty="0">
                <a:latin typeface="Times New Roman" pitchFamily="18" charset="0"/>
                <a:ea typeface="黑体" pitchFamily="49" charset="-122"/>
                <a:cs typeface="Times New Roman" pitchFamily="18" charset="0"/>
              </a:rPr>
              <a:t>海水温度和压力的影响：</a:t>
            </a:r>
            <a:r>
              <a:rPr lang="zh-CN" altLang="en-US" sz="2800" dirty="0">
                <a:solidFill>
                  <a:srgbClr val="0000FF"/>
                </a:solidFill>
                <a:latin typeface="Times New Roman" pitchFamily="18" charset="0"/>
                <a:ea typeface="黑体" pitchFamily="49" charset="-122"/>
                <a:cs typeface="Times New Roman" pitchFamily="18" charset="0"/>
              </a:rPr>
              <a:t>？</a:t>
            </a:r>
            <a:endParaRPr lang="en-US" altLang="zh-CN" sz="2800" dirty="0">
              <a:solidFill>
                <a:srgbClr val="0000FF"/>
              </a:solidFill>
              <a:latin typeface="Times New Roman" pitchFamily="18" charset="0"/>
              <a:ea typeface="黑体" pitchFamily="49" charset="-122"/>
              <a:cs typeface="Times New Roman" pitchFamily="18" charset="0"/>
            </a:endParaRPr>
          </a:p>
          <a:p>
            <a:pPr marL="466725" indent="-466725">
              <a:spcBef>
                <a:spcPts val="600"/>
              </a:spcBef>
            </a:pPr>
            <a:r>
              <a:rPr lang="zh-CN" altLang="en-US" sz="2800" dirty="0">
                <a:latin typeface="Times New Roman" pitchFamily="18" charset="0"/>
                <a:ea typeface="黑体" pitchFamily="49" charset="-122"/>
                <a:cs typeface="Times New Roman" pitchFamily="18" charset="0"/>
              </a:rPr>
              <a:t>海气界面</a:t>
            </a:r>
            <a:r>
              <a:rPr lang="en-US" altLang="zh-CN" sz="2800" dirty="0">
                <a:latin typeface="Times New Roman" pitchFamily="18" charset="0"/>
                <a:ea typeface="黑体" pitchFamily="49" charset="-122"/>
                <a:cs typeface="Times New Roman" pitchFamily="18" charset="0"/>
              </a:rPr>
              <a:t>CO</a:t>
            </a:r>
            <a:r>
              <a:rPr lang="en-US" altLang="zh-CN" sz="2800" baseline="-25000" dirty="0">
                <a:latin typeface="Times New Roman" pitchFamily="18" charset="0"/>
                <a:ea typeface="黑体" pitchFamily="49" charset="-122"/>
                <a:cs typeface="Times New Roman" pitchFamily="18" charset="0"/>
              </a:rPr>
              <a:t>2</a:t>
            </a:r>
            <a:r>
              <a:rPr lang="zh-CN" altLang="en-US" sz="2800" dirty="0">
                <a:latin typeface="Times New Roman" pitchFamily="18" charset="0"/>
                <a:ea typeface="黑体" pitchFamily="49" charset="-122"/>
                <a:cs typeface="Times New Roman" pitchFamily="18" charset="0"/>
              </a:rPr>
              <a:t>交换的影响：</a:t>
            </a:r>
            <a:r>
              <a:rPr lang="zh-CN" altLang="en-US" sz="2800" dirty="0">
                <a:solidFill>
                  <a:srgbClr val="0000FF"/>
                </a:solidFill>
                <a:latin typeface="Times New Roman" pitchFamily="18" charset="0"/>
                <a:ea typeface="黑体" pitchFamily="49" charset="-122"/>
                <a:cs typeface="Times New Roman" pitchFamily="18" charset="0"/>
              </a:rPr>
              <a:t>？</a:t>
            </a:r>
            <a:endParaRPr lang="en-US" altLang="zh-CN" sz="2800" dirty="0">
              <a:solidFill>
                <a:srgbClr val="0000FF"/>
              </a:solidFill>
              <a:latin typeface="Times New Roman" pitchFamily="18" charset="0"/>
              <a:ea typeface="黑体" pitchFamily="49" charset="-122"/>
              <a:cs typeface="Times New Roman" pitchFamily="18" charset="0"/>
            </a:endParaRPr>
          </a:p>
          <a:p>
            <a:pPr marL="466725" indent="-466725">
              <a:spcBef>
                <a:spcPts val="600"/>
              </a:spcBef>
            </a:pPr>
            <a:r>
              <a:rPr lang="zh-CN" altLang="en-US" sz="2800" dirty="0">
                <a:latin typeface="Times New Roman" pitchFamily="18" charset="0"/>
                <a:ea typeface="黑体" pitchFamily="49" charset="-122"/>
                <a:cs typeface="Times New Roman" pitchFamily="18" charset="0"/>
              </a:rPr>
              <a:t>海洋生物对</a:t>
            </a:r>
            <a:r>
              <a:rPr lang="en-US" altLang="zh-CN" sz="2800" dirty="0">
                <a:latin typeface="Times New Roman" pitchFamily="18" charset="0"/>
                <a:ea typeface="黑体" pitchFamily="49" charset="-122"/>
                <a:cs typeface="Times New Roman" pitchFamily="18" charset="0"/>
              </a:rPr>
              <a:t>CO</a:t>
            </a:r>
            <a:r>
              <a:rPr lang="en-US" altLang="zh-CN" sz="2800" baseline="-25000" dirty="0">
                <a:latin typeface="Times New Roman" pitchFamily="18" charset="0"/>
                <a:ea typeface="黑体" pitchFamily="49" charset="-122"/>
                <a:cs typeface="Times New Roman" pitchFamily="18" charset="0"/>
              </a:rPr>
              <a:t>2</a:t>
            </a:r>
            <a:r>
              <a:rPr lang="zh-CN" altLang="en-US" sz="2800" dirty="0">
                <a:latin typeface="Times New Roman" pitchFamily="18" charset="0"/>
                <a:ea typeface="黑体" pitchFamily="49" charset="-122"/>
                <a:cs typeface="Times New Roman" pitchFamily="18" charset="0"/>
              </a:rPr>
              <a:t>的吸收和释放：</a:t>
            </a:r>
            <a:r>
              <a:rPr lang="zh-CN" altLang="en-US" sz="2800" dirty="0">
                <a:solidFill>
                  <a:srgbClr val="0000FF"/>
                </a:solidFill>
                <a:latin typeface="Times New Roman" pitchFamily="18" charset="0"/>
                <a:ea typeface="黑体" pitchFamily="49" charset="-122"/>
                <a:cs typeface="Times New Roman" pitchFamily="18" charset="0"/>
              </a:rPr>
              <a:t>？</a:t>
            </a:r>
            <a:endParaRPr lang="zh-CN" altLang="en-US" sz="3200" dirty="0">
              <a:solidFill>
                <a:srgbClr val="0000FF"/>
              </a:solidFill>
              <a:latin typeface="Times New Roman" pitchFamily="18" charset="0"/>
              <a:ea typeface="黑体" pitchFamily="49" charset="-122"/>
              <a:cs typeface="Times New Roman" pitchFamily="18" charset="0"/>
            </a:endParaRPr>
          </a:p>
        </p:txBody>
      </p:sp>
      <p:sp>
        <p:nvSpPr>
          <p:cNvPr id="81936" name="Text Box 13"/>
          <p:cNvSpPr txBox="1">
            <a:spLocks noChangeArrowheads="1"/>
          </p:cNvSpPr>
          <p:nvPr/>
        </p:nvSpPr>
        <p:spPr bwMode="auto">
          <a:xfrm>
            <a:off x="1571604" y="357166"/>
            <a:ext cx="4248150" cy="581025"/>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总碱度的地球化学性质</a:t>
            </a:r>
          </a:p>
        </p:txBody>
      </p:sp>
      <p:pic>
        <p:nvPicPr>
          <p:cNvPr id="3" name="图片 2">
            <a:extLst>
              <a:ext uri="{FF2B5EF4-FFF2-40B4-BE49-F238E27FC236}">
                <a16:creationId xmlns:a16="http://schemas.microsoft.com/office/drawing/2014/main" id="{5A261F16-556E-495F-9EF7-B914372AC9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879" y="4365104"/>
            <a:ext cx="5943600" cy="1409700"/>
          </a:xfrm>
          <a:prstGeom prst="rect">
            <a:avLst/>
          </a:prstGeom>
        </p:spPr>
      </p:pic>
      <p:pic>
        <p:nvPicPr>
          <p:cNvPr id="5" name="图片 4">
            <a:extLst>
              <a:ext uri="{FF2B5EF4-FFF2-40B4-BE49-F238E27FC236}">
                <a16:creationId xmlns:a16="http://schemas.microsoft.com/office/drawing/2014/main" id="{5CF4AC13-6B83-4391-ADFB-882885B62B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181" y="3175386"/>
            <a:ext cx="7026498" cy="981075"/>
          </a:xfrm>
          <a:prstGeom prst="rect">
            <a:avLst/>
          </a:prstGeom>
        </p:spPr>
      </p:pic>
      <p:pic>
        <p:nvPicPr>
          <p:cNvPr id="7" name="图片 6">
            <a:extLst>
              <a:ext uri="{FF2B5EF4-FFF2-40B4-BE49-F238E27FC236}">
                <a16:creationId xmlns:a16="http://schemas.microsoft.com/office/drawing/2014/main" id="{16D703B1-EE05-498B-AFC6-E8DCBC14F9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5587" y="5881709"/>
            <a:ext cx="3552825" cy="619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sp>
        <p:nvSpPr>
          <p:cNvPr id="81923" name="Rectangle 4"/>
          <p:cNvSpPr>
            <a:spLocks noChangeArrowheads="1"/>
          </p:cNvSpPr>
          <p:nvPr/>
        </p:nvSpPr>
        <p:spPr bwMode="auto">
          <a:xfrm>
            <a:off x="0" y="3252788"/>
            <a:ext cx="9144000" cy="0"/>
          </a:xfrm>
          <a:prstGeom prst="rect">
            <a:avLst/>
          </a:prstGeom>
          <a:noFill/>
          <a:ln w="9525">
            <a:noFill/>
            <a:miter lim="800000"/>
            <a:headEnd/>
            <a:tailEnd/>
          </a:ln>
        </p:spPr>
        <p:txBody>
          <a:bodyPr wrap="none" anchor="ctr">
            <a:spAutoFit/>
          </a:bodyPr>
          <a:lstStyle/>
          <a:p>
            <a:endParaRPr lang="zh-CN" altLang="en-US"/>
          </a:p>
        </p:txBody>
      </p:sp>
      <p:sp>
        <p:nvSpPr>
          <p:cNvPr id="81924" name="Rectangle 5"/>
          <p:cNvSpPr>
            <a:spLocks noChangeArrowheads="1"/>
          </p:cNvSpPr>
          <p:nvPr/>
        </p:nvSpPr>
        <p:spPr bwMode="auto">
          <a:xfrm>
            <a:off x="0" y="3243263"/>
            <a:ext cx="9144000" cy="0"/>
          </a:xfrm>
          <a:prstGeom prst="rect">
            <a:avLst/>
          </a:prstGeom>
          <a:noFill/>
          <a:ln w="9525">
            <a:noFill/>
            <a:miter lim="800000"/>
            <a:headEnd/>
            <a:tailEnd/>
          </a:ln>
        </p:spPr>
        <p:txBody>
          <a:bodyPr wrap="none" anchor="ctr">
            <a:spAutoFit/>
          </a:bodyPr>
          <a:lstStyle/>
          <a:p>
            <a:endParaRPr lang="zh-CN" altLang="en-US"/>
          </a:p>
        </p:txBody>
      </p:sp>
      <p:sp>
        <p:nvSpPr>
          <p:cNvPr id="81925" name="Rectangle 6"/>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81926" name="Rectangle 7"/>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81927" name="Rectangle 8"/>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sp>
        <p:nvSpPr>
          <p:cNvPr id="81928" name="Rectangle 9"/>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sp>
        <p:nvSpPr>
          <p:cNvPr id="8192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81930" name="Rectangle 11"/>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1" name="Rectangle 13"/>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2" name="Rectangle 14"/>
          <p:cNvSpPr>
            <a:spLocks noChangeArrowheads="1"/>
          </p:cNvSpPr>
          <p:nvPr/>
        </p:nvSpPr>
        <p:spPr bwMode="auto">
          <a:xfrm>
            <a:off x="0" y="31861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3" name="Rectangle 15"/>
          <p:cNvSpPr>
            <a:spLocks noChangeArrowheads="1"/>
          </p:cNvSpPr>
          <p:nvPr/>
        </p:nvSpPr>
        <p:spPr bwMode="auto">
          <a:xfrm>
            <a:off x="0" y="3314700"/>
            <a:ext cx="9144000" cy="0"/>
          </a:xfrm>
          <a:prstGeom prst="rect">
            <a:avLst/>
          </a:prstGeom>
          <a:noFill/>
          <a:ln w="31750" algn="ctr">
            <a:noFill/>
            <a:miter lim="800000"/>
            <a:headEnd/>
            <a:tailEnd/>
          </a:ln>
        </p:spPr>
        <p:txBody>
          <a:bodyPr wrap="none" lIns="18000" tIns="36000" rIns="18000" bIns="10800" anchor="ctr">
            <a:spAutoFit/>
          </a:bodyPr>
          <a:lstStyle/>
          <a:p>
            <a:pPr marL="342900" indent="-342900" algn="ctr"/>
            <a:endParaRPr lang="zh-CN" altLang="zh-CN"/>
          </a:p>
        </p:txBody>
      </p:sp>
      <p:sp>
        <p:nvSpPr>
          <p:cNvPr id="81934" name="Rectangle 16"/>
          <p:cNvSpPr>
            <a:spLocks noChangeArrowheads="1"/>
          </p:cNvSpPr>
          <p:nvPr/>
        </p:nvSpPr>
        <p:spPr bwMode="auto">
          <a:xfrm>
            <a:off x="0" y="0"/>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81936" name="Text Box 13"/>
          <p:cNvSpPr txBox="1">
            <a:spLocks noChangeArrowheads="1"/>
          </p:cNvSpPr>
          <p:nvPr/>
        </p:nvSpPr>
        <p:spPr bwMode="auto">
          <a:xfrm>
            <a:off x="1571604" y="357166"/>
            <a:ext cx="4248150" cy="581025"/>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总碱度的地球化学性质</a:t>
            </a:r>
          </a:p>
        </p:txBody>
      </p:sp>
      <p:pic>
        <p:nvPicPr>
          <p:cNvPr id="3" name="图片 2">
            <a:extLst>
              <a:ext uri="{FF2B5EF4-FFF2-40B4-BE49-F238E27FC236}">
                <a16:creationId xmlns:a16="http://schemas.microsoft.com/office/drawing/2014/main" id="{5A261F16-556E-495F-9EF7-B914372AC9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303864"/>
            <a:ext cx="5943600" cy="1409700"/>
          </a:xfrm>
          <a:prstGeom prst="rect">
            <a:avLst/>
          </a:prstGeom>
        </p:spPr>
      </p:pic>
      <p:pic>
        <p:nvPicPr>
          <p:cNvPr id="7" name="图片 6">
            <a:extLst>
              <a:ext uri="{FF2B5EF4-FFF2-40B4-BE49-F238E27FC236}">
                <a16:creationId xmlns:a16="http://schemas.microsoft.com/office/drawing/2014/main" id="{16D703B1-EE05-498B-AFC6-E8DCBC14F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3341" y="3119437"/>
            <a:ext cx="3552825" cy="619125"/>
          </a:xfrm>
          <a:prstGeom prst="rect">
            <a:avLst/>
          </a:prstGeom>
        </p:spPr>
      </p:pic>
      <p:sp>
        <p:nvSpPr>
          <p:cNvPr id="2" name="文本框 1">
            <a:extLst>
              <a:ext uri="{FF2B5EF4-FFF2-40B4-BE49-F238E27FC236}">
                <a16:creationId xmlns:a16="http://schemas.microsoft.com/office/drawing/2014/main" id="{9381E353-B39D-4DD9-85F2-567EF9A6DB37}"/>
              </a:ext>
            </a:extLst>
          </p:cNvPr>
          <p:cNvSpPr txBox="1"/>
          <p:nvPr/>
        </p:nvSpPr>
        <p:spPr>
          <a:xfrm>
            <a:off x="755576" y="3790948"/>
            <a:ext cx="7319176" cy="2272995"/>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en-US" sz="2000" dirty="0"/>
              <a:t>正常的大洋水，</a:t>
            </a:r>
            <a:r>
              <a:rPr lang="en-US" altLang="zh-CN" sz="2000" dirty="0"/>
              <a:t>C</a:t>
            </a:r>
            <a:r>
              <a:rPr lang="en-US" altLang="zh-CN" sz="2000" baseline="-25000" dirty="0"/>
              <a:t>A</a:t>
            </a:r>
            <a:r>
              <a:rPr lang="zh-CN" altLang="en-US" sz="2000" dirty="0"/>
              <a:t>占总碱度的</a:t>
            </a:r>
            <a:r>
              <a:rPr lang="en-US" altLang="zh-CN" sz="2000" dirty="0"/>
              <a:t>95%</a:t>
            </a:r>
            <a:r>
              <a:rPr lang="zh-CN" altLang="en-US" sz="2000" dirty="0"/>
              <a:t>；</a:t>
            </a:r>
            <a:r>
              <a:rPr lang="en-US" altLang="zh-CN" sz="2000" dirty="0"/>
              <a:t>B</a:t>
            </a:r>
            <a:r>
              <a:rPr lang="en-US" altLang="zh-CN" sz="2000" baseline="-25000" dirty="0"/>
              <a:t>A</a:t>
            </a:r>
            <a:r>
              <a:rPr lang="zh-CN" altLang="en-US" sz="2000" dirty="0"/>
              <a:t>占总碱度的</a:t>
            </a:r>
            <a:r>
              <a:rPr lang="en-US" altLang="zh-CN" sz="2000" dirty="0"/>
              <a:t>5%</a:t>
            </a:r>
            <a:r>
              <a:rPr lang="zh-CN" altLang="en-US" sz="2000" dirty="0"/>
              <a:t>，如南海东北部地区，</a:t>
            </a:r>
            <a:r>
              <a:rPr lang="en-US" altLang="zh-CN" sz="2000" dirty="0"/>
              <a:t> B</a:t>
            </a:r>
            <a:r>
              <a:rPr lang="en-US" altLang="zh-CN" sz="2000" baseline="-25000" dirty="0"/>
              <a:t>A</a:t>
            </a:r>
            <a:r>
              <a:rPr lang="zh-CN" altLang="en-US" sz="2000" dirty="0"/>
              <a:t>占总碱度</a:t>
            </a:r>
            <a:r>
              <a:rPr lang="en-US" altLang="zh-CN" sz="2000" dirty="0"/>
              <a:t>1.2~5.3%</a:t>
            </a:r>
            <a:r>
              <a:rPr lang="zh-CN" altLang="en-US" sz="2000" dirty="0"/>
              <a:t>。</a:t>
            </a:r>
            <a:endParaRPr lang="en-US" altLang="zh-CN" sz="2000" dirty="0"/>
          </a:p>
          <a:p>
            <a:pPr marL="285750" indent="-285750">
              <a:lnSpc>
                <a:spcPct val="120000"/>
              </a:lnSpc>
              <a:buFont typeface="Arial" panose="020B0604020202020204" pitchFamily="34" charset="0"/>
              <a:buChar char="•"/>
            </a:pPr>
            <a:r>
              <a:rPr lang="en-US" altLang="zh-CN" sz="2000" dirty="0"/>
              <a:t>C</a:t>
            </a:r>
            <a:r>
              <a:rPr lang="zh-CN" altLang="en-US" sz="2000" baseline="-25000" dirty="0"/>
              <a:t>剩</a:t>
            </a:r>
            <a:r>
              <a:rPr lang="zh-CN" altLang="en-US" sz="2000" dirty="0"/>
              <a:t>在正常情况下可以忽略，但在某些特殊地区，</a:t>
            </a:r>
            <a:r>
              <a:rPr lang="en-US" altLang="zh-CN" sz="2000" dirty="0"/>
              <a:t> C</a:t>
            </a:r>
            <a:r>
              <a:rPr lang="zh-CN" altLang="en-US" sz="2000" baseline="-25000" dirty="0"/>
              <a:t>剩</a:t>
            </a:r>
            <a:r>
              <a:rPr lang="zh-CN" altLang="en-US" sz="2000" dirty="0"/>
              <a:t>不可忽略。</a:t>
            </a:r>
            <a:endParaRPr lang="en-US" altLang="zh-CN" sz="2000" dirty="0"/>
          </a:p>
          <a:p>
            <a:pPr marL="742950" lvl="1" indent="-285750">
              <a:lnSpc>
                <a:spcPct val="120000"/>
              </a:lnSpc>
              <a:buFont typeface="Wingdings" panose="05000000000000000000" pitchFamily="2" charset="2"/>
              <a:buChar char="Ø"/>
            </a:pPr>
            <a:r>
              <a:rPr lang="zh-CN" altLang="en-US" sz="2000" dirty="0"/>
              <a:t>河口区及受污染海区：</a:t>
            </a:r>
            <a:endParaRPr lang="en-US" altLang="zh-CN" sz="2000" dirty="0"/>
          </a:p>
          <a:p>
            <a:pPr marL="742950" lvl="1" indent="-285750">
              <a:lnSpc>
                <a:spcPct val="120000"/>
              </a:lnSpc>
              <a:buFont typeface="Wingdings" panose="05000000000000000000" pitchFamily="2" charset="2"/>
              <a:buChar char="Ø"/>
            </a:pPr>
            <a:r>
              <a:rPr lang="zh-CN" altLang="en-US" sz="2000" dirty="0"/>
              <a:t>缺氧、无氧区海水：深层水：</a:t>
            </a:r>
            <a:r>
              <a:rPr lang="en-US" altLang="zh-CN" sz="2000" dirty="0"/>
              <a:t>PO43-</a:t>
            </a:r>
            <a:r>
              <a:rPr lang="zh-CN" altLang="en-US" sz="2000" dirty="0"/>
              <a:t>，</a:t>
            </a:r>
            <a:r>
              <a:rPr lang="en-US" altLang="zh-CN" sz="2000" dirty="0"/>
              <a:t>HPO42-</a:t>
            </a:r>
            <a:r>
              <a:rPr lang="zh-CN" altLang="en-US" sz="2000" dirty="0"/>
              <a:t>，</a:t>
            </a:r>
            <a:r>
              <a:rPr lang="en-US" altLang="zh-CN" sz="2000" dirty="0"/>
              <a:t>H2PO4-</a:t>
            </a:r>
          </a:p>
          <a:p>
            <a:pPr marL="742950" lvl="1" indent="-285750">
              <a:lnSpc>
                <a:spcPct val="120000"/>
              </a:lnSpc>
              <a:buFont typeface="Wingdings" panose="05000000000000000000" pitchFamily="2" charset="2"/>
              <a:buChar char="Ø"/>
            </a:pPr>
            <a:r>
              <a:rPr lang="en-US" altLang="zh-CN" sz="2000" dirty="0"/>
              <a:t>H+</a:t>
            </a:r>
            <a:r>
              <a:rPr lang="zh-CN" altLang="en-US" sz="2000" dirty="0"/>
              <a:t>和</a:t>
            </a:r>
            <a:r>
              <a:rPr lang="en-US" altLang="zh-CN" sz="2000" dirty="0"/>
              <a:t>OH-</a:t>
            </a:r>
            <a:r>
              <a:rPr lang="zh-CN" altLang="en-US" sz="2000" dirty="0"/>
              <a:t>的影响很小</a:t>
            </a:r>
          </a:p>
        </p:txBody>
      </p:sp>
      <p:pic>
        <p:nvPicPr>
          <p:cNvPr id="6" name="图片 5">
            <a:extLst>
              <a:ext uri="{FF2B5EF4-FFF2-40B4-BE49-F238E27FC236}">
                <a16:creationId xmlns:a16="http://schemas.microsoft.com/office/drawing/2014/main" id="{F7C262B2-E34F-4B63-8BB1-98A5FF5058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9592" y="2794702"/>
            <a:ext cx="2376264" cy="856717"/>
          </a:xfrm>
          <a:prstGeom prst="rect">
            <a:avLst/>
          </a:prstGeom>
        </p:spPr>
      </p:pic>
      <p:sp>
        <p:nvSpPr>
          <p:cNvPr id="9" name="矩形 8">
            <a:extLst>
              <a:ext uri="{FF2B5EF4-FFF2-40B4-BE49-F238E27FC236}">
                <a16:creationId xmlns:a16="http://schemas.microsoft.com/office/drawing/2014/main" id="{B716E7C2-5D7A-4358-B743-150C874496D6}"/>
              </a:ext>
            </a:extLst>
          </p:cNvPr>
          <p:cNvSpPr/>
          <p:nvPr/>
        </p:nvSpPr>
        <p:spPr>
          <a:xfrm>
            <a:off x="4139952" y="4920216"/>
            <a:ext cx="2031325" cy="369332"/>
          </a:xfrm>
          <a:prstGeom prst="rect">
            <a:avLst/>
          </a:prstGeom>
        </p:spPr>
        <p:txBody>
          <a:bodyPr wrap="none">
            <a:spAutoFit/>
          </a:bodyPr>
          <a:lstStyle/>
          <a:p>
            <a:r>
              <a:rPr lang="zh-CN" altLang="en-US" dirty="0">
                <a:solidFill>
                  <a:schemeClr val="accent2">
                    <a:lumMod val="60000"/>
                    <a:lumOff val="40000"/>
                  </a:schemeClr>
                </a:solidFill>
              </a:rPr>
              <a:t>有机酸及其它弱酸</a:t>
            </a:r>
          </a:p>
        </p:txBody>
      </p:sp>
    </p:spTree>
    <p:extLst>
      <p:ext uri="{BB962C8B-B14F-4D97-AF65-F5344CB8AC3E}">
        <p14:creationId xmlns:p14="http://schemas.microsoft.com/office/powerpoint/2010/main" val="144099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sp>
        <p:nvSpPr>
          <p:cNvPr id="14340" name="Rectangle 5"/>
          <p:cNvSpPr>
            <a:spLocks noChangeArrowheads="1"/>
          </p:cNvSpPr>
          <p:nvPr/>
        </p:nvSpPr>
        <p:spPr bwMode="auto">
          <a:xfrm>
            <a:off x="0" y="3324225"/>
            <a:ext cx="9144000" cy="0"/>
          </a:xfrm>
          <a:prstGeom prst="rect">
            <a:avLst/>
          </a:prstGeom>
          <a:noFill/>
          <a:ln w="9525">
            <a:noFill/>
            <a:miter lim="800000"/>
            <a:headEnd/>
            <a:tailEnd/>
          </a:ln>
        </p:spPr>
        <p:txBody>
          <a:bodyPr wrap="none" anchor="ctr">
            <a:spAutoFit/>
          </a:bodyPr>
          <a:lstStyle/>
          <a:p>
            <a:endParaRPr lang="zh-CN" altLang="en-US"/>
          </a:p>
        </p:txBody>
      </p:sp>
      <p:sp>
        <p:nvSpPr>
          <p:cNvPr id="14341" name="Rectangle 6"/>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sp>
        <p:nvSpPr>
          <p:cNvPr id="14342" name="Rectangle 7"/>
          <p:cNvSpPr>
            <a:spLocks noChangeArrowheads="1"/>
          </p:cNvSpPr>
          <p:nvPr/>
        </p:nvSpPr>
        <p:spPr bwMode="auto">
          <a:xfrm>
            <a:off x="0" y="1568450"/>
            <a:ext cx="9144000" cy="0"/>
          </a:xfrm>
          <a:prstGeom prst="rect">
            <a:avLst/>
          </a:prstGeom>
          <a:noFill/>
          <a:ln w="9525">
            <a:noFill/>
            <a:miter lim="800000"/>
            <a:headEnd/>
            <a:tailEnd/>
          </a:ln>
        </p:spPr>
        <p:txBody>
          <a:bodyPr wrap="none" anchor="ctr">
            <a:spAutoFit/>
          </a:bodyPr>
          <a:lstStyle/>
          <a:p>
            <a:endParaRPr lang="zh-CN" altLang="en-US"/>
          </a:p>
        </p:txBody>
      </p:sp>
      <p:sp>
        <p:nvSpPr>
          <p:cNvPr id="14343" name="Rectangle 8"/>
          <p:cNvSpPr>
            <a:spLocks noChangeArrowheads="1"/>
          </p:cNvSpPr>
          <p:nvPr/>
        </p:nvSpPr>
        <p:spPr bwMode="auto">
          <a:xfrm>
            <a:off x="0" y="1230313"/>
            <a:ext cx="9144000" cy="0"/>
          </a:xfrm>
          <a:prstGeom prst="rect">
            <a:avLst/>
          </a:prstGeom>
          <a:noFill/>
          <a:ln w="9525">
            <a:noFill/>
            <a:miter lim="800000"/>
            <a:headEnd/>
            <a:tailEnd/>
          </a:ln>
        </p:spPr>
        <p:txBody>
          <a:bodyPr wrap="none" anchor="ctr">
            <a:spAutoFit/>
          </a:bodyPr>
          <a:lstStyle/>
          <a:p>
            <a:endParaRPr lang="zh-CN" altLang="en-US"/>
          </a:p>
        </p:txBody>
      </p:sp>
      <p:sp>
        <p:nvSpPr>
          <p:cNvPr id="14344" name="Rectangle 9"/>
          <p:cNvSpPr>
            <a:spLocks noChangeArrowheads="1"/>
          </p:cNvSpPr>
          <p:nvPr/>
        </p:nvSpPr>
        <p:spPr bwMode="auto">
          <a:xfrm>
            <a:off x="0" y="3355975"/>
            <a:ext cx="9144000" cy="0"/>
          </a:xfrm>
          <a:prstGeom prst="rect">
            <a:avLst/>
          </a:prstGeom>
          <a:noFill/>
          <a:ln w="9525">
            <a:noFill/>
            <a:miter lim="800000"/>
            <a:headEnd/>
            <a:tailEnd/>
          </a:ln>
        </p:spPr>
        <p:txBody>
          <a:bodyPr wrap="none" anchor="ctr">
            <a:spAutoFit/>
          </a:bodyPr>
          <a:lstStyle/>
          <a:p>
            <a:endParaRPr lang="zh-CN" altLang="en-US"/>
          </a:p>
        </p:txBody>
      </p:sp>
      <p:sp>
        <p:nvSpPr>
          <p:cNvPr id="14345" name="Rectangle 10"/>
          <p:cNvSpPr>
            <a:spLocks noChangeArrowheads="1"/>
          </p:cNvSpPr>
          <p:nvPr/>
        </p:nvSpPr>
        <p:spPr bwMode="auto">
          <a:xfrm>
            <a:off x="0" y="3248025"/>
            <a:ext cx="9144000" cy="0"/>
          </a:xfrm>
          <a:prstGeom prst="rect">
            <a:avLst/>
          </a:prstGeom>
          <a:noFill/>
          <a:ln w="9525">
            <a:noFill/>
            <a:miter lim="800000"/>
            <a:headEnd/>
            <a:tailEnd/>
          </a:ln>
        </p:spPr>
        <p:txBody>
          <a:bodyPr wrap="none" anchor="ctr">
            <a:spAutoFit/>
          </a:bodyPr>
          <a:lstStyle/>
          <a:p>
            <a:endParaRPr lang="zh-CN" altLang="en-US"/>
          </a:p>
        </p:txBody>
      </p:sp>
      <p:sp>
        <p:nvSpPr>
          <p:cNvPr id="14346"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14347" name="Rectangle 12"/>
          <p:cNvSpPr>
            <a:spLocks noChangeArrowheads="1"/>
          </p:cNvSpPr>
          <p:nvPr/>
        </p:nvSpPr>
        <p:spPr bwMode="auto">
          <a:xfrm>
            <a:off x="0" y="33861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4348" name="Rectangle 13"/>
          <p:cNvSpPr>
            <a:spLocks noChangeArrowheads="1"/>
          </p:cNvSpPr>
          <p:nvPr/>
        </p:nvSpPr>
        <p:spPr bwMode="auto">
          <a:xfrm>
            <a:off x="179388" y="1341438"/>
            <a:ext cx="8785225" cy="1339850"/>
          </a:xfrm>
          <a:prstGeom prst="rect">
            <a:avLst/>
          </a:prstGeom>
          <a:noFill/>
          <a:ln w="31750" algn="ctr">
            <a:noFill/>
            <a:miter lim="800000"/>
            <a:headEnd/>
            <a:tailEnd/>
          </a:ln>
        </p:spPr>
        <p:txBody>
          <a:bodyPr lIns="18000" tIns="36000" rIns="18000" bIns="10800" anchor="ctr">
            <a:spAutoFit/>
          </a:bodyPr>
          <a:lstStyle/>
          <a:p>
            <a:pPr>
              <a:lnSpc>
                <a:spcPct val="150000"/>
              </a:lnSpc>
              <a:spcBef>
                <a:spcPct val="0"/>
              </a:spcBef>
              <a:buFontTx/>
              <a:buNone/>
            </a:pPr>
            <a:r>
              <a:rPr lang="en-US" altLang="zh-CN" sz="2800" dirty="0">
                <a:latin typeface="Times New Roman" pitchFamily="18" charset="0"/>
                <a:ea typeface="黑体" pitchFamily="49" charset="-122"/>
                <a:cs typeface="Times New Roman" pitchFamily="18" charset="0"/>
              </a:rPr>
              <a:t>pH~8</a:t>
            </a:r>
            <a:r>
              <a:rPr lang="zh-CN" altLang="en-US" sz="2800" dirty="0">
                <a:latin typeface="Times New Roman" pitchFamily="18" charset="0"/>
                <a:ea typeface="黑体" pitchFamily="49" charset="-122"/>
                <a:cs typeface="Times New Roman" pitchFamily="18" charset="0"/>
              </a:rPr>
              <a:t>天然海水，影响总碱度的弱酸阴离子主要为</a:t>
            </a:r>
            <a:r>
              <a:rPr lang="en-US" altLang="zh-CN" sz="2800" dirty="0">
                <a:latin typeface="Times New Roman" pitchFamily="18" charset="0"/>
                <a:ea typeface="黑体" pitchFamily="49" charset="-122"/>
                <a:cs typeface="Times New Roman" pitchFamily="18" charset="0"/>
              </a:rPr>
              <a:t>HCO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a:t>
            </a:r>
            <a:r>
              <a:rPr lang="en-US" altLang="zh-CN" sz="2800" dirty="0">
                <a:latin typeface="Times New Roman" pitchFamily="18" charset="0"/>
                <a:ea typeface="黑体" pitchFamily="49" charset="-122"/>
                <a:cs typeface="Times New Roman" pitchFamily="18" charset="0"/>
              </a:rPr>
              <a:t>CO</a:t>
            </a:r>
            <a:r>
              <a:rPr lang="en-US" altLang="zh-CN" sz="2800" baseline="-25000" dirty="0">
                <a:latin typeface="Times New Roman" pitchFamily="18" charset="0"/>
                <a:ea typeface="黑体" pitchFamily="49" charset="-122"/>
                <a:cs typeface="Times New Roman" pitchFamily="18" charset="0"/>
              </a:rPr>
              <a:t>3</a:t>
            </a:r>
            <a:r>
              <a:rPr lang="en-US" altLang="zh-CN" sz="2800" baseline="30000" dirty="0">
                <a:latin typeface="Times New Roman" pitchFamily="18" charset="0"/>
                <a:ea typeface="黑体" pitchFamily="49" charset="-122"/>
                <a:cs typeface="Times New Roman" pitchFamily="18" charset="0"/>
              </a:rPr>
              <a:t>2-</a:t>
            </a:r>
            <a:r>
              <a:rPr lang="zh-CN" altLang="en-US" sz="2800" dirty="0">
                <a:latin typeface="Times New Roman" pitchFamily="18" charset="0"/>
                <a:ea typeface="黑体" pitchFamily="49" charset="-122"/>
                <a:cs typeface="Times New Roman" pitchFamily="18" charset="0"/>
              </a:rPr>
              <a:t>和</a:t>
            </a:r>
            <a:r>
              <a:rPr lang="en-US" altLang="zh-CN" sz="2800" dirty="0">
                <a:latin typeface="Times New Roman" pitchFamily="18" charset="0"/>
                <a:ea typeface="黑体" pitchFamily="49" charset="-122"/>
                <a:cs typeface="Times New Roman" pitchFamily="18" charset="0"/>
              </a:rPr>
              <a:t>B(OH)</a:t>
            </a:r>
            <a:r>
              <a:rPr lang="en-US" altLang="zh-CN" sz="2800" baseline="-25000" dirty="0">
                <a:latin typeface="Times New Roman" pitchFamily="18" charset="0"/>
                <a:ea typeface="黑体" pitchFamily="49" charset="-122"/>
                <a:cs typeface="Times New Roman" pitchFamily="18" charset="0"/>
              </a:rPr>
              <a:t>4</a:t>
            </a:r>
            <a:r>
              <a:rPr lang="en-US" altLang="zh-CN" sz="2800" baseline="30000" dirty="0">
                <a:latin typeface="Times New Roman" pitchFamily="18" charset="0"/>
                <a:ea typeface="黑体" pitchFamily="49" charset="-122"/>
                <a:cs typeface="Times New Roman" pitchFamily="18" charset="0"/>
              </a:rPr>
              <a:t>-</a:t>
            </a:r>
            <a:r>
              <a:rPr lang="zh-CN" altLang="en-US" sz="2800" dirty="0">
                <a:latin typeface="Times New Roman" pitchFamily="18" charset="0"/>
                <a:ea typeface="黑体" pitchFamily="49" charset="-122"/>
                <a:cs typeface="Times New Roman" pitchFamily="18" charset="0"/>
              </a:rPr>
              <a:t>，故总碱度可用实用碱度（</a:t>
            </a:r>
            <a:r>
              <a:rPr lang="en-US" altLang="zh-CN" sz="2800" dirty="0">
                <a:latin typeface="Times New Roman" pitchFamily="18" charset="0"/>
                <a:ea typeface="黑体" pitchFamily="49" charset="-122"/>
                <a:cs typeface="Times New Roman" pitchFamily="18" charset="0"/>
              </a:rPr>
              <a:t>PA</a:t>
            </a:r>
            <a:r>
              <a:rPr lang="zh-CN" altLang="en-US" sz="2800" dirty="0">
                <a:latin typeface="Times New Roman" pitchFamily="18" charset="0"/>
                <a:ea typeface="黑体" pitchFamily="49" charset="-122"/>
                <a:cs typeface="Times New Roman" pitchFamily="18" charset="0"/>
              </a:rPr>
              <a:t>）近似：</a:t>
            </a:r>
          </a:p>
        </p:txBody>
      </p:sp>
      <p:sp>
        <p:nvSpPr>
          <p:cNvPr id="14349" name="Text Box 41"/>
          <p:cNvSpPr txBox="1">
            <a:spLocks noChangeArrowheads="1"/>
          </p:cNvSpPr>
          <p:nvPr/>
        </p:nvSpPr>
        <p:spPr bwMode="auto">
          <a:xfrm>
            <a:off x="1619672" y="260648"/>
            <a:ext cx="3024187" cy="581025"/>
          </a:xfrm>
          <a:prstGeom prst="rect">
            <a:avLst/>
          </a:prstGeom>
          <a:noFill/>
          <a:ln w="31750" algn="ctr">
            <a:noFill/>
            <a:miter lim="800000"/>
            <a:headEnd/>
            <a:tailEnd/>
          </a:ln>
        </p:spPr>
        <p:txBody>
          <a:bodyPr lIns="18000" tIns="36000" rIns="18000" bIns="10800">
            <a:spAutoFit/>
          </a:bodyPr>
          <a:lstStyle/>
          <a:p>
            <a:pPr marL="342900" indent="-342900">
              <a:spcBef>
                <a:spcPct val="50000"/>
              </a:spcBef>
              <a:buFont typeface="Wingdings" pitchFamily="2" charset="2"/>
              <a:buNone/>
            </a:pPr>
            <a:r>
              <a:rPr lang="zh-CN" altLang="en-US" sz="3200" dirty="0">
                <a:solidFill>
                  <a:srgbClr val="0000FF"/>
                </a:solidFill>
                <a:latin typeface="Times New Roman" pitchFamily="18" charset="0"/>
                <a:ea typeface="黑体" pitchFamily="49" charset="-122"/>
                <a:cs typeface="Times New Roman" pitchFamily="18" charset="0"/>
              </a:rPr>
              <a:t>实用碱度（</a:t>
            </a:r>
            <a:r>
              <a:rPr lang="en-US" altLang="zh-CN" sz="3200" dirty="0">
                <a:solidFill>
                  <a:srgbClr val="0000FF"/>
                </a:solidFill>
                <a:latin typeface="Times New Roman" pitchFamily="18" charset="0"/>
                <a:ea typeface="黑体" pitchFamily="49" charset="-122"/>
                <a:cs typeface="Times New Roman" pitchFamily="18" charset="0"/>
              </a:rPr>
              <a:t>PA</a:t>
            </a:r>
            <a:r>
              <a:rPr lang="zh-CN" altLang="en-US" sz="3200" dirty="0">
                <a:solidFill>
                  <a:srgbClr val="0000FF"/>
                </a:solidFill>
                <a:latin typeface="Times New Roman" pitchFamily="18" charset="0"/>
                <a:ea typeface="黑体" pitchFamily="49" charset="-122"/>
                <a:cs typeface="Times New Roman" pitchFamily="18" charset="0"/>
              </a:rPr>
              <a:t>）</a:t>
            </a:r>
          </a:p>
        </p:txBody>
      </p:sp>
      <p:sp>
        <p:nvSpPr>
          <p:cNvPr id="14350" name="Rectangle 43"/>
          <p:cNvSpPr>
            <a:spLocks noChangeArrowheads="1"/>
          </p:cNvSpPr>
          <p:nvPr/>
        </p:nvSpPr>
        <p:spPr bwMode="auto">
          <a:xfrm>
            <a:off x="0" y="3381375"/>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graphicFrame>
        <p:nvGraphicFramePr>
          <p:cNvPr id="14338" name="Object 42"/>
          <p:cNvGraphicFramePr>
            <a:graphicFrameLocks noChangeAspect="1"/>
          </p:cNvGraphicFramePr>
          <p:nvPr/>
        </p:nvGraphicFramePr>
        <p:xfrm>
          <a:off x="250825" y="2924175"/>
          <a:ext cx="8702675" cy="625475"/>
        </p:xfrm>
        <a:graphic>
          <a:graphicData uri="http://schemas.openxmlformats.org/presentationml/2006/ole">
            <mc:AlternateContent xmlns:mc="http://schemas.openxmlformats.org/markup-compatibility/2006">
              <mc:Choice xmlns:v="urn:schemas-microsoft-com:vml" Requires="v">
                <p:oleObj spid="_x0000_s2054" name="Equation" r:id="rId3" imgW="3314700" imgH="241300" progId="Equation.DSMT4">
                  <p:embed/>
                </p:oleObj>
              </mc:Choice>
              <mc:Fallback>
                <p:oleObj name="Equation" r:id="rId3" imgW="3314700" imgH="241300" progId="Equation.DSMT4">
                  <p:embed/>
                  <p:pic>
                    <p:nvPicPr>
                      <p:cNvPr id="0" name="Object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924175"/>
                        <a:ext cx="8702675" cy="625475"/>
                      </a:xfrm>
                      <a:prstGeom prst="rect">
                        <a:avLst/>
                      </a:prstGeom>
                      <a:solidFill>
                        <a:srgbClr val="CCFFFF"/>
                      </a:solidFill>
                      <a:ln w="9525">
                        <a:solidFill>
                          <a:srgbClr val="800000"/>
                        </a:solidFill>
                        <a:miter lim="800000"/>
                        <a:headEnd/>
                        <a:tailEnd/>
                      </a:ln>
                    </p:spPr>
                  </p:pic>
                </p:oleObj>
              </mc:Fallback>
            </mc:AlternateContent>
          </a:graphicData>
        </a:graphic>
      </p:graphicFrame>
      <p:sp>
        <p:nvSpPr>
          <p:cNvPr id="202803" name="Rectangle 51"/>
          <p:cNvSpPr>
            <a:spLocks noChangeArrowheads="1"/>
          </p:cNvSpPr>
          <p:nvPr/>
        </p:nvSpPr>
        <p:spPr bwMode="auto">
          <a:xfrm>
            <a:off x="1258888" y="2997200"/>
            <a:ext cx="2952750" cy="490538"/>
          </a:xfrm>
          <a:prstGeom prst="rect">
            <a:avLst/>
          </a:prstGeom>
          <a:noFill/>
          <a:ln w="31750" cap="rnd" algn="ctr">
            <a:solidFill>
              <a:srgbClr val="FF00FF"/>
            </a:solidFill>
            <a:prstDash val="sysDot"/>
            <a:miter lim="800000"/>
            <a:headEnd/>
            <a:tailEnd/>
          </a:ln>
        </p:spPr>
        <p:txBody>
          <a:bodyPr lIns="18000" tIns="36000" rIns="18000" bIns="10800" anchor="ctr">
            <a:spAutoFit/>
          </a:bodyPr>
          <a:lstStyle/>
          <a:p>
            <a:endParaRPr lang="zh-CN" altLang="en-US"/>
          </a:p>
        </p:txBody>
      </p:sp>
      <p:sp>
        <p:nvSpPr>
          <p:cNvPr id="202804" name="Rectangle 52"/>
          <p:cNvSpPr>
            <a:spLocks noChangeArrowheads="1"/>
          </p:cNvSpPr>
          <p:nvPr/>
        </p:nvSpPr>
        <p:spPr bwMode="auto">
          <a:xfrm>
            <a:off x="4427538" y="2997200"/>
            <a:ext cx="1657350" cy="490538"/>
          </a:xfrm>
          <a:prstGeom prst="rect">
            <a:avLst/>
          </a:prstGeom>
          <a:noFill/>
          <a:ln w="31750" cap="rnd" algn="ctr">
            <a:solidFill>
              <a:srgbClr val="FF00FF"/>
            </a:solidFill>
            <a:prstDash val="sysDot"/>
            <a:miter lim="800000"/>
            <a:headEnd/>
            <a:tailEnd/>
          </a:ln>
        </p:spPr>
        <p:txBody>
          <a:bodyPr lIns="18000" tIns="36000" rIns="18000" bIns="10800" anchor="ctr">
            <a:spAutoFit/>
          </a:bodyPr>
          <a:lstStyle/>
          <a:p>
            <a:endParaRPr lang="zh-CN" altLang="en-US"/>
          </a:p>
        </p:txBody>
      </p:sp>
      <p:sp>
        <p:nvSpPr>
          <p:cNvPr id="202805" name="Rectangle 53"/>
          <p:cNvSpPr>
            <a:spLocks noChangeArrowheads="1"/>
          </p:cNvSpPr>
          <p:nvPr/>
        </p:nvSpPr>
        <p:spPr bwMode="auto">
          <a:xfrm>
            <a:off x="6227763" y="2997200"/>
            <a:ext cx="1873250" cy="490538"/>
          </a:xfrm>
          <a:prstGeom prst="rect">
            <a:avLst/>
          </a:prstGeom>
          <a:noFill/>
          <a:ln w="31750" cap="rnd" algn="ctr">
            <a:solidFill>
              <a:srgbClr val="FF00FF"/>
            </a:solidFill>
            <a:prstDash val="sysDot"/>
            <a:miter lim="800000"/>
            <a:headEnd/>
            <a:tailEnd/>
          </a:ln>
        </p:spPr>
        <p:txBody>
          <a:bodyPr lIns="18000" tIns="36000" rIns="18000" bIns="10800" anchor="ctr">
            <a:spAutoFit/>
          </a:bodyPr>
          <a:lstStyle/>
          <a:p>
            <a:endParaRPr lang="zh-CN" altLang="en-US"/>
          </a:p>
        </p:txBody>
      </p:sp>
      <p:sp>
        <p:nvSpPr>
          <p:cNvPr id="202806" name="Text Box 54"/>
          <p:cNvSpPr txBox="1">
            <a:spLocks noChangeArrowheads="1"/>
          </p:cNvSpPr>
          <p:nvPr/>
        </p:nvSpPr>
        <p:spPr bwMode="auto">
          <a:xfrm>
            <a:off x="1763713" y="3644900"/>
            <a:ext cx="1655762" cy="514350"/>
          </a:xfrm>
          <a:prstGeom prst="rect">
            <a:avLst/>
          </a:prstGeom>
          <a:noFill/>
          <a:ln w="31750" algn="ctr">
            <a:noFill/>
            <a:miter lim="800000"/>
            <a:headEnd/>
            <a:tailEnd/>
          </a:ln>
        </p:spPr>
        <p:txBody>
          <a:bodyPr lIns="18000" tIns="36000" rIns="18000" bIns="10800">
            <a:spAutoFit/>
          </a:bodyPr>
          <a:lstStyle/>
          <a:p>
            <a:pPr marL="342900" indent="-342900" algn="ctr">
              <a:spcBef>
                <a:spcPct val="50000"/>
              </a:spcBef>
              <a:buFont typeface="Wingdings" pitchFamily="2" charset="2"/>
              <a:buNone/>
            </a:pPr>
            <a:r>
              <a:rPr lang="zh-CN" altLang="en-US" sz="2800" dirty="0">
                <a:solidFill>
                  <a:srgbClr val="0000FF"/>
                </a:solidFill>
                <a:latin typeface="Times New Roman" pitchFamily="18" charset="0"/>
                <a:ea typeface="黑体" pitchFamily="49" charset="-122"/>
                <a:cs typeface="Times New Roman" pitchFamily="18" charset="0"/>
              </a:rPr>
              <a:t>碳酸碱度</a:t>
            </a:r>
          </a:p>
        </p:txBody>
      </p:sp>
      <p:sp>
        <p:nvSpPr>
          <p:cNvPr id="202807" name="Text Box 55"/>
          <p:cNvSpPr txBox="1">
            <a:spLocks noChangeArrowheads="1"/>
          </p:cNvSpPr>
          <p:nvPr/>
        </p:nvSpPr>
        <p:spPr bwMode="auto">
          <a:xfrm>
            <a:off x="4500563" y="3644900"/>
            <a:ext cx="1582737" cy="514350"/>
          </a:xfrm>
          <a:prstGeom prst="rect">
            <a:avLst/>
          </a:prstGeom>
          <a:noFill/>
          <a:ln w="31750" algn="ctr">
            <a:noFill/>
            <a:miter lim="800000"/>
            <a:headEnd/>
            <a:tailEnd/>
          </a:ln>
        </p:spPr>
        <p:txBody>
          <a:bodyPr lIns="18000" tIns="36000" rIns="18000" bIns="10800">
            <a:spAutoFit/>
          </a:bodyPr>
          <a:lstStyle/>
          <a:p>
            <a:pPr marL="342900" indent="-342900" algn="ctr">
              <a:spcBef>
                <a:spcPct val="50000"/>
              </a:spcBef>
              <a:buFont typeface="Wingdings" pitchFamily="2" charset="2"/>
              <a:buNone/>
            </a:pPr>
            <a:r>
              <a:rPr lang="zh-CN" altLang="en-US" sz="2800">
                <a:solidFill>
                  <a:srgbClr val="0000FF"/>
                </a:solidFill>
                <a:latin typeface="Times New Roman" pitchFamily="18" charset="0"/>
                <a:ea typeface="黑体" pitchFamily="49" charset="-122"/>
                <a:cs typeface="Times New Roman" pitchFamily="18" charset="0"/>
              </a:rPr>
              <a:t>硼酸碱度</a:t>
            </a:r>
          </a:p>
        </p:txBody>
      </p:sp>
      <p:sp>
        <p:nvSpPr>
          <p:cNvPr id="202808" name="Text Box 56"/>
          <p:cNvSpPr txBox="1">
            <a:spLocks noChangeArrowheads="1"/>
          </p:cNvSpPr>
          <p:nvPr/>
        </p:nvSpPr>
        <p:spPr bwMode="auto">
          <a:xfrm>
            <a:off x="6516688" y="3644900"/>
            <a:ext cx="1439862" cy="514350"/>
          </a:xfrm>
          <a:prstGeom prst="rect">
            <a:avLst/>
          </a:prstGeom>
          <a:noFill/>
          <a:ln w="31750" algn="ctr">
            <a:noFill/>
            <a:miter lim="800000"/>
            <a:headEnd/>
            <a:tailEnd/>
          </a:ln>
        </p:spPr>
        <p:txBody>
          <a:bodyPr lIns="18000" tIns="36000" rIns="18000" bIns="10800">
            <a:spAutoFit/>
          </a:bodyPr>
          <a:lstStyle/>
          <a:p>
            <a:pPr marL="342900" indent="-342900" algn="ctr">
              <a:spcBef>
                <a:spcPct val="50000"/>
              </a:spcBef>
              <a:buFont typeface="Wingdings" pitchFamily="2" charset="2"/>
              <a:buNone/>
            </a:pPr>
            <a:r>
              <a:rPr lang="zh-CN" altLang="en-US" sz="2800">
                <a:solidFill>
                  <a:srgbClr val="0000FF"/>
                </a:solidFill>
                <a:latin typeface="Times New Roman" pitchFamily="18" charset="0"/>
                <a:ea typeface="黑体" pitchFamily="49" charset="-122"/>
                <a:cs typeface="Times New Roman" pitchFamily="18" charset="0"/>
              </a:rPr>
              <a:t>水碱度</a:t>
            </a:r>
          </a:p>
        </p:txBody>
      </p:sp>
      <p:sp>
        <p:nvSpPr>
          <p:cNvPr id="16406" name="Rectangle 57"/>
          <p:cNvSpPr>
            <a:spLocks noChangeArrowheads="1"/>
          </p:cNvSpPr>
          <p:nvPr/>
        </p:nvSpPr>
        <p:spPr bwMode="auto">
          <a:xfrm>
            <a:off x="323850" y="4508500"/>
            <a:ext cx="8496300" cy="133985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18000" tIns="36000" rIns="18000" bIns="10800" anchor="ctr">
            <a:spAutoFit/>
          </a:bodyPr>
          <a:lstStyle/>
          <a:p>
            <a:pPr>
              <a:lnSpc>
                <a:spcPct val="150000"/>
              </a:lnSpc>
              <a:spcBef>
                <a:spcPts val="0"/>
              </a:spcBef>
              <a:buFont typeface="Wingdings" pitchFamily="2" charset="2"/>
              <a:buNone/>
              <a:defRPr/>
            </a:pPr>
            <a:r>
              <a:rPr lang="zh-CN" altLang="en-US" sz="2800" dirty="0">
                <a:latin typeface="Times New Roman" pitchFamily="18" charset="0"/>
                <a:ea typeface="黑体" pitchFamily="49" charset="-122"/>
                <a:cs typeface="Times New Roman" pitchFamily="18" charset="0"/>
              </a:rPr>
              <a:t>对于河口、污染海域或缺氧的水体，</a:t>
            </a:r>
            <a:r>
              <a:rPr lang="zh-CN" altLang="en-US" sz="2800" dirty="0">
                <a:solidFill>
                  <a:srgbClr val="0000FF"/>
                </a:solidFill>
                <a:latin typeface="Times New Roman" pitchFamily="18" charset="0"/>
                <a:ea typeface="黑体" pitchFamily="49" charset="-122"/>
                <a:cs typeface="Times New Roman" pitchFamily="18" charset="0"/>
              </a:rPr>
              <a:t>硫化物、氨和磷酸盐</a:t>
            </a:r>
            <a:r>
              <a:rPr lang="zh-CN" altLang="en-US" sz="2800" dirty="0">
                <a:latin typeface="Times New Roman" pitchFamily="18" charset="0"/>
                <a:ea typeface="黑体" pitchFamily="49" charset="-122"/>
                <a:cs typeface="Times New Roman" pitchFamily="18" charset="0"/>
              </a:rPr>
              <a:t>的影响不可忽略，上述近似不能成立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2803"/>
                                        </p:tgtEl>
                                        <p:attrNameLst>
                                          <p:attrName>style.visibility</p:attrName>
                                        </p:attrNameLst>
                                      </p:cBhvr>
                                      <p:to>
                                        <p:strVal val="visible"/>
                                      </p:to>
                                    </p:set>
                                    <p:anim calcmode="lin" valueType="num">
                                      <p:cBhvr additive="base">
                                        <p:cTn id="7" dur="500" fill="hold"/>
                                        <p:tgtEl>
                                          <p:spTgt spid="202803"/>
                                        </p:tgtEl>
                                        <p:attrNameLst>
                                          <p:attrName>ppt_x</p:attrName>
                                        </p:attrNameLst>
                                      </p:cBhvr>
                                      <p:tavLst>
                                        <p:tav tm="0">
                                          <p:val>
                                            <p:strVal val="#ppt_x"/>
                                          </p:val>
                                        </p:tav>
                                        <p:tav tm="100000">
                                          <p:val>
                                            <p:strVal val="#ppt_x"/>
                                          </p:val>
                                        </p:tav>
                                      </p:tavLst>
                                    </p:anim>
                                    <p:anim calcmode="lin" valueType="num">
                                      <p:cBhvr additive="base">
                                        <p:cTn id="8" dur="500" fill="hold"/>
                                        <p:tgtEl>
                                          <p:spTgt spid="2028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2806"/>
                                        </p:tgtEl>
                                        <p:attrNameLst>
                                          <p:attrName>style.visibility</p:attrName>
                                        </p:attrNameLst>
                                      </p:cBhvr>
                                      <p:to>
                                        <p:strVal val="visible"/>
                                      </p:to>
                                    </p:set>
                                    <p:anim calcmode="lin" valueType="num">
                                      <p:cBhvr additive="base">
                                        <p:cTn id="13" dur="500" fill="hold"/>
                                        <p:tgtEl>
                                          <p:spTgt spid="202806"/>
                                        </p:tgtEl>
                                        <p:attrNameLst>
                                          <p:attrName>ppt_x</p:attrName>
                                        </p:attrNameLst>
                                      </p:cBhvr>
                                      <p:tavLst>
                                        <p:tav tm="0">
                                          <p:val>
                                            <p:strVal val="#ppt_x"/>
                                          </p:val>
                                        </p:tav>
                                        <p:tav tm="100000">
                                          <p:val>
                                            <p:strVal val="#ppt_x"/>
                                          </p:val>
                                        </p:tav>
                                      </p:tavLst>
                                    </p:anim>
                                    <p:anim calcmode="lin" valueType="num">
                                      <p:cBhvr additive="base">
                                        <p:cTn id="14" dur="500" fill="hold"/>
                                        <p:tgtEl>
                                          <p:spTgt spid="2028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2804"/>
                                        </p:tgtEl>
                                        <p:attrNameLst>
                                          <p:attrName>style.visibility</p:attrName>
                                        </p:attrNameLst>
                                      </p:cBhvr>
                                      <p:to>
                                        <p:strVal val="visible"/>
                                      </p:to>
                                    </p:set>
                                    <p:anim calcmode="lin" valueType="num">
                                      <p:cBhvr additive="base">
                                        <p:cTn id="19" dur="500" fill="hold"/>
                                        <p:tgtEl>
                                          <p:spTgt spid="202804"/>
                                        </p:tgtEl>
                                        <p:attrNameLst>
                                          <p:attrName>ppt_x</p:attrName>
                                        </p:attrNameLst>
                                      </p:cBhvr>
                                      <p:tavLst>
                                        <p:tav tm="0">
                                          <p:val>
                                            <p:strVal val="#ppt_x"/>
                                          </p:val>
                                        </p:tav>
                                        <p:tav tm="100000">
                                          <p:val>
                                            <p:strVal val="#ppt_x"/>
                                          </p:val>
                                        </p:tav>
                                      </p:tavLst>
                                    </p:anim>
                                    <p:anim calcmode="lin" valueType="num">
                                      <p:cBhvr additive="base">
                                        <p:cTn id="20" dur="500" fill="hold"/>
                                        <p:tgtEl>
                                          <p:spTgt spid="20280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2807"/>
                                        </p:tgtEl>
                                        <p:attrNameLst>
                                          <p:attrName>style.visibility</p:attrName>
                                        </p:attrNameLst>
                                      </p:cBhvr>
                                      <p:to>
                                        <p:strVal val="visible"/>
                                      </p:to>
                                    </p:set>
                                    <p:anim calcmode="lin" valueType="num">
                                      <p:cBhvr additive="base">
                                        <p:cTn id="25" dur="500" fill="hold"/>
                                        <p:tgtEl>
                                          <p:spTgt spid="202807"/>
                                        </p:tgtEl>
                                        <p:attrNameLst>
                                          <p:attrName>ppt_x</p:attrName>
                                        </p:attrNameLst>
                                      </p:cBhvr>
                                      <p:tavLst>
                                        <p:tav tm="0">
                                          <p:val>
                                            <p:strVal val="#ppt_x"/>
                                          </p:val>
                                        </p:tav>
                                        <p:tav tm="100000">
                                          <p:val>
                                            <p:strVal val="#ppt_x"/>
                                          </p:val>
                                        </p:tav>
                                      </p:tavLst>
                                    </p:anim>
                                    <p:anim calcmode="lin" valueType="num">
                                      <p:cBhvr additive="base">
                                        <p:cTn id="26" dur="500" fill="hold"/>
                                        <p:tgtEl>
                                          <p:spTgt spid="20280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2805"/>
                                        </p:tgtEl>
                                        <p:attrNameLst>
                                          <p:attrName>style.visibility</p:attrName>
                                        </p:attrNameLst>
                                      </p:cBhvr>
                                      <p:to>
                                        <p:strVal val="visible"/>
                                      </p:to>
                                    </p:set>
                                    <p:anim calcmode="lin" valueType="num">
                                      <p:cBhvr additive="base">
                                        <p:cTn id="31" dur="500" fill="hold"/>
                                        <p:tgtEl>
                                          <p:spTgt spid="202805"/>
                                        </p:tgtEl>
                                        <p:attrNameLst>
                                          <p:attrName>ppt_x</p:attrName>
                                        </p:attrNameLst>
                                      </p:cBhvr>
                                      <p:tavLst>
                                        <p:tav tm="0">
                                          <p:val>
                                            <p:strVal val="#ppt_x"/>
                                          </p:val>
                                        </p:tav>
                                        <p:tav tm="100000">
                                          <p:val>
                                            <p:strVal val="#ppt_x"/>
                                          </p:val>
                                        </p:tav>
                                      </p:tavLst>
                                    </p:anim>
                                    <p:anim calcmode="lin" valueType="num">
                                      <p:cBhvr additive="base">
                                        <p:cTn id="32" dur="500" fill="hold"/>
                                        <p:tgtEl>
                                          <p:spTgt spid="20280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2808"/>
                                        </p:tgtEl>
                                        <p:attrNameLst>
                                          <p:attrName>style.visibility</p:attrName>
                                        </p:attrNameLst>
                                      </p:cBhvr>
                                      <p:to>
                                        <p:strVal val="visible"/>
                                      </p:to>
                                    </p:set>
                                    <p:anim calcmode="lin" valueType="num">
                                      <p:cBhvr additive="base">
                                        <p:cTn id="37" dur="500" fill="hold"/>
                                        <p:tgtEl>
                                          <p:spTgt spid="202808"/>
                                        </p:tgtEl>
                                        <p:attrNameLst>
                                          <p:attrName>ppt_x</p:attrName>
                                        </p:attrNameLst>
                                      </p:cBhvr>
                                      <p:tavLst>
                                        <p:tav tm="0">
                                          <p:val>
                                            <p:strVal val="#ppt_x"/>
                                          </p:val>
                                        </p:tav>
                                        <p:tav tm="100000">
                                          <p:val>
                                            <p:strVal val="#ppt_x"/>
                                          </p:val>
                                        </p:tav>
                                      </p:tavLst>
                                    </p:anim>
                                    <p:anim calcmode="lin" valueType="num">
                                      <p:cBhvr additive="base">
                                        <p:cTn id="38" dur="500" fill="hold"/>
                                        <p:tgtEl>
                                          <p:spTgt spid="2028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03" grpId="0" animBg="1"/>
      <p:bldP spid="202804" grpId="0" animBg="1"/>
      <p:bldP spid="202805" grpId="0" animBg="1"/>
      <p:bldP spid="202806" grpId="0"/>
      <p:bldP spid="202807" grpId="0"/>
      <p:bldP spid="20280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a:extLst>
              <a:ext uri="{FF2B5EF4-FFF2-40B4-BE49-F238E27FC236}">
                <a16:creationId xmlns:a16="http://schemas.microsoft.com/office/drawing/2014/main" id="{A2D4AFCF-4863-4C14-BC4F-C4FFBDCA7560}"/>
              </a:ext>
            </a:extLst>
          </p:cNvPr>
          <p:cNvSpPr txBox="1">
            <a:spLocks/>
          </p:cNvSpPr>
          <p:nvPr/>
        </p:nvSpPr>
        <p:spPr>
          <a:xfrm>
            <a:off x="457200" y="1412776"/>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zh-CN" sz="1800" kern="1200" baseline="0">
                <a:solidFill>
                  <a:schemeClr val="tx1"/>
                </a:solidFill>
                <a:latin typeface="+mn-lt"/>
                <a:ea typeface="+mn-ea"/>
                <a:cs typeface="+mn-cs"/>
              </a:defRPr>
            </a:lvl9pPr>
            <a:extLst/>
          </a:lstStyle>
          <a:p>
            <a:r>
              <a:rPr lang="zh-CN" altLang="en-US" dirty="0"/>
              <a:t>提纲</a:t>
            </a:r>
          </a:p>
          <a:p>
            <a:pPr marL="914400" lvl="1" indent="-457200">
              <a:buFont typeface="+mj-lt"/>
              <a:buAutoNum type="arabicPeriod"/>
            </a:pPr>
            <a:r>
              <a:rPr lang="en-US" altLang="zh-CN" sz="2800" dirty="0"/>
              <a:t>TA</a:t>
            </a:r>
          </a:p>
          <a:p>
            <a:pPr marL="1188720" lvl="2" indent="-457200">
              <a:buFont typeface="+mj-ea"/>
              <a:buAutoNum type="circleNumDbPlain"/>
            </a:pPr>
            <a:r>
              <a:rPr lang="zh-CN" altLang="en-US" sz="2500" dirty="0">
                <a:solidFill>
                  <a:schemeClr val="bg1">
                    <a:lumMod val="75000"/>
                  </a:schemeClr>
                </a:solidFill>
              </a:rPr>
              <a:t>海水中</a:t>
            </a:r>
            <a:r>
              <a:rPr lang="en-US" altLang="zh-CN" sz="2500" dirty="0">
                <a:solidFill>
                  <a:schemeClr val="bg1">
                    <a:lumMod val="75000"/>
                  </a:schemeClr>
                </a:solidFill>
              </a:rPr>
              <a:t>TA</a:t>
            </a:r>
            <a:r>
              <a:rPr lang="zh-CN" altLang="en-US" sz="2500" dirty="0">
                <a:solidFill>
                  <a:schemeClr val="bg1">
                    <a:lumMod val="75000"/>
                  </a:schemeClr>
                </a:solidFill>
              </a:rPr>
              <a:t>的定义</a:t>
            </a:r>
            <a:endParaRPr lang="zh-CN" altLang="en-US" sz="2800" dirty="0">
              <a:solidFill>
                <a:schemeClr val="bg1">
                  <a:lumMod val="75000"/>
                </a:schemeClr>
              </a:solidFill>
            </a:endParaRPr>
          </a:p>
          <a:p>
            <a:pPr marL="1188720" lvl="2" indent="-457200">
              <a:buFont typeface="+mj-lt"/>
              <a:buAutoNum type="circleNumDbPlain"/>
            </a:pPr>
            <a:r>
              <a:rPr lang="zh-CN" altLang="en-US" sz="2500" dirty="0"/>
              <a:t>影响海水</a:t>
            </a:r>
            <a:r>
              <a:rPr lang="en-US" altLang="zh-CN" sz="2500" dirty="0"/>
              <a:t>TA</a:t>
            </a:r>
            <a:r>
              <a:rPr lang="zh-CN" altLang="en-US" sz="2500" dirty="0"/>
              <a:t>的主要因素</a:t>
            </a:r>
            <a:endParaRPr lang="en-US" altLang="zh-CN" sz="2500" dirty="0"/>
          </a:p>
          <a:p>
            <a:pPr marL="1188720" lvl="2" indent="-457200">
              <a:buFont typeface="+mj-lt"/>
              <a:buAutoNum type="circleNumDbPlain"/>
            </a:pPr>
            <a:r>
              <a:rPr lang="zh-CN" altLang="en-US" sz="2500" dirty="0">
                <a:solidFill>
                  <a:schemeClr val="bg1">
                    <a:lumMod val="75000"/>
                  </a:schemeClr>
                </a:solidFill>
              </a:rPr>
              <a:t>测量</a:t>
            </a:r>
            <a:r>
              <a:rPr lang="en-US" altLang="zh-CN" sz="2500" dirty="0">
                <a:solidFill>
                  <a:schemeClr val="bg1">
                    <a:lumMod val="75000"/>
                  </a:schemeClr>
                </a:solidFill>
              </a:rPr>
              <a:t>TA</a:t>
            </a:r>
            <a:r>
              <a:rPr lang="zh-CN" altLang="en-US" sz="2500" dirty="0">
                <a:solidFill>
                  <a:schemeClr val="bg1">
                    <a:lumMod val="75000"/>
                  </a:schemeClr>
                </a:solidFill>
              </a:rPr>
              <a:t>的方法</a:t>
            </a:r>
          </a:p>
          <a:p>
            <a:pPr marL="1703070" lvl="3" indent="-514350">
              <a:buFont typeface="+mj-lt"/>
              <a:buAutoNum type="circleNumDbPlain"/>
            </a:pPr>
            <a:r>
              <a:rPr lang="zh-CN" altLang="en-US" dirty="0">
                <a:solidFill>
                  <a:schemeClr val="bg1">
                    <a:lumMod val="75000"/>
                  </a:schemeClr>
                </a:solidFill>
              </a:rPr>
              <a:t>碘量法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回滴法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电导法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电位法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直接</a:t>
            </a:r>
            <a:r>
              <a:rPr lang="en-US" altLang="zh-CN" dirty="0">
                <a:solidFill>
                  <a:schemeClr val="bg1">
                    <a:lumMod val="75000"/>
                  </a:schemeClr>
                </a:solidFill>
              </a:rPr>
              <a:t>pH</a:t>
            </a:r>
            <a:r>
              <a:rPr lang="zh-CN" altLang="en-US" dirty="0">
                <a:solidFill>
                  <a:schemeClr val="bg1">
                    <a:lumMod val="75000"/>
                  </a:schemeClr>
                </a:solidFill>
              </a:rPr>
              <a:t>测量法</a:t>
            </a:r>
            <a:endParaRPr lang="en-US" altLang="zh-CN" dirty="0">
              <a:solidFill>
                <a:schemeClr val="bg1">
                  <a:lumMod val="75000"/>
                </a:schemeClr>
              </a:solidFill>
            </a:endParaRPr>
          </a:p>
          <a:p>
            <a:pPr marL="1245870" lvl="2" indent="-514350">
              <a:buFont typeface="+mj-lt"/>
              <a:buAutoNum type="circleNumDbPlain"/>
            </a:pPr>
            <a:r>
              <a:rPr lang="zh-CN" altLang="en-US" dirty="0">
                <a:solidFill>
                  <a:schemeClr val="bg1">
                    <a:lumMod val="75000"/>
                  </a:schemeClr>
                </a:solidFill>
              </a:rPr>
              <a:t>测量</a:t>
            </a:r>
            <a:r>
              <a:rPr lang="en-US" altLang="zh-CN" dirty="0">
                <a:solidFill>
                  <a:schemeClr val="bg1">
                    <a:lumMod val="75000"/>
                  </a:schemeClr>
                </a:solidFill>
              </a:rPr>
              <a:t>TA</a:t>
            </a:r>
            <a:r>
              <a:rPr lang="zh-CN" altLang="en-US" dirty="0">
                <a:solidFill>
                  <a:schemeClr val="bg1">
                    <a:lumMod val="75000"/>
                  </a:schemeClr>
                </a:solidFill>
              </a:rPr>
              <a:t>的仪器</a:t>
            </a:r>
          </a:p>
          <a:p>
            <a:pPr marL="914400" lvl="1" indent="-457200">
              <a:buFont typeface="+mj-lt"/>
              <a:buAutoNum type="arabicPeriod"/>
            </a:pPr>
            <a:endParaRPr lang="zh-CN" altLang="en-US" dirty="0"/>
          </a:p>
        </p:txBody>
      </p:sp>
      <p:sp>
        <p:nvSpPr>
          <p:cNvPr id="5" name="TextBox 24">
            <a:extLst>
              <a:ext uri="{FF2B5EF4-FFF2-40B4-BE49-F238E27FC236}">
                <a16:creationId xmlns:a16="http://schemas.microsoft.com/office/drawing/2014/main" id="{EA2362A1-586F-44D1-BA02-A8DFEFCD7525}"/>
              </a:ext>
            </a:extLst>
          </p:cNvPr>
          <p:cNvSpPr txBox="1"/>
          <p:nvPr/>
        </p:nvSpPr>
        <p:spPr>
          <a:xfrm>
            <a:off x="1547664" y="548680"/>
            <a:ext cx="5518396" cy="584775"/>
          </a:xfrm>
          <a:prstGeom prst="rect">
            <a:avLst/>
          </a:prstGeom>
          <a:noFill/>
          <a:ln w="2222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第九章 海水中的</a:t>
            </a:r>
            <a:r>
              <a:rPr lang="en-US" altLang="zh-CN" sz="3200" b="1" dirty="0">
                <a:solidFill>
                  <a:schemeClr val="bg2">
                    <a:lumMod val="25000"/>
                  </a:schemeClr>
                </a:solidFill>
                <a:latin typeface="华文新魏" pitchFamily="2" charset="-122"/>
                <a:ea typeface="华文新魏" pitchFamily="2" charset="-122"/>
              </a:rPr>
              <a:t>TA</a:t>
            </a:r>
            <a:endParaRPr lang="zh-CN" altLang="en-US" sz="3200" b="1"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98994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323528" y="1340769"/>
            <a:ext cx="8429684" cy="2880319"/>
          </a:xfrm>
        </p:spPr>
        <p:txBody>
          <a:bodyPr/>
          <a:lstStyle/>
          <a:p>
            <a:r>
              <a:rPr lang="zh-CN" altLang="en-US" dirty="0"/>
              <a:t>测量</a:t>
            </a:r>
            <a:r>
              <a:rPr lang="en-US" altLang="zh-CN" dirty="0"/>
              <a:t>TA</a:t>
            </a:r>
            <a:r>
              <a:rPr lang="zh-CN" altLang="en-US" dirty="0"/>
              <a:t>的基本原理为</a:t>
            </a:r>
            <a:r>
              <a:rPr lang="en-US" altLang="zh-CN" dirty="0" err="1"/>
              <a:t>HCl</a:t>
            </a:r>
            <a:r>
              <a:rPr lang="zh-CN" altLang="en-US" dirty="0"/>
              <a:t>滴定法</a:t>
            </a:r>
            <a:endParaRPr lang="en-US" altLang="zh-CN" dirty="0"/>
          </a:p>
          <a:p>
            <a:r>
              <a:rPr lang="zh-CN" altLang="en-US" dirty="0"/>
              <a:t>根据终点的判断不同</a:t>
            </a:r>
            <a:endParaRPr lang="en-US" altLang="zh-CN" dirty="0"/>
          </a:p>
          <a:p>
            <a:pPr lvl="1"/>
            <a:r>
              <a:rPr lang="zh-CN" altLang="en-US" dirty="0"/>
              <a:t>电极电势滴定法</a:t>
            </a:r>
            <a:endParaRPr lang="en-US" altLang="zh-CN" dirty="0"/>
          </a:p>
          <a:p>
            <a:pPr lvl="1"/>
            <a:r>
              <a:rPr lang="zh-CN" altLang="en-US" dirty="0"/>
              <a:t>光学滴定法</a:t>
            </a:r>
            <a:endParaRPr lang="en-US" altLang="zh-CN" dirty="0"/>
          </a:p>
          <a:p>
            <a:r>
              <a:rPr lang="zh-CN" altLang="en-US" dirty="0"/>
              <a:t>弱酸根离子在</a:t>
            </a:r>
            <a:r>
              <a:rPr lang="en-US" altLang="zh-CN" dirty="0"/>
              <a:t>25</a:t>
            </a:r>
            <a:r>
              <a:rPr lang="zh-CN" altLang="en-US" dirty="0"/>
              <a:t>℃，离子强度为</a:t>
            </a:r>
            <a:r>
              <a:rPr lang="en-US" altLang="zh-CN" dirty="0"/>
              <a:t>0</a:t>
            </a:r>
            <a:r>
              <a:rPr lang="zh-CN" altLang="en-US" dirty="0"/>
              <a:t>的溶液中</a:t>
            </a:r>
            <a:r>
              <a:rPr lang="en-US" altLang="zh-CN" dirty="0" err="1"/>
              <a:t>pK</a:t>
            </a:r>
            <a:r>
              <a:rPr lang="en-US" altLang="zh-CN" dirty="0"/>
              <a:t> &gt; 4.5</a:t>
            </a:r>
            <a:r>
              <a:rPr lang="zh-CN" altLang="en-US" dirty="0"/>
              <a:t>被认为是质子接受体（</a:t>
            </a:r>
            <a:r>
              <a:rPr lang="en-US" altLang="zh-CN" dirty="0"/>
              <a:t>Dickson</a:t>
            </a:r>
            <a:r>
              <a:rPr lang="zh-CN" altLang="en-US" dirty="0"/>
              <a:t>，</a:t>
            </a:r>
            <a:r>
              <a:rPr lang="en-US" altLang="zh-CN" dirty="0"/>
              <a:t>1981</a:t>
            </a:r>
            <a:r>
              <a:rPr lang="zh-CN" altLang="en-US" dirty="0"/>
              <a:t>）</a:t>
            </a:r>
            <a:r>
              <a:rPr lang="en-US" altLang="zh-CN" dirty="0"/>
              <a:t> </a:t>
            </a:r>
          </a:p>
          <a:p>
            <a:pPr>
              <a:buNone/>
            </a:pPr>
            <a:endParaRPr lang="zh-CN" altLang="en-US" sz="2400" dirty="0"/>
          </a:p>
        </p:txBody>
      </p:sp>
      <p:sp>
        <p:nvSpPr>
          <p:cNvPr id="11" name="TextBox 10"/>
          <p:cNvSpPr txBox="1"/>
          <p:nvPr/>
        </p:nvSpPr>
        <p:spPr>
          <a:xfrm>
            <a:off x="1547664" y="332656"/>
            <a:ext cx="5518396"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第九章 海水中的</a:t>
            </a:r>
            <a:r>
              <a:rPr lang="en-US" altLang="zh-CN" sz="3200" b="1" dirty="0">
                <a:solidFill>
                  <a:schemeClr val="bg2">
                    <a:lumMod val="25000"/>
                  </a:schemeClr>
                </a:solidFill>
                <a:latin typeface="华文新魏" pitchFamily="2" charset="-122"/>
                <a:ea typeface="华文新魏" pitchFamily="2" charset="-122"/>
              </a:rPr>
              <a:t>TA</a:t>
            </a:r>
            <a:endParaRPr lang="zh-CN" altLang="en-US" sz="3200" b="1" dirty="0">
              <a:solidFill>
                <a:schemeClr val="bg2">
                  <a:lumMod val="25000"/>
                </a:schemeClr>
              </a:solidFill>
              <a:latin typeface="华文新魏" pitchFamily="2" charset="-122"/>
              <a:ea typeface="华文新魏" pitchFamily="2" charset="-122"/>
            </a:endParaRPr>
          </a:p>
        </p:txBody>
      </p:sp>
      <p:pic>
        <p:nvPicPr>
          <p:cNvPr id="91137" name="Picture 1" descr="E:\课程\海水分析化学 本科\课件\课程图片\磷酸盐.png"/>
          <p:cNvPicPr>
            <a:picLocks noChangeAspect="1" noChangeArrowheads="1"/>
          </p:cNvPicPr>
          <p:nvPr/>
        </p:nvPicPr>
        <p:blipFill>
          <a:blip r:embed="rId3" cstate="print"/>
          <a:srcRect/>
          <a:stretch>
            <a:fillRect/>
          </a:stretch>
        </p:blipFill>
        <p:spPr bwMode="auto">
          <a:xfrm>
            <a:off x="395536" y="4941168"/>
            <a:ext cx="8327725" cy="1296144"/>
          </a:xfrm>
          <a:prstGeom prst="rect">
            <a:avLst/>
          </a:prstGeom>
          <a:noFill/>
        </p:spPr>
      </p:pic>
      <p:graphicFrame>
        <p:nvGraphicFramePr>
          <p:cNvPr id="91138" name="Object 7"/>
          <p:cNvGraphicFramePr>
            <a:graphicFrameLocks noChangeAspect="1"/>
          </p:cNvGraphicFramePr>
          <p:nvPr/>
        </p:nvGraphicFramePr>
        <p:xfrm>
          <a:off x="323528" y="4293096"/>
          <a:ext cx="8605713" cy="792163"/>
        </p:xfrm>
        <a:graphic>
          <a:graphicData uri="http://schemas.openxmlformats.org/presentationml/2006/ole">
            <mc:AlternateContent xmlns:mc="http://schemas.openxmlformats.org/markup-compatibility/2006">
              <mc:Choice xmlns:v="urn:schemas-microsoft-com:vml" Requires="v">
                <p:oleObj spid="_x0000_s3078" name="公式" r:id="rId4" imgW="5283200" imgH="444500" progId="Equation.3">
                  <p:embed/>
                </p:oleObj>
              </mc:Choice>
              <mc:Fallback>
                <p:oleObj name="公式" r:id="rId4" imgW="5283200" imgH="44450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4293096"/>
                        <a:ext cx="8605713" cy="792163"/>
                      </a:xfrm>
                      <a:prstGeom prst="rect">
                        <a:avLst/>
                      </a:prstGeom>
                      <a:solidFill>
                        <a:srgbClr val="CCFFFF"/>
                      </a:solidFill>
                      <a:ln w="12700">
                        <a:solidFill>
                          <a:srgbClr val="800000"/>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additive="base">
                                        <p:cTn id="1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1138"/>
                                        </p:tgtEl>
                                        <p:attrNameLst>
                                          <p:attrName>style.visibility</p:attrName>
                                        </p:attrNameLst>
                                      </p:cBhvr>
                                      <p:to>
                                        <p:strVal val="visible"/>
                                      </p:to>
                                    </p:set>
                                    <p:anim calcmode="lin" valueType="num">
                                      <p:cBhvr additive="base">
                                        <p:cTn id="27" dur="500" fill="hold"/>
                                        <p:tgtEl>
                                          <p:spTgt spid="91138"/>
                                        </p:tgtEl>
                                        <p:attrNameLst>
                                          <p:attrName>ppt_x</p:attrName>
                                        </p:attrNameLst>
                                      </p:cBhvr>
                                      <p:tavLst>
                                        <p:tav tm="0">
                                          <p:val>
                                            <p:strVal val="#ppt_x"/>
                                          </p:val>
                                        </p:tav>
                                        <p:tav tm="100000">
                                          <p:val>
                                            <p:strVal val="#ppt_x"/>
                                          </p:val>
                                        </p:tav>
                                      </p:tavLst>
                                    </p:anim>
                                    <p:anim calcmode="lin" valueType="num">
                                      <p:cBhvr additive="base">
                                        <p:cTn id="28" dur="500" fill="hold"/>
                                        <p:tgtEl>
                                          <p:spTgt spid="9113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1137"/>
                                        </p:tgtEl>
                                        <p:attrNameLst>
                                          <p:attrName>style.visibility</p:attrName>
                                        </p:attrNameLst>
                                      </p:cBhvr>
                                      <p:to>
                                        <p:strVal val="visible"/>
                                      </p:to>
                                    </p:set>
                                    <p:anim calcmode="lin" valueType="num">
                                      <p:cBhvr additive="base">
                                        <p:cTn id="33" dur="500" fill="hold"/>
                                        <p:tgtEl>
                                          <p:spTgt spid="91137"/>
                                        </p:tgtEl>
                                        <p:attrNameLst>
                                          <p:attrName>ppt_x</p:attrName>
                                        </p:attrNameLst>
                                      </p:cBhvr>
                                      <p:tavLst>
                                        <p:tav tm="0">
                                          <p:val>
                                            <p:strVal val="#ppt_x"/>
                                          </p:val>
                                        </p:tav>
                                        <p:tav tm="100000">
                                          <p:val>
                                            <p:strVal val="#ppt_x"/>
                                          </p:val>
                                        </p:tav>
                                      </p:tavLst>
                                    </p:anim>
                                    <p:anim calcmode="lin" valueType="num">
                                      <p:cBhvr additive="base">
                                        <p:cTn id="34" dur="500" fill="hold"/>
                                        <p:tgtEl>
                                          <p:spTgt spid="911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ChangeArrowheads="1"/>
          </p:cNvSpPr>
          <p:nvPr/>
        </p:nvSpPr>
        <p:spPr bwMode="auto">
          <a:xfrm>
            <a:off x="0" y="33004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06499" name="Rectangle 4"/>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06500" name="Rectangle 5"/>
          <p:cNvSpPr>
            <a:spLocks noChangeArrowheads="1"/>
          </p:cNvSpPr>
          <p:nvPr/>
        </p:nvSpPr>
        <p:spPr bwMode="auto">
          <a:xfrm>
            <a:off x="1500166" y="357166"/>
            <a:ext cx="6121400" cy="539750"/>
          </a:xfrm>
          <a:prstGeom prst="rect">
            <a:avLst/>
          </a:prstGeom>
          <a:noFill/>
          <a:ln w="31750" algn="ctr">
            <a:noFill/>
            <a:miter lim="800000"/>
            <a:headEnd/>
            <a:tailEnd/>
          </a:ln>
        </p:spPr>
        <p:txBody>
          <a:bodyPr lIns="18000" tIns="36000" rIns="18000" bIns="10800" anchor="ctr">
            <a:spAutoFit/>
          </a:bodyPr>
          <a:lstStyle/>
          <a:p>
            <a:pPr>
              <a:lnSpc>
                <a:spcPct val="100000"/>
              </a:lnSpc>
              <a:spcBef>
                <a:spcPct val="0"/>
              </a:spcBef>
              <a:buFontTx/>
              <a:buNone/>
            </a:pPr>
            <a:r>
              <a:rPr lang="zh-CN" altLang="en-US" sz="3200" dirty="0">
                <a:latin typeface="Times New Roman" pitchFamily="18" charset="0"/>
                <a:ea typeface="黑体" pitchFamily="49" charset="-122"/>
                <a:cs typeface="Times New Roman" pitchFamily="18" charset="0"/>
              </a:rPr>
              <a:t>海水无机碳组分浓度随</a:t>
            </a:r>
            <a:r>
              <a:rPr lang="en-US" altLang="zh-CN" sz="3200" dirty="0">
                <a:latin typeface="Times New Roman" pitchFamily="18" charset="0"/>
                <a:ea typeface="黑体" pitchFamily="49" charset="-122"/>
                <a:cs typeface="Times New Roman" pitchFamily="18" charset="0"/>
              </a:rPr>
              <a:t>pH</a:t>
            </a:r>
            <a:r>
              <a:rPr lang="zh-CN" altLang="en-US" sz="3200" dirty="0">
                <a:latin typeface="Times New Roman" pitchFamily="18" charset="0"/>
                <a:ea typeface="黑体" pitchFamily="49" charset="-122"/>
                <a:cs typeface="Times New Roman" pitchFamily="18" charset="0"/>
              </a:rPr>
              <a:t>的变化</a:t>
            </a:r>
          </a:p>
        </p:txBody>
      </p:sp>
      <p:grpSp>
        <p:nvGrpSpPr>
          <p:cNvPr id="2" name="组合 9"/>
          <p:cNvGrpSpPr>
            <a:grpSpLocks/>
          </p:cNvGrpSpPr>
          <p:nvPr/>
        </p:nvGrpSpPr>
        <p:grpSpPr bwMode="auto">
          <a:xfrm>
            <a:off x="971550" y="1196975"/>
            <a:ext cx="6985000" cy="5414963"/>
            <a:chOff x="827584" y="1196752"/>
            <a:chExt cx="6984776" cy="5415905"/>
          </a:xfrm>
        </p:grpSpPr>
        <p:pic>
          <p:nvPicPr>
            <p:cNvPr id="106503" name="Picture 8" descr="图4-6-1"/>
            <p:cNvPicPr>
              <a:picLocks noChangeAspect="1" noChangeArrowheads="1"/>
            </p:cNvPicPr>
            <p:nvPr/>
          </p:nvPicPr>
          <p:blipFill>
            <a:blip r:embed="rId2" cstate="print"/>
            <a:srcRect l="1308" t="3575"/>
            <a:stretch>
              <a:fillRect/>
            </a:stretch>
          </p:blipFill>
          <p:spPr bwMode="auto">
            <a:xfrm>
              <a:off x="827584" y="1196752"/>
              <a:ext cx="6984776" cy="5415905"/>
            </a:xfrm>
            <a:prstGeom prst="rect">
              <a:avLst/>
            </a:prstGeom>
            <a:noFill/>
            <a:ln w="9525">
              <a:noFill/>
              <a:miter lim="800000"/>
              <a:headEnd/>
              <a:tailEnd/>
            </a:ln>
          </p:spPr>
        </p:pic>
        <p:sp>
          <p:nvSpPr>
            <p:cNvPr id="106504" name="矩形 8"/>
            <p:cNvSpPr>
              <a:spLocks noChangeArrowheads="1"/>
            </p:cNvSpPr>
            <p:nvPr/>
          </p:nvSpPr>
          <p:spPr bwMode="auto">
            <a:xfrm>
              <a:off x="1619672" y="1412776"/>
              <a:ext cx="4464496" cy="400110"/>
            </a:xfrm>
            <a:prstGeom prst="rect">
              <a:avLst/>
            </a:prstGeom>
            <a:noFill/>
            <a:ln w="9525">
              <a:noFill/>
              <a:miter lim="800000"/>
              <a:headEnd/>
              <a:tailEnd/>
            </a:ln>
          </p:spPr>
          <p:txBody>
            <a:bodyPr>
              <a:spAutoFit/>
            </a:bodyPr>
            <a:lstStyle/>
            <a:p>
              <a:pPr>
                <a:lnSpc>
                  <a:spcPct val="100000"/>
                </a:lnSpc>
                <a:spcBef>
                  <a:spcPct val="0"/>
                </a:spcBef>
                <a:buFontTx/>
                <a:buNone/>
              </a:pPr>
              <a:r>
                <a:rPr lang="en-US" altLang="zh-CN" sz="2000">
                  <a:solidFill>
                    <a:srgbClr val="FF0000"/>
                  </a:solidFill>
                  <a:latin typeface="Times New Roman" pitchFamily="18" charset="0"/>
                  <a:ea typeface="黑体" pitchFamily="49" charset="-122"/>
                  <a:cs typeface="Times New Roman" pitchFamily="18" charset="0"/>
                </a:rPr>
                <a:t>TCO</a:t>
              </a:r>
              <a:r>
                <a:rPr lang="en-US" altLang="zh-CN" sz="2000" baseline="-25000">
                  <a:solidFill>
                    <a:srgbClr val="FF0000"/>
                  </a:solidFill>
                  <a:latin typeface="Times New Roman" pitchFamily="18" charset="0"/>
                  <a:ea typeface="黑体" pitchFamily="49" charset="-122"/>
                  <a:cs typeface="Times New Roman" pitchFamily="18" charset="0"/>
                </a:rPr>
                <a:t>2</a:t>
              </a:r>
              <a:r>
                <a:rPr lang="en-US" altLang="zh-CN" sz="2000">
                  <a:solidFill>
                    <a:srgbClr val="FF0000"/>
                  </a:solidFill>
                  <a:latin typeface="Times New Roman" pitchFamily="18" charset="0"/>
                  <a:ea typeface="黑体" pitchFamily="49" charset="-122"/>
                  <a:cs typeface="Times New Roman" pitchFamily="18" charset="0"/>
                </a:rPr>
                <a:t>=2.1 mmol/kg</a:t>
              </a:r>
              <a:r>
                <a:rPr lang="zh-CN" altLang="en-US" sz="2000">
                  <a:solidFill>
                    <a:srgbClr val="FF0000"/>
                  </a:solidFill>
                  <a:latin typeface="Times New Roman" pitchFamily="18" charset="0"/>
                  <a:ea typeface="黑体" pitchFamily="49" charset="-122"/>
                  <a:cs typeface="Times New Roman" pitchFamily="18" charset="0"/>
                </a:rPr>
                <a:t>，</a:t>
              </a:r>
              <a:r>
                <a:rPr lang="en-US" altLang="zh-CN" sz="2000">
                  <a:solidFill>
                    <a:srgbClr val="FF0000"/>
                  </a:solidFill>
                  <a:latin typeface="Times New Roman" pitchFamily="18" charset="0"/>
                  <a:ea typeface="黑体" pitchFamily="49" charset="-122"/>
                  <a:cs typeface="Times New Roman" pitchFamily="18" charset="0"/>
                </a:rPr>
                <a:t>S=35</a:t>
              </a:r>
              <a:r>
                <a:rPr lang="zh-CN" altLang="en-US" sz="2000">
                  <a:solidFill>
                    <a:srgbClr val="FF0000"/>
                  </a:solidFill>
                  <a:latin typeface="Times New Roman" pitchFamily="18" charset="0"/>
                  <a:ea typeface="黑体" pitchFamily="49" charset="-122"/>
                  <a:cs typeface="Times New Roman" pitchFamily="18" charset="0"/>
                </a:rPr>
                <a:t>，</a:t>
              </a:r>
              <a:r>
                <a:rPr lang="en-US" altLang="zh-CN" sz="2000">
                  <a:solidFill>
                    <a:srgbClr val="FF0000"/>
                  </a:solidFill>
                  <a:latin typeface="Times New Roman" pitchFamily="18" charset="0"/>
                  <a:ea typeface="黑体" pitchFamily="49" charset="-122"/>
                  <a:cs typeface="Times New Roman" pitchFamily="18" charset="0"/>
                </a:rPr>
                <a:t>T=25°C</a:t>
              </a:r>
              <a:endParaRPr lang="zh-CN" altLang="en-US" sz="2000">
                <a:solidFill>
                  <a:srgbClr val="FF0000"/>
                </a:solidFill>
                <a:latin typeface="Times New Roman" pitchFamily="18" charset="0"/>
                <a:ea typeface="黑体" pitchFamily="49" charset="-122"/>
                <a:cs typeface="Times New Roman" pitchFamily="18"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BE100C-614C-4600-A250-37F66291448D}"/>
              </a:ext>
            </a:extLst>
          </p:cNvPr>
          <p:cNvSpPr>
            <a:spLocks noGrp="1"/>
          </p:cNvSpPr>
          <p:nvPr>
            <p:ph type="title"/>
          </p:nvPr>
        </p:nvSpPr>
        <p:spPr/>
        <p:txBody>
          <a:bodyPr/>
          <a:lstStyle/>
          <a:p>
            <a:r>
              <a:rPr lang="zh-CN" altLang="en-US" sz="3600" dirty="0"/>
              <a:t>海水中可能存在的酸碱离子对</a:t>
            </a:r>
          </a:p>
        </p:txBody>
      </p:sp>
      <p:pic>
        <p:nvPicPr>
          <p:cNvPr id="5" name="内容占位符 4">
            <a:extLst>
              <a:ext uri="{FF2B5EF4-FFF2-40B4-BE49-F238E27FC236}">
                <a16:creationId xmlns:a16="http://schemas.microsoft.com/office/drawing/2014/main" id="{56B7133B-2787-4B89-9A09-62BAD6024AEA}"/>
              </a:ext>
            </a:extLst>
          </p:cNvPr>
          <p:cNvPicPr>
            <a:picLocks noGrp="1" noChangeAspect="1"/>
          </p:cNvPicPr>
          <p:nvPr>
            <p:ph sz="half" idx="1"/>
          </p:nvPr>
        </p:nvPicPr>
        <p:blipFill>
          <a:blip r:embed="rId2"/>
          <a:stretch>
            <a:fillRect/>
          </a:stretch>
        </p:blipFill>
        <p:spPr>
          <a:xfrm>
            <a:off x="827584" y="1572947"/>
            <a:ext cx="6794512" cy="3712106"/>
          </a:xfrm>
          <a:prstGeom prst="rect">
            <a:avLst/>
          </a:prstGeom>
        </p:spPr>
      </p:pic>
      <p:sp>
        <p:nvSpPr>
          <p:cNvPr id="6" name="矩形 5">
            <a:extLst>
              <a:ext uri="{FF2B5EF4-FFF2-40B4-BE49-F238E27FC236}">
                <a16:creationId xmlns:a16="http://schemas.microsoft.com/office/drawing/2014/main" id="{744A7F77-DC19-4E0D-A3D1-16C4D50EC62B}"/>
              </a:ext>
            </a:extLst>
          </p:cNvPr>
          <p:cNvSpPr/>
          <p:nvPr/>
        </p:nvSpPr>
        <p:spPr>
          <a:xfrm>
            <a:off x="488731" y="5440362"/>
            <a:ext cx="7859216" cy="646331"/>
          </a:xfrm>
          <a:prstGeom prst="rect">
            <a:avLst/>
          </a:prstGeom>
        </p:spPr>
        <p:txBody>
          <a:bodyPr wrap="square">
            <a:spAutoFit/>
          </a:bodyPr>
          <a:lstStyle/>
          <a:p>
            <a:r>
              <a:rPr lang="en-US" altLang="zh-CN" dirty="0"/>
              <a:t>Bjerrum plots for various acid-base systems. The thermodynamic </a:t>
            </a:r>
            <a:r>
              <a:rPr lang="en-US" altLang="zh-CN" dirty="0" err="1"/>
              <a:t>pK</a:t>
            </a:r>
            <a:r>
              <a:rPr lang="en-US" altLang="zh-CN" dirty="0"/>
              <a:t> values used here stem from Dickson (1981)</a:t>
            </a:r>
            <a:endParaRPr lang="zh-CN" altLang="en-US" dirty="0"/>
          </a:p>
        </p:txBody>
      </p:sp>
    </p:spTree>
    <p:extLst>
      <p:ext uri="{BB962C8B-B14F-4D97-AF65-F5344CB8AC3E}">
        <p14:creationId xmlns:p14="http://schemas.microsoft.com/office/powerpoint/2010/main" val="2459336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500174"/>
            <a:ext cx="8401080" cy="4525963"/>
          </a:xfrm>
        </p:spPr>
        <p:txBody>
          <a:bodyPr/>
          <a:lstStyle/>
          <a:p>
            <a:r>
              <a:rPr lang="zh-CN" altLang="en-US" dirty="0"/>
              <a:t>测量</a:t>
            </a:r>
            <a:r>
              <a:rPr lang="en-US" altLang="zh-CN" dirty="0"/>
              <a:t>TA</a:t>
            </a:r>
            <a:r>
              <a:rPr lang="zh-CN" altLang="en-US" dirty="0"/>
              <a:t>的基本原理</a:t>
            </a:r>
            <a:endParaRPr lang="en-US" altLang="zh-CN" dirty="0"/>
          </a:p>
          <a:p>
            <a:pPr lvl="1">
              <a:buFont typeface="Wingdings" pitchFamily="2" charset="2"/>
              <a:buChar char="Ø"/>
            </a:pPr>
            <a:r>
              <a:rPr lang="en-US" altLang="zh-CN" dirty="0" err="1"/>
              <a:t>HCl</a:t>
            </a:r>
            <a:r>
              <a:rPr lang="zh-CN" altLang="en-US" dirty="0"/>
              <a:t>滴定法</a:t>
            </a:r>
            <a:endParaRPr lang="en-US" altLang="zh-CN" dirty="0"/>
          </a:p>
          <a:p>
            <a:pPr>
              <a:buFont typeface="Arial" pitchFamily="34" charset="0"/>
              <a:buChar char="•"/>
            </a:pPr>
            <a:r>
              <a:rPr lang="zh-CN" altLang="en-US" dirty="0"/>
              <a:t>难点在哪儿？</a:t>
            </a:r>
            <a:endParaRPr lang="en-US" altLang="zh-CN" dirty="0"/>
          </a:p>
          <a:p>
            <a:pPr lvl="1">
              <a:buFont typeface="Wingdings" pitchFamily="2" charset="2"/>
              <a:buChar char="Ø"/>
            </a:pPr>
            <a:r>
              <a:rPr lang="zh-CN" altLang="en-US" dirty="0"/>
              <a:t>滴定终点的确认</a:t>
            </a:r>
            <a:endParaRPr lang="en-US" altLang="zh-CN" dirty="0"/>
          </a:p>
          <a:p>
            <a:pPr>
              <a:buFont typeface="Arial" pitchFamily="34" charset="0"/>
              <a:buChar char="•"/>
            </a:pPr>
            <a:r>
              <a:rPr lang="zh-CN" altLang="en-US" dirty="0"/>
              <a:t>根据滴定终点的</a:t>
            </a:r>
            <a:endParaRPr lang="en-US" altLang="zh-CN" dirty="0"/>
          </a:p>
          <a:p>
            <a:pPr>
              <a:buNone/>
            </a:pPr>
            <a:r>
              <a:rPr lang="zh-CN" altLang="en-US" dirty="0"/>
              <a:t>不同判断方式，出现</a:t>
            </a:r>
            <a:r>
              <a:rPr lang="en-US" altLang="zh-CN" dirty="0"/>
              <a:t>TA</a:t>
            </a:r>
            <a:r>
              <a:rPr lang="zh-CN" altLang="en-US" dirty="0"/>
              <a:t>不同的测量方法</a:t>
            </a:r>
            <a:endParaRPr lang="en-US" altLang="zh-CN" dirty="0"/>
          </a:p>
          <a:p>
            <a:pPr lvl="1">
              <a:buFont typeface="Wingdings" panose="05000000000000000000" pitchFamily="2" charset="2"/>
              <a:buChar char="ü"/>
            </a:pPr>
            <a:r>
              <a:rPr lang="zh-CN" altLang="en-US" dirty="0"/>
              <a:t>碘量法</a:t>
            </a:r>
            <a:endParaRPr lang="en-US" altLang="zh-CN" dirty="0"/>
          </a:p>
          <a:p>
            <a:pPr lvl="1">
              <a:buFont typeface="Wingdings" panose="05000000000000000000" pitchFamily="2" charset="2"/>
              <a:buChar char="ü"/>
            </a:pPr>
            <a:r>
              <a:rPr lang="zh-CN" altLang="en-US" dirty="0"/>
              <a:t>电位滴定法</a:t>
            </a:r>
            <a:endParaRPr lang="en-US" altLang="zh-CN" dirty="0"/>
          </a:p>
          <a:p>
            <a:pPr lvl="1">
              <a:buFont typeface="Wingdings" panose="05000000000000000000" pitchFamily="2" charset="2"/>
              <a:buChar char="ü"/>
            </a:pPr>
            <a:r>
              <a:rPr lang="zh-CN" altLang="en-US" dirty="0"/>
              <a:t>电位中和法（回滴）</a:t>
            </a:r>
            <a:endParaRPr lang="en-US" altLang="zh-CN" dirty="0"/>
          </a:p>
          <a:p>
            <a:pPr lvl="1">
              <a:buFont typeface="Wingdings" panose="05000000000000000000" pitchFamily="2" charset="2"/>
              <a:buChar char="ü"/>
            </a:pPr>
            <a:r>
              <a:rPr lang="en-US" altLang="zh-CN" dirty="0"/>
              <a:t>pH</a:t>
            </a:r>
            <a:r>
              <a:rPr lang="zh-CN" altLang="en-US" dirty="0"/>
              <a:t>法</a:t>
            </a:r>
            <a:endParaRPr lang="en-US" altLang="zh-CN" dirty="0"/>
          </a:p>
          <a:p>
            <a:pPr>
              <a:buNone/>
            </a:pPr>
            <a:endParaRPr lang="zh-CN" altLang="en-US" dirty="0"/>
          </a:p>
        </p:txBody>
      </p:sp>
      <p:pic>
        <p:nvPicPr>
          <p:cNvPr id="96257"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4307148" y="912709"/>
            <a:ext cx="4315919" cy="3047022"/>
          </a:xfrm>
          <a:prstGeom prst="rect">
            <a:avLst/>
          </a:prstGeom>
          <a:noFill/>
        </p:spPr>
      </p:pic>
      <p:sp>
        <p:nvSpPr>
          <p:cNvPr id="5" name="标题 4"/>
          <p:cNvSpPr txBox="1">
            <a:spLocks noGrp="1"/>
          </p:cNvSpPr>
          <p:nvPr>
            <p:ph type="title"/>
          </p:nvPr>
        </p:nvSpPr>
        <p:spPr>
          <a:xfrm>
            <a:off x="1187624" y="327934"/>
            <a:ext cx="4929222"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第九章 海水中的</a:t>
            </a:r>
            <a:r>
              <a:rPr lang="en-US" altLang="zh-CN" sz="3200" b="1" dirty="0">
                <a:solidFill>
                  <a:schemeClr val="bg2">
                    <a:lumMod val="25000"/>
                  </a:schemeClr>
                </a:solidFill>
                <a:latin typeface="华文新魏" pitchFamily="2" charset="-122"/>
                <a:ea typeface="华文新魏" pitchFamily="2" charset="-122"/>
              </a:rPr>
              <a:t>TA</a:t>
            </a:r>
            <a:endParaRPr lang="zh-CN" altLang="en-US" sz="3200" b="1" dirty="0">
              <a:solidFill>
                <a:schemeClr val="bg2">
                  <a:lumMod val="25000"/>
                </a:schemeClr>
              </a:solidFill>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20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2000"/>
                                        <p:tgtEl>
                                          <p:spTgt spid="3">
                                            <p:txEl>
                                              <p:pRg st="3" end="3"/>
                                            </p:txEl>
                                          </p:spTgt>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 calcmode="lin" valueType="num">
                                      <p:cBhvr additive="base">
                                        <p:cTn id="3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1571612"/>
            <a:ext cx="8401080" cy="4525963"/>
          </a:xfrm>
        </p:spPr>
        <p:txBody>
          <a:bodyPr/>
          <a:lstStyle/>
          <a:p>
            <a:r>
              <a:rPr lang="zh-CN" altLang="en-US" dirty="0"/>
              <a:t>为什么终点非常难判断？</a:t>
            </a:r>
            <a:endParaRPr lang="en-US" altLang="zh-CN" dirty="0"/>
          </a:p>
          <a:p>
            <a:pPr lvl="1"/>
            <a:r>
              <a:rPr lang="zh-CN" altLang="en-US" dirty="0"/>
              <a:t>当滴定到终点时即等当点</a:t>
            </a:r>
            <a:r>
              <a:rPr lang="en-US" altLang="zh-CN" dirty="0"/>
              <a:t>2</a:t>
            </a:r>
          </a:p>
          <a:p>
            <a:pPr lvl="1"/>
            <a:endParaRPr lang="en-US" altLang="zh-CN" dirty="0"/>
          </a:p>
          <a:p>
            <a:pPr lvl="1"/>
            <a:endParaRPr lang="en-US" altLang="zh-CN" dirty="0"/>
          </a:p>
          <a:p>
            <a:pPr lvl="1"/>
            <a:endParaRPr lang="en-US" altLang="zh-CN" dirty="0"/>
          </a:p>
          <a:p>
            <a:pPr lvl="1"/>
            <a:r>
              <a:rPr lang="zh-CN" altLang="en-US" dirty="0"/>
              <a:t>滴定体系中主要存在碳酸，硼酸，</a:t>
            </a:r>
            <a:r>
              <a:rPr lang="en-US" altLang="zh-CN" dirty="0"/>
              <a:t>HSO</a:t>
            </a:r>
            <a:r>
              <a:rPr lang="en-US" altLang="zh-CN" baseline="-25000" dirty="0"/>
              <a:t>4</a:t>
            </a:r>
            <a:r>
              <a:rPr lang="en-US" altLang="zh-CN" baseline="30000" dirty="0"/>
              <a:t>-</a:t>
            </a:r>
            <a:r>
              <a:rPr lang="zh-CN" altLang="en-US" dirty="0"/>
              <a:t>，</a:t>
            </a:r>
            <a:r>
              <a:rPr lang="en-US" altLang="zh-CN" dirty="0"/>
              <a:t>H</a:t>
            </a:r>
            <a:r>
              <a:rPr lang="en-US" altLang="zh-CN" baseline="-25000" dirty="0"/>
              <a:t>2</a:t>
            </a:r>
            <a:r>
              <a:rPr lang="en-US" altLang="zh-CN" dirty="0"/>
              <a:t>PO</a:t>
            </a:r>
            <a:r>
              <a:rPr lang="en-US" altLang="zh-CN" baseline="-25000" dirty="0"/>
              <a:t>4</a:t>
            </a:r>
            <a:r>
              <a:rPr lang="en-US" altLang="zh-CN" baseline="30000" dirty="0"/>
              <a:t>-</a:t>
            </a:r>
            <a:r>
              <a:rPr lang="zh-CN" altLang="en-US" dirty="0"/>
              <a:t>，</a:t>
            </a:r>
            <a:r>
              <a:rPr lang="en-US" altLang="zh-CN" dirty="0"/>
              <a:t>F</a:t>
            </a:r>
            <a:r>
              <a:rPr lang="en-US" altLang="zh-CN" baseline="30000" dirty="0"/>
              <a:t>-</a:t>
            </a:r>
            <a:r>
              <a:rPr lang="zh-CN" altLang="en-US" dirty="0"/>
              <a:t>（</a:t>
            </a:r>
            <a:r>
              <a:rPr lang="en-US" altLang="zh-CN" dirty="0"/>
              <a:t>HF</a:t>
            </a:r>
            <a:r>
              <a:rPr lang="zh-CN" altLang="en-US" dirty="0"/>
              <a:t>的</a:t>
            </a:r>
            <a:r>
              <a:rPr lang="en-US" altLang="zh-CN" dirty="0" err="1"/>
              <a:t>pka</a:t>
            </a:r>
            <a:r>
              <a:rPr lang="en-US" altLang="zh-CN" dirty="0"/>
              <a:t>=3.18</a:t>
            </a:r>
            <a:r>
              <a:rPr lang="zh-CN" altLang="en-US" dirty="0"/>
              <a:t>），</a:t>
            </a:r>
            <a:r>
              <a:rPr lang="en-US" altLang="zh-CN" dirty="0"/>
              <a:t>H</a:t>
            </a:r>
            <a:r>
              <a:rPr lang="en-US" altLang="zh-CN" baseline="30000" dirty="0"/>
              <a:t>+</a:t>
            </a:r>
          </a:p>
          <a:p>
            <a:pPr lvl="1"/>
            <a:r>
              <a:rPr lang="zh-CN" altLang="en-US" dirty="0"/>
              <a:t>如果拿</a:t>
            </a:r>
            <a:r>
              <a:rPr lang="en-US" altLang="zh-CN" dirty="0"/>
              <a:t>pH</a:t>
            </a:r>
            <a:r>
              <a:rPr lang="zh-CN" altLang="en-US" dirty="0"/>
              <a:t>作为滴定终点，由于海水的组分不同，滴定的终点</a:t>
            </a:r>
            <a:r>
              <a:rPr lang="en-US" altLang="zh-CN" dirty="0"/>
              <a:t>pH</a:t>
            </a:r>
            <a:r>
              <a:rPr lang="zh-CN" altLang="en-US" dirty="0"/>
              <a:t>并不是一个非常确定的值</a:t>
            </a:r>
            <a:endParaRPr lang="en-US" altLang="zh-CN" dirty="0"/>
          </a:p>
          <a:p>
            <a:endParaRPr lang="en-US" altLang="zh-CN" dirty="0"/>
          </a:p>
          <a:p>
            <a:endParaRPr lang="en-US" altLang="zh-CN" dirty="0"/>
          </a:p>
          <a:p>
            <a:pPr>
              <a:buFont typeface="Wingdings" pitchFamily="2" charset="2"/>
              <a:buChar char="Ø"/>
            </a:pPr>
            <a:endParaRPr lang="en-US" altLang="zh-CN" dirty="0"/>
          </a:p>
          <a:p>
            <a:endParaRPr lang="zh-CN" altLang="en-US" dirty="0"/>
          </a:p>
        </p:txBody>
      </p:sp>
      <p:pic>
        <p:nvPicPr>
          <p:cNvPr id="96257"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5512405" y="285728"/>
            <a:ext cx="3345875" cy="2563892"/>
          </a:xfrm>
          <a:prstGeom prst="rect">
            <a:avLst/>
          </a:prstGeom>
          <a:noFill/>
        </p:spPr>
      </p:pic>
      <p:pic>
        <p:nvPicPr>
          <p:cNvPr id="103427" name="Picture 3" descr="E:\课程\课件\课程图片\碱度的滴定终点.png"/>
          <p:cNvPicPr>
            <a:picLocks noChangeAspect="1" noChangeArrowheads="1"/>
          </p:cNvPicPr>
          <p:nvPr/>
        </p:nvPicPr>
        <p:blipFill>
          <a:blip r:embed="rId3" cstate="print"/>
          <a:srcRect/>
          <a:stretch>
            <a:fillRect/>
          </a:stretch>
        </p:blipFill>
        <p:spPr bwMode="auto">
          <a:xfrm>
            <a:off x="785786" y="2500306"/>
            <a:ext cx="8001056" cy="1338264"/>
          </a:xfrm>
          <a:prstGeom prst="rect">
            <a:avLst/>
          </a:prstGeom>
          <a:noFill/>
        </p:spPr>
      </p:pic>
      <p:sp>
        <p:nvSpPr>
          <p:cNvPr id="8" name="标题 4">
            <a:extLst>
              <a:ext uri="{FF2B5EF4-FFF2-40B4-BE49-F238E27FC236}">
                <a16:creationId xmlns:a16="http://schemas.microsoft.com/office/drawing/2014/main" id="{469CC647-18A5-4EE2-8063-76D9035A6D56}"/>
              </a:ext>
            </a:extLst>
          </p:cNvPr>
          <p:cNvSpPr txBox="1">
            <a:spLocks noGrp="1"/>
          </p:cNvSpPr>
          <p:nvPr>
            <p:ph type="title"/>
          </p:nvPr>
        </p:nvSpPr>
        <p:spPr>
          <a:xfrm>
            <a:off x="457200" y="553750"/>
            <a:ext cx="5626968" cy="584775"/>
          </a:xfrm>
          <a:prstGeom prst="rect">
            <a:avLst/>
          </a:prstGeom>
          <a:noFill/>
          <a:ln w="1587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第九章 海水中的</a:t>
            </a:r>
            <a:r>
              <a:rPr lang="en-US" altLang="zh-CN" sz="3200" b="1" dirty="0">
                <a:solidFill>
                  <a:schemeClr val="bg2">
                    <a:lumMod val="25000"/>
                  </a:schemeClr>
                </a:solidFill>
                <a:latin typeface="华文新魏" pitchFamily="2" charset="-122"/>
                <a:ea typeface="华文新魏" pitchFamily="2" charset="-122"/>
              </a:rPr>
              <a:t>TA</a:t>
            </a:r>
            <a:endParaRPr lang="zh-CN" altLang="en-US" sz="3200" b="1" dirty="0">
              <a:solidFill>
                <a:schemeClr val="bg2">
                  <a:lumMod val="25000"/>
                </a:schemeClr>
              </a:solidFill>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427"/>
                                        </p:tgtEl>
                                        <p:attrNameLst>
                                          <p:attrName>style.visibility</p:attrName>
                                        </p:attrNameLst>
                                      </p:cBhvr>
                                      <p:to>
                                        <p:strVal val="visible"/>
                                      </p:to>
                                    </p:set>
                                    <p:anim calcmode="lin" valueType="num">
                                      <p:cBhvr additive="base">
                                        <p:cTn id="7" dur="500" fill="hold"/>
                                        <p:tgtEl>
                                          <p:spTgt spid="103427"/>
                                        </p:tgtEl>
                                        <p:attrNameLst>
                                          <p:attrName>ppt_x</p:attrName>
                                        </p:attrNameLst>
                                      </p:cBhvr>
                                      <p:tavLst>
                                        <p:tav tm="0">
                                          <p:val>
                                            <p:strVal val="#ppt_x"/>
                                          </p:val>
                                        </p:tav>
                                        <p:tav tm="100000">
                                          <p:val>
                                            <p:strVal val="#ppt_x"/>
                                          </p:val>
                                        </p:tav>
                                      </p:tavLst>
                                    </p:anim>
                                    <p:anim calcmode="lin" valueType="num">
                                      <p:cBhvr additive="base">
                                        <p:cTn id="8" dur="500" fill="hold"/>
                                        <p:tgtEl>
                                          <p:spTgt spid="1034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20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7"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5602436" y="0"/>
            <a:ext cx="3541564" cy="2500330"/>
          </a:xfrm>
          <a:prstGeom prst="rect">
            <a:avLst/>
          </a:prstGeom>
          <a:noFill/>
        </p:spPr>
      </p:pic>
      <p:sp>
        <p:nvSpPr>
          <p:cNvPr id="3" name="内容占位符 2"/>
          <p:cNvSpPr>
            <a:spLocks noGrp="1"/>
          </p:cNvSpPr>
          <p:nvPr>
            <p:ph idx="1"/>
          </p:nvPr>
        </p:nvSpPr>
        <p:spPr>
          <a:xfrm>
            <a:off x="357158" y="1428736"/>
            <a:ext cx="8401080" cy="4572032"/>
          </a:xfrm>
        </p:spPr>
        <p:txBody>
          <a:bodyPr/>
          <a:lstStyle/>
          <a:p>
            <a:pPr marL="0" indent="0">
              <a:buNone/>
            </a:pPr>
            <a:r>
              <a:rPr lang="zh-CN" altLang="en-US" dirty="0"/>
              <a:t>一、直接法</a:t>
            </a:r>
            <a:endParaRPr lang="en-US" altLang="zh-CN" dirty="0"/>
          </a:p>
          <a:p>
            <a:pPr lvl="1"/>
            <a:r>
              <a:rPr lang="zh-CN" altLang="en-US" dirty="0"/>
              <a:t>滴定终点直接用指示剂确认</a:t>
            </a:r>
            <a:endParaRPr lang="en-US" altLang="zh-CN" dirty="0"/>
          </a:p>
          <a:p>
            <a:pPr lvl="1"/>
            <a:r>
              <a:rPr lang="zh-CN" altLang="en-US" dirty="0"/>
              <a:t>甲基橙指示剂或（甲基橙</a:t>
            </a:r>
            <a:r>
              <a:rPr lang="en-US" altLang="zh-CN" dirty="0"/>
              <a:t>+</a:t>
            </a:r>
            <a:r>
              <a:rPr lang="zh-CN" altLang="en-US" dirty="0"/>
              <a:t>苯胺蓝）（</a:t>
            </a:r>
            <a:r>
              <a:rPr lang="en-US" altLang="zh-CN" dirty="0"/>
              <a:t>pH~4.5</a:t>
            </a:r>
            <a:r>
              <a:rPr lang="zh-CN" altLang="en-US" dirty="0"/>
              <a:t>，在</a:t>
            </a:r>
            <a:r>
              <a:rPr lang="en-US" altLang="zh-CN" dirty="0"/>
              <a:t>pH</a:t>
            </a:r>
          </a:p>
          <a:p>
            <a:pPr lvl="1">
              <a:buNone/>
            </a:pPr>
            <a:r>
              <a:rPr lang="en-US" altLang="zh-CN" dirty="0"/>
              <a:t>~4.3</a:t>
            </a:r>
            <a:r>
              <a:rPr lang="zh-CN" altLang="en-US" dirty="0"/>
              <a:t>颜色由绿棕色变成红紫色）</a:t>
            </a:r>
            <a:endParaRPr lang="en-US" altLang="zh-CN" dirty="0"/>
          </a:p>
          <a:p>
            <a:pPr marL="914400" lvl="1" indent="-457200">
              <a:buFont typeface="Wingdings" pitchFamily="2" charset="2"/>
              <a:buChar char="Ø"/>
            </a:pPr>
            <a:r>
              <a:rPr lang="zh-CN" altLang="en-US" dirty="0"/>
              <a:t>操作简单，但是终点的判断不准确</a:t>
            </a:r>
            <a:endParaRPr lang="en-US" altLang="zh-CN" dirty="0"/>
          </a:p>
          <a:p>
            <a:pPr marL="914400" lvl="1" indent="-457200">
              <a:buFont typeface="Wingdings" pitchFamily="2" charset="2"/>
              <a:buChar char="Ø"/>
            </a:pPr>
            <a:r>
              <a:rPr lang="zh-CN" altLang="en-US" dirty="0"/>
              <a:t>基本上不用这种方法</a:t>
            </a:r>
            <a:endParaRPr lang="en-US" altLang="zh-CN" dirty="0"/>
          </a:p>
          <a:p>
            <a:pPr marL="57150" indent="0">
              <a:buNone/>
            </a:pPr>
            <a:r>
              <a:rPr lang="zh-CN" altLang="en-US" dirty="0"/>
              <a:t>二、间接法（回滴法）</a:t>
            </a:r>
            <a:endParaRPr lang="en-US" altLang="zh-CN" dirty="0"/>
          </a:p>
          <a:p>
            <a:pPr marL="914400" lvl="1" indent="-457200">
              <a:buNone/>
            </a:pPr>
            <a:r>
              <a:rPr lang="zh-CN" altLang="en-US" dirty="0"/>
              <a:t>原理：强酸滴加过量（</a:t>
            </a:r>
            <a:r>
              <a:rPr lang="en-US" altLang="zh-CN" dirty="0"/>
              <a:t>pH=~3.5</a:t>
            </a:r>
            <a:r>
              <a:rPr lang="zh-CN" altLang="en-US" dirty="0"/>
              <a:t>），通过回滴求出加入过量酸的体积</a:t>
            </a:r>
            <a:endParaRPr lang="en-US" altLang="zh-CN" dirty="0"/>
          </a:p>
          <a:p>
            <a:pPr marL="971550" lvl="1" indent="-514350">
              <a:buNone/>
            </a:pPr>
            <a:endParaRPr lang="en-US" altLang="zh-CN" dirty="0"/>
          </a:p>
          <a:p>
            <a:pPr marL="514350" indent="-457200">
              <a:buFont typeface="+mj-lt"/>
              <a:buAutoNum type="arabicPeriod"/>
            </a:pPr>
            <a:endParaRPr lang="en-US" altLang="zh-CN" dirty="0"/>
          </a:p>
          <a:p>
            <a:pPr marL="914400" lvl="1" indent="-457200">
              <a:buFont typeface="+mj-lt"/>
              <a:buAutoNum type="arabicPeriod"/>
            </a:pPr>
            <a:endParaRPr lang="en-US" altLang="zh-CN" dirty="0"/>
          </a:p>
          <a:p>
            <a:pPr lvl="1"/>
            <a:endParaRPr lang="en-US" altLang="zh-CN" dirty="0"/>
          </a:p>
          <a:p>
            <a:endParaRPr lang="en-US" altLang="zh-CN" dirty="0"/>
          </a:p>
          <a:p>
            <a:pPr lvl="1">
              <a:buNone/>
            </a:pPr>
            <a:endParaRPr lang="zh-CN" altLang="en-US" dirty="0"/>
          </a:p>
        </p:txBody>
      </p:sp>
      <p:pic>
        <p:nvPicPr>
          <p:cNvPr id="104452" name="Picture 4" descr="E:\课程\课件\课程图片\总碱度.png"/>
          <p:cNvPicPr>
            <a:picLocks noChangeAspect="1" noChangeArrowheads="1"/>
          </p:cNvPicPr>
          <p:nvPr/>
        </p:nvPicPr>
        <p:blipFill>
          <a:blip r:embed="rId3" cstate="print"/>
          <a:srcRect/>
          <a:stretch>
            <a:fillRect/>
          </a:stretch>
        </p:blipFill>
        <p:spPr bwMode="auto">
          <a:xfrm>
            <a:off x="4929190" y="3929066"/>
            <a:ext cx="3324225" cy="504825"/>
          </a:xfrm>
          <a:prstGeom prst="rect">
            <a:avLst/>
          </a:prstGeom>
          <a:noFill/>
        </p:spPr>
      </p:pic>
      <p:sp>
        <p:nvSpPr>
          <p:cNvPr id="8" name="标题 4">
            <a:extLst>
              <a:ext uri="{FF2B5EF4-FFF2-40B4-BE49-F238E27FC236}">
                <a16:creationId xmlns:a16="http://schemas.microsoft.com/office/drawing/2014/main" id="{77806681-D0B7-4CBF-B478-5FA54C5BD15A}"/>
              </a:ext>
            </a:extLst>
          </p:cNvPr>
          <p:cNvSpPr txBox="1">
            <a:spLocks/>
          </p:cNvSpPr>
          <p:nvPr/>
        </p:nvSpPr>
        <p:spPr bwMode="auto">
          <a:xfrm>
            <a:off x="1187624" y="421981"/>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428736"/>
            <a:ext cx="7887250" cy="4572032"/>
          </a:xfrm>
        </p:spPr>
        <p:txBody>
          <a:bodyPr/>
          <a:lstStyle/>
          <a:p>
            <a:pPr marL="57150" indent="0">
              <a:buNone/>
            </a:pPr>
            <a:r>
              <a:rPr lang="zh-CN" altLang="en-US" dirty="0"/>
              <a:t>二、间接法（回滴法）</a:t>
            </a:r>
            <a:endParaRPr lang="en-US" altLang="zh-CN" dirty="0"/>
          </a:p>
          <a:p>
            <a:pPr marL="914400" lvl="1" indent="-457200">
              <a:lnSpc>
                <a:spcPct val="150000"/>
              </a:lnSpc>
              <a:buNone/>
            </a:pPr>
            <a:r>
              <a:rPr lang="zh-CN" altLang="en-US" dirty="0"/>
              <a:t>原理：强酸滴加过量（</a:t>
            </a:r>
            <a:r>
              <a:rPr lang="en-US" altLang="zh-CN" dirty="0"/>
              <a:t>pH=~3.5</a:t>
            </a:r>
            <a:r>
              <a:rPr lang="zh-CN" altLang="en-US" dirty="0"/>
              <a:t>），通过回滴求出加入过量酸的体积</a:t>
            </a:r>
            <a:endParaRPr lang="en-US" altLang="zh-CN" dirty="0"/>
          </a:p>
          <a:p>
            <a:pPr marL="971550" lvl="1" indent="-514350">
              <a:buNone/>
            </a:pPr>
            <a:endParaRPr lang="en-US" altLang="zh-CN" dirty="0"/>
          </a:p>
          <a:p>
            <a:pPr marL="514350" indent="-457200">
              <a:buFont typeface="+mj-lt"/>
              <a:buAutoNum type="arabicPeriod"/>
            </a:pPr>
            <a:endParaRPr lang="en-US" altLang="zh-CN" dirty="0"/>
          </a:p>
          <a:p>
            <a:pPr marL="914400" lvl="1" indent="-457200">
              <a:buFont typeface="+mj-lt"/>
              <a:buAutoNum type="arabicPeriod"/>
            </a:pPr>
            <a:endParaRPr lang="en-US" altLang="zh-CN" dirty="0"/>
          </a:p>
          <a:p>
            <a:pPr lvl="1"/>
            <a:endParaRPr lang="en-US" altLang="zh-CN" dirty="0"/>
          </a:p>
          <a:p>
            <a:endParaRPr lang="en-US" altLang="zh-CN" dirty="0"/>
          </a:p>
          <a:p>
            <a:pPr lvl="1">
              <a:buNone/>
            </a:pPr>
            <a:endParaRPr lang="zh-CN" altLang="en-US" dirty="0"/>
          </a:p>
        </p:txBody>
      </p:sp>
      <p:pic>
        <p:nvPicPr>
          <p:cNvPr id="4" name="图片 3">
            <a:extLst>
              <a:ext uri="{FF2B5EF4-FFF2-40B4-BE49-F238E27FC236}">
                <a16:creationId xmlns:a16="http://schemas.microsoft.com/office/drawing/2014/main" id="{28C411DC-BEB6-4D80-A013-6BB33219EB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3212976"/>
            <a:ext cx="5910943" cy="1681733"/>
          </a:xfrm>
          <a:prstGeom prst="rect">
            <a:avLst/>
          </a:prstGeom>
        </p:spPr>
      </p:pic>
      <p:sp>
        <p:nvSpPr>
          <p:cNvPr id="7" name="标题 4">
            <a:extLst>
              <a:ext uri="{FF2B5EF4-FFF2-40B4-BE49-F238E27FC236}">
                <a16:creationId xmlns:a16="http://schemas.microsoft.com/office/drawing/2014/main" id="{FE93D611-D126-439F-A30D-8D152E3A7765}"/>
              </a:ext>
            </a:extLst>
          </p:cNvPr>
          <p:cNvSpPr txBox="1">
            <a:spLocks/>
          </p:cNvSpPr>
          <p:nvPr/>
        </p:nvSpPr>
        <p:spPr bwMode="auto">
          <a:xfrm>
            <a:off x="1535886" y="327934"/>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2410705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285860"/>
            <a:ext cx="8401080" cy="4572032"/>
          </a:xfrm>
        </p:spPr>
        <p:txBody>
          <a:bodyPr/>
          <a:lstStyle/>
          <a:p>
            <a:pPr marL="514350" indent="-514350">
              <a:buFont typeface="+mj-lt"/>
              <a:buAutoNum type="alphaUcPeriod"/>
            </a:pPr>
            <a:r>
              <a:rPr lang="zh-CN" altLang="en-US" dirty="0"/>
              <a:t>碘量法</a:t>
            </a:r>
            <a:endParaRPr lang="en-US" altLang="zh-CN" dirty="0"/>
          </a:p>
          <a:p>
            <a:pPr lvl="1"/>
            <a:r>
              <a:rPr lang="zh-CN" altLang="en-US" dirty="0"/>
              <a:t>滴定终点的确认</a:t>
            </a:r>
            <a:endParaRPr lang="en-US" altLang="zh-CN" dirty="0"/>
          </a:p>
          <a:p>
            <a:pPr marL="914400" lvl="1" indent="-457200">
              <a:buFont typeface="+mj-lt"/>
              <a:buAutoNum type="arabicPeriod"/>
            </a:pPr>
            <a:r>
              <a:rPr lang="zh-CN" altLang="en-US" sz="2000" dirty="0"/>
              <a:t>酸过量（</a:t>
            </a:r>
            <a:r>
              <a:rPr lang="en-US" altLang="zh-CN" sz="2000" dirty="0"/>
              <a:t>pH=~3.5</a:t>
            </a:r>
            <a:r>
              <a:rPr lang="zh-CN" altLang="en-US" sz="2000" dirty="0"/>
              <a:t>），且已知加入</a:t>
            </a:r>
            <a:endParaRPr lang="en-US" altLang="zh-CN" sz="2000" dirty="0"/>
          </a:p>
          <a:p>
            <a:pPr marL="457200" lvl="1" indent="0">
              <a:buNone/>
            </a:pPr>
            <a:r>
              <a:rPr lang="zh-CN" altLang="en-US" sz="2000" dirty="0"/>
              <a:t>过量酸的体积</a:t>
            </a:r>
            <a:endParaRPr lang="en-US" altLang="zh-CN" sz="2000" dirty="0"/>
          </a:p>
          <a:p>
            <a:pPr marL="914400" lvl="1" indent="-457200">
              <a:buFont typeface="+mj-lt"/>
              <a:buAutoNum type="arabicPeriod" startAt="2"/>
            </a:pPr>
            <a:r>
              <a:rPr lang="zh-CN" altLang="en-US" sz="2000" dirty="0"/>
              <a:t>酸滴定过量后要将溶液中的</a:t>
            </a:r>
            <a:r>
              <a:rPr lang="en-US" altLang="zh-CN" sz="2000" dirty="0"/>
              <a:t>CO</a:t>
            </a:r>
            <a:r>
              <a:rPr lang="en-US" altLang="zh-CN" sz="2000" baseline="-25000" dirty="0"/>
              <a:t>2</a:t>
            </a:r>
            <a:r>
              <a:rPr lang="zh-CN" altLang="en-US" sz="2000" dirty="0"/>
              <a:t>赶出</a:t>
            </a:r>
            <a:endParaRPr lang="en-US" altLang="zh-CN" sz="2000" dirty="0"/>
          </a:p>
          <a:p>
            <a:pPr marL="457200" lvl="1" indent="0">
              <a:buNone/>
            </a:pPr>
            <a:r>
              <a:rPr lang="zh-CN" altLang="en-US" sz="2000" dirty="0"/>
              <a:t>（煮沸溶液或者用去除</a:t>
            </a:r>
            <a:r>
              <a:rPr lang="en-US" altLang="zh-CN" sz="2000" dirty="0"/>
              <a:t>CO</a:t>
            </a:r>
            <a:r>
              <a:rPr lang="en-US" altLang="zh-CN" sz="2000" baseline="-25000" dirty="0"/>
              <a:t>2</a:t>
            </a:r>
            <a:r>
              <a:rPr lang="zh-CN" altLang="en-US" sz="2000" dirty="0"/>
              <a:t>的空气通入溶液将</a:t>
            </a:r>
            <a:r>
              <a:rPr lang="en-US" altLang="zh-CN" sz="2000" dirty="0"/>
              <a:t>CO</a:t>
            </a:r>
            <a:r>
              <a:rPr lang="en-US" altLang="zh-CN" sz="2000" baseline="-25000" dirty="0"/>
              <a:t>2</a:t>
            </a:r>
            <a:r>
              <a:rPr lang="zh-CN" altLang="en-US" sz="2000" dirty="0"/>
              <a:t>赶掉</a:t>
            </a:r>
            <a:endParaRPr lang="en-US" altLang="zh-CN" sz="2000" dirty="0"/>
          </a:p>
          <a:p>
            <a:pPr marL="914400" lvl="1" indent="-457200">
              <a:buFont typeface="+mj-lt"/>
              <a:buAutoNum type="arabicPeriod" startAt="3"/>
            </a:pPr>
            <a:r>
              <a:rPr lang="zh-CN" altLang="en-US" sz="2000" dirty="0"/>
              <a:t>通过碘量法确定过量酸的体积</a:t>
            </a:r>
            <a:endParaRPr lang="en-US" altLang="zh-CN" sz="2000" dirty="0"/>
          </a:p>
          <a:p>
            <a:pPr marL="914400" lvl="1" indent="-457200">
              <a:buFont typeface="+mj-lt"/>
              <a:buAutoNum type="arabicPeriod" startAt="3"/>
            </a:pPr>
            <a:endParaRPr lang="en-US" altLang="zh-CN" dirty="0"/>
          </a:p>
          <a:p>
            <a:pPr marL="914400" lvl="1" indent="-457200">
              <a:buFont typeface="+mj-lt"/>
              <a:buAutoNum type="arabicPeriod" startAt="3"/>
            </a:pPr>
            <a:endParaRPr lang="en-US" altLang="zh-CN" dirty="0"/>
          </a:p>
          <a:p>
            <a:pPr marL="914400" lvl="1" indent="-457200">
              <a:buFont typeface="+mj-lt"/>
              <a:buAutoNum type="arabicPeriod" startAt="3"/>
            </a:pPr>
            <a:endParaRPr lang="en-US" altLang="zh-CN" dirty="0"/>
          </a:p>
          <a:p>
            <a:pPr marL="914400" lvl="1" indent="-457200">
              <a:buFont typeface="+mj-lt"/>
              <a:buAutoNum type="arabicPeriod" startAt="3"/>
            </a:pPr>
            <a:r>
              <a:rPr lang="zh-CN" altLang="en-US" sz="2000" dirty="0"/>
              <a:t>碘酸钾和 碘化钾要加过量</a:t>
            </a:r>
            <a:endParaRPr lang="en-US" altLang="zh-CN" sz="2000" dirty="0"/>
          </a:p>
          <a:p>
            <a:pPr marL="914400" lvl="1" indent="-457200">
              <a:buFont typeface="+mj-lt"/>
              <a:buAutoNum type="arabicPeriod" startAt="3"/>
            </a:pPr>
            <a:endParaRPr lang="en-US" altLang="zh-CN" dirty="0"/>
          </a:p>
          <a:p>
            <a:pPr lvl="1"/>
            <a:endParaRPr lang="en-US" altLang="zh-CN" dirty="0"/>
          </a:p>
          <a:p>
            <a:endParaRPr lang="en-US" altLang="zh-CN" dirty="0"/>
          </a:p>
          <a:p>
            <a:pPr lvl="1">
              <a:buNone/>
            </a:pPr>
            <a:endParaRPr lang="zh-CN" altLang="en-US" dirty="0"/>
          </a:p>
        </p:txBody>
      </p:sp>
      <p:pic>
        <p:nvPicPr>
          <p:cNvPr id="6" name="Picture 3" descr="E:\课程\海水分析化学 本科\课件\课程图片\碘酸钾滴定硫代硫酸钠的原理.png"/>
          <p:cNvPicPr>
            <a:picLocks noChangeAspect="1" noChangeArrowheads="1"/>
          </p:cNvPicPr>
          <p:nvPr/>
        </p:nvPicPr>
        <p:blipFill>
          <a:blip r:embed="rId2" cstate="print"/>
          <a:srcRect/>
          <a:stretch>
            <a:fillRect/>
          </a:stretch>
        </p:blipFill>
        <p:spPr bwMode="auto">
          <a:xfrm>
            <a:off x="1176984" y="4151817"/>
            <a:ext cx="6347344" cy="1143008"/>
          </a:xfrm>
          <a:prstGeom prst="rect">
            <a:avLst/>
          </a:prstGeom>
          <a:noFill/>
        </p:spPr>
      </p:pic>
      <p:pic>
        <p:nvPicPr>
          <p:cNvPr id="96257" name="Picture 1" descr="E:\课程\海水分析化学 本科\课件\课程图片\alk滴定电位和V.png"/>
          <p:cNvPicPr>
            <a:picLocks noChangeAspect="1" noChangeArrowheads="1"/>
          </p:cNvPicPr>
          <p:nvPr/>
        </p:nvPicPr>
        <p:blipFill>
          <a:blip r:embed="rId3" cstate="print"/>
          <a:srcRect/>
          <a:stretch>
            <a:fillRect/>
          </a:stretch>
        </p:blipFill>
        <p:spPr bwMode="auto">
          <a:xfrm>
            <a:off x="5508104" y="923041"/>
            <a:ext cx="3541564" cy="2312275"/>
          </a:xfrm>
          <a:prstGeom prst="rect">
            <a:avLst/>
          </a:prstGeom>
          <a:noFill/>
        </p:spPr>
      </p:pic>
      <p:sp>
        <p:nvSpPr>
          <p:cNvPr id="7" name="TextBox 6"/>
          <p:cNvSpPr txBox="1"/>
          <p:nvPr/>
        </p:nvSpPr>
        <p:spPr>
          <a:xfrm>
            <a:off x="7186602" y="3402034"/>
            <a:ext cx="1643074" cy="707886"/>
          </a:xfrm>
          <a:prstGeom prst="rect">
            <a:avLst/>
          </a:prstGeom>
          <a:solidFill>
            <a:schemeClr val="accent2">
              <a:lumMod val="75000"/>
            </a:schemeClr>
          </a:solidFill>
        </p:spPr>
        <p:txBody>
          <a:bodyPr wrap="square" rtlCol="0">
            <a:spAutoFit/>
          </a:bodyPr>
          <a:lstStyle/>
          <a:p>
            <a:r>
              <a:rPr lang="zh-CN" altLang="en-US" sz="2000" dirty="0">
                <a:solidFill>
                  <a:schemeClr val="bg1"/>
                </a:solidFill>
              </a:rPr>
              <a:t>为什么要将</a:t>
            </a:r>
            <a:r>
              <a:rPr lang="en-US" altLang="zh-CN" sz="2000" dirty="0">
                <a:solidFill>
                  <a:schemeClr val="bg1"/>
                </a:solidFill>
              </a:rPr>
              <a:t>CO</a:t>
            </a:r>
            <a:r>
              <a:rPr lang="en-US" altLang="zh-CN" sz="2000" baseline="-25000" dirty="0">
                <a:solidFill>
                  <a:schemeClr val="bg1"/>
                </a:solidFill>
              </a:rPr>
              <a:t>2</a:t>
            </a:r>
            <a:r>
              <a:rPr lang="zh-CN" altLang="en-US" sz="2000" dirty="0">
                <a:solidFill>
                  <a:schemeClr val="bg1"/>
                </a:solidFill>
              </a:rPr>
              <a:t>赶掉？</a:t>
            </a:r>
          </a:p>
        </p:txBody>
      </p:sp>
      <p:sp>
        <p:nvSpPr>
          <p:cNvPr id="8" name="TextBox 7"/>
          <p:cNvSpPr txBox="1"/>
          <p:nvPr/>
        </p:nvSpPr>
        <p:spPr>
          <a:xfrm>
            <a:off x="1928794" y="5857892"/>
            <a:ext cx="6572296" cy="830997"/>
          </a:xfrm>
          <a:prstGeom prst="rect">
            <a:avLst/>
          </a:prstGeom>
          <a:solidFill>
            <a:schemeClr val="accent2">
              <a:lumMod val="75000"/>
            </a:schemeClr>
          </a:solidFill>
        </p:spPr>
        <p:txBody>
          <a:bodyPr wrap="square" rtlCol="0">
            <a:spAutoFit/>
          </a:bodyPr>
          <a:lstStyle/>
          <a:p>
            <a:r>
              <a:rPr lang="zh-CN" altLang="en-US" sz="2400" dirty="0">
                <a:solidFill>
                  <a:schemeClr val="bg1"/>
                </a:solidFill>
              </a:rPr>
              <a:t>碘量法因为步骤繁琐，手续繁杂，对操作要求很高，已经基本不用了</a:t>
            </a:r>
          </a:p>
        </p:txBody>
      </p:sp>
      <p:sp>
        <p:nvSpPr>
          <p:cNvPr id="2" name="文本框 1">
            <a:extLst>
              <a:ext uri="{FF2B5EF4-FFF2-40B4-BE49-F238E27FC236}">
                <a16:creationId xmlns:a16="http://schemas.microsoft.com/office/drawing/2014/main" id="{A8214364-7D4A-4E3A-B7B2-F2F1C94F366B}"/>
              </a:ext>
            </a:extLst>
          </p:cNvPr>
          <p:cNvSpPr txBox="1"/>
          <p:nvPr/>
        </p:nvSpPr>
        <p:spPr>
          <a:xfrm>
            <a:off x="3198529" y="4221088"/>
            <a:ext cx="1152127" cy="369332"/>
          </a:xfrm>
          <a:prstGeom prst="rect">
            <a:avLst/>
          </a:prstGeom>
          <a:solidFill>
            <a:schemeClr val="accent1"/>
          </a:solidFill>
        </p:spPr>
        <p:txBody>
          <a:bodyPr wrap="square" rtlCol="0">
            <a:spAutoFit/>
          </a:bodyPr>
          <a:lstStyle/>
          <a:p>
            <a:pPr algn="ctr"/>
            <a:r>
              <a:rPr lang="en-US" altLang="zh-CN" dirty="0"/>
              <a:t>6H</a:t>
            </a:r>
            <a:r>
              <a:rPr lang="en-US" altLang="zh-CN" baseline="30000" dirty="0"/>
              <a:t>+</a:t>
            </a:r>
            <a:endParaRPr lang="zh-CN" altLang="en-US" baseline="30000" dirty="0"/>
          </a:p>
        </p:txBody>
      </p:sp>
      <p:sp>
        <p:nvSpPr>
          <p:cNvPr id="11" name="标题 4">
            <a:extLst>
              <a:ext uri="{FF2B5EF4-FFF2-40B4-BE49-F238E27FC236}">
                <a16:creationId xmlns:a16="http://schemas.microsoft.com/office/drawing/2014/main" id="{BC7944D9-BF15-4F67-92B2-05AA39E43167}"/>
              </a:ext>
            </a:extLst>
          </p:cNvPr>
          <p:cNvSpPr txBox="1">
            <a:spLocks/>
          </p:cNvSpPr>
          <p:nvPr/>
        </p:nvSpPr>
        <p:spPr bwMode="auto">
          <a:xfrm>
            <a:off x="971600" y="375093"/>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80816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down)">
                                      <p:cBhvr>
                                        <p:cTn id="15" dur="500"/>
                                        <p:tgtEl>
                                          <p:spTgt spid="3">
                                            <p:txEl>
                                              <p:pRg st="4" end="4"/>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down)">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additive="base">
                                        <p:cTn id="40" dur="500" fill="hold"/>
                                        <p:tgtEl>
                                          <p:spTgt spid="2"/>
                                        </p:tgtEl>
                                        <p:attrNameLst>
                                          <p:attrName>ppt_x</p:attrName>
                                        </p:attrNameLst>
                                      </p:cBhvr>
                                      <p:tavLst>
                                        <p:tav tm="0">
                                          <p:val>
                                            <p:strVal val="#ppt_x"/>
                                          </p:val>
                                        </p:tav>
                                        <p:tav tm="100000">
                                          <p:val>
                                            <p:strVal val="#ppt_x"/>
                                          </p:val>
                                        </p:tav>
                                      </p:tavLst>
                                    </p:anim>
                                    <p:anim calcmode="lin" valueType="num">
                                      <p:cBhvr additive="base">
                                        <p:cTn id="41" dur="500" fill="hold"/>
                                        <p:tgtEl>
                                          <p:spTgt spid="2"/>
                                        </p:tgtEl>
                                        <p:attrNameLst>
                                          <p:attrName>ppt_y</p:attrName>
                                        </p:attrNameLst>
                                      </p:cBhvr>
                                      <p:tavLst>
                                        <p:tav tm="0">
                                          <p:val>
                                            <p:strVal val="1+#ppt_h/2"/>
                                          </p:val>
                                        </p:tav>
                                        <p:tav tm="100000">
                                          <p:val>
                                            <p:strVal val="#ppt_y"/>
                                          </p:val>
                                        </p:tav>
                                      </p:tavLst>
                                    </p:anim>
                                  </p:childTnLst>
                                </p:cTn>
                              </p:par>
                              <p:par>
                                <p:cTn id="42" presetID="22" presetClass="entr" presetSubtype="4" fill="hold" grpId="0"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wipe(down)">
                                      <p:cBhvr>
                                        <p:cTn id="44" dur="500"/>
                                        <p:tgtEl>
                                          <p:spTgt spid="3">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8">
                                            <p:bg/>
                                          </p:spTgt>
                                        </p:tgtEl>
                                        <p:attrNameLst>
                                          <p:attrName>style.visibility</p:attrName>
                                        </p:attrNameLst>
                                      </p:cBhvr>
                                      <p:to>
                                        <p:strVal val="visible"/>
                                      </p:to>
                                    </p:set>
                                    <p:animEffect transition="in" filter="wipe(down)">
                                      <p:cBhvr>
                                        <p:cTn id="49" dur="500"/>
                                        <p:tgtEl>
                                          <p:spTgt spid="8">
                                            <p:bg/>
                                          </p:spTgt>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8">
                                            <p:txEl>
                                              <p:pRg st="0" end="0"/>
                                            </p:txEl>
                                          </p:spTgt>
                                        </p:tgtEl>
                                        <p:attrNameLst>
                                          <p:attrName>style.visibility</p:attrName>
                                        </p:attrNameLst>
                                      </p:cBhvr>
                                      <p:to>
                                        <p:strVal val="visible"/>
                                      </p:to>
                                    </p:set>
                                    <p:animEffect transition="in" filter="wipe(down)">
                                      <p:cBhvr>
                                        <p:cTn id="52"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P spid="7" grpId="0" animBg="1"/>
      <p:bldP spid="8" grpId="0" build="allAtOnce" animBg="1"/>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285860"/>
            <a:ext cx="8401080" cy="4572032"/>
          </a:xfrm>
        </p:spPr>
        <p:txBody>
          <a:bodyPr/>
          <a:lstStyle/>
          <a:p>
            <a:pPr marL="514350" indent="-514350">
              <a:buFont typeface="+mj-lt"/>
              <a:buAutoNum type="alphaUcPeriod"/>
            </a:pPr>
            <a:r>
              <a:rPr lang="zh-CN" altLang="en-US" dirty="0"/>
              <a:t>碘量法</a:t>
            </a:r>
            <a:endParaRPr lang="en-US" altLang="zh-CN" dirty="0"/>
          </a:p>
          <a:p>
            <a:pPr lvl="1"/>
            <a:r>
              <a:rPr lang="zh-CN" altLang="en-US" dirty="0"/>
              <a:t>滴定终点的确认</a:t>
            </a:r>
            <a:endParaRPr lang="en-US" altLang="zh-CN" dirty="0"/>
          </a:p>
          <a:p>
            <a:pPr marL="914400" lvl="1" indent="-457200">
              <a:buFont typeface="+mj-lt"/>
              <a:buAutoNum type="arabicPeriod"/>
            </a:pPr>
            <a:r>
              <a:rPr lang="zh-CN" altLang="en-US" sz="2000" dirty="0"/>
              <a:t>酸过量（</a:t>
            </a:r>
            <a:r>
              <a:rPr lang="en-US" altLang="zh-CN" sz="2000" dirty="0"/>
              <a:t>pH=~3.5</a:t>
            </a:r>
            <a:r>
              <a:rPr lang="zh-CN" altLang="en-US" sz="2000" dirty="0"/>
              <a:t>），且已知加入</a:t>
            </a:r>
            <a:endParaRPr lang="en-US" altLang="zh-CN" sz="2000" dirty="0"/>
          </a:p>
          <a:p>
            <a:pPr marL="457200" lvl="1" indent="0">
              <a:buNone/>
            </a:pPr>
            <a:r>
              <a:rPr lang="zh-CN" altLang="en-US" sz="2000" dirty="0"/>
              <a:t>过量酸的体积</a:t>
            </a:r>
            <a:endParaRPr lang="en-US" altLang="zh-CN" sz="2000" dirty="0"/>
          </a:p>
          <a:p>
            <a:pPr marL="914400" lvl="1" indent="-457200">
              <a:buFont typeface="+mj-lt"/>
              <a:buAutoNum type="arabicPeriod" startAt="2"/>
            </a:pPr>
            <a:r>
              <a:rPr lang="zh-CN" altLang="en-US" sz="2000" dirty="0"/>
              <a:t>酸滴定过量后要将溶液中的</a:t>
            </a:r>
            <a:r>
              <a:rPr lang="en-US" altLang="zh-CN" sz="2000" dirty="0"/>
              <a:t>CO2</a:t>
            </a:r>
            <a:r>
              <a:rPr lang="zh-CN" altLang="en-US" sz="2000" dirty="0"/>
              <a:t>赶出</a:t>
            </a:r>
            <a:endParaRPr lang="en-US" altLang="zh-CN" sz="2000" dirty="0"/>
          </a:p>
          <a:p>
            <a:pPr marL="457200" lvl="1" indent="0">
              <a:buNone/>
            </a:pPr>
            <a:r>
              <a:rPr lang="zh-CN" altLang="en-US" sz="2000" dirty="0"/>
              <a:t>（煮沸溶液或者用去除</a:t>
            </a:r>
            <a:r>
              <a:rPr lang="en-US" altLang="zh-CN" sz="2000" dirty="0"/>
              <a:t>CO2</a:t>
            </a:r>
            <a:r>
              <a:rPr lang="zh-CN" altLang="en-US" sz="2000" dirty="0"/>
              <a:t>的空气通入溶液将</a:t>
            </a:r>
            <a:r>
              <a:rPr lang="en-US" altLang="zh-CN" sz="2000" dirty="0"/>
              <a:t>CO2</a:t>
            </a:r>
            <a:r>
              <a:rPr lang="zh-CN" altLang="en-US" sz="2000" dirty="0"/>
              <a:t>赶掉</a:t>
            </a:r>
            <a:endParaRPr lang="en-US" altLang="zh-CN" sz="2000" dirty="0"/>
          </a:p>
          <a:p>
            <a:pPr marL="914400" lvl="1" indent="-457200">
              <a:buFont typeface="+mj-lt"/>
              <a:buAutoNum type="arabicPeriod" startAt="3"/>
            </a:pPr>
            <a:r>
              <a:rPr lang="zh-CN" altLang="en-US" sz="2000" dirty="0"/>
              <a:t>通过碘量法确定过量酸的体积</a:t>
            </a:r>
            <a:endParaRPr lang="en-US" altLang="zh-CN" sz="2000" dirty="0"/>
          </a:p>
          <a:p>
            <a:pPr marL="914400" lvl="1" indent="-457200">
              <a:buFont typeface="+mj-lt"/>
              <a:buAutoNum type="arabicPeriod" startAt="3"/>
            </a:pPr>
            <a:endParaRPr lang="en-US" altLang="zh-CN" dirty="0"/>
          </a:p>
          <a:p>
            <a:pPr marL="914400" lvl="1" indent="-457200">
              <a:buFont typeface="+mj-lt"/>
              <a:buAutoNum type="arabicPeriod" startAt="3"/>
            </a:pPr>
            <a:endParaRPr lang="en-US" altLang="zh-CN" dirty="0"/>
          </a:p>
          <a:p>
            <a:pPr marL="914400" lvl="1" indent="-457200">
              <a:buFont typeface="+mj-lt"/>
              <a:buAutoNum type="arabicPeriod" startAt="3"/>
            </a:pPr>
            <a:endParaRPr lang="en-US" altLang="zh-CN" dirty="0"/>
          </a:p>
          <a:p>
            <a:pPr marL="914400" lvl="1" indent="-457200">
              <a:buFont typeface="+mj-lt"/>
              <a:buAutoNum type="arabicPeriod" startAt="3"/>
            </a:pPr>
            <a:r>
              <a:rPr lang="zh-CN" altLang="en-US" sz="2000" dirty="0"/>
              <a:t>碘酸钾和 碘化钾要加过量</a:t>
            </a:r>
            <a:endParaRPr lang="en-US" altLang="zh-CN" sz="2000" dirty="0"/>
          </a:p>
          <a:p>
            <a:pPr marL="914400" lvl="1" indent="-457200">
              <a:buFont typeface="+mj-lt"/>
              <a:buAutoNum type="arabicPeriod" startAt="3"/>
            </a:pPr>
            <a:endParaRPr lang="en-US" altLang="zh-CN" dirty="0"/>
          </a:p>
          <a:p>
            <a:pPr lvl="1"/>
            <a:endParaRPr lang="en-US" altLang="zh-CN" dirty="0"/>
          </a:p>
          <a:p>
            <a:endParaRPr lang="en-US" altLang="zh-CN" dirty="0"/>
          </a:p>
          <a:p>
            <a:pPr lvl="1">
              <a:buNone/>
            </a:pPr>
            <a:endParaRPr lang="zh-CN" altLang="en-US" dirty="0"/>
          </a:p>
        </p:txBody>
      </p:sp>
      <p:pic>
        <p:nvPicPr>
          <p:cNvPr id="6" name="Picture 3" descr="E:\课程\海水分析化学 本科\课件\课程图片\碘酸钾滴定硫代硫酸钠的原理.png"/>
          <p:cNvPicPr>
            <a:picLocks noChangeAspect="1" noChangeArrowheads="1"/>
          </p:cNvPicPr>
          <p:nvPr/>
        </p:nvPicPr>
        <p:blipFill>
          <a:blip r:embed="rId2" cstate="print"/>
          <a:srcRect/>
          <a:stretch>
            <a:fillRect/>
          </a:stretch>
        </p:blipFill>
        <p:spPr bwMode="auto">
          <a:xfrm>
            <a:off x="1176984" y="4151817"/>
            <a:ext cx="6357982" cy="1143008"/>
          </a:xfrm>
          <a:prstGeom prst="rect">
            <a:avLst/>
          </a:prstGeom>
          <a:noFill/>
        </p:spPr>
      </p:pic>
      <p:pic>
        <p:nvPicPr>
          <p:cNvPr id="96257" name="Picture 1" descr="E:\课程\海水分析化学 本科\课件\课程图片\alk滴定电位和V.png"/>
          <p:cNvPicPr>
            <a:picLocks noChangeAspect="1" noChangeArrowheads="1"/>
          </p:cNvPicPr>
          <p:nvPr/>
        </p:nvPicPr>
        <p:blipFill>
          <a:blip r:embed="rId3" cstate="print"/>
          <a:srcRect/>
          <a:stretch>
            <a:fillRect/>
          </a:stretch>
        </p:blipFill>
        <p:spPr bwMode="auto">
          <a:xfrm>
            <a:off x="5429256" y="928670"/>
            <a:ext cx="3541564" cy="2312275"/>
          </a:xfrm>
          <a:prstGeom prst="rect">
            <a:avLst/>
          </a:prstGeom>
          <a:noFill/>
        </p:spPr>
      </p:pic>
      <p:sp>
        <p:nvSpPr>
          <p:cNvPr id="7" name="TextBox 6"/>
          <p:cNvSpPr txBox="1"/>
          <p:nvPr/>
        </p:nvSpPr>
        <p:spPr>
          <a:xfrm>
            <a:off x="3571868" y="1100805"/>
            <a:ext cx="1643074" cy="707886"/>
          </a:xfrm>
          <a:prstGeom prst="rect">
            <a:avLst/>
          </a:prstGeom>
          <a:solidFill>
            <a:schemeClr val="accent2">
              <a:lumMod val="75000"/>
            </a:schemeClr>
          </a:solidFill>
        </p:spPr>
        <p:txBody>
          <a:bodyPr wrap="square" rtlCol="0">
            <a:spAutoFit/>
          </a:bodyPr>
          <a:lstStyle/>
          <a:p>
            <a:r>
              <a:rPr lang="zh-CN" altLang="en-US" sz="2000" dirty="0">
                <a:solidFill>
                  <a:schemeClr val="bg1"/>
                </a:solidFill>
              </a:rPr>
              <a:t>为什么要将</a:t>
            </a:r>
            <a:r>
              <a:rPr lang="en-US" altLang="zh-CN" sz="2000" dirty="0">
                <a:solidFill>
                  <a:schemeClr val="bg1"/>
                </a:solidFill>
              </a:rPr>
              <a:t>CO</a:t>
            </a:r>
            <a:r>
              <a:rPr lang="en-US" altLang="zh-CN" sz="2000" baseline="-25000" dirty="0">
                <a:solidFill>
                  <a:schemeClr val="bg1"/>
                </a:solidFill>
              </a:rPr>
              <a:t>2</a:t>
            </a:r>
            <a:r>
              <a:rPr lang="zh-CN" altLang="en-US" sz="2000" dirty="0">
                <a:solidFill>
                  <a:schemeClr val="bg1"/>
                </a:solidFill>
              </a:rPr>
              <a:t>赶掉？</a:t>
            </a:r>
          </a:p>
        </p:txBody>
      </p:sp>
      <p:sp>
        <p:nvSpPr>
          <p:cNvPr id="2" name="文本框 1">
            <a:extLst>
              <a:ext uri="{FF2B5EF4-FFF2-40B4-BE49-F238E27FC236}">
                <a16:creationId xmlns:a16="http://schemas.microsoft.com/office/drawing/2014/main" id="{A8214364-7D4A-4E3A-B7B2-F2F1C94F366B}"/>
              </a:ext>
            </a:extLst>
          </p:cNvPr>
          <p:cNvSpPr txBox="1"/>
          <p:nvPr/>
        </p:nvSpPr>
        <p:spPr>
          <a:xfrm>
            <a:off x="3131840" y="4267267"/>
            <a:ext cx="1209255" cy="369332"/>
          </a:xfrm>
          <a:prstGeom prst="rect">
            <a:avLst/>
          </a:prstGeom>
          <a:solidFill>
            <a:schemeClr val="accent1"/>
          </a:solidFill>
        </p:spPr>
        <p:txBody>
          <a:bodyPr wrap="square" rtlCol="0">
            <a:spAutoFit/>
          </a:bodyPr>
          <a:lstStyle/>
          <a:p>
            <a:pPr algn="ctr"/>
            <a:r>
              <a:rPr lang="en-US" altLang="zh-CN" dirty="0"/>
              <a:t>6H</a:t>
            </a:r>
            <a:r>
              <a:rPr lang="en-US" altLang="zh-CN" baseline="30000" dirty="0"/>
              <a:t>+</a:t>
            </a:r>
            <a:endParaRPr lang="zh-CN" altLang="en-US" baseline="30000" dirty="0"/>
          </a:p>
        </p:txBody>
      </p:sp>
      <p:pic>
        <p:nvPicPr>
          <p:cNvPr id="9" name="Picture 3" descr="E:\课程\课件\课程图片\碱度的滴定终点.png">
            <a:extLst>
              <a:ext uri="{FF2B5EF4-FFF2-40B4-BE49-F238E27FC236}">
                <a16:creationId xmlns:a16="http://schemas.microsoft.com/office/drawing/2014/main" id="{5A9FC096-52BB-4F9F-B02C-E4FC2E179F74}"/>
              </a:ext>
            </a:extLst>
          </p:cNvPr>
          <p:cNvPicPr>
            <a:picLocks noChangeAspect="1" noChangeArrowheads="1"/>
          </p:cNvPicPr>
          <p:nvPr/>
        </p:nvPicPr>
        <p:blipFill>
          <a:blip r:embed="rId4" cstate="print"/>
          <a:srcRect/>
          <a:stretch>
            <a:fillRect/>
          </a:stretch>
        </p:blipFill>
        <p:spPr bwMode="auto">
          <a:xfrm>
            <a:off x="722239" y="2929003"/>
            <a:ext cx="8001056" cy="1338264"/>
          </a:xfrm>
          <a:prstGeom prst="rect">
            <a:avLst/>
          </a:prstGeom>
          <a:noFill/>
        </p:spPr>
      </p:pic>
      <p:pic>
        <p:nvPicPr>
          <p:cNvPr id="4" name="图片 3">
            <a:extLst>
              <a:ext uri="{FF2B5EF4-FFF2-40B4-BE49-F238E27FC236}">
                <a16:creationId xmlns:a16="http://schemas.microsoft.com/office/drawing/2014/main" id="{F858C267-9411-45B8-A3E6-76DCFD87D4EE}"/>
              </a:ext>
            </a:extLst>
          </p:cNvPr>
          <p:cNvPicPr>
            <a:picLocks noChangeAspect="1"/>
          </p:cNvPicPr>
          <p:nvPr/>
        </p:nvPicPr>
        <p:blipFill>
          <a:blip r:embed="rId5"/>
          <a:stretch>
            <a:fillRect/>
          </a:stretch>
        </p:blipFill>
        <p:spPr>
          <a:xfrm>
            <a:off x="4975276" y="3087414"/>
            <a:ext cx="3995544" cy="324999"/>
          </a:xfrm>
          <a:prstGeom prst="rect">
            <a:avLst/>
          </a:prstGeom>
        </p:spPr>
      </p:pic>
      <p:pic>
        <p:nvPicPr>
          <p:cNvPr id="11" name="图片 10">
            <a:extLst>
              <a:ext uri="{FF2B5EF4-FFF2-40B4-BE49-F238E27FC236}">
                <a16:creationId xmlns:a16="http://schemas.microsoft.com/office/drawing/2014/main" id="{5B93F2B4-4A78-45AC-8814-EA128F4483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85918" y="5818462"/>
            <a:ext cx="4857750" cy="400050"/>
          </a:xfrm>
          <a:prstGeom prst="rect">
            <a:avLst/>
          </a:prstGeom>
        </p:spPr>
      </p:pic>
      <p:sp>
        <p:nvSpPr>
          <p:cNvPr id="13" name="标题 4">
            <a:extLst>
              <a:ext uri="{FF2B5EF4-FFF2-40B4-BE49-F238E27FC236}">
                <a16:creationId xmlns:a16="http://schemas.microsoft.com/office/drawing/2014/main" id="{00009673-FEEC-4FC8-9D87-62BC7B2A78F5}"/>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2512295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down)">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down)">
                                      <p:cBhvr>
                                        <p:cTn id="15" dur="500"/>
                                        <p:tgtEl>
                                          <p:spTgt spid="3">
                                            <p:txEl>
                                              <p:pRg st="4" end="4"/>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down)">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additive="base">
                                        <p:cTn id="40" dur="500" fill="hold"/>
                                        <p:tgtEl>
                                          <p:spTgt spid="2"/>
                                        </p:tgtEl>
                                        <p:attrNameLst>
                                          <p:attrName>ppt_x</p:attrName>
                                        </p:attrNameLst>
                                      </p:cBhvr>
                                      <p:tavLst>
                                        <p:tav tm="0">
                                          <p:val>
                                            <p:strVal val="#ppt_x"/>
                                          </p:val>
                                        </p:tav>
                                        <p:tav tm="100000">
                                          <p:val>
                                            <p:strVal val="#ppt_x"/>
                                          </p:val>
                                        </p:tav>
                                      </p:tavLst>
                                    </p:anim>
                                    <p:anim calcmode="lin" valueType="num">
                                      <p:cBhvr additive="base">
                                        <p:cTn id="41" dur="500" fill="hold"/>
                                        <p:tgtEl>
                                          <p:spTgt spid="2"/>
                                        </p:tgtEl>
                                        <p:attrNameLst>
                                          <p:attrName>ppt_y</p:attrName>
                                        </p:attrNameLst>
                                      </p:cBhvr>
                                      <p:tavLst>
                                        <p:tav tm="0">
                                          <p:val>
                                            <p:strVal val="1+#ppt_h/2"/>
                                          </p:val>
                                        </p:tav>
                                        <p:tav tm="100000">
                                          <p:val>
                                            <p:strVal val="#ppt_y"/>
                                          </p:val>
                                        </p:tav>
                                      </p:tavLst>
                                    </p:anim>
                                  </p:childTnLst>
                                </p:cTn>
                              </p:par>
                              <p:par>
                                <p:cTn id="42" presetID="22" presetClass="entr" presetSubtype="4" fill="hold" grpId="0"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wipe(down)">
                                      <p:cBhvr>
                                        <p:cTn id="44" dur="500"/>
                                        <p:tgtEl>
                                          <p:spTgt spid="3">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ppt_x"/>
                                          </p:val>
                                        </p:tav>
                                        <p:tav tm="100000">
                                          <p:val>
                                            <p:strVal val="#ppt_x"/>
                                          </p:val>
                                        </p:tav>
                                      </p:tavLst>
                                    </p:anim>
                                    <p:anim calcmode="lin" valueType="num">
                                      <p:cBhvr additive="base">
                                        <p:cTn id="5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ppt_x"/>
                                          </p:val>
                                        </p:tav>
                                        <p:tav tm="100000">
                                          <p:val>
                                            <p:strVal val="#ppt_x"/>
                                          </p:val>
                                        </p:tav>
                                      </p:tavLst>
                                    </p:anim>
                                    <p:anim calcmode="lin" valueType="num">
                                      <p:cBhvr additive="base">
                                        <p:cTn id="6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P spid="7" grpId="0" animBg="1"/>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ChangeArrowheads="1"/>
          </p:cNvSpPr>
          <p:nvPr/>
        </p:nvSpPr>
        <p:spPr bwMode="auto">
          <a:xfrm>
            <a:off x="0" y="3300413"/>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06499" name="Rectangle 4"/>
          <p:cNvSpPr>
            <a:spLocks noChangeArrowheads="1"/>
          </p:cNvSpPr>
          <p:nvPr/>
        </p:nvSpPr>
        <p:spPr bwMode="auto">
          <a:xfrm>
            <a:off x="0" y="3309938"/>
            <a:ext cx="9144000" cy="0"/>
          </a:xfrm>
          <a:prstGeom prst="rect">
            <a:avLst/>
          </a:prstGeom>
          <a:noFill/>
          <a:ln w="31750" algn="ctr">
            <a:noFill/>
            <a:miter lim="800000"/>
            <a:headEnd/>
            <a:tailEnd/>
          </a:ln>
        </p:spPr>
        <p:txBody>
          <a:bodyPr wrap="none" lIns="18000" tIns="36000" rIns="18000" bIns="10800" anchor="ctr">
            <a:spAutoFit/>
          </a:bodyPr>
          <a:lstStyle/>
          <a:p>
            <a:endParaRPr lang="zh-CN" altLang="en-US"/>
          </a:p>
        </p:txBody>
      </p:sp>
      <p:sp>
        <p:nvSpPr>
          <p:cNvPr id="106500" name="Rectangle 5"/>
          <p:cNvSpPr>
            <a:spLocks noChangeArrowheads="1"/>
          </p:cNvSpPr>
          <p:nvPr/>
        </p:nvSpPr>
        <p:spPr bwMode="auto">
          <a:xfrm>
            <a:off x="1500166" y="357166"/>
            <a:ext cx="6121400" cy="539750"/>
          </a:xfrm>
          <a:prstGeom prst="rect">
            <a:avLst/>
          </a:prstGeom>
          <a:noFill/>
          <a:ln w="31750" algn="ctr">
            <a:noFill/>
            <a:miter lim="800000"/>
            <a:headEnd/>
            <a:tailEnd/>
          </a:ln>
        </p:spPr>
        <p:txBody>
          <a:bodyPr lIns="18000" tIns="36000" rIns="18000" bIns="10800" anchor="ctr">
            <a:spAutoFit/>
          </a:bodyPr>
          <a:lstStyle/>
          <a:p>
            <a:pPr>
              <a:lnSpc>
                <a:spcPct val="100000"/>
              </a:lnSpc>
              <a:spcBef>
                <a:spcPct val="0"/>
              </a:spcBef>
              <a:buFontTx/>
              <a:buNone/>
            </a:pPr>
            <a:r>
              <a:rPr lang="zh-CN" altLang="en-US" sz="3200" dirty="0">
                <a:latin typeface="Times New Roman" pitchFamily="18" charset="0"/>
                <a:ea typeface="黑体" pitchFamily="49" charset="-122"/>
                <a:cs typeface="Times New Roman" pitchFamily="18" charset="0"/>
              </a:rPr>
              <a:t>海水无机碳组分浓度随</a:t>
            </a:r>
            <a:r>
              <a:rPr lang="en-US" altLang="zh-CN" sz="3200" dirty="0">
                <a:latin typeface="Times New Roman" pitchFamily="18" charset="0"/>
                <a:ea typeface="黑体" pitchFamily="49" charset="-122"/>
                <a:cs typeface="Times New Roman" pitchFamily="18" charset="0"/>
              </a:rPr>
              <a:t>pH</a:t>
            </a:r>
            <a:r>
              <a:rPr lang="zh-CN" altLang="en-US" sz="3200" dirty="0">
                <a:latin typeface="Times New Roman" pitchFamily="18" charset="0"/>
                <a:ea typeface="黑体" pitchFamily="49" charset="-122"/>
                <a:cs typeface="Times New Roman" pitchFamily="18" charset="0"/>
              </a:rPr>
              <a:t>的变化</a:t>
            </a:r>
          </a:p>
        </p:txBody>
      </p:sp>
      <p:grpSp>
        <p:nvGrpSpPr>
          <p:cNvPr id="2" name="组合 9"/>
          <p:cNvGrpSpPr>
            <a:grpSpLocks/>
          </p:cNvGrpSpPr>
          <p:nvPr/>
        </p:nvGrpSpPr>
        <p:grpSpPr bwMode="auto">
          <a:xfrm>
            <a:off x="971550" y="1196975"/>
            <a:ext cx="6985000" cy="5414963"/>
            <a:chOff x="827584" y="1196752"/>
            <a:chExt cx="6984776" cy="5415905"/>
          </a:xfrm>
        </p:grpSpPr>
        <p:pic>
          <p:nvPicPr>
            <p:cNvPr id="106503" name="Picture 8" descr="图4-6-1"/>
            <p:cNvPicPr>
              <a:picLocks noChangeAspect="1" noChangeArrowheads="1"/>
            </p:cNvPicPr>
            <p:nvPr/>
          </p:nvPicPr>
          <p:blipFill>
            <a:blip r:embed="rId2" cstate="print"/>
            <a:srcRect l="1308" t="3575"/>
            <a:stretch>
              <a:fillRect/>
            </a:stretch>
          </p:blipFill>
          <p:spPr bwMode="auto">
            <a:xfrm>
              <a:off x="827584" y="1196752"/>
              <a:ext cx="6984776" cy="5415905"/>
            </a:xfrm>
            <a:prstGeom prst="rect">
              <a:avLst/>
            </a:prstGeom>
            <a:noFill/>
            <a:ln w="9525">
              <a:noFill/>
              <a:miter lim="800000"/>
              <a:headEnd/>
              <a:tailEnd/>
            </a:ln>
          </p:spPr>
        </p:pic>
        <p:sp>
          <p:nvSpPr>
            <p:cNvPr id="106504" name="矩形 8"/>
            <p:cNvSpPr>
              <a:spLocks noChangeArrowheads="1"/>
            </p:cNvSpPr>
            <p:nvPr/>
          </p:nvSpPr>
          <p:spPr bwMode="auto">
            <a:xfrm>
              <a:off x="1619672" y="1412776"/>
              <a:ext cx="4464496" cy="400110"/>
            </a:xfrm>
            <a:prstGeom prst="rect">
              <a:avLst/>
            </a:prstGeom>
            <a:noFill/>
            <a:ln w="9525">
              <a:noFill/>
              <a:miter lim="800000"/>
              <a:headEnd/>
              <a:tailEnd/>
            </a:ln>
          </p:spPr>
          <p:txBody>
            <a:bodyPr>
              <a:spAutoFit/>
            </a:bodyPr>
            <a:lstStyle/>
            <a:p>
              <a:pPr>
                <a:lnSpc>
                  <a:spcPct val="100000"/>
                </a:lnSpc>
                <a:spcBef>
                  <a:spcPct val="0"/>
                </a:spcBef>
                <a:buFontTx/>
                <a:buNone/>
              </a:pPr>
              <a:r>
                <a:rPr lang="en-US" altLang="zh-CN" sz="2000">
                  <a:solidFill>
                    <a:srgbClr val="FF0000"/>
                  </a:solidFill>
                  <a:latin typeface="Times New Roman" pitchFamily="18" charset="0"/>
                  <a:ea typeface="黑体" pitchFamily="49" charset="-122"/>
                  <a:cs typeface="Times New Roman" pitchFamily="18" charset="0"/>
                </a:rPr>
                <a:t>TCO</a:t>
              </a:r>
              <a:r>
                <a:rPr lang="en-US" altLang="zh-CN" sz="2000" baseline="-25000">
                  <a:solidFill>
                    <a:srgbClr val="FF0000"/>
                  </a:solidFill>
                  <a:latin typeface="Times New Roman" pitchFamily="18" charset="0"/>
                  <a:ea typeface="黑体" pitchFamily="49" charset="-122"/>
                  <a:cs typeface="Times New Roman" pitchFamily="18" charset="0"/>
                </a:rPr>
                <a:t>2</a:t>
              </a:r>
              <a:r>
                <a:rPr lang="en-US" altLang="zh-CN" sz="2000">
                  <a:solidFill>
                    <a:srgbClr val="FF0000"/>
                  </a:solidFill>
                  <a:latin typeface="Times New Roman" pitchFamily="18" charset="0"/>
                  <a:ea typeface="黑体" pitchFamily="49" charset="-122"/>
                  <a:cs typeface="Times New Roman" pitchFamily="18" charset="0"/>
                </a:rPr>
                <a:t>=2.1 mmol/kg</a:t>
              </a:r>
              <a:r>
                <a:rPr lang="zh-CN" altLang="en-US" sz="2000">
                  <a:solidFill>
                    <a:srgbClr val="FF0000"/>
                  </a:solidFill>
                  <a:latin typeface="Times New Roman" pitchFamily="18" charset="0"/>
                  <a:ea typeface="黑体" pitchFamily="49" charset="-122"/>
                  <a:cs typeface="Times New Roman" pitchFamily="18" charset="0"/>
                </a:rPr>
                <a:t>，</a:t>
              </a:r>
              <a:r>
                <a:rPr lang="en-US" altLang="zh-CN" sz="2000">
                  <a:solidFill>
                    <a:srgbClr val="FF0000"/>
                  </a:solidFill>
                  <a:latin typeface="Times New Roman" pitchFamily="18" charset="0"/>
                  <a:ea typeface="黑体" pitchFamily="49" charset="-122"/>
                  <a:cs typeface="Times New Roman" pitchFamily="18" charset="0"/>
                </a:rPr>
                <a:t>S=35</a:t>
              </a:r>
              <a:r>
                <a:rPr lang="zh-CN" altLang="en-US" sz="2000">
                  <a:solidFill>
                    <a:srgbClr val="FF0000"/>
                  </a:solidFill>
                  <a:latin typeface="Times New Roman" pitchFamily="18" charset="0"/>
                  <a:ea typeface="黑体" pitchFamily="49" charset="-122"/>
                  <a:cs typeface="Times New Roman" pitchFamily="18" charset="0"/>
                </a:rPr>
                <a:t>，</a:t>
              </a:r>
              <a:r>
                <a:rPr lang="en-US" altLang="zh-CN" sz="2000">
                  <a:solidFill>
                    <a:srgbClr val="FF0000"/>
                  </a:solidFill>
                  <a:latin typeface="Times New Roman" pitchFamily="18" charset="0"/>
                  <a:ea typeface="黑体" pitchFamily="49" charset="-122"/>
                  <a:cs typeface="Times New Roman" pitchFamily="18" charset="0"/>
                </a:rPr>
                <a:t>T=25°C</a:t>
              </a:r>
              <a:endParaRPr lang="zh-CN" altLang="en-US" sz="2000">
                <a:solidFill>
                  <a:srgbClr val="FF0000"/>
                </a:solidFill>
                <a:latin typeface="Times New Roman" pitchFamily="18" charset="0"/>
                <a:ea typeface="黑体" pitchFamily="49" charset="-122"/>
                <a:cs typeface="Times New Roman" pitchFamily="18" charset="0"/>
              </a:endParaRPr>
            </a:p>
          </p:txBody>
        </p:sp>
      </p:grpSp>
    </p:spTree>
    <p:extLst>
      <p:ext uri="{BB962C8B-B14F-4D97-AF65-F5344CB8AC3E}">
        <p14:creationId xmlns:p14="http://schemas.microsoft.com/office/powerpoint/2010/main" val="935230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7"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5602436" y="1000108"/>
            <a:ext cx="3541564" cy="2500330"/>
          </a:xfrm>
          <a:prstGeom prst="rect">
            <a:avLst/>
          </a:prstGeom>
          <a:noFill/>
        </p:spPr>
      </p:pic>
      <p:sp>
        <p:nvSpPr>
          <p:cNvPr id="3" name="内容占位符 2"/>
          <p:cNvSpPr>
            <a:spLocks noGrp="1"/>
          </p:cNvSpPr>
          <p:nvPr>
            <p:ph idx="1"/>
          </p:nvPr>
        </p:nvSpPr>
        <p:spPr>
          <a:xfrm>
            <a:off x="428596" y="1428736"/>
            <a:ext cx="8401080" cy="4572032"/>
          </a:xfrm>
        </p:spPr>
        <p:txBody>
          <a:bodyPr/>
          <a:lstStyle/>
          <a:p>
            <a:pPr marL="571500" indent="-514350">
              <a:buFont typeface="+mj-lt"/>
              <a:buAutoNum type="alphaUcPeriod" startAt="2"/>
            </a:pPr>
            <a:r>
              <a:rPr lang="zh-CN" altLang="en-US" dirty="0"/>
              <a:t>间接法（回滴法）</a:t>
            </a:r>
            <a:endParaRPr lang="en-US" altLang="zh-CN" dirty="0"/>
          </a:p>
          <a:p>
            <a:pPr marL="914400" lvl="1" indent="-457200">
              <a:lnSpc>
                <a:spcPct val="120000"/>
              </a:lnSpc>
              <a:buFont typeface="+mj-lt"/>
              <a:buAutoNum type="arabicPeriod"/>
            </a:pPr>
            <a:r>
              <a:rPr lang="zh-CN" altLang="en-US" sz="2000" dirty="0"/>
              <a:t>酸过量（</a:t>
            </a:r>
            <a:r>
              <a:rPr lang="en-US" altLang="zh-CN" sz="2000" dirty="0"/>
              <a:t>pH=~3.5</a:t>
            </a:r>
            <a:r>
              <a:rPr lang="zh-CN" altLang="en-US" sz="2000" dirty="0"/>
              <a:t>）</a:t>
            </a:r>
            <a:endParaRPr lang="en-US" altLang="zh-CN" sz="2000" dirty="0"/>
          </a:p>
          <a:p>
            <a:pPr marL="914400" lvl="1" indent="-457200">
              <a:lnSpc>
                <a:spcPct val="120000"/>
              </a:lnSpc>
              <a:buFont typeface="+mj-lt"/>
              <a:buAutoNum type="arabicPeriod"/>
            </a:pPr>
            <a:r>
              <a:rPr lang="zh-CN" altLang="en-US" sz="2000" dirty="0"/>
              <a:t>在</a:t>
            </a:r>
            <a:r>
              <a:rPr lang="en-US" altLang="zh-CN" sz="2000" dirty="0"/>
              <a:t>pH=~3.5</a:t>
            </a:r>
            <a:r>
              <a:rPr lang="zh-CN" altLang="en-US" sz="2000" dirty="0"/>
              <a:t>，溶解无机碳主要以</a:t>
            </a:r>
            <a:endParaRPr lang="en-US" altLang="zh-CN" sz="2000" dirty="0"/>
          </a:p>
          <a:p>
            <a:pPr marL="914400" lvl="1" indent="-457200">
              <a:lnSpc>
                <a:spcPct val="120000"/>
              </a:lnSpc>
              <a:buNone/>
            </a:pPr>
            <a:r>
              <a:rPr lang="zh-CN" altLang="en-US" sz="2000" dirty="0"/>
              <a:t>碳酸（</a:t>
            </a:r>
            <a:r>
              <a:rPr lang="en-US" altLang="zh-CN" sz="2000" dirty="0"/>
              <a:t>H</a:t>
            </a:r>
            <a:r>
              <a:rPr lang="en-US" altLang="zh-CN" sz="2000" baseline="-25000" dirty="0"/>
              <a:t>2</a:t>
            </a:r>
            <a:r>
              <a:rPr lang="en-US" altLang="zh-CN" sz="2000" dirty="0"/>
              <a:t>CO</a:t>
            </a:r>
            <a:r>
              <a:rPr lang="en-US" altLang="zh-CN" sz="2000" baseline="-25000" dirty="0"/>
              <a:t>3</a:t>
            </a:r>
            <a:r>
              <a:rPr lang="zh-CN" altLang="en-US" sz="2000" dirty="0"/>
              <a:t>和</a:t>
            </a:r>
            <a:r>
              <a:rPr lang="en-US" altLang="zh-CN" sz="2000" dirty="0"/>
              <a:t>CO</a:t>
            </a:r>
            <a:r>
              <a:rPr lang="en-US" altLang="zh-CN" sz="2000" baseline="-25000" dirty="0"/>
              <a:t>2aq</a:t>
            </a:r>
            <a:r>
              <a:rPr lang="zh-CN" altLang="en-US" sz="2000" dirty="0"/>
              <a:t>）形式存在。</a:t>
            </a:r>
            <a:endParaRPr lang="en-US" altLang="zh-CN" sz="2000" dirty="0"/>
          </a:p>
          <a:p>
            <a:pPr marL="914400" lvl="1" indent="-457200">
              <a:lnSpc>
                <a:spcPct val="120000"/>
              </a:lnSpc>
              <a:buNone/>
            </a:pPr>
            <a:r>
              <a:rPr lang="zh-CN" altLang="en-US" sz="2000" dirty="0"/>
              <a:t>通过煮沸溶液或通非</a:t>
            </a:r>
            <a:r>
              <a:rPr lang="en-US" altLang="zh-CN" sz="2000" dirty="0"/>
              <a:t>CO</a:t>
            </a:r>
            <a:r>
              <a:rPr lang="en-US" altLang="zh-CN" sz="2000" baseline="-25000" dirty="0"/>
              <a:t>2</a:t>
            </a:r>
            <a:r>
              <a:rPr lang="zh-CN" altLang="en-US" sz="2000" dirty="0"/>
              <a:t>气体把</a:t>
            </a:r>
            <a:r>
              <a:rPr lang="en-US" altLang="zh-CN" sz="2000" dirty="0"/>
              <a:t>CO</a:t>
            </a:r>
            <a:r>
              <a:rPr lang="en-US" altLang="zh-CN" sz="2000" baseline="-25000" dirty="0"/>
              <a:t>2</a:t>
            </a:r>
            <a:r>
              <a:rPr lang="zh-CN" altLang="en-US" sz="2000" dirty="0"/>
              <a:t>赶走</a:t>
            </a:r>
            <a:endParaRPr lang="en-US" altLang="zh-CN" sz="2000" dirty="0"/>
          </a:p>
          <a:p>
            <a:pPr marL="914400" lvl="1" indent="-457200">
              <a:lnSpc>
                <a:spcPct val="120000"/>
              </a:lnSpc>
              <a:buFont typeface="+mj-lt"/>
              <a:buAutoNum type="arabicPeriod" startAt="3"/>
            </a:pPr>
            <a:r>
              <a:rPr lang="zh-CN" altLang="en-US" sz="2000" dirty="0"/>
              <a:t>加入标准碱（</a:t>
            </a:r>
            <a:r>
              <a:rPr lang="en-US" altLang="zh-CN" sz="2000" dirty="0" err="1"/>
              <a:t>NaOH</a:t>
            </a:r>
            <a:r>
              <a:rPr lang="zh-CN" altLang="en-US" sz="2000" dirty="0"/>
              <a:t>）至溶液</a:t>
            </a:r>
            <a:r>
              <a:rPr lang="en-US" altLang="zh-CN" sz="2000" dirty="0"/>
              <a:t>pH</a:t>
            </a:r>
            <a:r>
              <a:rPr lang="zh-CN" altLang="en-US" sz="2000" dirty="0"/>
              <a:t>为？时，认为到达回滴终点</a:t>
            </a:r>
            <a:endParaRPr lang="en-US" altLang="zh-CN" sz="2000" dirty="0"/>
          </a:p>
          <a:p>
            <a:pPr marL="914400" lvl="1" indent="-457200">
              <a:lnSpc>
                <a:spcPct val="120000"/>
              </a:lnSpc>
              <a:buFont typeface="+mj-lt"/>
              <a:buAutoNum type="arabicPeriod" startAt="3"/>
            </a:pPr>
            <a:r>
              <a:rPr lang="zh-CN" altLang="en-US" sz="2000" dirty="0"/>
              <a:t>但因为海水的复杂体系，海水中的碱度主要由碳酸系统之外，还有硼酸盐系统，因此溶液中主要是过量盐酸</a:t>
            </a:r>
            <a:r>
              <a:rPr lang="en-US" altLang="zh-CN" sz="2000" dirty="0"/>
              <a:t>+</a:t>
            </a:r>
            <a:r>
              <a:rPr lang="zh-CN" altLang="en-US" sz="2000" dirty="0"/>
              <a:t>硼酸</a:t>
            </a:r>
            <a:endParaRPr lang="en-US" altLang="zh-CN" sz="2000" dirty="0"/>
          </a:p>
          <a:p>
            <a:pPr marL="914400" lvl="1" indent="-457200">
              <a:lnSpc>
                <a:spcPct val="120000"/>
              </a:lnSpc>
              <a:buFont typeface="+mj-lt"/>
              <a:buAutoNum type="arabicPeriod" startAt="3"/>
            </a:pPr>
            <a:r>
              <a:rPr lang="zh-CN" altLang="en-US" sz="2000" dirty="0"/>
              <a:t>硼酸的</a:t>
            </a:r>
            <a:r>
              <a:rPr lang="en-US" altLang="zh-CN" sz="2000" dirty="0" err="1"/>
              <a:t>pK</a:t>
            </a:r>
            <a:r>
              <a:rPr lang="zh-CN" altLang="en-US" sz="2000" dirty="0"/>
              <a:t>值</a:t>
            </a:r>
            <a:endParaRPr lang="en-US" altLang="zh-CN" sz="2000" dirty="0"/>
          </a:p>
          <a:p>
            <a:pPr marL="914400" lvl="1" indent="-457200">
              <a:lnSpc>
                <a:spcPct val="120000"/>
              </a:lnSpc>
              <a:buFont typeface="+mj-lt"/>
              <a:buAutoNum type="arabicPeriod" startAt="3"/>
            </a:pPr>
            <a:r>
              <a:rPr lang="zh-CN" altLang="en-US" sz="2000" dirty="0"/>
              <a:t>所以最终的滴定终点不选择在</a:t>
            </a:r>
            <a:r>
              <a:rPr lang="en-US" altLang="zh-CN" sz="2000" dirty="0"/>
              <a:t>pH=7</a:t>
            </a:r>
            <a:r>
              <a:rPr lang="zh-CN" altLang="en-US" sz="2000" dirty="0"/>
              <a:t>的点，而是根据海水的盐度、硼酸浓度来定</a:t>
            </a:r>
            <a:endParaRPr lang="en-US" altLang="zh-CN" sz="2000" dirty="0"/>
          </a:p>
          <a:p>
            <a:pPr marL="914400" lvl="1" indent="-457200">
              <a:buNone/>
            </a:pPr>
            <a:endParaRPr lang="en-US" altLang="zh-CN" dirty="0"/>
          </a:p>
          <a:p>
            <a:pPr marL="914400" lvl="1" indent="-457200">
              <a:buNone/>
            </a:pPr>
            <a:endParaRPr lang="en-US" altLang="zh-CN" dirty="0"/>
          </a:p>
          <a:p>
            <a:pPr marL="514350" indent="-457200">
              <a:buFont typeface="+mj-lt"/>
              <a:buAutoNum type="arabicPeriod"/>
            </a:pPr>
            <a:endParaRPr lang="en-US" altLang="zh-CN" dirty="0"/>
          </a:p>
          <a:p>
            <a:pPr marL="914400" lvl="1" indent="-457200">
              <a:buFont typeface="+mj-lt"/>
              <a:buAutoNum type="arabicPeriod"/>
            </a:pPr>
            <a:endParaRPr lang="en-US" altLang="zh-CN" dirty="0"/>
          </a:p>
          <a:p>
            <a:pPr lvl="1"/>
            <a:endParaRPr lang="en-US" altLang="zh-CN" dirty="0"/>
          </a:p>
          <a:p>
            <a:endParaRPr lang="en-US" altLang="zh-CN" dirty="0"/>
          </a:p>
          <a:p>
            <a:pPr lvl="1">
              <a:buNone/>
            </a:pPr>
            <a:endParaRPr lang="zh-CN" altLang="en-US" dirty="0"/>
          </a:p>
        </p:txBody>
      </p:sp>
      <p:sp>
        <p:nvSpPr>
          <p:cNvPr id="6" name="TextBox 5"/>
          <p:cNvSpPr txBox="1"/>
          <p:nvPr/>
        </p:nvSpPr>
        <p:spPr>
          <a:xfrm>
            <a:off x="7079247" y="4581128"/>
            <a:ext cx="1643074" cy="707886"/>
          </a:xfrm>
          <a:prstGeom prst="rect">
            <a:avLst/>
          </a:prstGeom>
          <a:solidFill>
            <a:schemeClr val="accent2">
              <a:lumMod val="75000"/>
            </a:schemeClr>
          </a:solidFill>
        </p:spPr>
        <p:txBody>
          <a:bodyPr wrap="square" rtlCol="0">
            <a:spAutoFit/>
          </a:bodyPr>
          <a:lstStyle/>
          <a:p>
            <a:r>
              <a:rPr lang="zh-CN" altLang="en-US" sz="2000" dirty="0">
                <a:solidFill>
                  <a:schemeClr val="bg1"/>
                </a:solidFill>
              </a:rPr>
              <a:t>为什么要将</a:t>
            </a:r>
            <a:r>
              <a:rPr lang="en-US" altLang="zh-CN" sz="2000" dirty="0">
                <a:solidFill>
                  <a:schemeClr val="bg1"/>
                </a:solidFill>
              </a:rPr>
              <a:t>CO</a:t>
            </a:r>
            <a:r>
              <a:rPr lang="en-US" altLang="zh-CN" sz="2000" baseline="-25000" dirty="0">
                <a:solidFill>
                  <a:schemeClr val="bg1"/>
                </a:solidFill>
              </a:rPr>
              <a:t>2</a:t>
            </a:r>
            <a:r>
              <a:rPr lang="zh-CN" altLang="en-US" sz="2000" dirty="0">
                <a:solidFill>
                  <a:schemeClr val="bg1"/>
                </a:solidFill>
              </a:rPr>
              <a:t>赶掉？</a:t>
            </a:r>
          </a:p>
        </p:txBody>
      </p:sp>
      <p:sp>
        <p:nvSpPr>
          <p:cNvPr id="8" name="标题 4">
            <a:extLst>
              <a:ext uri="{FF2B5EF4-FFF2-40B4-BE49-F238E27FC236}">
                <a16:creationId xmlns:a16="http://schemas.microsoft.com/office/drawing/2014/main" id="{414351FF-3FB0-46FD-AAAE-481EB1C73352}"/>
              </a:ext>
            </a:extLst>
          </p:cNvPr>
          <p:cNvSpPr txBox="1">
            <a:spLocks/>
          </p:cNvSpPr>
          <p:nvPr/>
        </p:nvSpPr>
        <p:spPr bwMode="auto">
          <a:xfrm>
            <a:off x="1535886" y="327934"/>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a:solidFill>
                  <a:schemeClr val="bg2">
                    <a:lumMod val="25000"/>
                  </a:schemeClr>
                </a:solidFill>
                <a:latin typeface="华文新魏" pitchFamily="2" charset="-122"/>
                <a:ea typeface="华文新魏" pitchFamily="2" charset="-122"/>
              </a:rPr>
              <a:t>第九章 海水中的</a:t>
            </a:r>
            <a:r>
              <a:rPr lang="en-US" altLang="zh-CN" sz="3200" b="1" kern="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121667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bg/>
                                          </p:spTgt>
                                        </p:tgtEl>
                                        <p:attrNameLst>
                                          <p:attrName>style.visibility</p:attrName>
                                        </p:attrNameLst>
                                      </p:cBhvr>
                                      <p:to>
                                        <p:strVal val="visible"/>
                                      </p:to>
                                    </p:set>
                                    <p:anim calcmode="lin" valueType="num">
                                      <p:cBhvr additive="base">
                                        <p:cTn id="32" dur="500" fill="hold"/>
                                        <p:tgtEl>
                                          <p:spTgt spid="6">
                                            <p:bg/>
                                          </p:spTgt>
                                        </p:tgtEl>
                                        <p:attrNameLst>
                                          <p:attrName>ppt_x</p:attrName>
                                        </p:attrNameLst>
                                      </p:cBhvr>
                                      <p:tavLst>
                                        <p:tav tm="0">
                                          <p:val>
                                            <p:strVal val="#ppt_x"/>
                                          </p:val>
                                        </p:tav>
                                        <p:tav tm="100000">
                                          <p:val>
                                            <p:strVal val="#ppt_x"/>
                                          </p:val>
                                        </p:tav>
                                      </p:tavLst>
                                    </p:anim>
                                    <p:anim calcmode="lin" valueType="num">
                                      <p:cBhvr additive="base">
                                        <p:cTn id="33" dur="500" fill="hold"/>
                                        <p:tgtEl>
                                          <p:spTgt spid="6">
                                            <p:bg/>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anim calcmode="lin" valueType="num">
                                      <p:cBhvr additive="base">
                                        <p:cTn id="36"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20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20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P spid="6" grpId="0" build="allAtOnce"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1142984"/>
            <a:ext cx="8401080" cy="4572032"/>
          </a:xfrm>
        </p:spPr>
        <p:txBody>
          <a:bodyPr/>
          <a:lstStyle/>
          <a:p>
            <a:pPr marL="571500" indent="-514350">
              <a:buFont typeface="+mj-lt"/>
              <a:buAutoNum type="alphaUcPeriod" startAt="2"/>
            </a:pPr>
            <a:r>
              <a:rPr lang="zh-CN" altLang="en-US" dirty="0"/>
              <a:t>间接法（回滴法）</a:t>
            </a:r>
            <a:endParaRPr lang="en-US" altLang="zh-CN" dirty="0"/>
          </a:p>
          <a:p>
            <a:pPr marL="914400" lvl="1" indent="-457200">
              <a:buFont typeface="+mj-lt"/>
              <a:buAutoNum type="arabicPeriod" startAt="7"/>
            </a:pPr>
            <a:r>
              <a:rPr lang="zh-CN" altLang="en-US" dirty="0"/>
              <a:t>最终的滴定终点</a:t>
            </a:r>
            <a:endParaRPr lang="en-US" altLang="zh-CN" dirty="0"/>
          </a:p>
          <a:p>
            <a:pPr marL="914400" lvl="1" indent="-457200">
              <a:buNone/>
            </a:pPr>
            <a:endParaRPr lang="en-US" altLang="zh-CN" dirty="0"/>
          </a:p>
          <a:p>
            <a:pPr marL="914400" lvl="1" indent="-457200">
              <a:buNone/>
            </a:pPr>
            <a:endParaRPr lang="en-US" altLang="zh-CN" dirty="0"/>
          </a:p>
          <a:p>
            <a:pPr marL="514350" indent="-457200">
              <a:buFont typeface="+mj-lt"/>
              <a:buAutoNum type="arabicPeriod"/>
            </a:pPr>
            <a:endParaRPr lang="en-US" altLang="zh-CN" dirty="0"/>
          </a:p>
          <a:p>
            <a:pPr marL="914400" lvl="1" indent="-457200">
              <a:buFont typeface="+mj-lt"/>
              <a:buAutoNum type="arabicPeriod"/>
            </a:pPr>
            <a:endParaRPr lang="en-US" altLang="zh-CN" dirty="0"/>
          </a:p>
          <a:p>
            <a:pPr lvl="1"/>
            <a:endParaRPr lang="en-US" altLang="zh-CN" sz="2000" dirty="0"/>
          </a:p>
          <a:p>
            <a:pPr lvl="1"/>
            <a:endParaRPr lang="en-US" altLang="zh-CN" sz="2000" dirty="0"/>
          </a:p>
          <a:p>
            <a:pPr lvl="2">
              <a:buFont typeface="Wingdings" panose="05000000000000000000" pitchFamily="2" charset="2"/>
              <a:buChar char="ü"/>
            </a:pPr>
            <a:r>
              <a:rPr lang="zh-CN" altLang="en-US" dirty="0"/>
              <a:t>对于波罗的海（</a:t>
            </a:r>
            <a:r>
              <a:rPr lang="en-US" altLang="zh-CN" dirty="0"/>
              <a:t>Baltic sea</a:t>
            </a:r>
            <a:r>
              <a:rPr lang="zh-CN" altLang="en-US" dirty="0"/>
              <a:t>），回滴的</a:t>
            </a:r>
            <a:r>
              <a:rPr lang="en-US" altLang="zh-CN" dirty="0"/>
              <a:t>pH</a:t>
            </a:r>
            <a:r>
              <a:rPr lang="zh-CN" altLang="en-US" dirty="0"/>
              <a:t>为</a:t>
            </a:r>
            <a:r>
              <a:rPr lang="en-US" altLang="zh-CN" dirty="0"/>
              <a:t>6.6</a:t>
            </a:r>
          </a:p>
          <a:p>
            <a:pPr lvl="2">
              <a:buFont typeface="Wingdings" panose="05000000000000000000" pitchFamily="2" charset="2"/>
              <a:buChar char="ü"/>
            </a:pPr>
            <a:r>
              <a:rPr lang="zh-CN" altLang="en-US" dirty="0"/>
              <a:t>可以用溴百里酚蓝作为指示剂 </a:t>
            </a:r>
            <a:r>
              <a:rPr lang="en-US" altLang="zh-CN" dirty="0"/>
              <a:t>pH6.0</a:t>
            </a:r>
            <a:r>
              <a:rPr lang="zh-CN" altLang="en-US" dirty="0"/>
              <a:t>（黄）</a:t>
            </a:r>
            <a:r>
              <a:rPr lang="en-US" altLang="zh-CN" dirty="0"/>
              <a:t>~7.6</a:t>
            </a:r>
            <a:r>
              <a:rPr lang="zh-CN" altLang="en-US" dirty="0"/>
              <a:t>（蓝）</a:t>
            </a:r>
            <a:endParaRPr lang="en-US" altLang="zh-CN" dirty="0"/>
          </a:p>
          <a:p>
            <a:endParaRPr lang="en-US" altLang="zh-CN" dirty="0"/>
          </a:p>
          <a:p>
            <a:pPr lvl="1">
              <a:buNone/>
            </a:pPr>
            <a:endParaRPr lang="zh-CN" altLang="en-US" dirty="0"/>
          </a:p>
        </p:txBody>
      </p:sp>
      <p:pic>
        <p:nvPicPr>
          <p:cNvPr id="105475" name="Picture 3" descr="E:\课程\课件\课程图片\硼酸滴定终点.png"/>
          <p:cNvPicPr>
            <a:picLocks noChangeAspect="1" noChangeArrowheads="1"/>
          </p:cNvPicPr>
          <p:nvPr/>
        </p:nvPicPr>
        <p:blipFill>
          <a:blip r:embed="rId2" cstate="print"/>
          <a:srcRect/>
          <a:stretch>
            <a:fillRect/>
          </a:stretch>
        </p:blipFill>
        <p:spPr bwMode="auto">
          <a:xfrm>
            <a:off x="1285852" y="2167720"/>
            <a:ext cx="5734420" cy="1541511"/>
          </a:xfrm>
          <a:prstGeom prst="rect">
            <a:avLst/>
          </a:prstGeom>
          <a:noFill/>
        </p:spPr>
      </p:pic>
      <p:pic>
        <p:nvPicPr>
          <p:cNvPr id="105476" name="Picture 4" descr="E:\课程\课件\课程图片\指示剂.png"/>
          <p:cNvPicPr>
            <a:picLocks noChangeAspect="1" noChangeArrowheads="1"/>
          </p:cNvPicPr>
          <p:nvPr/>
        </p:nvPicPr>
        <p:blipFill>
          <a:blip r:embed="rId3" cstate="print"/>
          <a:srcRect/>
          <a:stretch>
            <a:fillRect/>
          </a:stretch>
        </p:blipFill>
        <p:spPr bwMode="auto">
          <a:xfrm>
            <a:off x="1475656" y="3709231"/>
            <a:ext cx="5985963" cy="794133"/>
          </a:xfrm>
          <a:prstGeom prst="rect">
            <a:avLst/>
          </a:prstGeom>
          <a:noFill/>
        </p:spPr>
      </p:pic>
      <p:pic>
        <p:nvPicPr>
          <p:cNvPr id="105477" name="Picture 5" descr="E:\课程\课件\课程图片\1.png"/>
          <p:cNvPicPr>
            <a:picLocks noChangeAspect="1" noChangeArrowheads="1"/>
          </p:cNvPicPr>
          <p:nvPr/>
        </p:nvPicPr>
        <p:blipFill>
          <a:blip r:embed="rId4" cstate="print"/>
          <a:srcRect/>
          <a:stretch>
            <a:fillRect/>
          </a:stretch>
        </p:blipFill>
        <p:spPr bwMode="auto">
          <a:xfrm>
            <a:off x="1229328" y="5437900"/>
            <a:ext cx="5256584" cy="882942"/>
          </a:xfrm>
          <a:prstGeom prst="rect">
            <a:avLst/>
          </a:prstGeom>
          <a:noFill/>
        </p:spPr>
      </p:pic>
      <p:sp>
        <p:nvSpPr>
          <p:cNvPr id="9" name="标题 4">
            <a:extLst>
              <a:ext uri="{FF2B5EF4-FFF2-40B4-BE49-F238E27FC236}">
                <a16:creationId xmlns:a16="http://schemas.microsoft.com/office/drawing/2014/main" id="{D71DB03A-5648-4B41-BC8F-489B3EF13A71}"/>
              </a:ext>
            </a:extLst>
          </p:cNvPr>
          <p:cNvSpPr txBox="1">
            <a:spLocks/>
          </p:cNvSpPr>
          <p:nvPr/>
        </p:nvSpPr>
        <p:spPr bwMode="auto">
          <a:xfrm>
            <a:off x="1535886" y="327934"/>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a:solidFill>
                  <a:schemeClr val="bg2">
                    <a:lumMod val="25000"/>
                  </a:schemeClr>
                </a:solidFill>
                <a:latin typeface="华文新魏" pitchFamily="2" charset="-122"/>
                <a:ea typeface="华文新魏" pitchFamily="2" charset="-122"/>
              </a:rPr>
              <a:t>第九章 海水中的</a:t>
            </a:r>
            <a:r>
              <a:rPr lang="en-US" altLang="zh-CN" sz="3200" b="1" kern="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1470508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75"/>
                                        </p:tgtEl>
                                        <p:attrNameLst>
                                          <p:attrName>style.visibility</p:attrName>
                                        </p:attrNameLst>
                                      </p:cBhvr>
                                      <p:to>
                                        <p:strVal val="visible"/>
                                      </p:to>
                                    </p:set>
                                    <p:anim calcmode="lin" valueType="num">
                                      <p:cBhvr additive="base">
                                        <p:cTn id="7" dur="500" fill="hold"/>
                                        <p:tgtEl>
                                          <p:spTgt spid="105475"/>
                                        </p:tgtEl>
                                        <p:attrNameLst>
                                          <p:attrName>ppt_x</p:attrName>
                                        </p:attrNameLst>
                                      </p:cBhvr>
                                      <p:tavLst>
                                        <p:tav tm="0">
                                          <p:val>
                                            <p:strVal val="#ppt_x"/>
                                          </p:val>
                                        </p:tav>
                                        <p:tav tm="100000">
                                          <p:val>
                                            <p:strVal val="#ppt_x"/>
                                          </p:val>
                                        </p:tav>
                                      </p:tavLst>
                                    </p:anim>
                                    <p:anim calcmode="lin" valueType="num">
                                      <p:cBhvr additive="base">
                                        <p:cTn id="8" dur="500" fill="hold"/>
                                        <p:tgtEl>
                                          <p:spTgt spid="1054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5476"/>
                                        </p:tgtEl>
                                        <p:attrNameLst>
                                          <p:attrName>style.visibility</p:attrName>
                                        </p:attrNameLst>
                                      </p:cBhvr>
                                      <p:to>
                                        <p:strVal val="visible"/>
                                      </p:to>
                                    </p:set>
                                    <p:anim calcmode="lin" valueType="num">
                                      <p:cBhvr additive="base">
                                        <p:cTn id="13" dur="500" fill="hold"/>
                                        <p:tgtEl>
                                          <p:spTgt spid="105476"/>
                                        </p:tgtEl>
                                        <p:attrNameLst>
                                          <p:attrName>ppt_x</p:attrName>
                                        </p:attrNameLst>
                                      </p:cBhvr>
                                      <p:tavLst>
                                        <p:tav tm="0">
                                          <p:val>
                                            <p:strVal val="#ppt_x"/>
                                          </p:val>
                                        </p:tav>
                                        <p:tav tm="100000">
                                          <p:val>
                                            <p:strVal val="#ppt_x"/>
                                          </p:val>
                                        </p:tav>
                                      </p:tavLst>
                                    </p:anim>
                                    <p:anim calcmode="lin" valueType="num">
                                      <p:cBhvr additive="base">
                                        <p:cTn id="14" dur="500" fill="hold"/>
                                        <p:tgtEl>
                                          <p:spTgt spid="10547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5477"/>
                                        </p:tgtEl>
                                        <p:attrNameLst>
                                          <p:attrName>style.visibility</p:attrName>
                                        </p:attrNameLst>
                                      </p:cBhvr>
                                      <p:to>
                                        <p:strVal val="visible"/>
                                      </p:to>
                                    </p:set>
                                    <p:anim calcmode="lin" valueType="num">
                                      <p:cBhvr additive="base">
                                        <p:cTn id="19" dur="500" fill="hold"/>
                                        <p:tgtEl>
                                          <p:spTgt spid="105477"/>
                                        </p:tgtEl>
                                        <p:attrNameLst>
                                          <p:attrName>ppt_x</p:attrName>
                                        </p:attrNameLst>
                                      </p:cBhvr>
                                      <p:tavLst>
                                        <p:tav tm="0">
                                          <p:val>
                                            <p:strVal val="#ppt_x"/>
                                          </p:val>
                                        </p:tav>
                                        <p:tav tm="100000">
                                          <p:val>
                                            <p:strVal val="#ppt_x"/>
                                          </p:val>
                                        </p:tav>
                                      </p:tavLst>
                                    </p:anim>
                                    <p:anim calcmode="lin" valueType="num">
                                      <p:cBhvr additive="base">
                                        <p:cTn id="20" dur="500" fill="hold"/>
                                        <p:tgtEl>
                                          <p:spTgt spid="1054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回滴法步骤</a:t>
            </a:r>
          </a:p>
        </p:txBody>
      </p:sp>
      <p:sp>
        <p:nvSpPr>
          <p:cNvPr id="3" name="文本框 2">
            <a:extLst>
              <a:ext uri="{FF2B5EF4-FFF2-40B4-BE49-F238E27FC236}">
                <a16:creationId xmlns:a16="http://schemas.microsoft.com/office/drawing/2014/main" id="{94C218EF-90B2-4110-9DA8-65C85F9619EC}"/>
              </a:ext>
            </a:extLst>
          </p:cNvPr>
          <p:cNvSpPr txBox="1"/>
          <p:nvPr/>
        </p:nvSpPr>
        <p:spPr>
          <a:xfrm>
            <a:off x="1101788" y="1295398"/>
            <a:ext cx="1872208"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t>试剂</a:t>
            </a:r>
          </a:p>
        </p:txBody>
      </p:sp>
      <p:sp>
        <p:nvSpPr>
          <p:cNvPr id="5" name="文本框 4">
            <a:extLst>
              <a:ext uri="{FF2B5EF4-FFF2-40B4-BE49-F238E27FC236}">
                <a16:creationId xmlns:a16="http://schemas.microsoft.com/office/drawing/2014/main" id="{35694AE6-4654-42B6-BEB0-60D20849E5D8}"/>
              </a:ext>
            </a:extLst>
          </p:cNvPr>
          <p:cNvSpPr txBox="1"/>
          <p:nvPr/>
        </p:nvSpPr>
        <p:spPr>
          <a:xfrm>
            <a:off x="1101788" y="3763251"/>
            <a:ext cx="1872208"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t>计算</a:t>
            </a:r>
          </a:p>
        </p:txBody>
      </p:sp>
      <p:pic>
        <p:nvPicPr>
          <p:cNvPr id="6" name="图片 5">
            <a:extLst>
              <a:ext uri="{FF2B5EF4-FFF2-40B4-BE49-F238E27FC236}">
                <a16:creationId xmlns:a16="http://schemas.microsoft.com/office/drawing/2014/main" id="{F2AE36A2-C558-4045-90CD-BEB3FB4B8A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1757063"/>
            <a:ext cx="6768752" cy="1876666"/>
          </a:xfrm>
          <a:prstGeom prst="rect">
            <a:avLst/>
          </a:prstGeom>
        </p:spPr>
      </p:pic>
      <p:pic>
        <p:nvPicPr>
          <p:cNvPr id="8" name="图片 7">
            <a:extLst>
              <a:ext uri="{FF2B5EF4-FFF2-40B4-BE49-F238E27FC236}">
                <a16:creationId xmlns:a16="http://schemas.microsoft.com/office/drawing/2014/main" id="{C6D1A6F8-6B04-490F-A468-6F1D983FE9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300" y="4390830"/>
            <a:ext cx="7810500" cy="1857375"/>
          </a:xfrm>
          <a:prstGeom prst="rect">
            <a:avLst/>
          </a:prstGeom>
        </p:spPr>
      </p:pic>
    </p:spTree>
    <p:extLst>
      <p:ext uri="{BB962C8B-B14F-4D97-AF65-F5344CB8AC3E}">
        <p14:creationId xmlns:p14="http://schemas.microsoft.com/office/powerpoint/2010/main" val="4125983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4">
            <a:extLst>
              <a:ext uri="{FF2B5EF4-FFF2-40B4-BE49-F238E27FC236}">
                <a16:creationId xmlns:a16="http://schemas.microsoft.com/office/drawing/2014/main" id="{3749ADEC-1691-4F6B-8EDA-9E2676830C00}"/>
              </a:ext>
            </a:extLst>
          </p:cNvPr>
          <p:cNvSpPr txBox="1">
            <a:spLocks/>
          </p:cNvSpPr>
          <p:nvPr/>
        </p:nvSpPr>
        <p:spPr bwMode="auto">
          <a:xfrm>
            <a:off x="1535886" y="327934"/>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a:solidFill>
                  <a:schemeClr val="bg2">
                    <a:lumMod val="25000"/>
                  </a:schemeClr>
                </a:solidFill>
                <a:latin typeface="华文新魏" pitchFamily="2" charset="-122"/>
                <a:ea typeface="华文新魏" pitchFamily="2" charset="-122"/>
              </a:rPr>
              <a:t>第九章 海水中的</a:t>
            </a:r>
            <a:r>
              <a:rPr lang="en-US" altLang="zh-CN" sz="3200" b="1" kern="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
        <p:nvSpPr>
          <p:cNvPr id="3" name="内容占位符 2">
            <a:extLst>
              <a:ext uri="{FF2B5EF4-FFF2-40B4-BE49-F238E27FC236}">
                <a16:creationId xmlns:a16="http://schemas.microsoft.com/office/drawing/2014/main" id="{234CDE79-ABF5-4054-A5C2-A9A258DB8806}"/>
              </a:ext>
            </a:extLst>
          </p:cNvPr>
          <p:cNvSpPr>
            <a:spLocks noGrp="1"/>
          </p:cNvSpPr>
          <p:nvPr>
            <p:ph idx="1"/>
          </p:nvPr>
        </p:nvSpPr>
        <p:spPr>
          <a:xfrm>
            <a:off x="457200" y="1484785"/>
            <a:ext cx="8229600" cy="584776"/>
          </a:xfrm>
        </p:spPr>
        <p:txBody>
          <a:bodyPr/>
          <a:lstStyle/>
          <a:p>
            <a:pPr marL="514350" indent="-514350">
              <a:buFont typeface="+mj-lt"/>
              <a:buAutoNum type="alphaUcPeriod" startAt="3"/>
            </a:pPr>
            <a:r>
              <a:rPr lang="zh-CN" altLang="en-US" dirty="0"/>
              <a:t>电导测定法</a:t>
            </a:r>
          </a:p>
        </p:txBody>
      </p:sp>
      <p:pic>
        <p:nvPicPr>
          <p:cNvPr id="5" name="图片 4">
            <a:extLst>
              <a:ext uri="{FF2B5EF4-FFF2-40B4-BE49-F238E27FC236}">
                <a16:creationId xmlns:a16="http://schemas.microsoft.com/office/drawing/2014/main" id="{195ADA64-7EC2-40DA-8721-394DF4908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988840"/>
            <a:ext cx="7054602" cy="3976067"/>
          </a:xfrm>
          <a:prstGeom prst="rect">
            <a:avLst/>
          </a:prstGeom>
        </p:spPr>
      </p:pic>
    </p:spTree>
    <p:extLst>
      <p:ext uri="{BB962C8B-B14F-4D97-AF65-F5344CB8AC3E}">
        <p14:creationId xmlns:p14="http://schemas.microsoft.com/office/powerpoint/2010/main" val="455721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1285860"/>
            <a:ext cx="8329642" cy="5143536"/>
          </a:xfrm>
        </p:spPr>
        <p:txBody>
          <a:bodyPr/>
          <a:lstStyle/>
          <a:p>
            <a:pPr marL="514350" indent="-514350">
              <a:buFont typeface="+mj-lt"/>
              <a:buAutoNum type="alphaUcPeriod" startAt="4"/>
            </a:pPr>
            <a:r>
              <a:rPr lang="zh-CN" altLang="en-US" dirty="0"/>
              <a:t>电位滴定法</a:t>
            </a:r>
            <a:r>
              <a:rPr lang="zh-CN" altLang="en-US" sz="2400" dirty="0"/>
              <a:t>（</a:t>
            </a:r>
            <a:r>
              <a:rPr lang="en-US" altLang="zh-CN" sz="2400" dirty="0"/>
              <a:t>Gran</a:t>
            </a:r>
            <a:r>
              <a:rPr lang="zh-CN" altLang="en-US" sz="2400" dirty="0"/>
              <a:t>滴定法）</a:t>
            </a:r>
            <a:endParaRPr lang="en-US" altLang="zh-CN" dirty="0"/>
          </a:p>
          <a:p>
            <a:pPr lvl="1">
              <a:buFont typeface="Arial" panose="020B0604020202020204" pitchFamily="34" charset="0"/>
              <a:buChar char="•"/>
            </a:pPr>
            <a:r>
              <a:rPr lang="zh-CN" altLang="en-US" dirty="0"/>
              <a:t>应用最广泛，精度最高</a:t>
            </a:r>
            <a:endParaRPr lang="en-US" altLang="zh-CN" dirty="0"/>
          </a:p>
          <a:p>
            <a:pPr lvl="1">
              <a:buFont typeface="Arial" panose="020B0604020202020204" pitchFamily="34" charset="0"/>
              <a:buChar char="•"/>
            </a:pPr>
            <a:r>
              <a:rPr lang="zh-CN" altLang="en-US" dirty="0"/>
              <a:t>原理：</a:t>
            </a:r>
            <a:endParaRPr lang="en-US" altLang="zh-CN" dirty="0"/>
          </a:p>
          <a:p>
            <a:pPr lvl="2">
              <a:buFont typeface="Wingdings" pitchFamily="2" charset="2"/>
              <a:buChar char="Ø"/>
            </a:pPr>
            <a:r>
              <a:rPr lang="zh-CN" altLang="en-US" dirty="0"/>
              <a:t>用标准</a:t>
            </a:r>
            <a:r>
              <a:rPr lang="en-US" altLang="zh-CN" dirty="0"/>
              <a:t>HCl</a:t>
            </a:r>
            <a:r>
              <a:rPr lang="zh-CN" altLang="en-US" dirty="0"/>
              <a:t>滴定海水样品，测量点位变化</a:t>
            </a:r>
            <a:endParaRPr lang="en-US" altLang="zh-CN" dirty="0"/>
          </a:p>
          <a:p>
            <a:pPr lvl="2">
              <a:buFont typeface="Wingdings" pitchFamily="2" charset="2"/>
              <a:buChar char="Ø"/>
            </a:pPr>
            <a:r>
              <a:rPr lang="zh-CN" altLang="en-US" dirty="0"/>
              <a:t>强酸滴定弱酸盐：滴定终点呈弱酸性（</a:t>
            </a:r>
            <a:r>
              <a:rPr lang="en-US" altLang="zh-CN" dirty="0"/>
              <a:t>pH</a:t>
            </a:r>
            <a:r>
              <a:rPr lang="zh-CN" altLang="en-US" dirty="0"/>
              <a:t>约</a:t>
            </a:r>
            <a:r>
              <a:rPr lang="en-US" altLang="zh-CN" dirty="0"/>
              <a:t>4.5</a:t>
            </a:r>
            <a:r>
              <a:rPr lang="zh-CN" altLang="en-US" dirty="0"/>
              <a:t>）</a:t>
            </a:r>
            <a:endParaRPr lang="en-US" altLang="zh-CN" dirty="0"/>
          </a:p>
          <a:p>
            <a:pPr lvl="2">
              <a:buFont typeface="Wingdings" pitchFamily="2" charset="2"/>
              <a:buChar char="Ø"/>
            </a:pPr>
            <a:r>
              <a:rPr lang="en-US" altLang="zh-CN" dirty="0"/>
              <a:t> </a:t>
            </a:r>
            <a:r>
              <a:rPr lang="zh-CN" altLang="en-US" dirty="0"/>
              <a:t>此类滴定，用指示剂确定终点不太准确，可用电位滴定法准确判断终点</a:t>
            </a:r>
            <a:endParaRPr lang="en-US" altLang="zh-CN" dirty="0"/>
          </a:p>
          <a:p>
            <a:pPr lvl="2">
              <a:buFont typeface="Wingdings" pitchFamily="2" charset="2"/>
              <a:buChar char="Ø"/>
            </a:pPr>
            <a:r>
              <a:rPr lang="zh-CN" altLang="en-US" dirty="0"/>
              <a:t>终点的判断方式由</a:t>
            </a:r>
            <a:r>
              <a:rPr lang="en-US" altLang="zh-CN" dirty="0"/>
              <a:t>Gran</a:t>
            </a:r>
            <a:r>
              <a:rPr lang="zh-CN" altLang="en-US" dirty="0"/>
              <a:t>提出，通过数学计算判断终点</a:t>
            </a:r>
            <a:endParaRPr lang="en-US" altLang="zh-CN" dirty="0"/>
          </a:p>
          <a:p>
            <a:pPr lvl="1">
              <a:buFont typeface="Arial" panose="020B0604020202020204" pitchFamily="34" charset="0"/>
              <a:buChar char="•"/>
            </a:pPr>
            <a:r>
              <a:rPr lang="en-US" altLang="zh-CN" dirty="0"/>
              <a:t>Gran</a:t>
            </a:r>
            <a:r>
              <a:rPr lang="zh-CN" altLang="en-US" dirty="0"/>
              <a:t>滴定法可以同时测</a:t>
            </a:r>
            <a:r>
              <a:rPr lang="en-US" altLang="zh-CN" dirty="0"/>
              <a:t>DIC</a:t>
            </a:r>
            <a:r>
              <a:rPr lang="zh-CN" altLang="en-US" dirty="0"/>
              <a:t>和</a:t>
            </a:r>
            <a:r>
              <a:rPr lang="en-US" altLang="zh-CN" dirty="0"/>
              <a:t>TA</a:t>
            </a:r>
            <a:r>
              <a:rPr lang="zh-CN" altLang="en-US" dirty="0"/>
              <a:t>，只要能精确定位</a:t>
            </a:r>
            <a:r>
              <a:rPr lang="en-US" altLang="zh-CN" dirty="0"/>
              <a:t>V</a:t>
            </a:r>
            <a:r>
              <a:rPr lang="en-US" altLang="zh-CN" baseline="-25000" dirty="0"/>
              <a:t>1</a:t>
            </a:r>
            <a:r>
              <a:rPr lang="zh-CN" altLang="en-US" dirty="0"/>
              <a:t>和</a:t>
            </a:r>
            <a:r>
              <a:rPr lang="en-US" altLang="zh-CN" dirty="0"/>
              <a:t>V</a:t>
            </a:r>
            <a:r>
              <a:rPr lang="en-US" altLang="zh-CN" baseline="-25000" dirty="0"/>
              <a:t>2</a:t>
            </a:r>
            <a:r>
              <a:rPr lang="zh-CN" altLang="en-US" dirty="0"/>
              <a:t>。</a:t>
            </a:r>
            <a:endParaRPr lang="en-US" altLang="zh-CN" dirty="0"/>
          </a:p>
          <a:p>
            <a:pPr>
              <a:buFont typeface="Wingdings" pitchFamily="2" charset="2"/>
              <a:buChar char="Ø"/>
            </a:pPr>
            <a:endParaRPr lang="en-US" altLang="zh-CN" dirty="0"/>
          </a:p>
          <a:p>
            <a:pPr>
              <a:buNone/>
            </a:pPr>
            <a:endParaRPr lang="zh-CN" altLang="en-US" dirty="0"/>
          </a:p>
        </p:txBody>
      </p:sp>
      <p:pic>
        <p:nvPicPr>
          <p:cNvPr id="8" name="图片 7">
            <a:extLst>
              <a:ext uri="{FF2B5EF4-FFF2-40B4-BE49-F238E27FC236}">
                <a16:creationId xmlns:a16="http://schemas.microsoft.com/office/drawing/2014/main" id="{3A81F439-D694-46DB-B128-309715A1F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5229200"/>
            <a:ext cx="5753100" cy="1428750"/>
          </a:xfrm>
          <a:prstGeom prst="rect">
            <a:avLst/>
          </a:prstGeom>
        </p:spPr>
      </p:pic>
      <p:sp>
        <p:nvSpPr>
          <p:cNvPr id="7" name="标题 4">
            <a:extLst>
              <a:ext uri="{FF2B5EF4-FFF2-40B4-BE49-F238E27FC236}">
                <a16:creationId xmlns:a16="http://schemas.microsoft.com/office/drawing/2014/main" id="{74E89EA0-EDC9-44B0-88BC-775CD97594B4}"/>
              </a:ext>
            </a:extLst>
          </p:cNvPr>
          <p:cNvSpPr txBox="1">
            <a:spLocks/>
          </p:cNvSpPr>
          <p:nvPr/>
        </p:nvSpPr>
        <p:spPr bwMode="auto">
          <a:xfrm>
            <a:off x="1535886" y="327934"/>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a:solidFill>
                  <a:schemeClr val="bg2">
                    <a:lumMod val="25000"/>
                  </a:schemeClr>
                </a:solidFill>
                <a:latin typeface="华文新魏" pitchFamily="2" charset="-122"/>
                <a:ea typeface="华文新魏" pitchFamily="2" charset="-122"/>
              </a:rPr>
              <a:t>第九章 海水中的</a:t>
            </a:r>
            <a:r>
              <a:rPr lang="en-US" altLang="zh-CN" sz="3200" b="1" kern="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94682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ppt_x"/>
                                          </p:val>
                                        </p:tav>
                                        <p:tav tm="100000">
                                          <p:val>
                                            <p:strVal val="#ppt_x"/>
                                          </p:val>
                                        </p:tav>
                                      </p:tavLst>
                                    </p:anim>
                                    <p:anim calcmode="lin" valueType="num">
                                      <p:cBhvr additive="base">
                                        <p:cTn id="3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1196752"/>
            <a:ext cx="8329642" cy="4643659"/>
          </a:xfrm>
        </p:spPr>
        <p:txBody>
          <a:bodyPr/>
          <a:lstStyle/>
          <a:p>
            <a:pPr marL="514350" indent="-514350">
              <a:buFont typeface="+mj-lt"/>
              <a:buAutoNum type="alphaUcPeriod" startAt="4"/>
            </a:pPr>
            <a:r>
              <a:rPr lang="zh-CN" altLang="en-US" dirty="0"/>
              <a:t>电位滴定法（</a:t>
            </a:r>
            <a:r>
              <a:rPr lang="en-US" altLang="zh-CN" dirty="0"/>
              <a:t>Gran</a:t>
            </a:r>
            <a:r>
              <a:rPr lang="zh-CN" altLang="en-US" dirty="0"/>
              <a:t>滴定法）</a:t>
            </a:r>
            <a:endParaRPr lang="en-US" altLang="zh-CN" dirty="0"/>
          </a:p>
        </p:txBody>
      </p:sp>
      <p:sp>
        <p:nvSpPr>
          <p:cNvPr id="2" name="矩形 1">
            <a:extLst>
              <a:ext uri="{FF2B5EF4-FFF2-40B4-BE49-F238E27FC236}">
                <a16:creationId xmlns:a16="http://schemas.microsoft.com/office/drawing/2014/main" id="{9D486F9D-4C7B-42B9-BB13-C789E921B0A2}"/>
              </a:ext>
            </a:extLst>
          </p:cNvPr>
          <p:cNvSpPr/>
          <p:nvPr/>
        </p:nvSpPr>
        <p:spPr>
          <a:xfrm>
            <a:off x="382659" y="1772816"/>
            <a:ext cx="7992888" cy="707886"/>
          </a:xfrm>
          <a:prstGeom prst="rect">
            <a:avLst/>
          </a:prstGeom>
        </p:spPr>
        <p:txBody>
          <a:bodyPr wrap="square">
            <a:spAutoFit/>
          </a:bodyPr>
          <a:lstStyle/>
          <a:p>
            <a:pPr lvl="1">
              <a:buFont typeface="Arial" panose="020B0604020202020204" pitchFamily="34" charset="0"/>
              <a:buChar char="•"/>
            </a:pPr>
            <a:r>
              <a:rPr lang="zh-CN" altLang="en-US" sz="2000" dirty="0"/>
              <a:t> 其中</a:t>
            </a:r>
            <a:r>
              <a:rPr lang="en-US" altLang="zh-CN" sz="2000" dirty="0"/>
              <a:t>V</a:t>
            </a:r>
            <a:r>
              <a:rPr lang="en-US" altLang="zh-CN" sz="2000" baseline="-25000" dirty="0"/>
              <a:t>2</a:t>
            </a:r>
            <a:r>
              <a:rPr lang="zh-CN" altLang="en-US" sz="2000" dirty="0"/>
              <a:t>等当点的确认主要依据滴加</a:t>
            </a:r>
            <a:r>
              <a:rPr lang="en-US" altLang="zh-CN" sz="2000" dirty="0"/>
              <a:t>HCl</a:t>
            </a:r>
            <a:r>
              <a:rPr lang="zh-CN" altLang="en-US" sz="2000" dirty="0"/>
              <a:t>超过等当点</a:t>
            </a:r>
            <a:r>
              <a:rPr lang="en-US" altLang="zh-CN" sz="2000" dirty="0"/>
              <a:t>V</a:t>
            </a:r>
            <a:r>
              <a:rPr lang="en-US" altLang="zh-CN" sz="2000" baseline="-25000" dirty="0"/>
              <a:t>2</a:t>
            </a:r>
            <a:r>
              <a:rPr lang="zh-CN" altLang="en-US" sz="2000" dirty="0"/>
              <a:t>时，溶液</a:t>
            </a:r>
            <a:r>
              <a:rPr lang="en-US" altLang="zh-CN" sz="2000" dirty="0"/>
              <a:t>pH</a:t>
            </a:r>
            <a:r>
              <a:rPr lang="zh-CN" altLang="en-US" sz="2000" dirty="0"/>
              <a:t>值的变化在一定范围内与滴加的</a:t>
            </a:r>
            <a:r>
              <a:rPr lang="en-US" altLang="zh-CN" sz="2000" dirty="0"/>
              <a:t>HCl</a:t>
            </a:r>
            <a:r>
              <a:rPr lang="zh-CN" altLang="en-US" sz="2000" dirty="0"/>
              <a:t>体积成线性关系的特点。</a:t>
            </a:r>
            <a:endParaRPr lang="en-US" altLang="zh-CN" sz="2000" dirty="0"/>
          </a:p>
        </p:txBody>
      </p:sp>
      <p:pic>
        <p:nvPicPr>
          <p:cNvPr id="8" name="图片 7">
            <a:extLst>
              <a:ext uri="{FF2B5EF4-FFF2-40B4-BE49-F238E27FC236}">
                <a16:creationId xmlns:a16="http://schemas.microsoft.com/office/drawing/2014/main" id="{C0153E6A-8384-4E4D-AC92-F844798CB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53" y="2468482"/>
            <a:ext cx="7607094" cy="4038474"/>
          </a:xfrm>
          <a:prstGeom prst="rect">
            <a:avLst/>
          </a:prstGeom>
        </p:spPr>
      </p:pic>
      <p:sp>
        <p:nvSpPr>
          <p:cNvPr id="9" name="标题 4">
            <a:extLst>
              <a:ext uri="{FF2B5EF4-FFF2-40B4-BE49-F238E27FC236}">
                <a16:creationId xmlns:a16="http://schemas.microsoft.com/office/drawing/2014/main" id="{E2105AA1-BC8E-47C0-9B5C-85B7100A471E}"/>
              </a:ext>
            </a:extLst>
          </p:cNvPr>
          <p:cNvSpPr txBox="1">
            <a:spLocks/>
          </p:cNvSpPr>
          <p:nvPr/>
        </p:nvSpPr>
        <p:spPr bwMode="auto">
          <a:xfrm>
            <a:off x="1535886" y="327934"/>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a:solidFill>
                  <a:schemeClr val="bg2">
                    <a:lumMod val="25000"/>
                  </a:schemeClr>
                </a:solidFill>
                <a:latin typeface="华文新魏" pitchFamily="2" charset="-122"/>
                <a:ea typeface="华文新魏" pitchFamily="2" charset="-122"/>
              </a:rPr>
              <a:t>第九章 海水中的</a:t>
            </a:r>
            <a:r>
              <a:rPr lang="en-US" altLang="zh-CN" sz="3200" b="1" kern="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438078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1268760"/>
            <a:ext cx="8329642" cy="4571651"/>
          </a:xfrm>
        </p:spPr>
        <p:txBody>
          <a:bodyPr/>
          <a:lstStyle/>
          <a:p>
            <a:pPr marL="514350" indent="-514350">
              <a:buFont typeface="+mj-lt"/>
              <a:buAutoNum type="alphaUcPeriod" startAt="4"/>
            </a:pPr>
            <a:r>
              <a:rPr lang="zh-CN" altLang="en-US" dirty="0"/>
              <a:t>电位滴定法（</a:t>
            </a:r>
            <a:r>
              <a:rPr lang="en-US" altLang="zh-CN" dirty="0"/>
              <a:t>Gran</a:t>
            </a:r>
            <a:r>
              <a:rPr lang="zh-CN" altLang="en-US" dirty="0"/>
              <a:t>滴定法）</a:t>
            </a:r>
            <a:endParaRPr lang="en-US" altLang="zh-CN" dirty="0"/>
          </a:p>
        </p:txBody>
      </p:sp>
      <p:pic>
        <p:nvPicPr>
          <p:cNvPr id="102403" name="Picture 3" descr="E:\课程\课件\课程图片\0.png"/>
          <p:cNvPicPr>
            <a:picLocks noChangeAspect="1" noChangeArrowheads="1"/>
          </p:cNvPicPr>
          <p:nvPr/>
        </p:nvPicPr>
        <p:blipFill>
          <a:blip r:embed="rId2" cstate="print"/>
          <a:srcRect/>
          <a:stretch>
            <a:fillRect/>
          </a:stretch>
        </p:blipFill>
        <p:spPr bwMode="auto">
          <a:xfrm>
            <a:off x="683568" y="2389221"/>
            <a:ext cx="6861374" cy="3650331"/>
          </a:xfrm>
          <a:prstGeom prst="rect">
            <a:avLst/>
          </a:prstGeom>
          <a:noFill/>
        </p:spPr>
      </p:pic>
      <p:sp>
        <p:nvSpPr>
          <p:cNvPr id="6" name="TextBox 5"/>
          <p:cNvSpPr txBox="1"/>
          <p:nvPr/>
        </p:nvSpPr>
        <p:spPr>
          <a:xfrm>
            <a:off x="1599058" y="5883049"/>
            <a:ext cx="6048672" cy="369332"/>
          </a:xfrm>
          <a:prstGeom prst="rect">
            <a:avLst/>
          </a:prstGeom>
          <a:noFill/>
        </p:spPr>
        <p:txBody>
          <a:bodyPr wrap="square" rtlCol="0">
            <a:spAutoFit/>
          </a:bodyPr>
          <a:lstStyle/>
          <a:p>
            <a:r>
              <a:rPr lang="en-US" altLang="zh-CN" dirty="0"/>
              <a:t>C</a:t>
            </a:r>
            <a:r>
              <a:rPr lang="en-US" altLang="zh-CN" baseline="-25000" dirty="0"/>
              <a:t>A</a:t>
            </a:r>
            <a:r>
              <a:rPr lang="zh-CN" altLang="en-US" dirty="0"/>
              <a:t>：滴定用盐酸的浓度，</a:t>
            </a:r>
            <a:r>
              <a:rPr lang="en-US" altLang="zh-CN" dirty="0"/>
              <a:t>C</a:t>
            </a:r>
            <a:r>
              <a:rPr lang="en-US" altLang="zh-CN" baseline="-25000" dirty="0"/>
              <a:t>B</a:t>
            </a:r>
            <a:r>
              <a:rPr lang="zh-CN" altLang="en-US" dirty="0"/>
              <a:t>：海水的碱度</a:t>
            </a:r>
          </a:p>
        </p:txBody>
      </p:sp>
      <p:sp>
        <p:nvSpPr>
          <p:cNvPr id="2" name="矩形 1">
            <a:extLst>
              <a:ext uri="{FF2B5EF4-FFF2-40B4-BE49-F238E27FC236}">
                <a16:creationId xmlns:a16="http://schemas.microsoft.com/office/drawing/2014/main" id="{9D486F9D-4C7B-42B9-BB13-C789E921B0A2}"/>
              </a:ext>
            </a:extLst>
          </p:cNvPr>
          <p:cNvSpPr/>
          <p:nvPr/>
        </p:nvSpPr>
        <p:spPr>
          <a:xfrm>
            <a:off x="382659" y="1772816"/>
            <a:ext cx="7992888" cy="707886"/>
          </a:xfrm>
          <a:prstGeom prst="rect">
            <a:avLst/>
          </a:prstGeom>
        </p:spPr>
        <p:txBody>
          <a:bodyPr wrap="square">
            <a:spAutoFit/>
          </a:bodyPr>
          <a:lstStyle/>
          <a:p>
            <a:pPr lvl="1">
              <a:buFont typeface="Arial" panose="020B0604020202020204" pitchFamily="34" charset="0"/>
              <a:buChar char="•"/>
            </a:pPr>
            <a:r>
              <a:rPr lang="zh-CN" altLang="en-US" sz="2000" dirty="0"/>
              <a:t> 其中</a:t>
            </a:r>
            <a:r>
              <a:rPr lang="en-US" altLang="zh-CN" sz="2000" dirty="0"/>
              <a:t>V</a:t>
            </a:r>
            <a:r>
              <a:rPr lang="en-US" altLang="zh-CN" sz="2000" baseline="-25000" dirty="0"/>
              <a:t>2</a:t>
            </a:r>
            <a:r>
              <a:rPr lang="zh-CN" altLang="en-US" sz="2000" dirty="0"/>
              <a:t>等当点的确认主要依据滴加</a:t>
            </a:r>
            <a:r>
              <a:rPr lang="en-US" altLang="zh-CN" sz="2000" dirty="0"/>
              <a:t>HCl</a:t>
            </a:r>
            <a:r>
              <a:rPr lang="zh-CN" altLang="en-US" sz="2000" dirty="0"/>
              <a:t>超过等当点</a:t>
            </a:r>
            <a:r>
              <a:rPr lang="en-US" altLang="zh-CN" sz="2000" dirty="0"/>
              <a:t>V</a:t>
            </a:r>
            <a:r>
              <a:rPr lang="en-US" altLang="zh-CN" sz="2000" baseline="-25000" dirty="0"/>
              <a:t>2</a:t>
            </a:r>
            <a:r>
              <a:rPr lang="zh-CN" altLang="en-US" sz="2000" dirty="0"/>
              <a:t>时，溶液</a:t>
            </a:r>
            <a:r>
              <a:rPr lang="en-US" altLang="zh-CN" sz="2000" dirty="0"/>
              <a:t>pH</a:t>
            </a:r>
            <a:r>
              <a:rPr lang="zh-CN" altLang="en-US" sz="2000" dirty="0"/>
              <a:t>值的变化在一定范围内与滴加的</a:t>
            </a:r>
            <a:r>
              <a:rPr lang="en-US" altLang="zh-CN" sz="2000" dirty="0"/>
              <a:t>HCl</a:t>
            </a:r>
            <a:r>
              <a:rPr lang="zh-CN" altLang="en-US" sz="2000" dirty="0"/>
              <a:t>体积成线性关系的特点。</a:t>
            </a:r>
            <a:endParaRPr lang="en-US" altLang="zh-CN" sz="2000" dirty="0"/>
          </a:p>
        </p:txBody>
      </p:sp>
      <p:sp>
        <p:nvSpPr>
          <p:cNvPr id="10" name="标题 4">
            <a:extLst>
              <a:ext uri="{FF2B5EF4-FFF2-40B4-BE49-F238E27FC236}">
                <a16:creationId xmlns:a16="http://schemas.microsoft.com/office/drawing/2014/main" id="{A8DF2269-4469-4A2F-8072-DCA99CDC1880}"/>
              </a:ext>
            </a:extLst>
          </p:cNvPr>
          <p:cNvSpPr txBox="1">
            <a:spLocks/>
          </p:cNvSpPr>
          <p:nvPr/>
        </p:nvSpPr>
        <p:spPr bwMode="auto">
          <a:xfrm>
            <a:off x="1535886" y="327934"/>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a:solidFill>
                  <a:schemeClr val="bg2">
                    <a:lumMod val="25000"/>
                  </a:schemeClr>
                </a:solidFill>
                <a:latin typeface="华文新魏" pitchFamily="2" charset="-122"/>
                <a:ea typeface="华文新魏" pitchFamily="2" charset="-122"/>
              </a:rPr>
              <a:t>第九章 海水中的</a:t>
            </a:r>
            <a:r>
              <a:rPr lang="en-US" altLang="zh-CN" sz="3200" b="1" kern="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13799274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E:\课程\课件\课程图片\0.png"/>
          <p:cNvPicPr>
            <a:picLocks noChangeAspect="1" noChangeArrowheads="1"/>
          </p:cNvPicPr>
          <p:nvPr/>
        </p:nvPicPr>
        <p:blipFill>
          <a:blip r:embed="rId2" cstate="print"/>
          <a:srcRect/>
          <a:stretch>
            <a:fillRect/>
          </a:stretch>
        </p:blipFill>
        <p:spPr bwMode="auto">
          <a:xfrm>
            <a:off x="383352" y="1484783"/>
            <a:ext cx="7501016" cy="4547999"/>
          </a:xfrm>
          <a:prstGeom prst="rect">
            <a:avLst/>
          </a:prstGeom>
          <a:noFill/>
        </p:spPr>
      </p:pic>
      <p:sp>
        <p:nvSpPr>
          <p:cNvPr id="6" name="标题 4">
            <a:extLst>
              <a:ext uri="{FF2B5EF4-FFF2-40B4-BE49-F238E27FC236}">
                <a16:creationId xmlns:a16="http://schemas.microsoft.com/office/drawing/2014/main" id="{6830A91D-263E-4F13-8033-14F2367D9E08}"/>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409016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descr="E:\课程\课件\课程图片\0.png"/>
          <p:cNvPicPr>
            <a:picLocks noGrp="1" noChangeAspect="1" noChangeArrowheads="1"/>
          </p:cNvPicPr>
          <p:nvPr>
            <p:ph idx="1"/>
          </p:nvPr>
        </p:nvPicPr>
        <p:blipFill>
          <a:blip r:embed="rId2" cstate="print"/>
          <a:srcRect/>
          <a:stretch>
            <a:fillRect/>
          </a:stretch>
        </p:blipFill>
        <p:spPr bwMode="auto">
          <a:xfrm>
            <a:off x="571472" y="1214422"/>
            <a:ext cx="8001056" cy="5140665"/>
          </a:xfrm>
          <a:prstGeom prst="rect">
            <a:avLst/>
          </a:prstGeom>
          <a:noFill/>
        </p:spPr>
      </p:pic>
      <p:sp>
        <p:nvSpPr>
          <p:cNvPr id="6" name="标题 4">
            <a:extLst>
              <a:ext uri="{FF2B5EF4-FFF2-40B4-BE49-F238E27FC236}">
                <a16:creationId xmlns:a16="http://schemas.microsoft.com/office/drawing/2014/main" id="{D2B9687B-8F31-4D7F-AE56-07D6702D386F}"/>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1422162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E:\课程\海水分析化学 本科\课件\课程图片\0.png"/>
          <p:cNvPicPr>
            <a:picLocks noGrp="1" noChangeAspect="1" noChangeArrowheads="1"/>
          </p:cNvPicPr>
          <p:nvPr>
            <p:ph idx="1"/>
          </p:nvPr>
        </p:nvPicPr>
        <p:blipFill>
          <a:blip r:embed="rId2" cstate="print"/>
          <a:srcRect/>
          <a:stretch>
            <a:fillRect/>
          </a:stretch>
        </p:blipFill>
        <p:spPr bwMode="auto">
          <a:xfrm>
            <a:off x="2447256" y="2636912"/>
            <a:ext cx="6696744" cy="3940494"/>
          </a:xfrm>
          <a:prstGeom prst="rect">
            <a:avLst/>
          </a:prstGeom>
          <a:noFill/>
        </p:spPr>
      </p:pic>
      <p:pic>
        <p:nvPicPr>
          <p:cNvPr id="124931" name="Picture 3" descr="E:\课程\海水分析化学 本科\课件\课程图片\技术指标.png"/>
          <p:cNvPicPr>
            <a:picLocks noChangeAspect="1" noChangeArrowheads="1"/>
          </p:cNvPicPr>
          <p:nvPr/>
        </p:nvPicPr>
        <p:blipFill>
          <a:blip r:embed="rId3" cstate="print"/>
          <a:srcRect/>
          <a:stretch>
            <a:fillRect/>
          </a:stretch>
        </p:blipFill>
        <p:spPr bwMode="auto">
          <a:xfrm>
            <a:off x="3527376" y="1268760"/>
            <a:ext cx="5616624" cy="1033459"/>
          </a:xfrm>
          <a:prstGeom prst="rect">
            <a:avLst/>
          </a:prstGeom>
          <a:noFill/>
        </p:spPr>
      </p:pic>
      <p:pic>
        <p:nvPicPr>
          <p:cNvPr id="124932" name="Picture 4" descr="E:\课程\海水分析化学 本科\课件\课程图片\alk仪器.png"/>
          <p:cNvPicPr>
            <a:picLocks noChangeAspect="1" noChangeArrowheads="1"/>
          </p:cNvPicPr>
          <p:nvPr/>
        </p:nvPicPr>
        <p:blipFill>
          <a:blip r:embed="rId4" cstate="print"/>
          <a:srcRect/>
          <a:stretch>
            <a:fillRect/>
          </a:stretch>
        </p:blipFill>
        <p:spPr bwMode="auto">
          <a:xfrm>
            <a:off x="0" y="1059206"/>
            <a:ext cx="3257550" cy="2486025"/>
          </a:xfrm>
          <a:prstGeom prst="rect">
            <a:avLst/>
          </a:prstGeom>
          <a:noFill/>
        </p:spPr>
      </p:pic>
      <p:sp>
        <p:nvSpPr>
          <p:cNvPr id="8" name="标题 4">
            <a:extLst>
              <a:ext uri="{FF2B5EF4-FFF2-40B4-BE49-F238E27FC236}">
                <a16:creationId xmlns:a16="http://schemas.microsoft.com/office/drawing/2014/main" id="{D11F5A33-E949-4DE0-BB80-42864C2A3886}"/>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24855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7"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5687100" y="178571"/>
            <a:ext cx="3541564" cy="2500330"/>
          </a:xfrm>
          <a:prstGeom prst="rect">
            <a:avLst/>
          </a:prstGeom>
          <a:noFill/>
        </p:spPr>
      </p:pic>
      <p:sp>
        <p:nvSpPr>
          <p:cNvPr id="3" name="内容占位符 2"/>
          <p:cNvSpPr>
            <a:spLocks noGrp="1"/>
          </p:cNvSpPr>
          <p:nvPr>
            <p:ph idx="1"/>
          </p:nvPr>
        </p:nvSpPr>
        <p:spPr>
          <a:xfrm>
            <a:off x="357158" y="1428736"/>
            <a:ext cx="8401080" cy="4572032"/>
          </a:xfrm>
        </p:spPr>
        <p:txBody>
          <a:bodyPr/>
          <a:lstStyle/>
          <a:p>
            <a:pPr marL="571500" indent="-514350">
              <a:buFont typeface="+mj-lt"/>
              <a:buAutoNum type="alphaUcPeriod" startAt="5"/>
            </a:pPr>
            <a:r>
              <a:rPr lang="zh-CN" altLang="en-US" dirty="0"/>
              <a:t>间接法中的直接法</a:t>
            </a:r>
            <a:endParaRPr lang="en-US" altLang="zh-CN" dirty="0"/>
          </a:p>
          <a:p>
            <a:pPr marL="914400" lvl="1" indent="-457200">
              <a:buFont typeface="Arial" panose="020B0604020202020204" pitchFamily="34" charset="0"/>
              <a:buChar char="•"/>
            </a:pPr>
            <a:r>
              <a:rPr lang="en-US" altLang="zh-CN" sz="2800" dirty="0"/>
              <a:t>pH</a:t>
            </a:r>
            <a:r>
              <a:rPr lang="zh-CN" altLang="en-US" sz="2800" dirty="0"/>
              <a:t>电位滴定法</a:t>
            </a:r>
            <a:endParaRPr lang="en-US" altLang="zh-CN" sz="2800" dirty="0"/>
          </a:p>
          <a:p>
            <a:pPr marL="914400" lvl="1" indent="-457200">
              <a:buNone/>
            </a:pPr>
            <a:r>
              <a:rPr lang="zh-CN" altLang="en-US" dirty="0"/>
              <a:t>海水总碱度</a:t>
            </a:r>
            <a:r>
              <a:rPr lang="en-US" altLang="zh-CN" dirty="0"/>
              <a:t>=</a:t>
            </a:r>
            <a:r>
              <a:rPr lang="zh-CN" altLang="en-US" dirty="0"/>
              <a:t>加入的酸量</a:t>
            </a:r>
            <a:r>
              <a:rPr lang="en-US" altLang="zh-CN" dirty="0"/>
              <a:t>-</a:t>
            </a:r>
            <a:r>
              <a:rPr lang="zh-CN" altLang="en-US" dirty="0"/>
              <a:t>剩余的酸量</a:t>
            </a:r>
            <a:endParaRPr lang="en-US" altLang="zh-CN" dirty="0"/>
          </a:p>
          <a:p>
            <a:pPr lvl="1"/>
            <a:endParaRPr lang="en-US" altLang="zh-CN" dirty="0"/>
          </a:p>
          <a:p>
            <a:endParaRPr lang="en-US" altLang="zh-CN" dirty="0"/>
          </a:p>
          <a:p>
            <a:pPr lvl="1">
              <a:buNone/>
            </a:pPr>
            <a:endParaRPr lang="zh-CN" altLang="en-US" dirty="0"/>
          </a:p>
        </p:txBody>
      </p:sp>
      <p:pic>
        <p:nvPicPr>
          <p:cNvPr id="126980" name="Picture 4" descr="C:\Users\402\Desktop\1.png"/>
          <p:cNvPicPr>
            <a:picLocks noChangeAspect="1" noChangeArrowheads="1"/>
          </p:cNvPicPr>
          <p:nvPr/>
        </p:nvPicPr>
        <p:blipFill>
          <a:blip r:embed="rId3" cstate="print"/>
          <a:srcRect/>
          <a:stretch>
            <a:fillRect/>
          </a:stretch>
        </p:blipFill>
        <p:spPr bwMode="auto">
          <a:xfrm>
            <a:off x="885290" y="2996060"/>
            <a:ext cx="7344816" cy="865879"/>
          </a:xfrm>
          <a:prstGeom prst="rect">
            <a:avLst/>
          </a:prstGeom>
          <a:noFill/>
        </p:spPr>
      </p:pic>
      <p:pic>
        <p:nvPicPr>
          <p:cNvPr id="6" name="Picture 2" descr="C:\Users\402\Desktop\2.png">
            <a:extLst>
              <a:ext uri="{FF2B5EF4-FFF2-40B4-BE49-F238E27FC236}">
                <a16:creationId xmlns:a16="http://schemas.microsoft.com/office/drawing/2014/main" id="{8BB68358-A7D0-4FAF-8DF3-B31106B29CDB}"/>
              </a:ext>
            </a:extLst>
          </p:cNvPr>
          <p:cNvPicPr>
            <a:picLocks noChangeAspect="1" noChangeArrowheads="1"/>
          </p:cNvPicPr>
          <p:nvPr/>
        </p:nvPicPr>
        <p:blipFill>
          <a:blip r:embed="rId4" cstate="print"/>
          <a:srcRect/>
          <a:stretch>
            <a:fillRect/>
          </a:stretch>
        </p:blipFill>
        <p:spPr bwMode="auto">
          <a:xfrm>
            <a:off x="885290" y="3929066"/>
            <a:ext cx="6984776" cy="1683456"/>
          </a:xfrm>
          <a:prstGeom prst="rect">
            <a:avLst/>
          </a:prstGeom>
          <a:noFill/>
        </p:spPr>
      </p:pic>
      <p:sp>
        <p:nvSpPr>
          <p:cNvPr id="9" name="标题 4">
            <a:extLst>
              <a:ext uri="{FF2B5EF4-FFF2-40B4-BE49-F238E27FC236}">
                <a16:creationId xmlns:a16="http://schemas.microsoft.com/office/drawing/2014/main" id="{C7E63E7A-F9D3-4248-9E6C-71555C703E75}"/>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12806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357298"/>
            <a:ext cx="8329642" cy="5286412"/>
          </a:xfrm>
        </p:spPr>
        <p:txBody>
          <a:bodyPr/>
          <a:lstStyle/>
          <a:p>
            <a:r>
              <a:rPr lang="en-US" altLang="zh-CN" dirty="0"/>
              <a:t>pH</a:t>
            </a:r>
            <a:r>
              <a:rPr lang="zh-CN" altLang="en-US" dirty="0"/>
              <a:t>电位滴定法</a:t>
            </a:r>
            <a:endParaRPr lang="en-US" altLang="zh-CN" dirty="0"/>
          </a:p>
          <a:p>
            <a:pPr lvl="1">
              <a:buFont typeface="Wingdings" pitchFamily="2" charset="2"/>
              <a:buChar char="Ø"/>
            </a:pPr>
            <a:r>
              <a:rPr lang="zh-CN" altLang="en-US" dirty="0"/>
              <a:t>加过量酸（</a:t>
            </a:r>
            <a:r>
              <a:rPr lang="en-US" altLang="zh-CN" dirty="0"/>
              <a:t>pH~3.5</a:t>
            </a:r>
            <a:r>
              <a:rPr lang="zh-CN" altLang="en-US" dirty="0"/>
              <a:t>）</a:t>
            </a:r>
            <a:endParaRPr lang="en-US" altLang="zh-CN" dirty="0"/>
          </a:p>
          <a:p>
            <a:pPr lvl="1">
              <a:buFont typeface="Wingdings" pitchFamily="2" charset="2"/>
              <a:buChar char="Ø"/>
            </a:pPr>
            <a:r>
              <a:rPr lang="zh-CN" altLang="en-US" dirty="0"/>
              <a:t>通过</a:t>
            </a:r>
            <a:r>
              <a:rPr lang="en-US" altLang="zh-CN" dirty="0"/>
              <a:t>pH</a:t>
            </a:r>
            <a:r>
              <a:rPr lang="zh-CN" altLang="en-US" dirty="0"/>
              <a:t>电极精确测量溶液</a:t>
            </a:r>
            <a:r>
              <a:rPr lang="en-US" altLang="zh-CN" dirty="0"/>
              <a:t>pH</a:t>
            </a:r>
            <a:r>
              <a:rPr lang="zh-CN" altLang="en-US" dirty="0"/>
              <a:t>值，来计算过量酸</a:t>
            </a:r>
            <a:endParaRPr lang="en-US" altLang="zh-CN" dirty="0"/>
          </a:p>
          <a:p>
            <a:pPr>
              <a:buFont typeface="Wingdings" pitchFamily="2" charset="2"/>
              <a:buChar char="Ø"/>
            </a:pPr>
            <a:endParaRPr lang="en-US" altLang="zh-CN" dirty="0"/>
          </a:p>
          <a:p>
            <a:pPr>
              <a:buFont typeface="Wingdings" pitchFamily="2" charset="2"/>
              <a:buChar char="Ø"/>
            </a:pPr>
            <a:endParaRPr lang="en-US" altLang="zh-CN" dirty="0"/>
          </a:p>
          <a:p>
            <a:pPr>
              <a:buFont typeface="Wingdings" pitchFamily="2" charset="2"/>
              <a:buChar char="Ø"/>
            </a:pPr>
            <a:endParaRPr lang="en-US" altLang="zh-CN" dirty="0"/>
          </a:p>
          <a:p>
            <a:pPr>
              <a:buFont typeface="Wingdings" pitchFamily="2" charset="2"/>
              <a:buChar char="Ø"/>
            </a:pPr>
            <a:endParaRPr lang="en-US" altLang="zh-CN" dirty="0"/>
          </a:p>
          <a:p>
            <a:pPr lvl="1">
              <a:buFont typeface="Wingdings" pitchFamily="2" charset="2"/>
              <a:buChar char="Ø"/>
            </a:pPr>
            <a:r>
              <a:rPr lang="zh-CN" altLang="en-US" dirty="0"/>
              <a:t>关键是</a:t>
            </a:r>
            <a:r>
              <a:rPr lang="en-US" altLang="zh-CN" dirty="0"/>
              <a:t>pH</a:t>
            </a:r>
            <a:r>
              <a:rPr lang="zh-CN" altLang="en-US" dirty="0"/>
              <a:t>值的定义是氢离子的活度，而过量酸是多余氢离子的浓度，所以需要知道活度系数</a:t>
            </a:r>
            <a:endParaRPr lang="en-US" altLang="zh-CN" dirty="0"/>
          </a:p>
        </p:txBody>
      </p:sp>
      <p:pic>
        <p:nvPicPr>
          <p:cNvPr id="96258" name="Picture 2" descr="E:\课程\课件\课程图片\0.png"/>
          <p:cNvPicPr>
            <a:picLocks noChangeAspect="1" noChangeArrowheads="1"/>
          </p:cNvPicPr>
          <p:nvPr/>
        </p:nvPicPr>
        <p:blipFill>
          <a:blip r:embed="rId2" cstate="print"/>
          <a:srcRect/>
          <a:stretch>
            <a:fillRect/>
          </a:stretch>
        </p:blipFill>
        <p:spPr bwMode="auto">
          <a:xfrm>
            <a:off x="400080" y="2780928"/>
            <a:ext cx="8458200" cy="1914525"/>
          </a:xfrm>
          <a:prstGeom prst="rect">
            <a:avLst/>
          </a:prstGeom>
          <a:noFill/>
        </p:spPr>
      </p:pic>
      <p:pic>
        <p:nvPicPr>
          <p:cNvPr id="96259" name="Picture 3" descr="E:\课程\课件\课程图片\0.png"/>
          <p:cNvPicPr>
            <a:picLocks noChangeAspect="1" noChangeArrowheads="1"/>
          </p:cNvPicPr>
          <p:nvPr/>
        </p:nvPicPr>
        <p:blipFill>
          <a:blip r:embed="rId3" cstate="print"/>
          <a:srcRect/>
          <a:stretch>
            <a:fillRect/>
          </a:stretch>
        </p:blipFill>
        <p:spPr bwMode="auto">
          <a:xfrm>
            <a:off x="557192" y="5800520"/>
            <a:ext cx="5200650" cy="476250"/>
          </a:xfrm>
          <a:prstGeom prst="rect">
            <a:avLst/>
          </a:prstGeom>
          <a:noFill/>
        </p:spPr>
      </p:pic>
      <p:pic>
        <p:nvPicPr>
          <p:cNvPr id="96260" name="Picture 4" descr="E:\课程\课件\课程图片\0.png"/>
          <p:cNvPicPr>
            <a:picLocks noChangeAspect="1" noChangeArrowheads="1"/>
          </p:cNvPicPr>
          <p:nvPr/>
        </p:nvPicPr>
        <p:blipFill>
          <a:blip r:embed="rId4" cstate="print"/>
          <a:srcRect/>
          <a:stretch>
            <a:fillRect/>
          </a:stretch>
        </p:blipFill>
        <p:spPr bwMode="auto">
          <a:xfrm>
            <a:off x="6029314" y="5762646"/>
            <a:ext cx="1933575" cy="666750"/>
          </a:xfrm>
          <a:prstGeom prst="rect">
            <a:avLst/>
          </a:prstGeom>
          <a:noFill/>
        </p:spPr>
      </p:pic>
      <p:sp>
        <p:nvSpPr>
          <p:cNvPr id="9" name="标题 4">
            <a:extLst>
              <a:ext uri="{FF2B5EF4-FFF2-40B4-BE49-F238E27FC236}">
                <a16:creationId xmlns:a16="http://schemas.microsoft.com/office/drawing/2014/main" id="{DA2CDCA7-CACE-408B-B4D3-6FB3D1F7BEC5}"/>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4893559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412776"/>
            <a:ext cx="8401080" cy="584775"/>
          </a:xfrm>
        </p:spPr>
        <p:txBody>
          <a:bodyPr/>
          <a:lstStyle/>
          <a:p>
            <a:pPr marL="571500" indent="-514350"/>
            <a:r>
              <a:rPr lang="zh-CN" altLang="en-US" dirty="0"/>
              <a:t>直接法</a:t>
            </a:r>
            <a:r>
              <a:rPr lang="en-US" altLang="zh-CN" dirty="0"/>
              <a:t>2</a:t>
            </a:r>
            <a:r>
              <a:rPr lang="zh-CN" altLang="en-US" dirty="0"/>
              <a:t>：海水总碱度</a:t>
            </a:r>
            <a:r>
              <a:rPr lang="en-US" altLang="zh-CN" dirty="0"/>
              <a:t>=</a:t>
            </a:r>
            <a:r>
              <a:rPr lang="zh-CN" altLang="en-US" dirty="0"/>
              <a:t>加入的酸量</a:t>
            </a:r>
            <a:r>
              <a:rPr lang="en-US" altLang="zh-CN" dirty="0"/>
              <a:t>-</a:t>
            </a:r>
            <a:r>
              <a:rPr lang="zh-CN" altLang="en-US" dirty="0"/>
              <a:t>剩余的酸量</a:t>
            </a:r>
            <a:endParaRPr lang="en-US" altLang="zh-CN" dirty="0"/>
          </a:p>
          <a:p>
            <a:pPr marL="914400" lvl="1" indent="-457200">
              <a:buNone/>
            </a:pPr>
            <a:endParaRPr lang="en-US" altLang="zh-CN" dirty="0"/>
          </a:p>
          <a:p>
            <a:pPr marL="914400" lvl="1" indent="-457200">
              <a:buNone/>
            </a:pPr>
            <a:endParaRPr lang="en-US" altLang="zh-CN" dirty="0"/>
          </a:p>
          <a:p>
            <a:pPr marL="914400" lvl="1" indent="-457200">
              <a:buNone/>
            </a:pPr>
            <a:endParaRPr lang="en-US" altLang="zh-CN" dirty="0"/>
          </a:p>
          <a:p>
            <a:pPr marL="914400" lvl="1" indent="-457200">
              <a:buNone/>
            </a:pPr>
            <a:endParaRPr lang="en-US" altLang="zh-CN" dirty="0"/>
          </a:p>
          <a:p>
            <a:pPr marL="914400" lvl="1" indent="-457200">
              <a:buNone/>
            </a:pPr>
            <a:endParaRPr lang="en-US" altLang="zh-CN" dirty="0"/>
          </a:p>
          <a:p>
            <a:pPr marL="450850" lvl="1" indent="6350">
              <a:spcBef>
                <a:spcPts val="1200"/>
              </a:spcBef>
              <a:buNone/>
            </a:pPr>
            <a:r>
              <a:rPr lang="zh-CN" altLang="en-US" sz="2000" dirty="0"/>
              <a:t>实际测量到的是溶液的</a:t>
            </a:r>
            <a:r>
              <a:rPr lang="en-US" altLang="zh-CN" sz="2000" dirty="0"/>
              <a:t>pH</a:t>
            </a:r>
            <a:r>
              <a:rPr lang="zh-CN" altLang="en-US" sz="2000" dirty="0"/>
              <a:t>值（光度法或者电极法），是溶液氢离子的活度，而不是浓度。</a:t>
            </a:r>
            <a:endParaRPr lang="en-US" altLang="zh-CN" sz="2000" dirty="0"/>
          </a:p>
          <a:p>
            <a:pPr lvl="1"/>
            <a:endParaRPr lang="en-US" altLang="zh-CN" dirty="0"/>
          </a:p>
          <a:p>
            <a:endParaRPr lang="en-US" altLang="zh-CN" dirty="0"/>
          </a:p>
        </p:txBody>
      </p:sp>
      <p:pic>
        <p:nvPicPr>
          <p:cNvPr id="128002" name="Picture 2" descr="C:\Users\402\Desktop\2.png"/>
          <p:cNvPicPr>
            <a:picLocks noChangeAspect="1" noChangeArrowheads="1"/>
          </p:cNvPicPr>
          <p:nvPr/>
        </p:nvPicPr>
        <p:blipFill>
          <a:blip r:embed="rId2" cstate="print"/>
          <a:srcRect/>
          <a:stretch>
            <a:fillRect/>
          </a:stretch>
        </p:blipFill>
        <p:spPr bwMode="auto">
          <a:xfrm>
            <a:off x="899592" y="2204864"/>
            <a:ext cx="6984776" cy="1683456"/>
          </a:xfrm>
          <a:prstGeom prst="rect">
            <a:avLst/>
          </a:prstGeom>
          <a:noFill/>
        </p:spPr>
      </p:pic>
      <p:pic>
        <p:nvPicPr>
          <p:cNvPr id="128004" name="Picture 4" descr="C:\Users\402\Desktop\3.png"/>
          <p:cNvPicPr>
            <a:picLocks noChangeAspect="1" noChangeArrowheads="1"/>
          </p:cNvPicPr>
          <p:nvPr/>
        </p:nvPicPr>
        <p:blipFill>
          <a:blip r:embed="rId3" cstate="print"/>
          <a:srcRect/>
          <a:stretch>
            <a:fillRect/>
          </a:stretch>
        </p:blipFill>
        <p:spPr bwMode="auto">
          <a:xfrm>
            <a:off x="336348" y="5013175"/>
            <a:ext cx="4886660" cy="909638"/>
          </a:xfrm>
          <a:prstGeom prst="rect">
            <a:avLst/>
          </a:prstGeom>
          <a:noFill/>
        </p:spPr>
      </p:pic>
      <p:pic>
        <p:nvPicPr>
          <p:cNvPr id="128005" name="Picture 5" descr="C:\Users\402\Desktop\5.png"/>
          <p:cNvPicPr>
            <a:picLocks noChangeAspect="1" noChangeArrowheads="1"/>
          </p:cNvPicPr>
          <p:nvPr/>
        </p:nvPicPr>
        <p:blipFill>
          <a:blip r:embed="rId4" cstate="print"/>
          <a:srcRect/>
          <a:stretch>
            <a:fillRect/>
          </a:stretch>
        </p:blipFill>
        <p:spPr bwMode="auto">
          <a:xfrm>
            <a:off x="4932040" y="5013175"/>
            <a:ext cx="4143375" cy="1000125"/>
          </a:xfrm>
          <a:prstGeom prst="rect">
            <a:avLst/>
          </a:prstGeom>
          <a:noFill/>
        </p:spPr>
      </p:pic>
      <p:sp>
        <p:nvSpPr>
          <p:cNvPr id="9" name="标题 4">
            <a:extLst>
              <a:ext uri="{FF2B5EF4-FFF2-40B4-BE49-F238E27FC236}">
                <a16:creationId xmlns:a16="http://schemas.microsoft.com/office/drawing/2014/main" id="{713EF82A-2024-4C74-9956-0D91F2CEC085}"/>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522850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357298"/>
            <a:ext cx="8329642" cy="4554551"/>
          </a:xfrm>
        </p:spPr>
        <p:txBody>
          <a:bodyPr/>
          <a:lstStyle/>
          <a:p>
            <a:r>
              <a:rPr lang="en-US" altLang="zh-CN" dirty="0"/>
              <a:t>pH</a:t>
            </a:r>
            <a:r>
              <a:rPr lang="zh-CN" altLang="en-US" dirty="0"/>
              <a:t>电位滴定法中的活度系数</a:t>
            </a:r>
            <a:r>
              <a:rPr lang="en-US" altLang="zh-CN" dirty="0" err="1"/>
              <a:t>f</a:t>
            </a:r>
            <a:r>
              <a:rPr lang="en-US" altLang="zh-CN" baseline="-25000" dirty="0" err="1"/>
              <a:t>H</a:t>
            </a:r>
            <a:r>
              <a:rPr lang="en-US" altLang="zh-CN" baseline="-25000" dirty="0"/>
              <a:t>+</a:t>
            </a:r>
          </a:p>
          <a:p>
            <a:endParaRPr lang="en-US" altLang="zh-CN" baseline="-25000" dirty="0"/>
          </a:p>
          <a:p>
            <a:endParaRPr lang="en-US" altLang="zh-CN" baseline="-25000" dirty="0"/>
          </a:p>
          <a:p>
            <a:endParaRPr lang="en-US" altLang="zh-CN" baseline="-25000" dirty="0"/>
          </a:p>
          <a:p>
            <a:endParaRPr lang="en-US" altLang="zh-CN" baseline="-25000" dirty="0"/>
          </a:p>
          <a:p>
            <a:r>
              <a:rPr lang="zh-CN" altLang="en-US" dirty="0"/>
              <a:t>海水氢离子活度系数</a:t>
            </a:r>
            <a:endParaRPr lang="en-US" altLang="zh-CN" dirty="0"/>
          </a:p>
        </p:txBody>
      </p:sp>
      <p:pic>
        <p:nvPicPr>
          <p:cNvPr id="96261" name="Picture 5" descr="E:\课程\课件\课程图片\0.png"/>
          <p:cNvPicPr>
            <a:picLocks noChangeAspect="1" noChangeArrowheads="1"/>
          </p:cNvPicPr>
          <p:nvPr/>
        </p:nvPicPr>
        <p:blipFill>
          <a:blip r:embed="rId2" cstate="print"/>
          <a:srcRect/>
          <a:stretch>
            <a:fillRect/>
          </a:stretch>
        </p:blipFill>
        <p:spPr bwMode="auto">
          <a:xfrm>
            <a:off x="785786" y="2000240"/>
            <a:ext cx="6924675" cy="1038225"/>
          </a:xfrm>
          <a:prstGeom prst="rect">
            <a:avLst/>
          </a:prstGeom>
          <a:noFill/>
        </p:spPr>
      </p:pic>
      <p:pic>
        <p:nvPicPr>
          <p:cNvPr id="2" name="Picture 2" descr="E:\课程\课件\课程图片\0.png"/>
          <p:cNvPicPr>
            <a:picLocks noChangeAspect="1" noChangeArrowheads="1"/>
          </p:cNvPicPr>
          <p:nvPr/>
        </p:nvPicPr>
        <p:blipFill>
          <a:blip r:embed="rId3" cstate="print"/>
          <a:srcRect/>
          <a:stretch>
            <a:fillRect/>
          </a:stretch>
        </p:blipFill>
        <p:spPr bwMode="auto">
          <a:xfrm>
            <a:off x="214282" y="3929066"/>
            <a:ext cx="8486775" cy="2314575"/>
          </a:xfrm>
          <a:prstGeom prst="rect">
            <a:avLst/>
          </a:prstGeom>
          <a:noFill/>
        </p:spPr>
      </p:pic>
      <p:sp>
        <p:nvSpPr>
          <p:cNvPr id="8" name="标题 4">
            <a:extLst>
              <a:ext uri="{FF2B5EF4-FFF2-40B4-BE49-F238E27FC236}">
                <a16:creationId xmlns:a16="http://schemas.microsoft.com/office/drawing/2014/main" id="{2DFBBE66-6DB0-40C8-A837-737528B0AB24}"/>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93725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357298"/>
            <a:ext cx="8329642" cy="4554551"/>
          </a:xfrm>
        </p:spPr>
        <p:txBody>
          <a:bodyPr/>
          <a:lstStyle/>
          <a:p>
            <a:r>
              <a:rPr lang="zh-CN" altLang="en-US" sz="2400" dirty="0"/>
              <a:t>海水氢离子活度系数</a:t>
            </a:r>
            <a:endParaRPr lang="en-US" altLang="zh-CN" sz="2400" dirty="0"/>
          </a:p>
        </p:txBody>
      </p:sp>
      <p:pic>
        <p:nvPicPr>
          <p:cNvPr id="6" name="Picture 1" descr="E:\课程\海水分析化学 本科\课件\课程图片\alk滴定电位和V.png"/>
          <p:cNvPicPr>
            <a:picLocks noChangeAspect="1" noChangeArrowheads="1"/>
          </p:cNvPicPr>
          <p:nvPr/>
        </p:nvPicPr>
        <p:blipFill>
          <a:blip r:embed="rId2" cstate="print"/>
          <a:srcRect/>
          <a:stretch>
            <a:fillRect/>
          </a:stretch>
        </p:blipFill>
        <p:spPr bwMode="auto">
          <a:xfrm>
            <a:off x="5786446" y="142852"/>
            <a:ext cx="2833252" cy="2000264"/>
          </a:xfrm>
          <a:prstGeom prst="rect">
            <a:avLst/>
          </a:prstGeom>
          <a:noFill/>
        </p:spPr>
      </p:pic>
      <p:pic>
        <p:nvPicPr>
          <p:cNvPr id="97282" name="Picture 2" descr="E:\课程\课件\课程图片\0.png"/>
          <p:cNvPicPr>
            <a:picLocks noChangeAspect="1" noChangeArrowheads="1"/>
          </p:cNvPicPr>
          <p:nvPr/>
        </p:nvPicPr>
        <p:blipFill>
          <a:blip r:embed="rId3" cstate="print"/>
          <a:srcRect/>
          <a:stretch>
            <a:fillRect/>
          </a:stretch>
        </p:blipFill>
        <p:spPr bwMode="auto">
          <a:xfrm>
            <a:off x="57907" y="1959951"/>
            <a:ext cx="6026261" cy="3815246"/>
          </a:xfrm>
          <a:prstGeom prst="rect">
            <a:avLst/>
          </a:prstGeom>
          <a:noFill/>
        </p:spPr>
      </p:pic>
      <p:pic>
        <p:nvPicPr>
          <p:cNvPr id="97283" name="Picture 3" descr="E:\课程\课件\课程图片\0.png"/>
          <p:cNvPicPr>
            <a:picLocks noChangeAspect="1" noChangeArrowheads="1"/>
          </p:cNvPicPr>
          <p:nvPr/>
        </p:nvPicPr>
        <p:blipFill>
          <a:blip r:embed="rId4" cstate="print"/>
          <a:srcRect/>
          <a:stretch>
            <a:fillRect/>
          </a:stretch>
        </p:blipFill>
        <p:spPr bwMode="auto">
          <a:xfrm>
            <a:off x="4299747" y="4090047"/>
            <a:ext cx="4786346" cy="741634"/>
          </a:xfrm>
          <a:prstGeom prst="rect">
            <a:avLst/>
          </a:prstGeom>
          <a:noFill/>
        </p:spPr>
      </p:pic>
      <p:sp>
        <p:nvSpPr>
          <p:cNvPr id="9" name="TextBox 8"/>
          <p:cNvSpPr txBox="1"/>
          <p:nvPr/>
        </p:nvSpPr>
        <p:spPr>
          <a:xfrm>
            <a:off x="5786446" y="5000636"/>
            <a:ext cx="2500330" cy="1323439"/>
          </a:xfrm>
          <a:prstGeom prst="rect">
            <a:avLst/>
          </a:prstGeom>
          <a:noFill/>
        </p:spPr>
        <p:txBody>
          <a:bodyPr wrap="square" rtlCol="0">
            <a:spAutoFit/>
          </a:bodyPr>
          <a:lstStyle/>
          <a:p>
            <a:r>
              <a:rPr lang="en-US" altLang="zh-CN" sz="2000" dirty="0">
                <a:solidFill>
                  <a:srgbClr val="FF0000"/>
                </a:solidFill>
              </a:rPr>
              <a:t>V</a:t>
            </a:r>
            <a:r>
              <a:rPr lang="en-US" altLang="zh-CN" sz="2000" baseline="-25000" dirty="0">
                <a:solidFill>
                  <a:srgbClr val="FF0000"/>
                </a:solidFill>
              </a:rPr>
              <a:t>2</a:t>
            </a:r>
            <a:r>
              <a:rPr lang="zh-CN" altLang="en-US" sz="2000" dirty="0">
                <a:solidFill>
                  <a:srgbClr val="FF0000"/>
                </a:solidFill>
              </a:rPr>
              <a:t>可以知道，测量</a:t>
            </a:r>
            <a:r>
              <a:rPr lang="en-US" altLang="zh-CN" sz="2000" dirty="0" err="1">
                <a:solidFill>
                  <a:srgbClr val="FF0000"/>
                </a:solidFill>
              </a:rPr>
              <a:t>fH</a:t>
            </a:r>
            <a:r>
              <a:rPr lang="en-US" altLang="zh-CN" sz="2000" baseline="30000" dirty="0">
                <a:solidFill>
                  <a:srgbClr val="FF0000"/>
                </a:solidFill>
              </a:rPr>
              <a:t>+</a:t>
            </a:r>
            <a:r>
              <a:rPr lang="zh-CN" altLang="en-US" sz="2000" dirty="0">
                <a:solidFill>
                  <a:srgbClr val="FF0000"/>
                </a:solidFill>
              </a:rPr>
              <a:t>时，可以通过其它方式算出来，然后获得</a:t>
            </a:r>
            <a:r>
              <a:rPr lang="en-US" altLang="zh-CN" sz="2000" dirty="0" err="1">
                <a:solidFill>
                  <a:srgbClr val="FF0000"/>
                </a:solidFill>
              </a:rPr>
              <a:t>fH</a:t>
            </a:r>
            <a:r>
              <a:rPr lang="en-US" altLang="zh-CN" sz="2000" baseline="30000" dirty="0">
                <a:solidFill>
                  <a:srgbClr val="FF0000"/>
                </a:solidFill>
              </a:rPr>
              <a:t>+</a:t>
            </a:r>
            <a:r>
              <a:rPr lang="zh-CN" altLang="en-US" sz="2000" dirty="0">
                <a:solidFill>
                  <a:srgbClr val="FF0000"/>
                </a:solidFill>
              </a:rPr>
              <a:t>值，制表</a:t>
            </a:r>
          </a:p>
        </p:txBody>
      </p:sp>
      <p:sp>
        <p:nvSpPr>
          <p:cNvPr id="10" name="标题 4">
            <a:extLst>
              <a:ext uri="{FF2B5EF4-FFF2-40B4-BE49-F238E27FC236}">
                <a16:creationId xmlns:a16="http://schemas.microsoft.com/office/drawing/2014/main" id="{65BB5450-FDDD-4805-B4E7-EB49FB39D392}"/>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2345383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E:\课程\课件\课程图片\0.png"/>
          <p:cNvPicPr>
            <a:picLocks noChangeAspect="1" noChangeArrowheads="1"/>
          </p:cNvPicPr>
          <p:nvPr/>
        </p:nvPicPr>
        <p:blipFill>
          <a:blip r:embed="rId2" cstate="print"/>
          <a:srcRect/>
          <a:stretch>
            <a:fillRect/>
          </a:stretch>
        </p:blipFill>
        <p:spPr bwMode="auto">
          <a:xfrm>
            <a:off x="467544" y="1340768"/>
            <a:ext cx="7960398" cy="4957646"/>
          </a:xfrm>
          <a:prstGeom prst="rect">
            <a:avLst/>
          </a:prstGeom>
          <a:noFill/>
        </p:spPr>
      </p:pic>
      <p:sp>
        <p:nvSpPr>
          <p:cNvPr id="6" name="标题 4">
            <a:extLst>
              <a:ext uri="{FF2B5EF4-FFF2-40B4-BE49-F238E27FC236}">
                <a16:creationId xmlns:a16="http://schemas.microsoft.com/office/drawing/2014/main" id="{EE9BD7CF-F316-42F5-AC80-0CF727743DF5}"/>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E:\课程\课件\课程图片\0.png"/>
          <p:cNvPicPr>
            <a:picLocks noChangeAspect="1" noChangeArrowheads="1"/>
          </p:cNvPicPr>
          <p:nvPr/>
        </p:nvPicPr>
        <p:blipFill>
          <a:blip r:embed="rId2" cstate="print"/>
          <a:srcRect/>
          <a:stretch>
            <a:fillRect/>
          </a:stretch>
        </p:blipFill>
        <p:spPr bwMode="auto">
          <a:xfrm>
            <a:off x="571472" y="1142984"/>
            <a:ext cx="7943876" cy="5251188"/>
          </a:xfrm>
          <a:prstGeom prst="rect">
            <a:avLst/>
          </a:prstGeom>
          <a:noFill/>
        </p:spPr>
      </p:pic>
      <p:sp>
        <p:nvSpPr>
          <p:cNvPr id="6" name="标题 4">
            <a:extLst>
              <a:ext uri="{FF2B5EF4-FFF2-40B4-BE49-F238E27FC236}">
                <a16:creationId xmlns:a16="http://schemas.microsoft.com/office/drawing/2014/main" id="{20CFAF07-DC5A-4B47-9A08-3103E976BB13}"/>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descr="E:\课程\课件\课程图片\0.png"/>
          <p:cNvPicPr>
            <a:picLocks noChangeAspect="1" noChangeArrowheads="1"/>
          </p:cNvPicPr>
          <p:nvPr/>
        </p:nvPicPr>
        <p:blipFill>
          <a:blip r:embed="rId2" cstate="print"/>
          <a:srcRect/>
          <a:stretch>
            <a:fillRect/>
          </a:stretch>
        </p:blipFill>
        <p:spPr bwMode="auto">
          <a:xfrm>
            <a:off x="714348" y="1428736"/>
            <a:ext cx="7367585" cy="4406016"/>
          </a:xfrm>
          <a:prstGeom prst="rect">
            <a:avLst/>
          </a:prstGeom>
          <a:noFill/>
        </p:spPr>
      </p:pic>
      <p:sp>
        <p:nvSpPr>
          <p:cNvPr id="6" name="标题 4">
            <a:extLst>
              <a:ext uri="{FF2B5EF4-FFF2-40B4-BE49-F238E27FC236}">
                <a16:creationId xmlns:a16="http://schemas.microsoft.com/office/drawing/2014/main" id="{9C112EA6-B372-42A6-B9DC-6A8EFB035B46}"/>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E:\课程\课件\课程图片\0.png"/>
          <p:cNvPicPr>
            <a:picLocks noChangeAspect="1" noChangeArrowheads="1"/>
          </p:cNvPicPr>
          <p:nvPr/>
        </p:nvPicPr>
        <p:blipFill>
          <a:blip r:embed="rId2" cstate="print"/>
          <a:srcRect/>
          <a:stretch>
            <a:fillRect/>
          </a:stretch>
        </p:blipFill>
        <p:spPr bwMode="auto">
          <a:xfrm>
            <a:off x="785786" y="1000108"/>
            <a:ext cx="7358114" cy="3523631"/>
          </a:xfrm>
          <a:prstGeom prst="rect">
            <a:avLst/>
          </a:prstGeom>
          <a:noFill/>
        </p:spPr>
      </p:pic>
      <p:pic>
        <p:nvPicPr>
          <p:cNvPr id="101379" name="Picture 3" descr="E:\课程\课件\课程图片\0.png"/>
          <p:cNvPicPr>
            <a:picLocks noChangeAspect="1" noChangeArrowheads="1"/>
          </p:cNvPicPr>
          <p:nvPr/>
        </p:nvPicPr>
        <p:blipFill>
          <a:blip r:embed="rId3" cstate="print"/>
          <a:srcRect/>
          <a:stretch>
            <a:fillRect/>
          </a:stretch>
        </p:blipFill>
        <p:spPr bwMode="auto">
          <a:xfrm>
            <a:off x="928662" y="4500570"/>
            <a:ext cx="6516028" cy="2171301"/>
          </a:xfrm>
          <a:prstGeom prst="rect">
            <a:avLst/>
          </a:prstGeom>
          <a:noFill/>
        </p:spPr>
      </p:pic>
      <p:sp>
        <p:nvSpPr>
          <p:cNvPr id="7" name="标题 4">
            <a:extLst>
              <a:ext uri="{FF2B5EF4-FFF2-40B4-BE49-F238E27FC236}">
                <a16:creationId xmlns:a16="http://schemas.microsoft.com/office/drawing/2014/main" id="{7483D958-50F3-4CF3-9485-2D9032DD897C}"/>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5">
            <a:extLst>
              <a:ext uri="{FF2B5EF4-FFF2-40B4-BE49-F238E27FC236}">
                <a16:creationId xmlns:a16="http://schemas.microsoft.com/office/drawing/2014/main" id="{A2D4AFCF-4863-4C14-BC4F-C4FFBDCA7560}"/>
              </a:ext>
            </a:extLst>
          </p:cNvPr>
          <p:cNvSpPr txBox="1">
            <a:spLocks/>
          </p:cNvSpPr>
          <p:nvPr/>
        </p:nvSpPr>
        <p:spPr>
          <a:xfrm>
            <a:off x="457200" y="1412776"/>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lang="zh-CN" sz="1800" kern="1200" baseline="0">
                <a:solidFill>
                  <a:schemeClr val="tx1"/>
                </a:solidFill>
                <a:latin typeface="+mn-lt"/>
                <a:ea typeface="+mn-ea"/>
                <a:cs typeface="+mn-cs"/>
              </a:defRPr>
            </a:lvl9pPr>
            <a:extLst/>
          </a:lstStyle>
          <a:p>
            <a:r>
              <a:rPr lang="zh-CN" altLang="en-US" dirty="0"/>
              <a:t>提纲</a:t>
            </a:r>
          </a:p>
          <a:p>
            <a:pPr marL="914400" lvl="1" indent="-457200">
              <a:buFont typeface="+mj-lt"/>
              <a:buAutoNum type="arabicPeriod"/>
            </a:pPr>
            <a:r>
              <a:rPr lang="en-US" altLang="zh-CN" sz="2800" dirty="0"/>
              <a:t>TA</a:t>
            </a:r>
          </a:p>
          <a:p>
            <a:pPr marL="1188720" lvl="2" indent="-457200">
              <a:buFont typeface="+mj-ea"/>
              <a:buAutoNum type="circleNumDbPlain"/>
            </a:pPr>
            <a:r>
              <a:rPr lang="zh-CN" altLang="en-US" sz="2500" dirty="0">
                <a:solidFill>
                  <a:schemeClr val="bg1">
                    <a:lumMod val="75000"/>
                  </a:schemeClr>
                </a:solidFill>
              </a:rPr>
              <a:t>海水中</a:t>
            </a:r>
            <a:r>
              <a:rPr lang="en-US" altLang="zh-CN" sz="2500" dirty="0">
                <a:solidFill>
                  <a:schemeClr val="bg1">
                    <a:lumMod val="75000"/>
                  </a:schemeClr>
                </a:solidFill>
              </a:rPr>
              <a:t>TA</a:t>
            </a:r>
            <a:r>
              <a:rPr lang="zh-CN" altLang="en-US" sz="2500" dirty="0">
                <a:solidFill>
                  <a:schemeClr val="bg1">
                    <a:lumMod val="75000"/>
                  </a:schemeClr>
                </a:solidFill>
              </a:rPr>
              <a:t>的定义</a:t>
            </a:r>
            <a:endParaRPr lang="zh-CN" altLang="en-US" sz="2800" dirty="0">
              <a:solidFill>
                <a:schemeClr val="bg1">
                  <a:lumMod val="75000"/>
                </a:schemeClr>
              </a:solidFill>
            </a:endParaRPr>
          </a:p>
          <a:p>
            <a:pPr marL="1188720" lvl="2" indent="-457200">
              <a:buFont typeface="+mj-lt"/>
              <a:buAutoNum type="circleNumDbPlain"/>
            </a:pPr>
            <a:r>
              <a:rPr lang="zh-CN" altLang="en-US" sz="2500" dirty="0">
                <a:solidFill>
                  <a:schemeClr val="bg1">
                    <a:lumMod val="75000"/>
                  </a:schemeClr>
                </a:solidFill>
              </a:rPr>
              <a:t>影响海水</a:t>
            </a:r>
            <a:r>
              <a:rPr lang="en-US" altLang="zh-CN" sz="2500" dirty="0">
                <a:solidFill>
                  <a:schemeClr val="bg1">
                    <a:lumMod val="75000"/>
                  </a:schemeClr>
                </a:solidFill>
              </a:rPr>
              <a:t>TA</a:t>
            </a:r>
            <a:r>
              <a:rPr lang="zh-CN" altLang="en-US" sz="2500" dirty="0">
                <a:solidFill>
                  <a:schemeClr val="bg1">
                    <a:lumMod val="75000"/>
                  </a:schemeClr>
                </a:solidFill>
              </a:rPr>
              <a:t>的主要因素</a:t>
            </a:r>
            <a:endParaRPr lang="en-US" altLang="zh-CN" sz="2500" dirty="0">
              <a:solidFill>
                <a:schemeClr val="bg1">
                  <a:lumMod val="75000"/>
                </a:schemeClr>
              </a:solidFill>
            </a:endParaRPr>
          </a:p>
          <a:p>
            <a:pPr marL="1188720" lvl="2" indent="-457200">
              <a:buFont typeface="+mj-lt"/>
              <a:buAutoNum type="circleNumDbPlain"/>
            </a:pPr>
            <a:r>
              <a:rPr lang="zh-CN" altLang="en-US" sz="2500" dirty="0">
                <a:solidFill>
                  <a:schemeClr val="bg1">
                    <a:lumMod val="75000"/>
                  </a:schemeClr>
                </a:solidFill>
              </a:rPr>
              <a:t>测量</a:t>
            </a:r>
            <a:r>
              <a:rPr lang="en-US" altLang="zh-CN" sz="2500" dirty="0">
                <a:solidFill>
                  <a:schemeClr val="bg1">
                    <a:lumMod val="75000"/>
                  </a:schemeClr>
                </a:solidFill>
              </a:rPr>
              <a:t>TA</a:t>
            </a:r>
            <a:r>
              <a:rPr lang="zh-CN" altLang="en-US" sz="2500" dirty="0">
                <a:solidFill>
                  <a:schemeClr val="bg1">
                    <a:lumMod val="75000"/>
                  </a:schemeClr>
                </a:solidFill>
              </a:rPr>
              <a:t>的方法</a:t>
            </a:r>
          </a:p>
          <a:p>
            <a:pPr marL="1703070" lvl="3" indent="-514350">
              <a:buFont typeface="+mj-lt"/>
              <a:buAutoNum type="circleNumDbPlain"/>
            </a:pPr>
            <a:r>
              <a:rPr lang="zh-CN" altLang="en-US" dirty="0">
                <a:solidFill>
                  <a:schemeClr val="bg1">
                    <a:lumMod val="75000"/>
                  </a:schemeClr>
                </a:solidFill>
              </a:rPr>
              <a:t>碘量法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回滴法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电导法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电位法</a:t>
            </a:r>
            <a:endParaRPr lang="en-US" altLang="zh-CN" dirty="0">
              <a:solidFill>
                <a:schemeClr val="bg1">
                  <a:lumMod val="75000"/>
                </a:schemeClr>
              </a:solidFill>
            </a:endParaRPr>
          </a:p>
          <a:p>
            <a:pPr marL="1703070" lvl="3" indent="-514350">
              <a:buFont typeface="+mj-lt"/>
              <a:buAutoNum type="circleNumDbPlain"/>
            </a:pPr>
            <a:r>
              <a:rPr lang="zh-CN" altLang="en-US" dirty="0">
                <a:solidFill>
                  <a:schemeClr val="bg1">
                    <a:lumMod val="75000"/>
                  </a:schemeClr>
                </a:solidFill>
              </a:rPr>
              <a:t>直接</a:t>
            </a:r>
            <a:r>
              <a:rPr lang="en-US" altLang="zh-CN" dirty="0">
                <a:solidFill>
                  <a:schemeClr val="bg1">
                    <a:lumMod val="75000"/>
                  </a:schemeClr>
                </a:solidFill>
              </a:rPr>
              <a:t>pH</a:t>
            </a:r>
            <a:r>
              <a:rPr lang="zh-CN" altLang="en-US" dirty="0">
                <a:solidFill>
                  <a:schemeClr val="bg1">
                    <a:lumMod val="75000"/>
                  </a:schemeClr>
                </a:solidFill>
              </a:rPr>
              <a:t>测量法</a:t>
            </a:r>
            <a:endParaRPr lang="en-US" altLang="zh-CN" dirty="0">
              <a:solidFill>
                <a:schemeClr val="bg1">
                  <a:lumMod val="75000"/>
                </a:schemeClr>
              </a:solidFill>
            </a:endParaRPr>
          </a:p>
          <a:p>
            <a:pPr marL="1245870" lvl="2" indent="-514350">
              <a:buFont typeface="+mj-lt"/>
              <a:buAutoNum type="circleNumDbPlain"/>
            </a:pPr>
            <a:r>
              <a:rPr lang="zh-CN" altLang="en-US" dirty="0"/>
              <a:t>测量</a:t>
            </a:r>
            <a:r>
              <a:rPr lang="en-US" altLang="zh-CN" dirty="0"/>
              <a:t>TA</a:t>
            </a:r>
            <a:r>
              <a:rPr lang="zh-CN" altLang="en-US" dirty="0"/>
              <a:t>的仪器</a:t>
            </a:r>
          </a:p>
          <a:p>
            <a:pPr marL="914400" lvl="1" indent="-457200">
              <a:buFont typeface="+mj-lt"/>
              <a:buAutoNum type="arabicPeriod"/>
            </a:pPr>
            <a:endParaRPr lang="zh-CN" altLang="en-US" dirty="0"/>
          </a:p>
        </p:txBody>
      </p:sp>
      <p:sp>
        <p:nvSpPr>
          <p:cNvPr id="5" name="TextBox 24">
            <a:extLst>
              <a:ext uri="{FF2B5EF4-FFF2-40B4-BE49-F238E27FC236}">
                <a16:creationId xmlns:a16="http://schemas.microsoft.com/office/drawing/2014/main" id="{EA2362A1-586F-44D1-BA02-A8DFEFCD7525}"/>
              </a:ext>
            </a:extLst>
          </p:cNvPr>
          <p:cNvSpPr txBox="1"/>
          <p:nvPr/>
        </p:nvSpPr>
        <p:spPr>
          <a:xfrm>
            <a:off x="1547664" y="548680"/>
            <a:ext cx="5518396" cy="584775"/>
          </a:xfrm>
          <a:prstGeom prst="rect">
            <a:avLst/>
          </a:prstGeom>
          <a:noFill/>
          <a:ln w="22225">
            <a:noFill/>
          </a:ln>
        </p:spPr>
        <p:txBody>
          <a:bodyPr wrap="square" rtlCol="0">
            <a:spAutoFit/>
          </a:bodyPr>
          <a:lstStyle/>
          <a:p>
            <a:pPr algn="ctr"/>
            <a:r>
              <a:rPr lang="zh-CN" altLang="en-US" sz="3200" b="1" dirty="0">
                <a:solidFill>
                  <a:schemeClr val="bg2">
                    <a:lumMod val="25000"/>
                  </a:schemeClr>
                </a:solidFill>
                <a:latin typeface="华文新魏" pitchFamily="2" charset="-122"/>
                <a:ea typeface="华文新魏" pitchFamily="2" charset="-122"/>
              </a:rPr>
              <a:t>第九章 海水中的</a:t>
            </a:r>
            <a:r>
              <a:rPr lang="en-US" altLang="zh-CN" sz="3200" b="1" dirty="0">
                <a:solidFill>
                  <a:schemeClr val="bg2">
                    <a:lumMod val="25000"/>
                  </a:schemeClr>
                </a:solidFill>
                <a:latin typeface="华文新魏" pitchFamily="2" charset="-122"/>
                <a:ea typeface="华文新魏" pitchFamily="2" charset="-122"/>
              </a:rPr>
              <a:t>TA</a:t>
            </a:r>
            <a:endParaRPr lang="zh-CN" altLang="en-US" sz="3200" b="1" dirty="0">
              <a:solidFill>
                <a:schemeClr val="bg2">
                  <a:lumMod val="25000"/>
                </a:schemeClr>
              </a:solidFill>
              <a:latin typeface="华文新魏" pitchFamily="2" charset="-122"/>
              <a:ea typeface="华文新魏" pitchFamily="2" charset="-122"/>
            </a:endParaRPr>
          </a:p>
        </p:txBody>
      </p:sp>
    </p:spTree>
    <p:extLst>
      <p:ext uri="{BB962C8B-B14F-4D97-AF65-F5344CB8AC3E}">
        <p14:creationId xmlns:p14="http://schemas.microsoft.com/office/powerpoint/2010/main" val="30407747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323528" y="1340769"/>
            <a:ext cx="8429684" cy="4680519"/>
          </a:xfrm>
        </p:spPr>
        <p:txBody>
          <a:bodyPr/>
          <a:lstStyle/>
          <a:p>
            <a:r>
              <a:rPr lang="zh-CN" altLang="en-US" dirty="0"/>
              <a:t>滴定仪器</a:t>
            </a:r>
            <a:endParaRPr lang="en-US" altLang="zh-CN" dirty="0"/>
          </a:p>
          <a:p>
            <a:pPr lvl="1"/>
            <a:r>
              <a:rPr lang="zh-CN" altLang="en-US" dirty="0"/>
              <a:t>如果只测</a:t>
            </a:r>
            <a:r>
              <a:rPr lang="en-US" altLang="zh-CN" dirty="0"/>
              <a:t>A</a:t>
            </a:r>
            <a:r>
              <a:rPr lang="en-US" altLang="zh-CN" baseline="-25000" dirty="0"/>
              <a:t>T</a:t>
            </a:r>
            <a:r>
              <a:rPr lang="zh-CN" altLang="en-US" dirty="0"/>
              <a:t>，不同时测</a:t>
            </a:r>
            <a:r>
              <a:rPr lang="en-US" altLang="zh-CN" dirty="0"/>
              <a:t>pH</a:t>
            </a:r>
            <a:r>
              <a:rPr lang="zh-CN" altLang="en-US" dirty="0"/>
              <a:t>和</a:t>
            </a:r>
            <a:r>
              <a:rPr lang="en-US" altLang="zh-CN" dirty="0"/>
              <a:t>DIC</a:t>
            </a:r>
            <a:r>
              <a:rPr lang="zh-CN" altLang="en-US" dirty="0"/>
              <a:t>，可用敞口容器</a:t>
            </a:r>
            <a:endParaRPr lang="en-US" altLang="zh-CN" dirty="0"/>
          </a:p>
          <a:p>
            <a:pPr lvl="1"/>
            <a:r>
              <a:rPr lang="zh-CN" altLang="en-US" dirty="0"/>
              <a:t>如果需要同时测定</a:t>
            </a:r>
            <a:r>
              <a:rPr lang="en-US" altLang="zh-CN" dirty="0"/>
              <a:t>A</a:t>
            </a:r>
            <a:r>
              <a:rPr lang="en-US" altLang="zh-CN" baseline="-25000" dirty="0"/>
              <a:t>T</a:t>
            </a:r>
            <a:r>
              <a:rPr lang="zh-CN" altLang="en-US" dirty="0"/>
              <a:t>和</a:t>
            </a:r>
            <a:r>
              <a:rPr lang="en-US" altLang="zh-CN" dirty="0"/>
              <a:t>DIC</a:t>
            </a:r>
            <a:r>
              <a:rPr lang="zh-CN" altLang="en-US" dirty="0"/>
              <a:t>、</a:t>
            </a:r>
            <a:r>
              <a:rPr lang="en-US" altLang="zh-CN" dirty="0"/>
              <a:t>pH</a:t>
            </a:r>
            <a:r>
              <a:rPr lang="zh-CN" altLang="en-US" dirty="0"/>
              <a:t>中任意一项，必须用密封体系，同时尽可能减少测量体系中的空气体积</a:t>
            </a:r>
            <a:endParaRPr lang="en-US" altLang="zh-CN" dirty="0"/>
          </a:p>
          <a:p>
            <a:pPr lvl="1"/>
            <a:r>
              <a:rPr lang="zh-CN" altLang="en-US" dirty="0"/>
              <a:t>确保测量过程中系统温度恒定</a:t>
            </a:r>
            <a:endParaRPr lang="en-US" altLang="zh-CN" dirty="0"/>
          </a:p>
          <a:p>
            <a:pPr lvl="1"/>
            <a:r>
              <a:rPr lang="zh-CN" altLang="en-US" dirty="0"/>
              <a:t>计算机控制，特别是滴定液的体积（最小能控制</a:t>
            </a:r>
            <a:r>
              <a:rPr lang="en-US" altLang="zh-CN" dirty="0"/>
              <a:t>1</a:t>
            </a:r>
            <a:r>
              <a:rPr lang="el-GR" altLang="zh-CN" dirty="0">
                <a:latin typeface="Arial Unicode MS"/>
                <a:ea typeface="Arial Unicode MS"/>
                <a:cs typeface="Arial Unicode MS"/>
              </a:rPr>
              <a:t>μ</a:t>
            </a:r>
            <a:r>
              <a:rPr lang="en-US" altLang="zh-CN" dirty="0">
                <a:latin typeface="Arial Unicode MS"/>
                <a:ea typeface="Arial Unicode MS"/>
                <a:cs typeface="Arial Unicode MS"/>
              </a:rPr>
              <a:t>L</a:t>
            </a:r>
            <a:r>
              <a:rPr lang="zh-CN" altLang="en-US" dirty="0">
                <a:latin typeface="Arial Unicode MS"/>
                <a:ea typeface="Arial Unicode MS"/>
                <a:cs typeface="Arial Unicode MS"/>
              </a:rPr>
              <a:t>）</a:t>
            </a:r>
            <a:endParaRPr lang="en-US" altLang="zh-CN" dirty="0">
              <a:latin typeface="Arial Unicode MS"/>
              <a:ea typeface="Arial Unicode MS"/>
              <a:cs typeface="Arial Unicode MS"/>
            </a:endParaRPr>
          </a:p>
          <a:p>
            <a:pPr lvl="1"/>
            <a:r>
              <a:rPr lang="zh-CN" altLang="en-US" dirty="0"/>
              <a:t>在滴定过程中，磁子处在匀速搅动速率下</a:t>
            </a:r>
            <a:endParaRPr lang="en-US" altLang="zh-CN" dirty="0"/>
          </a:p>
          <a:p>
            <a:r>
              <a:rPr lang="zh-CN" altLang="en-US" dirty="0"/>
              <a:t>标准</a:t>
            </a:r>
            <a:endParaRPr lang="en-US" altLang="zh-CN" dirty="0"/>
          </a:p>
          <a:p>
            <a:pPr lvl="1"/>
            <a:endParaRPr lang="en-US" altLang="zh-CN" dirty="0"/>
          </a:p>
          <a:p>
            <a:endParaRPr lang="en-US" altLang="zh-CN" dirty="0"/>
          </a:p>
          <a:p>
            <a:pPr lvl="1">
              <a:buNone/>
            </a:pPr>
            <a:endParaRPr lang="zh-CN" altLang="en-US" sz="2000" dirty="0"/>
          </a:p>
        </p:txBody>
      </p:sp>
      <p:sp>
        <p:nvSpPr>
          <p:cNvPr id="4" name="标题 4">
            <a:extLst>
              <a:ext uri="{FF2B5EF4-FFF2-40B4-BE49-F238E27FC236}">
                <a16:creationId xmlns:a16="http://schemas.microsoft.com/office/drawing/2014/main" id="{36580622-3470-4AFF-A5BE-55D5AA1A70ED}"/>
              </a:ext>
            </a:extLst>
          </p:cNvPr>
          <p:cNvSpPr txBox="1">
            <a:spLocks/>
          </p:cNvSpPr>
          <p:nvPr/>
        </p:nvSpPr>
        <p:spPr bwMode="auto">
          <a:xfrm>
            <a:off x="1176984" y="387749"/>
            <a:ext cx="4929222" cy="584775"/>
          </a:xfrm>
          <a:prstGeom prst="rect">
            <a:avLst/>
          </a:prstGeom>
          <a:noFill/>
          <a:ln w="15875">
            <a:noFill/>
            <a:miter lim="800000"/>
            <a:headEnd/>
            <a:tailEnd/>
          </a:ln>
        </p:spPr>
        <p:txBody>
          <a:bodyPr vert="horz" wrap="square" lIns="91440" tIns="45720" rIns="91440" bIns="45720" numCol="1" rtlCol="0" anchor="ctr" anchorCtr="0" compatLnSpc="1">
            <a:prstTxWarp prst="textNoShape">
              <a:avLst/>
            </a:prstTxWarp>
            <a:spAutoFit/>
          </a:bodyPr>
          <a:lstStyle>
            <a:lvl1pPr algn="ctr" rtl="0" eaLnBrk="0" fontAlgn="base" hangingPunct="0">
              <a:spcBef>
                <a:spcPct val="0"/>
              </a:spcBef>
              <a:spcAft>
                <a:spcPct val="0"/>
              </a:spcAft>
              <a:defRPr sz="3600">
                <a:solidFill>
                  <a:schemeClr val="tx2"/>
                </a:solidFill>
                <a:latin typeface="+mj-lt"/>
                <a:ea typeface="黑体" pitchFamily="49" charset="-122"/>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r>
              <a:rPr lang="zh-CN" altLang="en-US" sz="3200" b="1" kern="0" dirty="0">
                <a:solidFill>
                  <a:schemeClr val="bg2">
                    <a:lumMod val="25000"/>
                  </a:schemeClr>
                </a:solidFill>
                <a:latin typeface="华文新魏" pitchFamily="2" charset="-122"/>
                <a:ea typeface="华文新魏" pitchFamily="2" charset="-122"/>
              </a:rPr>
              <a:t>第九章 海水中的</a:t>
            </a:r>
            <a:r>
              <a:rPr lang="en-US" altLang="zh-CN" sz="3200" b="1" kern="0" dirty="0">
                <a:solidFill>
                  <a:schemeClr val="bg2">
                    <a:lumMod val="25000"/>
                  </a:schemeClr>
                </a:solidFill>
                <a:latin typeface="华文新魏" pitchFamily="2" charset="-122"/>
                <a:ea typeface="华文新魏" pitchFamily="2" charset="-122"/>
              </a:rPr>
              <a:t>TA</a:t>
            </a:r>
            <a:endParaRPr lang="zh-CN" altLang="en-US" sz="3200" b="1" kern="0" dirty="0">
              <a:solidFill>
                <a:schemeClr val="bg2">
                  <a:lumMod val="25000"/>
                </a:schemeClr>
              </a:solidFill>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20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2000"/>
                                        <p:tgtEl>
                                          <p:spTgt spid="5">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20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20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0" i="0" u="none" strike="noStrike" cap="none" normalizeH="0" baseline="0" smtClean="0">
            <a:ln>
              <a:noFill/>
            </a:ln>
            <a:solidFill>
              <a:srgbClr val="3399FF"/>
            </a:solidFill>
            <a:effectLst/>
            <a:latin typeface="Arial" charset="0"/>
            <a:ea typeface="华文行楷" pitchFamily="2" charset="-122"/>
          </a:defRPr>
        </a:defPPr>
      </a:lstStyle>
    </a:spDef>
    <a:lnDef>
      <a:spPr bwMode="auto">
        <a:solidFill>
          <a:schemeClr val="accent1"/>
        </a:solidFill>
        <a:ln w="25400" cap="flat" cmpd="sng" algn="ctr">
          <a:solidFill>
            <a:schemeClr val="tx1"/>
          </a:solidFill>
          <a:prstDash val="solid"/>
          <a:round/>
          <a:headEnd type="none" w="med" len="med"/>
          <a:tailEnd type="arrow"/>
        </a:ln>
        <a:effectLst/>
      </a:spPr>
      <a:body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1767</Words>
  <Application>Microsoft Office PowerPoint</Application>
  <PresentationFormat>全屏显示(4:3)</PresentationFormat>
  <Paragraphs>305</Paragraphs>
  <Slides>41</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4" baseType="lpstr">
      <vt:lpstr>Adobe 黑体 Std R</vt:lpstr>
      <vt:lpstr>Arial Unicode MS</vt:lpstr>
      <vt:lpstr>黑体</vt:lpstr>
      <vt:lpstr>华文行楷</vt:lpstr>
      <vt:lpstr>华文新魏</vt:lpstr>
      <vt:lpstr>宋体</vt:lpstr>
      <vt:lpstr>Arial</vt:lpstr>
      <vt:lpstr>Calibri</vt:lpstr>
      <vt:lpstr>Times New Roman</vt:lpstr>
      <vt:lpstr>Wingdings</vt:lpstr>
      <vt:lpstr>默认设计模板</vt:lpstr>
      <vt:lpstr>Equation</vt:lpstr>
      <vt:lpstr>公式</vt:lpstr>
      <vt:lpstr>海水分析化学 Chemistry of seawater analysis </vt:lpstr>
      <vt:lpstr>PowerPoint 演示文稿</vt:lpstr>
      <vt:lpstr>一、总碱度定义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海水中可能存在的酸碱离子对</vt:lpstr>
      <vt:lpstr>第九章 海水中的TA</vt:lpstr>
      <vt:lpstr>第九章 海水中的TA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回滴法步骤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dc:creator>
  <cp:lastModifiedBy>Administrator</cp:lastModifiedBy>
  <cp:revision>1417</cp:revision>
  <dcterms:created xsi:type="dcterms:W3CDTF">2013-10-17T05:15:34Z</dcterms:created>
  <dcterms:modified xsi:type="dcterms:W3CDTF">2022-11-28T01:41:58Z</dcterms:modified>
</cp:coreProperties>
</file>