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98"/>
  </p:notesMasterIdLst>
  <p:handoutMasterIdLst>
    <p:handoutMasterId r:id="rId99"/>
  </p:handoutMasterIdLst>
  <p:sldIdLst>
    <p:sldId id="256" r:id="rId2"/>
    <p:sldId id="277" r:id="rId3"/>
    <p:sldId id="564" r:id="rId4"/>
    <p:sldId id="455" r:id="rId5"/>
    <p:sldId id="307" r:id="rId6"/>
    <p:sldId id="456" r:id="rId7"/>
    <p:sldId id="672" r:id="rId8"/>
    <p:sldId id="457" r:id="rId9"/>
    <p:sldId id="458" r:id="rId10"/>
    <p:sldId id="459" r:id="rId11"/>
    <p:sldId id="460" r:id="rId12"/>
    <p:sldId id="671" r:id="rId13"/>
    <p:sldId id="461" r:id="rId14"/>
    <p:sldId id="462" r:id="rId15"/>
    <p:sldId id="463" r:id="rId16"/>
    <p:sldId id="464" r:id="rId17"/>
    <p:sldId id="669" r:id="rId18"/>
    <p:sldId id="590" r:id="rId19"/>
    <p:sldId id="591" r:id="rId20"/>
    <p:sldId id="602" r:id="rId21"/>
    <p:sldId id="465" r:id="rId22"/>
    <p:sldId id="466" r:id="rId23"/>
    <p:sldId id="467" r:id="rId24"/>
    <p:sldId id="468" r:id="rId25"/>
    <p:sldId id="469" r:id="rId26"/>
    <p:sldId id="470" r:id="rId27"/>
    <p:sldId id="471" r:id="rId28"/>
    <p:sldId id="559" r:id="rId29"/>
    <p:sldId id="670" r:id="rId30"/>
    <p:sldId id="520" r:id="rId31"/>
    <p:sldId id="472" r:id="rId32"/>
    <p:sldId id="473" r:id="rId33"/>
    <p:sldId id="474" r:id="rId34"/>
    <p:sldId id="475" r:id="rId35"/>
    <p:sldId id="478" r:id="rId36"/>
    <p:sldId id="566" r:id="rId37"/>
    <p:sldId id="606" r:id="rId38"/>
    <p:sldId id="607" r:id="rId39"/>
    <p:sldId id="608" r:id="rId40"/>
    <p:sldId id="609" r:id="rId41"/>
    <p:sldId id="610" r:id="rId42"/>
    <p:sldId id="611" r:id="rId43"/>
    <p:sldId id="612" r:id="rId44"/>
    <p:sldId id="613" r:id="rId45"/>
    <p:sldId id="614" r:id="rId46"/>
    <p:sldId id="615" r:id="rId47"/>
    <p:sldId id="616" r:id="rId48"/>
    <p:sldId id="617" r:id="rId49"/>
    <p:sldId id="618" r:id="rId50"/>
    <p:sldId id="619" r:id="rId51"/>
    <p:sldId id="620" r:id="rId52"/>
    <p:sldId id="621" r:id="rId53"/>
    <p:sldId id="622" r:id="rId54"/>
    <p:sldId id="623" r:id="rId55"/>
    <p:sldId id="624" r:id="rId56"/>
    <p:sldId id="625" r:id="rId57"/>
    <p:sldId id="626" r:id="rId58"/>
    <p:sldId id="627" r:id="rId59"/>
    <p:sldId id="631" r:id="rId60"/>
    <p:sldId id="632" r:id="rId61"/>
    <p:sldId id="633" r:id="rId62"/>
    <p:sldId id="634" r:id="rId63"/>
    <p:sldId id="635" r:id="rId64"/>
    <p:sldId id="636" r:id="rId65"/>
    <p:sldId id="637" r:id="rId66"/>
    <p:sldId id="638" r:id="rId67"/>
    <p:sldId id="639" r:id="rId68"/>
    <p:sldId id="640" r:id="rId69"/>
    <p:sldId id="641" r:id="rId70"/>
    <p:sldId id="642" r:id="rId71"/>
    <p:sldId id="643" r:id="rId72"/>
    <p:sldId id="644" r:id="rId73"/>
    <p:sldId id="645" r:id="rId74"/>
    <p:sldId id="646" r:id="rId75"/>
    <p:sldId id="647" r:id="rId76"/>
    <p:sldId id="648" r:id="rId77"/>
    <p:sldId id="649" r:id="rId78"/>
    <p:sldId id="650" r:id="rId79"/>
    <p:sldId id="651" r:id="rId80"/>
    <p:sldId id="652" r:id="rId81"/>
    <p:sldId id="653" r:id="rId82"/>
    <p:sldId id="654" r:id="rId83"/>
    <p:sldId id="655" r:id="rId84"/>
    <p:sldId id="656" r:id="rId85"/>
    <p:sldId id="657" r:id="rId86"/>
    <p:sldId id="658" r:id="rId87"/>
    <p:sldId id="659" r:id="rId88"/>
    <p:sldId id="660" r:id="rId89"/>
    <p:sldId id="661" r:id="rId90"/>
    <p:sldId id="662" r:id="rId91"/>
    <p:sldId id="663" r:id="rId92"/>
    <p:sldId id="664" r:id="rId93"/>
    <p:sldId id="665" r:id="rId94"/>
    <p:sldId id="666" r:id="rId95"/>
    <p:sldId id="667" r:id="rId96"/>
    <p:sldId id="668" r:id="rId97"/>
  </p:sldIdLst>
  <p:sldSz cx="9144000" cy="6858000" type="screen4x3"/>
  <p:notesSz cx="9926638" cy="6797675"/>
  <p:defaultTextStyle>
    <a:defPPr>
      <a:defRPr lang="zh-CN"/>
    </a:defPPr>
    <a:lvl1pPr algn="ctr" rtl="0" fontAlgn="base">
      <a:lnSpc>
        <a:spcPct val="90000"/>
      </a:lnSpc>
      <a:spcBef>
        <a:spcPct val="20000"/>
      </a:spcBef>
      <a:spcAft>
        <a:spcPct val="0"/>
      </a:spcAft>
      <a:buClr>
        <a:schemeClr val="tx1"/>
      </a:buClr>
      <a:buFont typeface="Wingdings" pitchFamily="2" charset="2"/>
      <a:defRPr sz="2400" b="1" kern="1200">
        <a:solidFill>
          <a:srgbClr val="0000FF"/>
        </a:solidFill>
        <a:latin typeface="Times New Roman" pitchFamily="18" charset="0"/>
        <a:ea typeface="宋体" pitchFamily="2" charset="-122"/>
        <a:cs typeface="+mn-cs"/>
      </a:defRPr>
    </a:lvl1pPr>
    <a:lvl2pPr marL="457200" algn="ctr" rtl="0" fontAlgn="base">
      <a:lnSpc>
        <a:spcPct val="90000"/>
      </a:lnSpc>
      <a:spcBef>
        <a:spcPct val="20000"/>
      </a:spcBef>
      <a:spcAft>
        <a:spcPct val="0"/>
      </a:spcAft>
      <a:buClr>
        <a:schemeClr val="tx1"/>
      </a:buClr>
      <a:buFont typeface="Wingdings" pitchFamily="2" charset="2"/>
      <a:defRPr sz="2400" b="1" kern="1200">
        <a:solidFill>
          <a:srgbClr val="0000FF"/>
        </a:solidFill>
        <a:latin typeface="Times New Roman" pitchFamily="18" charset="0"/>
        <a:ea typeface="宋体" pitchFamily="2" charset="-122"/>
        <a:cs typeface="+mn-cs"/>
      </a:defRPr>
    </a:lvl2pPr>
    <a:lvl3pPr marL="914400" algn="ctr" rtl="0" fontAlgn="base">
      <a:lnSpc>
        <a:spcPct val="90000"/>
      </a:lnSpc>
      <a:spcBef>
        <a:spcPct val="20000"/>
      </a:spcBef>
      <a:spcAft>
        <a:spcPct val="0"/>
      </a:spcAft>
      <a:buClr>
        <a:schemeClr val="tx1"/>
      </a:buClr>
      <a:buFont typeface="Wingdings" pitchFamily="2" charset="2"/>
      <a:defRPr sz="2400" b="1" kern="1200">
        <a:solidFill>
          <a:srgbClr val="0000FF"/>
        </a:solidFill>
        <a:latin typeface="Times New Roman" pitchFamily="18" charset="0"/>
        <a:ea typeface="宋体" pitchFamily="2" charset="-122"/>
        <a:cs typeface="+mn-cs"/>
      </a:defRPr>
    </a:lvl3pPr>
    <a:lvl4pPr marL="1371600" algn="ctr" rtl="0" fontAlgn="base">
      <a:lnSpc>
        <a:spcPct val="90000"/>
      </a:lnSpc>
      <a:spcBef>
        <a:spcPct val="20000"/>
      </a:spcBef>
      <a:spcAft>
        <a:spcPct val="0"/>
      </a:spcAft>
      <a:buClr>
        <a:schemeClr val="tx1"/>
      </a:buClr>
      <a:buFont typeface="Wingdings" pitchFamily="2" charset="2"/>
      <a:defRPr sz="2400" b="1" kern="1200">
        <a:solidFill>
          <a:srgbClr val="0000FF"/>
        </a:solidFill>
        <a:latin typeface="Times New Roman" pitchFamily="18" charset="0"/>
        <a:ea typeface="宋体" pitchFamily="2" charset="-122"/>
        <a:cs typeface="+mn-cs"/>
      </a:defRPr>
    </a:lvl4pPr>
    <a:lvl5pPr marL="1828800" algn="ctr" rtl="0" fontAlgn="base">
      <a:lnSpc>
        <a:spcPct val="90000"/>
      </a:lnSpc>
      <a:spcBef>
        <a:spcPct val="20000"/>
      </a:spcBef>
      <a:spcAft>
        <a:spcPct val="0"/>
      </a:spcAft>
      <a:buClr>
        <a:schemeClr val="tx1"/>
      </a:buClr>
      <a:buFont typeface="Wingdings" pitchFamily="2" charset="2"/>
      <a:defRPr sz="2400" b="1" kern="1200">
        <a:solidFill>
          <a:srgbClr val="0000FF"/>
        </a:solidFill>
        <a:latin typeface="Times New Roman" pitchFamily="18" charset="0"/>
        <a:ea typeface="宋体" pitchFamily="2" charset="-122"/>
        <a:cs typeface="+mn-cs"/>
      </a:defRPr>
    </a:lvl5pPr>
    <a:lvl6pPr marL="2286000" algn="l" defTabSz="914400" rtl="0" eaLnBrk="1" latinLnBrk="0" hangingPunct="1">
      <a:defRPr sz="2400" b="1" kern="1200">
        <a:solidFill>
          <a:srgbClr val="0000FF"/>
        </a:solidFill>
        <a:latin typeface="Times New Roman" pitchFamily="18" charset="0"/>
        <a:ea typeface="宋体" pitchFamily="2" charset="-122"/>
        <a:cs typeface="+mn-cs"/>
      </a:defRPr>
    </a:lvl6pPr>
    <a:lvl7pPr marL="2743200" algn="l" defTabSz="914400" rtl="0" eaLnBrk="1" latinLnBrk="0" hangingPunct="1">
      <a:defRPr sz="2400" b="1" kern="1200">
        <a:solidFill>
          <a:srgbClr val="0000FF"/>
        </a:solidFill>
        <a:latin typeface="Times New Roman" pitchFamily="18" charset="0"/>
        <a:ea typeface="宋体" pitchFamily="2" charset="-122"/>
        <a:cs typeface="+mn-cs"/>
      </a:defRPr>
    </a:lvl7pPr>
    <a:lvl8pPr marL="3200400" algn="l" defTabSz="914400" rtl="0" eaLnBrk="1" latinLnBrk="0" hangingPunct="1">
      <a:defRPr sz="2400" b="1" kern="1200">
        <a:solidFill>
          <a:srgbClr val="0000FF"/>
        </a:solidFill>
        <a:latin typeface="Times New Roman" pitchFamily="18" charset="0"/>
        <a:ea typeface="宋体" pitchFamily="2" charset="-122"/>
        <a:cs typeface="+mn-cs"/>
      </a:defRPr>
    </a:lvl8pPr>
    <a:lvl9pPr marL="3657600" algn="l" defTabSz="914400" rtl="0" eaLnBrk="1" latinLnBrk="0" hangingPunct="1">
      <a:defRPr sz="2400" b="1" kern="1200">
        <a:solidFill>
          <a:srgbClr val="0000FF"/>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41" userDrawn="1">
          <p15:clr>
            <a:srgbClr val="A4A3A4"/>
          </p15:clr>
        </p15:guide>
        <p15:guide id="2" pos="312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99"/>
    <a:srgbClr val="FF0066"/>
    <a:srgbClr val="0099CC"/>
    <a:srgbClr val="006699"/>
    <a:srgbClr val="33CCCC"/>
    <a:srgbClr val="FF0000"/>
    <a:srgbClr val="CC0000"/>
    <a:srgbClr val="008000"/>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23" autoAdjust="0"/>
    <p:restoredTop sz="60549" autoAdjust="0"/>
  </p:normalViewPr>
  <p:slideViewPr>
    <p:cSldViewPr>
      <p:cViewPr varScale="1">
        <p:scale>
          <a:sx n="113" d="100"/>
          <a:sy n="113" d="100"/>
        </p:scale>
        <p:origin x="1776" y="102"/>
      </p:cViewPr>
      <p:guideLst>
        <p:guide orient="horz" pos="2160"/>
        <p:guide pos="2880"/>
      </p:guideLst>
    </p:cSldViewPr>
  </p:slideViewPr>
  <p:outlineViewPr>
    <p:cViewPr>
      <p:scale>
        <a:sx n="33" d="100"/>
        <a:sy n="33" d="100"/>
      </p:scale>
      <p:origin x="0" y="0"/>
    </p:cViewPr>
  </p:outlineViewPr>
  <p:notesTextViewPr>
    <p:cViewPr>
      <p:scale>
        <a:sx n="400" d="100"/>
        <a:sy n="400" d="100"/>
      </p:scale>
      <p:origin x="0" y="0"/>
    </p:cViewPr>
  </p:notesTextViewPr>
  <p:sorterViewPr>
    <p:cViewPr>
      <p:scale>
        <a:sx n="66" d="100"/>
        <a:sy n="66" d="100"/>
      </p:scale>
      <p:origin x="0" y="7080"/>
    </p:cViewPr>
  </p:sorterViewPr>
  <p:notesViewPr>
    <p:cSldViewPr>
      <p:cViewPr varScale="1">
        <p:scale>
          <a:sx n="50" d="100"/>
          <a:sy n="50" d="100"/>
        </p:scale>
        <p:origin x="-1950" y="-108"/>
      </p:cViewPr>
      <p:guideLst>
        <p:guide orient="horz" pos="2141"/>
        <p:guide pos="3127"/>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2.emf"/><Relationship Id="rId1" Type="http://schemas.openxmlformats.org/officeDocument/2006/relationships/image" Target="../media/image24.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4" Type="http://schemas.openxmlformats.org/officeDocument/2006/relationships/image" Target="../media/image34.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 Id="rId4" Type="http://schemas.openxmlformats.org/officeDocument/2006/relationships/image" Target="../media/image54.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61.wmf"/><Relationship Id="rId1" Type="http://schemas.openxmlformats.org/officeDocument/2006/relationships/image" Target="../media/image60.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6.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75.emf"/><Relationship Id="rId3" Type="http://schemas.openxmlformats.org/officeDocument/2006/relationships/image" Target="../media/image70.wmf"/><Relationship Id="rId7" Type="http://schemas.openxmlformats.org/officeDocument/2006/relationships/image" Target="../media/image74.wmf"/><Relationship Id="rId2" Type="http://schemas.openxmlformats.org/officeDocument/2006/relationships/image" Target="../media/image69.wmf"/><Relationship Id="rId1" Type="http://schemas.openxmlformats.org/officeDocument/2006/relationships/image" Target="../media/image68.wmf"/><Relationship Id="rId6" Type="http://schemas.openxmlformats.org/officeDocument/2006/relationships/image" Target="../media/image73.wmf"/><Relationship Id="rId5" Type="http://schemas.openxmlformats.org/officeDocument/2006/relationships/image" Target="../media/image72.wmf"/><Relationship Id="rId10" Type="http://schemas.openxmlformats.org/officeDocument/2006/relationships/image" Target="../media/image77.emf"/><Relationship Id="rId4" Type="http://schemas.openxmlformats.org/officeDocument/2006/relationships/image" Target="../media/image71.wmf"/><Relationship Id="rId9" Type="http://schemas.openxmlformats.org/officeDocument/2006/relationships/image" Target="../media/image76.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80.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image" Target="../media/image82.wmf"/><Relationship Id="rId1" Type="http://schemas.openxmlformats.org/officeDocument/2006/relationships/image" Target="../media/image81.wmf"/><Relationship Id="rId6" Type="http://schemas.openxmlformats.org/officeDocument/2006/relationships/image" Target="../media/image86.wmf"/><Relationship Id="rId5" Type="http://schemas.openxmlformats.org/officeDocument/2006/relationships/image" Target="../media/image85.wmf"/><Relationship Id="rId4" Type="http://schemas.openxmlformats.org/officeDocument/2006/relationships/image" Target="../media/image84.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 Id="rId4" Type="http://schemas.openxmlformats.org/officeDocument/2006/relationships/image" Target="../media/image90.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92.wmf"/><Relationship Id="rId1" Type="http://schemas.openxmlformats.org/officeDocument/2006/relationships/image" Target="../media/image91.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 Id="rId4" Type="http://schemas.openxmlformats.org/officeDocument/2006/relationships/image" Target="../media/image97.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 Id="rId5" Type="http://schemas.openxmlformats.org/officeDocument/2006/relationships/image" Target="../media/image102.wmf"/><Relationship Id="rId4" Type="http://schemas.openxmlformats.org/officeDocument/2006/relationships/image" Target="../media/image101.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10.wmf"/><Relationship Id="rId3" Type="http://schemas.openxmlformats.org/officeDocument/2006/relationships/image" Target="../media/image105.wmf"/><Relationship Id="rId7" Type="http://schemas.openxmlformats.org/officeDocument/2006/relationships/image" Target="../media/image109.wmf"/><Relationship Id="rId2" Type="http://schemas.openxmlformats.org/officeDocument/2006/relationships/image" Target="../media/image104.wmf"/><Relationship Id="rId1" Type="http://schemas.openxmlformats.org/officeDocument/2006/relationships/image" Target="../media/image103.wmf"/><Relationship Id="rId6" Type="http://schemas.openxmlformats.org/officeDocument/2006/relationships/image" Target="../media/image108.wmf"/><Relationship Id="rId11" Type="http://schemas.openxmlformats.org/officeDocument/2006/relationships/image" Target="../media/image113.wmf"/><Relationship Id="rId5" Type="http://schemas.openxmlformats.org/officeDocument/2006/relationships/image" Target="../media/image107.wmf"/><Relationship Id="rId10" Type="http://schemas.openxmlformats.org/officeDocument/2006/relationships/image" Target="../media/image112.wmf"/><Relationship Id="rId4" Type="http://schemas.openxmlformats.org/officeDocument/2006/relationships/image" Target="../media/image106.wmf"/><Relationship Id="rId9" Type="http://schemas.openxmlformats.org/officeDocument/2006/relationships/image" Target="../media/image111.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 Id="rId5" Type="http://schemas.openxmlformats.org/officeDocument/2006/relationships/image" Target="../media/image119.wmf"/><Relationship Id="rId4" Type="http://schemas.openxmlformats.org/officeDocument/2006/relationships/image" Target="../media/image118.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21.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130.wmf"/><Relationship Id="rId3" Type="http://schemas.openxmlformats.org/officeDocument/2006/relationships/image" Target="../media/image125.wmf"/><Relationship Id="rId7" Type="http://schemas.openxmlformats.org/officeDocument/2006/relationships/image" Target="../media/image129.emf"/><Relationship Id="rId2" Type="http://schemas.openxmlformats.org/officeDocument/2006/relationships/image" Target="../media/image124.wmf"/><Relationship Id="rId1" Type="http://schemas.openxmlformats.org/officeDocument/2006/relationships/image" Target="../media/image123.wmf"/><Relationship Id="rId6" Type="http://schemas.openxmlformats.org/officeDocument/2006/relationships/image" Target="../media/image128.wmf"/><Relationship Id="rId11" Type="http://schemas.openxmlformats.org/officeDocument/2006/relationships/image" Target="../media/image133.wmf"/><Relationship Id="rId5" Type="http://schemas.openxmlformats.org/officeDocument/2006/relationships/image" Target="../media/image127.wmf"/><Relationship Id="rId10" Type="http://schemas.openxmlformats.org/officeDocument/2006/relationships/image" Target="../media/image132.emf"/><Relationship Id="rId4" Type="http://schemas.openxmlformats.org/officeDocument/2006/relationships/image" Target="../media/image126.wmf"/><Relationship Id="rId9" Type="http://schemas.openxmlformats.org/officeDocument/2006/relationships/image" Target="../media/image131.e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136.emf"/><Relationship Id="rId3" Type="http://schemas.openxmlformats.org/officeDocument/2006/relationships/image" Target="../media/image125.wmf"/><Relationship Id="rId7" Type="http://schemas.openxmlformats.org/officeDocument/2006/relationships/image" Target="../media/image135.wmf"/><Relationship Id="rId2" Type="http://schemas.openxmlformats.org/officeDocument/2006/relationships/image" Target="../media/image124.wmf"/><Relationship Id="rId1" Type="http://schemas.openxmlformats.org/officeDocument/2006/relationships/image" Target="../media/image123.wmf"/><Relationship Id="rId6" Type="http://schemas.openxmlformats.org/officeDocument/2006/relationships/image" Target="../media/image128.wmf"/><Relationship Id="rId5" Type="http://schemas.openxmlformats.org/officeDocument/2006/relationships/image" Target="../media/image134.wmf"/><Relationship Id="rId10" Type="http://schemas.openxmlformats.org/officeDocument/2006/relationships/image" Target="../media/image138.wmf"/><Relationship Id="rId4" Type="http://schemas.openxmlformats.org/officeDocument/2006/relationships/image" Target="../media/image126.wmf"/><Relationship Id="rId9" Type="http://schemas.openxmlformats.org/officeDocument/2006/relationships/image" Target="../media/image137.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39.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147.wmf"/><Relationship Id="rId3" Type="http://schemas.openxmlformats.org/officeDocument/2006/relationships/image" Target="../media/image142.wmf"/><Relationship Id="rId7" Type="http://schemas.openxmlformats.org/officeDocument/2006/relationships/image" Target="../media/image146.wmf"/><Relationship Id="rId12" Type="http://schemas.openxmlformats.org/officeDocument/2006/relationships/image" Target="../media/image151.wmf"/><Relationship Id="rId2" Type="http://schemas.openxmlformats.org/officeDocument/2006/relationships/image" Target="../media/image141.wmf"/><Relationship Id="rId1" Type="http://schemas.openxmlformats.org/officeDocument/2006/relationships/image" Target="../media/image140.wmf"/><Relationship Id="rId6" Type="http://schemas.openxmlformats.org/officeDocument/2006/relationships/image" Target="../media/image145.wmf"/><Relationship Id="rId11" Type="http://schemas.openxmlformats.org/officeDocument/2006/relationships/image" Target="../media/image150.wmf"/><Relationship Id="rId5" Type="http://schemas.openxmlformats.org/officeDocument/2006/relationships/image" Target="../media/image144.wmf"/><Relationship Id="rId10" Type="http://schemas.openxmlformats.org/officeDocument/2006/relationships/image" Target="../media/image149.wmf"/><Relationship Id="rId4" Type="http://schemas.openxmlformats.org/officeDocument/2006/relationships/image" Target="../media/image143.wmf"/><Relationship Id="rId9" Type="http://schemas.openxmlformats.org/officeDocument/2006/relationships/image" Target="../media/image148.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image" Target="../media/image153.wmf"/><Relationship Id="rId1" Type="http://schemas.openxmlformats.org/officeDocument/2006/relationships/image" Target="../media/image152.wmf"/><Relationship Id="rId5" Type="http://schemas.openxmlformats.org/officeDocument/2006/relationships/image" Target="../media/image156.wmf"/><Relationship Id="rId4" Type="http://schemas.openxmlformats.org/officeDocument/2006/relationships/image" Target="../media/image155.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61.wmf"/><Relationship Id="rId2" Type="http://schemas.openxmlformats.org/officeDocument/2006/relationships/image" Target="../media/image160.wmf"/><Relationship Id="rId1" Type="http://schemas.openxmlformats.org/officeDocument/2006/relationships/image" Target="../media/image159.wmf"/><Relationship Id="rId5" Type="http://schemas.openxmlformats.org/officeDocument/2006/relationships/image" Target="../media/image163.wmf"/><Relationship Id="rId4" Type="http://schemas.openxmlformats.org/officeDocument/2006/relationships/image" Target="../media/image162.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 Id="rId4" Type="http://schemas.openxmlformats.org/officeDocument/2006/relationships/image" Target="../media/image168.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72.wmf"/><Relationship Id="rId2" Type="http://schemas.openxmlformats.org/officeDocument/2006/relationships/image" Target="../media/image171.wmf"/><Relationship Id="rId1" Type="http://schemas.openxmlformats.org/officeDocument/2006/relationships/image" Target="../media/image170.wmf"/><Relationship Id="rId6" Type="http://schemas.openxmlformats.org/officeDocument/2006/relationships/image" Target="../media/image175.wmf"/><Relationship Id="rId5" Type="http://schemas.openxmlformats.org/officeDocument/2006/relationships/image" Target="../media/image174.wmf"/><Relationship Id="rId4" Type="http://schemas.openxmlformats.org/officeDocument/2006/relationships/image" Target="../media/image173.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80.wmf"/><Relationship Id="rId2" Type="http://schemas.openxmlformats.org/officeDocument/2006/relationships/image" Target="../media/image179.wmf"/><Relationship Id="rId1" Type="http://schemas.openxmlformats.org/officeDocument/2006/relationships/image" Target="../media/image178.wmf"/><Relationship Id="rId4" Type="http://schemas.openxmlformats.org/officeDocument/2006/relationships/image" Target="../media/image181.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83.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86.wmf"/><Relationship Id="rId7" Type="http://schemas.openxmlformats.org/officeDocument/2006/relationships/image" Target="../media/image190.wmf"/><Relationship Id="rId2" Type="http://schemas.openxmlformats.org/officeDocument/2006/relationships/image" Target="../media/image185.wmf"/><Relationship Id="rId1" Type="http://schemas.openxmlformats.org/officeDocument/2006/relationships/image" Target="../media/image184.wmf"/><Relationship Id="rId6" Type="http://schemas.openxmlformats.org/officeDocument/2006/relationships/image" Target="../media/image189.wmf"/><Relationship Id="rId5" Type="http://schemas.openxmlformats.org/officeDocument/2006/relationships/image" Target="../media/image188.wmf"/><Relationship Id="rId4" Type="http://schemas.openxmlformats.org/officeDocument/2006/relationships/image" Target="../media/image187.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93.wmf"/><Relationship Id="rId2" Type="http://schemas.openxmlformats.org/officeDocument/2006/relationships/image" Target="../media/image192.wmf"/><Relationship Id="rId1" Type="http://schemas.openxmlformats.org/officeDocument/2006/relationships/image" Target="../media/image191.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96.wmf"/><Relationship Id="rId2" Type="http://schemas.openxmlformats.org/officeDocument/2006/relationships/image" Target="../media/image195.wmf"/><Relationship Id="rId1" Type="http://schemas.openxmlformats.org/officeDocument/2006/relationships/image" Target="../media/image194.wmf"/><Relationship Id="rId4" Type="http://schemas.openxmlformats.org/officeDocument/2006/relationships/image" Target="../media/image197.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202.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05.wmf"/><Relationship Id="rId2" Type="http://schemas.openxmlformats.org/officeDocument/2006/relationships/image" Target="../media/image204.wmf"/><Relationship Id="rId1" Type="http://schemas.openxmlformats.org/officeDocument/2006/relationships/image" Target="../media/image203.wmf"/><Relationship Id="rId5" Type="http://schemas.openxmlformats.org/officeDocument/2006/relationships/image" Target="../media/image202.wmf"/><Relationship Id="rId4" Type="http://schemas.openxmlformats.org/officeDocument/2006/relationships/image" Target="../media/image206.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20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4301839" cy="340569"/>
          </a:xfrm>
          <a:prstGeom prst="rect">
            <a:avLst/>
          </a:prstGeom>
        </p:spPr>
        <p:txBody>
          <a:bodyPr vert="horz" lIns="88221" tIns="44111" rIns="88221" bIns="44111" rtlCol="0"/>
          <a:lstStyle>
            <a:lvl1pPr algn="l">
              <a:defRPr sz="1200"/>
            </a:lvl1pPr>
          </a:lstStyle>
          <a:p>
            <a:endParaRPr lang="zh-CN" altLang="en-US"/>
          </a:p>
        </p:txBody>
      </p:sp>
      <p:sp>
        <p:nvSpPr>
          <p:cNvPr id="3" name="日期占位符 2"/>
          <p:cNvSpPr>
            <a:spLocks noGrp="1"/>
          </p:cNvSpPr>
          <p:nvPr>
            <p:ph type="dt" sz="quarter" idx="1"/>
          </p:nvPr>
        </p:nvSpPr>
        <p:spPr>
          <a:xfrm>
            <a:off x="5622581" y="1"/>
            <a:ext cx="4301839" cy="340569"/>
          </a:xfrm>
          <a:prstGeom prst="rect">
            <a:avLst/>
          </a:prstGeom>
        </p:spPr>
        <p:txBody>
          <a:bodyPr vert="horz" lIns="88221" tIns="44111" rIns="88221" bIns="44111" rtlCol="0"/>
          <a:lstStyle>
            <a:lvl1pPr algn="r">
              <a:defRPr sz="1200"/>
            </a:lvl1pPr>
          </a:lstStyle>
          <a:p>
            <a:fld id="{A52E3C70-19A5-490D-81F2-389E56975E46}" type="datetimeFigureOut">
              <a:rPr lang="zh-CN" altLang="en-US" smtClean="0"/>
              <a:t>2024/11/12</a:t>
            </a:fld>
            <a:endParaRPr lang="zh-CN" altLang="en-US"/>
          </a:p>
        </p:txBody>
      </p:sp>
      <p:sp>
        <p:nvSpPr>
          <p:cNvPr id="4" name="页脚占位符 3"/>
          <p:cNvSpPr>
            <a:spLocks noGrp="1"/>
          </p:cNvSpPr>
          <p:nvPr>
            <p:ph type="ftr" sz="quarter" idx="2"/>
          </p:nvPr>
        </p:nvSpPr>
        <p:spPr>
          <a:xfrm>
            <a:off x="1" y="6457106"/>
            <a:ext cx="4301839" cy="340569"/>
          </a:xfrm>
          <a:prstGeom prst="rect">
            <a:avLst/>
          </a:prstGeom>
        </p:spPr>
        <p:txBody>
          <a:bodyPr vert="horz" lIns="88221" tIns="44111" rIns="88221" bIns="44111"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2581" y="6457106"/>
            <a:ext cx="4301839" cy="340569"/>
          </a:xfrm>
          <a:prstGeom prst="rect">
            <a:avLst/>
          </a:prstGeom>
        </p:spPr>
        <p:txBody>
          <a:bodyPr vert="horz" lIns="88221" tIns="44111" rIns="88221" bIns="44111" rtlCol="0" anchor="b"/>
          <a:lstStyle>
            <a:lvl1pPr algn="r">
              <a:defRPr sz="1200"/>
            </a:lvl1pPr>
          </a:lstStyle>
          <a:p>
            <a:fld id="{CD0FAC28-EB5A-4807-AE17-2ED073BBD42A}" type="slidenum">
              <a:rPr lang="zh-CN" altLang="en-US" smtClean="0"/>
              <a:t>‹#›</a:t>
            </a:fld>
            <a:endParaRPr lang="zh-CN" altLang="en-US"/>
          </a:p>
        </p:txBody>
      </p:sp>
    </p:spTree>
    <p:extLst>
      <p:ext uri="{BB962C8B-B14F-4D97-AF65-F5344CB8AC3E}">
        <p14:creationId xmlns:p14="http://schemas.microsoft.com/office/powerpoint/2010/main" val="24296164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bwMode="auto">
          <a:xfrm>
            <a:off x="1" y="0"/>
            <a:ext cx="4301839" cy="339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221" tIns="44111" rIns="88221" bIns="44111" numCol="1" anchor="t" anchorCtr="0" compatLnSpc="1">
            <a:prstTxWarp prst="textNoShape">
              <a:avLst/>
            </a:prstTxWarp>
          </a:bodyPr>
          <a:lstStyle>
            <a:lvl1pPr algn="l">
              <a:lnSpc>
                <a:spcPct val="100000"/>
              </a:lnSpc>
              <a:spcBef>
                <a:spcPct val="0"/>
              </a:spcBef>
              <a:buClrTx/>
              <a:buFontTx/>
              <a:buNone/>
              <a:defRPr sz="1200" b="0">
                <a:solidFill>
                  <a:schemeClr val="tx1"/>
                </a:solidFill>
                <a:latin typeface="Arial" charset="0"/>
              </a:defRPr>
            </a:lvl1pPr>
          </a:lstStyle>
          <a:p>
            <a:endParaRPr lang="en-US" altLang="zh-CN"/>
          </a:p>
        </p:txBody>
      </p:sp>
      <p:sp>
        <p:nvSpPr>
          <p:cNvPr id="82947" name="Rectangle 3"/>
          <p:cNvSpPr>
            <a:spLocks noGrp="1" noChangeArrowheads="1"/>
          </p:cNvSpPr>
          <p:nvPr>
            <p:ph type="dt" idx="1"/>
          </p:nvPr>
        </p:nvSpPr>
        <p:spPr bwMode="auto">
          <a:xfrm>
            <a:off x="5622581" y="0"/>
            <a:ext cx="4301839" cy="339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221" tIns="44111" rIns="88221" bIns="44111" numCol="1" anchor="t" anchorCtr="0" compatLnSpc="1">
            <a:prstTxWarp prst="textNoShape">
              <a:avLst/>
            </a:prstTxWarp>
          </a:bodyPr>
          <a:lstStyle>
            <a:lvl1pPr algn="r">
              <a:lnSpc>
                <a:spcPct val="100000"/>
              </a:lnSpc>
              <a:spcBef>
                <a:spcPct val="0"/>
              </a:spcBef>
              <a:buClrTx/>
              <a:buFontTx/>
              <a:buNone/>
              <a:defRPr sz="1200" b="0">
                <a:solidFill>
                  <a:schemeClr val="tx1"/>
                </a:solidFill>
                <a:latin typeface="Arial" charset="0"/>
              </a:defRPr>
            </a:lvl1pPr>
          </a:lstStyle>
          <a:p>
            <a:endParaRPr lang="en-US" altLang="zh-CN"/>
          </a:p>
        </p:txBody>
      </p:sp>
      <p:sp>
        <p:nvSpPr>
          <p:cNvPr id="82948" name="Rectangle 4"/>
          <p:cNvSpPr>
            <a:spLocks noGrp="1" noRot="1" noChangeAspect="1" noChangeArrowheads="1" noTextEdit="1"/>
          </p:cNvSpPr>
          <p:nvPr>
            <p:ph type="sldImg" idx="2"/>
          </p:nvPr>
        </p:nvSpPr>
        <p:spPr bwMode="auto">
          <a:xfrm>
            <a:off x="3263900" y="511175"/>
            <a:ext cx="3398838" cy="2547938"/>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2949" name="Rectangle 5"/>
          <p:cNvSpPr>
            <a:spLocks noGrp="1" noChangeArrowheads="1"/>
          </p:cNvSpPr>
          <p:nvPr>
            <p:ph type="body" sz="quarter" idx="3"/>
          </p:nvPr>
        </p:nvSpPr>
        <p:spPr bwMode="auto">
          <a:xfrm>
            <a:off x="992221" y="3228552"/>
            <a:ext cx="7942198" cy="3058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221" tIns="44111" rIns="88221" bIns="44111"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2950" name="Rectangle 6"/>
          <p:cNvSpPr>
            <a:spLocks noGrp="1" noChangeArrowheads="1"/>
          </p:cNvSpPr>
          <p:nvPr>
            <p:ph type="ftr" sz="quarter" idx="4"/>
          </p:nvPr>
        </p:nvSpPr>
        <p:spPr bwMode="auto">
          <a:xfrm>
            <a:off x="1" y="6457106"/>
            <a:ext cx="4301839" cy="339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221" tIns="44111" rIns="88221" bIns="44111" numCol="1" anchor="b" anchorCtr="0" compatLnSpc="1">
            <a:prstTxWarp prst="textNoShape">
              <a:avLst/>
            </a:prstTxWarp>
          </a:bodyPr>
          <a:lstStyle>
            <a:lvl1pPr algn="l">
              <a:lnSpc>
                <a:spcPct val="100000"/>
              </a:lnSpc>
              <a:spcBef>
                <a:spcPct val="0"/>
              </a:spcBef>
              <a:buClrTx/>
              <a:buFontTx/>
              <a:buNone/>
              <a:defRPr sz="1200" b="0">
                <a:solidFill>
                  <a:schemeClr val="tx1"/>
                </a:solidFill>
                <a:latin typeface="Arial" charset="0"/>
              </a:defRPr>
            </a:lvl1pPr>
          </a:lstStyle>
          <a:p>
            <a:endParaRPr lang="en-US" altLang="zh-CN"/>
          </a:p>
        </p:txBody>
      </p:sp>
      <p:sp>
        <p:nvSpPr>
          <p:cNvPr id="82951" name="Rectangle 7"/>
          <p:cNvSpPr>
            <a:spLocks noGrp="1" noChangeArrowheads="1"/>
          </p:cNvSpPr>
          <p:nvPr>
            <p:ph type="sldNum" sz="quarter" idx="5"/>
          </p:nvPr>
        </p:nvSpPr>
        <p:spPr bwMode="auto">
          <a:xfrm>
            <a:off x="5622581" y="6457106"/>
            <a:ext cx="4301839" cy="339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221" tIns="44111" rIns="88221" bIns="44111" numCol="1" anchor="b" anchorCtr="0" compatLnSpc="1">
            <a:prstTxWarp prst="textNoShape">
              <a:avLst/>
            </a:prstTxWarp>
          </a:bodyPr>
          <a:lstStyle>
            <a:lvl1pPr algn="r">
              <a:lnSpc>
                <a:spcPct val="100000"/>
              </a:lnSpc>
              <a:spcBef>
                <a:spcPct val="0"/>
              </a:spcBef>
              <a:buClrTx/>
              <a:buFontTx/>
              <a:buNone/>
              <a:defRPr sz="1200" b="0">
                <a:solidFill>
                  <a:schemeClr val="tx1"/>
                </a:solidFill>
                <a:latin typeface="Arial" charset="0"/>
              </a:defRPr>
            </a:lvl1pPr>
          </a:lstStyle>
          <a:p>
            <a:fld id="{9A04D7DA-3F42-4A39-AA1B-602B442F93B8}" type="slidenum">
              <a:rPr lang="en-US" altLang="zh-CN"/>
              <a:pPr/>
              <a:t>‹#›</a:t>
            </a:fld>
            <a:endParaRPr lang="en-US" altLang="zh-CN"/>
          </a:p>
        </p:txBody>
      </p:sp>
    </p:spTree>
    <p:extLst>
      <p:ext uri="{BB962C8B-B14F-4D97-AF65-F5344CB8AC3E}">
        <p14:creationId xmlns:p14="http://schemas.microsoft.com/office/powerpoint/2010/main" val="268763247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宋体" pitchFamily="2" charset="-122"/>
        <a:cs typeface="+mn-cs"/>
      </a:defRPr>
    </a:lvl1pPr>
    <a:lvl2pPr marL="457200" algn="l" rtl="0" fontAlgn="base">
      <a:spcBef>
        <a:spcPct val="30000"/>
      </a:spcBef>
      <a:spcAft>
        <a:spcPct val="0"/>
      </a:spcAft>
      <a:defRPr sz="1200" kern="1200">
        <a:solidFill>
          <a:schemeClr val="tx1"/>
        </a:solidFill>
        <a:latin typeface="Arial" charset="0"/>
        <a:ea typeface="宋体" pitchFamily="2" charset="-122"/>
        <a:cs typeface="+mn-cs"/>
      </a:defRPr>
    </a:lvl2pPr>
    <a:lvl3pPr marL="914400" algn="l" rtl="0" fontAlgn="base">
      <a:spcBef>
        <a:spcPct val="30000"/>
      </a:spcBef>
      <a:spcAft>
        <a:spcPct val="0"/>
      </a:spcAft>
      <a:defRPr sz="1200" kern="1200">
        <a:solidFill>
          <a:schemeClr val="tx1"/>
        </a:solidFill>
        <a:latin typeface="Arial" charset="0"/>
        <a:ea typeface="宋体" pitchFamily="2" charset="-122"/>
        <a:cs typeface="+mn-cs"/>
      </a:defRPr>
    </a:lvl3pPr>
    <a:lvl4pPr marL="1371600" algn="l" rtl="0" fontAlgn="base">
      <a:spcBef>
        <a:spcPct val="30000"/>
      </a:spcBef>
      <a:spcAft>
        <a:spcPct val="0"/>
      </a:spcAft>
      <a:defRPr sz="1200" kern="1200">
        <a:solidFill>
          <a:schemeClr val="tx1"/>
        </a:solidFill>
        <a:latin typeface="Arial" charset="0"/>
        <a:ea typeface="宋体" pitchFamily="2" charset="-122"/>
        <a:cs typeface="+mn-cs"/>
      </a:defRPr>
    </a:lvl4pPr>
    <a:lvl5pPr marL="1828800" algn="l" rtl="0" fontAlgn="base">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EDB543-3F0C-4B3E-BFEC-43347DCCC47F}" type="slidenum">
              <a:rPr lang="en-US" altLang="zh-CN"/>
              <a:pPr/>
              <a:t>1</a:t>
            </a:fld>
            <a:endParaRPr lang="en-US" altLang="zh-CN"/>
          </a:p>
        </p:txBody>
      </p:sp>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6148" name="Oval 4"/>
          <p:cNvSpPr>
            <a:spLocks noChangeArrowheads="1"/>
          </p:cNvSpPr>
          <p:nvPr/>
        </p:nvSpPr>
        <p:spPr bwMode="gray">
          <a:xfrm>
            <a:off x="4211638" y="2636838"/>
            <a:ext cx="1223962" cy="1223962"/>
          </a:xfrm>
          <a:prstGeom prst="ellipse">
            <a:avLst/>
          </a:prstGeom>
          <a:solidFill>
            <a:srgbClr val="1BABE5">
              <a:alpha val="10001"/>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9" name="Rectangle 5"/>
          <p:cNvSpPr>
            <a:spLocks noGrp="1" noChangeArrowheads="1"/>
          </p:cNvSpPr>
          <p:nvPr>
            <p:ph type="ctrTitle"/>
          </p:nvPr>
        </p:nvSpPr>
        <p:spPr bwMode="auto">
          <a:xfrm>
            <a:off x="2209800" y="1981200"/>
            <a:ext cx="4572000" cy="2133600"/>
          </a:xfrm>
          <a:effectLst>
            <a:outerShdw dist="53882" dir="2700000" algn="ctr" rotWithShape="0">
              <a:schemeClr val="bg2"/>
            </a:outerShdw>
          </a:effectLst>
        </p:spPr>
        <p:txBody>
          <a:bodyPr/>
          <a:lstStyle>
            <a:lvl1pPr>
              <a:defRPr sz="4400" b="0">
                <a:latin typeface="华文中宋" pitchFamily="2" charset="-122"/>
                <a:ea typeface="华文中宋" pitchFamily="2" charset="-122"/>
              </a:defRPr>
            </a:lvl1pPr>
          </a:lstStyle>
          <a:p>
            <a:pPr lvl="0"/>
            <a:r>
              <a:rPr lang="en-US" altLang="zh-CN" noProof="0"/>
              <a:t>Click to edit Master title style</a:t>
            </a:r>
          </a:p>
        </p:txBody>
      </p:sp>
      <p:sp>
        <p:nvSpPr>
          <p:cNvPr id="6150" name="Rectangle 6"/>
          <p:cNvSpPr>
            <a:spLocks noGrp="1" noChangeArrowheads="1"/>
          </p:cNvSpPr>
          <p:nvPr>
            <p:ph type="subTitle" idx="1"/>
          </p:nvPr>
        </p:nvSpPr>
        <p:spPr bwMode="white">
          <a:xfrm>
            <a:off x="1066800" y="6324600"/>
            <a:ext cx="7162800" cy="381000"/>
          </a:xfrm>
        </p:spPr>
        <p:txBody>
          <a:bodyPr/>
          <a:lstStyle>
            <a:lvl1pPr marL="0" indent="0" algn="ctr">
              <a:buFont typeface="Wingdings" pitchFamily="2" charset="2"/>
              <a:buNone/>
              <a:defRPr sz="1800">
                <a:solidFill>
                  <a:schemeClr val="tx2"/>
                </a:solidFill>
                <a:latin typeface="Verdana" pitchFamily="34" charset="0"/>
              </a:defRPr>
            </a:lvl1pPr>
          </a:lstStyle>
          <a:p>
            <a:pPr lvl="0"/>
            <a:r>
              <a:rPr lang="zh-CN" altLang="en-US" noProof="0"/>
              <a:t>浙江大学结构工程研究所</a:t>
            </a:r>
          </a:p>
        </p:txBody>
      </p:sp>
      <p:sp>
        <p:nvSpPr>
          <p:cNvPr id="6152" name="Rectangle 8"/>
          <p:cNvSpPr>
            <a:spLocks noChangeArrowheads="1"/>
          </p:cNvSpPr>
          <p:nvPr userDrawn="1"/>
        </p:nvSpPr>
        <p:spPr bwMode="gray">
          <a:xfrm>
            <a:off x="0" y="6210300"/>
            <a:ext cx="9144000" cy="6477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154" name="Picture 10" descr="비즈(일러)1-1"/>
          <p:cNvPicPr>
            <a:picLocks noChangeArrowheads="1"/>
          </p:cNvPicPr>
          <p:nvPr userDrawn="1"/>
        </p:nvPicPr>
        <p:blipFill>
          <a:blip r:embed="rId2" cstate="print">
            <a:extLst>
              <a:ext uri="{28A0092B-C50C-407E-A947-70E740481C1C}">
                <a14:useLocalDpi xmlns:a14="http://schemas.microsoft.com/office/drawing/2010/main" val="0"/>
              </a:ext>
            </a:extLst>
          </a:blip>
          <a:srcRect l="65022" b="86697"/>
          <a:stretch>
            <a:fillRect/>
          </a:stretch>
        </p:blipFill>
        <p:spPr bwMode="auto">
          <a:xfrm>
            <a:off x="5943600" y="152400"/>
            <a:ext cx="3197225" cy="914400"/>
          </a:xfrm>
          <a:prstGeom prst="rect">
            <a:avLst/>
          </a:prstGeom>
          <a:noFill/>
          <a:extLst>
            <a:ext uri="{909E8E84-426E-40DD-AFC4-6F175D3DCCD1}">
              <a14:hiddenFill xmlns:a14="http://schemas.microsoft.com/office/drawing/2010/main">
                <a:solidFill>
                  <a:srgbClr val="FFFFFF"/>
                </a:solidFill>
              </a14:hiddenFill>
            </a:ext>
          </a:extLst>
        </p:spPr>
      </p:pic>
      <p:pic>
        <p:nvPicPr>
          <p:cNvPr id="6159" name="Picture 15" descr="head[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r="63637"/>
          <a:stretch>
            <a:fillRect/>
          </a:stretch>
        </p:blipFill>
        <p:spPr bwMode="auto">
          <a:xfrm>
            <a:off x="0" y="0"/>
            <a:ext cx="2667000" cy="742950"/>
          </a:xfrm>
          <a:prstGeom prst="rect">
            <a:avLst/>
          </a:prstGeom>
          <a:noFill/>
          <a:extLst>
            <a:ext uri="{909E8E84-426E-40DD-AFC4-6F175D3DCCD1}">
              <a14:hiddenFill xmlns:a14="http://schemas.microsoft.com/office/drawing/2010/main">
                <a:solidFill>
                  <a:srgbClr val="FFFFFF"/>
                </a:solidFill>
              </a14:hiddenFill>
            </a:ext>
          </a:extLst>
        </p:spPr>
      </p:pic>
      <p:sp>
        <p:nvSpPr>
          <p:cNvPr id="6160" name="Oval 16"/>
          <p:cNvSpPr>
            <a:spLocks noChangeArrowheads="1"/>
          </p:cNvSpPr>
          <p:nvPr userDrawn="1"/>
        </p:nvSpPr>
        <p:spPr bwMode="gray">
          <a:xfrm>
            <a:off x="1257300" y="333375"/>
            <a:ext cx="5905500" cy="5761038"/>
          </a:xfrm>
          <a:prstGeom prst="ellipse">
            <a:avLst/>
          </a:prstGeom>
          <a:gradFill rotWithShape="1">
            <a:gsLst>
              <a:gs pos="0">
                <a:schemeClr val="bg2">
                  <a:alpha val="48000"/>
                </a:schemeClr>
              </a:gs>
              <a:gs pos="100000">
                <a:schemeClr val="bg2">
                  <a:gamma/>
                  <a:tint val="0"/>
                  <a:invGamma/>
                  <a:alpha val="80000"/>
                </a:schemeClr>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1" name="Rectangle 17"/>
          <p:cNvSpPr>
            <a:spLocks noChangeArrowheads="1"/>
          </p:cNvSpPr>
          <p:nvPr userDrawn="1"/>
        </p:nvSpPr>
        <p:spPr bwMode="ltGray">
          <a:xfrm>
            <a:off x="0" y="1066800"/>
            <a:ext cx="9144000" cy="39624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27730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709093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762000" y="1447800"/>
            <a:ext cx="41148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29200" y="1447800"/>
            <a:ext cx="41148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69582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43980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533889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6449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289098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677406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58526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427038"/>
            <a:ext cx="2286000" cy="60499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427038"/>
            <a:ext cx="6705600" cy="60499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457696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427038"/>
            <a:ext cx="8382000" cy="563562"/>
          </a:xfrm>
        </p:spPr>
        <p:txBody>
          <a:bodyPr/>
          <a:lstStyle/>
          <a:p>
            <a:r>
              <a:rPr lang="zh-CN" altLang="en-US"/>
              <a:t>单击此处编辑母版标题样式</a:t>
            </a:r>
          </a:p>
        </p:txBody>
      </p:sp>
      <p:sp>
        <p:nvSpPr>
          <p:cNvPr id="3" name="文本占位符 2"/>
          <p:cNvSpPr>
            <a:spLocks noGrp="1"/>
          </p:cNvSpPr>
          <p:nvPr>
            <p:ph type="body" sz="half" idx="1"/>
          </p:nvPr>
        </p:nvSpPr>
        <p:spPr>
          <a:xfrm>
            <a:off x="762000" y="1447800"/>
            <a:ext cx="4114800" cy="5029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029200" y="1447800"/>
            <a:ext cx="4114800" cy="2438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029200" y="4038600"/>
            <a:ext cx="4114800" cy="2438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973357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0" y="427038"/>
            <a:ext cx="8382000" cy="563562"/>
          </a:xfrm>
        </p:spPr>
        <p:txBody>
          <a:bodyPr/>
          <a:lstStyle/>
          <a:p>
            <a:r>
              <a:rPr lang="zh-CN" altLang="en-US"/>
              <a:t>单击此处编辑母版标题样式</a:t>
            </a:r>
          </a:p>
        </p:txBody>
      </p:sp>
      <p:sp>
        <p:nvSpPr>
          <p:cNvPr id="3" name="表格占位符 2"/>
          <p:cNvSpPr>
            <a:spLocks noGrp="1"/>
          </p:cNvSpPr>
          <p:nvPr>
            <p:ph type="tbl" idx="1"/>
          </p:nvPr>
        </p:nvSpPr>
        <p:spPr>
          <a:xfrm>
            <a:off x="762000" y="1447800"/>
            <a:ext cx="8382000" cy="5029200"/>
          </a:xfrm>
        </p:spPr>
        <p:txBody>
          <a:bodyPr/>
          <a:lstStyle/>
          <a:p>
            <a:endParaRPr lang="zh-CN" altLang="en-US"/>
          </a:p>
        </p:txBody>
      </p:sp>
    </p:spTree>
    <p:extLst>
      <p:ext uri="{BB962C8B-B14F-4D97-AF65-F5344CB8AC3E}">
        <p14:creationId xmlns:p14="http://schemas.microsoft.com/office/powerpoint/2010/main" val="42160402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0" y="427038"/>
            <a:ext cx="8382000" cy="563562"/>
          </a:xfrm>
        </p:spPr>
        <p:txBody>
          <a:bodyPr/>
          <a:lstStyle/>
          <a:p>
            <a:r>
              <a:rPr lang="zh-CN" altLang="en-US"/>
              <a:t>单击此处编辑母版标题样式</a:t>
            </a:r>
          </a:p>
        </p:txBody>
      </p:sp>
      <p:sp>
        <p:nvSpPr>
          <p:cNvPr id="3" name="内容占位符 2"/>
          <p:cNvSpPr>
            <a:spLocks noGrp="1"/>
          </p:cNvSpPr>
          <p:nvPr>
            <p:ph sz="half" idx="1"/>
          </p:nvPr>
        </p:nvSpPr>
        <p:spPr>
          <a:xfrm>
            <a:off x="762000" y="1447800"/>
            <a:ext cx="4114800" cy="5029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029200" y="1447800"/>
            <a:ext cx="4114800" cy="2438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029200" y="4038600"/>
            <a:ext cx="4114800" cy="2438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59969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l="-1000" r="-1000"/>
          </a:stretch>
        </a:blipFill>
        <a:effectLst/>
      </p:bgPr>
    </p:bg>
    <p:spTree>
      <p:nvGrpSpPr>
        <p:cNvPr id="1" name=""/>
        <p:cNvGrpSpPr/>
        <p:nvPr/>
      </p:nvGrpSpPr>
      <p:grpSpPr>
        <a:xfrm>
          <a:off x="0" y="0"/>
          <a:ext cx="0" cy="0"/>
          <a:chOff x="0" y="0"/>
          <a:chExt cx="0" cy="0"/>
        </a:xfrm>
      </p:grpSpPr>
      <p:sp>
        <p:nvSpPr>
          <p:cNvPr id="5124" name="Rectangle 4"/>
          <p:cNvSpPr>
            <a:spLocks noGrp="1" noChangeArrowheads="1"/>
          </p:cNvSpPr>
          <p:nvPr>
            <p:ph type="body" idx="1"/>
          </p:nvPr>
        </p:nvSpPr>
        <p:spPr bwMode="auto">
          <a:xfrm>
            <a:off x="762000" y="1447800"/>
            <a:ext cx="83820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5125" name="Rectangle 5"/>
          <p:cNvSpPr>
            <a:spLocks noGrp="1" noChangeArrowheads="1"/>
          </p:cNvSpPr>
          <p:nvPr>
            <p:ph type="title"/>
          </p:nvPr>
        </p:nvSpPr>
        <p:spPr bwMode="white">
          <a:xfrm>
            <a:off x="0" y="427038"/>
            <a:ext cx="8382000"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5132" name="Rectangle 12"/>
          <p:cNvSpPr>
            <a:spLocks noChangeArrowheads="1"/>
          </p:cNvSpPr>
          <p:nvPr userDrawn="1"/>
        </p:nvSpPr>
        <p:spPr bwMode="auto">
          <a:xfrm>
            <a:off x="0" y="-71438"/>
            <a:ext cx="32191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00000"/>
              </a:lnSpc>
              <a:spcBef>
                <a:spcPct val="0"/>
              </a:spcBef>
              <a:buClrTx/>
              <a:buFontTx/>
              <a:buNone/>
            </a:pPr>
            <a:r>
              <a:rPr kumimoji="1" lang="zh-CN" altLang="en-US" sz="1400" dirty="0">
                <a:solidFill>
                  <a:srgbClr val="0099FF"/>
                </a:solidFill>
                <a:latin typeface="Arial" charset="0"/>
              </a:rPr>
              <a:t>第七章受压构件正截面承载力的计算</a:t>
            </a:r>
            <a:r>
              <a:rPr kumimoji="1" lang="zh-CN" altLang="en-US" dirty="0"/>
              <a:t> </a:t>
            </a:r>
            <a:r>
              <a:rPr kumimoji="1" lang="zh-CN" altLang="en-US" dirty="0">
                <a:latin typeface="Arial" charset="0"/>
              </a:rPr>
              <a:t> </a:t>
            </a:r>
          </a:p>
        </p:txBody>
      </p:sp>
      <p:pic>
        <p:nvPicPr>
          <p:cNvPr id="5136" name="Picture 16" descr="비즈(일러)1-1"/>
          <p:cNvPicPr>
            <a:picLocks noChangeArrowheads="1"/>
          </p:cNvPicPr>
          <p:nvPr userDrawn="1"/>
        </p:nvPicPr>
        <p:blipFill>
          <a:blip r:embed="rId17" cstate="print">
            <a:extLst>
              <a:ext uri="{28A0092B-C50C-407E-A947-70E740481C1C}">
                <a14:useLocalDpi xmlns:a14="http://schemas.microsoft.com/office/drawing/2010/main" val="0"/>
              </a:ext>
            </a:extLst>
          </a:blip>
          <a:srcRect t="70947" r="84995"/>
          <a:stretch>
            <a:fillRect/>
          </a:stretch>
        </p:blipFill>
        <p:spPr bwMode="auto">
          <a:xfrm>
            <a:off x="0" y="4648200"/>
            <a:ext cx="1371600" cy="2209800"/>
          </a:xfrm>
          <a:prstGeom prst="rect">
            <a:avLst/>
          </a:prstGeom>
          <a:noFill/>
          <a:extLst>
            <a:ext uri="{909E8E84-426E-40DD-AFC4-6F175D3DCCD1}">
              <a14:hiddenFill xmlns:a14="http://schemas.microsoft.com/office/drawing/2010/main">
                <a:solidFill>
                  <a:srgbClr val="FFFFFF"/>
                </a:solidFill>
              </a14:hiddenFill>
            </a:ext>
          </a:extLst>
        </p:spPr>
      </p:pic>
      <p:sp>
        <p:nvSpPr>
          <p:cNvPr id="5137" name="Oval 17"/>
          <p:cNvSpPr>
            <a:spLocks noChangeArrowheads="1"/>
          </p:cNvSpPr>
          <p:nvPr userDrawn="1"/>
        </p:nvSpPr>
        <p:spPr bwMode="white">
          <a:xfrm>
            <a:off x="179388" y="0"/>
            <a:ext cx="6804025" cy="6858000"/>
          </a:xfrm>
          <a:prstGeom prst="ellipse">
            <a:avLst/>
          </a:prstGeom>
          <a:gradFill rotWithShape="1">
            <a:gsLst>
              <a:gs pos="0">
                <a:schemeClr val="bg2">
                  <a:alpha val="44000"/>
                </a:schemeClr>
              </a:gs>
              <a:gs pos="100000">
                <a:schemeClr val="bg2">
                  <a:gamma/>
                  <a:tint val="0"/>
                  <a:invGamma/>
                  <a:alpha val="0"/>
                </a:schemeClr>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8" name="Rectangle 18"/>
          <p:cNvSpPr>
            <a:spLocks noChangeArrowheads="1"/>
          </p:cNvSpPr>
          <p:nvPr userDrawn="1"/>
        </p:nvSpPr>
        <p:spPr bwMode="gray">
          <a:xfrm>
            <a:off x="0" y="381000"/>
            <a:ext cx="9144000" cy="6477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5139" name="Picture 19" descr="ise图标2"/>
          <p:cNvPicPr>
            <a:picLocks noChangeAspect="1" noChangeArrowheads="1"/>
          </p:cNvPicPr>
          <p:nvPr userDrawn="1"/>
        </p:nvPicPr>
        <p:blipFill>
          <a:blip r:embed="rId18" cstate="print">
            <a:lum bright="60000" contrast="-12000"/>
            <a:extLst>
              <a:ext uri="{28A0092B-C50C-407E-A947-70E740481C1C}">
                <a14:useLocalDpi xmlns:a14="http://schemas.microsoft.com/office/drawing/2010/main" val="0"/>
              </a:ext>
            </a:extLst>
          </a:blip>
          <a:srcRect/>
          <a:stretch>
            <a:fillRect/>
          </a:stretch>
        </p:blipFill>
        <p:spPr bwMode="auto">
          <a:xfrm>
            <a:off x="8382000" y="314325"/>
            <a:ext cx="762000" cy="752475"/>
          </a:xfrm>
          <a:prstGeom prst="rect">
            <a:avLst/>
          </a:prstGeom>
          <a:noFill/>
          <a:extLst>
            <a:ext uri="{909E8E84-426E-40DD-AFC4-6F175D3DCCD1}">
              <a14:hiddenFill xmlns:a14="http://schemas.microsoft.com/office/drawing/2010/main">
                <a:solidFill>
                  <a:srgbClr val="99CCFF"/>
                </a:solidFill>
              </a14:hiddenFill>
            </a:ext>
          </a:extLst>
        </p:spPr>
      </p:pic>
      <p:sp>
        <p:nvSpPr>
          <p:cNvPr id="5140" name="Rectangle 20"/>
          <p:cNvSpPr>
            <a:spLocks noChangeArrowheads="1"/>
          </p:cNvSpPr>
          <p:nvPr userDrawn="1"/>
        </p:nvSpPr>
        <p:spPr bwMode="auto">
          <a:xfrm>
            <a:off x="8731250" y="6578600"/>
            <a:ext cx="3698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00000"/>
              </a:lnSpc>
              <a:spcBef>
                <a:spcPct val="50000"/>
              </a:spcBef>
              <a:buClrTx/>
              <a:buFontTx/>
              <a:buNone/>
            </a:pPr>
            <a:fld id="{2FEC12F2-4DC8-48AC-B8F7-0A58D6FE5190}" type="slidenum">
              <a:rPr kumimoji="1" lang="en-US" altLang="zh-CN" sz="1200" b="0">
                <a:latin typeface="Arial" charset="0"/>
              </a:rPr>
              <a:pPr algn="l">
                <a:lnSpc>
                  <a:spcPct val="100000"/>
                </a:lnSpc>
                <a:spcBef>
                  <a:spcPct val="50000"/>
                </a:spcBef>
                <a:buClrTx/>
                <a:buFontTx/>
                <a:buNone/>
              </a:pPr>
              <a:t>‹#›</a:t>
            </a:fld>
            <a:endParaRPr kumimoji="1" lang="en-US" altLang="zh-CN" sz="1200" b="0">
              <a:latin typeface="Arial" charset="0"/>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txStyles>
    <p:titleStyle>
      <a:lvl1pPr algn="ctr" rtl="0" fontAlgn="base">
        <a:spcBef>
          <a:spcPct val="0"/>
        </a:spcBef>
        <a:spcAft>
          <a:spcPct val="0"/>
        </a:spcAft>
        <a:defRPr sz="3200" b="1">
          <a:solidFill>
            <a:schemeClr val="bg1"/>
          </a:solidFill>
          <a:latin typeface="+mj-lt"/>
          <a:ea typeface="+mj-ea"/>
          <a:cs typeface="+mj-cs"/>
        </a:defRPr>
      </a:lvl1pPr>
      <a:lvl2pPr algn="ctr" rtl="0" fontAlgn="base">
        <a:spcBef>
          <a:spcPct val="0"/>
        </a:spcBef>
        <a:spcAft>
          <a:spcPct val="0"/>
        </a:spcAft>
        <a:defRPr sz="3200" b="1">
          <a:solidFill>
            <a:schemeClr val="bg1"/>
          </a:solidFill>
          <a:latin typeface="Verdana" pitchFamily="34" charset="0"/>
          <a:ea typeface="宋体" pitchFamily="2" charset="-122"/>
        </a:defRPr>
      </a:lvl2pPr>
      <a:lvl3pPr algn="ctr" rtl="0" fontAlgn="base">
        <a:spcBef>
          <a:spcPct val="0"/>
        </a:spcBef>
        <a:spcAft>
          <a:spcPct val="0"/>
        </a:spcAft>
        <a:defRPr sz="3200" b="1">
          <a:solidFill>
            <a:schemeClr val="bg1"/>
          </a:solidFill>
          <a:latin typeface="Verdana" pitchFamily="34" charset="0"/>
          <a:ea typeface="宋体" pitchFamily="2" charset="-122"/>
        </a:defRPr>
      </a:lvl3pPr>
      <a:lvl4pPr algn="ctr" rtl="0" fontAlgn="base">
        <a:spcBef>
          <a:spcPct val="0"/>
        </a:spcBef>
        <a:spcAft>
          <a:spcPct val="0"/>
        </a:spcAft>
        <a:defRPr sz="3200" b="1">
          <a:solidFill>
            <a:schemeClr val="bg1"/>
          </a:solidFill>
          <a:latin typeface="Verdana" pitchFamily="34" charset="0"/>
          <a:ea typeface="宋体" pitchFamily="2" charset="-122"/>
        </a:defRPr>
      </a:lvl4pPr>
      <a:lvl5pPr algn="ctr" rtl="0" fontAlgn="base">
        <a:spcBef>
          <a:spcPct val="0"/>
        </a:spcBef>
        <a:spcAft>
          <a:spcPct val="0"/>
        </a:spcAft>
        <a:defRPr sz="3200" b="1">
          <a:solidFill>
            <a:schemeClr val="bg1"/>
          </a:solidFill>
          <a:latin typeface="Verdana" pitchFamily="34" charset="0"/>
          <a:ea typeface="宋体" pitchFamily="2" charset="-122"/>
        </a:defRPr>
      </a:lvl5pPr>
      <a:lvl6pPr marL="457200" algn="ctr" rtl="0" fontAlgn="base">
        <a:spcBef>
          <a:spcPct val="0"/>
        </a:spcBef>
        <a:spcAft>
          <a:spcPct val="0"/>
        </a:spcAft>
        <a:defRPr sz="3200" b="1">
          <a:solidFill>
            <a:schemeClr val="bg1"/>
          </a:solidFill>
          <a:latin typeface="Verdana" pitchFamily="34" charset="0"/>
          <a:ea typeface="宋体" pitchFamily="2" charset="-122"/>
        </a:defRPr>
      </a:lvl6pPr>
      <a:lvl7pPr marL="914400" algn="ctr" rtl="0" fontAlgn="base">
        <a:spcBef>
          <a:spcPct val="0"/>
        </a:spcBef>
        <a:spcAft>
          <a:spcPct val="0"/>
        </a:spcAft>
        <a:defRPr sz="3200" b="1">
          <a:solidFill>
            <a:schemeClr val="bg1"/>
          </a:solidFill>
          <a:latin typeface="Verdana" pitchFamily="34" charset="0"/>
          <a:ea typeface="宋体" pitchFamily="2" charset="-122"/>
        </a:defRPr>
      </a:lvl7pPr>
      <a:lvl8pPr marL="1371600" algn="ctr" rtl="0" fontAlgn="base">
        <a:spcBef>
          <a:spcPct val="0"/>
        </a:spcBef>
        <a:spcAft>
          <a:spcPct val="0"/>
        </a:spcAft>
        <a:defRPr sz="3200" b="1">
          <a:solidFill>
            <a:schemeClr val="bg1"/>
          </a:solidFill>
          <a:latin typeface="Verdana" pitchFamily="34" charset="0"/>
          <a:ea typeface="宋体" pitchFamily="2" charset="-122"/>
        </a:defRPr>
      </a:lvl8pPr>
      <a:lvl9pPr marL="1828800" algn="ctr" rtl="0" fontAlgn="base">
        <a:spcBef>
          <a:spcPct val="0"/>
        </a:spcBef>
        <a:spcAft>
          <a:spcPct val="0"/>
        </a:spcAft>
        <a:defRPr sz="3200" b="1">
          <a:solidFill>
            <a:schemeClr val="bg1"/>
          </a:solidFill>
          <a:latin typeface="Verdana" pitchFamily="34" charset="0"/>
          <a:ea typeface="宋体" pitchFamily="2" charset="-122"/>
        </a:defRPr>
      </a:lvl9pPr>
    </p:titleStyle>
    <p:bodyStyle>
      <a:lvl1pPr marL="342900" indent="-342900" algn="l" rtl="0" fontAlgn="base">
        <a:spcBef>
          <a:spcPct val="20000"/>
        </a:spcBef>
        <a:spcAft>
          <a:spcPct val="0"/>
        </a:spcAft>
        <a:buClr>
          <a:schemeClr val="tx1"/>
        </a:buClr>
        <a:buFont typeface="Wingdings" pitchFamily="2" charset="2"/>
        <a:buChar char="F"/>
        <a:defRPr sz="2800">
          <a:solidFill>
            <a:schemeClr val="tx1"/>
          </a:solidFill>
          <a:latin typeface="+mn-lt"/>
          <a:ea typeface="+mn-ea"/>
          <a:cs typeface="+mn-cs"/>
        </a:defRPr>
      </a:lvl1pPr>
      <a:lvl2pPr marL="742950" indent="-285750" algn="l" rtl="0" fontAlgn="base">
        <a:spcBef>
          <a:spcPct val="20000"/>
        </a:spcBef>
        <a:spcAft>
          <a:spcPct val="0"/>
        </a:spcAft>
        <a:buClr>
          <a:schemeClr val="accent1"/>
        </a:buClr>
        <a:buFont typeface="Wingdings" pitchFamily="2" charset="2"/>
        <a:buChar char="§"/>
        <a:defRPr sz="2400">
          <a:solidFill>
            <a:schemeClr val="tx1"/>
          </a:solidFill>
          <a:latin typeface="+mn-lt"/>
          <a:ea typeface="+mn-ea"/>
        </a:defRPr>
      </a:lvl2pPr>
      <a:lvl3pPr marL="1143000" indent="-228600" algn="l" rtl="0" fontAlgn="base">
        <a:spcBef>
          <a:spcPct val="20000"/>
        </a:spcBef>
        <a:spcAft>
          <a:spcPct val="0"/>
        </a:spcAft>
        <a:buClr>
          <a:schemeClr val="tx1"/>
        </a:buClr>
        <a:buChar char="•"/>
        <a:defRPr sz="22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5.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image" Target="../media/image11.wmf"/><Relationship Id="rId5" Type="http://schemas.openxmlformats.org/officeDocument/2006/relationships/oleObject" Target="../embeddings/oleObject3.bin"/><Relationship Id="rId10" Type="http://schemas.openxmlformats.org/officeDocument/2006/relationships/image" Target="../media/image13.wmf"/><Relationship Id="rId4" Type="http://schemas.openxmlformats.org/officeDocument/2006/relationships/image" Target="../media/image10.wmf"/><Relationship Id="rId9"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image" Target="../media/image16.png"/><Relationship Id="rId7"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14.wmf"/><Relationship Id="rId5" Type="http://schemas.openxmlformats.org/officeDocument/2006/relationships/oleObject" Target="../embeddings/oleObject6.bin"/><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21.png"/><Relationship Id="rId7" Type="http://schemas.openxmlformats.org/officeDocument/2006/relationships/image" Target="../media/image19.wmf"/><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oleObject" Target="../embeddings/oleObject9.bin"/><Relationship Id="rId5" Type="http://schemas.openxmlformats.org/officeDocument/2006/relationships/image" Target="../media/image18.wmf"/><Relationship Id="rId4" Type="http://schemas.openxmlformats.org/officeDocument/2006/relationships/oleObject" Target="../embeddings/oleObject8.bin"/><Relationship Id="rId9" Type="http://schemas.openxmlformats.org/officeDocument/2006/relationships/image" Target="../media/image20.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image" Target="../media/image23.png"/><Relationship Id="rId4" Type="http://schemas.openxmlformats.org/officeDocument/2006/relationships/image" Target="../media/image22.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6.vml"/><Relationship Id="rId5" Type="http://schemas.openxmlformats.org/officeDocument/2006/relationships/image" Target="../media/image23.png"/><Relationship Id="rId4" Type="http://schemas.openxmlformats.org/officeDocument/2006/relationships/image" Target="../media/image22.emf"/></Relationships>
</file>

<file path=ppt/slides/_rels/slide13.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image" Target="../media/image22.emf"/><Relationship Id="rId5" Type="http://schemas.openxmlformats.org/officeDocument/2006/relationships/oleObject" Target="../embeddings/oleObject13.bin"/><Relationship Id="rId4" Type="http://schemas.openxmlformats.org/officeDocument/2006/relationships/image" Target="../media/image24.emf"/></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12.xml"/><Relationship Id="rId1" Type="http://schemas.openxmlformats.org/officeDocument/2006/relationships/vmlDrawing" Target="../drawings/vmlDrawing8.vml"/><Relationship Id="rId6" Type="http://schemas.openxmlformats.org/officeDocument/2006/relationships/image" Target="../media/image32.wmf"/><Relationship Id="rId5" Type="http://schemas.openxmlformats.org/officeDocument/2006/relationships/oleObject" Target="../embeddings/oleObject16.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18.bin"/></Relationships>
</file>

<file path=ppt/slides/_rels/slide19.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12.xml"/><Relationship Id="rId1" Type="http://schemas.openxmlformats.org/officeDocument/2006/relationships/vmlDrawing" Target="../drawings/vmlDrawing9.vml"/><Relationship Id="rId6" Type="http://schemas.openxmlformats.org/officeDocument/2006/relationships/image" Target="../media/image36.wmf"/><Relationship Id="rId5" Type="http://schemas.openxmlformats.org/officeDocument/2006/relationships/oleObject" Target="../embeddings/oleObject20.bin"/><Relationship Id="rId4" Type="http://schemas.openxmlformats.org/officeDocument/2006/relationships/image" Target="../media/image35.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12.xml"/><Relationship Id="rId1" Type="http://schemas.openxmlformats.org/officeDocument/2006/relationships/vmlDrawing" Target="../drawings/vmlDrawing10.vml"/><Relationship Id="rId6" Type="http://schemas.openxmlformats.org/officeDocument/2006/relationships/image" Target="../media/image43.wmf"/><Relationship Id="rId5" Type="http://schemas.openxmlformats.org/officeDocument/2006/relationships/oleObject" Target="../embeddings/oleObject22.bin"/><Relationship Id="rId4" Type="http://schemas.openxmlformats.org/officeDocument/2006/relationships/image" Target="../media/image45.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12.xml"/><Relationship Id="rId1" Type="http://schemas.openxmlformats.org/officeDocument/2006/relationships/vmlDrawing" Target="../drawings/vmlDrawing11.vml"/><Relationship Id="rId6" Type="http://schemas.openxmlformats.org/officeDocument/2006/relationships/image" Target="../media/image46.wmf"/><Relationship Id="rId5" Type="http://schemas.openxmlformats.org/officeDocument/2006/relationships/oleObject" Target="../embeddings/oleObject23.bin"/><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4.bin"/><Relationship Id="rId7" Type="http://schemas.openxmlformats.org/officeDocument/2006/relationships/image" Target="../media/image49.png"/><Relationship Id="rId2" Type="http://schemas.openxmlformats.org/officeDocument/2006/relationships/slideLayout" Target="../slideLayouts/slideLayout12.xml"/><Relationship Id="rId1" Type="http://schemas.openxmlformats.org/officeDocument/2006/relationships/vmlDrawing" Target="../drawings/vmlDrawing12.vml"/><Relationship Id="rId6" Type="http://schemas.openxmlformats.org/officeDocument/2006/relationships/image" Target="../media/image48.wmf"/><Relationship Id="rId5" Type="http://schemas.openxmlformats.org/officeDocument/2006/relationships/oleObject" Target="../embeddings/oleObject25.bin"/><Relationship Id="rId4" Type="http://schemas.openxmlformats.org/officeDocument/2006/relationships/image" Target="../media/image47.wmf"/></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52.wmf"/><Relationship Id="rId5" Type="http://schemas.openxmlformats.org/officeDocument/2006/relationships/oleObject" Target="../embeddings/oleObject27.bin"/><Relationship Id="rId10" Type="http://schemas.openxmlformats.org/officeDocument/2006/relationships/image" Target="../media/image54.wmf"/><Relationship Id="rId4" Type="http://schemas.openxmlformats.org/officeDocument/2006/relationships/image" Target="../media/image51.wmf"/><Relationship Id="rId9" Type="http://schemas.openxmlformats.org/officeDocument/2006/relationships/oleObject" Target="../embeddings/oleObject29.bin"/></Relationships>
</file>

<file path=ppt/slides/_rels/slide37.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56.wmf"/><Relationship Id="rId5" Type="http://schemas.openxmlformats.org/officeDocument/2006/relationships/oleObject" Target="../embeddings/oleObject31.bin"/><Relationship Id="rId4" Type="http://schemas.openxmlformats.org/officeDocument/2006/relationships/image" Target="../media/image55.wmf"/></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12.xml"/><Relationship Id="rId1" Type="http://schemas.openxmlformats.org/officeDocument/2006/relationships/vmlDrawing" Target="../drawings/vmlDrawing15.vml"/><Relationship Id="rId5" Type="http://schemas.openxmlformats.org/officeDocument/2006/relationships/image" Target="../media/image58.wmf"/><Relationship Id="rId4" Type="http://schemas.openxmlformats.org/officeDocument/2006/relationships/oleObject" Target="../embeddings/oleObject33.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image" Target="../media/image59.png"/><Relationship Id="rId7" Type="http://schemas.openxmlformats.org/officeDocument/2006/relationships/image" Target="../media/image61.wmf"/><Relationship Id="rId2" Type="http://schemas.openxmlformats.org/officeDocument/2006/relationships/slideLayout" Target="../slideLayouts/slideLayout12.xml"/><Relationship Id="rId1" Type="http://schemas.openxmlformats.org/officeDocument/2006/relationships/vmlDrawing" Target="../drawings/vmlDrawing16.vml"/><Relationship Id="rId6" Type="http://schemas.openxmlformats.org/officeDocument/2006/relationships/oleObject" Target="../embeddings/oleObject35.bin"/><Relationship Id="rId5" Type="http://schemas.openxmlformats.org/officeDocument/2006/relationships/image" Target="../media/image60.wmf"/><Relationship Id="rId4" Type="http://schemas.openxmlformats.org/officeDocument/2006/relationships/oleObject" Target="../embeddings/oleObject34.bin"/><Relationship Id="rId9" Type="http://schemas.openxmlformats.org/officeDocument/2006/relationships/image" Target="../media/image58.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7.bin"/><Relationship Id="rId7" Type="http://schemas.openxmlformats.org/officeDocument/2006/relationships/image" Target="../media/image64.png"/><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63.wmf"/><Relationship Id="rId5" Type="http://schemas.openxmlformats.org/officeDocument/2006/relationships/oleObject" Target="../embeddings/oleObject38.bin"/><Relationship Id="rId4" Type="http://schemas.openxmlformats.org/officeDocument/2006/relationships/image" Target="../media/image62.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65.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0.bin"/><Relationship Id="rId7" Type="http://schemas.openxmlformats.org/officeDocument/2006/relationships/image" Target="../media/image65.wmf"/><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41.bin"/><Relationship Id="rId5" Type="http://schemas.openxmlformats.org/officeDocument/2006/relationships/image" Target="../media/image67.png"/><Relationship Id="rId4" Type="http://schemas.openxmlformats.org/officeDocument/2006/relationships/image" Target="../media/image66.wmf"/></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72.wmf"/><Relationship Id="rId18" Type="http://schemas.openxmlformats.org/officeDocument/2006/relationships/oleObject" Target="../embeddings/oleObject49.bin"/><Relationship Id="rId3" Type="http://schemas.openxmlformats.org/officeDocument/2006/relationships/image" Target="../media/image78.png"/><Relationship Id="rId21" Type="http://schemas.openxmlformats.org/officeDocument/2006/relationships/image" Target="../media/image76.emf"/><Relationship Id="rId7" Type="http://schemas.openxmlformats.org/officeDocument/2006/relationships/image" Target="../media/image69.wmf"/><Relationship Id="rId12" Type="http://schemas.openxmlformats.org/officeDocument/2006/relationships/oleObject" Target="../embeddings/oleObject46.bin"/><Relationship Id="rId17" Type="http://schemas.openxmlformats.org/officeDocument/2006/relationships/image" Target="../media/image74.wmf"/><Relationship Id="rId2" Type="http://schemas.openxmlformats.org/officeDocument/2006/relationships/slideLayout" Target="../slideLayouts/slideLayout4.xml"/><Relationship Id="rId16" Type="http://schemas.openxmlformats.org/officeDocument/2006/relationships/oleObject" Target="../embeddings/oleObject48.bin"/><Relationship Id="rId20" Type="http://schemas.openxmlformats.org/officeDocument/2006/relationships/oleObject" Target="../embeddings/oleObject50.bin"/><Relationship Id="rId1" Type="http://schemas.openxmlformats.org/officeDocument/2006/relationships/vmlDrawing" Target="../drawings/vmlDrawing20.vml"/><Relationship Id="rId6" Type="http://schemas.openxmlformats.org/officeDocument/2006/relationships/oleObject" Target="../embeddings/oleObject43.bin"/><Relationship Id="rId11" Type="http://schemas.openxmlformats.org/officeDocument/2006/relationships/image" Target="../media/image71.wmf"/><Relationship Id="rId5" Type="http://schemas.openxmlformats.org/officeDocument/2006/relationships/image" Target="../media/image68.wmf"/><Relationship Id="rId15" Type="http://schemas.openxmlformats.org/officeDocument/2006/relationships/image" Target="../media/image73.wmf"/><Relationship Id="rId23" Type="http://schemas.openxmlformats.org/officeDocument/2006/relationships/image" Target="../media/image77.emf"/><Relationship Id="rId10" Type="http://schemas.openxmlformats.org/officeDocument/2006/relationships/oleObject" Target="../embeddings/oleObject45.bin"/><Relationship Id="rId19" Type="http://schemas.openxmlformats.org/officeDocument/2006/relationships/image" Target="../media/image75.emf"/><Relationship Id="rId4" Type="http://schemas.openxmlformats.org/officeDocument/2006/relationships/oleObject" Target="../embeddings/oleObject42.bin"/><Relationship Id="rId9" Type="http://schemas.openxmlformats.org/officeDocument/2006/relationships/image" Target="../media/image70.wmf"/><Relationship Id="rId14" Type="http://schemas.openxmlformats.org/officeDocument/2006/relationships/oleObject" Target="../embeddings/oleObject47.bin"/><Relationship Id="rId22" Type="http://schemas.openxmlformats.org/officeDocument/2006/relationships/oleObject" Target="../embeddings/oleObject51.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64.png"/><Relationship Id="rId4" Type="http://schemas.openxmlformats.org/officeDocument/2006/relationships/image" Target="../media/image80.wmf"/></Relationships>
</file>

<file path=ppt/slides/_rels/slide47.xml.rels><?xml version="1.0" encoding="UTF-8" standalone="yes"?>
<Relationships xmlns="http://schemas.openxmlformats.org/package/2006/relationships"><Relationship Id="rId8" Type="http://schemas.openxmlformats.org/officeDocument/2006/relationships/image" Target="../media/image83.wmf"/><Relationship Id="rId13" Type="http://schemas.openxmlformats.org/officeDocument/2006/relationships/image" Target="../media/image79.png"/><Relationship Id="rId3" Type="http://schemas.openxmlformats.org/officeDocument/2006/relationships/oleObject" Target="../embeddings/oleObject53.bin"/><Relationship Id="rId7" Type="http://schemas.openxmlformats.org/officeDocument/2006/relationships/oleObject" Target="../embeddings/oleObject55.bin"/><Relationship Id="rId12" Type="http://schemas.openxmlformats.org/officeDocument/2006/relationships/image" Target="../media/image85.wmf"/><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82.wmf"/><Relationship Id="rId11" Type="http://schemas.openxmlformats.org/officeDocument/2006/relationships/oleObject" Target="../embeddings/oleObject57.bin"/><Relationship Id="rId5" Type="http://schemas.openxmlformats.org/officeDocument/2006/relationships/oleObject" Target="../embeddings/oleObject54.bin"/><Relationship Id="rId15" Type="http://schemas.openxmlformats.org/officeDocument/2006/relationships/image" Target="../media/image86.wmf"/><Relationship Id="rId10" Type="http://schemas.openxmlformats.org/officeDocument/2006/relationships/image" Target="../media/image84.wmf"/><Relationship Id="rId4" Type="http://schemas.openxmlformats.org/officeDocument/2006/relationships/image" Target="../media/image81.wmf"/><Relationship Id="rId9" Type="http://schemas.openxmlformats.org/officeDocument/2006/relationships/oleObject" Target="../embeddings/oleObject56.bin"/><Relationship Id="rId14" Type="http://schemas.openxmlformats.org/officeDocument/2006/relationships/oleObject" Target="../embeddings/oleObject58.bin"/></Relationships>
</file>

<file path=ppt/slides/_rels/slide48.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oleObject" Target="../embeddings/oleObject59.bin"/><Relationship Id="rId7" Type="http://schemas.openxmlformats.org/officeDocument/2006/relationships/oleObject" Target="../embeddings/oleObject61.bin"/><Relationship Id="rId2" Type="http://schemas.openxmlformats.org/officeDocument/2006/relationships/slideLayout" Target="../slideLayouts/slideLayout4.xml"/><Relationship Id="rId1" Type="http://schemas.openxmlformats.org/officeDocument/2006/relationships/vmlDrawing" Target="../drawings/vmlDrawing23.vml"/><Relationship Id="rId6" Type="http://schemas.openxmlformats.org/officeDocument/2006/relationships/image" Target="../media/image88.wmf"/><Relationship Id="rId5" Type="http://schemas.openxmlformats.org/officeDocument/2006/relationships/oleObject" Target="../embeddings/oleObject60.bin"/><Relationship Id="rId10" Type="http://schemas.openxmlformats.org/officeDocument/2006/relationships/image" Target="../media/image90.wmf"/><Relationship Id="rId4" Type="http://schemas.openxmlformats.org/officeDocument/2006/relationships/image" Target="../media/image87.wmf"/><Relationship Id="rId9" Type="http://schemas.openxmlformats.org/officeDocument/2006/relationships/oleObject" Target="../embeddings/oleObject62.bin"/></Relationships>
</file>

<file path=ppt/slides/_rels/slide49.xml.rels><?xml version="1.0" encoding="UTF-8" standalone="yes"?>
<Relationships xmlns="http://schemas.openxmlformats.org/package/2006/relationships"><Relationship Id="rId3" Type="http://schemas.openxmlformats.org/officeDocument/2006/relationships/image" Target="../media/image93.png"/><Relationship Id="rId7" Type="http://schemas.openxmlformats.org/officeDocument/2006/relationships/image" Target="../media/image92.wmf"/><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oleObject" Target="../embeddings/oleObject64.bin"/><Relationship Id="rId5" Type="http://schemas.openxmlformats.org/officeDocument/2006/relationships/image" Target="../media/image91.wmf"/><Relationship Id="rId4" Type="http://schemas.openxmlformats.org/officeDocument/2006/relationships/oleObject" Target="../embeddings/oleObject63.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96.wmf"/><Relationship Id="rId3" Type="http://schemas.openxmlformats.org/officeDocument/2006/relationships/oleObject" Target="../embeddings/oleObject65.bin"/><Relationship Id="rId7" Type="http://schemas.openxmlformats.org/officeDocument/2006/relationships/oleObject" Target="../embeddings/oleObject67.bin"/><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95.wmf"/><Relationship Id="rId5" Type="http://schemas.openxmlformats.org/officeDocument/2006/relationships/oleObject" Target="../embeddings/oleObject66.bin"/><Relationship Id="rId10" Type="http://schemas.openxmlformats.org/officeDocument/2006/relationships/image" Target="../media/image97.wmf"/><Relationship Id="rId4" Type="http://schemas.openxmlformats.org/officeDocument/2006/relationships/image" Target="../media/image94.wmf"/><Relationship Id="rId9" Type="http://schemas.openxmlformats.org/officeDocument/2006/relationships/oleObject" Target="../embeddings/oleObject68.bin"/></Relationships>
</file>

<file path=ppt/slides/_rels/slide52.x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oleObject" Target="../embeddings/oleObject69.bin"/><Relationship Id="rId7" Type="http://schemas.openxmlformats.org/officeDocument/2006/relationships/oleObject" Target="../embeddings/oleObject71.bin"/><Relationship Id="rId12" Type="http://schemas.openxmlformats.org/officeDocument/2006/relationships/image" Target="../media/image102.wmf"/><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99.wmf"/><Relationship Id="rId11" Type="http://schemas.openxmlformats.org/officeDocument/2006/relationships/oleObject" Target="../embeddings/oleObject73.bin"/><Relationship Id="rId5" Type="http://schemas.openxmlformats.org/officeDocument/2006/relationships/oleObject" Target="../embeddings/oleObject70.bin"/><Relationship Id="rId10" Type="http://schemas.openxmlformats.org/officeDocument/2006/relationships/image" Target="../media/image101.wmf"/><Relationship Id="rId4" Type="http://schemas.openxmlformats.org/officeDocument/2006/relationships/image" Target="../media/image98.wmf"/><Relationship Id="rId9" Type="http://schemas.openxmlformats.org/officeDocument/2006/relationships/oleObject" Target="../embeddings/oleObject72.bin"/></Relationships>
</file>

<file path=ppt/slides/_rels/slide53.xml.rels><?xml version="1.0" encoding="UTF-8" standalone="yes"?>
<Relationships xmlns="http://schemas.openxmlformats.org/package/2006/relationships"><Relationship Id="rId8" Type="http://schemas.openxmlformats.org/officeDocument/2006/relationships/image" Target="../media/image105.wmf"/><Relationship Id="rId13" Type="http://schemas.openxmlformats.org/officeDocument/2006/relationships/oleObject" Target="../embeddings/oleObject79.bin"/><Relationship Id="rId18" Type="http://schemas.openxmlformats.org/officeDocument/2006/relationships/image" Target="../media/image110.wmf"/><Relationship Id="rId3" Type="http://schemas.openxmlformats.org/officeDocument/2006/relationships/oleObject" Target="../embeddings/oleObject74.bin"/><Relationship Id="rId21" Type="http://schemas.openxmlformats.org/officeDocument/2006/relationships/oleObject" Target="../embeddings/oleObject83.bin"/><Relationship Id="rId7" Type="http://schemas.openxmlformats.org/officeDocument/2006/relationships/oleObject" Target="../embeddings/oleObject76.bin"/><Relationship Id="rId12" Type="http://schemas.openxmlformats.org/officeDocument/2006/relationships/image" Target="../media/image107.wmf"/><Relationship Id="rId17" Type="http://schemas.openxmlformats.org/officeDocument/2006/relationships/oleObject" Target="../embeddings/oleObject81.bin"/><Relationship Id="rId25" Type="http://schemas.openxmlformats.org/officeDocument/2006/relationships/image" Target="../media/image113.wmf"/><Relationship Id="rId2" Type="http://schemas.openxmlformats.org/officeDocument/2006/relationships/slideLayout" Target="../slideLayouts/slideLayout2.xml"/><Relationship Id="rId16" Type="http://schemas.openxmlformats.org/officeDocument/2006/relationships/image" Target="../media/image109.wmf"/><Relationship Id="rId20" Type="http://schemas.openxmlformats.org/officeDocument/2006/relationships/image" Target="../media/image111.wmf"/><Relationship Id="rId1" Type="http://schemas.openxmlformats.org/officeDocument/2006/relationships/vmlDrawing" Target="../drawings/vmlDrawing27.vml"/><Relationship Id="rId6" Type="http://schemas.openxmlformats.org/officeDocument/2006/relationships/image" Target="../media/image104.wmf"/><Relationship Id="rId11" Type="http://schemas.openxmlformats.org/officeDocument/2006/relationships/oleObject" Target="../embeddings/oleObject78.bin"/><Relationship Id="rId24" Type="http://schemas.openxmlformats.org/officeDocument/2006/relationships/oleObject" Target="../embeddings/oleObject84.bin"/><Relationship Id="rId5" Type="http://schemas.openxmlformats.org/officeDocument/2006/relationships/oleObject" Target="../embeddings/oleObject75.bin"/><Relationship Id="rId15" Type="http://schemas.openxmlformats.org/officeDocument/2006/relationships/oleObject" Target="../embeddings/oleObject80.bin"/><Relationship Id="rId23" Type="http://schemas.openxmlformats.org/officeDocument/2006/relationships/image" Target="../media/image114.png"/><Relationship Id="rId10" Type="http://schemas.openxmlformats.org/officeDocument/2006/relationships/image" Target="../media/image106.wmf"/><Relationship Id="rId19" Type="http://schemas.openxmlformats.org/officeDocument/2006/relationships/oleObject" Target="../embeddings/oleObject82.bin"/><Relationship Id="rId4" Type="http://schemas.openxmlformats.org/officeDocument/2006/relationships/image" Target="../media/image103.wmf"/><Relationship Id="rId9" Type="http://schemas.openxmlformats.org/officeDocument/2006/relationships/oleObject" Target="../embeddings/oleObject77.bin"/><Relationship Id="rId14" Type="http://schemas.openxmlformats.org/officeDocument/2006/relationships/image" Target="../media/image108.wmf"/><Relationship Id="rId22" Type="http://schemas.openxmlformats.org/officeDocument/2006/relationships/image" Target="../media/image112.wmf"/></Relationships>
</file>

<file path=ppt/slides/_rels/slide54.xml.rels><?xml version="1.0" encoding="UTF-8" standalone="yes"?>
<Relationships xmlns="http://schemas.openxmlformats.org/package/2006/relationships"><Relationship Id="rId8" Type="http://schemas.openxmlformats.org/officeDocument/2006/relationships/image" Target="../media/image117.wmf"/><Relationship Id="rId13" Type="http://schemas.openxmlformats.org/officeDocument/2006/relationships/image" Target="../media/image120.png"/><Relationship Id="rId3" Type="http://schemas.openxmlformats.org/officeDocument/2006/relationships/oleObject" Target="../embeddings/oleObject85.bin"/><Relationship Id="rId7" Type="http://schemas.openxmlformats.org/officeDocument/2006/relationships/oleObject" Target="../embeddings/oleObject87.bin"/><Relationship Id="rId12" Type="http://schemas.openxmlformats.org/officeDocument/2006/relationships/image" Target="../media/image119.wmf"/><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116.wmf"/><Relationship Id="rId11" Type="http://schemas.openxmlformats.org/officeDocument/2006/relationships/oleObject" Target="../embeddings/oleObject89.bin"/><Relationship Id="rId5" Type="http://schemas.openxmlformats.org/officeDocument/2006/relationships/oleObject" Target="../embeddings/oleObject86.bin"/><Relationship Id="rId10" Type="http://schemas.openxmlformats.org/officeDocument/2006/relationships/image" Target="../media/image118.wmf"/><Relationship Id="rId4" Type="http://schemas.openxmlformats.org/officeDocument/2006/relationships/image" Target="../media/image115.wmf"/><Relationship Id="rId9" Type="http://schemas.openxmlformats.org/officeDocument/2006/relationships/oleObject" Target="../embeddings/oleObject88.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90.bin"/><Relationship Id="rId7" Type="http://schemas.openxmlformats.org/officeDocument/2006/relationships/slide" Target="slide58.xml"/><Relationship Id="rId2" Type="http://schemas.openxmlformats.org/officeDocument/2006/relationships/slideLayout" Target="../slideLayouts/slideLayout4.xml"/><Relationship Id="rId1" Type="http://schemas.openxmlformats.org/officeDocument/2006/relationships/vmlDrawing" Target="../drawings/vmlDrawing29.vml"/><Relationship Id="rId6" Type="http://schemas.openxmlformats.org/officeDocument/2006/relationships/slide" Target="slide57.xml"/><Relationship Id="rId5" Type="http://schemas.openxmlformats.org/officeDocument/2006/relationships/image" Target="../media/image122.png"/><Relationship Id="rId4" Type="http://schemas.openxmlformats.org/officeDocument/2006/relationships/image" Target="../media/image121.wmf"/></Relationships>
</file>

<file path=ppt/slides/_rels/slide57.xml.rels><?xml version="1.0" encoding="UTF-8" standalone="yes"?>
<Relationships xmlns="http://schemas.openxmlformats.org/package/2006/relationships"><Relationship Id="rId8" Type="http://schemas.openxmlformats.org/officeDocument/2006/relationships/image" Target="../media/image125.wmf"/><Relationship Id="rId13" Type="http://schemas.openxmlformats.org/officeDocument/2006/relationships/oleObject" Target="../embeddings/oleObject96.bin"/><Relationship Id="rId18" Type="http://schemas.openxmlformats.org/officeDocument/2006/relationships/image" Target="../media/image130.wmf"/><Relationship Id="rId3" Type="http://schemas.openxmlformats.org/officeDocument/2006/relationships/oleObject" Target="../embeddings/oleObject91.bin"/><Relationship Id="rId21" Type="http://schemas.openxmlformats.org/officeDocument/2006/relationships/oleObject" Target="../embeddings/oleObject100.bin"/><Relationship Id="rId7" Type="http://schemas.openxmlformats.org/officeDocument/2006/relationships/oleObject" Target="../embeddings/oleObject93.bin"/><Relationship Id="rId12" Type="http://schemas.openxmlformats.org/officeDocument/2006/relationships/image" Target="../media/image127.wmf"/><Relationship Id="rId17" Type="http://schemas.openxmlformats.org/officeDocument/2006/relationships/oleObject" Target="../embeddings/oleObject98.bin"/><Relationship Id="rId25" Type="http://schemas.openxmlformats.org/officeDocument/2006/relationships/slide" Target="slide56.xml"/><Relationship Id="rId2" Type="http://schemas.openxmlformats.org/officeDocument/2006/relationships/slideLayout" Target="../slideLayouts/slideLayout4.xml"/><Relationship Id="rId16" Type="http://schemas.openxmlformats.org/officeDocument/2006/relationships/image" Target="../media/image129.emf"/><Relationship Id="rId20" Type="http://schemas.openxmlformats.org/officeDocument/2006/relationships/image" Target="../media/image131.emf"/><Relationship Id="rId1" Type="http://schemas.openxmlformats.org/officeDocument/2006/relationships/vmlDrawing" Target="../drawings/vmlDrawing30.vml"/><Relationship Id="rId6" Type="http://schemas.openxmlformats.org/officeDocument/2006/relationships/image" Target="../media/image124.wmf"/><Relationship Id="rId11" Type="http://schemas.openxmlformats.org/officeDocument/2006/relationships/oleObject" Target="../embeddings/oleObject95.bin"/><Relationship Id="rId24" Type="http://schemas.openxmlformats.org/officeDocument/2006/relationships/image" Target="../media/image133.wmf"/><Relationship Id="rId5" Type="http://schemas.openxmlformats.org/officeDocument/2006/relationships/oleObject" Target="../embeddings/oleObject92.bin"/><Relationship Id="rId15" Type="http://schemas.openxmlformats.org/officeDocument/2006/relationships/oleObject" Target="../embeddings/oleObject97.bin"/><Relationship Id="rId23" Type="http://schemas.openxmlformats.org/officeDocument/2006/relationships/oleObject" Target="../embeddings/oleObject101.bin"/><Relationship Id="rId10" Type="http://schemas.openxmlformats.org/officeDocument/2006/relationships/image" Target="../media/image126.wmf"/><Relationship Id="rId19" Type="http://schemas.openxmlformats.org/officeDocument/2006/relationships/oleObject" Target="../embeddings/oleObject99.bin"/><Relationship Id="rId4" Type="http://schemas.openxmlformats.org/officeDocument/2006/relationships/image" Target="../media/image123.wmf"/><Relationship Id="rId9" Type="http://schemas.openxmlformats.org/officeDocument/2006/relationships/oleObject" Target="../embeddings/oleObject94.bin"/><Relationship Id="rId14" Type="http://schemas.openxmlformats.org/officeDocument/2006/relationships/image" Target="../media/image128.wmf"/><Relationship Id="rId22" Type="http://schemas.openxmlformats.org/officeDocument/2006/relationships/image" Target="../media/image132.emf"/></Relationships>
</file>

<file path=ppt/slides/_rels/slide58.xml.rels><?xml version="1.0" encoding="UTF-8" standalone="yes"?>
<Relationships xmlns="http://schemas.openxmlformats.org/package/2006/relationships"><Relationship Id="rId8" Type="http://schemas.openxmlformats.org/officeDocument/2006/relationships/image" Target="../media/image125.wmf"/><Relationship Id="rId13" Type="http://schemas.openxmlformats.org/officeDocument/2006/relationships/oleObject" Target="../embeddings/oleObject107.bin"/><Relationship Id="rId18" Type="http://schemas.openxmlformats.org/officeDocument/2006/relationships/image" Target="../media/image136.emf"/><Relationship Id="rId3" Type="http://schemas.openxmlformats.org/officeDocument/2006/relationships/oleObject" Target="../embeddings/oleObject102.bin"/><Relationship Id="rId21" Type="http://schemas.openxmlformats.org/officeDocument/2006/relationships/oleObject" Target="../embeddings/oleObject111.bin"/><Relationship Id="rId7" Type="http://schemas.openxmlformats.org/officeDocument/2006/relationships/oleObject" Target="../embeddings/oleObject104.bin"/><Relationship Id="rId12" Type="http://schemas.openxmlformats.org/officeDocument/2006/relationships/image" Target="../media/image134.wmf"/><Relationship Id="rId17" Type="http://schemas.openxmlformats.org/officeDocument/2006/relationships/oleObject" Target="../embeddings/oleObject109.bin"/><Relationship Id="rId2" Type="http://schemas.openxmlformats.org/officeDocument/2006/relationships/slideLayout" Target="../slideLayouts/slideLayout4.xml"/><Relationship Id="rId16" Type="http://schemas.openxmlformats.org/officeDocument/2006/relationships/image" Target="../media/image135.wmf"/><Relationship Id="rId20" Type="http://schemas.openxmlformats.org/officeDocument/2006/relationships/image" Target="../media/image137.emf"/><Relationship Id="rId1" Type="http://schemas.openxmlformats.org/officeDocument/2006/relationships/vmlDrawing" Target="../drawings/vmlDrawing31.vml"/><Relationship Id="rId6" Type="http://schemas.openxmlformats.org/officeDocument/2006/relationships/image" Target="../media/image124.wmf"/><Relationship Id="rId11" Type="http://schemas.openxmlformats.org/officeDocument/2006/relationships/oleObject" Target="../embeddings/oleObject106.bin"/><Relationship Id="rId5" Type="http://schemas.openxmlformats.org/officeDocument/2006/relationships/oleObject" Target="../embeddings/oleObject103.bin"/><Relationship Id="rId15" Type="http://schemas.openxmlformats.org/officeDocument/2006/relationships/oleObject" Target="../embeddings/oleObject108.bin"/><Relationship Id="rId23" Type="http://schemas.openxmlformats.org/officeDocument/2006/relationships/slide" Target="slide56.xml"/><Relationship Id="rId10" Type="http://schemas.openxmlformats.org/officeDocument/2006/relationships/image" Target="../media/image126.wmf"/><Relationship Id="rId19" Type="http://schemas.openxmlformats.org/officeDocument/2006/relationships/oleObject" Target="../embeddings/oleObject110.bin"/><Relationship Id="rId4" Type="http://schemas.openxmlformats.org/officeDocument/2006/relationships/image" Target="../media/image123.wmf"/><Relationship Id="rId9" Type="http://schemas.openxmlformats.org/officeDocument/2006/relationships/oleObject" Target="../embeddings/oleObject105.bin"/><Relationship Id="rId14" Type="http://schemas.openxmlformats.org/officeDocument/2006/relationships/image" Target="../media/image128.wmf"/><Relationship Id="rId22" Type="http://schemas.openxmlformats.org/officeDocument/2006/relationships/image" Target="../media/image138.wmf"/></Relationships>
</file>

<file path=ppt/slides/_rels/slide59.xml.rels><?xml version="1.0" encoding="UTF-8" standalone="yes"?>
<Relationships xmlns="http://schemas.openxmlformats.org/package/2006/relationships"><Relationship Id="rId2" Type="http://schemas.openxmlformats.org/officeDocument/2006/relationships/slide" Target="slide60.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12.bin"/><Relationship Id="rId2" Type="http://schemas.openxmlformats.org/officeDocument/2006/relationships/slideLayout" Target="../slideLayouts/slideLayout4.xml"/><Relationship Id="rId1" Type="http://schemas.openxmlformats.org/officeDocument/2006/relationships/vmlDrawing" Target="../drawings/vmlDrawing32.vml"/><Relationship Id="rId4" Type="http://schemas.openxmlformats.org/officeDocument/2006/relationships/image" Target="../media/image139.wmf"/></Relationships>
</file>

<file path=ppt/slides/_rels/slide61.xml.rels><?xml version="1.0" encoding="UTF-8" standalone="yes"?>
<Relationships xmlns="http://schemas.openxmlformats.org/package/2006/relationships"><Relationship Id="rId8" Type="http://schemas.openxmlformats.org/officeDocument/2006/relationships/image" Target="../media/image142.wmf"/><Relationship Id="rId13" Type="http://schemas.openxmlformats.org/officeDocument/2006/relationships/oleObject" Target="../embeddings/oleObject118.bin"/><Relationship Id="rId18" Type="http://schemas.openxmlformats.org/officeDocument/2006/relationships/image" Target="../media/image147.wmf"/><Relationship Id="rId26" Type="http://schemas.openxmlformats.org/officeDocument/2006/relationships/image" Target="../media/image151.wmf"/><Relationship Id="rId3" Type="http://schemas.openxmlformats.org/officeDocument/2006/relationships/oleObject" Target="../embeddings/oleObject113.bin"/><Relationship Id="rId21" Type="http://schemas.openxmlformats.org/officeDocument/2006/relationships/oleObject" Target="../embeddings/oleObject122.bin"/><Relationship Id="rId7" Type="http://schemas.openxmlformats.org/officeDocument/2006/relationships/oleObject" Target="../embeddings/oleObject115.bin"/><Relationship Id="rId12" Type="http://schemas.openxmlformats.org/officeDocument/2006/relationships/image" Target="../media/image144.wmf"/><Relationship Id="rId17" Type="http://schemas.openxmlformats.org/officeDocument/2006/relationships/oleObject" Target="../embeddings/oleObject120.bin"/><Relationship Id="rId25" Type="http://schemas.openxmlformats.org/officeDocument/2006/relationships/oleObject" Target="../embeddings/oleObject124.bin"/><Relationship Id="rId2" Type="http://schemas.openxmlformats.org/officeDocument/2006/relationships/slideLayout" Target="../slideLayouts/slideLayout4.xml"/><Relationship Id="rId16" Type="http://schemas.openxmlformats.org/officeDocument/2006/relationships/image" Target="../media/image146.wmf"/><Relationship Id="rId20" Type="http://schemas.openxmlformats.org/officeDocument/2006/relationships/image" Target="../media/image148.wmf"/><Relationship Id="rId1" Type="http://schemas.openxmlformats.org/officeDocument/2006/relationships/vmlDrawing" Target="../drawings/vmlDrawing33.vml"/><Relationship Id="rId6" Type="http://schemas.openxmlformats.org/officeDocument/2006/relationships/image" Target="../media/image141.wmf"/><Relationship Id="rId11" Type="http://schemas.openxmlformats.org/officeDocument/2006/relationships/oleObject" Target="../embeddings/oleObject117.bin"/><Relationship Id="rId24" Type="http://schemas.openxmlformats.org/officeDocument/2006/relationships/image" Target="../media/image150.wmf"/><Relationship Id="rId5" Type="http://schemas.openxmlformats.org/officeDocument/2006/relationships/oleObject" Target="../embeddings/oleObject114.bin"/><Relationship Id="rId15" Type="http://schemas.openxmlformats.org/officeDocument/2006/relationships/oleObject" Target="../embeddings/oleObject119.bin"/><Relationship Id="rId23" Type="http://schemas.openxmlformats.org/officeDocument/2006/relationships/oleObject" Target="../embeddings/oleObject123.bin"/><Relationship Id="rId10" Type="http://schemas.openxmlformats.org/officeDocument/2006/relationships/image" Target="../media/image143.wmf"/><Relationship Id="rId19" Type="http://schemas.openxmlformats.org/officeDocument/2006/relationships/oleObject" Target="../embeddings/oleObject121.bin"/><Relationship Id="rId4" Type="http://schemas.openxmlformats.org/officeDocument/2006/relationships/image" Target="../media/image140.wmf"/><Relationship Id="rId9" Type="http://schemas.openxmlformats.org/officeDocument/2006/relationships/oleObject" Target="../embeddings/oleObject116.bin"/><Relationship Id="rId14" Type="http://schemas.openxmlformats.org/officeDocument/2006/relationships/image" Target="../media/image145.wmf"/><Relationship Id="rId22" Type="http://schemas.openxmlformats.org/officeDocument/2006/relationships/image" Target="../media/image149.wmf"/></Relationships>
</file>

<file path=ppt/slides/_rels/slide62.xml.rels><?xml version="1.0" encoding="UTF-8" standalone="yes"?>
<Relationships xmlns="http://schemas.openxmlformats.org/package/2006/relationships"><Relationship Id="rId8" Type="http://schemas.openxmlformats.org/officeDocument/2006/relationships/image" Target="../media/image154.wmf"/><Relationship Id="rId3" Type="http://schemas.openxmlformats.org/officeDocument/2006/relationships/oleObject" Target="../embeddings/oleObject125.bin"/><Relationship Id="rId7" Type="http://schemas.openxmlformats.org/officeDocument/2006/relationships/oleObject" Target="../embeddings/oleObject127.bin"/><Relationship Id="rId12" Type="http://schemas.openxmlformats.org/officeDocument/2006/relationships/image" Target="../media/image156.wmf"/><Relationship Id="rId2" Type="http://schemas.openxmlformats.org/officeDocument/2006/relationships/slideLayout" Target="../slideLayouts/slideLayout14.xml"/><Relationship Id="rId1" Type="http://schemas.openxmlformats.org/officeDocument/2006/relationships/vmlDrawing" Target="../drawings/vmlDrawing34.vml"/><Relationship Id="rId6" Type="http://schemas.openxmlformats.org/officeDocument/2006/relationships/image" Target="../media/image153.wmf"/><Relationship Id="rId11" Type="http://schemas.openxmlformats.org/officeDocument/2006/relationships/oleObject" Target="../embeddings/oleObject129.bin"/><Relationship Id="rId5" Type="http://schemas.openxmlformats.org/officeDocument/2006/relationships/oleObject" Target="../embeddings/oleObject126.bin"/><Relationship Id="rId10" Type="http://schemas.openxmlformats.org/officeDocument/2006/relationships/image" Target="../media/image155.wmf"/><Relationship Id="rId4" Type="http://schemas.openxmlformats.org/officeDocument/2006/relationships/image" Target="../media/image152.wmf"/><Relationship Id="rId9" Type="http://schemas.openxmlformats.org/officeDocument/2006/relationships/oleObject" Target="../embeddings/oleObject128.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8" Type="http://schemas.openxmlformats.org/officeDocument/2006/relationships/image" Target="../media/image161.wmf"/><Relationship Id="rId13" Type="http://schemas.openxmlformats.org/officeDocument/2006/relationships/image" Target="../media/image164.png"/><Relationship Id="rId3" Type="http://schemas.openxmlformats.org/officeDocument/2006/relationships/oleObject" Target="../embeddings/oleObject130.bin"/><Relationship Id="rId7" Type="http://schemas.openxmlformats.org/officeDocument/2006/relationships/oleObject" Target="../embeddings/oleObject132.bin"/><Relationship Id="rId12" Type="http://schemas.openxmlformats.org/officeDocument/2006/relationships/image" Target="../media/image163.wmf"/><Relationship Id="rId2" Type="http://schemas.openxmlformats.org/officeDocument/2006/relationships/slideLayout" Target="../slideLayouts/slideLayout14.xml"/><Relationship Id="rId1" Type="http://schemas.openxmlformats.org/officeDocument/2006/relationships/vmlDrawing" Target="../drawings/vmlDrawing35.vml"/><Relationship Id="rId6" Type="http://schemas.openxmlformats.org/officeDocument/2006/relationships/image" Target="../media/image160.wmf"/><Relationship Id="rId11" Type="http://schemas.openxmlformats.org/officeDocument/2006/relationships/oleObject" Target="../embeddings/oleObject134.bin"/><Relationship Id="rId5" Type="http://schemas.openxmlformats.org/officeDocument/2006/relationships/oleObject" Target="../embeddings/oleObject131.bin"/><Relationship Id="rId10" Type="http://schemas.openxmlformats.org/officeDocument/2006/relationships/image" Target="../media/image162.wmf"/><Relationship Id="rId4" Type="http://schemas.openxmlformats.org/officeDocument/2006/relationships/image" Target="../media/image159.wmf"/><Relationship Id="rId9" Type="http://schemas.openxmlformats.org/officeDocument/2006/relationships/oleObject" Target="../embeddings/oleObject133.bin"/></Relationships>
</file>

<file path=ppt/slides/_rels/slide71.xml.rels><?xml version="1.0" encoding="UTF-8" standalone="yes"?>
<Relationships xmlns="http://schemas.openxmlformats.org/package/2006/relationships"><Relationship Id="rId8" Type="http://schemas.openxmlformats.org/officeDocument/2006/relationships/image" Target="../media/image167.wmf"/><Relationship Id="rId3" Type="http://schemas.openxmlformats.org/officeDocument/2006/relationships/oleObject" Target="../embeddings/oleObject135.bin"/><Relationship Id="rId7" Type="http://schemas.openxmlformats.org/officeDocument/2006/relationships/oleObject" Target="../embeddings/oleObject137.bin"/><Relationship Id="rId2" Type="http://schemas.openxmlformats.org/officeDocument/2006/relationships/slideLayout" Target="../slideLayouts/slideLayout14.xml"/><Relationship Id="rId1" Type="http://schemas.openxmlformats.org/officeDocument/2006/relationships/vmlDrawing" Target="../drawings/vmlDrawing36.vml"/><Relationship Id="rId6" Type="http://schemas.openxmlformats.org/officeDocument/2006/relationships/image" Target="../media/image166.wmf"/><Relationship Id="rId11" Type="http://schemas.openxmlformats.org/officeDocument/2006/relationships/image" Target="../media/image169.png"/><Relationship Id="rId5" Type="http://schemas.openxmlformats.org/officeDocument/2006/relationships/oleObject" Target="../embeddings/oleObject136.bin"/><Relationship Id="rId10" Type="http://schemas.openxmlformats.org/officeDocument/2006/relationships/image" Target="../media/image168.wmf"/><Relationship Id="rId4" Type="http://schemas.openxmlformats.org/officeDocument/2006/relationships/image" Target="../media/image165.wmf"/><Relationship Id="rId9" Type="http://schemas.openxmlformats.org/officeDocument/2006/relationships/oleObject" Target="../embeddings/oleObject138.bin"/></Relationships>
</file>

<file path=ppt/slides/_rels/slide72.xml.rels><?xml version="1.0" encoding="UTF-8" standalone="yes"?>
<Relationships xmlns="http://schemas.openxmlformats.org/package/2006/relationships"><Relationship Id="rId8" Type="http://schemas.openxmlformats.org/officeDocument/2006/relationships/image" Target="../media/image172.wmf"/><Relationship Id="rId13" Type="http://schemas.openxmlformats.org/officeDocument/2006/relationships/image" Target="../media/image174.wmf"/><Relationship Id="rId3" Type="http://schemas.openxmlformats.org/officeDocument/2006/relationships/oleObject" Target="../embeddings/oleObject139.bin"/><Relationship Id="rId7" Type="http://schemas.openxmlformats.org/officeDocument/2006/relationships/oleObject" Target="../embeddings/oleObject141.bin"/><Relationship Id="rId12" Type="http://schemas.openxmlformats.org/officeDocument/2006/relationships/oleObject" Target="../embeddings/oleObject143.bin"/><Relationship Id="rId2" Type="http://schemas.openxmlformats.org/officeDocument/2006/relationships/slideLayout" Target="../slideLayouts/slideLayout14.xml"/><Relationship Id="rId16" Type="http://schemas.openxmlformats.org/officeDocument/2006/relationships/image" Target="../media/image175.wmf"/><Relationship Id="rId1" Type="http://schemas.openxmlformats.org/officeDocument/2006/relationships/vmlDrawing" Target="../drawings/vmlDrawing37.vml"/><Relationship Id="rId6" Type="http://schemas.openxmlformats.org/officeDocument/2006/relationships/image" Target="../media/image171.wmf"/><Relationship Id="rId11" Type="http://schemas.openxmlformats.org/officeDocument/2006/relationships/image" Target="../media/image176.png"/><Relationship Id="rId5" Type="http://schemas.openxmlformats.org/officeDocument/2006/relationships/oleObject" Target="../embeddings/oleObject140.bin"/><Relationship Id="rId15" Type="http://schemas.openxmlformats.org/officeDocument/2006/relationships/oleObject" Target="../embeddings/oleObject144.bin"/><Relationship Id="rId10" Type="http://schemas.openxmlformats.org/officeDocument/2006/relationships/image" Target="../media/image173.wmf"/><Relationship Id="rId4" Type="http://schemas.openxmlformats.org/officeDocument/2006/relationships/image" Target="../media/image170.wmf"/><Relationship Id="rId9" Type="http://schemas.openxmlformats.org/officeDocument/2006/relationships/oleObject" Target="../embeddings/oleObject142.bin"/><Relationship Id="rId14" Type="http://schemas.openxmlformats.org/officeDocument/2006/relationships/image" Target="../media/image177.png"/></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147.bin"/><Relationship Id="rId3" Type="http://schemas.openxmlformats.org/officeDocument/2006/relationships/oleObject" Target="../embeddings/oleObject145.bin"/><Relationship Id="rId7" Type="http://schemas.openxmlformats.org/officeDocument/2006/relationships/image" Target="../media/image182.png"/><Relationship Id="rId2" Type="http://schemas.openxmlformats.org/officeDocument/2006/relationships/slideLayout" Target="../slideLayouts/slideLayout14.xml"/><Relationship Id="rId1" Type="http://schemas.openxmlformats.org/officeDocument/2006/relationships/vmlDrawing" Target="../drawings/vmlDrawing38.vml"/><Relationship Id="rId6" Type="http://schemas.openxmlformats.org/officeDocument/2006/relationships/image" Target="../media/image179.wmf"/><Relationship Id="rId11" Type="http://schemas.openxmlformats.org/officeDocument/2006/relationships/image" Target="../media/image181.wmf"/><Relationship Id="rId5" Type="http://schemas.openxmlformats.org/officeDocument/2006/relationships/oleObject" Target="../embeddings/oleObject146.bin"/><Relationship Id="rId10" Type="http://schemas.openxmlformats.org/officeDocument/2006/relationships/oleObject" Target="../embeddings/oleObject148.bin"/><Relationship Id="rId4" Type="http://schemas.openxmlformats.org/officeDocument/2006/relationships/image" Target="../media/image178.wmf"/><Relationship Id="rId9" Type="http://schemas.openxmlformats.org/officeDocument/2006/relationships/image" Target="../media/image180.w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49.bin"/><Relationship Id="rId2" Type="http://schemas.openxmlformats.org/officeDocument/2006/relationships/slideLayout" Target="../slideLayouts/slideLayout14.xml"/><Relationship Id="rId1" Type="http://schemas.openxmlformats.org/officeDocument/2006/relationships/vmlDrawing" Target="../drawings/vmlDrawing39.vml"/><Relationship Id="rId4" Type="http://schemas.openxmlformats.org/officeDocument/2006/relationships/image" Target="../media/image183.wmf"/></Relationships>
</file>

<file path=ppt/slides/_rels/slide75.xml.rels><?xml version="1.0" encoding="UTF-8" standalone="yes"?>
<Relationships xmlns="http://schemas.openxmlformats.org/package/2006/relationships"><Relationship Id="rId8" Type="http://schemas.openxmlformats.org/officeDocument/2006/relationships/image" Target="../media/image186.wmf"/><Relationship Id="rId13" Type="http://schemas.openxmlformats.org/officeDocument/2006/relationships/oleObject" Target="../embeddings/oleObject155.bin"/><Relationship Id="rId3" Type="http://schemas.openxmlformats.org/officeDocument/2006/relationships/oleObject" Target="../embeddings/oleObject150.bin"/><Relationship Id="rId7" Type="http://schemas.openxmlformats.org/officeDocument/2006/relationships/oleObject" Target="../embeddings/oleObject152.bin"/><Relationship Id="rId12" Type="http://schemas.openxmlformats.org/officeDocument/2006/relationships/image" Target="../media/image188.wmf"/><Relationship Id="rId2" Type="http://schemas.openxmlformats.org/officeDocument/2006/relationships/slideLayout" Target="../slideLayouts/slideLayout14.xml"/><Relationship Id="rId16" Type="http://schemas.openxmlformats.org/officeDocument/2006/relationships/image" Target="../media/image190.wmf"/><Relationship Id="rId1" Type="http://schemas.openxmlformats.org/officeDocument/2006/relationships/vmlDrawing" Target="../drawings/vmlDrawing40.vml"/><Relationship Id="rId6" Type="http://schemas.openxmlformats.org/officeDocument/2006/relationships/image" Target="../media/image185.wmf"/><Relationship Id="rId11" Type="http://schemas.openxmlformats.org/officeDocument/2006/relationships/oleObject" Target="../embeddings/oleObject154.bin"/><Relationship Id="rId5" Type="http://schemas.openxmlformats.org/officeDocument/2006/relationships/oleObject" Target="../embeddings/oleObject151.bin"/><Relationship Id="rId15" Type="http://schemas.openxmlformats.org/officeDocument/2006/relationships/oleObject" Target="../embeddings/oleObject156.bin"/><Relationship Id="rId10" Type="http://schemas.openxmlformats.org/officeDocument/2006/relationships/image" Target="../media/image187.wmf"/><Relationship Id="rId4" Type="http://schemas.openxmlformats.org/officeDocument/2006/relationships/image" Target="../media/image184.wmf"/><Relationship Id="rId9" Type="http://schemas.openxmlformats.org/officeDocument/2006/relationships/oleObject" Target="../embeddings/oleObject153.bin"/><Relationship Id="rId14" Type="http://schemas.openxmlformats.org/officeDocument/2006/relationships/image" Target="../media/image189.wmf"/></Relationships>
</file>

<file path=ppt/slides/_rels/slide76.xml.rels><?xml version="1.0" encoding="UTF-8" standalone="yes"?>
<Relationships xmlns="http://schemas.openxmlformats.org/package/2006/relationships"><Relationship Id="rId8" Type="http://schemas.openxmlformats.org/officeDocument/2006/relationships/image" Target="../media/image193.wmf"/><Relationship Id="rId3" Type="http://schemas.openxmlformats.org/officeDocument/2006/relationships/oleObject" Target="../embeddings/oleObject157.bin"/><Relationship Id="rId7" Type="http://schemas.openxmlformats.org/officeDocument/2006/relationships/oleObject" Target="../embeddings/oleObject159.bin"/><Relationship Id="rId2" Type="http://schemas.openxmlformats.org/officeDocument/2006/relationships/slideLayout" Target="../slideLayouts/slideLayout14.xml"/><Relationship Id="rId1" Type="http://schemas.openxmlformats.org/officeDocument/2006/relationships/vmlDrawing" Target="../drawings/vmlDrawing41.vml"/><Relationship Id="rId6" Type="http://schemas.openxmlformats.org/officeDocument/2006/relationships/image" Target="../media/image192.wmf"/><Relationship Id="rId5" Type="http://schemas.openxmlformats.org/officeDocument/2006/relationships/oleObject" Target="../embeddings/oleObject158.bin"/><Relationship Id="rId4" Type="http://schemas.openxmlformats.org/officeDocument/2006/relationships/image" Target="../media/image191.wm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162.bin"/><Relationship Id="rId3" Type="http://schemas.openxmlformats.org/officeDocument/2006/relationships/image" Target="../media/image198.jpeg"/><Relationship Id="rId7" Type="http://schemas.openxmlformats.org/officeDocument/2006/relationships/image" Target="../media/image195.wmf"/><Relationship Id="rId2" Type="http://schemas.openxmlformats.org/officeDocument/2006/relationships/slideLayout" Target="../slideLayouts/slideLayout14.xml"/><Relationship Id="rId1" Type="http://schemas.openxmlformats.org/officeDocument/2006/relationships/vmlDrawing" Target="../drawings/vmlDrawing42.vml"/><Relationship Id="rId6" Type="http://schemas.openxmlformats.org/officeDocument/2006/relationships/oleObject" Target="../embeddings/oleObject161.bin"/><Relationship Id="rId11" Type="http://schemas.openxmlformats.org/officeDocument/2006/relationships/image" Target="../media/image197.wmf"/><Relationship Id="rId5" Type="http://schemas.openxmlformats.org/officeDocument/2006/relationships/image" Target="../media/image194.wmf"/><Relationship Id="rId10" Type="http://schemas.openxmlformats.org/officeDocument/2006/relationships/oleObject" Target="../embeddings/oleObject163.bin"/><Relationship Id="rId4" Type="http://schemas.openxmlformats.org/officeDocument/2006/relationships/oleObject" Target="../embeddings/oleObject160.bin"/><Relationship Id="rId9" Type="http://schemas.openxmlformats.org/officeDocument/2006/relationships/image" Target="../media/image196.wmf"/></Relationships>
</file>

<file path=ppt/slides/_rels/slide79.xml.rels><?xml version="1.0" encoding="UTF-8" standalone="yes"?>
<Relationships xmlns="http://schemas.openxmlformats.org/package/2006/relationships"><Relationship Id="rId2" Type="http://schemas.openxmlformats.org/officeDocument/2006/relationships/image" Target="../media/image199.jpeg"/><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3" Type="http://schemas.openxmlformats.org/officeDocument/2006/relationships/image" Target="../media/image201.jpeg"/><Relationship Id="rId2" Type="http://schemas.openxmlformats.org/officeDocument/2006/relationships/image" Target="../media/image200.jpeg"/><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64.bin"/><Relationship Id="rId2" Type="http://schemas.openxmlformats.org/officeDocument/2006/relationships/slideLayout" Target="../slideLayouts/slideLayout14.xml"/><Relationship Id="rId1" Type="http://schemas.openxmlformats.org/officeDocument/2006/relationships/vmlDrawing" Target="../drawings/vmlDrawing43.vml"/><Relationship Id="rId4" Type="http://schemas.openxmlformats.org/officeDocument/2006/relationships/image" Target="../media/image202.wmf"/></Relationships>
</file>

<file path=ppt/slides/_rels/slide82.xml.rels><?xml version="1.0" encoding="UTF-8" standalone="yes"?>
<Relationships xmlns="http://schemas.openxmlformats.org/package/2006/relationships"><Relationship Id="rId8" Type="http://schemas.openxmlformats.org/officeDocument/2006/relationships/image" Target="../media/image205.wmf"/><Relationship Id="rId3" Type="http://schemas.openxmlformats.org/officeDocument/2006/relationships/oleObject" Target="../embeddings/oleObject165.bin"/><Relationship Id="rId7" Type="http://schemas.openxmlformats.org/officeDocument/2006/relationships/oleObject" Target="../embeddings/oleObject167.bin"/><Relationship Id="rId12" Type="http://schemas.openxmlformats.org/officeDocument/2006/relationships/image" Target="../media/image202.wmf"/><Relationship Id="rId2" Type="http://schemas.openxmlformats.org/officeDocument/2006/relationships/slideLayout" Target="../slideLayouts/slideLayout14.xml"/><Relationship Id="rId1" Type="http://schemas.openxmlformats.org/officeDocument/2006/relationships/vmlDrawing" Target="../drawings/vmlDrawing44.vml"/><Relationship Id="rId6" Type="http://schemas.openxmlformats.org/officeDocument/2006/relationships/image" Target="../media/image204.wmf"/><Relationship Id="rId11" Type="http://schemas.openxmlformats.org/officeDocument/2006/relationships/oleObject" Target="../embeddings/oleObject169.bin"/><Relationship Id="rId5" Type="http://schemas.openxmlformats.org/officeDocument/2006/relationships/oleObject" Target="../embeddings/oleObject166.bin"/><Relationship Id="rId10" Type="http://schemas.openxmlformats.org/officeDocument/2006/relationships/image" Target="../media/image206.wmf"/><Relationship Id="rId4" Type="http://schemas.openxmlformats.org/officeDocument/2006/relationships/image" Target="../media/image203.wmf"/><Relationship Id="rId9" Type="http://schemas.openxmlformats.org/officeDocument/2006/relationships/oleObject" Target="../embeddings/oleObject168.bin"/></Relationships>
</file>

<file path=ppt/slides/_rels/slide83.xml.rels><?xml version="1.0" encoding="UTF-8" standalone="yes"?>
<Relationships xmlns="http://schemas.openxmlformats.org/package/2006/relationships"><Relationship Id="rId2" Type="http://schemas.openxmlformats.org/officeDocument/2006/relationships/image" Target="../media/image207.png"/><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2" Type="http://schemas.openxmlformats.org/officeDocument/2006/relationships/image" Target="../media/image208.png"/><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70.bin"/><Relationship Id="rId2" Type="http://schemas.openxmlformats.org/officeDocument/2006/relationships/slideLayout" Target="../slideLayouts/slideLayout14.xml"/><Relationship Id="rId1" Type="http://schemas.openxmlformats.org/officeDocument/2006/relationships/vmlDrawing" Target="../drawings/vmlDrawing45.vml"/><Relationship Id="rId4" Type="http://schemas.openxmlformats.org/officeDocument/2006/relationships/image" Target="../media/image209.wmf"/></Relationships>
</file>

<file path=ppt/slides/_rels/slide88.xml.rels><?xml version="1.0" encoding="UTF-8" standalone="yes"?>
<Relationships xmlns="http://schemas.openxmlformats.org/package/2006/relationships"><Relationship Id="rId2" Type="http://schemas.openxmlformats.org/officeDocument/2006/relationships/image" Target="../media/image210.jpeg"/><Relationship Id="rId1" Type="http://schemas.openxmlformats.org/officeDocument/2006/relationships/slideLayout" Target="../slideLayouts/slideLayout14.xml"/></Relationships>
</file>

<file path=ppt/slides/_rels/slide89.xml.rels><?xml version="1.0" encoding="UTF-8" standalone="yes"?>
<Relationships xmlns="http://schemas.openxmlformats.org/package/2006/relationships"><Relationship Id="rId3" Type="http://schemas.openxmlformats.org/officeDocument/2006/relationships/image" Target="../media/image212.jpeg"/><Relationship Id="rId2" Type="http://schemas.openxmlformats.org/officeDocument/2006/relationships/image" Target="../media/image211.jpeg"/><Relationship Id="rId1" Type="http://schemas.openxmlformats.org/officeDocument/2006/relationships/slideLayout" Target="../slideLayouts/slideLayout14.xml"/><Relationship Id="rId4" Type="http://schemas.openxmlformats.org/officeDocument/2006/relationships/image" Target="../media/image213.jpeg"/></Relationships>
</file>

<file path=ppt/slides/_rels/slide90.xml.rels><?xml version="1.0" encoding="UTF-8" standalone="yes"?>
<Relationships xmlns="http://schemas.openxmlformats.org/package/2006/relationships"><Relationship Id="rId2" Type="http://schemas.openxmlformats.org/officeDocument/2006/relationships/image" Target="../media/image214.jpeg"/><Relationship Id="rId1" Type="http://schemas.openxmlformats.org/officeDocument/2006/relationships/slideLayout" Target="../slideLayouts/slideLayout1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2.xml.rels><?xml version="1.0" encoding="UTF-8" standalone="yes"?>
<Relationships xmlns="http://schemas.openxmlformats.org/package/2006/relationships"><Relationship Id="rId2" Type="http://schemas.openxmlformats.org/officeDocument/2006/relationships/image" Target="../media/image215.jpeg"/><Relationship Id="rId1" Type="http://schemas.openxmlformats.org/officeDocument/2006/relationships/slideLayout" Target="../slideLayouts/slideLayout14.xml"/></Relationships>
</file>

<file path=ppt/slides/_rels/slide93.xml.rels><?xml version="1.0" encoding="UTF-8" standalone="yes"?>
<Relationships xmlns="http://schemas.openxmlformats.org/package/2006/relationships"><Relationship Id="rId2" Type="http://schemas.openxmlformats.org/officeDocument/2006/relationships/image" Target="../media/image216.jpeg"/><Relationship Id="rId1" Type="http://schemas.openxmlformats.org/officeDocument/2006/relationships/slideLayout" Target="../slideLayouts/slideLayout14.xml"/></Relationships>
</file>

<file path=ppt/slides/_rels/slide94.xml.rels><?xml version="1.0" encoding="UTF-8" standalone="yes"?>
<Relationships xmlns="http://schemas.openxmlformats.org/package/2006/relationships"><Relationship Id="rId2" Type="http://schemas.openxmlformats.org/officeDocument/2006/relationships/image" Target="../media/image217.jpeg"/><Relationship Id="rId1" Type="http://schemas.openxmlformats.org/officeDocument/2006/relationships/slideLayout" Target="../slideLayouts/slideLayout14.xml"/></Relationships>
</file>

<file path=ppt/slides/_rels/slide95.xml.rels><?xml version="1.0" encoding="UTF-8" standalone="yes"?>
<Relationships xmlns="http://schemas.openxmlformats.org/package/2006/relationships"><Relationship Id="rId2" Type="http://schemas.openxmlformats.org/officeDocument/2006/relationships/image" Target="../media/image218.jpeg"/><Relationship Id="rId1" Type="http://schemas.openxmlformats.org/officeDocument/2006/relationships/slideLayout" Target="../slideLayouts/slideLayout1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7200" y="1981200"/>
            <a:ext cx="8001000" cy="2133600"/>
          </a:xfrm>
        </p:spPr>
        <p:txBody>
          <a:bodyPr/>
          <a:lstStyle/>
          <a:p>
            <a:r>
              <a:rPr lang="zh-CN" altLang="en-US" b="1" dirty="0">
                <a:solidFill>
                  <a:srgbClr val="003300"/>
                </a:solidFill>
                <a:latin typeface="华文新魏" pitchFamily="2" charset="-122"/>
                <a:ea typeface="华文新魏" pitchFamily="2" charset="-122"/>
              </a:rPr>
              <a:t>第</a:t>
            </a:r>
            <a:r>
              <a:rPr lang="en-US" altLang="zh-CN" b="1" dirty="0">
                <a:solidFill>
                  <a:srgbClr val="003300"/>
                </a:solidFill>
                <a:latin typeface="华文新魏" pitchFamily="2" charset="-122"/>
                <a:ea typeface="华文新魏" pitchFamily="2" charset="-122"/>
              </a:rPr>
              <a:t>7</a:t>
            </a:r>
            <a:r>
              <a:rPr lang="zh-CN" altLang="en-US" b="1" dirty="0">
                <a:solidFill>
                  <a:srgbClr val="003300"/>
                </a:solidFill>
                <a:latin typeface="华文新魏" pitchFamily="2" charset="-122"/>
                <a:ea typeface="华文新魏" pitchFamily="2" charset="-122"/>
              </a:rPr>
              <a:t>章</a:t>
            </a:r>
            <a:br>
              <a:rPr lang="zh-CN" altLang="en-US" b="1" dirty="0">
                <a:solidFill>
                  <a:srgbClr val="003300"/>
                </a:solidFill>
                <a:latin typeface="华文新魏" pitchFamily="2" charset="-122"/>
                <a:ea typeface="华文新魏" pitchFamily="2" charset="-122"/>
              </a:rPr>
            </a:br>
            <a:r>
              <a:rPr lang="zh-CN" altLang="en-US" b="1" dirty="0">
                <a:solidFill>
                  <a:srgbClr val="003300"/>
                </a:solidFill>
                <a:latin typeface="华文新魏" pitchFamily="2" charset="-122"/>
                <a:ea typeface="华文新魏" pitchFamily="2" charset="-122"/>
              </a:rPr>
              <a:t>受压构件正截面承载力的计算</a:t>
            </a:r>
            <a:r>
              <a:rPr lang="zh-CN" altLang="en-US" dirty="0"/>
              <a:t> </a:t>
            </a:r>
          </a:p>
        </p:txBody>
      </p:sp>
      <p:sp>
        <p:nvSpPr>
          <p:cNvPr id="4101" name="WordArt 5"/>
          <p:cNvSpPr>
            <a:spLocks noChangeArrowheads="1" noChangeShapeType="1" noTextEdit="1"/>
          </p:cNvSpPr>
          <p:nvPr/>
        </p:nvSpPr>
        <p:spPr bwMode="auto">
          <a:xfrm>
            <a:off x="2438400" y="1524000"/>
            <a:ext cx="4114800" cy="4572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r>
              <a:rPr lang="zh-CN" altLang="en-US" sz="3600" kern="10">
                <a:ln w="9525">
                  <a:solidFill>
                    <a:srgbClr val="0000FF"/>
                  </a:solidFill>
                  <a:round/>
                  <a:headEnd/>
                  <a:tailEnd/>
                </a:ln>
                <a:solidFill>
                  <a:schemeClr val="accent2"/>
                </a:solidFill>
                <a:latin typeface="隶书"/>
                <a:ea typeface="隶书"/>
              </a:rPr>
              <a:t>钢筋混凝土结构</a:t>
            </a:r>
          </a:p>
        </p:txBody>
      </p:sp>
      <p:graphicFrame>
        <p:nvGraphicFramePr>
          <p:cNvPr id="4102" name="Object 6"/>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4212" name="公式" r:id="rId4" imgW="114151" imgH="215619" progId="Equation.3">
                  <p:embed/>
                </p:oleObj>
              </mc:Choice>
              <mc:Fallback>
                <p:oleObj name="公式" r:id="rId4" imgW="114151" imgH="215619" progId="Equation.3">
                  <p:embed/>
                  <p:pic>
                    <p:nvPicPr>
                      <p:cNvPr id="0" name="Picture 6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zh-CN" altLang="en-US" sz="3600" dirty="0">
                <a:solidFill>
                  <a:schemeClr val="tx2"/>
                </a:solidFill>
              </a:rPr>
              <a:t>导读</a:t>
            </a:r>
          </a:p>
        </p:txBody>
      </p:sp>
      <p:sp>
        <p:nvSpPr>
          <p:cNvPr id="35137" name="Text Box 321"/>
          <p:cNvSpPr txBox="1">
            <a:spLocks noChangeArrowheads="1"/>
          </p:cNvSpPr>
          <p:nvPr/>
        </p:nvSpPr>
        <p:spPr bwMode="auto">
          <a:xfrm>
            <a:off x="228600" y="1143000"/>
            <a:ext cx="86868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0"/>
              </a:spcBef>
              <a:defRPr>
                <a:solidFill>
                  <a:schemeClr val="tx1"/>
                </a:solidFill>
                <a:latin typeface="Arial" charset="0"/>
                <a:ea typeface="宋体" pitchFamily="2" charset="-122"/>
              </a:defRPr>
            </a:lvl1pPr>
            <a:lvl2pPr marL="882650" indent="-342900" algn="l">
              <a:spcBef>
                <a:spcPct val="0"/>
              </a:spcBef>
              <a:defRPr>
                <a:solidFill>
                  <a:schemeClr val="tx1"/>
                </a:solidFill>
                <a:latin typeface="Arial" charset="0"/>
                <a:ea typeface="宋体" pitchFamily="2" charset="-122"/>
              </a:defRPr>
            </a:lvl2pPr>
            <a:lvl3pPr marL="1404938" indent="-342900" algn="l">
              <a:spcBef>
                <a:spcPct val="0"/>
              </a:spcBef>
              <a:defRPr>
                <a:solidFill>
                  <a:schemeClr val="tx1"/>
                </a:solidFill>
                <a:latin typeface="Arial" charset="0"/>
                <a:ea typeface="宋体" pitchFamily="2" charset="-122"/>
              </a:defRPr>
            </a:lvl3pPr>
            <a:lvl4pPr marL="1927225" indent="-342900" algn="l">
              <a:spcBef>
                <a:spcPct val="0"/>
              </a:spcBef>
              <a:defRPr>
                <a:solidFill>
                  <a:schemeClr val="tx1"/>
                </a:solidFill>
                <a:latin typeface="Arial" charset="0"/>
                <a:ea typeface="宋体" pitchFamily="2" charset="-122"/>
              </a:defRPr>
            </a:lvl4pPr>
            <a:lvl5pPr marL="2449513" indent="-342900" algn="l">
              <a:spcBef>
                <a:spcPct val="0"/>
              </a:spcBef>
              <a:defRPr>
                <a:solidFill>
                  <a:schemeClr val="tx1"/>
                </a:solidFill>
                <a:latin typeface="Arial" charset="0"/>
                <a:ea typeface="宋体" pitchFamily="2" charset="-122"/>
              </a:defRPr>
            </a:lvl5pPr>
            <a:lvl6pPr marL="2906713" indent="-342900" fontAlgn="base">
              <a:spcBef>
                <a:spcPct val="0"/>
              </a:spcBef>
              <a:spcAft>
                <a:spcPct val="0"/>
              </a:spcAft>
              <a:defRPr>
                <a:solidFill>
                  <a:schemeClr val="tx1"/>
                </a:solidFill>
                <a:latin typeface="Arial" charset="0"/>
                <a:ea typeface="宋体" pitchFamily="2" charset="-122"/>
              </a:defRPr>
            </a:lvl6pPr>
            <a:lvl7pPr marL="3363913" indent="-342900" fontAlgn="base">
              <a:spcBef>
                <a:spcPct val="0"/>
              </a:spcBef>
              <a:spcAft>
                <a:spcPct val="0"/>
              </a:spcAft>
              <a:defRPr>
                <a:solidFill>
                  <a:schemeClr val="tx1"/>
                </a:solidFill>
                <a:latin typeface="Arial" charset="0"/>
                <a:ea typeface="宋体" pitchFamily="2" charset="-122"/>
              </a:defRPr>
            </a:lvl7pPr>
            <a:lvl8pPr marL="3821113" indent="-342900" fontAlgn="base">
              <a:spcBef>
                <a:spcPct val="0"/>
              </a:spcBef>
              <a:spcAft>
                <a:spcPct val="0"/>
              </a:spcAft>
              <a:defRPr>
                <a:solidFill>
                  <a:schemeClr val="tx1"/>
                </a:solidFill>
                <a:latin typeface="Arial" charset="0"/>
                <a:ea typeface="宋体" pitchFamily="2" charset="-122"/>
              </a:defRPr>
            </a:lvl8pPr>
            <a:lvl9pPr marL="4278313" indent="-342900" fontAlgn="base">
              <a:spcBef>
                <a:spcPct val="0"/>
              </a:spcBef>
              <a:spcAft>
                <a:spcPct val="0"/>
              </a:spcAft>
              <a:defRPr>
                <a:solidFill>
                  <a:schemeClr val="tx1"/>
                </a:solidFill>
                <a:latin typeface="Arial" charset="0"/>
                <a:ea typeface="宋体" pitchFamily="2" charset="-122"/>
              </a:defRPr>
            </a:lvl9pPr>
          </a:lstStyle>
          <a:p>
            <a:pPr marL="342900" indent="-342900">
              <a:lnSpc>
                <a:spcPct val="150000"/>
              </a:lnSpc>
              <a:spcBef>
                <a:spcPct val="20000"/>
              </a:spcBef>
              <a:buFont typeface="Wingdings" pitchFamily="2" charset="2"/>
              <a:buChar char="l"/>
            </a:pPr>
            <a:r>
              <a:rPr lang="zh-CN" altLang="en-US" sz="2000" dirty="0">
                <a:latin typeface="Times New Roman" pitchFamily="18" charset="0"/>
              </a:rPr>
              <a:t>理解轴心受压螺旋箍筋柱间接配筋的原理；</a:t>
            </a:r>
            <a:endParaRPr lang="en-US" altLang="zh-CN" sz="2000" dirty="0">
              <a:latin typeface="Times New Roman" pitchFamily="18" charset="0"/>
            </a:endParaRPr>
          </a:p>
          <a:p>
            <a:pPr marL="342900" indent="-342900">
              <a:lnSpc>
                <a:spcPct val="150000"/>
              </a:lnSpc>
              <a:spcBef>
                <a:spcPct val="20000"/>
              </a:spcBef>
              <a:buFont typeface="Wingdings" pitchFamily="2" charset="2"/>
              <a:buChar char="l"/>
            </a:pPr>
            <a:r>
              <a:rPr lang="zh-CN" altLang="en-US" sz="2000" dirty="0">
                <a:latin typeface="Times New Roman" pitchFamily="18" charset="0"/>
              </a:rPr>
              <a:t>深刻理解偏心受压构件的破坏形态和矩形截面受压承载力的计算简图和基本计算公式；</a:t>
            </a:r>
            <a:endParaRPr lang="en-US" altLang="zh-CN" sz="2000" dirty="0">
              <a:latin typeface="Times New Roman" pitchFamily="18" charset="0"/>
            </a:endParaRPr>
          </a:p>
          <a:p>
            <a:pPr marL="342900" indent="-342900">
              <a:lnSpc>
                <a:spcPct val="150000"/>
              </a:lnSpc>
              <a:spcBef>
                <a:spcPct val="20000"/>
              </a:spcBef>
              <a:buFont typeface="Wingdings" pitchFamily="2" charset="2"/>
              <a:buChar char="l"/>
            </a:pPr>
            <a:r>
              <a:rPr lang="zh-CN" altLang="en-US" sz="2000" dirty="0">
                <a:latin typeface="Times New Roman" pitchFamily="18" charset="0"/>
              </a:rPr>
              <a:t>熟练掌握矩形截面对称配筋偏心受压构件的受压承载力计算；</a:t>
            </a:r>
            <a:endParaRPr lang="en-US" altLang="zh-CN" sz="2000" dirty="0">
              <a:latin typeface="Times New Roman" pitchFamily="18" charset="0"/>
            </a:endParaRPr>
          </a:p>
          <a:p>
            <a:pPr marL="342900" indent="-342900">
              <a:lnSpc>
                <a:spcPct val="150000"/>
              </a:lnSpc>
              <a:spcBef>
                <a:spcPct val="20000"/>
              </a:spcBef>
              <a:buFont typeface="Wingdings" pitchFamily="2" charset="2"/>
              <a:buChar char="l"/>
            </a:pPr>
            <a:r>
              <a:rPr lang="zh-CN" altLang="en-US" sz="2000" dirty="0">
                <a:latin typeface="Times New Roman" pitchFamily="18" charset="0"/>
              </a:rPr>
              <a:t>领会受压构件中纵向钢筋和箍筋的主要构造要求。</a:t>
            </a:r>
            <a:endParaRPr lang="en-US" altLang="zh-CN" sz="2000" dirty="0">
              <a:latin typeface="Times New Roman" pitchFamily="18"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zh-CN" altLang="en-US" sz="3600" dirty="0">
                <a:solidFill>
                  <a:schemeClr val="tx2"/>
                </a:solidFill>
              </a:rPr>
              <a:t>概述</a:t>
            </a:r>
          </a:p>
        </p:txBody>
      </p:sp>
      <p:sp>
        <p:nvSpPr>
          <p:cNvPr id="35137" name="Text Box 321"/>
          <p:cNvSpPr txBox="1">
            <a:spLocks noChangeArrowheads="1"/>
          </p:cNvSpPr>
          <p:nvPr/>
        </p:nvSpPr>
        <p:spPr bwMode="auto">
          <a:xfrm>
            <a:off x="457200" y="1143000"/>
            <a:ext cx="8686800" cy="2012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0"/>
              </a:spcBef>
              <a:defRPr>
                <a:solidFill>
                  <a:schemeClr val="tx1"/>
                </a:solidFill>
                <a:latin typeface="Arial" charset="0"/>
                <a:ea typeface="宋体" pitchFamily="2" charset="-122"/>
              </a:defRPr>
            </a:lvl1pPr>
            <a:lvl2pPr marL="882650" indent="-342900" algn="l">
              <a:spcBef>
                <a:spcPct val="0"/>
              </a:spcBef>
              <a:defRPr>
                <a:solidFill>
                  <a:schemeClr val="tx1"/>
                </a:solidFill>
                <a:latin typeface="Arial" charset="0"/>
                <a:ea typeface="宋体" pitchFamily="2" charset="-122"/>
              </a:defRPr>
            </a:lvl2pPr>
            <a:lvl3pPr marL="1404938" indent="-342900" algn="l">
              <a:spcBef>
                <a:spcPct val="0"/>
              </a:spcBef>
              <a:defRPr>
                <a:solidFill>
                  <a:schemeClr val="tx1"/>
                </a:solidFill>
                <a:latin typeface="Arial" charset="0"/>
                <a:ea typeface="宋体" pitchFamily="2" charset="-122"/>
              </a:defRPr>
            </a:lvl3pPr>
            <a:lvl4pPr marL="1927225" indent="-342900" algn="l">
              <a:spcBef>
                <a:spcPct val="0"/>
              </a:spcBef>
              <a:defRPr>
                <a:solidFill>
                  <a:schemeClr val="tx1"/>
                </a:solidFill>
                <a:latin typeface="Arial" charset="0"/>
                <a:ea typeface="宋体" pitchFamily="2" charset="-122"/>
              </a:defRPr>
            </a:lvl4pPr>
            <a:lvl5pPr marL="2449513" indent="-342900" algn="l">
              <a:spcBef>
                <a:spcPct val="0"/>
              </a:spcBef>
              <a:defRPr>
                <a:solidFill>
                  <a:schemeClr val="tx1"/>
                </a:solidFill>
                <a:latin typeface="Arial" charset="0"/>
                <a:ea typeface="宋体" pitchFamily="2" charset="-122"/>
              </a:defRPr>
            </a:lvl5pPr>
            <a:lvl6pPr marL="2906713" indent="-342900" fontAlgn="base">
              <a:spcBef>
                <a:spcPct val="0"/>
              </a:spcBef>
              <a:spcAft>
                <a:spcPct val="0"/>
              </a:spcAft>
              <a:defRPr>
                <a:solidFill>
                  <a:schemeClr val="tx1"/>
                </a:solidFill>
                <a:latin typeface="Arial" charset="0"/>
                <a:ea typeface="宋体" pitchFamily="2" charset="-122"/>
              </a:defRPr>
            </a:lvl6pPr>
            <a:lvl7pPr marL="3363913" indent="-342900" fontAlgn="base">
              <a:spcBef>
                <a:spcPct val="0"/>
              </a:spcBef>
              <a:spcAft>
                <a:spcPct val="0"/>
              </a:spcAft>
              <a:defRPr>
                <a:solidFill>
                  <a:schemeClr val="tx1"/>
                </a:solidFill>
                <a:latin typeface="Arial" charset="0"/>
                <a:ea typeface="宋体" pitchFamily="2" charset="-122"/>
              </a:defRPr>
            </a:lvl7pPr>
            <a:lvl8pPr marL="3821113" indent="-342900" fontAlgn="base">
              <a:spcBef>
                <a:spcPct val="0"/>
              </a:spcBef>
              <a:spcAft>
                <a:spcPct val="0"/>
              </a:spcAft>
              <a:defRPr>
                <a:solidFill>
                  <a:schemeClr val="tx1"/>
                </a:solidFill>
                <a:latin typeface="Arial" charset="0"/>
                <a:ea typeface="宋体" pitchFamily="2" charset="-122"/>
              </a:defRPr>
            </a:lvl8pPr>
            <a:lvl9pPr marL="4278313" indent="-342900" fontAlgn="base">
              <a:spcBef>
                <a:spcPct val="0"/>
              </a:spcBef>
              <a:spcAft>
                <a:spcPct val="0"/>
              </a:spcAft>
              <a:defRPr>
                <a:solidFill>
                  <a:schemeClr val="tx1"/>
                </a:solidFill>
                <a:latin typeface="Arial" charset="0"/>
                <a:ea typeface="宋体" pitchFamily="2" charset="-122"/>
              </a:defRPr>
            </a:lvl9pPr>
          </a:lstStyle>
          <a:p>
            <a:pPr>
              <a:lnSpc>
                <a:spcPct val="120000"/>
              </a:lnSpc>
              <a:spcBef>
                <a:spcPct val="20000"/>
              </a:spcBef>
            </a:pPr>
            <a:r>
              <a:rPr lang="zh-CN" altLang="en-US" dirty="0">
                <a:solidFill>
                  <a:srgbClr val="0000FF"/>
                </a:solidFill>
                <a:latin typeface="Times New Roman" pitchFamily="18" charset="0"/>
              </a:rPr>
              <a:t>承受轴向压力为主的构件为</a:t>
            </a:r>
            <a:r>
              <a:rPr lang="zh-CN" altLang="en-US" dirty="0">
                <a:solidFill>
                  <a:srgbClr val="FF3300"/>
                </a:solidFill>
                <a:latin typeface="Times New Roman" pitchFamily="18" charset="0"/>
              </a:rPr>
              <a:t>受压构件</a:t>
            </a:r>
            <a:endParaRPr lang="en-US" altLang="zh-CN" dirty="0">
              <a:solidFill>
                <a:srgbClr val="FF3300"/>
              </a:solidFill>
              <a:latin typeface="Times New Roman" pitchFamily="18" charset="0"/>
            </a:endParaRPr>
          </a:p>
          <a:p>
            <a:pPr>
              <a:lnSpc>
                <a:spcPct val="120000"/>
              </a:lnSpc>
              <a:spcBef>
                <a:spcPct val="20000"/>
              </a:spcBef>
            </a:pPr>
            <a:r>
              <a:rPr lang="en-US" altLang="zh-CN" sz="2000" dirty="0"/>
              <a:t>                	                    </a:t>
            </a:r>
            <a:r>
              <a:rPr lang="zh-CN" altLang="en-US" sz="2000" dirty="0"/>
              <a:t>：</a:t>
            </a:r>
            <a:r>
              <a:rPr lang="zh-CN" altLang="en-US" sz="2000" dirty="0">
                <a:latin typeface="Times New Roman" pitchFamily="18" charset="0"/>
              </a:rPr>
              <a:t>轴向力作用线通过构件截面的几何中心；</a:t>
            </a:r>
          </a:p>
          <a:p>
            <a:pPr>
              <a:lnSpc>
                <a:spcPct val="150000"/>
              </a:lnSpc>
              <a:spcBef>
                <a:spcPct val="20000"/>
              </a:spcBef>
            </a:pPr>
            <a:r>
              <a:rPr lang="zh-CN" altLang="en-US" sz="2000" dirty="0"/>
              <a:t>		                    </a:t>
            </a:r>
            <a:r>
              <a:rPr lang="zh-CN" altLang="en-US" sz="2000" dirty="0">
                <a:latin typeface="Times New Roman" pitchFamily="18" charset="0"/>
              </a:rPr>
              <a:t>：轴向力作用线偏离构件截面的几何中心，</a:t>
            </a:r>
          </a:p>
          <a:p>
            <a:pPr>
              <a:lnSpc>
                <a:spcPct val="150000"/>
              </a:lnSpc>
              <a:spcBef>
                <a:spcPct val="20000"/>
              </a:spcBef>
            </a:pPr>
            <a:r>
              <a:rPr lang="zh-CN" altLang="en-US" sz="2000" dirty="0">
                <a:latin typeface="Times New Roman" pitchFamily="18" charset="0"/>
              </a:rPr>
              <a:t>偏心受压构件相当于构件上同时作用轴向压力</a:t>
            </a:r>
            <a:r>
              <a:rPr lang="en-US" altLang="zh-CN" sz="2000" i="1" dirty="0">
                <a:latin typeface="Times New Roman" pitchFamily="18" charset="0"/>
              </a:rPr>
              <a:t>N</a:t>
            </a:r>
            <a:r>
              <a:rPr lang="zh-CN" altLang="en-US" sz="2000" dirty="0">
                <a:latin typeface="Times New Roman" pitchFamily="18" charset="0"/>
              </a:rPr>
              <a:t>和弯矩</a:t>
            </a:r>
            <a:r>
              <a:rPr lang="en-US" altLang="zh-CN" sz="2000" i="1" dirty="0">
                <a:latin typeface="Times New Roman" pitchFamily="18" charset="0"/>
              </a:rPr>
              <a:t>M</a:t>
            </a:r>
            <a:r>
              <a:rPr lang="en-US" altLang="zh-CN" sz="2000" dirty="0">
                <a:latin typeface="Times New Roman" pitchFamily="18" charset="0"/>
              </a:rPr>
              <a:t>=</a:t>
            </a:r>
            <a:r>
              <a:rPr lang="en-US" altLang="zh-CN" sz="2000" i="1" dirty="0">
                <a:latin typeface="Times New Roman" pitchFamily="18" charset="0"/>
              </a:rPr>
              <a:t>Ne</a:t>
            </a:r>
            <a:r>
              <a:rPr lang="en-US" altLang="zh-CN" sz="2000" baseline="-25000" dirty="0">
                <a:latin typeface="Times New Roman" pitchFamily="18" charset="0"/>
              </a:rPr>
              <a:t>0</a:t>
            </a:r>
            <a:r>
              <a:rPr lang="zh-CN" altLang="en-US" sz="2000" dirty="0">
                <a:latin typeface="Times New Roman" pitchFamily="18" charset="0"/>
              </a:rPr>
              <a:t>的压弯构件。</a:t>
            </a:r>
          </a:p>
        </p:txBody>
      </p:sp>
      <p:sp>
        <p:nvSpPr>
          <p:cNvPr id="35138" name="AutoShape 322"/>
          <p:cNvSpPr>
            <a:spLocks noChangeArrowheads="1"/>
          </p:cNvSpPr>
          <p:nvPr/>
        </p:nvSpPr>
        <p:spPr bwMode="auto">
          <a:xfrm>
            <a:off x="1251665" y="1681905"/>
            <a:ext cx="2177752" cy="369332"/>
          </a:xfrm>
          <a:prstGeom prst="flowChartProcess">
            <a:avLst/>
          </a:prstGeom>
          <a:solidFill>
            <a:srgbClr val="FFCC99">
              <a:alpha val="50000"/>
            </a:srgbClr>
          </a:solidFill>
          <a:ln w="254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000" dirty="0">
                <a:latin typeface="Arial" charset="0"/>
              </a:rPr>
              <a:t>轴心受压构件</a:t>
            </a:r>
          </a:p>
        </p:txBody>
      </p:sp>
      <p:sp>
        <p:nvSpPr>
          <p:cNvPr id="35147" name="AutoShape 331"/>
          <p:cNvSpPr>
            <a:spLocks noChangeArrowheads="1"/>
          </p:cNvSpPr>
          <p:nvPr/>
        </p:nvSpPr>
        <p:spPr bwMode="auto">
          <a:xfrm>
            <a:off x="1278127" y="2196394"/>
            <a:ext cx="2151290" cy="369332"/>
          </a:xfrm>
          <a:prstGeom prst="flowChartProcess">
            <a:avLst/>
          </a:prstGeom>
          <a:solidFill>
            <a:srgbClr val="FFCC99">
              <a:alpha val="50000"/>
            </a:srgbClr>
          </a:solidFill>
          <a:ln w="254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000" dirty="0">
                <a:latin typeface="Arial" charset="0"/>
              </a:rPr>
              <a:t>偏心受压构件</a:t>
            </a:r>
          </a:p>
        </p:txBody>
      </p:sp>
      <p:pic>
        <p:nvPicPr>
          <p:cNvPr id="35148" name="Picture 332" descr="gj0701"/>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37787" r="4785" b="17786"/>
          <a:stretch>
            <a:fillRect/>
          </a:stretch>
        </p:blipFill>
        <p:spPr bwMode="auto">
          <a:xfrm>
            <a:off x="457200" y="3276600"/>
            <a:ext cx="4348163" cy="1600200"/>
          </a:xfrm>
          <a:prstGeom prst="rect">
            <a:avLst/>
          </a:prstGeom>
          <a:noFill/>
          <a:extLst>
            <a:ext uri="{909E8E84-426E-40DD-AFC4-6F175D3DCCD1}">
              <a14:hiddenFill xmlns:a14="http://schemas.microsoft.com/office/drawing/2010/main">
                <a:solidFill>
                  <a:srgbClr val="FFFFFF"/>
                </a:solidFill>
              </a14:hiddenFill>
            </a:ext>
          </a:extLst>
        </p:spPr>
      </p:pic>
      <p:sp>
        <p:nvSpPr>
          <p:cNvPr id="35149" name="AutoShape 333"/>
          <p:cNvSpPr>
            <a:spLocks noChangeArrowheads="1"/>
          </p:cNvSpPr>
          <p:nvPr/>
        </p:nvSpPr>
        <p:spPr bwMode="auto">
          <a:xfrm>
            <a:off x="5105400" y="3657600"/>
            <a:ext cx="1219200" cy="2514600"/>
          </a:xfrm>
          <a:prstGeom prst="cube">
            <a:avLst>
              <a:gd name="adj" fmla="val 25000"/>
            </a:avLst>
          </a:prstGeom>
          <a:noFill/>
          <a:ln w="9525">
            <a:solidFill>
              <a:schemeClr val="tx2"/>
            </a:solidFill>
            <a:miter lim="800000"/>
            <a:headEnd/>
            <a:tailEn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35153" name="AutoShape 337"/>
          <p:cNvCxnSpPr>
            <a:cxnSpLocks noChangeShapeType="1"/>
          </p:cNvCxnSpPr>
          <p:nvPr/>
        </p:nvCxnSpPr>
        <p:spPr bwMode="auto">
          <a:xfrm flipH="1">
            <a:off x="5257800" y="3352800"/>
            <a:ext cx="914400" cy="914400"/>
          </a:xfrm>
          <a:prstGeom prst="straightConnector1">
            <a:avLst/>
          </a:prstGeom>
          <a:noFill/>
          <a:ln w="952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156" name="Line 340"/>
          <p:cNvSpPr>
            <a:spLocks noChangeShapeType="1"/>
          </p:cNvSpPr>
          <p:nvPr/>
        </p:nvSpPr>
        <p:spPr bwMode="auto">
          <a:xfrm>
            <a:off x="4724400" y="3810000"/>
            <a:ext cx="2192338" cy="1588"/>
          </a:xfrm>
          <a:prstGeom prst="line">
            <a:avLst/>
          </a:prstGeom>
          <a:noFill/>
          <a:ln w="952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35158" name="AutoShape 342"/>
          <p:cNvCxnSpPr>
            <a:cxnSpLocks noChangeShapeType="1"/>
          </p:cNvCxnSpPr>
          <p:nvPr/>
        </p:nvCxnSpPr>
        <p:spPr bwMode="auto">
          <a:xfrm flipH="1">
            <a:off x="6115050" y="3352800"/>
            <a:ext cx="285750" cy="280988"/>
          </a:xfrm>
          <a:prstGeom prst="straightConnector1">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159" name="Line 343"/>
          <p:cNvSpPr>
            <a:spLocks noChangeShapeType="1"/>
          </p:cNvSpPr>
          <p:nvPr/>
        </p:nvSpPr>
        <p:spPr bwMode="auto">
          <a:xfrm>
            <a:off x="6376988" y="3733800"/>
            <a:ext cx="539750" cy="158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60" name="Rectangle 344"/>
          <p:cNvSpPr>
            <a:spLocks noChangeArrowheads="1"/>
          </p:cNvSpPr>
          <p:nvPr/>
        </p:nvSpPr>
        <p:spPr bwMode="auto">
          <a:xfrm>
            <a:off x="6864350" y="3733800"/>
            <a:ext cx="296863"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chemeClr val="tx2"/>
                </a:solidFill>
              </a:rPr>
              <a:t>y</a:t>
            </a:r>
          </a:p>
        </p:txBody>
      </p:sp>
      <p:sp>
        <p:nvSpPr>
          <p:cNvPr id="35161" name="Rectangle 345"/>
          <p:cNvSpPr>
            <a:spLocks noChangeArrowheads="1"/>
          </p:cNvSpPr>
          <p:nvPr/>
        </p:nvSpPr>
        <p:spPr bwMode="auto">
          <a:xfrm>
            <a:off x="5715000" y="3124200"/>
            <a:ext cx="311150"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chemeClr val="tx2"/>
                </a:solidFill>
              </a:rPr>
              <a:t>x</a:t>
            </a:r>
          </a:p>
        </p:txBody>
      </p:sp>
      <p:cxnSp>
        <p:nvCxnSpPr>
          <p:cNvPr id="35162" name="AutoShape 346"/>
          <p:cNvCxnSpPr>
            <a:cxnSpLocks noChangeShapeType="1"/>
          </p:cNvCxnSpPr>
          <p:nvPr/>
        </p:nvCxnSpPr>
        <p:spPr bwMode="auto">
          <a:xfrm flipH="1">
            <a:off x="6586538" y="3733800"/>
            <a:ext cx="71437" cy="71438"/>
          </a:xfrm>
          <a:prstGeom prst="straightConnector1">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163" name="Line 347"/>
          <p:cNvSpPr>
            <a:spLocks noChangeShapeType="1"/>
          </p:cNvSpPr>
          <p:nvPr/>
        </p:nvSpPr>
        <p:spPr bwMode="auto">
          <a:xfrm flipV="1">
            <a:off x="6096000" y="3425825"/>
            <a:ext cx="225425" cy="3175"/>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64" name="Line 348"/>
          <p:cNvSpPr>
            <a:spLocks noChangeShapeType="1"/>
          </p:cNvSpPr>
          <p:nvPr/>
        </p:nvSpPr>
        <p:spPr bwMode="auto">
          <a:xfrm>
            <a:off x="6538913" y="3771900"/>
            <a:ext cx="76200" cy="7620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65" name="Line 349"/>
          <p:cNvSpPr>
            <a:spLocks noChangeShapeType="1"/>
          </p:cNvSpPr>
          <p:nvPr/>
        </p:nvSpPr>
        <p:spPr bwMode="auto">
          <a:xfrm>
            <a:off x="6610350" y="3681413"/>
            <a:ext cx="76200" cy="7620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66" name="Line 350"/>
          <p:cNvSpPr>
            <a:spLocks noChangeShapeType="1"/>
          </p:cNvSpPr>
          <p:nvPr/>
        </p:nvSpPr>
        <p:spPr bwMode="auto">
          <a:xfrm>
            <a:off x="6062663" y="3376613"/>
            <a:ext cx="76200" cy="7620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67" name="Line 351"/>
          <p:cNvSpPr>
            <a:spLocks noChangeShapeType="1"/>
          </p:cNvSpPr>
          <p:nvPr/>
        </p:nvSpPr>
        <p:spPr bwMode="auto">
          <a:xfrm>
            <a:off x="6291263" y="3390900"/>
            <a:ext cx="76200" cy="7620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68" name="Rectangle 352"/>
          <p:cNvSpPr>
            <a:spLocks noChangeArrowheads="1"/>
          </p:cNvSpPr>
          <p:nvPr/>
        </p:nvSpPr>
        <p:spPr bwMode="auto">
          <a:xfrm>
            <a:off x="6207125" y="3048000"/>
            <a:ext cx="461963"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chemeClr val="tx2"/>
                </a:solidFill>
              </a:rPr>
              <a:t>e</a:t>
            </a:r>
            <a:r>
              <a:rPr lang="en-US" altLang="zh-CN" sz="2000" baseline="-25000">
                <a:solidFill>
                  <a:schemeClr val="tx2"/>
                </a:solidFill>
              </a:rPr>
              <a:t>0y</a:t>
            </a:r>
          </a:p>
        </p:txBody>
      </p:sp>
      <p:sp>
        <p:nvSpPr>
          <p:cNvPr id="35169" name="Rectangle 353"/>
          <p:cNvSpPr>
            <a:spLocks noChangeArrowheads="1"/>
          </p:cNvSpPr>
          <p:nvPr/>
        </p:nvSpPr>
        <p:spPr bwMode="auto">
          <a:xfrm>
            <a:off x="6705600" y="3276600"/>
            <a:ext cx="461963"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chemeClr val="tx2"/>
                </a:solidFill>
              </a:rPr>
              <a:t>e</a:t>
            </a:r>
            <a:r>
              <a:rPr lang="en-US" altLang="zh-CN" sz="2000" baseline="-25000">
                <a:solidFill>
                  <a:schemeClr val="tx2"/>
                </a:solidFill>
              </a:rPr>
              <a:t>0x</a:t>
            </a:r>
          </a:p>
        </p:txBody>
      </p:sp>
      <p:sp>
        <p:nvSpPr>
          <p:cNvPr id="35157" name="Line 341"/>
          <p:cNvSpPr>
            <a:spLocks noChangeShapeType="1"/>
          </p:cNvSpPr>
          <p:nvPr/>
        </p:nvSpPr>
        <p:spPr bwMode="auto">
          <a:xfrm>
            <a:off x="5715000" y="3200400"/>
            <a:ext cx="0" cy="609600"/>
          </a:xfrm>
          <a:prstGeom prst="line">
            <a:avLst/>
          </a:prstGeom>
          <a:noFill/>
          <a:ln w="38100">
            <a:solidFill>
              <a:srgbClr val="FF33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71" name="Rectangle 355"/>
          <p:cNvSpPr>
            <a:spLocks noChangeArrowheads="1"/>
          </p:cNvSpPr>
          <p:nvPr/>
        </p:nvSpPr>
        <p:spPr bwMode="auto">
          <a:xfrm>
            <a:off x="5334000" y="3124200"/>
            <a:ext cx="368300"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chemeClr val="tx2"/>
                </a:solidFill>
              </a:rPr>
              <a:t>N</a:t>
            </a:r>
          </a:p>
        </p:txBody>
      </p:sp>
      <p:sp>
        <p:nvSpPr>
          <p:cNvPr id="35172" name="Rectangle 356"/>
          <p:cNvSpPr>
            <a:spLocks noChangeArrowheads="1"/>
          </p:cNvSpPr>
          <p:nvPr/>
        </p:nvSpPr>
        <p:spPr bwMode="auto">
          <a:xfrm>
            <a:off x="6704013" y="4419600"/>
            <a:ext cx="1844675" cy="137160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a:t>轴心受压</a:t>
            </a:r>
          </a:p>
          <a:p>
            <a:pPr algn="l"/>
            <a:r>
              <a:rPr lang="zh-CN" altLang="en-US" sz="2000"/>
              <a:t>单向偏心受压</a:t>
            </a:r>
            <a:r>
              <a:rPr lang="en-US" altLang="zh-CN" sz="2000"/>
              <a:t>1</a:t>
            </a:r>
          </a:p>
          <a:p>
            <a:pPr algn="l"/>
            <a:r>
              <a:rPr lang="zh-CN" altLang="en-US" sz="2000"/>
              <a:t>单向偏心受压</a:t>
            </a:r>
            <a:r>
              <a:rPr lang="en-US" altLang="zh-CN" sz="2000"/>
              <a:t>2</a:t>
            </a:r>
          </a:p>
          <a:p>
            <a:pPr algn="l"/>
            <a:r>
              <a:rPr lang="zh-CN" altLang="en-US" sz="2000"/>
              <a:t>双向偏心受压</a:t>
            </a:r>
          </a:p>
        </p:txBody>
      </p:sp>
    </p:spTree>
    <p:extLst>
      <p:ext uri="{BB962C8B-B14F-4D97-AF65-F5344CB8AC3E}">
        <p14:creationId xmlns:p14="http://schemas.microsoft.com/office/powerpoint/2010/main" val="1650734598"/>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5172">
                                            <p:txEl>
                                              <p:pRg st="1" end="1"/>
                                            </p:txEl>
                                          </p:spTgt>
                                        </p:tgtEl>
                                        <p:attrNameLst>
                                          <p:attrName>style.visibility</p:attrName>
                                        </p:attrNameLst>
                                      </p:cBhvr>
                                      <p:to>
                                        <p:strVal val="visible"/>
                                      </p:to>
                                    </p:set>
                                    <p:animEffect transition="in" filter="wipe(left)">
                                      <p:cBhvr>
                                        <p:cTn id="7" dur="500"/>
                                        <p:tgtEl>
                                          <p:spTgt spid="3517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3" presetClass="path" presetSubtype="0" accel="50000" decel="50000" fill="hold" grpId="0" nodeType="clickEffect">
                                  <p:stCondLst>
                                    <p:cond delay="0"/>
                                  </p:stCondLst>
                                  <p:childTnLst>
                                    <p:animMotion origin="layout" path="M -3.33333E-6 -1.11111E-6 L 0.025 -1.11111E-6 " pathEditMode="relative" rAng="0" ptsTypes="AA">
                                      <p:cBhvr>
                                        <p:cTn id="11" dur="2000" fill="hold"/>
                                        <p:tgtEl>
                                          <p:spTgt spid="35157"/>
                                        </p:tgtEl>
                                        <p:attrNameLst>
                                          <p:attrName>ppt_x</p:attrName>
                                          <p:attrName>ppt_y</p:attrName>
                                        </p:attrNameLst>
                                      </p:cBhvr>
                                      <p:rCtr x="1250" y="0"/>
                                    </p:animMotion>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5167"/>
                                        </p:tgtEl>
                                        <p:attrNameLst>
                                          <p:attrName>style.visibility</p:attrName>
                                        </p:attrNameLst>
                                      </p:cBhvr>
                                      <p:to>
                                        <p:strVal val="visible"/>
                                      </p:to>
                                    </p:set>
                                    <p:animEffect transition="in" filter="blinds(horizontal)">
                                      <p:cBhvr>
                                        <p:cTn id="16" dur="500"/>
                                        <p:tgtEl>
                                          <p:spTgt spid="35167"/>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5168"/>
                                        </p:tgtEl>
                                        <p:attrNameLst>
                                          <p:attrName>style.visibility</p:attrName>
                                        </p:attrNameLst>
                                      </p:cBhvr>
                                      <p:to>
                                        <p:strVal val="visible"/>
                                      </p:to>
                                    </p:set>
                                    <p:animEffect transition="in" filter="blinds(horizontal)">
                                      <p:cBhvr>
                                        <p:cTn id="19" dur="500"/>
                                        <p:tgtEl>
                                          <p:spTgt spid="35168"/>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35163"/>
                                        </p:tgtEl>
                                        <p:attrNameLst>
                                          <p:attrName>style.visibility</p:attrName>
                                        </p:attrNameLst>
                                      </p:cBhvr>
                                      <p:to>
                                        <p:strVal val="visible"/>
                                      </p:to>
                                    </p:set>
                                    <p:animEffect transition="in" filter="blinds(horizontal)">
                                      <p:cBhvr>
                                        <p:cTn id="22" dur="500"/>
                                        <p:tgtEl>
                                          <p:spTgt spid="35163"/>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35166"/>
                                        </p:tgtEl>
                                        <p:attrNameLst>
                                          <p:attrName>style.visibility</p:attrName>
                                        </p:attrNameLst>
                                      </p:cBhvr>
                                      <p:to>
                                        <p:strVal val="visible"/>
                                      </p:to>
                                    </p:set>
                                    <p:animEffect transition="in" filter="blinds(horizontal)">
                                      <p:cBhvr>
                                        <p:cTn id="25" dur="500"/>
                                        <p:tgtEl>
                                          <p:spTgt spid="35166"/>
                                        </p:tgtEl>
                                      </p:cBhvr>
                                    </p:animEffect>
                                  </p:childTnLst>
                                </p:cTn>
                              </p:par>
                              <p:par>
                                <p:cTn id="26" presetID="3" presetClass="entr" presetSubtype="10" fill="hold" nodeType="withEffect">
                                  <p:stCondLst>
                                    <p:cond delay="0"/>
                                  </p:stCondLst>
                                  <p:childTnLst>
                                    <p:set>
                                      <p:cBhvr>
                                        <p:cTn id="27" dur="1" fill="hold">
                                          <p:stCondLst>
                                            <p:cond delay="0"/>
                                          </p:stCondLst>
                                        </p:cTn>
                                        <p:tgtEl>
                                          <p:spTgt spid="35158"/>
                                        </p:tgtEl>
                                        <p:attrNameLst>
                                          <p:attrName>style.visibility</p:attrName>
                                        </p:attrNameLst>
                                      </p:cBhvr>
                                      <p:to>
                                        <p:strVal val="visible"/>
                                      </p:to>
                                    </p:set>
                                    <p:animEffect transition="in" filter="blinds(horizontal)">
                                      <p:cBhvr>
                                        <p:cTn id="28" dur="500"/>
                                        <p:tgtEl>
                                          <p:spTgt spid="3515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5" presetClass="path" presetSubtype="0" accel="50000" decel="50000" fill="hold" grpId="1" nodeType="clickEffect">
                                  <p:stCondLst>
                                    <p:cond delay="0"/>
                                  </p:stCondLst>
                                  <p:childTnLst>
                                    <p:animMotion origin="layout" path="M 0.025 -1.11111E-6 L 0.00018 -1.11111E-6 " pathEditMode="relative" rAng="0" ptsTypes="AA">
                                      <p:cBhvr>
                                        <p:cTn id="32" dur="2000" fill="hold"/>
                                        <p:tgtEl>
                                          <p:spTgt spid="35157"/>
                                        </p:tgtEl>
                                        <p:attrNameLst>
                                          <p:attrName>ppt_x</p:attrName>
                                          <p:attrName>ppt_y</p:attrName>
                                        </p:attrNameLst>
                                      </p:cBhvr>
                                      <p:rCtr x="-1250" y="0"/>
                                    </p:animMotion>
                                  </p:childTnLst>
                                </p:cTn>
                              </p:par>
                              <p:par>
                                <p:cTn id="33" presetID="1" presetClass="exit" presetSubtype="0" fill="hold" grpId="1" nodeType="withEffect">
                                  <p:stCondLst>
                                    <p:cond delay="0"/>
                                  </p:stCondLst>
                                  <p:childTnLst>
                                    <p:set>
                                      <p:cBhvr>
                                        <p:cTn id="34" dur="1" fill="hold">
                                          <p:stCondLst>
                                            <p:cond delay="0"/>
                                          </p:stCondLst>
                                        </p:cTn>
                                        <p:tgtEl>
                                          <p:spTgt spid="35167"/>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35166"/>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35163"/>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35158"/>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35168"/>
                                        </p:tgtEl>
                                        <p:attrNameLst>
                                          <p:attrName>style.visibility</p:attrName>
                                        </p:attrNameLst>
                                      </p:cBhvr>
                                      <p:to>
                                        <p:strVal val="hidden"/>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5172">
                                            <p:txEl>
                                              <p:pRg st="2" end="2"/>
                                            </p:txEl>
                                          </p:spTgt>
                                        </p:tgtEl>
                                        <p:attrNameLst>
                                          <p:attrName>style.visibility</p:attrName>
                                        </p:attrNameLst>
                                      </p:cBhvr>
                                      <p:to>
                                        <p:strVal val="visible"/>
                                      </p:to>
                                    </p:set>
                                    <p:animEffect transition="in" filter="wipe(left)">
                                      <p:cBhvr>
                                        <p:cTn id="47" dur="500"/>
                                        <p:tgtEl>
                                          <p:spTgt spid="35172">
                                            <p:txEl>
                                              <p:pRg st="2" end="2"/>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6" presetClass="path" presetSubtype="0" accel="50000" decel="50000" fill="hold" grpId="2" nodeType="clickEffect">
                                  <p:stCondLst>
                                    <p:cond delay="0"/>
                                  </p:stCondLst>
                                  <p:childTnLst>
                                    <p:animMotion origin="layout" path="M -3.33333E-6 -1.11111E-6 L 0.00834 -0.01111 " pathEditMode="relative" rAng="0" ptsTypes="AA">
                                      <p:cBhvr>
                                        <p:cTn id="51" dur="2000" fill="hold"/>
                                        <p:tgtEl>
                                          <p:spTgt spid="35157"/>
                                        </p:tgtEl>
                                        <p:attrNameLst>
                                          <p:attrName>ppt_x</p:attrName>
                                          <p:attrName>ppt_y</p:attrName>
                                        </p:attrNameLst>
                                      </p:cBhvr>
                                      <p:rCtr x="417" y="-556"/>
                                    </p:animMotion>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35164"/>
                                        </p:tgtEl>
                                        <p:attrNameLst>
                                          <p:attrName>style.visibility</p:attrName>
                                        </p:attrNameLst>
                                      </p:cBhvr>
                                      <p:to>
                                        <p:strVal val="visible"/>
                                      </p:to>
                                    </p:set>
                                    <p:animEffect transition="in" filter="blinds(horizontal)">
                                      <p:cBhvr>
                                        <p:cTn id="56" dur="500"/>
                                        <p:tgtEl>
                                          <p:spTgt spid="35164"/>
                                        </p:tgtEl>
                                      </p:cBhvr>
                                    </p:animEffect>
                                  </p:childTnLst>
                                </p:cTn>
                              </p:par>
                              <p:par>
                                <p:cTn id="57" presetID="3" presetClass="entr" presetSubtype="10" fill="hold" nodeType="withEffect">
                                  <p:stCondLst>
                                    <p:cond delay="0"/>
                                  </p:stCondLst>
                                  <p:childTnLst>
                                    <p:set>
                                      <p:cBhvr>
                                        <p:cTn id="58" dur="1" fill="hold">
                                          <p:stCondLst>
                                            <p:cond delay="0"/>
                                          </p:stCondLst>
                                        </p:cTn>
                                        <p:tgtEl>
                                          <p:spTgt spid="35162"/>
                                        </p:tgtEl>
                                        <p:attrNameLst>
                                          <p:attrName>style.visibility</p:attrName>
                                        </p:attrNameLst>
                                      </p:cBhvr>
                                      <p:to>
                                        <p:strVal val="visible"/>
                                      </p:to>
                                    </p:set>
                                    <p:animEffect transition="in" filter="blinds(horizontal)">
                                      <p:cBhvr>
                                        <p:cTn id="59" dur="500"/>
                                        <p:tgtEl>
                                          <p:spTgt spid="35162"/>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35165"/>
                                        </p:tgtEl>
                                        <p:attrNameLst>
                                          <p:attrName>style.visibility</p:attrName>
                                        </p:attrNameLst>
                                      </p:cBhvr>
                                      <p:to>
                                        <p:strVal val="visible"/>
                                      </p:to>
                                    </p:set>
                                    <p:animEffect transition="in" filter="blinds(horizontal)">
                                      <p:cBhvr>
                                        <p:cTn id="62" dur="500"/>
                                        <p:tgtEl>
                                          <p:spTgt spid="35165"/>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35159"/>
                                        </p:tgtEl>
                                        <p:attrNameLst>
                                          <p:attrName>style.visibility</p:attrName>
                                        </p:attrNameLst>
                                      </p:cBhvr>
                                      <p:to>
                                        <p:strVal val="visible"/>
                                      </p:to>
                                    </p:set>
                                    <p:animEffect transition="in" filter="blinds(horizontal)">
                                      <p:cBhvr>
                                        <p:cTn id="65" dur="500"/>
                                        <p:tgtEl>
                                          <p:spTgt spid="35159"/>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35169"/>
                                        </p:tgtEl>
                                        <p:attrNameLst>
                                          <p:attrName>style.visibility</p:attrName>
                                        </p:attrNameLst>
                                      </p:cBhvr>
                                      <p:to>
                                        <p:strVal val="visible"/>
                                      </p:to>
                                    </p:set>
                                    <p:animEffect transition="in" filter="blinds(horizontal)">
                                      <p:cBhvr>
                                        <p:cTn id="68" dur="500"/>
                                        <p:tgtEl>
                                          <p:spTgt spid="35169"/>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56" presetClass="path" presetSubtype="0" accel="50000" decel="50000" fill="hold" grpId="3" nodeType="clickEffect">
                                  <p:stCondLst>
                                    <p:cond delay="0"/>
                                  </p:stCondLst>
                                  <p:childTnLst>
                                    <p:animMotion origin="layout" path="M -3.33333E-6 -1.11111E-6 L 0.00834 -0.01111 " pathEditMode="relative" rAng="0" ptsTypes="AA">
                                      <p:cBhvr>
                                        <p:cTn id="72" dur="2000" spd="-100000" fill="hold"/>
                                        <p:tgtEl>
                                          <p:spTgt spid="35157"/>
                                        </p:tgtEl>
                                        <p:attrNameLst>
                                          <p:attrName>ppt_x</p:attrName>
                                          <p:attrName>ppt_y</p:attrName>
                                        </p:attrNameLst>
                                      </p:cBhvr>
                                      <p:rCtr x="417" y="-556"/>
                                    </p:animMotion>
                                  </p:childTnLst>
                                </p:cTn>
                              </p:par>
                              <p:par>
                                <p:cTn id="73" presetID="1" presetClass="exit" presetSubtype="0" fill="hold" nodeType="withEffect">
                                  <p:stCondLst>
                                    <p:cond delay="0"/>
                                  </p:stCondLst>
                                  <p:childTnLst>
                                    <p:set>
                                      <p:cBhvr>
                                        <p:cTn id="74" dur="1" fill="hold">
                                          <p:stCondLst>
                                            <p:cond delay="0"/>
                                          </p:stCondLst>
                                        </p:cTn>
                                        <p:tgtEl>
                                          <p:spTgt spid="35162"/>
                                        </p:tgtEl>
                                        <p:attrNameLst>
                                          <p:attrName>style.visibility</p:attrName>
                                        </p:attrNameLst>
                                      </p:cBhvr>
                                      <p:to>
                                        <p:strVal val="hidden"/>
                                      </p:to>
                                    </p:set>
                                  </p:childTnLst>
                                </p:cTn>
                              </p:par>
                              <p:par>
                                <p:cTn id="75" presetID="1" presetClass="exit" presetSubtype="0" fill="hold" grpId="1" nodeType="withEffect">
                                  <p:stCondLst>
                                    <p:cond delay="0"/>
                                  </p:stCondLst>
                                  <p:childTnLst>
                                    <p:set>
                                      <p:cBhvr>
                                        <p:cTn id="76" dur="1" fill="hold">
                                          <p:stCondLst>
                                            <p:cond delay="0"/>
                                          </p:stCondLst>
                                        </p:cTn>
                                        <p:tgtEl>
                                          <p:spTgt spid="35164"/>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35165"/>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35159"/>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35169"/>
                                        </p:tgtEl>
                                        <p:attrNameLst>
                                          <p:attrName>style.visibility</p:attrName>
                                        </p:attrNameLst>
                                      </p:cBhvr>
                                      <p:to>
                                        <p:strVal val="hidden"/>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35172">
                                            <p:txEl>
                                              <p:pRg st="3" end="3"/>
                                            </p:txEl>
                                          </p:spTgt>
                                        </p:tgtEl>
                                        <p:attrNameLst>
                                          <p:attrName>style.visibility</p:attrName>
                                        </p:attrNameLst>
                                      </p:cBhvr>
                                      <p:to>
                                        <p:strVal val="visible"/>
                                      </p:to>
                                    </p:set>
                                    <p:animEffect transition="in" filter="wipe(left)">
                                      <p:cBhvr>
                                        <p:cTn id="87" dur="500"/>
                                        <p:tgtEl>
                                          <p:spTgt spid="35172">
                                            <p:txEl>
                                              <p:pRg st="3" end="3"/>
                                            </p:txEl>
                                          </p:spTgt>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0" presetClass="path" presetSubtype="0" accel="50000" decel="50000" fill="hold" grpId="4" nodeType="clickEffect">
                                  <p:stCondLst>
                                    <p:cond delay="0"/>
                                  </p:stCondLst>
                                  <p:childTnLst>
                                    <p:animMotion origin="layout" path="M -3.33333E-6 5.55556E-6 L 0.03334 -0.01203 " pathEditMode="relative" ptsTypes="AA">
                                      <p:cBhvr>
                                        <p:cTn id="91" dur="2000" fill="hold"/>
                                        <p:tgtEl>
                                          <p:spTgt spid="35157"/>
                                        </p:tgtEl>
                                        <p:attrNameLst>
                                          <p:attrName>ppt_x</p:attrName>
                                          <p:attrName>ppt_y</p:attrName>
                                        </p:attrNameLst>
                                      </p:cBhvr>
                                    </p:animMotion>
                                  </p:childTnLst>
                                </p:cTn>
                              </p:par>
                            </p:childTnLst>
                          </p:cTn>
                        </p:par>
                      </p:childTnLst>
                    </p:cTn>
                  </p:par>
                  <p:par>
                    <p:cTn id="92" fill="hold" nodeType="clickPar">
                      <p:stCondLst>
                        <p:cond delay="indefinite"/>
                      </p:stCondLst>
                      <p:childTnLst>
                        <p:par>
                          <p:cTn id="93" fill="hold" nodeType="withGroup">
                            <p:stCondLst>
                              <p:cond delay="0"/>
                            </p:stCondLst>
                            <p:childTnLst>
                              <p:par>
                                <p:cTn id="94" presetID="1" presetClass="entr" presetSubtype="0" fill="hold" nodeType="clickEffect">
                                  <p:stCondLst>
                                    <p:cond delay="0"/>
                                  </p:stCondLst>
                                  <p:childTnLst>
                                    <p:set>
                                      <p:cBhvr>
                                        <p:cTn id="95" dur="1" fill="hold">
                                          <p:stCondLst>
                                            <p:cond delay="0"/>
                                          </p:stCondLst>
                                        </p:cTn>
                                        <p:tgtEl>
                                          <p:spTgt spid="35158"/>
                                        </p:tgtEl>
                                        <p:attrNameLst>
                                          <p:attrName>style.visibility</p:attrName>
                                        </p:attrNameLst>
                                      </p:cBhvr>
                                      <p:to>
                                        <p:strVal val="visible"/>
                                      </p:to>
                                    </p:set>
                                  </p:childTnLst>
                                </p:cTn>
                              </p:par>
                              <p:par>
                                <p:cTn id="96" presetID="1" presetClass="entr" presetSubtype="0" fill="hold" grpId="2" nodeType="withEffect">
                                  <p:stCondLst>
                                    <p:cond delay="0"/>
                                  </p:stCondLst>
                                  <p:childTnLst>
                                    <p:set>
                                      <p:cBhvr>
                                        <p:cTn id="97" dur="1" fill="hold">
                                          <p:stCondLst>
                                            <p:cond delay="0"/>
                                          </p:stCondLst>
                                        </p:cTn>
                                        <p:tgtEl>
                                          <p:spTgt spid="35159"/>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35162"/>
                                        </p:tgtEl>
                                        <p:attrNameLst>
                                          <p:attrName>style.visibility</p:attrName>
                                        </p:attrNameLst>
                                      </p:cBhvr>
                                      <p:to>
                                        <p:strVal val="visible"/>
                                      </p:to>
                                    </p:set>
                                  </p:childTnLst>
                                </p:cTn>
                              </p:par>
                              <p:par>
                                <p:cTn id="100" presetID="1" presetClass="entr" presetSubtype="0" fill="hold" grpId="2" nodeType="withEffect">
                                  <p:stCondLst>
                                    <p:cond delay="0"/>
                                  </p:stCondLst>
                                  <p:childTnLst>
                                    <p:set>
                                      <p:cBhvr>
                                        <p:cTn id="101" dur="1" fill="hold">
                                          <p:stCondLst>
                                            <p:cond delay="0"/>
                                          </p:stCondLst>
                                        </p:cTn>
                                        <p:tgtEl>
                                          <p:spTgt spid="35163"/>
                                        </p:tgtEl>
                                        <p:attrNameLst>
                                          <p:attrName>style.visibility</p:attrName>
                                        </p:attrNameLst>
                                      </p:cBhvr>
                                      <p:to>
                                        <p:strVal val="visible"/>
                                      </p:to>
                                    </p:set>
                                  </p:childTnLst>
                                </p:cTn>
                              </p:par>
                              <p:par>
                                <p:cTn id="102" presetID="1" presetClass="entr" presetSubtype="0" fill="hold" grpId="2" nodeType="withEffect">
                                  <p:stCondLst>
                                    <p:cond delay="0"/>
                                  </p:stCondLst>
                                  <p:childTnLst>
                                    <p:set>
                                      <p:cBhvr>
                                        <p:cTn id="103" dur="1" fill="hold">
                                          <p:stCondLst>
                                            <p:cond delay="0"/>
                                          </p:stCondLst>
                                        </p:cTn>
                                        <p:tgtEl>
                                          <p:spTgt spid="35164"/>
                                        </p:tgtEl>
                                        <p:attrNameLst>
                                          <p:attrName>style.visibility</p:attrName>
                                        </p:attrNameLst>
                                      </p:cBhvr>
                                      <p:to>
                                        <p:strVal val="visible"/>
                                      </p:to>
                                    </p:set>
                                  </p:childTnLst>
                                </p:cTn>
                              </p:par>
                              <p:par>
                                <p:cTn id="104" presetID="1" presetClass="entr" presetSubtype="0" fill="hold" grpId="2" nodeType="withEffect">
                                  <p:stCondLst>
                                    <p:cond delay="0"/>
                                  </p:stCondLst>
                                  <p:childTnLst>
                                    <p:set>
                                      <p:cBhvr>
                                        <p:cTn id="105" dur="1" fill="hold">
                                          <p:stCondLst>
                                            <p:cond delay="0"/>
                                          </p:stCondLst>
                                        </p:cTn>
                                        <p:tgtEl>
                                          <p:spTgt spid="35165"/>
                                        </p:tgtEl>
                                        <p:attrNameLst>
                                          <p:attrName>style.visibility</p:attrName>
                                        </p:attrNameLst>
                                      </p:cBhvr>
                                      <p:to>
                                        <p:strVal val="visible"/>
                                      </p:to>
                                    </p:set>
                                  </p:childTnLst>
                                </p:cTn>
                              </p:par>
                              <p:par>
                                <p:cTn id="106" presetID="1" presetClass="entr" presetSubtype="0" fill="hold" grpId="2" nodeType="withEffect">
                                  <p:stCondLst>
                                    <p:cond delay="0"/>
                                  </p:stCondLst>
                                  <p:childTnLst>
                                    <p:set>
                                      <p:cBhvr>
                                        <p:cTn id="107" dur="1" fill="hold">
                                          <p:stCondLst>
                                            <p:cond delay="0"/>
                                          </p:stCondLst>
                                        </p:cTn>
                                        <p:tgtEl>
                                          <p:spTgt spid="35166"/>
                                        </p:tgtEl>
                                        <p:attrNameLst>
                                          <p:attrName>style.visibility</p:attrName>
                                        </p:attrNameLst>
                                      </p:cBhvr>
                                      <p:to>
                                        <p:strVal val="visible"/>
                                      </p:to>
                                    </p:set>
                                  </p:childTnLst>
                                </p:cTn>
                              </p:par>
                              <p:par>
                                <p:cTn id="108" presetID="1" presetClass="entr" presetSubtype="0" fill="hold" grpId="2" nodeType="withEffect">
                                  <p:stCondLst>
                                    <p:cond delay="0"/>
                                  </p:stCondLst>
                                  <p:childTnLst>
                                    <p:set>
                                      <p:cBhvr>
                                        <p:cTn id="109" dur="1" fill="hold">
                                          <p:stCondLst>
                                            <p:cond delay="0"/>
                                          </p:stCondLst>
                                        </p:cTn>
                                        <p:tgtEl>
                                          <p:spTgt spid="35167"/>
                                        </p:tgtEl>
                                        <p:attrNameLst>
                                          <p:attrName>style.visibility</p:attrName>
                                        </p:attrNameLst>
                                      </p:cBhvr>
                                      <p:to>
                                        <p:strVal val="visible"/>
                                      </p:to>
                                    </p:set>
                                  </p:childTnLst>
                                </p:cTn>
                              </p:par>
                              <p:par>
                                <p:cTn id="110" presetID="1" presetClass="entr" presetSubtype="0" fill="hold" grpId="2" nodeType="withEffect">
                                  <p:stCondLst>
                                    <p:cond delay="0"/>
                                  </p:stCondLst>
                                  <p:childTnLst>
                                    <p:set>
                                      <p:cBhvr>
                                        <p:cTn id="111" dur="1" fill="hold">
                                          <p:stCondLst>
                                            <p:cond delay="0"/>
                                          </p:stCondLst>
                                        </p:cTn>
                                        <p:tgtEl>
                                          <p:spTgt spid="35168"/>
                                        </p:tgtEl>
                                        <p:attrNameLst>
                                          <p:attrName>style.visibility</p:attrName>
                                        </p:attrNameLst>
                                      </p:cBhvr>
                                      <p:to>
                                        <p:strVal val="visible"/>
                                      </p:to>
                                    </p:set>
                                  </p:childTnLst>
                                </p:cTn>
                              </p:par>
                              <p:par>
                                <p:cTn id="112" presetID="1" presetClass="entr" presetSubtype="0" fill="hold" grpId="2" nodeType="withEffect">
                                  <p:stCondLst>
                                    <p:cond delay="0"/>
                                  </p:stCondLst>
                                  <p:childTnLst>
                                    <p:set>
                                      <p:cBhvr>
                                        <p:cTn id="113" dur="1" fill="hold">
                                          <p:stCondLst>
                                            <p:cond delay="0"/>
                                          </p:stCondLst>
                                        </p:cTn>
                                        <p:tgtEl>
                                          <p:spTgt spid="351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59" grpId="0" animBg="1"/>
      <p:bldP spid="35159" grpId="1" animBg="1"/>
      <p:bldP spid="35159" grpId="2" animBg="1"/>
      <p:bldP spid="35163" grpId="0" animBg="1"/>
      <p:bldP spid="35163" grpId="1" animBg="1"/>
      <p:bldP spid="35163" grpId="2" animBg="1"/>
      <p:bldP spid="35164" grpId="0" animBg="1"/>
      <p:bldP spid="35164" grpId="1" animBg="1"/>
      <p:bldP spid="35164" grpId="2" animBg="1"/>
      <p:bldP spid="35165" grpId="0" animBg="1"/>
      <p:bldP spid="35165" grpId="1" animBg="1"/>
      <p:bldP spid="35165" grpId="2" animBg="1"/>
      <p:bldP spid="35166" grpId="0" animBg="1"/>
      <p:bldP spid="35166" grpId="1" animBg="1"/>
      <p:bldP spid="35166" grpId="2" animBg="1"/>
      <p:bldP spid="35167" grpId="0" animBg="1"/>
      <p:bldP spid="35167" grpId="1" animBg="1"/>
      <p:bldP spid="35167" grpId="2" animBg="1"/>
      <p:bldP spid="35168" grpId="0"/>
      <p:bldP spid="35168" grpId="1"/>
      <p:bldP spid="35168" grpId="2"/>
      <p:bldP spid="35169" grpId="0"/>
      <p:bldP spid="35169" grpId="1"/>
      <p:bldP spid="35169" grpId="2"/>
      <p:bldP spid="35157" grpId="0" animBg="1"/>
      <p:bldP spid="35157" grpId="1" animBg="1"/>
      <p:bldP spid="35157" grpId="2" animBg="1"/>
      <p:bldP spid="35157" grpId="3" animBg="1"/>
      <p:bldP spid="35157" grpId="4"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2082" name="Rectangle 2"/>
          <p:cNvSpPr>
            <a:spLocks noGrp="1" noChangeArrowheads="1"/>
          </p:cNvSpPr>
          <p:nvPr>
            <p:ph type="title"/>
          </p:nvPr>
        </p:nvSpPr>
        <p:spPr/>
        <p:txBody>
          <a:bodyPr/>
          <a:lstStyle/>
          <a:p>
            <a:r>
              <a:rPr lang="zh-CN" altLang="en-US" sz="3600" dirty="0">
                <a:solidFill>
                  <a:schemeClr val="tx2"/>
                </a:solidFill>
                <a:latin typeface="Times New Roman" pitchFamily="18" charset="0"/>
              </a:rPr>
              <a:t>概述</a:t>
            </a:r>
          </a:p>
        </p:txBody>
      </p:sp>
      <p:sp>
        <p:nvSpPr>
          <p:cNvPr id="302083" name="Text Box 3"/>
          <p:cNvSpPr txBox="1">
            <a:spLocks noChangeArrowheads="1"/>
          </p:cNvSpPr>
          <p:nvPr/>
        </p:nvSpPr>
        <p:spPr bwMode="auto">
          <a:xfrm>
            <a:off x="457200" y="1066800"/>
            <a:ext cx="838200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0"/>
              </a:spcBef>
              <a:defRPr>
                <a:solidFill>
                  <a:schemeClr val="tx1"/>
                </a:solidFill>
                <a:latin typeface="Arial" charset="0"/>
                <a:ea typeface="宋体" pitchFamily="2" charset="-122"/>
              </a:defRPr>
            </a:lvl1pPr>
            <a:lvl2pPr marL="882650" indent="-342900" algn="l">
              <a:spcBef>
                <a:spcPct val="0"/>
              </a:spcBef>
              <a:defRPr>
                <a:solidFill>
                  <a:schemeClr val="tx1"/>
                </a:solidFill>
                <a:latin typeface="Arial" charset="0"/>
                <a:ea typeface="宋体" pitchFamily="2" charset="-122"/>
              </a:defRPr>
            </a:lvl2pPr>
            <a:lvl3pPr marL="1404938" indent="-342900" algn="l">
              <a:spcBef>
                <a:spcPct val="0"/>
              </a:spcBef>
              <a:defRPr>
                <a:solidFill>
                  <a:schemeClr val="tx1"/>
                </a:solidFill>
                <a:latin typeface="Arial" charset="0"/>
                <a:ea typeface="宋体" pitchFamily="2" charset="-122"/>
              </a:defRPr>
            </a:lvl3pPr>
            <a:lvl4pPr marL="1927225" indent="-342900" algn="l">
              <a:spcBef>
                <a:spcPct val="0"/>
              </a:spcBef>
              <a:defRPr>
                <a:solidFill>
                  <a:schemeClr val="tx1"/>
                </a:solidFill>
                <a:latin typeface="Arial" charset="0"/>
                <a:ea typeface="宋体" pitchFamily="2" charset="-122"/>
              </a:defRPr>
            </a:lvl4pPr>
            <a:lvl5pPr marL="2449513" indent="-342900" algn="l">
              <a:spcBef>
                <a:spcPct val="0"/>
              </a:spcBef>
              <a:defRPr>
                <a:solidFill>
                  <a:schemeClr val="tx1"/>
                </a:solidFill>
                <a:latin typeface="Arial" charset="0"/>
                <a:ea typeface="宋体" pitchFamily="2" charset="-122"/>
              </a:defRPr>
            </a:lvl5pPr>
            <a:lvl6pPr marL="2906713" indent="-342900" fontAlgn="base">
              <a:spcBef>
                <a:spcPct val="0"/>
              </a:spcBef>
              <a:spcAft>
                <a:spcPct val="0"/>
              </a:spcAft>
              <a:defRPr>
                <a:solidFill>
                  <a:schemeClr val="tx1"/>
                </a:solidFill>
                <a:latin typeface="Arial" charset="0"/>
                <a:ea typeface="宋体" pitchFamily="2" charset="-122"/>
              </a:defRPr>
            </a:lvl6pPr>
            <a:lvl7pPr marL="3363913" indent="-342900" fontAlgn="base">
              <a:spcBef>
                <a:spcPct val="0"/>
              </a:spcBef>
              <a:spcAft>
                <a:spcPct val="0"/>
              </a:spcAft>
              <a:defRPr>
                <a:solidFill>
                  <a:schemeClr val="tx1"/>
                </a:solidFill>
                <a:latin typeface="Arial" charset="0"/>
                <a:ea typeface="宋体" pitchFamily="2" charset="-122"/>
              </a:defRPr>
            </a:lvl7pPr>
            <a:lvl8pPr marL="3821113" indent="-342900" fontAlgn="base">
              <a:spcBef>
                <a:spcPct val="0"/>
              </a:spcBef>
              <a:spcAft>
                <a:spcPct val="0"/>
              </a:spcAft>
              <a:defRPr>
                <a:solidFill>
                  <a:schemeClr val="tx1"/>
                </a:solidFill>
                <a:latin typeface="Arial" charset="0"/>
                <a:ea typeface="宋体" pitchFamily="2" charset="-122"/>
              </a:defRPr>
            </a:lvl8pPr>
            <a:lvl9pPr marL="4278313" indent="-342900" fontAlgn="base">
              <a:spcBef>
                <a:spcPct val="0"/>
              </a:spcBef>
              <a:spcAft>
                <a:spcPct val="0"/>
              </a:spcAft>
              <a:defRPr>
                <a:solidFill>
                  <a:schemeClr val="tx1"/>
                </a:solidFill>
                <a:latin typeface="Arial" charset="0"/>
                <a:ea typeface="宋体" pitchFamily="2" charset="-122"/>
              </a:defRPr>
            </a:lvl9pPr>
          </a:lstStyle>
          <a:p>
            <a:pPr>
              <a:lnSpc>
                <a:spcPct val="120000"/>
              </a:lnSpc>
              <a:spcBef>
                <a:spcPct val="20000"/>
              </a:spcBef>
            </a:pPr>
            <a:r>
              <a:rPr lang="zh-CN" altLang="en-US" sz="2800">
                <a:solidFill>
                  <a:srgbClr val="A50021"/>
                </a:solidFill>
                <a:latin typeface="Times New Roman" pitchFamily="18" charset="0"/>
                <a:ea typeface="华文中宋" pitchFamily="2" charset="-122"/>
              </a:rPr>
              <a:t>工程应用</a:t>
            </a:r>
          </a:p>
        </p:txBody>
      </p:sp>
      <p:sp>
        <p:nvSpPr>
          <p:cNvPr id="302084" name="AutoShape 4"/>
          <p:cNvSpPr>
            <a:spLocks noChangeArrowheads="1"/>
          </p:cNvSpPr>
          <p:nvPr/>
        </p:nvSpPr>
        <p:spPr bwMode="auto">
          <a:xfrm>
            <a:off x="609600" y="1676400"/>
            <a:ext cx="2209800" cy="392113"/>
          </a:xfrm>
          <a:prstGeom prst="flowChartProcess">
            <a:avLst/>
          </a:prstGeom>
          <a:solidFill>
            <a:srgbClr val="FFCC99">
              <a:alpha val="50000"/>
            </a:srgbClr>
          </a:solidFill>
          <a:ln w="254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000">
                <a:latin typeface="Arial" charset="0"/>
              </a:rPr>
              <a:t>轴心受压构件</a:t>
            </a:r>
          </a:p>
        </p:txBody>
      </p:sp>
      <p:sp>
        <p:nvSpPr>
          <p:cNvPr id="302085" name="AutoShape 5"/>
          <p:cNvSpPr>
            <a:spLocks noChangeArrowheads="1"/>
          </p:cNvSpPr>
          <p:nvPr/>
        </p:nvSpPr>
        <p:spPr bwMode="auto">
          <a:xfrm>
            <a:off x="609600" y="2209800"/>
            <a:ext cx="2254250" cy="392113"/>
          </a:xfrm>
          <a:prstGeom prst="flowChartProcess">
            <a:avLst/>
          </a:prstGeom>
          <a:solidFill>
            <a:srgbClr val="FFCC99">
              <a:alpha val="50000"/>
            </a:srgbClr>
          </a:solidFill>
          <a:ln w="254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a:latin typeface="Arial" charset="0"/>
              </a:rPr>
              <a:t>单向偏心受压构件</a:t>
            </a:r>
          </a:p>
        </p:txBody>
      </p:sp>
      <p:sp>
        <p:nvSpPr>
          <p:cNvPr id="302105" name="AutoShape 25"/>
          <p:cNvSpPr>
            <a:spLocks noChangeArrowheads="1"/>
          </p:cNvSpPr>
          <p:nvPr/>
        </p:nvSpPr>
        <p:spPr bwMode="auto">
          <a:xfrm>
            <a:off x="609600" y="2743200"/>
            <a:ext cx="2254250" cy="392113"/>
          </a:xfrm>
          <a:prstGeom prst="flowChartProcess">
            <a:avLst/>
          </a:prstGeom>
          <a:solidFill>
            <a:srgbClr val="FFCC99">
              <a:alpha val="50000"/>
            </a:srgbClr>
          </a:solidFill>
          <a:ln w="254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a:latin typeface="Arial" charset="0"/>
              </a:rPr>
              <a:t>双向偏心受压构件</a:t>
            </a:r>
          </a:p>
        </p:txBody>
      </p:sp>
      <p:sp>
        <p:nvSpPr>
          <p:cNvPr id="302106" name="Rectangle 26"/>
          <p:cNvSpPr>
            <a:spLocks noChangeArrowheads="1"/>
          </p:cNvSpPr>
          <p:nvPr/>
        </p:nvSpPr>
        <p:spPr bwMode="auto">
          <a:xfrm>
            <a:off x="3276600" y="1703388"/>
            <a:ext cx="4848225" cy="36671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solidFill>
                  <a:schemeClr val="tx1"/>
                </a:solidFill>
              </a:rPr>
              <a:t>结构的中间柱（近似） ，屋架的受压腹杆</a:t>
            </a:r>
          </a:p>
        </p:txBody>
      </p:sp>
      <p:sp>
        <p:nvSpPr>
          <p:cNvPr id="302107" name="Rectangle 27"/>
          <p:cNvSpPr>
            <a:spLocks noChangeArrowheads="1"/>
          </p:cNvSpPr>
          <p:nvPr/>
        </p:nvSpPr>
        <p:spPr bwMode="auto">
          <a:xfrm>
            <a:off x="3279775" y="2193925"/>
            <a:ext cx="2740025"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solidFill>
                  <a:schemeClr val="tx1"/>
                </a:solidFill>
              </a:rPr>
              <a:t>结构边柱，厂房排架柱</a:t>
            </a:r>
          </a:p>
        </p:txBody>
      </p:sp>
      <p:sp>
        <p:nvSpPr>
          <p:cNvPr id="302108" name="Rectangle 28"/>
          <p:cNvSpPr>
            <a:spLocks noChangeArrowheads="1"/>
          </p:cNvSpPr>
          <p:nvPr/>
        </p:nvSpPr>
        <p:spPr bwMode="auto">
          <a:xfrm>
            <a:off x="3289300" y="2743200"/>
            <a:ext cx="1206500"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solidFill>
                  <a:schemeClr val="tx1"/>
                </a:solidFill>
              </a:rPr>
              <a:t>结构角柱</a:t>
            </a:r>
          </a:p>
        </p:txBody>
      </p:sp>
      <p:pic>
        <p:nvPicPr>
          <p:cNvPr id="302109" name="Picture 29" descr="gj0702"/>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7571" r="47955" b="11049"/>
          <a:stretch>
            <a:fillRect/>
          </a:stretch>
        </p:blipFill>
        <p:spPr bwMode="auto">
          <a:xfrm>
            <a:off x="5257800" y="4495800"/>
            <a:ext cx="3362325" cy="1825625"/>
          </a:xfrm>
          <a:prstGeom prst="rect">
            <a:avLst/>
          </a:prstGeom>
          <a:noFill/>
          <a:extLst>
            <a:ext uri="{909E8E84-426E-40DD-AFC4-6F175D3DCCD1}">
              <a14:hiddenFill xmlns:a14="http://schemas.microsoft.com/office/drawing/2010/main">
                <a:solidFill>
                  <a:srgbClr val="FFFFFF"/>
                </a:solidFill>
              </a14:hiddenFill>
            </a:ext>
          </a:extLst>
        </p:spPr>
      </p:pic>
      <p:pic>
        <p:nvPicPr>
          <p:cNvPr id="302110" name="Picture 30" descr="gj0702a"/>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0715" r="53073" b="11671"/>
          <a:stretch>
            <a:fillRect/>
          </a:stretch>
        </p:blipFill>
        <p:spPr bwMode="auto">
          <a:xfrm>
            <a:off x="5410200" y="2590800"/>
            <a:ext cx="2741613" cy="1719263"/>
          </a:xfrm>
          <a:prstGeom prst="rect">
            <a:avLst/>
          </a:prstGeom>
          <a:noFill/>
          <a:extLst>
            <a:ext uri="{909E8E84-426E-40DD-AFC4-6F175D3DCCD1}">
              <a14:hiddenFill xmlns:a14="http://schemas.microsoft.com/office/drawing/2010/main">
                <a:solidFill>
                  <a:srgbClr val="FFFFFF"/>
                </a:solidFill>
              </a14:hiddenFill>
            </a:ext>
          </a:extLst>
        </p:spPr>
      </p:pic>
      <p:pic>
        <p:nvPicPr>
          <p:cNvPr id="302111" name="Picture 31" descr="gj0702"/>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52060" r="8804" b="11049"/>
          <a:stretch>
            <a:fillRect/>
          </a:stretch>
        </p:blipFill>
        <p:spPr bwMode="auto">
          <a:xfrm>
            <a:off x="887413" y="3886200"/>
            <a:ext cx="2960687" cy="18272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2084"/>
                                        </p:tgtEl>
                                        <p:attrNameLst>
                                          <p:attrName>style.visibility</p:attrName>
                                        </p:attrNameLst>
                                      </p:cBhvr>
                                      <p:to>
                                        <p:strVal val="visible"/>
                                      </p:to>
                                    </p:set>
                                    <p:animEffect transition="in" filter="blinds(horizontal)">
                                      <p:cBhvr>
                                        <p:cTn id="7" dur="500"/>
                                        <p:tgtEl>
                                          <p:spTgt spid="3020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2106"/>
                                        </p:tgtEl>
                                        <p:attrNameLst>
                                          <p:attrName>style.visibility</p:attrName>
                                        </p:attrNameLst>
                                      </p:cBhvr>
                                      <p:to>
                                        <p:strVal val="visible"/>
                                      </p:to>
                                    </p:set>
                                    <p:animEffect transition="in" filter="blinds(horizontal)">
                                      <p:cBhvr>
                                        <p:cTn id="12" dur="500"/>
                                        <p:tgtEl>
                                          <p:spTgt spid="3021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02109"/>
                                        </p:tgtEl>
                                        <p:attrNameLst>
                                          <p:attrName>style.visibility</p:attrName>
                                        </p:attrNameLst>
                                      </p:cBhvr>
                                      <p:to>
                                        <p:strVal val="visible"/>
                                      </p:to>
                                    </p:set>
                                    <p:animEffect transition="in" filter="wipe(left)">
                                      <p:cBhvr>
                                        <p:cTn id="17" dur="500"/>
                                        <p:tgtEl>
                                          <p:spTgt spid="302109"/>
                                        </p:tgtEl>
                                      </p:cBhvr>
                                    </p:animEffect>
                                  </p:childTnLst>
                                </p:cTn>
                              </p:par>
                              <p:par>
                                <p:cTn id="18" presetID="22" presetClass="entr" presetSubtype="8" fill="hold" nodeType="withEffect">
                                  <p:stCondLst>
                                    <p:cond delay="0"/>
                                  </p:stCondLst>
                                  <p:childTnLst>
                                    <p:set>
                                      <p:cBhvr>
                                        <p:cTn id="19" dur="1" fill="hold">
                                          <p:stCondLst>
                                            <p:cond delay="0"/>
                                          </p:stCondLst>
                                        </p:cTn>
                                        <p:tgtEl>
                                          <p:spTgt spid="302110"/>
                                        </p:tgtEl>
                                        <p:attrNameLst>
                                          <p:attrName>style.visibility</p:attrName>
                                        </p:attrNameLst>
                                      </p:cBhvr>
                                      <p:to>
                                        <p:strVal val="visible"/>
                                      </p:to>
                                    </p:set>
                                    <p:animEffect transition="in" filter="wipe(left)">
                                      <p:cBhvr>
                                        <p:cTn id="20" dur="500"/>
                                        <p:tgtEl>
                                          <p:spTgt spid="30211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02085"/>
                                        </p:tgtEl>
                                        <p:attrNameLst>
                                          <p:attrName>style.visibility</p:attrName>
                                        </p:attrNameLst>
                                      </p:cBhvr>
                                      <p:to>
                                        <p:strVal val="visible"/>
                                      </p:to>
                                    </p:set>
                                    <p:animEffect transition="in" filter="blinds(horizontal)">
                                      <p:cBhvr>
                                        <p:cTn id="25" dur="500"/>
                                        <p:tgtEl>
                                          <p:spTgt spid="30208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02107"/>
                                        </p:tgtEl>
                                        <p:attrNameLst>
                                          <p:attrName>style.visibility</p:attrName>
                                        </p:attrNameLst>
                                      </p:cBhvr>
                                      <p:to>
                                        <p:strVal val="visible"/>
                                      </p:to>
                                    </p:set>
                                    <p:animEffect transition="in" filter="blinds(horizontal)">
                                      <p:cBhvr>
                                        <p:cTn id="30" dur="500"/>
                                        <p:tgtEl>
                                          <p:spTgt spid="30210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302111"/>
                                        </p:tgtEl>
                                        <p:attrNameLst>
                                          <p:attrName>style.visibility</p:attrName>
                                        </p:attrNameLst>
                                      </p:cBhvr>
                                      <p:to>
                                        <p:strVal val="visible"/>
                                      </p:to>
                                    </p:set>
                                    <p:animEffect transition="in" filter="wipe(left)">
                                      <p:cBhvr>
                                        <p:cTn id="35" dur="500"/>
                                        <p:tgtEl>
                                          <p:spTgt spid="30211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02105"/>
                                        </p:tgtEl>
                                        <p:attrNameLst>
                                          <p:attrName>style.visibility</p:attrName>
                                        </p:attrNameLst>
                                      </p:cBhvr>
                                      <p:to>
                                        <p:strVal val="visible"/>
                                      </p:to>
                                    </p:set>
                                    <p:animEffect transition="in" filter="blinds(horizontal)">
                                      <p:cBhvr>
                                        <p:cTn id="40" dur="500"/>
                                        <p:tgtEl>
                                          <p:spTgt spid="30210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02108"/>
                                        </p:tgtEl>
                                        <p:attrNameLst>
                                          <p:attrName>style.visibility</p:attrName>
                                        </p:attrNameLst>
                                      </p:cBhvr>
                                      <p:to>
                                        <p:strVal val="visible"/>
                                      </p:to>
                                    </p:set>
                                    <p:animEffect transition="in" filter="blinds(horizontal)">
                                      <p:cBhvr>
                                        <p:cTn id="45" dur="500"/>
                                        <p:tgtEl>
                                          <p:spTgt spid="302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4" grpId="0" animBg="1"/>
      <p:bldP spid="302085" grpId="0" animBg="1"/>
      <p:bldP spid="302105" grpId="0" animBg="1"/>
      <p:bldP spid="302106" grpId="0"/>
      <p:bldP spid="302107" grpId="0"/>
      <p:bldP spid="302108"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7.1</a:t>
            </a:r>
            <a:r>
              <a:rPr lang="zh-CN" altLang="en-US" sz="3000" dirty="0">
                <a:solidFill>
                  <a:schemeClr val="tx2"/>
                </a:solidFill>
                <a:latin typeface="Times New Roman" pitchFamily="18" charset="0"/>
              </a:rPr>
              <a:t>轴心受压构件正截面承载力的计算</a:t>
            </a:r>
            <a:r>
              <a:rPr lang="zh-CN" altLang="en-US" dirty="0">
                <a:solidFill>
                  <a:schemeClr val="tx2"/>
                </a:solidFill>
              </a:rPr>
              <a:t> </a:t>
            </a:r>
          </a:p>
        </p:txBody>
      </p:sp>
      <p:sp>
        <p:nvSpPr>
          <p:cNvPr id="95250" name="Rectangle 18"/>
          <p:cNvSpPr>
            <a:spLocks noChangeArrowheads="1"/>
          </p:cNvSpPr>
          <p:nvPr/>
        </p:nvSpPr>
        <p:spPr bwMode="auto">
          <a:xfrm>
            <a:off x="611188" y="1066800"/>
            <a:ext cx="8228012" cy="504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一</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配有纵向钢筋及普通箍筋的柱</a:t>
            </a:r>
            <a:r>
              <a:rPr lang="zh-CN" altLang="en-US"/>
              <a:t> </a:t>
            </a:r>
          </a:p>
          <a:p>
            <a:pPr algn="l">
              <a:lnSpc>
                <a:spcPct val="100000"/>
              </a:lnSpc>
              <a:spcBef>
                <a:spcPct val="40000"/>
              </a:spcBef>
              <a:buClrTx/>
              <a:buFontTx/>
              <a:buNone/>
            </a:pPr>
            <a:r>
              <a:rPr lang="en-US" altLang="zh-CN">
                <a:solidFill>
                  <a:srgbClr val="990099"/>
                </a:solidFill>
              </a:rPr>
              <a:t>1.</a:t>
            </a:r>
            <a:r>
              <a:rPr lang="zh-CN" altLang="en-US">
                <a:solidFill>
                  <a:srgbClr val="990099"/>
                </a:solidFill>
              </a:rPr>
              <a:t>轴压构件中钢筋的作用</a:t>
            </a:r>
          </a:p>
          <a:p>
            <a:pPr algn="l">
              <a:lnSpc>
                <a:spcPct val="100000"/>
              </a:lnSpc>
              <a:spcBef>
                <a:spcPct val="40000"/>
              </a:spcBef>
              <a:buClrTx/>
              <a:buFontTx/>
              <a:buNone/>
            </a:pPr>
            <a:r>
              <a:rPr lang="zh-CN" altLang="en-US"/>
              <a:t>纵筋</a:t>
            </a:r>
          </a:p>
          <a:p>
            <a:pPr algn="l">
              <a:lnSpc>
                <a:spcPct val="100000"/>
              </a:lnSpc>
              <a:spcBef>
                <a:spcPct val="40000"/>
              </a:spcBef>
              <a:buClr>
                <a:srgbClr val="FF3300"/>
              </a:buClr>
              <a:buFont typeface="Wingdings" pitchFamily="2" charset="2"/>
              <a:buChar char="ü"/>
            </a:pPr>
            <a:r>
              <a:rPr lang="zh-CN" altLang="en-US" sz="2000">
                <a:solidFill>
                  <a:schemeClr val="tx1"/>
                </a:solidFill>
              </a:rPr>
              <a:t>与混凝土共同承受压力，提高构件正截面承载能力；</a:t>
            </a:r>
          </a:p>
          <a:p>
            <a:pPr algn="l">
              <a:lnSpc>
                <a:spcPct val="100000"/>
              </a:lnSpc>
              <a:spcBef>
                <a:spcPct val="40000"/>
              </a:spcBef>
              <a:buClr>
                <a:srgbClr val="FF3300"/>
              </a:buClr>
              <a:buFont typeface="Wingdings" pitchFamily="2" charset="2"/>
              <a:buChar char="ü"/>
            </a:pPr>
            <a:r>
              <a:rPr lang="zh-CN" altLang="en-US" sz="2000">
                <a:solidFill>
                  <a:schemeClr val="tx1"/>
                </a:solidFill>
              </a:rPr>
              <a:t>提高构件变形能力，改善受压破坏时的脆性；</a:t>
            </a:r>
          </a:p>
          <a:p>
            <a:pPr algn="l">
              <a:lnSpc>
                <a:spcPct val="100000"/>
              </a:lnSpc>
              <a:spcBef>
                <a:spcPct val="40000"/>
              </a:spcBef>
              <a:buClr>
                <a:srgbClr val="FF3300"/>
              </a:buClr>
              <a:buFont typeface="Wingdings" pitchFamily="2" charset="2"/>
              <a:buChar char="ü"/>
            </a:pPr>
            <a:r>
              <a:rPr lang="zh-CN" altLang="en-US" sz="2000">
                <a:solidFill>
                  <a:schemeClr val="tx1"/>
                </a:solidFill>
              </a:rPr>
              <a:t>承受可能产生的偏心弯矩，温度作用引起的拉应力；</a:t>
            </a:r>
          </a:p>
          <a:p>
            <a:pPr algn="l">
              <a:lnSpc>
                <a:spcPct val="100000"/>
              </a:lnSpc>
              <a:spcBef>
                <a:spcPct val="40000"/>
              </a:spcBef>
              <a:buClr>
                <a:srgbClr val="FF3300"/>
              </a:buClr>
              <a:buFont typeface="Wingdings" pitchFamily="2" charset="2"/>
              <a:buChar char="ü"/>
            </a:pPr>
            <a:r>
              <a:rPr lang="zh-CN" altLang="en-US" sz="2000">
                <a:solidFill>
                  <a:schemeClr val="tx1"/>
                </a:solidFill>
              </a:rPr>
              <a:t>减少混凝土徐变变形。</a:t>
            </a:r>
          </a:p>
          <a:p>
            <a:pPr algn="l">
              <a:lnSpc>
                <a:spcPct val="100000"/>
              </a:lnSpc>
              <a:spcBef>
                <a:spcPct val="40000"/>
              </a:spcBef>
              <a:buClrTx/>
              <a:buFontTx/>
              <a:buNone/>
            </a:pPr>
            <a:r>
              <a:rPr lang="zh-CN" altLang="en-US"/>
              <a:t>箍筋</a:t>
            </a:r>
          </a:p>
          <a:p>
            <a:pPr algn="l">
              <a:lnSpc>
                <a:spcPct val="100000"/>
              </a:lnSpc>
              <a:spcBef>
                <a:spcPct val="40000"/>
              </a:spcBef>
              <a:buClr>
                <a:srgbClr val="FF3300"/>
              </a:buClr>
              <a:buFont typeface="Wingdings" pitchFamily="2" charset="2"/>
              <a:buChar char="ü"/>
            </a:pPr>
            <a:r>
              <a:rPr lang="zh-CN" altLang="en-US" sz="2000">
                <a:solidFill>
                  <a:schemeClr val="tx1"/>
                </a:solidFill>
              </a:rPr>
              <a:t>防止纵向钢筋受力后压屈；</a:t>
            </a:r>
          </a:p>
          <a:p>
            <a:pPr algn="l">
              <a:lnSpc>
                <a:spcPct val="100000"/>
              </a:lnSpc>
              <a:spcBef>
                <a:spcPct val="40000"/>
              </a:spcBef>
              <a:buClr>
                <a:srgbClr val="FF3300"/>
              </a:buClr>
              <a:buFont typeface="Wingdings" pitchFamily="2" charset="2"/>
              <a:buChar char="ü"/>
            </a:pPr>
            <a:r>
              <a:rPr lang="zh-CN" altLang="en-US" sz="2000">
                <a:solidFill>
                  <a:schemeClr val="tx1"/>
                </a:solidFill>
              </a:rPr>
              <a:t>改善构件破坏时的脆性；</a:t>
            </a:r>
          </a:p>
          <a:p>
            <a:pPr algn="l">
              <a:lnSpc>
                <a:spcPct val="100000"/>
              </a:lnSpc>
              <a:spcBef>
                <a:spcPct val="40000"/>
              </a:spcBef>
              <a:buClr>
                <a:srgbClr val="FF3300"/>
              </a:buClr>
              <a:buFont typeface="Wingdings" pitchFamily="2" charset="2"/>
              <a:buChar char="ü"/>
            </a:pPr>
            <a:r>
              <a:rPr lang="zh-CN" altLang="en-US" sz="2000">
                <a:solidFill>
                  <a:schemeClr val="tx1"/>
                </a:solidFill>
              </a:rPr>
              <a:t>与纵向钢筋形成刚性较好的骨架。</a:t>
            </a:r>
          </a:p>
        </p:txBody>
      </p:sp>
      <p:pic>
        <p:nvPicPr>
          <p:cNvPr id="95302" name="Picture 70" descr="gj070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r="53827" b="7901"/>
          <a:stretch>
            <a:fillRect/>
          </a:stretch>
        </p:blipFill>
        <p:spPr bwMode="auto">
          <a:xfrm>
            <a:off x="7010400" y="2211388"/>
            <a:ext cx="1828800" cy="41132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5250">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95250">
                                            <p:txEl>
                                              <p:pRg st="3" end="3"/>
                                            </p:txEl>
                                          </p:spTgt>
                                        </p:tgtEl>
                                        <p:attrNameLst>
                                          <p:attrName>style.visibility</p:attrName>
                                        </p:attrNameLst>
                                      </p:cBhvr>
                                      <p:to>
                                        <p:strVal val="visible"/>
                                      </p:to>
                                    </p:set>
                                    <p:animEffect transition="in" filter="blinds(horizontal)">
                                      <p:cBhvr>
                                        <p:cTn id="11" dur="500"/>
                                        <p:tgtEl>
                                          <p:spTgt spid="95250">
                                            <p:txEl>
                                              <p:pRg st="3" end="3"/>
                                            </p:txEl>
                                          </p:spTgt>
                                        </p:tgtEl>
                                      </p:cBhvr>
                                    </p:animEffect>
                                  </p:childTnLst>
                                </p:cTn>
                              </p:par>
                              <p:par>
                                <p:cTn id="12" presetID="3" presetClass="entr" presetSubtype="10" fill="hold" nodeType="withEffect">
                                  <p:stCondLst>
                                    <p:cond delay="0"/>
                                  </p:stCondLst>
                                  <p:childTnLst>
                                    <p:set>
                                      <p:cBhvr>
                                        <p:cTn id="13" dur="1" fill="hold">
                                          <p:stCondLst>
                                            <p:cond delay="0"/>
                                          </p:stCondLst>
                                        </p:cTn>
                                        <p:tgtEl>
                                          <p:spTgt spid="95250">
                                            <p:txEl>
                                              <p:pRg st="4" end="4"/>
                                            </p:txEl>
                                          </p:spTgt>
                                        </p:tgtEl>
                                        <p:attrNameLst>
                                          <p:attrName>style.visibility</p:attrName>
                                        </p:attrNameLst>
                                      </p:cBhvr>
                                      <p:to>
                                        <p:strVal val="visible"/>
                                      </p:to>
                                    </p:set>
                                    <p:animEffect transition="in" filter="blinds(horizontal)">
                                      <p:cBhvr>
                                        <p:cTn id="14" dur="500"/>
                                        <p:tgtEl>
                                          <p:spTgt spid="95250">
                                            <p:txEl>
                                              <p:pRg st="4" end="4"/>
                                            </p:txEl>
                                          </p:spTgt>
                                        </p:tgtEl>
                                      </p:cBhvr>
                                    </p:animEffect>
                                  </p:childTnLst>
                                </p:cTn>
                              </p:par>
                              <p:par>
                                <p:cTn id="15" presetID="3" presetClass="entr" presetSubtype="10" fill="hold" nodeType="withEffect">
                                  <p:stCondLst>
                                    <p:cond delay="0"/>
                                  </p:stCondLst>
                                  <p:childTnLst>
                                    <p:set>
                                      <p:cBhvr>
                                        <p:cTn id="16" dur="1" fill="hold">
                                          <p:stCondLst>
                                            <p:cond delay="0"/>
                                          </p:stCondLst>
                                        </p:cTn>
                                        <p:tgtEl>
                                          <p:spTgt spid="95250">
                                            <p:txEl>
                                              <p:pRg st="5" end="5"/>
                                            </p:txEl>
                                          </p:spTgt>
                                        </p:tgtEl>
                                        <p:attrNameLst>
                                          <p:attrName>style.visibility</p:attrName>
                                        </p:attrNameLst>
                                      </p:cBhvr>
                                      <p:to>
                                        <p:strVal val="visible"/>
                                      </p:to>
                                    </p:set>
                                    <p:animEffect transition="in" filter="blinds(horizontal)">
                                      <p:cBhvr>
                                        <p:cTn id="17" dur="500"/>
                                        <p:tgtEl>
                                          <p:spTgt spid="95250">
                                            <p:txEl>
                                              <p:pRg st="5" end="5"/>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95250">
                                            <p:txEl>
                                              <p:pRg st="6" end="6"/>
                                            </p:txEl>
                                          </p:spTgt>
                                        </p:tgtEl>
                                        <p:attrNameLst>
                                          <p:attrName>style.visibility</p:attrName>
                                        </p:attrNameLst>
                                      </p:cBhvr>
                                      <p:to>
                                        <p:strVal val="visible"/>
                                      </p:to>
                                    </p:set>
                                    <p:animEffect transition="in" filter="blinds(horizontal)">
                                      <p:cBhvr>
                                        <p:cTn id="20" dur="500"/>
                                        <p:tgtEl>
                                          <p:spTgt spid="95250">
                                            <p:txEl>
                                              <p:pRg st="6" end="6"/>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95250">
                                            <p:txEl>
                                              <p:pRg st="7" end="7"/>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95250">
                                            <p:txEl>
                                              <p:pRg st="8" end="8"/>
                                            </p:txEl>
                                          </p:spTgt>
                                        </p:tgtEl>
                                        <p:attrNameLst>
                                          <p:attrName>style.visibility</p:attrName>
                                        </p:attrNameLst>
                                      </p:cBhvr>
                                      <p:to>
                                        <p:strVal val="visible"/>
                                      </p:to>
                                    </p:set>
                                    <p:animEffect transition="in" filter="blinds(horizontal)">
                                      <p:cBhvr>
                                        <p:cTn id="29" dur="500"/>
                                        <p:tgtEl>
                                          <p:spTgt spid="95250">
                                            <p:txEl>
                                              <p:pRg st="8" end="8"/>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95250">
                                            <p:txEl>
                                              <p:pRg st="9" end="9"/>
                                            </p:txEl>
                                          </p:spTgt>
                                        </p:tgtEl>
                                        <p:attrNameLst>
                                          <p:attrName>style.visibility</p:attrName>
                                        </p:attrNameLst>
                                      </p:cBhvr>
                                      <p:to>
                                        <p:strVal val="visible"/>
                                      </p:to>
                                    </p:set>
                                    <p:animEffect transition="in" filter="blinds(horizontal)">
                                      <p:cBhvr>
                                        <p:cTn id="32" dur="500"/>
                                        <p:tgtEl>
                                          <p:spTgt spid="95250">
                                            <p:txEl>
                                              <p:pRg st="9" end="9"/>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95250">
                                            <p:txEl>
                                              <p:pRg st="10" end="10"/>
                                            </p:txEl>
                                          </p:spTgt>
                                        </p:tgtEl>
                                        <p:attrNameLst>
                                          <p:attrName>style.visibility</p:attrName>
                                        </p:attrNameLst>
                                      </p:cBhvr>
                                      <p:to>
                                        <p:strVal val="visible"/>
                                      </p:to>
                                    </p:set>
                                    <p:animEffect transition="in" filter="blinds(horizontal)">
                                      <p:cBhvr>
                                        <p:cTn id="35" dur="500"/>
                                        <p:tgtEl>
                                          <p:spTgt spid="9525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7.1</a:t>
            </a:r>
            <a:r>
              <a:rPr lang="zh-CN" altLang="en-US" sz="3000" dirty="0">
                <a:solidFill>
                  <a:schemeClr val="tx2"/>
                </a:solidFill>
                <a:latin typeface="Times New Roman" pitchFamily="18" charset="0"/>
              </a:rPr>
              <a:t>轴心受压构件正截面承载力的计算</a:t>
            </a:r>
            <a:r>
              <a:rPr lang="zh-CN" altLang="en-US" dirty="0">
                <a:solidFill>
                  <a:schemeClr val="tx2"/>
                </a:solidFill>
              </a:rPr>
              <a:t> </a:t>
            </a:r>
          </a:p>
        </p:txBody>
      </p:sp>
      <p:sp>
        <p:nvSpPr>
          <p:cNvPr id="303109" name="Rectangle 5"/>
          <p:cNvSpPr>
            <a:spLocks noChangeArrowheads="1"/>
          </p:cNvSpPr>
          <p:nvPr/>
        </p:nvSpPr>
        <p:spPr bwMode="auto">
          <a:xfrm>
            <a:off x="2339752" y="1628800"/>
            <a:ext cx="6338664" cy="341632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40000"/>
              </a:spcBef>
            </a:pPr>
            <a:r>
              <a:rPr lang="zh-CN" altLang="en-US" sz="2000" dirty="0"/>
              <a:t>根据长细比，柱可分为</a:t>
            </a:r>
            <a:r>
              <a:rPr lang="zh-CN" altLang="en-US" sz="2000" dirty="0">
                <a:solidFill>
                  <a:srgbClr val="FF0000"/>
                </a:solidFill>
              </a:rPr>
              <a:t>短柱</a:t>
            </a:r>
            <a:r>
              <a:rPr lang="zh-CN" altLang="en-US" sz="2000" dirty="0"/>
              <a:t>与</a:t>
            </a:r>
            <a:r>
              <a:rPr lang="zh-CN" altLang="en-US" sz="2000" dirty="0">
                <a:solidFill>
                  <a:schemeClr val="tx1"/>
                </a:solidFill>
              </a:rPr>
              <a:t>长柱</a:t>
            </a:r>
            <a:endParaRPr lang="en-US" altLang="zh-CN" sz="2000" dirty="0">
              <a:solidFill>
                <a:srgbClr val="FF3300"/>
              </a:solidFill>
            </a:endParaRPr>
          </a:p>
          <a:p>
            <a:pPr algn="l">
              <a:lnSpc>
                <a:spcPct val="120000"/>
              </a:lnSpc>
              <a:spcBef>
                <a:spcPct val="40000"/>
              </a:spcBef>
            </a:pPr>
            <a:r>
              <a:rPr lang="zh-CN" altLang="en-US" sz="2000" dirty="0">
                <a:solidFill>
                  <a:srgbClr val="FF3300"/>
                </a:solidFill>
              </a:rPr>
              <a:t>短柱：</a:t>
            </a:r>
            <a:endParaRPr lang="en-US" altLang="zh-CN" sz="2000" dirty="0">
              <a:solidFill>
                <a:srgbClr val="FF3300"/>
              </a:solidFill>
            </a:endParaRPr>
          </a:p>
          <a:p>
            <a:pPr algn="l">
              <a:lnSpc>
                <a:spcPct val="120000"/>
              </a:lnSpc>
              <a:spcBef>
                <a:spcPct val="40000"/>
              </a:spcBef>
            </a:pPr>
            <a:r>
              <a:rPr lang="zh-CN" altLang="en-US" sz="2000" dirty="0">
                <a:solidFill>
                  <a:srgbClr val="FF3300"/>
                </a:solidFill>
              </a:rPr>
              <a:t>矩形截面柱</a:t>
            </a:r>
            <a:r>
              <a:rPr lang="en-US" altLang="zh-CN" sz="2000" dirty="0">
                <a:solidFill>
                  <a:srgbClr val="FF3300"/>
                </a:solidFill>
              </a:rPr>
              <a:t>:</a:t>
            </a:r>
          </a:p>
          <a:p>
            <a:pPr algn="l">
              <a:lnSpc>
                <a:spcPct val="120000"/>
              </a:lnSpc>
              <a:spcBef>
                <a:spcPct val="40000"/>
              </a:spcBef>
            </a:pPr>
            <a:r>
              <a:rPr lang="zh-CN" altLang="en-US" sz="2000" dirty="0">
                <a:solidFill>
                  <a:srgbClr val="FF3300"/>
                </a:solidFill>
              </a:rPr>
              <a:t>圆形截面柱：</a:t>
            </a:r>
            <a:endParaRPr lang="en-US" altLang="zh-CN" sz="2000" dirty="0">
              <a:solidFill>
                <a:srgbClr val="FF3300"/>
              </a:solidFill>
            </a:endParaRPr>
          </a:p>
          <a:p>
            <a:pPr algn="l">
              <a:lnSpc>
                <a:spcPct val="120000"/>
              </a:lnSpc>
              <a:spcBef>
                <a:spcPct val="40000"/>
              </a:spcBef>
            </a:pPr>
            <a:r>
              <a:rPr lang="zh-CN" altLang="en-US" sz="2000" dirty="0">
                <a:solidFill>
                  <a:srgbClr val="FF3300"/>
                </a:solidFill>
              </a:rPr>
              <a:t>任意截面柱：</a:t>
            </a:r>
            <a:endParaRPr lang="en-US" altLang="zh-CN" sz="2000" dirty="0">
              <a:solidFill>
                <a:srgbClr val="FF3300"/>
              </a:solidFill>
            </a:endParaRPr>
          </a:p>
          <a:p>
            <a:pPr algn="l">
              <a:lnSpc>
                <a:spcPct val="120000"/>
              </a:lnSpc>
              <a:spcBef>
                <a:spcPct val="40000"/>
              </a:spcBef>
            </a:pPr>
            <a:endParaRPr lang="en-US" altLang="zh-CN" sz="2000" dirty="0">
              <a:solidFill>
                <a:schemeClr val="tx1"/>
              </a:solidFill>
            </a:endParaRPr>
          </a:p>
          <a:p>
            <a:pPr algn="l">
              <a:lnSpc>
                <a:spcPct val="120000"/>
              </a:lnSpc>
              <a:spcBef>
                <a:spcPct val="40000"/>
              </a:spcBef>
            </a:pPr>
            <a:r>
              <a:rPr lang="zh-CN" altLang="en-US" sz="2000" dirty="0">
                <a:solidFill>
                  <a:schemeClr val="tx1"/>
                </a:solidFill>
              </a:rPr>
              <a:t>其他情况为长柱</a:t>
            </a:r>
          </a:p>
        </p:txBody>
      </p:sp>
      <p:graphicFrame>
        <p:nvGraphicFramePr>
          <p:cNvPr id="2" name="对象 1"/>
          <p:cNvGraphicFramePr>
            <a:graphicFrameLocks noChangeAspect="1"/>
          </p:cNvGraphicFramePr>
          <p:nvPr>
            <p:extLst>
              <p:ext uri="{D42A27DB-BD31-4B8C-83A1-F6EECF244321}">
                <p14:modId xmlns:p14="http://schemas.microsoft.com/office/powerpoint/2010/main" val="3703430709"/>
              </p:ext>
            </p:extLst>
          </p:nvPr>
        </p:nvGraphicFramePr>
        <p:xfrm>
          <a:off x="4067944" y="2655384"/>
          <a:ext cx="812800" cy="330200"/>
        </p:xfrm>
        <a:graphic>
          <a:graphicData uri="http://schemas.openxmlformats.org/presentationml/2006/ole">
            <mc:AlternateContent xmlns:mc="http://schemas.openxmlformats.org/markup-compatibility/2006">
              <mc:Choice xmlns:v="urn:schemas-microsoft-com:vml" Requires="v">
                <p:oleObj spid="_x0000_s427253" name="Equation" r:id="rId3" imgW="812520" imgH="330120" progId="Equation.DSMT4">
                  <p:embed/>
                </p:oleObj>
              </mc:Choice>
              <mc:Fallback>
                <p:oleObj name="Equation" r:id="rId3" imgW="812520" imgH="330120" progId="Equation.DSMT4">
                  <p:embed/>
                  <p:pic>
                    <p:nvPicPr>
                      <p:cNvPr id="0" name=""/>
                      <p:cNvPicPr/>
                      <p:nvPr/>
                    </p:nvPicPr>
                    <p:blipFill>
                      <a:blip r:embed="rId4"/>
                      <a:stretch>
                        <a:fillRect/>
                      </a:stretch>
                    </p:blipFill>
                    <p:spPr>
                      <a:xfrm>
                        <a:off x="4067944" y="2655384"/>
                        <a:ext cx="812800" cy="330200"/>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3130324685"/>
              </p:ext>
            </p:extLst>
          </p:nvPr>
        </p:nvGraphicFramePr>
        <p:xfrm>
          <a:off x="4041775" y="3146425"/>
          <a:ext cx="863600" cy="330200"/>
        </p:xfrm>
        <a:graphic>
          <a:graphicData uri="http://schemas.openxmlformats.org/presentationml/2006/ole">
            <mc:AlternateContent xmlns:mc="http://schemas.openxmlformats.org/markup-compatibility/2006">
              <mc:Choice xmlns:v="urn:schemas-microsoft-com:vml" Requires="v">
                <p:oleObj spid="_x0000_s427254" name="Equation" r:id="rId5" imgW="863280" imgH="330120" progId="Equation.DSMT4">
                  <p:embed/>
                </p:oleObj>
              </mc:Choice>
              <mc:Fallback>
                <p:oleObj name="Equation" r:id="rId5" imgW="863280" imgH="330120" progId="Equation.DSMT4">
                  <p:embed/>
                  <p:pic>
                    <p:nvPicPr>
                      <p:cNvPr id="2" name="对象 1"/>
                      <p:cNvPicPr/>
                      <p:nvPr/>
                    </p:nvPicPr>
                    <p:blipFill>
                      <a:blip r:embed="rId6"/>
                      <a:stretch>
                        <a:fillRect/>
                      </a:stretch>
                    </p:blipFill>
                    <p:spPr>
                      <a:xfrm>
                        <a:off x="4041775" y="3146425"/>
                        <a:ext cx="863600" cy="330200"/>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790677943"/>
              </p:ext>
            </p:extLst>
          </p:nvPr>
        </p:nvGraphicFramePr>
        <p:xfrm>
          <a:off x="4010025" y="3640138"/>
          <a:ext cx="901700" cy="330200"/>
        </p:xfrm>
        <a:graphic>
          <a:graphicData uri="http://schemas.openxmlformats.org/presentationml/2006/ole">
            <mc:AlternateContent xmlns:mc="http://schemas.openxmlformats.org/markup-compatibility/2006">
              <mc:Choice xmlns:v="urn:schemas-microsoft-com:vml" Requires="v">
                <p:oleObj spid="_x0000_s427255" name="Equation" r:id="rId7" imgW="901440" imgH="330120" progId="Equation.DSMT4">
                  <p:embed/>
                </p:oleObj>
              </mc:Choice>
              <mc:Fallback>
                <p:oleObj name="Equation" r:id="rId7" imgW="901440" imgH="330120" progId="Equation.DSMT4">
                  <p:embed/>
                  <p:pic>
                    <p:nvPicPr>
                      <p:cNvPr id="17" name="对象 16"/>
                      <p:cNvPicPr/>
                      <p:nvPr/>
                    </p:nvPicPr>
                    <p:blipFill>
                      <a:blip r:embed="rId8"/>
                      <a:stretch>
                        <a:fillRect/>
                      </a:stretch>
                    </p:blipFill>
                    <p:spPr>
                      <a:xfrm>
                        <a:off x="4010025" y="3640138"/>
                        <a:ext cx="901700" cy="330200"/>
                      </a:xfrm>
                      <a:prstGeom prst="rect">
                        <a:avLst/>
                      </a:prstGeom>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2311606042"/>
              </p:ext>
            </p:extLst>
          </p:nvPr>
        </p:nvGraphicFramePr>
        <p:xfrm>
          <a:off x="5577826" y="3383140"/>
          <a:ext cx="774700" cy="698500"/>
        </p:xfrm>
        <a:graphic>
          <a:graphicData uri="http://schemas.openxmlformats.org/presentationml/2006/ole">
            <mc:AlternateContent xmlns:mc="http://schemas.openxmlformats.org/markup-compatibility/2006">
              <mc:Choice xmlns:v="urn:schemas-microsoft-com:vml" Requires="v">
                <p:oleObj spid="_x0000_s427256" name="Equation" r:id="rId9" imgW="774360" imgH="698400" progId="Equation.DSMT4">
                  <p:embed/>
                </p:oleObj>
              </mc:Choice>
              <mc:Fallback>
                <p:oleObj name="Equation" r:id="rId9" imgW="774360" imgH="698400" progId="Equation.DSMT4">
                  <p:embed/>
                  <p:pic>
                    <p:nvPicPr>
                      <p:cNvPr id="18" name="对象 17"/>
                      <p:cNvPicPr/>
                      <p:nvPr/>
                    </p:nvPicPr>
                    <p:blipFill>
                      <a:blip r:embed="rId10"/>
                      <a:stretch>
                        <a:fillRect/>
                      </a:stretch>
                    </p:blipFill>
                    <p:spPr>
                      <a:xfrm>
                        <a:off x="5577826" y="3383140"/>
                        <a:ext cx="774700" cy="698500"/>
                      </a:xfrm>
                      <a:prstGeom prst="rect">
                        <a:avLst/>
                      </a:prstGeom>
                    </p:spPr>
                  </p:pic>
                </p:oleObj>
              </mc:Fallback>
            </mc:AlternateContent>
          </a:graphicData>
        </a:graphic>
      </p:graphicFrame>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7.1</a:t>
            </a:r>
            <a:r>
              <a:rPr lang="zh-CN" altLang="en-US" sz="3000" dirty="0">
                <a:solidFill>
                  <a:schemeClr val="tx2"/>
                </a:solidFill>
                <a:latin typeface="Times New Roman" pitchFamily="18" charset="0"/>
              </a:rPr>
              <a:t>轴心受压构件正截面承载力的计算</a:t>
            </a:r>
            <a:r>
              <a:rPr lang="zh-CN" altLang="en-US" dirty="0">
                <a:solidFill>
                  <a:schemeClr val="tx2"/>
                </a:solidFill>
              </a:rPr>
              <a:t> </a:t>
            </a:r>
          </a:p>
        </p:txBody>
      </p:sp>
      <p:sp>
        <p:nvSpPr>
          <p:cNvPr id="303107" name="Rectangle 3"/>
          <p:cNvSpPr>
            <a:spLocks noChangeArrowheads="1"/>
          </p:cNvSpPr>
          <p:nvPr/>
        </p:nvSpPr>
        <p:spPr bwMode="auto">
          <a:xfrm>
            <a:off x="611188" y="1066800"/>
            <a:ext cx="8228012"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40000"/>
              </a:spcBef>
              <a:buClrTx/>
              <a:buFontTx/>
              <a:buNone/>
            </a:pPr>
            <a:r>
              <a:rPr lang="en-US" altLang="zh-CN">
                <a:solidFill>
                  <a:srgbClr val="990099"/>
                </a:solidFill>
              </a:rPr>
              <a:t>2.</a:t>
            </a:r>
            <a:r>
              <a:rPr lang="zh-CN" altLang="en-US">
                <a:solidFill>
                  <a:srgbClr val="990099"/>
                </a:solidFill>
              </a:rPr>
              <a:t>短柱受力分析</a:t>
            </a:r>
          </a:p>
          <a:p>
            <a:pPr algn="l">
              <a:lnSpc>
                <a:spcPct val="100000"/>
              </a:lnSpc>
              <a:buClrTx/>
              <a:buFontTx/>
              <a:buNone/>
            </a:pPr>
            <a:r>
              <a:rPr lang="en-US" altLang="zh-CN"/>
              <a:t>1</a:t>
            </a:r>
            <a:r>
              <a:rPr lang="zh-CN" altLang="en-US"/>
              <a:t>）短柱破坏过程</a:t>
            </a:r>
          </a:p>
        </p:txBody>
      </p:sp>
      <p:pic>
        <p:nvPicPr>
          <p:cNvPr id="303108" name="Picture 4" descr="gj0704"/>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42430" r="16786" b="8360"/>
          <a:stretch>
            <a:fillRect/>
          </a:stretch>
        </p:blipFill>
        <p:spPr bwMode="auto">
          <a:xfrm>
            <a:off x="5364163" y="2209800"/>
            <a:ext cx="3703637" cy="3624263"/>
          </a:xfrm>
          <a:prstGeom prst="rect">
            <a:avLst/>
          </a:prstGeom>
          <a:noFill/>
          <a:extLst>
            <a:ext uri="{909E8E84-426E-40DD-AFC4-6F175D3DCCD1}">
              <a14:hiddenFill xmlns:a14="http://schemas.microsoft.com/office/drawing/2010/main">
                <a:solidFill>
                  <a:srgbClr val="FFFFFF"/>
                </a:solidFill>
              </a14:hiddenFill>
            </a:ext>
          </a:extLst>
        </p:spPr>
      </p:pic>
      <p:sp>
        <p:nvSpPr>
          <p:cNvPr id="303109" name="Rectangle 5"/>
          <p:cNvSpPr>
            <a:spLocks noChangeArrowheads="1"/>
          </p:cNvSpPr>
          <p:nvPr/>
        </p:nvSpPr>
        <p:spPr bwMode="auto">
          <a:xfrm>
            <a:off x="609600" y="1981200"/>
            <a:ext cx="4191000" cy="398780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40000"/>
              </a:spcBef>
            </a:pPr>
            <a:r>
              <a:rPr lang="zh-CN" altLang="en-US" sz="2000"/>
              <a:t>轴力较小时，弹性阶段，钢筋和混凝土分别按其模量承担应力，钢筋承担的应力大于混凝土承担的应力</a:t>
            </a:r>
          </a:p>
          <a:p>
            <a:pPr algn="l">
              <a:lnSpc>
                <a:spcPct val="120000"/>
              </a:lnSpc>
              <a:spcBef>
                <a:spcPct val="40000"/>
              </a:spcBef>
            </a:pPr>
            <a:r>
              <a:rPr lang="zh-CN" altLang="en-US" sz="2000">
                <a:solidFill>
                  <a:srgbClr val="FF3300"/>
                </a:solidFill>
              </a:rPr>
              <a:t>随着轴向力的增加，塑性变形发展，钢筋应力增加的幅度大于混凝土增加的幅度钢筋和混凝土之间发生了内力重分布</a:t>
            </a:r>
          </a:p>
          <a:p>
            <a:pPr algn="l">
              <a:lnSpc>
                <a:spcPct val="120000"/>
              </a:lnSpc>
              <a:spcBef>
                <a:spcPct val="40000"/>
              </a:spcBef>
            </a:pPr>
            <a:r>
              <a:rPr lang="zh-CN" altLang="en-US" sz="2000">
                <a:solidFill>
                  <a:schemeClr val="tx1"/>
                </a:solidFill>
              </a:rPr>
              <a:t>随着荷载增大，先出现细裂缝，再出现纵向裂缝，之后钢筋压屈，混凝土压碎</a:t>
            </a:r>
          </a:p>
        </p:txBody>
      </p:sp>
      <p:pic>
        <p:nvPicPr>
          <p:cNvPr id="303113" name="Picture 9" descr="7_5cd"/>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52638" r="35487"/>
          <a:stretch>
            <a:fillRect/>
          </a:stretch>
        </p:blipFill>
        <p:spPr bwMode="auto">
          <a:xfrm>
            <a:off x="4724400" y="2362200"/>
            <a:ext cx="823913" cy="3825875"/>
          </a:xfrm>
          <a:prstGeom prst="rect">
            <a:avLst/>
          </a:prstGeom>
          <a:noFill/>
          <a:extLst>
            <a:ext uri="{909E8E84-426E-40DD-AFC4-6F175D3DCCD1}">
              <a14:hiddenFill xmlns:a14="http://schemas.microsoft.com/office/drawing/2010/main">
                <a:solidFill>
                  <a:srgbClr val="FFFFFF"/>
                </a:solidFill>
              </a14:hiddenFill>
            </a:ext>
          </a:extLst>
        </p:spPr>
      </p:pic>
      <p:sp>
        <p:nvSpPr>
          <p:cNvPr id="303114" name="Freeform 10"/>
          <p:cNvSpPr>
            <a:spLocks/>
          </p:cNvSpPr>
          <p:nvPr/>
        </p:nvSpPr>
        <p:spPr bwMode="auto">
          <a:xfrm>
            <a:off x="5715000" y="4184650"/>
            <a:ext cx="723900" cy="1149350"/>
          </a:xfrm>
          <a:custGeom>
            <a:avLst/>
            <a:gdLst>
              <a:gd name="T0" fmla="*/ 0 w 456"/>
              <a:gd name="T1" fmla="*/ 724 h 724"/>
              <a:gd name="T2" fmla="*/ 52 w 456"/>
              <a:gd name="T3" fmla="*/ 644 h 724"/>
              <a:gd name="T4" fmla="*/ 192 w 456"/>
              <a:gd name="T5" fmla="*/ 430 h 724"/>
              <a:gd name="T6" fmla="*/ 456 w 456"/>
              <a:gd name="T7" fmla="*/ 0 h 724"/>
            </a:gdLst>
            <a:ahLst/>
            <a:cxnLst>
              <a:cxn ang="0">
                <a:pos x="T0" y="T1"/>
              </a:cxn>
              <a:cxn ang="0">
                <a:pos x="T2" y="T3"/>
              </a:cxn>
              <a:cxn ang="0">
                <a:pos x="T4" y="T5"/>
              </a:cxn>
              <a:cxn ang="0">
                <a:pos x="T6" y="T7"/>
              </a:cxn>
            </a:cxnLst>
            <a:rect l="0" t="0" r="r" b="b"/>
            <a:pathLst>
              <a:path w="456" h="724">
                <a:moveTo>
                  <a:pt x="0" y="724"/>
                </a:moveTo>
                <a:cubicBezTo>
                  <a:pt x="10" y="708"/>
                  <a:pt x="20" y="693"/>
                  <a:pt x="52" y="644"/>
                </a:cubicBezTo>
                <a:cubicBezTo>
                  <a:pt x="84" y="595"/>
                  <a:pt x="125" y="537"/>
                  <a:pt x="192" y="430"/>
                </a:cubicBezTo>
                <a:cubicBezTo>
                  <a:pt x="259" y="323"/>
                  <a:pt x="357" y="161"/>
                  <a:pt x="456" y="0"/>
                </a:cubicBezTo>
              </a:path>
            </a:pathLst>
          </a:custGeom>
          <a:noFill/>
          <a:ln w="381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3115" name="Freeform 11"/>
          <p:cNvSpPr>
            <a:spLocks/>
          </p:cNvSpPr>
          <p:nvPr/>
        </p:nvSpPr>
        <p:spPr bwMode="auto">
          <a:xfrm>
            <a:off x="5715000" y="4735513"/>
            <a:ext cx="720725" cy="598487"/>
          </a:xfrm>
          <a:custGeom>
            <a:avLst/>
            <a:gdLst>
              <a:gd name="T0" fmla="*/ 0 w 454"/>
              <a:gd name="T1" fmla="*/ 377 h 377"/>
              <a:gd name="T2" fmla="*/ 72 w 454"/>
              <a:gd name="T3" fmla="*/ 323 h 377"/>
              <a:gd name="T4" fmla="*/ 160 w 454"/>
              <a:gd name="T5" fmla="*/ 233 h 377"/>
              <a:gd name="T6" fmla="*/ 260 w 454"/>
              <a:gd name="T7" fmla="*/ 149 h 377"/>
              <a:gd name="T8" fmla="*/ 398 w 454"/>
              <a:gd name="T9" fmla="*/ 37 h 377"/>
              <a:gd name="T10" fmla="*/ 454 w 454"/>
              <a:gd name="T11" fmla="*/ 1 h 377"/>
            </a:gdLst>
            <a:ahLst/>
            <a:cxnLst>
              <a:cxn ang="0">
                <a:pos x="T0" y="T1"/>
              </a:cxn>
              <a:cxn ang="0">
                <a:pos x="T2" y="T3"/>
              </a:cxn>
              <a:cxn ang="0">
                <a:pos x="T4" y="T5"/>
              </a:cxn>
              <a:cxn ang="0">
                <a:pos x="T6" y="T7"/>
              </a:cxn>
              <a:cxn ang="0">
                <a:pos x="T8" y="T9"/>
              </a:cxn>
              <a:cxn ang="0">
                <a:pos x="T10" y="T11"/>
              </a:cxn>
            </a:cxnLst>
            <a:rect l="0" t="0" r="r" b="b"/>
            <a:pathLst>
              <a:path w="454" h="377">
                <a:moveTo>
                  <a:pt x="0" y="377"/>
                </a:moveTo>
                <a:cubicBezTo>
                  <a:pt x="22" y="362"/>
                  <a:pt x="45" y="347"/>
                  <a:pt x="72" y="323"/>
                </a:cubicBezTo>
                <a:cubicBezTo>
                  <a:pt x="99" y="299"/>
                  <a:pt x="129" y="262"/>
                  <a:pt x="160" y="233"/>
                </a:cubicBezTo>
                <a:cubicBezTo>
                  <a:pt x="191" y="204"/>
                  <a:pt x="220" y="182"/>
                  <a:pt x="260" y="149"/>
                </a:cubicBezTo>
                <a:cubicBezTo>
                  <a:pt x="300" y="116"/>
                  <a:pt x="366" y="62"/>
                  <a:pt x="398" y="37"/>
                </a:cubicBezTo>
                <a:cubicBezTo>
                  <a:pt x="430" y="12"/>
                  <a:pt x="448" y="0"/>
                  <a:pt x="454" y="1"/>
                </a:cubicBezTo>
              </a:path>
            </a:pathLst>
          </a:custGeom>
          <a:noFill/>
          <a:ln w="381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3116" name="Freeform 12"/>
          <p:cNvSpPr>
            <a:spLocks/>
          </p:cNvSpPr>
          <p:nvPr/>
        </p:nvSpPr>
        <p:spPr bwMode="auto">
          <a:xfrm>
            <a:off x="6400800" y="4171950"/>
            <a:ext cx="1238250" cy="561975"/>
          </a:xfrm>
          <a:custGeom>
            <a:avLst/>
            <a:gdLst>
              <a:gd name="T0" fmla="*/ 0 w 780"/>
              <a:gd name="T1" fmla="*/ 348 h 354"/>
              <a:gd name="T2" fmla="*/ 20 w 780"/>
              <a:gd name="T3" fmla="*/ 354 h 354"/>
              <a:gd name="T4" fmla="*/ 104 w 780"/>
              <a:gd name="T5" fmla="*/ 296 h 354"/>
              <a:gd name="T6" fmla="*/ 200 w 780"/>
              <a:gd name="T7" fmla="*/ 240 h 354"/>
              <a:gd name="T8" fmla="*/ 314 w 780"/>
              <a:gd name="T9" fmla="*/ 178 h 354"/>
              <a:gd name="T10" fmla="*/ 524 w 780"/>
              <a:gd name="T11" fmla="*/ 82 h 354"/>
              <a:gd name="T12" fmla="*/ 780 w 780"/>
              <a:gd name="T13" fmla="*/ 0 h 354"/>
            </a:gdLst>
            <a:ahLst/>
            <a:cxnLst>
              <a:cxn ang="0">
                <a:pos x="T0" y="T1"/>
              </a:cxn>
              <a:cxn ang="0">
                <a:pos x="T2" y="T3"/>
              </a:cxn>
              <a:cxn ang="0">
                <a:pos x="T4" y="T5"/>
              </a:cxn>
              <a:cxn ang="0">
                <a:pos x="T6" y="T7"/>
              </a:cxn>
              <a:cxn ang="0">
                <a:pos x="T8" y="T9"/>
              </a:cxn>
              <a:cxn ang="0">
                <a:pos x="T10" y="T11"/>
              </a:cxn>
              <a:cxn ang="0">
                <a:pos x="T12" y="T13"/>
              </a:cxn>
            </a:cxnLst>
            <a:rect l="0" t="0" r="r" b="b"/>
            <a:pathLst>
              <a:path w="780" h="354">
                <a:moveTo>
                  <a:pt x="0" y="348"/>
                </a:moveTo>
                <a:lnTo>
                  <a:pt x="20" y="354"/>
                </a:lnTo>
                <a:cubicBezTo>
                  <a:pt x="37" y="345"/>
                  <a:pt x="74" y="315"/>
                  <a:pt x="104" y="296"/>
                </a:cubicBezTo>
                <a:cubicBezTo>
                  <a:pt x="134" y="277"/>
                  <a:pt x="165" y="260"/>
                  <a:pt x="200" y="240"/>
                </a:cubicBezTo>
                <a:cubicBezTo>
                  <a:pt x="235" y="220"/>
                  <a:pt x="260" y="204"/>
                  <a:pt x="314" y="178"/>
                </a:cubicBezTo>
                <a:cubicBezTo>
                  <a:pt x="368" y="152"/>
                  <a:pt x="446" y="112"/>
                  <a:pt x="524" y="82"/>
                </a:cubicBezTo>
                <a:cubicBezTo>
                  <a:pt x="602" y="52"/>
                  <a:pt x="747" y="4"/>
                  <a:pt x="780" y="0"/>
                </a:cubicBezTo>
              </a:path>
            </a:pathLst>
          </a:custGeom>
          <a:noFill/>
          <a:ln w="3810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03121" name="Group 17"/>
          <p:cNvGrpSpPr>
            <a:grpSpLocks/>
          </p:cNvGrpSpPr>
          <p:nvPr/>
        </p:nvGrpSpPr>
        <p:grpSpPr bwMode="auto">
          <a:xfrm>
            <a:off x="6400800" y="2736850"/>
            <a:ext cx="1203325" cy="1454150"/>
            <a:chOff x="4032" y="1724"/>
            <a:chExt cx="758" cy="916"/>
          </a:xfrm>
        </p:grpSpPr>
        <p:sp>
          <p:nvSpPr>
            <p:cNvPr id="303119" name="Freeform 15"/>
            <p:cNvSpPr>
              <a:spLocks/>
            </p:cNvSpPr>
            <p:nvPr/>
          </p:nvSpPr>
          <p:spPr bwMode="auto">
            <a:xfrm>
              <a:off x="4032" y="1724"/>
              <a:ext cx="336" cy="916"/>
            </a:xfrm>
            <a:custGeom>
              <a:avLst/>
              <a:gdLst>
                <a:gd name="T0" fmla="*/ 0 w 336"/>
                <a:gd name="T1" fmla="*/ 916 h 916"/>
                <a:gd name="T2" fmla="*/ 22 w 336"/>
                <a:gd name="T3" fmla="*/ 910 h 916"/>
                <a:gd name="T4" fmla="*/ 98 w 336"/>
                <a:gd name="T5" fmla="*/ 764 h 916"/>
                <a:gd name="T6" fmla="*/ 180 w 336"/>
                <a:gd name="T7" fmla="*/ 574 h 916"/>
                <a:gd name="T8" fmla="*/ 260 w 336"/>
                <a:gd name="T9" fmla="*/ 344 h 916"/>
                <a:gd name="T10" fmla="*/ 336 w 336"/>
                <a:gd name="T11" fmla="*/ 0 h 916"/>
              </a:gdLst>
              <a:ahLst/>
              <a:cxnLst>
                <a:cxn ang="0">
                  <a:pos x="T0" y="T1"/>
                </a:cxn>
                <a:cxn ang="0">
                  <a:pos x="T2" y="T3"/>
                </a:cxn>
                <a:cxn ang="0">
                  <a:pos x="T4" y="T5"/>
                </a:cxn>
                <a:cxn ang="0">
                  <a:pos x="T6" y="T7"/>
                </a:cxn>
                <a:cxn ang="0">
                  <a:pos x="T8" y="T9"/>
                </a:cxn>
                <a:cxn ang="0">
                  <a:pos x="T10" y="T11"/>
                </a:cxn>
              </a:cxnLst>
              <a:rect l="0" t="0" r="r" b="b"/>
              <a:pathLst>
                <a:path w="336" h="916">
                  <a:moveTo>
                    <a:pt x="0" y="916"/>
                  </a:moveTo>
                  <a:lnTo>
                    <a:pt x="22" y="910"/>
                  </a:lnTo>
                  <a:cubicBezTo>
                    <a:pt x="38" y="885"/>
                    <a:pt x="72" y="820"/>
                    <a:pt x="98" y="764"/>
                  </a:cubicBezTo>
                  <a:cubicBezTo>
                    <a:pt x="124" y="708"/>
                    <a:pt x="153" y="644"/>
                    <a:pt x="180" y="574"/>
                  </a:cubicBezTo>
                  <a:cubicBezTo>
                    <a:pt x="207" y="504"/>
                    <a:pt x="234" y="440"/>
                    <a:pt x="260" y="344"/>
                  </a:cubicBezTo>
                  <a:cubicBezTo>
                    <a:pt x="286" y="248"/>
                    <a:pt x="331" y="65"/>
                    <a:pt x="336" y="0"/>
                  </a:cubicBezTo>
                </a:path>
              </a:pathLst>
            </a:custGeom>
            <a:noFill/>
            <a:ln w="3810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3120" name="Line 16"/>
            <p:cNvSpPr>
              <a:spLocks noChangeShapeType="1"/>
            </p:cNvSpPr>
            <p:nvPr/>
          </p:nvSpPr>
          <p:spPr bwMode="auto">
            <a:xfrm>
              <a:off x="4368" y="1724"/>
              <a:ext cx="422"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4" name="对象 3"/>
          <p:cNvGraphicFramePr>
            <a:graphicFrameLocks noChangeAspect="1"/>
          </p:cNvGraphicFramePr>
          <p:nvPr>
            <p:extLst>
              <p:ext uri="{D42A27DB-BD31-4B8C-83A1-F6EECF244321}">
                <p14:modId xmlns:p14="http://schemas.microsoft.com/office/powerpoint/2010/main" val="2040368843"/>
              </p:ext>
            </p:extLst>
          </p:nvPr>
        </p:nvGraphicFramePr>
        <p:xfrm>
          <a:off x="5136356" y="1169944"/>
          <a:ext cx="3186113" cy="368300"/>
        </p:xfrm>
        <a:graphic>
          <a:graphicData uri="http://schemas.openxmlformats.org/presentationml/2006/ole">
            <mc:AlternateContent xmlns:mc="http://schemas.openxmlformats.org/markup-compatibility/2006">
              <mc:Choice xmlns:v="urn:schemas-microsoft-com:vml" Requires="v">
                <p:oleObj spid="_x0000_s555038" name="Equation" r:id="rId5" imgW="1650960" imgH="190440" progId="">
                  <p:embed/>
                </p:oleObj>
              </mc:Choice>
              <mc:Fallback>
                <p:oleObj name="Equation" r:id="rId5" imgW="1650960" imgH="190440" progId="">
                  <p:embed/>
                  <p:pic>
                    <p:nvPicPr>
                      <p:cNvPr id="4"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36356" y="1169944"/>
                        <a:ext cx="3186113"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790945126"/>
              </p:ext>
            </p:extLst>
          </p:nvPr>
        </p:nvGraphicFramePr>
        <p:xfrm>
          <a:off x="6313487" y="1625600"/>
          <a:ext cx="1911350" cy="736600"/>
        </p:xfrm>
        <a:graphic>
          <a:graphicData uri="http://schemas.openxmlformats.org/presentationml/2006/ole">
            <mc:AlternateContent xmlns:mc="http://schemas.openxmlformats.org/markup-compatibility/2006">
              <mc:Choice xmlns:v="urn:schemas-microsoft-com:vml" Requires="v">
                <p:oleObj spid="_x0000_s555039" name="Equation" r:id="rId7" imgW="990360" imgH="380880" progId="">
                  <p:embed/>
                </p:oleObj>
              </mc:Choice>
              <mc:Fallback>
                <p:oleObj name="Equation" r:id="rId7" imgW="990360" imgH="380880" progId="">
                  <p:embed/>
                  <p:pic>
                    <p:nvPicPr>
                      <p:cNvPr id="16" name="对象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13487" y="1625600"/>
                        <a:ext cx="191135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6" name="直接箭头连接符 5"/>
          <p:cNvCxnSpPr/>
          <p:nvPr/>
        </p:nvCxnSpPr>
        <p:spPr bwMode="auto">
          <a:xfrm>
            <a:off x="5409803" y="1962150"/>
            <a:ext cx="610394" cy="0"/>
          </a:xfrm>
          <a:prstGeom prst="straightConnector1">
            <a:avLst/>
          </a:prstGeom>
          <a:solidFill>
            <a:srgbClr val="FF00FF"/>
          </a:solidFill>
          <a:ln w="3810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41830760"/>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03109">
                                            <p:txEl>
                                              <p:pRg st="0" end="0"/>
                                            </p:txEl>
                                          </p:spTgt>
                                        </p:tgtEl>
                                        <p:attrNameLst>
                                          <p:attrName>style.visibility</p:attrName>
                                        </p:attrNameLst>
                                      </p:cBhvr>
                                      <p:to>
                                        <p:strVal val="visible"/>
                                      </p:to>
                                    </p:set>
                                    <p:animEffect transition="in" filter="blinds(horizontal)">
                                      <p:cBhvr>
                                        <p:cTn id="7" dur="500"/>
                                        <p:tgtEl>
                                          <p:spTgt spid="30310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03115"/>
                                        </p:tgtEl>
                                        <p:attrNameLst>
                                          <p:attrName>style.visibility</p:attrName>
                                        </p:attrNameLst>
                                      </p:cBhvr>
                                      <p:to>
                                        <p:strVal val="visible"/>
                                      </p:to>
                                    </p:set>
                                    <p:animEffect transition="in" filter="wipe(down)">
                                      <p:cBhvr>
                                        <p:cTn id="12" dur="500"/>
                                        <p:tgtEl>
                                          <p:spTgt spid="303115"/>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03114"/>
                                        </p:tgtEl>
                                        <p:attrNameLst>
                                          <p:attrName>style.visibility</p:attrName>
                                        </p:attrNameLst>
                                      </p:cBhvr>
                                      <p:to>
                                        <p:strVal val="visible"/>
                                      </p:to>
                                    </p:set>
                                    <p:animEffect transition="in" filter="wipe(down)">
                                      <p:cBhvr>
                                        <p:cTn id="15" dur="500"/>
                                        <p:tgtEl>
                                          <p:spTgt spid="30311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303109">
                                            <p:txEl>
                                              <p:pRg st="1" end="1"/>
                                            </p:txEl>
                                          </p:spTgt>
                                        </p:tgtEl>
                                        <p:attrNameLst>
                                          <p:attrName>style.visibility</p:attrName>
                                        </p:attrNameLst>
                                      </p:cBhvr>
                                      <p:to>
                                        <p:strVal val="visible"/>
                                      </p:to>
                                    </p:set>
                                    <p:animEffect transition="in" filter="blinds(horizontal)">
                                      <p:cBhvr>
                                        <p:cTn id="20" dur="500"/>
                                        <p:tgtEl>
                                          <p:spTgt spid="303109">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03116"/>
                                        </p:tgtEl>
                                        <p:attrNameLst>
                                          <p:attrName>style.visibility</p:attrName>
                                        </p:attrNameLst>
                                      </p:cBhvr>
                                      <p:to>
                                        <p:strVal val="visible"/>
                                      </p:to>
                                    </p:set>
                                    <p:animEffect transition="in" filter="wipe(down)">
                                      <p:cBhvr>
                                        <p:cTn id="25" dur="500"/>
                                        <p:tgtEl>
                                          <p:spTgt spid="303116"/>
                                        </p:tgtEl>
                                      </p:cBhvr>
                                    </p:animEffect>
                                  </p:childTnLst>
                                </p:cTn>
                              </p:par>
                              <p:par>
                                <p:cTn id="26" presetID="22" presetClass="entr" presetSubtype="4" fill="hold" nodeType="withEffect">
                                  <p:stCondLst>
                                    <p:cond delay="0"/>
                                  </p:stCondLst>
                                  <p:childTnLst>
                                    <p:set>
                                      <p:cBhvr>
                                        <p:cTn id="27" dur="1" fill="hold">
                                          <p:stCondLst>
                                            <p:cond delay="0"/>
                                          </p:stCondLst>
                                        </p:cTn>
                                        <p:tgtEl>
                                          <p:spTgt spid="303121"/>
                                        </p:tgtEl>
                                        <p:attrNameLst>
                                          <p:attrName>style.visibility</p:attrName>
                                        </p:attrNameLst>
                                      </p:cBhvr>
                                      <p:to>
                                        <p:strVal val="visible"/>
                                      </p:to>
                                    </p:set>
                                    <p:animEffect transition="in" filter="wipe(down)">
                                      <p:cBhvr>
                                        <p:cTn id="28" dur="500"/>
                                        <p:tgtEl>
                                          <p:spTgt spid="30312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303109">
                                            <p:txEl>
                                              <p:pRg st="2" end="2"/>
                                            </p:txEl>
                                          </p:spTgt>
                                        </p:tgtEl>
                                        <p:attrNameLst>
                                          <p:attrName>style.visibility</p:attrName>
                                        </p:attrNameLst>
                                      </p:cBhvr>
                                      <p:to>
                                        <p:strVal val="visible"/>
                                      </p:to>
                                    </p:set>
                                    <p:animEffect transition="in" filter="blinds(horizontal)">
                                      <p:cBhvr>
                                        <p:cTn id="33" dur="500"/>
                                        <p:tgtEl>
                                          <p:spTgt spid="303109">
                                            <p:txEl>
                                              <p:pRg st="2" end="2"/>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303113"/>
                                        </p:tgtEl>
                                        <p:attrNameLst>
                                          <p:attrName>style.visibility</p:attrName>
                                        </p:attrNameLst>
                                      </p:cBhvr>
                                      <p:to>
                                        <p:strVal val="visible"/>
                                      </p:to>
                                    </p:set>
                                    <p:animEffect transition="in" filter="blinds(horizontal)">
                                      <p:cBhvr>
                                        <p:cTn id="38" dur="500"/>
                                        <p:tgtEl>
                                          <p:spTgt spid="303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14" grpId="0" animBg="1"/>
      <p:bldP spid="303115" grpId="0" animBg="1"/>
      <p:bldP spid="303116"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4130"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7.1</a:t>
            </a:r>
            <a:r>
              <a:rPr lang="zh-CN" altLang="en-US" sz="3000" dirty="0">
                <a:solidFill>
                  <a:schemeClr val="tx2"/>
                </a:solidFill>
                <a:latin typeface="Times New Roman" pitchFamily="18" charset="0"/>
              </a:rPr>
              <a:t>轴心受压构件正截面承载力的计算</a:t>
            </a:r>
            <a:r>
              <a:rPr lang="zh-CN" altLang="en-US" dirty="0">
                <a:solidFill>
                  <a:schemeClr val="tx2"/>
                </a:solidFill>
              </a:rPr>
              <a:t> </a:t>
            </a:r>
          </a:p>
        </p:txBody>
      </p:sp>
      <p:sp>
        <p:nvSpPr>
          <p:cNvPr id="304131" name="Rectangle 3"/>
          <p:cNvSpPr>
            <a:spLocks noChangeArrowheads="1"/>
          </p:cNvSpPr>
          <p:nvPr/>
        </p:nvSpPr>
        <p:spPr bwMode="auto">
          <a:xfrm>
            <a:off x="611188" y="1066800"/>
            <a:ext cx="8075612" cy="537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buClrTx/>
              <a:buFontTx/>
              <a:buNone/>
            </a:pPr>
            <a:r>
              <a:rPr lang="en-US" altLang="zh-CN"/>
              <a:t>2</a:t>
            </a:r>
            <a:r>
              <a:rPr lang="zh-CN" altLang="en-US"/>
              <a:t>）短柱受力分析</a:t>
            </a:r>
          </a:p>
          <a:p>
            <a:pPr algn="l">
              <a:lnSpc>
                <a:spcPct val="110000"/>
              </a:lnSpc>
              <a:spcBef>
                <a:spcPct val="40000"/>
              </a:spcBef>
              <a:buClr>
                <a:srgbClr val="FF3300"/>
              </a:buClr>
              <a:buFont typeface="Wingdings" pitchFamily="2" charset="2"/>
              <a:buChar char="ü"/>
            </a:pPr>
            <a:r>
              <a:rPr lang="zh-CN" altLang="en-US" sz="2000">
                <a:solidFill>
                  <a:schemeClr val="tx1"/>
                </a:solidFill>
              </a:rPr>
              <a:t>柱子承受长期作用的恒载，混凝土将发生</a:t>
            </a:r>
            <a:r>
              <a:rPr lang="zh-CN" altLang="en-US" sz="2000">
                <a:solidFill>
                  <a:srgbClr val="FF3300"/>
                </a:solidFill>
              </a:rPr>
              <a:t>徐变变形</a:t>
            </a:r>
            <a:r>
              <a:rPr lang="zh-CN" altLang="en-US" sz="2000">
                <a:solidFill>
                  <a:schemeClr val="tx1"/>
                </a:solidFill>
              </a:rPr>
              <a:t>，徐变使钢筋产生压缩变形，钢筋的压应力进一步增大，混凝土压应力将逐渐减小，徐变在钢筋和混凝土之间引起</a:t>
            </a:r>
            <a:r>
              <a:rPr lang="zh-CN" altLang="en-US" sz="2000">
                <a:solidFill>
                  <a:srgbClr val="FF0000"/>
                </a:solidFill>
              </a:rPr>
              <a:t>应力重分布</a:t>
            </a:r>
            <a:r>
              <a:rPr lang="zh-CN" altLang="en-US" sz="2000">
                <a:solidFill>
                  <a:schemeClr val="tx1"/>
                </a:solidFill>
              </a:rPr>
              <a:t>。</a:t>
            </a:r>
          </a:p>
          <a:p>
            <a:pPr algn="l">
              <a:lnSpc>
                <a:spcPct val="110000"/>
              </a:lnSpc>
              <a:spcBef>
                <a:spcPct val="40000"/>
              </a:spcBef>
              <a:buClr>
                <a:srgbClr val="FF3300"/>
              </a:buClr>
              <a:buFont typeface="Wingdings" pitchFamily="2" charset="2"/>
              <a:buChar char="ü"/>
            </a:pPr>
            <a:r>
              <a:rPr lang="zh-CN" altLang="en-US" sz="2000">
                <a:solidFill>
                  <a:schemeClr val="tx1"/>
                </a:solidFill>
              </a:rPr>
              <a:t>若在荷载持续作用的过程中</a:t>
            </a:r>
            <a:r>
              <a:rPr lang="zh-CN" altLang="en-US" sz="2000">
                <a:solidFill>
                  <a:srgbClr val="FF3300"/>
                </a:solidFill>
              </a:rPr>
              <a:t>突然卸载</a:t>
            </a:r>
            <a:r>
              <a:rPr lang="zh-CN" altLang="en-US" sz="2000">
                <a:solidFill>
                  <a:schemeClr val="tx1"/>
                </a:solidFill>
              </a:rPr>
              <a:t>，使钢筋受压，混凝土受拉。</a:t>
            </a:r>
          </a:p>
          <a:p>
            <a:pPr algn="l">
              <a:lnSpc>
                <a:spcPct val="110000"/>
              </a:lnSpc>
              <a:spcBef>
                <a:spcPct val="40000"/>
              </a:spcBef>
              <a:buClr>
                <a:srgbClr val="FF3300"/>
              </a:buClr>
            </a:pPr>
            <a:endParaRPr lang="zh-CN" altLang="en-US" sz="1800">
              <a:solidFill>
                <a:srgbClr val="003300"/>
              </a:solidFill>
              <a:ea typeface="楷体_GB2312" pitchFamily="49" charset="-122"/>
            </a:endParaRPr>
          </a:p>
          <a:p>
            <a:pPr algn="l">
              <a:lnSpc>
                <a:spcPct val="110000"/>
              </a:lnSpc>
              <a:spcBef>
                <a:spcPct val="40000"/>
              </a:spcBef>
              <a:buClr>
                <a:srgbClr val="FF3300"/>
              </a:buClr>
            </a:pPr>
            <a:endParaRPr lang="zh-CN" altLang="en-US" sz="1800">
              <a:solidFill>
                <a:srgbClr val="003300"/>
              </a:solidFill>
              <a:ea typeface="楷体_GB2312" pitchFamily="49" charset="-122"/>
            </a:endParaRPr>
          </a:p>
          <a:p>
            <a:pPr algn="l">
              <a:lnSpc>
                <a:spcPct val="110000"/>
              </a:lnSpc>
              <a:spcBef>
                <a:spcPct val="40000"/>
              </a:spcBef>
              <a:buClr>
                <a:srgbClr val="FF3300"/>
              </a:buClr>
            </a:pPr>
            <a:endParaRPr lang="zh-CN" altLang="en-US" sz="1800">
              <a:solidFill>
                <a:srgbClr val="003300"/>
              </a:solidFill>
              <a:ea typeface="楷体_GB2312" pitchFamily="49" charset="-122"/>
            </a:endParaRPr>
          </a:p>
          <a:p>
            <a:pPr algn="l">
              <a:lnSpc>
                <a:spcPct val="110000"/>
              </a:lnSpc>
              <a:spcBef>
                <a:spcPct val="40000"/>
              </a:spcBef>
              <a:buClr>
                <a:srgbClr val="FF3300"/>
              </a:buClr>
            </a:pPr>
            <a:endParaRPr lang="zh-CN" altLang="en-US" sz="800">
              <a:solidFill>
                <a:srgbClr val="003300"/>
              </a:solidFill>
              <a:ea typeface="楷体_GB2312" pitchFamily="49" charset="-122"/>
            </a:endParaRPr>
          </a:p>
          <a:p>
            <a:pPr algn="l">
              <a:lnSpc>
                <a:spcPct val="110000"/>
              </a:lnSpc>
              <a:spcBef>
                <a:spcPct val="40000"/>
              </a:spcBef>
              <a:buClr>
                <a:srgbClr val="FF3300"/>
              </a:buClr>
              <a:buFont typeface="Wingdings" pitchFamily="2" charset="2"/>
              <a:buChar char="ü"/>
            </a:pPr>
            <a:r>
              <a:rPr lang="zh-CN" altLang="en-US" sz="2000">
                <a:solidFill>
                  <a:schemeClr val="tx1"/>
                </a:solidFill>
              </a:rPr>
              <a:t>柱中配置纵向钢筋后，能起到调整混凝土应力的作用，较好地发挥混凝土的</a:t>
            </a:r>
            <a:r>
              <a:rPr lang="zh-CN" altLang="en-US" sz="2000">
                <a:solidFill>
                  <a:srgbClr val="FF3300"/>
                </a:solidFill>
              </a:rPr>
              <a:t>塑性性能</a:t>
            </a:r>
            <a:r>
              <a:rPr lang="zh-CN" altLang="en-US" sz="2000">
                <a:solidFill>
                  <a:schemeClr val="tx1"/>
                </a:solidFill>
              </a:rPr>
              <a:t>，改善受压破坏时的脆性。</a:t>
            </a:r>
          </a:p>
          <a:p>
            <a:pPr algn="l">
              <a:lnSpc>
                <a:spcPct val="110000"/>
              </a:lnSpc>
              <a:spcBef>
                <a:spcPct val="40000"/>
              </a:spcBef>
              <a:buClr>
                <a:srgbClr val="FF3300"/>
              </a:buClr>
              <a:buFont typeface="Wingdings" pitchFamily="2" charset="2"/>
              <a:buChar char="ü"/>
            </a:pPr>
            <a:r>
              <a:rPr lang="zh-CN" altLang="en-US" sz="2000">
                <a:solidFill>
                  <a:schemeClr val="tx1"/>
                </a:solidFill>
              </a:rPr>
              <a:t>取混凝土的压应变值</a:t>
            </a:r>
            <a:r>
              <a:rPr lang="el-GR" altLang="zh-CN" sz="2000" i="1">
                <a:solidFill>
                  <a:schemeClr val="tx1"/>
                </a:solidFill>
                <a:cs typeface="Times New Roman" pitchFamily="18" charset="0"/>
              </a:rPr>
              <a:t>ε</a:t>
            </a:r>
            <a:r>
              <a:rPr lang="en-US" altLang="zh-CN" sz="2000" baseline="-25000">
                <a:solidFill>
                  <a:schemeClr val="tx1"/>
                </a:solidFill>
              </a:rPr>
              <a:t>0</a:t>
            </a:r>
            <a:r>
              <a:rPr lang="en-US" altLang="zh-CN" sz="2000">
                <a:solidFill>
                  <a:schemeClr val="tx1"/>
                </a:solidFill>
              </a:rPr>
              <a:t>=0.002</a:t>
            </a:r>
            <a:r>
              <a:rPr lang="zh-CN" altLang="en-US" sz="2000">
                <a:solidFill>
                  <a:schemeClr val="tx1"/>
                </a:solidFill>
              </a:rPr>
              <a:t>作为轴心受压构件破坏时的控制条件，当钢筋的抗拉强度设计值等于或大于</a:t>
            </a:r>
            <a:r>
              <a:rPr lang="en-US" altLang="zh-CN" sz="2000">
                <a:solidFill>
                  <a:schemeClr val="tx1"/>
                </a:solidFill>
              </a:rPr>
              <a:t>400N/mm</a:t>
            </a:r>
            <a:r>
              <a:rPr lang="en-US" altLang="zh-CN" sz="2000" baseline="30000">
                <a:solidFill>
                  <a:schemeClr val="tx1"/>
                </a:solidFill>
              </a:rPr>
              <a:t>2</a:t>
            </a:r>
            <a:r>
              <a:rPr lang="zh-CN" altLang="en-US" sz="2000">
                <a:solidFill>
                  <a:schemeClr val="tx1"/>
                </a:solidFill>
              </a:rPr>
              <a:t>时，则抗压强度设计值亦只能取</a:t>
            </a:r>
            <a:r>
              <a:rPr lang="en-US" altLang="zh-CN" sz="2000">
                <a:solidFill>
                  <a:schemeClr val="tx1"/>
                </a:solidFill>
              </a:rPr>
              <a:t>400N/mm</a:t>
            </a:r>
            <a:r>
              <a:rPr lang="en-US" altLang="zh-CN" sz="2000" baseline="30000">
                <a:solidFill>
                  <a:schemeClr val="tx1"/>
                </a:solidFill>
              </a:rPr>
              <a:t>2</a:t>
            </a:r>
            <a:r>
              <a:rPr lang="en-US" altLang="zh-CN" sz="2000">
                <a:solidFill>
                  <a:schemeClr val="tx1"/>
                </a:solidFill>
              </a:rPr>
              <a:t> </a:t>
            </a:r>
            <a:r>
              <a:rPr lang="zh-CN" altLang="en-US" sz="2000">
                <a:solidFill>
                  <a:schemeClr val="tx1"/>
                </a:solidFill>
              </a:rPr>
              <a:t>。</a:t>
            </a:r>
            <a:endParaRPr lang="zh-CN" altLang="el-GR" sz="2000">
              <a:solidFill>
                <a:schemeClr val="tx1"/>
              </a:solidFill>
            </a:endParaRPr>
          </a:p>
        </p:txBody>
      </p:sp>
      <p:sp>
        <p:nvSpPr>
          <p:cNvPr id="304142" name="Rectangle 14"/>
          <p:cNvSpPr>
            <a:spLocks noChangeArrowheads="1"/>
          </p:cNvSpPr>
          <p:nvPr/>
        </p:nvSpPr>
        <p:spPr bwMode="auto">
          <a:xfrm>
            <a:off x="914400" y="3124200"/>
            <a:ext cx="6934200" cy="138588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Clr>
                <a:srgbClr val="FF0000"/>
              </a:buClr>
              <a:buFont typeface="Wingdings" pitchFamily="2" charset="2"/>
              <a:buChar char="Ø"/>
            </a:pPr>
            <a:r>
              <a:rPr lang="zh-CN" altLang="en-US" sz="1800">
                <a:solidFill>
                  <a:srgbClr val="003300"/>
                </a:solidFill>
                <a:ea typeface="楷体_GB2312" pitchFamily="49" charset="-122"/>
              </a:rPr>
              <a:t>钢筋力图恢复其全部弹性压缩变形，混凝土只能恢复弹性变形部分，而钢筋和混凝土之间的粘结并未破坏，钢筋的回弹变形受到混凝土的阻碍，产生压应力，而混凝土则受拉产生拉应力。</a:t>
            </a:r>
          </a:p>
          <a:p>
            <a:pPr algn="l">
              <a:buClr>
                <a:srgbClr val="FF0000"/>
              </a:buClr>
              <a:buFont typeface="Wingdings" pitchFamily="2" charset="2"/>
              <a:buChar char="Ø"/>
            </a:pPr>
            <a:r>
              <a:rPr lang="zh-CN" altLang="en-US" sz="1800">
                <a:solidFill>
                  <a:srgbClr val="003300"/>
                </a:solidFill>
                <a:ea typeface="楷体_GB2312" pitchFamily="49" charset="-122"/>
              </a:rPr>
              <a:t>若配筋率过高，混凝土产生的拉应力可能达到其抗拉强度，产生与其轴线垂直的贯通裂缝。</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04131">
                                            <p:txEl>
                                              <p:pRg st="1" end="1"/>
                                            </p:txEl>
                                          </p:spTgt>
                                        </p:tgtEl>
                                        <p:attrNameLst>
                                          <p:attrName>style.visibility</p:attrName>
                                        </p:attrNameLst>
                                      </p:cBhvr>
                                      <p:to>
                                        <p:strVal val="visible"/>
                                      </p:to>
                                    </p:set>
                                    <p:animEffect transition="in" filter="blinds(horizontal)">
                                      <p:cBhvr>
                                        <p:cTn id="7" dur="500"/>
                                        <p:tgtEl>
                                          <p:spTgt spid="30413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4131">
                                            <p:txEl>
                                              <p:pRg st="2" end="2"/>
                                            </p:txEl>
                                          </p:spTgt>
                                        </p:tgtEl>
                                        <p:attrNameLst>
                                          <p:attrName>style.visibility</p:attrName>
                                        </p:attrNameLst>
                                      </p:cBhvr>
                                      <p:to>
                                        <p:strVal val="visible"/>
                                      </p:to>
                                    </p:set>
                                    <p:animEffect transition="in" filter="blinds(horizontal)">
                                      <p:cBhvr>
                                        <p:cTn id="12" dur="500"/>
                                        <p:tgtEl>
                                          <p:spTgt spid="30413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4142"/>
                                        </p:tgtEl>
                                        <p:attrNameLst>
                                          <p:attrName>style.visibility</p:attrName>
                                        </p:attrNameLst>
                                      </p:cBhvr>
                                      <p:to>
                                        <p:strVal val="visible"/>
                                      </p:to>
                                    </p:set>
                                    <p:animEffect transition="in" filter="blinds(horizontal)">
                                      <p:cBhvr>
                                        <p:cTn id="17" dur="500"/>
                                        <p:tgtEl>
                                          <p:spTgt spid="3041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04131">
                                            <p:txEl>
                                              <p:pRg st="7" end="7"/>
                                            </p:txEl>
                                          </p:spTgt>
                                        </p:tgtEl>
                                        <p:attrNameLst>
                                          <p:attrName>style.visibility</p:attrName>
                                        </p:attrNameLst>
                                      </p:cBhvr>
                                      <p:to>
                                        <p:strVal val="visible"/>
                                      </p:to>
                                    </p:set>
                                    <p:animEffect transition="in" filter="blinds(horizontal)">
                                      <p:cBhvr>
                                        <p:cTn id="22" dur="500"/>
                                        <p:tgtEl>
                                          <p:spTgt spid="304131">
                                            <p:txEl>
                                              <p:pRg st="7" end="7"/>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04131">
                                            <p:txEl>
                                              <p:pRg st="8" end="8"/>
                                            </p:txEl>
                                          </p:spTgt>
                                        </p:tgtEl>
                                        <p:attrNameLst>
                                          <p:attrName>style.visibility</p:attrName>
                                        </p:attrNameLst>
                                      </p:cBhvr>
                                      <p:to>
                                        <p:strVal val="visible"/>
                                      </p:to>
                                    </p:set>
                                    <p:animEffect transition="in" filter="blinds(horizontal)">
                                      <p:cBhvr>
                                        <p:cTn id="27" dur="500"/>
                                        <p:tgtEl>
                                          <p:spTgt spid="30413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42"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515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7.1</a:t>
            </a:r>
            <a:r>
              <a:rPr lang="zh-CN" altLang="en-US" sz="3000" dirty="0">
                <a:solidFill>
                  <a:schemeClr val="tx2"/>
                </a:solidFill>
                <a:latin typeface="Times New Roman" pitchFamily="18" charset="0"/>
              </a:rPr>
              <a:t>轴心受压构件正截面承载力的计算</a:t>
            </a:r>
            <a:r>
              <a:rPr lang="zh-CN" altLang="en-US" dirty="0">
                <a:solidFill>
                  <a:schemeClr val="tx2"/>
                </a:solidFill>
              </a:rPr>
              <a:t> </a:t>
            </a:r>
          </a:p>
        </p:txBody>
      </p:sp>
      <p:sp>
        <p:nvSpPr>
          <p:cNvPr id="305155" name="Rectangle 3"/>
          <p:cNvSpPr>
            <a:spLocks noChangeArrowheads="1"/>
          </p:cNvSpPr>
          <p:nvPr/>
        </p:nvSpPr>
        <p:spPr bwMode="auto">
          <a:xfrm>
            <a:off x="611188" y="1066800"/>
            <a:ext cx="5637212"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40000"/>
              </a:spcBef>
              <a:buClrTx/>
              <a:buFontTx/>
              <a:buNone/>
            </a:pPr>
            <a:r>
              <a:rPr lang="en-US" altLang="zh-CN">
                <a:solidFill>
                  <a:srgbClr val="990099"/>
                </a:solidFill>
              </a:rPr>
              <a:t>3.</a:t>
            </a:r>
            <a:r>
              <a:rPr lang="zh-CN" altLang="en-US">
                <a:solidFill>
                  <a:srgbClr val="990099"/>
                </a:solidFill>
              </a:rPr>
              <a:t>长柱受力特点</a:t>
            </a:r>
          </a:p>
          <a:p>
            <a:pPr algn="l">
              <a:lnSpc>
                <a:spcPct val="100000"/>
              </a:lnSpc>
              <a:spcBef>
                <a:spcPct val="40000"/>
              </a:spcBef>
              <a:buClrTx/>
              <a:buFontTx/>
              <a:buNone/>
            </a:pPr>
            <a:r>
              <a:rPr lang="zh-CN" altLang="en-US"/>
              <a:t>同条件下，细长柱的承载能力小于短柱</a:t>
            </a:r>
          </a:p>
        </p:txBody>
      </p:sp>
      <p:pic>
        <p:nvPicPr>
          <p:cNvPr id="305165" name="Picture 13" descr="gj0717"/>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1232" r="14566"/>
          <a:stretch>
            <a:fillRect/>
          </a:stretch>
        </p:blipFill>
        <p:spPr bwMode="auto">
          <a:xfrm>
            <a:off x="6321425" y="1585913"/>
            <a:ext cx="2289175" cy="3736975"/>
          </a:xfrm>
          <a:prstGeom prst="rect">
            <a:avLst/>
          </a:prstGeom>
          <a:noFill/>
          <a:extLst>
            <a:ext uri="{909E8E84-426E-40DD-AFC4-6F175D3DCCD1}">
              <a14:hiddenFill xmlns:a14="http://schemas.microsoft.com/office/drawing/2010/main">
                <a:solidFill>
                  <a:srgbClr val="FFFFFF"/>
                </a:solidFill>
              </a14:hiddenFill>
            </a:ext>
          </a:extLst>
        </p:spPr>
      </p:pic>
      <p:sp>
        <p:nvSpPr>
          <p:cNvPr id="305166" name="Rectangle 14"/>
          <p:cNvSpPr>
            <a:spLocks noChangeArrowheads="1"/>
          </p:cNvSpPr>
          <p:nvPr/>
        </p:nvSpPr>
        <p:spPr bwMode="auto">
          <a:xfrm>
            <a:off x="528638" y="2133600"/>
            <a:ext cx="1725612" cy="430213"/>
          </a:xfrm>
          <a:prstGeom prst="rect">
            <a:avLst/>
          </a:prstGeom>
          <a:solidFill>
            <a:srgbClr val="99CCFF">
              <a:alpha val="20000"/>
            </a:srgbClr>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chemeClr val="tx1"/>
                </a:solidFill>
              </a:rPr>
              <a:t>初始偏心矩</a:t>
            </a:r>
          </a:p>
        </p:txBody>
      </p:sp>
      <p:sp>
        <p:nvSpPr>
          <p:cNvPr id="305167" name="Rectangle 15"/>
          <p:cNvSpPr>
            <a:spLocks noChangeArrowheads="1"/>
          </p:cNvSpPr>
          <p:nvPr/>
        </p:nvSpPr>
        <p:spPr bwMode="auto">
          <a:xfrm>
            <a:off x="2819400" y="2133600"/>
            <a:ext cx="2951163" cy="430213"/>
          </a:xfrm>
          <a:prstGeom prst="rect">
            <a:avLst/>
          </a:prstGeom>
          <a:solidFill>
            <a:srgbClr val="99CCFF">
              <a:alpha val="20000"/>
            </a:srgbClr>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chemeClr val="tx1"/>
                </a:solidFill>
              </a:rPr>
              <a:t>附加弯矩、侧向挠度</a:t>
            </a:r>
          </a:p>
        </p:txBody>
      </p:sp>
      <p:sp>
        <p:nvSpPr>
          <p:cNvPr id="305169" name="Rectangle 17"/>
          <p:cNvSpPr>
            <a:spLocks noChangeArrowheads="1"/>
          </p:cNvSpPr>
          <p:nvPr/>
        </p:nvSpPr>
        <p:spPr bwMode="auto">
          <a:xfrm>
            <a:off x="3200400" y="2667000"/>
            <a:ext cx="2032000" cy="430213"/>
          </a:xfrm>
          <a:prstGeom prst="rect">
            <a:avLst/>
          </a:prstGeom>
          <a:solidFill>
            <a:srgbClr val="99CCFF">
              <a:alpha val="20000"/>
            </a:srgbClr>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chemeClr val="tx1"/>
                </a:solidFill>
              </a:rPr>
              <a:t>加大附加弯矩</a:t>
            </a:r>
          </a:p>
        </p:txBody>
      </p:sp>
      <p:sp>
        <p:nvSpPr>
          <p:cNvPr id="305170" name="Rectangle 18"/>
          <p:cNvSpPr>
            <a:spLocks noChangeArrowheads="1"/>
          </p:cNvSpPr>
          <p:nvPr/>
        </p:nvSpPr>
        <p:spPr bwMode="auto">
          <a:xfrm>
            <a:off x="533400" y="3200400"/>
            <a:ext cx="4483100" cy="831850"/>
          </a:xfrm>
          <a:prstGeom prst="rect">
            <a:avLst/>
          </a:prstGeom>
          <a:solidFill>
            <a:srgbClr val="99CCFF">
              <a:alpha val="20000"/>
            </a:srgbClr>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chemeClr val="tx1"/>
                </a:solidFill>
              </a:rPr>
              <a:t>互相影响作用下，长柱在轴向力</a:t>
            </a:r>
          </a:p>
          <a:p>
            <a:r>
              <a:rPr lang="zh-CN" altLang="en-US">
                <a:solidFill>
                  <a:schemeClr val="tx1"/>
                </a:solidFill>
              </a:rPr>
              <a:t>和弯矩共同作用下破坏</a:t>
            </a:r>
          </a:p>
        </p:txBody>
      </p:sp>
      <p:sp>
        <p:nvSpPr>
          <p:cNvPr id="305171" name="Rectangle 19"/>
          <p:cNvSpPr>
            <a:spLocks noChangeArrowheads="1"/>
          </p:cNvSpPr>
          <p:nvPr/>
        </p:nvSpPr>
        <p:spPr bwMode="auto">
          <a:xfrm>
            <a:off x="457200" y="4149080"/>
            <a:ext cx="5638800" cy="92333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50000"/>
              </a:spcBef>
              <a:buClrTx/>
              <a:buFontTx/>
              <a:buNone/>
            </a:pPr>
            <a:r>
              <a:rPr lang="zh-CN" altLang="en-US" dirty="0"/>
              <a:t>长细比很大的柱子还可能发生</a:t>
            </a:r>
            <a:r>
              <a:rPr lang="zh-CN" altLang="en-US" dirty="0">
                <a:solidFill>
                  <a:srgbClr val="FF3300"/>
                </a:solidFill>
              </a:rPr>
              <a:t>失稳破坏</a:t>
            </a:r>
            <a:r>
              <a:rPr lang="zh-CN" altLang="en-US" dirty="0"/>
              <a:t> </a:t>
            </a:r>
          </a:p>
          <a:p>
            <a:pPr algn="l">
              <a:lnSpc>
                <a:spcPct val="100000"/>
              </a:lnSpc>
              <a:spcBef>
                <a:spcPct val="50000"/>
              </a:spcBef>
              <a:buClrTx/>
              <a:buFontTx/>
              <a:buNone/>
            </a:pPr>
            <a:r>
              <a:rPr lang="en-US" altLang="zh-CN" sz="2000" dirty="0">
                <a:solidFill>
                  <a:schemeClr val="tx1"/>
                </a:solidFill>
              </a:rPr>
              <a:t>《</a:t>
            </a:r>
            <a:r>
              <a:rPr lang="zh-CN" altLang="en-US" sz="2000" dirty="0">
                <a:solidFill>
                  <a:schemeClr val="tx1"/>
                </a:solidFill>
              </a:rPr>
              <a:t>规范</a:t>
            </a:r>
            <a:r>
              <a:rPr lang="en-US" altLang="zh-CN" sz="2000" dirty="0">
                <a:solidFill>
                  <a:schemeClr val="tx1"/>
                </a:solidFill>
              </a:rPr>
              <a:t>》</a:t>
            </a:r>
            <a:r>
              <a:rPr lang="zh-CN" altLang="en-US" sz="2000" dirty="0">
                <a:solidFill>
                  <a:schemeClr val="tx1"/>
                </a:solidFill>
              </a:rPr>
              <a:t>规定稳定系数</a:t>
            </a:r>
            <a:r>
              <a:rPr lang="el-GR" altLang="zh-CN" sz="2000" i="1" dirty="0">
                <a:solidFill>
                  <a:schemeClr val="tx1"/>
                </a:solidFill>
                <a:ea typeface="MingLiU" pitchFamily="49" charset="-120"/>
              </a:rPr>
              <a:t>φ</a:t>
            </a:r>
            <a:r>
              <a:rPr lang="zh-CN" altLang="en-US" sz="2000" dirty="0">
                <a:solidFill>
                  <a:schemeClr val="tx1"/>
                </a:solidFill>
              </a:rPr>
              <a:t>为</a:t>
            </a:r>
          </a:p>
        </p:txBody>
      </p:sp>
      <p:sp>
        <p:nvSpPr>
          <p:cNvPr id="305172" name="Line 20"/>
          <p:cNvSpPr>
            <a:spLocks noChangeShapeType="1"/>
          </p:cNvSpPr>
          <p:nvPr/>
        </p:nvSpPr>
        <p:spPr bwMode="auto">
          <a:xfrm>
            <a:off x="2362200" y="2362200"/>
            <a:ext cx="457200" cy="0"/>
          </a:xfrm>
          <a:prstGeom prst="line">
            <a:avLst/>
          </a:prstGeom>
          <a:noFill/>
          <a:ln w="38100">
            <a:solidFill>
              <a:srgbClr val="8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5173" name="Line 21"/>
          <p:cNvSpPr>
            <a:spLocks noChangeShapeType="1"/>
          </p:cNvSpPr>
          <p:nvPr/>
        </p:nvSpPr>
        <p:spPr bwMode="auto">
          <a:xfrm>
            <a:off x="533400" y="2895600"/>
            <a:ext cx="457200" cy="0"/>
          </a:xfrm>
          <a:prstGeom prst="line">
            <a:avLst/>
          </a:prstGeom>
          <a:noFill/>
          <a:ln w="38100">
            <a:solidFill>
              <a:srgbClr val="8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5174" name="Rectangle 22"/>
          <p:cNvSpPr>
            <a:spLocks noChangeArrowheads="1"/>
          </p:cNvSpPr>
          <p:nvPr/>
        </p:nvSpPr>
        <p:spPr bwMode="auto">
          <a:xfrm>
            <a:off x="990600" y="2667000"/>
            <a:ext cx="1725613" cy="430213"/>
          </a:xfrm>
          <a:prstGeom prst="rect">
            <a:avLst/>
          </a:prstGeom>
          <a:solidFill>
            <a:srgbClr val="99CCFF">
              <a:alpha val="20000"/>
            </a:srgbClr>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chemeClr val="tx1"/>
                </a:solidFill>
              </a:rPr>
              <a:t>加大偏心矩</a:t>
            </a:r>
          </a:p>
        </p:txBody>
      </p:sp>
      <p:sp>
        <p:nvSpPr>
          <p:cNvPr id="305175" name="Line 23"/>
          <p:cNvSpPr>
            <a:spLocks noChangeShapeType="1"/>
          </p:cNvSpPr>
          <p:nvPr/>
        </p:nvSpPr>
        <p:spPr bwMode="auto">
          <a:xfrm>
            <a:off x="2743200" y="2895600"/>
            <a:ext cx="457200" cy="0"/>
          </a:xfrm>
          <a:prstGeom prst="line">
            <a:avLst/>
          </a:prstGeom>
          <a:noFill/>
          <a:ln w="38100">
            <a:solidFill>
              <a:srgbClr val="8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5176" name="Line 24"/>
          <p:cNvSpPr>
            <a:spLocks noChangeShapeType="1"/>
          </p:cNvSpPr>
          <p:nvPr/>
        </p:nvSpPr>
        <p:spPr bwMode="auto">
          <a:xfrm>
            <a:off x="5257800" y="2895600"/>
            <a:ext cx="457200" cy="0"/>
          </a:xfrm>
          <a:prstGeom prst="line">
            <a:avLst/>
          </a:prstGeom>
          <a:noFill/>
          <a:ln w="38100">
            <a:solidFill>
              <a:srgbClr val="8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5177" name="Line 25"/>
          <p:cNvSpPr>
            <a:spLocks noChangeShapeType="1"/>
          </p:cNvSpPr>
          <p:nvPr/>
        </p:nvSpPr>
        <p:spPr bwMode="auto">
          <a:xfrm>
            <a:off x="6648450" y="1900238"/>
            <a:ext cx="209550"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5178" name="Line 26"/>
          <p:cNvSpPr>
            <a:spLocks noChangeShapeType="1"/>
          </p:cNvSpPr>
          <p:nvPr/>
        </p:nvSpPr>
        <p:spPr bwMode="auto">
          <a:xfrm flipH="1">
            <a:off x="6619875" y="1862138"/>
            <a:ext cx="76200" cy="76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5179" name="Line 27"/>
          <p:cNvSpPr>
            <a:spLocks noChangeShapeType="1"/>
          </p:cNvSpPr>
          <p:nvPr/>
        </p:nvSpPr>
        <p:spPr bwMode="auto">
          <a:xfrm flipH="1">
            <a:off x="6810375" y="1857375"/>
            <a:ext cx="76200" cy="76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5180" name="Line 28"/>
          <p:cNvSpPr>
            <a:spLocks noChangeShapeType="1"/>
          </p:cNvSpPr>
          <p:nvPr/>
        </p:nvSpPr>
        <p:spPr bwMode="auto">
          <a:xfrm flipV="1">
            <a:off x="7858125" y="3476625"/>
            <a:ext cx="276225"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5181" name="Line 29"/>
          <p:cNvSpPr>
            <a:spLocks noChangeShapeType="1"/>
          </p:cNvSpPr>
          <p:nvPr/>
        </p:nvSpPr>
        <p:spPr bwMode="auto">
          <a:xfrm flipH="1">
            <a:off x="7829550" y="3438525"/>
            <a:ext cx="76200" cy="76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5182" name="Line 30"/>
          <p:cNvSpPr>
            <a:spLocks noChangeShapeType="1"/>
          </p:cNvSpPr>
          <p:nvPr/>
        </p:nvSpPr>
        <p:spPr bwMode="auto">
          <a:xfrm flipH="1">
            <a:off x="8086725" y="3433763"/>
            <a:ext cx="76200" cy="76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5183" name="Line 31"/>
          <p:cNvSpPr>
            <a:spLocks noChangeShapeType="1"/>
          </p:cNvSpPr>
          <p:nvPr/>
        </p:nvSpPr>
        <p:spPr bwMode="auto">
          <a:xfrm flipV="1">
            <a:off x="7629525" y="3476625"/>
            <a:ext cx="276225"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5184" name="Line 32"/>
          <p:cNvSpPr>
            <a:spLocks noChangeShapeType="1"/>
          </p:cNvSpPr>
          <p:nvPr/>
        </p:nvSpPr>
        <p:spPr bwMode="auto">
          <a:xfrm flipH="1">
            <a:off x="7620000" y="3443288"/>
            <a:ext cx="76200" cy="76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5186" name="Rectangle 34"/>
          <p:cNvSpPr>
            <a:spLocks noChangeArrowheads="1"/>
          </p:cNvSpPr>
          <p:nvPr/>
        </p:nvSpPr>
        <p:spPr bwMode="auto">
          <a:xfrm>
            <a:off x="7810500" y="3429000"/>
            <a:ext cx="342900"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rgbClr val="FF3300"/>
                </a:solidFill>
              </a:rPr>
              <a:t>e</a:t>
            </a:r>
            <a:r>
              <a:rPr lang="en-US" altLang="zh-CN" sz="2000" baseline="-25000">
                <a:solidFill>
                  <a:srgbClr val="FF3300"/>
                </a:solidFill>
              </a:rPr>
              <a:t>i</a:t>
            </a:r>
          </a:p>
        </p:txBody>
      </p:sp>
      <p:sp>
        <p:nvSpPr>
          <p:cNvPr id="305187" name="Rectangle 35"/>
          <p:cNvSpPr>
            <a:spLocks noChangeArrowheads="1"/>
          </p:cNvSpPr>
          <p:nvPr/>
        </p:nvSpPr>
        <p:spPr bwMode="auto">
          <a:xfrm>
            <a:off x="7580313" y="3490913"/>
            <a:ext cx="268287" cy="36671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rgbClr val="FF3300"/>
                </a:solidFill>
              </a:rPr>
              <a:t>f</a:t>
            </a:r>
            <a:endParaRPr lang="en-US" altLang="zh-CN" sz="2000" baseline="-25000">
              <a:solidFill>
                <a:srgbClr val="FF3300"/>
              </a:solidFill>
            </a:endParaRPr>
          </a:p>
        </p:txBody>
      </p:sp>
      <p:sp>
        <p:nvSpPr>
          <p:cNvPr id="305190" name="Rectangle 38"/>
          <p:cNvSpPr>
            <a:spLocks noChangeArrowheads="1"/>
          </p:cNvSpPr>
          <p:nvPr/>
        </p:nvSpPr>
        <p:spPr bwMode="auto">
          <a:xfrm>
            <a:off x="6553200" y="1524000"/>
            <a:ext cx="342900"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rgbClr val="FF3300"/>
                </a:solidFill>
              </a:rPr>
              <a:t>e</a:t>
            </a:r>
            <a:r>
              <a:rPr lang="en-US" altLang="zh-CN" sz="2000" baseline="-25000">
                <a:solidFill>
                  <a:srgbClr val="FF3300"/>
                </a:solidFill>
              </a:rPr>
              <a:t>i</a:t>
            </a:r>
          </a:p>
        </p:txBody>
      </p:sp>
      <p:sp>
        <p:nvSpPr>
          <p:cNvPr id="305191" name="Rectangle 39"/>
          <p:cNvSpPr>
            <a:spLocks noChangeArrowheads="1"/>
          </p:cNvSpPr>
          <p:nvPr/>
        </p:nvSpPr>
        <p:spPr bwMode="auto">
          <a:xfrm>
            <a:off x="5867400" y="5249863"/>
            <a:ext cx="1347788" cy="420687"/>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solidFill>
                  <a:schemeClr val="tx2"/>
                </a:solidFill>
              </a:rPr>
              <a:t>M</a:t>
            </a:r>
            <a:r>
              <a:rPr lang="en-US" altLang="zh-CN">
                <a:solidFill>
                  <a:schemeClr val="tx2"/>
                </a:solidFill>
              </a:rPr>
              <a:t>=</a:t>
            </a:r>
            <a:r>
              <a:rPr lang="en-US" altLang="zh-CN" i="1">
                <a:solidFill>
                  <a:schemeClr val="tx2"/>
                </a:solidFill>
              </a:rPr>
              <a:t>N</a:t>
            </a:r>
            <a:r>
              <a:rPr lang="en-US" altLang="zh-CN">
                <a:solidFill>
                  <a:schemeClr val="tx2"/>
                </a:solidFill>
              </a:rPr>
              <a:t>﹒</a:t>
            </a:r>
            <a:r>
              <a:rPr lang="en-US" altLang="zh-CN" i="1">
                <a:solidFill>
                  <a:schemeClr val="tx2"/>
                </a:solidFill>
              </a:rPr>
              <a:t>e</a:t>
            </a:r>
            <a:r>
              <a:rPr lang="en-US" altLang="zh-CN" baseline="-25000">
                <a:solidFill>
                  <a:schemeClr val="tx2"/>
                </a:solidFill>
              </a:rPr>
              <a:t>i</a:t>
            </a:r>
          </a:p>
        </p:txBody>
      </p:sp>
      <p:sp>
        <p:nvSpPr>
          <p:cNvPr id="305192" name="Rectangle 40"/>
          <p:cNvSpPr>
            <a:spLocks noChangeArrowheads="1"/>
          </p:cNvSpPr>
          <p:nvPr/>
        </p:nvSpPr>
        <p:spPr bwMode="auto">
          <a:xfrm>
            <a:off x="7208838" y="5249863"/>
            <a:ext cx="1893887" cy="420687"/>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solidFill>
                  <a:srgbClr val="FF3300"/>
                </a:solidFill>
              </a:rPr>
              <a:t>M</a:t>
            </a:r>
            <a:r>
              <a:rPr lang="en-US" altLang="zh-CN" baseline="30000">
                <a:solidFill>
                  <a:srgbClr val="FF3300"/>
                </a:solidFill>
              </a:rPr>
              <a:t>’</a:t>
            </a:r>
            <a:r>
              <a:rPr lang="en-US" altLang="zh-CN">
                <a:solidFill>
                  <a:srgbClr val="FF3300"/>
                </a:solidFill>
              </a:rPr>
              <a:t>=</a:t>
            </a:r>
            <a:r>
              <a:rPr lang="en-US" altLang="zh-CN" i="1">
                <a:solidFill>
                  <a:srgbClr val="FF3300"/>
                </a:solidFill>
              </a:rPr>
              <a:t>N</a:t>
            </a:r>
            <a:r>
              <a:rPr lang="en-US" altLang="zh-CN">
                <a:solidFill>
                  <a:srgbClr val="FF3300"/>
                </a:solidFill>
              </a:rPr>
              <a:t>﹒(</a:t>
            </a:r>
            <a:r>
              <a:rPr lang="en-US" altLang="zh-CN" i="1">
                <a:solidFill>
                  <a:srgbClr val="FF3300"/>
                </a:solidFill>
              </a:rPr>
              <a:t>e</a:t>
            </a:r>
            <a:r>
              <a:rPr lang="en-US" altLang="zh-CN" baseline="-25000">
                <a:solidFill>
                  <a:srgbClr val="FF3300"/>
                </a:solidFill>
              </a:rPr>
              <a:t>i</a:t>
            </a:r>
            <a:r>
              <a:rPr lang="en-US" altLang="zh-CN">
                <a:solidFill>
                  <a:srgbClr val="FF3300"/>
                </a:solidFill>
              </a:rPr>
              <a:t>+</a:t>
            </a:r>
            <a:r>
              <a:rPr lang="en-US" altLang="zh-CN" i="1">
                <a:solidFill>
                  <a:srgbClr val="FF3300"/>
                </a:solidFill>
              </a:rPr>
              <a:t>f</a:t>
            </a:r>
            <a:r>
              <a:rPr lang="en-US" altLang="zh-CN">
                <a:solidFill>
                  <a:srgbClr val="FF3300"/>
                </a:solidFill>
              </a:rPr>
              <a:t>)</a:t>
            </a:r>
          </a:p>
        </p:txBody>
      </p:sp>
      <p:graphicFrame>
        <p:nvGraphicFramePr>
          <p:cNvPr id="2" name="对象 1"/>
          <p:cNvGraphicFramePr>
            <a:graphicFrameLocks noChangeAspect="1"/>
          </p:cNvGraphicFramePr>
          <p:nvPr>
            <p:extLst>
              <p:ext uri="{D42A27DB-BD31-4B8C-83A1-F6EECF244321}">
                <p14:modId xmlns:p14="http://schemas.microsoft.com/office/powerpoint/2010/main" val="2923814013"/>
              </p:ext>
            </p:extLst>
          </p:nvPr>
        </p:nvGraphicFramePr>
        <p:xfrm>
          <a:off x="2444750" y="5090318"/>
          <a:ext cx="831850" cy="760413"/>
        </p:xfrm>
        <a:graphic>
          <a:graphicData uri="http://schemas.openxmlformats.org/presentationml/2006/ole">
            <mc:AlternateContent xmlns:mc="http://schemas.openxmlformats.org/markup-compatibility/2006">
              <mc:Choice xmlns:v="urn:schemas-microsoft-com:vml" Requires="v">
                <p:oleObj spid="_x0000_s428293" name="Equation" r:id="rId4" imgW="431640" imgH="393480" progId="">
                  <p:embed/>
                </p:oleObj>
              </mc:Choice>
              <mc:Fallback>
                <p:oleObj name="Equation" r:id="rId4" imgW="431640" imgH="393480" progId="">
                  <p:embed/>
                  <p:pic>
                    <p:nvPicPr>
                      <p:cNvPr id="0" name="Picture 1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4750" y="5090318"/>
                        <a:ext cx="831850" cy="760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2420557328"/>
              </p:ext>
            </p:extLst>
          </p:nvPr>
        </p:nvGraphicFramePr>
        <p:xfrm>
          <a:off x="1739900" y="5867400"/>
          <a:ext cx="4283075" cy="393700"/>
        </p:xfrm>
        <a:graphic>
          <a:graphicData uri="http://schemas.openxmlformats.org/presentationml/2006/ole">
            <mc:AlternateContent xmlns:mc="http://schemas.openxmlformats.org/markup-compatibility/2006">
              <mc:Choice xmlns:v="urn:schemas-microsoft-com:vml" Requires="v">
                <p:oleObj spid="_x0000_s428294" name="Equation" r:id="rId6" imgW="2222280" imgH="203040" progId="Equation.DSMT4">
                  <p:embed/>
                </p:oleObj>
              </mc:Choice>
              <mc:Fallback>
                <p:oleObj name="Equation" r:id="rId6" imgW="2222280" imgH="203040" progId="Equation.DSMT4">
                  <p:embed/>
                  <p:pic>
                    <p:nvPicPr>
                      <p:cNvPr id="0" name="Picture 118"/>
                      <p:cNvPicPr>
                        <a:picLocks noChangeAspect="1" noChangeArrowheads="1"/>
                      </p:cNvPicPr>
                      <p:nvPr/>
                    </p:nvPicPr>
                    <p:blipFill>
                      <a:blip r:embed="rId7"/>
                      <a:srcRect/>
                      <a:stretch>
                        <a:fillRect/>
                      </a:stretch>
                    </p:blipFill>
                    <p:spPr bwMode="auto">
                      <a:xfrm>
                        <a:off x="1739900" y="5867400"/>
                        <a:ext cx="4283075"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对象 29"/>
          <p:cNvGraphicFramePr>
            <a:graphicFrameLocks noChangeAspect="1"/>
          </p:cNvGraphicFramePr>
          <p:nvPr>
            <p:extLst>
              <p:ext uri="{D42A27DB-BD31-4B8C-83A1-F6EECF244321}">
                <p14:modId xmlns:p14="http://schemas.microsoft.com/office/powerpoint/2010/main" val="1184472805"/>
              </p:ext>
            </p:extLst>
          </p:nvPr>
        </p:nvGraphicFramePr>
        <p:xfrm>
          <a:off x="1716088" y="6324600"/>
          <a:ext cx="4332287" cy="393700"/>
        </p:xfrm>
        <a:graphic>
          <a:graphicData uri="http://schemas.openxmlformats.org/presentationml/2006/ole">
            <mc:AlternateContent xmlns:mc="http://schemas.openxmlformats.org/markup-compatibility/2006">
              <mc:Choice xmlns:v="urn:schemas-microsoft-com:vml" Requires="v">
                <p:oleObj spid="_x0000_s428295" name="Equation" r:id="rId8" imgW="2247840" imgH="203040" progId="Equation.DSMT4">
                  <p:embed/>
                </p:oleObj>
              </mc:Choice>
              <mc:Fallback>
                <p:oleObj name="Equation" r:id="rId8" imgW="2247840" imgH="203040" progId="Equation.DSMT4">
                  <p:embed/>
                  <p:pic>
                    <p:nvPicPr>
                      <p:cNvPr id="0" name="Picture 119"/>
                      <p:cNvPicPr>
                        <a:picLocks noChangeAspect="1" noChangeArrowheads="1"/>
                      </p:cNvPicPr>
                      <p:nvPr/>
                    </p:nvPicPr>
                    <p:blipFill>
                      <a:blip r:embed="rId9"/>
                      <a:srcRect/>
                      <a:stretch>
                        <a:fillRect/>
                      </a:stretch>
                    </p:blipFill>
                    <p:spPr bwMode="auto">
                      <a:xfrm>
                        <a:off x="1716088" y="6324600"/>
                        <a:ext cx="4332287"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516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305166"/>
                                        </p:tgtEl>
                                        <p:attrNameLst>
                                          <p:attrName>style.visibility</p:attrName>
                                        </p:attrNameLst>
                                      </p:cBhvr>
                                      <p:to>
                                        <p:strVal val="visible"/>
                                      </p:to>
                                    </p:set>
                                    <p:animEffect transition="in" filter="blinds(horizontal)">
                                      <p:cBhvr>
                                        <p:cTn id="11" dur="500"/>
                                        <p:tgtEl>
                                          <p:spTgt spid="30516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305177"/>
                                        </p:tgtEl>
                                        <p:attrNameLst>
                                          <p:attrName>style.visibility</p:attrName>
                                        </p:attrNameLst>
                                      </p:cBhvr>
                                      <p:to>
                                        <p:strVal val="visible"/>
                                      </p:to>
                                    </p:set>
                                    <p:animEffect transition="in" filter="wipe(down)">
                                      <p:cBhvr>
                                        <p:cTn id="16" dur="500"/>
                                        <p:tgtEl>
                                          <p:spTgt spid="305177"/>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05178"/>
                                        </p:tgtEl>
                                        <p:attrNameLst>
                                          <p:attrName>style.visibility</p:attrName>
                                        </p:attrNameLst>
                                      </p:cBhvr>
                                      <p:to>
                                        <p:strVal val="visible"/>
                                      </p:to>
                                    </p:set>
                                    <p:animEffect transition="in" filter="wipe(down)">
                                      <p:cBhvr>
                                        <p:cTn id="19" dur="500"/>
                                        <p:tgtEl>
                                          <p:spTgt spid="305178"/>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05179"/>
                                        </p:tgtEl>
                                        <p:attrNameLst>
                                          <p:attrName>style.visibility</p:attrName>
                                        </p:attrNameLst>
                                      </p:cBhvr>
                                      <p:to>
                                        <p:strVal val="visible"/>
                                      </p:to>
                                    </p:set>
                                    <p:animEffect transition="in" filter="wipe(down)">
                                      <p:cBhvr>
                                        <p:cTn id="22" dur="500"/>
                                        <p:tgtEl>
                                          <p:spTgt spid="305179"/>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05190"/>
                                        </p:tgtEl>
                                        <p:attrNameLst>
                                          <p:attrName>style.visibility</p:attrName>
                                        </p:attrNameLst>
                                      </p:cBhvr>
                                      <p:to>
                                        <p:strVal val="visible"/>
                                      </p:to>
                                    </p:set>
                                    <p:animEffect transition="in" filter="wipe(down)">
                                      <p:cBhvr>
                                        <p:cTn id="25" dur="500"/>
                                        <p:tgtEl>
                                          <p:spTgt spid="30519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05172"/>
                                        </p:tgtEl>
                                        <p:attrNameLst>
                                          <p:attrName>style.visibility</p:attrName>
                                        </p:attrNameLst>
                                      </p:cBhvr>
                                      <p:to>
                                        <p:strVal val="visible"/>
                                      </p:to>
                                    </p:set>
                                    <p:animEffect transition="in" filter="blinds(horizontal)">
                                      <p:cBhvr>
                                        <p:cTn id="30" dur="500"/>
                                        <p:tgtEl>
                                          <p:spTgt spid="305172"/>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305167"/>
                                        </p:tgtEl>
                                        <p:attrNameLst>
                                          <p:attrName>style.visibility</p:attrName>
                                        </p:attrNameLst>
                                      </p:cBhvr>
                                      <p:to>
                                        <p:strVal val="visible"/>
                                      </p:to>
                                    </p:set>
                                    <p:animEffect transition="in" filter="blinds(horizontal)">
                                      <p:cBhvr>
                                        <p:cTn id="33" dur="500"/>
                                        <p:tgtEl>
                                          <p:spTgt spid="30516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05191"/>
                                        </p:tgtEl>
                                        <p:attrNameLst>
                                          <p:attrName>style.visibility</p:attrName>
                                        </p:attrNameLst>
                                      </p:cBhvr>
                                      <p:to>
                                        <p:strVal val="visible"/>
                                      </p:to>
                                    </p:set>
                                    <p:animEffect transition="in" filter="wipe(left)">
                                      <p:cBhvr>
                                        <p:cTn id="38" dur="500"/>
                                        <p:tgtEl>
                                          <p:spTgt spid="30519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05173"/>
                                        </p:tgtEl>
                                        <p:attrNameLst>
                                          <p:attrName>style.visibility</p:attrName>
                                        </p:attrNameLst>
                                      </p:cBhvr>
                                      <p:to>
                                        <p:strVal val="visible"/>
                                      </p:to>
                                    </p:set>
                                    <p:animEffect transition="in" filter="blinds(horizontal)">
                                      <p:cBhvr>
                                        <p:cTn id="43" dur="500"/>
                                        <p:tgtEl>
                                          <p:spTgt spid="305173"/>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305174"/>
                                        </p:tgtEl>
                                        <p:attrNameLst>
                                          <p:attrName>style.visibility</p:attrName>
                                        </p:attrNameLst>
                                      </p:cBhvr>
                                      <p:to>
                                        <p:strVal val="visible"/>
                                      </p:to>
                                    </p:set>
                                    <p:animEffect transition="in" filter="blinds(horizontal)">
                                      <p:cBhvr>
                                        <p:cTn id="46" dur="500"/>
                                        <p:tgtEl>
                                          <p:spTgt spid="30517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305180"/>
                                        </p:tgtEl>
                                        <p:attrNameLst>
                                          <p:attrName>style.visibility</p:attrName>
                                        </p:attrNameLst>
                                      </p:cBhvr>
                                      <p:to>
                                        <p:strVal val="visible"/>
                                      </p:to>
                                    </p:set>
                                    <p:animEffect transition="in" filter="wipe(down)">
                                      <p:cBhvr>
                                        <p:cTn id="51" dur="500"/>
                                        <p:tgtEl>
                                          <p:spTgt spid="305180"/>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305181"/>
                                        </p:tgtEl>
                                        <p:attrNameLst>
                                          <p:attrName>style.visibility</p:attrName>
                                        </p:attrNameLst>
                                      </p:cBhvr>
                                      <p:to>
                                        <p:strVal val="visible"/>
                                      </p:to>
                                    </p:set>
                                    <p:animEffect transition="in" filter="wipe(down)">
                                      <p:cBhvr>
                                        <p:cTn id="54" dur="500"/>
                                        <p:tgtEl>
                                          <p:spTgt spid="305181"/>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305182"/>
                                        </p:tgtEl>
                                        <p:attrNameLst>
                                          <p:attrName>style.visibility</p:attrName>
                                        </p:attrNameLst>
                                      </p:cBhvr>
                                      <p:to>
                                        <p:strVal val="visible"/>
                                      </p:to>
                                    </p:set>
                                    <p:animEffect transition="in" filter="wipe(down)">
                                      <p:cBhvr>
                                        <p:cTn id="57" dur="500"/>
                                        <p:tgtEl>
                                          <p:spTgt spid="305182"/>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305183"/>
                                        </p:tgtEl>
                                        <p:attrNameLst>
                                          <p:attrName>style.visibility</p:attrName>
                                        </p:attrNameLst>
                                      </p:cBhvr>
                                      <p:to>
                                        <p:strVal val="visible"/>
                                      </p:to>
                                    </p:set>
                                    <p:animEffect transition="in" filter="wipe(down)">
                                      <p:cBhvr>
                                        <p:cTn id="60" dur="500"/>
                                        <p:tgtEl>
                                          <p:spTgt spid="305183"/>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305184"/>
                                        </p:tgtEl>
                                        <p:attrNameLst>
                                          <p:attrName>style.visibility</p:attrName>
                                        </p:attrNameLst>
                                      </p:cBhvr>
                                      <p:to>
                                        <p:strVal val="visible"/>
                                      </p:to>
                                    </p:set>
                                    <p:animEffect transition="in" filter="wipe(down)">
                                      <p:cBhvr>
                                        <p:cTn id="63" dur="500"/>
                                        <p:tgtEl>
                                          <p:spTgt spid="305184"/>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305186"/>
                                        </p:tgtEl>
                                        <p:attrNameLst>
                                          <p:attrName>style.visibility</p:attrName>
                                        </p:attrNameLst>
                                      </p:cBhvr>
                                      <p:to>
                                        <p:strVal val="visible"/>
                                      </p:to>
                                    </p:set>
                                    <p:animEffect transition="in" filter="wipe(down)">
                                      <p:cBhvr>
                                        <p:cTn id="66" dur="500"/>
                                        <p:tgtEl>
                                          <p:spTgt spid="305186"/>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305187"/>
                                        </p:tgtEl>
                                        <p:attrNameLst>
                                          <p:attrName>style.visibility</p:attrName>
                                        </p:attrNameLst>
                                      </p:cBhvr>
                                      <p:to>
                                        <p:strVal val="visible"/>
                                      </p:to>
                                    </p:set>
                                    <p:animEffect transition="in" filter="wipe(down)">
                                      <p:cBhvr>
                                        <p:cTn id="69" dur="500"/>
                                        <p:tgtEl>
                                          <p:spTgt spid="305187"/>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305175"/>
                                        </p:tgtEl>
                                        <p:attrNameLst>
                                          <p:attrName>style.visibility</p:attrName>
                                        </p:attrNameLst>
                                      </p:cBhvr>
                                      <p:to>
                                        <p:strVal val="visible"/>
                                      </p:to>
                                    </p:set>
                                    <p:animEffect transition="in" filter="blinds(horizontal)">
                                      <p:cBhvr>
                                        <p:cTn id="74" dur="500"/>
                                        <p:tgtEl>
                                          <p:spTgt spid="305175"/>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305169"/>
                                        </p:tgtEl>
                                        <p:attrNameLst>
                                          <p:attrName>style.visibility</p:attrName>
                                        </p:attrNameLst>
                                      </p:cBhvr>
                                      <p:to>
                                        <p:strVal val="visible"/>
                                      </p:to>
                                    </p:set>
                                    <p:animEffect transition="in" filter="blinds(horizontal)">
                                      <p:cBhvr>
                                        <p:cTn id="77" dur="500"/>
                                        <p:tgtEl>
                                          <p:spTgt spid="30516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05192"/>
                                        </p:tgtEl>
                                        <p:attrNameLst>
                                          <p:attrName>style.visibility</p:attrName>
                                        </p:attrNameLst>
                                      </p:cBhvr>
                                      <p:to>
                                        <p:strVal val="visible"/>
                                      </p:to>
                                    </p:set>
                                    <p:animEffect transition="in" filter="wipe(left)">
                                      <p:cBhvr>
                                        <p:cTn id="82" dur="500"/>
                                        <p:tgtEl>
                                          <p:spTgt spid="305192"/>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305176"/>
                                        </p:tgtEl>
                                        <p:attrNameLst>
                                          <p:attrName>style.visibility</p:attrName>
                                        </p:attrNameLst>
                                      </p:cBhvr>
                                      <p:to>
                                        <p:strVal val="visible"/>
                                      </p:to>
                                    </p:set>
                                    <p:animEffect transition="in" filter="blinds(horizontal)">
                                      <p:cBhvr>
                                        <p:cTn id="87" dur="500"/>
                                        <p:tgtEl>
                                          <p:spTgt spid="305176"/>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305170"/>
                                        </p:tgtEl>
                                        <p:attrNameLst>
                                          <p:attrName>style.visibility</p:attrName>
                                        </p:attrNameLst>
                                      </p:cBhvr>
                                      <p:to>
                                        <p:strVal val="visible"/>
                                      </p:to>
                                    </p:set>
                                    <p:animEffect transition="in" filter="blinds(horizontal)">
                                      <p:cBhvr>
                                        <p:cTn id="92" dur="500"/>
                                        <p:tgtEl>
                                          <p:spTgt spid="305170"/>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3" presetClass="entr" presetSubtype="10" fill="hold" nodeType="clickEffect">
                                  <p:stCondLst>
                                    <p:cond delay="0"/>
                                  </p:stCondLst>
                                  <p:childTnLst>
                                    <p:set>
                                      <p:cBhvr>
                                        <p:cTn id="96" dur="1" fill="hold">
                                          <p:stCondLst>
                                            <p:cond delay="0"/>
                                          </p:stCondLst>
                                        </p:cTn>
                                        <p:tgtEl>
                                          <p:spTgt spid="305171">
                                            <p:txEl>
                                              <p:pRg st="0" end="0"/>
                                            </p:txEl>
                                          </p:spTgt>
                                        </p:tgtEl>
                                        <p:attrNameLst>
                                          <p:attrName>style.visibility</p:attrName>
                                        </p:attrNameLst>
                                      </p:cBhvr>
                                      <p:to>
                                        <p:strVal val="visible"/>
                                      </p:to>
                                    </p:set>
                                    <p:animEffect transition="in" filter="blinds(horizontal)">
                                      <p:cBhvr>
                                        <p:cTn id="97" dur="500"/>
                                        <p:tgtEl>
                                          <p:spTgt spid="305171">
                                            <p:txEl>
                                              <p:pRg st="0" end="0"/>
                                            </p:txEl>
                                          </p:spTgt>
                                        </p:tgtEl>
                                      </p:cBhvr>
                                    </p:animEffect>
                                  </p:childTnLst>
                                </p:cTn>
                              </p:par>
                              <p:par>
                                <p:cTn id="98" presetID="3" presetClass="entr" presetSubtype="10" fill="hold" nodeType="withEffect">
                                  <p:stCondLst>
                                    <p:cond delay="0"/>
                                  </p:stCondLst>
                                  <p:childTnLst>
                                    <p:set>
                                      <p:cBhvr>
                                        <p:cTn id="99" dur="1" fill="hold">
                                          <p:stCondLst>
                                            <p:cond delay="0"/>
                                          </p:stCondLst>
                                        </p:cTn>
                                        <p:tgtEl>
                                          <p:spTgt spid="305171">
                                            <p:txEl>
                                              <p:pRg st="1" end="1"/>
                                            </p:txEl>
                                          </p:spTgt>
                                        </p:tgtEl>
                                        <p:attrNameLst>
                                          <p:attrName>style.visibility</p:attrName>
                                        </p:attrNameLst>
                                      </p:cBhvr>
                                      <p:to>
                                        <p:strVal val="visible"/>
                                      </p:to>
                                    </p:set>
                                    <p:animEffect transition="in" filter="blinds(horizontal)">
                                      <p:cBhvr>
                                        <p:cTn id="100" dur="500"/>
                                        <p:tgtEl>
                                          <p:spTgt spid="305171">
                                            <p:txEl>
                                              <p:pRg st="1" end="1"/>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2"/>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9"/>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66" grpId="0" animBg="1"/>
      <p:bldP spid="305167" grpId="0" animBg="1"/>
      <p:bldP spid="305169" grpId="0" animBg="1"/>
      <p:bldP spid="305170" grpId="0" animBg="1"/>
      <p:bldP spid="305172" grpId="0" animBg="1"/>
      <p:bldP spid="305173" grpId="0" animBg="1"/>
      <p:bldP spid="305174" grpId="0" animBg="1"/>
      <p:bldP spid="305175" grpId="0" animBg="1"/>
      <p:bldP spid="305176" grpId="0" animBg="1"/>
      <p:bldP spid="305177" grpId="0" animBg="1"/>
      <p:bldP spid="305178" grpId="0" animBg="1"/>
      <p:bldP spid="305179" grpId="0" animBg="1"/>
      <p:bldP spid="305180" grpId="0" animBg="1"/>
      <p:bldP spid="305181" grpId="0" animBg="1"/>
      <p:bldP spid="305182" grpId="0" animBg="1"/>
      <p:bldP spid="305183" grpId="0" animBg="1"/>
      <p:bldP spid="305184" grpId="0" animBg="1"/>
      <p:bldP spid="305186" grpId="0"/>
      <p:bldP spid="305187" grpId="0"/>
      <p:bldP spid="305190" grpId="0"/>
      <p:bldP spid="305191" grpId="0"/>
      <p:bldP spid="305192"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6178"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7.1</a:t>
            </a:r>
            <a:r>
              <a:rPr lang="zh-CN" altLang="en-US" sz="3000" dirty="0">
                <a:solidFill>
                  <a:schemeClr val="tx2"/>
                </a:solidFill>
                <a:latin typeface="Times New Roman" pitchFamily="18" charset="0"/>
              </a:rPr>
              <a:t>轴心受压构件正截面承载力的计算</a:t>
            </a:r>
            <a:r>
              <a:rPr lang="zh-CN" altLang="en-US" dirty="0">
                <a:solidFill>
                  <a:schemeClr val="tx2"/>
                </a:solidFill>
              </a:rPr>
              <a:t> </a:t>
            </a:r>
          </a:p>
        </p:txBody>
      </p:sp>
      <p:graphicFrame>
        <p:nvGraphicFramePr>
          <p:cNvPr id="306785" name="Group 609"/>
          <p:cNvGraphicFramePr>
            <a:graphicFrameLocks noGrp="1"/>
          </p:cNvGraphicFramePr>
          <p:nvPr>
            <p:ph idx="1"/>
            <p:extLst>
              <p:ext uri="{D42A27DB-BD31-4B8C-83A1-F6EECF244321}">
                <p14:modId xmlns:p14="http://schemas.microsoft.com/office/powerpoint/2010/main" val="4145209795"/>
              </p:ext>
            </p:extLst>
          </p:nvPr>
        </p:nvGraphicFramePr>
        <p:xfrm>
          <a:off x="611560" y="1448580"/>
          <a:ext cx="8071045" cy="4429472"/>
        </p:xfrm>
        <a:graphic>
          <a:graphicData uri="http://schemas.openxmlformats.org/drawingml/2006/table">
            <a:tbl>
              <a:tblPr/>
              <a:tblGrid>
                <a:gridCol w="672587">
                  <a:extLst>
                    <a:ext uri="{9D8B030D-6E8A-4147-A177-3AD203B41FA5}">
                      <a16:colId xmlns:a16="http://schemas.microsoft.com/office/drawing/2014/main" val="20000"/>
                    </a:ext>
                  </a:extLst>
                </a:gridCol>
                <a:gridCol w="672587">
                  <a:extLst>
                    <a:ext uri="{9D8B030D-6E8A-4147-A177-3AD203B41FA5}">
                      <a16:colId xmlns:a16="http://schemas.microsoft.com/office/drawing/2014/main" val="20001"/>
                    </a:ext>
                  </a:extLst>
                </a:gridCol>
                <a:gridCol w="672587">
                  <a:extLst>
                    <a:ext uri="{9D8B030D-6E8A-4147-A177-3AD203B41FA5}">
                      <a16:colId xmlns:a16="http://schemas.microsoft.com/office/drawing/2014/main" val="20002"/>
                    </a:ext>
                  </a:extLst>
                </a:gridCol>
                <a:gridCol w="697045">
                  <a:extLst>
                    <a:ext uri="{9D8B030D-6E8A-4147-A177-3AD203B41FA5}">
                      <a16:colId xmlns:a16="http://schemas.microsoft.com/office/drawing/2014/main" val="20003"/>
                    </a:ext>
                  </a:extLst>
                </a:gridCol>
                <a:gridCol w="648130">
                  <a:extLst>
                    <a:ext uri="{9D8B030D-6E8A-4147-A177-3AD203B41FA5}">
                      <a16:colId xmlns:a16="http://schemas.microsoft.com/office/drawing/2014/main" val="20004"/>
                    </a:ext>
                  </a:extLst>
                </a:gridCol>
                <a:gridCol w="672587">
                  <a:extLst>
                    <a:ext uri="{9D8B030D-6E8A-4147-A177-3AD203B41FA5}">
                      <a16:colId xmlns:a16="http://schemas.microsoft.com/office/drawing/2014/main" val="20005"/>
                    </a:ext>
                  </a:extLst>
                </a:gridCol>
                <a:gridCol w="672587">
                  <a:extLst>
                    <a:ext uri="{9D8B030D-6E8A-4147-A177-3AD203B41FA5}">
                      <a16:colId xmlns:a16="http://schemas.microsoft.com/office/drawing/2014/main" val="20006"/>
                    </a:ext>
                  </a:extLst>
                </a:gridCol>
                <a:gridCol w="672587">
                  <a:extLst>
                    <a:ext uri="{9D8B030D-6E8A-4147-A177-3AD203B41FA5}">
                      <a16:colId xmlns:a16="http://schemas.microsoft.com/office/drawing/2014/main" val="20007"/>
                    </a:ext>
                  </a:extLst>
                </a:gridCol>
                <a:gridCol w="672587">
                  <a:extLst>
                    <a:ext uri="{9D8B030D-6E8A-4147-A177-3AD203B41FA5}">
                      <a16:colId xmlns:a16="http://schemas.microsoft.com/office/drawing/2014/main" val="20008"/>
                    </a:ext>
                  </a:extLst>
                </a:gridCol>
                <a:gridCol w="672587">
                  <a:extLst>
                    <a:ext uri="{9D8B030D-6E8A-4147-A177-3AD203B41FA5}">
                      <a16:colId xmlns:a16="http://schemas.microsoft.com/office/drawing/2014/main" val="20009"/>
                    </a:ext>
                  </a:extLst>
                </a:gridCol>
                <a:gridCol w="672587">
                  <a:extLst>
                    <a:ext uri="{9D8B030D-6E8A-4147-A177-3AD203B41FA5}">
                      <a16:colId xmlns:a16="http://schemas.microsoft.com/office/drawing/2014/main" val="20010"/>
                    </a:ext>
                  </a:extLst>
                </a:gridCol>
                <a:gridCol w="672587">
                  <a:extLst>
                    <a:ext uri="{9D8B030D-6E8A-4147-A177-3AD203B41FA5}">
                      <a16:colId xmlns:a16="http://schemas.microsoft.com/office/drawing/2014/main" val="20011"/>
                    </a:ext>
                  </a:extLst>
                </a:gridCol>
              </a:tblGrid>
              <a:tr h="553684">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2000" b="1" i="1" u="none" strike="noStrike" cap="none" normalizeH="0" baseline="0">
                          <a:ln>
                            <a:noFill/>
                          </a:ln>
                          <a:solidFill>
                            <a:srgbClr val="0000FF"/>
                          </a:solidFill>
                          <a:effectLst/>
                          <a:latin typeface="Times New Roman" pitchFamily="18" charset="0"/>
                          <a:ea typeface="宋体" pitchFamily="2" charset="-122"/>
                        </a:rPr>
                        <a:t>l</a:t>
                      </a:r>
                      <a:r>
                        <a:rPr kumimoji="0" lang="en-US" altLang="zh-CN" sz="2000" b="1" i="0" u="none" strike="noStrike" cap="none" normalizeH="0" baseline="-25000">
                          <a:ln>
                            <a:noFill/>
                          </a:ln>
                          <a:solidFill>
                            <a:srgbClr val="0000FF"/>
                          </a:solidFill>
                          <a:effectLst/>
                          <a:latin typeface="Times New Roman" pitchFamily="18" charset="0"/>
                          <a:ea typeface="宋体" pitchFamily="2" charset="-122"/>
                        </a:rPr>
                        <a:t>0</a:t>
                      </a:r>
                      <a:r>
                        <a:rPr kumimoji="0" lang="en-US" altLang="zh-CN" sz="2000" b="1" i="0" u="none" strike="noStrike" cap="none" normalizeH="0" baseline="0">
                          <a:ln>
                            <a:noFill/>
                          </a:ln>
                          <a:solidFill>
                            <a:srgbClr val="0000FF"/>
                          </a:solidFill>
                          <a:effectLst/>
                          <a:latin typeface="Times New Roman" pitchFamily="18" charset="0"/>
                          <a:ea typeface="宋体" pitchFamily="2" charset="-122"/>
                        </a:rPr>
                        <a:t>/</a:t>
                      </a:r>
                      <a:r>
                        <a:rPr kumimoji="0" lang="en-US" altLang="zh-CN" sz="2000" b="1" i="1" u="none" strike="noStrike" cap="none" normalizeH="0" baseline="0">
                          <a:ln>
                            <a:noFill/>
                          </a:ln>
                          <a:solidFill>
                            <a:srgbClr val="0000FF"/>
                          </a:solidFill>
                          <a:effectLst/>
                          <a:latin typeface="Times New Roman" pitchFamily="18" charset="0"/>
                          <a:ea typeface="宋体" pitchFamily="2" charset="-122"/>
                        </a:rPr>
                        <a:t>b</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≤8</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16</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18</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20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22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24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26</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28</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53684">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2000" b="1" i="1" u="none" strike="noStrike" cap="none" normalizeH="0" baseline="0">
                          <a:ln>
                            <a:noFill/>
                          </a:ln>
                          <a:solidFill>
                            <a:srgbClr val="0000FF"/>
                          </a:solidFill>
                          <a:effectLst/>
                          <a:latin typeface="Times New Roman" pitchFamily="18" charset="0"/>
                          <a:ea typeface="宋体" pitchFamily="2" charset="-122"/>
                        </a:rPr>
                        <a:t>l</a:t>
                      </a:r>
                      <a:r>
                        <a:rPr kumimoji="0" lang="en-US" altLang="zh-CN" sz="2000" b="1" i="0" u="none" strike="noStrike" cap="none" normalizeH="0" baseline="-25000">
                          <a:ln>
                            <a:noFill/>
                          </a:ln>
                          <a:solidFill>
                            <a:srgbClr val="0000FF"/>
                          </a:solidFill>
                          <a:effectLst/>
                          <a:latin typeface="Times New Roman" pitchFamily="18" charset="0"/>
                          <a:ea typeface="宋体" pitchFamily="2" charset="-122"/>
                        </a:rPr>
                        <a:t>0</a:t>
                      </a:r>
                      <a:r>
                        <a:rPr kumimoji="0" lang="en-US" altLang="zh-CN" sz="2000" b="1" i="0" u="none" strike="noStrike" cap="none" normalizeH="0" baseline="0">
                          <a:ln>
                            <a:noFill/>
                          </a:ln>
                          <a:solidFill>
                            <a:srgbClr val="0000FF"/>
                          </a:solidFill>
                          <a:effectLst/>
                          <a:latin typeface="Times New Roman" pitchFamily="18" charset="0"/>
                          <a:ea typeface="宋体" pitchFamily="2" charset="-122"/>
                        </a:rPr>
                        <a:t>/</a:t>
                      </a:r>
                      <a:r>
                        <a:rPr kumimoji="0" lang="en-US" altLang="zh-CN" sz="2000" b="1" i="1" u="none" strike="noStrike" cap="none" normalizeH="0" baseline="0">
                          <a:ln>
                            <a:noFill/>
                          </a:ln>
                          <a:solidFill>
                            <a:srgbClr val="0000FF"/>
                          </a:solidFill>
                          <a:effectLst/>
                          <a:latin typeface="Times New Roman" pitchFamily="18" charset="0"/>
                          <a:ea typeface="宋体" pitchFamily="2" charset="-122"/>
                        </a:rPr>
                        <a:t>d</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≤7</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8.5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10.5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15.5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17</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19</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21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22.5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24</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53684">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2000" b="1" i="1" u="none" strike="noStrike" cap="none" normalizeH="0" baseline="0">
                          <a:ln>
                            <a:noFill/>
                          </a:ln>
                          <a:solidFill>
                            <a:srgbClr val="0000FF"/>
                          </a:solidFill>
                          <a:effectLst/>
                          <a:latin typeface="Times New Roman" pitchFamily="18" charset="0"/>
                          <a:ea typeface="宋体" pitchFamily="2" charset="-122"/>
                        </a:rPr>
                        <a:t>l</a:t>
                      </a:r>
                      <a:r>
                        <a:rPr kumimoji="0" lang="en-US" altLang="zh-CN" sz="2000" b="1" i="0" u="none" strike="noStrike" cap="none" normalizeH="0" baseline="-25000">
                          <a:ln>
                            <a:noFill/>
                          </a:ln>
                          <a:solidFill>
                            <a:srgbClr val="0000FF"/>
                          </a:solidFill>
                          <a:effectLst/>
                          <a:latin typeface="Times New Roman" pitchFamily="18" charset="0"/>
                          <a:ea typeface="宋体" pitchFamily="2" charset="-122"/>
                        </a:rPr>
                        <a:t>0</a:t>
                      </a:r>
                      <a:r>
                        <a:rPr kumimoji="0" lang="en-US" altLang="zh-CN" sz="2000" b="1" i="0" u="none" strike="noStrike" cap="none" normalizeH="0" baseline="0">
                          <a:ln>
                            <a:noFill/>
                          </a:ln>
                          <a:solidFill>
                            <a:srgbClr val="0000FF"/>
                          </a:solidFill>
                          <a:effectLst/>
                          <a:latin typeface="Times New Roman" pitchFamily="18" charset="0"/>
                          <a:ea typeface="宋体" pitchFamily="2" charset="-122"/>
                        </a:rPr>
                        <a:t>/</a:t>
                      </a:r>
                      <a:r>
                        <a:rPr kumimoji="0" lang="en-US" altLang="zh-CN" sz="2000" b="1" i="1" u="none" strike="noStrike" cap="none" normalizeH="0" baseline="0">
                          <a:ln>
                            <a:noFill/>
                          </a:ln>
                          <a:solidFill>
                            <a:srgbClr val="0000FF"/>
                          </a:solidFill>
                          <a:effectLst/>
                          <a:latin typeface="Times New Roman" pitchFamily="18" charset="0"/>
                          <a:ea typeface="宋体" pitchFamily="2" charset="-122"/>
                        </a:rPr>
                        <a:t>i</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≤28</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35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48</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55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62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69</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76</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83</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90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97</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53684">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l-GR" altLang="zh-CN" sz="2000" b="1" i="0" u="none" strike="noStrike" cap="none" normalizeH="0" baseline="0">
                          <a:ln>
                            <a:noFill/>
                          </a:ln>
                          <a:solidFill>
                            <a:srgbClr val="0000FF"/>
                          </a:solidFill>
                          <a:effectLst/>
                          <a:latin typeface="MingLiU" pitchFamily="49" charset="-120"/>
                          <a:ea typeface="MingLiU" pitchFamily="49" charset="-120"/>
                        </a:rPr>
                        <a:t>φ</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0.98</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0.95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0.92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0.87</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0.81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0.75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0.70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0.65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0.60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0.56</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53684">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2000" b="1" i="1" u="none" strike="noStrike" cap="none" normalizeH="0" baseline="0">
                          <a:ln>
                            <a:noFill/>
                          </a:ln>
                          <a:solidFill>
                            <a:srgbClr val="0000FF"/>
                          </a:solidFill>
                          <a:effectLst/>
                          <a:latin typeface="Times New Roman" pitchFamily="18" charset="0"/>
                          <a:ea typeface="宋体" pitchFamily="2" charset="-122"/>
                        </a:rPr>
                        <a:t>l</a:t>
                      </a:r>
                      <a:r>
                        <a:rPr kumimoji="0" lang="en-US" altLang="zh-CN" sz="2000" b="1" i="0" u="none" strike="noStrike" cap="none" normalizeH="0" baseline="-25000">
                          <a:ln>
                            <a:noFill/>
                          </a:ln>
                          <a:solidFill>
                            <a:srgbClr val="0000FF"/>
                          </a:solidFill>
                          <a:effectLst/>
                          <a:latin typeface="Times New Roman" pitchFamily="18" charset="0"/>
                          <a:ea typeface="宋体" pitchFamily="2" charset="-122"/>
                        </a:rPr>
                        <a:t>0</a:t>
                      </a:r>
                      <a:r>
                        <a:rPr kumimoji="0" lang="en-US" altLang="zh-CN" sz="2000" b="1" i="0" u="none" strike="noStrike" cap="none" normalizeH="0" baseline="0">
                          <a:ln>
                            <a:noFill/>
                          </a:ln>
                          <a:solidFill>
                            <a:srgbClr val="0000FF"/>
                          </a:solidFill>
                          <a:effectLst/>
                          <a:latin typeface="Times New Roman" pitchFamily="18" charset="0"/>
                          <a:ea typeface="宋体" pitchFamily="2" charset="-122"/>
                        </a:rPr>
                        <a:t>/</a:t>
                      </a:r>
                      <a:r>
                        <a:rPr kumimoji="0" lang="en-US" altLang="zh-CN" sz="2000" b="1" i="1" u="none" strike="noStrike" cap="none" normalizeH="0" baseline="0">
                          <a:ln>
                            <a:noFill/>
                          </a:ln>
                          <a:solidFill>
                            <a:srgbClr val="0000FF"/>
                          </a:solidFill>
                          <a:effectLst/>
                          <a:latin typeface="Times New Roman" pitchFamily="18" charset="0"/>
                          <a:ea typeface="宋体" pitchFamily="2" charset="-122"/>
                        </a:rPr>
                        <a:t>b</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30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32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34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36</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38</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46</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48</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50</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553684">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2000" b="1" i="1" u="none" strike="noStrike" cap="none" normalizeH="0" baseline="0">
                          <a:ln>
                            <a:noFill/>
                          </a:ln>
                          <a:solidFill>
                            <a:srgbClr val="0000FF"/>
                          </a:solidFill>
                          <a:effectLst/>
                          <a:latin typeface="Times New Roman" pitchFamily="18" charset="0"/>
                          <a:ea typeface="宋体" pitchFamily="2" charset="-122"/>
                        </a:rPr>
                        <a:t>l</a:t>
                      </a:r>
                      <a:r>
                        <a:rPr kumimoji="0" lang="en-US" altLang="zh-CN" sz="2000" b="1" i="0" u="none" strike="noStrike" cap="none" normalizeH="0" baseline="-25000">
                          <a:ln>
                            <a:noFill/>
                          </a:ln>
                          <a:solidFill>
                            <a:srgbClr val="0000FF"/>
                          </a:solidFill>
                          <a:effectLst/>
                          <a:latin typeface="Times New Roman" pitchFamily="18" charset="0"/>
                          <a:ea typeface="宋体" pitchFamily="2" charset="-122"/>
                        </a:rPr>
                        <a:t>0</a:t>
                      </a:r>
                      <a:r>
                        <a:rPr kumimoji="0" lang="en-US" altLang="zh-CN" sz="2000" b="1" i="0" u="none" strike="noStrike" cap="none" normalizeH="0" baseline="0">
                          <a:ln>
                            <a:noFill/>
                          </a:ln>
                          <a:solidFill>
                            <a:srgbClr val="0000FF"/>
                          </a:solidFill>
                          <a:effectLst/>
                          <a:latin typeface="Times New Roman" pitchFamily="18" charset="0"/>
                          <a:ea typeface="宋体" pitchFamily="2" charset="-122"/>
                        </a:rPr>
                        <a:t>/</a:t>
                      </a:r>
                      <a:r>
                        <a:rPr kumimoji="0" lang="en-US" altLang="zh-CN" sz="2000" b="1" i="1" u="none" strike="noStrike" cap="none" normalizeH="0" baseline="0">
                          <a:ln>
                            <a:noFill/>
                          </a:ln>
                          <a:solidFill>
                            <a:srgbClr val="0000FF"/>
                          </a:solidFill>
                          <a:effectLst/>
                          <a:latin typeface="Times New Roman" pitchFamily="18" charset="0"/>
                          <a:ea typeface="宋体" pitchFamily="2" charset="-122"/>
                        </a:rPr>
                        <a:t>d</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26</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28</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29.5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31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33</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34.5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36.5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38</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41.5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43</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553684">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2000" b="1" i="1" u="none" strike="noStrike" cap="none" normalizeH="0" baseline="0">
                          <a:ln>
                            <a:noFill/>
                          </a:ln>
                          <a:solidFill>
                            <a:srgbClr val="0000FF"/>
                          </a:solidFill>
                          <a:effectLst/>
                          <a:latin typeface="Times New Roman" pitchFamily="18" charset="0"/>
                          <a:ea typeface="宋体" pitchFamily="2" charset="-122"/>
                        </a:rPr>
                        <a:t>l</a:t>
                      </a:r>
                      <a:r>
                        <a:rPr kumimoji="0" lang="en-US" altLang="zh-CN" sz="2000" b="1" i="0" u="none" strike="noStrike" cap="none" normalizeH="0" baseline="-25000">
                          <a:ln>
                            <a:noFill/>
                          </a:ln>
                          <a:solidFill>
                            <a:srgbClr val="0000FF"/>
                          </a:solidFill>
                          <a:effectLst/>
                          <a:latin typeface="Times New Roman" pitchFamily="18" charset="0"/>
                          <a:ea typeface="宋体" pitchFamily="2" charset="-122"/>
                        </a:rPr>
                        <a:t>0</a:t>
                      </a:r>
                      <a:r>
                        <a:rPr kumimoji="0" lang="en-US" altLang="zh-CN" sz="2000" b="1" i="0" u="none" strike="noStrike" cap="none" normalizeH="0" baseline="0">
                          <a:ln>
                            <a:noFill/>
                          </a:ln>
                          <a:solidFill>
                            <a:srgbClr val="0000FF"/>
                          </a:solidFill>
                          <a:effectLst/>
                          <a:latin typeface="Times New Roman" pitchFamily="18" charset="0"/>
                          <a:ea typeface="宋体" pitchFamily="2" charset="-122"/>
                        </a:rPr>
                        <a:t>/</a:t>
                      </a:r>
                      <a:r>
                        <a:rPr kumimoji="0" lang="en-US" altLang="zh-CN" sz="2000" b="1" i="1" u="none" strike="noStrike" cap="none" normalizeH="0" baseline="0">
                          <a:ln>
                            <a:noFill/>
                          </a:ln>
                          <a:solidFill>
                            <a:srgbClr val="0000FF"/>
                          </a:solidFill>
                          <a:effectLst/>
                          <a:latin typeface="Times New Roman" pitchFamily="18" charset="0"/>
                          <a:ea typeface="宋体" pitchFamily="2" charset="-122"/>
                        </a:rPr>
                        <a:t>i</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104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111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118</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125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132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139</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146</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153</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160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167</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174</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53684">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l-GR" altLang="zh-CN" sz="2000" b="1" i="0" u="none" strike="noStrike" cap="none" normalizeH="0" baseline="0">
                          <a:ln>
                            <a:noFill/>
                          </a:ln>
                          <a:solidFill>
                            <a:srgbClr val="0000FF"/>
                          </a:solidFill>
                          <a:effectLst/>
                          <a:latin typeface="MingLiU" pitchFamily="49" charset="-120"/>
                          <a:ea typeface="MingLiU" pitchFamily="49" charset="-120"/>
                        </a:rPr>
                        <a:t>φ</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0.52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0.48</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0.44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0.40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0.36</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0.32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0.29</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0.26</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0.23</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0.21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rPr>
                        <a:t>0.19</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
        <p:nvSpPr>
          <p:cNvPr id="306784" name="Rectangle 608"/>
          <p:cNvSpPr>
            <a:spLocks noChangeArrowheads="1"/>
          </p:cNvSpPr>
          <p:nvPr/>
        </p:nvSpPr>
        <p:spPr bwMode="auto">
          <a:xfrm>
            <a:off x="2000250" y="1006475"/>
            <a:ext cx="5391150" cy="42068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660066"/>
                </a:solidFill>
              </a:rPr>
              <a:t>钢筋混凝土轴心受压构件的稳定系数</a:t>
            </a:r>
            <a:r>
              <a:rPr lang="el-GR" altLang="zh-CN">
                <a:solidFill>
                  <a:srgbClr val="660066"/>
                </a:solidFill>
                <a:latin typeface="MingLiU" pitchFamily="49" charset="-120"/>
                <a:ea typeface="MingLiU" pitchFamily="49" charset="-120"/>
              </a:rPr>
              <a:t>φ</a:t>
            </a:r>
            <a:endParaRPr lang="en-US" altLang="zh-CN">
              <a:solidFill>
                <a:srgbClr val="660066"/>
              </a:solidFill>
              <a:latin typeface="MingLiU" pitchFamily="49" charset="-120"/>
              <a:ea typeface="MingLiU" pitchFamily="49" charset="-120"/>
            </a:endParaRPr>
          </a:p>
        </p:txBody>
      </p:sp>
      <p:sp>
        <p:nvSpPr>
          <p:cNvPr id="2" name="文本框 1"/>
          <p:cNvSpPr txBox="1"/>
          <p:nvPr/>
        </p:nvSpPr>
        <p:spPr>
          <a:xfrm>
            <a:off x="797962" y="6093296"/>
            <a:ext cx="7795725" cy="369332"/>
          </a:xfrm>
          <a:prstGeom prst="rect">
            <a:avLst/>
          </a:prstGeom>
          <a:solidFill>
            <a:schemeClr val="bg1"/>
          </a:solidFill>
        </p:spPr>
        <p:txBody>
          <a:bodyPr wrap="none" rtlCol="0">
            <a:spAutoFit/>
          </a:bodyPr>
          <a:lstStyle/>
          <a:p>
            <a:r>
              <a:rPr lang="en-US" altLang="zh-CN" sz="2000" i="1" dirty="0"/>
              <a:t>b</a:t>
            </a:r>
            <a:r>
              <a:rPr lang="zh-CN" altLang="en-US" sz="2000" dirty="0"/>
              <a:t>为矩形截面短边尺寸，</a:t>
            </a:r>
            <a:r>
              <a:rPr lang="en-US" altLang="zh-CN" sz="2000" i="1" dirty="0"/>
              <a:t>d</a:t>
            </a:r>
            <a:r>
              <a:rPr lang="zh-CN" altLang="en-US" sz="2000" dirty="0"/>
              <a:t>为圆形截面直径，</a:t>
            </a:r>
            <a:r>
              <a:rPr lang="en-US" altLang="zh-CN" sz="2000" i="1" dirty="0" err="1"/>
              <a:t>i</a:t>
            </a:r>
            <a:r>
              <a:rPr lang="zh-CN" altLang="en-US" sz="2000" dirty="0"/>
              <a:t>为截面的最小回转半径</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7.1</a:t>
            </a:r>
            <a:r>
              <a:rPr lang="zh-CN" altLang="en-US" sz="3000" dirty="0">
                <a:solidFill>
                  <a:schemeClr val="tx2"/>
                </a:solidFill>
                <a:latin typeface="Times New Roman" pitchFamily="18" charset="0"/>
              </a:rPr>
              <a:t>轴心受压构件正截面承载力的计算</a:t>
            </a:r>
            <a:r>
              <a:rPr lang="zh-CN" altLang="en-US" dirty="0">
                <a:solidFill>
                  <a:schemeClr val="tx2"/>
                </a:solidFill>
              </a:rPr>
              <a:t> </a:t>
            </a:r>
          </a:p>
        </p:txBody>
      </p:sp>
      <p:sp>
        <p:nvSpPr>
          <p:cNvPr id="309251" name="Rectangle 3"/>
          <p:cNvSpPr>
            <a:spLocks noChangeArrowheads="1"/>
          </p:cNvSpPr>
          <p:nvPr/>
        </p:nvSpPr>
        <p:spPr bwMode="auto">
          <a:xfrm>
            <a:off x="611188" y="1169988"/>
            <a:ext cx="6246812" cy="5349157"/>
          </a:xfrm>
          <a:prstGeom prst="rect">
            <a:avLst/>
          </a:prstGeom>
          <a:solidFill>
            <a:schemeClr val="bg1"/>
          </a:solidFill>
          <a:ln>
            <a:noFill/>
          </a:ln>
          <a:effectLst/>
          <a:extLst/>
        </p:spPr>
        <p:txBody>
          <a:bodyPr>
            <a:spAutoFit/>
          </a:bodyPr>
          <a:lstStyle/>
          <a:p>
            <a:pPr algn="l">
              <a:lnSpc>
                <a:spcPct val="100000"/>
              </a:lnSpc>
              <a:spcBef>
                <a:spcPct val="40000"/>
              </a:spcBef>
              <a:buClrTx/>
              <a:buFontTx/>
              <a:buNone/>
            </a:pPr>
            <a:r>
              <a:rPr lang="en-US" altLang="zh-CN" dirty="0">
                <a:solidFill>
                  <a:srgbClr val="990099"/>
                </a:solidFill>
                <a:cs typeface="Times New Roman" panose="02020603050405020304" pitchFamily="18" charset="0"/>
              </a:rPr>
              <a:t>4.</a:t>
            </a:r>
            <a:r>
              <a:rPr lang="zh-CN" altLang="en-US" dirty="0">
                <a:solidFill>
                  <a:srgbClr val="990099"/>
                </a:solidFill>
                <a:cs typeface="Times New Roman" panose="02020603050405020304" pitchFamily="18" charset="0"/>
              </a:rPr>
              <a:t>承载力计算公式</a:t>
            </a:r>
          </a:p>
          <a:p>
            <a:pPr algn="l">
              <a:lnSpc>
                <a:spcPct val="100000"/>
              </a:lnSpc>
              <a:spcBef>
                <a:spcPct val="40000"/>
              </a:spcBef>
              <a:buClrTx/>
              <a:buFontTx/>
              <a:buNone/>
            </a:pPr>
            <a:endParaRPr lang="zh-CN" altLang="en-US" dirty="0">
              <a:solidFill>
                <a:srgbClr val="990099"/>
              </a:solidFill>
              <a:cs typeface="Times New Roman" panose="02020603050405020304" pitchFamily="18" charset="0"/>
            </a:endParaRPr>
          </a:p>
          <a:p>
            <a:pPr algn="l">
              <a:lnSpc>
                <a:spcPct val="100000"/>
              </a:lnSpc>
              <a:spcBef>
                <a:spcPct val="40000"/>
              </a:spcBef>
              <a:buClrTx/>
              <a:buFontTx/>
              <a:buNone/>
            </a:pPr>
            <a:r>
              <a:rPr lang="en-US" altLang="zh-CN" sz="2000" i="1" dirty="0">
                <a:solidFill>
                  <a:schemeClr val="tx2"/>
                </a:solidFill>
                <a:cs typeface="Times New Roman" panose="02020603050405020304" pitchFamily="18" charset="0"/>
              </a:rPr>
              <a:t>N</a:t>
            </a:r>
            <a:r>
              <a:rPr lang="zh-CN" altLang="en-US" sz="2000" dirty="0">
                <a:solidFill>
                  <a:schemeClr val="tx2"/>
                </a:solidFill>
                <a:cs typeface="Times New Roman" panose="02020603050405020304" pitchFamily="18" charset="0"/>
              </a:rPr>
              <a:t>：</a:t>
            </a:r>
            <a:r>
              <a:rPr lang="zh-CN" altLang="en-US" sz="2000" dirty="0">
                <a:solidFill>
                  <a:schemeClr val="tx1"/>
                </a:solidFill>
                <a:cs typeface="Times New Roman" panose="02020603050405020304" pitchFamily="18" charset="0"/>
              </a:rPr>
              <a:t>轴向压力设计值；</a:t>
            </a:r>
          </a:p>
          <a:p>
            <a:pPr algn="l">
              <a:lnSpc>
                <a:spcPct val="100000"/>
              </a:lnSpc>
              <a:spcBef>
                <a:spcPct val="40000"/>
              </a:spcBef>
              <a:buClrTx/>
              <a:buFontTx/>
              <a:buNone/>
            </a:pPr>
            <a:r>
              <a:rPr lang="en-US" altLang="zh-CN" sz="2000" i="1" dirty="0">
                <a:solidFill>
                  <a:schemeClr val="tx2"/>
                </a:solidFill>
                <a:cs typeface="Times New Roman" panose="02020603050405020304" pitchFamily="18" charset="0"/>
              </a:rPr>
              <a:t>N</a:t>
            </a:r>
            <a:r>
              <a:rPr lang="en-US" altLang="zh-CN" sz="2000" baseline="-25000" dirty="0">
                <a:solidFill>
                  <a:schemeClr val="tx2"/>
                </a:solidFill>
                <a:cs typeface="Times New Roman" panose="02020603050405020304" pitchFamily="18" charset="0"/>
              </a:rPr>
              <a:t>u</a:t>
            </a:r>
            <a:r>
              <a:rPr lang="zh-CN" altLang="en-US" sz="2000" dirty="0">
                <a:solidFill>
                  <a:schemeClr val="tx2"/>
                </a:solidFill>
                <a:cs typeface="Times New Roman" panose="02020603050405020304" pitchFamily="18" charset="0"/>
              </a:rPr>
              <a:t>：</a:t>
            </a:r>
            <a:r>
              <a:rPr lang="zh-CN" altLang="en-US" sz="2000" dirty="0">
                <a:solidFill>
                  <a:schemeClr val="tx1"/>
                </a:solidFill>
                <a:cs typeface="Times New Roman" panose="02020603050405020304" pitchFamily="18" charset="0"/>
              </a:rPr>
              <a:t>正截面受压承载力设计值；</a:t>
            </a:r>
          </a:p>
          <a:p>
            <a:pPr algn="l">
              <a:lnSpc>
                <a:spcPct val="100000"/>
              </a:lnSpc>
              <a:spcBef>
                <a:spcPct val="40000"/>
              </a:spcBef>
              <a:buClrTx/>
              <a:buFontTx/>
              <a:buNone/>
            </a:pPr>
            <a:r>
              <a:rPr lang="en-US" altLang="zh-CN" sz="2000" dirty="0">
                <a:solidFill>
                  <a:schemeClr val="tx2"/>
                </a:solidFill>
                <a:cs typeface="Times New Roman" panose="02020603050405020304" pitchFamily="18" charset="0"/>
              </a:rPr>
              <a:t>0.9</a:t>
            </a:r>
            <a:r>
              <a:rPr lang="zh-CN" altLang="en-US" sz="2000" dirty="0">
                <a:solidFill>
                  <a:schemeClr val="tx2"/>
                </a:solidFill>
                <a:cs typeface="Times New Roman" panose="02020603050405020304" pitchFamily="18" charset="0"/>
              </a:rPr>
              <a:t>：</a:t>
            </a:r>
            <a:r>
              <a:rPr lang="zh-CN" altLang="en-US" sz="2000" dirty="0">
                <a:solidFill>
                  <a:schemeClr val="tx1"/>
                </a:solidFill>
                <a:cs typeface="Times New Roman" panose="02020603050405020304" pitchFamily="18" charset="0"/>
              </a:rPr>
              <a:t>为保持与偏心受压构件正截面承载力具有相近可靠度而采用的系数；</a:t>
            </a:r>
          </a:p>
          <a:p>
            <a:pPr algn="l">
              <a:lnSpc>
                <a:spcPct val="100000"/>
              </a:lnSpc>
              <a:spcBef>
                <a:spcPct val="40000"/>
              </a:spcBef>
              <a:buClrTx/>
              <a:buFontTx/>
              <a:buNone/>
            </a:pPr>
            <a:r>
              <a:rPr lang="en-US" altLang="zh-CN" sz="2000" i="1" dirty="0">
                <a:solidFill>
                  <a:schemeClr val="tx2"/>
                </a:solidFill>
                <a:cs typeface="Times New Roman" panose="02020603050405020304" pitchFamily="18" charset="0"/>
              </a:rPr>
              <a:t>f</a:t>
            </a:r>
            <a:r>
              <a:rPr lang="en-US" altLang="zh-CN" sz="2000" baseline="-25000" dirty="0">
                <a:solidFill>
                  <a:schemeClr val="tx2"/>
                </a:solidFill>
                <a:cs typeface="Times New Roman" panose="02020603050405020304" pitchFamily="18" charset="0"/>
              </a:rPr>
              <a:t>c</a:t>
            </a:r>
            <a:r>
              <a:rPr lang="zh-CN" altLang="en-US" sz="2000" dirty="0">
                <a:solidFill>
                  <a:schemeClr val="tx2"/>
                </a:solidFill>
                <a:cs typeface="Times New Roman" panose="02020603050405020304" pitchFamily="18" charset="0"/>
              </a:rPr>
              <a:t>：</a:t>
            </a:r>
            <a:r>
              <a:rPr lang="zh-CN" altLang="en-US" sz="2000" dirty="0">
                <a:solidFill>
                  <a:schemeClr val="tx1"/>
                </a:solidFill>
                <a:cs typeface="Times New Roman" panose="02020603050405020304" pitchFamily="18" charset="0"/>
              </a:rPr>
              <a:t>混凝土轴心受压强度设计值，对现浇柱，当截面边长或直径小于</a:t>
            </a:r>
            <a:r>
              <a:rPr lang="en-US" altLang="zh-CN" sz="2000" dirty="0">
                <a:solidFill>
                  <a:schemeClr val="tx1"/>
                </a:solidFill>
                <a:cs typeface="Times New Roman" panose="02020603050405020304" pitchFamily="18" charset="0"/>
              </a:rPr>
              <a:t>300mm</a:t>
            </a:r>
            <a:r>
              <a:rPr lang="zh-CN" altLang="en-US" sz="2000" dirty="0">
                <a:solidFill>
                  <a:schemeClr val="tx1"/>
                </a:solidFill>
                <a:cs typeface="Times New Roman" panose="02020603050405020304" pitchFamily="18" charset="0"/>
              </a:rPr>
              <a:t>时，应乘以系数</a:t>
            </a:r>
            <a:r>
              <a:rPr lang="en-US" altLang="zh-CN" sz="2000" dirty="0">
                <a:solidFill>
                  <a:schemeClr val="tx1"/>
                </a:solidFill>
                <a:cs typeface="Times New Roman" panose="02020603050405020304" pitchFamily="18" charset="0"/>
              </a:rPr>
              <a:t>0.8</a:t>
            </a:r>
            <a:r>
              <a:rPr lang="zh-CN" altLang="en-US" sz="2000" dirty="0">
                <a:solidFill>
                  <a:schemeClr val="tx1"/>
                </a:solidFill>
                <a:cs typeface="Times New Roman" panose="02020603050405020304" pitchFamily="18" charset="0"/>
              </a:rPr>
              <a:t>；</a:t>
            </a:r>
          </a:p>
          <a:p>
            <a:pPr algn="l">
              <a:lnSpc>
                <a:spcPct val="100000"/>
              </a:lnSpc>
              <a:spcBef>
                <a:spcPct val="40000"/>
              </a:spcBef>
              <a:buClrTx/>
              <a:buFontTx/>
              <a:buNone/>
            </a:pPr>
            <a:r>
              <a:rPr lang="en-US" altLang="zh-CN" sz="2000" i="1" dirty="0">
                <a:solidFill>
                  <a:schemeClr val="tx2"/>
                </a:solidFill>
                <a:cs typeface="Times New Roman" panose="02020603050405020304" pitchFamily="18" charset="0"/>
              </a:rPr>
              <a:t>A</a:t>
            </a:r>
            <a:r>
              <a:rPr lang="zh-CN" altLang="en-US" sz="2000" dirty="0">
                <a:solidFill>
                  <a:schemeClr val="tx2"/>
                </a:solidFill>
                <a:cs typeface="Times New Roman" panose="02020603050405020304" pitchFamily="18" charset="0"/>
              </a:rPr>
              <a:t>：</a:t>
            </a:r>
            <a:r>
              <a:rPr lang="zh-CN" altLang="en-US" sz="2000" dirty="0">
                <a:solidFill>
                  <a:schemeClr val="tx1"/>
                </a:solidFill>
                <a:cs typeface="Times New Roman" panose="02020603050405020304" pitchFamily="18" charset="0"/>
              </a:rPr>
              <a:t>构件截面面积，</a:t>
            </a:r>
            <a:r>
              <a:rPr lang="zh-CN" altLang="en-US" sz="2000" dirty="0">
                <a:solidFill>
                  <a:srgbClr val="FF0000"/>
                </a:solidFill>
                <a:cs typeface="Times New Roman" panose="02020603050405020304" pitchFamily="18" charset="0"/>
              </a:rPr>
              <a:t>当纵筋配筋率≥</a:t>
            </a:r>
            <a:r>
              <a:rPr lang="en-US" altLang="zh-CN" sz="2000" dirty="0">
                <a:solidFill>
                  <a:srgbClr val="FF0000"/>
                </a:solidFill>
                <a:cs typeface="Times New Roman" panose="02020603050405020304" pitchFamily="18" charset="0"/>
              </a:rPr>
              <a:t>3%</a:t>
            </a:r>
            <a:r>
              <a:rPr lang="zh-CN" altLang="en-US" sz="2000" dirty="0">
                <a:solidFill>
                  <a:srgbClr val="FF0000"/>
                </a:solidFill>
                <a:cs typeface="Times New Roman" panose="02020603050405020304" pitchFamily="18" charset="0"/>
              </a:rPr>
              <a:t>时，用</a:t>
            </a:r>
            <a:r>
              <a:rPr lang="en-US" altLang="zh-CN" sz="2000" i="1" dirty="0">
                <a:solidFill>
                  <a:srgbClr val="FF0000"/>
                </a:solidFill>
                <a:cs typeface="Times New Roman" panose="02020603050405020304" pitchFamily="18" charset="0"/>
              </a:rPr>
              <a:t>A</a:t>
            </a:r>
            <a:r>
              <a:rPr lang="en-US" altLang="zh-CN" sz="2000" baseline="-25000" dirty="0">
                <a:solidFill>
                  <a:srgbClr val="FF0000"/>
                </a:solidFill>
                <a:cs typeface="Times New Roman" panose="02020603050405020304" pitchFamily="18" charset="0"/>
              </a:rPr>
              <a:t>c</a:t>
            </a:r>
            <a:r>
              <a:rPr lang="zh-CN" altLang="en-US" sz="2000" dirty="0">
                <a:solidFill>
                  <a:srgbClr val="FF0000"/>
                </a:solidFill>
                <a:cs typeface="Times New Roman" panose="02020603050405020304" pitchFamily="18" charset="0"/>
              </a:rPr>
              <a:t>＝</a:t>
            </a:r>
            <a:r>
              <a:rPr lang="en-US" altLang="zh-CN" sz="2000" i="1" dirty="0">
                <a:solidFill>
                  <a:srgbClr val="FF0000"/>
                </a:solidFill>
                <a:cs typeface="Times New Roman" panose="02020603050405020304" pitchFamily="18" charset="0"/>
              </a:rPr>
              <a:t>A</a:t>
            </a:r>
            <a:r>
              <a:rPr lang="zh-CN" altLang="en-US" sz="2000" dirty="0">
                <a:solidFill>
                  <a:srgbClr val="FF0000"/>
                </a:solidFill>
                <a:cs typeface="Times New Roman" panose="02020603050405020304" pitchFamily="18" charset="0"/>
              </a:rPr>
              <a:t>－</a:t>
            </a:r>
            <a:r>
              <a:rPr lang="en-US" altLang="zh-CN" sz="2000" i="1" dirty="0">
                <a:solidFill>
                  <a:srgbClr val="FF0000"/>
                </a:solidFill>
                <a:cs typeface="Times New Roman" panose="02020603050405020304" pitchFamily="18" charset="0"/>
              </a:rPr>
              <a:t> A</a:t>
            </a:r>
            <a:r>
              <a:rPr lang="en-US" altLang="zh-CN" sz="2000" i="1" baseline="-25000" dirty="0">
                <a:solidFill>
                  <a:srgbClr val="FF0000"/>
                </a:solidFill>
                <a:cs typeface="Times New Roman" panose="02020603050405020304" pitchFamily="18" charset="0"/>
              </a:rPr>
              <a:t>s</a:t>
            </a:r>
            <a:r>
              <a:rPr lang="en-US" altLang="zh-CN" sz="2000" i="1" baseline="30000" dirty="0">
                <a:solidFill>
                  <a:srgbClr val="FF0000"/>
                </a:solidFill>
                <a:cs typeface="Times New Roman" panose="02020603050405020304" pitchFamily="18" charset="0"/>
              </a:rPr>
              <a:t>’ </a:t>
            </a:r>
            <a:r>
              <a:rPr lang="zh-CN" altLang="en-US" sz="2000" dirty="0">
                <a:solidFill>
                  <a:srgbClr val="FF0000"/>
                </a:solidFill>
                <a:cs typeface="Times New Roman" panose="02020603050405020304" pitchFamily="18" charset="0"/>
              </a:rPr>
              <a:t>代替</a:t>
            </a:r>
            <a:endParaRPr lang="en-US" altLang="zh-CN" sz="2000" dirty="0">
              <a:solidFill>
                <a:srgbClr val="FF0000"/>
              </a:solidFill>
              <a:cs typeface="Times New Roman" panose="02020603050405020304" pitchFamily="18" charset="0"/>
            </a:endParaRPr>
          </a:p>
          <a:p>
            <a:pPr algn="l">
              <a:lnSpc>
                <a:spcPct val="100000"/>
              </a:lnSpc>
              <a:spcBef>
                <a:spcPct val="40000"/>
              </a:spcBef>
              <a:buClrTx/>
              <a:buFontTx/>
              <a:buNone/>
            </a:pPr>
            <a:r>
              <a:rPr lang="en-US" altLang="zh-CN" sz="2000" i="1" dirty="0" err="1">
                <a:solidFill>
                  <a:schemeClr val="tx2"/>
                </a:solidFill>
                <a:cs typeface="Times New Roman" panose="02020603050405020304" pitchFamily="18" charset="0"/>
              </a:rPr>
              <a:t>f</a:t>
            </a:r>
            <a:r>
              <a:rPr lang="en-US" altLang="zh-CN" sz="2000" baseline="-25000" dirty="0" err="1">
                <a:solidFill>
                  <a:schemeClr val="tx2"/>
                </a:solidFill>
                <a:cs typeface="Times New Roman" panose="02020603050405020304" pitchFamily="18" charset="0"/>
              </a:rPr>
              <a:t>y</a:t>
            </a:r>
            <a:r>
              <a:rPr lang="en-US" altLang="zh-CN" sz="2000" baseline="30000" dirty="0">
                <a:solidFill>
                  <a:schemeClr val="tx2"/>
                </a:solidFill>
                <a:cs typeface="Times New Roman" panose="02020603050405020304" pitchFamily="18" charset="0"/>
              </a:rPr>
              <a:t>’</a:t>
            </a:r>
            <a:r>
              <a:rPr lang="zh-CN" altLang="en-US" sz="2000" dirty="0">
                <a:solidFill>
                  <a:schemeClr val="tx2"/>
                </a:solidFill>
                <a:cs typeface="Times New Roman" panose="02020603050405020304" pitchFamily="18" charset="0"/>
              </a:rPr>
              <a:t>：</a:t>
            </a:r>
            <a:r>
              <a:rPr lang="zh-CN" altLang="en-US" sz="2000" dirty="0">
                <a:solidFill>
                  <a:schemeClr val="tx1"/>
                </a:solidFill>
                <a:cs typeface="Times New Roman" panose="02020603050405020304" pitchFamily="18" charset="0"/>
              </a:rPr>
              <a:t>纵向钢筋的抗压强度设计值；</a:t>
            </a:r>
          </a:p>
          <a:p>
            <a:pPr algn="l">
              <a:lnSpc>
                <a:spcPct val="100000"/>
              </a:lnSpc>
              <a:spcBef>
                <a:spcPct val="40000"/>
              </a:spcBef>
              <a:buClrTx/>
              <a:buFontTx/>
              <a:buNone/>
            </a:pPr>
            <a:r>
              <a:rPr lang="en-US" altLang="zh-CN" sz="2000" i="1" dirty="0">
                <a:solidFill>
                  <a:schemeClr val="tx2"/>
                </a:solidFill>
                <a:cs typeface="Times New Roman" panose="02020603050405020304" pitchFamily="18" charset="0"/>
              </a:rPr>
              <a:t>A</a:t>
            </a:r>
            <a:r>
              <a:rPr lang="en-US" altLang="zh-CN" sz="2000" baseline="-25000" dirty="0">
                <a:solidFill>
                  <a:schemeClr val="tx2"/>
                </a:solidFill>
                <a:cs typeface="Times New Roman" panose="02020603050405020304" pitchFamily="18" charset="0"/>
              </a:rPr>
              <a:t>s</a:t>
            </a:r>
            <a:r>
              <a:rPr lang="en-US" altLang="zh-CN" sz="2000" baseline="30000" dirty="0">
                <a:solidFill>
                  <a:schemeClr val="tx2"/>
                </a:solidFill>
                <a:cs typeface="Times New Roman" panose="02020603050405020304" pitchFamily="18" charset="0"/>
              </a:rPr>
              <a:t>’</a:t>
            </a:r>
            <a:r>
              <a:rPr lang="zh-CN" altLang="en-US" sz="2000" dirty="0">
                <a:solidFill>
                  <a:schemeClr val="tx2"/>
                </a:solidFill>
                <a:cs typeface="Times New Roman" panose="02020603050405020304" pitchFamily="18" charset="0"/>
              </a:rPr>
              <a:t>：</a:t>
            </a:r>
            <a:r>
              <a:rPr lang="zh-CN" altLang="en-US" sz="2000" dirty="0">
                <a:solidFill>
                  <a:schemeClr val="tx1"/>
                </a:solidFill>
                <a:cs typeface="Times New Roman" panose="02020603050405020304" pitchFamily="18" charset="0"/>
              </a:rPr>
              <a:t>全部纵向钢筋的截面面积，</a:t>
            </a:r>
            <a:r>
              <a:rPr lang="zh-CN" altLang="en-US" sz="2000" dirty="0">
                <a:solidFill>
                  <a:srgbClr val="FF0000"/>
                </a:solidFill>
                <a:cs typeface="Times New Roman" panose="02020603050405020304" pitchFamily="18" charset="0"/>
              </a:rPr>
              <a:t>纵向配筋率不超过</a:t>
            </a:r>
            <a:r>
              <a:rPr lang="en-US" altLang="zh-CN" sz="2000" dirty="0">
                <a:solidFill>
                  <a:srgbClr val="FF0000"/>
                </a:solidFill>
                <a:cs typeface="Times New Roman" panose="02020603050405020304" pitchFamily="18" charset="0"/>
              </a:rPr>
              <a:t>5</a:t>
            </a:r>
            <a:r>
              <a:rPr lang="zh-CN" altLang="en-US" sz="2000" dirty="0">
                <a:solidFill>
                  <a:srgbClr val="FF0000"/>
                </a:solidFill>
                <a:cs typeface="Times New Roman" panose="02020603050405020304" pitchFamily="18" charset="0"/>
              </a:rPr>
              <a:t>％</a:t>
            </a:r>
            <a:r>
              <a:rPr lang="zh-CN" altLang="en-US" sz="2000" dirty="0">
                <a:solidFill>
                  <a:schemeClr val="tx1"/>
                </a:solidFill>
                <a:cs typeface="Times New Roman" panose="02020603050405020304" pitchFamily="18" charset="0"/>
              </a:rPr>
              <a:t>；</a:t>
            </a:r>
            <a:endParaRPr lang="en-US" altLang="zh-CN" sz="2000" dirty="0">
              <a:solidFill>
                <a:schemeClr val="tx1"/>
              </a:solidFill>
              <a:cs typeface="Times New Roman" panose="02020603050405020304" pitchFamily="18" charset="0"/>
            </a:endParaRPr>
          </a:p>
          <a:p>
            <a:pPr algn="l">
              <a:lnSpc>
                <a:spcPct val="100000"/>
              </a:lnSpc>
              <a:spcBef>
                <a:spcPct val="40000"/>
              </a:spcBef>
              <a:buClrTx/>
            </a:pPr>
            <a:r>
              <a:rPr lang="el-GR" altLang="zh-CN" sz="2000" i="1" dirty="0">
                <a:solidFill>
                  <a:schemeClr val="tx2"/>
                </a:solidFill>
                <a:cs typeface="Times New Roman" panose="02020603050405020304" pitchFamily="18" charset="0"/>
              </a:rPr>
              <a:t>φ</a:t>
            </a:r>
            <a:r>
              <a:rPr lang="el-GR" altLang="zh-CN" sz="2000" dirty="0">
                <a:cs typeface="Times New Roman" panose="02020603050405020304" pitchFamily="18" charset="0"/>
              </a:rPr>
              <a:t> </a:t>
            </a:r>
            <a:r>
              <a:rPr lang="zh-CN" altLang="en-US" sz="2000" dirty="0">
                <a:solidFill>
                  <a:schemeClr val="tx2"/>
                </a:solidFill>
                <a:cs typeface="Times New Roman" panose="02020603050405020304" pitchFamily="18" charset="0"/>
              </a:rPr>
              <a:t>：</a:t>
            </a:r>
            <a:r>
              <a:rPr lang="zh-CN" altLang="en-US" sz="2000" dirty="0">
                <a:solidFill>
                  <a:schemeClr val="tx1"/>
                </a:solidFill>
                <a:cs typeface="Times New Roman" panose="02020603050405020304" pitchFamily="18" charset="0"/>
              </a:rPr>
              <a:t>稳定系数，注意柱计算长度的选取，短柱取</a:t>
            </a:r>
            <a:r>
              <a:rPr lang="en-US" altLang="zh-CN" sz="2000" dirty="0">
                <a:solidFill>
                  <a:schemeClr val="tx1"/>
                </a:solidFill>
                <a:cs typeface="Times New Roman" panose="02020603050405020304" pitchFamily="18" charset="0"/>
              </a:rPr>
              <a:t>1</a:t>
            </a:r>
            <a:r>
              <a:rPr lang="zh-CN" altLang="en-US" sz="2000" dirty="0">
                <a:solidFill>
                  <a:schemeClr val="tx1"/>
                </a:solidFill>
                <a:cs typeface="Times New Roman" panose="02020603050405020304" pitchFamily="18" charset="0"/>
              </a:rPr>
              <a:t>。</a:t>
            </a:r>
          </a:p>
        </p:txBody>
      </p:sp>
      <p:graphicFrame>
        <p:nvGraphicFramePr>
          <p:cNvPr id="309278" name="Object 30"/>
          <p:cNvGraphicFramePr>
            <a:graphicFrameLocks noGrp="1" noChangeAspect="1"/>
          </p:cNvGraphicFramePr>
          <p:nvPr>
            <p:ph sz="half" idx="2"/>
          </p:nvPr>
        </p:nvGraphicFramePr>
        <p:xfrm>
          <a:off x="1143000" y="1687513"/>
          <a:ext cx="2971800" cy="446087"/>
        </p:xfrm>
        <a:graphic>
          <a:graphicData uri="http://schemas.openxmlformats.org/presentationml/2006/ole">
            <mc:AlternateContent xmlns:mc="http://schemas.openxmlformats.org/markup-compatibility/2006">
              <mc:Choice xmlns:v="urn:schemas-microsoft-com:vml" Requires="v">
                <p:oleObj spid="_x0000_s309395" name="Equation" r:id="rId3" imgW="2234160" imgH="330120" progId="">
                  <p:embed/>
                </p:oleObj>
              </mc:Choice>
              <mc:Fallback>
                <p:oleObj name="Equation" r:id="rId3" imgW="2234160" imgH="330120" progId="">
                  <p:embed/>
                  <p:pic>
                    <p:nvPicPr>
                      <p:cNvPr id="0" name="Picture 98"/>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687513"/>
                        <a:ext cx="2971800" cy="446087"/>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09281" name="Picture 33" descr="gj0708"/>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8401" r="6801"/>
          <a:stretch>
            <a:fillRect/>
          </a:stretch>
        </p:blipFill>
        <p:spPr bwMode="auto">
          <a:xfrm>
            <a:off x="6858000" y="1371600"/>
            <a:ext cx="2286000" cy="39322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7.1</a:t>
            </a:r>
            <a:r>
              <a:rPr lang="zh-CN" altLang="en-US" sz="3000" dirty="0">
                <a:solidFill>
                  <a:schemeClr val="tx2"/>
                </a:solidFill>
                <a:latin typeface="Times New Roman" pitchFamily="18" charset="0"/>
              </a:rPr>
              <a:t>轴心受压构件正截面承载力的计算</a:t>
            </a:r>
            <a:r>
              <a:rPr lang="zh-CN" altLang="en-US" dirty="0">
                <a:solidFill>
                  <a:schemeClr val="tx2"/>
                </a:solidFill>
              </a:rPr>
              <a:t> </a:t>
            </a:r>
          </a:p>
        </p:txBody>
      </p:sp>
      <p:sp>
        <p:nvSpPr>
          <p:cNvPr id="309251" name="Rectangle 3"/>
          <p:cNvSpPr>
            <a:spLocks noChangeArrowheads="1"/>
          </p:cNvSpPr>
          <p:nvPr/>
        </p:nvSpPr>
        <p:spPr bwMode="auto">
          <a:xfrm>
            <a:off x="611188" y="1169988"/>
            <a:ext cx="6246812" cy="4425827"/>
          </a:xfrm>
          <a:prstGeom prst="rect">
            <a:avLst/>
          </a:prstGeom>
          <a:solidFill>
            <a:schemeClr val="bg1"/>
          </a:solidFill>
          <a:ln>
            <a:noFill/>
          </a:ln>
          <a:effectLst/>
          <a:extLst/>
        </p:spPr>
        <p:txBody>
          <a:bodyPr>
            <a:spAutoFit/>
          </a:bodyPr>
          <a:lstStyle/>
          <a:p>
            <a:pPr algn="l">
              <a:lnSpc>
                <a:spcPct val="100000"/>
              </a:lnSpc>
              <a:spcBef>
                <a:spcPct val="40000"/>
              </a:spcBef>
              <a:buClrTx/>
              <a:buFontTx/>
              <a:buNone/>
            </a:pPr>
            <a:r>
              <a:rPr lang="en-US" altLang="zh-CN" dirty="0">
                <a:solidFill>
                  <a:srgbClr val="990099"/>
                </a:solidFill>
                <a:cs typeface="Times New Roman" panose="02020603050405020304" pitchFamily="18" charset="0"/>
              </a:rPr>
              <a:t>4.</a:t>
            </a:r>
            <a:r>
              <a:rPr lang="zh-CN" altLang="en-US" dirty="0">
                <a:solidFill>
                  <a:srgbClr val="990099"/>
                </a:solidFill>
                <a:cs typeface="Times New Roman" panose="02020603050405020304" pitchFamily="18" charset="0"/>
              </a:rPr>
              <a:t>承载力计算公式</a:t>
            </a:r>
          </a:p>
          <a:p>
            <a:pPr algn="l">
              <a:lnSpc>
                <a:spcPct val="100000"/>
              </a:lnSpc>
              <a:spcBef>
                <a:spcPct val="40000"/>
              </a:spcBef>
              <a:buClrTx/>
              <a:buFontTx/>
              <a:buNone/>
            </a:pPr>
            <a:endParaRPr lang="zh-CN" altLang="en-US" dirty="0">
              <a:solidFill>
                <a:srgbClr val="990099"/>
              </a:solidFill>
              <a:cs typeface="Times New Roman" panose="02020603050405020304" pitchFamily="18" charset="0"/>
            </a:endParaRPr>
          </a:p>
          <a:p>
            <a:pPr algn="l">
              <a:lnSpc>
                <a:spcPct val="100000"/>
              </a:lnSpc>
              <a:spcBef>
                <a:spcPct val="40000"/>
              </a:spcBef>
              <a:buClrTx/>
            </a:pPr>
            <a:r>
              <a:rPr lang="el-GR" altLang="zh-CN" sz="2000" i="1" dirty="0">
                <a:solidFill>
                  <a:schemeClr val="tx2"/>
                </a:solidFill>
                <a:cs typeface="Times New Roman" panose="02020603050405020304" pitchFamily="18" charset="0"/>
              </a:rPr>
              <a:t>φ</a:t>
            </a:r>
            <a:r>
              <a:rPr lang="el-GR" altLang="zh-CN" sz="2000" dirty="0">
                <a:cs typeface="Times New Roman" panose="02020603050405020304" pitchFamily="18" charset="0"/>
              </a:rPr>
              <a:t> </a:t>
            </a:r>
            <a:r>
              <a:rPr lang="zh-CN" altLang="en-US" sz="2000" dirty="0">
                <a:solidFill>
                  <a:schemeClr val="tx2"/>
                </a:solidFill>
                <a:cs typeface="Times New Roman" panose="02020603050405020304" pitchFamily="18" charset="0"/>
              </a:rPr>
              <a:t>：</a:t>
            </a:r>
            <a:r>
              <a:rPr lang="zh-CN" altLang="en-US" sz="2000" dirty="0">
                <a:solidFill>
                  <a:schemeClr val="tx1"/>
                </a:solidFill>
                <a:cs typeface="Times New Roman" panose="02020603050405020304" pitchFamily="18" charset="0"/>
              </a:rPr>
              <a:t>稳定系数，注意柱计算长度的选取，短柱取</a:t>
            </a:r>
            <a:r>
              <a:rPr lang="en-US" altLang="zh-CN" sz="2000" dirty="0">
                <a:solidFill>
                  <a:schemeClr val="tx1"/>
                </a:solidFill>
                <a:cs typeface="Times New Roman" panose="02020603050405020304" pitchFamily="18" charset="0"/>
              </a:rPr>
              <a:t>1</a:t>
            </a:r>
            <a:r>
              <a:rPr lang="zh-CN" altLang="en-US" sz="2000" dirty="0">
                <a:solidFill>
                  <a:schemeClr val="tx1"/>
                </a:solidFill>
                <a:cs typeface="Times New Roman" panose="02020603050405020304" pitchFamily="18" charset="0"/>
              </a:rPr>
              <a:t>。</a:t>
            </a:r>
            <a:endParaRPr lang="en-US" altLang="zh-CN" sz="2000" dirty="0">
              <a:solidFill>
                <a:schemeClr val="tx1"/>
              </a:solidFill>
              <a:cs typeface="Times New Roman" panose="02020603050405020304" pitchFamily="18" charset="0"/>
            </a:endParaRPr>
          </a:p>
          <a:p>
            <a:pPr algn="l">
              <a:lnSpc>
                <a:spcPct val="100000"/>
              </a:lnSpc>
              <a:spcBef>
                <a:spcPct val="40000"/>
              </a:spcBef>
              <a:buClrTx/>
            </a:pPr>
            <a:endParaRPr lang="en-US" altLang="zh-CN" sz="2000" dirty="0">
              <a:solidFill>
                <a:schemeClr val="tx1"/>
              </a:solidFill>
              <a:cs typeface="Times New Roman" panose="02020603050405020304" pitchFamily="18" charset="0"/>
            </a:endParaRPr>
          </a:p>
          <a:p>
            <a:pPr algn="l">
              <a:lnSpc>
                <a:spcPct val="100000"/>
              </a:lnSpc>
              <a:spcBef>
                <a:spcPct val="40000"/>
              </a:spcBef>
              <a:buClrTx/>
            </a:pPr>
            <a:r>
              <a:rPr lang="zh-CN" altLang="en-US" sz="2000" dirty="0">
                <a:solidFill>
                  <a:srgbClr val="FF0000"/>
                </a:solidFill>
                <a:cs typeface="Times New Roman" panose="02020603050405020304" pitchFamily="18" charset="0"/>
              </a:rPr>
              <a:t>柱子计算长度取值：</a:t>
            </a:r>
            <a:endParaRPr lang="en-US" altLang="zh-CN" sz="2000" dirty="0">
              <a:solidFill>
                <a:srgbClr val="FF0000"/>
              </a:solidFill>
              <a:cs typeface="Times New Roman" panose="02020603050405020304" pitchFamily="18" charset="0"/>
            </a:endParaRPr>
          </a:p>
          <a:p>
            <a:pPr algn="l">
              <a:lnSpc>
                <a:spcPct val="100000"/>
              </a:lnSpc>
              <a:spcBef>
                <a:spcPct val="40000"/>
              </a:spcBef>
              <a:buClrTx/>
            </a:pPr>
            <a:r>
              <a:rPr lang="zh-CN" altLang="en-US" sz="2000" dirty="0">
                <a:solidFill>
                  <a:schemeClr val="tx1"/>
                </a:solidFill>
                <a:cs typeface="Times New Roman" panose="02020603050405020304" pitchFamily="18" charset="0"/>
              </a:rPr>
              <a:t>两端铰支时：</a:t>
            </a:r>
            <a:r>
              <a:rPr lang="en-US" altLang="zh-CN" sz="2000" i="1" dirty="0">
                <a:solidFill>
                  <a:schemeClr val="tx1"/>
                </a:solidFill>
                <a:cs typeface="Times New Roman" panose="02020603050405020304" pitchFamily="18" charset="0"/>
              </a:rPr>
              <a:t>l</a:t>
            </a:r>
            <a:r>
              <a:rPr lang="en-US" altLang="zh-CN" sz="2000" baseline="-25000" dirty="0">
                <a:solidFill>
                  <a:schemeClr val="tx1"/>
                </a:solidFill>
                <a:cs typeface="Times New Roman" panose="02020603050405020304" pitchFamily="18" charset="0"/>
              </a:rPr>
              <a:t>0</a:t>
            </a:r>
            <a:r>
              <a:rPr lang="en-US" altLang="zh-CN" sz="2000" dirty="0">
                <a:solidFill>
                  <a:schemeClr val="tx1"/>
                </a:solidFill>
                <a:cs typeface="Times New Roman" panose="02020603050405020304" pitchFamily="18" charset="0"/>
              </a:rPr>
              <a:t> = </a:t>
            </a:r>
            <a:r>
              <a:rPr lang="en-US" altLang="zh-CN" sz="2000" i="1" dirty="0">
                <a:solidFill>
                  <a:schemeClr val="tx1"/>
                </a:solidFill>
                <a:cs typeface="Times New Roman" panose="02020603050405020304" pitchFamily="18" charset="0"/>
              </a:rPr>
              <a:t>l</a:t>
            </a:r>
            <a:r>
              <a:rPr lang="en-US" altLang="zh-CN" sz="2000" dirty="0">
                <a:solidFill>
                  <a:schemeClr val="tx1"/>
                </a:solidFill>
                <a:cs typeface="Times New Roman" panose="02020603050405020304" pitchFamily="18" charset="0"/>
              </a:rPr>
              <a:t> (</a:t>
            </a:r>
            <a:r>
              <a:rPr lang="en-US" altLang="zh-CN" sz="2000" i="1" dirty="0">
                <a:solidFill>
                  <a:schemeClr val="tx1"/>
                </a:solidFill>
                <a:cs typeface="Times New Roman" panose="02020603050405020304" pitchFamily="18" charset="0"/>
              </a:rPr>
              <a:t>l</a:t>
            </a:r>
            <a:r>
              <a:rPr lang="zh-CN" altLang="en-US" sz="2000" dirty="0">
                <a:solidFill>
                  <a:schemeClr val="tx1"/>
                </a:solidFill>
                <a:cs typeface="Times New Roman" panose="02020603050405020304" pitchFamily="18" charset="0"/>
              </a:rPr>
              <a:t>是构件的实际长度</a:t>
            </a:r>
            <a:r>
              <a:rPr lang="en-US" altLang="zh-CN" sz="2000" dirty="0">
                <a:solidFill>
                  <a:schemeClr val="tx1"/>
                </a:solidFill>
                <a:cs typeface="Times New Roman" panose="02020603050405020304" pitchFamily="18" charset="0"/>
              </a:rPr>
              <a:t>)</a:t>
            </a:r>
            <a:r>
              <a:rPr lang="zh-CN" altLang="en-US" sz="2000" dirty="0">
                <a:solidFill>
                  <a:schemeClr val="tx1"/>
                </a:solidFill>
                <a:cs typeface="Times New Roman" panose="02020603050405020304" pitchFamily="18" charset="0"/>
              </a:rPr>
              <a:t>；</a:t>
            </a:r>
            <a:endParaRPr lang="en-US" altLang="zh-CN" sz="2000" dirty="0">
              <a:solidFill>
                <a:schemeClr val="tx1"/>
              </a:solidFill>
              <a:cs typeface="Times New Roman" panose="02020603050405020304" pitchFamily="18" charset="0"/>
            </a:endParaRPr>
          </a:p>
          <a:p>
            <a:pPr algn="l">
              <a:lnSpc>
                <a:spcPct val="100000"/>
              </a:lnSpc>
              <a:spcBef>
                <a:spcPct val="40000"/>
              </a:spcBef>
              <a:buClrTx/>
            </a:pPr>
            <a:r>
              <a:rPr lang="zh-CN" altLang="en-US" sz="2000" dirty="0">
                <a:solidFill>
                  <a:schemeClr val="tx1"/>
                </a:solidFill>
                <a:cs typeface="Times New Roman" panose="02020603050405020304" pitchFamily="18" charset="0"/>
              </a:rPr>
              <a:t>两端固定时：</a:t>
            </a:r>
            <a:r>
              <a:rPr lang="en-US" altLang="zh-CN" sz="2000" i="1" dirty="0">
                <a:solidFill>
                  <a:schemeClr val="tx1"/>
                </a:solidFill>
                <a:cs typeface="Times New Roman" panose="02020603050405020304" pitchFamily="18" charset="0"/>
              </a:rPr>
              <a:t> l</a:t>
            </a:r>
            <a:r>
              <a:rPr lang="en-US" altLang="zh-CN" sz="2000" baseline="-25000" dirty="0">
                <a:solidFill>
                  <a:schemeClr val="tx1"/>
                </a:solidFill>
                <a:cs typeface="Times New Roman" panose="02020603050405020304" pitchFamily="18" charset="0"/>
              </a:rPr>
              <a:t>0</a:t>
            </a:r>
            <a:r>
              <a:rPr lang="en-US" altLang="zh-CN" sz="2000" dirty="0">
                <a:solidFill>
                  <a:schemeClr val="tx1"/>
                </a:solidFill>
                <a:cs typeface="Times New Roman" panose="02020603050405020304" pitchFamily="18" charset="0"/>
              </a:rPr>
              <a:t> = 0.5</a:t>
            </a:r>
            <a:r>
              <a:rPr lang="en-US" altLang="zh-CN" sz="2000" i="1" dirty="0">
                <a:solidFill>
                  <a:schemeClr val="tx1"/>
                </a:solidFill>
                <a:cs typeface="Times New Roman" panose="02020603050405020304" pitchFamily="18" charset="0"/>
              </a:rPr>
              <a:t>l</a:t>
            </a:r>
            <a:r>
              <a:rPr lang="en-US" altLang="zh-CN" sz="2000" dirty="0">
                <a:solidFill>
                  <a:schemeClr val="tx1"/>
                </a:solidFill>
                <a:cs typeface="Times New Roman" panose="02020603050405020304" pitchFamily="18" charset="0"/>
              </a:rPr>
              <a:t> </a:t>
            </a:r>
            <a:r>
              <a:rPr lang="zh-CN" altLang="en-US" sz="2000" dirty="0">
                <a:solidFill>
                  <a:schemeClr val="tx1"/>
                </a:solidFill>
                <a:cs typeface="Times New Roman" panose="02020603050405020304" pitchFamily="18" charset="0"/>
              </a:rPr>
              <a:t>；</a:t>
            </a:r>
            <a:endParaRPr lang="en-US" altLang="zh-CN" sz="2000" dirty="0">
              <a:solidFill>
                <a:schemeClr val="tx1"/>
              </a:solidFill>
              <a:cs typeface="Times New Roman" panose="02020603050405020304" pitchFamily="18" charset="0"/>
            </a:endParaRPr>
          </a:p>
          <a:p>
            <a:pPr algn="l">
              <a:lnSpc>
                <a:spcPct val="100000"/>
              </a:lnSpc>
              <a:spcBef>
                <a:spcPct val="40000"/>
              </a:spcBef>
              <a:buClrTx/>
            </a:pPr>
            <a:r>
              <a:rPr lang="zh-CN" altLang="en-US" sz="2000" dirty="0">
                <a:solidFill>
                  <a:schemeClr val="tx1"/>
                </a:solidFill>
                <a:cs typeface="Times New Roman" panose="02020603050405020304" pitchFamily="18" charset="0"/>
              </a:rPr>
              <a:t>一端固定一端铰支时：</a:t>
            </a:r>
            <a:r>
              <a:rPr lang="en-US" altLang="zh-CN" sz="2000" i="1" dirty="0">
                <a:solidFill>
                  <a:schemeClr val="tx1"/>
                </a:solidFill>
                <a:cs typeface="Times New Roman" panose="02020603050405020304" pitchFamily="18" charset="0"/>
              </a:rPr>
              <a:t>l</a:t>
            </a:r>
            <a:r>
              <a:rPr lang="en-US" altLang="zh-CN" sz="2000" baseline="-25000" dirty="0">
                <a:solidFill>
                  <a:schemeClr val="tx1"/>
                </a:solidFill>
                <a:cs typeface="Times New Roman" panose="02020603050405020304" pitchFamily="18" charset="0"/>
              </a:rPr>
              <a:t>0</a:t>
            </a:r>
            <a:r>
              <a:rPr lang="en-US" altLang="zh-CN" sz="2000" dirty="0">
                <a:solidFill>
                  <a:schemeClr val="tx1"/>
                </a:solidFill>
                <a:cs typeface="Times New Roman" panose="02020603050405020304" pitchFamily="18" charset="0"/>
              </a:rPr>
              <a:t> = 0.7</a:t>
            </a:r>
            <a:r>
              <a:rPr lang="en-US" altLang="zh-CN" sz="2000" i="1" dirty="0">
                <a:solidFill>
                  <a:schemeClr val="tx1"/>
                </a:solidFill>
                <a:cs typeface="Times New Roman" panose="02020603050405020304" pitchFamily="18" charset="0"/>
              </a:rPr>
              <a:t>l</a:t>
            </a:r>
            <a:r>
              <a:rPr lang="en-US" altLang="zh-CN" sz="2000" dirty="0">
                <a:solidFill>
                  <a:schemeClr val="tx1"/>
                </a:solidFill>
                <a:cs typeface="Times New Roman" panose="02020603050405020304" pitchFamily="18" charset="0"/>
              </a:rPr>
              <a:t> </a:t>
            </a:r>
            <a:r>
              <a:rPr lang="zh-CN" altLang="en-US" sz="2000" dirty="0">
                <a:solidFill>
                  <a:schemeClr val="tx1"/>
                </a:solidFill>
                <a:cs typeface="Times New Roman" panose="02020603050405020304" pitchFamily="18" charset="0"/>
              </a:rPr>
              <a:t>；</a:t>
            </a:r>
            <a:endParaRPr lang="en-US" altLang="zh-CN" sz="2000" dirty="0">
              <a:solidFill>
                <a:schemeClr val="tx1"/>
              </a:solidFill>
              <a:cs typeface="Times New Roman" panose="02020603050405020304" pitchFamily="18" charset="0"/>
            </a:endParaRPr>
          </a:p>
          <a:p>
            <a:pPr algn="l">
              <a:lnSpc>
                <a:spcPct val="100000"/>
              </a:lnSpc>
              <a:spcBef>
                <a:spcPct val="40000"/>
              </a:spcBef>
              <a:buClrTx/>
            </a:pPr>
            <a:r>
              <a:rPr lang="zh-CN" altLang="en-US" sz="2000" dirty="0">
                <a:solidFill>
                  <a:schemeClr val="tx1"/>
                </a:solidFill>
                <a:cs typeface="Times New Roman" panose="02020603050405020304" pitchFamily="18" charset="0"/>
              </a:rPr>
              <a:t>一端固定一端自由时：</a:t>
            </a:r>
            <a:r>
              <a:rPr lang="en-US" altLang="zh-CN" sz="2000" i="1" dirty="0">
                <a:solidFill>
                  <a:schemeClr val="tx1"/>
                </a:solidFill>
                <a:cs typeface="Times New Roman" panose="02020603050405020304" pitchFamily="18" charset="0"/>
              </a:rPr>
              <a:t>l</a:t>
            </a:r>
            <a:r>
              <a:rPr lang="en-US" altLang="zh-CN" sz="2000" baseline="-25000" dirty="0">
                <a:solidFill>
                  <a:schemeClr val="tx1"/>
                </a:solidFill>
                <a:cs typeface="Times New Roman" panose="02020603050405020304" pitchFamily="18" charset="0"/>
              </a:rPr>
              <a:t>0</a:t>
            </a:r>
            <a:r>
              <a:rPr lang="en-US" altLang="zh-CN" sz="2000" dirty="0">
                <a:solidFill>
                  <a:schemeClr val="tx1"/>
                </a:solidFill>
                <a:cs typeface="Times New Roman" panose="02020603050405020304" pitchFamily="18" charset="0"/>
              </a:rPr>
              <a:t> = 2</a:t>
            </a:r>
            <a:r>
              <a:rPr lang="en-US" altLang="zh-CN" sz="2000" i="1" dirty="0">
                <a:solidFill>
                  <a:schemeClr val="tx1"/>
                </a:solidFill>
                <a:cs typeface="Times New Roman" panose="02020603050405020304" pitchFamily="18" charset="0"/>
              </a:rPr>
              <a:t>l</a:t>
            </a:r>
            <a:r>
              <a:rPr lang="en-US" altLang="zh-CN" sz="2000" dirty="0">
                <a:solidFill>
                  <a:schemeClr val="tx1"/>
                </a:solidFill>
                <a:cs typeface="Times New Roman" panose="02020603050405020304" pitchFamily="18" charset="0"/>
              </a:rPr>
              <a:t> </a:t>
            </a:r>
            <a:r>
              <a:rPr lang="zh-CN" altLang="en-US" sz="2000" dirty="0">
                <a:solidFill>
                  <a:schemeClr val="tx1"/>
                </a:solidFill>
                <a:cs typeface="Times New Roman" panose="02020603050405020304" pitchFamily="18" charset="0"/>
              </a:rPr>
              <a:t>。</a:t>
            </a:r>
            <a:endParaRPr lang="en-US" altLang="zh-CN" sz="2000" dirty="0">
              <a:solidFill>
                <a:schemeClr val="tx1"/>
              </a:solidFill>
              <a:cs typeface="Times New Roman" panose="02020603050405020304" pitchFamily="18" charset="0"/>
            </a:endParaRPr>
          </a:p>
          <a:p>
            <a:pPr algn="l">
              <a:lnSpc>
                <a:spcPct val="100000"/>
              </a:lnSpc>
              <a:spcBef>
                <a:spcPct val="40000"/>
              </a:spcBef>
              <a:buClrTx/>
            </a:pPr>
            <a:endParaRPr lang="zh-CN" altLang="en-US" sz="2000" dirty="0">
              <a:solidFill>
                <a:schemeClr val="tx1"/>
              </a:solidFill>
              <a:cs typeface="Times New Roman" panose="02020603050405020304" pitchFamily="18" charset="0"/>
            </a:endParaRPr>
          </a:p>
        </p:txBody>
      </p:sp>
      <p:graphicFrame>
        <p:nvGraphicFramePr>
          <p:cNvPr id="309278" name="Object 30"/>
          <p:cNvGraphicFramePr>
            <a:graphicFrameLocks noGrp="1" noChangeAspect="1"/>
          </p:cNvGraphicFramePr>
          <p:nvPr>
            <p:ph sz="half" idx="2"/>
          </p:nvPr>
        </p:nvGraphicFramePr>
        <p:xfrm>
          <a:off x="1143000" y="1687513"/>
          <a:ext cx="2971800" cy="446087"/>
        </p:xfrm>
        <a:graphic>
          <a:graphicData uri="http://schemas.openxmlformats.org/presentationml/2006/ole">
            <mc:AlternateContent xmlns:mc="http://schemas.openxmlformats.org/markup-compatibility/2006">
              <mc:Choice xmlns:v="urn:schemas-microsoft-com:vml" Requires="v">
                <p:oleObj spid="_x0000_s554026" name="Equation" r:id="rId3" imgW="2234160" imgH="330120" progId="">
                  <p:embed/>
                </p:oleObj>
              </mc:Choice>
              <mc:Fallback>
                <p:oleObj name="Equation" r:id="rId3" imgW="2234160" imgH="330120" progId="">
                  <p:embed/>
                  <p:pic>
                    <p:nvPicPr>
                      <p:cNvPr id="309278" name="Object 30"/>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687513"/>
                        <a:ext cx="2971800" cy="446087"/>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09281" name="Picture 33" descr="gj0708"/>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8401" r="6801"/>
          <a:stretch>
            <a:fillRect/>
          </a:stretch>
        </p:blipFill>
        <p:spPr bwMode="auto">
          <a:xfrm>
            <a:off x="6858000" y="1371600"/>
            <a:ext cx="2286000" cy="393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067174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2322"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7.1</a:t>
            </a:r>
            <a:r>
              <a:rPr lang="zh-CN" altLang="en-US" sz="3000" dirty="0">
                <a:solidFill>
                  <a:schemeClr val="tx2"/>
                </a:solidFill>
                <a:latin typeface="Times New Roman" pitchFamily="18" charset="0"/>
              </a:rPr>
              <a:t>轴心受压构件正截面承载力的计算</a:t>
            </a:r>
            <a:r>
              <a:rPr lang="zh-CN" altLang="en-US" dirty="0">
                <a:solidFill>
                  <a:schemeClr val="tx2"/>
                </a:solidFill>
              </a:rPr>
              <a:t> </a:t>
            </a:r>
          </a:p>
        </p:txBody>
      </p:sp>
      <p:sp>
        <p:nvSpPr>
          <p:cNvPr id="312323" name="Rectangle 3"/>
          <p:cNvSpPr>
            <a:spLocks noChangeArrowheads="1"/>
          </p:cNvSpPr>
          <p:nvPr/>
        </p:nvSpPr>
        <p:spPr bwMode="auto">
          <a:xfrm>
            <a:off x="611188" y="1066800"/>
            <a:ext cx="8228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40000"/>
              </a:spcBef>
              <a:buClrTx/>
              <a:buFontTx/>
              <a:buNone/>
            </a:pPr>
            <a:r>
              <a:rPr lang="en-US" altLang="zh-CN">
                <a:solidFill>
                  <a:srgbClr val="990099"/>
                </a:solidFill>
              </a:rPr>
              <a:t>5.</a:t>
            </a:r>
            <a:r>
              <a:rPr lang="zh-CN" altLang="en-US">
                <a:solidFill>
                  <a:srgbClr val="990099"/>
                </a:solidFill>
              </a:rPr>
              <a:t>截面设计</a:t>
            </a:r>
            <a:endParaRPr lang="zh-CN" altLang="en-US" sz="2000">
              <a:solidFill>
                <a:schemeClr val="tx1"/>
              </a:solidFill>
            </a:endParaRPr>
          </a:p>
        </p:txBody>
      </p:sp>
      <p:sp>
        <p:nvSpPr>
          <p:cNvPr id="312331" name="AutoShape 11"/>
          <p:cNvSpPr>
            <a:spLocks noChangeArrowheads="1"/>
          </p:cNvSpPr>
          <p:nvPr/>
        </p:nvSpPr>
        <p:spPr bwMode="auto">
          <a:xfrm>
            <a:off x="1065213" y="1828800"/>
            <a:ext cx="1760537" cy="439738"/>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00000"/>
              </a:lnSpc>
              <a:spcBef>
                <a:spcPct val="50000"/>
              </a:spcBef>
              <a:buClrTx/>
              <a:buFontTx/>
              <a:buNone/>
            </a:pPr>
            <a:r>
              <a:rPr lang="zh-CN" altLang="en-US" sz="2000"/>
              <a:t>假定截面尺寸</a:t>
            </a:r>
          </a:p>
        </p:txBody>
      </p:sp>
      <p:sp>
        <p:nvSpPr>
          <p:cNvPr id="312332" name="AutoShape 12"/>
          <p:cNvSpPr>
            <a:spLocks noChangeArrowheads="1"/>
          </p:cNvSpPr>
          <p:nvPr/>
        </p:nvSpPr>
        <p:spPr bwMode="auto">
          <a:xfrm>
            <a:off x="1787525" y="2319338"/>
            <a:ext cx="228600" cy="304800"/>
          </a:xfrm>
          <a:prstGeom prst="downArrow">
            <a:avLst>
              <a:gd name="adj1" fmla="val 50000"/>
              <a:gd name="adj2" fmla="val 33333"/>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2335" name="AutoShape 15"/>
          <p:cNvSpPr>
            <a:spLocks noChangeArrowheads="1"/>
          </p:cNvSpPr>
          <p:nvPr/>
        </p:nvSpPr>
        <p:spPr bwMode="auto">
          <a:xfrm>
            <a:off x="1787525" y="3657600"/>
            <a:ext cx="228600" cy="304800"/>
          </a:xfrm>
          <a:prstGeom prst="downArrow">
            <a:avLst>
              <a:gd name="adj1" fmla="val 50000"/>
              <a:gd name="adj2" fmla="val 33333"/>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2340" name="AutoShape 20"/>
          <p:cNvSpPr>
            <a:spLocks noChangeArrowheads="1"/>
          </p:cNvSpPr>
          <p:nvPr/>
        </p:nvSpPr>
        <p:spPr bwMode="auto">
          <a:xfrm>
            <a:off x="838200" y="2667000"/>
            <a:ext cx="2151063" cy="946150"/>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spcBef>
                <a:spcPct val="50000"/>
              </a:spcBef>
              <a:buClrTx/>
              <a:buFontTx/>
              <a:buNone/>
            </a:pPr>
            <a:endParaRPr lang="en-US" altLang="zh-CN" sz="2000"/>
          </a:p>
          <a:p>
            <a:pPr>
              <a:lnSpc>
                <a:spcPct val="100000"/>
              </a:lnSpc>
              <a:spcBef>
                <a:spcPct val="50000"/>
              </a:spcBef>
              <a:buClrTx/>
              <a:buFontTx/>
              <a:buNone/>
            </a:pPr>
            <a:endParaRPr lang="en-US" altLang="zh-CN" sz="2000"/>
          </a:p>
        </p:txBody>
      </p:sp>
      <p:sp>
        <p:nvSpPr>
          <p:cNvPr id="312343" name="AutoShape 23"/>
          <p:cNvSpPr>
            <a:spLocks noChangeArrowheads="1"/>
          </p:cNvSpPr>
          <p:nvPr/>
        </p:nvSpPr>
        <p:spPr bwMode="auto">
          <a:xfrm>
            <a:off x="1752600" y="4724400"/>
            <a:ext cx="228600" cy="304800"/>
          </a:xfrm>
          <a:prstGeom prst="downArrow">
            <a:avLst>
              <a:gd name="adj1" fmla="val 50000"/>
              <a:gd name="adj2" fmla="val 33333"/>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2346" name="Rectangle 26"/>
          <p:cNvSpPr>
            <a:spLocks noChangeArrowheads="1"/>
          </p:cNvSpPr>
          <p:nvPr/>
        </p:nvSpPr>
        <p:spPr bwMode="auto">
          <a:xfrm>
            <a:off x="3429000" y="3962400"/>
            <a:ext cx="414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lnSpc>
                <a:spcPct val="100000"/>
              </a:lnSpc>
              <a:spcBef>
                <a:spcPct val="0"/>
              </a:spcBef>
              <a:buClrTx/>
              <a:buFontTx/>
              <a:buNone/>
            </a:pPr>
            <a:r>
              <a:rPr lang="zh-CN" altLang="en-US" sz="1800">
                <a:solidFill>
                  <a:srgbClr val="FF0000"/>
                </a:solidFill>
              </a:rPr>
              <a:t>否</a:t>
            </a:r>
            <a:endParaRPr lang="zh-CN" altLang="en-US" sz="1800">
              <a:solidFill>
                <a:srgbClr val="FF0000"/>
              </a:solidFill>
              <a:latin typeface="Arial" charset="0"/>
              <a:sym typeface="Symbol" pitchFamily="18" charset="2"/>
            </a:endParaRPr>
          </a:p>
        </p:txBody>
      </p:sp>
      <p:sp>
        <p:nvSpPr>
          <p:cNvPr id="312349" name="Rectangle 29"/>
          <p:cNvSpPr>
            <a:spLocks noChangeArrowheads="1"/>
          </p:cNvSpPr>
          <p:nvPr/>
        </p:nvSpPr>
        <p:spPr bwMode="auto">
          <a:xfrm>
            <a:off x="1371600" y="4648200"/>
            <a:ext cx="414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lnSpc>
                <a:spcPct val="100000"/>
              </a:lnSpc>
              <a:spcBef>
                <a:spcPct val="0"/>
              </a:spcBef>
              <a:buClrTx/>
              <a:buFontTx/>
              <a:buNone/>
            </a:pPr>
            <a:r>
              <a:rPr lang="zh-CN" altLang="en-US" sz="1800">
                <a:solidFill>
                  <a:srgbClr val="FF0000"/>
                </a:solidFill>
              </a:rPr>
              <a:t>是</a:t>
            </a:r>
            <a:endParaRPr lang="zh-CN" altLang="en-US" sz="1800">
              <a:solidFill>
                <a:srgbClr val="FF0000"/>
              </a:solidFill>
              <a:latin typeface="Arial" charset="0"/>
              <a:sym typeface="Symbol" pitchFamily="18" charset="2"/>
            </a:endParaRPr>
          </a:p>
        </p:txBody>
      </p:sp>
      <p:sp>
        <p:nvSpPr>
          <p:cNvPr id="312350" name="AutoShape 30"/>
          <p:cNvSpPr>
            <a:spLocks noChangeArrowheads="1"/>
          </p:cNvSpPr>
          <p:nvPr/>
        </p:nvSpPr>
        <p:spPr bwMode="auto">
          <a:xfrm>
            <a:off x="1524000" y="5046663"/>
            <a:ext cx="738188" cy="439737"/>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00000"/>
              </a:lnSpc>
              <a:spcBef>
                <a:spcPct val="50000"/>
              </a:spcBef>
              <a:buClrTx/>
              <a:buFontTx/>
              <a:buNone/>
            </a:pPr>
            <a:r>
              <a:rPr lang="zh-CN" altLang="en-US" sz="2000"/>
              <a:t>结束</a:t>
            </a:r>
          </a:p>
        </p:txBody>
      </p:sp>
      <p:cxnSp>
        <p:nvCxnSpPr>
          <p:cNvPr id="312351" name="AutoShape 31"/>
          <p:cNvCxnSpPr>
            <a:cxnSpLocks noChangeShapeType="1"/>
            <a:endCxn id="312331" idx="3"/>
          </p:cNvCxnSpPr>
          <p:nvPr/>
        </p:nvCxnSpPr>
        <p:spPr bwMode="auto">
          <a:xfrm flipH="1" flipV="1">
            <a:off x="2825750" y="2049463"/>
            <a:ext cx="831850" cy="2255837"/>
          </a:xfrm>
          <a:prstGeom prst="bentConnector3">
            <a:avLst>
              <a:gd name="adj1" fmla="val -27481"/>
            </a:avLst>
          </a:prstGeom>
          <a:noFill/>
          <a:ln w="57150">
            <a:solidFill>
              <a:srgbClr val="8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2352" name="Rectangle 32"/>
          <p:cNvSpPr>
            <a:spLocks noChangeArrowheads="1"/>
          </p:cNvSpPr>
          <p:nvPr/>
        </p:nvSpPr>
        <p:spPr bwMode="auto">
          <a:xfrm>
            <a:off x="685800" y="1447800"/>
            <a:ext cx="950913"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t>方法一</a:t>
            </a:r>
          </a:p>
        </p:txBody>
      </p:sp>
      <p:sp>
        <p:nvSpPr>
          <p:cNvPr id="312353" name="Rectangle 33"/>
          <p:cNvSpPr>
            <a:spLocks noChangeArrowheads="1"/>
          </p:cNvSpPr>
          <p:nvPr/>
        </p:nvSpPr>
        <p:spPr bwMode="auto">
          <a:xfrm>
            <a:off x="5334000" y="1447800"/>
            <a:ext cx="950913"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t>方法二</a:t>
            </a:r>
          </a:p>
        </p:txBody>
      </p:sp>
      <p:sp>
        <p:nvSpPr>
          <p:cNvPr id="312355" name="AutoShape 35"/>
          <p:cNvSpPr>
            <a:spLocks noChangeArrowheads="1"/>
          </p:cNvSpPr>
          <p:nvPr/>
        </p:nvSpPr>
        <p:spPr bwMode="auto">
          <a:xfrm>
            <a:off x="5303838" y="1938378"/>
            <a:ext cx="3175640" cy="1055608"/>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lnSpc>
                <a:spcPct val="100000"/>
              </a:lnSpc>
              <a:spcBef>
                <a:spcPct val="50000"/>
              </a:spcBef>
              <a:buClrTx/>
              <a:buFontTx/>
              <a:buNone/>
            </a:pPr>
            <a:r>
              <a:rPr lang="zh-CN" altLang="en-US" sz="2000" dirty="0"/>
              <a:t>假定</a:t>
            </a:r>
            <a:r>
              <a:rPr lang="el-GR" altLang="zh-CN" sz="2000" i="1" dirty="0"/>
              <a:t>ρ</a:t>
            </a:r>
            <a:r>
              <a:rPr lang="en-US" altLang="zh-CN" sz="2000" dirty="0"/>
              <a:t>’</a:t>
            </a:r>
            <a:r>
              <a:rPr lang="zh-CN" altLang="en-US" sz="2000" dirty="0"/>
              <a:t>（ </a:t>
            </a:r>
            <a:r>
              <a:rPr lang="en-US" altLang="zh-CN" sz="2000" dirty="0"/>
              <a:t>0.5%≤</a:t>
            </a:r>
            <a:r>
              <a:rPr lang="el-GR" altLang="zh-CN" sz="2000" i="1" dirty="0">
                <a:ea typeface="MingLiU" pitchFamily="49" charset="-120"/>
                <a:cs typeface="Times New Roman" pitchFamily="18" charset="0"/>
              </a:rPr>
              <a:t> </a:t>
            </a:r>
            <a:r>
              <a:rPr lang="el-GR" altLang="zh-CN" sz="2000" i="1" dirty="0"/>
              <a:t>ρ</a:t>
            </a:r>
            <a:r>
              <a:rPr lang="en-US" altLang="zh-CN" sz="2000" dirty="0"/>
              <a:t>’</a:t>
            </a:r>
            <a:r>
              <a:rPr lang="el-GR" altLang="zh-CN" sz="2000" i="1" dirty="0">
                <a:ea typeface="MingLiU" pitchFamily="49" charset="-120"/>
              </a:rPr>
              <a:t> </a:t>
            </a:r>
            <a:r>
              <a:rPr lang="en-US" altLang="zh-CN" sz="2000" dirty="0"/>
              <a:t>≤2%</a:t>
            </a:r>
            <a:r>
              <a:rPr lang="zh-CN" altLang="en-US" sz="2000" dirty="0"/>
              <a:t>）</a:t>
            </a:r>
          </a:p>
          <a:p>
            <a:pPr algn="l">
              <a:lnSpc>
                <a:spcPct val="100000"/>
              </a:lnSpc>
              <a:spcBef>
                <a:spcPct val="50000"/>
              </a:spcBef>
              <a:buClrTx/>
              <a:buFontTx/>
              <a:buNone/>
            </a:pPr>
            <a:r>
              <a:rPr lang="zh-CN" altLang="en-US" sz="2000" dirty="0"/>
              <a:t>假定</a:t>
            </a:r>
            <a:r>
              <a:rPr lang="el-GR" altLang="zh-CN" sz="2000" i="1" dirty="0"/>
              <a:t>φ</a:t>
            </a:r>
            <a:r>
              <a:rPr lang="el-GR" altLang="zh-CN" dirty="0"/>
              <a:t> </a:t>
            </a:r>
            <a:r>
              <a:rPr lang="zh-CN" altLang="en-US" sz="2000" dirty="0"/>
              <a:t>＝</a:t>
            </a:r>
            <a:r>
              <a:rPr lang="en-US" altLang="zh-CN" sz="2000" dirty="0"/>
              <a:t>1</a:t>
            </a:r>
          </a:p>
        </p:txBody>
      </p:sp>
      <p:sp>
        <p:nvSpPr>
          <p:cNvPr id="312356" name="AutoShape 36"/>
          <p:cNvSpPr>
            <a:spLocks noChangeArrowheads="1"/>
          </p:cNvSpPr>
          <p:nvPr/>
        </p:nvSpPr>
        <p:spPr bwMode="auto">
          <a:xfrm>
            <a:off x="6923088" y="3048000"/>
            <a:ext cx="228600" cy="304800"/>
          </a:xfrm>
          <a:prstGeom prst="downArrow">
            <a:avLst>
              <a:gd name="adj1" fmla="val 50000"/>
              <a:gd name="adj2" fmla="val 33333"/>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12358" name="Group 38"/>
          <p:cNvGrpSpPr>
            <a:grpSpLocks/>
          </p:cNvGrpSpPr>
          <p:nvPr/>
        </p:nvGrpSpPr>
        <p:grpSpPr bwMode="auto">
          <a:xfrm>
            <a:off x="6010275" y="3413125"/>
            <a:ext cx="2066925" cy="946150"/>
            <a:chOff x="1002" y="2054"/>
            <a:chExt cx="1357" cy="616"/>
          </a:xfrm>
        </p:grpSpPr>
        <p:sp>
          <p:nvSpPr>
            <p:cNvPr id="312359" name="AutoShape 39"/>
            <p:cNvSpPr>
              <a:spLocks noChangeArrowheads="1"/>
            </p:cNvSpPr>
            <p:nvPr/>
          </p:nvSpPr>
          <p:spPr bwMode="auto">
            <a:xfrm>
              <a:off x="1002" y="2054"/>
              <a:ext cx="1357" cy="616"/>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spcBef>
                  <a:spcPct val="50000"/>
                </a:spcBef>
                <a:buClrTx/>
                <a:buFontTx/>
                <a:buNone/>
              </a:pPr>
              <a:endParaRPr lang="en-US" altLang="zh-CN" sz="2000"/>
            </a:p>
            <a:p>
              <a:pPr>
                <a:lnSpc>
                  <a:spcPct val="100000"/>
                </a:lnSpc>
                <a:spcBef>
                  <a:spcPct val="50000"/>
                </a:spcBef>
                <a:buClrTx/>
                <a:buFontTx/>
                <a:buNone/>
              </a:pPr>
              <a:endParaRPr lang="en-US" altLang="zh-CN" sz="2000"/>
            </a:p>
          </p:txBody>
        </p:sp>
        <p:graphicFrame>
          <p:nvGraphicFramePr>
            <p:cNvPr id="312360" name="Object 40"/>
            <p:cNvGraphicFramePr>
              <a:graphicFrameLocks noChangeAspect="1"/>
            </p:cNvGraphicFramePr>
            <p:nvPr/>
          </p:nvGraphicFramePr>
          <p:xfrm>
            <a:off x="1023" y="2108"/>
            <a:ext cx="1314" cy="465"/>
          </p:xfrm>
          <a:graphic>
            <a:graphicData uri="http://schemas.openxmlformats.org/presentationml/2006/ole">
              <mc:AlternateContent xmlns:mc="http://schemas.openxmlformats.org/markup-compatibility/2006">
                <mc:Choice xmlns:v="urn:schemas-microsoft-com:vml" Requires="v">
                  <p:oleObj spid="_x0000_s312664" name="Equation" r:id="rId3" imgW="1662840" imgH="584280" progId="">
                    <p:embed/>
                  </p:oleObj>
                </mc:Choice>
                <mc:Fallback>
                  <p:oleObj name="Equation" r:id="rId3" imgW="1662840" imgH="584280" progId="">
                    <p:embed/>
                    <p:pic>
                      <p:nvPicPr>
                        <p:cNvPr id="0" name="Picture 19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3" y="2108"/>
                          <a:ext cx="1314" cy="46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12366" name="AutoShape 46"/>
          <p:cNvSpPr>
            <a:spLocks noChangeArrowheads="1"/>
          </p:cNvSpPr>
          <p:nvPr/>
        </p:nvSpPr>
        <p:spPr bwMode="auto">
          <a:xfrm>
            <a:off x="6929438" y="4419600"/>
            <a:ext cx="228600" cy="304800"/>
          </a:xfrm>
          <a:prstGeom prst="downArrow">
            <a:avLst>
              <a:gd name="adj1" fmla="val 50000"/>
              <a:gd name="adj2" fmla="val 33333"/>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2368" name="AutoShape 48"/>
          <p:cNvSpPr>
            <a:spLocks noChangeArrowheads="1"/>
          </p:cNvSpPr>
          <p:nvPr/>
        </p:nvSpPr>
        <p:spPr bwMode="auto">
          <a:xfrm>
            <a:off x="5243513" y="4800600"/>
            <a:ext cx="3671887" cy="506413"/>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spcBef>
                <a:spcPct val="50000"/>
              </a:spcBef>
              <a:buClrTx/>
              <a:buFontTx/>
              <a:buNone/>
            </a:pPr>
            <a:r>
              <a:rPr lang="zh-CN" altLang="en-US" sz="2000"/>
              <a:t>确定截面尺寸，查得</a:t>
            </a:r>
            <a:r>
              <a:rPr lang="el-GR" altLang="zh-CN" sz="2000" i="1"/>
              <a:t>φ</a:t>
            </a:r>
            <a:r>
              <a:rPr lang="el-GR" altLang="zh-CN"/>
              <a:t> </a:t>
            </a:r>
            <a:r>
              <a:rPr lang="zh-CN" altLang="en-US" i="1"/>
              <a:t>，</a:t>
            </a:r>
            <a:r>
              <a:rPr lang="zh-CN" altLang="en-US" sz="2000"/>
              <a:t>求</a:t>
            </a:r>
            <a:r>
              <a:rPr lang="en-US" altLang="zh-CN" sz="1800" i="1"/>
              <a:t>A</a:t>
            </a:r>
            <a:r>
              <a:rPr lang="en-US" altLang="zh-CN" sz="1800" baseline="-25000"/>
              <a:t>s</a:t>
            </a:r>
            <a:r>
              <a:rPr lang="en-US" altLang="zh-CN" sz="1800" baseline="30000"/>
              <a:t>’</a:t>
            </a:r>
          </a:p>
        </p:txBody>
      </p:sp>
      <p:sp>
        <p:nvSpPr>
          <p:cNvPr id="312373" name="Rectangle 53"/>
          <p:cNvSpPr>
            <a:spLocks noChangeArrowheads="1"/>
          </p:cNvSpPr>
          <p:nvPr/>
        </p:nvSpPr>
        <p:spPr bwMode="auto">
          <a:xfrm>
            <a:off x="1524000" y="5638800"/>
            <a:ext cx="2209800"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40000"/>
              </a:spcBef>
              <a:buClrTx/>
              <a:buFontTx/>
              <a:buNone/>
            </a:pPr>
            <a:r>
              <a:rPr lang="en-US" altLang="zh-CN">
                <a:solidFill>
                  <a:srgbClr val="990099"/>
                </a:solidFill>
              </a:rPr>
              <a:t>6.</a:t>
            </a:r>
            <a:r>
              <a:rPr lang="zh-CN" altLang="en-US">
                <a:solidFill>
                  <a:srgbClr val="990099"/>
                </a:solidFill>
              </a:rPr>
              <a:t>截面复核</a:t>
            </a:r>
          </a:p>
          <a:p>
            <a:pPr algn="l">
              <a:lnSpc>
                <a:spcPct val="100000"/>
              </a:lnSpc>
              <a:spcBef>
                <a:spcPct val="40000"/>
              </a:spcBef>
              <a:buClrTx/>
              <a:buFontTx/>
              <a:buNone/>
            </a:pPr>
            <a:r>
              <a:rPr lang="zh-CN" altLang="en-US" sz="2000">
                <a:solidFill>
                  <a:schemeClr val="tx1"/>
                </a:solidFill>
              </a:rPr>
              <a:t>直接套用公式</a:t>
            </a:r>
          </a:p>
        </p:txBody>
      </p:sp>
      <p:sp>
        <p:nvSpPr>
          <p:cNvPr id="312376" name="AutoShape 56"/>
          <p:cNvSpPr>
            <a:spLocks noChangeArrowheads="1"/>
          </p:cNvSpPr>
          <p:nvPr/>
        </p:nvSpPr>
        <p:spPr bwMode="auto">
          <a:xfrm>
            <a:off x="304800" y="3962400"/>
            <a:ext cx="3200400" cy="609600"/>
          </a:xfrm>
          <a:prstGeom prst="flowChartPreparation">
            <a:avLst/>
          </a:prstGeom>
          <a:solidFill>
            <a:srgbClr val="FF00FF">
              <a:alpha val="50000"/>
            </a:srgbClr>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00" dirty="0">
                <a:solidFill>
                  <a:schemeClr val="tx2"/>
                </a:solidFill>
              </a:rPr>
              <a:t>0.55%≤</a:t>
            </a:r>
            <a:r>
              <a:rPr lang="el-GR" altLang="zh-CN" sz="1800" i="1" dirty="0">
                <a:solidFill>
                  <a:schemeClr val="tx2"/>
                </a:solidFill>
                <a:ea typeface="MingLiU" pitchFamily="49" charset="-120"/>
                <a:cs typeface="Times New Roman" pitchFamily="18" charset="0"/>
              </a:rPr>
              <a:t> </a:t>
            </a:r>
            <a:r>
              <a:rPr lang="el-GR" altLang="zh-CN" sz="1800" i="1" dirty="0">
                <a:solidFill>
                  <a:schemeClr val="tx2"/>
                </a:solidFill>
              </a:rPr>
              <a:t>ρ</a:t>
            </a:r>
            <a:r>
              <a:rPr lang="en-US" altLang="zh-CN" sz="1800" i="1" dirty="0">
                <a:solidFill>
                  <a:schemeClr val="tx2"/>
                </a:solidFill>
              </a:rPr>
              <a:t>’</a:t>
            </a:r>
            <a:r>
              <a:rPr lang="en-US" altLang="zh-CN" dirty="0">
                <a:solidFill>
                  <a:schemeClr val="tx2"/>
                </a:solidFill>
              </a:rPr>
              <a:t> </a:t>
            </a:r>
            <a:r>
              <a:rPr lang="zh-CN" altLang="en-US" sz="1800" i="1" dirty="0">
                <a:solidFill>
                  <a:schemeClr val="tx2"/>
                </a:solidFill>
                <a:ea typeface="MingLiU" pitchFamily="49" charset="-120"/>
              </a:rPr>
              <a:t>＝</a:t>
            </a:r>
            <a:r>
              <a:rPr lang="en-US" altLang="zh-CN" sz="1800" i="1" dirty="0">
                <a:solidFill>
                  <a:schemeClr val="tx2"/>
                </a:solidFill>
              </a:rPr>
              <a:t>A</a:t>
            </a:r>
            <a:r>
              <a:rPr lang="en-US" altLang="zh-CN" sz="1800" baseline="-25000" dirty="0">
                <a:solidFill>
                  <a:schemeClr val="tx2"/>
                </a:solidFill>
              </a:rPr>
              <a:t>s</a:t>
            </a:r>
            <a:r>
              <a:rPr lang="en-US" altLang="zh-CN" sz="1800" baseline="30000" dirty="0">
                <a:solidFill>
                  <a:schemeClr val="tx2"/>
                </a:solidFill>
              </a:rPr>
              <a:t>’</a:t>
            </a:r>
            <a:r>
              <a:rPr lang="en-US" altLang="zh-CN" sz="1800" dirty="0">
                <a:solidFill>
                  <a:schemeClr val="tx2"/>
                </a:solidFill>
              </a:rPr>
              <a:t>/ </a:t>
            </a:r>
            <a:r>
              <a:rPr lang="en-US" altLang="zh-CN" sz="1800" i="1" dirty="0">
                <a:solidFill>
                  <a:schemeClr val="tx2"/>
                </a:solidFill>
              </a:rPr>
              <a:t>A</a:t>
            </a:r>
            <a:r>
              <a:rPr lang="en-US" altLang="zh-CN" sz="1800" baseline="-25000" dirty="0">
                <a:solidFill>
                  <a:schemeClr val="tx2"/>
                </a:solidFill>
              </a:rPr>
              <a:t> </a:t>
            </a:r>
            <a:r>
              <a:rPr lang="en-US" altLang="zh-CN" sz="1800" dirty="0">
                <a:solidFill>
                  <a:schemeClr val="tx2"/>
                </a:solidFill>
              </a:rPr>
              <a:t>≤5%</a:t>
            </a:r>
          </a:p>
        </p:txBody>
      </p:sp>
      <p:graphicFrame>
        <p:nvGraphicFramePr>
          <p:cNvPr id="2" name="对象 1"/>
          <p:cNvGraphicFramePr>
            <a:graphicFrameLocks noGrp="1" noChangeAspect="1"/>
          </p:cNvGraphicFramePr>
          <p:nvPr>
            <p:extLst>
              <p:ext uri="{D42A27DB-BD31-4B8C-83A1-F6EECF244321}">
                <p14:modId xmlns:p14="http://schemas.microsoft.com/office/powerpoint/2010/main" val="45143907"/>
              </p:ext>
            </p:extLst>
          </p:nvPr>
        </p:nvGraphicFramePr>
        <p:xfrm>
          <a:off x="3429000" y="6096000"/>
          <a:ext cx="2971800" cy="446087"/>
        </p:xfrm>
        <a:graphic>
          <a:graphicData uri="http://schemas.openxmlformats.org/presentationml/2006/ole">
            <mc:AlternateContent xmlns:mc="http://schemas.openxmlformats.org/markup-compatibility/2006">
              <mc:Choice xmlns:v="urn:schemas-microsoft-com:vml" Requires="v">
                <p:oleObj spid="_x0000_s312665" name="Equation" r:id="rId5" imgW="2234160" imgH="330120" progId="">
                  <p:embed/>
                </p:oleObj>
              </mc:Choice>
              <mc:Fallback>
                <p:oleObj name="Equation" r:id="rId5" imgW="2234160" imgH="330120" progId="">
                  <p:embed/>
                  <p:pic>
                    <p:nvPicPr>
                      <p:cNvPr id="0" name="Picture 198"/>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6096000"/>
                        <a:ext cx="2971800" cy="446087"/>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对象 26"/>
          <p:cNvGraphicFramePr>
            <a:graphicFrameLocks noChangeAspect="1"/>
          </p:cNvGraphicFramePr>
          <p:nvPr/>
        </p:nvGraphicFramePr>
        <p:xfrm>
          <a:off x="857224" y="2786058"/>
          <a:ext cx="2084691" cy="714380"/>
        </p:xfrm>
        <a:graphic>
          <a:graphicData uri="http://schemas.openxmlformats.org/presentationml/2006/ole">
            <mc:AlternateContent xmlns:mc="http://schemas.openxmlformats.org/markup-compatibility/2006">
              <mc:Choice xmlns:v="urn:schemas-microsoft-com:vml" Requires="v">
                <p:oleObj spid="_x0000_s312666" name="公式" r:id="rId7" imgW="1358640" imgH="419040" progId="Equation.3">
                  <p:embed/>
                </p:oleObj>
              </mc:Choice>
              <mc:Fallback>
                <p:oleObj name="公式" r:id="rId7" imgW="1358640" imgH="419040" progId="Equation.3">
                  <p:embed/>
                  <p:pic>
                    <p:nvPicPr>
                      <p:cNvPr id="0" name="Picture 19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7224" y="2786058"/>
                        <a:ext cx="2084691" cy="7143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7.1</a:t>
            </a:r>
            <a:r>
              <a:rPr lang="zh-CN" altLang="en-US" sz="3000" dirty="0">
                <a:solidFill>
                  <a:schemeClr val="tx2"/>
                </a:solidFill>
                <a:latin typeface="Times New Roman" pitchFamily="18" charset="0"/>
              </a:rPr>
              <a:t>轴心受压构件正截面承载力的计算</a:t>
            </a:r>
            <a:r>
              <a:rPr lang="zh-CN" altLang="en-US" dirty="0">
                <a:solidFill>
                  <a:schemeClr val="tx2"/>
                </a:solidFill>
              </a:rPr>
              <a:t> </a:t>
            </a:r>
          </a:p>
        </p:txBody>
      </p:sp>
      <p:sp>
        <p:nvSpPr>
          <p:cNvPr id="313347" name="Rectangle 3"/>
          <p:cNvSpPr>
            <a:spLocks noChangeArrowheads="1"/>
          </p:cNvSpPr>
          <p:nvPr/>
        </p:nvSpPr>
        <p:spPr bwMode="auto">
          <a:xfrm>
            <a:off x="611188" y="1066800"/>
            <a:ext cx="8228012" cy="197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dirty="0">
                <a:solidFill>
                  <a:srgbClr val="A50021"/>
                </a:solidFill>
                <a:latin typeface="华文中宋" pitchFamily="2" charset="-122"/>
                <a:ea typeface="华文中宋" pitchFamily="2" charset="-122"/>
              </a:rPr>
              <a:t>二</a:t>
            </a:r>
            <a:r>
              <a:rPr lang="en-US" altLang="zh-CN" sz="2800" dirty="0">
                <a:solidFill>
                  <a:srgbClr val="A50021"/>
                </a:solidFill>
                <a:latin typeface="华文中宋" pitchFamily="2" charset="-122"/>
                <a:ea typeface="华文中宋" pitchFamily="2" charset="-122"/>
              </a:rPr>
              <a:t>.</a:t>
            </a:r>
            <a:r>
              <a:rPr lang="zh-CN" altLang="en-US" sz="2800" dirty="0">
                <a:solidFill>
                  <a:srgbClr val="A50021"/>
                </a:solidFill>
                <a:latin typeface="华文中宋" pitchFamily="2" charset="-122"/>
                <a:ea typeface="华文中宋" pitchFamily="2" charset="-122"/>
              </a:rPr>
              <a:t>配有纵向钢筋及螺旋箍筋的柱</a:t>
            </a:r>
            <a:r>
              <a:rPr lang="zh-CN" altLang="en-US" dirty="0"/>
              <a:t> </a:t>
            </a:r>
          </a:p>
          <a:p>
            <a:pPr algn="l">
              <a:lnSpc>
                <a:spcPct val="100000"/>
              </a:lnSpc>
              <a:spcBef>
                <a:spcPct val="0"/>
              </a:spcBef>
              <a:buClrTx/>
              <a:buFontTx/>
              <a:buNone/>
            </a:pPr>
            <a:r>
              <a:rPr lang="zh-CN" altLang="en-US" dirty="0"/>
              <a:t>        螺旋式箍筋柱能提高承载力：利用混凝土三向受压时强度提高的性质 </a:t>
            </a:r>
          </a:p>
          <a:p>
            <a:pPr algn="l">
              <a:lnSpc>
                <a:spcPct val="100000"/>
              </a:lnSpc>
              <a:spcBef>
                <a:spcPct val="0"/>
              </a:spcBef>
              <a:buClrTx/>
              <a:buFontTx/>
              <a:buNone/>
            </a:pPr>
            <a:r>
              <a:rPr lang="zh-CN" altLang="en-US" dirty="0"/>
              <a:t>        螺旋箍筋又称为“间接钢筋”，其产生的“套箍作用”可以提高混凝土柱的承载能力、变形能力</a:t>
            </a:r>
          </a:p>
        </p:txBody>
      </p:sp>
      <p:pic>
        <p:nvPicPr>
          <p:cNvPr id="313348" name="Picture 4" descr="gj070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53827" r="3819" b="47778"/>
          <a:stretch>
            <a:fillRect/>
          </a:stretch>
        </p:blipFill>
        <p:spPr bwMode="auto">
          <a:xfrm>
            <a:off x="1370013" y="3086100"/>
            <a:ext cx="1508125" cy="2095500"/>
          </a:xfrm>
          <a:prstGeom prst="rect">
            <a:avLst/>
          </a:prstGeom>
          <a:noFill/>
          <a:extLst>
            <a:ext uri="{909E8E84-426E-40DD-AFC4-6F175D3DCCD1}">
              <a14:hiddenFill xmlns:a14="http://schemas.microsoft.com/office/drawing/2010/main">
                <a:solidFill>
                  <a:srgbClr val="FFFFFF"/>
                </a:solidFill>
              </a14:hiddenFill>
            </a:ext>
          </a:extLst>
        </p:spPr>
      </p:pic>
      <p:pic>
        <p:nvPicPr>
          <p:cNvPr id="313349" name="Picture 5" descr="gj0710"/>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858" r="52455" b="11671"/>
          <a:stretch>
            <a:fillRect/>
          </a:stretch>
        </p:blipFill>
        <p:spPr bwMode="auto">
          <a:xfrm>
            <a:off x="4419600" y="3124200"/>
            <a:ext cx="3541713" cy="1712913"/>
          </a:xfrm>
          <a:prstGeom prst="rect">
            <a:avLst/>
          </a:prstGeom>
          <a:noFill/>
          <a:extLst>
            <a:ext uri="{909E8E84-426E-40DD-AFC4-6F175D3DCCD1}">
              <a14:hiddenFill xmlns:a14="http://schemas.microsoft.com/office/drawing/2010/main">
                <a:solidFill>
                  <a:srgbClr val="FFFFFF"/>
                </a:solidFill>
              </a14:hiddenFill>
            </a:ext>
          </a:extLst>
        </p:spPr>
      </p:pic>
      <p:pic>
        <p:nvPicPr>
          <p:cNvPr id="313350" name="Picture 6" descr="gj0710"/>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49968" r="1959" b="11671"/>
          <a:stretch>
            <a:fillRect/>
          </a:stretch>
        </p:blipFill>
        <p:spPr bwMode="auto">
          <a:xfrm>
            <a:off x="4267200" y="4800600"/>
            <a:ext cx="3810000" cy="1712913"/>
          </a:xfrm>
          <a:prstGeom prst="rect">
            <a:avLst/>
          </a:prstGeom>
          <a:noFill/>
          <a:extLst>
            <a:ext uri="{909E8E84-426E-40DD-AFC4-6F175D3DCCD1}">
              <a14:hiddenFill xmlns:a14="http://schemas.microsoft.com/office/drawing/2010/main">
                <a:solidFill>
                  <a:srgbClr val="FFFFFF"/>
                </a:solidFill>
              </a14:hiddenFill>
            </a:ext>
          </a:extLst>
        </p:spPr>
      </p:pic>
      <p:pic>
        <p:nvPicPr>
          <p:cNvPr id="313351" name="Picture 7" descr="gj070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53827" t="60768" r="5513" b="6949"/>
          <a:stretch>
            <a:fillRect/>
          </a:stretch>
        </p:blipFill>
        <p:spPr bwMode="auto">
          <a:xfrm>
            <a:off x="1371600" y="5105400"/>
            <a:ext cx="1447800" cy="1295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4370"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7.1</a:t>
            </a:r>
            <a:r>
              <a:rPr lang="zh-CN" altLang="en-US" sz="3000" dirty="0">
                <a:solidFill>
                  <a:schemeClr val="tx2"/>
                </a:solidFill>
                <a:latin typeface="Times New Roman" pitchFamily="18" charset="0"/>
              </a:rPr>
              <a:t>轴心受压构件正截面承载力的计算</a:t>
            </a:r>
            <a:r>
              <a:rPr lang="zh-CN" altLang="en-US" dirty="0">
                <a:solidFill>
                  <a:schemeClr val="tx2"/>
                </a:solidFill>
              </a:rPr>
              <a:t> </a:t>
            </a:r>
          </a:p>
        </p:txBody>
      </p:sp>
      <p:sp>
        <p:nvSpPr>
          <p:cNvPr id="314371" name="Rectangle 3"/>
          <p:cNvSpPr>
            <a:spLocks noChangeArrowheads="1"/>
          </p:cNvSpPr>
          <p:nvPr/>
        </p:nvSpPr>
        <p:spPr bwMode="auto">
          <a:xfrm>
            <a:off x="611188" y="1066800"/>
            <a:ext cx="8228012"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二</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配有纵向钢筋及螺旋箍筋的柱</a:t>
            </a:r>
            <a:r>
              <a:rPr lang="zh-CN" altLang="en-US"/>
              <a:t> </a:t>
            </a:r>
          </a:p>
          <a:p>
            <a:pPr algn="l">
              <a:lnSpc>
                <a:spcPct val="100000"/>
              </a:lnSpc>
              <a:spcBef>
                <a:spcPct val="0"/>
              </a:spcBef>
              <a:buClrTx/>
              <a:buFontTx/>
              <a:buNone/>
            </a:pPr>
            <a:r>
              <a:rPr lang="zh-CN" altLang="en-US"/>
              <a:t>        </a:t>
            </a:r>
          </a:p>
        </p:txBody>
      </p:sp>
      <p:pic>
        <p:nvPicPr>
          <p:cNvPr id="314375" name="Picture 7" descr="gj0711"/>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5143" r="15358"/>
          <a:stretch>
            <a:fillRect/>
          </a:stretch>
        </p:blipFill>
        <p:spPr bwMode="auto">
          <a:xfrm>
            <a:off x="3886200" y="2209800"/>
            <a:ext cx="5257800" cy="3675063"/>
          </a:xfrm>
          <a:prstGeom prst="rect">
            <a:avLst/>
          </a:prstGeom>
          <a:noFill/>
          <a:extLst>
            <a:ext uri="{909E8E84-426E-40DD-AFC4-6F175D3DCCD1}">
              <a14:hiddenFill xmlns:a14="http://schemas.microsoft.com/office/drawing/2010/main">
                <a:solidFill>
                  <a:srgbClr val="FFFFFF"/>
                </a:solidFill>
              </a14:hiddenFill>
            </a:ext>
          </a:extLst>
        </p:spPr>
      </p:pic>
      <p:sp>
        <p:nvSpPr>
          <p:cNvPr id="314376" name="Rectangle 8"/>
          <p:cNvSpPr>
            <a:spLocks noChangeArrowheads="1"/>
          </p:cNvSpPr>
          <p:nvPr/>
        </p:nvSpPr>
        <p:spPr bwMode="auto">
          <a:xfrm>
            <a:off x="457200" y="1819275"/>
            <a:ext cx="3657600" cy="441325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000">
                <a:solidFill>
                  <a:srgbClr val="008000"/>
                </a:solidFill>
              </a:rPr>
              <a:t>螺旋箍筋柱，从加荷开始至荷载达到第一个峰值</a:t>
            </a:r>
            <a:r>
              <a:rPr lang="en-US" altLang="zh-CN" sz="2000" i="1">
                <a:solidFill>
                  <a:srgbClr val="008000"/>
                </a:solidFill>
              </a:rPr>
              <a:t>N</a:t>
            </a:r>
            <a:r>
              <a:rPr lang="en-US" altLang="zh-CN" sz="2000" baseline="-25000">
                <a:solidFill>
                  <a:srgbClr val="008000"/>
                </a:solidFill>
              </a:rPr>
              <a:t>u</a:t>
            </a:r>
            <a:r>
              <a:rPr lang="en-US" altLang="zh-CN" sz="2000" baseline="30000">
                <a:solidFill>
                  <a:srgbClr val="008000"/>
                </a:solidFill>
              </a:rPr>
              <a:t>a</a:t>
            </a:r>
            <a:r>
              <a:rPr lang="zh-CN" altLang="en-US" sz="2000">
                <a:solidFill>
                  <a:srgbClr val="008000"/>
                </a:solidFill>
              </a:rPr>
              <a:t>时，其</a:t>
            </a:r>
            <a:r>
              <a:rPr lang="en-US" altLang="zh-CN" sz="2000" i="1">
                <a:solidFill>
                  <a:srgbClr val="008000"/>
                </a:solidFill>
              </a:rPr>
              <a:t>N</a:t>
            </a:r>
            <a:r>
              <a:rPr lang="en-US" altLang="zh-CN" sz="2000">
                <a:solidFill>
                  <a:srgbClr val="008000"/>
                </a:solidFill>
              </a:rPr>
              <a:t>-</a:t>
            </a:r>
            <a:r>
              <a:rPr lang="el-GR" altLang="zh-CN" sz="2000">
                <a:solidFill>
                  <a:srgbClr val="008000"/>
                </a:solidFill>
                <a:cs typeface="Times New Roman" pitchFamily="18" charset="0"/>
              </a:rPr>
              <a:t> </a:t>
            </a:r>
            <a:r>
              <a:rPr lang="el-GR" altLang="zh-CN" sz="2000" i="1">
                <a:solidFill>
                  <a:srgbClr val="008000"/>
                </a:solidFill>
              </a:rPr>
              <a:t>ε</a:t>
            </a:r>
            <a:r>
              <a:rPr lang="zh-CN" altLang="en-US" sz="2000">
                <a:solidFill>
                  <a:srgbClr val="008000"/>
                </a:solidFill>
                <a:cs typeface="Times New Roman" pitchFamily="18" charset="0"/>
              </a:rPr>
              <a:t>曲线与普通箍筋柱的</a:t>
            </a:r>
            <a:r>
              <a:rPr lang="en-US" altLang="zh-CN" sz="2000" i="1">
                <a:solidFill>
                  <a:srgbClr val="008000"/>
                </a:solidFill>
              </a:rPr>
              <a:t>N</a:t>
            </a:r>
            <a:r>
              <a:rPr lang="en-US" altLang="zh-CN" sz="2000">
                <a:solidFill>
                  <a:srgbClr val="008000"/>
                </a:solidFill>
              </a:rPr>
              <a:t>-</a:t>
            </a:r>
            <a:r>
              <a:rPr lang="el-GR" altLang="zh-CN" sz="2000">
                <a:solidFill>
                  <a:srgbClr val="008000"/>
                </a:solidFill>
                <a:cs typeface="Times New Roman" pitchFamily="18" charset="0"/>
              </a:rPr>
              <a:t> </a:t>
            </a:r>
            <a:r>
              <a:rPr lang="el-GR" altLang="zh-CN" sz="2000" i="1">
                <a:solidFill>
                  <a:srgbClr val="008000"/>
                </a:solidFill>
              </a:rPr>
              <a:t>ε</a:t>
            </a:r>
            <a:r>
              <a:rPr lang="zh-CN" altLang="en-US" sz="2000">
                <a:solidFill>
                  <a:srgbClr val="008000"/>
                </a:solidFill>
                <a:cs typeface="Times New Roman" pitchFamily="18" charset="0"/>
              </a:rPr>
              <a:t>曲线基本相同</a:t>
            </a:r>
            <a:r>
              <a:rPr lang="zh-CN" altLang="en-US" sz="2000">
                <a:solidFill>
                  <a:srgbClr val="00FF00"/>
                </a:solidFill>
                <a:cs typeface="Times New Roman" pitchFamily="18" charset="0"/>
              </a:rPr>
              <a:t>。</a:t>
            </a:r>
          </a:p>
          <a:p>
            <a:pPr algn="l">
              <a:lnSpc>
                <a:spcPct val="120000"/>
              </a:lnSpc>
              <a:spcBef>
                <a:spcPct val="50000"/>
              </a:spcBef>
            </a:pPr>
            <a:r>
              <a:rPr lang="zh-CN" altLang="en-US" sz="2000">
                <a:solidFill>
                  <a:srgbClr val="800000"/>
                </a:solidFill>
                <a:cs typeface="Times New Roman" pitchFamily="18" charset="0"/>
              </a:rPr>
              <a:t>过</a:t>
            </a:r>
            <a:r>
              <a:rPr lang="en-US" altLang="zh-CN" sz="2000">
                <a:solidFill>
                  <a:srgbClr val="800000"/>
                </a:solidFill>
                <a:cs typeface="Times New Roman" pitchFamily="18" charset="0"/>
              </a:rPr>
              <a:t>a</a:t>
            </a:r>
            <a:r>
              <a:rPr lang="zh-CN" altLang="en-US" sz="2000">
                <a:solidFill>
                  <a:srgbClr val="800000"/>
                </a:solidFill>
                <a:cs typeface="Times New Roman" pitchFamily="18" charset="0"/>
              </a:rPr>
              <a:t>点后，螺旋箍筋柱并未破坏，尚能继续加载，表现很好的延性</a:t>
            </a:r>
            <a:r>
              <a:rPr lang="zh-CN" altLang="en-US" sz="1800">
                <a:solidFill>
                  <a:schemeClr val="tx2"/>
                </a:solidFill>
                <a:ea typeface="楷体_GB2312" pitchFamily="49" charset="-122"/>
                <a:cs typeface="Times New Roman" pitchFamily="18" charset="0"/>
              </a:rPr>
              <a:t>。</a:t>
            </a:r>
          </a:p>
          <a:p>
            <a:pPr algn="l">
              <a:lnSpc>
                <a:spcPct val="120000"/>
              </a:lnSpc>
              <a:spcBef>
                <a:spcPct val="50000"/>
              </a:spcBef>
            </a:pPr>
            <a:r>
              <a:rPr lang="zh-CN" altLang="en-US" sz="2000">
                <a:solidFill>
                  <a:srgbClr val="800000"/>
                </a:solidFill>
                <a:cs typeface="Times New Roman" pitchFamily="18" charset="0"/>
              </a:rPr>
              <a:t>螺旋箍筋外围的混凝土保护层开始剥落，混凝土截面面积减少，使荷载有所下降， </a:t>
            </a:r>
            <a:r>
              <a:rPr lang="en-US" altLang="zh-CN" sz="2000" i="1">
                <a:solidFill>
                  <a:srgbClr val="800000"/>
                </a:solidFill>
              </a:rPr>
              <a:t>N</a:t>
            </a:r>
            <a:r>
              <a:rPr lang="en-US" altLang="zh-CN" sz="2000">
                <a:solidFill>
                  <a:srgbClr val="800000"/>
                </a:solidFill>
              </a:rPr>
              <a:t>-</a:t>
            </a:r>
            <a:r>
              <a:rPr lang="el-GR" altLang="zh-CN" sz="2000">
                <a:solidFill>
                  <a:srgbClr val="800000"/>
                </a:solidFill>
                <a:cs typeface="Times New Roman" pitchFamily="18" charset="0"/>
              </a:rPr>
              <a:t> </a:t>
            </a:r>
            <a:r>
              <a:rPr lang="el-GR" altLang="zh-CN" sz="2000" i="1">
                <a:solidFill>
                  <a:srgbClr val="800000"/>
                </a:solidFill>
              </a:rPr>
              <a:t>ε</a:t>
            </a:r>
            <a:r>
              <a:rPr lang="zh-CN" altLang="en-US" sz="2000">
                <a:solidFill>
                  <a:srgbClr val="800000"/>
                </a:solidFill>
                <a:cs typeface="Times New Roman" pitchFamily="18" charset="0"/>
              </a:rPr>
              <a:t>曲线上出现一个低谷</a:t>
            </a:r>
            <a:endParaRPr lang="el-GR" altLang="zh-CN" sz="2000">
              <a:solidFill>
                <a:srgbClr val="800000"/>
              </a:solidFill>
              <a:cs typeface="Times New Roman" pitchFamily="18" charset="0"/>
            </a:endParaRPr>
          </a:p>
        </p:txBody>
      </p:sp>
      <p:sp>
        <p:nvSpPr>
          <p:cNvPr id="314377" name="Freeform 9"/>
          <p:cNvSpPr>
            <a:spLocks/>
          </p:cNvSpPr>
          <p:nvPr/>
        </p:nvSpPr>
        <p:spPr bwMode="auto">
          <a:xfrm>
            <a:off x="4260850" y="3968750"/>
            <a:ext cx="384175" cy="1354138"/>
          </a:xfrm>
          <a:custGeom>
            <a:avLst/>
            <a:gdLst>
              <a:gd name="T0" fmla="*/ 4 w 242"/>
              <a:gd name="T1" fmla="*/ 812 h 853"/>
              <a:gd name="T2" fmla="*/ 4 w 242"/>
              <a:gd name="T3" fmla="*/ 834 h 853"/>
              <a:gd name="T4" fmla="*/ 30 w 242"/>
              <a:gd name="T5" fmla="*/ 696 h 853"/>
              <a:gd name="T6" fmla="*/ 78 w 242"/>
              <a:gd name="T7" fmla="*/ 484 h 853"/>
              <a:gd name="T8" fmla="*/ 144 w 242"/>
              <a:gd name="T9" fmla="*/ 238 h 853"/>
              <a:gd name="T10" fmla="*/ 242 w 242"/>
              <a:gd name="T11" fmla="*/ 0 h 853"/>
            </a:gdLst>
            <a:ahLst/>
            <a:cxnLst>
              <a:cxn ang="0">
                <a:pos x="T0" y="T1"/>
              </a:cxn>
              <a:cxn ang="0">
                <a:pos x="T2" y="T3"/>
              </a:cxn>
              <a:cxn ang="0">
                <a:pos x="T4" y="T5"/>
              </a:cxn>
              <a:cxn ang="0">
                <a:pos x="T6" y="T7"/>
              </a:cxn>
              <a:cxn ang="0">
                <a:pos x="T8" y="T9"/>
              </a:cxn>
              <a:cxn ang="0">
                <a:pos x="T10" y="T11"/>
              </a:cxn>
            </a:cxnLst>
            <a:rect l="0" t="0" r="r" b="b"/>
            <a:pathLst>
              <a:path w="242" h="853">
                <a:moveTo>
                  <a:pt x="4" y="812"/>
                </a:moveTo>
                <a:cubicBezTo>
                  <a:pt x="2" y="832"/>
                  <a:pt x="0" y="853"/>
                  <a:pt x="4" y="834"/>
                </a:cubicBezTo>
                <a:cubicBezTo>
                  <a:pt x="8" y="815"/>
                  <a:pt x="18" y="754"/>
                  <a:pt x="30" y="696"/>
                </a:cubicBezTo>
                <a:cubicBezTo>
                  <a:pt x="42" y="638"/>
                  <a:pt x="59" y="560"/>
                  <a:pt x="78" y="484"/>
                </a:cubicBezTo>
                <a:cubicBezTo>
                  <a:pt x="97" y="408"/>
                  <a:pt x="117" y="319"/>
                  <a:pt x="144" y="238"/>
                </a:cubicBezTo>
                <a:cubicBezTo>
                  <a:pt x="171" y="157"/>
                  <a:pt x="217" y="40"/>
                  <a:pt x="242" y="0"/>
                </a:cubicBezTo>
              </a:path>
            </a:pathLst>
          </a:custGeom>
          <a:noFill/>
          <a:ln w="952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4378" name="Freeform 10"/>
          <p:cNvSpPr>
            <a:spLocks/>
          </p:cNvSpPr>
          <p:nvPr/>
        </p:nvSpPr>
        <p:spPr bwMode="auto">
          <a:xfrm>
            <a:off x="4254500" y="3630613"/>
            <a:ext cx="793750" cy="1692275"/>
          </a:xfrm>
          <a:custGeom>
            <a:avLst/>
            <a:gdLst>
              <a:gd name="T0" fmla="*/ 8 w 500"/>
              <a:gd name="T1" fmla="*/ 1025 h 1066"/>
              <a:gd name="T2" fmla="*/ 5 w 500"/>
              <a:gd name="T3" fmla="*/ 1043 h 1066"/>
              <a:gd name="T4" fmla="*/ 38 w 500"/>
              <a:gd name="T5" fmla="*/ 884 h 1066"/>
              <a:gd name="T6" fmla="*/ 92 w 500"/>
              <a:gd name="T7" fmla="*/ 653 h 1066"/>
              <a:gd name="T8" fmla="*/ 164 w 500"/>
              <a:gd name="T9" fmla="*/ 404 h 1066"/>
              <a:gd name="T10" fmla="*/ 245 w 500"/>
              <a:gd name="T11" fmla="*/ 206 h 1066"/>
              <a:gd name="T12" fmla="*/ 320 w 500"/>
              <a:gd name="T13" fmla="*/ 86 h 1066"/>
              <a:gd name="T14" fmla="*/ 410 w 500"/>
              <a:gd name="T15" fmla="*/ 14 h 1066"/>
              <a:gd name="T16" fmla="*/ 500 w 500"/>
              <a:gd name="T17" fmla="*/ 2 h 10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0" h="1066">
                <a:moveTo>
                  <a:pt x="8" y="1025"/>
                </a:moveTo>
                <a:cubicBezTo>
                  <a:pt x="4" y="1045"/>
                  <a:pt x="0" y="1066"/>
                  <a:pt x="5" y="1043"/>
                </a:cubicBezTo>
                <a:cubicBezTo>
                  <a:pt x="10" y="1020"/>
                  <a:pt x="24" y="949"/>
                  <a:pt x="38" y="884"/>
                </a:cubicBezTo>
                <a:cubicBezTo>
                  <a:pt x="52" y="819"/>
                  <a:pt x="71" y="733"/>
                  <a:pt x="92" y="653"/>
                </a:cubicBezTo>
                <a:cubicBezTo>
                  <a:pt x="113" y="573"/>
                  <a:pt x="138" y="479"/>
                  <a:pt x="164" y="404"/>
                </a:cubicBezTo>
                <a:cubicBezTo>
                  <a:pt x="190" y="329"/>
                  <a:pt x="219" y="259"/>
                  <a:pt x="245" y="206"/>
                </a:cubicBezTo>
                <a:cubicBezTo>
                  <a:pt x="271" y="153"/>
                  <a:pt x="292" y="118"/>
                  <a:pt x="320" y="86"/>
                </a:cubicBezTo>
                <a:cubicBezTo>
                  <a:pt x="348" y="54"/>
                  <a:pt x="380" y="28"/>
                  <a:pt x="410" y="14"/>
                </a:cubicBezTo>
                <a:cubicBezTo>
                  <a:pt x="440" y="0"/>
                  <a:pt x="479" y="1"/>
                  <a:pt x="500" y="2"/>
                </a:cubicBezTo>
              </a:path>
            </a:pathLst>
          </a:custGeom>
          <a:noFill/>
          <a:ln w="38100" cap="flat" cmpd="sng">
            <a:solidFill>
              <a:srgbClr val="008000"/>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4380" name="Freeform 12"/>
          <p:cNvSpPr>
            <a:spLocks/>
          </p:cNvSpPr>
          <p:nvPr/>
        </p:nvSpPr>
        <p:spPr bwMode="auto">
          <a:xfrm>
            <a:off x="5029200" y="3636963"/>
            <a:ext cx="1238250" cy="141287"/>
          </a:xfrm>
          <a:custGeom>
            <a:avLst/>
            <a:gdLst>
              <a:gd name="T0" fmla="*/ 0 w 780"/>
              <a:gd name="T1" fmla="*/ 13 h 89"/>
              <a:gd name="T2" fmla="*/ 15 w 780"/>
              <a:gd name="T3" fmla="*/ 1 h 89"/>
              <a:gd name="T4" fmla="*/ 81 w 780"/>
              <a:gd name="T5" fmla="*/ 22 h 89"/>
              <a:gd name="T6" fmla="*/ 177 w 780"/>
              <a:gd name="T7" fmla="*/ 40 h 89"/>
              <a:gd name="T8" fmla="*/ 348 w 780"/>
              <a:gd name="T9" fmla="*/ 67 h 89"/>
              <a:gd name="T10" fmla="*/ 537 w 780"/>
              <a:gd name="T11" fmla="*/ 85 h 89"/>
              <a:gd name="T12" fmla="*/ 654 w 780"/>
              <a:gd name="T13" fmla="*/ 88 h 89"/>
              <a:gd name="T14" fmla="*/ 758 w 780"/>
              <a:gd name="T15" fmla="*/ 87 h 89"/>
              <a:gd name="T16" fmla="*/ 780 w 780"/>
              <a:gd name="T17" fmla="*/ 85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0" h="89">
                <a:moveTo>
                  <a:pt x="0" y="13"/>
                </a:moveTo>
                <a:cubicBezTo>
                  <a:pt x="1" y="6"/>
                  <a:pt x="2" y="0"/>
                  <a:pt x="15" y="1"/>
                </a:cubicBezTo>
                <a:cubicBezTo>
                  <a:pt x="28" y="2"/>
                  <a:pt x="54" y="15"/>
                  <a:pt x="81" y="22"/>
                </a:cubicBezTo>
                <a:cubicBezTo>
                  <a:pt x="108" y="29"/>
                  <a:pt x="133" y="33"/>
                  <a:pt x="177" y="40"/>
                </a:cubicBezTo>
                <a:cubicBezTo>
                  <a:pt x="221" y="47"/>
                  <a:pt x="288" y="59"/>
                  <a:pt x="348" y="67"/>
                </a:cubicBezTo>
                <a:cubicBezTo>
                  <a:pt x="408" y="75"/>
                  <a:pt x="486" y="81"/>
                  <a:pt x="537" y="85"/>
                </a:cubicBezTo>
                <a:cubicBezTo>
                  <a:pt x="588" y="89"/>
                  <a:pt x="617" y="88"/>
                  <a:pt x="654" y="88"/>
                </a:cubicBezTo>
                <a:cubicBezTo>
                  <a:pt x="691" y="88"/>
                  <a:pt x="737" y="87"/>
                  <a:pt x="758" y="87"/>
                </a:cubicBezTo>
                <a:cubicBezTo>
                  <a:pt x="779" y="87"/>
                  <a:pt x="776" y="85"/>
                  <a:pt x="780" y="85"/>
                </a:cubicBezTo>
              </a:path>
            </a:pathLst>
          </a:custGeom>
          <a:noFill/>
          <a:ln w="38100" cap="flat" cmpd="sng">
            <a:solidFill>
              <a:srgbClr val="800000"/>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14376">
                                            <p:txEl>
                                              <p:pRg st="0" end="0"/>
                                            </p:txEl>
                                          </p:spTgt>
                                        </p:tgtEl>
                                        <p:attrNameLst>
                                          <p:attrName>style.visibility</p:attrName>
                                        </p:attrNameLst>
                                      </p:cBhvr>
                                      <p:to>
                                        <p:strVal val="visible"/>
                                      </p:to>
                                    </p:set>
                                    <p:animEffect transition="in" filter="blinds(horizontal)">
                                      <p:cBhvr>
                                        <p:cTn id="7" dur="500"/>
                                        <p:tgtEl>
                                          <p:spTgt spid="31437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14378"/>
                                        </p:tgtEl>
                                        <p:attrNameLst>
                                          <p:attrName>style.visibility</p:attrName>
                                        </p:attrNameLst>
                                      </p:cBhvr>
                                      <p:to>
                                        <p:strVal val="visible"/>
                                      </p:to>
                                    </p:set>
                                    <p:animEffect transition="in" filter="wipe(down)">
                                      <p:cBhvr>
                                        <p:cTn id="12" dur="500"/>
                                        <p:tgtEl>
                                          <p:spTgt spid="3143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14376">
                                            <p:txEl>
                                              <p:pRg st="1" end="1"/>
                                            </p:txEl>
                                          </p:spTgt>
                                        </p:tgtEl>
                                        <p:attrNameLst>
                                          <p:attrName>style.visibility</p:attrName>
                                        </p:attrNameLst>
                                      </p:cBhvr>
                                      <p:to>
                                        <p:strVal val="visible"/>
                                      </p:to>
                                    </p:set>
                                    <p:animEffect transition="in" filter="blinds(horizontal)">
                                      <p:cBhvr>
                                        <p:cTn id="17" dur="500"/>
                                        <p:tgtEl>
                                          <p:spTgt spid="31437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14376">
                                            <p:txEl>
                                              <p:pRg st="2" end="2"/>
                                            </p:txEl>
                                          </p:spTgt>
                                        </p:tgtEl>
                                        <p:attrNameLst>
                                          <p:attrName>style.visibility</p:attrName>
                                        </p:attrNameLst>
                                      </p:cBhvr>
                                      <p:to>
                                        <p:strVal val="visible"/>
                                      </p:to>
                                    </p:set>
                                    <p:animEffect transition="in" filter="blinds(horizontal)">
                                      <p:cBhvr>
                                        <p:cTn id="22" dur="500"/>
                                        <p:tgtEl>
                                          <p:spTgt spid="31437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14380"/>
                                        </p:tgtEl>
                                        <p:attrNameLst>
                                          <p:attrName>style.visibility</p:attrName>
                                        </p:attrNameLst>
                                      </p:cBhvr>
                                      <p:to>
                                        <p:strVal val="visible"/>
                                      </p:to>
                                    </p:set>
                                    <p:animEffect transition="in" filter="wipe(left)">
                                      <p:cBhvr>
                                        <p:cTn id="27" dur="500"/>
                                        <p:tgtEl>
                                          <p:spTgt spid="314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8" grpId="0" animBg="1"/>
      <p:bldP spid="314380"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7.1</a:t>
            </a:r>
            <a:r>
              <a:rPr lang="zh-CN" altLang="en-US" sz="3000" dirty="0">
                <a:solidFill>
                  <a:schemeClr val="tx2"/>
                </a:solidFill>
                <a:latin typeface="Times New Roman" pitchFamily="18" charset="0"/>
              </a:rPr>
              <a:t>轴心受压构件正截面承载力的计算</a:t>
            </a:r>
            <a:r>
              <a:rPr lang="zh-CN" altLang="en-US" dirty="0">
                <a:solidFill>
                  <a:schemeClr val="tx2"/>
                </a:solidFill>
              </a:rPr>
              <a:t> </a:t>
            </a:r>
          </a:p>
        </p:txBody>
      </p:sp>
      <p:sp>
        <p:nvSpPr>
          <p:cNvPr id="315395" name="Rectangle 3"/>
          <p:cNvSpPr>
            <a:spLocks noChangeArrowheads="1"/>
          </p:cNvSpPr>
          <p:nvPr/>
        </p:nvSpPr>
        <p:spPr bwMode="auto">
          <a:xfrm>
            <a:off x="611188" y="1066800"/>
            <a:ext cx="8228012"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二</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配有纵向钢筋及螺旋箍筋的柱</a:t>
            </a:r>
            <a:r>
              <a:rPr lang="zh-CN" altLang="en-US"/>
              <a:t> </a:t>
            </a:r>
          </a:p>
          <a:p>
            <a:pPr algn="l">
              <a:lnSpc>
                <a:spcPct val="100000"/>
              </a:lnSpc>
              <a:spcBef>
                <a:spcPct val="0"/>
              </a:spcBef>
              <a:buClrTx/>
              <a:buFontTx/>
              <a:buNone/>
            </a:pPr>
            <a:r>
              <a:rPr lang="zh-CN" altLang="en-US"/>
              <a:t>        </a:t>
            </a:r>
          </a:p>
        </p:txBody>
      </p:sp>
      <p:pic>
        <p:nvPicPr>
          <p:cNvPr id="315396" name="Picture 4" descr="gj0711"/>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5143" r="15358"/>
          <a:stretch>
            <a:fillRect/>
          </a:stretch>
        </p:blipFill>
        <p:spPr bwMode="auto">
          <a:xfrm>
            <a:off x="3886200" y="2209800"/>
            <a:ext cx="5257800" cy="3675063"/>
          </a:xfrm>
          <a:prstGeom prst="rect">
            <a:avLst/>
          </a:prstGeom>
          <a:noFill/>
          <a:extLst>
            <a:ext uri="{909E8E84-426E-40DD-AFC4-6F175D3DCCD1}">
              <a14:hiddenFill xmlns:a14="http://schemas.microsoft.com/office/drawing/2010/main">
                <a:solidFill>
                  <a:srgbClr val="FFFFFF"/>
                </a:solidFill>
              </a14:hiddenFill>
            </a:ext>
          </a:extLst>
        </p:spPr>
      </p:pic>
      <p:sp>
        <p:nvSpPr>
          <p:cNvPr id="315397" name="Rectangle 5"/>
          <p:cNvSpPr>
            <a:spLocks noChangeArrowheads="1"/>
          </p:cNvSpPr>
          <p:nvPr/>
        </p:nvSpPr>
        <p:spPr bwMode="auto">
          <a:xfrm>
            <a:off x="457200" y="1819275"/>
            <a:ext cx="3657600" cy="409342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000" dirty="0"/>
              <a:t>核芯部分混凝土由于受到螺旋箍筋的约束仍能继续受压，其抗压强度将超过轴心抗压强度</a:t>
            </a:r>
            <a:r>
              <a:rPr lang="en-US" altLang="zh-CN" sz="2000" i="1" dirty="0" err="1"/>
              <a:t>f</a:t>
            </a:r>
            <a:r>
              <a:rPr lang="en-US" altLang="zh-CN" sz="2000" baseline="-25000" dirty="0" err="1"/>
              <a:t>c</a:t>
            </a:r>
            <a:r>
              <a:rPr lang="zh-CN" altLang="en-US" sz="2000" baseline="-25000" dirty="0"/>
              <a:t>，</a:t>
            </a:r>
            <a:r>
              <a:rPr lang="zh-CN" altLang="en-US" sz="2000" dirty="0"/>
              <a:t>承载能力增加，荷载又开始上升。</a:t>
            </a:r>
            <a:endParaRPr lang="zh-CN" altLang="en-US" sz="2000" dirty="0">
              <a:cs typeface="Times New Roman" pitchFamily="18" charset="0"/>
            </a:endParaRPr>
          </a:p>
          <a:p>
            <a:pPr algn="l">
              <a:lnSpc>
                <a:spcPct val="120000"/>
              </a:lnSpc>
              <a:spcBef>
                <a:spcPct val="50000"/>
              </a:spcBef>
            </a:pPr>
            <a:r>
              <a:rPr lang="zh-CN" altLang="en-US" sz="2000" dirty="0">
                <a:solidFill>
                  <a:srgbClr val="FF0000"/>
                </a:solidFill>
                <a:cs typeface="Times New Roman" pitchFamily="18" charset="0"/>
              </a:rPr>
              <a:t>螺旋箍筋中的拉应力也不断增大，直至达到抗拉屈服强度，出现第二个峰值。</a:t>
            </a:r>
          </a:p>
          <a:p>
            <a:pPr algn="l">
              <a:lnSpc>
                <a:spcPct val="120000"/>
              </a:lnSpc>
              <a:spcBef>
                <a:spcPct val="50000"/>
              </a:spcBef>
            </a:pPr>
            <a:r>
              <a:rPr lang="zh-CN" altLang="en-US" sz="2000" dirty="0">
                <a:solidFill>
                  <a:srgbClr val="FF0000"/>
                </a:solidFill>
                <a:cs typeface="Times New Roman" pitchFamily="18" charset="0"/>
              </a:rPr>
              <a:t>核芯部分混凝土的强度也不能再提高，最后，混凝土压碎。</a:t>
            </a:r>
            <a:endParaRPr lang="el-GR" altLang="zh-CN" sz="2000" dirty="0">
              <a:solidFill>
                <a:srgbClr val="FF0000"/>
              </a:solidFill>
              <a:cs typeface="Times New Roman" pitchFamily="18" charset="0"/>
            </a:endParaRPr>
          </a:p>
        </p:txBody>
      </p:sp>
      <p:sp>
        <p:nvSpPr>
          <p:cNvPr id="315398" name="Freeform 6"/>
          <p:cNvSpPr>
            <a:spLocks/>
          </p:cNvSpPr>
          <p:nvPr/>
        </p:nvSpPr>
        <p:spPr bwMode="auto">
          <a:xfrm>
            <a:off x="4260850" y="3968750"/>
            <a:ext cx="384175" cy="1354138"/>
          </a:xfrm>
          <a:custGeom>
            <a:avLst/>
            <a:gdLst>
              <a:gd name="T0" fmla="*/ 4 w 242"/>
              <a:gd name="T1" fmla="*/ 812 h 853"/>
              <a:gd name="T2" fmla="*/ 4 w 242"/>
              <a:gd name="T3" fmla="*/ 834 h 853"/>
              <a:gd name="T4" fmla="*/ 30 w 242"/>
              <a:gd name="T5" fmla="*/ 696 h 853"/>
              <a:gd name="T6" fmla="*/ 78 w 242"/>
              <a:gd name="T7" fmla="*/ 484 h 853"/>
              <a:gd name="T8" fmla="*/ 144 w 242"/>
              <a:gd name="T9" fmla="*/ 238 h 853"/>
              <a:gd name="T10" fmla="*/ 242 w 242"/>
              <a:gd name="T11" fmla="*/ 0 h 853"/>
            </a:gdLst>
            <a:ahLst/>
            <a:cxnLst>
              <a:cxn ang="0">
                <a:pos x="T0" y="T1"/>
              </a:cxn>
              <a:cxn ang="0">
                <a:pos x="T2" y="T3"/>
              </a:cxn>
              <a:cxn ang="0">
                <a:pos x="T4" y="T5"/>
              </a:cxn>
              <a:cxn ang="0">
                <a:pos x="T6" y="T7"/>
              </a:cxn>
              <a:cxn ang="0">
                <a:pos x="T8" y="T9"/>
              </a:cxn>
              <a:cxn ang="0">
                <a:pos x="T10" y="T11"/>
              </a:cxn>
            </a:cxnLst>
            <a:rect l="0" t="0" r="r" b="b"/>
            <a:pathLst>
              <a:path w="242" h="853">
                <a:moveTo>
                  <a:pt x="4" y="812"/>
                </a:moveTo>
                <a:cubicBezTo>
                  <a:pt x="2" y="832"/>
                  <a:pt x="0" y="853"/>
                  <a:pt x="4" y="834"/>
                </a:cubicBezTo>
                <a:cubicBezTo>
                  <a:pt x="8" y="815"/>
                  <a:pt x="18" y="754"/>
                  <a:pt x="30" y="696"/>
                </a:cubicBezTo>
                <a:cubicBezTo>
                  <a:pt x="42" y="638"/>
                  <a:pt x="59" y="560"/>
                  <a:pt x="78" y="484"/>
                </a:cubicBezTo>
                <a:cubicBezTo>
                  <a:pt x="97" y="408"/>
                  <a:pt x="117" y="319"/>
                  <a:pt x="144" y="238"/>
                </a:cubicBezTo>
                <a:cubicBezTo>
                  <a:pt x="171" y="157"/>
                  <a:pt x="217" y="40"/>
                  <a:pt x="242" y="0"/>
                </a:cubicBezTo>
              </a:path>
            </a:pathLst>
          </a:custGeom>
          <a:noFill/>
          <a:ln w="952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5399" name="Freeform 7"/>
          <p:cNvSpPr>
            <a:spLocks/>
          </p:cNvSpPr>
          <p:nvPr/>
        </p:nvSpPr>
        <p:spPr bwMode="auto">
          <a:xfrm>
            <a:off x="4254500" y="3630613"/>
            <a:ext cx="793750" cy="1692275"/>
          </a:xfrm>
          <a:custGeom>
            <a:avLst/>
            <a:gdLst>
              <a:gd name="T0" fmla="*/ 8 w 500"/>
              <a:gd name="T1" fmla="*/ 1025 h 1066"/>
              <a:gd name="T2" fmla="*/ 5 w 500"/>
              <a:gd name="T3" fmla="*/ 1043 h 1066"/>
              <a:gd name="T4" fmla="*/ 38 w 500"/>
              <a:gd name="T5" fmla="*/ 884 h 1066"/>
              <a:gd name="T6" fmla="*/ 92 w 500"/>
              <a:gd name="T7" fmla="*/ 653 h 1066"/>
              <a:gd name="T8" fmla="*/ 164 w 500"/>
              <a:gd name="T9" fmla="*/ 404 h 1066"/>
              <a:gd name="T10" fmla="*/ 245 w 500"/>
              <a:gd name="T11" fmla="*/ 206 h 1066"/>
              <a:gd name="T12" fmla="*/ 320 w 500"/>
              <a:gd name="T13" fmla="*/ 86 h 1066"/>
              <a:gd name="T14" fmla="*/ 410 w 500"/>
              <a:gd name="T15" fmla="*/ 14 h 1066"/>
              <a:gd name="T16" fmla="*/ 500 w 500"/>
              <a:gd name="T17" fmla="*/ 2 h 10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0" h="1066">
                <a:moveTo>
                  <a:pt x="8" y="1025"/>
                </a:moveTo>
                <a:cubicBezTo>
                  <a:pt x="4" y="1045"/>
                  <a:pt x="0" y="1066"/>
                  <a:pt x="5" y="1043"/>
                </a:cubicBezTo>
                <a:cubicBezTo>
                  <a:pt x="10" y="1020"/>
                  <a:pt x="24" y="949"/>
                  <a:pt x="38" y="884"/>
                </a:cubicBezTo>
                <a:cubicBezTo>
                  <a:pt x="52" y="819"/>
                  <a:pt x="71" y="733"/>
                  <a:pt x="92" y="653"/>
                </a:cubicBezTo>
                <a:cubicBezTo>
                  <a:pt x="113" y="573"/>
                  <a:pt x="138" y="479"/>
                  <a:pt x="164" y="404"/>
                </a:cubicBezTo>
                <a:cubicBezTo>
                  <a:pt x="190" y="329"/>
                  <a:pt x="219" y="259"/>
                  <a:pt x="245" y="206"/>
                </a:cubicBezTo>
                <a:cubicBezTo>
                  <a:pt x="271" y="153"/>
                  <a:pt x="292" y="118"/>
                  <a:pt x="320" y="86"/>
                </a:cubicBezTo>
                <a:cubicBezTo>
                  <a:pt x="348" y="54"/>
                  <a:pt x="380" y="28"/>
                  <a:pt x="410" y="14"/>
                </a:cubicBezTo>
                <a:cubicBezTo>
                  <a:pt x="440" y="0"/>
                  <a:pt x="479" y="1"/>
                  <a:pt x="500" y="2"/>
                </a:cubicBezTo>
              </a:path>
            </a:pathLst>
          </a:custGeom>
          <a:noFill/>
          <a:ln w="38100" cap="flat" cmpd="sng">
            <a:solidFill>
              <a:srgbClr val="008000"/>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5400" name="Freeform 8"/>
          <p:cNvSpPr>
            <a:spLocks/>
          </p:cNvSpPr>
          <p:nvPr/>
        </p:nvSpPr>
        <p:spPr bwMode="auto">
          <a:xfrm>
            <a:off x="5029200" y="3636963"/>
            <a:ext cx="1238250" cy="141287"/>
          </a:xfrm>
          <a:custGeom>
            <a:avLst/>
            <a:gdLst>
              <a:gd name="T0" fmla="*/ 0 w 780"/>
              <a:gd name="T1" fmla="*/ 13 h 89"/>
              <a:gd name="T2" fmla="*/ 15 w 780"/>
              <a:gd name="T3" fmla="*/ 1 h 89"/>
              <a:gd name="T4" fmla="*/ 81 w 780"/>
              <a:gd name="T5" fmla="*/ 22 h 89"/>
              <a:gd name="T6" fmla="*/ 177 w 780"/>
              <a:gd name="T7" fmla="*/ 40 h 89"/>
              <a:gd name="T8" fmla="*/ 348 w 780"/>
              <a:gd name="T9" fmla="*/ 67 h 89"/>
              <a:gd name="T10" fmla="*/ 537 w 780"/>
              <a:gd name="T11" fmla="*/ 85 h 89"/>
              <a:gd name="T12" fmla="*/ 654 w 780"/>
              <a:gd name="T13" fmla="*/ 88 h 89"/>
              <a:gd name="T14" fmla="*/ 758 w 780"/>
              <a:gd name="T15" fmla="*/ 87 h 89"/>
              <a:gd name="T16" fmla="*/ 780 w 780"/>
              <a:gd name="T17" fmla="*/ 85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0" h="89">
                <a:moveTo>
                  <a:pt x="0" y="13"/>
                </a:moveTo>
                <a:cubicBezTo>
                  <a:pt x="1" y="6"/>
                  <a:pt x="2" y="0"/>
                  <a:pt x="15" y="1"/>
                </a:cubicBezTo>
                <a:cubicBezTo>
                  <a:pt x="28" y="2"/>
                  <a:pt x="54" y="15"/>
                  <a:pt x="81" y="22"/>
                </a:cubicBezTo>
                <a:cubicBezTo>
                  <a:pt x="108" y="29"/>
                  <a:pt x="133" y="33"/>
                  <a:pt x="177" y="40"/>
                </a:cubicBezTo>
                <a:cubicBezTo>
                  <a:pt x="221" y="47"/>
                  <a:pt x="288" y="59"/>
                  <a:pt x="348" y="67"/>
                </a:cubicBezTo>
                <a:cubicBezTo>
                  <a:pt x="408" y="75"/>
                  <a:pt x="486" y="81"/>
                  <a:pt x="537" y="85"/>
                </a:cubicBezTo>
                <a:cubicBezTo>
                  <a:pt x="588" y="89"/>
                  <a:pt x="617" y="88"/>
                  <a:pt x="654" y="88"/>
                </a:cubicBezTo>
                <a:cubicBezTo>
                  <a:pt x="691" y="88"/>
                  <a:pt x="737" y="87"/>
                  <a:pt x="758" y="87"/>
                </a:cubicBezTo>
                <a:cubicBezTo>
                  <a:pt x="779" y="87"/>
                  <a:pt x="776" y="85"/>
                  <a:pt x="780" y="85"/>
                </a:cubicBezTo>
              </a:path>
            </a:pathLst>
          </a:custGeom>
          <a:noFill/>
          <a:ln w="38100" cap="flat" cmpd="sng">
            <a:solidFill>
              <a:srgbClr val="800000"/>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5402" name="Freeform 10"/>
          <p:cNvSpPr>
            <a:spLocks/>
          </p:cNvSpPr>
          <p:nvPr/>
        </p:nvSpPr>
        <p:spPr bwMode="auto">
          <a:xfrm>
            <a:off x="6267450" y="3619500"/>
            <a:ext cx="777875" cy="158750"/>
          </a:xfrm>
          <a:custGeom>
            <a:avLst/>
            <a:gdLst>
              <a:gd name="T0" fmla="*/ 0 w 490"/>
              <a:gd name="T1" fmla="*/ 100 h 100"/>
              <a:gd name="T2" fmla="*/ 2 w 490"/>
              <a:gd name="T3" fmla="*/ 98 h 100"/>
              <a:gd name="T4" fmla="*/ 162 w 490"/>
              <a:gd name="T5" fmla="*/ 86 h 100"/>
              <a:gd name="T6" fmla="*/ 288 w 490"/>
              <a:gd name="T7" fmla="*/ 62 h 100"/>
              <a:gd name="T8" fmla="*/ 406 w 490"/>
              <a:gd name="T9" fmla="*/ 32 h 100"/>
              <a:gd name="T10" fmla="*/ 490 w 490"/>
              <a:gd name="T11" fmla="*/ 0 h 100"/>
            </a:gdLst>
            <a:ahLst/>
            <a:cxnLst>
              <a:cxn ang="0">
                <a:pos x="T0" y="T1"/>
              </a:cxn>
              <a:cxn ang="0">
                <a:pos x="T2" y="T3"/>
              </a:cxn>
              <a:cxn ang="0">
                <a:pos x="T4" y="T5"/>
              </a:cxn>
              <a:cxn ang="0">
                <a:pos x="T6" y="T7"/>
              </a:cxn>
              <a:cxn ang="0">
                <a:pos x="T8" y="T9"/>
              </a:cxn>
              <a:cxn ang="0">
                <a:pos x="T10" y="T11"/>
              </a:cxn>
            </a:cxnLst>
            <a:rect l="0" t="0" r="r" b="b"/>
            <a:pathLst>
              <a:path w="490" h="100">
                <a:moveTo>
                  <a:pt x="0" y="100"/>
                </a:moveTo>
                <a:lnTo>
                  <a:pt x="2" y="98"/>
                </a:lnTo>
                <a:cubicBezTo>
                  <a:pt x="29" y="96"/>
                  <a:pt x="114" y="92"/>
                  <a:pt x="162" y="86"/>
                </a:cubicBezTo>
                <a:cubicBezTo>
                  <a:pt x="210" y="80"/>
                  <a:pt x="247" y="71"/>
                  <a:pt x="288" y="62"/>
                </a:cubicBezTo>
                <a:cubicBezTo>
                  <a:pt x="329" y="53"/>
                  <a:pt x="372" y="42"/>
                  <a:pt x="406" y="32"/>
                </a:cubicBezTo>
                <a:cubicBezTo>
                  <a:pt x="440" y="22"/>
                  <a:pt x="472" y="1"/>
                  <a:pt x="490" y="0"/>
                </a:cubicBezTo>
              </a:path>
            </a:pathLst>
          </a:custGeom>
          <a:noFill/>
          <a:ln w="381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5403" name="Freeform 11"/>
          <p:cNvSpPr>
            <a:spLocks/>
          </p:cNvSpPr>
          <p:nvPr/>
        </p:nvSpPr>
        <p:spPr bwMode="auto">
          <a:xfrm>
            <a:off x="7018338" y="3494088"/>
            <a:ext cx="1255712" cy="133350"/>
          </a:xfrm>
          <a:custGeom>
            <a:avLst/>
            <a:gdLst>
              <a:gd name="T0" fmla="*/ 19 w 791"/>
              <a:gd name="T1" fmla="*/ 81 h 84"/>
              <a:gd name="T2" fmla="*/ 17 w 791"/>
              <a:gd name="T3" fmla="*/ 79 h 84"/>
              <a:gd name="T4" fmla="*/ 121 w 791"/>
              <a:gd name="T5" fmla="*/ 53 h 84"/>
              <a:gd name="T6" fmla="*/ 207 w 791"/>
              <a:gd name="T7" fmla="*/ 33 h 84"/>
              <a:gd name="T8" fmla="*/ 401 w 791"/>
              <a:gd name="T9" fmla="*/ 5 h 84"/>
              <a:gd name="T10" fmla="*/ 491 w 791"/>
              <a:gd name="T11" fmla="*/ 3 h 84"/>
              <a:gd name="T12" fmla="*/ 601 w 791"/>
              <a:gd name="T13" fmla="*/ 7 h 84"/>
              <a:gd name="T14" fmla="*/ 791 w 791"/>
              <a:gd name="T15" fmla="*/ 31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91" h="84">
                <a:moveTo>
                  <a:pt x="19" y="81"/>
                </a:moveTo>
                <a:cubicBezTo>
                  <a:pt x="19" y="80"/>
                  <a:pt x="0" y="84"/>
                  <a:pt x="17" y="79"/>
                </a:cubicBezTo>
                <a:cubicBezTo>
                  <a:pt x="34" y="74"/>
                  <a:pt x="89" y="61"/>
                  <a:pt x="121" y="53"/>
                </a:cubicBezTo>
                <a:cubicBezTo>
                  <a:pt x="153" y="45"/>
                  <a:pt x="160" y="41"/>
                  <a:pt x="207" y="33"/>
                </a:cubicBezTo>
                <a:cubicBezTo>
                  <a:pt x="254" y="25"/>
                  <a:pt x="354" y="10"/>
                  <a:pt x="401" y="5"/>
                </a:cubicBezTo>
                <a:cubicBezTo>
                  <a:pt x="448" y="0"/>
                  <a:pt x="458" y="3"/>
                  <a:pt x="491" y="3"/>
                </a:cubicBezTo>
                <a:cubicBezTo>
                  <a:pt x="524" y="3"/>
                  <a:pt x="551" y="2"/>
                  <a:pt x="601" y="7"/>
                </a:cubicBezTo>
                <a:cubicBezTo>
                  <a:pt x="651" y="12"/>
                  <a:pt x="752" y="26"/>
                  <a:pt x="791" y="31"/>
                </a:cubicBezTo>
              </a:path>
            </a:pathLst>
          </a:custGeom>
          <a:noFill/>
          <a:ln w="381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15397">
                                            <p:txEl>
                                              <p:pRg st="0" end="0"/>
                                            </p:txEl>
                                          </p:spTgt>
                                        </p:tgtEl>
                                        <p:attrNameLst>
                                          <p:attrName>style.visibility</p:attrName>
                                        </p:attrNameLst>
                                      </p:cBhvr>
                                      <p:to>
                                        <p:strVal val="visible"/>
                                      </p:to>
                                    </p:set>
                                    <p:animEffect transition="in" filter="blinds(horizontal)">
                                      <p:cBhvr>
                                        <p:cTn id="7" dur="500"/>
                                        <p:tgtEl>
                                          <p:spTgt spid="31539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15402"/>
                                        </p:tgtEl>
                                        <p:attrNameLst>
                                          <p:attrName>style.visibility</p:attrName>
                                        </p:attrNameLst>
                                      </p:cBhvr>
                                      <p:to>
                                        <p:strVal val="visible"/>
                                      </p:to>
                                    </p:set>
                                    <p:animEffect transition="in" filter="wipe(down)">
                                      <p:cBhvr>
                                        <p:cTn id="12" dur="500"/>
                                        <p:tgtEl>
                                          <p:spTgt spid="3154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15397">
                                            <p:txEl>
                                              <p:pRg st="1" end="1"/>
                                            </p:txEl>
                                          </p:spTgt>
                                        </p:tgtEl>
                                        <p:attrNameLst>
                                          <p:attrName>style.visibility</p:attrName>
                                        </p:attrNameLst>
                                      </p:cBhvr>
                                      <p:to>
                                        <p:strVal val="visible"/>
                                      </p:to>
                                    </p:set>
                                    <p:animEffect transition="in" filter="blinds(horizontal)">
                                      <p:cBhvr>
                                        <p:cTn id="17" dur="500"/>
                                        <p:tgtEl>
                                          <p:spTgt spid="31539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15403"/>
                                        </p:tgtEl>
                                        <p:attrNameLst>
                                          <p:attrName>style.visibility</p:attrName>
                                        </p:attrNameLst>
                                      </p:cBhvr>
                                      <p:to>
                                        <p:strVal val="visible"/>
                                      </p:to>
                                    </p:set>
                                    <p:animEffect transition="in" filter="wipe(left)">
                                      <p:cBhvr>
                                        <p:cTn id="22" dur="500"/>
                                        <p:tgtEl>
                                          <p:spTgt spid="31540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15397">
                                            <p:txEl>
                                              <p:pRg st="2" end="2"/>
                                            </p:txEl>
                                          </p:spTgt>
                                        </p:tgtEl>
                                        <p:attrNameLst>
                                          <p:attrName>style.visibility</p:attrName>
                                        </p:attrNameLst>
                                      </p:cBhvr>
                                      <p:to>
                                        <p:strVal val="visible"/>
                                      </p:to>
                                    </p:set>
                                    <p:animEffect transition="in" filter="blinds(horizontal)">
                                      <p:cBhvr>
                                        <p:cTn id="27" dur="500"/>
                                        <p:tgtEl>
                                          <p:spTgt spid="31539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402" grpId="0" animBg="1"/>
      <p:bldP spid="315403"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7.1</a:t>
            </a:r>
            <a:r>
              <a:rPr lang="zh-CN" altLang="en-US" sz="3000" dirty="0">
                <a:solidFill>
                  <a:schemeClr val="tx2"/>
                </a:solidFill>
                <a:latin typeface="Times New Roman" pitchFamily="18" charset="0"/>
              </a:rPr>
              <a:t>轴心受压构件正截面承载力的计算</a:t>
            </a:r>
            <a:r>
              <a:rPr lang="zh-CN" altLang="en-US" dirty="0">
                <a:solidFill>
                  <a:schemeClr val="tx2"/>
                </a:solidFill>
              </a:rPr>
              <a:t> </a:t>
            </a:r>
          </a:p>
        </p:txBody>
      </p:sp>
      <p:sp>
        <p:nvSpPr>
          <p:cNvPr id="315395" name="Rectangle 3"/>
          <p:cNvSpPr>
            <a:spLocks noChangeArrowheads="1"/>
          </p:cNvSpPr>
          <p:nvPr/>
        </p:nvSpPr>
        <p:spPr bwMode="auto">
          <a:xfrm>
            <a:off x="611188" y="1066800"/>
            <a:ext cx="8228012"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二</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配有纵向钢筋及螺旋箍筋的柱</a:t>
            </a:r>
            <a:r>
              <a:rPr lang="zh-CN" altLang="en-US"/>
              <a:t> </a:t>
            </a:r>
          </a:p>
          <a:p>
            <a:pPr algn="l">
              <a:lnSpc>
                <a:spcPct val="100000"/>
              </a:lnSpc>
              <a:spcBef>
                <a:spcPct val="0"/>
              </a:spcBef>
              <a:buClrTx/>
              <a:buFontTx/>
              <a:buNone/>
            </a:pPr>
            <a:r>
              <a:rPr lang="zh-CN" altLang="en-US"/>
              <a:t>        </a:t>
            </a:r>
          </a:p>
        </p:txBody>
      </p:sp>
      <p:pic>
        <p:nvPicPr>
          <p:cNvPr id="2" name="图片 1"/>
          <p:cNvPicPr>
            <a:picLocks noChangeAspect="1"/>
          </p:cNvPicPr>
          <p:nvPr/>
        </p:nvPicPr>
        <p:blipFill rotWithShape="1">
          <a:blip r:embed="rId2">
            <a:extLst>
              <a:ext uri="{28A0092B-C50C-407E-A947-70E740481C1C}">
                <a14:useLocalDpi xmlns:a14="http://schemas.microsoft.com/office/drawing/2010/main" val="0"/>
              </a:ext>
            </a:extLst>
          </a:blip>
          <a:srcRect b="11528"/>
          <a:stretch/>
        </p:blipFill>
        <p:spPr>
          <a:xfrm>
            <a:off x="467544" y="1996189"/>
            <a:ext cx="3960000" cy="3503452"/>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2472" y="1987201"/>
            <a:ext cx="3960000" cy="3432432"/>
          </a:xfrm>
          <a:prstGeom prst="rect">
            <a:avLst/>
          </a:prstGeom>
        </p:spPr>
      </p:pic>
    </p:spTree>
    <p:extLst>
      <p:ext uri="{BB962C8B-B14F-4D97-AF65-F5344CB8AC3E}">
        <p14:creationId xmlns:p14="http://schemas.microsoft.com/office/powerpoint/2010/main" val="398133143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7.1</a:t>
            </a:r>
            <a:r>
              <a:rPr lang="zh-CN" altLang="en-US" sz="3000" dirty="0">
                <a:solidFill>
                  <a:schemeClr val="tx2"/>
                </a:solidFill>
                <a:latin typeface="Times New Roman" pitchFamily="18" charset="0"/>
              </a:rPr>
              <a:t>轴心受压构件正截面承载力的计算</a:t>
            </a:r>
            <a:r>
              <a:rPr lang="zh-CN" altLang="en-US" dirty="0">
                <a:solidFill>
                  <a:schemeClr val="tx2"/>
                </a:solidFill>
              </a:rPr>
              <a:t> </a:t>
            </a:r>
          </a:p>
        </p:txBody>
      </p:sp>
      <p:sp>
        <p:nvSpPr>
          <p:cNvPr id="315395" name="Rectangle 3"/>
          <p:cNvSpPr>
            <a:spLocks noChangeArrowheads="1"/>
          </p:cNvSpPr>
          <p:nvPr/>
        </p:nvSpPr>
        <p:spPr bwMode="auto">
          <a:xfrm>
            <a:off x="611188" y="1066800"/>
            <a:ext cx="8228012"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二</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配有纵向钢筋及螺旋箍筋的柱</a:t>
            </a:r>
            <a:r>
              <a:rPr lang="zh-CN" altLang="en-US"/>
              <a:t> </a:t>
            </a:r>
          </a:p>
          <a:p>
            <a:pPr algn="l">
              <a:lnSpc>
                <a:spcPct val="100000"/>
              </a:lnSpc>
              <a:spcBef>
                <a:spcPct val="0"/>
              </a:spcBef>
              <a:buClrTx/>
              <a:buFontTx/>
              <a:buNone/>
            </a:pPr>
            <a:r>
              <a:rPr lang="zh-CN" altLang="en-US"/>
              <a:t>        </a:t>
            </a:r>
          </a:p>
        </p:txBody>
      </p:sp>
      <p:sp>
        <p:nvSpPr>
          <p:cNvPr id="315397" name="Rectangle 5"/>
          <p:cNvSpPr>
            <a:spLocks noChangeArrowheads="1"/>
          </p:cNvSpPr>
          <p:nvPr/>
        </p:nvSpPr>
        <p:spPr bwMode="auto">
          <a:xfrm>
            <a:off x="457200" y="1737870"/>
            <a:ext cx="6172200" cy="42633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zh-CN" altLang="en-US" sz="2000" dirty="0">
                <a:cs typeface="Times New Roman" panose="02020603050405020304" pitchFamily="18" charset="0"/>
              </a:rPr>
              <a:t>约束混凝土的轴心抗压强度</a:t>
            </a:r>
            <a:r>
              <a:rPr lang="en-US" altLang="zh-CN" sz="2000" i="1" dirty="0">
                <a:cs typeface="Times New Roman" panose="02020603050405020304" pitchFamily="18" charset="0"/>
              </a:rPr>
              <a:t>f</a:t>
            </a:r>
            <a:r>
              <a:rPr lang="zh-CN" altLang="en-US" sz="2000" dirty="0">
                <a:cs typeface="Times New Roman" panose="02020603050405020304" pitchFamily="18" charset="0"/>
              </a:rPr>
              <a:t>可按下式计算：</a:t>
            </a:r>
            <a:endParaRPr lang="el-GR" altLang="zh-CN" sz="2000" dirty="0">
              <a:cs typeface="Times New Roman" panose="02020603050405020304"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4195318723"/>
              </p:ext>
            </p:extLst>
          </p:nvPr>
        </p:nvGraphicFramePr>
        <p:xfrm>
          <a:off x="685800" y="2362200"/>
          <a:ext cx="1322387" cy="368300"/>
        </p:xfrm>
        <a:graphic>
          <a:graphicData uri="http://schemas.openxmlformats.org/presentationml/2006/ole">
            <mc:AlternateContent xmlns:mc="http://schemas.openxmlformats.org/markup-compatibility/2006">
              <mc:Choice xmlns:v="urn:schemas-microsoft-com:vml" Requires="v">
                <p:oleObj spid="_x0000_s429406" name="Equation" r:id="rId3" imgW="685800" imgH="190440" progId="">
                  <p:embed/>
                </p:oleObj>
              </mc:Choice>
              <mc:Fallback>
                <p:oleObj name="Equation" r:id="rId3" imgW="685800" imgH="190440" progId="">
                  <p:embed/>
                  <p:pic>
                    <p:nvPicPr>
                      <p:cNvPr id="0" name="Picture 1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362200"/>
                        <a:ext cx="1322387"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4" name="直接连接符 3"/>
          <p:cNvCxnSpPr/>
          <p:nvPr/>
        </p:nvCxnSpPr>
        <p:spPr bwMode="auto">
          <a:xfrm>
            <a:off x="1626066" y="2700556"/>
            <a:ext cx="304800" cy="0"/>
          </a:xfrm>
          <a:prstGeom prst="line">
            <a:avLst/>
          </a:prstGeom>
          <a:solidFill>
            <a:srgbClr val="FF00FF"/>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Rectangle 5"/>
          <p:cNvSpPr>
            <a:spLocks noChangeArrowheads="1"/>
          </p:cNvSpPr>
          <p:nvPr/>
        </p:nvSpPr>
        <p:spPr bwMode="auto">
          <a:xfrm>
            <a:off x="2133600" y="2697135"/>
            <a:ext cx="6542856" cy="387798"/>
          </a:xfrm>
          <a:prstGeom prst="rect">
            <a:avLst/>
          </a:prstGeom>
          <a:solidFill>
            <a:schemeClr val="tx1">
              <a:lumMod val="20000"/>
              <a:lumOff val="80000"/>
            </a:schemeClr>
          </a:solidFill>
          <a:ln>
            <a:noFill/>
          </a:ln>
          <a:effectLst/>
          <a:extLst/>
        </p:spPr>
        <p:txBody>
          <a:bodyPr wrap="square">
            <a:spAutoFit/>
          </a:bodyPr>
          <a:lstStyle/>
          <a:p>
            <a:pPr algn="l">
              <a:lnSpc>
                <a:spcPct val="120000"/>
              </a:lnSpc>
              <a:spcBef>
                <a:spcPct val="50000"/>
              </a:spcBef>
            </a:pPr>
            <a:r>
              <a:rPr lang="zh-CN" altLang="en-US" sz="1600" b="0" dirty="0">
                <a:solidFill>
                  <a:schemeClr val="tx2"/>
                </a:solidFill>
                <a:cs typeface="Times New Roman" panose="02020603050405020304" pitchFamily="18" charset="0"/>
              </a:rPr>
              <a:t>当螺旋箍筋应力达到抗拉屈服强度时，核心混凝土受到的径向压应力值</a:t>
            </a:r>
            <a:endParaRPr lang="el-GR" altLang="zh-CN" sz="1600" b="0" dirty="0">
              <a:solidFill>
                <a:schemeClr val="tx2"/>
              </a:solidFill>
              <a:cs typeface="Times New Roman" panose="02020603050405020304" pitchFamily="18" charset="0"/>
            </a:endParaRPr>
          </a:p>
        </p:txBody>
      </p:sp>
      <p:cxnSp>
        <p:nvCxnSpPr>
          <p:cNvPr id="7" name="曲线连接符 6"/>
          <p:cNvCxnSpPr>
            <a:endCxn id="14" idx="1"/>
          </p:cNvCxnSpPr>
          <p:nvPr/>
        </p:nvCxnSpPr>
        <p:spPr bwMode="auto">
          <a:xfrm>
            <a:off x="1778466" y="2697135"/>
            <a:ext cx="355134" cy="193899"/>
          </a:xfrm>
          <a:prstGeom prst="curvedConnector3">
            <a:avLst/>
          </a:prstGeom>
          <a:solidFill>
            <a:srgbClr val="FF00FF"/>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Rectangle 5"/>
          <p:cNvSpPr>
            <a:spLocks noChangeArrowheads="1"/>
          </p:cNvSpPr>
          <p:nvPr/>
        </p:nvSpPr>
        <p:spPr bwMode="auto">
          <a:xfrm>
            <a:off x="457200" y="3352800"/>
            <a:ext cx="6477000" cy="46166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zh-CN" altLang="en-US" sz="2000" dirty="0">
                <a:cs typeface="Times New Roman" panose="02020603050405020304" pitchFamily="18" charset="0"/>
              </a:rPr>
              <a:t>沿柱截面直径截出螺旋箍筋脱离体，由平衡条件可得：</a:t>
            </a:r>
            <a:endParaRPr lang="el-GR" altLang="zh-CN" sz="2000" dirty="0">
              <a:cs typeface="Times New Roman" panose="02020603050405020304" pitchFamily="18" charset="0"/>
            </a:endParaRPr>
          </a:p>
        </p:txBody>
      </p:sp>
      <p:graphicFrame>
        <p:nvGraphicFramePr>
          <p:cNvPr id="19" name="对象 18"/>
          <p:cNvGraphicFramePr>
            <a:graphicFrameLocks noChangeAspect="1"/>
          </p:cNvGraphicFramePr>
          <p:nvPr>
            <p:extLst>
              <p:ext uri="{D42A27DB-BD31-4B8C-83A1-F6EECF244321}">
                <p14:modId xmlns:p14="http://schemas.microsoft.com/office/powerpoint/2010/main" val="4038626033"/>
              </p:ext>
            </p:extLst>
          </p:nvPr>
        </p:nvGraphicFramePr>
        <p:xfrm>
          <a:off x="1106488" y="4038600"/>
          <a:ext cx="1714500" cy="392112"/>
        </p:xfrm>
        <a:graphic>
          <a:graphicData uri="http://schemas.openxmlformats.org/presentationml/2006/ole">
            <mc:AlternateContent xmlns:mc="http://schemas.openxmlformats.org/markup-compatibility/2006">
              <mc:Choice xmlns:v="urn:schemas-microsoft-com:vml" Requires="v">
                <p:oleObj spid="_x0000_s429407" name="Equation" r:id="rId5" imgW="888840" imgH="203040" progId="">
                  <p:embed/>
                </p:oleObj>
              </mc:Choice>
              <mc:Fallback>
                <p:oleObj name="Equation" r:id="rId5" imgW="888840" imgH="203040" progId="">
                  <p:embed/>
                  <p:pic>
                    <p:nvPicPr>
                      <p:cNvPr id="0" name="Picture 1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6488" y="4038600"/>
                        <a:ext cx="1714500" cy="392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1912016086"/>
              </p:ext>
            </p:extLst>
          </p:nvPr>
        </p:nvGraphicFramePr>
        <p:xfrm>
          <a:off x="1005630" y="4876800"/>
          <a:ext cx="3722688" cy="1054100"/>
        </p:xfrm>
        <a:graphic>
          <a:graphicData uri="http://schemas.openxmlformats.org/presentationml/2006/ole">
            <mc:AlternateContent xmlns:mc="http://schemas.openxmlformats.org/markup-compatibility/2006">
              <mc:Choice xmlns:v="urn:schemas-microsoft-com:vml" Requires="v">
                <p:oleObj spid="_x0000_s429408" name="Equation" r:id="rId7" imgW="1930320" imgH="545760" progId="">
                  <p:embed/>
                </p:oleObj>
              </mc:Choice>
              <mc:Fallback>
                <p:oleObj name="Equation" r:id="rId7" imgW="1930320" imgH="545760" progId="">
                  <p:embed/>
                  <p:pic>
                    <p:nvPicPr>
                      <p:cNvPr id="0" name="Picture 1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5630" y="4876800"/>
                        <a:ext cx="3722688" cy="1054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ectangle 5"/>
          <p:cNvSpPr>
            <a:spLocks noChangeArrowheads="1"/>
          </p:cNvSpPr>
          <p:nvPr/>
        </p:nvSpPr>
        <p:spPr bwMode="auto">
          <a:xfrm>
            <a:off x="3390900" y="4038600"/>
            <a:ext cx="647700" cy="35086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en-US" altLang="zh-CN" sz="1400" dirty="0">
                <a:solidFill>
                  <a:schemeClr val="tx2"/>
                </a:solidFill>
                <a:cs typeface="Times New Roman" panose="02020603050405020304" pitchFamily="18" charset="0"/>
              </a:rPr>
              <a:t>(7-5)</a:t>
            </a:r>
            <a:endParaRPr lang="el-GR" altLang="zh-CN" sz="1400" dirty="0">
              <a:solidFill>
                <a:schemeClr val="tx2"/>
              </a:solidFill>
              <a:cs typeface="Times New Roman" panose="02020603050405020304" pitchFamily="18" charset="0"/>
            </a:endParaRPr>
          </a:p>
        </p:txBody>
      </p:sp>
      <p:sp>
        <p:nvSpPr>
          <p:cNvPr id="22" name="Rectangle 5"/>
          <p:cNvSpPr>
            <a:spLocks noChangeArrowheads="1"/>
          </p:cNvSpPr>
          <p:nvPr/>
        </p:nvSpPr>
        <p:spPr bwMode="auto">
          <a:xfrm>
            <a:off x="5143500" y="5105400"/>
            <a:ext cx="647700" cy="32836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en-US" altLang="zh-CN" sz="1400" dirty="0">
                <a:solidFill>
                  <a:schemeClr val="tx2"/>
                </a:solidFill>
                <a:cs typeface="Times New Roman" panose="02020603050405020304" pitchFamily="18" charset="0"/>
              </a:rPr>
              <a:t>(7-6)</a:t>
            </a:r>
            <a:endParaRPr lang="el-GR" altLang="zh-CN" sz="1400" dirty="0">
              <a:solidFill>
                <a:schemeClr val="tx2"/>
              </a:solidFill>
              <a:cs typeface="Times New Roman" panose="02020603050405020304" pitchFamily="18" charset="0"/>
            </a:endParaRPr>
          </a:p>
        </p:txBody>
      </p:sp>
      <p:graphicFrame>
        <p:nvGraphicFramePr>
          <p:cNvPr id="23" name="对象 22"/>
          <p:cNvGraphicFramePr>
            <a:graphicFrameLocks noChangeAspect="1"/>
          </p:cNvGraphicFramePr>
          <p:nvPr>
            <p:extLst>
              <p:ext uri="{D42A27DB-BD31-4B8C-83A1-F6EECF244321}">
                <p14:modId xmlns:p14="http://schemas.microsoft.com/office/powerpoint/2010/main" val="873136685"/>
              </p:ext>
            </p:extLst>
          </p:nvPr>
        </p:nvGraphicFramePr>
        <p:xfrm>
          <a:off x="1122828" y="5943600"/>
          <a:ext cx="1616075" cy="687388"/>
        </p:xfrm>
        <a:graphic>
          <a:graphicData uri="http://schemas.openxmlformats.org/presentationml/2006/ole">
            <mc:AlternateContent xmlns:mc="http://schemas.openxmlformats.org/markup-compatibility/2006">
              <mc:Choice xmlns:v="urn:schemas-microsoft-com:vml" Requires="v">
                <p:oleObj spid="_x0000_s429409" name="Equation" r:id="rId9" imgW="838080" imgH="355320" progId="">
                  <p:embed/>
                </p:oleObj>
              </mc:Choice>
              <mc:Fallback>
                <p:oleObj name="Equation" r:id="rId9" imgW="838080" imgH="355320" progId="">
                  <p:embed/>
                  <p:pic>
                    <p:nvPicPr>
                      <p:cNvPr id="0" name="Picture 15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22828" y="5943600"/>
                        <a:ext cx="1616075" cy="687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Rectangle 5"/>
          <p:cNvSpPr>
            <a:spLocks noChangeArrowheads="1"/>
          </p:cNvSpPr>
          <p:nvPr/>
        </p:nvSpPr>
        <p:spPr bwMode="auto">
          <a:xfrm>
            <a:off x="3048000" y="6172200"/>
            <a:ext cx="647700" cy="32836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en-US" altLang="zh-CN" sz="1400" dirty="0">
                <a:solidFill>
                  <a:schemeClr val="tx2"/>
                </a:solidFill>
                <a:cs typeface="Times New Roman" panose="02020603050405020304" pitchFamily="18" charset="0"/>
              </a:rPr>
              <a:t>(7-7)</a:t>
            </a:r>
            <a:endParaRPr lang="el-GR" altLang="zh-CN" sz="1400" dirty="0">
              <a:solidFill>
                <a:schemeClr val="tx2"/>
              </a:solidFill>
              <a:cs typeface="Times New Roman" panose="02020603050405020304" pitchFamily="18" charset="0"/>
            </a:endParaRPr>
          </a:p>
        </p:txBody>
      </p:sp>
    </p:spTree>
    <p:extLst>
      <p:ext uri="{BB962C8B-B14F-4D97-AF65-F5344CB8AC3E}">
        <p14:creationId xmlns:p14="http://schemas.microsoft.com/office/powerpoint/2010/main" val="3294221963"/>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7.1</a:t>
            </a:r>
            <a:r>
              <a:rPr lang="zh-CN" altLang="en-US" sz="3000" dirty="0">
                <a:solidFill>
                  <a:schemeClr val="tx2"/>
                </a:solidFill>
                <a:latin typeface="Times New Roman" pitchFamily="18" charset="0"/>
              </a:rPr>
              <a:t>轴心受压构件正截面承载力的计算</a:t>
            </a:r>
            <a:r>
              <a:rPr lang="zh-CN" altLang="en-US" dirty="0">
                <a:solidFill>
                  <a:schemeClr val="tx2"/>
                </a:solidFill>
              </a:rPr>
              <a:t> </a:t>
            </a:r>
          </a:p>
        </p:txBody>
      </p:sp>
      <p:sp>
        <p:nvSpPr>
          <p:cNvPr id="315395" name="Rectangle 3"/>
          <p:cNvSpPr>
            <a:spLocks noChangeArrowheads="1"/>
          </p:cNvSpPr>
          <p:nvPr/>
        </p:nvSpPr>
        <p:spPr bwMode="auto">
          <a:xfrm>
            <a:off x="611188" y="1066800"/>
            <a:ext cx="8228012"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二</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配有纵向钢筋及螺旋箍筋的柱</a:t>
            </a:r>
            <a:r>
              <a:rPr lang="zh-CN" altLang="en-US"/>
              <a:t> </a:t>
            </a:r>
          </a:p>
          <a:p>
            <a:pPr algn="l">
              <a:lnSpc>
                <a:spcPct val="100000"/>
              </a:lnSpc>
              <a:spcBef>
                <a:spcPct val="0"/>
              </a:spcBef>
              <a:buClrTx/>
              <a:buFontTx/>
              <a:buNone/>
            </a:pPr>
            <a:r>
              <a:rPr lang="zh-CN" altLang="en-US"/>
              <a:t>        </a:t>
            </a:r>
          </a:p>
        </p:txBody>
      </p:sp>
      <p:sp>
        <p:nvSpPr>
          <p:cNvPr id="315397" name="Rectangle 5"/>
          <p:cNvSpPr>
            <a:spLocks noChangeArrowheads="1"/>
          </p:cNvSpPr>
          <p:nvPr/>
        </p:nvSpPr>
        <p:spPr bwMode="auto">
          <a:xfrm>
            <a:off x="457200" y="1737870"/>
            <a:ext cx="8534400" cy="46166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zh-CN" altLang="en-US" sz="2000" dirty="0">
                <a:cs typeface="Times New Roman" panose="02020603050405020304" pitchFamily="18" charset="0"/>
              </a:rPr>
              <a:t>根据纵向力的平衡，即可得出螺旋箍筋柱正截面受压承载力的计算式：</a:t>
            </a:r>
            <a:endParaRPr lang="el-GR" altLang="zh-CN" sz="2000" dirty="0">
              <a:cs typeface="Times New Roman" panose="02020603050405020304"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290065818"/>
              </p:ext>
            </p:extLst>
          </p:nvPr>
        </p:nvGraphicFramePr>
        <p:xfrm>
          <a:off x="863599" y="2338388"/>
          <a:ext cx="4089401" cy="417512"/>
        </p:xfrm>
        <a:graphic>
          <a:graphicData uri="http://schemas.openxmlformats.org/presentationml/2006/ole">
            <mc:AlternateContent xmlns:mc="http://schemas.openxmlformats.org/markup-compatibility/2006">
              <mc:Choice xmlns:v="urn:schemas-microsoft-com:vml" Requires="v">
                <p:oleObj spid="_x0000_s430337" name="Equation" r:id="rId3" imgW="2120760" imgH="215640" progId="">
                  <p:embed/>
                </p:oleObj>
              </mc:Choice>
              <mc:Fallback>
                <p:oleObj name="Equation" r:id="rId3" imgW="2120760" imgH="215640" progId="">
                  <p:embed/>
                  <p:pic>
                    <p:nvPicPr>
                      <p:cNvPr id="0" name="Picture 1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3599" y="2338388"/>
                        <a:ext cx="4089401" cy="417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5"/>
          <p:cNvSpPr>
            <a:spLocks noChangeArrowheads="1"/>
          </p:cNvSpPr>
          <p:nvPr/>
        </p:nvSpPr>
        <p:spPr bwMode="auto">
          <a:xfrm>
            <a:off x="594410" y="2913506"/>
            <a:ext cx="6477000" cy="46166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zh-CN" altLang="en-US" sz="2000" dirty="0">
                <a:cs typeface="Times New Roman" panose="02020603050405020304" pitchFamily="18" charset="0"/>
              </a:rPr>
              <a:t>将公式（</a:t>
            </a:r>
            <a:r>
              <a:rPr lang="en-US" altLang="zh-CN" sz="2000" dirty="0">
                <a:cs typeface="Times New Roman" panose="02020603050405020304" pitchFamily="18" charset="0"/>
              </a:rPr>
              <a:t>7-6</a:t>
            </a:r>
            <a:r>
              <a:rPr lang="zh-CN" altLang="en-US" sz="2000" dirty="0">
                <a:cs typeface="Times New Roman" panose="02020603050405020304" pitchFamily="18" charset="0"/>
              </a:rPr>
              <a:t>）代入，可得：</a:t>
            </a:r>
            <a:endParaRPr lang="el-GR" altLang="zh-CN" sz="2000" dirty="0">
              <a:cs typeface="Times New Roman" panose="02020603050405020304" pitchFamily="18" charset="0"/>
            </a:endParaRPr>
          </a:p>
        </p:txBody>
      </p:sp>
      <p:sp>
        <p:nvSpPr>
          <p:cNvPr id="21" name="Rectangle 5"/>
          <p:cNvSpPr>
            <a:spLocks noChangeArrowheads="1"/>
          </p:cNvSpPr>
          <p:nvPr/>
        </p:nvSpPr>
        <p:spPr bwMode="auto">
          <a:xfrm>
            <a:off x="4724400" y="3429000"/>
            <a:ext cx="647700" cy="32836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en-US" altLang="zh-CN" sz="1400" dirty="0">
                <a:solidFill>
                  <a:schemeClr val="tx2"/>
                </a:solidFill>
                <a:cs typeface="Times New Roman" panose="02020603050405020304" pitchFamily="18" charset="0"/>
              </a:rPr>
              <a:t>(7-9)</a:t>
            </a:r>
            <a:endParaRPr lang="el-GR" altLang="zh-CN" sz="1400" dirty="0">
              <a:solidFill>
                <a:schemeClr val="tx2"/>
              </a:solidFill>
              <a:cs typeface="Times New Roman" panose="02020603050405020304" pitchFamily="18" charset="0"/>
            </a:endParaRPr>
          </a:p>
        </p:txBody>
      </p:sp>
      <p:sp>
        <p:nvSpPr>
          <p:cNvPr id="16" name="Rectangle 5"/>
          <p:cNvSpPr>
            <a:spLocks noChangeArrowheads="1"/>
          </p:cNvSpPr>
          <p:nvPr/>
        </p:nvSpPr>
        <p:spPr bwMode="auto">
          <a:xfrm>
            <a:off x="5257800" y="2438400"/>
            <a:ext cx="647700" cy="32836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en-US" altLang="zh-CN" sz="1400" dirty="0">
                <a:solidFill>
                  <a:schemeClr val="tx2"/>
                </a:solidFill>
                <a:cs typeface="Times New Roman" panose="02020603050405020304" pitchFamily="18" charset="0"/>
              </a:rPr>
              <a:t>(7-8)</a:t>
            </a:r>
            <a:endParaRPr lang="el-GR" altLang="zh-CN" sz="1400" dirty="0">
              <a:solidFill>
                <a:schemeClr val="tx2"/>
              </a:solidFill>
              <a:cs typeface="Times New Roman" panose="02020603050405020304" pitchFamily="18" charset="0"/>
            </a:endParaRPr>
          </a:p>
        </p:txBody>
      </p:sp>
      <p:graphicFrame>
        <p:nvGraphicFramePr>
          <p:cNvPr id="17" name="对象 16"/>
          <p:cNvGraphicFramePr>
            <a:graphicFrameLocks noChangeAspect="1"/>
          </p:cNvGraphicFramePr>
          <p:nvPr>
            <p:extLst>
              <p:ext uri="{D42A27DB-BD31-4B8C-83A1-F6EECF244321}">
                <p14:modId xmlns:p14="http://schemas.microsoft.com/office/powerpoint/2010/main" val="125206132"/>
              </p:ext>
            </p:extLst>
          </p:nvPr>
        </p:nvGraphicFramePr>
        <p:xfrm>
          <a:off x="838200" y="3429000"/>
          <a:ext cx="3502025" cy="417513"/>
        </p:xfrm>
        <a:graphic>
          <a:graphicData uri="http://schemas.openxmlformats.org/presentationml/2006/ole">
            <mc:AlternateContent xmlns:mc="http://schemas.openxmlformats.org/markup-compatibility/2006">
              <mc:Choice xmlns:v="urn:schemas-microsoft-com:vml" Requires="v">
                <p:oleObj spid="_x0000_s430338" name="Equation" r:id="rId5" imgW="1815840" imgH="215640" progId="">
                  <p:embed/>
                </p:oleObj>
              </mc:Choice>
              <mc:Fallback>
                <p:oleObj name="Equation" r:id="rId5" imgW="1815840" imgH="215640" progId="">
                  <p:embed/>
                  <p:pic>
                    <p:nvPicPr>
                      <p:cNvPr id="0" name="Picture 1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3429000"/>
                        <a:ext cx="3502025" cy="41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ectangle 5"/>
          <p:cNvSpPr>
            <a:spLocks noChangeArrowheads="1"/>
          </p:cNvSpPr>
          <p:nvPr/>
        </p:nvSpPr>
        <p:spPr bwMode="auto">
          <a:xfrm>
            <a:off x="594410" y="3962400"/>
            <a:ext cx="6477000" cy="46166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zh-CN" altLang="en-US" sz="2000" dirty="0">
                <a:cs typeface="Times New Roman" panose="02020603050405020304" pitchFamily="18" charset="0"/>
              </a:rPr>
              <a:t>设计时当轴向力设计值为</a:t>
            </a:r>
            <a:r>
              <a:rPr lang="en-US" altLang="zh-CN" sz="2000" dirty="0">
                <a:cs typeface="Times New Roman" panose="02020603050405020304" pitchFamily="18" charset="0"/>
              </a:rPr>
              <a:t>N</a:t>
            </a:r>
            <a:r>
              <a:rPr lang="zh-CN" altLang="en-US" sz="2000" dirty="0">
                <a:cs typeface="Times New Roman" panose="02020603050405020304" pitchFamily="18" charset="0"/>
              </a:rPr>
              <a:t>时可得：</a:t>
            </a:r>
            <a:endParaRPr lang="el-GR" altLang="zh-CN" sz="2000" dirty="0">
              <a:cs typeface="Times New Roman" panose="02020603050405020304" pitchFamily="18" charset="0"/>
            </a:endParaRPr>
          </a:p>
        </p:txBody>
      </p:sp>
      <p:graphicFrame>
        <p:nvGraphicFramePr>
          <p:cNvPr id="26" name="对象 25"/>
          <p:cNvGraphicFramePr>
            <a:graphicFrameLocks noChangeAspect="1"/>
          </p:cNvGraphicFramePr>
          <p:nvPr>
            <p:extLst>
              <p:ext uri="{D42A27DB-BD31-4B8C-83A1-F6EECF244321}">
                <p14:modId xmlns:p14="http://schemas.microsoft.com/office/powerpoint/2010/main" val="3591503242"/>
              </p:ext>
            </p:extLst>
          </p:nvPr>
        </p:nvGraphicFramePr>
        <p:xfrm>
          <a:off x="685800" y="4648200"/>
          <a:ext cx="3943350" cy="417513"/>
        </p:xfrm>
        <a:graphic>
          <a:graphicData uri="http://schemas.openxmlformats.org/presentationml/2006/ole">
            <mc:AlternateContent xmlns:mc="http://schemas.openxmlformats.org/markup-compatibility/2006">
              <mc:Choice xmlns:v="urn:schemas-microsoft-com:vml" Requires="v">
                <p:oleObj spid="_x0000_s430339" name="Equation" r:id="rId7" imgW="2044440" imgH="215640" progId="">
                  <p:embed/>
                </p:oleObj>
              </mc:Choice>
              <mc:Fallback>
                <p:oleObj name="Equation" r:id="rId7" imgW="2044440" imgH="215640" progId="">
                  <p:embed/>
                  <p:pic>
                    <p:nvPicPr>
                      <p:cNvPr id="0" name="Picture 1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 y="4648200"/>
                        <a:ext cx="3943350" cy="41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ectangle 5"/>
          <p:cNvSpPr>
            <a:spLocks noChangeArrowheads="1"/>
          </p:cNvSpPr>
          <p:nvPr/>
        </p:nvSpPr>
        <p:spPr bwMode="auto">
          <a:xfrm>
            <a:off x="4933950" y="4648200"/>
            <a:ext cx="647700" cy="32836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en-US" altLang="zh-CN" sz="1400" dirty="0">
                <a:solidFill>
                  <a:schemeClr val="tx2"/>
                </a:solidFill>
                <a:cs typeface="Times New Roman" panose="02020603050405020304" pitchFamily="18" charset="0"/>
              </a:rPr>
              <a:t>(7-10)</a:t>
            </a:r>
            <a:endParaRPr lang="el-GR" altLang="zh-CN" sz="1400" dirty="0">
              <a:solidFill>
                <a:schemeClr val="tx2"/>
              </a:solidFill>
              <a:cs typeface="Times New Roman" panose="02020603050405020304" pitchFamily="18" charset="0"/>
            </a:endParaRPr>
          </a:p>
        </p:txBody>
      </p:sp>
      <p:sp>
        <p:nvSpPr>
          <p:cNvPr id="13" name="Rectangle 5"/>
          <p:cNvSpPr>
            <a:spLocks noChangeArrowheads="1"/>
          </p:cNvSpPr>
          <p:nvPr/>
        </p:nvSpPr>
        <p:spPr bwMode="auto">
          <a:xfrm>
            <a:off x="2514600" y="5257800"/>
            <a:ext cx="5257800" cy="350865"/>
          </a:xfrm>
          <a:prstGeom prst="rect">
            <a:avLst/>
          </a:prstGeom>
          <a:solidFill>
            <a:schemeClr val="tx1">
              <a:lumMod val="20000"/>
              <a:lumOff val="80000"/>
            </a:schemeClr>
          </a:solidFill>
          <a:ln>
            <a:noFill/>
          </a:ln>
          <a:effectLst/>
          <a:extLst/>
        </p:spPr>
        <p:txBody>
          <a:bodyPr wrap="square">
            <a:spAutoFit/>
          </a:bodyPr>
          <a:lstStyle/>
          <a:p>
            <a:pPr algn="l">
              <a:lnSpc>
                <a:spcPct val="120000"/>
              </a:lnSpc>
              <a:spcBef>
                <a:spcPct val="50000"/>
              </a:spcBef>
            </a:pPr>
            <a:r>
              <a:rPr lang="zh-CN" altLang="en-US" sz="1400" b="0" dirty="0">
                <a:solidFill>
                  <a:schemeClr val="tx2"/>
                </a:solidFill>
                <a:cs typeface="Times New Roman" panose="02020603050405020304" pitchFamily="18" charset="0"/>
              </a:rPr>
              <a:t>不应大于公式（</a:t>
            </a:r>
            <a:r>
              <a:rPr lang="en-US" altLang="zh-CN" sz="1400" b="0" dirty="0">
                <a:solidFill>
                  <a:schemeClr val="tx2"/>
                </a:solidFill>
                <a:cs typeface="Times New Roman" panose="02020603050405020304" pitchFamily="18" charset="0"/>
              </a:rPr>
              <a:t>7.3</a:t>
            </a:r>
            <a:r>
              <a:rPr lang="zh-CN" altLang="en-US" sz="1400" b="0" dirty="0">
                <a:solidFill>
                  <a:schemeClr val="tx2"/>
                </a:solidFill>
                <a:cs typeface="Times New Roman" panose="02020603050405020304" pitchFamily="18" charset="0"/>
              </a:rPr>
              <a:t>）算得的普通箍筋柱正截面受压承载力的</a:t>
            </a:r>
            <a:r>
              <a:rPr lang="en-US" altLang="zh-CN" sz="1400" b="0" dirty="0">
                <a:solidFill>
                  <a:schemeClr val="tx2"/>
                </a:solidFill>
                <a:cs typeface="Times New Roman" panose="02020603050405020304" pitchFamily="18" charset="0"/>
              </a:rPr>
              <a:t>1.5</a:t>
            </a:r>
            <a:r>
              <a:rPr lang="zh-CN" altLang="en-US" sz="1400" b="0" dirty="0">
                <a:solidFill>
                  <a:schemeClr val="tx2"/>
                </a:solidFill>
                <a:cs typeface="Times New Roman" panose="02020603050405020304" pitchFamily="18" charset="0"/>
              </a:rPr>
              <a:t>倍。</a:t>
            </a:r>
            <a:endParaRPr lang="el-GR" altLang="zh-CN" sz="1400" b="0" dirty="0">
              <a:solidFill>
                <a:schemeClr val="tx2"/>
              </a:solidFill>
              <a:cs typeface="Times New Roman" panose="02020603050405020304" pitchFamily="18" charset="0"/>
            </a:endParaRPr>
          </a:p>
        </p:txBody>
      </p:sp>
      <p:cxnSp>
        <p:nvCxnSpPr>
          <p:cNvPr id="4" name="曲线连接符 3"/>
          <p:cNvCxnSpPr/>
          <p:nvPr/>
        </p:nvCxnSpPr>
        <p:spPr bwMode="auto">
          <a:xfrm>
            <a:off x="3505200" y="4976560"/>
            <a:ext cx="762000" cy="281240"/>
          </a:xfrm>
          <a:prstGeom prst="curvedConnector3">
            <a:avLst/>
          </a:prstGeom>
          <a:solidFill>
            <a:srgbClr val="FF00FF"/>
          </a:solidFill>
          <a:ln w="3810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10390461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7.1</a:t>
            </a:r>
            <a:r>
              <a:rPr lang="zh-CN" altLang="en-US" sz="3000" dirty="0">
                <a:solidFill>
                  <a:schemeClr val="tx2"/>
                </a:solidFill>
                <a:latin typeface="Times New Roman" pitchFamily="18" charset="0"/>
              </a:rPr>
              <a:t>轴心受压构件正截面承载力的计算</a:t>
            </a:r>
            <a:r>
              <a:rPr lang="zh-CN" altLang="en-US" dirty="0">
                <a:solidFill>
                  <a:schemeClr val="tx2"/>
                </a:solidFill>
              </a:rPr>
              <a:t> </a:t>
            </a:r>
          </a:p>
        </p:txBody>
      </p:sp>
      <p:sp>
        <p:nvSpPr>
          <p:cNvPr id="315395" name="Rectangle 3"/>
          <p:cNvSpPr>
            <a:spLocks noChangeArrowheads="1"/>
          </p:cNvSpPr>
          <p:nvPr/>
        </p:nvSpPr>
        <p:spPr bwMode="auto">
          <a:xfrm>
            <a:off x="611188" y="1066800"/>
            <a:ext cx="8228012"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二</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配有纵向钢筋及螺旋箍筋的柱</a:t>
            </a:r>
            <a:r>
              <a:rPr lang="zh-CN" altLang="en-US"/>
              <a:t> </a:t>
            </a:r>
          </a:p>
          <a:p>
            <a:pPr algn="l">
              <a:lnSpc>
                <a:spcPct val="100000"/>
              </a:lnSpc>
              <a:spcBef>
                <a:spcPct val="0"/>
              </a:spcBef>
              <a:buClrTx/>
              <a:buFontTx/>
              <a:buNone/>
            </a:pPr>
            <a:r>
              <a:rPr lang="zh-CN" altLang="en-US"/>
              <a:t>        </a:t>
            </a:r>
          </a:p>
        </p:txBody>
      </p:sp>
      <p:sp>
        <p:nvSpPr>
          <p:cNvPr id="315397" name="Rectangle 5"/>
          <p:cNvSpPr>
            <a:spLocks noChangeArrowheads="1"/>
          </p:cNvSpPr>
          <p:nvPr/>
        </p:nvSpPr>
        <p:spPr bwMode="auto">
          <a:xfrm>
            <a:off x="457200" y="1737870"/>
            <a:ext cx="8534400" cy="446276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ct val="50000"/>
              </a:spcBef>
            </a:pPr>
            <a:r>
              <a:rPr lang="zh-CN" altLang="en-US" sz="2000" dirty="0">
                <a:cs typeface="Times New Roman" panose="02020603050405020304" pitchFamily="18" charset="0"/>
              </a:rPr>
              <a:t>        为了保证螺旋箍筋外面的混凝土保护层不致过早剥落，按公式</a:t>
            </a:r>
            <a:r>
              <a:rPr lang="en-US" altLang="zh-CN" sz="2000" dirty="0">
                <a:cs typeface="Times New Roman" panose="02020603050405020304" pitchFamily="18" charset="0"/>
              </a:rPr>
              <a:t>(7.10)</a:t>
            </a:r>
            <a:r>
              <a:rPr lang="zh-CN" altLang="en-US" sz="2000" dirty="0">
                <a:cs typeface="Times New Roman" panose="02020603050405020304" pitchFamily="18" charset="0"/>
              </a:rPr>
              <a:t>算得的螺旋箍筋柱正截面受压承载力不应大于按公式</a:t>
            </a:r>
            <a:r>
              <a:rPr lang="en-US" altLang="zh-CN" sz="2000" dirty="0">
                <a:cs typeface="Times New Roman" panose="02020603050405020304" pitchFamily="18" charset="0"/>
              </a:rPr>
              <a:t>(7.3)</a:t>
            </a:r>
            <a:r>
              <a:rPr lang="zh-CN" altLang="en-US" sz="2000" dirty="0">
                <a:cs typeface="Times New Roman" panose="02020603050405020304" pitchFamily="18" charset="0"/>
              </a:rPr>
              <a:t>算得的普通箍筋柱正截面受压承载力的</a:t>
            </a:r>
            <a:r>
              <a:rPr lang="en-US" altLang="zh-CN" sz="2000" dirty="0">
                <a:cs typeface="Times New Roman" panose="02020603050405020304" pitchFamily="18" charset="0"/>
              </a:rPr>
              <a:t>1.5</a:t>
            </a:r>
            <a:r>
              <a:rPr lang="zh-CN" altLang="en-US" sz="2000" dirty="0">
                <a:cs typeface="Times New Roman" panose="02020603050405020304" pitchFamily="18" charset="0"/>
              </a:rPr>
              <a:t>倍。同时当有下列情况之一时，不考虑间接钢筋的影响，而按普通箍筋柱的公式</a:t>
            </a:r>
            <a:r>
              <a:rPr lang="en-US" altLang="zh-CN" sz="2000" dirty="0">
                <a:cs typeface="Times New Roman" panose="02020603050405020304" pitchFamily="18" charset="0"/>
              </a:rPr>
              <a:t>(7.3)</a:t>
            </a:r>
            <a:r>
              <a:rPr lang="zh-CN" altLang="en-US" sz="2000" dirty="0">
                <a:cs typeface="Times New Roman" panose="02020603050405020304" pitchFamily="18" charset="0"/>
              </a:rPr>
              <a:t>计算其正截面受压承载力：</a:t>
            </a:r>
          </a:p>
          <a:p>
            <a:pPr marL="457200" indent="-457200" algn="l">
              <a:lnSpc>
                <a:spcPct val="120000"/>
              </a:lnSpc>
              <a:spcBef>
                <a:spcPct val="50000"/>
              </a:spcBef>
              <a:buFont typeface="+mj-ea"/>
              <a:buAutoNum type="circleNumDbPlain"/>
            </a:pPr>
            <a:r>
              <a:rPr lang="zh-CN" altLang="en-US" sz="2000" dirty="0">
                <a:cs typeface="Times New Roman" panose="02020603050405020304" pitchFamily="18" charset="0"/>
              </a:rPr>
              <a:t>当</a:t>
            </a:r>
            <a:r>
              <a:rPr lang="en-US" altLang="zh-CN" sz="2000" i="1" dirty="0">
                <a:cs typeface="Times New Roman" panose="02020603050405020304" pitchFamily="18" charset="0"/>
              </a:rPr>
              <a:t>l</a:t>
            </a:r>
            <a:r>
              <a:rPr lang="en-US" altLang="zh-CN" sz="2000" i="1" baseline="-25000" dirty="0">
                <a:cs typeface="Times New Roman" panose="02020603050405020304" pitchFamily="18" charset="0"/>
              </a:rPr>
              <a:t>0</a:t>
            </a:r>
            <a:r>
              <a:rPr lang="en-US" altLang="zh-CN" sz="2000" i="1" dirty="0">
                <a:cs typeface="Times New Roman" panose="02020603050405020304" pitchFamily="18" charset="0"/>
              </a:rPr>
              <a:t>/d</a:t>
            </a:r>
            <a:r>
              <a:rPr lang="zh-CN" altLang="en-US" sz="2000" dirty="0">
                <a:cs typeface="Times New Roman" panose="02020603050405020304" pitchFamily="18" charset="0"/>
              </a:rPr>
              <a:t>＞</a:t>
            </a:r>
            <a:r>
              <a:rPr lang="en-US" altLang="zh-CN" sz="2000" dirty="0">
                <a:cs typeface="Times New Roman" panose="02020603050405020304" pitchFamily="18" charset="0"/>
              </a:rPr>
              <a:t>12</a:t>
            </a:r>
            <a:r>
              <a:rPr lang="zh-CN" altLang="en-US" sz="2000" dirty="0">
                <a:cs typeface="Times New Roman" panose="02020603050405020304" pitchFamily="18" charset="0"/>
              </a:rPr>
              <a:t>时，因长细比较大，由于纵向弯曲的影响，其承载力较低，横向变形不显著，使螺旋箍筋不能发挥作用；</a:t>
            </a:r>
            <a:endParaRPr lang="en-US" altLang="zh-CN" sz="2000" dirty="0">
              <a:cs typeface="Times New Roman" panose="02020603050405020304" pitchFamily="18" charset="0"/>
            </a:endParaRPr>
          </a:p>
          <a:p>
            <a:pPr marL="457200" indent="-457200" algn="l">
              <a:lnSpc>
                <a:spcPct val="120000"/>
              </a:lnSpc>
              <a:spcBef>
                <a:spcPct val="50000"/>
              </a:spcBef>
              <a:buFont typeface="+mj-ea"/>
              <a:buAutoNum type="circleNumDbPlain"/>
            </a:pPr>
            <a:r>
              <a:rPr lang="zh-CN" altLang="en-US" sz="2000" dirty="0">
                <a:cs typeface="Times New Roman" panose="02020603050405020304" pitchFamily="18" charset="0"/>
              </a:rPr>
              <a:t>当</a:t>
            </a:r>
            <a:r>
              <a:rPr lang="en-US" altLang="zh-CN" sz="2000" dirty="0">
                <a:cs typeface="Times New Roman" panose="02020603050405020304" pitchFamily="18" charset="0"/>
              </a:rPr>
              <a:t>A</a:t>
            </a:r>
            <a:r>
              <a:rPr lang="en-US" altLang="zh-CN" sz="2000" baseline="-25000" dirty="0">
                <a:cs typeface="Times New Roman" panose="02020603050405020304" pitchFamily="18" charset="0"/>
              </a:rPr>
              <a:t>ss0</a:t>
            </a:r>
            <a:r>
              <a:rPr lang="zh-CN" altLang="en-US" sz="2000" dirty="0">
                <a:cs typeface="Times New Roman" panose="02020603050405020304" pitchFamily="18" charset="0"/>
              </a:rPr>
              <a:t>＜</a:t>
            </a:r>
            <a:r>
              <a:rPr lang="en-US" altLang="zh-CN" sz="2000" dirty="0">
                <a:cs typeface="Times New Roman" panose="02020603050405020304" pitchFamily="18" charset="0"/>
              </a:rPr>
              <a:t>(A</a:t>
            </a:r>
            <a:r>
              <a:rPr lang="en-US" altLang="zh-CN" sz="2000" baseline="-25000" dirty="0">
                <a:cs typeface="Times New Roman" panose="02020603050405020304" pitchFamily="18" charset="0"/>
              </a:rPr>
              <a:t>s</a:t>
            </a:r>
            <a:r>
              <a:rPr lang="en-US" altLang="zh-CN" sz="2000" dirty="0">
                <a:cs typeface="Times New Roman" panose="02020603050405020304" pitchFamily="18" charset="0"/>
              </a:rPr>
              <a:t>’</a:t>
            </a:r>
            <a:r>
              <a:rPr lang="zh-CN" altLang="en-US" sz="2000" dirty="0">
                <a:cs typeface="Times New Roman" panose="02020603050405020304" pitchFamily="18" charset="0"/>
              </a:rPr>
              <a:t>／</a:t>
            </a:r>
            <a:r>
              <a:rPr lang="en-US" altLang="zh-CN" sz="2000" dirty="0">
                <a:cs typeface="Times New Roman" panose="02020603050405020304" pitchFamily="18" charset="0"/>
              </a:rPr>
              <a:t>4)</a:t>
            </a:r>
            <a:r>
              <a:rPr lang="zh-CN" altLang="en-US" sz="2000" dirty="0">
                <a:cs typeface="Times New Roman" panose="02020603050405020304" pitchFamily="18" charset="0"/>
              </a:rPr>
              <a:t>时，即间接钢筋的换算截面面积小于全部纵向钢筋截面面积的</a:t>
            </a:r>
            <a:r>
              <a:rPr lang="en-US" altLang="zh-CN" sz="2000" dirty="0">
                <a:cs typeface="Times New Roman" panose="02020603050405020304" pitchFamily="18" charset="0"/>
              </a:rPr>
              <a:t>1</a:t>
            </a:r>
            <a:r>
              <a:rPr lang="zh-CN" altLang="en-US" sz="2000" dirty="0">
                <a:cs typeface="Times New Roman" panose="02020603050405020304" pitchFamily="18" charset="0"/>
              </a:rPr>
              <a:t>／</a:t>
            </a:r>
            <a:r>
              <a:rPr lang="en-US" altLang="zh-CN" sz="2000" dirty="0">
                <a:cs typeface="Times New Roman" panose="02020603050405020304" pitchFamily="18" charset="0"/>
              </a:rPr>
              <a:t>4</a:t>
            </a:r>
            <a:r>
              <a:rPr lang="zh-CN" altLang="en-US" sz="2000" dirty="0">
                <a:cs typeface="Times New Roman" panose="02020603050405020304" pitchFamily="18" charset="0"/>
              </a:rPr>
              <a:t>时，或当螺旋箍筋间距</a:t>
            </a:r>
            <a:r>
              <a:rPr lang="en-US" altLang="zh-CN" sz="2000" i="1" dirty="0">
                <a:cs typeface="Times New Roman" panose="02020603050405020304" pitchFamily="18" charset="0"/>
              </a:rPr>
              <a:t>s</a:t>
            </a:r>
            <a:r>
              <a:rPr lang="zh-CN" altLang="en-US" sz="2000" i="1" dirty="0">
                <a:cs typeface="Times New Roman" panose="02020603050405020304" pitchFamily="18" charset="0"/>
              </a:rPr>
              <a:t>＞</a:t>
            </a:r>
            <a:r>
              <a:rPr lang="en-US" altLang="zh-CN" sz="2000" i="1" dirty="0" err="1">
                <a:cs typeface="Times New Roman" panose="02020603050405020304" pitchFamily="18" charset="0"/>
              </a:rPr>
              <a:t>d</a:t>
            </a:r>
            <a:r>
              <a:rPr lang="en-US" altLang="zh-CN" sz="2000" i="1" baseline="-25000" dirty="0" err="1">
                <a:cs typeface="Times New Roman" panose="02020603050405020304" pitchFamily="18" charset="0"/>
              </a:rPr>
              <a:t>cor</a:t>
            </a:r>
            <a:r>
              <a:rPr lang="zh-CN" altLang="en-US" sz="2000" dirty="0">
                <a:cs typeface="Times New Roman" panose="02020603050405020304" pitchFamily="18" charset="0"/>
              </a:rPr>
              <a:t>／</a:t>
            </a:r>
            <a:r>
              <a:rPr lang="en-US" altLang="zh-CN" sz="2000" dirty="0">
                <a:cs typeface="Times New Roman" panose="02020603050405020304" pitchFamily="18" charset="0"/>
              </a:rPr>
              <a:t>5(</a:t>
            </a:r>
            <a:r>
              <a:rPr lang="en-US" altLang="zh-CN" sz="2000" i="1" dirty="0" err="1">
                <a:cs typeface="Times New Roman" panose="02020603050405020304" pitchFamily="18" charset="0"/>
              </a:rPr>
              <a:t>d</a:t>
            </a:r>
            <a:r>
              <a:rPr lang="en-US" altLang="zh-CN" sz="2000" i="1" baseline="-25000" dirty="0" err="1">
                <a:cs typeface="Times New Roman" panose="02020603050405020304" pitchFamily="18" charset="0"/>
              </a:rPr>
              <a:t>cor</a:t>
            </a:r>
            <a:r>
              <a:rPr lang="zh-CN" altLang="en-US" sz="2000" dirty="0">
                <a:cs typeface="Times New Roman" panose="02020603050405020304" pitchFamily="18" charset="0"/>
              </a:rPr>
              <a:t>为截面核芯直径</a:t>
            </a:r>
            <a:r>
              <a:rPr lang="en-US" altLang="zh-CN" sz="2000" dirty="0">
                <a:cs typeface="Times New Roman" panose="02020603050405020304" pitchFamily="18" charset="0"/>
              </a:rPr>
              <a:t>)</a:t>
            </a:r>
            <a:r>
              <a:rPr lang="zh-CN" altLang="en-US" sz="2000" dirty="0">
                <a:cs typeface="Times New Roman" panose="02020603050405020304" pitchFamily="18" charset="0"/>
              </a:rPr>
              <a:t>及</a:t>
            </a:r>
            <a:r>
              <a:rPr lang="en-US" altLang="zh-CN" sz="2000" dirty="0">
                <a:cs typeface="Times New Roman" panose="02020603050405020304" pitchFamily="18" charset="0"/>
              </a:rPr>
              <a:t>s</a:t>
            </a:r>
            <a:r>
              <a:rPr lang="zh-CN" altLang="en-US" sz="2000" dirty="0">
                <a:cs typeface="Times New Roman" panose="02020603050405020304" pitchFamily="18" charset="0"/>
              </a:rPr>
              <a:t>＞</a:t>
            </a:r>
            <a:r>
              <a:rPr lang="en-US" altLang="zh-CN" sz="2000" dirty="0">
                <a:cs typeface="Times New Roman" panose="02020603050405020304" pitchFamily="18" charset="0"/>
              </a:rPr>
              <a:t>80mm</a:t>
            </a:r>
            <a:r>
              <a:rPr lang="zh-CN" altLang="en-US" sz="2000" dirty="0">
                <a:cs typeface="Times New Roman" panose="02020603050405020304" pitchFamily="18" charset="0"/>
              </a:rPr>
              <a:t>时，认为间接钢筋的数量太少或间距太大，约束混凝土横向变形的效果不明显。但箍筋间距</a:t>
            </a:r>
            <a:r>
              <a:rPr lang="en-US" altLang="zh-CN" sz="2000" dirty="0">
                <a:cs typeface="Times New Roman" panose="02020603050405020304" pitchFamily="18" charset="0"/>
              </a:rPr>
              <a:t>s</a:t>
            </a:r>
            <a:r>
              <a:rPr lang="zh-CN" altLang="en-US" sz="2000" dirty="0">
                <a:cs typeface="Times New Roman" panose="02020603050405020304" pitchFamily="18" charset="0"/>
              </a:rPr>
              <a:t>也不应小于</a:t>
            </a:r>
            <a:r>
              <a:rPr lang="en-US" altLang="zh-CN" sz="2000" dirty="0">
                <a:cs typeface="Times New Roman" panose="02020603050405020304" pitchFamily="18" charset="0"/>
              </a:rPr>
              <a:t>40mm</a:t>
            </a:r>
            <a:r>
              <a:rPr lang="zh-CN" altLang="en-US" sz="2000" dirty="0">
                <a:cs typeface="Times New Roman" panose="02020603050405020304" pitchFamily="18" charset="0"/>
              </a:rPr>
              <a:t>，否则不便于浇灌混凝土。</a:t>
            </a:r>
          </a:p>
        </p:txBody>
      </p:sp>
    </p:spTree>
    <p:extLst>
      <p:ext uri="{BB962C8B-B14F-4D97-AF65-F5344CB8AC3E}">
        <p14:creationId xmlns:p14="http://schemas.microsoft.com/office/powerpoint/2010/main" val="205548495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5397">
                                            <p:txEl>
                                              <p:pRg st="1" end="1"/>
                                            </p:txEl>
                                          </p:spTgt>
                                        </p:tgtEl>
                                        <p:attrNameLst>
                                          <p:attrName>style.visibility</p:attrName>
                                        </p:attrNameLst>
                                      </p:cBhvr>
                                      <p:to>
                                        <p:strVal val="visible"/>
                                      </p:to>
                                    </p:set>
                                    <p:animEffect transition="in" filter="blinds(horizontal)">
                                      <p:cBhvr>
                                        <p:cTn id="7" dur="500"/>
                                        <p:tgtEl>
                                          <p:spTgt spid="31539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15397">
                                            <p:txEl>
                                              <p:pRg st="2" end="2"/>
                                            </p:txEl>
                                          </p:spTgt>
                                        </p:tgtEl>
                                        <p:attrNameLst>
                                          <p:attrName>style.visibility</p:attrName>
                                        </p:attrNameLst>
                                      </p:cBhvr>
                                      <p:to>
                                        <p:strVal val="visible"/>
                                      </p:to>
                                    </p:set>
                                    <p:animEffect transition="in" filter="blinds(horizontal)">
                                      <p:cBhvr>
                                        <p:cTn id="12" dur="500"/>
                                        <p:tgtEl>
                                          <p:spTgt spid="31539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6418"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16419" name="Rectangle 3"/>
          <p:cNvSpPr>
            <a:spLocks noChangeArrowheads="1"/>
          </p:cNvSpPr>
          <p:nvPr/>
        </p:nvSpPr>
        <p:spPr bwMode="auto">
          <a:xfrm>
            <a:off x="611188" y="1066800"/>
            <a:ext cx="82280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一</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偏心受压短柱的破坏形态</a:t>
            </a:r>
            <a:r>
              <a:rPr lang="zh-CN" altLang="en-US"/>
              <a:t>         </a:t>
            </a:r>
          </a:p>
        </p:txBody>
      </p:sp>
      <p:sp>
        <p:nvSpPr>
          <p:cNvPr id="316421" name="Rectangle 5"/>
          <p:cNvSpPr>
            <a:spLocks noChangeArrowheads="1"/>
          </p:cNvSpPr>
          <p:nvPr/>
        </p:nvSpPr>
        <p:spPr bwMode="auto">
          <a:xfrm>
            <a:off x="762000" y="4756150"/>
            <a:ext cx="8077200" cy="118745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000" dirty="0">
                <a:solidFill>
                  <a:srgbClr val="FF0000"/>
                </a:solidFill>
              </a:rPr>
              <a:t>偏心矩</a:t>
            </a:r>
            <a:r>
              <a:rPr lang="en-US" altLang="zh-CN" sz="2000" i="1" dirty="0">
                <a:solidFill>
                  <a:srgbClr val="FF0000"/>
                </a:solidFill>
              </a:rPr>
              <a:t>e</a:t>
            </a:r>
            <a:r>
              <a:rPr lang="en-US" altLang="zh-CN" sz="2000" baseline="-25000" dirty="0">
                <a:solidFill>
                  <a:srgbClr val="FF0000"/>
                </a:solidFill>
              </a:rPr>
              <a:t>0</a:t>
            </a:r>
            <a:r>
              <a:rPr lang="zh-CN" altLang="en-US" sz="2000" dirty="0">
                <a:solidFill>
                  <a:srgbClr val="FF0000"/>
                </a:solidFill>
              </a:rPr>
              <a:t>很小：</a:t>
            </a:r>
            <a:r>
              <a:rPr lang="zh-CN" altLang="en-US" sz="2000" dirty="0"/>
              <a:t>全截面受压，</a:t>
            </a:r>
            <a:r>
              <a:rPr lang="zh-CN" altLang="en-US" sz="2000" dirty="0">
                <a:solidFill>
                  <a:srgbClr val="FF0000"/>
                </a:solidFill>
              </a:rPr>
              <a:t>中和轴</a:t>
            </a:r>
            <a:r>
              <a:rPr lang="zh-CN" altLang="en-US" sz="2000" dirty="0"/>
              <a:t>在截面以外，一侧混凝土先压碎，而后受压钢筋达到屈服强度；另一侧混凝土也受压，但未压碎，钢筋受压，但未达到屈服强度。</a:t>
            </a:r>
            <a:endParaRPr lang="el-GR" altLang="zh-CN" sz="2000" dirty="0">
              <a:solidFill>
                <a:srgbClr val="FF0000"/>
              </a:solidFill>
              <a:cs typeface="Times New Roman" pitchFamily="18" charset="0"/>
            </a:endParaRPr>
          </a:p>
        </p:txBody>
      </p:sp>
      <p:pic>
        <p:nvPicPr>
          <p:cNvPr id="316427" name="Picture 11" descr="gj071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71152"/>
          <a:stretch>
            <a:fillRect/>
          </a:stretch>
        </p:blipFill>
        <p:spPr bwMode="auto">
          <a:xfrm>
            <a:off x="609600" y="1524000"/>
            <a:ext cx="793908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316428" name="Picture 12" descr="gj071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t="51285" b="7045"/>
          <a:stretch>
            <a:fillRect/>
          </a:stretch>
        </p:blipFill>
        <p:spPr bwMode="auto">
          <a:xfrm>
            <a:off x="609600" y="2819400"/>
            <a:ext cx="7939088" cy="1981200"/>
          </a:xfrm>
          <a:prstGeom prst="rect">
            <a:avLst/>
          </a:prstGeom>
          <a:noFill/>
          <a:extLst>
            <a:ext uri="{909E8E84-426E-40DD-AFC4-6F175D3DCCD1}">
              <a14:hiddenFill xmlns:a14="http://schemas.microsoft.com/office/drawing/2010/main">
                <a:solidFill>
                  <a:srgbClr val="FFFFFF"/>
                </a:solidFill>
              </a14:hiddenFill>
            </a:ext>
          </a:extLst>
        </p:spPr>
      </p:pic>
      <p:sp>
        <p:nvSpPr>
          <p:cNvPr id="316429" name="Rectangle 13"/>
          <p:cNvSpPr>
            <a:spLocks noChangeArrowheads="1"/>
          </p:cNvSpPr>
          <p:nvPr/>
        </p:nvSpPr>
        <p:spPr bwMode="auto">
          <a:xfrm>
            <a:off x="685800" y="1524000"/>
            <a:ext cx="1447800" cy="3276600"/>
          </a:xfrm>
          <a:prstGeom prst="rect">
            <a:avLst/>
          </a:prstGeom>
          <a:solidFill>
            <a:srgbClr val="99CCFF">
              <a:alpha val="20000"/>
            </a:srgbClr>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6429"/>
                                        </p:tgtEl>
                                        <p:attrNameLst>
                                          <p:attrName>style.visibility</p:attrName>
                                        </p:attrNameLst>
                                      </p:cBhvr>
                                      <p:to>
                                        <p:strVal val="visible"/>
                                      </p:to>
                                    </p:set>
                                    <p:animEffect transition="in" filter="blinds(horizontal)">
                                      <p:cBhvr>
                                        <p:cTn id="7" dur="500"/>
                                        <p:tgtEl>
                                          <p:spTgt spid="3164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16421">
                                            <p:txEl>
                                              <p:pRg st="0" end="0"/>
                                            </p:txEl>
                                          </p:spTgt>
                                        </p:tgtEl>
                                        <p:attrNameLst>
                                          <p:attrName>style.visibility</p:attrName>
                                        </p:attrNameLst>
                                      </p:cBhvr>
                                      <p:to>
                                        <p:strVal val="visible"/>
                                      </p:to>
                                    </p:set>
                                    <p:animEffect transition="in" filter="blinds(horizontal)">
                                      <p:cBhvr>
                                        <p:cTn id="12" dur="500"/>
                                        <p:tgtEl>
                                          <p:spTgt spid="3164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29"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17443" name="Rectangle 3"/>
          <p:cNvSpPr>
            <a:spLocks noChangeArrowheads="1"/>
          </p:cNvSpPr>
          <p:nvPr/>
        </p:nvSpPr>
        <p:spPr bwMode="auto">
          <a:xfrm>
            <a:off x="611188" y="1066800"/>
            <a:ext cx="82280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一</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偏心受压短柱的破坏形态</a:t>
            </a:r>
            <a:r>
              <a:rPr lang="zh-CN" altLang="en-US"/>
              <a:t>         </a:t>
            </a:r>
          </a:p>
        </p:txBody>
      </p:sp>
      <p:sp>
        <p:nvSpPr>
          <p:cNvPr id="317444" name="Rectangle 4"/>
          <p:cNvSpPr>
            <a:spLocks noChangeArrowheads="1"/>
          </p:cNvSpPr>
          <p:nvPr/>
        </p:nvSpPr>
        <p:spPr bwMode="auto">
          <a:xfrm>
            <a:off x="762000" y="4756150"/>
            <a:ext cx="8077200" cy="118745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000">
                <a:solidFill>
                  <a:srgbClr val="FF0000"/>
                </a:solidFill>
              </a:rPr>
              <a:t>偏心矩</a:t>
            </a:r>
            <a:r>
              <a:rPr lang="en-US" altLang="zh-CN" sz="2000" i="1">
                <a:solidFill>
                  <a:srgbClr val="FF0000"/>
                </a:solidFill>
              </a:rPr>
              <a:t>e</a:t>
            </a:r>
            <a:r>
              <a:rPr lang="en-US" altLang="zh-CN" sz="2000" baseline="-25000">
                <a:solidFill>
                  <a:srgbClr val="FF0000"/>
                </a:solidFill>
              </a:rPr>
              <a:t>0</a:t>
            </a:r>
            <a:r>
              <a:rPr lang="zh-CN" altLang="en-US" sz="2000">
                <a:solidFill>
                  <a:srgbClr val="FF0000"/>
                </a:solidFill>
              </a:rPr>
              <a:t>较小：</a:t>
            </a:r>
            <a:r>
              <a:rPr lang="zh-CN" altLang="en-US" sz="2000"/>
              <a:t>截面大部分受压，小部分受拉，破坏时受压区混凝土被压碎，受压钢筋屈服，受拉一侧混凝土中可能出现少量横向裂缝，但受拉钢筋未达到受拉屈服强度</a:t>
            </a:r>
            <a:endParaRPr lang="el-GR" altLang="zh-CN"/>
          </a:p>
        </p:txBody>
      </p:sp>
      <p:pic>
        <p:nvPicPr>
          <p:cNvPr id="317445" name="Picture 5" descr="gj071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71152"/>
          <a:stretch>
            <a:fillRect/>
          </a:stretch>
        </p:blipFill>
        <p:spPr bwMode="auto">
          <a:xfrm>
            <a:off x="609600" y="1524000"/>
            <a:ext cx="793908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317446" name="Picture 6" descr="gj071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t="51285" b="7045"/>
          <a:stretch>
            <a:fillRect/>
          </a:stretch>
        </p:blipFill>
        <p:spPr bwMode="auto">
          <a:xfrm>
            <a:off x="609600" y="2819400"/>
            <a:ext cx="7939088" cy="1981200"/>
          </a:xfrm>
          <a:prstGeom prst="rect">
            <a:avLst/>
          </a:prstGeom>
          <a:noFill/>
          <a:extLst>
            <a:ext uri="{909E8E84-426E-40DD-AFC4-6F175D3DCCD1}">
              <a14:hiddenFill xmlns:a14="http://schemas.microsoft.com/office/drawing/2010/main">
                <a:solidFill>
                  <a:srgbClr val="FFFFFF"/>
                </a:solidFill>
              </a14:hiddenFill>
            </a:ext>
          </a:extLst>
        </p:spPr>
      </p:pic>
      <p:sp>
        <p:nvSpPr>
          <p:cNvPr id="317447" name="Rectangle 7"/>
          <p:cNvSpPr>
            <a:spLocks noChangeArrowheads="1"/>
          </p:cNvSpPr>
          <p:nvPr/>
        </p:nvSpPr>
        <p:spPr bwMode="auto">
          <a:xfrm>
            <a:off x="2590800" y="1524000"/>
            <a:ext cx="1447800" cy="3276600"/>
          </a:xfrm>
          <a:prstGeom prst="rect">
            <a:avLst/>
          </a:prstGeom>
          <a:solidFill>
            <a:srgbClr val="99CCFF">
              <a:alpha val="20000"/>
            </a:srgbClr>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47"/>
                                        </p:tgtEl>
                                        <p:attrNameLst>
                                          <p:attrName>style.visibility</p:attrName>
                                        </p:attrNameLst>
                                      </p:cBhvr>
                                      <p:to>
                                        <p:strVal val="visible"/>
                                      </p:to>
                                    </p:set>
                                    <p:animEffect transition="in" filter="blinds(horizontal)">
                                      <p:cBhvr>
                                        <p:cTn id="7" dur="500"/>
                                        <p:tgtEl>
                                          <p:spTgt spid="3174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17444">
                                            <p:txEl>
                                              <p:pRg st="0" end="0"/>
                                            </p:txEl>
                                          </p:spTgt>
                                        </p:tgtEl>
                                        <p:attrNameLst>
                                          <p:attrName>style.visibility</p:attrName>
                                        </p:attrNameLst>
                                      </p:cBhvr>
                                      <p:to>
                                        <p:strVal val="visible"/>
                                      </p:to>
                                    </p:set>
                                    <p:animEffect transition="in" filter="blinds(horizontal)">
                                      <p:cBhvr>
                                        <p:cTn id="12" dur="500"/>
                                        <p:tgtEl>
                                          <p:spTgt spid="3174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47"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8466"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18467" name="Rectangle 3"/>
          <p:cNvSpPr>
            <a:spLocks noChangeArrowheads="1"/>
          </p:cNvSpPr>
          <p:nvPr/>
        </p:nvSpPr>
        <p:spPr bwMode="auto">
          <a:xfrm>
            <a:off x="611188" y="1066800"/>
            <a:ext cx="82280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一</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偏心受压短柱的破坏形态</a:t>
            </a:r>
            <a:r>
              <a:rPr lang="zh-CN" altLang="en-US"/>
              <a:t>         </a:t>
            </a:r>
          </a:p>
        </p:txBody>
      </p:sp>
      <p:sp>
        <p:nvSpPr>
          <p:cNvPr id="318468" name="Rectangle 4"/>
          <p:cNvSpPr>
            <a:spLocks noChangeArrowheads="1"/>
          </p:cNvSpPr>
          <p:nvPr/>
        </p:nvSpPr>
        <p:spPr bwMode="auto">
          <a:xfrm>
            <a:off x="762000" y="4756150"/>
            <a:ext cx="8077200" cy="1643527"/>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000" dirty="0">
                <a:solidFill>
                  <a:srgbClr val="FF0000"/>
                </a:solidFill>
              </a:rPr>
              <a:t>偏心矩</a:t>
            </a:r>
            <a:r>
              <a:rPr lang="en-US" altLang="zh-CN" sz="2000" i="1" dirty="0">
                <a:solidFill>
                  <a:srgbClr val="FF0000"/>
                </a:solidFill>
              </a:rPr>
              <a:t>e</a:t>
            </a:r>
            <a:r>
              <a:rPr lang="en-US" altLang="zh-CN" sz="2000" baseline="-25000" dirty="0">
                <a:solidFill>
                  <a:srgbClr val="FF0000"/>
                </a:solidFill>
              </a:rPr>
              <a:t>0</a:t>
            </a:r>
            <a:r>
              <a:rPr lang="zh-CN" altLang="en-US" sz="2000" dirty="0">
                <a:solidFill>
                  <a:srgbClr val="FF0000"/>
                </a:solidFill>
              </a:rPr>
              <a:t>较大，但受拉钢筋数量过多</a:t>
            </a:r>
            <a:r>
              <a:rPr lang="zh-CN" altLang="en-US" dirty="0"/>
              <a:t> </a:t>
            </a:r>
            <a:r>
              <a:rPr lang="zh-CN" altLang="en-US" sz="2000" dirty="0">
                <a:solidFill>
                  <a:srgbClr val="FF0000"/>
                </a:solidFill>
              </a:rPr>
              <a:t>：</a:t>
            </a:r>
            <a:r>
              <a:rPr lang="zh-CN" altLang="en-US" sz="2000" dirty="0"/>
              <a:t>部分截面受压，部分截面受拉，拉区首先出现了横向裂缝，但由于受拉钢筋数量</a:t>
            </a:r>
            <a:r>
              <a:rPr lang="zh-CN" altLang="en-US" sz="2000" dirty="0">
                <a:solidFill>
                  <a:srgbClr val="FF0000"/>
                </a:solidFill>
              </a:rPr>
              <a:t>很多</a:t>
            </a:r>
            <a:r>
              <a:rPr lang="zh-CN" altLang="en-US" sz="2000" dirty="0"/>
              <a:t>，应力增长缓慢，破坏时受压一侧混凝土先被压碎，受压钢筋屈服，而受拉钢筋应力未达到受拉屈服强度，类似于受弯构件的</a:t>
            </a:r>
            <a:r>
              <a:rPr lang="zh-CN" altLang="en-US" sz="2000" dirty="0">
                <a:solidFill>
                  <a:srgbClr val="FF0000"/>
                </a:solidFill>
              </a:rPr>
              <a:t>超筋梁。</a:t>
            </a:r>
            <a:r>
              <a:rPr lang="zh-CN" altLang="en-US" sz="2000" dirty="0"/>
              <a:t> </a:t>
            </a:r>
            <a:endParaRPr lang="el-GR" altLang="zh-CN" sz="2000" dirty="0"/>
          </a:p>
        </p:txBody>
      </p:sp>
      <p:pic>
        <p:nvPicPr>
          <p:cNvPr id="318469" name="Picture 5" descr="gj071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71152"/>
          <a:stretch>
            <a:fillRect/>
          </a:stretch>
        </p:blipFill>
        <p:spPr bwMode="auto">
          <a:xfrm>
            <a:off x="609600" y="1524000"/>
            <a:ext cx="793908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318470" name="Picture 6" descr="gj071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t="51285" b="7045"/>
          <a:stretch>
            <a:fillRect/>
          </a:stretch>
        </p:blipFill>
        <p:spPr bwMode="auto">
          <a:xfrm>
            <a:off x="609600" y="2819400"/>
            <a:ext cx="7939088" cy="1981200"/>
          </a:xfrm>
          <a:prstGeom prst="rect">
            <a:avLst/>
          </a:prstGeom>
          <a:noFill/>
          <a:extLst>
            <a:ext uri="{909E8E84-426E-40DD-AFC4-6F175D3DCCD1}">
              <a14:hiddenFill xmlns:a14="http://schemas.microsoft.com/office/drawing/2010/main">
                <a:solidFill>
                  <a:srgbClr val="FFFFFF"/>
                </a:solidFill>
              </a14:hiddenFill>
            </a:ext>
          </a:extLst>
        </p:spPr>
      </p:pic>
      <p:sp>
        <p:nvSpPr>
          <p:cNvPr id="318471" name="Rectangle 7"/>
          <p:cNvSpPr>
            <a:spLocks noChangeArrowheads="1"/>
          </p:cNvSpPr>
          <p:nvPr/>
        </p:nvSpPr>
        <p:spPr bwMode="auto">
          <a:xfrm>
            <a:off x="4572000" y="1524000"/>
            <a:ext cx="1600200" cy="3276600"/>
          </a:xfrm>
          <a:prstGeom prst="rect">
            <a:avLst/>
          </a:prstGeom>
          <a:solidFill>
            <a:srgbClr val="99CCFF">
              <a:alpha val="20000"/>
            </a:srgbClr>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8471"/>
                                        </p:tgtEl>
                                        <p:attrNameLst>
                                          <p:attrName>style.visibility</p:attrName>
                                        </p:attrNameLst>
                                      </p:cBhvr>
                                      <p:to>
                                        <p:strVal val="visible"/>
                                      </p:to>
                                    </p:set>
                                    <p:animEffect transition="in" filter="blinds(horizontal)">
                                      <p:cBhvr>
                                        <p:cTn id="7" dur="500"/>
                                        <p:tgtEl>
                                          <p:spTgt spid="3184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18468">
                                            <p:txEl>
                                              <p:pRg st="0" end="0"/>
                                            </p:txEl>
                                          </p:spTgt>
                                        </p:tgtEl>
                                        <p:attrNameLst>
                                          <p:attrName>style.visibility</p:attrName>
                                        </p:attrNameLst>
                                      </p:cBhvr>
                                      <p:to>
                                        <p:strVal val="visible"/>
                                      </p:to>
                                    </p:set>
                                    <p:animEffect transition="in" filter="blinds(horizontal)">
                                      <p:cBhvr>
                                        <p:cTn id="12" dur="500"/>
                                        <p:tgtEl>
                                          <p:spTgt spid="31846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71"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9490"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19491" name="Rectangle 3"/>
          <p:cNvSpPr>
            <a:spLocks noChangeArrowheads="1"/>
          </p:cNvSpPr>
          <p:nvPr/>
        </p:nvSpPr>
        <p:spPr bwMode="auto">
          <a:xfrm>
            <a:off x="611188" y="1066800"/>
            <a:ext cx="82280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一</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偏心受压短柱的破坏形态</a:t>
            </a:r>
            <a:r>
              <a:rPr lang="zh-CN" altLang="en-US"/>
              <a:t>         </a:t>
            </a:r>
          </a:p>
        </p:txBody>
      </p:sp>
      <p:sp>
        <p:nvSpPr>
          <p:cNvPr id="319492" name="Rectangle 4"/>
          <p:cNvSpPr>
            <a:spLocks noChangeArrowheads="1"/>
          </p:cNvSpPr>
          <p:nvPr/>
        </p:nvSpPr>
        <p:spPr bwMode="auto">
          <a:xfrm>
            <a:off x="762000" y="4756150"/>
            <a:ext cx="8077200" cy="1643527"/>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000" dirty="0">
                <a:solidFill>
                  <a:srgbClr val="FF0000"/>
                </a:solidFill>
              </a:rPr>
              <a:t>偏心矩</a:t>
            </a:r>
            <a:r>
              <a:rPr lang="en-US" altLang="zh-CN" sz="2000" i="1" dirty="0">
                <a:solidFill>
                  <a:srgbClr val="FF0000"/>
                </a:solidFill>
              </a:rPr>
              <a:t>e</a:t>
            </a:r>
            <a:r>
              <a:rPr lang="en-US" altLang="zh-CN" sz="2000" baseline="-25000" dirty="0">
                <a:solidFill>
                  <a:srgbClr val="FF0000"/>
                </a:solidFill>
              </a:rPr>
              <a:t>0</a:t>
            </a:r>
            <a:r>
              <a:rPr lang="zh-CN" altLang="en-US" sz="2000" dirty="0">
                <a:solidFill>
                  <a:srgbClr val="FF0000"/>
                </a:solidFill>
              </a:rPr>
              <a:t>较大，但受拉钢筋数量较少</a:t>
            </a:r>
            <a:r>
              <a:rPr lang="zh-CN" altLang="en-US" dirty="0"/>
              <a:t> </a:t>
            </a:r>
            <a:r>
              <a:rPr lang="zh-CN" altLang="en-US" sz="2000" dirty="0">
                <a:solidFill>
                  <a:srgbClr val="FF0000"/>
                </a:solidFill>
              </a:rPr>
              <a:t>：</a:t>
            </a:r>
            <a:r>
              <a:rPr lang="zh-CN" altLang="en-US" sz="2000" dirty="0"/>
              <a:t>部分截面受压，部分截面受拉，拉区首先出现了横向裂缝，但由于受拉钢筋数量</a:t>
            </a:r>
            <a:r>
              <a:rPr lang="zh-CN" altLang="en-US" sz="2000" dirty="0">
                <a:solidFill>
                  <a:srgbClr val="FF0000"/>
                </a:solidFill>
              </a:rPr>
              <a:t>较少</a:t>
            </a:r>
            <a:r>
              <a:rPr lang="zh-CN" altLang="en-US" sz="2000" dirty="0"/>
              <a:t>，应力增长较快，首先达到受拉屈服强度，中和轴向受压区移动，受压一侧混凝土压碎，受压钢筋也达到屈服，类似于受弯构件的</a:t>
            </a:r>
            <a:r>
              <a:rPr lang="zh-CN" altLang="en-US" sz="2000" dirty="0">
                <a:solidFill>
                  <a:srgbClr val="FF0000"/>
                </a:solidFill>
              </a:rPr>
              <a:t>适筋梁</a:t>
            </a:r>
            <a:r>
              <a:rPr lang="zh-CN" altLang="en-US" sz="2000" dirty="0"/>
              <a:t> 。</a:t>
            </a:r>
            <a:endParaRPr lang="el-GR" altLang="zh-CN" sz="2000" dirty="0"/>
          </a:p>
        </p:txBody>
      </p:sp>
      <p:pic>
        <p:nvPicPr>
          <p:cNvPr id="319493" name="Picture 5" descr="gj071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71152"/>
          <a:stretch>
            <a:fillRect/>
          </a:stretch>
        </p:blipFill>
        <p:spPr bwMode="auto">
          <a:xfrm>
            <a:off x="609600" y="1524000"/>
            <a:ext cx="793908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319494" name="Picture 6" descr="gj071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t="51285" b="7045"/>
          <a:stretch>
            <a:fillRect/>
          </a:stretch>
        </p:blipFill>
        <p:spPr bwMode="auto">
          <a:xfrm>
            <a:off x="609600" y="2819400"/>
            <a:ext cx="7939088" cy="1981200"/>
          </a:xfrm>
          <a:prstGeom prst="rect">
            <a:avLst/>
          </a:prstGeom>
          <a:noFill/>
          <a:extLst>
            <a:ext uri="{909E8E84-426E-40DD-AFC4-6F175D3DCCD1}">
              <a14:hiddenFill xmlns:a14="http://schemas.microsoft.com/office/drawing/2010/main">
                <a:solidFill>
                  <a:srgbClr val="FFFFFF"/>
                </a:solidFill>
              </a14:hiddenFill>
            </a:ext>
          </a:extLst>
        </p:spPr>
      </p:pic>
      <p:sp>
        <p:nvSpPr>
          <p:cNvPr id="319495" name="Rectangle 7"/>
          <p:cNvSpPr>
            <a:spLocks noChangeArrowheads="1"/>
          </p:cNvSpPr>
          <p:nvPr/>
        </p:nvSpPr>
        <p:spPr bwMode="auto">
          <a:xfrm>
            <a:off x="6553200" y="1524000"/>
            <a:ext cx="1752600" cy="3276600"/>
          </a:xfrm>
          <a:prstGeom prst="rect">
            <a:avLst/>
          </a:prstGeom>
          <a:solidFill>
            <a:srgbClr val="99CCFF">
              <a:alpha val="20000"/>
            </a:srgbClr>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9495"/>
                                        </p:tgtEl>
                                        <p:attrNameLst>
                                          <p:attrName>style.visibility</p:attrName>
                                        </p:attrNameLst>
                                      </p:cBhvr>
                                      <p:to>
                                        <p:strVal val="visible"/>
                                      </p:to>
                                    </p:set>
                                    <p:animEffect transition="in" filter="blinds(horizontal)">
                                      <p:cBhvr>
                                        <p:cTn id="7" dur="500"/>
                                        <p:tgtEl>
                                          <p:spTgt spid="3194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19492">
                                            <p:txEl>
                                              <p:pRg st="0" end="0"/>
                                            </p:txEl>
                                          </p:spTgt>
                                        </p:tgtEl>
                                        <p:attrNameLst>
                                          <p:attrName>style.visibility</p:attrName>
                                        </p:attrNameLst>
                                      </p:cBhvr>
                                      <p:to>
                                        <p:strVal val="visible"/>
                                      </p:to>
                                    </p:set>
                                    <p:animEffect transition="in" filter="blinds(horizontal)">
                                      <p:cBhvr>
                                        <p:cTn id="12" dur="500"/>
                                        <p:tgtEl>
                                          <p:spTgt spid="31949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5"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20515" name="Rectangle 3"/>
          <p:cNvSpPr>
            <a:spLocks noChangeArrowheads="1"/>
          </p:cNvSpPr>
          <p:nvPr/>
        </p:nvSpPr>
        <p:spPr bwMode="auto">
          <a:xfrm>
            <a:off x="611188" y="1066800"/>
            <a:ext cx="82280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一</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偏心受压短柱的破坏形态</a:t>
            </a:r>
            <a:r>
              <a:rPr lang="en-US" altLang="zh-CN">
                <a:solidFill>
                  <a:srgbClr val="A50021"/>
                </a:solidFill>
                <a:latin typeface="华文中宋"/>
                <a:ea typeface="华文中宋" pitchFamily="2" charset="-122"/>
              </a:rPr>
              <a:t>——</a:t>
            </a:r>
            <a:r>
              <a:rPr lang="zh-CN" altLang="en-US">
                <a:solidFill>
                  <a:srgbClr val="A50021"/>
                </a:solidFill>
                <a:ea typeface="华文中宋" pitchFamily="2" charset="-122"/>
              </a:rPr>
              <a:t>大偏压破坏</a:t>
            </a:r>
            <a:r>
              <a:rPr lang="zh-CN" altLang="en-US"/>
              <a:t> </a:t>
            </a:r>
          </a:p>
        </p:txBody>
      </p:sp>
      <p:sp>
        <p:nvSpPr>
          <p:cNvPr id="320516" name="Rectangle 4"/>
          <p:cNvSpPr>
            <a:spLocks noChangeArrowheads="1"/>
          </p:cNvSpPr>
          <p:nvPr/>
        </p:nvSpPr>
        <p:spPr bwMode="auto">
          <a:xfrm>
            <a:off x="686594" y="5164138"/>
            <a:ext cx="8077200" cy="1673225"/>
          </a:xfrm>
          <a:prstGeom prst="rect">
            <a:avLst/>
          </a:prstGeom>
          <a:solidFill>
            <a:schemeClr val="bg1"/>
          </a:solidFill>
          <a:ln>
            <a:noFill/>
          </a:ln>
          <a:effectLst/>
          <a:extLst/>
        </p:spPr>
        <p:txBody>
          <a:bodyPr>
            <a:spAutoFit/>
          </a:bodyPr>
          <a:lstStyle/>
          <a:p>
            <a:pPr algn="l">
              <a:lnSpc>
                <a:spcPct val="120000"/>
              </a:lnSpc>
            </a:pPr>
            <a:r>
              <a:rPr lang="zh-CN" altLang="zh-CN" sz="2000" dirty="0"/>
              <a:t>破坏特征：</a:t>
            </a:r>
            <a:r>
              <a:rPr lang="zh-CN" altLang="zh-CN" sz="2000" dirty="0">
                <a:solidFill>
                  <a:schemeClr val="tx1"/>
                </a:solidFill>
              </a:rPr>
              <a:t>受拉钢筋首先达到受拉屈服强度（横向裂缝），然后另一侧混凝土边缘压应变达到极限应变，受压钢筋屈服（竖向裂缝）。</a:t>
            </a:r>
            <a:endParaRPr lang="zh-CN" altLang="en-US" sz="2000" dirty="0">
              <a:solidFill>
                <a:schemeClr val="tx1"/>
              </a:solidFill>
            </a:endParaRPr>
          </a:p>
          <a:p>
            <a:pPr algn="l">
              <a:lnSpc>
                <a:spcPct val="120000"/>
              </a:lnSpc>
            </a:pPr>
            <a:r>
              <a:rPr lang="zh-CN" altLang="zh-CN" sz="2000" dirty="0"/>
              <a:t>条件：</a:t>
            </a:r>
            <a:r>
              <a:rPr lang="zh-CN" altLang="zh-CN" sz="2000" dirty="0">
                <a:solidFill>
                  <a:schemeClr val="tx1"/>
                </a:solidFill>
              </a:rPr>
              <a:t>偏心矩</a:t>
            </a:r>
            <a:r>
              <a:rPr lang="en-US" altLang="zh-CN" sz="2000" i="1" dirty="0">
                <a:solidFill>
                  <a:schemeClr val="tx1"/>
                </a:solidFill>
              </a:rPr>
              <a:t>e</a:t>
            </a:r>
            <a:r>
              <a:rPr lang="en-US" altLang="zh-CN" sz="2000" baseline="-25000" dirty="0">
                <a:solidFill>
                  <a:schemeClr val="tx1"/>
                </a:solidFill>
              </a:rPr>
              <a:t>0</a:t>
            </a:r>
            <a:r>
              <a:rPr lang="zh-CN" altLang="en-US" sz="2000" dirty="0">
                <a:solidFill>
                  <a:schemeClr val="tx1"/>
                </a:solidFill>
              </a:rPr>
              <a:t>较大，但受拉钢筋数量较少</a:t>
            </a:r>
          </a:p>
          <a:p>
            <a:pPr algn="l">
              <a:lnSpc>
                <a:spcPct val="120000"/>
              </a:lnSpc>
            </a:pPr>
            <a:r>
              <a:rPr lang="zh-CN" altLang="en-US" sz="2000" dirty="0"/>
              <a:t>承载力：</a:t>
            </a:r>
            <a:r>
              <a:rPr lang="zh-CN" altLang="en-US" sz="2000" dirty="0">
                <a:solidFill>
                  <a:schemeClr val="tx1"/>
                </a:solidFill>
              </a:rPr>
              <a:t>取决于受拉钢筋的数量和强度</a:t>
            </a:r>
            <a:r>
              <a:rPr lang="zh-CN" altLang="en-US" sz="2000" dirty="0"/>
              <a:t> </a:t>
            </a:r>
            <a:endParaRPr lang="el-GR" altLang="zh-CN" sz="2000" dirty="0"/>
          </a:p>
        </p:txBody>
      </p:sp>
      <p:pic>
        <p:nvPicPr>
          <p:cNvPr id="320517" name="Picture 5" descr="gj071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71152"/>
          <a:stretch>
            <a:fillRect/>
          </a:stretch>
        </p:blipFill>
        <p:spPr bwMode="auto">
          <a:xfrm>
            <a:off x="609600" y="1524000"/>
            <a:ext cx="793908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320518" name="Picture 6" descr="gj071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t="51285" b="7045"/>
          <a:stretch>
            <a:fillRect/>
          </a:stretch>
        </p:blipFill>
        <p:spPr bwMode="auto">
          <a:xfrm>
            <a:off x="609600" y="2819400"/>
            <a:ext cx="7939088" cy="1981200"/>
          </a:xfrm>
          <a:prstGeom prst="rect">
            <a:avLst/>
          </a:prstGeom>
          <a:noFill/>
          <a:extLst>
            <a:ext uri="{909E8E84-426E-40DD-AFC4-6F175D3DCCD1}">
              <a14:hiddenFill xmlns:a14="http://schemas.microsoft.com/office/drawing/2010/main">
                <a:solidFill>
                  <a:srgbClr val="FFFFFF"/>
                </a:solidFill>
              </a14:hiddenFill>
            </a:ext>
          </a:extLst>
        </p:spPr>
      </p:pic>
      <p:sp>
        <p:nvSpPr>
          <p:cNvPr id="320519" name="Rectangle 7"/>
          <p:cNvSpPr>
            <a:spLocks noChangeArrowheads="1"/>
          </p:cNvSpPr>
          <p:nvPr/>
        </p:nvSpPr>
        <p:spPr bwMode="auto">
          <a:xfrm>
            <a:off x="6553200" y="1524000"/>
            <a:ext cx="1752600" cy="3276600"/>
          </a:xfrm>
          <a:prstGeom prst="rect">
            <a:avLst/>
          </a:prstGeom>
          <a:solidFill>
            <a:srgbClr val="99CCFF">
              <a:alpha val="20000"/>
            </a:srgbClr>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0520" name="Rectangle 8"/>
          <p:cNvSpPr>
            <a:spLocks noChangeArrowheads="1"/>
          </p:cNvSpPr>
          <p:nvPr/>
        </p:nvSpPr>
        <p:spPr bwMode="auto">
          <a:xfrm>
            <a:off x="749300" y="4725988"/>
            <a:ext cx="4298950" cy="392112"/>
          </a:xfrm>
          <a:prstGeom prst="rect">
            <a:avLst/>
          </a:prstGeom>
          <a:solidFill>
            <a:srgbClr val="FFCC99">
              <a:alpha val="50000"/>
            </a:srgbClr>
          </a:solidFill>
          <a:ln w="254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zh-CN" sz="2000"/>
              <a:t>第一类：</a:t>
            </a:r>
            <a:r>
              <a:rPr lang="zh-CN" altLang="zh-CN" sz="2000">
                <a:solidFill>
                  <a:srgbClr val="FF0000"/>
                </a:solidFill>
                <a:latin typeface="Arial" charset="0"/>
              </a:rPr>
              <a:t>受拉破坏</a:t>
            </a:r>
            <a:r>
              <a:rPr lang="zh-CN" altLang="zh-CN" sz="2000"/>
              <a:t>－大偏心受压破坏</a:t>
            </a:r>
          </a:p>
        </p:txBody>
      </p:sp>
      <p:sp>
        <p:nvSpPr>
          <p:cNvPr id="320521" name="Rectangle 9"/>
          <p:cNvSpPr>
            <a:spLocks noChangeArrowheads="1"/>
          </p:cNvSpPr>
          <p:nvPr/>
        </p:nvSpPr>
        <p:spPr bwMode="auto">
          <a:xfrm>
            <a:off x="5257800" y="4724400"/>
            <a:ext cx="1231900" cy="392113"/>
          </a:xfrm>
          <a:prstGeom prst="rect">
            <a:avLst/>
          </a:prstGeom>
          <a:solidFill>
            <a:srgbClr val="99CCFF">
              <a:alpha val="50000"/>
            </a:srgbClr>
          </a:solidFill>
          <a:ln w="254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zh-CN" sz="2000">
                <a:solidFill>
                  <a:srgbClr val="FF0000"/>
                </a:solidFill>
              </a:rPr>
              <a:t>塑性破坏</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0520"/>
                                        </p:tgtEl>
                                        <p:attrNameLst>
                                          <p:attrName>style.visibility</p:attrName>
                                        </p:attrNameLst>
                                      </p:cBhvr>
                                      <p:to>
                                        <p:strVal val="visible"/>
                                      </p:to>
                                    </p:set>
                                    <p:animEffect transition="in" filter="blinds(horizontal)">
                                      <p:cBhvr>
                                        <p:cTn id="7" dur="500"/>
                                        <p:tgtEl>
                                          <p:spTgt spid="3205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0516">
                                            <p:txEl>
                                              <p:pRg st="0" end="0"/>
                                            </p:txEl>
                                          </p:spTgt>
                                        </p:tgtEl>
                                        <p:attrNameLst>
                                          <p:attrName>style.visibility</p:attrName>
                                        </p:attrNameLst>
                                      </p:cBhvr>
                                      <p:to>
                                        <p:strVal val="visible"/>
                                      </p:to>
                                    </p:set>
                                    <p:animEffect transition="in" filter="blinds(horizontal)">
                                      <p:cBhvr>
                                        <p:cTn id="12" dur="500"/>
                                        <p:tgtEl>
                                          <p:spTgt spid="32051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0519"/>
                                        </p:tgtEl>
                                        <p:attrNameLst>
                                          <p:attrName>style.visibility</p:attrName>
                                        </p:attrNameLst>
                                      </p:cBhvr>
                                      <p:to>
                                        <p:strVal val="visible"/>
                                      </p:to>
                                    </p:set>
                                    <p:animEffect transition="in" filter="blinds(horizontal)">
                                      <p:cBhvr>
                                        <p:cTn id="17" dur="500"/>
                                        <p:tgtEl>
                                          <p:spTgt spid="3205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20521"/>
                                        </p:tgtEl>
                                        <p:attrNameLst>
                                          <p:attrName>style.visibility</p:attrName>
                                        </p:attrNameLst>
                                      </p:cBhvr>
                                      <p:to>
                                        <p:strVal val="visible"/>
                                      </p:to>
                                    </p:set>
                                    <p:animEffect transition="in" filter="blinds(horizontal)">
                                      <p:cBhvr>
                                        <p:cTn id="22" dur="500"/>
                                        <p:tgtEl>
                                          <p:spTgt spid="32052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20516">
                                            <p:txEl>
                                              <p:pRg st="1" end="1"/>
                                            </p:txEl>
                                          </p:spTgt>
                                        </p:tgtEl>
                                        <p:attrNameLst>
                                          <p:attrName>style.visibility</p:attrName>
                                        </p:attrNameLst>
                                      </p:cBhvr>
                                      <p:to>
                                        <p:strVal val="visible"/>
                                      </p:to>
                                    </p:set>
                                    <p:animEffect transition="in" filter="blinds(horizontal)">
                                      <p:cBhvr>
                                        <p:cTn id="27" dur="500"/>
                                        <p:tgtEl>
                                          <p:spTgt spid="320516">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20516">
                                            <p:txEl>
                                              <p:pRg st="2" end="2"/>
                                            </p:txEl>
                                          </p:spTgt>
                                        </p:tgtEl>
                                        <p:attrNameLst>
                                          <p:attrName>style.visibility</p:attrName>
                                        </p:attrNameLst>
                                      </p:cBhvr>
                                      <p:to>
                                        <p:strVal val="visible"/>
                                      </p:to>
                                    </p:set>
                                    <p:animEffect transition="in" filter="blinds(horizontal)">
                                      <p:cBhvr>
                                        <p:cTn id="32" dur="500"/>
                                        <p:tgtEl>
                                          <p:spTgt spid="3205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9" grpId="0" animBg="1"/>
      <p:bldP spid="320520" grpId="0" animBg="1"/>
      <p:bldP spid="320521"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1538"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21539" name="Rectangle 3"/>
          <p:cNvSpPr>
            <a:spLocks noChangeArrowheads="1"/>
          </p:cNvSpPr>
          <p:nvPr/>
        </p:nvSpPr>
        <p:spPr bwMode="auto">
          <a:xfrm>
            <a:off x="611188" y="1066800"/>
            <a:ext cx="82280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一</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偏心受压短柱的破坏形态</a:t>
            </a:r>
            <a:r>
              <a:rPr lang="en-US" altLang="zh-CN">
                <a:solidFill>
                  <a:srgbClr val="A50021"/>
                </a:solidFill>
                <a:latin typeface="华文中宋"/>
                <a:ea typeface="华文中宋" pitchFamily="2" charset="-122"/>
              </a:rPr>
              <a:t>——</a:t>
            </a:r>
            <a:r>
              <a:rPr lang="zh-CN" altLang="en-US">
                <a:solidFill>
                  <a:srgbClr val="A50021"/>
                </a:solidFill>
                <a:ea typeface="华文中宋" pitchFamily="2" charset="-122"/>
              </a:rPr>
              <a:t>小偏压破坏</a:t>
            </a:r>
            <a:r>
              <a:rPr lang="zh-CN" altLang="en-US"/>
              <a:t> </a:t>
            </a:r>
          </a:p>
        </p:txBody>
      </p:sp>
      <p:sp>
        <p:nvSpPr>
          <p:cNvPr id="321540" name="Rectangle 4"/>
          <p:cNvSpPr>
            <a:spLocks noChangeArrowheads="1"/>
          </p:cNvSpPr>
          <p:nvPr/>
        </p:nvSpPr>
        <p:spPr bwMode="auto">
          <a:xfrm>
            <a:off x="686594" y="5232401"/>
            <a:ext cx="8077200" cy="1565275"/>
          </a:xfrm>
          <a:prstGeom prst="rect">
            <a:avLst/>
          </a:prstGeom>
          <a:solidFill>
            <a:schemeClr val="bg1"/>
          </a:solidFill>
          <a:ln>
            <a:noFill/>
          </a:ln>
          <a:effectLst/>
          <a:extLst/>
        </p:spPr>
        <p:txBody>
          <a:bodyPr>
            <a:spAutoFit/>
          </a:bodyPr>
          <a:lstStyle/>
          <a:p>
            <a:pPr algn="l">
              <a:lnSpc>
                <a:spcPct val="110000"/>
              </a:lnSpc>
            </a:pPr>
            <a:r>
              <a:rPr lang="zh-CN" altLang="zh-CN" sz="2000" dirty="0"/>
              <a:t>破坏特征：</a:t>
            </a:r>
            <a:r>
              <a:rPr lang="zh-CN" altLang="en-US" sz="2000" dirty="0">
                <a:solidFill>
                  <a:schemeClr val="tx1"/>
                </a:solidFill>
              </a:rPr>
              <a:t>受压区混凝土首先压碎，钢筋屈服；另一侧钢筋应力未达到屈服强度（受拉或受压）；受拉区水平裂缝可能有，也可能没有</a:t>
            </a:r>
            <a:r>
              <a:rPr lang="zh-CN" altLang="en-US" dirty="0"/>
              <a:t> </a:t>
            </a:r>
            <a:endParaRPr lang="zh-CN" altLang="en-US" sz="2000" dirty="0">
              <a:solidFill>
                <a:schemeClr val="tx1"/>
              </a:solidFill>
            </a:endParaRPr>
          </a:p>
          <a:p>
            <a:pPr algn="l">
              <a:lnSpc>
                <a:spcPct val="110000"/>
              </a:lnSpc>
              <a:spcBef>
                <a:spcPct val="0"/>
              </a:spcBef>
            </a:pPr>
            <a:r>
              <a:rPr lang="zh-CN" altLang="zh-CN" sz="2000" dirty="0"/>
              <a:t>条件：</a:t>
            </a:r>
            <a:r>
              <a:rPr lang="zh-CN" altLang="zh-CN" sz="2000" dirty="0">
                <a:solidFill>
                  <a:schemeClr val="tx1"/>
                </a:solidFill>
              </a:rPr>
              <a:t>偏心矩</a:t>
            </a:r>
            <a:r>
              <a:rPr lang="en-US" altLang="zh-CN" sz="2000" i="1" dirty="0">
                <a:solidFill>
                  <a:schemeClr val="tx1"/>
                </a:solidFill>
              </a:rPr>
              <a:t>e</a:t>
            </a:r>
            <a:r>
              <a:rPr lang="en-US" altLang="zh-CN" sz="2000" baseline="-25000" dirty="0">
                <a:solidFill>
                  <a:schemeClr val="tx1"/>
                </a:solidFill>
              </a:rPr>
              <a:t>0</a:t>
            </a:r>
            <a:r>
              <a:rPr lang="zh-CN" altLang="en-US" sz="2000" dirty="0">
                <a:solidFill>
                  <a:schemeClr val="tx1"/>
                </a:solidFill>
              </a:rPr>
              <a:t>较小；</a:t>
            </a:r>
            <a:r>
              <a:rPr lang="zh-CN" altLang="zh-CN" sz="2000" dirty="0">
                <a:solidFill>
                  <a:schemeClr val="tx1"/>
                </a:solidFill>
              </a:rPr>
              <a:t>偏心矩</a:t>
            </a:r>
            <a:r>
              <a:rPr lang="en-US" altLang="zh-CN" sz="2000" i="1" dirty="0">
                <a:solidFill>
                  <a:schemeClr val="tx1"/>
                </a:solidFill>
              </a:rPr>
              <a:t>e</a:t>
            </a:r>
            <a:r>
              <a:rPr lang="en-US" altLang="zh-CN" sz="2000" baseline="-25000" dirty="0">
                <a:solidFill>
                  <a:schemeClr val="tx1"/>
                </a:solidFill>
              </a:rPr>
              <a:t>0</a:t>
            </a:r>
            <a:r>
              <a:rPr lang="zh-CN" altLang="en-US" sz="2000" dirty="0">
                <a:solidFill>
                  <a:schemeClr val="tx1"/>
                </a:solidFill>
              </a:rPr>
              <a:t>较大，但受拉钢筋数量过多</a:t>
            </a:r>
          </a:p>
          <a:p>
            <a:pPr algn="l">
              <a:lnSpc>
                <a:spcPct val="110000"/>
              </a:lnSpc>
              <a:spcBef>
                <a:spcPct val="0"/>
              </a:spcBef>
            </a:pPr>
            <a:r>
              <a:rPr lang="zh-CN" altLang="en-US" sz="2000" dirty="0"/>
              <a:t>承载力：</a:t>
            </a:r>
            <a:r>
              <a:rPr lang="zh-CN" altLang="en-US" sz="2000" dirty="0">
                <a:solidFill>
                  <a:schemeClr val="tx1"/>
                </a:solidFill>
              </a:rPr>
              <a:t>取决于压区混凝土强度以及受压钢筋的数量和强度</a:t>
            </a:r>
            <a:r>
              <a:rPr lang="zh-CN" altLang="en-US" dirty="0"/>
              <a:t> </a:t>
            </a:r>
            <a:endParaRPr lang="el-GR" altLang="zh-CN" dirty="0"/>
          </a:p>
        </p:txBody>
      </p:sp>
      <p:pic>
        <p:nvPicPr>
          <p:cNvPr id="321541" name="Picture 5" descr="gj071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71152"/>
          <a:stretch>
            <a:fillRect/>
          </a:stretch>
        </p:blipFill>
        <p:spPr bwMode="auto">
          <a:xfrm>
            <a:off x="609600" y="1524000"/>
            <a:ext cx="793908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321542" name="Picture 6" descr="gj071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t="51285" b="7045"/>
          <a:stretch>
            <a:fillRect/>
          </a:stretch>
        </p:blipFill>
        <p:spPr bwMode="auto">
          <a:xfrm>
            <a:off x="609600" y="2819400"/>
            <a:ext cx="7939088" cy="1981200"/>
          </a:xfrm>
          <a:prstGeom prst="rect">
            <a:avLst/>
          </a:prstGeom>
          <a:noFill/>
          <a:extLst>
            <a:ext uri="{909E8E84-426E-40DD-AFC4-6F175D3DCCD1}">
              <a14:hiddenFill xmlns:a14="http://schemas.microsoft.com/office/drawing/2010/main">
                <a:solidFill>
                  <a:srgbClr val="FFFFFF"/>
                </a:solidFill>
              </a14:hiddenFill>
            </a:ext>
          </a:extLst>
        </p:spPr>
      </p:pic>
      <p:sp>
        <p:nvSpPr>
          <p:cNvPr id="321543" name="Rectangle 7"/>
          <p:cNvSpPr>
            <a:spLocks noChangeArrowheads="1"/>
          </p:cNvSpPr>
          <p:nvPr/>
        </p:nvSpPr>
        <p:spPr bwMode="auto">
          <a:xfrm>
            <a:off x="609600" y="1524000"/>
            <a:ext cx="5867400" cy="3148013"/>
          </a:xfrm>
          <a:prstGeom prst="rect">
            <a:avLst/>
          </a:prstGeom>
          <a:solidFill>
            <a:srgbClr val="99CCFF">
              <a:alpha val="20000"/>
            </a:srgbClr>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1544" name="Rectangle 8"/>
          <p:cNvSpPr>
            <a:spLocks noChangeArrowheads="1"/>
          </p:cNvSpPr>
          <p:nvPr/>
        </p:nvSpPr>
        <p:spPr bwMode="auto">
          <a:xfrm>
            <a:off x="749300" y="4725988"/>
            <a:ext cx="4298950" cy="392112"/>
          </a:xfrm>
          <a:prstGeom prst="rect">
            <a:avLst/>
          </a:prstGeom>
          <a:solidFill>
            <a:srgbClr val="FFCC99">
              <a:alpha val="50000"/>
            </a:srgbClr>
          </a:solidFill>
          <a:ln w="254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zh-CN" sz="2000"/>
              <a:t>第</a:t>
            </a:r>
            <a:r>
              <a:rPr lang="zh-CN" altLang="en-US" sz="2000"/>
              <a:t>二</a:t>
            </a:r>
            <a:r>
              <a:rPr lang="zh-CN" altLang="zh-CN" sz="2000"/>
              <a:t>类：</a:t>
            </a:r>
            <a:r>
              <a:rPr lang="zh-CN" altLang="zh-CN" sz="2000">
                <a:solidFill>
                  <a:srgbClr val="FF0000"/>
                </a:solidFill>
                <a:latin typeface="Arial" charset="0"/>
              </a:rPr>
              <a:t>受</a:t>
            </a:r>
            <a:r>
              <a:rPr lang="zh-CN" altLang="en-US" sz="2000">
                <a:solidFill>
                  <a:srgbClr val="FF0000"/>
                </a:solidFill>
                <a:latin typeface="Arial" charset="0"/>
              </a:rPr>
              <a:t>压</a:t>
            </a:r>
            <a:r>
              <a:rPr lang="zh-CN" altLang="zh-CN" sz="2000">
                <a:solidFill>
                  <a:srgbClr val="FF0000"/>
                </a:solidFill>
                <a:latin typeface="Arial" charset="0"/>
              </a:rPr>
              <a:t>破坏</a:t>
            </a:r>
            <a:r>
              <a:rPr lang="zh-CN" altLang="zh-CN" sz="2000"/>
              <a:t>－</a:t>
            </a:r>
            <a:r>
              <a:rPr lang="zh-CN" altLang="en-US" sz="2000"/>
              <a:t>小</a:t>
            </a:r>
            <a:r>
              <a:rPr lang="zh-CN" altLang="zh-CN" sz="2000"/>
              <a:t>偏心受压破坏</a:t>
            </a:r>
          </a:p>
        </p:txBody>
      </p:sp>
      <p:sp>
        <p:nvSpPr>
          <p:cNvPr id="321545" name="Rectangle 9"/>
          <p:cNvSpPr>
            <a:spLocks noChangeArrowheads="1"/>
          </p:cNvSpPr>
          <p:nvPr/>
        </p:nvSpPr>
        <p:spPr bwMode="auto">
          <a:xfrm>
            <a:off x="5257800" y="4724400"/>
            <a:ext cx="1231900" cy="392113"/>
          </a:xfrm>
          <a:prstGeom prst="rect">
            <a:avLst/>
          </a:prstGeom>
          <a:solidFill>
            <a:srgbClr val="99CCFF">
              <a:alpha val="50000"/>
            </a:srgbClr>
          </a:solidFill>
          <a:ln w="254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a:t>脆</a:t>
            </a:r>
            <a:r>
              <a:rPr lang="zh-CN" altLang="zh-CN" sz="2000"/>
              <a:t>性破坏</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1544"/>
                                        </p:tgtEl>
                                        <p:attrNameLst>
                                          <p:attrName>style.visibility</p:attrName>
                                        </p:attrNameLst>
                                      </p:cBhvr>
                                      <p:to>
                                        <p:strVal val="visible"/>
                                      </p:to>
                                    </p:set>
                                    <p:animEffect transition="in" filter="blinds(horizontal)">
                                      <p:cBhvr>
                                        <p:cTn id="7" dur="500"/>
                                        <p:tgtEl>
                                          <p:spTgt spid="3215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1540">
                                            <p:txEl>
                                              <p:pRg st="0" end="0"/>
                                            </p:txEl>
                                          </p:spTgt>
                                        </p:tgtEl>
                                        <p:attrNameLst>
                                          <p:attrName>style.visibility</p:attrName>
                                        </p:attrNameLst>
                                      </p:cBhvr>
                                      <p:to>
                                        <p:strVal val="visible"/>
                                      </p:to>
                                    </p:set>
                                    <p:animEffect transition="in" filter="blinds(horizontal)">
                                      <p:cBhvr>
                                        <p:cTn id="12" dur="500"/>
                                        <p:tgtEl>
                                          <p:spTgt spid="32154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1543"/>
                                        </p:tgtEl>
                                        <p:attrNameLst>
                                          <p:attrName>style.visibility</p:attrName>
                                        </p:attrNameLst>
                                      </p:cBhvr>
                                      <p:to>
                                        <p:strVal val="visible"/>
                                      </p:to>
                                    </p:set>
                                    <p:animEffect transition="in" filter="blinds(horizontal)">
                                      <p:cBhvr>
                                        <p:cTn id="17" dur="500"/>
                                        <p:tgtEl>
                                          <p:spTgt spid="3215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21545"/>
                                        </p:tgtEl>
                                        <p:attrNameLst>
                                          <p:attrName>style.visibility</p:attrName>
                                        </p:attrNameLst>
                                      </p:cBhvr>
                                      <p:to>
                                        <p:strVal val="visible"/>
                                      </p:to>
                                    </p:set>
                                    <p:animEffect transition="in" filter="blinds(horizontal)">
                                      <p:cBhvr>
                                        <p:cTn id="22" dur="500"/>
                                        <p:tgtEl>
                                          <p:spTgt spid="3215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21540">
                                            <p:txEl>
                                              <p:pRg st="1" end="1"/>
                                            </p:txEl>
                                          </p:spTgt>
                                        </p:tgtEl>
                                        <p:attrNameLst>
                                          <p:attrName>style.visibility</p:attrName>
                                        </p:attrNameLst>
                                      </p:cBhvr>
                                      <p:to>
                                        <p:strVal val="visible"/>
                                      </p:to>
                                    </p:set>
                                    <p:animEffect transition="in" filter="blinds(horizontal)">
                                      <p:cBhvr>
                                        <p:cTn id="27" dur="500"/>
                                        <p:tgtEl>
                                          <p:spTgt spid="321540">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21540">
                                            <p:txEl>
                                              <p:pRg st="2" end="2"/>
                                            </p:txEl>
                                          </p:spTgt>
                                        </p:tgtEl>
                                        <p:attrNameLst>
                                          <p:attrName>style.visibility</p:attrName>
                                        </p:attrNameLst>
                                      </p:cBhvr>
                                      <p:to>
                                        <p:strVal val="visible"/>
                                      </p:to>
                                    </p:set>
                                    <p:animEffect transition="in" filter="blinds(horizontal)">
                                      <p:cBhvr>
                                        <p:cTn id="32" dur="500"/>
                                        <p:tgtEl>
                                          <p:spTgt spid="32154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43" grpId="0" animBg="1"/>
      <p:bldP spid="321544" grpId="0" animBg="1"/>
      <p:bldP spid="321545"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2562"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22563" name="Rectangle 3"/>
          <p:cNvSpPr>
            <a:spLocks noChangeArrowheads="1"/>
          </p:cNvSpPr>
          <p:nvPr/>
        </p:nvSpPr>
        <p:spPr bwMode="auto">
          <a:xfrm>
            <a:off x="611188" y="1066800"/>
            <a:ext cx="82280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一</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偏心受压短柱的破坏形态</a:t>
            </a:r>
            <a:r>
              <a:rPr lang="en-US" altLang="zh-CN">
                <a:solidFill>
                  <a:srgbClr val="A50021"/>
                </a:solidFill>
                <a:latin typeface="华文中宋"/>
                <a:ea typeface="华文中宋" pitchFamily="2" charset="-122"/>
              </a:rPr>
              <a:t>——</a:t>
            </a:r>
            <a:r>
              <a:rPr lang="zh-CN" altLang="en-US">
                <a:solidFill>
                  <a:srgbClr val="A50021"/>
                </a:solidFill>
                <a:ea typeface="华文中宋" pitchFamily="2" charset="-122"/>
              </a:rPr>
              <a:t>界限破坏</a:t>
            </a:r>
            <a:r>
              <a:rPr lang="zh-CN" altLang="en-US"/>
              <a:t> </a:t>
            </a:r>
          </a:p>
        </p:txBody>
      </p:sp>
      <p:sp>
        <p:nvSpPr>
          <p:cNvPr id="322570" name="Rectangle 10"/>
          <p:cNvSpPr>
            <a:spLocks noChangeArrowheads="1"/>
          </p:cNvSpPr>
          <p:nvPr/>
        </p:nvSpPr>
        <p:spPr bwMode="auto">
          <a:xfrm>
            <a:off x="304800" y="1676400"/>
            <a:ext cx="1231900" cy="392113"/>
          </a:xfrm>
          <a:prstGeom prst="rect">
            <a:avLst/>
          </a:prstGeom>
          <a:solidFill>
            <a:srgbClr val="FFCC99">
              <a:alpha val="50000"/>
            </a:srgbClr>
          </a:solidFill>
          <a:ln w="25400"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000"/>
              <a:t>界限破坏</a:t>
            </a:r>
            <a:endParaRPr lang="zh-CN" altLang="zh-CN" sz="2000"/>
          </a:p>
        </p:txBody>
      </p:sp>
      <p:sp>
        <p:nvSpPr>
          <p:cNvPr id="322571" name="Rectangle 11"/>
          <p:cNvSpPr>
            <a:spLocks noChangeArrowheads="1"/>
          </p:cNvSpPr>
          <p:nvPr/>
        </p:nvSpPr>
        <p:spPr bwMode="auto">
          <a:xfrm>
            <a:off x="228600" y="1631950"/>
            <a:ext cx="8915400" cy="181588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20000"/>
              </a:lnSpc>
              <a:spcBef>
                <a:spcPct val="40000"/>
              </a:spcBef>
            </a:pPr>
            <a:r>
              <a:rPr lang="en-US" altLang="zh-CN" sz="2000" dirty="0">
                <a:solidFill>
                  <a:schemeClr val="tx1"/>
                </a:solidFill>
              </a:rPr>
              <a:t>	      </a:t>
            </a:r>
            <a:r>
              <a:rPr lang="zh-CN" altLang="en-US" sz="2000" dirty="0">
                <a:solidFill>
                  <a:schemeClr val="tx1"/>
                </a:solidFill>
              </a:rPr>
              <a:t>在大偏心受压破坏和小偏心受压破坏之间的界限状态</a:t>
            </a:r>
          </a:p>
          <a:p>
            <a:pPr algn="l">
              <a:lnSpc>
                <a:spcPct val="120000"/>
              </a:lnSpc>
              <a:spcBef>
                <a:spcPct val="40000"/>
              </a:spcBef>
            </a:pPr>
            <a:r>
              <a:rPr lang="zh-CN" altLang="en-US" sz="2000" dirty="0"/>
              <a:t>破坏特征：</a:t>
            </a:r>
            <a:r>
              <a:rPr lang="zh-CN" altLang="en-US" sz="2000" dirty="0">
                <a:solidFill>
                  <a:schemeClr val="tx1"/>
                </a:solidFill>
              </a:rPr>
              <a:t>受拉钢筋的应力达到受拉屈服强度时，受压区边缘混凝土的应变达到极限压应变。</a:t>
            </a:r>
            <a:endParaRPr lang="en-US" altLang="zh-CN" sz="2000" dirty="0">
              <a:solidFill>
                <a:schemeClr val="tx1"/>
              </a:solidFill>
            </a:endParaRPr>
          </a:p>
          <a:p>
            <a:pPr algn="l">
              <a:lnSpc>
                <a:spcPct val="120000"/>
              </a:lnSpc>
              <a:spcBef>
                <a:spcPct val="40000"/>
              </a:spcBef>
            </a:pPr>
            <a:r>
              <a:rPr lang="zh-CN" altLang="en-US" sz="2000" dirty="0"/>
              <a:t>判别条件：</a:t>
            </a:r>
            <a:r>
              <a:rPr lang="en-US" altLang="zh-CN" sz="2000" i="1" dirty="0" err="1">
                <a:solidFill>
                  <a:srgbClr val="FF0000"/>
                </a:solidFill>
              </a:rPr>
              <a:t>x</a:t>
            </a:r>
            <a:r>
              <a:rPr lang="en-US" altLang="zh-CN" sz="2000" baseline="-25000" dirty="0" err="1">
                <a:solidFill>
                  <a:srgbClr val="FF0000"/>
                </a:solidFill>
              </a:rPr>
              <a:t>c</a:t>
            </a:r>
            <a:r>
              <a:rPr lang="en-US" altLang="zh-CN" sz="2000" dirty="0">
                <a:solidFill>
                  <a:srgbClr val="FF0000"/>
                </a:solidFill>
              </a:rPr>
              <a:t>&lt;</a:t>
            </a:r>
            <a:r>
              <a:rPr lang="en-US" altLang="zh-CN" sz="2000" i="1" dirty="0" err="1">
                <a:solidFill>
                  <a:srgbClr val="FF0000"/>
                </a:solidFill>
              </a:rPr>
              <a:t>x</a:t>
            </a:r>
            <a:r>
              <a:rPr lang="en-US" altLang="zh-CN" sz="2000" baseline="-25000" dirty="0" err="1">
                <a:solidFill>
                  <a:srgbClr val="FF0000"/>
                </a:solidFill>
              </a:rPr>
              <a:t>cb</a:t>
            </a:r>
            <a:r>
              <a:rPr lang="zh-CN" altLang="en-US" sz="2000" dirty="0">
                <a:solidFill>
                  <a:schemeClr val="tx1"/>
                </a:solidFill>
              </a:rPr>
              <a:t>时为</a:t>
            </a:r>
            <a:r>
              <a:rPr lang="zh-CN" altLang="en-US" sz="2000" dirty="0">
                <a:solidFill>
                  <a:srgbClr val="FF0000"/>
                </a:solidFill>
              </a:rPr>
              <a:t>大偏压</a:t>
            </a:r>
            <a:r>
              <a:rPr lang="zh-CN" altLang="en-US" sz="2000" dirty="0">
                <a:solidFill>
                  <a:schemeClr val="tx1"/>
                </a:solidFill>
              </a:rPr>
              <a:t>受压破坏情况； </a:t>
            </a:r>
            <a:r>
              <a:rPr lang="en-US" altLang="zh-CN" sz="2000" i="1" dirty="0" err="1">
                <a:solidFill>
                  <a:srgbClr val="FF0000"/>
                </a:solidFill>
              </a:rPr>
              <a:t>x</a:t>
            </a:r>
            <a:r>
              <a:rPr lang="en-US" altLang="zh-CN" sz="2000" baseline="-25000" dirty="0" err="1">
                <a:solidFill>
                  <a:srgbClr val="FF0000"/>
                </a:solidFill>
              </a:rPr>
              <a:t>c</a:t>
            </a:r>
            <a:r>
              <a:rPr lang="en-US" altLang="zh-CN" sz="2000" dirty="0">
                <a:solidFill>
                  <a:srgbClr val="FF0000"/>
                </a:solidFill>
              </a:rPr>
              <a:t>&gt;</a:t>
            </a:r>
            <a:r>
              <a:rPr lang="en-US" altLang="zh-CN" sz="2000" i="1" dirty="0" err="1">
                <a:solidFill>
                  <a:srgbClr val="FF0000"/>
                </a:solidFill>
              </a:rPr>
              <a:t>x</a:t>
            </a:r>
            <a:r>
              <a:rPr lang="en-US" altLang="zh-CN" sz="2000" baseline="-25000" dirty="0" err="1">
                <a:solidFill>
                  <a:srgbClr val="FF0000"/>
                </a:solidFill>
              </a:rPr>
              <a:t>cb</a:t>
            </a:r>
            <a:r>
              <a:rPr lang="zh-CN" altLang="en-US" sz="2000" dirty="0">
                <a:solidFill>
                  <a:schemeClr val="tx1"/>
                </a:solidFill>
              </a:rPr>
              <a:t>时为</a:t>
            </a:r>
            <a:r>
              <a:rPr lang="zh-CN" altLang="en-US" sz="2000" dirty="0">
                <a:solidFill>
                  <a:srgbClr val="FF0000"/>
                </a:solidFill>
              </a:rPr>
              <a:t>小偏压</a:t>
            </a:r>
            <a:r>
              <a:rPr lang="zh-CN" altLang="en-US" sz="2000" dirty="0">
                <a:solidFill>
                  <a:schemeClr val="tx1"/>
                </a:solidFill>
              </a:rPr>
              <a:t>受压破坏情况 </a:t>
            </a:r>
          </a:p>
        </p:txBody>
      </p:sp>
      <p:pic>
        <p:nvPicPr>
          <p:cNvPr id="322572" name="Picture 12" descr="gj0715"/>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5215" r="13715"/>
          <a:stretch>
            <a:fillRect/>
          </a:stretch>
        </p:blipFill>
        <p:spPr bwMode="auto">
          <a:xfrm>
            <a:off x="1712913" y="3584575"/>
            <a:ext cx="5373687" cy="2968625"/>
          </a:xfrm>
          <a:prstGeom prst="rect">
            <a:avLst/>
          </a:prstGeom>
          <a:noFill/>
          <a:extLst>
            <a:ext uri="{909E8E84-426E-40DD-AFC4-6F175D3DCCD1}">
              <a14:hiddenFill xmlns:a14="http://schemas.microsoft.com/office/drawing/2010/main">
                <a:solidFill>
                  <a:srgbClr val="FFFFFF"/>
                </a:solidFill>
              </a14:hiddenFill>
            </a:ext>
          </a:extLst>
        </p:spPr>
      </p:pic>
      <p:sp>
        <p:nvSpPr>
          <p:cNvPr id="322573" name="Line 13"/>
          <p:cNvSpPr>
            <a:spLocks noChangeShapeType="1"/>
          </p:cNvSpPr>
          <p:nvPr/>
        </p:nvSpPr>
        <p:spPr bwMode="auto">
          <a:xfrm>
            <a:off x="3924300" y="4602163"/>
            <a:ext cx="2354263" cy="15240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2574" name="Line 14"/>
          <p:cNvSpPr>
            <a:spLocks noChangeShapeType="1"/>
          </p:cNvSpPr>
          <p:nvPr/>
        </p:nvSpPr>
        <p:spPr bwMode="auto">
          <a:xfrm>
            <a:off x="3938588" y="4213225"/>
            <a:ext cx="2332037" cy="1906588"/>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2575" name="Line 15"/>
          <p:cNvSpPr>
            <a:spLocks noChangeShapeType="1"/>
          </p:cNvSpPr>
          <p:nvPr/>
        </p:nvSpPr>
        <p:spPr bwMode="auto">
          <a:xfrm>
            <a:off x="3924300" y="3954463"/>
            <a:ext cx="2347913" cy="2151062"/>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2576" name="Line 16"/>
          <p:cNvSpPr>
            <a:spLocks noChangeShapeType="1"/>
          </p:cNvSpPr>
          <p:nvPr/>
        </p:nvSpPr>
        <p:spPr bwMode="auto">
          <a:xfrm>
            <a:off x="3948113" y="4960938"/>
            <a:ext cx="2284412" cy="1127125"/>
          </a:xfrm>
          <a:prstGeom prst="line">
            <a:avLst/>
          </a:prstGeom>
          <a:noFill/>
          <a:ln w="3810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2577" name="Line 17"/>
          <p:cNvSpPr>
            <a:spLocks noChangeShapeType="1"/>
          </p:cNvSpPr>
          <p:nvPr/>
        </p:nvSpPr>
        <p:spPr bwMode="auto">
          <a:xfrm>
            <a:off x="3932238" y="5227638"/>
            <a:ext cx="2322512" cy="882650"/>
          </a:xfrm>
          <a:prstGeom prst="line">
            <a:avLst/>
          </a:prstGeom>
          <a:noFill/>
          <a:ln w="3810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2578" name="Line 18"/>
          <p:cNvSpPr>
            <a:spLocks noChangeShapeType="1"/>
          </p:cNvSpPr>
          <p:nvPr/>
        </p:nvSpPr>
        <p:spPr bwMode="auto">
          <a:xfrm>
            <a:off x="3810000" y="5486400"/>
            <a:ext cx="2460625" cy="419100"/>
          </a:xfrm>
          <a:prstGeom prst="line">
            <a:avLst/>
          </a:prstGeom>
          <a:noFill/>
          <a:ln w="381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2580" name="Line 20"/>
          <p:cNvSpPr>
            <a:spLocks noChangeShapeType="1"/>
          </p:cNvSpPr>
          <p:nvPr/>
        </p:nvSpPr>
        <p:spPr bwMode="auto">
          <a:xfrm>
            <a:off x="3802063" y="5783263"/>
            <a:ext cx="2446337" cy="7937"/>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22573"/>
                                        </p:tgtEl>
                                        <p:attrNameLst>
                                          <p:attrName>style.visibility</p:attrName>
                                        </p:attrNameLst>
                                      </p:cBhvr>
                                      <p:to>
                                        <p:strVal val="visible"/>
                                      </p:to>
                                    </p:set>
                                    <p:animEffect transition="in" filter="wipe(down)">
                                      <p:cBhvr>
                                        <p:cTn id="7" dur="500"/>
                                        <p:tgtEl>
                                          <p:spTgt spid="3225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2570"/>
                                        </p:tgtEl>
                                        <p:attrNameLst>
                                          <p:attrName>style.visibility</p:attrName>
                                        </p:attrNameLst>
                                      </p:cBhvr>
                                      <p:to>
                                        <p:strVal val="visible"/>
                                      </p:to>
                                    </p:set>
                                    <p:animEffect transition="in" filter="blinds(horizontal)">
                                      <p:cBhvr>
                                        <p:cTn id="12" dur="500"/>
                                        <p:tgtEl>
                                          <p:spTgt spid="3225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22571">
                                            <p:txEl>
                                              <p:pRg st="0" end="0"/>
                                            </p:txEl>
                                          </p:spTgt>
                                        </p:tgtEl>
                                        <p:attrNameLst>
                                          <p:attrName>style.visibility</p:attrName>
                                        </p:attrNameLst>
                                      </p:cBhvr>
                                      <p:to>
                                        <p:strVal val="visible"/>
                                      </p:to>
                                    </p:set>
                                    <p:animEffect transition="in" filter="blinds(horizontal)">
                                      <p:cBhvr>
                                        <p:cTn id="17" dur="500"/>
                                        <p:tgtEl>
                                          <p:spTgt spid="322571">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22571">
                                            <p:txEl>
                                              <p:pRg st="1" end="1"/>
                                            </p:txEl>
                                          </p:spTgt>
                                        </p:tgtEl>
                                        <p:attrNameLst>
                                          <p:attrName>style.visibility</p:attrName>
                                        </p:attrNameLst>
                                      </p:cBhvr>
                                      <p:to>
                                        <p:strVal val="visible"/>
                                      </p:to>
                                    </p:set>
                                    <p:animEffect transition="in" filter="blinds(horizontal)">
                                      <p:cBhvr>
                                        <p:cTn id="22" dur="500"/>
                                        <p:tgtEl>
                                          <p:spTgt spid="32257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22571">
                                            <p:txEl>
                                              <p:pRg st="2" end="2"/>
                                            </p:txEl>
                                          </p:spTgt>
                                        </p:tgtEl>
                                        <p:attrNameLst>
                                          <p:attrName>style.visibility</p:attrName>
                                        </p:attrNameLst>
                                      </p:cBhvr>
                                      <p:to>
                                        <p:strVal val="visible"/>
                                      </p:to>
                                    </p:set>
                                    <p:animEffect transition="in" filter="blinds(horizontal)">
                                      <p:cBhvr>
                                        <p:cTn id="27" dur="500"/>
                                        <p:tgtEl>
                                          <p:spTgt spid="322571">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22574"/>
                                        </p:tgtEl>
                                        <p:attrNameLst>
                                          <p:attrName>style.visibility</p:attrName>
                                        </p:attrNameLst>
                                      </p:cBhvr>
                                      <p:to>
                                        <p:strVal val="visible"/>
                                      </p:to>
                                    </p:set>
                                    <p:animEffect transition="in" filter="wipe(down)">
                                      <p:cBhvr>
                                        <p:cTn id="32" dur="500"/>
                                        <p:tgtEl>
                                          <p:spTgt spid="322574"/>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322575"/>
                                        </p:tgtEl>
                                        <p:attrNameLst>
                                          <p:attrName>style.visibility</p:attrName>
                                        </p:attrNameLst>
                                      </p:cBhvr>
                                      <p:to>
                                        <p:strVal val="visible"/>
                                      </p:to>
                                    </p:set>
                                    <p:animEffect transition="in" filter="wipe(down)">
                                      <p:cBhvr>
                                        <p:cTn id="35" dur="500"/>
                                        <p:tgtEl>
                                          <p:spTgt spid="32257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322577"/>
                                        </p:tgtEl>
                                        <p:attrNameLst>
                                          <p:attrName>style.visibility</p:attrName>
                                        </p:attrNameLst>
                                      </p:cBhvr>
                                      <p:to>
                                        <p:strVal val="visible"/>
                                      </p:to>
                                    </p:set>
                                    <p:animEffect transition="in" filter="wipe(down)">
                                      <p:cBhvr>
                                        <p:cTn id="40" dur="500"/>
                                        <p:tgtEl>
                                          <p:spTgt spid="322577"/>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322576"/>
                                        </p:tgtEl>
                                        <p:attrNameLst>
                                          <p:attrName>style.visibility</p:attrName>
                                        </p:attrNameLst>
                                      </p:cBhvr>
                                      <p:to>
                                        <p:strVal val="visible"/>
                                      </p:to>
                                    </p:set>
                                    <p:animEffect transition="in" filter="wipe(down)">
                                      <p:cBhvr>
                                        <p:cTn id="43" dur="500"/>
                                        <p:tgtEl>
                                          <p:spTgt spid="32257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2" fill="hold" grpId="0" nodeType="clickEffect">
                                  <p:stCondLst>
                                    <p:cond delay="0"/>
                                  </p:stCondLst>
                                  <p:childTnLst>
                                    <p:set>
                                      <p:cBhvr>
                                        <p:cTn id="47" dur="1" fill="hold">
                                          <p:stCondLst>
                                            <p:cond delay="0"/>
                                          </p:stCondLst>
                                        </p:cTn>
                                        <p:tgtEl>
                                          <p:spTgt spid="322578"/>
                                        </p:tgtEl>
                                        <p:attrNameLst>
                                          <p:attrName>style.visibility</p:attrName>
                                        </p:attrNameLst>
                                      </p:cBhvr>
                                      <p:to>
                                        <p:strVal val="visible"/>
                                      </p:to>
                                    </p:set>
                                    <p:animEffect transition="in" filter="wipe(right)">
                                      <p:cBhvr>
                                        <p:cTn id="48" dur="500"/>
                                        <p:tgtEl>
                                          <p:spTgt spid="32257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2" fill="hold" grpId="0" nodeType="clickEffect">
                                  <p:stCondLst>
                                    <p:cond delay="0"/>
                                  </p:stCondLst>
                                  <p:childTnLst>
                                    <p:set>
                                      <p:cBhvr>
                                        <p:cTn id="52" dur="1" fill="hold">
                                          <p:stCondLst>
                                            <p:cond delay="0"/>
                                          </p:stCondLst>
                                        </p:cTn>
                                        <p:tgtEl>
                                          <p:spTgt spid="322580"/>
                                        </p:tgtEl>
                                        <p:attrNameLst>
                                          <p:attrName>style.visibility</p:attrName>
                                        </p:attrNameLst>
                                      </p:cBhvr>
                                      <p:to>
                                        <p:strVal val="visible"/>
                                      </p:to>
                                    </p:set>
                                    <p:animEffect transition="in" filter="wipe(right)">
                                      <p:cBhvr>
                                        <p:cTn id="53" dur="500"/>
                                        <p:tgtEl>
                                          <p:spTgt spid="322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70" grpId="0" animBg="1"/>
      <p:bldP spid="322573" grpId="0" animBg="1"/>
      <p:bldP spid="322574" grpId="0" animBg="1"/>
      <p:bldP spid="322575" grpId="0" animBg="1"/>
      <p:bldP spid="322576" grpId="0" animBg="1"/>
      <p:bldP spid="322577" grpId="0" animBg="1"/>
      <p:bldP spid="322578" grpId="0" animBg="1"/>
      <p:bldP spid="322580"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pic>
        <p:nvPicPr>
          <p:cNvPr id="430121" name="Picture 41" descr="gj0718a"/>
          <p:cNvPicPr>
            <a:picLocks noChangeAspect="1" noChangeArrowheads="1"/>
          </p:cNvPicPr>
          <p:nvPr/>
        </p:nvPicPr>
        <p:blipFill>
          <a:blip r:embed="rId2" cstate="print">
            <a:extLst>
              <a:ext uri="{28A0092B-C50C-407E-A947-70E740481C1C}">
                <a14:useLocalDpi xmlns:a14="http://schemas.microsoft.com/office/drawing/2010/main" val="0"/>
              </a:ext>
            </a:extLst>
          </a:blip>
          <a:srcRect l="10536" t="4903" r="23659"/>
          <a:stretch>
            <a:fillRect/>
          </a:stretch>
        </p:blipFill>
        <p:spPr bwMode="auto">
          <a:xfrm>
            <a:off x="5105400" y="2895600"/>
            <a:ext cx="3436938" cy="3810000"/>
          </a:xfrm>
          <a:prstGeom prst="rect">
            <a:avLst/>
          </a:prstGeom>
          <a:noFill/>
          <a:extLst>
            <a:ext uri="{909E8E84-426E-40DD-AFC4-6F175D3DCCD1}">
              <a14:hiddenFill xmlns:a14="http://schemas.microsoft.com/office/drawing/2010/main">
                <a:solidFill>
                  <a:srgbClr val="FFFFFF"/>
                </a:solidFill>
              </a14:hiddenFill>
            </a:ext>
          </a:extLst>
        </p:spPr>
      </p:pic>
      <p:sp>
        <p:nvSpPr>
          <p:cNvPr id="430082" name="Rectangle 2"/>
          <p:cNvSpPr>
            <a:spLocks noChangeArrowheads="1"/>
          </p:cNvSpPr>
          <p:nvPr/>
        </p:nvSpPr>
        <p:spPr bwMode="auto">
          <a:xfrm>
            <a:off x="611188" y="1143000"/>
            <a:ext cx="7923212" cy="4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0"/>
              </a:spcBef>
              <a:buClrTx/>
              <a:buFontTx/>
              <a:buNone/>
            </a:pPr>
            <a:endParaRPr lang="en-US" altLang="zh-CN" dirty="0">
              <a:solidFill>
                <a:srgbClr val="990099"/>
              </a:solidFill>
            </a:endParaRPr>
          </a:p>
          <a:p>
            <a:pPr algn="l">
              <a:lnSpc>
                <a:spcPct val="120000"/>
              </a:lnSpc>
              <a:spcBef>
                <a:spcPct val="0"/>
              </a:spcBef>
              <a:buClrTx/>
              <a:buFontTx/>
              <a:buNone/>
            </a:pPr>
            <a:r>
              <a:rPr lang="en-US" altLang="zh-CN" sz="2000" dirty="0"/>
              <a:t>1</a:t>
            </a:r>
            <a:r>
              <a:rPr lang="zh-CN" altLang="en-US" sz="2000" dirty="0"/>
              <a:t>）</a:t>
            </a:r>
            <a:r>
              <a:rPr lang="en-US" altLang="zh-CN" sz="2000" i="1" dirty="0"/>
              <a:t>N</a:t>
            </a:r>
            <a:r>
              <a:rPr lang="en-US" altLang="zh-CN" sz="2000" dirty="0"/>
              <a:t>——</a:t>
            </a:r>
            <a:r>
              <a:rPr lang="en-US" altLang="zh-CN" sz="2000" i="1" dirty="0"/>
              <a:t>M</a:t>
            </a:r>
            <a:r>
              <a:rPr lang="zh-CN" altLang="en-US" sz="2000" dirty="0"/>
              <a:t>关系图</a:t>
            </a:r>
          </a:p>
          <a:p>
            <a:pPr algn="l">
              <a:lnSpc>
                <a:spcPct val="110000"/>
              </a:lnSpc>
              <a:spcBef>
                <a:spcPct val="30000"/>
              </a:spcBef>
              <a:spcAft>
                <a:spcPct val="50000"/>
              </a:spcAft>
              <a:buClrTx/>
              <a:buFontTx/>
              <a:buNone/>
            </a:pPr>
            <a:r>
              <a:rPr lang="zh-CN" altLang="en-US" sz="2000" dirty="0">
                <a:solidFill>
                  <a:schemeClr val="tx1"/>
                </a:solidFill>
              </a:rPr>
              <a:t>给定截面的偏心受压构件达到承载力极限时，截面能承受的轴力</a:t>
            </a:r>
            <a:r>
              <a:rPr lang="en-US" altLang="zh-CN" sz="2000" i="1" dirty="0">
                <a:solidFill>
                  <a:schemeClr val="tx1"/>
                </a:solidFill>
              </a:rPr>
              <a:t>N</a:t>
            </a:r>
            <a:r>
              <a:rPr lang="zh-CN" altLang="en-US" sz="2000" dirty="0">
                <a:solidFill>
                  <a:schemeClr val="tx1"/>
                </a:solidFill>
              </a:rPr>
              <a:t>和弯矩</a:t>
            </a:r>
            <a:r>
              <a:rPr lang="en-US" altLang="zh-CN" sz="2000" i="1" dirty="0">
                <a:solidFill>
                  <a:schemeClr val="tx1"/>
                </a:solidFill>
              </a:rPr>
              <a:t>M</a:t>
            </a:r>
            <a:r>
              <a:rPr lang="zh-CN" altLang="en-US" sz="2000" dirty="0">
                <a:solidFill>
                  <a:schemeClr val="tx1"/>
                </a:solidFill>
              </a:rPr>
              <a:t>是相关联的。整体曲线展示了某一截面从受弯至偏压至轴压的全过程变化规律。</a:t>
            </a:r>
          </a:p>
          <a:p>
            <a:pPr algn="l">
              <a:lnSpc>
                <a:spcPct val="110000"/>
              </a:lnSpc>
              <a:spcBef>
                <a:spcPct val="30000"/>
              </a:spcBef>
              <a:spcAft>
                <a:spcPct val="50000"/>
              </a:spcAft>
              <a:buClrTx/>
              <a:buFontTx/>
              <a:buNone/>
            </a:pPr>
            <a:r>
              <a:rPr lang="en-US" altLang="zh-CN" sz="2000" dirty="0"/>
              <a:t>2</a:t>
            </a:r>
            <a:r>
              <a:rPr lang="zh-CN" altLang="en-US" sz="2000" dirty="0"/>
              <a:t>）偏压柱破坏类型</a:t>
            </a:r>
          </a:p>
          <a:p>
            <a:pPr algn="l">
              <a:lnSpc>
                <a:spcPct val="110000"/>
              </a:lnSpc>
              <a:spcBef>
                <a:spcPct val="50000"/>
              </a:spcBef>
              <a:buFontTx/>
              <a:buChar char="•"/>
            </a:pPr>
            <a:r>
              <a:rPr lang="zh-CN" altLang="en-US" sz="2000" dirty="0">
                <a:solidFill>
                  <a:srgbClr val="008000"/>
                </a:solidFill>
              </a:rPr>
              <a:t>短柱</a:t>
            </a:r>
          </a:p>
          <a:p>
            <a:pPr algn="l">
              <a:lnSpc>
                <a:spcPct val="110000"/>
              </a:lnSpc>
              <a:spcBef>
                <a:spcPct val="50000"/>
              </a:spcBef>
              <a:buFontTx/>
              <a:buChar char="•"/>
            </a:pPr>
            <a:r>
              <a:rPr lang="zh-CN" altLang="en-US" sz="2000" dirty="0"/>
              <a:t>长柱</a:t>
            </a:r>
          </a:p>
          <a:p>
            <a:pPr algn="l">
              <a:lnSpc>
                <a:spcPct val="110000"/>
              </a:lnSpc>
              <a:spcBef>
                <a:spcPct val="50000"/>
              </a:spcBef>
              <a:buFontTx/>
              <a:buChar char="•"/>
            </a:pPr>
            <a:r>
              <a:rPr lang="zh-CN" altLang="en-US" sz="2000" dirty="0">
                <a:solidFill>
                  <a:srgbClr val="CC0000"/>
                </a:solidFill>
              </a:rPr>
              <a:t>细长柱</a:t>
            </a:r>
          </a:p>
        </p:txBody>
      </p:sp>
      <p:sp>
        <p:nvSpPr>
          <p:cNvPr id="430083" name="Rectangle 3"/>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430085" name="Line 5"/>
          <p:cNvSpPr>
            <a:spLocks noChangeShapeType="1"/>
          </p:cNvSpPr>
          <p:nvPr/>
        </p:nvSpPr>
        <p:spPr bwMode="auto">
          <a:xfrm flipV="1">
            <a:off x="5495925" y="4419600"/>
            <a:ext cx="1022350" cy="1949450"/>
          </a:xfrm>
          <a:prstGeom prst="line">
            <a:avLst/>
          </a:prstGeom>
          <a:noFill/>
          <a:ln w="38100">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086" name="Freeform 6"/>
          <p:cNvSpPr>
            <a:spLocks/>
          </p:cNvSpPr>
          <p:nvPr/>
        </p:nvSpPr>
        <p:spPr bwMode="auto">
          <a:xfrm>
            <a:off x="5505450" y="4718050"/>
            <a:ext cx="1450975" cy="1654175"/>
          </a:xfrm>
          <a:custGeom>
            <a:avLst/>
            <a:gdLst>
              <a:gd name="T0" fmla="*/ 0 w 914"/>
              <a:gd name="T1" fmla="*/ 1042 h 1042"/>
              <a:gd name="T2" fmla="*/ 122 w 914"/>
              <a:gd name="T3" fmla="*/ 804 h 1042"/>
              <a:gd name="T4" fmla="*/ 270 w 914"/>
              <a:gd name="T5" fmla="*/ 572 h 1042"/>
              <a:gd name="T6" fmla="*/ 410 w 914"/>
              <a:gd name="T7" fmla="*/ 392 h 1042"/>
              <a:gd name="T8" fmla="*/ 586 w 914"/>
              <a:gd name="T9" fmla="*/ 220 h 1042"/>
              <a:gd name="T10" fmla="*/ 722 w 914"/>
              <a:gd name="T11" fmla="*/ 120 h 1042"/>
              <a:gd name="T12" fmla="*/ 914 w 914"/>
              <a:gd name="T13" fmla="*/ 0 h 1042"/>
            </a:gdLst>
            <a:ahLst/>
            <a:cxnLst>
              <a:cxn ang="0">
                <a:pos x="T0" y="T1"/>
              </a:cxn>
              <a:cxn ang="0">
                <a:pos x="T2" y="T3"/>
              </a:cxn>
              <a:cxn ang="0">
                <a:pos x="T4" y="T5"/>
              </a:cxn>
              <a:cxn ang="0">
                <a:pos x="T6" y="T7"/>
              </a:cxn>
              <a:cxn ang="0">
                <a:pos x="T8" y="T9"/>
              </a:cxn>
              <a:cxn ang="0">
                <a:pos x="T10" y="T11"/>
              </a:cxn>
              <a:cxn ang="0">
                <a:pos x="T12" y="T13"/>
              </a:cxn>
            </a:cxnLst>
            <a:rect l="0" t="0" r="r" b="b"/>
            <a:pathLst>
              <a:path w="914" h="1042">
                <a:moveTo>
                  <a:pt x="0" y="1042"/>
                </a:moveTo>
                <a:cubicBezTo>
                  <a:pt x="20" y="1003"/>
                  <a:pt x="77" y="882"/>
                  <a:pt x="122" y="804"/>
                </a:cubicBezTo>
                <a:cubicBezTo>
                  <a:pt x="167" y="726"/>
                  <a:pt x="222" y="641"/>
                  <a:pt x="270" y="572"/>
                </a:cubicBezTo>
                <a:cubicBezTo>
                  <a:pt x="318" y="503"/>
                  <a:pt x="357" y="451"/>
                  <a:pt x="410" y="392"/>
                </a:cubicBezTo>
                <a:cubicBezTo>
                  <a:pt x="463" y="333"/>
                  <a:pt x="534" y="265"/>
                  <a:pt x="586" y="220"/>
                </a:cubicBezTo>
                <a:cubicBezTo>
                  <a:pt x="638" y="175"/>
                  <a:pt x="667" y="157"/>
                  <a:pt x="722" y="120"/>
                </a:cubicBezTo>
                <a:cubicBezTo>
                  <a:pt x="777" y="83"/>
                  <a:pt x="881" y="17"/>
                  <a:pt x="914" y="0"/>
                </a:cubicBezTo>
              </a:path>
            </a:pathLst>
          </a:custGeom>
          <a:noFill/>
          <a:ln w="381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30087" name="Group 7"/>
          <p:cNvGrpSpPr>
            <a:grpSpLocks/>
          </p:cNvGrpSpPr>
          <p:nvPr/>
        </p:nvGrpSpPr>
        <p:grpSpPr bwMode="auto">
          <a:xfrm>
            <a:off x="5505450" y="5357813"/>
            <a:ext cx="2495550" cy="1020762"/>
            <a:chOff x="3446" y="3359"/>
            <a:chExt cx="1572" cy="643"/>
          </a:xfrm>
        </p:grpSpPr>
        <p:sp>
          <p:nvSpPr>
            <p:cNvPr id="430088" name="Freeform 8"/>
            <p:cNvSpPr>
              <a:spLocks/>
            </p:cNvSpPr>
            <p:nvPr/>
          </p:nvSpPr>
          <p:spPr bwMode="auto">
            <a:xfrm>
              <a:off x="3446" y="3359"/>
              <a:ext cx="1080" cy="643"/>
            </a:xfrm>
            <a:custGeom>
              <a:avLst/>
              <a:gdLst>
                <a:gd name="T0" fmla="*/ 0 w 1080"/>
                <a:gd name="T1" fmla="*/ 643 h 643"/>
                <a:gd name="T2" fmla="*/ 88 w 1080"/>
                <a:gd name="T3" fmla="*/ 505 h 643"/>
                <a:gd name="T4" fmla="*/ 248 w 1080"/>
                <a:gd name="T5" fmla="*/ 293 h 643"/>
                <a:gd name="T6" fmla="*/ 404 w 1080"/>
                <a:gd name="T7" fmla="*/ 157 h 643"/>
                <a:gd name="T8" fmla="*/ 538 w 1080"/>
                <a:gd name="T9" fmla="*/ 77 h 643"/>
                <a:gd name="T10" fmla="*/ 682 w 1080"/>
                <a:gd name="T11" fmla="*/ 23 h 643"/>
                <a:gd name="T12" fmla="*/ 828 w 1080"/>
                <a:gd name="T13" fmla="*/ 1 h 643"/>
                <a:gd name="T14" fmla="*/ 984 w 1080"/>
                <a:gd name="T15" fmla="*/ 17 h 643"/>
                <a:gd name="T16" fmla="*/ 1080 w 1080"/>
                <a:gd name="T17" fmla="*/ 39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0" h="643">
                  <a:moveTo>
                    <a:pt x="0" y="643"/>
                  </a:moveTo>
                  <a:cubicBezTo>
                    <a:pt x="14" y="620"/>
                    <a:pt x="47" y="563"/>
                    <a:pt x="88" y="505"/>
                  </a:cubicBezTo>
                  <a:cubicBezTo>
                    <a:pt x="129" y="447"/>
                    <a:pt x="195" y="351"/>
                    <a:pt x="248" y="293"/>
                  </a:cubicBezTo>
                  <a:cubicBezTo>
                    <a:pt x="301" y="235"/>
                    <a:pt x="356" y="193"/>
                    <a:pt x="404" y="157"/>
                  </a:cubicBezTo>
                  <a:cubicBezTo>
                    <a:pt x="452" y="121"/>
                    <a:pt x="492" y="99"/>
                    <a:pt x="538" y="77"/>
                  </a:cubicBezTo>
                  <a:cubicBezTo>
                    <a:pt x="584" y="55"/>
                    <a:pt x="634" y="36"/>
                    <a:pt x="682" y="23"/>
                  </a:cubicBezTo>
                  <a:cubicBezTo>
                    <a:pt x="730" y="10"/>
                    <a:pt x="778" y="2"/>
                    <a:pt x="828" y="1"/>
                  </a:cubicBezTo>
                  <a:cubicBezTo>
                    <a:pt x="878" y="0"/>
                    <a:pt x="942" y="11"/>
                    <a:pt x="984" y="17"/>
                  </a:cubicBezTo>
                  <a:cubicBezTo>
                    <a:pt x="1026" y="23"/>
                    <a:pt x="1066" y="34"/>
                    <a:pt x="1080" y="39"/>
                  </a:cubicBezTo>
                </a:path>
              </a:pathLst>
            </a:custGeom>
            <a:noFill/>
            <a:ln w="381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089" name="Freeform 9"/>
            <p:cNvSpPr>
              <a:spLocks/>
            </p:cNvSpPr>
            <p:nvPr/>
          </p:nvSpPr>
          <p:spPr bwMode="auto">
            <a:xfrm>
              <a:off x="4516" y="3388"/>
              <a:ext cx="502" cy="178"/>
            </a:xfrm>
            <a:custGeom>
              <a:avLst/>
              <a:gdLst>
                <a:gd name="T0" fmla="*/ 0 w 502"/>
                <a:gd name="T1" fmla="*/ 0 h 178"/>
                <a:gd name="T2" fmla="*/ 10 w 502"/>
                <a:gd name="T3" fmla="*/ 6 h 178"/>
                <a:gd name="T4" fmla="*/ 118 w 502"/>
                <a:gd name="T5" fmla="*/ 28 h 178"/>
                <a:gd name="T6" fmla="*/ 236 w 502"/>
                <a:gd name="T7" fmla="*/ 64 h 178"/>
                <a:gd name="T8" fmla="*/ 300 w 502"/>
                <a:gd name="T9" fmla="*/ 90 h 178"/>
                <a:gd name="T10" fmla="*/ 376 w 502"/>
                <a:gd name="T11" fmla="*/ 122 h 178"/>
                <a:gd name="T12" fmla="*/ 460 w 502"/>
                <a:gd name="T13" fmla="*/ 160 h 178"/>
                <a:gd name="T14" fmla="*/ 502 w 502"/>
                <a:gd name="T15" fmla="*/ 178 h 1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2" h="178">
                  <a:moveTo>
                    <a:pt x="0" y="0"/>
                  </a:moveTo>
                  <a:lnTo>
                    <a:pt x="10" y="6"/>
                  </a:lnTo>
                  <a:cubicBezTo>
                    <a:pt x="30" y="11"/>
                    <a:pt x="80" y="18"/>
                    <a:pt x="118" y="28"/>
                  </a:cubicBezTo>
                  <a:cubicBezTo>
                    <a:pt x="156" y="38"/>
                    <a:pt x="206" y="54"/>
                    <a:pt x="236" y="64"/>
                  </a:cubicBezTo>
                  <a:cubicBezTo>
                    <a:pt x="266" y="74"/>
                    <a:pt x="277" y="80"/>
                    <a:pt x="300" y="90"/>
                  </a:cubicBezTo>
                  <a:cubicBezTo>
                    <a:pt x="323" y="100"/>
                    <a:pt x="349" y="110"/>
                    <a:pt x="376" y="122"/>
                  </a:cubicBezTo>
                  <a:cubicBezTo>
                    <a:pt x="403" y="134"/>
                    <a:pt x="439" y="151"/>
                    <a:pt x="460" y="160"/>
                  </a:cubicBezTo>
                  <a:cubicBezTo>
                    <a:pt x="481" y="169"/>
                    <a:pt x="499" y="169"/>
                    <a:pt x="502" y="178"/>
                  </a:cubicBezTo>
                </a:path>
              </a:pathLst>
            </a:custGeom>
            <a:noFill/>
            <a:ln w="38100" cap="flat" cmpd="sng">
              <a:solidFill>
                <a:srgbClr val="FF0000"/>
              </a:solidFill>
              <a:prstDash val="sysDot"/>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30090" name="Rectangle 10"/>
          <p:cNvSpPr>
            <a:spLocks noChangeArrowheads="1"/>
          </p:cNvSpPr>
          <p:nvPr/>
        </p:nvSpPr>
        <p:spPr bwMode="auto">
          <a:xfrm>
            <a:off x="611188" y="1066800"/>
            <a:ext cx="82280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一</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偏心受压短柱的破坏形态</a:t>
            </a:r>
            <a:r>
              <a:rPr lang="en-US" altLang="zh-CN">
                <a:solidFill>
                  <a:srgbClr val="A50021"/>
                </a:solidFill>
                <a:latin typeface="华文中宋" pitchFamily="2" charset="-122"/>
                <a:ea typeface="华文中宋" pitchFamily="2" charset="-122"/>
              </a:rPr>
              <a:t>——</a:t>
            </a:r>
            <a:r>
              <a:rPr lang="zh-CN" altLang="en-US">
                <a:solidFill>
                  <a:srgbClr val="A50021"/>
                </a:solidFill>
                <a:latin typeface="华文中宋" pitchFamily="2" charset="-122"/>
                <a:ea typeface="华文中宋" pitchFamily="2" charset="-122"/>
              </a:rPr>
              <a:t>破坏类型</a:t>
            </a:r>
            <a:r>
              <a:rPr lang="zh-CN" altLang="en-US"/>
              <a:t>         </a:t>
            </a:r>
          </a:p>
        </p:txBody>
      </p:sp>
      <p:sp>
        <p:nvSpPr>
          <p:cNvPr id="430091" name="Rectangle 11"/>
          <p:cNvSpPr>
            <a:spLocks noChangeArrowheads="1"/>
          </p:cNvSpPr>
          <p:nvPr/>
        </p:nvSpPr>
        <p:spPr bwMode="auto">
          <a:xfrm>
            <a:off x="4495800" y="5105400"/>
            <a:ext cx="368300"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rgbClr val="CC0000"/>
                </a:solidFill>
              </a:rPr>
              <a:t>N</a:t>
            </a:r>
          </a:p>
        </p:txBody>
      </p:sp>
      <p:grpSp>
        <p:nvGrpSpPr>
          <p:cNvPr id="430092" name="Group 12"/>
          <p:cNvGrpSpPr>
            <a:grpSpLocks/>
          </p:cNvGrpSpPr>
          <p:nvPr/>
        </p:nvGrpSpPr>
        <p:grpSpPr bwMode="auto">
          <a:xfrm>
            <a:off x="2971800" y="3887788"/>
            <a:ext cx="2362200" cy="2817812"/>
            <a:chOff x="1200" y="2113"/>
            <a:chExt cx="2016" cy="2111"/>
          </a:xfrm>
        </p:grpSpPr>
        <p:sp>
          <p:nvSpPr>
            <p:cNvPr id="430093" name="Rectangle 13"/>
            <p:cNvSpPr>
              <a:spLocks noChangeArrowheads="1"/>
            </p:cNvSpPr>
            <p:nvPr/>
          </p:nvSpPr>
          <p:spPr bwMode="auto">
            <a:xfrm>
              <a:off x="1680" y="2433"/>
              <a:ext cx="1104" cy="576"/>
            </a:xfrm>
            <a:prstGeom prst="rect">
              <a:avLst/>
            </a:prstGeom>
            <a:noFill/>
            <a:ln w="25400" algn="ctr">
              <a:solidFill>
                <a:schemeClr val="tx2"/>
              </a:solidFill>
              <a:miter lim="800000"/>
              <a:headEnd/>
              <a:tailEn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430094" name="AutoShape 14"/>
            <p:cNvCxnSpPr>
              <a:cxnSpLocks noChangeShapeType="1"/>
            </p:cNvCxnSpPr>
            <p:nvPr/>
          </p:nvCxnSpPr>
          <p:spPr bwMode="auto">
            <a:xfrm>
              <a:off x="1200" y="2721"/>
              <a:ext cx="2016" cy="1"/>
            </a:xfrm>
            <a:prstGeom prst="straightConnector1">
              <a:avLst/>
            </a:prstGeom>
            <a:noFill/>
            <a:ln w="9525">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0095" name="AutoShape 15"/>
            <p:cNvCxnSpPr>
              <a:cxnSpLocks noChangeShapeType="1"/>
            </p:cNvCxnSpPr>
            <p:nvPr/>
          </p:nvCxnSpPr>
          <p:spPr bwMode="auto">
            <a:xfrm>
              <a:off x="2231" y="2113"/>
              <a:ext cx="2" cy="2111"/>
            </a:xfrm>
            <a:prstGeom prst="straightConnector1">
              <a:avLst/>
            </a:prstGeom>
            <a:noFill/>
            <a:ln w="9525">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30096" name="Group 16"/>
            <p:cNvGrpSpPr>
              <a:grpSpLocks/>
            </p:cNvGrpSpPr>
            <p:nvPr/>
          </p:nvGrpSpPr>
          <p:grpSpPr bwMode="auto">
            <a:xfrm rot="-5400000">
              <a:off x="2515" y="2701"/>
              <a:ext cx="428" cy="40"/>
              <a:chOff x="4130" y="2572"/>
              <a:chExt cx="428" cy="40"/>
            </a:xfrm>
          </p:grpSpPr>
          <p:sp>
            <p:nvSpPr>
              <p:cNvPr id="430097" name="Oval 17"/>
              <p:cNvSpPr>
                <a:spLocks noChangeArrowheads="1"/>
              </p:cNvSpPr>
              <p:nvPr/>
            </p:nvSpPr>
            <p:spPr bwMode="auto">
              <a:xfrm>
                <a:off x="4519" y="2572"/>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098" name="Oval 18"/>
              <p:cNvSpPr>
                <a:spLocks noChangeArrowheads="1"/>
              </p:cNvSpPr>
              <p:nvPr/>
            </p:nvSpPr>
            <p:spPr bwMode="auto">
              <a:xfrm>
                <a:off x="4260" y="2572"/>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099" name="Oval 19"/>
              <p:cNvSpPr>
                <a:spLocks noChangeArrowheads="1"/>
              </p:cNvSpPr>
              <p:nvPr/>
            </p:nvSpPr>
            <p:spPr bwMode="auto">
              <a:xfrm>
                <a:off x="4393" y="2572"/>
                <a:ext cx="38"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00" name="Oval 20"/>
              <p:cNvSpPr>
                <a:spLocks noChangeArrowheads="1"/>
              </p:cNvSpPr>
              <p:nvPr/>
            </p:nvSpPr>
            <p:spPr bwMode="auto">
              <a:xfrm>
                <a:off x="4130" y="2573"/>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30101" name="Group 21"/>
            <p:cNvGrpSpPr>
              <a:grpSpLocks/>
            </p:cNvGrpSpPr>
            <p:nvPr/>
          </p:nvGrpSpPr>
          <p:grpSpPr bwMode="auto">
            <a:xfrm rot="-5400000">
              <a:off x="1534" y="2704"/>
              <a:ext cx="428" cy="40"/>
              <a:chOff x="4130" y="2572"/>
              <a:chExt cx="428" cy="40"/>
            </a:xfrm>
          </p:grpSpPr>
          <p:sp>
            <p:nvSpPr>
              <p:cNvPr id="430102" name="Oval 22"/>
              <p:cNvSpPr>
                <a:spLocks noChangeArrowheads="1"/>
              </p:cNvSpPr>
              <p:nvPr/>
            </p:nvSpPr>
            <p:spPr bwMode="auto">
              <a:xfrm>
                <a:off x="4519" y="2572"/>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03" name="Oval 23"/>
              <p:cNvSpPr>
                <a:spLocks noChangeArrowheads="1"/>
              </p:cNvSpPr>
              <p:nvPr/>
            </p:nvSpPr>
            <p:spPr bwMode="auto">
              <a:xfrm>
                <a:off x="4260" y="2572"/>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04" name="Oval 24"/>
              <p:cNvSpPr>
                <a:spLocks noChangeArrowheads="1"/>
              </p:cNvSpPr>
              <p:nvPr/>
            </p:nvSpPr>
            <p:spPr bwMode="auto">
              <a:xfrm>
                <a:off x="4393" y="2572"/>
                <a:ext cx="38"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05" name="Oval 25"/>
              <p:cNvSpPr>
                <a:spLocks noChangeArrowheads="1"/>
              </p:cNvSpPr>
              <p:nvPr/>
            </p:nvSpPr>
            <p:spPr bwMode="auto">
              <a:xfrm>
                <a:off x="4130" y="2573"/>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30106" name="Group 26"/>
            <p:cNvGrpSpPr>
              <a:grpSpLocks/>
            </p:cNvGrpSpPr>
            <p:nvPr/>
          </p:nvGrpSpPr>
          <p:grpSpPr bwMode="auto">
            <a:xfrm>
              <a:off x="1536" y="3244"/>
              <a:ext cx="1392" cy="677"/>
              <a:chOff x="1344" y="2635"/>
              <a:chExt cx="1392" cy="677"/>
            </a:xfrm>
          </p:grpSpPr>
          <p:sp>
            <p:nvSpPr>
              <p:cNvPr id="430107" name="Line 27"/>
              <p:cNvSpPr>
                <a:spLocks noChangeShapeType="1"/>
              </p:cNvSpPr>
              <p:nvPr/>
            </p:nvSpPr>
            <p:spPr bwMode="auto">
              <a:xfrm>
                <a:off x="1488" y="2736"/>
                <a:ext cx="0" cy="57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08" name="Line 28"/>
              <p:cNvSpPr>
                <a:spLocks noChangeShapeType="1"/>
              </p:cNvSpPr>
              <p:nvPr/>
            </p:nvSpPr>
            <p:spPr bwMode="auto">
              <a:xfrm>
                <a:off x="1488" y="3312"/>
                <a:ext cx="110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09" name="Line 29"/>
              <p:cNvSpPr>
                <a:spLocks noChangeShapeType="1"/>
              </p:cNvSpPr>
              <p:nvPr/>
            </p:nvSpPr>
            <p:spPr bwMode="auto">
              <a:xfrm>
                <a:off x="2592" y="2736"/>
                <a:ext cx="0" cy="57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10" name="Line 30"/>
              <p:cNvSpPr>
                <a:spLocks noChangeShapeType="1"/>
              </p:cNvSpPr>
              <p:nvPr/>
            </p:nvSpPr>
            <p:spPr bwMode="auto">
              <a:xfrm>
                <a:off x="1344" y="2736"/>
                <a:ext cx="629"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11" name="Line 31"/>
              <p:cNvSpPr>
                <a:spLocks noChangeShapeType="1"/>
              </p:cNvSpPr>
              <p:nvPr/>
            </p:nvSpPr>
            <p:spPr bwMode="auto">
              <a:xfrm>
                <a:off x="2112" y="2736"/>
                <a:ext cx="62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12" name="Line 32"/>
              <p:cNvSpPr>
                <a:spLocks noChangeShapeType="1"/>
              </p:cNvSpPr>
              <p:nvPr/>
            </p:nvSpPr>
            <p:spPr bwMode="auto">
              <a:xfrm flipV="1">
                <a:off x="1968" y="2635"/>
                <a:ext cx="67" cy="101"/>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13" name="Line 33"/>
              <p:cNvSpPr>
                <a:spLocks noChangeShapeType="1"/>
              </p:cNvSpPr>
              <p:nvPr/>
            </p:nvSpPr>
            <p:spPr bwMode="auto">
              <a:xfrm flipV="1">
                <a:off x="2045" y="2736"/>
                <a:ext cx="67" cy="101"/>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14" name="Line 34"/>
              <p:cNvSpPr>
                <a:spLocks noChangeShapeType="1"/>
              </p:cNvSpPr>
              <p:nvPr/>
            </p:nvSpPr>
            <p:spPr bwMode="auto">
              <a:xfrm>
                <a:off x="2040" y="2640"/>
                <a:ext cx="0" cy="19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30115" name="Line 35"/>
            <p:cNvSpPr>
              <a:spLocks noChangeShapeType="1"/>
            </p:cNvSpPr>
            <p:nvPr/>
          </p:nvSpPr>
          <p:spPr bwMode="auto">
            <a:xfrm>
              <a:off x="1757" y="3345"/>
              <a:ext cx="0" cy="57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16" name="Line 36"/>
            <p:cNvSpPr>
              <a:spLocks noChangeShapeType="1"/>
            </p:cNvSpPr>
            <p:nvPr/>
          </p:nvSpPr>
          <p:spPr bwMode="auto">
            <a:xfrm>
              <a:off x="2707" y="3345"/>
              <a:ext cx="0" cy="57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17" name="Oval 37"/>
            <p:cNvSpPr>
              <a:spLocks noChangeArrowheads="1"/>
            </p:cNvSpPr>
            <p:nvPr/>
          </p:nvSpPr>
          <p:spPr bwMode="auto">
            <a:xfrm>
              <a:off x="2400" y="2673"/>
              <a:ext cx="96" cy="96"/>
            </a:xfrm>
            <a:prstGeom prst="ellipse">
              <a:avLst/>
            </a:prstGeom>
            <a:solidFill>
              <a:srgbClr val="A50021"/>
            </a:solidFill>
            <a:ln w="9525" algn="ctr">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18" name="Line 38"/>
            <p:cNvSpPr>
              <a:spLocks noChangeShapeType="1"/>
            </p:cNvSpPr>
            <p:nvPr/>
          </p:nvSpPr>
          <p:spPr bwMode="auto">
            <a:xfrm>
              <a:off x="2448" y="3105"/>
              <a:ext cx="0" cy="24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19" name="AutoShape 39"/>
            <p:cNvSpPr>
              <a:spLocks noChangeArrowheads="1"/>
            </p:cNvSpPr>
            <p:nvPr/>
          </p:nvSpPr>
          <p:spPr bwMode="auto">
            <a:xfrm>
              <a:off x="2016" y="2145"/>
              <a:ext cx="480" cy="192"/>
            </a:xfrm>
            <a:prstGeom prst="curvedDownArrow">
              <a:avLst>
                <a:gd name="adj1" fmla="val 50000"/>
                <a:gd name="adj2" fmla="val 100000"/>
                <a:gd name="adj3" fmla="val 33333"/>
              </a:avLst>
            </a:prstGeom>
            <a:solidFill>
              <a:srgbClr val="33CCCC">
                <a:alpha val="38000"/>
              </a:srgbClr>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30120" name="Rectangle 40"/>
          <p:cNvSpPr>
            <a:spLocks noChangeArrowheads="1"/>
          </p:cNvSpPr>
          <p:nvPr/>
        </p:nvSpPr>
        <p:spPr bwMode="auto">
          <a:xfrm>
            <a:off x="3810000" y="3505200"/>
            <a:ext cx="1116011"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dirty="0">
                <a:solidFill>
                  <a:srgbClr val="CC0000"/>
                </a:solidFill>
              </a:rPr>
              <a:t>M=</a:t>
            </a:r>
            <a:r>
              <a:rPr lang="en-US" altLang="zh-CN" sz="2000" i="1" dirty="0" err="1">
                <a:solidFill>
                  <a:srgbClr val="CC0000"/>
                </a:solidFill>
              </a:rPr>
              <a:t>N</a:t>
            </a:r>
            <a:r>
              <a:rPr lang="en-US" altLang="zh-CN" sz="2000" b="0" dirty="0" err="1">
                <a:solidFill>
                  <a:srgbClr val="CC0000"/>
                </a:solidFill>
              </a:rPr>
              <a:t>×</a:t>
            </a:r>
            <a:r>
              <a:rPr lang="en-US" altLang="zh-CN" sz="2000" i="1" dirty="0" err="1">
                <a:solidFill>
                  <a:srgbClr val="CC0000"/>
                </a:solidFill>
              </a:rPr>
              <a:t>e</a:t>
            </a:r>
            <a:endParaRPr lang="en-US" altLang="zh-CN" sz="2000" i="1" dirty="0">
              <a:solidFill>
                <a:srgbClr val="CC0000"/>
              </a:solidFill>
            </a:endParaRPr>
          </a:p>
        </p:txBody>
      </p:sp>
      <p:sp>
        <p:nvSpPr>
          <p:cNvPr id="430122" name="Text Box 42"/>
          <p:cNvSpPr txBox="1">
            <a:spLocks noChangeArrowheads="1"/>
          </p:cNvSpPr>
          <p:nvPr/>
        </p:nvSpPr>
        <p:spPr bwMode="auto">
          <a:xfrm>
            <a:off x="6324600" y="4079875"/>
            <a:ext cx="990600" cy="339725"/>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dirty="0">
                <a:solidFill>
                  <a:srgbClr val="008000"/>
                </a:solidFill>
              </a:rPr>
              <a:t>短柱</a:t>
            </a:r>
          </a:p>
        </p:txBody>
      </p:sp>
      <p:sp>
        <p:nvSpPr>
          <p:cNvPr id="430123" name="Text Box 43"/>
          <p:cNvSpPr txBox="1">
            <a:spLocks noChangeArrowheads="1"/>
          </p:cNvSpPr>
          <p:nvPr/>
        </p:nvSpPr>
        <p:spPr bwMode="auto">
          <a:xfrm>
            <a:off x="6781800" y="4460875"/>
            <a:ext cx="990600" cy="339725"/>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a:t>长柱</a:t>
            </a:r>
          </a:p>
        </p:txBody>
      </p:sp>
      <p:sp>
        <p:nvSpPr>
          <p:cNvPr id="430124" name="Text Box 44"/>
          <p:cNvSpPr txBox="1">
            <a:spLocks noChangeArrowheads="1"/>
          </p:cNvSpPr>
          <p:nvPr/>
        </p:nvSpPr>
        <p:spPr bwMode="auto">
          <a:xfrm>
            <a:off x="7924800" y="5486400"/>
            <a:ext cx="990600" cy="339725"/>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a:solidFill>
                  <a:srgbClr val="FF0000"/>
                </a:solidFill>
              </a:rPr>
              <a:t>细长柱</a:t>
            </a:r>
          </a:p>
        </p:txBody>
      </p:sp>
      <p:sp>
        <p:nvSpPr>
          <p:cNvPr id="430125" name="Text Box 45"/>
          <p:cNvSpPr txBox="1">
            <a:spLocks noChangeArrowheads="1"/>
          </p:cNvSpPr>
          <p:nvPr/>
        </p:nvSpPr>
        <p:spPr bwMode="auto">
          <a:xfrm>
            <a:off x="4648200" y="3470275"/>
            <a:ext cx="990600" cy="339725"/>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a:solidFill>
                  <a:schemeClr val="tx2"/>
                </a:solidFill>
              </a:rPr>
              <a:t>轴压</a:t>
            </a:r>
          </a:p>
        </p:txBody>
      </p:sp>
      <p:sp>
        <p:nvSpPr>
          <p:cNvPr id="430128" name="Text Box 48"/>
          <p:cNvSpPr txBox="1">
            <a:spLocks noChangeArrowheads="1"/>
          </p:cNvSpPr>
          <p:nvPr/>
        </p:nvSpPr>
        <p:spPr bwMode="auto">
          <a:xfrm>
            <a:off x="6324600" y="6324600"/>
            <a:ext cx="990600" cy="339725"/>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dirty="0">
                <a:solidFill>
                  <a:schemeClr val="tx2"/>
                </a:solidFill>
              </a:rPr>
              <a:t>纯弯</a:t>
            </a:r>
          </a:p>
        </p:txBody>
      </p:sp>
      <p:sp>
        <p:nvSpPr>
          <p:cNvPr id="430129" name="Oval 49"/>
          <p:cNvSpPr>
            <a:spLocks noChangeArrowheads="1"/>
          </p:cNvSpPr>
          <p:nvPr/>
        </p:nvSpPr>
        <p:spPr bwMode="auto">
          <a:xfrm>
            <a:off x="5410200" y="3581400"/>
            <a:ext cx="152400" cy="152400"/>
          </a:xfrm>
          <a:prstGeom prst="ellipse">
            <a:avLst/>
          </a:prstGeom>
          <a:solidFill>
            <a:schemeClr val="tx2"/>
          </a:solidFill>
          <a:ln>
            <a:noFill/>
          </a:ln>
          <a:effectLst/>
          <a:extLst>
            <a:ext uri="{91240B29-F687-4F45-9708-019B960494DF}">
              <a14:hiddenLine xmlns:a14="http://schemas.microsoft.com/office/drawing/2010/main" w="9525" algn="ctr">
                <a:solidFill>
                  <a:schemeClr val="tx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30" name="Oval 50"/>
          <p:cNvSpPr>
            <a:spLocks noChangeArrowheads="1"/>
          </p:cNvSpPr>
          <p:nvPr/>
        </p:nvSpPr>
        <p:spPr bwMode="auto">
          <a:xfrm>
            <a:off x="7061200" y="6286500"/>
            <a:ext cx="152400" cy="152400"/>
          </a:xfrm>
          <a:prstGeom prst="ellipse">
            <a:avLst/>
          </a:prstGeom>
          <a:solidFill>
            <a:schemeClr val="tx2"/>
          </a:solidFill>
          <a:ln>
            <a:noFill/>
          </a:ln>
          <a:effectLst/>
          <a:extLst>
            <a:ext uri="{91240B29-F687-4F45-9708-019B960494DF}">
              <a14:hiddenLine xmlns:a14="http://schemas.microsoft.com/office/drawing/2010/main" w="9525" algn="ctr">
                <a:solidFill>
                  <a:schemeClr val="tx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Text Box 42"/>
          <p:cNvSpPr txBox="1">
            <a:spLocks noChangeArrowheads="1"/>
          </p:cNvSpPr>
          <p:nvPr/>
        </p:nvSpPr>
        <p:spPr bwMode="auto">
          <a:xfrm>
            <a:off x="7467600" y="3200400"/>
            <a:ext cx="1447800" cy="1126462"/>
          </a:xfrm>
          <a:prstGeom prst="rect">
            <a:avLst/>
          </a:prstGeom>
          <a:solidFill>
            <a:schemeClr val="tx1">
              <a:lumMod val="20000"/>
              <a:lumOff val="80000"/>
            </a:schemeClr>
          </a:solidFill>
          <a:ln>
            <a:solidFill>
              <a:schemeClr val="tx2"/>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zh-CN" altLang="en-US" sz="1400" dirty="0">
                <a:solidFill>
                  <a:schemeClr val="tx2"/>
                </a:solidFill>
              </a:rPr>
              <a:t>截面尺寸、配筋、材料强度、支承情况和轴向力偏心距等完全相同。</a:t>
            </a:r>
          </a:p>
        </p:txBody>
      </p:sp>
      <p:sp>
        <p:nvSpPr>
          <p:cNvPr id="49" name="Text Box 42"/>
          <p:cNvSpPr txBox="1">
            <a:spLocks noChangeArrowheads="1"/>
          </p:cNvSpPr>
          <p:nvPr/>
        </p:nvSpPr>
        <p:spPr bwMode="auto">
          <a:xfrm>
            <a:off x="381000" y="5638800"/>
            <a:ext cx="1219200" cy="341632"/>
          </a:xfrm>
          <a:prstGeom prst="rect">
            <a:avLst/>
          </a:prstGeom>
          <a:solidFill>
            <a:schemeClr val="tx1">
              <a:lumMod val="20000"/>
              <a:lumOff val="80000"/>
            </a:schemeClr>
          </a:solidFill>
          <a:ln>
            <a:noFill/>
          </a:ln>
          <a:effectLst/>
          <a:extLs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800" dirty="0">
                <a:solidFill>
                  <a:schemeClr val="tx2"/>
                </a:solidFill>
              </a:rPr>
              <a:t>材料破坏</a:t>
            </a:r>
          </a:p>
        </p:txBody>
      </p:sp>
      <p:sp>
        <p:nvSpPr>
          <p:cNvPr id="50" name="Text Box 42"/>
          <p:cNvSpPr txBox="1">
            <a:spLocks noChangeArrowheads="1"/>
          </p:cNvSpPr>
          <p:nvPr/>
        </p:nvSpPr>
        <p:spPr bwMode="auto">
          <a:xfrm>
            <a:off x="1828800" y="5638800"/>
            <a:ext cx="1219200" cy="341632"/>
          </a:xfrm>
          <a:prstGeom prst="rect">
            <a:avLst/>
          </a:prstGeom>
          <a:solidFill>
            <a:schemeClr val="tx1">
              <a:lumMod val="20000"/>
              <a:lumOff val="80000"/>
            </a:schemeClr>
          </a:solidFill>
          <a:ln>
            <a:noFill/>
          </a:ln>
          <a:effectLst/>
          <a:extLs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800" dirty="0">
                <a:solidFill>
                  <a:schemeClr val="tx2"/>
                </a:solidFill>
              </a:rPr>
              <a:t>失稳破坏</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30082">
                                            <p:txEl>
                                              <p:pRg st="1" end="1"/>
                                            </p:txEl>
                                          </p:spTgt>
                                        </p:tgtEl>
                                        <p:attrNameLst>
                                          <p:attrName>style.visibility</p:attrName>
                                        </p:attrNameLst>
                                      </p:cBhvr>
                                      <p:to>
                                        <p:strVal val="visible"/>
                                      </p:to>
                                    </p:set>
                                  </p:childTnLst>
                                </p:cTn>
                              </p:par>
                              <p:par>
                                <p:cTn id="7" presetID="3" presetClass="entr" presetSubtype="10" fill="hold" nodeType="withEffect">
                                  <p:stCondLst>
                                    <p:cond delay="0"/>
                                  </p:stCondLst>
                                  <p:childTnLst>
                                    <p:set>
                                      <p:cBhvr>
                                        <p:cTn id="8" dur="1" fill="hold">
                                          <p:stCondLst>
                                            <p:cond delay="0"/>
                                          </p:stCondLst>
                                        </p:cTn>
                                        <p:tgtEl>
                                          <p:spTgt spid="430082">
                                            <p:txEl>
                                              <p:pRg st="2" end="2"/>
                                            </p:txEl>
                                          </p:spTgt>
                                        </p:tgtEl>
                                        <p:attrNameLst>
                                          <p:attrName>style.visibility</p:attrName>
                                        </p:attrNameLst>
                                      </p:cBhvr>
                                      <p:to>
                                        <p:strVal val="visible"/>
                                      </p:to>
                                    </p:set>
                                    <p:animEffect transition="in" filter="blinds(horizontal)">
                                      <p:cBhvr>
                                        <p:cTn id="9" dur="500"/>
                                        <p:tgtEl>
                                          <p:spTgt spid="430082">
                                            <p:txEl>
                                              <p:pRg st="2" end="2"/>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3" presetClass="entr" presetSubtype="10" fill="hold" nodeType="clickEffect">
                                  <p:stCondLst>
                                    <p:cond delay="0"/>
                                  </p:stCondLst>
                                  <p:childTnLst>
                                    <p:set>
                                      <p:cBhvr>
                                        <p:cTn id="13" dur="1" fill="hold">
                                          <p:stCondLst>
                                            <p:cond delay="0"/>
                                          </p:stCondLst>
                                        </p:cTn>
                                        <p:tgtEl>
                                          <p:spTgt spid="430082">
                                            <p:txEl>
                                              <p:pRg st="3" end="3"/>
                                            </p:txEl>
                                          </p:spTgt>
                                        </p:tgtEl>
                                        <p:attrNameLst>
                                          <p:attrName>style.visibility</p:attrName>
                                        </p:attrNameLst>
                                      </p:cBhvr>
                                      <p:to>
                                        <p:strVal val="visible"/>
                                      </p:to>
                                    </p:set>
                                    <p:animEffect transition="in" filter="blinds(horizontal)">
                                      <p:cBhvr>
                                        <p:cTn id="14" dur="500"/>
                                        <p:tgtEl>
                                          <p:spTgt spid="430082">
                                            <p:txEl>
                                              <p:pRg st="3" end="3"/>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430085"/>
                                        </p:tgtEl>
                                        <p:attrNameLst>
                                          <p:attrName>style.visibility</p:attrName>
                                        </p:attrNameLst>
                                      </p:cBhvr>
                                      <p:to>
                                        <p:strVal val="visible"/>
                                      </p:to>
                                    </p:set>
                                    <p:animEffect transition="in" filter="wipe(down)">
                                      <p:cBhvr>
                                        <p:cTn id="19" dur="500"/>
                                        <p:tgtEl>
                                          <p:spTgt spid="430085"/>
                                        </p:tgtEl>
                                      </p:cBhvr>
                                    </p:animEffect>
                                  </p:childTnLst>
                                </p:cTn>
                              </p:par>
                              <p:par>
                                <p:cTn id="20" presetID="3" presetClass="entr" presetSubtype="10" fill="hold" nodeType="withEffect">
                                  <p:stCondLst>
                                    <p:cond delay="0"/>
                                  </p:stCondLst>
                                  <p:childTnLst>
                                    <p:set>
                                      <p:cBhvr>
                                        <p:cTn id="21" dur="1" fill="hold">
                                          <p:stCondLst>
                                            <p:cond delay="0"/>
                                          </p:stCondLst>
                                        </p:cTn>
                                        <p:tgtEl>
                                          <p:spTgt spid="430082">
                                            <p:txEl>
                                              <p:pRg st="4" end="4"/>
                                            </p:txEl>
                                          </p:spTgt>
                                        </p:tgtEl>
                                        <p:attrNameLst>
                                          <p:attrName>style.visibility</p:attrName>
                                        </p:attrNameLst>
                                      </p:cBhvr>
                                      <p:to>
                                        <p:strVal val="visible"/>
                                      </p:to>
                                    </p:set>
                                    <p:animEffect transition="in" filter="blinds(horizontal)">
                                      <p:cBhvr>
                                        <p:cTn id="22" dur="500"/>
                                        <p:tgtEl>
                                          <p:spTgt spid="430082">
                                            <p:txEl>
                                              <p:pRg st="4" end="4"/>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30082">
                                            <p:txEl>
                                              <p:pRg st="5" end="5"/>
                                            </p:txEl>
                                          </p:spTgt>
                                        </p:tgtEl>
                                        <p:attrNameLst>
                                          <p:attrName>style.visibility</p:attrName>
                                        </p:attrNameLst>
                                      </p:cBhvr>
                                      <p:to>
                                        <p:strVal val="visible"/>
                                      </p:to>
                                    </p:set>
                                    <p:animEffect transition="in" filter="blinds(horizontal)">
                                      <p:cBhvr>
                                        <p:cTn id="25" dur="500"/>
                                        <p:tgtEl>
                                          <p:spTgt spid="430082">
                                            <p:txEl>
                                              <p:pRg st="5" end="5"/>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430082">
                                            <p:txEl>
                                              <p:pRg st="6" end="6"/>
                                            </p:txEl>
                                          </p:spTgt>
                                        </p:tgtEl>
                                        <p:attrNameLst>
                                          <p:attrName>style.visibility</p:attrName>
                                        </p:attrNameLst>
                                      </p:cBhvr>
                                      <p:to>
                                        <p:strVal val="visible"/>
                                      </p:to>
                                    </p:set>
                                    <p:animEffect transition="in" filter="blinds(horizontal)">
                                      <p:cBhvr>
                                        <p:cTn id="28" dur="500"/>
                                        <p:tgtEl>
                                          <p:spTgt spid="430082">
                                            <p:txEl>
                                              <p:pRg st="6" end="6"/>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430122"/>
                                        </p:tgtEl>
                                        <p:attrNameLst>
                                          <p:attrName>style.visibility</p:attrName>
                                        </p:attrNameLst>
                                      </p:cBhvr>
                                      <p:to>
                                        <p:strVal val="visible"/>
                                      </p:to>
                                    </p:set>
                                    <p:animEffect transition="in" filter="blinds(horizontal)">
                                      <p:cBhvr>
                                        <p:cTn id="31" dur="500"/>
                                        <p:tgtEl>
                                          <p:spTgt spid="430122"/>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430123"/>
                                        </p:tgtEl>
                                        <p:attrNameLst>
                                          <p:attrName>style.visibility</p:attrName>
                                        </p:attrNameLst>
                                      </p:cBhvr>
                                      <p:to>
                                        <p:strVal val="visible"/>
                                      </p:to>
                                    </p:set>
                                    <p:animEffect transition="in" filter="blinds(horizontal)">
                                      <p:cBhvr>
                                        <p:cTn id="34" dur="500"/>
                                        <p:tgtEl>
                                          <p:spTgt spid="430123"/>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430124"/>
                                        </p:tgtEl>
                                        <p:attrNameLst>
                                          <p:attrName>style.visibility</p:attrName>
                                        </p:attrNameLst>
                                      </p:cBhvr>
                                      <p:to>
                                        <p:strVal val="visible"/>
                                      </p:to>
                                    </p:set>
                                    <p:animEffect transition="in" filter="blinds(horizontal)">
                                      <p:cBhvr>
                                        <p:cTn id="37" dur="500"/>
                                        <p:tgtEl>
                                          <p:spTgt spid="430124"/>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430086"/>
                                        </p:tgtEl>
                                        <p:attrNameLst>
                                          <p:attrName>style.visibility</p:attrName>
                                        </p:attrNameLst>
                                      </p:cBhvr>
                                      <p:to>
                                        <p:strVal val="visible"/>
                                      </p:to>
                                    </p:set>
                                    <p:animEffect transition="in" filter="wipe(down)">
                                      <p:cBhvr>
                                        <p:cTn id="40" dur="500"/>
                                        <p:tgtEl>
                                          <p:spTgt spid="430086"/>
                                        </p:tgtEl>
                                      </p:cBhvr>
                                    </p:animEffect>
                                  </p:childTnLst>
                                </p:cTn>
                              </p:par>
                              <p:par>
                                <p:cTn id="41" presetID="22" presetClass="entr" presetSubtype="8" fill="hold" nodeType="withEffect">
                                  <p:stCondLst>
                                    <p:cond delay="0"/>
                                  </p:stCondLst>
                                  <p:childTnLst>
                                    <p:set>
                                      <p:cBhvr>
                                        <p:cTn id="42" dur="1" fill="hold">
                                          <p:stCondLst>
                                            <p:cond delay="0"/>
                                          </p:stCondLst>
                                        </p:cTn>
                                        <p:tgtEl>
                                          <p:spTgt spid="430087"/>
                                        </p:tgtEl>
                                        <p:attrNameLst>
                                          <p:attrName>style.visibility</p:attrName>
                                        </p:attrNameLst>
                                      </p:cBhvr>
                                      <p:to>
                                        <p:strVal val="visible"/>
                                      </p:to>
                                    </p:set>
                                    <p:animEffect transition="in" filter="wipe(left)">
                                      <p:cBhvr>
                                        <p:cTn id="43" dur="500"/>
                                        <p:tgtEl>
                                          <p:spTgt spid="430087"/>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430120"/>
                                        </p:tgtEl>
                                        <p:attrNameLst>
                                          <p:attrName>style.visibility</p:attrName>
                                        </p:attrNameLst>
                                      </p:cBhvr>
                                      <p:to>
                                        <p:strVal val="visible"/>
                                      </p:to>
                                    </p:set>
                                    <p:animEffect transition="in" filter="blinds(horizontal)">
                                      <p:cBhvr>
                                        <p:cTn id="46" dur="500"/>
                                        <p:tgtEl>
                                          <p:spTgt spid="430120"/>
                                        </p:tgtEl>
                                      </p:cBhvr>
                                    </p:animEffect>
                                  </p:childTnLst>
                                </p:cTn>
                              </p:par>
                              <p:par>
                                <p:cTn id="47" presetID="1" presetClass="exit" presetSubtype="0" fill="hold" grpId="1" nodeType="withEffect">
                                  <p:stCondLst>
                                    <p:cond delay="0"/>
                                  </p:stCondLst>
                                  <p:childTnLst>
                                    <p:set>
                                      <p:cBhvr>
                                        <p:cTn id="48" dur="1" fill="hold">
                                          <p:stCondLst>
                                            <p:cond delay="0"/>
                                          </p:stCondLst>
                                        </p:cTn>
                                        <p:tgtEl>
                                          <p:spTgt spid="430120"/>
                                        </p:tgtEl>
                                        <p:attrNameLst>
                                          <p:attrName>style.visibility</p:attrName>
                                        </p:attrNameLst>
                                      </p:cBhvr>
                                      <p:to>
                                        <p:strVal val="hidden"/>
                                      </p:to>
                                    </p:set>
                                  </p:childTnLst>
                                </p:cTn>
                              </p:par>
                              <p:par>
                                <p:cTn id="49" presetID="3" presetClass="entr" presetSubtype="1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animEffect transition="in" filter="blinds(horizontal)">
                                      <p:cBhvr>
                                        <p:cTn id="51" dur="500"/>
                                        <p:tgtEl>
                                          <p:spTgt spid="48"/>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49"/>
                                        </p:tgtEl>
                                        <p:attrNameLst>
                                          <p:attrName>style.visibility</p:attrName>
                                        </p:attrNameLst>
                                      </p:cBhvr>
                                      <p:to>
                                        <p:strVal val="visible"/>
                                      </p:to>
                                    </p:set>
                                    <p:animEffect transition="in" filter="blinds(horizontal)">
                                      <p:cBhvr>
                                        <p:cTn id="54" dur="500"/>
                                        <p:tgtEl>
                                          <p:spTgt spid="49"/>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50"/>
                                        </p:tgtEl>
                                        <p:attrNameLst>
                                          <p:attrName>style.visibility</p:attrName>
                                        </p:attrNameLst>
                                      </p:cBhvr>
                                      <p:to>
                                        <p:strVal val="visible"/>
                                      </p:to>
                                    </p:set>
                                    <p:animEffect transition="in" filter="blinds(horizontal)">
                                      <p:cBhvr>
                                        <p:cTn id="5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5" grpId="0" animBg="1"/>
      <p:bldP spid="430086" grpId="0" animBg="1"/>
      <p:bldP spid="430120" grpId="0"/>
      <p:bldP spid="430120" grpId="1"/>
      <p:bldP spid="430122" grpId="0"/>
      <p:bldP spid="430123" grpId="0"/>
      <p:bldP spid="430124" grpId="0"/>
      <p:bldP spid="48" grpId="0" animBg="1"/>
      <p:bldP spid="49" grpId="0" animBg="1"/>
      <p:bldP spid="50"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30083" name="Rectangle 3"/>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430090" name="Rectangle 10"/>
          <p:cNvSpPr>
            <a:spLocks noChangeArrowheads="1"/>
          </p:cNvSpPr>
          <p:nvPr/>
        </p:nvSpPr>
        <p:spPr bwMode="auto">
          <a:xfrm>
            <a:off x="611188" y="1066800"/>
            <a:ext cx="82280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一</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偏心受压短柱的破坏形态</a:t>
            </a:r>
            <a:r>
              <a:rPr lang="en-US" altLang="zh-CN">
                <a:solidFill>
                  <a:srgbClr val="A50021"/>
                </a:solidFill>
                <a:latin typeface="华文中宋" pitchFamily="2" charset="-122"/>
                <a:ea typeface="华文中宋" pitchFamily="2" charset="-122"/>
              </a:rPr>
              <a:t>——</a:t>
            </a:r>
            <a:r>
              <a:rPr lang="zh-CN" altLang="en-US">
                <a:solidFill>
                  <a:srgbClr val="A50021"/>
                </a:solidFill>
                <a:latin typeface="华文中宋" pitchFamily="2" charset="-122"/>
                <a:ea typeface="华文中宋" pitchFamily="2" charset="-122"/>
              </a:rPr>
              <a:t>破坏类型</a:t>
            </a:r>
            <a:r>
              <a:rPr lang="zh-CN" altLang="en-US"/>
              <a:t>         </a:t>
            </a:r>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43808" y="1844824"/>
            <a:ext cx="3312000" cy="4416000"/>
          </a:xfrm>
          <a:prstGeom prst="rect">
            <a:avLst/>
          </a:prstGeom>
        </p:spPr>
      </p:pic>
    </p:spTree>
    <p:extLst>
      <p:ext uri="{BB962C8B-B14F-4D97-AF65-F5344CB8AC3E}">
        <p14:creationId xmlns:p14="http://schemas.microsoft.com/office/powerpoint/2010/main" val="128195506"/>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88099" name="Rectangle 3"/>
          <p:cNvSpPr>
            <a:spLocks noChangeArrowheads="1"/>
          </p:cNvSpPr>
          <p:nvPr/>
        </p:nvSpPr>
        <p:spPr bwMode="auto">
          <a:xfrm>
            <a:off x="611188" y="1143000"/>
            <a:ext cx="4189412" cy="4994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0"/>
              </a:spcBef>
              <a:buClrTx/>
              <a:buFontTx/>
              <a:buNone/>
            </a:pPr>
            <a:endParaRPr lang="en-US" altLang="zh-CN" dirty="0">
              <a:solidFill>
                <a:srgbClr val="990099"/>
              </a:solidFill>
            </a:endParaRPr>
          </a:p>
          <a:p>
            <a:pPr algn="l">
              <a:lnSpc>
                <a:spcPct val="120000"/>
              </a:lnSpc>
              <a:spcBef>
                <a:spcPct val="0"/>
              </a:spcBef>
              <a:buClrTx/>
              <a:buFontTx/>
              <a:buNone/>
            </a:pPr>
            <a:r>
              <a:rPr lang="en-US" altLang="zh-CN" sz="2000" dirty="0">
                <a:solidFill>
                  <a:schemeClr val="tx2"/>
                </a:solidFill>
              </a:rPr>
              <a:t>1</a:t>
            </a:r>
            <a:r>
              <a:rPr lang="zh-CN" altLang="en-US" sz="2000" dirty="0">
                <a:solidFill>
                  <a:schemeClr val="tx2"/>
                </a:solidFill>
              </a:rPr>
              <a:t>）短柱</a:t>
            </a:r>
          </a:p>
          <a:p>
            <a:pPr algn="l">
              <a:lnSpc>
                <a:spcPct val="120000"/>
              </a:lnSpc>
              <a:spcBef>
                <a:spcPct val="0"/>
              </a:spcBef>
              <a:buClrTx/>
              <a:buFontTx/>
              <a:buChar char="•"/>
            </a:pPr>
            <a:r>
              <a:rPr lang="en-US" altLang="zh-CN" sz="1800" i="1" dirty="0">
                <a:solidFill>
                  <a:srgbClr val="003300"/>
                </a:solidFill>
              </a:rPr>
              <a:t>N</a:t>
            </a:r>
            <a:r>
              <a:rPr lang="zh-CN" altLang="en-US" sz="1800" dirty="0">
                <a:solidFill>
                  <a:srgbClr val="003300"/>
                </a:solidFill>
              </a:rPr>
              <a:t>与</a:t>
            </a:r>
            <a:r>
              <a:rPr lang="en-US" altLang="zh-CN" sz="1800" i="1" dirty="0">
                <a:solidFill>
                  <a:srgbClr val="003300"/>
                </a:solidFill>
              </a:rPr>
              <a:t>M</a:t>
            </a:r>
            <a:r>
              <a:rPr lang="zh-CN" altLang="en-US" sz="1800" dirty="0">
                <a:solidFill>
                  <a:srgbClr val="003300"/>
                </a:solidFill>
              </a:rPr>
              <a:t>的关系为线性，其变化轨迹是一条</a:t>
            </a:r>
            <a:r>
              <a:rPr lang="zh-CN" altLang="en-US" sz="1800" dirty="0">
                <a:solidFill>
                  <a:srgbClr val="FF0000"/>
                </a:solidFill>
              </a:rPr>
              <a:t>直线</a:t>
            </a:r>
            <a:r>
              <a:rPr lang="zh-CN" altLang="en-US" sz="1800" dirty="0">
                <a:solidFill>
                  <a:schemeClr val="tx2"/>
                </a:solidFill>
              </a:rPr>
              <a:t>（</a:t>
            </a:r>
            <a:r>
              <a:rPr lang="en-US" altLang="zh-CN" sz="1800" dirty="0">
                <a:solidFill>
                  <a:schemeClr val="tx2"/>
                </a:solidFill>
              </a:rPr>
              <a:t>OB</a:t>
            </a:r>
            <a:r>
              <a:rPr lang="zh-CN" altLang="en-US" sz="1800" dirty="0">
                <a:solidFill>
                  <a:schemeClr val="tx2"/>
                </a:solidFill>
              </a:rPr>
              <a:t>）</a:t>
            </a:r>
          </a:p>
          <a:p>
            <a:pPr algn="l">
              <a:lnSpc>
                <a:spcPct val="120000"/>
              </a:lnSpc>
              <a:spcBef>
                <a:spcPct val="0"/>
              </a:spcBef>
              <a:buClrTx/>
              <a:buFontTx/>
              <a:buChar char="•"/>
            </a:pPr>
            <a:r>
              <a:rPr lang="zh-CN" altLang="en-US" sz="1800" dirty="0">
                <a:solidFill>
                  <a:srgbClr val="003300"/>
                </a:solidFill>
              </a:rPr>
              <a:t>破坏类型为</a:t>
            </a:r>
            <a:r>
              <a:rPr lang="zh-CN" altLang="en-US" sz="1800" dirty="0">
                <a:solidFill>
                  <a:srgbClr val="FF0000"/>
                </a:solidFill>
              </a:rPr>
              <a:t>材料破坏</a:t>
            </a:r>
          </a:p>
          <a:p>
            <a:pPr algn="l">
              <a:lnSpc>
                <a:spcPct val="120000"/>
              </a:lnSpc>
              <a:spcBef>
                <a:spcPct val="0"/>
              </a:spcBef>
              <a:buClrTx/>
              <a:buFontTx/>
              <a:buChar char="•"/>
            </a:pPr>
            <a:r>
              <a:rPr lang="zh-CN" altLang="en-US" sz="1800" dirty="0">
                <a:solidFill>
                  <a:srgbClr val="003300"/>
                </a:solidFill>
              </a:rPr>
              <a:t>在计算正截面受压承载能力时，可</a:t>
            </a:r>
            <a:r>
              <a:rPr lang="zh-CN" altLang="en-US" sz="1800" dirty="0">
                <a:solidFill>
                  <a:srgbClr val="FF0000"/>
                </a:solidFill>
              </a:rPr>
              <a:t>不考虑</a:t>
            </a:r>
            <a:r>
              <a:rPr lang="zh-CN" altLang="en-US" sz="1800" dirty="0">
                <a:solidFill>
                  <a:srgbClr val="003300"/>
                </a:solidFill>
              </a:rPr>
              <a:t>二阶弯矩的影响</a:t>
            </a:r>
            <a:endParaRPr lang="en-US" altLang="zh-CN" sz="1800" dirty="0">
              <a:solidFill>
                <a:srgbClr val="003300"/>
              </a:solidFill>
            </a:endParaRPr>
          </a:p>
          <a:p>
            <a:pPr algn="l">
              <a:lnSpc>
                <a:spcPct val="120000"/>
              </a:lnSpc>
              <a:spcBef>
                <a:spcPct val="0"/>
              </a:spcBef>
              <a:buClrTx/>
              <a:buFontTx/>
              <a:buChar char="•"/>
            </a:pPr>
            <a:endParaRPr lang="zh-CN" altLang="en-US" sz="1800" dirty="0">
              <a:solidFill>
                <a:srgbClr val="003300"/>
              </a:solidFill>
            </a:endParaRPr>
          </a:p>
          <a:p>
            <a:pPr algn="l">
              <a:spcBef>
                <a:spcPct val="50000"/>
              </a:spcBef>
            </a:pPr>
            <a:r>
              <a:rPr lang="en-US" altLang="zh-CN" sz="2000" dirty="0"/>
              <a:t>2</a:t>
            </a:r>
            <a:r>
              <a:rPr lang="zh-CN" altLang="en-US" sz="2000" dirty="0"/>
              <a:t>）长柱</a:t>
            </a:r>
          </a:p>
          <a:p>
            <a:pPr algn="l">
              <a:lnSpc>
                <a:spcPct val="110000"/>
              </a:lnSpc>
              <a:buFontTx/>
              <a:buChar char="•"/>
            </a:pPr>
            <a:r>
              <a:rPr lang="zh-CN" altLang="en-US" sz="1800" dirty="0"/>
              <a:t>由于长柱中侧向挠度随轴力的加大呈非线性增大， </a:t>
            </a:r>
            <a:r>
              <a:rPr lang="en-US" altLang="zh-CN" sz="1800" i="1" dirty="0"/>
              <a:t>N</a:t>
            </a:r>
            <a:r>
              <a:rPr lang="zh-CN" altLang="en-US" sz="1800" dirty="0"/>
              <a:t>与</a:t>
            </a:r>
            <a:r>
              <a:rPr lang="en-US" altLang="zh-CN" sz="1800" i="1" dirty="0"/>
              <a:t>M</a:t>
            </a:r>
            <a:r>
              <a:rPr lang="zh-CN" altLang="en-US" sz="1800" dirty="0"/>
              <a:t>的关系为曲线（</a:t>
            </a:r>
            <a:r>
              <a:rPr lang="en-US" altLang="zh-CN" sz="1800" dirty="0"/>
              <a:t>OC</a:t>
            </a:r>
            <a:r>
              <a:rPr lang="zh-CN" altLang="en-US" sz="1800" dirty="0"/>
              <a:t>）</a:t>
            </a:r>
            <a:endParaRPr lang="zh-CN" altLang="en-US" sz="1800" dirty="0">
              <a:solidFill>
                <a:srgbClr val="FF0000"/>
              </a:solidFill>
            </a:endParaRPr>
          </a:p>
          <a:p>
            <a:pPr algn="l">
              <a:lnSpc>
                <a:spcPct val="110000"/>
              </a:lnSpc>
              <a:buFontTx/>
              <a:buChar char="•"/>
            </a:pPr>
            <a:r>
              <a:rPr lang="zh-CN" altLang="en-US" sz="1800" dirty="0"/>
              <a:t>破坏类型为</a:t>
            </a:r>
            <a:r>
              <a:rPr lang="zh-CN" altLang="en-US" sz="1800" dirty="0">
                <a:solidFill>
                  <a:srgbClr val="FF0000"/>
                </a:solidFill>
              </a:rPr>
              <a:t>材料破坏</a:t>
            </a:r>
          </a:p>
          <a:p>
            <a:pPr algn="l">
              <a:lnSpc>
                <a:spcPct val="110000"/>
              </a:lnSpc>
              <a:buFontTx/>
              <a:buChar char="•"/>
            </a:pPr>
            <a:r>
              <a:rPr lang="zh-CN" altLang="en-US" sz="1800" dirty="0"/>
              <a:t>在计算正截面受压承载能力时，应</a:t>
            </a:r>
            <a:r>
              <a:rPr lang="zh-CN" altLang="en-US" sz="1800" dirty="0">
                <a:solidFill>
                  <a:srgbClr val="FF0000"/>
                </a:solidFill>
              </a:rPr>
              <a:t>考虑</a:t>
            </a:r>
            <a:r>
              <a:rPr lang="zh-CN" altLang="en-US" sz="1800" dirty="0"/>
              <a:t>二阶弯矩的影响</a:t>
            </a:r>
          </a:p>
        </p:txBody>
      </p:sp>
      <p:pic>
        <p:nvPicPr>
          <p:cNvPr id="388100" name="Picture 4" descr="gj0718"/>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9444" t="6087" r="10596"/>
          <a:stretch>
            <a:fillRect/>
          </a:stretch>
        </p:blipFill>
        <p:spPr bwMode="auto">
          <a:xfrm>
            <a:off x="5029200" y="2967038"/>
            <a:ext cx="4151313" cy="3738562"/>
          </a:xfrm>
          <a:prstGeom prst="rect">
            <a:avLst/>
          </a:prstGeom>
          <a:noFill/>
          <a:extLst>
            <a:ext uri="{909E8E84-426E-40DD-AFC4-6F175D3DCCD1}">
              <a14:hiddenFill xmlns:a14="http://schemas.microsoft.com/office/drawing/2010/main">
                <a:solidFill>
                  <a:srgbClr val="FFFFFF"/>
                </a:solidFill>
              </a14:hiddenFill>
            </a:ext>
          </a:extLst>
        </p:spPr>
      </p:pic>
      <p:sp>
        <p:nvSpPr>
          <p:cNvPr id="388101" name="Rectangle 5"/>
          <p:cNvSpPr>
            <a:spLocks noChangeArrowheads="1"/>
          </p:cNvSpPr>
          <p:nvPr/>
        </p:nvSpPr>
        <p:spPr bwMode="auto">
          <a:xfrm>
            <a:off x="5181600" y="1600200"/>
            <a:ext cx="3886200" cy="1117229"/>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dirty="0">
                <a:solidFill>
                  <a:srgbClr val="FF0000"/>
                </a:solidFill>
              </a:rPr>
              <a:t>3</a:t>
            </a:r>
            <a:r>
              <a:rPr lang="zh-CN" altLang="en-US" sz="2000" dirty="0">
                <a:solidFill>
                  <a:srgbClr val="FF0000"/>
                </a:solidFill>
              </a:rPr>
              <a:t>）细长柱</a:t>
            </a:r>
          </a:p>
          <a:p>
            <a:pPr algn="l">
              <a:lnSpc>
                <a:spcPct val="85000"/>
              </a:lnSpc>
              <a:spcBef>
                <a:spcPct val="50000"/>
              </a:spcBef>
              <a:buClr>
                <a:srgbClr val="FF0000"/>
              </a:buClr>
              <a:buFontTx/>
              <a:buChar char="•"/>
            </a:pPr>
            <a:r>
              <a:rPr lang="en-US" altLang="zh-CN" sz="1800" i="1" dirty="0">
                <a:solidFill>
                  <a:srgbClr val="FF0000"/>
                </a:solidFill>
              </a:rPr>
              <a:t>N</a:t>
            </a:r>
            <a:r>
              <a:rPr lang="zh-CN" altLang="en-US" sz="1800" dirty="0">
                <a:solidFill>
                  <a:srgbClr val="FF0000"/>
                </a:solidFill>
              </a:rPr>
              <a:t>与</a:t>
            </a:r>
            <a:r>
              <a:rPr lang="en-US" altLang="zh-CN" sz="1800" i="1" dirty="0">
                <a:solidFill>
                  <a:srgbClr val="FF0000"/>
                </a:solidFill>
              </a:rPr>
              <a:t>M</a:t>
            </a:r>
            <a:r>
              <a:rPr lang="zh-CN" altLang="en-US" sz="1800" dirty="0">
                <a:solidFill>
                  <a:srgbClr val="FF0000"/>
                </a:solidFill>
              </a:rPr>
              <a:t>关系曲线弯曲程度很大（</a:t>
            </a:r>
            <a:r>
              <a:rPr lang="en-US" altLang="zh-CN" sz="1800" dirty="0">
                <a:solidFill>
                  <a:srgbClr val="FF0000"/>
                </a:solidFill>
              </a:rPr>
              <a:t>OE</a:t>
            </a:r>
            <a:r>
              <a:rPr lang="zh-CN" altLang="en-US" sz="1800" dirty="0">
                <a:solidFill>
                  <a:srgbClr val="FF0000"/>
                </a:solidFill>
              </a:rPr>
              <a:t>）</a:t>
            </a:r>
          </a:p>
          <a:p>
            <a:pPr algn="l">
              <a:lnSpc>
                <a:spcPct val="85000"/>
              </a:lnSpc>
              <a:spcBef>
                <a:spcPct val="50000"/>
              </a:spcBef>
              <a:buClr>
                <a:srgbClr val="FF0000"/>
              </a:buClr>
              <a:buFontTx/>
              <a:buChar char="•"/>
            </a:pPr>
            <a:r>
              <a:rPr lang="zh-CN" altLang="en-US" sz="1800" dirty="0">
                <a:solidFill>
                  <a:srgbClr val="FF0000"/>
                </a:solidFill>
              </a:rPr>
              <a:t>破坏类型为</a:t>
            </a:r>
            <a:r>
              <a:rPr lang="zh-CN" altLang="en-US" sz="1800" dirty="0"/>
              <a:t>失稳破坏</a:t>
            </a:r>
          </a:p>
        </p:txBody>
      </p:sp>
      <p:sp>
        <p:nvSpPr>
          <p:cNvPr id="388102" name="Line 6"/>
          <p:cNvSpPr>
            <a:spLocks noChangeShapeType="1"/>
          </p:cNvSpPr>
          <p:nvPr/>
        </p:nvSpPr>
        <p:spPr bwMode="auto">
          <a:xfrm flipV="1">
            <a:off x="5461000" y="4394200"/>
            <a:ext cx="1022350" cy="1949450"/>
          </a:xfrm>
          <a:prstGeom prst="line">
            <a:avLst/>
          </a:prstGeom>
          <a:noFill/>
          <a:ln w="38100">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8103" name="Freeform 7"/>
          <p:cNvSpPr>
            <a:spLocks/>
          </p:cNvSpPr>
          <p:nvPr/>
        </p:nvSpPr>
        <p:spPr bwMode="auto">
          <a:xfrm>
            <a:off x="5470525" y="4692650"/>
            <a:ext cx="1450975" cy="1654175"/>
          </a:xfrm>
          <a:custGeom>
            <a:avLst/>
            <a:gdLst>
              <a:gd name="T0" fmla="*/ 0 w 914"/>
              <a:gd name="T1" fmla="*/ 1042 h 1042"/>
              <a:gd name="T2" fmla="*/ 122 w 914"/>
              <a:gd name="T3" fmla="*/ 804 h 1042"/>
              <a:gd name="T4" fmla="*/ 270 w 914"/>
              <a:gd name="T5" fmla="*/ 572 h 1042"/>
              <a:gd name="T6" fmla="*/ 410 w 914"/>
              <a:gd name="T7" fmla="*/ 392 h 1042"/>
              <a:gd name="T8" fmla="*/ 586 w 914"/>
              <a:gd name="T9" fmla="*/ 220 h 1042"/>
              <a:gd name="T10" fmla="*/ 722 w 914"/>
              <a:gd name="T11" fmla="*/ 120 h 1042"/>
              <a:gd name="T12" fmla="*/ 914 w 914"/>
              <a:gd name="T13" fmla="*/ 0 h 1042"/>
            </a:gdLst>
            <a:ahLst/>
            <a:cxnLst>
              <a:cxn ang="0">
                <a:pos x="T0" y="T1"/>
              </a:cxn>
              <a:cxn ang="0">
                <a:pos x="T2" y="T3"/>
              </a:cxn>
              <a:cxn ang="0">
                <a:pos x="T4" y="T5"/>
              </a:cxn>
              <a:cxn ang="0">
                <a:pos x="T6" y="T7"/>
              </a:cxn>
              <a:cxn ang="0">
                <a:pos x="T8" y="T9"/>
              </a:cxn>
              <a:cxn ang="0">
                <a:pos x="T10" y="T11"/>
              </a:cxn>
              <a:cxn ang="0">
                <a:pos x="T12" y="T13"/>
              </a:cxn>
            </a:cxnLst>
            <a:rect l="0" t="0" r="r" b="b"/>
            <a:pathLst>
              <a:path w="914" h="1042">
                <a:moveTo>
                  <a:pt x="0" y="1042"/>
                </a:moveTo>
                <a:cubicBezTo>
                  <a:pt x="20" y="1003"/>
                  <a:pt x="77" y="882"/>
                  <a:pt x="122" y="804"/>
                </a:cubicBezTo>
                <a:cubicBezTo>
                  <a:pt x="167" y="726"/>
                  <a:pt x="222" y="641"/>
                  <a:pt x="270" y="572"/>
                </a:cubicBezTo>
                <a:cubicBezTo>
                  <a:pt x="318" y="503"/>
                  <a:pt x="357" y="451"/>
                  <a:pt x="410" y="392"/>
                </a:cubicBezTo>
                <a:cubicBezTo>
                  <a:pt x="463" y="333"/>
                  <a:pt x="534" y="265"/>
                  <a:pt x="586" y="220"/>
                </a:cubicBezTo>
                <a:cubicBezTo>
                  <a:pt x="638" y="175"/>
                  <a:pt x="667" y="157"/>
                  <a:pt x="722" y="120"/>
                </a:cubicBezTo>
                <a:cubicBezTo>
                  <a:pt x="777" y="83"/>
                  <a:pt x="881" y="17"/>
                  <a:pt x="914" y="0"/>
                </a:cubicBezTo>
              </a:path>
            </a:pathLst>
          </a:custGeom>
          <a:noFill/>
          <a:ln w="381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88104" name="Group 8"/>
          <p:cNvGrpSpPr>
            <a:grpSpLocks/>
          </p:cNvGrpSpPr>
          <p:nvPr/>
        </p:nvGrpSpPr>
        <p:grpSpPr bwMode="auto">
          <a:xfrm>
            <a:off x="5470525" y="5332413"/>
            <a:ext cx="2495550" cy="1020762"/>
            <a:chOff x="3446" y="3359"/>
            <a:chExt cx="1572" cy="643"/>
          </a:xfrm>
        </p:grpSpPr>
        <p:sp>
          <p:nvSpPr>
            <p:cNvPr id="388105" name="Freeform 9"/>
            <p:cNvSpPr>
              <a:spLocks/>
            </p:cNvSpPr>
            <p:nvPr/>
          </p:nvSpPr>
          <p:spPr bwMode="auto">
            <a:xfrm>
              <a:off x="3446" y="3359"/>
              <a:ext cx="1080" cy="643"/>
            </a:xfrm>
            <a:custGeom>
              <a:avLst/>
              <a:gdLst>
                <a:gd name="T0" fmla="*/ 0 w 1080"/>
                <a:gd name="T1" fmla="*/ 643 h 643"/>
                <a:gd name="T2" fmla="*/ 88 w 1080"/>
                <a:gd name="T3" fmla="*/ 505 h 643"/>
                <a:gd name="T4" fmla="*/ 248 w 1080"/>
                <a:gd name="T5" fmla="*/ 293 h 643"/>
                <a:gd name="T6" fmla="*/ 404 w 1080"/>
                <a:gd name="T7" fmla="*/ 157 h 643"/>
                <a:gd name="T8" fmla="*/ 538 w 1080"/>
                <a:gd name="T9" fmla="*/ 77 h 643"/>
                <a:gd name="T10" fmla="*/ 682 w 1080"/>
                <a:gd name="T11" fmla="*/ 23 h 643"/>
                <a:gd name="T12" fmla="*/ 828 w 1080"/>
                <a:gd name="T13" fmla="*/ 1 h 643"/>
                <a:gd name="T14" fmla="*/ 984 w 1080"/>
                <a:gd name="T15" fmla="*/ 17 h 643"/>
                <a:gd name="T16" fmla="*/ 1080 w 1080"/>
                <a:gd name="T17" fmla="*/ 39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0" h="643">
                  <a:moveTo>
                    <a:pt x="0" y="643"/>
                  </a:moveTo>
                  <a:cubicBezTo>
                    <a:pt x="14" y="620"/>
                    <a:pt x="47" y="563"/>
                    <a:pt x="88" y="505"/>
                  </a:cubicBezTo>
                  <a:cubicBezTo>
                    <a:pt x="129" y="447"/>
                    <a:pt x="195" y="351"/>
                    <a:pt x="248" y="293"/>
                  </a:cubicBezTo>
                  <a:cubicBezTo>
                    <a:pt x="301" y="235"/>
                    <a:pt x="356" y="193"/>
                    <a:pt x="404" y="157"/>
                  </a:cubicBezTo>
                  <a:cubicBezTo>
                    <a:pt x="452" y="121"/>
                    <a:pt x="492" y="99"/>
                    <a:pt x="538" y="77"/>
                  </a:cubicBezTo>
                  <a:cubicBezTo>
                    <a:pt x="584" y="55"/>
                    <a:pt x="634" y="36"/>
                    <a:pt x="682" y="23"/>
                  </a:cubicBezTo>
                  <a:cubicBezTo>
                    <a:pt x="730" y="10"/>
                    <a:pt x="778" y="2"/>
                    <a:pt x="828" y="1"/>
                  </a:cubicBezTo>
                  <a:cubicBezTo>
                    <a:pt x="878" y="0"/>
                    <a:pt x="942" y="11"/>
                    <a:pt x="984" y="17"/>
                  </a:cubicBezTo>
                  <a:cubicBezTo>
                    <a:pt x="1026" y="23"/>
                    <a:pt x="1066" y="34"/>
                    <a:pt x="1080" y="39"/>
                  </a:cubicBezTo>
                </a:path>
              </a:pathLst>
            </a:custGeom>
            <a:noFill/>
            <a:ln w="381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8106" name="Freeform 10"/>
            <p:cNvSpPr>
              <a:spLocks/>
            </p:cNvSpPr>
            <p:nvPr/>
          </p:nvSpPr>
          <p:spPr bwMode="auto">
            <a:xfrm>
              <a:off x="4516" y="3388"/>
              <a:ext cx="502" cy="178"/>
            </a:xfrm>
            <a:custGeom>
              <a:avLst/>
              <a:gdLst>
                <a:gd name="T0" fmla="*/ 0 w 502"/>
                <a:gd name="T1" fmla="*/ 0 h 178"/>
                <a:gd name="T2" fmla="*/ 10 w 502"/>
                <a:gd name="T3" fmla="*/ 6 h 178"/>
                <a:gd name="T4" fmla="*/ 118 w 502"/>
                <a:gd name="T5" fmla="*/ 28 h 178"/>
                <a:gd name="T6" fmla="*/ 236 w 502"/>
                <a:gd name="T7" fmla="*/ 64 h 178"/>
                <a:gd name="T8" fmla="*/ 300 w 502"/>
                <a:gd name="T9" fmla="*/ 90 h 178"/>
                <a:gd name="T10" fmla="*/ 376 w 502"/>
                <a:gd name="T11" fmla="*/ 122 h 178"/>
                <a:gd name="T12" fmla="*/ 460 w 502"/>
                <a:gd name="T13" fmla="*/ 160 h 178"/>
                <a:gd name="T14" fmla="*/ 502 w 502"/>
                <a:gd name="T15" fmla="*/ 178 h 1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2" h="178">
                  <a:moveTo>
                    <a:pt x="0" y="0"/>
                  </a:moveTo>
                  <a:lnTo>
                    <a:pt x="10" y="6"/>
                  </a:lnTo>
                  <a:cubicBezTo>
                    <a:pt x="30" y="11"/>
                    <a:pt x="80" y="18"/>
                    <a:pt x="118" y="28"/>
                  </a:cubicBezTo>
                  <a:cubicBezTo>
                    <a:pt x="156" y="38"/>
                    <a:pt x="206" y="54"/>
                    <a:pt x="236" y="64"/>
                  </a:cubicBezTo>
                  <a:cubicBezTo>
                    <a:pt x="266" y="74"/>
                    <a:pt x="277" y="80"/>
                    <a:pt x="300" y="90"/>
                  </a:cubicBezTo>
                  <a:cubicBezTo>
                    <a:pt x="323" y="100"/>
                    <a:pt x="349" y="110"/>
                    <a:pt x="376" y="122"/>
                  </a:cubicBezTo>
                  <a:cubicBezTo>
                    <a:pt x="403" y="134"/>
                    <a:pt x="439" y="151"/>
                    <a:pt x="460" y="160"/>
                  </a:cubicBezTo>
                  <a:cubicBezTo>
                    <a:pt x="481" y="169"/>
                    <a:pt x="499" y="169"/>
                    <a:pt x="502" y="178"/>
                  </a:cubicBezTo>
                </a:path>
              </a:pathLst>
            </a:custGeom>
            <a:noFill/>
            <a:ln w="38100" cap="flat" cmpd="sng">
              <a:solidFill>
                <a:srgbClr val="FF0000"/>
              </a:solidFill>
              <a:prstDash val="sysDot"/>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88107" name="Rectangle 11"/>
          <p:cNvSpPr>
            <a:spLocks noChangeArrowheads="1"/>
          </p:cNvSpPr>
          <p:nvPr/>
        </p:nvSpPr>
        <p:spPr bwMode="auto">
          <a:xfrm>
            <a:off x="611188" y="1066800"/>
            <a:ext cx="82280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一</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偏心受压短柱的破坏形态</a:t>
            </a:r>
            <a:r>
              <a:rPr lang="en-US" altLang="zh-CN">
                <a:solidFill>
                  <a:srgbClr val="A50021"/>
                </a:solidFill>
                <a:latin typeface="华文中宋" pitchFamily="2" charset="-122"/>
                <a:ea typeface="华文中宋" pitchFamily="2" charset="-122"/>
              </a:rPr>
              <a:t>——</a:t>
            </a:r>
            <a:r>
              <a:rPr lang="zh-CN" altLang="en-US">
                <a:solidFill>
                  <a:srgbClr val="A50021"/>
                </a:solidFill>
                <a:latin typeface="华文中宋" pitchFamily="2" charset="-122"/>
                <a:ea typeface="华文中宋" pitchFamily="2" charset="-122"/>
              </a:rPr>
              <a:t>破坏类型</a:t>
            </a:r>
            <a:r>
              <a:rPr lang="zh-CN" altLang="en-US"/>
              <a:t>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8099">
                                            <p:txEl>
                                              <p:pRg st="1" end="1"/>
                                            </p:txEl>
                                          </p:spTgt>
                                        </p:tgtEl>
                                        <p:attrNameLst>
                                          <p:attrName>style.visibility</p:attrName>
                                        </p:attrNameLst>
                                      </p:cBhvr>
                                      <p:to>
                                        <p:strVal val="visible"/>
                                      </p:to>
                                    </p:set>
                                  </p:childTnLst>
                                </p:cTn>
                              </p:par>
                              <p:par>
                                <p:cTn id="7" presetID="3" presetClass="entr" presetSubtype="10" fill="hold" nodeType="withEffect">
                                  <p:stCondLst>
                                    <p:cond delay="0"/>
                                  </p:stCondLst>
                                  <p:childTnLst>
                                    <p:set>
                                      <p:cBhvr>
                                        <p:cTn id="8" dur="1" fill="hold">
                                          <p:stCondLst>
                                            <p:cond delay="0"/>
                                          </p:stCondLst>
                                        </p:cTn>
                                        <p:tgtEl>
                                          <p:spTgt spid="388099">
                                            <p:txEl>
                                              <p:pRg st="2" end="2"/>
                                            </p:txEl>
                                          </p:spTgt>
                                        </p:tgtEl>
                                        <p:attrNameLst>
                                          <p:attrName>style.visibility</p:attrName>
                                        </p:attrNameLst>
                                      </p:cBhvr>
                                      <p:to>
                                        <p:strVal val="visible"/>
                                      </p:to>
                                    </p:set>
                                    <p:animEffect transition="in" filter="blinds(horizontal)">
                                      <p:cBhvr>
                                        <p:cTn id="9" dur="500"/>
                                        <p:tgtEl>
                                          <p:spTgt spid="388099">
                                            <p:txEl>
                                              <p:pRg st="2" end="2"/>
                                            </p:txEl>
                                          </p:spTgt>
                                        </p:tgtEl>
                                      </p:cBhvr>
                                    </p:animEffect>
                                  </p:childTnLst>
                                </p:cTn>
                              </p:par>
                              <p:par>
                                <p:cTn id="10" presetID="3" presetClass="entr" presetSubtype="10" fill="hold" nodeType="withEffect">
                                  <p:stCondLst>
                                    <p:cond delay="0"/>
                                  </p:stCondLst>
                                  <p:childTnLst>
                                    <p:set>
                                      <p:cBhvr>
                                        <p:cTn id="11" dur="1" fill="hold">
                                          <p:stCondLst>
                                            <p:cond delay="0"/>
                                          </p:stCondLst>
                                        </p:cTn>
                                        <p:tgtEl>
                                          <p:spTgt spid="388099">
                                            <p:txEl>
                                              <p:pRg st="3" end="3"/>
                                            </p:txEl>
                                          </p:spTgt>
                                        </p:tgtEl>
                                        <p:attrNameLst>
                                          <p:attrName>style.visibility</p:attrName>
                                        </p:attrNameLst>
                                      </p:cBhvr>
                                      <p:to>
                                        <p:strVal val="visible"/>
                                      </p:to>
                                    </p:set>
                                    <p:animEffect transition="in" filter="blinds(horizontal)">
                                      <p:cBhvr>
                                        <p:cTn id="12" dur="500"/>
                                        <p:tgtEl>
                                          <p:spTgt spid="388099">
                                            <p:txEl>
                                              <p:pRg st="3" end="3"/>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88099">
                                            <p:txEl>
                                              <p:pRg st="4" end="4"/>
                                            </p:txEl>
                                          </p:spTgt>
                                        </p:tgtEl>
                                        <p:attrNameLst>
                                          <p:attrName>style.visibility</p:attrName>
                                        </p:attrNameLst>
                                      </p:cBhvr>
                                      <p:to>
                                        <p:strVal val="visible"/>
                                      </p:to>
                                    </p:set>
                                    <p:animEffect transition="in" filter="blinds(horizontal)">
                                      <p:cBhvr>
                                        <p:cTn id="15" dur="500"/>
                                        <p:tgtEl>
                                          <p:spTgt spid="388099">
                                            <p:txEl>
                                              <p:pRg st="4" end="4"/>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88102"/>
                                        </p:tgtEl>
                                        <p:attrNameLst>
                                          <p:attrName>style.visibility</p:attrName>
                                        </p:attrNameLst>
                                      </p:cBhvr>
                                      <p:to>
                                        <p:strVal val="visible"/>
                                      </p:to>
                                    </p:set>
                                    <p:animEffect transition="in" filter="wipe(down)">
                                      <p:cBhvr>
                                        <p:cTn id="20" dur="500"/>
                                        <p:tgtEl>
                                          <p:spTgt spid="38810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88099">
                                            <p:txEl>
                                              <p:pRg st="6" end="6"/>
                                            </p:txEl>
                                          </p:spTgt>
                                        </p:tgtEl>
                                        <p:attrNameLst>
                                          <p:attrName>style.visibility</p:attrName>
                                        </p:attrNameLst>
                                      </p:cBhvr>
                                      <p:to>
                                        <p:strVal val="visible"/>
                                      </p:to>
                                    </p:set>
                                  </p:childTnLst>
                                </p:cTn>
                              </p:par>
                              <p:par>
                                <p:cTn id="25" presetID="3" presetClass="entr" presetSubtype="10" fill="hold" nodeType="withEffect">
                                  <p:stCondLst>
                                    <p:cond delay="0"/>
                                  </p:stCondLst>
                                  <p:childTnLst>
                                    <p:set>
                                      <p:cBhvr>
                                        <p:cTn id="26" dur="1" fill="hold">
                                          <p:stCondLst>
                                            <p:cond delay="0"/>
                                          </p:stCondLst>
                                        </p:cTn>
                                        <p:tgtEl>
                                          <p:spTgt spid="388099">
                                            <p:txEl>
                                              <p:pRg st="7" end="7"/>
                                            </p:txEl>
                                          </p:spTgt>
                                        </p:tgtEl>
                                        <p:attrNameLst>
                                          <p:attrName>style.visibility</p:attrName>
                                        </p:attrNameLst>
                                      </p:cBhvr>
                                      <p:to>
                                        <p:strVal val="visible"/>
                                      </p:to>
                                    </p:set>
                                    <p:animEffect transition="in" filter="blinds(horizontal)">
                                      <p:cBhvr>
                                        <p:cTn id="27" dur="500"/>
                                        <p:tgtEl>
                                          <p:spTgt spid="388099">
                                            <p:txEl>
                                              <p:pRg st="7" end="7"/>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88099">
                                            <p:txEl>
                                              <p:pRg st="8" end="8"/>
                                            </p:txEl>
                                          </p:spTgt>
                                        </p:tgtEl>
                                        <p:attrNameLst>
                                          <p:attrName>style.visibility</p:attrName>
                                        </p:attrNameLst>
                                      </p:cBhvr>
                                      <p:to>
                                        <p:strVal val="visible"/>
                                      </p:to>
                                    </p:set>
                                    <p:animEffect transition="in" filter="blinds(horizontal)">
                                      <p:cBhvr>
                                        <p:cTn id="30" dur="500"/>
                                        <p:tgtEl>
                                          <p:spTgt spid="388099">
                                            <p:txEl>
                                              <p:pRg st="8" end="8"/>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388099">
                                            <p:txEl>
                                              <p:pRg st="9" end="9"/>
                                            </p:txEl>
                                          </p:spTgt>
                                        </p:tgtEl>
                                        <p:attrNameLst>
                                          <p:attrName>style.visibility</p:attrName>
                                        </p:attrNameLst>
                                      </p:cBhvr>
                                      <p:to>
                                        <p:strVal val="visible"/>
                                      </p:to>
                                    </p:set>
                                    <p:animEffect transition="in" filter="blinds(horizontal)">
                                      <p:cBhvr>
                                        <p:cTn id="33" dur="500"/>
                                        <p:tgtEl>
                                          <p:spTgt spid="388099">
                                            <p:txEl>
                                              <p:pRg st="9" end="9"/>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388103"/>
                                        </p:tgtEl>
                                        <p:attrNameLst>
                                          <p:attrName>style.visibility</p:attrName>
                                        </p:attrNameLst>
                                      </p:cBhvr>
                                      <p:to>
                                        <p:strVal val="visible"/>
                                      </p:to>
                                    </p:set>
                                    <p:animEffect transition="in" filter="wipe(down)">
                                      <p:cBhvr>
                                        <p:cTn id="38" dur="500"/>
                                        <p:tgtEl>
                                          <p:spTgt spid="38810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388101">
                                            <p:txEl>
                                              <p:pRg st="0" end="0"/>
                                            </p:txEl>
                                          </p:spTgt>
                                        </p:tgtEl>
                                        <p:attrNameLst>
                                          <p:attrName>style.visibility</p:attrName>
                                        </p:attrNameLst>
                                      </p:cBhvr>
                                      <p:to>
                                        <p:strVal val="visible"/>
                                      </p:to>
                                    </p:set>
                                  </p:childTnLst>
                                </p:cTn>
                              </p:par>
                              <p:par>
                                <p:cTn id="43" presetID="3" presetClass="entr" presetSubtype="10" fill="hold" nodeType="withEffect">
                                  <p:stCondLst>
                                    <p:cond delay="0"/>
                                  </p:stCondLst>
                                  <p:childTnLst>
                                    <p:set>
                                      <p:cBhvr>
                                        <p:cTn id="44" dur="1" fill="hold">
                                          <p:stCondLst>
                                            <p:cond delay="0"/>
                                          </p:stCondLst>
                                        </p:cTn>
                                        <p:tgtEl>
                                          <p:spTgt spid="388101">
                                            <p:txEl>
                                              <p:pRg st="1" end="1"/>
                                            </p:txEl>
                                          </p:spTgt>
                                        </p:tgtEl>
                                        <p:attrNameLst>
                                          <p:attrName>style.visibility</p:attrName>
                                        </p:attrNameLst>
                                      </p:cBhvr>
                                      <p:to>
                                        <p:strVal val="visible"/>
                                      </p:to>
                                    </p:set>
                                    <p:animEffect transition="in" filter="blinds(horizontal)">
                                      <p:cBhvr>
                                        <p:cTn id="45" dur="500"/>
                                        <p:tgtEl>
                                          <p:spTgt spid="388101">
                                            <p:txEl>
                                              <p:pRg st="1" end="1"/>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388101">
                                            <p:txEl>
                                              <p:pRg st="2" end="2"/>
                                            </p:txEl>
                                          </p:spTgt>
                                        </p:tgtEl>
                                        <p:attrNameLst>
                                          <p:attrName>style.visibility</p:attrName>
                                        </p:attrNameLst>
                                      </p:cBhvr>
                                      <p:to>
                                        <p:strVal val="visible"/>
                                      </p:to>
                                    </p:set>
                                    <p:animEffect transition="in" filter="blinds(horizontal)">
                                      <p:cBhvr>
                                        <p:cTn id="48" dur="500"/>
                                        <p:tgtEl>
                                          <p:spTgt spid="388101">
                                            <p:txEl>
                                              <p:pRg st="2" end="2"/>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388104"/>
                                        </p:tgtEl>
                                        <p:attrNameLst>
                                          <p:attrName>style.visibility</p:attrName>
                                        </p:attrNameLst>
                                      </p:cBhvr>
                                      <p:to>
                                        <p:strVal val="visible"/>
                                      </p:to>
                                    </p:set>
                                    <p:animEffect transition="in" filter="wipe(left)">
                                      <p:cBhvr>
                                        <p:cTn id="53" dur="500"/>
                                        <p:tgtEl>
                                          <p:spTgt spid="388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2" grpId="0" animBg="1"/>
      <p:bldP spid="388103"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3586"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23587" name="Rectangle 3"/>
          <p:cNvSpPr>
            <a:spLocks noChangeArrowheads="1"/>
          </p:cNvSpPr>
          <p:nvPr/>
        </p:nvSpPr>
        <p:spPr bwMode="auto">
          <a:xfrm>
            <a:off x="611188" y="1066800"/>
            <a:ext cx="6018212" cy="1988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dirty="0">
                <a:solidFill>
                  <a:srgbClr val="A50021"/>
                </a:solidFill>
                <a:latin typeface="华文中宋" pitchFamily="2" charset="-122"/>
                <a:ea typeface="华文中宋" pitchFamily="2" charset="-122"/>
              </a:rPr>
              <a:t>二</a:t>
            </a:r>
            <a:r>
              <a:rPr lang="en-US" altLang="zh-CN" sz="2800" dirty="0">
                <a:solidFill>
                  <a:srgbClr val="A50021"/>
                </a:solidFill>
                <a:latin typeface="华文中宋" pitchFamily="2" charset="-122"/>
                <a:ea typeface="华文中宋" pitchFamily="2" charset="-122"/>
              </a:rPr>
              <a:t>.</a:t>
            </a:r>
            <a:r>
              <a:rPr lang="zh-CN" altLang="en-US" sz="2800" dirty="0">
                <a:solidFill>
                  <a:srgbClr val="A50021"/>
                </a:solidFill>
                <a:latin typeface="华文中宋" pitchFamily="2" charset="-122"/>
                <a:ea typeface="华文中宋" pitchFamily="2" charset="-122"/>
              </a:rPr>
              <a:t>基本公式和判别条件 </a:t>
            </a:r>
          </a:p>
          <a:p>
            <a:pPr algn="l">
              <a:lnSpc>
                <a:spcPct val="100000"/>
              </a:lnSpc>
              <a:spcBef>
                <a:spcPct val="0"/>
              </a:spcBef>
              <a:buClrTx/>
              <a:buFontTx/>
              <a:buNone/>
            </a:pPr>
            <a:r>
              <a:rPr lang="en-US" altLang="zh-CN" dirty="0">
                <a:solidFill>
                  <a:srgbClr val="990099"/>
                </a:solidFill>
              </a:rPr>
              <a:t>1.</a:t>
            </a:r>
            <a:r>
              <a:rPr lang="zh-CN" altLang="en-US" dirty="0">
                <a:solidFill>
                  <a:srgbClr val="990099"/>
                </a:solidFill>
              </a:rPr>
              <a:t>基本公式</a:t>
            </a:r>
          </a:p>
          <a:p>
            <a:pPr algn="l"/>
            <a:r>
              <a:rPr lang="zh-CN" altLang="en-US" sz="2000" dirty="0">
                <a:solidFill>
                  <a:schemeClr val="tx1"/>
                </a:solidFill>
              </a:rPr>
              <a:t>偏心受压构件与受弯构件正截面破坏特征类似，两者正截面受压承载力公式计算的一般原理基本相同</a:t>
            </a:r>
          </a:p>
          <a:p>
            <a:pPr algn="l">
              <a:spcBef>
                <a:spcPct val="40000"/>
              </a:spcBef>
            </a:pPr>
            <a:r>
              <a:rPr lang="zh-CN" altLang="en-US" sz="2000" dirty="0"/>
              <a:t>大偏心受压构件</a:t>
            </a:r>
            <a:r>
              <a:rPr lang="zh-CN" altLang="en-US" dirty="0"/>
              <a:t> </a:t>
            </a:r>
          </a:p>
        </p:txBody>
      </p:sp>
      <p:pic>
        <p:nvPicPr>
          <p:cNvPr id="323598" name="Picture 14" descr="gj0716"/>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9143" r="50430" b="5092"/>
          <a:stretch>
            <a:fillRect/>
          </a:stretch>
        </p:blipFill>
        <p:spPr bwMode="auto">
          <a:xfrm>
            <a:off x="6324600" y="1219200"/>
            <a:ext cx="2854325" cy="5260975"/>
          </a:xfrm>
          <a:prstGeom prst="rect">
            <a:avLst/>
          </a:prstGeom>
          <a:noFill/>
          <a:extLst>
            <a:ext uri="{909E8E84-426E-40DD-AFC4-6F175D3DCCD1}">
              <a14:hiddenFill xmlns:a14="http://schemas.microsoft.com/office/drawing/2010/main">
                <a:solidFill>
                  <a:srgbClr val="FFFFFF"/>
                </a:solidFill>
              </a14:hiddenFill>
            </a:ext>
          </a:extLst>
        </p:spPr>
      </p:pic>
      <p:grpSp>
        <p:nvGrpSpPr>
          <p:cNvPr id="323605" name="Group 21"/>
          <p:cNvGrpSpPr>
            <a:grpSpLocks/>
          </p:cNvGrpSpPr>
          <p:nvPr/>
        </p:nvGrpSpPr>
        <p:grpSpPr bwMode="auto">
          <a:xfrm>
            <a:off x="1538288" y="4800600"/>
            <a:ext cx="4862512" cy="1995488"/>
            <a:chOff x="297" y="1680"/>
            <a:chExt cx="5271" cy="2163"/>
          </a:xfrm>
        </p:grpSpPr>
        <p:pic>
          <p:nvPicPr>
            <p:cNvPr id="323599" name="Picture 15" descr="gj0412"/>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4643" r="3143"/>
            <a:stretch>
              <a:fillRect/>
            </a:stretch>
          </p:blipFill>
          <p:spPr bwMode="auto">
            <a:xfrm>
              <a:off x="297" y="1680"/>
              <a:ext cx="5271" cy="2163"/>
            </a:xfrm>
            <a:prstGeom prst="rect">
              <a:avLst/>
            </a:prstGeom>
            <a:noFill/>
            <a:extLst>
              <a:ext uri="{909E8E84-426E-40DD-AFC4-6F175D3DCCD1}">
                <a14:hiddenFill xmlns:a14="http://schemas.microsoft.com/office/drawing/2010/main">
                  <a:solidFill>
                    <a:srgbClr val="FFFFFF"/>
                  </a:solidFill>
                </a14:hiddenFill>
              </a:ext>
            </a:extLst>
          </p:spPr>
        </p:pic>
        <p:sp>
          <p:nvSpPr>
            <p:cNvPr id="323600" name="Freeform 16"/>
            <p:cNvSpPr>
              <a:spLocks/>
            </p:cNvSpPr>
            <p:nvPr/>
          </p:nvSpPr>
          <p:spPr bwMode="auto">
            <a:xfrm>
              <a:off x="2621" y="2040"/>
              <a:ext cx="427" cy="619"/>
            </a:xfrm>
            <a:custGeom>
              <a:avLst/>
              <a:gdLst>
                <a:gd name="T0" fmla="*/ 5 w 427"/>
                <a:gd name="T1" fmla="*/ 0 h 619"/>
                <a:gd name="T2" fmla="*/ 427 w 427"/>
                <a:gd name="T3" fmla="*/ 0 h 619"/>
                <a:gd name="T4" fmla="*/ 427 w 427"/>
                <a:gd name="T5" fmla="*/ 288 h 619"/>
                <a:gd name="T6" fmla="*/ 403 w 427"/>
                <a:gd name="T7" fmla="*/ 365 h 619"/>
                <a:gd name="T8" fmla="*/ 345 w 427"/>
                <a:gd name="T9" fmla="*/ 437 h 619"/>
                <a:gd name="T10" fmla="*/ 293 w 427"/>
                <a:gd name="T11" fmla="*/ 475 h 619"/>
                <a:gd name="T12" fmla="*/ 173 w 427"/>
                <a:gd name="T13" fmla="*/ 552 h 619"/>
                <a:gd name="T14" fmla="*/ 48 w 427"/>
                <a:gd name="T15" fmla="*/ 610 h 619"/>
                <a:gd name="T16" fmla="*/ 0 w 427"/>
                <a:gd name="T17" fmla="*/ 619 h 619"/>
                <a:gd name="T18" fmla="*/ 5 w 427"/>
                <a:gd name="T19" fmla="*/ 0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7" h="619">
                  <a:moveTo>
                    <a:pt x="5" y="0"/>
                  </a:moveTo>
                  <a:lnTo>
                    <a:pt x="427" y="0"/>
                  </a:lnTo>
                  <a:lnTo>
                    <a:pt x="427" y="288"/>
                  </a:lnTo>
                  <a:lnTo>
                    <a:pt x="403" y="365"/>
                  </a:lnTo>
                  <a:lnTo>
                    <a:pt x="345" y="437"/>
                  </a:lnTo>
                  <a:lnTo>
                    <a:pt x="293" y="475"/>
                  </a:lnTo>
                  <a:lnTo>
                    <a:pt x="173" y="552"/>
                  </a:lnTo>
                  <a:lnTo>
                    <a:pt x="48" y="610"/>
                  </a:lnTo>
                  <a:lnTo>
                    <a:pt x="0" y="619"/>
                  </a:lnTo>
                  <a:lnTo>
                    <a:pt x="5" y="0"/>
                  </a:lnTo>
                  <a:close/>
                </a:path>
              </a:pathLst>
            </a:custGeom>
            <a:solidFill>
              <a:srgbClr val="FFFF00">
                <a:alpha val="50000"/>
              </a:srgbClr>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3601" name="Rectangle 17"/>
            <p:cNvSpPr>
              <a:spLocks noChangeArrowheads="1"/>
            </p:cNvSpPr>
            <p:nvPr/>
          </p:nvSpPr>
          <p:spPr bwMode="auto">
            <a:xfrm>
              <a:off x="4133" y="2026"/>
              <a:ext cx="422" cy="484"/>
            </a:xfrm>
            <a:prstGeom prst="rect">
              <a:avLst/>
            </a:prstGeom>
            <a:solidFill>
              <a:srgbClr val="00CCFF">
                <a:alpha val="50000"/>
              </a:srgb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3602" name="Line 18"/>
            <p:cNvSpPr>
              <a:spLocks noChangeShapeType="1"/>
            </p:cNvSpPr>
            <p:nvPr/>
          </p:nvSpPr>
          <p:spPr bwMode="auto">
            <a:xfrm flipH="1">
              <a:off x="3068" y="2276"/>
              <a:ext cx="480" cy="0"/>
            </a:xfrm>
            <a:prstGeom prst="line">
              <a:avLst/>
            </a:prstGeom>
            <a:noFill/>
            <a:ln w="28575">
              <a:solidFill>
                <a:srgbClr val="FF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3603" name="Line 19"/>
            <p:cNvSpPr>
              <a:spLocks noChangeShapeType="1"/>
            </p:cNvSpPr>
            <p:nvPr/>
          </p:nvSpPr>
          <p:spPr bwMode="auto">
            <a:xfrm flipH="1">
              <a:off x="4192" y="2268"/>
              <a:ext cx="480" cy="0"/>
            </a:xfrm>
            <a:prstGeom prst="line">
              <a:avLst/>
            </a:prstGeom>
            <a:noFill/>
            <a:ln w="28575">
              <a:solidFill>
                <a:srgbClr val="FF3399"/>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323604" name="Object 20"/>
          <p:cNvGraphicFramePr>
            <a:graphicFrameLocks noGrp="1" noChangeAspect="1"/>
          </p:cNvGraphicFramePr>
          <p:nvPr>
            <p:ph sz="half" idx="2"/>
            <p:extLst>
              <p:ext uri="{D42A27DB-BD31-4B8C-83A1-F6EECF244321}">
                <p14:modId xmlns:p14="http://schemas.microsoft.com/office/powerpoint/2010/main" val="3928242616"/>
              </p:ext>
            </p:extLst>
          </p:nvPr>
        </p:nvGraphicFramePr>
        <p:xfrm>
          <a:off x="909638" y="3051175"/>
          <a:ext cx="5164137" cy="1009650"/>
        </p:xfrm>
        <a:graphic>
          <a:graphicData uri="http://schemas.openxmlformats.org/presentationml/2006/ole">
            <mc:AlternateContent xmlns:mc="http://schemas.openxmlformats.org/markup-compatibility/2006">
              <mc:Choice xmlns:v="urn:schemas-microsoft-com:vml" Requires="v">
                <p:oleObj spid="_x0000_s323721" name="Equation" r:id="rId5" imgW="3377880" imgH="660240" progId="Equation.DSMT4">
                  <p:embed/>
                </p:oleObj>
              </mc:Choice>
              <mc:Fallback>
                <p:oleObj name="Equation" r:id="rId5" imgW="3377880" imgH="660240" progId="Equation.DSMT4">
                  <p:embed/>
                  <p:pic>
                    <p:nvPicPr>
                      <p:cNvPr id="0" name="Picture 89"/>
                      <p:cNvPicPr>
                        <a:picLocks noGrp="1" noChangeAspect="1" noChangeArrowheads="1"/>
                      </p:cNvPicPr>
                      <p:nvPr/>
                    </p:nvPicPr>
                    <p:blipFill>
                      <a:blip r:embed="rId6"/>
                      <a:srcRect/>
                      <a:stretch>
                        <a:fillRect/>
                      </a:stretch>
                    </p:blipFill>
                    <p:spPr bwMode="auto">
                      <a:xfrm>
                        <a:off x="909638" y="3051175"/>
                        <a:ext cx="5164137"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3606" name="Freeform 22"/>
          <p:cNvSpPr>
            <a:spLocks/>
          </p:cNvSpPr>
          <p:nvPr/>
        </p:nvSpPr>
        <p:spPr bwMode="auto">
          <a:xfrm>
            <a:off x="8043863" y="5591175"/>
            <a:ext cx="646112" cy="314325"/>
          </a:xfrm>
          <a:custGeom>
            <a:avLst/>
            <a:gdLst>
              <a:gd name="T0" fmla="*/ 407 w 407"/>
              <a:gd name="T1" fmla="*/ 2 h 198"/>
              <a:gd name="T2" fmla="*/ 407 w 407"/>
              <a:gd name="T3" fmla="*/ 198 h 198"/>
              <a:gd name="T4" fmla="*/ 217 w 407"/>
              <a:gd name="T5" fmla="*/ 196 h 198"/>
              <a:gd name="T6" fmla="*/ 143 w 407"/>
              <a:gd name="T7" fmla="*/ 198 h 198"/>
              <a:gd name="T8" fmla="*/ 109 w 407"/>
              <a:gd name="T9" fmla="*/ 176 h 198"/>
              <a:gd name="T10" fmla="*/ 81 w 407"/>
              <a:gd name="T11" fmla="*/ 144 h 198"/>
              <a:gd name="T12" fmla="*/ 29 w 407"/>
              <a:gd name="T13" fmla="*/ 94 h 198"/>
              <a:gd name="T14" fmla="*/ 6 w 407"/>
              <a:gd name="T15" fmla="*/ 24 h 198"/>
              <a:gd name="T16" fmla="*/ 0 w 407"/>
              <a:gd name="T17" fmla="*/ 0 h 198"/>
              <a:gd name="T18" fmla="*/ 407 w 407"/>
              <a:gd name="T19" fmla="*/ 2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7" h="198">
                <a:moveTo>
                  <a:pt x="407" y="2"/>
                </a:moveTo>
                <a:lnTo>
                  <a:pt x="407" y="198"/>
                </a:lnTo>
                <a:lnTo>
                  <a:pt x="217" y="196"/>
                </a:lnTo>
                <a:lnTo>
                  <a:pt x="143" y="198"/>
                </a:lnTo>
                <a:lnTo>
                  <a:pt x="109" y="176"/>
                </a:lnTo>
                <a:lnTo>
                  <a:pt x="81" y="144"/>
                </a:lnTo>
                <a:lnTo>
                  <a:pt x="29" y="94"/>
                </a:lnTo>
                <a:lnTo>
                  <a:pt x="6" y="24"/>
                </a:lnTo>
                <a:lnTo>
                  <a:pt x="0" y="0"/>
                </a:lnTo>
                <a:lnTo>
                  <a:pt x="407" y="2"/>
                </a:lnTo>
                <a:close/>
              </a:path>
            </a:pathLst>
          </a:custGeom>
          <a:solidFill>
            <a:srgbClr val="FFFF00">
              <a:alpha val="60001"/>
            </a:srgbClr>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3607" name="Rectangle 23"/>
          <p:cNvSpPr>
            <a:spLocks noChangeArrowheads="1"/>
          </p:cNvSpPr>
          <p:nvPr/>
        </p:nvSpPr>
        <p:spPr bwMode="auto">
          <a:xfrm>
            <a:off x="8134350" y="5591175"/>
            <a:ext cx="558800" cy="314325"/>
          </a:xfrm>
          <a:prstGeom prst="rect">
            <a:avLst/>
          </a:prstGeom>
          <a:solidFill>
            <a:srgbClr val="0000FF">
              <a:alpha val="30000"/>
            </a:srgb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3608" name="Line 24"/>
          <p:cNvSpPr>
            <a:spLocks noChangeShapeType="1"/>
          </p:cNvSpPr>
          <p:nvPr/>
        </p:nvSpPr>
        <p:spPr bwMode="auto">
          <a:xfrm rot="5400000" flipH="1">
            <a:off x="8108157" y="5944394"/>
            <a:ext cx="639762" cy="0"/>
          </a:xfrm>
          <a:prstGeom prst="line">
            <a:avLst/>
          </a:prstGeom>
          <a:noFill/>
          <a:ln w="28575">
            <a:solidFill>
              <a:srgbClr val="FF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3609" name="Line 25"/>
          <p:cNvSpPr>
            <a:spLocks noChangeShapeType="1"/>
          </p:cNvSpPr>
          <p:nvPr/>
        </p:nvSpPr>
        <p:spPr bwMode="auto">
          <a:xfrm rot="5400000" flipH="1">
            <a:off x="8397081" y="5836444"/>
            <a:ext cx="403225" cy="7938"/>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3610" name="Rectangle 26"/>
          <p:cNvSpPr>
            <a:spLocks noChangeArrowheads="1"/>
          </p:cNvSpPr>
          <p:nvPr/>
        </p:nvSpPr>
        <p:spPr bwMode="auto">
          <a:xfrm>
            <a:off x="655638" y="4157663"/>
            <a:ext cx="5745162" cy="642937"/>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800" i="1" dirty="0">
                <a:solidFill>
                  <a:schemeClr val="tx2"/>
                </a:solidFill>
              </a:rPr>
              <a:t>e</a:t>
            </a:r>
            <a:r>
              <a:rPr lang="zh-CN" altLang="en-US" sz="1800" dirty="0">
                <a:solidFill>
                  <a:schemeClr val="tx2"/>
                </a:solidFill>
              </a:rPr>
              <a:t>为轴向压力</a:t>
            </a:r>
            <a:r>
              <a:rPr lang="en-US" altLang="zh-CN" sz="1800" i="1" dirty="0">
                <a:solidFill>
                  <a:schemeClr val="tx2"/>
                </a:solidFill>
              </a:rPr>
              <a:t>N</a:t>
            </a:r>
            <a:r>
              <a:rPr lang="zh-CN" altLang="en-US" sz="1800" dirty="0">
                <a:solidFill>
                  <a:schemeClr val="tx2"/>
                </a:solidFill>
              </a:rPr>
              <a:t>作用点至纵向受拉钢筋合力点之间的距离</a:t>
            </a:r>
          </a:p>
          <a:p>
            <a:pPr algn="l"/>
            <a:r>
              <a:rPr lang="en-US" altLang="zh-CN" sz="1800" i="1" dirty="0">
                <a:solidFill>
                  <a:schemeClr val="tx2"/>
                </a:solidFill>
              </a:rPr>
              <a:t>e</a:t>
            </a:r>
            <a:r>
              <a:rPr lang="zh-CN" altLang="en-US" sz="1800" dirty="0">
                <a:solidFill>
                  <a:schemeClr val="tx2"/>
                </a:solidFill>
              </a:rPr>
              <a:t>＝ </a:t>
            </a:r>
            <a:r>
              <a:rPr lang="en-US" altLang="zh-CN" sz="1800" i="1" dirty="0" err="1">
                <a:solidFill>
                  <a:schemeClr val="tx2"/>
                </a:solidFill>
              </a:rPr>
              <a:t>e</a:t>
            </a:r>
            <a:r>
              <a:rPr lang="en-US" altLang="zh-CN" sz="1800" baseline="-25000" dirty="0" err="1">
                <a:solidFill>
                  <a:schemeClr val="tx2"/>
                </a:solidFill>
              </a:rPr>
              <a:t>i</a:t>
            </a:r>
            <a:r>
              <a:rPr lang="en-US" altLang="zh-CN" sz="1800" dirty="0" err="1">
                <a:solidFill>
                  <a:schemeClr val="tx2"/>
                </a:solidFill>
              </a:rPr>
              <a:t>+</a:t>
            </a:r>
            <a:r>
              <a:rPr lang="en-US" altLang="zh-CN" sz="1800" i="1" dirty="0" err="1">
                <a:solidFill>
                  <a:schemeClr val="tx2"/>
                </a:solidFill>
              </a:rPr>
              <a:t>h</a:t>
            </a:r>
            <a:r>
              <a:rPr lang="en-US" altLang="zh-CN" sz="1800" dirty="0">
                <a:solidFill>
                  <a:schemeClr val="tx2"/>
                </a:solidFill>
              </a:rPr>
              <a:t>/2</a:t>
            </a:r>
            <a:r>
              <a:rPr lang="en-US" altLang="zh-CN" sz="1800" i="1" dirty="0">
                <a:solidFill>
                  <a:schemeClr val="tx2"/>
                </a:solidFill>
              </a:rPr>
              <a:t>-a</a:t>
            </a:r>
            <a:r>
              <a:rPr lang="en-US" altLang="zh-CN" sz="1800" baseline="-25000" dirty="0">
                <a:solidFill>
                  <a:schemeClr val="tx2"/>
                </a:solidFill>
              </a:rPr>
              <a:t>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3587">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2360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36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pic>
        <p:nvPicPr>
          <p:cNvPr id="324612" name="Picture 4" descr="gj0716"/>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54471" r="10994" b="5092"/>
          <a:stretch>
            <a:fillRect/>
          </a:stretch>
        </p:blipFill>
        <p:spPr bwMode="auto">
          <a:xfrm>
            <a:off x="6629400" y="1139825"/>
            <a:ext cx="2438400" cy="5260975"/>
          </a:xfrm>
          <a:prstGeom prst="rect">
            <a:avLst/>
          </a:prstGeom>
          <a:noFill/>
          <a:extLst>
            <a:ext uri="{909E8E84-426E-40DD-AFC4-6F175D3DCCD1}">
              <a14:hiddenFill xmlns:a14="http://schemas.microsoft.com/office/drawing/2010/main">
                <a:solidFill>
                  <a:srgbClr val="FFFFFF"/>
                </a:solidFill>
              </a14:hiddenFill>
            </a:ext>
          </a:extLst>
        </p:spPr>
      </p:pic>
      <p:grpSp>
        <p:nvGrpSpPr>
          <p:cNvPr id="324613" name="Group 5"/>
          <p:cNvGrpSpPr>
            <a:grpSpLocks/>
          </p:cNvGrpSpPr>
          <p:nvPr/>
        </p:nvGrpSpPr>
        <p:grpSpPr bwMode="auto">
          <a:xfrm>
            <a:off x="1538288" y="4800600"/>
            <a:ext cx="4862512" cy="1995488"/>
            <a:chOff x="297" y="1680"/>
            <a:chExt cx="5271" cy="2163"/>
          </a:xfrm>
        </p:grpSpPr>
        <p:pic>
          <p:nvPicPr>
            <p:cNvPr id="324614" name="Picture 6" descr="gj0412"/>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4643" r="3143"/>
            <a:stretch>
              <a:fillRect/>
            </a:stretch>
          </p:blipFill>
          <p:spPr bwMode="auto">
            <a:xfrm>
              <a:off x="297" y="1680"/>
              <a:ext cx="5271" cy="2163"/>
            </a:xfrm>
            <a:prstGeom prst="rect">
              <a:avLst/>
            </a:prstGeom>
            <a:noFill/>
            <a:extLst>
              <a:ext uri="{909E8E84-426E-40DD-AFC4-6F175D3DCCD1}">
                <a14:hiddenFill xmlns:a14="http://schemas.microsoft.com/office/drawing/2010/main">
                  <a:solidFill>
                    <a:srgbClr val="FFFFFF"/>
                  </a:solidFill>
                </a14:hiddenFill>
              </a:ext>
            </a:extLst>
          </p:spPr>
        </p:pic>
        <p:sp>
          <p:nvSpPr>
            <p:cNvPr id="324615" name="Freeform 7"/>
            <p:cNvSpPr>
              <a:spLocks/>
            </p:cNvSpPr>
            <p:nvPr/>
          </p:nvSpPr>
          <p:spPr bwMode="auto">
            <a:xfrm>
              <a:off x="2621" y="2040"/>
              <a:ext cx="427" cy="619"/>
            </a:xfrm>
            <a:custGeom>
              <a:avLst/>
              <a:gdLst>
                <a:gd name="T0" fmla="*/ 5 w 427"/>
                <a:gd name="T1" fmla="*/ 0 h 619"/>
                <a:gd name="T2" fmla="*/ 427 w 427"/>
                <a:gd name="T3" fmla="*/ 0 h 619"/>
                <a:gd name="T4" fmla="*/ 427 w 427"/>
                <a:gd name="T5" fmla="*/ 288 h 619"/>
                <a:gd name="T6" fmla="*/ 403 w 427"/>
                <a:gd name="T7" fmla="*/ 365 h 619"/>
                <a:gd name="T8" fmla="*/ 345 w 427"/>
                <a:gd name="T9" fmla="*/ 437 h 619"/>
                <a:gd name="T10" fmla="*/ 293 w 427"/>
                <a:gd name="T11" fmla="*/ 475 h 619"/>
                <a:gd name="T12" fmla="*/ 173 w 427"/>
                <a:gd name="T13" fmla="*/ 552 h 619"/>
                <a:gd name="T14" fmla="*/ 48 w 427"/>
                <a:gd name="T15" fmla="*/ 610 h 619"/>
                <a:gd name="T16" fmla="*/ 0 w 427"/>
                <a:gd name="T17" fmla="*/ 619 h 619"/>
                <a:gd name="T18" fmla="*/ 5 w 427"/>
                <a:gd name="T19" fmla="*/ 0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7" h="619">
                  <a:moveTo>
                    <a:pt x="5" y="0"/>
                  </a:moveTo>
                  <a:lnTo>
                    <a:pt x="427" y="0"/>
                  </a:lnTo>
                  <a:lnTo>
                    <a:pt x="427" y="288"/>
                  </a:lnTo>
                  <a:lnTo>
                    <a:pt x="403" y="365"/>
                  </a:lnTo>
                  <a:lnTo>
                    <a:pt x="345" y="437"/>
                  </a:lnTo>
                  <a:lnTo>
                    <a:pt x="293" y="475"/>
                  </a:lnTo>
                  <a:lnTo>
                    <a:pt x="173" y="552"/>
                  </a:lnTo>
                  <a:lnTo>
                    <a:pt x="48" y="610"/>
                  </a:lnTo>
                  <a:lnTo>
                    <a:pt x="0" y="619"/>
                  </a:lnTo>
                  <a:lnTo>
                    <a:pt x="5" y="0"/>
                  </a:lnTo>
                  <a:close/>
                </a:path>
              </a:pathLst>
            </a:custGeom>
            <a:solidFill>
              <a:srgbClr val="FFFF00">
                <a:alpha val="50000"/>
              </a:srgbClr>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4616" name="Rectangle 8"/>
            <p:cNvSpPr>
              <a:spLocks noChangeArrowheads="1"/>
            </p:cNvSpPr>
            <p:nvPr/>
          </p:nvSpPr>
          <p:spPr bwMode="auto">
            <a:xfrm>
              <a:off x="4133" y="2026"/>
              <a:ext cx="422" cy="484"/>
            </a:xfrm>
            <a:prstGeom prst="rect">
              <a:avLst/>
            </a:prstGeom>
            <a:solidFill>
              <a:srgbClr val="00CCFF">
                <a:alpha val="50000"/>
              </a:srgb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17" name="Line 9"/>
            <p:cNvSpPr>
              <a:spLocks noChangeShapeType="1"/>
            </p:cNvSpPr>
            <p:nvPr/>
          </p:nvSpPr>
          <p:spPr bwMode="auto">
            <a:xfrm flipH="1">
              <a:off x="3068" y="2276"/>
              <a:ext cx="480" cy="0"/>
            </a:xfrm>
            <a:prstGeom prst="line">
              <a:avLst/>
            </a:prstGeom>
            <a:noFill/>
            <a:ln w="28575">
              <a:solidFill>
                <a:srgbClr val="FF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4618" name="Line 10"/>
            <p:cNvSpPr>
              <a:spLocks noChangeShapeType="1"/>
            </p:cNvSpPr>
            <p:nvPr/>
          </p:nvSpPr>
          <p:spPr bwMode="auto">
            <a:xfrm flipH="1">
              <a:off x="4192" y="2268"/>
              <a:ext cx="480" cy="0"/>
            </a:xfrm>
            <a:prstGeom prst="line">
              <a:avLst/>
            </a:prstGeom>
            <a:noFill/>
            <a:ln w="28575">
              <a:solidFill>
                <a:srgbClr val="FF3399"/>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324619" name="Object 11"/>
          <p:cNvGraphicFramePr>
            <a:graphicFrameLocks noGrp="1" noChangeAspect="1"/>
          </p:cNvGraphicFramePr>
          <p:nvPr>
            <p:ph sz="half" idx="2"/>
            <p:extLst>
              <p:ext uri="{D42A27DB-BD31-4B8C-83A1-F6EECF244321}">
                <p14:modId xmlns:p14="http://schemas.microsoft.com/office/powerpoint/2010/main" val="2358212855"/>
              </p:ext>
            </p:extLst>
          </p:nvPr>
        </p:nvGraphicFramePr>
        <p:xfrm>
          <a:off x="693738" y="3054350"/>
          <a:ext cx="4932362" cy="1625600"/>
        </p:xfrm>
        <a:graphic>
          <a:graphicData uri="http://schemas.openxmlformats.org/presentationml/2006/ole">
            <mc:AlternateContent xmlns:mc="http://schemas.openxmlformats.org/markup-compatibility/2006">
              <mc:Choice xmlns:v="urn:schemas-microsoft-com:vml" Requires="v">
                <p:oleObj spid="_x0000_s324748" name="Equation" r:id="rId5" imgW="3390840" imgH="1117440" progId="Equation.DSMT4">
                  <p:embed/>
                </p:oleObj>
              </mc:Choice>
              <mc:Fallback>
                <p:oleObj name="Equation" r:id="rId5" imgW="3390840" imgH="1117440" progId="Equation.DSMT4">
                  <p:embed/>
                  <p:pic>
                    <p:nvPicPr>
                      <p:cNvPr id="0" name="Picture 85"/>
                      <p:cNvPicPr>
                        <a:picLocks noGrp="1" noChangeAspect="1" noChangeArrowheads="1"/>
                      </p:cNvPicPr>
                      <p:nvPr/>
                    </p:nvPicPr>
                    <p:blipFill>
                      <a:blip r:embed="rId6"/>
                      <a:srcRect/>
                      <a:stretch>
                        <a:fillRect/>
                      </a:stretch>
                    </p:blipFill>
                    <p:spPr bwMode="auto">
                      <a:xfrm>
                        <a:off x="693738" y="3054350"/>
                        <a:ext cx="4932362"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4625" name="Freeform 17"/>
          <p:cNvSpPr>
            <a:spLocks/>
          </p:cNvSpPr>
          <p:nvPr/>
        </p:nvSpPr>
        <p:spPr bwMode="auto">
          <a:xfrm>
            <a:off x="7597775" y="5508625"/>
            <a:ext cx="958850" cy="304800"/>
          </a:xfrm>
          <a:custGeom>
            <a:avLst/>
            <a:gdLst>
              <a:gd name="T0" fmla="*/ 553 w 553"/>
              <a:gd name="T1" fmla="*/ 2 h 192"/>
              <a:gd name="T2" fmla="*/ 553 w 553"/>
              <a:gd name="T3" fmla="*/ 192 h 192"/>
              <a:gd name="T4" fmla="*/ 295 w 553"/>
              <a:gd name="T5" fmla="*/ 190 h 192"/>
              <a:gd name="T6" fmla="*/ 194 w 553"/>
              <a:gd name="T7" fmla="*/ 192 h 192"/>
              <a:gd name="T8" fmla="*/ 148 w 553"/>
              <a:gd name="T9" fmla="*/ 171 h 192"/>
              <a:gd name="T10" fmla="*/ 110 w 553"/>
              <a:gd name="T11" fmla="*/ 140 h 192"/>
              <a:gd name="T12" fmla="*/ 48 w 553"/>
              <a:gd name="T13" fmla="*/ 84 h 192"/>
              <a:gd name="T14" fmla="*/ 8 w 553"/>
              <a:gd name="T15" fmla="*/ 23 h 192"/>
              <a:gd name="T16" fmla="*/ 0 w 553"/>
              <a:gd name="T17" fmla="*/ 0 h 192"/>
              <a:gd name="T18" fmla="*/ 553 w 553"/>
              <a:gd name="T19" fmla="*/ 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3" h="192">
                <a:moveTo>
                  <a:pt x="553" y="2"/>
                </a:moveTo>
                <a:lnTo>
                  <a:pt x="553" y="192"/>
                </a:lnTo>
                <a:lnTo>
                  <a:pt x="295" y="190"/>
                </a:lnTo>
                <a:lnTo>
                  <a:pt x="194" y="192"/>
                </a:lnTo>
                <a:lnTo>
                  <a:pt x="148" y="171"/>
                </a:lnTo>
                <a:lnTo>
                  <a:pt x="110" y="140"/>
                </a:lnTo>
                <a:lnTo>
                  <a:pt x="48" y="84"/>
                </a:lnTo>
                <a:lnTo>
                  <a:pt x="8" y="23"/>
                </a:lnTo>
                <a:lnTo>
                  <a:pt x="0" y="0"/>
                </a:lnTo>
                <a:lnTo>
                  <a:pt x="553" y="2"/>
                </a:lnTo>
                <a:close/>
              </a:path>
            </a:pathLst>
          </a:custGeom>
          <a:solidFill>
            <a:srgbClr val="FFFF00">
              <a:alpha val="60001"/>
            </a:srgbClr>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4626" name="Rectangle 18"/>
          <p:cNvSpPr>
            <a:spLocks noChangeArrowheads="1"/>
          </p:cNvSpPr>
          <p:nvPr/>
        </p:nvSpPr>
        <p:spPr bwMode="auto">
          <a:xfrm>
            <a:off x="7758113" y="5508625"/>
            <a:ext cx="804862" cy="317500"/>
          </a:xfrm>
          <a:prstGeom prst="rect">
            <a:avLst/>
          </a:prstGeom>
          <a:solidFill>
            <a:srgbClr val="0000FF">
              <a:alpha val="30000"/>
            </a:srgb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27" name="Line 19"/>
          <p:cNvSpPr>
            <a:spLocks noChangeShapeType="1"/>
          </p:cNvSpPr>
          <p:nvPr/>
        </p:nvSpPr>
        <p:spPr bwMode="auto">
          <a:xfrm rot="5400000" flipH="1">
            <a:off x="7849394" y="5849144"/>
            <a:ext cx="639762" cy="0"/>
          </a:xfrm>
          <a:prstGeom prst="line">
            <a:avLst/>
          </a:prstGeom>
          <a:noFill/>
          <a:ln w="28575">
            <a:solidFill>
              <a:srgbClr val="FF00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4628" name="Line 20"/>
          <p:cNvSpPr>
            <a:spLocks noChangeShapeType="1"/>
          </p:cNvSpPr>
          <p:nvPr/>
        </p:nvSpPr>
        <p:spPr bwMode="auto">
          <a:xfrm rot="5400000" flipH="1">
            <a:off x="8268494" y="5738019"/>
            <a:ext cx="403225" cy="7937"/>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4630" name="Rectangle 22"/>
          <p:cNvSpPr>
            <a:spLocks noChangeArrowheads="1"/>
          </p:cNvSpPr>
          <p:nvPr/>
        </p:nvSpPr>
        <p:spPr bwMode="auto">
          <a:xfrm>
            <a:off x="611188" y="1066800"/>
            <a:ext cx="6018212" cy="1988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dirty="0">
                <a:solidFill>
                  <a:srgbClr val="A50021"/>
                </a:solidFill>
                <a:latin typeface="华文中宋" pitchFamily="2" charset="-122"/>
                <a:ea typeface="华文中宋" pitchFamily="2" charset="-122"/>
              </a:rPr>
              <a:t>二</a:t>
            </a:r>
            <a:r>
              <a:rPr lang="en-US" altLang="zh-CN" sz="2800" dirty="0">
                <a:solidFill>
                  <a:srgbClr val="A50021"/>
                </a:solidFill>
                <a:latin typeface="华文中宋" pitchFamily="2" charset="-122"/>
                <a:ea typeface="华文中宋" pitchFamily="2" charset="-122"/>
              </a:rPr>
              <a:t>.</a:t>
            </a:r>
            <a:r>
              <a:rPr lang="zh-CN" altLang="en-US" sz="2800" dirty="0">
                <a:solidFill>
                  <a:srgbClr val="A50021"/>
                </a:solidFill>
                <a:latin typeface="华文中宋" pitchFamily="2" charset="-122"/>
                <a:ea typeface="华文中宋" pitchFamily="2" charset="-122"/>
              </a:rPr>
              <a:t>基本公式和判别条件 </a:t>
            </a:r>
          </a:p>
          <a:p>
            <a:pPr algn="l">
              <a:lnSpc>
                <a:spcPct val="100000"/>
              </a:lnSpc>
              <a:spcBef>
                <a:spcPct val="0"/>
              </a:spcBef>
              <a:buClrTx/>
              <a:buFontTx/>
              <a:buNone/>
            </a:pPr>
            <a:r>
              <a:rPr lang="en-US" altLang="zh-CN" dirty="0">
                <a:solidFill>
                  <a:srgbClr val="990099"/>
                </a:solidFill>
              </a:rPr>
              <a:t>1.</a:t>
            </a:r>
            <a:r>
              <a:rPr lang="zh-CN" altLang="en-US" dirty="0">
                <a:solidFill>
                  <a:srgbClr val="990099"/>
                </a:solidFill>
              </a:rPr>
              <a:t>基本公式</a:t>
            </a:r>
          </a:p>
          <a:p>
            <a:pPr algn="l"/>
            <a:r>
              <a:rPr lang="zh-CN" altLang="en-US" sz="2000" dirty="0">
                <a:solidFill>
                  <a:schemeClr val="tx1"/>
                </a:solidFill>
              </a:rPr>
              <a:t>偏心受压构件与受弯构件正截面破坏特征类似，两者正截面受压承载力公式计算的一般原理基本相同</a:t>
            </a:r>
          </a:p>
          <a:p>
            <a:pPr algn="l">
              <a:spcBef>
                <a:spcPct val="40000"/>
              </a:spcBef>
            </a:pPr>
            <a:r>
              <a:rPr lang="zh-CN" altLang="en-US" sz="2000" dirty="0"/>
              <a:t>小偏心受压构件</a:t>
            </a:r>
            <a:r>
              <a:rPr lang="zh-CN" altLang="en-US" dirty="0"/>
              <a:t> </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563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25635" name="Rectangle 3"/>
          <p:cNvSpPr>
            <a:spLocks noChangeArrowheads="1"/>
          </p:cNvSpPr>
          <p:nvPr/>
        </p:nvSpPr>
        <p:spPr bwMode="auto">
          <a:xfrm>
            <a:off x="611188" y="1066800"/>
            <a:ext cx="8304212"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en-US" altLang="zh-CN" dirty="0">
                <a:solidFill>
                  <a:srgbClr val="990099"/>
                </a:solidFill>
              </a:rPr>
              <a:t>2.</a:t>
            </a:r>
            <a:r>
              <a:rPr lang="zh-CN" altLang="en-US" dirty="0">
                <a:solidFill>
                  <a:srgbClr val="990099"/>
                </a:solidFill>
              </a:rPr>
              <a:t>判别条件</a:t>
            </a:r>
          </a:p>
          <a:p>
            <a:pPr algn="l"/>
            <a:r>
              <a:rPr lang="zh-CN" altLang="en-US" sz="2000" dirty="0">
                <a:solidFill>
                  <a:schemeClr val="tx1"/>
                </a:solidFill>
              </a:rPr>
              <a:t>取受压区边缘混凝土的极限压应变值为</a:t>
            </a:r>
            <a:r>
              <a:rPr lang="el-GR" altLang="zh-CN" sz="2000" i="1" dirty="0">
                <a:solidFill>
                  <a:schemeClr val="tx1"/>
                </a:solidFill>
              </a:rPr>
              <a:t>ε</a:t>
            </a:r>
            <a:r>
              <a:rPr lang="en-US" altLang="zh-CN" sz="2000" baseline="-25000" dirty="0">
                <a:solidFill>
                  <a:schemeClr val="tx1"/>
                </a:solidFill>
              </a:rPr>
              <a:t>cu</a:t>
            </a:r>
            <a:r>
              <a:rPr lang="zh-CN" altLang="en-US" sz="2000" dirty="0">
                <a:solidFill>
                  <a:schemeClr val="tx1"/>
                </a:solidFill>
              </a:rPr>
              <a:t>＝</a:t>
            </a:r>
            <a:r>
              <a:rPr lang="en-US" altLang="zh-CN" sz="2000" dirty="0">
                <a:solidFill>
                  <a:schemeClr val="tx1"/>
                </a:solidFill>
              </a:rPr>
              <a:t>0.0033</a:t>
            </a:r>
            <a:r>
              <a:rPr lang="zh-CN" altLang="en-US" sz="2000" dirty="0">
                <a:solidFill>
                  <a:schemeClr val="tx1"/>
                </a:solidFill>
              </a:rPr>
              <a:t>，实际相对界限受压区高度为：</a:t>
            </a:r>
          </a:p>
        </p:txBody>
      </p:sp>
      <p:graphicFrame>
        <p:nvGraphicFramePr>
          <p:cNvPr id="325643" name="Object 11"/>
          <p:cNvGraphicFramePr>
            <a:graphicFrameLocks noGrp="1" noChangeAspect="1"/>
          </p:cNvGraphicFramePr>
          <p:nvPr>
            <p:ph sz="half" idx="2"/>
            <p:extLst>
              <p:ext uri="{D42A27DB-BD31-4B8C-83A1-F6EECF244321}">
                <p14:modId xmlns:p14="http://schemas.microsoft.com/office/powerpoint/2010/main" val="765376549"/>
              </p:ext>
            </p:extLst>
          </p:nvPr>
        </p:nvGraphicFramePr>
        <p:xfrm>
          <a:off x="736599" y="2201861"/>
          <a:ext cx="3397519" cy="998539"/>
        </p:xfrm>
        <a:graphic>
          <a:graphicData uri="http://schemas.openxmlformats.org/presentationml/2006/ole">
            <mc:AlternateContent xmlns:mc="http://schemas.openxmlformats.org/markup-compatibility/2006">
              <mc:Choice xmlns:v="urn:schemas-microsoft-com:vml" Requires="v">
                <p:oleObj spid="_x0000_s325882" name="Equation" r:id="rId3" imgW="2158920" imgH="634680" progId="Equation.DSMT4">
                  <p:embed/>
                </p:oleObj>
              </mc:Choice>
              <mc:Fallback>
                <p:oleObj name="Equation" r:id="rId3" imgW="2158920" imgH="634680" progId="Equation.DSMT4">
                  <p:embed/>
                  <p:pic>
                    <p:nvPicPr>
                      <p:cNvPr id="0" name="Picture 144"/>
                      <p:cNvPicPr>
                        <a:picLocks noGrp="1" noChangeAspect="1" noChangeArrowheads="1"/>
                      </p:cNvPicPr>
                      <p:nvPr/>
                    </p:nvPicPr>
                    <p:blipFill>
                      <a:blip r:embed="rId4"/>
                      <a:srcRect/>
                      <a:stretch>
                        <a:fillRect/>
                      </a:stretch>
                    </p:blipFill>
                    <p:spPr bwMode="auto">
                      <a:xfrm>
                        <a:off x="736599" y="2201861"/>
                        <a:ext cx="3397519" cy="998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5649" name="Rectangle 17"/>
          <p:cNvSpPr>
            <a:spLocks noChangeArrowheads="1"/>
          </p:cNvSpPr>
          <p:nvPr/>
        </p:nvSpPr>
        <p:spPr bwMode="auto">
          <a:xfrm>
            <a:off x="573088" y="3368675"/>
            <a:ext cx="5675312"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solidFill>
                  <a:schemeClr val="tx1"/>
                </a:solidFill>
              </a:rPr>
              <a:t>将</a:t>
            </a:r>
            <a:r>
              <a:rPr lang="en-US" altLang="zh-CN" sz="2000" i="1">
                <a:solidFill>
                  <a:schemeClr val="tx1"/>
                </a:solidFill>
              </a:rPr>
              <a:t>x</a:t>
            </a:r>
            <a:r>
              <a:rPr lang="en-US" altLang="zh-CN" sz="2000" baseline="-25000">
                <a:solidFill>
                  <a:schemeClr val="tx1"/>
                </a:solidFill>
              </a:rPr>
              <a:t>b</a:t>
            </a:r>
            <a:r>
              <a:rPr lang="zh-CN" altLang="en-US" sz="2000">
                <a:solidFill>
                  <a:schemeClr val="tx1"/>
                </a:solidFill>
              </a:rPr>
              <a:t>＝</a:t>
            </a:r>
            <a:r>
              <a:rPr lang="en-US" altLang="zh-CN" sz="2000">
                <a:solidFill>
                  <a:schemeClr val="tx1"/>
                </a:solidFill>
              </a:rPr>
              <a:t>0.8 </a:t>
            </a:r>
            <a:r>
              <a:rPr lang="en-US" altLang="zh-CN" sz="2000" i="1">
                <a:solidFill>
                  <a:schemeClr val="tx1"/>
                </a:solidFill>
              </a:rPr>
              <a:t>x</a:t>
            </a:r>
            <a:r>
              <a:rPr lang="en-US" altLang="zh-CN" sz="2000" baseline="-25000">
                <a:solidFill>
                  <a:schemeClr val="tx1"/>
                </a:solidFill>
              </a:rPr>
              <a:t>cb</a:t>
            </a:r>
            <a:r>
              <a:rPr lang="zh-CN" altLang="en-US" sz="2000">
                <a:solidFill>
                  <a:schemeClr val="tx1"/>
                </a:solidFill>
              </a:rPr>
              <a:t>代入上式，即得相对受压区高度为：</a:t>
            </a:r>
          </a:p>
        </p:txBody>
      </p:sp>
      <p:graphicFrame>
        <p:nvGraphicFramePr>
          <p:cNvPr id="325650" name="Object 18"/>
          <p:cNvGraphicFramePr>
            <a:graphicFrameLocks noChangeAspect="1"/>
          </p:cNvGraphicFramePr>
          <p:nvPr>
            <p:extLst>
              <p:ext uri="{D42A27DB-BD31-4B8C-83A1-F6EECF244321}">
                <p14:modId xmlns:p14="http://schemas.microsoft.com/office/powerpoint/2010/main" val="3385767228"/>
              </p:ext>
            </p:extLst>
          </p:nvPr>
        </p:nvGraphicFramePr>
        <p:xfrm>
          <a:off x="998538" y="4003675"/>
          <a:ext cx="1449387" cy="819150"/>
        </p:xfrm>
        <a:graphic>
          <a:graphicData uri="http://schemas.openxmlformats.org/presentationml/2006/ole">
            <mc:AlternateContent xmlns:mc="http://schemas.openxmlformats.org/markup-compatibility/2006">
              <mc:Choice xmlns:v="urn:schemas-microsoft-com:vml" Requires="v">
                <p:oleObj spid="_x0000_s325883" name="Equation" r:id="rId5" imgW="1130040" imgH="634680" progId="Equation.DSMT4">
                  <p:embed/>
                </p:oleObj>
              </mc:Choice>
              <mc:Fallback>
                <p:oleObj name="Equation" r:id="rId5" imgW="1130040" imgH="634680" progId="Equation.DSMT4">
                  <p:embed/>
                  <p:pic>
                    <p:nvPicPr>
                      <p:cNvPr id="0" name="Picture 145"/>
                      <p:cNvPicPr>
                        <a:picLocks noChangeAspect="1" noChangeArrowheads="1"/>
                      </p:cNvPicPr>
                      <p:nvPr/>
                    </p:nvPicPr>
                    <p:blipFill>
                      <a:blip r:embed="rId6"/>
                      <a:srcRect/>
                      <a:stretch>
                        <a:fillRect/>
                      </a:stretch>
                    </p:blipFill>
                    <p:spPr bwMode="auto">
                      <a:xfrm>
                        <a:off x="998538" y="4003675"/>
                        <a:ext cx="1449387"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5651" name="Rectangle 19"/>
          <p:cNvSpPr>
            <a:spLocks noChangeArrowheads="1"/>
          </p:cNvSpPr>
          <p:nvPr/>
        </p:nvSpPr>
        <p:spPr bwMode="auto">
          <a:xfrm>
            <a:off x="609600" y="5029200"/>
            <a:ext cx="8234363" cy="137160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dirty="0">
                <a:solidFill>
                  <a:schemeClr val="tx1"/>
                </a:solidFill>
              </a:rPr>
              <a:t>于是可得判别条件为：</a:t>
            </a:r>
          </a:p>
          <a:p>
            <a:pPr algn="l"/>
            <a:r>
              <a:rPr lang="zh-CN" altLang="en-US" sz="2000" dirty="0">
                <a:solidFill>
                  <a:srgbClr val="FF0000"/>
                </a:solidFill>
              </a:rPr>
              <a:t>大偏心受压构件</a:t>
            </a:r>
            <a:r>
              <a:rPr lang="el-GR" altLang="zh-CN" sz="2000" i="1" dirty="0">
                <a:solidFill>
                  <a:srgbClr val="FF0000"/>
                </a:solidFill>
              </a:rPr>
              <a:t>ξ</a:t>
            </a:r>
            <a:r>
              <a:rPr lang="en-US" altLang="zh-CN" sz="2000" dirty="0">
                <a:solidFill>
                  <a:srgbClr val="FF0000"/>
                </a:solidFill>
              </a:rPr>
              <a:t>≤</a:t>
            </a:r>
            <a:r>
              <a:rPr lang="el-GR" altLang="zh-CN" sz="2000" i="1" dirty="0">
                <a:solidFill>
                  <a:srgbClr val="FF0000"/>
                </a:solidFill>
              </a:rPr>
              <a:t>ξ</a:t>
            </a:r>
            <a:r>
              <a:rPr lang="en-US" altLang="zh-CN" sz="2000" baseline="-25000" dirty="0">
                <a:solidFill>
                  <a:srgbClr val="FF0000"/>
                </a:solidFill>
              </a:rPr>
              <a:t>b</a:t>
            </a:r>
            <a:r>
              <a:rPr lang="zh-CN" altLang="en-US" sz="2000" dirty="0">
                <a:solidFill>
                  <a:srgbClr val="FF0000"/>
                </a:solidFill>
              </a:rPr>
              <a:t>或</a:t>
            </a:r>
            <a:r>
              <a:rPr lang="en-US" altLang="zh-CN" sz="2000" i="1" dirty="0" err="1">
                <a:solidFill>
                  <a:srgbClr val="FF0000"/>
                </a:solidFill>
              </a:rPr>
              <a:t>x</a:t>
            </a:r>
            <a:r>
              <a:rPr lang="en-US" altLang="zh-CN" sz="2000" dirty="0" err="1">
                <a:solidFill>
                  <a:srgbClr val="FF0000"/>
                </a:solidFill>
              </a:rPr>
              <a:t>≤</a:t>
            </a:r>
            <a:r>
              <a:rPr lang="en-US" altLang="zh-CN" sz="2000" i="1" dirty="0" err="1">
                <a:solidFill>
                  <a:srgbClr val="FF0000"/>
                </a:solidFill>
              </a:rPr>
              <a:t>x</a:t>
            </a:r>
            <a:r>
              <a:rPr lang="en-US" altLang="zh-CN" sz="2000" baseline="-25000" dirty="0" err="1">
                <a:solidFill>
                  <a:srgbClr val="FF0000"/>
                </a:solidFill>
              </a:rPr>
              <a:t>b</a:t>
            </a:r>
            <a:r>
              <a:rPr lang="zh-CN" altLang="en-US" sz="2000" dirty="0">
                <a:solidFill>
                  <a:srgbClr val="FF0000"/>
                </a:solidFill>
              </a:rPr>
              <a:t>＝</a:t>
            </a:r>
            <a:r>
              <a:rPr lang="el-GR" altLang="zh-CN" sz="2000" i="1" dirty="0">
                <a:solidFill>
                  <a:srgbClr val="FF0000"/>
                </a:solidFill>
              </a:rPr>
              <a:t>ξ</a:t>
            </a:r>
            <a:r>
              <a:rPr lang="en-US" altLang="zh-CN" sz="2000" baseline="-25000" dirty="0">
                <a:solidFill>
                  <a:srgbClr val="FF0000"/>
                </a:solidFill>
              </a:rPr>
              <a:t>b</a:t>
            </a:r>
            <a:r>
              <a:rPr lang="en-US" altLang="zh-CN" sz="2000" i="1" dirty="0">
                <a:solidFill>
                  <a:srgbClr val="FF0000"/>
                </a:solidFill>
              </a:rPr>
              <a:t>h</a:t>
            </a:r>
            <a:r>
              <a:rPr lang="en-US" altLang="zh-CN" sz="2000" baseline="-25000" dirty="0">
                <a:solidFill>
                  <a:srgbClr val="FF0000"/>
                </a:solidFill>
              </a:rPr>
              <a:t>0</a:t>
            </a:r>
            <a:r>
              <a:rPr lang="zh-CN" altLang="en-US" sz="2000" dirty="0">
                <a:solidFill>
                  <a:srgbClr val="FF0000"/>
                </a:solidFill>
              </a:rPr>
              <a:t>；</a:t>
            </a:r>
          </a:p>
          <a:p>
            <a:pPr algn="l"/>
            <a:r>
              <a:rPr lang="zh-CN" altLang="en-US" sz="2000" dirty="0">
                <a:solidFill>
                  <a:srgbClr val="FF0000"/>
                </a:solidFill>
              </a:rPr>
              <a:t>小偏心受压构件</a:t>
            </a:r>
            <a:r>
              <a:rPr lang="el-GR" altLang="zh-CN" sz="2000" i="1" dirty="0">
                <a:solidFill>
                  <a:srgbClr val="FF0000"/>
                </a:solidFill>
              </a:rPr>
              <a:t>ξ</a:t>
            </a:r>
            <a:r>
              <a:rPr lang="en-US" altLang="zh-CN" sz="2000" dirty="0">
                <a:solidFill>
                  <a:srgbClr val="FF0000"/>
                </a:solidFill>
              </a:rPr>
              <a:t>&gt;</a:t>
            </a:r>
            <a:r>
              <a:rPr lang="el-GR" altLang="zh-CN" sz="2000" i="1" dirty="0">
                <a:solidFill>
                  <a:srgbClr val="FF0000"/>
                </a:solidFill>
              </a:rPr>
              <a:t>ξ</a:t>
            </a:r>
            <a:r>
              <a:rPr lang="en-US" altLang="zh-CN" sz="2000" baseline="-25000" dirty="0">
                <a:solidFill>
                  <a:srgbClr val="FF0000"/>
                </a:solidFill>
              </a:rPr>
              <a:t>b</a:t>
            </a:r>
            <a:r>
              <a:rPr lang="zh-CN" altLang="en-US" sz="2000" dirty="0">
                <a:solidFill>
                  <a:srgbClr val="FF0000"/>
                </a:solidFill>
              </a:rPr>
              <a:t>或</a:t>
            </a:r>
            <a:r>
              <a:rPr lang="en-US" altLang="zh-CN" sz="2000" i="1" dirty="0">
                <a:solidFill>
                  <a:srgbClr val="FF0000"/>
                </a:solidFill>
              </a:rPr>
              <a:t>x</a:t>
            </a:r>
            <a:r>
              <a:rPr lang="en-US" altLang="zh-CN" sz="2000" dirty="0">
                <a:solidFill>
                  <a:srgbClr val="FF0000"/>
                </a:solidFill>
              </a:rPr>
              <a:t>&gt;</a:t>
            </a:r>
            <a:r>
              <a:rPr lang="en-US" altLang="zh-CN" sz="2000" i="1" dirty="0" err="1">
                <a:solidFill>
                  <a:srgbClr val="FF0000"/>
                </a:solidFill>
              </a:rPr>
              <a:t>x</a:t>
            </a:r>
            <a:r>
              <a:rPr lang="en-US" altLang="zh-CN" sz="2000" baseline="-25000" dirty="0" err="1">
                <a:solidFill>
                  <a:srgbClr val="FF0000"/>
                </a:solidFill>
              </a:rPr>
              <a:t>b</a:t>
            </a:r>
            <a:r>
              <a:rPr lang="zh-CN" altLang="en-US" sz="2000" dirty="0">
                <a:solidFill>
                  <a:srgbClr val="FF0000"/>
                </a:solidFill>
              </a:rPr>
              <a:t>＝</a:t>
            </a:r>
            <a:r>
              <a:rPr lang="el-GR" altLang="zh-CN" sz="2000" i="1" dirty="0">
                <a:solidFill>
                  <a:srgbClr val="FF0000"/>
                </a:solidFill>
              </a:rPr>
              <a:t>ξ</a:t>
            </a:r>
            <a:r>
              <a:rPr lang="en-US" altLang="zh-CN" sz="2000" baseline="-25000" dirty="0">
                <a:solidFill>
                  <a:srgbClr val="FF0000"/>
                </a:solidFill>
              </a:rPr>
              <a:t>b</a:t>
            </a:r>
            <a:r>
              <a:rPr lang="en-US" altLang="zh-CN" sz="2000" i="1" dirty="0">
                <a:solidFill>
                  <a:srgbClr val="FF0000"/>
                </a:solidFill>
              </a:rPr>
              <a:t>h</a:t>
            </a:r>
            <a:r>
              <a:rPr lang="en-US" altLang="zh-CN" sz="2000" baseline="-25000" dirty="0">
                <a:solidFill>
                  <a:srgbClr val="FF0000"/>
                </a:solidFill>
              </a:rPr>
              <a:t>0</a:t>
            </a:r>
            <a:r>
              <a:rPr lang="zh-CN" altLang="en-US" sz="2000" dirty="0">
                <a:solidFill>
                  <a:srgbClr val="FF0000"/>
                </a:solidFill>
              </a:rPr>
              <a:t>；</a:t>
            </a:r>
          </a:p>
          <a:p>
            <a:pPr algn="l"/>
            <a:r>
              <a:rPr lang="zh-CN" altLang="en-US" sz="2000" dirty="0">
                <a:solidFill>
                  <a:schemeClr val="tx1"/>
                </a:solidFill>
              </a:rPr>
              <a:t>式中，</a:t>
            </a:r>
            <a:r>
              <a:rPr lang="en-US" altLang="zh-CN" sz="2000" i="1" dirty="0">
                <a:solidFill>
                  <a:schemeClr val="tx1"/>
                </a:solidFill>
              </a:rPr>
              <a:t>x</a:t>
            </a:r>
            <a:r>
              <a:rPr lang="zh-CN" altLang="en-US" sz="2000" dirty="0">
                <a:solidFill>
                  <a:schemeClr val="tx1"/>
                </a:solidFill>
              </a:rPr>
              <a:t>和</a:t>
            </a:r>
            <a:r>
              <a:rPr lang="el-GR" altLang="zh-CN" sz="2000" i="1" dirty="0">
                <a:solidFill>
                  <a:schemeClr val="tx1"/>
                </a:solidFill>
              </a:rPr>
              <a:t>ξ</a:t>
            </a:r>
            <a:r>
              <a:rPr lang="zh-CN" altLang="en-US" sz="2000" dirty="0">
                <a:solidFill>
                  <a:schemeClr val="tx1"/>
                </a:solidFill>
              </a:rPr>
              <a:t>分别为偏心受压构件矩形截面受压区高度和相对受压区高度</a:t>
            </a:r>
          </a:p>
        </p:txBody>
      </p:sp>
      <p:pic>
        <p:nvPicPr>
          <p:cNvPr id="8" name="Picture 12" descr="gj0715"/>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l="15215" r="13715"/>
          <a:stretch>
            <a:fillRect/>
          </a:stretch>
        </p:blipFill>
        <p:spPr bwMode="auto">
          <a:xfrm>
            <a:off x="5264573" y="1928802"/>
            <a:ext cx="3879427" cy="2143140"/>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直接连接符 9"/>
          <p:cNvCxnSpPr/>
          <p:nvPr/>
        </p:nvCxnSpPr>
        <p:spPr bwMode="auto">
          <a:xfrm rot="10800000">
            <a:off x="6858016" y="2643182"/>
            <a:ext cx="1714512" cy="1143008"/>
          </a:xfrm>
          <a:prstGeom prst="line">
            <a:avLst/>
          </a:prstGeom>
          <a:solidFill>
            <a:srgbClr val="FF00FF"/>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6658"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26659" name="Rectangle 3"/>
          <p:cNvSpPr>
            <a:spLocks noChangeArrowheads="1"/>
          </p:cNvSpPr>
          <p:nvPr/>
        </p:nvSpPr>
        <p:spPr bwMode="auto">
          <a:xfrm>
            <a:off x="611188" y="1066800"/>
            <a:ext cx="5637212" cy="5546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dirty="0">
                <a:solidFill>
                  <a:srgbClr val="A50021"/>
                </a:solidFill>
                <a:latin typeface="华文中宋" pitchFamily="2" charset="-122"/>
                <a:ea typeface="华文中宋" pitchFamily="2" charset="-122"/>
              </a:rPr>
              <a:t>三</a:t>
            </a:r>
            <a:r>
              <a:rPr lang="en-US" altLang="zh-CN" sz="2800" dirty="0">
                <a:solidFill>
                  <a:srgbClr val="A50021"/>
                </a:solidFill>
                <a:latin typeface="华文中宋" pitchFamily="2" charset="-122"/>
                <a:ea typeface="华文中宋" pitchFamily="2" charset="-122"/>
              </a:rPr>
              <a:t>.</a:t>
            </a:r>
            <a:r>
              <a:rPr lang="zh-CN" altLang="en-US" sz="2800" dirty="0">
                <a:solidFill>
                  <a:srgbClr val="A50021"/>
                </a:solidFill>
                <a:latin typeface="华文中宋" pitchFamily="2" charset="-122"/>
                <a:ea typeface="华文中宋" pitchFamily="2" charset="-122"/>
              </a:rPr>
              <a:t>偏心距与弯矩</a:t>
            </a:r>
          </a:p>
          <a:p>
            <a:pPr algn="l">
              <a:lnSpc>
                <a:spcPct val="120000"/>
              </a:lnSpc>
              <a:buClrTx/>
              <a:buFontTx/>
              <a:buNone/>
            </a:pPr>
            <a:r>
              <a:rPr lang="zh-CN" altLang="en-US" sz="2000" dirty="0"/>
              <a:t>为设计安全可靠起见，引入一些参数</a:t>
            </a:r>
          </a:p>
          <a:p>
            <a:pPr algn="l">
              <a:lnSpc>
                <a:spcPct val="120000"/>
              </a:lnSpc>
              <a:spcBef>
                <a:spcPct val="0"/>
              </a:spcBef>
              <a:buClrTx/>
              <a:buFontTx/>
              <a:buNone/>
            </a:pPr>
            <a:r>
              <a:rPr lang="en-US" altLang="zh-CN" dirty="0">
                <a:solidFill>
                  <a:srgbClr val="990099"/>
                </a:solidFill>
              </a:rPr>
              <a:t>1.</a:t>
            </a:r>
            <a:r>
              <a:rPr lang="zh-CN" altLang="en-US" dirty="0">
                <a:solidFill>
                  <a:srgbClr val="990099"/>
                </a:solidFill>
              </a:rPr>
              <a:t>初始偏心矩</a:t>
            </a:r>
            <a:r>
              <a:rPr lang="en-US" altLang="zh-CN" i="1" dirty="0" err="1">
                <a:solidFill>
                  <a:srgbClr val="990099"/>
                </a:solidFill>
              </a:rPr>
              <a:t>e</a:t>
            </a:r>
            <a:r>
              <a:rPr lang="en-US" altLang="zh-CN" baseline="-25000" dirty="0" err="1">
                <a:solidFill>
                  <a:srgbClr val="990099"/>
                </a:solidFill>
              </a:rPr>
              <a:t>i</a:t>
            </a:r>
            <a:endParaRPr lang="en-US" altLang="zh-CN" baseline="-25000" dirty="0">
              <a:solidFill>
                <a:srgbClr val="990099"/>
              </a:solidFill>
            </a:endParaRPr>
          </a:p>
          <a:p>
            <a:pPr algn="l">
              <a:lnSpc>
                <a:spcPct val="120000"/>
              </a:lnSpc>
              <a:buClr>
                <a:srgbClr val="FF0000"/>
              </a:buClr>
              <a:buFont typeface="Wingdings" pitchFamily="2" charset="2"/>
              <a:buChar char="ü"/>
            </a:pPr>
            <a:r>
              <a:rPr lang="zh-CN" altLang="en-US" sz="2000" dirty="0">
                <a:solidFill>
                  <a:schemeClr val="tx1"/>
                </a:solidFill>
              </a:rPr>
              <a:t>荷载偏心矩</a:t>
            </a:r>
            <a:r>
              <a:rPr lang="en-US" altLang="zh-CN" sz="2000" i="1" dirty="0">
                <a:solidFill>
                  <a:schemeClr val="tx1"/>
                </a:solidFill>
              </a:rPr>
              <a:t>e</a:t>
            </a:r>
            <a:r>
              <a:rPr lang="en-US" altLang="zh-CN" sz="2000" baseline="-25000" dirty="0">
                <a:solidFill>
                  <a:schemeClr val="tx1"/>
                </a:solidFill>
              </a:rPr>
              <a:t>0</a:t>
            </a:r>
            <a:r>
              <a:rPr lang="zh-CN" altLang="en-US" sz="2000" dirty="0">
                <a:solidFill>
                  <a:schemeClr val="tx1"/>
                </a:solidFill>
              </a:rPr>
              <a:t>＝</a:t>
            </a:r>
            <a:r>
              <a:rPr lang="en-US" altLang="zh-CN" sz="2000" i="1" dirty="0">
                <a:solidFill>
                  <a:schemeClr val="tx1"/>
                </a:solidFill>
              </a:rPr>
              <a:t>M</a:t>
            </a:r>
            <a:r>
              <a:rPr lang="en-US" altLang="zh-CN" sz="2000" dirty="0">
                <a:solidFill>
                  <a:schemeClr val="tx1"/>
                </a:solidFill>
              </a:rPr>
              <a:t>/</a:t>
            </a:r>
            <a:r>
              <a:rPr lang="en-US" altLang="zh-CN" sz="2000" i="1" dirty="0">
                <a:solidFill>
                  <a:schemeClr val="tx1"/>
                </a:solidFill>
              </a:rPr>
              <a:t>N</a:t>
            </a:r>
          </a:p>
          <a:p>
            <a:pPr algn="l">
              <a:lnSpc>
                <a:spcPct val="120000"/>
              </a:lnSpc>
              <a:buClr>
                <a:srgbClr val="FF0000"/>
              </a:buClr>
              <a:buFont typeface="Wingdings" pitchFamily="2" charset="2"/>
              <a:buChar char="ü"/>
            </a:pPr>
            <a:r>
              <a:rPr lang="zh-CN" altLang="en-US" sz="2000" dirty="0">
                <a:solidFill>
                  <a:schemeClr val="tx1"/>
                </a:solidFill>
              </a:rPr>
              <a:t>附加偏心矩</a:t>
            </a:r>
            <a:r>
              <a:rPr lang="en-US" altLang="zh-CN" sz="2000" i="1" dirty="0">
                <a:solidFill>
                  <a:schemeClr val="tx1"/>
                </a:solidFill>
              </a:rPr>
              <a:t>e</a:t>
            </a:r>
            <a:r>
              <a:rPr lang="en-US" altLang="zh-CN" sz="2000" baseline="-25000" dirty="0">
                <a:solidFill>
                  <a:schemeClr val="tx1"/>
                </a:solidFill>
              </a:rPr>
              <a:t>a</a:t>
            </a:r>
            <a:r>
              <a:rPr lang="zh-CN" altLang="en-US" sz="2000" dirty="0">
                <a:solidFill>
                  <a:schemeClr val="tx1"/>
                </a:solidFill>
              </a:rPr>
              <a:t>取</a:t>
            </a:r>
            <a:r>
              <a:rPr lang="en-US" altLang="zh-CN" sz="2000" dirty="0">
                <a:solidFill>
                  <a:schemeClr val="tx1"/>
                </a:solidFill>
              </a:rPr>
              <a:t>20mm</a:t>
            </a:r>
            <a:r>
              <a:rPr lang="zh-CN" altLang="en-US" sz="2000" dirty="0">
                <a:solidFill>
                  <a:schemeClr val="tx1"/>
                </a:solidFill>
              </a:rPr>
              <a:t>和偏心方向截面最大尺寸的</a:t>
            </a:r>
            <a:r>
              <a:rPr lang="en-US" altLang="zh-CN" sz="2000" dirty="0">
                <a:solidFill>
                  <a:schemeClr val="tx1"/>
                </a:solidFill>
              </a:rPr>
              <a:t>1/30</a:t>
            </a:r>
            <a:r>
              <a:rPr lang="zh-CN" altLang="en-US" sz="2000" dirty="0">
                <a:solidFill>
                  <a:schemeClr val="tx1"/>
                </a:solidFill>
              </a:rPr>
              <a:t>两种的较大者</a:t>
            </a:r>
          </a:p>
          <a:p>
            <a:pPr algn="l">
              <a:lnSpc>
                <a:spcPct val="120000"/>
              </a:lnSpc>
              <a:buClr>
                <a:srgbClr val="FF0000"/>
              </a:buClr>
              <a:buFont typeface="Wingdings" pitchFamily="2" charset="2"/>
              <a:buChar char="ü"/>
            </a:pPr>
            <a:r>
              <a:rPr lang="zh-CN" altLang="en-US" sz="2000" dirty="0">
                <a:solidFill>
                  <a:schemeClr val="tx1"/>
                </a:solidFill>
              </a:rPr>
              <a:t>初始偏心矩</a:t>
            </a:r>
            <a:r>
              <a:rPr lang="en-US" altLang="zh-CN" sz="2000" i="1" dirty="0" err="1">
                <a:solidFill>
                  <a:schemeClr val="tx1"/>
                </a:solidFill>
              </a:rPr>
              <a:t>e</a:t>
            </a:r>
            <a:r>
              <a:rPr lang="en-US" altLang="zh-CN" sz="2000" baseline="-25000" dirty="0" err="1">
                <a:solidFill>
                  <a:schemeClr val="tx1"/>
                </a:solidFill>
              </a:rPr>
              <a:t>i</a:t>
            </a:r>
            <a:r>
              <a:rPr lang="zh-CN" altLang="en-US" sz="2000" dirty="0">
                <a:solidFill>
                  <a:schemeClr val="tx1"/>
                </a:solidFill>
              </a:rPr>
              <a:t>＝</a:t>
            </a:r>
            <a:r>
              <a:rPr lang="en-US" altLang="zh-CN" sz="2000" i="1" dirty="0">
                <a:solidFill>
                  <a:schemeClr val="tx1"/>
                </a:solidFill>
              </a:rPr>
              <a:t>e</a:t>
            </a:r>
            <a:r>
              <a:rPr lang="en-US" altLang="zh-CN" sz="2000" baseline="-25000" dirty="0">
                <a:solidFill>
                  <a:schemeClr val="tx1"/>
                </a:solidFill>
              </a:rPr>
              <a:t>0</a:t>
            </a:r>
            <a:r>
              <a:rPr lang="zh-CN" altLang="en-US" sz="2000" dirty="0">
                <a:solidFill>
                  <a:schemeClr val="tx1"/>
                </a:solidFill>
              </a:rPr>
              <a:t>＋</a:t>
            </a:r>
            <a:r>
              <a:rPr lang="en-US" altLang="zh-CN" sz="2000" i="1" dirty="0">
                <a:solidFill>
                  <a:schemeClr val="tx1"/>
                </a:solidFill>
              </a:rPr>
              <a:t>e</a:t>
            </a:r>
            <a:r>
              <a:rPr lang="en-US" altLang="zh-CN" sz="2000" baseline="-25000" dirty="0">
                <a:solidFill>
                  <a:schemeClr val="tx1"/>
                </a:solidFill>
              </a:rPr>
              <a:t>a</a:t>
            </a:r>
          </a:p>
          <a:p>
            <a:pPr algn="l">
              <a:lnSpc>
                <a:spcPct val="120000"/>
              </a:lnSpc>
              <a:buClrTx/>
              <a:buFontTx/>
              <a:buNone/>
            </a:pPr>
            <a:r>
              <a:rPr lang="en-US" altLang="zh-CN" dirty="0">
                <a:solidFill>
                  <a:srgbClr val="990099"/>
                </a:solidFill>
              </a:rPr>
              <a:t>2.</a:t>
            </a:r>
            <a:r>
              <a:rPr lang="zh-CN" altLang="en-US" dirty="0">
                <a:solidFill>
                  <a:srgbClr val="990099"/>
                </a:solidFill>
              </a:rPr>
              <a:t>一阶弯矩与附加弯矩</a:t>
            </a:r>
            <a:endParaRPr lang="el-GR" altLang="zh-CN" i="1" dirty="0">
              <a:solidFill>
                <a:srgbClr val="990099"/>
              </a:solidFill>
            </a:endParaRPr>
          </a:p>
          <a:p>
            <a:pPr algn="l">
              <a:lnSpc>
                <a:spcPct val="120000"/>
              </a:lnSpc>
              <a:buClrTx/>
              <a:buFontTx/>
              <a:buNone/>
            </a:pPr>
            <a:r>
              <a:rPr lang="zh-CN" altLang="en-US" sz="2000" dirty="0">
                <a:solidFill>
                  <a:schemeClr val="tx1"/>
                </a:solidFill>
              </a:rPr>
              <a:t>偏心受压构件在偏心轴心压力作用下，将产生侧向挠度</a:t>
            </a:r>
            <a:r>
              <a:rPr lang="en-US" altLang="zh-CN" sz="2000" i="1" dirty="0">
                <a:solidFill>
                  <a:schemeClr val="tx1"/>
                </a:solidFill>
              </a:rPr>
              <a:t>f</a:t>
            </a:r>
            <a:r>
              <a:rPr lang="zh-CN" altLang="en-US" sz="2000" dirty="0">
                <a:solidFill>
                  <a:schemeClr val="tx1"/>
                </a:solidFill>
              </a:rPr>
              <a:t>，偏心矩将由初始偏心矩</a:t>
            </a:r>
            <a:r>
              <a:rPr lang="en-US" altLang="zh-CN" sz="2000" i="1" dirty="0" err="1">
                <a:solidFill>
                  <a:schemeClr val="tx1"/>
                </a:solidFill>
              </a:rPr>
              <a:t>e</a:t>
            </a:r>
            <a:r>
              <a:rPr lang="en-US" altLang="zh-CN" sz="2000" baseline="-25000" dirty="0" err="1">
                <a:solidFill>
                  <a:schemeClr val="tx1"/>
                </a:solidFill>
              </a:rPr>
              <a:t>i</a:t>
            </a:r>
            <a:r>
              <a:rPr lang="zh-CN" altLang="en-US" sz="2000" dirty="0">
                <a:solidFill>
                  <a:schemeClr val="tx1"/>
                </a:solidFill>
              </a:rPr>
              <a:t>增大至</a:t>
            </a:r>
            <a:r>
              <a:rPr lang="en-US" altLang="zh-CN" sz="2000" i="1" dirty="0" err="1">
                <a:solidFill>
                  <a:schemeClr val="tx1"/>
                </a:solidFill>
              </a:rPr>
              <a:t>e</a:t>
            </a:r>
            <a:r>
              <a:rPr lang="en-US" altLang="zh-CN" sz="2000" baseline="-25000" dirty="0" err="1">
                <a:solidFill>
                  <a:schemeClr val="tx1"/>
                </a:solidFill>
              </a:rPr>
              <a:t>i</a:t>
            </a:r>
            <a:r>
              <a:rPr lang="en-US" altLang="zh-CN" sz="2000" dirty="0">
                <a:solidFill>
                  <a:schemeClr val="tx1"/>
                </a:solidFill>
              </a:rPr>
              <a:t> +</a:t>
            </a:r>
            <a:r>
              <a:rPr lang="en-US" altLang="zh-CN" sz="2000" i="1" dirty="0">
                <a:solidFill>
                  <a:schemeClr val="tx1"/>
                </a:solidFill>
              </a:rPr>
              <a:t>f</a:t>
            </a:r>
            <a:r>
              <a:rPr lang="zh-CN" altLang="en-US" sz="2000" dirty="0">
                <a:solidFill>
                  <a:schemeClr val="tx1"/>
                </a:solidFill>
              </a:rPr>
              <a:t>，截面上的弯矩也相应从</a:t>
            </a:r>
            <a:r>
              <a:rPr lang="en-US" altLang="zh-CN" sz="2000" i="1" dirty="0" err="1">
                <a:solidFill>
                  <a:schemeClr val="tx1"/>
                </a:solidFill>
              </a:rPr>
              <a:t>Ne</a:t>
            </a:r>
            <a:r>
              <a:rPr lang="en-US" altLang="zh-CN" sz="2000" baseline="-25000" dirty="0" err="1">
                <a:solidFill>
                  <a:schemeClr val="tx1"/>
                </a:solidFill>
              </a:rPr>
              <a:t>i</a:t>
            </a:r>
            <a:r>
              <a:rPr lang="zh-CN" altLang="en-US" sz="2000" dirty="0">
                <a:solidFill>
                  <a:schemeClr val="tx1"/>
                </a:solidFill>
              </a:rPr>
              <a:t>增大至</a:t>
            </a:r>
            <a:r>
              <a:rPr lang="en-US" altLang="zh-CN" sz="2000" i="1" dirty="0">
                <a:solidFill>
                  <a:schemeClr val="tx1"/>
                </a:solidFill>
              </a:rPr>
              <a:t>N</a:t>
            </a:r>
            <a:r>
              <a:rPr lang="en-US" altLang="zh-CN" sz="2000" dirty="0">
                <a:solidFill>
                  <a:schemeClr val="tx1"/>
                </a:solidFill>
              </a:rPr>
              <a:t>(</a:t>
            </a:r>
            <a:r>
              <a:rPr lang="en-US" altLang="zh-CN" sz="2000" i="1" dirty="0" err="1">
                <a:solidFill>
                  <a:schemeClr val="tx1"/>
                </a:solidFill>
              </a:rPr>
              <a:t>e</a:t>
            </a:r>
            <a:r>
              <a:rPr lang="en-US" altLang="zh-CN" sz="2000" baseline="-25000" dirty="0" err="1">
                <a:solidFill>
                  <a:schemeClr val="tx1"/>
                </a:solidFill>
              </a:rPr>
              <a:t>i</a:t>
            </a:r>
            <a:r>
              <a:rPr lang="en-US" altLang="zh-CN" sz="2000" dirty="0" err="1">
                <a:solidFill>
                  <a:schemeClr val="tx1"/>
                </a:solidFill>
              </a:rPr>
              <a:t>+</a:t>
            </a:r>
            <a:r>
              <a:rPr lang="en-US" altLang="zh-CN" sz="2000" i="1" dirty="0" err="1">
                <a:solidFill>
                  <a:schemeClr val="tx1"/>
                </a:solidFill>
              </a:rPr>
              <a:t>f</a:t>
            </a:r>
            <a:r>
              <a:rPr lang="en-US" altLang="zh-CN" sz="2000" dirty="0">
                <a:solidFill>
                  <a:schemeClr val="tx1"/>
                </a:solidFill>
              </a:rPr>
              <a:t>) </a:t>
            </a:r>
          </a:p>
          <a:p>
            <a:pPr algn="l">
              <a:lnSpc>
                <a:spcPct val="120000"/>
              </a:lnSpc>
              <a:buClrTx/>
              <a:buFontTx/>
              <a:buNone/>
            </a:pPr>
            <a:r>
              <a:rPr lang="zh-CN" altLang="en-US" sz="2000" dirty="0">
                <a:solidFill>
                  <a:schemeClr val="tx1"/>
                </a:solidFill>
              </a:rPr>
              <a:t>长细比较大的受压构件，其侧向挠度引起的二阶弯矩在计算时应考虑其作用 </a:t>
            </a:r>
          </a:p>
        </p:txBody>
      </p:sp>
      <p:pic>
        <p:nvPicPr>
          <p:cNvPr id="326674" name="Picture 18" descr="gj0717"/>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1232" r="14566"/>
          <a:stretch>
            <a:fillRect/>
          </a:stretch>
        </p:blipFill>
        <p:spPr bwMode="auto">
          <a:xfrm>
            <a:off x="6321425" y="1585913"/>
            <a:ext cx="2289175" cy="3736975"/>
          </a:xfrm>
          <a:prstGeom prst="rect">
            <a:avLst/>
          </a:prstGeom>
          <a:noFill/>
          <a:extLst>
            <a:ext uri="{909E8E84-426E-40DD-AFC4-6F175D3DCCD1}">
              <a14:hiddenFill xmlns:a14="http://schemas.microsoft.com/office/drawing/2010/main">
                <a:solidFill>
                  <a:srgbClr val="FFFFFF"/>
                </a:solidFill>
              </a14:hiddenFill>
            </a:ext>
          </a:extLst>
        </p:spPr>
      </p:pic>
      <p:sp>
        <p:nvSpPr>
          <p:cNvPr id="326675" name="Line 19"/>
          <p:cNvSpPr>
            <a:spLocks noChangeShapeType="1"/>
          </p:cNvSpPr>
          <p:nvPr/>
        </p:nvSpPr>
        <p:spPr bwMode="auto">
          <a:xfrm>
            <a:off x="6648450" y="1900238"/>
            <a:ext cx="209550"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6676" name="Line 20"/>
          <p:cNvSpPr>
            <a:spLocks noChangeShapeType="1"/>
          </p:cNvSpPr>
          <p:nvPr/>
        </p:nvSpPr>
        <p:spPr bwMode="auto">
          <a:xfrm flipH="1">
            <a:off x="6619875" y="1862138"/>
            <a:ext cx="76200" cy="76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6677" name="Line 21"/>
          <p:cNvSpPr>
            <a:spLocks noChangeShapeType="1"/>
          </p:cNvSpPr>
          <p:nvPr/>
        </p:nvSpPr>
        <p:spPr bwMode="auto">
          <a:xfrm flipH="1">
            <a:off x="6810375" y="1857375"/>
            <a:ext cx="76200" cy="76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6678" name="Line 22"/>
          <p:cNvSpPr>
            <a:spLocks noChangeShapeType="1"/>
          </p:cNvSpPr>
          <p:nvPr/>
        </p:nvSpPr>
        <p:spPr bwMode="auto">
          <a:xfrm flipV="1">
            <a:off x="7858125" y="3476625"/>
            <a:ext cx="276225"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6679" name="Line 23"/>
          <p:cNvSpPr>
            <a:spLocks noChangeShapeType="1"/>
          </p:cNvSpPr>
          <p:nvPr/>
        </p:nvSpPr>
        <p:spPr bwMode="auto">
          <a:xfrm flipH="1">
            <a:off x="7829550" y="3438525"/>
            <a:ext cx="76200" cy="76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6680" name="Line 24"/>
          <p:cNvSpPr>
            <a:spLocks noChangeShapeType="1"/>
          </p:cNvSpPr>
          <p:nvPr/>
        </p:nvSpPr>
        <p:spPr bwMode="auto">
          <a:xfrm flipH="1">
            <a:off x="8086725" y="3433763"/>
            <a:ext cx="76200" cy="76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6681" name="Line 25"/>
          <p:cNvSpPr>
            <a:spLocks noChangeShapeType="1"/>
          </p:cNvSpPr>
          <p:nvPr/>
        </p:nvSpPr>
        <p:spPr bwMode="auto">
          <a:xfrm flipV="1">
            <a:off x="7629525" y="3476625"/>
            <a:ext cx="276225"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6682" name="Line 26"/>
          <p:cNvSpPr>
            <a:spLocks noChangeShapeType="1"/>
          </p:cNvSpPr>
          <p:nvPr/>
        </p:nvSpPr>
        <p:spPr bwMode="auto">
          <a:xfrm flipH="1">
            <a:off x="7620000" y="3443288"/>
            <a:ext cx="76200" cy="76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6683" name="Rectangle 27"/>
          <p:cNvSpPr>
            <a:spLocks noChangeArrowheads="1"/>
          </p:cNvSpPr>
          <p:nvPr/>
        </p:nvSpPr>
        <p:spPr bwMode="auto">
          <a:xfrm>
            <a:off x="7810500" y="3429000"/>
            <a:ext cx="342900"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rgbClr val="FF3300"/>
                </a:solidFill>
              </a:rPr>
              <a:t>e</a:t>
            </a:r>
            <a:r>
              <a:rPr lang="en-US" altLang="zh-CN" sz="2000" baseline="-25000">
                <a:solidFill>
                  <a:srgbClr val="FF3300"/>
                </a:solidFill>
              </a:rPr>
              <a:t>i</a:t>
            </a:r>
          </a:p>
        </p:txBody>
      </p:sp>
      <p:sp>
        <p:nvSpPr>
          <p:cNvPr id="326684" name="Rectangle 28"/>
          <p:cNvSpPr>
            <a:spLocks noChangeArrowheads="1"/>
          </p:cNvSpPr>
          <p:nvPr/>
        </p:nvSpPr>
        <p:spPr bwMode="auto">
          <a:xfrm>
            <a:off x="7580313" y="3490913"/>
            <a:ext cx="268287" cy="36671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rgbClr val="FF3300"/>
                </a:solidFill>
              </a:rPr>
              <a:t>f</a:t>
            </a:r>
            <a:endParaRPr lang="en-US" altLang="zh-CN" sz="2000" baseline="-25000">
              <a:solidFill>
                <a:srgbClr val="FF3300"/>
              </a:solidFill>
            </a:endParaRPr>
          </a:p>
        </p:txBody>
      </p:sp>
      <p:sp>
        <p:nvSpPr>
          <p:cNvPr id="326685" name="Rectangle 29"/>
          <p:cNvSpPr>
            <a:spLocks noChangeArrowheads="1"/>
          </p:cNvSpPr>
          <p:nvPr/>
        </p:nvSpPr>
        <p:spPr bwMode="auto">
          <a:xfrm>
            <a:off x="6553200" y="1524000"/>
            <a:ext cx="342900"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rgbClr val="FF3300"/>
                </a:solidFill>
              </a:rPr>
              <a:t>e</a:t>
            </a:r>
            <a:r>
              <a:rPr lang="en-US" altLang="zh-CN" sz="2000" baseline="-25000">
                <a:solidFill>
                  <a:srgbClr val="FF3300"/>
                </a:solidFill>
              </a:rPr>
              <a:t>i</a:t>
            </a:r>
          </a:p>
        </p:txBody>
      </p:sp>
      <p:sp>
        <p:nvSpPr>
          <p:cNvPr id="326686" name="Rectangle 30"/>
          <p:cNvSpPr>
            <a:spLocks noChangeArrowheads="1"/>
          </p:cNvSpPr>
          <p:nvPr/>
        </p:nvSpPr>
        <p:spPr bwMode="auto">
          <a:xfrm>
            <a:off x="6162675" y="5294313"/>
            <a:ext cx="1152525" cy="36671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chemeClr val="tx2"/>
                </a:solidFill>
              </a:rPr>
              <a:t>M</a:t>
            </a:r>
            <a:r>
              <a:rPr lang="en-US" altLang="zh-CN" sz="2000">
                <a:solidFill>
                  <a:schemeClr val="tx2"/>
                </a:solidFill>
              </a:rPr>
              <a:t>=</a:t>
            </a:r>
            <a:r>
              <a:rPr lang="en-US" altLang="zh-CN" sz="2000" i="1">
                <a:solidFill>
                  <a:schemeClr val="tx2"/>
                </a:solidFill>
              </a:rPr>
              <a:t>N</a:t>
            </a:r>
            <a:r>
              <a:rPr lang="en-US" altLang="zh-CN" sz="2000">
                <a:solidFill>
                  <a:schemeClr val="tx2"/>
                </a:solidFill>
              </a:rPr>
              <a:t>﹒</a:t>
            </a:r>
            <a:r>
              <a:rPr lang="en-US" altLang="zh-CN" sz="2000" i="1">
                <a:solidFill>
                  <a:schemeClr val="tx2"/>
                </a:solidFill>
              </a:rPr>
              <a:t>e</a:t>
            </a:r>
            <a:r>
              <a:rPr lang="en-US" altLang="zh-CN" sz="2000" baseline="-25000">
                <a:solidFill>
                  <a:schemeClr val="tx2"/>
                </a:solidFill>
              </a:rPr>
              <a:t>i</a:t>
            </a:r>
          </a:p>
        </p:txBody>
      </p:sp>
      <p:sp>
        <p:nvSpPr>
          <p:cNvPr id="326687" name="Rectangle 31"/>
          <p:cNvSpPr>
            <a:spLocks noChangeArrowheads="1"/>
          </p:cNvSpPr>
          <p:nvPr/>
        </p:nvSpPr>
        <p:spPr bwMode="auto">
          <a:xfrm>
            <a:off x="7353300" y="5294313"/>
            <a:ext cx="1604963" cy="36671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rgbClr val="FF3300"/>
                </a:solidFill>
              </a:rPr>
              <a:t>M</a:t>
            </a:r>
            <a:r>
              <a:rPr lang="en-US" altLang="zh-CN" sz="2000" baseline="30000">
                <a:solidFill>
                  <a:srgbClr val="FF3300"/>
                </a:solidFill>
              </a:rPr>
              <a:t>’</a:t>
            </a:r>
            <a:r>
              <a:rPr lang="en-US" altLang="zh-CN" sz="2000">
                <a:solidFill>
                  <a:srgbClr val="FF3300"/>
                </a:solidFill>
              </a:rPr>
              <a:t>=</a:t>
            </a:r>
            <a:r>
              <a:rPr lang="en-US" altLang="zh-CN" sz="2000" i="1">
                <a:solidFill>
                  <a:srgbClr val="FF3300"/>
                </a:solidFill>
              </a:rPr>
              <a:t>N</a:t>
            </a:r>
            <a:r>
              <a:rPr lang="en-US" altLang="zh-CN" sz="2000">
                <a:solidFill>
                  <a:srgbClr val="FF3300"/>
                </a:solidFill>
              </a:rPr>
              <a:t>﹒(</a:t>
            </a:r>
            <a:r>
              <a:rPr lang="en-US" altLang="zh-CN" sz="2000" i="1">
                <a:solidFill>
                  <a:srgbClr val="FF3300"/>
                </a:solidFill>
              </a:rPr>
              <a:t>e</a:t>
            </a:r>
            <a:r>
              <a:rPr lang="en-US" altLang="zh-CN" sz="2000" baseline="-25000">
                <a:solidFill>
                  <a:srgbClr val="FF3300"/>
                </a:solidFill>
              </a:rPr>
              <a:t>i</a:t>
            </a:r>
            <a:r>
              <a:rPr lang="en-US" altLang="zh-CN" sz="2000">
                <a:solidFill>
                  <a:srgbClr val="FF3300"/>
                </a:solidFill>
              </a:rPr>
              <a:t>+</a:t>
            </a:r>
            <a:r>
              <a:rPr lang="en-US" altLang="zh-CN" sz="2000" i="1">
                <a:solidFill>
                  <a:srgbClr val="FF3300"/>
                </a:solidFill>
              </a:rPr>
              <a:t>f</a:t>
            </a:r>
            <a:r>
              <a:rPr lang="en-US" altLang="zh-CN" sz="2000">
                <a:solidFill>
                  <a:srgbClr val="FF3300"/>
                </a:solidFill>
              </a:rPr>
              <a: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6659">
                                            <p:txEl>
                                              <p:pRg st="6" end="6"/>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326659">
                                            <p:txEl>
                                              <p:pRg st="7" end="7"/>
                                            </p:txEl>
                                          </p:spTgt>
                                        </p:tgtEl>
                                        <p:attrNameLst>
                                          <p:attrName>style.visibility</p:attrName>
                                        </p:attrNameLst>
                                      </p:cBhvr>
                                      <p:to>
                                        <p:strVal val="visible"/>
                                      </p:to>
                                    </p:set>
                                    <p:animEffect transition="in" filter="blinds(horizontal)">
                                      <p:cBhvr>
                                        <p:cTn id="11" dur="500"/>
                                        <p:tgtEl>
                                          <p:spTgt spid="326659">
                                            <p:txEl>
                                              <p:pRg st="7" end="7"/>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326675"/>
                                        </p:tgtEl>
                                        <p:attrNameLst>
                                          <p:attrName>style.visibility</p:attrName>
                                        </p:attrNameLst>
                                      </p:cBhvr>
                                      <p:to>
                                        <p:strVal val="visible"/>
                                      </p:to>
                                    </p:set>
                                    <p:animEffect transition="in" filter="wipe(down)">
                                      <p:cBhvr>
                                        <p:cTn id="16" dur="500"/>
                                        <p:tgtEl>
                                          <p:spTgt spid="32667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6676"/>
                                        </p:tgtEl>
                                        <p:attrNameLst>
                                          <p:attrName>style.visibility</p:attrName>
                                        </p:attrNameLst>
                                      </p:cBhvr>
                                      <p:to>
                                        <p:strVal val="visible"/>
                                      </p:to>
                                    </p:set>
                                    <p:animEffect transition="in" filter="wipe(down)">
                                      <p:cBhvr>
                                        <p:cTn id="19" dur="500"/>
                                        <p:tgtEl>
                                          <p:spTgt spid="326676"/>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26677"/>
                                        </p:tgtEl>
                                        <p:attrNameLst>
                                          <p:attrName>style.visibility</p:attrName>
                                        </p:attrNameLst>
                                      </p:cBhvr>
                                      <p:to>
                                        <p:strVal val="visible"/>
                                      </p:to>
                                    </p:set>
                                    <p:animEffect transition="in" filter="wipe(down)">
                                      <p:cBhvr>
                                        <p:cTn id="22" dur="500"/>
                                        <p:tgtEl>
                                          <p:spTgt spid="326677"/>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26685"/>
                                        </p:tgtEl>
                                        <p:attrNameLst>
                                          <p:attrName>style.visibility</p:attrName>
                                        </p:attrNameLst>
                                      </p:cBhvr>
                                      <p:to>
                                        <p:strVal val="visible"/>
                                      </p:to>
                                    </p:set>
                                    <p:animEffect transition="in" filter="wipe(down)">
                                      <p:cBhvr>
                                        <p:cTn id="25" dur="500"/>
                                        <p:tgtEl>
                                          <p:spTgt spid="32668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26686"/>
                                        </p:tgtEl>
                                        <p:attrNameLst>
                                          <p:attrName>style.visibility</p:attrName>
                                        </p:attrNameLst>
                                      </p:cBhvr>
                                      <p:to>
                                        <p:strVal val="visible"/>
                                      </p:to>
                                    </p:set>
                                    <p:animEffect transition="in" filter="wipe(left)">
                                      <p:cBhvr>
                                        <p:cTn id="30" dur="500"/>
                                        <p:tgtEl>
                                          <p:spTgt spid="32668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326678"/>
                                        </p:tgtEl>
                                        <p:attrNameLst>
                                          <p:attrName>style.visibility</p:attrName>
                                        </p:attrNameLst>
                                      </p:cBhvr>
                                      <p:to>
                                        <p:strVal val="visible"/>
                                      </p:to>
                                    </p:set>
                                    <p:animEffect transition="in" filter="wipe(down)">
                                      <p:cBhvr>
                                        <p:cTn id="35" dur="500"/>
                                        <p:tgtEl>
                                          <p:spTgt spid="326678"/>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326679"/>
                                        </p:tgtEl>
                                        <p:attrNameLst>
                                          <p:attrName>style.visibility</p:attrName>
                                        </p:attrNameLst>
                                      </p:cBhvr>
                                      <p:to>
                                        <p:strVal val="visible"/>
                                      </p:to>
                                    </p:set>
                                    <p:animEffect transition="in" filter="wipe(down)">
                                      <p:cBhvr>
                                        <p:cTn id="38" dur="500"/>
                                        <p:tgtEl>
                                          <p:spTgt spid="326679"/>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326680"/>
                                        </p:tgtEl>
                                        <p:attrNameLst>
                                          <p:attrName>style.visibility</p:attrName>
                                        </p:attrNameLst>
                                      </p:cBhvr>
                                      <p:to>
                                        <p:strVal val="visible"/>
                                      </p:to>
                                    </p:set>
                                    <p:animEffect transition="in" filter="wipe(down)">
                                      <p:cBhvr>
                                        <p:cTn id="41" dur="500"/>
                                        <p:tgtEl>
                                          <p:spTgt spid="326680"/>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326681"/>
                                        </p:tgtEl>
                                        <p:attrNameLst>
                                          <p:attrName>style.visibility</p:attrName>
                                        </p:attrNameLst>
                                      </p:cBhvr>
                                      <p:to>
                                        <p:strVal val="visible"/>
                                      </p:to>
                                    </p:set>
                                    <p:animEffect transition="in" filter="wipe(down)">
                                      <p:cBhvr>
                                        <p:cTn id="44" dur="500"/>
                                        <p:tgtEl>
                                          <p:spTgt spid="326681"/>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326682"/>
                                        </p:tgtEl>
                                        <p:attrNameLst>
                                          <p:attrName>style.visibility</p:attrName>
                                        </p:attrNameLst>
                                      </p:cBhvr>
                                      <p:to>
                                        <p:strVal val="visible"/>
                                      </p:to>
                                    </p:set>
                                    <p:animEffect transition="in" filter="wipe(down)">
                                      <p:cBhvr>
                                        <p:cTn id="47" dur="500"/>
                                        <p:tgtEl>
                                          <p:spTgt spid="326682"/>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326683"/>
                                        </p:tgtEl>
                                        <p:attrNameLst>
                                          <p:attrName>style.visibility</p:attrName>
                                        </p:attrNameLst>
                                      </p:cBhvr>
                                      <p:to>
                                        <p:strVal val="visible"/>
                                      </p:to>
                                    </p:set>
                                    <p:animEffect transition="in" filter="wipe(down)">
                                      <p:cBhvr>
                                        <p:cTn id="50" dur="500"/>
                                        <p:tgtEl>
                                          <p:spTgt spid="326683"/>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326684"/>
                                        </p:tgtEl>
                                        <p:attrNameLst>
                                          <p:attrName>style.visibility</p:attrName>
                                        </p:attrNameLst>
                                      </p:cBhvr>
                                      <p:to>
                                        <p:strVal val="visible"/>
                                      </p:to>
                                    </p:set>
                                    <p:animEffect transition="in" filter="wipe(down)">
                                      <p:cBhvr>
                                        <p:cTn id="53" dur="500"/>
                                        <p:tgtEl>
                                          <p:spTgt spid="326684"/>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326687"/>
                                        </p:tgtEl>
                                        <p:attrNameLst>
                                          <p:attrName>style.visibility</p:attrName>
                                        </p:attrNameLst>
                                      </p:cBhvr>
                                      <p:to>
                                        <p:strVal val="visible"/>
                                      </p:to>
                                    </p:set>
                                    <p:animEffect transition="in" filter="wipe(left)">
                                      <p:cBhvr>
                                        <p:cTn id="58" dur="500"/>
                                        <p:tgtEl>
                                          <p:spTgt spid="326687"/>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nodeType="clickEffect">
                                  <p:stCondLst>
                                    <p:cond delay="0"/>
                                  </p:stCondLst>
                                  <p:childTnLst>
                                    <p:set>
                                      <p:cBhvr>
                                        <p:cTn id="62" dur="1" fill="hold">
                                          <p:stCondLst>
                                            <p:cond delay="0"/>
                                          </p:stCondLst>
                                        </p:cTn>
                                        <p:tgtEl>
                                          <p:spTgt spid="326659">
                                            <p:txEl>
                                              <p:pRg st="8" end="8"/>
                                            </p:txEl>
                                          </p:spTgt>
                                        </p:tgtEl>
                                        <p:attrNameLst>
                                          <p:attrName>style.visibility</p:attrName>
                                        </p:attrNameLst>
                                      </p:cBhvr>
                                      <p:to>
                                        <p:strVal val="visible"/>
                                      </p:to>
                                    </p:set>
                                    <p:animEffect transition="in" filter="blinds(horizontal)">
                                      <p:cBhvr>
                                        <p:cTn id="63" dur="500"/>
                                        <p:tgtEl>
                                          <p:spTgt spid="3266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675" grpId="0" animBg="1"/>
      <p:bldP spid="326676" grpId="0" animBg="1"/>
      <p:bldP spid="326677" grpId="0" animBg="1"/>
      <p:bldP spid="326678" grpId="0" animBg="1"/>
      <p:bldP spid="326679" grpId="0" animBg="1"/>
      <p:bldP spid="326680" grpId="0" animBg="1"/>
      <p:bldP spid="326681" grpId="0" animBg="1"/>
      <p:bldP spid="326682" grpId="0" animBg="1"/>
      <p:bldP spid="326683" grpId="0"/>
      <p:bldP spid="326684" grpId="0"/>
      <p:bldP spid="326685" grpId="0"/>
      <p:bldP spid="326686" grpId="0"/>
      <p:bldP spid="326687" grpId="0"/>
    </p:bldLst>
  </p:timing>
</p:sld>
</file>

<file path=ppt/slides/slide3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30755" name="Rectangle 3"/>
          <p:cNvSpPr>
            <a:spLocks noChangeArrowheads="1"/>
          </p:cNvSpPr>
          <p:nvPr/>
        </p:nvSpPr>
        <p:spPr bwMode="auto">
          <a:xfrm>
            <a:off x="611188" y="1066800"/>
            <a:ext cx="8228012" cy="2234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0"/>
              </a:spcBef>
              <a:buClrTx/>
              <a:buFontTx/>
              <a:buNone/>
            </a:pPr>
            <a:r>
              <a:rPr lang="en-US" altLang="zh-CN" dirty="0">
                <a:solidFill>
                  <a:srgbClr val="990099"/>
                </a:solidFill>
              </a:rPr>
              <a:t>3.</a:t>
            </a:r>
            <a:r>
              <a:rPr lang="zh-CN" altLang="en-US" dirty="0">
                <a:solidFill>
                  <a:srgbClr val="990099"/>
                </a:solidFill>
              </a:rPr>
              <a:t>偏心矩</a:t>
            </a:r>
            <a:r>
              <a:rPr lang="en-US" altLang="zh-CN" i="1" dirty="0">
                <a:solidFill>
                  <a:srgbClr val="990099"/>
                </a:solidFill>
              </a:rPr>
              <a:t>e</a:t>
            </a:r>
            <a:r>
              <a:rPr lang="zh-CN" altLang="en-US" dirty="0">
                <a:solidFill>
                  <a:srgbClr val="990099"/>
                </a:solidFill>
              </a:rPr>
              <a:t>和</a:t>
            </a:r>
            <a:r>
              <a:rPr lang="en-US" altLang="zh-CN" i="1" dirty="0">
                <a:solidFill>
                  <a:srgbClr val="990099"/>
                </a:solidFill>
              </a:rPr>
              <a:t>e</a:t>
            </a:r>
            <a:r>
              <a:rPr lang="en-US" altLang="zh-CN" baseline="30000" dirty="0">
                <a:solidFill>
                  <a:srgbClr val="990099"/>
                </a:solidFill>
              </a:rPr>
              <a:t>’</a:t>
            </a:r>
            <a:r>
              <a:rPr lang="zh-CN" altLang="en-US" dirty="0">
                <a:solidFill>
                  <a:srgbClr val="990099"/>
                </a:solidFill>
              </a:rPr>
              <a:t>的计算公式</a:t>
            </a:r>
          </a:p>
          <a:p>
            <a:pPr algn="l">
              <a:lnSpc>
                <a:spcPct val="120000"/>
              </a:lnSpc>
              <a:spcBef>
                <a:spcPct val="0"/>
              </a:spcBef>
              <a:buClrTx/>
              <a:buFontTx/>
              <a:buNone/>
            </a:pPr>
            <a:r>
              <a:rPr lang="zh-CN" altLang="en-US" dirty="0">
                <a:solidFill>
                  <a:schemeClr val="tx1"/>
                </a:solidFill>
              </a:rPr>
              <a:t>计算偏心矩</a:t>
            </a:r>
            <a:r>
              <a:rPr lang="en-US" altLang="zh-CN" i="1" dirty="0">
                <a:solidFill>
                  <a:schemeClr val="tx1"/>
                </a:solidFill>
              </a:rPr>
              <a:t>e</a:t>
            </a:r>
            <a:r>
              <a:rPr lang="zh-CN" altLang="en-US" dirty="0">
                <a:solidFill>
                  <a:schemeClr val="tx1"/>
                </a:solidFill>
              </a:rPr>
              <a:t>为轴向压力距离受拉钢筋的距离：</a:t>
            </a:r>
          </a:p>
          <a:p>
            <a:pPr algn="l">
              <a:lnSpc>
                <a:spcPct val="120000"/>
              </a:lnSpc>
              <a:spcBef>
                <a:spcPct val="0"/>
              </a:spcBef>
              <a:buClrTx/>
              <a:buFontTx/>
              <a:buNone/>
            </a:pPr>
            <a:r>
              <a:rPr lang="en-US" altLang="zh-CN" i="1" dirty="0">
                <a:solidFill>
                  <a:schemeClr val="tx1"/>
                </a:solidFill>
              </a:rPr>
              <a:t>e</a:t>
            </a:r>
            <a:r>
              <a:rPr lang="en-US" altLang="zh-CN" dirty="0">
                <a:solidFill>
                  <a:schemeClr val="tx1"/>
                </a:solidFill>
              </a:rPr>
              <a:t>=</a:t>
            </a:r>
            <a:r>
              <a:rPr lang="en-US" altLang="zh-CN" i="1" dirty="0" err="1">
                <a:solidFill>
                  <a:schemeClr val="tx1"/>
                </a:solidFill>
              </a:rPr>
              <a:t>e</a:t>
            </a:r>
            <a:r>
              <a:rPr lang="en-US" altLang="zh-CN" baseline="-25000" dirty="0" err="1">
                <a:solidFill>
                  <a:schemeClr val="tx1"/>
                </a:solidFill>
              </a:rPr>
              <a:t>i</a:t>
            </a:r>
            <a:r>
              <a:rPr lang="en-US" altLang="zh-CN" dirty="0" err="1">
                <a:solidFill>
                  <a:schemeClr val="tx1"/>
                </a:solidFill>
              </a:rPr>
              <a:t>+</a:t>
            </a:r>
            <a:r>
              <a:rPr lang="en-US" altLang="zh-CN" i="1" dirty="0" err="1">
                <a:solidFill>
                  <a:schemeClr val="tx1"/>
                </a:solidFill>
              </a:rPr>
              <a:t>h</a:t>
            </a:r>
            <a:r>
              <a:rPr lang="en-US" altLang="zh-CN" dirty="0">
                <a:solidFill>
                  <a:schemeClr val="tx1"/>
                </a:solidFill>
              </a:rPr>
              <a:t>/2</a:t>
            </a:r>
            <a:r>
              <a:rPr lang="en-US" altLang="zh-CN" i="1" dirty="0">
                <a:solidFill>
                  <a:schemeClr val="tx1"/>
                </a:solidFill>
              </a:rPr>
              <a:t>-a</a:t>
            </a:r>
            <a:r>
              <a:rPr lang="en-US" altLang="zh-CN" baseline="-25000" dirty="0">
                <a:solidFill>
                  <a:schemeClr val="tx1"/>
                </a:solidFill>
              </a:rPr>
              <a:t>s</a:t>
            </a:r>
          </a:p>
          <a:p>
            <a:pPr algn="l"/>
            <a:r>
              <a:rPr lang="zh-CN" altLang="en-US" dirty="0">
                <a:solidFill>
                  <a:schemeClr val="tx1"/>
                </a:solidFill>
              </a:rPr>
              <a:t>计算偏心矩</a:t>
            </a:r>
            <a:r>
              <a:rPr lang="en-US" altLang="zh-CN" i="1" dirty="0">
                <a:solidFill>
                  <a:schemeClr val="tx1"/>
                </a:solidFill>
              </a:rPr>
              <a:t>e</a:t>
            </a:r>
            <a:r>
              <a:rPr lang="en-US" altLang="zh-CN" i="1" baseline="30000" dirty="0">
                <a:solidFill>
                  <a:schemeClr val="tx1"/>
                </a:solidFill>
              </a:rPr>
              <a:t>’</a:t>
            </a:r>
            <a:r>
              <a:rPr lang="zh-CN" altLang="en-US" dirty="0">
                <a:solidFill>
                  <a:schemeClr val="tx1"/>
                </a:solidFill>
              </a:rPr>
              <a:t>为轴向压力距离受压钢筋的距离：</a:t>
            </a:r>
            <a:endParaRPr lang="zh-CN" altLang="en-US" i="1" dirty="0">
              <a:solidFill>
                <a:schemeClr val="tx1"/>
              </a:solidFill>
            </a:endParaRPr>
          </a:p>
          <a:p>
            <a:pPr algn="l"/>
            <a:r>
              <a:rPr lang="en-US" altLang="zh-CN" i="1" dirty="0">
                <a:solidFill>
                  <a:schemeClr val="tx1"/>
                </a:solidFill>
              </a:rPr>
              <a:t>e</a:t>
            </a:r>
            <a:r>
              <a:rPr lang="en-US" altLang="zh-CN" i="1" baseline="30000" dirty="0">
                <a:solidFill>
                  <a:schemeClr val="tx1"/>
                </a:solidFill>
              </a:rPr>
              <a:t>’</a:t>
            </a:r>
            <a:r>
              <a:rPr lang="en-US" altLang="zh-CN" dirty="0">
                <a:solidFill>
                  <a:schemeClr val="tx1"/>
                </a:solidFill>
              </a:rPr>
              <a:t>=</a:t>
            </a:r>
            <a:r>
              <a:rPr lang="en-US" altLang="zh-CN" i="1" dirty="0" err="1">
                <a:solidFill>
                  <a:schemeClr val="tx1"/>
                </a:solidFill>
              </a:rPr>
              <a:t>e</a:t>
            </a:r>
            <a:r>
              <a:rPr lang="en-US" altLang="zh-CN" baseline="-25000" dirty="0" err="1">
                <a:solidFill>
                  <a:schemeClr val="tx1"/>
                </a:solidFill>
              </a:rPr>
              <a:t>i</a:t>
            </a:r>
            <a:r>
              <a:rPr lang="en-US" altLang="zh-CN" dirty="0">
                <a:solidFill>
                  <a:schemeClr val="tx1"/>
                </a:solidFill>
              </a:rPr>
              <a:t>-</a:t>
            </a:r>
            <a:r>
              <a:rPr lang="en-US" altLang="zh-CN" i="1" dirty="0">
                <a:solidFill>
                  <a:schemeClr val="tx1"/>
                </a:solidFill>
              </a:rPr>
              <a:t>h</a:t>
            </a:r>
            <a:r>
              <a:rPr lang="en-US" altLang="zh-CN" dirty="0">
                <a:solidFill>
                  <a:schemeClr val="tx1"/>
                </a:solidFill>
              </a:rPr>
              <a:t>/2</a:t>
            </a:r>
            <a:r>
              <a:rPr lang="en-US" altLang="zh-CN" i="1" dirty="0">
                <a:solidFill>
                  <a:schemeClr val="tx1"/>
                </a:solidFill>
              </a:rPr>
              <a:t>+a</a:t>
            </a:r>
            <a:r>
              <a:rPr lang="en-US" altLang="zh-CN" i="1" baseline="30000" dirty="0">
                <a:solidFill>
                  <a:schemeClr val="tx1"/>
                </a:solidFill>
              </a:rPr>
              <a:t>’</a:t>
            </a:r>
            <a:r>
              <a:rPr lang="en-US" altLang="zh-CN" baseline="-25000" dirty="0">
                <a:solidFill>
                  <a:schemeClr val="tx1"/>
                </a:solidFill>
              </a:rPr>
              <a:t>s</a:t>
            </a:r>
            <a:r>
              <a:rPr lang="en-US" altLang="zh-CN" dirty="0">
                <a:solidFill>
                  <a:schemeClr val="tx1"/>
                </a:solidFill>
              </a:rPr>
              <a:t>  or  </a:t>
            </a:r>
            <a:r>
              <a:rPr lang="en-US" altLang="zh-CN" i="1" dirty="0">
                <a:solidFill>
                  <a:schemeClr val="tx1"/>
                </a:solidFill>
              </a:rPr>
              <a:t>e</a:t>
            </a:r>
            <a:r>
              <a:rPr lang="en-US" altLang="zh-CN" i="1" baseline="30000" dirty="0">
                <a:solidFill>
                  <a:schemeClr val="tx1"/>
                </a:solidFill>
              </a:rPr>
              <a:t>’</a:t>
            </a:r>
            <a:r>
              <a:rPr lang="en-US" altLang="zh-CN" dirty="0">
                <a:solidFill>
                  <a:schemeClr val="tx1"/>
                </a:solidFill>
              </a:rPr>
              <a:t>=</a:t>
            </a:r>
            <a:r>
              <a:rPr lang="en-US" altLang="zh-CN" i="1" dirty="0">
                <a:solidFill>
                  <a:schemeClr val="tx1"/>
                </a:solidFill>
              </a:rPr>
              <a:t>h</a:t>
            </a:r>
            <a:r>
              <a:rPr lang="en-US" altLang="zh-CN" dirty="0">
                <a:solidFill>
                  <a:schemeClr val="tx1"/>
                </a:solidFill>
              </a:rPr>
              <a:t>/2-</a:t>
            </a:r>
            <a:r>
              <a:rPr lang="en-US" altLang="zh-CN" i="1" dirty="0">
                <a:solidFill>
                  <a:schemeClr val="tx1"/>
                </a:solidFill>
              </a:rPr>
              <a:t>e</a:t>
            </a:r>
            <a:r>
              <a:rPr lang="en-US" altLang="zh-CN" baseline="-25000" dirty="0">
                <a:solidFill>
                  <a:schemeClr val="tx1"/>
                </a:solidFill>
              </a:rPr>
              <a:t>i</a:t>
            </a:r>
            <a:r>
              <a:rPr lang="en-US" altLang="zh-CN" i="1" dirty="0">
                <a:solidFill>
                  <a:schemeClr val="tx1"/>
                </a:solidFill>
              </a:rPr>
              <a:t>-a</a:t>
            </a:r>
            <a:r>
              <a:rPr lang="en-US" altLang="zh-CN" i="1" baseline="30000" dirty="0">
                <a:solidFill>
                  <a:schemeClr val="tx1"/>
                </a:solidFill>
              </a:rPr>
              <a:t>’</a:t>
            </a:r>
            <a:r>
              <a:rPr lang="en-US" altLang="zh-CN" baseline="-25000" dirty="0">
                <a:solidFill>
                  <a:schemeClr val="tx1"/>
                </a:solidFill>
              </a:rPr>
              <a:t>s</a:t>
            </a:r>
            <a:r>
              <a:rPr lang="en-US" altLang="zh-CN" dirty="0">
                <a:solidFill>
                  <a:schemeClr val="tx1"/>
                </a:solidFill>
              </a:rPr>
              <a:t> </a:t>
            </a:r>
          </a:p>
        </p:txBody>
      </p:sp>
      <p:pic>
        <p:nvPicPr>
          <p:cNvPr id="330763" name="Picture 11" descr="gj0716"/>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8214" t="51918" r="7715" b="5403"/>
          <a:stretch>
            <a:fillRect/>
          </a:stretch>
        </p:blipFill>
        <p:spPr bwMode="auto">
          <a:xfrm>
            <a:off x="1066800" y="3311525"/>
            <a:ext cx="7162800" cy="3241675"/>
          </a:xfrm>
          <a:prstGeom prst="rect">
            <a:avLst/>
          </a:prstGeom>
          <a:noFill/>
          <a:extLst>
            <a:ext uri="{909E8E84-426E-40DD-AFC4-6F175D3DCCD1}">
              <a14:hiddenFill xmlns:a14="http://schemas.microsoft.com/office/drawing/2010/main">
                <a:solidFill>
                  <a:srgbClr val="FFFFFF"/>
                </a:solidFill>
              </a14:hiddenFill>
            </a:ext>
          </a:extLst>
        </p:spPr>
      </p:pic>
      <p:sp>
        <p:nvSpPr>
          <p:cNvPr id="330764" name="Rectangle 12"/>
          <p:cNvSpPr>
            <a:spLocks noChangeArrowheads="1"/>
          </p:cNvSpPr>
          <p:nvPr/>
        </p:nvSpPr>
        <p:spPr bwMode="auto">
          <a:xfrm>
            <a:off x="2925593" y="3705225"/>
            <a:ext cx="330540" cy="341632"/>
          </a:xfrm>
          <a:prstGeom prst="rect">
            <a:avLst/>
          </a:prstGeom>
          <a:solidFill>
            <a:schemeClr val="bg1"/>
          </a:solidFill>
          <a:ln>
            <a:noFill/>
          </a:ln>
          <a:effectLst/>
          <a:extLst/>
        </p:spPr>
        <p:txBody>
          <a:bodyPr wrap="none">
            <a:spAutoFit/>
          </a:bodyPr>
          <a:lstStyle/>
          <a:p>
            <a:r>
              <a:rPr lang="en-US" altLang="zh-CN" sz="1800" i="1" dirty="0" err="1">
                <a:solidFill>
                  <a:schemeClr val="tx2"/>
                </a:solidFill>
              </a:rPr>
              <a:t>e</a:t>
            </a:r>
            <a:r>
              <a:rPr lang="en-US" altLang="zh-CN" sz="1800" baseline="-25000" dirty="0" err="1">
                <a:solidFill>
                  <a:schemeClr val="tx2"/>
                </a:solidFill>
              </a:rPr>
              <a:t>i</a:t>
            </a:r>
            <a:endParaRPr lang="en-US" altLang="zh-CN" sz="1800" baseline="-25000" dirty="0">
              <a:solidFill>
                <a:schemeClr val="tx2"/>
              </a:solidFill>
            </a:endParaRPr>
          </a:p>
        </p:txBody>
      </p:sp>
      <p:sp>
        <p:nvSpPr>
          <p:cNvPr id="330766" name="Rectangle 14"/>
          <p:cNvSpPr>
            <a:spLocks noChangeArrowheads="1"/>
          </p:cNvSpPr>
          <p:nvPr/>
        </p:nvSpPr>
        <p:spPr bwMode="auto">
          <a:xfrm>
            <a:off x="6362530" y="3697288"/>
            <a:ext cx="330540" cy="341632"/>
          </a:xfrm>
          <a:prstGeom prst="rect">
            <a:avLst/>
          </a:prstGeom>
          <a:solidFill>
            <a:schemeClr val="bg1"/>
          </a:solidFill>
          <a:ln>
            <a:noFill/>
          </a:ln>
          <a:effectLst/>
          <a:extLst/>
        </p:spPr>
        <p:txBody>
          <a:bodyPr wrap="none">
            <a:spAutoFit/>
          </a:bodyPr>
          <a:lstStyle/>
          <a:p>
            <a:r>
              <a:rPr lang="en-US" altLang="zh-CN" sz="1800" i="1" dirty="0" err="1">
                <a:solidFill>
                  <a:schemeClr val="tx2"/>
                </a:solidFill>
              </a:rPr>
              <a:t>e</a:t>
            </a:r>
            <a:r>
              <a:rPr lang="en-US" altLang="zh-CN" sz="1800" baseline="-25000" dirty="0" err="1">
                <a:solidFill>
                  <a:schemeClr val="tx2"/>
                </a:solidFill>
              </a:rPr>
              <a:t>i</a:t>
            </a:r>
            <a:endParaRPr lang="en-US" altLang="zh-CN" sz="1800" baseline="-25000" dirty="0">
              <a:solidFill>
                <a:schemeClr val="tx2"/>
              </a:solidFill>
            </a:endParaRP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30755" name="Rectangle 3"/>
          <p:cNvSpPr>
            <a:spLocks noChangeArrowheads="1"/>
          </p:cNvSpPr>
          <p:nvPr/>
        </p:nvSpPr>
        <p:spPr bwMode="auto">
          <a:xfrm>
            <a:off x="611188" y="1066800"/>
            <a:ext cx="8228012"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0"/>
              </a:spcBef>
              <a:buClrTx/>
              <a:buFontTx/>
              <a:buNone/>
            </a:pPr>
            <a:r>
              <a:rPr lang="en-US" altLang="zh-CN" dirty="0">
                <a:solidFill>
                  <a:srgbClr val="990099"/>
                </a:solidFill>
              </a:rPr>
              <a:t>4.</a:t>
            </a:r>
            <a:r>
              <a:rPr lang="zh-CN" altLang="en-US" dirty="0">
                <a:solidFill>
                  <a:srgbClr val="990099"/>
                </a:solidFill>
              </a:rPr>
              <a:t>柱端截面附加弯矩计算公式</a:t>
            </a:r>
          </a:p>
        </p:txBody>
      </p:sp>
      <p:graphicFrame>
        <p:nvGraphicFramePr>
          <p:cNvPr id="7" name="Object 11"/>
          <p:cNvGraphicFramePr>
            <a:graphicFrameLocks noGrp="1" noChangeAspect="1"/>
          </p:cNvGraphicFramePr>
          <p:nvPr>
            <p:ph idx="1"/>
            <p:extLst>
              <p:ext uri="{D42A27DB-BD31-4B8C-83A1-F6EECF244321}">
                <p14:modId xmlns:p14="http://schemas.microsoft.com/office/powerpoint/2010/main" val="800200203"/>
              </p:ext>
            </p:extLst>
          </p:nvPr>
        </p:nvGraphicFramePr>
        <p:xfrm>
          <a:off x="4648200" y="2730624"/>
          <a:ext cx="2800350" cy="820738"/>
        </p:xfrm>
        <a:graphic>
          <a:graphicData uri="http://schemas.openxmlformats.org/presentationml/2006/ole">
            <mc:AlternateContent xmlns:mc="http://schemas.openxmlformats.org/markup-compatibility/2006">
              <mc:Choice xmlns:v="urn:schemas-microsoft-com:vml" Requires="v">
                <p:oleObj spid="_x0000_s416161" name="Equation" r:id="rId3" imgW="1473200" imgH="431800" progId="">
                  <p:embed/>
                </p:oleObj>
              </mc:Choice>
              <mc:Fallback>
                <p:oleObj name="Equation" r:id="rId3" imgW="1473200" imgH="431800" progId="">
                  <p:embed/>
                  <p:pic>
                    <p:nvPicPr>
                      <p:cNvPr id="0" name="Picture 18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2730624"/>
                        <a:ext cx="2800350" cy="820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ectangle 18"/>
          <p:cNvSpPr>
            <a:spLocks noChangeArrowheads="1"/>
          </p:cNvSpPr>
          <p:nvPr/>
        </p:nvSpPr>
        <p:spPr bwMode="auto">
          <a:xfrm>
            <a:off x="457200" y="1619071"/>
            <a:ext cx="8382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20000"/>
              </a:lnSpc>
              <a:spcBef>
                <a:spcPct val="0"/>
              </a:spcBef>
              <a:buClrTx/>
              <a:buFontTx/>
              <a:buNone/>
            </a:pPr>
            <a:r>
              <a:rPr lang="en-US" altLang="zh-CN" sz="2000" dirty="0">
                <a:solidFill>
                  <a:schemeClr val="tx1"/>
                </a:solidFill>
              </a:rPr>
              <a:t>《</a:t>
            </a:r>
            <a:r>
              <a:rPr lang="zh-CN" altLang="en-US" sz="2000" dirty="0">
                <a:solidFill>
                  <a:schemeClr val="tx1"/>
                </a:solidFill>
              </a:rPr>
              <a:t>规范</a:t>
            </a:r>
            <a:r>
              <a:rPr lang="en-US" altLang="zh-CN" sz="2000" dirty="0">
                <a:solidFill>
                  <a:schemeClr val="tx1"/>
                </a:solidFill>
              </a:rPr>
              <a:t>》</a:t>
            </a:r>
            <a:r>
              <a:rPr lang="zh-CN" altLang="en-US" sz="2000" dirty="0">
                <a:solidFill>
                  <a:schemeClr val="tx1"/>
                </a:solidFill>
              </a:rPr>
              <a:t>将柱端截面附加弯矩的计算采用两个增大系数，偏心距调节系数</a:t>
            </a:r>
            <a:r>
              <a:rPr lang="en-US" altLang="zh-CN" sz="2000" i="1" dirty="0">
                <a:solidFill>
                  <a:schemeClr val="tx1"/>
                </a:solidFill>
              </a:rPr>
              <a:t>C</a:t>
            </a:r>
            <a:r>
              <a:rPr lang="en-US" altLang="zh-CN" sz="2000" baseline="-25000" dirty="0">
                <a:solidFill>
                  <a:schemeClr val="tx1"/>
                </a:solidFill>
              </a:rPr>
              <a:t>m</a:t>
            </a:r>
            <a:r>
              <a:rPr lang="zh-CN" altLang="en-US" sz="2000" dirty="0">
                <a:solidFill>
                  <a:schemeClr val="tx1"/>
                </a:solidFill>
              </a:rPr>
              <a:t>和弯矩增加系数</a:t>
            </a:r>
            <a:r>
              <a:rPr lang="el-GR" altLang="zh-CN" sz="2000" i="1" dirty="0">
                <a:solidFill>
                  <a:schemeClr val="tx1"/>
                </a:solidFill>
              </a:rPr>
              <a:t>η</a:t>
            </a:r>
            <a:r>
              <a:rPr lang="en-US" altLang="zh-CN" sz="2000" baseline="-25000" dirty="0">
                <a:solidFill>
                  <a:schemeClr val="tx1"/>
                </a:solidFill>
              </a:rPr>
              <a:t>ns</a:t>
            </a:r>
            <a:r>
              <a:rPr lang="zh-CN" altLang="en-US" sz="2000" dirty="0">
                <a:solidFill>
                  <a:schemeClr val="tx1"/>
                </a:solidFill>
              </a:rPr>
              <a:t>，即偏心受压柱的设计弯矩在考虑了附加弯矩影响后为原柱端最大弯矩</a:t>
            </a:r>
            <a:r>
              <a:rPr lang="en-US" altLang="zh-CN" sz="2000" i="1" dirty="0">
                <a:solidFill>
                  <a:schemeClr val="tx1"/>
                </a:solidFill>
              </a:rPr>
              <a:t>M</a:t>
            </a:r>
            <a:r>
              <a:rPr lang="en-US" altLang="zh-CN" sz="2000" baseline="-25000" dirty="0">
                <a:solidFill>
                  <a:schemeClr val="tx1"/>
                </a:solidFill>
              </a:rPr>
              <a:t>2</a:t>
            </a:r>
            <a:r>
              <a:rPr lang="zh-CN" altLang="en-US" sz="2000" dirty="0">
                <a:solidFill>
                  <a:schemeClr val="tx1"/>
                </a:solidFill>
              </a:rPr>
              <a:t>乘以偏心距调节系数</a:t>
            </a:r>
            <a:r>
              <a:rPr lang="en-US" altLang="zh-CN" sz="2000" i="1" dirty="0">
                <a:solidFill>
                  <a:schemeClr val="tx1"/>
                </a:solidFill>
              </a:rPr>
              <a:t>C</a:t>
            </a:r>
            <a:r>
              <a:rPr lang="en-US" altLang="zh-CN" sz="2000" baseline="-25000" dirty="0">
                <a:solidFill>
                  <a:schemeClr val="tx1"/>
                </a:solidFill>
              </a:rPr>
              <a:t>m</a:t>
            </a:r>
            <a:r>
              <a:rPr lang="zh-CN" altLang="en-US" sz="2000" dirty="0">
                <a:solidFill>
                  <a:schemeClr val="tx1"/>
                </a:solidFill>
              </a:rPr>
              <a:t>和弯矩增大系数</a:t>
            </a:r>
            <a:r>
              <a:rPr lang="el-GR" altLang="zh-CN" sz="2000" i="1" dirty="0">
                <a:solidFill>
                  <a:schemeClr val="tx1"/>
                </a:solidFill>
              </a:rPr>
              <a:t>η</a:t>
            </a:r>
            <a:r>
              <a:rPr lang="en-US" altLang="zh-CN" sz="2000" baseline="-25000" dirty="0">
                <a:solidFill>
                  <a:schemeClr val="tx1"/>
                </a:solidFill>
              </a:rPr>
              <a:t>ns</a:t>
            </a:r>
            <a:r>
              <a:rPr lang="en-US" altLang="zh-CN" sz="2000" i="1" baseline="-25000" dirty="0">
                <a:solidFill>
                  <a:schemeClr val="tx1"/>
                </a:solidFill>
              </a:rPr>
              <a:t> </a:t>
            </a:r>
            <a:r>
              <a:rPr lang="zh-CN" altLang="en-US" sz="2000" dirty="0">
                <a:solidFill>
                  <a:schemeClr val="tx1"/>
                </a:solidFill>
              </a:rPr>
              <a:t>。</a:t>
            </a:r>
          </a:p>
        </p:txBody>
      </p:sp>
      <p:graphicFrame>
        <p:nvGraphicFramePr>
          <p:cNvPr id="9" name="Object 11"/>
          <p:cNvGraphicFramePr>
            <a:graphicFrameLocks noChangeAspect="1"/>
          </p:cNvGraphicFramePr>
          <p:nvPr>
            <p:extLst>
              <p:ext uri="{D42A27DB-BD31-4B8C-83A1-F6EECF244321}">
                <p14:modId xmlns:p14="http://schemas.microsoft.com/office/powerpoint/2010/main" val="706940775"/>
              </p:ext>
            </p:extLst>
          </p:nvPr>
        </p:nvGraphicFramePr>
        <p:xfrm>
          <a:off x="4572000" y="3645024"/>
          <a:ext cx="4419600" cy="822325"/>
        </p:xfrm>
        <a:graphic>
          <a:graphicData uri="http://schemas.openxmlformats.org/presentationml/2006/ole">
            <mc:AlternateContent xmlns:mc="http://schemas.openxmlformats.org/markup-compatibility/2006">
              <mc:Choice xmlns:v="urn:schemas-microsoft-com:vml" Requires="v">
                <p:oleObj spid="_x0000_s416162" name="Equation" r:id="rId5" imgW="2323800" imgH="431640" progId="Equation.DSMT4">
                  <p:embed/>
                </p:oleObj>
              </mc:Choice>
              <mc:Fallback>
                <p:oleObj name="Equation" r:id="rId5" imgW="2323800" imgH="431640" progId="Equation.DSMT4">
                  <p:embed/>
                  <p:pic>
                    <p:nvPicPr>
                      <p:cNvPr id="0" name="Picture 182"/>
                      <p:cNvPicPr>
                        <a:picLocks noChangeAspect="1" noChangeArrowheads="1"/>
                      </p:cNvPicPr>
                      <p:nvPr/>
                    </p:nvPicPr>
                    <p:blipFill>
                      <a:blip r:embed="rId6"/>
                      <a:srcRect/>
                      <a:stretch>
                        <a:fillRect/>
                      </a:stretch>
                    </p:blipFill>
                    <p:spPr bwMode="auto">
                      <a:xfrm>
                        <a:off x="4572000" y="3645024"/>
                        <a:ext cx="441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11"/>
          <p:cNvGraphicFramePr>
            <a:graphicFrameLocks noChangeAspect="1"/>
          </p:cNvGraphicFramePr>
          <p:nvPr>
            <p:extLst>
              <p:ext uri="{D42A27DB-BD31-4B8C-83A1-F6EECF244321}">
                <p14:modId xmlns:p14="http://schemas.microsoft.com/office/powerpoint/2010/main" val="1916688219"/>
              </p:ext>
            </p:extLst>
          </p:nvPr>
        </p:nvGraphicFramePr>
        <p:xfrm>
          <a:off x="4268788" y="4635500"/>
          <a:ext cx="2078037" cy="750888"/>
        </p:xfrm>
        <a:graphic>
          <a:graphicData uri="http://schemas.openxmlformats.org/presentationml/2006/ole">
            <mc:AlternateContent xmlns:mc="http://schemas.openxmlformats.org/markup-compatibility/2006">
              <mc:Choice xmlns:v="urn:schemas-microsoft-com:vml" Requires="v">
                <p:oleObj spid="_x0000_s416163" name="Equation" r:id="rId7" imgW="1091880" imgH="393480" progId="Equation.DSMT4">
                  <p:embed/>
                </p:oleObj>
              </mc:Choice>
              <mc:Fallback>
                <p:oleObj name="Equation" r:id="rId7" imgW="1091880" imgH="393480" progId="Equation.DSMT4">
                  <p:embed/>
                  <p:pic>
                    <p:nvPicPr>
                      <p:cNvPr id="0" name="Picture 183"/>
                      <p:cNvPicPr>
                        <a:picLocks noChangeAspect="1" noChangeArrowheads="1"/>
                      </p:cNvPicPr>
                      <p:nvPr/>
                    </p:nvPicPr>
                    <p:blipFill>
                      <a:blip r:embed="rId8"/>
                      <a:srcRect/>
                      <a:stretch>
                        <a:fillRect/>
                      </a:stretch>
                    </p:blipFill>
                    <p:spPr bwMode="auto">
                      <a:xfrm>
                        <a:off x="4268788" y="4635500"/>
                        <a:ext cx="2078037"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912854203"/>
              </p:ext>
            </p:extLst>
          </p:nvPr>
        </p:nvGraphicFramePr>
        <p:xfrm>
          <a:off x="2925763" y="5553075"/>
          <a:ext cx="3175000" cy="754063"/>
        </p:xfrm>
        <a:graphic>
          <a:graphicData uri="http://schemas.openxmlformats.org/presentationml/2006/ole">
            <mc:AlternateContent xmlns:mc="http://schemas.openxmlformats.org/markup-compatibility/2006">
              <mc:Choice xmlns:v="urn:schemas-microsoft-com:vml" Requires="v">
                <p:oleObj spid="_x0000_s416164" name="Equation" r:id="rId9" imgW="1015920" imgH="241200" progId="Equation.DSMT4">
                  <p:embed/>
                </p:oleObj>
              </mc:Choice>
              <mc:Fallback>
                <p:oleObj name="Equation" r:id="rId9" imgW="1015920" imgH="241200" progId="Equation.DSMT4">
                  <p:embed/>
                  <p:pic>
                    <p:nvPicPr>
                      <p:cNvPr id="0" name="Picture 184"/>
                      <p:cNvPicPr>
                        <a:picLocks noChangeAspect="1" noChangeArrowheads="1"/>
                      </p:cNvPicPr>
                      <p:nvPr/>
                    </p:nvPicPr>
                    <p:blipFill>
                      <a:blip r:embed="rId10"/>
                      <a:srcRect/>
                      <a:stretch>
                        <a:fillRect/>
                      </a:stretch>
                    </p:blipFill>
                    <p:spPr bwMode="auto">
                      <a:xfrm>
                        <a:off x="2925763" y="5553075"/>
                        <a:ext cx="3175000" cy="754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18"/>
          <p:cNvSpPr>
            <a:spLocks noChangeArrowheads="1"/>
          </p:cNvSpPr>
          <p:nvPr/>
        </p:nvSpPr>
        <p:spPr bwMode="auto">
          <a:xfrm>
            <a:off x="446584" y="3086690"/>
            <a:ext cx="374441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20000"/>
              </a:lnSpc>
              <a:spcBef>
                <a:spcPct val="0"/>
              </a:spcBef>
              <a:buClrTx/>
              <a:buFontTx/>
              <a:buNone/>
            </a:pPr>
            <a:r>
              <a:rPr lang="zh-CN" altLang="en-US" sz="2000" dirty="0">
                <a:solidFill>
                  <a:srgbClr val="FF0000"/>
                </a:solidFill>
              </a:rPr>
              <a:t>当满足下述三个条件中的一个时，考虑附加弯矩：</a:t>
            </a:r>
            <a:endParaRPr lang="en-US" altLang="zh-CN" sz="2000" dirty="0">
              <a:solidFill>
                <a:srgbClr val="FF0000"/>
              </a:solidFill>
            </a:endParaRPr>
          </a:p>
          <a:p>
            <a:pPr algn="just">
              <a:lnSpc>
                <a:spcPct val="120000"/>
              </a:lnSpc>
              <a:spcBef>
                <a:spcPct val="0"/>
              </a:spcBef>
              <a:buClrTx/>
              <a:buFontTx/>
              <a:buNone/>
            </a:pPr>
            <a:r>
              <a:rPr lang="zh-CN" altLang="en-US" sz="2000" dirty="0">
                <a:solidFill>
                  <a:srgbClr val="FF0000"/>
                </a:solidFill>
              </a:rPr>
              <a:t>（</a:t>
            </a:r>
            <a:r>
              <a:rPr lang="en-US" altLang="zh-CN" sz="2000" dirty="0">
                <a:solidFill>
                  <a:srgbClr val="FF0000"/>
                </a:solidFill>
              </a:rPr>
              <a:t>1</a:t>
            </a:r>
            <a:r>
              <a:rPr lang="zh-CN" altLang="en-US" sz="2000" dirty="0">
                <a:solidFill>
                  <a:srgbClr val="FF0000"/>
                </a:solidFill>
              </a:rPr>
              <a:t>）</a:t>
            </a:r>
            <a:r>
              <a:rPr lang="en-US" altLang="zh-CN" sz="2000" i="1" dirty="0">
                <a:solidFill>
                  <a:srgbClr val="FF0000"/>
                </a:solidFill>
              </a:rPr>
              <a:t> M</a:t>
            </a:r>
            <a:r>
              <a:rPr lang="en-US" altLang="zh-CN" sz="2000" baseline="-25000" dirty="0">
                <a:solidFill>
                  <a:srgbClr val="FF0000"/>
                </a:solidFill>
              </a:rPr>
              <a:t>1</a:t>
            </a:r>
            <a:r>
              <a:rPr lang="en-US" altLang="zh-CN" sz="2000" dirty="0">
                <a:solidFill>
                  <a:srgbClr val="FF0000"/>
                </a:solidFill>
              </a:rPr>
              <a:t>/</a:t>
            </a:r>
            <a:r>
              <a:rPr lang="en-US" altLang="zh-CN" sz="2000" i="1" dirty="0">
                <a:solidFill>
                  <a:srgbClr val="FF0000"/>
                </a:solidFill>
              </a:rPr>
              <a:t>M</a:t>
            </a:r>
            <a:r>
              <a:rPr lang="en-US" altLang="zh-CN" sz="2000" baseline="-25000" dirty="0">
                <a:solidFill>
                  <a:srgbClr val="FF0000"/>
                </a:solidFill>
              </a:rPr>
              <a:t>2</a:t>
            </a:r>
            <a:r>
              <a:rPr lang="en-US" altLang="zh-CN" sz="2000" dirty="0">
                <a:solidFill>
                  <a:srgbClr val="FF0000"/>
                </a:solidFill>
              </a:rPr>
              <a:t>&gt;0.9</a:t>
            </a:r>
            <a:r>
              <a:rPr lang="zh-CN" altLang="en-US" sz="2000" dirty="0">
                <a:solidFill>
                  <a:srgbClr val="FF0000"/>
                </a:solidFill>
              </a:rPr>
              <a:t>或</a:t>
            </a:r>
            <a:endParaRPr lang="en-US" altLang="zh-CN" sz="2000" dirty="0">
              <a:solidFill>
                <a:srgbClr val="FF0000"/>
              </a:solidFill>
            </a:endParaRPr>
          </a:p>
          <a:p>
            <a:pPr algn="just">
              <a:lnSpc>
                <a:spcPct val="120000"/>
              </a:lnSpc>
              <a:spcBef>
                <a:spcPct val="0"/>
              </a:spcBef>
              <a:buClrTx/>
              <a:buFontTx/>
              <a:buNone/>
            </a:pPr>
            <a:r>
              <a:rPr lang="zh-CN" altLang="en-US" sz="2000" dirty="0">
                <a:solidFill>
                  <a:srgbClr val="FF0000"/>
                </a:solidFill>
              </a:rPr>
              <a:t>（</a:t>
            </a:r>
            <a:r>
              <a:rPr lang="en-US" altLang="zh-CN" sz="2000" dirty="0">
                <a:solidFill>
                  <a:srgbClr val="FF0000"/>
                </a:solidFill>
              </a:rPr>
              <a:t>2</a:t>
            </a:r>
            <a:r>
              <a:rPr lang="zh-CN" altLang="en-US" sz="2000" dirty="0">
                <a:solidFill>
                  <a:srgbClr val="FF0000"/>
                </a:solidFill>
              </a:rPr>
              <a:t>）轴压比</a:t>
            </a:r>
            <a:r>
              <a:rPr lang="en-US" altLang="zh-CN" sz="2000" i="1" dirty="0">
                <a:solidFill>
                  <a:srgbClr val="FF0000"/>
                </a:solidFill>
              </a:rPr>
              <a:t>N</a:t>
            </a:r>
            <a:r>
              <a:rPr lang="en-US" altLang="zh-CN" sz="2000" dirty="0">
                <a:solidFill>
                  <a:srgbClr val="FF0000"/>
                </a:solidFill>
              </a:rPr>
              <a:t>/</a:t>
            </a:r>
            <a:r>
              <a:rPr lang="en-US" altLang="zh-CN" sz="2000" i="1" dirty="0" err="1">
                <a:solidFill>
                  <a:srgbClr val="FF0000"/>
                </a:solidFill>
              </a:rPr>
              <a:t>f</a:t>
            </a:r>
            <a:r>
              <a:rPr lang="en-US" altLang="zh-CN" sz="2000" baseline="-25000" dirty="0" err="1">
                <a:solidFill>
                  <a:srgbClr val="FF0000"/>
                </a:solidFill>
              </a:rPr>
              <a:t>c</a:t>
            </a:r>
            <a:r>
              <a:rPr lang="en-US" altLang="zh-CN" sz="2000" i="1" dirty="0" err="1">
                <a:solidFill>
                  <a:srgbClr val="FF0000"/>
                </a:solidFill>
              </a:rPr>
              <a:t>A</a:t>
            </a:r>
            <a:r>
              <a:rPr lang="en-US" altLang="zh-CN" sz="2000" dirty="0">
                <a:solidFill>
                  <a:srgbClr val="FF0000"/>
                </a:solidFill>
              </a:rPr>
              <a:t>&gt;0.9</a:t>
            </a:r>
            <a:r>
              <a:rPr lang="zh-CN" altLang="en-US" sz="2000" dirty="0">
                <a:solidFill>
                  <a:srgbClr val="FF0000"/>
                </a:solidFill>
              </a:rPr>
              <a:t>或</a:t>
            </a:r>
            <a:endParaRPr lang="en-US" altLang="zh-CN" sz="2000" dirty="0">
              <a:solidFill>
                <a:srgbClr val="FF0000"/>
              </a:solidFill>
            </a:endParaRPr>
          </a:p>
          <a:p>
            <a:pPr algn="just">
              <a:lnSpc>
                <a:spcPct val="120000"/>
              </a:lnSpc>
              <a:spcBef>
                <a:spcPct val="0"/>
              </a:spcBef>
              <a:buClrTx/>
              <a:buFontTx/>
              <a:buNone/>
            </a:pPr>
            <a:r>
              <a:rPr lang="zh-CN" altLang="en-US" sz="2000" dirty="0">
                <a:solidFill>
                  <a:srgbClr val="FF0000"/>
                </a:solidFill>
              </a:rPr>
              <a:t>（</a:t>
            </a:r>
            <a:r>
              <a:rPr lang="en-US" altLang="zh-CN" sz="2000" dirty="0">
                <a:solidFill>
                  <a:srgbClr val="FF0000"/>
                </a:solidFill>
              </a:rPr>
              <a:t>3</a:t>
            </a:r>
            <a:r>
              <a:rPr lang="zh-CN" altLang="en-US" sz="2000" dirty="0">
                <a:solidFill>
                  <a:srgbClr val="FF0000"/>
                </a:solidFill>
              </a:rPr>
              <a:t>）</a:t>
            </a:r>
            <a:r>
              <a:rPr lang="en-US" altLang="zh-CN" sz="2000" i="1" dirty="0">
                <a:solidFill>
                  <a:srgbClr val="FF0000"/>
                </a:solidFill>
              </a:rPr>
              <a:t>l</a:t>
            </a:r>
            <a:r>
              <a:rPr lang="en-US" altLang="zh-CN" sz="2000" baseline="-25000" dirty="0">
                <a:solidFill>
                  <a:srgbClr val="FF0000"/>
                </a:solidFill>
              </a:rPr>
              <a:t>0</a:t>
            </a:r>
            <a:r>
              <a:rPr lang="en-US" altLang="zh-CN" sz="2000" dirty="0">
                <a:solidFill>
                  <a:srgbClr val="FF0000"/>
                </a:solidFill>
              </a:rPr>
              <a:t>/</a:t>
            </a:r>
            <a:r>
              <a:rPr lang="en-US" altLang="zh-CN" sz="2000" i="1" dirty="0" err="1">
                <a:solidFill>
                  <a:srgbClr val="FF0000"/>
                </a:solidFill>
              </a:rPr>
              <a:t>i</a:t>
            </a:r>
            <a:r>
              <a:rPr lang="en-US" altLang="zh-CN" sz="2000" dirty="0">
                <a:solidFill>
                  <a:srgbClr val="FF0000"/>
                </a:solidFill>
              </a:rPr>
              <a:t>&gt;34-12(</a:t>
            </a:r>
            <a:r>
              <a:rPr lang="en-US" altLang="zh-CN" sz="2000" i="1" dirty="0">
                <a:solidFill>
                  <a:srgbClr val="FF0000"/>
                </a:solidFill>
              </a:rPr>
              <a:t>M</a:t>
            </a:r>
            <a:r>
              <a:rPr lang="en-US" altLang="zh-CN" sz="2000" baseline="-25000" dirty="0">
                <a:solidFill>
                  <a:srgbClr val="FF0000"/>
                </a:solidFill>
              </a:rPr>
              <a:t>1</a:t>
            </a:r>
            <a:r>
              <a:rPr lang="en-US" altLang="zh-CN" sz="2000" dirty="0">
                <a:solidFill>
                  <a:srgbClr val="FF0000"/>
                </a:solidFill>
              </a:rPr>
              <a:t>/</a:t>
            </a:r>
            <a:r>
              <a:rPr lang="en-US" altLang="zh-CN" sz="2000" i="1" dirty="0">
                <a:solidFill>
                  <a:srgbClr val="FF0000"/>
                </a:solidFill>
              </a:rPr>
              <a:t>M</a:t>
            </a:r>
            <a:r>
              <a:rPr lang="en-US" altLang="zh-CN" sz="2000" baseline="-25000" dirty="0">
                <a:solidFill>
                  <a:srgbClr val="FF0000"/>
                </a:solidFill>
              </a:rPr>
              <a:t>2</a:t>
            </a:r>
            <a:r>
              <a:rPr lang="en-US" altLang="zh-CN" sz="2000" dirty="0">
                <a:solidFill>
                  <a:srgbClr val="FF0000"/>
                </a:solidFill>
              </a:rPr>
              <a:t>)</a:t>
            </a:r>
            <a:endParaRPr lang="zh-CN" altLang="en-US" sz="2000" dirty="0">
              <a:solidFill>
                <a:srgbClr val="FF0000"/>
              </a:solidFill>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30755" name="Rectangle 3"/>
          <p:cNvSpPr>
            <a:spLocks noChangeArrowheads="1"/>
          </p:cNvSpPr>
          <p:nvPr/>
        </p:nvSpPr>
        <p:spPr bwMode="auto">
          <a:xfrm>
            <a:off x="611188" y="1066800"/>
            <a:ext cx="8228012"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0"/>
              </a:spcBef>
              <a:buClrTx/>
              <a:buFontTx/>
              <a:buNone/>
            </a:pPr>
            <a:r>
              <a:rPr lang="en-US" altLang="zh-CN" dirty="0">
                <a:solidFill>
                  <a:srgbClr val="990099"/>
                </a:solidFill>
              </a:rPr>
              <a:t>5.</a:t>
            </a:r>
            <a:r>
              <a:rPr lang="zh-CN" altLang="en-US" dirty="0">
                <a:solidFill>
                  <a:srgbClr val="990099"/>
                </a:solidFill>
              </a:rPr>
              <a:t> 柱的计算长度</a:t>
            </a:r>
            <a:r>
              <a:rPr lang="en-US" altLang="zh-CN" i="1" dirty="0">
                <a:solidFill>
                  <a:srgbClr val="990099"/>
                </a:solidFill>
              </a:rPr>
              <a:t>l</a:t>
            </a:r>
            <a:r>
              <a:rPr lang="en-US" altLang="zh-CN" baseline="-25000" dirty="0">
                <a:solidFill>
                  <a:srgbClr val="990099"/>
                </a:solidFill>
              </a:rPr>
              <a:t>0</a:t>
            </a:r>
            <a:endParaRPr lang="zh-CN" altLang="en-US" baseline="-25000" dirty="0">
              <a:solidFill>
                <a:srgbClr val="990099"/>
              </a:solidFill>
            </a:endParaRPr>
          </a:p>
        </p:txBody>
      </p:sp>
      <p:sp>
        <p:nvSpPr>
          <p:cNvPr id="13" name="Rectangle 18"/>
          <p:cNvSpPr>
            <a:spLocks noChangeArrowheads="1"/>
          </p:cNvSpPr>
          <p:nvPr/>
        </p:nvSpPr>
        <p:spPr bwMode="auto">
          <a:xfrm>
            <a:off x="500034" y="1643050"/>
            <a:ext cx="7929618" cy="2272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lnSpc>
                <a:spcPct val="120000"/>
              </a:lnSpc>
              <a:spcBef>
                <a:spcPct val="0"/>
              </a:spcBef>
              <a:buClrTx/>
              <a:buFontTx/>
              <a:buAutoNum type="arabicPeriod"/>
            </a:pPr>
            <a:r>
              <a:rPr lang="zh-CN" altLang="en-US" sz="2000" dirty="0">
                <a:solidFill>
                  <a:schemeClr val="tx2"/>
                </a:solidFill>
              </a:rPr>
              <a:t>刚性屋盖单层房屋排架柱、露天吊车柱和栈桥柱的计算长度，查附表</a:t>
            </a:r>
            <a:r>
              <a:rPr lang="en-US" altLang="zh-CN" sz="2000" dirty="0">
                <a:solidFill>
                  <a:schemeClr val="tx2"/>
                </a:solidFill>
              </a:rPr>
              <a:t>23</a:t>
            </a:r>
            <a:r>
              <a:rPr lang="zh-CN" altLang="en-US" sz="2000" dirty="0">
                <a:solidFill>
                  <a:schemeClr val="tx2"/>
                </a:solidFill>
              </a:rPr>
              <a:t>；</a:t>
            </a:r>
            <a:endParaRPr lang="en-US" altLang="zh-CN" sz="2000" dirty="0">
              <a:solidFill>
                <a:schemeClr val="tx2"/>
              </a:solidFill>
            </a:endParaRPr>
          </a:p>
          <a:p>
            <a:pPr marL="342900" indent="-342900" algn="l">
              <a:lnSpc>
                <a:spcPct val="120000"/>
              </a:lnSpc>
              <a:spcBef>
                <a:spcPct val="0"/>
              </a:spcBef>
              <a:buClrTx/>
              <a:buFontTx/>
              <a:buAutoNum type="arabicPeriod"/>
            </a:pPr>
            <a:r>
              <a:rPr lang="zh-CN" altLang="en-US" sz="2000" dirty="0">
                <a:solidFill>
                  <a:schemeClr val="tx2"/>
                </a:solidFill>
              </a:rPr>
              <a:t>一般多层房屋中梁柱为刚接的框架结构，各层柱的计算长度，查附表</a:t>
            </a:r>
            <a:r>
              <a:rPr lang="en-US" altLang="zh-CN" sz="2000" dirty="0">
                <a:solidFill>
                  <a:schemeClr val="tx2"/>
                </a:solidFill>
              </a:rPr>
              <a:t>24</a:t>
            </a:r>
            <a:r>
              <a:rPr lang="zh-CN" altLang="en-US" sz="2000" dirty="0">
                <a:solidFill>
                  <a:schemeClr val="tx2"/>
                </a:solidFill>
              </a:rPr>
              <a:t>；</a:t>
            </a:r>
            <a:endParaRPr lang="en-US" altLang="zh-CN" sz="2000" dirty="0">
              <a:solidFill>
                <a:schemeClr val="tx2"/>
              </a:solidFill>
            </a:endParaRPr>
          </a:p>
          <a:p>
            <a:pPr marL="342900" indent="-342900" algn="l">
              <a:lnSpc>
                <a:spcPct val="120000"/>
              </a:lnSpc>
              <a:spcBef>
                <a:spcPct val="0"/>
              </a:spcBef>
              <a:buClrTx/>
              <a:buFontTx/>
              <a:buAutoNum type="arabicPeriod"/>
            </a:pPr>
            <a:r>
              <a:rPr lang="zh-CN" altLang="en-US" sz="2000" dirty="0">
                <a:solidFill>
                  <a:schemeClr val="tx2"/>
                </a:solidFill>
              </a:rPr>
              <a:t>当水平荷载产生的弯矩设计值占总弯矩设计值的</a:t>
            </a:r>
            <a:r>
              <a:rPr lang="en-US" altLang="zh-CN" sz="2000" dirty="0">
                <a:solidFill>
                  <a:schemeClr val="tx2"/>
                </a:solidFill>
              </a:rPr>
              <a:t>75%</a:t>
            </a:r>
            <a:r>
              <a:rPr lang="zh-CN" altLang="en-US" sz="2000" dirty="0">
                <a:solidFill>
                  <a:schemeClr val="tx2"/>
                </a:solidFill>
              </a:rPr>
              <a:t>以上时，框架柱的计算长度取</a:t>
            </a:r>
          </a:p>
        </p:txBody>
      </p:sp>
      <p:graphicFrame>
        <p:nvGraphicFramePr>
          <p:cNvPr id="14" name="对象 13"/>
          <p:cNvGraphicFramePr>
            <a:graphicFrameLocks noChangeAspect="1"/>
          </p:cNvGraphicFramePr>
          <p:nvPr/>
        </p:nvGraphicFramePr>
        <p:xfrm>
          <a:off x="1928794" y="3935561"/>
          <a:ext cx="3163950" cy="993637"/>
        </p:xfrm>
        <a:graphic>
          <a:graphicData uri="http://schemas.openxmlformats.org/presentationml/2006/ole">
            <mc:AlternateContent xmlns:mc="http://schemas.openxmlformats.org/markup-compatibility/2006">
              <mc:Choice xmlns:v="urn:schemas-microsoft-com:vml" Requires="v">
                <p:oleObj spid="_x0000_s518290" name="公式" r:id="rId3" imgW="1536480" imgH="482400" progId="Equation.3">
                  <p:embed/>
                </p:oleObj>
              </mc:Choice>
              <mc:Fallback>
                <p:oleObj name="公式" r:id="rId3" imgW="1536480" imgH="4824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8794" y="3935561"/>
                        <a:ext cx="3163950" cy="993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5383" name="Object 7"/>
          <p:cNvGraphicFramePr>
            <a:graphicFrameLocks noChangeAspect="1"/>
          </p:cNvGraphicFramePr>
          <p:nvPr/>
        </p:nvGraphicFramePr>
        <p:xfrm>
          <a:off x="5357818" y="4221313"/>
          <a:ext cx="2301875" cy="454028"/>
        </p:xfrm>
        <a:graphic>
          <a:graphicData uri="http://schemas.openxmlformats.org/presentationml/2006/ole">
            <mc:AlternateContent xmlns:mc="http://schemas.openxmlformats.org/markup-compatibility/2006">
              <mc:Choice xmlns:v="urn:schemas-microsoft-com:vml" Requires="v">
                <p:oleObj spid="_x0000_s518291" name="公式" r:id="rId5" imgW="1117440" imgH="228600" progId="Equation.3">
                  <p:embed/>
                </p:oleObj>
              </mc:Choice>
              <mc:Fallback>
                <p:oleObj name="公式" r:id="rId5" imgW="1117440" imgH="2286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57818" y="4221313"/>
                        <a:ext cx="2301875" cy="4540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5384" name="Object 8"/>
          <p:cNvGraphicFramePr>
            <a:graphicFrameLocks noChangeAspect="1"/>
          </p:cNvGraphicFramePr>
          <p:nvPr/>
        </p:nvGraphicFramePr>
        <p:xfrm>
          <a:off x="2300580" y="5278442"/>
          <a:ext cx="287338" cy="327025"/>
        </p:xfrm>
        <a:graphic>
          <a:graphicData uri="http://schemas.openxmlformats.org/presentationml/2006/ole">
            <mc:AlternateContent xmlns:mc="http://schemas.openxmlformats.org/markup-compatibility/2006">
              <mc:Choice xmlns:v="urn:schemas-microsoft-com:vml" Requires="v">
                <p:oleObj spid="_x0000_s518292" name="公式" r:id="rId7" imgW="139680" imgH="164880" progId="Equation.3">
                  <p:embed/>
                </p:oleObj>
              </mc:Choice>
              <mc:Fallback>
                <p:oleObj name="公式" r:id="rId7" imgW="139680" imgH="16488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00580" y="5278442"/>
                        <a:ext cx="287338" cy="32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Box 17"/>
          <p:cNvSpPr txBox="1"/>
          <p:nvPr/>
        </p:nvSpPr>
        <p:spPr>
          <a:xfrm>
            <a:off x="2579977" y="5214950"/>
            <a:ext cx="4206601" cy="424732"/>
          </a:xfrm>
          <a:prstGeom prst="rect">
            <a:avLst/>
          </a:prstGeom>
          <a:noFill/>
        </p:spPr>
        <p:txBody>
          <a:bodyPr wrap="none" rtlCol="0">
            <a:spAutoFit/>
          </a:bodyPr>
          <a:lstStyle/>
          <a:p>
            <a:r>
              <a:rPr lang="zh-CN" altLang="en-US" dirty="0"/>
              <a:t>柱的线刚度与梁的线刚度之比</a:t>
            </a:r>
          </a:p>
        </p:txBody>
      </p:sp>
    </p:spTree>
    <p:extLst>
      <p:ext uri="{BB962C8B-B14F-4D97-AF65-F5344CB8AC3E}">
        <p14:creationId xmlns:p14="http://schemas.microsoft.com/office/powerpoint/2010/main" val="3122343633"/>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1778"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31779" name="Rectangle 3"/>
          <p:cNvSpPr>
            <a:spLocks noChangeArrowheads="1"/>
          </p:cNvSpPr>
          <p:nvPr/>
        </p:nvSpPr>
        <p:spPr bwMode="auto">
          <a:xfrm>
            <a:off x="611188" y="1066800"/>
            <a:ext cx="7770812" cy="4191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dirty="0">
                <a:solidFill>
                  <a:srgbClr val="A50021"/>
                </a:solidFill>
                <a:latin typeface="华文中宋" pitchFamily="2" charset="-122"/>
                <a:ea typeface="华文中宋" pitchFamily="2" charset="-122"/>
              </a:rPr>
              <a:t>四</a:t>
            </a:r>
            <a:r>
              <a:rPr lang="en-US" altLang="zh-CN" sz="2800" dirty="0">
                <a:solidFill>
                  <a:srgbClr val="A50021"/>
                </a:solidFill>
                <a:latin typeface="华文中宋" pitchFamily="2" charset="-122"/>
                <a:ea typeface="华文中宋" pitchFamily="2" charset="-122"/>
              </a:rPr>
              <a:t>.</a:t>
            </a:r>
            <a:r>
              <a:rPr lang="zh-CN" altLang="en-US" sz="2800" dirty="0">
                <a:solidFill>
                  <a:srgbClr val="A50021"/>
                </a:solidFill>
                <a:latin typeface="华文中宋" pitchFamily="2" charset="-122"/>
                <a:ea typeface="华文中宋" pitchFamily="2" charset="-122"/>
              </a:rPr>
              <a:t>非对称配筋偏心受压构件截面配筋的计算</a:t>
            </a:r>
            <a:r>
              <a:rPr lang="zh-CN" altLang="en-US" dirty="0"/>
              <a:t> </a:t>
            </a:r>
            <a:endParaRPr lang="zh-CN" altLang="en-US" sz="2800" dirty="0">
              <a:solidFill>
                <a:srgbClr val="A50021"/>
              </a:solidFill>
              <a:latin typeface="华文中宋" pitchFamily="2" charset="-122"/>
              <a:ea typeface="华文中宋" pitchFamily="2" charset="-122"/>
            </a:endParaRPr>
          </a:p>
          <a:p>
            <a:pPr algn="l">
              <a:lnSpc>
                <a:spcPct val="120000"/>
              </a:lnSpc>
              <a:buClrTx/>
              <a:buFontTx/>
              <a:buNone/>
            </a:pPr>
            <a:r>
              <a:rPr lang="zh-CN" altLang="en-US" sz="2000" dirty="0"/>
              <a:t>当偏心受压构件截面两侧所配的钢筋数量不同时，该截面称为为</a:t>
            </a:r>
            <a:r>
              <a:rPr lang="zh-CN" altLang="en-US" sz="2000" dirty="0">
                <a:solidFill>
                  <a:srgbClr val="FF0000"/>
                </a:solidFill>
              </a:rPr>
              <a:t>非对称配筋截面</a:t>
            </a:r>
            <a:r>
              <a:rPr lang="zh-CN" altLang="en-US" sz="2000" dirty="0"/>
              <a:t>。</a:t>
            </a:r>
          </a:p>
          <a:p>
            <a:pPr algn="l">
              <a:lnSpc>
                <a:spcPct val="120000"/>
              </a:lnSpc>
              <a:buClrTx/>
              <a:buFontTx/>
              <a:buNone/>
            </a:pPr>
            <a:r>
              <a:rPr lang="zh-CN" altLang="en-US" sz="2000" dirty="0"/>
              <a:t>大小偏压构件的计算公式是不同的，所以首先要对大小偏心受压情况进行判断。</a:t>
            </a:r>
            <a:r>
              <a:rPr lang="zh-CN" altLang="en-US" dirty="0"/>
              <a:t> </a:t>
            </a:r>
          </a:p>
          <a:p>
            <a:pPr algn="l">
              <a:lnSpc>
                <a:spcPct val="120000"/>
              </a:lnSpc>
              <a:buClrTx/>
              <a:buFontTx/>
              <a:buNone/>
            </a:pPr>
            <a:r>
              <a:rPr lang="en-US" altLang="zh-CN" dirty="0">
                <a:solidFill>
                  <a:srgbClr val="990099"/>
                </a:solidFill>
              </a:rPr>
              <a:t>1.</a:t>
            </a:r>
            <a:r>
              <a:rPr lang="zh-CN" altLang="en-US" dirty="0">
                <a:solidFill>
                  <a:srgbClr val="990099"/>
                </a:solidFill>
              </a:rPr>
              <a:t>判断条件</a:t>
            </a:r>
          </a:p>
          <a:p>
            <a:pPr algn="l">
              <a:lnSpc>
                <a:spcPct val="110000"/>
              </a:lnSpc>
              <a:spcBef>
                <a:spcPct val="50000"/>
              </a:spcBef>
            </a:pPr>
            <a:r>
              <a:rPr lang="zh-CN" altLang="en-US" sz="2000" dirty="0"/>
              <a:t>大偏心受压构件：</a:t>
            </a:r>
            <a:r>
              <a:rPr lang="el-GR" altLang="zh-CN" sz="2000" i="1" dirty="0"/>
              <a:t>ξ</a:t>
            </a:r>
            <a:r>
              <a:rPr lang="en-US" altLang="zh-CN" sz="2000" dirty="0"/>
              <a:t>≤</a:t>
            </a:r>
            <a:r>
              <a:rPr lang="el-GR" altLang="zh-CN" sz="2000" i="1" dirty="0"/>
              <a:t>ξ</a:t>
            </a:r>
            <a:r>
              <a:rPr lang="en-US" altLang="zh-CN" sz="2000" baseline="-25000" dirty="0"/>
              <a:t>b</a:t>
            </a:r>
            <a:r>
              <a:rPr lang="zh-CN" altLang="en-US" sz="2000" dirty="0"/>
              <a:t>；小偏心受压构件：</a:t>
            </a:r>
            <a:r>
              <a:rPr lang="el-GR" altLang="zh-CN" sz="2000" i="1" dirty="0"/>
              <a:t>ξ</a:t>
            </a:r>
            <a:r>
              <a:rPr lang="en-US" altLang="zh-CN" sz="2000" dirty="0"/>
              <a:t>&gt;</a:t>
            </a:r>
            <a:r>
              <a:rPr lang="el-GR" altLang="zh-CN" sz="2000" i="1" dirty="0"/>
              <a:t>ξ</a:t>
            </a:r>
            <a:r>
              <a:rPr lang="en-US" altLang="zh-CN" sz="2000" baseline="-25000" dirty="0"/>
              <a:t>b</a:t>
            </a:r>
            <a:r>
              <a:rPr lang="zh-CN" altLang="en-US" sz="2000" dirty="0"/>
              <a:t>。</a:t>
            </a:r>
          </a:p>
          <a:p>
            <a:pPr algn="l">
              <a:lnSpc>
                <a:spcPct val="110000"/>
              </a:lnSpc>
              <a:spcBef>
                <a:spcPct val="50000"/>
              </a:spcBef>
            </a:pPr>
            <a:r>
              <a:rPr lang="zh-CN" altLang="en-US" sz="2000" dirty="0">
                <a:solidFill>
                  <a:schemeClr val="tx1"/>
                </a:solidFill>
              </a:rPr>
              <a:t>设计截面的时候，钢筋尚未确定，无法采用前述公式</a:t>
            </a:r>
            <a:endParaRPr lang="en-US" altLang="zh-CN" sz="2000" dirty="0">
              <a:solidFill>
                <a:schemeClr val="tx1"/>
              </a:solidFill>
            </a:endParaRPr>
          </a:p>
          <a:p>
            <a:pPr algn="l">
              <a:lnSpc>
                <a:spcPct val="110000"/>
              </a:lnSpc>
              <a:spcBef>
                <a:spcPct val="50000"/>
              </a:spcBef>
            </a:pPr>
            <a:r>
              <a:rPr lang="zh-CN" altLang="en-US" sz="2000" dirty="0">
                <a:solidFill>
                  <a:schemeClr val="tx1"/>
                </a:solidFill>
              </a:rPr>
              <a:t>计算</a:t>
            </a:r>
            <a:r>
              <a:rPr lang="el-GR" altLang="zh-CN" sz="2000" i="1" dirty="0">
                <a:solidFill>
                  <a:schemeClr val="tx1"/>
                </a:solidFill>
              </a:rPr>
              <a:t>ξ</a:t>
            </a:r>
            <a:r>
              <a:rPr lang="zh-CN" altLang="en-US" sz="2000" dirty="0">
                <a:solidFill>
                  <a:schemeClr val="tx1"/>
                </a:solidFill>
              </a:rPr>
              <a:t>或</a:t>
            </a:r>
            <a:r>
              <a:rPr lang="en-US" altLang="zh-CN" sz="2000" i="1" dirty="0">
                <a:solidFill>
                  <a:schemeClr val="tx1"/>
                </a:solidFill>
              </a:rPr>
              <a:t>x</a:t>
            </a:r>
            <a:r>
              <a:rPr lang="zh-CN" altLang="en-US" sz="2000" dirty="0">
                <a:solidFill>
                  <a:schemeClr val="tx1"/>
                </a:solidFill>
              </a:rPr>
              <a:t>。需要寻求一种</a:t>
            </a:r>
            <a:r>
              <a:rPr lang="zh-CN" altLang="en-US" sz="2000" dirty="0">
                <a:solidFill>
                  <a:srgbClr val="FF0000"/>
                </a:solidFill>
              </a:rPr>
              <a:t>初步判断的方法</a:t>
            </a:r>
            <a:r>
              <a:rPr lang="zh-CN" altLang="en-US" sz="2000" dirty="0">
                <a:solidFill>
                  <a:schemeClr val="tx1"/>
                </a:solidFill>
              </a:rPr>
              <a:t>。</a:t>
            </a:r>
          </a:p>
        </p:txBody>
      </p:sp>
      <p:pic>
        <p:nvPicPr>
          <p:cNvPr id="4" name="Picture 10" descr="gj0716"/>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8214" t="51918" r="50797" b="5403"/>
          <a:stretch>
            <a:fillRect/>
          </a:stretch>
        </p:blipFill>
        <p:spPr bwMode="auto">
          <a:xfrm>
            <a:off x="6715140" y="3000372"/>
            <a:ext cx="2254003" cy="2438400"/>
          </a:xfrm>
          <a:prstGeom prst="roundRect">
            <a:avLst/>
          </a:prstGeom>
          <a:solidFill>
            <a:schemeClr val="bg1"/>
          </a:solidFill>
          <a:extLst/>
        </p:spPr>
      </p:pic>
      <p:graphicFrame>
        <p:nvGraphicFramePr>
          <p:cNvPr id="396289" name="Object 1"/>
          <p:cNvGraphicFramePr>
            <a:graphicFrameLocks noChangeAspect="1"/>
          </p:cNvGraphicFramePr>
          <p:nvPr>
            <p:extLst>
              <p:ext uri="{D42A27DB-BD31-4B8C-83A1-F6EECF244321}">
                <p14:modId xmlns:p14="http://schemas.microsoft.com/office/powerpoint/2010/main" val="2195189587"/>
              </p:ext>
            </p:extLst>
          </p:nvPr>
        </p:nvGraphicFramePr>
        <p:xfrm>
          <a:off x="1589088" y="5429250"/>
          <a:ext cx="6192837" cy="774700"/>
        </p:xfrm>
        <a:graphic>
          <a:graphicData uri="http://schemas.openxmlformats.org/presentationml/2006/ole">
            <mc:AlternateContent xmlns:mc="http://schemas.openxmlformats.org/markup-compatibility/2006">
              <mc:Choice xmlns:v="urn:schemas-microsoft-com:vml" Requires="v">
                <p:oleObj spid="_x0000_s519218" name="Equation" r:id="rId4" imgW="4254480" imgH="533160" progId="Equation.DSMT4">
                  <p:embed/>
                </p:oleObj>
              </mc:Choice>
              <mc:Fallback>
                <p:oleObj name="Equation" r:id="rId4" imgW="4254480" imgH="533160" progId="Equation.DSMT4">
                  <p:embed/>
                  <p:pic>
                    <p:nvPicPr>
                      <p:cNvPr id="0" name="Picture 2"/>
                      <p:cNvPicPr>
                        <a:picLocks noChangeAspect="1" noChangeArrowheads="1"/>
                      </p:cNvPicPr>
                      <p:nvPr/>
                    </p:nvPicPr>
                    <p:blipFill>
                      <a:blip r:embed="rId5"/>
                      <a:srcRect/>
                      <a:stretch>
                        <a:fillRect/>
                      </a:stretch>
                    </p:blipFill>
                    <p:spPr bwMode="auto">
                      <a:xfrm>
                        <a:off x="1589088" y="5429250"/>
                        <a:ext cx="6192837" cy="7747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Box 5"/>
          <p:cNvSpPr txBox="1"/>
          <p:nvPr/>
        </p:nvSpPr>
        <p:spPr>
          <a:xfrm>
            <a:off x="8001024" y="3286124"/>
            <a:ext cx="428628" cy="286232"/>
          </a:xfrm>
          <a:prstGeom prst="rect">
            <a:avLst/>
          </a:prstGeom>
          <a:solidFill>
            <a:schemeClr val="bg1"/>
          </a:solidFill>
        </p:spPr>
        <p:txBody>
          <a:bodyPr wrap="square" rtlCol="0">
            <a:spAutoFit/>
          </a:bodyPr>
          <a:lstStyle/>
          <a:p>
            <a:r>
              <a:rPr lang="en-US" altLang="zh-CN" sz="1400" i="1" dirty="0"/>
              <a:t>e</a:t>
            </a:r>
            <a:r>
              <a:rPr lang="en-US" altLang="zh-CN" sz="1400" baseline="-25000" dirty="0"/>
              <a:t>0b</a:t>
            </a:r>
            <a:endParaRPr lang="zh-CN" altLang="en-US" sz="1400" baseline="-25000" dirty="0"/>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1778"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31779" name="Rectangle 3"/>
          <p:cNvSpPr>
            <a:spLocks noChangeArrowheads="1"/>
          </p:cNvSpPr>
          <p:nvPr/>
        </p:nvSpPr>
        <p:spPr bwMode="auto">
          <a:xfrm>
            <a:off x="611188" y="1066800"/>
            <a:ext cx="77708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dirty="0">
                <a:solidFill>
                  <a:srgbClr val="A50021"/>
                </a:solidFill>
                <a:latin typeface="华文中宋" pitchFamily="2" charset="-122"/>
                <a:ea typeface="华文中宋" pitchFamily="2" charset="-122"/>
              </a:rPr>
              <a:t>四</a:t>
            </a:r>
            <a:r>
              <a:rPr lang="en-US" altLang="zh-CN" sz="2800" dirty="0">
                <a:solidFill>
                  <a:srgbClr val="A50021"/>
                </a:solidFill>
                <a:latin typeface="华文中宋" pitchFamily="2" charset="-122"/>
                <a:ea typeface="华文中宋" pitchFamily="2" charset="-122"/>
              </a:rPr>
              <a:t>.</a:t>
            </a:r>
            <a:r>
              <a:rPr lang="zh-CN" altLang="en-US" sz="2800" dirty="0">
                <a:solidFill>
                  <a:srgbClr val="A50021"/>
                </a:solidFill>
                <a:latin typeface="华文中宋" pitchFamily="2" charset="-122"/>
                <a:ea typeface="华文中宋" pitchFamily="2" charset="-122"/>
              </a:rPr>
              <a:t>非对称配筋偏心受压构件截面配筋的计算</a:t>
            </a:r>
            <a:r>
              <a:rPr lang="zh-CN" altLang="en-US" dirty="0"/>
              <a:t> </a:t>
            </a:r>
            <a:endParaRPr lang="zh-CN" altLang="en-US" sz="2800" dirty="0">
              <a:solidFill>
                <a:srgbClr val="A50021"/>
              </a:solidFill>
              <a:latin typeface="华文中宋" pitchFamily="2" charset="-122"/>
              <a:ea typeface="华文中宋" pitchFamily="2" charset="-122"/>
            </a:endParaRPr>
          </a:p>
        </p:txBody>
      </p:sp>
      <p:sp>
        <p:nvSpPr>
          <p:cNvPr id="4" name="Rectangle 3"/>
          <p:cNvSpPr>
            <a:spLocks noChangeArrowheads="1"/>
          </p:cNvSpPr>
          <p:nvPr/>
        </p:nvSpPr>
        <p:spPr bwMode="auto">
          <a:xfrm>
            <a:off x="1230344" y="5334000"/>
            <a:ext cx="7770812"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10000"/>
              </a:lnSpc>
              <a:spcBef>
                <a:spcPct val="50000"/>
              </a:spcBef>
            </a:pPr>
            <a:r>
              <a:rPr lang="en-US" altLang="zh-CN" sz="2000" i="1" dirty="0">
                <a:solidFill>
                  <a:srgbClr val="FF0000"/>
                </a:solidFill>
              </a:rPr>
              <a:t>e</a:t>
            </a:r>
            <a:r>
              <a:rPr lang="en-US" altLang="zh-CN" sz="2000" baseline="-25000" dirty="0">
                <a:solidFill>
                  <a:srgbClr val="FF0000"/>
                </a:solidFill>
              </a:rPr>
              <a:t>i</a:t>
            </a:r>
            <a:r>
              <a:rPr lang="en-US" altLang="zh-CN" sz="2000" dirty="0">
                <a:solidFill>
                  <a:srgbClr val="FF0000"/>
                </a:solidFill>
              </a:rPr>
              <a:t>≤0.3</a:t>
            </a:r>
            <a:r>
              <a:rPr lang="en-US" altLang="zh-CN" sz="2000" i="1" dirty="0">
                <a:solidFill>
                  <a:srgbClr val="FF0000"/>
                </a:solidFill>
              </a:rPr>
              <a:t>h</a:t>
            </a:r>
            <a:r>
              <a:rPr lang="en-US" altLang="zh-CN" sz="2000" baseline="-25000" dirty="0">
                <a:solidFill>
                  <a:srgbClr val="FF0000"/>
                </a:solidFill>
              </a:rPr>
              <a:t>0</a:t>
            </a:r>
            <a:r>
              <a:rPr lang="zh-CN" altLang="en-US" sz="2000" dirty="0">
                <a:solidFill>
                  <a:schemeClr val="tx1"/>
                </a:solidFill>
              </a:rPr>
              <a:t>时，属于小偏心受压情况；</a:t>
            </a:r>
          </a:p>
          <a:p>
            <a:pPr algn="l">
              <a:lnSpc>
                <a:spcPct val="110000"/>
              </a:lnSpc>
              <a:spcBef>
                <a:spcPct val="50000"/>
              </a:spcBef>
            </a:pPr>
            <a:r>
              <a:rPr lang="en-US" altLang="zh-CN" sz="2000" i="1" dirty="0" err="1">
                <a:solidFill>
                  <a:srgbClr val="FF0000"/>
                </a:solidFill>
              </a:rPr>
              <a:t>e</a:t>
            </a:r>
            <a:r>
              <a:rPr lang="en-US" altLang="zh-CN" sz="2000" baseline="-25000" dirty="0" err="1">
                <a:solidFill>
                  <a:srgbClr val="FF0000"/>
                </a:solidFill>
              </a:rPr>
              <a:t>i</a:t>
            </a:r>
            <a:r>
              <a:rPr lang="en-US" altLang="zh-CN" sz="2000" dirty="0">
                <a:solidFill>
                  <a:srgbClr val="FF0000"/>
                </a:solidFill>
              </a:rPr>
              <a:t> &gt; 0.3</a:t>
            </a:r>
            <a:r>
              <a:rPr lang="en-US" altLang="zh-CN" sz="2000" i="1" dirty="0">
                <a:solidFill>
                  <a:srgbClr val="FF0000"/>
                </a:solidFill>
              </a:rPr>
              <a:t>h</a:t>
            </a:r>
            <a:r>
              <a:rPr lang="en-US" altLang="zh-CN" sz="2000" baseline="-25000" dirty="0">
                <a:solidFill>
                  <a:srgbClr val="FF0000"/>
                </a:solidFill>
              </a:rPr>
              <a:t>0</a:t>
            </a:r>
            <a:r>
              <a:rPr lang="zh-CN" altLang="en-US" sz="2000" dirty="0">
                <a:solidFill>
                  <a:schemeClr val="tx1"/>
                </a:solidFill>
              </a:rPr>
              <a:t>时，可能为大偏心受压情况，可先按大偏心受压构件计算，求得</a:t>
            </a:r>
            <a:r>
              <a:rPr lang="el-GR" altLang="zh-CN" sz="2000" i="1" dirty="0">
                <a:solidFill>
                  <a:schemeClr val="tx1"/>
                </a:solidFill>
              </a:rPr>
              <a:t>ξ</a:t>
            </a:r>
            <a:r>
              <a:rPr lang="zh-CN" altLang="en-US" sz="2000" dirty="0">
                <a:solidFill>
                  <a:schemeClr val="tx1"/>
                </a:solidFill>
              </a:rPr>
              <a:t>或</a:t>
            </a:r>
            <a:r>
              <a:rPr lang="en-US" altLang="zh-CN" sz="2000" i="1" dirty="0">
                <a:solidFill>
                  <a:schemeClr val="tx1"/>
                </a:solidFill>
              </a:rPr>
              <a:t>x</a:t>
            </a:r>
            <a:r>
              <a:rPr lang="zh-CN" altLang="en-US" sz="2000" dirty="0">
                <a:solidFill>
                  <a:schemeClr val="tx1"/>
                </a:solidFill>
              </a:rPr>
              <a:t>后，再按照条件做最后的判断。</a:t>
            </a:r>
          </a:p>
        </p:txBody>
      </p:sp>
      <p:pic>
        <p:nvPicPr>
          <p:cNvPr id="5" name="Picture 10" descr="gj0716"/>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8214" t="51918" r="50797" b="5403"/>
          <a:stretch>
            <a:fillRect/>
          </a:stretch>
        </p:blipFill>
        <p:spPr bwMode="auto">
          <a:xfrm>
            <a:off x="6813797" y="1371600"/>
            <a:ext cx="2254003" cy="24384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14723" name="Object 3"/>
          <p:cNvGraphicFramePr>
            <a:graphicFrameLocks noChangeAspect="1"/>
          </p:cNvGraphicFramePr>
          <p:nvPr>
            <p:extLst>
              <p:ext uri="{D42A27DB-BD31-4B8C-83A1-F6EECF244321}">
                <p14:modId xmlns:p14="http://schemas.microsoft.com/office/powerpoint/2010/main" val="3721926995"/>
              </p:ext>
            </p:extLst>
          </p:nvPr>
        </p:nvGraphicFramePr>
        <p:xfrm>
          <a:off x="1333500" y="2805113"/>
          <a:ext cx="4343400" cy="700087"/>
        </p:xfrm>
        <a:graphic>
          <a:graphicData uri="http://schemas.openxmlformats.org/presentationml/2006/ole">
            <mc:AlternateContent xmlns:mc="http://schemas.openxmlformats.org/markup-compatibility/2006">
              <mc:Choice xmlns:v="urn:schemas-microsoft-com:vml" Requires="v">
                <p:oleObj spid="_x0000_s520347" name="Equation" r:id="rId4" imgW="2984400" imgH="482400" progId="Equation.DSMT4">
                  <p:embed/>
                </p:oleObj>
              </mc:Choice>
              <mc:Fallback>
                <p:oleObj name="Equation" r:id="rId4" imgW="2984400" imgH="482400" progId="Equation.DSMT4">
                  <p:embed/>
                  <p:pic>
                    <p:nvPicPr>
                      <p:cNvPr id="0" name="Picture 3"/>
                      <p:cNvPicPr>
                        <a:picLocks noChangeAspect="1" noChangeArrowheads="1"/>
                      </p:cNvPicPr>
                      <p:nvPr/>
                    </p:nvPicPr>
                    <p:blipFill>
                      <a:blip r:embed="rId5"/>
                      <a:srcRect/>
                      <a:stretch>
                        <a:fillRect/>
                      </a:stretch>
                    </p:blipFill>
                    <p:spPr bwMode="auto">
                      <a:xfrm>
                        <a:off x="1333500" y="2805113"/>
                        <a:ext cx="4343400" cy="70008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3"/>
          <p:cNvGraphicFramePr>
            <a:graphicFrameLocks noChangeAspect="1"/>
          </p:cNvGraphicFramePr>
          <p:nvPr>
            <p:extLst>
              <p:ext uri="{D42A27DB-BD31-4B8C-83A1-F6EECF244321}">
                <p14:modId xmlns:p14="http://schemas.microsoft.com/office/powerpoint/2010/main" val="907290917"/>
              </p:ext>
            </p:extLst>
          </p:nvPr>
        </p:nvGraphicFramePr>
        <p:xfrm>
          <a:off x="1333500" y="3810000"/>
          <a:ext cx="4343400" cy="1363663"/>
        </p:xfrm>
        <a:graphic>
          <a:graphicData uri="http://schemas.openxmlformats.org/presentationml/2006/ole">
            <mc:AlternateContent xmlns:mc="http://schemas.openxmlformats.org/markup-compatibility/2006">
              <mc:Choice xmlns:v="urn:schemas-microsoft-com:vml" Requires="v">
                <p:oleObj spid="_x0000_s520348" name="Equation" r:id="rId6" imgW="2984400" imgH="939600" progId="Equation.DSMT4">
                  <p:embed/>
                </p:oleObj>
              </mc:Choice>
              <mc:Fallback>
                <p:oleObj name="Equation" r:id="rId6" imgW="2984400" imgH="939600" progId="Equation.DSMT4">
                  <p:embed/>
                  <p:pic>
                    <p:nvPicPr>
                      <p:cNvPr id="0" name="Picture 4"/>
                      <p:cNvPicPr>
                        <a:picLocks noChangeAspect="1" noChangeArrowheads="1"/>
                      </p:cNvPicPr>
                      <p:nvPr/>
                    </p:nvPicPr>
                    <p:blipFill>
                      <a:blip r:embed="rId7"/>
                      <a:srcRect/>
                      <a:stretch>
                        <a:fillRect/>
                      </a:stretch>
                    </p:blipFill>
                    <p:spPr bwMode="auto">
                      <a:xfrm>
                        <a:off x="1333500" y="3810000"/>
                        <a:ext cx="4343400" cy="1363663"/>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下箭头 8"/>
          <p:cNvSpPr/>
          <p:nvPr/>
        </p:nvSpPr>
        <p:spPr bwMode="auto">
          <a:xfrm>
            <a:off x="3200400" y="2514600"/>
            <a:ext cx="685800" cy="228600"/>
          </a:xfrm>
          <a:prstGeom prst="downArrow">
            <a:avLst/>
          </a:prstGeom>
          <a:solidFill>
            <a:srgbClr val="FF00FF"/>
          </a:solidFill>
          <a:ln w="38100"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endParaRPr kumimoji="0" lang="zh-CN" altLang="en-US" sz="2400" b="1" i="0" u="none" strike="noStrike" cap="none" normalizeH="0" baseline="0">
              <a:ln>
                <a:noFill/>
              </a:ln>
              <a:solidFill>
                <a:srgbClr val="0000FF"/>
              </a:solidFill>
              <a:effectLst/>
              <a:latin typeface="Times New Roman" pitchFamily="18" charset="0"/>
              <a:ea typeface="宋体" pitchFamily="2" charset="-122"/>
            </a:endParaRPr>
          </a:p>
        </p:txBody>
      </p:sp>
      <p:sp>
        <p:nvSpPr>
          <p:cNvPr id="10" name="下箭头 9"/>
          <p:cNvSpPr/>
          <p:nvPr/>
        </p:nvSpPr>
        <p:spPr bwMode="auto">
          <a:xfrm>
            <a:off x="3200400" y="3581400"/>
            <a:ext cx="685800" cy="228600"/>
          </a:xfrm>
          <a:prstGeom prst="downArrow">
            <a:avLst/>
          </a:prstGeom>
          <a:solidFill>
            <a:srgbClr val="FF00FF"/>
          </a:solidFill>
          <a:ln w="38100"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endParaRPr kumimoji="0" lang="zh-CN" altLang="en-US" sz="2400" b="1" i="0" u="none" strike="noStrike" cap="none" normalizeH="0" baseline="0">
              <a:ln>
                <a:noFill/>
              </a:ln>
              <a:solidFill>
                <a:srgbClr val="0000FF"/>
              </a:solidFill>
              <a:effectLst/>
              <a:latin typeface="Times New Roman" pitchFamily="18" charset="0"/>
              <a:ea typeface="宋体" pitchFamily="2" charset="-122"/>
            </a:endParaRPr>
          </a:p>
        </p:txBody>
      </p:sp>
      <p:sp>
        <p:nvSpPr>
          <p:cNvPr id="11" name="TextBox 10"/>
          <p:cNvSpPr txBox="1"/>
          <p:nvPr/>
        </p:nvSpPr>
        <p:spPr>
          <a:xfrm>
            <a:off x="6248400" y="4343400"/>
            <a:ext cx="2438400" cy="646331"/>
          </a:xfrm>
          <a:prstGeom prst="rect">
            <a:avLst/>
          </a:prstGeom>
          <a:noFill/>
          <a:ln>
            <a:solidFill>
              <a:schemeClr val="tx2">
                <a:lumMod val="95000"/>
                <a:lumOff val="5000"/>
              </a:schemeClr>
            </a:solidFill>
          </a:ln>
        </p:spPr>
        <p:txBody>
          <a:bodyPr wrap="square" rtlCol="0">
            <a:spAutoFit/>
          </a:bodyPr>
          <a:lstStyle/>
          <a:p>
            <a:r>
              <a:rPr lang="zh-CN" altLang="en-US" sz="2000" dirty="0"/>
              <a:t>界限偏心距</a:t>
            </a:r>
            <a:r>
              <a:rPr lang="en-US" altLang="zh-CN" sz="2000" i="1" dirty="0"/>
              <a:t>e</a:t>
            </a:r>
            <a:r>
              <a:rPr lang="en-US" altLang="zh-CN" sz="2000" baseline="-25000" dirty="0"/>
              <a:t>0b</a:t>
            </a:r>
            <a:r>
              <a:rPr lang="en-US" altLang="zh-CN" sz="2000" dirty="0"/>
              <a:t>=0.3</a:t>
            </a:r>
            <a:r>
              <a:rPr lang="en-US" altLang="zh-CN" sz="2000" i="1" dirty="0"/>
              <a:t>h</a:t>
            </a:r>
            <a:r>
              <a:rPr lang="en-US" altLang="zh-CN" sz="2000" baseline="-25000" dirty="0"/>
              <a:t>0</a:t>
            </a:r>
            <a:endParaRPr lang="zh-CN" altLang="en-US" sz="2000" baseline="-25000" dirty="0"/>
          </a:p>
        </p:txBody>
      </p:sp>
      <p:sp>
        <p:nvSpPr>
          <p:cNvPr id="12" name="TextBox 11"/>
          <p:cNvSpPr txBox="1"/>
          <p:nvPr/>
        </p:nvSpPr>
        <p:spPr>
          <a:xfrm>
            <a:off x="8167686" y="1692910"/>
            <a:ext cx="428628" cy="286232"/>
          </a:xfrm>
          <a:prstGeom prst="rect">
            <a:avLst/>
          </a:prstGeom>
          <a:solidFill>
            <a:schemeClr val="bg1"/>
          </a:solidFill>
        </p:spPr>
        <p:txBody>
          <a:bodyPr wrap="square" rtlCol="0">
            <a:spAutoFit/>
          </a:bodyPr>
          <a:lstStyle/>
          <a:p>
            <a:r>
              <a:rPr lang="en-US" altLang="zh-CN" sz="1400" i="1" dirty="0"/>
              <a:t>e</a:t>
            </a:r>
            <a:r>
              <a:rPr lang="en-US" altLang="zh-CN" sz="1400" baseline="-25000" dirty="0"/>
              <a:t>0b</a:t>
            </a:r>
            <a:endParaRPr lang="zh-CN" altLang="en-US" sz="1400" baseline="-25000" dirty="0"/>
          </a:p>
        </p:txBody>
      </p:sp>
      <p:sp>
        <p:nvSpPr>
          <p:cNvPr id="13" name="TextBox 12"/>
          <p:cNvSpPr txBox="1"/>
          <p:nvPr/>
        </p:nvSpPr>
        <p:spPr>
          <a:xfrm>
            <a:off x="8715372" y="1285860"/>
            <a:ext cx="428628" cy="286232"/>
          </a:xfrm>
          <a:prstGeom prst="rect">
            <a:avLst/>
          </a:prstGeom>
          <a:solidFill>
            <a:schemeClr val="bg1"/>
          </a:solidFill>
        </p:spPr>
        <p:txBody>
          <a:bodyPr wrap="square" rtlCol="0">
            <a:spAutoFit/>
          </a:bodyPr>
          <a:lstStyle/>
          <a:p>
            <a:r>
              <a:rPr lang="en-US" altLang="zh-CN" sz="1400" i="1" dirty="0" err="1"/>
              <a:t>N</a:t>
            </a:r>
            <a:r>
              <a:rPr lang="en-US" altLang="zh-CN" sz="1400" baseline="-25000" dirty="0" err="1"/>
              <a:t>b</a:t>
            </a:r>
            <a:endParaRPr lang="zh-CN" altLang="en-US" sz="1400" baseline="-25000" dirty="0"/>
          </a:p>
        </p:txBody>
      </p:sp>
      <p:graphicFrame>
        <p:nvGraphicFramePr>
          <p:cNvPr id="14" name="Object 1"/>
          <p:cNvGraphicFramePr>
            <a:graphicFrameLocks noChangeAspect="1"/>
          </p:cNvGraphicFramePr>
          <p:nvPr>
            <p:extLst>
              <p:ext uri="{D42A27DB-BD31-4B8C-83A1-F6EECF244321}">
                <p14:modId xmlns:p14="http://schemas.microsoft.com/office/powerpoint/2010/main" val="3509515292"/>
              </p:ext>
            </p:extLst>
          </p:nvPr>
        </p:nvGraphicFramePr>
        <p:xfrm>
          <a:off x="544760" y="1633136"/>
          <a:ext cx="6192837" cy="774700"/>
        </p:xfrm>
        <a:graphic>
          <a:graphicData uri="http://schemas.openxmlformats.org/presentationml/2006/ole">
            <mc:AlternateContent xmlns:mc="http://schemas.openxmlformats.org/markup-compatibility/2006">
              <mc:Choice xmlns:v="urn:schemas-microsoft-com:vml" Requires="v">
                <p:oleObj spid="_x0000_s520349" name="Equation" r:id="rId8" imgW="4254480" imgH="533160" progId="Equation.DSMT4">
                  <p:embed/>
                </p:oleObj>
              </mc:Choice>
              <mc:Fallback>
                <p:oleObj name="Equation" r:id="rId8" imgW="4254480" imgH="533160" progId="Equation.DSMT4">
                  <p:embed/>
                  <p:pic>
                    <p:nvPicPr>
                      <p:cNvPr id="396289" name="Object 1"/>
                      <p:cNvPicPr>
                        <a:picLocks noChangeAspect="1" noChangeArrowheads="1"/>
                      </p:cNvPicPr>
                      <p:nvPr/>
                    </p:nvPicPr>
                    <p:blipFill>
                      <a:blip r:embed="rId9"/>
                      <a:srcRect/>
                      <a:stretch>
                        <a:fillRect/>
                      </a:stretch>
                    </p:blipFill>
                    <p:spPr bwMode="auto">
                      <a:xfrm>
                        <a:off x="544760" y="1633136"/>
                        <a:ext cx="6192837" cy="7747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2802"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32803" name="Rectangle 3"/>
          <p:cNvSpPr>
            <a:spLocks noChangeArrowheads="1"/>
          </p:cNvSpPr>
          <p:nvPr/>
        </p:nvSpPr>
        <p:spPr bwMode="auto">
          <a:xfrm>
            <a:off x="611188" y="1066800"/>
            <a:ext cx="8304212" cy="4008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00000"/>
              </a:lnSpc>
              <a:spcBef>
                <a:spcPct val="0"/>
              </a:spcBef>
              <a:buClrTx/>
              <a:buFontTx/>
              <a:buNone/>
            </a:pPr>
            <a:r>
              <a:rPr lang="zh-CN" altLang="en-US" sz="2800" dirty="0">
                <a:solidFill>
                  <a:srgbClr val="A50021"/>
                </a:solidFill>
                <a:latin typeface="华文中宋" pitchFamily="2" charset="-122"/>
                <a:ea typeface="华文中宋" pitchFamily="2" charset="-122"/>
              </a:rPr>
              <a:t>四</a:t>
            </a:r>
            <a:r>
              <a:rPr lang="en-US" altLang="zh-CN" sz="2800" dirty="0">
                <a:solidFill>
                  <a:srgbClr val="A50021"/>
                </a:solidFill>
                <a:latin typeface="华文中宋" pitchFamily="2" charset="-122"/>
                <a:ea typeface="华文中宋" pitchFamily="2" charset="-122"/>
              </a:rPr>
              <a:t>.</a:t>
            </a:r>
            <a:r>
              <a:rPr lang="zh-CN" altLang="en-US" sz="2800" dirty="0">
                <a:solidFill>
                  <a:srgbClr val="A50021"/>
                </a:solidFill>
                <a:latin typeface="华文中宋" pitchFamily="2" charset="-122"/>
                <a:ea typeface="华文中宋" pitchFamily="2" charset="-122"/>
              </a:rPr>
              <a:t>非对称配筋偏心受压构件截面配筋的计算</a:t>
            </a:r>
            <a:r>
              <a:rPr lang="zh-CN" altLang="en-US" dirty="0"/>
              <a:t> </a:t>
            </a:r>
            <a:endParaRPr lang="zh-CN" altLang="en-US" sz="2800" dirty="0">
              <a:solidFill>
                <a:srgbClr val="A50021"/>
              </a:solidFill>
              <a:latin typeface="华文中宋" pitchFamily="2" charset="-122"/>
              <a:ea typeface="华文中宋" pitchFamily="2" charset="-122"/>
            </a:endParaRPr>
          </a:p>
          <a:p>
            <a:pPr marL="342900" indent="-342900" algn="l">
              <a:lnSpc>
                <a:spcPct val="120000"/>
              </a:lnSpc>
              <a:buClrTx/>
              <a:buFontTx/>
              <a:buNone/>
            </a:pPr>
            <a:r>
              <a:rPr lang="en-US" altLang="zh-CN" dirty="0">
                <a:solidFill>
                  <a:srgbClr val="990099"/>
                </a:solidFill>
              </a:rPr>
              <a:t>2.</a:t>
            </a:r>
            <a:r>
              <a:rPr lang="zh-CN" altLang="en-US" dirty="0">
                <a:solidFill>
                  <a:srgbClr val="990099"/>
                </a:solidFill>
              </a:rPr>
              <a:t>大偏心受压构件截面的配筋计算</a:t>
            </a:r>
          </a:p>
          <a:p>
            <a:pPr marL="342900" indent="-342900" algn="l">
              <a:lnSpc>
                <a:spcPct val="120000"/>
              </a:lnSpc>
              <a:buClrTx/>
              <a:buFontTx/>
              <a:buNone/>
            </a:pPr>
            <a:r>
              <a:rPr lang="en-US" altLang="zh-CN" sz="2000" dirty="0"/>
              <a:t>1</a:t>
            </a:r>
            <a:r>
              <a:rPr lang="zh-CN" altLang="en-US" sz="2000" dirty="0"/>
              <a:t>）计算公式</a:t>
            </a:r>
          </a:p>
          <a:p>
            <a:pPr marL="342900" indent="-342900" algn="l">
              <a:lnSpc>
                <a:spcPct val="120000"/>
              </a:lnSpc>
              <a:buClrTx/>
              <a:buFontTx/>
              <a:buNone/>
            </a:pPr>
            <a:endParaRPr lang="zh-CN" altLang="en-US" sz="2000" dirty="0"/>
          </a:p>
          <a:p>
            <a:pPr marL="342900" indent="-342900" algn="l">
              <a:lnSpc>
                <a:spcPct val="120000"/>
              </a:lnSpc>
              <a:buClrTx/>
              <a:buFontTx/>
              <a:buNone/>
            </a:pPr>
            <a:endParaRPr lang="zh-CN" altLang="en-US" sz="2000" dirty="0"/>
          </a:p>
          <a:p>
            <a:pPr marL="342900" indent="-342900" algn="l">
              <a:lnSpc>
                <a:spcPct val="120000"/>
              </a:lnSpc>
              <a:buClrTx/>
              <a:buFontTx/>
              <a:buNone/>
            </a:pPr>
            <a:endParaRPr lang="zh-CN" altLang="en-US" sz="2000" dirty="0"/>
          </a:p>
          <a:p>
            <a:pPr marL="342900" indent="-342900" algn="l">
              <a:lnSpc>
                <a:spcPct val="120000"/>
              </a:lnSpc>
              <a:buClrTx/>
              <a:buFontTx/>
              <a:buNone/>
            </a:pPr>
            <a:endParaRPr lang="zh-CN" altLang="en-US" sz="2000" dirty="0"/>
          </a:p>
          <a:p>
            <a:pPr marL="342900" indent="-342900" algn="l">
              <a:lnSpc>
                <a:spcPct val="120000"/>
              </a:lnSpc>
              <a:buClrTx/>
              <a:buFontTx/>
              <a:buNone/>
            </a:pPr>
            <a:r>
              <a:rPr lang="en-US" altLang="zh-CN" sz="2000" dirty="0"/>
              <a:t>2</a:t>
            </a:r>
            <a:r>
              <a:rPr lang="zh-CN" altLang="en-US" sz="2000" dirty="0"/>
              <a:t>）适用条件</a:t>
            </a:r>
          </a:p>
          <a:p>
            <a:pPr marL="342900" indent="-342900" algn="l">
              <a:lnSpc>
                <a:spcPct val="120000"/>
              </a:lnSpc>
              <a:buClrTx/>
              <a:buFontTx/>
              <a:buNone/>
            </a:pPr>
            <a:endParaRPr lang="en-US" altLang="zh-CN" sz="2000" dirty="0"/>
          </a:p>
        </p:txBody>
      </p:sp>
      <p:graphicFrame>
        <p:nvGraphicFramePr>
          <p:cNvPr id="332804" name="Object 4"/>
          <p:cNvGraphicFramePr>
            <a:graphicFrameLocks noGrp="1" noChangeAspect="1"/>
          </p:cNvGraphicFramePr>
          <p:nvPr>
            <p:ph idx="1"/>
            <p:extLst>
              <p:ext uri="{D42A27DB-BD31-4B8C-83A1-F6EECF244321}">
                <p14:modId xmlns:p14="http://schemas.microsoft.com/office/powerpoint/2010/main" val="302398803"/>
              </p:ext>
            </p:extLst>
          </p:nvPr>
        </p:nvGraphicFramePr>
        <p:xfrm>
          <a:off x="923925" y="2514600"/>
          <a:ext cx="3649663" cy="1524000"/>
        </p:xfrm>
        <a:graphic>
          <a:graphicData uri="http://schemas.openxmlformats.org/presentationml/2006/ole">
            <mc:AlternateContent xmlns:mc="http://schemas.openxmlformats.org/markup-compatibility/2006">
              <mc:Choice xmlns:v="urn:schemas-microsoft-com:vml" Requires="v">
                <p:oleObj spid="_x0000_s521318" name="Equation" r:id="rId3" imgW="2158920" imgH="901440" progId="Equation.DSMT4">
                  <p:embed/>
                </p:oleObj>
              </mc:Choice>
              <mc:Fallback>
                <p:oleObj name="Equation" r:id="rId3" imgW="2158920" imgH="901440" progId="Equation.DSMT4">
                  <p:embed/>
                  <p:pic>
                    <p:nvPicPr>
                      <p:cNvPr id="0" name="Picture 2"/>
                      <p:cNvPicPr>
                        <a:picLocks noGrp="1" noChangeAspect="1" noChangeArrowheads="1"/>
                      </p:cNvPicPr>
                      <p:nvPr/>
                    </p:nvPicPr>
                    <p:blipFill>
                      <a:blip r:embed="rId4"/>
                      <a:srcRect/>
                      <a:stretch>
                        <a:fillRect/>
                      </a:stretch>
                    </p:blipFill>
                    <p:spPr bwMode="auto">
                      <a:xfrm>
                        <a:off x="923925" y="2514600"/>
                        <a:ext cx="3649663"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2806" name="Rectangle 6"/>
          <p:cNvSpPr>
            <a:spLocks noChangeArrowheads="1"/>
          </p:cNvSpPr>
          <p:nvPr/>
        </p:nvSpPr>
        <p:spPr bwMode="auto">
          <a:xfrm>
            <a:off x="4800600" y="2514600"/>
            <a:ext cx="822325"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solidFill>
                  <a:schemeClr val="tx2"/>
                </a:solidFill>
              </a:rPr>
              <a:t>（</a:t>
            </a:r>
            <a:r>
              <a:rPr lang="en-US" altLang="zh-CN" sz="2000">
                <a:solidFill>
                  <a:schemeClr val="tx2"/>
                </a:solidFill>
              </a:rPr>
              <a:t>1</a:t>
            </a:r>
            <a:r>
              <a:rPr lang="zh-CN" altLang="en-US" sz="2000">
                <a:solidFill>
                  <a:schemeClr val="tx2"/>
                </a:solidFill>
              </a:rPr>
              <a:t>）</a:t>
            </a:r>
          </a:p>
        </p:txBody>
      </p:sp>
      <p:sp>
        <p:nvSpPr>
          <p:cNvPr id="332807" name="Rectangle 7"/>
          <p:cNvSpPr>
            <a:spLocks noChangeArrowheads="1"/>
          </p:cNvSpPr>
          <p:nvPr/>
        </p:nvSpPr>
        <p:spPr bwMode="auto">
          <a:xfrm>
            <a:off x="4800600" y="3124200"/>
            <a:ext cx="822325"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solidFill>
                  <a:schemeClr val="tx2"/>
                </a:solidFill>
              </a:rPr>
              <a:t>（</a:t>
            </a:r>
            <a:r>
              <a:rPr lang="en-US" altLang="zh-CN" sz="2000">
                <a:solidFill>
                  <a:schemeClr val="tx2"/>
                </a:solidFill>
              </a:rPr>
              <a:t>2</a:t>
            </a:r>
            <a:r>
              <a:rPr lang="zh-CN" altLang="en-US" sz="2000">
                <a:solidFill>
                  <a:schemeClr val="tx2"/>
                </a:solidFill>
              </a:rPr>
              <a:t>）</a:t>
            </a:r>
          </a:p>
        </p:txBody>
      </p:sp>
      <p:graphicFrame>
        <p:nvGraphicFramePr>
          <p:cNvPr id="332808" name="Object 8"/>
          <p:cNvGraphicFramePr>
            <a:graphicFrameLocks noChangeAspect="1"/>
          </p:cNvGraphicFramePr>
          <p:nvPr>
            <p:extLst>
              <p:ext uri="{D42A27DB-BD31-4B8C-83A1-F6EECF244321}">
                <p14:modId xmlns:p14="http://schemas.microsoft.com/office/powerpoint/2010/main" val="4163075424"/>
              </p:ext>
            </p:extLst>
          </p:nvPr>
        </p:nvGraphicFramePr>
        <p:xfrm>
          <a:off x="936625" y="4643438"/>
          <a:ext cx="896938" cy="823912"/>
        </p:xfrm>
        <a:graphic>
          <a:graphicData uri="http://schemas.openxmlformats.org/presentationml/2006/ole">
            <mc:AlternateContent xmlns:mc="http://schemas.openxmlformats.org/markup-compatibility/2006">
              <mc:Choice xmlns:v="urn:schemas-microsoft-com:vml" Requires="v">
                <p:oleObj spid="_x0000_s521319" name="Equation" r:id="rId5" imgW="520560" imgH="482400" progId="Equation.DSMT4">
                  <p:embed/>
                </p:oleObj>
              </mc:Choice>
              <mc:Fallback>
                <p:oleObj name="Equation" r:id="rId5" imgW="520560" imgH="482400" progId="Equation.DSMT4">
                  <p:embed/>
                  <p:pic>
                    <p:nvPicPr>
                      <p:cNvPr id="0" name="Picture 3"/>
                      <p:cNvPicPr>
                        <a:picLocks noChangeAspect="1" noChangeArrowheads="1"/>
                      </p:cNvPicPr>
                      <p:nvPr/>
                    </p:nvPicPr>
                    <p:blipFill>
                      <a:blip r:embed="rId6"/>
                      <a:srcRect/>
                      <a:stretch>
                        <a:fillRect/>
                      </a:stretch>
                    </p:blipFill>
                    <p:spPr bwMode="auto">
                      <a:xfrm>
                        <a:off x="936625" y="4643438"/>
                        <a:ext cx="896938"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2809" name="Rectangle 9"/>
          <p:cNvSpPr>
            <a:spLocks noChangeArrowheads="1"/>
          </p:cNvSpPr>
          <p:nvPr/>
        </p:nvSpPr>
        <p:spPr bwMode="auto">
          <a:xfrm>
            <a:off x="1974850" y="5105400"/>
            <a:ext cx="2292350"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solidFill>
                  <a:schemeClr val="tx1"/>
                </a:solidFill>
              </a:rPr>
              <a:t>保证受压纵筋屈服 </a:t>
            </a:r>
          </a:p>
        </p:txBody>
      </p:sp>
      <p:pic>
        <p:nvPicPr>
          <p:cNvPr id="332810" name="Picture 10" descr="gj0716"/>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l="18214" t="51918" r="50797" b="5403"/>
          <a:stretch>
            <a:fillRect/>
          </a:stretch>
        </p:blipFill>
        <p:spPr bwMode="auto">
          <a:xfrm>
            <a:off x="6019800" y="3021013"/>
            <a:ext cx="3124200" cy="337978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7929586" y="3429000"/>
            <a:ext cx="428628" cy="286232"/>
          </a:xfrm>
          <a:prstGeom prst="rect">
            <a:avLst/>
          </a:prstGeom>
          <a:solidFill>
            <a:schemeClr val="bg1"/>
          </a:solidFill>
        </p:spPr>
        <p:txBody>
          <a:bodyPr wrap="square" rtlCol="0">
            <a:spAutoFit/>
          </a:bodyPr>
          <a:lstStyle/>
          <a:p>
            <a:r>
              <a:rPr lang="en-US" altLang="zh-CN" sz="1400" i="1" dirty="0" err="1">
                <a:solidFill>
                  <a:schemeClr val="tx2"/>
                </a:solidFill>
              </a:rPr>
              <a:t>e</a:t>
            </a:r>
            <a:r>
              <a:rPr lang="en-US" altLang="zh-CN" sz="1400" baseline="-25000" dirty="0" err="1">
                <a:solidFill>
                  <a:schemeClr val="tx2"/>
                </a:solidFill>
              </a:rPr>
              <a:t>i</a:t>
            </a:r>
            <a:endParaRPr lang="zh-CN" altLang="en-US" sz="1400" baseline="-25000" dirty="0">
              <a:solidFill>
                <a:schemeClr val="tx2"/>
              </a:solidFill>
            </a:endParaRP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35875" name="Rectangle 3"/>
          <p:cNvSpPr>
            <a:spLocks noChangeArrowheads="1"/>
          </p:cNvSpPr>
          <p:nvPr/>
        </p:nvSpPr>
        <p:spPr bwMode="auto">
          <a:xfrm>
            <a:off x="611188" y="1066800"/>
            <a:ext cx="8304212"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20000"/>
              </a:lnSpc>
              <a:buClrTx/>
              <a:buFontTx/>
              <a:buNone/>
            </a:pPr>
            <a:r>
              <a:rPr lang="en-US" altLang="zh-CN">
                <a:solidFill>
                  <a:srgbClr val="990099"/>
                </a:solidFill>
              </a:rPr>
              <a:t>2.</a:t>
            </a:r>
            <a:r>
              <a:rPr lang="zh-CN" altLang="en-US">
                <a:solidFill>
                  <a:srgbClr val="990099"/>
                </a:solidFill>
              </a:rPr>
              <a:t>大偏心受压构件截面的配筋计算</a:t>
            </a:r>
          </a:p>
          <a:p>
            <a:pPr marL="342900" indent="-342900" algn="l">
              <a:lnSpc>
                <a:spcPct val="120000"/>
              </a:lnSpc>
              <a:buClrTx/>
              <a:buFontTx/>
              <a:buNone/>
            </a:pPr>
            <a:r>
              <a:rPr lang="en-US" altLang="zh-CN" sz="2000"/>
              <a:t>3</a:t>
            </a:r>
            <a:r>
              <a:rPr lang="zh-CN" altLang="en-US" sz="2000"/>
              <a:t>）截面设计</a:t>
            </a:r>
          </a:p>
          <a:p>
            <a:pPr marL="342900" indent="-342900" algn="l">
              <a:lnSpc>
                <a:spcPct val="120000"/>
              </a:lnSpc>
              <a:buClrTx/>
              <a:buFontTx/>
              <a:buNone/>
            </a:pPr>
            <a:r>
              <a:rPr lang="zh-CN" altLang="en-US" sz="2000"/>
              <a:t>第一种情况</a:t>
            </a:r>
            <a:r>
              <a:rPr lang="en-US" altLang="zh-CN" sz="2000"/>
              <a:t>——</a:t>
            </a:r>
            <a:r>
              <a:rPr lang="en-US" altLang="zh-CN" sz="2000" i="1"/>
              <a:t>A</a:t>
            </a:r>
            <a:r>
              <a:rPr lang="en-US" altLang="zh-CN" sz="2000" baseline="-25000"/>
              <a:t>s</a:t>
            </a:r>
            <a:r>
              <a:rPr lang="zh-CN" altLang="en-US" sz="2000"/>
              <a:t>和</a:t>
            </a:r>
            <a:r>
              <a:rPr lang="en-US" altLang="zh-CN" sz="2000" i="1"/>
              <a:t>A</a:t>
            </a:r>
            <a:r>
              <a:rPr lang="en-US" altLang="zh-CN" sz="2000"/>
              <a:t>’</a:t>
            </a:r>
            <a:r>
              <a:rPr lang="en-US" altLang="zh-CN" sz="2000" baseline="-25000"/>
              <a:t>s</a:t>
            </a:r>
            <a:r>
              <a:rPr lang="zh-CN" altLang="en-US" sz="2000"/>
              <a:t>均未知</a:t>
            </a:r>
          </a:p>
        </p:txBody>
      </p:sp>
      <p:sp>
        <p:nvSpPr>
          <p:cNvPr id="335876" name="Rectangle 4"/>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35878" name="AutoShape 6"/>
          <p:cNvSpPr>
            <a:spLocks noChangeArrowheads="1"/>
          </p:cNvSpPr>
          <p:nvPr/>
        </p:nvSpPr>
        <p:spPr bwMode="auto">
          <a:xfrm>
            <a:off x="2386013" y="4305300"/>
            <a:ext cx="1303337" cy="439738"/>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00000"/>
              </a:lnSpc>
              <a:spcBef>
                <a:spcPct val="50000"/>
              </a:spcBef>
              <a:buClrTx/>
              <a:buFontTx/>
              <a:buNone/>
            </a:pPr>
            <a:r>
              <a:rPr lang="zh-CN" altLang="en-US" sz="2000">
                <a:latin typeface="Arial" charset="0"/>
              </a:rPr>
              <a:t>代入</a:t>
            </a:r>
            <a:r>
              <a:rPr lang="en-US" altLang="zh-CN" sz="2000">
                <a:latin typeface="Arial" charset="0"/>
              </a:rPr>
              <a:t>(1)</a:t>
            </a:r>
            <a:r>
              <a:rPr lang="zh-CN" altLang="en-US" sz="2000">
                <a:latin typeface="Arial" charset="0"/>
              </a:rPr>
              <a:t>式</a:t>
            </a:r>
            <a:endParaRPr lang="zh-CN" altLang="en-US">
              <a:latin typeface="Arial" charset="0"/>
            </a:endParaRPr>
          </a:p>
        </p:txBody>
      </p:sp>
      <p:sp>
        <p:nvSpPr>
          <p:cNvPr id="335879" name="AutoShape 7"/>
          <p:cNvSpPr>
            <a:spLocks noChangeArrowheads="1"/>
          </p:cNvSpPr>
          <p:nvPr/>
        </p:nvSpPr>
        <p:spPr bwMode="auto">
          <a:xfrm>
            <a:off x="2924175" y="2992438"/>
            <a:ext cx="228600" cy="304800"/>
          </a:xfrm>
          <a:prstGeom prst="downArrow">
            <a:avLst>
              <a:gd name="adj1" fmla="val 50000"/>
              <a:gd name="adj2" fmla="val 33333"/>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5881" name="AutoShape 9"/>
          <p:cNvSpPr>
            <a:spLocks noChangeArrowheads="1"/>
          </p:cNvSpPr>
          <p:nvPr/>
        </p:nvSpPr>
        <p:spPr bwMode="auto">
          <a:xfrm>
            <a:off x="2909888" y="4000500"/>
            <a:ext cx="228600" cy="304800"/>
          </a:xfrm>
          <a:prstGeom prst="downArrow">
            <a:avLst>
              <a:gd name="adj1" fmla="val 50000"/>
              <a:gd name="adj2" fmla="val 33333"/>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5882" name="AutoShape 10"/>
          <p:cNvSpPr>
            <a:spLocks noChangeArrowheads="1"/>
          </p:cNvSpPr>
          <p:nvPr/>
        </p:nvSpPr>
        <p:spPr bwMode="auto">
          <a:xfrm>
            <a:off x="2903538" y="4762500"/>
            <a:ext cx="228600" cy="304800"/>
          </a:xfrm>
          <a:prstGeom prst="downArrow">
            <a:avLst>
              <a:gd name="adj1" fmla="val 50000"/>
              <a:gd name="adj2" fmla="val 33333"/>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5883" name="Rectangle 11"/>
          <p:cNvSpPr>
            <a:spLocks noChangeArrowheads="1"/>
          </p:cNvSpPr>
          <p:nvPr/>
        </p:nvSpPr>
        <p:spPr bwMode="auto">
          <a:xfrm>
            <a:off x="2430463" y="3914775"/>
            <a:ext cx="3889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lnSpc>
                <a:spcPct val="100000"/>
              </a:lnSpc>
              <a:spcBef>
                <a:spcPct val="0"/>
              </a:spcBef>
              <a:buClrTx/>
              <a:buFontTx/>
              <a:buNone/>
            </a:pPr>
            <a:r>
              <a:rPr lang="zh-CN" altLang="en-US" sz="1600">
                <a:solidFill>
                  <a:srgbClr val="FF0000"/>
                </a:solidFill>
              </a:rPr>
              <a:t>否</a:t>
            </a:r>
          </a:p>
        </p:txBody>
      </p:sp>
      <p:sp>
        <p:nvSpPr>
          <p:cNvPr id="335884" name="Rectangle 12"/>
          <p:cNvSpPr>
            <a:spLocks noChangeArrowheads="1"/>
          </p:cNvSpPr>
          <p:nvPr/>
        </p:nvSpPr>
        <p:spPr bwMode="auto">
          <a:xfrm>
            <a:off x="4628344" y="3209925"/>
            <a:ext cx="152082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00000"/>
              </a:lnSpc>
              <a:spcBef>
                <a:spcPct val="0"/>
              </a:spcBef>
              <a:buClrTx/>
              <a:buFontTx/>
              <a:buNone/>
            </a:pPr>
            <a:r>
              <a:rPr lang="zh-CN" altLang="en-US" sz="1600" dirty="0">
                <a:solidFill>
                  <a:srgbClr val="FF0000"/>
                </a:solidFill>
              </a:rPr>
              <a:t>是</a:t>
            </a:r>
          </a:p>
          <a:p>
            <a:pPr>
              <a:lnSpc>
                <a:spcPct val="100000"/>
              </a:lnSpc>
              <a:spcBef>
                <a:spcPct val="0"/>
              </a:spcBef>
              <a:buClrTx/>
              <a:buFontTx/>
              <a:buNone/>
            </a:pPr>
            <a:endParaRPr lang="zh-CN" altLang="en-US" sz="1600" dirty="0">
              <a:solidFill>
                <a:srgbClr val="FF0000"/>
              </a:solidFill>
            </a:endParaRPr>
          </a:p>
          <a:p>
            <a:pPr>
              <a:lnSpc>
                <a:spcPct val="100000"/>
              </a:lnSpc>
              <a:spcBef>
                <a:spcPct val="0"/>
              </a:spcBef>
              <a:buClrTx/>
              <a:buFontTx/>
              <a:buNone/>
            </a:pPr>
            <a:r>
              <a:rPr lang="zh-CN" altLang="en-US" sz="1600" dirty="0">
                <a:solidFill>
                  <a:srgbClr val="FF0000"/>
                </a:solidFill>
              </a:rPr>
              <a:t> 取最小配筋率</a:t>
            </a:r>
            <a:r>
              <a:rPr lang="zh-CN" altLang="en-US" sz="1600" dirty="0">
                <a:solidFill>
                  <a:srgbClr val="FF0000"/>
                </a:solidFill>
                <a:latin typeface="Arial" charset="0"/>
                <a:sym typeface="Symbol" pitchFamily="18" charset="2"/>
              </a:rPr>
              <a:t> </a:t>
            </a:r>
          </a:p>
        </p:txBody>
      </p:sp>
      <p:sp>
        <p:nvSpPr>
          <p:cNvPr id="335885" name="AutoShape 13"/>
          <p:cNvSpPr>
            <a:spLocks noChangeArrowheads="1"/>
          </p:cNvSpPr>
          <p:nvPr/>
        </p:nvSpPr>
        <p:spPr bwMode="auto">
          <a:xfrm rot="16200000" flipH="1">
            <a:off x="5735130" y="2447420"/>
            <a:ext cx="184149" cy="2366390"/>
          </a:xfrm>
          <a:prstGeom prst="downArrow">
            <a:avLst>
              <a:gd name="adj1" fmla="val 50000"/>
              <a:gd name="adj2" fmla="val 529268"/>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35886" name="Object 14"/>
          <p:cNvGraphicFramePr>
            <a:graphicFrameLocks noGrp="1" noChangeAspect="1"/>
          </p:cNvGraphicFramePr>
          <p:nvPr>
            <p:ph idx="1"/>
            <p:extLst>
              <p:ext uri="{D42A27DB-BD31-4B8C-83A1-F6EECF244321}">
                <p14:modId xmlns:p14="http://schemas.microsoft.com/office/powerpoint/2010/main" val="1323147021"/>
              </p:ext>
            </p:extLst>
          </p:nvPr>
        </p:nvGraphicFramePr>
        <p:xfrm>
          <a:off x="4583113" y="1624013"/>
          <a:ext cx="4348162" cy="1119187"/>
        </p:xfrm>
        <a:graphic>
          <a:graphicData uri="http://schemas.openxmlformats.org/presentationml/2006/ole">
            <mc:AlternateContent xmlns:mc="http://schemas.openxmlformats.org/markup-compatibility/2006">
              <mc:Choice xmlns:v="urn:schemas-microsoft-com:vml" Requires="v">
                <p:oleObj spid="_x0000_s522292" name="Equation" r:id="rId3" imgW="2565360" imgH="660240" progId="Equation.DSMT4">
                  <p:embed/>
                </p:oleObj>
              </mc:Choice>
              <mc:Fallback>
                <p:oleObj name="Equation" r:id="rId3" imgW="2565360" imgH="660240" progId="Equation.DSMT4">
                  <p:embed/>
                  <p:pic>
                    <p:nvPicPr>
                      <p:cNvPr id="0" name="Picture 2"/>
                      <p:cNvPicPr>
                        <a:picLocks noGrp="1" noChangeAspect="1" noChangeArrowheads="1"/>
                      </p:cNvPicPr>
                      <p:nvPr/>
                    </p:nvPicPr>
                    <p:blipFill>
                      <a:blip r:embed="rId4"/>
                      <a:srcRect/>
                      <a:stretch>
                        <a:fillRect/>
                      </a:stretch>
                    </p:blipFill>
                    <p:spPr bwMode="auto">
                      <a:xfrm>
                        <a:off x="4583113" y="1624013"/>
                        <a:ext cx="4348162" cy="1119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5887" name="AutoShape 15"/>
          <p:cNvSpPr>
            <a:spLocks noChangeArrowheads="1"/>
          </p:cNvSpPr>
          <p:nvPr/>
        </p:nvSpPr>
        <p:spPr bwMode="auto">
          <a:xfrm>
            <a:off x="7029450" y="3417888"/>
            <a:ext cx="1504950" cy="439737"/>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00000"/>
              </a:lnSpc>
              <a:spcBef>
                <a:spcPct val="50000"/>
              </a:spcBef>
              <a:buClrTx/>
              <a:buFontTx/>
              <a:buNone/>
            </a:pPr>
            <a:r>
              <a:rPr lang="zh-CN" altLang="en-US" sz="2000">
                <a:latin typeface="Arial" charset="0"/>
              </a:rPr>
              <a:t>第二种情况</a:t>
            </a:r>
            <a:endParaRPr lang="zh-CN" altLang="en-US">
              <a:latin typeface="Arial" charset="0"/>
            </a:endParaRPr>
          </a:p>
        </p:txBody>
      </p:sp>
      <p:sp>
        <p:nvSpPr>
          <p:cNvPr id="335888" name="AutoShape 16"/>
          <p:cNvSpPr>
            <a:spLocks noChangeArrowheads="1"/>
          </p:cNvSpPr>
          <p:nvPr/>
        </p:nvSpPr>
        <p:spPr bwMode="auto">
          <a:xfrm>
            <a:off x="1285852" y="5065713"/>
            <a:ext cx="3571900" cy="442674"/>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00000"/>
              </a:lnSpc>
              <a:spcBef>
                <a:spcPct val="50000"/>
              </a:spcBef>
              <a:buClrTx/>
              <a:buFontTx/>
              <a:buNone/>
            </a:pPr>
            <a:r>
              <a:rPr lang="zh-CN" altLang="en-US" sz="2000" dirty="0"/>
              <a:t>计算得到</a:t>
            </a:r>
            <a:r>
              <a:rPr lang="en-US" altLang="zh-CN" sz="2000" i="1" dirty="0"/>
              <a:t>A</a:t>
            </a:r>
            <a:r>
              <a:rPr lang="en-US" altLang="zh-CN" sz="2000" baseline="-25000" dirty="0"/>
              <a:t>s</a:t>
            </a:r>
            <a:r>
              <a:rPr lang="zh-CN" altLang="en-US" sz="2000" dirty="0"/>
              <a:t>≥</a:t>
            </a:r>
            <a:r>
              <a:rPr lang="en-US" altLang="zh-CN" sz="2000" i="1" dirty="0">
                <a:solidFill>
                  <a:schemeClr val="tx2"/>
                </a:solidFill>
                <a:sym typeface="Symbol" pitchFamily="18" charset="2"/>
              </a:rPr>
              <a:t></a:t>
            </a:r>
            <a:r>
              <a:rPr lang="en-US" altLang="zh-CN" sz="2000" baseline="-25000" dirty="0" err="1">
                <a:solidFill>
                  <a:schemeClr val="tx2"/>
                </a:solidFill>
              </a:rPr>
              <a:t>min</a:t>
            </a:r>
            <a:r>
              <a:rPr lang="en-US" altLang="zh-CN" sz="2000" i="1" dirty="0" err="1">
                <a:solidFill>
                  <a:schemeClr val="tx2"/>
                </a:solidFill>
              </a:rPr>
              <a:t>bh</a:t>
            </a:r>
            <a:endParaRPr lang="en-US" altLang="zh-CN" sz="2000" dirty="0">
              <a:latin typeface="Arial" charset="0"/>
            </a:endParaRPr>
          </a:p>
        </p:txBody>
      </p:sp>
      <p:sp>
        <p:nvSpPr>
          <p:cNvPr id="335889" name="AutoShape 17"/>
          <p:cNvSpPr>
            <a:spLocks noChangeArrowheads="1"/>
          </p:cNvSpPr>
          <p:nvPr/>
        </p:nvSpPr>
        <p:spPr bwMode="auto">
          <a:xfrm>
            <a:off x="2076450" y="2533650"/>
            <a:ext cx="1890713" cy="439738"/>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00000"/>
              </a:lnSpc>
              <a:spcBef>
                <a:spcPct val="50000"/>
              </a:spcBef>
              <a:buClrTx/>
              <a:buFontTx/>
              <a:buNone/>
            </a:pPr>
            <a:r>
              <a:rPr lang="zh-CN" altLang="en-US" sz="2000" dirty="0"/>
              <a:t>取</a:t>
            </a:r>
            <a:r>
              <a:rPr lang="en-US" altLang="zh-CN" sz="2000" i="1" dirty="0"/>
              <a:t>x</a:t>
            </a:r>
            <a:r>
              <a:rPr lang="zh-CN" altLang="en-US" sz="2000" dirty="0"/>
              <a:t>＝</a:t>
            </a:r>
            <a:r>
              <a:rPr lang="en-US" altLang="zh-CN" sz="2000" i="1" dirty="0" err="1"/>
              <a:t>x</a:t>
            </a:r>
            <a:r>
              <a:rPr lang="en-US" altLang="zh-CN" sz="2000" baseline="-25000" dirty="0" err="1"/>
              <a:t>b</a:t>
            </a:r>
            <a:r>
              <a:rPr lang="zh-CN" altLang="en-US" sz="2000" dirty="0"/>
              <a:t>代入</a:t>
            </a:r>
            <a:r>
              <a:rPr lang="en-US" altLang="zh-CN" sz="2000" dirty="0"/>
              <a:t>(2)</a:t>
            </a:r>
          </a:p>
        </p:txBody>
      </p:sp>
      <p:sp>
        <p:nvSpPr>
          <p:cNvPr id="335892" name="AutoShape 20"/>
          <p:cNvSpPr>
            <a:spLocks noChangeArrowheads="1"/>
          </p:cNvSpPr>
          <p:nvPr/>
        </p:nvSpPr>
        <p:spPr bwMode="auto">
          <a:xfrm>
            <a:off x="1142976" y="5884863"/>
            <a:ext cx="4000528" cy="783193"/>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00000"/>
              </a:lnSpc>
              <a:spcBef>
                <a:spcPct val="50000"/>
              </a:spcBef>
              <a:buClrTx/>
              <a:buFontTx/>
              <a:buNone/>
            </a:pPr>
            <a:r>
              <a:rPr lang="zh-CN" altLang="en-US" sz="2000" dirty="0"/>
              <a:t>全部纵筋配筋率满足附表</a:t>
            </a:r>
            <a:r>
              <a:rPr lang="en-US" altLang="zh-CN" sz="2000" dirty="0"/>
              <a:t>18</a:t>
            </a:r>
            <a:r>
              <a:rPr lang="zh-CN" altLang="en-US" sz="2000" dirty="0"/>
              <a:t>要求计算结束</a:t>
            </a:r>
            <a:endParaRPr lang="zh-CN" altLang="en-US" sz="2000" dirty="0">
              <a:latin typeface="Arial" charset="0"/>
            </a:endParaRPr>
          </a:p>
        </p:txBody>
      </p:sp>
      <p:sp>
        <p:nvSpPr>
          <p:cNvPr id="335894" name="AutoShape 22"/>
          <p:cNvSpPr>
            <a:spLocks noChangeArrowheads="1"/>
          </p:cNvSpPr>
          <p:nvPr/>
        </p:nvSpPr>
        <p:spPr bwMode="auto">
          <a:xfrm>
            <a:off x="2895600" y="5503863"/>
            <a:ext cx="228600" cy="381000"/>
          </a:xfrm>
          <a:prstGeom prst="downArrow">
            <a:avLst>
              <a:gd name="adj1" fmla="val 50000"/>
              <a:gd name="adj2" fmla="val 41667"/>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5896" name="AutoShape 24"/>
          <p:cNvSpPr>
            <a:spLocks noChangeArrowheads="1"/>
          </p:cNvSpPr>
          <p:nvPr/>
        </p:nvSpPr>
        <p:spPr bwMode="auto">
          <a:xfrm>
            <a:off x="1676400" y="3270131"/>
            <a:ext cx="2967608" cy="733663"/>
          </a:xfrm>
          <a:prstGeom prst="diamond">
            <a:avLst/>
          </a:prstGeom>
          <a:solidFill>
            <a:srgbClr val="FF00FF">
              <a:alpha val="50000"/>
            </a:srgbClr>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000" i="1" dirty="0">
                <a:solidFill>
                  <a:schemeClr val="tx2"/>
                </a:solidFill>
              </a:rPr>
              <a:t>A</a:t>
            </a:r>
            <a:r>
              <a:rPr lang="en-US" altLang="zh-CN" sz="2000" baseline="-25000" dirty="0">
                <a:solidFill>
                  <a:schemeClr val="tx2"/>
                </a:solidFill>
              </a:rPr>
              <a:t>s</a:t>
            </a:r>
            <a:r>
              <a:rPr lang="en-US" altLang="zh-CN" sz="2000" baseline="30000" dirty="0">
                <a:solidFill>
                  <a:schemeClr val="tx2"/>
                </a:solidFill>
              </a:rPr>
              <a:t>’ </a:t>
            </a:r>
            <a:r>
              <a:rPr lang="en-US" altLang="zh-CN" sz="2000" dirty="0">
                <a:solidFill>
                  <a:schemeClr val="tx2"/>
                </a:solidFill>
              </a:rPr>
              <a:t>&lt;</a:t>
            </a:r>
            <a:r>
              <a:rPr lang="en-US" altLang="zh-CN" sz="2000" i="1" dirty="0">
                <a:solidFill>
                  <a:schemeClr val="tx2"/>
                </a:solidFill>
                <a:sym typeface="Symbol" pitchFamily="18" charset="2"/>
              </a:rPr>
              <a:t></a:t>
            </a:r>
            <a:r>
              <a:rPr lang="en-US" altLang="zh-CN" sz="2000" baseline="-25000" dirty="0" err="1">
                <a:solidFill>
                  <a:schemeClr val="tx2"/>
                </a:solidFill>
              </a:rPr>
              <a:t>min</a:t>
            </a:r>
            <a:r>
              <a:rPr lang="en-US" altLang="zh-CN" sz="2000" i="1" dirty="0" err="1">
                <a:solidFill>
                  <a:schemeClr val="tx2"/>
                </a:solidFill>
              </a:rPr>
              <a:t>bh</a:t>
            </a:r>
            <a:endParaRPr lang="en-US" altLang="zh-CN" sz="2000" i="1" dirty="0">
              <a:solidFill>
                <a:schemeClr val="tx2"/>
              </a:solidFill>
            </a:endParaRP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4850"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34851" name="Rectangle 3"/>
          <p:cNvSpPr>
            <a:spLocks noChangeArrowheads="1"/>
          </p:cNvSpPr>
          <p:nvPr/>
        </p:nvSpPr>
        <p:spPr bwMode="auto">
          <a:xfrm>
            <a:off x="611188" y="1066800"/>
            <a:ext cx="8304212"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20000"/>
              </a:lnSpc>
              <a:buClrTx/>
              <a:buFontTx/>
              <a:buNone/>
            </a:pPr>
            <a:r>
              <a:rPr lang="en-US" altLang="zh-CN">
                <a:solidFill>
                  <a:srgbClr val="990099"/>
                </a:solidFill>
              </a:rPr>
              <a:t>2.</a:t>
            </a:r>
            <a:r>
              <a:rPr lang="zh-CN" altLang="en-US">
                <a:solidFill>
                  <a:srgbClr val="990099"/>
                </a:solidFill>
              </a:rPr>
              <a:t>大偏心受压构件截面的配筋计算</a:t>
            </a:r>
          </a:p>
          <a:p>
            <a:pPr marL="342900" indent="-342900" algn="l">
              <a:lnSpc>
                <a:spcPct val="120000"/>
              </a:lnSpc>
              <a:buClrTx/>
              <a:buFontTx/>
              <a:buNone/>
            </a:pPr>
            <a:r>
              <a:rPr lang="en-US" altLang="zh-CN" sz="2000"/>
              <a:t>3</a:t>
            </a:r>
            <a:r>
              <a:rPr lang="zh-CN" altLang="en-US" sz="2000"/>
              <a:t>）截面设计</a:t>
            </a:r>
          </a:p>
          <a:p>
            <a:pPr marL="342900" indent="-342900" algn="l">
              <a:lnSpc>
                <a:spcPct val="120000"/>
              </a:lnSpc>
              <a:buClrTx/>
              <a:buFontTx/>
              <a:buNone/>
            </a:pPr>
            <a:r>
              <a:rPr lang="zh-CN" altLang="en-US" sz="2000"/>
              <a:t>第二种情况</a:t>
            </a:r>
            <a:r>
              <a:rPr lang="en-US" altLang="zh-CN" sz="2000"/>
              <a:t>——</a:t>
            </a:r>
            <a:r>
              <a:rPr lang="en-US" altLang="zh-CN" sz="2000" i="1"/>
              <a:t>A</a:t>
            </a:r>
            <a:r>
              <a:rPr lang="en-US" altLang="zh-CN" sz="2000"/>
              <a:t>’</a:t>
            </a:r>
            <a:r>
              <a:rPr lang="en-US" altLang="zh-CN" sz="2000" baseline="-25000"/>
              <a:t>s</a:t>
            </a:r>
            <a:r>
              <a:rPr lang="zh-CN" altLang="en-US" sz="2000"/>
              <a:t>为已知</a:t>
            </a:r>
            <a:r>
              <a:rPr lang="zh-CN" altLang="en-US"/>
              <a:t> </a:t>
            </a:r>
          </a:p>
        </p:txBody>
      </p:sp>
      <p:sp>
        <p:nvSpPr>
          <p:cNvPr id="334864" name="AutoShape 16"/>
          <p:cNvSpPr>
            <a:spLocks noChangeArrowheads="1"/>
          </p:cNvSpPr>
          <p:nvPr/>
        </p:nvSpPr>
        <p:spPr bwMode="auto">
          <a:xfrm>
            <a:off x="2819400" y="4267200"/>
            <a:ext cx="190500" cy="533400"/>
          </a:xfrm>
          <a:prstGeom prst="downArrow">
            <a:avLst>
              <a:gd name="adj1" fmla="val 50000"/>
              <a:gd name="adj2" fmla="val 70000"/>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4866" name="Rectangle 18"/>
          <p:cNvSpPr>
            <a:spLocks noChangeArrowheads="1"/>
          </p:cNvSpPr>
          <p:nvPr/>
        </p:nvSpPr>
        <p:spPr bwMode="auto">
          <a:xfrm>
            <a:off x="2422525" y="4387850"/>
            <a:ext cx="3889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lnSpc>
                <a:spcPct val="100000"/>
              </a:lnSpc>
              <a:spcBef>
                <a:spcPct val="0"/>
              </a:spcBef>
              <a:buClrTx/>
              <a:buFontTx/>
              <a:buNone/>
            </a:pPr>
            <a:r>
              <a:rPr lang="zh-CN" altLang="en-US" sz="1600">
                <a:solidFill>
                  <a:srgbClr val="FF0000"/>
                </a:solidFill>
              </a:rPr>
              <a:t>是</a:t>
            </a:r>
          </a:p>
        </p:txBody>
      </p:sp>
      <p:sp>
        <p:nvSpPr>
          <p:cNvPr id="334867" name="Rectangle 19"/>
          <p:cNvSpPr>
            <a:spLocks noChangeArrowheads="1"/>
          </p:cNvSpPr>
          <p:nvPr/>
        </p:nvSpPr>
        <p:spPr bwMode="auto">
          <a:xfrm>
            <a:off x="4183063" y="3581400"/>
            <a:ext cx="3889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lnSpc>
                <a:spcPct val="100000"/>
              </a:lnSpc>
              <a:spcBef>
                <a:spcPct val="0"/>
              </a:spcBef>
              <a:buClrTx/>
              <a:buFontTx/>
              <a:buNone/>
            </a:pPr>
            <a:r>
              <a:rPr lang="zh-CN" altLang="en-US" sz="1600">
                <a:solidFill>
                  <a:srgbClr val="FF0000"/>
                </a:solidFill>
              </a:rPr>
              <a:t>否</a:t>
            </a:r>
            <a:endParaRPr lang="zh-CN" altLang="en-US" sz="1600">
              <a:solidFill>
                <a:srgbClr val="FF0000"/>
              </a:solidFill>
              <a:latin typeface="Arial" charset="0"/>
              <a:sym typeface="Symbol" pitchFamily="18" charset="2"/>
            </a:endParaRPr>
          </a:p>
        </p:txBody>
      </p:sp>
      <p:sp>
        <p:nvSpPr>
          <p:cNvPr id="334870" name="AutoShape 22"/>
          <p:cNvSpPr>
            <a:spLocks noChangeArrowheads="1"/>
          </p:cNvSpPr>
          <p:nvPr/>
        </p:nvSpPr>
        <p:spPr bwMode="auto">
          <a:xfrm rot="16200000" flipH="1">
            <a:off x="4382294" y="3629819"/>
            <a:ext cx="109538" cy="622300"/>
          </a:xfrm>
          <a:prstGeom prst="downArrow">
            <a:avLst>
              <a:gd name="adj1" fmla="val 50000"/>
              <a:gd name="adj2" fmla="val 142028"/>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4872" name="AutoShape 24"/>
          <p:cNvSpPr>
            <a:spLocks noChangeArrowheads="1"/>
          </p:cNvSpPr>
          <p:nvPr/>
        </p:nvSpPr>
        <p:spPr bwMode="auto">
          <a:xfrm>
            <a:off x="4700588" y="3505200"/>
            <a:ext cx="2809875" cy="946150"/>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00000"/>
              </a:lnSpc>
              <a:spcBef>
                <a:spcPct val="50000"/>
              </a:spcBef>
              <a:buClrTx/>
              <a:buFontTx/>
              <a:buNone/>
            </a:pPr>
            <a:r>
              <a:rPr lang="en-US" altLang="zh-CN" sz="2000" i="1"/>
              <a:t>A</a:t>
            </a:r>
            <a:r>
              <a:rPr lang="en-US" altLang="zh-CN" sz="2000" baseline="30000"/>
              <a:t>’</a:t>
            </a:r>
            <a:r>
              <a:rPr lang="en-US" altLang="zh-CN" sz="2000" baseline="-25000"/>
              <a:t>s</a:t>
            </a:r>
            <a:r>
              <a:rPr lang="zh-CN" altLang="en-US" sz="2000">
                <a:latin typeface="Arial" charset="0"/>
              </a:rPr>
              <a:t>不足，设为未知，</a:t>
            </a:r>
          </a:p>
          <a:p>
            <a:pPr>
              <a:lnSpc>
                <a:spcPct val="100000"/>
              </a:lnSpc>
              <a:spcBef>
                <a:spcPct val="50000"/>
              </a:spcBef>
              <a:buClrTx/>
              <a:buFontTx/>
              <a:buNone/>
            </a:pPr>
            <a:r>
              <a:rPr lang="zh-CN" altLang="en-US" sz="2000">
                <a:latin typeface="Arial" charset="0"/>
              </a:rPr>
              <a:t>转到第一种情况计算</a:t>
            </a:r>
            <a:r>
              <a:rPr lang="en-US" altLang="zh-CN" sz="2000" i="1"/>
              <a:t>A</a:t>
            </a:r>
            <a:r>
              <a:rPr lang="en-US" altLang="zh-CN" sz="2000" baseline="-25000"/>
              <a:t>s</a:t>
            </a:r>
          </a:p>
        </p:txBody>
      </p:sp>
      <p:sp>
        <p:nvSpPr>
          <p:cNvPr id="334873" name="AutoShape 25"/>
          <p:cNvSpPr>
            <a:spLocks noChangeArrowheads="1"/>
          </p:cNvSpPr>
          <p:nvPr/>
        </p:nvSpPr>
        <p:spPr bwMode="auto">
          <a:xfrm>
            <a:off x="2552700" y="5943600"/>
            <a:ext cx="738188" cy="439738"/>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00000"/>
              </a:lnSpc>
              <a:spcBef>
                <a:spcPct val="50000"/>
              </a:spcBef>
              <a:buClrTx/>
              <a:buFontTx/>
              <a:buNone/>
            </a:pPr>
            <a:r>
              <a:rPr lang="zh-CN" altLang="en-US" sz="2000"/>
              <a:t>结束</a:t>
            </a:r>
            <a:endParaRPr lang="zh-CN" altLang="en-US" sz="2000">
              <a:latin typeface="Arial" charset="0"/>
            </a:endParaRPr>
          </a:p>
        </p:txBody>
      </p:sp>
      <p:grpSp>
        <p:nvGrpSpPr>
          <p:cNvPr id="2" name="Group 38"/>
          <p:cNvGrpSpPr>
            <a:grpSpLocks/>
          </p:cNvGrpSpPr>
          <p:nvPr/>
        </p:nvGrpSpPr>
        <p:grpSpPr bwMode="auto">
          <a:xfrm>
            <a:off x="4930775" y="4509120"/>
            <a:ext cx="1851025" cy="1218580"/>
            <a:chOff x="130" y="2304"/>
            <a:chExt cx="1166" cy="708"/>
          </a:xfrm>
        </p:grpSpPr>
        <p:sp>
          <p:nvSpPr>
            <p:cNvPr id="334879" name="AutoShape 31"/>
            <p:cNvSpPr>
              <a:spLocks noChangeArrowheads="1"/>
            </p:cNvSpPr>
            <p:nvPr/>
          </p:nvSpPr>
          <p:spPr bwMode="auto">
            <a:xfrm>
              <a:off x="130" y="2304"/>
              <a:ext cx="1166" cy="708"/>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spcBef>
                  <a:spcPct val="50000"/>
                </a:spcBef>
                <a:buClrTx/>
                <a:buFontTx/>
                <a:buNone/>
              </a:pPr>
              <a:r>
                <a:rPr lang="zh-CN" altLang="en-US" sz="2000" dirty="0"/>
                <a:t>取</a:t>
              </a:r>
              <a:r>
                <a:rPr lang="en-US" altLang="zh-CN" sz="2000" i="1" dirty="0"/>
                <a:t>x</a:t>
              </a:r>
              <a:r>
                <a:rPr lang="zh-CN" altLang="en-US" sz="2000" dirty="0"/>
                <a:t>＝</a:t>
              </a:r>
              <a:r>
                <a:rPr lang="en-US" altLang="zh-CN" sz="2000" dirty="0"/>
                <a:t>2</a:t>
              </a:r>
              <a:r>
                <a:rPr lang="en-US" altLang="zh-CN" sz="2000" i="1" dirty="0"/>
                <a:t>a</a:t>
              </a:r>
              <a:r>
                <a:rPr lang="en-US" altLang="zh-CN" sz="2000" baseline="-25000" dirty="0"/>
                <a:t>s</a:t>
              </a:r>
              <a:r>
                <a:rPr lang="en-US" altLang="zh-CN" sz="2000" baseline="30000" dirty="0"/>
                <a:t>’</a:t>
              </a:r>
            </a:p>
            <a:p>
              <a:pPr>
                <a:lnSpc>
                  <a:spcPct val="100000"/>
                </a:lnSpc>
                <a:spcBef>
                  <a:spcPct val="50000"/>
                </a:spcBef>
                <a:buClrTx/>
                <a:buFontTx/>
                <a:buNone/>
              </a:pPr>
              <a:endParaRPr lang="en-US" altLang="zh-CN" sz="2000" baseline="30000" dirty="0"/>
            </a:p>
            <a:p>
              <a:pPr>
                <a:lnSpc>
                  <a:spcPct val="100000"/>
                </a:lnSpc>
                <a:spcBef>
                  <a:spcPct val="50000"/>
                </a:spcBef>
                <a:buClrTx/>
                <a:buFontTx/>
                <a:buNone/>
              </a:pPr>
              <a:endParaRPr lang="en-US" altLang="zh-CN" sz="2000" baseline="30000" dirty="0">
                <a:solidFill>
                  <a:schemeClr val="tx1"/>
                </a:solidFill>
              </a:endParaRPr>
            </a:p>
          </p:txBody>
        </p:sp>
        <p:graphicFrame>
          <p:nvGraphicFramePr>
            <p:cNvPr id="334881" name="Object 33"/>
            <p:cNvGraphicFramePr>
              <a:graphicFrameLocks noChangeAspect="1"/>
            </p:cNvGraphicFramePr>
            <p:nvPr>
              <p:extLst>
                <p:ext uri="{D42A27DB-BD31-4B8C-83A1-F6EECF244321}">
                  <p14:modId xmlns:p14="http://schemas.microsoft.com/office/powerpoint/2010/main" val="4242244695"/>
                </p:ext>
              </p:extLst>
            </p:nvPr>
          </p:nvGraphicFramePr>
          <p:xfrm>
            <a:off x="151" y="2590"/>
            <a:ext cx="1088" cy="414"/>
          </p:xfrm>
          <a:graphic>
            <a:graphicData uri="http://schemas.openxmlformats.org/presentationml/2006/ole">
              <mc:AlternateContent xmlns:mc="http://schemas.openxmlformats.org/markup-compatibility/2006">
                <mc:Choice xmlns:v="urn:schemas-microsoft-com:vml" Requires="v">
                  <p:oleObj spid="_x0000_s523366" name="Equation" r:id="rId3" imgW="1002960" imgH="469800" progId="Equation.DSMT4">
                    <p:embed/>
                  </p:oleObj>
                </mc:Choice>
                <mc:Fallback>
                  <p:oleObj name="Equation" r:id="rId3" imgW="1002960" imgH="469800" progId="Equation.DSMT4">
                    <p:embed/>
                    <p:pic>
                      <p:nvPicPr>
                        <p:cNvPr id="0" name="Picture 2"/>
                        <p:cNvPicPr>
                          <a:picLocks noChangeAspect="1" noChangeArrowheads="1"/>
                        </p:cNvPicPr>
                        <p:nvPr/>
                      </p:nvPicPr>
                      <p:blipFill>
                        <a:blip r:embed="rId4"/>
                        <a:srcRect/>
                        <a:stretch>
                          <a:fillRect/>
                        </a:stretch>
                      </p:blipFill>
                      <p:spPr bwMode="auto">
                        <a:xfrm>
                          <a:off x="151" y="2590"/>
                          <a:ext cx="1088" cy="414"/>
                        </a:xfrm>
                        <a:prstGeom prst="rect">
                          <a:avLst/>
                        </a:prstGeom>
                        <a:noFill/>
                        <a:ln>
                          <a:noFill/>
                        </a:ln>
                        <a:effectLst/>
                        <a:extLst/>
                      </p:spPr>
                    </p:pic>
                  </p:oleObj>
                </mc:Fallback>
              </mc:AlternateContent>
            </a:graphicData>
          </a:graphic>
        </p:graphicFrame>
      </p:grpSp>
      <p:sp>
        <p:nvSpPr>
          <p:cNvPr id="334885" name="Rectangle 37"/>
          <p:cNvSpPr>
            <a:spLocks noChangeArrowheads="1"/>
          </p:cNvSpPr>
          <p:nvPr/>
        </p:nvSpPr>
        <p:spPr bwMode="auto">
          <a:xfrm>
            <a:off x="2438400" y="5454650"/>
            <a:ext cx="3889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lnSpc>
                <a:spcPct val="100000"/>
              </a:lnSpc>
              <a:spcBef>
                <a:spcPct val="0"/>
              </a:spcBef>
              <a:buClrTx/>
              <a:buFontTx/>
              <a:buNone/>
            </a:pPr>
            <a:r>
              <a:rPr lang="zh-CN" altLang="en-US" sz="1600">
                <a:solidFill>
                  <a:srgbClr val="FF0000"/>
                </a:solidFill>
              </a:rPr>
              <a:t>是</a:t>
            </a:r>
          </a:p>
        </p:txBody>
      </p:sp>
      <p:cxnSp>
        <p:nvCxnSpPr>
          <p:cNvPr id="334892" name="AutoShape 44"/>
          <p:cNvCxnSpPr>
            <a:cxnSpLocks noChangeShapeType="1"/>
            <a:stCxn id="0" idx="2"/>
            <a:endCxn id="334873" idx="2"/>
          </p:cNvCxnSpPr>
          <p:nvPr/>
        </p:nvCxnSpPr>
        <p:spPr bwMode="auto">
          <a:xfrm rot="5400000">
            <a:off x="4040982" y="4596606"/>
            <a:ext cx="668338" cy="2905125"/>
          </a:xfrm>
          <a:prstGeom prst="bentConnector3">
            <a:avLst>
              <a:gd name="adj1" fmla="val 133968"/>
            </a:avLst>
          </a:prstGeom>
          <a:noFill/>
          <a:ln w="38100">
            <a:solidFill>
              <a:srgbClr val="8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4893" name="AutoShape 45"/>
          <p:cNvSpPr>
            <a:spLocks noChangeArrowheads="1"/>
          </p:cNvSpPr>
          <p:nvPr/>
        </p:nvSpPr>
        <p:spPr bwMode="auto">
          <a:xfrm>
            <a:off x="1409700" y="2633663"/>
            <a:ext cx="2967038" cy="439737"/>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00000"/>
              </a:lnSpc>
              <a:spcBef>
                <a:spcPct val="50000"/>
              </a:spcBef>
              <a:buClrTx/>
              <a:buFontTx/>
              <a:buNone/>
            </a:pPr>
            <a:r>
              <a:rPr lang="zh-CN" altLang="en-US" sz="2000"/>
              <a:t>解方程组</a:t>
            </a:r>
            <a:r>
              <a:rPr lang="en-US" altLang="zh-CN" sz="2000"/>
              <a:t>(1)(2)</a:t>
            </a:r>
            <a:r>
              <a:rPr lang="zh-CN" altLang="en-US" sz="2000"/>
              <a:t>得到</a:t>
            </a:r>
            <a:r>
              <a:rPr lang="en-US" altLang="zh-CN" sz="2000" i="1"/>
              <a:t>x</a:t>
            </a:r>
            <a:r>
              <a:rPr lang="zh-CN" altLang="en-US" sz="2000"/>
              <a:t>和</a:t>
            </a:r>
            <a:r>
              <a:rPr lang="en-US" altLang="zh-CN" sz="2000" i="1"/>
              <a:t>A</a:t>
            </a:r>
            <a:r>
              <a:rPr lang="en-US" altLang="zh-CN" sz="2000" baseline="-25000"/>
              <a:t>s</a:t>
            </a:r>
          </a:p>
        </p:txBody>
      </p:sp>
      <p:sp>
        <p:nvSpPr>
          <p:cNvPr id="334900" name="Rectangle 52"/>
          <p:cNvSpPr>
            <a:spLocks noChangeArrowheads="1"/>
          </p:cNvSpPr>
          <p:nvPr/>
        </p:nvSpPr>
        <p:spPr bwMode="auto">
          <a:xfrm>
            <a:off x="4160838" y="4757738"/>
            <a:ext cx="3889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lnSpc>
                <a:spcPct val="100000"/>
              </a:lnSpc>
              <a:spcBef>
                <a:spcPct val="0"/>
              </a:spcBef>
              <a:buClrTx/>
              <a:buFontTx/>
              <a:buNone/>
            </a:pPr>
            <a:r>
              <a:rPr lang="zh-CN" altLang="en-US" sz="1600">
                <a:solidFill>
                  <a:srgbClr val="FF0000"/>
                </a:solidFill>
              </a:rPr>
              <a:t>否</a:t>
            </a:r>
            <a:endParaRPr lang="zh-CN" altLang="en-US" sz="1600">
              <a:solidFill>
                <a:srgbClr val="FF0000"/>
              </a:solidFill>
              <a:latin typeface="Arial" charset="0"/>
              <a:sym typeface="Symbol" pitchFamily="18" charset="2"/>
            </a:endParaRPr>
          </a:p>
        </p:txBody>
      </p:sp>
      <p:sp>
        <p:nvSpPr>
          <p:cNvPr id="334901" name="AutoShape 53"/>
          <p:cNvSpPr>
            <a:spLocks noChangeArrowheads="1"/>
          </p:cNvSpPr>
          <p:nvPr/>
        </p:nvSpPr>
        <p:spPr bwMode="auto">
          <a:xfrm rot="16200000" flipH="1">
            <a:off x="4510881" y="4772819"/>
            <a:ext cx="109538" cy="622300"/>
          </a:xfrm>
          <a:prstGeom prst="downArrow">
            <a:avLst>
              <a:gd name="adj1" fmla="val 50000"/>
              <a:gd name="adj2" fmla="val 142028"/>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4902" name="AutoShape 54"/>
          <p:cNvSpPr>
            <a:spLocks noChangeArrowheads="1"/>
          </p:cNvSpPr>
          <p:nvPr/>
        </p:nvSpPr>
        <p:spPr bwMode="auto">
          <a:xfrm>
            <a:off x="2819400" y="5410200"/>
            <a:ext cx="190500" cy="533400"/>
          </a:xfrm>
          <a:prstGeom prst="downArrow">
            <a:avLst>
              <a:gd name="adj1" fmla="val 50000"/>
              <a:gd name="adj2" fmla="val 70000"/>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4905" name="AutoShape 57"/>
          <p:cNvSpPr>
            <a:spLocks noChangeArrowheads="1"/>
          </p:cNvSpPr>
          <p:nvPr/>
        </p:nvSpPr>
        <p:spPr bwMode="auto">
          <a:xfrm>
            <a:off x="2808288" y="3124200"/>
            <a:ext cx="190500" cy="533400"/>
          </a:xfrm>
          <a:prstGeom prst="downArrow">
            <a:avLst>
              <a:gd name="adj1" fmla="val 50000"/>
              <a:gd name="adj2" fmla="val 70000"/>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4906" name="AutoShape 58"/>
          <p:cNvSpPr>
            <a:spLocks noChangeArrowheads="1"/>
          </p:cNvSpPr>
          <p:nvPr/>
        </p:nvSpPr>
        <p:spPr bwMode="auto">
          <a:xfrm>
            <a:off x="1641475" y="3657600"/>
            <a:ext cx="2514600" cy="568325"/>
          </a:xfrm>
          <a:prstGeom prst="diamond">
            <a:avLst/>
          </a:prstGeom>
          <a:solidFill>
            <a:srgbClr val="FF00FF">
              <a:alpha val="50000"/>
            </a:srgbClr>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00000"/>
              </a:lnSpc>
              <a:spcBef>
                <a:spcPct val="0"/>
              </a:spcBef>
              <a:buClrTx/>
              <a:buFontTx/>
              <a:buNone/>
            </a:pPr>
            <a:r>
              <a:rPr lang="en-US" altLang="zh-CN" sz="2000" i="1" dirty="0">
                <a:solidFill>
                  <a:schemeClr val="tx2"/>
                </a:solidFill>
              </a:rPr>
              <a:t>x</a:t>
            </a:r>
            <a:r>
              <a:rPr lang="en-US" altLang="zh-CN" sz="2000" dirty="0">
                <a:solidFill>
                  <a:schemeClr val="tx2"/>
                </a:solidFill>
              </a:rPr>
              <a:t>≤</a:t>
            </a:r>
            <a:r>
              <a:rPr lang="en-US" altLang="zh-CN" sz="2000" i="1" dirty="0">
                <a:solidFill>
                  <a:schemeClr val="tx2"/>
                </a:solidFill>
                <a:sym typeface="Symbol" pitchFamily="18" charset="2"/>
              </a:rPr>
              <a:t></a:t>
            </a:r>
            <a:r>
              <a:rPr lang="en-US" altLang="zh-CN" sz="2000" baseline="-25000" dirty="0">
                <a:solidFill>
                  <a:schemeClr val="tx2"/>
                </a:solidFill>
              </a:rPr>
              <a:t>b</a:t>
            </a:r>
            <a:r>
              <a:rPr lang="en-US" altLang="zh-CN" sz="2000" i="1" dirty="0">
                <a:solidFill>
                  <a:schemeClr val="tx2"/>
                </a:solidFill>
                <a:sym typeface="Symbol" pitchFamily="18" charset="2"/>
              </a:rPr>
              <a:t>h</a:t>
            </a:r>
            <a:r>
              <a:rPr lang="en-US" altLang="zh-CN" sz="2000" baseline="-25000" dirty="0">
                <a:solidFill>
                  <a:schemeClr val="tx2"/>
                </a:solidFill>
                <a:sym typeface="Symbol" pitchFamily="18" charset="2"/>
              </a:rPr>
              <a:t>0</a:t>
            </a:r>
            <a:r>
              <a:rPr lang="en-US" altLang="zh-CN" dirty="0">
                <a:sym typeface="Symbol" pitchFamily="18" charset="2"/>
              </a:rPr>
              <a:t> </a:t>
            </a:r>
          </a:p>
        </p:txBody>
      </p:sp>
      <p:sp>
        <p:nvSpPr>
          <p:cNvPr id="334907" name="AutoShape 59"/>
          <p:cNvSpPr>
            <a:spLocks noChangeArrowheads="1"/>
          </p:cNvSpPr>
          <p:nvPr/>
        </p:nvSpPr>
        <p:spPr bwMode="auto">
          <a:xfrm>
            <a:off x="1600200" y="4800600"/>
            <a:ext cx="2667000" cy="561975"/>
          </a:xfrm>
          <a:prstGeom prst="diamond">
            <a:avLst/>
          </a:prstGeom>
          <a:solidFill>
            <a:srgbClr val="FF00FF">
              <a:alpha val="50000"/>
            </a:srgbClr>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00000"/>
              </a:lnSpc>
              <a:spcBef>
                <a:spcPct val="0"/>
              </a:spcBef>
              <a:buClrTx/>
              <a:buFontTx/>
              <a:buNone/>
            </a:pPr>
            <a:r>
              <a:rPr lang="en-US" altLang="zh-CN" sz="2000" i="1" dirty="0">
                <a:solidFill>
                  <a:schemeClr val="tx2"/>
                </a:solidFill>
                <a:sym typeface="Symbol" pitchFamily="18" charset="2"/>
              </a:rPr>
              <a:t>x</a:t>
            </a:r>
            <a:r>
              <a:rPr lang="en-US" altLang="zh-CN" sz="2000" dirty="0">
                <a:solidFill>
                  <a:schemeClr val="tx2"/>
                </a:solidFill>
                <a:sym typeface="Symbol" pitchFamily="18" charset="2"/>
              </a:rPr>
              <a:t>&gt;2</a:t>
            </a:r>
            <a:r>
              <a:rPr lang="en-US" altLang="zh-CN" sz="2000" i="1" dirty="0">
                <a:solidFill>
                  <a:schemeClr val="tx2"/>
                </a:solidFill>
                <a:sym typeface="Symbol" pitchFamily="18" charset="2"/>
              </a:rPr>
              <a:t>a</a:t>
            </a:r>
            <a:r>
              <a:rPr lang="en-US" altLang="zh-CN" sz="2000" baseline="-25000" dirty="0">
                <a:solidFill>
                  <a:schemeClr val="tx2"/>
                </a:solidFill>
                <a:sym typeface="Symbol" pitchFamily="18" charset="2"/>
              </a:rPr>
              <a:t>s</a:t>
            </a:r>
            <a:r>
              <a:rPr lang="en-US" altLang="zh-CN" sz="2000" i="1" dirty="0">
                <a:solidFill>
                  <a:schemeClr val="tx2"/>
                </a:solidFill>
                <a:sym typeface="Symbol" pitchFamily="18" charset="2"/>
              </a:rPr>
              <a:t>’</a:t>
            </a:r>
            <a:r>
              <a:rPr lang="en-US" altLang="zh-CN" dirty="0">
                <a:sym typeface="Symbol" pitchFamily="18" charset="2"/>
              </a:rPr>
              <a:t> </a:t>
            </a:r>
          </a:p>
        </p:txBody>
      </p:sp>
      <p:pic>
        <p:nvPicPr>
          <p:cNvPr id="23" name="Picture 10" descr="gj0716"/>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8214" t="51918" r="50797" b="5403"/>
          <a:stretch>
            <a:fillRect/>
          </a:stretch>
        </p:blipFill>
        <p:spPr bwMode="auto">
          <a:xfrm>
            <a:off x="6786578" y="4307720"/>
            <a:ext cx="2357422" cy="2550280"/>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p:cNvSpPr txBox="1"/>
          <p:nvPr/>
        </p:nvSpPr>
        <p:spPr>
          <a:xfrm>
            <a:off x="8215338" y="4642966"/>
            <a:ext cx="323429" cy="286232"/>
          </a:xfrm>
          <a:prstGeom prst="rect">
            <a:avLst/>
          </a:prstGeom>
          <a:solidFill>
            <a:schemeClr val="bg1"/>
          </a:solidFill>
        </p:spPr>
        <p:txBody>
          <a:bodyPr wrap="square" rtlCol="0">
            <a:spAutoFit/>
          </a:bodyPr>
          <a:lstStyle/>
          <a:p>
            <a:r>
              <a:rPr lang="en-US" altLang="zh-CN" sz="1400" i="1" dirty="0" err="1"/>
              <a:t>e</a:t>
            </a:r>
            <a:r>
              <a:rPr lang="en-US" altLang="zh-CN" sz="1400" baseline="-25000" dirty="0" err="1"/>
              <a:t>i</a:t>
            </a:r>
            <a:endParaRPr lang="zh-CN" altLang="en-US" sz="1400" baseline="-25000" dirty="0"/>
          </a:p>
        </p:txBody>
      </p:sp>
      <p:graphicFrame>
        <p:nvGraphicFramePr>
          <p:cNvPr id="26" name="Object 14"/>
          <p:cNvGraphicFramePr>
            <a:graphicFrameLocks noChangeAspect="1"/>
          </p:cNvGraphicFramePr>
          <p:nvPr>
            <p:extLst>
              <p:ext uri="{D42A27DB-BD31-4B8C-83A1-F6EECF244321}">
                <p14:modId xmlns:p14="http://schemas.microsoft.com/office/powerpoint/2010/main" val="3047527373"/>
              </p:ext>
            </p:extLst>
          </p:nvPr>
        </p:nvGraphicFramePr>
        <p:xfrm>
          <a:off x="4583113" y="1624013"/>
          <a:ext cx="4348162" cy="1119187"/>
        </p:xfrm>
        <a:graphic>
          <a:graphicData uri="http://schemas.openxmlformats.org/presentationml/2006/ole">
            <mc:AlternateContent xmlns:mc="http://schemas.openxmlformats.org/markup-compatibility/2006">
              <mc:Choice xmlns:v="urn:schemas-microsoft-com:vml" Requires="v">
                <p:oleObj spid="_x0000_s523367" name="Equation" r:id="rId6" imgW="2565360" imgH="660240" progId="Equation.DSMT4">
                  <p:embed/>
                </p:oleObj>
              </mc:Choice>
              <mc:Fallback>
                <p:oleObj name="Equation" r:id="rId6" imgW="2565360" imgH="660240" progId="Equation.DSMT4">
                  <p:embed/>
                  <p:pic>
                    <p:nvPicPr>
                      <p:cNvPr id="335886" name="Object 14"/>
                      <p:cNvPicPr>
                        <a:picLocks noGrp="1" noChangeAspect="1" noChangeArrowheads="1"/>
                      </p:cNvPicPr>
                      <p:nvPr/>
                    </p:nvPicPr>
                    <p:blipFill>
                      <a:blip r:embed="rId7"/>
                      <a:srcRect/>
                      <a:stretch>
                        <a:fillRect/>
                      </a:stretch>
                    </p:blipFill>
                    <p:spPr bwMode="auto">
                      <a:xfrm>
                        <a:off x="4583113" y="1624013"/>
                        <a:ext cx="4348162" cy="1119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36928" name="Picture 32" descr="gj0720"/>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4643" r="3143"/>
          <a:stretch>
            <a:fillRect/>
          </a:stretch>
        </p:blipFill>
        <p:spPr bwMode="auto">
          <a:xfrm>
            <a:off x="381000" y="2219325"/>
            <a:ext cx="8364538" cy="2657475"/>
          </a:xfrm>
          <a:prstGeom prst="rect">
            <a:avLst/>
          </a:prstGeom>
          <a:noFill/>
          <a:extLst>
            <a:ext uri="{909E8E84-426E-40DD-AFC4-6F175D3DCCD1}">
              <a14:hiddenFill xmlns:a14="http://schemas.microsoft.com/office/drawing/2010/main">
                <a:solidFill>
                  <a:srgbClr val="FFFFFF"/>
                </a:solidFill>
              </a14:hiddenFill>
            </a:ext>
          </a:extLst>
        </p:spPr>
      </p:pic>
      <p:sp>
        <p:nvSpPr>
          <p:cNvPr id="336898"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36899" name="Rectangle 3"/>
          <p:cNvSpPr>
            <a:spLocks noChangeArrowheads="1"/>
          </p:cNvSpPr>
          <p:nvPr/>
        </p:nvSpPr>
        <p:spPr bwMode="auto">
          <a:xfrm>
            <a:off x="533400" y="1066800"/>
            <a:ext cx="8304213" cy="95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20000"/>
              </a:lnSpc>
              <a:buClrTx/>
              <a:buFontTx/>
              <a:buNone/>
            </a:pPr>
            <a:r>
              <a:rPr lang="en-US" altLang="zh-CN">
                <a:solidFill>
                  <a:srgbClr val="990099"/>
                </a:solidFill>
              </a:rPr>
              <a:t>2.</a:t>
            </a:r>
            <a:r>
              <a:rPr lang="zh-CN" altLang="en-US">
                <a:solidFill>
                  <a:srgbClr val="990099"/>
                </a:solidFill>
              </a:rPr>
              <a:t>大偏心受压构件截面的配筋计算</a:t>
            </a:r>
          </a:p>
          <a:p>
            <a:pPr marL="342900" indent="-342900" algn="l">
              <a:lnSpc>
                <a:spcPct val="120000"/>
              </a:lnSpc>
              <a:buClrTx/>
              <a:buFontTx/>
              <a:buNone/>
            </a:pPr>
            <a:r>
              <a:rPr lang="en-US" altLang="zh-CN" sz="2000"/>
              <a:t>4</a:t>
            </a:r>
            <a:r>
              <a:rPr lang="zh-CN" altLang="en-US" sz="2000"/>
              <a:t>）简化计算</a:t>
            </a:r>
          </a:p>
        </p:txBody>
      </p:sp>
      <p:graphicFrame>
        <p:nvGraphicFramePr>
          <p:cNvPr id="336929" name="Object 33"/>
          <p:cNvGraphicFramePr>
            <a:graphicFrameLocks noChangeAspect="1"/>
          </p:cNvGraphicFramePr>
          <p:nvPr>
            <p:extLst>
              <p:ext uri="{D42A27DB-BD31-4B8C-83A1-F6EECF244321}">
                <p14:modId xmlns:p14="http://schemas.microsoft.com/office/powerpoint/2010/main" val="162061302"/>
              </p:ext>
            </p:extLst>
          </p:nvPr>
        </p:nvGraphicFramePr>
        <p:xfrm>
          <a:off x="2805113" y="5068888"/>
          <a:ext cx="1482725" cy="692150"/>
        </p:xfrm>
        <a:graphic>
          <a:graphicData uri="http://schemas.openxmlformats.org/presentationml/2006/ole">
            <mc:AlternateContent xmlns:mc="http://schemas.openxmlformats.org/markup-compatibility/2006">
              <mc:Choice xmlns:v="urn:schemas-microsoft-com:vml" Requires="v">
                <p:oleObj spid="_x0000_s524770" name="Equation" r:id="rId4" imgW="1155600" imgH="533160" progId="Equation.DSMT4">
                  <p:embed/>
                </p:oleObj>
              </mc:Choice>
              <mc:Fallback>
                <p:oleObj name="Equation" r:id="rId4" imgW="1155600" imgH="533160" progId="Equation.DSMT4">
                  <p:embed/>
                  <p:pic>
                    <p:nvPicPr>
                      <p:cNvPr id="0" name="Picture 2"/>
                      <p:cNvPicPr>
                        <a:picLocks noChangeAspect="1" noChangeArrowheads="1"/>
                      </p:cNvPicPr>
                      <p:nvPr/>
                    </p:nvPicPr>
                    <p:blipFill>
                      <a:blip r:embed="rId5"/>
                      <a:srcRect/>
                      <a:stretch>
                        <a:fillRect/>
                      </a:stretch>
                    </p:blipFill>
                    <p:spPr bwMode="auto">
                      <a:xfrm>
                        <a:off x="2805113" y="5068888"/>
                        <a:ext cx="1482725"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6930" name="Object 34"/>
          <p:cNvGraphicFramePr>
            <a:graphicFrameLocks noChangeAspect="1"/>
          </p:cNvGraphicFramePr>
          <p:nvPr>
            <p:extLst>
              <p:ext uri="{D42A27DB-BD31-4B8C-83A1-F6EECF244321}">
                <p14:modId xmlns:p14="http://schemas.microsoft.com/office/powerpoint/2010/main" val="563776134"/>
              </p:ext>
            </p:extLst>
          </p:nvPr>
        </p:nvGraphicFramePr>
        <p:xfrm>
          <a:off x="5087938" y="5110163"/>
          <a:ext cx="1570037" cy="914400"/>
        </p:xfrm>
        <a:graphic>
          <a:graphicData uri="http://schemas.openxmlformats.org/presentationml/2006/ole">
            <mc:AlternateContent xmlns:mc="http://schemas.openxmlformats.org/markup-compatibility/2006">
              <mc:Choice xmlns:v="urn:schemas-microsoft-com:vml" Requires="v">
                <p:oleObj spid="_x0000_s524771" name="Equation" r:id="rId6" imgW="1218960" imgH="711000" progId="Equation.DSMT4">
                  <p:embed/>
                </p:oleObj>
              </mc:Choice>
              <mc:Fallback>
                <p:oleObj name="Equation" r:id="rId6" imgW="1218960" imgH="711000" progId="Equation.DSMT4">
                  <p:embed/>
                  <p:pic>
                    <p:nvPicPr>
                      <p:cNvPr id="0" name="Picture 3"/>
                      <p:cNvPicPr>
                        <a:picLocks noChangeAspect="1" noChangeArrowheads="1"/>
                      </p:cNvPicPr>
                      <p:nvPr/>
                    </p:nvPicPr>
                    <p:blipFill>
                      <a:blip r:embed="rId7"/>
                      <a:srcRect/>
                      <a:stretch>
                        <a:fillRect/>
                      </a:stretch>
                    </p:blipFill>
                    <p:spPr bwMode="auto">
                      <a:xfrm>
                        <a:off x="5087938" y="5110163"/>
                        <a:ext cx="157003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6931" name="Object 35"/>
          <p:cNvGraphicFramePr>
            <a:graphicFrameLocks noChangeAspect="1"/>
          </p:cNvGraphicFramePr>
          <p:nvPr>
            <p:extLst>
              <p:ext uri="{D42A27DB-BD31-4B8C-83A1-F6EECF244321}">
                <p14:modId xmlns:p14="http://schemas.microsoft.com/office/powerpoint/2010/main" val="442756327"/>
              </p:ext>
            </p:extLst>
          </p:nvPr>
        </p:nvGraphicFramePr>
        <p:xfrm>
          <a:off x="7327900" y="5005388"/>
          <a:ext cx="846138" cy="323850"/>
        </p:xfrm>
        <a:graphic>
          <a:graphicData uri="http://schemas.openxmlformats.org/presentationml/2006/ole">
            <mc:AlternateContent xmlns:mc="http://schemas.openxmlformats.org/markup-compatibility/2006">
              <mc:Choice xmlns:v="urn:schemas-microsoft-com:vml" Requires="v">
                <p:oleObj spid="_x0000_s524772" name="Equation" r:id="rId8" imgW="660240" imgH="241200" progId="Equation.DSMT4">
                  <p:embed/>
                </p:oleObj>
              </mc:Choice>
              <mc:Fallback>
                <p:oleObj name="Equation" r:id="rId8" imgW="660240" imgH="241200" progId="Equation.DSMT4">
                  <p:embed/>
                  <p:pic>
                    <p:nvPicPr>
                      <p:cNvPr id="0" name="Picture 4"/>
                      <p:cNvPicPr>
                        <a:picLocks noChangeAspect="1" noChangeArrowheads="1"/>
                      </p:cNvPicPr>
                      <p:nvPr/>
                    </p:nvPicPr>
                    <p:blipFill>
                      <a:blip r:embed="rId9"/>
                      <a:srcRect/>
                      <a:stretch>
                        <a:fillRect/>
                      </a:stretch>
                    </p:blipFill>
                    <p:spPr bwMode="auto">
                      <a:xfrm>
                        <a:off x="7327900" y="5005388"/>
                        <a:ext cx="846138"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6907" name="Object 11"/>
          <p:cNvGraphicFramePr>
            <a:graphicFrameLocks noGrp="1" noChangeAspect="1"/>
          </p:cNvGraphicFramePr>
          <p:nvPr>
            <p:ph sz="half" idx="1"/>
            <p:extLst>
              <p:ext uri="{D42A27DB-BD31-4B8C-83A1-F6EECF244321}">
                <p14:modId xmlns:p14="http://schemas.microsoft.com/office/powerpoint/2010/main" val="4172244811"/>
              </p:ext>
            </p:extLst>
          </p:nvPr>
        </p:nvGraphicFramePr>
        <p:xfrm>
          <a:off x="5127625" y="1681163"/>
          <a:ext cx="2087563" cy="427037"/>
        </p:xfrm>
        <a:graphic>
          <a:graphicData uri="http://schemas.openxmlformats.org/presentationml/2006/ole">
            <mc:AlternateContent xmlns:mc="http://schemas.openxmlformats.org/markup-compatibility/2006">
              <mc:Choice xmlns:v="urn:schemas-microsoft-com:vml" Requires="v">
                <p:oleObj spid="_x0000_s524773" name="Equation" r:id="rId10" imgW="1117440" imgH="228600" progId="Equation.DSMT4">
                  <p:embed/>
                </p:oleObj>
              </mc:Choice>
              <mc:Fallback>
                <p:oleObj name="Equation" r:id="rId10" imgW="1117440" imgH="228600" progId="Equation.DSMT4">
                  <p:embed/>
                  <p:pic>
                    <p:nvPicPr>
                      <p:cNvPr id="0" name="Picture 5"/>
                      <p:cNvPicPr>
                        <a:picLocks noGrp="1" noChangeAspect="1" noChangeArrowheads="1"/>
                      </p:cNvPicPr>
                      <p:nvPr/>
                    </p:nvPicPr>
                    <p:blipFill>
                      <a:blip r:embed="rId11"/>
                      <a:srcRect/>
                      <a:stretch>
                        <a:fillRect/>
                      </a:stretch>
                    </p:blipFill>
                    <p:spPr bwMode="auto">
                      <a:xfrm>
                        <a:off x="5127625" y="1681163"/>
                        <a:ext cx="2087563" cy="427037"/>
                      </a:xfrm>
                      <a:prstGeom prst="rect">
                        <a:avLst/>
                      </a:prstGeom>
                      <a:noFill/>
                      <a:ln>
                        <a:noFill/>
                      </a:ln>
                      <a:effectLst/>
                      <a:extLst>
                        <a:ext uri="{909E8E84-426E-40DD-AFC4-6F175D3DCCD1}">
                          <a14:hiddenFill xmlns:a14="http://schemas.microsoft.com/office/drawing/2010/main">
                            <a:gradFill rotWithShape="1">
                              <a:gsLst>
                                <a:gs pos="0">
                                  <a:srgbClr val="223761"/>
                                </a:gs>
                                <a:gs pos="50000">
                                  <a:schemeClr val="accent1"/>
                                </a:gs>
                                <a:gs pos="100000">
                                  <a:srgbClr val="22376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6937" name="Object 41"/>
          <p:cNvGraphicFramePr>
            <a:graphicFrameLocks noChangeAspect="1"/>
          </p:cNvGraphicFramePr>
          <p:nvPr>
            <p:extLst>
              <p:ext uri="{D42A27DB-BD31-4B8C-83A1-F6EECF244321}">
                <p14:modId xmlns:p14="http://schemas.microsoft.com/office/powerpoint/2010/main" val="1041751136"/>
              </p:ext>
            </p:extLst>
          </p:nvPr>
        </p:nvGraphicFramePr>
        <p:xfrm>
          <a:off x="7218363" y="1722438"/>
          <a:ext cx="314325" cy="334962"/>
        </p:xfrm>
        <a:graphic>
          <a:graphicData uri="http://schemas.openxmlformats.org/presentationml/2006/ole">
            <mc:AlternateContent xmlns:mc="http://schemas.openxmlformats.org/markup-compatibility/2006">
              <mc:Choice xmlns:v="urn:schemas-microsoft-com:vml" Requires="v">
                <p:oleObj spid="_x0000_s524774" name="Equation" r:id="rId12" imgW="215640" imgH="228600" progId="Equation.DSMT4">
                  <p:embed/>
                </p:oleObj>
              </mc:Choice>
              <mc:Fallback>
                <p:oleObj name="Equation" r:id="rId12" imgW="215640" imgH="228600" progId="Equation.DSMT4">
                  <p:embed/>
                  <p:pic>
                    <p:nvPicPr>
                      <p:cNvPr id="0" name="Picture 6"/>
                      <p:cNvPicPr>
                        <a:picLocks noChangeAspect="1" noChangeArrowheads="1"/>
                      </p:cNvPicPr>
                      <p:nvPr/>
                    </p:nvPicPr>
                    <p:blipFill>
                      <a:blip r:embed="rId13"/>
                      <a:srcRect/>
                      <a:stretch>
                        <a:fillRect/>
                      </a:stretch>
                    </p:blipFill>
                    <p:spPr bwMode="auto">
                      <a:xfrm>
                        <a:off x="7218363" y="1722438"/>
                        <a:ext cx="314325" cy="334962"/>
                      </a:xfrm>
                      <a:prstGeom prst="rect">
                        <a:avLst/>
                      </a:prstGeom>
                      <a:noFill/>
                      <a:ln>
                        <a:noFill/>
                      </a:ln>
                      <a:effectLst/>
                      <a:extLst>
                        <a:ext uri="{909E8E84-426E-40DD-AFC4-6F175D3DCCD1}">
                          <a14:hiddenFill xmlns:a14="http://schemas.microsoft.com/office/drawing/2010/main">
                            <a:gradFill rotWithShape="1">
                              <a:gsLst>
                                <a:gs pos="0">
                                  <a:srgbClr val="223761"/>
                                </a:gs>
                                <a:gs pos="50000">
                                  <a:schemeClr val="accent1"/>
                                </a:gs>
                                <a:gs pos="100000">
                                  <a:srgbClr val="22376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6938" name="Object 42"/>
          <p:cNvGraphicFramePr>
            <a:graphicFrameLocks noChangeAspect="1"/>
          </p:cNvGraphicFramePr>
          <p:nvPr>
            <p:extLst>
              <p:ext uri="{D42A27DB-BD31-4B8C-83A1-F6EECF244321}">
                <p14:modId xmlns:p14="http://schemas.microsoft.com/office/powerpoint/2010/main" val="3455231358"/>
              </p:ext>
            </p:extLst>
          </p:nvPr>
        </p:nvGraphicFramePr>
        <p:xfrm>
          <a:off x="5837238" y="1722438"/>
          <a:ext cx="311150" cy="334962"/>
        </p:xfrm>
        <a:graphic>
          <a:graphicData uri="http://schemas.openxmlformats.org/presentationml/2006/ole">
            <mc:AlternateContent xmlns:mc="http://schemas.openxmlformats.org/markup-compatibility/2006">
              <mc:Choice xmlns:v="urn:schemas-microsoft-com:vml" Requires="v">
                <p:oleObj spid="_x0000_s524775" name="Equation" r:id="rId14" imgW="215640" imgH="228600" progId="Equation.DSMT4">
                  <p:embed/>
                </p:oleObj>
              </mc:Choice>
              <mc:Fallback>
                <p:oleObj name="Equation" r:id="rId14" imgW="215640" imgH="228600" progId="Equation.DSMT4">
                  <p:embed/>
                  <p:pic>
                    <p:nvPicPr>
                      <p:cNvPr id="0" name="Picture 7"/>
                      <p:cNvPicPr>
                        <a:picLocks noChangeAspect="1" noChangeArrowheads="1"/>
                      </p:cNvPicPr>
                      <p:nvPr/>
                    </p:nvPicPr>
                    <p:blipFill>
                      <a:blip r:embed="rId15"/>
                      <a:srcRect/>
                      <a:stretch>
                        <a:fillRect/>
                      </a:stretch>
                    </p:blipFill>
                    <p:spPr bwMode="auto">
                      <a:xfrm>
                        <a:off x="5837238" y="1722438"/>
                        <a:ext cx="311150" cy="334962"/>
                      </a:xfrm>
                      <a:prstGeom prst="rect">
                        <a:avLst/>
                      </a:prstGeom>
                      <a:noFill/>
                      <a:ln>
                        <a:noFill/>
                      </a:ln>
                      <a:effectLst/>
                      <a:extLst>
                        <a:ext uri="{909E8E84-426E-40DD-AFC4-6F175D3DCCD1}">
                          <a14:hiddenFill xmlns:a14="http://schemas.microsoft.com/office/drawing/2010/main">
                            <a:gradFill rotWithShape="1">
                              <a:gsLst>
                                <a:gs pos="0">
                                  <a:srgbClr val="223761"/>
                                </a:gs>
                                <a:gs pos="50000">
                                  <a:schemeClr val="accent1"/>
                                </a:gs>
                                <a:gs pos="100000">
                                  <a:srgbClr val="22376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6939" name="Object 43"/>
          <p:cNvGraphicFramePr>
            <a:graphicFrameLocks noChangeAspect="1"/>
          </p:cNvGraphicFramePr>
          <p:nvPr>
            <p:extLst>
              <p:ext uri="{D42A27DB-BD31-4B8C-83A1-F6EECF244321}">
                <p14:modId xmlns:p14="http://schemas.microsoft.com/office/powerpoint/2010/main" val="766634649"/>
              </p:ext>
            </p:extLst>
          </p:nvPr>
        </p:nvGraphicFramePr>
        <p:xfrm>
          <a:off x="6523038" y="1722438"/>
          <a:ext cx="334962" cy="334962"/>
        </p:xfrm>
        <a:graphic>
          <a:graphicData uri="http://schemas.openxmlformats.org/presentationml/2006/ole">
            <mc:AlternateContent xmlns:mc="http://schemas.openxmlformats.org/markup-compatibility/2006">
              <mc:Choice xmlns:v="urn:schemas-microsoft-com:vml" Requires="v">
                <p:oleObj spid="_x0000_s524776" name="Equation" r:id="rId16" imgW="228600" imgH="228600" progId="Equation.DSMT4">
                  <p:embed/>
                </p:oleObj>
              </mc:Choice>
              <mc:Fallback>
                <p:oleObj name="Equation" r:id="rId16" imgW="228600" imgH="228600" progId="Equation.DSMT4">
                  <p:embed/>
                  <p:pic>
                    <p:nvPicPr>
                      <p:cNvPr id="0" name="Picture 8"/>
                      <p:cNvPicPr>
                        <a:picLocks noChangeAspect="1" noChangeArrowheads="1"/>
                      </p:cNvPicPr>
                      <p:nvPr/>
                    </p:nvPicPr>
                    <p:blipFill>
                      <a:blip r:embed="rId17"/>
                      <a:srcRect/>
                      <a:stretch>
                        <a:fillRect/>
                      </a:stretch>
                    </p:blipFill>
                    <p:spPr bwMode="auto">
                      <a:xfrm>
                        <a:off x="6523038" y="1722438"/>
                        <a:ext cx="334962" cy="334962"/>
                      </a:xfrm>
                      <a:prstGeom prst="rect">
                        <a:avLst/>
                      </a:prstGeom>
                      <a:noFill/>
                      <a:ln>
                        <a:noFill/>
                      </a:ln>
                      <a:effectLst/>
                      <a:extLst>
                        <a:ext uri="{909E8E84-426E-40DD-AFC4-6F175D3DCCD1}">
                          <a14:hiddenFill xmlns:a14="http://schemas.microsoft.com/office/drawing/2010/main">
                            <a:gradFill rotWithShape="1">
                              <a:gsLst>
                                <a:gs pos="0">
                                  <a:srgbClr val="223761"/>
                                </a:gs>
                                <a:gs pos="50000">
                                  <a:schemeClr val="accent1"/>
                                </a:gs>
                                <a:gs pos="100000">
                                  <a:srgbClr val="22376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6944" name="Object 48"/>
          <p:cNvGraphicFramePr>
            <a:graphicFrameLocks noChangeAspect="1"/>
          </p:cNvGraphicFramePr>
          <p:nvPr/>
        </p:nvGraphicFramePr>
        <p:xfrm>
          <a:off x="2971800" y="1687513"/>
          <a:ext cx="1352550" cy="403225"/>
        </p:xfrm>
        <a:graphic>
          <a:graphicData uri="http://schemas.openxmlformats.org/presentationml/2006/ole">
            <mc:AlternateContent xmlns:mc="http://schemas.openxmlformats.org/markup-compatibility/2006">
              <mc:Choice xmlns:v="urn:schemas-microsoft-com:vml" Requires="v">
                <p:oleObj spid="_x0000_s524777" name="Equation" r:id="rId18" imgW="952200" imgH="279360" progId="">
                  <p:embed/>
                </p:oleObj>
              </mc:Choice>
              <mc:Fallback>
                <p:oleObj name="Equation" r:id="rId18" imgW="952200" imgH="279360" progId="">
                  <p:embed/>
                  <p:pic>
                    <p:nvPicPr>
                      <p:cNvPr id="0" name="Picture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71800" y="1687513"/>
                        <a:ext cx="1352550" cy="403225"/>
                      </a:xfrm>
                      <a:prstGeom prst="rect">
                        <a:avLst/>
                      </a:prstGeom>
                      <a:noFill/>
                      <a:ln>
                        <a:noFill/>
                      </a:ln>
                      <a:effectLst/>
                      <a:extLst>
                        <a:ext uri="{909E8E84-426E-40DD-AFC4-6F175D3DCCD1}">
                          <a14:hiddenFill xmlns:a14="http://schemas.microsoft.com/office/drawing/2010/main">
                            <a:gradFill rotWithShape="1">
                              <a:gsLst>
                                <a:gs pos="0">
                                  <a:srgbClr val="223761"/>
                                </a:gs>
                                <a:gs pos="50000">
                                  <a:schemeClr val="accent1"/>
                                </a:gs>
                                <a:gs pos="100000">
                                  <a:srgbClr val="22376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6945" name="Object 49"/>
          <p:cNvGraphicFramePr>
            <a:graphicFrameLocks noChangeAspect="1"/>
          </p:cNvGraphicFramePr>
          <p:nvPr/>
        </p:nvGraphicFramePr>
        <p:xfrm>
          <a:off x="3657600" y="1671638"/>
          <a:ext cx="427038" cy="427037"/>
        </p:xfrm>
        <a:graphic>
          <a:graphicData uri="http://schemas.openxmlformats.org/presentationml/2006/ole">
            <mc:AlternateContent xmlns:mc="http://schemas.openxmlformats.org/markup-compatibility/2006">
              <mc:Choice xmlns:v="urn:schemas-microsoft-com:vml" Requires="v">
                <p:oleObj spid="_x0000_s524778" name="Equation" r:id="rId20" imgW="291960" imgH="291960" progId="">
                  <p:embed/>
                </p:oleObj>
              </mc:Choice>
              <mc:Fallback>
                <p:oleObj name="Equation" r:id="rId20" imgW="291960" imgH="291960" progId="">
                  <p:embed/>
                  <p:pic>
                    <p:nvPicPr>
                      <p:cNvPr id="0" name="Picture 1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657600" y="1671638"/>
                        <a:ext cx="427038" cy="427037"/>
                      </a:xfrm>
                      <a:prstGeom prst="rect">
                        <a:avLst/>
                      </a:prstGeom>
                      <a:noFill/>
                      <a:ln>
                        <a:noFill/>
                      </a:ln>
                      <a:effectLst/>
                      <a:extLst>
                        <a:ext uri="{909E8E84-426E-40DD-AFC4-6F175D3DCCD1}">
                          <a14:hiddenFill xmlns:a14="http://schemas.microsoft.com/office/drawing/2010/main">
                            <a:gradFill rotWithShape="1">
                              <a:gsLst>
                                <a:gs pos="0">
                                  <a:srgbClr val="223761"/>
                                </a:gs>
                                <a:gs pos="50000">
                                  <a:schemeClr val="accent1"/>
                                </a:gs>
                                <a:gs pos="100000">
                                  <a:srgbClr val="22376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6946" name="Object 50"/>
          <p:cNvGraphicFramePr>
            <a:graphicFrameLocks noChangeAspect="1"/>
          </p:cNvGraphicFramePr>
          <p:nvPr/>
        </p:nvGraphicFramePr>
        <p:xfrm>
          <a:off x="4332288" y="1676400"/>
          <a:ext cx="450850" cy="427038"/>
        </p:xfrm>
        <a:graphic>
          <a:graphicData uri="http://schemas.openxmlformats.org/presentationml/2006/ole">
            <mc:AlternateContent xmlns:mc="http://schemas.openxmlformats.org/markup-compatibility/2006">
              <mc:Choice xmlns:v="urn:schemas-microsoft-com:vml" Requires="v">
                <p:oleObj spid="_x0000_s524779" name="Equation" r:id="rId22" imgW="304560" imgH="291960" progId="">
                  <p:embed/>
                </p:oleObj>
              </mc:Choice>
              <mc:Fallback>
                <p:oleObj name="Equation" r:id="rId22" imgW="304560" imgH="291960" progId="">
                  <p:embed/>
                  <p:pic>
                    <p:nvPicPr>
                      <p:cNvPr id="0" name="Picture 1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332288" y="1676400"/>
                        <a:ext cx="450850" cy="427038"/>
                      </a:xfrm>
                      <a:prstGeom prst="rect">
                        <a:avLst/>
                      </a:prstGeom>
                      <a:noFill/>
                      <a:ln>
                        <a:noFill/>
                      </a:ln>
                      <a:effectLst/>
                      <a:extLst>
                        <a:ext uri="{909E8E84-426E-40DD-AFC4-6F175D3DCCD1}">
                          <a14:hiddenFill xmlns:a14="http://schemas.microsoft.com/office/drawing/2010/main">
                            <a:gradFill rotWithShape="1">
                              <a:gsLst>
                                <a:gs pos="0">
                                  <a:srgbClr val="223761"/>
                                </a:gs>
                                <a:gs pos="50000">
                                  <a:schemeClr val="accent1"/>
                                </a:gs>
                                <a:gs pos="100000">
                                  <a:srgbClr val="22376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6947" name="Text Box 51"/>
          <p:cNvSpPr txBox="1">
            <a:spLocks noChangeArrowheads="1"/>
          </p:cNvSpPr>
          <p:nvPr/>
        </p:nvSpPr>
        <p:spPr bwMode="auto">
          <a:xfrm>
            <a:off x="457200" y="6080125"/>
            <a:ext cx="2634054"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t>5</a:t>
            </a:r>
            <a:r>
              <a:rPr lang="zh-CN" altLang="en-US" sz="2000" dirty="0"/>
              <a:t>）构造要求，附表</a:t>
            </a:r>
            <a:r>
              <a:rPr lang="en-US" altLang="zh-CN" sz="2000" dirty="0"/>
              <a:t>18</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3694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659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4" name="Rectangle 3"/>
          <p:cNvSpPr>
            <a:spLocks noChangeArrowheads="1"/>
          </p:cNvSpPr>
          <p:nvPr/>
        </p:nvSpPr>
        <p:spPr bwMode="auto">
          <a:xfrm>
            <a:off x="304800" y="1066800"/>
            <a:ext cx="1486553"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r>
              <a:rPr lang="zh-CN" altLang="en-US" dirty="0">
                <a:solidFill>
                  <a:srgbClr val="A50021"/>
                </a:solidFill>
              </a:rPr>
              <a:t>例题</a:t>
            </a:r>
            <a:r>
              <a:rPr lang="en-US" altLang="zh-CN" dirty="0">
                <a:solidFill>
                  <a:srgbClr val="A50021"/>
                </a:solidFill>
              </a:rPr>
              <a:t>7.5</a:t>
            </a:r>
            <a:endParaRPr lang="en-US" altLang="zh-CN" sz="2200" dirty="0"/>
          </a:p>
        </p:txBody>
      </p:sp>
      <p:sp>
        <p:nvSpPr>
          <p:cNvPr id="5" name="Rectangle 3"/>
          <p:cNvSpPr>
            <a:spLocks noChangeArrowheads="1"/>
          </p:cNvSpPr>
          <p:nvPr/>
        </p:nvSpPr>
        <p:spPr bwMode="auto">
          <a:xfrm>
            <a:off x="318247" y="1402140"/>
            <a:ext cx="8610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buClrTx/>
              <a:buFontTx/>
              <a:buNone/>
            </a:pPr>
            <a:r>
              <a:rPr lang="zh-CN" altLang="en-US" sz="2000" dirty="0"/>
              <a:t>已知钢筋混凝土偏心受压柱截面尺寸为</a:t>
            </a:r>
            <a:r>
              <a:rPr lang="en-US" altLang="zh-CN" sz="2000" i="1" dirty="0" err="1"/>
              <a:t>b</a:t>
            </a:r>
            <a:r>
              <a:rPr lang="en-US" altLang="zh-CN" sz="2000" dirty="0" err="1"/>
              <a:t>×</a:t>
            </a:r>
            <a:r>
              <a:rPr lang="en-US" altLang="zh-CN" sz="2000" i="1" dirty="0" err="1"/>
              <a:t>h</a:t>
            </a:r>
            <a:r>
              <a:rPr lang="en-US" altLang="zh-CN" sz="2000" dirty="0"/>
              <a:t>=400mm×500mm</a:t>
            </a:r>
            <a:r>
              <a:rPr lang="zh-CN" altLang="en-US" sz="2000" dirty="0"/>
              <a:t>，柱子的计算长度为</a:t>
            </a:r>
            <a:r>
              <a:rPr lang="en-US" altLang="zh-CN" sz="2000" i="1" dirty="0"/>
              <a:t>l</a:t>
            </a:r>
            <a:r>
              <a:rPr lang="en-US" altLang="zh-CN" sz="2000" baseline="-25000" dirty="0"/>
              <a:t>0</a:t>
            </a:r>
            <a:r>
              <a:rPr lang="en-US" altLang="zh-CN" sz="2000" dirty="0"/>
              <a:t>=5.0m</a:t>
            </a:r>
            <a:r>
              <a:rPr lang="zh-CN" altLang="en-US" sz="2000" dirty="0"/>
              <a:t>，承受轴向压力设计值</a:t>
            </a:r>
            <a:r>
              <a:rPr lang="en-US" altLang="zh-CN" sz="2000" i="1" dirty="0"/>
              <a:t>N</a:t>
            </a:r>
            <a:r>
              <a:rPr lang="en-US" altLang="zh-CN" sz="2000" dirty="0"/>
              <a:t>=900kN</a:t>
            </a:r>
            <a:r>
              <a:rPr lang="zh-CN" altLang="en-US" sz="2000" dirty="0"/>
              <a:t>，柱两端作用弯矩设计值</a:t>
            </a:r>
            <a:r>
              <a:rPr lang="en-US" altLang="zh-CN" sz="2000" i="1" dirty="0"/>
              <a:t>M</a:t>
            </a:r>
            <a:r>
              <a:rPr lang="en-US" altLang="zh-CN" sz="2000" baseline="-25000" dirty="0"/>
              <a:t>1</a:t>
            </a:r>
            <a:r>
              <a:rPr lang="en-US" altLang="zh-CN" sz="2000" dirty="0"/>
              <a:t>=350kN·m</a:t>
            </a:r>
            <a:r>
              <a:rPr lang="zh-CN" altLang="en-US" sz="2000" dirty="0"/>
              <a:t>，</a:t>
            </a:r>
            <a:r>
              <a:rPr lang="en-US" altLang="zh-CN" sz="2000" i="1" dirty="0"/>
              <a:t>M</a:t>
            </a:r>
            <a:r>
              <a:rPr lang="en-US" altLang="zh-CN" sz="2000" baseline="-25000" dirty="0"/>
              <a:t>2</a:t>
            </a:r>
            <a:r>
              <a:rPr lang="en-US" altLang="zh-CN" sz="2000" dirty="0"/>
              <a:t>=350kN·m</a:t>
            </a:r>
            <a:r>
              <a:rPr lang="zh-CN" altLang="en-US" sz="2000" dirty="0"/>
              <a:t>，混凝土强度等级为</a:t>
            </a:r>
            <a:r>
              <a:rPr lang="en-US" altLang="zh-CN" sz="2000" dirty="0"/>
              <a:t>C25</a:t>
            </a:r>
            <a:r>
              <a:rPr lang="zh-CN" altLang="en-US" sz="2000" dirty="0"/>
              <a:t>，纵向钢筋用</a:t>
            </a:r>
            <a:r>
              <a:rPr lang="en-US" altLang="zh-CN" sz="2000" dirty="0"/>
              <a:t>HRB400</a:t>
            </a:r>
            <a:r>
              <a:rPr lang="zh-CN" altLang="en-US" sz="2000" dirty="0"/>
              <a:t>级钢筋，箍筋用</a:t>
            </a:r>
            <a:r>
              <a:rPr lang="en-US" altLang="zh-CN" sz="2000" dirty="0"/>
              <a:t>HPB300</a:t>
            </a:r>
            <a:r>
              <a:rPr lang="zh-CN" altLang="en-US" sz="2000" dirty="0"/>
              <a:t>级钢筋，</a:t>
            </a:r>
            <a:r>
              <a:rPr lang="en-US" altLang="zh-CN" sz="2000" i="1" dirty="0"/>
              <a:t>a</a:t>
            </a:r>
            <a:r>
              <a:rPr lang="en-US" altLang="zh-CN" sz="2000" baseline="-25000" dirty="0"/>
              <a:t>s</a:t>
            </a:r>
            <a:r>
              <a:rPr lang="en-US" altLang="zh-CN" sz="2000" i="1" dirty="0"/>
              <a:t>=a</a:t>
            </a:r>
            <a:r>
              <a:rPr lang="en-US" altLang="zh-CN" sz="2000" baseline="-25000" dirty="0"/>
              <a:t>s</a:t>
            </a:r>
            <a:r>
              <a:rPr lang="en-US" altLang="zh-CN" sz="2000" dirty="0"/>
              <a:t>’=40mm</a:t>
            </a:r>
            <a:r>
              <a:rPr lang="zh-CN" altLang="en-US" sz="2000" dirty="0"/>
              <a:t>。要求按非对称配筋计算截面配筋。</a:t>
            </a:r>
          </a:p>
        </p:txBody>
      </p:sp>
      <p:sp>
        <p:nvSpPr>
          <p:cNvPr id="6" name="Rectangle 3"/>
          <p:cNvSpPr>
            <a:spLocks noChangeArrowheads="1"/>
          </p:cNvSpPr>
          <p:nvPr/>
        </p:nvSpPr>
        <p:spPr bwMode="auto">
          <a:xfrm>
            <a:off x="304801" y="3489168"/>
            <a:ext cx="743276" cy="397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r>
              <a:rPr lang="zh-CN" altLang="en-US" sz="2200" dirty="0">
                <a:solidFill>
                  <a:srgbClr val="FF0000"/>
                </a:solidFill>
              </a:rPr>
              <a:t>解：</a:t>
            </a:r>
            <a:endParaRPr lang="en-US" altLang="zh-CN" sz="2200" dirty="0">
              <a:solidFill>
                <a:srgbClr val="FF0000"/>
              </a:solidFill>
            </a:endParaRPr>
          </a:p>
        </p:txBody>
      </p:sp>
      <p:sp>
        <p:nvSpPr>
          <p:cNvPr id="7" name="Rectangle 3"/>
          <p:cNvSpPr>
            <a:spLocks noChangeArrowheads="1"/>
          </p:cNvSpPr>
          <p:nvPr/>
        </p:nvSpPr>
        <p:spPr bwMode="auto">
          <a:xfrm>
            <a:off x="685800" y="3429000"/>
            <a:ext cx="6029340"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buClrTx/>
              <a:buFontTx/>
              <a:buNone/>
            </a:pPr>
            <a:r>
              <a:rPr lang="zh-CN" altLang="en-US" sz="2000" dirty="0"/>
              <a:t>（</a:t>
            </a:r>
            <a:r>
              <a:rPr lang="en-US" altLang="zh-CN" sz="2000" dirty="0"/>
              <a:t>1</a:t>
            </a:r>
            <a:r>
              <a:rPr lang="zh-CN" altLang="en-US" sz="2000" dirty="0"/>
              <a:t>）计算柱的设计弯矩值</a:t>
            </a:r>
            <a:r>
              <a:rPr lang="en-US" altLang="zh-CN" sz="2000" dirty="0"/>
              <a:t>(</a:t>
            </a:r>
            <a:r>
              <a:rPr lang="zh-CN" altLang="en-US" sz="2000" dirty="0"/>
              <a:t>与柱端弯矩区分开</a:t>
            </a:r>
            <a:r>
              <a:rPr lang="en-US" altLang="zh-CN" sz="2000" dirty="0"/>
              <a:t>)</a:t>
            </a:r>
          </a:p>
          <a:p>
            <a:pPr algn="l">
              <a:lnSpc>
                <a:spcPct val="120000"/>
              </a:lnSpc>
              <a:buClrTx/>
              <a:buFontTx/>
              <a:buNone/>
            </a:pPr>
            <a:r>
              <a:rPr lang="zh-CN" altLang="en-US" sz="2000" dirty="0"/>
              <a:t>（</a:t>
            </a:r>
            <a:r>
              <a:rPr lang="en-US" altLang="zh-CN" sz="2000" dirty="0"/>
              <a:t>2</a:t>
            </a:r>
            <a:r>
              <a:rPr lang="zh-CN" altLang="en-US" sz="2000" dirty="0"/>
              <a:t>）判断大小偏心</a:t>
            </a:r>
          </a:p>
        </p:txBody>
      </p:sp>
      <p:sp>
        <p:nvSpPr>
          <p:cNvPr id="13" name="Rectangle 3"/>
          <p:cNvSpPr>
            <a:spLocks noChangeArrowheads="1"/>
          </p:cNvSpPr>
          <p:nvPr/>
        </p:nvSpPr>
        <p:spPr bwMode="auto">
          <a:xfrm>
            <a:off x="785786" y="4356909"/>
            <a:ext cx="3567953" cy="42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buClrTx/>
              <a:buFontTx/>
              <a:buNone/>
            </a:pPr>
            <a:r>
              <a:rPr lang="zh-CN" altLang="en-US" sz="2000" dirty="0"/>
              <a:t>参考书第</a:t>
            </a:r>
            <a:r>
              <a:rPr lang="en-US" altLang="zh-CN" sz="2000" dirty="0"/>
              <a:t>279</a:t>
            </a:r>
            <a:r>
              <a:rPr lang="zh-CN" altLang="en-US" sz="2000" dirty="0"/>
              <a:t>页</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22"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37923" name="Rectangle 3"/>
          <p:cNvSpPr>
            <a:spLocks noChangeArrowheads="1"/>
          </p:cNvSpPr>
          <p:nvPr/>
        </p:nvSpPr>
        <p:spPr bwMode="auto">
          <a:xfrm>
            <a:off x="611188" y="1066800"/>
            <a:ext cx="8304212" cy="159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20000"/>
              </a:lnSpc>
              <a:buClrTx/>
              <a:buFontTx/>
              <a:buNone/>
            </a:pPr>
            <a:r>
              <a:rPr lang="en-US" altLang="zh-CN">
                <a:solidFill>
                  <a:srgbClr val="990099"/>
                </a:solidFill>
              </a:rPr>
              <a:t>3.</a:t>
            </a:r>
            <a:r>
              <a:rPr lang="zh-CN" altLang="en-US">
                <a:solidFill>
                  <a:srgbClr val="990099"/>
                </a:solidFill>
              </a:rPr>
              <a:t>小偏心受压构件截面的配筋计算</a:t>
            </a:r>
          </a:p>
          <a:p>
            <a:pPr marL="342900" indent="-342900" algn="l">
              <a:spcBef>
                <a:spcPct val="40000"/>
              </a:spcBef>
            </a:pPr>
            <a:r>
              <a:rPr lang="zh-CN" altLang="en-US" sz="2000">
                <a:solidFill>
                  <a:srgbClr val="FF0000"/>
                </a:solidFill>
              </a:rPr>
              <a:t>正向破坏：</a:t>
            </a:r>
            <a:r>
              <a:rPr lang="zh-CN" altLang="en-US" sz="2000">
                <a:solidFill>
                  <a:schemeClr val="tx1"/>
                </a:solidFill>
              </a:rPr>
              <a:t>破坏发生在靠近轴向力的一侧</a:t>
            </a:r>
          </a:p>
          <a:p>
            <a:pPr marL="342900" indent="-342900" algn="l"/>
            <a:r>
              <a:rPr lang="zh-CN" altLang="en-US" sz="2000">
                <a:solidFill>
                  <a:srgbClr val="FF0000"/>
                </a:solidFill>
              </a:rPr>
              <a:t>反向破坏：</a:t>
            </a:r>
            <a:r>
              <a:rPr lang="zh-CN" altLang="en-US" sz="2000">
                <a:solidFill>
                  <a:schemeClr val="tx1"/>
                </a:solidFill>
              </a:rPr>
              <a:t>破坏发生在远离轴向力的一侧</a:t>
            </a:r>
          </a:p>
          <a:p>
            <a:pPr marL="342900" indent="-342900" algn="l"/>
            <a:r>
              <a:rPr lang="zh-CN" altLang="en-US" sz="2000">
                <a:solidFill>
                  <a:schemeClr val="tx1"/>
                </a:solidFill>
              </a:rPr>
              <a:t>对于小偏心受压构件，还必须进行</a:t>
            </a:r>
            <a:r>
              <a:rPr lang="zh-CN" altLang="en-US" sz="2000">
                <a:solidFill>
                  <a:srgbClr val="FF0000"/>
                </a:solidFill>
              </a:rPr>
              <a:t>垂直于弯矩作用平面</a:t>
            </a:r>
            <a:r>
              <a:rPr lang="zh-CN" altLang="en-US" sz="2000">
                <a:solidFill>
                  <a:schemeClr val="tx1"/>
                </a:solidFill>
              </a:rPr>
              <a:t>的验算</a:t>
            </a:r>
          </a:p>
        </p:txBody>
      </p:sp>
      <p:sp>
        <p:nvSpPr>
          <p:cNvPr id="337931" name="Rectangle 11"/>
          <p:cNvSpPr>
            <a:spLocks noChangeArrowheads="1"/>
          </p:cNvSpPr>
          <p:nvPr/>
        </p:nvSpPr>
        <p:spPr bwMode="auto">
          <a:xfrm>
            <a:off x="5276864" y="3251200"/>
            <a:ext cx="1752600" cy="914400"/>
          </a:xfrm>
          <a:prstGeom prst="rect">
            <a:avLst/>
          </a:prstGeom>
          <a:noFill/>
          <a:ln w="25400" algn="ctr">
            <a:solidFill>
              <a:schemeClr val="tx2"/>
            </a:solidFill>
            <a:miter lim="800000"/>
            <a:headEnd/>
            <a:tailEn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337932" name="AutoShape 12"/>
          <p:cNvCxnSpPr>
            <a:cxnSpLocks noChangeShapeType="1"/>
          </p:cNvCxnSpPr>
          <p:nvPr/>
        </p:nvCxnSpPr>
        <p:spPr bwMode="auto">
          <a:xfrm>
            <a:off x="4514864" y="3708400"/>
            <a:ext cx="3200400" cy="1588"/>
          </a:xfrm>
          <a:prstGeom prst="straightConnector1">
            <a:avLst/>
          </a:prstGeom>
          <a:noFill/>
          <a:ln w="9525">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7933" name="AutoShape 13"/>
          <p:cNvCxnSpPr>
            <a:cxnSpLocks noChangeShapeType="1"/>
          </p:cNvCxnSpPr>
          <p:nvPr/>
        </p:nvCxnSpPr>
        <p:spPr bwMode="auto">
          <a:xfrm>
            <a:off x="6151577" y="2743200"/>
            <a:ext cx="3175" cy="3351213"/>
          </a:xfrm>
          <a:prstGeom prst="straightConnector1">
            <a:avLst/>
          </a:prstGeom>
          <a:noFill/>
          <a:ln w="9525">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 name="Group 14"/>
          <p:cNvGrpSpPr>
            <a:grpSpLocks/>
          </p:cNvGrpSpPr>
          <p:nvPr/>
        </p:nvGrpSpPr>
        <p:grpSpPr bwMode="auto">
          <a:xfrm rot="-5400000">
            <a:off x="6602427" y="3676650"/>
            <a:ext cx="679450" cy="63500"/>
            <a:chOff x="4130" y="2572"/>
            <a:chExt cx="428" cy="40"/>
          </a:xfrm>
        </p:grpSpPr>
        <p:sp>
          <p:nvSpPr>
            <p:cNvPr id="337935" name="Oval 15"/>
            <p:cNvSpPr>
              <a:spLocks noChangeArrowheads="1"/>
            </p:cNvSpPr>
            <p:nvPr/>
          </p:nvSpPr>
          <p:spPr bwMode="auto">
            <a:xfrm>
              <a:off x="4519" y="2572"/>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36" name="Oval 16"/>
            <p:cNvSpPr>
              <a:spLocks noChangeArrowheads="1"/>
            </p:cNvSpPr>
            <p:nvPr/>
          </p:nvSpPr>
          <p:spPr bwMode="auto">
            <a:xfrm>
              <a:off x="4260" y="2572"/>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37" name="Oval 17"/>
            <p:cNvSpPr>
              <a:spLocks noChangeArrowheads="1"/>
            </p:cNvSpPr>
            <p:nvPr/>
          </p:nvSpPr>
          <p:spPr bwMode="auto">
            <a:xfrm>
              <a:off x="4393" y="2572"/>
              <a:ext cx="38"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38" name="Oval 18"/>
            <p:cNvSpPr>
              <a:spLocks noChangeArrowheads="1"/>
            </p:cNvSpPr>
            <p:nvPr/>
          </p:nvSpPr>
          <p:spPr bwMode="auto">
            <a:xfrm>
              <a:off x="4130" y="2573"/>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 name="Group 19"/>
          <p:cNvGrpSpPr>
            <a:grpSpLocks/>
          </p:cNvGrpSpPr>
          <p:nvPr/>
        </p:nvGrpSpPr>
        <p:grpSpPr bwMode="auto">
          <a:xfrm rot="-5400000">
            <a:off x="5045089" y="3681413"/>
            <a:ext cx="679450" cy="63500"/>
            <a:chOff x="4130" y="2572"/>
            <a:chExt cx="428" cy="40"/>
          </a:xfrm>
        </p:grpSpPr>
        <p:sp>
          <p:nvSpPr>
            <p:cNvPr id="337940" name="Oval 20"/>
            <p:cNvSpPr>
              <a:spLocks noChangeArrowheads="1"/>
            </p:cNvSpPr>
            <p:nvPr/>
          </p:nvSpPr>
          <p:spPr bwMode="auto">
            <a:xfrm>
              <a:off x="4519" y="2572"/>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41" name="Oval 21"/>
            <p:cNvSpPr>
              <a:spLocks noChangeArrowheads="1"/>
            </p:cNvSpPr>
            <p:nvPr/>
          </p:nvSpPr>
          <p:spPr bwMode="auto">
            <a:xfrm>
              <a:off x="4260" y="2572"/>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42" name="Oval 22"/>
            <p:cNvSpPr>
              <a:spLocks noChangeArrowheads="1"/>
            </p:cNvSpPr>
            <p:nvPr/>
          </p:nvSpPr>
          <p:spPr bwMode="auto">
            <a:xfrm>
              <a:off x="4393" y="2572"/>
              <a:ext cx="38"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43" name="Oval 23"/>
            <p:cNvSpPr>
              <a:spLocks noChangeArrowheads="1"/>
            </p:cNvSpPr>
            <p:nvPr/>
          </p:nvSpPr>
          <p:spPr bwMode="auto">
            <a:xfrm>
              <a:off x="4130" y="2573"/>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 name="Group 33"/>
          <p:cNvGrpSpPr>
            <a:grpSpLocks/>
          </p:cNvGrpSpPr>
          <p:nvPr/>
        </p:nvGrpSpPr>
        <p:grpSpPr bwMode="auto">
          <a:xfrm>
            <a:off x="5048264" y="4538663"/>
            <a:ext cx="2209800" cy="1074737"/>
            <a:chOff x="1344" y="2635"/>
            <a:chExt cx="1392" cy="677"/>
          </a:xfrm>
        </p:grpSpPr>
        <p:sp>
          <p:nvSpPr>
            <p:cNvPr id="337945" name="Line 25"/>
            <p:cNvSpPr>
              <a:spLocks noChangeShapeType="1"/>
            </p:cNvSpPr>
            <p:nvPr/>
          </p:nvSpPr>
          <p:spPr bwMode="auto">
            <a:xfrm>
              <a:off x="1488" y="2736"/>
              <a:ext cx="0" cy="57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46" name="Line 26"/>
            <p:cNvSpPr>
              <a:spLocks noChangeShapeType="1"/>
            </p:cNvSpPr>
            <p:nvPr/>
          </p:nvSpPr>
          <p:spPr bwMode="auto">
            <a:xfrm>
              <a:off x="1488" y="3312"/>
              <a:ext cx="110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47" name="Line 27"/>
            <p:cNvSpPr>
              <a:spLocks noChangeShapeType="1"/>
            </p:cNvSpPr>
            <p:nvPr/>
          </p:nvSpPr>
          <p:spPr bwMode="auto">
            <a:xfrm>
              <a:off x="2592" y="2736"/>
              <a:ext cx="0" cy="57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48" name="Line 28"/>
            <p:cNvSpPr>
              <a:spLocks noChangeShapeType="1"/>
            </p:cNvSpPr>
            <p:nvPr/>
          </p:nvSpPr>
          <p:spPr bwMode="auto">
            <a:xfrm>
              <a:off x="1344" y="2736"/>
              <a:ext cx="629"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49" name="Line 29"/>
            <p:cNvSpPr>
              <a:spLocks noChangeShapeType="1"/>
            </p:cNvSpPr>
            <p:nvPr/>
          </p:nvSpPr>
          <p:spPr bwMode="auto">
            <a:xfrm>
              <a:off x="2112" y="2736"/>
              <a:ext cx="62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50" name="Line 30"/>
            <p:cNvSpPr>
              <a:spLocks noChangeShapeType="1"/>
            </p:cNvSpPr>
            <p:nvPr/>
          </p:nvSpPr>
          <p:spPr bwMode="auto">
            <a:xfrm flipV="1">
              <a:off x="1968" y="2635"/>
              <a:ext cx="67" cy="101"/>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51" name="Line 31"/>
            <p:cNvSpPr>
              <a:spLocks noChangeShapeType="1"/>
            </p:cNvSpPr>
            <p:nvPr/>
          </p:nvSpPr>
          <p:spPr bwMode="auto">
            <a:xfrm flipV="1">
              <a:off x="2045" y="2736"/>
              <a:ext cx="67" cy="101"/>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52" name="Line 32"/>
            <p:cNvSpPr>
              <a:spLocks noChangeShapeType="1"/>
            </p:cNvSpPr>
            <p:nvPr/>
          </p:nvSpPr>
          <p:spPr bwMode="auto">
            <a:xfrm>
              <a:off x="2040" y="2640"/>
              <a:ext cx="0" cy="19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37954" name="Line 34"/>
          <p:cNvSpPr>
            <a:spLocks noChangeShapeType="1"/>
          </p:cNvSpPr>
          <p:nvPr/>
        </p:nvSpPr>
        <p:spPr bwMode="auto">
          <a:xfrm>
            <a:off x="5399102" y="4699000"/>
            <a:ext cx="0" cy="91440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55" name="Line 35"/>
          <p:cNvSpPr>
            <a:spLocks noChangeShapeType="1"/>
          </p:cNvSpPr>
          <p:nvPr/>
        </p:nvSpPr>
        <p:spPr bwMode="auto">
          <a:xfrm>
            <a:off x="6907227" y="4699000"/>
            <a:ext cx="0" cy="91440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56" name="Oval 36"/>
          <p:cNvSpPr>
            <a:spLocks noChangeArrowheads="1"/>
          </p:cNvSpPr>
          <p:nvPr/>
        </p:nvSpPr>
        <p:spPr bwMode="auto">
          <a:xfrm>
            <a:off x="6419864" y="3632200"/>
            <a:ext cx="152400" cy="152400"/>
          </a:xfrm>
          <a:prstGeom prst="ellipse">
            <a:avLst/>
          </a:prstGeom>
          <a:solidFill>
            <a:srgbClr val="A50021"/>
          </a:solidFill>
          <a:ln w="9525" algn="ctr">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57" name="Line 37"/>
          <p:cNvSpPr>
            <a:spLocks noChangeShapeType="1"/>
          </p:cNvSpPr>
          <p:nvPr/>
        </p:nvSpPr>
        <p:spPr bwMode="auto">
          <a:xfrm>
            <a:off x="6496064" y="4318000"/>
            <a:ext cx="0" cy="38100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58" name="Line 38"/>
          <p:cNvSpPr>
            <a:spLocks noChangeShapeType="1"/>
          </p:cNvSpPr>
          <p:nvPr/>
        </p:nvSpPr>
        <p:spPr bwMode="auto">
          <a:xfrm>
            <a:off x="5397514" y="5613400"/>
            <a:ext cx="0" cy="381000"/>
          </a:xfrm>
          <a:prstGeom prst="line">
            <a:avLst/>
          </a:prstGeom>
          <a:noFill/>
          <a:ln w="571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59" name="Line 39"/>
          <p:cNvSpPr>
            <a:spLocks noChangeShapeType="1"/>
          </p:cNvSpPr>
          <p:nvPr/>
        </p:nvSpPr>
        <p:spPr bwMode="auto">
          <a:xfrm flipV="1">
            <a:off x="6915164" y="5635625"/>
            <a:ext cx="0" cy="381000"/>
          </a:xfrm>
          <a:prstGeom prst="line">
            <a:avLst/>
          </a:prstGeom>
          <a:noFill/>
          <a:ln w="571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 name="Group 60"/>
          <p:cNvGrpSpPr>
            <a:grpSpLocks/>
          </p:cNvGrpSpPr>
          <p:nvPr/>
        </p:nvGrpSpPr>
        <p:grpSpPr bwMode="auto">
          <a:xfrm>
            <a:off x="5810264" y="5602288"/>
            <a:ext cx="1222375" cy="328612"/>
            <a:chOff x="1824" y="3449"/>
            <a:chExt cx="770" cy="207"/>
          </a:xfrm>
        </p:grpSpPr>
        <p:grpSp>
          <p:nvGrpSpPr>
            <p:cNvPr id="6" name="Group 42"/>
            <p:cNvGrpSpPr>
              <a:grpSpLocks/>
            </p:cNvGrpSpPr>
            <p:nvPr/>
          </p:nvGrpSpPr>
          <p:grpSpPr bwMode="auto">
            <a:xfrm>
              <a:off x="1824" y="3456"/>
              <a:ext cx="770" cy="200"/>
              <a:chOff x="1824" y="3456"/>
              <a:chExt cx="770" cy="200"/>
            </a:xfrm>
          </p:grpSpPr>
          <p:sp>
            <p:nvSpPr>
              <p:cNvPr id="337960" name="Freeform 40"/>
              <p:cNvSpPr>
                <a:spLocks/>
              </p:cNvSpPr>
              <p:nvPr/>
            </p:nvSpPr>
            <p:spPr bwMode="auto">
              <a:xfrm>
                <a:off x="1824" y="3456"/>
                <a:ext cx="770" cy="200"/>
              </a:xfrm>
              <a:custGeom>
                <a:avLst/>
                <a:gdLst>
                  <a:gd name="T0" fmla="*/ 0 w 770"/>
                  <a:gd name="T1" fmla="*/ 0 h 200"/>
                  <a:gd name="T2" fmla="*/ 101 w 770"/>
                  <a:gd name="T3" fmla="*/ 106 h 200"/>
                  <a:gd name="T4" fmla="*/ 283 w 770"/>
                  <a:gd name="T5" fmla="*/ 182 h 200"/>
                  <a:gd name="T6" fmla="*/ 446 w 770"/>
                  <a:gd name="T7" fmla="*/ 197 h 200"/>
                  <a:gd name="T8" fmla="*/ 770 w 770"/>
                  <a:gd name="T9" fmla="*/ 198 h 200"/>
                </a:gdLst>
                <a:ahLst/>
                <a:cxnLst>
                  <a:cxn ang="0">
                    <a:pos x="T0" y="T1"/>
                  </a:cxn>
                  <a:cxn ang="0">
                    <a:pos x="T2" y="T3"/>
                  </a:cxn>
                  <a:cxn ang="0">
                    <a:pos x="T4" y="T5"/>
                  </a:cxn>
                  <a:cxn ang="0">
                    <a:pos x="T6" y="T7"/>
                  </a:cxn>
                  <a:cxn ang="0">
                    <a:pos x="T8" y="T9"/>
                  </a:cxn>
                </a:cxnLst>
                <a:rect l="0" t="0" r="r" b="b"/>
                <a:pathLst>
                  <a:path w="770" h="200">
                    <a:moveTo>
                      <a:pt x="0" y="0"/>
                    </a:moveTo>
                    <a:cubicBezTo>
                      <a:pt x="27" y="38"/>
                      <a:pt x="54" y="76"/>
                      <a:pt x="101" y="106"/>
                    </a:cubicBezTo>
                    <a:cubicBezTo>
                      <a:pt x="148" y="136"/>
                      <a:pt x="226" y="167"/>
                      <a:pt x="283" y="182"/>
                    </a:cubicBezTo>
                    <a:cubicBezTo>
                      <a:pt x="340" y="197"/>
                      <a:pt x="365" y="194"/>
                      <a:pt x="446" y="197"/>
                    </a:cubicBezTo>
                    <a:cubicBezTo>
                      <a:pt x="527" y="200"/>
                      <a:pt x="703" y="198"/>
                      <a:pt x="770" y="198"/>
                    </a:cubicBezTo>
                  </a:path>
                </a:pathLst>
              </a:custGeom>
              <a:noFill/>
              <a:ln w="952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61" name="Line 41"/>
              <p:cNvSpPr>
                <a:spLocks noChangeShapeType="1"/>
              </p:cNvSpPr>
              <p:nvPr/>
            </p:nvSpPr>
            <p:spPr bwMode="auto">
              <a:xfrm>
                <a:off x="2592" y="3456"/>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37963" name="Line 43"/>
            <p:cNvSpPr>
              <a:spLocks noChangeShapeType="1"/>
            </p:cNvSpPr>
            <p:nvPr/>
          </p:nvSpPr>
          <p:spPr bwMode="auto">
            <a:xfrm>
              <a:off x="2533" y="3463"/>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64" name="Line 44"/>
            <p:cNvSpPr>
              <a:spLocks noChangeShapeType="1"/>
            </p:cNvSpPr>
            <p:nvPr/>
          </p:nvSpPr>
          <p:spPr bwMode="auto">
            <a:xfrm>
              <a:off x="2478" y="3460"/>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65" name="Line 45"/>
            <p:cNvSpPr>
              <a:spLocks noChangeShapeType="1"/>
            </p:cNvSpPr>
            <p:nvPr/>
          </p:nvSpPr>
          <p:spPr bwMode="auto">
            <a:xfrm>
              <a:off x="2425" y="3459"/>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66" name="Line 46"/>
            <p:cNvSpPr>
              <a:spLocks noChangeShapeType="1"/>
            </p:cNvSpPr>
            <p:nvPr/>
          </p:nvSpPr>
          <p:spPr bwMode="auto">
            <a:xfrm>
              <a:off x="2370" y="3456"/>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67" name="Line 47"/>
            <p:cNvSpPr>
              <a:spLocks noChangeShapeType="1"/>
            </p:cNvSpPr>
            <p:nvPr/>
          </p:nvSpPr>
          <p:spPr bwMode="auto">
            <a:xfrm>
              <a:off x="2323" y="3463"/>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68" name="Line 48"/>
            <p:cNvSpPr>
              <a:spLocks noChangeShapeType="1"/>
            </p:cNvSpPr>
            <p:nvPr/>
          </p:nvSpPr>
          <p:spPr bwMode="auto">
            <a:xfrm>
              <a:off x="2268" y="3460"/>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69" name="Line 49"/>
            <p:cNvSpPr>
              <a:spLocks noChangeShapeType="1"/>
            </p:cNvSpPr>
            <p:nvPr/>
          </p:nvSpPr>
          <p:spPr bwMode="auto">
            <a:xfrm>
              <a:off x="2215" y="3459"/>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70" name="Line 50"/>
            <p:cNvSpPr>
              <a:spLocks noChangeShapeType="1"/>
            </p:cNvSpPr>
            <p:nvPr/>
          </p:nvSpPr>
          <p:spPr bwMode="auto">
            <a:xfrm>
              <a:off x="2160" y="3456"/>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72" name="Line 52"/>
            <p:cNvSpPr>
              <a:spLocks noChangeShapeType="1"/>
            </p:cNvSpPr>
            <p:nvPr/>
          </p:nvSpPr>
          <p:spPr bwMode="auto">
            <a:xfrm>
              <a:off x="2057" y="3453"/>
              <a:ext cx="0" cy="171"/>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73" name="Line 53"/>
            <p:cNvSpPr>
              <a:spLocks noChangeShapeType="1"/>
            </p:cNvSpPr>
            <p:nvPr/>
          </p:nvSpPr>
          <p:spPr bwMode="auto">
            <a:xfrm>
              <a:off x="2004" y="3452"/>
              <a:ext cx="1" cy="148"/>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74" name="Line 54"/>
            <p:cNvSpPr>
              <a:spLocks noChangeShapeType="1"/>
            </p:cNvSpPr>
            <p:nvPr/>
          </p:nvSpPr>
          <p:spPr bwMode="auto">
            <a:xfrm>
              <a:off x="1949" y="3449"/>
              <a:ext cx="0" cy="129"/>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75" name="Line 55"/>
            <p:cNvSpPr>
              <a:spLocks noChangeShapeType="1"/>
            </p:cNvSpPr>
            <p:nvPr/>
          </p:nvSpPr>
          <p:spPr bwMode="auto">
            <a:xfrm flipH="1">
              <a:off x="2110" y="3456"/>
              <a:ext cx="2" cy="183"/>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79" name="Line 59"/>
            <p:cNvSpPr>
              <a:spLocks noChangeShapeType="1"/>
            </p:cNvSpPr>
            <p:nvPr/>
          </p:nvSpPr>
          <p:spPr bwMode="auto">
            <a:xfrm>
              <a:off x="1892" y="3461"/>
              <a:ext cx="0" cy="7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37981" name="Rectangle 61"/>
          <p:cNvSpPr>
            <a:spLocks noChangeArrowheads="1"/>
          </p:cNvSpPr>
          <p:nvPr/>
        </p:nvSpPr>
        <p:spPr bwMode="auto">
          <a:xfrm>
            <a:off x="6572264" y="4241800"/>
            <a:ext cx="368300"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rgbClr val="CC0000"/>
                </a:solidFill>
              </a:rPr>
              <a:t>N</a:t>
            </a:r>
          </a:p>
        </p:txBody>
      </p:sp>
      <p:sp>
        <p:nvSpPr>
          <p:cNvPr id="337982" name="Rectangle 62"/>
          <p:cNvSpPr>
            <a:spLocks noChangeArrowheads="1"/>
          </p:cNvSpPr>
          <p:nvPr/>
        </p:nvSpPr>
        <p:spPr bwMode="auto">
          <a:xfrm>
            <a:off x="5094302" y="5994400"/>
            <a:ext cx="736600"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zh-CN" sz="2000" i="1"/>
              <a:t>σ</a:t>
            </a:r>
            <a:r>
              <a:rPr lang="en-US" altLang="zh-CN" sz="2000" baseline="-25000"/>
              <a:t>s</a:t>
            </a:r>
            <a:r>
              <a:rPr lang="en-US" altLang="zh-CN" sz="2000" i="1"/>
              <a:t>A</a:t>
            </a:r>
            <a:r>
              <a:rPr lang="en-US" altLang="zh-CN" sz="2000" baseline="-25000"/>
              <a:t>s</a:t>
            </a:r>
            <a:endParaRPr lang="el-GR" altLang="zh-CN" sz="2000" baseline="-25000"/>
          </a:p>
        </p:txBody>
      </p:sp>
      <p:sp>
        <p:nvSpPr>
          <p:cNvPr id="337984" name="Rectangle 64"/>
          <p:cNvSpPr>
            <a:spLocks noChangeArrowheads="1"/>
          </p:cNvSpPr>
          <p:nvPr/>
        </p:nvSpPr>
        <p:spPr bwMode="auto">
          <a:xfrm>
            <a:off x="6543689" y="5994400"/>
            <a:ext cx="676275"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t>f</a:t>
            </a:r>
            <a:r>
              <a:rPr lang="en-US" altLang="zh-CN" sz="2000" baseline="-25000"/>
              <a:t>s</a:t>
            </a:r>
            <a:r>
              <a:rPr lang="en-US" altLang="zh-CN" sz="2000" baseline="30000"/>
              <a:t>’</a:t>
            </a:r>
            <a:r>
              <a:rPr lang="en-US" altLang="zh-CN" sz="2000" i="1"/>
              <a:t>A</a:t>
            </a:r>
            <a:r>
              <a:rPr lang="en-US" altLang="zh-CN" sz="2000" baseline="30000"/>
              <a:t>’</a:t>
            </a:r>
            <a:r>
              <a:rPr lang="en-US" altLang="zh-CN" sz="2000" baseline="-25000"/>
              <a:t>s</a:t>
            </a:r>
            <a:endParaRPr lang="el-GR" altLang="zh-CN" sz="2000" baseline="-25000"/>
          </a:p>
        </p:txBody>
      </p:sp>
      <p:sp>
        <p:nvSpPr>
          <p:cNvPr id="337985" name="Rectangle 65"/>
          <p:cNvSpPr>
            <a:spLocks noChangeArrowheads="1"/>
          </p:cNvSpPr>
          <p:nvPr/>
        </p:nvSpPr>
        <p:spPr bwMode="auto">
          <a:xfrm>
            <a:off x="5734064" y="3251200"/>
            <a:ext cx="1295400" cy="898525"/>
          </a:xfrm>
          <a:prstGeom prst="rect">
            <a:avLst/>
          </a:prstGeom>
          <a:solidFill>
            <a:srgbClr val="99CCFF">
              <a:alpha val="50000"/>
            </a:srgbClr>
          </a:solidFill>
          <a:ln>
            <a:noFill/>
          </a:ln>
          <a:effectLst/>
          <a:extLs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86" name="Rectangle 66"/>
          <p:cNvSpPr>
            <a:spLocks noChangeArrowheads="1"/>
          </p:cNvSpPr>
          <p:nvPr/>
        </p:nvSpPr>
        <p:spPr bwMode="auto">
          <a:xfrm>
            <a:off x="5276864" y="3251200"/>
            <a:ext cx="1066800" cy="898525"/>
          </a:xfrm>
          <a:prstGeom prst="rect">
            <a:avLst/>
          </a:prstGeom>
          <a:solidFill>
            <a:srgbClr val="FFCC99">
              <a:alpha val="50000"/>
            </a:srgbClr>
          </a:solidFill>
          <a:ln>
            <a:noFill/>
          </a:ln>
          <a:effectLst/>
          <a:extLs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87" name="AutoShape 67"/>
          <p:cNvSpPr>
            <a:spLocks noChangeArrowheads="1"/>
          </p:cNvSpPr>
          <p:nvPr/>
        </p:nvSpPr>
        <p:spPr bwMode="auto">
          <a:xfrm>
            <a:off x="5810264" y="2794000"/>
            <a:ext cx="762000" cy="304800"/>
          </a:xfrm>
          <a:prstGeom prst="curvedDownArrow">
            <a:avLst>
              <a:gd name="adj1" fmla="val 50000"/>
              <a:gd name="adj2" fmla="val 100000"/>
              <a:gd name="adj3" fmla="val 33333"/>
            </a:avLst>
          </a:prstGeom>
          <a:solidFill>
            <a:srgbClr val="33CCCC">
              <a:alpha val="38000"/>
            </a:srgbClr>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88" name="Rectangle 68"/>
          <p:cNvSpPr>
            <a:spLocks noChangeArrowheads="1"/>
          </p:cNvSpPr>
          <p:nvPr/>
        </p:nvSpPr>
        <p:spPr bwMode="auto">
          <a:xfrm>
            <a:off x="6524300" y="2794000"/>
            <a:ext cx="857927"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dirty="0">
                <a:solidFill>
                  <a:srgbClr val="CC0000"/>
                </a:solidFill>
              </a:rPr>
              <a:t>M=Ne</a:t>
            </a:r>
          </a:p>
        </p:txBody>
      </p:sp>
      <p:sp>
        <p:nvSpPr>
          <p:cNvPr id="337989" name="AutoShape 69"/>
          <p:cNvSpPr>
            <a:spLocks noChangeArrowheads="1"/>
          </p:cNvSpPr>
          <p:nvPr/>
        </p:nvSpPr>
        <p:spPr bwMode="auto">
          <a:xfrm rot="10800000">
            <a:off x="4362464" y="3327400"/>
            <a:ext cx="381000" cy="762000"/>
          </a:xfrm>
          <a:prstGeom prst="curvedLeftArrow">
            <a:avLst>
              <a:gd name="adj1" fmla="val 40000"/>
              <a:gd name="adj2" fmla="val 80000"/>
              <a:gd name="adj3" fmla="val 33333"/>
            </a:avLst>
          </a:prstGeom>
          <a:solidFill>
            <a:srgbClr val="FF00FF"/>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86401" name="Picture 1"/>
          <p:cNvPicPr>
            <a:picLocks noChangeAspect="1" noChangeArrowheads="1"/>
          </p:cNvPicPr>
          <p:nvPr/>
        </p:nvPicPr>
        <p:blipFill>
          <a:blip r:embed="rId2"/>
          <a:srcRect/>
          <a:stretch>
            <a:fillRect/>
          </a:stretch>
        </p:blipFill>
        <p:spPr bwMode="auto">
          <a:xfrm>
            <a:off x="1714480" y="2714620"/>
            <a:ext cx="1609725" cy="3819525"/>
          </a:xfrm>
          <a:prstGeom prst="rect">
            <a:avLst/>
          </a:prstGeom>
          <a:noFill/>
          <a:ln w="9525">
            <a:noFill/>
            <a:miter lim="800000"/>
            <a:headEnd/>
            <a:tailEnd/>
          </a:ln>
          <a:effectLst/>
        </p:spPr>
      </p:pic>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8946" name="Rectangle 2"/>
          <p:cNvSpPr>
            <a:spLocks noGrp="1" noChangeArrowheads="1"/>
          </p:cNvSpPr>
          <p:nvPr>
            <p:ph type="title"/>
          </p:nvPr>
        </p:nvSpPr>
        <p:spPr>
          <a:xfrm>
            <a:off x="0" y="381000"/>
            <a:ext cx="8382000" cy="563563"/>
          </a:xfrm>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38947" name="Rectangle 3"/>
          <p:cNvSpPr>
            <a:spLocks noChangeArrowheads="1"/>
          </p:cNvSpPr>
          <p:nvPr/>
        </p:nvSpPr>
        <p:spPr bwMode="auto">
          <a:xfrm>
            <a:off x="611188" y="1066800"/>
            <a:ext cx="8304212"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20000"/>
              </a:lnSpc>
              <a:buClrTx/>
              <a:buFontTx/>
              <a:buNone/>
            </a:pPr>
            <a:r>
              <a:rPr lang="en-US" altLang="zh-CN">
                <a:solidFill>
                  <a:srgbClr val="990099"/>
                </a:solidFill>
              </a:rPr>
              <a:t>3.</a:t>
            </a:r>
            <a:r>
              <a:rPr lang="zh-CN" altLang="en-US">
                <a:solidFill>
                  <a:srgbClr val="990099"/>
                </a:solidFill>
              </a:rPr>
              <a:t>小偏心受压构件截面的配筋计算</a:t>
            </a:r>
          </a:p>
          <a:p>
            <a:pPr marL="342900" indent="-342900" algn="l">
              <a:spcBef>
                <a:spcPct val="40000"/>
              </a:spcBef>
            </a:pPr>
            <a:r>
              <a:rPr lang="en-US" altLang="zh-CN" sz="2000"/>
              <a:t>1</a:t>
            </a:r>
            <a:r>
              <a:rPr lang="zh-CN" altLang="en-US" sz="2000"/>
              <a:t>）正向破坏计算公式</a:t>
            </a:r>
            <a:endParaRPr lang="zh-CN" altLang="en-US" sz="2000">
              <a:solidFill>
                <a:schemeClr val="tx1"/>
              </a:solidFill>
            </a:endParaRPr>
          </a:p>
        </p:txBody>
      </p:sp>
      <p:graphicFrame>
        <p:nvGraphicFramePr>
          <p:cNvPr id="338998" name="Object 54"/>
          <p:cNvGraphicFramePr>
            <a:graphicFrameLocks noGrp="1" noChangeAspect="1"/>
          </p:cNvGraphicFramePr>
          <p:nvPr>
            <p:ph idx="1"/>
            <p:extLst>
              <p:ext uri="{D42A27DB-BD31-4B8C-83A1-F6EECF244321}">
                <p14:modId xmlns:p14="http://schemas.microsoft.com/office/powerpoint/2010/main" val="3678763030"/>
              </p:ext>
            </p:extLst>
          </p:nvPr>
        </p:nvGraphicFramePr>
        <p:xfrm>
          <a:off x="787400" y="2060575"/>
          <a:ext cx="4600575" cy="3197225"/>
        </p:xfrm>
        <a:graphic>
          <a:graphicData uri="http://schemas.openxmlformats.org/presentationml/2006/ole">
            <mc:AlternateContent xmlns:mc="http://schemas.openxmlformats.org/markup-compatibility/2006">
              <mc:Choice xmlns:v="urn:schemas-microsoft-com:vml" Requires="v">
                <p:oleObj spid="_x0000_s525367" name="Equation" r:id="rId3" imgW="2539800" imgH="1765080" progId="Equation.DSMT4">
                  <p:embed/>
                </p:oleObj>
              </mc:Choice>
              <mc:Fallback>
                <p:oleObj name="Equation" r:id="rId3" imgW="2539800" imgH="1765080" progId="Equation.DSMT4">
                  <p:embed/>
                  <p:pic>
                    <p:nvPicPr>
                      <p:cNvPr id="0" name="Picture 2"/>
                      <p:cNvPicPr>
                        <a:picLocks noGrp="1" noChangeAspect="1" noChangeArrowheads="1"/>
                      </p:cNvPicPr>
                      <p:nvPr/>
                    </p:nvPicPr>
                    <p:blipFill>
                      <a:blip r:embed="rId4"/>
                      <a:srcRect/>
                      <a:stretch>
                        <a:fillRect/>
                      </a:stretch>
                    </p:blipFill>
                    <p:spPr bwMode="auto">
                      <a:xfrm>
                        <a:off x="787400" y="2060575"/>
                        <a:ext cx="4600575" cy="319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9000" name="Rectangle 56"/>
          <p:cNvSpPr>
            <a:spLocks noChangeArrowheads="1"/>
          </p:cNvSpPr>
          <p:nvPr/>
        </p:nvSpPr>
        <p:spPr bwMode="auto">
          <a:xfrm>
            <a:off x="4800600" y="2147888"/>
            <a:ext cx="822325" cy="36671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t>（</a:t>
            </a:r>
            <a:r>
              <a:rPr lang="en-US" altLang="zh-CN" sz="2000"/>
              <a:t>3</a:t>
            </a:r>
            <a:r>
              <a:rPr lang="zh-CN" altLang="en-US" sz="2000"/>
              <a:t>）</a:t>
            </a:r>
          </a:p>
        </p:txBody>
      </p:sp>
      <p:sp>
        <p:nvSpPr>
          <p:cNvPr id="339001" name="Rectangle 57"/>
          <p:cNvSpPr>
            <a:spLocks noChangeArrowheads="1"/>
          </p:cNvSpPr>
          <p:nvPr/>
        </p:nvSpPr>
        <p:spPr bwMode="auto">
          <a:xfrm>
            <a:off x="4800600" y="2757487"/>
            <a:ext cx="822325"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a:t>（</a:t>
            </a:r>
            <a:r>
              <a:rPr lang="en-US" altLang="zh-CN" sz="2000" dirty="0"/>
              <a:t>4</a:t>
            </a:r>
            <a:r>
              <a:rPr lang="zh-CN" altLang="en-US" sz="2000" dirty="0"/>
              <a:t>）</a:t>
            </a:r>
          </a:p>
        </p:txBody>
      </p:sp>
      <p:pic>
        <p:nvPicPr>
          <p:cNvPr id="339002" name="Picture 58" descr="gj0716"/>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57518" t="51918" r="10739" b="5403"/>
          <a:stretch>
            <a:fillRect/>
          </a:stretch>
        </p:blipFill>
        <p:spPr bwMode="auto">
          <a:xfrm>
            <a:off x="5791200" y="1954212"/>
            <a:ext cx="3200400" cy="337978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7286644" y="2357430"/>
            <a:ext cx="428628" cy="286232"/>
          </a:xfrm>
          <a:prstGeom prst="rect">
            <a:avLst/>
          </a:prstGeom>
          <a:solidFill>
            <a:schemeClr val="bg1"/>
          </a:solidFill>
        </p:spPr>
        <p:txBody>
          <a:bodyPr wrap="square" rtlCol="0">
            <a:spAutoFit/>
          </a:bodyPr>
          <a:lstStyle/>
          <a:p>
            <a:r>
              <a:rPr lang="en-US" altLang="zh-CN" sz="1400" i="1" dirty="0" err="1">
                <a:solidFill>
                  <a:schemeClr val="tx2"/>
                </a:solidFill>
              </a:rPr>
              <a:t>e</a:t>
            </a:r>
            <a:r>
              <a:rPr lang="en-US" altLang="zh-CN" sz="1400" baseline="-25000" dirty="0" err="1">
                <a:solidFill>
                  <a:schemeClr val="tx2"/>
                </a:solidFill>
              </a:rPr>
              <a:t>i</a:t>
            </a:r>
            <a:endParaRPr lang="zh-CN" altLang="en-US" sz="1400" baseline="-25000" dirty="0">
              <a:solidFill>
                <a:schemeClr val="tx2"/>
              </a:solidFill>
            </a:endParaRP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8946" name="Rectangle 2"/>
          <p:cNvSpPr>
            <a:spLocks noGrp="1" noChangeArrowheads="1"/>
          </p:cNvSpPr>
          <p:nvPr>
            <p:ph type="title"/>
          </p:nvPr>
        </p:nvSpPr>
        <p:spPr>
          <a:xfrm>
            <a:off x="0" y="381000"/>
            <a:ext cx="8382000" cy="563563"/>
          </a:xfrm>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38947" name="Rectangle 3"/>
          <p:cNvSpPr>
            <a:spLocks noChangeArrowheads="1"/>
          </p:cNvSpPr>
          <p:nvPr/>
        </p:nvSpPr>
        <p:spPr bwMode="auto">
          <a:xfrm>
            <a:off x="611188" y="1066800"/>
            <a:ext cx="8304212"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20000"/>
              </a:lnSpc>
              <a:buClrTx/>
              <a:buFontTx/>
              <a:buNone/>
            </a:pPr>
            <a:r>
              <a:rPr lang="en-US" altLang="zh-CN" dirty="0">
                <a:solidFill>
                  <a:srgbClr val="990099"/>
                </a:solidFill>
              </a:rPr>
              <a:t>3.</a:t>
            </a:r>
            <a:r>
              <a:rPr lang="zh-CN" altLang="en-US" dirty="0">
                <a:solidFill>
                  <a:srgbClr val="990099"/>
                </a:solidFill>
              </a:rPr>
              <a:t>小偏心受压构件截面的配筋计算</a:t>
            </a:r>
          </a:p>
        </p:txBody>
      </p:sp>
      <p:sp>
        <p:nvSpPr>
          <p:cNvPr id="339003" name="Rectangle 59"/>
          <p:cNvSpPr>
            <a:spLocks noChangeArrowheads="1"/>
          </p:cNvSpPr>
          <p:nvPr/>
        </p:nvSpPr>
        <p:spPr bwMode="auto">
          <a:xfrm>
            <a:off x="446649" y="1752600"/>
            <a:ext cx="5573152" cy="2400657"/>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ts val="0"/>
              </a:spcBef>
            </a:pPr>
            <a:r>
              <a:rPr lang="en-US" altLang="zh-CN" sz="2000" dirty="0"/>
              <a:t>2</a:t>
            </a:r>
            <a:r>
              <a:rPr lang="zh-CN" altLang="en-US" sz="2000" dirty="0"/>
              <a:t>）远离轴向力</a:t>
            </a:r>
            <a:r>
              <a:rPr lang="en-US" altLang="zh-CN" sz="2000" i="1" dirty="0"/>
              <a:t>N</a:t>
            </a:r>
            <a:r>
              <a:rPr lang="zh-CN" altLang="en-US" sz="2000" dirty="0"/>
              <a:t>一侧钢筋</a:t>
            </a:r>
            <a:r>
              <a:rPr lang="en-US" altLang="zh-CN" sz="2000" i="1" dirty="0"/>
              <a:t>A</a:t>
            </a:r>
            <a:r>
              <a:rPr lang="en-US" altLang="zh-CN" sz="2000" baseline="-25000" dirty="0"/>
              <a:t>s</a:t>
            </a:r>
            <a:r>
              <a:rPr lang="zh-CN" altLang="en-US" sz="2000" dirty="0"/>
              <a:t>的应力</a:t>
            </a:r>
            <a:r>
              <a:rPr lang="el-GR" altLang="zh-CN" sz="2000" i="1" dirty="0"/>
              <a:t>σ</a:t>
            </a:r>
            <a:r>
              <a:rPr lang="en-US" altLang="zh-CN" sz="2000" baseline="-25000" dirty="0">
                <a:cs typeface="Times New Roman" pitchFamily="18" charset="0"/>
              </a:rPr>
              <a:t>s</a:t>
            </a:r>
            <a:r>
              <a:rPr lang="en-US" altLang="zh-CN" sz="2000" dirty="0"/>
              <a:t> </a:t>
            </a:r>
          </a:p>
          <a:p>
            <a:pPr algn="l">
              <a:lnSpc>
                <a:spcPct val="150000"/>
              </a:lnSpc>
              <a:spcBef>
                <a:spcPts val="0"/>
              </a:spcBef>
            </a:pPr>
            <a:r>
              <a:rPr lang="zh-CN" altLang="en-US" sz="2000" dirty="0">
                <a:solidFill>
                  <a:schemeClr val="tx1"/>
                </a:solidFill>
              </a:rPr>
              <a:t>当</a:t>
            </a:r>
            <a:r>
              <a:rPr lang="en-US" altLang="zh-CN" sz="2000" i="1" dirty="0">
                <a:solidFill>
                  <a:schemeClr val="tx1"/>
                </a:solidFill>
              </a:rPr>
              <a:t>N</a:t>
            </a:r>
            <a:r>
              <a:rPr lang="zh-CN" altLang="en-US" sz="2000" dirty="0">
                <a:solidFill>
                  <a:schemeClr val="tx1"/>
                </a:solidFill>
              </a:rPr>
              <a:t>很大，而</a:t>
            </a:r>
            <a:r>
              <a:rPr lang="en-US" altLang="zh-CN" sz="2000" i="1" dirty="0">
                <a:solidFill>
                  <a:schemeClr val="tx1"/>
                </a:solidFill>
              </a:rPr>
              <a:t>e</a:t>
            </a:r>
            <a:r>
              <a:rPr lang="en-US" altLang="zh-CN" sz="2000" baseline="-25000" dirty="0">
                <a:solidFill>
                  <a:schemeClr val="tx1"/>
                </a:solidFill>
              </a:rPr>
              <a:t>0</a:t>
            </a:r>
            <a:r>
              <a:rPr lang="zh-CN" altLang="en-US" sz="2000" dirty="0">
                <a:solidFill>
                  <a:schemeClr val="tx1"/>
                </a:solidFill>
              </a:rPr>
              <a:t>很小，且</a:t>
            </a:r>
            <a:r>
              <a:rPr lang="en-US" altLang="zh-CN" sz="2000" i="1" dirty="0">
                <a:solidFill>
                  <a:schemeClr val="tx1"/>
                </a:solidFill>
              </a:rPr>
              <a:t>A</a:t>
            </a:r>
            <a:r>
              <a:rPr lang="en-US" altLang="zh-CN" sz="2000" baseline="-25000" dirty="0">
                <a:solidFill>
                  <a:schemeClr val="tx1"/>
                </a:solidFill>
              </a:rPr>
              <a:t>s</a:t>
            </a:r>
            <a:r>
              <a:rPr lang="zh-CN" altLang="en-US" sz="2000" dirty="0">
                <a:solidFill>
                  <a:schemeClr val="tx1"/>
                </a:solidFill>
              </a:rPr>
              <a:t>较少时，会发生</a:t>
            </a:r>
            <a:r>
              <a:rPr lang="en-US" altLang="zh-CN" sz="2000" i="1" dirty="0">
                <a:solidFill>
                  <a:schemeClr val="tx1"/>
                </a:solidFill>
              </a:rPr>
              <a:t>A</a:t>
            </a:r>
            <a:r>
              <a:rPr lang="en-US" altLang="zh-CN" sz="2000" baseline="-25000" dirty="0">
                <a:solidFill>
                  <a:schemeClr val="tx1"/>
                </a:solidFill>
              </a:rPr>
              <a:t>s</a:t>
            </a:r>
            <a:r>
              <a:rPr lang="zh-CN" altLang="en-US" sz="2000" dirty="0">
                <a:solidFill>
                  <a:schemeClr val="tx1"/>
                </a:solidFill>
              </a:rPr>
              <a:t>先达到抗压屈服强度的可能性。此时，若混凝土强度等级不超过</a:t>
            </a:r>
            <a:r>
              <a:rPr lang="en-US" altLang="zh-CN" sz="2000" dirty="0">
                <a:solidFill>
                  <a:schemeClr val="tx1"/>
                </a:solidFill>
              </a:rPr>
              <a:t>C50</a:t>
            </a:r>
            <a:r>
              <a:rPr lang="zh-CN" altLang="en-US" sz="2000" dirty="0">
                <a:solidFill>
                  <a:schemeClr val="tx1"/>
                </a:solidFill>
              </a:rPr>
              <a:t>，</a:t>
            </a:r>
            <a:r>
              <a:rPr lang="en-US" altLang="zh-CN" sz="2000" i="1" dirty="0">
                <a:solidFill>
                  <a:schemeClr val="tx1"/>
                </a:solidFill>
              </a:rPr>
              <a:t>β</a:t>
            </a:r>
            <a:r>
              <a:rPr lang="en-US" altLang="zh-CN" sz="2000" baseline="-25000" dirty="0">
                <a:solidFill>
                  <a:schemeClr val="tx1"/>
                </a:solidFill>
              </a:rPr>
              <a:t>1</a:t>
            </a:r>
            <a:r>
              <a:rPr lang="en-US" altLang="zh-CN" sz="2000" dirty="0">
                <a:solidFill>
                  <a:schemeClr val="tx1"/>
                </a:solidFill>
              </a:rPr>
              <a:t>=0.8</a:t>
            </a:r>
            <a:r>
              <a:rPr lang="zh-CN" altLang="en-US" sz="2000" dirty="0">
                <a:solidFill>
                  <a:schemeClr val="tx1"/>
                </a:solidFill>
              </a:rPr>
              <a:t>，截面相对受压区高度</a:t>
            </a:r>
            <a:r>
              <a:rPr lang="en-US" altLang="zh-CN" sz="2000" i="1" dirty="0" err="1">
                <a:solidFill>
                  <a:schemeClr val="tx1"/>
                </a:solidFill>
              </a:rPr>
              <a:t>ξ</a:t>
            </a:r>
            <a:r>
              <a:rPr lang="en-US" altLang="zh-CN" sz="2000" baseline="-25000" dirty="0" err="1">
                <a:solidFill>
                  <a:schemeClr val="tx1"/>
                </a:solidFill>
              </a:rPr>
              <a:t>y</a:t>
            </a:r>
            <a:r>
              <a:rPr lang="zh-CN" altLang="en-US" sz="2000" dirty="0">
                <a:solidFill>
                  <a:schemeClr val="tx1"/>
                </a:solidFill>
              </a:rPr>
              <a:t>可从下式算出：</a:t>
            </a:r>
            <a:endParaRPr lang="zh-CN" altLang="en-US" sz="2000" dirty="0">
              <a:solidFill>
                <a:srgbClr val="FF0000"/>
              </a:solidFill>
            </a:endParaRPr>
          </a:p>
        </p:txBody>
      </p:sp>
      <p:graphicFrame>
        <p:nvGraphicFramePr>
          <p:cNvPr id="339004" name="Object 60"/>
          <p:cNvGraphicFramePr>
            <a:graphicFrameLocks noChangeAspect="1"/>
          </p:cNvGraphicFramePr>
          <p:nvPr>
            <p:extLst>
              <p:ext uri="{D42A27DB-BD31-4B8C-83A1-F6EECF244321}">
                <p14:modId xmlns:p14="http://schemas.microsoft.com/office/powerpoint/2010/main" val="2877101486"/>
              </p:ext>
            </p:extLst>
          </p:nvPr>
        </p:nvGraphicFramePr>
        <p:xfrm>
          <a:off x="771525" y="4130675"/>
          <a:ext cx="3589338" cy="803275"/>
        </p:xfrm>
        <a:graphic>
          <a:graphicData uri="http://schemas.openxmlformats.org/presentationml/2006/ole">
            <mc:AlternateContent xmlns:mc="http://schemas.openxmlformats.org/markup-compatibility/2006">
              <mc:Choice xmlns:v="urn:schemas-microsoft-com:vml" Requires="v">
                <p:oleObj spid="_x0000_s526650" name="Equation" r:id="rId3" imgW="2095200" imgH="457200" progId="Equation.DSMT4">
                  <p:embed/>
                </p:oleObj>
              </mc:Choice>
              <mc:Fallback>
                <p:oleObj name="Equation" r:id="rId3" imgW="2095200" imgH="457200" progId="Equation.DSMT4">
                  <p:embed/>
                  <p:pic>
                    <p:nvPicPr>
                      <p:cNvPr id="0" name="Picture 2"/>
                      <p:cNvPicPr>
                        <a:picLocks noChangeAspect="1" noChangeArrowheads="1"/>
                      </p:cNvPicPr>
                      <p:nvPr/>
                    </p:nvPicPr>
                    <p:blipFill>
                      <a:blip r:embed="rId4"/>
                      <a:srcRect/>
                      <a:stretch>
                        <a:fillRect/>
                      </a:stretch>
                    </p:blipFill>
                    <p:spPr bwMode="auto">
                      <a:xfrm>
                        <a:off x="771525" y="4130675"/>
                        <a:ext cx="3589338"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9006" name="Object 62"/>
          <p:cNvGraphicFramePr>
            <a:graphicFrameLocks noChangeAspect="1"/>
          </p:cNvGraphicFramePr>
          <p:nvPr>
            <p:extLst>
              <p:ext uri="{D42A27DB-BD31-4B8C-83A1-F6EECF244321}">
                <p14:modId xmlns:p14="http://schemas.microsoft.com/office/powerpoint/2010/main" val="3391323485"/>
              </p:ext>
            </p:extLst>
          </p:nvPr>
        </p:nvGraphicFramePr>
        <p:xfrm>
          <a:off x="57150" y="5638800"/>
          <a:ext cx="9028113" cy="452438"/>
        </p:xfrm>
        <a:graphic>
          <a:graphicData uri="http://schemas.openxmlformats.org/presentationml/2006/ole">
            <mc:AlternateContent xmlns:mc="http://schemas.openxmlformats.org/markup-compatibility/2006">
              <mc:Choice xmlns:v="urn:schemas-microsoft-com:vml" Requires="v">
                <p:oleObj spid="_x0000_s526651" name="Equation" r:id="rId5" imgW="4965480" imgH="253800" progId="Equation.DSMT4">
                  <p:embed/>
                </p:oleObj>
              </mc:Choice>
              <mc:Fallback>
                <p:oleObj name="Equation" r:id="rId5" imgW="4965480" imgH="253800" progId="Equation.DSMT4">
                  <p:embed/>
                  <p:pic>
                    <p:nvPicPr>
                      <p:cNvPr id="0" name="Picture 3"/>
                      <p:cNvPicPr>
                        <a:picLocks noChangeAspect="1" noChangeArrowheads="1"/>
                      </p:cNvPicPr>
                      <p:nvPr/>
                    </p:nvPicPr>
                    <p:blipFill>
                      <a:blip r:embed="rId6"/>
                      <a:srcRect/>
                      <a:stretch>
                        <a:fillRect/>
                      </a:stretch>
                    </p:blipFill>
                    <p:spPr bwMode="auto">
                      <a:xfrm>
                        <a:off x="57150" y="5638800"/>
                        <a:ext cx="9028113" cy="452438"/>
                      </a:xfrm>
                      <a:prstGeom prst="rect">
                        <a:avLst/>
                      </a:prstGeom>
                      <a:solidFill>
                        <a:srgbClr val="85B3F1"/>
                      </a:solidFill>
                    </p:spPr>
                  </p:pic>
                </p:oleObj>
              </mc:Fallback>
            </mc:AlternateContent>
          </a:graphicData>
        </a:graphic>
      </p:graphicFrame>
      <p:graphicFrame>
        <p:nvGraphicFramePr>
          <p:cNvPr id="14" name="Object 60"/>
          <p:cNvGraphicFramePr>
            <a:graphicFrameLocks noChangeAspect="1"/>
          </p:cNvGraphicFramePr>
          <p:nvPr>
            <p:extLst>
              <p:ext uri="{D42A27DB-BD31-4B8C-83A1-F6EECF244321}">
                <p14:modId xmlns:p14="http://schemas.microsoft.com/office/powerpoint/2010/main" val="1063817879"/>
              </p:ext>
            </p:extLst>
          </p:nvPr>
        </p:nvGraphicFramePr>
        <p:xfrm>
          <a:off x="914400" y="5114925"/>
          <a:ext cx="2587625" cy="447675"/>
        </p:xfrm>
        <a:graphic>
          <a:graphicData uri="http://schemas.openxmlformats.org/presentationml/2006/ole">
            <mc:AlternateContent xmlns:mc="http://schemas.openxmlformats.org/markup-compatibility/2006">
              <mc:Choice xmlns:v="urn:schemas-microsoft-com:vml" Requires="v">
                <p:oleObj spid="_x0000_s526652" name="Equation" r:id="rId7" imgW="1511280" imgH="253800" progId="Equation.DSMT4">
                  <p:embed/>
                </p:oleObj>
              </mc:Choice>
              <mc:Fallback>
                <p:oleObj name="Equation" r:id="rId7" imgW="1511280" imgH="253800" progId="Equation.DSMT4">
                  <p:embed/>
                  <p:pic>
                    <p:nvPicPr>
                      <p:cNvPr id="0" name="Picture 4"/>
                      <p:cNvPicPr>
                        <a:picLocks noChangeAspect="1" noChangeArrowheads="1"/>
                      </p:cNvPicPr>
                      <p:nvPr/>
                    </p:nvPicPr>
                    <p:blipFill>
                      <a:blip r:embed="rId8"/>
                      <a:srcRect/>
                      <a:stretch>
                        <a:fillRect/>
                      </a:stretch>
                    </p:blipFill>
                    <p:spPr bwMode="auto">
                      <a:xfrm>
                        <a:off x="914400" y="5114925"/>
                        <a:ext cx="2587625"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60"/>
          <p:cNvGraphicFramePr>
            <a:graphicFrameLocks noChangeAspect="1"/>
          </p:cNvGraphicFramePr>
          <p:nvPr>
            <p:extLst>
              <p:ext uri="{D42A27DB-BD31-4B8C-83A1-F6EECF244321}">
                <p14:modId xmlns:p14="http://schemas.microsoft.com/office/powerpoint/2010/main" val="1681479052"/>
              </p:ext>
            </p:extLst>
          </p:nvPr>
        </p:nvGraphicFramePr>
        <p:xfrm>
          <a:off x="4219575" y="5114925"/>
          <a:ext cx="1087438" cy="447675"/>
        </p:xfrm>
        <a:graphic>
          <a:graphicData uri="http://schemas.openxmlformats.org/presentationml/2006/ole">
            <mc:AlternateContent xmlns:mc="http://schemas.openxmlformats.org/markup-compatibility/2006">
              <mc:Choice xmlns:v="urn:schemas-microsoft-com:vml" Requires="v">
                <p:oleObj spid="_x0000_s526653" name="Equation" r:id="rId9" imgW="634680" imgH="253800" progId="Equation.DSMT4">
                  <p:embed/>
                </p:oleObj>
              </mc:Choice>
              <mc:Fallback>
                <p:oleObj name="Equation" r:id="rId9" imgW="634680" imgH="253800" progId="Equation.DSMT4">
                  <p:embed/>
                  <p:pic>
                    <p:nvPicPr>
                      <p:cNvPr id="0" name="Picture 5"/>
                      <p:cNvPicPr>
                        <a:picLocks noChangeAspect="1" noChangeArrowheads="1"/>
                      </p:cNvPicPr>
                      <p:nvPr/>
                    </p:nvPicPr>
                    <p:blipFill>
                      <a:blip r:embed="rId10"/>
                      <a:srcRect/>
                      <a:stretch>
                        <a:fillRect/>
                      </a:stretch>
                    </p:blipFill>
                    <p:spPr bwMode="auto">
                      <a:xfrm>
                        <a:off x="4219575" y="5114925"/>
                        <a:ext cx="1087438"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右箭头 2"/>
          <p:cNvSpPr/>
          <p:nvPr/>
        </p:nvSpPr>
        <p:spPr bwMode="auto">
          <a:xfrm>
            <a:off x="316939" y="5130613"/>
            <a:ext cx="294249" cy="381000"/>
          </a:xfrm>
          <a:prstGeom prst="rightArrow">
            <a:avLst/>
          </a:prstGeom>
          <a:solidFill>
            <a:srgbClr val="FF00FF"/>
          </a:solidFill>
          <a:ln w="0" cap="flat" cmpd="sng" algn="ctr">
            <a:solidFill>
              <a:srgbClr val="FF339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endParaRPr kumimoji="0" lang="zh-CN" altLang="en-US" sz="2400" b="1" i="0" u="none" strike="noStrike" cap="none" normalizeH="0" baseline="0">
              <a:ln>
                <a:noFill/>
              </a:ln>
              <a:solidFill>
                <a:srgbClr val="0000FF"/>
              </a:solidFill>
              <a:effectLst/>
              <a:latin typeface="Times New Roman" pitchFamily="18" charset="0"/>
              <a:ea typeface="宋体" pitchFamily="2" charset="-122"/>
            </a:endParaRPr>
          </a:p>
        </p:txBody>
      </p:sp>
      <p:graphicFrame>
        <p:nvGraphicFramePr>
          <p:cNvPr id="17" name="Object 62"/>
          <p:cNvGraphicFramePr>
            <a:graphicFrameLocks noChangeAspect="1"/>
          </p:cNvGraphicFramePr>
          <p:nvPr>
            <p:extLst>
              <p:ext uri="{D42A27DB-BD31-4B8C-83A1-F6EECF244321}">
                <p14:modId xmlns:p14="http://schemas.microsoft.com/office/powerpoint/2010/main" val="1016472260"/>
              </p:ext>
            </p:extLst>
          </p:nvPr>
        </p:nvGraphicFramePr>
        <p:xfrm>
          <a:off x="1631950" y="6172200"/>
          <a:ext cx="5976938" cy="452438"/>
        </p:xfrm>
        <a:graphic>
          <a:graphicData uri="http://schemas.openxmlformats.org/presentationml/2006/ole">
            <mc:AlternateContent xmlns:mc="http://schemas.openxmlformats.org/markup-compatibility/2006">
              <mc:Choice xmlns:v="urn:schemas-microsoft-com:vml" Requires="v">
                <p:oleObj spid="_x0000_s526654" name="Equation" r:id="rId11" imgW="3492360" imgH="253800" progId="Equation.DSMT4">
                  <p:embed/>
                </p:oleObj>
              </mc:Choice>
              <mc:Fallback>
                <p:oleObj name="Equation" r:id="rId11" imgW="3492360" imgH="253800" progId="Equation.DSMT4">
                  <p:embed/>
                  <p:pic>
                    <p:nvPicPr>
                      <p:cNvPr id="0" name="Picture 6"/>
                      <p:cNvPicPr>
                        <a:picLocks noChangeAspect="1" noChangeArrowheads="1"/>
                      </p:cNvPicPr>
                      <p:nvPr/>
                    </p:nvPicPr>
                    <p:blipFill>
                      <a:blip r:embed="rId12"/>
                      <a:srcRect/>
                      <a:stretch>
                        <a:fillRect/>
                      </a:stretch>
                    </p:blipFill>
                    <p:spPr bwMode="auto">
                      <a:xfrm>
                        <a:off x="1631950" y="6172200"/>
                        <a:ext cx="5976938" cy="452438"/>
                      </a:xfrm>
                      <a:prstGeom prst="rect">
                        <a:avLst/>
                      </a:prstGeom>
                      <a:solidFill>
                        <a:srgbClr val="85B3F1"/>
                      </a:solidFill>
                    </p:spPr>
                  </p:pic>
                </p:oleObj>
              </mc:Fallback>
            </mc:AlternateContent>
          </a:graphicData>
        </a:graphic>
      </p:graphicFrame>
      <p:pic>
        <p:nvPicPr>
          <p:cNvPr id="16" name="Picture 1"/>
          <p:cNvPicPr>
            <a:picLocks noChangeAspect="1" noChangeArrowheads="1"/>
          </p:cNvPicPr>
          <p:nvPr/>
        </p:nvPicPr>
        <p:blipFill>
          <a:blip r:embed="rId13"/>
          <a:srcRect/>
          <a:stretch>
            <a:fillRect/>
          </a:stretch>
        </p:blipFill>
        <p:spPr bwMode="auto">
          <a:xfrm>
            <a:off x="6572264" y="1285860"/>
            <a:ext cx="1609725" cy="3819525"/>
          </a:xfrm>
          <a:prstGeom prst="rect">
            <a:avLst/>
          </a:prstGeom>
          <a:noFill/>
          <a:ln w="9525">
            <a:noFill/>
            <a:miter lim="800000"/>
            <a:headEnd/>
            <a:tailEnd/>
          </a:ln>
          <a:effectLst/>
        </p:spPr>
      </p:pic>
      <p:graphicFrame>
        <p:nvGraphicFramePr>
          <p:cNvPr id="18" name="对象 17"/>
          <p:cNvGraphicFramePr>
            <a:graphicFrameLocks noChangeAspect="1"/>
          </p:cNvGraphicFramePr>
          <p:nvPr>
            <p:extLst>
              <p:ext uri="{D42A27DB-BD31-4B8C-83A1-F6EECF244321}">
                <p14:modId xmlns:p14="http://schemas.microsoft.com/office/powerpoint/2010/main" val="4263206589"/>
              </p:ext>
            </p:extLst>
          </p:nvPr>
        </p:nvGraphicFramePr>
        <p:xfrm>
          <a:off x="5578475" y="5154613"/>
          <a:ext cx="1219200" cy="406400"/>
        </p:xfrm>
        <a:graphic>
          <a:graphicData uri="http://schemas.openxmlformats.org/presentationml/2006/ole">
            <mc:AlternateContent xmlns:mc="http://schemas.openxmlformats.org/markup-compatibility/2006">
              <mc:Choice xmlns:v="urn:schemas-microsoft-com:vml" Requires="v">
                <p:oleObj spid="_x0000_s526655" name="Equation" r:id="rId14" imgW="685800" imgH="228600" progId="Equation.DSMT4">
                  <p:embed/>
                </p:oleObj>
              </mc:Choice>
              <mc:Fallback>
                <p:oleObj name="Equation" r:id="rId14" imgW="685800" imgH="228600" progId="Equation.DSMT4">
                  <p:embed/>
                  <p:pic>
                    <p:nvPicPr>
                      <p:cNvPr id="0" name="Picture 7"/>
                      <p:cNvPicPr>
                        <a:picLocks noChangeAspect="1" noChangeArrowheads="1"/>
                      </p:cNvPicPr>
                      <p:nvPr/>
                    </p:nvPicPr>
                    <p:blipFill>
                      <a:blip r:embed="rId15"/>
                      <a:srcRect/>
                      <a:stretch>
                        <a:fillRect/>
                      </a:stretch>
                    </p:blipFill>
                    <p:spPr bwMode="auto">
                      <a:xfrm>
                        <a:off x="5578475" y="5154613"/>
                        <a:ext cx="12192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86882577"/>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9970"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39971" name="Rectangle 3"/>
          <p:cNvSpPr>
            <a:spLocks noChangeArrowheads="1"/>
          </p:cNvSpPr>
          <p:nvPr/>
        </p:nvSpPr>
        <p:spPr bwMode="auto">
          <a:xfrm>
            <a:off x="611188" y="1066800"/>
            <a:ext cx="8304212" cy="93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20000"/>
              </a:lnSpc>
              <a:buClrTx/>
              <a:buFontTx/>
              <a:buNone/>
            </a:pPr>
            <a:r>
              <a:rPr lang="en-US" altLang="zh-CN">
                <a:solidFill>
                  <a:srgbClr val="990099"/>
                </a:solidFill>
              </a:rPr>
              <a:t>3.</a:t>
            </a:r>
            <a:r>
              <a:rPr lang="zh-CN" altLang="en-US">
                <a:solidFill>
                  <a:srgbClr val="990099"/>
                </a:solidFill>
              </a:rPr>
              <a:t>小偏心受压构件截面的配筋计算</a:t>
            </a:r>
          </a:p>
          <a:p>
            <a:pPr marL="342900" indent="-342900" algn="l"/>
            <a:r>
              <a:rPr lang="en-US" altLang="zh-CN" sz="2000"/>
              <a:t>3</a:t>
            </a:r>
            <a:r>
              <a:rPr lang="zh-CN" altLang="en-US" sz="2000"/>
              <a:t>）正向破坏截面配筋的计算步骤</a:t>
            </a:r>
            <a:r>
              <a:rPr lang="zh-CN" altLang="en-US"/>
              <a:t> </a:t>
            </a:r>
          </a:p>
        </p:txBody>
      </p:sp>
      <p:sp>
        <p:nvSpPr>
          <p:cNvPr id="339982" name="AutoShape 14"/>
          <p:cNvSpPr>
            <a:spLocks noChangeArrowheads="1"/>
          </p:cNvSpPr>
          <p:nvPr/>
        </p:nvSpPr>
        <p:spPr bwMode="auto">
          <a:xfrm>
            <a:off x="2279650" y="3136900"/>
            <a:ext cx="3816350" cy="439738"/>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00000"/>
              </a:lnSpc>
              <a:spcBef>
                <a:spcPct val="50000"/>
              </a:spcBef>
              <a:buClrTx/>
              <a:buFontTx/>
              <a:buNone/>
            </a:pPr>
            <a:r>
              <a:rPr lang="zh-CN" altLang="en-US" sz="2000">
                <a:latin typeface="Arial" charset="0"/>
              </a:rPr>
              <a:t>用钢量最小原则，取</a:t>
            </a:r>
            <a:r>
              <a:rPr lang="en-US" altLang="zh-CN" sz="2000" i="1"/>
              <a:t>A</a:t>
            </a:r>
            <a:r>
              <a:rPr lang="en-US" altLang="zh-CN" sz="2000" baseline="-25000"/>
              <a:t>s</a:t>
            </a:r>
            <a:r>
              <a:rPr lang="zh-CN" altLang="en-US" sz="2000"/>
              <a:t>＝</a:t>
            </a:r>
            <a:r>
              <a:rPr lang="el-GR" altLang="zh-CN" sz="2000" i="1"/>
              <a:t>ρ</a:t>
            </a:r>
            <a:r>
              <a:rPr lang="en-US" altLang="zh-CN" sz="2000" baseline="-25000"/>
              <a:t>min</a:t>
            </a:r>
            <a:r>
              <a:rPr lang="en-US" altLang="zh-CN" sz="2000" i="1"/>
              <a:t>bh</a:t>
            </a:r>
            <a:endParaRPr lang="en-US" altLang="zh-CN" sz="2000">
              <a:latin typeface="Arial" charset="0"/>
            </a:endParaRPr>
          </a:p>
        </p:txBody>
      </p:sp>
      <p:sp>
        <p:nvSpPr>
          <p:cNvPr id="339985" name="AutoShape 17"/>
          <p:cNvSpPr>
            <a:spLocks noChangeArrowheads="1"/>
          </p:cNvSpPr>
          <p:nvPr/>
        </p:nvSpPr>
        <p:spPr bwMode="auto">
          <a:xfrm>
            <a:off x="3962400" y="2781300"/>
            <a:ext cx="200025" cy="304800"/>
          </a:xfrm>
          <a:prstGeom prst="downArrow">
            <a:avLst>
              <a:gd name="adj1" fmla="val 50000"/>
              <a:gd name="adj2" fmla="val 38095"/>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986" name="AutoShape 18"/>
          <p:cNvSpPr>
            <a:spLocks noChangeArrowheads="1"/>
          </p:cNvSpPr>
          <p:nvPr/>
        </p:nvSpPr>
        <p:spPr bwMode="auto">
          <a:xfrm>
            <a:off x="3970338" y="4533900"/>
            <a:ext cx="220662" cy="381000"/>
          </a:xfrm>
          <a:prstGeom prst="downArrow">
            <a:avLst>
              <a:gd name="adj1" fmla="val 50000"/>
              <a:gd name="adj2" fmla="val 43166"/>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987" name="Rectangle 19"/>
          <p:cNvSpPr>
            <a:spLocks noChangeArrowheads="1"/>
          </p:cNvSpPr>
          <p:nvPr/>
        </p:nvSpPr>
        <p:spPr bwMode="auto">
          <a:xfrm>
            <a:off x="3533775" y="2767013"/>
            <a:ext cx="3889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lnSpc>
                <a:spcPct val="100000"/>
              </a:lnSpc>
              <a:spcBef>
                <a:spcPct val="0"/>
              </a:spcBef>
              <a:buClrTx/>
              <a:buFontTx/>
              <a:buNone/>
            </a:pPr>
            <a:r>
              <a:rPr lang="zh-CN" altLang="en-US" sz="1600">
                <a:solidFill>
                  <a:srgbClr val="FF0000"/>
                </a:solidFill>
              </a:rPr>
              <a:t>是</a:t>
            </a:r>
          </a:p>
        </p:txBody>
      </p:sp>
      <p:sp>
        <p:nvSpPr>
          <p:cNvPr id="339989" name="AutoShape 21"/>
          <p:cNvSpPr>
            <a:spLocks noChangeArrowheads="1"/>
          </p:cNvSpPr>
          <p:nvPr/>
        </p:nvSpPr>
        <p:spPr bwMode="auto">
          <a:xfrm rot="5400000">
            <a:off x="2841625" y="2117726"/>
            <a:ext cx="173037" cy="696912"/>
          </a:xfrm>
          <a:prstGeom prst="downArrow">
            <a:avLst>
              <a:gd name="adj1" fmla="val 50000"/>
              <a:gd name="adj2" fmla="val 100688"/>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990" name="AutoShape 22"/>
          <p:cNvSpPr>
            <a:spLocks noChangeArrowheads="1"/>
          </p:cNvSpPr>
          <p:nvPr/>
        </p:nvSpPr>
        <p:spPr bwMode="auto">
          <a:xfrm>
            <a:off x="785813" y="2214563"/>
            <a:ext cx="1760537" cy="439737"/>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00000"/>
              </a:lnSpc>
              <a:spcBef>
                <a:spcPct val="50000"/>
              </a:spcBef>
              <a:buClrTx/>
              <a:buFontTx/>
              <a:buNone/>
            </a:pPr>
            <a:r>
              <a:rPr lang="zh-CN" altLang="en-US" sz="2000">
                <a:latin typeface="Arial" charset="0"/>
              </a:rPr>
              <a:t>按大偏压计算</a:t>
            </a:r>
          </a:p>
        </p:txBody>
      </p:sp>
      <p:sp>
        <p:nvSpPr>
          <p:cNvPr id="339991" name="AutoShape 23"/>
          <p:cNvSpPr>
            <a:spLocks noChangeArrowheads="1"/>
          </p:cNvSpPr>
          <p:nvPr/>
        </p:nvSpPr>
        <p:spPr bwMode="auto">
          <a:xfrm>
            <a:off x="230188" y="3297238"/>
            <a:ext cx="1898650" cy="1790700"/>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50000"/>
              </a:spcBef>
              <a:buClrTx/>
              <a:buFontTx/>
              <a:buNone/>
            </a:pPr>
            <a:r>
              <a:rPr lang="zh-CN" altLang="en-US" sz="2000">
                <a:solidFill>
                  <a:srgbClr val="FF0000"/>
                </a:solidFill>
              </a:rPr>
              <a:t>钢筋</a:t>
            </a:r>
            <a:r>
              <a:rPr lang="en-US" altLang="zh-CN" sz="2000" i="1">
                <a:solidFill>
                  <a:srgbClr val="FF0000"/>
                </a:solidFill>
              </a:rPr>
              <a:t>A</a:t>
            </a:r>
            <a:r>
              <a:rPr lang="en-US" altLang="zh-CN" sz="2000" baseline="-25000">
                <a:solidFill>
                  <a:srgbClr val="FF0000"/>
                </a:solidFill>
              </a:rPr>
              <a:t>s</a:t>
            </a:r>
            <a:r>
              <a:rPr lang="zh-CN" altLang="en-US" sz="2000">
                <a:solidFill>
                  <a:srgbClr val="FF0000"/>
                </a:solidFill>
              </a:rPr>
              <a:t>应力未屈服，</a:t>
            </a:r>
            <a:r>
              <a:rPr lang="zh-CN" altLang="en-US" sz="2000"/>
              <a:t>将</a:t>
            </a:r>
            <a:r>
              <a:rPr lang="en-US" altLang="zh-CN" sz="2000" i="1"/>
              <a:t>x</a:t>
            </a:r>
            <a:r>
              <a:rPr lang="zh-CN" altLang="en-US" sz="2000"/>
              <a:t>直接代入</a:t>
            </a:r>
            <a:r>
              <a:rPr lang="en-US" altLang="zh-CN" sz="2000"/>
              <a:t>(4)</a:t>
            </a:r>
            <a:r>
              <a:rPr lang="zh-CN" altLang="en-US" sz="2000"/>
              <a:t>式计算</a:t>
            </a:r>
            <a:r>
              <a:rPr lang="en-US" altLang="zh-CN" sz="2000" i="1"/>
              <a:t>A</a:t>
            </a:r>
            <a:r>
              <a:rPr lang="en-US" altLang="zh-CN" sz="2000" baseline="-25000"/>
              <a:t>s</a:t>
            </a:r>
            <a:r>
              <a:rPr lang="en-US" altLang="zh-CN" sz="2000" baseline="30000"/>
              <a:t>’</a:t>
            </a:r>
            <a:r>
              <a:rPr lang="en-US" altLang="zh-CN" sz="2000"/>
              <a:t>,</a:t>
            </a:r>
            <a:r>
              <a:rPr lang="zh-CN" altLang="en-US" sz="2000"/>
              <a:t>并满足最小配筋率</a:t>
            </a:r>
          </a:p>
        </p:txBody>
      </p:sp>
      <p:sp>
        <p:nvSpPr>
          <p:cNvPr id="339993" name="Rectangle 25"/>
          <p:cNvSpPr>
            <a:spLocks noChangeArrowheads="1"/>
          </p:cNvSpPr>
          <p:nvPr/>
        </p:nvSpPr>
        <p:spPr bwMode="auto">
          <a:xfrm>
            <a:off x="2732088" y="2095500"/>
            <a:ext cx="3889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lnSpc>
                <a:spcPct val="100000"/>
              </a:lnSpc>
              <a:spcBef>
                <a:spcPct val="0"/>
              </a:spcBef>
              <a:buClrTx/>
              <a:buFontTx/>
              <a:buNone/>
            </a:pPr>
            <a:r>
              <a:rPr lang="zh-CN" altLang="en-US" sz="1600">
                <a:solidFill>
                  <a:srgbClr val="FF0000"/>
                </a:solidFill>
              </a:rPr>
              <a:t>否</a:t>
            </a:r>
            <a:endParaRPr lang="zh-CN" altLang="en-US" sz="1600">
              <a:solidFill>
                <a:srgbClr val="FF0000"/>
              </a:solidFill>
              <a:latin typeface="Arial" charset="0"/>
              <a:sym typeface="Symbol" pitchFamily="18" charset="2"/>
            </a:endParaRPr>
          </a:p>
        </p:txBody>
      </p:sp>
      <p:sp>
        <p:nvSpPr>
          <p:cNvPr id="339995" name="AutoShape 27"/>
          <p:cNvSpPr>
            <a:spLocks noChangeArrowheads="1"/>
          </p:cNvSpPr>
          <p:nvPr/>
        </p:nvSpPr>
        <p:spPr bwMode="auto">
          <a:xfrm>
            <a:off x="3968750" y="3616325"/>
            <a:ext cx="222250" cy="304800"/>
          </a:xfrm>
          <a:prstGeom prst="downArrow">
            <a:avLst>
              <a:gd name="adj1" fmla="val 50000"/>
              <a:gd name="adj2" fmla="val 34286"/>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997" name="AutoShape 29"/>
          <p:cNvSpPr>
            <a:spLocks noChangeArrowheads="1"/>
          </p:cNvSpPr>
          <p:nvPr/>
        </p:nvSpPr>
        <p:spPr bwMode="auto">
          <a:xfrm>
            <a:off x="6208713" y="3390900"/>
            <a:ext cx="2782887" cy="1790700"/>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50000"/>
              </a:spcBef>
              <a:buClrTx/>
              <a:buFontTx/>
              <a:buNone/>
            </a:pPr>
            <a:r>
              <a:rPr lang="zh-CN" altLang="en-US" sz="2000"/>
              <a:t>表示</a:t>
            </a:r>
            <a:r>
              <a:rPr lang="zh-CN" altLang="en-US" sz="2000">
                <a:solidFill>
                  <a:srgbClr val="FF0000"/>
                </a:solidFill>
              </a:rPr>
              <a:t>钢筋</a:t>
            </a:r>
            <a:r>
              <a:rPr lang="en-US" altLang="zh-CN" sz="2000" i="1">
                <a:solidFill>
                  <a:srgbClr val="FF0000"/>
                </a:solidFill>
              </a:rPr>
              <a:t>A</a:t>
            </a:r>
            <a:r>
              <a:rPr lang="en-US" altLang="zh-CN" sz="2000" baseline="-25000">
                <a:solidFill>
                  <a:srgbClr val="FF0000"/>
                </a:solidFill>
              </a:rPr>
              <a:t>s</a:t>
            </a:r>
            <a:r>
              <a:rPr lang="zh-CN" altLang="en-US" sz="2000">
                <a:solidFill>
                  <a:srgbClr val="FF0000"/>
                </a:solidFill>
              </a:rPr>
              <a:t>已经屈服</a:t>
            </a:r>
            <a:r>
              <a:rPr lang="zh-CN" altLang="en-US" sz="2000"/>
              <a:t>，但尚未全截面受压。取</a:t>
            </a:r>
            <a:r>
              <a:rPr lang="el-GR" altLang="zh-CN" sz="2000" i="1"/>
              <a:t>σ </a:t>
            </a:r>
            <a:r>
              <a:rPr lang="en-US" altLang="zh-CN" sz="2000" baseline="-25000">
                <a:cs typeface="Times New Roman" pitchFamily="18" charset="0"/>
              </a:rPr>
              <a:t>s</a:t>
            </a:r>
            <a:r>
              <a:rPr lang="zh-CN" altLang="en-US" sz="2000"/>
              <a:t>＝</a:t>
            </a:r>
            <a:r>
              <a:rPr lang="en-US" altLang="zh-CN" sz="2000"/>
              <a:t>-</a:t>
            </a:r>
            <a:r>
              <a:rPr lang="en-US" altLang="zh-CN" sz="2000" i="1"/>
              <a:t>f</a:t>
            </a:r>
            <a:r>
              <a:rPr lang="en-US" altLang="zh-CN" sz="2000" baseline="-25000"/>
              <a:t>y</a:t>
            </a:r>
            <a:r>
              <a:rPr lang="en-US" altLang="zh-CN" sz="2000" baseline="30000"/>
              <a:t>’</a:t>
            </a:r>
            <a:r>
              <a:rPr lang="zh-CN" altLang="en-US" sz="2000"/>
              <a:t>代入</a:t>
            </a:r>
            <a:r>
              <a:rPr lang="en-US" altLang="zh-CN" sz="2000"/>
              <a:t>(3)(4)</a:t>
            </a:r>
            <a:r>
              <a:rPr lang="zh-CN" altLang="en-US" sz="2000"/>
              <a:t>中求解</a:t>
            </a:r>
            <a:r>
              <a:rPr lang="en-US" altLang="zh-CN" sz="2000" i="1"/>
              <a:t>x</a:t>
            </a:r>
            <a:r>
              <a:rPr lang="zh-CN" altLang="en-US" sz="2000"/>
              <a:t>和</a:t>
            </a:r>
            <a:r>
              <a:rPr lang="en-US" altLang="zh-CN" sz="2000" i="1"/>
              <a:t>A</a:t>
            </a:r>
            <a:r>
              <a:rPr lang="en-US" altLang="zh-CN" sz="2000" baseline="-25000"/>
              <a:t>s</a:t>
            </a:r>
            <a:r>
              <a:rPr lang="en-US" altLang="zh-CN" sz="2000" baseline="30000"/>
              <a:t>’</a:t>
            </a:r>
            <a:r>
              <a:rPr lang="en-US" altLang="zh-CN" sz="2000"/>
              <a:t> </a:t>
            </a:r>
            <a:r>
              <a:rPr lang="zh-CN" altLang="en-US" sz="2000"/>
              <a:t>，并满足最小配筋率 </a:t>
            </a:r>
          </a:p>
        </p:txBody>
      </p:sp>
      <p:sp>
        <p:nvSpPr>
          <p:cNvPr id="339998" name="AutoShape 30"/>
          <p:cNvSpPr>
            <a:spLocks noChangeArrowheads="1"/>
          </p:cNvSpPr>
          <p:nvPr/>
        </p:nvSpPr>
        <p:spPr bwMode="auto">
          <a:xfrm>
            <a:off x="2455863" y="5006975"/>
            <a:ext cx="3335337" cy="1804749"/>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50000"/>
              </a:spcBef>
              <a:buClrTx/>
              <a:buFontTx/>
              <a:buNone/>
            </a:pPr>
            <a:r>
              <a:rPr lang="zh-CN" altLang="en-US" sz="2000" dirty="0"/>
              <a:t>表示</a:t>
            </a:r>
            <a:r>
              <a:rPr lang="zh-CN" altLang="en-US" sz="2000" dirty="0">
                <a:solidFill>
                  <a:srgbClr val="FF0000"/>
                </a:solidFill>
              </a:rPr>
              <a:t>混凝土全截面受压</a:t>
            </a:r>
            <a:r>
              <a:rPr lang="zh-CN" altLang="en-US" sz="2000" dirty="0"/>
              <a:t>，中和轴已经在截面以外，取</a:t>
            </a:r>
            <a:r>
              <a:rPr lang="el-GR" altLang="zh-CN" sz="2000" i="1" dirty="0"/>
              <a:t>σ </a:t>
            </a:r>
            <a:r>
              <a:rPr lang="en-US" altLang="zh-CN" sz="2000" baseline="-25000" dirty="0">
                <a:cs typeface="Times New Roman" pitchFamily="18" charset="0"/>
              </a:rPr>
              <a:t>s</a:t>
            </a:r>
            <a:r>
              <a:rPr lang="zh-CN" altLang="en-US" sz="2000" dirty="0"/>
              <a:t>＝</a:t>
            </a:r>
            <a:r>
              <a:rPr lang="en-US" altLang="zh-CN" sz="2000" dirty="0"/>
              <a:t>-</a:t>
            </a:r>
            <a:r>
              <a:rPr lang="en-US" altLang="zh-CN" sz="2000" i="1" dirty="0" err="1"/>
              <a:t>f</a:t>
            </a:r>
            <a:r>
              <a:rPr lang="en-US" altLang="zh-CN" sz="2000" baseline="-25000" dirty="0" err="1"/>
              <a:t>y</a:t>
            </a:r>
            <a:r>
              <a:rPr lang="en-US" altLang="zh-CN" sz="2000" baseline="30000" dirty="0"/>
              <a:t>’</a:t>
            </a:r>
            <a:r>
              <a:rPr lang="en-US" altLang="zh-CN" sz="2000" dirty="0"/>
              <a:t> </a:t>
            </a:r>
            <a:r>
              <a:rPr lang="zh-CN" altLang="en-US" sz="2000" dirty="0"/>
              <a:t>，把</a:t>
            </a:r>
            <a:r>
              <a:rPr lang="en-US" altLang="zh-CN" sz="2000" i="1" dirty="0"/>
              <a:t>x</a:t>
            </a:r>
            <a:r>
              <a:rPr lang="zh-CN" altLang="en-US" sz="2000" dirty="0"/>
              <a:t>＝</a:t>
            </a:r>
            <a:r>
              <a:rPr lang="en-US" altLang="zh-CN" sz="2000" i="1" dirty="0"/>
              <a:t>h</a:t>
            </a:r>
            <a:r>
              <a:rPr lang="zh-CN" altLang="en-US" sz="2000" dirty="0"/>
              <a:t>代入（</a:t>
            </a:r>
            <a:r>
              <a:rPr lang="en-US" altLang="zh-CN" sz="2000" dirty="0"/>
              <a:t>4</a:t>
            </a:r>
            <a:r>
              <a:rPr lang="zh-CN" altLang="en-US" sz="2000" dirty="0"/>
              <a:t>）求</a:t>
            </a:r>
            <a:r>
              <a:rPr lang="en-US" altLang="zh-CN" sz="2000" i="1" dirty="0"/>
              <a:t>A</a:t>
            </a:r>
            <a:r>
              <a:rPr lang="en-US" altLang="zh-CN" sz="2000" baseline="-25000" dirty="0"/>
              <a:t>s</a:t>
            </a:r>
            <a:r>
              <a:rPr lang="en-US" altLang="zh-CN" sz="2000" baseline="30000" dirty="0"/>
              <a:t>’</a:t>
            </a:r>
            <a:r>
              <a:rPr lang="en-US" altLang="zh-CN" sz="2000" dirty="0"/>
              <a:t> </a:t>
            </a:r>
            <a:r>
              <a:rPr lang="zh-CN" altLang="en-US" sz="2000" dirty="0"/>
              <a:t>，并满足最小配筋率 </a:t>
            </a:r>
          </a:p>
        </p:txBody>
      </p:sp>
      <p:sp>
        <p:nvSpPr>
          <p:cNvPr id="339999" name="AutoShape 31"/>
          <p:cNvSpPr>
            <a:spLocks noChangeArrowheads="1"/>
          </p:cNvSpPr>
          <p:nvPr/>
        </p:nvSpPr>
        <p:spPr bwMode="auto">
          <a:xfrm rot="5400000">
            <a:off x="2705100" y="3733800"/>
            <a:ext cx="152400" cy="990600"/>
          </a:xfrm>
          <a:prstGeom prst="downArrow">
            <a:avLst>
              <a:gd name="adj1" fmla="val 50000"/>
              <a:gd name="adj2" fmla="val 162500"/>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0001" name="AutoShape 33"/>
          <p:cNvSpPr>
            <a:spLocks noChangeArrowheads="1"/>
          </p:cNvSpPr>
          <p:nvPr/>
        </p:nvSpPr>
        <p:spPr bwMode="auto">
          <a:xfrm rot="16200000" flipH="1">
            <a:off x="5257800" y="3695700"/>
            <a:ext cx="152400" cy="1066800"/>
          </a:xfrm>
          <a:prstGeom prst="downArrow">
            <a:avLst>
              <a:gd name="adj1" fmla="val 50000"/>
              <a:gd name="adj2" fmla="val 175000"/>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40002" name="Object 34"/>
          <p:cNvGraphicFramePr>
            <a:graphicFrameLocks noChangeAspect="1"/>
          </p:cNvGraphicFramePr>
          <p:nvPr>
            <p:extLst>
              <p:ext uri="{D42A27DB-BD31-4B8C-83A1-F6EECF244321}">
                <p14:modId xmlns:p14="http://schemas.microsoft.com/office/powerpoint/2010/main" val="3674329365"/>
              </p:ext>
            </p:extLst>
          </p:nvPr>
        </p:nvGraphicFramePr>
        <p:xfrm>
          <a:off x="2133600" y="3886200"/>
          <a:ext cx="1435100" cy="330200"/>
        </p:xfrm>
        <a:graphic>
          <a:graphicData uri="http://schemas.openxmlformats.org/presentationml/2006/ole">
            <mc:AlternateContent xmlns:mc="http://schemas.openxmlformats.org/markup-compatibility/2006">
              <mc:Choice xmlns:v="urn:schemas-microsoft-com:vml" Requires="v">
                <p:oleObj spid="_x0000_s527566" name="Equation" r:id="rId3" imgW="990360" imgH="228600" progId="Equation.DSMT4">
                  <p:embed/>
                </p:oleObj>
              </mc:Choice>
              <mc:Fallback>
                <p:oleObj name="Equation" r:id="rId3" imgW="990360" imgH="228600" progId="Equation.DSMT4">
                  <p:embed/>
                  <p:pic>
                    <p:nvPicPr>
                      <p:cNvPr id="0" name="Picture 2"/>
                      <p:cNvPicPr>
                        <a:picLocks noChangeAspect="1" noChangeArrowheads="1"/>
                      </p:cNvPicPr>
                      <p:nvPr/>
                    </p:nvPicPr>
                    <p:blipFill>
                      <a:blip r:embed="rId4"/>
                      <a:srcRect/>
                      <a:stretch>
                        <a:fillRect/>
                      </a:stretch>
                    </p:blipFill>
                    <p:spPr bwMode="auto">
                      <a:xfrm>
                        <a:off x="2133600" y="3886200"/>
                        <a:ext cx="1435100"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0003" name="Object 35"/>
          <p:cNvGraphicFramePr>
            <a:graphicFrameLocks noChangeAspect="1"/>
          </p:cNvGraphicFramePr>
          <p:nvPr>
            <p:extLst>
              <p:ext uri="{D42A27DB-BD31-4B8C-83A1-F6EECF244321}">
                <p14:modId xmlns:p14="http://schemas.microsoft.com/office/powerpoint/2010/main" val="3547574919"/>
              </p:ext>
            </p:extLst>
          </p:nvPr>
        </p:nvGraphicFramePr>
        <p:xfrm>
          <a:off x="4479925" y="3848100"/>
          <a:ext cx="1692275" cy="330200"/>
        </p:xfrm>
        <a:graphic>
          <a:graphicData uri="http://schemas.openxmlformats.org/presentationml/2006/ole">
            <mc:AlternateContent xmlns:mc="http://schemas.openxmlformats.org/markup-compatibility/2006">
              <mc:Choice xmlns:v="urn:schemas-microsoft-com:vml" Requires="v">
                <p:oleObj spid="_x0000_s527567" name="Equation" r:id="rId5" imgW="1168200" imgH="228600" progId="Equation.DSMT4">
                  <p:embed/>
                </p:oleObj>
              </mc:Choice>
              <mc:Fallback>
                <p:oleObj name="Equation" r:id="rId5" imgW="1168200" imgH="228600" progId="Equation.DSMT4">
                  <p:embed/>
                  <p:pic>
                    <p:nvPicPr>
                      <p:cNvPr id="0" name="Picture 3"/>
                      <p:cNvPicPr>
                        <a:picLocks noChangeAspect="1" noChangeArrowheads="1"/>
                      </p:cNvPicPr>
                      <p:nvPr/>
                    </p:nvPicPr>
                    <p:blipFill>
                      <a:blip r:embed="rId6"/>
                      <a:srcRect/>
                      <a:stretch>
                        <a:fillRect/>
                      </a:stretch>
                    </p:blipFill>
                    <p:spPr bwMode="auto">
                      <a:xfrm>
                        <a:off x="4479925" y="3848100"/>
                        <a:ext cx="1692275"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0004" name="Object 36"/>
          <p:cNvGraphicFramePr>
            <a:graphicFrameLocks noChangeAspect="1"/>
          </p:cNvGraphicFramePr>
          <p:nvPr>
            <p:extLst>
              <p:ext uri="{D42A27DB-BD31-4B8C-83A1-F6EECF244321}">
                <p14:modId xmlns:p14="http://schemas.microsoft.com/office/powerpoint/2010/main" val="1658604411"/>
              </p:ext>
            </p:extLst>
          </p:nvPr>
        </p:nvGraphicFramePr>
        <p:xfrm>
          <a:off x="4124325" y="4508500"/>
          <a:ext cx="2133600" cy="330200"/>
        </p:xfrm>
        <a:graphic>
          <a:graphicData uri="http://schemas.openxmlformats.org/presentationml/2006/ole">
            <mc:AlternateContent xmlns:mc="http://schemas.openxmlformats.org/markup-compatibility/2006">
              <mc:Choice xmlns:v="urn:schemas-microsoft-com:vml" Requires="v">
                <p:oleObj spid="_x0000_s527568" name="Equation" r:id="rId7" imgW="1473120" imgH="228600" progId="Equation.DSMT4">
                  <p:embed/>
                </p:oleObj>
              </mc:Choice>
              <mc:Fallback>
                <p:oleObj name="Equation" r:id="rId7" imgW="1473120" imgH="228600" progId="Equation.DSMT4">
                  <p:embed/>
                  <p:pic>
                    <p:nvPicPr>
                      <p:cNvPr id="0" name="Picture 4"/>
                      <p:cNvPicPr>
                        <a:picLocks noChangeAspect="1" noChangeArrowheads="1"/>
                      </p:cNvPicPr>
                      <p:nvPr/>
                    </p:nvPicPr>
                    <p:blipFill>
                      <a:blip r:embed="rId8"/>
                      <a:srcRect/>
                      <a:stretch>
                        <a:fillRect/>
                      </a:stretch>
                    </p:blipFill>
                    <p:spPr bwMode="auto">
                      <a:xfrm>
                        <a:off x="4124325" y="4508500"/>
                        <a:ext cx="2133600"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0005" name="AutoShape 37"/>
          <p:cNvSpPr>
            <a:spLocks noChangeArrowheads="1"/>
          </p:cNvSpPr>
          <p:nvPr/>
        </p:nvSpPr>
        <p:spPr bwMode="auto">
          <a:xfrm>
            <a:off x="3352800" y="2171700"/>
            <a:ext cx="1447800" cy="533400"/>
          </a:xfrm>
          <a:prstGeom prst="flowChartPreparation">
            <a:avLst/>
          </a:prstGeom>
          <a:solidFill>
            <a:srgbClr val="FF00FF">
              <a:alpha val="50000"/>
            </a:srgbClr>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00" i="1" dirty="0" err="1">
                <a:solidFill>
                  <a:schemeClr val="tx2"/>
                </a:solidFill>
              </a:rPr>
              <a:t>e</a:t>
            </a:r>
            <a:r>
              <a:rPr lang="en-US" altLang="zh-CN" sz="1800" baseline="-25000" dirty="0" err="1">
                <a:solidFill>
                  <a:schemeClr val="tx2"/>
                </a:solidFill>
              </a:rPr>
              <a:t>i</a:t>
            </a:r>
            <a:r>
              <a:rPr lang="en-US" altLang="zh-CN" sz="1800" dirty="0">
                <a:solidFill>
                  <a:schemeClr val="tx2"/>
                </a:solidFill>
              </a:rPr>
              <a:t> ≤ 0.3</a:t>
            </a:r>
            <a:r>
              <a:rPr lang="en-US" altLang="zh-CN" sz="1800" i="1" dirty="0">
                <a:solidFill>
                  <a:schemeClr val="tx2"/>
                </a:solidFill>
              </a:rPr>
              <a:t>h</a:t>
            </a:r>
            <a:r>
              <a:rPr lang="en-US" altLang="zh-CN" sz="1800" baseline="-25000" dirty="0">
                <a:solidFill>
                  <a:schemeClr val="tx2"/>
                </a:solidFill>
              </a:rPr>
              <a:t>0</a:t>
            </a:r>
          </a:p>
        </p:txBody>
      </p:sp>
      <p:sp>
        <p:nvSpPr>
          <p:cNvPr id="340006" name="AutoShape 38"/>
          <p:cNvSpPr>
            <a:spLocks noChangeArrowheads="1"/>
          </p:cNvSpPr>
          <p:nvPr/>
        </p:nvSpPr>
        <p:spPr bwMode="auto">
          <a:xfrm>
            <a:off x="3429000" y="4000500"/>
            <a:ext cx="1295400" cy="457200"/>
          </a:xfrm>
          <a:prstGeom prst="flowChartPreparation">
            <a:avLst/>
          </a:prstGeom>
          <a:solidFill>
            <a:srgbClr val="FF00FF">
              <a:alpha val="50000"/>
            </a:srgbClr>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000" i="1">
                <a:solidFill>
                  <a:schemeClr val="tx2"/>
                </a:solidFill>
              </a:rPr>
              <a:t>x</a:t>
            </a:r>
            <a:r>
              <a:rPr lang="en-US" altLang="zh-CN" sz="2000">
                <a:solidFill>
                  <a:schemeClr val="tx2"/>
                </a:solidFill>
              </a:rPr>
              <a:t>(</a:t>
            </a:r>
            <a:r>
              <a:rPr lang="el-GR" altLang="zh-CN" sz="2000" i="1">
                <a:solidFill>
                  <a:schemeClr val="tx2"/>
                </a:solidFill>
              </a:rPr>
              <a:t>ξ</a:t>
            </a:r>
            <a:r>
              <a:rPr lang="en-US" altLang="zh-CN" sz="2000">
                <a:solidFill>
                  <a:schemeClr val="tx2"/>
                </a:solidFill>
              </a:rPr>
              <a:t>)</a:t>
            </a:r>
            <a:endParaRPr lang="en-US" altLang="zh-CN">
              <a:solidFill>
                <a:schemeClr val="tx2"/>
              </a:solidFill>
            </a:endParaRPr>
          </a:p>
        </p:txBody>
      </p:sp>
      <p:graphicFrame>
        <p:nvGraphicFramePr>
          <p:cNvPr id="340007" name="Object 39"/>
          <p:cNvGraphicFramePr>
            <a:graphicFrameLocks noGrp="1" noChangeAspect="1"/>
          </p:cNvGraphicFramePr>
          <p:nvPr>
            <p:ph sz="half" idx="2"/>
            <p:extLst>
              <p:ext uri="{D42A27DB-BD31-4B8C-83A1-F6EECF244321}">
                <p14:modId xmlns:p14="http://schemas.microsoft.com/office/powerpoint/2010/main" val="4185339799"/>
              </p:ext>
            </p:extLst>
          </p:nvPr>
        </p:nvGraphicFramePr>
        <p:xfrm>
          <a:off x="5689600" y="1219200"/>
          <a:ext cx="3019425" cy="1600200"/>
        </p:xfrm>
        <a:graphic>
          <a:graphicData uri="http://schemas.openxmlformats.org/presentationml/2006/ole">
            <mc:AlternateContent xmlns:mc="http://schemas.openxmlformats.org/markup-compatibility/2006">
              <mc:Choice xmlns:v="urn:schemas-microsoft-com:vml" Requires="v">
                <p:oleObj spid="_x0000_s527569" name="Equation" r:id="rId9" imgW="2539800" imgH="1346040" progId="Equation.DSMT4">
                  <p:embed/>
                </p:oleObj>
              </mc:Choice>
              <mc:Fallback>
                <p:oleObj name="Equation" r:id="rId9" imgW="2539800" imgH="1346040" progId="Equation.DSMT4">
                  <p:embed/>
                  <p:pic>
                    <p:nvPicPr>
                      <p:cNvPr id="0" name="Picture 5"/>
                      <p:cNvPicPr>
                        <a:picLocks noGrp="1" noChangeAspect="1" noChangeArrowheads="1"/>
                      </p:cNvPicPr>
                      <p:nvPr/>
                    </p:nvPicPr>
                    <p:blipFill>
                      <a:blip r:embed="rId10"/>
                      <a:srcRect b="18315"/>
                      <a:stretch>
                        <a:fillRect/>
                      </a:stretch>
                    </p:blipFill>
                    <p:spPr bwMode="auto">
                      <a:xfrm>
                        <a:off x="5689600" y="1219200"/>
                        <a:ext cx="3019425"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0009" name="Rectangle 41"/>
          <p:cNvSpPr>
            <a:spLocks noChangeArrowheads="1"/>
          </p:cNvSpPr>
          <p:nvPr/>
        </p:nvSpPr>
        <p:spPr bwMode="auto">
          <a:xfrm>
            <a:off x="8474075" y="1219200"/>
            <a:ext cx="669925"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a:t>（</a:t>
            </a:r>
            <a:r>
              <a:rPr lang="en-US" altLang="zh-CN" sz="2000"/>
              <a:t>3</a:t>
            </a:r>
            <a:r>
              <a:rPr lang="zh-CN" altLang="en-US" sz="2000"/>
              <a:t>）</a:t>
            </a:r>
          </a:p>
        </p:txBody>
      </p:sp>
      <p:sp>
        <p:nvSpPr>
          <p:cNvPr id="340010" name="Rectangle 42"/>
          <p:cNvSpPr>
            <a:spLocks noChangeArrowheads="1"/>
          </p:cNvSpPr>
          <p:nvPr/>
        </p:nvSpPr>
        <p:spPr bwMode="auto">
          <a:xfrm>
            <a:off x="8474075" y="1738313"/>
            <a:ext cx="669925" cy="36671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a:t>（</a:t>
            </a:r>
            <a:r>
              <a:rPr lang="en-US" altLang="zh-CN" sz="2000"/>
              <a:t>4</a:t>
            </a:r>
            <a:r>
              <a:rPr lang="zh-CN" altLang="en-US" sz="2000"/>
              <a:t>）</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41017" name="Picture 25" descr="gj072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2600" y="3124200"/>
            <a:ext cx="3581400" cy="3257550"/>
          </a:xfrm>
          <a:prstGeom prst="rect">
            <a:avLst/>
          </a:prstGeom>
          <a:noFill/>
          <a:extLst>
            <a:ext uri="{909E8E84-426E-40DD-AFC4-6F175D3DCCD1}">
              <a14:hiddenFill xmlns:a14="http://schemas.microsoft.com/office/drawing/2010/main">
                <a:solidFill>
                  <a:srgbClr val="FFFFFF"/>
                </a:solidFill>
              </a14:hiddenFill>
            </a:ext>
          </a:extLst>
        </p:spPr>
      </p:pic>
      <p:sp>
        <p:nvSpPr>
          <p:cNvPr id="34099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40995" name="Rectangle 3"/>
          <p:cNvSpPr>
            <a:spLocks noChangeArrowheads="1"/>
          </p:cNvSpPr>
          <p:nvPr/>
        </p:nvSpPr>
        <p:spPr bwMode="auto">
          <a:xfrm>
            <a:off x="611188" y="1066800"/>
            <a:ext cx="7847012" cy="464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20000"/>
              </a:lnSpc>
              <a:buClrTx/>
              <a:buFontTx/>
              <a:buNone/>
            </a:pPr>
            <a:r>
              <a:rPr lang="en-US" altLang="zh-CN" dirty="0">
                <a:solidFill>
                  <a:srgbClr val="990099"/>
                </a:solidFill>
              </a:rPr>
              <a:t>3.</a:t>
            </a:r>
            <a:r>
              <a:rPr lang="zh-CN" altLang="en-US" dirty="0">
                <a:solidFill>
                  <a:srgbClr val="990099"/>
                </a:solidFill>
              </a:rPr>
              <a:t>小偏心受压构件截面的配筋计算</a:t>
            </a:r>
          </a:p>
          <a:p>
            <a:pPr marL="342900" indent="-342900" algn="l"/>
            <a:r>
              <a:rPr lang="en-US" altLang="zh-CN" sz="2000" dirty="0"/>
              <a:t>4</a:t>
            </a:r>
            <a:r>
              <a:rPr lang="zh-CN" altLang="en-US" sz="2000" dirty="0"/>
              <a:t>）反向破坏截面配筋的计算步骤</a:t>
            </a:r>
            <a:r>
              <a:rPr lang="zh-CN" altLang="en-US" dirty="0"/>
              <a:t> </a:t>
            </a:r>
          </a:p>
          <a:p>
            <a:pPr marL="342900" indent="-342900" algn="l">
              <a:spcBef>
                <a:spcPct val="40000"/>
              </a:spcBef>
            </a:pPr>
            <a:r>
              <a:rPr lang="zh-CN" altLang="en-US" sz="2000" dirty="0">
                <a:solidFill>
                  <a:schemeClr val="tx1"/>
                </a:solidFill>
              </a:rPr>
              <a:t>        当</a:t>
            </a:r>
            <a:r>
              <a:rPr lang="en-US" altLang="zh-CN" sz="2000" i="1" dirty="0">
                <a:solidFill>
                  <a:schemeClr val="tx1"/>
                </a:solidFill>
              </a:rPr>
              <a:t>N</a:t>
            </a:r>
            <a:r>
              <a:rPr lang="zh-CN" altLang="en-US" sz="2000" dirty="0">
                <a:solidFill>
                  <a:schemeClr val="tx1"/>
                </a:solidFill>
              </a:rPr>
              <a:t>较大，</a:t>
            </a:r>
            <a:r>
              <a:rPr lang="en-US" altLang="zh-CN" sz="2000" i="1" dirty="0">
                <a:solidFill>
                  <a:schemeClr val="tx1"/>
                </a:solidFill>
              </a:rPr>
              <a:t>e</a:t>
            </a:r>
            <a:r>
              <a:rPr lang="en-US" altLang="zh-CN" sz="2000" baseline="-25000" dirty="0">
                <a:solidFill>
                  <a:schemeClr val="tx1"/>
                </a:solidFill>
              </a:rPr>
              <a:t>0</a:t>
            </a:r>
            <a:r>
              <a:rPr lang="zh-CN" altLang="en-US" sz="2000" dirty="0">
                <a:solidFill>
                  <a:schemeClr val="tx1"/>
                </a:solidFill>
              </a:rPr>
              <a:t>较小，且</a:t>
            </a:r>
            <a:r>
              <a:rPr lang="en-US" altLang="zh-CN" sz="2000" i="1" dirty="0">
                <a:solidFill>
                  <a:schemeClr val="tx1"/>
                </a:solidFill>
              </a:rPr>
              <a:t>A</a:t>
            </a:r>
            <a:r>
              <a:rPr lang="en-US" altLang="zh-CN" sz="2000" baseline="-25000" dirty="0">
                <a:solidFill>
                  <a:schemeClr val="tx1"/>
                </a:solidFill>
              </a:rPr>
              <a:t>s</a:t>
            </a:r>
            <a:r>
              <a:rPr lang="zh-CN" altLang="en-US" sz="2000" dirty="0">
                <a:solidFill>
                  <a:schemeClr val="tx1"/>
                </a:solidFill>
              </a:rPr>
              <a:t>较小时，可能发生反向破坏；一般满足</a:t>
            </a:r>
          </a:p>
          <a:p>
            <a:pPr marL="342900" indent="-342900" algn="l"/>
            <a:r>
              <a:rPr lang="zh-CN" altLang="en-US" sz="2000" dirty="0">
                <a:solidFill>
                  <a:schemeClr val="tx1"/>
                </a:solidFill>
              </a:rPr>
              <a:t>                            条件时，</a:t>
            </a:r>
            <a:r>
              <a:rPr lang="zh-CN" altLang="en-US" sz="2000" dirty="0">
                <a:solidFill>
                  <a:srgbClr val="FF0000"/>
                </a:solidFill>
              </a:rPr>
              <a:t>不需验算反向破坏</a:t>
            </a:r>
            <a:r>
              <a:rPr lang="zh-CN" altLang="en-US" sz="2000" dirty="0">
                <a:solidFill>
                  <a:schemeClr val="tx1"/>
                </a:solidFill>
              </a:rPr>
              <a:t>。否则按下述条件验算。</a:t>
            </a:r>
          </a:p>
          <a:p>
            <a:pPr marL="342900" indent="-342900" algn="l"/>
            <a:endParaRPr lang="zh-CN" altLang="en-US" sz="2000" dirty="0">
              <a:solidFill>
                <a:schemeClr val="tx1"/>
              </a:solidFill>
            </a:endParaRPr>
          </a:p>
          <a:p>
            <a:pPr marL="342900" indent="-342900" algn="l"/>
            <a:endParaRPr lang="zh-CN" altLang="en-US" sz="2000" dirty="0"/>
          </a:p>
          <a:p>
            <a:pPr marL="342900" indent="-342900" algn="l"/>
            <a:endParaRPr lang="zh-CN" altLang="en-US" sz="2000" dirty="0"/>
          </a:p>
          <a:p>
            <a:pPr marL="342900" indent="-342900" algn="l">
              <a:lnSpc>
                <a:spcPct val="100000"/>
              </a:lnSpc>
              <a:spcBef>
                <a:spcPct val="0"/>
              </a:spcBef>
              <a:buClrTx/>
              <a:buFontTx/>
              <a:buNone/>
            </a:pPr>
            <a:r>
              <a:rPr lang="zh-CN" altLang="en-US" sz="2000" dirty="0">
                <a:solidFill>
                  <a:schemeClr val="tx1"/>
                </a:solidFill>
              </a:rPr>
              <a:t>       </a:t>
            </a:r>
          </a:p>
          <a:p>
            <a:pPr marL="342900" indent="-342900" algn="l">
              <a:lnSpc>
                <a:spcPct val="100000"/>
              </a:lnSpc>
              <a:spcBef>
                <a:spcPct val="0"/>
              </a:spcBef>
              <a:buClrTx/>
              <a:buFontTx/>
              <a:buNone/>
            </a:pPr>
            <a:endParaRPr lang="zh-CN" altLang="en-US" sz="2000" dirty="0">
              <a:solidFill>
                <a:schemeClr val="tx1"/>
              </a:solidFill>
            </a:endParaRPr>
          </a:p>
          <a:p>
            <a:pPr marL="342900" indent="-342900" algn="l">
              <a:lnSpc>
                <a:spcPct val="100000"/>
              </a:lnSpc>
              <a:spcBef>
                <a:spcPct val="0"/>
              </a:spcBef>
              <a:buClrTx/>
              <a:buFontTx/>
              <a:buNone/>
            </a:pPr>
            <a:r>
              <a:rPr lang="zh-CN" altLang="en-US" sz="2000" dirty="0">
                <a:solidFill>
                  <a:schemeClr val="tx1"/>
                </a:solidFill>
              </a:rPr>
              <a:t>         上述条件如不满足，表示会发生</a:t>
            </a:r>
          </a:p>
          <a:p>
            <a:pPr marL="342900" indent="-342900" algn="l">
              <a:lnSpc>
                <a:spcPct val="100000"/>
              </a:lnSpc>
              <a:spcBef>
                <a:spcPct val="0"/>
              </a:spcBef>
              <a:buClrTx/>
              <a:buFontTx/>
              <a:buNone/>
            </a:pPr>
            <a:r>
              <a:rPr lang="zh-CN" altLang="en-US" sz="2000" dirty="0">
                <a:solidFill>
                  <a:schemeClr val="tx1"/>
                </a:solidFill>
              </a:rPr>
              <a:t>         反向破坏，需要增加</a:t>
            </a:r>
            <a:r>
              <a:rPr lang="en-US" altLang="zh-CN" sz="2000" i="1" dirty="0">
                <a:solidFill>
                  <a:schemeClr val="tx1"/>
                </a:solidFill>
              </a:rPr>
              <a:t>A</a:t>
            </a:r>
            <a:r>
              <a:rPr lang="en-US" altLang="zh-CN" sz="2000" baseline="-25000" dirty="0">
                <a:solidFill>
                  <a:schemeClr val="tx1"/>
                </a:solidFill>
              </a:rPr>
              <a:t>s</a:t>
            </a:r>
            <a:r>
              <a:rPr lang="zh-CN" altLang="en-US" sz="2000" dirty="0">
                <a:solidFill>
                  <a:schemeClr val="tx1"/>
                </a:solidFill>
              </a:rPr>
              <a:t>用量</a:t>
            </a:r>
            <a:r>
              <a:rPr lang="zh-CN" altLang="en-US" dirty="0">
                <a:solidFill>
                  <a:schemeClr val="tx1"/>
                </a:solidFill>
              </a:rPr>
              <a:t>。</a:t>
            </a:r>
            <a:endParaRPr lang="zh-CN" altLang="en-US" sz="2000" dirty="0">
              <a:solidFill>
                <a:schemeClr val="tx1"/>
              </a:solidFill>
            </a:endParaRPr>
          </a:p>
          <a:p>
            <a:pPr marL="342900" indent="-342900" algn="l">
              <a:spcBef>
                <a:spcPct val="100000"/>
              </a:spcBef>
            </a:pPr>
            <a:endParaRPr lang="en-US" altLang="zh-CN" dirty="0">
              <a:solidFill>
                <a:schemeClr val="tx1"/>
              </a:solidFill>
            </a:endParaRPr>
          </a:p>
        </p:txBody>
      </p:sp>
      <p:graphicFrame>
        <p:nvGraphicFramePr>
          <p:cNvPr id="340996" name="Object 4"/>
          <p:cNvGraphicFramePr>
            <a:graphicFrameLocks noGrp="1" noChangeAspect="1"/>
          </p:cNvGraphicFramePr>
          <p:nvPr>
            <p:ph idx="1"/>
            <p:extLst>
              <p:ext uri="{D42A27DB-BD31-4B8C-83A1-F6EECF244321}">
                <p14:modId xmlns:p14="http://schemas.microsoft.com/office/powerpoint/2010/main" val="3329010488"/>
              </p:ext>
            </p:extLst>
          </p:nvPr>
        </p:nvGraphicFramePr>
        <p:xfrm>
          <a:off x="1125538" y="2354263"/>
          <a:ext cx="1295400" cy="388937"/>
        </p:xfrm>
        <a:graphic>
          <a:graphicData uri="http://schemas.openxmlformats.org/presentationml/2006/ole">
            <mc:AlternateContent xmlns:mc="http://schemas.openxmlformats.org/markup-compatibility/2006">
              <mc:Choice xmlns:v="urn:schemas-microsoft-com:vml" Requires="v">
                <p:oleObj spid="_x0000_s528490" name="Equation" r:id="rId4" imgW="761760" imgH="228600" progId="Equation.DSMT4">
                  <p:embed/>
                </p:oleObj>
              </mc:Choice>
              <mc:Fallback>
                <p:oleObj name="Equation" r:id="rId4" imgW="761760" imgH="228600" progId="Equation.DSMT4">
                  <p:embed/>
                  <p:pic>
                    <p:nvPicPr>
                      <p:cNvPr id="0" name="Picture 2"/>
                      <p:cNvPicPr>
                        <a:picLocks noGrp="1" noChangeAspect="1" noChangeArrowheads="1"/>
                      </p:cNvPicPr>
                      <p:nvPr/>
                    </p:nvPicPr>
                    <p:blipFill>
                      <a:blip r:embed="rId5"/>
                      <a:srcRect/>
                      <a:stretch>
                        <a:fillRect/>
                      </a:stretch>
                    </p:blipFill>
                    <p:spPr bwMode="auto">
                      <a:xfrm>
                        <a:off x="1125538" y="2354263"/>
                        <a:ext cx="1295400"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1015" name="Object 23"/>
          <p:cNvGraphicFramePr>
            <a:graphicFrameLocks noChangeAspect="1"/>
          </p:cNvGraphicFramePr>
          <p:nvPr>
            <p:extLst>
              <p:ext uri="{D42A27DB-BD31-4B8C-83A1-F6EECF244321}">
                <p14:modId xmlns:p14="http://schemas.microsoft.com/office/powerpoint/2010/main" val="3568019940"/>
              </p:ext>
            </p:extLst>
          </p:nvPr>
        </p:nvGraphicFramePr>
        <p:xfrm>
          <a:off x="1125538" y="2819400"/>
          <a:ext cx="4456696" cy="1211263"/>
        </p:xfrm>
        <a:graphic>
          <a:graphicData uri="http://schemas.openxmlformats.org/presentationml/2006/ole">
            <mc:AlternateContent xmlns:mc="http://schemas.openxmlformats.org/markup-compatibility/2006">
              <mc:Choice xmlns:v="urn:schemas-microsoft-com:vml" Requires="v">
                <p:oleObj spid="_x0000_s528491" name="Equation" r:id="rId6" imgW="3022560" imgH="812520" progId="Equation.DSMT4">
                  <p:embed/>
                </p:oleObj>
              </mc:Choice>
              <mc:Fallback>
                <p:oleObj name="Equation" r:id="rId6" imgW="3022560" imgH="812520" progId="Equation.DSMT4">
                  <p:embed/>
                  <p:pic>
                    <p:nvPicPr>
                      <p:cNvPr id="0" name="Picture 3"/>
                      <p:cNvPicPr>
                        <a:picLocks noChangeAspect="1" noChangeArrowheads="1"/>
                      </p:cNvPicPr>
                      <p:nvPr/>
                    </p:nvPicPr>
                    <p:blipFill>
                      <a:blip r:embed="rId7"/>
                      <a:srcRect/>
                      <a:stretch>
                        <a:fillRect/>
                      </a:stretch>
                    </p:blipFill>
                    <p:spPr bwMode="auto">
                      <a:xfrm>
                        <a:off x="1125538" y="2819400"/>
                        <a:ext cx="4456696" cy="1211263"/>
                      </a:xfrm>
                      <a:prstGeom prst="rect">
                        <a:avLst/>
                      </a:prstGeom>
                      <a:noFill/>
                      <a:ln>
                        <a:noFill/>
                      </a:ln>
                      <a:effectLst/>
                      <a:extLst/>
                    </p:spPr>
                  </p:pic>
                </p:oleObj>
              </mc:Fallback>
            </mc:AlternateContent>
          </a:graphicData>
        </a:graphic>
      </p:graphicFrame>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4482"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404483" name="Rectangle 3"/>
          <p:cNvSpPr>
            <a:spLocks noChangeArrowheads="1"/>
          </p:cNvSpPr>
          <p:nvPr/>
        </p:nvSpPr>
        <p:spPr bwMode="auto">
          <a:xfrm>
            <a:off x="611188" y="1066800"/>
            <a:ext cx="4951412" cy="397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20000"/>
              </a:lnSpc>
              <a:buClrTx/>
              <a:buFontTx/>
              <a:buNone/>
            </a:pPr>
            <a:r>
              <a:rPr lang="en-US" altLang="zh-CN" dirty="0">
                <a:solidFill>
                  <a:srgbClr val="990099"/>
                </a:solidFill>
              </a:rPr>
              <a:t>3.</a:t>
            </a:r>
            <a:r>
              <a:rPr lang="zh-CN" altLang="en-US" dirty="0">
                <a:solidFill>
                  <a:srgbClr val="990099"/>
                </a:solidFill>
              </a:rPr>
              <a:t>小偏心受压构件截面的配筋计算</a:t>
            </a:r>
          </a:p>
          <a:p>
            <a:pPr marL="342900" indent="-342900" algn="l">
              <a:spcBef>
                <a:spcPct val="40000"/>
              </a:spcBef>
            </a:pPr>
            <a:r>
              <a:rPr lang="en-US" altLang="zh-CN" sz="2000" dirty="0"/>
              <a:t>5</a:t>
            </a:r>
            <a:r>
              <a:rPr lang="zh-CN" altLang="en-US" sz="2000" dirty="0"/>
              <a:t>）垂直于弯矩作用平面受压承载力的验算 </a:t>
            </a:r>
          </a:p>
          <a:p>
            <a:pPr marL="342900" indent="-342900" algn="l">
              <a:lnSpc>
                <a:spcPct val="110000"/>
              </a:lnSpc>
              <a:spcBef>
                <a:spcPct val="50000"/>
              </a:spcBef>
            </a:pPr>
            <a:r>
              <a:rPr lang="zh-CN" altLang="en-US" sz="2000" dirty="0">
                <a:solidFill>
                  <a:schemeClr val="tx1"/>
                </a:solidFill>
              </a:rPr>
              <a:t>             当轴向力</a:t>
            </a:r>
            <a:r>
              <a:rPr lang="en-US" altLang="zh-CN" sz="2000" i="1" dirty="0">
                <a:solidFill>
                  <a:schemeClr val="tx1"/>
                </a:solidFill>
              </a:rPr>
              <a:t>N</a:t>
            </a:r>
            <a:r>
              <a:rPr lang="zh-CN" altLang="en-US" sz="2000" dirty="0">
                <a:solidFill>
                  <a:schemeClr val="tx1"/>
                </a:solidFill>
              </a:rPr>
              <a:t>较大，偏心矩较小，且截面宽度较小时，垂直于弯矩作用平面内的受压承载力有可能起控制作用。对于小偏心受压构件，需要注意这个问题。</a:t>
            </a:r>
          </a:p>
          <a:p>
            <a:pPr marL="342900" indent="-342900" algn="l">
              <a:lnSpc>
                <a:spcPct val="110000"/>
              </a:lnSpc>
              <a:spcBef>
                <a:spcPct val="50000"/>
              </a:spcBef>
            </a:pPr>
            <a:r>
              <a:rPr lang="zh-CN" altLang="en-US" sz="2000" dirty="0">
                <a:solidFill>
                  <a:schemeClr val="tx1"/>
                </a:solidFill>
              </a:rPr>
              <a:t>             按照</a:t>
            </a:r>
            <a:r>
              <a:rPr lang="zh-CN" altLang="en-US" sz="2000" dirty="0">
                <a:solidFill>
                  <a:srgbClr val="FF0000"/>
                </a:solidFill>
              </a:rPr>
              <a:t>轴压构件</a:t>
            </a:r>
            <a:r>
              <a:rPr lang="zh-CN" altLang="en-US" sz="2000" dirty="0">
                <a:solidFill>
                  <a:schemeClr val="tx1"/>
                </a:solidFill>
              </a:rPr>
              <a:t>的计算方法验算，但应取垂直于弯矩作用平面的截面宽度来计算构件长细比</a:t>
            </a:r>
            <a:r>
              <a:rPr lang="en-US" altLang="zh-CN" sz="2000" i="1" dirty="0">
                <a:solidFill>
                  <a:srgbClr val="FF0000"/>
                </a:solidFill>
              </a:rPr>
              <a:t>l</a:t>
            </a:r>
            <a:r>
              <a:rPr lang="en-US" altLang="zh-CN" sz="2000" baseline="-25000" dirty="0">
                <a:solidFill>
                  <a:srgbClr val="FF0000"/>
                </a:solidFill>
              </a:rPr>
              <a:t>0</a:t>
            </a:r>
            <a:r>
              <a:rPr lang="en-US" altLang="zh-CN" sz="2000" dirty="0">
                <a:solidFill>
                  <a:srgbClr val="FF0000"/>
                </a:solidFill>
              </a:rPr>
              <a:t>/</a:t>
            </a:r>
            <a:r>
              <a:rPr lang="en-US" altLang="zh-CN" sz="2000" i="1" dirty="0">
                <a:solidFill>
                  <a:srgbClr val="FF0000"/>
                </a:solidFill>
              </a:rPr>
              <a:t>b</a:t>
            </a:r>
            <a:r>
              <a:rPr lang="zh-CN" altLang="en-US" sz="2000" dirty="0">
                <a:solidFill>
                  <a:schemeClr val="tx1"/>
                </a:solidFill>
              </a:rPr>
              <a:t>，并以此取稳定系数</a:t>
            </a:r>
            <a:r>
              <a:rPr lang="el-GR" altLang="zh-CN" sz="2000" i="1" dirty="0">
                <a:solidFill>
                  <a:schemeClr val="tx1"/>
                </a:solidFill>
              </a:rPr>
              <a:t>φ</a:t>
            </a:r>
            <a:r>
              <a:rPr lang="zh-CN" altLang="en-US" dirty="0">
                <a:solidFill>
                  <a:schemeClr val="tx1"/>
                </a:solidFill>
              </a:rPr>
              <a:t>。</a:t>
            </a:r>
          </a:p>
        </p:txBody>
      </p:sp>
      <p:sp>
        <p:nvSpPr>
          <p:cNvPr id="404555" name="Rectangle 75"/>
          <p:cNvSpPr>
            <a:spLocks noChangeArrowheads="1"/>
          </p:cNvSpPr>
          <p:nvPr/>
        </p:nvSpPr>
        <p:spPr bwMode="auto">
          <a:xfrm>
            <a:off x="6553200" y="1955800"/>
            <a:ext cx="1752600" cy="914400"/>
          </a:xfrm>
          <a:prstGeom prst="rect">
            <a:avLst/>
          </a:prstGeom>
          <a:noFill/>
          <a:ln w="25400" algn="ctr">
            <a:solidFill>
              <a:schemeClr val="tx2"/>
            </a:solidFill>
            <a:miter lim="800000"/>
            <a:headEnd/>
            <a:tailEn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404556" name="AutoShape 76"/>
          <p:cNvCxnSpPr>
            <a:cxnSpLocks noChangeShapeType="1"/>
          </p:cNvCxnSpPr>
          <p:nvPr/>
        </p:nvCxnSpPr>
        <p:spPr bwMode="auto">
          <a:xfrm>
            <a:off x="5791200" y="2413000"/>
            <a:ext cx="3200400" cy="1588"/>
          </a:xfrm>
          <a:prstGeom prst="straightConnector1">
            <a:avLst/>
          </a:prstGeom>
          <a:noFill/>
          <a:ln w="9525">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4557" name="AutoShape 77"/>
          <p:cNvCxnSpPr>
            <a:cxnSpLocks noChangeShapeType="1"/>
          </p:cNvCxnSpPr>
          <p:nvPr/>
        </p:nvCxnSpPr>
        <p:spPr bwMode="auto">
          <a:xfrm>
            <a:off x="7427913" y="1447800"/>
            <a:ext cx="3175" cy="3351213"/>
          </a:xfrm>
          <a:prstGeom prst="straightConnector1">
            <a:avLst/>
          </a:prstGeom>
          <a:noFill/>
          <a:ln w="9525">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 name="Group 78"/>
          <p:cNvGrpSpPr>
            <a:grpSpLocks/>
          </p:cNvGrpSpPr>
          <p:nvPr/>
        </p:nvGrpSpPr>
        <p:grpSpPr bwMode="auto">
          <a:xfrm rot="-5400000">
            <a:off x="7878763" y="2381250"/>
            <a:ext cx="679450" cy="63500"/>
            <a:chOff x="4130" y="2572"/>
            <a:chExt cx="428" cy="40"/>
          </a:xfrm>
        </p:grpSpPr>
        <p:sp>
          <p:nvSpPr>
            <p:cNvPr id="404559" name="Oval 79"/>
            <p:cNvSpPr>
              <a:spLocks noChangeArrowheads="1"/>
            </p:cNvSpPr>
            <p:nvPr/>
          </p:nvSpPr>
          <p:spPr bwMode="auto">
            <a:xfrm>
              <a:off x="4519" y="2572"/>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60" name="Oval 80"/>
            <p:cNvSpPr>
              <a:spLocks noChangeArrowheads="1"/>
            </p:cNvSpPr>
            <p:nvPr/>
          </p:nvSpPr>
          <p:spPr bwMode="auto">
            <a:xfrm>
              <a:off x="4260" y="2572"/>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61" name="Oval 81"/>
            <p:cNvSpPr>
              <a:spLocks noChangeArrowheads="1"/>
            </p:cNvSpPr>
            <p:nvPr/>
          </p:nvSpPr>
          <p:spPr bwMode="auto">
            <a:xfrm>
              <a:off x="4393" y="2572"/>
              <a:ext cx="38"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62" name="Oval 82"/>
            <p:cNvSpPr>
              <a:spLocks noChangeArrowheads="1"/>
            </p:cNvSpPr>
            <p:nvPr/>
          </p:nvSpPr>
          <p:spPr bwMode="auto">
            <a:xfrm>
              <a:off x="4130" y="2573"/>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 name="Group 83"/>
          <p:cNvGrpSpPr>
            <a:grpSpLocks/>
          </p:cNvGrpSpPr>
          <p:nvPr/>
        </p:nvGrpSpPr>
        <p:grpSpPr bwMode="auto">
          <a:xfrm rot="-5400000">
            <a:off x="6321425" y="2386013"/>
            <a:ext cx="679450" cy="63500"/>
            <a:chOff x="4130" y="2572"/>
            <a:chExt cx="428" cy="40"/>
          </a:xfrm>
        </p:grpSpPr>
        <p:sp>
          <p:nvSpPr>
            <p:cNvPr id="404564" name="Oval 84"/>
            <p:cNvSpPr>
              <a:spLocks noChangeArrowheads="1"/>
            </p:cNvSpPr>
            <p:nvPr/>
          </p:nvSpPr>
          <p:spPr bwMode="auto">
            <a:xfrm>
              <a:off x="4519" y="2572"/>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65" name="Oval 85"/>
            <p:cNvSpPr>
              <a:spLocks noChangeArrowheads="1"/>
            </p:cNvSpPr>
            <p:nvPr/>
          </p:nvSpPr>
          <p:spPr bwMode="auto">
            <a:xfrm>
              <a:off x="4260" y="2572"/>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66" name="Oval 86"/>
            <p:cNvSpPr>
              <a:spLocks noChangeArrowheads="1"/>
            </p:cNvSpPr>
            <p:nvPr/>
          </p:nvSpPr>
          <p:spPr bwMode="auto">
            <a:xfrm>
              <a:off x="4393" y="2572"/>
              <a:ext cx="38"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67" name="Oval 87"/>
            <p:cNvSpPr>
              <a:spLocks noChangeArrowheads="1"/>
            </p:cNvSpPr>
            <p:nvPr/>
          </p:nvSpPr>
          <p:spPr bwMode="auto">
            <a:xfrm>
              <a:off x="4130" y="2573"/>
              <a:ext cx="39" cy="39"/>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 name="Group 88"/>
          <p:cNvGrpSpPr>
            <a:grpSpLocks/>
          </p:cNvGrpSpPr>
          <p:nvPr/>
        </p:nvGrpSpPr>
        <p:grpSpPr bwMode="auto">
          <a:xfrm>
            <a:off x="6324600" y="3243263"/>
            <a:ext cx="2209800" cy="1074737"/>
            <a:chOff x="1344" y="2635"/>
            <a:chExt cx="1392" cy="677"/>
          </a:xfrm>
        </p:grpSpPr>
        <p:sp>
          <p:nvSpPr>
            <p:cNvPr id="404569" name="Line 89"/>
            <p:cNvSpPr>
              <a:spLocks noChangeShapeType="1"/>
            </p:cNvSpPr>
            <p:nvPr/>
          </p:nvSpPr>
          <p:spPr bwMode="auto">
            <a:xfrm>
              <a:off x="1488" y="2736"/>
              <a:ext cx="0" cy="57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70" name="Line 90"/>
            <p:cNvSpPr>
              <a:spLocks noChangeShapeType="1"/>
            </p:cNvSpPr>
            <p:nvPr/>
          </p:nvSpPr>
          <p:spPr bwMode="auto">
            <a:xfrm>
              <a:off x="1488" y="3312"/>
              <a:ext cx="110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71" name="Line 91"/>
            <p:cNvSpPr>
              <a:spLocks noChangeShapeType="1"/>
            </p:cNvSpPr>
            <p:nvPr/>
          </p:nvSpPr>
          <p:spPr bwMode="auto">
            <a:xfrm>
              <a:off x="2592" y="2736"/>
              <a:ext cx="0" cy="57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72" name="Line 92"/>
            <p:cNvSpPr>
              <a:spLocks noChangeShapeType="1"/>
            </p:cNvSpPr>
            <p:nvPr/>
          </p:nvSpPr>
          <p:spPr bwMode="auto">
            <a:xfrm>
              <a:off x="1344" y="2736"/>
              <a:ext cx="629"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73" name="Line 93"/>
            <p:cNvSpPr>
              <a:spLocks noChangeShapeType="1"/>
            </p:cNvSpPr>
            <p:nvPr/>
          </p:nvSpPr>
          <p:spPr bwMode="auto">
            <a:xfrm>
              <a:off x="2112" y="2736"/>
              <a:ext cx="62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74" name="Line 94"/>
            <p:cNvSpPr>
              <a:spLocks noChangeShapeType="1"/>
            </p:cNvSpPr>
            <p:nvPr/>
          </p:nvSpPr>
          <p:spPr bwMode="auto">
            <a:xfrm flipV="1">
              <a:off x="1968" y="2635"/>
              <a:ext cx="67" cy="101"/>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75" name="Line 95"/>
            <p:cNvSpPr>
              <a:spLocks noChangeShapeType="1"/>
            </p:cNvSpPr>
            <p:nvPr/>
          </p:nvSpPr>
          <p:spPr bwMode="auto">
            <a:xfrm flipV="1">
              <a:off x="2045" y="2736"/>
              <a:ext cx="67" cy="101"/>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76" name="Line 96"/>
            <p:cNvSpPr>
              <a:spLocks noChangeShapeType="1"/>
            </p:cNvSpPr>
            <p:nvPr/>
          </p:nvSpPr>
          <p:spPr bwMode="auto">
            <a:xfrm>
              <a:off x="2040" y="2640"/>
              <a:ext cx="0" cy="19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04577" name="Line 97"/>
          <p:cNvSpPr>
            <a:spLocks noChangeShapeType="1"/>
          </p:cNvSpPr>
          <p:nvPr/>
        </p:nvSpPr>
        <p:spPr bwMode="auto">
          <a:xfrm>
            <a:off x="6675438" y="3403600"/>
            <a:ext cx="0" cy="91440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78" name="Line 98"/>
          <p:cNvSpPr>
            <a:spLocks noChangeShapeType="1"/>
          </p:cNvSpPr>
          <p:nvPr/>
        </p:nvSpPr>
        <p:spPr bwMode="auto">
          <a:xfrm>
            <a:off x="8183563" y="3403600"/>
            <a:ext cx="0" cy="91440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79" name="Oval 99"/>
          <p:cNvSpPr>
            <a:spLocks noChangeArrowheads="1"/>
          </p:cNvSpPr>
          <p:nvPr/>
        </p:nvSpPr>
        <p:spPr bwMode="auto">
          <a:xfrm>
            <a:off x="7696200" y="2336800"/>
            <a:ext cx="152400" cy="152400"/>
          </a:xfrm>
          <a:prstGeom prst="ellipse">
            <a:avLst/>
          </a:prstGeom>
          <a:solidFill>
            <a:srgbClr val="A50021"/>
          </a:solidFill>
          <a:ln w="9525" algn="ctr">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80" name="Line 100"/>
          <p:cNvSpPr>
            <a:spLocks noChangeShapeType="1"/>
          </p:cNvSpPr>
          <p:nvPr/>
        </p:nvSpPr>
        <p:spPr bwMode="auto">
          <a:xfrm>
            <a:off x="7772400" y="3022600"/>
            <a:ext cx="0" cy="38100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81" name="Line 101"/>
          <p:cNvSpPr>
            <a:spLocks noChangeShapeType="1"/>
          </p:cNvSpPr>
          <p:nvPr/>
        </p:nvSpPr>
        <p:spPr bwMode="auto">
          <a:xfrm>
            <a:off x="6673850" y="4318000"/>
            <a:ext cx="0" cy="381000"/>
          </a:xfrm>
          <a:prstGeom prst="line">
            <a:avLst/>
          </a:prstGeom>
          <a:noFill/>
          <a:ln w="571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82" name="Line 102"/>
          <p:cNvSpPr>
            <a:spLocks noChangeShapeType="1"/>
          </p:cNvSpPr>
          <p:nvPr/>
        </p:nvSpPr>
        <p:spPr bwMode="auto">
          <a:xfrm flipV="1">
            <a:off x="8191500" y="4340225"/>
            <a:ext cx="0" cy="381000"/>
          </a:xfrm>
          <a:prstGeom prst="line">
            <a:avLst/>
          </a:prstGeom>
          <a:noFill/>
          <a:ln w="571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 name="Group 103"/>
          <p:cNvGrpSpPr>
            <a:grpSpLocks/>
          </p:cNvGrpSpPr>
          <p:nvPr/>
        </p:nvGrpSpPr>
        <p:grpSpPr bwMode="auto">
          <a:xfrm>
            <a:off x="7086600" y="4306888"/>
            <a:ext cx="1222375" cy="328612"/>
            <a:chOff x="1824" y="3449"/>
            <a:chExt cx="770" cy="207"/>
          </a:xfrm>
        </p:grpSpPr>
        <p:grpSp>
          <p:nvGrpSpPr>
            <p:cNvPr id="6" name="Group 104"/>
            <p:cNvGrpSpPr>
              <a:grpSpLocks/>
            </p:cNvGrpSpPr>
            <p:nvPr/>
          </p:nvGrpSpPr>
          <p:grpSpPr bwMode="auto">
            <a:xfrm>
              <a:off x="1824" y="3456"/>
              <a:ext cx="770" cy="200"/>
              <a:chOff x="1824" y="3456"/>
              <a:chExt cx="770" cy="200"/>
            </a:xfrm>
          </p:grpSpPr>
          <p:sp>
            <p:nvSpPr>
              <p:cNvPr id="404585" name="Freeform 105"/>
              <p:cNvSpPr>
                <a:spLocks/>
              </p:cNvSpPr>
              <p:nvPr/>
            </p:nvSpPr>
            <p:spPr bwMode="auto">
              <a:xfrm>
                <a:off x="1824" y="3456"/>
                <a:ext cx="770" cy="200"/>
              </a:xfrm>
              <a:custGeom>
                <a:avLst/>
                <a:gdLst>
                  <a:gd name="T0" fmla="*/ 0 w 770"/>
                  <a:gd name="T1" fmla="*/ 0 h 200"/>
                  <a:gd name="T2" fmla="*/ 101 w 770"/>
                  <a:gd name="T3" fmla="*/ 106 h 200"/>
                  <a:gd name="T4" fmla="*/ 283 w 770"/>
                  <a:gd name="T5" fmla="*/ 182 h 200"/>
                  <a:gd name="T6" fmla="*/ 446 w 770"/>
                  <a:gd name="T7" fmla="*/ 197 h 200"/>
                  <a:gd name="T8" fmla="*/ 770 w 770"/>
                  <a:gd name="T9" fmla="*/ 198 h 200"/>
                </a:gdLst>
                <a:ahLst/>
                <a:cxnLst>
                  <a:cxn ang="0">
                    <a:pos x="T0" y="T1"/>
                  </a:cxn>
                  <a:cxn ang="0">
                    <a:pos x="T2" y="T3"/>
                  </a:cxn>
                  <a:cxn ang="0">
                    <a:pos x="T4" y="T5"/>
                  </a:cxn>
                  <a:cxn ang="0">
                    <a:pos x="T6" y="T7"/>
                  </a:cxn>
                  <a:cxn ang="0">
                    <a:pos x="T8" y="T9"/>
                  </a:cxn>
                </a:cxnLst>
                <a:rect l="0" t="0" r="r" b="b"/>
                <a:pathLst>
                  <a:path w="770" h="200">
                    <a:moveTo>
                      <a:pt x="0" y="0"/>
                    </a:moveTo>
                    <a:cubicBezTo>
                      <a:pt x="27" y="38"/>
                      <a:pt x="54" y="76"/>
                      <a:pt x="101" y="106"/>
                    </a:cubicBezTo>
                    <a:cubicBezTo>
                      <a:pt x="148" y="136"/>
                      <a:pt x="226" y="167"/>
                      <a:pt x="283" y="182"/>
                    </a:cubicBezTo>
                    <a:cubicBezTo>
                      <a:pt x="340" y="197"/>
                      <a:pt x="365" y="194"/>
                      <a:pt x="446" y="197"/>
                    </a:cubicBezTo>
                    <a:cubicBezTo>
                      <a:pt x="527" y="200"/>
                      <a:pt x="703" y="198"/>
                      <a:pt x="770" y="198"/>
                    </a:cubicBezTo>
                  </a:path>
                </a:pathLst>
              </a:custGeom>
              <a:noFill/>
              <a:ln w="952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86" name="Line 106"/>
              <p:cNvSpPr>
                <a:spLocks noChangeShapeType="1"/>
              </p:cNvSpPr>
              <p:nvPr/>
            </p:nvSpPr>
            <p:spPr bwMode="auto">
              <a:xfrm>
                <a:off x="2592" y="3456"/>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04587" name="Line 107"/>
            <p:cNvSpPr>
              <a:spLocks noChangeShapeType="1"/>
            </p:cNvSpPr>
            <p:nvPr/>
          </p:nvSpPr>
          <p:spPr bwMode="auto">
            <a:xfrm>
              <a:off x="2533" y="3463"/>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88" name="Line 108"/>
            <p:cNvSpPr>
              <a:spLocks noChangeShapeType="1"/>
            </p:cNvSpPr>
            <p:nvPr/>
          </p:nvSpPr>
          <p:spPr bwMode="auto">
            <a:xfrm>
              <a:off x="2478" y="3460"/>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89" name="Line 109"/>
            <p:cNvSpPr>
              <a:spLocks noChangeShapeType="1"/>
            </p:cNvSpPr>
            <p:nvPr/>
          </p:nvSpPr>
          <p:spPr bwMode="auto">
            <a:xfrm>
              <a:off x="2425" y="3459"/>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90" name="Line 110"/>
            <p:cNvSpPr>
              <a:spLocks noChangeShapeType="1"/>
            </p:cNvSpPr>
            <p:nvPr/>
          </p:nvSpPr>
          <p:spPr bwMode="auto">
            <a:xfrm>
              <a:off x="2370" y="3456"/>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91" name="Line 111"/>
            <p:cNvSpPr>
              <a:spLocks noChangeShapeType="1"/>
            </p:cNvSpPr>
            <p:nvPr/>
          </p:nvSpPr>
          <p:spPr bwMode="auto">
            <a:xfrm>
              <a:off x="2323" y="3463"/>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92" name="Line 112"/>
            <p:cNvSpPr>
              <a:spLocks noChangeShapeType="1"/>
            </p:cNvSpPr>
            <p:nvPr/>
          </p:nvSpPr>
          <p:spPr bwMode="auto">
            <a:xfrm>
              <a:off x="2268" y="3460"/>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93" name="Line 113"/>
            <p:cNvSpPr>
              <a:spLocks noChangeShapeType="1"/>
            </p:cNvSpPr>
            <p:nvPr/>
          </p:nvSpPr>
          <p:spPr bwMode="auto">
            <a:xfrm>
              <a:off x="2215" y="3459"/>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94" name="Line 114"/>
            <p:cNvSpPr>
              <a:spLocks noChangeShapeType="1"/>
            </p:cNvSpPr>
            <p:nvPr/>
          </p:nvSpPr>
          <p:spPr bwMode="auto">
            <a:xfrm>
              <a:off x="2160" y="3456"/>
              <a:ext cx="0" cy="19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95" name="Line 115"/>
            <p:cNvSpPr>
              <a:spLocks noChangeShapeType="1"/>
            </p:cNvSpPr>
            <p:nvPr/>
          </p:nvSpPr>
          <p:spPr bwMode="auto">
            <a:xfrm>
              <a:off x="2057" y="3453"/>
              <a:ext cx="0" cy="171"/>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96" name="Line 116"/>
            <p:cNvSpPr>
              <a:spLocks noChangeShapeType="1"/>
            </p:cNvSpPr>
            <p:nvPr/>
          </p:nvSpPr>
          <p:spPr bwMode="auto">
            <a:xfrm>
              <a:off x="2004" y="3452"/>
              <a:ext cx="1" cy="148"/>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97" name="Line 117"/>
            <p:cNvSpPr>
              <a:spLocks noChangeShapeType="1"/>
            </p:cNvSpPr>
            <p:nvPr/>
          </p:nvSpPr>
          <p:spPr bwMode="auto">
            <a:xfrm>
              <a:off x="1949" y="3449"/>
              <a:ext cx="0" cy="129"/>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98" name="Line 118"/>
            <p:cNvSpPr>
              <a:spLocks noChangeShapeType="1"/>
            </p:cNvSpPr>
            <p:nvPr/>
          </p:nvSpPr>
          <p:spPr bwMode="auto">
            <a:xfrm flipH="1">
              <a:off x="2110" y="3456"/>
              <a:ext cx="2" cy="183"/>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4599" name="Line 119"/>
            <p:cNvSpPr>
              <a:spLocks noChangeShapeType="1"/>
            </p:cNvSpPr>
            <p:nvPr/>
          </p:nvSpPr>
          <p:spPr bwMode="auto">
            <a:xfrm>
              <a:off x="1892" y="3461"/>
              <a:ext cx="0" cy="7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04600" name="Rectangle 120"/>
          <p:cNvSpPr>
            <a:spLocks noChangeArrowheads="1"/>
          </p:cNvSpPr>
          <p:nvPr/>
        </p:nvSpPr>
        <p:spPr bwMode="auto">
          <a:xfrm>
            <a:off x="7848600" y="2946400"/>
            <a:ext cx="368300"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rgbClr val="CC0000"/>
                </a:solidFill>
              </a:rPr>
              <a:t>N</a:t>
            </a:r>
          </a:p>
        </p:txBody>
      </p:sp>
      <p:sp>
        <p:nvSpPr>
          <p:cNvPr id="404601" name="Rectangle 121"/>
          <p:cNvSpPr>
            <a:spLocks noChangeArrowheads="1"/>
          </p:cNvSpPr>
          <p:nvPr/>
        </p:nvSpPr>
        <p:spPr bwMode="auto">
          <a:xfrm>
            <a:off x="6370638" y="4699000"/>
            <a:ext cx="736600"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zh-CN" sz="2000" i="1"/>
              <a:t>σ</a:t>
            </a:r>
            <a:r>
              <a:rPr lang="en-US" altLang="zh-CN" sz="2000" baseline="-25000"/>
              <a:t>s</a:t>
            </a:r>
            <a:r>
              <a:rPr lang="en-US" altLang="zh-CN" sz="2000" i="1"/>
              <a:t>A</a:t>
            </a:r>
            <a:r>
              <a:rPr lang="en-US" altLang="zh-CN" sz="2000" baseline="-25000"/>
              <a:t>s</a:t>
            </a:r>
            <a:endParaRPr lang="el-GR" altLang="zh-CN" sz="2000" baseline="-25000"/>
          </a:p>
        </p:txBody>
      </p:sp>
      <p:sp>
        <p:nvSpPr>
          <p:cNvPr id="404602" name="Rectangle 122"/>
          <p:cNvSpPr>
            <a:spLocks noChangeArrowheads="1"/>
          </p:cNvSpPr>
          <p:nvPr/>
        </p:nvSpPr>
        <p:spPr bwMode="auto">
          <a:xfrm>
            <a:off x="7820025" y="4699000"/>
            <a:ext cx="676275" cy="3667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t>f</a:t>
            </a:r>
            <a:r>
              <a:rPr lang="en-US" altLang="zh-CN" sz="2000" baseline="-25000"/>
              <a:t>s</a:t>
            </a:r>
            <a:r>
              <a:rPr lang="en-US" altLang="zh-CN" sz="2000" baseline="30000"/>
              <a:t>’</a:t>
            </a:r>
            <a:r>
              <a:rPr lang="en-US" altLang="zh-CN" sz="2000" i="1"/>
              <a:t>A</a:t>
            </a:r>
            <a:r>
              <a:rPr lang="en-US" altLang="zh-CN" sz="2000" baseline="30000"/>
              <a:t>’</a:t>
            </a:r>
            <a:r>
              <a:rPr lang="en-US" altLang="zh-CN" sz="2000" baseline="-25000"/>
              <a:t>s</a:t>
            </a:r>
            <a:endParaRPr lang="el-GR" altLang="zh-CN" sz="2000" baseline="-25000"/>
          </a:p>
        </p:txBody>
      </p:sp>
      <p:sp>
        <p:nvSpPr>
          <p:cNvPr id="404607" name="AutoShape 127"/>
          <p:cNvSpPr>
            <a:spLocks noChangeArrowheads="1"/>
          </p:cNvSpPr>
          <p:nvPr/>
        </p:nvSpPr>
        <p:spPr bwMode="auto">
          <a:xfrm rot="10800000">
            <a:off x="5943600" y="2032000"/>
            <a:ext cx="381000" cy="762000"/>
          </a:xfrm>
          <a:prstGeom prst="curvedLeftArrow">
            <a:avLst>
              <a:gd name="adj1" fmla="val 40000"/>
              <a:gd name="adj2" fmla="val 80000"/>
              <a:gd name="adj3" fmla="val 33333"/>
            </a:avLst>
          </a:prstGeom>
          <a:solidFill>
            <a:srgbClr val="FF00FF"/>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659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66595" name="Rectangle 3"/>
          <p:cNvSpPr>
            <a:spLocks noChangeArrowheads="1"/>
          </p:cNvSpPr>
          <p:nvPr/>
        </p:nvSpPr>
        <p:spPr bwMode="auto">
          <a:xfrm>
            <a:off x="611188" y="1066800"/>
            <a:ext cx="7847012"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20000"/>
              </a:lnSpc>
              <a:buClrTx/>
              <a:buFontTx/>
              <a:buNone/>
            </a:pPr>
            <a:r>
              <a:rPr lang="en-US" altLang="zh-CN" dirty="0">
                <a:solidFill>
                  <a:srgbClr val="990099"/>
                </a:solidFill>
              </a:rPr>
              <a:t>3.</a:t>
            </a:r>
            <a:r>
              <a:rPr lang="zh-CN" altLang="en-US" dirty="0">
                <a:solidFill>
                  <a:srgbClr val="990099"/>
                </a:solidFill>
              </a:rPr>
              <a:t>小偏心受压构件截面的配筋计算</a:t>
            </a:r>
          </a:p>
        </p:txBody>
      </p:sp>
      <p:sp>
        <p:nvSpPr>
          <p:cNvPr id="4" name="Rectangle 3"/>
          <p:cNvSpPr>
            <a:spLocks noChangeArrowheads="1"/>
          </p:cNvSpPr>
          <p:nvPr/>
        </p:nvSpPr>
        <p:spPr bwMode="auto">
          <a:xfrm>
            <a:off x="304800" y="1676400"/>
            <a:ext cx="1486553"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r>
              <a:rPr lang="zh-CN" altLang="en-US" dirty="0">
                <a:solidFill>
                  <a:srgbClr val="A50021"/>
                </a:solidFill>
              </a:rPr>
              <a:t>例题</a:t>
            </a:r>
            <a:r>
              <a:rPr lang="en-US" altLang="zh-CN" dirty="0">
                <a:solidFill>
                  <a:srgbClr val="A50021"/>
                </a:solidFill>
              </a:rPr>
              <a:t>7.7</a:t>
            </a:r>
            <a:endParaRPr lang="en-US" altLang="zh-CN" sz="2200" dirty="0"/>
          </a:p>
        </p:txBody>
      </p:sp>
      <p:sp>
        <p:nvSpPr>
          <p:cNvPr id="5" name="Rectangle 3"/>
          <p:cNvSpPr>
            <a:spLocks noChangeArrowheads="1"/>
          </p:cNvSpPr>
          <p:nvPr/>
        </p:nvSpPr>
        <p:spPr bwMode="auto">
          <a:xfrm>
            <a:off x="318247" y="2114579"/>
            <a:ext cx="8610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buClrTx/>
              <a:buFontTx/>
              <a:buNone/>
            </a:pPr>
            <a:r>
              <a:rPr lang="zh-CN" altLang="en-US" sz="2000" dirty="0"/>
              <a:t>已知钢筋混凝土矩形截面柱的截面尺寸为</a:t>
            </a:r>
            <a:r>
              <a:rPr lang="en-US" altLang="zh-CN" sz="2000" i="1" dirty="0" err="1"/>
              <a:t>b</a:t>
            </a:r>
            <a:r>
              <a:rPr lang="en-US" altLang="zh-CN" sz="2000" dirty="0" err="1"/>
              <a:t>×</a:t>
            </a:r>
            <a:r>
              <a:rPr lang="en-US" altLang="zh-CN" sz="2000" i="1" dirty="0" err="1"/>
              <a:t>h</a:t>
            </a:r>
            <a:r>
              <a:rPr lang="en-US" altLang="zh-CN" sz="2000" dirty="0"/>
              <a:t>=300mm×500mm</a:t>
            </a:r>
            <a:r>
              <a:rPr lang="zh-CN" altLang="en-US" sz="2000" dirty="0"/>
              <a:t>，柱的计算长度为</a:t>
            </a:r>
            <a:r>
              <a:rPr lang="en-US" altLang="zh-CN" sz="2000" i="1" dirty="0"/>
              <a:t>l</a:t>
            </a:r>
            <a:r>
              <a:rPr lang="en-US" altLang="zh-CN" sz="2000" baseline="-25000" dirty="0"/>
              <a:t>0</a:t>
            </a:r>
            <a:r>
              <a:rPr lang="en-US" altLang="zh-CN" sz="2000" dirty="0"/>
              <a:t>=6m</a:t>
            </a:r>
            <a:r>
              <a:rPr lang="zh-CN" altLang="en-US" sz="2000" dirty="0"/>
              <a:t>，承受轴向压力设计值</a:t>
            </a:r>
            <a:r>
              <a:rPr lang="en-US" altLang="zh-CN" sz="2000" i="1" dirty="0"/>
              <a:t>N</a:t>
            </a:r>
            <a:r>
              <a:rPr lang="en-US" altLang="zh-CN" sz="2000" dirty="0"/>
              <a:t>=2000kN</a:t>
            </a:r>
            <a:r>
              <a:rPr lang="zh-CN" altLang="en-US" sz="2000" dirty="0"/>
              <a:t>，弯矩设计值</a:t>
            </a:r>
            <a:r>
              <a:rPr lang="en-US" altLang="zh-CN" sz="2000" i="1" dirty="0"/>
              <a:t>M</a:t>
            </a:r>
            <a:r>
              <a:rPr lang="en-US" altLang="zh-CN" sz="2000" baseline="-25000" dirty="0"/>
              <a:t>1</a:t>
            </a:r>
            <a:r>
              <a:rPr lang="en-US" altLang="zh-CN" sz="2000" dirty="0"/>
              <a:t>=96kN·m</a:t>
            </a:r>
            <a:r>
              <a:rPr lang="zh-CN" altLang="en-US" sz="2000" dirty="0"/>
              <a:t>，</a:t>
            </a:r>
            <a:r>
              <a:rPr lang="en-US" altLang="zh-CN" sz="2000" i="1" dirty="0"/>
              <a:t>M</a:t>
            </a:r>
            <a:r>
              <a:rPr lang="en-US" altLang="zh-CN" sz="2000" baseline="-25000" dirty="0"/>
              <a:t>2</a:t>
            </a:r>
            <a:r>
              <a:rPr lang="en-US" altLang="zh-CN" sz="2000" dirty="0"/>
              <a:t>=120kN·m</a:t>
            </a:r>
            <a:r>
              <a:rPr lang="zh-CN" altLang="en-US" sz="2000" dirty="0"/>
              <a:t>，混凝土强度等级为</a:t>
            </a:r>
            <a:r>
              <a:rPr lang="en-US" altLang="zh-CN" sz="2000" dirty="0"/>
              <a:t>C40</a:t>
            </a:r>
            <a:r>
              <a:rPr lang="zh-CN" altLang="en-US" sz="2000" dirty="0"/>
              <a:t>，纵向钢筋用</a:t>
            </a:r>
            <a:r>
              <a:rPr lang="en-US" altLang="zh-CN" sz="2000" dirty="0"/>
              <a:t>HRB400</a:t>
            </a:r>
            <a:r>
              <a:rPr lang="zh-CN" altLang="en-US" sz="2000" dirty="0"/>
              <a:t>级钢筋，箍筋用</a:t>
            </a:r>
            <a:r>
              <a:rPr lang="en-US" altLang="zh-CN" sz="2000" dirty="0"/>
              <a:t>HPB335</a:t>
            </a:r>
            <a:r>
              <a:rPr lang="zh-CN" altLang="en-US" sz="2000" dirty="0"/>
              <a:t>级钢筋，</a:t>
            </a:r>
            <a:r>
              <a:rPr lang="en-US" altLang="zh-CN" sz="2000" i="1" dirty="0"/>
              <a:t>a</a:t>
            </a:r>
            <a:r>
              <a:rPr lang="en-US" altLang="zh-CN" sz="2000" i="1" baseline="-25000" dirty="0"/>
              <a:t>s</a:t>
            </a:r>
            <a:r>
              <a:rPr lang="en-US" altLang="zh-CN" sz="2000" i="1" dirty="0"/>
              <a:t>=a</a:t>
            </a:r>
            <a:r>
              <a:rPr lang="en-US" altLang="zh-CN" sz="2000" i="1" baseline="-25000" dirty="0"/>
              <a:t>s</a:t>
            </a:r>
            <a:r>
              <a:rPr lang="en-US" altLang="zh-CN" sz="2000" i="1" dirty="0"/>
              <a:t>’</a:t>
            </a:r>
            <a:r>
              <a:rPr lang="en-US" altLang="zh-CN" sz="2000" dirty="0"/>
              <a:t>=40mm</a:t>
            </a:r>
            <a:r>
              <a:rPr lang="zh-CN" altLang="en-US" sz="2000" dirty="0"/>
              <a:t>。要求计算截面配筋。</a:t>
            </a:r>
          </a:p>
        </p:txBody>
      </p:sp>
      <p:sp>
        <p:nvSpPr>
          <p:cNvPr id="6" name="Rectangle 3"/>
          <p:cNvSpPr>
            <a:spLocks noChangeArrowheads="1"/>
          </p:cNvSpPr>
          <p:nvPr/>
        </p:nvSpPr>
        <p:spPr bwMode="auto">
          <a:xfrm>
            <a:off x="304801" y="3789503"/>
            <a:ext cx="743276" cy="397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r>
              <a:rPr lang="zh-CN" altLang="en-US" sz="2200" dirty="0">
                <a:solidFill>
                  <a:srgbClr val="FF0000"/>
                </a:solidFill>
              </a:rPr>
              <a:t>解：</a:t>
            </a:r>
            <a:endParaRPr lang="en-US" altLang="zh-CN" sz="2200" dirty="0">
              <a:solidFill>
                <a:srgbClr val="FF0000"/>
              </a:solidFill>
            </a:endParaRPr>
          </a:p>
        </p:txBody>
      </p:sp>
      <p:sp>
        <p:nvSpPr>
          <p:cNvPr id="7" name="Rectangle 3"/>
          <p:cNvSpPr>
            <a:spLocks noChangeArrowheads="1"/>
          </p:cNvSpPr>
          <p:nvPr/>
        </p:nvSpPr>
        <p:spPr bwMode="auto">
          <a:xfrm>
            <a:off x="685800" y="3729335"/>
            <a:ext cx="35679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buClrTx/>
              <a:buFontTx/>
              <a:buNone/>
            </a:pPr>
            <a:r>
              <a:rPr lang="zh-CN" altLang="en-US" sz="2000" dirty="0"/>
              <a:t>（</a:t>
            </a:r>
            <a:r>
              <a:rPr lang="en-US" altLang="zh-CN" sz="2000" dirty="0"/>
              <a:t>1</a:t>
            </a:r>
            <a:r>
              <a:rPr lang="zh-CN" altLang="en-US" sz="2000" dirty="0"/>
              <a:t>）计算柱的设计弯矩值</a:t>
            </a:r>
          </a:p>
        </p:txBody>
      </p:sp>
      <p:graphicFrame>
        <p:nvGraphicFramePr>
          <p:cNvPr id="2" name="对象 1"/>
          <p:cNvGraphicFramePr>
            <a:graphicFrameLocks noChangeAspect="1"/>
          </p:cNvGraphicFramePr>
          <p:nvPr>
            <p:extLst>
              <p:ext uri="{D42A27DB-BD31-4B8C-83A1-F6EECF244321}">
                <p14:modId xmlns:p14="http://schemas.microsoft.com/office/powerpoint/2010/main" val="3121780236"/>
              </p:ext>
            </p:extLst>
          </p:nvPr>
        </p:nvGraphicFramePr>
        <p:xfrm>
          <a:off x="1055688" y="4217988"/>
          <a:ext cx="4002087" cy="576262"/>
        </p:xfrm>
        <a:graphic>
          <a:graphicData uri="http://schemas.openxmlformats.org/presentationml/2006/ole">
            <mc:AlternateContent xmlns:mc="http://schemas.openxmlformats.org/markup-compatibility/2006">
              <mc:Choice xmlns:v="urn:schemas-microsoft-com:vml" Requires="v">
                <p:oleObj spid="_x0000_s529606" name="Equation" r:id="rId3" imgW="3124080" imgH="444240" progId="Equation.DSMT4">
                  <p:embed/>
                </p:oleObj>
              </mc:Choice>
              <mc:Fallback>
                <p:oleObj name="Equation" r:id="rId3" imgW="3124080" imgH="444240" progId="Equation.DSMT4">
                  <p:embed/>
                  <p:pic>
                    <p:nvPicPr>
                      <p:cNvPr id="0" name="Picture 2"/>
                      <p:cNvPicPr>
                        <a:picLocks noChangeAspect="1" noChangeArrowheads="1"/>
                      </p:cNvPicPr>
                      <p:nvPr/>
                    </p:nvPicPr>
                    <p:blipFill>
                      <a:blip r:embed="rId4"/>
                      <a:srcRect/>
                      <a:stretch>
                        <a:fillRect/>
                      </a:stretch>
                    </p:blipFill>
                    <p:spPr bwMode="auto">
                      <a:xfrm>
                        <a:off x="1055688" y="4217988"/>
                        <a:ext cx="4002087"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287755980"/>
              </p:ext>
            </p:extLst>
          </p:nvPr>
        </p:nvGraphicFramePr>
        <p:xfrm>
          <a:off x="1020763" y="4884738"/>
          <a:ext cx="3627437" cy="560387"/>
        </p:xfrm>
        <a:graphic>
          <a:graphicData uri="http://schemas.openxmlformats.org/presentationml/2006/ole">
            <mc:AlternateContent xmlns:mc="http://schemas.openxmlformats.org/markup-compatibility/2006">
              <mc:Choice xmlns:v="urn:schemas-microsoft-com:vml" Requires="v">
                <p:oleObj spid="_x0000_s529607" name="Equation" r:id="rId5" imgW="2831760" imgH="431640" progId="">
                  <p:embed/>
                </p:oleObj>
              </mc:Choice>
              <mc:Fallback>
                <p:oleObj name="Equation" r:id="rId5" imgW="2831760" imgH="431640"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0763" y="4884738"/>
                        <a:ext cx="3627437" cy="560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Rectangle 3"/>
          <p:cNvSpPr>
            <a:spLocks noChangeArrowheads="1"/>
          </p:cNvSpPr>
          <p:nvPr/>
        </p:nvSpPr>
        <p:spPr bwMode="auto">
          <a:xfrm>
            <a:off x="966741" y="5410200"/>
            <a:ext cx="35679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buClrTx/>
              <a:buFontTx/>
              <a:buNone/>
            </a:pPr>
            <a:r>
              <a:rPr lang="zh-CN" altLang="en-US" sz="2000" dirty="0"/>
              <a:t>需考虑附加弯矩的影响。</a:t>
            </a:r>
          </a:p>
        </p:txBody>
      </p:sp>
      <p:graphicFrame>
        <p:nvGraphicFramePr>
          <p:cNvPr id="11" name="对象 10"/>
          <p:cNvGraphicFramePr>
            <a:graphicFrameLocks noChangeAspect="1"/>
          </p:cNvGraphicFramePr>
          <p:nvPr>
            <p:extLst>
              <p:ext uri="{D42A27DB-BD31-4B8C-83A1-F6EECF244321}">
                <p14:modId xmlns:p14="http://schemas.microsoft.com/office/powerpoint/2010/main" val="4282833476"/>
              </p:ext>
            </p:extLst>
          </p:nvPr>
        </p:nvGraphicFramePr>
        <p:xfrm>
          <a:off x="815041" y="6019800"/>
          <a:ext cx="3416300" cy="509587"/>
        </p:xfrm>
        <a:graphic>
          <a:graphicData uri="http://schemas.openxmlformats.org/presentationml/2006/ole">
            <mc:AlternateContent xmlns:mc="http://schemas.openxmlformats.org/markup-compatibility/2006">
              <mc:Choice xmlns:v="urn:schemas-microsoft-com:vml" Requires="v">
                <p:oleObj spid="_x0000_s529608" name="Equation" r:id="rId7" imgW="2666880" imgH="393480" progId="Equation.DSMT4">
                  <p:embed/>
                </p:oleObj>
              </mc:Choice>
              <mc:Fallback>
                <p:oleObj name="Equation" r:id="rId7" imgW="2666880" imgH="393480" progId="Equation.DSMT4">
                  <p:embed/>
                  <p:pic>
                    <p:nvPicPr>
                      <p:cNvPr id="0" name="Picture 4"/>
                      <p:cNvPicPr>
                        <a:picLocks noChangeAspect="1" noChangeArrowheads="1"/>
                      </p:cNvPicPr>
                      <p:nvPr/>
                    </p:nvPicPr>
                    <p:blipFill>
                      <a:blip r:embed="rId8"/>
                      <a:srcRect/>
                      <a:stretch>
                        <a:fillRect/>
                      </a:stretch>
                    </p:blipFill>
                    <p:spPr bwMode="auto">
                      <a:xfrm>
                        <a:off x="815041" y="6019800"/>
                        <a:ext cx="3416300" cy="50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966786233"/>
              </p:ext>
            </p:extLst>
          </p:nvPr>
        </p:nvGraphicFramePr>
        <p:xfrm>
          <a:off x="4956175" y="6126163"/>
          <a:ext cx="2749550" cy="295275"/>
        </p:xfrm>
        <a:graphic>
          <a:graphicData uri="http://schemas.openxmlformats.org/presentationml/2006/ole">
            <mc:AlternateContent xmlns:mc="http://schemas.openxmlformats.org/markup-compatibility/2006">
              <mc:Choice xmlns:v="urn:schemas-microsoft-com:vml" Requires="v">
                <p:oleObj spid="_x0000_s529609" name="Equation" r:id="rId9" imgW="2145960" imgH="228600" progId="Equation.DSMT4">
                  <p:embed/>
                </p:oleObj>
              </mc:Choice>
              <mc:Fallback>
                <p:oleObj name="Equation" r:id="rId9" imgW="2145960" imgH="228600" progId="Equation.DSMT4">
                  <p:embed/>
                  <p:pic>
                    <p:nvPicPr>
                      <p:cNvPr id="0" name="Picture 5"/>
                      <p:cNvPicPr>
                        <a:picLocks noChangeAspect="1" noChangeArrowheads="1"/>
                      </p:cNvPicPr>
                      <p:nvPr/>
                    </p:nvPicPr>
                    <p:blipFill>
                      <a:blip r:embed="rId10"/>
                      <a:srcRect/>
                      <a:stretch>
                        <a:fillRect/>
                      </a:stretch>
                    </p:blipFill>
                    <p:spPr bwMode="auto">
                      <a:xfrm>
                        <a:off x="4956175" y="6126163"/>
                        <a:ext cx="2749550"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181073518"/>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659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66595" name="Rectangle 3"/>
          <p:cNvSpPr>
            <a:spLocks noChangeArrowheads="1"/>
          </p:cNvSpPr>
          <p:nvPr/>
        </p:nvSpPr>
        <p:spPr bwMode="auto">
          <a:xfrm>
            <a:off x="611188" y="1066800"/>
            <a:ext cx="7847012"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20000"/>
              </a:lnSpc>
              <a:buClrTx/>
              <a:buFontTx/>
              <a:buNone/>
            </a:pPr>
            <a:r>
              <a:rPr lang="en-US" altLang="zh-CN" dirty="0">
                <a:solidFill>
                  <a:srgbClr val="990099"/>
                </a:solidFill>
              </a:rPr>
              <a:t>3.</a:t>
            </a:r>
            <a:r>
              <a:rPr lang="zh-CN" altLang="en-US" dirty="0">
                <a:solidFill>
                  <a:srgbClr val="990099"/>
                </a:solidFill>
              </a:rPr>
              <a:t>小偏心受压构件截面的配筋计算</a:t>
            </a:r>
          </a:p>
        </p:txBody>
      </p:sp>
      <p:sp>
        <p:nvSpPr>
          <p:cNvPr id="4" name="Rectangle 3"/>
          <p:cNvSpPr>
            <a:spLocks noChangeArrowheads="1"/>
          </p:cNvSpPr>
          <p:nvPr/>
        </p:nvSpPr>
        <p:spPr bwMode="auto">
          <a:xfrm>
            <a:off x="304800" y="1676400"/>
            <a:ext cx="1486553"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r>
              <a:rPr lang="zh-CN" altLang="en-US" dirty="0">
                <a:solidFill>
                  <a:srgbClr val="A50021"/>
                </a:solidFill>
              </a:rPr>
              <a:t>例题</a:t>
            </a:r>
            <a:r>
              <a:rPr lang="en-US" altLang="zh-CN" dirty="0">
                <a:solidFill>
                  <a:srgbClr val="A50021"/>
                </a:solidFill>
              </a:rPr>
              <a:t>7.7</a:t>
            </a:r>
            <a:endParaRPr lang="en-US" altLang="zh-CN" sz="2200" dirty="0"/>
          </a:p>
        </p:txBody>
      </p:sp>
      <p:sp>
        <p:nvSpPr>
          <p:cNvPr id="7" name="Rectangle 3"/>
          <p:cNvSpPr>
            <a:spLocks noChangeArrowheads="1"/>
          </p:cNvSpPr>
          <p:nvPr/>
        </p:nvSpPr>
        <p:spPr bwMode="auto">
          <a:xfrm>
            <a:off x="457200" y="4419600"/>
            <a:ext cx="35679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buClrTx/>
              <a:buFontTx/>
              <a:buNone/>
            </a:pPr>
            <a:r>
              <a:rPr lang="zh-CN" altLang="en-US" sz="2000" dirty="0"/>
              <a:t>（</a:t>
            </a:r>
            <a:r>
              <a:rPr lang="en-US" altLang="zh-CN" sz="2000" dirty="0"/>
              <a:t>2</a:t>
            </a:r>
            <a:r>
              <a:rPr lang="zh-CN" altLang="en-US" sz="2000" dirty="0"/>
              <a:t>）判断大小偏心</a:t>
            </a:r>
          </a:p>
        </p:txBody>
      </p:sp>
      <p:graphicFrame>
        <p:nvGraphicFramePr>
          <p:cNvPr id="2" name="对象 1"/>
          <p:cNvGraphicFramePr>
            <a:graphicFrameLocks noChangeAspect="1"/>
          </p:cNvGraphicFramePr>
          <p:nvPr>
            <p:extLst>
              <p:ext uri="{D42A27DB-BD31-4B8C-83A1-F6EECF244321}">
                <p14:modId xmlns:p14="http://schemas.microsoft.com/office/powerpoint/2010/main" val="286931611"/>
              </p:ext>
            </p:extLst>
          </p:nvPr>
        </p:nvGraphicFramePr>
        <p:xfrm>
          <a:off x="767735" y="2196680"/>
          <a:ext cx="3643312" cy="509587"/>
        </p:xfrm>
        <a:graphic>
          <a:graphicData uri="http://schemas.openxmlformats.org/presentationml/2006/ole">
            <mc:AlternateContent xmlns:mc="http://schemas.openxmlformats.org/markup-compatibility/2006">
              <mc:Choice xmlns:v="urn:schemas-microsoft-com:vml" Requires="v">
                <p:oleObj spid="_x0000_s530679" name="Equation" r:id="rId3" imgW="2844720" imgH="393480" progId="Equation.DSMT4">
                  <p:embed/>
                </p:oleObj>
              </mc:Choice>
              <mc:Fallback>
                <p:oleObj name="Equation" r:id="rId3" imgW="2844720" imgH="393480" progId="Equation.DSMT4">
                  <p:embed/>
                  <p:pic>
                    <p:nvPicPr>
                      <p:cNvPr id="0" name="Picture 2"/>
                      <p:cNvPicPr>
                        <a:picLocks noChangeAspect="1" noChangeArrowheads="1"/>
                      </p:cNvPicPr>
                      <p:nvPr/>
                    </p:nvPicPr>
                    <p:blipFill>
                      <a:blip r:embed="rId4"/>
                      <a:srcRect/>
                      <a:stretch>
                        <a:fillRect/>
                      </a:stretch>
                    </p:blipFill>
                    <p:spPr bwMode="auto">
                      <a:xfrm>
                        <a:off x="767735" y="2196680"/>
                        <a:ext cx="3643312" cy="50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205619345"/>
              </p:ext>
            </p:extLst>
          </p:nvPr>
        </p:nvGraphicFramePr>
        <p:xfrm>
          <a:off x="735013" y="2895600"/>
          <a:ext cx="7562850" cy="841375"/>
        </p:xfrm>
        <a:graphic>
          <a:graphicData uri="http://schemas.openxmlformats.org/presentationml/2006/ole">
            <mc:AlternateContent xmlns:mc="http://schemas.openxmlformats.org/markup-compatibility/2006">
              <mc:Choice xmlns:v="urn:schemas-microsoft-com:vml" Requires="v">
                <p:oleObj spid="_x0000_s530680" name="Equation" r:id="rId5" imgW="5905440" imgH="647640" progId="Equation.DSMT4">
                  <p:embed/>
                </p:oleObj>
              </mc:Choice>
              <mc:Fallback>
                <p:oleObj name="Equation" r:id="rId5" imgW="5905440" imgH="647640" progId="Equation.DSMT4">
                  <p:embed/>
                  <p:pic>
                    <p:nvPicPr>
                      <p:cNvPr id="0" name="Picture 3"/>
                      <p:cNvPicPr>
                        <a:picLocks noChangeAspect="1" noChangeArrowheads="1"/>
                      </p:cNvPicPr>
                      <p:nvPr/>
                    </p:nvPicPr>
                    <p:blipFill>
                      <a:blip r:embed="rId6"/>
                      <a:srcRect/>
                      <a:stretch>
                        <a:fillRect/>
                      </a:stretch>
                    </p:blipFill>
                    <p:spPr bwMode="auto">
                      <a:xfrm>
                        <a:off x="735013" y="2895600"/>
                        <a:ext cx="7562850" cy="84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593603768"/>
              </p:ext>
            </p:extLst>
          </p:nvPr>
        </p:nvGraphicFramePr>
        <p:xfrm>
          <a:off x="746125" y="3971925"/>
          <a:ext cx="4538663" cy="295275"/>
        </p:xfrm>
        <a:graphic>
          <a:graphicData uri="http://schemas.openxmlformats.org/presentationml/2006/ole">
            <mc:AlternateContent xmlns:mc="http://schemas.openxmlformats.org/markup-compatibility/2006">
              <mc:Choice xmlns:v="urn:schemas-microsoft-com:vml" Requires="v">
                <p:oleObj spid="_x0000_s530681" name="Equation" r:id="rId7" imgW="3543120" imgH="228600" progId="Equation.DSMT4">
                  <p:embed/>
                </p:oleObj>
              </mc:Choice>
              <mc:Fallback>
                <p:oleObj name="Equation" r:id="rId7" imgW="3543120" imgH="228600" progId="Equation.DSMT4">
                  <p:embed/>
                  <p:pic>
                    <p:nvPicPr>
                      <p:cNvPr id="0" name="Picture 4"/>
                      <p:cNvPicPr>
                        <a:picLocks noChangeAspect="1" noChangeArrowheads="1"/>
                      </p:cNvPicPr>
                      <p:nvPr/>
                    </p:nvPicPr>
                    <p:blipFill>
                      <a:blip r:embed="rId8"/>
                      <a:srcRect/>
                      <a:stretch>
                        <a:fillRect/>
                      </a:stretch>
                    </p:blipFill>
                    <p:spPr bwMode="auto">
                      <a:xfrm>
                        <a:off x="746125" y="3971925"/>
                        <a:ext cx="4538663"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315928231"/>
              </p:ext>
            </p:extLst>
          </p:nvPr>
        </p:nvGraphicFramePr>
        <p:xfrm>
          <a:off x="1039813" y="4953000"/>
          <a:ext cx="3659187" cy="312738"/>
        </p:xfrm>
        <a:graphic>
          <a:graphicData uri="http://schemas.openxmlformats.org/presentationml/2006/ole">
            <mc:AlternateContent xmlns:mc="http://schemas.openxmlformats.org/markup-compatibility/2006">
              <mc:Choice xmlns:v="urn:schemas-microsoft-com:vml" Requires="v">
                <p:oleObj spid="_x0000_s530682" name="Equation" r:id="rId9" imgW="2857320" imgH="241200" progId="Equation.DSMT4">
                  <p:embed/>
                </p:oleObj>
              </mc:Choice>
              <mc:Fallback>
                <p:oleObj name="Equation" r:id="rId9" imgW="2857320" imgH="241200" progId="Equation.DSMT4">
                  <p:embed/>
                  <p:pic>
                    <p:nvPicPr>
                      <p:cNvPr id="0" name="Picture 5"/>
                      <p:cNvPicPr>
                        <a:picLocks noChangeAspect="1" noChangeArrowheads="1"/>
                      </p:cNvPicPr>
                      <p:nvPr/>
                    </p:nvPicPr>
                    <p:blipFill>
                      <a:blip r:embed="rId10"/>
                      <a:srcRect/>
                      <a:stretch>
                        <a:fillRect/>
                      </a:stretch>
                    </p:blipFill>
                    <p:spPr bwMode="auto">
                      <a:xfrm>
                        <a:off x="1039813" y="4953000"/>
                        <a:ext cx="3659187"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514031595"/>
              </p:ext>
            </p:extLst>
          </p:nvPr>
        </p:nvGraphicFramePr>
        <p:xfrm>
          <a:off x="1023938" y="5486400"/>
          <a:ext cx="4846637" cy="296863"/>
        </p:xfrm>
        <a:graphic>
          <a:graphicData uri="http://schemas.openxmlformats.org/presentationml/2006/ole">
            <mc:AlternateContent xmlns:mc="http://schemas.openxmlformats.org/markup-compatibility/2006">
              <mc:Choice xmlns:v="urn:schemas-microsoft-com:vml" Requires="v">
                <p:oleObj spid="_x0000_s530683" name="Equation" r:id="rId11" imgW="3784320" imgH="228600" progId="Equation.DSMT4">
                  <p:embed/>
                </p:oleObj>
              </mc:Choice>
              <mc:Fallback>
                <p:oleObj name="Equation" r:id="rId11" imgW="3784320" imgH="228600" progId="Equation.DSMT4">
                  <p:embed/>
                  <p:pic>
                    <p:nvPicPr>
                      <p:cNvPr id="0" name="Picture 6"/>
                      <p:cNvPicPr>
                        <a:picLocks noChangeAspect="1" noChangeArrowheads="1"/>
                      </p:cNvPicPr>
                      <p:nvPr/>
                    </p:nvPicPr>
                    <p:blipFill>
                      <a:blip r:embed="rId12"/>
                      <a:srcRect/>
                      <a:stretch>
                        <a:fillRect/>
                      </a:stretch>
                    </p:blipFill>
                    <p:spPr bwMode="auto">
                      <a:xfrm>
                        <a:off x="1023938" y="5486400"/>
                        <a:ext cx="4846637" cy="29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Rectangle 3"/>
          <p:cNvSpPr>
            <a:spLocks noChangeArrowheads="1"/>
          </p:cNvSpPr>
          <p:nvPr/>
        </p:nvSpPr>
        <p:spPr bwMode="auto">
          <a:xfrm>
            <a:off x="1048076" y="5943600"/>
            <a:ext cx="35679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buClrTx/>
              <a:buFontTx/>
              <a:buNone/>
            </a:pPr>
            <a:r>
              <a:rPr lang="zh-CN" altLang="en-US" sz="2000" dirty="0"/>
              <a:t>属于小偏心受压</a:t>
            </a:r>
          </a:p>
        </p:txBody>
      </p:sp>
    </p:spTree>
    <p:extLst>
      <p:ext uri="{BB962C8B-B14F-4D97-AF65-F5344CB8AC3E}">
        <p14:creationId xmlns:p14="http://schemas.microsoft.com/office/powerpoint/2010/main" val="2657340008"/>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659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66595" name="Rectangle 3"/>
          <p:cNvSpPr>
            <a:spLocks noChangeArrowheads="1"/>
          </p:cNvSpPr>
          <p:nvPr/>
        </p:nvSpPr>
        <p:spPr bwMode="auto">
          <a:xfrm>
            <a:off x="611188" y="1066800"/>
            <a:ext cx="7847012"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20000"/>
              </a:lnSpc>
              <a:buClrTx/>
              <a:buFontTx/>
              <a:buNone/>
            </a:pPr>
            <a:r>
              <a:rPr lang="en-US" altLang="zh-CN" dirty="0">
                <a:solidFill>
                  <a:srgbClr val="990099"/>
                </a:solidFill>
              </a:rPr>
              <a:t>3.</a:t>
            </a:r>
            <a:r>
              <a:rPr lang="zh-CN" altLang="en-US" dirty="0">
                <a:solidFill>
                  <a:srgbClr val="990099"/>
                </a:solidFill>
              </a:rPr>
              <a:t>小偏心受压构件截面的配筋计算</a:t>
            </a:r>
          </a:p>
        </p:txBody>
      </p:sp>
      <p:sp>
        <p:nvSpPr>
          <p:cNvPr id="4" name="Rectangle 3"/>
          <p:cNvSpPr>
            <a:spLocks noChangeArrowheads="1"/>
          </p:cNvSpPr>
          <p:nvPr/>
        </p:nvSpPr>
        <p:spPr bwMode="auto">
          <a:xfrm>
            <a:off x="304800" y="1676400"/>
            <a:ext cx="1486553"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r>
              <a:rPr lang="zh-CN" altLang="en-US" dirty="0">
                <a:solidFill>
                  <a:srgbClr val="A50021"/>
                </a:solidFill>
              </a:rPr>
              <a:t>例题</a:t>
            </a:r>
            <a:r>
              <a:rPr lang="en-US" altLang="zh-CN" dirty="0">
                <a:solidFill>
                  <a:srgbClr val="A50021"/>
                </a:solidFill>
              </a:rPr>
              <a:t>7.7</a:t>
            </a:r>
            <a:endParaRPr lang="en-US" altLang="zh-CN" sz="2200" dirty="0"/>
          </a:p>
        </p:txBody>
      </p:sp>
      <p:sp>
        <p:nvSpPr>
          <p:cNvPr id="7" name="Rectangle 3"/>
          <p:cNvSpPr>
            <a:spLocks noChangeArrowheads="1"/>
          </p:cNvSpPr>
          <p:nvPr/>
        </p:nvSpPr>
        <p:spPr bwMode="auto">
          <a:xfrm>
            <a:off x="1600200" y="1656305"/>
            <a:ext cx="3567953" cy="426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buClrTx/>
              <a:buFontTx/>
              <a:buNone/>
            </a:pPr>
            <a:r>
              <a:rPr lang="zh-CN" altLang="en-US" sz="2000" dirty="0"/>
              <a:t>（</a:t>
            </a:r>
            <a:r>
              <a:rPr lang="en-US" altLang="zh-CN" sz="2000" dirty="0"/>
              <a:t>3</a:t>
            </a:r>
            <a:r>
              <a:rPr lang="zh-CN" altLang="en-US" sz="2000" dirty="0"/>
              <a:t>）选定</a:t>
            </a:r>
            <a:r>
              <a:rPr lang="en-US" altLang="zh-CN" sz="2000" dirty="0"/>
              <a:t>A</a:t>
            </a:r>
            <a:r>
              <a:rPr lang="en-US" altLang="zh-CN" sz="2000" baseline="-25000" dirty="0"/>
              <a:t>s</a:t>
            </a:r>
            <a:endParaRPr lang="zh-CN" altLang="en-US" sz="2000" baseline="-25000" dirty="0"/>
          </a:p>
        </p:txBody>
      </p:sp>
      <p:graphicFrame>
        <p:nvGraphicFramePr>
          <p:cNvPr id="2" name="对象 1"/>
          <p:cNvGraphicFramePr>
            <a:graphicFrameLocks noChangeAspect="1"/>
          </p:cNvGraphicFramePr>
          <p:nvPr>
            <p:extLst>
              <p:ext uri="{D42A27DB-BD31-4B8C-83A1-F6EECF244321}">
                <p14:modId xmlns:p14="http://schemas.microsoft.com/office/powerpoint/2010/main" val="3883663505"/>
              </p:ext>
            </p:extLst>
          </p:nvPr>
        </p:nvGraphicFramePr>
        <p:xfrm>
          <a:off x="1581150" y="2136775"/>
          <a:ext cx="4376738" cy="296863"/>
        </p:xfrm>
        <a:graphic>
          <a:graphicData uri="http://schemas.openxmlformats.org/presentationml/2006/ole">
            <mc:AlternateContent xmlns:mc="http://schemas.openxmlformats.org/markup-compatibility/2006">
              <mc:Choice xmlns:v="urn:schemas-microsoft-com:vml" Requires="v">
                <p:oleObj spid="_x0000_s532008" name="Equation" r:id="rId3" imgW="3416040" imgH="228600" progId="Equation.DSMT4">
                  <p:embed/>
                </p:oleObj>
              </mc:Choice>
              <mc:Fallback>
                <p:oleObj name="Equation" r:id="rId3" imgW="3416040" imgH="228600" progId="Equation.DSMT4">
                  <p:embed/>
                  <p:pic>
                    <p:nvPicPr>
                      <p:cNvPr id="0" name="Picture 2"/>
                      <p:cNvPicPr>
                        <a:picLocks noChangeAspect="1" noChangeArrowheads="1"/>
                      </p:cNvPicPr>
                      <p:nvPr/>
                    </p:nvPicPr>
                    <p:blipFill>
                      <a:blip r:embed="rId4"/>
                      <a:srcRect/>
                      <a:stretch>
                        <a:fillRect/>
                      </a:stretch>
                    </p:blipFill>
                    <p:spPr bwMode="auto">
                      <a:xfrm>
                        <a:off x="1581150" y="2136775"/>
                        <a:ext cx="4376738" cy="29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981587688"/>
              </p:ext>
            </p:extLst>
          </p:nvPr>
        </p:nvGraphicFramePr>
        <p:xfrm>
          <a:off x="1049338" y="2932113"/>
          <a:ext cx="3302000" cy="312737"/>
        </p:xfrm>
        <a:graphic>
          <a:graphicData uri="http://schemas.openxmlformats.org/presentationml/2006/ole">
            <mc:AlternateContent xmlns:mc="http://schemas.openxmlformats.org/markup-compatibility/2006">
              <mc:Choice xmlns:v="urn:schemas-microsoft-com:vml" Requires="v">
                <p:oleObj spid="_x0000_s532009" name="Equation" r:id="rId5" imgW="2577960" imgH="241200" progId="Equation.DSMT4">
                  <p:embed/>
                </p:oleObj>
              </mc:Choice>
              <mc:Fallback>
                <p:oleObj name="Equation" r:id="rId5" imgW="2577960" imgH="241200" progId="Equation.DSMT4">
                  <p:embed/>
                  <p:pic>
                    <p:nvPicPr>
                      <p:cNvPr id="0" name="Picture 3"/>
                      <p:cNvPicPr>
                        <a:picLocks noChangeAspect="1" noChangeArrowheads="1"/>
                      </p:cNvPicPr>
                      <p:nvPr/>
                    </p:nvPicPr>
                    <p:blipFill>
                      <a:blip r:embed="rId6"/>
                      <a:srcRect/>
                      <a:stretch>
                        <a:fillRect/>
                      </a:stretch>
                    </p:blipFill>
                    <p:spPr bwMode="auto">
                      <a:xfrm>
                        <a:off x="1049338" y="2932113"/>
                        <a:ext cx="3302000" cy="31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331963081"/>
              </p:ext>
            </p:extLst>
          </p:nvPr>
        </p:nvGraphicFramePr>
        <p:xfrm>
          <a:off x="4619625" y="2857500"/>
          <a:ext cx="3189288" cy="311150"/>
        </p:xfrm>
        <a:graphic>
          <a:graphicData uri="http://schemas.openxmlformats.org/presentationml/2006/ole">
            <mc:AlternateContent xmlns:mc="http://schemas.openxmlformats.org/markup-compatibility/2006">
              <mc:Choice xmlns:v="urn:schemas-microsoft-com:vml" Requires="v">
                <p:oleObj spid="_x0000_s532010" name="Equation" r:id="rId7" imgW="2489040" imgH="241200" progId="Equation.DSMT4">
                  <p:embed/>
                </p:oleObj>
              </mc:Choice>
              <mc:Fallback>
                <p:oleObj name="Equation" r:id="rId7" imgW="2489040" imgH="241200" progId="Equation.DSMT4">
                  <p:embed/>
                  <p:pic>
                    <p:nvPicPr>
                      <p:cNvPr id="0" name="Picture 4"/>
                      <p:cNvPicPr>
                        <a:picLocks noChangeAspect="1" noChangeArrowheads="1"/>
                      </p:cNvPicPr>
                      <p:nvPr/>
                    </p:nvPicPr>
                    <p:blipFill>
                      <a:blip r:embed="rId8"/>
                      <a:srcRect/>
                      <a:stretch>
                        <a:fillRect/>
                      </a:stretch>
                    </p:blipFill>
                    <p:spPr bwMode="auto">
                      <a:xfrm>
                        <a:off x="4619625" y="2857500"/>
                        <a:ext cx="3189288"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846692472"/>
              </p:ext>
            </p:extLst>
          </p:nvPr>
        </p:nvGraphicFramePr>
        <p:xfrm>
          <a:off x="5418138" y="3733800"/>
          <a:ext cx="3168650" cy="922338"/>
        </p:xfrm>
        <a:graphic>
          <a:graphicData uri="http://schemas.openxmlformats.org/presentationml/2006/ole">
            <mc:AlternateContent xmlns:mc="http://schemas.openxmlformats.org/markup-compatibility/2006">
              <mc:Choice xmlns:v="urn:schemas-microsoft-com:vml" Requires="v">
                <p:oleObj spid="_x0000_s532011" name="Equation" r:id="rId9" imgW="2476440" imgH="711000" progId="Equation.DSMT4">
                  <p:embed/>
                </p:oleObj>
              </mc:Choice>
              <mc:Fallback>
                <p:oleObj name="Equation" r:id="rId9" imgW="2476440" imgH="711000" progId="Equation.DSMT4">
                  <p:embed/>
                  <p:pic>
                    <p:nvPicPr>
                      <p:cNvPr id="0" name="Picture 5"/>
                      <p:cNvPicPr>
                        <a:picLocks noChangeAspect="1" noChangeArrowheads="1"/>
                      </p:cNvPicPr>
                      <p:nvPr/>
                    </p:nvPicPr>
                    <p:blipFill>
                      <a:blip r:embed="rId10"/>
                      <a:srcRect/>
                      <a:stretch>
                        <a:fillRect/>
                      </a:stretch>
                    </p:blipFill>
                    <p:spPr bwMode="auto">
                      <a:xfrm>
                        <a:off x="5418138" y="3733800"/>
                        <a:ext cx="3168650" cy="922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271019932"/>
              </p:ext>
            </p:extLst>
          </p:nvPr>
        </p:nvGraphicFramePr>
        <p:xfrm>
          <a:off x="1028700" y="3814763"/>
          <a:ext cx="3660775" cy="296862"/>
        </p:xfrm>
        <a:graphic>
          <a:graphicData uri="http://schemas.openxmlformats.org/presentationml/2006/ole">
            <mc:AlternateContent xmlns:mc="http://schemas.openxmlformats.org/markup-compatibility/2006">
              <mc:Choice xmlns:v="urn:schemas-microsoft-com:vml" Requires="v">
                <p:oleObj spid="_x0000_s532012" name="Equation" r:id="rId11" imgW="2857320" imgH="228600" progId="Equation.DSMT4">
                  <p:embed/>
                </p:oleObj>
              </mc:Choice>
              <mc:Fallback>
                <p:oleObj name="Equation" r:id="rId11" imgW="2857320" imgH="228600" progId="Equation.DSMT4">
                  <p:embed/>
                  <p:pic>
                    <p:nvPicPr>
                      <p:cNvPr id="0" name="Picture 6"/>
                      <p:cNvPicPr>
                        <a:picLocks noChangeAspect="1" noChangeArrowheads="1"/>
                      </p:cNvPicPr>
                      <p:nvPr/>
                    </p:nvPicPr>
                    <p:blipFill>
                      <a:blip r:embed="rId12"/>
                      <a:srcRect/>
                      <a:stretch>
                        <a:fillRect/>
                      </a:stretch>
                    </p:blipFill>
                    <p:spPr bwMode="auto">
                      <a:xfrm>
                        <a:off x="1028700" y="3814763"/>
                        <a:ext cx="3660775" cy="29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Rectangle 3"/>
          <p:cNvSpPr>
            <a:spLocks noChangeArrowheads="1"/>
          </p:cNvSpPr>
          <p:nvPr/>
        </p:nvSpPr>
        <p:spPr bwMode="auto">
          <a:xfrm>
            <a:off x="944329" y="2438400"/>
            <a:ext cx="408487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buClrTx/>
              <a:buFontTx/>
              <a:buNone/>
            </a:pPr>
            <a:r>
              <a:rPr lang="zh-CN" altLang="en-US" sz="2000" dirty="0"/>
              <a:t>故不需要按反向破坏验算，取</a:t>
            </a:r>
          </a:p>
        </p:txBody>
      </p:sp>
      <p:sp>
        <p:nvSpPr>
          <p:cNvPr id="15" name="Rectangle 3"/>
          <p:cNvSpPr>
            <a:spLocks noChangeArrowheads="1"/>
          </p:cNvSpPr>
          <p:nvPr/>
        </p:nvSpPr>
        <p:spPr bwMode="auto">
          <a:xfrm>
            <a:off x="762000" y="3352800"/>
            <a:ext cx="35679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buClrTx/>
              <a:buFontTx/>
              <a:buNone/>
            </a:pPr>
            <a:r>
              <a:rPr lang="zh-CN" altLang="en-US" sz="2000" dirty="0"/>
              <a:t>（</a:t>
            </a:r>
            <a:r>
              <a:rPr lang="en-US" altLang="zh-CN" sz="2000" dirty="0"/>
              <a:t>4</a:t>
            </a:r>
            <a:r>
              <a:rPr lang="zh-CN" altLang="en-US" sz="2000" dirty="0"/>
              <a:t>）计算选定</a:t>
            </a:r>
            <a:endParaRPr lang="zh-CN" altLang="en-US" sz="2000" baseline="-25000" dirty="0"/>
          </a:p>
        </p:txBody>
      </p:sp>
      <p:graphicFrame>
        <p:nvGraphicFramePr>
          <p:cNvPr id="16" name="对象 15"/>
          <p:cNvGraphicFramePr>
            <a:graphicFrameLocks noChangeAspect="1"/>
          </p:cNvGraphicFramePr>
          <p:nvPr>
            <p:extLst>
              <p:ext uri="{D42A27DB-BD31-4B8C-83A1-F6EECF244321}">
                <p14:modId xmlns:p14="http://schemas.microsoft.com/office/powerpoint/2010/main" val="3728853721"/>
              </p:ext>
            </p:extLst>
          </p:nvPr>
        </p:nvGraphicFramePr>
        <p:xfrm>
          <a:off x="2545976" y="3422798"/>
          <a:ext cx="283030" cy="387202"/>
        </p:xfrm>
        <a:graphic>
          <a:graphicData uri="http://schemas.openxmlformats.org/presentationml/2006/ole">
            <mc:AlternateContent xmlns:mc="http://schemas.openxmlformats.org/markup-compatibility/2006">
              <mc:Choice xmlns:v="urn:schemas-microsoft-com:vml" Requires="v">
                <p:oleObj spid="_x0000_s532013" name="Equation" r:id="rId13" imgW="177480" imgH="241200" progId="Equation.DSMT4">
                  <p:embed/>
                </p:oleObj>
              </mc:Choice>
              <mc:Fallback>
                <p:oleObj name="Equation" r:id="rId13" imgW="177480" imgH="241200" progId="Equation.DSMT4">
                  <p:embed/>
                  <p:pic>
                    <p:nvPicPr>
                      <p:cNvPr id="0" name="Picture 7"/>
                      <p:cNvPicPr>
                        <a:picLocks noChangeAspect="1" noChangeArrowheads="1"/>
                      </p:cNvPicPr>
                      <p:nvPr/>
                    </p:nvPicPr>
                    <p:blipFill>
                      <a:blip r:embed="rId14"/>
                      <a:srcRect/>
                      <a:stretch>
                        <a:fillRect/>
                      </a:stretch>
                    </p:blipFill>
                    <p:spPr bwMode="auto">
                      <a:xfrm>
                        <a:off x="2545976" y="3422798"/>
                        <a:ext cx="283030" cy="3872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1803848945"/>
              </p:ext>
            </p:extLst>
          </p:nvPr>
        </p:nvGraphicFramePr>
        <p:xfrm>
          <a:off x="1012825" y="4259263"/>
          <a:ext cx="3692525" cy="314325"/>
        </p:xfrm>
        <a:graphic>
          <a:graphicData uri="http://schemas.openxmlformats.org/presentationml/2006/ole">
            <mc:AlternateContent xmlns:mc="http://schemas.openxmlformats.org/markup-compatibility/2006">
              <mc:Choice xmlns:v="urn:schemas-microsoft-com:vml" Requires="v">
                <p:oleObj spid="_x0000_s532014" name="Equation" r:id="rId15" imgW="2882880" imgH="241200" progId="Equation.DSMT4">
                  <p:embed/>
                </p:oleObj>
              </mc:Choice>
              <mc:Fallback>
                <p:oleObj name="Equation" r:id="rId15" imgW="2882880" imgH="241200" progId="Equation.DSMT4">
                  <p:embed/>
                  <p:pic>
                    <p:nvPicPr>
                      <p:cNvPr id="0" name="Picture 8"/>
                      <p:cNvPicPr>
                        <a:picLocks noChangeAspect="1" noChangeArrowheads="1"/>
                      </p:cNvPicPr>
                      <p:nvPr/>
                    </p:nvPicPr>
                    <p:blipFill>
                      <a:blip r:embed="rId16"/>
                      <a:srcRect/>
                      <a:stretch>
                        <a:fillRect/>
                      </a:stretch>
                    </p:blipFill>
                    <p:spPr bwMode="auto">
                      <a:xfrm>
                        <a:off x="1012825" y="4259263"/>
                        <a:ext cx="3692525"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94795093"/>
              </p:ext>
            </p:extLst>
          </p:nvPr>
        </p:nvGraphicFramePr>
        <p:xfrm>
          <a:off x="877094" y="5029200"/>
          <a:ext cx="5478462" cy="855663"/>
        </p:xfrm>
        <a:graphic>
          <a:graphicData uri="http://schemas.openxmlformats.org/presentationml/2006/ole">
            <mc:AlternateContent xmlns:mc="http://schemas.openxmlformats.org/markup-compatibility/2006">
              <mc:Choice xmlns:v="urn:schemas-microsoft-com:vml" Requires="v">
                <p:oleObj spid="_x0000_s532015" name="Equation" r:id="rId17" imgW="4279680" imgH="660240" progId="Equation.DSMT4">
                  <p:embed/>
                </p:oleObj>
              </mc:Choice>
              <mc:Fallback>
                <p:oleObj name="Equation" r:id="rId17" imgW="4279680" imgH="660240" progId="Equation.DSMT4">
                  <p:embed/>
                  <p:pic>
                    <p:nvPicPr>
                      <p:cNvPr id="0" name="Picture 9"/>
                      <p:cNvPicPr>
                        <a:picLocks noChangeAspect="1" noChangeArrowheads="1"/>
                      </p:cNvPicPr>
                      <p:nvPr/>
                    </p:nvPicPr>
                    <p:blipFill>
                      <a:blip r:embed="rId18"/>
                      <a:srcRect/>
                      <a:stretch>
                        <a:fillRect/>
                      </a:stretch>
                    </p:blipFill>
                    <p:spPr bwMode="auto">
                      <a:xfrm>
                        <a:off x="877094" y="5029200"/>
                        <a:ext cx="5478462" cy="85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 name="右箭头 18"/>
          <p:cNvSpPr/>
          <p:nvPr/>
        </p:nvSpPr>
        <p:spPr bwMode="auto">
          <a:xfrm>
            <a:off x="464063" y="5276850"/>
            <a:ext cx="294249" cy="381000"/>
          </a:xfrm>
          <a:prstGeom prst="rightArrow">
            <a:avLst/>
          </a:prstGeom>
          <a:solidFill>
            <a:srgbClr val="FF00FF"/>
          </a:solidFill>
          <a:ln w="0" cap="flat" cmpd="sng" algn="ctr">
            <a:solidFill>
              <a:srgbClr val="FF339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endParaRPr kumimoji="0" lang="zh-CN" altLang="en-US" sz="2400" b="1" i="0" u="none" strike="noStrike" cap="none" normalizeH="0" baseline="0">
              <a:ln>
                <a:noFill/>
              </a:ln>
              <a:solidFill>
                <a:srgbClr val="0000FF"/>
              </a:solidFill>
              <a:effectLst/>
              <a:latin typeface="Times New Roman" pitchFamily="18" charset="0"/>
              <a:ea typeface="宋体" pitchFamily="2" charset="-122"/>
            </a:endParaRPr>
          </a:p>
        </p:txBody>
      </p:sp>
      <p:sp>
        <p:nvSpPr>
          <p:cNvPr id="20" name="右箭头 19"/>
          <p:cNvSpPr/>
          <p:nvPr/>
        </p:nvSpPr>
        <p:spPr bwMode="auto">
          <a:xfrm>
            <a:off x="4882075" y="3962400"/>
            <a:ext cx="294249" cy="381000"/>
          </a:xfrm>
          <a:prstGeom prst="rightArrow">
            <a:avLst/>
          </a:prstGeom>
          <a:solidFill>
            <a:srgbClr val="FF00FF"/>
          </a:solidFill>
          <a:ln w="0" cap="flat" cmpd="sng" algn="ctr">
            <a:solidFill>
              <a:srgbClr val="FF339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endParaRPr kumimoji="0" lang="zh-CN" altLang="en-US" sz="2400" b="1" i="0" u="none" strike="noStrike" cap="none" normalizeH="0" baseline="0">
              <a:ln>
                <a:noFill/>
              </a:ln>
              <a:solidFill>
                <a:srgbClr val="0000FF"/>
              </a:solidFill>
              <a:effectLst/>
              <a:latin typeface="Times New Roman" pitchFamily="18" charset="0"/>
              <a:ea typeface="宋体" pitchFamily="2" charset="-122"/>
            </a:endParaRPr>
          </a:p>
        </p:txBody>
      </p:sp>
      <p:sp>
        <p:nvSpPr>
          <p:cNvPr id="21" name="右箭头 20"/>
          <p:cNvSpPr/>
          <p:nvPr/>
        </p:nvSpPr>
        <p:spPr bwMode="auto">
          <a:xfrm>
            <a:off x="464063" y="6096000"/>
            <a:ext cx="294249" cy="381000"/>
          </a:xfrm>
          <a:prstGeom prst="rightArrow">
            <a:avLst/>
          </a:prstGeom>
          <a:solidFill>
            <a:srgbClr val="FF00FF"/>
          </a:solidFill>
          <a:ln w="0" cap="flat" cmpd="sng" algn="ctr">
            <a:solidFill>
              <a:srgbClr val="FF339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endParaRPr kumimoji="0" lang="zh-CN" altLang="en-US" sz="2400" b="1" i="0" u="none" strike="noStrike" cap="none" normalizeH="0" baseline="0">
              <a:ln>
                <a:noFill/>
              </a:ln>
              <a:solidFill>
                <a:srgbClr val="0000FF"/>
              </a:solidFill>
              <a:effectLst/>
              <a:latin typeface="Times New Roman" pitchFamily="18" charset="0"/>
              <a:ea typeface="宋体" pitchFamily="2" charset="-122"/>
            </a:endParaRPr>
          </a:p>
        </p:txBody>
      </p:sp>
      <p:graphicFrame>
        <p:nvGraphicFramePr>
          <p:cNvPr id="22" name="对象 21"/>
          <p:cNvGraphicFramePr>
            <a:graphicFrameLocks noChangeAspect="1"/>
          </p:cNvGraphicFramePr>
          <p:nvPr>
            <p:extLst>
              <p:ext uri="{D42A27DB-BD31-4B8C-83A1-F6EECF244321}">
                <p14:modId xmlns:p14="http://schemas.microsoft.com/office/powerpoint/2010/main" val="4255000416"/>
              </p:ext>
            </p:extLst>
          </p:nvPr>
        </p:nvGraphicFramePr>
        <p:xfrm>
          <a:off x="1079452" y="6166410"/>
          <a:ext cx="796925" cy="263525"/>
        </p:xfrm>
        <a:graphic>
          <a:graphicData uri="http://schemas.openxmlformats.org/presentationml/2006/ole">
            <mc:AlternateContent xmlns:mc="http://schemas.openxmlformats.org/markup-compatibility/2006">
              <mc:Choice xmlns:v="urn:schemas-microsoft-com:vml" Requires="v">
                <p:oleObj spid="_x0000_s532016" name="Equation" r:id="rId19" imgW="622080" imgH="203040" progId="">
                  <p:embed/>
                </p:oleObj>
              </mc:Choice>
              <mc:Fallback>
                <p:oleObj name="Equation" r:id="rId19" imgW="622080" imgH="203040" progId="">
                  <p:embed/>
                  <p:pic>
                    <p:nvPicPr>
                      <p:cNvPr id="0" name="Picture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79452" y="6166410"/>
                        <a:ext cx="796925" cy="26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4123106564"/>
              </p:ext>
            </p:extLst>
          </p:nvPr>
        </p:nvGraphicFramePr>
        <p:xfrm>
          <a:off x="3341688" y="6116638"/>
          <a:ext cx="4178300" cy="312737"/>
        </p:xfrm>
        <a:graphic>
          <a:graphicData uri="http://schemas.openxmlformats.org/presentationml/2006/ole">
            <mc:AlternateContent xmlns:mc="http://schemas.openxmlformats.org/markup-compatibility/2006">
              <mc:Choice xmlns:v="urn:schemas-microsoft-com:vml" Requires="v">
                <p:oleObj spid="_x0000_s532017" name="Equation" r:id="rId21" imgW="3263760" imgH="241200" progId="Equation.DSMT4">
                  <p:embed/>
                </p:oleObj>
              </mc:Choice>
              <mc:Fallback>
                <p:oleObj name="Equation" r:id="rId21" imgW="3263760" imgH="241200" progId="Equation.DSMT4">
                  <p:embed/>
                  <p:pic>
                    <p:nvPicPr>
                      <p:cNvPr id="0" name="Picture 11"/>
                      <p:cNvPicPr>
                        <a:picLocks noChangeAspect="1" noChangeArrowheads="1"/>
                      </p:cNvPicPr>
                      <p:nvPr/>
                    </p:nvPicPr>
                    <p:blipFill>
                      <a:blip r:embed="rId22"/>
                      <a:srcRect/>
                      <a:stretch>
                        <a:fillRect/>
                      </a:stretch>
                    </p:blipFill>
                    <p:spPr bwMode="auto">
                      <a:xfrm>
                        <a:off x="3341688" y="6116638"/>
                        <a:ext cx="4178300" cy="31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4" name="Picture 244"/>
          <p:cNvPicPr>
            <a:picLocks noChangeAspect="1" noChangeArrowheads="1"/>
          </p:cNvPicPr>
          <p:nvPr/>
        </p:nvPicPr>
        <p:blipFill>
          <a:blip r:embed="rId23" cstate="print"/>
          <a:srcRect/>
          <a:stretch>
            <a:fillRect/>
          </a:stretch>
        </p:blipFill>
        <p:spPr bwMode="auto">
          <a:xfrm>
            <a:off x="5000628" y="2928934"/>
            <a:ext cx="142876" cy="169634"/>
          </a:xfrm>
          <a:prstGeom prst="rect">
            <a:avLst/>
          </a:prstGeom>
          <a:noFill/>
          <a:ln w="9525">
            <a:noFill/>
            <a:miter lim="800000"/>
            <a:headEnd/>
            <a:tailEnd/>
          </a:ln>
          <a:effectLst/>
        </p:spPr>
      </p:pic>
      <p:graphicFrame>
        <p:nvGraphicFramePr>
          <p:cNvPr id="25" name="对象 24"/>
          <p:cNvGraphicFramePr>
            <a:graphicFrameLocks noChangeAspect="1"/>
          </p:cNvGraphicFramePr>
          <p:nvPr>
            <p:extLst>
              <p:ext uri="{D42A27DB-BD31-4B8C-83A1-F6EECF244321}">
                <p14:modId xmlns:p14="http://schemas.microsoft.com/office/powerpoint/2010/main" val="98021460"/>
              </p:ext>
            </p:extLst>
          </p:nvPr>
        </p:nvGraphicFramePr>
        <p:xfrm>
          <a:off x="1897063" y="6159500"/>
          <a:ext cx="666750" cy="254000"/>
        </p:xfrm>
        <a:graphic>
          <a:graphicData uri="http://schemas.openxmlformats.org/presentationml/2006/ole">
            <mc:AlternateContent xmlns:mc="http://schemas.openxmlformats.org/markup-compatibility/2006">
              <mc:Choice xmlns:v="urn:schemas-microsoft-com:vml" Requires="v">
                <p:oleObj spid="_x0000_s532018" name="Equation" r:id="rId24" imgW="533160" imgH="203040" progId="Equation.DSMT4">
                  <p:embed/>
                </p:oleObj>
              </mc:Choice>
              <mc:Fallback>
                <p:oleObj name="Equation" r:id="rId24" imgW="533160" imgH="203040" progId="Equation.DSMT4">
                  <p:embed/>
                  <p:pic>
                    <p:nvPicPr>
                      <p:cNvPr id="0" name="Picture 12"/>
                      <p:cNvPicPr>
                        <a:picLocks noChangeAspect="1" noChangeArrowheads="1"/>
                      </p:cNvPicPr>
                      <p:nvPr/>
                    </p:nvPicPr>
                    <p:blipFill>
                      <a:blip r:embed="rId25"/>
                      <a:srcRect/>
                      <a:stretch>
                        <a:fillRect/>
                      </a:stretch>
                    </p:blipFill>
                    <p:spPr bwMode="auto">
                      <a:xfrm>
                        <a:off x="1897063" y="6159500"/>
                        <a:ext cx="66675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77250125"/>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659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66595" name="Rectangle 3"/>
          <p:cNvSpPr>
            <a:spLocks noChangeArrowheads="1"/>
          </p:cNvSpPr>
          <p:nvPr/>
        </p:nvSpPr>
        <p:spPr bwMode="auto">
          <a:xfrm>
            <a:off x="611188" y="1066800"/>
            <a:ext cx="7847012"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20000"/>
              </a:lnSpc>
              <a:buClrTx/>
              <a:buFontTx/>
              <a:buNone/>
            </a:pPr>
            <a:r>
              <a:rPr lang="en-US" altLang="zh-CN" dirty="0">
                <a:solidFill>
                  <a:srgbClr val="990099"/>
                </a:solidFill>
              </a:rPr>
              <a:t>3.</a:t>
            </a:r>
            <a:r>
              <a:rPr lang="zh-CN" altLang="en-US" dirty="0">
                <a:solidFill>
                  <a:srgbClr val="990099"/>
                </a:solidFill>
              </a:rPr>
              <a:t>小偏心受压构件截面的配筋计算</a:t>
            </a:r>
          </a:p>
        </p:txBody>
      </p:sp>
      <p:sp>
        <p:nvSpPr>
          <p:cNvPr id="4" name="Rectangle 3"/>
          <p:cNvSpPr>
            <a:spLocks noChangeArrowheads="1"/>
          </p:cNvSpPr>
          <p:nvPr/>
        </p:nvSpPr>
        <p:spPr bwMode="auto">
          <a:xfrm>
            <a:off x="304800" y="1676400"/>
            <a:ext cx="1486553"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r>
              <a:rPr lang="zh-CN" altLang="en-US" dirty="0">
                <a:solidFill>
                  <a:srgbClr val="A50021"/>
                </a:solidFill>
              </a:rPr>
              <a:t>例题</a:t>
            </a:r>
            <a:r>
              <a:rPr lang="en-US" altLang="zh-CN" dirty="0">
                <a:solidFill>
                  <a:srgbClr val="A50021"/>
                </a:solidFill>
              </a:rPr>
              <a:t>7.7</a:t>
            </a:r>
            <a:endParaRPr lang="en-US" altLang="zh-CN" sz="2200" dirty="0"/>
          </a:p>
        </p:txBody>
      </p:sp>
      <p:sp>
        <p:nvSpPr>
          <p:cNvPr id="7" name="Rectangle 3"/>
          <p:cNvSpPr>
            <a:spLocks noChangeArrowheads="1"/>
          </p:cNvSpPr>
          <p:nvPr/>
        </p:nvSpPr>
        <p:spPr bwMode="auto">
          <a:xfrm>
            <a:off x="1600200" y="1656305"/>
            <a:ext cx="35679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buClrTx/>
              <a:buFontTx/>
              <a:buNone/>
            </a:pPr>
            <a:r>
              <a:rPr lang="zh-CN" altLang="en-US" sz="2000" dirty="0"/>
              <a:t>（</a:t>
            </a:r>
            <a:r>
              <a:rPr lang="en-US" altLang="zh-CN" sz="2000" dirty="0"/>
              <a:t>5</a:t>
            </a:r>
            <a:r>
              <a:rPr lang="zh-CN" altLang="en-US" sz="2000" dirty="0"/>
              <a:t>）选</a:t>
            </a:r>
            <a:endParaRPr lang="zh-CN" altLang="en-US" sz="2000" baseline="-25000" dirty="0"/>
          </a:p>
        </p:txBody>
      </p:sp>
      <p:graphicFrame>
        <p:nvGraphicFramePr>
          <p:cNvPr id="16" name="对象 15"/>
          <p:cNvGraphicFramePr>
            <a:graphicFrameLocks noChangeAspect="1"/>
          </p:cNvGraphicFramePr>
          <p:nvPr>
            <p:extLst>
              <p:ext uri="{D42A27DB-BD31-4B8C-83A1-F6EECF244321}">
                <p14:modId xmlns:p14="http://schemas.microsoft.com/office/powerpoint/2010/main" val="403071000"/>
              </p:ext>
            </p:extLst>
          </p:nvPr>
        </p:nvGraphicFramePr>
        <p:xfrm>
          <a:off x="2703734" y="1707197"/>
          <a:ext cx="283030" cy="387202"/>
        </p:xfrm>
        <a:graphic>
          <a:graphicData uri="http://schemas.openxmlformats.org/presentationml/2006/ole">
            <mc:AlternateContent xmlns:mc="http://schemas.openxmlformats.org/markup-compatibility/2006">
              <mc:Choice xmlns:v="urn:schemas-microsoft-com:vml" Requires="v">
                <p:oleObj spid="_x0000_s532722" name="Equation" r:id="rId3" imgW="177480" imgH="241200" progId="">
                  <p:embed/>
                </p:oleObj>
              </mc:Choice>
              <mc:Fallback>
                <p:oleObj name="Equation" r:id="rId3" imgW="177480" imgH="2412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3734" y="1707197"/>
                        <a:ext cx="283030" cy="3872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右箭头 18"/>
          <p:cNvSpPr/>
          <p:nvPr/>
        </p:nvSpPr>
        <p:spPr bwMode="auto">
          <a:xfrm>
            <a:off x="464063" y="5276850"/>
            <a:ext cx="294249" cy="381000"/>
          </a:xfrm>
          <a:prstGeom prst="rightArrow">
            <a:avLst/>
          </a:prstGeom>
          <a:solidFill>
            <a:srgbClr val="FF00FF"/>
          </a:solidFill>
          <a:ln w="0" cap="flat" cmpd="sng" algn="ctr">
            <a:solidFill>
              <a:srgbClr val="FF339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endParaRPr kumimoji="0" lang="zh-CN" altLang="en-US" sz="2400" b="1" i="0" u="none" strike="noStrike" cap="none" normalizeH="0" baseline="0">
              <a:ln>
                <a:noFill/>
              </a:ln>
              <a:solidFill>
                <a:srgbClr val="0000FF"/>
              </a:solidFill>
              <a:effectLst/>
              <a:latin typeface="Times New Roman" pitchFamily="18" charset="0"/>
              <a:ea typeface="宋体" pitchFamily="2" charset="-122"/>
            </a:endParaRPr>
          </a:p>
        </p:txBody>
      </p:sp>
      <p:graphicFrame>
        <p:nvGraphicFramePr>
          <p:cNvPr id="25" name="对象 24"/>
          <p:cNvGraphicFramePr>
            <a:graphicFrameLocks noChangeAspect="1"/>
          </p:cNvGraphicFramePr>
          <p:nvPr>
            <p:extLst>
              <p:ext uri="{D42A27DB-BD31-4B8C-83A1-F6EECF244321}">
                <p14:modId xmlns:p14="http://schemas.microsoft.com/office/powerpoint/2010/main" val="436110033"/>
              </p:ext>
            </p:extLst>
          </p:nvPr>
        </p:nvGraphicFramePr>
        <p:xfrm>
          <a:off x="1770063" y="2286000"/>
          <a:ext cx="4057650" cy="387350"/>
        </p:xfrm>
        <a:graphic>
          <a:graphicData uri="http://schemas.openxmlformats.org/presentationml/2006/ole">
            <mc:AlternateContent xmlns:mc="http://schemas.openxmlformats.org/markup-compatibility/2006">
              <mc:Choice xmlns:v="urn:schemas-microsoft-com:vml" Requires="v">
                <p:oleObj spid="_x0000_s532723" name="Equation" r:id="rId5" imgW="2552400" imgH="241200" progId="Equation.DSMT4">
                  <p:embed/>
                </p:oleObj>
              </mc:Choice>
              <mc:Fallback>
                <p:oleObj name="Equation" r:id="rId5" imgW="2552400" imgH="241200" progId="Equation.DSMT4">
                  <p:embed/>
                  <p:pic>
                    <p:nvPicPr>
                      <p:cNvPr id="0" name="Picture 3"/>
                      <p:cNvPicPr>
                        <a:picLocks noChangeAspect="1" noChangeArrowheads="1"/>
                      </p:cNvPicPr>
                      <p:nvPr/>
                    </p:nvPicPr>
                    <p:blipFill>
                      <a:blip r:embed="rId6"/>
                      <a:srcRect/>
                      <a:stretch>
                        <a:fillRect/>
                      </a:stretch>
                    </p:blipFill>
                    <p:spPr bwMode="auto">
                      <a:xfrm>
                        <a:off x="1770063" y="2286000"/>
                        <a:ext cx="4057650"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1300760826"/>
              </p:ext>
            </p:extLst>
          </p:nvPr>
        </p:nvGraphicFramePr>
        <p:xfrm>
          <a:off x="1700213" y="2752725"/>
          <a:ext cx="4197350" cy="673100"/>
        </p:xfrm>
        <a:graphic>
          <a:graphicData uri="http://schemas.openxmlformats.org/presentationml/2006/ole">
            <mc:AlternateContent xmlns:mc="http://schemas.openxmlformats.org/markup-compatibility/2006">
              <mc:Choice xmlns:v="urn:schemas-microsoft-com:vml" Requires="v">
                <p:oleObj spid="_x0000_s532724" name="Equation" r:id="rId7" imgW="2641320" imgH="419040" progId="Equation.DSMT4">
                  <p:embed/>
                </p:oleObj>
              </mc:Choice>
              <mc:Fallback>
                <p:oleObj name="Equation" r:id="rId7" imgW="2641320" imgH="419040" progId="Equation.DSMT4">
                  <p:embed/>
                  <p:pic>
                    <p:nvPicPr>
                      <p:cNvPr id="0" name="Picture 4"/>
                      <p:cNvPicPr>
                        <a:picLocks noChangeAspect="1" noChangeArrowheads="1"/>
                      </p:cNvPicPr>
                      <p:nvPr/>
                    </p:nvPicPr>
                    <p:blipFill>
                      <a:blip r:embed="rId8"/>
                      <a:srcRect/>
                      <a:stretch>
                        <a:fillRect/>
                      </a:stretch>
                    </p:blipFill>
                    <p:spPr bwMode="auto">
                      <a:xfrm>
                        <a:off x="1700213" y="2752725"/>
                        <a:ext cx="419735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ectangle 3"/>
          <p:cNvSpPr>
            <a:spLocks noChangeArrowheads="1"/>
          </p:cNvSpPr>
          <p:nvPr/>
        </p:nvSpPr>
        <p:spPr bwMode="auto">
          <a:xfrm>
            <a:off x="1600200" y="3657600"/>
            <a:ext cx="4343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buClrTx/>
              <a:buFontTx/>
              <a:buNone/>
            </a:pPr>
            <a:r>
              <a:rPr lang="zh-CN" altLang="en-US" sz="2000" dirty="0"/>
              <a:t>（</a:t>
            </a:r>
            <a:r>
              <a:rPr lang="en-US" altLang="zh-CN" sz="2000" dirty="0"/>
              <a:t>6</a:t>
            </a:r>
            <a:r>
              <a:rPr lang="zh-CN" altLang="en-US" sz="2000" dirty="0"/>
              <a:t>）垂直于弯矩作用平面的验算</a:t>
            </a:r>
            <a:endParaRPr lang="zh-CN" altLang="en-US" sz="2000" baseline="-25000" dirty="0"/>
          </a:p>
        </p:txBody>
      </p:sp>
      <p:graphicFrame>
        <p:nvGraphicFramePr>
          <p:cNvPr id="28" name="对象 27"/>
          <p:cNvGraphicFramePr>
            <a:graphicFrameLocks noChangeAspect="1"/>
          </p:cNvGraphicFramePr>
          <p:nvPr>
            <p:extLst>
              <p:ext uri="{D42A27DB-BD31-4B8C-83A1-F6EECF244321}">
                <p14:modId xmlns:p14="http://schemas.microsoft.com/office/powerpoint/2010/main" val="1374836430"/>
              </p:ext>
            </p:extLst>
          </p:nvPr>
        </p:nvGraphicFramePr>
        <p:xfrm>
          <a:off x="1643063" y="4267200"/>
          <a:ext cx="4179887" cy="387350"/>
        </p:xfrm>
        <a:graphic>
          <a:graphicData uri="http://schemas.openxmlformats.org/presentationml/2006/ole">
            <mc:AlternateContent xmlns:mc="http://schemas.openxmlformats.org/markup-compatibility/2006">
              <mc:Choice xmlns:v="urn:schemas-microsoft-com:vml" Requires="v">
                <p:oleObj spid="_x0000_s532725" name="Equation" r:id="rId9" imgW="2628720" imgH="241200" progId="Equation.DSMT4">
                  <p:embed/>
                </p:oleObj>
              </mc:Choice>
              <mc:Fallback>
                <p:oleObj name="Equation" r:id="rId9" imgW="2628720" imgH="241200" progId="Equation.DSMT4">
                  <p:embed/>
                  <p:pic>
                    <p:nvPicPr>
                      <p:cNvPr id="0" name="Picture 5"/>
                      <p:cNvPicPr>
                        <a:picLocks noChangeAspect="1" noChangeArrowheads="1"/>
                      </p:cNvPicPr>
                      <p:nvPr/>
                    </p:nvPicPr>
                    <p:blipFill>
                      <a:blip r:embed="rId10"/>
                      <a:srcRect/>
                      <a:stretch>
                        <a:fillRect/>
                      </a:stretch>
                    </p:blipFill>
                    <p:spPr bwMode="auto">
                      <a:xfrm>
                        <a:off x="1643063" y="4267200"/>
                        <a:ext cx="4179887"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204865793"/>
              </p:ext>
            </p:extLst>
          </p:nvPr>
        </p:nvGraphicFramePr>
        <p:xfrm>
          <a:off x="1457325" y="4883150"/>
          <a:ext cx="7227888" cy="774700"/>
        </p:xfrm>
        <a:graphic>
          <a:graphicData uri="http://schemas.openxmlformats.org/presentationml/2006/ole">
            <mc:AlternateContent xmlns:mc="http://schemas.openxmlformats.org/markup-compatibility/2006">
              <mc:Choice xmlns:v="urn:schemas-microsoft-com:vml" Requires="v">
                <p:oleObj spid="_x0000_s532726" name="Equation" r:id="rId11" imgW="4546440" imgH="482400" progId="Equation.DSMT4">
                  <p:embed/>
                </p:oleObj>
              </mc:Choice>
              <mc:Fallback>
                <p:oleObj name="Equation" r:id="rId11" imgW="4546440" imgH="482400" progId="Equation.DSMT4">
                  <p:embed/>
                  <p:pic>
                    <p:nvPicPr>
                      <p:cNvPr id="0" name="Picture 6"/>
                      <p:cNvPicPr>
                        <a:picLocks noChangeAspect="1" noChangeArrowheads="1"/>
                      </p:cNvPicPr>
                      <p:nvPr/>
                    </p:nvPicPr>
                    <p:blipFill>
                      <a:blip r:embed="rId12"/>
                      <a:srcRect/>
                      <a:stretch>
                        <a:fillRect/>
                      </a:stretch>
                    </p:blipFill>
                    <p:spPr bwMode="auto">
                      <a:xfrm>
                        <a:off x="1457325" y="4883150"/>
                        <a:ext cx="722788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Rectangle 3"/>
          <p:cNvSpPr>
            <a:spLocks noChangeArrowheads="1"/>
          </p:cNvSpPr>
          <p:nvPr/>
        </p:nvSpPr>
        <p:spPr bwMode="auto">
          <a:xfrm>
            <a:off x="4503318" y="5349723"/>
            <a:ext cx="19363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buClrTx/>
              <a:buFontTx/>
              <a:buNone/>
            </a:pPr>
            <a:r>
              <a:rPr lang="zh-CN" altLang="en-US" sz="2000" dirty="0"/>
              <a:t>（满足要求）</a:t>
            </a:r>
            <a:endParaRPr lang="zh-CN" altLang="en-US" sz="2000" baseline="-25000" dirty="0"/>
          </a:p>
        </p:txBody>
      </p:sp>
      <p:pic>
        <p:nvPicPr>
          <p:cNvPr id="15" name="Picture 244"/>
          <p:cNvPicPr>
            <a:picLocks noChangeAspect="1" noChangeArrowheads="1"/>
          </p:cNvPicPr>
          <p:nvPr/>
        </p:nvPicPr>
        <p:blipFill>
          <a:blip r:embed="rId13" cstate="print"/>
          <a:srcRect/>
          <a:stretch>
            <a:fillRect/>
          </a:stretch>
        </p:blipFill>
        <p:spPr bwMode="auto">
          <a:xfrm>
            <a:off x="2428860" y="2357430"/>
            <a:ext cx="180509" cy="214314"/>
          </a:xfrm>
          <a:prstGeom prst="rect">
            <a:avLst/>
          </a:prstGeom>
          <a:noFill/>
          <a:ln w="9525">
            <a:noFill/>
            <a:miter lim="800000"/>
            <a:headEnd/>
            <a:tailEnd/>
          </a:ln>
          <a:effectLst/>
        </p:spPr>
      </p:pic>
    </p:spTree>
    <p:extLst>
      <p:ext uri="{BB962C8B-B14F-4D97-AF65-F5344CB8AC3E}">
        <p14:creationId xmlns:p14="http://schemas.microsoft.com/office/powerpoint/2010/main" val="3600280825"/>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659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366595" name="Rectangle 3"/>
          <p:cNvSpPr>
            <a:spLocks noChangeArrowheads="1"/>
          </p:cNvSpPr>
          <p:nvPr/>
        </p:nvSpPr>
        <p:spPr bwMode="auto">
          <a:xfrm>
            <a:off x="611188" y="1066800"/>
            <a:ext cx="7847012" cy="385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20000"/>
              </a:lnSpc>
              <a:buClrTx/>
              <a:buFontTx/>
              <a:buNone/>
            </a:pPr>
            <a:r>
              <a:rPr lang="en-US" altLang="zh-CN" dirty="0">
                <a:solidFill>
                  <a:srgbClr val="990099"/>
                </a:solidFill>
              </a:rPr>
              <a:t>3.</a:t>
            </a:r>
            <a:r>
              <a:rPr lang="zh-CN" altLang="en-US" dirty="0">
                <a:solidFill>
                  <a:srgbClr val="990099"/>
                </a:solidFill>
              </a:rPr>
              <a:t>小偏心受压构件截面的配筋计算</a:t>
            </a:r>
          </a:p>
          <a:p>
            <a:pPr marL="342900" indent="-342900" algn="l"/>
            <a:endParaRPr lang="zh-CN" altLang="en-US" sz="2000" dirty="0"/>
          </a:p>
          <a:p>
            <a:pPr marL="342900" indent="-342900" algn="l"/>
            <a:r>
              <a:rPr lang="zh-CN" altLang="en-US" sz="2200" dirty="0"/>
              <a:t>例题</a:t>
            </a:r>
            <a:r>
              <a:rPr lang="en-US" altLang="zh-CN" sz="2200" dirty="0"/>
              <a:t>7.7——</a:t>
            </a:r>
            <a:r>
              <a:rPr lang="zh-CN" altLang="en-US" sz="2000" dirty="0"/>
              <a:t>正向破坏情况</a:t>
            </a:r>
          </a:p>
          <a:p>
            <a:pPr marL="342900" indent="-342900" algn="l"/>
            <a:endParaRPr lang="zh-CN" altLang="en-US" sz="2000" dirty="0"/>
          </a:p>
          <a:p>
            <a:pPr marL="342900" indent="-342900" algn="l"/>
            <a:r>
              <a:rPr lang="zh-CN" altLang="en-US" sz="2200" dirty="0"/>
              <a:t>例题</a:t>
            </a:r>
            <a:r>
              <a:rPr lang="en-US" altLang="zh-CN" sz="2200" dirty="0"/>
              <a:t>7.8</a:t>
            </a:r>
            <a:r>
              <a:rPr lang="zh-CN" altLang="en-US" sz="2200" dirty="0"/>
              <a:t>，</a:t>
            </a:r>
            <a:r>
              <a:rPr lang="en-US" altLang="zh-CN" sz="2200" dirty="0"/>
              <a:t>7.9—</a:t>
            </a:r>
            <a:r>
              <a:rPr lang="zh-CN" altLang="en-US" sz="2000" dirty="0"/>
              <a:t>反向破坏情况</a:t>
            </a:r>
            <a:r>
              <a:rPr lang="zh-CN" altLang="en-US" dirty="0"/>
              <a:t> ，</a:t>
            </a:r>
            <a:r>
              <a:rPr lang="zh-CN" altLang="en-US" sz="2000" dirty="0"/>
              <a:t>且不满足垂直于弯矩作用平面情况</a:t>
            </a:r>
          </a:p>
          <a:p>
            <a:pPr marL="342900" indent="-342900" algn="l"/>
            <a:endParaRPr lang="zh-CN" altLang="en-US" sz="2000" dirty="0"/>
          </a:p>
          <a:p>
            <a:pPr marL="342900" indent="-342900" algn="l"/>
            <a:r>
              <a:rPr lang="zh-CN" altLang="en-US" sz="2200" dirty="0">
                <a:solidFill>
                  <a:schemeClr val="tx2"/>
                </a:solidFill>
                <a:ea typeface="华文楷体" pitchFamily="2" charset="-122"/>
              </a:rPr>
              <a:t>注意点：</a:t>
            </a:r>
          </a:p>
          <a:p>
            <a:pPr marL="342900" indent="-342900" algn="l">
              <a:buFont typeface="Wingdings" pitchFamily="2" charset="2"/>
              <a:buChar char="F"/>
            </a:pPr>
            <a:r>
              <a:rPr lang="zh-CN" altLang="en-US" sz="2200" dirty="0">
                <a:solidFill>
                  <a:schemeClr val="tx2"/>
                </a:solidFill>
                <a:ea typeface="华文楷体" pitchFamily="2" charset="-122"/>
              </a:rPr>
              <a:t>轴力大，偏心距小，可能出现反向破坏的情况；</a:t>
            </a:r>
          </a:p>
          <a:p>
            <a:pPr marL="342900" indent="-342900" algn="l">
              <a:buFont typeface="Wingdings" pitchFamily="2" charset="2"/>
              <a:buChar char="F"/>
            </a:pPr>
            <a:r>
              <a:rPr lang="zh-CN" altLang="en-US" sz="2200" dirty="0">
                <a:solidFill>
                  <a:schemeClr val="tx2"/>
                </a:solidFill>
                <a:ea typeface="华文楷体" pitchFamily="2" charset="-122"/>
              </a:rPr>
              <a:t>应注意验算垂直于弯矩作用平面的承载情况。</a:t>
            </a:r>
          </a:p>
          <a:p>
            <a:pPr marL="342900" indent="-342900" algn="l"/>
            <a:endParaRPr lang="en-US" altLang="zh-CN" dirty="0">
              <a:solidFill>
                <a:schemeClr val="tx2"/>
              </a:solidFill>
              <a:ea typeface="华文楷体" pitchFamily="2" charset="-122"/>
            </a:endParaRPr>
          </a:p>
        </p:txBody>
      </p:sp>
    </p:spTree>
    <p:extLst>
      <p:ext uri="{BB962C8B-B14F-4D97-AF65-F5344CB8AC3E}">
        <p14:creationId xmlns:p14="http://schemas.microsoft.com/office/powerpoint/2010/main" val="3911335473"/>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5506" name="Rectangle 2"/>
          <p:cNvSpPr>
            <a:spLocks noChangeArrowheads="1"/>
          </p:cNvSpPr>
          <p:nvPr/>
        </p:nvSpPr>
        <p:spPr bwMode="auto">
          <a:xfrm>
            <a:off x="611188" y="1066800"/>
            <a:ext cx="8304212" cy="616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00000"/>
              </a:lnSpc>
              <a:spcBef>
                <a:spcPct val="0"/>
              </a:spcBef>
              <a:buClrTx/>
              <a:buFontTx/>
              <a:buNone/>
            </a:pPr>
            <a:r>
              <a:rPr lang="zh-CN" altLang="en-US" sz="2800" dirty="0">
                <a:solidFill>
                  <a:srgbClr val="A50021"/>
                </a:solidFill>
                <a:latin typeface="华文中宋" pitchFamily="2" charset="-122"/>
                <a:ea typeface="华文中宋" pitchFamily="2" charset="-122"/>
              </a:rPr>
              <a:t>五</a:t>
            </a:r>
            <a:r>
              <a:rPr lang="en-US" altLang="zh-CN" sz="2800" dirty="0">
                <a:solidFill>
                  <a:srgbClr val="A50021"/>
                </a:solidFill>
                <a:latin typeface="华文中宋" pitchFamily="2" charset="-122"/>
                <a:ea typeface="华文中宋" pitchFamily="2" charset="-122"/>
              </a:rPr>
              <a:t>.</a:t>
            </a:r>
            <a:r>
              <a:rPr lang="zh-CN" altLang="en-US" sz="2800" dirty="0">
                <a:solidFill>
                  <a:srgbClr val="A50021"/>
                </a:solidFill>
                <a:latin typeface="华文中宋" pitchFamily="2" charset="-122"/>
                <a:ea typeface="华文中宋" pitchFamily="2" charset="-122"/>
              </a:rPr>
              <a:t>非对称配筋偏心受压构件截面配筋的复核</a:t>
            </a:r>
            <a:r>
              <a:rPr lang="zh-CN" altLang="en-US" dirty="0"/>
              <a:t> </a:t>
            </a:r>
            <a:endParaRPr lang="zh-CN" altLang="en-US" sz="2800" dirty="0">
              <a:solidFill>
                <a:srgbClr val="A50021"/>
              </a:solidFill>
              <a:latin typeface="华文中宋" pitchFamily="2" charset="-122"/>
              <a:ea typeface="华文中宋" pitchFamily="2" charset="-122"/>
            </a:endParaRPr>
          </a:p>
          <a:p>
            <a:pPr marL="342900" indent="-342900" algn="l">
              <a:lnSpc>
                <a:spcPct val="120000"/>
              </a:lnSpc>
              <a:buClrTx/>
              <a:buFontTx/>
              <a:buNone/>
            </a:pPr>
            <a:r>
              <a:rPr lang="en-US" altLang="zh-CN" dirty="0">
                <a:solidFill>
                  <a:srgbClr val="990099"/>
                </a:solidFill>
              </a:rPr>
              <a:t>1.</a:t>
            </a:r>
            <a:r>
              <a:rPr lang="zh-CN" altLang="en-US" dirty="0">
                <a:solidFill>
                  <a:srgbClr val="990099"/>
                </a:solidFill>
              </a:rPr>
              <a:t>弯矩作用平面受压承载力的复核</a:t>
            </a:r>
            <a:r>
              <a:rPr lang="zh-CN" altLang="en-US" dirty="0"/>
              <a:t> </a:t>
            </a:r>
            <a:endParaRPr lang="zh-CN" altLang="en-US" dirty="0">
              <a:solidFill>
                <a:srgbClr val="990099"/>
              </a:solidFill>
            </a:endParaRPr>
          </a:p>
          <a:p>
            <a:pPr marL="342900" indent="-342900" algn="l">
              <a:lnSpc>
                <a:spcPct val="110000"/>
              </a:lnSpc>
              <a:spcBef>
                <a:spcPct val="50000"/>
              </a:spcBef>
            </a:pPr>
            <a:r>
              <a:rPr lang="en-US" altLang="zh-CN" sz="2000" dirty="0"/>
              <a:t>1</a:t>
            </a:r>
            <a:r>
              <a:rPr lang="zh-CN" altLang="en-US" sz="2000" dirty="0"/>
              <a:t>）已知偏心矩</a:t>
            </a:r>
            <a:r>
              <a:rPr lang="en-US" altLang="zh-CN" sz="2000" i="1" dirty="0"/>
              <a:t>e</a:t>
            </a:r>
            <a:r>
              <a:rPr lang="en-US" altLang="zh-CN" sz="2000" baseline="-25000" dirty="0"/>
              <a:t>0</a:t>
            </a:r>
            <a:r>
              <a:rPr lang="zh-CN" altLang="en-US" sz="2000" dirty="0"/>
              <a:t>，要求计算轴力</a:t>
            </a:r>
            <a:r>
              <a:rPr lang="en-US" altLang="zh-CN" sz="2000" i="1" dirty="0"/>
              <a:t>N</a:t>
            </a:r>
          </a:p>
          <a:p>
            <a:pPr marL="342900" indent="-342900" algn="l">
              <a:lnSpc>
                <a:spcPct val="110000"/>
              </a:lnSpc>
              <a:spcBef>
                <a:spcPct val="50000"/>
              </a:spcBef>
            </a:pPr>
            <a:r>
              <a:rPr lang="en-US" altLang="zh-CN" sz="2000" dirty="0"/>
              <a:t>2</a:t>
            </a:r>
            <a:r>
              <a:rPr lang="zh-CN" altLang="en-US" sz="2000" dirty="0"/>
              <a:t>）已知轴力</a:t>
            </a:r>
            <a:r>
              <a:rPr lang="en-US" altLang="zh-CN" sz="2000" i="1" dirty="0"/>
              <a:t>N</a:t>
            </a:r>
            <a:r>
              <a:rPr lang="zh-CN" altLang="en-US" sz="2000" dirty="0"/>
              <a:t>，要求计算弯矩</a:t>
            </a:r>
            <a:r>
              <a:rPr lang="en-US" altLang="zh-CN" sz="2000" i="1" dirty="0"/>
              <a:t>M</a:t>
            </a:r>
            <a:r>
              <a:rPr lang="en-US" altLang="zh-CN" dirty="0"/>
              <a:t> </a:t>
            </a:r>
          </a:p>
          <a:p>
            <a:pPr marL="342900" indent="-342900" algn="l">
              <a:lnSpc>
                <a:spcPct val="110000"/>
              </a:lnSpc>
              <a:spcBef>
                <a:spcPct val="50000"/>
              </a:spcBef>
            </a:pPr>
            <a:r>
              <a:rPr lang="zh-CN" altLang="en-US" sz="2000" dirty="0">
                <a:solidFill>
                  <a:schemeClr val="tx1"/>
                </a:solidFill>
              </a:rPr>
              <a:t>应先判别大</a:t>
            </a:r>
            <a:r>
              <a:rPr lang="en-US" altLang="zh-CN" sz="2000" dirty="0">
                <a:solidFill>
                  <a:schemeClr val="tx1"/>
                </a:solidFill>
              </a:rPr>
              <a:t>/</a:t>
            </a:r>
            <a:r>
              <a:rPr lang="zh-CN" altLang="en-US" sz="2000" dirty="0">
                <a:solidFill>
                  <a:schemeClr val="tx1"/>
                </a:solidFill>
              </a:rPr>
              <a:t>小偏压情况，可先按大偏压考虑。</a:t>
            </a:r>
          </a:p>
          <a:p>
            <a:pPr marL="342900" indent="-342900" algn="l">
              <a:lnSpc>
                <a:spcPct val="110000"/>
              </a:lnSpc>
              <a:spcBef>
                <a:spcPct val="50000"/>
              </a:spcBef>
            </a:pPr>
            <a:r>
              <a:rPr lang="zh-CN" altLang="en-US" sz="2000" dirty="0">
                <a:solidFill>
                  <a:schemeClr val="tx1"/>
                </a:solidFill>
              </a:rPr>
              <a:t>对于</a:t>
            </a:r>
            <a:r>
              <a:rPr lang="en-US" altLang="zh-CN" sz="2000" dirty="0">
                <a:solidFill>
                  <a:schemeClr val="tx1"/>
                </a:solidFill>
              </a:rPr>
              <a:t>1</a:t>
            </a:r>
            <a:r>
              <a:rPr lang="zh-CN" altLang="en-US" sz="2000" dirty="0">
                <a:solidFill>
                  <a:schemeClr val="tx1"/>
                </a:solidFill>
              </a:rPr>
              <a:t>），对未知值</a:t>
            </a:r>
            <a:r>
              <a:rPr lang="en-US" altLang="zh-CN" sz="2000" i="1" dirty="0">
                <a:solidFill>
                  <a:schemeClr val="tx1"/>
                </a:solidFill>
              </a:rPr>
              <a:t>N</a:t>
            </a:r>
            <a:r>
              <a:rPr lang="zh-CN" altLang="en-US" sz="2000" dirty="0">
                <a:solidFill>
                  <a:schemeClr val="tx1"/>
                </a:solidFill>
              </a:rPr>
              <a:t>取矩建立平衡方程：</a:t>
            </a:r>
            <a:endParaRPr lang="en-US" altLang="zh-CN" sz="2000" dirty="0">
              <a:solidFill>
                <a:schemeClr val="tx1"/>
              </a:solidFill>
            </a:endParaRPr>
          </a:p>
          <a:p>
            <a:pPr marL="342900" indent="-342900" algn="l">
              <a:lnSpc>
                <a:spcPct val="110000"/>
              </a:lnSpc>
              <a:spcBef>
                <a:spcPct val="50000"/>
              </a:spcBef>
            </a:pPr>
            <a:endParaRPr lang="en-US" altLang="zh-CN" sz="2000" dirty="0">
              <a:solidFill>
                <a:schemeClr val="tx1"/>
              </a:solidFill>
            </a:endParaRPr>
          </a:p>
          <a:p>
            <a:pPr marL="342900" indent="-342900" algn="l">
              <a:lnSpc>
                <a:spcPct val="110000"/>
              </a:lnSpc>
              <a:spcBef>
                <a:spcPct val="50000"/>
              </a:spcBef>
            </a:pPr>
            <a:endParaRPr lang="en-US" altLang="zh-CN" sz="2000" dirty="0">
              <a:solidFill>
                <a:schemeClr val="tx1"/>
              </a:solidFill>
            </a:endParaRPr>
          </a:p>
          <a:p>
            <a:pPr marL="342900" indent="-342900" algn="l">
              <a:lnSpc>
                <a:spcPct val="110000"/>
              </a:lnSpc>
              <a:spcBef>
                <a:spcPct val="50000"/>
              </a:spcBef>
            </a:pPr>
            <a:endParaRPr lang="en-US" altLang="zh-CN" sz="2000" dirty="0">
              <a:solidFill>
                <a:schemeClr val="tx1"/>
              </a:solidFill>
            </a:endParaRPr>
          </a:p>
          <a:p>
            <a:pPr marL="342900" indent="-342900" algn="l">
              <a:lnSpc>
                <a:spcPct val="110000"/>
              </a:lnSpc>
              <a:spcBef>
                <a:spcPct val="50000"/>
              </a:spcBef>
            </a:pPr>
            <a:endParaRPr lang="zh-CN" altLang="en-US" sz="2000" dirty="0">
              <a:solidFill>
                <a:schemeClr val="tx1"/>
              </a:solidFill>
            </a:endParaRPr>
          </a:p>
          <a:p>
            <a:pPr marL="342900" indent="-342900" algn="l">
              <a:lnSpc>
                <a:spcPct val="110000"/>
              </a:lnSpc>
              <a:spcBef>
                <a:spcPct val="50000"/>
              </a:spcBef>
            </a:pPr>
            <a:endParaRPr lang="zh-CN" altLang="en-US" dirty="0">
              <a:solidFill>
                <a:srgbClr val="990099"/>
              </a:solidFill>
            </a:endParaRPr>
          </a:p>
          <a:p>
            <a:pPr marL="342900" indent="-342900" algn="l">
              <a:lnSpc>
                <a:spcPct val="110000"/>
              </a:lnSpc>
              <a:spcBef>
                <a:spcPct val="50000"/>
              </a:spcBef>
            </a:pPr>
            <a:endParaRPr lang="en-US" altLang="zh-CN" sz="2000" dirty="0">
              <a:solidFill>
                <a:schemeClr val="tx1"/>
              </a:solidFill>
            </a:endParaRPr>
          </a:p>
        </p:txBody>
      </p:sp>
      <p:sp>
        <p:nvSpPr>
          <p:cNvPr id="405507" name="Rectangle 3"/>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graphicFrame>
        <p:nvGraphicFramePr>
          <p:cNvPr id="405508" name="Object 4"/>
          <p:cNvGraphicFramePr>
            <a:graphicFrameLocks noChangeAspect="1"/>
          </p:cNvGraphicFramePr>
          <p:nvPr>
            <p:extLst>
              <p:ext uri="{D42A27DB-BD31-4B8C-83A1-F6EECF244321}">
                <p14:modId xmlns:p14="http://schemas.microsoft.com/office/powerpoint/2010/main" val="1074501150"/>
              </p:ext>
            </p:extLst>
          </p:nvPr>
        </p:nvGraphicFramePr>
        <p:xfrm>
          <a:off x="808038" y="4170363"/>
          <a:ext cx="8194675" cy="687387"/>
        </p:xfrm>
        <a:graphic>
          <a:graphicData uri="http://schemas.openxmlformats.org/presentationml/2006/ole">
            <mc:AlternateContent xmlns:mc="http://schemas.openxmlformats.org/markup-compatibility/2006">
              <mc:Choice xmlns:v="urn:schemas-microsoft-com:vml" Requires="v">
                <p:oleObj spid="_x0000_s533555" name="Equation" r:id="rId3" imgW="4825800" imgH="393480" progId="Equation.DSMT4">
                  <p:embed/>
                </p:oleObj>
              </mc:Choice>
              <mc:Fallback>
                <p:oleObj name="Equation" r:id="rId3" imgW="4825800" imgH="393480" progId="Equation.DSMT4">
                  <p:embed/>
                  <p:pic>
                    <p:nvPicPr>
                      <p:cNvPr id="0" name="Picture 2"/>
                      <p:cNvPicPr>
                        <a:picLocks noChangeAspect="1" noChangeArrowheads="1"/>
                      </p:cNvPicPr>
                      <p:nvPr/>
                    </p:nvPicPr>
                    <p:blipFill>
                      <a:blip r:embed="rId4"/>
                      <a:srcRect/>
                      <a:stretch>
                        <a:fillRect/>
                      </a:stretch>
                    </p:blipFill>
                    <p:spPr bwMode="auto">
                      <a:xfrm>
                        <a:off x="808038" y="4170363"/>
                        <a:ext cx="8194675" cy="68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05509" name="Picture 5" descr="gj0716"/>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8214" t="51918" r="50797" b="5403"/>
          <a:stretch>
            <a:fillRect/>
          </a:stretch>
        </p:blipFill>
        <p:spPr bwMode="auto">
          <a:xfrm>
            <a:off x="6400800" y="1600200"/>
            <a:ext cx="2395538" cy="2590800"/>
          </a:xfrm>
          <a:prstGeom prst="rect">
            <a:avLst/>
          </a:prstGeom>
          <a:noFill/>
          <a:extLst>
            <a:ext uri="{909E8E84-426E-40DD-AFC4-6F175D3DCCD1}">
              <a14:hiddenFill xmlns:a14="http://schemas.microsoft.com/office/drawing/2010/main">
                <a:solidFill>
                  <a:srgbClr val="FFFFFF"/>
                </a:solidFill>
              </a14:hiddenFill>
            </a:ext>
          </a:extLst>
        </p:spPr>
      </p:pic>
      <p:sp>
        <p:nvSpPr>
          <p:cNvPr id="405510" name="Text Box 6">
            <a:hlinkClick r:id="rId6" action="ppaction://hlinksldjump"/>
          </p:cNvPr>
          <p:cNvSpPr txBox="1">
            <a:spLocks noChangeArrowheads="1"/>
          </p:cNvSpPr>
          <p:nvPr/>
        </p:nvSpPr>
        <p:spPr bwMode="auto">
          <a:xfrm>
            <a:off x="4800600" y="2209800"/>
            <a:ext cx="1104900" cy="339725"/>
          </a:xfrm>
          <a:prstGeom prst="rect">
            <a:avLst/>
          </a:prstGeom>
          <a:solidFill>
            <a:srgbClr val="0000FF"/>
          </a:solidFill>
          <a:ln>
            <a:noFill/>
          </a:ln>
          <a:effectLst/>
          <a:extLs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dirty="0">
                <a:solidFill>
                  <a:schemeClr val="bg1"/>
                </a:solidFill>
              </a:rPr>
              <a:t>设计流程</a:t>
            </a:r>
          </a:p>
        </p:txBody>
      </p:sp>
      <p:sp>
        <p:nvSpPr>
          <p:cNvPr id="405511" name="Text Box 7">
            <a:hlinkClick r:id="rId7" action="ppaction://hlinksldjump"/>
          </p:cNvPr>
          <p:cNvSpPr txBox="1">
            <a:spLocks noChangeArrowheads="1"/>
          </p:cNvSpPr>
          <p:nvPr/>
        </p:nvSpPr>
        <p:spPr bwMode="auto">
          <a:xfrm>
            <a:off x="4800600" y="2743200"/>
            <a:ext cx="1104900" cy="339725"/>
          </a:xfrm>
          <a:prstGeom prst="rect">
            <a:avLst/>
          </a:prstGeom>
          <a:solidFill>
            <a:srgbClr val="0000FF"/>
          </a:solidFill>
          <a:ln>
            <a:noFill/>
          </a:ln>
          <a:effectLst/>
          <a:extLs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a:solidFill>
                  <a:schemeClr val="bg1"/>
                </a:solidFill>
              </a:rPr>
              <a:t>设计流程</a:t>
            </a:r>
          </a:p>
        </p:txBody>
      </p:sp>
      <p:sp>
        <p:nvSpPr>
          <p:cNvPr id="8" name="TextBox 7"/>
          <p:cNvSpPr txBox="1"/>
          <p:nvPr/>
        </p:nvSpPr>
        <p:spPr>
          <a:xfrm>
            <a:off x="7786710" y="1928802"/>
            <a:ext cx="428628" cy="286232"/>
          </a:xfrm>
          <a:prstGeom prst="rect">
            <a:avLst/>
          </a:prstGeom>
          <a:solidFill>
            <a:schemeClr val="bg1"/>
          </a:solidFill>
        </p:spPr>
        <p:txBody>
          <a:bodyPr wrap="square" rtlCol="0">
            <a:spAutoFit/>
          </a:bodyPr>
          <a:lstStyle/>
          <a:p>
            <a:r>
              <a:rPr lang="en-US" altLang="zh-CN" sz="1400" i="1" dirty="0" err="1">
                <a:solidFill>
                  <a:schemeClr val="tx2"/>
                </a:solidFill>
              </a:rPr>
              <a:t>e</a:t>
            </a:r>
            <a:r>
              <a:rPr lang="en-US" altLang="zh-CN" sz="1400" baseline="-25000" dirty="0" err="1">
                <a:solidFill>
                  <a:schemeClr val="tx2"/>
                </a:solidFill>
              </a:rPr>
              <a:t>i</a:t>
            </a:r>
            <a:endParaRPr lang="zh-CN" altLang="en-US" sz="1400" baseline="-25000" dirty="0">
              <a:solidFill>
                <a:schemeClr val="tx2"/>
              </a:solidFill>
            </a:endParaRPr>
          </a:p>
        </p:txBody>
      </p:sp>
      <p:sp>
        <p:nvSpPr>
          <p:cNvPr id="9" name="矩形 8"/>
          <p:cNvSpPr/>
          <p:nvPr/>
        </p:nvSpPr>
        <p:spPr>
          <a:xfrm>
            <a:off x="714348" y="4933602"/>
            <a:ext cx="8215370" cy="991041"/>
          </a:xfrm>
          <a:prstGeom prst="rect">
            <a:avLst/>
          </a:prstGeom>
        </p:spPr>
        <p:txBody>
          <a:bodyPr wrap="square">
            <a:spAutoFit/>
          </a:bodyPr>
          <a:lstStyle/>
          <a:p>
            <a:pPr marL="342900" indent="-342900" algn="l">
              <a:lnSpc>
                <a:spcPct val="110000"/>
              </a:lnSpc>
              <a:spcBef>
                <a:spcPct val="100000"/>
              </a:spcBef>
            </a:pPr>
            <a:r>
              <a:rPr lang="en-US" altLang="zh-CN" dirty="0">
                <a:solidFill>
                  <a:srgbClr val="990099"/>
                </a:solidFill>
              </a:rPr>
              <a:t>2.</a:t>
            </a:r>
            <a:r>
              <a:rPr lang="zh-CN" altLang="en-US" dirty="0">
                <a:solidFill>
                  <a:srgbClr val="990099"/>
                </a:solidFill>
              </a:rPr>
              <a:t>垂直于弯矩作用平面受压承载力的复核</a:t>
            </a:r>
            <a:endParaRPr lang="zh-CN" altLang="en-US" dirty="0"/>
          </a:p>
          <a:p>
            <a:pPr marL="342900" indent="-342900" algn="l">
              <a:lnSpc>
                <a:spcPct val="110000"/>
              </a:lnSpc>
              <a:spcBef>
                <a:spcPct val="50000"/>
              </a:spcBef>
            </a:pPr>
            <a:r>
              <a:rPr lang="zh-CN" altLang="en-US" sz="2000" dirty="0">
                <a:solidFill>
                  <a:schemeClr val="tx1"/>
                </a:solidFill>
              </a:rPr>
              <a:t>计算方法同轴向力计算，计算值与弯矩作用平面计算值做比较，取小者 </a:t>
            </a: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407555" name="Rectangle 3"/>
          <p:cNvSpPr>
            <a:spLocks noChangeArrowheads="1"/>
          </p:cNvSpPr>
          <p:nvPr/>
        </p:nvSpPr>
        <p:spPr bwMode="auto">
          <a:xfrm>
            <a:off x="611188" y="1066800"/>
            <a:ext cx="8304212"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10000"/>
              </a:lnSpc>
              <a:spcBef>
                <a:spcPct val="50000"/>
              </a:spcBef>
            </a:pPr>
            <a:r>
              <a:rPr lang="en-US" altLang="zh-CN" sz="2000"/>
              <a:t>1</a:t>
            </a:r>
            <a:r>
              <a:rPr lang="zh-CN" altLang="en-US" sz="2000"/>
              <a:t>）已知荷载偏心矩</a:t>
            </a:r>
            <a:r>
              <a:rPr lang="en-US" altLang="zh-CN" sz="2000" i="1"/>
              <a:t>e</a:t>
            </a:r>
            <a:r>
              <a:rPr lang="en-US" altLang="zh-CN" sz="2000" baseline="-25000"/>
              <a:t>0</a:t>
            </a:r>
            <a:r>
              <a:rPr lang="zh-CN" altLang="en-US" sz="2000"/>
              <a:t>，要求计算轴力设计值</a:t>
            </a:r>
            <a:r>
              <a:rPr lang="en-US" altLang="zh-CN" sz="2000" i="1"/>
              <a:t>N</a:t>
            </a:r>
          </a:p>
        </p:txBody>
      </p:sp>
      <p:sp>
        <p:nvSpPr>
          <p:cNvPr id="407556" name="AutoShape 4"/>
          <p:cNvSpPr>
            <a:spLocks noChangeArrowheads="1"/>
          </p:cNvSpPr>
          <p:nvPr/>
        </p:nvSpPr>
        <p:spPr bwMode="auto">
          <a:xfrm>
            <a:off x="3978275" y="2754313"/>
            <a:ext cx="228600" cy="304800"/>
          </a:xfrm>
          <a:prstGeom prst="downArrow">
            <a:avLst>
              <a:gd name="adj1" fmla="val 50000"/>
              <a:gd name="adj2" fmla="val 33333"/>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7557" name="AutoShape 5"/>
          <p:cNvSpPr>
            <a:spLocks noChangeArrowheads="1"/>
          </p:cNvSpPr>
          <p:nvPr/>
        </p:nvSpPr>
        <p:spPr bwMode="auto">
          <a:xfrm>
            <a:off x="3962400" y="1905000"/>
            <a:ext cx="238125" cy="381000"/>
          </a:xfrm>
          <a:prstGeom prst="downArrow">
            <a:avLst>
              <a:gd name="adj1" fmla="val 50000"/>
              <a:gd name="adj2" fmla="val 40000"/>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7558" name="AutoShape 6"/>
          <p:cNvSpPr>
            <a:spLocks noChangeArrowheads="1"/>
          </p:cNvSpPr>
          <p:nvPr/>
        </p:nvSpPr>
        <p:spPr bwMode="auto">
          <a:xfrm>
            <a:off x="5821363" y="2206625"/>
            <a:ext cx="1951037" cy="642938"/>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50000"/>
              </a:spcBef>
              <a:buClrTx/>
              <a:buFontTx/>
              <a:buNone/>
            </a:pPr>
            <a:r>
              <a:rPr lang="zh-CN" altLang="en-US" sz="1600"/>
              <a:t>为大偏压，将</a:t>
            </a:r>
            <a:r>
              <a:rPr lang="en-US" altLang="zh-CN" sz="1600" i="1"/>
              <a:t>x</a:t>
            </a:r>
            <a:r>
              <a:rPr lang="zh-CN" altLang="en-US" sz="1600"/>
              <a:t>代入</a:t>
            </a:r>
            <a:r>
              <a:rPr lang="en-US" altLang="zh-CN" sz="1600"/>
              <a:t>(1)</a:t>
            </a:r>
            <a:r>
              <a:rPr lang="zh-CN" altLang="en-US" sz="1600"/>
              <a:t>计算</a:t>
            </a:r>
            <a:r>
              <a:rPr lang="en-US" altLang="zh-CN" sz="1600" i="1"/>
              <a:t>N</a:t>
            </a:r>
          </a:p>
        </p:txBody>
      </p:sp>
      <p:sp>
        <p:nvSpPr>
          <p:cNvPr id="407559" name="AutoShape 7"/>
          <p:cNvSpPr>
            <a:spLocks noChangeArrowheads="1"/>
          </p:cNvSpPr>
          <p:nvPr/>
        </p:nvSpPr>
        <p:spPr bwMode="auto">
          <a:xfrm rot="5400000">
            <a:off x="2950369" y="2035969"/>
            <a:ext cx="195262" cy="914400"/>
          </a:xfrm>
          <a:prstGeom prst="downArrow">
            <a:avLst>
              <a:gd name="adj1" fmla="val 50000"/>
              <a:gd name="adj2" fmla="val 117073"/>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7560" name="AutoShape 8"/>
          <p:cNvSpPr>
            <a:spLocks noChangeArrowheads="1"/>
          </p:cNvSpPr>
          <p:nvPr/>
        </p:nvSpPr>
        <p:spPr bwMode="auto">
          <a:xfrm rot="16200000" flipH="1">
            <a:off x="5122069" y="1921669"/>
            <a:ext cx="195262" cy="1143000"/>
          </a:xfrm>
          <a:prstGeom prst="downArrow">
            <a:avLst>
              <a:gd name="adj1" fmla="val 50000"/>
              <a:gd name="adj2" fmla="val 146342"/>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07561" name="Object 9"/>
          <p:cNvGraphicFramePr>
            <a:graphicFrameLocks noChangeAspect="1"/>
          </p:cNvGraphicFramePr>
          <p:nvPr/>
        </p:nvGraphicFramePr>
        <p:xfrm>
          <a:off x="2671763" y="2120900"/>
          <a:ext cx="681037" cy="347663"/>
        </p:xfrm>
        <a:graphic>
          <a:graphicData uri="http://schemas.openxmlformats.org/presentationml/2006/ole">
            <mc:AlternateContent xmlns:mc="http://schemas.openxmlformats.org/markup-compatibility/2006">
              <mc:Choice xmlns:v="urn:schemas-microsoft-com:vml" Requires="v">
                <p:oleObj spid="_x0000_s535058" name="Equation" r:id="rId3" imgW="469696" imgH="241195" progId="Equation.DSMT4">
                  <p:embed/>
                </p:oleObj>
              </mc:Choice>
              <mc:Fallback>
                <p:oleObj name="Equation" r:id="rId3" imgW="469696" imgH="241195"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1763" y="2120900"/>
                        <a:ext cx="681037"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7562" name="Object 10"/>
          <p:cNvGraphicFramePr>
            <a:graphicFrameLocks noChangeAspect="1"/>
          </p:cNvGraphicFramePr>
          <p:nvPr/>
        </p:nvGraphicFramePr>
        <p:xfrm>
          <a:off x="4191000" y="2743200"/>
          <a:ext cx="588963" cy="330200"/>
        </p:xfrm>
        <a:graphic>
          <a:graphicData uri="http://schemas.openxmlformats.org/presentationml/2006/ole">
            <mc:AlternateContent xmlns:mc="http://schemas.openxmlformats.org/markup-compatibility/2006">
              <mc:Choice xmlns:v="urn:schemas-microsoft-com:vml" Requires="v">
                <p:oleObj spid="_x0000_s535059" name="Equation" r:id="rId5" imgW="406224" imgH="228501" progId="">
                  <p:embed/>
                </p:oleObj>
              </mc:Choice>
              <mc:Fallback>
                <p:oleObj name="Equation" r:id="rId5" imgW="406224" imgH="228501"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2743200"/>
                        <a:ext cx="588963"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7563" name="AutoShape 11"/>
          <p:cNvSpPr>
            <a:spLocks noChangeArrowheads="1"/>
          </p:cNvSpPr>
          <p:nvPr/>
        </p:nvSpPr>
        <p:spPr bwMode="auto">
          <a:xfrm>
            <a:off x="2839269" y="1538763"/>
            <a:ext cx="2466927" cy="408623"/>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00000"/>
              </a:lnSpc>
              <a:spcBef>
                <a:spcPct val="50000"/>
              </a:spcBef>
              <a:buClrTx/>
              <a:buFontTx/>
              <a:buNone/>
            </a:pPr>
            <a:r>
              <a:rPr lang="zh-CN" altLang="en-US" sz="1800" dirty="0">
                <a:latin typeface="Arial" charset="0"/>
              </a:rPr>
              <a:t>对轴向力</a:t>
            </a:r>
            <a:r>
              <a:rPr lang="en-US" altLang="zh-CN" sz="1800" i="1" dirty="0">
                <a:cs typeface="Times New Roman" panose="02020603050405020304" pitchFamily="18" charset="0"/>
              </a:rPr>
              <a:t>N</a:t>
            </a:r>
            <a:r>
              <a:rPr lang="zh-CN" altLang="en-US" sz="1800" dirty="0">
                <a:latin typeface="Arial" charset="0"/>
              </a:rPr>
              <a:t>作用点取矩</a:t>
            </a:r>
            <a:endParaRPr lang="en-US" altLang="zh-CN" sz="1800" dirty="0">
              <a:latin typeface="Arial" charset="0"/>
            </a:endParaRPr>
          </a:p>
        </p:txBody>
      </p:sp>
      <p:graphicFrame>
        <p:nvGraphicFramePr>
          <p:cNvPr id="407564" name="Object 12"/>
          <p:cNvGraphicFramePr>
            <a:graphicFrameLocks noChangeAspect="1"/>
          </p:cNvGraphicFramePr>
          <p:nvPr/>
        </p:nvGraphicFramePr>
        <p:xfrm>
          <a:off x="5365750" y="3048000"/>
          <a:ext cx="865188" cy="771525"/>
        </p:xfrm>
        <a:graphic>
          <a:graphicData uri="http://schemas.openxmlformats.org/presentationml/2006/ole">
            <mc:AlternateContent xmlns:mc="http://schemas.openxmlformats.org/markup-compatibility/2006">
              <mc:Choice xmlns:v="urn:schemas-microsoft-com:vml" Requires="v">
                <p:oleObj spid="_x0000_s535060" name="Equation" r:id="rId7" imgW="596641" imgH="533169" progId="">
                  <p:embed/>
                </p:oleObj>
              </mc:Choice>
              <mc:Fallback>
                <p:oleObj name="Equation" r:id="rId7" imgW="596641" imgH="533169" progId="">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65750" y="3048000"/>
                        <a:ext cx="865188"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7565" name="Object 13"/>
          <p:cNvGraphicFramePr>
            <a:graphicFrameLocks noChangeAspect="1"/>
          </p:cNvGraphicFramePr>
          <p:nvPr/>
        </p:nvGraphicFramePr>
        <p:xfrm>
          <a:off x="2093913" y="3352800"/>
          <a:ext cx="1030287" cy="330200"/>
        </p:xfrm>
        <a:graphic>
          <a:graphicData uri="http://schemas.openxmlformats.org/presentationml/2006/ole">
            <mc:AlternateContent xmlns:mc="http://schemas.openxmlformats.org/markup-compatibility/2006">
              <mc:Choice xmlns:v="urn:schemas-microsoft-com:vml" Requires="v">
                <p:oleObj spid="_x0000_s535061" name="Equation" r:id="rId9" imgW="711200" imgH="228600" progId="">
                  <p:embed/>
                </p:oleObj>
              </mc:Choice>
              <mc:Fallback>
                <p:oleObj name="Equation" r:id="rId9" imgW="711200" imgH="228600" progId="">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93913" y="3352800"/>
                        <a:ext cx="1030287"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7566" name="Object 14"/>
          <p:cNvGraphicFramePr>
            <a:graphicFrameLocks noChangeAspect="1"/>
          </p:cNvGraphicFramePr>
          <p:nvPr>
            <p:extLst>
              <p:ext uri="{D42A27DB-BD31-4B8C-83A1-F6EECF244321}">
                <p14:modId xmlns:p14="http://schemas.microsoft.com/office/powerpoint/2010/main" val="2994003862"/>
              </p:ext>
            </p:extLst>
          </p:nvPr>
        </p:nvGraphicFramePr>
        <p:xfrm>
          <a:off x="4503738" y="2090738"/>
          <a:ext cx="1123950" cy="347662"/>
        </p:xfrm>
        <a:graphic>
          <a:graphicData uri="http://schemas.openxmlformats.org/presentationml/2006/ole">
            <mc:AlternateContent xmlns:mc="http://schemas.openxmlformats.org/markup-compatibility/2006">
              <mc:Choice xmlns:v="urn:schemas-microsoft-com:vml" Requires="v">
                <p:oleObj spid="_x0000_s535062" name="Equation" r:id="rId11" imgW="774360" imgH="241200" progId="Equation.DSMT4">
                  <p:embed/>
                </p:oleObj>
              </mc:Choice>
              <mc:Fallback>
                <p:oleObj name="Equation" r:id="rId11" imgW="774360" imgH="241200" progId="Equation.DSMT4">
                  <p:embed/>
                  <p:pic>
                    <p:nvPicPr>
                      <p:cNvPr id="0" name="Picture 6"/>
                      <p:cNvPicPr>
                        <a:picLocks noChangeAspect="1" noChangeArrowheads="1"/>
                      </p:cNvPicPr>
                      <p:nvPr/>
                    </p:nvPicPr>
                    <p:blipFill>
                      <a:blip r:embed="rId12"/>
                      <a:srcRect/>
                      <a:stretch>
                        <a:fillRect/>
                      </a:stretch>
                    </p:blipFill>
                    <p:spPr bwMode="auto">
                      <a:xfrm>
                        <a:off x="4503738" y="2090738"/>
                        <a:ext cx="1123950"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7567" name="Object 15"/>
          <p:cNvGraphicFramePr>
            <a:graphicFrameLocks noChangeAspect="1"/>
          </p:cNvGraphicFramePr>
          <p:nvPr/>
        </p:nvGraphicFramePr>
        <p:xfrm>
          <a:off x="4267200" y="4610100"/>
          <a:ext cx="1104900" cy="660400"/>
        </p:xfrm>
        <a:graphic>
          <a:graphicData uri="http://schemas.openxmlformats.org/presentationml/2006/ole">
            <mc:AlternateContent xmlns:mc="http://schemas.openxmlformats.org/markup-compatibility/2006">
              <mc:Choice xmlns:v="urn:schemas-microsoft-com:vml" Requires="v">
                <p:oleObj spid="_x0000_s535063" name="Equation" r:id="rId13" imgW="762000" imgH="457200" progId="">
                  <p:embed/>
                </p:oleObj>
              </mc:Choice>
              <mc:Fallback>
                <p:oleObj name="Equation" r:id="rId13" imgW="762000" imgH="457200" progId="">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67200" y="4610100"/>
                        <a:ext cx="110490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6"/>
          <p:cNvGrpSpPr>
            <a:grpSpLocks/>
          </p:cNvGrpSpPr>
          <p:nvPr/>
        </p:nvGrpSpPr>
        <p:grpSpPr bwMode="auto">
          <a:xfrm>
            <a:off x="2895600" y="3048000"/>
            <a:ext cx="2438400" cy="1600200"/>
            <a:chOff x="1824" y="2064"/>
            <a:chExt cx="1536" cy="1008"/>
          </a:xfrm>
        </p:grpSpPr>
        <p:sp>
          <p:nvSpPr>
            <p:cNvPr id="407569" name="AutoShape 17"/>
            <p:cNvSpPr>
              <a:spLocks noChangeArrowheads="1"/>
            </p:cNvSpPr>
            <p:nvPr/>
          </p:nvSpPr>
          <p:spPr bwMode="auto">
            <a:xfrm>
              <a:off x="1824" y="2064"/>
              <a:ext cx="1536" cy="1008"/>
            </a:xfrm>
            <a:prstGeom prst="flowChartPreparation">
              <a:avLst/>
            </a:prstGeom>
            <a:solidFill>
              <a:srgbClr val="FF00FF">
                <a:alpha val="50000"/>
              </a:srgbClr>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 name="Group 18"/>
            <p:cNvGrpSpPr>
              <a:grpSpLocks/>
            </p:cNvGrpSpPr>
            <p:nvPr/>
          </p:nvGrpSpPr>
          <p:grpSpPr bwMode="auto">
            <a:xfrm>
              <a:off x="2112" y="2112"/>
              <a:ext cx="1083" cy="879"/>
              <a:chOff x="4656" y="2822"/>
              <a:chExt cx="1083" cy="879"/>
            </a:xfrm>
          </p:grpSpPr>
          <p:graphicFrame>
            <p:nvGraphicFramePr>
              <p:cNvPr id="407571" name="Object 19"/>
              <p:cNvGraphicFramePr>
                <a:graphicFrameLocks noChangeAspect="1"/>
              </p:cNvGraphicFramePr>
              <p:nvPr/>
            </p:nvGraphicFramePr>
            <p:xfrm>
              <a:off x="4704" y="2928"/>
              <a:ext cx="904" cy="416"/>
            </p:xfrm>
            <a:graphic>
              <a:graphicData uri="http://schemas.openxmlformats.org/presentationml/2006/ole">
                <mc:AlternateContent xmlns:mc="http://schemas.openxmlformats.org/markup-compatibility/2006">
                  <mc:Choice xmlns:v="urn:schemas-microsoft-com:vml" Requires="v">
                    <p:oleObj spid="_x0000_s535064" name="Equation" r:id="rId15" imgW="1307520" imgH="596880" progId="">
                      <p:embed/>
                    </p:oleObj>
                  </mc:Choice>
                  <mc:Fallback>
                    <p:oleObj name="Equation" r:id="rId15" imgW="1307520" imgH="596880" progId="">
                      <p:embed/>
                      <p:pic>
                        <p:nvPicPr>
                          <p:cNvPr id="0"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04" y="2928"/>
                            <a:ext cx="904" cy="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7572" name="Rectangle 20"/>
              <p:cNvSpPr>
                <a:spLocks noChangeArrowheads="1"/>
              </p:cNvSpPr>
              <p:nvPr/>
            </p:nvSpPr>
            <p:spPr bwMode="auto">
              <a:xfrm>
                <a:off x="4656" y="2822"/>
                <a:ext cx="922" cy="197"/>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a:solidFill>
                      <a:schemeClr val="tx2"/>
                    </a:solidFill>
                  </a:rPr>
                  <a:t>为小偏压 ，取</a:t>
                </a:r>
              </a:p>
            </p:txBody>
          </p:sp>
          <p:sp>
            <p:nvSpPr>
              <p:cNvPr id="407573" name="Rectangle 21"/>
              <p:cNvSpPr>
                <a:spLocks noChangeArrowheads="1"/>
              </p:cNvSpPr>
              <p:nvPr/>
            </p:nvSpPr>
            <p:spPr bwMode="auto">
              <a:xfrm>
                <a:off x="4656" y="3312"/>
                <a:ext cx="1083" cy="197"/>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a:solidFill>
                      <a:schemeClr val="tx2"/>
                    </a:solidFill>
                  </a:rPr>
                  <a:t>代替（</a:t>
                </a:r>
                <a:r>
                  <a:rPr lang="en-US" altLang="zh-CN" sz="1600">
                    <a:solidFill>
                      <a:schemeClr val="tx2"/>
                    </a:solidFill>
                  </a:rPr>
                  <a:t>5</a:t>
                </a:r>
                <a:r>
                  <a:rPr lang="zh-CN" altLang="en-US" sz="1600">
                    <a:solidFill>
                      <a:schemeClr val="tx2"/>
                    </a:solidFill>
                  </a:rPr>
                  <a:t>）式中的</a:t>
                </a:r>
              </a:p>
            </p:txBody>
          </p:sp>
          <p:sp>
            <p:nvSpPr>
              <p:cNvPr id="407574" name="Rectangle 22"/>
              <p:cNvSpPr>
                <a:spLocks noChangeArrowheads="1"/>
              </p:cNvSpPr>
              <p:nvPr/>
            </p:nvSpPr>
            <p:spPr bwMode="auto">
              <a:xfrm>
                <a:off x="4704" y="3504"/>
                <a:ext cx="783" cy="197"/>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i="1">
                    <a:solidFill>
                      <a:schemeClr val="tx2"/>
                    </a:solidFill>
                  </a:rPr>
                  <a:t>f</a:t>
                </a:r>
                <a:r>
                  <a:rPr lang="en-US" altLang="zh-CN" sz="1600" baseline="-25000">
                    <a:solidFill>
                      <a:schemeClr val="tx2"/>
                    </a:solidFill>
                  </a:rPr>
                  <a:t>y</a:t>
                </a:r>
                <a:r>
                  <a:rPr lang="zh-CN" altLang="en-US" sz="1600">
                    <a:solidFill>
                      <a:schemeClr val="tx2"/>
                    </a:solidFill>
                  </a:rPr>
                  <a:t>重新计算</a:t>
                </a:r>
                <a:r>
                  <a:rPr lang="en-US" altLang="zh-CN" sz="1600" i="1">
                    <a:solidFill>
                      <a:schemeClr val="tx2"/>
                    </a:solidFill>
                  </a:rPr>
                  <a:t>x</a:t>
                </a:r>
              </a:p>
            </p:txBody>
          </p:sp>
        </p:grpSp>
      </p:grpSp>
      <p:grpSp>
        <p:nvGrpSpPr>
          <p:cNvPr id="4" name="Group 23"/>
          <p:cNvGrpSpPr>
            <a:grpSpLocks/>
          </p:cNvGrpSpPr>
          <p:nvPr/>
        </p:nvGrpSpPr>
        <p:grpSpPr bwMode="auto">
          <a:xfrm>
            <a:off x="544513" y="2057400"/>
            <a:ext cx="2046287" cy="946150"/>
            <a:chOff x="309" y="1379"/>
            <a:chExt cx="1289" cy="596"/>
          </a:xfrm>
        </p:grpSpPr>
        <p:sp>
          <p:nvSpPr>
            <p:cNvPr id="407576" name="AutoShape 24"/>
            <p:cNvSpPr>
              <a:spLocks noChangeArrowheads="1"/>
            </p:cNvSpPr>
            <p:nvPr/>
          </p:nvSpPr>
          <p:spPr bwMode="auto">
            <a:xfrm>
              <a:off x="309" y="1379"/>
              <a:ext cx="1289" cy="596"/>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50000"/>
                </a:spcBef>
                <a:buClrTx/>
                <a:buFontTx/>
                <a:buNone/>
              </a:pPr>
              <a:endParaRPr lang="en-US" altLang="zh-CN" sz="2000"/>
            </a:p>
            <a:p>
              <a:pPr algn="l">
                <a:lnSpc>
                  <a:spcPct val="100000"/>
                </a:lnSpc>
                <a:spcBef>
                  <a:spcPct val="50000"/>
                </a:spcBef>
                <a:buClrTx/>
                <a:buFontTx/>
                <a:buNone/>
              </a:pPr>
              <a:endParaRPr lang="en-US" altLang="zh-CN" sz="2000"/>
            </a:p>
          </p:txBody>
        </p:sp>
        <p:graphicFrame>
          <p:nvGraphicFramePr>
            <p:cNvPr id="407577" name="Object 25"/>
            <p:cNvGraphicFramePr>
              <a:graphicFrameLocks noChangeAspect="1"/>
            </p:cNvGraphicFramePr>
            <p:nvPr/>
          </p:nvGraphicFramePr>
          <p:xfrm>
            <a:off x="384" y="1479"/>
            <a:ext cx="1032" cy="393"/>
          </p:xfrm>
          <a:graphic>
            <a:graphicData uri="http://schemas.openxmlformats.org/presentationml/2006/ole">
              <mc:AlternateContent xmlns:mc="http://schemas.openxmlformats.org/markup-compatibility/2006">
                <mc:Choice xmlns:v="urn:schemas-microsoft-com:vml" Requires="v">
                  <p:oleObj spid="_x0000_s535065" name="Equation" r:id="rId17" imgW="1129810" imgH="431613" progId="">
                    <p:embed/>
                  </p:oleObj>
                </mc:Choice>
                <mc:Fallback>
                  <p:oleObj name="Equation" r:id="rId17" imgW="1129810" imgH="431613" progId="">
                    <p:embed/>
                    <p:pic>
                      <p:nvPicPr>
                        <p:cNvPr id="0" name="Picture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84" y="1479"/>
                          <a:ext cx="1032" cy="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07578" name="AutoShape 26"/>
          <p:cNvSpPr>
            <a:spLocks noChangeArrowheads="1"/>
          </p:cNvSpPr>
          <p:nvPr/>
        </p:nvSpPr>
        <p:spPr bwMode="auto">
          <a:xfrm rot="5400000">
            <a:off x="2395537" y="3435351"/>
            <a:ext cx="193675" cy="806450"/>
          </a:xfrm>
          <a:prstGeom prst="downArrow">
            <a:avLst>
              <a:gd name="adj1" fmla="val 50000"/>
              <a:gd name="adj2" fmla="val 104098"/>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7579" name="AutoShape 27"/>
          <p:cNvSpPr>
            <a:spLocks noChangeArrowheads="1"/>
          </p:cNvSpPr>
          <p:nvPr/>
        </p:nvSpPr>
        <p:spPr bwMode="auto">
          <a:xfrm rot="16200000" flipH="1">
            <a:off x="5753100" y="3314700"/>
            <a:ext cx="228600" cy="1066800"/>
          </a:xfrm>
          <a:prstGeom prst="downArrow">
            <a:avLst>
              <a:gd name="adj1" fmla="val 50000"/>
              <a:gd name="adj2" fmla="val 116667"/>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7580" name="AutoShape 28"/>
          <p:cNvSpPr>
            <a:spLocks noChangeArrowheads="1"/>
          </p:cNvSpPr>
          <p:nvPr/>
        </p:nvSpPr>
        <p:spPr bwMode="auto">
          <a:xfrm>
            <a:off x="533400" y="3525838"/>
            <a:ext cx="1530350" cy="642937"/>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50000"/>
              </a:spcBef>
              <a:buClrTx/>
              <a:buFontTx/>
              <a:buNone/>
            </a:pPr>
            <a:r>
              <a:rPr lang="zh-CN" altLang="en-US" sz="1600"/>
              <a:t>将</a:t>
            </a:r>
            <a:r>
              <a:rPr lang="en-US" altLang="zh-CN" sz="1600" i="1"/>
              <a:t>x</a:t>
            </a:r>
            <a:r>
              <a:rPr lang="zh-CN" altLang="en-US" sz="1600"/>
              <a:t>直接代入</a:t>
            </a:r>
            <a:r>
              <a:rPr lang="en-US" altLang="zh-CN" sz="1600"/>
              <a:t>(4)</a:t>
            </a:r>
            <a:r>
              <a:rPr lang="zh-CN" altLang="en-US" sz="1600"/>
              <a:t>式计算</a:t>
            </a:r>
            <a:r>
              <a:rPr lang="en-US" altLang="zh-CN" sz="1600" i="1"/>
              <a:t>N</a:t>
            </a:r>
            <a:endParaRPr lang="en-US" altLang="zh-CN" sz="1600"/>
          </a:p>
        </p:txBody>
      </p:sp>
      <p:sp>
        <p:nvSpPr>
          <p:cNvPr id="407581" name="AutoShape 29"/>
          <p:cNvSpPr>
            <a:spLocks noChangeArrowheads="1"/>
          </p:cNvSpPr>
          <p:nvPr/>
        </p:nvSpPr>
        <p:spPr bwMode="auto">
          <a:xfrm>
            <a:off x="6400800" y="3235325"/>
            <a:ext cx="2667000" cy="1185863"/>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50000"/>
              </a:spcBef>
              <a:buClrTx/>
              <a:buFontTx/>
              <a:buNone/>
            </a:pPr>
            <a:r>
              <a:rPr lang="zh-CN" altLang="en-US" sz="1600"/>
              <a:t>表示钢筋已经屈服，但尚未全截面受压。故取</a:t>
            </a:r>
            <a:r>
              <a:rPr lang="el-GR" altLang="zh-CN" sz="1600" i="1"/>
              <a:t>σ </a:t>
            </a:r>
            <a:r>
              <a:rPr lang="en-US" altLang="zh-CN" sz="1600" baseline="-25000">
                <a:cs typeface="Times New Roman" pitchFamily="18" charset="0"/>
              </a:rPr>
              <a:t>s</a:t>
            </a:r>
            <a:r>
              <a:rPr lang="zh-CN" altLang="en-US" sz="1600"/>
              <a:t>＝</a:t>
            </a:r>
            <a:r>
              <a:rPr lang="en-US" altLang="zh-CN" sz="1600"/>
              <a:t>-</a:t>
            </a:r>
            <a:r>
              <a:rPr lang="en-US" altLang="zh-CN" sz="1600" i="1"/>
              <a:t>f</a:t>
            </a:r>
            <a:r>
              <a:rPr lang="en-US" altLang="zh-CN" sz="1600" baseline="-25000"/>
              <a:t>y</a:t>
            </a:r>
            <a:r>
              <a:rPr lang="en-US" altLang="zh-CN" sz="1600" baseline="30000"/>
              <a:t>’</a:t>
            </a:r>
            <a:r>
              <a:rPr lang="zh-CN" altLang="en-US" sz="1600"/>
              <a:t>代入</a:t>
            </a:r>
            <a:r>
              <a:rPr lang="en-US" altLang="zh-CN" sz="1600"/>
              <a:t>(5)</a:t>
            </a:r>
            <a:r>
              <a:rPr lang="zh-CN" altLang="en-US" sz="1600"/>
              <a:t>中求解</a:t>
            </a:r>
            <a:r>
              <a:rPr lang="en-US" altLang="zh-CN" sz="1600" i="1"/>
              <a:t>x</a:t>
            </a:r>
            <a:r>
              <a:rPr lang="zh-CN" altLang="en-US" sz="1600"/>
              <a:t>，然后代入</a:t>
            </a:r>
            <a:r>
              <a:rPr lang="en-US" altLang="zh-CN" sz="1600"/>
              <a:t>(3)</a:t>
            </a:r>
            <a:r>
              <a:rPr lang="zh-CN" altLang="en-US" sz="1600"/>
              <a:t>求</a:t>
            </a:r>
            <a:r>
              <a:rPr lang="en-US" altLang="zh-CN" sz="1600" i="1"/>
              <a:t>N</a:t>
            </a:r>
            <a:endParaRPr lang="en-US" altLang="zh-CN" sz="1600"/>
          </a:p>
        </p:txBody>
      </p:sp>
      <p:sp>
        <p:nvSpPr>
          <p:cNvPr id="407582" name="AutoShape 30"/>
          <p:cNvSpPr>
            <a:spLocks noChangeArrowheads="1"/>
          </p:cNvSpPr>
          <p:nvPr/>
        </p:nvSpPr>
        <p:spPr bwMode="auto">
          <a:xfrm>
            <a:off x="2819400" y="5181600"/>
            <a:ext cx="2743200" cy="914400"/>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50000"/>
              </a:spcBef>
              <a:buClrTx/>
              <a:buFontTx/>
              <a:buNone/>
            </a:pPr>
            <a:r>
              <a:rPr lang="zh-CN" altLang="en-US" sz="1600"/>
              <a:t>表示混凝土全截面受压</a:t>
            </a:r>
            <a:r>
              <a:rPr lang="en-US" altLang="zh-CN" sz="1600"/>
              <a:t>, </a:t>
            </a:r>
            <a:r>
              <a:rPr lang="zh-CN" altLang="en-US" sz="1600"/>
              <a:t>中和轴已经在截面以外</a:t>
            </a:r>
            <a:r>
              <a:rPr lang="en-US" altLang="zh-CN" sz="1600"/>
              <a:t>,</a:t>
            </a:r>
            <a:r>
              <a:rPr lang="zh-CN" altLang="en-US" sz="1600"/>
              <a:t>取</a:t>
            </a:r>
            <a:r>
              <a:rPr lang="el-GR" altLang="zh-CN" sz="1600" i="1"/>
              <a:t>σ </a:t>
            </a:r>
            <a:r>
              <a:rPr lang="en-US" altLang="zh-CN" sz="1600" baseline="-25000">
                <a:cs typeface="Times New Roman" pitchFamily="18" charset="0"/>
              </a:rPr>
              <a:t>s</a:t>
            </a:r>
            <a:r>
              <a:rPr lang="zh-CN" altLang="en-US" sz="1600"/>
              <a:t>＝</a:t>
            </a:r>
            <a:r>
              <a:rPr lang="en-US" altLang="zh-CN" sz="1600"/>
              <a:t>-</a:t>
            </a:r>
            <a:r>
              <a:rPr lang="en-US" altLang="zh-CN" sz="1600" i="1"/>
              <a:t>f</a:t>
            </a:r>
            <a:r>
              <a:rPr lang="en-US" altLang="zh-CN" sz="1600" baseline="-25000"/>
              <a:t>y</a:t>
            </a:r>
            <a:r>
              <a:rPr lang="en-US" altLang="zh-CN" sz="1600" baseline="30000"/>
              <a:t>’</a:t>
            </a:r>
            <a:r>
              <a:rPr lang="en-US" altLang="zh-CN" sz="1600"/>
              <a:t> </a:t>
            </a:r>
            <a:r>
              <a:rPr lang="zh-CN" altLang="en-US" sz="1600"/>
              <a:t>，且</a:t>
            </a:r>
            <a:r>
              <a:rPr lang="en-US" altLang="zh-CN" sz="1600" i="1"/>
              <a:t>x</a:t>
            </a:r>
            <a:r>
              <a:rPr lang="zh-CN" altLang="en-US" sz="1600"/>
              <a:t>＝</a:t>
            </a:r>
            <a:r>
              <a:rPr lang="en-US" altLang="zh-CN" sz="1600" i="1"/>
              <a:t>h</a:t>
            </a:r>
            <a:r>
              <a:rPr lang="zh-CN" altLang="en-US" sz="1600"/>
              <a:t>代入</a:t>
            </a:r>
            <a:r>
              <a:rPr lang="en-US" altLang="zh-CN" sz="1600"/>
              <a:t>(3)</a:t>
            </a:r>
            <a:r>
              <a:rPr lang="zh-CN" altLang="en-US" sz="1600"/>
              <a:t>求</a:t>
            </a:r>
            <a:r>
              <a:rPr lang="en-US" altLang="zh-CN" sz="1600" i="1"/>
              <a:t>N</a:t>
            </a:r>
          </a:p>
        </p:txBody>
      </p:sp>
      <p:sp>
        <p:nvSpPr>
          <p:cNvPr id="407583" name="AutoShape 31"/>
          <p:cNvSpPr>
            <a:spLocks noChangeArrowheads="1"/>
          </p:cNvSpPr>
          <p:nvPr/>
        </p:nvSpPr>
        <p:spPr bwMode="auto">
          <a:xfrm>
            <a:off x="3962400" y="4648200"/>
            <a:ext cx="228600" cy="533400"/>
          </a:xfrm>
          <a:prstGeom prst="downArrow">
            <a:avLst>
              <a:gd name="adj1" fmla="val 50000"/>
              <a:gd name="adj2" fmla="val 58333"/>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07584" name="Object 32"/>
          <p:cNvGraphicFramePr>
            <a:graphicFrameLocks noGrp="1" noChangeAspect="1"/>
          </p:cNvGraphicFramePr>
          <p:nvPr>
            <p:ph sz="half" idx="1"/>
          </p:nvPr>
        </p:nvGraphicFramePr>
        <p:xfrm>
          <a:off x="6324600" y="4492625"/>
          <a:ext cx="2819400" cy="642938"/>
        </p:xfrm>
        <a:graphic>
          <a:graphicData uri="http://schemas.openxmlformats.org/presentationml/2006/ole">
            <mc:AlternateContent xmlns:mc="http://schemas.openxmlformats.org/markup-compatibility/2006">
              <mc:Choice xmlns:v="urn:schemas-microsoft-com:vml" Requires="v">
                <p:oleObj spid="_x0000_s535066" name="Equation" r:id="rId19" imgW="3427200" imgH="863640" progId="">
                  <p:embed/>
                </p:oleObj>
              </mc:Choice>
              <mc:Fallback>
                <p:oleObj name="Equation" r:id="rId19" imgW="3427200" imgH="863640" progId="">
                  <p:embed/>
                  <p:pic>
                    <p:nvPicPr>
                      <p:cNvPr id="0" name="Picture 10"/>
                      <p:cNvPicPr>
                        <a:picLocks noGrp="1"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324600" y="4492625"/>
                        <a:ext cx="2819400"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7585" name="Object 33"/>
          <p:cNvGraphicFramePr>
            <a:graphicFrameLocks noGrp="1" noChangeAspect="1"/>
          </p:cNvGraphicFramePr>
          <p:nvPr>
            <p:ph sz="half" idx="2"/>
          </p:nvPr>
        </p:nvGraphicFramePr>
        <p:xfrm>
          <a:off x="6324600" y="5105400"/>
          <a:ext cx="2819400" cy="654050"/>
        </p:xfrm>
        <a:graphic>
          <a:graphicData uri="http://schemas.openxmlformats.org/presentationml/2006/ole">
            <mc:AlternateContent xmlns:mc="http://schemas.openxmlformats.org/markup-compatibility/2006">
              <mc:Choice xmlns:v="urn:schemas-microsoft-com:vml" Requires="v">
                <p:oleObj spid="_x0000_s535067" name="Equation" r:id="rId21" imgW="3236760" imgH="863640" progId="">
                  <p:embed/>
                </p:oleObj>
              </mc:Choice>
              <mc:Fallback>
                <p:oleObj name="Equation" r:id="rId21" imgW="3236760" imgH="863640" progId="">
                  <p:embed/>
                  <p:pic>
                    <p:nvPicPr>
                      <p:cNvPr id="0" name="Picture 11"/>
                      <p:cNvPicPr>
                        <a:picLocks noGrp="1"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324600" y="5105400"/>
                        <a:ext cx="2819400"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7586" name="Object 34"/>
          <p:cNvGraphicFramePr>
            <a:graphicFrameLocks noChangeAspect="1"/>
          </p:cNvGraphicFramePr>
          <p:nvPr>
            <p:extLst>
              <p:ext uri="{D42A27DB-BD31-4B8C-83A1-F6EECF244321}">
                <p14:modId xmlns:p14="http://schemas.microsoft.com/office/powerpoint/2010/main" val="310730971"/>
              </p:ext>
            </p:extLst>
          </p:nvPr>
        </p:nvGraphicFramePr>
        <p:xfrm>
          <a:off x="6410325" y="5867400"/>
          <a:ext cx="2436813" cy="692150"/>
        </p:xfrm>
        <a:graphic>
          <a:graphicData uri="http://schemas.openxmlformats.org/presentationml/2006/ole">
            <mc:AlternateContent xmlns:mc="http://schemas.openxmlformats.org/markup-compatibility/2006">
              <mc:Choice xmlns:v="urn:schemas-microsoft-com:vml" Requires="v">
                <p:oleObj spid="_x0000_s535068" name="Equation" r:id="rId23" imgW="3085920" imgH="812520" progId="">
                  <p:embed/>
                </p:oleObj>
              </mc:Choice>
              <mc:Fallback>
                <p:oleObj name="Equation" r:id="rId23" imgW="3085920" imgH="812520" progId="">
                  <p:embed/>
                  <p:pic>
                    <p:nvPicPr>
                      <p:cNvPr id="0" name="Picture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410325" y="5867400"/>
                        <a:ext cx="2436813"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7587" name="AutoShape 35"/>
          <p:cNvSpPr>
            <a:spLocks noChangeArrowheads="1"/>
          </p:cNvSpPr>
          <p:nvPr/>
        </p:nvSpPr>
        <p:spPr bwMode="auto">
          <a:xfrm>
            <a:off x="3505200" y="2286000"/>
            <a:ext cx="1143000" cy="457200"/>
          </a:xfrm>
          <a:prstGeom prst="flowChartPreparation">
            <a:avLst/>
          </a:prstGeom>
          <a:solidFill>
            <a:srgbClr val="FF00FF">
              <a:alpha val="50000"/>
            </a:srgbClr>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000" i="1">
                <a:solidFill>
                  <a:schemeClr val="tx2"/>
                </a:solidFill>
              </a:rPr>
              <a:t>x</a:t>
            </a:r>
            <a:r>
              <a:rPr lang="en-US" altLang="zh-CN" sz="2000">
                <a:solidFill>
                  <a:schemeClr val="tx2"/>
                </a:solidFill>
              </a:rPr>
              <a:t>(</a:t>
            </a:r>
            <a:r>
              <a:rPr lang="el-GR" altLang="zh-CN" sz="2000" i="1">
                <a:solidFill>
                  <a:schemeClr val="tx2"/>
                </a:solidFill>
              </a:rPr>
              <a:t>ξ</a:t>
            </a:r>
            <a:r>
              <a:rPr lang="en-US" altLang="zh-CN" sz="2000">
                <a:solidFill>
                  <a:schemeClr val="tx2"/>
                </a:solidFill>
              </a:rPr>
              <a:t>)</a:t>
            </a:r>
          </a:p>
        </p:txBody>
      </p:sp>
      <p:sp>
        <p:nvSpPr>
          <p:cNvPr id="407588" name="AutoShape 36"/>
          <p:cNvSpPr>
            <a:spLocks noChangeArrowheads="1"/>
          </p:cNvSpPr>
          <p:nvPr/>
        </p:nvSpPr>
        <p:spPr bwMode="auto">
          <a:xfrm>
            <a:off x="609600" y="1528763"/>
            <a:ext cx="1968500" cy="363537"/>
          </a:xfrm>
          <a:prstGeom prst="roundRect">
            <a:avLst>
              <a:gd name="adj" fmla="val 16667"/>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50000"/>
              </a:spcBef>
              <a:buClrTx/>
              <a:buFontTx/>
              <a:buNone/>
            </a:pPr>
            <a:r>
              <a:rPr lang="zh-CN" altLang="en-US" sz="1600">
                <a:solidFill>
                  <a:srgbClr val="FF0000"/>
                </a:solidFill>
              </a:rPr>
              <a:t>（</a:t>
            </a:r>
            <a:r>
              <a:rPr lang="en-US" altLang="zh-CN" sz="1600">
                <a:solidFill>
                  <a:srgbClr val="FF0000"/>
                </a:solidFill>
              </a:rPr>
              <a:t>1</a:t>
            </a:r>
            <a:r>
              <a:rPr lang="zh-CN" altLang="en-US" sz="1600">
                <a:solidFill>
                  <a:srgbClr val="FF0000"/>
                </a:solidFill>
              </a:rPr>
              <a:t>）正向破坏情况</a:t>
            </a:r>
          </a:p>
        </p:txBody>
      </p:sp>
      <p:sp>
        <p:nvSpPr>
          <p:cNvPr id="407589" name="AutoShape 37">
            <a:hlinkClick r:id="rId25" action="ppaction://hlinksldjump"/>
          </p:cNvPr>
          <p:cNvSpPr>
            <a:spLocks noChangeArrowheads="1"/>
          </p:cNvSpPr>
          <p:nvPr/>
        </p:nvSpPr>
        <p:spPr bwMode="auto">
          <a:xfrm>
            <a:off x="609600" y="6189663"/>
            <a:ext cx="4559300" cy="363537"/>
          </a:xfrm>
          <a:prstGeom prst="roundRect">
            <a:avLst>
              <a:gd name="adj" fmla="val 16667"/>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50000"/>
              </a:spcBef>
              <a:buClrTx/>
              <a:buFontTx/>
              <a:buNone/>
            </a:pPr>
            <a:r>
              <a:rPr lang="zh-CN" altLang="en-US" sz="1600">
                <a:solidFill>
                  <a:srgbClr val="FF0000"/>
                </a:solidFill>
              </a:rPr>
              <a:t>（</a:t>
            </a:r>
            <a:r>
              <a:rPr lang="en-US" altLang="zh-CN" sz="1600">
                <a:solidFill>
                  <a:srgbClr val="FF0000"/>
                </a:solidFill>
              </a:rPr>
              <a:t>2</a:t>
            </a:r>
            <a:r>
              <a:rPr lang="zh-CN" altLang="en-US" sz="1600">
                <a:solidFill>
                  <a:srgbClr val="FF0000"/>
                </a:solidFill>
              </a:rPr>
              <a:t>）反向破坏情况计算，并取两种情况小者</a:t>
            </a:r>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408579" name="Rectangle 3"/>
          <p:cNvSpPr>
            <a:spLocks noChangeArrowheads="1"/>
          </p:cNvSpPr>
          <p:nvPr/>
        </p:nvSpPr>
        <p:spPr bwMode="auto">
          <a:xfrm>
            <a:off x="611188" y="1066800"/>
            <a:ext cx="8304212"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10000"/>
              </a:lnSpc>
              <a:spcBef>
                <a:spcPct val="50000"/>
              </a:spcBef>
            </a:pPr>
            <a:r>
              <a:rPr lang="en-US" altLang="zh-CN" sz="2000"/>
              <a:t>2</a:t>
            </a:r>
            <a:r>
              <a:rPr lang="zh-CN" altLang="en-US" sz="2000"/>
              <a:t>）已知轴力设计值</a:t>
            </a:r>
            <a:r>
              <a:rPr lang="en-US" altLang="zh-CN" sz="2000" i="1"/>
              <a:t>N</a:t>
            </a:r>
            <a:r>
              <a:rPr lang="zh-CN" altLang="en-US" sz="2000"/>
              <a:t>，要求计算截面能承受的弯矩设计值</a:t>
            </a:r>
            <a:r>
              <a:rPr lang="en-US" altLang="zh-CN" sz="2000" i="1"/>
              <a:t>M</a:t>
            </a:r>
          </a:p>
        </p:txBody>
      </p:sp>
      <p:sp>
        <p:nvSpPr>
          <p:cNvPr id="408580" name="AutoShape 4"/>
          <p:cNvSpPr>
            <a:spLocks noChangeArrowheads="1"/>
          </p:cNvSpPr>
          <p:nvPr/>
        </p:nvSpPr>
        <p:spPr bwMode="auto">
          <a:xfrm>
            <a:off x="3984625" y="2743200"/>
            <a:ext cx="206375" cy="527050"/>
          </a:xfrm>
          <a:prstGeom prst="downArrow">
            <a:avLst>
              <a:gd name="adj1" fmla="val 50000"/>
              <a:gd name="adj2" fmla="val 63846"/>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8581" name="AutoShape 5"/>
          <p:cNvSpPr>
            <a:spLocks noChangeArrowheads="1"/>
          </p:cNvSpPr>
          <p:nvPr/>
        </p:nvSpPr>
        <p:spPr bwMode="auto">
          <a:xfrm>
            <a:off x="6126163" y="2130425"/>
            <a:ext cx="2089150" cy="642938"/>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50000"/>
              </a:spcBef>
              <a:buClrTx/>
              <a:buFontTx/>
              <a:buNone/>
            </a:pPr>
            <a:r>
              <a:rPr lang="zh-CN" altLang="en-US" sz="1600"/>
              <a:t>为大偏压，将</a:t>
            </a:r>
            <a:r>
              <a:rPr lang="en-US" altLang="zh-CN" sz="1600" i="1"/>
              <a:t>x</a:t>
            </a:r>
            <a:r>
              <a:rPr lang="zh-CN" altLang="en-US" sz="1600"/>
              <a:t>代入</a:t>
            </a:r>
            <a:r>
              <a:rPr lang="en-US" altLang="zh-CN" sz="1600"/>
              <a:t>(2)</a:t>
            </a:r>
            <a:r>
              <a:rPr lang="zh-CN" altLang="en-US" sz="1600"/>
              <a:t>计算</a:t>
            </a:r>
            <a:r>
              <a:rPr lang="en-US" altLang="zh-CN" sz="1600" i="1"/>
              <a:t>e</a:t>
            </a:r>
            <a:r>
              <a:rPr lang="en-US" altLang="zh-CN" sz="1600" baseline="-25000"/>
              <a:t>0</a:t>
            </a:r>
            <a:r>
              <a:rPr lang="zh-CN" altLang="en-US" sz="1600"/>
              <a:t>，</a:t>
            </a:r>
            <a:r>
              <a:rPr lang="en-US" altLang="zh-CN" sz="1600" i="1"/>
              <a:t>M</a:t>
            </a:r>
            <a:r>
              <a:rPr lang="en-US" altLang="zh-CN" sz="1600"/>
              <a:t>=</a:t>
            </a:r>
            <a:r>
              <a:rPr lang="en-US" altLang="zh-CN" sz="1600" i="1"/>
              <a:t>N e</a:t>
            </a:r>
            <a:r>
              <a:rPr lang="en-US" altLang="zh-CN" sz="1600" baseline="-25000"/>
              <a:t>0</a:t>
            </a:r>
          </a:p>
        </p:txBody>
      </p:sp>
      <p:sp>
        <p:nvSpPr>
          <p:cNvPr id="408582" name="AutoShape 6"/>
          <p:cNvSpPr>
            <a:spLocks noChangeArrowheads="1"/>
          </p:cNvSpPr>
          <p:nvPr/>
        </p:nvSpPr>
        <p:spPr bwMode="auto">
          <a:xfrm rot="5400000">
            <a:off x="2748757" y="2074069"/>
            <a:ext cx="195262" cy="685800"/>
          </a:xfrm>
          <a:prstGeom prst="downArrow">
            <a:avLst>
              <a:gd name="adj1" fmla="val 50000"/>
              <a:gd name="adj2" fmla="val 87805"/>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8583" name="AutoShape 7"/>
          <p:cNvSpPr>
            <a:spLocks noChangeArrowheads="1"/>
          </p:cNvSpPr>
          <p:nvPr/>
        </p:nvSpPr>
        <p:spPr bwMode="auto">
          <a:xfrm rot="16200000" flipH="1">
            <a:off x="5426869" y="1845469"/>
            <a:ext cx="195262" cy="1143000"/>
          </a:xfrm>
          <a:prstGeom prst="downArrow">
            <a:avLst>
              <a:gd name="adj1" fmla="val 50000"/>
              <a:gd name="adj2" fmla="val 146342"/>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08584" name="Object 8"/>
          <p:cNvGraphicFramePr>
            <a:graphicFrameLocks noChangeAspect="1"/>
          </p:cNvGraphicFramePr>
          <p:nvPr/>
        </p:nvGraphicFramePr>
        <p:xfrm>
          <a:off x="2590800" y="2044700"/>
          <a:ext cx="681038" cy="347663"/>
        </p:xfrm>
        <a:graphic>
          <a:graphicData uri="http://schemas.openxmlformats.org/presentationml/2006/ole">
            <mc:AlternateContent xmlns:mc="http://schemas.openxmlformats.org/markup-compatibility/2006">
              <mc:Choice xmlns:v="urn:schemas-microsoft-com:vml" Requires="v">
                <p:oleObj spid="_x0000_s536024" name="Equation" r:id="rId3" imgW="469696" imgH="241195" progId="">
                  <p:embed/>
                </p:oleObj>
              </mc:Choice>
              <mc:Fallback>
                <p:oleObj name="Equation" r:id="rId3" imgW="469696" imgH="241195"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2044700"/>
                        <a:ext cx="68103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8585" name="Object 9"/>
          <p:cNvGraphicFramePr>
            <a:graphicFrameLocks noChangeAspect="1"/>
          </p:cNvGraphicFramePr>
          <p:nvPr/>
        </p:nvGraphicFramePr>
        <p:xfrm>
          <a:off x="4191000" y="2895600"/>
          <a:ext cx="588963" cy="330200"/>
        </p:xfrm>
        <a:graphic>
          <a:graphicData uri="http://schemas.openxmlformats.org/presentationml/2006/ole">
            <mc:AlternateContent xmlns:mc="http://schemas.openxmlformats.org/markup-compatibility/2006">
              <mc:Choice xmlns:v="urn:schemas-microsoft-com:vml" Requires="v">
                <p:oleObj spid="_x0000_s536025" name="Equation" r:id="rId5" imgW="406224" imgH="228501" progId="">
                  <p:embed/>
                </p:oleObj>
              </mc:Choice>
              <mc:Fallback>
                <p:oleObj name="Equation" r:id="rId5" imgW="406224" imgH="228501"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2895600"/>
                        <a:ext cx="588963"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8586" name="Object 10"/>
          <p:cNvGraphicFramePr>
            <a:graphicFrameLocks noChangeAspect="1"/>
          </p:cNvGraphicFramePr>
          <p:nvPr/>
        </p:nvGraphicFramePr>
        <p:xfrm>
          <a:off x="5378450" y="2870200"/>
          <a:ext cx="865188" cy="771525"/>
        </p:xfrm>
        <a:graphic>
          <a:graphicData uri="http://schemas.openxmlformats.org/presentationml/2006/ole">
            <mc:AlternateContent xmlns:mc="http://schemas.openxmlformats.org/markup-compatibility/2006">
              <mc:Choice xmlns:v="urn:schemas-microsoft-com:vml" Requires="v">
                <p:oleObj spid="_x0000_s536026" name="Equation" r:id="rId7" imgW="596641" imgH="533169" progId="">
                  <p:embed/>
                </p:oleObj>
              </mc:Choice>
              <mc:Fallback>
                <p:oleObj name="Equation" r:id="rId7" imgW="596641" imgH="533169" progId="">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78450" y="2870200"/>
                        <a:ext cx="865188"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8587" name="Object 11"/>
          <p:cNvGraphicFramePr>
            <a:graphicFrameLocks noChangeAspect="1"/>
          </p:cNvGraphicFramePr>
          <p:nvPr/>
        </p:nvGraphicFramePr>
        <p:xfrm>
          <a:off x="2106613" y="3251200"/>
          <a:ext cx="1030287" cy="330200"/>
        </p:xfrm>
        <a:graphic>
          <a:graphicData uri="http://schemas.openxmlformats.org/presentationml/2006/ole">
            <mc:AlternateContent xmlns:mc="http://schemas.openxmlformats.org/markup-compatibility/2006">
              <mc:Choice xmlns:v="urn:schemas-microsoft-com:vml" Requires="v">
                <p:oleObj spid="_x0000_s536027" name="Equation" r:id="rId9" imgW="711200" imgH="228600" progId="">
                  <p:embed/>
                </p:oleObj>
              </mc:Choice>
              <mc:Fallback>
                <p:oleObj name="Equation" r:id="rId9" imgW="711200" imgH="228600" progId="">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06613" y="3251200"/>
                        <a:ext cx="1030287"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8588" name="Object 12"/>
          <p:cNvGraphicFramePr>
            <a:graphicFrameLocks noChangeAspect="1"/>
          </p:cNvGraphicFramePr>
          <p:nvPr>
            <p:extLst>
              <p:ext uri="{D42A27DB-BD31-4B8C-83A1-F6EECF244321}">
                <p14:modId xmlns:p14="http://schemas.microsoft.com/office/powerpoint/2010/main" val="2919896092"/>
              </p:ext>
            </p:extLst>
          </p:nvPr>
        </p:nvGraphicFramePr>
        <p:xfrm>
          <a:off x="4886325" y="2014538"/>
          <a:ext cx="1123950" cy="347662"/>
        </p:xfrm>
        <a:graphic>
          <a:graphicData uri="http://schemas.openxmlformats.org/presentationml/2006/ole">
            <mc:AlternateContent xmlns:mc="http://schemas.openxmlformats.org/markup-compatibility/2006">
              <mc:Choice xmlns:v="urn:schemas-microsoft-com:vml" Requires="v">
                <p:oleObj spid="_x0000_s536028" name="Equation" r:id="rId11" imgW="774360" imgH="241200" progId="Equation.DSMT4">
                  <p:embed/>
                </p:oleObj>
              </mc:Choice>
              <mc:Fallback>
                <p:oleObj name="Equation" r:id="rId11" imgW="774360" imgH="241200" progId="Equation.DSMT4">
                  <p:embed/>
                  <p:pic>
                    <p:nvPicPr>
                      <p:cNvPr id="0" name="Picture 6"/>
                      <p:cNvPicPr>
                        <a:picLocks noChangeAspect="1" noChangeArrowheads="1"/>
                      </p:cNvPicPr>
                      <p:nvPr/>
                    </p:nvPicPr>
                    <p:blipFill>
                      <a:blip r:embed="rId12"/>
                      <a:srcRect/>
                      <a:stretch>
                        <a:fillRect/>
                      </a:stretch>
                    </p:blipFill>
                    <p:spPr bwMode="auto">
                      <a:xfrm>
                        <a:off x="4886325" y="2014538"/>
                        <a:ext cx="1123950"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8589" name="Object 13"/>
          <p:cNvGraphicFramePr>
            <a:graphicFrameLocks noChangeAspect="1"/>
          </p:cNvGraphicFramePr>
          <p:nvPr/>
        </p:nvGraphicFramePr>
        <p:xfrm>
          <a:off x="4279900" y="4038600"/>
          <a:ext cx="1104900" cy="660400"/>
        </p:xfrm>
        <a:graphic>
          <a:graphicData uri="http://schemas.openxmlformats.org/presentationml/2006/ole">
            <mc:AlternateContent xmlns:mc="http://schemas.openxmlformats.org/markup-compatibility/2006">
              <mc:Choice xmlns:v="urn:schemas-microsoft-com:vml" Requires="v">
                <p:oleObj spid="_x0000_s536029" name="Equation" r:id="rId13" imgW="762000" imgH="457200" progId="">
                  <p:embed/>
                </p:oleObj>
              </mc:Choice>
              <mc:Fallback>
                <p:oleObj name="Equation" r:id="rId13" imgW="762000" imgH="457200" progId="">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79900" y="4038600"/>
                        <a:ext cx="110490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8590" name="AutoShape 14"/>
          <p:cNvSpPr>
            <a:spLocks noChangeArrowheads="1"/>
          </p:cNvSpPr>
          <p:nvPr/>
        </p:nvSpPr>
        <p:spPr bwMode="auto">
          <a:xfrm rot="5400000">
            <a:off x="2447925" y="3235325"/>
            <a:ext cx="177800" cy="869950"/>
          </a:xfrm>
          <a:prstGeom prst="downArrow">
            <a:avLst>
              <a:gd name="adj1" fmla="val 50000"/>
              <a:gd name="adj2" fmla="val 122321"/>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 name="Group 15"/>
          <p:cNvGrpSpPr>
            <a:grpSpLocks/>
          </p:cNvGrpSpPr>
          <p:nvPr/>
        </p:nvGrpSpPr>
        <p:grpSpPr bwMode="auto">
          <a:xfrm>
            <a:off x="461963" y="1981200"/>
            <a:ext cx="2036762" cy="895350"/>
            <a:chOff x="291" y="960"/>
            <a:chExt cx="1283" cy="564"/>
          </a:xfrm>
        </p:grpSpPr>
        <p:sp>
          <p:nvSpPr>
            <p:cNvPr id="408592" name="AutoShape 16"/>
            <p:cNvSpPr>
              <a:spLocks noChangeArrowheads="1"/>
            </p:cNvSpPr>
            <p:nvPr/>
          </p:nvSpPr>
          <p:spPr bwMode="auto">
            <a:xfrm>
              <a:off x="291" y="991"/>
              <a:ext cx="1283" cy="533"/>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50000"/>
                </a:spcBef>
                <a:buClrTx/>
                <a:buFontTx/>
                <a:buNone/>
              </a:pPr>
              <a:endParaRPr lang="en-US" altLang="zh-CN" sz="2000"/>
            </a:p>
            <a:p>
              <a:pPr algn="l">
                <a:lnSpc>
                  <a:spcPct val="100000"/>
                </a:lnSpc>
                <a:spcBef>
                  <a:spcPct val="50000"/>
                </a:spcBef>
                <a:buClrTx/>
                <a:buFontTx/>
                <a:buNone/>
              </a:pPr>
              <a:r>
                <a:rPr lang="zh-CN" altLang="en-US" sz="1600"/>
                <a:t>再计算</a:t>
              </a:r>
              <a:r>
                <a:rPr lang="en-US" altLang="zh-CN" sz="1600" i="1"/>
                <a:t>e</a:t>
              </a:r>
              <a:r>
                <a:rPr lang="en-US" altLang="zh-CN" sz="1600" baseline="-25000"/>
                <a:t>0 </a:t>
              </a:r>
              <a:r>
                <a:rPr lang="zh-CN" altLang="en-US" sz="1600"/>
                <a:t>，</a:t>
              </a:r>
              <a:r>
                <a:rPr lang="en-US" altLang="zh-CN" sz="1600" i="1"/>
                <a:t>M</a:t>
              </a:r>
              <a:r>
                <a:rPr lang="en-US" altLang="zh-CN" sz="1600"/>
                <a:t>=</a:t>
              </a:r>
              <a:r>
                <a:rPr lang="en-US" altLang="zh-CN" sz="1600" i="1"/>
                <a:t>N e</a:t>
              </a:r>
              <a:r>
                <a:rPr lang="en-US" altLang="zh-CN" sz="1600" baseline="-25000"/>
                <a:t>0</a:t>
              </a:r>
            </a:p>
          </p:txBody>
        </p:sp>
        <p:graphicFrame>
          <p:nvGraphicFramePr>
            <p:cNvPr id="408593" name="Object 17"/>
            <p:cNvGraphicFramePr>
              <a:graphicFrameLocks noChangeAspect="1"/>
            </p:cNvGraphicFramePr>
            <p:nvPr/>
          </p:nvGraphicFramePr>
          <p:xfrm>
            <a:off x="336" y="960"/>
            <a:ext cx="1009" cy="393"/>
          </p:xfrm>
          <a:graphic>
            <a:graphicData uri="http://schemas.openxmlformats.org/presentationml/2006/ole">
              <mc:AlternateContent xmlns:mc="http://schemas.openxmlformats.org/markup-compatibility/2006">
                <mc:Choice xmlns:v="urn:schemas-microsoft-com:vml" Requires="v">
                  <p:oleObj spid="_x0000_s536030" name="Equation" r:id="rId15" imgW="1104900" imgH="431800" progId="">
                    <p:embed/>
                  </p:oleObj>
                </mc:Choice>
                <mc:Fallback>
                  <p:oleObj name="Equation" r:id="rId15" imgW="1104900" imgH="431800" progId="">
                    <p:embed/>
                    <p:pic>
                      <p:nvPicPr>
                        <p:cNvPr id="0"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6" y="960"/>
                          <a:ext cx="1009" cy="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08594" name="AutoShape 18"/>
          <p:cNvSpPr>
            <a:spLocks noChangeArrowheads="1"/>
          </p:cNvSpPr>
          <p:nvPr/>
        </p:nvSpPr>
        <p:spPr bwMode="auto">
          <a:xfrm rot="16200000" flipH="1">
            <a:off x="5718175" y="3114675"/>
            <a:ext cx="158750" cy="1079500"/>
          </a:xfrm>
          <a:prstGeom prst="downArrow">
            <a:avLst>
              <a:gd name="adj1" fmla="val 50000"/>
              <a:gd name="adj2" fmla="val 170000"/>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8595" name="AutoShape 19"/>
          <p:cNvSpPr>
            <a:spLocks noChangeArrowheads="1"/>
          </p:cNvSpPr>
          <p:nvPr/>
        </p:nvSpPr>
        <p:spPr bwMode="auto">
          <a:xfrm>
            <a:off x="533400" y="3213100"/>
            <a:ext cx="1557338" cy="914400"/>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50000"/>
              </a:spcBef>
              <a:buClrTx/>
              <a:buFontTx/>
              <a:buNone/>
            </a:pPr>
            <a:r>
              <a:rPr lang="zh-CN" altLang="en-US" sz="1600"/>
              <a:t>将</a:t>
            </a:r>
            <a:r>
              <a:rPr lang="en-US" altLang="zh-CN" sz="1600" i="1"/>
              <a:t>x</a:t>
            </a:r>
            <a:r>
              <a:rPr lang="zh-CN" altLang="en-US" sz="1600"/>
              <a:t>直接代入</a:t>
            </a:r>
            <a:r>
              <a:rPr lang="en-US" altLang="zh-CN" sz="1600"/>
              <a:t>(4)</a:t>
            </a:r>
            <a:r>
              <a:rPr lang="zh-CN" altLang="en-US" sz="1600"/>
              <a:t>式计算</a:t>
            </a:r>
            <a:r>
              <a:rPr lang="en-US" altLang="zh-CN" sz="1600" i="1"/>
              <a:t>e</a:t>
            </a:r>
            <a:r>
              <a:rPr lang="en-US" altLang="zh-CN" sz="1600" baseline="-25000"/>
              <a:t>0 </a:t>
            </a:r>
            <a:r>
              <a:rPr lang="zh-CN" altLang="en-US" sz="1600"/>
              <a:t>，</a:t>
            </a:r>
            <a:r>
              <a:rPr lang="en-US" altLang="zh-CN" sz="1600" i="1"/>
              <a:t>M</a:t>
            </a:r>
            <a:r>
              <a:rPr lang="en-US" altLang="zh-CN" sz="1600"/>
              <a:t>=</a:t>
            </a:r>
            <a:r>
              <a:rPr lang="en-US" altLang="zh-CN" sz="1600" i="1"/>
              <a:t>N e</a:t>
            </a:r>
            <a:r>
              <a:rPr lang="en-US" altLang="zh-CN" sz="1600" baseline="-25000"/>
              <a:t>0</a:t>
            </a:r>
            <a:endParaRPr lang="en-US" altLang="zh-CN" sz="1600" i="1"/>
          </a:p>
        </p:txBody>
      </p:sp>
      <p:sp>
        <p:nvSpPr>
          <p:cNvPr id="408596" name="AutoShape 20"/>
          <p:cNvSpPr>
            <a:spLocks noChangeArrowheads="1"/>
          </p:cNvSpPr>
          <p:nvPr/>
        </p:nvSpPr>
        <p:spPr bwMode="auto">
          <a:xfrm>
            <a:off x="6413500" y="3057525"/>
            <a:ext cx="2667000" cy="1185863"/>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50000"/>
              </a:spcBef>
              <a:buClrTx/>
              <a:buFontTx/>
              <a:buNone/>
            </a:pPr>
            <a:r>
              <a:rPr lang="zh-CN" altLang="en-US" sz="1600"/>
              <a:t>表示钢筋已经屈服，但尚未全截面受压。故取</a:t>
            </a:r>
            <a:r>
              <a:rPr lang="el-GR" altLang="zh-CN" sz="1600" i="1"/>
              <a:t>σ </a:t>
            </a:r>
            <a:r>
              <a:rPr lang="en-US" altLang="zh-CN" sz="1600" baseline="-25000">
                <a:cs typeface="Times New Roman" pitchFamily="18" charset="0"/>
              </a:rPr>
              <a:t>s</a:t>
            </a:r>
            <a:r>
              <a:rPr lang="zh-CN" altLang="en-US" sz="1600"/>
              <a:t>＝</a:t>
            </a:r>
            <a:r>
              <a:rPr lang="en-US" altLang="zh-CN" sz="1600"/>
              <a:t>-</a:t>
            </a:r>
            <a:r>
              <a:rPr lang="en-US" altLang="zh-CN" sz="1600" i="1"/>
              <a:t>f</a:t>
            </a:r>
            <a:r>
              <a:rPr lang="en-US" altLang="zh-CN" sz="1600" baseline="-25000"/>
              <a:t>y</a:t>
            </a:r>
            <a:r>
              <a:rPr lang="en-US" altLang="zh-CN" sz="1600" baseline="30000"/>
              <a:t>’</a:t>
            </a:r>
            <a:r>
              <a:rPr lang="zh-CN" altLang="en-US" sz="1600"/>
              <a:t>代入</a:t>
            </a:r>
            <a:r>
              <a:rPr lang="en-US" altLang="zh-CN" sz="1600"/>
              <a:t>(3)</a:t>
            </a:r>
            <a:r>
              <a:rPr lang="zh-CN" altLang="en-US" sz="1600"/>
              <a:t>中求解</a:t>
            </a:r>
            <a:r>
              <a:rPr lang="en-US" altLang="zh-CN" sz="1600" i="1"/>
              <a:t>x</a:t>
            </a:r>
            <a:r>
              <a:rPr lang="zh-CN" altLang="en-US" sz="1600"/>
              <a:t>，然后代入</a:t>
            </a:r>
            <a:r>
              <a:rPr lang="en-US" altLang="zh-CN" sz="1600"/>
              <a:t>(4)</a:t>
            </a:r>
            <a:r>
              <a:rPr lang="zh-CN" altLang="en-US" sz="1600"/>
              <a:t>求</a:t>
            </a:r>
            <a:r>
              <a:rPr lang="en-US" altLang="zh-CN" sz="1600" i="1"/>
              <a:t>e</a:t>
            </a:r>
            <a:r>
              <a:rPr lang="en-US" altLang="zh-CN" sz="1600" baseline="-25000"/>
              <a:t>0</a:t>
            </a:r>
            <a:r>
              <a:rPr lang="zh-CN" altLang="en-US" sz="1600"/>
              <a:t>，</a:t>
            </a:r>
            <a:r>
              <a:rPr lang="en-US" altLang="zh-CN" sz="1600" i="1"/>
              <a:t>M</a:t>
            </a:r>
            <a:r>
              <a:rPr lang="en-US" altLang="zh-CN" sz="1600"/>
              <a:t>=</a:t>
            </a:r>
            <a:r>
              <a:rPr lang="en-US" altLang="zh-CN" sz="1600" i="1"/>
              <a:t>N e</a:t>
            </a:r>
            <a:r>
              <a:rPr lang="en-US" altLang="zh-CN" sz="1600" baseline="-25000"/>
              <a:t>0</a:t>
            </a:r>
          </a:p>
        </p:txBody>
      </p:sp>
      <p:sp>
        <p:nvSpPr>
          <p:cNvPr id="408597" name="AutoShape 21"/>
          <p:cNvSpPr>
            <a:spLocks noChangeArrowheads="1"/>
          </p:cNvSpPr>
          <p:nvPr/>
        </p:nvSpPr>
        <p:spPr bwMode="auto">
          <a:xfrm>
            <a:off x="2603500" y="4648200"/>
            <a:ext cx="3327400" cy="914400"/>
          </a:xfrm>
          <a:prstGeom prst="roundRect">
            <a:avLst>
              <a:gd name="adj" fmla="val 16667"/>
            </a:avLst>
          </a:prstGeom>
          <a:solidFill>
            <a:srgbClr val="FFFF99"/>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50000"/>
              </a:spcBef>
              <a:buClrTx/>
              <a:buFontTx/>
              <a:buNone/>
            </a:pPr>
            <a:r>
              <a:rPr lang="zh-CN" altLang="en-US" sz="1600"/>
              <a:t>表示混凝土全截面受压，中和轴已经在截面以外，取</a:t>
            </a:r>
            <a:r>
              <a:rPr lang="el-GR" altLang="zh-CN" sz="1600" i="1"/>
              <a:t>σ </a:t>
            </a:r>
            <a:r>
              <a:rPr lang="en-US" altLang="zh-CN" sz="1600" baseline="-25000">
                <a:cs typeface="Times New Roman" pitchFamily="18" charset="0"/>
              </a:rPr>
              <a:t>s</a:t>
            </a:r>
            <a:r>
              <a:rPr lang="zh-CN" altLang="en-US" sz="1600"/>
              <a:t>＝</a:t>
            </a:r>
            <a:r>
              <a:rPr lang="en-US" altLang="zh-CN" sz="1600"/>
              <a:t>-</a:t>
            </a:r>
            <a:r>
              <a:rPr lang="en-US" altLang="zh-CN" sz="1600" i="1"/>
              <a:t>f</a:t>
            </a:r>
            <a:r>
              <a:rPr lang="en-US" altLang="zh-CN" sz="1600" baseline="-25000"/>
              <a:t>y</a:t>
            </a:r>
            <a:r>
              <a:rPr lang="en-US" altLang="zh-CN" sz="1600" baseline="30000"/>
              <a:t>’</a:t>
            </a:r>
            <a:r>
              <a:rPr lang="en-US" altLang="zh-CN" sz="1600"/>
              <a:t> </a:t>
            </a:r>
            <a:r>
              <a:rPr lang="zh-CN" altLang="en-US" sz="1600"/>
              <a:t>，且</a:t>
            </a:r>
            <a:r>
              <a:rPr lang="en-US" altLang="zh-CN" sz="1600" i="1"/>
              <a:t>x</a:t>
            </a:r>
            <a:r>
              <a:rPr lang="zh-CN" altLang="en-US" sz="1600"/>
              <a:t>＝</a:t>
            </a:r>
            <a:r>
              <a:rPr lang="en-US" altLang="zh-CN" sz="1600" i="1"/>
              <a:t>h</a:t>
            </a:r>
            <a:r>
              <a:rPr lang="zh-CN" altLang="en-US" sz="1600"/>
              <a:t>代入</a:t>
            </a:r>
            <a:r>
              <a:rPr lang="en-US" altLang="zh-CN" sz="1600"/>
              <a:t>(4)</a:t>
            </a:r>
            <a:r>
              <a:rPr lang="zh-CN" altLang="en-US" sz="1600"/>
              <a:t>求</a:t>
            </a:r>
            <a:r>
              <a:rPr lang="en-US" altLang="zh-CN" sz="1600" i="1"/>
              <a:t>e</a:t>
            </a:r>
            <a:r>
              <a:rPr lang="en-US" altLang="zh-CN" sz="1600" baseline="-25000"/>
              <a:t>0</a:t>
            </a:r>
            <a:r>
              <a:rPr lang="zh-CN" altLang="en-US" sz="1600"/>
              <a:t>，</a:t>
            </a:r>
            <a:r>
              <a:rPr lang="en-US" altLang="zh-CN" sz="1600" i="1"/>
              <a:t>M</a:t>
            </a:r>
            <a:r>
              <a:rPr lang="en-US" altLang="zh-CN" sz="1600"/>
              <a:t>=</a:t>
            </a:r>
            <a:r>
              <a:rPr lang="en-US" altLang="zh-CN" sz="1600" i="1"/>
              <a:t>N e</a:t>
            </a:r>
            <a:r>
              <a:rPr lang="en-US" altLang="zh-CN" sz="1600" baseline="-25000"/>
              <a:t>0</a:t>
            </a:r>
            <a:endParaRPr lang="en-US" altLang="zh-CN" sz="1600" i="1"/>
          </a:p>
        </p:txBody>
      </p:sp>
      <p:sp>
        <p:nvSpPr>
          <p:cNvPr id="408598" name="AutoShape 22"/>
          <p:cNvSpPr>
            <a:spLocks noChangeArrowheads="1"/>
          </p:cNvSpPr>
          <p:nvPr/>
        </p:nvSpPr>
        <p:spPr bwMode="auto">
          <a:xfrm>
            <a:off x="4038600" y="4038600"/>
            <a:ext cx="185738" cy="533400"/>
          </a:xfrm>
          <a:prstGeom prst="downArrow">
            <a:avLst>
              <a:gd name="adj1" fmla="val 50000"/>
              <a:gd name="adj2" fmla="val 71795"/>
            </a:avLst>
          </a:prstGeom>
          <a:solidFill>
            <a:srgbClr val="A50021"/>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08599" name="Object 23"/>
          <p:cNvGraphicFramePr>
            <a:graphicFrameLocks noGrp="1" noChangeAspect="1"/>
          </p:cNvGraphicFramePr>
          <p:nvPr>
            <p:ph sz="half" idx="1"/>
          </p:nvPr>
        </p:nvGraphicFramePr>
        <p:xfrm>
          <a:off x="6324600" y="4572000"/>
          <a:ext cx="2819400" cy="642938"/>
        </p:xfrm>
        <a:graphic>
          <a:graphicData uri="http://schemas.openxmlformats.org/presentationml/2006/ole">
            <mc:AlternateContent xmlns:mc="http://schemas.openxmlformats.org/markup-compatibility/2006">
              <mc:Choice xmlns:v="urn:schemas-microsoft-com:vml" Requires="v">
                <p:oleObj spid="_x0000_s536031" name="Equation" r:id="rId17" imgW="3427200" imgH="863640" progId="">
                  <p:embed/>
                </p:oleObj>
              </mc:Choice>
              <mc:Fallback>
                <p:oleObj name="Equation" r:id="rId17" imgW="3427200" imgH="863640" progId="">
                  <p:embed/>
                  <p:pic>
                    <p:nvPicPr>
                      <p:cNvPr id="0" name="Picture 9"/>
                      <p:cNvPicPr>
                        <a:picLocks noGrp="1"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324600" y="4572000"/>
                        <a:ext cx="2819400"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8600" name="Object 24"/>
          <p:cNvGraphicFramePr>
            <a:graphicFrameLocks noGrp="1" noChangeAspect="1"/>
          </p:cNvGraphicFramePr>
          <p:nvPr>
            <p:ph sz="half" idx="2"/>
          </p:nvPr>
        </p:nvGraphicFramePr>
        <p:xfrm>
          <a:off x="6324600" y="5213350"/>
          <a:ext cx="2819400" cy="654050"/>
        </p:xfrm>
        <a:graphic>
          <a:graphicData uri="http://schemas.openxmlformats.org/presentationml/2006/ole">
            <mc:AlternateContent xmlns:mc="http://schemas.openxmlformats.org/markup-compatibility/2006">
              <mc:Choice xmlns:v="urn:schemas-microsoft-com:vml" Requires="v">
                <p:oleObj spid="_x0000_s536032" name="Equation" r:id="rId19" imgW="3236760" imgH="863640" progId="">
                  <p:embed/>
                </p:oleObj>
              </mc:Choice>
              <mc:Fallback>
                <p:oleObj name="Equation" r:id="rId19" imgW="3236760" imgH="863640" progId="">
                  <p:embed/>
                  <p:pic>
                    <p:nvPicPr>
                      <p:cNvPr id="0" name="Picture 10"/>
                      <p:cNvPicPr>
                        <a:picLocks noGrp="1"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324600" y="5213350"/>
                        <a:ext cx="2819400"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8601" name="Object 25"/>
          <p:cNvGraphicFramePr>
            <a:graphicFrameLocks noChangeAspect="1"/>
          </p:cNvGraphicFramePr>
          <p:nvPr>
            <p:extLst>
              <p:ext uri="{D42A27DB-BD31-4B8C-83A1-F6EECF244321}">
                <p14:modId xmlns:p14="http://schemas.microsoft.com/office/powerpoint/2010/main" val="1054186762"/>
              </p:ext>
            </p:extLst>
          </p:nvPr>
        </p:nvGraphicFramePr>
        <p:xfrm>
          <a:off x="6410325" y="5867400"/>
          <a:ext cx="2436813" cy="692150"/>
        </p:xfrm>
        <a:graphic>
          <a:graphicData uri="http://schemas.openxmlformats.org/presentationml/2006/ole">
            <mc:AlternateContent xmlns:mc="http://schemas.openxmlformats.org/markup-compatibility/2006">
              <mc:Choice xmlns:v="urn:schemas-microsoft-com:vml" Requires="v">
                <p:oleObj spid="_x0000_s536033" name="Equation" r:id="rId21" imgW="3085920" imgH="812520" progId="">
                  <p:embed/>
                </p:oleObj>
              </mc:Choice>
              <mc:Fallback>
                <p:oleObj name="Equation" r:id="rId21" imgW="3085920" imgH="812520" progId="">
                  <p:embed/>
                  <p:pic>
                    <p:nvPicPr>
                      <p:cNvPr id="0" name="Picture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410325" y="5867400"/>
                        <a:ext cx="2436813"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8602" name="AutoShape 26"/>
          <p:cNvSpPr>
            <a:spLocks noChangeArrowheads="1"/>
          </p:cNvSpPr>
          <p:nvPr/>
        </p:nvSpPr>
        <p:spPr bwMode="auto">
          <a:xfrm>
            <a:off x="3352800" y="1981200"/>
            <a:ext cx="1447800" cy="762000"/>
          </a:xfrm>
          <a:prstGeom prst="flowChartPreparation">
            <a:avLst/>
          </a:prstGeom>
          <a:solidFill>
            <a:srgbClr val="FF00FF">
              <a:alpha val="50000"/>
            </a:srgbClr>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1600">
                <a:solidFill>
                  <a:schemeClr val="tx2"/>
                </a:solidFill>
              </a:rPr>
              <a:t>按公式</a:t>
            </a:r>
            <a:r>
              <a:rPr lang="en-US" altLang="zh-CN" sz="1600">
                <a:solidFill>
                  <a:schemeClr val="tx2"/>
                </a:solidFill>
              </a:rPr>
              <a:t>(1)</a:t>
            </a:r>
          </a:p>
          <a:p>
            <a:r>
              <a:rPr lang="zh-CN" altLang="en-US" sz="1600">
                <a:solidFill>
                  <a:schemeClr val="tx2"/>
                </a:solidFill>
              </a:rPr>
              <a:t>求解</a:t>
            </a:r>
            <a:r>
              <a:rPr lang="en-US" altLang="zh-CN" sz="1600" i="1">
                <a:solidFill>
                  <a:schemeClr val="tx2"/>
                </a:solidFill>
              </a:rPr>
              <a:t>x</a:t>
            </a:r>
            <a:r>
              <a:rPr lang="en-US" altLang="zh-CN" sz="1600">
                <a:solidFill>
                  <a:schemeClr val="tx2"/>
                </a:solidFill>
              </a:rPr>
              <a:t>(</a:t>
            </a:r>
            <a:r>
              <a:rPr lang="el-GR" altLang="zh-CN" sz="1600" i="1">
                <a:solidFill>
                  <a:schemeClr val="tx2"/>
                </a:solidFill>
              </a:rPr>
              <a:t>ξ</a:t>
            </a:r>
            <a:r>
              <a:rPr lang="en-US" altLang="zh-CN" sz="1600">
                <a:solidFill>
                  <a:schemeClr val="tx2"/>
                </a:solidFill>
              </a:rPr>
              <a:t>)</a:t>
            </a:r>
            <a:endParaRPr lang="en-US" altLang="zh-CN">
              <a:solidFill>
                <a:schemeClr val="tx2"/>
              </a:solidFill>
            </a:endParaRPr>
          </a:p>
        </p:txBody>
      </p:sp>
      <p:sp>
        <p:nvSpPr>
          <p:cNvPr id="408603" name="AutoShape 27"/>
          <p:cNvSpPr>
            <a:spLocks noChangeArrowheads="1"/>
          </p:cNvSpPr>
          <p:nvPr/>
        </p:nvSpPr>
        <p:spPr bwMode="auto">
          <a:xfrm>
            <a:off x="2971800" y="3276600"/>
            <a:ext cx="2286000" cy="762000"/>
          </a:xfrm>
          <a:prstGeom prst="flowChartPreparation">
            <a:avLst/>
          </a:prstGeom>
          <a:solidFill>
            <a:srgbClr val="FF00FF">
              <a:alpha val="50000"/>
            </a:srgbClr>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1600">
                <a:solidFill>
                  <a:schemeClr val="tx2"/>
                </a:solidFill>
              </a:rPr>
              <a:t>为小偏压 ，代入</a:t>
            </a:r>
          </a:p>
          <a:p>
            <a:r>
              <a:rPr lang="en-US" altLang="zh-CN" sz="1600">
                <a:solidFill>
                  <a:schemeClr val="tx2"/>
                </a:solidFill>
              </a:rPr>
              <a:t>(3) </a:t>
            </a:r>
            <a:r>
              <a:rPr lang="zh-CN" altLang="en-US" sz="1600">
                <a:solidFill>
                  <a:schemeClr val="tx2"/>
                </a:solidFill>
              </a:rPr>
              <a:t>重新计算</a:t>
            </a:r>
            <a:r>
              <a:rPr lang="en-US" altLang="zh-CN" sz="1600" i="1">
                <a:solidFill>
                  <a:schemeClr val="tx2"/>
                </a:solidFill>
              </a:rPr>
              <a:t>x</a:t>
            </a:r>
            <a:r>
              <a:rPr lang="en-US" altLang="zh-CN" sz="1600">
                <a:solidFill>
                  <a:schemeClr val="tx2"/>
                </a:solidFill>
              </a:rPr>
              <a:t>(</a:t>
            </a:r>
            <a:r>
              <a:rPr lang="el-GR" altLang="zh-CN" sz="1600" i="1">
                <a:solidFill>
                  <a:schemeClr val="tx2"/>
                </a:solidFill>
              </a:rPr>
              <a:t>ξ</a:t>
            </a:r>
            <a:r>
              <a:rPr lang="en-US" altLang="zh-CN" sz="1600">
                <a:solidFill>
                  <a:schemeClr val="tx2"/>
                </a:solidFill>
              </a:rPr>
              <a:t>)</a:t>
            </a:r>
            <a:endParaRPr lang="en-US" altLang="zh-CN">
              <a:solidFill>
                <a:schemeClr val="tx2"/>
              </a:solidFill>
            </a:endParaRPr>
          </a:p>
        </p:txBody>
      </p:sp>
      <p:sp>
        <p:nvSpPr>
          <p:cNvPr id="408604" name="AutoShape 28"/>
          <p:cNvSpPr>
            <a:spLocks noChangeArrowheads="1"/>
          </p:cNvSpPr>
          <p:nvPr/>
        </p:nvSpPr>
        <p:spPr bwMode="auto">
          <a:xfrm>
            <a:off x="609600" y="1528763"/>
            <a:ext cx="1968500" cy="363537"/>
          </a:xfrm>
          <a:prstGeom prst="roundRect">
            <a:avLst>
              <a:gd name="adj" fmla="val 16667"/>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50000"/>
              </a:spcBef>
              <a:buClrTx/>
              <a:buFontTx/>
              <a:buNone/>
            </a:pPr>
            <a:r>
              <a:rPr lang="zh-CN" altLang="en-US" sz="1600">
                <a:solidFill>
                  <a:srgbClr val="FF0000"/>
                </a:solidFill>
              </a:rPr>
              <a:t>（</a:t>
            </a:r>
            <a:r>
              <a:rPr lang="en-US" altLang="zh-CN" sz="1600">
                <a:solidFill>
                  <a:srgbClr val="FF0000"/>
                </a:solidFill>
              </a:rPr>
              <a:t>1</a:t>
            </a:r>
            <a:r>
              <a:rPr lang="zh-CN" altLang="en-US" sz="1600">
                <a:solidFill>
                  <a:srgbClr val="FF0000"/>
                </a:solidFill>
              </a:rPr>
              <a:t>）正向破坏情况</a:t>
            </a:r>
          </a:p>
        </p:txBody>
      </p:sp>
      <p:sp>
        <p:nvSpPr>
          <p:cNvPr id="408605" name="AutoShape 29">
            <a:hlinkClick r:id="rId23" action="ppaction://hlinksldjump"/>
          </p:cNvPr>
          <p:cNvSpPr>
            <a:spLocks noChangeArrowheads="1"/>
          </p:cNvSpPr>
          <p:nvPr/>
        </p:nvSpPr>
        <p:spPr bwMode="auto">
          <a:xfrm>
            <a:off x="609600" y="5791200"/>
            <a:ext cx="4559300" cy="363538"/>
          </a:xfrm>
          <a:prstGeom prst="roundRect">
            <a:avLst>
              <a:gd name="adj" fmla="val 16667"/>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50000"/>
              </a:spcBef>
              <a:buClrTx/>
              <a:buFontTx/>
              <a:buNone/>
            </a:pPr>
            <a:r>
              <a:rPr lang="zh-CN" altLang="en-US" sz="1600">
                <a:solidFill>
                  <a:srgbClr val="FF0000"/>
                </a:solidFill>
              </a:rPr>
              <a:t>（</a:t>
            </a:r>
            <a:r>
              <a:rPr lang="en-US" altLang="zh-CN" sz="1600">
                <a:solidFill>
                  <a:srgbClr val="FF0000"/>
                </a:solidFill>
              </a:rPr>
              <a:t>2</a:t>
            </a:r>
            <a:r>
              <a:rPr lang="zh-CN" altLang="en-US" sz="1600">
                <a:solidFill>
                  <a:srgbClr val="FF0000"/>
                </a:solidFill>
              </a:rPr>
              <a:t>）反向破坏情况计算，并取两种情况小者</a:t>
            </a:r>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6530" name="Rectangle 2"/>
          <p:cNvSpPr>
            <a:spLocks noChangeArrowheads="1"/>
          </p:cNvSpPr>
          <p:nvPr/>
        </p:nvSpPr>
        <p:spPr bwMode="auto">
          <a:xfrm>
            <a:off x="611188" y="1066800"/>
            <a:ext cx="830421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五</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非对称配筋偏心受压构件截面配筋的复核</a:t>
            </a:r>
            <a:r>
              <a:rPr lang="zh-CN" altLang="en-US"/>
              <a:t> </a:t>
            </a:r>
            <a:endParaRPr lang="zh-CN" altLang="en-US" sz="2800">
              <a:solidFill>
                <a:srgbClr val="A50021"/>
              </a:solidFill>
              <a:latin typeface="华文中宋" pitchFamily="2" charset="-122"/>
              <a:ea typeface="华文中宋" pitchFamily="2" charset="-122"/>
            </a:endParaRPr>
          </a:p>
          <a:p>
            <a:pPr marL="342900" indent="-342900" algn="l">
              <a:lnSpc>
                <a:spcPct val="110000"/>
              </a:lnSpc>
              <a:spcBef>
                <a:spcPct val="50000"/>
              </a:spcBef>
            </a:pPr>
            <a:endParaRPr lang="en-US" altLang="zh-CN" sz="2000">
              <a:solidFill>
                <a:schemeClr val="tx1"/>
              </a:solidFill>
            </a:endParaRPr>
          </a:p>
        </p:txBody>
      </p:sp>
      <p:sp>
        <p:nvSpPr>
          <p:cNvPr id="406531" name="Rectangle 3"/>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406532" name="AutoShape 4">
            <a:hlinkClick r:id="rId2" action="ppaction://hlinksldjump"/>
          </p:cNvPr>
          <p:cNvSpPr>
            <a:spLocks noChangeArrowheads="1"/>
          </p:cNvSpPr>
          <p:nvPr/>
        </p:nvSpPr>
        <p:spPr bwMode="auto">
          <a:xfrm>
            <a:off x="8153400" y="6096000"/>
            <a:ext cx="366713" cy="304800"/>
          </a:xfrm>
          <a:prstGeom prst="rightArrow">
            <a:avLst>
              <a:gd name="adj1" fmla="val 50000"/>
              <a:gd name="adj2" fmla="val 30078"/>
            </a:avLst>
          </a:prstGeom>
          <a:solidFill>
            <a:schemeClr val="bg2"/>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6533" name="Rectangle 5"/>
          <p:cNvSpPr>
            <a:spLocks noChangeArrowheads="1"/>
          </p:cNvSpPr>
          <p:nvPr/>
        </p:nvSpPr>
        <p:spPr bwMode="auto">
          <a:xfrm>
            <a:off x="838200" y="1905000"/>
            <a:ext cx="7467600" cy="3268587"/>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dirty="0"/>
          </a:p>
          <a:p>
            <a:pPr algn="l"/>
            <a:r>
              <a:rPr lang="zh-CN" altLang="en-US" dirty="0">
                <a:solidFill>
                  <a:srgbClr val="A50021"/>
                </a:solidFill>
              </a:rPr>
              <a:t>例题</a:t>
            </a:r>
            <a:r>
              <a:rPr lang="en-US" altLang="zh-CN" dirty="0">
                <a:solidFill>
                  <a:srgbClr val="A50021"/>
                </a:solidFill>
              </a:rPr>
              <a:t>7.10</a:t>
            </a:r>
            <a:endParaRPr lang="en-US" altLang="zh-CN" dirty="0"/>
          </a:p>
          <a:p>
            <a:pPr algn="l"/>
            <a:r>
              <a:rPr lang="en-US" altLang="zh-CN" sz="2000" dirty="0"/>
              <a:t>——</a:t>
            </a:r>
            <a:r>
              <a:rPr lang="zh-CN" altLang="en-US" sz="2000" dirty="0"/>
              <a:t>已知轴力</a:t>
            </a:r>
            <a:r>
              <a:rPr lang="en-US" altLang="zh-CN" sz="2000" i="1" dirty="0"/>
              <a:t>N</a:t>
            </a:r>
            <a:r>
              <a:rPr lang="zh-CN" altLang="en-US" sz="2000" dirty="0"/>
              <a:t>，要求计算弯矩</a:t>
            </a:r>
            <a:r>
              <a:rPr lang="en-US" altLang="zh-CN" sz="2000" i="1" dirty="0"/>
              <a:t>M</a:t>
            </a:r>
            <a:r>
              <a:rPr lang="zh-CN" altLang="en-US" sz="2000" dirty="0"/>
              <a:t>（大偏压情况）</a:t>
            </a:r>
            <a:endParaRPr lang="en-US" altLang="zh-CN" sz="2000" dirty="0"/>
          </a:p>
          <a:p>
            <a:pPr algn="l"/>
            <a:endParaRPr lang="en-US" altLang="zh-CN" sz="2000" dirty="0"/>
          </a:p>
          <a:p>
            <a:endParaRPr lang="zh-CN" altLang="en-US" sz="2000" dirty="0"/>
          </a:p>
          <a:p>
            <a:pPr algn="l"/>
            <a:r>
              <a:rPr lang="zh-CN" altLang="en-US" dirty="0">
                <a:solidFill>
                  <a:srgbClr val="A50021"/>
                </a:solidFill>
              </a:rPr>
              <a:t>例题</a:t>
            </a:r>
            <a:r>
              <a:rPr lang="en-US" altLang="zh-CN" dirty="0">
                <a:solidFill>
                  <a:srgbClr val="A50021"/>
                </a:solidFill>
              </a:rPr>
              <a:t>7.11</a:t>
            </a:r>
          </a:p>
          <a:p>
            <a:pPr algn="l"/>
            <a:r>
              <a:rPr lang="en-US" altLang="zh-CN" sz="2000" dirty="0"/>
              <a:t>——</a:t>
            </a:r>
            <a:r>
              <a:rPr lang="zh-CN" altLang="en-US" sz="2000" dirty="0"/>
              <a:t>已知偏心矩，求计算轴力</a:t>
            </a:r>
            <a:r>
              <a:rPr lang="en-US" altLang="zh-CN" sz="2000" i="1" dirty="0"/>
              <a:t>N</a:t>
            </a:r>
            <a:r>
              <a:rPr lang="zh-CN" altLang="en-US" sz="2000" dirty="0"/>
              <a:t>（小偏压情况）</a:t>
            </a:r>
          </a:p>
          <a:p>
            <a:pPr algn="l"/>
            <a:endParaRPr lang="zh-CN" altLang="en-US" sz="2000" dirty="0"/>
          </a:p>
          <a:p>
            <a:pPr algn="l"/>
            <a:endParaRPr lang="en-US" altLang="zh-CN" sz="2000" dirty="0"/>
          </a:p>
        </p:txBody>
      </p:sp>
    </p:spTree>
    <p:extLst>
      <p:ext uri="{BB962C8B-B14F-4D97-AF65-F5344CB8AC3E}">
        <p14:creationId xmlns:p14="http://schemas.microsoft.com/office/powerpoint/2010/main" val="3970152499"/>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409603" name="Rectangle 3"/>
          <p:cNvSpPr>
            <a:spLocks noChangeArrowheads="1"/>
          </p:cNvSpPr>
          <p:nvPr/>
        </p:nvSpPr>
        <p:spPr bwMode="auto">
          <a:xfrm>
            <a:off x="611188" y="1066800"/>
            <a:ext cx="8304212" cy="4856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dirty="0">
                <a:solidFill>
                  <a:srgbClr val="A50021"/>
                </a:solidFill>
                <a:latin typeface="华文中宋" pitchFamily="2" charset="-122"/>
                <a:ea typeface="华文中宋" pitchFamily="2" charset="-122"/>
              </a:rPr>
              <a:t>六</a:t>
            </a:r>
            <a:r>
              <a:rPr lang="en-US" altLang="zh-CN" sz="2800" dirty="0">
                <a:solidFill>
                  <a:srgbClr val="A50021"/>
                </a:solidFill>
                <a:latin typeface="华文中宋" pitchFamily="2" charset="-122"/>
                <a:ea typeface="华文中宋" pitchFamily="2" charset="-122"/>
              </a:rPr>
              <a:t>.</a:t>
            </a:r>
            <a:r>
              <a:rPr lang="zh-CN" altLang="en-US" sz="2800" dirty="0">
                <a:solidFill>
                  <a:srgbClr val="A50021"/>
                </a:solidFill>
                <a:latin typeface="华文中宋" pitchFamily="2" charset="-122"/>
                <a:ea typeface="华文中宋" pitchFamily="2" charset="-122"/>
              </a:rPr>
              <a:t>对称配筋偏心受压构件截面配筋的计算</a:t>
            </a:r>
            <a:r>
              <a:rPr lang="zh-CN" altLang="en-US" dirty="0"/>
              <a:t> </a:t>
            </a:r>
            <a:endParaRPr lang="zh-CN" altLang="en-US" sz="2800" dirty="0">
              <a:solidFill>
                <a:srgbClr val="A50021"/>
              </a:solidFill>
              <a:latin typeface="华文中宋" pitchFamily="2" charset="-122"/>
              <a:ea typeface="华文中宋" pitchFamily="2" charset="-122"/>
            </a:endParaRPr>
          </a:p>
          <a:p>
            <a:pPr algn="l">
              <a:lnSpc>
                <a:spcPct val="120000"/>
              </a:lnSpc>
              <a:spcBef>
                <a:spcPct val="50000"/>
              </a:spcBef>
              <a:buClrTx/>
              <a:buFontTx/>
              <a:buNone/>
            </a:pPr>
            <a:r>
              <a:rPr lang="zh-CN" altLang="en-US" sz="2200" dirty="0">
                <a:solidFill>
                  <a:schemeClr val="tx1"/>
                </a:solidFill>
              </a:rPr>
              <a:t>钢筋混凝土构件截面两侧配置钢筋的</a:t>
            </a:r>
            <a:r>
              <a:rPr lang="zh-CN" altLang="en-US" sz="2200" dirty="0">
                <a:solidFill>
                  <a:srgbClr val="FF0000"/>
                </a:solidFill>
              </a:rPr>
              <a:t>数量</a:t>
            </a:r>
            <a:r>
              <a:rPr lang="zh-CN" altLang="en-US" sz="2200" dirty="0">
                <a:solidFill>
                  <a:schemeClr val="tx1"/>
                </a:solidFill>
              </a:rPr>
              <a:t>和</a:t>
            </a:r>
            <a:r>
              <a:rPr lang="zh-CN" altLang="en-US" sz="2200" dirty="0">
                <a:solidFill>
                  <a:srgbClr val="FF0000"/>
                </a:solidFill>
              </a:rPr>
              <a:t>级别</a:t>
            </a:r>
            <a:r>
              <a:rPr lang="zh-CN" altLang="en-US" sz="2200" dirty="0">
                <a:solidFill>
                  <a:schemeClr val="tx1"/>
                </a:solidFill>
              </a:rPr>
              <a:t>均相同，即</a:t>
            </a:r>
          </a:p>
          <a:p>
            <a:pPr algn="l">
              <a:lnSpc>
                <a:spcPct val="120000"/>
              </a:lnSpc>
              <a:spcBef>
                <a:spcPct val="50000"/>
              </a:spcBef>
              <a:buClrTx/>
              <a:buFontTx/>
              <a:buNone/>
            </a:pPr>
            <a:r>
              <a:rPr lang="zh-CN" altLang="en-US" sz="2200" dirty="0">
                <a:solidFill>
                  <a:schemeClr val="tx1"/>
                </a:solidFill>
              </a:rPr>
              <a:t>		         </a:t>
            </a:r>
          </a:p>
          <a:p>
            <a:pPr algn="l">
              <a:lnSpc>
                <a:spcPct val="120000"/>
              </a:lnSpc>
              <a:spcBef>
                <a:spcPct val="0"/>
              </a:spcBef>
              <a:buClrTx/>
              <a:buFontTx/>
              <a:buNone/>
            </a:pPr>
            <a:r>
              <a:rPr lang="zh-CN" altLang="en-US" sz="2200" dirty="0">
                <a:solidFill>
                  <a:schemeClr val="tx1"/>
                </a:solidFill>
              </a:rPr>
              <a:t>称为对称配筋，它具有构造简单和施工方便的优点，在工程实际中应用广泛。</a:t>
            </a:r>
          </a:p>
          <a:p>
            <a:pPr algn="l">
              <a:lnSpc>
                <a:spcPct val="120000"/>
              </a:lnSpc>
              <a:spcBef>
                <a:spcPct val="50000"/>
              </a:spcBef>
              <a:buClrTx/>
              <a:buFontTx/>
              <a:buNone/>
            </a:pPr>
            <a:r>
              <a:rPr lang="zh-CN" altLang="en-US" sz="2200" dirty="0">
                <a:solidFill>
                  <a:schemeClr val="tx1"/>
                </a:solidFill>
              </a:rPr>
              <a:t>特别在不同荷载效应组合下，构件截面中可能产生</a:t>
            </a:r>
            <a:r>
              <a:rPr lang="zh-CN" altLang="en-US" sz="2200" dirty="0">
                <a:solidFill>
                  <a:srgbClr val="FF0000"/>
                </a:solidFill>
              </a:rPr>
              <a:t>方向相反的正、负弯矩</a:t>
            </a:r>
            <a:r>
              <a:rPr lang="zh-CN" altLang="en-US" sz="2200" dirty="0">
                <a:solidFill>
                  <a:schemeClr val="tx1"/>
                </a:solidFill>
              </a:rPr>
              <a:t>，当两者数值相差不大，或相差数值虽较大，但按对称配筋设计，纵向钢筋总的用量比非对称配筋设计增加不多时，宜采用对称配筋。</a:t>
            </a:r>
          </a:p>
          <a:p>
            <a:pPr algn="l">
              <a:lnSpc>
                <a:spcPct val="120000"/>
              </a:lnSpc>
              <a:spcBef>
                <a:spcPct val="50000"/>
              </a:spcBef>
              <a:buClrTx/>
              <a:buFontTx/>
              <a:buNone/>
            </a:pPr>
            <a:r>
              <a:rPr lang="zh-CN" altLang="en-US" sz="2200" dirty="0">
                <a:solidFill>
                  <a:srgbClr val="FF0000"/>
                </a:solidFill>
              </a:rPr>
              <a:t>装配式柱</a:t>
            </a:r>
            <a:r>
              <a:rPr lang="zh-CN" altLang="en-US" sz="2200" dirty="0">
                <a:solidFill>
                  <a:schemeClr val="tx1"/>
                </a:solidFill>
              </a:rPr>
              <a:t>为了吊装时不致发生差错，一般亦可采用对称配筋。</a:t>
            </a:r>
          </a:p>
        </p:txBody>
      </p:sp>
      <p:graphicFrame>
        <p:nvGraphicFramePr>
          <p:cNvPr id="409604" name="Object 4"/>
          <p:cNvGraphicFramePr>
            <a:graphicFrameLocks noGrp="1" noChangeAspect="1"/>
          </p:cNvGraphicFramePr>
          <p:nvPr>
            <p:ph sz="half" idx="1"/>
            <p:extLst>
              <p:ext uri="{D42A27DB-BD31-4B8C-83A1-F6EECF244321}">
                <p14:modId xmlns:p14="http://schemas.microsoft.com/office/powerpoint/2010/main" val="3594522389"/>
              </p:ext>
            </p:extLst>
          </p:nvPr>
        </p:nvGraphicFramePr>
        <p:xfrm>
          <a:off x="3222625" y="2209800"/>
          <a:ext cx="2525713" cy="431800"/>
        </p:xfrm>
        <a:graphic>
          <a:graphicData uri="http://schemas.openxmlformats.org/presentationml/2006/ole">
            <mc:AlternateContent xmlns:mc="http://schemas.openxmlformats.org/markup-compatibility/2006">
              <mc:Choice xmlns:v="urn:schemas-microsoft-com:vml" Requires="v">
                <p:oleObj spid="_x0000_s539697" name="Equation" r:id="rId3" imgW="1485720" imgH="253800" progId="Equation.DSMT4">
                  <p:embed/>
                </p:oleObj>
              </mc:Choice>
              <mc:Fallback>
                <p:oleObj name="Equation" r:id="rId3" imgW="1485720" imgH="253800" progId="Equation.DSMT4">
                  <p:embed/>
                  <p:pic>
                    <p:nvPicPr>
                      <p:cNvPr id="0" name="Picture 2"/>
                      <p:cNvPicPr>
                        <a:picLocks noGrp="1" noChangeAspect="1" noChangeArrowheads="1"/>
                      </p:cNvPicPr>
                      <p:nvPr/>
                    </p:nvPicPr>
                    <p:blipFill>
                      <a:blip r:embed="rId4"/>
                      <a:srcRect/>
                      <a:stretch>
                        <a:fillRect/>
                      </a:stretch>
                    </p:blipFill>
                    <p:spPr bwMode="auto">
                      <a:xfrm>
                        <a:off x="3222625" y="2209800"/>
                        <a:ext cx="252571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410627" name="Rectangle 3"/>
          <p:cNvSpPr>
            <a:spLocks noChangeArrowheads="1"/>
          </p:cNvSpPr>
          <p:nvPr/>
        </p:nvSpPr>
        <p:spPr bwMode="auto">
          <a:xfrm>
            <a:off x="611188" y="1066800"/>
            <a:ext cx="8304212" cy="541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dirty="0">
                <a:solidFill>
                  <a:srgbClr val="A50021"/>
                </a:solidFill>
                <a:latin typeface="华文中宋" pitchFamily="2" charset="-122"/>
                <a:ea typeface="华文中宋" pitchFamily="2" charset="-122"/>
              </a:rPr>
              <a:t>六</a:t>
            </a:r>
            <a:r>
              <a:rPr lang="en-US" altLang="zh-CN" sz="2800" dirty="0">
                <a:solidFill>
                  <a:srgbClr val="A50021"/>
                </a:solidFill>
                <a:latin typeface="华文中宋" pitchFamily="2" charset="-122"/>
                <a:ea typeface="华文中宋" pitchFamily="2" charset="-122"/>
              </a:rPr>
              <a:t>.</a:t>
            </a:r>
            <a:r>
              <a:rPr lang="zh-CN" altLang="en-US" sz="2800" dirty="0">
                <a:solidFill>
                  <a:srgbClr val="A50021"/>
                </a:solidFill>
                <a:latin typeface="华文中宋" pitchFamily="2" charset="-122"/>
                <a:ea typeface="华文中宋" pitchFamily="2" charset="-122"/>
              </a:rPr>
              <a:t>对称配筋偏心受压构件截面配筋的计算</a:t>
            </a:r>
            <a:r>
              <a:rPr lang="zh-CN" altLang="en-US" dirty="0"/>
              <a:t> </a:t>
            </a:r>
          </a:p>
          <a:p>
            <a:pPr algn="l">
              <a:lnSpc>
                <a:spcPct val="100000"/>
              </a:lnSpc>
              <a:spcBef>
                <a:spcPct val="50000"/>
              </a:spcBef>
              <a:buClrTx/>
              <a:buFontTx/>
              <a:buNone/>
            </a:pPr>
            <a:r>
              <a:rPr lang="en-US" altLang="zh-CN" dirty="0">
                <a:solidFill>
                  <a:srgbClr val="990099"/>
                </a:solidFill>
              </a:rPr>
              <a:t>1.</a:t>
            </a:r>
            <a:r>
              <a:rPr lang="zh-CN" altLang="en-US" dirty="0">
                <a:solidFill>
                  <a:srgbClr val="990099"/>
                </a:solidFill>
              </a:rPr>
              <a:t>大小偏心的判断</a:t>
            </a:r>
          </a:p>
          <a:p>
            <a:pPr algn="l">
              <a:lnSpc>
                <a:spcPct val="100000"/>
              </a:lnSpc>
              <a:spcBef>
                <a:spcPct val="50000"/>
              </a:spcBef>
              <a:buClrTx/>
              <a:buFontTx/>
              <a:buNone/>
            </a:pPr>
            <a:r>
              <a:rPr lang="zh-CN" altLang="en-US" sz="2000" dirty="0">
                <a:solidFill>
                  <a:schemeClr val="tx1"/>
                </a:solidFill>
              </a:rPr>
              <a:t>由   			   ，根据		可以方便求出受压区混凝土的计算高度： </a:t>
            </a:r>
          </a:p>
          <a:p>
            <a:pPr algn="l">
              <a:lnSpc>
                <a:spcPct val="100000"/>
              </a:lnSpc>
              <a:spcBef>
                <a:spcPct val="50000"/>
              </a:spcBef>
              <a:buClrTx/>
              <a:buFontTx/>
              <a:buNone/>
            </a:pPr>
            <a:endParaRPr lang="zh-CN" altLang="en-US" sz="2000" dirty="0">
              <a:solidFill>
                <a:schemeClr val="tx1"/>
              </a:solidFill>
            </a:endParaRPr>
          </a:p>
          <a:p>
            <a:pPr algn="l">
              <a:lnSpc>
                <a:spcPct val="100000"/>
              </a:lnSpc>
              <a:spcBef>
                <a:spcPct val="0"/>
              </a:spcBef>
              <a:buClrTx/>
              <a:buFontTx/>
              <a:buNone/>
            </a:pPr>
            <a:r>
              <a:rPr lang="zh-CN" altLang="en-US" sz="2000" dirty="0">
                <a:solidFill>
                  <a:schemeClr val="tx1"/>
                </a:solidFill>
              </a:rPr>
              <a:t>判断条件为：</a:t>
            </a:r>
          </a:p>
          <a:p>
            <a:pPr algn="l">
              <a:lnSpc>
                <a:spcPct val="100000"/>
              </a:lnSpc>
              <a:spcBef>
                <a:spcPct val="50000"/>
              </a:spcBef>
            </a:pPr>
            <a:r>
              <a:rPr lang="zh-CN" altLang="en-US" sz="2000" dirty="0">
                <a:solidFill>
                  <a:schemeClr val="tx1"/>
                </a:solidFill>
              </a:rPr>
              <a:t>					属于小偏心受压情况；</a:t>
            </a:r>
          </a:p>
          <a:p>
            <a:pPr algn="l">
              <a:lnSpc>
                <a:spcPct val="100000"/>
              </a:lnSpc>
              <a:spcBef>
                <a:spcPct val="50000"/>
              </a:spcBef>
            </a:pPr>
            <a:r>
              <a:rPr lang="zh-CN" altLang="en-US" sz="2000" dirty="0">
                <a:solidFill>
                  <a:schemeClr val="tx1"/>
                </a:solidFill>
              </a:rPr>
              <a:t>			     为大偏心受压情况</a:t>
            </a:r>
          </a:p>
          <a:p>
            <a:pPr algn="l">
              <a:lnSpc>
                <a:spcPct val="110000"/>
              </a:lnSpc>
              <a:spcBef>
                <a:spcPct val="50000"/>
              </a:spcBef>
            </a:pPr>
            <a:endParaRPr lang="zh-CN" altLang="en-US" sz="800" dirty="0">
              <a:solidFill>
                <a:schemeClr val="tx1"/>
              </a:solidFill>
            </a:endParaRPr>
          </a:p>
          <a:p>
            <a:pPr algn="l"/>
            <a:r>
              <a:rPr lang="en-US" altLang="zh-CN" dirty="0">
                <a:solidFill>
                  <a:srgbClr val="990099"/>
                </a:solidFill>
              </a:rPr>
              <a:t>2.</a:t>
            </a:r>
            <a:r>
              <a:rPr lang="zh-CN" altLang="en-US" dirty="0">
                <a:solidFill>
                  <a:srgbClr val="990099"/>
                </a:solidFill>
              </a:rPr>
              <a:t>大偏压情况的计算</a:t>
            </a:r>
            <a:r>
              <a:rPr lang="zh-CN" altLang="en-US" dirty="0"/>
              <a:t> </a:t>
            </a:r>
            <a:endParaRPr lang="zh-CN" altLang="en-US" dirty="0">
              <a:solidFill>
                <a:srgbClr val="990099"/>
              </a:solidFill>
            </a:endParaRPr>
          </a:p>
          <a:p>
            <a:pPr algn="l">
              <a:lnSpc>
                <a:spcPct val="110000"/>
              </a:lnSpc>
              <a:spcBef>
                <a:spcPct val="50000"/>
              </a:spcBef>
            </a:pPr>
            <a:r>
              <a:rPr lang="en-US" altLang="zh-CN" sz="2000" dirty="0">
                <a:solidFill>
                  <a:schemeClr val="tx1"/>
                </a:solidFill>
              </a:rPr>
              <a:t>1</a:t>
            </a:r>
            <a:r>
              <a:rPr lang="zh-CN" altLang="en-US" sz="2000" dirty="0">
                <a:solidFill>
                  <a:schemeClr val="tx1"/>
                </a:solidFill>
              </a:rPr>
              <a:t>）如果		        ，将</a:t>
            </a:r>
            <a:r>
              <a:rPr lang="en-US" altLang="zh-CN" sz="2000" i="1" dirty="0">
                <a:solidFill>
                  <a:schemeClr val="tx1"/>
                </a:solidFill>
              </a:rPr>
              <a:t>x</a:t>
            </a:r>
            <a:r>
              <a:rPr lang="zh-CN" altLang="en-US" sz="2000" dirty="0">
                <a:solidFill>
                  <a:schemeClr val="tx1"/>
                </a:solidFill>
              </a:rPr>
              <a:t>直接代入式        </a:t>
            </a:r>
            <a:r>
              <a:rPr lang="en-US" altLang="zh-CN" sz="2000" dirty="0">
                <a:solidFill>
                  <a:schemeClr val="tx1"/>
                </a:solidFill>
              </a:rPr>
              <a:t>			         </a:t>
            </a:r>
            <a:r>
              <a:rPr lang="zh-CN" altLang="en-US" sz="2000" dirty="0">
                <a:solidFill>
                  <a:schemeClr val="tx1"/>
                </a:solidFill>
              </a:rPr>
              <a:t>中计算        ，并令</a:t>
            </a:r>
          </a:p>
          <a:p>
            <a:pPr algn="l">
              <a:lnSpc>
                <a:spcPct val="110000"/>
              </a:lnSpc>
              <a:spcBef>
                <a:spcPct val="50000"/>
              </a:spcBef>
            </a:pPr>
            <a:r>
              <a:rPr lang="en-US" altLang="zh-CN" sz="2000" dirty="0">
                <a:solidFill>
                  <a:schemeClr val="tx1"/>
                </a:solidFill>
              </a:rPr>
              <a:t>2</a:t>
            </a:r>
            <a:r>
              <a:rPr lang="zh-CN" altLang="en-US" sz="2000" dirty="0">
                <a:solidFill>
                  <a:schemeClr val="tx1"/>
                </a:solidFill>
              </a:rPr>
              <a:t>）如果		  ，则		         并令</a:t>
            </a:r>
          </a:p>
        </p:txBody>
      </p:sp>
      <p:graphicFrame>
        <p:nvGraphicFramePr>
          <p:cNvPr id="410628" name="Object 4"/>
          <p:cNvGraphicFramePr>
            <a:graphicFrameLocks noGrp="1" noChangeAspect="1"/>
          </p:cNvGraphicFramePr>
          <p:nvPr>
            <p:ph sz="half" idx="1"/>
            <p:extLst>
              <p:ext uri="{D42A27DB-BD31-4B8C-83A1-F6EECF244321}">
                <p14:modId xmlns:p14="http://schemas.microsoft.com/office/powerpoint/2010/main" val="3632973372"/>
              </p:ext>
            </p:extLst>
          </p:nvPr>
        </p:nvGraphicFramePr>
        <p:xfrm>
          <a:off x="4441825" y="2211388"/>
          <a:ext cx="1684338" cy="431800"/>
        </p:xfrm>
        <a:graphic>
          <a:graphicData uri="http://schemas.openxmlformats.org/presentationml/2006/ole">
            <mc:AlternateContent xmlns:mc="http://schemas.openxmlformats.org/markup-compatibility/2006">
              <mc:Choice xmlns:v="urn:schemas-microsoft-com:vml" Requires="v">
                <p:oleObj spid="_x0000_s541298" name="Equation" r:id="rId3" imgW="990360" imgH="253800" progId="Equation.DSMT4">
                  <p:embed/>
                </p:oleObj>
              </mc:Choice>
              <mc:Fallback>
                <p:oleObj name="Equation" r:id="rId3" imgW="990360" imgH="253800" progId="Equation.DSMT4">
                  <p:embed/>
                  <p:pic>
                    <p:nvPicPr>
                      <p:cNvPr id="0" name="Picture 2"/>
                      <p:cNvPicPr>
                        <a:picLocks noGrp="1" noChangeAspect="1" noChangeArrowheads="1"/>
                      </p:cNvPicPr>
                      <p:nvPr/>
                    </p:nvPicPr>
                    <p:blipFill>
                      <a:blip r:embed="rId4"/>
                      <a:srcRect/>
                      <a:stretch>
                        <a:fillRect/>
                      </a:stretch>
                    </p:blipFill>
                    <p:spPr bwMode="auto">
                      <a:xfrm>
                        <a:off x="4441825" y="2211388"/>
                        <a:ext cx="168433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629" name="Object 5"/>
          <p:cNvGraphicFramePr>
            <a:graphicFrameLocks noGrp="1" noChangeAspect="1"/>
          </p:cNvGraphicFramePr>
          <p:nvPr>
            <p:ph sz="half" idx="2"/>
            <p:extLst>
              <p:ext uri="{D42A27DB-BD31-4B8C-83A1-F6EECF244321}">
                <p14:modId xmlns:p14="http://schemas.microsoft.com/office/powerpoint/2010/main" val="3386084567"/>
              </p:ext>
            </p:extLst>
          </p:nvPr>
        </p:nvGraphicFramePr>
        <p:xfrm>
          <a:off x="1031875" y="2159000"/>
          <a:ext cx="2613025" cy="431800"/>
        </p:xfrm>
        <a:graphic>
          <a:graphicData uri="http://schemas.openxmlformats.org/presentationml/2006/ole">
            <mc:AlternateContent xmlns:mc="http://schemas.openxmlformats.org/markup-compatibility/2006">
              <mc:Choice xmlns:v="urn:schemas-microsoft-com:vml" Requires="v">
                <p:oleObj spid="_x0000_s541299" name="Equation" r:id="rId5" imgW="1536480" imgH="253800" progId="Equation.DSMT4">
                  <p:embed/>
                </p:oleObj>
              </mc:Choice>
              <mc:Fallback>
                <p:oleObj name="Equation" r:id="rId5" imgW="1536480" imgH="253800" progId="Equation.DSMT4">
                  <p:embed/>
                  <p:pic>
                    <p:nvPicPr>
                      <p:cNvPr id="0" name="Picture 3"/>
                      <p:cNvPicPr>
                        <a:picLocks noGrp="1" noChangeAspect="1" noChangeArrowheads="1"/>
                      </p:cNvPicPr>
                      <p:nvPr/>
                    </p:nvPicPr>
                    <p:blipFill>
                      <a:blip r:embed="rId6"/>
                      <a:srcRect/>
                      <a:stretch>
                        <a:fillRect/>
                      </a:stretch>
                    </p:blipFill>
                    <p:spPr bwMode="auto">
                      <a:xfrm>
                        <a:off x="1031875" y="2159000"/>
                        <a:ext cx="26130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630" name="Object 6"/>
          <p:cNvGraphicFramePr>
            <a:graphicFrameLocks noChangeAspect="1"/>
          </p:cNvGraphicFramePr>
          <p:nvPr>
            <p:extLst>
              <p:ext uri="{D42A27DB-BD31-4B8C-83A1-F6EECF244321}">
                <p14:modId xmlns:p14="http://schemas.microsoft.com/office/powerpoint/2010/main" val="2725210354"/>
              </p:ext>
            </p:extLst>
          </p:nvPr>
        </p:nvGraphicFramePr>
        <p:xfrm>
          <a:off x="4273550" y="2797175"/>
          <a:ext cx="1099244" cy="762000"/>
        </p:xfrm>
        <a:graphic>
          <a:graphicData uri="http://schemas.openxmlformats.org/presentationml/2006/ole">
            <mc:AlternateContent xmlns:mc="http://schemas.openxmlformats.org/markup-compatibility/2006">
              <mc:Choice xmlns:v="urn:schemas-microsoft-com:vml" Requires="v">
                <p:oleObj spid="_x0000_s541300" name="Equation" r:id="rId7" imgW="634680" imgH="431640" progId="Equation.DSMT4">
                  <p:embed/>
                </p:oleObj>
              </mc:Choice>
              <mc:Fallback>
                <p:oleObj name="Equation" r:id="rId7" imgW="634680" imgH="431640" progId="Equation.DSMT4">
                  <p:embed/>
                  <p:pic>
                    <p:nvPicPr>
                      <p:cNvPr id="0" name="Picture 4"/>
                      <p:cNvPicPr>
                        <a:picLocks noChangeAspect="1" noChangeArrowheads="1"/>
                      </p:cNvPicPr>
                      <p:nvPr/>
                    </p:nvPicPr>
                    <p:blipFill>
                      <a:blip r:embed="rId8"/>
                      <a:srcRect/>
                      <a:stretch>
                        <a:fillRect/>
                      </a:stretch>
                    </p:blipFill>
                    <p:spPr bwMode="auto">
                      <a:xfrm>
                        <a:off x="4273550" y="2797175"/>
                        <a:ext cx="1099244" cy="762000"/>
                      </a:xfrm>
                      <a:prstGeom prst="rect">
                        <a:avLst/>
                      </a:prstGeom>
                      <a:noFill/>
                      <a:ln>
                        <a:noFill/>
                      </a:ln>
                      <a:effectLst/>
                      <a:extLst/>
                    </p:spPr>
                  </p:pic>
                </p:oleObj>
              </mc:Fallback>
            </mc:AlternateContent>
          </a:graphicData>
        </a:graphic>
      </p:graphicFrame>
      <p:graphicFrame>
        <p:nvGraphicFramePr>
          <p:cNvPr id="410631" name="Object 7"/>
          <p:cNvGraphicFramePr>
            <a:graphicFrameLocks noChangeAspect="1"/>
          </p:cNvGraphicFramePr>
          <p:nvPr>
            <p:extLst>
              <p:ext uri="{D42A27DB-BD31-4B8C-83A1-F6EECF244321}">
                <p14:modId xmlns:p14="http://schemas.microsoft.com/office/powerpoint/2010/main" val="3356009289"/>
              </p:ext>
            </p:extLst>
          </p:nvPr>
        </p:nvGraphicFramePr>
        <p:xfrm>
          <a:off x="1162050" y="3725863"/>
          <a:ext cx="3822700" cy="398462"/>
        </p:xfrm>
        <a:graphic>
          <a:graphicData uri="http://schemas.openxmlformats.org/presentationml/2006/ole">
            <mc:AlternateContent xmlns:mc="http://schemas.openxmlformats.org/markup-compatibility/2006">
              <mc:Choice xmlns:v="urn:schemas-microsoft-com:vml" Requires="v">
                <p:oleObj spid="_x0000_s541301" name="Equation" r:id="rId9" imgW="2247840" imgH="228600" progId="Equation.DSMT4">
                  <p:embed/>
                </p:oleObj>
              </mc:Choice>
              <mc:Fallback>
                <p:oleObj name="Equation" r:id="rId9" imgW="2247840" imgH="228600" progId="Equation.DSMT4">
                  <p:embed/>
                  <p:pic>
                    <p:nvPicPr>
                      <p:cNvPr id="0" name="Picture 5"/>
                      <p:cNvPicPr>
                        <a:picLocks noChangeAspect="1" noChangeArrowheads="1"/>
                      </p:cNvPicPr>
                      <p:nvPr/>
                    </p:nvPicPr>
                    <p:blipFill>
                      <a:blip r:embed="rId10"/>
                      <a:srcRect/>
                      <a:stretch>
                        <a:fillRect/>
                      </a:stretch>
                    </p:blipFill>
                    <p:spPr bwMode="auto">
                      <a:xfrm>
                        <a:off x="1162050" y="3725863"/>
                        <a:ext cx="3822700"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632" name="Object 8"/>
          <p:cNvGraphicFramePr>
            <a:graphicFrameLocks noChangeAspect="1"/>
          </p:cNvGraphicFramePr>
          <p:nvPr>
            <p:extLst>
              <p:ext uri="{D42A27DB-BD31-4B8C-83A1-F6EECF244321}">
                <p14:modId xmlns:p14="http://schemas.microsoft.com/office/powerpoint/2010/main" val="1236365447"/>
              </p:ext>
            </p:extLst>
          </p:nvPr>
        </p:nvGraphicFramePr>
        <p:xfrm>
          <a:off x="1125538" y="4183063"/>
          <a:ext cx="2509837" cy="396875"/>
        </p:xfrm>
        <a:graphic>
          <a:graphicData uri="http://schemas.openxmlformats.org/presentationml/2006/ole">
            <mc:AlternateContent xmlns:mc="http://schemas.openxmlformats.org/markup-compatibility/2006">
              <mc:Choice xmlns:v="urn:schemas-microsoft-com:vml" Requires="v">
                <p:oleObj spid="_x0000_s541302" name="Equation" r:id="rId11" imgW="1473120" imgH="228600" progId="Equation.DSMT4">
                  <p:embed/>
                </p:oleObj>
              </mc:Choice>
              <mc:Fallback>
                <p:oleObj name="Equation" r:id="rId11" imgW="1473120" imgH="228600" progId="Equation.DSMT4">
                  <p:embed/>
                  <p:pic>
                    <p:nvPicPr>
                      <p:cNvPr id="0" name="Picture 6"/>
                      <p:cNvPicPr>
                        <a:picLocks noChangeAspect="1" noChangeArrowheads="1"/>
                      </p:cNvPicPr>
                      <p:nvPr/>
                    </p:nvPicPr>
                    <p:blipFill>
                      <a:blip r:embed="rId12"/>
                      <a:srcRect/>
                      <a:stretch>
                        <a:fillRect/>
                      </a:stretch>
                    </p:blipFill>
                    <p:spPr bwMode="auto">
                      <a:xfrm>
                        <a:off x="1125538" y="4183063"/>
                        <a:ext cx="25098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633" name="Object 9"/>
          <p:cNvGraphicFramePr>
            <a:graphicFrameLocks noChangeAspect="1"/>
          </p:cNvGraphicFramePr>
          <p:nvPr>
            <p:extLst>
              <p:ext uri="{D42A27DB-BD31-4B8C-83A1-F6EECF244321}">
                <p14:modId xmlns:p14="http://schemas.microsoft.com/office/powerpoint/2010/main" val="292022328"/>
              </p:ext>
            </p:extLst>
          </p:nvPr>
        </p:nvGraphicFramePr>
        <p:xfrm>
          <a:off x="1511673" y="5547836"/>
          <a:ext cx="319548" cy="440458"/>
        </p:xfrm>
        <a:graphic>
          <a:graphicData uri="http://schemas.openxmlformats.org/presentationml/2006/ole">
            <mc:AlternateContent xmlns:mc="http://schemas.openxmlformats.org/markup-compatibility/2006">
              <mc:Choice xmlns:v="urn:schemas-microsoft-com:vml" Requires="v">
                <p:oleObj spid="_x0000_s541303" name="Equation" r:id="rId13" imgW="177480" imgH="241200" progId="Equation.DSMT4">
                  <p:embed/>
                </p:oleObj>
              </mc:Choice>
              <mc:Fallback>
                <p:oleObj name="Equation" r:id="rId13" imgW="177480" imgH="241200" progId="Equation.DSMT4">
                  <p:embed/>
                  <p:pic>
                    <p:nvPicPr>
                      <p:cNvPr id="0" name="Picture 7"/>
                      <p:cNvPicPr>
                        <a:picLocks noChangeAspect="1" noChangeArrowheads="1"/>
                      </p:cNvPicPr>
                      <p:nvPr/>
                    </p:nvPicPr>
                    <p:blipFill>
                      <a:blip r:embed="rId14"/>
                      <a:srcRect/>
                      <a:stretch>
                        <a:fillRect/>
                      </a:stretch>
                    </p:blipFill>
                    <p:spPr bwMode="auto">
                      <a:xfrm>
                        <a:off x="1511673" y="5547836"/>
                        <a:ext cx="319548" cy="440458"/>
                      </a:xfrm>
                      <a:prstGeom prst="rect">
                        <a:avLst/>
                      </a:prstGeom>
                      <a:noFill/>
                      <a:ln>
                        <a:noFill/>
                      </a:ln>
                      <a:effectLst/>
                      <a:extLst/>
                    </p:spPr>
                  </p:pic>
                </p:oleObj>
              </mc:Fallback>
            </mc:AlternateContent>
          </a:graphicData>
        </a:graphic>
      </p:graphicFrame>
      <p:graphicFrame>
        <p:nvGraphicFramePr>
          <p:cNvPr id="410634" name="Object 10"/>
          <p:cNvGraphicFramePr>
            <a:graphicFrameLocks noChangeAspect="1"/>
          </p:cNvGraphicFramePr>
          <p:nvPr>
            <p:extLst>
              <p:ext uri="{D42A27DB-BD31-4B8C-83A1-F6EECF244321}">
                <p14:modId xmlns:p14="http://schemas.microsoft.com/office/powerpoint/2010/main" val="2431786160"/>
              </p:ext>
            </p:extLst>
          </p:nvPr>
        </p:nvGraphicFramePr>
        <p:xfrm>
          <a:off x="1691680" y="5256908"/>
          <a:ext cx="1110828" cy="357488"/>
        </p:xfrm>
        <a:graphic>
          <a:graphicData uri="http://schemas.openxmlformats.org/presentationml/2006/ole">
            <mc:AlternateContent xmlns:mc="http://schemas.openxmlformats.org/markup-compatibility/2006">
              <mc:Choice xmlns:v="urn:schemas-microsoft-com:vml" Requires="v">
                <p:oleObj spid="_x0000_s541304" name="Equation" r:id="rId15" imgW="787320" imgH="241200" progId="Equation.DSMT4">
                  <p:embed/>
                </p:oleObj>
              </mc:Choice>
              <mc:Fallback>
                <p:oleObj name="Equation" r:id="rId15" imgW="787320" imgH="241200" progId="Equation.DSMT4">
                  <p:embed/>
                  <p:pic>
                    <p:nvPicPr>
                      <p:cNvPr id="0" name="Picture 8"/>
                      <p:cNvPicPr>
                        <a:picLocks noChangeAspect="1" noChangeArrowheads="1"/>
                      </p:cNvPicPr>
                      <p:nvPr/>
                    </p:nvPicPr>
                    <p:blipFill>
                      <a:blip r:embed="rId16"/>
                      <a:srcRect/>
                      <a:stretch>
                        <a:fillRect/>
                      </a:stretch>
                    </p:blipFill>
                    <p:spPr bwMode="auto">
                      <a:xfrm>
                        <a:off x="1691680" y="5256908"/>
                        <a:ext cx="1110828" cy="357488"/>
                      </a:xfrm>
                      <a:prstGeom prst="rect">
                        <a:avLst/>
                      </a:prstGeom>
                      <a:noFill/>
                      <a:ln>
                        <a:noFill/>
                      </a:ln>
                      <a:effectLst/>
                      <a:extLst/>
                    </p:spPr>
                  </p:pic>
                </p:oleObj>
              </mc:Fallback>
            </mc:AlternateContent>
          </a:graphicData>
        </a:graphic>
      </p:graphicFrame>
      <p:graphicFrame>
        <p:nvGraphicFramePr>
          <p:cNvPr id="410635" name="Object 11"/>
          <p:cNvGraphicFramePr>
            <a:graphicFrameLocks noChangeAspect="1"/>
          </p:cNvGraphicFramePr>
          <p:nvPr>
            <p:extLst>
              <p:ext uri="{D42A27DB-BD31-4B8C-83A1-F6EECF244321}">
                <p14:modId xmlns:p14="http://schemas.microsoft.com/office/powerpoint/2010/main" val="1132076160"/>
              </p:ext>
            </p:extLst>
          </p:nvPr>
        </p:nvGraphicFramePr>
        <p:xfrm>
          <a:off x="5436096" y="5126795"/>
          <a:ext cx="3050679" cy="572330"/>
        </p:xfrm>
        <a:graphic>
          <a:graphicData uri="http://schemas.openxmlformats.org/presentationml/2006/ole">
            <mc:AlternateContent xmlns:mc="http://schemas.openxmlformats.org/markup-compatibility/2006">
              <mc:Choice xmlns:v="urn:schemas-microsoft-com:vml" Requires="v">
                <p:oleObj spid="_x0000_s541305" name="Equation" r:id="rId17" imgW="2158920" imgH="393480" progId="Equation.DSMT4">
                  <p:embed/>
                </p:oleObj>
              </mc:Choice>
              <mc:Fallback>
                <p:oleObj name="Equation" r:id="rId17" imgW="2158920" imgH="393480" progId="Equation.DSMT4">
                  <p:embed/>
                  <p:pic>
                    <p:nvPicPr>
                      <p:cNvPr id="0" name="Picture 9"/>
                      <p:cNvPicPr>
                        <a:picLocks noChangeAspect="1" noChangeArrowheads="1"/>
                      </p:cNvPicPr>
                      <p:nvPr/>
                    </p:nvPicPr>
                    <p:blipFill>
                      <a:blip r:embed="rId18"/>
                      <a:srcRect/>
                      <a:stretch>
                        <a:fillRect/>
                      </a:stretch>
                    </p:blipFill>
                    <p:spPr bwMode="auto">
                      <a:xfrm>
                        <a:off x="5436096" y="5126795"/>
                        <a:ext cx="3050679" cy="572330"/>
                      </a:xfrm>
                      <a:prstGeom prst="rect">
                        <a:avLst/>
                      </a:prstGeom>
                      <a:noFill/>
                      <a:ln>
                        <a:noFill/>
                      </a:ln>
                      <a:effectLst/>
                      <a:extLst/>
                    </p:spPr>
                  </p:pic>
                </p:oleObj>
              </mc:Fallback>
            </mc:AlternateContent>
          </a:graphicData>
        </a:graphic>
      </p:graphicFrame>
      <p:graphicFrame>
        <p:nvGraphicFramePr>
          <p:cNvPr id="410636" name="Object 12"/>
          <p:cNvGraphicFramePr>
            <a:graphicFrameLocks noChangeAspect="1"/>
          </p:cNvGraphicFramePr>
          <p:nvPr>
            <p:extLst>
              <p:ext uri="{D42A27DB-BD31-4B8C-83A1-F6EECF244321}">
                <p14:modId xmlns:p14="http://schemas.microsoft.com/office/powerpoint/2010/main" val="777132608"/>
              </p:ext>
            </p:extLst>
          </p:nvPr>
        </p:nvGraphicFramePr>
        <p:xfrm>
          <a:off x="1808163" y="6092825"/>
          <a:ext cx="615950" cy="325438"/>
        </p:xfrm>
        <a:graphic>
          <a:graphicData uri="http://schemas.openxmlformats.org/presentationml/2006/ole">
            <mc:AlternateContent xmlns:mc="http://schemas.openxmlformats.org/markup-compatibility/2006">
              <mc:Choice xmlns:v="urn:schemas-microsoft-com:vml" Requires="v">
                <p:oleObj spid="_x0000_s541306" name="Equation" r:id="rId19" imgW="469800" imgH="241200" progId="Equation.DSMT4">
                  <p:embed/>
                </p:oleObj>
              </mc:Choice>
              <mc:Fallback>
                <p:oleObj name="Equation" r:id="rId19" imgW="469800" imgH="241200" progId="Equation.DSMT4">
                  <p:embed/>
                  <p:pic>
                    <p:nvPicPr>
                      <p:cNvPr id="0" name="Picture 10"/>
                      <p:cNvPicPr>
                        <a:picLocks noChangeAspect="1" noChangeArrowheads="1"/>
                      </p:cNvPicPr>
                      <p:nvPr/>
                    </p:nvPicPr>
                    <p:blipFill>
                      <a:blip r:embed="rId20"/>
                      <a:srcRect/>
                      <a:stretch>
                        <a:fillRect/>
                      </a:stretch>
                    </p:blipFill>
                    <p:spPr bwMode="auto">
                      <a:xfrm>
                        <a:off x="1808163" y="6092825"/>
                        <a:ext cx="615950" cy="325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637" name="Object 13"/>
          <p:cNvGraphicFramePr>
            <a:graphicFrameLocks noChangeAspect="1"/>
          </p:cNvGraphicFramePr>
          <p:nvPr>
            <p:extLst>
              <p:ext uri="{D42A27DB-BD31-4B8C-83A1-F6EECF244321}">
                <p14:modId xmlns:p14="http://schemas.microsoft.com/office/powerpoint/2010/main" val="3203743706"/>
              </p:ext>
            </p:extLst>
          </p:nvPr>
        </p:nvGraphicFramePr>
        <p:xfrm>
          <a:off x="2817961" y="5547835"/>
          <a:ext cx="826939" cy="440458"/>
        </p:xfrm>
        <a:graphic>
          <a:graphicData uri="http://schemas.openxmlformats.org/presentationml/2006/ole">
            <mc:AlternateContent xmlns:mc="http://schemas.openxmlformats.org/markup-compatibility/2006">
              <mc:Choice xmlns:v="urn:schemas-microsoft-com:vml" Requires="v">
                <p:oleObj spid="_x0000_s541307" name="Equation" r:id="rId21" imgW="469800" imgH="241200" progId="Equation.DSMT4">
                  <p:embed/>
                </p:oleObj>
              </mc:Choice>
              <mc:Fallback>
                <p:oleObj name="Equation" r:id="rId21" imgW="469800" imgH="241200" progId="Equation.DSMT4">
                  <p:embed/>
                  <p:pic>
                    <p:nvPicPr>
                      <p:cNvPr id="0" name="Picture 11"/>
                      <p:cNvPicPr>
                        <a:picLocks noChangeAspect="1" noChangeArrowheads="1"/>
                      </p:cNvPicPr>
                      <p:nvPr/>
                    </p:nvPicPr>
                    <p:blipFill>
                      <a:blip r:embed="rId22"/>
                      <a:srcRect/>
                      <a:stretch>
                        <a:fillRect/>
                      </a:stretch>
                    </p:blipFill>
                    <p:spPr bwMode="auto">
                      <a:xfrm>
                        <a:off x="2817961" y="5547835"/>
                        <a:ext cx="826939" cy="440458"/>
                      </a:xfrm>
                      <a:prstGeom prst="rect">
                        <a:avLst/>
                      </a:prstGeom>
                      <a:noFill/>
                      <a:ln>
                        <a:noFill/>
                      </a:ln>
                      <a:effectLst/>
                      <a:extLst/>
                    </p:spPr>
                  </p:pic>
                </p:oleObj>
              </mc:Fallback>
            </mc:AlternateContent>
          </a:graphicData>
        </a:graphic>
      </p:graphicFrame>
      <p:graphicFrame>
        <p:nvGraphicFramePr>
          <p:cNvPr id="410638" name="Object 14"/>
          <p:cNvGraphicFramePr>
            <a:graphicFrameLocks noChangeAspect="1"/>
          </p:cNvGraphicFramePr>
          <p:nvPr>
            <p:extLst>
              <p:ext uri="{D42A27DB-BD31-4B8C-83A1-F6EECF244321}">
                <p14:modId xmlns:p14="http://schemas.microsoft.com/office/powerpoint/2010/main" val="2988235167"/>
              </p:ext>
            </p:extLst>
          </p:nvPr>
        </p:nvGraphicFramePr>
        <p:xfrm>
          <a:off x="3460750" y="5942013"/>
          <a:ext cx="1284288" cy="612775"/>
        </p:xfrm>
        <a:graphic>
          <a:graphicData uri="http://schemas.openxmlformats.org/presentationml/2006/ole">
            <mc:AlternateContent xmlns:mc="http://schemas.openxmlformats.org/markup-compatibility/2006">
              <mc:Choice xmlns:v="urn:schemas-microsoft-com:vml" Requires="v">
                <p:oleObj spid="_x0000_s541308" name="Equation" r:id="rId23" imgW="1002960" imgH="469800" progId="Equation.DSMT4">
                  <p:embed/>
                </p:oleObj>
              </mc:Choice>
              <mc:Fallback>
                <p:oleObj name="Equation" r:id="rId23" imgW="1002960" imgH="469800" progId="Equation.DSMT4">
                  <p:embed/>
                  <p:pic>
                    <p:nvPicPr>
                      <p:cNvPr id="0" name="Picture 12"/>
                      <p:cNvPicPr>
                        <a:picLocks noChangeAspect="1" noChangeArrowheads="1"/>
                      </p:cNvPicPr>
                      <p:nvPr/>
                    </p:nvPicPr>
                    <p:blipFill>
                      <a:blip r:embed="rId24"/>
                      <a:srcRect/>
                      <a:stretch>
                        <a:fillRect/>
                      </a:stretch>
                    </p:blipFill>
                    <p:spPr bwMode="auto">
                      <a:xfrm>
                        <a:off x="3460750" y="5942013"/>
                        <a:ext cx="1284288"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639" name="Object 15"/>
          <p:cNvGraphicFramePr>
            <a:graphicFrameLocks noChangeAspect="1"/>
          </p:cNvGraphicFramePr>
          <p:nvPr>
            <p:extLst>
              <p:ext uri="{D42A27DB-BD31-4B8C-83A1-F6EECF244321}">
                <p14:modId xmlns:p14="http://schemas.microsoft.com/office/powerpoint/2010/main" val="3205273171"/>
              </p:ext>
            </p:extLst>
          </p:nvPr>
        </p:nvGraphicFramePr>
        <p:xfrm>
          <a:off x="5710238" y="6115050"/>
          <a:ext cx="608012" cy="325438"/>
        </p:xfrm>
        <a:graphic>
          <a:graphicData uri="http://schemas.openxmlformats.org/presentationml/2006/ole">
            <mc:AlternateContent xmlns:mc="http://schemas.openxmlformats.org/markup-compatibility/2006">
              <mc:Choice xmlns:v="urn:schemas-microsoft-com:vml" Requires="v">
                <p:oleObj spid="_x0000_s541309" name="Equation" r:id="rId25" imgW="469800" imgH="241200" progId="Equation.DSMT4">
                  <p:embed/>
                </p:oleObj>
              </mc:Choice>
              <mc:Fallback>
                <p:oleObj name="Equation" r:id="rId25" imgW="469800" imgH="241200" progId="Equation.DSMT4">
                  <p:embed/>
                  <p:pic>
                    <p:nvPicPr>
                      <p:cNvPr id="0" name="Picture 13"/>
                      <p:cNvPicPr>
                        <a:picLocks noChangeAspect="1" noChangeArrowheads="1"/>
                      </p:cNvPicPr>
                      <p:nvPr/>
                    </p:nvPicPr>
                    <p:blipFill>
                      <a:blip r:embed="rId26"/>
                      <a:srcRect/>
                      <a:stretch>
                        <a:fillRect/>
                      </a:stretch>
                    </p:blipFill>
                    <p:spPr bwMode="auto">
                      <a:xfrm>
                        <a:off x="5710238" y="6115050"/>
                        <a:ext cx="608012" cy="325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411651" name="Rectangle 3"/>
          <p:cNvSpPr>
            <a:spLocks noChangeArrowheads="1"/>
          </p:cNvSpPr>
          <p:nvPr/>
        </p:nvSpPr>
        <p:spPr bwMode="auto">
          <a:xfrm>
            <a:off x="611188" y="1066800"/>
            <a:ext cx="8304212" cy="5589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dirty="0">
                <a:solidFill>
                  <a:srgbClr val="A50021"/>
                </a:solidFill>
                <a:latin typeface="华文中宋" pitchFamily="2" charset="-122"/>
                <a:ea typeface="华文中宋" pitchFamily="2" charset="-122"/>
              </a:rPr>
              <a:t>六</a:t>
            </a:r>
            <a:r>
              <a:rPr lang="en-US" altLang="zh-CN" sz="2800" dirty="0">
                <a:solidFill>
                  <a:srgbClr val="A50021"/>
                </a:solidFill>
                <a:latin typeface="华文中宋" pitchFamily="2" charset="-122"/>
                <a:ea typeface="华文中宋" pitchFamily="2" charset="-122"/>
              </a:rPr>
              <a:t>.</a:t>
            </a:r>
            <a:r>
              <a:rPr lang="zh-CN" altLang="en-US" sz="2800" dirty="0">
                <a:solidFill>
                  <a:srgbClr val="A50021"/>
                </a:solidFill>
                <a:latin typeface="华文中宋" pitchFamily="2" charset="-122"/>
                <a:ea typeface="华文中宋" pitchFamily="2" charset="-122"/>
              </a:rPr>
              <a:t>对称配筋偏心受压构件截面配筋的计算</a:t>
            </a:r>
            <a:r>
              <a:rPr lang="zh-CN" altLang="en-US" dirty="0"/>
              <a:t> </a:t>
            </a:r>
          </a:p>
          <a:p>
            <a:pPr algn="l">
              <a:lnSpc>
                <a:spcPct val="100000"/>
              </a:lnSpc>
              <a:spcBef>
                <a:spcPct val="50000"/>
              </a:spcBef>
              <a:buClrTx/>
              <a:buFontTx/>
              <a:buNone/>
            </a:pPr>
            <a:r>
              <a:rPr lang="en-US" altLang="zh-CN" dirty="0">
                <a:solidFill>
                  <a:srgbClr val="990099"/>
                </a:solidFill>
              </a:rPr>
              <a:t>3.</a:t>
            </a:r>
            <a:r>
              <a:rPr lang="zh-CN" altLang="en-US" dirty="0">
                <a:solidFill>
                  <a:srgbClr val="990099"/>
                </a:solidFill>
              </a:rPr>
              <a:t>小偏压情况的计算</a:t>
            </a:r>
            <a:r>
              <a:rPr lang="zh-CN" altLang="en-US" dirty="0"/>
              <a:t> </a:t>
            </a:r>
            <a:endParaRPr lang="zh-CN" altLang="en-US" dirty="0">
              <a:solidFill>
                <a:srgbClr val="990099"/>
              </a:solidFill>
            </a:endParaRPr>
          </a:p>
          <a:p>
            <a:pPr algn="l">
              <a:lnSpc>
                <a:spcPct val="150000"/>
              </a:lnSpc>
            </a:pPr>
            <a:r>
              <a:rPr lang="zh-CN" altLang="en-US" sz="2000" dirty="0">
                <a:solidFill>
                  <a:schemeClr val="tx1"/>
                </a:solidFill>
              </a:rPr>
              <a:t>对于小偏心情况，将			</a:t>
            </a:r>
          </a:p>
          <a:p>
            <a:pPr algn="l">
              <a:lnSpc>
                <a:spcPct val="150000"/>
              </a:lnSpc>
            </a:pPr>
            <a:r>
              <a:rPr lang="zh-CN" altLang="en-US" sz="2000" dirty="0">
                <a:solidFill>
                  <a:schemeClr val="tx1"/>
                </a:solidFill>
              </a:rPr>
              <a:t>代入小偏压计算公式中求解</a:t>
            </a:r>
            <a:r>
              <a:rPr lang="en-US" altLang="zh-CN" sz="2000" i="1" dirty="0">
                <a:solidFill>
                  <a:schemeClr val="tx1"/>
                </a:solidFill>
              </a:rPr>
              <a:t>x</a:t>
            </a:r>
            <a:r>
              <a:rPr lang="zh-CN" altLang="en-US" sz="2000" dirty="0">
                <a:solidFill>
                  <a:schemeClr val="tx1"/>
                </a:solidFill>
              </a:rPr>
              <a:t>时，出现了</a:t>
            </a:r>
            <a:r>
              <a:rPr lang="en-US" altLang="zh-CN" sz="2000" i="1" dirty="0">
                <a:solidFill>
                  <a:schemeClr val="tx1"/>
                </a:solidFill>
              </a:rPr>
              <a:t>x</a:t>
            </a:r>
            <a:r>
              <a:rPr lang="zh-CN" altLang="en-US" sz="2000" dirty="0">
                <a:solidFill>
                  <a:schemeClr val="tx1"/>
                </a:solidFill>
              </a:rPr>
              <a:t>三次求解的方程。</a:t>
            </a:r>
          </a:p>
          <a:p>
            <a:pPr algn="l">
              <a:lnSpc>
                <a:spcPct val="150000"/>
              </a:lnSpc>
            </a:pPr>
            <a:r>
              <a:rPr lang="zh-CN" altLang="en-US" sz="2000" dirty="0">
                <a:solidFill>
                  <a:schemeClr val="tx1"/>
                </a:solidFill>
              </a:rPr>
              <a:t>为此，可采用近似计算方法求算</a:t>
            </a:r>
            <a:r>
              <a:rPr lang="el-GR" altLang="zh-CN" sz="2000" i="1" dirty="0">
                <a:solidFill>
                  <a:schemeClr val="tx1"/>
                </a:solidFill>
              </a:rPr>
              <a:t>ξ</a:t>
            </a:r>
            <a:r>
              <a:rPr lang="zh-CN" altLang="en-US" sz="2000" dirty="0">
                <a:solidFill>
                  <a:schemeClr val="tx1"/>
                </a:solidFill>
              </a:rPr>
              <a:t>或</a:t>
            </a:r>
            <a:r>
              <a:rPr lang="en-US" altLang="zh-CN" sz="2000" i="1" dirty="0">
                <a:solidFill>
                  <a:schemeClr val="tx1"/>
                </a:solidFill>
              </a:rPr>
              <a:t>x:</a:t>
            </a:r>
          </a:p>
          <a:p>
            <a:pPr algn="l">
              <a:lnSpc>
                <a:spcPct val="120000"/>
              </a:lnSpc>
            </a:pPr>
            <a:endParaRPr lang="en-US" altLang="zh-CN" sz="1600" i="1" dirty="0">
              <a:solidFill>
                <a:schemeClr val="tx1"/>
              </a:solidFill>
            </a:endParaRPr>
          </a:p>
          <a:p>
            <a:pPr algn="l">
              <a:lnSpc>
                <a:spcPct val="120000"/>
              </a:lnSpc>
            </a:pPr>
            <a:endParaRPr lang="en-US" altLang="zh-CN" sz="2000" i="1" dirty="0">
              <a:solidFill>
                <a:schemeClr val="tx1"/>
              </a:solidFill>
            </a:endParaRPr>
          </a:p>
          <a:p>
            <a:pPr algn="l">
              <a:lnSpc>
                <a:spcPct val="120000"/>
              </a:lnSpc>
            </a:pPr>
            <a:endParaRPr lang="en-US" altLang="zh-CN" sz="2000" dirty="0">
              <a:solidFill>
                <a:schemeClr val="tx1"/>
              </a:solidFill>
            </a:endParaRPr>
          </a:p>
          <a:p>
            <a:pPr algn="l">
              <a:lnSpc>
                <a:spcPct val="120000"/>
              </a:lnSpc>
            </a:pPr>
            <a:r>
              <a:rPr lang="zh-CN" altLang="en-US" sz="2000" dirty="0">
                <a:solidFill>
                  <a:schemeClr val="tx1"/>
                </a:solidFill>
              </a:rPr>
              <a:t>求出</a:t>
            </a:r>
            <a:r>
              <a:rPr lang="en-US" altLang="zh-CN" sz="2000" i="1" dirty="0">
                <a:solidFill>
                  <a:schemeClr val="tx1"/>
                </a:solidFill>
              </a:rPr>
              <a:t>x</a:t>
            </a:r>
            <a:r>
              <a:rPr lang="zh-CN" altLang="en-US" sz="2000" dirty="0">
                <a:solidFill>
                  <a:schemeClr val="tx1"/>
                </a:solidFill>
              </a:rPr>
              <a:t>以后，然后再利用力矩平衡求解      ，并令</a:t>
            </a:r>
          </a:p>
          <a:p>
            <a:pPr algn="l"/>
            <a:endParaRPr lang="zh-CN" altLang="en-US" sz="800" dirty="0">
              <a:solidFill>
                <a:schemeClr val="tx1"/>
              </a:solidFill>
            </a:endParaRPr>
          </a:p>
          <a:p>
            <a:pPr algn="l"/>
            <a:r>
              <a:rPr lang="en-US" altLang="zh-CN" dirty="0">
                <a:solidFill>
                  <a:srgbClr val="990099"/>
                </a:solidFill>
              </a:rPr>
              <a:t>4.</a:t>
            </a:r>
            <a:r>
              <a:rPr lang="zh-CN" altLang="en-US" dirty="0">
                <a:solidFill>
                  <a:srgbClr val="990099"/>
                </a:solidFill>
              </a:rPr>
              <a:t>其他情况的验算</a:t>
            </a:r>
          </a:p>
          <a:p>
            <a:pPr algn="l">
              <a:spcBef>
                <a:spcPct val="50000"/>
              </a:spcBef>
            </a:pPr>
            <a:r>
              <a:rPr lang="zh-CN" altLang="en-US" sz="2000" dirty="0">
                <a:solidFill>
                  <a:schemeClr val="tx1"/>
                </a:solidFill>
              </a:rPr>
              <a:t>对称配筋</a:t>
            </a:r>
            <a:r>
              <a:rPr lang="zh-CN" altLang="en-US" sz="2000" dirty="0">
                <a:solidFill>
                  <a:srgbClr val="FF0000"/>
                </a:solidFill>
              </a:rPr>
              <a:t>无需验算反向破坏</a:t>
            </a:r>
            <a:r>
              <a:rPr lang="zh-CN" altLang="en-US" sz="2000" dirty="0">
                <a:solidFill>
                  <a:schemeClr val="tx1"/>
                </a:solidFill>
              </a:rPr>
              <a:t>情况，但仍</a:t>
            </a:r>
            <a:r>
              <a:rPr lang="zh-CN" altLang="en-US" sz="2000" dirty="0">
                <a:solidFill>
                  <a:srgbClr val="FF0000"/>
                </a:solidFill>
              </a:rPr>
              <a:t>需复核垂直于弯矩作用平面</a:t>
            </a:r>
            <a:r>
              <a:rPr lang="zh-CN" altLang="en-US" sz="2000" dirty="0">
                <a:solidFill>
                  <a:schemeClr val="tx1"/>
                </a:solidFill>
              </a:rPr>
              <a:t>的受压承载力。</a:t>
            </a:r>
            <a:r>
              <a:rPr lang="zh-CN" altLang="en-US" dirty="0">
                <a:solidFill>
                  <a:schemeClr val="tx1"/>
                </a:solidFill>
              </a:rPr>
              <a:t> </a:t>
            </a:r>
          </a:p>
        </p:txBody>
      </p:sp>
      <p:graphicFrame>
        <p:nvGraphicFramePr>
          <p:cNvPr id="411652" name="Object 4"/>
          <p:cNvGraphicFramePr>
            <a:graphicFrameLocks noChangeAspect="1"/>
          </p:cNvGraphicFramePr>
          <p:nvPr>
            <p:extLst>
              <p:ext uri="{D42A27DB-BD31-4B8C-83A1-F6EECF244321}">
                <p14:modId xmlns:p14="http://schemas.microsoft.com/office/powerpoint/2010/main" val="3817594989"/>
              </p:ext>
            </p:extLst>
          </p:nvPr>
        </p:nvGraphicFramePr>
        <p:xfrm>
          <a:off x="3059832" y="2060848"/>
          <a:ext cx="2855640" cy="697589"/>
        </p:xfrm>
        <a:graphic>
          <a:graphicData uri="http://schemas.openxmlformats.org/presentationml/2006/ole">
            <mc:AlternateContent xmlns:mc="http://schemas.openxmlformats.org/markup-compatibility/2006">
              <mc:Choice xmlns:v="urn:schemas-microsoft-com:vml" Requires="v">
                <p:oleObj spid="_x0000_s541933" name="Equation" r:id="rId3" imgW="1892160" imgH="457200" progId="Equation.DSMT4">
                  <p:embed/>
                </p:oleObj>
              </mc:Choice>
              <mc:Fallback>
                <p:oleObj name="Equation" r:id="rId3" imgW="1892160" imgH="457200" progId="Equation.DSMT4">
                  <p:embed/>
                  <p:pic>
                    <p:nvPicPr>
                      <p:cNvPr id="0" name="Picture 2"/>
                      <p:cNvPicPr>
                        <a:picLocks noChangeAspect="1" noChangeArrowheads="1"/>
                      </p:cNvPicPr>
                      <p:nvPr/>
                    </p:nvPicPr>
                    <p:blipFill>
                      <a:blip r:embed="rId4"/>
                      <a:srcRect/>
                      <a:stretch>
                        <a:fillRect/>
                      </a:stretch>
                    </p:blipFill>
                    <p:spPr bwMode="auto">
                      <a:xfrm>
                        <a:off x="3059832" y="2060848"/>
                        <a:ext cx="2855640" cy="697589"/>
                      </a:xfrm>
                      <a:prstGeom prst="rect">
                        <a:avLst/>
                      </a:prstGeom>
                      <a:noFill/>
                      <a:ln>
                        <a:noFill/>
                      </a:ln>
                      <a:effectLst/>
                      <a:extLst/>
                    </p:spPr>
                  </p:pic>
                </p:oleObj>
              </mc:Fallback>
            </mc:AlternateContent>
          </a:graphicData>
        </a:graphic>
      </p:graphicFrame>
      <p:graphicFrame>
        <p:nvGraphicFramePr>
          <p:cNvPr id="411653" name="Object 5"/>
          <p:cNvGraphicFramePr>
            <a:graphicFrameLocks noChangeAspect="1"/>
          </p:cNvGraphicFramePr>
          <p:nvPr>
            <p:extLst>
              <p:ext uri="{D42A27DB-BD31-4B8C-83A1-F6EECF244321}">
                <p14:modId xmlns:p14="http://schemas.microsoft.com/office/powerpoint/2010/main" val="3686155873"/>
              </p:ext>
            </p:extLst>
          </p:nvPr>
        </p:nvGraphicFramePr>
        <p:xfrm>
          <a:off x="4932040" y="4856158"/>
          <a:ext cx="320998" cy="442457"/>
        </p:xfrm>
        <a:graphic>
          <a:graphicData uri="http://schemas.openxmlformats.org/presentationml/2006/ole">
            <mc:AlternateContent xmlns:mc="http://schemas.openxmlformats.org/markup-compatibility/2006">
              <mc:Choice xmlns:v="urn:schemas-microsoft-com:vml" Requires="v">
                <p:oleObj spid="_x0000_s541934" name="Equation" r:id="rId5" imgW="177480" imgH="241200" progId="Equation.DSMT4">
                  <p:embed/>
                </p:oleObj>
              </mc:Choice>
              <mc:Fallback>
                <p:oleObj name="Equation" r:id="rId5" imgW="177480" imgH="241200" progId="Equation.DSMT4">
                  <p:embed/>
                  <p:pic>
                    <p:nvPicPr>
                      <p:cNvPr id="0" name="Picture 3"/>
                      <p:cNvPicPr>
                        <a:picLocks noChangeAspect="1" noChangeArrowheads="1"/>
                      </p:cNvPicPr>
                      <p:nvPr/>
                    </p:nvPicPr>
                    <p:blipFill>
                      <a:blip r:embed="rId6"/>
                      <a:srcRect/>
                      <a:stretch>
                        <a:fillRect/>
                      </a:stretch>
                    </p:blipFill>
                    <p:spPr bwMode="auto">
                      <a:xfrm>
                        <a:off x="4932040" y="4856158"/>
                        <a:ext cx="320998" cy="442457"/>
                      </a:xfrm>
                      <a:prstGeom prst="rect">
                        <a:avLst/>
                      </a:prstGeom>
                      <a:noFill/>
                      <a:ln>
                        <a:noFill/>
                      </a:ln>
                      <a:effectLst/>
                      <a:extLst/>
                    </p:spPr>
                  </p:pic>
                </p:oleObj>
              </mc:Fallback>
            </mc:AlternateContent>
          </a:graphicData>
        </a:graphic>
      </p:graphicFrame>
      <p:graphicFrame>
        <p:nvGraphicFramePr>
          <p:cNvPr id="411654" name="Object 6"/>
          <p:cNvGraphicFramePr>
            <a:graphicFrameLocks noChangeAspect="1"/>
          </p:cNvGraphicFramePr>
          <p:nvPr>
            <p:extLst>
              <p:ext uri="{D42A27DB-BD31-4B8C-83A1-F6EECF244321}">
                <p14:modId xmlns:p14="http://schemas.microsoft.com/office/powerpoint/2010/main" val="1724575789"/>
              </p:ext>
            </p:extLst>
          </p:nvPr>
        </p:nvGraphicFramePr>
        <p:xfrm>
          <a:off x="6084168" y="4855532"/>
          <a:ext cx="778595" cy="405443"/>
        </p:xfrm>
        <a:graphic>
          <a:graphicData uri="http://schemas.openxmlformats.org/presentationml/2006/ole">
            <mc:AlternateContent xmlns:mc="http://schemas.openxmlformats.org/markup-compatibility/2006">
              <mc:Choice xmlns:v="urn:schemas-microsoft-com:vml" Requires="v">
                <p:oleObj spid="_x0000_s541935" name="Equation" r:id="rId7" imgW="533160" imgH="266400" progId="Equation.DSMT4">
                  <p:embed/>
                </p:oleObj>
              </mc:Choice>
              <mc:Fallback>
                <p:oleObj name="Equation" r:id="rId7" imgW="533160" imgH="266400" progId="Equation.DSMT4">
                  <p:embed/>
                  <p:pic>
                    <p:nvPicPr>
                      <p:cNvPr id="0" name="Picture 4"/>
                      <p:cNvPicPr>
                        <a:picLocks noChangeAspect="1" noChangeArrowheads="1"/>
                      </p:cNvPicPr>
                      <p:nvPr/>
                    </p:nvPicPr>
                    <p:blipFill>
                      <a:blip r:embed="rId8"/>
                      <a:srcRect/>
                      <a:stretch>
                        <a:fillRect/>
                      </a:stretch>
                    </p:blipFill>
                    <p:spPr bwMode="auto">
                      <a:xfrm>
                        <a:off x="6084168" y="4855532"/>
                        <a:ext cx="778595" cy="405443"/>
                      </a:xfrm>
                      <a:prstGeom prst="rect">
                        <a:avLst/>
                      </a:prstGeom>
                      <a:noFill/>
                      <a:ln>
                        <a:noFill/>
                      </a:ln>
                      <a:effectLst/>
                      <a:extLst/>
                    </p:spPr>
                  </p:pic>
                </p:oleObj>
              </mc:Fallback>
            </mc:AlternateContent>
          </a:graphicData>
        </a:graphic>
      </p:graphicFrame>
      <p:graphicFrame>
        <p:nvGraphicFramePr>
          <p:cNvPr id="411655" name="Object 7"/>
          <p:cNvGraphicFramePr>
            <a:graphicFrameLocks noChangeAspect="1"/>
          </p:cNvGraphicFramePr>
          <p:nvPr>
            <p:extLst>
              <p:ext uri="{D42A27DB-BD31-4B8C-83A1-F6EECF244321}">
                <p14:modId xmlns:p14="http://schemas.microsoft.com/office/powerpoint/2010/main" val="1869542134"/>
              </p:ext>
            </p:extLst>
          </p:nvPr>
        </p:nvGraphicFramePr>
        <p:xfrm>
          <a:off x="2123728" y="3691737"/>
          <a:ext cx="3627883" cy="1046162"/>
        </p:xfrm>
        <a:graphic>
          <a:graphicData uri="http://schemas.openxmlformats.org/presentationml/2006/ole">
            <mc:AlternateContent xmlns:mc="http://schemas.openxmlformats.org/markup-compatibility/2006">
              <mc:Choice xmlns:v="urn:schemas-microsoft-com:vml" Requires="v">
                <p:oleObj spid="_x0000_s541936" name="Equation" r:id="rId9" imgW="2260440" imgH="647640" progId="Equation.DSMT4">
                  <p:embed/>
                </p:oleObj>
              </mc:Choice>
              <mc:Fallback>
                <p:oleObj name="Equation" r:id="rId9" imgW="2260440" imgH="647640" progId="Equation.DSMT4">
                  <p:embed/>
                  <p:pic>
                    <p:nvPicPr>
                      <p:cNvPr id="0" name="Picture 5"/>
                      <p:cNvPicPr>
                        <a:picLocks noChangeAspect="1" noChangeArrowheads="1"/>
                      </p:cNvPicPr>
                      <p:nvPr/>
                    </p:nvPicPr>
                    <p:blipFill>
                      <a:blip r:embed="rId10"/>
                      <a:srcRect/>
                      <a:stretch>
                        <a:fillRect/>
                      </a:stretch>
                    </p:blipFill>
                    <p:spPr bwMode="auto">
                      <a:xfrm>
                        <a:off x="2123728" y="3691737"/>
                        <a:ext cx="3627883" cy="1046162"/>
                      </a:xfrm>
                      <a:prstGeom prst="rect">
                        <a:avLst/>
                      </a:prstGeom>
                      <a:noFill/>
                      <a:ln>
                        <a:noFill/>
                      </a:ln>
                      <a:effectLst/>
                      <a:extLst/>
                    </p:spPr>
                  </p:pic>
                </p:oleObj>
              </mc:Fallback>
            </mc:AlternateContent>
          </a:graphicData>
        </a:graphic>
      </p:graphicFrame>
      <p:graphicFrame>
        <p:nvGraphicFramePr>
          <p:cNvPr id="8" name="对象 7"/>
          <p:cNvGraphicFramePr>
            <a:graphicFrameLocks noChangeAspect="1"/>
          </p:cNvGraphicFramePr>
          <p:nvPr/>
        </p:nvGraphicFramePr>
        <p:xfrm>
          <a:off x="6357950" y="3857628"/>
          <a:ext cx="1806961" cy="357190"/>
        </p:xfrm>
        <a:graphic>
          <a:graphicData uri="http://schemas.openxmlformats.org/presentationml/2006/ole">
            <mc:AlternateContent xmlns:mc="http://schemas.openxmlformats.org/markup-compatibility/2006">
              <mc:Choice xmlns:v="urn:schemas-microsoft-com:vml" Requires="v">
                <p:oleObj spid="_x0000_s541937" name="Equation" r:id="rId11" imgW="1091880" imgH="215640" progId="Equation.3">
                  <p:embed/>
                </p:oleObj>
              </mc:Choice>
              <mc:Fallback>
                <p:oleObj name="Equation" r:id="rId11" imgW="1091880" imgH="215640" progId="Equation.3">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57950" y="3857628"/>
                        <a:ext cx="1806961"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412675" name="Rectangle 3"/>
          <p:cNvSpPr>
            <a:spLocks noChangeArrowheads="1"/>
          </p:cNvSpPr>
          <p:nvPr/>
        </p:nvSpPr>
        <p:spPr bwMode="auto">
          <a:xfrm>
            <a:off x="611188" y="1066800"/>
            <a:ext cx="8304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六</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对称配筋偏心受压构件截面配筋的计算</a:t>
            </a:r>
            <a:r>
              <a:rPr lang="zh-CN" altLang="en-US"/>
              <a:t> </a:t>
            </a:r>
          </a:p>
        </p:txBody>
      </p:sp>
      <p:sp>
        <p:nvSpPr>
          <p:cNvPr id="412676" name="Rectangle 4"/>
          <p:cNvSpPr>
            <a:spLocks noChangeArrowheads="1"/>
          </p:cNvSpPr>
          <p:nvPr/>
        </p:nvSpPr>
        <p:spPr bwMode="auto">
          <a:xfrm>
            <a:off x="838200" y="1905000"/>
            <a:ext cx="7467600" cy="2862322"/>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dirty="0">
                <a:solidFill>
                  <a:srgbClr val="A50021"/>
                </a:solidFill>
              </a:rPr>
              <a:t>例题</a:t>
            </a:r>
            <a:r>
              <a:rPr lang="en-US" altLang="zh-CN" dirty="0">
                <a:solidFill>
                  <a:srgbClr val="A50021"/>
                </a:solidFill>
              </a:rPr>
              <a:t>7.12</a:t>
            </a:r>
            <a:endParaRPr lang="en-US" altLang="zh-CN" dirty="0"/>
          </a:p>
          <a:p>
            <a:pPr algn="l"/>
            <a:r>
              <a:rPr lang="en-US" altLang="zh-CN" sz="2000" dirty="0"/>
              <a:t>——</a:t>
            </a:r>
            <a:r>
              <a:rPr lang="zh-CN" altLang="en-US" sz="2000" dirty="0"/>
              <a:t>大偏压对称配筋情况</a:t>
            </a:r>
          </a:p>
          <a:p>
            <a:endParaRPr lang="zh-CN" altLang="en-US" sz="2000" dirty="0"/>
          </a:p>
          <a:p>
            <a:pPr algn="l"/>
            <a:r>
              <a:rPr lang="zh-CN" altLang="en-US" dirty="0">
                <a:solidFill>
                  <a:srgbClr val="A50021"/>
                </a:solidFill>
              </a:rPr>
              <a:t>例题</a:t>
            </a:r>
            <a:r>
              <a:rPr lang="en-US" altLang="zh-CN" dirty="0">
                <a:solidFill>
                  <a:srgbClr val="A50021"/>
                </a:solidFill>
              </a:rPr>
              <a:t>7.13</a:t>
            </a:r>
            <a:endParaRPr lang="en-US" altLang="zh-CN" dirty="0"/>
          </a:p>
          <a:p>
            <a:pPr algn="l"/>
            <a:r>
              <a:rPr lang="en-US" altLang="zh-CN" sz="2000" dirty="0"/>
              <a:t>——</a:t>
            </a:r>
            <a:r>
              <a:rPr lang="zh-CN" altLang="en-US" sz="2000" dirty="0"/>
              <a:t>小偏压对称配筋情况</a:t>
            </a:r>
          </a:p>
          <a:p>
            <a:endParaRPr lang="zh-CN" altLang="en-US" sz="2000" dirty="0"/>
          </a:p>
          <a:p>
            <a:pPr algn="l"/>
            <a:endParaRPr lang="zh-CN" altLang="en-US" sz="2000" dirty="0"/>
          </a:p>
          <a:p>
            <a:pPr algn="l"/>
            <a:endParaRPr lang="en-US" altLang="zh-CN" sz="2000" dirty="0"/>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413699" name="Rectangle 3"/>
          <p:cNvSpPr>
            <a:spLocks noChangeArrowheads="1"/>
          </p:cNvSpPr>
          <p:nvPr/>
        </p:nvSpPr>
        <p:spPr bwMode="auto">
          <a:xfrm>
            <a:off x="611188" y="1066800"/>
            <a:ext cx="8532812" cy="1128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dirty="0">
                <a:solidFill>
                  <a:srgbClr val="A50021"/>
                </a:solidFill>
                <a:latin typeface="华文中宋" pitchFamily="2" charset="-122"/>
                <a:ea typeface="华文中宋" pitchFamily="2" charset="-122"/>
              </a:rPr>
              <a:t>七</a:t>
            </a:r>
            <a:r>
              <a:rPr lang="en-US" altLang="zh-CN" sz="2800" dirty="0">
                <a:solidFill>
                  <a:srgbClr val="A50021"/>
                </a:solidFill>
                <a:latin typeface="华文中宋" pitchFamily="2" charset="-122"/>
                <a:ea typeface="华文中宋" pitchFamily="2" charset="-122"/>
              </a:rPr>
              <a:t>.</a:t>
            </a:r>
            <a:r>
              <a:rPr lang="zh-CN" altLang="en-US" sz="2800" dirty="0">
                <a:solidFill>
                  <a:srgbClr val="A50021"/>
                </a:solidFill>
                <a:latin typeface="华文中宋" pitchFamily="2" charset="-122"/>
                <a:ea typeface="华文中宋" pitchFamily="2" charset="-122"/>
              </a:rPr>
              <a:t>正截面受压承载力</a:t>
            </a:r>
            <a:r>
              <a:rPr lang="en-US" altLang="zh-CN" sz="2800" i="1" dirty="0">
                <a:solidFill>
                  <a:srgbClr val="A50021"/>
                </a:solidFill>
                <a:ea typeface="华文中宋" pitchFamily="2" charset="-122"/>
              </a:rPr>
              <a:t>N</a:t>
            </a:r>
            <a:r>
              <a:rPr lang="en-US" altLang="zh-CN" sz="2800" baseline="-25000" dirty="0">
                <a:solidFill>
                  <a:srgbClr val="A50021"/>
                </a:solidFill>
                <a:ea typeface="华文中宋" pitchFamily="2" charset="-122"/>
              </a:rPr>
              <a:t>u</a:t>
            </a:r>
            <a:r>
              <a:rPr lang="zh-CN" altLang="en-US" sz="2800" dirty="0">
                <a:solidFill>
                  <a:srgbClr val="A50021"/>
                </a:solidFill>
                <a:latin typeface="华文中宋" pitchFamily="2" charset="-122"/>
                <a:ea typeface="华文中宋" pitchFamily="2" charset="-122"/>
              </a:rPr>
              <a:t>和</a:t>
            </a:r>
            <a:r>
              <a:rPr lang="en-US" altLang="zh-CN" sz="2800" i="1" dirty="0">
                <a:solidFill>
                  <a:srgbClr val="A50021"/>
                </a:solidFill>
                <a:ea typeface="华文中宋" pitchFamily="2" charset="-122"/>
              </a:rPr>
              <a:t>M</a:t>
            </a:r>
            <a:r>
              <a:rPr lang="en-US" altLang="zh-CN" sz="2800" baseline="-25000" dirty="0">
                <a:solidFill>
                  <a:srgbClr val="A50021"/>
                </a:solidFill>
                <a:ea typeface="华文中宋" pitchFamily="2" charset="-122"/>
              </a:rPr>
              <a:t>u</a:t>
            </a:r>
            <a:r>
              <a:rPr lang="zh-CN" altLang="en-US" sz="2800" dirty="0">
                <a:solidFill>
                  <a:srgbClr val="A50021"/>
                </a:solidFill>
                <a:latin typeface="华文中宋" pitchFamily="2" charset="-122"/>
                <a:ea typeface="华文中宋" pitchFamily="2" charset="-122"/>
              </a:rPr>
              <a:t>的相关关系和应用</a:t>
            </a:r>
            <a:r>
              <a:rPr lang="zh-CN" altLang="en-US" dirty="0"/>
              <a:t> </a:t>
            </a:r>
          </a:p>
          <a:p>
            <a:pPr algn="l">
              <a:lnSpc>
                <a:spcPct val="100000"/>
              </a:lnSpc>
              <a:spcBef>
                <a:spcPct val="0"/>
              </a:spcBef>
              <a:buClrTx/>
              <a:buFontTx/>
              <a:buNone/>
            </a:pPr>
            <a:r>
              <a:rPr lang="zh-CN" altLang="en-US" sz="2000" dirty="0"/>
              <a:t>给定截面（尺寸，材料强度，配筋）的偏压构件达到承载力极限时，截面所能承受的</a:t>
            </a:r>
            <a:r>
              <a:rPr lang="en-US" altLang="zh-CN" sz="2000" i="1" dirty="0"/>
              <a:t>N</a:t>
            </a:r>
            <a:r>
              <a:rPr lang="en-US" altLang="zh-CN" sz="2000" baseline="-25000" dirty="0"/>
              <a:t>u</a:t>
            </a:r>
            <a:r>
              <a:rPr lang="zh-CN" altLang="en-US" sz="2000" dirty="0"/>
              <a:t>和</a:t>
            </a:r>
            <a:r>
              <a:rPr lang="en-US" altLang="zh-CN" sz="2000" i="1" dirty="0"/>
              <a:t>M</a:t>
            </a:r>
            <a:r>
              <a:rPr lang="en-US" altLang="zh-CN" sz="2000" baseline="-25000" dirty="0"/>
              <a:t>u</a:t>
            </a:r>
            <a:r>
              <a:rPr lang="zh-CN" altLang="en-US" sz="2000" dirty="0"/>
              <a:t>是相关的，下面以对称配筋为例说明</a:t>
            </a:r>
            <a:r>
              <a:rPr lang="en-US" altLang="zh-CN" sz="2000" i="1" dirty="0"/>
              <a:t>N</a:t>
            </a:r>
            <a:r>
              <a:rPr lang="en-US" altLang="zh-CN" sz="2000" baseline="-25000" dirty="0"/>
              <a:t>u</a:t>
            </a:r>
            <a:r>
              <a:rPr lang="zh-CN" altLang="en-US" sz="2000" dirty="0"/>
              <a:t>－</a:t>
            </a:r>
            <a:r>
              <a:rPr lang="en-US" altLang="zh-CN" sz="2000" i="1" dirty="0"/>
              <a:t>M</a:t>
            </a:r>
            <a:r>
              <a:rPr lang="en-US" altLang="zh-CN" sz="2000" baseline="-25000" dirty="0"/>
              <a:t>u</a:t>
            </a:r>
            <a:r>
              <a:rPr lang="zh-CN" altLang="en-US" sz="2000" dirty="0"/>
              <a:t>曲线特征</a:t>
            </a:r>
          </a:p>
        </p:txBody>
      </p:sp>
      <p:pic>
        <p:nvPicPr>
          <p:cNvPr id="413700" name="Picture 4" descr="gj072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7712" r="5919"/>
          <a:stretch>
            <a:fillRect/>
          </a:stretch>
        </p:blipFill>
        <p:spPr bwMode="auto">
          <a:xfrm>
            <a:off x="4708525" y="2493963"/>
            <a:ext cx="4359275" cy="3744912"/>
          </a:xfrm>
          <a:prstGeom prst="rect">
            <a:avLst/>
          </a:prstGeom>
          <a:noFill/>
          <a:extLst>
            <a:ext uri="{909E8E84-426E-40DD-AFC4-6F175D3DCCD1}">
              <a14:hiddenFill xmlns:a14="http://schemas.microsoft.com/office/drawing/2010/main">
                <a:solidFill>
                  <a:srgbClr val="FFFFFF"/>
                </a:solidFill>
              </a14:hiddenFill>
            </a:ext>
          </a:extLst>
        </p:spPr>
      </p:pic>
      <p:sp>
        <p:nvSpPr>
          <p:cNvPr id="413701" name="Rectangle 5"/>
          <p:cNvSpPr>
            <a:spLocks noChangeArrowheads="1"/>
          </p:cNvSpPr>
          <p:nvPr/>
        </p:nvSpPr>
        <p:spPr bwMode="auto">
          <a:xfrm>
            <a:off x="457200" y="2393950"/>
            <a:ext cx="4419600" cy="433965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0"/>
              </a:spcBef>
              <a:buClrTx/>
              <a:buFontTx/>
              <a:buNone/>
            </a:pPr>
            <a:r>
              <a:rPr lang="en-US" altLang="zh-CN" sz="2000" dirty="0">
                <a:solidFill>
                  <a:srgbClr val="003300"/>
                </a:solidFill>
              </a:rPr>
              <a:t>1.</a:t>
            </a:r>
            <a:r>
              <a:rPr lang="zh-CN" altLang="en-US" sz="2000" dirty="0">
                <a:solidFill>
                  <a:srgbClr val="003300"/>
                </a:solidFill>
              </a:rPr>
              <a:t>整体曲线展示了某一截面从受弯至偏压至轴压的全过程变化规律。受弯和轴压只是偏压中特定的情况</a:t>
            </a:r>
            <a:r>
              <a:rPr lang="zh-CN" altLang="en-US" dirty="0">
                <a:solidFill>
                  <a:srgbClr val="003300"/>
                </a:solidFill>
              </a:rPr>
              <a:t>。</a:t>
            </a:r>
          </a:p>
          <a:p>
            <a:pPr algn="l">
              <a:lnSpc>
                <a:spcPct val="100000"/>
              </a:lnSpc>
              <a:spcBef>
                <a:spcPct val="0"/>
              </a:spcBef>
              <a:buClrTx/>
              <a:buFontTx/>
              <a:buNone/>
            </a:pPr>
            <a:endParaRPr lang="zh-CN" altLang="en-US" sz="2000" dirty="0"/>
          </a:p>
          <a:p>
            <a:pPr algn="l">
              <a:lnSpc>
                <a:spcPct val="100000"/>
              </a:lnSpc>
              <a:spcBef>
                <a:spcPct val="0"/>
              </a:spcBef>
              <a:buClrTx/>
              <a:buFontTx/>
              <a:buNone/>
            </a:pPr>
            <a:r>
              <a:rPr lang="en-US" altLang="zh-CN" sz="2000" dirty="0"/>
              <a:t>2.</a:t>
            </a:r>
            <a:r>
              <a:rPr lang="zh-CN" altLang="en-US" sz="2000" dirty="0"/>
              <a:t>曲线下部大偏压的情况段</a:t>
            </a:r>
            <a:r>
              <a:rPr lang="zh-CN" altLang="en-US" sz="2000" dirty="0">
                <a:sym typeface="Wingdings" pitchFamily="2" charset="2"/>
              </a:rPr>
              <a:t>：</a:t>
            </a:r>
            <a:endParaRPr lang="zh-CN" altLang="en-US" sz="2000" dirty="0"/>
          </a:p>
          <a:p>
            <a:pPr algn="l"/>
            <a:r>
              <a:rPr lang="zh-CN" altLang="en-US" sz="2000" dirty="0"/>
              <a:t>（</a:t>
            </a:r>
            <a:r>
              <a:rPr lang="en-US" altLang="zh-CN" sz="2000" dirty="0"/>
              <a:t>1</a:t>
            </a:r>
            <a:r>
              <a:rPr lang="zh-CN" altLang="en-US" sz="2000" dirty="0"/>
              <a:t>） </a:t>
            </a:r>
            <a:r>
              <a:rPr lang="en-US" altLang="zh-CN" sz="2000" i="1" dirty="0"/>
              <a:t>N</a:t>
            </a:r>
            <a:r>
              <a:rPr lang="en-US" altLang="zh-CN" sz="2000" baseline="-25000" dirty="0"/>
              <a:t>u</a:t>
            </a:r>
            <a:r>
              <a:rPr lang="zh-CN" altLang="en-US" sz="2000" dirty="0"/>
              <a:t>和</a:t>
            </a:r>
            <a:r>
              <a:rPr lang="en-US" altLang="zh-CN" sz="2000" i="1" dirty="0"/>
              <a:t>M</a:t>
            </a:r>
            <a:r>
              <a:rPr lang="en-US" altLang="zh-CN" sz="2000" baseline="-25000" dirty="0"/>
              <a:t>u</a:t>
            </a:r>
            <a:r>
              <a:rPr lang="zh-CN" altLang="en-US" sz="2000" dirty="0"/>
              <a:t>之间为二次函数关系</a:t>
            </a:r>
          </a:p>
          <a:p>
            <a:pPr algn="l"/>
            <a:r>
              <a:rPr lang="zh-CN" altLang="en-US" sz="2000" dirty="0"/>
              <a:t>（</a:t>
            </a:r>
            <a:r>
              <a:rPr lang="en-US" altLang="zh-CN" sz="2000" dirty="0"/>
              <a:t>2</a:t>
            </a:r>
            <a:r>
              <a:rPr lang="zh-CN" altLang="en-US" sz="2000" dirty="0"/>
              <a:t>）随着轴向力的增大，弯矩增大</a:t>
            </a:r>
          </a:p>
          <a:p>
            <a:pPr algn="l">
              <a:lnSpc>
                <a:spcPct val="100000"/>
              </a:lnSpc>
              <a:spcBef>
                <a:spcPct val="0"/>
              </a:spcBef>
              <a:buClrTx/>
              <a:buFontTx/>
              <a:buNone/>
            </a:pPr>
            <a:endParaRPr lang="zh-CN" altLang="en-US" sz="2000" dirty="0"/>
          </a:p>
          <a:p>
            <a:pPr algn="l">
              <a:lnSpc>
                <a:spcPct val="100000"/>
              </a:lnSpc>
              <a:spcBef>
                <a:spcPct val="0"/>
              </a:spcBef>
              <a:buClrTx/>
              <a:buFontTx/>
              <a:buNone/>
            </a:pPr>
            <a:r>
              <a:rPr lang="en-US" altLang="zh-CN" sz="2000" dirty="0">
                <a:solidFill>
                  <a:srgbClr val="FF0000"/>
                </a:solidFill>
              </a:rPr>
              <a:t>3.</a:t>
            </a:r>
            <a:r>
              <a:rPr lang="zh-CN" altLang="en-US" sz="2000" dirty="0">
                <a:solidFill>
                  <a:srgbClr val="FF0000"/>
                </a:solidFill>
              </a:rPr>
              <a:t>曲线上部小偏压的情况段：</a:t>
            </a:r>
          </a:p>
          <a:p>
            <a:pPr algn="l"/>
            <a:r>
              <a:rPr lang="zh-CN" altLang="en-US" sz="2000" dirty="0">
                <a:solidFill>
                  <a:srgbClr val="FF0000"/>
                </a:solidFill>
              </a:rPr>
              <a:t>（</a:t>
            </a:r>
            <a:r>
              <a:rPr lang="en-US" altLang="zh-CN" sz="2000" dirty="0">
                <a:solidFill>
                  <a:srgbClr val="FF0000"/>
                </a:solidFill>
              </a:rPr>
              <a:t>1</a:t>
            </a:r>
            <a:r>
              <a:rPr lang="zh-CN" altLang="en-US" sz="2000" dirty="0">
                <a:solidFill>
                  <a:srgbClr val="FF0000"/>
                </a:solidFill>
              </a:rPr>
              <a:t>） </a:t>
            </a:r>
            <a:r>
              <a:rPr lang="en-US" altLang="zh-CN" sz="2000" i="1" dirty="0">
                <a:solidFill>
                  <a:srgbClr val="FF0000"/>
                </a:solidFill>
              </a:rPr>
              <a:t>N</a:t>
            </a:r>
            <a:r>
              <a:rPr lang="en-US" altLang="zh-CN" sz="2000" baseline="-25000" dirty="0">
                <a:solidFill>
                  <a:srgbClr val="FF0000"/>
                </a:solidFill>
              </a:rPr>
              <a:t>u</a:t>
            </a:r>
            <a:r>
              <a:rPr lang="zh-CN" altLang="en-US" sz="2000" dirty="0">
                <a:solidFill>
                  <a:srgbClr val="FF0000"/>
                </a:solidFill>
              </a:rPr>
              <a:t>和</a:t>
            </a:r>
            <a:r>
              <a:rPr lang="en-US" altLang="zh-CN" sz="2000" i="1" dirty="0">
                <a:solidFill>
                  <a:srgbClr val="FF0000"/>
                </a:solidFill>
              </a:rPr>
              <a:t>M</a:t>
            </a:r>
            <a:r>
              <a:rPr lang="en-US" altLang="zh-CN" sz="2000" baseline="-25000" dirty="0">
                <a:solidFill>
                  <a:srgbClr val="FF0000"/>
                </a:solidFill>
              </a:rPr>
              <a:t>u</a:t>
            </a:r>
            <a:r>
              <a:rPr lang="zh-CN" altLang="en-US" sz="2000" dirty="0">
                <a:solidFill>
                  <a:srgbClr val="FF0000"/>
                </a:solidFill>
              </a:rPr>
              <a:t>之间亦为二次函数关系</a:t>
            </a:r>
          </a:p>
          <a:p>
            <a:pPr algn="l"/>
            <a:r>
              <a:rPr lang="zh-CN" altLang="en-US" sz="2000" dirty="0">
                <a:solidFill>
                  <a:srgbClr val="FF0000"/>
                </a:solidFill>
              </a:rPr>
              <a:t>（</a:t>
            </a:r>
            <a:r>
              <a:rPr lang="en-US" altLang="zh-CN" sz="2000" dirty="0">
                <a:solidFill>
                  <a:srgbClr val="FF0000"/>
                </a:solidFill>
              </a:rPr>
              <a:t>2</a:t>
            </a:r>
            <a:r>
              <a:rPr lang="zh-CN" altLang="en-US" sz="2000" dirty="0">
                <a:solidFill>
                  <a:srgbClr val="FF0000"/>
                </a:solidFill>
              </a:rPr>
              <a:t>）随着轴向力的增大，弯矩将减小</a:t>
            </a:r>
            <a:endParaRPr lang="en-US" altLang="zh-CN" sz="2000" dirty="0">
              <a:solidFill>
                <a:srgbClr val="FF0000"/>
              </a:solidFill>
            </a:endParaRPr>
          </a:p>
          <a:p>
            <a:pPr algn="l"/>
            <a:endParaRPr lang="en-US" altLang="zh-CN" sz="2000" dirty="0">
              <a:solidFill>
                <a:srgbClr val="FF0000"/>
              </a:solidFill>
            </a:endParaRPr>
          </a:p>
          <a:p>
            <a:pPr algn="l"/>
            <a:r>
              <a:rPr lang="zh-CN" altLang="en-US" sz="2000" dirty="0">
                <a:solidFill>
                  <a:schemeClr val="tx2"/>
                </a:solidFill>
              </a:rPr>
              <a:t>（</a:t>
            </a:r>
            <a:r>
              <a:rPr lang="en-US" altLang="zh-CN" sz="2000" dirty="0">
                <a:solidFill>
                  <a:schemeClr val="tx2"/>
                </a:solidFill>
              </a:rPr>
              <a:t>P296-P297</a:t>
            </a:r>
            <a:r>
              <a:rPr lang="zh-CN" altLang="en-US" sz="2000" dirty="0">
                <a:solidFill>
                  <a:schemeClr val="tx2"/>
                </a:solidFill>
              </a:rPr>
              <a:t>） </a:t>
            </a:r>
          </a:p>
        </p:txBody>
      </p:sp>
      <p:sp>
        <p:nvSpPr>
          <p:cNvPr id="413702" name="Rectangle 6"/>
          <p:cNvSpPr>
            <a:spLocks noChangeArrowheads="1"/>
          </p:cNvSpPr>
          <p:nvPr/>
        </p:nvSpPr>
        <p:spPr bwMode="auto">
          <a:xfrm>
            <a:off x="5715000" y="6061075"/>
            <a:ext cx="1966913" cy="33972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i="1">
                <a:solidFill>
                  <a:srgbClr val="003300"/>
                </a:solidFill>
              </a:rPr>
              <a:t>a</a:t>
            </a:r>
            <a:r>
              <a:rPr lang="zh-CN" altLang="en-US" sz="1800">
                <a:solidFill>
                  <a:srgbClr val="003300"/>
                </a:solidFill>
              </a:rPr>
              <a:t>：纯弯构件情况 </a:t>
            </a:r>
          </a:p>
        </p:txBody>
      </p:sp>
      <p:sp>
        <p:nvSpPr>
          <p:cNvPr id="413703" name="Rectangle 7"/>
          <p:cNvSpPr>
            <a:spLocks noChangeArrowheads="1"/>
          </p:cNvSpPr>
          <p:nvPr/>
        </p:nvSpPr>
        <p:spPr bwMode="auto">
          <a:xfrm>
            <a:off x="5726113" y="4495800"/>
            <a:ext cx="2427287" cy="33972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i="1">
                <a:solidFill>
                  <a:srgbClr val="003300"/>
                </a:solidFill>
              </a:rPr>
              <a:t>b</a:t>
            </a:r>
            <a:r>
              <a:rPr lang="zh-CN" altLang="en-US" sz="1800">
                <a:solidFill>
                  <a:srgbClr val="003300"/>
                </a:solidFill>
              </a:rPr>
              <a:t>：大小偏压的界限点 </a:t>
            </a:r>
          </a:p>
        </p:txBody>
      </p:sp>
      <p:sp>
        <p:nvSpPr>
          <p:cNvPr id="413704" name="Rectangle 8"/>
          <p:cNvSpPr>
            <a:spLocks noChangeArrowheads="1"/>
          </p:cNvSpPr>
          <p:nvPr/>
        </p:nvSpPr>
        <p:spPr bwMode="auto">
          <a:xfrm>
            <a:off x="4953000" y="2860675"/>
            <a:ext cx="1954213" cy="33972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i="1">
                <a:solidFill>
                  <a:srgbClr val="003300"/>
                </a:solidFill>
              </a:rPr>
              <a:t>c</a:t>
            </a:r>
            <a:r>
              <a:rPr lang="zh-CN" altLang="en-US" sz="1800">
                <a:solidFill>
                  <a:srgbClr val="003300"/>
                </a:solidFill>
              </a:rPr>
              <a:t>：轴压构件情况 </a:t>
            </a:r>
          </a:p>
        </p:txBody>
      </p:sp>
      <p:sp>
        <p:nvSpPr>
          <p:cNvPr id="413705" name="Freeform 9"/>
          <p:cNvSpPr>
            <a:spLocks/>
          </p:cNvSpPr>
          <p:nvPr/>
        </p:nvSpPr>
        <p:spPr bwMode="auto">
          <a:xfrm>
            <a:off x="6005513" y="4733925"/>
            <a:ext cx="2133600" cy="1152525"/>
          </a:xfrm>
          <a:custGeom>
            <a:avLst/>
            <a:gdLst>
              <a:gd name="T0" fmla="*/ 0 w 1344"/>
              <a:gd name="T1" fmla="*/ 726 h 726"/>
              <a:gd name="T2" fmla="*/ 255 w 1344"/>
              <a:gd name="T3" fmla="*/ 672 h 726"/>
              <a:gd name="T4" fmla="*/ 480 w 1344"/>
              <a:gd name="T5" fmla="*/ 603 h 726"/>
              <a:gd name="T6" fmla="*/ 672 w 1344"/>
              <a:gd name="T7" fmla="*/ 522 h 726"/>
              <a:gd name="T8" fmla="*/ 858 w 1344"/>
              <a:gd name="T9" fmla="*/ 426 h 726"/>
              <a:gd name="T10" fmla="*/ 1032 w 1344"/>
              <a:gd name="T11" fmla="*/ 303 h 726"/>
              <a:gd name="T12" fmla="*/ 1215 w 1344"/>
              <a:gd name="T13" fmla="*/ 147 h 726"/>
              <a:gd name="T14" fmla="*/ 1344 w 1344"/>
              <a:gd name="T15" fmla="*/ 0 h 7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44" h="726">
                <a:moveTo>
                  <a:pt x="0" y="726"/>
                </a:moveTo>
                <a:cubicBezTo>
                  <a:pt x="42" y="718"/>
                  <a:pt x="175" y="692"/>
                  <a:pt x="255" y="672"/>
                </a:cubicBezTo>
                <a:cubicBezTo>
                  <a:pt x="335" y="652"/>
                  <a:pt x="411" y="628"/>
                  <a:pt x="480" y="603"/>
                </a:cubicBezTo>
                <a:cubicBezTo>
                  <a:pt x="549" y="578"/>
                  <a:pt x="609" y="551"/>
                  <a:pt x="672" y="522"/>
                </a:cubicBezTo>
                <a:cubicBezTo>
                  <a:pt x="735" y="493"/>
                  <a:pt x="798" y="462"/>
                  <a:pt x="858" y="426"/>
                </a:cubicBezTo>
                <a:cubicBezTo>
                  <a:pt x="918" y="390"/>
                  <a:pt x="973" y="349"/>
                  <a:pt x="1032" y="303"/>
                </a:cubicBezTo>
                <a:cubicBezTo>
                  <a:pt x="1091" y="257"/>
                  <a:pt x="1163" y="197"/>
                  <a:pt x="1215" y="147"/>
                </a:cubicBezTo>
                <a:cubicBezTo>
                  <a:pt x="1267" y="97"/>
                  <a:pt x="1317" y="31"/>
                  <a:pt x="1344" y="0"/>
                </a:cubicBezTo>
              </a:path>
            </a:pathLst>
          </a:custGeom>
          <a:noFill/>
          <a:ln w="381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3706" name="Freeform 10"/>
          <p:cNvSpPr>
            <a:spLocks/>
          </p:cNvSpPr>
          <p:nvPr/>
        </p:nvSpPr>
        <p:spPr bwMode="auto">
          <a:xfrm>
            <a:off x="5005388" y="3162300"/>
            <a:ext cx="3157537" cy="1619250"/>
          </a:xfrm>
          <a:custGeom>
            <a:avLst/>
            <a:gdLst>
              <a:gd name="T0" fmla="*/ 12 w 1989"/>
              <a:gd name="T1" fmla="*/ 3 h 1020"/>
              <a:gd name="T2" fmla="*/ 0 w 1989"/>
              <a:gd name="T3" fmla="*/ 0 h 1020"/>
              <a:gd name="T4" fmla="*/ 261 w 1989"/>
              <a:gd name="T5" fmla="*/ 24 h 1020"/>
              <a:gd name="T6" fmla="*/ 450 w 1989"/>
              <a:gd name="T7" fmla="*/ 51 h 1020"/>
              <a:gd name="T8" fmla="*/ 696 w 1989"/>
              <a:gd name="T9" fmla="*/ 102 h 1020"/>
              <a:gd name="T10" fmla="*/ 879 w 1989"/>
              <a:gd name="T11" fmla="*/ 156 h 1020"/>
              <a:gd name="T12" fmla="*/ 1065 w 1989"/>
              <a:gd name="T13" fmla="*/ 228 h 1020"/>
              <a:gd name="T14" fmla="*/ 1308 w 1989"/>
              <a:gd name="T15" fmla="*/ 345 h 1020"/>
              <a:gd name="T16" fmla="*/ 1470 w 1989"/>
              <a:gd name="T17" fmla="*/ 459 h 1020"/>
              <a:gd name="T18" fmla="*/ 1584 w 1989"/>
              <a:gd name="T19" fmla="*/ 546 h 1020"/>
              <a:gd name="T20" fmla="*/ 1692 w 1989"/>
              <a:gd name="T21" fmla="*/ 642 h 1020"/>
              <a:gd name="T22" fmla="*/ 1785 w 1989"/>
              <a:gd name="T23" fmla="*/ 741 h 1020"/>
              <a:gd name="T24" fmla="*/ 1869 w 1989"/>
              <a:gd name="T25" fmla="*/ 849 h 1020"/>
              <a:gd name="T26" fmla="*/ 1968 w 1989"/>
              <a:gd name="T27" fmla="*/ 987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89" h="1020">
                <a:moveTo>
                  <a:pt x="12" y="3"/>
                </a:moveTo>
                <a:lnTo>
                  <a:pt x="0" y="0"/>
                </a:lnTo>
                <a:cubicBezTo>
                  <a:pt x="41" y="3"/>
                  <a:pt x="186" y="16"/>
                  <a:pt x="261" y="24"/>
                </a:cubicBezTo>
                <a:cubicBezTo>
                  <a:pt x="336" y="32"/>
                  <a:pt x="378" y="38"/>
                  <a:pt x="450" y="51"/>
                </a:cubicBezTo>
                <a:cubicBezTo>
                  <a:pt x="522" y="64"/>
                  <a:pt x="625" y="85"/>
                  <a:pt x="696" y="102"/>
                </a:cubicBezTo>
                <a:cubicBezTo>
                  <a:pt x="767" y="119"/>
                  <a:pt x="817" y="135"/>
                  <a:pt x="879" y="156"/>
                </a:cubicBezTo>
                <a:cubicBezTo>
                  <a:pt x="941" y="177"/>
                  <a:pt x="994" y="197"/>
                  <a:pt x="1065" y="228"/>
                </a:cubicBezTo>
                <a:cubicBezTo>
                  <a:pt x="1136" y="259"/>
                  <a:pt x="1241" y="306"/>
                  <a:pt x="1308" y="345"/>
                </a:cubicBezTo>
                <a:cubicBezTo>
                  <a:pt x="1375" y="384"/>
                  <a:pt x="1424" y="426"/>
                  <a:pt x="1470" y="459"/>
                </a:cubicBezTo>
                <a:cubicBezTo>
                  <a:pt x="1516" y="492"/>
                  <a:pt x="1547" y="516"/>
                  <a:pt x="1584" y="546"/>
                </a:cubicBezTo>
                <a:cubicBezTo>
                  <a:pt x="1621" y="576"/>
                  <a:pt x="1659" y="610"/>
                  <a:pt x="1692" y="642"/>
                </a:cubicBezTo>
                <a:cubicBezTo>
                  <a:pt x="1725" y="674"/>
                  <a:pt x="1756" y="707"/>
                  <a:pt x="1785" y="741"/>
                </a:cubicBezTo>
                <a:cubicBezTo>
                  <a:pt x="1814" y="775"/>
                  <a:pt x="1839" y="808"/>
                  <a:pt x="1869" y="849"/>
                </a:cubicBezTo>
                <a:cubicBezTo>
                  <a:pt x="1899" y="890"/>
                  <a:pt x="1989" y="1020"/>
                  <a:pt x="1968" y="987"/>
                </a:cubicBezTo>
              </a:path>
            </a:pathLst>
          </a:custGeom>
          <a:noFill/>
          <a:ln w="381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4722"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414723" name="Rectangle 3"/>
          <p:cNvSpPr>
            <a:spLocks noChangeArrowheads="1"/>
          </p:cNvSpPr>
          <p:nvPr/>
        </p:nvSpPr>
        <p:spPr bwMode="auto">
          <a:xfrm>
            <a:off x="611188" y="1066800"/>
            <a:ext cx="8532812" cy="1128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七</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正截面受压承载力</a:t>
            </a:r>
            <a:r>
              <a:rPr lang="en-US" altLang="zh-CN" sz="2800" i="1">
                <a:solidFill>
                  <a:srgbClr val="A50021"/>
                </a:solidFill>
                <a:ea typeface="华文中宋" pitchFamily="2" charset="-122"/>
              </a:rPr>
              <a:t>N</a:t>
            </a:r>
            <a:r>
              <a:rPr lang="en-US" altLang="zh-CN" sz="2800" baseline="-25000">
                <a:solidFill>
                  <a:srgbClr val="A50021"/>
                </a:solidFill>
                <a:ea typeface="华文中宋" pitchFamily="2" charset="-122"/>
              </a:rPr>
              <a:t>u</a:t>
            </a:r>
            <a:r>
              <a:rPr lang="zh-CN" altLang="en-US" sz="2800">
                <a:solidFill>
                  <a:srgbClr val="A50021"/>
                </a:solidFill>
                <a:latin typeface="华文中宋" pitchFamily="2" charset="-122"/>
                <a:ea typeface="华文中宋" pitchFamily="2" charset="-122"/>
              </a:rPr>
              <a:t>和</a:t>
            </a:r>
            <a:r>
              <a:rPr lang="en-US" altLang="zh-CN" sz="2800" i="1">
                <a:solidFill>
                  <a:srgbClr val="A50021"/>
                </a:solidFill>
                <a:ea typeface="华文中宋" pitchFamily="2" charset="-122"/>
              </a:rPr>
              <a:t>M</a:t>
            </a:r>
            <a:r>
              <a:rPr lang="en-US" altLang="zh-CN" sz="2800" baseline="-25000">
                <a:solidFill>
                  <a:srgbClr val="A50021"/>
                </a:solidFill>
                <a:ea typeface="华文中宋" pitchFamily="2" charset="-122"/>
              </a:rPr>
              <a:t>u</a:t>
            </a:r>
            <a:r>
              <a:rPr lang="zh-CN" altLang="en-US" sz="2800">
                <a:solidFill>
                  <a:srgbClr val="A50021"/>
                </a:solidFill>
                <a:latin typeface="华文中宋" pitchFamily="2" charset="-122"/>
                <a:ea typeface="华文中宋" pitchFamily="2" charset="-122"/>
              </a:rPr>
              <a:t>之间的相关关系</a:t>
            </a:r>
            <a:r>
              <a:rPr lang="zh-CN" altLang="en-US"/>
              <a:t> </a:t>
            </a:r>
          </a:p>
          <a:p>
            <a:pPr algn="l">
              <a:lnSpc>
                <a:spcPct val="100000"/>
              </a:lnSpc>
              <a:spcBef>
                <a:spcPct val="0"/>
              </a:spcBef>
              <a:buClrTx/>
              <a:buFontTx/>
              <a:buNone/>
            </a:pPr>
            <a:r>
              <a:rPr lang="zh-CN" altLang="en-US" sz="2000"/>
              <a:t>给定截面（尺寸，材料强度，配筋）的偏压构件达到承载力极限时，截面所能承受的</a:t>
            </a:r>
            <a:r>
              <a:rPr lang="en-US" altLang="zh-CN" sz="2000" i="1"/>
              <a:t>N</a:t>
            </a:r>
            <a:r>
              <a:rPr lang="en-US" altLang="zh-CN" sz="2000" baseline="-25000"/>
              <a:t>u</a:t>
            </a:r>
            <a:r>
              <a:rPr lang="zh-CN" altLang="en-US" sz="2000"/>
              <a:t>和</a:t>
            </a:r>
            <a:r>
              <a:rPr lang="en-US" altLang="zh-CN" sz="2000" i="1"/>
              <a:t>M</a:t>
            </a:r>
            <a:r>
              <a:rPr lang="en-US" altLang="zh-CN" sz="2000" baseline="-25000"/>
              <a:t>u</a:t>
            </a:r>
            <a:r>
              <a:rPr lang="zh-CN" altLang="en-US" sz="2000"/>
              <a:t>是相关的，下面以对称配筋为例说明</a:t>
            </a:r>
            <a:r>
              <a:rPr lang="en-US" altLang="zh-CN" sz="2000" i="1"/>
              <a:t>N</a:t>
            </a:r>
            <a:r>
              <a:rPr lang="en-US" altLang="zh-CN" sz="2000" baseline="-25000"/>
              <a:t>u</a:t>
            </a:r>
            <a:r>
              <a:rPr lang="zh-CN" altLang="en-US" sz="2000"/>
              <a:t>－</a:t>
            </a:r>
            <a:r>
              <a:rPr lang="en-US" altLang="zh-CN" sz="2000" i="1"/>
              <a:t>M</a:t>
            </a:r>
            <a:r>
              <a:rPr lang="en-US" altLang="zh-CN" sz="2000" baseline="-25000"/>
              <a:t>u</a:t>
            </a:r>
            <a:r>
              <a:rPr lang="zh-CN" altLang="en-US" sz="2000"/>
              <a:t>曲线特征</a:t>
            </a:r>
          </a:p>
        </p:txBody>
      </p:sp>
      <p:pic>
        <p:nvPicPr>
          <p:cNvPr id="414724" name="Picture 4" descr="gj0723"/>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7712" r="5919"/>
          <a:stretch>
            <a:fillRect/>
          </a:stretch>
        </p:blipFill>
        <p:spPr bwMode="auto">
          <a:xfrm>
            <a:off x="4708525" y="2493963"/>
            <a:ext cx="4359275" cy="3744912"/>
          </a:xfrm>
          <a:prstGeom prst="rect">
            <a:avLst/>
          </a:prstGeom>
          <a:noFill/>
          <a:extLst>
            <a:ext uri="{909E8E84-426E-40DD-AFC4-6F175D3DCCD1}">
              <a14:hiddenFill xmlns:a14="http://schemas.microsoft.com/office/drawing/2010/main">
                <a:solidFill>
                  <a:srgbClr val="FFFFFF"/>
                </a:solidFill>
              </a14:hiddenFill>
            </a:ext>
          </a:extLst>
        </p:spPr>
      </p:pic>
      <p:sp>
        <p:nvSpPr>
          <p:cNvPr id="414725" name="Rectangle 5"/>
          <p:cNvSpPr>
            <a:spLocks noChangeArrowheads="1"/>
          </p:cNvSpPr>
          <p:nvPr/>
        </p:nvSpPr>
        <p:spPr bwMode="auto">
          <a:xfrm>
            <a:off x="457200" y="2941638"/>
            <a:ext cx="4419600" cy="253047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00000"/>
              </a:lnSpc>
              <a:spcBef>
                <a:spcPct val="0"/>
              </a:spcBef>
              <a:buClrTx/>
              <a:buFontTx/>
              <a:buNone/>
            </a:pPr>
            <a:r>
              <a:rPr lang="en-US" altLang="zh-CN" sz="2000"/>
              <a:t>4.</a:t>
            </a:r>
            <a:r>
              <a:rPr lang="zh-CN" altLang="en-US" sz="2000"/>
              <a:t>弯矩为零时，轴向力最大；轴向力为零时，弯矩不是最大；界限破坏时，弯矩最大 </a:t>
            </a:r>
          </a:p>
          <a:p>
            <a:pPr algn="l">
              <a:lnSpc>
                <a:spcPct val="100000"/>
              </a:lnSpc>
              <a:spcBef>
                <a:spcPct val="0"/>
              </a:spcBef>
              <a:buClrTx/>
              <a:buFontTx/>
              <a:buNone/>
            </a:pPr>
            <a:endParaRPr lang="zh-CN" altLang="en-US" sz="2000"/>
          </a:p>
          <a:p>
            <a:pPr algn="l">
              <a:lnSpc>
                <a:spcPct val="100000"/>
              </a:lnSpc>
              <a:spcBef>
                <a:spcPct val="0"/>
              </a:spcBef>
              <a:buClrTx/>
              <a:buFontTx/>
              <a:buNone/>
            </a:pPr>
            <a:r>
              <a:rPr lang="en-US" altLang="zh-CN" sz="2000"/>
              <a:t>5.</a:t>
            </a:r>
            <a:r>
              <a:rPr lang="zh-CN" altLang="en-US" sz="2000"/>
              <a:t>内力值组合（</a:t>
            </a:r>
            <a:r>
              <a:rPr lang="en-US" altLang="zh-CN" sz="2000" i="1"/>
              <a:t>N</a:t>
            </a:r>
            <a:r>
              <a:rPr lang="zh-CN" altLang="en-US" sz="2000"/>
              <a:t>，</a:t>
            </a:r>
            <a:r>
              <a:rPr lang="en-US" altLang="zh-CN" sz="2000" i="1"/>
              <a:t>M</a:t>
            </a:r>
            <a:r>
              <a:rPr lang="zh-CN" altLang="en-US" sz="2000"/>
              <a:t>）位于曲线内侧，则表示截面在该组内力组合下未达到承载力极限破坏情况，是安全的；若在曲线外面则表示不安全 </a:t>
            </a:r>
          </a:p>
        </p:txBody>
      </p:sp>
      <p:sp>
        <p:nvSpPr>
          <p:cNvPr id="414726" name="Rectangle 6"/>
          <p:cNvSpPr>
            <a:spLocks noChangeArrowheads="1"/>
          </p:cNvSpPr>
          <p:nvPr/>
        </p:nvSpPr>
        <p:spPr bwMode="auto">
          <a:xfrm>
            <a:off x="5715000" y="6061075"/>
            <a:ext cx="1966913" cy="33972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i="1">
                <a:solidFill>
                  <a:srgbClr val="003300"/>
                </a:solidFill>
              </a:rPr>
              <a:t>a</a:t>
            </a:r>
            <a:r>
              <a:rPr lang="zh-CN" altLang="en-US" sz="1800">
                <a:solidFill>
                  <a:srgbClr val="003300"/>
                </a:solidFill>
              </a:rPr>
              <a:t>：纯弯构件情况 </a:t>
            </a:r>
          </a:p>
        </p:txBody>
      </p:sp>
      <p:sp>
        <p:nvSpPr>
          <p:cNvPr id="414727" name="Rectangle 7"/>
          <p:cNvSpPr>
            <a:spLocks noChangeArrowheads="1"/>
          </p:cNvSpPr>
          <p:nvPr/>
        </p:nvSpPr>
        <p:spPr bwMode="auto">
          <a:xfrm>
            <a:off x="5726113" y="4495800"/>
            <a:ext cx="2427287" cy="33972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i="1">
                <a:solidFill>
                  <a:srgbClr val="003300"/>
                </a:solidFill>
              </a:rPr>
              <a:t>b</a:t>
            </a:r>
            <a:r>
              <a:rPr lang="zh-CN" altLang="en-US" sz="1800">
                <a:solidFill>
                  <a:srgbClr val="003300"/>
                </a:solidFill>
              </a:rPr>
              <a:t>：大小偏压的界限点 </a:t>
            </a:r>
          </a:p>
        </p:txBody>
      </p:sp>
      <p:sp>
        <p:nvSpPr>
          <p:cNvPr id="414728" name="Rectangle 8"/>
          <p:cNvSpPr>
            <a:spLocks noChangeArrowheads="1"/>
          </p:cNvSpPr>
          <p:nvPr/>
        </p:nvSpPr>
        <p:spPr bwMode="auto">
          <a:xfrm>
            <a:off x="4953000" y="2860675"/>
            <a:ext cx="1954213" cy="33972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i="1">
                <a:solidFill>
                  <a:srgbClr val="003300"/>
                </a:solidFill>
              </a:rPr>
              <a:t>c</a:t>
            </a:r>
            <a:r>
              <a:rPr lang="zh-CN" altLang="en-US" sz="1800">
                <a:solidFill>
                  <a:srgbClr val="003300"/>
                </a:solidFill>
              </a:rPr>
              <a:t>：轴压构件情况 </a:t>
            </a:r>
          </a:p>
        </p:txBody>
      </p:sp>
      <p:sp>
        <p:nvSpPr>
          <p:cNvPr id="414729" name="Freeform 9"/>
          <p:cNvSpPr>
            <a:spLocks/>
          </p:cNvSpPr>
          <p:nvPr/>
        </p:nvSpPr>
        <p:spPr bwMode="auto">
          <a:xfrm>
            <a:off x="6005513" y="4733925"/>
            <a:ext cx="2133600" cy="1152525"/>
          </a:xfrm>
          <a:custGeom>
            <a:avLst/>
            <a:gdLst>
              <a:gd name="T0" fmla="*/ 0 w 1344"/>
              <a:gd name="T1" fmla="*/ 726 h 726"/>
              <a:gd name="T2" fmla="*/ 255 w 1344"/>
              <a:gd name="T3" fmla="*/ 672 h 726"/>
              <a:gd name="T4" fmla="*/ 480 w 1344"/>
              <a:gd name="T5" fmla="*/ 603 h 726"/>
              <a:gd name="T6" fmla="*/ 672 w 1344"/>
              <a:gd name="T7" fmla="*/ 522 h 726"/>
              <a:gd name="T8" fmla="*/ 858 w 1344"/>
              <a:gd name="T9" fmla="*/ 426 h 726"/>
              <a:gd name="T10" fmla="*/ 1032 w 1344"/>
              <a:gd name="T11" fmla="*/ 303 h 726"/>
              <a:gd name="T12" fmla="*/ 1215 w 1344"/>
              <a:gd name="T13" fmla="*/ 147 h 726"/>
              <a:gd name="T14" fmla="*/ 1344 w 1344"/>
              <a:gd name="T15" fmla="*/ 0 h 7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44" h="726">
                <a:moveTo>
                  <a:pt x="0" y="726"/>
                </a:moveTo>
                <a:cubicBezTo>
                  <a:pt x="42" y="718"/>
                  <a:pt x="175" y="692"/>
                  <a:pt x="255" y="672"/>
                </a:cubicBezTo>
                <a:cubicBezTo>
                  <a:pt x="335" y="652"/>
                  <a:pt x="411" y="628"/>
                  <a:pt x="480" y="603"/>
                </a:cubicBezTo>
                <a:cubicBezTo>
                  <a:pt x="549" y="578"/>
                  <a:pt x="609" y="551"/>
                  <a:pt x="672" y="522"/>
                </a:cubicBezTo>
                <a:cubicBezTo>
                  <a:pt x="735" y="493"/>
                  <a:pt x="798" y="462"/>
                  <a:pt x="858" y="426"/>
                </a:cubicBezTo>
                <a:cubicBezTo>
                  <a:pt x="918" y="390"/>
                  <a:pt x="973" y="349"/>
                  <a:pt x="1032" y="303"/>
                </a:cubicBezTo>
                <a:cubicBezTo>
                  <a:pt x="1091" y="257"/>
                  <a:pt x="1163" y="197"/>
                  <a:pt x="1215" y="147"/>
                </a:cubicBezTo>
                <a:cubicBezTo>
                  <a:pt x="1267" y="97"/>
                  <a:pt x="1317" y="31"/>
                  <a:pt x="1344" y="0"/>
                </a:cubicBezTo>
              </a:path>
            </a:pathLst>
          </a:custGeom>
          <a:noFill/>
          <a:ln w="381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4730" name="Freeform 10"/>
          <p:cNvSpPr>
            <a:spLocks/>
          </p:cNvSpPr>
          <p:nvPr/>
        </p:nvSpPr>
        <p:spPr bwMode="auto">
          <a:xfrm>
            <a:off x="5005388" y="3162300"/>
            <a:ext cx="3157537" cy="1619250"/>
          </a:xfrm>
          <a:custGeom>
            <a:avLst/>
            <a:gdLst>
              <a:gd name="T0" fmla="*/ 12 w 1989"/>
              <a:gd name="T1" fmla="*/ 3 h 1020"/>
              <a:gd name="T2" fmla="*/ 0 w 1989"/>
              <a:gd name="T3" fmla="*/ 0 h 1020"/>
              <a:gd name="T4" fmla="*/ 261 w 1989"/>
              <a:gd name="T5" fmla="*/ 24 h 1020"/>
              <a:gd name="T6" fmla="*/ 450 w 1989"/>
              <a:gd name="T7" fmla="*/ 51 h 1020"/>
              <a:gd name="T8" fmla="*/ 696 w 1989"/>
              <a:gd name="T9" fmla="*/ 102 h 1020"/>
              <a:gd name="T10" fmla="*/ 879 w 1989"/>
              <a:gd name="T11" fmla="*/ 156 h 1020"/>
              <a:gd name="T12" fmla="*/ 1065 w 1989"/>
              <a:gd name="T13" fmla="*/ 228 h 1020"/>
              <a:gd name="T14" fmla="*/ 1308 w 1989"/>
              <a:gd name="T15" fmla="*/ 345 h 1020"/>
              <a:gd name="T16" fmla="*/ 1470 w 1989"/>
              <a:gd name="T17" fmla="*/ 459 h 1020"/>
              <a:gd name="T18" fmla="*/ 1584 w 1989"/>
              <a:gd name="T19" fmla="*/ 546 h 1020"/>
              <a:gd name="T20" fmla="*/ 1692 w 1989"/>
              <a:gd name="T21" fmla="*/ 642 h 1020"/>
              <a:gd name="T22" fmla="*/ 1785 w 1989"/>
              <a:gd name="T23" fmla="*/ 741 h 1020"/>
              <a:gd name="T24" fmla="*/ 1869 w 1989"/>
              <a:gd name="T25" fmla="*/ 849 h 1020"/>
              <a:gd name="T26" fmla="*/ 1968 w 1989"/>
              <a:gd name="T27" fmla="*/ 987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89" h="1020">
                <a:moveTo>
                  <a:pt x="12" y="3"/>
                </a:moveTo>
                <a:lnTo>
                  <a:pt x="0" y="0"/>
                </a:lnTo>
                <a:cubicBezTo>
                  <a:pt x="41" y="3"/>
                  <a:pt x="186" y="16"/>
                  <a:pt x="261" y="24"/>
                </a:cubicBezTo>
                <a:cubicBezTo>
                  <a:pt x="336" y="32"/>
                  <a:pt x="378" y="38"/>
                  <a:pt x="450" y="51"/>
                </a:cubicBezTo>
                <a:cubicBezTo>
                  <a:pt x="522" y="64"/>
                  <a:pt x="625" y="85"/>
                  <a:pt x="696" y="102"/>
                </a:cubicBezTo>
                <a:cubicBezTo>
                  <a:pt x="767" y="119"/>
                  <a:pt x="817" y="135"/>
                  <a:pt x="879" y="156"/>
                </a:cubicBezTo>
                <a:cubicBezTo>
                  <a:pt x="941" y="177"/>
                  <a:pt x="994" y="197"/>
                  <a:pt x="1065" y="228"/>
                </a:cubicBezTo>
                <a:cubicBezTo>
                  <a:pt x="1136" y="259"/>
                  <a:pt x="1241" y="306"/>
                  <a:pt x="1308" y="345"/>
                </a:cubicBezTo>
                <a:cubicBezTo>
                  <a:pt x="1375" y="384"/>
                  <a:pt x="1424" y="426"/>
                  <a:pt x="1470" y="459"/>
                </a:cubicBezTo>
                <a:cubicBezTo>
                  <a:pt x="1516" y="492"/>
                  <a:pt x="1547" y="516"/>
                  <a:pt x="1584" y="546"/>
                </a:cubicBezTo>
                <a:cubicBezTo>
                  <a:pt x="1621" y="576"/>
                  <a:pt x="1659" y="610"/>
                  <a:pt x="1692" y="642"/>
                </a:cubicBezTo>
                <a:cubicBezTo>
                  <a:pt x="1725" y="674"/>
                  <a:pt x="1756" y="707"/>
                  <a:pt x="1785" y="741"/>
                </a:cubicBezTo>
                <a:cubicBezTo>
                  <a:pt x="1814" y="775"/>
                  <a:pt x="1839" y="808"/>
                  <a:pt x="1869" y="849"/>
                </a:cubicBezTo>
                <a:cubicBezTo>
                  <a:pt x="1899" y="890"/>
                  <a:pt x="1989" y="1020"/>
                  <a:pt x="1968" y="987"/>
                </a:cubicBezTo>
              </a:path>
            </a:pathLst>
          </a:custGeom>
          <a:noFill/>
          <a:ln w="381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A5002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 name="Group 15"/>
          <p:cNvGrpSpPr>
            <a:grpSpLocks/>
          </p:cNvGrpSpPr>
          <p:nvPr/>
        </p:nvGrpSpPr>
        <p:grpSpPr bwMode="auto">
          <a:xfrm>
            <a:off x="4964113" y="3175000"/>
            <a:ext cx="3798887" cy="2754313"/>
            <a:chOff x="3127" y="2000"/>
            <a:chExt cx="2393" cy="1735"/>
          </a:xfrm>
        </p:grpSpPr>
        <p:sp>
          <p:nvSpPr>
            <p:cNvPr id="414732" name="Freeform 12"/>
            <p:cNvSpPr>
              <a:spLocks/>
            </p:cNvSpPr>
            <p:nvPr/>
          </p:nvSpPr>
          <p:spPr bwMode="auto">
            <a:xfrm>
              <a:off x="3127" y="2000"/>
              <a:ext cx="1992" cy="1735"/>
            </a:xfrm>
            <a:custGeom>
              <a:avLst/>
              <a:gdLst>
                <a:gd name="T0" fmla="*/ 642 w 1992"/>
                <a:gd name="T1" fmla="*/ 1719 h 1735"/>
                <a:gd name="T2" fmla="*/ 0 w 1992"/>
                <a:gd name="T3" fmla="*/ 1719 h 1735"/>
                <a:gd name="T4" fmla="*/ 25 w 1992"/>
                <a:gd name="T5" fmla="*/ 0 h 1735"/>
                <a:gd name="T6" fmla="*/ 617 w 1992"/>
                <a:gd name="T7" fmla="*/ 74 h 1735"/>
                <a:gd name="T8" fmla="*/ 699 w 1992"/>
                <a:gd name="T9" fmla="*/ 107 h 1735"/>
                <a:gd name="T10" fmla="*/ 938 w 1992"/>
                <a:gd name="T11" fmla="*/ 148 h 1735"/>
                <a:gd name="T12" fmla="*/ 1012 w 1992"/>
                <a:gd name="T13" fmla="*/ 189 h 1735"/>
                <a:gd name="T14" fmla="*/ 1070 w 1992"/>
                <a:gd name="T15" fmla="*/ 205 h 1735"/>
                <a:gd name="T16" fmla="*/ 1193 w 1992"/>
                <a:gd name="T17" fmla="*/ 263 h 1735"/>
                <a:gd name="T18" fmla="*/ 1218 w 1992"/>
                <a:gd name="T19" fmla="*/ 279 h 1735"/>
                <a:gd name="T20" fmla="*/ 1234 w 1992"/>
                <a:gd name="T21" fmla="*/ 296 h 1735"/>
                <a:gd name="T22" fmla="*/ 1292 w 1992"/>
                <a:gd name="T23" fmla="*/ 312 h 1735"/>
                <a:gd name="T24" fmla="*/ 1366 w 1992"/>
                <a:gd name="T25" fmla="*/ 337 h 1735"/>
                <a:gd name="T26" fmla="*/ 1399 w 1992"/>
                <a:gd name="T27" fmla="*/ 370 h 1735"/>
                <a:gd name="T28" fmla="*/ 1423 w 1992"/>
                <a:gd name="T29" fmla="*/ 395 h 1735"/>
                <a:gd name="T30" fmla="*/ 1448 w 1992"/>
                <a:gd name="T31" fmla="*/ 403 h 1735"/>
                <a:gd name="T32" fmla="*/ 1473 w 1992"/>
                <a:gd name="T33" fmla="*/ 419 h 1735"/>
                <a:gd name="T34" fmla="*/ 1547 w 1992"/>
                <a:gd name="T35" fmla="*/ 477 h 1735"/>
                <a:gd name="T36" fmla="*/ 1670 w 1992"/>
                <a:gd name="T37" fmla="*/ 592 h 1735"/>
                <a:gd name="T38" fmla="*/ 1744 w 1992"/>
                <a:gd name="T39" fmla="*/ 666 h 1735"/>
                <a:gd name="T40" fmla="*/ 1802 w 1992"/>
                <a:gd name="T41" fmla="*/ 715 h 1735"/>
                <a:gd name="T42" fmla="*/ 1827 w 1992"/>
                <a:gd name="T43" fmla="*/ 773 h 1735"/>
                <a:gd name="T44" fmla="*/ 1860 w 1992"/>
                <a:gd name="T45" fmla="*/ 822 h 1735"/>
                <a:gd name="T46" fmla="*/ 1901 w 1992"/>
                <a:gd name="T47" fmla="*/ 880 h 1735"/>
                <a:gd name="T48" fmla="*/ 1934 w 1992"/>
                <a:gd name="T49" fmla="*/ 913 h 1735"/>
                <a:gd name="T50" fmla="*/ 1975 w 1992"/>
                <a:gd name="T51" fmla="*/ 987 h 1735"/>
                <a:gd name="T52" fmla="*/ 1934 w 1992"/>
                <a:gd name="T53" fmla="*/ 1053 h 1735"/>
                <a:gd name="T54" fmla="*/ 1851 w 1992"/>
                <a:gd name="T55" fmla="*/ 1168 h 1735"/>
                <a:gd name="T56" fmla="*/ 1794 w 1992"/>
                <a:gd name="T57" fmla="*/ 1184 h 1735"/>
                <a:gd name="T58" fmla="*/ 1695 w 1992"/>
                <a:gd name="T59" fmla="*/ 1275 h 1735"/>
                <a:gd name="T60" fmla="*/ 1654 w 1992"/>
                <a:gd name="T61" fmla="*/ 1316 h 1735"/>
                <a:gd name="T62" fmla="*/ 1613 w 1992"/>
                <a:gd name="T63" fmla="*/ 1365 h 1735"/>
                <a:gd name="T64" fmla="*/ 1506 w 1992"/>
                <a:gd name="T65" fmla="*/ 1423 h 1735"/>
                <a:gd name="T66" fmla="*/ 1432 w 1992"/>
                <a:gd name="T67" fmla="*/ 1456 h 1735"/>
                <a:gd name="T68" fmla="*/ 1275 w 1992"/>
                <a:gd name="T69" fmla="*/ 1547 h 1735"/>
                <a:gd name="T70" fmla="*/ 1152 w 1992"/>
                <a:gd name="T71" fmla="*/ 1604 h 1735"/>
                <a:gd name="T72" fmla="*/ 1045 w 1992"/>
                <a:gd name="T73" fmla="*/ 1621 h 1735"/>
                <a:gd name="T74" fmla="*/ 856 w 1992"/>
                <a:gd name="T75" fmla="*/ 1637 h 1735"/>
                <a:gd name="T76" fmla="*/ 790 w 1992"/>
                <a:gd name="T77" fmla="*/ 1653 h 1735"/>
                <a:gd name="T78" fmla="*/ 757 w 1992"/>
                <a:gd name="T79" fmla="*/ 1670 h 1735"/>
                <a:gd name="T80" fmla="*/ 724 w 1992"/>
                <a:gd name="T81" fmla="*/ 1678 h 1735"/>
                <a:gd name="T82" fmla="*/ 708 w 1992"/>
                <a:gd name="T83" fmla="*/ 1695 h 1735"/>
                <a:gd name="T84" fmla="*/ 658 w 1992"/>
                <a:gd name="T85" fmla="*/ 1711 h 1735"/>
                <a:gd name="T86" fmla="*/ 642 w 1992"/>
                <a:gd name="T87" fmla="*/ 1719 h 1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92" h="1735">
                  <a:moveTo>
                    <a:pt x="642" y="1719"/>
                  </a:moveTo>
                  <a:lnTo>
                    <a:pt x="0" y="1719"/>
                  </a:lnTo>
                  <a:lnTo>
                    <a:pt x="25" y="0"/>
                  </a:lnTo>
                  <a:cubicBezTo>
                    <a:pt x="223" y="26"/>
                    <a:pt x="420" y="47"/>
                    <a:pt x="617" y="74"/>
                  </a:cubicBezTo>
                  <a:cubicBezTo>
                    <a:pt x="644" y="91"/>
                    <a:pt x="670" y="96"/>
                    <a:pt x="699" y="107"/>
                  </a:cubicBezTo>
                  <a:cubicBezTo>
                    <a:pt x="753" y="158"/>
                    <a:pt x="888" y="145"/>
                    <a:pt x="938" y="148"/>
                  </a:cubicBezTo>
                  <a:cubicBezTo>
                    <a:pt x="965" y="157"/>
                    <a:pt x="985" y="182"/>
                    <a:pt x="1012" y="189"/>
                  </a:cubicBezTo>
                  <a:cubicBezTo>
                    <a:pt x="1054" y="199"/>
                    <a:pt x="1034" y="194"/>
                    <a:pt x="1070" y="205"/>
                  </a:cubicBezTo>
                  <a:cubicBezTo>
                    <a:pt x="1108" y="232"/>
                    <a:pt x="1151" y="243"/>
                    <a:pt x="1193" y="263"/>
                  </a:cubicBezTo>
                  <a:cubicBezTo>
                    <a:pt x="1202" y="267"/>
                    <a:pt x="1210" y="273"/>
                    <a:pt x="1218" y="279"/>
                  </a:cubicBezTo>
                  <a:cubicBezTo>
                    <a:pt x="1224" y="284"/>
                    <a:pt x="1227" y="292"/>
                    <a:pt x="1234" y="296"/>
                  </a:cubicBezTo>
                  <a:cubicBezTo>
                    <a:pt x="1242" y="301"/>
                    <a:pt x="1286" y="310"/>
                    <a:pt x="1292" y="312"/>
                  </a:cubicBezTo>
                  <a:cubicBezTo>
                    <a:pt x="1317" y="320"/>
                    <a:pt x="1341" y="329"/>
                    <a:pt x="1366" y="337"/>
                  </a:cubicBezTo>
                  <a:cubicBezTo>
                    <a:pt x="1381" y="385"/>
                    <a:pt x="1361" y="344"/>
                    <a:pt x="1399" y="370"/>
                  </a:cubicBezTo>
                  <a:cubicBezTo>
                    <a:pt x="1409" y="376"/>
                    <a:pt x="1413" y="389"/>
                    <a:pt x="1423" y="395"/>
                  </a:cubicBezTo>
                  <a:cubicBezTo>
                    <a:pt x="1430" y="400"/>
                    <a:pt x="1440" y="399"/>
                    <a:pt x="1448" y="403"/>
                  </a:cubicBezTo>
                  <a:cubicBezTo>
                    <a:pt x="1457" y="407"/>
                    <a:pt x="1465" y="413"/>
                    <a:pt x="1473" y="419"/>
                  </a:cubicBezTo>
                  <a:cubicBezTo>
                    <a:pt x="1501" y="441"/>
                    <a:pt x="1512" y="466"/>
                    <a:pt x="1547" y="477"/>
                  </a:cubicBezTo>
                  <a:cubicBezTo>
                    <a:pt x="1588" y="516"/>
                    <a:pt x="1631" y="551"/>
                    <a:pt x="1670" y="592"/>
                  </a:cubicBezTo>
                  <a:cubicBezTo>
                    <a:pt x="1687" y="645"/>
                    <a:pt x="1702" y="638"/>
                    <a:pt x="1744" y="666"/>
                  </a:cubicBezTo>
                  <a:cubicBezTo>
                    <a:pt x="1759" y="709"/>
                    <a:pt x="1771" y="686"/>
                    <a:pt x="1802" y="715"/>
                  </a:cubicBezTo>
                  <a:cubicBezTo>
                    <a:pt x="1811" y="742"/>
                    <a:pt x="1810" y="746"/>
                    <a:pt x="1827" y="773"/>
                  </a:cubicBezTo>
                  <a:cubicBezTo>
                    <a:pt x="1837" y="790"/>
                    <a:pt x="1860" y="822"/>
                    <a:pt x="1860" y="822"/>
                  </a:cubicBezTo>
                  <a:cubicBezTo>
                    <a:pt x="1869" y="850"/>
                    <a:pt x="1880" y="860"/>
                    <a:pt x="1901" y="880"/>
                  </a:cubicBezTo>
                  <a:cubicBezTo>
                    <a:pt x="1922" y="947"/>
                    <a:pt x="1890" y="869"/>
                    <a:pt x="1934" y="913"/>
                  </a:cubicBezTo>
                  <a:cubicBezTo>
                    <a:pt x="1956" y="935"/>
                    <a:pt x="1951" y="965"/>
                    <a:pt x="1975" y="987"/>
                  </a:cubicBezTo>
                  <a:cubicBezTo>
                    <a:pt x="1992" y="1040"/>
                    <a:pt x="1962" y="1003"/>
                    <a:pt x="1934" y="1053"/>
                  </a:cubicBezTo>
                  <a:cubicBezTo>
                    <a:pt x="1919" y="1079"/>
                    <a:pt x="1879" y="1155"/>
                    <a:pt x="1851" y="1168"/>
                  </a:cubicBezTo>
                  <a:cubicBezTo>
                    <a:pt x="1833" y="1177"/>
                    <a:pt x="1813" y="1178"/>
                    <a:pt x="1794" y="1184"/>
                  </a:cubicBezTo>
                  <a:cubicBezTo>
                    <a:pt x="1763" y="1216"/>
                    <a:pt x="1733" y="1251"/>
                    <a:pt x="1695" y="1275"/>
                  </a:cubicBezTo>
                  <a:cubicBezTo>
                    <a:pt x="1666" y="1318"/>
                    <a:pt x="1693" y="1285"/>
                    <a:pt x="1654" y="1316"/>
                  </a:cubicBezTo>
                  <a:cubicBezTo>
                    <a:pt x="1591" y="1367"/>
                    <a:pt x="1703" y="1286"/>
                    <a:pt x="1613" y="1365"/>
                  </a:cubicBezTo>
                  <a:cubicBezTo>
                    <a:pt x="1584" y="1391"/>
                    <a:pt x="1543" y="1411"/>
                    <a:pt x="1506" y="1423"/>
                  </a:cubicBezTo>
                  <a:cubicBezTo>
                    <a:pt x="1484" y="1445"/>
                    <a:pt x="1461" y="1446"/>
                    <a:pt x="1432" y="1456"/>
                  </a:cubicBezTo>
                  <a:cubicBezTo>
                    <a:pt x="1391" y="1495"/>
                    <a:pt x="1329" y="1532"/>
                    <a:pt x="1275" y="1547"/>
                  </a:cubicBezTo>
                  <a:cubicBezTo>
                    <a:pt x="1240" y="1570"/>
                    <a:pt x="1193" y="1594"/>
                    <a:pt x="1152" y="1604"/>
                  </a:cubicBezTo>
                  <a:cubicBezTo>
                    <a:pt x="1117" y="1612"/>
                    <a:pt x="1045" y="1621"/>
                    <a:pt x="1045" y="1621"/>
                  </a:cubicBezTo>
                  <a:cubicBezTo>
                    <a:pt x="961" y="1648"/>
                    <a:pt x="1073" y="1614"/>
                    <a:pt x="856" y="1637"/>
                  </a:cubicBezTo>
                  <a:cubicBezTo>
                    <a:pt x="833" y="1639"/>
                    <a:pt x="790" y="1653"/>
                    <a:pt x="790" y="1653"/>
                  </a:cubicBezTo>
                  <a:cubicBezTo>
                    <a:pt x="779" y="1659"/>
                    <a:pt x="769" y="1666"/>
                    <a:pt x="757" y="1670"/>
                  </a:cubicBezTo>
                  <a:cubicBezTo>
                    <a:pt x="746" y="1674"/>
                    <a:pt x="734" y="1673"/>
                    <a:pt x="724" y="1678"/>
                  </a:cubicBezTo>
                  <a:cubicBezTo>
                    <a:pt x="717" y="1682"/>
                    <a:pt x="715" y="1692"/>
                    <a:pt x="708" y="1695"/>
                  </a:cubicBezTo>
                  <a:cubicBezTo>
                    <a:pt x="692" y="1703"/>
                    <a:pt x="658" y="1711"/>
                    <a:pt x="658" y="1711"/>
                  </a:cubicBezTo>
                  <a:cubicBezTo>
                    <a:pt x="629" y="1730"/>
                    <a:pt x="626" y="1735"/>
                    <a:pt x="642" y="1719"/>
                  </a:cubicBezTo>
                  <a:close/>
                </a:path>
              </a:pathLst>
            </a:custGeom>
            <a:solidFill>
              <a:srgbClr val="FF00FF">
                <a:alpha val="17000"/>
              </a:srgbClr>
            </a:solidFill>
            <a:ln>
              <a:noFill/>
            </a:ln>
            <a:effectLst/>
            <a:extLst>
              <a:ext uri="{91240B29-F687-4F45-9708-019B960494DF}">
                <a14:hiddenLine xmlns:a14="http://schemas.microsoft.com/office/drawing/2010/main" w="9525" cap="flat" cmpd="sng">
                  <a:solidFill>
                    <a:schemeClr val="tx2"/>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4733" name="Rectangle 13"/>
            <p:cNvSpPr>
              <a:spLocks noChangeArrowheads="1"/>
            </p:cNvSpPr>
            <p:nvPr/>
          </p:nvSpPr>
          <p:spPr bwMode="auto">
            <a:xfrm>
              <a:off x="3456" y="2352"/>
              <a:ext cx="538" cy="26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008000"/>
                  </a:solidFill>
                </a:rPr>
                <a:t>安全</a:t>
              </a:r>
              <a:r>
                <a:rPr lang="zh-CN" altLang="en-US" sz="1800">
                  <a:solidFill>
                    <a:srgbClr val="003300"/>
                  </a:solidFill>
                </a:rPr>
                <a:t> </a:t>
              </a:r>
            </a:p>
          </p:txBody>
        </p:sp>
        <p:sp>
          <p:nvSpPr>
            <p:cNvPr id="414734" name="Rectangle 14"/>
            <p:cNvSpPr>
              <a:spLocks noChangeArrowheads="1"/>
            </p:cNvSpPr>
            <p:nvPr/>
          </p:nvSpPr>
          <p:spPr bwMode="auto">
            <a:xfrm>
              <a:off x="4789" y="2208"/>
              <a:ext cx="731" cy="26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FF0000"/>
                  </a:solidFill>
                </a:rPr>
                <a:t>不安全</a:t>
              </a:r>
              <a:r>
                <a:rPr lang="zh-CN" altLang="en-US" sz="1800">
                  <a:solidFill>
                    <a:srgbClr val="003300"/>
                  </a:solidFill>
                </a:rPr>
                <a:t> </a:t>
              </a:r>
            </a:p>
          </p:txBody>
        </p:sp>
      </p:gr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5746"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415747" name="Rectangle 3"/>
          <p:cNvSpPr>
            <a:spLocks noChangeArrowheads="1"/>
          </p:cNvSpPr>
          <p:nvPr/>
        </p:nvSpPr>
        <p:spPr bwMode="auto">
          <a:xfrm>
            <a:off x="611188" y="1066800"/>
            <a:ext cx="8532812"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七</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正截面受压承载力</a:t>
            </a:r>
            <a:r>
              <a:rPr lang="en-US" altLang="zh-CN" sz="2800" i="1">
                <a:solidFill>
                  <a:srgbClr val="A50021"/>
                </a:solidFill>
                <a:ea typeface="华文中宋" pitchFamily="2" charset="-122"/>
              </a:rPr>
              <a:t>N</a:t>
            </a:r>
            <a:r>
              <a:rPr lang="en-US" altLang="zh-CN" sz="2800" baseline="-25000">
                <a:solidFill>
                  <a:srgbClr val="A50021"/>
                </a:solidFill>
                <a:ea typeface="华文中宋" pitchFamily="2" charset="-122"/>
              </a:rPr>
              <a:t>u</a:t>
            </a:r>
            <a:r>
              <a:rPr lang="zh-CN" altLang="en-US" sz="2800">
                <a:solidFill>
                  <a:srgbClr val="A50021"/>
                </a:solidFill>
                <a:latin typeface="华文中宋" pitchFamily="2" charset="-122"/>
                <a:ea typeface="华文中宋" pitchFamily="2" charset="-122"/>
              </a:rPr>
              <a:t>和</a:t>
            </a:r>
            <a:r>
              <a:rPr lang="en-US" altLang="zh-CN" sz="2800" i="1">
                <a:solidFill>
                  <a:srgbClr val="A50021"/>
                </a:solidFill>
                <a:ea typeface="华文中宋" pitchFamily="2" charset="-122"/>
              </a:rPr>
              <a:t>M</a:t>
            </a:r>
            <a:r>
              <a:rPr lang="en-US" altLang="zh-CN" sz="2800" baseline="-25000">
                <a:solidFill>
                  <a:srgbClr val="A50021"/>
                </a:solidFill>
                <a:ea typeface="华文中宋" pitchFamily="2" charset="-122"/>
              </a:rPr>
              <a:t>u</a:t>
            </a:r>
            <a:r>
              <a:rPr lang="zh-CN" altLang="en-US" sz="2800">
                <a:solidFill>
                  <a:srgbClr val="A50021"/>
                </a:solidFill>
                <a:latin typeface="华文中宋" pitchFamily="2" charset="-122"/>
                <a:ea typeface="华文中宋" pitchFamily="2" charset="-122"/>
              </a:rPr>
              <a:t>之间的相关关系</a:t>
            </a:r>
            <a:r>
              <a:rPr lang="zh-CN" altLang="en-US"/>
              <a:t> </a:t>
            </a:r>
          </a:p>
          <a:p>
            <a:pPr algn="l">
              <a:lnSpc>
                <a:spcPct val="100000"/>
              </a:lnSpc>
              <a:spcBef>
                <a:spcPct val="0"/>
              </a:spcBef>
              <a:buClrTx/>
              <a:buFontTx/>
              <a:buNone/>
            </a:pPr>
            <a:r>
              <a:rPr lang="zh-CN" altLang="en-US">
                <a:solidFill>
                  <a:srgbClr val="990099"/>
                </a:solidFill>
              </a:rPr>
              <a:t>应用例</a:t>
            </a:r>
            <a:r>
              <a:rPr lang="en-US" altLang="zh-CN">
                <a:solidFill>
                  <a:srgbClr val="990099"/>
                </a:solidFill>
              </a:rPr>
              <a:t>1</a:t>
            </a:r>
          </a:p>
        </p:txBody>
      </p:sp>
      <p:sp>
        <p:nvSpPr>
          <p:cNvPr id="415748" name="Rectangle 4"/>
          <p:cNvSpPr>
            <a:spLocks noChangeArrowheads="1"/>
          </p:cNvSpPr>
          <p:nvPr/>
        </p:nvSpPr>
        <p:spPr bwMode="auto">
          <a:xfrm>
            <a:off x="609600" y="1981200"/>
            <a:ext cx="3657600" cy="74930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a:t>给定截面条件</a:t>
            </a:r>
            <a:r>
              <a:rPr lang="en-US" altLang="zh-CN"/>
              <a:t>,</a:t>
            </a:r>
            <a:r>
              <a:rPr lang="zh-CN" altLang="en-US"/>
              <a:t>已知荷载效应</a:t>
            </a:r>
            <a:r>
              <a:rPr lang="en-US" altLang="zh-CN"/>
              <a:t>,</a:t>
            </a:r>
            <a:r>
              <a:rPr lang="zh-CN" altLang="en-US"/>
              <a:t>可通过查表确定配筋</a:t>
            </a:r>
            <a:endParaRPr lang="zh-CN" altLang="en-US" baseline="30000"/>
          </a:p>
        </p:txBody>
      </p:sp>
      <p:sp>
        <p:nvSpPr>
          <p:cNvPr id="415749" name="Rectangle 5"/>
          <p:cNvSpPr>
            <a:spLocks noChangeArrowheads="1"/>
          </p:cNvSpPr>
          <p:nvPr/>
        </p:nvSpPr>
        <p:spPr bwMode="auto">
          <a:xfrm>
            <a:off x="685800" y="4572000"/>
            <a:ext cx="3657600" cy="122396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a:t>是非判断：</a:t>
            </a:r>
          </a:p>
          <a:p>
            <a:pPr algn="l"/>
            <a:r>
              <a:rPr lang="en-US" altLang="zh-CN"/>
              <a:t>1.</a:t>
            </a:r>
            <a:r>
              <a:rPr lang="en-US" altLang="zh-CN" i="1"/>
              <a:t>M</a:t>
            </a:r>
            <a:r>
              <a:rPr lang="en-US" altLang="zh-CN" baseline="-25000"/>
              <a:t>1</a:t>
            </a:r>
            <a:r>
              <a:rPr lang="en-US" altLang="zh-CN"/>
              <a:t>&lt;</a:t>
            </a:r>
            <a:r>
              <a:rPr lang="en-US" altLang="zh-CN" i="1"/>
              <a:t>M</a:t>
            </a:r>
            <a:r>
              <a:rPr lang="en-US" altLang="zh-CN" baseline="-25000"/>
              <a:t>2</a:t>
            </a:r>
            <a:r>
              <a:rPr lang="en-US" altLang="zh-CN"/>
              <a:t>,</a:t>
            </a:r>
            <a:r>
              <a:rPr lang="zh-CN" altLang="en-US"/>
              <a:t>则</a:t>
            </a:r>
            <a:r>
              <a:rPr lang="en-US" altLang="zh-CN" i="1"/>
              <a:t>A</a:t>
            </a:r>
            <a:r>
              <a:rPr lang="en-US" altLang="zh-CN" baseline="-25000"/>
              <a:t>s1</a:t>
            </a:r>
            <a:r>
              <a:rPr lang="en-US" altLang="zh-CN"/>
              <a:t>&lt;</a:t>
            </a:r>
            <a:r>
              <a:rPr lang="en-US" altLang="zh-CN" i="1"/>
              <a:t>A</a:t>
            </a:r>
            <a:r>
              <a:rPr lang="en-US" altLang="zh-CN" baseline="-25000"/>
              <a:t>s2  </a:t>
            </a:r>
            <a:r>
              <a:rPr lang="zh-CN" altLang="en-US"/>
              <a:t>？</a:t>
            </a:r>
            <a:endParaRPr lang="zh-CN" altLang="en-US" baseline="-25000"/>
          </a:p>
          <a:p>
            <a:pPr algn="l"/>
            <a:r>
              <a:rPr lang="en-US" altLang="zh-CN"/>
              <a:t>2.</a:t>
            </a:r>
            <a:r>
              <a:rPr lang="en-US" altLang="zh-CN" i="1"/>
              <a:t>N</a:t>
            </a:r>
            <a:r>
              <a:rPr lang="en-US" altLang="zh-CN" baseline="-25000"/>
              <a:t>1</a:t>
            </a:r>
            <a:r>
              <a:rPr lang="en-US" altLang="zh-CN"/>
              <a:t>&lt;</a:t>
            </a:r>
            <a:r>
              <a:rPr lang="en-US" altLang="zh-CN" i="1"/>
              <a:t>N</a:t>
            </a:r>
            <a:r>
              <a:rPr lang="en-US" altLang="zh-CN" baseline="-25000"/>
              <a:t>2</a:t>
            </a:r>
            <a:r>
              <a:rPr lang="en-US" altLang="zh-CN"/>
              <a:t>,</a:t>
            </a:r>
            <a:r>
              <a:rPr lang="zh-CN" altLang="en-US"/>
              <a:t>则</a:t>
            </a:r>
            <a:r>
              <a:rPr lang="en-US" altLang="zh-CN" i="1"/>
              <a:t>A</a:t>
            </a:r>
            <a:r>
              <a:rPr lang="en-US" altLang="zh-CN" baseline="-25000"/>
              <a:t>s1</a:t>
            </a:r>
            <a:r>
              <a:rPr lang="en-US" altLang="zh-CN"/>
              <a:t>&lt;</a:t>
            </a:r>
            <a:r>
              <a:rPr lang="en-US" altLang="zh-CN" i="1"/>
              <a:t>A</a:t>
            </a:r>
            <a:r>
              <a:rPr lang="en-US" altLang="zh-CN" baseline="-25000"/>
              <a:t>s2     </a:t>
            </a:r>
            <a:r>
              <a:rPr lang="zh-CN" altLang="en-US"/>
              <a:t>？</a:t>
            </a:r>
          </a:p>
        </p:txBody>
      </p:sp>
      <p:pic>
        <p:nvPicPr>
          <p:cNvPr id="415750" name="Picture 6" descr="gj0724"/>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r="4031"/>
          <a:stretch>
            <a:fillRect/>
          </a:stretch>
        </p:blipFill>
        <p:spPr bwMode="auto">
          <a:xfrm>
            <a:off x="4343400" y="1905000"/>
            <a:ext cx="4837113" cy="4211638"/>
          </a:xfrm>
          <a:prstGeom prst="rect">
            <a:avLst/>
          </a:prstGeom>
          <a:noFill/>
          <a:extLst>
            <a:ext uri="{909E8E84-426E-40DD-AFC4-6F175D3DCCD1}">
              <a14:hiddenFill xmlns:a14="http://schemas.microsoft.com/office/drawing/2010/main">
                <a:solidFill>
                  <a:srgbClr val="FFFFFF"/>
                </a:solidFill>
              </a14:hiddenFill>
            </a:ext>
          </a:extLst>
        </p:spPr>
      </p:pic>
      <p:sp>
        <p:nvSpPr>
          <p:cNvPr id="415751" name="Rectangle 7"/>
          <p:cNvSpPr>
            <a:spLocks noChangeArrowheads="1"/>
          </p:cNvSpPr>
          <p:nvPr/>
        </p:nvSpPr>
        <p:spPr bwMode="auto">
          <a:xfrm>
            <a:off x="762000" y="4038600"/>
            <a:ext cx="1255713" cy="457200"/>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00000"/>
              </a:lnSpc>
              <a:spcBef>
                <a:spcPct val="0"/>
              </a:spcBef>
              <a:buClrTx/>
              <a:buFontTx/>
              <a:buNone/>
            </a:pPr>
            <a:r>
              <a:rPr lang="zh-CN" altLang="en-US">
                <a:solidFill>
                  <a:srgbClr val="990099"/>
                </a:solidFill>
              </a:rPr>
              <a:t>应用例</a:t>
            </a:r>
            <a:r>
              <a:rPr lang="en-US" altLang="zh-CN">
                <a:solidFill>
                  <a:srgbClr val="990099"/>
                </a:solidFill>
              </a:rPr>
              <a:t>2</a:t>
            </a:r>
          </a:p>
        </p:txBody>
      </p:sp>
      <p:sp>
        <p:nvSpPr>
          <p:cNvPr id="415752" name="Rectangle 8"/>
          <p:cNvSpPr>
            <a:spLocks noChangeArrowheads="1"/>
          </p:cNvSpPr>
          <p:nvPr/>
        </p:nvSpPr>
        <p:spPr bwMode="auto">
          <a:xfrm>
            <a:off x="609600" y="2743200"/>
            <a:ext cx="4572000" cy="1036638"/>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dirty="0">
                <a:solidFill>
                  <a:schemeClr val="tx2"/>
                </a:solidFill>
              </a:rPr>
              <a:t>例如：</a:t>
            </a:r>
          </a:p>
          <a:p>
            <a:pPr algn="l"/>
            <a:r>
              <a:rPr lang="en-US" altLang="zh-CN" sz="2000" i="1" dirty="0">
                <a:solidFill>
                  <a:schemeClr val="tx2"/>
                </a:solidFill>
              </a:rPr>
              <a:t>N</a:t>
            </a:r>
            <a:r>
              <a:rPr lang="zh-CN" altLang="en-US" sz="2000" dirty="0">
                <a:solidFill>
                  <a:schemeClr val="tx2"/>
                </a:solidFill>
              </a:rPr>
              <a:t>＝</a:t>
            </a:r>
            <a:r>
              <a:rPr lang="en-US" altLang="zh-CN" sz="2000" dirty="0">
                <a:solidFill>
                  <a:schemeClr val="tx2"/>
                </a:solidFill>
              </a:rPr>
              <a:t>180KN</a:t>
            </a:r>
            <a:r>
              <a:rPr lang="zh-CN" altLang="en-US" sz="2000" dirty="0">
                <a:solidFill>
                  <a:schemeClr val="tx2"/>
                </a:solidFill>
              </a:rPr>
              <a:t>，</a:t>
            </a:r>
            <a:r>
              <a:rPr lang="en-US" altLang="zh-CN" sz="2000" i="1" dirty="0">
                <a:solidFill>
                  <a:schemeClr val="tx2"/>
                </a:solidFill>
              </a:rPr>
              <a:t>M</a:t>
            </a:r>
            <a:r>
              <a:rPr lang="en-US" altLang="zh-CN" sz="2000" dirty="0">
                <a:solidFill>
                  <a:schemeClr val="tx2"/>
                </a:solidFill>
              </a:rPr>
              <a:t>=50KN·m</a:t>
            </a:r>
          </a:p>
          <a:p>
            <a:pPr algn="l"/>
            <a:r>
              <a:rPr lang="zh-CN" altLang="en-US" sz="2000" dirty="0">
                <a:solidFill>
                  <a:schemeClr val="tx2"/>
                </a:solidFill>
              </a:rPr>
              <a:t>查表可得</a:t>
            </a:r>
            <a:r>
              <a:rPr lang="en-US" altLang="zh-CN" sz="2000" i="1" dirty="0">
                <a:solidFill>
                  <a:schemeClr val="tx2"/>
                </a:solidFill>
              </a:rPr>
              <a:t>A</a:t>
            </a:r>
            <a:r>
              <a:rPr lang="en-US" altLang="zh-CN" sz="2000" baseline="-25000" dirty="0">
                <a:solidFill>
                  <a:schemeClr val="tx2"/>
                </a:solidFill>
              </a:rPr>
              <a:t>s</a:t>
            </a:r>
            <a:r>
              <a:rPr lang="en-US" altLang="zh-CN" sz="2000" dirty="0">
                <a:solidFill>
                  <a:schemeClr val="tx2"/>
                </a:solidFill>
              </a:rPr>
              <a:t>= </a:t>
            </a:r>
            <a:r>
              <a:rPr lang="en-US" altLang="zh-CN" sz="2000" i="1" dirty="0">
                <a:solidFill>
                  <a:schemeClr val="tx2"/>
                </a:solidFill>
              </a:rPr>
              <a:t>A</a:t>
            </a:r>
            <a:r>
              <a:rPr lang="en-US" altLang="zh-CN" sz="2000" baseline="-25000" dirty="0">
                <a:solidFill>
                  <a:schemeClr val="tx2"/>
                </a:solidFill>
              </a:rPr>
              <a:t>s</a:t>
            </a:r>
            <a:r>
              <a:rPr lang="en-US" altLang="zh-CN" sz="2000" dirty="0">
                <a:solidFill>
                  <a:schemeClr val="tx2"/>
                </a:solidFill>
              </a:rPr>
              <a:t>’=1000mm</a:t>
            </a:r>
            <a:r>
              <a:rPr lang="en-US" altLang="zh-CN" sz="2000" baseline="30000" dirty="0">
                <a:solidFill>
                  <a:schemeClr val="tx2"/>
                </a:solidFill>
              </a:rPr>
              <a:t>2</a:t>
            </a:r>
            <a:endParaRPr lang="en-US" altLang="zh-CN" dirty="0">
              <a:solidFill>
                <a:schemeClr val="tx1"/>
              </a:solidFill>
            </a:endParaRPr>
          </a:p>
        </p:txBody>
      </p:sp>
      <p:sp>
        <p:nvSpPr>
          <p:cNvPr id="415753" name="Line 9"/>
          <p:cNvSpPr>
            <a:spLocks noChangeShapeType="1"/>
          </p:cNvSpPr>
          <p:nvPr/>
        </p:nvSpPr>
        <p:spPr bwMode="auto">
          <a:xfrm>
            <a:off x="4752975" y="3381375"/>
            <a:ext cx="72390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5754" name="Line 10"/>
          <p:cNvSpPr>
            <a:spLocks noChangeShapeType="1"/>
          </p:cNvSpPr>
          <p:nvPr/>
        </p:nvSpPr>
        <p:spPr bwMode="auto">
          <a:xfrm>
            <a:off x="5486400" y="3381375"/>
            <a:ext cx="0" cy="2447925"/>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57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49" grpId="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416771" name="Rectangle 3"/>
          <p:cNvSpPr>
            <a:spLocks noChangeArrowheads="1"/>
          </p:cNvSpPr>
          <p:nvPr/>
        </p:nvSpPr>
        <p:spPr bwMode="auto">
          <a:xfrm>
            <a:off x="611188" y="1066800"/>
            <a:ext cx="8532812"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七</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正截面受压承载力</a:t>
            </a:r>
            <a:r>
              <a:rPr lang="en-US" altLang="zh-CN" sz="2800" i="1">
                <a:solidFill>
                  <a:srgbClr val="A50021"/>
                </a:solidFill>
                <a:ea typeface="华文中宋" pitchFamily="2" charset="-122"/>
              </a:rPr>
              <a:t>N</a:t>
            </a:r>
            <a:r>
              <a:rPr lang="en-US" altLang="zh-CN" sz="2800" baseline="-25000">
                <a:solidFill>
                  <a:srgbClr val="A50021"/>
                </a:solidFill>
                <a:ea typeface="华文中宋" pitchFamily="2" charset="-122"/>
              </a:rPr>
              <a:t>u</a:t>
            </a:r>
            <a:r>
              <a:rPr lang="zh-CN" altLang="en-US" sz="2800">
                <a:solidFill>
                  <a:srgbClr val="A50021"/>
                </a:solidFill>
                <a:latin typeface="华文中宋" pitchFamily="2" charset="-122"/>
                <a:ea typeface="华文中宋" pitchFamily="2" charset="-122"/>
              </a:rPr>
              <a:t>和</a:t>
            </a:r>
            <a:r>
              <a:rPr lang="en-US" altLang="zh-CN" sz="2800" i="1">
                <a:solidFill>
                  <a:srgbClr val="A50021"/>
                </a:solidFill>
                <a:ea typeface="华文中宋" pitchFamily="2" charset="-122"/>
              </a:rPr>
              <a:t>M</a:t>
            </a:r>
            <a:r>
              <a:rPr lang="en-US" altLang="zh-CN" sz="2800" baseline="-25000">
                <a:solidFill>
                  <a:srgbClr val="A50021"/>
                </a:solidFill>
                <a:ea typeface="华文中宋" pitchFamily="2" charset="-122"/>
              </a:rPr>
              <a:t>u</a:t>
            </a:r>
            <a:r>
              <a:rPr lang="zh-CN" altLang="en-US" sz="2800">
                <a:solidFill>
                  <a:srgbClr val="A50021"/>
                </a:solidFill>
                <a:latin typeface="华文中宋" pitchFamily="2" charset="-122"/>
                <a:ea typeface="华文中宋" pitchFamily="2" charset="-122"/>
              </a:rPr>
              <a:t>之间的相关关系</a:t>
            </a:r>
            <a:r>
              <a:rPr lang="zh-CN" altLang="en-US"/>
              <a:t> </a:t>
            </a:r>
          </a:p>
          <a:p>
            <a:pPr algn="l">
              <a:lnSpc>
                <a:spcPct val="100000"/>
              </a:lnSpc>
              <a:spcBef>
                <a:spcPct val="0"/>
              </a:spcBef>
              <a:buClrTx/>
              <a:buFontTx/>
              <a:buNone/>
            </a:pPr>
            <a:r>
              <a:rPr lang="zh-CN" altLang="en-US">
                <a:solidFill>
                  <a:srgbClr val="990099"/>
                </a:solidFill>
              </a:rPr>
              <a:t>应用例</a:t>
            </a:r>
            <a:r>
              <a:rPr lang="en-US" altLang="zh-CN">
                <a:solidFill>
                  <a:srgbClr val="990099"/>
                </a:solidFill>
              </a:rPr>
              <a:t>2</a:t>
            </a:r>
          </a:p>
        </p:txBody>
      </p:sp>
      <p:pic>
        <p:nvPicPr>
          <p:cNvPr id="416772" name="Picture 4" descr="gj0724"/>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r="4031"/>
          <a:stretch>
            <a:fillRect/>
          </a:stretch>
        </p:blipFill>
        <p:spPr bwMode="auto">
          <a:xfrm>
            <a:off x="4343400" y="1905000"/>
            <a:ext cx="4837113" cy="4211638"/>
          </a:xfrm>
          <a:prstGeom prst="rect">
            <a:avLst/>
          </a:prstGeom>
          <a:noFill/>
          <a:extLst>
            <a:ext uri="{909E8E84-426E-40DD-AFC4-6F175D3DCCD1}">
              <a14:hiddenFill xmlns:a14="http://schemas.microsoft.com/office/drawing/2010/main">
                <a:solidFill>
                  <a:srgbClr val="FFFFFF"/>
                </a:solidFill>
              </a14:hiddenFill>
            </a:ext>
          </a:extLst>
        </p:spPr>
      </p:pic>
      <p:sp>
        <p:nvSpPr>
          <p:cNvPr id="416773" name="Rectangle 5"/>
          <p:cNvSpPr>
            <a:spLocks noChangeArrowheads="1"/>
          </p:cNvSpPr>
          <p:nvPr/>
        </p:nvSpPr>
        <p:spPr bwMode="auto">
          <a:xfrm>
            <a:off x="76200" y="2057400"/>
            <a:ext cx="4572000" cy="240506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r>
              <a:rPr lang="en-US" altLang="zh-CN"/>
              <a:t>1.</a:t>
            </a:r>
            <a:r>
              <a:rPr lang="en-US" altLang="zh-CN" i="1"/>
              <a:t>M</a:t>
            </a:r>
            <a:r>
              <a:rPr lang="en-US" altLang="zh-CN" baseline="-25000"/>
              <a:t>1</a:t>
            </a:r>
            <a:r>
              <a:rPr lang="en-US" altLang="zh-CN"/>
              <a:t>&lt;</a:t>
            </a:r>
            <a:r>
              <a:rPr lang="en-US" altLang="zh-CN" i="1"/>
              <a:t>M</a:t>
            </a:r>
            <a:r>
              <a:rPr lang="en-US" altLang="zh-CN" baseline="-25000"/>
              <a:t>2</a:t>
            </a:r>
            <a:r>
              <a:rPr lang="en-US" altLang="zh-CN"/>
              <a:t>,</a:t>
            </a:r>
            <a:r>
              <a:rPr lang="zh-CN" altLang="en-US"/>
              <a:t>则</a:t>
            </a:r>
            <a:r>
              <a:rPr lang="en-US" altLang="zh-CN" i="1"/>
              <a:t>A</a:t>
            </a:r>
            <a:r>
              <a:rPr lang="en-US" altLang="zh-CN" baseline="-25000"/>
              <a:t>s1</a:t>
            </a:r>
            <a:r>
              <a:rPr lang="en-US" altLang="zh-CN"/>
              <a:t>&lt;</a:t>
            </a:r>
            <a:r>
              <a:rPr lang="en-US" altLang="zh-CN" i="1"/>
              <a:t>A</a:t>
            </a:r>
            <a:r>
              <a:rPr lang="en-US" altLang="zh-CN" baseline="-25000"/>
              <a:t>s2</a:t>
            </a:r>
            <a:r>
              <a:rPr lang="en-US" altLang="zh-CN"/>
              <a:t>  </a:t>
            </a:r>
            <a:r>
              <a:rPr lang="zh-CN" altLang="en-US"/>
              <a:t>？</a:t>
            </a:r>
          </a:p>
          <a:p>
            <a:pPr marL="342900" indent="-342900" algn="l">
              <a:spcBef>
                <a:spcPct val="50000"/>
              </a:spcBef>
              <a:spcAft>
                <a:spcPct val="50000"/>
              </a:spcAft>
            </a:pPr>
            <a:r>
              <a:rPr lang="zh-CN" altLang="en-US" sz="1800">
                <a:solidFill>
                  <a:schemeClr val="tx2"/>
                </a:solidFill>
                <a:ea typeface="楷体_GB2312" pitchFamily="49" charset="-122"/>
              </a:rPr>
              <a:t>单位：</a:t>
            </a:r>
            <a:r>
              <a:rPr lang="en-US" altLang="zh-CN" sz="1800" i="1">
                <a:solidFill>
                  <a:schemeClr val="tx2"/>
                </a:solidFill>
                <a:ea typeface="楷体_GB2312" pitchFamily="49" charset="-122"/>
              </a:rPr>
              <a:t>N</a:t>
            </a:r>
            <a:r>
              <a:rPr lang="en-US" altLang="zh-CN" sz="1800">
                <a:solidFill>
                  <a:schemeClr val="tx2"/>
                </a:solidFill>
                <a:ea typeface="楷体_GB2312" pitchFamily="49" charset="-122"/>
              </a:rPr>
              <a:t>(kN) , </a:t>
            </a:r>
            <a:r>
              <a:rPr lang="en-US" altLang="zh-CN" sz="1800" i="1">
                <a:solidFill>
                  <a:schemeClr val="tx2"/>
                </a:solidFill>
                <a:ea typeface="楷体_GB2312" pitchFamily="49" charset="-122"/>
              </a:rPr>
              <a:t>M</a:t>
            </a:r>
            <a:r>
              <a:rPr lang="en-US" altLang="zh-CN" sz="1800">
                <a:solidFill>
                  <a:schemeClr val="tx2"/>
                </a:solidFill>
                <a:ea typeface="楷体_GB2312" pitchFamily="49" charset="-122"/>
              </a:rPr>
              <a:t>(kN.m), </a:t>
            </a:r>
            <a:r>
              <a:rPr lang="en-US" altLang="zh-CN" sz="1800" i="1">
                <a:solidFill>
                  <a:schemeClr val="tx2"/>
                </a:solidFill>
                <a:ea typeface="楷体_GB2312" pitchFamily="49" charset="-122"/>
              </a:rPr>
              <a:t>A</a:t>
            </a:r>
            <a:r>
              <a:rPr lang="en-US" altLang="zh-CN" sz="1800" baseline="-25000">
                <a:solidFill>
                  <a:schemeClr val="tx2"/>
                </a:solidFill>
                <a:ea typeface="楷体_GB2312" pitchFamily="49" charset="-122"/>
              </a:rPr>
              <a:t>s</a:t>
            </a:r>
            <a:r>
              <a:rPr lang="en-US" altLang="zh-CN" sz="1800">
                <a:solidFill>
                  <a:schemeClr val="tx2"/>
                </a:solidFill>
                <a:ea typeface="楷体_GB2312" pitchFamily="49" charset="-122"/>
              </a:rPr>
              <a:t>(mm</a:t>
            </a:r>
            <a:r>
              <a:rPr lang="en-US" altLang="zh-CN" sz="1800" baseline="30000">
                <a:solidFill>
                  <a:schemeClr val="tx2"/>
                </a:solidFill>
                <a:ea typeface="楷体_GB2312" pitchFamily="49" charset="-122"/>
              </a:rPr>
              <a:t>2</a:t>
            </a:r>
            <a:r>
              <a:rPr lang="en-US" altLang="zh-CN" sz="1800">
                <a:solidFill>
                  <a:schemeClr val="tx2"/>
                </a:solidFill>
                <a:ea typeface="楷体_GB2312" pitchFamily="49" charset="-122"/>
              </a:rPr>
              <a:t>)</a:t>
            </a:r>
          </a:p>
          <a:p>
            <a:pPr marL="342900" indent="-342900" algn="l"/>
            <a:r>
              <a:rPr lang="en-US" altLang="zh-CN" sz="1800">
                <a:solidFill>
                  <a:schemeClr val="tx2"/>
                </a:solidFill>
              </a:rPr>
              <a:t>①</a:t>
            </a:r>
            <a:r>
              <a:rPr lang="zh-CN" altLang="en-US" sz="1800">
                <a:solidFill>
                  <a:schemeClr val="tx2"/>
                </a:solidFill>
              </a:rPr>
              <a:t>已知</a:t>
            </a:r>
            <a:r>
              <a:rPr lang="en-US" altLang="zh-CN" sz="1800" i="1">
                <a:solidFill>
                  <a:schemeClr val="tx2"/>
                </a:solidFill>
              </a:rPr>
              <a:t>N</a:t>
            </a:r>
            <a:r>
              <a:rPr lang="en-US" altLang="zh-CN" sz="1800" baseline="-25000">
                <a:solidFill>
                  <a:schemeClr val="tx2"/>
                </a:solidFill>
              </a:rPr>
              <a:t>1</a:t>
            </a:r>
            <a:r>
              <a:rPr lang="zh-CN" altLang="en-US" sz="1800">
                <a:solidFill>
                  <a:schemeClr val="tx2"/>
                </a:solidFill>
              </a:rPr>
              <a:t>＝</a:t>
            </a:r>
            <a:r>
              <a:rPr lang="en-US" altLang="zh-CN" sz="1800">
                <a:solidFill>
                  <a:schemeClr val="tx2"/>
                </a:solidFill>
              </a:rPr>
              <a:t>40</a:t>
            </a:r>
            <a:r>
              <a:rPr lang="zh-CN" altLang="en-US" sz="1800">
                <a:solidFill>
                  <a:schemeClr val="tx2"/>
                </a:solidFill>
              </a:rPr>
              <a:t>，当</a:t>
            </a:r>
            <a:r>
              <a:rPr lang="en-US" altLang="zh-CN" sz="1800" i="1">
                <a:solidFill>
                  <a:schemeClr val="tx2"/>
                </a:solidFill>
              </a:rPr>
              <a:t>M</a:t>
            </a:r>
            <a:r>
              <a:rPr lang="en-US" altLang="zh-CN" sz="1800" baseline="-25000">
                <a:solidFill>
                  <a:schemeClr val="tx2"/>
                </a:solidFill>
              </a:rPr>
              <a:t>1</a:t>
            </a:r>
            <a:r>
              <a:rPr lang="en-US" altLang="zh-CN" sz="1800">
                <a:solidFill>
                  <a:schemeClr val="tx2"/>
                </a:solidFill>
              </a:rPr>
              <a:t>(=80)&lt; </a:t>
            </a:r>
            <a:r>
              <a:rPr lang="en-US" altLang="zh-CN" sz="1800" i="1">
                <a:solidFill>
                  <a:schemeClr val="tx2"/>
                </a:solidFill>
              </a:rPr>
              <a:t>M</a:t>
            </a:r>
            <a:r>
              <a:rPr lang="en-US" altLang="zh-CN" sz="1800" baseline="-25000">
                <a:solidFill>
                  <a:schemeClr val="tx2"/>
                </a:solidFill>
              </a:rPr>
              <a:t>2</a:t>
            </a:r>
            <a:r>
              <a:rPr lang="en-US" altLang="zh-CN" sz="1800">
                <a:solidFill>
                  <a:schemeClr val="tx2"/>
                </a:solidFill>
              </a:rPr>
              <a:t>(=110), </a:t>
            </a:r>
          </a:p>
          <a:p>
            <a:pPr marL="342900" indent="-342900" algn="l">
              <a:lnSpc>
                <a:spcPct val="120000"/>
              </a:lnSpc>
            </a:pPr>
            <a:r>
              <a:rPr lang="en-US" altLang="zh-CN" sz="1800" i="1">
                <a:solidFill>
                  <a:schemeClr val="tx2"/>
                </a:solidFill>
              </a:rPr>
              <a:t>A</a:t>
            </a:r>
            <a:r>
              <a:rPr lang="en-US" altLang="zh-CN" sz="1800" baseline="-25000">
                <a:solidFill>
                  <a:schemeClr val="tx2"/>
                </a:solidFill>
              </a:rPr>
              <a:t>s1 </a:t>
            </a:r>
            <a:r>
              <a:rPr lang="en-US" altLang="zh-CN" sz="1800">
                <a:solidFill>
                  <a:schemeClr val="tx2"/>
                </a:solidFill>
              </a:rPr>
              <a:t>(=240)&lt; </a:t>
            </a:r>
            <a:r>
              <a:rPr lang="en-US" altLang="zh-CN" sz="1800" i="1">
                <a:solidFill>
                  <a:schemeClr val="tx2"/>
                </a:solidFill>
              </a:rPr>
              <a:t>A</a:t>
            </a:r>
            <a:r>
              <a:rPr lang="en-US" altLang="zh-CN" sz="1800" baseline="-25000">
                <a:solidFill>
                  <a:schemeClr val="tx2"/>
                </a:solidFill>
              </a:rPr>
              <a:t>s2</a:t>
            </a:r>
            <a:r>
              <a:rPr lang="en-US" altLang="zh-CN" sz="1800">
                <a:solidFill>
                  <a:schemeClr val="tx2"/>
                </a:solidFill>
              </a:rPr>
              <a:t>(=500)</a:t>
            </a:r>
          </a:p>
          <a:p>
            <a:pPr marL="342900" indent="-342900" algn="l">
              <a:lnSpc>
                <a:spcPct val="120000"/>
              </a:lnSpc>
            </a:pPr>
            <a:r>
              <a:rPr lang="en-US" altLang="zh-CN" sz="1800">
                <a:solidFill>
                  <a:schemeClr val="tx2"/>
                </a:solidFill>
              </a:rPr>
              <a:t>②</a:t>
            </a:r>
            <a:r>
              <a:rPr lang="zh-CN" altLang="en-US" sz="1800">
                <a:solidFill>
                  <a:schemeClr val="tx2"/>
                </a:solidFill>
              </a:rPr>
              <a:t>已知</a:t>
            </a:r>
            <a:r>
              <a:rPr lang="en-US" altLang="zh-CN" sz="1800" i="1">
                <a:solidFill>
                  <a:schemeClr val="tx2"/>
                </a:solidFill>
              </a:rPr>
              <a:t>N</a:t>
            </a:r>
            <a:r>
              <a:rPr lang="en-US" altLang="zh-CN" sz="1800" baseline="-25000">
                <a:solidFill>
                  <a:schemeClr val="tx2"/>
                </a:solidFill>
              </a:rPr>
              <a:t>2</a:t>
            </a:r>
            <a:r>
              <a:rPr lang="zh-CN" altLang="en-US" sz="1800">
                <a:solidFill>
                  <a:schemeClr val="tx2"/>
                </a:solidFill>
              </a:rPr>
              <a:t>＝</a:t>
            </a:r>
            <a:r>
              <a:rPr lang="en-US" altLang="zh-CN" sz="1800">
                <a:solidFill>
                  <a:schemeClr val="tx2"/>
                </a:solidFill>
              </a:rPr>
              <a:t>160</a:t>
            </a:r>
            <a:r>
              <a:rPr lang="zh-CN" altLang="en-US" sz="1800">
                <a:solidFill>
                  <a:schemeClr val="tx2"/>
                </a:solidFill>
              </a:rPr>
              <a:t>，当</a:t>
            </a:r>
            <a:r>
              <a:rPr lang="en-US" altLang="zh-CN" sz="1800" i="1">
                <a:solidFill>
                  <a:schemeClr val="tx2"/>
                </a:solidFill>
              </a:rPr>
              <a:t>M</a:t>
            </a:r>
            <a:r>
              <a:rPr lang="en-US" altLang="zh-CN" sz="1800" baseline="-25000">
                <a:solidFill>
                  <a:schemeClr val="tx2"/>
                </a:solidFill>
              </a:rPr>
              <a:t>1</a:t>
            </a:r>
            <a:r>
              <a:rPr lang="en-US" altLang="zh-CN" sz="1800">
                <a:solidFill>
                  <a:schemeClr val="tx2"/>
                </a:solidFill>
              </a:rPr>
              <a:t>(=80)&lt; </a:t>
            </a:r>
            <a:r>
              <a:rPr lang="en-US" altLang="zh-CN" sz="1800" i="1">
                <a:solidFill>
                  <a:schemeClr val="tx2"/>
                </a:solidFill>
              </a:rPr>
              <a:t>M</a:t>
            </a:r>
            <a:r>
              <a:rPr lang="en-US" altLang="zh-CN" sz="1800" baseline="-25000">
                <a:solidFill>
                  <a:schemeClr val="tx2"/>
                </a:solidFill>
              </a:rPr>
              <a:t>2</a:t>
            </a:r>
            <a:r>
              <a:rPr lang="en-US" altLang="zh-CN" sz="1800">
                <a:solidFill>
                  <a:schemeClr val="tx2"/>
                </a:solidFill>
              </a:rPr>
              <a:t>(=110), </a:t>
            </a:r>
          </a:p>
          <a:p>
            <a:pPr marL="342900" indent="-342900" algn="l">
              <a:lnSpc>
                <a:spcPct val="120000"/>
              </a:lnSpc>
            </a:pPr>
            <a:r>
              <a:rPr lang="en-US" altLang="zh-CN" sz="1800" i="1">
                <a:solidFill>
                  <a:schemeClr val="tx2"/>
                </a:solidFill>
              </a:rPr>
              <a:t>A</a:t>
            </a:r>
            <a:r>
              <a:rPr lang="en-US" altLang="zh-CN" sz="1800" baseline="-25000">
                <a:solidFill>
                  <a:schemeClr val="tx2"/>
                </a:solidFill>
              </a:rPr>
              <a:t>s1 </a:t>
            </a:r>
            <a:r>
              <a:rPr lang="en-US" altLang="zh-CN" sz="1800">
                <a:solidFill>
                  <a:schemeClr val="tx2"/>
                </a:solidFill>
              </a:rPr>
              <a:t>(=1000)&lt; </a:t>
            </a:r>
            <a:r>
              <a:rPr lang="en-US" altLang="zh-CN" sz="1800" i="1">
                <a:solidFill>
                  <a:schemeClr val="tx2"/>
                </a:solidFill>
              </a:rPr>
              <a:t>A</a:t>
            </a:r>
            <a:r>
              <a:rPr lang="en-US" altLang="zh-CN" sz="1800" baseline="-25000">
                <a:solidFill>
                  <a:schemeClr val="tx2"/>
                </a:solidFill>
              </a:rPr>
              <a:t>s2</a:t>
            </a:r>
            <a:r>
              <a:rPr lang="en-US" altLang="zh-CN" sz="1800">
                <a:solidFill>
                  <a:schemeClr val="tx2"/>
                </a:solidFill>
              </a:rPr>
              <a:t>(=1200)</a:t>
            </a:r>
          </a:p>
        </p:txBody>
      </p:sp>
      <p:sp>
        <p:nvSpPr>
          <p:cNvPr id="416774" name="Rectangle 6"/>
          <p:cNvSpPr>
            <a:spLocks noChangeArrowheads="1"/>
          </p:cNvSpPr>
          <p:nvPr/>
        </p:nvSpPr>
        <p:spPr bwMode="auto">
          <a:xfrm>
            <a:off x="247650" y="4724400"/>
            <a:ext cx="4019550" cy="777875"/>
          </a:xfrm>
          <a:prstGeom prst="rect">
            <a:avLst/>
          </a:prstGeom>
          <a:solidFill>
            <a:srgbClr val="FFFF99">
              <a:alpha val="50000"/>
            </a:srgbClr>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a:t>结论</a:t>
            </a:r>
            <a:r>
              <a:rPr lang="en-US" altLang="zh-CN" sz="2000"/>
              <a:t>1</a:t>
            </a:r>
            <a:r>
              <a:rPr lang="zh-CN" altLang="en-US" sz="2000"/>
              <a:t>：</a:t>
            </a:r>
          </a:p>
          <a:p>
            <a:pPr algn="l"/>
            <a:r>
              <a:rPr lang="en-US" altLang="zh-CN" sz="2000" i="1"/>
              <a:t>N</a:t>
            </a:r>
            <a:r>
              <a:rPr lang="zh-CN" altLang="en-US" sz="2000" i="1"/>
              <a:t>一定</a:t>
            </a:r>
            <a:r>
              <a:rPr lang="zh-CN" altLang="en-US" sz="2000"/>
              <a:t>，当</a:t>
            </a:r>
            <a:r>
              <a:rPr lang="en-US" altLang="zh-CN" sz="2000" i="1"/>
              <a:t>M</a:t>
            </a:r>
            <a:r>
              <a:rPr lang="en-US" altLang="zh-CN" sz="2000" baseline="-25000"/>
              <a:t>1</a:t>
            </a:r>
            <a:r>
              <a:rPr lang="en-US" altLang="zh-CN" sz="2000"/>
              <a:t>&lt; </a:t>
            </a:r>
            <a:r>
              <a:rPr lang="en-US" altLang="zh-CN" sz="2000" i="1"/>
              <a:t>M</a:t>
            </a:r>
            <a:r>
              <a:rPr lang="en-US" altLang="zh-CN" sz="2000" baseline="-25000"/>
              <a:t>2</a:t>
            </a:r>
            <a:r>
              <a:rPr lang="zh-CN" altLang="en-US" sz="2000"/>
              <a:t>时，则</a:t>
            </a:r>
            <a:r>
              <a:rPr lang="en-US" altLang="zh-CN" i="1"/>
              <a:t>A</a:t>
            </a:r>
            <a:r>
              <a:rPr lang="en-US" altLang="zh-CN" baseline="-25000"/>
              <a:t>s1</a:t>
            </a:r>
            <a:r>
              <a:rPr lang="en-US" altLang="zh-CN" sz="2000"/>
              <a:t>&lt; </a:t>
            </a:r>
            <a:r>
              <a:rPr lang="en-US" altLang="zh-CN" i="1"/>
              <a:t>A</a:t>
            </a:r>
            <a:r>
              <a:rPr lang="en-US" altLang="zh-CN" sz="2000" baseline="-25000"/>
              <a:t>s2</a:t>
            </a:r>
            <a:endParaRPr lang="en-US" altLang="zh-CN" sz="2000"/>
          </a:p>
        </p:txBody>
      </p:sp>
      <p:sp>
        <p:nvSpPr>
          <p:cNvPr id="416776" name="Line 8"/>
          <p:cNvSpPr>
            <a:spLocks noChangeShapeType="1"/>
          </p:cNvSpPr>
          <p:nvPr/>
        </p:nvSpPr>
        <p:spPr bwMode="auto">
          <a:xfrm>
            <a:off x="4781550" y="5289550"/>
            <a:ext cx="1122363"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6777" name="Line 9"/>
          <p:cNvSpPr>
            <a:spLocks noChangeShapeType="1"/>
          </p:cNvSpPr>
          <p:nvPr/>
        </p:nvSpPr>
        <p:spPr bwMode="auto">
          <a:xfrm>
            <a:off x="5900738" y="5275263"/>
            <a:ext cx="0" cy="561975"/>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6778" name="Line 10"/>
          <p:cNvSpPr>
            <a:spLocks noChangeShapeType="1"/>
          </p:cNvSpPr>
          <p:nvPr/>
        </p:nvSpPr>
        <p:spPr bwMode="auto">
          <a:xfrm>
            <a:off x="5891213" y="5291138"/>
            <a:ext cx="4318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6779" name="Line 11"/>
          <p:cNvSpPr>
            <a:spLocks noChangeShapeType="1"/>
          </p:cNvSpPr>
          <p:nvPr/>
        </p:nvSpPr>
        <p:spPr bwMode="auto">
          <a:xfrm flipV="1">
            <a:off x="6308725" y="5303838"/>
            <a:ext cx="0" cy="561975"/>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 name="Group 15"/>
          <p:cNvGrpSpPr>
            <a:grpSpLocks/>
          </p:cNvGrpSpPr>
          <p:nvPr/>
        </p:nvGrpSpPr>
        <p:grpSpPr bwMode="auto">
          <a:xfrm>
            <a:off x="5829300" y="5207000"/>
            <a:ext cx="558800" cy="152400"/>
            <a:chOff x="3672" y="3280"/>
            <a:chExt cx="352" cy="96"/>
          </a:xfrm>
        </p:grpSpPr>
        <p:sp>
          <p:nvSpPr>
            <p:cNvPr id="416781" name="Oval 13"/>
            <p:cNvSpPr>
              <a:spLocks noChangeArrowheads="1"/>
            </p:cNvSpPr>
            <p:nvPr/>
          </p:nvSpPr>
          <p:spPr bwMode="auto">
            <a:xfrm>
              <a:off x="3672" y="3280"/>
              <a:ext cx="96" cy="96"/>
            </a:xfrm>
            <a:prstGeom prst="ellipse">
              <a:avLst/>
            </a:prstGeom>
            <a:solidFill>
              <a:srgbClr val="FF0000"/>
            </a:solidFill>
            <a:ln>
              <a:noFill/>
            </a:ln>
            <a:effectLst/>
            <a:extLst>
              <a:ext uri="{91240B29-F687-4F45-9708-019B960494DF}">
                <a14:hiddenLine xmlns:a14="http://schemas.microsoft.com/office/drawing/2010/main" w="38100" algn="ctr">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6782" name="Oval 14"/>
            <p:cNvSpPr>
              <a:spLocks noChangeArrowheads="1"/>
            </p:cNvSpPr>
            <p:nvPr/>
          </p:nvSpPr>
          <p:spPr bwMode="auto">
            <a:xfrm>
              <a:off x="3928" y="3280"/>
              <a:ext cx="96" cy="96"/>
            </a:xfrm>
            <a:prstGeom prst="ellipse">
              <a:avLst/>
            </a:prstGeom>
            <a:solidFill>
              <a:srgbClr val="FF0000"/>
            </a:solidFill>
            <a:ln>
              <a:noFill/>
            </a:ln>
            <a:effectLst/>
            <a:extLst>
              <a:ext uri="{91240B29-F687-4F45-9708-019B960494DF}">
                <a14:hiddenLine xmlns:a14="http://schemas.microsoft.com/office/drawing/2010/main" w="38100" algn="ctr">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16784" name="Line 16"/>
          <p:cNvSpPr>
            <a:spLocks noChangeShapeType="1"/>
          </p:cNvSpPr>
          <p:nvPr/>
        </p:nvSpPr>
        <p:spPr bwMode="auto">
          <a:xfrm>
            <a:off x="4781550" y="3644900"/>
            <a:ext cx="1554163"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6785" name="Line 17"/>
          <p:cNvSpPr>
            <a:spLocks noChangeShapeType="1"/>
          </p:cNvSpPr>
          <p:nvPr/>
        </p:nvSpPr>
        <p:spPr bwMode="auto">
          <a:xfrm flipV="1">
            <a:off x="5891213" y="3644900"/>
            <a:ext cx="12700" cy="2181225"/>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6786" name="Line 18"/>
          <p:cNvSpPr>
            <a:spLocks noChangeShapeType="1"/>
          </p:cNvSpPr>
          <p:nvPr/>
        </p:nvSpPr>
        <p:spPr bwMode="auto">
          <a:xfrm flipV="1">
            <a:off x="6311900" y="3632200"/>
            <a:ext cx="12700" cy="2206625"/>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 name="Group 21"/>
          <p:cNvGrpSpPr>
            <a:grpSpLocks/>
          </p:cNvGrpSpPr>
          <p:nvPr/>
        </p:nvGrpSpPr>
        <p:grpSpPr bwMode="auto">
          <a:xfrm>
            <a:off x="5829300" y="3556000"/>
            <a:ext cx="571500" cy="165100"/>
            <a:chOff x="3672" y="2240"/>
            <a:chExt cx="360" cy="104"/>
          </a:xfrm>
        </p:grpSpPr>
        <p:sp>
          <p:nvSpPr>
            <p:cNvPr id="416787" name="Oval 19"/>
            <p:cNvSpPr>
              <a:spLocks noChangeArrowheads="1"/>
            </p:cNvSpPr>
            <p:nvPr/>
          </p:nvSpPr>
          <p:spPr bwMode="auto">
            <a:xfrm>
              <a:off x="3672" y="2240"/>
              <a:ext cx="96" cy="96"/>
            </a:xfrm>
            <a:prstGeom prst="ellipse">
              <a:avLst/>
            </a:prstGeom>
            <a:solidFill>
              <a:srgbClr val="FF0000"/>
            </a:solidFill>
            <a:ln>
              <a:noFill/>
            </a:ln>
            <a:effectLst/>
            <a:extLst>
              <a:ext uri="{91240B29-F687-4F45-9708-019B960494DF}">
                <a14:hiddenLine xmlns:a14="http://schemas.microsoft.com/office/drawing/2010/main" w="38100" algn="ctr">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6788" name="Oval 20"/>
            <p:cNvSpPr>
              <a:spLocks noChangeArrowheads="1"/>
            </p:cNvSpPr>
            <p:nvPr/>
          </p:nvSpPr>
          <p:spPr bwMode="auto">
            <a:xfrm>
              <a:off x="3936" y="2248"/>
              <a:ext cx="96" cy="96"/>
            </a:xfrm>
            <a:prstGeom prst="ellipse">
              <a:avLst/>
            </a:prstGeom>
            <a:solidFill>
              <a:srgbClr val="FF0000"/>
            </a:solidFill>
            <a:ln>
              <a:noFill/>
            </a:ln>
            <a:effectLst/>
            <a:extLst>
              <a:ext uri="{91240B29-F687-4F45-9708-019B960494DF}">
                <a14:hiddenLine xmlns:a14="http://schemas.microsoft.com/office/drawing/2010/main" w="38100" algn="ctr">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en-US" altLang="zh-CN" sz="3000" dirty="0">
                <a:solidFill>
                  <a:schemeClr val="tx2"/>
                </a:solidFill>
                <a:latin typeface="Times New Roman" pitchFamily="18" charset="0"/>
              </a:rPr>
              <a:t>7.2</a:t>
            </a:r>
            <a:r>
              <a:rPr lang="zh-CN" altLang="en-US" sz="3000" dirty="0">
                <a:solidFill>
                  <a:schemeClr val="tx2"/>
                </a:solidFill>
              </a:rPr>
              <a:t>矩形截面偏心受压构件正截面承载力的计算</a:t>
            </a:r>
            <a:r>
              <a:rPr lang="zh-CN" altLang="en-US" dirty="0">
                <a:solidFill>
                  <a:schemeClr val="tx2"/>
                </a:solidFill>
              </a:rPr>
              <a:t> </a:t>
            </a:r>
          </a:p>
        </p:txBody>
      </p:sp>
      <p:sp>
        <p:nvSpPr>
          <p:cNvPr id="417795" name="Rectangle 3"/>
          <p:cNvSpPr>
            <a:spLocks noChangeArrowheads="1"/>
          </p:cNvSpPr>
          <p:nvPr/>
        </p:nvSpPr>
        <p:spPr bwMode="auto">
          <a:xfrm>
            <a:off x="611188" y="1066800"/>
            <a:ext cx="8532812"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00000"/>
              </a:lnSpc>
              <a:spcBef>
                <a:spcPct val="0"/>
              </a:spcBef>
              <a:buClrTx/>
              <a:buFontTx/>
              <a:buNone/>
            </a:pPr>
            <a:r>
              <a:rPr lang="zh-CN" altLang="en-US" sz="2800">
                <a:solidFill>
                  <a:srgbClr val="A50021"/>
                </a:solidFill>
                <a:latin typeface="华文中宋" pitchFamily="2" charset="-122"/>
                <a:ea typeface="华文中宋" pitchFamily="2" charset="-122"/>
              </a:rPr>
              <a:t>七</a:t>
            </a:r>
            <a:r>
              <a:rPr lang="en-US" altLang="zh-CN" sz="2800">
                <a:solidFill>
                  <a:srgbClr val="A50021"/>
                </a:solidFill>
                <a:latin typeface="华文中宋" pitchFamily="2" charset="-122"/>
                <a:ea typeface="华文中宋" pitchFamily="2" charset="-122"/>
              </a:rPr>
              <a:t>.</a:t>
            </a:r>
            <a:r>
              <a:rPr lang="zh-CN" altLang="en-US" sz="2800">
                <a:solidFill>
                  <a:srgbClr val="A50021"/>
                </a:solidFill>
                <a:latin typeface="华文中宋" pitchFamily="2" charset="-122"/>
                <a:ea typeface="华文中宋" pitchFamily="2" charset="-122"/>
              </a:rPr>
              <a:t>正截面受压承载力</a:t>
            </a:r>
            <a:r>
              <a:rPr lang="en-US" altLang="zh-CN" sz="2800" i="1">
                <a:solidFill>
                  <a:srgbClr val="A50021"/>
                </a:solidFill>
                <a:ea typeface="华文中宋" pitchFamily="2" charset="-122"/>
              </a:rPr>
              <a:t>N</a:t>
            </a:r>
            <a:r>
              <a:rPr lang="en-US" altLang="zh-CN" sz="2800" baseline="-25000">
                <a:solidFill>
                  <a:srgbClr val="A50021"/>
                </a:solidFill>
                <a:ea typeface="华文中宋" pitchFamily="2" charset="-122"/>
              </a:rPr>
              <a:t>u</a:t>
            </a:r>
            <a:r>
              <a:rPr lang="zh-CN" altLang="en-US" sz="2800">
                <a:solidFill>
                  <a:srgbClr val="A50021"/>
                </a:solidFill>
                <a:latin typeface="华文中宋" pitchFamily="2" charset="-122"/>
                <a:ea typeface="华文中宋" pitchFamily="2" charset="-122"/>
              </a:rPr>
              <a:t>和</a:t>
            </a:r>
            <a:r>
              <a:rPr lang="en-US" altLang="zh-CN" sz="2800" i="1">
                <a:solidFill>
                  <a:srgbClr val="A50021"/>
                </a:solidFill>
                <a:ea typeface="华文中宋" pitchFamily="2" charset="-122"/>
              </a:rPr>
              <a:t>M</a:t>
            </a:r>
            <a:r>
              <a:rPr lang="en-US" altLang="zh-CN" sz="2800" baseline="-25000">
                <a:solidFill>
                  <a:srgbClr val="A50021"/>
                </a:solidFill>
                <a:ea typeface="华文中宋" pitchFamily="2" charset="-122"/>
              </a:rPr>
              <a:t>u</a:t>
            </a:r>
            <a:r>
              <a:rPr lang="zh-CN" altLang="en-US" sz="2800">
                <a:solidFill>
                  <a:srgbClr val="A50021"/>
                </a:solidFill>
                <a:latin typeface="华文中宋" pitchFamily="2" charset="-122"/>
                <a:ea typeface="华文中宋" pitchFamily="2" charset="-122"/>
              </a:rPr>
              <a:t>之间的相关关系</a:t>
            </a:r>
            <a:r>
              <a:rPr lang="zh-CN" altLang="en-US"/>
              <a:t> </a:t>
            </a:r>
          </a:p>
          <a:p>
            <a:pPr algn="l">
              <a:lnSpc>
                <a:spcPct val="100000"/>
              </a:lnSpc>
              <a:spcBef>
                <a:spcPct val="0"/>
              </a:spcBef>
              <a:buClrTx/>
              <a:buFontTx/>
              <a:buNone/>
            </a:pPr>
            <a:r>
              <a:rPr lang="zh-CN" altLang="en-US">
                <a:solidFill>
                  <a:srgbClr val="990099"/>
                </a:solidFill>
              </a:rPr>
              <a:t>应用例</a:t>
            </a:r>
            <a:r>
              <a:rPr lang="en-US" altLang="zh-CN">
                <a:solidFill>
                  <a:srgbClr val="990099"/>
                </a:solidFill>
              </a:rPr>
              <a:t>2</a:t>
            </a:r>
          </a:p>
        </p:txBody>
      </p:sp>
      <p:sp>
        <p:nvSpPr>
          <p:cNvPr id="417796" name="Rectangle 4"/>
          <p:cNvSpPr>
            <a:spLocks noChangeArrowheads="1"/>
          </p:cNvSpPr>
          <p:nvPr/>
        </p:nvSpPr>
        <p:spPr bwMode="auto">
          <a:xfrm>
            <a:off x="76200" y="2057400"/>
            <a:ext cx="4419600" cy="262572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r>
              <a:rPr lang="en-US" altLang="zh-CN"/>
              <a:t>2.</a:t>
            </a:r>
            <a:r>
              <a:rPr lang="en-US" altLang="zh-CN" i="1"/>
              <a:t>N</a:t>
            </a:r>
            <a:r>
              <a:rPr lang="en-US" altLang="zh-CN" baseline="-25000"/>
              <a:t>1</a:t>
            </a:r>
            <a:r>
              <a:rPr lang="en-US" altLang="zh-CN"/>
              <a:t>&lt;</a:t>
            </a:r>
            <a:r>
              <a:rPr lang="en-US" altLang="zh-CN" i="1"/>
              <a:t>N</a:t>
            </a:r>
            <a:r>
              <a:rPr lang="en-US" altLang="zh-CN" baseline="-25000"/>
              <a:t>2</a:t>
            </a:r>
            <a:r>
              <a:rPr lang="en-US" altLang="zh-CN"/>
              <a:t>,</a:t>
            </a:r>
            <a:r>
              <a:rPr lang="zh-CN" altLang="en-US"/>
              <a:t>则</a:t>
            </a:r>
            <a:r>
              <a:rPr lang="en-US" altLang="zh-CN" i="1"/>
              <a:t>A</a:t>
            </a:r>
            <a:r>
              <a:rPr lang="en-US" altLang="zh-CN" baseline="-25000"/>
              <a:t>s1</a:t>
            </a:r>
            <a:r>
              <a:rPr lang="en-US" altLang="zh-CN"/>
              <a:t>&lt;</a:t>
            </a:r>
            <a:r>
              <a:rPr lang="en-US" altLang="zh-CN" i="1"/>
              <a:t>A</a:t>
            </a:r>
            <a:r>
              <a:rPr lang="en-US" altLang="zh-CN" baseline="-25000"/>
              <a:t>s2</a:t>
            </a:r>
            <a:r>
              <a:rPr lang="en-US" altLang="zh-CN"/>
              <a:t> </a:t>
            </a:r>
            <a:r>
              <a:rPr lang="zh-CN" altLang="en-US"/>
              <a:t>？ </a:t>
            </a:r>
          </a:p>
          <a:p>
            <a:pPr marL="342900" indent="-342900" algn="l">
              <a:spcBef>
                <a:spcPct val="50000"/>
              </a:spcBef>
              <a:spcAft>
                <a:spcPct val="50000"/>
              </a:spcAft>
            </a:pPr>
            <a:r>
              <a:rPr lang="zh-CN" altLang="en-US" sz="1800">
                <a:solidFill>
                  <a:schemeClr val="tx2"/>
                </a:solidFill>
                <a:ea typeface="楷体_GB2312" pitchFamily="49" charset="-122"/>
              </a:rPr>
              <a:t>单位：</a:t>
            </a:r>
            <a:r>
              <a:rPr lang="en-US" altLang="zh-CN" sz="1800" i="1">
                <a:solidFill>
                  <a:schemeClr val="tx2"/>
                </a:solidFill>
                <a:ea typeface="楷体_GB2312" pitchFamily="49" charset="-122"/>
              </a:rPr>
              <a:t>N</a:t>
            </a:r>
            <a:r>
              <a:rPr lang="en-US" altLang="zh-CN" sz="1800">
                <a:solidFill>
                  <a:schemeClr val="tx2"/>
                </a:solidFill>
                <a:ea typeface="楷体_GB2312" pitchFamily="49" charset="-122"/>
              </a:rPr>
              <a:t>(kN) , </a:t>
            </a:r>
            <a:r>
              <a:rPr lang="en-US" altLang="zh-CN" sz="1800" i="1">
                <a:solidFill>
                  <a:schemeClr val="tx2"/>
                </a:solidFill>
                <a:ea typeface="楷体_GB2312" pitchFamily="49" charset="-122"/>
              </a:rPr>
              <a:t>M</a:t>
            </a:r>
            <a:r>
              <a:rPr lang="en-US" altLang="zh-CN" sz="1800">
                <a:solidFill>
                  <a:schemeClr val="tx2"/>
                </a:solidFill>
                <a:ea typeface="楷体_GB2312" pitchFamily="49" charset="-122"/>
              </a:rPr>
              <a:t>(kN.m), </a:t>
            </a:r>
            <a:r>
              <a:rPr lang="en-US" altLang="zh-CN" sz="1800" i="1">
                <a:solidFill>
                  <a:schemeClr val="tx2"/>
                </a:solidFill>
                <a:ea typeface="楷体_GB2312" pitchFamily="49" charset="-122"/>
              </a:rPr>
              <a:t>A</a:t>
            </a:r>
            <a:r>
              <a:rPr lang="en-US" altLang="zh-CN" sz="1800" baseline="-25000">
                <a:solidFill>
                  <a:schemeClr val="tx2"/>
                </a:solidFill>
                <a:ea typeface="楷体_GB2312" pitchFamily="49" charset="-122"/>
              </a:rPr>
              <a:t>s</a:t>
            </a:r>
            <a:r>
              <a:rPr lang="en-US" altLang="zh-CN" sz="1800">
                <a:solidFill>
                  <a:schemeClr val="tx2"/>
                </a:solidFill>
                <a:ea typeface="楷体_GB2312" pitchFamily="49" charset="-122"/>
              </a:rPr>
              <a:t>(mm</a:t>
            </a:r>
            <a:r>
              <a:rPr lang="en-US" altLang="zh-CN" sz="1800" baseline="30000">
                <a:solidFill>
                  <a:schemeClr val="tx2"/>
                </a:solidFill>
                <a:ea typeface="楷体_GB2312" pitchFamily="49" charset="-122"/>
              </a:rPr>
              <a:t>2</a:t>
            </a:r>
            <a:r>
              <a:rPr lang="en-US" altLang="zh-CN" sz="1800">
                <a:solidFill>
                  <a:schemeClr val="tx2"/>
                </a:solidFill>
                <a:ea typeface="楷体_GB2312" pitchFamily="49" charset="-122"/>
              </a:rPr>
              <a:t>)</a:t>
            </a:r>
          </a:p>
          <a:p>
            <a:pPr marL="342900" indent="-342900" algn="l"/>
            <a:r>
              <a:rPr lang="en-US" altLang="zh-CN" sz="1800" i="1">
                <a:solidFill>
                  <a:schemeClr val="tx2"/>
                </a:solidFill>
              </a:rPr>
              <a:t>M</a:t>
            </a:r>
            <a:r>
              <a:rPr lang="zh-CN" altLang="en-US" sz="1800">
                <a:solidFill>
                  <a:schemeClr val="tx2"/>
                </a:solidFill>
              </a:rPr>
              <a:t>一定</a:t>
            </a:r>
            <a:r>
              <a:rPr lang="en-US" altLang="zh-CN" sz="1800">
                <a:solidFill>
                  <a:schemeClr val="tx2"/>
                </a:solidFill>
              </a:rPr>
              <a:t>(</a:t>
            </a:r>
            <a:r>
              <a:rPr lang="zh-CN" altLang="en-US" sz="1800">
                <a:solidFill>
                  <a:schemeClr val="tx2"/>
                </a:solidFill>
              </a:rPr>
              <a:t>如</a:t>
            </a:r>
            <a:r>
              <a:rPr lang="en-US" altLang="zh-CN" sz="1800" i="1">
                <a:solidFill>
                  <a:schemeClr val="tx2"/>
                </a:solidFill>
              </a:rPr>
              <a:t>M</a:t>
            </a:r>
            <a:r>
              <a:rPr lang="en-US" altLang="zh-CN" sz="1800">
                <a:solidFill>
                  <a:schemeClr val="tx2"/>
                </a:solidFill>
              </a:rPr>
              <a:t>=120kNm)</a:t>
            </a:r>
            <a:r>
              <a:rPr lang="zh-CN" altLang="en-US" sz="1800">
                <a:solidFill>
                  <a:schemeClr val="tx2"/>
                </a:solidFill>
              </a:rPr>
              <a:t>：</a:t>
            </a:r>
          </a:p>
          <a:p>
            <a:pPr marL="342900" indent="-342900" algn="l"/>
            <a:r>
              <a:rPr lang="zh-CN" altLang="en-US" sz="1800">
                <a:solidFill>
                  <a:schemeClr val="tx2"/>
                </a:solidFill>
              </a:rPr>
              <a:t>①当</a:t>
            </a:r>
            <a:r>
              <a:rPr lang="en-US" altLang="zh-CN" sz="1800" i="1">
                <a:solidFill>
                  <a:schemeClr val="tx2"/>
                </a:solidFill>
              </a:rPr>
              <a:t>N</a:t>
            </a:r>
            <a:r>
              <a:rPr lang="en-US" altLang="zh-CN" sz="1800" baseline="-25000">
                <a:solidFill>
                  <a:schemeClr val="tx2"/>
                </a:solidFill>
              </a:rPr>
              <a:t>1</a:t>
            </a:r>
            <a:r>
              <a:rPr lang="en-US" altLang="zh-CN" sz="1800">
                <a:solidFill>
                  <a:schemeClr val="tx2"/>
                </a:solidFill>
              </a:rPr>
              <a:t>(</a:t>
            </a:r>
            <a:r>
              <a:rPr lang="zh-CN" altLang="en-US" sz="1800">
                <a:solidFill>
                  <a:schemeClr val="tx2"/>
                </a:solidFill>
              </a:rPr>
              <a:t>＝</a:t>
            </a:r>
            <a:r>
              <a:rPr lang="en-US" altLang="zh-CN" sz="1800">
                <a:solidFill>
                  <a:schemeClr val="tx2"/>
                </a:solidFill>
              </a:rPr>
              <a:t>40)&lt; </a:t>
            </a:r>
            <a:r>
              <a:rPr lang="en-US" altLang="zh-CN" sz="1800" i="1">
                <a:solidFill>
                  <a:schemeClr val="tx2"/>
                </a:solidFill>
              </a:rPr>
              <a:t>N</a:t>
            </a:r>
            <a:r>
              <a:rPr lang="en-US" altLang="zh-CN" sz="1800" baseline="-25000">
                <a:solidFill>
                  <a:schemeClr val="tx2"/>
                </a:solidFill>
              </a:rPr>
              <a:t>2</a:t>
            </a:r>
            <a:r>
              <a:rPr lang="en-US" altLang="zh-CN" sz="1800">
                <a:solidFill>
                  <a:schemeClr val="tx2"/>
                </a:solidFill>
              </a:rPr>
              <a:t>(</a:t>
            </a:r>
            <a:r>
              <a:rPr lang="zh-CN" altLang="en-US" sz="1800">
                <a:solidFill>
                  <a:schemeClr val="tx2"/>
                </a:solidFill>
              </a:rPr>
              <a:t>＝</a:t>
            </a:r>
            <a:r>
              <a:rPr lang="en-US" altLang="zh-CN" sz="1800">
                <a:solidFill>
                  <a:schemeClr val="tx2"/>
                </a:solidFill>
              </a:rPr>
              <a:t>60)&lt; </a:t>
            </a:r>
            <a:r>
              <a:rPr lang="en-US" altLang="zh-CN" sz="1800" i="1">
                <a:solidFill>
                  <a:schemeClr val="tx2"/>
                </a:solidFill>
              </a:rPr>
              <a:t>N</a:t>
            </a:r>
            <a:r>
              <a:rPr lang="en-US" altLang="zh-CN" sz="1800" baseline="-25000">
                <a:solidFill>
                  <a:schemeClr val="tx2"/>
                </a:solidFill>
              </a:rPr>
              <a:t>b</a:t>
            </a:r>
            <a:r>
              <a:rPr lang="en-US" altLang="zh-CN" sz="1800">
                <a:solidFill>
                  <a:schemeClr val="tx2"/>
                </a:solidFill>
              </a:rPr>
              <a:t>(</a:t>
            </a:r>
            <a:r>
              <a:rPr lang="zh-CN" altLang="en-US" sz="1800">
                <a:solidFill>
                  <a:schemeClr val="tx2"/>
                </a:solidFill>
              </a:rPr>
              <a:t>＝</a:t>
            </a:r>
            <a:r>
              <a:rPr lang="en-US" altLang="zh-CN" sz="1800">
                <a:solidFill>
                  <a:schemeClr val="tx2"/>
                </a:solidFill>
              </a:rPr>
              <a:t>80)</a:t>
            </a:r>
            <a:r>
              <a:rPr lang="zh-CN" altLang="en-US" sz="1800">
                <a:solidFill>
                  <a:schemeClr val="tx2"/>
                </a:solidFill>
              </a:rPr>
              <a:t>时</a:t>
            </a:r>
            <a:r>
              <a:rPr lang="en-US" altLang="zh-CN" sz="1800">
                <a:solidFill>
                  <a:schemeClr val="tx2"/>
                </a:solidFill>
              </a:rPr>
              <a:t>, </a:t>
            </a:r>
          </a:p>
          <a:p>
            <a:pPr marL="342900" indent="-342900" algn="l"/>
            <a:r>
              <a:rPr lang="en-US" altLang="zh-CN" sz="1800" i="1">
                <a:solidFill>
                  <a:schemeClr val="tx2"/>
                </a:solidFill>
              </a:rPr>
              <a:t>A</a:t>
            </a:r>
            <a:r>
              <a:rPr lang="en-US" altLang="zh-CN" sz="1800" baseline="-25000">
                <a:solidFill>
                  <a:schemeClr val="tx2"/>
                </a:solidFill>
              </a:rPr>
              <a:t>s1 </a:t>
            </a:r>
            <a:r>
              <a:rPr lang="en-US" altLang="zh-CN" sz="1800">
                <a:solidFill>
                  <a:schemeClr val="tx2"/>
                </a:solidFill>
              </a:rPr>
              <a:t>(=850)&gt;</a:t>
            </a:r>
            <a:r>
              <a:rPr lang="en-US" altLang="zh-CN" sz="1800" i="1">
                <a:solidFill>
                  <a:schemeClr val="tx2"/>
                </a:solidFill>
              </a:rPr>
              <a:t>A</a:t>
            </a:r>
            <a:r>
              <a:rPr lang="en-US" altLang="zh-CN" sz="1800" baseline="-25000">
                <a:solidFill>
                  <a:schemeClr val="tx2"/>
                </a:solidFill>
              </a:rPr>
              <a:t>s2</a:t>
            </a:r>
            <a:r>
              <a:rPr lang="en-US" altLang="zh-CN" sz="1800">
                <a:solidFill>
                  <a:schemeClr val="tx2"/>
                </a:solidFill>
              </a:rPr>
              <a:t>(=450)</a:t>
            </a:r>
          </a:p>
          <a:p>
            <a:pPr marL="342900" indent="-342900" algn="l">
              <a:lnSpc>
                <a:spcPct val="120000"/>
              </a:lnSpc>
            </a:pPr>
            <a:r>
              <a:rPr lang="en-US" altLang="zh-CN" sz="1800">
                <a:solidFill>
                  <a:schemeClr val="tx2"/>
                </a:solidFill>
              </a:rPr>
              <a:t>②</a:t>
            </a:r>
            <a:r>
              <a:rPr lang="zh-CN" altLang="en-US" sz="1800">
                <a:solidFill>
                  <a:schemeClr val="tx2"/>
                </a:solidFill>
              </a:rPr>
              <a:t>当</a:t>
            </a:r>
            <a:r>
              <a:rPr lang="en-US" altLang="zh-CN" sz="1800" i="1">
                <a:solidFill>
                  <a:schemeClr val="tx2"/>
                </a:solidFill>
              </a:rPr>
              <a:t>N</a:t>
            </a:r>
            <a:r>
              <a:rPr lang="en-US" altLang="zh-CN" sz="1800" baseline="-25000">
                <a:solidFill>
                  <a:schemeClr val="tx2"/>
                </a:solidFill>
              </a:rPr>
              <a:t>b</a:t>
            </a:r>
            <a:r>
              <a:rPr lang="en-US" altLang="zh-CN" sz="1800">
                <a:solidFill>
                  <a:schemeClr val="tx2"/>
                </a:solidFill>
              </a:rPr>
              <a:t>(</a:t>
            </a:r>
            <a:r>
              <a:rPr lang="zh-CN" altLang="en-US" sz="1800">
                <a:solidFill>
                  <a:schemeClr val="tx2"/>
                </a:solidFill>
              </a:rPr>
              <a:t>＝</a:t>
            </a:r>
            <a:r>
              <a:rPr lang="en-US" altLang="zh-CN" sz="1800">
                <a:solidFill>
                  <a:schemeClr val="tx2"/>
                </a:solidFill>
              </a:rPr>
              <a:t>80)&lt; </a:t>
            </a:r>
            <a:r>
              <a:rPr lang="en-US" altLang="zh-CN" sz="1800" i="1">
                <a:solidFill>
                  <a:schemeClr val="tx2"/>
                </a:solidFill>
              </a:rPr>
              <a:t>N</a:t>
            </a:r>
            <a:r>
              <a:rPr lang="en-US" altLang="zh-CN" sz="1800" baseline="-25000">
                <a:solidFill>
                  <a:schemeClr val="tx2"/>
                </a:solidFill>
              </a:rPr>
              <a:t>1</a:t>
            </a:r>
            <a:r>
              <a:rPr lang="en-US" altLang="zh-CN" sz="1800">
                <a:solidFill>
                  <a:schemeClr val="tx2"/>
                </a:solidFill>
              </a:rPr>
              <a:t>(</a:t>
            </a:r>
            <a:r>
              <a:rPr lang="zh-CN" altLang="en-US" sz="1800">
                <a:solidFill>
                  <a:schemeClr val="tx2"/>
                </a:solidFill>
              </a:rPr>
              <a:t>＝</a:t>
            </a:r>
            <a:r>
              <a:rPr lang="en-US" altLang="zh-CN" sz="1800">
                <a:solidFill>
                  <a:schemeClr val="tx2"/>
                </a:solidFill>
              </a:rPr>
              <a:t>140)&lt; </a:t>
            </a:r>
            <a:r>
              <a:rPr lang="en-US" altLang="zh-CN" sz="1800" i="1">
                <a:solidFill>
                  <a:schemeClr val="tx2"/>
                </a:solidFill>
              </a:rPr>
              <a:t>N</a:t>
            </a:r>
            <a:r>
              <a:rPr lang="en-US" altLang="zh-CN" sz="1800" baseline="-25000">
                <a:solidFill>
                  <a:schemeClr val="tx2"/>
                </a:solidFill>
              </a:rPr>
              <a:t>2</a:t>
            </a:r>
            <a:r>
              <a:rPr lang="en-US" altLang="zh-CN" sz="1800">
                <a:solidFill>
                  <a:schemeClr val="tx2"/>
                </a:solidFill>
              </a:rPr>
              <a:t>(</a:t>
            </a:r>
            <a:r>
              <a:rPr lang="zh-CN" altLang="en-US" sz="1800">
                <a:solidFill>
                  <a:schemeClr val="tx2"/>
                </a:solidFill>
              </a:rPr>
              <a:t>＝</a:t>
            </a:r>
            <a:r>
              <a:rPr lang="en-US" altLang="zh-CN" sz="1800">
                <a:solidFill>
                  <a:schemeClr val="tx2"/>
                </a:solidFill>
              </a:rPr>
              <a:t>180)</a:t>
            </a:r>
            <a:r>
              <a:rPr lang="zh-CN" altLang="en-US" sz="1800">
                <a:solidFill>
                  <a:schemeClr val="tx2"/>
                </a:solidFill>
              </a:rPr>
              <a:t>时</a:t>
            </a:r>
            <a:r>
              <a:rPr lang="en-US" altLang="zh-CN" sz="1800">
                <a:solidFill>
                  <a:schemeClr val="tx2"/>
                </a:solidFill>
              </a:rPr>
              <a:t>, </a:t>
            </a:r>
          </a:p>
          <a:p>
            <a:pPr marL="342900" indent="-342900" algn="l">
              <a:lnSpc>
                <a:spcPct val="120000"/>
              </a:lnSpc>
            </a:pPr>
            <a:r>
              <a:rPr lang="en-US" altLang="zh-CN" sz="1800" i="1">
                <a:solidFill>
                  <a:schemeClr val="tx2"/>
                </a:solidFill>
              </a:rPr>
              <a:t>A</a:t>
            </a:r>
            <a:r>
              <a:rPr lang="en-US" altLang="zh-CN" sz="1800" baseline="-25000">
                <a:solidFill>
                  <a:schemeClr val="tx2"/>
                </a:solidFill>
              </a:rPr>
              <a:t>s1 </a:t>
            </a:r>
            <a:r>
              <a:rPr lang="en-US" altLang="zh-CN" sz="1800">
                <a:solidFill>
                  <a:schemeClr val="tx2"/>
                </a:solidFill>
              </a:rPr>
              <a:t>(=1050)&lt;</a:t>
            </a:r>
            <a:r>
              <a:rPr lang="en-US" altLang="zh-CN" sz="1800" i="1">
                <a:solidFill>
                  <a:schemeClr val="tx2"/>
                </a:solidFill>
              </a:rPr>
              <a:t>A</a:t>
            </a:r>
            <a:r>
              <a:rPr lang="en-US" altLang="zh-CN" sz="1800" baseline="-25000">
                <a:solidFill>
                  <a:schemeClr val="tx2"/>
                </a:solidFill>
              </a:rPr>
              <a:t>s2</a:t>
            </a:r>
            <a:r>
              <a:rPr lang="en-US" altLang="zh-CN" sz="1800">
                <a:solidFill>
                  <a:schemeClr val="tx2"/>
                </a:solidFill>
              </a:rPr>
              <a:t>(=1550)</a:t>
            </a:r>
          </a:p>
        </p:txBody>
      </p:sp>
      <p:sp>
        <p:nvSpPr>
          <p:cNvPr id="417797" name="Rectangle 5"/>
          <p:cNvSpPr>
            <a:spLocks noChangeArrowheads="1"/>
          </p:cNvSpPr>
          <p:nvPr/>
        </p:nvSpPr>
        <p:spPr bwMode="auto">
          <a:xfrm>
            <a:off x="228600" y="4800600"/>
            <a:ext cx="3867150" cy="1581150"/>
          </a:xfrm>
          <a:prstGeom prst="rect">
            <a:avLst/>
          </a:prstGeom>
          <a:solidFill>
            <a:srgbClr val="FFFF99">
              <a:alpha val="50000"/>
            </a:srgbClr>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a:t>结论</a:t>
            </a:r>
            <a:r>
              <a:rPr lang="en-US" altLang="zh-CN" sz="2000"/>
              <a:t>2</a:t>
            </a:r>
            <a:r>
              <a:rPr lang="zh-CN" altLang="en-US" sz="2000"/>
              <a:t>： </a:t>
            </a:r>
          </a:p>
          <a:p>
            <a:pPr algn="l"/>
            <a:r>
              <a:rPr lang="en-US" altLang="zh-CN" sz="2000" i="1"/>
              <a:t>M</a:t>
            </a:r>
            <a:r>
              <a:rPr lang="zh-CN" altLang="en-US" sz="2000"/>
              <a:t>一定</a:t>
            </a:r>
            <a:r>
              <a:rPr lang="en-US" altLang="zh-CN" sz="2000"/>
              <a:t>, </a:t>
            </a:r>
            <a:r>
              <a:rPr lang="en-US" altLang="zh-CN" sz="2000" i="1"/>
              <a:t>N</a:t>
            </a:r>
            <a:r>
              <a:rPr lang="en-US" altLang="zh-CN" baseline="-25000"/>
              <a:t>1</a:t>
            </a:r>
            <a:r>
              <a:rPr lang="en-US" altLang="zh-CN" sz="2000"/>
              <a:t>&lt;</a:t>
            </a:r>
            <a:r>
              <a:rPr lang="en-US" altLang="zh-CN" sz="2000" i="1"/>
              <a:t>N</a:t>
            </a:r>
            <a:r>
              <a:rPr lang="en-US" altLang="zh-CN" baseline="-25000"/>
              <a:t>2</a:t>
            </a:r>
            <a:r>
              <a:rPr lang="en-US" altLang="zh-CN" sz="2000"/>
              <a:t>,</a:t>
            </a:r>
            <a:r>
              <a:rPr lang="zh-CN" altLang="en-US" sz="2000"/>
              <a:t>不一定</a:t>
            </a:r>
            <a:r>
              <a:rPr lang="en-US" altLang="zh-CN" i="1"/>
              <a:t>A</a:t>
            </a:r>
            <a:r>
              <a:rPr lang="en-US" altLang="zh-CN" baseline="-25000"/>
              <a:t>s1</a:t>
            </a:r>
            <a:r>
              <a:rPr lang="en-US" altLang="zh-CN" sz="2000"/>
              <a:t>&lt;</a:t>
            </a:r>
            <a:r>
              <a:rPr lang="en-US" altLang="zh-CN" i="1"/>
              <a:t>A</a:t>
            </a:r>
            <a:r>
              <a:rPr lang="en-US" altLang="zh-CN" baseline="-25000"/>
              <a:t>s2</a:t>
            </a:r>
            <a:r>
              <a:rPr lang="en-US" altLang="zh-CN"/>
              <a:t> </a:t>
            </a:r>
            <a:r>
              <a:rPr lang="zh-CN" altLang="en-US"/>
              <a:t>。</a:t>
            </a:r>
            <a:endParaRPr lang="zh-CN" altLang="en-US" sz="2000"/>
          </a:p>
          <a:p>
            <a:pPr algn="l"/>
            <a:r>
              <a:rPr lang="en-US" altLang="zh-CN" sz="2000" i="1"/>
              <a:t>N</a:t>
            </a:r>
            <a:r>
              <a:rPr lang="en-US" altLang="zh-CN" baseline="-25000"/>
              <a:t>1</a:t>
            </a:r>
            <a:r>
              <a:rPr lang="en-US" altLang="zh-CN" sz="2000"/>
              <a:t>&lt;</a:t>
            </a:r>
            <a:r>
              <a:rPr lang="en-US" altLang="zh-CN" sz="2000" i="1"/>
              <a:t>N</a:t>
            </a:r>
            <a:r>
              <a:rPr lang="en-US" altLang="zh-CN" baseline="-25000"/>
              <a:t>2</a:t>
            </a:r>
            <a:r>
              <a:rPr lang="en-US" altLang="zh-CN" sz="2000"/>
              <a:t>&lt;</a:t>
            </a:r>
            <a:r>
              <a:rPr lang="en-US" altLang="zh-CN" sz="2000" i="1"/>
              <a:t>N</a:t>
            </a:r>
            <a:r>
              <a:rPr lang="en-US" altLang="zh-CN" sz="2000" baseline="-25000"/>
              <a:t>b</a:t>
            </a:r>
            <a:r>
              <a:rPr lang="zh-CN" altLang="en-US" sz="2000"/>
              <a:t>时， </a:t>
            </a:r>
            <a:r>
              <a:rPr lang="en-US" altLang="zh-CN" i="1"/>
              <a:t>A</a:t>
            </a:r>
            <a:r>
              <a:rPr lang="en-US" altLang="zh-CN" baseline="-25000"/>
              <a:t>s1</a:t>
            </a:r>
            <a:r>
              <a:rPr lang="en-US" altLang="zh-CN" sz="2000"/>
              <a:t>&gt;</a:t>
            </a:r>
            <a:r>
              <a:rPr lang="en-US" altLang="zh-CN" i="1"/>
              <a:t>A</a:t>
            </a:r>
            <a:r>
              <a:rPr lang="en-US" altLang="zh-CN" sz="2000" baseline="-25000"/>
              <a:t>s2</a:t>
            </a:r>
            <a:r>
              <a:rPr lang="en-US" altLang="zh-CN" sz="2000"/>
              <a:t> </a:t>
            </a:r>
          </a:p>
          <a:p>
            <a:pPr algn="l"/>
            <a:r>
              <a:rPr lang="en-US" altLang="zh-CN" sz="2000" i="1"/>
              <a:t>N</a:t>
            </a:r>
            <a:r>
              <a:rPr lang="en-US" altLang="zh-CN" sz="2000" baseline="-25000"/>
              <a:t>b</a:t>
            </a:r>
            <a:r>
              <a:rPr lang="en-US" altLang="zh-CN" sz="2000"/>
              <a:t>&lt;</a:t>
            </a:r>
            <a:r>
              <a:rPr lang="en-US" altLang="zh-CN" sz="2000" i="1"/>
              <a:t>N</a:t>
            </a:r>
            <a:r>
              <a:rPr lang="en-US" altLang="zh-CN" baseline="-25000"/>
              <a:t>1</a:t>
            </a:r>
            <a:r>
              <a:rPr lang="en-US" altLang="zh-CN" sz="2000"/>
              <a:t>&lt;</a:t>
            </a:r>
            <a:r>
              <a:rPr lang="en-US" altLang="zh-CN" sz="2000" i="1"/>
              <a:t>N</a:t>
            </a:r>
            <a:r>
              <a:rPr lang="en-US" altLang="zh-CN" baseline="-25000"/>
              <a:t>2</a:t>
            </a:r>
            <a:r>
              <a:rPr lang="zh-CN" altLang="en-US" sz="2000"/>
              <a:t>时， </a:t>
            </a:r>
            <a:r>
              <a:rPr lang="en-US" altLang="zh-CN" i="1"/>
              <a:t>A</a:t>
            </a:r>
            <a:r>
              <a:rPr lang="en-US" altLang="zh-CN" baseline="-25000"/>
              <a:t>s1</a:t>
            </a:r>
            <a:r>
              <a:rPr lang="en-US" altLang="zh-CN" sz="2000"/>
              <a:t>&lt; </a:t>
            </a:r>
            <a:r>
              <a:rPr lang="en-US" altLang="zh-CN" i="1"/>
              <a:t>A</a:t>
            </a:r>
            <a:r>
              <a:rPr lang="en-US" altLang="zh-CN" sz="2000" baseline="-25000"/>
              <a:t>s2</a:t>
            </a:r>
            <a:r>
              <a:rPr lang="en-US" altLang="zh-CN" sz="2000"/>
              <a:t> </a:t>
            </a:r>
          </a:p>
        </p:txBody>
      </p:sp>
      <p:pic>
        <p:nvPicPr>
          <p:cNvPr id="417798" name="Picture 6" descr="gj0724"/>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r="4031"/>
          <a:stretch>
            <a:fillRect/>
          </a:stretch>
        </p:blipFill>
        <p:spPr bwMode="auto">
          <a:xfrm>
            <a:off x="4343400" y="1905000"/>
            <a:ext cx="4837113" cy="4211638"/>
          </a:xfrm>
          <a:prstGeom prst="rect">
            <a:avLst/>
          </a:prstGeom>
          <a:noFill/>
          <a:extLst>
            <a:ext uri="{909E8E84-426E-40DD-AFC4-6F175D3DCCD1}">
              <a14:hiddenFill xmlns:a14="http://schemas.microsoft.com/office/drawing/2010/main">
                <a:solidFill>
                  <a:srgbClr val="FFFFFF"/>
                </a:solidFill>
              </a14:hiddenFill>
            </a:ext>
          </a:extLst>
        </p:spPr>
      </p:pic>
      <p:sp>
        <p:nvSpPr>
          <p:cNvPr id="417800" name="Line 8"/>
          <p:cNvSpPr>
            <a:spLocks noChangeShapeType="1"/>
          </p:cNvSpPr>
          <p:nvPr/>
        </p:nvSpPr>
        <p:spPr bwMode="auto">
          <a:xfrm flipV="1">
            <a:off x="6453188" y="5002213"/>
            <a:ext cx="11112" cy="83661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7802" name="Line 10"/>
          <p:cNvSpPr>
            <a:spLocks noChangeShapeType="1"/>
          </p:cNvSpPr>
          <p:nvPr/>
        </p:nvSpPr>
        <p:spPr bwMode="auto">
          <a:xfrm>
            <a:off x="4800600" y="5029200"/>
            <a:ext cx="1684338"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7803" name="Line 11"/>
          <p:cNvSpPr>
            <a:spLocks noChangeShapeType="1"/>
          </p:cNvSpPr>
          <p:nvPr/>
        </p:nvSpPr>
        <p:spPr bwMode="auto">
          <a:xfrm>
            <a:off x="4800600" y="5295900"/>
            <a:ext cx="1684338"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 name="Group 16"/>
          <p:cNvGrpSpPr>
            <a:grpSpLocks/>
          </p:cNvGrpSpPr>
          <p:nvPr/>
        </p:nvGrpSpPr>
        <p:grpSpPr bwMode="auto">
          <a:xfrm>
            <a:off x="6388100" y="4953000"/>
            <a:ext cx="152400" cy="419100"/>
            <a:chOff x="4024" y="3120"/>
            <a:chExt cx="96" cy="264"/>
          </a:xfrm>
        </p:grpSpPr>
        <p:sp>
          <p:nvSpPr>
            <p:cNvPr id="417806" name="Oval 14"/>
            <p:cNvSpPr>
              <a:spLocks noChangeArrowheads="1"/>
            </p:cNvSpPr>
            <p:nvPr/>
          </p:nvSpPr>
          <p:spPr bwMode="auto">
            <a:xfrm>
              <a:off x="4024" y="3120"/>
              <a:ext cx="96" cy="96"/>
            </a:xfrm>
            <a:prstGeom prst="ellipse">
              <a:avLst/>
            </a:prstGeom>
            <a:solidFill>
              <a:srgbClr val="FF0000"/>
            </a:solidFill>
            <a:ln>
              <a:noFill/>
            </a:ln>
            <a:effectLst/>
            <a:extLst>
              <a:ext uri="{91240B29-F687-4F45-9708-019B960494DF}">
                <a14:hiddenLine xmlns:a14="http://schemas.microsoft.com/office/drawing/2010/main" w="38100" algn="ctr">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7807" name="Oval 15"/>
            <p:cNvSpPr>
              <a:spLocks noChangeArrowheads="1"/>
            </p:cNvSpPr>
            <p:nvPr/>
          </p:nvSpPr>
          <p:spPr bwMode="auto">
            <a:xfrm>
              <a:off x="4024" y="3288"/>
              <a:ext cx="96" cy="96"/>
            </a:xfrm>
            <a:prstGeom prst="ellipse">
              <a:avLst/>
            </a:prstGeom>
            <a:solidFill>
              <a:srgbClr val="FF0000"/>
            </a:solidFill>
            <a:ln>
              <a:noFill/>
            </a:ln>
            <a:effectLst/>
            <a:extLst>
              <a:ext uri="{91240B29-F687-4F45-9708-019B960494DF}">
                <a14:hiddenLine xmlns:a14="http://schemas.microsoft.com/office/drawing/2010/main" w="38100" algn="ctr">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17809" name="Line 17"/>
          <p:cNvSpPr>
            <a:spLocks noChangeShapeType="1"/>
          </p:cNvSpPr>
          <p:nvPr/>
        </p:nvSpPr>
        <p:spPr bwMode="auto">
          <a:xfrm flipV="1">
            <a:off x="6453188" y="3370263"/>
            <a:ext cx="0" cy="246856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 name="Group 20"/>
          <p:cNvGrpSpPr>
            <a:grpSpLocks/>
          </p:cNvGrpSpPr>
          <p:nvPr/>
        </p:nvGrpSpPr>
        <p:grpSpPr bwMode="auto">
          <a:xfrm>
            <a:off x="4781550" y="3382963"/>
            <a:ext cx="1677988" cy="541337"/>
            <a:chOff x="3012" y="2131"/>
            <a:chExt cx="1057" cy="341"/>
          </a:xfrm>
        </p:grpSpPr>
        <p:sp>
          <p:nvSpPr>
            <p:cNvPr id="417810" name="Line 18"/>
            <p:cNvSpPr>
              <a:spLocks noChangeShapeType="1"/>
            </p:cNvSpPr>
            <p:nvPr/>
          </p:nvSpPr>
          <p:spPr bwMode="auto">
            <a:xfrm>
              <a:off x="3012" y="2131"/>
              <a:ext cx="1045"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7811" name="Line 19"/>
            <p:cNvSpPr>
              <a:spLocks noChangeShapeType="1"/>
            </p:cNvSpPr>
            <p:nvPr/>
          </p:nvSpPr>
          <p:spPr bwMode="auto">
            <a:xfrm>
              <a:off x="3024" y="2472"/>
              <a:ext cx="1045"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 name="Group 23"/>
          <p:cNvGrpSpPr>
            <a:grpSpLocks/>
          </p:cNvGrpSpPr>
          <p:nvPr/>
        </p:nvGrpSpPr>
        <p:grpSpPr bwMode="auto">
          <a:xfrm>
            <a:off x="6375400" y="3302000"/>
            <a:ext cx="152400" cy="673100"/>
            <a:chOff x="4016" y="2080"/>
            <a:chExt cx="96" cy="424"/>
          </a:xfrm>
        </p:grpSpPr>
        <p:sp>
          <p:nvSpPr>
            <p:cNvPr id="417813" name="Oval 21"/>
            <p:cNvSpPr>
              <a:spLocks noChangeArrowheads="1"/>
            </p:cNvSpPr>
            <p:nvPr/>
          </p:nvSpPr>
          <p:spPr bwMode="auto">
            <a:xfrm>
              <a:off x="4016" y="2080"/>
              <a:ext cx="96" cy="96"/>
            </a:xfrm>
            <a:prstGeom prst="ellipse">
              <a:avLst/>
            </a:prstGeom>
            <a:solidFill>
              <a:srgbClr val="FF0000"/>
            </a:solidFill>
            <a:ln>
              <a:noFill/>
            </a:ln>
            <a:effectLst/>
            <a:extLst>
              <a:ext uri="{91240B29-F687-4F45-9708-019B960494DF}">
                <a14:hiddenLine xmlns:a14="http://schemas.microsoft.com/office/drawing/2010/main" w="38100" algn="ctr">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7814" name="Oval 22"/>
            <p:cNvSpPr>
              <a:spLocks noChangeArrowheads="1"/>
            </p:cNvSpPr>
            <p:nvPr/>
          </p:nvSpPr>
          <p:spPr bwMode="auto">
            <a:xfrm>
              <a:off x="4016" y="2408"/>
              <a:ext cx="96" cy="96"/>
            </a:xfrm>
            <a:prstGeom prst="ellipse">
              <a:avLst/>
            </a:prstGeom>
            <a:solidFill>
              <a:srgbClr val="FF0000"/>
            </a:solidFill>
            <a:ln>
              <a:noFill/>
            </a:ln>
            <a:effectLst/>
            <a:extLst>
              <a:ext uri="{91240B29-F687-4F45-9708-019B960494DF}">
                <a14:hiddenLine xmlns:a14="http://schemas.microsoft.com/office/drawing/2010/main" w="38100" algn="ctr">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382000" cy="563562"/>
          </a:xfrm>
        </p:spPr>
        <p:txBody>
          <a:bodyPr/>
          <a:lstStyle/>
          <a:p>
            <a:r>
              <a:rPr lang="en-US" altLang="zh-CN" sz="3000" dirty="0">
                <a:solidFill>
                  <a:schemeClr val="tx2"/>
                </a:solidFill>
                <a:latin typeface="Times New Roman" pitchFamily="18" charset="0"/>
              </a:rPr>
              <a:t>7.3</a:t>
            </a:r>
            <a:r>
              <a:rPr lang="zh-CN" altLang="en-US" sz="3000" dirty="0">
                <a:solidFill>
                  <a:schemeClr val="tx2"/>
                </a:solidFill>
                <a:latin typeface="Times New Roman" pitchFamily="18" charset="0"/>
              </a:rPr>
              <a:t>工字</a:t>
            </a:r>
            <a:r>
              <a:rPr lang="zh-CN" altLang="en-US" sz="3000" dirty="0">
                <a:solidFill>
                  <a:schemeClr val="tx2"/>
                </a:solidFill>
              </a:rPr>
              <a:t>形截面偏心受压构件正截面承载力的计算</a:t>
            </a:r>
            <a:r>
              <a:rPr lang="zh-CN" altLang="en-US" dirty="0">
                <a:solidFill>
                  <a:schemeClr val="tx2"/>
                </a:solidFill>
              </a:rPr>
              <a:t> </a:t>
            </a:r>
          </a:p>
        </p:txBody>
      </p:sp>
      <p:sp>
        <p:nvSpPr>
          <p:cNvPr id="2" name="矩形 1"/>
          <p:cNvSpPr/>
          <p:nvPr/>
        </p:nvSpPr>
        <p:spPr>
          <a:xfrm>
            <a:off x="427839" y="1905000"/>
            <a:ext cx="8382000" cy="3323987"/>
          </a:xfrm>
          <a:prstGeom prst="rect">
            <a:avLst/>
          </a:prstGeom>
        </p:spPr>
        <p:txBody>
          <a:bodyPr wrap="square">
            <a:spAutoFit/>
          </a:bodyPr>
          <a:lstStyle/>
          <a:p>
            <a:pPr marL="342900" indent="-342900" algn="l">
              <a:lnSpc>
                <a:spcPct val="150000"/>
              </a:lnSpc>
              <a:spcBef>
                <a:spcPts val="0"/>
              </a:spcBef>
              <a:buFont typeface="Wingdings" pitchFamily="2" charset="2"/>
              <a:buChar char="l"/>
            </a:pPr>
            <a:r>
              <a:rPr lang="zh-CN" altLang="en-US" sz="2000" dirty="0"/>
              <a:t>为了节省混凝土和减轻构件自重，对于截面尺寸较大</a:t>
            </a:r>
            <a:r>
              <a:rPr lang="en-US" altLang="zh-CN" sz="2000" dirty="0"/>
              <a:t>(</a:t>
            </a:r>
            <a:r>
              <a:rPr lang="zh-CN" altLang="en-US" sz="2000" dirty="0"/>
              <a:t>一般当截面高度</a:t>
            </a:r>
            <a:r>
              <a:rPr lang="en-US" altLang="zh-CN" sz="2000" dirty="0"/>
              <a:t>h</a:t>
            </a:r>
            <a:r>
              <a:rPr lang="zh-CN" altLang="en-US" sz="2000" dirty="0"/>
              <a:t>＞</a:t>
            </a:r>
            <a:r>
              <a:rPr lang="en-US" altLang="zh-CN" sz="2000" dirty="0"/>
              <a:t>600mm</a:t>
            </a:r>
            <a:r>
              <a:rPr lang="zh-CN" altLang="en-US" sz="2000" dirty="0"/>
              <a:t>时</a:t>
            </a:r>
            <a:r>
              <a:rPr lang="en-US" altLang="zh-CN" sz="2000" dirty="0"/>
              <a:t>)</a:t>
            </a:r>
            <a:r>
              <a:rPr lang="zh-CN" altLang="en-US" sz="2000" dirty="0"/>
              <a:t>的柱子可采用工字形截面，它在工程中（如单层工业厂房）广泛应用。</a:t>
            </a:r>
            <a:r>
              <a:rPr lang="zh-CN" altLang="en-US" sz="2000" dirty="0">
                <a:solidFill>
                  <a:srgbClr val="FF0000"/>
                </a:solidFill>
              </a:rPr>
              <a:t>工字形截面尺寸的构造要求详见</a:t>
            </a:r>
            <a:r>
              <a:rPr lang="en-US" altLang="zh-CN" sz="2000" dirty="0">
                <a:solidFill>
                  <a:srgbClr val="FF0000"/>
                </a:solidFill>
              </a:rPr>
              <a:t>7.6.1</a:t>
            </a:r>
            <a:r>
              <a:rPr lang="zh-CN" altLang="en-US" sz="2000" dirty="0">
                <a:solidFill>
                  <a:srgbClr val="FF0000"/>
                </a:solidFill>
              </a:rPr>
              <a:t>节</a:t>
            </a:r>
            <a:r>
              <a:rPr lang="zh-CN" altLang="en-US" sz="2000" dirty="0"/>
              <a:t>。 </a:t>
            </a:r>
            <a:endParaRPr lang="en-US" altLang="zh-CN" sz="2000" dirty="0"/>
          </a:p>
          <a:p>
            <a:pPr marL="342900" indent="-342900" algn="l">
              <a:lnSpc>
                <a:spcPct val="150000"/>
              </a:lnSpc>
              <a:spcBef>
                <a:spcPts val="0"/>
              </a:spcBef>
              <a:buFont typeface="Wingdings" pitchFamily="2" charset="2"/>
              <a:buChar char="l"/>
            </a:pPr>
            <a:endParaRPr lang="en-US" altLang="zh-CN" sz="2000" dirty="0"/>
          </a:p>
          <a:p>
            <a:pPr marL="342900" indent="-342900" algn="l">
              <a:lnSpc>
                <a:spcPct val="150000"/>
              </a:lnSpc>
              <a:spcBef>
                <a:spcPts val="0"/>
              </a:spcBef>
              <a:buFont typeface="Wingdings" pitchFamily="2" charset="2"/>
              <a:buChar char="l"/>
            </a:pPr>
            <a:r>
              <a:rPr lang="zh-CN" altLang="en-US" sz="2000" dirty="0"/>
              <a:t>工字形截面偏心受压构件的破坏特征、设计原则和计算方法均与矩形截面相同，截面设计和复核时，同样可分为大偏心受压和小偏心受压两种情况。判别方法亦与矩形截面相同。</a:t>
            </a:r>
          </a:p>
        </p:txBody>
      </p:sp>
    </p:spTree>
    <p:extLst>
      <p:ext uri="{BB962C8B-B14F-4D97-AF65-F5344CB8AC3E}">
        <p14:creationId xmlns:p14="http://schemas.microsoft.com/office/powerpoint/2010/main" val="3533049765"/>
      </p:ext>
    </p:ext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382000" cy="563562"/>
          </a:xfrm>
        </p:spPr>
        <p:txBody>
          <a:bodyPr/>
          <a:lstStyle/>
          <a:p>
            <a:r>
              <a:rPr lang="en-US" altLang="zh-CN" sz="3000" dirty="0">
                <a:solidFill>
                  <a:schemeClr val="tx2"/>
                </a:solidFill>
                <a:latin typeface="Times New Roman" pitchFamily="18" charset="0"/>
              </a:rPr>
              <a:t>7.3</a:t>
            </a:r>
            <a:r>
              <a:rPr lang="zh-CN" altLang="en-US" sz="3000" dirty="0">
                <a:solidFill>
                  <a:schemeClr val="tx2"/>
                </a:solidFill>
                <a:latin typeface="Times New Roman" pitchFamily="18" charset="0"/>
              </a:rPr>
              <a:t>工字</a:t>
            </a:r>
            <a:r>
              <a:rPr lang="zh-CN" altLang="en-US" sz="3000" dirty="0">
                <a:solidFill>
                  <a:schemeClr val="tx2"/>
                </a:solidFill>
              </a:rPr>
              <a:t>形截面偏心受压构件正截面承载力的计算</a:t>
            </a:r>
            <a:r>
              <a:rPr lang="zh-CN" altLang="en-US" dirty="0">
                <a:solidFill>
                  <a:schemeClr val="tx2"/>
                </a:solidFill>
              </a:rPr>
              <a:t>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7.3.1 </a:t>
            </a:r>
            <a:r>
              <a:rPr lang="zh-CN" altLang="en-US" dirty="0">
                <a:solidFill>
                  <a:srgbClr val="A50021"/>
                </a:solidFill>
                <a:ea typeface="华文中宋" pitchFamily="2" charset="-122"/>
                <a:cs typeface="Times New Roman" pitchFamily="18" charset="0"/>
              </a:rPr>
              <a:t>非对称配筋工字形截面正截面受压承载力的计算</a:t>
            </a:r>
            <a:endParaRPr lang="en-US" altLang="zh-CN" dirty="0">
              <a:solidFill>
                <a:srgbClr val="990099"/>
              </a:solidFill>
              <a:cs typeface="Times New Roman" pitchFamily="18" charset="0"/>
            </a:endParaRPr>
          </a:p>
        </p:txBody>
      </p:sp>
      <p:sp>
        <p:nvSpPr>
          <p:cNvPr id="417796" name="Rectangle 4"/>
          <p:cNvSpPr>
            <a:spLocks noChangeArrowheads="1"/>
          </p:cNvSpPr>
          <p:nvPr/>
        </p:nvSpPr>
        <p:spPr bwMode="auto">
          <a:xfrm>
            <a:off x="211123" y="1632668"/>
            <a:ext cx="4419600"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r>
              <a:rPr lang="zh-CN" altLang="en-US" sz="2000" dirty="0"/>
              <a:t>一、大偏心受压（</a:t>
            </a:r>
            <a:r>
              <a:rPr lang="en-US" altLang="zh-CN" sz="2000" i="1" dirty="0"/>
              <a:t>ξ</a:t>
            </a:r>
            <a:r>
              <a:rPr lang="zh-CN" altLang="en-US" sz="2000" i="1" dirty="0"/>
              <a:t>≤</a:t>
            </a:r>
            <a:r>
              <a:rPr lang="en-US" altLang="zh-CN" sz="2000" i="1" dirty="0"/>
              <a:t> </a:t>
            </a:r>
            <a:r>
              <a:rPr lang="en-US" altLang="zh-CN" sz="2000" i="1" dirty="0" err="1"/>
              <a:t>ξ</a:t>
            </a:r>
            <a:r>
              <a:rPr lang="en-US" altLang="zh-CN" sz="2000" baseline="-25000" dirty="0" err="1"/>
              <a:t>b</a:t>
            </a:r>
            <a:r>
              <a:rPr lang="zh-CN" altLang="en-US" sz="2000" dirty="0"/>
              <a:t>） </a:t>
            </a:r>
          </a:p>
        </p:txBody>
      </p:sp>
      <p:sp>
        <p:nvSpPr>
          <p:cNvPr id="3" name="矩形 2"/>
          <p:cNvSpPr/>
          <p:nvPr/>
        </p:nvSpPr>
        <p:spPr>
          <a:xfrm>
            <a:off x="762000" y="2057400"/>
            <a:ext cx="6248400" cy="369332"/>
          </a:xfrm>
          <a:prstGeom prst="rect">
            <a:avLst/>
          </a:prstGeom>
        </p:spPr>
        <p:txBody>
          <a:bodyPr wrap="square">
            <a:spAutoFit/>
          </a:bodyPr>
          <a:lstStyle/>
          <a:p>
            <a:r>
              <a:rPr lang="zh-CN" altLang="en-US" sz="2000" dirty="0"/>
              <a:t>与</a:t>
            </a:r>
            <a:r>
              <a:rPr lang="en-US" altLang="zh-CN" sz="2000" dirty="0"/>
              <a:t>T</a:t>
            </a:r>
            <a:r>
              <a:rPr lang="zh-CN" altLang="en-US" sz="2000" dirty="0"/>
              <a:t>形梁类似，按受压区高度</a:t>
            </a:r>
            <a:r>
              <a:rPr lang="en-US" altLang="zh-CN" sz="2000" i="1" dirty="0"/>
              <a:t>x</a:t>
            </a:r>
            <a:r>
              <a:rPr lang="zh-CN" altLang="en-US" sz="2000" dirty="0"/>
              <a:t>的不同，有两种情况。</a:t>
            </a:r>
          </a:p>
        </p:txBody>
      </p:sp>
      <p:graphicFrame>
        <p:nvGraphicFramePr>
          <p:cNvPr id="4" name="对象 3"/>
          <p:cNvGraphicFramePr>
            <a:graphicFrameLocks noChangeAspect="1"/>
          </p:cNvGraphicFramePr>
          <p:nvPr>
            <p:extLst>
              <p:ext uri="{D42A27DB-BD31-4B8C-83A1-F6EECF244321}">
                <p14:modId xmlns:p14="http://schemas.microsoft.com/office/powerpoint/2010/main" val="33486268"/>
              </p:ext>
            </p:extLst>
          </p:nvPr>
        </p:nvGraphicFramePr>
        <p:xfrm>
          <a:off x="381000" y="2590800"/>
          <a:ext cx="928687" cy="442912"/>
        </p:xfrm>
        <a:graphic>
          <a:graphicData uri="http://schemas.openxmlformats.org/presentationml/2006/ole">
            <mc:AlternateContent xmlns:mc="http://schemas.openxmlformats.org/markup-compatibility/2006">
              <mc:Choice xmlns:v="urn:schemas-microsoft-com:vml" Requires="v">
                <p:oleObj spid="_x0000_s542982" name="Equation" r:id="rId3" imgW="545760" imgH="253800" progId="">
                  <p:embed/>
                </p:oleObj>
              </mc:Choice>
              <mc:Fallback>
                <p:oleObj name="Equation" r:id="rId3" imgW="545760" imgH="2538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590800"/>
                        <a:ext cx="928687"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矩形 8"/>
          <p:cNvSpPr/>
          <p:nvPr/>
        </p:nvSpPr>
        <p:spPr>
          <a:xfrm>
            <a:off x="304800" y="3048000"/>
            <a:ext cx="6248400" cy="749564"/>
          </a:xfrm>
          <a:prstGeom prst="rect">
            <a:avLst/>
          </a:prstGeom>
        </p:spPr>
        <p:txBody>
          <a:bodyPr wrap="square">
            <a:spAutoFit/>
          </a:bodyPr>
          <a:lstStyle/>
          <a:p>
            <a:pPr algn="l">
              <a:lnSpc>
                <a:spcPct val="125000"/>
              </a:lnSpc>
              <a:spcBef>
                <a:spcPts val="0"/>
              </a:spcBef>
            </a:pPr>
            <a:r>
              <a:rPr lang="zh-CN" altLang="en-US" sz="1800" dirty="0"/>
              <a:t>表明受压区在翼缘内，这时可按受压翼缘计算宽度为</a:t>
            </a:r>
            <a:r>
              <a:rPr lang="en-US" altLang="zh-CN" sz="1800" i="1" dirty="0"/>
              <a:t>b</a:t>
            </a:r>
            <a:r>
              <a:rPr lang="en-US" altLang="zh-CN" sz="1800" i="1" baseline="-25000" dirty="0"/>
              <a:t>f</a:t>
            </a:r>
            <a:r>
              <a:rPr lang="en-US" altLang="zh-CN" sz="1800" i="1" dirty="0"/>
              <a:t>’</a:t>
            </a:r>
            <a:r>
              <a:rPr lang="zh-CN" altLang="en-US" sz="1800" dirty="0"/>
              <a:t>的矩形截面计算，可得出基本计算公式：</a:t>
            </a:r>
          </a:p>
        </p:txBody>
      </p:sp>
      <p:graphicFrame>
        <p:nvGraphicFramePr>
          <p:cNvPr id="10" name="对象 9"/>
          <p:cNvGraphicFramePr>
            <a:graphicFrameLocks noChangeAspect="1"/>
          </p:cNvGraphicFramePr>
          <p:nvPr>
            <p:extLst>
              <p:ext uri="{D42A27DB-BD31-4B8C-83A1-F6EECF244321}">
                <p14:modId xmlns:p14="http://schemas.microsoft.com/office/powerpoint/2010/main" val="3764307133"/>
              </p:ext>
            </p:extLst>
          </p:nvPr>
        </p:nvGraphicFramePr>
        <p:xfrm>
          <a:off x="1058863" y="3886200"/>
          <a:ext cx="2720975" cy="442913"/>
        </p:xfrm>
        <a:graphic>
          <a:graphicData uri="http://schemas.openxmlformats.org/presentationml/2006/ole">
            <mc:AlternateContent xmlns:mc="http://schemas.openxmlformats.org/markup-compatibility/2006">
              <mc:Choice xmlns:v="urn:schemas-microsoft-com:vml" Requires="v">
                <p:oleObj spid="_x0000_s542983" name="Equation" r:id="rId5" imgW="1600200" imgH="253800" progId="Equation.DSMT4">
                  <p:embed/>
                </p:oleObj>
              </mc:Choice>
              <mc:Fallback>
                <p:oleObj name="Equation" r:id="rId5" imgW="1600200" imgH="253800" progId="Equation.DSMT4">
                  <p:embed/>
                  <p:pic>
                    <p:nvPicPr>
                      <p:cNvPr id="0" name="Picture 3"/>
                      <p:cNvPicPr>
                        <a:picLocks noChangeAspect="1" noChangeArrowheads="1"/>
                      </p:cNvPicPr>
                      <p:nvPr/>
                    </p:nvPicPr>
                    <p:blipFill>
                      <a:blip r:embed="rId6"/>
                      <a:srcRect/>
                      <a:stretch>
                        <a:fillRect/>
                      </a:stretch>
                    </p:blipFill>
                    <p:spPr bwMode="auto">
                      <a:xfrm>
                        <a:off x="1058863" y="3886200"/>
                        <a:ext cx="272097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74791949"/>
              </p:ext>
            </p:extLst>
          </p:nvPr>
        </p:nvGraphicFramePr>
        <p:xfrm>
          <a:off x="1011238" y="4343400"/>
          <a:ext cx="3778250" cy="687388"/>
        </p:xfrm>
        <a:graphic>
          <a:graphicData uri="http://schemas.openxmlformats.org/presentationml/2006/ole">
            <mc:AlternateContent xmlns:mc="http://schemas.openxmlformats.org/markup-compatibility/2006">
              <mc:Choice xmlns:v="urn:schemas-microsoft-com:vml" Requires="v">
                <p:oleObj spid="_x0000_s542984" name="Equation" r:id="rId7" imgW="2222280" imgH="393480" progId="Equation.DSMT4">
                  <p:embed/>
                </p:oleObj>
              </mc:Choice>
              <mc:Fallback>
                <p:oleObj name="Equation" r:id="rId7" imgW="2222280" imgH="393480" progId="Equation.DSMT4">
                  <p:embed/>
                  <p:pic>
                    <p:nvPicPr>
                      <p:cNvPr id="0" name="Picture 4"/>
                      <p:cNvPicPr>
                        <a:picLocks noChangeAspect="1" noChangeArrowheads="1"/>
                      </p:cNvPicPr>
                      <p:nvPr/>
                    </p:nvPicPr>
                    <p:blipFill>
                      <a:blip r:embed="rId8"/>
                      <a:srcRect/>
                      <a:stretch>
                        <a:fillRect/>
                      </a:stretch>
                    </p:blipFill>
                    <p:spPr bwMode="auto">
                      <a:xfrm>
                        <a:off x="1011238" y="4343400"/>
                        <a:ext cx="3778250"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258245628"/>
              </p:ext>
            </p:extLst>
          </p:nvPr>
        </p:nvGraphicFramePr>
        <p:xfrm>
          <a:off x="1076325" y="4953000"/>
          <a:ext cx="1446213" cy="687388"/>
        </p:xfrm>
        <a:graphic>
          <a:graphicData uri="http://schemas.openxmlformats.org/presentationml/2006/ole">
            <mc:AlternateContent xmlns:mc="http://schemas.openxmlformats.org/markup-compatibility/2006">
              <mc:Choice xmlns:v="urn:schemas-microsoft-com:vml" Requires="v">
                <p:oleObj spid="_x0000_s542985" name="Equation" r:id="rId9" imgW="850680" imgH="393480" progId="Equation.DSMT4">
                  <p:embed/>
                </p:oleObj>
              </mc:Choice>
              <mc:Fallback>
                <p:oleObj name="Equation" r:id="rId9" imgW="850680" imgH="393480" progId="Equation.DSMT4">
                  <p:embed/>
                  <p:pic>
                    <p:nvPicPr>
                      <p:cNvPr id="0" name="Picture 5"/>
                      <p:cNvPicPr>
                        <a:picLocks noChangeAspect="1" noChangeArrowheads="1"/>
                      </p:cNvPicPr>
                      <p:nvPr/>
                    </p:nvPicPr>
                    <p:blipFill>
                      <a:blip r:embed="rId10"/>
                      <a:srcRect/>
                      <a:stretch>
                        <a:fillRect/>
                      </a:stretch>
                    </p:blipFill>
                    <p:spPr bwMode="auto">
                      <a:xfrm>
                        <a:off x="1076325" y="4953000"/>
                        <a:ext cx="1446213"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788465936"/>
              </p:ext>
            </p:extLst>
          </p:nvPr>
        </p:nvGraphicFramePr>
        <p:xfrm>
          <a:off x="2295525" y="5818188"/>
          <a:ext cx="1295400" cy="442912"/>
        </p:xfrm>
        <a:graphic>
          <a:graphicData uri="http://schemas.openxmlformats.org/presentationml/2006/ole">
            <mc:AlternateContent xmlns:mc="http://schemas.openxmlformats.org/markup-compatibility/2006">
              <mc:Choice xmlns:v="urn:schemas-microsoft-com:vml" Requires="v">
                <p:oleObj spid="_x0000_s542986" name="Equation" r:id="rId11" imgW="761760" imgH="253800" progId="Equation.DSMT4">
                  <p:embed/>
                </p:oleObj>
              </mc:Choice>
              <mc:Fallback>
                <p:oleObj name="Equation" r:id="rId11" imgW="761760" imgH="253800" progId="Equation.DSMT4">
                  <p:embed/>
                  <p:pic>
                    <p:nvPicPr>
                      <p:cNvPr id="0" name="Picture 6"/>
                      <p:cNvPicPr>
                        <a:picLocks noChangeAspect="1" noChangeArrowheads="1"/>
                      </p:cNvPicPr>
                      <p:nvPr/>
                    </p:nvPicPr>
                    <p:blipFill>
                      <a:blip r:embed="rId12"/>
                      <a:srcRect/>
                      <a:stretch>
                        <a:fillRect/>
                      </a:stretch>
                    </p:blipFill>
                    <p:spPr bwMode="auto">
                      <a:xfrm>
                        <a:off x="2295525" y="5818188"/>
                        <a:ext cx="1295400"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矩形 13"/>
          <p:cNvSpPr/>
          <p:nvPr/>
        </p:nvSpPr>
        <p:spPr>
          <a:xfrm>
            <a:off x="973123" y="5791200"/>
            <a:ext cx="1447800" cy="438582"/>
          </a:xfrm>
          <a:prstGeom prst="rect">
            <a:avLst/>
          </a:prstGeom>
        </p:spPr>
        <p:txBody>
          <a:bodyPr wrap="square">
            <a:spAutoFit/>
          </a:bodyPr>
          <a:lstStyle/>
          <a:p>
            <a:pPr algn="l">
              <a:lnSpc>
                <a:spcPct val="125000"/>
              </a:lnSpc>
              <a:spcBef>
                <a:spcPts val="0"/>
              </a:spcBef>
            </a:pPr>
            <a:r>
              <a:rPr lang="zh-CN" altLang="en-US" sz="1800" dirty="0"/>
              <a:t>适用条件：</a:t>
            </a:r>
          </a:p>
        </p:txBody>
      </p:sp>
      <p:pic>
        <p:nvPicPr>
          <p:cNvPr id="425174" name="Picture 214"/>
          <p:cNvPicPr>
            <a:picLocks noChangeAspect="1" noChangeArrowheads="1"/>
          </p:cNvPicPr>
          <p:nvPr/>
        </p:nvPicPr>
        <p:blipFill>
          <a:blip r:embed="rId13">
            <a:extLst>
              <a:ext uri="{BEBA8EAE-BF5A-486C-A8C5-ECC9F3942E4B}">
                <a14:imgProps xmlns:a14="http://schemas.microsoft.com/office/drawing/2010/main">
                  <a14:imgLayer>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921676" y="1752600"/>
            <a:ext cx="1958270" cy="464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a:off x="7929586" y="2143116"/>
            <a:ext cx="428628" cy="286232"/>
          </a:xfrm>
          <a:prstGeom prst="rect">
            <a:avLst/>
          </a:prstGeom>
          <a:solidFill>
            <a:schemeClr val="bg1"/>
          </a:solidFill>
        </p:spPr>
        <p:txBody>
          <a:bodyPr wrap="square" rtlCol="0">
            <a:spAutoFit/>
          </a:bodyPr>
          <a:lstStyle/>
          <a:p>
            <a:r>
              <a:rPr lang="en-US" altLang="zh-CN" sz="1400" i="1" dirty="0" err="1"/>
              <a:t>e</a:t>
            </a:r>
            <a:r>
              <a:rPr lang="en-US" altLang="zh-CN" sz="1400" baseline="-25000" dirty="0" err="1"/>
              <a:t>i</a:t>
            </a:r>
            <a:endParaRPr lang="zh-CN" altLang="en-US" sz="1400" baseline="-25000" dirty="0"/>
          </a:p>
        </p:txBody>
      </p:sp>
      <p:sp>
        <p:nvSpPr>
          <p:cNvPr id="16" name="TextBox 15"/>
          <p:cNvSpPr txBox="1"/>
          <p:nvPr/>
        </p:nvSpPr>
        <p:spPr>
          <a:xfrm>
            <a:off x="6786578" y="1500174"/>
            <a:ext cx="2040944" cy="424732"/>
          </a:xfrm>
          <a:prstGeom prst="rect">
            <a:avLst/>
          </a:prstGeom>
          <a:noFill/>
        </p:spPr>
        <p:txBody>
          <a:bodyPr wrap="none" rtlCol="0">
            <a:spAutoFit/>
          </a:bodyPr>
          <a:lstStyle/>
          <a:p>
            <a:r>
              <a:rPr lang="zh-CN" altLang="en-US" dirty="0"/>
              <a:t>书上的图有误</a:t>
            </a:r>
          </a:p>
        </p:txBody>
      </p:sp>
    </p:spTree>
    <p:extLst>
      <p:ext uri="{BB962C8B-B14F-4D97-AF65-F5344CB8AC3E}">
        <p14:creationId xmlns:p14="http://schemas.microsoft.com/office/powerpoint/2010/main" val="3172773376"/>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382000" cy="563562"/>
          </a:xfrm>
        </p:spPr>
        <p:txBody>
          <a:bodyPr/>
          <a:lstStyle/>
          <a:p>
            <a:r>
              <a:rPr lang="en-US" altLang="zh-CN" sz="3000" dirty="0">
                <a:solidFill>
                  <a:schemeClr val="tx2"/>
                </a:solidFill>
                <a:latin typeface="Times New Roman" pitchFamily="18" charset="0"/>
              </a:rPr>
              <a:t>7.3</a:t>
            </a:r>
            <a:r>
              <a:rPr lang="zh-CN" altLang="en-US" sz="3000" dirty="0">
                <a:solidFill>
                  <a:schemeClr val="tx2"/>
                </a:solidFill>
                <a:latin typeface="Times New Roman" pitchFamily="18" charset="0"/>
              </a:rPr>
              <a:t>工字</a:t>
            </a:r>
            <a:r>
              <a:rPr lang="zh-CN" altLang="en-US" sz="3000" dirty="0">
                <a:solidFill>
                  <a:schemeClr val="tx2"/>
                </a:solidFill>
              </a:rPr>
              <a:t>形截面偏心受压构件正截面承载力的计算</a:t>
            </a:r>
            <a:r>
              <a:rPr lang="zh-CN" altLang="en-US" dirty="0">
                <a:solidFill>
                  <a:schemeClr val="tx2"/>
                </a:solidFill>
              </a:rPr>
              <a:t>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7.3.1 </a:t>
            </a:r>
            <a:r>
              <a:rPr lang="zh-CN" altLang="en-US" dirty="0">
                <a:solidFill>
                  <a:srgbClr val="A50021"/>
                </a:solidFill>
                <a:ea typeface="华文中宋" pitchFamily="2" charset="-122"/>
                <a:cs typeface="Times New Roman" pitchFamily="18" charset="0"/>
              </a:rPr>
              <a:t>非对称配筋工字形截面正截面受压承载力的计算</a:t>
            </a:r>
            <a:endParaRPr lang="en-US" altLang="zh-CN" dirty="0">
              <a:solidFill>
                <a:srgbClr val="990099"/>
              </a:solidFill>
              <a:cs typeface="Times New Roman" pitchFamily="18" charset="0"/>
            </a:endParaRPr>
          </a:p>
        </p:txBody>
      </p:sp>
      <p:sp>
        <p:nvSpPr>
          <p:cNvPr id="417796" name="Rectangle 4"/>
          <p:cNvSpPr>
            <a:spLocks noChangeArrowheads="1"/>
          </p:cNvSpPr>
          <p:nvPr/>
        </p:nvSpPr>
        <p:spPr bwMode="auto">
          <a:xfrm>
            <a:off x="211123" y="1632668"/>
            <a:ext cx="4419600"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r>
              <a:rPr lang="zh-CN" altLang="en-US" sz="2000" dirty="0"/>
              <a:t>一、大偏心受压（</a:t>
            </a:r>
            <a:r>
              <a:rPr lang="en-US" altLang="zh-CN" sz="2000" i="1" dirty="0"/>
              <a:t>ξ</a:t>
            </a:r>
            <a:r>
              <a:rPr lang="zh-CN" altLang="en-US" sz="2000" i="1" dirty="0"/>
              <a:t>≤</a:t>
            </a:r>
            <a:r>
              <a:rPr lang="en-US" altLang="zh-CN" sz="2000" i="1" dirty="0"/>
              <a:t> </a:t>
            </a:r>
            <a:r>
              <a:rPr lang="en-US" altLang="zh-CN" sz="2000" i="1" dirty="0" err="1"/>
              <a:t>ξ</a:t>
            </a:r>
            <a:r>
              <a:rPr lang="en-US" altLang="zh-CN" sz="2000" baseline="-25000" dirty="0" err="1"/>
              <a:t>b</a:t>
            </a:r>
            <a:r>
              <a:rPr lang="zh-CN" altLang="en-US" sz="2000" dirty="0"/>
              <a:t>） </a:t>
            </a:r>
          </a:p>
        </p:txBody>
      </p:sp>
      <p:sp>
        <p:nvSpPr>
          <p:cNvPr id="3" name="矩形 2"/>
          <p:cNvSpPr/>
          <p:nvPr/>
        </p:nvSpPr>
        <p:spPr>
          <a:xfrm>
            <a:off x="762000" y="2057400"/>
            <a:ext cx="6248400" cy="369332"/>
          </a:xfrm>
          <a:prstGeom prst="rect">
            <a:avLst/>
          </a:prstGeom>
        </p:spPr>
        <p:txBody>
          <a:bodyPr wrap="square">
            <a:spAutoFit/>
          </a:bodyPr>
          <a:lstStyle/>
          <a:p>
            <a:r>
              <a:rPr lang="zh-CN" altLang="en-US" sz="2000" dirty="0"/>
              <a:t>与</a:t>
            </a:r>
            <a:r>
              <a:rPr lang="en-US" altLang="zh-CN" sz="2000" dirty="0"/>
              <a:t>T</a:t>
            </a:r>
            <a:r>
              <a:rPr lang="zh-CN" altLang="en-US" sz="2000" dirty="0"/>
              <a:t>形梁类似，按受压区高度</a:t>
            </a:r>
            <a:r>
              <a:rPr lang="en-US" altLang="zh-CN" sz="2000" i="1" dirty="0"/>
              <a:t>x</a:t>
            </a:r>
            <a:r>
              <a:rPr lang="zh-CN" altLang="en-US" sz="2000" dirty="0"/>
              <a:t>的不同，有两种情况。</a:t>
            </a:r>
          </a:p>
        </p:txBody>
      </p:sp>
      <p:graphicFrame>
        <p:nvGraphicFramePr>
          <p:cNvPr id="4" name="对象 3"/>
          <p:cNvGraphicFramePr>
            <a:graphicFrameLocks noChangeAspect="1"/>
          </p:cNvGraphicFramePr>
          <p:nvPr>
            <p:extLst>
              <p:ext uri="{D42A27DB-BD31-4B8C-83A1-F6EECF244321}">
                <p14:modId xmlns:p14="http://schemas.microsoft.com/office/powerpoint/2010/main" val="1714865872"/>
              </p:ext>
            </p:extLst>
          </p:nvPr>
        </p:nvGraphicFramePr>
        <p:xfrm>
          <a:off x="371475" y="2590800"/>
          <a:ext cx="949325" cy="442913"/>
        </p:xfrm>
        <a:graphic>
          <a:graphicData uri="http://schemas.openxmlformats.org/presentationml/2006/ole">
            <mc:AlternateContent xmlns:mc="http://schemas.openxmlformats.org/markup-compatibility/2006">
              <mc:Choice xmlns:v="urn:schemas-microsoft-com:vml" Requires="v">
                <p:oleObj spid="_x0000_s543950" name="Equation" r:id="rId3" imgW="558720" imgH="253800" progId="">
                  <p:embed/>
                </p:oleObj>
              </mc:Choice>
              <mc:Fallback>
                <p:oleObj name="Equation" r:id="rId3" imgW="558720" imgH="2538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475" y="2590800"/>
                        <a:ext cx="949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矩形 8"/>
          <p:cNvSpPr/>
          <p:nvPr/>
        </p:nvSpPr>
        <p:spPr>
          <a:xfrm>
            <a:off x="304800" y="3048000"/>
            <a:ext cx="6248400" cy="438582"/>
          </a:xfrm>
          <a:prstGeom prst="rect">
            <a:avLst/>
          </a:prstGeom>
        </p:spPr>
        <p:txBody>
          <a:bodyPr wrap="square">
            <a:spAutoFit/>
          </a:bodyPr>
          <a:lstStyle/>
          <a:p>
            <a:pPr algn="l">
              <a:lnSpc>
                <a:spcPct val="125000"/>
              </a:lnSpc>
              <a:spcBef>
                <a:spcPts val="0"/>
              </a:spcBef>
            </a:pPr>
            <a:r>
              <a:rPr lang="zh-CN" altLang="en-US" sz="1800" dirty="0"/>
              <a:t>表明受压区已进入腹板内，可得出基本计算公式：</a:t>
            </a:r>
          </a:p>
        </p:txBody>
      </p:sp>
      <p:graphicFrame>
        <p:nvGraphicFramePr>
          <p:cNvPr id="10" name="对象 9"/>
          <p:cNvGraphicFramePr>
            <a:graphicFrameLocks noChangeAspect="1"/>
          </p:cNvGraphicFramePr>
          <p:nvPr>
            <p:extLst>
              <p:ext uri="{D42A27DB-BD31-4B8C-83A1-F6EECF244321}">
                <p14:modId xmlns:p14="http://schemas.microsoft.com/office/powerpoint/2010/main" val="2093883643"/>
              </p:ext>
            </p:extLst>
          </p:nvPr>
        </p:nvGraphicFramePr>
        <p:xfrm>
          <a:off x="477838" y="3581400"/>
          <a:ext cx="4318000" cy="442913"/>
        </p:xfrm>
        <a:graphic>
          <a:graphicData uri="http://schemas.openxmlformats.org/presentationml/2006/ole">
            <mc:AlternateContent xmlns:mc="http://schemas.openxmlformats.org/markup-compatibility/2006">
              <mc:Choice xmlns:v="urn:schemas-microsoft-com:vml" Requires="v">
                <p:oleObj spid="_x0000_s543951" name="Equation" r:id="rId5" imgW="2539800" imgH="253800" progId="Equation.DSMT4">
                  <p:embed/>
                </p:oleObj>
              </mc:Choice>
              <mc:Fallback>
                <p:oleObj name="Equation" r:id="rId5" imgW="2539800" imgH="253800" progId="Equation.DSMT4">
                  <p:embed/>
                  <p:pic>
                    <p:nvPicPr>
                      <p:cNvPr id="0" name="Picture 3"/>
                      <p:cNvPicPr>
                        <a:picLocks noChangeAspect="1" noChangeArrowheads="1"/>
                      </p:cNvPicPr>
                      <p:nvPr/>
                    </p:nvPicPr>
                    <p:blipFill>
                      <a:blip r:embed="rId6"/>
                      <a:srcRect/>
                      <a:stretch>
                        <a:fillRect/>
                      </a:stretch>
                    </p:blipFill>
                    <p:spPr bwMode="auto">
                      <a:xfrm>
                        <a:off x="477838" y="3581400"/>
                        <a:ext cx="4318000"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306559809"/>
              </p:ext>
            </p:extLst>
          </p:nvPr>
        </p:nvGraphicFramePr>
        <p:xfrm>
          <a:off x="488950" y="4114800"/>
          <a:ext cx="6281738" cy="754063"/>
        </p:xfrm>
        <a:graphic>
          <a:graphicData uri="http://schemas.openxmlformats.org/presentationml/2006/ole">
            <mc:AlternateContent xmlns:mc="http://schemas.openxmlformats.org/markup-compatibility/2006">
              <mc:Choice xmlns:v="urn:schemas-microsoft-com:vml" Requires="v">
                <p:oleObj spid="_x0000_s543952" name="Equation" r:id="rId7" imgW="3695400" imgH="431640" progId="Equation.DSMT4">
                  <p:embed/>
                </p:oleObj>
              </mc:Choice>
              <mc:Fallback>
                <p:oleObj name="Equation" r:id="rId7" imgW="3695400" imgH="431640" progId="Equation.DSMT4">
                  <p:embed/>
                  <p:pic>
                    <p:nvPicPr>
                      <p:cNvPr id="0" name="Picture 4"/>
                      <p:cNvPicPr>
                        <a:picLocks noChangeAspect="1" noChangeArrowheads="1"/>
                      </p:cNvPicPr>
                      <p:nvPr/>
                    </p:nvPicPr>
                    <p:blipFill>
                      <a:blip r:embed="rId8"/>
                      <a:srcRect/>
                      <a:stretch>
                        <a:fillRect/>
                      </a:stretch>
                    </p:blipFill>
                    <p:spPr bwMode="auto">
                      <a:xfrm>
                        <a:off x="488950" y="4114800"/>
                        <a:ext cx="6281738" cy="754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999898310"/>
              </p:ext>
            </p:extLst>
          </p:nvPr>
        </p:nvGraphicFramePr>
        <p:xfrm>
          <a:off x="2254250" y="5119688"/>
          <a:ext cx="1381125" cy="442912"/>
        </p:xfrm>
        <a:graphic>
          <a:graphicData uri="http://schemas.openxmlformats.org/presentationml/2006/ole">
            <mc:AlternateContent xmlns:mc="http://schemas.openxmlformats.org/markup-compatibility/2006">
              <mc:Choice xmlns:v="urn:schemas-microsoft-com:vml" Requires="v">
                <p:oleObj spid="_x0000_s543953" name="Equation" r:id="rId9" imgW="812520" imgH="253800" progId="Equation.DSMT4">
                  <p:embed/>
                </p:oleObj>
              </mc:Choice>
              <mc:Fallback>
                <p:oleObj name="Equation" r:id="rId9" imgW="812520" imgH="253800" progId="Equation.DSMT4">
                  <p:embed/>
                  <p:pic>
                    <p:nvPicPr>
                      <p:cNvPr id="0" name="Picture 5"/>
                      <p:cNvPicPr>
                        <a:picLocks noChangeAspect="1" noChangeArrowheads="1"/>
                      </p:cNvPicPr>
                      <p:nvPr/>
                    </p:nvPicPr>
                    <p:blipFill>
                      <a:blip r:embed="rId10"/>
                      <a:srcRect/>
                      <a:stretch>
                        <a:fillRect/>
                      </a:stretch>
                    </p:blipFill>
                    <p:spPr bwMode="auto">
                      <a:xfrm>
                        <a:off x="2254250" y="5119688"/>
                        <a:ext cx="1381125"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矩形 13"/>
          <p:cNvSpPr/>
          <p:nvPr/>
        </p:nvSpPr>
        <p:spPr>
          <a:xfrm>
            <a:off x="973123" y="5092700"/>
            <a:ext cx="1447800" cy="438582"/>
          </a:xfrm>
          <a:prstGeom prst="rect">
            <a:avLst/>
          </a:prstGeom>
        </p:spPr>
        <p:txBody>
          <a:bodyPr wrap="square">
            <a:spAutoFit/>
          </a:bodyPr>
          <a:lstStyle/>
          <a:p>
            <a:pPr algn="l">
              <a:lnSpc>
                <a:spcPct val="125000"/>
              </a:lnSpc>
              <a:spcBef>
                <a:spcPts val="0"/>
              </a:spcBef>
            </a:pPr>
            <a:r>
              <a:rPr lang="zh-CN" altLang="en-US" sz="1800" dirty="0"/>
              <a:t>适用条件：</a:t>
            </a:r>
          </a:p>
        </p:txBody>
      </p:sp>
      <p:pic>
        <p:nvPicPr>
          <p:cNvPr id="426151" name="Picture 167"/>
          <p:cNvPicPr>
            <a:picLocks noChangeAspect="1" noChangeArrowheads="1"/>
          </p:cNvPicPr>
          <p:nvPr/>
        </p:nvPicPr>
        <p:blipFill>
          <a:blip r:embed="rId11">
            <a:extLst>
              <a:ext uri="{BEBA8EAE-BF5A-486C-A8C5-ECC9F3942E4B}">
                <a14:imgProps xmlns:a14="http://schemas.microsoft.com/office/drawing/2010/main">
                  <a14:imgLayer>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837272" y="1909465"/>
            <a:ext cx="2230528" cy="4491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a:off x="7929586" y="2285512"/>
            <a:ext cx="428628" cy="286232"/>
          </a:xfrm>
          <a:prstGeom prst="rect">
            <a:avLst/>
          </a:prstGeom>
          <a:solidFill>
            <a:schemeClr val="bg1"/>
          </a:solidFill>
        </p:spPr>
        <p:txBody>
          <a:bodyPr wrap="square" rtlCol="0">
            <a:spAutoFit/>
          </a:bodyPr>
          <a:lstStyle/>
          <a:p>
            <a:r>
              <a:rPr lang="en-US" altLang="zh-CN" sz="1400" i="1" dirty="0" err="1"/>
              <a:t>e</a:t>
            </a:r>
            <a:r>
              <a:rPr lang="en-US" altLang="zh-CN" sz="1400" baseline="-25000" dirty="0" err="1"/>
              <a:t>i</a:t>
            </a:r>
            <a:endParaRPr lang="zh-CN" altLang="en-US" sz="1400" baseline="-25000" dirty="0"/>
          </a:p>
        </p:txBody>
      </p:sp>
    </p:spTree>
    <p:extLst>
      <p:ext uri="{BB962C8B-B14F-4D97-AF65-F5344CB8AC3E}">
        <p14:creationId xmlns:p14="http://schemas.microsoft.com/office/powerpoint/2010/main" val="3955508610"/>
      </p:ext>
    </p:ext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382000" cy="563562"/>
          </a:xfrm>
        </p:spPr>
        <p:txBody>
          <a:bodyPr/>
          <a:lstStyle/>
          <a:p>
            <a:r>
              <a:rPr lang="en-US" altLang="zh-CN" sz="3000" dirty="0">
                <a:solidFill>
                  <a:schemeClr val="tx2"/>
                </a:solidFill>
                <a:latin typeface="Times New Roman" pitchFamily="18" charset="0"/>
              </a:rPr>
              <a:t>7.3</a:t>
            </a:r>
            <a:r>
              <a:rPr lang="zh-CN" altLang="en-US" sz="3000" dirty="0">
                <a:solidFill>
                  <a:schemeClr val="tx2"/>
                </a:solidFill>
                <a:latin typeface="Times New Roman" pitchFamily="18" charset="0"/>
              </a:rPr>
              <a:t>工字</a:t>
            </a:r>
            <a:r>
              <a:rPr lang="zh-CN" altLang="en-US" sz="3000" dirty="0">
                <a:solidFill>
                  <a:schemeClr val="tx2"/>
                </a:solidFill>
              </a:rPr>
              <a:t>形截面偏心受压构件正截面承载力的计算</a:t>
            </a:r>
            <a:r>
              <a:rPr lang="zh-CN" altLang="en-US" dirty="0">
                <a:solidFill>
                  <a:schemeClr val="tx2"/>
                </a:solidFill>
              </a:rPr>
              <a:t>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7.3.1 </a:t>
            </a:r>
            <a:r>
              <a:rPr lang="zh-CN" altLang="en-US" dirty="0">
                <a:solidFill>
                  <a:srgbClr val="A50021"/>
                </a:solidFill>
                <a:ea typeface="华文中宋" pitchFamily="2" charset="-122"/>
                <a:cs typeface="Times New Roman" pitchFamily="18" charset="0"/>
              </a:rPr>
              <a:t>非对称配筋工字形截面正截面受压承载力的计算</a:t>
            </a:r>
            <a:endParaRPr lang="en-US" altLang="zh-CN" dirty="0">
              <a:solidFill>
                <a:srgbClr val="990099"/>
              </a:solidFill>
              <a:cs typeface="Times New Roman" pitchFamily="18" charset="0"/>
            </a:endParaRPr>
          </a:p>
        </p:txBody>
      </p:sp>
      <p:sp>
        <p:nvSpPr>
          <p:cNvPr id="417796" name="Rectangle 4"/>
          <p:cNvSpPr>
            <a:spLocks noChangeArrowheads="1"/>
          </p:cNvSpPr>
          <p:nvPr/>
        </p:nvSpPr>
        <p:spPr bwMode="auto">
          <a:xfrm>
            <a:off x="211123" y="1632668"/>
            <a:ext cx="4419600"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r>
              <a:rPr lang="zh-CN" altLang="en-US" sz="2000" dirty="0"/>
              <a:t>二、小偏心受压（</a:t>
            </a:r>
            <a:r>
              <a:rPr lang="en-US" altLang="zh-CN" sz="2000" i="1" dirty="0"/>
              <a:t>ξ &gt; </a:t>
            </a:r>
            <a:r>
              <a:rPr lang="en-US" altLang="zh-CN" sz="2000" i="1" dirty="0" err="1"/>
              <a:t>ξ</a:t>
            </a:r>
            <a:r>
              <a:rPr lang="en-US" altLang="zh-CN" sz="2000" baseline="-25000" dirty="0" err="1"/>
              <a:t>b</a:t>
            </a:r>
            <a:r>
              <a:rPr lang="zh-CN" altLang="en-US" sz="2000" dirty="0"/>
              <a:t>） </a:t>
            </a:r>
          </a:p>
        </p:txBody>
      </p:sp>
      <p:sp>
        <p:nvSpPr>
          <p:cNvPr id="5" name="矩形 4"/>
          <p:cNvSpPr/>
          <p:nvPr/>
        </p:nvSpPr>
        <p:spPr>
          <a:xfrm>
            <a:off x="381000" y="2057400"/>
            <a:ext cx="6248400" cy="369332"/>
          </a:xfrm>
          <a:prstGeom prst="rect">
            <a:avLst/>
          </a:prstGeom>
        </p:spPr>
        <p:txBody>
          <a:bodyPr wrap="square">
            <a:spAutoFit/>
          </a:bodyPr>
          <a:lstStyle/>
          <a:p>
            <a:pPr algn="l"/>
            <a:r>
              <a:rPr lang="en-US" altLang="zh-CN" sz="2000" dirty="0"/>
              <a:t>1. </a:t>
            </a:r>
            <a:r>
              <a:rPr lang="zh-CN" altLang="en-US" sz="2000" dirty="0"/>
              <a:t>靠近轴向力</a:t>
            </a:r>
            <a:r>
              <a:rPr lang="en-US" altLang="zh-CN" sz="2000" dirty="0"/>
              <a:t>N</a:t>
            </a:r>
            <a:r>
              <a:rPr lang="zh-CN" altLang="en-US" sz="2000" dirty="0"/>
              <a:t>一侧的混凝土先压坏（正向破坏）</a:t>
            </a:r>
          </a:p>
        </p:txBody>
      </p:sp>
      <p:graphicFrame>
        <p:nvGraphicFramePr>
          <p:cNvPr id="8" name="对象 7"/>
          <p:cNvGraphicFramePr>
            <a:graphicFrameLocks noChangeAspect="1"/>
          </p:cNvGraphicFramePr>
          <p:nvPr>
            <p:extLst>
              <p:ext uri="{D42A27DB-BD31-4B8C-83A1-F6EECF244321}">
                <p14:modId xmlns:p14="http://schemas.microsoft.com/office/powerpoint/2010/main" val="1386861073"/>
              </p:ext>
            </p:extLst>
          </p:nvPr>
        </p:nvGraphicFramePr>
        <p:xfrm>
          <a:off x="425450" y="2514600"/>
          <a:ext cx="3517900" cy="420688"/>
        </p:xfrm>
        <a:graphic>
          <a:graphicData uri="http://schemas.openxmlformats.org/presentationml/2006/ole">
            <mc:AlternateContent xmlns:mc="http://schemas.openxmlformats.org/markup-compatibility/2006">
              <mc:Choice xmlns:v="urn:schemas-microsoft-com:vml" Requires="v">
                <p:oleObj spid="_x0000_s545058" name="Equation" r:id="rId3" imgW="2070000" imgH="241200" progId="Equation.DSMT4">
                  <p:embed/>
                </p:oleObj>
              </mc:Choice>
              <mc:Fallback>
                <p:oleObj name="Equation" r:id="rId3" imgW="2070000" imgH="241200" progId="Equation.DSMT4">
                  <p:embed/>
                  <p:pic>
                    <p:nvPicPr>
                      <p:cNvPr id="0" name="Picture 2"/>
                      <p:cNvPicPr>
                        <a:picLocks noChangeAspect="1" noChangeArrowheads="1"/>
                      </p:cNvPicPr>
                      <p:nvPr/>
                    </p:nvPicPr>
                    <p:blipFill>
                      <a:blip r:embed="rId4"/>
                      <a:srcRect/>
                      <a:stretch>
                        <a:fillRect/>
                      </a:stretch>
                    </p:blipFill>
                    <p:spPr bwMode="auto">
                      <a:xfrm>
                        <a:off x="425450" y="2514600"/>
                        <a:ext cx="3517900"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587560758"/>
              </p:ext>
            </p:extLst>
          </p:nvPr>
        </p:nvGraphicFramePr>
        <p:xfrm>
          <a:off x="401638" y="3048000"/>
          <a:ext cx="4318000" cy="442913"/>
        </p:xfrm>
        <a:graphic>
          <a:graphicData uri="http://schemas.openxmlformats.org/presentationml/2006/ole">
            <mc:AlternateContent xmlns:mc="http://schemas.openxmlformats.org/markup-compatibility/2006">
              <mc:Choice xmlns:v="urn:schemas-microsoft-com:vml" Requires="v">
                <p:oleObj spid="_x0000_s545059" name="Equation" r:id="rId5" imgW="2539800" imgH="253800" progId="Equation.DSMT4">
                  <p:embed/>
                </p:oleObj>
              </mc:Choice>
              <mc:Fallback>
                <p:oleObj name="Equation" r:id="rId5" imgW="2539800" imgH="253800" progId="Equation.DSMT4">
                  <p:embed/>
                  <p:pic>
                    <p:nvPicPr>
                      <p:cNvPr id="0" name="Picture 3"/>
                      <p:cNvPicPr>
                        <a:picLocks noChangeAspect="1" noChangeArrowheads="1"/>
                      </p:cNvPicPr>
                      <p:nvPr/>
                    </p:nvPicPr>
                    <p:blipFill>
                      <a:blip r:embed="rId6"/>
                      <a:srcRect/>
                      <a:stretch>
                        <a:fillRect/>
                      </a:stretch>
                    </p:blipFill>
                    <p:spPr bwMode="auto">
                      <a:xfrm>
                        <a:off x="401638" y="3048000"/>
                        <a:ext cx="4318000"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179935787"/>
              </p:ext>
            </p:extLst>
          </p:nvPr>
        </p:nvGraphicFramePr>
        <p:xfrm>
          <a:off x="412750" y="3581400"/>
          <a:ext cx="6281738" cy="754063"/>
        </p:xfrm>
        <a:graphic>
          <a:graphicData uri="http://schemas.openxmlformats.org/presentationml/2006/ole">
            <mc:AlternateContent xmlns:mc="http://schemas.openxmlformats.org/markup-compatibility/2006">
              <mc:Choice xmlns:v="urn:schemas-microsoft-com:vml" Requires="v">
                <p:oleObj spid="_x0000_s545060" name="Equation" r:id="rId7" imgW="3695400" imgH="431640" progId="Equation.DSMT4">
                  <p:embed/>
                </p:oleObj>
              </mc:Choice>
              <mc:Fallback>
                <p:oleObj name="Equation" r:id="rId7" imgW="3695400" imgH="431640" progId="Equation.DSMT4">
                  <p:embed/>
                  <p:pic>
                    <p:nvPicPr>
                      <p:cNvPr id="0" name="Picture 4"/>
                      <p:cNvPicPr>
                        <a:picLocks noChangeAspect="1" noChangeArrowheads="1"/>
                      </p:cNvPicPr>
                      <p:nvPr/>
                    </p:nvPicPr>
                    <p:blipFill>
                      <a:blip r:embed="rId8"/>
                      <a:srcRect/>
                      <a:stretch>
                        <a:fillRect/>
                      </a:stretch>
                    </p:blipFill>
                    <p:spPr bwMode="auto">
                      <a:xfrm>
                        <a:off x="412750" y="3581400"/>
                        <a:ext cx="6281738" cy="754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矩形 12"/>
          <p:cNvSpPr/>
          <p:nvPr/>
        </p:nvSpPr>
        <p:spPr>
          <a:xfrm>
            <a:off x="896923" y="5854700"/>
            <a:ext cx="1447800" cy="438582"/>
          </a:xfrm>
          <a:prstGeom prst="rect">
            <a:avLst/>
          </a:prstGeom>
        </p:spPr>
        <p:txBody>
          <a:bodyPr wrap="square">
            <a:spAutoFit/>
          </a:bodyPr>
          <a:lstStyle/>
          <a:p>
            <a:pPr algn="l">
              <a:lnSpc>
                <a:spcPct val="125000"/>
              </a:lnSpc>
              <a:spcBef>
                <a:spcPts val="0"/>
              </a:spcBef>
            </a:pPr>
            <a:r>
              <a:rPr lang="zh-CN" altLang="en-US" sz="1800" dirty="0"/>
              <a:t>适用条件：</a:t>
            </a:r>
          </a:p>
        </p:txBody>
      </p:sp>
      <p:graphicFrame>
        <p:nvGraphicFramePr>
          <p:cNvPr id="14" name="对象 13"/>
          <p:cNvGraphicFramePr>
            <a:graphicFrameLocks noChangeAspect="1"/>
          </p:cNvGraphicFramePr>
          <p:nvPr>
            <p:extLst>
              <p:ext uri="{D42A27DB-BD31-4B8C-83A1-F6EECF244321}">
                <p14:modId xmlns:p14="http://schemas.microsoft.com/office/powerpoint/2010/main" val="1689427487"/>
              </p:ext>
            </p:extLst>
          </p:nvPr>
        </p:nvGraphicFramePr>
        <p:xfrm>
          <a:off x="390525" y="4343400"/>
          <a:ext cx="3348038" cy="754063"/>
        </p:xfrm>
        <a:graphic>
          <a:graphicData uri="http://schemas.openxmlformats.org/presentationml/2006/ole">
            <mc:AlternateContent xmlns:mc="http://schemas.openxmlformats.org/markup-compatibility/2006">
              <mc:Choice xmlns:v="urn:schemas-microsoft-com:vml" Requires="v">
                <p:oleObj spid="_x0000_s545061" name="Equation" r:id="rId9" imgW="1968480" imgH="431640" progId="Equation.DSMT4">
                  <p:embed/>
                </p:oleObj>
              </mc:Choice>
              <mc:Fallback>
                <p:oleObj name="Equation" r:id="rId9" imgW="1968480" imgH="431640" progId="Equation.DSMT4">
                  <p:embed/>
                  <p:pic>
                    <p:nvPicPr>
                      <p:cNvPr id="0" name="Picture 5"/>
                      <p:cNvPicPr>
                        <a:picLocks noChangeAspect="1" noChangeArrowheads="1"/>
                      </p:cNvPicPr>
                      <p:nvPr/>
                    </p:nvPicPr>
                    <p:blipFill>
                      <a:blip r:embed="rId10"/>
                      <a:srcRect/>
                      <a:stretch>
                        <a:fillRect/>
                      </a:stretch>
                    </p:blipFill>
                    <p:spPr bwMode="auto">
                      <a:xfrm>
                        <a:off x="390525" y="4343400"/>
                        <a:ext cx="3348038" cy="754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31288" name="Picture 18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81800" y="1905000"/>
            <a:ext cx="2277941" cy="403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6" name="对象 15"/>
          <p:cNvGraphicFramePr>
            <a:graphicFrameLocks noChangeAspect="1"/>
          </p:cNvGraphicFramePr>
          <p:nvPr>
            <p:extLst>
              <p:ext uri="{D42A27DB-BD31-4B8C-83A1-F6EECF244321}">
                <p14:modId xmlns:p14="http://schemas.microsoft.com/office/powerpoint/2010/main" val="2514256824"/>
              </p:ext>
            </p:extLst>
          </p:nvPr>
        </p:nvGraphicFramePr>
        <p:xfrm>
          <a:off x="895350" y="5102225"/>
          <a:ext cx="1638300" cy="735013"/>
        </p:xfrm>
        <a:graphic>
          <a:graphicData uri="http://schemas.openxmlformats.org/presentationml/2006/ole">
            <mc:AlternateContent xmlns:mc="http://schemas.openxmlformats.org/markup-compatibility/2006">
              <mc:Choice xmlns:v="urn:schemas-microsoft-com:vml" Requires="v">
                <p:oleObj spid="_x0000_s545062" name="Equation" r:id="rId12" imgW="990360" imgH="444240" progId="Equation.DSMT4">
                  <p:embed/>
                </p:oleObj>
              </mc:Choice>
              <mc:Fallback>
                <p:oleObj name="Equation" r:id="rId12" imgW="990360" imgH="444240" progId="Equation.DSMT4">
                  <p:embed/>
                  <p:pic>
                    <p:nvPicPr>
                      <p:cNvPr id="0" name="Picture 6"/>
                      <p:cNvPicPr>
                        <a:picLocks noChangeAspect="1" noChangeArrowheads="1"/>
                      </p:cNvPicPr>
                      <p:nvPr/>
                    </p:nvPicPr>
                    <p:blipFill>
                      <a:blip r:embed="rId13"/>
                      <a:srcRect/>
                      <a:stretch>
                        <a:fillRect/>
                      </a:stretch>
                    </p:blipFill>
                    <p:spPr bwMode="auto">
                      <a:xfrm>
                        <a:off x="895350" y="5102225"/>
                        <a:ext cx="1638300" cy="735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31308" name="Picture 204"/>
          <p:cNvPicPr>
            <a:picLocks noChangeAspect="1" noChangeArrowheads="1"/>
          </p:cNvPicPr>
          <p:nvPr/>
        </p:nvPicPr>
        <p:blipFill>
          <a:blip r:embed="rId14"/>
          <a:srcRect/>
          <a:stretch>
            <a:fillRect/>
          </a:stretch>
        </p:blipFill>
        <p:spPr bwMode="auto">
          <a:xfrm>
            <a:off x="7858148" y="2214554"/>
            <a:ext cx="219075" cy="142875"/>
          </a:xfrm>
          <a:prstGeom prst="rect">
            <a:avLst/>
          </a:prstGeom>
          <a:noFill/>
          <a:ln w="9525">
            <a:noFill/>
            <a:miter lim="800000"/>
            <a:headEnd/>
            <a:tailEnd/>
          </a:ln>
          <a:effectLst/>
        </p:spPr>
      </p:pic>
      <p:sp>
        <p:nvSpPr>
          <p:cNvPr id="17" name="TextBox 16"/>
          <p:cNvSpPr txBox="1"/>
          <p:nvPr/>
        </p:nvSpPr>
        <p:spPr>
          <a:xfrm>
            <a:off x="7786710" y="2143116"/>
            <a:ext cx="357190" cy="286232"/>
          </a:xfrm>
          <a:prstGeom prst="rect">
            <a:avLst/>
          </a:prstGeom>
          <a:noFill/>
        </p:spPr>
        <p:txBody>
          <a:bodyPr wrap="square" rtlCol="0">
            <a:spAutoFit/>
          </a:bodyPr>
          <a:lstStyle/>
          <a:p>
            <a:r>
              <a:rPr lang="en-US" altLang="zh-CN" sz="1400" i="1" dirty="0" err="1"/>
              <a:t>e</a:t>
            </a:r>
            <a:r>
              <a:rPr lang="en-US" altLang="zh-CN" sz="1400" baseline="-25000" dirty="0" err="1"/>
              <a:t>i</a:t>
            </a:r>
            <a:endParaRPr lang="zh-CN" altLang="en-US" sz="1400" baseline="-25000" dirty="0"/>
          </a:p>
        </p:txBody>
      </p:sp>
      <p:graphicFrame>
        <p:nvGraphicFramePr>
          <p:cNvPr id="19" name="对象 18"/>
          <p:cNvGraphicFramePr>
            <a:graphicFrameLocks noChangeAspect="1"/>
          </p:cNvGraphicFramePr>
          <p:nvPr>
            <p:extLst>
              <p:ext uri="{D42A27DB-BD31-4B8C-83A1-F6EECF244321}">
                <p14:modId xmlns:p14="http://schemas.microsoft.com/office/powerpoint/2010/main" val="2017869426"/>
              </p:ext>
            </p:extLst>
          </p:nvPr>
        </p:nvGraphicFramePr>
        <p:xfrm>
          <a:off x="2008188" y="5835650"/>
          <a:ext cx="2098675" cy="474663"/>
        </p:xfrm>
        <a:graphic>
          <a:graphicData uri="http://schemas.openxmlformats.org/presentationml/2006/ole">
            <mc:AlternateContent xmlns:mc="http://schemas.openxmlformats.org/markup-compatibility/2006">
              <mc:Choice xmlns:v="urn:schemas-microsoft-com:vml" Requires="v">
                <p:oleObj spid="_x0000_s545063" name="Equation" r:id="rId15" imgW="1180800" imgH="266400" progId="Equation.DSMT4">
                  <p:embed/>
                </p:oleObj>
              </mc:Choice>
              <mc:Fallback>
                <p:oleObj name="Equation" r:id="rId15" imgW="1180800" imgH="266400" progId="Equation.DSMT4">
                  <p:embed/>
                  <p:pic>
                    <p:nvPicPr>
                      <p:cNvPr id="0" name="Picture 7"/>
                      <p:cNvPicPr>
                        <a:picLocks noChangeAspect="1" noChangeArrowheads="1"/>
                      </p:cNvPicPr>
                      <p:nvPr/>
                    </p:nvPicPr>
                    <p:blipFill>
                      <a:blip r:embed="rId16"/>
                      <a:srcRect/>
                      <a:stretch>
                        <a:fillRect/>
                      </a:stretch>
                    </p:blipFill>
                    <p:spPr bwMode="auto">
                      <a:xfrm>
                        <a:off x="2008188" y="5835650"/>
                        <a:ext cx="2098675" cy="474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08867386"/>
      </p:ext>
    </p:ext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382000" cy="563562"/>
          </a:xfrm>
        </p:spPr>
        <p:txBody>
          <a:bodyPr/>
          <a:lstStyle/>
          <a:p>
            <a:r>
              <a:rPr lang="en-US" altLang="zh-CN" sz="3000" dirty="0">
                <a:solidFill>
                  <a:schemeClr val="tx2"/>
                </a:solidFill>
                <a:latin typeface="Times New Roman" pitchFamily="18" charset="0"/>
              </a:rPr>
              <a:t>7.3</a:t>
            </a:r>
            <a:r>
              <a:rPr lang="zh-CN" altLang="en-US" sz="3000" dirty="0">
                <a:solidFill>
                  <a:schemeClr val="tx2"/>
                </a:solidFill>
                <a:latin typeface="Times New Roman" pitchFamily="18" charset="0"/>
              </a:rPr>
              <a:t>工字</a:t>
            </a:r>
            <a:r>
              <a:rPr lang="zh-CN" altLang="en-US" sz="3000" dirty="0">
                <a:solidFill>
                  <a:schemeClr val="tx2"/>
                </a:solidFill>
              </a:rPr>
              <a:t>形截面偏心受压构件正截面承载力的计算</a:t>
            </a:r>
            <a:r>
              <a:rPr lang="zh-CN" altLang="en-US" dirty="0">
                <a:solidFill>
                  <a:schemeClr val="tx2"/>
                </a:solidFill>
              </a:rPr>
              <a:t>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7.3.1 </a:t>
            </a:r>
            <a:r>
              <a:rPr lang="zh-CN" altLang="en-US" dirty="0">
                <a:solidFill>
                  <a:srgbClr val="A50021"/>
                </a:solidFill>
                <a:ea typeface="华文中宋" pitchFamily="2" charset="-122"/>
                <a:cs typeface="Times New Roman" pitchFamily="18" charset="0"/>
              </a:rPr>
              <a:t>非对称配筋工字形截面正截面受压承载力的计算</a:t>
            </a:r>
            <a:endParaRPr lang="en-US" altLang="zh-CN" dirty="0">
              <a:solidFill>
                <a:srgbClr val="990099"/>
              </a:solidFill>
              <a:cs typeface="Times New Roman" pitchFamily="18" charset="0"/>
            </a:endParaRPr>
          </a:p>
        </p:txBody>
      </p:sp>
      <p:sp>
        <p:nvSpPr>
          <p:cNvPr id="417796" name="Rectangle 4"/>
          <p:cNvSpPr>
            <a:spLocks noChangeArrowheads="1"/>
          </p:cNvSpPr>
          <p:nvPr/>
        </p:nvSpPr>
        <p:spPr bwMode="auto">
          <a:xfrm>
            <a:off x="211123" y="1632668"/>
            <a:ext cx="4419600"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r>
              <a:rPr lang="zh-CN" altLang="en-US" sz="2000" dirty="0"/>
              <a:t>二、小偏心受压（</a:t>
            </a:r>
            <a:r>
              <a:rPr lang="en-US" altLang="zh-CN" sz="2000" i="1" dirty="0"/>
              <a:t>ξ &gt; </a:t>
            </a:r>
            <a:r>
              <a:rPr lang="en-US" altLang="zh-CN" sz="2000" i="1" dirty="0" err="1"/>
              <a:t>ξ</a:t>
            </a:r>
            <a:r>
              <a:rPr lang="en-US" altLang="zh-CN" sz="2000" i="1" baseline="-25000" dirty="0" err="1"/>
              <a:t>b</a:t>
            </a:r>
            <a:r>
              <a:rPr lang="zh-CN" altLang="en-US" sz="2000" dirty="0"/>
              <a:t>） </a:t>
            </a:r>
          </a:p>
        </p:txBody>
      </p:sp>
      <p:sp>
        <p:nvSpPr>
          <p:cNvPr id="5" name="矩形 4"/>
          <p:cNvSpPr/>
          <p:nvPr/>
        </p:nvSpPr>
        <p:spPr>
          <a:xfrm>
            <a:off x="381000" y="2057400"/>
            <a:ext cx="6248400" cy="369332"/>
          </a:xfrm>
          <a:prstGeom prst="rect">
            <a:avLst/>
          </a:prstGeom>
        </p:spPr>
        <p:txBody>
          <a:bodyPr wrap="square">
            <a:spAutoFit/>
          </a:bodyPr>
          <a:lstStyle/>
          <a:p>
            <a:pPr algn="l"/>
            <a:r>
              <a:rPr lang="en-US" altLang="zh-CN" sz="2000" dirty="0"/>
              <a:t>1. </a:t>
            </a:r>
            <a:r>
              <a:rPr lang="zh-CN" altLang="en-US" sz="2000" dirty="0"/>
              <a:t>靠近轴向力</a:t>
            </a:r>
            <a:r>
              <a:rPr lang="en-US" altLang="zh-CN" sz="2000" dirty="0"/>
              <a:t>N</a:t>
            </a:r>
            <a:r>
              <a:rPr lang="zh-CN" altLang="en-US" sz="2000" dirty="0"/>
              <a:t>一侧的混凝土先压坏（正向破坏）</a:t>
            </a:r>
          </a:p>
        </p:txBody>
      </p:sp>
      <p:graphicFrame>
        <p:nvGraphicFramePr>
          <p:cNvPr id="8" name="对象 7"/>
          <p:cNvGraphicFramePr>
            <a:graphicFrameLocks noChangeAspect="1"/>
          </p:cNvGraphicFramePr>
          <p:nvPr>
            <p:extLst>
              <p:ext uri="{D42A27DB-BD31-4B8C-83A1-F6EECF244321}">
                <p14:modId xmlns:p14="http://schemas.microsoft.com/office/powerpoint/2010/main" val="1380031780"/>
              </p:ext>
            </p:extLst>
          </p:nvPr>
        </p:nvGraphicFramePr>
        <p:xfrm>
          <a:off x="436563" y="2514600"/>
          <a:ext cx="6215062" cy="420688"/>
        </p:xfrm>
        <a:graphic>
          <a:graphicData uri="http://schemas.openxmlformats.org/presentationml/2006/ole">
            <mc:AlternateContent xmlns:mc="http://schemas.openxmlformats.org/markup-compatibility/2006">
              <mc:Choice xmlns:v="urn:schemas-microsoft-com:vml" Requires="v">
                <p:oleObj spid="_x0000_s545990" name="Equation" r:id="rId3" imgW="3657600" imgH="241200" progId="">
                  <p:embed/>
                </p:oleObj>
              </mc:Choice>
              <mc:Fallback>
                <p:oleObj name="Equation" r:id="rId3" imgW="3657600" imgH="2412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563" y="2514600"/>
                        <a:ext cx="6215062"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905747772"/>
              </p:ext>
            </p:extLst>
          </p:nvPr>
        </p:nvGraphicFramePr>
        <p:xfrm>
          <a:off x="2103438" y="5359400"/>
          <a:ext cx="1531937" cy="420688"/>
        </p:xfrm>
        <a:graphic>
          <a:graphicData uri="http://schemas.openxmlformats.org/presentationml/2006/ole">
            <mc:AlternateContent xmlns:mc="http://schemas.openxmlformats.org/markup-compatibility/2006">
              <mc:Choice xmlns:v="urn:schemas-microsoft-com:vml" Requires="v">
                <p:oleObj spid="_x0000_s545991" name="Equation" r:id="rId5" imgW="901440" imgH="241200" progId="">
                  <p:embed/>
                </p:oleObj>
              </mc:Choice>
              <mc:Fallback>
                <p:oleObj name="Equation" r:id="rId5" imgW="901440" imgH="241200"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3438" y="5359400"/>
                        <a:ext cx="1531937"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矩形 12"/>
          <p:cNvSpPr/>
          <p:nvPr/>
        </p:nvSpPr>
        <p:spPr>
          <a:xfrm>
            <a:off x="896923" y="5321300"/>
            <a:ext cx="1447800" cy="438582"/>
          </a:xfrm>
          <a:prstGeom prst="rect">
            <a:avLst/>
          </a:prstGeom>
        </p:spPr>
        <p:txBody>
          <a:bodyPr wrap="square">
            <a:spAutoFit/>
          </a:bodyPr>
          <a:lstStyle/>
          <a:p>
            <a:pPr algn="l">
              <a:lnSpc>
                <a:spcPct val="125000"/>
              </a:lnSpc>
              <a:spcBef>
                <a:spcPts val="0"/>
              </a:spcBef>
            </a:pPr>
            <a:r>
              <a:rPr lang="zh-CN" altLang="en-US" sz="1800" dirty="0"/>
              <a:t>适用条件：</a:t>
            </a:r>
          </a:p>
        </p:txBody>
      </p:sp>
      <p:pic>
        <p:nvPicPr>
          <p:cNvPr id="432254" name="Picture 12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162800" y="2220005"/>
            <a:ext cx="1904999" cy="3418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4" name="对象 13"/>
          <p:cNvGraphicFramePr>
            <a:graphicFrameLocks noChangeAspect="1"/>
          </p:cNvGraphicFramePr>
          <p:nvPr>
            <p:extLst>
              <p:ext uri="{D42A27DB-BD31-4B8C-83A1-F6EECF244321}">
                <p14:modId xmlns:p14="http://schemas.microsoft.com/office/powerpoint/2010/main" val="4290621316"/>
              </p:ext>
            </p:extLst>
          </p:nvPr>
        </p:nvGraphicFramePr>
        <p:xfrm>
          <a:off x="359118" y="3066678"/>
          <a:ext cx="6833716" cy="446683"/>
        </p:xfrm>
        <a:graphic>
          <a:graphicData uri="http://schemas.openxmlformats.org/presentationml/2006/ole">
            <mc:AlternateContent xmlns:mc="http://schemas.openxmlformats.org/markup-compatibility/2006">
              <mc:Choice xmlns:v="urn:schemas-microsoft-com:vml" Requires="v">
                <p:oleObj spid="_x0000_s545992" name="Equation" r:id="rId8" imgW="4863960" imgH="317160" progId="Equation.DSMT4">
                  <p:embed/>
                </p:oleObj>
              </mc:Choice>
              <mc:Fallback>
                <p:oleObj name="Equation" r:id="rId8" imgW="4863960" imgH="317160" progId="Equation.DSMT4">
                  <p:embed/>
                  <p:pic>
                    <p:nvPicPr>
                      <p:cNvPr id="0" name="Picture 4"/>
                      <p:cNvPicPr>
                        <a:picLocks noChangeAspect="1" noChangeArrowheads="1"/>
                      </p:cNvPicPr>
                      <p:nvPr/>
                    </p:nvPicPr>
                    <p:blipFill>
                      <a:blip r:embed="rId9"/>
                      <a:srcRect/>
                      <a:stretch>
                        <a:fillRect/>
                      </a:stretch>
                    </p:blipFill>
                    <p:spPr bwMode="auto">
                      <a:xfrm>
                        <a:off x="359118" y="3066678"/>
                        <a:ext cx="6833716" cy="446683"/>
                      </a:xfrm>
                      <a:prstGeom prst="rect">
                        <a:avLst/>
                      </a:prstGeom>
                      <a:noFill/>
                      <a:extLst/>
                    </p:spPr>
                  </p:pic>
                </p:oleObj>
              </mc:Fallback>
            </mc:AlternateContent>
          </a:graphicData>
        </a:graphic>
      </p:graphicFrame>
      <p:graphicFrame>
        <p:nvGraphicFramePr>
          <p:cNvPr id="432270" name="Object 142"/>
          <p:cNvGraphicFramePr>
            <a:graphicFrameLocks noChangeAspect="1"/>
          </p:cNvGraphicFramePr>
          <p:nvPr>
            <p:extLst>
              <p:ext uri="{D42A27DB-BD31-4B8C-83A1-F6EECF244321}">
                <p14:modId xmlns:p14="http://schemas.microsoft.com/office/powerpoint/2010/main" val="3932632733"/>
              </p:ext>
            </p:extLst>
          </p:nvPr>
        </p:nvGraphicFramePr>
        <p:xfrm>
          <a:off x="381000" y="3619840"/>
          <a:ext cx="6270625" cy="1480387"/>
        </p:xfrm>
        <a:graphic>
          <a:graphicData uri="http://schemas.openxmlformats.org/presentationml/2006/ole">
            <mc:AlternateContent xmlns:mc="http://schemas.openxmlformats.org/markup-compatibility/2006">
              <mc:Choice xmlns:v="urn:schemas-microsoft-com:vml" Requires="v">
                <p:oleObj spid="_x0000_s545993" name="Equation" r:id="rId10" imgW="4140000" imgH="977760" progId="Equation.DSMT4">
                  <p:embed/>
                </p:oleObj>
              </mc:Choice>
              <mc:Fallback>
                <p:oleObj name="Equation" r:id="rId10" imgW="4140000" imgH="977760" progId="Equation.DSMT4">
                  <p:embed/>
                  <p:pic>
                    <p:nvPicPr>
                      <p:cNvPr id="0" name="Picture 5"/>
                      <p:cNvPicPr>
                        <a:picLocks noChangeAspect="1" noChangeArrowheads="1"/>
                      </p:cNvPicPr>
                      <p:nvPr/>
                    </p:nvPicPr>
                    <p:blipFill>
                      <a:blip r:embed="rId11"/>
                      <a:srcRect/>
                      <a:stretch>
                        <a:fillRect/>
                      </a:stretch>
                    </p:blipFill>
                    <p:spPr bwMode="auto">
                      <a:xfrm>
                        <a:off x="381000" y="3619840"/>
                        <a:ext cx="6270625" cy="1480387"/>
                      </a:xfrm>
                      <a:prstGeom prst="rect">
                        <a:avLst/>
                      </a:prstGeom>
                      <a:noFill/>
                      <a:extLst/>
                    </p:spPr>
                  </p:pic>
                </p:oleObj>
              </mc:Fallback>
            </mc:AlternateContent>
          </a:graphicData>
        </a:graphic>
      </p:graphicFrame>
      <p:sp>
        <p:nvSpPr>
          <p:cNvPr id="15" name="TextBox 14"/>
          <p:cNvSpPr txBox="1"/>
          <p:nvPr/>
        </p:nvSpPr>
        <p:spPr>
          <a:xfrm>
            <a:off x="7786710" y="2499826"/>
            <a:ext cx="357190" cy="286232"/>
          </a:xfrm>
          <a:prstGeom prst="rect">
            <a:avLst/>
          </a:prstGeom>
          <a:solidFill>
            <a:schemeClr val="bg1"/>
          </a:solidFill>
        </p:spPr>
        <p:txBody>
          <a:bodyPr wrap="square" rtlCol="0">
            <a:spAutoFit/>
          </a:bodyPr>
          <a:lstStyle/>
          <a:p>
            <a:r>
              <a:rPr lang="en-US" altLang="zh-CN" sz="1400" i="1" dirty="0" err="1"/>
              <a:t>e</a:t>
            </a:r>
            <a:r>
              <a:rPr lang="en-US" altLang="zh-CN" sz="1400" baseline="-25000" dirty="0" err="1"/>
              <a:t>i</a:t>
            </a:r>
            <a:endParaRPr lang="zh-CN" altLang="en-US" sz="1400" baseline="-25000" dirty="0"/>
          </a:p>
        </p:txBody>
      </p:sp>
    </p:spTree>
    <p:extLst>
      <p:ext uri="{BB962C8B-B14F-4D97-AF65-F5344CB8AC3E}">
        <p14:creationId xmlns:p14="http://schemas.microsoft.com/office/powerpoint/2010/main" val="1882159946"/>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382000" cy="563562"/>
          </a:xfrm>
        </p:spPr>
        <p:txBody>
          <a:bodyPr/>
          <a:lstStyle/>
          <a:p>
            <a:r>
              <a:rPr lang="en-US" altLang="zh-CN" sz="3000" dirty="0">
                <a:solidFill>
                  <a:schemeClr val="tx2"/>
                </a:solidFill>
                <a:latin typeface="Times New Roman" pitchFamily="18" charset="0"/>
              </a:rPr>
              <a:t>7.3</a:t>
            </a:r>
            <a:r>
              <a:rPr lang="zh-CN" altLang="en-US" sz="3000" dirty="0">
                <a:solidFill>
                  <a:schemeClr val="tx2"/>
                </a:solidFill>
                <a:latin typeface="Times New Roman" pitchFamily="18" charset="0"/>
              </a:rPr>
              <a:t>工字</a:t>
            </a:r>
            <a:r>
              <a:rPr lang="zh-CN" altLang="en-US" sz="3000" dirty="0">
                <a:solidFill>
                  <a:schemeClr val="tx2"/>
                </a:solidFill>
              </a:rPr>
              <a:t>形截面偏心受压构件正截面承载力的计算</a:t>
            </a:r>
            <a:r>
              <a:rPr lang="zh-CN" altLang="en-US" dirty="0">
                <a:solidFill>
                  <a:schemeClr val="tx2"/>
                </a:solidFill>
              </a:rPr>
              <a:t>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7.3.1 </a:t>
            </a:r>
            <a:r>
              <a:rPr lang="zh-CN" altLang="en-US" dirty="0">
                <a:solidFill>
                  <a:srgbClr val="A50021"/>
                </a:solidFill>
                <a:ea typeface="华文中宋" pitchFamily="2" charset="-122"/>
                <a:cs typeface="Times New Roman" pitchFamily="18" charset="0"/>
              </a:rPr>
              <a:t>非对称配筋工字形截面正截面受压承载力的计算</a:t>
            </a:r>
            <a:endParaRPr lang="en-US" altLang="zh-CN" dirty="0">
              <a:solidFill>
                <a:srgbClr val="990099"/>
              </a:solidFill>
              <a:cs typeface="Times New Roman" pitchFamily="18" charset="0"/>
            </a:endParaRPr>
          </a:p>
        </p:txBody>
      </p:sp>
      <p:sp>
        <p:nvSpPr>
          <p:cNvPr id="417796" name="Rectangle 4"/>
          <p:cNvSpPr>
            <a:spLocks noChangeArrowheads="1"/>
          </p:cNvSpPr>
          <p:nvPr/>
        </p:nvSpPr>
        <p:spPr bwMode="auto">
          <a:xfrm>
            <a:off x="211123" y="1632668"/>
            <a:ext cx="4419600"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r>
              <a:rPr lang="zh-CN" altLang="en-US" sz="2000" dirty="0"/>
              <a:t>二、小偏心受压（</a:t>
            </a:r>
            <a:r>
              <a:rPr lang="en-US" altLang="zh-CN" sz="2000" i="1" dirty="0"/>
              <a:t>ξ &gt; </a:t>
            </a:r>
            <a:r>
              <a:rPr lang="en-US" altLang="zh-CN" sz="2000" i="1" dirty="0" err="1"/>
              <a:t>ξ</a:t>
            </a:r>
            <a:r>
              <a:rPr lang="en-US" altLang="zh-CN" sz="2000" baseline="-25000" dirty="0" err="1"/>
              <a:t>b</a:t>
            </a:r>
            <a:r>
              <a:rPr lang="zh-CN" altLang="en-US" sz="2000" dirty="0"/>
              <a:t>） </a:t>
            </a:r>
          </a:p>
        </p:txBody>
      </p:sp>
      <p:sp>
        <p:nvSpPr>
          <p:cNvPr id="5" name="矩形 4"/>
          <p:cNvSpPr/>
          <p:nvPr/>
        </p:nvSpPr>
        <p:spPr>
          <a:xfrm>
            <a:off x="381000" y="2057400"/>
            <a:ext cx="6248400" cy="1015663"/>
          </a:xfrm>
          <a:prstGeom prst="rect">
            <a:avLst/>
          </a:prstGeom>
        </p:spPr>
        <p:txBody>
          <a:bodyPr wrap="square">
            <a:spAutoFit/>
          </a:bodyPr>
          <a:lstStyle/>
          <a:p>
            <a:pPr algn="l">
              <a:lnSpc>
                <a:spcPct val="150000"/>
              </a:lnSpc>
            </a:pPr>
            <a:r>
              <a:rPr lang="en-US" altLang="zh-CN" sz="2000" dirty="0"/>
              <a:t>2. </a:t>
            </a:r>
            <a:r>
              <a:rPr lang="zh-CN" altLang="en-US" sz="2000" dirty="0"/>
              <a:t>当</a:t>
            </a:r>
            <a:r>
              <a:rPr lang="en-US" altLang="zh-CN" sz="2000" i="1" dirty="0"/>
              <a:t>N&gt;</a:t>
            </a:r>
            <a:r>
              <a:rPr lang="en-US" altLang="zh-CN" sz="2000" i="1" dirty="0" err="1"/>
              <a:t>f</a:t>
            </a:r>
            <a:r>
              <a:rPr lang="en-US" altLang="zh-CN" sz="2000" baseline="-25000" dirty="0" err="1"/>
              <a:t>c</a:t>
            </a:r>
            <a:r>
              <a:rPr lang="en-US" altLang="zh-CN" sz="2000" i="1" dirty="0" err="1"/>
              <a:t>A</a:t>
            </a:r>
            <a:r>
              <a:rPr lang="zh-CN" altLang="en-US" sz="2000" dirty="0"/>
              <a:t>时，可能发生远离轴向力</a:t>
            </a:r>
            <a:r>
              <a:rPr lang="en-US" altLang="zh-CN" sz="2000" i="1" dirty="0"/>
              <a:t>N</a:t>
            </a:r>
            <a:r>
              <a:rPr lang="zh-CN" altLang="en-US" sz="2000" dirty="0"/>
              <a:t>一侧的混凝土先被压坏（反向破坏），因此尚应按下式进行验算。</a:t>
            </a:r>
          </a:p>
        </p:txBody>
      </p:sp>
      <p:graphicFrame>
        <p:nvGraphicFramePr>
          <p:cNvPr id="3" name="对象 2"/>
          <p:cNvGraphicFramePr>
            <a:graphicFrameLocks noChangeAspect="1"/>
          </p:cNvGraphicFramePr>
          <p:nvPr>
            <p:extLst>
              <p:ext uri="{D42A27DB-BD31-4B8C-83A1-F6EECF244321}">
                <p14:modId xmlns:p14="http://schemas.microsoft.com/office/powerpoint/2010/main" val="3967060382"/>
              </p:ext>
            </p:extLst>
          </p:nvPr>
        </p:nvGraphicFramePr>
        <p:xfrm>
          <a:off x="555625" y="3429000"/>
          <a:ext cx="6194425" cy="1109663"/>
        </p:xfrm>
        <a:graphic>
          <a:graphicData uri="http://schemas.openxmlformats.org/presentationml/2006/ole">
            <mc:AlternateContent xmlns:mc="http://schemas.openxmlformats.org/markup-compatibility/2006">
              <mc:Choice xmlns:v="urn:schemas-microsoft-com:vml" Requires="v">
                <p:oleObj spid="_x0000_s546866" name="Equation" r:id="rId3" imgW="3644640" imgH="634680" progId="Equation.DSMT4">
                  <p:embed/>
                </p:oleObj>
              </mc:Choice>
              <mc:Fallback>
                <p:oleObj name="Equation" r:id="rId3" imgW="3644640" imgH="634680" progId="Equation.DSMT4">
                  <p:embed/>
                  <p:pic>
                    <p:nvPicPr>
                      <p:cNvPr id="0" name="Picture 2"/>
                      <p:cNvPicPr>
                        <a:picLocks noChangeAspect="1" noChangeArrowheads="1"/>
                      </p:cNvPicPr>
                      <p:nvPr/>
                    </p:nvPicPr>
                    <p:blipFill>
                      <a:blip r:embed="rId4"/>
                      <a:srcRect/>
                      <a:stretch>
                        <a:fillRect/>
                      </a:stretch>
                    </p:blipFill>
                    <p:spPr bwMode="auto">
                      <a:xfrm>
                        <a:off x="555625" y="3429000"/>
                        <a:ext cx="6194425" cy="1109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6659100"/>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382000" cy="563562"/>
          </a:xfrm>
        </p:spPr>
        <p:txBody>
          <a:bodyPr/>
          <a:lstStyle/>
          <a:p>
            <a:r>
              <a:rPr lang="en-US" altLang="zh-CN" sz="3000" dirty="0">
                <a:solidFill>
                  <a:schemeClr val="tx2"/>
                </a:solidFill>
                <a:latin typeface="Times New Roman" pitchFamily="18" charset="0"/>
              </a:rPr>
              <a:t>7.3</a:t>
            </a:r>
            <a:r>
              <a:rPr lang="zh-CN" altLang="en-US" sz="3000" dirty="0">
                <a:solidFill>
                  <a:schemeClr val="tx2"/>
                </a:solidFill>
                <a:latin typeface="Times New Roman" pitchFamily="18" charset="0"/>
              </a:rPr>
              <a:t>工字</a:t>
            </a:r>
            <a:r>
              <a:rPr lang="zh-CN" altLang="en-US" sz="3000" dirty="0">
                <a:solidFill>
                  <a:schemeClr val="tx2"/>
                </a:solidFill>
              </a:rPr>
              <a:t>形截面偏心受压构件正截面承载力的计算</a:t>
            </a:r>
            <a:r>
              <a:rPr lang="zh-CN" altLang="en-US" dirty="0">
                <a:solidFill>
                  <a:schemeClr val="tx2"/>
                </a:solidFill>
              </a:rPr>
              <a:t>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7.3.2 </a:t>
            </a:r>
            <a:r>
              <a:rPr lang="zh-CN" altLang="en-US" dirty="0">
                <a:solidFill>
                  <a:srgbClr val="A50021"/>
                </a:solidFill>
                <a:ea typeface="华文中宋" pitchFamily="2" charset="-122"/>
                <a:cs typeface="Times New Roman" pitchFamily="18" charset="0"/>
              </a:rPr>
              <a:t>对称配筋工字形截面正截面受压承载力的计算</a:t>
            </a:r>
            <a:endParaRPr lang="en-US" altLang="zh-CN" dirty="0">
              <a:solidFill>
                <a:srgbClr val="990099"/>
              </a:solidFill>
              <a:cs typeface="Times New Roman" pitchFamily="18" charset="0"/>
            </a:endParaRPr>
          </a:p>
        </p:txBody>
      </p:sp>
      <p:sp>
        <p:nvSpPr>
          <p:cNvPr id="417796" name="Rectangle 4"/>
          <p:cNvSpPr>
            <a:spLocks noChangeArrowheads="1"/>
          </p:cNvSpPr>
          <p:nvPr/>
        </p:nvSpPr>
        <p:spPr bwMode="auto">
          <a:xfrm>
            <a:off x="211123" y="1632668"/>
            <a:ext cx="4419600"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r>
              <a:rPr lang="zh-CN" altLang="en-US" sz="2000" dirty="0"/>
              <a:t>一、大偏心受压（</a:t>
            </a:r>
            <a:r>
              <a:rPr lang="en-US" altLang="zh-CN" sz="2000" i="1" dirty="0"/>
              <a:t>ξ</a:t>
            </a:r>
            <a:r>
              <a:rPr lang="zh-CN" altLang="en-US" sz="2000" i="1" dirty="0"/>
              <a:t>≤</a:t>
            </a:r>
            <a:r>
              <a:rPr lang="en-US" altLang="zh-CN" sz="2000" i="1" dirty="0"/>
              <a:t> </a:t>
            </a:r>
            <a:r>
              <a:rPr lang="en-US" altLang="zh-CN" sz="2000" i="1" dirty="0" err="1"/>
              <a:t>ξ</a:t>
            </a:r>
            <a:r>
              <a:rPr lang="en-US" altLang="zh-CN" sz="2000" baseline="-25000" dirty="0" err="1"/>
              <a:t>b</a:t>
            </a:r>
            <a:r>
              <a:rPr lang="zh-CN" altLang="en-US" sz="2000" dirty="0"/>
              <a:t>） </a:t>
            </a:r>
          </a:p>
        </p:txBody>
      </p:sp>
      <p:graphicFrame>
        <p:nvGraphicFramePr>
          <p:cNvPr id="2" name="对象 1"/>
          <p:cNvGraphicFramePr>
            <a:graphicFrameLocks noChangeAspect="1"/>
          </p:cNvGraphicFramePr>
          <p:nvPr>
            <p:extLst>
              <p:ext uri="{D42A27DB-BD31-4B8C-83A1-F6EECF244321}">
                <p14:modId xmlns:p14="http://schemas.microsoft.com/office/powerpoint/2010/main" val="1257769827"/>
              </p:ext>
            </p:extLst>
          </p:nvPr>
        </p:nvGraphicFramePr>
        <p:xfrm>
          <a:off x="630238" y="2209800"/>
          <a:ext cx="2720975" cy="442913"/>
        </p:xfrm>
        <a:graphic>
          <a:graphicData uri="http://schemas.openxmlformats.org/presentationml/2006/ole">
            <mc:AlternateContent xmlns:mc="http://schemas.openxmlformats.org/markup-compatibility/2006">
              <mc:Choice xmlns:v="urn:schemas-microsoft-com:vml" Requires="v">
                <p:oleObj spid="_x0000_s548192" name="Equation" r:id="rId3" imgW="1600200" imgH="253800" progId="Equation.DSMT4">
                  <p:embed/>
                </p:oleObj>
              </mc:Choice>
              <mc:Fallback>
                <p:oleObj name="Equation" r:id="rId3" imgW="1600200" imgH="253800" progId="Equation.DSMT4">
                  <p:embed/>
                  <p:pic>
                    <p:nvPicPr>
                      <p:cNvPr id="0" name="Picture 2"/>
                      <p:cNvPicPr>
                        <a:picLocks noChangeAspect="1" noChangeArrowheads="1"/>
                      </p:cNvPicPr>
                      <p:nvPr/>
                    </p:nvPicPr>
                    <p:blipFill>
                      <a:blip r:embed="rId4"/>
                      <a:srcRect/>
                      <a:stretch>
                        <a:fillRect/>
                      </a:stretch>
                    </p:blipFill>
                    <p:spPr bwMode="auto">
                      <a:xfrm>
                        <a:off x="630238" y="2209800"/>
                        <a:ext cx="272097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548762165"/>
              </p:ext>
            </p:extLst>
          </p:nvPr>
        </p:nvGraphicFramePr>
        <p:xfrm>
          <a:off x="3830638" y="2209800"/>
          <a:ext cx="2568575" cy="442913"/>
        </p:xfrm>
        <a:graphic>
          <a:graphicData uri="http://schemas.openxmlformats.org/presentationml/2006/ole">
            <mc:AlternateContent xmlns:mc="http://schemas.openxmlformats.org/markup-compatibility/2006">
              <mc:Choice xmlns:v="urn:schemas-microsoft-com:vml" Requires="v">
                <p:oleObj spid="_x0000_s548193" name="Equation" r:id="rId5" imgW="1511280" imgH="253800" progId="Equation.DSMT4">
                  <p:embed/>
                </p:oleObj>
              </mc:Choice>
              <mc:Fallback>
                <p:oleObj name="Equation" r:id="rId5" imgW="1511280" imgH="253800" progId="Equation.DSMT4">
                  <p:embed/>
                  <p:pic>
                    <p:nvPicPr>
                      <p:cNvPr id="0" name="Picture 3"/>
                      <p:cNvPicPr>
                        <a:picLocks noChangeAspect="1" noChangeArrowheads="1"/>
                      </p:cNvPicPr>
                      <p:nvPr/>
                    </p:nvPicPr>
                    <p:blipFill>
                      <a:blip r:embed="rId6"/>
                      <a:srcRect/>
                      <a:stretch>
                        <a:fillRect/>
                      </a:stretch>
                    </p:blipFill>
                    <p:spPr bwMode="auto">
                      <a:xfrm>
                        <a:off x="3830638" y="2209800"/>
                        <a:ext cx="256857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608428025"/>
              </p:ext>
            </p:extLst>
          </p:nvPr>
        </p:nvGraphicFramePr>
        <p:xfrm>
          <a:off x="6781800" y="2209800"/>
          <a:ext cx="1468437" cy="442913"/>
        </p:xfrm>
        <a:graphic>
          <a:graphicData uri="http://schemas.openxmlformats.org/presentationml/2006/ole">
            <mc:AlternateContent xmlns:mc="http://schemas.openxmlformats.org/markup-compatibility/2006">
              <mc:Choice xmlns:v="urn:schemas-microsoft-com:vml" Requires="v">
                <p:oleObj spid="_x0000_s548194" name="Equation" r:id="rId7" imgW="863280" imgH="253800" progId="Equation.DSMT4">
                  <p:embed/>
                </p:oleObj>
              </mc:Choice>
              <mc:Fallback>
                <p:oleObj name="Equation" r:id="rId7" imgW="863280" imgH="253800" progId="Equation.DSMT4">
                  <p:embed/>
                  <p:pic>
                    <p:nvPicPr>
                      <p:cNvPr id="0" name="Picture 4"/>
                      <p:cNvPicPr>
                        <a:picLocks noChangeAspect="1" noChangeArrowheads="1"/>
                      </p:cNvPicPr>
                      <p:nvPr/>
                    </p:nvPicPr>
                    <p:blipFill>
                      <a:blip r:embed="rId8"/>
                      <a:srcRect/>
                      <a:stretch>
                        <a:fillRect/>
                      </a:stretch>
                    </p:blipFill>
                    <p:spPr bwMode="auto">
                      <a:xfrm>
                        <a:off x="6781800" y="2209800"/>
                        <a:ext cx="1468437" cy="442913"/>
                      </a:xfrm>
                      <a:prstGeom prst="rect">
                        <a:avLst/>
                      </a:prstGeom>
                      <a:solidFill>
                        <a:srgbClr val="C2D9F8"/>
                      </a:solidFill>
                      <a:ln w="9525">
                        <a:solidFill>
                          <a:schemeClr val="tx2"/>
                        </a:solidFill>
                        <a:miter lim="800000"/>
                        <a:headEnd/>
                        <a:tailEnd/>
                      </a:ln>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401270501"/>
              </p:ext>
            </p:extLst>
          </p:nvPr>
        </p:nvGraphicFramePr>
        <p:xfrm>
          <a:off x="457200" y="2895600"/>
          <a:ext cx="1878012" cy="442913"/>
        </p:xfrm>
        <a:graphic>
          <a:graphicData uri="http://schemas.openxmlformats.org/presentationml/2006/ole">
            <mc:AlternateContent xmlns:mc="http://schemas.openxmlformats.org/markup-compatibility/2006">
              <mc:Choice xmlns:v="urn:schemas-microsoft-com:vml" Requires="v">
                <p:oleObj spid="_x0000_s548195" name="Equation" r:id="rId9" imgW="1104840" imgH="253800" progId="">
                  <p:embed/>
                </p:oleObj>
              </mc:Choice>
              <mc:Fallback>
                <p:oleObj name="Equation" r:id="rId9" imgW="1104840" imgH="253800" progId="">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 y="2895600"/>
                        <a:ext cx="1878012"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Rectangle 4"/>
          <p:cNvSpPr>
            <a:spLocks noChangeArrowheads="1"/>
          </p:cNvSpPr>
          <p:nvPr/>
        </p:nvSpPr>
        <p:spPr bwMode="auto">
          <a:xfrm>
            <a:off x="2514600" y="2907268"/>
            <a:ext cx="3124200"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r>
              <a:rPr lang="zh-CN" altLang="en-US" sz="2000" dirty="0"/>
              <a:t>表明受压区在翼缘内</a:t>
            </a:r>
          </a:p>
        </p:txBody>
      </p:sp>
      <p:graphicFrame>
        <p:nvGraphicFramePr>
          <p:cNvPr id="3" name="对象 2"/>
          <p:cNvGraphicFramePr>
            <a:graphicFrameLocks noChangeAspect="1"/>
          </p:cNvGraphicFramePr>
          <p:nvPr>
            <p:extLst>
              <p:ext uri="{D42A27DB-BD31-4B8C-83A1-F6EECF244321}">
                <p14:modId xmlns:p14="http://schemas.microsoft.com/office/powerpoint/2010/main" val="1372554409"/>
              </p:ext>
            </p:extLst>
          </p:nvPr>
        </p:nvGraphicFramePr>
        <p:xfrm>
          <a:off x="623888" y="3429000"/>
          <a:ext cx="3778250" cy="687388"/>
        </p:xfrm>
        <a:graphic>
          <a:graphicData uri="http://schemas.openxmlformats.org/presentationml/2006/ole">
            <mc:AlternateContent xmlns:mc="http://schemas.openxmlformats.org/markup-compatibility/2006">
              <mc:Choice xmlns:v="urn:schemas-microsoft-com:vml" Requires="v">
                <p:oleObj spid="_x0000_s548196" name="Equation" r:id="rId11" imgW="2222280" imgH="393480" progId="Equation.DSMT4">
                  <p:embed/>
                </p:oleObj>
              </mc:Choice>
              <mc:Fallback>
                <p:oleObj name="Equation" r:id="rId11" imgW="2222280" imgH="393480" progId="Equation.DSMT4">
                  <p:embed/>
                  <p:pic>
                    <p:nvPicPr>
                      <p:cNvPr id="0" name="Picture 6"/>
                      <p:cNvPicPr>
                        <a:picLocks noChangeAspect="1" noChangeArrowheads="1"/>
                      </p:cNvPicPr>
                      <p:nvPr/>
                    </p:nvPicPr>
                    <p:blipFill>
                      <a:blip r:embed="rId12"/>
                      <a:srcRect/>
                      <a:stretch>
                        <a:fillRect/>
                      </a:stretch>
                    </p:blipFill>
                    <p:spPr bwMode="auto">
                      <a:xfrm>
                        <a:off x="623888" y="3429000"/>
                        <a:ext cx="3778250"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5" name="直接箭头连接符 4"/>
          <p:cNvCxnSpPr/>
          <p:nvPr/>
        </p:nvCxnSpPr>
        <p:spPr bwMode="auto">
          <a:xfrm>
            <a:off x="609600" y="4572000"/>
            <a:ext cx="762000" cy="0"/>
          </a:xfrm>
          <a:prstGeom prst="straightConnector1">
            <a:avLst/>
          </a:prstGeom>
          <a:solidFill>
            <a:srgbClr val="FF00FF"/>
          </a:solidFill>
          <a:ln w="3810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3" name="对象 12"/>
          <p:cNvGraphicFramePr>
            <a:graphicFrameLocks noChangeAspect="1"/>
          </p:cNvGraphicFramePr>
          <p:nvPr>
            <p:extLst>
              <p:ext uri="{D42A27DB-BD31-4B8C-83A1-F6EECF244321}">
                <p14:modId xmlns:p14="http://schemas.microsoft.com/office/powerpoint/2010/main" val="1760143546"/>
              </p:ext>
            </p:extLst>
          </p:nvPr>
        </p:nvGraphicFramePr>
        <p:xfrm>
          <a:off x="620713" y="4149725"/>
          <a:ext cx="668337" cy="422275"/>
        </p:xfrm>
        <a:graphic>
          <a:graphicData uri="http://schemas.openxmlformats.org/presentationml/2006/ole">
            <mc:AlternateContent xmlns:mc="http://schemas.openxmlformats.org/markup-compatibility/2006">
              <mc:Choice xmlns:v="urn:schemas-microsoft-com:vml" Requires="v">
                <p:oleObj spid="_x0000_s548197" name="Equation" r:id="rId13" imgW="393480" imgH="241200" progId="Equation.DSMT4">
                  <p:embed/>
                </p:oleObj>
              </mc:Choice>
              <mc:Fallback>
                <p:oleObj name="Equation" r:id="rId13" imgW="393480" imgH="241200" progId="Equation.DSMT4">
                  <p:embed/>
                  <p:pic>
                    <p:nvPicPr>
                      <p:cNvPr id="0" name="Picture 7"/>
                      <p:cNvPicPr>
                        <a:picLocks noChangeAspect="1" noChangeArrowheads="1"/>
                      </p:cNvPicPr>
                      <p:nvPr/>
                    </p:nvPicPr>
                    <p:blipFill>
                      <a:blip r:embed="rId14"/>
                      <a:srcRect/>
                      <a:stretch>
                        <a:fillRect/>
                      </a:stretch>
                    </p:blipFill>
                    <p:spPr bwMode="auto">
                      <a:xfrm>
                        <a:off x="620713" y="4149725"/>
                        <a:ext cx="668337"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Rectangle 4"/>
          <p:cNvSpPr>
            <a:spLocks noChangeArrowheads="1"/>
          </p:cNvSpPr>
          <p:nvPr/>
        </p:nvSpPr>
        <p:spPr bwMode="auto">
          <a:xfrm>
            <a:off x="5105400" y="3581400"/>
            <a:ext cx="1143000"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r>
              <a:rPr lang="en-US" altLang="zh-CN" sz="2000" dirty="0"/>
              <a:t>(7.53)</a:t>
            </a:r>
            <a:endParaRPr lang="zh-CN" altLang="en-US" sz="2000" dirty="0"/>
          </a:p>
        </p:txBody>
      </p:sp>
      <p:graphicFrame>
        <p:nvGraphicFramePr>
          <p:cNvPr id="15" name="对象 14"/>
          <p:cNvGraphicFramePr>
            <a:graphicFrameLocks noChangeAspect="1"/>
          </p:cNvGraphicFramePr>
          <p:nvPr>
            <p:extLst>
              <p:ext uri="{D42A27DB-BD31-4B8C-83A1-F6EECF244321}">
                <p14:modId xmlns:p14="http://schemas.microsoft.com/office/powerpoint/2010/main" val="1151952982"/>
              </p:ext>
            </p:extLst>
          </p:nvPr>
        </p:nvGraphicFramePr>
        <p:xfrm>
          <a:off x="1849438" y="4191000"/>
          <a:ext cx="5764212" cy="889000"/>
        </p:xfrm>
        <a:graphic>
          <a:graphicData uri="http://schemas.openxmlformats.org/presentationml/2006/ole">
            <mc:AlternateContent xmlns:mc="http://schemas.openxmlformats.org/markup-compatibility/2006">
              <mc:Choice xmlns:v="urn:schemas-microsoft-com:vml" Requires="v">
                <p:oleObj spid="_x0000_s548198" name="Equation" r:id="rId15" imgW="3390840" imgH="507960" progId="Equation.DSMT4">
                  <p:embed/>
                </p:oleObj>
              </mc:Choice>
              <mc:Fallback>
                <p:oleObj name="Equation" r:id="rId15" imgW="3390840" imgH="507960" progId="Equation.DSMT4">
                  <p:embed/>
                  <p:pic>
                    <p:nvPicPr>
                      <p:cNvPr id="0" name="Picture 8"/>
                      <p:cNvPicPr>
                        <a:picLocks noChangeAspect="1" noChangeArrowheads="1"/>
                      </p:cNvPicPr>
                      <p:nvPr/>
                    </p:nvPicPr>
                    <p:blipFill>
                      <a:blip r:embed="rId16"/>
                      <a:srcRect/>
                      <a:stretch>
                        <a:fillRect/>
                      </a:stretch>
                    </p:blipFill>
                    <p:spPr bwMode="auto">
                      <a:xfrm>
                        <a:off x="1849438" y="4191000"/>
                        <a:ext cx="5764212"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16" name="直接箭头连接符 15"/>
          <p:cNvCxnSpPr/>
          <p:nvPr/>
        </p:nvCxnSpPr>
        <p:spPr bwMode="auto">
          <a:xfrm>
            <a:off x="609600" y="5638800"/>
            <a:ext cx="762000" cy="0"/>
          </a:xfrm>
          <a:prstGeom prst="straightConnector1">
            <a:avLst/>
          </a:prstGeom>
          <a:solidFill>
            <a:srgbClr val="FF00FF"/>
          </a:solidFill>
          <a:ln w="3810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Rectangle 4"/>
          <p:cNvSpPr>
            <a:spLocks noChangeArrowheads="1"/>
          </p:cNvSpPr>
          <p:nvPr/>
        </p:nvSpPr>
        <p:spPr bwMode="auto">
          <a:xfrm>
            <a:off x="1506523" y="5454134"/>
            <a:ext cx="3124200"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r>
              <a:rPr lang="zh-CN" altLang="en-US" sz="2000" dirty="0"/>
              <a:t>教材</a:t>
            </a:r>
            <a:r>
              <a:rPr lang="en-US" altLang="zh-CN" sz="2000" dirty="0"/>
              <a:t>301</a:t>
            </a:r>
            <a:r>
              <a:rPr lang="zh-CN" altLang="en-US" sz="2000" dirty="0"/>
              <a:t>页</a:t>
            </a:r>
          </a:p>
        </p:txBody>
      </p:sp>
    </p:spTree>
    <p:extLst>
      <p:ext uri="{BB962C8B-B14F-4D97-AF65-F5344CB8AC3E}">
        <p14:creationId xmlns:p14="http://schemas.microsoft.com/office/powerpoint/2010/main" val="4125994291"/>
      </p:ext>
    </p:ext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382000" cy="563562"/>
          </a:xfrm>
        </p:spPr>
        <p:txBody>
          <a:bodyPr/>
          <a:lstStyle/>
          <a:p>
            <a:r>
              <a:rPr lang="en-US" altLang="zh-CN" sz="3000" dirty="0">
                <a:solidFill>
                  <a:schemeClr val="tx2"/>
                </a:solidFill>
                <a:latin typeface="Times New Roman" pitchFamily="18" charset="0"/>
              </a:rPr>
              <a:t>7.3</a:t>
            </a:r>
            <a:r>
              <a:rPr lang="zh-CN" altLang="en-US" sz="3000" dirty="0">
                <a:solidFill>
                  <a:schemeClr val="tx2"/>
                </a:solidFill>
                <a:latin typeface="Times New Roman" pitchFamily="18" charset="0"/>
              </a:rPr>
              <a:t>工字</a:t>
            </a:r>
            <a:r>
              <a:rPr lang="zh-CN" altLang="en-US" sz="3000" dirty="0">
                <a:solidFill>
                  <a:schemeClr val="tx2"/>
                </a:solidFill>
              </a:rPr>
              <a:t>形截面偏心受压构件正截面承载力的计算</a:t>
            </a:r>
            <a:r>
              <a:rPr lang="zh-CN" altLang="en-US" dirty="0">
                <a:solidFill>
                  <a:schemeClr val="tx2"/>
                </a:solidFill>
              </a:rPr>
              <a:t>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7.3.2 </a:t>
            </a:r>
            <a:r>
              <a:rPr lang="zh-CN" altLang="en-US" dirty="0">
                <a:solidFill>
                  <a:srgbClr val="A50021"/>
                </a:solidFill>
                <a:ea typeface="华文中宋" pitchFamily="2" charset="-122"/>
                <a:cs typeface="Times New Roman" pitchFamily="18" charset="0"/>
              </a:rPr>
              <a:t>对称配筋工字形截面正截面受压承载力的计算</a:t>
            </a:r>
            <a:endParaRPr lang="en-US" altLang="zh-CN" dirty="0">
              <a:solidFill>
                <a:srgbClr val="990099"/>
              </a:solidFill>
              <a:cs typeface="Times New Roman" pitchFamily="18" charset="0"/>
            </a:endParaRPr>
          </a:p>
        </p:txBody>
      </p:sp>
      <p:sp>
        <p:nvSpPr>
          <p:cNvPr id="417796" name="Rectangle 4"/>
          <p:cNvSpPr>
            <a:spLocks noChangeArrowheads="1"/>
          </p:cNvSpPr>
          <p:nvPr/>
        </p:nvSpPr>
        <p:spPr bwMode="auto">
          <a:xfrm>
            <a:off x="211123" y="1632668"/>
            <a:ext cx="4419600"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r>
              <a:rPr lang="zh-CN" altLang="en-US" sz="2000" dirty="0"/>
              <a:t>二、小偏心受压（</a:t>
            </a:r>
            <a:r>
              <a:rPr lang="en-US" altLang="zh-CN" sz="2000" dirty="0"/>
              <a:t>x</a:t>
            </a:r>
            <a:r>
              <a:rPr lang="en-US" altLang="zh-CN" sz="2000" i="1" dirty="0"/>
              <a:t> &gt; ξ</a:t>
            </a:r>
            <a:r>
              <a:rPr lang="en-US" altLang="zh-CN" sz="2000" baseline="-25000" dirty="0"/>
              <a:t>b</a:t>
            </a:r>
            <a:r>
              <a:rPr lang="en-US" altLang="zh-CN" sz="2000" i="1" dirty="0"/>
              <a:t>h</a:t>
            </a:r>
            <a:r>
              <a:rPr lang="en-US" altLang="zh-CN" sz="2000" baseline="-25000" dirty="0"/>
              <a:t>0</a:t>
            </a:r>
            <a:r>
              <a:rPr lang="zh-CN" altLang="en-US" sz="2000" dirty="0"/>
              <a:t>） </a:t>
            </a:r>
          </a:p>
        </p:txBody>
      </p:sp>
      <p:sp>
        <p:nvSpPr>
          <p:cNvPr id="5" name="Rectangle 4"/>
          <p:cNvSpPr>
            <a:spLocks noChangeArrowheads="1"/>
          </p:cNvSpPr>
          <p:nvPr/>
        </p:nvSpPr>
        <p:spPr bwMode="auto">
          <a:xfrm>
            <a:off x="211122" y="2209800"/>
            <a:ext cx="8475677" cy="1200329"/>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ts val="0"/>
              </a:spcBef>
            </a:pPr>
            <a:r>
              <a:rPr lang="zh-CN" altLang="en-US" sz="2000" dirty="0"/>
              <a:t>        此时，按式</a:t>
            </a:r>
            <a:r>
              <a:rPr lang="en-US" altLang="zh-CN" sz="2000" dirty="0"/>
              <a:t>(7.56)</a:t>
            </a:r>
            <a:r>
              <a:rPr lang="zh-CN" altLang="en-US" sz="2000" dirty="0"/>
              <a:t>和</a:t>
            </a:r>
            <a:r>
              <a:rPr lang="en-US" altLang="zh-CN" sz="2000" dirty="0"/>
              <a:t>(7.57)</a:t>
            </a:r>
            <a:r>
              <a:rPr lang="zh-CN" altLang="en-US" sz="2000" dirty="0"/>
              <a:t>或式</a:t>
            </a:r>
            <a:r>
              <a:rPr lang="en-US" altLang="zh-CN" sz="2000" dirty="0"/>
              <a:t>(7.58)</a:t>
            </a:r>
            <a:r>
              <a:rPr lang="zh-CN" altLang="en-US" sz="2000" dirty="0"/>
              <a:t>和</a:t>
            </a:r>
            <a:r>
              <a:rPr lang="en-US" altLang="zh-CN" sz="2000" dirty="0"/>
              <a:t>(7.59)</a:t>
            </a:r>
            <a:r>
              <a:rPr lang="zh-CN" altLang="en-US" sz="2000" dirty="0"/>
              <a:t>联合求解，则与对称配筋矩形截面相同，亦将得到</a:t>
            </a:r>
            <a:r>
              <a:rPr lang="en-US" altLang="zh-CN" sz="2000" i="1" dirty="0"/>
              <a:t>ξ</a:t>
            </a:r>
            <a:r>
              <a:rPr lang="zh-CN" altLang="en-US" sz="2000" dirty="0"/>
              <a:t>的三次方程。为简化计算，也采用同样方法得到</a:t>
            </a:r>
            <a:r>
              <a:rPr lang="en-US" altLang="zh-CN" sz="2000" i="1" dirty="0"/>
              <a:t>ξ</a:t>
            </a:r>
            <a:r>
              <a:rPr lang="zh-CN" altLang="en-US" sz="2000" dirty="0"/>
              <a:t>的近似计算公式：</a:t>
            </a:r>
          </a:p>
        </p:txBody>
      </p:sp>
      <p:graphicFrame>
        <p:nvGraphicFramePr>
          <p:cNvPr id="2" name="对象 1"/>
          <p:cNvGraphicFramePr>
            <a:graphicFrameLocks noChangeAspect="1"/>
          </p:cNvGraphicFramePr>
          <p:nvPr>
            <p:extLst>
              <p:ext uri="{D42A27DB-BD31-4B8C-83A1-F6EECF244321}">
                <p14:modId xmlns:p14="http://schemas.microsoft.com/office/powerpoint/2010/main" val="2089851599"/>
              </p:ext>
            </p:extLst>
          </p:nvPr>
        </p:nvGraphicFramePr>
        <p:xfrm>
          <a:off x="2422321" y="5943600"/>
          <a:ext cx="2224088" cy="377825"/>
        </p:xfrm>
        <a:graphic>
          <a:graphicData uri="http://schemas.openxmlformats.org/presentationml/2006/ole">
            <mc:AlternateContent xmlns:mc="http://schemas.openxmlformats.org/markup-compatibility/2006">
              <mc:Choice xmlns:v="urn:schemas-microsoft-com:vml" Requires="v">
                <p:oleObj spid="_x0000_s549010" name="Equation" r:id="rId3" imgW="1307880" imgH="215640" progId="">
                  <p:embed/>
                </p:oleObj>
              </mc:Choice>
              <mc:Fallback>
                <p:oleObj name="Equation" r:id="rId3" imgW="1307880" imgH="21564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2321" y="5943600"/>
                        <a:ext cx="2224088"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左大括号 5"/>
          <p:cNvSpPr/>
          <p:nvPr/>
        </p:nvSpPr>
        <p:spPr bwMode="auto">
          <a:xfrm>
            <a:off x="304800" y="3733800"/>
            <a:ext cx="228600" cy="914400"/>
          </a:xfrm>
          <a:prstGeom prst="leftBrace">
            <a:avLst/>
          </a:prstGeom>
          <a:noFill/>
          <a:ln w="25400" cap="flat" cmpd="sng" algn="ctr">
            <a:solidFill>
              <a:schemeClr val="tx2"/>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pPr>
            <a:endParaRPr kumimoji="0" lang="zh-CN" altLang="en-US" sz="2400" b="1" i="0" u="none" strike="noStrike" cap="none" normalizeH="0" baseline="0">
              <a:ln>
                <a:noFill/>
              </a:ln>
              <a:solidFill>
                <a:srgbClr val="0000FF"/>
              </a:solidFill>
              <a:effectLst/>
              <a:latin typeface="Times New Roman" pitchFamily="18" charset="0"/>
              <a:ea typeface="宋体" pitchFamily="2" charset="-122"/>
            </a:endParaRPr>
          </a:p>
        </p:txBody>
      </p:sp>
      <p:graphicFrame>
        <p:nvGraphicFramePr>
          <p:cNvPr id="439326" name="Object 30"/>
          <p:cNvGraphicFramePr>
            <a:graphicFrameLocks noChangeAspect="1"/>
          </p:cNvGraphicFramePr>
          <p:nvPr>
            <p:extLst>
              <p:ext uri="{D42A27DB-BD31-4B8C-83A1-F6EECF244321}">
                <p14:modId xmlns:p14="http://schemas.microsoft.com/office/powerpoint/2010/main" val="1829458694"/>
              </p:ext>
            </p:extLst>
          </p:nvPr>
        </p:nvGraphicFramePr>
        <p:xfrm>
          <a:off x="619125" y="3594100"/>
          <a:ext cx="7050088" cy="471488"/>
        </p:xfrm>
        <a:graphic>
          <a:graphicData uri="http://schemas.openxmlformats.org/presentationml/2006/ole">
            <mc:AlternateContent xmlns:mc="http://schemas.openxmlformats.org/markup-compatibility/2006">
              <mc:Choice xmlns:v="urn:schemas-microsoft-com:vml" Requires="v">
                <p:oleObj spid="_x0000_s549011" name="Equation" r:id="rId5" imgW="4178160" imgH="279360" progId="Equation.DSMT4">
                  <p:embed/>
                </p:oleObj>
              </mc:Choice>
              <mc:Fallback>
                <p:oleObj name="Equation" r:id="rId5" imgW="4178160" imgH="279360" progId="Equation.DSMT4">
                  <p:embed/>
                  <p:pic>
                    <p:nvPicPr>
                      <p:cNvPr id="0" name="Picture 3"/>
                      <p:cNvPicPr>
                        <a:picLocks noChangeAspect="1" noChangeArrowheads="1"/>
                      </p:cNvPicPr>
                      <p:nvPr/>
                    </p:nvPicPr>
                    <p:blipFill>
                      <a:blip r:embed="rId6"/>
                      <a:srcRect/>
                      <a:stretch>
                        <a:fillRect/>
                      </a:stretch>
                    </p:blipFill>
                    <p:spPr bwMode="auto">
                      <a:xfrm>
                        <a:off x="619125" y="3594100"/>
                        <a:ext cx="7050088" cy="47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9327" name="Object 31"/>
          <p:cNvGraphicFramePr>
            <a:graphicFrameLocks noChangeAspect="1"/>
          </p:cNvGraphicFramePr>
          <p:nvPr/>
        </p:nvGraphicFramePr>
        <p:xfrm>
          <a:off x="785833" y="4186253"/>
          <a:ext cx="5872163" cy="1457325"/>
        </p:xfrm>
        <a:graphic>
          <a:graphicData uri="http://schemas.openxmlformats.org/presentationml/2006/ole">
            <mc:AlternateContent xmlns:mc="http://schemas.openxmlformats.org/markup-compatibility/2006">
              <mc:Choice xmlns:v="urn:schemas-microsoft-com:vml" Requires="v">
                <p:oleObj spid="_x0000_s549012" name="Equation" r:id="rId7" imgW="3479760" imgH="863280" progId="Equation.3">
                  <p:embed/>
                </p:oleObj>
              </mc:Choice>
              <mc:Fallback>
                <p:oleObj name="Equation" r:id="rId7" imgW="3479760" imgH="86328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5833" y="4186253"/>
                        <a:ext cx="5872163" cy="1457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47515798"/>
      </p:ext>
    </p:ext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382000" cy="563562"/>
          </a:xfrm>
        </p:spPr>
        <p:txBody>
          <a:bodyPr/>
          <a:lstStyle/>
          <a:p>
            <a:r>
              <a:rPr lang="en-US" altLang="zh-CN" sz="3000" dirty="0">
                <a:solidFill>
                  <a:schemeClr val="tx2"/>
                </a:solidFill>
                <a:latin typeface="Times New Roman" pitchFamily="18" charset="0"/>
              </a:rPr>
              <a:t>7.3</a:t>
            </a:r>
            <a:r>
              <a:rPr lang="zh-CN" altLang="en-US" sz="3000" dirty="0">
                <a:solidFill>
                  <a:schemeClr val="tx2"/>
                </a:solidFill>
                <a:latin typeface="Times New Roman" pitchFamily="18" charset="0"/>
              </a:rPr>
              <a:t>工字</a:t>
            </a:r>
            <a:r>
              <a:rPr lang="zh-CN" altLang="en-US" sz="3000" dirty="0">
                <a:solidFill>
                  <a:schemeClr val="tx2"/>
                </a:solidFill>
              </a:rPr>
              <a:t>形截面偏心受压构件正截面承载力的计算</a:t>
            </a:r>
            <a:r>
              <a:rPr lang="zh-CN" altLang="en-US" dirty="0">
                <a:solidFill>
                  <a:schemeClr val="tx2"/>
                </a:solidFill>
              </a:rPr>
              <a:t>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7.3.2 </a:t>
            </a:r>
            <a:r>
              <a:rPr lang="zh-CN" altLang="en-US" dirty="0">
                <a:solidFill>
                  <a:srgbClr val="A50021"/>
                </a:solidFill>
                <a:ea typeface="华文中宋" pitchFamily="2" charset="-122"/>
                <a:cs typeface="Times New Roman" pitchFamily="18" charset="0"/>
              </a:rPr>
              <a:t>对称配筋工字形截面正截面受压承载力的计算</a:t>
            </a:r>
            <a:endParaRPr lang="en-US" altLang="zh-CN" dirty="0">
              <a:solidFill>
                <a:srgbClr val="990099"/>
              </a:solidFill>
              <a:cs typeface="Times New Roman" pitchFamily="18" charset="0"/>
            </a:endParaRPr>
          </a:p>
        </p:txBody>
      </p:sp>
      <p:sp>
        <p:nvSpPr>
          <p:cNvPr id="417796" name="Rectangle 4"/>
          <p:cNvSpPr>
            <a:spLocks noChangeArrowheads="1"/>
          </p:cNvSpPr>
          <p:nvPr/>
        </p:nvSpPr>
        <p:spPr bwMode="auto">
          <a:xfrm>
            <a:off x="211123" y="1688068"/>
            <a:ext cx="4419600"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r>
              <a:rPr lang="en-US" altLang="zh-CN" sz="2000" dirty="0"/>
              <a:t>[</a:t>
            </a:r>
            <a:r>
              <a:rPr lang="zh-CN" altLang="en-US" sz="2000" dirty="0"/>
              <a:t>例题</a:t>
            </a:r>
            <a:r>
              <a:rPr lang="en-US" altLang="zh-CN" sz="2000" dirty="0"/>
              <a:t>7.14] </a:t>
            </a:r>
            <a:r>
              <a:rPr lang="zh-CN" altLang="en-US" sz="2000" dirty="0"/>
              <a:t>教材</a:t>
            </a:r>
            <a:r>
              <a:rPr lang="en-US" altLang="zh-CN" sz="2000" dirty="0"/>
              <a:t>302</a:t>
            </a:r>
            <a:r>
              <a:rPr lang="zh-CN" altLang="en-US" sz="2000" dirty="0"/>
              <a:t>页</a:t>
            </a:r>
          </a:p>
        </p:txBody>
      </p:sp>
    </p:spTree>
    <p:extLst>
      <p:ext uri="{BB962C8B-B14F-4D97-AF65-F5344CB8AC3E}">
        <p14:creationId xmlns:p14="http://schemas.microsoft.com/office/powerpoint/2010/main" val="30315669"/>
      </p:ext>
    </p:ext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304800" y="427038"/>
            <a:ext cx="8534400" cy="563562"/>
          </a:xfrm>
        </p:spPr>
        <p:txBody>
          <a:bodyPr/>
          <a:lstStyle/>
          <a:p>
            <a:r>
              <a:rPr lang="en-US" altLang="zh-CN" sz="3000" dirty="0">
                <a:solidFill>
                  <a:schemeClr val="tx2"/>
                </a:solidFill>
                <a:latin typeface="Times New Roman" pitchFamily="18" charset="0"/>
              </a:rPr>
              <a:t>7.4</a:t>
            </a:r>
            <a:r>
              <a:rPr lang="zh-CN" altLang="en-US" sz="3000" dirty="0">
                <a:solidFill>
                  <a:schemeClr val="tx2"/>
                </a:solidFill>
                <a:latin typeface="Times New Roman" pitchFamily="18" charset="0"/>
              </a:rPr>
              <a:t>沿</a:t>
            </a:r>
            <a:r>
              <a:rPr lang="zh-CN" altLang="en-US" sz="3000" dirty="0">
                <a:solidFill>
                  <a:schemeClr val="tx2"/>
                </a:solidFill>
              </a:rPr>
              <a:t>截面腹部均匀配置纵向钢筋偏心受压构件正截面承载力的计算 </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65768" y="3276600"/>
            <a:ext cx="3378231" cy="2971800"/>
          </a:xfrm>
          <a:prstGeom prst="rect">
            <a:avLst/>
          </a:prstGeom>
        </p:spPr>
      </p:pic>
      <p:sp>
        <p:nvSpPr>
          <p:cNvPr id="5" name="Rectangle 4"/>
          <p:cNvSpPr>
            <a:spLocks noChangeArrowheads="1"/>
          </p:cNvSpPr>
          <p:nvPr/>
        </p:nvSpPr>
        <p:spPr bwMode="auto">
          <a:xfrm>
            <a:off x="228600" y="1219200"/>
            <a:ext cx="8610600" cy="156966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ts val="0"/>
              </a:spcBef>
            </a:pPr>
            <a:r>
              <a:rPr lang="zh-CN" altLang="en-US" sz="2000" dirty="0"/>
              <a:t>沿截面腹部均匀配置等直径等间距的纵向受力钢筋，且每侧不少于四根钢筋的矩形、</a:t>
            </a:r>
            <a:r>
              <a:rPr lang="en-US" altLang="zh-CN" sz="2000" dirty="0"/>
              <a:t>T</a:t>
            </a:r>
            <a:r>
              <a:rPr lang="zh-CN" altLang="en-US" sz="2000" dirty="0"/>
              <a:t>型和</a:t>
            </a:r>
            <a:r>
              <a:rPr lang="en-US" altLang="zh-CN" sz="2000" dirty="0"/>
              <a:t>I</a:t>
            </a:r>
            <a:r>
              <a:rPr lang="zh-CN" altLang="en-US" sz="2000" dirty="0"/>
              <a:t>型截面偏心受压构件，正截面承载力的计算可根据正截面承载力计算方法的基本假定，列出平衡方程式进行计算。但比较繁琐，为便于设计，进行了简化：</a:t>
            </a:r>
          </a:p>
        </p:txBody>
      </p:sp>
      <p:graphicFrame>
        <p:nvGraphicFramePr>
          <p:cNvPr id="3" name="对象 2"/>
          <p:cNvGraphicFramePr>
            <a:graphicFrameLocks noChangeAspect="1"/>
          </p:cNvGraphicFramePr>
          <p:nvPr>
            <p:extLst>
              <p:ext uri="{D42A27DB-BD31-4B8C-83A1-F6EECF244321}">
                <p14:modId xmlns:p14="http://schemas.microsoft.com/office/powerpoint/2010/main" val="1118188746"/>
              </p:ext>
            </p:extLst>
          </p:nvPr>
        </p:nvGraphicFramePr>
        <p:xfrm>
          <a:off x="347663" y="2895600"/>
          <a:ext cx="5051425" cy="533400"/>
        </p:xfrm>
        <a:graphic>
          <a:graphicData uri="http://schemas.openxmlformats.org/presentationml/2006/ole">
            <mc:AlternateContent xmlns:mc="http://schemas.openxmlformats.org/markup-compatibility/2006">
              <mc:Choice xmlns:v="urn:schemas-microsoft-com:vml" Requires="v">
                <p:oleObj spid="_x0000_s550090" name="Equation" r:id="rId4" imgW="2971800" imgH="304560" progId="Equation.DSMT4">
                  <p:embed/>
                </p:oleObj>
              </mc:Choice>
              <mc:Fallback>
                <p:oleObj name="Equation" r:id="rId4" imgW="2971800" imgH="304560" progId="Equation.DSMT4">
                  <p:embed/>
                  <p:pic>
                    <p:nvPicPr>
                      <p:cNvPr id="0" name="Picture 2"/>
                      <p:cNvPicPr>
                        <a:picLocks noChangeAspect="1" noChangeArrowheads="1"/>
                      </p:cNvPicPr>
                      <p:nvPr/>
                    </p:nvPicPr>
                    <p:blipFill>
                      <a:blip r:embed="rId5"/>
                      <a:srcRect/>
                      <a:stretch>
                        <a:fillRect/>
                      </a:stretch>
                    </p:blipFill>
                    <p:spPr bwMode="auto">
                      <a:xfrm>
                        <a:off x="347663" y="2895600"/>
                        <a:ext cx="50514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690772068"/>
              </p:ext>
            </p:extLst>
          </p:nvPr>
        </p:nvGraphicFramePr>
        <p:xfrm>
          <a:off x="293688" y="3562350"/>
          <a:ext cx="5160962" cy="1466850"/>
        </p:xfrm>
        <a:graphic>
          <a:graphicData uri="http://schemas.openxmlformats.org/presentationml/2006/ole">
            <mc:AlternateContent xmlns:mc="http://schemas.openxmlformats.org/markup-compatibility/2006">
              <mc:Choice xmlns:v="urn:schemas-microsoft-com:vml" Requires="v">
                <p:oleObj spid="_x0000_s550091" name="Equation" r:id="rId6" imgW="3035160" imgH="838080" progId="Equation.DSMT4">
                  <p:embed/>
                </p:oleObj>
              </mc:Choice>
              <mc:Fallback>
                <p:oleObj name="Equation" r:id="rId6" imgW="3035160" imgH="838080" progId="Equation.DSMT4">
                  <p:embed/>
                  <p:pic>
                    <p:nvPicPr>
                      <p:cNvPr id="0" name="Picture 3"/>
                      <p:cNvPicPr>
                        <a:picLocks noChangeAspect="1" noChangeArrowheads="1"/>
                      </p:cNvPicPr>
                      <p:nvPr/>
                    </p:nvPicPr>
                    <p:blipFill>
                      <a:blip r:embed="rId7"/>
                      <a:srcRect/>
                      <a:stretch>
                        <a:fillRect/>
                      </a:stretch>
                    </p:blipFill>
                    <p:spPr bwMode="auto">
                      <a:xfrm>
                        <a:off x="293688" y="3562350"/>
                        <a:ext cx="5160962"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530120978"/>
              </p:ext>
            </p:extLst>
          </p:nvPr>
        </p:nvGraphicFramePr>
        <p:xfrm>
          <a:off x="609600" y="5029200"/>
          <a:ext cx="2719388" cy="844550"/>
        </p:xfrm>
        <a:graphic>
          <a:graphicData uri="http://schemas.openxmlformats.org/presentationml/2006/ole">
            <mc:AlternateContent xmlns:mc="http://schemas.openxmlformats.org/markup-compatibility/2006">
              <mc:Choice xmlns:v="urn:schemas-microsoft-com:vml" Requires="v">
                <p:oleObj spid="_x0000_s550092" name="Equation" r:id="rId8" imgW="1600200" imgH="482400" progId="Equation.DSMT4">
                  <p:embed/>
                </p:oleObj>
              </mc:Choice>
              <mc:Fallback>
                <p:oleObj name="Equation" r:id="rId8" imgW="1600200" imgH="482400" progId="Equation.DSMT4">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9600" y="5029200"/>
                        <a:ext cx="2719388"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197508164"/>
              </p:ext>
            </p:extLst>
          </p:nvPr>
        </p:nvGraphicFramePr>
        <p:xfrm>
          <a:off x="685800" y="5832475"/>
          <a:ext cx="3517900" cy="977900"/>
        </p:xfrm>
        <a:graphic>
          <a:graphicData uri="http://schemas.openxmlformats.org/presentationml/2006/ole">
            <mc:AlternateContent xmlns:mc="http://schemas.openxmlformats.org/markup-compatibility/2006">
              <mc:Choice xmlns:v="urn:schemas-microsoft-com:vml" Requires="v">
                <p:oleObj spid="_x0000_s550093" name="Equation" r:id="rId10" imgW="2070000" imgH="558720" progId="Equation.DSMT4">
                  <p:embed/>
                </p:oleObj>
              </mc:Choice>
              <mc:Fallback>
                <p:oleObj name="Equation" r:id="rId10" imgW="2070000" imgH="558720" progId="Equation.DSMT4">
                  <p:embed/>
                  <p:pic>
                    <p:nvPicPr>
                      <p:cNvPr id="0"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5800" y="5832475"/>
                        <a:ext cx="3517900"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833673128"/>
      </p:ext>
    </p:extLst>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534400" cy="563562"/>
          </a:xfrm>
        </p:spPr>
        <p:txBody>
          <a:bodyPr/>
          <a:lstStyle/>
          <a:p>
            <a:r>
              <a:rPr lang="en-US" altLang="zh-CN" sz="3000" dirty="0">
                <a:solidFill>
                  <a:schemeClr val="tx2"/>
                </a:solidFill>
                <a:latin typeface="Times New Roman" pitchFamily="18" charset="0"/>
              </a:rPr>
              <a:t>7.5</a:t>
            </a:r>
            <a:r>
              <a:rPr lang="zh-CN" altLang="en-US" sz="3000" dirty="0">
                <a:solidFill>
                  <a:schemeClr val="tx2"/>
                </a:solidFill>
                <a:latin typeface="Times New Roman" pitchFamily="18" charset="0"/>
              </a:rPr>
              <a:t>双向</a:t>
            </a:r>
            <a:r>
              <a:rPr lang="zh-CN" altLang="en-US" sz="3000" dirty="0">
                <a:solidFill>
                  <a:schemeClr val="tx2"/>
                </a:solidFill>
              </a:rPr>
              <a:t>偏心受压构件正截面承载力的计算 </a:t>
            </a:r>
          </a:p>
        </p:txBody>
      </p:sp>
      <p:sp>
        <p:nvSpPr>
          <p:cNvPr id="6" name="Rectangle 4"/>
          <p:cNvSpPr>
            <a:spLocks noChangeArrowheads="1"/>
          </p:cNvSpPr>
          <p:nvPr/>
        </p:nvSpPr>
        <p:spPr bwMode="auto">
          <a:xfrm>
            <a:off x="304800" y="1307068"/>
            <a:ext cx="7467600"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r>
              <a:rPr lang="zh-CN" altLang="en-US" sz="2000" u="sng" dirty="0">
                <a:solidFill>
                  <a:srgbClr val="C00000"/>
                </a:solidFill>
              </a:rPr>
              <a:t>双向偏心构件：</a:t>
            </a:r>
            <a:r>
              <a:rPr lang="zh-CN" altLang="en-US" sz="2000" dirty="0"/>
              <a:t>框架结构的角柱、管道支架和水塔的柱子等。</a:t>
            </a:r>
          </a:p>
        </p:txBody>
      </p:sp>
      <p:pic>
        <p:nvPicPr>
          <p:cNvPr id="506882" name="Picture 2" descr="http://www.zsnews.cn/DATA/EPaperPhoto/zssb/2015/20150624/A07/25.jpg"/>
          <p:cNvPicPr>
            <a:picLocks noChangeAspect="1" noChangeArrowheads="1"/>
          </p:cNvPicPr>
          <p:nvPr/>
        </p:nvPicPr>
        <p:blipFill>
          <a:blip r:embed="rId2"/>
          <a:srcRect/>
          <a:stretch>
            <a:fillRect/>
          </a:stretch>
        </p:blipFill>
        <p:spPr bwMode="auto">
          <a:xfrm>
            <a:off x="2071670" y="2071678"/>
            <a:ext cx="4762500" cy="3562351"/>
          </a:xfrm>
          <a:prstGeom prst="rect">
            <a:avLst/>
          </a:prstGeom>
          <a:noFill/>
        </p:spPr>
      </p:pic>
    </p:spTree>
    <p:extLst>
      <p:ext uri="{BB962C8B-B14F-4D97-AF65-F5344CB8AC3E}">
        <p14:creationId xmlns:p14="http://schemas.microsoft.com/office/powerpoint/2010/main" val="2635095284"/>
      </p:ext>
    </p:ext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534400" cy="563562"/>
          </a:xfrm>
        </p:spPr>
        <p:txBody>
          <a:bodyPr/>
          <a:lstStyle/>
          <a:p>
            <a:r>
              <a:rPr lang="en-US" altLang="zh-CN" sz="3000" dirty="0">
                <a:solidFill>
                  <a:schemeClr val="tx2"/>
                </a:solidFill>
                <a:latin typeface="Times New Roman" pitchFamily="18" charset="0"/>
              </a:rPr>
              <a:t>7.5</a:t>
            </a:r>
            <a:r>
              <a:rPr lang="zh-CN" altLang="en-US" sz="3000" dirty="0">
                <a:solidFill>
                  <a:schemeClr val="tx2"/>
                </a:solidFill>
                <a:latin typeface="Times New Roman" pitchFamily="18" charset="0"/>
              </a:rPr>
              <a:t>双向</a:t>
            </a:r>
            <a:r>
              <a:rPr lang="zh-CN" altLang="en-US" sz="3000" dirty="0">
                <a:solidFill>
                  <a:schemeClr val="tx2"/>
                </a:solidFill>
              </a:rPr>
              <a:t>偏心受压构件正截面承载力的计算 </a:t>
            </a:r>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7800" y="2121044"/>
            <a:ext cx="3333447" cy="4038600"/>
          </a:xfrm>
          <a:prstGeom prst="rect">
            <a:avLst/>
          </a:prstGeom>
        </p:spPr>
      </p:pic>
      <p:sp>
        <p:nvSpPr>
          <p:cNvPr id="7" name="Rectangle 4"/>
          <p:cNvSpPr>
            <a:spLocks noChangeArrowheads="1"/>
          </p:cNvSpPr>
          <p:nvPr/>
        </p:nvSpPr>
        <p:spPr bwMode="auto">
          <a:xfrm>
            <a:off x="304800" y="1428736"/>
            <a:ext cx="8153400"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r>
              <a:rPr lang="zh-CN" altLang="en-US" sz="2000" u="sng" dirty="0">
                <a:solidFill>
                  <a:srgbClr val="C00000"/>
                </a:solidFill>
              </a:rPr>
              <a:t>破坏形态：</a:t>
            </a:r>
            <a:r>
              <a:rPr lang="zh-CN" altLang="en-US" sz="2000" dirty="0"/>
              <a:t>与单向偏心受压构件相似，分为大偏心和小偏心受压破坏</a:t>
            </a:r>
          </a:p>
        </p:txBody>
      </p:sp>
      <p:sp>
        <p:nvSpPr>
          <p:cNvPr id="8" name="Rectangle 4"/>
          <p:cNvSpPr>
            <a:spLocks noChangeArrowheads="1"/>
          </p:cNvSpPr>
          <p:nvPr/>
        </p:nvSpPr>
        <p:spPr bwMode="auto">
          <a:xfrm>
            <a:off x="304800" y="1827912"/>
            <a:ext cx="6400800"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r>
              <a:rPr lang="zh-CN" altLang="en-US" sz="2000" dirty="0"/>
              <a:t>从加荷开始至构件破坏，其平均应变符合平截面假定。</a:t>
            </a:r>
          </a:p>
        </p:txBody>
      </p:sp>
      <p:sp>
        <p:nvSpPr>
          <p:cNvPr id="9" name="Rectangle 4"/>
          <p:cNvSpPr>
            <a:spLocks noChangeArrowheads="1"/>
          </p:cNvSpPr>
          <p:nvPr/>
        </p:nvSpPr>
        <p:spPr bwMode="auto">
          <a:xfrm>
            <a:off x="304800" y="2197244"/>
            <a:ext cx="4953000" cy="795667"/>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ts val="0"/>
              </a:spcBef>
            </a:pPr>
            <a:r>
              <a:rPr lang="zh-CN" altLang="en-US" sz="2000" dirty="0"/>
              <a:t>但双向偏心破坏时，中和轴一般不与截面主轴垂直，而是倾斜的。</a:t>
            </a:r>
          </a:p>
        </p:txBody>
      </p:sp>
      <p:sp>
        <p:nvSpPr>
          <p:cNvPr id="10" name="Rectangle 4"/>
          <p:cNvSpPr>
            <a:spLocks noChangeArrowheads="1"/>
          </p:cNvSpPr>
          <p:nvPr/>
        </p:nvSpPr>
        <p:spPr bwMode="auto">
          <a:xfrm>
            <a:off x="304800" y="3111644"/>
            <a:ext cx="4953000" cy="4294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ts val="0"/>
              </a:spcBef>
            </a:pPr>
            <a:r>
              <a:rPr lang="zh-CN" altLang="en-US" sz="2000" u="sng" dirty="0">
                <a:solidFill>
                  <a:srgbClr val="C00000"/>
                </a:solidFill>
              </a:rPr>
              <a:t>钢筋应力：</a:t>
            </a:r>
            <a:r>
              <a:rPr lang="zh-CN" altLang="en-US" sz="2000" dirty="0"/>
              <a:t>不均匀，采用近似算法。</a:t>
            </a: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7422" y="3724941"/>
            <a:ext cx="4687755" cy="2434703"/>
          </a:xfrm>
          <a:prstGeom prst="rect">
            <a:avLst/>
          </a:prstGeom>
        </p:spPr>
      </p:pic>
    </p:spTree>
    <p:extLst>
      <p:ext uri="{BB962C8B-B14F-4D97-AF65-F5344CB8AC3E}">
        <p14:creationId xmlns:p14="http://schemas.microsoft.com/office/powerpoint/2010/main" val="2635095284"/>
      </p:ext>
    </p:ext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534400" cy="563562"/>
          </a:xfrm>
        </p:spPr>
        <p:txBody>
          <a:bodyPr/>
          <a:lstStyle/>
          <a:p>
            <a:r>
              <a:rPr lang="en-US" altLang="zh-CN" sz="3000" dirty="0">
                <a:solidFill>
                  <a:schemeClr val="tx2"/>
                </a:solidFill>
                <a:latin typeface="Times New Roman" pitchFamily="18" charset="0"/>
              </a:rPr>
              <a:t>7.5</a:t>
            </a:r>
            <a:r>
              <a:rPr lang="zh-CN" altLang="en-US" sz="3000" dirty="0">
                <a:solidFill>
                  <a:schemeClr val="tx2"/>
                </a:solidFill>
                <a:latin typeface="Times New Roman" pitchFamily="18" charset="0"/>
              </a:rPr>
              <a:t>双向偏心受压构件正截面承载力的计算 </a:t>
            </a:r>
          </a:p>
        </p:txBody>
      </p:sp>
      <p:sp>
        <p:nvSpPr>
          <p:cNvPr id="6" name="Rectangle 4"/>
          <p:cNvSpPr>
            <a:spLocks noChangeArrowheads="1"/>
          </p:cNvSpPr>
          <p:nvPr/>
        </p:nvSpPr>
        <p:spPr bwMode="auto">
          <a:xfrm>
            <a:off x="304800" y="1307068"/>
            <a:ext cx="7467600"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r>
              <a:rPr lang="en-US" altLang="zh-CN" sz="2000" u="sng" dirty="0">
                <a:solidFill>
                  <a:srgbClr val="C00000"/>
                </a:solidFill>
              </a:rPr>
              <a:t>(</a:t>
            </a:r>
            <a:r>
              <a:rPr lang="en-US" altLang="zh-CN" sz="2000" u="sng" dirty="0" err="1">
                <a:solidFill>
                  <a:srgbClr val="C00000"/>
                </a:solidFill>
              </a:rPr>
              <a:t>N.V.Nikitin</a:t>
            </a:r>
            <a:r>
              <a:rPr lang="en-US" altLang="zh-CN" sz="2000" u="sng" dirty="0">
                <a:solidFill>
                  <a:srgbClr val="C00000"/>
                </a:solidFill>
              </a:rPr>
              <a:t>)</a:t>
            </a:r>
            <a:r>
              <a:rPr lang="zh-CN" altLang="en-US" sz="2000" u="sng" dirty="0">
                <a:solidFill>
                  <a:srgbClr val="C00000"/>
                </a:solidFill>
              </a:rPr>
              <a:t>倪克勤算法：</a:t>
            </a:r>
            <a:endParaRPr lang="zh-CN" altLang="en-US" sz="2000" dirty="0"/>
          </a:p>
        </p:txBody>
      </p:sp>
      <p:sp>
        <p:nvSpPr>
          <p:cNvPr id="7" name="Rectangle 4"/>
          <p:cNvSpPr>
            <a:spLocks noChangeArrowheads="1"/>
          </p:cNvSpPr>
          <p:nvPr/>
        </p:nvSpPr>
        <p:spPr bwMode="auto">
          <a:xfrm>
            <a:off x="304800" y="1742269"/>
            <a:ext cx="8153400" cy="1569660"/>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ts val="0"/>
              </a:spcBef>
            </a:pPr>
            <a:r>
              <a:rPr lang="zh-CN" altLang="en-US" sz="2000" dirty="0"/>
              <a:t>这是一种应用弹性阶段应力叠加的近似计算方法。截面设计时，必须先拟定截面尺寸和钢筋的配置方案，然后按公式复核截面所能承受的轴向力设计值</a:t>
            </a:r>
            <a:r>
              <a:rPr lang="en-US" altLang="zh-CN" sz="2000" i="1" dirty="0"/>
              <a:t>N</a:t>
            </a:r>
            <a:r>
              <a:rPr lang="zh-CN" altLang="en-US" sz="2000" dirty="0"/>
              <a:t>。如果不满足，需重新调整构件截面尺寸和配筋，再进行复核，直至满足设计要求。</a:t>
            </a:r>
            <a:r>
              <a:rPr lang="en-US" altLang="zh-CN" sz="2000" dirty="0"/>
              <a:t>------</a:t>
            </a:r>
            <a:r>
              <a:rPr lang="zh-CN" altLang="en-US" sz="2000" dirty="0"/>
              <a:t>试算法</a:t>
            </a:r>
          </a:p>
        </p:txBody>
      </p:sp>
      <p:sp>
        <p:nvSpPr>
          <p:cNvPr id="10" name="Rectangle 4"/>
          <p:cNvSpPr>
            <a:spLocks noChangeArrowheads="1"/>
          </p:cNvSpPr>
          <p:nvPr/>
        </p:nvSpPr>
        <p:spPr bwMode="auto">
          <a:xfrm>
            <a:off x="304800" y="3581400"/>
            <a:ext cx="4953000" cy="429413"/>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ts val="0"/>
              </a:spcBef>
            </a:pPr>
            <a:r>
              <a:rPr lang="zh-CN" altLang="en-US" sz="2000" u="sng" dirty="0">
                <a:solidFill>
                  <a:srgbClr val="C00000"/>
                </a:solidFill>
              </a:rPr>
              <a:t>钢筋应力：</a:t>
            </a:r>
            <a:r>
              <a:rPr lang="zh-CN" altLang="en-US" sz="2000" dirty="0"/>
              <a:t>不均匀，采用近似算法。</a:t>
            </a:r>
          </a:p>
        </p:txBody>
      </p:sp>
      <p:graphicFrame>
        <p:nvGraphicFramePr>
          <p:cNvPr id="4" name="对象 3"/>
          <p:cNvGraphicFramePr>
            <a:graphicFrameLocks noChangeAspect="1"/>
          </p:cNvGraphicFramePr>
          <p:nvPr>
            <p:extLst>
              <p:ext uri="{D42A27DB-BD31-4B8C-83A1-F6EECF244321}">
                <p14:modId xmlns:p14="http://schemas.microsoft.com/office/powerpoint/2010/main" val="3414751891"/>
              </p:ext>
            </p:extLst>
          </p:nvPr>
        </p:nvGraphicFramePr>
        <p:xfrm>
          <a:off x="1828800" y="4419600"/>
          <a:ext cx="2849563" cy="1108075"/>
        </p:xfrm>
        <a:graphic>
          <a:graphicData uri="http://schemas.openxmlformats.org/presentationml/2006/ole">
            <mc:AlternateContent xmlns:mc="http://schemas.openxmlformats.org/markup-compatibility/2006">
              <mc:Choice xmlns:v="urn:schemas-microsoft-com:vml" Requires="v">
                <p:oleObj spid="_x0000_s550962" name="Equation" r:id="rId3" imgW="1676160" imgH="634680" progId="">
                  <p:embed/>
                </p:oleObj>
              </mc:Choice>
              <mc:Fallback>
                <p:oleObj name="Equation" r:id="rId3" imgW="1676160" imgH="63468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4419600"/>
                        <a:ext cx="2849563" cy="11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803971176"/>
      </p:ext>
    </p:ext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534400" cy="563562"/>
          </a:xfrm>
        </p:spPr>
        <p:txBody>
          <a:bodyPr/>
          <a:lstStyle/>
          <a:p>
            <a:r>
              <a:rPr lang="en-US" altLang="zh-CN" sz="3000" dirty="0">
                <a:solidFill>
                  <a:schemeClr val="tx2"/>
                </a:solidFill>
                <a:latin typeface="Times New Roman" pitchFamily="18" charset="0"/>
              </a:rPr>
              <a:t>7.5</a:t>
            </a:r>
            <a:r>
              <a:rPr lang="zh-CN" altLang="en-US" sz="3000" dirty="0">
                <a:solidFill>
                  <a:schemeClr val="tx2"/>
                </a:solidFill>
                <a:latin typeface="Times New Roman" pitchFamily="18" charset="0"/>
              </a:rPr>
              <a:t>双向偏心受压构件正截面承载力的计算 </a:t>
            </a:r>
          </a:p>
        </p:txBody>
      </p:sp>
      <p:sp>
        <p:nvSpPr>
          <p:cNvPr id="6" name="Rectangle 4"/>
          <p:cNvSpPr>
            <a:spLocks noChangeArrowheads="1"/>
          </p:cNvSpPr>
          <p:nvPr/>
        </p:nvSpPr>
        <p:spPr bwMode="auto">
          <a:xfrm>
            <a:off x="304800" y="1307068"/>
            <a:ext cx="7467600" cy="369332"/>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r>
              <a:rPr lang="en-US" altLang="zh-CN" sz="2000" u="sng" dirty="0">
                <a:solidFill>
                  <a:srgbClr val="C00000"/>
                </a:solidFill>
              </a:rPr>
              <a:t>(</a:t>
            </a:r>
            <a:r>
              <a:rPr lang="en-US" altLang="zh-CN" sz="2000" u="sng" dirty="0" err="1">
                <a:solidFill>
                  <a:srgbClr val="C00000"/>
                </a:solidFill>
              </a:rPr>
              <a:t>N.V.Nikitin</a:t>
            </a:r>
            <a:r>
              <a:rPr lang="en-US" altLang="zh-CN" sz="2000" u="sng" dirty="0">
                <a:solidFill>
                  <a:srgbClr val="C00000"/>
                </a:solidFill>
              </a:rPr>
              <a:t>)</a:t>
            </a:r>
            <a:r>
              <a:rPr lang="zh-CN" altLang="en-US" sz="2000" u="sng" dirty="0">
                <a:solidFill>
                  <a:srgbClr val="C00000"/>
                </a:solidFill>
              </a:rPr>
              <a:t>倪克勤算法：</a:t>
            </a:r>
            <a:endParaRPr lang="zh-CN" altLang="en-US" sz="2000" dirty="0"/>
          </a:p>
        </p:txBody>
      </p:sp>
      <p:sp>
        <p:nvSpPr>
          <p:cNvPr id="7" name="Rectangle 4"/>
          <p:cNvSpPr>
            <a:spLocks noChangeArrowheads="1"/>
          </p:cNvSpPr>
          <p:nvPr/>
        </p:nvSpPr>
        <p:spPr bwMode="auto">
          <a:xfrm>
            <a:off x="304800" y="1742269"/>
            <a:ext cx="8153400" cy="830997"/>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spcBef>
                <a:spcPts val="0"/>
              </a:spcBef>
            </a:pPr>
            <a:r>
              <a:rPr lang="zh-CN" altLang="en-US" sz="2000" dirty="0"/>
              <a:t>假定材料处于弹性阶段，在轴向力</a:t>
            </a:r>
            <a:r>
              <a:rPr lang="en-US" altLang="zh-CN" sz="2000" i="1" dirty="0"/>
              <a:t>N</a:t>
            </a:r>
            <a:r>
              <a:rPr lang="en-US" altLang="zh-CN" sz="2000" baseline="-25000" dirty="0"/>
              <a:t>u0</a:t>
            </a:r>
            <a:r>
              <a:rPr lang="zh-CN" altLang="en-US" sz="2000" i="1" dirty="0"/>
              <a:t>，</a:t>
            </a:r>
            <a:r>
              <a:rPr lang="en-US" altLang="zh-CN" sz="2000" i="1" dirty="0" err="1"/>
              <a:t>N</a:t>
            </a:r>
            <a:r>
              <a:rPr lang="en-US" altLang="zh-CN" sz="2000" baseline="-25000" dirty="0" err="1"/>
              <a:t>ux</a:t>
            </a:r>
            <a:r>
              <a:rPr lang="zh-CN" altLang="en-US" sz="2000" i="1" dirty="0"/>
              <a:t>，</a:t>
            </a:r>
            <a:r>
              <a:rPr lang="en-US" altLang="zh-CN" sz="2000" i="1" dirty="0" err="1"/>
              <a:t>N</a:t>
            </a:r>
            <a:r>
              <a:rPr lang="en-US" altLang="zh-CN" sz="2000" baseline="-25000" dirty="0" err="1"/>
              <a:t>uy</a:t>
            </a:r>
            <a:r>
              <a:rPr lang="zh-CN" altLang="en-US" sz="2000" dirty="0"/>
              <a:t>和</a:t>
            </a:r>
            <a:r>
              <a:rPr lang="en-US" altLang="zh-CN" sz="2000" i="1" dirty="0"/>
              <a:t>N</a:t>
            </a:r>
            <a:r>
              <a:rPr lang="zh-CN" altLang="en-US" sz="2000" dirty="0"/>
              <a:t>作用下，截面内的应力都达到材料所能承受的容许应力，根据材料力学方法可得：</a:t>
            </a:r>
          </a:p>
        </p:txBody>
      </p:sp>
      <p:graphicFrame>
        <p:nvGraphicFramePr>
          <p:cNvPr id="4" name="对象 3"/>
          <p:cNvGraphicFramePr>
            <a:graphicFrameLocks noChangeAspect="1"/>
          </p:cNvGraphicFramePr>
          <p:nvPr>
            <p:extLst>
              <p:ext uri="{D42A27DB-BD31-4B8C-83A1-F6EECF244321}">
                <p14:modId xmlns:p14="http://schemas.microsoft.com/office/powerpoint/2010/main" val="1136921334"/>
              </p:ext>
            </p:extLst>
          </p:nvPr>
        </p:nvGraphicFramePr>
        <p:xfrm>
          <a:off x="533400" y="2743200"/>
          <a:ext cx="1468437" cy="442912"/>
        </p:xfrm>
        <a:graphic>
          <a:graphicData uri="http://schemas.openxmlformats.org/presentationml/2006/ole">
            <mc:AlternateContent xmlns:mc="http://schemas.openxmlformats.org/markup-compatibility/2006">
              <mc:Choice xmlns:v="urn:schemas-microsoft-com:vml" Requires="v">
                <p:oleObj spid="_x0000_s552178" name="Equation" r:id="rId3" imgW="863280" imgH="253800" progId="">
                  <p:embed/>
                </p:oleObj>
              </mc:Choice>
              <mc:Fallback>
                <p:oleObj name="Equation" r:id="rId3" imgW="863280" imgH="2538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2743200"/>
                        <a:ext cx="1468437"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803201525"/>
              </p:ext>
            </p:extLst>
          </p:nvPr>
        </p:nvGraphicFramePr>
        <p:xfrm>
          <a:off x="533400" y="3200400"/>
          <a:ext cx="2914651" cy="442913"/>
        </p:xfrm>
        <a:graphic>
          <a:graphicData uri="http://schemas.openxmlformats.org/presentationml/2006/ole">
            <mc:AlternateContent xmlns:mc="http://schemas.openxmlformats.org/markup-compatibility/2006">
              <mc:Choice xmlns:v="urn:schemas-microsoft-com:vml" Requires="v">
                <p:oleObj spid="_x0000_s552179" name="Equation" r:id="rId5" imgW="1714320" imgH="253800" progId="">
                  <p:embed/>
                </p:oleObj>
              </mc:Choice>
              <mc:Fallback>
                <p:oleObj name="Equation" r:id="rId5" imgW="1714320" imgH="253800"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3200400"/>
                        <a:ext cx="2914651"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236595054"/>
              </p:ext>
            </p:extLst>
          </p:nvPr>
        </p:nvGraphicFramePr>
        <p:xfrm>
          <a:off x="533400" y="3733800"/>
          <a:ext cx="2936875" cy="442913"/>
        </p:xfrm>
        <a:graphic>
          <a:graphicData uri="http://schemas.openxmlformats.org/presentationml/2006/ole">
            <mc:AlternateContent xmlns:mc="http://schemas.openxmlformats.org/markup-compatibility/2006">
              <mc:Choice xmlns:v="urn:schemas-microsoft-com:vml" Requires="v">
                <p:oleObj spid="_x0000_s552180" name="Equation" r:id="rId7" imgW="1726920" imgH="253800" progId="">
                  <p:embed/>
                </p:oleObj>
              </mc:Choice>
              <mc:Fallback>
                <p:oleObj name="Equation" r:id="rId7" imgW="1726920" imgH="253800" progId="">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3733800"/>
                        <a:ext cx="293687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932627031"/>
              </p:ext>
            </p:extLst>
          </p:nvPr>
        </p:nvGraphicFramePr>
        <p:xfrm>
          <a:off x="561975" y="4267200"/>
          <a:ext cx="3629025" cy="442913"/>
        </p:xfrm>
        <a:graphic>
          <a:graphicData uri="http://schemas.openxmlformats.org/presentationml/2006/ole">
            <mc:AlternateContent xmlns:mc="http://schemas.openxmlformats.org/markup-compatibility/2006">
              <mc:Choice xmlns:v="urn:schemas-microsoft-com:vml" Requires="v">
                <p:oleObj spid="_x0000_s552181" name="Equation" r:id="rId9" imgW="2133360" imgH="253800" progId="">
                  <p:embed/>
                </p:oleObj>
              </mc:Choice>
              <mc:Fallback>
                <p:oleObj name="Equation" r:id="rId9" imgW="2133360" imgH="253800" progId="">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1975" y="4267200"/>
                        <a:ext cx="36290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6310" name="Object 86"/>
          <p:cNvGraphicFramePr>
            <a:graphicFrameLocks noChangeAspect="1"/>
          </p:cNvGraphicFramePr>
          <p:nvPr/>
        </p:nvGraphicFramePr>
        <p:xfrm>
          <a:off x="3143240" y="4786322"/>
          <a:ext cx="2844800" cy="1104900"/>
        </p:xfrm>
        <a:graphic>
          <a:graphicData uri="http://schemas.openxmlformats.org/presentationml/2006/ole">
            <mc:AlternateContent xmlns:mc="http://schemas.openxmlformats.org/markup-compatibility/2006">
              <mc:Choice xmlns:v="urn:schemas-microsoft-com:vml" Requires="v">
                <p:oleObj spid="_x0000_s552182" name="Equation" r:id="rId11" imgW="1676160" imgH="634680" progId="">
                  <p:embed/>
                </p:oleObj>
              </mc:Choice>
              <mc:Fallback>
                <p:oleObj name="Equation" r:id="rId11" imgW="1676160" imgH="634680" progId="">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43240" y="4786322"/>
                        <a:ext cx="2844800"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81870466"/>
      </p:ext>
    </p:ext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534400" cy="563562"/>
          </a:xfrm>
        </p:spPr>
        <p:txBody>
          <a:bodyPr/>
          <a:lstStyle/>
          <a:p>
            <a:r>
              <a:rPr lang="en-US" altLang="zh-CN" sz="3000" dirty="0">
                <a:solidFill>
                  <a:schemeClr val="tx2"/>
                </a:solidFill>
                <a:latin typeface="Times New Roman" pitchFamily="18" charset="0"/>
              </a:rPr>
              <a:t>7.6</a:t>
            </a:r>
            <a:r>
              <a:rPr lang="zh-CN" altLang="en-US" sz="3000" dirty="0">
                <a:solidFill>
                  <a:schemeClr val="tx2"/>
                </a:solidFill>
                <a:latin typeface="Times New Roman" pitchFamily="18" charset="0"/>
              </a:rPr>
              <a:t>受压构件的构造要求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7.6.1 </a:t>
            </a:r>
            <a:r>
              <a:rPr lang="zh-CN" altLang="en-US" dirty="0">
                <a:solidFill>
                  <a:srgbClr val="A50021"/>
                </a:solidFill>
                <a:ea typeface="华文中宋" pitchFamily="2" charset="-122"/>
                <a:cs typeface="Times New Roman" pitchFamily="18" charset="0"/>
              </a:rPr>
              <a:t>截面形式及尺寸</a:t>
            </a:r>
            <a:endParaRPr lang="en-US" altLang="zh-CN" dirty="0">
              <a:solidFill>
                <a:srgbClr val="990099"/>
              </a:solidFill>
              <a:cs typeface="Times New Roman" pitchFamily="18" charset="0"/>
            </a:endParaRPr>
          </a:p>
        </p:txBody>
      </p:sp>
      <p:sp>
        <p:nvSpPr>
          <p:cNvPr id="2" name="矩形 1"/>
          <p:cNvSpPr/>
          <p:nvPr/>
        </p:nvSpPr>
        <p:spPr>
          <a:xfrm>
            <a:off x="304800" y="1610041"/>
            <a:ext cx="6019800" cy="2785378"/>
          </a:xfrm>
          <a:prstGeom prst="rect">
            <a:avLst/>
          </a:prstGeom>
        </p:spPr>
        <p:txBody>
          <a:bodyPr wrap="square">
            <a:spAutoFit/>
          </a:bodyPr>
          <a:lstStyle/>
          <a:p>
            <a:pPr marL="342900" indent="-342900" algn="l">
              <a:lnSpc>
                <a:spcPct val="125000"/>
              </a:lnSpc>
              <a:spcBef>
                <a:spcPts val="0"/>
              </a:spcBef>
              <a:buFont typeface="Wingdings" pitchFamily="2" charset="2"/>
              <a:buChar char="l"/>
            </a:pPr>
            <a:r>
              <a:rPr lang="zh-CN" altLang="en-US" sz="2000" dirty="0">
                <a:solidFill>
                  <a:schemeClr val="tx2"/>
                </a:solidFill>
              </a:rPr>
              <a:t>为了便于模板制作，</a:t>
            </a:r>
            <a:r>
              <a:rPr lang="zh-CN" altLang="en-US" sz="2000" dirty="0">
                <a:solidFill>
                  <a:srgbClr val="C00000"/>
                </a:solidFill>
              </a:rPr>
              <a:t>轴心受压构件</a:t>
            </a:r>
            <a:r>
              <a:rPr lang="zh-CN" altLang="en-US" sz="2000" dirty="0">
                <a:solidFill>
                  <a:schemeClr val="tx2"/>
                </a:solidFill>
              </a:rPr>
              <a:t>的截面一般为</a:t>
            </a:r>
            <a:r>
              <a:rPr lang="zh-CN" altLang="en-US" sz="2000" dirty="0"/>
              <a:t>正方形</a:t>
            </a:r>
            <a:r>
              <a:rPr lang="zh-CN" altLang="en-US" sz="2000" dirty="0">
                <a:solidFill>
                  <a:schemeClr val="tx2"/>
                </a:solidFill>
              </a:rPr>
              <a:t>，当有特殊要求时．亦可采用</a:t>
            </a:r>
            <a:r>
              <a:rPr lang="zh-CN" altLang="en-US" sz="2000" dirty="0"/>
              <a:t>圆形</a:t>
            </a:r>
            <a:r>
              <a:rPr lang="zh-CN" altLang="en-US" sz="2000" dirty="0">
                <a:solidFill>
                  <a:schemeClr val="tx2"/>
                </a:solidFill>
              </a:rPr>
              <a:t>或</a:t>
            </a:r>
            <a:r>
              <a:rPr lang="zh-CN" altLang="en-US" sz="2000" dirty="0"/>
              <a:t>多边形</a:t>
            </a:r>
            <a:r>
              <a:rPr lang="zh-CN" altLang="en-US" sz="2000" dirty="0">
                <a:solidFill>
                  <a:schemeClr val="tx2"/>
                </a:solidFill>
              </a:rPr>
              <a:t>截面。</a:t>
            </a:r>
            <a:endParaRPr lang="en-US" altLang="zh-CN" sz="2000" dirty="0">
              <a:solidFill>
                <a:schemeClr val="tx2"/>
              </a:solidFill>
            </a:endParaRPr>
          </a:p>
          <a:p>
            <a:pPr marL="342900" indent="-342900" algn="l">
              <a:lnSpc>
                <a:spcPct val="125000"/>
              </a:lnSpc>
              <a:spcBef>
                <a:spcPts val="0"/>
              </a:spcBef>
              <a:buFont typeface="Wingdings" pitchFamily="2" charset="2"/>
              <a:buChar char="l"/>
            </a:pPr>
            <a:r>
              <a:rPr lang="zh-CN" altLang="en-US" sz="2000" dirty="0">
                <a:solidFill>
                  <a:srgbClr val="C00000"/>
                </a:solidFill>
              </a:rPr>
              <a:t>偏心受压柱</a:t>
            </a:r>
            <a:r>
              <a:rPr lang="zh-CN" altLang="en-US" sz="2000" dirty="0">
                <a:solidFill>
                  <a:schemeClr val="tx2"/>
                </a:solidFill>
              </a:rPr>
              <a:t>的截面一般为</a:t>
            </a:r>
            <a:r>
              <a:rPr lang="zh-CN" altLang="en-US" sz="2000" dirty="0"/>
              <a:t>矩形</a:t>
            </a:r>
            <a:r>
              <a:rPr lang="zh-CN" altLang="en-US" sz="2000" dirty="0">
                <a:solidFill>
                  <a:schemeClr val="tx2"/>
                </a:solidFill>
              </a:rPr>
              <a:t>，长短边之比值一般为</a:t>
            </a:r>
            <a:r>
              <a:rPr lang="en-US" altLang="zh-CN" sz="2000" dirty="0">
                <a:solidFill>
                  <a:schemeClr val="tx2"/>
                </a:solidFill>
              </a:rPr>
              <a:t>1.5~2.5</a:t>
            </a:r>
            <a:r>
              <a:rPr lang="zh-CN" altLang="en-US" sz="2000" dirty="0">
                <a:solidFill>
                  <a:schemeClr val="tx2"/>
                </a:solidFill>
              </a:rPr>
              <a:t>，长边应在弯矩作用方向。当矩形截面的长边超过</a:t>
            </a:r>
            <a:r>
              <a:rPr lang="en-US" altLang="zh-CN" sz="2000" dirty="0">
                <a:solidFill>
                  <a:schemeClr val="tx2"/>
                </a:solidFill>
              </a:rPr>
              <a:t>600mm</a:t>
            </a:r>
            <a:r>
              <a:rPr lang="zh-CN" altLang="en-US" sz="2000" dirty="0">
                <a:solidFill>
                  <a:schemeClr val="tx2"/>
                </a:solidFill>
              </a:rPr>
              <a:t>时，特别是装配式柱子，应尽量采用</a:t>
            </a:r>
            <a:r>
              <a:rPr lang="zh-CN" altLang="en-US" sz="2000" dirty="0"/>
              <a:t>工字形</a:t>
            </a:r>
            <a:r>
              <a:rPr lang="zh-CN" altLang="en-US" sz="2000" dirty="0">
                <a:solidFill>
                  <a:schemeClr val="tx2"/>
                </a:solidFill>
              </a:rPr>
              <a:t>截面，以节省混凝土和减轻自重。</a:t>
            </a:r>
            <a:endParaRPr lang="en-US" altLang="zh-CN" sz="2000" dirty="0">
              <a:solidFill>
                <a:schemeClr val="tx2"/>
              </a:solidFill>
            </a:endParaRPr>
          </a:p>
        </p:txBody>
      </p:sp>
      <p:pic>
        <p:nvPicPr>
          <p:cNvPr id="416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499374"/>
            <a:ext cx="30480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a:xfrm>
            <a:off x="304800" y="4343400"/>
            <a:ext cx="8458200" cy="2400657"/>
          </a:xfrm>
          <a:prstGeom prst="rect">
            <a:avLst/>
          </a:prstGeom>
        </p:spPr>
        <p:txBody>
          <a:bodyPr wrap="square">
            <a:spAutoFit/>
          </a:bodyPr>
          <a:lstStyle/>
          <a:p>
            <a:pPr marL="342900" indent="-342900" algn="l">
              <a:lnSpc>
                <a:spcPct val="125000"/>
              </a:lnSpc>
              <a:spcBef>
                <a:spcPts val="0"/>
              </a:spcBef>
              <a:buFont typeface="Wingdings" pitchFamily="2" charset="2"/>
              <a:buChar char="l"/>
            </a:pPr>
            <a:r>
              <a:rPr lang="zh-CN" altLang="en-US" sz="2000" dirty="0">
                <a:solidFill>
                  <a:schemeClr val="tx2"/>
                </a:solidFill>
              </a:rPr>
              <a:t>柱截面的尺寸不宜太小，一般不宜小于</a:t>
            </a:r>
            <a:r>
              <a:rPr lang="en-US" altLang="zh-CN" sz="2000" dirty="0">
                <a:solidFill>
                  <a:schemeClr val="tx2"/>
                </a:solidFill>
              </a:rPr>
              <a:t>250mm×250mm</a:t>
            </a:r>
            <a:r>
              <a:rPr lang="zh-CN" altLang="en-US" sz="2000" dirty="0">
                <a:solidFill>
                  <a:schemeClr val="tx2"/>
                </a:solidFill>
              </a:rPr>
              <a:t>，因为柱的长细比越大．其受压承载力越低，不能充分利用材料强度。</a:t>
            </a:r>
            <a:endParaRPr lang="en-US" altLang="zh-CN" sz="2000" dirty="0">
              <a:solidFill>
                <a:schemeClr val="tx2"/>
              </a:solidFill>
            </a:endParaRPr>
          </a:p>
          <a:p>
            <a:pPr marL="342900" indent="-342900" algn="l">
              <a:lnSpc>
                <a:spcPct val="125000"/>
              </a:lnSpc>
              <a:spcBef>
                <a:spcPts val="0"/>
              </a:spcBef>
              <a:buFont typeface="Wingdings" pitchFamily="2" charset="2"/>
              <a:buChar char="l"/>
            </a:pPr>
            <a:r>
              <a:rPr lang="zh-CN" altLang="en-US" sz="2000" dirty="0">
                <a:solidFill>
                  <a:schemeClr val="tx2"/>
                </a:solidFill>
              </a:rPr>
              <a:t>柱的长细比一般宜限制在</a:t>
            </a:r>
            <a:r>
              <a:rPr lang="en-US" altLang="zh-CN" sz="2000" i="1" dirty="0">
                <a:solidFill>
                  <a:srgbClr val="FF0000"/>
                </a:solidFill>
                <a:cs typeface="Times New Roman" panose="02020603050405020304" pitchFamily="18" charset="0"/>
              </a:rPr>
              <a:t>l</a:t>
            </a:r>
            <a:r>
              <a:rPr lang="en-US" altLang="zh-CN" sz="2000" baseline="-25000" dirty="0">
                <a:solidFill>
                  <a:srgbClr val="FF0000"/>
                </a:solidFill>
                <a:cs typeface="Times New Roman" panose="02020603050405020304" pitchFamily="18" charset="0"/>
              </a:rPr>
              <a:t>0</a:t>
            </a:r>
            <a:r>
              <a:rPr lang="en-US" altLang="zh-CN" sz="2000" dirty="0">
                <a:solidFill>
                  <a:srgbClr val="FF0000"/>
                </a:solidFill>
                <a:cs typeface="Times New Roman" panose="02020603050405020304" pitchFamily="18" charset="0"/>
              </a:rPr>
              <a:t>/</a:t>
            </a:r>
            <a:r>
              <a:rPr lang="en-US" altLang="zh-CN" sz="2000" i="1" dirty="0">
                <a:solidFill>
                  <a:srgbClr val="FF0000"/>
                </a:solidFill>
                <a:cs typeface="Times New Roman" panose="02020603050405020304" pitchFamily="18" charset="0"/>
              </a:rPr>
              <a:t>b</a:t>
            </a:r>
            <a:r>
              <a:rPr lang="zh-CN" altLang="en-US" sz="2000" dirty="0">
                <a:solidFill>
                  <a:srgbClr val="FF0000"/>
                </a:solidFill>
              </a:rPr>
              <a:t>＜</a:t>
            </a:r>
            <a:r>
              <a:rPr lang="en-US" altLang="zh-CN" sz="2000" dirty="0">
                <a:solidFill>
                  <a:srgbClr val="FF0000"/>
                </a:solidFill>
              </a:rPr>
              <a:t>30</a:t>
            </a:r>
            <a:r>
              <a:rPr lang="zh-CN" altLang="en-US" sz="2000" dirty="0">
                <a:solidFill>
                  <a:schemeClr val="tx2"/>
                </a:solidFill>
              </a:rPr>
              <a:t>，</a:t>
            </a:r>
            <a:r>
              <a:rPr lang="en-US" altLang="zh-CN" sz="2000" i="1" dirty="0">
                <a:solidFill>
                  <a:schemeClr val="tx2"/>
                </a:solidFill>
              </a:rPr>
              <a:t> l</a:t>
            </a:r>
            <a:r>
              <a:rPr lang="en-US" altLang="zh-CN" sz="2000" baseline="-25000" dirty="0">
                <a:solidFill>
                  <a:schemeClr val="tx2"/>
                </a:solidFill>
              </a:rPr>
              <a:t>0</a:t>
            </a:r>
            <a:r>
              <a:rPr lang="zh-CN" altLang="en-US" sz="2000" dirty="0">
                <a:solidFill>
                  <a:schemeClr val="tx2"/>
                </a:solidFill>
              </a:rPr>
              <a:t>为柱的计算长度，</a:t>
            </a:r>
            <a:r>
              <a:rPr lang="en-US" altLang="zh-CN" sz="2000" i="1" dirty="0">
                <a:solidFill>
                  <a:schemeClr val="tx2"/>
                </a:solidFill>
              </a:rPr>
              <a:t>b</a:t>
            </a:r>
            <a:r>
              <a:rPr lang="zh-CN" altLang="en-US" sz="2000" dirty="0">
                <a:solidFill>
                  <a:schemeClr val="tx2"/>
                </a:solidFill>
              </a:rPr>
              <a:t>为矩形截面的短边尺寸。</a:t>
            </a:r>
            <a:endParaRPr lang="en-US" altLang="zh-CN" sz="2000" dirty="0">
              <a:solidFill>
                <a:schemeClr val="tx2"/>
              </a:solidFill>
            </a:endParaRPr>
          </a:p>
          <a:p>
            <a:pPr marL="342900" indent="-342900" algn="l">
              <a:lnSpc>
                <a:spcPct val="125000"/>
              </a:lnSpc>
              <a:spcBef>
                <a:spcPts val="0"/>
              </a:spcBef>
              <a:buFont typeface="Wingdings" pitchFamily="2" charset="2"/>
              <a:buChar char="l"/>
            </a:pPr>
            <a:r>
              <a:rPr lang="zh-CN" altLang="en-US" sz="2000" dirty="0">
                <a:solidFill>
                  <a:schemeClr val="tx2"/>
                </a:solidFill>
              </a:rPr>
              <a:t>为了便于模板制作，当柱截面的边长小于</a:t>
            </a:r>
            <a:r>
              <a:rPr lang="en-US" altLang="zh-CN" sz="2000" dirty="0">
                <a:solidFill>
                  <a:schemeClr val="tx2"/>
                </a:solidFill>
              </a:rPr>
              <a:t>800mm</a:t>
            </a:r>
            <a:r>
              <a:rPr lang="zh-CN" altLang="en-US" sz="2000" dirty="0">
                <a:solidFill>
                  <a:schemeClr val="tx2"/>
                </a:solidFill>
              </a:rPr>
              <a:t>时。截面尺寸以</a:t>
            </a:r>
            <a:r>
              <a:rPr lang="en-US" altLang="zh-CN" sz="2000" dirty="0">
                <a:solidFill>
                  <a:schemeClr val="tx2"/>
                </a:solidFill>
              </a:rPr>
              <a:t>50mm</a:t>
            </a:r>
            <a:r>
              <a:rPr lang="zh-CN" altLang="en-US" sz="2000" dirty="0">
                <a:solidFill>
                  <a:schemeClr val="tx2"/>
                </a:solidFill>
              </a:rPr>
              <a:t>为模数；大于</a:t>
            </a:r>
            <a:r>
              <a:rPr lang="en-US" altLang="zh-CN" sz="2000" dirty="0">
                <a:solidFill>
                  <a:schemeClr val="tx2"/>
                </a:solidFill>
              </a:rPr>
              <a:t>800mm</a:t>
            </a:r>
            <a:r>
              <a:rPr lang="zh-CN" altLang="en-US" sz="2000" dirty="0">
                <a:solidFill>
                  <a:schemeClr val="tx2"/>
                </a:solidFill>
              </a:rPr>
              <a:t>时，则以</a:t>
            </a:r>
            <a:r>
              <a:rPr lang="en-US" altLang="zh-CN" sz="2000" dirty="0">
                <a:solidFill>
                  <a:schemeClr val="tx2"/>
                </a:solidFill>
              </a:rPr>
              <a:t>100mm</a:t>
            </a:r>
            <a:r>
              <a:rPr lang="zh-CN" altLang="en-US" sz="2000" dirty="0">
                <a:solidFill>
                  <a:schemeClr val="tx2"/>
                </a:solidFill>
              </a:rPr>
              <a:t>为模数。</a:t>
            </a:r>
          </a:p>
        </p:txBody>
      </p:sp>
    </p:spTree>
    <p:extLst>
      <p:ext uri="{BB962C8B-B14F-4D97-AF65-F5344CB8AC3E}">
        <p14:creationId xmlns:p14="http://schemas.microsoft.com/office/powerpoint/2010/main" val="1951593874"/>
      </p:ext>
    </p:ext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534400" cy="563562"/>
          </a:xfrm>
        </p:spPr>
        <p:txBody>
          <a:bodyPr/>
          <a:lstStyle/>
          <a:p>
            <a:r>
              <a:rPr lang="en-US" altLang="zh-CN" sz="3000" dirty="0">
                <a:solidFill>
                  <a:schemeClr val="tx2"/>
                </a:solidFill>
                <a:latin typeface="Times New Roman" pitchFamily="18" charset="0"/>
              </a:rPr>
              <a:t>7.6</a:t>
            </a:r>
            <a:r>
              <a:rPr lang="zh-CN" altLang="en-US" sz="3000" dirty="0">
                <a:solidFill>
                  <a:schemeClr val="tx2"/>
                </a:solidFill>
                <a:latin typeface="Times New Roman" pitchFamily="18" charset="0"/>
              </a:rPr>
              <a:t>受压构件的构造要求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7.6.2 </a:t>
            </a:r>
            <a:r>
              <a:rPr lang="zh-CN" altLang="en-US" dirty="0">
                <a:solidFill>
                  <a:srgbClr val="A50021"/>
                </a:solidFill>
                <a:ea typeface="华文中宋" pitchFamily="2" charset="-122"/>
                <a:cs typeface="Times New Roman" pitchFamily="18" charset="0"/>
              </a:rPr>
              <a:t>混凝土强度等级</a:t>
            </a:r>
            <a:endParaRPr lang="en-US" altLang="zh-CN" dirty="0">
              <a:solidFill>
                <a:srgbClr val="990099"/>
              </a:solidFill>
              <a:cs typeface="Times New Roman" pitchFamily="18" charset="0"/>
            </a:endParaRPr>
          </a:p>
        </p:txBody>
      </p:sp>
      <p:sp>
        <p:nvSpPr>
          <p:cNvPr id="2" name="矩形 1"/>
          <p:cNvSpPr/>
          <p:nvPr/>
        </p:nvSpPr>
        <p:spPr>
          <a:xfrm>
            <a:off x="609600" y="1676400"/>
            <a:ext cx="8229600" cy="1631216"/>
          </a:xfrm>
          <a:prstGeom prst="rect">
            <a:avLst/>
          </a:prstGeom>
        </p:spPr>
        <p:txBody>
          <a:bodyPr wrap="square">
            <a:spAutoFit/>
          </a:bodyPr>
          <a:lstStyle/>
          <a:p>
            <a:pPr marL="342900" indent="-342900" algn="just">
              <a:lnSpc>
                <a:spcPct val="125000"/>
              </a:lnSpc>
              <a:spcBef>
                <a:spcPts val="0"/>
              </a:spcBef>
              <a:buFont typeface="Wingdings" pitchFamily="2" charset="2"/>
              <a:buChar char="l"/>
            </a:pPr>
            <a:r>
              <a:rPr lang="zh-CN" altLang="en-US" sz="2000" dirty="0"/>
              <a:t>混凝土强度等级对受压构件的正截面受压承载力影响较大，因此，采用强度等级较高的混凝土可减小构件截面尺寸，降低自重，节约钢材，是经济合理的。一般采用强度等级为</a:t>
            </a:r>
            <a:r>
              <a:rPr lang="en-US" altLang="zh-CN" sz="2000" dirty="0"/>
              <a:t>C25</a:t>
            </a:r>
            <a:r>
              <a:rPr lang="zh-CN" altLang="en-US" sz="2000" dirty="0"/>
              <a:t>～</a:t>
            </a:r>
            <a:r>
              <a:rPr lang="en-US" altLang="zh-CN" sz="2000" dirty="0"/>
              <a:t>C50</a:t>
            </a:r>
            <a:r>
              <a:rPr lang="zh-CN" altLang="en-US" sz="2000" dirty="0"/>
              <a:t>，有需要时，也可采用强度等级更高的高强混凝土。</a:t>
            </a:r>
          </a:p>
        </p:txBody>
      </p:sp>
      <p:sp>
        <p:nvSpPr>
          <p:cNvPr id="5" name="矩形 4"/>
          <p:cNvSpPr/>
          <p:nvPr/>
        </p:nvSpPr>
        <p:spPr>
          <a:xfrm>
            <a:off x="609600" y="3429000"/>
            <a:ext cx="8229600" cy="2015936"/>
          </a:xfrm>
          <a:prstGeom prst="rect">
            <a:avLst/>
          </a:prstGeom>
        </p:spPr>
        <p:txBody>
          <a:bodyPr wrap="square">
            <a:spAutoFit/>
          </a:bodyPr>
          <a:lstStyle/>
          <a:p>
            <a:pPr marL="342900" indent="-342900" algn="just">
              <a:lnSpc>
                <a:spcPct val="125000"/>
              </a:lnSpc>
              <a:spcBef>
                <a:spcPts val="0"/>
              </a:spcBef>
              <a:buFont typeface="Wingdings" pitchFamily="2" charset="2"/>
              <a:buChar char="l"/>
            </a:pPr>
            <a:r>
              <a:rPr lang="zh-CN" altLang="en-US" sz="2000" dirty="0"/>
              <a:t>基于高强度混凝土的脆性性质，对地震高烈度区高强混凝土的应用应有所限制。设防烈度为</a:t>
            </a:r>
            <a:r>
              <a:rPr lang="en-US" altLang="zh-CN" sz="2000" dirty="0"/>
              <a:t>9</a:t>
            </a:r>
            <a:r>
              <a:rPr lang="zh-CN" altLang="en-US" sz="2000" dirty="0"/>
              <a:t>度时，混凝土强度等级不宜超过</a:t>
            </a:r>
            <a:r>
              <a:rPr lang="en-US" altLang="zh-CN" sz="2000" dirty="0"/>
              <a:t>C60</a:t>
            </a:r>
            <a:r>
              <a:rPr lang="zh-CN" altLang="en-US" sz="2000" dirty="0"/>
              <a:t>；设防烈度为</a:t>
            </a:r>
            <a:r>
              <a:rPr lang="en-US" altLang="zh-CN" sz="2000" dirty="0"/>
              <a:t>8</a:t>
            </a:r>
            <a:r>
              <a:rPr lang="zh-CN" altLang="en-US" sz="2000" dirty="0"/>
              <a:t>度时，不宜超过</a:t>
            </a:r>
            <a:r>
              <a:rPr lang="en-US" altLang="zh-CN" sz="2000" dirty="0"/>
              <a:t>C70</a:t>
            </a:r>
            <a:r>
              <a:rPr lang="zh-CN" altLang="en-US" sz="2000" dirty="0"/>
              <a:t>；框支梁、框支柱以及一级抗震等级的框架梁、柱、节点混凝土强度等级不应低于</a:t>
            </a:r>
            <a:r>
              <a:rPr lang="en-US" altLang="zh-CN" sz="2000" dirty="0"/>
              <a:t>C30</a:t>
            </a:r>
            <a:r>
              <a:rPr lang="zh-CN" altLang="en-US" sz="2000" dirty="0"/>
              <a:t>；其他各类结构构件，不应低于</a:t>
            </a:r>
            <a:r>
              <a:rPr lang="en-US" altLang="zh-CN" sz="2000" dirty="0"/>
              <a:t>C20</a:t>
            </a:r>
            <a:r>
              <a:rPr lang="zh-CN" altLang="en-US" sz="2000" dirty="0"/>
              <a:t>。</a:t>
            </a:r>
          </a:p>
        </p:txBody>
      </p:sp>
    </p:spTree>
    <p:extLst>
      <p:ext uri="{BB962C8B-B14F-4D97-AF65-F5344CB8AC3E}">
        <p14:creationId xmlns:p14="http://schemas.microsoft.com/office/powerpoint/2010/main" val="3594077995"/>
      </p:ext>
    </p:extLst>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534400" cy="563562"/>
          </a:xfrm>
        </p:spPr>
        <p:txBody>
          <a:bodyPr/>
          <a:lstStyle/>
          <a:p>
            <a:r>
              <a:rPr lang="en-US" altLang="zh-CN" sz="3000" dirty="0">
                <a:solidFill>
                  <a:schemeClr val="tx2"/>
                </a:solidFill>
                <a:latin typeface="Times New Roman" pitchFamily="18" charset="0"/>
              </a:rPr>
              <a:t>7.6</a:t>
            </a:r>
            <a:r>
              <a:rPr lang="zh-CN" altLang="en-US" sz="3000" dirty="0">
                <a:solidFill>
                  <a:schemeClr val="tx2"/>
                </a:solidFill>
                <a:latin typeface="Times New Roman" pitchFamily="18" charset="0"/>
              </a:rPr>
              <a:t>受压构件的构造要求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7.6.3 </a:t>
            </a:r>
            <a:r>
              <a:rPr lang="zh-CN" altLang="en-US" dirty="0">
                <a:solidFill>
                  <a:srgbClr val="A50021"/>
                </a:solidFill>
                <a:ea typeface="华文中宋" pitchFamily="2" charset="-122"/>
                <a:cs typeface="Times New Roman" pitchFamily="18" charset="0"/>
              </a:rPr>
              <a:t>纵向受力钢筋</a:t>
            </a:r>
            <a:endParaRPr lang="en-US" altLang="zh-CN" dirty="0">
              <a:solidFill>
                <a:srgbClr val="990099"/>
              </a:solidFill>
              <a:cs typeface="Times New Roman" pitchFamily="18" charset="0"/>
            </a:endParaRPr>
          </a:p>
        </p:txBody>
      </p:sp>
      <p:sp>
        <p:nvSpPr>
          <p:cNvPr id="2" name="矩形 1"/>
          <p:cNvSpPr/>
          <p:nvPr/>
        </p:nvSpPr>
        <p:spPr>
          <a:xfrm>
            <a:off x="457200" y="2209800"/>
            <a:ext cx="8077200" cy="3323987"/>
          </a:xfrm>
          <a:prstGeom prst="rect">
            <a:avLst/>
          </a:prstGeom>
        </p:spPr>
        <p:txBody>
          <a:bodyPr wrap="square">
            <a:spAutoFit/>
          </a:bodyPr>
          <a:lstStyle/>
          <a:p>
            <a:pPr marL="342900" indent="-342900" algn="just">
              <a:lnSpc>
                <a:spcPct val="150000"/>
              </a:lnSpc>
              <a:spcBef>
                <a:spcPts val="0"/>
              </a:spcBef>
              <a:buFont typeface="Wingdings" pitchFamily="2" charset="2"/>
              <a:buChar char="l"/>
            </a:pPr>
            <a:r>
              <a:rPr lang="zh-CN" altLang="en-US" sz="2000" dirty="0"/>
              <a:t>纵向受力普通钢筋宜选用</a:t>
            </a:r>
            <a:r>
              <a:rPr lang="en-US" altLang="zh-CN" sz="2000" dirty="0"/>
              <a:t>HRB400</a:t>
            </a:r>
            <a:r>
              <a:rPr lang="zh-CN" altLang="en-US" sz="2000" dirty="0"/>
              <a:t>、</a:t>
            </a:r>
            <a:r>
              <a:rPr lang="en-US" altLang="zh-CN" sz="2000" dirty="0"/>
              <a:t>HRB500</a:t>
            </a:r>
            <a:r>
              <a:rPr lang="zh-CN" altLang="en-US" sz="2000" dirty="0"/>
              <a:t>、</a:t>
            </a:r>
            <a:r>
              <a:rPr lang="en-US" altLang="zh-CN" sz="2000" dirty="0"/>
              <a:t>HRBF400</a:t>
            </a:r>
            <a:r>
              <a:rPr lang="zh-CN" altLang="en-US" sz="2000" dirty="0"/>
              <a:t>、</a:t>
            </a:r>
            <a:r>
              <a:rPr lang="en-US" altLang="zh-CN" sz="2000" dirty="0"/>
              <a:t>HRBF500</a:t>
            </a:r>
            <a:r>
              <a:rPr lang="zh-CN" altLang="en-US" sz="2000" dirty="0"/>
              <a:t>钢筋，也可采用</a:t>
            </a:r>
            <a:r>
              <a:rPr lang="en-US" altLang="zh-CN" sz="2000" dirty="0"/>
              <a:t>HRB335</a:t>
            </a:r>
            <a:r>
              <a:rPr lang="zh-CN" altLang="en-US" sz="2000" dirty="0"/>
              <a:t>、</a:t>
            </a:r>
            <a:r>
              <a:rPr lang="en-US" altLang="zh-CN" sz="2000" dirty="0"/>
              <a:t>HRBF335</a:t>
            </a:r>
            <a:r>
              <a:rPr lang="zh-CN" altLang="en-US" sz="2000" dirty="0"/>
              <a:t>、</a:t>
            </a:r>
            <a:r>
              <a:rPr lang="en-US" altLang="zh-CN" sz="2000" dirty="0"/>
              <a:t>HPB300</a:t>
            </a:r>
            <a:r>
              <a:rPr lang="zh-CN" altLang="en-US" sz="2000" dirty="0"/>
              <a:t>、</a:t>
            </a:r>
            <a:r>
              <a:rPr lang="en-US" altLang="zh-CN" sz="2000" dirty="0"/>
              <a:t>RRB400</a:t>
            </a:r>
            <a:r>
              <a:rPr lang="zh-CN" altLang="en-US" sz="2000" dirty="0"/>
              <a:t>钢筋。抗压强度设计值取与抗拉强度相同，但不应大于</a:t>
            </a:r>
            <a:r>
              <a:rPr lang="en-US" altLang="zh-CN" sz="2000" dirty="0"/>
              <a:t>410N/mm</a:t>
            </a:r>
            <a:r>
              <a:rPr lang="en-US" altLang="zh-CN" sz="2000" baseline="30000" dirty="0"/>
              <a:t>2</a:t>
            </a:r>
            <a:r>
              <a:rPr lang="zh-CN" altLang="en-US" sz="2000" dirty="0"/>
              <a:t>。</a:t>
            </a:r>
            <a:endParaRPr lang="en-US" altLang="zh-CN" sz="2000" dirty="0"/>
          </a:p>
          <a:p>
            <a:pPr marL="342900" indent="-342900" algn="just">
              <a:lnSpc>
                <a:spcPct val="150000"/>
              </a:lnSpc>
              <a:spcBef>
                <a:spcPts val="0"/>
              </a:spcBef>
              <a:buFont typeface="Wingdings" pitchFamily="2" charset="2"/>
              <a:buChar char="l"/>
            </a:pPr>
            <a:endParaRPr lang="en-US" altLang="zh-CN" sz="2000" dirty="0"/>
          </a:p>
          <a:p>
            <a:pPr marL="342900" indent="-342900" algn="just">
              <a:lnSpc>
                <a:spcPct val="150000"/>
              </a:lnSpc>
              <a:spcBef>
                <a:spcPts val="0"/>
              </a:spcBef>
              <a:buFont typeface="Wingdings" pitchFamily="2" charset="2"/>
              <a:buChar char="l"/>
            </a:pPr>
            <a:r>
              <a:rPr lang="zh-CN" altLang="en-US" sz="2000" dirty="0"/>
              <a:t>受压构件中，纵向受力钢筋的直径不宜小于</a:t>
            </a:r>
            <a:r>
              <a:rPr lang="en-US" altLang="zh-CN" sz="2000" dirty="0"/>
              <a:t>12mm</a:t>
            </a:r>
            <a:r>
              <a:rPr lang="zh-CN" altLang="en-US" sz="2000" dirty="0"/>
              <a:t>、通常在</a:t>
            </a:r>
            <a:r>
              <a:rPr lang="en-US" altLang="zh-CN" sz="2000" dirty="0"/>
              <a:t>12~32mm</a:t>
            </a:r>
            <a:r>
              <a:rPr lang="zh-CN" altLang="en-US" sz="2000" dirty="0"/>
              <a:t>范围内选用。且宜选用根数较少、直径较粗的钢筋，以便形成刚性较好的骨架。</a:t>
            </a:r>
          </a:p>
        </p:txBody>
      </p:sp>
      <p:sp>
        <p:nvSpPr>
          <p:cNvPr id="5" name="Rectangle 3"/>
          <p:cNvSpPr>
            <a:spLocks noChangeArrowheads="1"/>
          </p:cNvSpPr>
          <p:nvPr/>
        </p:nvSpPr>
        <p:spPr bwMode="auto">
          <a:xfrm>
            <a:off x="304800" y="1595735"/>
            <a:ext cx="4953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zh-CN" altLang="en-US" sz="2000" dirty="0">
                <a:solidFill>
                  <a:srgbClr val="A50021"/>
                </a:solidFill>
                <a:ea typeface="华文中宋" pitchFamily="2" charset="-122"/>
                <a:cs typeface="Times New Roman" pitchFamily="18" charset="0"/>
              </a:rPr>
              <a:t>一、纵向受力钢筋的级别和直径</a:t>
            </a:r>
            <a:endParaRPr lang="en-US" altLang="zh-CN" sz="2000" dirty="0">
              <a:solidFill>
                <a:srgbClr val="990099"/>
              </a:solidFill>
              <a:cs typeface="Times New Roman" pitchFamily="18" charset="0"/>
            </a:endParaRPr>
          </a:p>
        </p:txBody>
      </p:sp>
    </p:spTree>
    <p:extLst>
      <p:ext uri="{BB962C8B-B14F-4D97-AF65-F5344CB8AC3E}">
        <p14:creationId xmlns:p14="http://schemas.microsoft.com/office/powerpoint/2010/main" val="1521973882"/>
      </p:ext>
    </p:extLst>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534400" cy="563562"/>
          </a:xfrm>
        </p:spPr>
        <p:txBody>
          <a:bodyPr/>
          <a:lstStyle/>
          <a:p>
            <a:r>
              <a:rPr lang="en-US" altLang="zh-CN" sz="3000" dirty="0">
                <a:solidFill>
                  <a:schemeClr val="tx2"/>
                </a:solidFill>
                <a:latin typeface="Times New Roman" pitchFamily="18" charset="0"/>
              </a:rPr>
              <a:t>7.6</a:t>
            </a:r>
            <a:r>
              <a:rPr lang="zh-CN" altLang="en-US" sz="3000" dirty="0">
                <a:solidFill>
                  <a:schemeClr val="tx2"/>
                </a:solidFill>
                <a:latin typeface="Times New Roman" pitchFamily="18" charset="0"/>
              </a:rPr>
              <a:t>受压构件的构造要求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7.6.3 </a:t>
            </a:r>
            <a:r>
              <a:rPr lang="zh-CN" altLang="en-US" dirty="0">
                <a:solidFill>
                  <a:srgbClr val="A50021"/>
                </a:solidFill>
                <a:ea typeface="华文中宋" pitchFamily="2" charset="-122"/>
                <a:cs typeface="Times New Roman" pitchFamily="18" charset="0"/>
              </a:rPr>
              <a:t>纵向受力钢筋</a:t>
            </a:r>
            <a:endParaRPr lang="en-US" altLang="zh-CN" dirty="0">
              <a:solidFill>
                <a:srgbClr val="990099"/>
              </a:solidFill>
              <a:cs typeface="Times New Roman" pitchFamily="18" charset="0"/>
            </a:endParaRPr>
          </a:p>
        </p:txBody>
      </p:sp>
      <p:sp>
        <p:nvSpPr>
          <p:cNvPr id="2" name="矩形 1"/>
          <p:cNvSpPr/>
          <p:nvPr/>
        </p:nvSpPr>
        <p:spPr>
          <a:xfrm>
            <a:off x="457200" y="1981200"/>
            <a:ext cx="8382000" cy="1534331"/>
          </a:xfrm>
          <a:prstGeom prst="rect">
            <a:avLst/>
          </a:prstGeom>
        </p:spPr>
        <p:txBody>
          <a:bodyPr wrap="square">
            <a:spAutoFit/>
          </a:bodyPr>
          <a:lstStyle/>
          <a:p>
            <a:pPr marL="342900" indent="-342900" algn="just">
              <a:lnSpc>
                <a:spcPct val="120000"/>
              </a:lnSpc>
              <a:spcBef>
                <a:spcPts val="0"/>
              </a:spcBef>
              <a:buFont typeface="Wingdings" pitchFamily="2" charset="2"/>
              <a:buChar char="l"/>
            </a:pPr>
            <a:r>
              <a:rPr lang="zh-CN" altLang="en-US" sz="2000" dirty="0"/>
              <a:t>受压构件中纵向受力钢筋的根数不得少于四根。轴心受压构件中的纵向受力钢筋应沿构件截面四周均匀布置，偏心受压构件则应配置在垂直弯矩作用平面的两个侧边。钢筋的中距均不应大于</a:t>
            </a:r>
            <a:r>
              <a:rPr lang="en-US" altLang="zh-CN" sz="2000" dirty="0"/>
              <a:t>300mm</a:t>
            </a:r>
            <a:r>
              <a:rPr lang="zh-CN" altLang="en-US" sz="2000" dirty="0"/>
              <a:t>。较粗的钢筋应放在截面角部。</a:t>
            </a:r>
          </a:p>
        </p:txBody>
      </p:sp>
      <p:sp>
        <p:nvSpPr>
          <p:cNvPr id="5" name="Rectangle 3"/>
          <p:cNvSpPr>
            <a:spLocks noChangeArrowheads="1"/>
          </p:cNvSpPr>
          <p:nvPr/>
        </p:nvSpPr>
        <p:spPr bwMode="auto">
          <a:xfrm>
            <a:off x="304800" y="1595735"/>
            <a:ext cx="4953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zh-CN" altLang="en-US" sz="2000" dirty="0">
                <a:solidFill>
                  <a:srgbClr val="A50021"/>
                </a:solidFill>
                <a:ea typeface="华文中宋" pitchFamily="2" charset="-122"/>
                <a:cs typeface="Times New Roman" pitchFamily="18" charset="0"/>
              </a:rPr>
              <a:t>二、纵向钢筋的布置</a:t>
            </a:r>
            <a:endParaRPr lang="en-US" altLang="zh-CN" sz="2000" dirty="0">
              <a:solidFill>
                <a:srgbClr val="990099"/>
              </a:solidFill>
              <a:cs typeface="Times New Roman" pitchFamily="18" charset="0"/>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4724400"/>
            <a:ext cx="3657600" cy="200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457200" y="3525318"/>
            <a:ext cx="8382000" cy="426335"/>
          </a:xfrm>
          <a:prstGeom prst="rect">
            <a:avLst/>
          </a:prstGeom>
        </p:spPr>
        <p:txBody>
          <a:bodyPr wrap="square">
            <a:spAutoFit/>
          </a:bodyPr>
          <a:lstStyle/>
          <a:p>
            <a:pPr marL="342900" indent="-342900" algn="just">
              <a:lnSpc>
                <a:spcPct val="120000"/>
              </a:lnSpc>
              <a:spcBef>
                <a:spcPts val="0"/>
              </a:spcBef>
              <a:buFont typeface="Wingdings" pitchFamily="2" charset="2"/>
              <a:buChar char="l"/>
            </a:pPr>
            <a:r>
              <a:rPr lang="zh-CN" altLang="en-US" sz="2000" dirty="0"/>
              <a:t>钢筋保护层厚度与受弯构件的要求相同，详见附表</a:t>
            </a:r>
            <a:r>
              <a:rPr lang="en-US" altLang="zh-CN" sz="2000" dirty="0"/>
              <a:t>19</a:t>
            </a:r>
            <a:r>
              <a:rPr lang="zh-CN" altLang="en-US" sz="2000" dirty="0"/>
              <a:t>。</a:t>
            </a:r>
          </a:p>
        </p:txBody>
      </p:sp>
      <p:sp>
        <p:nvSpPr>
          <p:cNvPr id="8" name="矩形 7"/>
          <p:cNvSpPr/>
          <p:nvPr/>
        </p:nvSpPr>
        <p:spPr>
          <a:xfrm>
            <a:off x="457200" y="4876800"/>
            <a:ext cx="4572000" cy="1569660"/>
          </a:xfrm>
          <a:prstGeom prst="rect">
            <a:avLst/>
          </a:prstGeom>
        </p:spPr>
        <p:txBody>
          <a:bodyPr wrap="square">
            <a:spAutoFit/>
          </a:bodyPr>
          <a:lstStyle/>
          <a:p>
            <a:pPr marL="342900" indent="-342900" algn="just">
              <a:lnSpc>
                <a:spcPct val="120000"/>
              </a:lnSpc>
              <a:spcBef>
                <a:spcPts val="0"/>
              </a:spcBef>
              <a:buFont typeface="Wingdings" pitchFamily="2" charset="2"/>
              <a:buChar char="l"/>
            </a:pPr>
            <a:r>
              <a:rPr lang="zh-CN" altLang="en-US" sz="2000" dirty="0"/>
              <a:t>当偏心受压柱截面高度</a:t>
            </a:r>
            <a:r>
              <a:rPr lang="en-US" altLang="zh-CN" sz="2000" dirty="0"/>
              <a:t>h</a:t>
            </a:r>
            <a:r>
              <a:rPr lang="zh-CN" altLang="en-US" sz="2000" dirty="0"/>
              <a:t>＞</a:t>
            </a:r>
            <a:r>
              <a:rPr lang="en-US" altLang="zh-CN" sz="2000" dirty="0"/>
              <a:t>600mm</a:t>
            </a:r>
            <a:r>
              <a:rPr lang="zh-CN" altLang="en-US" sz="2000" dirty="0"/>
              <a:t>时，在两侧面应设置直径为</a:t>
            </a:r>
            <a:r>
              <a:rPr lang="en-US" altLang="zh-CN" sz="2000" dirty="0"/>
              <a:t>10</a:t>
            </a:r>
            <a:r>
              <a:rPr lang="zh-CN" altLang="en-US" sz="2000" dirty="0"/>
              <a:t>～</a:t>
            </a:r>
            <a:r>
              <a:rPr lang="en-US" altLang="zh-CN" sz="2000" dirty="0"/>
              <a:t>16mm</a:t>
            </a:r>
            <a:r>
              <a:rPr lang="zh-CN" altLang="en-US" sz="2000" dirty="0"/>
              <a:t>的纵向构造钢筋，间距不大于</a:t>
            </a:r>
            <a:r>
              <a:rPr lang="en-US" altLang="zh-CN" sz="2000" dirty="0"/>
              <a:t>300mm</a:t>
            </a:r>
            <a:r>
              <a:rPr lang="zh-CN" altLang="en-US" sz="2000" dirty="0"/>
              <a:t>，并应设置附加箍筋或拉筋。</a:t>
            </a:r>
          </a:p>
        </p:txBody>
      </p:sp>
      <p:sp>
        <p:nvSpPr>
          <p:cNvPr id="9" name="矩形 8"/>
          <p:cNvSpPr/>
          <p:nvPr/>
        </p:nvSpPr>
        <p:spPr>
          <a:xfrm>
            <a:off x="457200" y="4038600"/>
            <a:ext cx="8382000" cy="795667"/>
          </a:xfrm>
          <a:prstGeom prst="rect">
            <a:avLst/>
          </a:prstGeom>
        </p:spPr>
        <p:txBody>
          <a:bodyPr wrap="square">
            <a:spAutoFit/>
          </a:bodyPr>
          <a:lstStyle/>
          <a:p>
            <a:pPr marL="342900" indent="-342900" algn="just">
              <a:lnSpc>
                <a:spcPct val="120000"/>
              </a:lnSpc>
              <a:spcBef>
                <a:spcPts val="0"/>
              </a:spcBef>
              <a:buFont typeface="Wingdings" pitchFamily="2" charset="2"/>
              <a:buChar char="l"/>
            </a:pPr>
            <a:r>
              <a:rPr lang="zh-CN" altLang="en-US" sz="2000" dirty="0"/>
              <a:t>当构件为垂直位置浇灌混凝土时，纵向钢筋净间距不应小于</a:t>
            </a:r>
            <a:r>
              <a:rPr lang="en-US" altLang="zh-CN" sz="2000" dirty="0"/>
              <a:t>50mm</a:t>
            </a:r>
            <a:r>
              <a:rPr lang="zh-CN" altLang="en-US" sz="2000" dirty="0"/>
              <a:t>，对水平位置浇灌混凝土的预制柱与受弯构件的要求相同。</a:t>
            </a:r>
          </a:p>
        </p:txBody>
      </p:sp>
    </p:spTree>
    <p:extLst>
      <p:ext uri="{BB962C8B-B14F-4D97-AF65-F5344CB8AC3E}">
        <p14:creationId xmlns:p14="http://schemas.microsoft.com/office/powerpoint/2010/main" val="2231382207"/>
      </p:ext>
    </p:extLst>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534400" cy="563562"/>
          </a:xfrm>
        </p:spPr>
        <p:txBody>
          <a:bodyPr/>
          <a:lstStyle/>
          <a:p>
            <a:r>
              <a:rPr lang="en-US" altLang="zh-CN" sz="3000" dirty="0">
                <a:solidFill>
                  <a:schemeClr val="tx2"/>
                </a:solidFill>
                <a:latin typeface="Times New Roman" pitchFamily="18" charset="0"/>
              </a:rPr>
              <a:t>7.6</a:t>
            </a:r>
            <a:r>
              <a:rPr lang="zh-CN" altLang="en-US" sz="3000" dirty="0">
                <a:solidFill>
                  <a:schemeClr val="tx2"/>
                </a:solidFill>
                <a:latin typeface="Times New Roman" pitchFamily="18" charset="0"/>
              </a:rPr>
              <a:t>受压构件的构造要求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7.6.3 </a:t>
            </a:r>
            <a:r>
              <a:rPr lang="zh-CN" altLang="en-US" dirty="0">
                <a:solidFill>
                  <a:srgbClr val="A50021"/>
                </a:solidFill>
                <a:ea typeface="华文中宋" pitchFamily="2" charset="-122"/>
                <a:cs typeface="Times New Roman" pitchFamily="18" charset="0"/>
              </a:rPr>
              <a:t>纵向受力钢筋</a:t>
            </a:r>
            <a:endParaRPr lang="en-US" altLang="zh-CN" dirty="0">
              <a:solidFill>
                <a:srgbClr val="990099"/>
              </a:solidFill>
              <a:cs typeface="Times New Roman" pitchFamily="18" charset="0"/>
            </a:endParaRPr>
          </a:p>
        </p:txBody>
      </p:sp>
      <p:sp>
        <p:nvSpPr>
          <p:cNvPr id="2" name="矩形 1"/>
          <p:cNvSpPr/>
          <p:nvPr/>
        </p:nvSpPr>
        <p:spPr>
          <a:xfrm>
            <a:off x="457200" y="2035076"/>
            <a:ext cx="8382000" cy="3785652"/>
          </a:xfrm>
          <a:prstGeom prst="rect">
            <a:avLst/>
          </a:prstGeom>
        </p:spPr>
        <p:txBody>
          <a:bodyPr wrap="square">
            <a:spAutoFit/>
          </a:bodyPr>
          <a:lstStyle/>
          <a:p>
            <a:pPr marL="342900" indent="-342900" algn="just">
              <a:lnSpc>
                <a:spcPct val="120000"/>
              </a:lnSpc>
              <a:spcBef>
                <a:spcPts val="0"/>
              </a:spcBef>
              <a:buFont typeface="Wingdings" pitchFamily="2" charset="2"/>
              <a:buChar char="l"/>
            </a:pPr>
            <a:r>
              <a:rPr lang="zh-CN" altLang="en-US" sz="2000" dirty="0"/>
              <a:t>受力钢筋的接头宜设置在受力较小处，在同一根钢筋上宜少设接头，柱中相邻纵向受力钢筋的搭接接头宜相互错开；</a:t>
            </a:r>
            <a:endParaRPr lang="en-US" altLang="zh-CN" sz="2000" dirty="0"/>
          </a:p>
          <a:p>
            <a:pPr marL="342900" indent="-342900" algn="just">
              <a:lnSpc>
                <a:spcPct val="120000"/>
              </a:lnSpc>
              <a:spcBef>
                <a:spcPts val="0"/>
              </a:spcBef>
              <a:buFont typeface="Wingdings" pitchFamily="2" charset="2"/>
              <a:buChar char="l"/>
            </a:pPr>
            <a:r>
              <a:rPr lang="zh-CN" altLang="en-US" sz="2000" dirty="0"/>
              <a:t>当受拉钢筋的直径</a:t>
            </a:r>
            <a:r>
              <a:rPr lang="en-US" altLang="zh-CN" sz="2000" i="1" dirty="0"/>
              <a:t>d</a:t>
            </a:r>
            <a:r>
              <a:rPr lang="en-US" altLang="zh-CN" sz="2000" dirty="0"/>
              <a:t>&gt;28mm</a:t>
            </a:r>
            <a:r>
              <a:rPr lang="zh-CN" altLang="en-US" sz="2000" dirty="0"/>
              <a:t>及受压钢筋的直径</a:t>
            </a:r>
            <a:r>
              <a:rPr lang="en-US" altLang="zh-CN" sz="2000" i="1" dirty="0"/>
              <a:t>d</a:t>
            </a:r>
            <a:r>
              <a:rPr lang="en-US" altLang="zh-CN" sz="2000" dirty="0"/>
              <a:t>&gt;32mm</a:t>
            </a:r>
            <a:r>
              <a:rPr lang="zh-CN" altLang="en-US" sz="2000" dirty="0"/>
              <a:t>时，不宜采用绑扎搭接接头；</a:t>
            </a:r>
            <a:endParaRPr lang="en-US" altLang="zh-CN" sz="2000" dirty="0"/>
          </a:p>
          <a:p>
            <a:pPr marL="342900" indent="-342900" algn="just">
              <a:lnSpc>
                <a:spcPct val="120000"/>
              </a:lnSpc>
              <a:spcBef>
                <a:spcPts val="0"/>
              </a:spcBef>
              <a:buFont typeface="Wingdings" pitchFamily="2" charset="2"/>
              <a:buChar char="l"/>
            </a:pPr>
            <a:r>
              <a:rPr lang="zh-CN" altLang="en-US" sz="2000" dirty="0"/>
              <a:t>位于同一连接区段内的受拉钢筋搭接接头面积百分率，对柱类构件，不宜大于</a:t>
            </a:r>
            <a:r>
              <a:rPr lang="en-US" altLang="zh-CN" sz="2000" dirty="0"/>
              <a:t>50%</a:t>
            </a:r>
            <a:r>
              <a:rPr lang="zh-CN" altLang="en-US" sz="2000" dirty="0"/>
              <a:t>。当工程中确有必要增大受拉钢筋搭接接头面积百分率时，对柱类构件可根据实际情况放宽；</a:t>
            </a:r>
            <a:endParaRPr lang="en-US" altLang="zh-CN" sz="2000" dirty="0"/>
          </a:p>
          <a:p>
            <a:pPr marL="342900" indent="-342900" algn="just">
              <a:lnSpc>
                <a:spcPct val="120000"/>
              </a:lnSpc>
              <a:spcBef>
                <a:spcPts val="0"/>
              </a:spcBef>
              <a:buFont typeface="Wingdings" pitchFamily="2" charset="2"/>
              <a:buChar char="l"/>
            </a:pPr>
            <a:r>
              <a:rPr lang="zh-CN" altLang="en-US" sz="2000" dirty="0"/>
              <a:t>纵向受拉钢筋绑扎搭接接头的搭接长度，当纵向钢筋搭接接头面积百分率</a:t>
            </a:r>
            <a:r>
              <a:rPr lang="en-US" altLang="zh-CN" sz="2000" dirty="0"/>
              <a:t>&lt;25%</a:t>
            </a:r>
            <a:r>
              <a:rPr lang="zh-CN" altLang="en-US" sz="2000" dirty="0"/>
              <a:t>和</a:t>
            </a:r>
            <a:r>
              <a:rPr lang="en-US" altLang="zh-CN" sz="2000" dirty="0"/>
              <a:t>50%</a:t>
            </a:r>
            <a:r>
              <a:rPr lang="zh-CN" altLang="en-US" sz="2000" dirty="0"/>
              <a:t>时，分别为</a:t>
            </a:r>
            <a:r>
              <a:rPr lang="en-US" altLang="zh-CN" sz="2000" dirty="0"/>
              <a:t>1.2</a:t>
            </a:r>
            <a:r>
              <a:rPr lang="en-US" altLang="zh-CN" sz="2000" i="1" dirty="0"/>
              <a:t>l</a:t>
            </a:r>
            <a:r>
              <a:rPr lang="en-US" altLang="zh-CN" sz="2000" i="1" baseline="-25000" dirty="0"/>
              <a:t>a</a:t>
            </a:r>
            <a:r>
              <a:rPr lang="zh-CN" altLang="en-US" sz="2000" dirty="0"/>
              <a:t>和</a:t>
            </a:r>
            <a:r>
              <a:rPr lang="en-US" altLang="zh-CN" sz="2000" dirty="0"/>
              <a:t>1.4</a:t>
            </a:r>
            <a:r>
              <a:rPr lang="en-US" altLang="zh-CN" sz="2000" i="1" dirty="0"/>
              <a:t>l</a:t>
            </a:r>
            <a:r>
              <a:rPr lang="en-US" altLang="zh-CN" sz="2000" i="1" baseline="-25000" dirty="0"/>
              <a:t>a</a:t>
            </a:r>
            <a:r>
              <a:rPr lang="zh-CN" altLang="en-US" sz="2000" dirty="0"/>
              <a:t>且应</a:t>
            </a:r>
            <a:r>
              <a:rPr lang="en-US" altLang="zh-CN" sz="2000" dirty="0"/>
              <a:t>&gt;300mm</a:t>
            </a:r>
            <a:r>
              <a:rPr lang="zh-CN" altLang="en-US" sz="2000" dirty="0"/>
              <a:t>，</a:t>
            </a:r>
            <a:r>
              <a:rPr lang="en-US" altLang="zh-CN" sz="2000" i="1" dirty="0"/>
              <a:t>l</a:t>
            </a:r>
            <a:r>
              <a:rPr lang="en-US" altLang="zh-CN" sz="2000" i="1" baseline="-25000" dirty="0"/>
              <a:t>a</a:t>
            </a:r>
            <a:r>
              <a:rPr lang="zh-CN" altLang="en-US" sz="2000" dirty="0"/>
              <a:t>为纵向受拉钢筋的锚固长度，按第</a:t>
            </a:r>
            <a:r>
              <a:rPr lang="en-US" altLang="zh-CN" sz="2000" dirty="0"/>
              <a:t>2.5.1</a:t>
            </a:r>
            <a:r>
              <a:rPr lang="zh-CN" altLang="en-US" sz="2000" dirty="0"/>
              <a:t>节公式</a:t>
            </a:r>
            <a:r>
              <a:rPr lang="en-US" altLang="zh-CN" sz="2000" dirty="0"/>
              <a:t>(2.33)</a:t>
            </a:r>
            <a:r>
              <a:rPr lang="zh-CN" altLang="en-US" sz="2000" dirty="0"/>
              <a:t>确定。</a:t>
            </a:r>
          </a:p>
        </p:txBody>
      </p:sp>
      <p:sp>
        <p:nvSpPr>
          <p:cNvPr id="5" name="Rectangle 3"/>
          <p:cNvSpPr>
            <a:spLocks noChangeArrowheads="1"/>
          </p:cNvSpPr>
          <p:nvPr/>
        </p:nvSpPr>
        <p:spPr bwMode="auto">
          <a:xfrm>
            <a:off x="304800" y="1595735"/>
            <a:ext cx="4953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zh-CN" altLang="en-US" sz="2000" dirty="0">
                <a:solidFill>
                  <a:srgbClr val="A50021"/>
                </a:solidFill>
                <a:ea typeface="华文中宋" pitchFamily="2" charset="-122"/>
                <a:cs typeface="Times New Roman" pitchFamily="18" charset="0"/>
              </a:rPr>
              <a:t>三、纵向受力钢筋的搭接</a:t>
            </a:r>
            <a:endParaRPr lang="en-US" altLang="zh-CN" sz="2000" dirty="0">
              <a:solidFill>
                <a:srgbClr val="990099"/>
              </a:solidFill>
              <a:cs typeface="Times New Roman" pitchFamily="18" charset="0"/>
            </a:endParaRPr>
          </a:p>
        </p:txBody>
      </p:sp>
      <p:sp>
        <p:nvSpPr>
          <p:cNvPr id="3" name="TextBox 2"/>
          <p:cNvSpPr txBox="1"/>
          <p:nvPr/>
        </p:nvSpPr>
        <p:spPr>
          <a:xfrm>
            <a:off x="3161251" y="1667268"/>
            <a:ext cx="3620549" cy="313932"/>
          </a:xfrm>
          <a:prstGeom prst="rect">
            <a:avLst/>
          </a:prstGeom>
          <a:noFill/>
        </p:spPr>
        <p:txBody>
          <a:bodyPr wrap="square" rtlCol="0">
            <a:spAutoFit/>
          </a:bodyPr>
          <a:lstStyle/>
          <a:p>
            <a:r>
              <a:rPr lang="zh-CN" altLang="en-US" sz="1600" dirty="0">
                <a:solidFill>
                  <a:schemeClr val="tx2"/>
                </a:solidFill>
              </a:rPr>
              <a:t>（因长度不够或因设置施工缝的需要）</a:t>
            </a:r>
          </a:p>
        </p:txBody>
      </p:sp>
      <p:graphicFrame>
        <p:nvGraphicFramePr>
          <p:cNvPr id="4" name="对象 3"/>
          <p:cNvGraphicFramePr>
            <a:graphicFrameLocks noChangeAspect="1"/>
          </p:cNvGraphicFramePr>
          <p:nvPr>
            <p:extLst>
              <p:ext uri="{D42A27DB-BD31-4B8C-83A1-F6EECF244321}">
                <p14:modId xmlns:p14="http://schemas.microsoft.com/office/powerpoint/2010/main" val="316529151"/>
              </p:ext>
            </p:extLst>
          </p:nvPr>
        </p:nvGraphicFramePr>
        <p:xfrm>
          <a:off x="3714744" y="5786454"/>
          <a:ext cx="1143000" cy="661737"/>
        </p:xfrm>
        <a:graphic>
          <a:graphicData uri="http://schemas.openxmlformats.org/presentationml/2006/ole">
            <mc:AlternateContent xmlns:mc="http://schemas.openxmlformats.org/markup-compatibility/2006">
              <mc:Choice xmlns:v="urn:schemas-microsoft-com:vml" Requires="v">
                <p:oleObj spid="_x0000_s553010" name="Equation" r:id="rId3" imgW="723600" imgH="419040" progId="Equation.DSMT4">
                  <p:embed/>
                </p:oleObj>
              </mc:Choice>
              <mc:Fallback>
                <p:oleObj name="Equation" r:id="rId3" imgW="723600" imgH="41904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4744" y="5786454"/>
                        <a:ext cx="1143000" cy="661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99828133"/>
      </p:ext>
    </p:extLst>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534400" cy="563562"/>
          </a:xfrm>
        </p:spPr>
        <p:txBody>
          <a:bodyPr/>
          <a:lstStyle/>
          <a:p>
            <a:r>
              <a:rPr lang="en-US" altLang="zh-CN" sz="3000" dirty="0">
                <a:solidFill>
                  <a:schemeClr val="tx2"/>
                </a:solidFill>
                <a:latin typeface="Times New Roman" pitchFamily="18" charset="0"/>
              </a:rPr>
              <a:t>7.6</a:t>
            </a:r>
            <a:r>
              <a:rPr lang="zh-CN" altLang="en-US" sz="3000" dirty="0">
                <a:solidFill>
                  <a:schemeClr val="tx2"/>
                </a:solidFill>
              </a:rPr>
              <a:t>受压构件的构造要求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7.6.3 </a:t>
            </a:r>
            <a:r>
              <a:rPr lang="zh-CN" altLang="en-US" dirty="0">
                <a:solidFill>
                  <a:srgbClr val="A50021"/>
                </a:solidFill>
                <a:ea typeface="华文中宋" pitchFamily="2" charset="-122"/>
                <a:cs typeface="Times New Roman" pitchFamily="18" charset="0"/>
              </a:rPr>
              <a:t>纵向受力钢筋</a:t>
            </a:r>
            <a:endParaRPr lang="en-US" altLang="zh-CN" dirty="0">
              <a:solidFill>
                <a:srgbClr val="990099"/>
              </a:solidFill>
              <a:cs typeface="Times New Roman" pitchFamily="18" charset="0"/>
            </a:endParaRPr>
          </a:p>
        </p:txBody>
      </p:sp>
      <p:sp>
        <p:nvSpPr>
          <p:cNvPr id="2" name="矩形 1"/>
          <p:cNvSpPr/>
          <p:nvPr/>
        </p:nvSpPr>
        <p:spPr>
          <a:xfrm>
            <a:off x="457200" y="1988840"/>
            <a:ext cx="8382000" cy="2419124"/>
          </a:xfrm>
          <a:prstGeom prst="rect">
            <a:avLst/>
          </a:prstGeom>
        </p:spPr>
        <p:txBody>
          <a:bodyPr wrap="square">
            <a:spAutoFit/>
          </a:bodyPr>
          <a:lstStyle/>
          <a:p>
            <a:pPr marL="342900" indent="-342900" algn="just">
              <a:lnSpc>
                <a:spcPct val="120000"/>
              </a:lnSpc>
              <a:spcBef>
                <a:spcPts val="0"/>
              </a:spcBef>
              <a:buFont typeface="Wingdings" pitchFamily="2" charset="2"/>
              <a:buChar char="l"/>
            </a:pPr>
            <a:r>
              <a:rPr lang="zh-CN" altLang="en-US" sz="1800" dirty="0"/>
              <a:t>纵向受压钢筋绑扎搭接接头的搭接长度不应小于纵向受拉钢筋搭接长度的</a:t>
            </a:r>
            <a:r>
              <a:rPr lang="en-US" altLang="zh-CN" sz="1800" dirty="0"/>
              <a:t>0.7</a:t>
            </a:r>
            <a:r>
              <a:rPr lang="zh-CN" altLang="en-US" sz="1800" dirty="0"/>
              <a:t>倍，且在任何情况下不应小于</a:t>
            </a:r>
            <a:r>
              <a:rPr lang="en-US" altLang="zh-CN" sz="1800" dirty="0"/>
              <a:t>200mm</a:t>
            </a:r>
            <a:r>
              <a:rPr lang="zh-CN" altLang="en-US" sz="1800" dirty="0"/>
              <a:t>；</a:t>
            </a:r>
            <a:endParaRPr lang="en-US" altLang="zh-CN" sz="1800" dirty="0"/>
          </a:p>
          <a:p>
            <a:pPr marL="342900" indent="-342900" algn="just">
              <a:lnSpc>
                <a:spcPct val="120000"/>
              </a:lnSpc>
              <a:spcBef>
                <a:spcPts val="0"/>
              </a:spcBef>
              <a:buFont typeface="Wingdings" pitchFamily="2" charset="2"/>
              <a:buChar char="l"/>
            </a:pPr>
            <a:r>
              <a:rPr lang="zh-CN" altLang="en-US" sz="1800" dirty="0"/>
              <a:t>多高层房屋中，一般在楼板面处要设置施工缝，上、下层柱需做成接头，一般将下层柱的纵向钢筋伸出露面一段搭接长度</a:t>
            </a:r>
            <a:r>
              <a:rPr lang="en-US" altLang="zh-CN" sz="1800" i="1" dirty="0"/>
              <a:t>l</a:t>
            </a:r>
            <a:r>
              <a:rPr lang="en-US" altLang="zh-CN" sz="1800" baseline="-25000" dirty="0"/>
              <a:t>1</a:t>
            </a:r>
            <a:r>
              <a:rPr lang="zh-CN" altLang="en-US" sz="1800" dirty="0"/>
              <a:t>，然后与上层柱的纵向钢筋相互搭接；当上下层柱截面尺寸不同时，可在梁高范围内，将下层柱的纵向钢筋弯折一倾角，其斜度宜小于</a:t>
            </a:r>
            <a:r>
              <a:rPr lang="en-US" altLang="zh-CN" sz="1800" dirty="0"/>
              <a:t>1/6</a:t>
            </a:r>
            <a:r>
              <a:rPr lang="zh-CN" altLang="en-US" sz="1800" dirty="0"/>
              <a:t>，然后伸入上层柱；也可采用附加短筋与上下层柱纵向钢筋搭接的方法；</a:t>
            </a:r>
          </a:p>
        </p:txBody>
      </p:sp>
      <p:sp>
        <p:nvSpPr>
          <p:cNvPr id="5" name="Rectangle 3"/>
          <p:cNvSpPr>
            <a:spLocks noChangeArrowheads="1"/>
          </p:cNvSpPr>
          <p:nvPr/>
        </p:nvSpPr>
        <p:spPr bwMode="auto">
          <a:xfrm>
            <a:off x="304800" y="1595735"/>
            <a:ext cx="4953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zh-CN" altLang="en-US" sz="2000" dirty="0">
                <a:solidFill>
                  <a:srgbClr val="A50021"/>
                </a:solidFill>
                <a:ea typeface="华文中宋" pitchFamily="2" charset="-122"/>
                <a:cs typeface="Times New Roman" pitchFamily="18" charset="0"/>
              </a:rPr>
              <a:t>三、纵向受力钢筋的搭接</a:t>
            </a:r>
            <a:endParaRPr lang="en-US" altLang="zh-CN" sz="2000" dirty="0">
              <a:solidFill>
                <a:srgbClr val="990099"/>
              </a:solidFill>
              <a:cs typeface="Times New Roman" pitchFamily="18" charset="0"/>
            </a:endParaRPr>
          </a:p>
        </p:txBody>
      </p:sp>
      <p:sp>
        <p:nvSpPr>
          <p:cNvPr id="3" name="TextBox 2"/>
          <p:cNvSpPr txBox="1"/>
          <p:nvPr/>
        </p:nvSpPr>
        <p:spPr>
          <a:xfrm>
            <a:off x="3161251" y="1667268"/>
            <a:ext cx="3620549" cy="313932"/>
          </a:xfrm>
          <a:prstGeom prst="rect">
            <a:avLst/>
          </a:prstGeom>
          <a:noFill/>
        </p:spPr>
        <p:txBody>
          <a:bodyPr wrap="square" rtlCol="0">
            <a:spAutoFit/>
          </a:bodyPr>
          <a:lstStyle/>
          <a:p>
            <a:r>
              <a:rPr lang="zh-CN" altLang="en-US" sz="1600" dirty="0">
                <a:solidFill>
                  <a:schemeClr val="tx2"/>
                </a:solidFill>
              </a:rPr>
              <a:t>（因长度不够或因设置施工缝的需要）</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4454200"/>
            <a:ext cx="7848600" cy="2032406"/>
          </a:xfrm>
          <a:prstGeom prst="rect">
            <a:avLst/>
          </a:prstGeom>
          <a:ln>
            <a:solidFill>
              <a:schemeClr val="tx2"/>
            </a:solidFill>
          </a:ln>
        </p:spPr>
      </p:pic>
    </p:spTree>
    <p:extLst>
      <p:ext uri="{BB962C8B-B14F-4D97-AF65-F5344CB8AC3E}">
        <p14:creationId xmlns:p14="http://schemas.microsoft.com/office/powerpoint/2010/main" val="1341482642"/>
      </p:ext>
    </p:extLst>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534400" cy="563562"/>
          </a:xfrm>
        </p:spPr>
        <p:txBody>
          <a:bodyPr/>
          <a:lstStyle/>
          <a:p>
            <a:r>
              <a:rPr lang="en-US" altLang="zh-CN" sz="3000" dirty="0">
                <a:solidFill>
                  <a:schemeClr val="tx2"/>
                </a:solidFill>
                <a:latin typeface="Times New Roman" pitchFamily="18" charset="0"/>
              </a:rPr>
              <a:t>7.6</a:t>
            </a:r>
            <a:r>
              <a:rPr lang="zh-CN" altLang="en-US" sz="3000" dirty="0">
                <a:solidFill>
                  <a:schemeClr val="tx2"/>
                </a:solidFill>
              </a:rPr>
              <a:t>受压构件的构造要求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7.6.3 </a:t>
            </a:r>
            <a:r>
              <a:rPr lang="zh-CN" altLang="en-US" dirty="0">
                <a:solidFill>
                  <a:srgbClr val="A50021"/>
                </a:solidFill>
                <a:ea typeface="华文中宋" pitchFamily="2" charset="-122"/>
                <a:cs typeface="Times New Roman" pitchFamily="18" charset="0"/>
              </a:rPr>
              <a:t>纵向受力钢筋</a:t>
            </a:r>
            <a:endParaRPr lang="en-US" altLang="zh-CN" dirty="0">
              <a:solidFill>
                <a:srgbClr val="990099"/>
              </a:solidFill>
              <a:cs typeface="Times New Roman" pitchFamily="18" charset="0"/>
            </a:endParaRPr>
          </a:p>
        </p:txBody>
      </p:sp>
      <p:sp>
        <p:nvSpPr>
          <p:cNvPr id="5" name="Rectangle 3"/>
          <p:cNvSpPr>
            <a:spLocks noChangeArrowheads="1"/>
          </p:cNvSpPr>
          <p:nvPr/>
        </p:nvSpPr>
        <p:spPr bwMode="auto">
          <a:xfrm>
            <a:off x="304800" y="1595735"/>
            <a:ext cx="4953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zh-CN" altLang="en-US" sz="2000" dirty="0">
                <a:solidFill>
                  <a:srgbClr val="A50021"/>
                </a:solidFill>
                <a:ea typeface="华文中宋" pitchFamily="2" charset="-122"/>
                <a:cs typeface="Times New Roman" pitchFamily="18" charset="0"/>
              </a:rPr>
              <a:t>三、纵向受力钢筋的搭接</a:t>
            </a:r>
            <a:endParaRPr lang="en-US" altLang="zh-CN" sz="2000" dirty="0">
              <a:solidFill>
                <a:srgbClr val="990099"/>
              </a:solidFill>
              <a:cs typeface="Times New Roman" pitchFamily="18" charset="0"/>
            </a:endParaRPr>
          </a:p>
        </p:txBody>
      </p:sp>
      <p:sp>
        <p:nvSpPr>
          <p:cNvPr id="3" name="TextBox 2"/>
          <p:cNvSpPr txBox="1"/>
          <p:nvPr/>
        </p:nvSpPr>
        <p:spPr>
          <a:xfrm>
            <a:off x="3161251" y="1667268"/>
            <a:ext cx="3620549" cy="313932"/>
          </a:xfrm>
          <a:prstGeom prst="rect">
            <a:avLst/>
          </a:prstGeom>
          <a:noFill/>
        </p:spPr>
        <p:txBody>
          <a:bodyPr wrap="square" rtlCol="0">
            <a:spAutoFit/>
          </a:bodyPr>
          <a:lstStyle/>
          <a:p>
            <a:r>
              <a:rPr lang="zh-CN" altLang="en-US" sz="1600" dirty="0">
                <a:solidFill>
                  <a:schemeClr val="tx2"/>
                </a:solidFill>
              </a:rPr>
              <a:t>（因长度不够或因设置施工缝的需要）</a:t>
            </a:r>
          </a:p>
        </p:txBody>
      </p:sp>
      <p:pic>
        <p:nvPicPr>
          <p:cNvPr id="517124" name="Picture 4" descr="http://imgsrc.baidu.com/forum/w%3D580/sign=886e7a7b242dd42a5f0901a3333b5b2f/2fdda3cc7cd98d105ead2323203fb80e7bec90a2.jpg"/>
          <p:cNvPicPr>
            <a:picLocks noChangeAspect="1" noChangeArrowheads="1"/>
          </p:cNvPicPr>
          <p:nvPr/>
        </p:nvPicPr>
        <p:blipFill>
          <a:blip r:embed="rId2"/>
          <a:srcRect/>
          <a:stretch>
            <a:fillRect/>
          </a:stretch>
        </p:blipFill>
        <p:spPr bwMode="auto">
          <a:xfrm>
            <a:off x="500034" y="2428868"/>
            <a:ext cx="1890815" cy="2520000"/>
          </a:xfrm>
          <a:prstGeom prst="rect">
            <a:avLst/>
          </a:prstGeom>
          <a:noFill/>
        </p:spPr>
      </p:pic>
      <p:pic>
        <p:nvPicPr>
          <p:cNvPr id="517126" name="Picture 6" descr="http://static3.photo.sina.com.cn/bmiddle/53d8301e453352085acb2"/>
          <p:cNvPicPr>
            <a:picLocks noChangeAspect="1" noChangeArrowheads="1"/>
          </p:cNvPicPr>
          <p:nvPr/>
        </p:nvPicPr>
        <p:blipFill>
          <a:blip r:embed="rId3"/>
          <a:srcRect/>
          <a:stretch>
            <a:fillRect/>
          </a:stretch>
        </p:blipFill>
        <p:spPr bwMode="auto">
          <a:xfrm>
            <a:off x="2714612" y="2428868"/>
            <a:ext cx="3364578" cy="2520000"/>
          </a:xfrm>
          <a:prstGeom prst="rect">
            <a:avLst/>
          </a:prstGeom>
          <a:noFill/>
        </p:spPr>
      </p:pic>
      <p:pic>
        <p:nvPicPr>
          <p:cNvPr id="517128" name="Picture 8" descr="http://oss.zhulong.com/forum/201312/07/122513jcjnmhqoo2xlbhjn.jpg.thumb.jpg"/>
          <p:cNvPicPr>
            <a:picLocks noChangeAspect="1" noChangeArrowheads="1"/>
          </p:cNvPicPr>
          <p:nvPr/>
        </p:nvPicPr>
        <p:blipFill>
          <a:blip r:embed="rId4" cstate="print"/>
          <a:srcRect/>
          <a:stretch>
            <a:fillRect/>
          </a:stretch>
        </p:blipFill>
        <p:spPr bwMode="auto">
          <a:xfrm>
            <a:off x="6286512" y="2428868"/>
            <a:ext cx="1889157" cy="2520000"/>
          </a:xfrm>
          <a:prstGeom prst="rect">
            <a:avLst/>
          </a:prstGeom>
          <a:noFill/>
        </p:spPr>
      </p:pic>
    </p:spTree>
    <p:extLst>
      <p:ext uri="{BB962C8B-B14F-4D97-AF65-F5344CB8AC3E}">
        <p14:creationId xmlns:p14="http://schemas.microsoft.com/office/powerpoint/2010/main" val="1341482642"/>
      </p:ext>
    </p:extLst>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534400" cy="563562"/>
          </a:xfrm>
        </p:spPr>
        <p:txBody>
          <a:bodyPr/>
          <a:lstStyle/>
          <a:p>
            <a:r>
              <a:rPr lang="en-US" altLang="zh-CN" sz="3000" dirty="0">
                <a:solidFill>
                  <a:schemeClr val="tx2"/>
                </a:solidFill>
                <a:latin typeface="Times New Roman" pitchFamily="18" charset="0"/>
              </a:rPr>
              <a:t>7.6</a:t>
            </a:r>
            <a:r>
              <a:rPr lang="zh-CN" altLang="en-US" sz="3000" dirty="0">
                <a:solidFill>
                  <a:schemeClr val="tx2"/>
                </a:solidFill>
              </a:rPr>
              <a:t>受压构件的构造要求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7.6.3 </a:t>
            </a:r>
            <a:r>
              <a:rPr lang="zh-CN" altLang="en-US" dirty="0">
                <a:solidFill>
                  <a:srgbClr val="A50021"/>
                </a:solidFill>
                <a:ea typeface="华文中宋" pitchFamily="2" charset="-122"/>
                <a:cs typeface="Times New Roman" pitchFamily="18" charset="0"/>
              </a:rPr>
              <a:t>纵向受力钢筋</a:t>
            </a:r>
            <a:endParaRPr lang="en-US" altLang="zh-CN" dirty="0">
              <a:solidFill>
                <a:srgbClr val="990099"/>
              </a:solidFill>
              <a:cs typeface="Times New Roman" pitchFamily="18" charset="0"/>
            </a:endParaRPr>
          </a:p>
        </p:txBody>
      </p:sp>
      <p:sp>
        <p:nvSpPr>
          <p:cNvPr id="2" name="矩形 1"/>
          <p:cNvSpPr/>
          <p:nvPr/>
        </p:nvSpPr>
        <p:spPr>
          <a:xfrm>
            <a:off x="457200" y="2035076"/>
            <a:ext cx="8382000" cy="1938992"/>
          </a:xfrm>
          <a:prstGeom prst="rect">
            <a:avLst/>
          </a:prstGeom>
        </p:spPr>
        <p:txBody>
          <a:bodyPr wrap="square">
            <a:spAutoFit/>
          </a:bodyPr>
          <a:lstStyle/>
          <a:p>
            <a:pPr marL="342900" indent="-342900" algn="just">
              <a:lnSpc>
                <a:spcPct val="150000"/>
              </a:lnSpc>
              <a:spcBef>
                <a:spcPts val="0"/>
              </a:spcBef>
              <a:buFont typeface="Wingdings" pitchFamily="2" charset="2"/>
              <a:buChar char="l"/>
            </a:pPr>
            <a:r>
              <a:rPr lang="zh-CN" altLang="en-US" sz="2000" dirty="0"/>
              <a:t>在搭接长度范围内应加密箍筋，其具体要求见第</a:t>
            </a:r>
            <a:r>
              <a:rPr lang="en-US" altLang="zh-CN" sz="2000" dirty="0"/>
              <a:t>2.5.3</a:t>
            </a:r>
            <a:r>
              <a:rPr lang="zh-CN" altLang="en-US" sz="2000" dirty="0"/>
              <a:t>节中的表</a:t>
            </a:r>
            <a:r>
              <a:rPr lang="en-US" altLang="zh-CN" sz="2000" dirty="0"/>
              <a:t>2.6</a:t>
            </a:r>
            <a:r>
              <a:rPr lang="zh-CN" altLang="en-US" sz="2000" dirty="0"/>
              <a:t>；</a:t>
            </a:r>
            <a:endParaRPr lang="en-US" altLang="zh-CN" sz="2000" dirty="0"/>
          </a:p>
          <a:p>
            <a:pPr marL="342900" indent="-342900" algn="just">
              <a:lnSpc>
                <a:spcPct val="150000"/>
              </a:lnSpc>
              <a:spcBef>
                <a:spcPts val="0"/>
              </a:spcBef>
              <a:buFont typeface="Wingdings" pitchFamily="2" charset="2"/>
              <a:buChar char="l"/>
            </a:pPr>
            <a:r>
              <a:rPr lang="zh-CN" altLang="en-US" sz="2000" dirty="0"/>
              <a:t>受压钢筋直径较大时，应增加配箍要求，以防止局部挤压裂缝；</a:t>
            </a:r>
            <a:endParaRPr lang="en-US" altLang="zh-CN" sz="2000" dirty="0"/>
          </a:p>
          <a:p>
            <a:pPr marL="342900" indent="-342900" algn="just">
              <a:lnSpc>
                <a:spcPct val="150000"/>
              </a:lnSpc>
              <a:spcBef>
                <a:spcPts val="0"/>
              </a:spcBef>
              <a:buFont typeface="Wingdings" pitchFamily="2" charset="2"/>
              <a:buChar char="l"/>
            </a:pPr>
            <a:r>
              <a:rPr lang="zh-CN" altLang="en-US" sz="2000" dirty="0"/>
              <a:t>当直径</a:t>
            </a:r>
            <a:r>
              <a:rPr lang="en-US" altLang="zh-CN" sz="2000" dirty="0"/>
              <a:t>d&gt;25mm</a:t>
            </a:r>
            <a:r>
              <a:rPr lang="zh-CN" altLang="en-US" sz="2000" dirty="0"/>
              <a:t>时，尚应在搭接接头两个端面外</a:t>
            </a:r>
            <a:r>
              <a:rPr lang="en-US" altLang="zh-CN" sz="2000" dirty="0"/>
              <a:t>100mm</a:t>
            </a:r>
            <a:r>
              <a:rPr lang="zh-CN" altLang="en-US" sz="2000" dirty="0"/>
              <a:t>范围内各设置两个箍筋。</a:t>
            </a:r>
          </a:p>
        </p:txBody>
      </p:sp>
      <p:sp>
        <p:nvSpPr>
          <p:cNvPr id="5" name="Rectangle 3"/>
          <p:cNvSpPr>
            <a:spLocks noChangeArrowheads="1"/>
          </p:cNvSpPr>
          <p:nvPr/>
        </p:nvSpPr>
        <p:spPr bwMode="auto">
          <a:xfrm>
            <a:off x="304800" y="1595735"/>
            <a:ext cx="4953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zh-CN" altLang="en-US" sz="2000" dirty="0">
                <a:solidFill>
                  <a:srgbClr val="A50021"/>
                </a:solidFill>
                <a:ea typeface="华文中宋" pitchFamily="2" charset="-122"/>
                <a:cs typeface="Times New Roman" pitchFamily="18" charset="0"/>
              </a:rPr>
              <a:t>三、纵向受力钢筋的搭接</a:t>
            </a:r>
            <a:endParaRPr lang="en-US" altLang="zh-CN" sz="2000" dirty="0">
              <a:solidFill>
                <a:srgbClr val="990099"/>
              </a:solidFill>
              <a:cs typeface="Times New Roman" pitchFamily="18" charset="0"/>
            </a:endParaRPr>
          </a:p>
        </p:txBody>
      </p:sp>
      <p:sp>
        <p:nvSpPr>
          <p:cNvPr id="3" name="TextBox 2"/>
          <p:cNvSpPr txBox="1"/>
          <p:nvPr/>
        </p:nvSpPr>
        <p:spPr>
          <a:xfrm>
            <a:off x="3161251" y="1667268"/>
            <a:ext cx="3620549" cy="313932"/>
          </a:xfrm>
          <a:prstGeom prst="rect">
            <a:avLst/>
          </a:prstGeom>
          <a:noFill/>
        </p:spPr>
        <p:txBody>
          <a:bodyPr wrap="square" rtlCol="0">
            <a:spAutoFit/>
          </a:bodyPr>
          <a:lstStyle/>
          <a:p>
            <a:r>
              <a:rPr lang="zh-CN" altLang="en-US" sz="1600" dirty="0">
                <a:solidFill>
                  <a:schemeClr val="tx2"/>
                </a:solidFill>
              </a:rPr>
              <a:t>（因长度不够或因设置施工缝的需要）</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3976026"/>
            <a:ext cx="8534400" cy="2424774"/>
          </a:xfrm>
          <a:prstGeom prst="rect">
            <a:avLst/>
          </a:prstGeom>
          <a:ln>
            <a:solidFill>
              <a:schemeClr val="tx2"/>
            </a:solidFill>
          </a:ln>
        </p:spPr>
      </p:pic>
    </p:spTree>
    <p:extLst>
      <p:ext uri="{BB962C8B-B14F-4D97-AF65-F5344CB8AC3E}">
        <p14:creationId xmlns:p14="http://schemas.microsoft.com/office/powerpoint/2010/main" val="2241394871"/>
      </p:ext>
    </p:extLst>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534400" cy="563562"/>
          </a:xfrm>
        </p:spPr>
        <p:txBody>
          <a:bodyPr/>
          <a:lstStyle/>
          <a:p>
            <a:r>
              <a:rPr lang="en-US" altLang="zh-CN" sz="3000" dirty="0">
                <a:solidFill>
                  <a:schemeClr val="tx2"/>
                </a:solidFill>
                <a:latin typeface="Times New Roman" pitchFamily="18" charset="0"/>
              </a:rPr>
              <a:t>7.6</a:t>
            </a:r>
            <a:r>
              <a:rPr lang="zh-CN" altLang="en-US" sz="3000" dirty="0">
                <a:solidFill>
                  <a:schemeClr val="tx2"/>
                </a:solidFill>
              </a:rPr>
              <a:t>受压构件的构造要求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7.6.3 </a:t>
            </a:r>
            <a:r>
              <a:rPr lang="zh-CN" altLang="en-US" dirty="0">
                <a:solidFill>
                  <a:srgbClr val="A50021"/>
                </a:solidFill>
                <a:ea typeface="华文中宋" pitchFamily="2" charset="-122"/>
                <a:cs typeface="Times New Roman" pitchFamily="18" charset="0"/>
              </a:rPr>
              <a:t>纵向受力钢筋</a:t>
            </a:r>
            <a:endParaRPr lang="en-US" altLang="zh-CN" dirty="0">
              <a:solidFill>
                <a:srgbClr val="990099"/>
              </a:solidFill>
              <a:cs typeface="Times New Roman" pitchFamily="18" charset="0"/>
            </a:endParaRPr>
          </a:p>
        </p:txBody>
      </p:sp>
      <p:sp>
        <p:nvSpPr>
          <p:cNvPr id="2" name="矩形 1"/>
          <p:cNvSpPr/>
          <p:nvPr/>
        </p:nvSpPr>
        <p:spPr>
          <a:xfrm>
            <a:off x="457200" y="1981200"/>
            <a:ext cx="8382000" cy="2308324"/>
          </a:xfrm>
          <a:prstGeom prst="rect">
            <a:avLst/>
          </a:prstGeom>
        </p:spPr>
        <p:txBody>
          <a:bodyPr wrap="square">
            <a:spAutoFit/>
          </a:bodyPr>
          <a:lstStyle/>
          <a:p>
            <a:pPr marL="342900" indent="-342900" algn="just">
              <a:lnSpc>
                <a:spcPct val="120000"/>
              </a:lnSpc>
              <a:spcBef>
                <a:spcPts val="0"/>
              </a:spcBef>
              <a:buFont typeface="Wingdings" pitchFamily="2" charset="2"/>
              <a:buChar char="l"/>
            </a:pPr>
            <a:r>
              <a:rPr lang="zh-CN" altLang="en-US" sz="2000" dirty="0"/>
              <a:t>一般纵向受力钢筋的配筋率，对大偏心受压构件宜取</a:t>
            </a:r>
            <a:r>
              <a:rPr lang="en-US" altLang="zh-CN" sz="2000" dirty="0"/>
              <a:t>1%</a:t>
            </a:r>
            <a:r>
              <a:rPr lang="zh-CN" altLang="en-US" sz="2000" dirty="0"/>
              <a:t>～</a:t>
            </a:r>
            <a:r>
              <a:rPr lang="en-US" altLang="zh-CN" sz="2000" dirty="0"/>
              <a:t>2%</a:t>
            </a:r>
            <a:r>
              <a:rPr lang="zh-CN" altLang="en-US" sz="2000" dirty="0"/>
              <a:t>，对小偏心受压及轴心受压构件宜取</a:t>
            </a:r>
            <a:r>
              <a:rPr lang="en-US" altLang="zh-CN" sz="2000" dirty="0"/>
              <a:t>0.5%</a:t>
            </a:r>
            <a:r>
              <a:rPr lang="zh-CN" altLang="en-US" sz="2000" dirty="0"/>
              <a:t>～</a:t>
            </a:r>
            <a:r>
              <a:rPr lang="en-US" altLang="zh-CN" sz="2000" dirty="0"/>
              <a:t>2.0%</a:t>
            </a:r>
            <a:r>
              <a:rPr lang="zh-CN" altLang="en-US" sz="2000" dirty="0"/>
              <a:t>。</a:t>
            </a:r>
            <a:endParaRPr lang="en-US" altLang="zh-CN" sz="2000" dirty="0"/>
          </a:p>
          <a:p>
            <a:pPr marL="342900" indent="-342900" algn="just">
              <a:lnSpc>
                <a:spcPct val="120000"/>
              </a:lnSpc>
              <a:spcBef>
                <a:spcPts val="0"/>
              </a:spcBef>
              <a:buFont typeface="Wingdings" pitchFamily="2" charset="2"/>
              <a:buChar char="l"/>
            </a:pPr>
            <a:r>
              <a:rPr lang="zh-CN" altLang="en-US" sz="2000" dirty="0"/>
              <a:t>受压构件截面上全部纵向钢筋的最小配筋率视纵筋强度等级不同，取为</a:t>
            </a:r>
            <a:r>
              <a:rPr lang="en-US" altLang="zh-CN" sz="2000" dirty="0"/>
              <a:t>0.5%</a:t>
            </a:r>
            <a:r>
              <a:rPr lang="zh-CN" altLang="en-US" sz="2000" dirty="0"/>
              <a:t>～</a:t>
            </a:r>
            <a:r>
              <a:rPr lang="en-US" altLang="zh-CN" sz="2000" dirty="0"/>
              <a:t>0.6%</a:t>
            </a:r>
            <a:r>
              <a:rPr lang="zh-CN" altLang="en-US" sz="2000" dirty="0"/>
              <a:t>，见附表</a:t>
            </a:r>
            <a:r>
              <a:rPr lang="en-US" altLang="zh-CN" sz="2000" dirty="0"/>
              <a:t>18</a:t>
            </a:r>
            <a:r>
              <a:rPr lang="zh-CN" altLang="en-US" sz="2000" dirty="0"/>
              <a:t>。偏心受压构件中，截面每侧纵向受力钢筋的最小配筋率为</a:t>
            </a:r>
            <a:r>
              <a:rPr lang="en-US" altLang="zh-CN" sz="2000" dirty="0"/>
              <a:t>0.2%</a:t>
            </a:r>
            <a:r>
              <a:rPr lang="zh-CN" altLang="en-US" sz="2000" dirty="0"/>
              <a:t>。</a:t>
            </a:r>
            <a:endParaRPr lang="en-US" altLang="zh-CN" sz="2000" dirty="0"/>
          </a:p>
          <a:p>
            <a:pPr marL="342900" indent="-342900" algn="just">
              <a:lnSpc>
                <a:spcPct val="120000"/>
              </a:lnSpc>
              <a:spcBef>
                <a:spcPts val="0"/>
              </a:spcBef>
              <a:buFont typeface="Wingdings" pitchFamily="2" charset="2"/>
              <a:buChar char="l"/>
            </a:pPr>
            <a:r>
              <a:rPr lang="zh-CN" altLang="en-US" sz="2000" dirty="0"/>
              <a:t>柱中全部纵向钢筋的配筋率不宜大于</a:t>
            </a:r>
            <a:r>
              <a:rPr lang="en-US" altLang="zh-CN" sz="2000" dirty="0"/>
              <a:t>5%</a:t>
            </a:r>
            <a:r>
              <a:rPr lang="zh-CN" altLang="en-US" sz="2000" dirty="0"/>
              <a:t>。</a:t>
            </a:r>
          </a:p>
        </p:txBody>
      </p:sp>
      <p:sp>
        <p:nvSpPr>
          <p:cNvPr id="5" name="Rectangle 3"/>
          <p:cNvSpPr>
            <a:spLocks noChangeArrowheads="1"/>
          </p:cNvSpPr>
          <p:nvPr/>
        </p:nvSpPr>
        <p:spPr bwMode="auto">
          <a:xfrm>
            <a:off x="304800" y="1595735"/>
            <a:ext cx="4953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zh-CN" altLang="en-US" sz="2000" dirty="0">
                <a:solidFill>
                  <a:srgbClr val="A50021"/>
                </a:solidFill>
                <a:ea typeface="华文中宋" pitchFamily="2" charset="-122"/>
                <a:cs typeface="Times New Roman" pitchFamily="18" charset="0"/>
              </a:rPr>
              <a:t>四、纵向钢筋的配筋率</a:t>
            </a:r>
            <a:endParaRPr lang="en-US" altLang="zh-CN" sz="2000" dirty="0">
              <a:solidFill>
                <a:srgbClr val="990099"/>
              </a:solidFill>
              <a:cs typeface="Times New Roman" pitchFamily="18" charset="0"/>
            </a:endParaRPr>
          </a:p>
        </p:txBody>
      </p:sp>
      <p:sp>
        <p:nvSpPr>
          <p:cNvPr id="3" name="TextBox 2"/>
          <p:cNvSpPr txBox="1"/>
          <p:nvPr/>
        </p:nvSpPr>
        <p:spPr>
          <a:xfrm>
            <a:off x="1066800" y="4343400"/>
            <a:ext cx="7391400" cy="1938992"/>
          </a:xfrm>
          <a:prstGeom prst="rect">
            <a:avLst/>
          </a:prstGeom>
          <a:solidFill>
            <a:schemeClr val="accent1">
              <a:lumMod val="20000"/>
              <a:lumOff val="80000"/>
            </a:schemeClr>
          </a:solidFill>
          <a:ln>
            <a:solidFill>
              <a:schemeClr val="tx2"/>
            </a:solidFill>
          </a:ln>
        </p:spPr>
        <p:txBody>
          <a:bodyPr wrap="square" rtlCol="0">
            <a:spAutoFit/>
          </a:bodyPr>
          <a:lstStyle/>
          <a:p>
            <a:pPr algn="l">
              <a:lnSpc>
                <a:spcPct val="150000"/>
              </a:lnSpc>
              <a:spcBef>
                <a:spcPts val="0"/>
              </a:spcBef>
            </a:pPr>
            <a:r>
              <a:rPr lang="zh-CN" altLang="en-US" sz="1600" dirty="0">
                <a:solidFill>
                  <a:schemeClr val="tx2"/>
                </a:solidFill>
              </a:rPr>
              <a:t>        当配筋率过大时，如果在短期内加荷速度过快，混凝土的塑性变形来不及充分发展，有可能引起混凝土过早破坏。此外在荷载长期作用下，徐变使混凝土中的压应力降低很较多，如果有些构件在荷载持续过程中突然卸荷，由于混凝土的徐变变形大部分不可恢复，而钢筋的回弹有可能使混凝土中出现拉应力，甚至引起开裂；再考虑到经济和施工方便，故对柱中最大配筋率作出了上述限制。</a:t>
            </a:r>
          </a:p>
        </p:txBody>
      </p:sp>
    </p:spTree>
    <p:extLst>
      <p:ext uri="{BB962C8B-B14F-4D97-AF65-F5344CB8AC3E}">
        <p14:creationId xmlns:p14="http://schemas.microsoft.com/office/powerpoint/2010/main" val="4013299577"/>
      </p:ext>
    </p:extLst>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534400" cy="563562"/>
          </a:xfrm>
        </p:spPr>
        <p:txBody>
          <a:bodyPr/>
          <a:lstStyle/>
          <a:p>
            <a:r>
              <a:rPr lang="en-US" altLang="zh-CN" sz="3000" dirty="0">
                <a:solidFill>
                  <a:schemeClr val="tx2"/>
                </a:solidFill>
                <a:latin typeface="Times New Roman" pitchFamily="18" charset="0"/>
              </a:rPr>
              <a:t>7.6</a:t>
            </a:r>
            <a:r>
              <a:rPr lang="zh-CN" altLang="en-US" sz="3000" dirty="0">
                <a:solidFill>
                  <a:schemeClr val="tx2"/>
                </a:solidFill>
                <a:latin typeface="Times New Roman" pitchFamily="18" charset="0"/>
              </a:rPr>
              <a:t>受压构件的构造要求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7.6.4 </a:t>
            </a:r>
            <a:r>
              <a:rPr lang="zh-CN" altLang="en-US" dirty="0">
                <a:solidFill>
                  <a:srgbClr val="A50021"/>
                </a:solidFill>
                <a:ea typeface="华文中宋" pitchFamily="2" charset="-122"/>
                <a:cs typeface="Times New Roman" pitchFamily="18" charset="0"/>
              </a:rPr>
              <a:t>箍筋</a:t>
            </a:r>
            <a:endParaRPr lang="en-US" altLang="zh-CN" dirty="0">
              <a:solidFill>
                <a:srgbClr val="990099"/>
              </a:solidFill>
              <a:cs typeface="Times New Roman" pitchFamily="18" charset="0"/>
            </a:endParaRPr>
          </a:p>
        </p:txBody>
      </p:sp>
      <p:sp>
        <p:nvSpPr>
          <p:cNvPr id="4" name="Rectangle 3"/>
          <p:cNvSpPr>
            <a:spLocks noChangeArrowheads="1"/>
          </p:cNvSpPr>
          <p:nvPr/>
        </p:nvSpPr>
        <p:spPr bwMode="auto">
          <a:xfrm>
            <a:off x="304800" y="1595735"/>
            <a:ext cx="4953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zh-CN" altLang="en-US" sz="2000" dirty="0">
                <a:solidFill>
                  <a:srgbClr val="A50021"/>
                </a:solidFill>
                <a:ea typeface="华文中宋" pitchFamily="2" charset="-122"/>
                <a:cs typeface="Times New Roman" pitchFamily="18" charset="0"/>
              </a:rPr>
              <a:t>一、箍筋的直径及间距</a:t>
            </a:r>
            <a:endParaRPr lang="en-US" altLang="zh-CN" sz="2000" dirty="0">
              <a:solidFill>
                <a:srgbClr val="990099"/>
              </a:solidFill>
              <a:cs typeface="Times New Roman" pitchFamily="18" charset="0"/>
            </a:endParaRPr>
          </a:p>
        </p:txBody>
      </p:sp>
      <p:sp>
        <p:nvSpPr>
          <p:cNvPr id="5" name="矩形 4"/>
          <p:cNvSpPr/>
          <p:nvPr/>
        </p:nvSpPr>
        <p:spPr>
          <a:xfrm>
            <a:off x="457200" y="1981200"/>
            <a:ext cx="8382000" cy="1537409"/>
          </a:xfrm>
          <a:prstGeom prst="rect">
            <a:avLst/>
          </a:prstGeom>
        </p:spPr>
        <p:txBody>
          <a:bodyPr wrap="square">
            <a:spAutoFit/>
          </a:bodyPr>
          <a:lstStyle/>
          <a:p>
            <a:pPr marL="342900" indent="-342900" algn="just">
              <a:lnSpc>
                <a:spcPct val="120000"/>
              </a:lnSpc>
              <a:spcBef>
                <a:spcPts val="0"/>
              </a:spcBef>
              <a:buFont typeface="Wingdings" pitchFamily="2" charset="2"/>
              <a:buChar char="l"/>
            </a:pPr>
            <a:r>
              <a:rPr lang="zh-CN" altLang="en-US" sz="2000" dirty="0"/>
              <a:t>受压构件当作用有剪力时，应按第</a:t>
            </a:r>
            <a:r>
              <a:rPr lang="en-US" altLang="zh-CN" sz="2000" dirty="0"/>
              <a:t>5</a:t>
            </a:r>
            <a:r>
              <a:rPr lang="zh-CN" altLang="en-US" sz="2000" dirty="0"/>
              <a:t>章</a:t>
            </a:r>
            <a:r>
              <a:rPr lang="en-US" altLang="zh-CN" sz="2000" dirty="0"/>
              <a:t>5.10</a:t>
            </a:r>
            <a:r>
              <a:rPr lang="zh-CN" altLang="en-US" sz="2000" dirty="0"/>
              <a:t>节所述进行斜截面受剪承载力的计算，确定箍筋的强度级别、箍筋的直径及间距，亦称按计算配箍。当按构造配箍时，柱内箍筋直径及间距按附表</a:t>
            </a:r>
            <a:r>
              <a:rPr lang="en-US" altLang="zh-CN" sz="2000" dirty="0"/>
              <a:t>22</a:t>
            </a:r>
            <a:r>
              <a:rPr lang="zh-CN" altLang="en-US" sz="2000" dirty="0"/>
              <a:t>取用。</a:t>
            </a:r>
            <a:endParaRPr lang="en-US" altLang="zh-CN" sz="2000" dirty="0"/>
          </a:p>
          <a:p>
            <a:pPr marL="342900" indent="-342900" algn="just">
              <a:lnSpc>
                <a:spcPct val="120000"/>
              </a:lnSpc>
              <a:spcBef>
                <a:spcPts val="0"/>
              </a:spcBef>
              <a:buFont typeface="Wingdings" pitchFamily="2" charset="2"/>
              <a:buChar char="l"/>
            </a:pPr>
            <a:r>
              <a:rPr lang="zh-CN" altLang="en-US" sz="2000" dirty="0"/>
              <a:t>柱中纵向受力钢筋搭接长度范围内的箍筋要加强。</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4277" y="3657600"/>
            <a:ext cx="7010400" cy="2216218"/>
          </a:xfrm>
          <a:prstGeom prst="rect">
            <a:avLst/>
          </a:prstGeom>
          <a:ln>
            <a:solidFill>
              <a:schemeClr val="tx2"/>
            </a:solidFill>
          </a:ln>
          <a:effectLst>
            <a:outerShdw blurRad="228600" dist="114300" dir="2700000" algn="ctr" rotWithShape="0">
              <a:schemeClr val="tx2">
                <a:alpha val="52000"/>
              </a:schemeClr>
            </a:outerShdw>
          </a:effectLst>
        </p:spPr>
      </p:pic>
    </p:spTree>
    <p:extLst>
      <p:ext uri="{BB962C8B-B14F-4D97-AF65-F5344CB8AC3E}">
        <p14:creationId xmlns:p14="http://schemas.microsoft.com/office/powerpoint/2010/main" val="1849578730"/>
      </p:ext>
    </p:extLst>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534400" cy="563562"/>
          </a:xfrm>
        </p:spPr>
        <p:txBody>
          <a:bodyPr/>
          <a:lstStyle/>
          <a:p>
            <a:r>
              <a:rPr lang="en-US" altLang="zh-CN" sz="3000" dirty="0">
                <a:solidFill>
                  <a:schemeClr val="tx2"/>
                </a:solidFill>
                <a:latin typeface="Times New Roman" pitchFamily="18" charset="0"/>
              </a:rPr>
              <a:t>7.6</a:t>
            </a:r>
            <a:r>
              <a:rPr lang="zh-CN" altLang="en-US" sz="3000" dirty="0">
                <a:solidFill>
                  <a:schemeClr val="tx2"/>
                </a:solidFill>
                <a:latin typeface="Times New Roman" pitchFamily="18" charset="0"/>
              </a:rPr>
              <a:t>受压构件的构造要求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7.6.4 </a:t>
            </a:r>
            <a:r>
              <a:rPr lang="zh-CN" altLang="en-US" dirty="0">
                <a:solidFill>
                  <a:srgbClr val="A50021"/>
                </a:solidFill>
                <a:ea typeface="华文中宋" pitchFamily="2" charset="-122"/>
                <a:cs typeface="Times New Roman" pitchFamily="18" charset="0"/>
              </a:rPr>
              <a:t>箍筋</a:t>
            </a:r>
            <a:endParaRPr lang="en-US" altLang="zh-CN" dirty="0">
              <a:solidFill>
                <a:srgbClr val="990099"/>
              </a:solidFill>
              <a:cs typeface="Times New Roman" pitchFamily="18" charset="0"/>
            </a:endParaRPr>
          </a:p>
        </p:txBody>
      </p:sp>
      <p:sp>
        <p:nvSpPr>
          <p:cNvPr id="4" name="Rectangle 3"/>
          <p:cNvSpPr>
            <a:spLocks noChangeArrowheads="1"/>
          </p:cNvSpPr>
          <p:nvPr/>
        </p:nvSpPr>
        <p:spPr bwMode="auto">
          <a:xfrm>
            <a:off x="304800" y="1595735"/>
            <a:ext cx="4953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zh-CN" altLang="en-US" sz="2000" dirty="0">
                <a:solidFill>
                  <a:srgbClr val="A50021"/>
                </a:solidFill>
                <a:ea typeface="华文中宋" pitchFamily="2" charset="-122"/>
                <a:cs typeface="Times New Roman" pitchFamily="18" charset="0"/>
              </a:rPr>
              <a:t>二、箍筋的形式</a:t>
            </a:r>
            <a:endParaRPr lang="en-US" altLang="zh-CN" sz="2000" dirty="0">
              <a:solidFill>
                <a:srgbClr val="990099"/>
              </a:solidFill>
              <a:cs typeface="Times New Roman" pitchFamily="18" charset="0"/>
            </a:endParaRPr>
          </a:p>
        </p:txBody>
      </p:sp>
      <p:sp>
        <p:nvSpPr>
          <p:cNvPr id="5" name="矩形 4"/>
          <p:cNvSpPr/>
          <p:nvPr/>
        </p:nvSpPr>
        <p:spPr>
          <a:xfrm>
            <a:off x="457200" y="1981200"/>
            <a:ext cx="8382000" cy="2308324"/>
          </a:xfrm>
          <a:prstGeom prst="rect">
            <a:avLst/>
          </a:prstGeom>
        </p:spPr>
        <p:txBody>
          <a:bodyPr wrap="square">
            <a:spAutoFit/>
          </a:bodyPr>
          <a:lstStyle/>
          <a:p>
            <a:pPr marL="342900" indent="-342900" algn="just">
              <a:lnSpc>
                <a:spcPct val="120000"/>
              </a:lnSpc>
              <a:spcBef>
                <a:spcPts val="0"/>
              </a:spcBef>
              <a:buFont typeface="Wingdings" pitchFamily="2" charset="2"/>
              <a:buChar char="l"/>
            </a:pPr>
            <a:r>
              <a:rPr lang="zh-CN" altLang="en-US" sz="2000" dirty="0"/>
              <a:t>柱及其他受压构件中的周边箍筋应做成封闭式；</a:t>
            </a:r>
            <a:endParaRPr lang="en-US" altLang="zh-CN" sz="2000" dirty="0"/>
          </a:p>
          <a:p>
            <a:pPr marL="342900" indent="-342900" algn="just">
              <a:lnSpc>
                <a:spcPct val="120000"/>
              </a:lnSpc>
              <a:spcBef>
                <a:spcPts val="0"/>
              </a:spcBef>
              <a:buFont typeface="Wingdings" pitchFamily="2" charset="2"/>
              <a:buChar char="l"/>
            </a:pPr>
            <a:r>
              <a:rPr lang="zh-CN" altLang="en-US" sz="2000" dirty="0"/>
              <a:t>圆柱中箍筋的搭接长度不应小于第</a:t>
            </a:r>
            <a:r>
              <a:rPr lang="en-US" altLang="zh-CN" sz="2000" dirty="0"/>
              <a:t>2.5.1</a:t>
            </a:r>
            <a:r>
              <a:rPr lang="zh-CN" altLang="en-US" sz="2000" dirty="0"/>
              <a:t>节规定的锚固长度</a:t>
            </a:r>
            <a:r>
              <a:rPr lang="en-US" altLang="zh-CN" sz="2000" i="1" dirty="0"/>
              <a:t>l</a:t>
            </a:r>
            <a:r>
              <a:rPr lang="en-US" altLang="zh-CN" sz="2000" i="1" baseline="-25000" dirty="0"/>
              <a:t>a</a:t>
            </a:r>
            <a:r>
              <a:rPr lang="zh-CN" altLang="en-US" sz="2000" dirty="0"/>
              <a:t>，且末端应做成</a:t>
            </a:r>
            <a:r>
              <a:rPr lang="en-US" altLang="zh-CN" sz="2000" dirty="0"/>
              <a:t>135</a:t>
            </a:r>
            <a:r>
              <a:rPr lang="en-US" altLang="zh-CN" sz="2000" baseline="30000" dirty="0"/>
              <a:t>°</a:t>
            </a:r>
            <a:r>
              <a:rPr lang="zh-CN" altLang="en-US" sz="2000" dirty="0"/>
              <a:t>弯钩，弯钩末端平直段长度不应小于箍筋直径的</a:t>
            </a:r>
            <a:r>
              <a:rPr lang="en-US" altLang="zh-CN" sz="2000" dirty="0"/>
              <a:t>5</a:t>
            </a:r>
            <a:r>
              <a:rPr lang="zh-CN" altLang="en-US" sz="2000" dirty="0"/>
              <a:t>倍；</a:t>
            </a:r>
            <a:endParaRPr lang="en-US" altLang="zh-CN" sz="2000" dirty="0"/>
          </a:p>
          <a:p>
            <a:pPr marL="342900" indent="-342900" algn="just">
              <a:lnSpc>
                <a:spcPct val="120000"/>
              </a:lnSpc>
              <a:spcBef>
                <a:spcPts val="0"/>
              </a:spcBef>
              <a:buFont typeface="Wingdings" pitchFamily="2" charset="2"/>
              <a:buChar char="l"/>
            </a:pPr>
            <a:r>
              <a:rPr lang="zh-CN" altLang="en-US" sz="2000" dirty="0"/>
              <a:t>箍筋也可焊接成封闭环式；</a:t>
            </a:r>
            <a:endParaRPr lang="en-US" altLang="zh-CN" sz="2000" dirty="0"/>
          </a:p>
          <a:p>
            <a:pPr marL="342900" indent="-342900" algn="just">
              <a:lnSpc>
                <a:spcPct val="120000"/>
              </a:lnSpc>
              <a:spcBef>
                <a:spcPts val="0"/>
              </a:spcBef>
              <a:buFont typeface="Wingdings" pitchFamily="2" charset="2"/>
              <a:buChar char="l"/>
            </a:pPr>
            <a:r>
              <a:rPr lang="zh-CN" altLang="en-US" sz="2000" dirty="0"/>
              <a:t>当柱中各边纵向钢筋不多于</a:t>
            </a:r>
            <a:r>
              <a:rPr lang="en-US" altLang="zh-CN" sz="2000" dirty="0"/>
              <a:t>3</a:t>
            </a:r>
            <a:r>
              <a:rPr lang="zh-CN" altLang="en-US" sz="2000" dirty="0"/>
              <a:t>根，或当柱截面短边</a:t>
            </a:r>
            <a:r>
              <a:rPr lang="en-US" altLang="zh-CN" sz="2000" dirty="0"/>
              <a:t>b&lt;400mm</a:t>
            </a:r>
            <a:r>
              <a:rPr lang="zh-CN" altLang="en-US" sz="2000" dirty="0"/>
              <a:t>，但各边纵向钢筋不多于</a:t>
            </a:r>
            <a:r>
              <a:rPr lang="en-US" altLang="zh-CN" sz="2000" dirty="0"/>
              <a:t>4</a:t>
            </a:r>
            <a:r>
              <a:rPr lang="zh-CN" altLang="en-US" sz="2000" dirty="0"/>
              <a:t>根时，可采用单个箍筋。</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4289524"/>
            <a:ext cx="5569466" cy="2474703"/>
          </a:xfrm>
          <a:prstGeom prst="rect">
            <a:avLst/>
          </a:prstGeom>
          <a:ln>
            <a:solidFill>
              <a:schemeClr val="tx2"/>
            </a:solidFill>
          </a:ln>
        </p:spPr>
      </p:pic>
    </p:spTree>
    <p:extLst>
      <p:ext uri="{BB962C8B-B14F-4D97-AF65-F5344CB8AC3E}">
        <p14:creationId xmlns:p14="http://schemas.microsoft.com/office/powerpoint/2010/main" val="3721722463"/>
      </p:ext>
    </p:extLst>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534400" cy="563562"/>
          </a:xfrm>
        </p:spPr>
        <p:txBody>
          <a:bodyPr/>
          <a:lstStyle/>
          <a:p>
            <a:r>
              <a:rPr lang="en-US" altLang="zh-CN" sz="3000" dirty="0">
                <a:solidFill>
                  <a:schemeClr val="tx2"/>
                </a:solidFill>
                <a:latin typeface="Times New Roman" pitchFamily="18" charset="0"/>
              </a:rPr>
              <a:t>7.6</a:t>
            </a:r>
            <a:r>
              <a:rPr lang="zh-CN" altLang="en-US" sz="3000" dirty="0">
                <a:solidFill>
                  <a:schemeClr val="tx2"/>
                </a:solidFill>
                <a:latin typeface="Times New Roman" pitchFamily="18" charset="0"/>
              </a:rPr>
              <a:t>受压构件的构造要求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7.6.4 </a:t>
            </a:r>
            <a:r>
              <a:rPr lang="zh-CN" altLang="en-US" dirty="0">
                <a:solidFill>
                  <a:srgbClr val="A50021"/>
                </a:solidFill>
                <a:ea typeface="华文中宋" pitchFamily="2" charset="-122"/>
                <a:cs typeface="Times New Roman" pitchFamily="18" charset="0"/>
              </a:rPr>
              <a:t>箍筋</a:t>
            </a:r>
            <a:endParaRPr lang="en-US" altLang="zh-CN" dirty="0">
              <a:solidFill>
                <a:srgbClr val="990099"/>
              </a:solidFill>
              <a:cs typeface="Times New Roman" pitchFamily="18" charset="0"/>
            </a:endParaRPr>
          </a:p>
        </p:txBody>
      </p:sp>
      <p:sp>
        <p:nvSpPr>
          <p:cNvPr id="4" name="Rectangle 3"/>
          <p:cNvSpPr>
            <a:spLocks noChangeArrowheads="1"/>
          </p:cNvSpPr>
          <p:nvPr/>
        </p:nvSpPr>
        <p:spPr bwMode="auto">
          <a:xfrm>
            <a:off x="304800" y="1595735"/>
            <a:ext cx="4953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zh-CN" altLang="en-US" sz="2000" dirty="0">
                <a:solidFill>
                  <a:srgbClr val="A50021"/>
                </a:solidFill>
                <a:ea typeface="华文中宋" pitchFamily="2" charset="-122"/>
                <a:cs typeface="Times New Roman" pitchFamily="18" charset="0"/>
              </a:rPr>
              <a:t>二、箍筋的形式</a:t>
            </a:r>
            <a:endParaRPr lang="en-US" altLang="zh-CN" sz="2000" dirty="0">
              <a:solidFill>
                <a:srgbClr val="990099"/>
              </a:solidFill>
              <a:cs typeface="Times New Roman" pitchFamily="18" charset="0"/>
            </a:endParaRPr>
          </a:p>
        </p:txBody>
      </p:sp>
      <p:sp>
        <p:nvSpPr>
          <p:cNvPr id="5" name="矩形 4"/>
          <p:cNvSpPr/>
          <p:nvPr/>
        </p:nvSpPr>
        <p:spPr>
          <a:xfrm>
            <a:off x="457200" y="1981200"/>
            <a:ext cx="8382000" cy="830997"/>
          </a:xfrm>
          <a:prstGeom prst="rect">
            <a:avLst/>
          </a:prstGeom>
        </p:spPr>
        <p:txBody>
          <a:bodyPr wrap="square">
            <a:spAutoFit/>
          </a:bodyPr>
          <a:lstStyle/>
          <a:p>
            <a:pPr marL="342900" indent="-342900" algn="l">
              <a:lnSpc>
                <a:spcPct val="120000"/>
              </a:lnSpc>
              <a:spcBef>
                <a:spcPts val="0"/>
              </a:spcBef>
              <a:buFont typeface="Wingdings" pitchFamily="2" charset="2"/>
              <a:buChar char="l"/>
            </a:pPr>
            <a:r>
              <a:rPr lang="zh-CN" altLang="en-US" sz="2000" dirty="0"/>
              <a:t>当柱截面短边</a:t>
            </a:r>
            <a:r>
              <a:rPr lang="en-US" altLang="zh-CN" sz="2000" i="1" dirty="0"/>
              <a:t>b</a:t>
            </a:r>
            <a:r>
              <a:rPr lang="en-US" altLang="zh-CN" sz="2000" dirty="0"/>
              <a:t>&lt;400mm</a:t>
            </a:r>
            <a:r>
              <a:rPr lang="zh-CN" altLang="en-US" sz="2000" dirty="0"/>
              <a:t>，但各边纵向钢筋多于</a:t>
            </a:r>
            <a:r>
              <a:rPr lang="en-US" altLang="zh-CN" sz="2000" dirty="0"/>
              <a:t>4</a:t>
            </a:r>
            <a:r>
              <a:rPr lang="zh-CN" altLang="en-US" sz="2000" dirty="0"/>
              <a:t>根；或当柱截面短边</a:t>
            </a:r>
            <a:r>
              <a:rPr lang="en-US" altLang="zh-CN" sz="2000" i="1" dirty="0"/>
              <a:t>b</a:t>
            </a:r>
            <a:r>
              <a:rPr lang="en-US" altLang="zh-CN" sz="2000" dirty="0"/>
              <a:t>&gt;400mm</a:t>
            </a:r>
            <a:r>
              <a:rPr lang="zh-CN" altLang="en-US" sz="2000" dirty="0"/>
              <a:t>，且各边纵向钢筋多于</a:t>
            </a:r>
            <a:r>
              <a:rPr lang="en-US" altLang="zh-CN" sz="2000" dirty="0"/>
              <a:t>3</a:t>
            </a:r>
            <a:r>
              <a:rPr lang="zh-CN" altLang="en-US" sz="2000" dirty="0"/>
              <a:t>根时，应设置复合箍筋。</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2971800"/>
            <a:ext cx="6400800" cy="3144155"/>
          </a:xfrm>
          <a:prstGeom prst="rect">
            <a:avLst/>
          </a:prstGeom>
          <a:ln>
            <a:solidFill>
              <a:schemeClr val="tx2"/>
            </a:solidFill>
          </a:ln>
        </p:spPr>
      </p:pic>
    </p:spTree>
    <p:extLst>
      <p:ext uri="{BB962C8B-B14F-4D97-AF65-F5344CB8AC3E}">
        <p14:creationId xmlns:p14="http://schemas.microsoft.com/office/powerpoint/2010/main" val="4271338514"/>
      </p:ext>
    </p:extLst>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a:xfrm>
            <a:off x="0" y="427038"/>
            <a:ext cx="8534400" cy="563562"/>
          </a:xfrm>
        </p:spPr>
        <p:txBody>
          <a:bodyPr/>
          <a:lstStyle/>
          <a:p>
            <a:r>
              <a:rPr lang="en-US" altLang="zh-CN" sz="3000" dirty="0">
                <a:solidFill>
                  <a:schemeClr val="tx2"/>
                </a:solidFill>
                <a:latin typeface="Times New Roman" pitchFamily="18" charset="0"/>
              </a:rPr>
              <a:t>7.6</a:t>
            </a:r>
            <a:r>
              <a:rPr lang="zh-CN" altLang="en-US" sz="3000" dirty="0">
                <a:solidFill>
                  <a:schemeClr val="tx2"/>
                </a:solidFill>
                <a:latin typeface="Times New Roman" pitchFamily="18" charset="0"/>
              </a:rPr>
              <a:t>受压构件的构造要求 </a:t>
            </a:r>
          </a:p>
        </p:txBody>
      </p:sp>
      <p:sp>
        <p:nvSpPr>
          <p:cNvPr id="417795" name="Rectangle 3"/>
          <p:cNvSpPr>
            <a:spLocks noChangeArrowheads="1"/>
          </p:cNvSpPr>
          <p:nvPr/>
        </p:nvSpPr>
        <p:spPr bwMode="auto">
          <a:xfrm>
            <a:off x="304800" y="1066800"/>
            <a:ext cx="746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en-US" altLang="zh-CN" dirty="0">
                <a:solidFill>
                  <a:srgbClr val="A50021"/>
                </a:solidFill>
                <a:ea typeface="华文中宋" pitchFamily="2" charset="-122"/>
                <a:cs typeface="Times New Roman" pitchFamily="18" charset="0"/>
              </a:rPr>
              <a:t>7.6.4 </a:t>
            </a:r>
            <a:r>
              <a:rPr lang="zh-CN" altLang="en-US" dirty="0">
                <a:solidFill>
                  <a:srgbClr val="A50021"/>
                </a:solidFill>
                <a:ea typeface="华文中宋" pitchFamily="2" charset="-122"/>
                <a:cs typeface="Times New Roman" pitchFamily="18" charset="0"/>
              </a:rPr>
              <a:t>箍筋</a:t>
            </a:r>
            <a:endParaRPr lang="en-US" altLang="zh-CN" dirty="0">
              <a:solidFill>
                <a:srgbClr val="990099"/>
              </a:solidFill>
              <a:cs typeface="Times New Roman" pitchFamily="18" charset="0"/>
            </a:endParaRPr>
          </a:p>
        </p:txBody>
      </p:sp>
      <p:sp>
        <p:nvSpPr>
          <p:cNvPr id="4" name="Rectangle 3"/>
          <p:cNvSpPr>
            <a:spLocks noChangeArrowheads="1"/>
          </p:cNvSpPr>
          <p:nvPr/>
        </p:nvSpPr>
        <p:spPr bwMode="auto">
          <a:xfrm>
            <a:off x="304800" y="1595735"/>
            <a:ext cx="4953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ct val="0"/>
              </a:spcBef>
              <a:buClrTx/>
              <a:buFontTx/>
              <a:buNone/>
            </a:pPr>
            <a:r>
              <a:rPr lang="zh-CN" altLang="en-US" sz="2000" dirty="0">
                <a:solidFill>
                  <a:srgbClr val="A50021"/>
                </a:solidFill>
                <a:ea typeface="华文中宋" pitchFamily="2" charset="-122"/>
                <a:cs typeface="Times New Roman" pitchFamily="18" charset="0"/>
              </a:rPr>
              <a:t>二、箍筋的形式</a:t>
            </a:r>
            <a:endParaRPr lang="en-US" altLang="zh-CN" sz="2000" dirty="0">
              <a:solidFill>
                <a:srgbClr val="990099"/>
              </a:solidFill>
              <a:cs typeface="Times New Roman" pitchFamily="18" charset="0"/>
            </a:endParaRPr>
          </a:p>
        </p:txBody>
      </p:sp>
      <p:sp>
        <p:nvSpPr>
          <p:cNvPr id="5" name="矩形 4"/>
          <p:cNvSpPr/>
          <p:nvPr/>
        </p:nvSpPr>
        <p:spPr>
          <a:xfrm>
            <a:off x="457200" y="1981200"/>
            <a:ext cx="8382000" cy="1200329"/>
          </a:xfrm>
          <a:prstGeom prst="rect">
            <a:avLst/>
          </a:prstGeom>
        </p:spPr>
        <p:txBody>
          <a:bodyPr wrap="square">
            <a:spAutoFit/>
          </a:bodyPr>
          <a:lstStyle/>
          <a:p>
            <a:pPr marL="342900" indent="-342900" algn="just">
              <a:lnSpc>
                <a:spcPct val="120000"/>
              </a:lnSpc>
              <a:spcBef>
                <a:spcPts val="0"/>
              </a:spcBef>
              <a:buFont typeface="Wingdings" pitchFamily="2" charset="2"/>
              <a:buChar char="l"/>
            </a:pPr>
            <a:r>
              <a:rPr lang="zh-CN" altLang="en-US" sz="2000" dirty="0"/>
              <a:t>对非矩形截面，布置纵向钢筋时要求每隔一根位于箍筋转角处，但不允许采用有内折角的箍筋，因内折角箍筋受力后有拉直趋势，将使内折角处的混凝土崩裂。</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6977" y="3181529"/>
            <a:ext cx="3596098" cy="3581400"/>
          </a:xfrm>
          <a:prstGeom prst="rect">
            <a:avLst/>
          </a:prstGeom>
          <a:ln>
            <a:solidFill>
              <a:schemeClr val="tx2"/>
            </a:solidFill>
          </a:ln>
        </p:spPr>
      </p:pic>
    </p:spTree>
    <p:extLst>
      <p:ext uri="{BB962C8B-B14F-4D97-AF65-F5344CB8AC3E}">
        <p14:creationId xmlns:p14="http://schemas.microsoft.com/office/powerpoint/2010/main" val="3816079491"/>
      </p:ext>
    </p:extLst>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7158" y="428604"/>
            <a:ext cx="8382000" cy="563562"/>
          </a:xfrm>
        </p:spPr>
        <p:txBody>
          <a:bodyPr/>
          <a:lstStyle/>
          <a:p>
            <a:r>
              <a:rPr lang="zh-CN" altLang="en-US" dirty="0">
                <a:solidFill>
                  <a:schemeClr val="tx2"/>
                </a:solidFill>
              </a:rPr>
              <a:t>作 业</a:t>
            </a:r>
          </a:p>
        </p:txBody>
      </p:sp>
      <p:sp>
        <p:nvSpPr>
          <p:cNvPr id="3" name="内容占位符 2"/>
          <p:cNvSpPr>
            <a:spLocks noGrp="1"/>
          </p:cNvSpPr>
          <p:nvPr>
            <p:ph sz="half" idx="1"/>
          </p:nvPr>
        </p:nvSpPr>
        <p:spPr>
          <a:xfrm>
            <a:off x="762000" y="1447800"/>
            <a:ext cx="7739090" cy="5029200"/>
          </a:xfrm>
        </p:spPr>
        <p:txBody>
          <a:bodyPr/>
          <a:lstStyle/>
          <a:p>
            <a:pPr marL="514350" indent="-514350">
              <a:buFont typeface="+mj-ea"/>
              <a:buAutoNum type="circleNumDbPlain"/>
            </a:pPr>
            <a:r>
              <a:rPr lang="zh-CN" altLang="en-US" dirty="0"/>
              <a:t>习题</a:t>
            </a:r>
            <a:r>
              <a:rPr lang="en-US" altLang="zh-CN" dirty="0"/>
              <a:t>7.3</a:t>
            </a:r>
            <a:r>
              <a:rPr lang="zh-CN" altLang="en-US" dirty="0"/>
              <a:t>、</a:t>
            </a:r>
            <a:r>
              <a:rPr lang="en-US" altLang="zh-CN" dirty="0"/>
              <a:t>7.5</a:t>
            </a:r>
            <a:r>
              <a:rPr lang="zh-CN" altLang="en-US" dirty="0"/>
              <a:t>、</a:t>
            </a:r>
            <a:r>
              <a:rPr lang="en-US" altLang="zh-CN" dirty="0"/>
              <a:t>7.7</a:t>
            </a:r>
            <a:r>
              <a:rPr lang="zh-CN" altLang="en-US" dirty="0"/>
              <a:t>（</a:t>
            </a:r>
            <a:r>
              <a:rPr lang="en-US" altLang="zh-CN" dirty="0"/>
              <a:t>12</a:t>
            </a:r>
            <a:r>
              <a:rPr lang="zh-CN" altLang="en-US" dirty="0"/>
              <a:t>月</a:t>
            </a:r>
            <a:r>
              <a:rPr lang="en-US" altLang="zh-CN" dirty="0"/>
              <a:t>11</a:t>
            </a:r>
            <a:r>
              <a:rPr lang="zh-CN" altLang="en-US" dirty="0"/>
              <a:t>日交）</a:t>
            </a:r>
            <a:endParaRPr lang="en-US" altLang="zh-CN" dirty="0"/>
          </a:p>
          <a:p>
            <a:pPr marL="514350" indent="-514350">
              <a:buFont typeface="+mj-ea"/>
              <a:buAutoNum type="circleNumDbPlain"/>
            </a:pPr>
            <a:r>
              <a:rPr lang="zh-CN" altLang="en-US" dirty="0"/>
              <a:t>习题</a:t>
            </a:r>
            <a:r>
              <a:rPr lang="en-US" altLang="zh-CN" dirty="0"/>
              <a:t>7.8</a:t>
            </a:r>
            <a:r>
              <a:rPr lang="zh-CN" altLang="en-US" dirty="0"/>
              <a:t>、</a:t>
            </a:r>
            <a:r>
              <a:rPr lang="en-US" altLang="zh-CN" dirty="0"/>
              <a:t>7.10</a:t>
            </a:r>
            <a:r>
              <a:rPr lang="zh-CN" altLang="en-US" dirty="0"/>
              <a:t>、</a:t>
            </a:r>
            <a:r>
              <a:rPr lang="en-US" altLang="zh-CN" dirty="0"/>
              <a:t>7.13</a:t>
            </a:r>
            <a:r>
              <a:rPr lang="zh-CN" altLang="en-US" dirty="0"/>
              <a:t>（</a:t>
            </a:r>
            <a:r>
              <a:rPr lang="en-US" altLang="zh-CN" dirty="0"/>
              <a:t>12</a:t>
            </a:r>
            <a:r>
              <a:rPr lang="zh-CN" altLang="en-US" dirty="0"/>
              <a:t>月</a:t>
            </a:r>
            <a:r>
              <a:rPr lang="en-US" altLang="zh-CN" dirty="0"/>
              <a:t>18</a:t>
            </a:r>
            <a:r>
              <a:rPr lang="zh-CN" altLang="en-US" dirty="0"/>
              <a:t>日交）</a:t>
            </a:r>
          </a:p>
        </p:txBody>
      </p:sp>
    </p:spTree>
  </p:cSld>
  <p:clrMapOvr>
    <a:masterClrMapping/>
  </p:clrMapOvr>
</p:sld>
</file>

<file path=ppt/theme/theme1.xml><?xml version="1.0" encoding="utf-8"?>
<a:theme xmlns:a="http://schemas.openxmlformats.org/drawingml/2006/main" name="1_默认设计模板">
  <a:themeElements>
    <a:clrScheme name="1_默认设计模板 3">
      <a:dk1>
        <a:srgbClr val="124B98"/>
      </a:dk1>
      <a:lt1>
        <a:srgbClr val="FFFFFF"/>
      </a:lt1>
      <a:dk2>
        <a:srgbClr val="000000"/>
      </a:dk2>
      <a:lt2>
        <a:srgbClr val="DDDDDD"/>
      </a:lt2>
      <a:accent1>
        <a:srgbClr val="4976D1"/>
      </a:accent1>
      <a:accent2>
        <a:srgbClr val="1BABE5"/>
      </a:accent2>
      <a:accent3>
        <a:srgbClr val="FFFFFF"/>
      </a:accent3>
      <a:accent4>
        <a:srgbClr val="0E3F81"/>
      </a:accent4>
      <a:accent5>
        <a:srgbClr val="B1BDE5"/>
      </a:accent5>
      <a:accent6>
        <a:srgbClr val="179BCF"/>
      </a:accent6>
      <a:hlink>
        <a:srgbClr val="4DC9A9"/>
      </a:hlink>
      <a:folHlink>
        <a:srgbClr val="9C76F0"/>
      </a:folHlink>
    </a:clrScheme>
    <a:fontScheme name="1_默认设计模板">
      <a:majorFont>
        <a:latin typeface="Verdana"/>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00FF"/>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defRPr kumimoji="0" lang="zh-CN" altLang="en-US" sz="2400" b="1" i="0" u="none" strike="noStrike" cap="none" normalizeH="0" baseline="0" smtClean="0">
            <a:ln>
              <a:noFill/>
            </a:ln>
            <a:solidFill>
              <a:srgbClr val="0000FF"/>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rgbClr val="FF00FF"/>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90000"/>
          </a:lnSpc>
          <a:spcBef>
            <a:spcPct val="20000"/>
          </a:spcBef>
          <a:spcAft>
            <a:spcPct val="0"/>
          </a:spcAft>
          <a:buClr>
            <a:schemeClr val="tx1"/>
          </a:buClr>
          <a:buSzTx/>
          <a:buFont typeface="Wingdings" pitchFamily="2" charset="2"/>
          <a:buNone/>
          <a:tabLst/>
          <a:defRPr kumimoji="0" lang="zh-CN" altLang="en-US" sz="2400" b="1" i="0" u="none" strike="noStrike" cap="none" normalizeH="0" baseline="0" smtClean="0">
            <a:ln>
              <a:noFill/>
            </a:ln>
            <a:solidFill>
              <a:srgbClr val="0000FF"/>
            </a:solidFill>
            <a:effectLst/>
            <a:latin typeface="Times New Roman" pitchFamily="18" charset="0"/>
            <a:ea typeface="宋体" pitchFamily="2" charset="-122"/>
          </a:defRPr>
        </a:defPPr>
      </a:lstStyle>
    </a:lnDef>
  </a:objectDefaults>
  <a:extraClrSchemeLst>
    <a:extraClrScheme>
      <a:clrScheme name="1_默认设计模板 1">
        <a:dk1>
          <a:srgbClr val="666699"/>
        </a:dk1>
        <a:lt1>
          <a:srgbClr val="FFFFFF"/>
        </a:lt1>
        <a:dk2>
          <a:srgbClr val="000000"/>
        </a:dk2>
        <a:lt2>
          <a:srgbClr val="C0C0C0"/>
        </a:lt2>
        <a:accent1>
          <a:srgbClr val="72B88E"/>
        </a:accent1>
        <a:accent2>
          <a:srgbClr val="8393E1"/>
        </a:accent2>
        <a:accent3>
          <a:srgbClr val="FFFFFF"/>
        </a:accent3>
        <a:accent4>
          <a:srgbClr val="565682"/>
        </a:accent4>
        <a:accent5>
          <a:srgbClr val="BCD8C6"/>
        </a:accent5>
        <a:accent6>
          <a:srgbClr val="7685CC"/>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1_默认设计模板 2">
        <a:dk1>
          <a:srgbClr val="1D528D"/>
        </a:dk1>
        <a:lt1>
          <a:srgbClr val="FFFFFF"/>
        </a:lt1>
        <a:dk2>
          <a:srgbClr val="000000"/>
        </a:dk2>
        <a:lt2>
          <a:srgbClr val="DDDDDD"/>
        </a:lt2>
        <a:accent1>
          <a:srgbClr val="2CA3C8"/>
        </a:accent1>
        <a:accent2>
          <a:srgbClr val="9999FF"/>
        </a:accent2>
        <a:accent3>
          <a:srgbClr val="FFFFFF"/>
        </a:accent3>
        <a:accent4>
          <a:srgbClr val="174578"/>
        </a:accent4>
        <a:accent5>
          <a:srgbClr val="ACCEE0"/>
        </a:accent5>
        <a:accent6>
          <a:srgbClr val="8A8AE7"/>
        </a:accent6>
        <a:hlink>
          <a:srgbClr val="FF9933"/>
        </a:hlink>
        <a:folHlink>
          <a:srgbClr val="969696"/>
        </a:folHlink>
      </a:clrScheme>
      <a:clrMap bg1="lt1" tx1="dk1" bg2="lt2" tx2="dk2" accent1="accent1" accent2="accent2" accent3="accent3" accent4="accent4" accent5="accent5" accent6="accent6" hlink="hlink" folHlink="folHlink"/>
    </a:extraClrScheme>
    <a:extraClrScheme>
      <a:clrScheme name="1_默认设计模板 3">
        <a:dk1>
          <a:srgbClr val="124B98"/>
        </a:dk1>
        <a:lt1>
          <a:srgbClr val="FFFFFF"/>
        </a:lt1>
        <a:dk2>
          <a:srgbClr val="000000"/>
        </a:dk2>
        <a:lt2>
          <a:srgbClr val="DDDDDD"/>
        </a:lt2>
        <a:accent1>
          <a:srgbClr val="4976D1"/>
        </a:accent1>
        <a:accent2>
          <a:srgbClr val="1BABE5"/>
        </a:accent2>
        <a:accent3>
          <a:srgbClr val="FFFFFF"/>
        </a:accent3>
        <a:accent4>
          <a:srgbClr val="0E3F81"/>
        </a:accent4>
        <a:accent5>
          <a:srgbClr val="B1BDE5"/>
        </a:accent5>
        <a:accent6>
          <a:srgbClr val="179BCF"/>
        </a:accent6>
        <a:hlink>
          <a:srgbClr val="4DC9A9"/>
        </a:hlink>
        <a:folHlink>
          <a:srgbClr val="9C76F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12302</TotalTime>
  <Words>8978</Words>
  <Application>Microsoft Office PowerPoint</Application>
  <PresentationFormat>全屏显示(4:3)</PresentationFormat>
  <Paragraphs>844</Paragraphs>
  <Slides>96</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96</vt:i4>
      </vt:variant>
    </vt:vector>
  </HeadingPairs>
  <TitlesOfParts>
    <vt:vector size="112" baseType="lpstr">
      <vt:lpstr>MingLiU</vt:lpstr>
      <vt:lpstr>华文楷体</vt:lpstr>
      <vt:lpstr>华文新魏</vt:lpstr>
      <vt:lpstr>华文中宋</vt:lpstr>
      <vt:lpstr>楷体_GB2312</vt:lpstr>
      <vt:lpstr>隶书</vt:lpstr>
      <vt:lpstr>宋体</vt:lpstr>
      <vt:lpstr>Arial</vt:lpstr>
      <vt:lpstr>Symbol</vt:lpstr>
      <vt:lpstr>Times New Roman</vt:lpstr>
      <vt:lpstr>Verdana</vt:lpstr>
      <vt:lpstr>Wingdings</vt:lpstr>
      <vt:lpstr>1_默认设计模板</vt:lpstr>
      <vt:lpstr>公式</vt:lpstr>
      <vt:lpstr>Equation</vt:lpstr>
      <vt:lpstr>MathType 6.0 Equation</vt:lpstr>
      <vt:lpstr>第7章 受压构件正截面承载力的计算 </vt:lpstr>
      <vt:lpstr>导读</vt:lpstr>
      <vt:lpstr>概述</vt:lpstr>
      <vt:lpstr>概述</vt:lpstr>
      <vt:lpstr>7.1轴心受压构件正截面承载力的计算 </vt:lpstr>
      <vt:lpstr>7.1轴心受压构件正截面承载力的计算 </vt:lpstr>
      <vt:lpstr>7.1轴心受压构件正截面承载力的计算 </vt:lpstr>
      <vt:lpstr>7.1轴心受压构件正截面承载力的计算 </vt:lpstr>
      <vt:lpstr>7.1轴心受压构件正截面承载力的计算 </vt:lpstr>
      <vt:lpstr>7.1轴心受压构件正截面承载力的计算 </vt:lpstr>
      <vt:lpstr>7.1轴心受压构件正截面承载力的计算 </vt:lpstr>
      <vt:lpstr>7.1轴心受压构件正截面承载力的计算 </vt:lpstr>
      <vt:lpstr>7.1轴心受压构件正截面承载力的计算 </vt:lpstr>
      <vt:lpstr>7.1轴心受压构件正截面承载力的计算 </vt:lpstr>
      <vt:lpstr>7.1轴心受压构件正截面承载力的计算 </vt:lpstr>
      <vt:lpstr>7.1轴心受压构件正截面承载力的计算 </vt:lpstr>
      <vt:lpstr>7.1轴心受压构件正截面承载力的计算 </vt:lpstr>
      <vt:lpstr>7.1轴心受压构件正截面承载力的计算 </vt:lpstr>
      <vt:lpstr>7.1轴心受压构件正截面承载力的计算 </vt:lpstr>
      <vt:lpstr>7.1轴心受压构件正截面承载力的计算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7.2矩形截面偏心受压构件正截面承载力的计算 </vt:lpstr>
      <vt:lpstr>7.3工字形截面偏心受压构件正截面承载力的计算 </vt:lpstr>
      <vt:lpstr>7.3工字形截面偏心受压构件正截面承载力的计算 </vt:lpstr>
      <vt:lpstr>7.3工字形截面偏心受压构件正截面承载力的计算 </vt:lpstr>
      <vt:lpstr>7.3工字形截面偏心受压构件正截面承载力的计算 </vt:lpstr>
      <vt:lpstr>7.3工字形截面偏心受压构件正截面承载力的计算 </vt:lpstr>
      <vt:lpstr>7.3工字形截面偏心受压构件正截面承载力的计算 </vt:lpstr>
      <vt:lpstr>7.3工字形截面偏心受压构件正截面承载力的计算 </vt:lpstr>
      <vt:lpstr>7.3工字形截面偏心受压构件正截面承载力的计算 </vt:lpstr>
      <vt:lpstr>7.3工字形截面偏心受压构件正截面承载力的计算 </vt:lpstr>
      <vt:lpstr>7.4沿截面腹部均匀配置纵向钢筋偏心受压构件正截面承载力的计算 </vt:lpstr>
      <vt:lpstr>7.5双向偏心受压构件正截面承载力的计算 </vt:lpstr>
      <vt:lpstr>7.5双向偏心受压构件正截面承载力的计算 </vt:lpstr>
      <vt:lpstr>7.5双向偏心受压构件正截面承载力的计算 </vt:lpstr>
      <vt:lpstr>7.5双向偏心受压构件正截面承载力的计算 </vt:lpstr>
      <vt:lpstr>7.6受压构件的构造要求 </vt:lpstr>
      <vt:lpstr>7.6受压构件的构造要求 </vt:lpstr>
      <vt:lpstr>7.6受压构件的构造要求 </vt:lpstr>
      <vt:lpstr>7.6受压构件的构造要求 </vt:lpstr>
      <vt:lpstr>7.6受压构件的构造要求 </vt:lpstr>
      <vt:lpstr>7.6受压构件的构造要求 </vt:lpstr>
      <vt:lpstr>7.6受压构件的构造要求 </vt:lpstr>
      <vt:lpstr>7.6受压构件的构造要求 </vt:lpstr>
      <vt:lpstr>7.6受压构件的构造要求 </vt:lpstr>
      <vt:lpstr>7.6受压构件的构造要求 </vt:lpstr>
      <vt:lpstr>7.6受压构件的构造要求 </vt:lpstr>
      <vt:lpstr>7.6受压构件的构造要求 </vt:lpstr>
      <vt:lpstr>7.6受压构件的构造要求 </vt:lpstr>
      <vt:lpstr>作 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Wang</dc:creator>
  <cp:lastModifiedBy>Yang</cp:lastModifiedBy>
  <cp:revision>1112</cp:revision>
  <cp:lastPrinted>2018-12-11T14:31:56Z</cp:lastPrinted>
  <dcterms:created xsi:type="dcterms:W3CDTF">1601-01-01T00:00:00Z</dcterms:created>
  <dcterms:modified xsi:type="dcterms:W3CDTF">2024-11-12T02:48:02Z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