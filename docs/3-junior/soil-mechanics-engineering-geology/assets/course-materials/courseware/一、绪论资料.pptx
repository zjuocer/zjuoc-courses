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23"/>
  </p:notesMasterIdLst>
  <p:sldIdLst>
    <p:sldId id="525" r:id="rId2"/>
    <p:sldId id="535" r:id="rId3"/>
    <p:sldId id="536" r:id="rId4"/>
    <p:sldId id="528" r:id="rId5"/>
    <p:sldId id="529" r:id="rId6"/>
    <p:sldId id="530" r:id="rId7"/>
    <p:sldId id="256" r:id="rId8"/>
    <p:sldId id="455" r:id="rId9"/>
    <p:sldId id="456" r:id="rId10"/>
    <p:sldId id="457" r:id="rId11"/>
    <p:sldId id="532" r:id="rId12"/>
    <p:sldId id="531" r:id="rId13"/>
    <p:sldId id="534" r:id="rId14"/>
    <p:sldId id="533" r:id="rId15"/>
    <p:sldId id="364" r:id="rId16"/>
    <p:sldId id="459" r:id="rId17"/>
    <p:sldId id="474" r:id="rId18"/>
    <p:sldId id="354" r:id="rId19"/>
    <p:sldId id="353" r:id="rId20"/>
    <p:sldId id="467" r:id="rId21"/>
    <p:sldId id="522" r:id="rId22"/>
  </p:sldIdLst>
  <p:sldSz cx="9144000" cy="6858000" type="screen4x3"/>
  <p:notesSz cx="6858000" cy="9144000"/>
  <p:custDataLst>
    <p:tags r:id="rId24"/>
  </p:custDataLst>
  <p:defaultTextStyle>
    <a:defPPr>
      <a:defRPr lang="en-US"/>
    </a:defPPr>
    <a:lvl1pPr algn="ctr" rtl="0" fontAlgn="base">
      <a:spcBef>
        <a:spcPct val="0"/>
      </a:spcBef>
      <a:spcAft>
        <a:spcPct val="0"/>
      </a:spcAft>
      <a:defRPr sz="2400" kern="1200">
        <a:solidFill>
          <a:schemeClr val="tx1"/>
        </a:solidFill>
        <a:latin typeface="Times New Roman" pitchFamily="18" charset="0"/>
        <a:ea typeface="+mn-ea"/>
        <a:cs typeface="+mn-cs"/>
      </a:defRPr>
    </a:lvl1pPr>
    <a:lvl2pPr marL="457200" algn="ctr" rtl="0" fontAlgn="base">
      <a:spcBef>
        <a:spcPct val="0"/>
      </a:spcBef>
      <a:spcAft>
        <a:spcPct val="0"/>
      </a:spcAft>
      <a:defRPr sz="2400" kern="1200">
        <a:solidFill>
          <a:schemeClr val="tx1"/>
        </a:solidFill>
        <a:latin typeface="Times New Roman" pitchFamily="18" charset="0"/>
        <a:ea typeface="+mn-ea"/>
        <a:cs typeface="+mn-cs"/>
      </a:defRPr>
    </a:lvl2pPr>
    <a:lvl3pPr marL="914400" algn="ctr" rtl="0" fontAlgn="base">
      <a:spcBef>
        <a:spcPct val="0"/>
      </a:spcBef>
      <a:spcAft>
        <a:spcPct val="0"/>
      </a:spcAft>
      <a:defRPr sz="2400" kern="1200">
        <a:solidFill>
          <a:schemeClr val="tx1"/>
        </a:solidFill>
        <a:latin typeface="Times New Roman" pitchFamily="18" charset="0"/>
        <a:ea typeface="+mn-ea"/>
        <a:cs typeface="+mn-cs"/>
      </a:defRPr>
    </a:lvl3pPr>
    <a:lvl4pPr marL="1371600" algn="ctr" rtl="0" fontAlgn="base">
      <a:spcBef>
        <a:spcPct val="0"/>
      </a:spcBef>
      <a:spcAft>
        <a:spcPct val="0"/>
      </a:spcAft>
      <a:defRPr sz="2400" kern="1200">
        <a:solidFill>
          <a:schemeClr val="tx1"/>
        </a:solidFill>
        <a:latin typeface="Times New Roman" pitchFamily="18" charset="0"/>
        <a:ea typeface="+mn-ea"/>
        <a:cs typeface="+mn-cs"/>
      </a:defRPr>
    </a:lvl4pPr>
    <a:lvl5pPr marL="1828800" algn="ctr"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00000"/>
    <a:srgbClr val="0033CC"/>
    <a:srgbClr val="D4002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673" autoAdjust="0"/>
    <p:restoredTop sz="93404" autoAdjust="0"/>
  </p:normalViewPr>
  <p:slideViewPr>
    <p:cSldViewPr>
      <p:cViewPr varScale="1">
        <p:scale>
          <a:sx n="111" d="100"/>
          <a:sy n="111" d="100"/>
        </p:scale>
        <p:origin x="1662"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642"/>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gs" Target="tags/tag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739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200" smtClean="0"/>
            </a:lvl1pPr>
          </a:lstStyle>
          <a:p>
            <a:pPr>
              <a:defRPr/>
            </a:pPr>
            <a:endParaRPr lang="zh-CN" altLang="en-US"/>
          </a:p>
        </p:txBody>
      </p:sp>
      <p:sp>
        <p:nvSpPr>
          <p:cNvPr id="187395"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smtClean="0"/>
            </a:lvl1pPr>
          </a:lstStyle>
          <a:p>
            <a:pPr>
              <a:defRPr/>
            </a:pPr>
            <a:endParaRPr lang="en-US" altLang="zh-CN"/>
          </a:p>
        </p:txBody>
      </p:sp>
      <p:sp>
        <p:nvSpPr>
          <p:cNvPr id="5530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187397"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87398"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sz="1200" smtClean="0"/>
            </a:lvl1pPr>
          </a:lstStyle>
          <a:p>
            <a:pPr>
              <a:defRPr/>
            </a:pPr>
            <a:endParaRPr lang="en-US" altLang="zh-CN"/>
          </a:p>
        </p:txBody>
      </p:sp>
      <p:sp>
        <p:nvSpPr>
          <p:cNvPr id="187399"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smtClean="0"/>
            </a:lvl1pPr>
          </a:lstStyle>
          <a:p>
            <a:pPr>
              <a:defRPr/>
            </a:pPr>
            <a:fld id="{DD2205C0-F8CB-4348-B505-579EF5B542F4}" type="slidenum">
              <a:rPr lang="zh-CN" altLang="en-US"/>
              <a:pPr>
                <a:defRPr/>
              </a:pPr>
              <a:t>‹#›</a:t>
            </a:fld>
            <a:endParaRPr lang="en-US" altLang="zh-CN"/>
          </a:p>
        </p:txBody>
      </p:sp>
    </p:spTree>
    <p:extLst>
      <p:ext uri="{BB962C8B-B14F-4D97-AF65-F5344CB8AC3E}">
        <p14:creationId xmlns:p14="http://schemas.microsoft.com/office/powerpoint/2010/main" val="300944115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幻灯片图像占位符 1"/>
          <p:cNvSpPr>
            <a:spLocks noGrp="1" noRot="1" noChangeAspect="1" noTextEdit="1"/>
          </p:cNvSpPr>
          <p:nvPr>
            <p:ph type="sldImg"/>
          </p:nvPr>
        </p:nvSpPr>
        <p:spPr>
          <a:ln/>
        </p:spPr>
      </p:sp>
      <p:sp>
        <p:nvSpPr>
          <p:cNvPr id="56323" name="备注占位符 2"/>
          <p:cNvSpPr>
            <a:spLocks noGrp="1"/>
          </p:cNvSpPr>
          <p:nvPr>
            <p:ph type="body" idx="1"/>
          </p:nvPr>
        </p:nvSpPr>
        <p:spPr>
          <a:noFill/>
          <a:ln/>
        </p:spPr>
        <p:txBody>
          <a:bodyPr/>
          <a:lstStyle/>
          <a:p>
            <a:pPr eaLnBrk="1" hangingPunct="1"/>
            <a:endParaRPr lang="zh-CN" altLang="en-US"/>
          </a:p>
        </p:txBody>
      </p:sp>
      <p:sp>
        <p:nvSpPr>
          <p:cNvPr id="56324" name="灯片编号占位符 3"/>
          <p:cNvSpPr>
            <a:spLocks noGrp="1"/>
          </p:cNvSpPr>
          <p:nvPr>
            <p:ph type="sldNum" sz="quarter" idx="5"/>
          </p:nvPr>
        </p:nvSpPr>
        <p:spPr>
          <a:noFill/>
        </p:spPr>
        <p:txBody>
          <a:bodyPr/>
          <a:lstStyle/>
          <a:p>
            <a:fld id="{A5701CD7-637A-4FCD-881A-28319BF69844}" type="slidenum">
              <a:rPr lang="zh-CN" altLang="en-US"/>
              <a:pPr/>
              <a:t>18</a:t>
            </a:fld>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DD2205C0-F8CB-4348-B505-579EF5B542F4}" type="slidenum">
              <a:rPr lang="zh-CN" altLang="en-US" smtClean="0"/>
              <a:pPr>
                <a:defRPr/>
              </a:pPr>
              <a:t>21</a:t>
            </a:fld>
            <a:endParaRPr lang="en-US" altLang="zh-CN"/>
          </a:p>
        </p:txBody>
      </p:sp>
    </p:spTree>
    <p:extLst>
      <p:ext uri="{BB962C8B-B14F-4D97-AF65-F5344CB8AC3E}">
        <p14:creationId xmlns:p14="http://schemas.microsoft.com/office/powerpoint/2010/main" val="34761864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2"/>
          <p:cNvGrpSpPr>
            <a:grpSpLocks/>
          </p:cNvGrpSpPr>
          <p:nvPr/>
        </p:nvGrpSpPr>
        <p:grpSpPr bwMode="auto">
          <a:xfrm>
            <a:off x="0" y="0"/>
            <a:ext cx="8478838" cy="6173788"/>
            <a:chOff x="0" y="0"/>
            <a:chExt cx="5341" cy="3889"/>
          </a:xfrm>
        </p:grpSpPr>
        <p:sp>
          <p:nvSpPr>
            <p:cNvPr id="5" name="Freeform 3"/>
            <p:cNvSpPr>
              <a:spLocks/>
            </p:cNvSpPr>
            <p:nvPr/>
          </p:nvSpPr>
          <p:spPr bwMode="auto">
            <a:xfrm>
              <a:off x="0" y="0"/>
              <a:ext cx="3863" cy="3889"/>
            </a:xfrm>
            <a:custGeom>
              <a:avLst/>
              <a:gdLst/>
              <a:ahLst/>
              <a:cxnLst>
                <a:cxn ang="0">
                  <a:pos x="3862" y="3418"/>
                </a:cxn>
                <a:cxn ang="0">
                  <a:pos x="457" y="0"/>
                </a:cxn>
                <a:cxn ang="0">
                  <a:pos x="0" y="0"/>
                </a:cxn>
                <a:cxn ang="0">
                  <a:pos x="0" y="481"/>
                </a:cxn>
                <a:cxn ang="0">
                  <a:pos x="3394" y="3888"/>
                </a:cxn>
                <a:cxn ang="0">
                  <a:pos x="3862" y="3418"/>
                </a:cxn>
              </a:cxnLst>
              <a:rect l="0" t="0" r="r" b="b"/>
              <a:pathLst>
                <a:path w="3863" h="3889">
                  <a:moveTo>
                    <a:pt x="3862" y="3418"/>
                  </a:moveTo>
                  <a:lnTo>
                    <a:pt x="457" y="0"/>
                  </a:lnTo>
                  <a:lnTo>
                    <a:pt x="0" y="0"/>
                  </a:lnTo>
                  <a:lnTo>
                    <a:pt x="0" y="481"/>
                  </a:lnTo>
                  <a:lnTo>
                    <a:pt x="3394" y="3888"/>
                  </a:lnTo>
                  <a:lnTo>
                    <a:pt x="3862" y="3418"/>
                  </a:lnTo>
                </a:path>
              </a:pathLst>
            </a:custGeom>
            <a:solidFill>
              <a:schemeClr val="bg1">
                <a:alpha val="50000"/>
              </a:schemeClr>
            </a:solidFill>
            <a:ln w="9525">
              <a:noFill/>
              <a:round/>
              <a:headEnd type="none" w="sm" len="sm"/>
              <a:tailEnd type="none" w="sm" len="sm"/>
            </a:ln>
            <a:effectLst/>
          </p:spPr>
          <p:txBody>
            <a:bodyPr/>
            <a:lstStyle/>
            <a:p>
              <a:pPr>
                <a:defRPr/>
              </a:pPr>
              <a:endParaRPr lang="zh-CN" altLang="en-US"/>
            </a:p>
          </p:txBody>
        </p:sp>
        <p:sp>
          <p:nvSpPr>
            <p:cNvPr id="6" name="Freeform 4"/>
            <p:cNvSpPr>
              <a:spLocks/>
            </p:cNvSpPr>
            <p:nvPr/>
          </p:nvSpPr>
          <p:spPr bwMode="auto">
            <a:xfrm>
              <a:off x="860" y="0"/>
              <a:ext cx="3394" cy="3223"/>
            </a:xfrm>
            <a:custGeom>
              <a:avLst/>
              <a:gdLst/>
              <a:ahLst/>
              <a:cxnLst>
                <a:cxn ang="0">
                  <a:pos x="370" y="0"/>
                </a:cxn>
                <a:cxn ang="0">
                  <a:pos x="3393" y="3036"/>
                </a:cxn>
                <a:cxn ang="0">
                  <a:pos x="3208" y="3222"/>
                </a:cxn>
                <a:cxn ang="0">
                  <a:pos x="0" y="0"/>
                </a:cxn>
                <a:cxn ang="0">
                  <a:pos x="370" y="0"/>
                </a:cxn>
              </a:cxnLst>
              <a:rect l="0" t="0" r="r" b="b"/>
              <a:pathLst>
                <a:path w="3394" h="3223">
                  <a:moveTo>
                    <a:pt x="370" y="0"/>
                  </a:moveTo>
                  <a:lnTo>
                    <a:pt x="3393" y="3036"/>
                  </a:lnTo>
                  <a:lnTo>
                    <a:pt x="3208" y="3222"/>
                  </a:lnTo>
                  <a:lnTo>
                    <a:pt x="0" y="0"/>
                  </a:lnTo>
                  <a:lnTo>
                    <a:pt x="370" y="0"/>
                  </a:lnTo>
                </a:path>
              </a:pathLst>
            </a:custGeom>
            <a:solidFill>
              <a:schemeClr val="bg1">
                <a:alpha val="50000"/>
              </a:schemeClr>
            </a:solidFill>
            <a:ln w="9525">
              <a:noFill/>
              <a:round/>
              <a:headEnd type="none" w="sm" len="sm"/>
              <a:tailEnd type="none" w="sm" len="sm"/>
            </a:ln>
            <a:effectLst/>
          </p:spPr>
          <p:txBody>
            <a:bodyPr/>
            <a:lstStyle/>
            <a:p>
              <a:pPr>
                <a:defRPr/>
              </a:pPr>
              <a:endParaRPr lang="zh-CN" altLang="en-US"/>
            </a:p>
          </p:txBody>
        </p:sp>
        <p:sp>
          <p:nvSpPr>
            <p:cNvPr id="7" name="Freeform 5"/>
            <p:cNvSpPr>
              <a:spLocks/>
            </p:cNvSpPr>
            <p:nvPr/>
          </p:nvSpPr>
          <p:spPr bwMode="auto">
            <a:xfrm>
              <a:off x="2187" y="0"/>
              <a:ext cx="2859" cy="2556"/>
            </a:xfrm>
            <a:custGeom>
              <a:avLst/>
              <a:gdLst/>
              <a:ahLst/>
              <a:cxnLst>
                <a:cxn ang="0">
                  <a:pos x="630" y="0"/>
                </a:cxn>
                <a:cxn ang="0">
                  <a:pos x="2858" y="2238"/>
                </a:cxn>
                <a:cxn ang="0">
                  <a:pos x="2543" y="2555"/>
                </a:cxn>
                <a:cxn ang="0">
                  <a:pos x="0" y="0"/>
                </a:cxn>
                <a:cxn ang="0">
                  <a:pos x="630" y="0"/>
                </a:cxn>
              </a:cxnLst>
              <a:rect l="0" t="0" r="r" b="b"/>
              <a:pathLst>
                <a:path w="2859" h="2556">
                  <a:moveTo>
                    <a:pt x="630" y="0"/>
                  </a:moveTo>
                  <a:lnTo>
                    <a:pt x="2858" y="2238"/>
                  </a:lnTo>
                  <a:lnTo>
                    <a:pt x="2543" y="2555"/>
                  </a:lnTo>
                  <a:lnTo>
                    <a:pt x="0" y="0"/>
                  </a:lnTo>
                  <a:lnTo>
                    <a:pt x="630" y="0"/>
                  </a:lnTo>
                </a:path>
              </a:pathLst>
            </a:custGeom>
            <a:solidFill>
              <a:schemeClr val="bg1">
                <a:alpha val="50000"/>
              </a:schemeClr>
            </a:solidFill>
            <a:ln w="9525">
              <a:noFill/>
              <a:round/>
              <a:headEnd type="none" w="sm" len="sm"/>
              <a:tailEnd type="none" w="sm" len="sm"/>
            </a:ln>
            <a:effectLst/>
          </p:spPr>
          <p:txBody>
            <a:bodyPr/>
            <a:lstStyle/>
            <a:p>
              <a:pPr>
                <a:defRPr/>
              </a:pPr>
              <a:endParaRPr lang="zh-CN" altLang="en-US"/>
            </a:p>
          </p:txBody>
        </p:sp>
        <p:sp>
          <p:nvSpPr>
            <p:cNvPr id="8" name="Freeform 6"/>
            <p:cNvSpPr>
              <a:spLocks/>
            </p:cNvSpPr>
            <p:nvPr/>
          </p:nvSpPr>
          <p:spPr bwMode="auto">
            <a:xfrm>
              <a:off x="3055" y="0"/>
              <a:ext cx="2286" cy="2121"/>
            </a:xfrm>
            <a:custGeom>
              <a:avLst/>
              <a:gdLst/>
              <a:ahLst/>
              <a:cxnLst>
                <a:cxn ang="0">
                  <a:pos x="0" y="0"/>
                </a:cxn>
                <a:cxn ang="0">
                  <a:pos x="2111" y="2120"/>
                </a:cxn>
                <a:cxn ang="0">
                  <a:pos x="2285" y="1945"/>
                </a:cxn>
                <a:cxn ang="0">
                  <a:pos x="348" y="0"/>
                </a:cxn>
                <a:cxn ang="0">
                  <a:pos x="0" y="0"/>
                </a:cxn>
              </a:cxnLst>
              <a:rect l="0" t="0" r="r" b="b"/>
              <a:pathLst>
                <a:path w="2286" h="2121">
                  <a:moveTo>
                    <a:pt x="0" y="0"/>
                  </a:moveTo>
                  <a:lnTo>
                    <a:pt x="2111" y="2120"/>
                  </a:lnTo>
                  <a:lnTo>
                    <a:pt x="2285" y="1945"/>
                  </a:lnTo>
                  <a:lnTo>
                    <a:pt x="348" y="0"/>
                  </a:lnTo>
                  <a:lnTo>
                    <a:pt x="0" y="0"/>
                  </a:lnTo>
                </a:path>
              </a:pathLst>
            </a:custGeom>
            <a:solidFill>
              <a:schemeClr val="bg1">
                <a:alpha val="50000"/>
              </a:schemeClr>
            </a:solidFill>
            <a:ln w="9525">
              <a:noFill/>
              <a:round/>
              <a:headEnd type="none" w="sm" len="sm"/>
              <a:tailEnd type="none" w="sm" len="sm"/>
            </a:ln>
            <a:effectLst/>
          </p:spPr>
          <p:txBody>
            <a:bodyPr/>
            <a:lstStyle/>
            <a:p>
              <a:pPr>
                <a:defRPr/>
              </a:pPr>
              <a:endParaRPr lang="zh-CN" altLang="en-US"/>
            </a:p>
          </p:txBody>
        </p:sp>
      </p:grpSp>
      <p:sp>
        <p:nvSpPr>
          <p:cNvPr id="3079" name="Rectangle 7"/>
          <p:cNvSpPr>
            <a:spLocks noGrp="1" noChangeArrowheads="1"/>
          </p:cNvSpPr>
          <p:nvPr>
            <p:ph type="ctrTitle" sz="quarter"/>
          </p:nvPr>
        </p:nvSpPr>
        <p:spPr>
          <a:xfrm>
            <a:off x="685800" y="1143000"/>
            <a:ext cx="7772400" cy="1143000"/>
          </a:xfrm>
        </p:spPr>
        <p:txBody>
          <a:bodyPr/>
          <a:lstStyle>
            <a:lvl1pPr>
              <a:defRPr/>
            </a:lvl1pPr>
          </a:lstStyle>
          <a:p>
            <a:r>
              <a:rPr lang="zh-CN" altLang="en-US"/>
              <a:t>单击此处编辑母版标题样式</a:t>
            </a:r>
          </a:p>
        </p:txBody>
      </p:sp>
      <p:sp>
        <p:nvSpPr>
          <p:cNvPr id="3080" name="Rectangle 8"/>
          <p:cNvSpPr>
            <a:spLocks noGrp="1" noChangeArrowheads="1"/>
          </p:cNvSpPr>
          <p:nvPr>
            <p:ph type="subTitle" sz="quarter" idx="1"/>
          </p:nvPr>
        </p:nvSpPr>
        <p:spPr>
          <a:xfrm>
            <a:off x="1371600" y="2819400"/>
            <a:ext cx="6400800" cy="1752600"/>
          </a:xfrm>
          <a:ln w="9525">
            <a:headEnd/>
            <a:tailEnd/>
          </a:ln>
        </p:spPr>
        <p:txBody>
          <a:bodyPr lIns="92075" tIns="46038" rIns="92075" bIns="46038"/>
          <a:lstStyle>
            <a:lvl1pPr marL="0" indent="0" algn="ctr">
              <a:buFont typeface="Wingdings" pitchFamily="2" charset="2"/>
              <a:buNone/>
              <a:defRPr/>
            </a:lvl1pPr>
          </a:lstStyle>
          <a:p>
            <a:r>
              <a:rPr lang="zh-CN" altLang="en-US"/>
              <a:t>单击此处编辑母版副标题样式</a:t>
            </a:r>
          </a:p>
        </p:txBody>
      </p:sp>
      <p:sp>
        <p:nvSpPr>
          <p:cNvPr id="9" name="Rectangle 9"/>
          <p:cNvSpPr>
            <a:spLocks noGrp="1" noChangeArrowheads="1"/>
          </p:cNvSpPr>
          <p:nvPr>
            <p:ph type="dt" sz="quarter" idx="10"/>
          </p:nvPr>
        </p:nvSpPr>
        <p:spPr/>
        <p:txBody>
          <a:bodyPr/>
          <a:lstStyle>
            <a:lvl1pPr>
              <a:defRPr smtClean="0">
                <a:solidFill>
                  <a:srgbClr val="FFFFFF"/>
                </a:solidFill>
              </a:defRPr>
            </a:lvl1pPr>
          </a:lstStyle>
          <a:p>
            <a:pPr>
              <a:defRPr/>
            </a:pPr>
            <a:endParaRPr lang="en-US" altLang="zh-CN"/>
          </a:p>
        </p:txBody>
      </p:sp>
      <p:sp>
        <p:nvSpPr>
          <p:cNvPr id="10" name="Rectangle 10"/>
          <p:cNvSpPr>
            <a:spLocks noGrp="1" noChangeArrowheads="1"/>
          </p:cNvSpPr>
          <p:nvPr>
            <p:ph type="ftr" sz="quarter" idx="11"/>
          </p:nvPr>
        </p:nvSpPr>
        <p:spPr/>
        <p:txBody>
          <a:bodyPr/>
          <a:lstStyle>
            <a:lvl1pPr>
              <a:defRPr smtClean="0">
                <a:solidFill>
                  <a:srgbClr val="FFFFFF"/>
                </a:solidFill>
              </a:defRPr>
            </a:lvl1pPr>
          </a:lstStyle>
          <a:p>
            <a:pPr>
              <a:defRPr/>
            </a:pPr>
            <a:endParaRPr lang="en-US" altLang="zh-CN"/>
          </a:p>
        </p:txBody>
      </p:sp>
      <p:sp>
        <p:nvSpPr>
          <p:cNvPr id="11" name="Rectangle 11"/>
          <p:cNvSpPr>
            <a:spLocks noGrp="1" noChangeArrowheads="1"/>
          </p:cNvSpPr>
          <p:nvPr>
            <p:ph type="sldNum" sz="quarter" idx="12"/>
          </p:nvPr>
        </p:nvSpPr>
        <p:spPr/>
        <p:txBody>
          <a:bodyPr/>
          <a:lstStyle>
            <a:lvl1pPr>
              <a:defRPr smtClean="0">
                <a:solidFill>
                  <a:srgbClr val="FFFFFF"/>
                </a:solidFill>
              </a:defRPr>
            </a:lvl1pPr>
          </a:lstStyle>
          <a:p>
            <a:pPr>
              <a:defRPr/>
            </a:pPr>
            <a:fld id="{DECBC5FF-B235-4BE4-9DF3-BC489E382676}" type="slidenum">
              <a:rPr lang="zh-CN" altLang="en-US"/>
              <a:pPr>
                <a:defRPr/>
              </a:pPr>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9"/>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0"/>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1"/>
          <p:cNvSpPr>
            <a:spLocks noGrp="1" noChangeArrowheads="1"/>
          </p:cNvSpPr>
          <p:nvPr>
            <p:ph type="sldNum" sz="quarter" idx="12"/>
          </p:nvPr>
        </p:nvSpPr>
        <p:spPr>
          <a:ln/>
        </p:spPr>
        <p:txBody>
          <a:bodyPr/>
          <a:lstStyle>
            <a:lvl1pPr>
              <a:defRPr/>
            </a:lvl1pPr>
          </a:lstStyle>
          <a:p>
            <a:pPr>
              <a:defRPr/>
            </a:pPr>
            <a:fld id="{83CE5DC9-2FEA-468F-8A5D-79DF9B4CAB37}" type="slidenum">
              <a:rPr lang="zh-CN" altLang="en-US"/>
              <a:pPr>
                <a:defRPr/>
              </a:pPr>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9"/>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0"/>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1"/>
          <p:cNvSpPr>
            <a:spLocks noGrp="1" noChangeArrowheads="1"/>
          </p:cNvSpPr>
          <p:nvPr>
            <p:ph type="sldNum" sz="quarter" idx="12"/>
          </p:nvPr>
        </p:nvSpPr>
        <p:spPr>
          <a:ln/>
        </p:spPr>
        <p:txBody>
          <a:bodyPr/>
          <a:lstStyle>
            <a:lvl1pPr>
              <a:defRPr/>
            </a:lvl1pPr>
          </a:lstStyle>
          <a:p>
            <a:pPr>
              <a:defRPr/>
            </a:pPr>
            <a:fld id="{CA1BE131-8FC9-4D90-A351-98BCC3B50B0C}" type="slidenum">
              <a:rPr lang="zh-CN" altLang="en-US"/>
              <a:pPr>
                <a:defRPr/>
              </a:pPr>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85800" y="1641475"/>
            <a:ext cx="3810000" cy="44545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41475"/>
            <a:ext cx="3810000" cy="44545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9"/>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0"/>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11"/>
          <p:cNvSpPr>
            <a:spLocks noGrp="1" noChangeArrowheads="1"/>
          </p:cNvSpPr>
          <p:nvPr>
            <p:ph type="sldNum" sz="quarter" idx="12"/>
          </p:nvPr>
        </p:nvSpPr>
        <p:spPr>
          <a:ln/>
        </p:spPr>
        <p:txBody>
          <a:bodyPr/>
          <a:lstStyle>
            <a:lvl1pPr>
              <a:defRPr/>
            </a:lvl1pPr>
          </a:lstStyle>
          <a:p>
            <a:pPr>
              <a:defRPr/>
            </a:pPr>
            <a:fld id="{E1B4AF26-515C-4492-A5BE-26B56B4307D4}" type="slidenum">
              <a:rPr lang="zh-CN" altLang="en-US"/>
              <a:pPr>
                <a:defRPr/>
              </a:pPr>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9"/>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10"/>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11"/>
          <p:cNvSpPr>
            <a:spLocks noGrp="1" noChangeArrowheads="1"/>
          </p:cNvSpPr>
          <p:nvPr>
            <p:ph type="sldNum" sz="quarter" idx="12"/>
          </p:nvPr>
        </p:nvSpPr>
        <p:spPr>
          <a:ln/>
        </p:spPr>
        <p:txBody>
          <a:bodyPr/>
          <a:lstStyle>
            <a:lvl1pPr>
              <a:defRPr/>
            </a:lvl1pPr>
          </a:lstStyle>
          <a:p>
            <a:pPr>
              <a:defRPr/>
            </a:pPr>
            <a:fld id="{FB7808CE-1B13-497D-ABEB-F490E63C597C}" type="slidenum">
              <a:rPr lang="zh-CN" altLang="en-US"/>
              <a:pPr>
                <a:defRPr/>
              </a:pPr>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9"/>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10"/>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11"/>
          <p:cNvSpPr>
            <a:spLocks noGrp="1" noChangeArrowheads="1"/>
          </p:cNvSpPr>
          <p:nvPr>
            <p:ph type="sldNum" sz="quarter" idx="12"/>
          </p:nvPr>
        </p:nvSpPr>
        <p:spPr>
          <a:ln/>
        </p:spPr>
        <p:txBody>
          <a:bodyPr/>
          <a:lstStyle>
            <a:lvl1pPr>
              <a:defRPr/>
            </a:lvl1pPr>
          </a:lstStyle>
          <a:p>
            <a:pPr>
              <a:defRPr/>
            </a:pPr>
            <a:fld id="{0693DE26-6352-4683-A992-C3B0DB00852D}" type="slidenum">
              <a:rPr lang="zh-CN" altLang="en-US"/>
              <a:pPr>
                <a:defRPr/>
              </a:pPr>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9"/>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10"/>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11"/>
          <p:cNvSpPr>
            <a:spLocks noGrp="1" noChangeArrowheads="1"/>
          </p:cNvSpPr>
          <p:nvPr>
            <p:ph type="sldNum" sz="quarter" idx="12"/>
          </p:nvPr>
        </p:nvSpPr>
        <p:spPr>
          <a:ln/>
        </p:spPr>
        <p:txBody>
          <a:bodyPr/>
          <a:lstStyle>
            <a:lvl1pPr>
              <a:defRPr/>
            </a:lvl1pPr>
          </a:lstStyle>
          <a:p>
            <a:pPr>
              <a:defRPr/>
            </a:pPr>
            <a:fld id="{7905EA7B-3CCA-43F4-A513-2C77F8E03CF9}" type="slidenum">
              <a:rPr lang="zh-CN" altLang="en-US"/>
              <a:pPr>
                <a:defRPr/>
              </a:pPr>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9"/>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0"/>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11"/>
          <p:cNvSpPr>
            <a:spLocks noGrp="1" noChangeArrowheads="1"/>
          </p:cNvSpPr>
          <p:nvPr>
            <p:ph type="sldNum" sz="quarter" idx="12"/>
          </p:nvPr>
        </p:nvSpPr>
        <p:spPr>
          <a:ln/>
        </p:spPr>
        <p:txBody>
          <a:bodyPr/>
          <a:lstStyle>
            <a:lvl1pPr>
              <a:defRPr/>
            </a:lvl1pPr>
          </a:lstStyle>
          <a:p>
            <a:pPr>
              <a:defRPr/>
            </a:pPr>
            <a:fld id="{B9154014-A97C-4D9C-9C6A-625ECB967F8D}" type="slidenum">
              <a:rPr lang="zh-CN" altLang="en-US"/>
              <a:pPr>
                <a:defRPr/>
              </a:pPr>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9"/>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0"/>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11"/>
          <p:cNvSpPr>
            <a:spLocks noGrp="1" noChangeArrowheads="1"/>
          </p:cNvSpPr>
          <p:nvPr>
            <p:ph type="sldNum" sz="quarter" idx="12"/>
          </p:nvPr>
        </p:nvSpPr>
        <p:spPr>
          <a:ln/>
        </p:spPr>
        <p:txBody>
          <a:bodyPr/>
          <a:lstStyle>
            <a:lvl1pPr>
              <a:defRPr/>
            </a:lvl1pPr>
          </a:lstStyle>
          <a:p>
            <a:pPr>
              <a:defRPr/>
            </a:pPr>
            <a:fld id="{999798A8-C73F-4593-BE1A-7CAFA1674F90}" type="slidenum">
              <a:rPr lang="zh-CN" altLang="en-US"/>
              <a:pPr>
                <a:defRPr/>
              </a:pPr>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9"/>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0"/>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1"/>
          <p:cNvSpPr>
            <a:spLocks noGrp="1" noChangeArrowheads="1"/>
          </p:cNvSpPr>
          <p:nvPr>
            <p:ph type="sldNum" sz="quarter" idx="12"/>
          </p:nvPr>
        </p:nvSpPr>
        <p:spPr>
          <a:ln/>
        </p:spPr>
        <p:txBody>
          <a:bodyPr/>
          <a:lstStyle>
            <a:lvl1pPr>
              <a:defRPr/>
            </a:lvl1pPr>
          </a:lstStyle>
          <a:p>
            <a:pPr>
              <a:defRPr/>
            </a:pPr>
            <a:fld id="{BB904A39-9E76-41A4-8A4C-780F0F101BA4}" type="slidenum">
              <a:rPr lang="zh-CN" altLang="en-US"/>
              <a:pPr>
                <a:defRPr/>
              </a:pPr>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228600"/>
            <a:ext cx="1943100" cy="5867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85800" y="228600"/>
            <a:ext cx="5676900" cy="5867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9"/>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0"/>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1"/>
          <p:cNvSpPr>
            <a:spLocks noGrp="1" noChangeArrowheads="1"/>
          </p:cNvSpPr>
          <p:nvPr>
            <p:ph type="sldNum" sz="quarter" idx="12"/>
          </p:nvPr>
        </p:nvSpPr>
        <p:spPr>
          <a:ln/>
        </p:spPr>
        <p:txBody>
          <a:bodyPr/>
          <a:lstStyle>
            <a:lvl1pPr>
              <a:defRPr/>
            </a:lvl1pPr>
          </a:lstStyle>
          <a:p>
            <a:pPr>
              <a:defRPr/>
            </a:pPr>
            <a:fld id="{D9667084-DE85-4DB4-9943-D23281F04D02}" type="slidenum">
              <a:rPr lang="zh-CN" altLang="en-US"/>
              <a:pPr>
                <a:defRPr/>
              </a:pPr>
              <a:t>‹#›</a:t>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lipArt" preserve="1">
  <p:cSld name="标题，文本与剪贴画">
    <p:spTree>
      <p:nvGrpSpPr>
        <p:cNvPr id="1" name=""/>
        <p:cNvGrpSpPr/>
        <p:nvPr/>
      </p:nvGrpSpPr>
      <p:grpSpPr>
        <a:xfrm>
          <a:off x="0" y="0"/>
          <a:ext cx="0" cy="0"/>
          <a:chOff x="0" y="0"/>
          <a:chExt cx="0" cy="0"/>
        </a:xfrm>
      </p:grpSpPr>
      <p:sp>
        <p:nvSpPr>
          <p:cNvPr id="2" name="标题 1"/>
          <p:cNvSpPr>
            <a:spLocks noGrp="1"/>
          </p:cNvSpPr>
          <p:nvPr>
            <p:ph type="title"/>
          </p:nvPr>
        </p:nvSpPr>
        <p:spPr>
          <a:xfrm>
            <a:off x="685800" y="228600"/>
            <a:ext cx="7772400" cy="1219200"/>
          </a:xfrm>
        </p:spPr>
        <p:txBody>
          <a:bodyPr/>
          <a:lstStyle/>
          <a:p>
            <a:r>
              <a:rPr lang="zh-CN" altLang="en-US"/>
              <a:t>单击此处编辑母版标题样式</a:t>
            </a:r>
          </a:p>
        </p:txBody>
      </p:sp>
      <p:sp>
        <p:nvSpPr>
          <p:cNvPr id="3" name="文本占位符 2"/>
          <p:cNvSpPr>
            <a:spLocks noGrp="1"/>
          </p:cNvSpPr>
          <p:nvPr>
            <p:ph type="body" sz="half" idx="1"/>
          </p:nvPr>
        </p:nvSpPr>
        <p:spPr>
          <a:xfrm>
            <a:off x="685800" y="1641475"/>
            <a:ext cx="3810000" cy="44545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剪贴画占位符 3"/>
          <p:cNvSpPr>
            <a:spLocks noGrp="1"/>
          </p:cNvSpPr>
          <p:nvPr>
            <p:ph type="clipArt" sz="half" idx="2"/>
          </p:nvPr>
        </p:nvSpPr>
        <p:spPr>
          <a:xfrm>
            <a:off x="4648200" y="1641475"/>
            <a:ext cx="3810000" cy="4454525"/>
          </a:xfrm>
        </p:spPr>
        <p:txBody>
          <a:bodyPr/>
          <a:lstStyle/>
          <a:p>
            <a:pPr lvl="0"/>
            <a:endParaRPr lang="zh-CN" altLang="en-US" noProof="0"/>
          </a:p>
        </p:txBody>
      </p:sp>
      <p:sp>
        <p:nvSpPr>
          <p:cNvPr id="5" name="Rectangle 9"/>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0"/>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11"/>
          <p:cNvSpPr>
            <a:spLocks noGrp="1" noChangeArrowheads="1"/>
          </p:cNvSpPr>
          <p:nvPr>
            <p:ph type="sldNum" sz="quarter" idx="12"/>
          </p:nvPr>
        </p:nvSpPr>
        <p:spPr>
          <a:ln/>
        </p:spPr>
        <p:txBody>
          <a:bodyPr/>
          <a:lstStyle>
            <a:lvl1pPr>
              <a:defRPr/>
            </a:lvl1pPr>
          </a:lstStyle>
          <a:p>
            <a:pPr>
              <a:defRPr/>
            </a:pPr>
            <a:fld id="{38988CDE-0AB1-44A1-9156-5A009B1E9716}" type="slidenum">
              <a:rPr lang="zh-CN" altLang="en-US"/>
              <a:pPr>
                <a:defRPr/>
              </a:pPr>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s>
            <a:gs pos="100000">
              <a:schemeClr val="bg2"/>
            </a:gs>
          </a:gsLst>
          <a:lin ang="5400000" scaled="1"/>
        </a:gradFill>
        <a:effectLst/>
      </p:bgPr>
    </p:bg>
    <p:spTree>
      <p:nvGrpSpPr>
        <p:cNvPr id="1" name=""/>
        <p:cNvGrpSpPr/>
        <p:nvPr/>
      </p:nvGrpSpPr>
      <p:grpSpPr>
        <a:xfrm>
          <a:off x="0" y="0"/>
          <a:ext cx="0" cy="0"/>
          <a:chOff x="0" y="0"/>
          <a:chExt cx="0" cy="0"/>
        </a:xfrm>
      </p:grpSpPr>
      <p:grpSp>
        <p:nvGrpSpPr>
          <p:cNvPr id="5122" name="Group 2"/>
          <p:cNvGrpSpPr>
            <a:grpSpLocks/>
          </p:cNvGrpSpPr>
          <p:nvPr/>
        </p:nvGrpSpPr>
        <p:grpSpPr bwMode="auto">
          <a:xfrm>
            <a:off x="0" y="0"/>
            <a:ext cx="8478838" cy="6173788"/>
            <a:chOff x="0" y="0"/>
            <a:chExt cx="5341" cy="3889"/>
          </a:xfrm>
        </p:grpSpPr>
        <p:sp>
          <p:nvSpPr>
            <p:cNvPr id="2051" name="Freeform 3"/>
            <p:cNvSpPr>
              <a:spLocks/>
            </p:cNvSpPr>
            <p:nvPr/>
          </p:nvSpPr>
          <p:spPr bwMode="auto">
            <a:xfrm>
              <a:off x="0" y="0"/>
              <a:ext cx="3863" cy="3889"/>
            </a:xfrm>
            <a:custGeom>
              <a:avLst/>
              <a:gdLst/>
              <a:ahLst/>
              <a:cxnLst>
                <a:cxn ang="0">
                  <a:pos x="3862" y="3418"/>
                </a:cxn>
                <a:cxn ang="0">
                  <a:pos x="457" y="0"/>
                </a:cxn>
                <a:cxn ang="0">
                  <a:pos x="0" y="0"/>
                </a:cxn>
                <a:cxn ang="0">
                  <a:pos x="0" y="481"/>
                </a:cxn>
                <a:cxn ang="0">
                  <a:pos x="3394" y="3888"/>
                </a:cxn>
                <a:cxn ang="0">
                  <a:pos x="3862" y="3418"/>
                </a:cxn>
              </a:cxnLst>
              <a:rect l="0" t="0" r="r" b="b"/>
              <a:pathLst>
                <a:path w="3863" h="3889">
                  <a:moveTo>
                    <a:pt x="3862" y="3418"/>
                  </a:moveTo>
                  <a:lnTo>
                    <a:pt x="457" y="0"/>
                  </a:lnTo>
                  <a:lnTo>
                    <a:pt x="0" y="0"/>
                  </a:lnTo>
                  <a:lnTo>
                    <a:pt x="0" y="481"/>
                  </a:lnTo>
                  <a:lnTo>
                    <a:pt x="3394" y="3888"/>
                  </a:lnTo>
                  <a:lnTo>
                    <a:pt x="3862" y="3418"/>
                  </a:lnTo>
                </a:path>
              </a:pathLst>
            </a:custGeom>
            <a:solidFill>
              <a:schemeClr val="bg1">
                <a:alpha val="50000"/>
              </a:schemeClr>
            </a:solidFill>
            <a:ln w="9525">
              <a:noFill/>
              <a:round/>
              <a:headEnd type="none" w="sm" len="sm"/>
              <a:tailEnd type="none" w="sm" len="sm"/>
            </a:ln>
            <a:effectLst/>
          </p:spPr>
          <p:txBody>
            <a:bodyPr/>
            <a:lstStyle/>
            <a:p>
              <a:pPr>
                <a:defRPr/>
              </a:pPr>
              <a:endParaRPr lang="zh-CN" altLang="en-US"/>
            </a:p>
          </p:txBody>
        </p:sp>
        <p:sp>
          <p:nvSpPr>
            <p:cNvPr id="2052" name="Freeform 4"/>
            <p:cNvSpPr>
              <a:spLocks/>
            </p:cNvSpPr>
            <p:nvPr/>
          </p:nvSpPr>
          <p:spPr bwMode="auto">
            <a:xfrm>
              <a:off x="860" y="0"/>
              <a:ext cx="3394" cy="3223"/>
            </a:xfrm>
            <a:custGeom>
              <a:avLst/>
              <a:gdLst/>
              <a:ahLst/>
              <a:cxnLst>
                <a:cxn ang="0">
                  <a:pos x="370" y="0"/>
                </a:cxn>
                <a:cxn ang="0">
                  <a:pos x="3393" y="3036"/>
                </a:cxn>
                <a:cxn ang="0">
                  <a:pos x="3208" y="3222"/>
                </a:cxn>
                <a:cxn ang="0">
                  <a:pos x="0" y="0"/>
                </a:cxn>
                <a:cxn ang="0">
                  <a:pos x="370" y="0"/>
                </a:cxn>
              </a:cxnLst>
              <a:rect l="0" t="0" r="r" b="b"/>
              <a:pathLst>
                <a:path w="3394" h="3223">
                  <a:moveTo>
                    <a:pt x="370" y="0"/>
                  </a:moveTo>
                  <a:lnTo>
                    <a:pt x="3393" y="3036"/>
                  </a:lnTo>
                  <a:lnTo>
                    <a:pt x="3208" y="3222"/>
                  </a:lnTo>
                  <a:lnTo>
                    <a:pt x="0" y="0"/>
                  </a:lnTo>
                  <a:lnTo>
                    <a:pt x="370" y="0"/>
                  </a:lnTo>
                </a:path>
              </a:pathLst>
            </a:custGeom>
            <a:solidFill>
              <a:schemeClr val="bg1">
                <a:alpha val="50000"/>
              </a:schemeClr>
            </a:solidFill>
            <a:ln w="9525">
              <a:noFill/>
              <a:round/>
              <a:headEnd type="none" w="sm" len="sm"/>
              <a:tailEnd type="none" w="sm" len="sm"/>
            </a:ln>
            <a:effectLst/>
          </p:spPr>
          <p:txBody>
            <a:bodyPr/>
            <a:lstStyle/>
            <a:p>
              <a:pPr>
                <a:defRPr/>
              </a:pPr>
              <a:endParaRPr lang="zh-CN" altLang="en-US"/>
            </a:p>
          </p:txBody>
        </p:sp>
        <p:sp>
          <p:nvSpPr>
            <p:cNvPr id="2053" name="Freeform 5"/>
            <p:cNvSpPr>
              <a:spLocks/>
            </p:cNvSpPr>
            <p:nvPr/>
          </p:nvSpPr>
          <p:spPr bwMode="auto">
            <a:xfrm>
              <a:off x="2187" y="0"/>
              <a:ext cx="2859" cy="2556"/>
            </a:xfrm>
            <a:custGeom>
              <a:avLst/>
              <a:gdLst/>
              <a:ahLst/>
              <a:cxnLst>
                <a:cxn ang="0">
                  <a:pos x="630" y="0"/>
                </a:cxn>
                <a:cxn ang="0">
                  <a:pos x="2858" y="2238"/>
                </a:cxn>
                <a:cxn ang="0">
                  <a:pos x="2543" y="2555"/>
                </a:cxn>
                <a:cxn ang="0">
                  <a:pos x="0" y="0"/>
                </a:cxn>
                <a:cxn ang="0">
                  <a:pos x="630" y="0"/>
                </a:cxn>
              </a:cxnLst>
              <a:rect l="0" t="0" r="r" b="b"/>
              <a:pathLst>
                <a:path w="2859" h="2556">
                  <a:moveTo>
                    <a:pt x="630" y="0"/>
                  </a:moveTo>
                  <a:lnTo>
                    <a:pt x="2858" y="2238"/>
                  </a:lnTo>
                  <a:lnTo>
                    <a:pt x="2543" y="2555"/>
                  </a:lnTo>
                  <a:lnTo>
                    <a:pt x="0" y="0"/>
                  </a:lnTo>
                  <a:lnTo>
                    <a:pt x="630" y="0"/>
                  </a:lnTo>
                </a:path>
              </a:pathLst>
            </a:custGeom>
            <a:solidFill>
              <a:schemeClr val="bg1">
                <a:alpha val="50000"/>
              </a:schemeClr>
            </a:solidFill>
            <a:ln w="9525">
              <a:noFill/>
              <a:round/>
              <a:headEnd type="none" w="sm" len="sm"/>
              <a:tailEnd type="none" w="sm" len="sm"/>
            </a:ln>
            <a:effectLst/>
          </p:spPr>
          <p:txBody>
            <a:bodyPr/>
            <a:lstStyle/>
            <a:p>
              <a:pPr>
                <a:defRPr/>
              </a:pPr>
              <a:endParaRPr lang="zh-CN" altLang="en-US"/>
            </a:p>
          </p:txBody>
        </p:sp>
        <p:sp>
          <p:nvSpPr>
            <p:cNvPr id="2054" name="Freeform 6"/>
            <p:cNvSpPr>
              <a:spLocks/>
            </p:cNvSpPr>
            <p:nvPr/>
          </p:nvSpPr>
          <p:spPr bwMode="auto">
            <a:xfrm>
              <a:off x="3055" y="0"/>
              <a:ext cx="2286" cy="2121"/>
            </a:xfrm>
            <a:custGeom>
              <a:avLst/>
              <a:gdLst/>
              <a:ahLst/>
              <a:cxnLst>
                <a:cxn ang="0">
                  <a:pos x="0" y="0"/>
                </a:cxn>
                <a:cxn ang="0">
                  <a:pos x="2111" y="2120"/>
                </a:cxn>
                <a:cxn ang="0">
                  <a:pos x="2285" y="1945"/>
                </a:cxn>
                <a:cxn ang="0">
                  <a:pos x="348" y="0"/>
                </a:cxn>
                <a:cxn ang="0">
                  <a:pos x="0" y="0"/>
                </a:cxn>
              </a:cxnLst>
              <a:rect l="0" t="0" r="r" b="b"/>
              <a:pathLst>
                <a:path w="2286" h="2121">
                  <a:moveTo>
                    <a:pt x="0" y="0"/>
                  </a:moveTo>
                  <a:lnTo>
                    <a:pt x="2111" y="2120"/>
                  </a:lnTo>
                  <a:lnTo>
                    <a:pt x="2285" y="1945"/>
                  </a:lnTo>
                  <a:lnTo>
                    <a:pt x="348" y="0"/>
                  </a:lnTo>
                  <a:lnTo>
                    <a:pt x="0" y="0"/>
                  </a:lnTo>
                </a:path>
              </a:pathLst>
            </a:custGeom>
            <a:solidFill>
              <a:schemeClr val="bg1">
                <a:alpha val="50000"/>
              </a:schemeClr>
            </a:solidFill>
            <a:ln w="9525">
              <a:noFill/>
              <a:round/>
              <a:headEnd type="none" w="sm" len="sm"/>
              <a:tailEnd type="none" w="sm" len="sm"/>
            </a:ln>
            <a:effectLst/>
          </p:spPr>
          <p:txBody>
            <a:bodyPr/>
            <a:lstStyle/>
            <a:p>
              <a:pPr>
                <a:defRPr/>
              </a:pPr>
              <a:endParaRPr lang="zh-CN" altLang="en-US"/>
            </a:p>
          </p:txBody>
        </p:sp>
      </p:grpSp>
      <p:sp>
        <p:nvSpPr>
          <p:cNvPr id="2055" name="Rectangle 7"/>
          <p:cNvSpPr>
            <a:spLocks noGrp="1" noChangeArrowheads="1"/>
          </p:cNvSpPr>
          <p:nvPr>
            <p:ph type="title"/>
          </p:nvPr>
        </p:nvSpPr>
        <p:spPr bwMode="auto">
          <a:xfrm>
            <a:off x="685800" y="228600"/>
            <a:ext cx="7772400" cy="1219200"/>
          </a:xfrm>
          <a:prstGeom prst="rect">
            <a:avLst/>
          </a:prstGeom>
          <a:noFill/>
          <a:ln w="9525">
            <a:noFill/>
            <a:miter lim="800000"/>
            <a:headEnd/>
            <a:tailEnd/>
          </a:ln>
          <a:effectLst/>
        </p:spPr>
        <p:txBody>
          <a:bodyPr vert="horz" wrap="square" lIns="92075" tIns="46038" rIns="92075" bIns="46038" numCol="1" anchor="ctr" anchorCtr="0" compatLnSpc="1">
            <a:prstTxWarp prst="textNoShape">
              <a:avLst/>
            </a:prstTxWarp>
          </a:bodyPr>
          <a:lstStyle/>
          <a:p>
            <a:pPr lvl="0"/>
            <a:r>
              <a:rPr lang="zh-CN" altLang="en-US"/>
              <a:t>单击此处编辑母版标题样式</a:t>
            </a:r>
          </a:p>
        </p:txBody>
      </p:sp>
      <p:sp>
        <p:nvSpPr>
          <p:cNvPr id="2057" name="Rectangle 9"/>
          <p:cNvSpPr>
            <a:spLocks noGrp="1" noChangeArrowheads="1"/>
          </p:cNvSpPr>
          <p:nvPr>
            <p:ph type="dt" sz="half" idx="2"/>
          </p:nvPr>
        </p:nvSpPr>
        <p:spPr bwMode="auto">
          <a:xfrm>
            <a:off x="685800" y="6248400"/>
            <a:ext cx="1905000" cy="457200"/>
          </a:xfrm>
          <a:prstGeom prst="rect">
            <a:avLst/>
          </a:prstGeom>
          <a:noFill/>
          <a:ln w="12700" cap="sq">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lvl1pPr algn="l">
              <a:spcBef>
                <a:spcPct val="50000"/>
              </a:spcBef>
              <a:defRPr sz="1400" smtClean="0">
                <a:ea typeface="宋体" pitchFamily="2" charset="-122"/>
              </a:defRPr>
            </a:lvl1pPr>
          </a:lstStyle>
          <a:p>
            <a:pPr>
              <a:defRPr/>
            </a:pPr>
            <a:endParaRPr lang="en-US" altLang="zh-CN"/>
          </a:p>
        </p:txBody>
      </p:sp>
      <p:sp>
        <p:nvSpPr>
          <p:cNvPr id="2058" name="Rectangle 10"/>
          <p:cNvSpPr>
            <a:spLocks noGrp="1" noChangeArrowheads="1"/>
          </p:cNvSpPr>
          <p:nvPr>
            <p:ph type="ftr" sz="quarter" idx="3"/>
          </p:nvPr>
        </p:nvSpPr>
        <p:spPr bwMode="auto">
          <a:xfrm>
            <a:off x="3124200" y="6248400"/>
            <a:ext cx="2895600" cy="457200"/>
          </a:xfrm>
          <a:prstGeom prst="rect">
            <a:avLst/>
          </a:prstGeom>
          <a:noFill/>
          <a:ln w="12700" cap="sq">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lvl1pPr>
              <a:spcBef>
                <a:spcPct val="50000"/>
              </a:spcBef>
              <a:defRPr sz="1400" smtClean="0">
                <a:ea typeface="宋体" pitchFamily="2" charset="-122"/>
              </a:defRPr>
            </a:lvl1pPr>
          </a:lstStyle>
          <a:p>
            <a:pPr>
              <a:defRPr/>
            </a:pPr>
            <a:endParaRPr lang="en-US" altLang="zh-CN"/>
          </a:p>
        </p:txBody>
      </p:sp>
      <p:sp>
        <p:nvSpPr>
          <p:cNvPr id="2059" name="Rectangle 11"/>
          <p:cNvSpPr>
            <a:spLocks noGrp="1" noChangeArrowheads="1"/>
          </p:cNvSpPr>
          <p:nvPr>
            <p:ph type="sldNum" sz="quarter" idx="4"/>
          </p:nvPr>
        </p:nvSpPr>
        <p:spPr bwMode="auto">
          <a:xfrm>
            <a:off x="6553200" y="6248400"/>
            <a:ext cx="1905000" cy="457200"/>
          </a:xfrm>
          <a:prstGeom prst="rect">
            <a:avLst/>
          </a:prstGeom>
          <a:noFill/>
          <a:ln w="12700" cap="sq">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lvl1pPr algn="r">
              <a:spcBef>
                <a:spcPct val="50000"/>
              </a:spcBef>
              <a:defRPr sz="1400" smtClean="0">
                <a:ea typeface="宋体" pitchFamily="2" charset="-122"/>
              </a:defRPr>
            </a:lvl1pPr>
          </a:lstStyle>
          <a:p>
            <a:pPr>
              <a:defRPr/>
            </a:pPr>
            <a:fld id="{34B66782-FB08-42B3-BEDF-B32973A92088}" type="slidenum">
              <a:rPr lang="zh-CN" altLang="en-US"/>
              <a:pPr>
                <a:defRPr/>
              </a:pPr>
              <a:t>‹#›</a:t>
            </a:fld>
            <a:endParaRPr lang="en-US" altLang="zh-CN"/>
          </a:p>
        </p:txBody>
      </p:sp>
      <p:sp>
        <p:nvSpPr>
          <p:cNvPr id="2060" name="Rectangle 12"/>
          <p:cNvSpPr>
            <a:spLocks noGrp="1" noChangeArrowheads="1"/>
          </p:cNvSpPr>
          <p:nvPr>
            <p:ph type="body" idx="1"/>
          </p:nvPr>
        </p:nvSpPr>
        <p:spPr bwMode="auto">
          <a:xfrm>
            <a:off x="685800" y="1641475"/>
            <a:ext cx="7772400" cy="4454525"/>
          </a:xfrm>
          <a:prstGeom prst="rect">
            <a:avLst/>
          </a:prstGeom>
          <a:noFill/>
          <a:ln w="12700" cap="sq">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 bg1="dk2" tx1="lt1" bg2="dk1" tx2="lt2" accent1="accent1" accent2="accent2" accent3="accent3" accent4="accent4" accent5="accent5" accent6="accent6" hlink="hlink" folHlink="folHlink"/>
  <p:sldLayoutIdLst>
    <p:sldLayoutId id="2147483674" r:id="rId1"/>
    <p:sldLayoutId id="2147483673" r:id="rId2"/>
    <p:sldLayoutId id="2147483672" r:id="rId3"/>
    <p:sldLayoutId id="2147483671" r:id="rId4"/>
    <p:sldLayoutId id="2147483670" r:id="rId5"/>
    <p:sldLayoutId id="2147483669" r:id="rId6"/>
    <p:sldLayoutId id="2147483668" r:id="rId7"/>
    <p:sldLayoutId id="2147483667" r:id="rId8"/>
    <p:sldLayoutId id="2147483666" r:id="rId9"/>
    <p:sldLayoutId id="2147483665" r:id="rId10"/>
    <p:sldLayoutId id="2147483664" r:id="rId11"/>
    <p:sldLayoutId id="2147483663" r:id="rId12"/>
  </p:sldLayoutIdLst>
  <p:txStyles>
    <p:title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Times New Roman" pitchFamily="18" charset="0"/>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Times New Roman" pitchFamily="18" charset="0"/>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Times New Roman" pitchFamily="18" charset="0"/>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Times New Roman" pitchFamily="18" charset="0"/>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Times New Roman" pitchFamily="18" charset="0"/>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Times New Roman" pitchFamily="18" charset="0"/>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Times New Roman" pitchFamily="18" charset="0"/>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Times New Roman" pitchFamily="18" charset="0"/>
        </a:defRPr>
      </a:lvl9pPr>
    </p:titleStyle>
    <p:bodyStyle>
      <a:lvl1pPr marL="342900" indent="-342900" algn="l" rtl="0" eaLnBrk="0" fontAlgn="base" hangingPunct="0">
        <a:spcBef>
          <a:spcPct val="20000"/>
        </a:spcBef>
        <a:spcAft>
          <a:spcPct val="0"/>
        </a:spcAft>
        <a:buClr>
          <a:schemeClr val="tx2"/>
        </a:buClr>
        <a:buSzPct val="75000"/>
        <a:buFont typeface="Wingdings" pitchFamily="2" charset="2"/>
        <a:buChar char="n"/>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outerShdw blurRad="38100" dist="38100" dir="2700000" algn="tl">
              <a:srgbClr val="000000"/>
            </a:outerShdw>
          </a:effectLst>
          <a:latin typeface="+mn-lt"/>
        </a:defRPr>
      </a:lvl2pPr>
      <a:lvl3pPr marL="1143000" indent="-228600" algn="l" rtl="0" eaLnBrk="0" fontAlgn="base" hangingPunct="0">
        <a:spcBef>
          <a:spcPct val="20000"/>
        </a:spcBef>
        <a:spcAft>
          <a:spcPct val="0"/>
        </a:spcAft>
        <a:buClr>
          <a:schemeClr val="tx1"/>
        </a:buClr>
        <a:buChar char="»"/>
        <a:defRPr sz="2400">
          <a:solidFill>
            <a:schemeClr val="tx1"/>
          </a:solidFill>
          <a:effectLst>
            <a:outerShdw blurRad="38100" dist="38100" dir="2700000" algn="tl">
              <a:srgbClr val="000000"/>
            </a:outerShdw>
          </a:effectLst>
          <a:latin typeface="+mn-lt"/>
        </a:defRPr>
      </a:lvl3pPr>
      <a:lvl4pPr marL="1600200" indent="-228600" algn="l" rtl="0" eaLnBrk="0" fontAlgn="base" hangingPunct="0">
        <a:spcBef>
          <a:spcPct val="20000"/>
        </a:spcBef>
        <a:spcAft>
          <a:spcPct val="0"/>
        </a:spcAft>
        <a:buClr>
          <a:schemeClr val="tx2"/>
        </a:buClr>
        <a:buSzPct val="75000"/>
        <a:buFont typeface="Wingdings" pitchFamily="2" charset="2"/>
        <a:buChar char="n"/>
        <a:defRPr sz="2000">
          <a:solidFill>
            <a:schemeClr val="tx1"/>
          </a:solidFill>
          <a:effectLst>
            <a:outerShdw blurRad="38100" dist="38100" dir="2700000" algn="tl">
              <a:srgbClr val="000000"/>
            </a:outerShdw>
          </a:effectLst>
          <a:latin typeface="+mn-lt"/>
        </a:defRPr>
      </a:lvl4pPr>
      <a:lvl5pPr marL="2057400" indent="-228600" algn="l" rtl="0" eaLnBrk="0" fontAlgn="base" hangingPunct="0">
        <a:spcBef>
          <a:spcPct val="20000"/>
        </a:spcBef>
        <a:spcAft>
          <a:spcPct val="0"/>
        </a:spcAft>
        <a:buClr>
          <a:schemeClr val="tx1"/>
        </a:buClr>
        <a:buChar char="–"/>
        <a:defRPr sz="2000">
          <a:solidFill>
            <a:schemeClr val="tx1"/>
          </a:solidFill>
          <a:effectLst>
            <a:outerShdw blurRad="38100" dist="38100" dir="2700000" algn="tl">
              <a:srgbClr val="000000"/>
            </a:outerShdw>
          </a:effectLst>
          <a:latin typeface="+mn-lt"/>
        </a:defRPr>
      </a:lvl5pPr>
      <a:lvl6pPr marL="2514600" indent="-228600" algn="l" rtl="0" fontAlgn="base">
        <a:spcBef>
          <a:spcPct val="20000"/>
        </a:spcBef>
        <a:spcAft>
          <a:spcPct val="0"/>
        </a:spcAft>
        <a:buClr>
          <a:schemeClr val="tx1"/>
        </a:buClr>
        <a:buChar char="–"/>
        <a:defRPr sz="2000">
          <a:solidFill>
            <a:schemeClr val="tx1"/>
          </a:solidFill>
          <a:effectLst>
            <a:outerShdw blurRad="38100" dist="38100" dir="2700000" algn="tl">
              <a:srgbClr val="000000"/>
            </a:outerShdw>
          </a:effectLst>
          <a:latin typeface="+mn-lt"/>
        </a:defRPr>
      </a:lvl6pPr>
      <a:lvl7pPr marL="2971800" indent="-228600" algn="l" rtl="0" fontAlgn="base">
        <a:spcBef>
          <a:spcPct val="20000"/>
        </a:spcBef>
        <a:spcAft>
          <a:spcPct val="0"/>
        </a:spcAft>
        <a:buClr>
          <a:schemeClr val="tx1"/>
        </a:buClr>
        <a:buChar char="–"/>
        <a:defRPr sz="2000">
          <a:solidFill>
            <a:schemeClr val="tx1"/>
          </a:solidFill>
          <a:effectLst>
            <a:outerShdw blurRad="38100" dist="38100" dir="2700000" algn="tl">
              <a:srgbClr val="000000"/>
            </a:outerShdw>
          </a:effectLst>
          <a:latin typeface="+mn-lt"/>
        </a:defRPr>
      </a:lvl7pPr>
      <a:lvl8pPr marL="3429000" indent="-228600" algn="l" rtl="0" fontAlgn="base">
        <a:spcBef>
          <a:spcPct val="20000"/>
        </a:spcBef>
        <a:spcAft>
          <a:spcPct val="0"/>
        </a:spcAft>
        <a:buClr>
          <a:schemeClr val="tx1"/>
        </a:buClr>
        <a:buChar char="–"/>
        <a:defRPr sz="2000">
          <a:solidFill>
            <a:schemeClr val="tx1"/>
          </a:solidFill>
          <a:effectLst>
            <a:outerShdw blurRad="38100" dist="38100" dir="2700000" algn="tl">
              <a:srgbClr val="000000"/>
            </a:outerShdw>
          </a:effectLst>
          <a:latin typeface="+mn-lt"/>
        </a:defRPr>
      </a:lvl8pPr>
      <a:lvl9pPr marL="3886200" indent="-228600" algn="l" rtl="0" fontAlgn="base">
        <a:spcBef>
          <a:spcPct val="20000"/>
        </a:spcBef>
        <a:spcAft>
          <a:spcPct val="0"/>
        </a:spcAft>
        <a:buClr>
          <a:schemeClr val="tx1"/>
        </a:buClr>
        <a:buChar char="–"/>
        <a:defRPr sz="2000">
          <a:solidFill>
            <a:schemeClr val="tx1"/>
          </a:solidFill>
          <a:effectLst>
            <a:outerShdw blurRad="38100" dist="38100" dir="2700000" algn="tl">
              <a:srgbClr val="000000"/>
            </a:outerShdw>
          </a:effectLst>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mailto:shy@zju.edu.cn"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10510" y="106035"/>
            <a:ext cx="9144000" cy="1978496"/>
          </a:xfrm>
        </p:spPr>
        <p:txBody>
          <a:bodyPr/>
          <a:lstStyle/>
          <a:p>
            <a:pPr eaLnBrk="1" hangingPunct="1">
              <a:lnSpc>
                <a:spcPct val="150000"/>
              </a:lnSpc>
              <a:defRPr/>
            </a:pPr>
            <a:r>
              <a:rPr lang="zh-CN" altLang="en-US" b="1" i="0" dirty="0">
                <a:solidFill>
                  <a:schemeClr val="tx1"/>
                </a:solidFill>
                <a:effectLst/>
                <a:latin typeface="宋体" pitchFamily="2" charset="-122"/>
                <a:ea typeface="宋体" pitchFamily="2" charset="-122"/>
              </a:rPr>
              <a:t>土力学与工程地质</a:t>
            </a:r>
            <a:r>
              <a:rPr lang="en-US" altLang="zh-CN" sz="7200" b="1" dirty="0">
                <a:solidFill>
                  <a:schemeClr val="tx1"/>
                </a:solidFill>
                <a:latin typeface="宋体" pitchFamily="2" charset="-122"/>
                <a:ea typeface="宋体" pitchFamily="2" charset="-122"/>
              </a:rPr>
              <a:t/>
            </a:r>
            <a:br>
              <a:rPr lang="en-US" altLang="zh-CN" sz="7200" b="1" dirty="0">
                <a:solidFill>
                  <a:schemeClr val="tx1"/>
                </a:solidFill>
                <a:latin typeface="宋体" pitchFamily="2" charset="-122"/>
                <a:ea typeface="宋体" pitchFamily="2" charset="-122"/>
              </a:rPr>
            </a:br>
            <a:endParaRPr lang="zh-CN" altLang="en-US" sz="3600" b="1" dirty="0">
              <a:solidFill>
                <a:schemeClr val="tx1"/>
              </a:solidFill>
              <a:latin typeface="宋体" pitchFamily="2" charset="-122"/>
              <a:ea typeface="宋体" pitchFamily="2" charset="-122"/>
            </a:endParaRPr>
          </a:p>
        </p:txBody>
      </p:sp>
      <p:sp>
        <p:nvSpPr>
          <p:cNvPr id="26629" name="Rectangle 5"/>
          <p:cNvSpPr>
            <a:spLocks noGrp="1" noChangeArrowheads="1"/>
          </p:cNvSpPr>
          <p:nvPr>
            <p:ph type="body" idx="1"/>
          </p:nvPr>
        </p:nvSpPr>
        <p:spPr>
          <a:xfrm>
            <a:off x="323528" y="1484784"/>
            <a:ext cx="8784976" cy="3744416"/>
          </a:xfrm>
        </p:spPr>
        <p:txBody>
          <a:bodyPr/>
          <a:lstStyle/>
          <a:p>
            <a:pPr>
              <a:lnSpc>
                <a:spcPct val="200000"/>
              </a:lnSpc>
            </a:pPr>
            <a:r>
              <a:rPr lang="zh-CN" altLang="en-US" sz="2800" dirty="0">
                <a:latin typeface="宋体" pitchFamily="2" charset="-122"/>
                <a:ea typeface="宋体" pitchFamily="2" charset="-122"/>
                <a:sym typeface="+mn-ea"/>
              </a:rPr>
              <a:t>沈佳轶：副教授，从事海洋岩土工程教学与科学研究</a:t>
            </a:r>
          </a:p>
          <a:p>
            <a:pPr>
              <a:lnSpc>
                <a:spcPct val="200000"/>
              </a:lnSpc>
            </a:pPr>
            <a:r>
              <a:rPr lang="zh-CN" altLang="en-US" sz="2800" dirty="0" smtClean="0">
                <a:latin typeface="宋体" pitchFamily="2" charset="-122"/>
                <a:ea typeface="宋体" pitchFamily="2" charset="-122"/>
              </a:rPr>
              <a:t>梅</a:t>
            </a:r>
            <a:r>
              <a:rPr lang="zh-CN" altLang="en-US" sz="2800" dirty="0">
                <a:latin typeface="宋体" pitchFamily="2" charset="-122"/>
                <a:ea typeface="宋体" pitchFamily="2" charset="-122"/>
              </a:rPr>
              <a:t>国雄：教授，从事土力学教学与</a:t>
            </a:r>
            <a:r>
              <a:rPr lang="zh-CN" altLang="en-US" sz="2800" dirty="0" smtClean="0">
                <a:latin typeface="宋体" pitchFamily="2" charset="-122"/>
                <a:ea typeface="宋体" pitchFamily="2" charset="-122"/>
              </a:rPr>
              <a:t>科学研究</a:t>
            </a:r>
            <a:endParaRPr lang="en-US" altLang="zh-CN" sz="2800" dirty="0" smtClean="0">
              <a:latin typeface="宋体" pitchFamily="2" charset="-122"/>
              <a:ea typeface="宋体" pitchFamily="2" charset="-122"/>
            </a:endParaRPr>
          </a:p>
          <a:p>
            <a:pPr>
              <a:lnSpc>
                <a:spcPct val="200000"/>
              </a:lnSpc>
            </a:pPr>
            <a:r>
              <a:rPr lang="zh-CN" altLang="en-US" sz="2800" dirty="0">
                <a:latin typeface="宋体" pitchFamily="2" charset="-122"/>
                <a:ea typeface="宋体" pitchFamily="2" charset="-122"/>
              </a:rPr>
              <a:t>孙红月：教授，从事工程地质教学与</a:t>
            </a:r>
            <a:r>
              <a:rPr lang="zh-CN" altLang="en-US" sz="2800" dirty="0" smtClean="0">
                <a:latin typeface="宋体" pitchFamily="2" charset="-122"/>
                <a:ea typeface="宋体" pitchFamily="2" charset="-122"/>
              </a:rPr>
              <a:t>科学研究</a:t>
            </a:r>
            <a:endParaRPr lang="en-US" altLang="zh-CN" sz="2800" dirty="0" smtClean="0">
              <a:latin typeface="宋体" pitchFamily="2" charset="-122"/>
              <a:ea typeface="宋体" pitchFamily="2" charset="-122"/>
            </a:endParaRPr>
          </a:p>
          <a:p>
            <a:pPr>
              <a:lnSpc>
                <a:spcPct val="200000"/>
              </a:lnSpc>
            </a:pPr>
            <a:r>
              <a:rPr lang="zh-CN" altLang="en-US" sz="2800" dirty="0" smtClean="0">
                <a:latin typeface="宋体" pitchFamily="2" charset="-122"/>
                <a:ea typeface="宋体" pitchFamily="2" charset="-122"/>
              </a:rPr>
              <a:t>吴创周：</a:t>
            </a:r>
            <a:r>
              <a:rPr lang="zh-CN" altLang="en-US" sz="2800" dirty="0">
                <a:latin typeface="宋体" pitchFamily="2" charset="-122"/>
                <a:ea typeface="宋体" pitchFamily="2" charset="-122"/>
              </a:rPr>
              <a:t>教授，</a:t>
            </a:r>
            <a:r>
              <a:rPr lang="zh-CN" altLang="en-US" sz="2800" dirty="0" smtClean="0">
                <a:latin typeface="宋体" pitchFamily="2" charset="-122"/>
                <a:ea typeface="宋体" pitchFamily="2" charset="-122"/>
              </a:rPr>
              <a:t>从事岩土工程教学</a:t>
            </a:r>
            <a:r>
              <a:rPr lang="zh-CN" altLang="en-US" sz="2800" dirty="0">
                <a:latin typeface="宋体" pitchFamily="2" charset="-122"/>
                <a:ea typeface="宋体" pitchFamily="2" charset="-122"/>
              </a:rPr>
              <a:t>与科学研究</a:t>
            </a:r>
            <a:endParaRPr lang="en-US" altLang="zh-CN" sz="2800" dirty="0">
              <a:latin typeface="宋体" pitchFamily="2" charset="-122"/>
              <a:ea typeface="宋体" pitchFamily="2" charset="-122"/>
            </a:endParaRPr>
          </a:p>
          <a:p>
            <a:pPr>
              <a:lnSpc>
                <a:spcPct val="200000"/>
              </a:lnSpc>
            </a:pPr>
            <a:endParaRPr lang="zh-CN" altLang="en-US" sz="2800" dirty="0">
              <a:latin typeface="宋体" pitchFamily="2" charset="-122"/>
              <a:ea typeface="宋体" pitchFamily="2" charset="-122"/>
            </a:endParaRPr>
          </a:p>
        </p:txBody>
      </p:sp>
      <p:sp>
        <p:nvSpPr>
          <p:cNvPr id="2" name="文本框 1"/>
          <p:cNvSpPr txBox="1"/>
          <p:nvPr/>
        </p:nvSpPr>
        <p:spPr>
          <a:xfrm>
            <a:off x="323528" y="980728"/>
            <a:ext cx="2236511" cy="584775"/>
          </a:xfrm>
          <a:prstGeom prst="rect">
            <a:avLst/>
          </a:prstGeom>
          <a:noFill/>
        </p:spPr>
        <p:txBody>
          <a:bodyPr wrap="none" rtlCol="0">
            <a:spAutoFit/>
          </a:bodyPr>
          <a:lstStyle/>
          <a:p>
            <a:r>
              <a:rPr lang="zh-CN" altLang="en-US" sz="3200" dirty="0" smtClean="0"/>
              <a:t>任课老师：</a:t>
            </a:r>
            <a:endParaRPr lang="zh-CN" altLang="en-US" sz="3200" dirty="0"/>
          </a:p>
        </p:txBody>
      </p:sp>
      <p:sp>
        <p:nvSpPr>
          <p:cNvPr id="3" name="文本框 2"/>
          <p:cNvSpPr txBox="1"/>
          <p:nvPr/>
        </p:nvSpPr>
        <p:spPr>
          <a:xfrm>
            <a:off x="233772" y="5100585"/>
            <a:ext cx="8964488" cy="1446550"/>
          </a:xfrm>
          <a:prstGeom prst="rect">
            <a:avLst/>
          </a:prstGeom>
          <a:noFill/>
        </p:spPr>
        <p:txBody>
          <a:bodyPr wrap="square" rtlCol="0">
            <a:spAutoFit/>
          </a:bodyPr>
          <a:lstStyle/>
          <a:p>
            <a:pPr algn="l"/>
            <a:r>
              <a:rPr lang="zh-CN" altLang="en-US" sz="3200" dirty="0" smtClean="0"/>
              <a:t>教材：</a:t>
            </a:r>
            <a:endParaRPr lang="en-US" altLang="zh-CN" sz="3200" dirty="0" smtClean="0"/>
          </a:p>
          <a:p>
            <a:pPr algn="l"/>
            <a:r>
              <a:rPr lang="zh-CN" altLang="en-US" sz="2800" dirty="0"/>
              <a:t>土力</a:t>
            </a:r>
            <a:r>
              <a:rPr lang="zh-CN" altLang="en-US" sz="2800" dirty="0" smtClean="0"/>
              <a:t>学与工程地质，夏建中主编，浙江大学出版社，</a:t>
            </a:r>
            <a:r>
              <a:rPr lang="en-US" altLang="zh-CN" sz="2800" dirty="0" smtClean="0"/>
              <a:t>2012.11</a:t>
            </a:r>
            <a:endParaRPr lang="zh-CN" altLang="en-US" sz="2800" dirty="0"/>
          </a:p>
        </p:txBody>
      </p:sp>
    </p:spTree>
    <p:extLst>
      <p:ext uri="{BB962C8B-B14F-4D97-AF65-F5344CB8AC3E}">
        <p14:creationId xmlns:p14="http://schemas.microsoft.com/office/powerpoint/2010/main" val="272846165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2" name="Rectangle 2"/>
          <p:cNvSpPr>
            <a:spLocks noGrp="1" noChangeArrowheads="1"/>
          </p:cNvSpPr>
          <p:nvPr>
            <p:ph type="body" idx="1"/>
          </p:nvPr>
        </p:nvSpPr>
        <p:spPr>
          <a:xfrm>
            <a:off x="107504" y="383806"/>
            <a:ext cx="3024336" cy="2829170"/>
          </a:xfrm>
        </p:spPr>
        <p:txBody>
          <a:bodyPr/>
          <a:lstStyle/>
          <a:p>
            <a:pPr eaLnBrk="1" hangingPunct="1">
              <a:buFont typeface="Wingdings" pitchFamily="2" charset="2"/>
              <a:buNone/>
            </a:pPr>
            <a:r>
              <a:rPr kumimoji="1" lang="zh-CN" altLang="en-US">
                <a:solidFill>
                  <a:srgbClr val="FF0000"/>
                </a:solidFill>
                <a:effectLst/>
                <a:ea typeface="宋体" pitchFamily="2" charset="-122"/>
              </a:rPr>
              <a:t>地质学</a:t>
            </a:r>
            <a:r>
              <a:rPr kumimoji="1" lang="zh-CN" altLang="en-US" smtClean="0">
                <a:solidFill>
                  <a:srgbClr val="FF0000"/>
                </a:solidFill>
                <a:effectLst/>
                <a:ea typeface="宋体" pitchFamily="2" charset="-122"/>
              </a:rPr>
              <a:t>：</a:t>
            </a:r>
            <a:endParaRPr kumimoji="1" lang="en-US" altLang="zh-CN" smtClean="0">
              <a:solidFill>
                <a:srgbClr val="FF0000"/>
              </a:solidFill>
              <a:effectLst/>
              <a:ea typeface="宋体" pitchFamily="2" charset="-122"/>
            </a:endParaRPr>
          </a:p>
          <a:p>
            <a:pPr eaLnBrk="1" hangingPunct="1">
              <a:buFont typeface="Wingdings" pitchFamily="2" charset="2"/>
              <a:buNone/>
            </a:pPr>
            <a:r>
              <a:rPr kumimoji="1" lang="zh-CN" altLang="en-US" sz="3000" smtClean="0">
                <a:solidFill>
                  <a:schemeClr val="tx2"/>
                </a:solidFill>
                <a:effectLst/>
                <a:ea typeface="宋体" pitchFamily="2" charset="-122"/>
              </a:rPr>
              <a:t>研</a:t>
            </a:r>
            <a:r>
              <a:rPr kumimoji="1" lang="zh-CN" altLang="en-US" sz="3000">
                <a:solidFill>
                  <a:schemeClr val="tx2"/>
                </a:solidFill>
                <a:effectLst/>
                <a:ea typeface="宋体" pitchFamily="2" charset="-122"/>
              </a:rPr>
              <a:t>究地球的科学</a:t>
            </a:r>
            <a:r>
              <a:rPr kumimoji="1" lang="zh-CN" altLang="en-US" sz="3000" smtClean="0">
                <a:solidFill>
                  <a:schemeClr val="tx2"/>
                </a:solidFill>
                <a:effectLst/>
                <a:ea typeface="宋体" pitchFamily="2" charset="-122"/>
              </a:rPr>
              <a:t>。</a:t>
            </a:r>
            <a:endParaRPr kumimoji="1" lang="en-US" altLang="zh-CN" sz="3000" smtClean="0">
              <a:solidFill>
                <a:schemeClr val="tx2"/>
              </a:solidFill>
              <a:effectLst/>
              <a:ea typeface="宋体" pitchFamily="2" charset="-122"/>
            </a:endParaRPr>
          </a:p>
          <a:p>
            <a:pPr eaLnBrk="1" hangingPunct="1">
              <a:buFont typeface="Wingdings" pitchFamily="2" charset="2"/>
              <a:buNone/>
            </a:pPr>
            <a:r>
              <a:rPr kumimoji="1" lang="en-US" altLang="zh-CN" sz="3000">
                <a:solidFill>
                  <a:schemeClr val="tx2"/>
                </a:solidFill>
                <a:effectLst/>
                <a:ea typeface="宋体" pitchFamily="2" charset="-122"/>
              </a:rPr>
              <a:t> </a:t>
            </a:r>
            <a:r>
              <a:rPr kumimoji="1" lang="en-US" altLang="zh-CN" sz="3000" smtClean="0">
                <a:solidFill>
                  <a:schemeClr val="tx2"/>
                </a:solidFill>
                <a:effectLst/>
                <a:ea typeface="宋体" pitchFamily="2" charset="-122"/>
              </a:rPr>
              <a:t>   </a:t>
            </a:r>
            <a:r>
              <a:rPr kumimoji="1" lang="zh-CN" altLang="en-US" sz="3000" smtClean="0">
                <a:solidFill>
                  <a:schemeClr val="tx2"/>
                </a:solidFill>
                <a:effectLst/>
                <a:ea typeface="宋体" pitchFamily="2" charset="-122"/>
              </a:rPr>
              <a:t>研究地球的组成、构造及其形成演化规律并利用这些规律为人类社会服务。</a:t>
            </a:r>
            <a:endParaRPr kumimoji="1" lang="en-US" altLang="zh-CN" sz="3000">
              <a:solidFill>
                <a:schemeClr val="tx2"/>
              </a:solidFill>
              <a:effectLst/>
              <a:ea typeface="宋体" pitchFamily="2" charset="-122"/>
            </a:endParaRPr>
          </a:p>
          <a:p>
            <a:pPr eaLnBrk="1" hangingPunct="1">
              <a:buFont typeface="Wingdings" pitchFamily="2" charset="2"/>
              <a:buNone/>
            </a:pPr>
            <a:endParaRPr kumimoji="1" lang="zh-CN" altLang="en-US" sz="3000" dirty="0">
              <a:solidFill>
                <a:schemeClr val="tx2"/>
              </a:solidFill>
              <a:effectLst/>
              <a:ea typeface="宋体" pitchFamily="2" charset="-122"/>
            </a:endParaRPr>
          </a:p>
        </p:txBody>
      </p:sp>
      <p:graphicFrame>
        <p:nvGraphicFramePr>
          <p:cNvPr id="7" name="Object 4"/>
          <p:cNvGraphicFramePr>
            <a:graphicFrameLocks noChangeAspect="1"/>
          </p:cNvGraphicFramePr>
          <p:nvPr>
            <p:extLst>
              <p:ext uri="{D42A27DB-BD31-4B8C-83A1-F6EECF244321}">
                <p14:modId xmlns:p14="http://schemas.microsoft.com/office/powerpoint/2010/main" val="135796980"/>
              </p:ext>
            </p:extLst>
          </p:nvPr>
        </p:nvGraphicFramePr>
        <p:xfrm>
          <a:off x="3347864" y="908720"/>
          <a:ext cx="5544616" cy="5709831"/>
        </p:xfrm>
        <a:graphic>
          <a:graphicData uri="http://schemas.openxmlformats.org/presentationml/2006/ole">
            <mc:AlternateContent xmlns:mc="http://schemas.openxmlformats.org/markup-compatibility/2006">
              <mc:Choice xmlns:v="urn:schemas-microsoft-com:vml" Requires="v">
                <p:oleObj spid="_x0000_s1044" name="Image" r:id="rId3" imgW="5654783" imgH="5743735" progId="">
                  <p:embed/>
                </p:oleObj>
              </mc:Choice>
              <mc:Fallback>
                <p:oleObj name="Image" r:id="rId3" imgW="5654783" imgH="5743735" progId="">
                  <p:embed/>
                  <p:pic>
                    <p:nvPicPr>
                      <p:cNvPr id="1026"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47864" y="908720"/>
                        <a:ext cx="5544616" cy="5709831"/>
                      </a:xfrm>
                      <a:prstGeom prst="rect">
                        <a:avLst/>
                      </a:prstGeom>
                      <a:noFill/>
                      <a:extLst/>
                    </p:spPr>
                  </p:pic>
                </p:oleObj>
              </mc:Fallback>
            </mc:AlternateContent>
          </a:graphicData>
        </a:graphic>
      </p:graphicFrame>
      <p:sp>
        <p:nvSpPr>
          <p:cNvPr id="5" name="文本框 4"/>
          <p:cNvSpPr txBox="1"/>
          <p:nvPr/>
        </p:nvSpPr>
        <p:spPr>
          <a:xfrm>
            <a:off x="323528" y="4725144"/>
            <a:ext cx="2664296" cy="1815882"/>
          </a:xfrm>
          <a:prstGeom prst="rect">
            <a:avLst/>
          </a:prstGeom>
          <a:noFill/>
        </p:spPr>
        <p:txBody>
          <a:bodyPr wrap="square" rtlCol="0">
            <a:spAutoFit/>
          </a:bodyPr>
          <a:lstStyle/>
          <a:p>
            <a:r>
              <a:rPr lang="zh-CN" altLang="en-US" sz="2800" smtClean="0"/>
              <a:t>重点研究地壳。服务</a:t>
            </a:r>
            <a:r>
              <a:rPr lang="zh-CN" altLang="en-US" sz="2800"/>
              <a:t>对</a:t>
            </a:r>
            <a:r>
              <a:rPr lang="zh-CN" altLang="en-US" sz="2800" smtClean="0"/>
              <a:t>象为矿产、能源、环境和灾害等。</a:t>
            </a:r>
            <a:endParaRPr lang="zh-CN" altLang="en-US" sz="2800"/>
          </a:p>
        </p:txBody>
      </p:sp>
      <p:sp>
        <p:nvSpPr>
          <p:cNvPr id="8" name="文本框 7"/>
          <p:cNvSpPr txBox="1"/>
          <p:nvPr/>
        </p:nvSpPr>
        <p:spPr>
          <a:xfrm>
            <a:off x="2987824" y="116632"/>
            <a:ext cx="3672408" cy="646331"/>
          </a:xfrm>
          <a:prstGeom prst="rect">
            <a:avLst/>
          </a:prstGeom>
          <a:noFill/>
        </p:spPr>
        <p:txBody>
          <a:bodyPr wrap="square" rtlCol="0">
            <a:spAutoFit/>
          </a:bodyPr>
          <a:lstStyle/>
          <a:p>
            <a:r>
              <a:rPr lang="zh-CN" altLang="en-US" sz="3600" smtClean="0"/>
              <a:t>第</a:t>
            </a:r>
            <a:r>
              <a:rPr lang="en-US" altLang="zh-CN" sz="3600" smtClean="0"/>
              <a:t>1</a:t>
            </a:r>
            <a:r>
              <a:rPr lang="zh-CN" altLang="en-US" sz="3600" smtClean="0"/>
              <a:t>章 概述</a:t>
            </a:r>
            <a:endParaRPr lang="zh-CN" altLang="en-US" sz="3600"/>
          </a:p>
        </p:txBody>
      </p:sp>
      <p:sp>
        <p:nvSpPr>
          <p:cNvPr id="10" name="文本框 9"/>
          <p:cNvSpPr txBox="1"/>
          <p:nvPr/>
        </p:nvSpPr>
        <p:spPr>
          <a:xfrm>
            <a:off x="3779912" y="4869160"/>
            <a:ext cx="720080" cy="288032"/>
          </a:xfrm>
          <a:prstGeom prst="rect">
            <a:avLst/>
          </a:prstGeom>
          <a:noFill/>
        </p:spPr>
        <p:txBody>
          <a:bodyPr wrap="square" rtlCol="0">
            <a:spAutoFit/>
          </a:bodyPr>
          <a:lstStyle/>
          <a:p>
            <a:r>
              <a:rPr lang="zh-CN" altLang="en-US" sz="1200" smtClean="0"/>
              <a:t>平均</a:t>
            </a:r>
            <a:r>
              <a:rPr lang="en-US" altLang="zh-CN" sz="1200" smtClean="0">
                <a:latin typeface="仿宋" panose="02010609060101010101" pitchFamily="49" charset="-122"/>
                <a:ea typeface="仿宋" panose="02010609060101010101" pitchFamily="49" charset="-122"/>
              </a:rPr>
              <a:t>7Km</a:t>
            </a:r>
            <a:endParaRPr lang="zh-CN" altLang="en-US" sz="1200">
              <a:latin typeface="仿宋" panose="02010609060101010101" pitchFamily="49" charset="-122"/>
              <a:ea typeface="仿宋" panose="02010609060101010101" pitchFamily="49" charset="-122"/>
            </a:endParaRPr>
          </a:p>
        </p:txBody>
      </p:sp>
    </p:spTree>
    <p:extLst>
      <p:ext uri="{BB962C8B-B14F-4D97-AF65-F5344CB8AC3E}">
        <p14:creationId xmlns:p14="http://schemas.microsoft.com/office/powerpoint/2010/main" val="349835337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2" name="Rectangle 2"/>
          <p:cNvSpPr>
            <a:spLocks noGrp="1" noChangeArrowheads="1"/>
          </p:cNvSpPr>
          <p:nvPr>
            <p:ph type="body" idx="1"/>
          </p:nvPr>
        </p:nvSpPr>
        <p:spPr>
          <a:xfrm>
            <a:off x="179512" y="527612"/>
            <a:ext cx="8784976" cy="2451195"/>
          </a:xfrm>
        </p:spPr>
        <p:txBody>
          <a:bodyPr/>
          <a:lstStyle/>
          <a:p>
            <a:pPr eaLnBrk="1" hangingPunct="1">
              <a:buFont typeface="Wingdings" pitchFamily="2" charset="2"/>
              <a:buNone/>
            </a:pPr>
            <a:r>
              <a:rPr kumimoji="1" lang="zh-CN" altLang="en-US" smtClean="0">
                <a:solidFill>
                  <a:srgbClr val="FF0000"/>
                </a:solidFill>
                <a:effectLst/>
                <a:ea typeface="宋体" pitchFamily="2" charset="-122"/>
              </a:rPr>
              <a:t>工</a:t>
            </a:r>
            <a:r>
              <a:rPr kumimoji="1" lang="zh-CN" altLang="en-US" dirty="0">
                <a:solidFill>
                  <a:srgbClr val="FF0000"/>
                </a:solidFill>
                <a:effectLst/>
                <a:ea typeface="宋体" pitchFamily="2" charset="-122"/>
              </a:rPr>
              <a:t>程地质学</a:t>
            </a:r>
            <a:r>
              <a:rPr kumimoji="1" lang="zh-CN" altLang="en-US" sz="2800" dirty="0">
                <a:solidFill>
                  <a:srgbClr val="FF0000"/>
                </a:solidFill>
                <a:effectLst/>
                <a:ea typeface="宋体" pitchFamily="2" charset="-122"/>
              </a:rPr>
              <a:t>：</a:t>
            </a:r>
            <a:r>
              <a:rPr kumimoji="1" lang="zh-CN" altLang="en-US" sz="3000">
                <a:solidFill>
                  <a:schemeClr val="tx2"/>
                </a:solidFill>
                <a:effectLst/>
                <a:ea typeface="宋体" pitchFamily="2" charset="-122"/>
              </a:rPr>
              <a:t>主</a:t>
            </a:r>
            <a:r>
              <a:rPr kumimoji="1" lang="zh-CN" altLang="en-US" sz="3000" smtClean="0">
                <a:solidFill>
                  <a:schemeClr val="tx2"/>
                </a:solidFill>
                <a:effectLst/>
                <a:ea typeface="宋体" pitchFamily="2" charset="-122"/>
              </a:rPr>
              <a:t>要研</a:t>
            </a:r>
            <a:r>
              <a:rPr kumimoji="1" lang="zh-CN" altLang="en-US" sz="3000" dirty="0">
                <a:solidFill>
                  <a:schemeClr val="tx2"/>
                </a:solidFill>
                <a:effectLst/>
                <a:ea typeface="宋体" pitchFamily="2" charset="-122"/>
              </a:rPr>
              <a:t>究与工程建设有关的地质</a:t>
            </a:r>
            <a:r>
              <a:rPr kumimoji="1" lang="zh-CN" altLang="en-US" sz="3000">
                <a:solidFill>
                  <a:schemeClr val="tx2"/>
                </a:solidFill>
                <a:effectLst/>
                <a:ea typeface="宋体" pitchFamily="2" charset="-122"/>
              </a:rPr>
              <a:t>问</a:t>
            </a:r>
            <a:r>
              <a:rPr kumimoji="1" lang="zh-CN" altLang="en-US" sz="3000" smtClean="0">
                <a:solidFill>
                  <a:schemeClr val="tx2"/>
                </a:solidFill>
                <a:effectLst/>
                <a:ea typeface="宋体" pitchFamily="2" charset="-122"/>
              </a:rPr>
              <a:t>题。</a:t>
            </a:r>
            <a:endParaRPr kumimoji="1" lang="en-US" altLang="zh-CN" sz="3000" dirty="0">
              <a:solidFill>
                <a:schemeClr val="tx2"/>
              </a:solidFill>
              <a:effectLst/>
              <a:ea typeface="宋体" pitchFamily="2" charset="-122"/>
            </a:endParaRPr>
          </a:p>
          <a:p>
            <a:pPr eaLnBrk="1" hangingPunct="1">
              <a:buNone/>
            </a:pPr>
            <a:r>
              <a:rPr kumimoji="1" lang="zh-CN" altLang="en-US" smtClean="0">
                <a:solidFill>
                  <a:srgbClr val="FF0000"/>
                </a:solidFill>
                <a:effectLst/>
                <a:ea typeface="宋体" pitchFamily="2" charset="-122"/>
              </a:rPr>
              <a:t>土</a:t>
            </a:r>
            <a:r>
              <a:rPr kumimoji="1" lang="zh-CN" altLang="en-US" dirty="0">
                <a:solidFill>
                  <a:srgbClr val="FF0000"/>
                </a:solidFill>
                <a:effectLst/>
                <a:ea typeface="宋体" pitchFamily="2" charset="-122"/>
              </a:rPr>
              <a:t>力学：</a:t>
            </a:r>
            <a:r>
              <a:rPr kumimoji="1" lang="zh-CN" altLang="en-US" sz="3000" dirty="0">
                <a:solidFill>
                  <a:schemeClr val="tx2"/>
                </a:solidFill>
                <a:effectLst/>
                <a:ea typeface="宋体" pitchFamily="2" charset="-122"/>
              </a:rPr>
              <a:t>是利用力学的知识和土工试验技术来研究土的强度、变形和渗透性规律的一门科学。</a:t>
            </a:r>
          </a:p>
          <a:p>
            <a:pPr eaLnBrk="1" hangingPunct="1">
              <a:buFont typeface="Wingdings" pitchFamily="2" charset="2"/>
              <a:buNone/>
            </a:pPr>
            <a:endParaRPr kumimoji="1" lang="zh-CN" altLang="en-US" sz="3000" dirty="0">
              <a:solidFill>
                <a:schemeClr val="tx2"/>
              </a:solidFill>
              <a:effectLst/>
              <a:ea typeface="宋体" pitchFamily="2" charset="-122"/>
            </a:endParaRPr>
          </a:p>
        </p:txBody>
      </p:sp>
      <p:sp>
        <p:nvSpPr>
          <p:cNvPr id="2" name="TextBox 1"/>
          <p:cNvSpPr txBox="1"/>
          <p:nvPr/>
        </p:nvSpPr>
        <p:spPr>
          <a:xfrm>
            <a:off x="1043608" y="4653136"/>
            <a:ext cx="6120680" cy="1077218"/>
          </a:xfrm>
          <a:prstGeom prst="rect">
            <a:avLst/>
          </a:prstGeom>
          <a:noFill/>
        </p:spPr>
        <p:txBody>
          <a:bodyPr wrap="square" rtlCol="0">
            <a:spAutoFit/>
          </a:bodyPr>
          <a:lstStyle/>
          <a:p>
            <a:r>
              <a:rPr lang="zh-CN" altLang="en-US" sz="2800" dirty="0" smtClean="0"/>
              <a:t>研究对象：工程地质          </a:t>
            </a:r>
            <a:r>
              <a:rPr kumimoji="1" lang="zh-CN" altLang="en-US" sz="3200" dirty="0">
                <a:solidFill>
                  <a:srgbClr val="FF0000"/>
                </a:solidFill>
                <a:latin typeface="+mn-lt"/>
                <a:ea typeface="宋体" pitchFamily="2" charset="-122"/>
              </a:rPr>
              <a:t>地质体</a:t>
            </a:r>
            <a:endParaRPr kumimoji="1" lang="en-US" altLang="zh-CN" sz="3200" dirty="0">
              <a:solidFill>
                <a:srgbClr val="FF0000"/>
              </a:solidFill>
              <a:latin typeface="+mn-lt"/>
              <a:ea typeface="宋体" pitchFamily="2" charset="-122"/>
            </a:endParaRPr>
          </a:p>
          <a:p>
            <a:r>
              <a:rPr lang="zh-CN" altLang="en-US" sz="2800" dirty="0" smtClean="0"/>
              <a:t>             土力学            </a:t>
            </a:r>
            <a:r>
              <a:rPr kumimoji="1" lang="zh-CN" altLang="en-US" sz="3200" dirty="0">
                <a:solidFill>
                  <a:srgbClr val="FF0000"/>
                </a:solidFill>
                <a:latin typeface="+mn-lt"/>
                <a:ea typeface="宋体" pitchFamily="2" charset="-122"/>
              </a:rPr>
              <a:t>土体</a:t>
            </a:r>
          </a:p>
        </p:txBody>
      </p:sp>
      <p:cxnSp>
        <p:nvCxnSpPr>
          <p:cNvPr id="4" name="直接箭头连接符 3"/>
          <p:cNvCxnSpPr/>
          <p:nvPr/>
        </p:nvCxnSpPr>
        <p:spPr bwMode="auto">
          <a:xfrm>
            <a:off x="4572000" y="5445224"/>
            <a:ext cx="648072" cy="0"/>
          </a:xfrm>
          <a:prstGeom prst="straightConnector1">
            <a:avLst/>
          </a:prstGeom>
          <a:solidFill>
            <a:schemeClr val="accent1"/>
          </a:solidFill>
          <a:ln w="12700" cap="sq" cmpd="sng" algn="ctr">
            <a:solidFill>
              <a:schemeClr val="tx1"/>
            </a:solidFill>
            <a:prstDash val="solid"/>
            <a:round/>
            <a:headEnd type="none" w="sm" len="sm"/>
            <a:tailEnd type="arrow"/>
          </a:ln>
          <a:effectLst/>
        </p:spPr>
      </p:cxnSp>
      <p:cxnSp>
        <p:nvCxnSpPr>
          <p:cNvPr id="6" name="直接箭头连接符 5"/>
          <p:cNvCxnSpPr/>
          <p:nvPr/>
        </p:nvCxnSpPr>
        <p:spPr bwMode="auto">
          <a:xfrm>
            <a:off x="4747757" y="4941168"/>
            <a:ext cx="648072" cy="0"/>
          </a:xfrm>
          <a:prstGeom prst="straightConnector1">
            <a:avLst/>
          </a:prstGeom>
          <a:solidFill>
            <a:schemeClr val="accent1"/>
          </a:solidFill>
          <a:ln w="12700" cap="sq" cmpd="sng" algn="ctr">
            <a:solidFill>
              <a:schemeClr val="tx1"/>
            </a:solidFill>
            <a:prstDash val="solid"/>
            <a:round/>
            <a:headEnd type="none" w="sm" len="sm"/>
            <a:tailEnd type="arrow"/>
          </a:ln>
          <a:effectLst/>
        </p:spPr>
      </p:cxnSp>
      <p:sp>
        <p:nvSpPr>
          <p:cNvPr id="3" name="文本框 2"/>
          <p:cNvSpPr txBox="1"/>
          <p:nvPr/>
        </p:nvSpPr>
        <p:spPr>
          <a:xfrm>
            <a:off x="503548" y="3415821"/>
            <a:ext cx="8136904" cy="523220"/>
          </a:xfrm>
          <a:prstGeom prst="rect">
            <a:avLst/>
          </a:prstGeom>
          <a:noFill/>
        </p:spPr>
        <p:txBody>
          <a:bodyPr wrap="square" rtlCol="0">
            <a:spAutoFit/>
          </a:bodyPr>
          <a:lstStyle/>
          <a:p>
            <a:r>
              <a:rPr lang="zh-CN" altLang="en-US" sz="2800" smtClean="0"/>
              <a:t>对岩土体变形破坏进行定性分析和力学定量计算。</a:t>
            </a:r>
            <a:endParaRPr lang="zh-CN" altLang="en-US" sz="2800"/>
          </a:p>
        </p:txBody>
      </p:sp>
    </p:spTree>
    <p:extLst>
      <p:ext uri="{BB962C8B-B14F-4D97-AF65-F5344CB8AC3E}">
        <p14:creationId xmlns:p14="http://schemas.microsoft.com/office/powerpoint/2010/main" val="20374874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3" name="Rectangle 3"/>
          <p:cNvSpPr>
            <a:spLocks noGrp="1" noChangeArrowheads="1"/>
          </p:cNvSpPr>
          <p:nvPr>
            <p:ph type="body" idx="1"/>
          </p:nvPr>
        </p:nvSpPr>
        <p:spPr>
          <a:xfrm>
            <a:off x="323850" y="260351"/>
            <a:ext cx="8712646" cy="5472906"/>
          </a:xfrm>
          <a:noFill/>
          <a:ln w="9525"/>
        </p:spPr>
        <p:txBody>
          <a:bodyPr/>
          <a:lstStyle/>
          <a:p>
            <a:pPr>
              <a:buFont typeface="Wingdings" pitchFamily="2" charset="2"/>
              <a:buNone/>
            </a:pPr>
            <a:r>
              <a:rPr kumimoji="1" lang="zh-CN" altLang="en-US" smtClean="0">
                <a:effectLst/>
                <a:ea typeface="宋体" pitchFamily="2" charset="-122"/>
              </a:rPr>
              <a:t>工程地质具</a:t>
            </a:r>
            <a:r>
              <a:rPr kumimoji="1" lang="zh-CN" altLang="en-US" dirty="0" smtClean="0">
                <a:effectLst/>
                <a:ea typeface="宋体" pitchFamily="2" charset="-122"/>
              </a:rPr>
              <a:t>体</a:t>
            </a:r>
            <a:r>
              <a:rPr kumimoji="1" lang="zh-CN" altLang="en-US" dirty="0">
                <a:effectLst/>
                <a:ea typeface="宋体" pitchFamily="2" charset="-122"/>
              </a:rPr>
              <a:t>研究</a:t>
            </a:r>
            <a:r>
              <a:rPr kumimoji="1" lang="zh-CN" altLang="en-US" b="1" dirty="0">
                <a:effectLst/>
                <a:ea typeface="宋体" pitchFamily="2" charset="-122"/>
              </a:rPr>
              <a:t>内</a:t>
            </a:r>
            <a:r>
              <a:rPr kumimoji="1" lang="zh-CN" altLang="en-US" b="1">
                <a:effectLst/>
                <a:ea typeface="宋体" pitchFamily="2" charset="-122"/>
              </a:rPr>
              <a:t>容</a:t>
            </a:r>
            <a:r>
              <a:rPr kumimoji="1" lang="zh-CN" altLang="en-US" smtClean="0">
                <a:effectLst/>
                <a:ea typeface="宋体" pitchFamily="2" charset="-122"/>
              </a:rPr>
              <a:t>：</a:t>
            </a:r>
            <a:endParaRPr kumimoji="1" lang="zh-CN" altLang="en-US" dirty="0">
              <a:effectLst/>
              <a:ea typeface="宋体" pitchFamily="2" charset="-122"/>
            </a:endParaRPr>
          </a:p>
          <a:p>
            <a:pPr>
              <a:buFont typeface="Wingdings" pitchFamily="2" charset="2"/>
              <a:buNone/>
            </a:pPr>
            <a:r>
              <a:rPr lang="en-US" altLang="zh-CN" sz="2400" b="1" dirty="0">
                <a:effectLst/>
                <a:ea typeface="宋体" pitchFamily="2" charset="-122"/>
              </a:rPr>
              <a:t>    </a:t>
            </a:r>
            <a:r>
              <a:rPr lang="en-US" altLang="zh-CN" sz="2400" dirty="0">
                <a:effectLst/>
                <a:ea typeface="宋体" pitchFamily="2" charset="-122"/>
              </a:rPr>
              <a:t>1</a:t>
            </a:r>
            <a:r>
              <a:rPr lang="zh-CN" altLang="en-US" sz="2400" dirty="0">
                <a:effectLst/>
                <a:ea typeface="宋体" pitchFamily="2" charset="-122"/>
              </a:rPr>
              <a:t>）确定</a:t>
            </a:r>
            <a:r>
              <a:rPr lang="zh-CN" altLang="en-US" sz="2400" dirty="0">
                <a:solidFill>
                  <a:srgbClr val="FF0000"/>
                </a:solidFill>
                <a:effectLst/>
                <a:ea typeface="宋体" pitchFamily="2" charset="-122"/>
              </a:rPr>
              <a:t>岩土组分、结构、物理力学性质</a:t>
            </a:r>
            <a:r>
              <a:rPr lang="zh-CN" altLang="en-US" sz="2400" dirty="0">
                <a:effectLst/>
                <a:ea typeface="宋体" pitchFamily="2" charset="-122"/>
              </a:rPr>
              <a:t>及其对工程稳定性的影响；</a:t>
            </a:r>
          </a:p>
          <a:p>
            <a:pPr>
              <a:buFont typeface="Wingdings" pitchFamily="2" charset="2"/>
              <a:buNone/>
            </a:pPr>
            <a:r>
              <a:rPr lang="zh-CN" altLang="en-US" sz="2400" dirty="0">
                <a:effectLst/>
                <a:ea typeface="宋体" pitchFamily="2" charset="-122"/>
              </a:rPr>
              <a:t>    </a:t>
            </a:r>
            <a:r>
              <a:rPr lang="en-US" altLang="zh-CN" sz="2400" dirty="0">
                <a:effectLst/>
                <a:ea typeface="宋体" pitchFamily="2" charset="-122"/>
              </a:rPr>
              <a:t>2</a:t>
            </a:r>
            <a:r>
              <a:rPr lang="zh-CN" altLang="en-US" sz="2400" dirty="0">
                <a:effectLst/>
                <a:ea typeface="宋体" pitchFamily="2" charset="-122"/>
              </a:rPr>
              <a:t>）研究崩塌、滑坡、泥石流及地震等</a:t>
            </a:r>
            <a:r>
              <a:rPr lang="zh-CN" altLang="en-US" sz="2400" dirty="0">
                <a:solidFill>
                  <a:srgbClr val="FF0000"/>
                </a:solidFill>
                <a:effectLst/>
                <a:ea typeface="宋体" pitchFamily="2" charset="-122"/>
              </a:rPr>
              <a:t>地质灾害</a:t>
            </a:r>
            <a:r>
              <a:rPr lang="zh-CN" altLang="en-US" sz="2400" dirty="0">
                <a:effectLst/>
                <a:ea typeface="宋体" pitchFamily="2" charset="-122"/>
              </a:rPr>
              <a:t>对工程建筑的危害及其预测、评价和防治措施；</a:t>
            </a:r>
          </a:p>
          <a:p>
            <a:pPr>
              <a:buFont typeface="Wingdings" pitchFamily="2" charset="2"/>
              <a:buNone/>
            </a:pPr>
            <a:r>
              <a:rPr lang="zh-CN" altLang="en-US" sz="2400" dirty="0">
                <a:effectLst/>
                <a:ea typeface="宋体" pitchFamily="2" charset="-122"/>
              </a:rPr>
              <a:t>    </a:t>
            </a:r>
            <a:r>
              <a:rPr lang="en-US" altLang="zh-CN" sz="2400" dirty="0">
                <a:effectLst/>
                <a:ea typeface="宋体" pitchFamily="2" charset="-122"/>
              </a:rPr>
              <a:t>3</a:t>
            </a:r>
            <a:r>
              <a:rPr lang="zh-CN" altLang="en-US" sz="2400" dirty="0">
                <a:effectLst/>
                <a:ea typeface="宋体" pitchFamily="2" charset="-122"/>
              </a:rPr>
              <a:t>）研究解决各类工程（房屋、道路、桥墩、大坝、硐室等）建筑中的</a:t>
            </a:r>
            <a:r>
              <a:rPr lang="zh-CN" altLang="en-US" sz="2400" dirty="0">
                <a:solidFill>
                  <a:srgbClr val="FF0000"/>
                </a:solidFill>
                <a:effectLst/>
                <a:ea typeface="宋体" pitchFamily="2" charset="-122"/>
              </a:rPr>
              <a:t>地基、边坡和围岩的稳定性</a:t>
            </a:r>
            <a:r>
              <a:rPr lang="zh-CN" altLang="en-US" sz="2400" dirty="0">
                <a:effectLst/>
                <a:ea typeface="宋体" pitchFamily="2" charset="-122"/>
              </a:rPr>
              <a:t>，直接为各类工程的设计、施工提供地质依据；</a:t>
            </a:r>
          </a:p>
          <a:p>
            <a:pPr>
              <a:buFont typeface="Wingdings" pitchFamily="2" charset="2"/>
              <a:buNone/>
            </a:pPr>
            <a:r>
              <a:rPr lang="en-US" altLang="zh-CN" sz="2400" b="1" dirty="0">
                <a:effectLst/>
                <a:ea typeface="宋体" pitchFamily="2" charset="-122"/>
              </a:rPr>
              <a:t>    </a:t>
            </a:r>
            <a:r>
              <a:rPr lang="en-US" altLang="zh-CN" sz="2400" dirty="0">
                <a:effectLst/>
                <a:ea typeface="宋体" pitchFamily="2" charset="-122"/>
              </a:rPr>
              <a:t>4</a:t>
            </a:r>
            <a:r>
              <a:rPr lang="zh-CN" altLang="en-US" sz="2400" dirty="0">
                <a:effectLst/>
                <a:ea typeface="宋体" pitchFamily="2" charset="-122"/>
              </a:rPr>
              <a:t>）研究建筑场区</a:t>
            </a:r>
            <a:r>
              <a:rPr lang="zh-CN" altLang="en-US" sz="2400" dirty="0">
                <a:solidFill>
                  <a:srgbClr val="FF0000"/>
                </a:solidFill>
                <a:effectLst/>
                <a:ea typeface="宋体" pitchFamily="2" charset="-122"/>
              </a:rPr>
              <a:t>地下水的赋存、分布、运动规律</a:t>
            </a:r>
            <a:r>
              <a:rPr lang="zh-CN" altLang="en-US" sz="2400" dirty="0">
                <a:effectLst/>
                <a:ea typeface="宋体" pitchFamily="2" charset="-122"/>
              </a:rPr>
              <a:t>及其对工程建筑的影响，制定必要的防护方案；</a:t>
            </a:r>
          </a:p>
          <a:p>
            <a:pPr>
              <a:buFont typeface="Wingdings" pitchFamily="2" charset="2"/>
              <a:buNone/>
            </a:pPr>
            <a:r>
              <a:rPr lang="zh-CN" altLang="en-US" sz="2400" dirty="0">
                <a:effectLst/>
                <a:ea typeface="宋体" pitchFamily="2" charset="-122"/>
              </a:rPr>
              <a:t>    </a:t>
            </a:r>
            <a:r>
              <a:rPr lang="en-US" altLang="zh-CN" sz="2400" dirty="0">
                <a:effectLst/>
                <a:ea typeface="宋体" pitchFamily="2" charset="-122"/>
              </a:rPr>
              <a:t>5</a:t>
            </a:r>
            <a:r>
              <a:rPr lang="zh-CN" altLang="en-US" sz="2400" dirty="0">
                <a:effectLst/>
                <a:ea typeface="宋体" pitchFamily="2" charset="-122"/>
              </a:rPr>
              <a:t>）研究区域工程地质条件的特征，进行</a:t>
            </a:r>
            <a:r>
              <a:rPr lang="zh-CN" altLang="en-US" sz="2400" dirty="0">
                <a:solidFill>
                  <a:srgbClr val="FF0000"/>
                </a:solidFill>
                <a:effectLst/>
                <a:ea typeface="宋体" pitchFamily="2" charset="-122"/>
              </a:rPr>
              <a:t>区域稳定性</a:t>
            </a:r>
            <a:r>
              <a:rPr lang="zh-CN" altLang="en-US" sz="2400" dirty="0">
                <a:effectLst/>
                <a:ea typeface="宋体" pitchFamily="2" charset="-122"/>
              </a:rPr>
              <a:t>评价和工程地质分区；</a:t>
            </a:r>
          </a:p>
          <a:p>
            <a:pPr>
              <a:buFont typeface="Wingdings" pitchFamily="2" charset="2"/>
              <a:buNone/>
            </a:pPr>
            <a:r>
              <a:rPr lang="zh-CN" altLang="en-US" sz="2400" dirty="0">
                <a:effectLst/>
                <a:ea typeface="宋体" pitchFamily="2" charset="-122"/>
              </a:rPr>
              <a:t>    </a:t>
            </a:r>
            <a:r>
              <a:rPr lang="en-US" altLang="zh-CN" sz="2400" dirty="0">
                <a:effectLst/>
                <a:ea typeface="宋体" pitchFamily="2" charset="-122"/>
              </a:rPr>
              <a:t>6</a:t>
            </a:r>
            <a:r>
              <a:rPr lang="zh-CN" altLang="en-US" sz="2400" dirty="0">
                <a:effectLst/>
                <a:ea typeface="宋体" pitchFamily="2" charset="-122"/>
              </a:rPr>
              <a:t>）研究</a:t>
            </a:r>
            <a:r>
              <a:rPr lang="zh-CN" altLang="en-US" sz="2400" dirty="0">
                <a:solidFill>
                  <a:srgbClr val="FF0000"/>
                </a:solidFill>
                <a:effectLst/>
                <a:ea typeface="宋体" pitchFamily="2" charset="-122"/>
              </a:rPr>
              <a:t>人类工程活动</a:t>
            </a:r>
            <a:r>
              <a:rPr lang="zh-CN" altLang="en-US" sz="2400" dirty="0">
                <a:effectLst/>
                <a:ea typeface="宋体" pitchFamily="2" charset="-122"/>
              </a:rPr>
              <a:t>对自然环境平衡状态的破坏。</a:t>
            </a:r>
            <a:endParaRPr kumimoji="1" lang="zh-CN" altLang="en-US" sz="2400" dirty="0">
              <a:effectLst/>
              <a:ea typeface="宋体" pitchFamily="2" charset="-122"/>
            </a:endParaRPr>
          </a:p>
          <a:p>
            <a:pPr marL="0" indent="0">
              <a:buNone/>
            </a:pPr>
            <a:r>
              <a:rPr lang="zh-CN" altLang="en-US" sz="2800" b="1" dirty="0">
                <a:latin typeface="宋体" pitchFamily="2" charset="-122"/>
                <a:ea typeface="宋体" pitchFamily="2" charset="-122"/>
              </a:rPr>
              <a:t>参考资</a:t>
            </a:r>
            <a:r>
              <a:rPr lang="zh-CN" altLang="en-US" sz="2800" b="1">
                <a:latin typeface="宋体" pitchFamily="2" charset="-122"/>
                <a:ea typeface="宋体" pitchFamily="2" charset="-122"/>
              </a:rPr>
              <a:t>料</a:t>
            </a:r>
            <a:r>
              <a:rPr lang="zh-CN" altLang="en-US" sz="2800" b="1" smtClean="0">
                <a:latin typeface="宋体" pitchFamily="2" charset="-122"/>
                <a:ea typeface="宋体" pitchFamily="2" charset="-122"/>
              </a:rPr>
              <a:t>：</a:t>
            </a:r>
            <a:endParaRPr lang="en-US" altLang="zh-CN" sz="2800" b="1" smtClean="0">
              <a:latin typeface="宋体" pitchFamily="2" charset="-122"/>
              <a:ea typeface="宋体" pitchFamily="2" charset="-122"/>
            </a:endParaRPr>
          </a:p>
          <a:p>
            <a:pPr marL="0" indent="0">
              <a:buNone/>
            </a:pPr>
            <a:r>
              <a:rPr lang="zh-CN" altLang="en-US" sz="2000" b="1">
                <a:latin typeface="宋体" pitchFamily="2" charset="-122"/>
                <a:ea typeface="宋体" pitchFamily="2" charset="-122"/>
              </a:rPr>
              <a:t>工</a:t>
            </a:r>
            <a:r>
              <a:rPr lang="zh-CN" altLang="en-US" sz="2000" b="1" smtClean="0">
                <a:latin typeface="宋体" pitchFamily="2" charset="-122"/>
                <a:ea typeface="宋体" pitchFamily="2" charset="-122"/>
              </a:rPr>
              <a:t>程地质及水文地质（第五版），陈南祥主编，中国水利水电出版社，</a:t>
            </a:r>
            <a:r>
              <a:rPr lang="en-US" altLang="zh-CN" sz="2000" b="1" smtClean="0">
                <a:latin typeface="宋体" pitchFamily="2" charset="-122"/>
                <a:ea typeface="宋体" pitchFamily="2" charset="-122"/>
              </a:rPr>
              <a:t>2016.5</a:t>
            </a:r>
            <a:endParaRPr lang="en-US" altLang="zh-CN" sz="2000" b="1" dirty="0">
              <a:latin typeface="宋体" pitchFamily="2" charset="-122"/>
              <a:ea typeface="宋体" pitchFamily="2" charset="-122"/>
            </a:endParaRPr>
          </a:p>
          <a:p>
            <a:endParaRPr lang="zh-CN" altLang="en-US" sz="2800" dirty="0">
              <a:effectLst/>
              <a:ea typeface="宋体" pitchFamily="2" charset="-122"/>
            </a:endParaRPr>
          </a:p>
        </p:txBody>
      </p:sp>
    </p:spTree>
    <p:extLst>
      <p:ext uri="{BB962C8B-B14F-4D97-AF65-F5344CB8AC3E}">
        <p14:creationId xmlns:p14="http://schemas.microsoft.com/office/powerpoint/2010/main" val="195361818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3" name="Rectangle 3"/>
          <p:cNvSpPr>
            <a:spLocks noGrp="1" noChangeArrowheads="1"/>
          </p:cNvSpPr>
          <p:nvPr>
            <p:ph type="body" idx="1"/>
          </p:nvPr>
        </p:nvSpPr>
        <p:spPr>
          <a:xfrm>
            <a:off x="323850" y="692696"/>
            <a:ext cx="8569325" cy="5831929"/>
          </a:xfrm>
          <a:noFill/>
          <a:ln w="9525"/>
        </p:spPr>
        <p:txBody>
          <a:bodyPr/>
          <a:lstStyle/>
          <a:p>
            <a:pPr>
              <a:buFont typeface="Wingdings" pitchFamily="2" charset="2"/>
              <a:buNone/>
            </a:pPr>
            <a:r>
              <a:rPr kumimoji="1" lang="zh-CN" altLang="en-US" smtClean="0">
                <a:effectLst/>
                <a:ea typeface="宋体" pitchFamily="2" charset="-122"/>
              </a:rPr>
              <a:t>土力学具</a:t>
            </a:r>
            <a:r>
              <a:rPr kumimoji="1" lang="zh-CN" altLang="en-US" dirty="0" smtClean="0">
                <a:effectLst/>
                <a:ea typeface="宋体" pitchFamily="2" charset="-122"/>
              </a:rPr>
              <a:t>体</a:t>
            </a:r>
            <a:r>
              <a:rPr kumimoji="1" lang="zh-CN" altLang="en-US" dirty="0">
                <a:effectLst/>
                <a:ea typeface="宋体" pitchFamily="2" charset="-122"/>
              </a:rPr>
              <a:t>研究</a:t>
            </a:r>
            <a:r>
              <a:rPr kumimoji="1" lang="zh-CN" altLang="en-US" b="1" dirty="0">
                <a:effectLst/>
                <a:ea typeface="宋体" pitchFamily="2" charset="-122"/>
              </a:rPr>
              <a:t>内</a:t>
            </a:r>
            <a:r>
              <a:rPr kumimoji="1" lang="zh-CN" altLang="en-US" b="1">
                <a:effectLst/>
                <a:ea typeface="宋体" pitchFamily="2" charset="-122"/>
              </a:rPr>
              <a:t>容</a:t>
            </a:r>
            <a:r>
              <a:rPr kumimoji="1" lang="zh-CN" altLang="en-US" smtClean="0">
                <a:effectLst/>
                <a:ea typeface="宋体" pitchFamily="2" charset="-122"/>
              </a:rPr>
              <a:t>：</a:t>
            </a:r>
            <a:endParaRPr kumimoji="1" lang="zh-CN" altLang="en-US" dirty="0">
              <a:solidFill>
                <a:srgbClr val="FF0000"/>
              </a:solidFill>
              <a:effectLst/>
              <a:ea typeface="宋体" pitchFamily="2" charset="-122"/>
            </a:endParaRPr>
          </a:p>
          <a:p>
            <a:r>
              <a:rPr kumimoji="1" lang="zh-CN" altLang="en-US" sz="2800" dirty="0">
                <a:latin typeface="黑体" panose="02010609060101010101" pitchFamily="49" charset="-122"/>
                <a:ea typeface="黑体" panose="02010609060101010101" pitchFamily="49" charset="-122"/>
              </a:rPr>
              <a:t>土的物理力学（工程）性质：</a:t>
            </a:r>
            <a:r>
              <a:rPr kumimoji="1" lang="zh-CN" altLang="en-US" sz="2800" dirty="0">
                <a:solidFill>
                  <a:srgbClr val="FF0000"/>
                </a:solidFill>
                <a:latin typeface="黑体" panose="02010609060101010101" pitchFamily="49" charset="-122"/>
                <a:ea typeface="黑体" panose="02010609060101010101" pitchFamily="49" charset="-122"/>
              </a:rPr>
              <a:t>强度、变形、</a:t>
            </a:r>
            <a:r>
              <a:rPr kumimoji="1" lang="zh-CN" altLang="en-US" sz="2800" dirty="0" smtClean="0">
                <a:solidFill>
                  <a:srgbClr val="FF0000"/>
                </a:solidFill>
                <a:latin typeface="黑体" panose="02010609060101010101" pitchFamily="49" charset="-122"/>
                <a:ea typeface="黑体" panose="02010609060101010101" pitchFamily="49" charset="-122"/>
              </a:rPr>
              <a:t>渗透性</a:t>
            </a:r>
            <a:endParaRPr kumimoji="1" lang="en-US" altLang="zh-CN" sz="2800" dirty="0" smtClean="0">
              <a:solidFill>
                <a:srgbClr val="FF0000"/>
              </a:solidFill>
              <a:latin typeface="黑体" panose="02010609060101010101" pitchFamily="49" charset="-122"/>
              <a:ea typeface="黑体" panose="02010609060101010101" pitchFamily="49" charset="-122"/>
            </a:endParaRPr>
          </a:p>
          <a:p>
            <a:pPr>
              <a:lnSpc>
                <a:spcPct val="150000"/>
              </a:lnSpc>
              <a:buFontTx/>
              <a:buChar char="•"/>
            </a:pPr>
            <a:r>
              <a:rPr kumimoji="1" lang="zh-CN" altLang="en-US" sz="2800" dirty="0">
                <a:latin typeface="黑体" panose="02010609060101010101" pitchFamily="49" charset="-122"/>
                <a:ea typeface="黑体" panose="02010609060101010101" pitchFamily="49" charset="-122"/>
              </a:rPr>
              <a:t>土工计算：土中渗流、地基应力、地基承载力、地基变形、</a:t>
            </a:r>
            <a:r>
              <a:rPr kumimoji="1" lang="zh-CN" altLang="en-US" sz="2800" dirty="0" smtClean="0">
                <a:latin typeface="黑体" panose="02010609060101010101" pitchFamily="49" charset="-122"/>
                <a:ea typeface="黑体" panose="02010609060101010101" pitchFamily="49" charset="-122"/>
              </a:rPr>
              <a:t>土压力、土坡</a:t>
            </a:r>
            <a:r>
              <a:rPr kumimoji="1" lang="zh-CN" altLang="en-US" sz="2800" dirty="0">
                <a:latin typeface="黑体" panose="02010609060101010101" pitchFamily="49" charset="-122"/>
                <a:ea typeface="黑体" panose="02010609060101010101" pitchFamily="49" charset="-122"/>
              </a:rPr>
              <a:t>稳定</a:t>
            </a:r>
            <a:r>
              <a:rPr kumimoji="1" lang="zh-CN" altLang="en-US" sz="2800" dirty="0" smtClean="0">
                <a:latin typeface="黑体" panose="02010609060101010101" pitchFamily="49" charset="-122"/>
                <a:ea typeface="黑体" panose="02010609060101010101" pitchFamily="49" charset="-122"/>
              </a:rPr>
              <a:t>等。</a:t>
            </a:r>
            <a:r>
              <a:rPr kumimoji="1" lang="zh-CN" altLang="en-US" sz="2800" dirty="0" smtClean="0">
                <a:solidFill>
                  <a:schemeClr val="accent1"/>
                </a:solidFill>
                <a:latin typeface="黑体" panose="02010609060101010101" pitchFamily="49" charset="-122"/>
                <a:ea typeface="黑体" panose="02010609060101010101" pitchFamily="49" charset="-122"/>
              </a:rPr>
              <a:t>    </a:t>
            </a:r>
            <a:endParaRPr lang="zh-CN" altLang="en-US" sz="2800" dirty="0">
              <a:effectLst/>
              <a:ea typeface="宋体" pitchFamily="2" charset="-122"/>
            </a:endParaRPr>
          </a:p>
        </p:txBody>
      </p:sp>
      <p:sp>
        <p:nvSpPr>
          <p:cNvPr id="2" name="矩形 1"/>
          <p:cNvSpPr/>
          <p:nvPr/>
        </p:nvSpPr>
        <p:spPr>
          <a:xfrm>
            <a:off x="251520" y="3645024"/>
            <a:ext cx="8424936" cy="2862322"/>
          </a:xfrm>
          <a:prstGeom prst="rect">
            <a:avLst/>
          </a:prstGeom>
        </p:spPr>
        <p:txBody>
          <a:bodyPr wrap="square">
            <a:spAutoFit/>
          </a:bodyPr>
          <a:lstStyle/>
          <a:p>
            <a:pPr algn="l">
              <a:lnSpc>
                <a:spcPct val="150000"/>
              </a:lnSpc>
            </a:pPr>
            <a:r>
              <a:rPr lang="zh-CN" altLang="en-US" b="1" dirty="0" smtClean="0">
                <a:latin typeface="宋体" pitchFamily="2" charset="-122"/>
                <a:ea typeface="宋体" pitchFamily="2" charset="-122"/>
              </a:rPr>
              <a:t>参考资料：</a:t>
            </a:r>
            <a:endParaRPr lang="en-US" altLang="zh-CN" b="1" dirty="0" smtClean="0">
              <a:latin typeface="宋体" pitchFamily="2" charset="-122"/>
              <a:ea typeface="宋体" pitchFamily="2" charset="-122"/>
            </a:endParaRPr>
          </a:p>
          <a:p>
            <a:pPr algn="l">
              <a:lnSpc>
                <a:spcPct val="150000"/>
              </a:lnSpc>
            </a:pPr>
            <a:r>
              <a:rPr lang="zh-CN" altLang="en-US" b="1" dirty="0" smtClean="0">
                <a:latin typeface="宋体" pitchFamily="2" charset="-122"/>
                <a:ea typeface="宋体" pitchFamily="2" charset="-122"/>
              </a:rPr>
              <a:t>龚晓南</a:t>
            </a:r>
            <a:r>
              <a:rPr lang="zh-CN" altLang="en-US" b="1" dirty="0">
                <a:latin typeface="宋体" pitchFamily="2" charset="-122"/>
                <a:ea typeface="宋体" pitchFamily="2" charset="-122"/>
              </a:rPr>
              <a:t>，谢康和</a:t>
            </a:r>
            <a:r>
              <a:rPr lang="en-US" altLang="zh-CN" b="1" dirty="0">
                <a:latin typeface="宋体" pitchFamily="2" charset="-122"/>
                <a:ea typeface="宋体" pitchFamily="2" charset="-122"/>
              </a:rPr>
              <a:t>《</a:t>
            </a:r>
            <a:r>
              <a:rPr lang="zh-CN" altLang="en-US" b="1" dirty="0">
                <a:latin typeface="宋体" pitchFamily="2" charset="-122"/>
                <a:ea typeface="宋体" pitchFamily="2" charset="-122"/>
              </a:rPr>
              <a:t>土力学</a:t>
            </a:r>
            <a:r>
              <a:rPr lang="en-US" altLang="zh-CN" b="1" dirty="0">
                <a:latin typeface="宋体" pitchFamily="2" charset="-122"/>
                <a:ea typeface="宋体" pitchFamily="2" charset="-122"/>
              </a:rPr>
              <a:t>》</a:t>
            </a:r>
            <a:r>
              <a:rPr lang="zh-CN" altLang="en-US" b="1" dirty="0">
                <a:latin typeface="宋体" pitchFamily="2" charset="-122"/>
                <a:ea typeface="宋体" pitchFamily="2" charset="-122"/>
              </a:rPr>
              <a:t>，中国建筑工业出版社，</a:t>
            </a:r>
            <a:r>
              <a:rPr lang="en-US" altLang="zh-CN" b="1" dirty="0" smtClean="0">
                <a:latin typeface="宋体" pitchFamily="2" charset="-122"/>
                <a:ea typeface="宋体" pitchFamily="2" charset="-122"/>
              </a:rPr>
              <a:t>2014</a:t>
            </a:r>
          </a:p>
          <a:p>
            <a:pPr algn="l">
              <a:lnSpc>
                <a:spcPct val="150000"/>
              </a:lnSpc>
            </a:pPr>
            <a:r>
              <a:rPr lang="zh-CN" altLang="en-US" b="1" dirty="0" smtClean="0">
                <a:latin typeface="宋体" pitchFamily="2" charset="-122"/>
                <a:ea typeface="宋体" pitchFamily="2" charset="-122"/>
              </a:rPr>
              <a:t>李广信，</a:t>
            </a:r>
            <a:r>
              <a:rPr lang="en-US" altLang="zh-CN" b="1" dirty="0" smtClean="0">
                <a:latin typeface="宋体" pitchFamily="2" charset="-122"/>
                <a:ea typeface="宋体" pitchFamily="2" charset="-122"/>
              </a:rPr>
              <a:t>《</a:t>
            </a:r>
            <a:r>
              <a:rPr lang="zh-CN" altLang="en-US" b="1" dirty="0" smtClean="0">
                <a:latin typeface="宋体" pitchFamily="2" charset="-122"/>
                <a:ea typeface="宋体" pitchFamily="2" charset="-122"/>
              </a:rPr>
              <a:t>土力学</a:t>
            </a:r>
            <a:r>
              <a:rPr lang="en-US" altLang="zh-CN" b="1" dirty="0" smtClean="0">
                <a:latin typeface="宋体" pitchFamily="2" charset="-122"/>
                <a:ea typeface="宋体" pitchFamily="2" charset="-122"/>
              </a:rPr>
              <a:t>》 </a:t>
            </a:r>
            <a:r>
              <a:rPr lang="zh-CN" altLang="en-US" b="1" dirty="0" smtClean="0">
                <a:latin typeface="宋体" pitchFamily="2" charset="-122"/>
                <a:ea typeface="宋体" pitchFamily="2" charset="-122"/>
              </a:rPr>
              <a:t>，清华大学出版社，</a:t>
            </a:r>
            <a:r>
              <a:rPr lang="en-US" altLang="zh-CN" b="1" dirty="0" smtClean="0">
                <a:latin typeface="宋体" pitchFamily="2" charset="-122"/>
                <a:ea typeface="宋体" pitchFamily="2" charset="-122"/>
              </a:rPr>
              <a:t> 2022</a:t>
            </a:r>
            <a:r>
              <a:rPr lang="zh-CN" altLang="en-US" b="1" dirty="0" smtClean="0">
                <a:latin typeface="宋体" pitchFamily="2" charset="-122"/>
                <a:ea typeface="宋体" pitchFamily="2" charset="-122"/>
              </a:rPr>
              <a:t> </a:t>
            </a:r>
            <a:endParaRPr lang="en-US" altLang="zh-CN" b="1" dirty="0" smtClean="0">
              <a:latin typeface="宋体" pitchFamily="2" charset="-122"/>
              <a:ea typeface="宋体" pitchFamily="2" charset="-122"/>
            </a:endParaRPr>
          </a:p>
          <a:p>
            <a:pPr algn="l">
              <a:lnSpc>
                <a:spcPct val="150000"/>
              </a:lnSpc>
            </a:pPr>
            <a:r>
              <a:rPr lang="en-US" altLang="zh-CN" b="1" dirty="0" smtClean="0">
                <a:latin typeface="宋体" pitchFamily="2" charset="-122"/>
                <a:ea typeface="宋体" pitchFamily="2" charset="-122"/>
              </a:rPr>
              <a:t>J </a:t>
            </a:r>
            <a:r>
              <a:rPr lang="en-US" altLang="zh-CN" b="1" dirty="0" err="1">
                <a:latin typeface="宋体" pitchFamily="2" charset="-122"/>
                <a:ea typeface="宋体" pitchFamily="2" charset="-122"/>
              </a:rPr>
              <a:t>Knappett</a:t>
            </a:r>
            <a:r>
              <a:rPr lang="en-US" altLang="zh-CN" b="1" dirty="0">
                <a:latin typeface="宋体" pitchFamily="2" charset="-122"/>
                <a:ea typeface="宋体" pitchFamily="2" charset="-122"/>
              </a:rPr>
              <a:t> and R. Craig</a:t>
            </a:r>
            <a:r>
              <a:rPr lang="zh-CN" altLang="en-US" b="1" dirty="0">
                <a:latin typeface="宋体" pitchFamily="2" charset="-122"/>
                <a:ea typeface="宋体" pitchFamily="2" charset="-122"/>
              </a:rPr>
              <a:t>，</a:t>
            </a:r>
            <a:r>
              <a:rPr lang="en-US" altLang="zh-CN" b="1" dirty="0">
                <a:latin typeface="宋体" pitchFamily="2" charset="-122"/>
                <a:ea typeface="宋体" pitchFamily="2" charset="-122"/>
              </a:rPr>
              <a:t> 《Craig’s Soil Mechanics》 (8 edition) </a:t>
            </a:r>
            <a:r>
              <a:rPr lang="en-US" altLang="zh-CN" b="1" dirty="0" err="1">
                <a:latin typeface="宋体" pitchFamily="2" charset="-122"/>
                <a:ea typeface="宋体" pitchFamily="2" charset="-122"/>
              </a:rPr>
              <a:t>Spon</a:t>
            </a:r>
            <a:r>
              <a:rPr lang="en-US" altLang="zh-CN" b="1" dirty="0">
                <a:latin typeface="宋体" pitchFamily="2" charset="-122"/>
                <a:ea typeface="宋体" pitchFamily="2" charset="-122"/>
              </a:rPr>
              <a:t> Press</a:t>
            </a:r>
            <a:r>
              <a:rPr lang="zh-CN" altLang="en-US" b="1" dirty="0">
                <a:latin typeface="宋体" pitchFamily="2" charset="-122"/>
                <a:ea typeface="宋体" pitchFamily="2" charset="-122"/>
              </a:rPr>
              <a:t>，</a:t>
            </a:r>
            <a:r>
              <a:rPr lang="en-US" altLang="zh-CN" b="1" dirty="0">
                <a:latin typeface="宋体" pitchFamily="2" charset="-122"/>
                <a:ea typeface="宋体" pitchFamily="2" charset="-122"/>
              </a:rPr>
              <a:t>2019</a:t>
            </a:r>
            <a:endParaRPr lang="zh-CN" altLang="en-US" b="1" dirty="0">
              <a:latin typeface="宋体" pitchFamily="2" charset="-122"/>
              <a:ea typeface="宋体" pitchFamily="2" charset="-122"/>
            </a:endParaRPr>
          </a:p>
        </p:txBody>
      </p:sp>
    </p:spTree>
    <p:extLst>
      <p:ext uri="{BB962C8B-B14F-4D97-AF65-F5344CB8AC3E}">
        <p14:creationId xmlns:p14="http://schemas.microsoft.com/office/powerpoint/2010/main" val="316368964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85800" y="620689"/>
            <a:ext cx="7772400" cy="5475312"/>
          </a:xfrm>
        </p:spPr>
        <p:txBody>
          <a:bodyPr/>
          <a:lstStyle/>
          <a:p>
            <a:pPr marL="0" indent="0">
              <a:buNone/>
            </a:pPr>
            <a:r>
              <a:rPr lang="zh-CN" altLang="en-US" sz="4000" dirty="0"/>
              <a:t>考核标准：</a:t>
            </a:r>
            <a:endParaRPr lang="en-US" altLang="zh-CN" sz="4000" dirty="0"/>
          </a:p>
          <a:p>
            <a:pPr>
              <a:buNone/>
            </a:pPr>
            <a:r>
              <a:rPr lang="en-US" altLang="zh-CN" dirty="0"/>
              <a:t>1</a:t>
            </a:r>
            <a:r>
              <a:rPr lang="zh-CN" altLang="en-US" dirty="0" smtClean="0"/>
              <a:t>、平时成绩，占</a:t>
            </a:r>
            <a:r>
              <a:rPr lang="en-US" altLang="zh-CN" dirty="0" smtClean="0"/>
              <a:t>30</a:t>
            </a:r>
            <a:r>
              <a:rPr lang="en-US" altLang="zh-CN" dirty="0"/>
              <a:t>%</a:t>
            </a:r>
            <a:r>
              <a:rPr lang="zh-CN" altLang="en-US" dirty="0"/>
              <a:t>；</a:t>
            </a:r>
            <a:endParaRPr lang="en-US" altLang="zh-CN" dirty="0"/>
          </a:p>
          <a:p>
            <a:pPr>
              <a:buNone/>
            </a:pPr>
            <a:r>
              <a:rPr lang="en-US" altLang="zh-CN" dirty="0"/>
              <a:t>2</a:t>
            </a:r>
            <a:r>
              <a:rPr lang="zh-CN" altLang="en-US" dirty="0" smtClean="0"/>
              <a:t>、课程实验，占</a:t>
            </a:r>
            <a:r>
              <a:rPr lang="en-US" altLang="zh-CN" dirty="0" smtClean="0"/>
              <a:t>20</a:t>
            </a:r>
            <a:r>
              <a:rPr lang="en-US" altLang="zh-CN" dirty="0"/>
              <a:t>%</a:t>
            </a:r>
            <a:r>
              <a:rPr lang="zh-CN" altLang="en-US" dirty="0"/>
              <a:t>；</a:t>
            </a:r>
            <a:endParaRPr lang="en-US" altLang="zh-CN" dirty="0"/>
          </a:p>
          <a:p>
            <a:pPr>
              <a:buNone/>
            </a:pPr>
            <a:r>
              <a:rPr lang="en-US" altLang="zh-CN" dirty="0"/>
              <a:t>3</a:t>
            </a:r>
            <a:r>
              <a:rPr lang="zh-CN" altLang="en-US" dirty="0"/>
              <a:t>、期末考试，占</a:t>
            </a:r>
            <a:r>
              <a:rPr lang="en-US" altLang="zh-CN" dirty="0"/>
              <a:t>50%</a:t>
            </a:r>
            <a:r>
              <a:rPr lang="zh-CN" altLang="en-US" dirty="0"/>
              <a:t>。</a:t>
            </a:r>
            <a:endParaRPr lang="en-US" altLang="zh-CN" dirty="0"/>
          </a:p>
          <a:p>
            <a:pPr>
              <a:buNone/>
            </a:pPr>
            <a:endParaRPr lang="en-US" altLang="zh-CN" dirty="0"/>
          </a:p>
          <a:p>
            <a:pPr indent="0">
              <a:buNone/>
            </a:pPr>
            <a:r>
              <a:rPr lang="zh-CN" altLang="en-US" dirty="0" smtClean="0"/>
              <a:t>注：</a:t>
            </a:r>
            <a:r>
              <a:rPr lang="en-US" altLang="zh-CN" dirty="0" err="1" smtClean="0">
                <a:latin typeface="宋体" panose="02010600030101010101" pitchFamily="2" charset="-122"/>
                <a:ea typeface="宋体" panose="02010600030101010101" pitchFamily="2" charset="-122"/>
                <a:cs typeface="宋体" panose="02010600030101010101" pitchFamily="2" charset="-122"/>
              </a:rPr>
              <a:t>期末考试成绩</a:t>
            </a:r>
            <a:r>
              <a:rPr lang="zh-CN" altLang="en-US" dirty="0" smtClean="0">
                <a:latin typeface="宋体" panose="02010600030101010101" pitchFamily="2" charset="-122"/>
                <a:ea typeface="宋体" panose="02010600030101010101" pitchFamily="2" charset="-122"/>
                <a:cs typeface="宋体" panose="02010600030101010101" pitchFamily="2" charset="-122"/>
              </a:rPr>
              <a:t>低于</a:t>
            </a:r>
            <a:r>
              <a:rPr lang="en-US" altLang="zh-CN" dirty="0" smtClean="0">
                <a:latin typeface="宋体" panose="02010600030101010101" pitchFamily="2" charset="-122"/>
                <a:ea typeface="宋体" panose="02010600030101010101" pitchFamily="2" charset="-122"/>
                <a:cs typeface="宋体" panose="02010600030101010101" pitchFamily="2" charset="-122"/>
              </a:rPr>
              <a:t>50分，总评不及格；</a:t>
            </a:r>
            <a:r>
              <a:rPr lang="zh-CN" altLang="en-US" dirty="0" smtClean="0">
                <a:latin typeface="宋体" panose="02010600030101010101" pitchFamily="2" charset="-122"/>
                <a:ea typeface="宋体" panose="02010600030101010101" pitchFamily="2" charset="-122"/>
                <a:cs typeface="宋体" panose="02010600030101010101" pitchFamily="2" charset="-122"/>
              </a:rPr>
              <a:t>实验成</a:t>
            </a:r>
            <a:r>
              <a:rPr lang="zh-CN" altLang="en-US" smtClean="0">
                <a:latin typeface="宋体" panose="02010600030101010101" pitchFamily="2" charset="-122"/>
                <a:ea typeface="宋体" panose="02010600030101010101" pitchFamily="2" charset="-122"/>
                <a:cs typeface="宋体" panose="02010600030101010101" pitchFamily="2" charset="-122"/>
              </a:rPr>
              <a:t>绩</a:t>
            </a:r>
            <a:r>
              <a:rPr lang="en-US" altLang="zh-CN" smtClean="0">
                <a:latin typeface="宋体" panose="02010600030101010101" pitchFamily="2" charset="-122"/>
                <a:ea typeface="宋体" panose="02010600030101010101" pitchFamily="2" charset="-122"/>
                <a:cs typeface="宋体" panose="02010600030101010101" pitchFamily="2" charset="-122"/>
              </a:rPr>
              <a:t>低于60</a:t>
            </a:r>
            <a:r>
              <a:rPr lang="zh-CN" altLang="en-US" smtClean="0">
                <a:latin typeface="宋体" panose="02010600030101010101" pitchFamily="2" charset="-122"/>
                <a:ea typeface="宋体" panose="02010600030101010101" pitchFamily="2" charset="-122"/>
                <a:cs typeface="宋体" panose="02010600030101010101" pitchFamily="2" charset="-122"/>
              </a:rPr>
              <a:t>分</a:t>
            </a:r>
            <a:r>
              <a:rPr lang="en-US" altLang="zh-CN" dirty="0" smtClean="0">
                <a:latin typeface="宋体" panose="02010600030101010101" pitchFamily="2" charset="-122"/>
                <a:ea typeface="宋体" panose="02010600030101010101" pitchFamily="2" charset="-122"/>
                <a:cs typeface="宋体" panose="02010600030101010101" pitchFamily="2" charset="-122"/>
              </a:rPr>
              <a:t>，</a:t>
            </a:r>
            <a:r>
              <a:rPr lang="en-US" altLang="zh-CN" dirty="0" err="1" smtClean="0">
                <a:latin typeface="宋体" panose="02010600030101010101" pitchFamily="2" charset="-122"/>
                <a:ea typeface="宋体" panose="02010600030101010101" pitchFamily="2" charset="-122"/>
                <a:cs typeface="宋体" panose="02010600030101010101" pitchFamily="2" charset="-122"/>
              </a:rPr>
              <a:t>总评不及格</a:t>
            </a:r>
            <a:r>
              <a:rPr lang="en-US" altLang="zh-CN" dirty="0">
                <a:latin typeface="宋体" panose="02010600030101010101" pitchFamily="2" charset="-122"/>
                <a:ea typeface="宋体" panose="02010600030101010101" pitchFamily="2" charset="-122"/>
                <a:cs typeface="宋体" panose="02010600030101010101" pitchFamily="2" charset="-122"/>
              </a:rPr>
              <a:t>。</a:t>
            </a:r>
            <a:endParaRPr lang="en-US" altLang="en-US" dirty="0">
              <a:latin typeface="宋体" panose="02010600030101010101" pitchFamily="2" charset="-122"/>
              <a:ea typeface="宋体" panose="02010600030101010101" pitchFamily="2" charset="-122"/>
              <a:cs typeface="宋体" panose="02010600030101010101" pitchFamily="2" charset="-122"/>
            </a:endParaRPr>
          </a:p>
        </p:txBody>
      </p:sp>
    </p:spTree>
    <p:extLst>
      <p:ext uri="{BB962C8B-B14F-4D97-AF65-F5344CB8AC3E}">
        <p14:creationId xmlns:p14="http://schemas.microsoft.com/office/powerpoint/2010/main" val="174338866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0" y="764704"/>
            <a:ext cx="9144000" cy="1978496"/>
          </a:xfrm>
        </p:spPr>
        <p:txBody>
          <a:bodyPr/>
          <a:lstStyle/>
          <a:p>
            <a:pPr eaLnBrk="1" hangingPunct="1">
              <a:lnSpc>
                <a:spcPct val="150000"/>
              </a:lnSpc>
              <a:defRPr/>
            </a:pPr>
            <a:r>
              <a:rPr lang="zh-CN" altLang="en-US" b="1" i="0" dirty="0">
                <a:solidFill>
                  <a:schemeClr val="tx1"/>
                </a:solidFill>
                <a:effectLst/>
                <a:latin typeface="PingFang SC-Medium"/>
              </a:rPr>
              <a:t>土力学与工程地质</a:t>
            </a:r>
            <a:r>
              <a:rPr lang="en-US" altLang="zh-CN" sz="7200" b="1" dirty="0">
                <a:solidFill>
                  <a:schemeClr val="tx1"/>
                </a:solidFill>
                <a:ea typeface="宋体" pitchFamily="2" charset="-122"/>
              </a:rPr>
              <a:t/>
            </a:r>
            <a:br>
              <a:rPr lang="en-US" altLang="zh-CN" sz="7200" b="1" dirty="0">
                <a:solidFill>
                  <a:schemeClr val="tx1"/>
                </a:solidFill>
                <a:ea typeface="宋体" pitchFamily="2" charset="-122"/>
              </a:rPr>
            </a:br>
            <a:r>
              <a:rPr lang="zh-CN" altLang="en-US" sz="3600" b="1" dirty="0" smtClean="0">
                <a:solidFill>
                  <a:schemeClr val="tx1"/>
                </a:solidFill>
                <a:ea typeface="宋体" pitchFamily="2" charset="-122"/>
              </a:rPr>
              <a:t>工程地质与水文地质</a:t>
            </a:r>
            <a:endParaRPr lang="zh-CN" altLang="en-US" sz="3600" b="1" dirty="0">
              <a:solidFill>
                <a:schemeClr val="tx1"/>
              </a:solidFill>
              <a:ea typeface="宋体" pitchFamily="2" charset="-122"/>
            </a:endParaRPr>
          </a:p>
        </p:txBody>
      </p:sp>
      <p:sp>
        <p:nvSpPr>
          <p:cNvPr id="26629" name="Rectangle 5"/>
          <p:cNvSpPr>
            <a:spLocks noGrp="1" noChangeArrowheads="1"/>
          </p:cNvSpPr>
          <p:nvPr>
            <p:ph type="body" idx="1"/>
          </p:nvPr>
        </p:nvSpPr>
        <p:spPr>
          <a:xfrm>
            <a:off x="1331913" y="3356992"/>
            <a:ext cx="6592887" cy="2392933"/>
          </a:xfrm>
        </p:spPr>
        <p:txBody>
          <a:bodyPr/>
          <a:lstStyle/>
          <a:p>
            <a:pPr algn="ctr" eaLnBrk="1" hangingPunct="1">
              <a:lnSpc>
                <a:spcPct val="90000"/>
              </a:lnSpc>
              <a:buFont typeface="Wingdings" pitchFamily="2" charset="2"/>
              <a:buNone/>
            </a:pPr>
            <a:r>
              <a:rPr lang="zh-CN" altLang="en-US" sz="3600" dirty="0">
                <a:ea typeface="宋体" pitchFamily="2" charset="-122"/>
              </a:rPr>
              <a:t>孙红</a:t>
            </a:r>
            <a:r>
              <a:rPr lang="zh-CN" altLang="en-US" sz="3600" dirty="0" smtClean="0">
                <a:ea typeface="宋体" pitchFamily="2" charset="-122"/>
              </a:rPr>
              <a:t>月</a:t>
            </a:r>
            <a:endParaRPr lang="en-US" altLang="zh-CN" sz="3600" dirty="0">
              <a:ea typeface="宋体" pitchFamily="2" charset="-122"/>
            </a:endParaRPr>
          </a:p>
          <a:p>
            <a:pPr algn="ctr" eaLnBrk="1" hangingPunct="1">
              <a:lnSpc>
                <a:spcPct val="90000"/>
              </a:lnSpc>
              <a:buFont typeface="Wingdings" pitchFamily="2" charset="2"/>
              <a:buNone/>
            </a:pPr>
            <a:r>
              <a:rPr lang="en-US" altLang="zh-CN" sz="3600" dirty="0">
                <a:ea typeface="宋体" pitchFamily="2" charset="-122"/>
              </a:rPr>
              <a:t>13666657809</a:t>
            </a:r>
          </a:p>
          <a:p>
            <a:pPr algn="ctr" eaLnBrk="1" hangingPunct="1">
              <a:lnSpc>
                <a:spcPct val="90000"/>
              </a:lnSpc>
              <a:buFont typeface="Wingdings" pitchFamily="2" charset="2"/>
              <a:buNone/>
            </a:pPr>
            <a:r>
              <a:rPr lang="en-US" altLang="zh-CN" sz="3600" dirty="0">
                <a:ea typeface="宋体" pitchFamily="2" charset="-122"/>
              </a:rPr>
              <a:t> </a:t>
            </a:r>
            <a:r>
              <a:rPr lang="en-US" altLang="zh-CN" sz="3600" dirty="0" err="1">
                <a:ea typeface="宋体" pitchFamily="2" charset="-122"/>
                <a:hlinkClick r:id="rId2"/>
              </a:rPr>
              <a:t>shy@zju.edu.cn</a:t>
            </a:r>
            <a:endParaRPr lang="en-US" altLang="zh-CN" sz="3600" dirty="0">
              <a:ea typeface="宋体" pitchFamily="2" charset="-122"/>
            </a:endParaRPr>
          </a:p>
          <a:p>
            <a:pPr algn="ctr" eaLnBrk="1" hangingPunct="1">
              <a:lnSpc>
                <a:spcPct val="90000"/>
              </a:lnSpc>
              <a:buFont typeface="Wingdings" pitchFamily="2" charset="2"/>
              <a:buNone/>
            </a:pPr>
            <a:r>
              <a:rPr lang="zh-CN" altLang="en-US" sz="3600" dirty="0">
                <a:ea typeface="宋体" pitchFamily="2" charset="-122"/>
              </a:rPr>
              <a:t>海工楼</a:t>
            </a:r>
            <a:r>
              <a:rPr lang="en-US" altLang="zh-CN" sz="3600" dirty="0">
                <a:ea typeface="宋体" pitchFamily="2" charset="-122"/>
              </a:rPr>
              <a:t>301-2</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3" name="Rectangle 3"/>
          <p:cNvSpPr>
            <a:spLocks noGrp="1" noChangeArrowheads="1"/>
          </p:cNvSpPr>
          <p:nvPr>
            <p:ph type="body" idx="1"/>
          </p:nvPr>
        </p:nvSpPr>
        <p:spPr>
          <a:xfrm>
            <a:off x="323850" y="260350"/>
            <a:ext cx="8569325" cy="6264275"/>
          </a:xfrm>
          <a:noFill/>
          <a:ln w="9525"/>
        </p:spPr>
        <p:txBody>
          <a:bodyPr/>
          <a:lstStyle/>
          <a:p>
            <a:pPr>
              <a:buFont typeface="Wingdings" pitchFamily="2" charset="2"/>
              <a:buNone/>
            </a:pPr>
            <a:r>
              <a:rPr kumimoji="1" lang="en-US" altLang="zh-CN" sz="2800" dirty="0">
                <a:effectLst/>
                <a:ea typeface="宋体" pitchFamily="2" charset="-122"/>
              </a:rPr>
              <a:t>1</a:t>
            </a:r>
            <a:r>
              <a:rPr kumimoji="1" lang="zh-CN" altLang="en-US" sz="2800" dirty="0">
                <a:effectLst/>
                <a:ea typeface="宋体" pitchFamily="2" charset="-122"/>
              </a:rPr>
              <a:t>、具体研究</a:t>
            </a:r>
            <a:r>
              <a:rPr kumimoji="1" lang="zh-CN" altLang="en-US" sz="2800" b="1" dirty="0">
                <a:effectLst/>
                <a:ea typeface="宋体" pitchFamily="2" charset="-122"/>
              </a:rPr>
              <a:t>内容</a:t>
            </a:r>
            <a:r>
              <a:rPr kumimoji="1" lang="zh-CN" altLang="en-US" sz="2800" dirty="0">
                <a:effectLst/>
                <a:ea typeface="宋体" pitchFamily="2" charset="-122"/>
              </a:rPr>
              <a:t>：</a:t>
            </a:r>
          </a:p>
          <a:p>
            <a:pPr>
              <a:buFont typeface="Wingdings" pitchFamily="2" charset="2"/>
              <a:buNone/>
            </a:pPr>
            <a:r>
              <a:rPr lang="en-US" altLang="zh-CN" sz="2800" b="1" dirty="0">
                <a:effectLst/>
                <a:ea typeface="宋体" pitchFamily="2" charset="-122"/>
              </a:rPr>
              <a:t>    </a:t>
            </a:r>
            <a:r>
              <a:rPr lang="en-US" altLang="zh-CN" sz="2800" dirty="0">
                <a:effectLst/>
                <a:ea typeface="宋体" pitchFamily="2" charset="-122"/>
              </a:rPr>
              <a:t>1</a:t>
            </a:r>
            <a:r>
              <a:rPr lang="zh-CN" altLang="en-US" sz="2800" dirty="0">
                <a:effectLst/>
                <a:ea typeface="宋体" pitchFamily="2" charset="-122"/>
              </a:rPr>
              <a:t>）确定岩土组分、结构、物理力学性质及其对工程稳定性的影响；</a:t>
            </a:r>
          </a:p>
          <a:p>
            <a:pPr>
              <a:buFont typeface="Wingdings" pitchFamily="2" charset="2"/>
              <a:buNone/>
            </a:pPr>
            <a:r>
              <a:rPr lang="zh-CN" altLang="en-US" sz="2800" dirty="0">
                <a:effectLst/>
                <a:ea typeface="宋体" pitchFamily="2" charset="-122"/>
              </a:rPr>
              <a:t>    </a:t>
            </a:r>
            <a:r>
              <a:rPr lang="en-US" altLang="zh-CN" sz="2800" dirty="0">
                <a:effectLst/>
                <a:ea typeface="宋体" pitchFamily="2" charset="-122"/>
              </a:rPr>
              <a:t>2</a:t>
            </a:r>
            <a:r>
              <a:rPr lang="zh-CN" altLang="en-US" sz="2800" dirty="0">
                <a:effectLst/>
                <a:ea typeface="宋体" pitchFamily="2" charset="-122"/>
              </a:rPr>
              <a:t>）研究崩塌、滑坡、泥石流及地震等地质灾害对工程建筑的危害及其预测、评价和防治措施；</a:t>
            </a:r>
          </a:p>
          <a:p>
            <a:pPr>
              <a:buFont typeface="Wingdings" pitchFamily="2" charset="2"/>
              <a:buNone/>
            </a:pPr>
            <a:r>
              <a:rPr lang="zh-CN" altLang="en-US" sz="2800" dirty="0">
                <a:effectLst/>
                <a:ea typeface="宋体" pitchFamily="2" charset="-122"/>
              </a:rPr>
              <a:t>    </a:t>
            </a:r>
            <a:r>
              <a:rPr lang="en-US" altLang="zh-CN" sz="2800" dirty="0">
                <a:effectLst/>
                <a:ea typeface="宋体" pitchFamily="2" charset="-122"/>
              </a:rPr>
              <a:t>3</a:t>
            </a:r>
            <a:r>
              <a:rPr lang="zh-CN" altLang="en-US" sz="2800" dirty="0">
                <a:effectLst/>
                <a:ea typeface="宋体" pitchFamily="2" charset="-122"/>
              </a:rPr>
              <a:t>）研究解决各类工程（房屋、道路、桥墩、大坝、硐室等）建筑中的地基、边坡和围岩的稳定性，直接为各类工程的设计、施工提供地质依据；</a:t>
            </a:r>
          </a:p>
          <a:p>
            <a:pPr>
              <a:buFont typeface="Wingdings" pitchFamily="2" charset="2"/>
              <a:buNone/>
            </a:pPr>
            <a:r>
              <a:rPr lang="en-US" altLang="zh-CN" sz="2800" b="1" dirty="0">
                <a:effectLst/>
                <a:ea typeface="宋体" pitchFamily="2" charset="-122"/>
              </a:rPr>
              <a:t>    </a:t>
            </a:r>
            <a:r>
              <a:rPr lang="en-US" altLang="zh-CN" sz="2800" dirty="0">
                <a:effectLst/>
                <a:ea typeface="宋体" pitchFamily="2" charset="-122"/>
              </a:rPr>
              <a:t>4</a:t>
            </a:r>
            <a:r>
              <a:rPr lang="zh-CN" altLang="en-US" sz="2800" dirty="0">
                <a:effectLst/>
                <a:ea typeface="宋体" pitchFamily="2" charset="-122"/>
              </a:rPr>
              <a:t>）研究建筑场区地下水的赋存、分布、运动规律及其对工程建筑的影响，制定必要的防护方案；</a:t>
            </a:r>
          </a:p>
          <a:p>
            <a:pPr>
              <a:buFont typeface="Wingdings" pitchFamily="2" charset="2"/>
              <a:buNone/>
            </a:pPr>
            <a:r>
              <a:rPr lang="zh-CN" altLang="en-US" sz="2800" dirty="0">
                <a:effectLst/>
                <a:ea typeface="宋体" pitchFamily="2" charset="-122"/>
              </a:rPr>
              <a:t>    </a:t>
            </a:r>
            <a:r>
              <a:rPr lang="en-US" altLang="zh-CN" sz="2800" dirty="0">
                <a:effectLst/>
                <a:ea typeface="宋体" pitchFamily="2" charset="-122"/>
              </a:rPr>
              <a:t>5</a:t>
            </a:r>
            <a:r>
              <a:rPr lang="zh-CN" altLang="en-US" sz="2800" dirty="0">
                <a:effectLst/>
                <a:ea typeface="宋体" pitchFamily="2" charset="-122"/>
              </a:rPr>
              <a:t>）研究区域工程地质条件的特征，进行区域稳定性评价和工程地质分区；</a:t>
            </a:r>
          </a:p>
          <a:p>
            <a:pPr>
              <a:buFont typeface="Wingdings" pitchFamily="2" charset="2"/>
              <a:buNone/>
            </a:pPr>
            <a:r>
              <a:rPr lang="zh-CN" altLang="en-US" sz="2800" dirty="0">
                <a:effectLst/>
                <a:ea typeface="宋体" pitchFamily="2" charset="-122"/>
              </a:rPr>
              <a:t>    </a:t>
            </a:r>
            <a:r>
              <a:rPr lang="en-US" altLang="zh-CN" sz="2800" dirty="0">
                <a:effectLst/>
                <a:ea typeface="宋体" pitchFamily="2" charset="-122"/>
              </a:rPr>
              <a:t>6</a:t>
            </a:r>
            <a:r>
              <a:rPr lang="zh-CN" altLang="en-US" sz="2800" dirty="0">
                <a:effectLst/>
                <a:ea typeface="宋体" pitchFamily="2" charset="-122"/>
              </a:rPr>
              <a:t>）研究人类工程活动对自然环境平衡状态的破坏。</a:t>
            </a:r>
            <a:endParaRPr kumimoji="1" lang="zh-CN" altLang="en-US" sz="2800" dirty="0">
              <a:effectLst/>
              <a:ea typeface="宋体" pitchFamily="2" charset="-122"/>
            </a:endParaRPr>
          </a:p>
          <a:p>
            <a:endParaRPr lang="zh-CN" altLang="en-US" sz="2800" dirty="0">
              <a:effectLst/>
              <a:ea typeface="宋体" pitchFamily="2" charset="-122"/>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7" name="Rectangle 3"/>
          <p:cNvSpPr>
            <a:spLocks noGrp="1" noChangeArrowheads="1"/>
          </p:cNvSpPr>
          <p:nvPr>
            <p:ph type="body" idx="1"/>
          </p:nvPr>
        </p:nvSpPr>
        <p:spPr>
          <a:xfrm>
            <a:off x="0" y="214290"/>
            <a:ext cx="9144000" cy="6454798"/>
          </a:xfrm>
          <a:noFill/>
          <a:ln w="9525"/>
        </p:spPr>
        <p:txBody>
          <a:bodyPr/>
          <a:lstStyle/>
          <a:p>
            <a:pPr>
              <a:buFont typeface="Wingdings" pitchFamily="2" charset="2"/>
              <a:buNone/>
            </a:pPr>
            <a:r>
              <a:rPr lang="zh-CN" altLang="en-US" sz="2800" b="1" dirty="0">
                <a:effectLst/>
                <a:ea typeface="宋体" pitchFamily="2" charset="-122"/>
              </a:rPr>
              <a:t> </a:t>
            </a:r>
            <a:r>
              <a:rPr lang="en-US" altLang="zh-CN" sz="2800" b="1" dirty="0">
                <a:effectLst/>
                <a:ea typeface="宋体" pitchFamily="2" charset="-122"/>
              </a:rPr>
              <a:t>2</a:t>
            </a:r>
            <a:r>
              <a:rPr lang="zh-CN" altLang="en-US" sz="2800" b="1" dirty="0">
                <a:effectLst/>
                <a:ea typeface="宋体" pitchFamily="2" charset="-122"/>
              </a:rPr>
              <a:t>．</a:t>
            </a:r>
            <a:r>
              <a:rPr lang="zh-CN" altLang="en-US" b="1" dirty="0">
                <a:effectLst/>
                <a:ea typeface="宋体" pitchFamily="2" charset="-122"/>
              </a:rPr>
              <a:t>工程地质条件</a:t>
            </a:r>
          </a:p>
          <a:p>
            <a:pPr>
              <a:buFont typeface="Wingdings" pitchFamily="2" charset="2"/>
              <a:buNone/>
            </a:pPr>
            <a:r>
              <a:rPr lang="zh-CN" altLang="en-US" sz="2400" b="1" dirty="0">
                <a:effectLst/>
                <a:ea typeface="宋体" pitchFamily="2" charset="-122"/>
              </a:rPr>
              <a:t>    </a:t>
            </a:r>
            <a:r>
              <a:rPr lang="zh-CN" altLang="en-US" sz="2400" b="1" dirty="0">
                <a:solidFill>
                  <a:srgbClr val="FF0000"/>
                </a:solidFill>
                <a:effectLst/>
                <a:ea typeface="宋体" pitchFamily="2" charset="-122"/>
              </a:rPr>
              <a:t>工程地质条件</a:t>
            </a:r>
            <a:r>
              <a:rPr lang="zh-CN" altLang="en-US" sz="2400" dirty="0">
                <a:effectLst/>
                <a:ea typeface="宋体" pitchFamily="2" charset="-122"/>
              </a:rPr>
              <a:t>是指各种对工程建筑有影响的地质因素的综合。</a:t>
            </a:r>
          </a:p>
          <a:p>
            <a:pPr>
              <a:buFont typeface="Wingdings" pitchFamily="2" charset="2"/>
              <a:buNone/>
            </a:pPr>
            <a:r>
              <a:rPr lang="zh-CN" altLang="en-US" sz="2400" b="1" dirty="0">
                <a:effectLst/>
                <a:ea typeface="宋体" pitchFamily="2" charset="-122"/>
              </a:rPr>
              <a:t>    </a:t>
            </a:r>
            <a:r>
              <a:rPr lang="en-US" altLang="zh-CN" sz="2400" b="1" dirty="0">
                <a:effectLst/>
                <a:ea typeface="宋体" pitchFamily="2" charset="-122"/>
              </a:rPr>
              <a:t>1</a:t>
            </a:r>
            <a:r>
              <a:rPr lang="zh-CN" altLang="en-US" sz="2400" b="1" dirty="0">
                <a:effectLst/>
                <a:ea typeface="宋体" pitchFamily="2" charset="-122"/>
              </a:rPr>
              <a:t>）</a:t>
            </a:r>
            <a:r>
              <a:rPr lang="zh-CN" altLang="en-US" sz="2400" b="1" dirty="0">
                <a:solidFill>
                  <a:srgbClr val="FFFF00"/>
                </a:solidFill>
                <a:effectLst/>
                <a:ea typeface="宋体" pitchFamily="2" charset="-122"/>
              </a:rPr>
              <a:t>地层岩性</a:t>
            </a:r>
            <a:r>
              <a:rPr lang="zh-CN" altLang="en-US" sz="2400" b="1" dirty="0">
                <a:effectLst/>
                <a:ea typeface="宋体" pitchFamily="2" charset="-122"/>
              </a:rPr>
              <a:t>。</a:t>
            </a:r>
            <a:r>
              <a:rPr lang="zh-CN" altLang="en-US" sz="2400" dirty="0">
                <a:effectLst/>
                <a:ea typeface="宋体" pitchFamily="2" charset="-122"/>
              </a:rPr>
              <a:t>建筑场区地层的成因、时代、岩性、产状、软弱夹层分布等的特征。</a:t>
            </a:r>
          </a:p>
          <a:p>
            <a:pPr>
              <a:buFont typeface="Wingdings" pitchFamily="2" charset="2"/>
              <a:buNone/>
            </a:pPr>
            <a:r>
              <a:rPr lang="zh-CN" altLang="en-US" sz="2400" b="1" dirty="0">
                <a:effectLst/>
                <a:ea typeface="宋体" pitchFamily="2" charset="-122"/>
              </a:rPr>
              <a:t>    </a:t>
            </a:r>
            <a:r>
              <a:rPr lang="en-US" altLang="zh-CN" sz="2400" b="1" dirty="0">
                <a:effectLst/>
                <a:ea typeface="宋体" pitchFamily="2" charset="-122"/>
              </a:rPr>
              <a:t>2</a:t>
            </a:r>
            <a:r>
              <a:rPr lang="zh-CN" altLang="en-US" sz="2400" b="1" dirty="0">
                <a:effectLst/>
                <a:ea typeface="宋体" pitchFamily="2" charset="-122"/>
              </a:rPr>
              <a:t>）</a:t>
            </a:r>
            <a:r>
              <a:rPr lang="zh-CN" altLang="en-US" sz="2400" b="1" dirty="0">
                <a:solidFill>
                  <a:srgbClr val="FFFF00"/>
                </a:solidFill>
                <a:effectLst/>
                <a:ea typeface="宋体" pitchFamily="2" charset="-122"/>
              </a:rPr>
              <a:t>地质构造</a:t>
            </a:r>
            <a:r>
              <a:rPr lang="zh-CN" altLang="en-US" sz="2400" b="1" dirty="0">
                <a:effectLst/>
                <a:ea typeface="宋体" pitchFamily="2" charset="-122"/>
              </a:rPr>
              <a:t>。</a:t>
            </a:r>
            <a:r>
              <a:rPr lang="zh-CN" altLang="en-US" sz="2400" dirty="0">
                <a:effectLst/>
                <a:ea typeface="宋体" pitchFamily="2" charset="-122"/>
              </a:rPr>
              <a:t>场区对建筑物的安全稳定、沉降变形等具有重要意义的褶皱、断层、节理等地质构造的分布和特征，特别是区域性大断裂、活断层等的分布特征。 </a:t>
            </a:r>
          </a:p>
          <a:p>
            <a:pPr>
              <a:buFont typeface="Wingdings" pitchFamily="2" charset="2"/>
              <a:buNone/>
            </a:pPr>
            <a:r>
              <a:rPr lang="en-US" altLang="zh-CN" sz="2400" b="1" dirty="0">
                <a:effectLst/>
                <a:ea typeface="宋体" pitchFamily="2" charset="-122"/>
              </a:rPr>
              <a:t>    3</a:t>
            </a:r>
            <a:r>
              <a:rPr lang="zh-CN" altLang="en-US" sz="2400" b="1" dirty="0">
                <a:effectLst/>
                <a:ea typeface="宋体" pitchFamily="2" charset="-122"/>
              </a:rPr>
              <a:t>）</a:t>
            </a:r>
            <a:r>
              <a:rPr lang="zh-CN" altLang="en-US" sz="2400" b="1" dirty="0">
                <a:solidFill>
                  <a:srgbClr val="FFFF00"/>
                </a:solidFill>
                <a:effectLst/>
                <a:ea typeface="宋体" pitchFamily="2" charset="-122"/>
              </a:rPr>
              <a:t>水文地质条件</a:t>
            </a:r>
            <a:r>
              <a:rPr lang="zh-CN" altLang="en-US" sz="2400" b="1" dirty="0">
                <a:effectLst/>
                <a:ea typeface="宋体" pitchFamily="2" charset="-122"/>
              </a:rPr>
              <a:t>。</a:t>
            </a:r>
            <a:r>
              <a:rPr lang="zh-CN" altLang="en-US" sz="2400" dirty="0">
                <a:effectLst/>
                <a:ea typeface="宋体" pitchFamily="2" charset="-122"/>
              </a:rPr>
              <a:t>建筑场区地下水的成因、埋藏、分布、动态、化学成分等特征。</a:t>
            </a:r>
          </a:p>
          <a:p>
            <a:pPr>
              <a:buFont typeface="Wingdings" pitchFamily="2" charset="2"/>
              <a:buNone/>
            </a:pPr>
            <a:r>
              <a:rPr lang="zh-CN" altLang="en-US" sz="2400" b="1" dirty="0">
                <a:effectLst/>
                <a:ea typeface="宋体" pitchFamily="2" charset="-122"/>
              </a:rPr>
              <a:t>    </a:t>
            </a:r>
            <a:r>
              <a:rPr lang="en-US" altLang="zh-CN" sz="2400" b="1" dirty="0">
                <a:effectLst/>
                <a:ea typeface="宋体" pitchFamily="2" charset="-122"/>
              </a:rPr>
              <a:t>4</a:t>
            </a:r>
            <a:r>
              <a:rPr lang="zh-CN" altLang="en-US" sz="2400" b="1" dirty="0">
                <a:effectLst/>
                <a:ea typeface="宋体" pitchFamily="2" charset="-122"/>
              </a:rPr>
              <a:t>）</a:t>
            </a:r>
            <a:r>
              <a:rPr lang="zh-CN" altLang="en-US" sz="2400" b="1" dirty="0">
                <a:solidFill>
                  <a:srgbClr val="FFFF00"/>
                </a:solidFill>
                <a:effectLst/>
                <a:ea typeface="宋体" pitchFamily="2" charset="-122"/>
              </a:rPr>
              <a:t>地表地质作用</a:t>
            </a:r>
            <a:r>
              <a:rPr lang="zh-CN" altLang="en-US" sz="2400" b="1" dirty="0">
                <a:effectLst/>
                <a:ea typeface="宋体" pitchFamily="2" charset="-122"/>
              </a:rPr>
              <a:t>。</a:t>
            </a:r>
            <a:r>
              <a:rPr lang="zh-CN" altLang="en-US" sz="2400" dirty="0">
                <a:effectLst/>
                <a:ea typeface="宋体" pitchFamily="2" charset="-122"/>
              </a:rPr>
              <a:t>建筑物所在地区风化作用、岩溶、滑坡、崩塌、泥石流、风沙、河流冲刷等各种灾害地质作用的特征。</a:t>
            </a:r>
          </a:p>
          <a:p>
            <a:pPr>
              <a:buFont typeface="Wingdings" pitchFamily="2" charset="2"/>
              <a:buNone/>
            </a:pPr>
            <a:r>
              <a:rPr lang="zh-CN" altLang="en-US" sz="2400" b="1" dirty="0">
                <a:effectLst/>
                <a:ea typeface="宋体" pitchFamily="2" charset="-122"/>
              </a:rPr>
              <a:t>    </a:t>
            </a:r>
            <a:r>
              <a:rPr lang="en-US" altLang="zh-CN" sz="2400" b="1" dirty="0">
                <a:effectLst/>
                <a:ea typeface="宋体" pitchFamily="2" charset="-122"/>
              </a:rPr>
              <a:t>5</a:t>
            </a:r>
            <a:r>
              <a:rPr lang="zh-CN" altLang="en-US" sz="2400" b="1" dirty="0">
                <a:effectLst/>
                <a:ea typeface="宋体" pitchFamily="2" charset="-122"/>
              </a:rPr>
              <a:t>）</a:t>
            </a:r>
            <a:r>
              <a:rPr lang="zh-CN" altLang="en-US" sz="2400" b="1" dirty="0">
                <a:solidFill>
                  <a:srgbClr val="FFFF00"/>
                </a:solidFill>
                <a:effectLst/>
                <a:ea typeface="宋体" pitchFamily="2" charset="-122"/>
              </a:rPr>
              <a:t>地形地貌</a:t>
            </a:r>
            <a:r>
              <a:rPr lang="zh-CN" altLang="en-US" sz="2400" b="1" dirty="0">
                <a:effectLst/>
                <a:ea typeface="宋体" pitchFamily="2" charset="-122"/>
              </a:rPr>
              <a:t>。</a:t>
            </a:r>
            <a:r>
              <a:rPr lang="zh-CN" altLang="en-US" sz="2400" dirty="0">
                <a:effectLst/>
                <a:ea typeface="宋体" pitchFamily="2" charset="-122"/>
              </a:rPr>
              <a:t>建筑场区的地表高低起伏状况以及山坡陡缓程度、沟谷宽窄及形态特征、土层厚薄和基岩出露等特征。</a:t>
            </a:r>
          </a:p>
          <a:p>
            <a:pPr>
              <a:buFont typeface="Wingdings" pitchFamily="2" charset="2"/>
              <a:buNone/>
            </a:pPr>
            <a:r>
              <a:rPr lang="zh-CN" altLang="en-US" sz="2400" b="1" dirty="0">
                <a:effectLst/>
                <a:ea typeface="宋体" pitchFamily="2" charset="-122"/>
              </a:rPr>
              <a:t>    </a:t>
            </a:r>
            <a:r>
              <a:rPr lang="en-US" altLang="zh-CN" sz="2400" b="1" dirty="0">
                <a:effectLst/>
                <a:ea typeface="宋体" pitchFamily="2" charset="-122"/>
              </a:rPr>
              <a:t>6</a:t>
            </a:r>
            <a:r>
              <a:rPr lang="zh-CN" altLang="en-US" sz="2400" b="1" dirty="0">
                <a:effectLst/>
                <a:ea typeface="宋体" pitchFamily="2" charset="-122"/>
              </a:rPr>
              <a:t>）建筑场区的岩、土的</a:t>
            </a:r>
            <a:r>
              <a:rPr lang="zh-CN" altLang="en-US" sz="2400" b="1" dirty="0">
                <a:solidFill>
                  <a:srgbClr val="FFFF00"/>
                </a:solidFill>
                <a:effectLst/>
                <a:ea typeface="宋体" pitchFamily="2" charset="-122"/>
              </a:rPr>
              <a:t>物理力学特性</a:t>
            </a:r>
            <a:r>
              <a:rPr lang="zh-CN" altLang="en-US" sz="2400" b="1" dirty="0">
                <a:effectLst/>
                <a:ea typeface="宋体" pitchFamily="2" charset="-122"/>
              </a:rPr>
              <a:t>等。</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1" name="Rectangle 3"/>
          <p:cNvSpPr>
            <a:spLocks noGrp="1" noChangeArrowheads="1"/>
          </p:cNvSpPr>
          <p:nvPr>
            <p:ph type="body" idx="1"/>
          </p:nvPr>
        </p:nvSpPr>
        <p:spPr>
          <a:xfrm>
            <a:off x="142844" y="260350"/>
            <a:ext cx="8858312" cy="6337300"/>
          </a:xfrm>
          <a:noFill/>
          <a:ln w="9525"/>
        </p:spPr>
        <p:txBody>
          <a:bodyPr/>
          <a:lstStyle/>
          <a:p>
            <a:pPr>
              <a:buFont typeface="Wingdings" pitchFamily="2" charset="2"/>
              <a:buNone/>
            </a:pPr>
            <a:r>
              <a:rPr lang="en-US" altLang="zh-CN" sz="2800" b="1" dirty="0">
                <a:effectLst/>
                <a:ea typeface="宋体" pitchFamily="2" charset="-122"/>
              </a:rPr>
              <a:t>3</a:t>
            </a:r>
            <a:r>
              <a:rPr lang="zh-CN" altLang="en-US" sz="2800" b="1" dirty="0">
                <a:effectLst/>
                <a:ea typeface="宋体" pitchFamily="2" charset="-122"/>
              </a:rPr>
              <a:t>．</a:t>
            </a:r>
            <a:r>
              <a:rPr lang="zh-CN" altLang="en-US" b="1" dirty="0">
                <a:effectLst/>
                <a:ea typeface="宋体" pitchFamily="2" charset="-122"/>
              </a:rPr>
              <a:t>工程地质问题</a:t>
            </a:r>
          </a:p>
          <a:p>
            <a:pPr marL="216000">
              <a:lnSpc>
                <a:spcPct val="150000"/>
              </a:lnSpc>
              <a:spcBef>
                <a:spcPts val="600"/>
              </a:spcBef>
              <a:buFont typeface="Wingdings" pitchFamily="2" charset="2"/>
              <a:buNone/>
            </a:pPr>
            <a:r>
              <a:rPr lang="zh-CN" altLang="en-US" sz="2800" b="1" dirty="0">
                <a:effectLst/>
                <a:ea typeface="宋体" pitchFamily="2" charset="-122"/>
              </a:rPr>
              <a:t>      </a:t>
            </a:r>
            <a:r>
              <a:rPr lang="zh-CN" altLang="en-US" sz="2400" dirty="0">
                <a:effectLst/>
                <a:ea typeface="宋体" pitchFamily="2" charset="-122"/>
              </a:rPr>
              <a:t>优良的工程地质条件能适应建筑物的要求，但自然界工程地质条件往往都有一定的缺陷。</a:t>
            </a:r>
            <a:r>
              <a:rPr lang="zh-CN" altLang="en-US" sz="2400" dirty="0">
                <a:solidFill>
                  <a:schemeClr val="tx2"/>
                </a:solidFill>
                <a:effectLst/>
                <a:ea typeface="宋体" pitchFamily="2" charset="-122"/>
              </a:rPr>
              <a:t>工程地质条件与工程建设需求之间存在的不适应或矛盾就是工程地质问题。</a:t>
            </a:r>
          </a:p>
          <a:p>
            <a:pPr marL="216000">
              <a:lnSpc>
                <a:spcPct val="150000"/>
              </a:lnSpc>
              <a:spcBef>
                <a:spcPts val="600"/>
              </a:spcBef>
              <a:buFont typeface="Wingdings" pitchFamily="2" charset="2"/>
              <a:buNone/>
            </a:pPr>
            <a:r>
              <a:rPr lang="zh-CN" altLang="en-US" sz="2400" dirty="0">
                <a:effectLst/>
                <a:ea typeface="宋体" pitchFamily="2" charset="-122"/>
              </a:rPr>
              <a:t>          工程地质问题复杂多样，工业与民用建筑的主要工程地质问题是</a:t>
            </a:r>
            <a:r>
              <a:rPr lang="zh-CN" altLang="en-US" sz="2400" dirty="0">
                <a:solidFill>
                  <a:schemeClr val="tx2"/>
                </a:solidFill>
                <a:effectLst/>
                <a:ea typeface="宋体" pitchFamily="2" charset="-122"/>
              </a:rPr>
              <a:t>地基承载力和变形问题</a:t>
            </a:r>
            <a:r>
              <a:rPr lang="zh-CN" altLang="en-US" sz="2400" dirty="0">
                <a:effectLst/>
                <a:ea typeface="宋体" pitchFamily="2" charset="-122"/>
              </a:rPr>
              <a:t>；道路的主要工程地质问题是</a:t>
            </a:r>
            <a:r>
              <a:rPr lang="zh-CN" altLang="en-US" sz="2400" dirty="0">
                <a:solidFill>
                  <a:schemeClr val="tx2"/>
                </a:solidFill>
                <a:effectLst/>
                <a:ea typeface="宋体" pitchFamily="2" charset="-122"/>
              </a:rPr>
              <a:t>路基和边坡稳定性问题</a:t>
            </a:r>
            <a:r>
              <a:rPr lang="zh-CN" altLang="en-US" sz="2400" dirty="0">
                <a:effectLst/>
                <a:ea typeface="宋体" pitchFamily="2" charset="-122"/>
              </a:rPr>
              <a:t>；隧道及地下硐室的主要工程地质问题是</a:t>
            </a:r>
            <a:r>
              <a:rPr lang="zh-CN" altLang="en-US" sz="2400" dirty="0">
                <a:solidFill>
                  <a:schemeClr val="tx2"/>
                </a:solidFill>
                <a:effectLst/>
                <a:ea typeface="宋体" pitchFamily="2" charset="-122"/>
              </a:rPr>
              <a:t>围岩稳定性问题</a:t>
            </a:r>
            <a:r>
              <a:rPr lang="zh-CN" altLang="en-US" sz="2400" dirty="0">
                <a:effectLst/>
                <a:ea typeface="宋体" pitchFamily="2" charset="-122"/>
              </a:rPr>
              <a:t>；水库的主要工程地质问题是</a:t>
            </a:r>
            <a:r>
              <a:rPr lang="zh-CN" altLang="en-US" sz="2400" dirty="0">
                <a:solidFill>
                  <a:schemeClr val="tx2"/>
                </a:solidFill>
                <a:effectLst/>
                <a:ea typeface="宋体" pitchFamily="2" charset="-122"/>
              </a:rPr>
              <a:t>水库渗漏、坝基和坝肩抗滑问题</a:t>
            </a:r>
            <a:r>
              <a:rPr lang="zh-CN" altLang="en-US" sz="2400" dirty="0">
                <a:effectLst/>
                <a:ea typeface="宋体" pitchFamily="2" charset="-122"/>
              </a:rPr>
              <a:t>以及建（构）筑物所处地质环境的</a:t>
            </a:r>
            <a:r>
              <a:rPr lang="zh-CN" altLang="en-US" sz="2400" dirty="0">
                <a:solidFill>
                  <a:schemeClr val="tx2"/>
                </a:solidFill>
                <a:effectLst/>
                <a:ea typeface="宋体" pitchFamily="2" charset="-122"/>
              </a:rPr>
              <a:t>区域构造稳定性问题</a:t>
            </a:r>
            <a:r>
              <a:rPr lang="zh-CN" altLang="en-US" sz="2400" dirty="0">
                <a:effectLst/>
                <a:ea typeface="宋体" pitchFamily="2" charset="-122"/>
              </a:rPr>
              <a:t>等。</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1" name="Rectangle 3"/>
          <p:cNvSpPr>
            <a:spLocks noGrp="1" noChangeArrowheads="1"/>
          </p:cNvSpPr>
          <p:nvPr>
            <p:ph type="body" idx="1"/>
          </p:nvPr>
        </p:nvSpPr>
        <p:spPr>
          <a:xfrm>
            <a:off x="142844" y="260350"/>
            <a:ext cx="8858312" cy="6337300"/>
          </a:xfrm>
          <a:noFill/>
          <a:ln w="9525"/>
        </p:spPr>
        <p:txBody>
          <a:bodyPr/>
          <a:lstStyle/>
          <a:p>
            <a:pPr>
              <a:buFont typeface="Wingdings" pitchFamily="2" charset="2"/>
              <a:buNone/>
            </a:pPr>
            <a:r>
              <a:rPr lang="en-US" altLang="zh-CN" b="1" smtClean="0">
                <a:effectLst/>
                <a:ea typeface="宋体" pitchFamily="2" charset="-122"/>
              </a:rPr>
              <a:t>4</a:t>
            </a:r>
            <a:r>
              <a:rPr lang="zh-CN" altLang="en-US" b="1" smtClean="0">
                <a:effectLst/>
                <a:ea typeface="宋体" pitchFamily="2" charset="-122"/>
              </a:rPr>
              <a:t>．研究方法</a:t>
            </a:r>
            <a:endParaRPr lang="zh-CN" altLang="en-US" b="1" dirty="0">
              <a:effectLst/>
              <a:ea typeface="宋体" pitchFamily="2" charset="-122"/>
            </a:endParaRPr>
          </a:p>
          <a:p>
            <a:pPr marL="216000">
              <a:lnSpc>
                <a:spcPct val="150000"/>
              </a:lnSpc>
              <a:spcBef>
                <a:spcPts val="600"/>
              </a:spcBef>
              <a:buNone/>
            </a:pPr>
            <a:r>
              <a:rPr lang="zh-CN" altLang="en-US" sz="2800" b="1">
                <a:effectLst/>
                <a:ea typeface="宋体" pitchFamily="2" charset="-122"/>
              </a:rPr>
              <a:t>工程地质</a:t>
            </a:r>
            <a:r>
              <a:rPr lang="zh-CN" altLang="en-US" sz="2800" b="1" smtClean="0">
                <a:effectLst/>
                <a:ea typeface="宋体" pitchFamily="2" charset="-122"/>
              </a:rPr>
              <a:t>学的研究方法包括：地质学方法、实验和测试方法、计算方法和模拟方法。</a:t>
            </a:r>
            <a:endParaRPr lang="en-US" altLang="zh-CN" sz="2800" b="1" smtClean="0">
              <a:effectLst/>
              <a:ea typeface="宋体" pitchFamily="2" charset="-122"/>
            </a:endParaRPr>
          </a:p>
          <a:p>
            <a:pPr marL="216000">
              <a:lnSpc>
                <a:spcPct val="150000"/>
              </a:lnSpc>
              <a:spcBef>
                <a:spcPts val="600"/>
              </a:spcBef>
              <a:buNone/>
            </a:pPr>
            <a:r>
              <a:rPr lang="zh-CN" altLang="en-US" sz="2300" b="1">
                <a:effectLst/>
                <a:ea typeface="宋体" pitchFamily="2" charset="-122"/>
              </a:rPr>
              <a:t>地质学方</a:t>
            </a:r>
            <a:r>
              <a:rPr lang="zh-CN" altLang="en-US" sz="2300" b="1" smtClean="0">
                <a:effectLst/>
                <a:ea typeface="宋体" pitchFamily="2" charset="-122"/>
              </a:rPr>
              <a:t>法：即自</a:t>
            </a:r>
            <a:r>
              <a:rPr lang="zh-CN" altLang="en-US" sz="2300" b="1">
                <a:effectLst/>
                <a:ea typeface="宋体" pitchFamily="2" charset="-122"/>
              </a:rPr>
              <a:t>然历史分析</a:t>
            </a:r>
            <a:r>
              <a:rPr lang="zh-CN" altLang="en-US" sz="2300" b="1" smtClean="0">
                <a:effectLst/>
                <a:ea typeface="宋体" pitchFamily="2" charset="-122"/>
              </a:rPr>
              <a:t>法，运用地质学理论查明工程地质条件和地质现象的空间分布，分析其动态过程，进行定性的判断。</a:t>
            </a:r>
            <a:endParaRPr lang="en-US" altLang="zh-CN" sz="2300" b="1" smtClean="0">
              <a:effectLst/>
              <a:ea typeface="宋体" pitchFamily="2" charset="-122"/>
            </a:endParaRPr>
          </a:p>
          <a:p>
            <a:pPr marL="216000">
              <a:lnSpc>
                <a:spcPct val="150000"/>
              </a:lnSpc>
              <a:spcBef>
                <a:spcPts val="600"/>
              </a:spcBef>
              <a:buNone/>
            </a:pPr>
            <a:r>
              <a:rPr lang="zh-CN" altLang="en-US" sz="2300" b="1">
                <a:effectLst/>
                <a:ea typeface="宋体" pitchFamily="2" charset="-122"/>
              </a:rPr>
              <a:t>实验和测试方</a:t>
            </a:r>
            <a:r>
              <a:rPr lang="zh-CN" altLang="en-US" sz="2300" b="1" smtClean="0">
                <a:effectLst/>
                <a:ea typeface="宋体" pitchFamily="2" charset="-122"/>
              </a:rPr>
              <a:t>法：测定岩土体特性参数的实验、地应力量测、地质参数监测等。</a:t>
            </a:r>
            <a:endParaRPr lang="en-US" altLang="zh-CN" sz="2300" b="1" smtClean="0">
              <a:effectLst/>
              <a:ea typeface="宋体" pitchFamily="2" charset="-122"/>
            </a:endParaRPr>
          </a:p>
          <a:p>
            <a:pPr marL="216000">
              <a:lnSpc>
                <a:spcPct val="150000"/>
              </a:lnSpc>
              <a:spcBef>
                <a:spcPts val="600"/>
              </a:spcBef>
              <a:buNone/>
            </a:pPr>
            <a:r>
              <a:rPr lang="zh-CN" altLang="en-US" sz="2300" b="1">
                <a:effectLst/>
                <a:ea typeface="宋体" pitchFamily="2" charset="-122"/>
              </a:rPr>
              <a:t>计算方</a:t>
            </a:r>
            <a:r>
              <a:rPr lang="zh-CN" altLang="en-US" sz="2300" b="1" smtClean="0">
                <a:effectLst/>
                <a:ea typeface="宋体" pitchFamily="2" charset="-122"/>
              </a:rPr>
              <a:t>法：对测试数据进行统计分析，以定量评价工程地质问题。</a:t>
            </a:r>
            <a:endParaRPr lang="en-US" altLang="zh-CN" sz="2300" b="1" smtClean="0">
              <a:effectLst/>
              <a:ea typeface="宋体" pitchFamily="2" charset="-122"/>
            </a:endParaRPr>
          </a:p>
          <a:p>
            <a:pPr marL="216000">
              <a:lnSpc>
                <a:spcPct val="150000"/>
              </a:lnSpc>
              <a:spcBef>
                <a:spcPts val="600"/>
              </a:spcBef>
              <a:buNone/>
            </a:pPr>
            <a:r>
              <a:rPr lang="zh-CN" altLang="en-US" sz="2300" b="1" smtClean="0">
                <a:effectLst/>
                <a:ea typeface="宋体" pitchFamily="2" charset="-122"/>
              </a:rPr>
              <a:t>模</a:t>
            </a:r>
            <a:r>
              <a:rPr lang="zh-CN" altLang="en-US" sz="2300" b="1">
                <a:effectLst/>
                <a:ea typeface="宋体" pitchFamily="2" charset="-122"/>
              </a:rPr>
              <a:t>拟方</a:t>
            </a:r>
            <a:r>
              <a:rPr lang="zh-CN" altLang="en-US" sz="2300" b="1" smtClean="0">
                <a:effectLst/>
                <a:ea typeface="宋体" pitchFamily="2" charset="-122"/>
              </a:rPr>
              <a:t>法：分物理模拟和数值模拟。</a:t>
            </a:r>
            <a:endParaRPr lang="zh-CN" altLang="en-US" sz="2300" dirty="0">
              <a:effectLst/>
              <a:ea typeface="宋体" pitchFamily="2" charset="-122"/>
            </a:endParaRPr>
          </a:p>
        </p:txBody>
      </p:sp>
    </p:spTree>
    <p:extLst>
      <p:ext uri="{BB962C8B-B14F-4D97-AF65-F5344CB8AC3E}">
        <p14:creationId xmlns:p14="http://schemas.microsoft.com/office/powerpoint/2010/main" val="129943282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2" name="Rectangle 2"/>
          <p:cNvSpPr>
            <a:spLocks noGrp="1" noChangeArrowheads="1"/>
          </p:cNvSpPr>
          <p:nvPr>
            <p:ph type="body" idx="1"/>
          </p:nvPr>
        </p:nvSpPr>
        <p:spPr>
          <a:xfrm>
            <a:off x="395536" y="476672"/>
            <a:ext cx="8748464" cy="6264696"/>
          </a:xfrm>
        </p:spPr>
        <p:txBody>
          <a:bodyPr/>
          <a:lstStyle/>
          <a:p>
            <a:pPr marL="0" indent="0">
              <a:buNone/>
            </a:pPr>
            <a:r>
              <a:rPr lang="en-US" altLang="zh-CN" b="1" smtClean="0">
                <a:effectLst/>
                <a:ea typeface="宋体" pitchFamily="2" charset="-122"/>
              </a:rPr>
              <a:t>5</a:t>
            </a:r>
            <a:r>
              <a:rPr lang="zh-CN" altLang="en-US" b="1" smtClean="0">
                <a:effectLst/>
                <a:ea typeface="宋体" pitchFamily="2" charset="-122"/>
              </a:rPr>
              <a:t>．基本任务</a:t>
            </a:r>
            <a:endParaRPr lang="en-US" altLang="zh-CN" b="1" smtClean="0">
              <a:effectLst/>
              <a:ea typeface="宋体" pitchFamily="2" charset="-122"/>
            </a:endParaRPr>
          </a:p>
          <a:p>
            <a:pPr marL="0" indent="0">
              <a:lnSpc>
                <a:spcPct val="150000"/>
              </a:lnSpc>
              <a:buNone/>
            </a:pPr>
            <a:r>
              <a:rPr lang="zh-CN" altLang="en-US" sz="2600" smtClean="0">
                <a:effectLst/>
                <a:ea typeface="宋体" pitchFamily="2" charset="-122"/>
              </a:rPr>
              <a:t>    工</a:t>
            </a:r>
            <a:r>
              <a:rPr lang="zh-CN" altLang="en-US" sz="2600">
                <a:effectLst/>
                <a:ea typeface="宋体" pitchFamily="2" charset="-122"/>
              </a:rPr>
              <a:t>程地</a:t>
            </a:r>
            <a:r>
              <a:rPr lang="zh-CN" altLang="en-US" sz="2600" smtClean="0">
                <a:effectLst/>
                <a:ea typeface="宋体" pitchFamily="2" charset="-122"/>
              </a:rPr>
              <a:t>质学的</a:t>
            </a:r>
            <a:r>
              <a:rPr lang="zh-CN" altLang="en-US" sz="2600">
                <a:effectLst/>
                <a:ea typeface="宋体" pitchFamily="2" charset="-122"/>
              </a:rPr>
              <a:t>基本任务</a:t>
            </a:r>
            <a:r>
              <a:rPr lang="zh-CN" altLang="en-US" sz="2600" smtClean="0">
                <a:effectLst/>
                <a:ea typeface="宋体" pitchFamily="2" charset="-122"/>
              </a:rPr>
              <a:t>：研究人类工程活动与地质环境之间的相互制约，合理开发和妥善保护地质环境，使工程地质活动和地质环境协调相处。表现在：</a:t>
            </a:r>
            <a:endParaRPr lang="en-US" altLang="zh-CN" sz="2600" smtClean="0">
              <a:effectLst/>
              <a:ea typeface="宋体" pitchFamily="2" charset="-122"/>
            </a:endParaRPr>
          </a:p>
          <a:p>
            <a:pPr marL="0" indent="0">
              <a:lnSpc>
                <a:spcPct val="150000"/>
              </a:lnSpc>
              <a:buNone/>
            </a:pPr>
            <a:r>
              <a:rPr lang="en-US" altLang="zh-CN" sz="2600" smtClean="0">
                <a:effectLst/>
                <a:ea typeface="宋体" pitchFamily="2" charset="-122"/>
              </a:rPr>
              <a:t>1</a:t>
            </a:r>
            <a:r>
              <a:rPr lang="zh-CN" altLang="en-US" sz="2600" smtClean="0">
                <a:effectLst/>
                <a:ea typeface="宋体" pitchFamily="2" charset="-122"/>
              </a:rPr>
              <a:t>）区域稳定性研究与评价；</a:t>
            </a:r>
            <a:endParaRPr lang="en-US" altLang="zh-CN" sz="2600" smtClean="0">
              <a:effectLst/>
              <a:ea typeface="宋体" pitchFamily="2" charset="-122"/>
            </a:endParaRPr>
          </a:p>
          <a:p>
            <a:pPr marL="0" indent="0">
              <a:lnSpc>
                <a:spcPct val="150000"/>
              </a:lnSpc>
              <a:buNone/>
            </a:pPr>
            <a:r>
              <a:rPr lang="en-US" altLang="zh-CN" sz="2600" smtClean="0">
                <a:effectLst/>
                <a:ea typeface="宋体" pitchFamily="2" charset="-122"/>
              </a:rPr>
              <a:t>2</a:t>
            </a:r>
            <a:r>
              <a:rPr lang="zh-CN" altLang="en-US" sz="2600" smtClean="0">
                <a:effectLst/>
                <a:ea typeface="宋体" pitchFamily="2" charset="-122"/>
              </a:rPr>
              <a:t>）地基稳定性研究与评价；</a:t>
            </a:r>
            <a:endParaRPr lang="en-US" altLang="zh-CN" sz="2600" smtClean="0">
              <a:effectLst/>
              <a:ea typeface="宋体" pitchFamily="2" charset="-122"/>
            </a:endParaRPr>
          </a:p>
          <a:p>
            <a:pPr marL="0" indent="0">
              <a:lnSpc>
                <a:spcPct val="150000"/>
              </a:lnSpc>
              <a:buNone/>
            </a:pPr>
            <a:r>
              <a:rPr lang="en-US" altLang="zh-CN" sz="2600" smtClean="0">
                <a:effectLst/>
                <a:ea typeface="宋体" pitchFamily="2" charset="-122"/>
              </a:rPr>
              <a:t>3</a:t>
            </a:r>
            <a:r>
              <a:rPr lang="zh-CN" altLang="en-US" sz="2600" smtClean="0">
                <a:effectLst/>
                <a:ea typeface="宋体" pitchFamily="2" charset="-122"/>
              </a:rPr>
              <a:t>）环境影响评价。</a:t>
            </a:r>
            <a:endParaRPr lang="en-US" altLang="zh-CN" sz="2600" smtClean="0">
              <a:effectLst/>
              <a:ea typeface="宋体" pitchFamily="2" charset="-122"/>
            </a:endParaRPr>
          </a:p>
          <a:p>
            <a:pPr marL="0" indent="0">
              <a:buNone/>
            </a:pPr>
            <a:r>
              <a:rPr lang="zh-CN" altLang="en-US" sz="2800" b="1" smtClean="0">
                <a:effectLst/>
                <a:ea typeface="宋体" pitchFamily="2" charset="-122"/>
              </a:rPr>
              <a:t>等</a:t>
            </a:r>
            <a:endParaRPr lang="zh-CN" altLang="en-US" sz="2800" b="1">
              <a:effectLst/>
              <a:ea typeface="宋体" pitchFamily="2" charset="-122"/>
            </a:endParaRPr>
          </a:p>
        </p:txBody>
      </p:sp>
    </p:spTree>
    <p:extLst>
      <p:ext uri="{BB962C8B-B14F-4D97-AF65-F5344CB8AC3E}">
        <p14:creationId xmlns:p14="http://schemas.microsoft.com/office/powerpoint/2010/main" val="507436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600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600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5600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5600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5600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5600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2" name="Rectangle 2"/>
          <p:cNvSpPr>
            <a:spLocks noGrp="1" noChangeArrowheads="1"/>
          </p:cNvSpPr>
          <p:nvPr>
            <p:ph type="body" idx="1"/>
          </p:nvPr>
        </p:nvSpPr>
        <p:spPr>
          <a:xfrm>
            <a:off x="179388" y="476672"/>
            <a:ext cx="8964612" cy="6264696"/>
          </a:xfrm>
        </p:spPr>
        <p:txBody>
          <a:bodyPr/>
          <a:lstStyle/>
          <a:p>
            <a:pPr marL="0" indent="0">
              <a:buNone/>
            </a:pPr>
            <a:r>
              <a:rPr lang="zh-CN" altLang="en-US" smtClean="0">
                <a:effectLst/>
                <a:ea typeface="宋体" pitchFamily="2" charset="-122"/>
              </a:rPr>
              <a:t>具体任务为：</a:t>
            </a:r>
            <a:endParaRPr lang="en-US" altLang="zh-CN" smtClean="0">
              <a:effectLst/>
              <a:ea typeface="宋体" pitchFamily="2" charset="-122"/>
            </a:endParaRPr>
          </a:p>
          <a:p>
            <a:pPr marL="0" indent="0">
              <a:lnSpc>
                <a:spcPct val="150000"/>
              </a:lnSpc>
              <a:buNone/>
            </a:pPr>
            <a:r>
              <a:rPr lang="zh-CN" altLang="en-US" sz="2800" smtClean="0">
                <a:effectLst/>
                <a:ea typeface="宋体" pitchFamily="2" charset="-122"/>
              </a:rPr>
              <a:t>    为</a:t>
            </a:r>
            <a:r>
              <a:rPr lang="zh-CN" altLang="en-US" sz="2800">
                <a:effectLst/>
                <a:ea typeface="宋体" pitchFamily="2" charset="-122"/>
              </a:rPr>
              <a:t>工程建设进行地质勘查和研究，提供工程规划、设计、施工所需的</a:t>
            </a:r>
            <a:r>
              <a:rPr lang="zh-CN" altLang="en-US" sz="2800">
                <a:solidFill>
                  <a:srgbClr val="FFFF00"/>
                </a:solidFill>
                <a:effectLst/>
                <a:ea typeface="宋体" pitchFamily="2" charset="-122"/>
              </a:rPr>
              <a:t>地质资料</a:t>
            </a:r>
            <a:r>
              <a:rPr lang="zh-CN" altLang="en-US" sz="2800">
                <a:effectLst/>
                <a:ea typeface="宋体" pitchFamily="2" charset="-122"/>
              </a:rPr>
              <a:t>，对人类工程活动可能遇到或引起的各种工程地质问题作出</a:t>
            </a:r>
            <a:r>
              <a:rPr lang="zh-CN" altLang="en-US" sz="2800">
                <a:solidFill>
                  <a:schemeClr val="tx2"/>
                </a:solidFill>
                <a:effectLst/>
                <a:ea typeface="宋体" pitchFamily="2" charset="-122"/>
              </a:rPr>
              <a:t>预测</a:t>
            </a:r>
            <a:r>
              <a:rPr lang="zh-CN" altLang="en-US" sz="2800">
                <a:effectLst/>
                <a:ea typeface="宋体" pitchFamily="2" charset="-122"/>
              </a:rPr>
              <a:t>，对工程地质条件与工程建筑的适宜性作出确切</a:t>
            </a:r>
            <a:r>
              <a:rPr lang="zh-CN" altLang="en-US" sz="2800">
                <a:solidFill>
                  <a:schemeClr val="tx2"/>
                </a:solidFill>
                <a:effectLst/>
                <a:ea typeface="宋体" pitchFamily="2" charset="-122"/>
              </a:rPr>
              <a:t>评价</a:t>
            </a:r>
            <a:r>
              <a:rPr lang="zh-CN" altLang="en-US" sz="2800">
                <a:effectLst/>
                <a:ea typeface="宋体" pitchFamily="2" charset="-122"/>
              </a:rPr>
              <a:t>，从地质方面保证工程建设的技术可行性、经济合理性和安全可靠性。</a:t>
            </a:r>
          </a:p>
          <a:p>
            <a:pPr marL="0" indent="0">
              <a:buNone/>
            </a:pPr>
            <a:endParaRPr lang="zh-CN" altLang="en-US" sz="2800" b="1">
              <a:effectLst/>
              <a:ea typeface="宋体" pitchFamily="2" charset="-122"/>
            </a:endParaRPr>
          </a:p>
        </p:txBody>
      </p:sp>
    </p:spTree>
    <p:extLst>
      <p:ext uri="{BB962C8B-B14F-4D97-AF65-F5344CB8AC3E}">
        <p14:creationId xmlns:p14="http://schemas.microsoft.com/office/powerpoint/2010/main" val="13639645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600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600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2" name="Rectangle 2"/>
          <p:cNvSpPr>
            <a:spLocks noGrp="1" noChangeArrowheads="1"/>
          </p:cNvSpPr>
          <p:nvPr>
            <p:ph type="body" idx="1"/>
          </p:nvPr>
        </p:nvSpPr>
        <p:spPr>
          <a:xfrm>
            <a:off x="21857" y="332656"/>
            <a:ext cx="8964612" cy="6264696"/>
          </a:xfrm>
        </p:spPr>
        <p:txBody>
          <a:bodyPr/>
          <a:lstStyle/>
          <a:p>
            <a:pPr>
              <a:lnSpc>
                <a:spcPct val="130000"/>
              </a:lnSpc>
            </a:pPr>
            <a:r>
              <a:rPr kumimoji="1" lang="zh-CN" altLang="en-US" sz="2800" smtClean="0">
                <a:effectLst/>
                <a:ea typeface="宋体" pitchFamily="2" charset="-122"/>
              </a:rPr>
              <a:t>工</a:t>
            </a:r>
            <a:r>
              <a:rPr kumimoji="1" lang="zh-CN" altLang="en-US" sz="2800" dirty="0" smtClean="0">
                <a:effectLst/>
                <a:ea typeface="宋体" pitchFamily="2" charset="-122"/>
              </a:rPr>
              <a:t>程地质</a:t>
            </a:r>
            <a:r>
              <a:rPr kumimoji="1" lang="zh-CN" altLang="en-US" sz="2800" dirty="0">
                <a:effectLst/>
                <a:ea typeface="宋体" pitchFamily="2" charset="-122"/>
              </a:rPr>
              <a:t>在修建水工建筑物等建筑物或构筑物中的</a:t>
            </a:r>
            <a:r>
              <a:rPr kumimoji="1" lang="zh-CN" altLang="en-US" sz="2800" dirty="0">
                <a:solidFill>
                  <a:schemeClr val="tx2"/>
                </a:solidFill>
                <a:effectLst/>
                <a:ea typeface="宋体" pitchFamily="2" charset="-122"/>
              </a:rPr>
              <a:t>作用和任务</a:t>
            </a:r>
            <a:r>
              <a:rPr kumimoji="1" lang="zh-CN" altLang="en-US" sz="2800" dirty="0">
                <a:effectLst/>
                <a:ea typeface="宋体" pitchFamily="2" charset="-122"/>
              </a:rPr>
              <a:t>：勘察建筑地区的工程地质条件，为选点、规划、设计及施工提供工程地质资料，作为工程的依据；根据工程地质条件论证、评价并选定最优的建筑地点或线路方案；</a:t>
            </a:r>
            <a:r>
              <a:rPr kumimoji="1" lang="zh-CN" altLang="en-US" sz="2800" dirty="0">
                <a:solidFill>
                  <a:srgbClr val="FFFF00"/>
                </a:solidFill>
                <a:effectLst/>
                <a:ea typeface="宋体" pitchFamily="2" charset="-122"/>
              </a:rPr>
              <a:t>预测</a:t>
            </a:r>
            <a:r>
              <a:rPr kumimoji="1" lang="zh-CN" altLang="en-US" sz="2800" dirty="0">
                <a:effectLst/>
                <a:ea typeface="宋体" pitchFamily="2" charset="-122"/>
              </a:rPr>
              <a:t>工程修建时及建成后的工程管理运行中，可能发生的</a:t>
            </a:r>
            <a:r>
              <a:rPr kumimoji="1" lang="zh-CN" altLang="en-US" sz="2800" dirty="0">
                <a:solidFill>
                  <a:srgbClr val="FFFF00"/>
                </a:solidFill>
                <a:effectLst/>
                <a:ea typeface="宋体" pitchFamily="2" charset="-122"/>
              </a:rPr>
              <a:t>工程地质问题</a:t>
            </a:r>
            <a:r>
              <a:rPr kumimoji="1" lang="zh-CN" altLang="en-US" sz="2800" dirty="0">
                <a:effectLst/>
                <a:ea typeface="宋体" pitchFamily="2" charset="-122"/>
              </a:rPr>
              <a:t>，</a:t>
            </a:r>
            <a:r>
              <a:rPr kumimoji="1" lang="zh-CN" altLang="en-US" sz="2800" dirty="0">
                <a:solidFill>
                  <a:srgbClr val="FFFF00"/>
                </a:solidFill>
                <a:effectLst/>
                <a:ea typeface="宋体" pitchFamily="2" charset="-122"/>
              </a:rPr>
              <a:t>提出防治</a:t>
            </a:r>
            <a:r>
              <a:rPr kumimoji="1" lang="zh-CN" altLang="en-US" sz="2800" dirty="0">
                <a:effectLst/>
                <a:ea typeface="宋体" pitchFamily="2" charset="-122"/>
              </a:rPr>
              <a:t>不良工程地质条件的</a:t>
            </a:r>
            <a:r>
              <a:rPr kumimoji="1" lang="zh-CN" altLang="en-US" sz="2800" dirty="0">
                <a:solidFill>
                  <a:srgbClr val="FFFF00"/>
                </a:solidFill>
                <a:effectLst/>
                <a:ea typeface="宋体" pitchFamily="2" charset="-122"/>
              </a:rPr>
              <a:t>措施</a:t>
            </a:r>
            <a:r>
              <a:rPr kumimoji="1" lang="zh-CN" altLang="en-US" sz="2800" dirty="0">
                <a:effectLst/>
                <a:ea typeface="宋体" pitchFamily="2" charset="-122"/>
              </a:rPr>
              <a:t>。</a:t>
            </a:r>
          </a:p>
          <a:p>
            <a:pPr>
              <a:lnSpc>
                <a:spcPct val="130000"/>
              </a:lnSpc>
            </a:pPr>
            <a:r>
              <a:rPr kumimoji="1" lang="zh-CN" altLang="en-US" sz="2800" dirty="0">
                <a:effectLst/>
                <a:ea typeface="宋体" pitchFamily="2" charset="-122"/>
              </a:rPr>
              <a:t>水文地质的</a:t>
            </a:r>
            <a:r>
              <a:rPr kumimoji="1" lang="zh-CN" altLang="en-US" sz="2800" dirty="0">
                <a:solidFill>
                  <a:schemeClr val="tx2"/>
                </a:solidFill>
                <a:effectLst/>
                <a:ea typeface="宋体" pitchFamily="2" charset="-122"/>
              </a:rPr>
              <a:t>主要任务</a:t>
            </a:r>
            <a:r>
              <a:rPr kumimoji="1" lang="zh-CN" altLang="en-US" sz="2800" dirty="0">
                <a:effectLst/>
                <a:ea typeface="宋体" pitchFamily="2" charset="-122"/>
              </a:rPr>
              <a:t>是调查研究：地下水的形成、埋藏、分布、运动及循环转化的规律；地下水的物理、化学性质、成分及水质的变化规律；合理开发、利用、管理地下水资源，</a:t>
            </a:r>
            <a:r>
              <a:rPr kumimoji="1" lang="zh-CN" altLang="en-US" sz="2800" dirty="0">
                <a:solidFill>
                  <a:srgbClr val="FFFF00"/>
                </a:solidFill>
                <a:effectLst/>
                <a:ea typeface="宋体" pitchFamily="2" charset="-122"/>
              </a:rPr>
              <a:t>有效消除地下水危害</a:t>
            </a:r>
            <a:r>
              <a:rPr kumimoji="1" lang="zh-CN" altLang="en-US" sz="2800" dirty="0">
                <a:effectLst/>
                <a:ea typeface="宋体" pitchFamily="2" charset="-122"/>
              </a:rPr>
              <a:t>。</a:t>
            </a:r>
          </a:p>
        </p:txBody>
      </p:sp>
    </p:spTree>
    <p:extLst>
      <p:ext uri="{BB962C8B-B14F-4D97-AF65-F5344CB8AC3E}">
        <p14:creationId xmlns:p14="http://schemas.microsoft.com/office/powerpoint/2010/main" val="36722035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600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600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9" name="Rectangle 3"/>
          <p:cNvSpPr>
            <a:spLocks noGrp="1" noChangeArrowheads="1"/>
          </p:cNvSpPr>
          <p:nvPr>
            <p:ph type="body" idx="1"/>
          </p:nvPr>
        </p:nvSpPr>
        <p:spPr>
          <a:xfrm>
            <a:off x="250825" y="1412875"/>
            <a:ext cx="8893175" cy="3816350"/>
          </a:xfrm>
        </p:spPr>
        <p:txBody>
          <a:bodyPr/>
          <a:lstStyle/>
          <a:p>
            <a:pPr eaLnBrk="1" hangingPunct="1">
              <a:lnSpc>
                <a:spcPct val="120000"/>
              </a:lnSpc>
              <a:buFont typeface="Wingdings" pitchFamily="2" charset="2"/>
              <a:buNone/>
            </a:pPr>
            <a:r>
              <a:rPr kumimoji="1" lang="zh-CN" altLang="en-US" sz="2800">
                <a:effectLst/>
                <a:ea typeface="宋体" pitchFamily="2" charset="-122"/>
              </a:rPr>
              <a:t>1963年10月9日意大利</a:t>
            </a:r>
            <a:r>
              <a:rPr kumimoji="1" lang="en-US" altLang="zh-CN" sz="2800">
                <a:effectLst/>
                <a:ea typeface="宋体" pitchFamily="2" charset="-122"/>
              </a:rPr>
              <a:t>Vaiont（</a:t>
            </a:r>
            <a:r>
              <a:rPr kumimoji="1" lang="zh-CN" altLang="en-US" sz="2800">
                <a:effectLst/>
                <a:ea typeface="宋体" pitchFamily="2" charset="-122"/>
              </a:rPr>
              <a:t>瓦昂特）高拱坝(265.5</a:t>
            </a:r>
            <a:r>
              <a:rPr kumimoji="1" lang="en-US" altLang="zh-CN" sz="2800">
                <a:effectLst/>
                <a:ea typeface="宋体" pitchFamily="2" charset="-122"/>
              </a:rPr>
              <a:t>m)</a:t>
            </a:r>
            <a:r>
              <a:rPr kumimoji="1" lang="zh-CN" altLang="en-US" sz="2800">
                <a:effectLst/>
                <a:ea typeface="宋体" pitchFamily="2" charset="-122"/>
              </a:rPr>
              <a:t>水库上游水文地质条件的改变（大区域内的地下回水），引起库岸巨型滑坡，约2.38亿立方米的土石体以95</a:t>
            </a:r>
            <a:r>
              <a:rPr kumimoji="1" lang="en-US" altLang="zh-CN" sz="2800">
                <a:effectLst/>
                <a:ea typeface="宋体" pitchFamily="2" charset="-122"/>
              </a:rPr>
              <a:t>km/h</a:t>
            </a:r>
            <a:r>
              <a:rPr kumimoji="1" lang="zh-CN" altLang="en-US" sz="2800">
                <a:effectLst/>
                <a:ea typeface="宋体" pitchFamily="2" charset="-122"/>
              </a:rPr>
              <a:t>的速度从大坝上游峡谷区的左岸滑入水库，激起巨大波浪，巨浪高出水库蓄水位260余米，超越坝顶1</a:t>
            </a:r>
            <a:r>
              <a:rPr kumimoji="1" lang="en-US" altLang="zh-CN" sz="2800">
                <a:effectLst/>
                <a:ea typeface="宋体" pitchFamily="2" charset="-122"/>
              </a:rPr>
              <a:t>50</a:t>
            </a:r>
            <a:r>
              <a:rPr kumimoji="1" lang="zh-CN" altLang="en-US" sz="2800">
                <a:effectLst/>
                <a:ea typeface="宋体" pitchFamily="2" charset="-122"/>
              </a:rPr>
              <a:t>余米，过坝水流冲毁了位于其下游的5个村镇，致使3000余人丧生。</a:t>
            </a:r>
            <a:endParaRPr lang="zh-CN" altLang="en-US">
              <a:ea typeface="宋体" pitchFamily="2" charset="-122"/>
            </a:endParaRPr>
          </a:p>
        </p:txBody>
      </p:sp>
      <p:sp>
        <p:nvSpPr>
          <p:cNvPr id="10243" name="Rectangle 4"/>
          <p:cNvSpPr>
            <a:spLocks noGrp="1" noChangeArrowheads="1"/>
          </p:cNvSpPr>
          <p:nvPr>
            <p:ph type="title"/>
          </p:nvPr>
        </p:nvSpPr>
        <p:spPr>
          <a:xfrm>
            <a:off x="755650" y="188913"/>
            <a:ext cx="7772400" cy="1219200"/>
          </a:xfrm>
          <a:noFill/>
        </p:spPr>
        <p:txBody>
          <a:bodyPr/>
          <a:lstStyle/>
          <a:p>
            <a:pPr eaLnBrk="1" hangingPunct="1"/>
            <a:r>
              <a:rPr kumimoji="1" lang="zh-CN" altLang="en-US" sz="3200">
                <a:effectLst/>
                <a:ea typeface="宋体" pitchFamily="2" charset="-122"/>
              </a:rPr>
              <a:t>常见的工程地质及水文地质问题</a:t>
            </a:r>
            <a:r>
              <a:rPr kumimoji="1" lang="zh-CN" altLang="en-US" sz="4000">
                <a:effectLst/>
                <a:ea typeface="宋体" pitchFamily="2" charset="-122"/>
              </a:rPr>
              <a:t/>
            </a:r>
            <a:br>
              <a:rPr kumimoji="1" lang="zh-CN" altLang="en-US" sz="4000">
                <a:effectLst/>
                <a:ea typeface="宋体" pitchFamily="2" charset="-122"/>
              </a:rPr>
            </a:br>
            <a:r>
              <a:rPr kumimoji="1" lang="zh-CN" altLang="en-US" sz="2800">
                <a:effectLst/>
                <a:ea typeface="宋体" pitchFamily="2" charset="-122"/>
              </a:rPr>
              <a:t>滑坡等地质灾害</a:t>
            </a:r>
          </a:p>
        </p:txBody>
      </p:sp>
      <p:pic>
        <p:nvPicPr>
          <p:cNvPr id="10246" name="Picture 6" descr="意大利滑坡"/>
          <p:cNvPicPr>
            <a:picLocks noChangeAspect="1" noChangeArrowheads="1"/>
          </p:cNvPicPr>
          <p:nvPr/>
        </p:nvPicPr>
        <p:blipFill>
          <a:blip r:embed="rId2" cstate="print"/>
          <a:srcRect/>
          <a:stretch>
            <a:fillRect/>
          </a:stretch>
        </p:blipFill>
        <p:spPr bwMode="auto">
          <a:xfrm>
            <a:off x="4362450" y="4508500"/>
            <a:ext cx="4781550" cy="2238375"/>
          </a:xfrm>
          <a:prstGeom prst="rect">
            <a:avLst/>
          </a:prstGeom>
          <a:noFill/>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Grp="1" noChangeArrowheads="1"/>
          </p:cNvSpPr>
          <p:nvPr>
            <p:ph type="title"/>
          </p:nvPr>
        </p:nvSpPr>
        <p:spPr>
          <a:xfrm>
            <a:off x="683568" y="0"/>
            <a:ext cx="7772400" cy="1219200"/>
          </a:xfrm>
          <a:noFill/>
          <a:ln/>
        </p:spPr>
        <p:txBody>
          <a:bodyPr/>
          <a:lstStyle/>
          <a:p>
            <a:r>
              <a:rPr kumimoji="1" lang="zh-CN" altLang="en-US" sz="3200" dirty="0">
                <a:effectLst/>
                <a:ea typeface="宋体" pitchFamily="2" charset="-122"/>
              </a:rPr>
              <a:t>常见的工程地质及水文地质问题</a:t>
            </a:r>
            <a:br>
              <a:rPr kumimoji="1" lang="zh-CN" altLang="en-US" sz="3200" dirty="0">
                <a:effectLst/>
                <a:ea typeface="宋体" pitchFamily="2" charset="-122"/>
              </a:rPr>
            </a:br>
            <a:r>
              <a:rPr kumimoji="1" lang="zh-CN" altLang="en-US" sz="2800" dirty="0">
                <a:effectLst/>
                <a:ea typeface="宋体" pitchFamily="2" charset="-122"/>
              </a:rPr>
              <a:t>地基不均匀沉降或过量沉降</a:t>
            </a:r>
          </a:p>
        </p:txBody>
      </p:sp>
      <p:sp>
        <p:nvSpPr>
          <p:cNvPr id="112643" name="Rectangle 3"/>
          <p:cNvSpPr>
            <a:spLocks noGrp="1" noChangeArrowheads="1"/>
          </p:cNvSpPr>
          <p:nvPr>
            <p:ph type="body" idx="1"/>
          </p:nvPr>
        </p:nvSpPr>
        <p:spPr>
          <a:xfrm>
            <a:off x="-180528" y="1414831"/>
            <a:ext cx="8858280" cy="4454525"/>
          </a:xfrm>
          <a:noFill/>
          <a:ln w="9525"/>
        </p:spPr>
        <p:txBody>
          <a:bodyPr/>
          <a:lstStyle/>
          <a:p>
            <a:pPr>
              <a:lnSpc>
                <a:spcPct val="110000"/>
              </a:lnSpc>
              <a:buFont typeface="Wingdings" pitchFamily="2" charset="2"/>
              <a:buNone/>
            </a:pPr>
            <a:r>
              <a:rPr lang="zh-CN" altLang="en-US" sz="2800" b="1" dirty="0">
                <a:effectLst/>
                <a:ea typeface="宋体" pitchFamily="2" charset="-122"/>
              </a:rPr>
              <a:t>          </a:t>
            </a:r>
            <a:r>
              <a:rPr lang="zh-CN" altLang="en-US" sz="2800" dirty="0">
                <a:effectLst/>
                <a:ea typeface="宋体" pitchFamily="2" charset="-122"/>
              </a:rPr>
              <a:t>典型的例子是加拿大特朗斯康谷仓的地基滑动。该谷仓南北长</a:t>
            </a:r>
            <a:r>
              <a:rPr lang="en-US" altLang="zh-CN" sz="2800" dirty="0">
                <a:effectLst/>
                <a:ea typeface="宋体" pitchFamily="2" charset="-122"/>
              </a:rPr>
              <a:t>59.44m</a:t>
            </a:r>
            <a:r>
              <a:rPr lang="zh-CN" altLang="en-US" sz="2800" dirty="0">
                <a:effectLst/>
                <a:ea typeface="宋体" pitchFamily="2" charset="-122"/>
              </a:rPr>
              <a:t>，东西宽</a:t>
            </a:r>
            <a:r>
              <a:rPr lang="en-US" altLang="zh-CN" sz="2800" dirty="0">
                <a:effectLst/>
                <a:ea typeface="宋体" pitchFamily="2" charset="-122"/>
              </a:rPr>
              <a:t>23.47m</a:t>
            </a:r>
            <a:r>
              <a:rPr lang="zh-CN" altLang="en-US" sz="2800" dirty="0">
                <a:effectLst/>
                <a:ea typeface="宋体" pitchFamily="2" charset="-122"/>
              </a:rPr>
              <a:t>，高</a:t>
            </a:r>
            <a:r>
              <a:rPr lang="en-US" altLang="zh-CN" sz="2800" dirty="0">
                <a:effectLst/>
                <a:ea typeface="宋体" pitchFamily="2" charset="-122"/>
              </a:rPr>
              <a:t>31.00m</a:t>
            </a:r>
            <a:r>
              <a:rPr lang="zh-CN" altLang="en-US" sz="2800" dirty="0">
                <a:effectLst/>
                <a:ea typeface="宋体" pitchFamily="2" charset="-122"/>
              </a:rPr>
              <a:t>，容积</a:t>
            </a:r>
            <a:r>
              <a:rPr lang="en-US" altLang="zh-CN" sz="2800" dirty="0">
                <a:effectLst/>
                <a:ea typeface="宋体" pitchFamily="2" charset="-122"/>
              </a:rPr>
              <a:t>36500m</a:t>
            </a:r>
            <a:r>
              <a:rPr lang="en-US" altLang="zh-CN" sz="2800" baseline="30000" dirty="0">
                <a:effectLst/>
                <a:ea typeface="宋体" pitchFamily="2" charset="-122"/>
              </a:rPr>
              <a:t>3</a:t>
            </a:r>
            <a:r>
              <a:rPr lang="zh-CN" altLang="en-US" sz="2800" dirty="0">
                <a:effectLst/>
                <a:ea typeface="宋体" pitchFamily="2" charset="-122"/>
              </a:rPr>
              <a:t>。基础为钢筋混凝土筏板基础，厚</a:t>
            </a:r>
            <a:r>
              <a:rPr lang="en-US" altLang="zh-CN" sz="2800" dirty="0">
                <a:effectLst/>
                <a:ea typeface="宋体" pitchFamily="2" charset="-122"/>
              </a:rPr>
              <a:t>0.61m</a:t>
            </a:r>
            <a:r>
              <a:rPr lang="zh-CN" altLang="en-US" sz="2800" dirty="0">
                <a:effectLst/>
                <a:ea typeface="宋体" pitchFamily="2" charset="-122"/>
              </a:rPr>
              <a:t>，埋深</a:t>
            </a:r>
            <a:r>
              <a:rPr lang="en-US" altLang="zh-CN" sz="2800" dirty="0">
                <a:effectLst/>
                <a:ea typeface="宋体" pitchFamily="2" charset="-122"/>
              </a:rPr>
              <a:t>3.66m</a:t>
            </a:r>
            <a:r>
              <a:rPr lang="zh-CN" altLang="en-US" sz="2800" dirty="0">
                <a:effectLst/>
                <a:ea typeface="宋体" pitchFamily="2" charset="-122"/>
              </a:rPr>
              <a:t>。谷仓于</a:t>
            </a:r>
            <a:r>
              <a:rPr lang="en-US" altLang="zh-CN" sz="2800" dirty="0">
                <a:effectLst/>
                <a:ea typeface="宋体" pitchFamily="2" charset="-122"/>
              </a:rPr>
              <a:t>1913</a:t>
            </a:r>
            <a:r>
              <a:rPr lang="zh-CN" altLang="en-US" sz="2800" dirty="0">
                <a:effectLst/>
                <a:ea typeface="宋体" pitchFamily="2" charset="-122"/>
              </a:rPr>
              <a:t>年秋建成，谷仓自重</a:t>
            </a:r>
            <a:r>
              <a:rPr lang="en-US" altLang="zh-CN" sz="2800" dirty="0">
                <a:effectLst/>
                <a:ea typeface="宋体" pitchFamily="2" charset="-122"/>
              </a:rPr>
              <a:t>20000t</a:t>
            </a:r>
            <a:r>
              <a:rPr lang="zh-CN" altLang="en-US" sz="2800" dirty="0">
                <a:effectLst/>
                <a:ea typeface="宋体" pitchFamily="2" charset="-122"/>
              </a:rPr>
              <a:t>，相当于装满谷物后总重的</a:t>
            </a:r>
            <a:r>
              <a:rPr lang="en-US" altLang="zh-CN" sz="2800" dirty="0">
                <a:effectLst/>
                <a:ea typeface="宋体" pitchFamily="2" charset="-122"/>
              </a:rPr>
              <a:t>42.5</a:t>
            </a:r>
            <a:r>
              <a:rPr lang="zh-CN" altLang="en-US" sz="2800" dirty="0">
                <a:effectLst/>
                <a:ea typeface="宋体" pitchFamily="2" charset="-122"/>
              </a:rPr>
              <a:t>％。</a:t>
            </a:r>
            <a:r>
              <a:rPr lang="en-US" altLang="zh-CN" sz="2800" dirty="0">
                <a:effectLst/>
                <a:ea typeface="宋体" pitchFamily="2" charset="-122"/>
              </a:rPr>
              <a:t>1913</a:t>
            </a:r>
            <a:r>
              <a:rPr lang="zh-CN" altLang="en-US" sz="2800" dirty="0">
                <a:effectLst/>
                <a:ea typeface="宋体" pitchFamily="2" charset="-122"/>
              </a:rPr>
              <a:t>年</a:t>
            </a:r>
            <a:r>
              <a:rPr lang="en-US" altLang="zh-CN" sz="2800" dirty="0">
                <a:effectLst/>
                <a:ea typeface="宋体" pitchFamily="2" charset="-122"/>
              </a:rPr>
              <a:t>9</a:t>
            </a:r>
            <a:r>
              <a:rPr lang="zh-CN" altLang="en-US" sz="2800" dirty="0">
                <a:effectLst/>
                <a:ea typeface="宋体" pitchFamily="2" charset="-122"/>
              </a:rPr>
              <a:t>月装谷物，装至</a:t>
            </a:r>
            <a:r>
              <a:rPr lang="en-US" altLang="zh-CN" sz="2800" dirty="0">
                <a:effectLst/>
                <a:ea typeface="宋体" pitchFamily="2" charset="-122"/>
              </a:rPr>
              <a:t>31822m3</a:t>
            </a:r>
            <a:r>
              <a:rPr lang="zh-CN" altLang="en-US" sz="2800" dirty="0">
                <a:effectLst/>
                <a:ea typeface="宋体" pitchFamily="2" charset="-122"/>
              </a:rPr>
              <a:t>时，发现谷仓</a:t>
            </a:r>
            <a:r>
              <a:rPr lang="en-US" altLang="zh-CN" sz="2800" dirty="0">
                <a:effectLst/>
                <a:ea typeface="宋体" pitchFamily="2" charset="-122"/>
              </a:rPr>
              <a:t>1</a:t>
            </a:r>
            <a:r>
              <a:rPr lang="zh-CN" altLang="en-US" sz="2800" dirty="0">
                <a:effectLst/>
                <a:ea typeface="宋体" pitchFamily="2" charset="-122"/>
              </a:rPr>
              <a:t>小时内竖向下沉</a:t>
            </a:r>
            <a:r>
              <a:rPr lang="en-US" altLang="zh-CN" sz="2800" dirty="0">
                <a:effectLst/>
                <a:ea typeface="宋体" pitchFamily="2" charset="-122"/>
              </a:rPr>
              <a:t>30.5cm</a:t>
            </a:r>
            <a:r>
              <a:rPr lang="zh-CN" altLang="en-US" sz="2800" dirty="0">
                <a:effectLst/>
                <a:ea typeface="宋体" pitchFamily="2" charset="-122"/>
              </a:rPr>
              <a:t>，并向西倾斜，</a:t>
            </a:r>
            <a:r>
              <a:rPr lang="en-US" altLang="zh-CN" sz="2800" dirty="0">
                <a:effectLst/>
                <a:ea typeface="宋体" pitchFamily="2" charset="-122"/>
              </a:rPr>
              <a:t>24</a:t>
            </a:r>
            <a:r>
              <a:rPr lang="zh-CN" altLang="en-US" sz="2800" dirty="0">
                <a:effectLst/>
                <a:ea typeface="宋体" pitchFamily="2" charset="-122"/>
              </a:rPr>
              <a:t>小时后谷仓倾倒，西侧下陷</a:t>
            </a:r>
            <a:r>
              <a:rPr lang="en-US" altLang="zh-CN" sz="2800" dirty="0">
                <a:effectLst/>
                <a:ea typeface="宋体" pitchFamily="2" charset="-122"/>
              </a:rPr>
              <a:t>7.32m</a:t>
            </a:r>
            <a:r>
              <a:rPr lang="zh-CN" altLang="en-US" sz="2800" dirty="0">
                <a:effectLst/>
                <a:ea typeface="宋体" pitchFamily="2" charset="-122"/>
              </a:rPr>
              <a:t>，东侧抬高</a:t>
            </a:r>
            <a:r>
              <a:rPr lang="en-US" altLang="zh-CN" sz="2800" dirty="0">
                <a:effectLst/>
                <a:ea typeface="宋体" pitchFamily="2" charset="-122"/>
              </a:rPr>
              <a:t>1.52m</a:t>
            </a:r>
            <a:r>
              <a:rPr lang="zh-CN" altLang="en-US" sz="2800" dirty="0">
                <a:effectLst/>
                <a:ea typeface="宋体" pitchFamily="2" charset="-122"/>
              </a:rPr>
              <a:t>，整个谷仓倾斜</a:t>
            </a:r>
            <a:r>
              <a:rPr lang="en-US" altLang="zh-CN" sz="2800" dirty="0">
                <a:effectLst/>
                <a:ea typeface="宋体" pitchFamily="2" charset="-122"/>
              </a:rPr>
              <a:t>27º</a:t>
            </a:r>
            <a:r>
              <a:rPr lang="zh-CN" altLang="en-US" sz="2800" dirty="0">
                <a:effectLst/>
                <a:ea typeface="宋体" pitchFamily="2" charset="-122"/>
              </a:rPr>
              <a:t>。</a:t>
            </a:r>
          </a:p>
        </p:txBody>
      </p:sp>
      <p:pic>
        <p:nvPicPr>
          <p:cNvPr id="4" name="Picture 5" descr="图1"/>
          <p:cNvPicPr>
            <a:picLocks noChangeAspect="1" noChangeArrowheads="1"/>
          </p:cNvPicPr>
          <p:nvPr/>
        </p:nvPicPr>
        <p:blipFill>
          <a:blip r:embed="rId2" cstate="print">
            <a:lum contrast="30000"/>
          </a:blip>
          <a:srcRect/>
          <a:stretch>
            <a:fillRect/>
          </a:stretch>
        </p:blipFill>
        <p:spPr bwMode="auto">
          <a:xfrm>
            <a:off x="5905190" y="4941168"/>
            <a:ext cx="3206411" cy="1856376"/>
          </a:xfrm>
          <a:prstGeom prst="rect">
            <a:avLst/>
          </a:prstGeom>
          <a:noFill/>
          <a:ln w="12700" cap="sq">
            <a:noFill/>
            <a:miter lim="800000"/>
            <a:headEnd type="none" w="sm" len="sm"/>
            <a:tailEnd type="none" w="sm" len="sm"/>
          </a:ln>
          <a:effectLst/>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p:cNvSpPr>
            <a:spLocks noGrp="1" noChangeArrowheads="1"/>
          </p:cNvSpPr>
          <p:nvPr>
            <p:ph type="body" idx="1"/>
          </p:nvPr>
        </p:nvSpPr>
        <p:spPr>
          <a:xfrm>
            <a:off x="250825" y="765175"/>
            <a:ext cx="8642350" cy="5330825"/>
          </a:xfrm>
          <a:noFill/>
          <a:ln w="9525"/>
        </p:spPr>
        <p:txBody>
          <a:bodyPr/>
          <a:lstStyle/>
          <a:p>
            <a:pPr eaLnBrk="1" hangingPunct="1">
              <a:lnSpc>
                <a:spcPct val="150000"/>
              </a:lnSpc>
              <a:spcBef>
                <a:spcPct val="0"/>
              </a:spcBef>
              <a:buClrTx/>
              <a:buSzTx/>
              <a:buFontTx/>
              <a:buNone/>
            </a:pPr>
            <a:r>
              <a:rPr lang="zh-CN" altLang="en-US" dirty="0">
                <a:effectLst/>
                <a:ea typeface="宋体" pitchFamily="2" charset="-122"/>
              </a:rPr>
              <a:t>           </a:t>
            </a:r>
            <a:r>
              <a:rPr lang="zh-CN" altLang="en-US" sz="2800" dirty="0">
                <a:effectLst/>
                <a:ea typeface="宋体" pitchFamily="2" charset="-122"/>
              </a:rPr>
              <a:t>造成谷仓倾倒的原因：设计时未对谷仓建筑场地进行工程地质勘察，而是采用邻近建筑地基的承载力（</a:t>
            </a:r>
            <a:r>
              <a:rPr lang="en-US" altLang="zh-CN" sz="2800" dirty="0">
                <a:effectLst/>
                <a:ea typeface="宋体" pitchFamily="2" charset="-122"/>
              </a:rPr>
              <a:t>352kPa</a:t>
            </a:r>
            <a:r>
              <a:rPr lang="zh-CN" altLang="en-US" sz="2800" dirty="0">
                <a:effectLst/>
                <a:ea typeface="宋体" pitchFamily="2" charset="-122"/>
              </a:rPr>
              <a:t>）作为该谷仓地基的承载力。事后经工程地质勘察查明，该谷仓基础之下埋藏有厚达</a:t>
            </a:r>
            <a:r>
              <a:rPr lang="en-US" altLang="zh-CN" sz="2800" dirty="0">
                <a:effectLst/>
                <a:ea typeface="宋体" pitchFamily="2" charset="-122"/>
              </a:rPr>
              <a:t>16m</a:t>
            </a:r>
            <a:r>
              <a:rPr lang="zh-CN" altLang="en-US" sz="2800" dirty="0">
                <a:effectLst/>
                <a:ea typeface="宋体" pitchFamily="2" charset="-122"/>
              </a:rPr>
              <a:t>的高塑性淤泥质粘土层，其承载力为</a:t>
            </a:r>
            <a:r>
              <a:rPr lang="en-US" altLang="zh-CN" sz="2800" dirty="0">
                <a:effectLst/>
                <a:ea typeface="宋体" pitchFamily="2" charset="-122"/>
              </a:rPr>
              <a:t>193.8</a:t>
            </a:r>
            <a:r>
              <a:rPr lang="zh-CN" altLang="en-US" sz="2800" dirty="0">
                <a:effectLst/>
                <a:ea typeface="宋体" pitchFamily="2" charset="-122"/>
              </a:rPr>
              <a:t>～</a:t>
            </a:r>
            <a:r>
              <a:rPr lang="en-US" altLang="zh-CN" sz="2800" dirty="0">
                <a:effectLst/>
                <a:ea typeface="宋体" pitchFamily="2" charset="-122"/>
              </a:rPr>
              <a:t>276.6kPa</a:t>
            </a:r>
            <a:r>
              <a:rPr lang="zh-CN" altLang="en-US" sz="2800" dirty="0">
                <a:effectLst/>
                <a:ea typeface="宋体" pitchFamily="2" charset="-122"/>
              </a:rPr>
              <a:t>。而谷仓加载使基础底面上的平均荷载达到</a:t>
            </a:r>
            <a:r>
              <a:rPr lang="en-US" altLang="zh-CN" sz="2800" dirty="0">
                <a:effectLst/>
                <a:ea typeface="宋体" pitchFamily="2" charset="-122"/>
              </a:rPr>
              <a:t>329.4kPa</a:t>
            </a:r>
            <a:r>
              <a:rPr lang="zh-CN" altLang="en-US" sz="2800" dirty="0">
                <a:effectLst/>
                <a:ea typeface="宋体" pitchFamily="2" charset="-122"/>
              </a:rPr>
              <a:t>，地基压力远远超过了地基的极限承载力（</a:t>
            </a:r>
            <a:r>
              <a:rPr lang="en-US" altLang="zh-CN" sz="2800" dirty="0">
                <a:effectLst/>
                <a:ea typeface="宋体" pitchFamily="2" charset="-122"/>
              </a:rPr>
              <a:t>276.6kPa</a:t>
            </a:r>
            <a:r>
              <a:rPr lang="zh-CN" altLang="en-US" sz="2800" dirty="0">
                <a:effectLst/>
                <a:ea typeface="宋体" pitchFamily="2" charset="-122"/>
              </a:rPr>
              <a:t>）。</a:t>
            </a:r>
          </a:p>
          <a:p>
            <a:endParaRPr lang="zh-CN" altLang="en-US" dirty="0">
              <a:effectLst/>
              <a:ea typeface="宋体" pitchFamily="2" charset="-122"/>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51" name="Rectangle 3"/>
          <p:cNvSpPr>
            <a:spLocks noGrp="1" noChangeArrowheads="1"/>
          </p:cNvSpPr>
          <p:nvPr>
            <p:ph type="body" idx="1"/>
          </p:nvPr>
        </p:nvSpPr>
        <p:spPr>
          <a:xfrm>
            <a:off x="107950" y="1700808"/>
            <a:ext cx="9036050" cy="5634940"/>
          </a:xfrm>
        </p:spPr>
        <p:txBody>
          <a:bodyPr/>
          <a:lstStyle/>
          <a:p>
            <a:pPr eaLnBrk="1" hangingPunct="1">
              <a:defRPr/>
            </a:pPr>
            <a:r>
              <a:rPr lang="zh-CN" altLang="en-US" sz="2400" dirty="0">
                <a:effectLst/>
                <a:ea typeface="宋体" pitchFamily="2" charset="-122"/>
              </a:rPr>
              <a:t>三门峡水利枢纽工程是新中国治黄规划中确定的第一期重点项目，最主要的目的是要解决黄河的洪水问题。</a:t>
            </a:r>
            <a:r>
              <a:rPr lang="en-US" altLang="zh-CN" sz="2400" dirty="0">
                <a:effectLst/>
                <a:ea typeface="宋体" pitchFamily="2" charset="-122"/>
              </a:rPr>
              <a:t>1957</a:t>
            </a:r>
            <a:r>
              <a:rPr lang="zh-CN" altLang="en-US" sz="2400" dirty="0">
                <a:effectLst/>
                <a:ea typeface="宋体" pitchFamily="2" charset="-122"/>
              </a:rPr>
              <a:t>年</a:t>
            </a:r>
            <a:r>
              <a:rPr lang="en-US" altLang="zh-CN" sz="2400" dirty="0">
                <a:effectLst/>
                <a:ea typeface="宋体" pitchFamily="2" charset="-122"/>
              </a:rPr>
              <a:t>4</a:t>
            </a:r>
            <a:r>
              <a:rPr lang="zh-CN" altLang="en-US" sz="2400" dirty="0">
                <a:effectLst/>
                <a:ea typeface="宋体" pitchFamily="2" charset="-122"/>
              </a:rPr>
              <a:t>月这项工程正式开工，到</a:t>
            </a:r>
            <a:r>
              <a:rPr lang="en-US" altLang="zh-CN" sz="2400" dirty="0">
                <a:effectLst/>
                <a:ea typeface="宋体" pitchFamily="2" charset="-122"/>
              </a:rPr>
              <a:t>1960</a:t>
            </a:r>
            <a:r>
              <a:rPr lang="zh-CN" altLang="en-US" sz="2400" dirty="0">
                <a:effectLst/>
                <a:ea typeface="宋体" pitchFamily="2" charset="-122"/>
              </a:rPr>
              <a:t>年底基本建成，总投资</a:t>
            </a:r>
            <a:r>
              <a:rPr lang="en-US" altLang="zh-CN" sz="2400" dirty="0">
                <a:effectLst/>
                <a:ea typeface="宋体" pitchFamily="2" charset="-122"/>
              </a:rPr>
              <a:t>9.42</a:t>
            </a:r>
            <a:r>
              <a:rPr lang="zh-CN" altLang="en-US" sz="2400" dirty="0">
                <a:effectLst/>
                <a:ea typeface="宋体" pitchFamily="2" charset="-122"/>
              </a:rPr>
              <a:t>亿元人民币。 </a:t>
            </a:r>
          </a:p>
          <a:p>
            <a:pPr eaLnBrk="1" hangingPunct="1">
              <a:defRPr/>
            </a:pPr>
            <a:r>
              <a:rPr lang="zh-CN" altLang="en-US" sz="2400" dirty="0">
                <a:effectLst/>
                <a:ea typeface="宋体" pitchFamily="2" charset="-122"/>
              </a:rPr>
              <a:t>由前苏联专家主持设计，我国专家参与讨论。准备利用三门峡的高坝大库拦蓄泥沙，使三门峡下泄清水来刷深黄河下游的河床，从而把黄河一劳永逸地变成地下河。这样的思路也使得三门峡工程自身没有设计泄流排沙的孔洞。 </a:t>
            </a:r>
          </a:p>
          <a:p>
            <a:pPr eaLnBrk="1" hangingPunct="1">
              <a:defRPr/>
            </a:pPr>
            <a:r>
              <a:rPr lang="en-US" altLang="zh-CN" sz="2400" dirty="0">
                <a:effectLst/>
                <a:ea typeface="宋体" pitchFamily="2" charset="-122"/>
              </a:rPr>
              <a:t>1960</a:t>
            </a:r>
            <a:r>
              <a:rPr lang="zh-CN" altLang="en-US" sz="2400" dirty="0">
                <a:effectLst/>
                <a:ea typeface="宋体" pitchFamily="2" charset="-122"/>
              </a:rPr>
              <a:t>年工程蓄水运行后，泥沙淤积问题开始显现。到</a:t>
            </a:r>
            <a:r>
              <a:rPr lang="en-US" altLang="zh-CN" sz="2400" dirty="0">
                <a:effectLst/>
                <a:ea typeface="宋体" pitchFamily="2" charset="-122"/>
              </a:rPr>
              <a:t>1964</a:t>
            </a:r>
            <a:r>
              <a:rPr lang="zh-CN" altLang="en-US" sz="2400" dirty="0">
                <a:effectLst/>
                <a:ea typeface="宋体" pitchFamily="2" charset="-122"/>
              </a:rPr>
              <a:t>年，三门峡库区的泥沙淤积严重影响了渭河两岸，甚至威胁到西安的安全。</a:t>
            </a:r>
            <a:r>
              <a:rPr lang="en-US" altLang="zh-CN" sz="2400" dirty="0">
                <a:effectLst/>
                <a:ea typeface="宋体" pitchFamily="2" charset="-122"/>
              </a:rPr>
              <a:t>1964</a:t>
            </a:r>
            <a:r>
              <a:rPr lang="zh-CN" altLang="en-US" sz="2400" dirty="0">
                <a:effectLst/>
                <a:ea typeface="宋体" pitchFamily="2" charset="-122"/>
              </a:rPr>
              <a:t>年进行了第一次改建，增加了“两洞四管”用于泄流排沙；</a:t>
            </a:r>
            <a:r>
              <a:rPr lang="en-US" altLang="zh-CN" sz="2400" dirty="0">
                <a:effectLst/>
                <a:ea typeface="宋体" pitchFamily="2" charset="-122"/>
              </a:rPr>
              <a:t>1969</a:t>
            </a:r>
            <a:r>
              <a:rPr lang="zh-CN" altLang="en-US" sz="2400" dirty="0">
                <a:effectLst/>
                <a:ea typeface="宋体" pitchFamily="2" charset="-122"/>
              </a:rPr>
              <a:t>年，又进行了第二次改建，在坝底打开了八个孔洞， 进一步增大了泄流排沙的能力。</a:t>
            </a:r>
          </a:p>
        </p:txBody>
      </p:sp>
      <p:sp>
        <p:nvSpPr>
          <p:cNvPr id="19459" name="Rectangle 5"/>
          <p:cNvSpPr>
            <a:spLocks noGrp="1" noChangeArrowheads="1"/>
          </p:cNvSpPr>
          <p:nvPr>
            <p:ph type="title"/>
          </p:nvPr>
        </p:nvSpPr>
        <p:spPr>
          <a:xfrm>
            <a:off x="611944" y="332656"/>
            <a:ext cx="7920111" cy="792832"/>
          </a:xfrm>
          <a:noFill/>
        </p:spPr>
        <p:txBody>
          <a:bodyPr/>
          <a:lstStyle/>
          <a:p>
            <a:pPr eaLnBrk="1" hangingPunct="1"/>
            <a:r>
              <a:rPr kumimoji="1" lang="zh-CN" altLang="en-US" sz="3200" dirty="0">
                <a:solidFill>
                  <a:schemeClr val="tx2"/>
                </a:solidFill>
                <a:ea typeface="宋体" pitchFamily="2" charset="-122"/>
              </a:rPr>
              <a:t>常见的工程地质及水文地质问题</a:t>
            </a:r>
            <a:r>
              <a:rPr kumimoji="1" lang="en-US" altLang="zh-CN" sz="3200" dirty="0">
                <a:solidFill>
                  <a:schemeClr val="tx2"/>
                </a:solidFill>
                <a:ea typeface="宋体" pitchFamily="2" charset="-122"/>
              </a:rPr>
              <a:t/>
            </a:r>
            <a:br>
              <a:rPr kumimoji="1" lang="en-US" altLang="zh-CN" sz="3200" dirty="0">
                <a:solidFill>
                  <a:schemeClr val="tx2"/>
                </a:solidFill>
                <a:ea typeface="宋体" pitchFamily="2" charset="-122"/>
              </a:rPr>
            </a:br>
            <a:r>
              <a:rPr kumimoji="1" lang="zh-CN" altLang="en-US" sz="2800" dirty="0">
                <a:effectLst/>
                <a:ea typeface="宋体" pitchFamily="2" charset="-122"/>
              </a:rPr>
              <a:t>水库淤积</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7" name="Picture 5" descr="slump1"/>
          <p:cNvPicPr>
            <a:picLocks noChangeAspect="1" noChangeArrowheads="1"/>
          </p:cNvPicPr>
          <p:nvPr/>
        </p:nvPicPr>
        <p:blipFill>
          <a:blip r:embed="rId2" cstate="print"/>
          <a:srcRect/>
          <a:stretch>
            <a:fillRect/>
          </a:stretch>
        </p:blipFill>
        <p:spPr bwMode="auto">
          <a:xfrm>
            <a:off x="5312027" y="2035210"/>
            <a:ext cx="3691136" cy="3097918"/>
          </a:xfrm>
          <a:prstGeom prst="rect">
            <a:avLst/>
          </a:prstGeom>
          <a:noFill/>
          <a:ln w="9525">
            <a:noFill/>
            <a:miter lim="800000"/>
            <a:headEnd/>
            <a:tailEnd/>
          </a:ln>
        </p:spPr>
      </p:pic>
      <p:sp>
        <p:nvSpPr>
          <p:cNvPr id="21510" name="Text Box 6"/>
          <p:cNvSpPr txBox="1">
            <a:spLocks noChangeArrowheads="1"/>
          </p:cNvSpPr>
          <p:nvPr/>
        </p:nvSpPr>
        <p:spPr bwMode="auto">
          <a:xfrm>
            <a:off x="716756" y="5760225"/>
            <a:ext cx="7272337" cy="457200"/>
          </a:xfrm>
          <a:prstGeom prst="rect">
            <a:avLst/>
          </a:prstGeom>
          <a:noFill/>
          <a:ln w="12700" cap="sq">
            <a:noFill/>
            <a:miter lim="800000"/>
            <a:headEnd type="none" w="sm" len="sm"/>
            <a:tailEnd type="none" w="sm" len="sm"/>
          </a:ln>
          <a:effectLst/>
        </p:spPr>
        <p:txBody>
          <a:bodyPr>
            <a:spAutoFit/>
          </a:bodyPr>
          <a:lstStyle/>
          <a:p>
            <a:pPr>
              <a:spcBef>
                <a:spcPct val="50000"/>
              </a:spcBef>
            </a:pPr>
            <a:r>
              <a:rPr lang="zh-CN" altLang="en-US">
                <a:ea typeface="宋体" pitchFamily="2" charset="-122"/>
              </a:rPr>
              <a:t>侵吞良田，大量土地流失，江河水含沙量大量增加</a:t>
            </a:r>
          </a:p>
        </p:txBody>
      </p:sp>
      <p:sp>
        <p:nvSpPr>
          <p:cNvPr id="2" name="Rectangle 6">
            <a:extLst>
              <a:ext uri="{FF2B5EF4-FFF2-40B4-BE49-F238E27FC236}">
                <a16:creationId xmlns:a16="http://schemas.microsoft.com/office/drawing/2014/main" id="{8838E9A9-0208-429A-B4E3-A919ADA15415}"/>
              </a:ext>
            </a:extLst>
          </p:cNvPr>
          <p:cNvSpPr>
            <a:spLocks noChangeArrowheads="1"/>
          </p:cNvSpPr>
          <p:nvPr/>
        </p:nvSpPr>
        <p:spPr bwMode="auto">
          <a:xfrm>
            <a:off x="395288" y="188913"/>
            <a:ext cx="7915275" cy="1219200"/>
          </a:xfrm>
          <a:prstGeom prst="rect">
            <a:avLst/>
          </a:prstGeom>
          <a:noFill/>
          <a:ln w="9525">
            <a:noFill/>
            <a:miter lim="800000"/>
            <a:headEnd/>
            <a:tailEnd/>
          </a:ln>
        </p:spPr>
        <p:txBody>
          <a:bodyPr lIns="92075" tIns="46038" rIns="92075" bIns="46038" anchor="ctr"/>
          <a:lstStyle/>
          <a:p>
            <a:r>
              <a:rPr kumimoji="1" lang="zh-CN" altLang="en-US" sz="3200" dirty="0">
                <a:solidFill>
                  <a:schemeClr val="tx2"/>
                </a:solidFill>
                <a:ea typeface="宋体" pitchFamily="2" charset="-122"/>
              </a:rPr>
              <a:t>常见的工程地质及水文地质问题</a:t>
            </a:r>
            <a:r>
              <a:rPr kumimoji="1" lang="zh-CN" altLang="en-US" sz="4000" dirty="0">
                <a:solidFill>
                  <a:schemeClr val="tx2"/>
                </a:solidFill>
                <a:ea typeface="宋体" pitchFamily="2" charset="-122"/>
              </a:rPr>
              <a:t/>
            </a:r>
            <a:br>
              <a:rPr kumimoji="1" lang="zh-CN" altLang="en-US" sz="4000" dirty="0">
                <a:solidFill>
                  <a:schemeClr val="tx2"/>
                </a:solidFill>
                <a:ea typeface="宋体" pitchFamily="2" charset="-122"/>
              </a:rPr>
            </a:br>
            <a:r>
              <a:rPr kumimoji="1" lang="zh-CN" altLang="en-US" sz="2800" dirty="0">
                <a:solidFill>
                  <a:schemeClr val="tx2"/>
                </a:solidFill>
                <a:ea typeface="宋体" pitchFamily="2" charset="-122"/>
              </a:rPr>
              <a:t>边岸再造</a:t>
            </a:r>
          </a:p>
        </p:txBody>
      </p:sp>
      <p:pic>
        <p:nvPicPr>
          <p:cNvPr id="6" name="Picture 2" descr="image13">
            <a:extLst>
              <a:ext uri="{FF2B5EF4-FFF2-40B4-BE49-F238E27FC236}">
                <a16:creationId xmlns:a16="http://schemas.microsoft.com/office/drawing/2014/main" id="{E9C90C6E-1AC6-4F59-BE98-C7A8FCEEEA7E}"/>
              </a:ext>
            </a:extLst>
          </p:cNvPr>
          <p:cNvPicPr>
            <a:picLocks noChangeAspect="1" noChangeArrowheads="1"/>
          </p:cNvPicPr>
          <p:nvPr/>
        </p:nvPicPr>
        <p:blipFill>
          <a:blip r:embed="rId3" cstate="print">
            <a:lum contrast="12000"/>
          </a:blip>
          <a:srcRect/>
          <a:stretch>
            <a:fillRect/>
          </a:stretch>
        </p:blipFill>
        <p:spPr bwMode="auto">
          <a:xfrm>
            <a:off x="0" y="2059582"/>
            <a:ext cx="5167386" cy="2970789"/>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5" name="Rectangle 3"/>
          <p:cNvSpPr>
            <a:spLocks noGrp="1" noChangeArrowheads="1"/>
          </p:cNvSpPr>
          <p:nvPr>
            <p:ph type="body" idx="1"/>
          </p:nvPr>
        </p:nvSpPr>
        <p:spPr>
          <a:xfrm>
            <a:off x="827088" y="1071546"/>
            <a:ext cx="7772400" cy="4219592"/>
          </a:xfrm>
          <a:noFill/>
          <a:ln w="9525"/>
        </p:spPr>
        <p:txBody>
          <a:bodyPr/>
          <a:lstStyle/>
          <a:p>
            <a:pPr eaLnBrk="1" hangingPunct="1">
              <a:lnSpc>
                <a:spcPct val="110000"/>
              </a:lnSpc>
              <a:spcBef>
                <a:spcPct val="0"/>
              </a:spcBef>
              <a:buClrTx/>
              <a:buSzTx/>
              <a:buFontTx/>
              <a:buNone/>
            </a:pPr>
            <a:r>
              <a:rPr lang="zh-CN" altLang="en-US" dirty="0">
                <a:effectLst/>
                <a:ea typeface="宋体" pitchFamily="2" charset="-122"/>
              </a:rPr>
              <a:t>           工程地质工作是工程建设中不可缺少的一个重要组成部分，任何工程建设都必须在进行相应的工程地质勘探、提出必要的地质资料的基础上，才能进行工程设计和施工。</a:t>
            </a:r>
          </a:p>
          <a:p>
            <a:endParaRPr lang="zh-CN" altLang="en-US" dirty="0">
              <a:effectLst/>
              <a:ea typeface="宋体" pitchFamily="2" charset="-122"/>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83568" y="404664"/>
            <a:ext cx="7990656" cy="5112567"/>
          </a:xfrm>
        </p:spPr>
        <p:txBody>
          <a:bodyPr/>
          <a:lstStyle/>
          <a:p>
            <a:pPr marL="0" indent="0">
              <a:lnSpc>
                <a:spcPct val="150000"/>
              </a:lnSpc>
              <a:buNone/>
            </a:pPr>
            <a:r>
              <a:rPr lang="zh-CN" altLang="en-US" dirty="0"/>
              <a:t>作业（三选</a:t>
            </a:r>
            <a:r>
              <a:rPr lang="zh-CN" altLang="en-US" dirty="0" smtClean="0"/>
              <a:t>一）</a:t>
            </a:r>
            <a:r>
              <a:rPr lang="zh-CN" altLang="en-US" dirty="0"/>
              <a:t>：</a:t>
            </a:r>
            <a:endParaRPr lang="en-US" altLang="zh-CN" dirty="0"/>
          </a:p>
          <a:p>
            <a:pPr marL="0" indent="0">
              <a:lnSpc>
                <a:spcPct val="150000"/>
              </a:lnSpc>
              <a:buNone/>
            </a:pPr>
            <a:r>
              <a:rPr lang="en-US" altLang="zh-CN" sz="2800" dirty="0"/>
              <a:t>1</a:t>
            </a:r>
            <a:r>
              <a:rPr lang="zh-CN" altLang="en-US" sz="2800" dirty="0"/>
              <a:t>、城市地面塌陷成因与</a:t>
            </a:r>
            <a:r>
              <a:rPr lang="zh-CN" altLang="en-US" sz="2800" dirty="0" smtClean="0"/>
              <a:t>防治（选择一个具体的城市，根据其地质条件进行相关分析）</a:t>
            </a:r>
            <a:r>
              <a:rPr lang="en-US" altLang="zh-CN" sz="2800" dirty="0" smtClean="0"/>
              <a:t>!     </a:t>
            </a:r>
            <a:r>
              <a:rPr lang="zh-CN" altLang="en-US" sz="2800" dirty="0" smtClean="0"/>
              <a:t>  </a:t>
            </a:r>
            <a:endParaRPr lang="en-US" altLang="zh-CN" sz="2800" dirty="0"/>
          </a:p>
          <a:p>
            <a:pPr marL="0" indent="0">
              <a:lnSpc>
                <a:spcPct val="150000"/>
              </a:lnSpc>
              <a:buNone/>
            </a:pPr>
            <a:r>
              <a:rPr lang="en-US" altLang="zh-CN" sz="2800" dirty="0"/>
              <a:t>2</a:t>
            </a:r>
            <a:r>
              <a:rPr lang="zh-CN" altLang="en-US" sz="2800" dirty="0"/>
              <a:t>、影响涉水岸坡稳定的因素及防治对策</a:t>
            </a:r>
            <a:r>
              <a:rPr lang="en-US" altLang="zh-CN" sz="2800" dirty="0"/>
              <a:t>(</a:t>
            </a:r>
            <a:r>
              <a:rPr lang="zh-CN" altLang="en-US" sz="2800" dirty="0"/>
              <a:t>可以针对具体的工程建设进行论述）！</a:t>
            </a:r>
            <a:endParaRPr lang="en-US" altLang="zh-CN" sz="2800" dirty="0"/>
          </a:p>
          <a:p>
            <a:pPr marL="0" indent="0">
              <a:lnSpc>
                <a:spcPct val="150000"/>
              </a:lnSpc>
              <a:buNone/>
            </a:pPr>
            <a:r>
              <a:rPr lang="en-US" altLang="zh-CN" sz="2800" dirty="0"/>
              <a:t>3</a:t>
            </a:r>
            <a:r>
              <a:rPr lang="zh-CN" altLang="en-US" sz="2800" dirty="0"/>
              <a:t>、海底隧道或跨海大桥或其他海洋工程（可针对具体工程）选址的工程地质问题与对策分析！</a:t>
            </a:r>
            <a:endParaRPr lang="en-US" altLang="zh-CN" sz="2800" dirty="0"/>
          </a:p>
          <a:p>
            <a:pPr marL="0" indent="0">
              <a:buNone/>
            </a:pPr>
            <a:endParaRPr lang="en-US" altLang="zh-CN" dirty="0"/>
          </a:p>
          <a:p>
            <a:pPr marL="0" indent="0">
              <a:buNone/>
            </a:pPr>
            <a:r>
              <a:rPr lang="zh-CN" altLang="en-US" smtClean="0">
                <a:solidFill>
                  <a:schemeClr val="tx2"/>
                </a:solidFill>
              </a:rPr>
              <a:t>（夏学期第二周上</a:t>
            </a:r>
            <a:r>
              <a:rPr lang="zh-CN" altLang="en-US" dirty="0">
                <a:solidFill>
                  <a:schemeClr val="tx2"/>
                </a:solidFill>
              </a:rPr>
              <a:t>交！）</a:t>
            </a:r>
          </a:p>
        </p:txBody>
      </p:sp>
    </p:spTree>
    <p:extLst>
      <p:ext uri="{BB962C8B-B14F-4D97-AF65-F5344CB8AC3E}">
        <p14:creationId xmlns:p14="http://schemas.microsoft.com/office/powerpoint/2010/main" val="2076920385"/>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7.0&quot;&gt;&lt;object type=&quot;1&quot; unique_id=&quot;10001&quot;&gt;&lt;object type=&quot;8&quot; unique_id=&quot;10002&quot;&gt;&lt;/object&gt;&lt;object type=&quot;2&quot; unique_id=&quot;10003&quot;&gt;&lt;object type=&quot;3&quot; unique_id=&quot;10004&quot;&gt;&lt;property id=&quot;20148&quot; value=&quot;5&quot;/&gt;&lt;property id=&quot;20300&quot; value=&quot;Slide 1 - &amp;quot;工程地质与水文地质&amp;quot;&quot;/&gt;&lt;property id=&quot;20307&quot; value=&quot;256&quot;/&gt;&lt;/object&gt;&lt;object type=&quot;3&quot; unique_id=&quot;10005&quot;&gt;&lt;property id=&quot;20148&quot; value=&quot;5&quot;/&gt;&lt;property id=&quot;20300&quot; value=&quot;Slide 2&quot;/&gt;&lt;property id=&quot;20307&quot; value=&quot;430&quot;/&gt;&lt;/object&gt;&lt;object type=&quot;3&quot; unique_id=&quot;10006&quot;&gt;&lt;property id=&quot;20148&quot; value=&quot;5&quot;/&gt;&lt;property id=&quot;20300&quot; value=&quot;Slide 3&quot;/&gt;&lt;property id=&quot;20307&quot; value=&quot;494&quot;/&gt;&lt;/object&gt;&lt;object type=&quot;3&quot; unique_id=&quot;10007&quot;&gt;&lt;property id=&quot;20148&quot; value=&quot;5&quot;/&gt;&lt;property id=&quot;20300&quot; value=&quot;Slide 4&quot;/&gt;&lt;property id=&quot;20307&quot; value=&quot;495&quot;/&gt;&lt;/object&gt;&lt;object type=&quot;3&quot; unique_id=&quot;10008&quot;&gt;&lt;property id=&quot;20148&quot; value=&quot;5&quot;/&gt;&lt;property id=&quot;20300&quot; value=&quot;Slide 5&quot;/&gt;&lt;property id=&quot;20307&quot; value=&quot;496&quot;/&gt;&lt;/object&gt;&lt;object type=&quot;3&quot; unique_id=&quot;10009&quot;&gt;&lt;property id=&quot;20148&quot; value=&quot;5&quot;/&gt;&lt;property id=&quot;20300&quot; value=&quot;Slide 6&quot;/&gt;&lt;property id=&quot;20307&quot; value=&quot;479&quot;/&gt;&lt;/object&gt;&lt;object type=&quot;3&quot; unique_id=&quot;10010&quot;&gt;&lt;property id=&quot;20148&quot; value=&quot;5&quot;/&gt;&lt;property id=&quot;20300&quot; value=&quot;Slide 8&quot;/&gt;&lt;property id=&quot;20307&quot; value=&quot;375&quot;/&gt;&lt;/object&gt;&lt;object type=&quot;3&quot; unique_id=&quot;10011&quot;&gt;&lt;property id=&quot;20148&quot; value=&quot;5&quot;/&gt;&lt;property id=&quot;20300&quot; value=&quot;Slide 9&quot;/&gt;&lt;property id=&quot;20307&quot; value=&quot;455&quot;/&gt;&lt;/object&gt;&lt;object type=&quot;3&quot; unique_id=&quot;10012&quot;&gt;&lt;property id=&quot;20148&quot; value=&quot;5&quot;/&gt;&lt;property id=&quot;20300&quot; value=&quot;Slide 10&quot;/&gt;&lt;property id=&quot;20307&quot; value=&quot;456&quot;/&gt;&lt;/object&gt;&lt;object type=&quot;3&quot; unique_id=&quot;10013&quot;&gt;&lt;property id=&quot;20148&quot; value=&quot;5&quot;/&gt;&lt;property id=&quot;20300&quot; value=&quot;Slide 11&quot;/&gt;&lt;property id=&quot;20307&quot; value=&quot;457&quot;/&gt;&lt;/object&gt;&lt;object type=&quot;3&quot; unique_id=&quot;10014&quot;&gt;&lt;property id=&quot;20148&quot; value=&quot;5&quot;/&gt;&lt;property id=&quot;20300&quot; value=&quot;Slide 12&quot;/&gt;&lt;property id=&quot;20307&quot; value=&quot;458&quot;/&gt;&lt;/object&gt;&lt;object type=&quot;3&quot; unique_id=&quot;10015&quot;&gt;&lt;property id=&quot;20148&quot; value=&quot;5&quot;/&gt;&lt;property id=&quot;20300&quot; value=&quot;Slide 13 - &amp;quot;常见的工程地质及水文地质问题&amp;#x0D;&amp;#x0A;水库诱发地震&amp;quot;&quot;/&gt;&lt;property id=&quot;20307&quot; value=&quot;372&quot;/&gt;&lt;/object&gt;&lt;object type=&quot;3&quot; unique_id=&quot;10016&quot;&gt;&lt;property id=&quot;20148&quot; value=&quot;5&quot;/&gt;&lt;property id=&quot;20300&quot; value=&quot;Slide 14 - &amp;quot;常见的工程地质及水文地质问题&amp;#x0D;&amp;#x0A;滑坡等地质灾害&amp;quot;&quot;/&gt;&lt;property id=&quot;20307&quot; value=&quot;364&quot;/&gt;&lt;/object&gt;&lt;object type=&quot;3&quot; unique_id=&quot;10017&quot;&gt;&lt;property id=&quot;20148&quot; value=&quot;5&quot;/&gt;&lt;property id=&quot;20300&quot; value=&quot;Slide 15&quot;/&gt;&lt;property id=&quot;20307&quot; value=&quot;473&quot;/&gt;&lt;/object&gt;&lt;object type=&quot;3&quot; unique_id=&quot;10018&quot;&gt;&lt;property id=&quot;20148&quot; value=&quot;5&quot;/&gt;&lt;property id=&quot;20300&quot; value=&quot;Slide 16&quot;/&gt;&lt;property id=&quot;20307&quot; value=&quot;471&quot;/&gt;&lt;/object&gt;&lt;object type=&quot;3&quot; unique_id=&quot;10019&quot;&gt;&lt;property id=&quot;20148&quot; value=&quot;5&quot;/&gt;&lt;property id=&quot;20300&quot; value=&quot;Slide 17&quot;/&gt;&lt;property id=&quot;20307&quot; value=&quot;472&quot;/&gt;&lt;/object&gt;&lt;object type=&quot;3&quot; unique_id=&quot;10020&quot;&gt;&lt;property id=&quot;20148&quot; value=&quot;5&quot;/&gt;&lt;property id=&quot;20300&quot; value=&quot;Slide 18&quot;/&gt;&lt;property id=&quot;20307&quot; value=&quot;368&quot;/&gt;&lt;/object&gt;&lt;object type=&quot;3&quot; unique_id=&quot;10021&quot;&gt;&lt;property id=&quot;20148&quot; value=&quot;5&quot;/&gt;&lt;property id=&quot;20300&quot; value=&quot;Slide 19&quot;/&gt;&lt;property id=&quot;20307&quot; value=&quot;417&quot;/&gt;&lt;/object&gt;&lt;object type=&quot;3&quot; unique_id=&quot;10022&quot;&gt;&lt;property id=&quot;20148&quot; value=&quot;5&quot;/&gt;&lt;property id=&quot;20300&quot; value=&quot;Slide 20&quot;/&gt;&lt;property id=&quot;20307&quot; value=&quot;449&quot;/&gt;&lt;/object&gt;&lt;object type=&quot;3&quot; unique_id=&quot;10023&quot;&gt;&lt;property id=&quot;20148&quot; value=&quot;5&quot;/&gt;&lt;property id=&quot;20300&quot; value=&quot;Slide 21&quot;/&gt;&lt;property id=&quot;20307&quot; value=&quot;450&quot;/&gt;&lt;/object&gt;&lt;object type=&quot;3&quot; unique_id=&quot;10024&quot;&gt;&lt;property id=&quot;20148&quot; value=&quot;5&quot;/&gt;&lt;property id=&quot;20300&quot; value=&quot;Slide 22&quot;/&gt;&lt;property id=&quot;20307&quot; value=&quot;451&quot;/&gt;&lt;/object&gt;&lt;object type=&quot;3&quot; unique_id=&quot;10025&quot;&gt;&lt;property id=&quot;20148&quot; value=&quot;5&quot;/&gt;&lt;property id=&quot;20300&quot; value=&quot;Slide 23&quot;/&gt;&lt;property id=&quot;20307&quot; value=&quot;452&quot;/&gt;&lt;/object&gt;&lt;object type=&quot;3&quot; unique_id=&quot;10026&quot;&gt;&lt;property id=&quot;20148&quot; value=&quot;5&quot;/&gt;&lt;property id=&quot;20300&quot; value=&quot;Slide 24&quot;/&gt;&lt;property id=&quot;20307&quot; value=&quot;453&quot;/&gt;&lt;/object&gt;&lt;object type=&quot;3&quot; unique_id=&quot;10027&quot;&gt;&lt;property id=&quot;20148&quot; value=&quot;5&quot;/&gt;&lt;property id=&quot;20300&quot; value=&quot;Slide 25&quot;/&gt;&lt;property id=&quot;20307&quot; value=&quot;454&quot;/&gt;&lt;/object&gt;&lt;object type=&quot;3&quot; unique_id=&quot;10028&quot;&gt;&lt;property id=&quot;20148&quot; value=&quot;5&quot;/&gt;&lt;property id=&quot;20300&quot; value=&quot;Slide 26 - &amp;quot;泥石流灾害&amp;quot;&quot;/&gt;&lt;property id=&quot;20307&quot; value=&quot;418&quot;/&gt;&lt;/object&gt;&lt;object type=&quot;3&quot; unique_id=&quot;10029&quot;&gt;&lt;property id=&quot;20148&quot; value=&quot;5&quot;/&gt;&lt;property id=&quot;20300&quot; value=&quot;Slide 27 - &amp;quot;常见的工程地质及水文地质问题&amp;#x0D;&amp;#x0A;地下水不合理开采引起地面沉降&amp;quot;&quot;/&gt;&lt;property id=&quot;20307&quot; value=&quot;359&quot;/&gt;&lt;/object&gt;&lt;object type=&quot;3&quot; unique_id=&quot;10030&quot;&gt;&lt;property id=&quot;20148&quot; value=&quot;5&quot;/&gt;&lt;property id=&quot;20300&quot; value=&quot;Slide 28 - &amp;quot;常见的工程地质及水文地质问题&amp;#x0D;&amp;#x0A;地基不均匀沉降或过量沉降&amp;quot;&quot;/&gt;&lt;property id=&quot;20307&quot; value=&quot;459&quot;/&gt;&lt;/object&gt;&lt;object type=&quot;3&quot; unique_id=&quot;10031&quot;&gt;&lt;property id=&quot;20148&quot; value=&quot;5&quot;/&gt;&lt;property id=&quot;20300&quot; value=&quot;Slide 29&quot;/&gt;&lt;property id=&quot;20307&quot; value=&quot;461&quot;/&gt;&lt;/object&gt;&lt;object type=&quot;3&quot; unique_id=&quot;10032&quot;&gt;&lt;property id=&quot;20148&quot; value=&quot;5&quot;/&gt;&lt;property id=&quot;20300&quot; value=&quot;Slide 30&quot;/&gt;&lt;property id=&quot;20307&quot; value=&quot;474&quot;/&gt;&lt;/object&gt;&lt;object type=&quot;3&quot; unique_id=&quot;10033&quot;&gt;&lt;property id=&quot;20148&quot; value=&quot;5&quot;/&gt;&lt;property id=&quot;20300&quot; value=&quot;Slide 31&quot;/&gt;&lt;property id=&quot;20307&quot; value=&quot;462&quot;/&gt;&lt;/object&gt;&lt;object type=&quot;3&quot; unique_id=&quot;10034&quot;&gt;&lt;property id=&quot;20148&quot; value=&quot;5&quot;/&gt;&lt;property id=&quot;20300&quot; value=&quot;Slide 32&quot;/&gt;&lt;property id=&quot;20307&quot; value=&quot;464&quot;/&gt;&lt;/object&gt;&lt;object type=&quot;3&quot; unique_id=&quot;10035&quot;&gt;&lt;property id=&quot;20148&quot; value=&quot;5&quot;/&gt;&lt;property id=&quot;20300&quot; value=&quot;Slide 33&quot;/&gt;&lt;property id=&quot;20307&quot; value=&quot;466&quot;/&gt;&lt;/object&gt;&lt;object type=&quot;3&quot; unique_id=&quot;10036&quot;&gt;&lt;property id=&quot;20148&quot; value=&quot;5&quot;/&gt;&lt;property id=&quot;20300&quot; value=&quot;Slide 34 - &amp;quot;常见的工程地质及水文地质问题&amp;#x0D;&amp;#x0A;水库淤积&amp;quot;&quot;/&gt;&lt;property id=&quot;20307&quot; value=&quot;354&quot;/&gt;&lt;/object&gt;&lt;object type=&quot;3&quot; unique_id=&quot;10037&quot;&gt;&lt;property id=&quot;20148&quot; value=&quot;5&quot;/&gt;&lt;property id=&quot;20300&quot; value=&quot;Slide 35&quot;/&gt;&lt;property id=&quot;20307&quot; value=&quot;337&quot;/&gt;&lt;/object&gt;&lt;object type=&quot;3&quot; unique_id=&quot;10038&quot;&gt;&lt;property id=&quot;20148&quot; value=&quot;5&quot;/&gt;&lt;property id=&quot;20300&quot; value=&quot;Slide 36&quot;/&gt;&lt;property id=&quot;20307&quot; value=&quot;353&quot;/&gt;&lt;/object&gt;&lt;object type=&quot;3&quot; unique_id=&quot;10039&quot;&gt;&lt;property id=&quot;20148&quot; value=&quot;5&quot;/&gt;&lt;property id=&quot;20300&quot; value=&quot;Slide 37&quot;/&gt;&lt;property id=&quot;20307&quot; value=&quot;317&quot;/&gt;&lt;/object&gt;&lt;object type=&quot;3&quot; unique_id=&quot;10040&quot;&gt;&lt;property id=&quot;20148&quot; value=&quot;5&quot;/&gt;&lt;property id=&quot;20300&quot; value=&quot;Slide 40&quot;/&gt;&lt;property id=&quot;20307&quot; value=&quot;467&quot;/&gt;&lt;/object&gt;&lt;object type=&quot;3&quot; unique_id=&quot;10041&quot;&gt;&lt;property id=&quot;20148&quot; value=&quot;5&quot;/&gt;&lt;property id=&quot;20300&quot; value=&quot;Slide 41&quot;/&gt;&lt;property id=&quot;20307&quot; value=&quot;371&quot;/&gt;&lt;/object&gt;&lt;object type=&quot;3&quot; unique_id=&quot;10042&quot;&gt;&lt;property id=&quot;20148&quot; value=&quot;5&quot;/&gt;&lt;property id=&quot;20300&quot; value=&quot;Slide 42 - &amp;quot;第一章 地球的基本知识&amp;#x0D;&amp;#x0A;第一节 地球的构造&amp;#x0D;&amp;#x0A;&amp;quot;&quot;/&gt;&lt;property id=&quot;20307&quot; value=&quot;377&quot;/&gt;&lt;/object&gt;&lt;object type=&quot;3&quot; unique_id=&quot;10043&quot;&gt;&lt;property id=&quot;20148&quot; value=&quot;5&quot;/&gt;&lt;property id=&quot;20300&quot; value=&quot;Slide 43 - &amp;quot;第一节&amp;#x0D;&amp;#x0A;地球的基本参数&amp;quot;&quot;/&gt;&lt;property id=&quot;20307&quot; value=&quot;378&quot;/&gt;&lt;/object&gt;&lt;object type=&quot;3&quot; unique_id=&quot;10044&quot;&gt;&lt;property id=&quot;20148&quot; value=&quot;5&quot;/&gt;&lt;property id=&quot;20300&quot; value=&quot;Slide 44 - &amp;quot;&amp;#x0D;&amp;#x0A;地球的圈层构造&amp;#x0D;&amp;#x0A;&amp;quot;&quot;/&gt;&lt;property id=&quot;20307&quot; value=&quot;380&quot;/&gt;&lt;/object&gt;&lt;object type=&quot;3&quot; unique_id=&quot;10045&quot;&gt;&lt;property id=&quot;20148&quot; value=&quot;5&quot;/&gt;&lt;property id=&quot;20300&quot; value=&quot;Slide 45 - &amp;quot;地球的内部圈层&amp;#x0D;&amp;#x0A;&amp;quot;&quot;/&gt;&lt;property id=&quot;20307&quot; value=&quot;381&quot;/&gt;&lt;/object&gt;&lt;object type=&quot;3&quot; unique_id=&quot;10046&quot;&gt;&lt;property id=&quot;20148&quot; value=&quot;5&quot;/&gt;&lt;property id=&quot;20300&quot; value=&quot;Slide 46 - &amp;quot;地球的内部圈层&amp;#x0D;&amp;#x0A;&amp;quot;&quot;/&gt;&lt;property id=&quot;20307&quot; value=&quot;382&quot;/&gt;&lt;/object&gt;&lt;object type=&quot;3&quot; unique_id=&quot;10047&quot;&gt;&lt;property id=&quot;20148&quot; value=&quot;5&quot;/&gt;&lt;property id=&quot;20300&quot; value=&quot;Slide 47 - &amp;quot;地球的内部圈层&amp;#x0D;&amp;#x0A;&amp;quot;&quot;/&gt;&lt;property id=&quot;20307&quot; value=&quot;407&quot;/&gt;&lt;/object&gt;&lt;object type=&quot;3&quot; unique_id=&quot;10048&quot;&gt;&lt;property id=&quot;20148&quot; value=&quot;5&quot;/&gt;&lt;property id=&quot;20300&quot; value=&quot;Slide 48 - &amp;quot;地球的内部圈层&amp;#x0D;&amp;#x0A;&amp;quot;&quot;/&gt;&lt;property id=&quot;20307&quot; value=&quot;408&quot;/&gt;&lt;/object&gt;&lt;object type=&quot;3&quot; unique_id=&quot;10049&quot;&gt;&lt;property id=&quot;20148&quot; value=&quot;5&quot;/&gt;&lt;property id=&quot;20300&quot; value=&quot;Slide 49 - &amp;quot;地球的外部圈层&amp;#x0D;&amp;#x0A;&amp;quot;&quot;/&gt;&lt;property id=&quot;20307&quot; value=&quot;383&quot;/&gt;&lt;/object&gt;&lt;object type=&quot;3&quot; unique_id=&quot;10050&quot;&gt;&lt;property id=&quot;20148&quot; value=&quot;5&quot;/&gt;&lt;property id=&quot;20300&quot; value=&quot;Slide 50 - &amp;quot;地球的外部圈层&amp;#x0D;&amp;#x0A;&amp;quot;&quot;/&gt;&lt;property id=&quot;20307&quot; value=&quot;385&quot;/&gt;&lt;/object&gt;&lt;object type=&quot;3&quot; unique_id=&quot;10051&quot;&gt;&lt;property id=&quot;20148&quot; value=&quot;5&quot;/&gt;&lt;property id=&quot;20300&quot; value=&quot;Slide 51 - &amp;quot;地球表面的地形&amp;quot;&quot;/&gt;&lt;property id=&quot;20307&quot; value=&quot;387&quot;/&gt;&lt;/object&gt;&lt;object type=&quot;3&quot; unique_id=&quot;10052&quot;&gt;&lt;property id=&quot;20148&quot; value=&quot;5&quot;/&gt;&lt;property id=&quot;20300&quot; value=&quot;Slide 52 - &amp;quot;陆地地形&amp;quot;&quot;/&gt;&lt;property id=&quot;20307&quot; value=&quot;388&quot;/&gt;&lt;/object&gt;&lt;object type=&quot;3&quot; unique_id=&quot;10053&quot;&gt;&lt;property id=&quot;20148&quot; value=&quot;5&quot;/&gt;&lt;property id=&quot;20300&quot; value=&quot;Slide 53 - &amp;quot;海底地形&amp;quot;&quot;/&gt;&lt;property id=&quot;20307&quot; value=&quot;389&quot;/&gt;&lt;/object&gt;&lt;object type=&quot;3&quot; unique_id=&quot;10054&quot;&gt;&lt;property id=&quot;20148&quot; value=&quot;5&quot;/&gt;&lt;property id=&quot;20300&quot; value=&quot;Slide 54 - &amp;quot;海底地形&amp;quot;&quot;/&gt;&lt;property id=&quot;20307&quot; value=&quot;390&quot;/&gt;&lt;/object&gt;&lt;object type=&quot;3&quot; unique_id=&quot;10055&quot;&gt;&lt;property id=&quot;20148&quot; value=&quot;5&quot;/&gt;&lt;property id=&quot;20300&quot; value=&quot;Slide 55 - &amp;quot;第二节 &amp;#x0D;&amp;#x0A;地壳的物质组成&amp;quot;&quot;/&gt;&lt;property id=&quot;20307&quot; value=&quot;391&quot;/&gt;&lt;/object&gt;&lt;object type=&quot;3&quot; unique_id=&quot;10056&quot;&gt;&lt;property id=&quot;20148&quot; value=&quot;5&quot;/&gt;&lt;property id=&quot;20300&quot; value=&quot;Slide 56 - &amp;quot;元素&amp;quot;&quot;/&gt;&lt;property id=&quot;20307&quot; value=&quot;392&quot;/&gt;&lt;/object&gt;&lt;object type=&quot;3&quot; unique_id=&quot;10057&quot;&gt;&lt;property id=&quot;20148&quot; value=&quot;5&quot;/&gt;&lt;property id=&quot;20300&quot; value=&quot;Slide 57 - &amp;quot;矿物&amp;quot;&quot;/&gt;&lt;property id=&quot;20307&quot; value=&quot;393&quot;/&gt;&lt;/object&gt;&lt;object type=&quot;3&quot; unique_id=&quot;10058&quot;&gt;&lt;property id=&quot;20148&quot; value=&quot;5&quot;/&gt;&lt;property id=&quot;20300&quot; value=&quot;Slide 58 - &amp;quot;岩石&amp;quot;&quot;/&gt;&lt;property id=&quot;20307&quot; value=&quot;394&quot;/&gt;&lt;/object&gt;&lt;object type=&quot;3&quot; unique_id=&quot;10059&quot;&gt;&lt;property id=&quot;20148&quot; value=&quot;5&quot;/&gt;&lt;property id=&quot;20300&quot; value=&quot;Slide 59 - &amp;quot;第三节 地质作用 &amp;quot;&quot;/&gt;&lt;property id=&quot;20307&quot; value=&quot;395&quot;/&gt;&lt;/object&gt;&lt;object type=&quot;3&quot; unique_id=&quot;10060&quot;&gt;&lt;property id=&quot;20148&quot; value=&quot;5&quot;/&gt;&lt;property id=&quot;20300&quot; value=&quot;Slide 60 - &amp;quot;内动力地质作用&amp;quot;&quot;/&gt;&lt;property id=&quot;20307&quot; value=&quot;396&quot;/&gt;&lt;/object&gt;&lt;object type=&quot;3&quot; unique_id=&quot;10061&quot;&gt;&lt;property id=&quot;20148&quot; value=&quot;5&quot;/&gt;&lt;property id=&quot;20300&quot; value=&quot;Slide 61 - &amp;quot;内动力地质作用&amp;quot;&quot;/&gt;&lt;property id=&quot;20307&quot; value=&quot;409&quot;/&gt;&lt;/object&gt;&lt;object type=&quot;3&quot; unique_id=&quot;10062&quot;&gt;&lt;property id=&quot;20148&quot; value=&quot;5&quot;/&gt;&lt;property id=&quot;20300&quot; value=&quot;Slide 62 - &amp;quot;外动力地质作用&amp;quot;&quot;/&gt;&lt;property id=&quot;20307&quot; value=&quot;397&quot;/&gt;&lt;/object&gt;&lt;object type=&quot;3&quot; unique_id=&quot;10063&quot;&gt;&lt;property id=&quot;20148&quot; value=&quot;5&quot;/&gt;&lt;property id=&quot;20300&quot; value=&quot;Slide 63 - &amp;quot;外动力地质作用&amp;quot;&quot;/&gt;&lt;property id=&quot;20307&quot; value=&quot;410&quot;/&gt;&lt;/object&gt;&lt;object type=&quot;3&quot; unique_id=&quot;10064&quot;&gt;&lt;property id=&quot;20148&quot; value=&quot;5&quot;/&gt;&lt;property id=&quot;20300&quot; value=&quot;Slide 64 - &amp;quot;第四节 地质年代及地层时代&amp;quot;&quot;/&gt;&lt;property id=&quot;20307&quot; value=&quot;398&quot;/&gt;&lt;/object&gt;&lt;object type=&quot;3&quot; unique_id=&quot;10065&quot;&gt;&lt;property id=&quot;20148&quot; value=&quot;5&quot;/&gt;&lt;property id=&quot;20300&quot; value=&quot;Slide 65 - &amp;quot;地质年代划分方法&amp;quot;&quot;/&gt;&lt;property id=&quot;20307&quot; value=&quot;411&quot;/&gt;&lt;/object&gt;&lt;object type=&quot;3&quot; unique_id=&quot;10066&quot;&gt;&lt;property id=&quot;20148&quot; value=&quot;5&quot;/&gt;&lt;property id=&quot;20300&quot; value=&quot;Slide 66&quot;/&gt;&lt;property id=&quot;20307&quot; value=&quot;412&quot;/&gt;&lt;/object&gt;&lt;object type=&quot;3&quot; unique_id=&quot;10067&quot;&gt;&lt;property id=&quot;20148&quot; value=&quot;5&quot;/&gt;&lt;property id=&quot;20300&quot; value=&quot;Slide 67 - &amp;quot;绝对地质年代的确定方法&amp;quot;&quot;/&gt;&lt;property id=&quot;20307&quot; value=&quot;399&quot;/&gt;&lt;/object&gt;&lt;object type=&quot;3&quot; unique_id=&quot;10068&quot;&gt;&lt;property id=&quot;20148&quot; value=&quot;5&quot;/&gt;&lt;property id=&quot;20300&quot; value=&quot;Slide 68 - &amp;quot;相对地质年代的确定方法&amp;quot;&quot;/&gt;&lt;property id=&quot;20307&quot; value=&quot;401&quot;/&gt;&lt;/object&gt;&lt;object type=&quot;3&quot; unique_id=&quot;10069&quot;&gt;&lt;property id=&quot;20148&quot; value=&quot;5&quot;/&gt;&lt;property id=&quot;20300&quot; value=&quot;Slide 69 - &amp;quot;生物层序律&amp;quot;&quot;/&gt;&lt;property id=&quot;20307&quot; value=&quot;404&quot;/&gt;&lt;/object&gt;&lt;object type=&quot;3&quot; unique_id=&quot;10070&quot;&gt;&lt;property id=&quot;20148&quot; value=&quot;5&quot;/&gt;&lt;property id=&quot;20300&quot; value=&quot;Slide 70 - &amp;quot;岩性对比法（标准剖面法）&amp;quot;&quot;/&gt;&lt;property id=&quot;20307&quot; value=&quot;413&quot;/&gt;&lt;/object&gt;&lt;object type=&quot;3&quot; unique_id=&quot;10071&quot;&gt;&lt;property id=&quot;20148&quot; value=&quot;5&quot;/&gt;&lt;property id=&quot;20300&quot; value=&quot;Slide 71&quot;/&gt;&lt;property id=&quot;20307&quot; value=&quot;485&quot;/&gt;&lt;/object&gt;&lt;object type=&quot;3&quot; unique_id=&quot;10072&quot;&gt;&lt;property id=&quot;20148&quot; value=&quot;5&quot;/&gt;&lt;property id=&quot;20300&quot; value=&quot;Slide 72 - &amp;quot;岩层接触关系法&amp;quot;&quot;/&gt;&lt;property id=&quot;20307&quot; value=&quot;402&quot;/&gt;&lt;/object&gt;&lt;object type=&quot;3&quot; unique_id=&quot;10073&quot;&gt;&lt;property id=&quot;20148&quot; value=&quot;5&quot;/&gt;&lt;property id=&quot;20300&quot; value=&quot;Slide 73 - &amp;quot;岩层接触关系法&amp;quot;&quot;/&gt;&lt;property id=&quot;20307&quot; value=&quot;403&quot;/&gt;&lt;/object&gt;&lt;object type=&quot;3&quot; unique_id=&quot;10074&quot;&gt;&lt;property id=&quot;20148&quot; value=&quot;5&quot;/&gt;&lt;property id=&quot;20300&quot; value=&quot;Slide 74&quot;/&gt;&lt;property id=&quot;20307&quot; value=&quot;487&quot;/&gt;&lt;/object&gt;&lt;object type=&quot;3&quot; unique_id=&quot;10075&quot;&gt;&lt;property id=&quot;20148&quot; value=&quot;5&quot;/&gt;&lt;property id=&quot;20300&quot; value=&quot;Slide 75&quot;/&gt;&lt;property id=&quot;20307&quot; value=&quot;488&quot;/&gt;&lt;/object&gt;&lt;object type=&quot;3&quot; unique_id=&quot;10076&quot;&gt;&lt;property id=&quot;20148&quot; value=&quot;5&quot;/&gt;&lt;property id=&quot;20300&quot; value=&quot;Slide 76&quot;/&gt;&lt;property id=&quot;20307&quot; value=&quot;489&quot;/&gt;&lt;/object&gt;&lt;object type=&quot;3&quot; unique_id=&quot;10077&quot;&gt;&lt;property id=&quot;20148&quot; value=&quot;5&quot;/&gt;&lt;property id=&quot;20300&quot; value=&quot;Slide 77&quot;/&gt;&lt;property id=&quot;20307&quot; value=&quot;490&quot;/&gt;&lt;/object&gt;&lt;object type=&quot;3&quot; unique_id=&quot;10078&quot;&gt;&lt;property id=&quot;20148&quot; value=&quot;5&quot;/&gt;&lt;property id=&quot;20300&quot; value=&quot;Slide 78 - &amp;quot;切割关系法&amp;quot;&quot;/&gt;&lt;property id=&quot;20307&quot; value=&quot;405&quot;/&gt;&lt;/object&gt;&lt;object type=&quot;3&quot; unique_id=&quot;10079&quot;&gt;&lt;property id=&quot;20148&quot; value=&quot;5&quot;/&gt;&lt;property id=&quot;20300&quot; value=&quot;Slide 79 - &amp;quot;切割关系法&amp;quot;&quot;/&gt;&lt;property id=&quot;20307&quot; value=&quot;406&quot;/&gt;&lt;/object&gt;&lt;object type=&quot;3&quot; unique_id=&quot;10158&quot;&gt;&lt;property id=&quot;20148&quot; value=&quot;5&quot;/&gt;&lt;property id=&quot;20300&quot; value=&quot;Slide 7&quot;/&gt;&lt;property id=&quot;20307&quot; value=&quot;497&quot;/&gt;&lt;/object&gt;&lt;object type=&quot;3&quot; unique_id=&quot;10475&quot;&gt;&lt;property id=&quot;20148&quot; value=&quot;5&quot;/&gt;&lt;property id=&quot;20300&quot; value=&quot;Slide 38&quot;/&gt;&lt;property id=&quot;20307&quot; value=&quot;498&quot;/&gt;&lt;/object&gt;&lt;object type=&quot;3&quot; unique_id=&quot;10716&quot;&gt;&lt;property id=&quot;20148&quot; value=&quot;5&quot;/&gt;&lt;property id=&quot;20300&quot; value=&quot;Slide 39&quot;/&gt;&lt;property id=&quot;20307&quot; value=&quot;499&quot;/&gt;&lt;/object&gt;&lt;/object&gt;&lt;/object&gt;&lt;/database&gt;"/>
  <p:tag name="SECTOMILLISECCONVERTED" val="1"/>
</p:tagLst>
</file>

<file path=ppt/theme/theme1.xml><?xml version="1.0" encoding="utf-8"?>
<a:theme xmlns:a="http://schemas.openxmlformats.org/drawingml/2006/main" name="Blue Diagonal">
  <a:themeElements>
    <a:clrScheme name="Blue Diagonal 1">
      <a:dk1>
        <a:srgbClr val="000000"/>
      </a:dk1>
      <a:lt1>
        <a:srgbClr val="FFFFFF"/>
      </a:lt1>
      <a:dk2>
        <a:srgbClr val="0066FF"/>
      </a:dk2>
      <a:lt2>
        <a:srgbClr val="FFFF00"/>
      </a:lt2>
      <a:accent1>
        <a:srgbClr val="00CCCC"/>
      </a:accent1>
      <a:accent2>
        <a:srgbClr val="FF33CC"/>
      </a:accent2>
      <a:accent3>
        <a:srgbClr val="AAB8FF"/>
      </a:accent3>
      <a:accent4>
        <a:srgbClr val="DADADA"/>
      </a:accent4>
      <a:accent5>
        <a:srgbClr val="AAE2E2"/>
      </a:accent5>
      <a:accent6>
        <a:srgbClr val="E72DB9"/>
      </a:accent6>
      <a:hlink>
        <a:srgbClr val="FF4568"/>
      </a:hlink>
      <a:folHlink>
        <a:srgbClr val="CCECFF"/>
      </a:folHlink>
    </a:clrScheme>
    <a:fontScheme name="Blue Diagonal">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spPr>
      <a:bodyPr vert="horz" wrap="non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spPr>
      <a:bodyPr vert="horz" wrap="non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Blue Diagonal 1">
        <a:dk1>
          <a:srgbClr val="000000"/>
        </a:dk1>
        <a:lt1>
          <a:srgbClr val="FFFFFF"/>
        </a:lt1>
        <a:dk2>
          <a:srgbClr val="0066FF"/>
        </a:dk2>
        <a:lt2>
          <a:srgbClr val="FFFF00"/>
        </a:lt2>
        <a:accent1>
          <a:srgbClr val="00CCCC"/>
        </a:accent1>
        <a:accent2>
          <a:srgbClr val="FF33CC"/>
        </a:accent2>
        <a:accent3>
          <a:srgbClr val="AAB8FF"/>
        </a:accent3>
        <a:accent4>
          <a:srgbClr val="DADADA"/>
        </a:accent4>
        <a:accent5>
          <a:srgbClr val="AAE2E2"/>
        </a:accent5>
        <a:accent6>
          <a:srgbClr val="E72DB9"/>
        </a:accent6>
        <a:hlink>
          <a:srgbClr val="FF4568"/>
        </a:hlink>
        <a:folHlink>
          <a:srgbClr val="CCECFF"/>
        </a:folHlink>
      </a:clrScheme>
      <a:clrMap bg1="dk2" tx1="lt1" bg2="dk1" tx2="lt2" accent1="accent1" accent2="accent2" accent3="accent3" accent4="accent4" accent5="accent5" accent6="accent6" hlink="hlink" folHlink="folHlink"/>
    </a:extraClrScheme>
    <a:extraClrScheme>
      <a:clrScheme name="Blue Diagonal 2">
        <a:dk1>
          <a:srgbClr val="000000"/>
        </a:dk1>
        <a:lt1>
          <a:srgbClr val="9999FF"/>
        </a:lt1>
        <a:dk2>
          <a:srgbClr val="6600FF"/>
        </a:dk2>
        <a:lt2>
          <a:srgbClr val="FFFFFF"/>
        </a:lt2>
        <a:accent1>
          <a:srgbClr val="CCCCFF"/>
        </a:accent1>
        <a:accent2>
          <a:srgbClr val="FF99FF"/>
        </a:accent2>
        <a:accent3>
          <a:srgbClr val="CACAFF"/>
        </a:accent3>
        <a:accent4>
          <a:srgbClr val="000000"/>
        </a:accent4>
        <a:accent5>
          <a:srgbClr val="E2E2FF"/>
        </a:accent5>
        <a:accent6>
          <a:srgbClr val="E78AE7"/>
        </a:accent6>
        <a:hlink>
          <a:srgbClr val="00CC66"/>
        </a:hlink>
        <a:folHlink>
          <a:srgbClr val="CCECFF"/>
        </a:folHlink>
      </a:clrScheme>
      <a:clrMap bg1="lt1" tx1="dk1" bg2="lt2" tx2="dk2" accent1="accent1" accent2="accent2" accent3="accent3" accent4="accent4" accent5="accent5" accent6="accent6" hlink="hlink" folHlink="folHlink"/>
    </a:extraClrScheme>
    <a:extraClrScheme>
      <a:clrScheme name="Blue Diagonal 3">
        <a:dk1>
          <a:srgbClr val="000000"/>
        </a:dk1>
        <a:lt1>
          <a:srgbClr val="FFFFFF"/>
        </a:lt1>
        <a:dk2>
          <a:srgbClr val="000000"/>
        </a:dk2>
        <a:lt2>
          <a:srgbClr val="CBCBCB"/>
        </a:lt2>
        <a:accent1>
          <a:srgbClr val="DDDDDD"/>
        </a:accent1>
        <a:accent2>
          <a:srgbClr val="B2B2B2"/>
        </a:accent2>
        <a:accent3>
          <a:srgbClr val="FFFFFF"/>
        </a:accent3>
        <a:accent4>
          <a:srgbClr val="000000"/>
        </a:accent4>
        <a:accent5>
          <a:srgbClr val="EBEBEB"/>
        </a:accent5>
        <a:accent6>
          <a:srgbClr val="A1A1A1"/>
        </a:accent6>
        <a:hlink>
          <a:srgbClr val="4D4D4D"/>
        </a:hlink>
        <a:folHlink>
          <a:srgbClr val="777777"/>
        </a:folHlink>
      </a:clrScheme>
      <a:clrMap bg1="lt1" tx1="dk1" bg2="lt2" tx2="dk2" accent1="accent1" accent2="accent2" accent3="accent3" accent4="accent4" accent5="accent5" accent6="accent6" hlink="hlink" folHlink="folHlink"/>
    </a:extraClrScheme>
    <a:extraClrScheme>
      <a:clrScheme name="Blue Diagonal 4">
        <a:dk1>
          <a:srgbClr val="000000"/>
        </a:dk1>
        <a:lt1>
          <a:srgbClr val="FFFFFF"/>
        </a:lt1>
        <a:dk2>
          <a:srgbClr val="990066"/>
        </a:dk2>
        <a:lt2>
          <a:srgbClr val="FFFF00"/>
        </a:lt2>
        <a:accent1>
          <a:srgbClr val="996633"/>
        </a:accent1>
        <a:accent2>
          <a:srgbClr val="CC6600"/>
        </a:accent2>
        <a:accent3>
          <a:srgbClr val="CAAAB8"/>
        </a:accent3>
        <a:accent4>
          <a:srgbClr val="DADADA"/>
        </a:accent4>
        <a:accent5>
          <a:srgbClr val="CAB8AD"/>
        </a:accent5>
        <a:accent6>
          <a:srgbClr val="B95C00"/>
        </a:accent6>
        <a:hlink>
          <a:srgbClr val="999933"/>
        </a:hlink>
        <a:folHlink>
          <a:srgbClr val="CCCCFF"/>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D:\Program Files\Microsoft Office\Templates\Presentation Designs\Blue Diagonal.pot</Template>
  <TotalTime>11204</TotalTime>
  <Words>1965</Words>
  <Application>Microsoft Office PowerPoint</Application>
  <PresentationFormat>全屏显示(4:3)</PresentationFormat>
  <Paragraphs>100</Paragraphs>
  <Slides>21</Slides>
  <Notes>2</Notes>
  <HiddenSlides>0</HiddenSlides>
  <MMClips>0</MMClips>
  <ScaleCrop>false</ScaleCrop>
  <HeadingPairs>
    <vt:vector size="8" baseType="variant">
      <vt:variant>
        <vt:lpstr>已用的字体</vt:lpstr>
      </vt:variant>
      <vt:variant>
        <vt:i4>6</vt:i4>
      </vt:variant>
      <vt:variant>
        <vt:lpstr>主题</vt:lpstr>
      </vt:variant>
      <vt:variant>
        <vt:i4>1</vt:i4>
      </vt:variant>
      <vt:variant>
        <vt:lpstr>嵌入 OLE 服务器</vt:lpstr>
      </vt:variant>
      <vt:variant>
        <vt:i4>1</vt:i4>
      </vt:variant>
      <vt:variant>
        <vt:lpstr>幻灯片标题</vt:lpstr>
      </vt:variant>
      <vt:variant>
        <vt:i4>21</vt:i4>
      </vt:variant>
    </vt:vector>
  </HeadingPairs>
  <TitlesOfParts>
    <vt:vector size="29" baseType="lpstr">
      <vt:lpstr>PingFang SC-Medium</vt:lpstr>
      <vt:lpstr>仿宋</vt:lpstr>
      <vt:lpstr>黑体</vt:lpstr>
      <vt:lpstr>宋体</vt:lpstr>
      <vt:lpstr>Times New Roman</vt:lpstr>
      <vt:lpstr>Wingdings</vt:lpstr>
      <vt:lpstr>Blue Diagonal</vt:lpstr>
      <vt:lpstr>Image</vt:lpstr>
      <vt:lpstr>土力学与工程地质 </vt:lpstr>
      <vt:lpstr>PowerPoint 演示文稿</vt:lpstr>
      <vt:lpstr>PowerPoint 演示文稿</vt:lpstr>
      <vt:lpstr>PowerPoint 演示文稿</vt:lpstr>
      <vt:lpstr>PowerPoint 演示文稿</vt:lpstr>
      <vt:lpstr>PowerPoint 演示文稿</vt:lpstr>
      <vt:lpstr>土力学与工程地质 工程地质与水文地质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常见的工程地质及水文地质问题 滑坡等地质灾害</vt:lpstr>
      <vt:lpstr>常见的工程地质及水文地质问题 地基不均匀沉降或过量沉降</vt:lpstr>
      <vt:lpstr>PowerPoint 演示文稿</vt:lpstr>
      <vt:lpstr>常见的工程地质及水文地质问题 水库淤积</vt:lpstr>
      <vt:lpstr>PowerPoint 演示文稿</vt:lpstr>
      <vt:lpstr>PowerPoint 演示文稿</vt:lpstr>
      <vt:lpstr>PowerPoint 演示文稿</vt:lpstr>
    </vt:vector>
  </TitlesOfParts>
  <Company>成都理工大学地质教研室</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《工程地质》多媒体课件</dc:title>
  <dc:creator>shy</dc:creator>
  <cp:lastModifiedBy>admin</cp:lastModifiedBy>
  <cp:revision>483</cp:revision>
  <cp:lastPrinted>1601-01-01T00:00:00Z</cp:lastPrinted>
  <dcterms:created xsi:type="dcterms:W3CDTF">2001-12-30T09:49:09Z</dcterms:created>
  <dcterms:modified xsi:type="dcterms:W3CDTF">2025-02-14T05:35:52Z</dcterms:modified>
</cp:coreProperties>
</file>