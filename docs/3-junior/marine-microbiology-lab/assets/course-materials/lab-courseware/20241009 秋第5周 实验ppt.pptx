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425" r:id="rId3"/>
    <p:sldId id="426" r:id="rId4"/>
    <p:sldId id="428" r:id="rId5"/>
    <p:sldId id="427" r:id="rId6"/>
    <p:sldId id="416" r:id="rId7"/>
    <p:sldId id="417" r:id="rId8"/>
    <p:sldId id="422" r:id="rId9"/>
    <p:sldId id="423" r:id="rId10"/>
    <p:sldId id="424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 品美" initials="王" lastIdx="1" clrIdx="0">
    <p:extLst>
      <p:ext uri="{19B8F6BF-5375-455C-9EA6-DF929625EA0E}">
        <p15:presenceInfo xmlns:p15="http://schemas.microsoft.com/office/powerpoint/2012/main" userId="e8f830cc432226c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85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6FFDBF-89A8-4CED-B1CB-8523A4352154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DAD64-272D-4D61-A36F-873F86E3FE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688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5006FD-638D-4E6C-9CCF-3D4658AF70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C26C3BD-298E-40CE-B079-5429E579C1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CB538D-F6E0-4A06-9EE8-858751E87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9B3C53-623A-4BEE-8264-329FFCBCA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CAF78D-8C63-4A04-A86E-AFC517B51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063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397606-93A3-409D-B67D-4FD5C28BF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6501F3-54A8-4E88-A3E1-CA35644C8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68289A-ED03-4119-BDF9-32C49A610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F58A37-1224-4F61-93AC-777F9C870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B6D122-B720-4B3A-9451-B908871C2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6376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4A8940-2223-4034-827E-C66B0DC57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A1540F-5E47-4F02-BC39-548C4D1F1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ACA5E3-0EE4-4004-BC45-399894C3C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8BA87E-68F9-4719-97F4-D5491FF51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D3E54F-6F63-4A7E-8958-CDA3A188A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3175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C4CACA-7F2A-4EA8-B20E-9C9D2FCD1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4507A7-061B-4774-9A0A-70355BD1EB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CFF3495-257B-451B-AD86-BB85632C7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0701B8-0B5D-480D-A662-954FD27DA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FB4FF5-5196-4430-9149-11770DA19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683778-FABB-4B38-AE8F-2F2EAB0EB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808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67C9A-BA36-4894-9FD1-16179F498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B7A235-C146-422A-8F20-D1E00A930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14CF70E-8B3D-4B04-B049-BBB65E939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DF0D9C5-A73A-4807-95D6-A8C20F01F3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AEA4A2D-70A3-41C5-BF83-37E9357F97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751BA9A-A40B-4546-B056-90AE17F81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F5C488D-5F5D-4EF2-B7FE-B81B9E9EA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D2C24C4-A76A-4840-87AA-F1F5EB4D7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1823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2AE834-F633-48DE-845F-C3A0DBC8C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367D939-5B66-4A3E-83BD-2966FF85E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D96AB21-D046-481B-A10B-3EABDFE42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96BD405-D7BD-42B1-8AF2-FB472B1F7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3160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58779A2-9955-44BA-8041-6F24F488A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A41C96A-B38C-40EF-9163-313AEAA55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21D85E-CE56-49E9-BC4F-18D7A8F7E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7909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BAD677-E45D-4730-8424-65A7836FA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3A9A7E-4898-45EE-BE31-AA968E90D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E739831-9F0B-45CB-8CF6-AFB6867238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76B78C-2068-4871-9F08-950BCDE52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292DF1-703C-40A6-998B-252EC10AA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D0B59E-E9CE-4A06-A19F-79BD2F085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26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6DDAD4-C235-4A27-95F5-39163ACE3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4D2C910-359C-4782-A437-58BDC984C2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F58ACDE-F736-47D4-9A11-B6E49B04E4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8C8F96-3A39-49E7-B37F-9E76A9BD3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49BC48-7099-46F4-8EA6-D302DBDB3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BE9815-98AD-4FA7-9D12-CAB799699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258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48B78E-CFE3-43A4-A145-6E00D043F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3F2C2A-5583-45D6-AFEE-30B2BF219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99F7E2-BE40-4E0D-B663-BF1F33A0E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C04631-ECAC-4FFC-B2C2-E659E911F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C4577D-EDD8-4915-B19A-D7C1D9A79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937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28A74BB-AC70-481B-8B87-B19990EE78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4B02042-CF7A-4DA6-8D3A-FAFDB666CB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37B368-1400-4E38-98BD-7524ECD56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AD7664-C763-4AE6-8A93-B79CF803B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C15E55-98D1-458D-837D-42FC5787B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7965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32FDC02-FD09-48CA-8E4D-D8DA968B8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886474-27AA-403B-9ADE-D13F112B3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D5D2D0-624B-4BCC-9907-C0CC11CDCB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8C4D99-D46D-446B-991C-B1A1FE191A29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87C87-6CAF-41C1-8ABA-31391E87B3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69B6B0-F241-4667-9973-6C60F617B0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844813-B777-4B5B-AC53-AB94914AF5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516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E8868EC-50BF-4926-8A23-88419186D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20" y="0"/>
            <a:ext cx="12135759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B345487-F6B9-45D3-8ECA-1E103F349561}"/>
              </a:ext>
            </a:extLst>
          </p:cNvPr>
          <p:cNvSpPr txBox="1"/>
          <p:nvPr/>
        </p:nvSpPr>
        <p:spPr>
          <a:xfrm>
            <a:off x="463688" y="829733"/>
            <a:ext cx="11279050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6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海洋微生物学及实验</a:t>
            </a:r>
            <a:endParaRPr lang="en-US" altLang="zh-CN" sz="9600" b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Arial" panose="020B0604020202020204" pitchFamily="34" charset="0"/>
            </a:endParaRPr>
          </a:p>
          <a:p>
            <a:pPr algn="ctr"/>
            <a:r>
              <a:rPr lang="en-US" altLang="zh-CN" sz="5400" b="1" dirty="0">
                <a:solidFill>
                  <a:srgbClr val="FFFF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2024-2025</a:t>
            </a:r>
            <a:r>
              <a:rPr lang="zh-CN" altLang="en-US" sz="5400" b="1" dirty="0">
                <a:solidFill>
                  <a:srgbClr val="FFFF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学年 秋第五周</a:t>
            </a:r>
          </a:p>
        </p:txBody>
      </p:sp>
    </p:spTree>
    <p:extLst>
      <p:ext uri="{BB962C8B-B14F-4D97-AF65-F5344CB8AC3E}">
        <p14:creationId xmlns:p14="http://schemas.microsoft.com/office/powerpoint/2010/main" val="4017438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74937-FA7A-439E-BE37-286775DC0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73152"/>
            <a:ext cx="10515600" cy="1325563"/>
          </a:xfrm>
        </p:spPr>
        <p:txBody>
          <a:bodyPr/>
          <a:lstStyle/>
          <a:p>
            <a:r>
              <a:rPr lang="zh-CN" altLang="en-US" dirty="0"/>
              <a:t>实验报告问题汇总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DB0CA9-2DDA-420F-8843-4A3027245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787" y="977062"/>
            <a:ext cx="10515600" cy="511649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1. </a:t>
            </a:r>
            <a:r>
              <a:rPr lang="zh-CN" altLang="en-US" sz="2000" b="1" dirty="0">
                <a:latin typeface="Times New Roman" panose="02020603050405020304" pitchFamily="18" charset="0"/>
              </a:rPr>
              <a:t>常用格式的规范性</a:t>
            </a:r>
            <a:endParaRPr lang="en-US" altLang="zh-CN" sz="2000" b="1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solidFill>
                  <a:srgbClr val="0070C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1600" dirty="0">
                <a:solidFill>
                  <a:srgbClr val="0070C0"/>
                </a:solidFill>
                <a:latin typeface="Times New Roman" panose="02020603050405020304" pitchFamily="18" charset="0"/>
              </a:rPr>
              <a:t>）正文统一两端对齐，行间距一致</a:t>
            </a:r>
            <a:endParaRPr lang="en-US" altLang="zh-CN" sz="1600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</a:rPr>
              <a:t>）分级标题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 dirty="0">
                <a:latin typeface="Times New Roman" panose="02020603050405020304" pitchFamily="18" charset="0"/>
              </a:rPr>
              <a:t>一级标题用了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1.  2.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 dirty="0">
                <a:latin typeface="Times New Roman" panose="02020603050405020304" pitchFamily="18" charset="0"/>
              </a:rPr>
              <a:t>二级标题不能再用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1. 2.</a:t>
            </a:r>
            <a:r>
              <a:rPr lang="zh-CN" altLang="en-US" sz="1600" dirty="0">
                <a:latin typeface="Times New Roman" panose="02020603050405020304" pitchFamily="18" charset="0"/>
              </a:rPr>
              <a:t>，应用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）</a:t>
            </a:r>
            <a:r>
              <a:rPr lang="zh-CN" altLang="en-US" sz="1600" dirty="0">
                <a:latin typeface="Times New Roman" panose="02020603050405020304" pitchFamily="18" charset="0"/>
              </a:rPr>
              <a:t>或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）</a:t>
            </a:r>
            <a:r>
              <a:rPr lang="zh-CN" altLang="en-US" sz="1600" dirty="0">
                <a:latin typeface="Times New Roman" panose="02020603050405020304" pitchFamily="18" charset="0"/>
              </a:rPr>
              <a:t>等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solidFill>
                  <a:srgbClr val="0070C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1600" dirty="0">
                <a:solidFill>
                  <a:srgbClr val="0070C0"/>
                </a:solidFill>
                <a:latin typeface="Times New Roman" panose="02020603050405020304" pitchFamily="18" charset="0"/>
              </a:rPr>
              <a:t>）数字和单位间统一空</a:t>
            </a:r>
            <a:r>
              <a:rPr lang="en-US" altLang="zh-CN" sz="1600" dirty="0">
                <a:solidFill>
                  <a:srgbClr val="0070C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1600" dirty="0">
                <a:solidFill>
                  <a:srgbClr val="0070C0"/>
                </a:solidFill>
                <a:latin typeface="Times New Roman" panose="02020603050405020304" pitchFamily="18" charset="0"/>
              </a:rPr>
              <a:t>格</a:t>
            </a:r>
            <a:endParaRPr lang="en-US" altLang="zh-CN" sz="1600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1.5mm 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1.5 mm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℃  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 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℃ </a:t>
            </a:r>
            <a:endParaRPr lang="en-US" altLang="zh-CN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4</a:t>
            </a:r>
            <a:r>
              <a:rPr lang="zh-CN" altLang="en-US" sz="1600" dirty="0">
                <a:latin typeface="Times New Roman" panose="02020603050405020304" pitchFamily="18" charset="0"/>
              </a:rPr>
              <a:t>）英文、数字不用中文字体格式（宋体、等线），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应用英文字体格式（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Times New Roman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），</a:t>
            </a:r>
            <a:r>
              <a:rPr lang="en-US" altLang="zh-CN" sz="1600" dirty="0">
                <a:latin typeface="Times New Roman" panose="02020603050405020304" pitchFamily="18" charset="0"/>
              </a:rPr>
              <a:t>**</a:t>
            </a:r>
            <a:r>
              <a:rPr lang="zh-CN" altLang="en-US" sz="1600" dirty="0">
                <a:latin typeface="Times New Roman" panose="02020603050405020304" pitchFamily="18" charset="0"/>
              </a:rPr>
              <a:t>特别容易出错的是摄氏度，应该是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℃（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Times New Roman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，不应是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℃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（宋体）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）英文标点符号用半角，如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() 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等，另英文表达里是没有顿号的 、</a:t>
            </a:r>
            <a:endParaRPr lang="en-US" altLang="zh-CN" sz="16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0647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4403DAB-2B34-40FB-87B0-E8E24F23D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907" y="479627"/>
            <a:ext cx="10924642" cy="616257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2. </a:t>
            </a:r>
            <a:r>
              <a:rPr lang="zh-CN" altLang="en-US" sz="2000" b="1" dirty="0">
                <a:latin typeface="Times New Roman" panose="02020603050405020304" pitchFamily="18" charset="0"/>
              </a:rPr>
              <a:t>本课程的一些要求</a:t>
            </a:r>
            <a:endParaRPr lang="en-US" altLang="zh-CN" sz="2000" b="1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solidFill>
                  <a:srgbClr val="0070C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1600" dirty="0">
                <a:solidFill>
                  <a:srgbClr val="0070C0"/>
                </a:solidFill>
                <a:latin typeface="Times New Roman" panose="02020603050405020304" pitchFamily="18" charset="0"/>
              </a:rPr>
              <a:t>）拉丁名的属名和种名应该斜体，属名首字母大写，俗名不用斜体</a:t>
            </a:r>
            <a:endParaRPr lang="en-US" altLang="zh-CN" sz="1600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b="1" i="1" u="none" strike="noStrike" baseline="0" dirty="0">
                <a:latin typeface="TimesNewRomanPS-BoldItalicMT"/>
              </a:rPr>
              <a:t>Saccharomyces cerevisiae                   </a:t>
            </a:r>
            <a:r>
              <a:rPr lang="en-US" altLang="zh-CN" sz="1600" b="1" u="none" strike="noStrike" baseline="0" dirty="0">
                <a:latin typeface="TimesNewRomanPS-BoldItalicMT"/>
              </a:rPr>
              <a:t>yeast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zh-CN" sz="1600" b="1" dirty="0">
              <a:latin typeface="TimesNewRomanPS-BoldItalicM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u="none" strike="noStrike" baseline="0" dirty="0">
                <a:latin typeface="TimesNewRomanPS-BoldItalicMT"/>
              </a:rPr>
              <a:t>2</a:t>
            </a:r>
            <a:r>
              <a:rPr lang="zh-CN" altLang="en-US" sz="1600" u="none" strike="noStrike" baseline="0" dirty="0">
                <a:latin typeface="TimesNewRomanPS-BoldItalicMT"/>
              </a:rPr>
              <a:t>）正文提到图表，则一定要有图表的出现，相反亦然</a:t>
            </a:r>
            <a:endParaRPr lang="en-US" altLang="zh-CN" sz="1600" u="none" strike="noStrike" baseline="0" dirty="0">
              <a:latin typeface="TimesNewRomanPS-BoldItalicM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 dirty="0">
                <a:solidFill>
                  <a:srgbClr val="FF0000"/>
                </a:solidFill>
                <a:latin typeface="TimesNewRomanPS-BoldItalicMT"/>
              </a:rPr>
              <a:t>如实验</a:t>
            </a:r>
            <a:r>
              <a:rPr lang="en-US" altLang="zh-CN" sz="1600" dirty="0">
                <a:solidFill>
                  <a:srgbClr val="FF0000"/>
                </a:solidFill>
                <a:latin typeface="TimesNewRomanPS-BoldItalicMT"/>
              </a:rPr>
              <a:t>1</a:t>
            </a:r>
            <a:r>
              <a:rPr lang="zh-CN" altLang="en-US" sz="1600" dirty="0">
                <a:solidFill>
                  <a:srgbClr val="FF0000"/>
                </a:solidFill>
                <a:latin typeface="TimesNewRomanPS-BoldItalicMT"/>
              </a:rPr>
              <a:t>中的实验流程中提到</a:t>
            </a:r>
            <a:r>
              <a:rPr lang="en-US" altLang="zh-CN" sz="1600" dirty="0">
                <a:solidFill>
                  <a:srgbClr val="FF0000"/>
                </a:solidFill>
                <a:latin typeface="TimesNewRomanPS-BoldItalicMT"/>
              </a:rPr>
              <a:t>Fig.2.1</a:t>
            </a:r>
            <a:r>
              <a:rPr lang="zh-CN" altLang="en-US" sz="1600" dirty="0">
                <a:solidFill>
                  <a:srgbClr val="FF0000"/>
                </a:solidFill>
                <a:latin typeface="TimesNewRomanPS-BoldItalicMT"/>
              </a:rPr>
              <a:t>，但下面没有图</a:t>
            </a:r>
            <a:endParaRPr lang="en-US" altLang="zh-CN" sz="1600" dirty="0">
              <a:solidFill>
                <a:srgbClr val="FF0000"/>
              </a:solidFill>
              <a:latin typeface="TimesNewRomanPS-BoldItalicM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1600" u="none" strike="noStrike" baseline="0" dirty="0">
              <a:solidFill>
                <a:srgbClr val="FF0000"/>
              </a:solidFill>
              <a:latin typeface="TimesNewRomanPS-BoldItalicM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1600" dirty="0">
              <a:solidFill>
                <a:srgbClr val="FF0000"/>
              </a:solidFill>
              <a:latin typeface="TimesNewRomanPS-BoldItalicM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solidFill>
                  <a:srgbClr val="0070C0"/>
                </a:solidFill>
                <a:latin typeface="TimesNewRomanPS-BoldItalicMT"/>
              </a:rPr>
              <a:t>3</a:t>
            </a:r>
            <a:r>
              <a:rPr lang="zh-CN" altLang="en-US" sz="1600" dirty="0">
                <a:solidFill>
                  <a:srgbClr val="0070C0"/>
                </a:solidFill>
                <a:latin typeface="TimesNewRomanPS-BoldItalicMT"/>
              </a:rPr>
              <a:t>）如果实验结果与预期不符，要有相应的分析，可以放到结果后面另加一段</a:t>
            </a:r>
            <a:endParaRPr lang="en-US" altLang="zh-CN" sz="1600" dirty="0">
              <a:solidFill>
                <a:srgbClr val="0070C0"/>
              </a:solidFill>
              <a:latin typeface="TimesNewRomanPS-BoldItalicM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 u="none" strike="noStrike" baseline="0" dirty="0">
                <a:solidFill>
                  <a:srgbClr val="FF0000"/>
                </a:solidFill>
                <a:latin typeface="TimesNewRomanPS-BoldItalicMT"/>
              </a:rPr>
              <a:t>如实验</a:t>
            </a:r>
            <a:r>
              <a:rPr lang="en-US" altLang="zh-CN" sz="1600" u="none" strike="noStrike" baseline="0" dirty="0">
                <a:solidFill>
                  <a:srgbClr val="FF0000"/>
                </a:solidFill>
                <a:latin typeface="TimesNewRomanPS-BoldItalicMT"/>
              </a:rPr>
              <a:t>1</a:t>
            </a:r>
            <a:r>
              <a:rPr lang="zh-CN" altLang="en-US" sz="1600" u="none" strike="noStrike" baseline="0" dirty="0">
                <a:solidFill>
                  <a:srgbClr val="FF0000"/>
                </a:solidFill>
                <a:latin typeface="TimesNewRomanPS-BoldItalicMT"/>
              </a:rPr>
              <a:t>中  生理盐水对照 长出的菌比实验台 还要多，那是什么原因</a:t>
            </a:r>
            <a:endParaRPr lang="en-US" altLang="zh-CN" sz="1600" u="none" strike="noStrike" baseline="0" dirty="0">
              <a:solidFill>
                <a:srgbClr val="FF0000"/>
              </a:solidFill>
              <a:latin typeface="TimesNewRomanPS-BoldItalicM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latin typeface="TimesNewRomanPS-BoldItalicMT"/>
              </a:rPr>
              <a:t>4</a:t>
            </a:r>
            <a:r>
              <a:rPr lang="zh-CN" altLang="en-US" sz="1600" dirty="0">
                <a:latin typeface="TimesNewRomanPS-BoldItalicMT"/>
              </a:rPr>
              <a:t>）讨论里有提到“</a:t>
            </a:r>
            <a:r>
              <a:rPr lang="en-US" altLang="zh-CN" sz="1600" dirty="0">
                <a:latin typeface="TimesNewRomanPS-BoldItalicMT"/>
              </a:rPr>
              <a:t>According to</a:t>
            </a:r>
            <a:r>
              <a:rPr lang="zh-CN" altLang="en-US" sz="1600" dirty="0">
                <a:latin typeface="TimesNewRomanPS-BoldItalicMT"/>
              </a:rPr>
              <a:t>”等要结合实验结果的语句，</a:t>
            </a:r>
            <a:endParaRPr lang="en-US" altLang="zh-CN" sz="1600" dirty="0">
              <a:latin typeface="TimesNewRomanPS-BoldItalicM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 dirty="0">
                <a:latin typeface="TimesNewRomanPS-BoldItalicMT"/>
              </a:rPr>
              <a:t>一定要结合本实验的结果进行讨论。如实验</a:t>
            </a:r>
            <a:r>
              <a:rPr lang="en-US" altLang="zh-CN" sz="1600" dirty="0">
                <a:latin typeface="TimesNewRomanPS-BoldItalicMT"/>
              </a:rPr>
              <a:t>2</a:t>
            </a:r>
            <a:r>
              <a:rPr lang="zh-CN" altLang="en-US" sz="1600" dirty="0">
                <a:latin typeface="TimesNewRomanPS-BoldItalicMT"/>
              </a:rPr>
              <a:t>的讨论题</a:t>
            </a:r>
            <a:endParaRPr lang="en-US" altLang="zh-CN" sz="1600" u="none" strike="noStrike" baseline="0" dirty="0">
              <a:latin typeface="TimesNewRomanPS-BoldItalicM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218B2C1-EEF3-4E40-B9A5-398C0097F168}"/>
              </a:ext>
            </a:extLst>
          </p:cNvPr>
          <p:cNvSpPr txBox="1"/>
          <p:nvPr/>
        </p:nvSpPr>
        <p:spPr>
          <a:xfrm>
            <a:off x="1031443" y="190776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属名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823261F-CA31-444D-95F6-E40B4C5710B6}"/>
              </a:ext>
            </a:extLst>
          </p:cNvPr>
          <p:cNvSpPr txBox="1"/>
          <p:nvPr/>
        </p:nvSpPr>
        <p:spPr>
          <a:xfrm>
            <a:off x="2026310" y="190776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种名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CF97AD9-8411-4399-BCC2-3B2F77E69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774" y="3599002"/>
            <a:ext cx="6167940" cy="78280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13657E4-FE9E-492F-9739-6FE5AA62B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5903" y="2563978"/>
            <a:ext cx="2559463" cy="429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699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67998C-CDDB-47DA-8102-E17851684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211" y="435737"/>
            <a:ext cx="10515600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3. </a:t>
            </a:r>
            <a:r>
              <a:rPr lang="zh-CN" altLang="en-US" sz="2000" b="1" dirty="0">
                <a:latin typeface="Times New Roman" panose="02020603050405020304" pitchFamily="18" charset="0"/>
              </a:rPr>
              <a:t>提升实验报告的美观和设计感</a:t>
            </a:r>
            <a:endParaRPr lang="en-US" altLang="zh-CN" sz="2000" b="1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solidFill>
                  <a:srgbClr val="0070C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1600" dirty="0">
                <a:solidFill>
                  <a:srgbClr val="0070C0"/>
                </a:solidFill>
                <a:latin typeface="Times New Roman" panose="02020603050405020304" pitchFamily="18" charset="0"/>
              </a:rPr>
              <a:t>）实验简介和实验流程可以用流程图或思维导图展示，不是单纯的复制黏贴</a:t>
            </a:r>
            <a:endParaRPr lang="en-US" altLang="zh-CN" sz="1600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1600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1600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1600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1600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1600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BE270AD-385B-4CEB-8FD2-8BA276B9C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917" y="1750120"/>
            <a:ext cx="3867150" cy="47244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645E812-09E4-42E4-8762-90B7D2292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768" y="1008998"/>
            <a:ext cx="3143628" cy="584900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A8E7ED9-98A1-4FB8-BB8C-4B79E0E4C0E9}"/>
              </a:ext>
            </a:extLst>
          </p:cNvPr>
          <p:cNvSpPr txBox="1"/>
          <p:nvPr/>
        </p:nvSpPr>
        <p:spPr>
          <a:xfrm>
            <a:off x="977189" y="156545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吴舒欣：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048B9F3-2284-4AD6-85CC-B1DADC71DEBB}"/>
              </a:ext>
            </a:extLst>
          </p:cNvPr>
          <p:cNvSpPr txBox="1"/>
          <p:nvPr/>
        </p:nvSpPr>
        <p:spPr>
          <a:xfrm>
            <a:off x="8321649" y="63966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竺子博：</a:t>
            </a:r>
          </a:p>
        </p:txBody>
      </p:sp>
    </p:spTree>
    <p:extLst>
      <p:ext uri="{BB962C8B-B14F-4D97-AF65-F5344CB8AC3E}">
        <p14:creationId xmlns:p14="http://schemas.microsoft.com/office/powerpoint/2010/main" val="3156833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2D5DF0C-62E8-4E09-8DC7-B22FD8DC34F5}"/>
              </a:ext>
            </a:extLst>
          </p:cNvPr>
          <p:cNvSpPr txBox="1"/>
          <p:nvPr/>
        </p:nvSpPr>
        <p:spPr>
          <a:xfrm>
            <a:off x="251307" y="6399092"/>
            <a:ext cx="11689385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尚未提交 </a:t>
            </a:r>
            <a:r>
              <a:rPr lang="en-US" altLang="zh-CN" dirty="0"/>
              <a:t>EXP 1</a:t>
            </a:r>
            <a:r>
              <a:rPr lang="zh-CN" altLang="en-US" dirty="0"/>
              <a:t>、</a:t>
            </a:r>
            <a:r>
              <a:rPr lang="en-US" altLang="zh-CN" dirty="0"/>
              <a:t>3</a:t>
            </a:r>
            <a:r>
              <a:rPr lang="zh-CN" altLang="en-US" dirty="0"/>
              <a:t>的实验报告，下周三前提交，文件名按模板建议“姓名</a:t>
            </a:r>
            <a:r>
              <a:rPr lang="en-US" altLang="zh-CN" dirty="0"/>
              <a:t>-</a:t>
            </a:r>
            <a:r>
              <a:rPr lang="zh-CN" altLang="en-US" dirty="0"/>
              <a:t>学号</a:t>
            </a:r>
            <a:r>
              <a:rPr lang="en-US" altLang="zh-CN" dirty="0"/>
              <a:t>-</a:t>
            </a:r>
            <a:r>
              <a:rPr lang="zh-CN" altLang="en-US" dirty="0"/>
              <a:t>实验报告</a:t>
            </a:r>
            <a:r>
              <a:rPr lang="en-US" altLang="zh-CN" dirty="0"/>
              <a:t>1,3</a:t>
            </a:r>
            <a:r>
              <a:rPr lang="zh-CN" altLang="en-US" dirty="0"/>
              <a:t>” ，收到后均会回复</a:t>
            </a: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78D244C-DCEC-4C10-8974-5A6EA38A4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767" y="2769807"/>
            <a:ext cx="2677246" cy="354360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FC0CC0C-E914-491E-8ABD-408CF3A19DD1}"/>
              </a:ext>
            </a:extLst>
          </p:cNvPr>
          <p:cNvSpPr txBox="1"/>
          <p:nvPr/>
        </p:nvSpPr>
        <p:spPr>
          <a:xfrm>
            <a:off x="602857" y="365125"/>
            <a:ext cx="9799358" cy="458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1800" dirty="0">
                <a:solidFill>
                  <a:srgbClr val="0070C0"/>
                </a:solidFill>
                <a:latin typeface="Times New Roman" panose="02020603050405020304" pitchFamily="18" charset="0"/>
              </a:rPr>
              <a:t>）实验图片 适当的修饰和插入位置</a:t>
            </a:r>
            <a:endParaRPr lang="en-US" altLang="zh-CN" sz="1800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6561308-2849-4CD8-AE9B-D0A46CEFCF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366" y="1458621"/>
            <a:ext cx="4423403" cy="116488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D755EFC-EDC7-4D81-AF85-F8F5B413A6FC}"/>
              </a:ext>
            </a:extLst>
          </p:cNvPr>
          <p:cNvSpPr txBox="1"/>
          <p:nvPr/>
        </p:nvSpPr>
        <p:spPr>
          <a:xfrm>
            <a:off x="602857" y="831471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如实验</a:t>
            </a:r>
            <a:r>
              <a:rPr lang="en-US" altLang="zh-CN" dirty="0"/>
              <a:t>2</a:t>
            </a:r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0E56811-39CE-4F23-B7B7-2911966C3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8907" y="2289779"/>
            <a:ext cx="6471809" cy="170432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39A13D0-FC6A-4678-B579-F2959EDD7F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905" r="8363"/>
          <a:stretch/>
        </p:blipFill>
        <p:spPr>
          <a:xfrm>
            <a:off x="8841334" y="2623503"/>
            <a:ext cx="661319" cy="621792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3404E821-3F69-42D6-9C91-773973C57D21}"/>
              </a:ext>
            </a:extLst>
          </p:cNvPr>
          <p:cNvSpPr/>
          <p:nvPr/>
        </p:nvSpPr>
        <p:spPr>
          <a:xfrm>
            <a:off x="251307" y="1200803"/>
            <a:ext cx="4649877" cy="52920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AEF0D760-9ADA-40C5-95DB-303A12CBC43F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5025542" y="3141939"/>
            <a:ext cx="243365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3185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C178886-9390-49F3-8F70-070749741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214" y="62522"/>
            <a:ext cx="5541280" cy="6733299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7928DED-7701-4093-8B52-EA7E88C6A0C1}"/>
              </a:ext>
            </a:extLst>
          </p:cNvPr>
          <p:cNvSpPr/>
          <p:nvPr/>
        </p:nvSpPr>
        <p:spPr>
          <a:xfrm>
            <a:off x="4269969" y="3590517"/>
            <a:ext cx="4435118" cy="356034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05BFBCD-BA9D-4048-9FB5-D475E717A831}"/>
              </a:ext>
            </a:extLst>
          </p:cNvPr>
          <p:cNvSpPr/>
          <p:nvPr/>
        </p:nvSpPr>
        <p:spPr>
          <a:xfrm>
            <a:off x="4269969" y="2542091"/>
            <a:ext cx="4435118" cy="36936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515D6E-9939-4AA0-ACD0-0AF22723806C}"/>
              </a:ext>
            </a:extLst>
          </p:cNvPr>
          <p:cNvSpPr/>
          <p:nvPr/>
        </p:nvSpPr>
        <p:spPr>
          <a:xfrm>
            <a:off x="4269969" y="1830161"/>
            <a:ext cx="4435118" cy="305877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272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73444EB-51B1-4D7D-A65F-1548D2E5D3F5}"/>
              </a:ext>
            </a:extLst>
          </p:cNvPr>
          <p:cNvSpPr txBox="1"/>
          <p:nvPr/>
        </p:nvSpPr>
        <p:spPr>
          <a:xfrm>
            <a:off x="810912" y="309894"/>
            <a:ext cx="1003214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sz="32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EXPERIMENT 4: 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Sterilization by Millipore filtration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                               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过滤除菌技术                                </a:t>
            </a:r>
            <a:endParaRPr lang="zh-CN" altLang="zh-CN" sz="3200" b="1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B129E85-60AD-4B86-886D-D7AB0D009129}"/>
              </a:ext>
            </a:extLst>
          </p:cNvPr>
          <p:cNvSpPr txBox="1"/>
          <p:nvPr/>
        </p:nvSpPr>
        <p:spPr>
          <a:xfrm>
            <a:off x="538034" y="1650919"/>
            <a:ext cx="11249929" cy="1151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INTRODUCTION</a:t>
            </a:r>
            <a:r>
              <a:rPr lang="zh-CN" altLang="en-US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1800" b="1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b="1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    Filtration</a:t>
            </a:r>
            <a:r>
              <a:rPr lang="en-AU" altLang="zh-CN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过滤</a:t>
            </a:r>
            <a:r>
              <a:rPr lang="en-AU" altLang="zh-CN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AU" altLang="zh-CN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zh-CN" sz="1800" kern="1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is a great way of quickly sterilizing solutions without heating.</a:t>
            </a:r>
          </a:p>
          <a:p>
            <a:pPr algn="just">
              <a:lnSpc>
                <a:spcPct val="150000"/>
              </a:lnSpc>
            </a:pPr>
            <a:r>
              <a:rPr lang="en-AU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800" kern="1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For removal of bacteria, filters with an average pore diameter of 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0.45 or 0.22 µm </a:t>
            </a:r>
            <a:r>
              <a:rPr lang="en-US" altLang="zh-CN" sz="1800" kern="1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is normally used.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2C41E38-AD53-42C3-8AAD-DED42520BAE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31440" y="2877389"/>
            <a:ext cx="7539388" cy="38849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82595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259CAC3C-3803-482F-86EC-1797B061AE7F}"/>
              </a:ext>
            </a:extLst>
          </p:cNvPr>
          <p:cNvSpPr txBox="1"/>
          <p:nvPr/>
        </p:nvSpPr>
        <p:spPr>
          <a:xfrm>
            <a:off x="751361" y="222448"/>
            <a:ext cx="11185459" cy="2613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OBJECTIVE	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At the end of these experiments, you should:</a:t>
            </a:r>
            <a:endParaRPr lang="en-US" altLang="zh-CN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Calibri" panose="020F0502020204030204" pitchFamily="34" charset="0"/>
              </a:rPr>
              <a:t>Be familiar with liquid sterilization by Millipore filtration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Calibri" panose="020F0502020204030204" pitchFamily="34" charset="0"/>
              </a:rPr>
              <a:t>Know when we use sterilization by Millipore filtration instead of autoclaving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Calibri" panose="020F0502020204030204" pitchFamily="34" charset="0"/>
              </a:rPr>
              <a:t>Know how to streak out for single colonies by 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Calibri" panose="020F0502020204030204" pitchFamily="34" charset="0"/>
              </a:rPr>
              <a:t>“</a:t>
            </a:r>
            <a:r>
              <a:rPr lang="en-US" altLang="zh-CN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Calibri" panose="020F0502020204030204" pitchFamily="34" charset="0"/>
              </a:rPr>
              <a:t>streak-plate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Calibri" panose="020F0502020204030204" pitchFamily="34" charset="0"/>
              </a:rPr>
              <a:t>” method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Calibri" panose="020F0502020204030204" pitchFamily="34" charset="0"/>
              </a:rPr>
              <a:t>(streaking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Calibri" panose="020F0502020204030204" pitchFamily="34" charset="0"/>
              </a:rPr>
              <a:t>，划线法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Calibri" panose="020F0502020204030204" pitchFamily="34" charset="0"/>
              </a:rPr>
              <a:t>)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Calibri" panose="020F0502020204030204" pitchFamily="34" charset="0"/>
              </a:rPr>
              <a:t> from liquid.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Calibri" panose="020F0502020204030204" pitchFamily="34" charset="0"/>
              </a:rPr>
              <a:t> </a:t>
            </a:r>
            <a:endParaRPr lang="zh-CN" altLang="zh-CN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05819C0-6CF7-4CF4-9C77-C450BFD185A0}"/>
              </a:ext>
            </a:extLst>
          </p:cNvPr>
          <p:cNvSpPr txBox="1"/>
          <p:nvPr/>
        </p:nvSpPr>
        <p:spPr>
          <a:xfrm>
            <a:off x="751361" y="2569230"/>
            <a:ext cx="3604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EQUIPMENTS and MATERIALS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CEBD4D1-6B67-46A2-8DFA-40788CB00938}"/>
              </a:ext>
            </a:extLst>
          </p:cNvPr>
          <p:cNvSpPr txBox="1"/>
          <p:nvPr/>
        </p:nvSpPr>
        <p:spPr>
          <a:xfrm>
            <a:off x="829332" y="2938562"/>
            <a:ext cx="9817399" cy="370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3400" algn="just">
              <a:lnSpc>
                <a:spcPct val="150000"/>
              </a:lnSpc>
            </a:pP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laminar flow hood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33400" algn="just">
              <a:lnSpc>
                <a:spcPct val="150000"/>
              </a:lnSpc>
            </a:pP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Incubator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33400" algn="just">
              <a:lnSpc>
                <a:spcPct val="150000"/>
              </a:lnSpc>
            </a:pP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Loop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33400" algn="just">
              <a:lnSpc>
                <a:spcPct val="150000"/>
              </a:lnSpc>
            </a:pP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Parafilm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33400" algn="just">
              <a:lnSpc>
                <a:spcPct val="150000"/>
              </a:lnSpc>
            </a:pP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× 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Millipore syringe filter (0.45 </a:t>
            </a:r>
            <a:r>
              <a:rPr lang="en-US" altLang="zh-CN" sz="1800" kern="1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µm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and a 2.5 mL syringe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33400" algn="just">
              <a:lnSpc>
                <a:spcPct val="150000"/>
              </a:lnSpc>
            </a:pP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 × LB (Luria-Bertani) agar plates 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33400" algn="just">
              <a:lnSpc>
                <a:spcPct val="150000"/>
              </a:lnSpc>
            </a:pP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 × sterile tube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33400" algn="just">
              <a:lnSpc>
                <a:spcPct val="150000"/>
              </a:lnSpc>
            </a:pP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it-IT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ontaminated enzyme solution (labelled </a:t>
            </a:r>
            <a:r>
              <a:rPr lang="it-IT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it-IT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33400" algn="just">
              <a:lnSpc>
                <a:spcPct val="150000"/>
              </a:lnSpc>
            </a:pP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386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13304430-A0D3-4652-A2E2-B835C715AAE4}"/>
              </a:ext>
            </a:extLst>
          </p:cNvPr>
          <p:cNvSpPr txBox="1"/>
          <p:nvPr/>
        </p:nvSpPr>
        <p:spPr>
          <a:xfrm>
            <a:off x="577190" y="302277"/>
            <a:ext cx="11185459" cy="4296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METHODS</a:t>
            </a:r>
            <a:endParaRPr lang="en-US" altLang="zh-CN" b="1" kern="100" dirty="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Label two LB plates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According to 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Appendix 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“M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ethods for isolation of pure cultures of bacteria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”, 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take a loopful of the contaminated enzyme solution (</a:t>
            </a:r>
            <a:r>
              <a:rPr lang="it-IT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labeled </a:t>
            </a:r>
            <a:r>
              <a:rPr lang="it-IT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and streak out for single colonies onto a labeled 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LB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plate (labeled “before”). </a:t>
            </a:r>
            <a:endParaRPr lang="zh-CN" altLang="zh-C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8836158-31ED-4F84-85F6-F8AE081410F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36336" y="728921"/>
            <a:ext cx="4719328" cy="2303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B916DB1-49F1-47B1-A93C-BCDF8443A48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43318" y="4064783"/>
            <a:ext cx="3234152" cy="24909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2057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C3F43CA-1727-42D3-B1A1-C015516E6356}"/>
              </a:ext>
            </a:extLst>
          </p:cNvPr>
          <p:cNvSpPr txBox="1"/>
          <p:nvPr/>
        </p:nvSpPr>
        <p:spPr>
          <a:xfrm>
            <a:off x="577190" y="302277"/>
            <a:ext cx="11185459" cy="2019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METHODS</a:t>
            </a:r>
            <a:endParaRPr lang="en-US" altLang="zh-CN" b="1" kern="100" dirty="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1" kern="100" dirty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3. 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 the demonstrator shows, attach one filter to one syringe, and add 1~2 mL contaminated enzyme solution into syringe. Pass the liquid through a Millipore filter into 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sterile, labeled 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tube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zh-CN" altLang="zh-C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b="1" kern="100" dirty="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C58C28F-D537-4C60-BB60-2C8161C71721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30324" y="1881940"/>
            <a:ext cx="2962942" cy="298068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1522E5B-C058-4743-AED5-EA0AACF4C8FF}"/>
              </a:ext>
            </a:extLst>
          </p:cNvPr>
          <p:cNvSpPr txBox="1"/>
          <p:nvPr/>
        </p:nvSpPr>
        <p:spPr>
          <a:xfrm>
            <a:off x="5483368" y="2451817"/>
            <a:ext cx="6096000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Clr>
                <a:srgbClr val="000000"/>
              </a:buClr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 Aseptically inoculate a loopful of the filtered solution onto a second labeled 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LB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plate, and streak out for single colonies.</a:t>
            </a:r>
            <a:endParaRPr lang="en-US" altLang="zh-CN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buClr>
                <a:srgbClr val="000000"/>
              </a:buClr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5. Incubate both plates at 37 </a:t>
            </a:r>
            <a:r>
              <a:rPr lang="en-US" altLang="zh-CN" sz="1800" baseline="30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for 24 hours.</a:t>
            </a:r>
            <a:endParaRPr lang="zh-CN" altLang="zh-C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227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587</TotalTime>
  <Words>643</Words>
  <Application>Microsoft Office PowerPoint</Application>
  <PresentationFormat>宽屏</PresentationFormat>
  <Paragraphs>66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TimesNewRomanPS-BoldItalicMT</vt:lpstr>
      <vt:lpstr>等线</vt:lpstr>
      <vt:lpstr>华文新魏</vt:lpstr>
      <vt:lpstr>宋体</vt:lpstr>
      <vt:lpstr>微软雅黑</vt:lpstr>
      <vt:lpstr>Arial</vt:lpstr>
      <vt:lpstr>Calibri</vt:lpstr>
      <vt:lpstr>Times New Roman</vt:lpstr>
      <vt:lpstr>Office 主题​​</vt:lpstr>
      <vt:lpstr>PowerPoint 演示文稿</vt:lpstr>
      <vt:lpstr>实验报告问题汇总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 品美</dc:creator>
  <cp:lastModifiedBy>不纠结</cp:lastModifiedBy>
  <cp:revision>58</cp:revision>
  <dcterms:created xsi:type="dcterms:W3CDTF">2022-10-19T06:09:22Z</dcterms:created>
  <dcterms:modified xsi:type="dcterms:W3CDTF">2024-10-09T07:42:31Z</dcterms:modified>
</cp:coreProperties>
</file>