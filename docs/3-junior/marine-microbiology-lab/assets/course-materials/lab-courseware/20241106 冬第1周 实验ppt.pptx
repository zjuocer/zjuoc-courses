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416" r:id="rId3"/>
    <p:sldId id="438" r:id="rId4"/>
    <p:sldId id="455" r:id="rId5"/>
    <p:sldId id="454" r:id="rId6"/>
    <p:sldId id="451" r:id="rId7"/>
    <p:sldId id="259" r:id="rId8"/>
    <p:sldId id="260" r:id="rId9"/>
    <p:sldId id="261" r:id="rId10"/>
    <p:sldId id="45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品美" initials="王" lastIdx="1" clrIdx="0">
    <p:extLst>
      <p:ext uri="{19B8F6BF-5375-455C-9EA6-DF929625EA0E}">
        <p15:presenceInfo xmlns:p15="http://schemas.microsoft.com/office/powerpoint/2012/main" userId="e8f830cc432226c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5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FFDBF-89A8-4CED-B1CB-8523A4352154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DAD64-272D-4D61-A36F-873F86E3FE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8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006FD-638D-4E6C-9CCF-3D4658AF7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26C3BD-298E-40CE-B079-5429E579C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B538D-F6E0-4A06-9EE8-858751E87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9B3C53-623A-4BEE-8264-329FFCBC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AF78D-8C63-4A04-A86E-AFC517B5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06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97606-93A3-409D-B67D-4FD5C28B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6501F3-54A8-4E88-A3E1-CA35644C8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8289A-ED03-4119-BDF9-32C49A610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F58A37-1224-4F61-93AC-777F9C87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B6D122-B720-4B3A-9451-B908871C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37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A8940-2223-4034-827E-C66B0DC57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A1540F-5E47-4F02-BC39-548C4D1F1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ACA5E3-0EE4-4004-BC45-399894C3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8BA87E-68F9-4719-97F4-D5491FF5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3E54F-6F63-4A7E-8958-CDA3A188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17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4CACA-7F2A-4EA8-B20E-9C9D2FCD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4507A7-061B-4774-9A0A-70355BD1E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FF3495-257B-451B-AD86-BB85632C7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701B8-0B5D-480D-A662-954FD27D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FB4FF5-5196-4430-9149-11770DA1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683778-FABB-4B38-AE8F-2F2EAB0E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80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67C9A-BA36-4894-9FD1-16179F498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B7A235-C146-422A-8F20-D1E00A930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4CF70E-8B3D-4B04-B049-BBB65E939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F0D9C5-A73A-4807-95D6-A8C20F01F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EA4A2D-70A3-41C5-BF83-37E9357F9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51BA9A-A40B-4546-B056-90AE17F8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5C488D-5F5D-4EF2-B7FE-B81B9E9E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2C24C4-A76A-4840-87AA-F1F5EB4D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2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AE834-F633-48DE-845F-C3A0DBC8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67D939-5B66-4A3E-83BD-2966FF85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96AB21-D046-481B-A10B-3EABDFE4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6BD405-D7BD-42B1-8AF2-FB472B1F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16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8779A2-9955-44BA-8041-6F24F488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41C96A-B38C-40EF-9163-313AEAA5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21D85E-CE56-49E9-BC4F-18D7A8F7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90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AD677-E45D-4730-8424-65A7836F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A9A7E-4898-45EE-BE31-AA968E90D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739831-9F0B-45CB-8CF6-AFB686723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76B78C-2068-4871-9F08-950BCDE5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92DF1-703C-40A6-998B-252EC10A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D0B59E-E9CE-4A06-A19F-79BD2F08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2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DDAD4-C235-4A27-95F5-39163ACE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D2C910-359C-4782-A437-58BDC984C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58ACDE-F736-47D4-9A11-B6E49B04E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8C8F96-3A39-49E7-B37F-9E76A9BD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49BC48-7099-46F4-8EA6-D302DBDB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BE9815-98AD-4FA7-9D12-CAB79969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5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8B78E-CFE3-43A4-A145-6E00D043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F2C2A-5583-45D6-AFEE-30B2BF219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9F7E2-BE40-4E0D-B663-BF1F33A0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04631-ECAC-4FFC-B2C2-E659E911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4577D-EDD8-4915-B19A-D7C1D9A7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37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A74BB-AC70-481B-8B87-B19990EE7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B02042-CF7A-4DA6-8D3A-FAFDB666C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37B368-1400-4E38-98BD-7524ECD5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D7664-C763-4AE6-8A93-B79CF803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15E55-98D1-458D-837D-42FC5787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96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2FDC02-FD09-48CA-8E4D-D8DA968B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886474-27AA-403B-9ADE-D13F112B3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5D2D0-624B-4BCC-9907-C0CC11CDC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C4D99-D46D-446B-991C-B1A1FE191A29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87C87-6CAF-41C1-8ABA-31391E87B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69B6B0-F241-4667-9973-6C60F617B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44813-B777-4B5B-AC53-AB94914AF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51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E8868EC-50BF-4926-8A23-88419186D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0" y="0"/>
            <a:ext cx="12135759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345487-F6B9-45D3-8ECA-1E103F349561}"/>
              </a:ext>
            </a:extLst>
          </p:cNvPr>
          <p:cNvSpPr txBox="1"/>
          <p:nvPr/>
        </p:nvSpPr>
        <p:spPr>
          <a:xfrm>
            <a:off x="463688" y="829733"/>
            <a:ext cx="11279050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海洋微生物学及实验</a:t>
            </a:r>
            <a:endParaRPr lang="en-US" altLang="zh-CN" sz="96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54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2024-2025</a:t>
            </a:r>
            <a:r>
              <a:rPr lang="zh-CN" altLang="en-US" sz="54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学年 冬第一周</a:t>
            </a:r>
          </a:p>
        </p:txBody>
      </p:sp>
    </p:spTree>
    <p:extLst>
      <p:ext uri="{BB962C8B-B14F-4D97-AF65-F5344CB8AC3E}">
        <p14:creationId xmlns:p14="http://schemas.microsoft.com/office/powerpoint/2010/main" val="401743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49B38EC-3A0A-4251-9317-0532D97DBE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893"/>
          <a:stretch/>
        </p:blipFill>
        <p:spPr>
          <a:xfrm>
            <a:off x="2203087" y="863191"/>
            <a:ext cx="7100342" cy="9217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7679372-7C36-4C0D-9CB6-AE324956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395" y="1784906"/>
            <a:ext cx="7022034" cy="433458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7928DED-7701-4093-8B52-EA7E88C6A0C1}"/>
              </a:ext>
            </a:extLst>
          </p:cNvPr>
          <p:cNvSpPr/>
          <p:nvPr/>
        </p:nvSpPr>
        <p:spPr>
          <a:xfrm>
            <a:off x="3595037" y="2742594"/>
            <a:ext cx="5629429" cy="43951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894A7E-DC51-4EFD-AB10-FD78773310EF}"/>
              </a:ext>
            </a:extLst>
          </p:cNvPr>
          <p:cNvSpPr/>
          <p:nvPr/>
        </p:nvSpPr>
        <p:spPr>
          <a:xfrm>
            <a:off x="3535296" y="1271020"/>
            <a:ext cx="5629429" cy="43951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27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7CB0F-41C0-497A-BEB8-6A0182A4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EXPERIMENT 8: Detection of colony-forming unit (CFU)</a:t>
            </a:r>
            <a:b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菌落形成单位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58721C-088F-4E9A-90FA-DBEC329B702F}"/>
              </a:ext>
            </a:extLst>
          </p:cNvPr>
          <p:cNvSpPr txBox="1"/>
          <p:nvPr/>
        </p:nvSpPr>
        <p:spPr>
          <a:xfrm>
            <a:off x="936345" y="1566330"/>
            <a:ext cx="10171006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+mj-lt"/>
              </a:rPr>
              <a:t>Exp. 8A</a:t>
            </a:r>
          </a:p>
          <a:p>
            <a:pPr algn="just"/>
            <a:r>
              <a:rPr lang="en-US" altLang="zh-CN" sz="2400" dirty="0">
                <a:latin typeface="+mj-lt"/>
              </a:rPr>
              <a:t>      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+mj-lt"/>
              </a:rPr>
              <a:t>        Prepare serial dilutions and spread for detecting CFU.</a:t>
            </a:r>
          </a:p>
          <a:p>
            <a:pPr algn="just"/>
            <a:endParaRPr lang="en-US" altLang="zh-CN" sz="2400" dirty="0">
              <a:latin typeface="+mj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+mj-lt"/>
              </a:rPr>
              <a:t>Exp. 8B        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i="0" u="none" strike="noStrike" baseline="0" dirty="0">
                <a:solidFill>
                  <a:srgbClr val="000000"/>
                </a:solidFill>
                <a:latin typeface="+mj-lt"/>
              </a:rPr>
              <a:t>METHODS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+mj-lt"/>
              </a:rPr>
              <a:t>1. Count the number of colonies in each plate you spread – check with a demonstrator if you think any plates are too crowded to be counted, as high numbers can sometimes be estimated.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+mj-lt"/>
              </a:rPr>
              <a:t>2. Tabulate your results in Worksheet 8.</a:t>
            </a:r>
            <a:endParaRPr lang="en-US" altLang="zh-C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658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448FD64-6B53-4A4B-A684-48148B63A6DC}"/>
              </a:ext>
            </a:extLst>
          </p:cNvPr>
          <p:cNvSpPr/>
          <p:nvPr/>
        </p:nvSpPr>
        <p:spPr>
          <a:xfrm>
            <a:off x="475488" y="1480583"/>
            <a:ext cx="3942892" cy="39428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CF70C36-DF65-4498-B49C-6C9C0AAC73C7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2446934" y="1480583"/>
            <a:ext cx="0" cy="39428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3FC1508-8BB6-43C6-8E1F-757A8E772D3F}"/>
              </a:ext>
            </a:extLst>
          </p:cNvPr>
          <p:cNvCxnSpPr>
            <a:cxnSpLocks/>
            <a:stCxn id="4" idx="6"/>
            <a:endCxn id="4" idx="2"/>
          </p:cNvCxnSpPr>
          <p:nvPr/>
        </p:nvCxnSpPr>
        <p:spPr>
          <a:xfrm flipH="1">
            <a:off x="475488" y="3452029"/>
            <a:ext cx="39428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918D7B6-703D-41DB-8E09-76105EAF7E0A}"/>
              </a:ext>
            </a:extLst>
          </p:cNvPr>
          <p:cNvSpPr txBox="1"/>
          <p:nvPr/>
        </p:nvSpPr>
        <p:spPr>
          <a:xfrm>
            <a:off x="5130968" y="936345"/>
            <a:ext cx="5118709" cy="1670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本实验</a:t>
            </a:r>
            <a:r>
              <a:rPr lang="en-US" altLang="zh-CN" dirty="0"/>
              <a:t>CFU</a:t>
            </a:r>
            <a:r>
              <a:rPr lang="zh-CN" altLang="en-US" dirty="0"/>
              <a:t>计数：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合适的稀释度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合适的</a:t>
            </a:r>
            <a:r>
              <a:rPr lang="en-US" altLang="zh-CN" dirty="0">
                <a:sym typeface="Wingdings" panose="05000000000000000000" pitchFamily="2" charset="2"/>
              </a:rPr>
              <a:t>CFU</a:t>
            </a:r>
            <a:r>
              <a:rPr lang="zh-CN" altLang="en-US" dirty="0">
                <a:sym typeface="Wingdings" panose="05000000000000000000" pitchFamily="2" charset="2"/>
              </a:rPr>
              <a:t>数量（</a:t>
            </a:r>
            <a:r>
              <a:rPr lang="en-US" altLang="zh-CN" dirty="0">
                <a:sym typeface="Wingdings" panose="05000000000000000000" pitchFamily="2" charset="2"/>
              </a:rPr>
              <a:t>30-300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zh-CN" altLang="en-US" dirty="0">
                <a:sym typeface="Wingdings" panose="05000000000000000000" pitchFamily="2" charset="2"/>
              </a:rPr>
              <a:t>分区数</a:t>
            </a:r>
            <a:r>
              <a:rPr lang="en-US" altLang="zh-CN" dirty="0">
                <a:sym typeface="Wingdings" panose="05000000000000000000" pitchFamily="2" charset="2"/>
              </a:rPr>
              <a:t>CFU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8BA467A-1952-4C66-9D20-6D876120E2A9}"/>
              </a:ext>
            </a:extLst>
          </p:cNvPr>
          <p:cNvSpPr txBox="1"/>
          <p:nvPr/>
        </p:nvSpPr>
        <p:spPr>
          <a:xfrm>
            <a:off x="5130968" y="3415489"/>
            <a:ext cx="3884397" cy="1670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精准计算</a:t>
            </a:r>
            <a:r>
              <a:rPr lang="en-US" altLang="zh-CN" dirty="0"/>
              <a:t>CFU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合适的稀释度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合适的</a:t>
            </a:r>
            <a:r>
              <a:rPr lang="en-US" altLang="zh-CN" dirty="0">
                <a:sym typeface="Wingdings" panose="05000000000000000000" pitchFamily="2" charset="2"/>
              </a:rPr>
              <a:t>CFU</a:t>
            </a:r>
            <a:r>
              <a:rPr lang="zh-CN" altLang="en-US" dirty="0">
                <a:sym typeface="Wingdings" panose="05000000000000000000" pitchFamily="2" charset="2"/>
              </a:rPr>
              <a:t>数量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平行样（至少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个平板）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6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D3F2E-64F1-4515-BF04-010149657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Exp. 8 - 9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C219C-E8A2-4592-BA41-6C5017F9B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Exp. 8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Detection of colony-forming unit (CFU)</a:t>
            </a:r>
          </a:p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只计活菌，但流程复杂、耗时长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Exp. 9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Methods of counting microbes-total cell counts </a:t>
            </a:r>
          </a:p>
          <a:p>
            <a:pPr marL="79200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Neubauer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Haemocytometer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血球计数板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792000" indent="0">
              <a:buNone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Spectrophotometer (</a:t>
            </a: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分光光度计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79200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计所有菌，流程相对简单，但无法计数活菌量</a:t>
            </a:r>
          </a:p>
        </p:txBody>
      </p:sp>
    </p:spTree>
    <p:extLst>
      <p:ext uri="{BB962C8B-B14F-4D97-AF65-F5344CB8AC3E}">
        <p14:creationId xmlns:p14="http://schemas.microsoft.com/office/powerpoint/2010/main" val="255672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B107-EBDF-4E20-9556-D40CE74DF654}" type="slidenum">
              <a:rPr lang="en-AU" smtClean="0"/>
              <a:t>6</a:t>
            </a:fld>
            <a:endParaRPr lang="en-AU"/>
          </a:p>
        </p:txBody>
      </p:sp>
      <p:sp>
        <p:nvSpPr>
          <p:cNvPr id="7" name="Title 1"/>
          <p:cNvSpPr txBox="1"/>
          <p:nvPr/>
        </p:nvSpPr>
        <p:spPr>
          <a:xfrm>
            <a:off x="500285" y="315865"/>
            <a:ext cx="11417632" cy="12349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7070"/>
            <a:r>
              <a:rPr sz="2800" b="1" dirty="0">
                <a:latin typeface="+mn-lt"/>
              </a:rPr>
              <a:t>EXPERIMENT </a:t>
            </a:r>
            <a:r>
              <a:rPr lang="en-US" sz="2800" b="1" dirty="0">
                <a:latin typeface="+mn-lt"/>
              </a:rPr>
              <a:t>11</a:t>
            </a:r>
            <a:r>
              <a:rPr sz="2800" b="1" dirty="0">
                <a:latin typeface="+mn-lt"/>
              </a:rPr>
              <a:t>: 	</a:t>
            </a:r>
            <a:r>
              <a:rPr lang="en-US" altLang="zh-CN" sz="2800" b="1" dirty="0">
                <a:latin typeface="+mn-lt"/>
              </a:rPr>
              <a:t>PLAQUE ASSAY OF BACTERIOPHAGES</a:t>
            </a:r>
          </a:p>
          <a:p>
            <a:pPr defTabSz="687070"/>
            <a:endParaRPr lang="en-US" altLang="zh-CN" sz="1900" kern="0" dirty="0">
              <a:solidFill>
                <a:srgbClr val="FF0000"/>
              </a:solidFill>
            </a:endParaRPr>
          </a:p>
          <a:p>
            <a:pPr defTabSz="687070"/>
            <a:r>
              <a:rPr lang="en-US" altLang="zh-CN" sz="1900" kern="0" dirty="0">
                <a:solidFill>
                  <a:srgbClr val="FF0000"/>
                </a:solidFill>
              </a:rPr>
              <a:t>Exp 11A </a:t>
            </a:r>
            <a:r>
              <a:rPr lang="zh-CN" altLang="en-US" sz="1900" kern="0" dirty="0">
                <a:solidFill>
                  <a:srgbClr val="FF0000"/>
                </a:solidFill>
              </a:rPr>
              <a:t>噬菌体平板的配制</a:t>
            </a:r>
            <a:endParaRPr lang="en-US" altLang="zh-CN" sz="1900" kern="0" dirty="0">
              <a:solidFill>
                <a:srgbClr val="FF0000"/>
              </a:solidFill>
            </a:endParaRPr>
          </a:p>
          <a:p>
            <a:pPr defTabSz="687070"/>
            <a:endParaRPr lang="en-US" altLang="zh-CN" sz="19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285" y="1550829"/>
            <a:ext cx="110744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2200" b="1" dirty="0"/>
              <a:t>Viruses</a:t>
            </a:r>
            <a:r>
              <a:rPr lang="en-US" altLang="zh-CN" sz="2200" dirty="0"/>
              <a:t> are commonly characterized according to the type of cell they infect. </a:t>
            </a:r>
          </a:p>
          <a:p>
            <a:r>
              <a:rPr lang="en-US" altLang="zh-CN" sz="2200" dirty="0"/>
              <a:t>              Animal viruses; plant viruses; bacterial viruses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r>
              <a:rPr lang="en-US" altLang="zh-CN" sz="2200" dirty="0"/>
              <a:t>              What is the host of  phage T4?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zh-CN" sz="2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2200" b="1" u="sng" dirty="0">
                <a:solidFill>
                  <a:srgbClr val="0000CC"/>
                </a:solidFill>
              </a:rPr>
              <a:t>Bacteriophages</a:t>
            </a:r>
            <a:r>
              <a:rPr lang="en-US" altLang="zh-CN" sz="2200" dirty="0"/>
              <a:t> are among the most common and diverse entities in the biosphere.</a:t>
            </a:r>
          </a:p>
          <a:p>
            <a:endParaRPr lang="en-US" altLang="zh-CN" sz="22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2200" b="1" u="sng" dirty="0">
                <a:solidFill>
                  <a:srgbClr val="0000CC"/>
                </a:solidFill>
              </a:rPr>
              <a:t>Plaques (</a:t>
            </a:r>
            <a:r>
              <a:rPr lang="zh-CN" altLang="en-US" sz="2200" b="1" u="sng" dirty="0">
                <a:solidFill>
                  <a:srgbClr val="0000CC"/>
                </a:solidFill>
              </a:rPr>
              <a:t>噬菌斑</a:t>
            </a:r>
            <a:r>
              <a:rPr lang="en-US" altLang="zh-CN" sz="2200" b="1" u="sng" dirty="0">
                <a:solidFill>
                  <a:srgbClr val="0000CC"/>
                </a:solidFill>
              </a:rPr>
              <a:t>)</a:t>
            </a:r>
            <a:r>
              <a:rPr lang="en-US" altLang="zh-CN" sz="2200" dirty="0"/>
              <a:t> are produced because the virus does not infect all of the host cells. Uninfected cells grow and form a lawn covering the plate.  Infected cells lyse, release phages which infect nearby cells to form a clear area in the lawn. </a:t>
            </a:r>
          </a:p>
          <a:p>
            <a:r>
              <a:rPr lang="en-US" altLang="zh-CN" sz="2200" dirty="0"/>
              <a:t>            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2200" b="1" dirty="0"/>
              <a:t>The drop-on-plate plaque assay </a:t>
            </a:r>
            <a:r>
              <a:rPr lang="en-US" altLang="zh-CN" sz="2200" dirty="0"/>
              <a:t>is used to determine the </a:t>
            </a:r>
            <a:r>
              <a:rPr lang="en-US" altLang="zh-CN" sz="2200" b="1" dirty="0">
                <a:solidFill>
                  <a:srgbClr val="FF0000"/>
                </a:solidFill>
              </a:rPr>
              <a:t>titer (</a:t>
            </a:r>
            <a:r>
              <a:rPr lang="zh-CN" altLang="en-US" sz="2200" b="1" dirty="0">
                <a:solidFill>
                  <a:srgbClr val="FF0000"/>
                </a:solidFill>
              </a:rPr>
              <a:t>效价</a:t>
            </a:r>
            <a:r>
              <a:rPr lang="en-US" altLang="zh-CN" sz="2200" b="1" dirty="0">
                <a:solidFill>
                  <a:srgbClr val="FF0000"/>
                </a:solidFill>
              </a:rPr>
              <a:t>) </a:t>
            </a:r>
            <a:r>
              <a:rPr lang="en-US" altLang="zh-CN" sz="2200" dirty="0"/>
              <a:t>of a phage stock, which is given as </a:t>
            </a:r>
            <a:r>
              <a:rPr lang="en-US" altLang="zh-CN" sz="2200" dirty="0">
                <a:solidFill>
                  <a:srgbClr val="FF0000"/>
                </a:solidFill>
              </a:rPr>
              <a:t>plaque forming units/mL (</a:t>
            </a:r>
            <a:r>
              <a:rPr lang="en-US" altLang="zh-CN" sz="2200" dirty="0" err="1">
                <a:solidFill>
                  <a:srgbClr val="FF0000"/>
                </a:solidFill>
              </a:rPr>
              <a:t>pfu</a:t>
            </a:r>
            <a:r>
              <a:rPr lang="en-US" altLang="zh-CN" sz="2200" dirty="0">
                <a:solidFill>
                  <a:srgbClr val="FF0000"/>
                </a:solidFill>
              </a:rPr>
              <a:t>/mL)</a:t>
            </a:r>
            <a:r>
              <a:rPr lang="en-US" altLang="zh-CN" sz="2200" dirty="0"/>
              <a:t>. </a:t>
            </a:r>
          </a:p>
          <a:p>
            <a:r>
              <a:rPr lang="en-US" altLang="zh-CN" sz="2200" dirty="0"/>
              <a:t>               </a:t>
            </a:r>
          </a:p>
          <a:p>
            <a:r>
              <a:rPr lang="en-US" altLang="zh-CN" sz="2200" dirty="0">
                <a:solidFill>
                  <a:srgbClr val="FF0000"/>
                </a:solidFill>
              </a:rPr>
              <a:t>                 </a:t>
            </a:r>
            <a:r>
              <a:rPr lang="en-US" altLang="zh-CN" sz="2200" dirty="0" err="1">
                <a:solidFill>
                  <a:srgbClr val="FF0000"/>
                </a:solidFill>
              </a:rPr>
              <a:t>pfu</a:t>
            </a:r>
            <a:r>
              <a:rPr lang="en-US" altLang="zh-CN" sz="2200" dirty="0">
                <a:solidFill>
                  <a:srgbClr val="FF0000"/>
                </a:solidFill>
              </a:rPr>
              <a:t>/mL = the number of phages in the stock  ?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062A2E-0058-4D70-B0FB-465DD47F1642}"/>
              </a:ext>
            </a:extLst>
          </p:cNvPr>
          <p:cNvSpPr txBox="1"/>
          <p:nvPr/>
        </p:nvSpPr>
        <p:spPr>
          <a:xfrm flipH="1">
            <a:off x="8126462" y="680484"/>
            <a:ext cx="49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噬菌体的噬菌斑测定</a:t>
            </a:r>
          </a:p>
        </p:txBody>
      </p:sp>
    </p:spTree>
    <p:extLst>
      <p:ext uri="{BB962C8B-B14F-4D97-AF65-F5344CB8AC3E}">
        <p14:creationId xmlns:p14="http://schemas.microsoft.com/office/powerpoint/2010/main" val="1388907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B107-EBDF-4E20-9556-D40CE74DF654}" type="slidenum">
              <a:rPr lang="en-AU" smtClean="0"/>
              <a:t>7</a:t>
            </a:fld>
            <a:endParaRPr lang="en-AU"/>
          </a:p>
        </p:txBody>
      </p:sp>
      <p:sp>
        <p:nvSpPr>
          <p:cNvPr id="5" name="Rectangle 5"/>
          <p:cNvSpPr/>
          <p:nvPr/>
        </p:nvSpPr>
        <p:spPr>
          <a:xfrm>
            <a:off x="612621" y="342470"/>
            <a:ext cx="11247668" cy="1938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AU" sz="2400" b="1" dirty="0">
                <a:solidFill>
                  <a:srgbClr val="0000CC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OBJECTIVES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At the end of this experiment you should: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AU" sz="2400" dirty="0"/>
              <a:t>Understand the principle of the phage plaque assay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400" dirty="0"/>
              <a:t>Be able to calculate the titer of a phage 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21" y="2339866"/>
            <a:ext cx="11684000" cy="4009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EXPERIMENT 11A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Materials</a:t>
            </a:r>
            <a:r>
              <a:rPr lang="en-US" altLang="zh-CN" sz="2400" b="1" dirty="0">
                <a:solidFill>
                  <a:srgbClr val="0000CC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In the sterile hood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i="1" dirty="0"/>
              <a:t>E. coli </a:t>
            </a:r>
            <a:r>
              <a:rPr lang="en-US" altLang="zh-CN" sz="2200" dirty="0"/>
              <a:t>ATCC 11303   O/N broth culture (</a:t>
            </a:r>
            <a:r>
              <a:rPr lang="en-US" altLang="zh-CN" sz="2200" b="1" dirty="0" err="1">
                <a:solidFill>
                  <a:srgbClr val="0000CC"/>
                </a:solidFill>
              </a:rPr>
              <a:t>Ec</a:t>
            </a:r>
            <a:r>
              <a:rPr lang="en-US" altLang="zh-CN" sz="2200" dirty="0"/>
              <a:t>) ×1 tube                       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i="1" dirty="0"/>
              <a:t>E. coli </a:t>
            </a:r>
            <a:r>
              <a:rPr lang="en-US" altLang="zh-CN" sz="2200" dirty="0"/>
              <a:t>phage T4 stock (</a:t>
            </a:r>
            <a:r>
              <a:rPr lang="en-US" altLang="zh-CN" sz="2200" b="1" dirty="0">
                <a:solidFill>
                  <a:srgbClr val="0000CC"/>
                </a:solidFill>
              </a:rPr>
              <a:t>T4</a:t>
            </a:r>
            <a:r>
              <a:rPr lang="en-US" altLang="zh-CN" sz="2200" dirty="0"/>
              <a:t>) ×1 tube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Sterile phage buffer in 15 mL tube (</a:t>
            </a:r>
            <a:r>
              <a:rPr lang="en-US" altLang="zh-CN" sz="2200" b="1" dirty="0">
                <a:solidFill>
                  <a:srgbClr val="0000CC"/>
                </a:solidFill>
              </a:rPr>
              <a:t>Buffer</a:t>
            </a:r>
            <a:r>
              <a:rPr lang="en-US" altLang="zh-CN" sz="2200" dirty="0"/>
              <a:t>) ×1 tubes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1.5 mL sterile tube several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Pipette and tips (1 mL, 200 </a:t>
            </a:r>
            <a:r>
              <a:rPr lang="en-US" altLang="zh-CN" sz="2200" dirty="0" err="1"/>
              <a:t>μL</a:t>
            </a:r>
            <a:r>
              <a:rPr lang="en-US" altLang="zh-CN" sz="2200" dirty="0"/>
              <a:t> and 10 </a:t>
            </a:r>
            <a:r>
              <a:rPr lang="en-US" altLang="zh-CN" sz="2200" dirty="0" err="1"/>
              <a:t>μL</a:t>
            </a:r>
            <a:r>
              <a:rPr lang="en-US" altLang="zh-CN" sz="2200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2200" dirty="0"/>
              <a:t>Nutrient agar  plate ×6 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solidFill>
                  <a:srgbClr val="FF0000"/>
                </a:solidFill>
              </a:rPr>
              <a:t>20 mL/100 mL flask </a:t>
            </a:r>
            <a:r>
              <a:rPr lang="en-US" altLang="zh-CN" sz="2200" dirty="0"/>
              <a:t>pre-melted (60 </a:t>
            </a:r>
            <a:r>
              <a:rPr lang="en-US" altLang="zh-CN" sz="2200" baseline="30000" dirty="0" err="1"/>
              <a:t>o</a:t>
            </a:r>
            <a:r>
              <a:rPr lang="en-US" altLang="zh-CN" sz="2200" dirty="0" err="1"/>
              <a:t>C</a:t>
            </a:r>
            <a:r>
              <a:rPr lang="en-US" altLang="zh-CN" sz="2200" dirty="0"/>
              <a:t>) overlay agar in oven (</a:t>
            </a:r>
            <a:r>
              <a:rPr lang="zh-CN" altLang="en-US" sz="2200" dirty="0"/>
              <a:t>烘箱</a:t>
            </a:r>
            <a:r>
              <a:rPr lang="en-US" altLang="zh-CN" sz="2200" dirty="0"/>
              <a:t>) ×1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1354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074026" y="757861"/>
            <a:ext cx="50427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i="1" dirty="0"/>
              <a:t>Step 1</a:t>
            </a:r>
            <a:r>
              <a:rPr lang="en-US" altLang="zh-CN" sz="2200" dirty="0"/>
              <a:t>: </a:t>
            </a:r>
            <a:r>
              <a:rPr lang="en-AU" altLang="zh-CN" sz="2200" dirty="0"/>
              <a:t>Label </a:t>
            </a:r>
            <a:r>
              <a:rPr lang="en-US" altLang="zh-CN" sz="2200" dirty="0"/>
              <a:t>each</a:t>
            </a:r>
            <a:r>
              <a:rPr lang="en-AU" altLang="zh-CN" sz="2200" dirty="0"/>
              <a:t> plate (</a:t>
            </a:r>
            <a:r>
              <a:rPr lang="en-US" altLang="zh-CN" sz="2200" dirty="0"/>
              <a:t>×6</a:t>
            </a:r>
            <a:r>
              <a:rPr lang="en-AU" altLang="zh-CN" sz="2200" dirty="0"/>
              <a:t>) as in fig11.1.</a:t>
            </a:r>
            <a:endParaRPr lang="en-US" sz="2200" dirty="0"/>
          </a:p>
        </p:txBody>
      </p:sp>
      <p:sp>
        <p:nvSpPr>
          <p:cNvPr id="37" name="TextBox 36"/>
          <p:cNvSpPr txBox="1"/>
          <p:nvPr/>
        </p:nvSpPr>
        <p:spPr>
          <a:xfrm>
            <a:off x="2057888" y="1818570"/>
            <a:ext cx="5827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i="1" dirty="0">
                <a:solidFill>
                  <a:srgbClr val="FF0000"/>
                </a:solidFill>
              </a:rPr>
              <a:t>Step 2 </a:t>
            </a:r>
            <a:r>
              <a:rPr lang="en-US" altLang="zh-CN" sz="2200" b="1" dirty="0">
                <a:solidFill>
                  <a:srgbClr val="FF0000"/>
                </a:solidFill>
              </a:rPr>
              <a:t>: </a:t>
            </a:r>
            <a:r>
              <a:rPr lang="en-US" altLang="zh-CN" sz="2400" b="1" dirty="0">
                <a:solidFill>
                  <a:srgbClr val="FF0000"/>
                </a:solidFill>
              </a:rPr>
              <a:t>Making double-layer</a:t>
            </a:r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NA plate </a:t>
            </a:r>
            <a:r>
              <a:rPr lang="en-AU" altLang="zh-CN" sz="2400" dirty="0"/>
              <a:t>(</a:t>
            </a:r>
            <a:r>
              <a:rPr lang="en-US" altLang="zh-CN" sz="2400" dirty="0"/>
              <a:t>×6</a:t>
            </a:r>
            <a:r>
              <a:rPr lang="en-AU" altLang="zh-CN" sz="2400" dirty="0"/>
              <a:t>) </a:t>
            </a:r>
            <a:r>
              <a:rPr lang="zh-CN" altLang="en-US" sz="2400" b="1" dirty="0">
                <a:solidFill>
                  <a:srgbClr val="FF0000"/>
                </a:solidFill>
              </a:rPr>
              <a:t>！</a:t>
            </a:r>
            <a:endParaRPr lang="en-US" sz="2200" b="1" dirty="0">
              <a:solidFill>
                <a:srgbClr val="FF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352C69C-5DB7-499F-B0DC-838ABEE6B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686" y="1271693"/>
            <a:ext cx="1687894" cy="491549"/>
          </a:xfrm>
          <a:prstGeom prst="rect">
            <a:avLst/>
          </a:prstGeom>
        </p:spPr>
      </p:pic>
      <p:sp>
        <p:nvSpPr>
          <p:cNvPr id="21" name="TextBox 34">
            <a:extLst>
              <a:ext uri="{FF2B5EF4-FFF2-40B4-BE49-F238E27FC236}">
                <a16:creationId xmlns:a16="http://schemas.microsoft.com/office/drawing/2014/main" id="{40BC943F-A5A8-463A-83A5-B1A4D52AB2AF}"/>
              </a:ext>
            </a:extLst>
          </p:cNvPr>
          <p:cNvSpPr txBox="1"/>
          <p:nvPr/>
        </p:nvSpPr>
        <p:spPr>
          <a:xfrm>
            <a:off x="2057888" y="3177630"/>
            <a:ext cx="5825219" cy="1048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i="1" dirty="0"/>
              <a:t>Step 3 </a:t>
            </a:r>
            <a:r>
              <a:rPr lang="en-US" altLang="zh-CN" sz="2200" dirty="0"/>
              <a:t>: Serial</a:t>
            </a:r>
            <a:r>
              <a:rPr lang="zh-CN" altLang="en-US" sz="2200" dirty="0"/>
              <a:t> </a:t>
            </a:r>
            <a:r>
              <a:rPr lang="en-US" altLang="zh-CN" sz="2200" dirty="0"/>
              <a:t>dilution of T4 </a:t>
            </a:r>
            <a:r>
              <a:rPr lang="en-US" sz="2200" dirty="0"/>
              <a:t>using Buffer.</a:t>
            </a:r>
            <a:r>
              <a:rPr lang="zh-CN" altLang="en-US" sz="2200" dirty="0"/>
              <a:t> </a:t>
            </a:r>
            <a:r>
              <a:rPr lang="en-US" altLang="zh-CN" sz="2200" dirty="0"/>
              <a:t>Pipetting up and down to mix completely.</a:t>
            </a:r>
            <a:endParaRPr lang="en-US" sz="2200" dirty="0"/>
          </a:p>
        </p:txBody>
      </p:sp>
      <p:sp>
        <p:nvSpPr>
          <p:cNvPr id="22" name="TextBox 35">
            <a:extLst>
              <a:ext uri="{FF2B5EF4-FFF2-40B4-BE49-F238E27FC236}">
                <a16:creationId xmlns:a16="http://schemas.microsoft.com/office/drawing/2014/main" id="{D59CE1AF-C691-4EFE-8BC6-1C2C03635F63}"/>
              </a:ext>
            </a:extLst>
          </p:cNvPr>
          <p:cNvSpPr txBox="1"/>
          <p:nvPr/>
        </p:nvSpPr>
        <p:spPr>
          <a:xfrm>
            <a:off x="1996053" y="4941362"/>
            <a:ext cx="6821881" cy="870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200" dirty="0"/>
              <a:t>Step 4: Add 10 </a:t>
            </a:r>
            <a:r>
              <a:rPr lang="en-US" altLang="zh-CN" sz="2200" dirty="0" err="1"/>
              <a:t>μL</a:t>
            </a:r>
            <a:r>
              <a:rPr lang="en-US" altLang="zh-CN" sz="2200" dirty="0"/>
              <a:t> drops of phage</a:t>
            </a:r>
            <a:r>
              <a:rPr lang="zh-CN" altLang="en-US" sz="2200" dirty="0"/>
              <a:t> </a:t>
            </a:r>
            <a:r>
              <a:rPr lang="en-US" altLang="zh-CN" sz="2200" dirty="0"/>
              <a:t>onto labelled</a:t>
            </a:r>
            <a:r>
              <a:rPr lang="zh-CN" altLang="en-US" sz="2200" dirty="0"/>
              <a:t> </a:t>
            </a:r>
            <a:r>
              <a:rPr lang="en-US" altLang="zh-CN" sz="2200" dirty="0"/>
              <a:t>double-layer</a:t>
            </a:r>
            <a:r>
              <a:rPr lang="zh-CN" altLang="en-US" sz="2200" dirty="0"/>
              <a:t> </a:t>
            </a:r>
            <a:r>
              <a:rPr lang="en-US" altLang="zh-CN" sz="2200" dirty="0"/>
              <a:t>plate (duplicate for each dilution). </a:t>
            </a:r>
          </a:p>
        </p:txBody>
      </p:sp>
    </p:spTree>
    <p:extLst>
      <p:ext uri="{BB962C8B-B14F-4D97-AF65-F5344CB8AC3E}">
        <p14:creationId xmlns:p14="http://schemas.microsoft.com/office/powerpoint/2010/main" val="413674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 rot="19258596">
            <a:off x="3597597" y="718757"/>
            <a:ext cx="676356" cy="2337995"/>
            <a:chOff x="5599228" y="510623"/>
            <a:chExt cx="905237" cy="2184559"/>
          </a:xfrm>
        </p:grpSpPr>
        <p:cxnSp>
          <p:nvCxnSpPr>
            <p:cNvPr id="26" name="Straight Connector 25"/>
            <p:cNvCxnSpPr/>
            <p:nvPr/>
          </p:nvCxnSpPr>
          <p:spPr>
            <a:xfrm flipV="1">
              <a:off x="5709843" y="701887"/>
              <a:ext cx="24967" cy="172393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6334792" y="673840"/>
              <a:ext cx="23451" cy="172388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Chord 27"/>
            <p:cNvSpPr/>
            <p:nvPr/>
          </p:nvSpPr>
          <p:spPr>
            <a:xfrm rot="16200000">
              <a:off x="5759430" y="2103359"/>
              <a:ext cx="534080" cy="649565"/>
            </a:xfrm>
            <a:prstGeom prst="chord">
              <a:avLst>
                <a:gd name="adj1" fmla="val 5021957"/>
                <a:gd name="adj2" fmla="val 16323310"/>
              </a:avLst>
            </a:prstGeom>
            <a:solidFill>
              <a:srgbClr val="C55A1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599228" y="510623"/>
              <a:ext cx="905237" cy="19126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Can 30"/>
          <p:cNvSpPr/>
          <p:nvPr/>
        </p:nvSpPr>
        <p:spPr>
          <a:xfrm>
            <a:off x="519789" y="2921283"/>
            <a:ext cx="3427664" cy="763487"/>
          </a:xfrm>
          <a:prstGeom prst="can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26565" y="2601683"/>
            <a:ext cx="3418056" cy="342967"/>
          </a:xfrm>
          <a:prstGeom prst="ellipse">
            <a:avLst/>
          </a:prstGeom>
          <a:solidFill>
            <a:schemeClr val="bg2">
              <a:lumMod val="75000"/>
              <a:alpha val="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545244" y="2807096"/>
            <a:ext cx="0" cy="28580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928920" y="2810105"/>
            <a:ext cx="0" cy="28580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/>
          <a:srcRect l="69205" t="37576" r="3712" b="43091"/>
          <a:stretch>
            <a:fillRect/>
          </a:stretch>
        </p:blipFill>
        <p:spPr>
          <a:xfrm rot="20392648">
            <a:off x="1883181" y="1381354"/>
            <a:ext cx="1247787" cy="952408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2"/>
          <a:srcRect l="69205" t="37576" r="3712" b="43091"/>
          <a:stretch>
            <a:fillRect/>
          </a:stretch>
        </p:blipFill>
        <p:spPr>
          <a:xfrm rot="15799440">
            <a:off x="2609091" y="4060290"/>
            <a:ext cx="1247786" cy="81305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441830" y="5539692"/>
            <a:ext cx="6790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Allow to set for 2-3 min in sterile hood with air flow.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1830" y="1182394"/>
            <a:ext cx="3362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 </a:t>
            </a:r>
            <a:r>
              <a:rPr lang="en-US" altLang="zh-CN" sz="2400" dirty="0">
                <a:solidFill>
                  <a:srgbClr val="FF0000"/>
                </a:solidFill>
              </a:rPr>
              <a:t>m</a:t>
            </a:r>
            <a:r>
              <a:rPr lang="el-GR" sz="2400" dirty="0">
                <a:solidFill>
                  <a:srgbClr val="FF0000"/>
                </a:solidFill>
              </a:rPr>
              <a:t>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/>
              <a:t>E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coli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culture (</a:t>
            </a:r>
            <a:r>
              <a:rPr lang="en-US" sz="2400" b="1" dirty="0" err="1">
                <a:solidFill>
                  <a:srgbClr val="0000CC"/>
                </a:solidFill>
              </a:rPr>
              <a:t>Ec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V="1">
            <a:off x="4691739" y="2284227"/>
            <a:ext cx="298847" cy="1867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974884" y="1657449"/>
            <a:ext cx="466946" cy="6484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4996538" y="2271569"/>
            <a:ext cx="445292" cy="577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25695" y="2848606"/>
            <a:ext cx="3995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50 mL </a:t>
            </a:r>
            <a:r>
              <a:rPr lang="en-US" altLang="zh-CN" sz="2400" dirty="0"/>
              <a:t>pre-melted overlay agar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8192" y="3610166"/>
            <a:ext cx="2578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Solid NA plate (</a:t>
            </a:r>
            <a:r>
              <a:rPr lang="en-US" sz="2400" b="1" dirty="0">
                <a:solidFill>
                  <a:srgbClr val="0000CC"/>
                </a:solidFill>
              </a:rPr>
              <a:t>NA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</p:txBody>
      </p:sp>
      <p:sp>
        <p:nvSpPr>
          <p:cNvPr id="68" name="Right Bracket 67"/>
          <p:cNvSpPr/>
          <p:nvPr/>
        </p:nvSpPr>
        <p:spPr>
          <a:xfrm>
            <a:off x="9793880" y="1430242"/>
            <a:ext cx="203979" cy="1899430"/>
          </a:xfrm>
          <a:prstGeom prst="rightBracke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10049896" y="1751910"/>
            <a:ext cx="18270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</a:rPr>
              <a:t>Mix evenly by inverting ( Do not vortex)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856" y="224771"/>
            <a:ext cx="10946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solidFill>
                  <a:srgbClr val="FF0000"/>
                </a:solidFill>
              </a:rPr>
              <a:t>Step 2</a:t>
            </a:r>
            <a:r>
              <a:rPr lang="en-US" altLang="zh-CN" sz="2400" dirty="0">
                <a:solidFill>
                  <a:srgbClr val="FF0000"/>
                </a:solidFill>
              </a:rPr>
              <a:t>. Making double-layer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NA plate for plaque assay.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55439" y="6338857"/>
            <a:ext cx="2743200" cy="365125"/>
          </a:xfrm>
        </p:spPr>
        <p:txBody>
          <a:bodyPr/>
          <a:lstStyle/>
          <a:p>
            <a:fld id="{6526B107-EBDF-4E20-9556-D40CE74DF654}" type="slidenum">
              <a:rPr lang="en-AU" smtClean="0"/>
              <a:t>9</a:t>
            </a:fld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5511328" y="3669239"/>
            <a:ext cx="64515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</a:rPr>
              <a:t>Pour about 3 mL overlay agar for each NA plate quickly, as agar will start to solidify at room temperature.</a:t>
            </a:r>
          </a:p>
          <a:p>
            <a:r>
              <a:rPr lang="en-US" sz="2200" dirty="0">
                <a:solidFill>
                  <a:srgbClr val="0000FF"/>
                </a:solidFill>
              </a:rPr>
              <a:t>If overlay has lumps or uneven surface, repeat on new NA plate.</a:t>
            </a:r>
          </a:p>
        </p:txBody>
      </p:sp>
      <p:sp>
        <p:nvSpPr>
          <p:cNvPr id="46" name="Can 45"/>
          <p:cNvSpPr/>
          <p:nvPr/>
        </p:nvSpPr>
        <p:spPr>
          <a:xfrm>
            <a:off x="1805479" y="5349265"/>
            <a:ext cx="3427664" cy="763487"/>
          </a:xfrm>
          <a:prstGeom prst="can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812255" y="5029665"/>
            <a:ext cx="3418056" cy="342967"/>
          </a:xfrm>
          <a:prstGeom prst="ellipse">
            <a:avLst/>
          </a:prstGeom>
          <a:solidFill>
            <a:schemeClr val="bg2">
              <a:lumMod val="75000"/>
              <a:alpha val="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>
            <a:off x="1830933" y="5235078"/>
            <a:ext cx="0" cy="28580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214609" y="5238087"/>
            <a:ext cx="0" cy="28580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809279" y="5381461"/>
            <a:ext cx="3436733" cy="33613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1504070" y="6074508"/>
            <a:ext cx="2932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Double-layer NA plate</a:t>
            </a:r>
          </a:p>
        </p:txBody>
      </p:sp>
    </p:spTree>
    <p:extLst>
      <p:ext uri="{BB962C8B-B14F-4D97-AF65-F5344CB8AC3E}">
        <p14:creationId xmlns:p14="http://schemas.microsoft.com/office/powerpoint/2010/main" val="2084213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8" y="3303517"/>
            <a:ext cx="512164" cy="12698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989333" y="4804991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 dirty="0">
                <a:solidFill>
                  <a:srgbClr val="0000CC"/>
                </a:solidFill>
              </a:rPr>
              <a:t>25-fold</a:t>
            </a:r>
            <a:endParaRPr lang="zh-CN" altLang="en-US" sz="1500" b="1" dirty="0">
              <a:solidFill>
                <a:srgbClr val="0000CC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6533" y="4671822"/>
            <a:ext cx="13152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dirty="0"/>
              <a:t>Phage</a:t>
            </a:r>
            <a:r>
              <a:rPr lang="zh-CN" altLang="en-US" sz="1500" dirty="0"/>
              <a:t> </a:t>
            </a:r>
            <a:r>
              <a:rPr lang="en-US" altLang="zh-CN" sz="1500" dirty="0"/>
              <a:t>stock</a:t>
            </a:r>
          </a:p>
          <a:p>
            <a:pPr algn="ctr"/>
            <a:r>
              <a:rPr lang="en-US" altLang="zh-CN" sz="1500" dirty="0"/>
              <a:t>(</a:t>
            </a:r>
            <a:r>
              <a:rPr lang="en-US" altLang="zh-CN" sz="1500" b="1" dirty="0">
                <a:solidFill>
                  <a:srgbClr val="0000CC"/>
                </a:solidFill>
              </a:rPr>
              <a:t>T4</a:t>
            </a:r>
            <a:r>
              <a:rPr lang="en-US" altLang="zh-CN" sz="1500" dirty="0"/>
              <a:t>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54959" t="44931" r="29053" b="32564"/>
          <a:stretch>
            <a:fillRect/>
          </a:stretch>
        </p:blipFill>
        <p:spPr>
          <a:xfrm rot="5654791" flipH="1">
            <a:off x="1808577" y="2235919"/>
            <a:ext cx="746252" cy="118868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3"/>
          <a:srcRect l="54959" t="44931" r="29053" b="32564"/>
          <a:stretch>
            <a:fillRect/>
          </a:stretch>
        </p:blipFill>
        <p:spPr>
          <a:xfrm rot="5654791" flipH="1">
            <a:off x="3616207" y="2290553"/>
            <a:ext cx="746252" cy="11886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472651" y="2903668"/>
            <a:ext cx="971255" cy="164070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24048" y="2944024"/>
            <a:ext cx="971255" cy="164070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97828" y="654170"/>
            <a:ext cx="5825219" cy="1048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i="1" dirty="0"/>
              <a:t>Step 3 </a:t>
            </a:r>
            <a:r>
              <a:rPr lang="en-US" altLang="zh-CN" sz="2200" dirty="0"/>
              <a:t>: Serial</a:t>
            </a:r>
            <a:r>
              <a:rPr lang="zh-CN" altLang="en-US" sz="2200" dirty="0"/>
              <a:t> </a:t>
            </a:r>
            <a:r>
              <a:rPr lang="en-US" altLang="zh-CN" sz="2200" dirty="0"/>
              <a:t>dilution of T4 </a:t>
            </a:r>
            <a:r>
              <a:rPr lang="en-US" sz="2200" dirty="0"/>
              <a:t>using Buffer.</a:t>
            </a:r>
            <a:r>
              <a:rPr lang="zh-CN" altLang="en-US" sz="2200" dirty="0"/>
              <a:t> </a:t>
            </a:r>
            <a:r>
              <a:rPr lang="en-US" altLang="zh-CN" sz="2200" dirty="0"/>
              <a:t>Pipetting up and down to mix completely.</a:t>
            </a:r>
            <a:endParaRPr lang="en-US" sz="2200" dirty="0"/>
          </a:p>
        </p:txBody>
      </p:sp>
      <p:sp>
        <p:nvSpPr>
          <p:cNvPr id="36" name="TextBox 35"/>
          <p:cNvSpPr txBox="1"/>
          <p:nvPr/>
        </p:nvSpPr>
        <p:spPr>
          <a:xfrm>
            <a:off x="6430304" y="527753"/>
            <a:ext cx="5353438" cy="2055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200" dirty="0"/>
              <a:t>Step 4: Add 10 </a:t>
            </a:r>
            <a:r>
              <a:rPr lang="en-US" altLang="zh-CN" sz="2200" dirty="0" err="1"/>
              <a:t>μL</a:t>
            </a:r>
            <a:r>
              <a:rPr lang="en-US" altLang="zh-CN" sz="2200" dirty="0"/>
              <a:t> drops of phage</a:t>
            </a:r>
            <a:r>
              <a:rPr lang="zh-CN" altLang="en-US" sz="2200" dirty="0"/>
              <a:t> </a:t>
            </a:r>
            <a:r>
              <a:rPr lang="en-US" altLang="zh-CN" sz="2200" dirty="0"/>
              <a:t>onto labelled</a:t>
            </a:r>
            <a:r>
              <a:rPr lang="zh-CN" altLang="en-US" sz="2200" dirty="0"/>
              <a:t> </a:t>
            </a:r>
            <a:r>
              <a:rPr lang="en-US" altLang="zh-CN" sz="2200" dirty="0"/>
              <a:t>double-layer</a:t>
            </a:r>
            <a:r>
              <a:rPr lang="zh-CN" altLang="en-US" sz="2200" dirty="0"/>
              <a:t> </a:t>
            </a:r>
            <a:r>
              <a:rPr lang="en-US" altLang="zh-CN" sz="2200" dirty="0"/>
              <a:t>plate (duplicate for each dilution). </a:t>
            </a:r>
          </a:p>
          <a:p>
            <a:pPr algn="just">
              <a:lnSpc>
                <a:spcPct val="120000"/>
              </a:lnSpc>
            </a:pPr>
            <a:r>
              <a:rPr lang="en-US" altLang="zh-CN" sz="2200" dirty="0"/>
              <a:t>Set at the plates in the hood for </a:t>
            </a:r>
            <a:r>
              <a:rPr lang="en-US" altLang="zh-CN" sz="2000" b="1" dirty="0">
                <a:solidFill>
                  <a:srgbClr val="FF0000"/>
                </a:solidFill>
              </a:rPr>
              <a:t>5 min without air flow and moving.</a:t>
            </a: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1814487" y="2148137"/>
            <a:ext cx="85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5-fold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603637" y="2162749"/>
            <a:ext cx="851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5-fold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0241" y="5299724"/>
            <a:ext cx="397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Each dilution should be more than 30 </a:t>
            </a:r>
            <a:r>
              <a:rPr lang="en-US" altLang="zh-CN" dirty="0" err="1"/>
              <a:t>μL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247" y="4783940"/>
            <a:ext cx="77777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 dirty="0">
                <a:solidFill>
                  <a:srgbClr val="0000CC"/>
                </a:solidFill>
              </a:rPr>
              <a:t>5-fold</a:t>
            </a:r>
            <a:endParaRPr lang="zh-CN" altLang="en-US" sz="1500" b="1" dirty="0">
              <a:solidFill>
                <a:srgbClr val="0000CC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D0A33A9-36A7-451C-B723-2F5741438AD0}"/>
              </a:ext>
            </a:extLst>
          </p:cNvPr>
          <p:cNvGrpSpPr/>
          <p:nvPr/>
        </p:nvGrpSpPr>
        <p:grpSpPr>
          <a:xfrm>
            <a:off x="7593904" y="2675421"/>
            <a:ext cx="2358171" cy="2350963"/>
            <a:chOff x="7310369" y="2895160"/>
            <a:chExt cx="3156668" cy="3156668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0A82826-33C7-454C-8153-AD62953161AB}"/>
                </a:ext>
              </a:extLst>
            </p:cNvPr>
            <p:cNvSpPr/>
            <p:nvPr/>
          </p:nvSpPr>
          <p:spPr>
            <a:xfrm>
              <a:off x="7310369" y="2895160"/>
              <a:ext cx="3156668" cy="315666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00BDB6D-D77B-4812-8F1B-91C7B9CFFA73}"/>
                </a:ext>
              </a:extLst>
            </p:cNvPr>
            <p:cNvSpPr/>
            <p:nvPr/>
          </p:nvSpPr>
          <p:spPr>
            <a:xfrm>
              <a:off x="8739351" y="4340451"/>
              <a:ext cx="318053" cy="3071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AB8BA7F1-D2B4-4BD6-AC45-654E63E3306C}"/>
              </a:ext>
            </a:extLst>
          </p:cNvPr>
          <p:cNvSpPr txBox="1"/>
          <p:nvPr/>
        </p:nvSpPr>
        <p:spPr>
          <a:xfrm>
            <a:off x="10091540" y="4571264"/>
            <a:ext cx="119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 </a:t>
            </a:r>
            <a:r>
              <a:rPr lang="en-US" altLang="zh-CN" dirty="0" err="1"/>
              <a:t>μL</a:t>
            </a:r>
            <a:r>
              <a:rPr lang="en-US" altLang="zh-CN" dirty="0"/>
              <a:t> drop</a:t>
            </a:r>
            <a:endParaRPr lang="zh-CN" altLang="en-US" dirty="0"/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247D00F-6B03-4BF8-B09A-4578F36C6647}"/>
              </a:ext>
            </a:extLst>
          </p:cNvPr>
          <p:cNvSpPr txBox="1"/>
          <p:nvPr/>
        </p:nvSpPr>
        <p:spPr>
          <a:xfrm>
            <a:off x="6430304" y="5580298"/>
            <a:ext cx="5589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+mj-lt"/>
              </a:rPr>
              <a:t>** Teaching assistant will transfer your plates to incubate at 37 °C. After 4-5 hours, the plaques appear.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1621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723</Words>
  <Application>Microsoft Office PowerPoint</Application>
  <PresentationFormat>宽屏</PresentationFormat>
  <Paragraphs>82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华文新魏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EXPERIMENT 8: Detection of colony-forming unit (CFU)                                                       菌落形成单位</vt:lpstr>
      <vt:lpstr>PowerPoint 演示文稿</vt:lpstr>
      <vt:lpstr>Exp. 8 - 9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品美</dc:creator>
  <cp:lastModifiedBy>不纠结</cp:lastModifiedBy>
  <cp:revision>106</cp:revision>
  <dcterms:created xsi:type="dcterms:W3CDTF">2022-10-19T06:09:22Z</dcterms:created>
  <dcterms:modified xsi:type="dcterms:W3CDTF">2024-11-06T05:46:45Z</dcterms:modified>
</cp:coreProperties>
</file>