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7" r:id="rId3"/>
    <p:sldId id="416" r:id="rId4"/>
    <p:sldId id="417" r:id="rId5"/>
    <p:sldId id="422" r:id="rId6"/>
    <p:sldId id="430" r:id="rId7"/>
    <p:sldId id="420" r:id="rId8"/>
    <p:sldId id="424" r:id="rId9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 品美" initials="王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FFDBF-89A8-4CED-B1CB-8523A43521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DAD64-272D-4D61-A36F-873F86E3FEC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C4D99-D46D-446B-991C-B1A1FE191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44813-B777-4B5B-AC53-AB94914AF5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C4D99-D46D-446B-991C-B1A1FE191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44813-B777-4B5B-AC53-AB94914AF5B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20" y="0"/>
            <a:ext cx="12135759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3688" y="829733"/>
            <a:ext cx="11279050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海洋微生物学及实验</a:t>
            </a:r>
            <a:endParaRPr lang="en-US" altLang="zh-CN" sz="96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sz="54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2024-2025</a:t>
            </a:r>
            <a:r>
              <a:rPr lang="zh-CN" altLang="en-US" sz="5400" b="1" dirty="0">
                <a:solidFill>
                  <a:srgbClr val="FFFF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学年 秋第二周</a:t>
            </a:r>
            <a:endParaRPr lang="zh-CN" altLang="en-US" sz="5400" b="1" dirty="0">
              <a:solidFill>
                <a:srgbClr val="FFFF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057" y="0"/>
            <a:ext cx="5700713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290725" y="1803267"/>
            <a:ext cx="4407815" cy="72047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表格 4"/>
          <p:cNvGraphicFramePr>
            <a:graphicFrameLocks noGrp="1"/>
          </p:cNvGraphicFramePr>
          <p:nvPr/>
        </p:nvGraphicFramePr>
        <p:xfrm>
          <a:off x="6335232" y="1503816"/>
          <a:ext cx="4945463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123"/>
                <a:gridCol w="2955340"/>
              </a:tblGrid>
              <a:tr h="315990">
                <a:tc>
                  <a:txBody>
                    <a:bodyPr/>
                    <a:lstStyle/>
                    <a:p>
                      <a:r>
                        <a:rPr lang="zh-CN" altLang="en-US" dirty="0"/>
                        <a:t>组号（共</a:t>
                      </a:r>
                      <a:r>
                        <a:rPr lang="en-US" altLang="zh-CN" dirty="0"/>
                        <a:t>19</a:t>
                      </a:r>
                      <a:r>
                        <a:rPr lang="zh-CN" altLang="en-US" dirty="0"/>
                        <a:t>人）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人）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魏元瀚、栾雨桐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人）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尤浩宇、柯泓宇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人）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王科缙、竺子博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人）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人）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F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3</a:t>
                      </a:r>
                      <a:r>
                        <a:rPr lang="zh-CN" altLang="en-US" dirty="0"/>
                        <a:t>人）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吴晶颖、卢宇轩、吴舒欣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G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3</a:t>
                      </a:r>
                      <a:r>
                        <a:rPr lang="zh-CN" altLang="en-US" dirty="0"/>
                        <a:t>人）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余东来、尹曦、刘志昂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3</a:t>
                      </a:r>
                      <a:r>
                        <a:rPr lang="zh-CN" altLang="en-US" dirty="0"/>
                        <a:t>人）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杨恬、储诗语、毛俊颖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10912" y="309894"/>
            <a:ext cx="1003214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3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EXPERIMENT 1: Observing microorganism</a:t>
            </a:r>
            <a:endParaRPr lang="en-US" altLang="zh-CN" sz="32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   微生物的观察 </a:t>
            </a:r>
            <a:endParaRPr lang="zh-CN" altLang="zh-CN" sz="3200" b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08509" y="2358800"/>
            <a:ext cx="6358951" cy="3228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INTRODUCTION</a:t>
            </a:r>
            <a:r>
              <a:rPr lang="zh-CN" altLang="en-US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1800" b="1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AU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en-AU" altLang="zh-CN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Microscopy</a:t>
            </a:r>
            <a:r>
              <a:rPr lang="en-AU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显微镜观察技术</a:t>
            </a:r>
            <a:r>
              <a:rPr lang="en-AU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AU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a basic, if not an essential, tool in microbiology.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The light microscope has a maximum magnification of about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1000 times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giving a useful resolution of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0.2 µm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AU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AU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AU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In this experiment, you will use </a:t>
            </a:r>
            <a:r>
              <a:rPr lang="en-AU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bright-field microscopy</a:t>
            </a:r>
            <a:r>
              <a:rPr lang="en-AU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examine microorganisms. Bright-field microscopy is used for the examination of both stained and unstained specimens. </a:t>
            </a:r>
            <a:endParaRPr lang="zh-CN" altLang="en-US" dirty="0"/>
          </a:p>
        </p:txBody>
      </p:sp>
      <p:pic>
        <p:nvPicPr>
          <p:cNvPr id="4" name="Picture 3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4540" y="1871329"/>
            <a:ext cx="4199388" cy="485352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2123" y="532634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OBJECTIVES	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52123" y="937062"/>
            <a:ext cx="11185459" cy="1702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At the end of this experiment, you should: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 able to describe of microorganism on plates  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Exp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.1A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 familiar with the procedures for setting up an optical microscope for bright-field microscopy </a:t>
            </a:r>
            <a:r>
              <a:rPr lang="zh-CN" alt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Exp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.1BC</a:t>
            </a:r>
            <a:r>
              <a:rPr lang="zh-CN" alt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zh-CN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Have a good working knowledge of the examination of microorganisms by bright-field microscopy</a:t>
            </a:r>
            <a:r>
              <a:rPr lang="zh-CN" alt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Exp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.1BC</a:t>
            </a:r>
            <a:r>
              <a:rPr lang="zh-CN" alt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2123" y="2782669"/>
            <a:ext cx="3604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EQUIPMENTS and MATERIALS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48851" y="3197301"/>
            <a:ext cx="9817399" cy="1628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3400" algn="just">
              <a:lnSpc>
                <a:spcPct val="150000"/>
              </a:lnSpc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microscope (DMBH200)   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Appendix B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algn="just">
              <a:lnSpc>
                <a:spcPct val="150000"/>
              </a:lnSpc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Fixed slides of microorganisms (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微生物制片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algn="just">
              <a:lnSpc>
                <a:spcPct val="150000"/>
              </a:lnSpc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Slides of the cellular structures of microorganisms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（微生物细胞结构制片）</a:t>
            </a: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algn="just">
              <a:lnSpc>
                <a:spcPct val="150000"/>
              </a:lnSpc>
            </a:pP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+mn-lt"/>
                <a:ea typeface="+mn-ea"/>
                <a:cs typeface="+mn-cs"/>
              </a:rPr>
              <a:t>Appendix B: Use of the compound microscope</a:t>
            </a:r>
            <a:br>
              <a:rPr lang="en-US" altLang="zh-CN" sz="2800" dirty="0">
                <a:latin typeface="+mn-lt"/>
                <a:ea typeface="+mn-ea"/>
                <a:cs typeface="+mn-cs"/>
              </a:rPr>
            </a:br>
            <a:r>
              <a:rPr lang="en-US" altLang="zh-CN" sz="2800" dirty="0">
                <a:latin typeface="+mn-lt"/>
                <a:ea typeface="+mn-ea"/>
                <a:cs typeface="+mn-cs"/>
              </a:rPr>
              <a:t>                    </a:t>
            </a:r>
            <a:r>
              <a:rPr lang="zh-CN" altLang="en-US" sz="2800" dirty="0">
                <a:latin typeface="+mn-lt"/>
                <a:ea typeface="+mn-ea"/>
                <a:cs typeface="+mn-cs"/>
              </a:rPr>
              <a:t>使用复式显微镜</a:t>
            </a:r>
            <a:endParaRPr lang="zh-CN" altLang="en-US" sz="28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The microscope will have three or four 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objective lenses 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mounted on the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 revolving nosepiece. 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In microbiology we only use the 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10×, 40×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100×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 objective lenses. 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The lower power 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 is used with the course focus adjustment to locate the image. The 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altLang="zh-CN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 lens is used with the fine focus adjustment to further focus stained preparations or for final viewing of wet mounts. 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Times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CN" sz="24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 lens 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  <a:t>is for oil immersion and is used to obtain the maximum magnification of a stained specimen. Oil must be used with this objective lens and no other. 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297154" y="413952"/>
            <a:ext cx="1375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EXP 1B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822251" y="1056414"/>
            <a:ext cx="10689266" cy="2952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METHODS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Go through the set-up procedures for bright-field microscopy using a DMBH200 Digital microscope (see 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Appendix B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), using the provided slide to focus on.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Observe the at least 5 kinds of slides, draw and describe their cellular morphology (according to 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Appendix C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in worksheet 1.2. 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*</a:t>
            </a:r>
            <a:r>
              <a:rPr lang="en-US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Appendix C: Common examples of bacterial cell morphology</a:t>
            </a:r>
            <a:endParaRPr lang="zh-CN" altLang="zh-CN" sz="1800" b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algn="just">
              <a:lnSpc>
                <a:spcPct val="150000"/>
              </a:lnSpc>
            </a:pP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9244" y="3800086"/>
            <a:ext cx="6925118" cy="2734673"/>
          </a:xfrm>
          <a:prstGeom prst="rect">
            <a:avLst/>
          </a:prstGeom>
        </p:spPr>
      </p:pic>
      <p:cxnSp>
        <p:nvCxnSpPr>
          <p:cNvPr id="13" name="直接箭头连接符 12"/>
          <p:cNvCxnSpPr/>
          <p:nvPr/>
        </p:nvCxnSpPr>
        <p:spPr>
          <a:xfrm flipV="1">
            <a:off x="6261811" y="5054009"/>
            <a:ext cx="1592105" cy="6138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6831745" y="5844165"/>
            <a:ext cx="13857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853916" y="4827181"/>
            <a:ext cx="2433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放大倍数，目镜</a:t>
            </a:r>
            <a:r>
              <a:rPr lang="en-US" altLang="zh-CN" dirty="0"/>
              <a:t>×</a:t>
            </a:r>
            <a:r>
              <a:rPr lang="zh-CN" altLang="en-US" dirty="0"/>
              <a:t>物镜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8510905" y="5668010"/>
            <a:ext cx="3466465" cy="2571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dirty="0"/>
              <a:t>细菌细胞的描述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40411"/>
            <a:ext cx="10515600" cy="15748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3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EXPERIMENT 2: Contamination and aseptic techniques</a:t>
            </a:r>
            <a:br>
              <a:rPr lang="en-US" altLang="zh-CN" sz="3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 sz="3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    </a:t>
            </a:r>
            <a:r>
              <a:rPr lang="zh-CN" altLang="en-US" sz="3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污染与无菌技术</a:t>
            </a:r>
            <a:endParaRPr lang="zh-CN" altLang="en-US" sz="3200" dirty="0"/>
          </a:p>
        </p:txBody>
      </p:sp>
      <p:sp>
        <p:nvSpPr>
          <p:cNvPr id="5" name="文本框 4"/>
          <p:cNvSpPr txBox="1"/>
          <p:nvPr/>
        </p:nvSpPr>
        <p:spPr>
          <a:xfrm>
            <a:off x="838200" y="2390218"/>
            <a:ext cx="10582939" cy="2978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73000"/>
              </a:lnSpc>
              <a:spcBef>
                <a:spcPts val="1300"/>
              </a:spcBef>
              <a:spcAft>
                <a:spcPts val="1300"/>
              </a:spcAft>
            </a:pPr>
            <a:r>
              <a:rPr lang="en-AU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 2B</a:t>
            </a:r>
            <a:endParaRPr lang="zh-CN" altLang="zh-CN" sz="2400" b="1" kern="100" dirty="0"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METHODS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SzPts val="1200"/>
              <a:buFont typeface="times new"/>
              <a:buAutoNum type="arabicPeriod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Examine the plates exposed to contamination in the previous laboratory period. 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SzPts val="1200"/>
              <a:buFont typeface="times new"/>
              <a:buAutoNum type="arabicPeriod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Record all the results from your group in Worksheet 2, and describe colonies. Descriptive features of colonies grown on solid media can be found in Appendix A.  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SzPts val="1200"/>
              <a:buFont typeface="times new"/>
              <a:buAutoNum type="arabicPeriod"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Describe a maximum of three colony types per section (A-D).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IyODdmZjY0Zjg0ZWQ3ZmVhZDA3NDFkNTYwZGEwNj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2460</Words>
  <Application>WPS 演示</Application>
  <PresentationFormat>宽屏</PresentationFormat>
  <Paragraphs>81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宋体</vt:lpstr>
      <vt:lpstr>Wingdings</vt:lpstr>
      <vt:lpstr>华文新魏</vt:lpstr>
      <vt:lpstr>Times New Roman</vt:lpstr>
      <vt:lpstr>Calibri</vt:lpstr>
      <vt:lpstr>Times</vt:lpstr>
      <vt:lpstr>Cambria</vt:lpstr>
      <vt:lpstr>times new</vt:lpstr>
      <vt:lpstr>Segoe Print</vt:lpstr>
      <vt:lpstr>微软雅黑</vt:lpstr>
      <vt:lpstr>Arial Unicode MS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Appendix B: Use of the compound microscope                     使用复式显微镜</vt:lpstr>
      <vt:lpstr>PowerPoint 演示文稿</vt:lpstr>
      <vt:lpstr>EXPERIMENT 2: Contamination and aseptic techniques                                  污染与无菌技术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品美</dc:creator>
  <cp:lastModifiedBy>:（</cp:lastModifiedBy>
  <cp:revision>49</cp:revision>
  <dcterms:created xsi:type="dcterms:W3CDTF">2022-10-19T06:09:00Z</dcterms:created>
  <dcterms:modified xsi:type="dcterms:W3CDTF">2024-09-25T13:07:01Z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0D8FB6AF975449DD979F2C39217657E3_12</vt:lpwstr>
  </property>
  <property fmtid="{D5CDD505-2E9C-101B-9397-08002B2CF9AE}" pid="3" name="KSOProductBuildVer">
    <vt:lpwstr>2052-12.1.0.18276</vt:lpwstr>
  </property>
</Properties>
</file>