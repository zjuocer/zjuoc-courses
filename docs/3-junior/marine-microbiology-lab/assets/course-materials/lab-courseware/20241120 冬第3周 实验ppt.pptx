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3"/>
  </p:notesMasterIdLst>
  <p:sldIdLst>
    <p:sldId id="257" r:id="rId3"/>
    <p:sldId id="444" r:id="rId4"/>
    <p:sldId id="445" r:id="rId5"/>
    <p:sldId id="273" r:id="rId6"/>
    <p:sldId id="446" r:id="rId7"/>
    <p:sldId id="447" r:id="rId8"/>
    <p:sldId id="448" r:id="rId9"/>
    <p:sldId id="449" r:id="rId10"/>
    <p:sldId id="277" r:id="rId11"/>
    <p:sldId id="461" r:id="rId12"/>
    <p:sldId id="416" r:id="rId13"/>
    <p:sldId id="455" r:id="rId14"/>
    <p:sldId id="278" r:id="rId15"/>
    <p:sldId id="259" r:id="rId16"/>
    <p:sldId id="462" r:id="rId17"/>
    <p:sldId id="282" r:id="rId18"/>
    <p:sldId id="279" r:id="rId19"/>
    <p:sldId id="256" r:id="rId20"/>
    <p:sldId id="280" r:id="rId21"/>
    <p:sldId id="281" r:id="rId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王 品美" initials="王" lastIdx="1" clrIdx="0">
    <p:extLst>
      <p:ext uri="{19B8F6BF-5375-455C-9EA6-DF929625EA0E}">
        <p15:presenceInfo xmlns:p15="http://schemas.microsoft.com/office/powerpoint/2012/main" userId="e8f830cc432226c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4B50C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856"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6FFDBF-89A8-4CED-B1CB-8523A4352154}" type="datetimeFigureOut">
              <a:rPr lang="zh-CN" altLang="en-US" smtClean="0"/>
              <a:t>2024/11/20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BDAD64-272D-4D61-A36F-873F86E3FEC9}" type="slidenum">
              <a:rPr lang="zh-CN" altLang="en-US" smtClean="0"/>
              <a:t>‹#›</a:t>
            </a:fld>
            <a:endParaRPr lang="zh-CN" altLang="en-US"/>
          </a:p>
        </p:txBody>
      </p:sp>
    </p:spTree>
    <p:extLst>
      <p:ext uri="{BB962C8B-B14F-4D97-AF65-F5344CB8AC3E}">
        <p14:creationId xmlns:p14="http://schemas.microsoft.com/office/powerpoint/2010/main" val="26176886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5006FD-638D-4E6C-9CCF-3D4658AF701A}"/>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C26C3BD-298E-40CE-B079-5429E579C18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3DCB538D-F6E0-4A06-9EE8-858751E87754}"/>
              </a:ext>
            </a:extLst>
          </p:cNvPr>
          <p:cNvSpPr>
            <a:spLocks noGrp="1"/>
          </p:cNvSpPr>
          <p:nvPr>
            <p:ph type="dt" sz="half" idx="10"/>
          </p:nvPr>
        </p:nvSpPr>
        <p:spPr/>
        <p:txBody>
          <a:bodyPr/>
          <a:lstStyle/>
          <a:p>
            <a:fld id="{348C4D99-D46D-446B-991C-B1A1FE191A29}" type="datetimeFigureOut">
              <a:rPr lang="zh-CN" altLang="en-US" smtClean="0"/>
              <a:t>2024/11/20</a:t>
            </a:fld>
            <a:endParaRPr lang="zh-CN" altLang="en-US"/>
          </a:p>
        </p:txBody>
      </p:sp>
      <p:sp>
        <p:nvSpPr>
          <p:cNvPr id="5" name="页脚占位符 4">
            <a:extLst>
              <a:ext uri="{FF2B5EF4-FFF2-40B4-BE49-F238E27FC236}">
                <a16:creationId xmlns:a16="http://schemas.microsoft.com/office/drawing/2014/main" id="{2C9B3C53-623A-4BEE-8264-329FFCBCA07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FCAF78D-8C63-4A04-A86E-AFC517B51F32}"/>
              </a:ext>
            </a:extLst>
          </p:cNvPr>
          <p:cNvSpPr>
            <a:spLocks noGrp="1"/>
          </p:cNvSpPr>
          <p:nvPr>
            <p:ph type="sldNum" sz="quarter" idx="12"/>
          </p:nvPr>
        </p:nvSpPr>
        <p:spPr/>
        <p:txBody>
          <a:bodyPr/>
          <a:lstStyle/>
          <a:p>
            <a:fld id="{CB844813-B777-4B5B-AC53-AB94914AF5BB}" type="slidenum">
              <a:rPr lang="zh-CN" altLang="en-US" smtClean="0"/>
              <a:t>‹#›</a:t>
            </a:fld>
            <a:endParaRPr lang="zh-CN" altLang="en-US"/>
          </a:p>
        </p:txBody>
      </p:sp>
    </p:spTree>
    <p:extLst>
      <p:ext uri="{BB962C8B-B14F-4D97-AF65-F5344CB8AC3E}">
        <p14:creationId xmlns:p14="http://schemas.microsoft.com/office/powerpoint/2010/main" val="22810637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397606-93A3-409D-B67D-4FD5C28BFDB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D6501F3-54A8-4E88-A3E1-CA35644C8E22}"/>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F68289A-ED03-4119-BDF9-32C49A6106D4}"/>
              </a:ext>
            </a:extLst>
          </p:cNvPr>
          <p:cNvSpPr>
            <a:spLocks noGrp="1"/>
          </p:cNvSpPr>
          <p:nvPr>
            <p:ph type="dt" sz="half" idx="10"/>
          </p:nvPr>
        </p:nvSpPr>
        <p:spPr/>
        <p:txBody>
          <a:bodyPr/>
          <a:lstStyle/>
          <a:p>
            <a:fld id="{348C4D99-D46D-446B-991C-B1A1FE191A29}" type="datetimeFigureOut">
              <a:rPr lang="zh-CN" altLang="en-US" smtClean="0"/>
              <a:t>2024/11/20</a:t>
            </a:fld>
            <a:endParaRPr lang="zh-CN" altLang="en-US"/>
          </a:p>
        </p:txBody>
      </p:sp>
      <p:sp>
        <p:nvSpPr>
          <p:cNvPr id="5" name="页脚占位符 4">
            <a:extLst>
              <a:ext uri="{FF2B5EF4-FFF2-40B4-BE49-F238E27FC236}">
                <a16:creationId xmlns:a16="http://schemas.microsoft.com/office/drawing/2014/main" id="{71F58A37-1224-4F61-93AC-777F9C8702A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AB6D122-B720-4B3A-9451-B908871C2407}"/>
              </a:ext>
            </a:extLst>
          </p:cNvPr>
          <p:cNvSpPr>
            <a:spLocks noGrp="1"/>
          </p:cNvSpPr>
          <p:nvPr>
            <p:ph type="sldNum" sz="quarter" idx="12"/>
          </p:nvPr>
        </p:nvSpPr>
        <p:spPr/>
        <p:txBody>
          <a:bodyPr/>
          <a:lstStyle/>
          <a:p>
            <a:fld id="{CB844813-B777-4B5B-AC53-AB94914AF5BB}" type="slidenum">
              <a:rPr lang="zh-CN" altLang="en-US" smtClean="0"/>
              <a:t>‹#›</a:t>
            </a:fld>
            <a:endParaRPr lang="zh-CN" altLang="en-US"/>
          </a:p>
        </p:txBody>
      </p:sp>
    </p:spTree>
    <p:extLst>
      <p:ext uri="{BB962C8B-B14F-4D97-AF65-F5344CB8AC3E}">
        <p14:creationId xmlns:p14="http://schemas.microsoft.com/office/powerpoint/2010/main" val="10863762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4A8940-2223-4034-827E-C66B0DC57149}"/>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D1A1540F-5E47-4F02-BC39-548C4D1F12A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BEACA5E3-0EE4-4004-BC45-399894C3C63D}"/>
              </a:ext>
            </a:extLst>
          </p:cNvPr>
          <p:cNvSpPr>
            <a:spLocks noGrp="1"/>
          </p:cNvSpPr>
          <p:nvPr>
            <p:ph type="dt" sz="half" idx="10"/>
          </p:nvPr>
        </p:nvSpPr>
        <p:spPr/>
        <p:txBody>
          <a:bodyPr/>
          <a:lstStyle/>
          <a:p>
            <a:fld id="{348C4D99-D46D-446B-991C-B1A1FE191A29}" type="datetimeFigureOut">
              <a:rPr lang="zh-CN" altLang="en-US" smtClean="0"/>
              <a:t>2024/11/20</a:t>
            </a:fld>
            <a:endParaRPr lang="zh-CN" altLang="en-US"/>
          </a:p>
        </p:txBody>
      </p:sp>
      <p:sp>
        <p:nvSpPr>
          <p:cNvPr id="5" name="页脚占位符 4">
            <a:extLst>
              <a:ext uri="{FF2B5EF4-FFF2-40B4-BE49-F238E27FC236}">
                <a16:creationId xmlns:a16="http://schemas.microsoft.com/office/drawing/2014/main" id="{C18BA87E-68F9-4719-97F4-D5491FF51B8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9D3E54F-6F63-4A7E-8958-CDA3A188AC97}"/>
              </a:ext>
            </a:extLst>
          </p:cNvPr>
          <p:cNvSpPr>
            <a:spLocks noGrp="1"/>
          </p:cNvSpPr>
          <p:nvPr>
            <p:ph type="sldNum" sz="quarter" idx="12"/>
          </p:nvPr>
        </p:nvSpPr>
        <p:spPr/>
        <p:txBody>
          <a:bodyPr/>
          <a:lstStyle/>
          <a:p>
            <a:fld id="{CB844813-B777-4B5B-AC53-AB94914AF5BB}" type="slidenum">
              <a:rPr lang="zh-CN" altLang="en-US" smtClean="0"/>
              <a:t>‹#›</a:t>
            </a:fld>
            <a:endParaRPr lang="zh-CN" altLang="en-US"/>
          </a:p>
        </p:txBody>
      </p:sp>
    </p:spTree>
    <p:extLst>
      <p:ext uri="{BB962C8B-B14F-4D97-AF65-F5344CB8AC3E}">
        <p14:creationId xmlns:p14="http://schemas.microsoft.com/office/powerpoint/2010/main" val="28331759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C4CACA-7F2A-4EA8-B20E-9C9D2FCD138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D4507A7-061B-4774-9A0A-70355BD1EB77}"/>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CFF3495-257B-451B-AD86-BB85632C712C}"/>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ED0701B8-0B5D-480D-A662-954FD27DABC8}"/>
              </a:ext>
            </a:extLst>
          </p:cNvPr>
          <p:cNvSpPr>
            <a:spLocks noGrp="1"/>
          </p:cNvSpPr>
          <p:nvPr>
            <p:ph type="dt" sz="half" idx="10"/>
          </p:nvPr>
        </p:nvSpPr>
        <p:spPr/>
        <p:txBody>
          <a:bodyPr/>
          <a:lstStyle/>
          <a:p>
            <a:fld id="{348C4D99-D46D-446B-991C-B1A1FE191A29}" type="datetimeFigureOut">
              <a:rPr lang="zh-CN" altLang="en-US" smtClean="0"/>
              <a:t>2024/11/20</a:t>
            </a:fld>
            <a:endParaRPr lang="zh-CN" altLang="en-US"/>
          </a:p>
        </p:txBody>
      </p:sp>
      <p:sp>
        <p:nvSpPr>
          <p:cNvPr id="6" name="页脚占位符 5">
            <a:extLst>
              <a:ext uri="{FF2B5EF4-FFF2-40B4-BE49-F238E27FC236}">
                <a16:creationId xmlns:a16="http://schemas.microsoft.com/office/drawing/2014/main" id="{C4FB4FF5-5196-4430-9149-11770DA1969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9683778-FABB-4B38-AE8F-2F2EAB0EBA6D}"/>
              </a:ext>
            </a:extLst>
          </p:cNvPr>
          <p:cNvSpPr>
            <a:spLocks noGrp="1"/>
          </p:cNvSpPr>
          <p:nvPr>
            <p:ph type="sldNum" sz="quarter" idx="12"/>
          </p:nvPr>
        </p:nvSpPr>
        <p:spPr/>
        <p:txBody>
          <a:bodyPr/>
          <a:lstStyle/>
          <a:p>
            <a:fld id="{CB844813-B777-4B5B-AC53-AB94914AF5BB}" type="slidenum">
              <a:rPr lang="zh-CN" altLang="en-US" smtClean="0"/>
              <a:t>‹#›</a:t>
            </a:fld>
            <a:endParaRPr lang="zh-CN" altLang="en-US"/>
          </a:p>
        </p:txBody>
      </p:sp>
    </p:spTree>
    <p:extLst>
      <p:ext uri="{BB962C8B-B14F-4D97-AF65-F5344CB8AC3E}">
        <p14:creationId xmlns:p14="http://schemas.microsoft.com/office/powerpoint/2010/main" val="7308084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167C9A-BA36-4894-9FD1-16179F49870A}"/>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EB7A235-C146-422A-8F20-D1E00A930DC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14CF70E-8B3D-4B04-B049-BBB65E939EE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1DF0D9C5-A73A-4807-95D6-A8C20F01F3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1AEA4A2D-70A3-41C5-BF83-37E9357F97CA}"/>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9751BA9A-A40B-4546-B056-90AE17F813B4}"/>
              </a:ext>
            </a:extLst>
          </p:cNvPr>
          <p:cNvSpPr>
            <a:spLocks noGrp="1"/>
          </p:cNvSpPr>
          <p:nvPr>
            <p:ph type="dt" sz="half" idx="10"/>
          </p:nvPr>
        </p:nvSpPr>
        <p:spPr/>
        <p:txBody>
          <a:bodyPr/>
          <a:lstStyle/>
          <a:p>
            <a:fld id="{348C4D99-D46D-446B-991C-B1A1FE191A29}" type="datetimeFigureOut">
              <a:rPr lang="zh-CN" altLang="en-US" smtClean="0"/>
              <a:t>2024/11/20</a:t>
            </a:fld>
            <a:endParaRPr lang="zh-CN" altLang="en-US"/>
          </a:p>
        </p:txBody>
      </p:sp>
      <p:sp>
        <p:nvSpPr>
          <p:cNvPr id="8" name="页脚占位符 7">
            <a:extLst>
              <a:ext uri="{FF2B5EF4-FFF2-40B4-BE49-F238E27FC236}">
                <a16:creationId xmlns:a16="http://schemas.microsoft.com/office/drawing/2014/main" id="{1F5C488D-5F5D-4EF2-B7FE-B81B9E9EA9C5}"/>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7D2C24C4-A76A-4840-87AA-F1F5EB4D7624}"/>
              </a:ext>
            </a:extLst>
          </p:cNvPr>
          <p:cNvSpPr>
            <a:spLocks noGrp="1"/>
          </p:cNvSpPr>
          <p:nvPr>
            <p:ph type="sldNum" sz="quarter" idx="12"/>
          </p:nvPr>
        </p:nvSpPr>
        <p:spPr/>
        <p:txBody>
          <a:bodyPr/>
          <a:lstStyle/>
          <a:p>
            <a:fld id="{CB844813-B777-4B5B-AC53-AB94914AF5BB}" type="slidenum">
              <a:rPr lang="zh-CN" altLang="en-US" smtClean="0"/>
              <a:t>‹#›</a:t>
            </a:fld>
            <a:endParaRPr lang="zh-CN" altLang="en-US"/>
          </a:p>
        </p:txBody>
      </p:sp>
    </p:spTree>
    <p:extLst>
      <p:ext uri="{BB962C8B-B14F-4D97-AF65-F5344CB8AC3E}">
        <p14:creationId xmlns:p14="http://schemas.microsoft.com/office/powerpoint/2010/main" val="34018231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2AE834-F633-48DE-845F-C3A0DBC8C376}"/>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2367D939-5B66-4A3E-83BD-2966FF85E9E4}"/>
              </a:ext>
            </a:extLst>
          </p:cNvPr>
          <p:cNvSpPr>
            <a:spLocks noGrp="1"/>
          </p:cNvSpPr>
          <p:nvPr>
            <p:ph type="dt" sz="half" idx="10"/>
          </p:nvPr>
        </p:nvSpPr>
        <p:spPr/>
        <p:txBody>
          <a:bodyPr/>
          <a:lstStyle/>
          <a:p>
            <a:fld id="{348C4D99-D46D-446B-991C-B1A1FE191A29}" type="datetimeFigureOut">
              <a:rPr lang="zh-CN" altLang="en-US" smtClean="0"/>
              <a:t>2024/11/20</a:t>
            </a:fld>
            <a:endParaRPr lang="zh-CN" altLang="en-US"/>
          </a:p>
        </p:txBody>
      </p:sp>
      <p:sp>
        <p:nvSpPr>
          <p:cNvPr id="4" name="页脚占位符 3">
            <a:extLst>
              <a:ext uri="{FF2B5EF4-FFF2-40B4-BE49-F238E27FC236}">
                <a16:creationId xmlns:a16="http://schemas.microsoft.com/office/drawing/2014/main" id="{CD96AB21-D046-481B-A10B-3EABDFE426A9}"/>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D96BD405-D7BD-42B1-8AF2-FB472B1F7666}"/>
              </a:ext>
            </a:extLst>
          </p:cNvPr>
          <p:cNvSpPr>
            <a:spLocks noGrp="1"/>
          </p:cNvSpPr>
          <p:nvPr>
            <p:ph type="sldNum" sz="quarter" idx="12"/>
          </p:nvPr>
        </p:nvSpPr>
        <p:spPr/>
        <p:txBody>
          <a:bodyPr/>
          <a:lstStyle/>
          <a:p>
            <a:fld id="{CB844813-B777-4B5B-AC53-AB94914AF5BB}" type="slidenum">
              <a:rPr lang="zh-CN" altLang="en-US" smtClean="0"/>
              <a:t>‹#›</a:t>
            </a:fld>
            <a:endParaRPr lang="zh-CN" altLang="en-US"/>
          </a:p>
        </p:txBody>
      </p:sp>
    </p:spTree>
    <p:extLst>
      <p:ext uri="{BB962C8B-B14F-4D97-AF65-F5344CB8AC3E}">
        <p14:creationId xmlns:p14="http://schemas.microsoft.com/office/powerpoint/2010/main" val="17431604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58779A2-9955-44BA-8041-6F24F488AE1B}"/>
              </a:ext>
            </a:extLst>
          </p:cNvPr>
          <p:cNvSpPr>
            <a:spLocks noGrp="1"/>
          </p:cNvSpPr>
          <p:nvPr>
            <p:ph type="dt" sz="half" idx="10"/>
          </p:nvPr>
        </p:nvSpPr>
        <p:spPr/>
        <p:txBody>
          <a:bodyPr/>
          <a:lstStyle/>
          <a:p>
            <a:fld id="{348C4D99-D46D-446B-991C-B1A1FE191A29}" type="datetimeFigureOut">
              <a:rPr lang="zh-CN" altLang="en-US" smtClean="0"/>
              <a:t>2024/11/20</a:t>
            </a:fld>
            <a:endParaRPr lang="zh-CN" altLang="en-US"/>
          </a:p>
        </p:txBody>
      </p:sp>
      <p:sp>
        <p:nvSpPr>
          <p:cNvPr id="3" name="页脚占位符 2">
            <a:extLst>
              <a:ext uri="{FF2B5EF4-FFF2-40B4-BE49-F238E27FC236}">
                <a16:creationId xmlns:a16="http://schemas.microsoft.com/office/drawing/2014/main" id="{5A41C96A-B38C-40EF-9163-313AEAA55ED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3321D85E-CE56-49E9-BC4F-18D7A8F7E348}"/>
              </a:ext>
            </a:extLst>
          </p:cNvPr>
          <p:cNvSpPr>
            <a:spLocks noGrp="1"/>
          </p:cNvSpPr>
          <p:nvPr>
            <p:ph type="sldNum" sz="quarter" idx="12"/>
          </p:nvPr>
        </p:nvSpPr>
        <p:spPr/>
        <p:txBody>
          <a:bodyPr/>
          <a:lstStyle/>
          <a:p>
            <a:fld id="{CB844813-B777-4B5B-AC53-AB94914AF5BB}" type="slidenum">
              <a:rPr lang="zh-CN" altLang="en-US" smtClean="0"/>
              <a:t>‹#›</a:t>
            </a:fld>
            <a:endParaRPr lang="zh-CN" altLang="en-US"/>
          </a:p>
        </p:txBody>
      </p:sp>
    </p:spTree>
    <p:extLst>
      <p:ext uri="{BB962C8B-B14F-4D97-AF65-F5344CB8AC3E}">
        <p14:creationId xmlns:p14="http://schemas.microsoft.com/office/powerpoint/2010/main" val="4979091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BAD677-E45D-4730-8424-65A7836FA27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763A9A7E-4898-45EE-BE31-AA968E90DF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1E739831-9F0B-45CB-8CF6-AFB6867238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976B78C-2068-4871-9F08-950BCDE52277}"/>
              </a:ext>
            </a:extLst>
          </p:cNvPr>
          <p:cNvSpPr>
            <a:spLocks noGrp="1"/>
          </p:cNvSpPr>
          <p:nvPr>
            <p:ph type="dt" sz="half" idx="10"/>
          </p:nvPr>
        </p:nvSpPr>
        <p:spPr/>
        <p:txBody>
          <a:bodyPr/>
          <a:lstStyle/>
          <a:p>
            <a:fld id="{348C4D99-D46D-446B-991C-B1A1FE191A29}" type="datetimeFigureOut">
              <a:rPr lang="zh-CN" altLang="en-US" smtClean="0"/>
              <a:t>2024/11/20</a:t>
            </a:fld>
            <a:endParaRPr lang="zh-CN" altLang="en-US"/>
          </a:p>
        </p:txBody>
      </p:sp>
      <p:sp>
        <p:nvSpPr>
          <p:cNvPr id="6" name="页脚占位符 5">
            <a:extLst>
              <a:ext uri="{FF2B5EF4-FFF2-40B4-BE49-F238E27FC236}">
                <a16:creationId xmlns:a16="http://schemas.microsoft.com/office/drawing/2014/main" id="{EA292DF1-703C-40A6-998B-252EC10AAA1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BD0B59E-E9CE-4A06-A19F-79BD2F085038}"/>
              </a:ext>
            </a:extLst>
          </p:cNvPr>
          <p:cNvSpPr>
            <a:spLocks noGrp="1"/>
          </p:cNvSpPr>
          <p:nvPr>
            <p:ph type="sldNum" sz="quarter" idx="12"/>
          </p:nvPr>
        </p:nvSpPr>
        <p:spPr/>
        <p:txBody>
          <a:bodyPr/>
          <a:lstStyle/>
          <a:p>
            <a:fld id="{CB844813-B777-4B5B-AC53-AB94914AF5BB}" type="slidenum">
              <a:rPr lang="zh-CN" altLang="en-US" smtClean="0"/>
              <a:t>‹#›</a:t>
            </a:fld>
            <a:endParaRPr lang="zh-CN" altLang="en-US"/>
          </a:p>
        </p:txBody>
      </p:sp>
    </p:spTree>
    <p:extLst>
      <p:ext uri="{BB962C8B-B14F-4D97-AF65-F5344CB8AC3E}">
        <p14:creationId xmlns:p14="http://schemas.microsoft.com/office/powerpoint/2010/main" val="1784260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6DDAD4-C235-4A27-95F5-39163ACE3C6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84D2C910-359C-4782-A437-58BDC984C25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3F58ACDE-F736-47D4-9A11-B6E49B04E4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B8C8F96-3A39-49E7-B37F-9E76A9BD310F}"/>
              </a:ext>
            </a:extLst>
          </p:cNvPr>
          <p:cNvSpPr>
            <a:spLocks noGrp="1"/>
          </p:cNvSpPr>
          <p:nvPr>
            <p:ph type="dt" sz="half" idx="10"/>
          </p:nvPr>
        </p:nvSpPr>
        <p:spPr/>
        <p:txBody>
          <a:bodyPr/>
          <a:lstStyle/>
          <a:p>
            <a:fld id="{348C4D99-D46D-446B-991C-B1A1FE191A29}" type="datetimeFigureOut">
              <a:rPr lang="zh-CN" altLang="en-US" smtClean="0"/>
              <a:t>2024/11/20</a:t>
            </a:fld>
            <a:endParaRPr lang="zh-CN" altLang="en-US"/>
          </a:p>
        </p:txBody>
      </p:sp>
      <p:sp>
        <p:nvSpPr>
          <p:cNvPr id="6" name="页脚占位符 5">
            <a:extLst>
              <a:ext uri="{FF2B5EF4-FFF2-40B4-BE49-F238E27FC236}">
                <a16:creationId xmlns:a16="http://schemas.microsoft.com/office/drawing/2014/main" id="{5549BC48-7099-46F4-8EA6-D302DBDB327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5BE9815-98AD-4FA7-9D12-CAB799699AB1}"/>
              </a:ext>
            </a:extLst>
          </p:cNvPr>
          <p:cNvSpPr>
            <a:spLocks noGrp="1"/>
          </p:cNvSpPr>
          <p:nvPr>
            <p:ph type="sldNum" sz="quarter" idx="12"/>
          </p:nvPr>
        </p:nvSpPr>
        <p:spPr/>
        <p:txBody>
          <a:bodyPr/>
          <a:lstStyle/>
          <a:p>
            <a:fld id="{CB844813-B777-4B5B-AC53-AB94914AF5BB}" type="slidenum">
              <a:rPr lang="zh-CN" altLang="en-US" smtClean="0"/>
              <a:t>‹#›</a:t>
            </a:fld>
            <a:endParaRPr lang="zh-CN" altLang="en-US"/>
          </a:p>
        </p:txBody>
      </p:sp>
    </p:spTree>
    <p:extLst>
      <p:ext uri="{BB962C8B-B14F-4D97-AF65-F5344CB8AC3E}">
        <p14:creationId xmlns:p14="http://schemas.microsoft.com/office/powerpoint/2010/main" val="1822589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48B78E-CFE3-43A4-A145-6E00D043F185}"/>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A3F2C2A-5583-45D6-AFEE-30B2BF2199FA}"/>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999F7E2-BE40-4E0D-B663-BF1F33A0EFF6}"/>
              </a:ext>
            </a:extLst>
          </p:cNvPr>
          <p:cNvSpPr>
            <a:spLocks noGrp="1"/>
          </p:cNvSpPr>
          <p:nvPr>
            <p:ph type="dt" sz="half" idx="10"/>
          </p:nvPr>
        </p:nvSpPr>
        <p:spPr/>
        <p:txBody>
          <a:bodyPr/>
          <a:lstStyle/>
          <a:p>
            <a:fld id="{348C4D99-D46D-446B-991C-B1A1FE191A29}" type="datetimeFigureOut">
              <a:rPr lang="zh-CN" altLang="en-US" smtClean="0"/>
              <a:t>2024/11/20</a:t>
            </a:fld>
            <a:endParaRPr lang="zh-CN" altLang="en-US"/>
          </a:p>
        </p:txBody>
      </p:sp>
      <p:sp>
        <p:nvSpPr>
          <p:cNvPr id="5" name="页脚占位符 4">
            <a:extLst>
              <a:ext uri="{FF2B5EF4-FFF2-40B4-BE49-F238E27FC236}">
                <a16:creationId xmlns:a16="http://schemas.microsoft.com/office/drawing/2014/main" id="{93C04631-ECAC-4FFC-B2C2-E659E911F4F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CC4577D-EDD8-4915-B19A-D7C1D9A7986E}"/>
              </a:ext>
            </a:extLst>
          </p:cNvPr>
          <p:cNvSpPr>
            <a:spLocks noGrp="1"/>
          </p:cNvSpPr>
          <p:nvPr>
            <p:ph type="sldNum" sz="quarter" idx="12"/>
          </p:nvPr>
        </p:nvSpPr>
        <p:spPr/>
        <p:txBody>
          <a:bodyPr/>
          <a:lstStyle/>
          <a:p>
            <a:fld id="{CB844813-B777-4B5B-AC53-AB94914AF5BB}" type="slidenum">
              <a:rPr lang="zh-CN" altLang="en-US" smtClean="0"/>
              <a:t>‹#›</a:t>
            </a:fld>
            <a:endParaRPr lang="zh-CN" altLang="en-US"/>
          </a:p>
        </p:txBody>
      </p:sp>
    </p:spTree>
    <p:extLst>
      <p:ext uri="{BB962C8B-B14F-4D97-AF65-F5344CB8AC3E}">
        <p14:creationId xmlns:p14="http://schemas.microsoft.com/office/powerpoint/2010/main" val="11493739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628A74BB-AC70-481B-8B87-B19990EE78A0}"/>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F4B02042-CF7A-4DA6-8D3A-FAFDB666CB1A}"/>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C37B368-1400-4E38-98BD-7524ECD56834}"/>
              </a:ext>
            </a:extLst>
          </p:cNvPr>
          <p:cNvSpPr>
            <a:spLocks noGrp="1"/>
          </p:cNvSpPr>
          <p:nvPr>
            <p:ph type="dt" sz="half" idx="10"/>
          </p:nvPr>
        </p:nvSpPr>
        <p:spPr/>
        <p:txBody>
          <a:bodyPr/>
          <a:lstStyle/>
          <a:p>
            <a:fld id="{348C4D99-D46D-446B-991C-B1A1FE191A29}" type="datetimeFigureOut">
              <a:rPr lang="zh-CN" altLang="en-US" smtClean="0"/>
              <a:t>2024/11/20</a:t>
            </a:fld>
            <a:endParaRPr lang="zh-CN" altLang="en-US"/>
          </a:p>
        </p:txBody>
      </p:sp>
      <p:sp>
        <p:nvSpPr>
          <p:cNvPr id="5" name="页脚占位符 4">
            <a:extLst>
              <a:ext uri="{FF2B5EF4-FFF2-40B4-BE49-F238E27FC236}">
                <a16:creationId xmlns:a16="http://schemas.microsoft.com/office/drawing/2014/main" id="{6CAD7664-C763-4AE6-8A93-B79CF803BE7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2C15E55-98D1-458D-837D-42FC5787B36C}"/>
              </a:ext>
            </a:extLst>
          </p:cNvPr>
          <p:cNvSpPr>
            <a:spLocks noGrp="1"/>
          </p:cNvSpPr>
          <p:nvPr>
            <p:ph type="sldNum" sz="quarter" idx="12"/>
          </p:nvPr>
        </p:nvSpPr>
        <p:spPr/>
        <p:txBody>
          <a:bodyPr/>
          <a:lstStyle/>
          <a:p>
            <a:fld id="{CB844813-B777-4B5B-AC53-AB94914AF5BB}" type="slidenum">
              <a:rPr lang="zh-CN" altLang="en-US" smtClean="0"/>
              <a:t>‹#›</a:t>
            </a:fld>
            <a:endParaRPr lang="zh-CN" altLang="en-US"/>
          </a:p>
        </p:txBody>
      </p:sp>
    </p:spTree>
    <p:extLst>
      <p:ext uri="{BB962C8B-B14F-4D97-AF65-F5344CB8AC3E}">
        <p14:creationId xmlns:p14="http://schemas.microsoft.com/office/powerpoint/2010/main" val="33179652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2024/11/20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4798764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2024/11/20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8061775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2024/11/20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7691487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2024/11/20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6426276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2024/11/20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449731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2024/11/20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1591945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2024/11/20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2702216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2024/11/20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2859667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2024/11/20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9558714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2024/11/20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62264013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2024/11/20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29338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32FDC02-FD09-48CA-8E4D-D8DA968B86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61886474-27AA-403B-9ADE-D13F112B3B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CD5D2D0-624B-4BCC-9907-C0CC11CDCB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8C4D99-D46D-446B-991C-B1A1FE191A29}" type="datetimeFigureOut">
              <a:rPr lang="zh-CN" altLang="en-US" smtClean="0"/>
              <a:t>2024/11/20</a:t>
            </a:fld>
            <a:endParaRPr lang="zh-CN" altLang="en-US"/>
          </a:p>
        </p:txBody>
      </p:sp>
      <p:sp>
        <p:nvSpPr>
          <p:cNvPr id="5" name="页脚占位符 4">
            <a:extLst>
              <a:ext uri="{FF2B5EF4-FFF2-40B4-BE49-F238E27FC236}">
                <a16:creationId xmlns:a16="http://schemas.microsoft.com/office/drawing/2014/main" id="{7D287C87-6CAF-41C1-8ABA-31391E87B3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8769B6B0-F241-4667-9973-6C60F617B0D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844813-B777-4B5B-AC53-AB94914AF5BB}" type="slidenum">
              <a:rPr lang="zh-CN" altLang="en-US" smtClean="0"/>
              <a:t>‹#›</a:t>
            </a:fld>
            <a:endParaRPr lang="zh-CN" altLang="en-US"/>
          </a:p>
        </p:txBody>
      </p:sp>
    </p:spTree>
    <p:extLst>
      <p:ext uri="{BB962C8B-B14F-4D97-AF65-F5344CB8AC3E}">
        <p14:creationId xmlns:p14="http://schemas.microsoft.com/office/powerpoint/2010/main" val="21465165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2024/11/20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8053703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8.xml"/><Relationship Id="rId6" Type="http://schemas.microsoft.com/office/2007/relationships/hdphoto" Target="../media/hdphoto2.wdp"/><Relationship Id="rId5" Type="http://schemas.openxmlformats.org/officeDocument/2006/relationships/image" Target="../media/image12.png"/><Relationship Id="rId4" Type="http://schemas.microsoft.com/office/2007/relationships/hdphoto" Target="../media/hdphoto1.wdp"/></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2E8868EC-50BF-4926-8A23-88419186DA5A}"/>
              </a:ext>
            </a:extLst>
          </p:cNvPr>
          <p:cNvPicPr>
            <a:picLocks noChangeAspect="1"/>
          </p:cNvPicPr>
          <p:nvPr/>
        </p:nvPicPr>
        <p:blipFill>
          <a:blip r:embed="rId2"/>
          <a:stretch>
            <a:fillRect/>
          </a:stretch>
        </p:blipFill>
        <p:spPr>
          <a:xfrm>
            <a:off x="28120" y="0"/>
            <a:ext cx="12135759" cy="6858000"/>
          </a:xfrm>
          <a:prstGeom prst="rect">
            <a:avLst/>
          </a:prstGeom>
        </p:spPr>
      </p:pic>
      <p:sp>
        <p:nvSpPr>
          <p:cNvPr id="6" name="文本框 5">
            <a:extLst>
              <a:ext uri="{FF2B5EF4-FFF2-40B4-BE49-F238E27FC236}">
                <a16:creationId xmlns:a16="http://schemas.microsoft.com/office/drawing/2014/main" id="{3B345487-F6B9-45D3-8ECA-1E103F349561}"/>
              </a:ext>
            </a:extLst>
          </p:cNvPr>
          <p:cNvSpPr txBox="1"/>
          <p:nvPr/>
        </p:nvSpPr>
        <p:spPr>
          <a:xfrm>
            <a:off x="463688" y="829733"/>
            <a:ext cx="11279050" cy="2400657"/>
          </a:xfrm>
          <a:prstGeom prst="rect">
            <a:avLst/>
          </a:prstGeom>
          <a:noFill/>
        </p:spPr>
        <p:txBody>
          <a:bodyPr wrap="none" rtlCol="0">
            <a:spAutoFit/>
          </a:bodyPr>
          <a:lstStyle/>
          <a:p>
            <a:r>
              <a:rPr lang="zh-CN" altLang="en-US" sz="9600" b="1" dirty="0">
                <a:solidFill>
                  <a:schemeClr val="bg1"/>
                </a:solidFill>
                <a:latin typeface="华文新魏" panose="02010800040101010101" pitchFamily="2" charset="-122"/>
                <a:ea typeface="华文新魏" panose="02010800040101010101" pitchFamily="2" charset="-122"/>
                <a:cs typeface="Arial" panose="020B0604020202020204" pitchFamily="34" charset="0"/>
              </a:rPr>
              <a:t>海洋微生物学及实验</a:t>
            </a:r>
            <a:endParaRPr lang="en-US" altLang="zh-CN" sz="9600" b="1" dirty="0">
              <a:solidFill>
                <a:schemeClr val="bg1"/>
              </a:solidFill>
              <a:latin typeface="华文新魏" panose="02010800040101010101" pitchFamily="2" charset="-122"/>
              <a:ea typeface="华文新魏" panose="02010800040101010101" pitchFamily="2" charset="-122"/>
              <a:cs typeface="Arial" panose="020B0604020202020204" pitchFamily="34" charset="0"/>
            </a:endParaRPr>
          </a:p>
          <a:p>
            <a:pPr algn="ctr"/>
            <a:r>
              <a:rPr lang="en-US" altLang="zh-CN" sz="5400" b="1" dirty="0">
                <a:solidFill>
                  <a:srgbClr val="FFFF00"/>
                </a:solidFill>
                <a:latin typeface="华文新魏" panose="02010800040101010101" pitchFamily="2" charset="-122"/>
                <a:ea typeface="华文新魏" panose="02010800040101010101" pitchFamily="2" charset="-122"/>
                <a:cs typeface="Arial" panose="020B0604020202020204" pitchFamily="34" charset="0"/>
              </a:rPr>
              <a:t>2024-2025</a:t>
            </a:r>
            <a:r>
              <a:rPr lang="zh-CN" altLang="en-US" sz="5400" b="1" dirty="0">
                <a:solidFill>
                  <a:srgbClr val="FFFF00"/>
                </a:solidFill>
                <a:latin typeface="华文新魏" panose="02010800040101010101" pitchFamily="2" charset="-122"/>
                <a:ea typeface="华文新魏" panose="02010800040101010101" pitchFamily="2" charset="-122"/>
                <a:cs typeface="Arial" panose="020B0604020202020204" pitchFamily="34" charset="0"/>
              </a:rPr>
              <a:t>学年 冬第三周</a:t>
            </a:r>
          </a:p>
        </p:txBody>
      </p:sp>
    </p:spTree>
    <p:extLst>
      <p:ext uri="{BB962C8B-B14F-4D97-AF65-F5344CB8AC3E}">
        <p14:creationId xmlns:p14="http://schemas.microsoft.com/office/powerpoint/2010/main" val="40174387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3A146A7B-FA2C-41E9-B3A3-9403FAC87EEE}"/>
              </a:ext>
            </a:extLst>
          </p:cNvPr>
          <p:cNvSpPr>
            <a:spLocks noGrp="1"/>
          </p:cNvSpPr>
          <p:nvPr>
            <p:ph type="title"/>
          </p:nvPr>
        </p:nvSpPr>
        <p:spPr>
          <a:xfrm>
            <a:off x="611428" y="794189"/>
            <a:ext cx="10515600" cy="1325563"/>
          </a:xfrm>
        </p:spPr>
        <p:txBody>
          <a:bodyPr/>
          <a:lstStyle/>
          <a:p>
            <a:r>
              <a:rPr lang="en-US" altLang="zh-CN" sz="2900" b="1" dirty="0">
                <a:latin typeface="Times New Roman" panose="02020603050405020304" pitchFamily="18" charset="0"/>
                <a:ea typeface="宋体" panose="02010600030101010101" pitchFamily="2" charset="-122"/>
              </a:rPr>
              <a:t>EXPERIMENT 8: Detection of colony-forming unit (CFU)</a:t>
            </a:r>
            <a:br>
              <a:rPr lang="en-US" altLang="zh-CN" sz="2900" b="1" dirty="0">
                <a:latin typeface="Times New Roman" panose="02020603050405020304" pitchFamily="18" charset="0"/>
                <a:ea typeface="宋体" panose="02010600030101010101" pitchFamily="2" charset="-122"/>
              </a:rPr>
            </a:br>
            <a:r>
              <a:rPr lang="en-US" altLang="zh-CN" sz="2900" b="1" dirty="0">
                <a:latin typeface="Times New Roman" panose="02020603050405020304" pitchFamily="18" charset="0"/>
                <a:ea typeface="宋体" panose="02010600030101010101" pitchFamily="2" charset="-122"/>
              </a:rPr>
              <a:t>                                                      </a:t>
            </a:r>
            <a:r>
              <a:rPr lang="zh-CN" altLang="en-US" sz="2900" b="1" dirty="0">
                <a:latin typeface="Times New Roman" panose="02020603050405020304" pitchFamily="18" charset="0"/>
                <a:ea typeface="宋体" panose="02010600030101010101" pitchFamily="2" charset="-122"/>
              </a:rPr>
              <a:t>菌落形成单位</a:t>
            </a:r>
          </a:p>
        </p:txBody>
      </p:sp>
      <p:pic>
        <p:nvPicPr>
          <p:cNvPr id="5" name="图片 4">
            <a:extLst>
              <a:ext uri="{FF2B5EF4-FFF2-40B4-BE49-F238E27FC236}">
                <a16:creationId xmlns:a16="http://schemas.microsoft.com/office/drawing/2014/main" id="{8ACF69BD-4F48-4407-8D95-3B5FD99D782A}"/>
              </a:ext>
            </a:extLst>
          </p:cNvPr>
          <p:cNvPicPr>
            <a:picLocks noChangeAspect="1"/>
          </p:cNvPicPr>
          <p:nvPr/>
        </p:nvPicPr>
        <p:blipFill>
          <a:blip r:embed="rId2"/>
          <a:stretch>
            <a:fillRect/>
          </a:stretch>
        </p:blipFill>
        <p:spPr>
          <a:xfrm>
            <a:off x="925421" y="2119752"/>
            <a:ext cx="8386228" cy="1885200"/>
          </a:xfrm>
          <a:prstGeom prst="rect">
            <a:avLst/>
          </a:prstGeom>
        </p:spPr>
      </p:pic>
      <p:sp>
        <p:nvSpPr>
          <p:cNvPr id="6" name="矩形 5">
            <a:extLst>
              <a:ext uri="{FF2B5EF4-FFF2-40B4-BE49-F238E27FC236}">
                <a16:creationId xmlns:a16="http://schemas.microsoft.com/office/drawing/2014/main" id="{49C06733-5FAD-480B-936F-2AB30E1A2B73}"/>
              </a:ext>
            </a:extLst>
          </p:cNvPr>
          <p:cNvSpPr/>
          <p:nvPr/>
        </p:nvSpPr>
        <p:spPr>
          <a:xfrm>
            <a:off x="1031746" y="3641805"/>
            <a:ext cx="4908366" cy="32852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204E38F2-162D-45B8-8938-2C9AF713B72F}"/>
              </a:ext>
            </a:extLst>
          </p:cNvPr>
          <p:cNvSpPr txBox="1"/>
          <p:nvPr/>
        </p:nvSpPr>
        <p:spPr>
          <a:xfrm>
            <a:off x="2070535" y="4235626"/>
            <a:ext cx="6096000" cy="1291379"/>
          </a:xfrm>
          <a:prstGeom prst="rect">
            <a:avLst/>
          </a:prstGeom>
          <a:noFill/>
        </p:spPr>
        <p:txBody>
          <a:bodyPr wrap="square">
            <a:spAutoFit/>
          </a:bodyPr>
          <a:lstStyle/>
          <a:p>
            <a:pPr marL="259080" indent="-259080" algn="just">
              <a:lnSpc>
                <a:spcPct val="150000"/>
              </a:lnSpc>
              <a:tabLst>
                <a:tab pos="4619625" algn="l"/>
              </a:tabLst>
            </a:pPr>
            <a:r>
              <a:rPr lang="en-US"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Colonies/Volume </a:t>
            </a:r>
            <a:r>
              <a:rPr lang="zh-CN"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1800" kern="1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Dilution factor = viable cells/mL</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259080" indent="-259080" algn="just">
              <a:lnSpc>
                <a:spcPct val="150000"/>
              </a:lnSpc>
              <a:tabLst>
                <a:tab pos="4619625" algn="l"/>
              </a:tabLst>
            </a:pPr>
            <a:r>
              <a:rPr lang="en-US"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If you chose 10</a:t>
            </a:r>
            <a:r>
              <a:rPr lang="en-US" altLang="zh-CN" sz="1800" kern="100" baseline="300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-4 </a:t>
            </a:r>
            <a:r>
              <a:rPr lang="en-US"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dilution, 300 colonies in </a:t>
            </a:r>
            <a:r>
              <a:rPr lang="en-US"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0.1 </a:t>
            </a:r>
            <a:r>
              <a:rPr lang="en-US" altLang="zh-CN" sz="1800" b="1" kern="100" dirty="0" err="1">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mL</a:t>
            </a:r>
            <a:r>
              <a:rPr lang="en-US" altLang="zh-CN" sz="1800" kern="100" dirty="0" err="1">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259080" indent="-259080" algn="just">
              <a:lnSpc>
                <a:spcPct val="150000"/>
              </a:lnSpc>
              <a:tabLst>
                <a:tab pos="4619625" algn="l"/>
              </a:tabLst>
            </a:pPr>
            <a:r>
              <a:rPr lang="en-US" altLang="zh-CN"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3</a:t>
            </a:r>
            <a:r>
              <a:rPr lang="en-US"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00/0.1</a:t>
            </a:r>
            <a:r>
              <a:rPr lang="zh-CN"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10</a:t>
            </a:r>
            <a:r>
              <a:rPr lang="en-US" altLang="zh-CN" sz="1800" kern="100" baseline="300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4</a:t>
            </a:r>
            <a:r>
              <a:rPr lang="en-US"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=3.0</a:t>
            </a:r>
            <a:r>
              <a:rPr lang="zh-CN"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10</a:t>
            </a:r>
            <a:r>
              <a:rPr lang="en-US" altLang="zh-CN" sz="1800" kern="100" baseline="300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7</a:t>
            </a:r>
            <a:r>
              <a:rPr lang="en-US"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cells/mL</a:t>
            </a:r>
            <a:endParaRPr lang="zh-CN" altLang="zh-CN" sz="1400" b="1"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文本框 8">
            <a:extLst>
              <a:ext uri="{FF2B5EF4-FFF2-40B4-BE49-F238E27FC236}">
                <a16:creationId xmlns:a16="http://schemas.microsoft.com/office/drawing/2014/main" id="{2C1CD62C-79E6-4663-86CF-62616D79EC7C}"/>
              </a:ext>
            </a:extLst>
          </p:cNvPr>
          <p:cNvSpPr txBox="1"/>
          <p:nvPr/>
        </p:nvSpPr>
        <p:spPr>
          <a:xfrm>
            <a:off x="8024094" y="4881315"/>
            <a:ext cx="3853940" cy="1705403"/>
          </a:xfrm>
          <a:prstGeom prst="rect">
            <a:avLst/>
          </a:prstGeom>
          <a:noFill/>
          <a:ln>
            <a:solidFill>
              <a:srgbClr val="FF0000"/>
            </a:solidFill>
          </a:ln>
        </p:spPr>
        <p:txBody>
          <a:bodyPr wrap="none" rtlCol="0">
            <a:spAutoFit/>
          </a:bodyPr>
          <a:lstStyle/>
          <a:p>
            <a:pPr>
              <a:lnSpc>
                <a:spcPct val="150000"/>
              </a:lnSpc>
            </a:pPr>
            <a:r>
              <a:rPr lang="en-US" altLang="zh-CN" dirty="0"/>
              <a:t>***</a:t>
            </a:r>
            <a:r>
              <a:rPr lang="zh-CN" altLang="en-US" dirty="0"/>
              <a:t>出错的地方： </a:t>
            </a:r>
            <a:endParaRPr lang="en-US" altLang="zh-CN" dirty="0"/>
          </a:p>
          <a:p>
            <a:pPr marL="285750" indent="-285750">
              <a:lnSpc>
                <a:spcPct val="150000"/>
              </a:lnSpc>
              <a:buFont typeface="Wingdings" panose="05000000000000000000" pitchFamily="2" charset="2"/>
              <a:buChar char="Ø"/>
            </a:pPr>
            <a:r>
              <a:rPr lang="zh-CN" altLang="en-US" dirty="0"/>
              <a:t>涂布的体积是</a:t>
            </a:r>
            <a:r>
              <a:rPr lang="en-US" altLang="zh-CN" dirty="0"/>
              <a:t>0.1 mL </a:t>
            </a:r>
            <a:r>
              <a:rPr lang="zh-CN" altLang="en-US" dirty="0"/>
              <a:t>（</a:t>
            </a:r>
            <a:r>
              <a:rPr lang="en-US" altLang="zh-CN" dirty="0"/>
              <a:t>100 </a:t>
            </a:r>
            <a:r>
              <a:rPr lang="en-US" altLang="zh-CN" dirty="0" err="1"/>
              <a:t>μL</a:t>
            </a:r>
            <a:r>
              <a:rPr lang="zh-CN" altLang="en-US" dirty="0"/>
              <a:t>）</a:t>
            </a:r>
            <a:endParaRPr lang="en-US" altLang="zh-CN" dirty="0"/>
          </a:p>
          <a:p>
            <a:pPr marL="285750" indent="-285750">
              <a:lnSpc>
                <a:spcPct val="150000"/>
              </a:lnSpc>
              <a:buFont typeface="Wingdings" panose="05000000000000000000" pitchFamily="2" charset="2"/>
              <a:buChar char="Ø"/>
            </a:pPr>
            <a:r>
              <a:rPr lang="zh-CN" altLang="en-US" dirty="0"/>
              <a:t>科学计数法</a:t>
            </a:r>
            <a:endParaRPr lang="en-US" altLang="zh-CN" dirty="0"/>
          </a:p>
          <a:p>
            <a:pPr marL="285750" indent="-285750">
              <a:lnSpc>
                <a:spcPct val="150000"/>
              </a:lnSpc>
              <a:buFont typeface="Wingdings" panose="05000000000000000000" pitchFamily="2" charset="2"/>
              <a:buChar char="Ø"/>
            </a:pPr>
            <a:r>
              <a:rPr lang="zh-CN" altLang="en-US" dirty="0"/>
              <a:t>单位 （</a:t>
            </a:r>
            <a:r>
              <a:rPr lang="en-US" altLang="zh-CN" dirty="0"/>
              <a:t>cells/mL</a:t>
            </a:r>
            <a:r>
              <a:rPr lang="zh-CN" altLang="en-US" dirty="0"/>
              <a:t>）</a:t>
            </a:r>
          </a:p>
        </p:txBody>
      </p:sp>
      <p:sp>
        <p:nvSpPr>
          <p:cNvPr id="2" name="文本框 1">
            <a:extLst>
              <a:ext uri="{FF2B5EF4-FFF2-40B4-BE49-F238E27FC236}">
                <a16:creationId xmlns:a16="http://schemas.microsoft.com/office/drawing/2014/main" id="{9DC27B32-FB30-422F-85FA-06B0C5461353}"/>
              </a:ext>
            </a:extLst>
          </p:cNvPr>
          <p:cNvSpPr txBox="1"/>
          <p:nvPr/>
        </p:nvSpPr>
        <p:spPr>
          <a:xfrm>
            <a:off x="465124" y="309520"/>
            <a:ext cx="4259499" cy="523220"/>
          </a:xfrm>
          <a:prstGeom prst="rect">
            <a:avLst/>
          </a:prstGeom>
          <a:noFill/>
        </p:spPr>
        <p:txBody>
          <a:bodyPr wrap="none" rtlCol="0">
            <a:spAutoFit/>
          </a:bodyPr>
          <a:lstStyle/>
          <a:p>
            <a:r>
              <a:rPr lang="en-US" altLang="zh-CN" sz="2800" dirty="0">
                <a:solidFill>
                  <a:srgbClr val="FF0000"/>
                </a:solidFill>
              </a:rPr>
              <a:t>Exp.8, 9, 11</a:t>
            </a:r>
            <a:r>
              <a:rPr lang="zh-CN" altLang="en-US" sz="2800" dirty="0">
                <a:solidFill>
                  <a:srgbClr val="FF0000"/>
                </a:solidFill>
              </a:rPr>
              <a:t>实验报告反馈</a:t>
            </a:r>
          </a:p>
        </p:txBody>
      </p:sp>
    </p:spTree>
    <p:extLst>
      <p:ext uri="{BB962C8B-B14F-4D97-AF65-F5344CB8AC3E}">
        <p14:creationId xmlns:p14="http://schemas.microsoft.com/office/powerpoint/2010/main" val="7578317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a:extLst>
              <a:ext uri="{FF2B5EF4-FFF2-40B4-BE49-F238E27FC236}">
                <a16:creationId xmlns:a16="http://schemas.microsoft.com/office/drawing/2014/main" id="{01619877-4D93-4F70-BA06-F877A88987C2}"/>
              </a:ext>
            </a:extLst>
          </p:cNvPr>
          <p:cNvSpPr/>
          <p:nvPr/>
        </p:nvSpPr>
        <p:spPr>
          <a:xfrm>
            <a:off x="607621" y="345438"/>
            <a:ext cx="10734138" cy="538609"/>
          </a:xfrm>
          <a:prstGeom prst="rect">
            <a:avLst/>
          </a:prstGeom>
        </p:spPr>
        <p:txBody>
          <a:bodyPr wrap="square">
            <a:spAutoFit/>
          </a:bodyPr>
          <a:lstStyle/>
          <a:p>
            <a:pPr>
              <a:spcAft>
                <a:spcPts val="0"/>
              </a:spcAft>
            </a:pPr>
            <a:r>
              <a:rPr lang="en-US" sz="2900" b="1" dirty="0">
                <a:latin typeface="Times New Roman" panose="02020603050405020304" pitchFamily="18" charset="0"/>
                <a:ea typeface="宋体" panose="02010600030101010101" pitchFamily="2" charset="-122"/>
                <a:cs typeface="+mj-cs"/>
              </a:rPr>
              <a:t>EXPERIMENT 9: Methods of counting microbes-total cell counts</a:t>
            </a:r>
            <a:endParaRPr lang="en-AU" sz="2900" b="1" dirty="0">
              <a:latin typeface="Times New Roman" panose="02020603050405020304" pitchFamily="18" charset="0"/>
              <a:ea typeface="宋体" panose="02010600030101010101" pitchFamily="2" charset="-122"/>
              <a:cs typeface="+mj-cs"/>
            </a:endParaRPr>
          </a:p>
        </p:txBody>
      </p:sp>
      <p:sp>
        <p:nvSpPr>
          <p:cNvPr id="6" name="文本框 5">
            <a:extLst>
              <a:ext uri="{FF2B5EF4-FFF2-40B4-BE49-F238E27FC236}">
                <a16:creationId xmlns:a16="http://schemas.microsoft.com/office/drawing/2014/main" id="{38A51498-55AA-4C62-BD97-CBF4B5B9FD43}"/>
              </a:ext>
            </a:extLst>
          </p:cNvPr>
          <p:cNvSpPr txBox="1"/>
          <p:nvPr/>
        </p:nvSpPr>
        <p:spPr>
          <a:xfrm>
            <a:off x="726925" y="1044982"/>
            <a:ext cx="10614834" cy="5019131"/>
          </a:xfrm>
          <a:prstGeom prst="rect">
            <a:avLst/>
          </a:prstGeom>
          <a:noFill/>
        </p:spPr>
        <p:txBody>
          <a:bodyPr wrap="square">
            <a:spAutoFit/>
          </a:bodyPr>
          <a:lstStyle/>
          <a:p>
            <a:pPr algn="just">
              <a:lnSpc>
                <a:spcPct val="150000"/>
              </a:lnSpc>
            </a:pPr>
            <a:r>
              <a:rPr lang="en-US" altLang="zh-CN" sz="2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 Did you count in the 4 </a:t>
            </a:r>
            <a:r>
              <a:rPr lang="en-US" altLang="zh-CN" sz="2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4 large squares, or in the 5 </a:t>
            </a:r>
            <a:r>
              <a:rPr lang="en-US" altLang="zh-CN" sz="2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 small central squares? And in the squares you choose, how many cells you count in total?</a:t>
            </a:r>
            <a:endPar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endParaRPr>
          </a:p>
          <a:p>
            <a:pPr marL="259080" indent="-259080" algn="just">
              <a:lnSpc>
                <a:spcPct val="150000"/>
              </a:lnSpc>
            </a:pPr>
            <a:r>
              <a:rPr lang="en-US" altLang="zh-CN" sz="2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4 × </a:t>
            </a:r>
            <a:r>
              <a:rPr lang="en-US" altLang="zh-CN" sz="24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4</a:t>
            </a:r>
            <a:r>
              <a:rPr lang="en-US" altLang="zh-CN" sz="24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large squares</a:t>
            </a:r>
            <a:endPar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endParaRPr>
          </a:p>
          <a:p>
            <a:pPr marL="259080" indent="-259080" algn="just">
              <a:lnSpc>
                <a:spcPct val="150000"/>
              </a:lnSpc>
            </a:pPr>
            <a:r>
              <a:rPr lang="en-US" altLang="zh-CN" sz="24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120    (4 large squares)  </a:t>
            </a:r>
            <a:endPar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endParaRPr>
          </a:p>
          <a:p>
            <a:pPr marL="259080" indent="-259080" algn="just">
              <a:lnSpc>
                <a:spcPct val="150000"/>
              </a:lnSpc>
            </a:pPr>
            <a:endParaRPr lang="en-US" altLang="zh-CN" sz="24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marL="259080" indent="-259080" algn="just">
              <a:lnSpc>
                <a:spcPct val="150000"/>
              </a:lnSpc>
            </a:pPr>
            <a:r>
              <a:rPr lang="en-US" altLang="zh-CN" sz="24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OR</a:t>
            </a:r>
          </a:p>
          <a:p>
            <a:pPr marL="259080" indent="-259080" algn="just">
              <a:lnSpc>
                <a:spcPct val="150000"/>
              </a:lnSpc>
            </a:pPr>
            <a:endParaRPr lang="en-US" altLang="zh-CN" sz="24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259080" indent="-259080" algn="just">
              <a:lnSpc>
                <a:spcPct val="150000"/>
              </a:lnSpc>
            </a:pPr>
            <a:r>
              <a:rPr lang="en-US" altLang="zh-CN" sz="24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5 × 5 small central squares</a:t>
            </a:r>
            <a:endPar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endParaRPr>
          </a:p>
          <a:p>
            <a:pPr marL="259080" indent="-259080" algn="just">
              <a:lnSpc>
                <a:spcPct val="150000"/>
              </a:lnSpc>
            </a:pPr>
            <a:r>
              <a:rPr lang="en-US" altLang="zh-CN" sz="24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120   (just 5 small squares)</a:t>
            </a:r>
            <a:endPar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endParaRPr>
          </a:p>
        </p:txBody>
      </p:sp>
      <p:grpSp>
        <p:nvGrpSpPr>
          <p:cNvPr id="7" name="组合 6">
            <a:extLst>
              <a:ext uri="{FF2B5EF4-FFF2-40B4-BE49-F238E27FC236}">
                <a16:creationId xmlns:a16="http://schemas.microsoft.com/office/drawing/2014/main" id="{24F9B8B4-53E4-4999-99C8-BA5D1D0E7DA9}"/>
              </a:ext>
            </a:extLst>
          </p:cNvPr>
          <p:cNvGrpSpPr/>
          <p:nvPr/>
        </p:nvGrpSpPr>
        <p:grpSpPr>
          <a:xfrm>
            <a:off x="6600556" y="2222341"/>
            <a:ext cx="4116213" cy="4478195"/>
            <a:chOff x="850808" y="1154322"/>
            <a:chExt cx="4832945" cy="4953548"/>
          </a:xfrm>
        </p:grpSpPr>
        <p:pic>
          <p:nvPicPr>
            <p:cNvPr id="8" name="Picture 7">
              <a:extLst>
                <a:ext uri="{FF2B5EF4-FFF2-40B4-BE49-F238E27FC236}">
                  <a16:creationId xmlns:a16="http://schemas.microsoft.com/office/drawing/2014/main" id="{1A6E8488-E613-498F-862C-606AAD03BEA7}"/>
                </a:ext>
              </a:extLst>
            </p:cNvPr>
            <p:cNvPicPr>
              <a:picLocks noChangeAspect="1"/>
            </p:cNvPicPr>
            <p:nvPr/>
          </p:nvPicPr>
          <p:blipFill rotWithShape="1">
            <a:blip r:embed="rId2"/>
            <a:srcRect l="51859" t="167" r="2083" b="-185"/>
            <a:stretch>
              <a:fillRect/>
            </a:stretch>
          </p:blipFill>
          <p:spPr>
            <a:xfrm>
              <a:off x="850808" y="1154322"/>
              <a:ext cx="4832945" cy="4953548"/>
            </a:xfrm>
            <a:prstGeom prst="rect">
              <a:avLst/>
            </a:prstGeom>
            <a:ln w="12700">
              <a:solidFill>
                <a:schemeClr val="tx1"/>
              </a:solidFill>
            </a:ln>
          </p:spPr>
        </p:pic>
        <p:sp>
          <p:nvSpPr>
            <p:cNvPr id="9" name="矩形 8">
              <a:extLst>
                <a:ext uri="{FF2B5EF4-FFF2-40B4-BE49-F238E27FC236}">
                  <a16:creationId xmlns:a16="http://schemas.microsoft.com/office/drawing/2014/main" id="{13487F99-1FF7-44DC-B0A3-35556F488205}"/>
                </a:ext>
              </a:extLst>
            </p:cNvPr>
            <p:cNvSpPr/>
            <p:nvPr/>
          </p:nvSpPr>
          <p:spPr>
            <a:xfrm>
              <a:off x="3028613" y="3293815"/>
              <a:ext cx="269437" cy="26645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A769D5BF-7E92-43C8-81E2-31613E55F238}"/>
                </a:ext>
              </a:extLst>
            </p:cNvPr>
            <p:cNvSpPr/>
            <p:nvPr/>
          </p:nvSpPr>
          <p:spPr>
            <a:xfrm>
              <a:off x="4105573" y="3292665"/>
              <a:ext cx="269437" cy="26645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D43C5C16-5AF9-4EAF-8A96-4C827DA9BF57}"/>
                </a:ext>
              </a:extLst>
            </p:cNvPr>
            <p:cNvSpPr/>
            <p:nvPr/>
          </p:nvSpPr>
          <p:spPr>
            <a:xfrm>
              <a:off x="3567093" y="3831145"/>
              <a:ext cx="269437" cy="26645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F43721E2-B917-4803-8096-D8CA76F3F9B2}"/>
                </a:ext>
              </a:extLst>
            </p:cNvPr>
            <p:cNvSpPr/>
            <p:nvPr/>
          </p:nvSpPr>
          <p:spPr>
            <a:xfrm>
              <a:off x="3028613" y="4400105"/>
              <a:ext cx="269437" cy="26645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CFF1D5D4-C37B-4062-B380-E94075533152}"/>
                </a:ext>
              </a:extLst>
            </p:cNvPr>
            <p:cNvSpPr/>
            <p:nvPr/>
          </p:nvSpPr>
          <p:spPr>
            <a:xfrm>
              <a:off x="4105572" y="4408994"/>
              <a:ext cx="269437" cy="26645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160A5799-BF85-42CC-875F-BD12012FE404}"/>
                </a:ext>
              </a:extLst>
            </p:cNvPr>
            <p:cNvSpPr txBox="1"/>
            <p:nvPr/>
          </p:nvSpPr>
          <p:spPr>
            <a:xfrm>
              <a:off x="1190848" y="1275844"/>
              <a:ext cx="359394" cy="400110"/>
            </a:xfrm>
            <a:prstGeom prst="rect">
              <a:avLst/>
            </a:prstGeom>
            <a:solidFill>
              <a:schemeClr val="bg1"/>
            </a:solidFill>
          </p:spPr>
          <p:txBody>
            <a:bodyPr wrap="none" rtlCol="0">
              <a:spAutoFit/>
            </a:bodyPr>
            <a:lstStyle/>
            <a:p>
              <a:r>
                <a:rPr lang="en-US" altLang="zh-CN" sz="2000" b="1" dirty="0"/>
                <a:t>B</a:t>
              </a:r>
              <a:endParaRPr lang="zh-CN" altLang="en-US" sz="2800" b="1" dirty="0"/>
            </a:p>
          </p:txBody>
        </p:sp>
      </p:grpSp>
    </p:spTree>
    <p:extLst>
      <p:ext uri="{BB962C8B-B14F-4D97-AF65-F5344CB8AC3E}">
        <p14:creationId xmlns:p14="http://schemas.microsoft.com/office/powerpoint/2010/main" val="12573429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00443" y="3045756"/>
            <a:ext cx="5514678" cy="2585323"/>
          </a:xfrm>
          <a:prstGeom prst="rect">
            <a:avLst/>
          </a:prstGeom>
        </p:spPr>
        <p:txBody>
          <a:bodyPr wrap="square">
            <a:spAutoFit/>
          </a:bodyPr>
          <a:lstStyle/>
          <a:p>
            <a:r>
              <a:rPr lang="en-US" altLang="zh-CN" dirty="0"/>
              <a:t>Page 66</a:t>
            </a:r>
          </a:p>
          <a:p>
            <a:pPr lvl="0"/>
            <a:r>
              <a:rPr lang="en-US" altLang="zh-CN" dirty="0"/>
              <a:t>When counting </a:t>
            </a:r>
            <a:r>
              <a:rPr lang="en-US" altLang="zh-CN" dirty="0">
                <a:solidFill>
                  <a:srgbClr val="FF0000"/>
                </a:solidFill>
              </a:rPr>
              <a:t>a high density cell population </a:t>
            </a:r>
            <a:r>
              <a:rPr lang="en-US" altLang="zh-CN" dirty="0"/>
              <a:t>( &gt;10 in red square shown in Fig 9.1B), use the central (5 × 5) area, and count the 5 grey color small central squares (1/25 mm</a:t>
            </a:r>
            <a:r>
              <a:rPr lang="en-US" altLang="zh-CN" baseline="30000" dirty="0"/>
              <a:t>2</a:t>
            </a:r>
            <a:r>
              <a:rPr lang="en-US" altLang="zh-CN" dirty="0"/>
              <a:t>); </a:t>
            </a:r>
          </a:p>
          <a:p>
            <a:pPr lvl="0"/>
            <a:r>
              <a:rPr lang="en-US" altLang="zh-CN" dirty="0"/>
              <a:t>at </a:t>
            </a:r>
            <a:r>
              <a:rPr lang="en-US" altLang="zh-CN" dirty="0">
                <a:solidFill>
                  <a:srgbClr val="FF0000"/>
                </a:solidFill>
              </a:rPr>
              <a:t>lower cell concentrations </a:t>
            </a:r>
            <a:r>
              <a:rPr lang="en-US" altLang="zh-CN" dirty="0"/>
              <a:t>(≤10 in red square shown in Fig 9.1B), use the four (4 × 4) large corner squares (labeled “1”-“4”) as shown in Fig 9.1B, and record the number of small squares counted.</a:t>
            </a:r>
          </a:p>
        </p:txBody>
      </p:sp>
      <p:grpSp>
        <p:nvGrpSpPr>
          <p:cNvPr id="11" name="组合 10">
            <a:extLst>
              <a:ext uri="{FF2B5EF4-FFF2-40B4-BE49-F238E27FC236}">
                <a16:creationId xmlns:a16="http://schemas.microsoft.com/office/drawing/2014/main" id="{5BCE19D7-106A-44C9-99B3-D10AB50804E3}"/>
              </a:ext>
            </a:extLst>
          </p:cNvPr>
          <p:cNvGrpSpPr/>
          <p:nvPr/>
        </p:nvGrpSpPr>
        <p:grpSpPr>
          <a:xfrm>
            <a:off x="850808" y="1154322"/>
            <a:ext cx="4832945" cy="4953548"/>
            <a:chOff x="850808" y="1154322"/>
            <a:chExt cx="4832945" cy="4953548"/>
          </a:xfrm>
        </p:grpSpPr>
        <p:pic>
          <p:nvPicPr>
            <p:cNvPr id="3" name="Picture 7"/>
            <p:cNvPicPr>
              <a:picLocks noChangeAspect="1"/>
            </p:cNvPicPr>
            <p:nvPr/>
          </p:nvPicPr>
          <p:blipFill rotWithShape="1">
            <a:blip r:embed="rId2"/>
            <a:srcRect l="51859" t="167" r="2083" b="-185"/>
            <a:stretch>
              <a:fillRect/>
            </a:stretch>
          </p:blipFill>
          <p:spPr>
            <a:xfrm>
              <a:off x="850808" y="1154322"/>
              <a:ext cx="4832945" cy="4953548"/>
            </a:xfrm>
            <a:prstGeom prst="rect">
              <a:avLst/>
            </a:prstGeom>
            <a:ln w="12700">
              <a:solidFill>
                <a:schemeClr val="tx1"/>
              </a:solidFill>
            </a:ln>
          </p:spPr>
        </p:pic>
        <p:sp>
          <p:nvSpPr>
            <p:cNvPr id="4" name="矩形 3"/>
            <p:cNvSpPr/>
            <p:nvPr/>
          </p:nvSpPr>
          <p:spPr>
            <a:xfrm>
              <a:off x="3028613" y="3293815"/>
              <a:ext cx="269437" cy="26645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4105573" y="3292665"/>
              <a:ext cx="269437" cy="26645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3567093" y="3831145"/>
              <a:ext cx="269437" cy="26645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3028613" y="4400105"/>
              <a:ext cx="269437" cy="26645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4105572" y="4408994"/>
              <a:ext cx="269437" cy="26645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66C8389B-D551-4AB0-87AD-B53A71F2E494}"/>
                </a:ext>
              </a:extLst>
            </p:cNvPr>
            <p:cNvSpPr txBox="1"/>
            <p:nvPr/>
          </p:nvSpPr>
          <p:spPr>
            <a:xfrm>
              <a:off x="1190848" y="1275844"/>
              <a:ext cx="359394" cy="400110"/>
            </a:xfrm>
            <a:prstGeom prst="rect">
              <a:avLst/>
            </a:prstGeom>
            <a:solidFill>
              <a:schemeClr val="bg1"/>
            </a:solidFill>
          </p:spPr>
          <p:txBody>
            <a:bodyPr wrap="none" rtlCol="0">
              <a:spAutoFit/>
            </a:bodyPr>
            <a:lstStyle/>
            <a:p>
              <a:r>
                <a:rPr lang="en-US" altLang="zh-CN" sz="2000" b="1" dirty="0"/>
                <a:t>B</a:t>
              </a:r>
              <a:endParaRPr lang="zh-CN" altLang="en-US" sz="2800" b="1" dirty="0"/>
            </a:p>
          </p:txBody>
        </p:sp>
      </p:grpSp>
      <p:sp>
        <p:nvSpPr>
          <p:cNvPr id="10" name="Rectangle 4">
            <a:extLst>
              <a:ext uri="{FF2B5EF4-FFF2-40B4-BE49-F238E27FC236}">
                <a16:creationId xmlns:a16="http://schemas.microsoft.com/office/drawing/2014/main" id="{AE214F0D-899E-416B-84CE-CB50EBD8247E}"/>
              </a:ext>
            </a:extLst>
          </p:cNvPr>
          <p:cNvSpPr/>
          <p:nvPr/>
        </p:nvSpPr>
        <p:spPr>
          <a:xfrm>
            <a:off x="607621" y="506373"/>
            <a:ext cx="10734138" cy="538609"/>
          </a:xfrm>
          <a:prstGeom prst="rect">
            <a:avLst/>
          </a:prstGeom>
        </p:spPr>
        <p:txBody>
          <a:bodyPr wrap="square">
            <a:spAutoFit/>
          </a:bodyPr>
          <a:lstStyle/>
          <a:p>
            <a:pPr>
              <a:spcAft>
                <a:spcPts val="0"/>
              </a:spcAft>
            </a:pPr>
            <a:r>
              <a:rPr lang="en-US" sz="2900" b="1" dirty="0">
                <a:latin typeface="Times New Roman" panose="02020603050405020304" pitchFamily="18" charset="0"/>
                <a:ea typeface="宋体" panose="02010600030101010101" pitchFamily="2" charset="-122"/>
                <a:cs typeface="+mj-cs"/>
              </a:rPr>
              <a:t>EXPERIMENT 9: Methods of counting microbes-total cell counts</a:t>
            </a:r>
            <a:endParaRPr lang="en-AU" sz="2900" b="1" dirty="0">
              <a:latin typeface="Times New Roman" panose="02020603050405020304" pitchFamily="18" charset="0"/>
              <a:ea typeface="宋体" panose="02010600030101010101" pitchFamily="2" charset="-122"/>
              <a:cs typeface="+mj-cs"/>
            </a:endParaRPr>
          </a:p>
        </p:txBody>
      </p:sp>
    </p:spTree>
    <p:extLst>
      <p:ext uri="{BB962C8B-B14F-4D97-AF65-F5344CB8AC3E}">
        <p14:creationId xmlns:p14="http://schemas.microsoft.com/office/powerpoint/2010/main" val="40220262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4C155E83-A7EF-45E9-BC72-CC4B22CCCC8E}"/>
              </a:ext>
            </a:extLst>
          </p:cNvPr>
          <p:cNvSpPr txBox="1"/>
          <p:nvPr/>
        </p:nvSpPr>
        <p:spPr>
          <a:xfrm>
            <a:off x="1190845" y="376714"/>
            <a:ext cx="8385545" cy="875881"/>
          </a:xfrm>
          <a:prstGeom prst="rect">
            <a:avLst/>
          </a:prstGeom>
          <a:noFill/>
        </p:spPr>
        <p:txBody>
          <a:bodyPr wrap="square">
            <a:spAutoFit/>
          </a:bodyPr>
          <a:lstStyle/>
          <a:p>
            <a:pPr algn="just">
              <a:lnSpc>
                <a:spcPct val="150000"/>
              </a:lnSpc>
            </a:pP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 What is the volume of</a:t>
            </a:r>
            <a:r>
              <a:rPr lang="en-US"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4 large squares in total</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(“1”-“4” as shown in Fig 9.1B) in </a:t>
            </a:r>
            <a:r>
              <a:rPr lang="en-US" altLang="zh-CN" sz="1800" b="1" kern="100" dirty="0">
                <a:solidFill>
                  <a:srgbClr val="00B0F0"/>
                </a:solidFill>
                <a:effectLst/>
                <a:latin typeface="Times New Roman" panose="02020603050405020304" pitchFamily="18" charset="0"/>
                <a:ea typeface="宋体" panose="02010600030101010101" pitchFamily="2" charset="-122"/>
                <a:cs typeface="Times New Roman" panose="02020603050405020304" pitchFamily="18" charset="0"/>
              </a:rPr>
              <a:t>mL</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What is the volume of </a:t>
            </a:r>
            <a:r>
              <a:rPr lang="en-US"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the central square (5 </a:t>
            </a:r>
            <a:r>
              <a:rPr lang="en-US"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5) </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in </a:t>
            </a:r>
            <a:r>
              <a:rPr lang="en-US" altLang="zh-CN" sz="1800" b="1" kern="100" dirty="0">
                <a:solidFill>
                  <a:srgbClr val="00B0F0"/>
                </a:solidFill>
                <a:effectLst/>
                <a:latin typeface="Times New Roman" panose="02020603050405020304" pitchFamily="18" charset="0"/>
                <a:ea typeface="宋体" panose="02010600030101010101" pitchFamily="2" charset="-122"/>
                <a:cs typeface="Times New Roman" panose="02020603050405020304" pitchFamily="18" charset="0"/>
              </a:rPr>
              <a:t>mL</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p:txBody>
      </p:sp>
      <p:pic>
        <p:nvPicPr>
          <p:cNvPr id="6" name="图片 5">
            <a:extLst>
              <a:ext uri="{FF2B5EF4-FFF2-40B4-BE49-F238E27FC236}">
                <a16:creationId xmlns:a16="http://schemas.microsoft.com/office/drawing/2014/main" id="{BA629042-4DDA-4014-A250-D73A4FF8F24C}"/>
              </a:ext>
            </a:extLst>
          </p:cNvPr>
          <p:cNvPicPr/>
          <p:nvPr/>
        </p:nvPicPr>
        <p:blipFill>
          <a:blip r:embed="rId2"/>
          <a:stretch>
            <a:fillRect/>
          </a:stretch>
        </p:blipFill>
        <p:spPr>
          <a:xfrm>
            <a:off x="1058300" y="1698989"/>
            <a:ext cx="3697998" cy="3460021"/>
          </a:xfrm>
          <a:prstGeom prst="rect">
            <a:avLst/>
          </a:prstGeom>
        </p:spPr>
      </p:pic>
      <p:pic>
        <p:nvPicPr>
          <p:cNvPr id="7" name="Picture 7">
            <a:extLst>
              <a:ext uri="{FF2B5EF4-FFF2-40B4-BE49-F238E27FC236}">
                <a16:creationId xmlns:a16="http://schemas.microsoft.com/office/drawing/2014/main" id="{F6B36DB6-23F2-461A-9F7F-217161AF1D29}"/>
              </a:ext>
            </a:extLst>
          </p:cNvPr>
          <p:cNvPicPr>
            <a:picLocks noChangeAspect="1"/>
          </p:cNvPicPr>
          <p:nvPr/>
        </p:nvPicPr>
        <p:blipFill rotWithShape="1">
          <a:blip r:embed="rId3"/>
          <a:srcRect t="66896" r="54388" b="10375"/>
          <a:stretch/>
        </p:blipFill>
        <p:spPr>
          <a:xfrm>
            <a:off x="994504" y="5358988"/>
            <a:ext cx="3839765" cy="903105"/>
          </a:xfrm>
          <a:prstGeom prst="rect">
            <a:avLst/>
          </a:prstGeom>
        </p:spPr>
      </p:pic>
      <p:sp>
        <p:nvSpPr>
          <p:cNvPr id="9" name="文本框 8">
            <a:extLst>
              <a:ext uri="{FF2B5EF4-FFF2-40B4-BE49-F238E27FC236}">
                <a16:creationId xmlns:a16="http://schemas.microsoft.com/office/drawing/2014/main" id="{A122BFE8-F546-488F-8E5A-539AB30E42FB}"/>
              </a:ext>
            </a:extLst>
          </p:cNvPr>
          <p:cNvSpPr txBox="1"/>
          <p:nvPr/>
        </p:nvSpPr>
        <p:spPr>
          <a:xfrm>
            <a:off x="5514754" y="1492812"/>
            <a:ext cx="6096000" cy="1706878"/>
          </a:xfrm>
          <a:prstGeom prst="rect">
            <a:avLst/>
          </a:prstGeom>
          <a:noFill/>
        </p:spPr>
        <p:txBody>
          <a:bodyPr wrap="square">
            <a:spAutoFit/>
          </a:bodyPr>
          <a:lstStyle/>
          <a:p>
            <a:pPr marL="260350" indent="-260350" algn="just">
              <a:lnSpc>
                <a:spcPct val="150000"/>
              </a:lnSpc>
            </a:pPr>
            <a:r>
              <a:rPr lang="zh-CN"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①</a:t>
            </a:r>
            <a:r>
              <a:rPr lang="zh-CN" altLang="zh-CN" sz="1800" b="1" kern="1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1800" b="1" kern="1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1 mm</a:t>
            </a:r>
            <a:r>
              <a:rPr lang="zh-CN"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1 mm</a:t>
            </a:r>
            <a:r>
              <a:rPr lang="zh-CN"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0.1 mm</a:t>
            </a:r>
            <a:r>
              <a:rPr lang="zh-CN"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4 = 0.4 mm</a:t>
            </a:r>
            <a:r>
              <a:rPr lang="en-US" altLang="zh-CN" sz="1800" b="1" kern="100" baseline="300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3</a:t>
            </a:r>
            <a:r>
              <a:rPr lang="en-US"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 4</a:t>
            </a:r>
            <a:r>
              <a:rPr lang="zh-CN"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10</a:t>
            </a:r>
            <a:r>
              <a:rPr lang="en-US" altLang="zh-CN" sz="1800" b="1" kern="100" baseline="300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-4</a:t>
            </a:r>
            <a:r>
              <a:rPr lang="en-US"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mL</a:t>
            </a:r>
            <a:r>
              <a:rPr lang="en-US" altLang="zh-CN" sz="1800" b="1" kern="100" baseline="300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260350" indent="-260350" algn="just">
              <a:lnSpc>
                <a:spcPct val="150000"/>
              </a:lnSpc>
            </a:pPr>
            <a:r>
              <a:rPr lang="en-US" altLang="zh-CN" sz="1800" kern="100" baseline="300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1 mm</a:t>
            </a:r>
            <a:r>
              <a:rPr lang="en-US" altLang="zh-CN" sz="1800" kern="100" baseline="30000" dirty="0">
                <a:effectLst/>
                <a:latin typeface="Times New Roman" panose="02020603050405020304" pitchFamily="18" charset="0"/>
                <a:ea typeface="宋体" panose="02010600030101010101" pitchFamily="2" charset="-122"/>
                <a:cs typeface="Times New Roman" panose="02020603050405020304" pitchFamily="18" charset="0"/>
              </a:rPr>
              <a:t>3 </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10</a:t>
            </a:r>
            <a:r>
              <a:rPr lang="en-US" altLang="zh-CN" sz="1800" kern="100" baseline="30000" dirty="0">
                <a:effectLst/>
                <a:latin typeface="Times New Roman" panose="02020603050405020304" pitchFamily="18" charset="0"/>
                <a:ea typeface="宋体" panose="02010600030101010101" pitchFamily="2" charset="-122"/>
                <a:cs typeface="Times New Roman" panose="02020603050405020304" pitchFamily="18" charset="0"/>
              </a:rPr>
              <a:t>-3</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mL (cm</a:t>
            </a:r>
            <a:r>
              <a:rPr lang="en-US" altLang="zh-CN" sz="1800" kern="100" baseline="30000" dirty="0">
                <a:effectLst/>
                <a:latin typeface="Times New Roman" panose="02020603050405020304" pitchFamily="18" charset="0"/>
                <a:ea typeface="宋体" panose="02010600030101010101" pitchFamily="2" charset="-122"/>
                <a:cs typeface="Times New Roman" panose="02020603050405020304" pitchFamily="18" charset="0"/>
              </a:rPr>
              <a:t>3</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260350" indent="-260350" algn="l">
              <a:lnSpc>
                <a:spcPct val="150000"/>
              </a:lnSpc>
            </a:pPr>
            <a:r>
              <a:rPr lang="en-US"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OR                     </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260350" indent="-260350" algn="just">
              <a:lnSpc>
                <a:spcPct val="150000"/>
              </a:lnSpc>
            </a:pPr>
            <a:r>
              <a:rPr lang="en-US"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0.1 cm</a:t>
            </a:r>
            <a:r>
              <a:rPr lang="zh-CN"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0.1 cm</a:t>
            </a:r>
            <a:r>
              <a:rPr lang="zh-CN"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0.01 cm</a:t>
            </a:r>
            <a:r>
              <a:rPr lang="zh-CN"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4 = 0.0004 mL=4</a:t>
            </a:r>
            <a:r>
              <a:rPr lang="zh-CN"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10</a:t>
            </a:r>
            <a:r>
              <a:rPr lang="en-US" altLang="zh-CN" sz="1800" b="1" kern="100" baseline="300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-4</a:t>
            </a:r>
            <a:r>
              <a:rPr lang="en-US"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mL</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 name="文本框 10">
            <a:extLst>
              <a:ext uri="{FF2B5EF4-FFF2-40B4-BE49-F238E27FC236}">
                <a16:creationId xmlns:a16="http://schemas.microsoft.com/office/drawing/2014/main" id="{F77EDBF0-4DCE-43A6-9B56-BE47104FA75C}"/>
              </a:ext>
            </a:extLst>
          </p:cNvPr>
          <p:cNvSpPr txBox="1"/>
          <p:nvPr/>
        </p:nvSpPr>
        <p:spPr>
          <a:xfrm>
            <a:off x="5514754" y="3933399"/>
            <a:ext cx="6096000" cy="1291379"/>
          </a:xfrm>
          <a:prstGeom prst="rect">
            <a:avLst/>
          </a:prstGeom>
          <a:noFill/>
        </p:spPr>
        <p:txBody>
          <a:bodyPr wrap="square">
            <a:spAutoFit/>
          </a:bodyPr>
          <a:lstStyle/>
          <a:p>
            <a:pPr algn="just">
              <a:lnSpc>
                <a:spcPct val="150000"/>
              </a:lnSpc>
            </a:pPr>
            <a:r>
              <a:rPr lang="zh-CN"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②</a:t>
            </a:r>
            <a:r>
              <a:rPr lang="zh-CN" altLang="zh-CN" sz="1800" kern="1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1 mm</a:t>
            </a:r>
            <a:r>
              <a:rPr lang="zh-CN"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1 mm</a:t>
            </a:r>
            <a:r>
              <a:rPr lang="zh-CN"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0.1 mm</a:t>
            </a:r>
            <a:r>
              <a:rPr lang="zh-CN"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1 = 0.1 mm</a:t>
            </a:r>
            <a:r>
              <a:rPr lang="en-US" altLang="zh-CN" sz="1800" b="1" kern="100" baseline="300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3</a:t>
            </a:r>
            <a:r>
              <a:rPr lang="en-US"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 1</a:t>
            </a:r>
            <a:r>
              <a:rPr lang="zh-CN"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10</a:t>
            </a:r>
            <a:r>
              <a:rPr lang="en-US" altLang="zh-CN" sz="1800" b="1" kern="100" baseline="300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-4</a:t>
            </a:r>
            <a:r>
              <a:rPr lang="en-US"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mL</a:t>
            </a:r>
            <a:r>
              <a:rPr lang="en-US" altLang="zh-CN" sz="1800" b="1" kern="100" baseline="300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50000"/>
              </a:lnSpc>
            </a:pPr>
            <a:r>
              <a:rPr lang="en-US"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OR                     </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50000"/>
              </a:lnSpc>
            </a:pPr>
            <a:r>
              <a:rPr lang="en-US"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0.1 cm</a:t>
            </a:r>
            <a:r>
              <a:rPr lang="zh-CN"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0.1 cm</a:t>
            </a:r>
            <a:r>
              <a:rPr lang="zh-CN"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0.01 cm</a:t>
            </a:r>
            <a:r>
              <a:rPr lang="zh-CN"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1 = 0.0001 mL=1</a:t>
            </a:r>
            <a:r>
              <a:rPr lang="zh-CN"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10</a:t>
            </a:r>
            <a:r>
              <a:rPr lang="en-US" altLang="zh-CN" sz="1800" b="1" kern="100" baseline="300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-4</a:t>
            </a:r>
            <a:r>
              <a:rPr lang="en-US"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mL</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3246849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0A508B46-1F41-43F6-904A-6FFFB620EBE3}"/>
              </a:ext>
            </a:extLst>
          </p:cNvPr>
          <p:cNvSpPr txBox="1"/>
          <p:nvPr/>
        </p:nvSpPr>
        <p:spPr>
          <a:xfrm>
            <a:off x="1219199" y="936755"/>
            <a:ext cx="10377377" cy="4618380"/>
          </a:xfrm>
          <a:prstGeom prst="rect">
            <a:avLst/>
          </a:prstGeom>
          <a:noFill/>
        </p:spPr>
        <p:txBody>
          <a:bodyPr wrap="square">
            <a:spAutoFit/>
          </a:bodyPr>
          <a:lstStyle/>
          <a:p>
            <a:pPr algn="just">
              <a:lnSpc>
                <a:spcPct val="150000"/>
              </a:lnSpc>
            </a:pP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 According to the number of the cells you count and the volume of the squares you choose, show your calculations to determine the number of cells per ml in the suspension. </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marL="259080" indent="-259080" algn="just">
              <a:lnSpc>
                <a:spcPct val="150000"/>
              </a:lnSpc>
            </a:pP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marL="285750" indent="-285750" algn="just">
              <a:lnSpc>
                <a:spcPct val="150000"/>
              </a:lnSpc>
              <a:buFont typeface="Wingdings" panose="05000000000000000000" pitchFamily="2" charset="2"/>
              <a:buChar char="Ø"/>
            </a:pPr>
            <a:r>
              <a:rPr lang="en-US"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If you count cells in 4 × </a:t>
            </a:r>
            <a:r>
              <a:rPr lang="en-US" altLang="zh-CN" sz="18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4</a:t>
            </a:r>
            <a:r>
              <a:rPr lang="en-US"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large squares,</a:t>
            </a:r>
          </a:p>
          <a:p>
            <a:pPr algn="just">
              <a:lnSpc>
                <a:spcPct val="150000"/>
              </a:lnSpc>
            </a:pPr>
            <a:r>
              <a:rPr lang="en-US"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120/the volume of the 4 × </a:t>
            </a:r>
            <a:r>
              <a:rPr lang="en-US" altLang="zh-CN" sz="18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4</a:t>
            </a:r>
            <a:r>
              <a:rPr lang="en-US"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large squares </a:t>
            </a:r>
            <a:r>
              <a:rPr lang="zh-CN"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dilution factor  (if dilute</a:t>
            </a:r>
            <a:r>
              <a:rPr lang="en-US" altLang="zh-CN"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本实验稀释了</a:t>
            </a:r>
            <a:r>
              <a:rPr lang="en-US" altLang="zh-CN"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10</a:t>
            </a:r>
            <a:r>
              <a:rPr lang="zh-CN" altLang="en-US"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倍</a:t>
            </a:r>
            <a:r>
              <a:rPr lang="en-US"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50000"/>
              </a:lnSpc>
            </a:pPr>
            <a:r>
              <a:rPr lang="en-US"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120 </a:t>
            </a:r>
            <a:r>
              <a:rPr lang="en-US" altLang="zh-CN"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(4</a:t>
            </a:r>
            <a:r>
              <a:rPr lang="zh-CN"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10</a:t>
            </a:r>
            <a:r>
              <a:rPr lang="en-US" altLang="zh-CN" sz="1800" b="1" kern="100" baseline="300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-4</a:t>
            </a:r>
            <a:r>
              <a:rPr lang="en-US"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×10 = 3</a:t>
            </a:r>
            <a:r>
              <a:rPr lang="en-US"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zh-CN"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10</a:t>
            </a:r>
            <a:r>
              <a:rPr lang="en-US" altLang="zh-CN" b="1" kern="100" baseline="30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6</a:t>
            </a:r>
            <a:r>
              <a:rPr lang="en-US"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cells/mL</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marL="285750" indent="-285750" algn="just">
              <a:lnSpc>
                <a:spcPct val="150000"/>
              </a:lnSpc>
              <a:buFont typeface="Wingdings" panose="05000000000000000000" pitchFamily="2" charset="2"/>
              <a:buChar char="Ø"/>
            </a:pPr>
            <a:endParaRPr lang="en-US" altLang="zh-CN"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marL="285750" indent="-285750" algn="just">
              <a:lnSpc>
                <a:spcPct val="150000"/>
              </a:lnSpc>
              <a:buFont typeface="Wingdings" panose="05000000000000000000" pitchFamily="2" charset="2"/>
              <a:buChar char="Ø"/>
            </a:pPr>
            <a:r>
              <a:rPr lang="en-US" altLang="zh-CN"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If you count cells in in the 5 × 5 small central squares,</a:t>
            </a:r>
          </a:p>
          <a:p>
            <a:pPr algn="just">
              <a:lnSpc>
                <a:spcPct val="150000"/>
              </a:lnSpc>
            </a:pPr>
            <a:r>
              <a:rPr lang="en-US"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120</a:t>
            </a:r>
            <a:r>
              <a:rPr lang="zh-CN"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5/the volume of the central squares</a:t>
            </a:r>
            <a:r>
              <a:rPr lang="zh-CN"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dilution factor  (if dilute</a:t>
            </a:r>
            <a:r>
              <a:rPr lang="en-US" altLang="zh-CN"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本实验稀释了</a:t>
            </a:r>
            <a:r>
              <a:rPr lang="en-US" altLang="zh-CN"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10</a:t>
            </a:r>
            <a:r>
              <a:rPr lang="zh-CN" altLang="en-US"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倍</a:t>
            </a:r>
            <a:r>
              <a:rPr lang="en-US"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50000"/>
              </a:lnSpc>
            </a:pPr>
            <a:r>
              <a:rPr lang="en-US"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120×5 </a:t>
            </a:r>
            <a:r>
              <a:rPr lang="en-US" altLang="zh-CN"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10</a:t>
            </a:r>
            <a:r>
              <a:rPr lang="en-US" altLang="zh-CN" sz="1800" b="1" kern="100" baseline="300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-4</a:t>
            </a:r>
            <a:r>
              <a:rPr lang="en-US"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×10 = </a:t>
            </a:r>
            <a:r>
              <a:rPr lang="en-US"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6.0</a:t>
            </a:r>
            <a:r>
              <a:rPr lang="zh-CN"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10</a:t>
            </a:r>
            <a:r>
              <a:rPr lang="en-US" altLang="zh-CN" sz="1800" b="1" kern="100" baseline="300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7</a:t>
            </a:r>
            <a:r>
              <a:rPr lang="en-US"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cells/mL</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50000"/>
              </a:lnSpc>
            </a:pP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8740913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DE96B56-1AF3-4972-9097-5CD9F4C73858}"/>
              </a:ext>
            </a:extLst>
          </p:cNvPr>
          <p:cNvSpPr txBox="1"/>
          <p:nvPr/>
        </p:nvSpPr>
        <p:spPr>
          <a:xfrm>
            <a:off x="829339" y="331376"/>
            <a:ext cx="9207795" cy="2858731"/>
          </a:xfrm>
          <a:prstGeom prst="rect">
            <a:avLst/>
          </a:prstGeom>
          <a:noFill/>
        </p:spPr>
        <p:txBody>
          <a:bodyPr wrap="square">
            <a:spAutoFit/>
          </a:bodyPr>
          <a:lstStyle/>
          <a:p>
            <a:pPr algn="just">
              <a:lnSpc>
                <a:spcPct val="150000"/>
              </a:lnSpc>
            </a:pPr>
            <a:r>
              <a:rPr lang="en-US" altLang="zh-CN" sz="18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Spectrophotometer</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marL="259080" indent="-259080" algn="just">
              <a:lnSpc>
                <a:spcPct val="150000"/>
              </a:lnSpc>
            </a:pP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 What is the number of cells/mL as estimated using the spectrophotometer?</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marL="270510" indent="-270510" algn="ctr">
              <a:lnSpc>
                <a:spcPct val="150000"/>
              </a:lnSpc>
            </a:pPr>
            <a:r>
              <a:rPr lang="en-US" altLang="zh-CN" sz="18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 (cells/mL) =Dilute times × (10</a:t>
            </a:r>
            <a:r>
              <a:rPr lang="en-US" altLang="zh-CN" sz="1800" b="1" kern="100" baseline="30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a:t>
            </a:r>
            <a:r>
              <a:rPr lang="en-US" altLang="zh-CN" sz="18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 OD</a:t>
            </a:r>
            <a:r>
              <a:rPr lang="en-US" altLang="zh-CN" sz="1800" b="1" kern="100" baseline="-25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600</a:t>
            </a:r>
            <a:r>
              <a:rPr lang="en-US" altLang="zh-CN" sz="18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-907614)</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50000"/>
              </a:lnSpc>
            </a:pP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50000"/>
              </a:lnSpc>
            </a:pPr>
            <a:r>
              <a:rPr lang="en-US"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Not dilute, OD</a:t>
            </a:r>
            <a:r>
              <a:rPr lang="en-US" altLang="zh-CN" sz="1800" kern="100" baseline="-250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600</a:t>
            </a:r>
            <a:r>
              <a:rPr lang="en-US"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was </a:t>
            </a:r>
            <a:r>
              <a:rPr lang="en-US" altLang="zh-CN"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0.801</a:t>
            </a:r>
            <a:endParaRPr lang="zh-CN" altLang="zh-CN" sz="1400"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50000"/>
              </a:lnSpc>
            </a:pPr>
            <a:r>
              <a:rPr lang="en-US"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1 × (10</a:t>
            </a:r>
            <a:r>
              <a:rPr lang="en-US" altLang="zh-CN" sz="1800" kern="100" baseline="300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7</a:t>
            </a:r>
            <a:r>
              <a:rPr lang="en-US"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 0.801 - 907614) = 7.1×10</a:t>
            </a:r>
            <a:r>
              <a:rPr lang="en-US" altLang="zh-CN" sz="1800" kern="100" baseline="300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6 </a:t>
            </a:r>
            <a:r>
              <a:rPr lang="en-US"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cells/mL</a:t>
            </a:r>
            <a:endParaRPr lang="zh-CN" altLang="zh-CN" sz="1400"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50000"/>
              </a:lnSpc>
            </a:pPr>
            <a:endParaRPr lang="en-US"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文本框 1">
            <a:extLst>
              <a:ext uri="{FF2B5EF4-FFF2-40B4-BE49-F238E27FC236}">
                <a16:creationId xmlns:a16="http://schemas.microsoft.com/office/drawing/2014/main" id="{5552BB8B-977A-4E6E-B5C9-CE988BF4FBAF}"/>
              </a:ext>
            </a:extLst>
          </p:cNvPr>
          <p:cNvSpPr txBox="1"/>
          <p:nvPr/>
        </p:nvSpPr>
        <p:spPr>
          <a:xfrm>
            <a:off x="972922" y="3540557"/>
            <a:ext cx="6351419" cy="1670778"/>
          </a:xfrm>
          <a:prstGeom prst="rect">
            <a:avLst/>
          </a:prstGeom>
          <a:noFill/>
        </p:spPr>
        <p:txBody>
          <a:bodyPr wrap="none" rtlCol="0">
            <a:spAutoFit/>
          </a:bodyPr>
          <a:lstStyle/>
          <a:p>
            <a:pPr>
              <a:lnSpc>
                <a:spcPct val="200000"/>
              </a:lnSpc>
            </a:pPr>
            <a:r>
              <a:rPr lang="en-US" altLang="zh-CN" dirty="0"/>
              <a:t>Exp.9 </a:t>
            </a:r>
            <a:r>
              <a:rPr lang="zh-CN" altLang="en-US" dirty="0">
                <a:solidFill>
                  <a:srgbClr val="FF0000"/>
                </a:solidFill>
              </a:rPr>
              <a:t>血球计数板 </a:t>
            </a:r>
            <a:r>
              <a:rPr lang="zh-CN" altLang="en-US" dirty="0"/>
              <a:t>和 </a:t>
            </a:r>
            <a:r>
              <a:rPr lang="zh-CN" altLang="en-US" dirty="0">
                <a:solidFill>
                  <a:srgbClr val="FF0000"/>
                </a:solidFill>
              </a:rPr>
              <a:t>分光光度计 </a:t>
            </a:r>
            <a:r>
              <a:rPr lang="zh-CN" altLang="en-US" dirty="0"/>
              <a:t>检测菌液来源于同一管菌，</a:t>
            </a:r>
            <a:endParaRPr lang="en-US" altLang="zh-CN" dirty="0"/>
          </a:p>
          <a:p>
            <a:pPr marL="285750" indent="-285750">
              <a:lnSpc>
                <a:spcPct val="200000"/>
              </a:lnSpc>
              <a:buFont typeface="Wingdings" panose="05000000000000000000" pitchFamily="2" charset="2"/>
              <a:buChar char="Ø"/>
            </a:pPr>
            <a:r>
              <a:rPr lang="zh-CN" altLang="en-US" dirty="0"/>
              <a:t>血球计数板检测时稀释了</a:t>
            </a:r>
            <a:r>
              <a:rPr lang="en-US" altLang="zh-CN" dirty="0"/>
              <a:t>10</a:t>
            </a:r>
            <a:r>
              <a:rPr lang="zh-CN" altLang="en-US" dirty="0"/>
              <a:t>倍，分光光度计检测时未稀释</a:t>
            </a:r>
            <a:endParaRPr lang="en-US" altLang="zh-CN" dirty="0"/>
          </a:p>
          <a:p>
            <a:pPr marL="285750" indent="-285750">
              <a:lnSpc>
                <a:spcPct val="200000"/>
              </a:lnSpc>
              <a:buFont typeface="Wingdings" panose="05000000000000000000" pitchFamily="2" charset="2"/>
              <a:buChar char="Ø"/>
            </a:pPr>
            <a:r>
              <a:rPr lang="zh-CN" altLang="en-US" dirty="0"/>
              <a:t>两个数值的数量级一致即可，都是</a:t>
            </a:r>
            <a:r>
              <a:rPr lang="en-US" altLang="zh-CN" dirty="0"/>
              <a:t>10</a:t>
            </a:r>
            <a:r>
              <a:rPr lang="en-US" altLang="zh-CN" baseline="30000" dirty="0"/>
              <a:t>6</a:t>
            </a:r>
            <a:r>
              <a:rPr lang="zh-CN" altLang="en-US" dirty="0"/>
              <a:t>或</a:t>
            </a:r>
            <a:r>
              <a:rPr lang="en-US" altLang="zh-CN" dirty="0"/>
              <a:t>10</a:t>
            </a:r>
            <a:r>
              <a:rPr lang="en-US" altLang="zh-CN" baseline="30000" dirty="0"/>
              <a:t>7</a:t>
            </a:r>
            <a:endParaRPr lang="zh-CN" altLang="en-US" dirty="0"/>
          </a:p>
        </p:txBody>
      </p:sp>
    </p:spTree>
    <p:extLst>
      <p:ext uri="{BB962C8B-B14F-4D97-AF65-F5344CB8AC3E}">
        <p14:creationId xmlns:p14="http://schemas.microsoft.com/office/powerpoint/2010/main" val="3817331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7BBB6DF-1CC2-4D7E-B2FC-5A390673AAD9}"/>
              </a:ext>
            </a:extLst>
          </p:cNvPr>
          <p:cNvSpPr txBox="1"/>
          <p:nvPr/>
        </p:nvSpPr>
        <p:spPr>
          <a:xfrm>
            <a:off x="1034900" y="1591072"/>
            <a:ext cx="9966253" cy="2956387"/>
          </a:xfrm>
          <a:prstGeom prst="rect">
            <a:avLst/>
          </a:prstGeom>
          <a:noFill/>
        </p:spPr>
        <p:txBody>
          <a:bodyPr wrap="square">
            <a:spAutoFit/>
          </a:bodyPr>
          <a:lstStyle/>
          <a:p>
            <a:pPr marL="259080" indent="-259080" algn="just">
              <a:lnSpc>
                <a:spcPct val="150000"/>
              </a:lnSpc>
            </a:pP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 Which is the direct method for determining cell numbers?</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50000"/>
              </a:lnSpc>
            </a:pP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kern="100" dirty="0">
                <a:solidFill>
                  <a:srgbClr val="FF0000"/>
                </a:solidFill>
                <a:effectLst/>
                <a:latin typeface="TimesNewRomanPSMT"/>
                <a:ea typeface="宋体" panose="02010600030101010101" pitchFamily="2" charset="-122"/>
                <a:cs typeface="Times New Roman" panose="02020603050405020304" pitchFamily="18" charset="0"/>
              </a:rPr>
              <a:t>U</a:t>
            </a:r>
            <a:r>
              <a:rPr lang="en-US" altLang="zh-CN" sz="1800" b="0" i="0" u="none" strike="noStrike" baseline="0" dirty="0">
                <a:solidFill>
                  <a:srgbClr val="FF0000"/>
                </a:solidFill>
                <a:latin typeface="TimesNewRomanPSMT"/>
              </a:rPr>
              <a:t>sing </a:t>
            </a:r>
            <a:r>
              <a:rPr lang="en-US"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Neubauer </a:t>
            </a:r>
            <a:r>
              <a:rPr lang="en-US" altLang="zh-CN" sz="1800" b="1" kern="100" dirty="0" err="1">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Haemocytometer</a:t>
            </a:r>
            <a:r>
              <a:rPr lang="en-US"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50000"/>
              </a:lnSpc>
            </a:pP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50000"/>
              </a:lnSpc>
            </a:pP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 What is the basic difference between the cell counts obtained from the viable count method and the total count methods?</a:t>
            </a:r>
          </a:p>
          <a:p>
            <a:pPr algn="just">
              <a:lnSpc>
                <a:spcPct val="150000"/>
              </a:lnSpc>
            </a:pPr>
            <a:r>
              <a:rPr lang="en-US" altLang="zh-CN"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The viable count method——EXPERIMENT 8: Detection of colony-forming unit (CFU)</a:t>
            </a:r>
          </a:p>
          <a:p>
            <a:pPr algn="just">
              <a:lnSpc>
                <a:spcPct val="150000"/>
              </a:lnSpc>
            </a:pPr>
            <a:r>
              <a:rPr lang="en-US" altLang="zh-CN"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The total count methods ——EXPERIMENT 9: Methods of counting microbes-total cell counts</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1765816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BA291ECC-6C86-40D7-B1F1-2BA9223B5B51}"/>
              </a:ext>
            </a:extLst>
          </p:cNvPr>
          <p:cNvSpPr txBox="1"/>
          <p:nvPr/>
        </p:nvSpPr>
        <p:spPr>
          <a:xfrm>
            <a:off x="501650" y="310634"/>
            <a:ext cx="9493250" cy="584775"/>
          </a:xfrm>
          <a:prstGeom prst="rect">
            <a:avLst/>
          </a:prstGeom>
          <a:noFill/>
        </p:spPr>
        <p:txBody>
          <a:bodyPr wrap="square">
            <a:spAutoFit/>
          </a:bodyPr>
          <a:lstStyle/>
          <a:p>
            <a:pPr marL="0" marR="0" lvl="0" indent="0" algn="l" defTabSz="68707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EXPERIMENT 11: Plaque assay of bacteriophages</a:t>
            </a:r>
            <a:endParaRPr kumimoji="0" lang="zh-CN" altLang="en-US" sz="32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p:txBody>
      </p:sp>
      <p:pic>
        <p:nvPicPr>
          <p:cNvPr id="5" name="图片 4">
            <a:extLst>
              <a:ext uri="{FF2B5EF4-FFF2-40B4-BE49-F238E27FC236}">
                <a16:creationId xmlns:a16="http://schemas.microsoft.com/office/drawing/2014/main" id="{858694B5-E609-42C8-A2B9-9FD51294A47F}"/>
              </a:ext>
            </a:extLst>
          </p:cNvPr>
          <p:cNvPicPr>
            <a:picLocks noChangeAspect="1"/>
          </p:cNvPicPr>
          <p:nvPr/>
        </p:nvPicPr>
        <p:blipFill>
          <a:blip r:embed="rId2"/>
          <a:stretch>
            <a:fillRect/>
          </a:stretch>
        </p:blipFill>
        <p:spPr>
          <a:xfrm>
            <a:off x="190931" y="1230659"/>
            <a:ext cx="7143750" cy="4557885"/>
          </a:xfrm>
          <a:prstGeom prst="rect">
            <a:avLst/>
          </a:prstGeom>
        </p:spPr>
      </p:pic>
      <p:sp>
        <p:nvSpPr>
          <p:cNvPr id="6" name="文本框 5">
            <a:extLst>
              <a:ext uri="{FF2B5EF4-FFF2-40B4-BE49-F238E27FC236}">
                <a16:creationId xmlns:a16="http://schemas.microsoft.com/office/drawing/2014/main" id="{B532ED21-6E0D-4569-B43E-E52F0B78D43E}"/>
              </a:ext>
            </a:extLst>
          </p:cNvPr>
          <p:cNvSpPr txBox="1"/>
          <p:nvPr/>
        </p:nvSpPr>
        <p:spPr>
          <a:xfrm>
            <a:off x="4158296" y="2317568"/>
            <a:ext cx="256512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rPr>
              <a:t>/*                       /            26</a:t>
            </a:r>
            <a:endParaRPr kumimoji="0" lang="zh-CN" altLang="en-US" sz="1800" b="0"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endParaRPr>
          </a:p>
        </p:txBody>
      </p:sp>
      <p:sp>
        <p:nvSpPr>
          <p:cNvPr id="7" name="文本框 6">
            <a:extLst>
              <a:ext uri="{FF2B5EF4-FFF2-40B4-BE49-F238E27FC236}">
                <a16:creationId xmlns:a16="http://schemas.microsoft.com/office/drawing/2014/main" id="{B018FF9C-B478-4973-AFDE-976BEA42C72E}"/>
              </a:ext>
            </a:extLst>
          </p:cNvPr>
          <p:cNvSpPr txBox="1"/>
          <p:nvPr/>
        </p:nvSpPr>
        <p:spPr>
          <a:xfrm>
            <a:off x="4012245" y="2928689"/>
            <a:ext cx="271420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rPr>
              <a:t>/                        /                35</a:t>
            </a:r>
            <a:endParaRPr kumimoji="0" lang="zh-CN" altLang="en-US" sz="1800" b="0"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endParaRPr>
          </a:p>
        </p:txBody>
      </p:sp>
      <p:sp>
        <p:nvSpPr>
          <p:cNvPr id="8" name="文本框 7">
            <a:extLst>
              <a:ext uri="{FF2B5EF4-FFF2-40B4-BE49-F238E27FC236}">
                <a16:creationId xmlns:a16="http://schemas.microsoft.com/office/drawing/2014/main" id="{B14B5CC5-A91C-4E43-B22A-029E297A9C29}"/>
              </a:ext>
            </a:extLst>
          </p:cNvPr>
          <p:cNvSpPr txBox="1"/>
          <p:nvPr/>
        </p:nvSpPr>
        <p:spPr>
          <a:xfrm>
            <a:off x="3955095" y="3424967"/>
            <a:ext cx="27815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rPr>
              <a:t> -                        -                 31</a:t>
            </a:r>
            <a:endParaRPr kumimoji="0" lang="zh-CN" altLang="en-US" sz="1800" b="0"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endParaRPr>
          </a:p>
        </p:txBody>
      </p:sp>
      <p:sp>
        <p:nvSpPr>
          <p:cNvPr id="9" name="文本框 8">
            <a:extLst>
              <a:ext uri="{FF2B5EF4-FFF2-40B4-BE49-F238E27FC236}">
                <a16:creationId xmlns:a16="http://schemas.microsoft.com/office/drawing/2014/main" id="{896ED3C8-01AC-48D7-9A2D-E12FA93B68AA}"/>
              </a:ext>
            </a:extLst>
          </p:cNvPr>
          <p:cNvSpPr txBox="1"/>
          <p:nvPr/>
        </p:nvSpPr>
        <p:spPr>
          <a:xfrm>
            <a:off x="3929695" y="3937764"/>
            <a:ext cx="31822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rPr>
              <a:t> -                        -          7.75×10</a:t>
            </a:r>
            <a:r>
              <a:rPr kumimoji="0" lang="en-US" altLang="zh-CN" sz="1800" b="0" i="0" u="none" strike="noStrike" kern="1200" cap="none" spc="0" normalizeH="0" baseline="30000" noProof="0" dirty="0">
                <a:ln>
                  <a:noFill/>
                </a:ln>
                <a:solidFill>
                  <a:srgbClr val="FF0000"/>
                </a:solidFill>
                <a:effectLst/>
                <a:uLnTx/>
                <a:uFillTx/>
                <a:latin typeface="Calibri"/>
                <a:ea typeface="宋体" panose="02010600030101010101" pitchFamily="2" charset="-122"/>
                <a:cs typeface="+mn-cs"/>
              </a:rPr>
              <a:t>4</a:t>
            </a:r>
            <a:endParaRPr kumimoji="0" lang="zh-CN" altLang="en-US" sz="1800" b="0" i="0" u="none" strike="noStrike" kern="1200" cap="none" spc="0" normalizeH="0" baseline="30000" noProof="0" dirty="0">
              <a:ln>
                <a:noFill/>
              </a:ln>
              <a:solidFill>
                <a:srgbClr val="FF0000"/>
              </a:solidFill>
              <a:effectLst/>
              <a:uLnTx/>
              <a:uFillTx/>
              <a:latin typeface="Calibri"/>
              <a:ea typeface="宋体" panose="02010600030101010101" pitchFamily="2" charset="-122"/>
              <a:cs typeface="+mn-cs"/>
            </a:endParaRPr>
          </a:p>
        </p:txBody>
      </p:sp>
      <p:sp>
        <p:nvSpPr>
          <p:cNvPr id="10" name="文本框 9">
            <a:extLst>
              <a:ext uri="{FF2B5EF4-FFF2-40B4-BE49-F238E27FC236}">
                <a16:creationId xmlns:a16="http://schemas.microsoft.com/office/drawing/2014/main" id="{5F0AC760-DA31-4BAD-9A61-6C9AE6EE43E5}"/>
              </a:ext>
            </a:extLst>
          </p:cNvPr>
          <p:cNvSpPr txBox="1"/>
          <p:nvPr/>
        </p:nvSpPr>
        <p:spPr>
          <a:xfrm>
            <a:off x="635430" y="4469558"/>
            <a:ext cx="295465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rPr>
              <a:t>* /</a:t>
            </a:r>
            <a:r>
              <a:rPr kumimoji="0" lang="zh-CN" altLang="en-US" sz="1800" b="0"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rPr>
              <a:t> </a:t>
            </a:r>
            <a:r>
              <a:rPr kumimoji="0" lang="en-US" altLang="zh-CN" sz="1800" b="0"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rPr>
              <a:t>means</a:t>
            </a:r>
            <a:r>
              <a:rPr kumimoji="0" lang="zh-CN" altLang="en-US" sz="1800" b="0"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rPr>
              <a:t> </a:t>
            </a:r>
            <a:r>
              <a:rPr kumimoji="0" lang="en-US" altLang="zh-CN" sz="1800" b="0"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rPr>
              <a:t>too</a:t>
            </a:r>
            <a:r>
              <a:rPr kumimoji="0" lang="zh-CN" altLang="en-US" sz="1800" b="0"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rPr>
              <a:t> </a:t>
            </a:r>
            <a:r>
              <a:rPr kumimoji="0" lang="en-US" altLang="zh-CN" sz="1800" b="0"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rPr>
              <a:t>many to count.</a:t>
            </a:r>
            <a:endParaRPr kumimoji="0" lang="zh-CN" altLang="en-US" sz="1800" b="0"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endParaRPr>
          </a:p>
        </p:txBody>
      </p:sp>
      <p:sp>
        <p:nvSpPr>
          <p:cNvPr id="11" name="文本框 10">
            <a:extLst>
              <a:ext uri="{FF2B5EF4-FFF2-40B4-BE49-F238E27FC236}">
                <a16:creationId xmlns:a16="http://schemas.microsoft.com/office/drawing/2014/main" id="{1B7B02D2-42BA-46D5-89B1-23A94140CE7B}"/>
              </a:ext>
            </a:extLst>
          </p:cNvPr>
          <p:cNvSpPr txBox="1"/>
          <p:nvPr/>
        </p:nvSpPr>
        <p:spPr>
          <a:xfrm>
            <a:off x="7542717" y="3563768"/>
            <a:ext cx="4595938" cy="2224776"/>
          </a:xfrm>
          <a:prstGeom prst="rect">
            <a:avLst/>
          </a:prstGeom>
          <a:noFill/>
        </p:spPr>
        <p:txBody>
          <a:bodyPr wrap="none" rtlCol="0">
            <a:spAutoFit/>
          </a:bodyPr>
          <a:lstStyle/>
          <a:p>
            <a:pPr marL="0" marR="0" lvl="0" indent="0" algn="l" defTabSz="914400" rtl="0" eaLnBrk="1" fontAlgn="auto" latinLnBrk="0" hangingPunct="1">
              <a:lnSpc>
                <a:spcPct val="2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计算过程：</a:t>
            </a:r>
            <a:endPar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2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Plaque number ×dilution factor/volume</a:t>
            </a:r>
          </a:p>
          <a:p>
            <a:pPr marL="0" marR="0" lvl="0" indent="0" algn="l" defTabSz="914400" rtl="0" eaLnBrk="1" fontAlgn="auto" latinLnBrk="0" hangingPunct="1">
              <a:lnSpc>
                <a:spcPct val="2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=31 ×25/0.01 mL</a:t>
            </a:r>
          </a:p>
          <a:p>
            <a:pPr marL="0" marR="0" lvl="0" indent="0" algn="l" defTabSz="914400" rtl="0" eaLnBrk="1" fontAlgn="auto" latinLnBrk="0" hangingPunct="1">
              <a:lnSpc>
                <a:spcPct val="2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一定用</a:t>
            </a:r>
            <a:r>
              <a:rPr kumimoji="0" lang="zh-CN" altLang="en-US" sz="1800" b="1" i="0" u="sng"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科学计数法</a:t>
            </a: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表示</a:t>
            </a:r>
            <a:endPar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8786469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BA291ECC-6C86-40D7-B1F1-2BA9223B5B51}"/>
              </a:ext>
            </a:extLst>
          </p:cNvPr>
          <p:cNvSpPr txBox="1"/>
          <p:nvPr/>
        </p:nvSpPr>
        <p:spPr>
          <a:xfrm>
            <a:off x="501650" y="310634"/>
            <a:ext cx="9493250" cy="584775"/>
          </a:xfrm>
          <a:prstGeom prst="rect">
            <a:avLst/>
          </a:prstGeom>
          <a:noFill/>
        </p:spPr>
        <p:txBody>
          <a:bodyPr wrap="square">
            <a:spAutoFit/>
          </a:bodyPr>
          <a:lstStyle/>
          <a:p>
            <a:pPr marL="0" marR="0" lvl="0" indent="0" algn="l" defTabSz="68707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EXPERIMENT 11: Plaque assay of bacteriophages</a:t>
            </a:r>
            <a:endParaRPr kumimoji="0" lang="zh-CN" altLang="en-US" sz="32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p:txBody>
      </p:sp>
      <p:pic>
        <p:nvPicPr>
          <p:cNvPr id="5" name="图片 4">
            <a:extLst>
              <a:ext uri="{FF2B5EF4-FFF2-40B4-BE49-F238E27FC236}">
                <a16:creationId xmlns:a16="http://schemas.microsoft.com/office/drawing/2014/main" id="{858694B5-E609-42C8-A2B9-9FD51294A47F}"/>
              </a:ext>
            </a:extLst>
          </p:cNvPr>
          <p:cNvPicPr>
            <a:picLocks noChangeAspect="1"/>
          </p:cNvPicPr>
          <p:nvPr/>
        </p:nvPicPr>
        <p:blipFill>
          <a:blip r:embed="rId2"/>
          <a:stretch>
            <a:fillRect/>
          </a:stretch>
        </p:blipFill>
        <p:spPr>
          <a:xfrm>
            <a:off x="190931" y="1230659"/>
            <a:ext cx="7143750" cy="4557885"/>
          </a:xfrm>
          <a:prstGeom prst="rect">
            <a:avLst/>
          </a:prstGeom>
        </p:spPr>
      </p:pic>
      <p:sp>
        <p:nvSpPr>
          <p:cNvPr id="6" name="文本框 5">
            <a:extLst>
              <a:ext uri="{FF2B5EF4-FFF2-40B4-BE49-F238E27FC236}">
                <a16:creationId xmlns:a16="http://schemas.microsoft.com/office/drawing/2014/main" id="{B532ED21-6E0D-4569-B43E-E52F0B78D43E}"/>
              </a:ext>
            </a:extLst>
          </p:cNvPr>
          <p:cNvSpPr txBox="1"/>
          <p:nvPr/>
        </p:nvSpPr>
        <p:spPr>
          <a:xfrm>
            <a:off x="4158296" y="2317568"/>
            <a:ext cx="256512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rPr>
              <a:t>/*                       /            26</a:t>
            </a:r>
            <a:endParaRPr kumimoji="0" lang="zh-CN" altLang="en-US" sz="1800" b="0"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endParaRPr>
          </a:p>
        </p:txBody>
      </p:sp>
      <p:sp>
        <p:nvSpPr>
          <p:cNvPr id="7" name="文本框 6">
            <a:extLst>
              <a:ext uri="{FF2B5EF4-FFF2-40B4-BE49-F238E27FC236}">
                <a16:creationId xmlns:a16="http://schemas.microsoft.com/office/drawing/2014/main" id="{B018FF9C-B478-4973-AFDE-976BEA42C72E}"/>
              </a:ext>
            </a:extLst>
          </p:cNvPr>
          <p:cNvSpPr txBox="1"/>
          <p:nvPr/>
        </p:nvSpPr>
        <p:spPr>
          <a:xfrm>
            <a:off x="4012245" y="2928689"/>
            <a:ext cx="271420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rPr>
              <a:t>/                        /                35</a:t>
            </a:r>
            <a:endParaRPr kumimoji="0" lang="zh-CN" altLang="en-US" sz="1800" b="0"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endParaRPr>
          </a:p>
        </p:txBody>
      </p:sp>
      <p:sp>
        <p:nvSpPr>
          <p:cNvPr id="8" name="文本框 7">
            <a:extLst>
              <a:ext uri="{FF2B5EF4-FFF2-40B4-BE49-F238E27FC236}">
                <a16:creationId xmlns:a16="http://schemas.microsoft.com/office/drawing/2014/main" id="{B14B5CC5-A91C-4E43-B22A-029E297A9C29}"/>
              </a:ext>
            </a:extLst>
          </p:cNvPr>
          <p:cNvSpPr txBox="1"/>
          <p:nvPr/>
        </p:nvSpPr>
        <p:spPr>
          <a:xfrm>
            <a:off x="3955095" y="3424967"/>
            <a:ext cx="27815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rPr>
              <a:t> -                        -                 31</a:t>
            </a:r>
            <a:endParaRPr kumimoji="0" lang="zh-CN" altLang="en-US" sz="1800" b="0"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endParaRPr>
          </a:p>
        </p:txBody>
      </p:sp>
      <p:sp>
        <p:nvSpPr>
          <p:cNvPr id="9" name="文本框 8">
            <a:extLst>
              <a:ext uri="{FF2B5EF4-FFF2-40B4-BE49-F238E27FC236}">
                <a16:creationId xmlns:a16="http://schemas.microsoft.com/office/drawing/2014/main" id="{896ED3C8-01AC-48D7-9A2D-E12FA93B68AA}"/>
              </a:ext>
            </a:extLst>
          </p:cNvPr>
          <p:cNvSpPr txBox="1"/>
          <p:nvPr/>
        </p:nvSpPr>
        <p:spPr>
          <a:xfrm>
            <a:off x="3929695" y="3937764"/>
            <a:ext cx="31822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rPr>
              <a:t> -                        -          7.75×10</a:t>
            </a:r>
            <a:r>
              <a:rPr kumimoji="0" lang="en-US" altLang="zh-CN" sz="1800" b="0" i="0" u="none" strike="noStrike" kern="1200" cap="none" spc="0" normalizeH="0" baseline="30000" noProof="0" dirty="0">
                <a:ln>
                  <a:noFill/>
                </a:ln>
                <a:solidFill>
                  <a:srgbClr val="FF0000"/>
                </a:solidFill>
                <a:effectLst/>
                <a:uLnTx/>
                <a:uFillTx/>
                <a:latin typeface="Calibri"/>
                <a:ea typeface="宋体" panose="02010600030101010101" pitchFamily="2" charset="-122"/>
                <a:cs typeface="+mn-cs"/>
              </a:rPr>
              <a:t>4</a:t>
            </a:r>
            <a:endParaRPr kumimoji="0" lang="zh-CN" altLang="en-US" sz="1800" b="0" i="0" u="none" strike="noStrike" kern="1200" cap="none" spc="0" normalizeH="0" baseline="30000" noProof="0" dirty="0">
              <a:ln>
                <a:noFill/>
              </a:ln>
              <a:solidFill>
                <a:srgbClr val="FF0000"/>
              </a:solidFill>
              <a:effectLst/>
              <a:uLnTx/>
              <a:uFillTx/>
              <a:latin typeface="Calibri"/>
              <a:ea typeface="宋体" panose="02010600030101010101" pitchFamily="2" charset="-122"/>
              <a:cs typeface="+mn-cs"/>
            </a:endParaRPr>
          </a:p>
        </p:txBody>
      </p:sp>
      <p:sp>
        <p:nvSpPr>
          <p:cNvPr id="10" name="文本框 9">
            <a:extLst>
              <a:ext uri="{FF2B5EF4-FFF2-40B4-BE49-F238E27FC236}">
                <a16:creationId xmlns:a16="http://schemas.microsoft.com/office/drawing/2014/main" id="{5F0AC760-DA31-4BAD-9A61-6C9AE6EE43E5}"/>
              </a:ext>
            </a:extLst>
          </p:cNvPr>
          <p:cNvSpPr txBox="1"/>
          <p:nvPr/>
        </p:nvSpPr>
        <p:spPr>
          <a:xfrm>
            <a:off x="635430" y="4469558"/>
            <a:ext cx="295465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rPr>
              <a:t>* /</a:t>
            </a:r>
            <a:r>
              <a:rPr kumimoji="0" lang="zh-CN" altLang="en-US" sz="1800" b="0"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rPr>
              <a:t> </a:t>
            </a:r>
            <a:r>
              <a:rPr kumimoji="0" lang="en-US" altLang="zh-CN" sz="1800" b="0"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rPr>
              <a:t>means</a:t>
            </a:r>
            <a:r>
              <a:rPr kumimoji="0" lang="zh-CN" altLang="en-US" sz="1800" b="0"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rPr>
              <a:t> </a:t>
            </a:r>
            <a:r>
              <a:rPr kumimoji="0" lang="en-US" altLang="zh-CN" sz="1800" b="0"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rPr>
              <a:t>too</a:t>
            </a:r>
            <a:r>
              <a:rPr kumimoji="0" lang="zh-CN" altLang="en-US" sz="1800" b="0"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rPr>
              <a:t> </a:t>
            </a:r>
            <a:r>
              <a:rPr kumimoji="0" lang="en-US" altLang="zh-CN" sz="1800" b="0"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rPr>
              <a:t>many to count.</a:t>
            </a:r>
            <a:endParaRPr kumimoji="0" lang="zh-CN" altLang="en-US" sz="1800" b="0"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endParaRPr>
          </a:p>
        </p:txBody>
      </p:sp>
      <p:sp>
        <p:nvSpPr>
          <p:cNvPr id="11" name="文本框 10">
            <a:extLst>
              <a:ext uri="{FF2B5EF4-FFF2-40B4-BE49-F238E27FC236}">
                <a16:creationId xmlns:a16="http://schemas.microsoft.com/office/drawing/2014/main" id="{1B7B02D2-42BA-46D5-89B1-23A94140CE7B}"/>
              </a:ext>
            </a:extLst>
          </p:cNvPr>
          <p:cNvSpPr txBox="1"/>
          <p:nvPr/>
        </p:nvSpPr>
        <p:spPr>
          <a:xfrm>
            <a:off x="7542717" y="3563768"/>
            <a:ext cx="4595938" cy="2224776"/>
          </a:xfrm>
          <a:prstGeom prst="rect">
            <a:avLst/>
          </a:prstGeom>
          <a:noFill/>
        </p:spPr>
        <p:txBody>
          <a:bodyPr wrap="none" rtlCol="0">
            <a:spAutoFit/>
          </a:bodyPr>
          <a:lstStyle/>
          <a:p>
            <a:pPr marL="0" marR="0" lvl="0" indent="0" algn="l" defTabSz="914400" rtl="0" eaLnBrk="1" fontAlgn="auto" latinLnBrk="0" hangingPunct="1">
              <a:lnSpc>
                <a:spcPct val="2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计算过程：</a:t>
            </a:r>
            <a:endPar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2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Plaque number ×dilution factor/volume</a:t>
            </a:r>
          </a:p>
          <a:p>
            <a:pPr marL="0" marR="0" lvl="0" indent="0" algn="l" defTabSz="914400" rtl="0" eaLnBrk="1" fontAlgn="auto" latinLnBrk="0" hangingPunct="1">
              <a:lnSpc>
                <a:spcPct val="2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=31 ×25/0.01 mL</a:t>
            </a:r>
          </a:p>
          <a:p>
            <a:pPr marL="0" marR="0" lvl="0" indent="0" algn="l" defTabSz="914400" rtl="0" eaLnBrk="1" fontAlgn="auto" latinLnBrk="0" hangingPunct="1">
              <a:lnSpc>
                <a:spcPct val="2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一定用</a:t>
            </a:r>
            <a:r>
              <a:rPr kumimoji="0" lang="zh-CN" altLang="en-US" sz="1800" b="1" i="0" u="sng"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科学计数法</a:t>
            </a: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表示</a:t>
            </a:r>
            <a:endPar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233840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1B74B015-D706-47CF-B257-BE433891F69D}"/>
              </a:ext>
            </a:extLst>
          </p:cNvPr>
          <p:cNvPicPr>
            <a:picLocks noChangeAspect="1"/>
          </p:cNvPicPr>
          <p:nvPr/>
        </p:nvPicPr>
        <p:blipFill>
          <a:blip r:embed="rId2"/>
          <a:stretch>
            <a:fillRect/>
          </a:stretch>
        </p:blipFill>
        <p:spPr>
          <a:xfrm>
            <a:off x="3454546" y="0"/>
            <a:ext cx="4790364" cy="6858000"/>
          </a:xfrm>
          <a:prstGeom prst="rect">
            <a:avLst/>
          </a:prstGeom>
        </p:spPr>
      </p:pic>
      <p:sp>
        <p:nvSpPr>
          <p:cNvPr id="2" name="矩形 1">
            <a:extLst>
              <a:ext uri="{FF2B5EF4-FFF2-40B4-BE49-F238E27FC236}">
                <a16:creationId xmlns:a16="http://schemas.microsoft.com/office/drawing/2014/main" id="{77928DED-7701-4093-8B52-EA7E88C6A0C1}"/>
              </a:ext>
            </a:extLst>
          </p:cNvPr>
          <p:cNvSpPr/>
          <p:nvPr/>
        </p:nvSpPr>
        <p:spPr>
          <a:xfrm>
            <a:off x="4347002" y="1784302"/>
            <a:ext cx="3787502" cy="1046679"/>
          </a:xfrm>
          <a:prstGeom prst="rect">
            <a:avLst/>
          </a:prstGeom>
          <a:solidFill>
            <a:srgbClr val="FF0000">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6582728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524539" y="416780"/>
            <a:ext cx="11110433" cy="878589"/>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687070"/>
            <a:r>
              <a:rPr sz="2800" b="1" dirty="0">
                <a:latin typeface="+mn-lt"/>
              </a:rPr>
              <a:t>EXPERIMENT </a:t>
            </a:r>
            <a:r>
              <a:rPr lang="en-US" sz="2800" b="1" dirty="0">
                <a:latin typeface="+mn-lt"/>
              </a:rPr>
              <a:t>12</a:t>
            </a:r>
            <a:r>
              <a:rPr sz="2800" b="1" dirty="0">
                <a:latin typeface="+mn-lt"/>
              </a:rPr>
              <a:t>: 	</a:t>
            </a:r>
            <a:r>
              <a:rPr lang="en-AU" sz="2800" b="1" dirty="0">
                <a:latin typeface="+mn-lt"/>
              </a:rPr>
              <a:t>A</a:t>
            </a:r>
            <a:r>
              <a:rPr lang="en-US" sz="2800" b="1" dirty="0" err="1">
                <a:latin typeface="+mn-lt"/>
              </a:rPr>
              <a:t>lpha</a:t>
            </a:r>
            <a:r>
              <a:rPr sz="2800" b="1" dirty="0">
                <a:latin typeface="+mn-lt"/>
              </a:rPr>
              <a:t>-amylase, an </a:t>
            </a:r>
            <a:r>
              <a:rPr lang="en-US" sz="2800" b="1" dirty="0">
                <a:latin typeface="+mn-lt"/>
              </a:rPr>
              <a:t>industrial e</a:t>
            </a:r>
            <a:r>
              <a:rPr sz="2800" b="1" dirty="0">
                <a:latin typeface="+mn-lt"/>
              </a:rPr>
              <a:t>nzyme </a:t>
            </a:r>
            <a:r>
              <a:rPr lang="en-US" sz="2800" b="1" dirty="0">
                <a:latin typeface="+mn-lt"/>
              </a:rPr>
              <a:t>produced by</a:t>
            </a:r>
            <a:r>
              <a:rPr sz="2800" b="1" dirty="0">
                <a:latin typeface="+mn-lt"/>
              </a:rPr>
              <a:t> marine </a:t>
            </a:r>
            <a:r>
              <a:rPr lang="en-US" sz="2800" b="1" dirty="0">
                <a:latin typeface="+mn-lt"/>
              </a:rPr>
              <a:t>bacteria</a:t>
            </a:r>
            <a:r>
              <a:rPr lang="zh-CN" sz="2800" b="1" dirty="0">
                <a:latin typeface="+mn-lt"/>
              </a:rPr>
              <a:t> </a:t>
            </a:r>
            <a:endParaRPr lang="en-US" sz="2800" b="1" dirty="0">
              <a:latin typeface="+mn-lt"/>
            </a:endParaRPr>
          </a:p>
        </p:txBody>
      </p:sp>
      <p:sp>
        <p:nvSpPr>
          <p:cNvPr id="3" name="TextBox 2"/>
          <p:cNvSpPr txBox="1"/>
          <p:nvPr/>
        </p:nvSpPr>
        <p:spPr>
          <a:xfrm>
            <a:off x="524539" y="1353930"/>
            <a:ext cx="11328793" cy="5087290"/>
          </a:xfrm>
          <a:prstGeom prst="rect">
            <a:avLst/>
          </a:prstGeom>
          <a:noFill/>
        </p:spPr>
        <p:txBody>
          <a:bodyPr wrap="square" rtlCol="0">
            <a:spAutoFit/>
          </a:bodyPr>
          <a:lstStyle/>
          <a:p>
            <a:pPr>
              <a:spcAft>
                <a:spcPts val="600"/>
              </a:spcAft>
            </a:pPr>
            <a:r>
              <a:rPr lang="en-US" sz="2400" b="1" dirty="0">
                <a:solidFill>
                  <a:srgbClr val="0000CC"/>
                </a:solidFill>
                <a:sym typeface="+mn-ea"/>
              </a:rPr>
              <a:t>Expt. 12A</a:t>
            </a:r>
            <a:endParaRPr lang="en-US" altLang="zh-CN" sz="2400" b="1" cap="all" dirty="0"/>
          </a:p>
          <a:p>
            <a:pPr>
              <a:lnSpc>
                <a:spcPct val="150000"/>
              </a:lnSpc>
            </a:pPr>
            <a:r>
              <a:rPr lang="en-AU" altLang="zh-CN" sz="2500" dirty="0"/>
              <a:t>1 × </a:t>
            </a:r>
            <a:r>
              <a:rPr lang="en-US" altLang="zh-CN" sz="2500" dirty="0"/>
              <a:t>TSA (</a:t>
            </a:r>
            <a:r>
              <a:rPr lang="en-AU" altLang="zh-CN" sz="2500" dirty="0" err="1"/>
              <a:t>labeled</a:t>
            </a:r>
            <a:r>
              <a:rPr lang="en-AU" altLang="zh-CN" sz="2500" dirty="0"/>
              <a:t> “</a:t>
            </a:r>
            <a:r>
              <a:rPr lang="en-AU" altLang="zh-CN" sz="2500" b="1" dirty="0">
                <a:solidFill>
                  <a:srgbClr val="FF0000"/>
                </a:solidFill>
              </a:rPr>
              <a:t>TSA</a:t>
            </a:r>
            <a:r>
              <a:rPr lang="en-AU" altLang="zh-CN" sz="2500" dirty="0"/>
              <a:t>”</a:t>
            </a:r>
            <a:r>
              <a:rPr lang="en-US" altLang="zh-CN" sz="2500" dirty="0"/>
              <a:t>)</a:t>
            </a:r>
            <a:endParaRPr lang="zh-CN" altLang="zh-CN" sz="2500" b="1" dirty="0"/>
          </a:p>
          <a:p>
            <a:pPr>
              <a:lnSpc>
                <a:spcPct val="150000"/>
              </a:lnSpc>
            </a:pPr>
            <a:r>
              <a:rPr lang="en-AU" altLang="zh-CN" sz="2500" dirty="0"/>
              <a:t>1 × </a:t>
            </a:r>
            <a:r>
              <a:rPr lang="en-US" altLang="zh-CN" sz="2500" dirty="0"/>
              <a:t>TSA plus 0.2% starch plate (</a:t>
            </a:r>
            <a:r>
              <a:rPr lang="en-AU" altLang="zh-CN" sz="2500" dirty="0" err="1"/>
              <a:t>labeled</a:t>
            </a:r>
            <a:r>
              <a:rPr lang="en-AU" altLang="zh-CN" sz="2500" dirty="0"/>
              <a:t> “</a:t>
            </a:r>
            <a:r>
              <a:rPr lang="en-AU" altLang="zh-CN" sz="2500" b="1" dirty="0">
                <a:solidFill>
                  <a:srgbClr val="FF0000"/>
                </a:solidFill>
              </a:rPr>
              <a:t>TSA/0.2%S</a:t>
            </a:r>
            <a:r>
              <a:rPr lang="en-AU" altLang="zh-CN" sz="2500" dirty="0"/>
              <a:t>”</a:t>
            </a:r>
            <a:r>
              <a:rPr lang="en-US" altLang="zh-CN" sz="2500" dirty="0"/>
              <a:t>)</a:t>
            </a:r>
            <a:endParaRPr lang="zh-CN" altLang="zh-CN" sz="2500" b="1" dirty="0"/>
          </a:p>
          <a:p>
            <a:pPr>
              <a:lnSpc>
                <a:spcPct val="150000"/>
              </a:lnSpc>
            </a:pPr>
            <a:r>
              <a:rPr lang="en-AU" altLang="zh-CN" sz="2500" dirty="0"/>
              <a:t>Three overnight (O/N) strains cultures in 1.5 mL tubes:</a:t>
            </a:r>
            <a:endParaRPr lang="zh-CN" altLang="zh-CN" sz="2500" b="1" dirty="0"/>
          </a:p>
          <a:p>
            <a:pPr>
              <a:lnSpc>
                <a:spcPct val="150000"/>
              </a:lnSpc>
            </a:pPr>
            <a:r>
              <a:rPr lang="en-AU" altLang="zh-CN" sz="2500" b="1" i="1" dirty="0">
                <a:solidFill>
                  <a:srgbClr val="FF0000"/>
                </a:solidFill>
              </a:rPr>
              <a:t>E</a:t>
            </a:r>
            <a:r>
              <a:rPr lang="en-AU" altLang="zh-CN" sz="2500" i="1" dirty="0"/>
              <a:t>scherichia </a:t>
            </a:r>
            <a:r>
              <a:rPr lang="en-AU" altLang="zh-CN" sz="2500" b="1" i="1" dirty="0">
                <a:solidFill>
                  <a:srgbClr val="FF0000"/>
                </a:solidFill>
              </a:rPr>
              <a:t>c</a:t>
            </a:r>
            <a:r>
              <a:rPr lang="en-AU" altLang="zh-CN" sz="2500" i="1" dirty="0"/>
              <a:t>oli</a:t>
            </a:r>
            <a:r>
              <a:rPr lang="en-AU" altLang="zh-CN" sz="2500" dirty="0"/>
              <a:t>, </a:t>
            </a:r>
            <a:r>
              <a:rPr lang="en-AU" altLang="zh-CN" sz="2500" dirty="0" err="1"/>
              <a:t>labeled</a:t>
            </a:r>
            <a:r>
              <a:rPr lang="en-AU" altLang="zh-CN" sz="2500" dirty="0"/>
              <a:t> “</a:t>
            </a:r>
            <a:r>
              <a:rPr lang="en-AU" altLang="zh-CN" sz="2500" dirty="0" err="1">
                <a:solidFill>
                  <a:srgbClr val="FF0000"/>
                </a:solidFill>
              </a:rPr>
              <a:t>Ec</a:t>
            </a:r>
            <a:r>
              <a:rPr lang="en-AU" altLang="zh-CN" sz="2500" dirty="0"/>
              <a:t>”</a:t>
            </a:r>
            <a:endParaRPr lang="zh-CN" altLang="zh-CN" sz="2500" b="1" dirty="0"/>
          </a:p>
          <a:p>
            <a:pPr>
              <a:lnSpc>
                <a:spcPct val="150000"/>
              </a:lnSpc>
            </a:pPr>
            <a:r>
              <a:rPr lang="en-US" altLang="zh-CN" sz="2500" b="1" i="1" dirty="0">
                <a:solidFill>
                  <a:srgbClr val="FF0000"/>
                </a:solidFill>
              </a:rPr>
              <a:t>B</a:t>
            </a:r>
            <a:r>
              <a:rPr lang="en-AU" altLang="zh-CN" sz="2500" i="1" dirty="0" err="1"/>
              <a:t>acillus</a:t>
            </a:r>
            <a:r>
              <a:rPr lang="en-US" altLang="zh-CN" sz="2500" i="1" dirty="0"/>
              <a:t> </a:t>
            </a:r>
            <a:r>
              <a:rPr lang="en-US" altLang="zh-CN" sz="2500" b="1" i="1" dirty="0">
                <a:solidFill>
                  <a:srgbClr val="FF0000"/>
                </a:solidFill>
              </a:rPr>
              <a:t>s</a:t>
            </a:r>
            <a:r>
              <a:rPr lang="en-US" altLang="zh-CN" sz="2500" i="1" dirty="0"/>
              <a:t>ubtilis</a:t>
            </a:r>
            <a:r>
              <a:rPr lang="en-AU" altLang="zh-CN" sz="2500" dirty="0"/>
              <a:t>, </a:t>
            </a:r>
            <a:r>
              <a:rPr lang="en-AU" altLang="zh-CN" sz="2500" dirty="0" err="1"/>
              <a:t>labeled</a:t>
            </a:r>
            <a:r>
              <a:rPr lang="en-AU" altLang="zh-CN" sz="2500" dirty="0"/>
              <a:t> “</a:t>
            </a:r>
            <a:r>
              <a:rPr lang="en-US" altLang="zh-CN" sz="2500" dirty="0">
                <a:solidFill>
                  <a:srgbClr val="FF0000"/>
                </a:solidFill>
              </a:rPr>
              <a:t>Bs</a:t>
            </a:r>
            <a:r>
              <a:rPr lang="en-AU" altLang="zh-CN" sz="2500" dirty="0"/>
              <a:t>”</a:t>
            </a:r>
            <a:endParaRPr lang="zh-CN" altLang="zh-CN" sz="2500" b="1" dirty="0"/>
          </a:p>
          <a:p>
            <a:pPr>
              <a:lnSpc>
                <a:spcPct val="150000"/>
              </a:lnSpc>
            </a:pPr>
            <a:r>
              <a:rPr lang="en-AU" altLang="zh-CN" sz="2500" b="1" i="1" dirty="0">
                <a:solidFill>
                  <a:srgbClr val="FF0000"/>
                </a:solidFill>
              </a:rPr>
              <a:t>B</a:t>
            </a:r>
            <a:r>
              <a:rPr lang="en-AU" altLang="zh-CN" sz="2500" i="1" dirty="0"/>
              <a:t>acillus </a:t>
            </a:r>
            <a:r>
              <a:rPr lang="en-AU" altLang="zh-CN" sz="2500" b="1" i="1" dirty="0" err="1">
                <a:solidFill>
                  <a:srgbClr val="FF0000"/>
                </a:solidFill>
              </a:rPr>
              <a:t>a</a:t>
            </a:r>
            <a:r>
              <a:rPr lang="en-AU" altLang="zh-CN" sz="2500" i="1" dirty="0" err="1"/>
              <a:t>myloliquefaciens</a:t>
            </a:r>
            <a:r>
              <a:rPr lang="en-AU" altLang="zh-CN" sz="2500" i="1" dirty="0"/>
              <a:t> </a:t>
            </a:r>
            <a:r>
              <a:rPr lang="en-AU" altLang="zh-CN" sz="2500" dirty="0"/>
              <a:t>(isolated from seawater), </a:t>
            </a:r>
            <a:r>
              <a:rPr lang="en-AU" altLang="zh-CN" sz="2500" dirty="0" err="1"/>
              <a:t>labeled</a:t>
            </a:r>
            <a:r>
              <a:rPr lang="en-AU" altLang="zh-CN" sz="2500" dirty="0"/>
              <a:t> “</a:t>
            </a:r>
            <a:r>
              <a:rPr lang="en-AU" altLang="zh-CN" sz="2500" dirty="0">
                <a:solidFill>
                  <a:srgbClr val="FF0000"/>
                </a:solidFill>
              </a:rPr>
              <a:t>Ba</a:t>
            </a:r>
            <a:r>
              <a:rPr lang="en-AU" altLang="zh-CN" sz="2500" dirty="0"/>
              <a:t>”</a:t>
            </a:r>
            <a:endParaRPr lang="zh-CN" altLang="zh-CN" sz="2500" b="1" dirty="0"/>
          </a:p>
          <a:p>
            <a:pPr>
              <a:lnSpc>
                <a:spcPct val="150000"/>
              </a:lnSpc>
            </a:pPr>
            <a:r>
              <a:rPr lang="en-AU" altLang="zh-CN" sz="2500" dirty="0"/>
              <a:t>Your culture of isolated strain, </a:t>
            </a:r>
            <a:r>
              <a:rPr lang="en-AU" altLang="zh-CN" sz="2500" dirty="0" err="1"/>
              <a:t>labeled</a:t>
            </a:r>
            <a:r>
              <a:rPr lang="en-AU" altLang="zh-CN" sz="2500" dirty="0"/>
              <a:t> “</a:t>
            </a:r>
            <a:r>
              <a:rPr lang="en-AU" altLang="zh-CN" sz="2500" dirty="0">
                <a:solidFill>
                  <a:srgbClr val="FF0000"/>
                </a:solidFill>
              </a:rPr>
              <a:t>Y</a:t>
            </a:r>
            <a:r>
              <a:rPr lang="en-AU" altLang="zh-CN" sz="2500" dirty="0"/>
              <a:t>”.</a:t>
            </a:r>
            <a:endParaRPr lang="zh-CN" altLang="zh-CN" sz="2500" b="1" dirty="0"/>
          </a:p>
          <a:p>
            <a:pPr>
              <a:lnSpc>
                <a:spcPct val="150000"/>
              </a:lnSpc>
            </a:pPr>
            <a:r>
              <a:rPr lang="en-AU" altLang="zh-CN" sz="2500" dirty="0">
                <a:solidFill>
                  <a:srgbClr val="FF0000"/>
                </a:solidFill>
              </a:rPr>
              <a:t>10 </a:t>
            </a:r>
            <a:r>
              <a:rPr lang="en-AU" altLang="zh-CN" sz="2500" dirty="0" err="1">
                <a:solidFill>
                  <a:srgbClr val="FF0000"/>
                </a:solidFill>
              </a:rPr>
              <a:t>μL</a:t>
            </a:r>
            <a:r>
              <a:rPr lang="en-AU" altLang="zh-CN" sz="2500" dirty="0">
                <a:solidFill>
                  <a:srgbClr val="FF0000"/>
                </a:solidFill>
              </a:rPr>
              <a:t> pipette and tips </a:t>
            </a:r>
            <a:endParaRPr lang="zh-CN" altLang="en-US" sz="2500" dirty="0"/>
          </a:p>
        </p:txBody>
      </p:sp>
      <p:sp>
        <p:nvSpPr>
          <p:cNvPr id="5" name="Slide Number Placeholder 4"/>
          <p:cNvSpPr>
            <a:spLocks noGrp="1"/>
          </p:cNvSpPr>
          <p:nvPr>
            <p:ph type="sldNum" sz="quarter" idx="12"/>
          </p:nvPr>
        </p:nvSpPr>
        <p:spPr/>
        <p:txBody>
          <a:bodyPr/>
          <a:lstStyle/>
          <a:p>
            <a:fld id="{6526B107-EBDF-4E20-9556-D40CE74DF654}" type="slidenum">
              <a:rPr lang="en-AU" smtClean="0"/>
              <a:t>12</a:t>
            </a:fld>
            <a:endParaRPr lang="en-AU"/>
          </a:p>
        </p:txBody>
      </p:sp>
      <p:sp>
        <p:nvSpPr>
          <p:cNvPr id="4" name="文本框 3">
            <a:extLst>
              <a:ext uri="{FF2B5EF4-FFF2-40B4-BE49-F238E27FC236}">
                <a16:creationId xmlns:a16="http://schemas.microsoft.com/office/drawing/2014/main" id="{B4A520FD-3E29-4139-A5C8-6D46631B1DDD}"/>
              </a:ext>
            </a:extLst>
          </p:cNvPr>
          <p:cNvSpPr txBox="1"/>
          <p:nvPr/>
        </p:nvSpPr>
        <p:spPr>
          <a:xfrm>
            <a:off x="65837" y="47448"/>
            <a:ext cx="1800493" cy="369332"/>
          </a:xfrm>
          <a:prstGeom prst="rect">
            <a:avLst/>
          </a:prstGeom>
          <a:noFill/>
        </p:spPr>
        <p:txBody>
          <a:bodyPr wrap="none" rtlCol="0">
            <a:spAutoFit/>
          </a:bodyPr>
          <a:lstStyle/>
          <a:p>
            <a:r>
              <a:rPr lang="zh-CN" altLang="en-US" dirty="0">
                <a:solidFill>
                  <a:srgbClr val="FF0000"/>
                </a:solidFill>
              </a:rPr>
              <a:t>上周实验内容：</a:t>
            </a:r>
          </a:p>
        </p:txBody>
      </p:sp>
    </p:spTree>
    <p:extLst>
      <p:ext uri="{BB962C8B-B14F-4D97-AF65-F5344CB8AC3E}">
        <p14:creationId xmlns:p14="http://schemas.microsoft.com/office/powerpoint/2010/main" val="24276805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020728" y="1845655"/>
            <a:ext cx="7704856" cy="224676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altLang="zh-CN" sz="2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EXP. 12B</a:t>
            </a:r>
            <a:endParaRPr kumimoji="0" lang="zh-CN" altLang="zh-CN" sz="2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altLang="zh-CN" sz="2800" b="1" i="0" u="none" strike="noStrike" kern="1200" cap="all" spc="0" normalizeH="0" baseline="0" noProof="0" dirty="0">
                <a:ln>
                  <a:noFill/>
                </a:ln>
                <a:solidFill>
                  <a:prstClr val="black"/>
                </a:solidFill>
                <a:effectLst/>
                <a:uLnTx/>
                <a:uFillTx/>
                <a:latin typeface="Calibri"/>
                <a:ea typeface="宋体" panose="02010600030101010101" pitchFamily="2" charset="-122"/>
                <a:cs typeface="+mn-cs"/>
              </a:rPr>
              <a:t>Materials</a:t>
            </a:r>
            <a:endParaRPr kumimoji="0" lang="zh-CN" altLang="zh-CN" sz="2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CN" sz="2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2 </a:t>
            </a:r>
            <a:r>
              <a:rPr kumimoji="0" lang="en-US" altLang="zh-CN" sz="2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a:t>
            </a:r>
            <a:r>
              <a:rPr kumimoji="0" lang="en-US" altLang="zh-CN" sz="2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Iodine reagent in a 5 mL tube </a:t>
            </a:r>
            <a:endParaRPr kumimoji="0" lang="zh-CN" altLang="zh-CN" sz="2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CN" sz="2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Inoculated starch plates from Exp 12A</a:t>
            </a:r>
            <a:endParaRPr kumimoji="0" lang="zh-CN" altLang="zh-CN" sz="2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CN" sz="2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Piece of white paper</a:t>
            </a:r>
            <a:endParaRPr kumimoji="0" lang="zh-CN" altLang="zh-CN" sz="2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p:txBody>
      </p:sp>
      <p:sp>
        <p:nvSpPr>
          <p:cNvPr id="7" name="矩形 6"/>
          <p:cNvSpPr/>
          <p:nvPr/>
        </p:nvSpPr>
        <p:spPr>
          <a:xfrm>
            <a:off x="1598750" y="768437"/>
            <a:ext cx="8629616" cy="1077218"/>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altLang="zh-CN" sz="3200" b="1" i="0" u="none" strike="noStrike" kern="1200" cap="none" spc="0" normalizeH="0" baseline="0" noProof="0" dirty="0">
                <a:ln>
                  <a:noFill/>
                </a:ln>
                <a:solidFill>
                  <a:srgbClr val="0070C0"/>
                </a:solidFill>
                <a:effectLst/>
                <a:uLnTx/>
                <a:uFillTx/>
                <a:latin typeface="Calibri"/>
                <a:ea typeface="宋体" panose="02010600030101010101" pitchFamily="2" charset="-122"/>
                <a:cs typeface="+mn-cs"/>
              </a:rPr>
              <a:t>EXPERIMENT 12: α-amylase, an industrial enzyme produced by marine bacteria</a:t>
            </a:r>
            <a:endParaRPr kumimoji="0" lang="zh-CN" altLang="zh-CN" sz="3200" b="1" i="0" u="none" strike="noStrike" kern="1200" cap="none" spc="0" normalizeH="0" baseline="0" noProof="0" dirty="0">
              <a:ln>
                <a:noFill/>
              </a:ln>
              <a:solidFill>
                <a:srgbClr val="0070C0"/>
              </a:solidFill>
              <a:effectLst/>
              <a:uLnTx/>
              <a:uFillTx/>
              <a:latin typeface="Calibri"/>
              <a:ea typeface="宋体" panose="02010600030101010101" pitchFamily="2" charset="-122"/>
              <a:cs typeface="+mn-cs"/>
            </a:endParaRPr>
          </a:p>
        </p:txBody>
      </p:sp>
      <p:pic>
        <p:nvPicPr>
          <p:cNvPr id="8" name="图片 7" descr="C:\Users\Administrator\Desktop\图片1.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68887" y="3960678"/>
            <a:ext cx="4611757" cy="2307599"/>
          </a:xfrm>
          <a:prstGeom prst="rect">
            <a:avLst/>
          </a:prstGeom>
          <a:noFill/>
          <a:ln>
            <a:noFill/>
          </a:ln>
        </p:spPr>
      </p:pic>
      <p:sp>
        <p:nvSpPr>
          <p:cNvPr id="5" name="文本框 4">
            <a:extLst>
              <a:ext uri="{FF2B5EF4-FFF2-40B4-BE49-F238E27FC236}">
                <a16:creationId xmlns:a16="http://schemas.microsoft.com/office/drawing/2014/main" id="{DAB00890-D587-486E-B0A0-5A1AFCCAD88F}"/>
              </a:ext>
            </a:extLst>
          </p:cNvPr>
          <p:cNvSpPr txBox="1"/>
          <p:nvPr/>
        </p:nvSpPr>
        <p:spPr>
          <a:xfrm>
            <a:off x="65837" y="47448"/>
            <a:ext cx="2698175" cy="523220"/>
          </a:xfrm>
          <a:prstGeom prst="rect">
            <a:avLst/>
          </a:prstGeom>
          <a:noFill/>
        </p:spPr>
        <p:txBody>
          <a:bodyPr wrap="none" rtlCol="0">
            <a:spAutoFit/>
          </a:bodyPr>
          <a:lstStyle/>
          <a:p>
            <a:r>
              <a:rPr lang="zh-CN" altLang="en-US" sz="2800" b="1" dirty="0">
                <a:solidFill>
                  <a:srgbClr val="FF0000"/>
                </a:solidFill>
                <a:latin typeface="微软雅黑" panose="020B0503020204020204" pitchFamily="34" charset="-122"/>
                <a:ea typeface="微软雅黑" panose="020B0503020204020204" pitchFamily="34" charset="-122"/>
              </a:rPr>
              <a:t>今天实验内容：</a:t>
            </a:r>
          </a:p>
        </p:txBody>
      </p:sp>
    </p:spTree>
    <p:extLst>
      <p:ext uri="{BB962C8B-B14F-4D97-AF65-F5344CB8AC3E}">
        <p14:creationId xmlns:p14="http://schemas.microsoft.com/office/powerpoint/2010/main" val="14943914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29072" y="238454"/>
            <a:ext cx="11004177" cy="523220"/>
          </a:xfrm>
          <a:prstGeom prst="rect">
            <a:avLst/>
          </a:prstGeom>
        </p:spPr>
        <p:txBody>
          <a:bodyPr wrap="square">
            <a:spAutoFit/>
          </a:bodyPr>
          <a:lstStyle/>
          <a:p>
            <a:pPr defTabSz="687070"/>
            <a:r>
              <a:rPr lang="en-US" altLang="zh-CN" sz="2800" b="1" dirty="0"/>
              <a:t>EXPERIMENT 13: Marine microbes in pollution control </a:t>
            </a:r>
          </a:p>
        </p:txBody>
      </p:sp>
      <p:sp>
        <p:nvSpPr>
          <p:cNvPr id="6" name="矩形 5"/>
          <p:cNvSpPr/>
          <p:nvPr/>
        </p:nvSpPr>
        <p:spPr>
          <a:xfrm>
            <a:off x="600634" y="761674"/>
            <a:ext cx="11113274" cy="5547160"/>
          </a:xfrm>
          <a:prstGeom prst="rect">
            <a:avLst/>
          </a:prstGeom>
        </p:spPr>
        <p:txBody>
          <a:bodyPr wrap="square">
            <a:spAutoFit/>
          </a:bodyPr>
          <a:lstStyle/>
          <a:p>
            <a:r>
              <a:rPr lang="zh-CN" altLang="en-US" sz="2800" b="1" dirty="0">
                <a:solidFill>
                  <a:srgbClr val="FF0000"/>
                </a:solidFill>
                <a:sym typeface="+mn-ea"/>
              </a:rPr>
              <a:t>上周实验内容</a:t>
            </a:r>
            <a:r>
              <a:rPr lang="zh-CN" altLang="en-US" sz="2800" b="1" dirty="0">
                <a:solidFill>
                  <a:srgbClr val="0000CC"/>
                </a:solidFill>
                <a:sym typeface="+mn-ea"/>
              </a:rPr>
              <a:t>：   </a:t>
            </a:r>
            <a:r>
              <a:rPr lang="en-US" altLang="zh-CN" sz="2800" b="1" dirty="0">
                <a:solidFill>
                  <a:srgbClr val="0000CC"/>
                </a:solidFill>
                <a:sym typeface="+mn-ea"/>
              </a:rPr>
              <a:t>Expt. 13A</a:t>
            </a:r>
            <a:endParaRPr lang="en-AU" altLang="zh-CN" sz="2800" b="1" cap="all" dirty="0"/>
          </a:p>
          <a:p>
            <a:pPr>
              <a:lnSpc>
                <a:spcPct val="150000"/>
              </a:lnSpc>
            </a:pPr>
            <a:r>
              <a:rPr lang="en-AU" altLang="zh-CN" sz="2000" b="1" cap="all" dirty="0"/>
              <a:t>Materials</a:t>
            </a:r>
            <a:endParaRPr lang="zh-CN" altLang="zh-CN" sz="2000" b="1" dirty="0"/>
          </a:p>
          <a:p>
            <a:pPr algn="just">
              <a:lnSpc>
                <a:spcPct val="150000"/>
              </a:lnSpc>
            </a:pPr>
            <a:r>
              <a:rPr lang="en-US" altLang="zh-CN" sz="2000" dirty="0"/>
              <a:t>1 × LB agar plate (</a:t>
            </a:r>
            <a:r>
              <a:rPr lang="en-US" altLang="zh-CN" sz="2000" b="1" dirty="0"/>
              <a:t>labeled “</a:t>
            </a:r>
            <a:r>
              <a:rPr lang="en-US" altLang="zh-CN" sz="2000" dirty="0">
                <a:solidFill>
                  <a:srgbClr val="FF0000"/>
                </a:solidFill>
              </a:rPr>
              <a:t>LB</a:t>
            </a:r>
            <a:r>
              <a:rPr lang="en-US" altLang="zh-CN" sz="2000" b="1" dirty="0"/>
              <a:t>”</a:t>
            </a:r>
            <a:r>
              <a:rPr lang="en-US" altLang="zh-CN" sz="2000" dirty="0"/>
              <a:t>)</a:t>
            </a:r>
            <a:endParaRPr lang="zh-CN" altLang="zh-CN" sz="2000" dirty="0"/>
          </a:p>
          <a:p>
            <a:pPr algn="just">
              <a:lnSpc>
                <a:spcPct val="150000"/>
              </a:lnSpc>
            </a:pPr>
            <a:r>
              <a:rPr lang="en-US" altLang="zh-CN" sz="2000" dirty="0"/>
              <a:t>1 × LB plus Oil plate (</a:t>
            </a:r>
            <a:r>
              <a:rPr lang="en-US" altLang="zh-CN" sz="2000" b="1" dirty="0"/>
              <a:t>labeled “</a:t>
            </a:r>
            <a:r>
              <a:rPr lang="en-US" altLang="zh-CN" sz="2000" dirty="0">
                <a:solidFill>
                  <a:srgbClr val="FF0000"/>
                </a:solidFill>
              </a:rPr>
              <a:t>OIL</a:t>
            </a:r>
            <a:r>
              <a:rPr lang="en-US" altLang="zh-CN" sz="2000" b="1" dirty="0"/>
              <a:t>”</a:t>
            </a:r>
            <a:r>
              <a:rPr lang="en-US" altLang="zh-CN" sz="2000" dirty="0"/>
              <a:t>)</a:t>
            </a:r>
            <a:endParaRPr lang="zh-CN" altLang="zh-CN" sz="2000" dirty="0"/>
          </a:p>
          <a:p>
            <a:pPr algn="just">
              <a:lnSpc>
                <a:spcPct val="150000"/>
              </a:lnSpc>
            </a:pPr>
            <a:r>
              <a:rPr lang="en-US" altLang="zh-CN" sz="2000" dirty="0"/>
              <a:t>1 × LB plus Neutral Red plate (</a:t>
            </a:r>
            <a:r>
              <a:rPr lang="en-US" altLang="zh-CN" sz="2000" b="1" dirty="0"/>
              <a:t>labeled “</a:t>
            </a:r>
            <a:r>
              <a:rPr lang="en-US" altLang="zh-CN" sz="2000" dirty="0">
                <a:solidFill>
                  <a:srgbClr val="FF0000"/>
                </a:solidFill>
              </a:rPr>
              <a:t>NB</a:t>
            </a:r>
            <a:r>
              <a:rPr lang="en-US" altLang="zh-CN" sz="2000" b="1" dirty="0"/>
              <a:t>”</a:t>
            </a:r>
            <a:r>
              <a:rPr lang="en-US" altLang="zh-CN" sz="2000" dirty="0"/>
              <a:t>)</a:t>
            </a:r>
            <a:endParaRPr lang="zh-CN" altLang="zh-CN" sz="2000" dirty="0"/>
          </a:p>
          <a:p>
            <a:pPr algn="just">
              <a:lnSpc>
                <a:spcPct val="150000"/>
              </a:lnSpc>
            </a:pPr>
            <a:r>
              <a:rPr lang="en-US" altLang="zh-CN" sz="2000" dirty="0"/>
              <a:t>1 × LB plus Oil and Neutral Red plate (</a:t>
            </a:r>
            <a:r>
              <a:rPr lang="en-US" altLang="zh-CN" sz="2000" b="1" dirty="0"/>
              <a:t>labeled “</a:t>
            </a:r>
            <a:r>
              <a:rPr lang="en-US" altLang="zh-CN" sz="2000" dirty="0">
                <a:solidFill>
                  <a:srgbClr val="FF0000"/>
                </a:solidFill>
              </a:rPr>
              <a:t>OIL/NB</a:t>
            </a:r>
            <a:r>
              <a:rPr lang="en-US" altLang="zh-CN" sz="2000" b="1" dirty="0"/>
              <a:t>”</a:t>
            </a:r>
            <a:r>
              <a:rPr lang="en-US" altLang="zh-CN" sz="2000" dirty="0"/>
              <a:t>)</a:t>
            </a:r>
            <a:endParaRPr lang="zh-CN" altLang="zh-CN" sz="2000" dirty="0"/>
          </a:p>
          <a:p>
            <a:pPr algn="just">
              <a:lnSpc>
                <a:spcPct val="150000"/>
              </a:lnSpc>
            </a:pPr>
            <a:r>
              <a:rPr lang="en-US" altLang="zh-CN" sz="2000" dirty="0"/>
              <a:t>Fresh liquid culture of </a:t>
            </a:r>
            <a:r>
              <a:rPr lang="en-US" altLang="zh-CN" sz="2000" b="1" i="1" dirty="0">
                <a:solidFill>
                  <a:srgbClr val="FF0000"/>
                </a:solidFill>
              </a:rPr>
              <a:t>P</a:t>
            </a:r>
            <a:r>
              <a:rPr lang="en-US" altLang="zh-CN" sz="2000" i="1" dirty="0"/>
              <a:t>seudomonas </a:t>
            </a:r>
            <a:r>
              <a:rPr lang="en-US" altLang="zh-CN" sz="2000" b="1" i="1" dirty="0" err="1">
                <a:solidFill>
                  <a:srgbClr val="FF0000"/>
                </a:solidFill>
              </a:rPr>
              <a:t>a</a:t>
            </a:r>
            <a:r>
              <a:rPr lang="en-US" altLang="zh-CN" sz="2000" i="1" dirty="0" err="1"/>
              <a:t>eruginosa</a:t>
            </a:r>
            <a:r>
              <a:rPr lang="en-US" altLang="zh-CN" sz="2000" i="1" dirty="0"/>
              <a:t> </a:t>
            </a:r>
            <a:r>
              <a:rPr lang="en-US" altLang="zh-CN" sz="2000" dirty="0"/>
              <a:t>in 1.5 mL tube </a:t>
            </a:r>
            <a:endParaRPr lang="zh-CN" altLang="zh-CN" sz="2000" dirty="0"/>
          </a:p>
          <a:p>
            <a:pPr algn="just">
              <a:lnSpc>
                <a:spcPct val="150000"/>
              </a:lnSpc>
            </a:pPr>
            <a:r>
              <a:rPr lang="en-US" altLang="zh-CN" sz="2000" dirty="0"/>
              <a:t>(</a:t>
            </a:r>
            <a:r>
              <a:rPr lang="en-US" altLang="zh-CN" sz="2000" b="1" dirty="0"/>
              <a:t>labeled “</a:t>
            </a:r>
            <a:r>
              <a:rPr lang="en-US" altLang="zh-CN" sz="2000" dirty="0">
                <a:solidFill>
                  <a:srgbClr val="FF0000"/>
                </a:solidFill>
              </a:rPr>
              <a:t>Pa</a:t>
            </a:r>
            <a:r>
              <a:rPr lang="en-US" altLang="zh-CN" sz="2000" dirty="0"/>
              <a:t> </a:t>
            </a:r>
            <a:r>
              <a:rPr lang="en-US" altLang="zh-CN" sz="2000" b="1" dirty="0"/>
              <a:t>”</a:t>
            </a:r>
            <a:r>
              <a:rPr lang="en-US" altLang="zh-CN" sz="2000" dirty="0"/>
              <a:t>)</a:t>
            </a:r>
            <a:endParaRPr lang="zh-CN" altLang="zh-CN" sz="2000" dirty="0"/>
          </a:p>
          <a:p>
            <a:pPr algn="just">
              <a:lnSpc>
                <a:spcPct val="150000"/>
              </a:lnSpc>
            </a:pPr>
            <a:r>
              <a:rPr lang="en-US" altLang="zh-CN" sz="2000" dirty="0"/>
              <a:t>Fresh liquid culture of </a:t>
            </a:r>
            <a:r>
              <a:rPr lang="en-US" altLang="zh-CN" sz="2000" b="1" i="1" dirty="0">
                <a:solidFill>
                  <a:srgbClr val="FF0000"/>
                </a:solidFill>
              </a:rPr>
              <a:t>S</a:t>
            </a:r>
            <a:r>
              <a:rPr lang="en-US" altLang="zh-CN" sz="2000" i="1" dirty="0"/>
              <a:t>taphylococcus </a:t>
            </a:r>
            <a:r>
              <a:rPr lang="en-US" altLang="zh-CN" sz="2000" b="1" i="1" dirty="0" err="1">
                <a:solidFill>
                  <a:srgbClr val="FF0000"/>
                </a:solidFill>
              </a:rPr>
              <a:t>e</a:t>
            </a:r>
            <a:r>
              <a:rPr lang="en-US" altLang="zh-CN" sz="2000" i="1" dirty="0" err="1"/>
              <a:t>pidermidis</a:t>
            </a:r>
            <a:r>
              <a:rPr lang="en-US" altLang="zh-CN" sz="2000" i="1" dirty="0"/>
              <a:t> </a:t>
            </a:r>
            <a:r>
              <a:rPr lang="en-US" altLang="zh-CN" sz="2000" dirty="0"/>
              <a:t>in 1.5 mL tube </a:t>
            </a:r>
            <a:endParaRPr lang="zh-CN" altLang="zh-CN" sz="2000" dirty="0"/>
          </a:p>
          <a:p>
            <a:pPr algn="just">
              <a:lnSpc>
                <a:spcPct val="150000"/>
              </a:lnSpc>
            </a:pPr>
            <a:r>
              <a:rPr lang="en-US" altLang="zh-CN" sz="2000" dirty="0"/>
              <a:t>(</a:t>
            </a:r>
            <a:r>
              <a:rPr lang="en-US" altLang="zh-CN" sz="2000" b="1" dirty="0"/>
              <a:t>labeled “</a:t>
            </a:r>
            <a:r>
              <a:rPr lang="en-US" altLang="zh-CN" sz="2000" dirty="0">
                <a:solidFill>
                  <a:srgbClr val="FF0000"/>
                </a:solidFill>
              </a:rPr>
              <a:t>Se</a:t>
            </a:r>
            <a:r>
              <a:rPr lang="en-US" altLang="zh-CN" sz="2000" b="1" dirty="0"/>
              <a:t>”</a:t>
            </a:r>
            <a:r>
              <a:rPr lang="en-US" altLang="zh-CN" sz="2000" dirty="0"/>
              <a:t>)</a:t>
            </a:r>
            <a:endParaRPr lang="zh-CN" altLang="zh-CN" sz="2000" dirty="0"/>
          </a:p>
          <a:p>
            <a:pPr algn="just">
              <a:lnSpc>
                <a:spcPct val="150000"/>
              </a:lnSpc>
            </a:pPr>
            <a:r>
              <a:rPr lang="en-US" altLang="zh-CN" sz="2000" dirty="0"/>
              <a:t>Fresh liquid culture of </a:t>
            </a:r>
            <a:r>
              <a:rPr lang="en-US" altLang="zh-CN" sz="2000" b="1" i="1" dirty="0">
                <a:solidFill>
                  <a:srgbClr val="FF0000"/>
                </a:solidFill>
              </a:rPr>
              <a:t>E</a:t>
            </a:r>
            <a:r>
              <a:rPr lang="en-US" altLang="zh-CN" sz="2000" i="1" dirty="0"/>
              <a:t>. </a:t>
            </a:r>
            <a:r>
              <a:rPr lang="en-US" altLang="zh-CN" sz="2000" b="1" i="1" dirty="0">
                <a:solidFill>
                  <a:srgbClr val="FF0000"/>
                </a:solidFill>
              </a:rPr>
              <a:t>c</a:t>
            </a:r>
            <a:r>
              <a:rPr lang="en-US" altLang="zh-CN" sz="2000" i="1" dirty="0"/>
              <a:t>oli</a:t>
            </a:r>
            <a:r>
              <a:rPr lang="en-US" altLang="zh-CN" sz="2000" dirty="0"/>
              <a:t> in 1.5 mL tube      (</a:t>
            </a:r>
            <a:r>
              <a:rPr lang="en-US" altLang="zh-CN" sz="2000" b="1" dirty="0"/>
              <a:t>labeled “</a:t>
            </a:r>
            <a:r>
              <a:rPr lang="en-US" altLang="zh-CN" sz="2000" dirty="0" err="1">
                <a:solidFill>
                  <a:srgbClr val="FF0000"/>
                </a:solidFill>
              </a:rPr>
              <a:t>Ec</a:t>
            </a:r>
            <a:r>
              <a:rPr lang="en-US" altLang="zh-CN" sz="2000" b="1" dirty="0"/>
              <a:t>”</a:t>
            </a:r>
            <a:r>
              <a:rPr lang="en-US" altLang="zh-CN" sz="2000" dirty="0"/>
              <a:t>)</a:t>
            </a:r>
            <a:endParaRPr lang="zh-CN" altLang="zh-CN" sz="2000" dirty="0"/>
          </a:p>
          <a:p>
            <a:pPr algn="just">
              <a:lnSpc>
                <a:spcPct val="150000"/>
              </a:lnSpc>
            </a:pPr>
            <a:r>
              <a:rPr lang="en-US" altLang="zh-CN" sz="2000" dirty="0"/>
              <a:t>Fresh liquid culture of your strain in liquid culture  (</a:t>
            </a:r>
            <a:r>
              <a:rPr lang="en-US" altLang="zh-CN" sz="2000" b="1" dirty="0"/>
              <a:t>labeled “</a:t>
            </a:r>
            <a:r>
              <a:rPr lang="en-US" altLang="zh-CN" sz="2000" dirty="0">
                <a:solidFill>
                  <a:srgbClr val="FF0000"/>
                </a:solidFill>
              </a:rPr>
              <a:t>Y</a:t>
            </a:r>
            <a:r>
              <a:rPr lang="en-US" altLang="zh-CN" sz="2000" dirty="0"/>
              <a:t> </a:t>
            </a:r>
            <a:r>
              <a:rPr lang="en-US" altLang="zh-CN" sz="2000" b="1" dirty="0"/>
              <a:t>”</a:t>
            </a:r>
            <a:r>
              <a:rPr lang="en-US" altLang="zh-CN" sz="2000" dirty="0"/>
              <a:t>)</a:t>
            </a:r>
            <a:endParaRPr lang="zh-CN" altLang="zh-CN" sz="2000" dirty="0"/>
          </a:p>
        </p:txBody>
      </p:sp>
    </p:spTree>
    <p:extLst>
      <p:ext uri="{BB962C8B-B14F-4D97-AF65-F5344CB8AC3E}">
        <p14:creationId xmlns:p14="http://schemas.microsoft.com/office/powerpoint/2010/main" val="14370418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C:\Users\Administrator\Desktop\图片1.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46423" y="1199251"/>
            <a:ext cx="4235368" cy="1855376"/>
          </a:xfrm>
          <a:prstGeom prst="rect">
            <a:avLst/>
          </a:prstGeom>
          <a:noFill/>
          <a:ln>
            <a:noFill/>
          </a:ln>
        </p:spPr>
      </p:pic>
      <p:sp>
        <p:nvSpPr>
          <p:cNvPr id="3" name="矩形 2"/>
          <p:cNvSpPr/>
          <p:nvPr/>
        </p:nvSpPr>
        <p:spPr>
          <a:xfrm>
            <a:off x="432832" y="1264137"/>
            <a:ext cx="10715708"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070C0"/>
                </a:solidFill>
                <a:effectLst/>
                <a:uLnTx/>
                <a:uFillTx/>
                <a:latin typeface="Calibri"/>
                <a:ea typeface="宋体" panose="02010600030101010101" pitchFamily="2" charset="-122"/>
                <a:cs typeface="+mn-cs"/>
                <a:sym typeface="+mn-ea"/>
              </a:rPr>
              <a:t>Expt. 13B</a:t>
            </a:r>
            <a:endParaRPr kumimoji="0" lang="en-US" altLang="zh-CN" sz="2400" b="1" i="0" u="none" strike="noStrike" kern="1200" cap="none" spc="0" normalizeH="0" baseline="0" noProof="0" dirty="0">
              <a:ln>
                <a:noFill/>
              </a:ln>
              <a:solidFill>
                <a:srgbClr val="0070C0"/>
              </a:solidFill>
              <a:effectLst/>
              <a:uLnTx/>
              <a:uFillTx/>
              <a:latin typeface="Calibri"/>
              <a:ea typeface="宋体" panose="02010600030101010101" pitchFamily="2" charset="-122"/>
              <a:cs typeface="+mn-cs"/>
            </a:endParaRPr>
          </a:p>
        </p:txBody>
      </p:sp>
      <p:sp>
        <p:nvSpPr>
          <p:cNvPr id="4" name="矩形 3"/>
          <p:cNvSpPr/>
          <p:nvPr/>
        </p:nvSpPr>
        <p:spPr>
          <a:xfrm>
            <a:off x="1134809" y="602525"/>
            <a:ext cx="11004177" cy="58477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rgbClr val="0070C0"/>
                </a:solidFill>
                <a:effectLst/>
                <a:uLnTx/>
                <a:uFillTx/>
                <a:latin typeface="Calibri"/>
                <a:ea typeface="宋体" panose="02010600030101010101" pitchFamily="2" charset="-122"/>
                <a:cs typeface="+mn-cs"/>
              </a:rPr>
              <a:t>EXPERIMENT 13: Marine microbes in pollution control </a:t>
            </a:r>
          </a:p>
        </p:txBody>
      </p:sp>
      <p:sp>
        <p:nvSpPr>
          <p:cNvPr id="6" name="文本框 5">
            <a:extLst>
              <a:ext uri="{FF2B5EF4-FFF2-40B4-BE49-F238E27FC236}">
                <a16:creationId xmlns:a16="http://schemas.microsoft.com/office/drawing/2014/main" id="{7D5CC9CF-824A-4631-8658-D80C8B8C889E}"/>
              </a:ext>
            </a:extLst>
          </p:cNvPr>
          <p:cNvSpPr txBox="1"/>
          <p:nvPr/>
        </p:nvSpPr>
        <p:spPr>
          <a:xfrm>
            <a:off x="451687" y="1784538"/>
            <a:ext cx="7494104" cy="878895"/>
          </a:xfrm>
          <a:prstGeom prst="rect">
            <a:avLst/>
          </a:prstGeom>
          <a:noFill/>
        </p:spPr>
        <p:txBody>
          <a:bodyPr wrap="square">
            <a:spAutoFit/>
          </a:bodyPr>
          <a:lstStyle/>
          <a:p>
            <a:pPr marL="342900" marR="0" lvl="0" indent="-342900" algn="just" defTabSz="914400" rtl="0" eaLnBrk="1" fontAlgn="auto" latinLnBrk="0" hangingPunct="1">
              <a:lnSpc>
                <a:spcPct val="150000"/>
              </a:lnSpc>
              <a:spcBef>
                <a:spcPts val="0"/>
              </a:spcBef>
              <a:spcAft>
                <a:spcPts val="0"/>
              </a:spcAft>
              <a:buClrTx/>
              <a:buSzTx/>
              <a:buFont typeface="Times New Roman" panose="02020603050405020304" pitchFamily="18" charset="0"/>
              <a:buAutoNum type="arabicPeriod"/>
              <a:tabLst/>
              <a:defRPr/>
            </a:pPr>
            <a:r>
              <a:rPr kumimoji="0" lang="en-AU" altLang="zh-CN" sz="1800" b="0" i="0" u="none" strike="noStrike" kern="1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Observe </a:t>
            </a:r>
            <a:r>
              <a:rPr kumimoji="0" lang="en-US" altLang="zh-CN" sz="1800" b="0" i="0" u="none" strike="noStrike" kern="1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and record the change of the color around/on the strains.</a:t>
            </a:r>
            <a:endParaRPr kumimoji="0" lang="zh-CN" altLang="zh-CN" sz="1400" b="0"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gn="just" defTabSz="914400" rtl="0" eaLnBrk="1" fontAlgn="auto" latinLnBrk="0" hangingPunct="1">
              <a:lnSpc>
                <a:spcPct val="150000"/>
              </a:lnSpc>
              <a:spcBef>
                <a:spcPts val="0"/>
              </a:spcBef>
              <a:spcAft>
                <a:spcPts val="0"/>
              </a:spcAft>
              <a:buClrTx/>
              <a:buSzTx/>
              <a:buFont typeface="Times New Roman" panose="02020603050405020304" pitchFamily="18" charset="0"/>
              <a:buAutoNum type="arabicPeriod"/>
              <a:tabLst/>
              <a:defRPr/>
            </a:pPr>
            <a:r>
              <a:rPr kumimoji="0" lang="en-US" altLang="zh-CN" sz="1800" b="0" i="0" u="none" strike="noStrike" kern="1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Record results in worksheet 13.</a:t>
            </a:r>
            <a:endPar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p:txBody>
      </p:sp>
      <p:pic>
        <p:nvPicPr>
          <p:cNvPr id="8" name="图片 7">
            <a:extLst>
              <a:ext uri="{FF2B5EF4-FFF2-40B4-BE49-F238E27FC236}">
                <a16:creationId xmlns:a16="http://schemas.microsoft.com/office/drawing/2014/main" id="{FD070A29-FD99-4CD3-BF84-268B7F160EE2}"/>
              </a:ext>
            </a:extLst>
          </p:cNvPr>
          <p:cNvPicPr>
            <a:picLocks noChangeAspect="1"/>
          </p:cNvPicPr>
          <p:nvPr/>
        </p:nvPicPr>
        <p:blipFill>
          <a:blip r:embed="rId3"/>
          <a:stretch>
            <a:fillRect/>
          </a:stretch>
        </p:blipFill>
        <p:spPr>
          <a:xfrm>
            <a:off x="38305" y="3014588"/>
            <a:ext cx="6773312" cy="3510845"/>
          </a:xfrm>
          <a:prstGeom prst="rect">
            <a:avLst/>
          </a:prstGeom>
        </p:spPr>
      </p:pic>
      <p:cxnSp>
        <p:nvCxnSpPr>
          <p:cNvPr id="10" name="直接箭头连接符 9">
            <a:extLst>
              <a:ext uri="{FF2B5EF4-FFF2-40B4-BE49-F238E27FC236}">
                <a16:creationId xmlns:a16="http://schemas.microsoft.com/office/drawing/2014/main" id="{FC76FC98-A5C2-466D-96A9-BD74A63D445E}"/>
              </a:ext>
            </a:extLst>
          </p:cNvPr>
          <p:cNvCxnSpPr>
            <a:cxnSpLocks/>
          </p:cNvCxnSpPr>
          <p:nvPr/>
        </p:nvCxnSpPr>
        <p:spPr>
          <a:xfrm>
            <a:off x="6096000" y="3591588"/>
            <a:ext cx="861690" cy="3051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9CA79BF4-1721-4D1D-95A1-9636FA683665}"/>
              </a:ext>
            </a:extLst>
          </p:cNvPr>
          <p:cNvSpPr txBox="1"/>
          <p:nvPr/>
        </p:nvSpPr>
        <p:spPr>
          <a:xfrm>
            <a:off x="6636898" y="3896699"/>
            <a:ext cx="5422181" cy="874407"/>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表型</a:t>
            </a:r>
            <a:endParaRPr kumimoji="0" lang="en-US" altLang="zh-CN" sz="18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包括菌的颜色，菌落上是否有油点，油点的颜色等</a:t>
            </a:r>
          </a:p>
        </p:txBody>
      </p:sp>
      <p:sp>
        <p:nvSpPr>
          <p:cNvPr id="9" name="文本框 8">
            <a:extLst>
              <a:ext uri="{FF2B5EF4-FFF2-40B4-BE49-F238E27FC236}">
                <a16:creationId xmlns:a16="http://schemas.microsoft.com/office/drawing/2014/main" id="{05538514-8092-4615-8F48-1AEAF16F04D5}"/>
              </a:ext>
            </a:extLst>
          </p:cNvPr>
          <p:cNvSpPr txBox="1"/>
          <p:nvPr/>
        </p:nvSpPr>
        <p:spPr>
          <a:xfrm>
            <a:off x="182880" y="84663"/>
            <a:ext cx="2698175" cy="523220"/>
          </a:xfrm>
          <a:prstGeom prst="rect">
            <a:avLst/>
          </a:prstGeom>
          <a:noFill/>
        </p:spPr>
        <p:txBody>
          <a:bodyPr wrap="none" rtlCol="0">
            <a:spAutoFit/>
          </a:bodyPr>
          <a:lstStyle/>
          <a:p>
            <a:r>
              <a:rPr lang="zh-CN" altLang="en-US" sz="2800" b="1" dirty="0">
                <a:solidFill>
                  <a:srgbClr val="FF0000"/>
                </a:solidFill>
                <a:latin typeface="微软雅黑" panose="020B0503020204020204" pitchFamily="34" charset="-122"/>
                <a:ea typeface="微软雅黑" panose="020B0503020204020204" pitchFamily="34" charset="-122"/>
              </a:rPr>
              <a:t>今天实验内容：</a:t>
            </a:r>
          </a:p>
        </p:txBody>
      </p:sp>
    </p:spTree>
    <p:extLst>
      <p:ext uri="{BB962C8B-B14F-4D97-AF65-F5344CB8AC3E}">
        <p14:creationId xmlns:p14="http://schemas.microsoft.com/office/powerpoint/2010/main" val="4209094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8E86A20-3CEF-4EB4-9F7C-3C34654DDA44}"/>
              </a:ext>
            </a:extLst>
          </p:cNvPr>
          <p:cNvSpPr txBox="1"/>
          <p:nvPr/>
        </p:nvSpPr>
        <p:spPr>
          <a:xfrm>
            <a:off x="771708" y="2014660"/>
            <a:ext cx="9754865" cy="1957524"/>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a:t>
            </a:r>
            <a:r>
              <a:rPr kumimoji="0" lang="zh-CN" altLang="en-US" sz="2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下周二前 </a:t>
            </a:r>
            <a:r>
              <a:rPr kumimoji="0" lang="en-US" altLang="zh-CN" sz="2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(11</a:t>
            </a:r>
            <a:r>
              <a:rPr kumimoji="0" lang="zh-CN" altLang="en-US" sz="2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月</a:t>
            </a:r>
            <a:r>
              <a:rPr lang="en-US" altLang="zh-CN" sz="2800" dirty="0">
                <a:solidFill>
                  <a:prstClr val="black"/>
                </a:solidFill>
                <a:latin typeface="Calibri"/>
                <a:ea typeface="宋体" panose="02010600030101010101" pitchFamily="2" charset="-122"/>
              </a:rPr>
              <a:t>26</a:t>
            </a:r>
            <a:r>
              <a:rPr kumimoji="0" lang="zh-CN" altLang="en-US" sz="2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日</a:t>
            </a:r>
            <a:r>
              <a:rPr lang="en-US" altLang="zh-CN" sz="2800" dirty="0">
                <a:solidFill>
                  <a:prstClr val="black"/>
                </a:solidFill>
                <a:latin typeface="Calibri"/>
                <a:ea typeface="宋体" panose="02010600030101010101" pitchFamily="2" charset="-122"/>
              </a:rPr>
              <a:t>18</a:t>
            </a:r>
            <a:r>
              <a:rPr kumimoji="0" lang="en-US" altLang="zh-CN" sz="2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t>
            </a:r>
            <a:r>
              <a:rPr kumimoji="0" lang="zh-CN" altLang="en-US" sz="2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点前</a:t>
            </a:r>
            <a:r>
              <a:rPr kumimoji="0" lang="en-US" altLang="zh-CN" sz="2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t>
            </a:r>
            <a:r>
              <a:rPr kumimoji="0" lang="zh-CN" altLang="en-US" sz="2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提交</a:t>
            </a:r>
            <a:r>
              <a:rPr kumimoji="0" lang="en-US" altLang="zh-CN" sz="2800" b="0"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rPr>
              <a:t>EXP 12</a:t>
            </a:r>
            <a:r>
              <a:rPr kumimoji="0" lang="zh-CN" altLang="en-US" sz="2800" b="0"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rPr>
              <a:t>、</a:t>
            </a:r>
            <a:r>
              <a:rPr kumimoji="0" lang="en-US" altLang="zh-CN" sz="2800" b="0"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rPr>
              <a:t>13 </a:t>
            </a:r>
            <a:r>
              <a:rPr kumimoji="0" lang="zh-CN" altLang="en-US" sz="2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的实验报告，文件名按模板建议“姓名</a:t>
            </a:r>
            <a:r>
              <a:rPr kumimoji="0" lang="en-US" altLang="zh-CN" sz="2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a:t>
            </a:r>
            <a:r>
              <a:rPr kumimoji="0" lang="zh-CN" altLang="en-US" sz="2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学号</a:t>
            </a:r>
            <a:r>
              <a:rPr kumimoji="0" lang="en-US" altLang="zh-CN" sz="2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a:t>
            </a:r>
            <a:r>
              <a:rPr kumimoji="0" lang="zh-CN" altLang="en-US" sz="2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实验报告</a:t>
            </a:r>
            <a:r>
              <a:rPr kumimoji="0" lang="en-US" altLang="zh-CN" sz="2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12</a:t>
            </a:r>
            <a:r>
              <a:rPr kumimoji="0" lang="zh-CN" altLang="en-US" sz="2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”钉钉提交，收到后均会回复！</a:t>
            </a:r>
          </a:p>
        </p:txBody>
      </p:sp>
    </p:spTree>
    <p:extLst>
      <p:ext uri="{BB962C8B-B14F-4D97-AF65-F5344CB8AC3E}">
        <p14:creationId xmlns:p14="http://schemas.microsoft.com/office/powerpoint/2010/main" val="29583849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44159" y="1929352"/>
            <a:ext cx="10095857" cy="3970318"/>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OBJECTIVES	</a:t>
            </a:r>
            <a:endParaRPr kumimoji="0" lang="zh-CN" altLang="zh-CN" sz="2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At the end of this experiment you should:</a:t>
            </a:r>
            <a:endParaRPr kumimoji="0" lang="zh-CN" altLang="zh-CN" sz="2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Ø"/>
              <a:tabLst/>
              <a:defRPr/>
            </a:pPr>
            <a:r>
              <a:rPr kumimoji="0" lang="en-US" altLang="zh-CN" sz="2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Know how to determine the antibiotic sensitivities of different bacteria using disc diffusion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2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Ø"/>
              <a:tabLst/>
              <a:defRPr/>
            </a:pPr>
            <a:r>
              <a:rPr kumimoji="0" lang="en-US" altLang="zh-CN" sz="2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Understand some general properties of antibiotics including spectrum of action</a:t>
            </a:r>
          </a:p>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Ø"/>
              <a:tabLst/>
              <a:defRPr/>
            </a:pPr>
            <a:endParaRPr kumimoji="0" lang="zh-CN" altLang="zh-CN" sz="2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Ø"/>
              <a:tabLst/>
              <a:defRPr/>
            </a:pPr>
            <a:r>
              <a:rPr kumimoji="0" lang="en-US" altLang="zh-CN" sz="2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Tell whether your isolated strain could produce antibiotics</a:t>
            </a:r>
            <a:endParaRPr kumimoji="0" lang="zh-CN" altLang="zh-CN" sz="2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p:txBody>
      </p:sp>
      <p:sp>
        <p:nvSpPr>
          <p:cNvPr id="5" name="矩形 4"/>
          <p:cNvSpPr/>
          <p:nvPr/>
        </p:nvSpPr>
        <p:spPr>
          <a:xfrm>
            <a:off x="844159" y="271286"/>
            <a:ext cx="9846757" cy="1493358"/>
          </a:xfrm>
          <a:prstGeom prst="rect">
            <a:avLst/>
          </a:prstGeom>
        </p:spPr>
        <p:txBody>
          <a:bodyPr wrap="square">
            <a:spAutoFit/>
          </a:bodyPr>
          <a:lstStyle/>
          <a:p>
            <a:pPr marL="0" marR="0" lvl="0" indent="0" algn="l" defTabSz="914400" rtl="0" eaLnBrk="1" fontAlgn="auto" latinLnBrk="0" hangingPunct="1">
              <a:lnSpc>
                <a:spcPct val="150000"/>
              </a:lnSpc>
              <a:spcBef>
                <a:spcPct val="0"/>
              </a:spcBef>
              <a:spcAft>
                <a:spcPts val="0"/>
              </a:spcAft>
              <a:buClrTx/>
              <a:buSzTx/>
              <a:buFontTx/>
              <a:buNone/>
              <a:tabLst/>
              <a:defRPr/>
            </a:pPr>
            <a:r>
              <a:rPr kumimoji="0" lang="en-US" altLang="zh-CN" sz="3200" b="1" i="0" u="none" strike="noStrike" kern="1200" cap="none" spc="0" normalizeH="0" baseline="0" noProof="0" dirty="0">
                <a:ln>
                  <a:noFill/>
                </a:ln>
                <a:solidFill>
                  <a:srgbClr val="0070C0"/>
                </a:solidFill>
                <a:effectLst/>
                <a:uLnTx/>
                <a:uFillTx/>
                <a:latin typeface="Calibri"/>
                <a:ea typeface="宋体" panose="02010600030101010101" pitchFamily="2" charset="-122"/>
                <a:cs typeface="+mn-cs"/>
              </a:rPr>
              <a:t>EXPERIMENT 14: Antibiotic sensitivity testing: </a:t>
            </a:r>
          </a:p>
          <a:p>
            <a:pPr marL="0" marR="0" lvl="0" indent="0" algn="l" defTabSz="914400" rtl="0" eaLnBrk="1" fontAlgn="auto" latinLnBrk="0" hangingPunct="1">
              <a:lnSpc>
                <a:spcPct val="150000"/>
              </a:lnSpc>
              <a:spcBef>
                <a:spcPct val="0"/>
              </a:spcBef>
              <a:spcAft>
                <a:spcPts val="0"/>
              </a:spcAft>
              <a:buClrTx/>
              <a:buSzTx/>
              <a:buFontTx/>
              <a:buNone/>
              <a:tabLst/>
              <a:defRPr/>
            </a:pPr>
            <a:r>
              <a:rPr kumimoji="0" lang="en-US" altLang="zh-CN" sz="3200" b="1" i="0" u="none" strike="noStrike" kern="1200" cap="none" spc="0" normalizeH="0" baseline="0" noProof="0" dirty="0">
                <a:ln>
                  <a:noFill/>
                </a:ln>
                <a:solidFill>
                  <a:srgbClr val="0070C0"/>
                </a:solidFill>
                <a:effectLst/>
                <a:uLnTx/>
                <a:uFillTx/>
                <a:latin typeface="Calibri"/>
                <a:ea typeface="宋体" panose="02010600030101010101" pitchFamily="2" charset="-122"/>
                <a:cs typeface="+mn-cs"/>
              </a:rPr>
              <a:t>disc diffusion method</a:t>
            </a:r>
            <a:endParaRPr kumimoji="0" lang="zh-CN" altLang="zh-CN" sz="3200" b="1" i="0" u="none" strike="noStrike" kern="1200" cap="none" spc="0" normalizeH="0" baseline="0" noProof="0" dirty="0">
              <a:ln>
                <a:noFill/>
              </a:ln>
              <a:solidFill>
                <a:srgbClr val="0070C0"/>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0287363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526B107-EBDF-4E20-9556-D40CE74DF654}" type="slidenum">
              <a:rPr kumimoji="0" lang="en-AU"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AU"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矩形 4"/>
          <p:cNvSpPr/>
          <p:nvPr/>
        </p:nvSpPr>
        <p:spPr>
          <a:xfrm>
            <a:off x="317633" y="282675"/>
            <a:ext cx="11556733" cy="1077218"/>
          </a:xfrm>
          <a:prstGeom prst="rect">
            <a:avLst/>
          </a:prstGeom>
        </p:spPr>
        <p:txBody>
          <a:bodyPr wrap="square">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200" b="1" i="0" u="none" strike="noStrike" kern="1200" cap="none" spc="0" normalizeH="0" baseline="0" noProof="0" dirty="0">
                <a:ln>
                  <a:noFill/>
                </a:ln>
                <a:solidFill>
                  <a:srgbClr val="0070C0"/>
                </a:solidFill>
                <a:effectLst/>
                <a:uLnTx/>
                <a:uFillTx/>
                <a:latin typeface="Calibri"/>
                <a:ea typeface="宋体" panose="02010600030101010101" pitchFamily="2" charset="-122"/>
                <a:cs typeface="+mn-cs"/>
              </a:rPr>
              <a:t>EXPERIMENT 14: Antibiotic sensitivity testing: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200" b="1" i="0" u="none" strike="noStrike" kern="1200" cap="none" spc="0" normalizeH="0" baseline="0" noProof="0" dirty="0">
                <a:ln>
                  <a:noFill/>
                </a:ln>
                <a:solidFill>
                  <a:srgbClr val="0070C0"/>
                </a:solidFill>
                <a:effectLst/>
                <a:uLnTx/>
                <a:uFillTx/>
                <a:latin typeface="Calibri"/>
                <a:ea typeface="宋体" panose="02010600030101010101" pitchFamily="2" charset="-122"/>
                <a:cs typeface="+mn-cs"/>
              </a:rPr>
              <a:t>                                                               disc diffusion method</a:t>
            </a:r>
            <a:endParaRPr kumimoji="0" lang="zh-CN" altLang="zh-CN" sz="3200" b="1" i="0" u="none" strike="noStrike" kern="1200" cap="none" spc="0" normalizeH="0" baseline="0" noProof="0" dirty="0">
              <a:ln>
                <a:noFill/>
              </a:ln>
              <a:solidFill>
                <a:srgbClr val="0070C0"/>
              </a:solidFill>
              <a:effectLst/>
              <a:uLnTx/>
              <a:uFillTx/>
              <a:latin typeface="Calibri"/>
              <a:ea typeface="宋体" panose="02010600030101010101" pitchFamily="2" charset="-122"/>
              <a:cs typeface="+mn-cs"/>
            </a:endParaRPr>
          </a:p>
        </p:txBody>
      </p:sp>
      <p:sp>
        <p:nvSpPr>
          <p:cNvPr id="6" name="矩形 5"/>
          <p:cNvSpPr/>
          <p:nvPr/>
        </p:nvSpPr>
        <p:spPr>
          <a:xfrm>
            <a:off x="1245895" y="1010245"/>
            <a:ext cx="9322644" cy="584775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MATERIALS </a:t>
            </a:r>
            <a:endParaRPr kumimoji="0" lang="zh-CN" altLang="zh-CN"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Sterile swabs </a:t>
            </a:r>
            <a:r>
              <a:rPr kumimoji="0" lang="zh-CN" altLang="en-US"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无菌棉签</a:t>
            </a:r>
            <a:endParaRPr kumimoji="0" lang="zh-CN" altLang="zh-CN"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Sterile tweezers </a:t>
            </a:r>
            <a:r>
              <a:rPr kumimoji="0" lang="zh-CN" altLang="en-US"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无菌镊子</a:t>
            </a:r>
            <a:endParaRPr kumimoji="0" lang="zh-CN" altLang="zh-CN"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Sterile filter paper discs in the plate </a:t>
            </a:r>
            <a:r>
              <a:rPr kumimoji="0" lang="zh-CN" altLang="en-US"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无菌纸片</a:t>
            </a:r>
            <a:endParaRPr kumimoji="0" lang="en-US" altLang="zh-CN"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3 × LB (Luria-Bertani) agar plates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0"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rPr>
              <a:t>Antibiotic solutions</a:t>
            </a:r>
            <a:r>
              <a:rPr kumimoji="0" lang="en-US" altLang="zh-CN"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in 1.5 mL tubes containing:</a:t>
            </a:r>
            <a:endParaRPr kumimoji="0" lang="zh-CN" altLang="zh-CN"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Penicillin            (</a:t>
            </a:r>
            <a:r>
              <a:rPr kumimoji="0" lang="en-US" altLang="zh-CN" sz="2200" b="0"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rPr>
              <a:t>P</a:t>
            </a:r>
            <a:r>
              <a:rPr kumimoji="0" lang="en-US" altLang="zh-CN"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Gentamicin	          (</a:t>
            </a:r>
            <a:r>
              <a:rPr kumimoji="0" lang="en-US" altLang="zh-CN" sz="2200" b="0"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rPr>
              <a:t>Ge</a:t>
            </a:r>
            <a:r>
              <a:rPr kumimoji="0" lang="en-US" altLang="zh-CN"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a:t>
            </a:r>
            <a:endParaRPr kumimoji="0" lang="zh-CN" altLang="zh-CN"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Ampicillin	  (</a:t>
            </a:r>
            <a:r>
              <a:rPr kumimoji="0" lang="en-US" altLang="zh-CN" sz="2200" b="0"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rPr>
              <a:t>Ap</a:t>
            </a:r>
            <a:r>
              <a:rPr kumimoji="0" lang="en-US" altLang="zh-CN"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Tetracycline	           (</a:t>
            </a:r>
            <a:r>
              <a:rPr kumimoji="0" lang="en-US" altLang="zh-CN" sz="2200" b="0" i="0" u="none" strike="noStrike" kern="1200" cap="none" spc="0" normalizeH="0" baseline="0" noProof="0" dirty="0" err="1">
                <a:ln>
                  <a:noFill/>
                </a:ln>
                <a:solidFill>
                  <a:srgbClr val="FF0000"/>
                </a:solidFill>
                <a:effectLst/>
                <a:uLnTx/>
                <a:uFillTx/>
                <a:latin typeface="Calibri"/>
                <a:ea typeface="宋体" panose="02010600030101010101" pitchFamily="2" charset="-122"/>
                <a:cs typeface="+mn-cs"/>
              </a:rPr>
              <a:t>Te</a:t>
            </a:r>
            <a:r>
              <a:rPr kumimoji="0" lang="en-US" altLang="zh-CN"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Control: ddH</a:t>
            </a:r>
            <a:r>
              <a:rPr kumimoji="0" lang="en-US" altLang="zh-CN" sz="2200" b="0" i="0" u="none" strike="noStrike" kern="1200" cap="none" spc="0" normalizeH="0" baseline="-25000" noProof="0" dirty="0">
                <a:ln>
                  <a:noFill/>
                </a:ln>
                <a:solidFill>
                  <a:prstClr val="black"/>
                </a:solidFill>
                <a:effectLst/>
                <a:uLnTx/>
                <a:uFillTx/>
                <a:latin typeface="Calibri"/>
                <a:ea typeface="宋体" panose="02010600030101010101" pitchFamily="2" charset="-122"/>
                <a:cs typeface="+mn-cs"/>
              </a:rPr>
              <a:t>2</a:t>
            </a:r>
            <a:r>
              <a:rPr kumimoji="0" lang="en-US" altLang="zh-CN"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O in 1.5 mL tube (</a:t>
            </a:r>
            <a:r>
              <a:rPr kumimoji="0" lang="en-US" altLang="zh-CN" sz="2200" b="0"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rPr>
              <a:t>ddH</a:t>
            </a:r>
            <a:r>
              <a:rPr kumimoji="0" lang="en-US" altLang="zh-CN" sz="2200" b="0" i="0" u="none" strike="noStrike" kern="1200" cap="none" spc="0" normalizeH="0" baseline="-25000" noProof="0" dirty="0">
                <a:ln>
                  <a:noFill/>
                </a:ln>
                <a:solidFill>
                  <a:srgbClr val="FF0000"/>
                </a:solidFill>
                <a:effectLst/>
                <a:uLnTx/>
                <a:uFillTx/>
                <a:latin typeface="Calibri"/>
                <a:ea typeface="宋体" panose="02010600030101010101" pitchFamily="2" charset="-122"/>
                <a:cs typeface="+mn-cs"/>
              </a:rPr>
              <a:t>2</a:t>
            </a:r>
            <a:r>
              <a:rPr kumimoji="0" lang="en-US" altLang="zh-CN" sz="2200" b="0"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rPr>
              <a:t>O</a:t>
            </a:r>
            <a:r>
              <a:rPr kumimoji="0" lang="en-US" altLang="zh-CN"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a:t>
            </a:r>
            <a:endParaRPr kumimoji="0" lang="zh-CN" altLang="zh-CN"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Liquid Culture of your strain  (</a:t>
            </a:r>
            <a:r>
              <a:rPr kumimoji="0" lang="en-US" altLang="zh-CN" sz="2200" b="0"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rPr>
              <a:t>Y</a:t>
            </a:r>
            <a:r>
              <a:rPr kumimoji="0" lang="en-US" altLang="zh-CN"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a:t>
            </a:r>
            <a:endParaRPr kumimoji="0" lang="zh-CN" altLang="zh-CN"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0"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rPr>
              <a:t>Overnight LB cultures</a:t>
            </a:r>
            <a:r>
              <a:rPr kumimoji="0" lang="en-US" altLang="zh-CN"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in 1.5 mL tubes:</a:t>
            </a:r>
            <a:endParaRPr kumimoji="0" lang="zh-CN" altLang="zh-CN"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t>
            </a:r>
            <a:r>
              <a:rPr kumimoji="0" lang="en-US" altLang="zh-CN" sz="2200" b="0" i="0" u="none" strike="noStrike" kern="1200" cap="none" spc="0" normalizeH="0" baseline="0" noProof="0" dirty="0" err="1">
                <a:ln>
                  <a:noFill/>
                </a:ln>
                <a:solidFill>
                  <a:srgbClr val="FF0000"/>
                </a:solidFill>
                <a:effectLst/>
                <a:uLnTx/>
                <a:uFillTx/>
                <a:latin typeface="Calibri"/>
                <a:ea typeface="宋体" panose="02010600030101010101" pitchFamily="2" charset="-122"/>
                <a:cs typeface="+mn-cs"/>
              </a:rPr>
              <a:t>Ec</a:t>
            </a:r>
            <a:r>
              <a:rPr kumimoji="0" lang="en-US" altLang="zh-CN"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 </a:t>
            </a:r>
            <a:r>
              <a:rPr kumimoji="0" lang="en-US" altLang="zh-CN" sz="2200" b="0" i="1"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Escherichia coli </a:t>
            </a:r>
            <a:r>
              <a:rPr kumimoji="0" lang="en-US" altLang="zh-CN"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(ATCC35218) </a:t>
            </a:r>
            <a:endParaRPr kumimoji="0" lang="zh-CN" altLang="zh-CN"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t>
            </a:r>
            <a:r>
              <a:rPr kumimoji="0" lang="en-US" altLang="zh-CN" sz="2200" b="0"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rPr>
              <a:t>Se</a:t>
            </a:r>
            <a:r>
              <a:rPr kumimoji="0" lang="en-US" altLang="zh-CN"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 </a:t>
            </a:r>
            <a:r>
              <a:rPr kumimoji="0" lang="en-US" altLang="zh-CN" sz="2200" b="0" i="1"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Staphylococcus epidermidis</a:t>
            </a:r>
            <a:r>
              <a:rPr kumimoji="0" lang="en-US" altLang="zh-CN"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(ATCC12228) </a:t>
            </a:r>
            <a:endParaRPr kumimoji="0" lang="zh-CN" altLang="zh-CN"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t>
            </a:r>
            <a:r>
              <a:rPr kumimoji="0" lang="en-US" altLang="zh-CN" sz="2200" b="0"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rPr>
              <a:t>Pa</a:t>
            </a:r>
            <a:r>
              <a:rPr kumimoji="0" lang="en-US" altLang="zh-CN"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 </a:t>
            </a:r>
            <a:r>
              <a:rPr kumimoji="0" lang="en-US" altLang="zh-CN" sz="2200" b="0" i="1"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Pseudomonas </a:t>
            </a:r>
            <a:r>
              <a:rPr kumimoji="0" lang="en-US" altLang="zh-CN" sz="2200" b="0" i="1"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aeruginosa</a:t>
            </a:r>
            <a:r>
              <a:rPr kumimoji="0" lang="en-US" altLang="zh-CN"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(ATCC27853)</a:t>
            </a:r>
            <a:endParaRPr kumimoji="0" lang="zh-CN" altLang="zh-CN"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p:txBody>
      </p:sp>
      <p:sp>
        <p:nvSpPr>
          <p:cNvPr id="3" name="左大括号 2">
            <a:extLst>
              <a:ext uri="{FF2B5EF4-FFF2-40B4-BE49-F238E27FC236}">
                <a16:creationId xmlns:a16="http://schemas.microsoft.com/office/drawing/2014/main" id="{4AE1B9A2-3C13-4338-ACA3-82D59F9B1C8C}"/>
              </a:ext>
            </a:extLst>
          </p:cNvPr>
          <p:cNvSpPr/>
          <p:nvPr/>
        </p:nvSpPr>
        <p:spPr>
          <a:xfrm>
            <a:off x="2050182" y="1520791"/>
            <a:ext cx="231006" cy="770021"/>
          </a:xfrm>
          <a:prstGeom prst="leftBrace">
            <a:avLst/>
          </a:prstGeom>
          <a:noFill/>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 name="文本框 3">
            <a:extLst>
              <a:ext uri="{FF2B5EF4-FFF2-40B4-BE49-F238E27FC236}">
                <a16:creationId xmlns:a16="http://schemas.microsoft.com/office/drawing/2014/main" id="{26B339A8-AED2-4E78-A739-0D1FB4F180E1}"/>
              </a:ext>
            </a:extLst>
          </p:cNvPr>
          <p:cNvSpPr txBox="1"/>
          <p:nvPr/>
        </p:nvSpPr>
        <p:spPr>
          <a:xfrm>
            <a:off x="351850" y="1613413"/>
            <a:ext cx="1826141" cy="5847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rPr>
              <a:t>铝箔纸包裹灭菌，</a:t>
            </a:r>
            <a:endParaRPr kumimoji="0" lang="en-US" altLang="zh-CN" sz="1600" b="0"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rPr>
              <a:t>烘干</a:t>
            </a:r>
          </a:p>
        </p:txBody>
      </p:sp>
    </p:spTree>
    <p:extLst>
      <p:ext uri="{BB962C8B-B14F-4D97-AF65-F5344CB8AC3E}">
        <p14:creationId xmlns:p14="http://schemas.microsoft.com/office/powerpoint/2010/main" val="2573175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10065365" y="6473839"/>
            <a:ext cx="20574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526B107-EBDF-4E20-9556-D40CE74DF654}" type="slidenum">
              <a:rPr kumimoji="0" lang="en-AU"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AU"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4" name="TextBox 3"/>
          <p:cNvSpPr txBox="1"/>
          <p:nvPr/>
        </p:nvSpPr>
        <p:spPr>
          <a:xfrm>
            <a:off x="609600" y="876832"/>
            <a:ext cx="10972799" cy="31085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altLang="zh-CN" sz="2200" b="1" i="0" u="none" strike="noStrike" kern="1200" cap="all" spc="0" normalizeH="0" baseline="0" noProof="0" dirty="0">
                <a:ln>
                  <a:noFill/>
                </a:ln>
                <a:solidFill>
                  <a:prstClr val="black"/>
                </a:solidFill>
                <a:effectLst/>
                <a:uLnTx/>
                <a:uFillTx/>
                <a:latin typeface="Calibri"/>
                <a:ea typeface="Times New Roman" panose="02020603050405020304" pitchFamily="18" charset="0"/>
                <a:cs typeface="Times New Roman" panose="02020603050405020304" pitchFamily="18" charset="0"/>
              </a:rPr>
              <a:t>METHODS</a:t>
            </a:r>
          </a:p>
          <a:p>
            <a:pPr marL="457200" marR="0" lvl="0" indent="-457200" algn="l" defTabSz="445770" rtl="0" eaLnBrk="1" fontAlgn="auto" latinLnBrk="0" hangingPunct="1">
              <a:lnSpc>
                <a:spcPct val="100000"/>
              </a:lnSpc>
              <a:spcBef>
                <a:spcPts val="0"/>
              </a:spcBef>
              <a:spcAft>
                <a:spcPts val="600"/>
              </a:spcAft>
              <a:buClrTx/>
              <a:buSzTx/>
              <a:buFontTx/>
              <a:buAutoNum type="arabicPeriod"/>
              <a:tabLst/>
              <a:defRPr/>
            </a:pPr>
            <a:r>
              <a:rPr kumimoji="0" lang="en-US" altLang="zh-CN" sz="2200" b="1" i="0" u="sng" strike="noStrike" kern="1200" cap="none" spc="0" normalizeH="0" baseline="0" noProof="0" dirty="0">
                <a:ln>
                  <a:noFill/>
                </a:ln>
                <a:solidFill>
                  <a:prstClr val="black"/>
                </a:solidFill>
                <a:effectLst/>
                <a:uLnTx/>
                <a:uFillTx/>
                <a:latin typeface="Calibri"/>
                <a:ea typeface="宋体" panose="02010600030101010101" pitchFamily="2" charset="-122"/>
                <a:cs typeface="+mn-cs"/>
              </a:rPr>
              <a:t>In sterile hood</a:t>
            </a:r>
            <a:r>
              <a:rPr kumimoji="0" lang="en-US" altLang="zh-CN"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label 3 LB plates </a:t>
            </a:r>
            <a:r>
              <a:rPr kumimoji="0" lang="en-US" altLang="zh-CN" sz="22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Ec</a:t>
            </a:r>
            <a:r>
              <a:rPr kumimoji="0" lang="en-US" altLang="zh-CN"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Se, Pa as described in lab manual.</a:t>
            </a:r>
          </a:p>
          <a:p>
            <a:pPr marL="457200" marR="0" lvl="0" indent="-457200" algn="l" defTabSz="914400" rtl="0" eaLnBrk="1" fontAlgn="auto" latinLnBrk="0" hangingPunct="1">
              <a:lnSpc>
                <a:spcPct val="100000"/>
              </a:lnSpc>
              <a:spcBef>
                <a:spcPts val="0"/>
              </a:spcBef>
              <a:spcAft>
                <a:spcPts val="600"/>
              </a:spcAft>
              <a:buClrTx/>
              <a:buSzTx/>
              <a:buFontTx/>
              <a:buAutoNum type="arabicPeriod" startAt="2"/>
              <a:tabLst/>
              <a:defRPr/>
            </a:pPr>
            <a:r>
              <a:rPr kumimoji="0" lang="en-US" altLang="zh-CN"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Dip the a sterile swab into the </a:t>
            </a:r>
            <a:r>
              <a:rPr kumimoji="0" lang="en-US" altLang="zh-CN" sz="2200" b="0" i="1"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E. coli</a:t>
            </a:r>
            <a:r>
              <a:rPr kumimoji="0" lang="en-US" altLang="zh-CN"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and rub it lightly over the entire surface of the </a:t>
            </a:r>
            <a:r>
              <a:rPr kumimoji="0" lang="en-US" altLang="zh-CN" sz="2200" b="1" i="0" u="sng" strike="noStrike" kern="1200" cap="none" spc="0" normalizeH="0" baseline="0" noProof="0" dirty="0" err="1">
                <a:ln>
                  <a:noFill/>
                </a:ln>
                <a:solidFill>
                  <a:srgbClr val="0000CC"/>
                </a:solidFill>
                <a:effectLst/>
                <a:uLnTx/>
                <a:uFillTx/>
                <a:latin typeface="Calibri"/>
                <a:ea typeface="宋体" panose="02010600030101010101" pitchFamily="2" charset="-122"/>
                <a:cs typeface="+mn-cs"/>
              </a:rPr>
              <a:t>Ec</a:t>
            </a:r>
            <a:r>
              <a:rPr kumimoji="0" lang="en-US" altLang="zh-CN" sz="2200" b="1" i="0" u="sng" strike="noStrike" kern="1200" cap="none" spc="0" normalizeH="0" baseline="0" noProof="0" dirty="0">
                <a:ln>
                  <a:noFill/>
                </a:ln>
                <a:solidFill>
                  <a:srgbClr val="0000CC"/>
                </a:solidFill>
                <a:effectLst/>
                <a:uLnTx/>
                <a:uFillTx/>
                <a:latin typeface="Calibri"/>
                <a:ea typeface="宋体" panose="02010600030101010101" pitchFamily="2" charset="-122"/>
                <a:cs typeface="+mn-cs"/>
              </a:rPr>
              <a:t> plate</a:t>
            </a:r>
            <a:r>
              <a:rPr kumimoji="0" lang="en-US" altLang="zh-CN"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The surface should be swabbed </a:t>
            </a:r>
            <a:r>
              <a:rPr kumimoji="0" lang="en-US" altLang="zh-CN" sz="2200" b="0" i="1" u="none" strike="noStrike" kern="1200" cap="none" spc="0" normalizeH="0" baseline="0" noProof="0" dirty="0">
                <a:ln>
                  <a:noFill/>
                </a:ln>
                <a:solidFill>
                  <a:srgbClr val="0000CC"/>
                </a:solidFill>
                <a:effectLst/>
                <a:uLnTx/>
                <a:uFillTx/>
                <a:latin typeface="Calibri"/>
                <a:ea typeface="宋体" panose="02010600030101010101" pitchFamily="2" charset="-122"/>
                <a:cs typeface="+mn-cs"/>
              </a:rPr>
              <a:t>three times at different angles </a:t>
            </a:r>
            <a:r>
              <a:rPr kumimoji="0" lang="en-US" altLang="zh-CN"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so that the agar surface is completely covered.</a:t>
            </a:r>
          </a:p>
          <a:p>
            <a:pPr marL="457200" marR="0" lvl="0" indent="-457200" algn="l" defTabSz="914400" rtl="0" eaLnBrk="1" fontAlgn="auto" latinLnBrk="0" hangingPunct="1">
              <a:lnSpc>
                <a:spcPct val="100000"/>
              </a:lnSpc>
              <a:spcBef>
                <a:spcPts val="0"/>
              </a:spcBef>
              <a:spcAft>
                <a:spcPts val="600"/>
              </a:spcAft>
              <a:buClrTx/>
              <a:buSzTx/>
              <a:buFontTx/>
              <a:buAutoNum type="arabicPeriod" startAt="3"/>
              <a:tabLst/>
              <a:defRPr/>
            </a:pPr>
            <a:r>
              <a:rPr kumimoji="0" lang="en-US" altLang="zh-CN"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Repeat for </a:t>
            </a:r>
            <a:r>
              <a:rPr kumimoji="0" lang="en-US" altLang="zh-CN" sz="2200" b="0" i="1" u="none" strike="noStrike" kern="1200" cap="none" spc="0" normalizeH="0" baseline="0" noProof="0" dirty="0">
                <a:ln>
                  <a:noFill/>
                </a:ln>
                <a:solidFill>
                  <a:srgbClr val="0000CC"/>
                </a:solidFill>
                <a:effectLst/>
                <a:uLnTx/>
                <a:uFillTx/>
                <a:latin typeface="Calibri"/>
                <a:ea typeface="宋体" panose="02010600030101010101" pitchFamily="2" charset="-122"/>
                <a:cs typeface="+mn-cs"/>
              </a:rPr>
              <a:t>S. epidermidis</a:t>
            </a:r>
            <a:r>
              <a:rPr kumimoji="0" lang="en-US" altLang="zh-CN"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and </a:t>
            </a:r>
            <a:r>
              <a:rPr kumimoji="0" lang="en-US" altLang="zh-CN" sz="2200" b="0" i="1" u="none" strike="noStrike" kern="1200" cap="none" spc="0" normalizeH="0" baseline="0" noProof="0" dirty="0">
                <a:ln>
                  <a:noFill/>
                </a:ln>
                <a:solidFill>
                  <a:srgbClr val="0000CC"/>
                </a:solidFill>
                <a:effectLst/>
                <a:uLnTx/>
                <a:uFillTx/>
                <a:latin typeface="Calibri"/>
                <a:ea typeface="宋体" panose="02010600030101010101" pitchFamily="2" charset="-122"/>
                <a:cs typeface="+mn-cs"/>
              </a:rPr>
              <a:t>Ps.</a:t>
            </a:r>
            <a:r>
              <a:rPr kumimoji="0" lang="en-US" altLang="zh-CN" sz="2200" b="0" i="0" u="none" strike="noStrike" kern="1200" cap="none" spc="0" normalizeH="0" baseline="0" noProof="0" dirty="0">
                <a:ln>
                  <a:noFill/>
                </a:ln>
                <a:solidFill>
                  <a:srgbClr val="0000CC"/>
                </a:solidFill>
                <a:effectLst/>
                <a:uLnTx/>
                <a:uFillTx/>
                <a:latin typeface="Calibri"/>
                <a:ea typeface="宋体" panose="02010600030101010101" pitchFamily="2" charset="-122"/>
                <a:cs typeface="+mn-cs"/>
              </a:rPr>
              <a:t> </a:t>
            </a:r>
            <a:r>
              <a:rPr kumimoji="0" lang="en-US" altLang="zh-CN" sz="2200" b="0" i="1" u="none" strike="noStrike" kern="1200" cap="none" spc="0" normalizeH="0" baseline="0" noProof="0" dirty="0">
                <a:ln>
                  <a:noFill/>
                </a:ln>
                <a:solidFill>
                  <a:srgbClr val="0000CC"/>
                </a:solidFill>
                <a:effectLst/>
                <a:uLnTx/>
                <a:uFillTx/>
                <a:latin typeface="Calibri"/>
                <a:ea typeface="宋体" panose="02010600030101010101" pitchFamily="2" charset="-122"/>
                <a:cs typeface="+mn-cs"/>
              </a:rPr>
              <a:t>aeruginosa</a:t>
            </a:r>
            <a:r>
              <a:rPr kumimoji="0" lang="en-US" altLang="zh-CN"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using </a:t>
            </a:r>
            <a:r>
              <a:rPr kumimoji="0" lang="en-US" altLang="zh-CN" sz="2200" b="0" i="0" u="sng" strike="noStrike" kern="1200" cap="none" spc="0" normalizeH="0" baseline="0" noProof="0" dirty="0">
                <a:ln>
                  <a:noFill/>
                </a:ln>
                <a:solidFill>
                  <a:prstClr val="black"/>
                </a:solidFill>
                <a:effectLst/>
                <a:uLnTx/>
                <a:uFillTx/>
                <a:latin typeface="Calibri"/>
                <a:ea typeface="宋体" panose="02010600030101010101" pitchFamily="2" charset="-122"/>
                <a:cs typeface="+mn-cs"/>
              </a:rPr>
              <a:t>fresh swabs </a:t>
            </a:r>
            <a:r>
              <a:rPr kumimoji="0" lang="en-US" altLang="zh-CN"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for each plate.  Each student should swab at least one plate.</a:t>
            </a:r>
          </a:p>
          <a:p>
            <a:pPr marL="457200" marR="0" lvl="0" indent="-457200" algn="l" defTabSz="914400" rtl="0" eaLnBrk="1" fontAlgn="auto" latinLnBrk="0" hangingPunct="1">
              <a:lnSpc>
                <a:spcPct val="100000"/>
              </a:lnSpc>
              <a:spcBef>
                <a:spcPts val="0"/>
              </a:spcBef>
              <a:spcAft>
                <a:spcPts val="600"/>
              </a:spcAft>
              <a:buClrTx/>
              <a:buSzTx/>
              <a:buFontTx/>
              <a:buAutoNum type="arabicPeriod" startAt="4"/>
              <a:tabLst/>
              <a:defRPr/>
            </a:pPr>
            <a:r>
              <a:rPr kumimoji="0" lang="en-US" altLang="zh-CN" sz="22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Leave the plates at least 15 min to allow the liquid culture to soak into the agar.</a:t>
            </a:r>
          </a:p>
        </p:txBody>
      </p:sp>
      <p:pic>
        <p:nvPicPr>
          <p:cNvPr id="2051" name="Picture 3" descr="C:\Users\Administrator\Desktop\图片2.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7454236">
            <a:off x="4815938" y="4297533"/>
            <a:ext cx="1998113" cy="1836528"/>
          </a:xfrm>
          <a:prstGeom prst="rect">
            <a:avLst/>
          </a:prstGeom>
          <a:noFill/>
          <a:extLst>
            <a:ext uri="{909E8E84-426E-40DD-AFC4-6F175D3DCCD1}">
              <a14:hiddenFill xmlns:a14="http://schemas.microsoft.com/office/drawing/2010/main">
                <a:solidFill>
                  <a:srgbClr val="FFFFFF"/>
                </a:solidFill>
              </a14:hiddenFill>
            </a:ext>
          </a:extLst>
        </p:spPr>
      </p:pic>
      <p:cxnSp>
        <p:nvCxnSpPr>
          <p:cNvPr id="7" name="直接箭头连接符 6"/>
          <p:cNvCxnSpPr/>
          <p:nvPr/>
        </p:nvCxnSpPr>
        <p:spPr>
          <a:xfrm>
            <a:off x="3561230" y="5215797"/>
            <a:ext cx="1169692" cy="0"/>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527962" y="4271902"/>
            <a:ext cx="1236228"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Swab at different angle</a:t>
            </a:r>
            <a:endPar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p:txBody>
      </p:sp>
      <p:pic>
        <p:nvPicPr>
          <p:cNvPr id="30" name="Picture 2" descr="C:\Users\Administrator\Desktop\图片1.png"/>
          <p:cNvPicPr>
            <a:picLocks noChangeAspect="1" noChangeArrowheads="1"/>
          </p:cNvPicPr>
          <p:nvPr/>
        </p:nvPicPr>
        <p:blipFill>
          <a:blip r:embed="rId3" cstate="print">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rcRect/>
          <a:stretch>
            <a:fillRect/>
          </a:stretch>
        </p:blipFill>
        <p:spPr bwMode="auto">
          <a:xfrm>
            <a:off x="1524000" y="4267472"/>
            <a:ext cx="1763688" cy="1859568"/>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 descr="C:\Users\Administrator\Desktop\图片2.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7516049">
            <a:off x="8316441" y="4018160"/>
            <a:ext cx="1969667" cy="1949332"/>
          </a:xfrm>
          <a:prstGeom prst="rect">
            <a:avLst/>
          </a:prstGeom>
          <a:noFill/>
          <a:extLst>
            <a:ext uri="{909E8E84-426E-40DD-AFC4-6F175D3DCCD1}">
              <a14:hiddenFill xmlns:a14="http://schemas.microsoft.com/office/drawing/2010/main">
                <a:solidFill>
                  <a:srgbClr val="FFFFFF"/>
                </a:solidFill>
              </a14:hiddenFill>
            </a:ext>
          </a:extLst>
        </p:spPr>
      </p:pic>
      <p:cxnSp>
        <p:nvCxnSpPr>
          <p:cNvPr id="34" name="直接箭头连接符 6"/>
          <p:cNvCxnSpPr/>
          <p:nvPr/>
        </p:nvCxnSpPr>
        <p:spPr>
          <a:xfrm flipV="1">
            <a:off x="6975416" y="5215799"/>
            <a:ext cx="1018121" cy="7433"/>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pic>
        <p:nvPicPr>
          <p:cNvPr id="36" name="Picture 2" descr="C:\Users\Administrator\Desktop\图片1.png"/>
          <p:cNvPicPr>
            <a:picLocks noChangeAspect="1" noChangeArrowheads="1"/>
          </p:cNvPicPr>
          <p:nvPr/>
        </p:nvPicPr>
        <p:blipFill>
          <a:blip r:embed="rId5" cstate="print">
            <a:duotone>
              <a:prstClr val="black"/>
              <a:schemeClr val="accent6">
                <a:tint val="45000"/>
                <a:satMod val="400000"/>
              </a:schemeClr>
            </a:duotone>
            <a:extLst>
              <a:ext uri="{BEBA8EAE-BF5A-486C-A8C5-ECC9F3942E4B}">
                <a14:imgProps xmlns:a14="http://schemas.microsoft.com/office/drawing/2010/main">
                  <a14:imgLayer r:embed="rId6">
                    <a14:imgEffect>
                      <a14:colorTemperature colorTemp="7701"/>
                    </a14:imgEffect>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rot="2697259">
            <a:off x="8297775" y="4018125"/>
            <a:ext cx="1984101" cy="1957640"/>
          </a:xfrm>
          <a:prstGeom prst="rect">
            <a:avLst/>
          </a:prstGeom>
          <a:noFill/>
          <a:ln>
            <a:noFill/>
          </a:ln>
          <a:effectLst/>
          <a:extLst>
            <a:ext uri="{909E8E84-426E-40DD-AFC4-6F175D3DCCD1}">
              <a14:hiddenFill xmlns:a14="http://schemas.microsoft.com/office/drawing/2010/main">
                <a:solidFill>
                  <a:srgbClr val="FFFFFF"/>
                </a:solidFill>
              </a14:hiddenFill>
            </a:ext>
          </a:extLst>
        </p:spPr>
      </p:pic>
      <p:sp>
        <p:nvSpPr>
          <p:cNvPr id="37" name="TextBox 36"/>
          <p:cNvSpPr txBox="1"/>
          <p:nvPr/>
        </p:nvSpPr>
        <p:spPr>
          <a:xfrm>
            <a:off x="6832640" y="4255547"/>
            <a:ext cx="1196645"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Swab at different angle</a:t>
            </a:r>
            <a:endPar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p:txBody>
      </p:sp>
      <p:sp>
        <p:nvSpPr>
          <p:cNvPr id="13" name="矩形 12"/>
          <p:cNvSpPr/>
          <p:nvPr/>
        </p:nvSpPr>
        <p:spPr>
          <a:xfrm>
            <a:off x="348216" y="89698"/>
            <a:ext cx="7910232" cy="419730"/>
          </a:xfrm>
          <a:prstGeom prst="rect">
            <a:avLst/>
          </a:prstGeom>
        </p:spPr>
        <p:txBody>
          <a:bodyPr wrap="square">
            <a:spAutoFit/>
          </a:bodyPr>
          <a:lstStyle/>
          <a:p>
            <a:pPr marL="0" marR="0" lvl="0" indent="0" algn="l" defTabSz="687070" rtl="0" eaLnBrk="1" fontAlgn="auto" latinLnBrk="0" hangingPunct="1">
              <a:lnSpc>
                <a:spcPts val="2700"/>
              </a:lnSpc>
              <a:spcBef>
                <a:spcPct val="0"/>
              </a:spcBef>
              <a:spcAft>
                <a:spcPts val="0"/>
              </a:spcAft>
              <a:buClrTx/>
              <a:buSzTx/>
              <a:buFontTx/>
              <a:buNone/>
              <a:tabLst/>
              <a:defRPr/>
            </a:pPr>
            <a:r>
              <a:rPr kumimoji="0" lang="en-US" altLang="zh-CN" sz="2000" b="1" i="0" u="none" strike="noStrike" kern="1200" cap="none" spc="0" normalizeH="0" baseline="0" noProof="0" dirty="0">
                <a:ln>
                  <a:noFill/>
                </a:ln>
                <a:solidFill>
                  <a:srgbClr val="0070C0"/>
                </a:solidFill>
                <a:effectLst/>
                <a:uLnTx/>
                <a:uFillTx/>
                <a:latin typeface="Calibri"/>
                <a:ea typeface="宋体" panose="02010600030101010101" pitchFamily="2" charset="-122"/>
                <a:cs typeface="+mn-cs"/>
              </a:rPr>
              <a:t>EXPERIMENT 14: Antibiotic sensitivity testing: disc diffusion method</a:t>
            </a:r>
            <a:endParaRPr kumimoji="0" lang="zh-CN" altLang="zh-CN" sz="2000" b="1" i="0" u="none" strike="noStrike" kern="1200" cap="none" spc="0" normalizeH="0" baseline="0" noProof="0" dirty="0">
              <a:ln>
                <a:noFill/>
              </a:ln>
              <a:solidFill>
                <a:srgbClr val="0070C0"/>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870228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933228" y="379647"/>
            <a:ext cx="10838469" cy="3554819"/>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600"/>
              </a:spcAft>
              <a:buClr>
                <a:prstClr val="black"/>
              </a:buClr>
              <a:buSzTx/>
              <a:buFontTx/>
              <a:buAutoNum type="arabicPeriod" startAt="5"/>
              <a:tabLst/>
              <a:defRPr/>
            </a:pPr>
            <a:r>
              <a:rPr kumimoji="0" lang="en-US" altLang="zh-CN" sz="2000" b="1" i="0" u="none" strike="noStrike" kern="1200" cap="none" spc="0" normalizeH="0" baseline="0" noProof="0" dirty="0">
                <a:ln>
                  <a:noFill/>
                </a:ln>
                <a:solidFill>
                  <a:srgbClr val="0000CC"/>
                </a:solidFill>
                <a:effectLst/>
                <a:uLnTx/>
                <a:uFillTx/>
                <a:latin typeface="Calibri"/>
                <a:ea typeface="宋体" panose="02010600030101010101" pitchFamily="2" charset="-122"/>
                <a:cs typeface="+mn-cs"/>
              </a:rPr>
              <a:t>Divide</a:t>
            </a:r>
            <a:r>
              <a:rPr kumimoji="0" lang="en-US" altLang="zh-CN"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the base of each plate into </a:t>
            </a:r>
            <a:r>
              <a:rPr kumimoji="0" lang="en-US" altLang="zh-CN" sz="2000" b="1" i="0" u="none" strike="noStrike" kern="1200" cap="none" spc="0" normalizeH="0" baseline="0" noProof="0" dirty="0">
                <a:ln>
                  <a:noFill/>
                </a:ln>
                <a:solidFill>
                  <a:srgbClr val="0000CC"/>
                </a:solidFill>
                <a:effectLst/>
                <a:uLnTx/>
                <a:uFillTx/>
                <a:latin typeface="Calibri"/>
                <a:ea typeface="宋体" panose="02010600030101010101" pitchFamily="2" charset="-122"/>
                <a:cs typeface="+mn-cs"/>
              </a:rPr>
              <a:t>6 sections </a:t>
            </a:r>
            <a:r>
              <a:rPr kumimoji="0" lang="en-US" altLang="zh-CN"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and </a:t>
            </a:r>
            <a:r>
              <a:rPr kumimoji="0" lang="en-US" altLang="zh-CN" sz="2000" b="0" i="0" u="none" strike="noStrike" kern="1200" cap="none" spc="0" normalizeH="0" baseline="0" noProof="0" dirty="0">
                <a:ln>
                  <a:noFill/>
                </a:ln>
                <a:solidFill>
                  <a:srgbClr val="0000CC"/>
                </a:solidFill>
                <a:effectLst/>
                <a:uLnTx/>
                <a:uFillTx/>
                <a:latin typeface="Calibri"/>
                <a:ea typeface="宋体" panose="02010600030101010101" pitchFamily="2" charset="-122"/>
                <a:cs typeface="+mn-cs"/>
              </a:rPr>
              <a:t>label</a:t>
            </a:r>
            <a:r>
              <a:rPr kumimoji="0" lang="en-US" altLang="zh-CN"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the   sections </a:t>
            </a:r>
            <a:r>
              <a:rPr kumimoji="0" lang="en-US" altLang="zh-CN" sz="2000" b="0" i="0" u="sng" strike="noStrike" kern="1200" cap="none" spc="0" normalizeH="0" baseline="0" noProof="0" dirty="0">
                <a:ln>
                  <a:noFill/>
                </a:ln>
                <a:solidFill>
                  <a:srgbClr val="0000CC"/>
                </a:solidFill>
                <a:effectLst/>
                <a:uLnTx/>
                <a:uFillTx/>
                <a:latin typeface="Calibri"/>
                <a:ea typeface="宋体" panose="02010600030101010101" pitchFamily="2" charset="-122"/>
                <a:cs typeface="+mn-cs"/>
              </a:rPr>
              <a:t>0, P, Ge, Ap, </a:t>
            </a:r>
            <a:r>
              <a:rPr kumimoji="0" lang="en-US" altLang="zh-CN" sz="2000" b="0" i="0" u="sng" strike="noStrike" kern="1200" cap="none" spc="0" normalizeH="0" baseline="0" noProof="0" dirty="0" err="1">
                <a:ln>
                  <a:noFill/>
                </a:ln>
                <a:solidFill>
                  <a:srgbClr val="0000CC"/>
                </a:solidFill>
                <a:effectLst/>
                <a:uLnTx/>
                <a:uFillTx/>
                <a:latin typeface="Calibri"/>
                <a:ea typeface="宋体" panose="02010600030101010101" pitchFamily="2" charset="-122"/>
                <a:cs typeface="+mn-cs"/>
              </a:rPr>
              <a:t>Te</a:t>
            </a:r>
            <a:r>
              <a:rPr kumimoji="0" lang="en-US" altLang="zh-CN" sz="2000" b="0" i="0" u="sng" strike="noStrike" kern="1200" cap="none" spc="0" normalizeH="0" baseline="0" noProof="0" dirty="0">
                <a:ln>
                  <a:noFill/>
                </a:ln>
                <a:solidFill>
                  <a:srgbClr val="0000CC"/>
                </a:solidFill>
                <a:effectLst/>
                <a:uLnTx/>
                <a:uFillTx/>
                <a:latin typeface="Calibri"/>
                <a:ea typeface="宋体" panose="02010600030101010101" pitchFamily="2" charset="-122"/>
                <a:cs typeface="+mn-cs"/>
              </a:rPr>
              <a:t>, and Y </a:t>
            </a:r>
            <a:r>
              <a:rPr kumimoji="0" lang="en-US" altLang="zh-CN"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as in </a:t>
            </a:r>
            <a:r>
              <a:rPr lang="en-US" altLang="zh-CN" sz="2000" dirty="0">
                <a:solidFill>
                  <a:prstClr val="black"/>
                </a:solidFill>
                <a:latin typeface="Calibri"/>
                <a:ea typeface="宋体" panose="02010600030101010101" pitchFamily="2" charset="-122"/>
              </a:rPr>
              <a:t>F</a:t>
            </a:r>
            <a:r>
              <a:rPr kumimoji="0" lang="en-US" altLang="zh-CN"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ig14.2.</a:t>
            </a:r>
          </a:p>
          <a:p>
            <a:pPr marL="457200" marR="0" lvl="0" indent="-457200" algn="l" defTabSz="914400" rtl="0" eaLnBrk="1" fontAlgn="auto" latinLnBrk="0" hangingPunct="1">
              <a:lnSpc>
                <a:spcPct val="100000"/>
              </a:lnSpc>
              <a:spcBef>
                <a:spcPts val="0"/>
              </a:spcBef>
              <a:spcAft>
                <a:spcPts val="600"/>
              </a:spcAft>
              <a:buClr>
                <a:prstClr val="black"/>
              </a:buClr>
              <a:buSzTx/>
              <a:buFontTx/>
              <a:buAutoNum type="arabicPeriod" startAt="6"/>
              <a:tabLst/>
              <a:defRPr/>
            </a:pPr>
            <a:r>
              <a:rPr kumimoji="0" lang="en-US" altLang="zh-CN" sz="2000" b="0" i="0" u="sng" strike="noStrike" kern="1200" cap="none" spc="0" normalizeH="0" baseline="0" noProof="0" dirty="0">
                <a:ln>
                  <a:noFill/>
                </a:ln>
                <a:solidFill>
                  <a:srgbClr val="0000CC"/>
                </a:solidFill>
                <a:effectLst/>
                <a:uLnTx/>
                <a:uFillTx/>
                <a:latin typeface="Calibri"/>
                <a:ea typeface="宋体" panose="02010600030101010101" pitchFamily="2" charset="-122"/>
                <a:cs typeface="+mn-cs"/>
              </a:rPr>
              <a:t>Place 6 filter paper discs </a:t>
            </a:r>
            <a:r>
              <a:rPr kumimoji="0" lang="en-US" altLang="zh-CN"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on the agar surface of each plate </a:t>
            </a:r>
            <a:r>
              <a:rPr kumimoji="0" lang="en-US" altLang="zh-CN" sz="2000" b="0" i="0" u="sng" strike="noStrike" kern="1200" cap="none" spc="0" normalizeH="0" baseline="0" noProof="0" dirty="0">
                <a:ln>
                  <a:noFill/>
                </a:ln>
                <a:solidFill>
                  <a:srgbClr val="0000CC"/>
                </a:solidFill>
                <a:effectLst/>
                <a:uLnTx/>
                <a:uFillTx/>
                <a:latin typeface="Calibri"/>
                <a:ea typeface="宋体" panose="02010600030101010101" pitchFamily="2" charset="-122"/>
                <a:cs typeface="+mn-cs"/>
              </a:rPr>
              <a:t>using sterile tweezers </a:t>
            </a:r>
            <a:r>
              <a:rPr kumimoji="0" lang="en-US" altLang="zh-CN"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as in </a:t>
            </a:r>
            <a:r>
              <a:rPr lang="en-US" altLang="zh-CN" sz="2000" dirty="0">
                <a:solidFill>
                  <a:prstClr val="black"/>
                </a:solidFill>
                <a:latin typeface="Calibri"/>
                <a:ea typeface="宋体" panose="02010600030101010101" pitchFamily="2" charset="-122"/>
              </a:rPr>
              <a:t>F</a:t>
            </a:r>
            <a:r>
              <a:rPr kumimoji="0" lang="en-US" altLang="zh-CN"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ig14.2.</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NOTE</a:t>
            </a:r>
            <a:r>
              <a:rPr kumimoji="0" lang="en-US" altLang="zh-CN"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When placing discs on agar plates swabbed with different strains, </a:t>
            </a:r>
            <a:r>
              <a:rPr kumimoji="0" lang="en-US" altLang="zh-CN" sz="2000" b="0" i="0" u="none" strike="noStrike" kern="1200" cap="none" spc="0" normalizeH="0" baseline="0" noProof="0" dirty="0">
                <a:ln>
                  <a:noFill/>
                </a:ln>
                <a:solidFill>
                  <a:srgbClr val="0000CC"/>
                </a:solidFill>
                <a:effectLst/>
                <a:uLnTx/>
                <a:uFillTx/>
                <a:latin typeface="Calibri"/>
                <a:ea typeface="宋体" panose="02010600030101010101" pitchFamily="2" charset="-122"/>
                <a:cs typeface="+mn-cs"/>
              </a:rPr>
              <a:t>flame your tweezers before placing</a:t>
            </a:r>
            <a:r>
              <a:rPr kumimoji="0" lang="en-US" altLang="zh-CN"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a:t>
            </a:r>
          </a:p>
          <a:p>
            <a:pPr marL="457200" marR="0" lvl="0" indent="-457200" algn="l" defTabSz="914400" rtl="0" eaLnBrk="1" fontAlgn="auto" latinLnBrk="0" hangingPunct="1">
              <a:lnSpc>
                <a:spcPct val="100000"/>
              </a:lnSpc>
              <a:spcBef>
                <a:spcPts val="0"/>
              </a:spcBef>
              <a:spcAft>
                <a:spcPts val="600"/>
              </a:spcAft>
              <a:buClrTx/>
              <a:buSzTx/>
              <a:buFontTx/>
              <a:buAutoNum type="arabicPeriod" startAt="7"/>
              <a:tabLst/>
              <a:defRPr/>
            </a:pPr>
            <a:r>
              <a:rPr kumimoji="0" lang="en-US" altLang="zh-CN"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Add </a:t>
            </a:r>
            <a:r>
              <a:rPr kumimoji="0" lang="en-US" altLang="zh-CN" sz="2000" b="0" i="0" u="none" strike="noStrike" kern="1200" cap="none" spc="0" normalizeH="0" baseline="0" noProof="0" dirty="0">
                <a:ln>
                  <a:noFill/>
                </a:ln>
                <a:solidFill>
                  <a:srgbClr val="0000CC"/>
                </a:solidFill>
                <a:effectLst/>
                <a:uLnTx/>
                <a:uFillTx/>
                <a:latin typeface="Calibri"/>
                <a:ea typeface="宋体" panose="02010600030101010101" pitchFamily="2" charset="-122"/>
                <a:cs typeface="+mn-cs"/>
              </a:rPr>
              <a:t>3 </a:t>
            </a:r>
            <a:r>
              <a:rPr kumimoji="0" lang="en-US" altLang="zh-CN" sz="2000" b="0" i="0" u="none" strike="noStrike" kern="1200" cap="none" spc="0" normalizeH="0" baseline="0" noProof="0" dirty="0" err="1">
                <a:ln>
                  <a:noFill/>
                </a:ln>
                <a:solidFill>
                  <a:srgbClr val="0000CC"/>
                </a:solidFill>
                <a:effectLst/>
                <a:uLnTx/>
                <a:uFillTx/>
                <a:latin typeface="Calibri"/>
                <a:ea typeface="宋体" panose="02010600030101010101" pitchFamily="2" charset="-122"/>
                <a:cs typeface="+mn-cs"/>
              </a:rPr>
              <a:t>μL</a:t>
            </a:r>
            <a:r>
              <a:rPr kumimoji="0" lang="en-US" altLang="zh-CN" sz="2000" b="0" i="0" u="none" strike="noStrike" kern="1200" cap="none" spc="0" normalizeH="0" baseline="0" noProof="0" dirty="0">
                <a:ln>
                  <a:noFill/>
                </a:ln>
                <a:solidFill>
                  <a:srgbClr val="0000CC"/>
                </a:solidFill>
                <a:effectLst/>
                <a:uLnTx/>
                <a:uFillTx/>
                <a:latin typeface="Calibri"/>
                <a:ea typeface="宋体" panose="02010600030101010101" pitchFamily="2" charset="-122"/>
                <a:cs typeface="+mn-cs"/>
              </a:rPr>
              <a:t> </a:t>
            </a:r>
            <a:r>
              <a:rPr kumimoji="0" lang="en-US" altLang="zh-CN"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penicillin onto the sterile filter disc in plate section “P” by the pipette. Use a single tip for all three LB plates (</a:t>
            </a:r>
            <a:r>
              <a:rPr kumimoji="0" lang="en-US" altLang="zh-CN" sz="20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Ec</a:t>
            </a:r>
            <a:r>
              <a:rPr kumimoji="0" lang="en-US" altLang="zh-CN"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Se and Pa), but be careful not to contaminate the tip by touching the agar surface.</a:t>
            </a:r>
          </a:p>
          <a:p>
            <a:pPr marL="457200" marR="0" lvl="0" indent="-457200" algn="l" defTabSz="914400" rtl="0" eaLnBrk="1" fontAlgn="auto" latinLnBrk="0" hangingPunct="1">
              <a:lnSpc>
                <a:spcPct val="100000"/>
              </a:lnSpc>
              <a:spcBef>
                <a:spcPts val="0"/>
              </a:spcBef>
              <a:spcAft>
                <a:spcPts val="600"/>
              </a:spcAft>
              <a:buClrTx/>
              <a:buSzTx/>
              <a:buFontTx/>
              <a:buAutoNum type="arabicPeriod" startAt="7"/>
              <a:tabLst/>
              <a:defRPr/>
            </a:pPr>
            <a:r>
              <a:rPr kumimoji="0" lang="en-US" altLang="zh-CN"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Add the other antibiotics as in step 7. For section “0” add 3 </a:t>
            </a:r>
            <a:r>
              <a:rPr kumimoji="0" lang="en-US" altLang="zh-CN" sz="2000" b="0"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μL</a:t>
            </a:r>
            <a:r>
              <a:rPr kumimoji="0" lang="en-US" altLang="zh-CN"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ddH</a:t>
            </a:r>
            <a:r>
              <a:rPr kumimoji="0" lang="en-US" altLang="zh-CN" sz="2000" b="0" i="0" u="none" strike="noStrike" kern="1200" cap="none" spc="0" normalizeH="0" baseline="-25000" noProof="0" dirty="0">
                <a:ln>
                  <a:noFill/>
                </a:ln>
                <a:solidFill>
                  <a:prstClr val="black"/>
                </a:solidFill>
                <a:effectLst/>
                <a:uLnTx/>
                <a:uFillTx/>
                <a:latin typeface="Calibri"/>
                <a:ea typeface="宋体" panose="02010600030101010101" pitchFamily="2" charset="-122"/>
                <a:cs typeface="+mn-cs"/>
              </a:rPr>
              <a:t>2</a:t>
            </a:r>
            <a:r>
              <a:rPr kumimoji="0" lang="en-US" altLang="zh-CN"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O as a control. </a:t>
            </a:r>
            <a:endParaRPr kumimoji="0" lang="zh-CN" altLang="zh-CN"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p>
            <a:pPr marL="457200" marR="0" lvl="0" indent="-457200" algn="l" defTabSz="914400" rtl="0" eaLnBrk="1" fontAlgn="auto" latinLnBrk="0" hangingPunct="1">
              <a:lnSpc>
                <a:spcPct val="100000"/>
              </a:lnSpc>
              <a:spcBef>
                <a:spcPts val="0"/>
              </a:spcBef>
              <a:spcAft>
                <a:spcPts val="600"/>
              </a:spcAft>
              <a:buClrTx/>
              <a:buSzTx/>
              <a:buFontTx/>
              <a:buAutoNum type="arabicPeriod" startAt="7"/>
              <a:tabLst/>
              <a:defRPr/>
            </a:pPr>
            <a:r>
              <a:rPr kumimoji="0" lang="en-US" altLang="zh-CN"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Parafilm and incubate for &gt; 18 h at 37 </a:t>
            </a:r>
            <a:r>
              <a:rPr kumimoji="0" lang="zh-CN" altLang="en-US"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a:t>
            </a:r>
            <a:r>
              <a:rPr kumimoji="0" lang="en-US" altLang="zh-CN"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a:t>
            </a:r>
            <a:endParaRPr kumimoji="0" lang="zh-CN" altLang="en-US"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p:txBody>
      </p:sp>
      <p:grpSp>
        <p:nvGrpSpPr>
          <p:cNvPr id="12" name="组合 11">
            <a:extLst>
              <a:ext uri="{FF2B5EF4-FFF2-40B4-BE49-F238E27FC236}">
                <a16:creationId xmlns:a16="http://schemas.microsoft.com/office/drawing/2014/main" id="{FE7F7B09-AE32-4F88-AC4E-758DB328CF8E}"/>
              </a:ext>
            </a:extLst>
          </p:cNvPr>
          <p:cNvGrpSpPr/>
          <p:nvPr/>
        </p:nvGrpSpPr>
        <p:grpSpPr>
          <a:xfrm>
            <a:off x="61896" y="5201107"/>
            <a:ext cx="5932627" cy="1426464"/>
            <a:chOff x="592531" y="4096512"/>
            <a:chExt cx="5932627" cy="1426464"/>
          </a:xfrm>
        </p:grpSpPr>
        <p:sp>
          <p:nvSpPr>
            <p:cNvPr id="11" name="矩形: 圆角 10">
              <a:extLst>
                <a:ext uri="{FF2B5EF4-FFF2-40B4-BE49-F238E27FC236}">
                  <a16:creationId xmlns:a16="http://schemas.microsoft.com/office/drawing/2014/main" id="{C21FBA0B-C8DF-4037-AF95-CC3839CCDDEE}"/>
                </a:ext>
              </a:extLst>
            </p:cNvPr>
            <p:cNvSpPr/>
            <p:nvPr/>
          </p:nvSpPr>
          <p:spPr>
            <a:xfrm>
              <a:off x="592531" y="4096512"/>
              <a:ext cx="5932627" cy="1426464"/>
            </a:xfrm>
            <a:prstGeom prst="round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20C7564D-2162-43CD-AE34-C822B5B3E63B}"/>
                </a:ext>
              </a:extLst>
            </p:cNvPr>
            <p:cNvSpPr txBox="1"/>
            <p:nvPr/>
          </p:nvSpPr>
          <p:spPr>
            <a:xfrm>
              <a:off x="652006" y="4214191"/>
              <a:ext cx="5723042" cy="992579"/>
            </a:xfrm>
            <a:prstGeom prst="rect">
              <a:avLst/>
            </a:prstGeom>
            <a:noFill/>
          </p:spPr>
          <p:txBody>
            <a:bodyPr wrap="none" rtlCol="0">
              <a:spAutoFit/>
            </a:bodyPr>
            <a:lstStyle/>
            <a:p>
              <a:pPr marL="0" marR="0" lvl="0" indent="0" algn="l" defTabSz="687070" rtl="0" eaLnBrk="1" fontAlgn="auto" latinLnBrk="0" hangingPunct="1">
                <a:lnSpc>
                  <a:spcPts val="2700"/>
                </a:lnSpc>
                <a:spcBef>
                  <a:spcPct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rPr>
                <a:t>For Exp 15 </a:t>
              </a:r>
              <a:r>
                <a:rPr kumimoji="0" lang="zh-CN" altLang="en-US" sz="2000" b="1"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rPr>
                <a:t>基因组提取 </a:t>
              </a:r>
              <a:r>
                <a:rPr kumimoji="0" lang="en-US" altLang="zh-CN" sz="2000" b="1"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rPr>
                <a:t>next week (Exp15A)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Culture your</a:t>
              </a:r>
              <a:r>
                <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t>
              </a:r>
              <a:r>
                <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strain</a:t>
              </a:r>
              <a:r>
                <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t>
              </a:r>
              <a:r>
                <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in</a:t>
              </a:r>
              <a:r>
                <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t>
              </a:r>
              <a:r>
                <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fresh LB</a:t>
              </a:r>
              <a:r>
                <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t>
              </a:r>
              <a:r>
                <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medium.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1 -5% (v/v) fresh medium (20 mL) inoculate your strain </a:t>
              </a:r>
            </a:p>
          </p:txBody>
        </p:sp>
      </p:grpSp>
      <p:pic>
        <p:nvPicPr>
          <p:cNvPr id="9" name="图片 8" descr="C:\Users\Administrator\Desktop\图片6.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16235" y="3676844"/>
            <a:ext cx="3528392" cy="2801509"/>
          </a:xfrm>
          <a:prstGeom prst="rect">
            <a:avLst/>
          </a:prstGeom>
          <a:noFill/>
          <a:ln>
            <a:noFill/>
          </a:ln>
        </p:spPr>
      </p:pic>
      <p:sp>
        <p:nvSpPr>
          <p:cNvPr id="7" name="文本框 6">
            <a:extLst>
              <a:ext uri="{FF2B5EF4-FFF2-40B4-BE49-F238E27FC236}">
                <a16:creationId xmlns:a16="http://schemas.microsoft.com/office/drawing/2014/main" id="{A9D8FB2F-5311-4311-80E8-CE5942F98ABB}"/>
              </a:ext>
            </a:extLst>
          </p:cNvPr>
          <p:cNvSpPr txBox="1"/>
          <p:nvPr/>
        </p:nvSpPr>
        <p:spPr>
          <a:xfrm>
            <a:off x="9059658" y="6361043"/>
            <a:ext cx="189026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“0” means ddH</a:t>
            </a:r>
            <a:r>
              <a:rPr kumimoji="0" lang="en-US" altLang="zh-CN" sz="1800" b="0" i="0" u="none" strike="noStrike" kern="1200" cap="none" spc="0" normalizeH="0" baseline="-25000" noProof="0" dirty="0">
                <a:ln>
                  <a:noFill/>
                </a:ln>
                <a:solidFill>
                  <a:prstClr val="black"/>
                </a:solidFill>
                <a:effectLst/>
                <a:uLnTx/>
                <a:uFillTx/>
                <a:latin typeface="Calibri"/>
                <a:ea typeface="宋体" panose="02010600030101010101" pitchFamily="2" charset="-122"/>
                <a:cs typeface="+mn-cs"/>
              </a:rPr>
              <a:t>2</a:t>
            </a:r>
            <a:r>
              <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O </a:t>
            </a:r>
            <a:endPar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96791846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Arial"/>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964</TotalTime>
  <Words>1684</Words>
  <Application>Microsoft Office PowerPoint</Application>
  <PresentationFormat>宽屏</PresentationFormat>
  <Paragraphs>169</Paragraphs>
  <Slides>20</Slides>
  <Notes>0</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20</vt:i4>
      </vt:variant>
    </vt:vector>
  </HeadingPairs>
  <TitlesOfParts>
    <vt:vector size="31" baseType="lpstr">
      <vt:lpstr>TimesNewRomanPSMT</vt:lpstr>
      <vt:lpstr>等线</vt:lpstr>
      <vt:lpstr>华文新魏</vt:lpstr>
      <vt:lpstr>微软雅黑</vt:lpstr>
      <vt:lpstr>Arial</vt:lpstr>
      <vt:lpstr>Calibri</vt:lpstr>
      <vt:lpstr>Calibri Light</vt:lpstr>
      <vt:lpstr>Times New Roman</vt:lpstr>
      <vt:lpstr>Wingdings</vt:lpstr>
      <vt:lpstr>Office 主题​​</vt:lpstr>
      <vt:lpstr>Office 主题</vt:lpstr>
      <vt:lpstr>PowerPoint 演示文稿</vt:lpstr>
      <vt:lpstr>EXPERIMENT 8: Detection of colony-forming unit (CFU)                                                       菌落形成单位</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王 品美</dc:creator>
  <cp:lastModifiedBy>不纠结</cp:lastModifiedBy>
  <cp:revision>124</cp:revision>
  <dcterms:created xsi:type="dcterms:W3CDTF">2022-10-19T06:09:22Z</dcterms:created>
  <dcterms:modified xsi:type="dcterms:W3CDTF">2024-11-20T08:26:25Z</dcterms:modified>
</cp:coreProperties>
</file>