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7" r:id="rId2"/>
    <p:sldId id="429" r:id="rId3"/>
    <p:sldId id="430" r:id="rId4"/>
    <p:sldId id="417" r:id="rId5"/>
    <p:sldId id="422" r:id="rId6"/>
    <p:sldId id="423" r:id="rId7"/>
    <p:sldId id="424" r:id="rId8"/>
    <p:sldId id="425" r:id="rId9"/>
    <p:sldId id="433" r:id="rId10"/>
    <p:sldId id="427" r:id="rId11"/>
    <p:sldId id="428" r:id="rId12"/>
    <p:sldId id="431" r:id="rId13"/>
    <p:sldId id="432"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王 品美" initials="王" lastIdx="1" clrIdx="0">
    <p:extLst>
      <p:ext uri="{19B8F6BF-5375-455C-9EA6-DF929625EA0E}">
        <p15:presenceInfo xmlns:p15="http://schemas.microsoft.com/office/powerpoint/2012/main" userId="e8f830cc432226c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856"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6FFDBF-89A8-4CED-B1CB-8523A4352154}" type="datetimeFigureOut">
              <a:rPr lang="zh-CN" altLang="en-US" smtClean="0"/>
              <a:t>2024/10/16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BDAD64-272D-4D61-A36F-873F86E3FEC9}" type="slidenum">
              <a:rPr lang="zh-CN" altLang="en-US" smtClean="0"/>
              <a:t>‹#›</a:t>
            </a:fld>
            <a:endParaRPr lang="zh-CN" altLang="en-US"/>
          </a:p>
        </p:txBody>
      </p:sp>
    </p:spTree>
    <p:extLst>
      <p:ext uri="{BB962C8B-B14F-4D97-AF65-F5344CB8AC3E}">
        <p14:creationId xmlns:p14="http://schemas.microsoft.com/office/powerpoint/2010/main" val="26176886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5006FD-638D-4E6C-9CCF-3D4658AF701A}"/>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C26C3BD-298E-40CE-B079-5429E579C18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3DCB538D-F6E0-4A06-9EE8-858751E87754}"/>
              </a:ext>
            </a:extLst>
          </p:cNvPr>
          <p:cNvSpPr>
            <a:spLocks noGrp="1"/>
          </p:cNvSpPr>
          <p:nvPr>
            <p:ph type="dt" sz="half" idx="10"/>
          </p:nvPr>
        </p:nvSpPr>
        <p:spPr/>
        <p:txBody>
          <a:bodyPr/>
          <a:lstStyle/>
          <a:p>
            <a:fld id="{348C4D99-D46D-446B-991C-B1A1FE191A29}" type="datetimeFigureOut">
              <a:rPr lang="zh-CN" altLang="en-US" smtClean="0"/>
              <a:t>2024/10/16</a:t>
            </a:fld>
            <a:endParaRPr lang="zh-CN" altLang="en-US"/>
          </a:p>
        </p:txBody>
      </p:sp>
      <p:sp>
        <p:nvSpPr>
          <p:cNvPr id="5" name="页脚占位符 4">
            <a:extLst>
              <a:ext uri="{FF2B5EF4-FFF2-40B4-BE49-F238E27FC236}">
                <a16:creationId xmlns:a16="http://schemas.microsoft.com/office/drawing/2014/main" id="{2C9B3C53-623A-4BEE-8264-329FFCBCA07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FCAF78D-8C63-4A04-A86E-AFC517B51F32}"/>
              </a:ext>
            </a:extLst>
          </p:cNvPr>
          <p:cNvSpPr>
            <a:spLocks noGrp="1"/>
          </p:cNvSpPr>
          <p:nvPr>
            <p:ph type="sldNum" sz="quarter" idx="12"/>
          </p:nvPr>
        </p:nvSpPr>
        <p:spPr/>
        <p:txBody>
          <a:bodyPr/>
          <a:lstStyle/>
          <a:p>
            <a:fld id="{CB844813-B777-4B5B-AC53-AB94914AF5BB}" type="slidenum">
              <a:rPr lang="zh-CN" altLang="en-US" smtClean="0"/>
              <a:t>‹#›</a:t>
            </a:fld>
            <a:endParaRPr lang="zh-CN" altLang="en-US"/>
          </a:p>
        </p:txBody>
      </p:sp>
    </p:spTree>
    <p:extLst>
      <p:ext uri="{BB962C8B-B14F-4D97-AF65-F5344CB8AC3E}">
        <p14:creationId xmlns:p14="http://schemas.microsoft.com/office/powerpoint/2010/main" val="22810637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397606-93A3-409D-B67D-4FD5C28BFDB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D6501F3-54A8-4E88-A3E1-CA35644C8E2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F68289A-ED03-4119-BDF9-32C49A6106D4}"/>
              </a:ext>
            </a:extLst>
          </p:cNvPr>
          <p:cNvSpPr>
            <a:spLocks noGrp="1"/>
          </p:cNvSpPr>
          <p:nvPr>
            <p:ph type="dt" sz="half" idx="10"/>
          </p:nvPr>
        </p:nvSpPr>
        <p:spPr/>
        <p:txBody>
          <a:bodyPr/>
          <a:lstStyle/>
          <a:p>
            <a:fld id="{348C4D99-D46D-446B-991C-B1A1FE191A29}" type="datetimeFigureOut">
              <a:rPr lang="zh-CN" altLang="en-US" smtClean="0"/>
              <a:t>2024/10/16</a:t>
            </a:fld>
            <a:endParaRPr lang="zh-CN" altLang="en-US"/>
          </a:p>
        </p:txBody>
      </p:sp>
      <p:sp>
        <p:nvSpPr>
          <p:cNvPr id="5" name="页脚占位符 4">
            <a:extLst>
              <a:ext uri="{FF2B5EF4-FFF2-40B4-BE49-F238E27FC236}">
                <a16:creationId xmlns:a16="http://schemas.microsoft.com/office/drawing/2014/main" id="{71F58A37-1224-4F61-93AC-777F9C8702A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AB6D122-B720-4B3A-9451-B908871C2407}"/>
              </a:ext>
            </a:extLst>
          </p:cNvPr>
          <p:cNvSpPr>
            <a:spLocks noGrp="1"/>
          </p:cNvSpPr>
          <p:nvPr>
            <p:ph type="sldNum" sz="quarter" idx="12"/>
          </p:nvPr>
        </p:nvSpPr>
        <p:spPr/>
        <p:txBody>
          <a:bodyPr/>
          <a:lstStyle/>
          <a:p>
            <a:fld id="{CB844813-B777-4B5B-AC53-AB94914AF5BB}" type="slidenum">
              <a:rPr lang="zh-CN" altLang="en-US" smtClean="0"/>
              <a:t>‹#›</a:t>
            </a:fld>
            <a:endParaRPr lang="zh-CN" altLang="en-US"/>
          </a:p>
        </p:txBody>
      </p:sp>
    </p:spTree>
    <p:extLst>
      <p:ext uri="{BB962C8B-B14F-4D97-AF65-F5344CB8AC3E}">
        <p14:creationId xmlns:p14="http://schemas.microsoft.com/office/powerpoint/2010/main" val="1086376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4A8940-2223-4034-827E-C66B0DC57149}"/>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D1A1540F-5E47-4F02-BC39-548C4D1F12A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EACA5E3-0EE4-4004-BC45-399894C3C63D}"/>
              </a:ext>
            </a:extLst>
          </p:cNvPr>
          <p:cNvSpPr>
            <a:spLocks noGrp="1"/>
          </p:cNvSpPr>
          <p:nvPr>
            <p:ph type="dt" sz="half" idx="10"/>
          </p:nvPr>
        </p:nvSpPr>
        <p:spPr/>
        <p:txBody>
          <a:bodyPr/>
          <a:lstStyle/>
          <a:p>
            <a:fld id="{348C4D99-D46D-446B-991C-B1A1FE191A29}" type="datetimeFigureOut">
              <a:rPr lang="zh-CN" altLang="en-US" smtClean="0"/>
              <a:t>2024/10/16</a:t>
            </a:fld>
            <a:endParaRPr lang="zh-CN" altLang="en-US"/>
          </a:p>
        </p:txBody>
      </p:sp>
      <p:sp>
        <p:nvSpPr>
          <p:cNvPr id="5" name="页脚占位符 4">
            <a:extLst>
              <a:ext uri="{FF2B5EF4-FFF2-40B4-BE49-F238E27FC236}">
                <a16:creationId xmlns:a16="http://schemas.microsoft.com/office/drawing/2014/main" id="{C18BA87E-68F9-4719-97F4-D5491FF51B8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9D3E54F-6F63-4A7E-8958-CDA3A188AC97}"/>
              </a:ext>
            </a:extLst>
          </p:cNvPr>
          <p:cNvSpPr>
            <a:spLocks noGrp="1"/>
          </p:cNvSpPr>
          <p:nvPr>
            <p:ph type="sldNum" sz="quarter" idx="12"/>
          </p:nvPr>
        </p:nvSpPr>
        <p:spPr/>
        <p:txBody>
          <a:bodyPr/>
          <a:lstStyle/>
          <a:p>
            <a:fld id="{CB844813-B777-4B5B-AC53-AB94914AF5BB}" type="slidenum">
              <a:rPr lang="zh-CN" altLang="en-US" smtClean="0"/>
              <a:t>‹#›</a:t>
            </a:fld>
            <a:endParaRPr lang="zh-CN" altLang="en-US"/>
          </a:p>
        </p:txBody>
      </p:sp>
    </p:spTree>
    <p:extLst>
      <p:ext uri="{BB962C8B-B14F-4D97-AF65-F5344CB8AC3E}">
        <p14:creationId xmlns:p14="http://schemas.microsoft.com/office/powerpoint/2010/main" val="28331759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C4CACA-7F2A-4EA8-B20E-9C9D2FCD138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D4507A7-061B-4774-9A0A-70355BD1EB7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CFF3495-257B-451B-AD86-BB85632C712C}"/>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D0701B8-0B5D-480D-A662-954FD27DABC8}"/>
              </a:ext>
            </a:extLst>
          </p:cNvPr>
          <p:cNvSpPr>
            <a:spLocks noGrp="1"/>
          </p:cNvSpPr>
          <p:nvPr>
            <p:ph type="dt" sz="half" idx="10"/>
          </p:nvPr>
        </p:nvSpPr>
        <p:spPr/>
        <p:txBody>
          <a:bodyPr/>
          <a:lstStyle/>
          <a:p>
            <a:fld id="{348C4D99-D46D-446B-991C-B1A1FE191A29}" type="datetimeFigureOut">
              <a:rPr lang="zh-CN" altLang="en-US" smtClean="0"/>
              <a:t>2024/10/16</a:t>
            </a:fld>
            <a:endParaRPr lang="zh-CN" altLang="en-US"/>
          </a:p>
        </p:txBody>
      </p:sp>
      <p:sp>
        <p:nvSpPr>
          <p:cNvPr id="6" name="页脚占位符 5">
            <a:extLst>
              <a:ext uri="{FF2B5EF4-FFF2-40B4-BE49-F238E27FC236}">
                <a16:creationId xmlns:a16="http://schemas.microsoft.com/office/drawing/2014/main" id="{C4FB4FF5-5196-4430-9149-11770DA1969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9683778-FABB-4B38-AE8F-2F2EAB0EBA6D}"/>
              </a:ext>
            </a:extLst>
          </p:cNvPr>
          <p:cNvSpPr>
            <a:spLocks noGrp="1"/>
          </p:cNvSpPr>
          <p:nvPr>
            <p:ph type="sldNum" sz="quarter" idx="12"/>
          </p:nvPr>
        </p:nvSpPr>
        <p:spPr/>
        <p:txBody>
          <a:bodyPr/>
          <a:lstStyle/>
          <a:p>
            <a:fld id="{CB844813-B777-4B5B-AC53-AB94914AF5BB}" type="slidenum">
              <a:rPr lang="zh-CN" altLang="en-US" smtClean="0"/>
              <a:t>‹#›</a:t>
            </a:fld>
            <a:endParaRPr lang="zh-CN" altLang="en-US"/>
          </a:p>
        </p:txBody>
      </p:sp>
    </p:spTree>
    <p:extLst>
      <p:ext uri="{BB962C8B-B14F-4D97-AF65-F5344CB8AC3E}">
        <p14:creationId xmlns:p14="http://schemas.microsoft.com/office/powerpoint/2010/main" val="730808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167C9A-BA36-4894-9FD1-16179F49870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EB7A235-C146-422A-8F20-D1E00A930D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14CF70E-8B3D-4B04-B049-BBB65E939EE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1DF0D9C5-A73A-4807-95D6-A8C20F01F3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AEA4A2D-70A3-41C5-BF83-37E9357F97CA}"/>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751BA9A-A40B-4546-B056-90AE17F813B4}"/>
              </a:ext>
            </a:extLst>
          </p:cNvPr>
          <p:cNvSpPr>
            <a:spLocks noGrp="1"/>
          </p:cNvSpPr>
          <p:nvPr>
            <p:ph type="dt" sz="half" idx="10"/>
          </p:nvPr>
        </p:nvSpPr>
        <p:spPr/>
        <p:txBody>
          <a:bodyPr/>
          <a:lstStyle/>
          <a:p>
            <a:fld id="{348C4D99-D46D-446B-991C-B1A1FE191A29}" type="datetimeFigureOut">
              <a:rPr lang="zh-CN" altLang="en-US" smtClean="0"/>
              <a:t>2024/10/16</a:t>
            </a:fld>
            <a:endParaRPr lang="zh-CN" altLang="en-US"/>
          </a:p>
        </p:txBody>
      </p:sp>
      <p:sp>
        <p:nvSpPr>
          <p:cNvPr id="8" name="页脚占位符 7">
            <a:extLst>
              <a:ext uri="{FF2B5EF4-FFF2-40B4-BE49-F238E27FC236}">
                <a16:creationId xmlns:a16="http://schemas.microsoft.com/office/drawing/2014/main" id="{1F5C488D-5F5D-4EF2-B7FE-B81B9E9EA9C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7D2C24C4-A76A-4840-87AA-F1F5EB4D7624}"/>
              </a:ext>
            </a:extLst>
          </p:cNvPr>
          <p:cNvSpPr>
            <a:spLocks noGrp="1"/>
          </p:cNvSpPr>
          <p:nvPr>
            <p:ph type="sldNum" sz="quarter" idx="12"/>
          </p:nvPr>
        </p:nvSpPr>
        <p:spPr/>
        <p:txBody>
          <a:bodyPr/>
          <a:lstStyle/>
          <a:p>
            <a:fld id="{CB844813-B777-4B5B-AC53-AB94914AF5BB}" type="slidenum">
              <a:rPr lang="zh-CN" altLang="en-US" smtClean="0"/>
              <a:t>‹#›</a:t>
            </a:fld>
            <a:endParaRPr lang="zh-CN" altLang="en-US"/>
          </a:p>
        </p:txBody>
      </p:sp>
    </p:spTree>
    <p:extLst>
      <p:ext uri="{BB962C8B-B14F-4D97-AF65-F5344CB8AC3E}">
        <p14:creationId xmlns:p14="http://schemas.microsoft.com/office/powerpoint/2010/main" val="34018231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2AE834-F633-48DE-845F-C3A0DBC8C37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367D939-5B66-4A3E-83BD-2966FF85E9E4}"/>
              </a:ext>
            </a:extLst>
          </p:cNvPr>
          <p:cNvSpPr>
            <a:spLocks noGrp="1"/>
          </p:cNvSpPr>
          <p:nvPr>
            <p:ph type="dt" sz="half" idx="10"/>
          </p:nvPr>
        </p:nvSpPr>
        <p:spPr/>
        <p:txBody>
          <a:bodyPr/>
          <a:lstStyle/>
          <a:p>
            <a:fld id="{348C4D99-D46D-446B-991C-B1A1FE191A29}" type="datetimeFigureOut">
              <a:rPr lang="zh-CN" altLang="en-US" smtClean="0"/>
              <a:t>2024/10/16</a:t>
            </a:fld>
            <a:endParaRPr lang="zh-CN" altLang="en-US"/>
          </a:p>
        </p:txBody>
      </p:sp>
      <p:sp>
        <p:nvSpPr>
          <p:cNvPr id="4" name="页脚占位符 3">
            <a:extLst>
              <a:ext uri="{FF2B5EF4-FFF2-40B4-BE49-F238E27FC236}">
                <a16:creationId xmlns:a16="http://schemas.microsoft.com/office/drawing/2014/main" id="{CD96AB21-D046-481B-A10B-3EABDFE426A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96BD405-D7BD-42B1-8AF2-FB472B1F7666}"/>
              </a:ext>
            </a:extLst>
          </p:cNvPr>
          <p:cNvSpPr>
            <a:spLocks noGrp="1"/>
          </p:cNvSpPr>
          <p:nvPr>
            <p:ph type="sldNum" sz="quarter" idx="12"/>
          </p:nvPr>
        </p:nvSpPr>
        <p:spPr/>
        <p:txBody>
          <a:bodyPr/>
          <a:lstStyle/>
          <a:p>
            <a:fld id="{CB844813-B777-4B5B-AC53-AB94914AF5BB}" type="slidenum">
              <a:rPr lang="zh-CN" altLang="en-US" smtClean="0"/>
              <a:t>‹#›</a:t>
            </a:fld>
            <a:endParaRPr lang="zh-CN" altLang="en-US"/>
          </a:p>
        </p:txBody>
      </p:sp>
    </p:spTree>
    <p:extLst>
      <p:ext uri="{BB962C8B-B14F-4D97-AF65-F5344CB8AC3E}">
        <p14:creationId xmlns:p14="http://schemas.microsoft.com/office/powerpoint/2010/main" val="1743160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58779A2-9955-44BA-8041-6F24F488AE1B}"/>
              </a:ext>
            </a:extLst>
          </p:cNvPr>
          <p:cNvSpPr>
            <a:spLocks noGrp="1"/>
          </p:cNvSpPr>
          <p:nvPr>
            <p:ph type="dt" sz="half" idx="10"/>
          </p:nvPr>
        </p:nvSpPr>
        <p:spPr/>
        <p:txBody>
          <a:bodyPr/>
          <a:lstStyle/>
          <a:p>
            <a:fld id="{348C4D99-D46D-446B-991C-B1A1FE191A29}" type="datetimeFigureOut">
              <a:rPr lang="zh-CN" altLang="en-US" smtClean="0"/>
              <a:t>2024/10/16</a:t>
            </a:fld>
            <a:endParaRPr lang="zh-CN" altLang="en-US"/>
          </a:p>
        </p:txBody>
      </p:sp>
      <p:sp>
        <p:nvSpPr>
          <p:cNvPr id="3" name="页脚占位符 2">
            <a:extLst>
              <a:ext uri="{FF2B5EF4-FFF2-40B4-BE49-F238E27FC236}">
                <a16:creationId xmlns:a16="http://schemas.microsoft.com/office/drawing/2014/main" id="{5A41C96A-B38C-40EF-9163-313AEAA55ED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321D85E-CE56-49E9-BC4F-18D7A8F7E348}"/>
              </a:ext>
            </a:extLst>
          </p:cNvPr>
          <p:cNvSpPr>
            <a:spLocks noGrp="1"/>
          </p:cNvSpPr>
          <p:nvPr>
            <p:ph type="sldNum" sz="quarter" idx="12"/>
          </p:nvPr>
        </p:nvSpPr>
        <p:spPr/>
        <p:txBody>
          <a:bodyPr/>
          <a:lstStyle/>
          <a:p>
            <a:fld id="{CB844813-B777-4B5B-AC53-AB94914AF5BB}" type="slidenum">
              <a:rPr lang="zh-CN" altLang="en-US" smtClean="0"/>
              <a:t>‹#›</a:t>
            </a:fld>
            <a:endParaRPr lang="zh-CN" altLang="en-US"/>
          </a:p>
        </p:txBody>
      </p:sp>
    </p:spTree>
    <p:extLst>
      <p:ext uri="{BB962C8B-B14F-4D97-AF65-F5344CB8AC3E}">
        <p14:creationId xmlns:p14="http://schemas.microsoft.com/office/powerpoint/2010/main" val="4979091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BAD677-E45D-4730-8424-65A7836FA27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63A9A7E-4898-45EE-BE31-AA968E90DF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1E739831-9F0B-45CB-8CF6-AFB6867238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976B78C-2068-4871-9F08-950BCDE52277}"/>
              </a:ext>
            </a:extLst>
          </p:cNvPr>
          <p:cNvSpPr>
            <a:spLocks noGrp="1"/>
          </p:cNvSpPr>
          <p:nvPr>
            <p:ph type="dt" sz="half" idx="10"/>
          </p:nvPr>
        </p:nvSpPr>
        <p:spPr/>
        <p:txBody>
          <a:bodyPr/>
          <a:lstStyle/>
          <a:p>
            <a:fld id="{348C4D99-D46D-446B-991C-B1A1FE191A29}" type="datetimeFigureOut">
              <a:rPr lang="zh-CN" altLang="en-US" smtClean="0"/>
              <a:t>2024/10/16</a:t>
            </a:fld>
            <a:endParaRPr lang="zh-CN" altLang="en-US"/>
          </a:p>
        </p:txBody>
      </p:sp>
      <p:sp>
        <p:nvSpPr>
          <p:cNvPr id="6" name="页脚占位符 5">
            <a:extLst>
              <a:ext uri="{FF2B5EF4-FFF2-40B4-BE49-F238E27FC236}">
                <a16:creationId xmlns:a16="http://schemas.microsoft.com/office/drawing/2014/main" id="{EA292DF1-703C-40A6-998B-252EC10AAA1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BD0B59E-E9CE-4A06-A19F-79BD2F085038}"/>
              </a:ext>
            </a:extLst>
          </p:cNvPr>
          <p:cNvSpPr>
            <a:spLocks noGrp="1"/>
          </p:cNvSpPr>
          <p:nvPr>
            <p:ph type="sldNum" sz="quarter" idx="12"/>
          </p:nvPr>
        </p:nvSpPr>
        <p:spPr/>
        <p:txBody>
          <a:bodyPr/>
          <a:lstStyle/>
          <a:p>
            <a:fld id="{CB844813-B777-4B5B-AC53-AB94914AF5BB}" type="slidenum">
              <a:rPr lang="zh-CN" altLang="en-US" smtClean="0"/>
              <a:t>‹#›</a:t>
            </a:fld>
            <a:endParaRPr lang="zh-CN" altLang="en-US"/>
          </a:p>
        </p:txBody>
      </p:sp>
    </p:spTree>
    <p:extLst>
      <p:ext uri="{BB962C8B-B14F-4D97-AF65-F5344CB8AC3E}">
        <p14:creationId xmlns:p14="http://schemas.microsoft.com/office/powerpoint/2010/main" val="178426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6DDAD4-C235-4A27-95F5-39163ACE3C62}"/>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4D2C910-359C-4782-A437-58BDC984C2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3F58ACDE-F736-47D4-9A11-B6E49B04E4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B8C8F96-3A39-49E7-B37F-9E76A9BD310F}"/>
              </a:ext>
            </a:extLst>
          </p:cNvPr>
          <p:cNvSpPr>
            <a:spLocks noGrp="1"/>
          </p:cNvSpPr>
          <p:nvPr>
            <p:ph type="dt" sz="half" idx="10"/>
          </p:nvPr>
        </p:nvSpPr>
        <p:spPr/>
        <p:txBody>
          <a:bodyPr/>
          <a:lstStyle/>
          <a:p>
            <a:fld id="{348C4D99-D46D-446B-991C-B1A1FE191A29}" type="datetimeFigureOut">
              <a:rPr lang="zh-CN" altLang="en-US" smtClean="0"/>
              <a:t>2024/10/16</a:t>
            </a:fld>
            <a:endParaRPr lang="zh-CN" altLang="en-US"/>
          </a:p>
        </p:txBody>
      </p:sp>
      <p:sp>
        <p:nvSpPr>
          <p:cNvPr id="6" name="页脚占位符 5">
            <a:extLst>
              <a:ext uri="{FF2B5EF4-FFF2-40B4-BE49-F238E27FC236}">
                <a16:creationId xmlns:a16="http://schemas.microsoft.com/office/drawing/2014/main" id="{5549BC48-7099-46F4-8EA6-D302DBDB327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5BE9815-98AD-4FA7-9D12-CAB799699AB1}"/>
              </a:ext>
            </a:extLst>
          </p:cNvPr>
          <p:cNvSpPr>
            <a:spLocks noGrp="1"/>
          </p:cNvSpPr>
          <p:nvPr>
            <p:ph type="sldNum" sz="quarter" idx="12"/>
          </p:nvPr>
        </p:nvSpPr>
        <p:spPr/>
        <p:txBody>
          <a:bodyPr/>
          <a:lstStyle/>
          <a:p>
            <a:fld id="{CB844813-B777-4B5B-AC53-AB94914AF5BB}" type="slidenum">
              <a:rPr lang="zh-CN" altLang="en-US" smtClean="0"/>
              <a:t>‹#›</a:t>
            </a:fld>
            <a:endParaRPr lang="zh-CN" altLang="en-US"/>
          </a:p>
        </p:txBody>
      </p:sp>
    </p:spTree>
    <p:extLst>
      <p:ext uri="{BB962C8B-B14F-4D97-AF65-F5344CB8AC3E}">
        <p14:creationId xmlns:p14="http://schemas.microsoft.com/office/powerpoint/2010/main" val="1822589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48B78E-CFE3-43A4-A145-6E00D043F18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A3F2C2A-5583-45D6-AFEE-30B2BF2199FA}"/>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999F7E2-BE40-4E0D-B663-BF1F33A0EFF6}"/>
              </a:ext>
            </a:extLst>
          </p:cNvPr>
          <p:cNvSpPr>
            <a:spLocks noGrp="1"/>
          </p:cNvSpPr>
          <p:nvPr>
            <p:ph type="dt" sz="half" idx="10"/>
          </p:nvPr>
        </p:nvSpPr>
        <p:spPr/>
        <p:txBody>
          <a:bodyPr/>
          <a:lstStyle/>
          <a:p>
            <a:fld id="{348C4D99-D46D-446B-991C-B1A1FE191A29}" type="datetimeFigureOut">
              <a:rPr lang="zh-CN" altLang="en-US" smtClean="0"/>
              <a:t>2024/10/16</a:t>
            </a:fld>
            <a:endParaRPr lang="zh-CN" altLang="en-US"/>
          </a:p>
        </p:txBody>
      </p:sp>
      <p:sp>
        <p:nvSpPr>
          <p:cNvPr id="5" name="页脚占位符 4">
            <a:extLst>
              <a:ext uri="{FF2B5EF4-FFF2-40B4-BE49-F238E27FC236}">
                <a16:creationId xmlns:a16="http://schemas.microsoft.com/office/drawing/2014/main" id="{93C04631-ECAC-4FFC-B2C2-E659E911F4F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CC4577D-EDD8-4915-B19A-D7C1D9A7986E}"/>
              </a:ext>
            </a:extLst>
          </p:cNvPr>
          <p:cNvSpPr>
            <a:spLocks noGrp="1"/>
          </p:cNvSpPr>
          <p:nvPr>
            <p:ph type="sldNum" sz="quarter" idx="12"/>
          </p:nvPr>
        </p:nvSpPr>
        <p:spPr/>
        <p:txBody>
          <a:bodyPr/>
          <a:lstStyle/>
          <a:p>
            <a:fld id="{CB844813-B777-4B5B-AC53-AB94914AF5BB}" type="slidenum">
              <a:rPr lang="zh-CN" altLang="en-US" smtClean="0"/>
              <a:t>‹#›</a:t>
            </a:fld>
            <a:endParaRPr lang="zh-CN" altLang="en-US"/>
          </a:p>
        </p:txBody>
      </p:sp>
    </p:spTree>
    <p:extLst>
      <p:ext uri="{BB962C8B-B14F-4D97-AF65-F5344CB8AC3E}">
        <p14:creationId xmlns:p14="http://schemas.microsoft.com/office/powerpoint/2010/main" val="1149373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28A74BB-AC70-481B-8B87-B19990EE78A0}"/>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4B02042-CF7A-4DA6-8D3A-FAFDB666CB1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C37B368-1400-4E38-98BD-7524ECD56834}"/>
              </a:ext>
            </a:extLst>
          </p:cNvPr>
          <p:cNvSpPr>
            <a:spLocks noGrp="1"/>
          </p:cNvSpPr>
          <p:nvPr>
            <p:ph type="dt" sz="half" idx="10"/>
          </p:nvPr>
        </p:nvSpPr>
        <p:spPr/>
        <p:txBody>
          <a:bodyPr/>
          <a:lstStyle/>
          <a:p>
            <a:fld id="{348C4D99-D46D-446B-991C-B1A1FE191A29}" type="datetimeFigureOut">
              <a:rPr lang="zh-CN" altLang="en-US" smtClean="0"/>
              <a:t>2024/10/16</a:t>
            </a:fld>
            <a:endParaRPr lang="zh-CN" altLang="en-US"/>
          </a:p>
        </p:txBody>
      </p:sp>
      <p:sp>
        <p:nvSpPr>
          <p:cNvPr id="5" name="页脚占位符 4">
            <a:extLst>
              <a:ext uri="{FF2B5EF4-FFF2-40B4-BE49-F238E27FC236}">
                <a16:creationId xmlns:a16="http://schemas.microsoft.com/office/drawing/2014/main" id="{6CAD7664-C763-4AE6-8A93-B79CF803BE7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2C15E55-98D1-458D-837D-42FC5787B36C}"/>
              </a:ext>
            </a:extLst>
          </p:cNvPr>
          <p:cNvSpPr>
            <a:spLocks noGrp="1"/>
          </p:cNvSpPr>
          <p:nvPr>
            <p:ph type="sldNum" sz="quarter" idx="12"/>
          </p:nvPr>
        </p:nvSpPr>
        <p:spPr/>
        <p:txBody>
          <a:bodyPr/>
          <a:lstStyle/>
          <a:p>
            <a:fld id="{CB844813-B777-4B5B-AC53-AB94914AF5BB}" type="slidenum">
              <a:rPr lang="zh-CN" altLang="en-US" smtClean="0"/>
              <a:t>‹#›</a:t>
            </a:fld>
            <a:endParaRPr lang="zh-CN" altLang="en-US"/>
          </a:p>
        </p:txBody>
      </p:sp>
    </p:spTree>
    <p:extLst>
      <p:ext uri="{BB962C8B-B14F-4D97-AF65-F5344CB8AC3E}">
        <p14:creationId xmlns:p14="http://schemas.microsoft.com/office/powerpoint/2010/main" val="3317965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32FDC02-FD09-48CA-8E4D-D8DA968B86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61886474-27AA-403B-9ADE-D13F112B3B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CD5D2D0-624B-4BCC-9907-C0CC11CDCB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8C4D99-D46D-446B-991C-B1A1FE191A29}" type="datetimeFigureOut">
              <a:rPr lang="zh-CN" altLang="en-US" smtClean="0"/>
              <a:t>2024/10/16</a:t>
            </a:fld>
            <a:endParaRPr lang="zh-CN" altLang="en-US"/>
          </a:p>
        </p:txBody>
      </p:sp>
      <p:sp>
        <p:nvSpPr>
          <p:cNvPr id="5" name="页脚占位符 4">
            <a:extLst>
              <a:ext uri="{FF2B5EF4-FFF2-40B4-BE49-F238E27FC236}">
                <a16:creationId xmlns:a16="http://schemas.microsoft.com/office/drawing/2014/main" id="{7D287C87-6CAF-41C1-8ABA-31391E87B3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769B6B0-F241-4667-9973-6C60F617B0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844813-B777-4B5B-AC53-AB94914AF5BB}" type="slidenum">
              <a:rPr lang="zh-CN" altLang="en-US" smtClean="0"/>
              <a:t>‹#›</a:t>
            </a:fld>
            <a:endParaRPr lang="zh-CN" altLang="en-US"/>
          </a:p>
        </p:txBody>
      </p:sp>
    </p:spTree>
    <p:extLst>
      <p:ext uri="{BB962C8B-B14F-4D97-AF65-F5344CB8AC3E}">
        <p14:creationId xmlns:p14="http://schemas.microsoft.com/office/powerpoint/2010/main" val="21465165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2E8868EC-50BF-4926-8A23-88419186DA5A}"/>
              </a:ext>
            </a:extLst>
          </p:cNvPr>
          <p:cNvPicPr>
            <a:picLocks noChangeAspect="1"/>
          </p:cNvPicPr>
          <p:nvPr/>
        </p:nvPicPr>
        <p:blipFill>
          <a:blip r:embed="rId2"/>
          <a:stretch>
            <a:fillRect/>
          </a:stretch>
        </p:blipFill>
        <p:spPr>
          <a:xfrm>
            <a:off x="28120" y="0"/>
            <a:ext cx="12135759" cy="6858000"/>
          </a:xfrm>
          <a:prstGeom prst="rect">
            <a:avLst/>
          </a:prstGeom>
        </p:spPr>
      </p:pic>
      <p:sp>
        <p:nvSpPr>
          <p:cNvPr id="6" name="文本框 5">
            <a:extLst>
              <a:ext uri="{FF2B5EF4-FFF2-40B4-BE49-F238E27FC236}">
                <a16:creationId xmlns:a16="http://schemas.microsoft.com/office/drawing/2014/main" id="{3B345487-F6B9-45D3-8ECA-1E103F349561}"/>
              </a:ext>
            </a:extLst>
          </p:cNvPr>
          <p:cNvSpPr txBox="1"/>
          <p:nvPr/>
        </p:nvSpPr>
        <p:spPr>
          <a:xfrm>
            <a:off x="463688" y="829733"/>
            <a:ext cx="11279050" cy="2400657"/>
          </a:xfrm>
          <a:prstGeom prst="rect">
            <a:avLst/>
          </a:prstGeom>
          <a:noFill/>
        </p:spPr>
        <p:txBody>
          <a:bodyPr wrap="none" rtlCol="0">
            <a:spAutoFit/>
          </a:bodyPr>
          <a:lstStyle/>
          <a:p>
            <a:r>
              <a:rPr lang="zh-CN" altLang="en-US" sz="9600" b="1" dirty="0">
                <a:solidFill>
                  <a:schemeClr val="bg1"/>
                </a:solidFill>
                <a:latin typeface="华文新魏" panose="02010800040101010101" pitchFamily="2" charset="-122"/>
                <a:ea typeface="华文新魏" panose="02010800040101010101" pitchFamily="2" charset="-122"/>
                <a:cs typeface="Arial" panose="020B0604020202020204" pitchFamily="34" charset="0"/>
              </a:rPr>
              <a:t>海洋微生物学及实验</a:t>
            </a:r>
            <a:endParaRPr lang="en-US" altLang="zh-CN" sz="9600" b="1" dirty="0">
              <a:solidFill>
                <a:schemeClr val="bg1"/>
              </a:solidFill>
              <a:latin typeface="华文新魏" panose="02010800040101010101" pitchFamily="2" charset="-122"/>
              <a:ea typeface="华文新魏" panose="02010800040101010101" pitchFamily="2" charset="-122"/>
              <a:cs typeface="Arial" panose="020B0604020202020204" pitchFamily="34" charset="0"/>
            </a:endParaRPr>
          </a:p>
          <a:p>
            <a:pPr algn="ctr"/>
            <a:r>
              <a:rPr lang="en-US" altLang="zh-CN" sz="5400" b="1" dirty="0">
                <a:solidFill>
                  <a:srgbClr val="FFFF00"/>
                </a:solidFill>
                <a:latin typeface="华文新魏" panose="02010800040101010101" pitchFamily="2" charset="-122"/>
                <a:ea typeface="华文新魏" panose="02010800040101010101" pitchFamily="2" charset="-122"/>
                <a:cs typeface="Arial" panose="020B0604020202020204" pitchFamily="34" charset="0"/>
              </a:rPr>
              <a:t>2024-2025</a:t>
            </a:r>
            <a:r>
              <a:rPr lang="zh-CN" altLang="en-US" sz="5400" b="1" dirty="0">
                <a:solidFill>
                  <a:srgbClr val="FFFF00"/>
                </a:solidFill>
                <a:latin typeface="华文新魏" panose="02010800040101010101" pitchFamily="2" charset="-122"/>
                <a:ea typeface="华文新魏" panose="02010800040101010101" pitchFamily="2" charset="-122"/>
                <a:cs typeface="Arial" panose="020B0604020202020204" pitchFamily="34" charset="0"/>
              </a:rPr>
              <a:t>学年 秋第六周</a:t>
            </a:r>
          </a:p>
        </p:txBody>
      </p:sp>
    </p:spTree>
    <p:extLst>
      <p:ext uri="{BB962C8B-B14F-4D97-AF65-F5344CB8AC3E}">
        <p14:creationId xmlns:p14="http://schemas.microsoft.com/office/powerpoint/2010/main" val="40174387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AE50C7-83B0-44FF-B5CC-F5DECDF6ADB9}"/>
              </a:ext>
            </a:extLst>
          </p:cNvPr>
          <p:cNvSpPr>
            <a:spLocks noGrp="1"/>
          </p:cNvSpPr>
          <p:nvPr>
            <p:ph type="title"/>
          </p:nvPr>
        </p:nvSpPr>
        <p:spPr/>
        <p:txBody>
          <a:bodyPr/>
          <a:lstStyle/>
          <a:p>
            <a:r>
              <a:rPr lang="en-US" altLang="zh-CN" dirty="0"/>
              <a:t>Exp1 </a:t>
            </a:r>
            <a:r>
              <a:rPr lang="zh-CN" altLang="en-US" dirty="0"/>
              <a:t>讨论题</a:t>
            </a:r>
          </a:p>
        </p:txBody>
      </p:sp>
      <p:sp>
        <p:nvSpPr>
          <p:cNvPr id="3" name="内容占位符 2">
            <a:extLst>
              <a:ext uri="{FF2B5EF4-FFF2-40B4-BE49-F238E27FC236}">
                <a16:creationId xmlns:a16="http://schemas.microsoft.com/office/drawing/2014/main" id="{0ADE09FB-A5BD-4A34-AEF0-36630A8CA578}"/>
              </a:ext>
            </a:extLst>
          </p:cNvPr>
          <p:cNvSpPr>
            <a:spLocks noGrp="1"/>
          </p:cNvSpPr>
          <p:nvPr>
            <p:ph idx="1"/>
          </p:nvPr>
        </p:nvSpPr>
        <p:spPr/>
        <p:txBody>
          <a:bodyPr/>
          <a:lstStyle/>
          <a:p>
            <a:pPr algn="l">
              <a:lnSpc>
                <a:spcPct val="150000"/>
              </a:lnSpc>
              <a:spcBef>
                <a:spcPts val="780"/>
              </a:spcBef>
              <a:spcAft>
                <a:spcPts val="780"/>
              </a:spcAft>
            </a:pPr>
            <a:r>
              <a:rPr lang="en-US" altLang="zh-CN" sz="1800" kern="0" dirty="0">
                <a:effectLst/>
                <a:latin typeface="Times New Roman" panose="02020603050405020304" pitchFamily="18" charset="0"/>
                <a:ea typeface="宋体" panose="02010600030101010101" pitchFamily="2" charset="-122"/>
                <a:cs typeface="Times New Roman" panose="02020603050405020304" pitchFamily="18" charset="0"/>
              </a:rPr>
              <a:t>Describe the function of oil when you use microscopes.</a:t>
            </a:r>
            <a:r>
              <a:rPr lang="en-US" altLang="zh-CN"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l">
              <a:lnSpc>
                <a:spcPct val="150000"/>
              </a:lnSpc>
              <a:spcBef>
                <a:spcPts val="780"/>
              </a:spcBef>
              <a:spcAft>
                <a:spcPts val="780"/>
              </a:spcAft>
              <a:buFont typeface="Wingdings" panose="05000000000000000000" pitchFamily="2" charset="2"/>
              <a:buChar char="Ø"/>
            </a:pPr>
            <a:r>
              <a:rPr lang="zh-CN" altLang="zh-CN" sz="1800" kern="100" dirty="0">
                <a:solidFill>
                  <a:srgbClr val="333333"/>
                </a:solidFill>
                <a:effectLst/>
                <a:latin typeface="Calibri" panose="020F0502020204030204" pitchFamily="34" charset="0"/>
                <a:ea typeface="微软雅黑" panose="020B0503020204020204" pitchFamily="34" charset="-122"/>
                <a:cs typeface="Times New Roman" panose="02020603050405020304" pitchFamily="18" charset="0"/>
              </a:rPr>
              <a:t>但油镜由于需要放大更高的倍数</a:t>
            </a:r>
            <a:r>
              <a:rPr lang="zh-CN" altLang="en-US" sz="1800" kern="100" dirty="0">
                <a:solidFill>
                  <a:srgbClr val="333333"/>
                </a:solidFill>
                <a:latin typeface="Calibri" panose="020F0502020204030204" pitchFamily="34" charset="0"/>
                <a:ea typeface="微软雅黑" panose="020B0503020204020204" pitchFamily="34" charset="-122"/>
                <a:cs typeface="Times New Roman" panose="02020603050405020304" pitchFamily="18" charset="0"/>
              </a:rPr>
              <a:t>，</a:t>
            </a:r>
            <a:r>
              <a:rPr lang="zh-CN" altLang="zh-CN" sz="1800" kern="100" dirty="0">
                <a:solidFill>
                  <a:srgbClr val="333333"/>
                </a:solidFill>
                <a:effectLst/>
                <a:latin typeface="Calibri" panose="020F0502020204030204" pitchFamily="34" charset="0"/>
                <a:ea typeface="微软雅黑" panose="020B0503020204020204" pitchFamily="34" charset="-122"/>
                <a:cs typeface="Times New Roman" panose="02020603050405020304" pitchFamily="18" charset="0"/>
              </a:rPr>
              <a:t>其镜孔径很小</a:t>
            </a:r>
            <a:r>
              <a:rPr lang="zh-CN" altLang="en-US" sz="1800" kern="100" dirty="0">
                <a:solidFill>
                  <a:srgbClr val="333333"/>
                </a:solidFill>
                <a:effectLst/>
                <a:latin typeface="Calibri" panose="020F0502020204030204" pitchFamily="34" charset="0"/>
                <a:ea typeface="微软雅黑" panose="020B0503020204020204" pitchFamily="34" charset="-122"/>
                <a:cs typeface="Times New Roman" panose="02020603050405020304" pitchFamily="18" charset="0"/>
              </a:rPr>
              <a:t>，</a:t>
            </a:r>
            <a:r>
              <a:rPr lang="zh-CN" altLang="zh-CN" sz="1800" kern="100" dirty="0">
                <a:solidFill>
                  <a:srgbClr val="333333"/>
                </a:solidFill>
                <a:effectLst/>
                <a:latin typeface="Calibri" panose="020F0502020204030204" pitchFamily="34" charset="0"/>
                <a:ea typeface="微软雅黑" panose="020B0503020204020204" pitchFamily="34" charset="-122"/>
                <a:cs typeface="Times New Roman" panose="02020603050405020304" pitchFamily="18" charset="0"/>
              </a:rPr>
              <a:t>射入的光线很少</a:t>
            </a:r>
            <a:r>
              <a:rPr lang="zh-CN" altLang="en-US" sz="1800" kern="100" dirty="0">
                <a:solidFill>
                  <a:srgbClr val="333333"/>
                </a:solidFill>
                <a:latin typeface="Calibri" panose="020F0502020204030204" pitchFamily="34" charset="0"/>
                <a:ea typeface="微软雅黑" panose="020B0503020204020204" pitchFamily="34" charset="-122"/>
                <a:cs typeface="Times New Roman" panose="02020603050405020304" pitchFamily="18" charset="0"/>
              </a:rPr>
              <a:t>，</a:t>
            </a:r>
            <a:r>
              <a:rPr lang="zh-CN" altLang="zh-CN" sz="1800" kern="100" dirty="0">
                <a:solidFill>
                  <a:srgbClr val="333333"/>
                </a:solidFill>
                <a:effectLst/>
                <a:latin typeface="Calibri" panose="020F0502020204030204" pitchFamily="34" charset="0"/>
                <a:ea typeface="微软雅黑" panose="020B0503020204020204" pitchFamily="34" charset="-122"/>
                <a:cs typeface="Times New Roman" panose="02020603050405020304" pitchFamily="18" charset="0"/>
              </a:rPr>
              <a:t>视野不明亮</a:t>
            </a:r>
            <a:r>
              <a:rPr lang="zh-CN" altLang="en-US" sz="1800" kern="100" dirty="0">
                <a:solidFill>
                  <a:srgbClr val="333333"/>
                </a:solidFill>
                <a:latin typeface="Calibri" panose="020F0502020204030204" pitchFamily="34" charset="0"/>
                <a:ea typeface="微软雅黑" panose="020B0503020204020204" pitchFamily="34" charset="-122"/>
                <a:cs typeface="Times New Roman" panose="02020603050405020304" pitchFamily="18" charset="0"/>
              </a:rPr>
              <a:t>，</a:t>
            </a:r>
            <a:r>
              <a:rPr lang="zh-CN" altLang="zh-CN" sz="1800" kern="100" dirty="0">
                <a:solidFill>
                  <a:srgbClr val="333333"/>
                </a:solidFill>
                <a:effectLst/>
                <a:latin typeface="Calibri" panose="020F0502020204030204" pitchFamily="34" charset="0"/>
                <a:ea typeface="微软雅黑" panose="020B0503020204020204" pitchFamily="34" charset="-122"/>
                <a:cs typeface="Times New Roman" panose="02020603050405020304" pitchFamily="18" charset="0"/>
              </a:rPr>
              <a:t>物象模糊不清</a:t>
            </a:r>
            <a:r>
              <a:rPr lang="zh-CN" altLang="en-US" sz="1800" kern="100" dirty="0">
                <a:solidFill>
                  <a:srgbClr val="333333"/>
                </a:solidFill>
                <a:latin typeface="Calibri" panose="020F0502020204030204" pitchFamily="34" charset="0"/>
                <a:ea typeface="微软雅黑" panose="020B0503020204020204" pitchFamily="34" charset="-122"/>
                <a:cs typeface="Times New Roman" panose="02020603050405020304" pitchFamily="18" charset="0"/>
              </a:rPr>
              <a:t>。</a:t>
            </a:r>
            <a:endParaRPr lang="en-US" altLang="zh-CN" sz="1800" kern="100" dirty="0">
              <a:solidFill>
                <a:srgbClr val="333333"/>
              </a:solidFill>
              <a:latin typeface="Calibri" panose="020F0502020204030204" pitchFamily="34" charset="0"/>
              <a:ea typeface="微软雅黑" panose="020B0503020204020204" pitchFamily="34" charset="-122"/>
              <a:cs typeface="Times New Roman" panose="02020603050405020304" pitchFamily="18" charset="0"/>
            </a:endParaRPr>
          </a:p>
          <a:p>
            <a:pPr algn="l">
              <a:lnSpc>
                <a:spcPct val="150000"/>
              </a:lnSpc>
              <a:spcBef>
                <a:spcPts val="780"/>
              </a:spcBef>
              <a:spcAft>
                <a:spcPts val="780"/>
              </a:spcAft>
              <a:buFont typeface="Wingdings" panose="05000000000000000000" pitchFamily="2" charset="2"/>
              <a:buChar char="Ø"/>
            </a:pPr>
            <a:r>
              <a:rPr lang="zh-CN" altLang="zh-CN" sz="1800" kern="100" dirty="0">
                <a:solidFill>
                  <a:srgbClr val="333333"/>
                </a:solidFill>
                <a:effectLst/>
                <a:latin typeface="Calibri" panose="020F0502020204030204" pitchFamily="34" charset="0"/>
                <a:ea typeface="微软雅黑" panose="020B0503020204020204" pitchFamily="34" charset="-122"/>
                <a:cs typeface="Times New Roman" panose="02020603050405020304" pitchFamily="18" charset="0"/>
              </a:rPr>
              <a:t>加油的目的就是让油镜与载物玻片之间加一层与玻璃折光率相近的香柏油介质</a:t>
            </a:r>
            <a:r>
              <a:rPr lang="zh-CN" altLang="en-US" sz="1800" kern="100" dirty="0">
                <a:solidFill>
                  <a:srgbClr val="333333"/>
                </a:solidFill>
                <a:latin typeface="Calibri" panose="020F0502020204030204" pitchFamily="34" charset="0"/>
                <a:ea typeface="微软雅黑" panose="020B0503020204020204" pitchFamily="34" charset="-122"/>
                <a:cs typeface="Times New Roman" panose="02020603050405020304" pitchFamily="18" charset="0"/>
              </a:rPr>
              <a:t>，代替空气介质，</a:t>
            </a:r>
            <a:r>
              <a:rPr lang="zh-CN" altLang="zh-CN" sz="1800" kern="100" dirty="0">
                <a:solidFill>
                  <a:srgbClr val="333333"/>
                </a:solidFill>
                <a:effectLst/>
                <a:latin typeface="Calibri" panose="020F0502020204030204" pitchFamily="34" charset="0"/>
                <a:ea typeface="微软雅黑" panose="020B0503020204020204" pitchFamily="34" charset="-122"/>
                <a:cs typeface="Times New Roman" panose="02020603050405020304" pitchFamily="18" charset="0"/>
              </a:rPr>
              <a:t>使通过的光线不产生或少产生折射</a:t>
            </a:r>
            <a:r>
              <a:rPr lang="zh-CN" altLang="en-US" sz="1800" kern="100" dirty="0">
                <a:solidFill>
                  <a:srgbClr val="333333"/>
                </a:solidFill>
                <a:latin typeface="Calibri" panose="020F0502020204030204" pitchFamily="34" charset="0"/>
                <a:ea typeface="微软雅黑" panose="020B0503020204020204" pitchFamily="34" charset="-122"/>
                <a:cs typeface="Times New Roman" panose="02020603050405020304" pitchFamily="18" charset="0"/>
              </a:rPr>
              <a:t>，</a:t>
            </a:r>
            <a:r>
              <a:rPr lang="zh-CN" altLang="zh-CN" sz="1800" kern="100" dirty="0">
                <a:solidFill>
                  <a:srgbClr val="333333"/>
                </a:solidFill>
                <a:effectLst/>
                <a:latin typeface="Calibri" panose="020F0502020204030204" pitchFamily="34" charset="0"/>
                <a:ea typeface="微软雅黑" panose="020B0503020204020204" pitchFamily="34" charset="-122"/>
                <a:cs typeface="Times New Roman" panose="02020603050405020304" pitchFamily="18" charset="0"/>
              </a:rPr>
              <a:t>增加进入透镜的光线</a:t>
            </a:r>
            <a:r>
              <a:rPr lang="zh-CN" altLang="en-US" sz="1800" kern="100" dirty="0">
                <a:solidFill>
                  <a:srgbClr val="333333"/>
                </a:solidFill>
                <a:latin typeface="Calibri" panose="020F0502020204030204" pitchFamily="34" charset="0"/>
                <a:ea typeface="微软雅黑" panose="020B0503020204020204" pitchFamily="34" charset="-122"/>
                <a:cs typeface="Times New Roman" panose="02020603050405020304" pitchFamily="18" charset="0"/>
              </a:rPr>
              <a:t>，</a:t>
            </a:r>
            <a:r>
              <a:rPr lang="zh-CN" altLang="zh-CN" sz="1800" kern="100" dirty="0">
                <a:solidFill>
                  <a:srgbClr val="333333"/>
                </a:solidFill>
                <a:effectLst/>
                <a:latin typeface="Calibri" panose="020F0502020204030204" pitchFamily="34" charset="0"/>
                <a:ea typeface="微软雅黑" panose="020B0503020204020204" pitchFamily="34" charset="-122"/>
                <a:cs typeface="Times New Roman" panose="02020603050405020304" pitchFamily="18" charset="0"/>
              </a:rPr>
              <a:t>使视野亮度增加</a:t>
            </a:r>
            <a:r>
              <a:rPr lang="zh-CN" altLang="en-US" sz="1800" kern="100" dirty="0">
                <a:solidFill>
                  <a:srgbClr val="333333"/>
                </a:solidFill>
                <a:latin typeface="Calibri" panose="020F0502020204030204" pitchFamily="34" charset="0"/>
                <a:ea typeface="微软雅黑" panose="020B0503020204020204" pitchFamily="34" charset="-122"/>
                <a:cs typeface="Times New Roman" panose="02020603050405020304" pitchFamily="18" charset="0"/>
              </a:rPr>
              <a:t>，</a:t>
            </a:r>
            <a:r>
              <a:rPr lang="zh-CN" altLang="zh-CN" sz="1800" kern="100" dirty="0">
                <a:solidFill>
                  <a:srgbClr val="333333"/>
                </a:solidFill>
                <a:effectLst/>
                <a:latin typeface="Calibri" panose="020F0502020204030204" pitchFamily="34" charset="0"/>
                <a:ea typeface="微软雅黑" panose="020B0503020204020204" pitchFamily="34" charset="-122"/>
                <a:cs typeface="Times New Roman" panose="02020603050405020304" pitchFamily="18" charset="0"/>
              </a:rPr>
              <a:t>能更清楚的观察物象</a:t>
            </a:r>
            <a:r>
              <a:rPr lang="zh-CN" altLang="en-US" sz="1800" kern="100" dirty="0">
                <a:solidFill>
                  <a:srgbClr val="333333"/>
                </a:solidFill>
                <a:latin typeface="Calibri" panose="020F0502020204030204" pitchFamily="34" charset="0"/>
                <a:ea typeface="微软雅黑" panose="020B0503020204020204" pitchFamily="34" charset="-122"/>
                <a:cs typeface="Times New Roman" panose="02020603050405020304" pitchFamily="18" charset="0"/>
              </a:rPr>
              <a:t>。</a:t>
            </a:r>
            <a:endParaRPr lang="en-US" altLang="zh-CN" sz="1800" kern="100" dirty="0">
              <a:solidFill>
                <a:srgbClr val="333333"/>
              </a:solidFill>
              <a:latin typeface="Calibri" panose="020F0502020204030204" pitchFamily="34" charset="0"/>
              <a:ea typeface="微软雅黑" panose="020B0503020204020204" pitchFamily="34" charset="-122"/>
              <a:cs typeface="Times New Roman" panose="02020603050405020304" pitchFamily="18" charset="0"/>
            </a:endParaRPr>
          </a:p>
          <a:p>
            <a:pPr marL="0" indent="0" algn="l">
              <a:lnSpc>
                <a:spcPct val="150000"/>
              </a:lnSpc>
              <a:spcBef>
                <a:spcPts val="780"/>
              </a:spcBef>
              <a:spcAft>
                <a:spcPts val="780"/>
              </a:spcAft>
              <a:buNone/>
            </a:pPr>
            <a:r>
              <a:rPr lang="zh-CN" altLang="en-US" sz="1800" kern="100" dirty="0">
                <a:solidFill>
                  <a:srgbClr val="333333"/>
                </a:solidFill>
                <a:latin typeface="Calibri" panose="020F0502020204030204" pitchFamily="34" charset="0"/>
                <a:ea typeface="微软雅黑" panose="020B0503020204020204" pitchFamily="34" charset="-122"/>
                <a:cs typeface="Times New Roman" panose="02020603050405020304" pitchFamily="18" charset="0"/>
              </a:rPr>
              <a:t>答题关键：</a:t>
            </a:r>
            <a:endParaRPr lang="en-US" altLang="zh-CN" sz="1800" kern="100" dirty="0">
              <a:solidFill>
                <a:srgbClr val="333333"/>
              </a:solidFill>
              <a:latin typeface="Calibri" panose="020F0502020204030204" pitchFamily="34" charset="0"/>
              <a:ea typeface="微软雅黑" panose="020B0503020204020204" pitchFamily="34" charset="-122"/>
              <a:cs typeface="Times New Roman" panose="02020603050405020304" pitchFamily="18" charset="0"/>
            </a:endParaRPr>
          </a:p>
          <a:p>
            <a:pPr marL="0" indent="0" algn="l">
              <a:lnSpc>
                <a:spcPct val="150000"/>
              </a:lnSpc>
              <a:spcBef>
                <a:spcPts val="780"/>
              </a:spcBef>
              <a:spcAft>
                <a:spcPts val="780"/>
              </a:spcAft>
              <a:buNone/>
            </a:pPr>
            <a:r>
              <a:rPr lang="zh-CN" altLang="en-US" sz="1800" kern="100" dirty="0">
                <a:solidFill>
                  <a:srgbClr val="FF0000"/>
                </a:solidFill>
                <a:latin typeface="Calibri" panose="020F0502020204030204" pitchFamily="34" charset="0"/>
                <a:ea typeface="微软雅黑" panose="020B0503020204020204" pitchFamily="34" charset="-122"/>
                <a:cs typeface="Times New Roman" panose="02020603050405020304" pitchFamily="18" charset="0"/>
              </a:rPr>
              <a:t>提高分辨率，增加亮度，提高清晰度</a:t>
            </a:r>
            <a:endParaRPr lang="en-US" altLang="zh-CN" sz="1800" kern="100" dirty="0">
              <a:solidFill>
                <a:srgbClr val="FF0000"/>
              </a:solidFill>
              <a:latin typeface="Calibri" panose="020F0502020204030204" pitchFamily="34" charset="0"/>
              <a:ea typeface="微软雅黑" panose="020B0503020204020204" pitchFamily="34" charset="-122"/>
              <a:cs typeface="Times New Roman" panose="02020603050405020304" pitchFamily="18" charset="0"/>
            </a:endParaRPr>
          </a:p>
          <a:p>
            <a:pPr marL="0" indent="0" algn="l">
              <a:lnSpc>
                <a:spcPct val="150000"/>
              </a:lnSpc>
              <a:spcBef>
                <a:spcPts val="780"/>
              </a:spcBef>
              <a:spcAft>
                <a:spcPts val="780"/>
              </a:spcAft>
              <a:buNone/>
            </a:pPr>
            <a:r>
              <a:rPr lang="zh-CN" altLang="en-US" sz="1800" kern="100" dirty="0">
                <a:solidFill>
                  <a:srgbClr val="FF0000"/>
                </a:solidFill>
                <a:latin typeface="Calibri" panose="020F0502020204030204" pitchFamily="34" charset="0"/>
                <a:ea typeface="微软雅黑" panose="020B0503020204020204" pitchFamily="34" charset="-122"/>
                <a:cs typeface="Times New Roman" panose="02020603050405020304" pitchFamily="18" charset="0"/>
              </a:rPr>
              <a:t>但跟放大倍数没有关系</a:t>
            </a:r>
            <a:endParaRPr lang="zh-CN" altLang="en-US" dirty="0">
              <a:solidFill>
                <a:srgbClr val="FF0000"/>
              </a:solidFill>
            </a:endParaRPr>
          </a:p>
        </p:txBody>
      </p:sp>
    </p:spTree>
    <p:extLst>
      <p:ext uri="{BB962C8B-B14F-4D97-AF65-F5344CB8AC3E}">
        <p14:creationId xmlns:p14="http://schemas.microsoft.com/office/powerpoint/2010/main" val="653094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D6512555-F1D0-463B-B76D-41EC4140BB94}"/>
              </a:ext>
            </a:extLst>
          </p:cNvPr>
          <p:cNvPicPr>
            <a:picLocks noChangeAspect="1"/>
          </p:cNvPicPr>
          <p:nvPr/>
        </p:nvPicPr>
        <p:blipFill>
          <a:blip r:embed="rId2"/>
          <a:stretch>
            <a:fillRect/>
          </a:stretch>
        </p:blipFill>
        <p:spPr>
          <a:xfrm>
            <a:off x="3236214" y="62522"/>
            <a:ext cx="5541280" cy="6733299"/>
          </a:xfrm>
          <a:prstGeom prst="rect">
            <a:avLst/>
          </a:prstGeom>
        </p:spPr>
      </p:pic>
      <p:sp>
        <p:nvSpPr>
          <p:cNvPr id="5" name="矩形 4">
            <a:extLst>
              <a:ext uri="{FF2B5EF4-FFF2-40B4-BE49-F238E27FC236}">
                <a16:creationId xmlns:a16="http://schemas.microsoft.com/office/drawing/2014/main" id="{BA5560BE-6C83-4988-AB1D-7EA7C341C2E7}"/>
              </a:ext>
            </a:extLst>
          </p:cNvPr>
          <p:cNvSpPr/>
          <p:nvPr/>
        </p:nvSpPr>
        <p:spPr>
          <a:xfrm>
            <a:off x="4269970" y="3948962"/>
            <a:ext cx="4435118" cy="718136"/>
          </a:xfrm>
          <a:prstGeom prst="rect">
            <a:avLst/>
          </a:prstGeom>
          <a:solidFill>
            <a:srgbClr val="FF000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35135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773444EB-51B1-4D7D-A65F-1548D2E5D3F5}"/>
              </a:ext>
            </a:extLst>
          </p:cNvPr>
          <p:cNvSpPr txBox="1"/>
          <p:nvPr/>
        </p:nvSpPr>
        <p:spPr>
          <a:xfrm>
            <a:off x="810912" y="309894"/>
            <a:ext cx="10032142" cy="1384995"/>
          </a:xfrm>
          <a:prstGeom prst="rect">
            <a:avLst/>
          </a:prstGeom>
          <a:noFill/>
        </p:spPr>
        <p:txBody>
          <a:bodyPr wrap="square">
            <a:spAutoFit/>
          </a:bodyPr>
          <a:lstStyle/>
          <a:p>
            <a:pPr>
              <a:spcBef>
                <a:spcPts val="1200"/>
              </a:spcBef>
              <a:spcAft>
                <a:spcPts val="1200"/>
              </a:spcAft>
            </a:pPr>
            <a:r>
              <a:rPr lang="en-US" altLang="zh-CN" sz="3200" b="1" dirty="0">
                <a:effectLst/>
                <a:latin typeface="Times New Roman" panose="02020603050405020304" pitchFamily="18" charset="0"/>
                <a:ea typeface="宋体" panose="02010600030101010101" pitchFamily="2" charset="-122"/>
                <a:cs typeface="宋体" panose="02010600030101010101" pitchFamily="2" charset="-122"/>
              </a:rPr>
              <a:t>EXPERIMENT 4: </a:t>
            </a:r>
            <a:r>
              <a:rPr lang="en-US" altLang="zh-CN" sz="3200" b="1" dirty="0">
                <a:latin typeface="Times New Roman" panose="02020603050405020304" pitchFamily="18" charset="0"/>
                <a:ea typeface="宋体" panose="02010600030101010101" pitchFamily="2" charset="-122"/>
              </a:rPr>
              <a:t>Sterilization by Millipore filtration</a:t>
            </a:r>
          </a:p>
          <a:p>
            <a:pPr>
              <a:spcBef>
                <a:spcPts val="1200"/>
              </a:spcBef>
              <a:spcAft>
                <a:spcPts val="1200"/>
              </a:spcAft>
            </a:pPr>
            <a:r>
              <a:rPr lang="en-US" altLang="zh-CN" sz="3200" b="1" dirty="0">
                <a:latin typeface="Times New Roman" panose="02020603050405020304" pitchFamily="18" charset="0"/>
                <a:ea typeface="宋体" panose="02010600030101010101" pitchFamily="2" charset="-122"/>
                <a:cs typeface="宋体" panose="02010600030101010101" pitchFamily="2" charset="-122"/>
              </a:rPr>
              <a:t>                                </a:t>
            </a:r>
            <a:r>
              <a:rPr lang="zh-CN" altLang="en-US" sz="3200" b="1" dirty="0">
                <a:latin typeface="Times New Roman" panose="02020603050405020304" pitchFamily="18" charset="0"/>
                <a:ea typeface="宋体" panose="02010600030101010101" pitchFamily="2" charset="-122"/>
                <a:cs typeface="宋体" panose="02010600030101010101" pitchFamily="2" charset="-122"/>
              </a:rPr>
              <a:t>过滤除菌技术                                </a:t>
            </a:r>
            <a:endParaRPr lang="zh-CN" altLang="zh-CN" sz="3200" b="1" dirty="0">
              <a:effectLst/>
              <a:latin typeface="宋体" panose="02010600030101010101" pitchFamily="2" charset="-122"/>
              <a:ea typeface="宋体" panose="02010600030101010101" pitchFamily="2" charset="-122"/>
              <a:cs typeface="宋体" panose="02010600030101010101" pitchFamily="2" charset="-122"/>
            </a:endParaRPr>
          </a:p>
        </p:txBody>
      </p:sp>
      <p:sp>
        <p:nvSpPr>
          <p:cNvPr id="6" name="文本框 5">
            <a:extLst>
              <a:ext uri="{FF2B5EF4-FFF2-40B4-BE49-F238E27FC236}">
                <a16:creationId xmlns:a16="http://schemas.microsoft.com/office/drawing/2014/main" id="{4B129E85-60AD-4B86-886D-D7AB0D009129}"/>
              </a:ext>
            </a:extLst>
          </p:cNvPr>
          <p:cNvSpPr txBox="1"/>
          <p:nvPr/>
        </p:nvSpPr>
        <p:spPr>
          <a:xfrm>
            <a:off x="538034" y="1650919"/>
            <a:ext cx="11249929" cy="1151213"/>
          </a:xfrm>
          <a:prstGeom prst="rect">
            <a:avLst/>
          </a:prstGeom>
          <a:noFill/>
        </p:spPr>
        <p:txBody>
          <a:bodyPr wrap="square" rtlCol="0">
            <a:spAutoFit/>
          </a:bodyPr>
          <a:lstStyle/>
          <a:p>
            <a:r>
              <a:rPr lang="en-US" altLang="zh-CN"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INTRODUCTION</a:t>
            </a:r>
            <a:r>
              <a:rPr lang="zh-CN" altLang="en-US"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50000"/>
              </a:lnSpc>
            </a:pPr>
            <a:r>
              <a:rPr lang="en-US" altLang="zh-CN" b="1" kern="100" dirty="0">
                <a:solidFill>
                  <a:srgbClr val="FF0000"/>
                </a:solidFill>
                <a:latin typeface="Times New Roman" panose="02020603050405020304" pitchFamily="18" charset="0"/>
              </a:rPr>
              <a:t>    Filtration</a:t>
            </a:r>
            <a:r>
              <a:rPr lang="en-AU" altLang="zh-CN" kern="100" dirty="0">
                <a:solidFill>
                  <a:srgbClr val="000000"/>
                </a:solidFill>
                <a:latin typeface="Times New Roman" panose="02020603050405020304" pitchFamily="18" charset="0"/>
                <a:ea typeface="宋体" panose="02010600030101010101" pitchFamily="2" charset="-122"/>
              </a:rPr>
              <a:t>(</a:t>
            </a:r>
            <a:r>
              <a:rPr lang="zh-CN" altLang="en-US" kern="100" dirty="0">
                <a:solidFill>
                  <a:srgbClr val="000000"/>
                </a:solidFill>
                <a:latin typeface="Times New Roman" panose="02020603050405020304" pitchFamily="18" charset="0"/>
                <a:ea typeface="宋体" panose="02010600030101010101" pitchFamily="2" charset="-122"/>
              </a:rPr>
              <a:t>过滤</a:t>
            </a:r>
            <a:r>
              <a:rPr lang="en-AU" altLang="zh-CN" kern="100" dirty="0">
                <a:solidFill>
                  <a:srgbClr val="000000"/>
                </a:solidFill>
                <a:latin typeface="Times New Roman" panose="02020603050405020304" pitchFamily="18" charset="0"/>
                <a:ea typeface="宋体" panose="02010600030101010101" pitchFamily="2" charset="-122"/>
              </a:rPr>
              <a:t>)</a:t>
            </a:r>
            <a:r>
              <a:rPr lang="en-AU" altLang="zh-CN" kern="100" dirty="0">
                <a:solidFill>
                  <a:srgbClr val="000000"/>
                </a:solidFill>
                <a:latin typeface="Times New Roman" panose="02020603050405020304" pitchFamily="18" charset="0"/>
                <a:ea typeface="Times New Roman" panose="02020603050405020304" pitchFamily="18" charset="0"/>
              </a:rPr>
              <a:t> </a:t>
            </a:r>
            <a:r>
              <a:rPr lang="en-US" altLang="zh-CN" sz="1800" kern="100" dirty="0">
                <a:solidFill>
                  <a:srgbClr val="252525"/>
                </a:solidFill>
                <a:effectLst/>
                <a:latin typeface="Times New Roman" panose="02020603050405020304" pitchFamily="18" charset="0"/>
                <a:ea typeface="宋体" panose="02010600030101010101" pitchFamily="2" charset="-122"/>
              </a:rPr>
              <a:t> is a great way of quickly sterilizing solutions without heating.</a:t>
            </a:r>
          </a:p>
          <a:p>
            <a:pPr algn="just">
              <a:lnSpc>
                <a:spcPct val="150000"/>
              </a:lnSpc>
            </a:pPr>
            <a:r>
              <a:rPr lang="en-AU" altLang="zh-C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800" kern="100" dirty="0">
                <a:solidFill>
                  <a:srgbClr val="252525"/>
                </a:solidFill>
                <a:effectLst/>
                <a:latin typeface="Times New Roman" panose="02020603050405020304" pitchFamily="18" charset="0"/>
                <a:ea typeface="宋体" panose="02010600030101010101" pitchFamily="2" charset="-122"/>
              </a:rPr>
              <a:t>For removal of bacteria, filters with an average pore diameter of </a:t>
            </a:r>
            <a:r>
              <a:rPr lang="en-US" altLang="zh-CN" sz="1800" b="1" kern="100" dirty="0">
                <a:solidFill>
                  <a:srgbClr val="FF0000"/>
                </a:solidFill>
                <a:effectLst/>
                <a:latin typeface="Times New Roman" panose="02020603050405020304" pitchFamily="18" charset="0"/>
                <a:ea typeface="宋体" panose="02010600030101010101" pitchFamily="2" charset="-122"/>
              </a:rPr>
              <a:t>0.45 or 0.22 µm </a:t>
            </a:r>
            <a:r>
              <a:rPr lang="en-US" altLang="zh-CN" sz="1800" kern="100" dirty="0">
                <a:solidFill>
                  <a:srgbClr val="252525"/>
                </a:solidFill>
                <a:effectLst/>
                <a:latin typeface="Times New Roman" panose="02020603050405020304" pitchFamily="18" charset="0"/>
                <a:ea typeface="宋体" panose="02010600030101010101" pitchFamily="2" charset="-122"/>
              </a:rPr>
              <a:t>is normally used.</a:t>
            </a:r>
            <a:endParaRPr lang="zh-CN" altLang="en-US" dirty="0"/>
          </a:p>
        </p:txBody>
      </p:sp>
      <p:pic>
        <p:nvPicPr>
          <p:cNvPr id="7" name="图片 6">
            <a:extLst>
              <a:ext uri="{FF2B5EF4-FFF2-40B4-BE49-F238E27FC236}">
                <a16:creationId xmlns:a16="http://schemas.microsoft.com/office/drawing/2014/main" id="{12C41E38-AD53-42C3-8AAD-DED42520BAE4}"/>
              </a:ext>
            </a:extLst>
          </p:cNvPr>
          <p:cNvPicPr/>
          <p:nvPr/>
        </p:nvPicPr>
        <p:blipFill>
          <a:blip r:embed="rId2">
            <a:extLst>
              <a:ext uri="{28A0092B-C50C-407E-A947-70E740481C1C}">
                <a14:useLocalDpi xmlns:a14="http://schemas.microsoft.com/office/drawing/2010/main" val="0"/>
              </a:ext>
            </a:extLst>
          </a:blip>
          <a:srcRect/>
          <a:stretch>
            <a:fillRect/>
          </a:stretch>
        </p:blipFill>
        <p:spPr>
          <a:xfrm>
            <a:off x="1831440" y="2877389"/>
            <a:ext cx="7539388" cy="3884918"/>
          </a:xfrm>
          <a:prstGeom prst="rect">
            <a:avLst/>
          </a:prstGeom>
          <a:noFill/>
          <a:ln>
            <a:noFill/>
          </a:ln>
        </p:spPr>
      </p:pic>
      <p:sp>
        <p:nvSpPr>
          <p:cNvPr id="8" name="文本框 7">
            <a:extLst>
              <a:ext uri="{FF2B5EF4-FFF2-40B4-BE49-F238E27FC236}">
                <a16:creationId xmlns:a16="http://schemas.microsoft.com/office/drawing/2014/main" id="{399C6811-5D75-4F97-AC21-C6817F575DC4}"/>
              </a:ext>
            </a:extLst>
          </p:cNvPr>
          <p:cNvSpPr txBox="1"/>
          <p:nvPr/>
        </p:nvSpPr>
        <p:spPr>
          <a:xfrm>
            <a:off x="99452" y="66347"/>
            <a:ext cx="877163" cy="369332"/>
          </a:xfrm>
          <a:prstGeom prst="rect">
            <a:avLst/>
          </a:prstGeom>
          <a:noFill/>
        </p:spPr>
        <p:txBody>
          <a:bodyPr wrap="none" rtlCol="0">
            <a:spAutoFit/>
          </a:bodyPr>
          <a:lstStyle/>
          <a:p>
            <a:r>
              <a:rPr lang="zh-CN" altLang="en-US" b="1" dirty="0">
                <a:solidFill>
                  <a:srgbClr val="FF0000"/>
                </a:solidFill>
              </a:rPr>
              <a:t>上周</a:t>
            </a:r>
            <a:r>
              <a:rPr lang="zh-CN" altLang="en-US" dirty="0">
                <a:solidFill>
                  <a:srgbClr val="FF0000"/>
                </a:solidFill>
              </a:rPr>
              <a:t>：</a:t>
            </a:r>
          </a:p>
        </p:txBody>
      </p:sp>
    </p:spTree>
    <p:extLst>
      <p:ext uri="{BB962C8B-B14F-4D97-AF65-F5344CB8AC3E}">
        <p14:creationId xmlns:p14="http://schemas.microsoft.com/office/powerpoint/2010/main" val="3982595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259CAC3C-3803-482F-86EC-1797B061AE7F}"/>
              </a:ext>
            </a:extLst>
          </p:cNvPr>
          <p:cNvSpPr txBox="1"/>
          <p:nvPr/>
        </p:nvSpPr>
        <p:spPr>
          <a:xfrm>
            <a:off x="751361" y="222448"/>
            <a:ext cx="11185459" cy="2613344"/>
          </a:xfrm>
          <a:prstGeom prst="rect">
            <a:avLst/>
          </a:prstGeom>
          <a:noFill/>
        </p:spPr>
        <p:txBody>
          <a:bodyPr wrap="square" rtlCol="0">
            <a:spAutoFit/>
          </a:bodyPr>
          <a:lstStyle/>
          <a:p>
            <a:pPr algn="l">
              <a:lnSpc>
                <a:spcPct val="150000"/>
              </a:lnSpc>
              <a:spcBef>
                <a:spcPts val="600"/>
              </a:spcBef>
              <a:spcAft>
                <a:spcPts val="600"/>
              </a:spcAft>
            </a:pPr>
            <a:r>
              <a:rPr lang="en-US" altLang="zh-CN"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OBJECTIVE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pPr>
            <a:r>
              <a:rPr lang="en-US" altLang="zh-CN"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the end of these experiments, you should:</a:t>
            </a:r>
            <a:endParaRPr lang="en-US" altLang="zh-CN" kern="100" dirty="0">
              <a:latin typeface="Calibri" panose="020F0502020204030204" pitchFamily="34" charset="0"/>
              <a:ea typeface="宋体" panose="02010600030101010101" pitchFamily="2" charset="-122"/>
              <a:cs typeface="Times New Roman" panose="02020603050405020304" pitchFamily="18" charset="0"/>
            </a:endParaRPr>
          </a:p>
          <a:p>
            <a:pPr marL="342900" indent="-342900" algn="just">
              <a:lnSpc>
                <a:spcPct val="150000"/>
              </a:lnSpc>
              <a:buFont typeface="+mj-lt"/>
              <a:buAutoNum type="arabicPeriod"/>
            </a:pPr>
            <a:r>
              <a:rPr lang="en-US" altLang="zh-CN" dirty="0">
                <a:solidFill>
                  <a:srgbClr val="000000"/>
                </a:solidFill>
                <a:effectLst/>
                <a:latin typeface="Times New Roman" panose="02020603050405020304" pitchFamily="18" charset="0"/>
                <a:ea typeface="宋体" panose="02010600030101010101" pitchFamily="2" charset="-122"/>
                <a:cs typeface="Calibri" panose="020F0502020204030204" pitchFamily="34" charset="0"/>
              </a:rPr>
              <a:t>Be familiar with liquid sterilization by Millipore filtration</a:t>
            </a:r>
            <a:endParaRPr lang="en-US" altLang="zh-CN" dirty="0">
              <a:latin typeface="Times New Roman" panose="02020603050405020304" pitchFamily="18" charset="0"/>
              <a:ea typeface="宋体" panose="02010600030101010101" pitchFamily="2" charset="-122"/>
              <a:cs typeface="Calibri" panose="020F0502020204030204" pitchFamily="34" charset="0"/>
            </a:endParaRPr>
          </a:p>
          <a:p>
            <a:pPr marL="342900" indent="-342900" algn="just">
              <a:lnSpc>
                <a:spcPct val="150000"/>
              </a:lnSpc>
              <a:buFont typeface="+mj-lt"/>
              <a:buAutoNum type="arabicPeriod"/>
            </a:pPr>
            <a:r>
              <a:rPr lang="en-US" altLang="zh-CN" dirty="0">
                <a:solidFill>
                  <a:srgbClr val="000000"/>
                </a:solidFill>
                <a:effectLst/>
                <a:latin typeface="Times New Roman" panose="02020603050405020304" pitchFamily="18" charset="0"/>
                <a:ea typeface="宋体" panose="02010600030101010101" pitchFamily="2" charset="-122"/>
                <a:cs typeface="Calibri" panose="020F0502020204030204" pitchFamily="34" charset="0"/>
              </a:rPr>
              <a:t>Know when we use sterilization by Millipore filtration instead of autoclaving</a:t>
            </a:r>
            <a:endParaRPr lang="en-US" altLang="zh-CN" dirty="0">
              <a:latin typeface="Times New Roman" panose="02020603050405020304" pitchFamily="18" charset="0"/>
              <a:ea typeface="宋体" panose="02010600030101010101" pitchFamily="2" charset="-122"/>
              <a:cs typeface="Calibri" panose="020F0502020204030204" pitchFamily="34" charset="0"/>
            </a:endParaRPr>
          </a:p>
          <a:p>
            <a:pPr marL="342900" indent="-342900" algn="just">
              <a:lnSpc>
                <a:spcPct val="150000"/>
              </a:lnSpc>
              <a:buFont typeface="+mj-lt"/>
              <a:buAutoNum type="arabicPeriod"/>
            </a:pPr>
            <a:r>
              <a:rPr lang="en-US" altLang="zh-CN" dirty="0">
                <a:solidFill>
                  <a:srgbClr val="000000"/>
                </a:solidFill>
                <a:effectLst/>
                <a:latin typeface="Times New Roman" panose="02020603050405020304" pitchFamily="18" charset="0"/>
                <a:ea typeface="宋体" panose="02010600030101010101" pitchFamily="2" charset="-122"/>
                <a:cs typeface="Calibri" panose="020F0502020204030204" pitchFamily="34" charset="0"/>
              </a:rPr>
              <a:t>Know how to streak out for single colonies by </a:t>
            </a:r>
            <a:r>
              <a:rPr lang="en-US" altLang="zh-CN" dirty="0">
                <a:effectLst/>
                <a:latin typeface="Times New Roman" panose="02020603050405020304" pitchFamily="18" charset="0"/>
                <a:ea typeface="宋体" panose="02010600030101010101" pitchFamily="2" charset="-122"/>
                <a:cs typeface="Calibri" panose="020F0502020204030204" pitchFamily="34" charset="0"/>
              </a:rPr>
              <a:t>“</a:t>
            </a:r>
            <a:r>
              <a:rPr lang="en-US" altLang="zh-CN" b="1" dirty="0">
                <a:solidFill>
                  <a:srgbClr val="FF0000"/>
                </a:solidFill>
                <a:effectLst/>
                <a:latin typeface="Times New Roman" panose="02020603050405020304" pitchFamily="18" charset="0"/>
                <a:ea typeface="宋体" panose="02010600030101010101" pitchFamily="2" charset="-122"/>
                <a:cs typeface="Calibri" panose="020F0502020204030204" pitchFamily="34" charset="0"/>
              </a:rPr>
              <a:t>streak-plate</a:t>
            </a:r>
            <a:r>
              <a:rPr lang="en-US" altLang="zh-CN" dirty="0">
                <a:effectLst/>
                <a:latin typeface="Times New Roman" panose="02020603050405020304" pitchFamily="18" charset="0"/>
                <a:ea typeface="宋体" panose="02010600030101010101" pitchFamily="2" charset="-122"/>
                <a:cs typeface="Calibri" panose="020F0502020204030204" pitchFamily="34" charset="0"/>
              </a:rPr>
              <a:t>” method </a:t>
            </a:r>
            <a:r>
              <a:rPr lang="en-US" altLang="zh-CN" dirty="0">
                <a:latin typeface="Times New Roman" panose="02020603050405020304" pitchFamily="18" charset="0"/>
                <a:ea typeface="宋体" panose="02010600030101010101" pitchFamily="2" charset="-122"/>
                <a:cs typeface="Calibri" panose="020F0502020204030204" pitchFamily="34" charset="0"/>
              </a:rPr>
              <a:t>(streaking</a:t>
            </a:r>
            <a:r>
              <a:rPr lang="zh-CN" altLang="en-US" dirty="0">
                <a:latin typeface="Times New Roman" panose="02020603050405020304" pitchFamily="18" charset="0"/>
                <a:ea typeface="宋体" panose="02010600030101010101" pitchFamily="2" charset="-122"/>
                <a:cs typeface="Calibri" panose="020F0502020204030204" pitchFamily="34" charset="0"/>
              </a:rPr>
              <a:t>，划线法</a:t>
            </a:r>
            <a:r>
              <a:rPr lang="en-US" altLang="zh-CN" dirty="0">
                <a:latin typeface="Times New Roman" panose="02020603050405020304" pitchFamily="18" charset="0"/>
                <a:ea typeface="宋体" panose="02010600030101010101" pitchFamily="2" charset="-122"/>
                <a:cs typeface="Calibri" panose="020F0502020204030204" pitchFamily="34" charset="0"/>
              </a:rPr>
              <a:t>)</a:t>
            </a:r>
            <a:r>
              <a:rPr lang="en-US" altLang="zh-CN" dirty="0">
                <a:effectLst/>
                <a:latin typeface="Times New Roman" panose="02020603050405020304" pitchFamily="18" charset="0"/>
                <a:ea typeface="宋体" panose="02010600030101010101" pitchFamily="2" charset="-122"/>
                <a:cs typeface="Calibri" panose="020F0502020204030204" pitchFamily="34" charset="0"/>
              </a:rPr>
              <a:t> from liquid.</a:t>
            </a:r>
            <a:r>
              <a:rPr lang="en-US" altLang="zh-CN" dirty="0">
                <a:solidFill>
                  <a:srgbClr val="000000"/>
                </a:solidFill>
                <a:effectLst/>
                <a:latin typeface="Times New Roman" panose="02020603050405020304" pitchFamily="18" charset="0"/>
                <a:ea typeface="宋体" panose="02010600030101010101" pitchFamily="2" charset="-122"/>
                <a:cs typeface="Calibri" panose="020F0502020204030204" pitchFamily="34" charset="0"/>
              </a:rPr>
              <a:t> </a:t>
            </a:r>
            <a:endParaRPr lang="zh-CN" altLang="zh-CN" dirty="0">
              <a:effectLst/>
              <a:latin typeface="Times New Roman" panose="02020603050405020304" pitchFamily="18" charset="0"/>
              <a:ea typeface="宋体" panose="02010600030101010101" pitchFamily="2" charset="-122"/>
              <a:cs typeface="Calibri" panose="020F0502020204030204" pitchFamily="34" charset="0"/>
            </a:endParaRPr>
          </a:p>
          <a:p>
            <a:pPr marL="342900" indent="-342900" algn="just">
              <a:lnSpc>
                <a:spcPct val="150000"/>
              </a:lnSpc>
              <a:buFont typeface="+mj-lt"/>
              <a:buAutoNum type="arabicPeriod"/>
            </a:pPr>
            <a:endParaRPr lang="zh-CN" altLang="en-US" dirty="0"/>
          </a:p>
        </p:txBody>
      </p:sp>
      <p:sp>
        <p:nvSpPr>
          <p:cNvPr id="4" name="文本框 3">
            <a:extLst>
              <a:ext uri="{FF2B5EF4-FFF2-40B4-BE49-F238E27FC236}">
                <a16:creationId xmlns:a16="http://schemas.microsoft.com/office/drawing/2014/main" id="{005819C0-6CF7-4CF4-9C77-C450BFD185A0}"/>
              </a:ext>
            </a:extLst>
          </p:cNvPr>
          <p:cNvSpPr txBox="1"/>
          <p:nvPr/>
        </p:nvSpPr>
        <p:spPr>
          <a:xfrm>
            <a:off x="751361" y="2569230"/>
            <a:ext cx="3604385" cy="369332"/>
          </a:xfrm>
          <a:prstGeom prst="rect">
            <a:avLst/>
          </a:prstGeom>
          <a:noFill/>
        </p:spPr>
        <p:txBody>
          <a:bodyPr wrap="none" rtlCol="0">
            <a:spAutoFit/>
          </a:bodyPr>
          <a:lstStyle/>
          <a:p>
            <a:r>
              <a:rPr lang="en-US" altLang="zh-CN" sz="1800" b="1" kern="100" dirty="0">
                <a:solidFill>
                  <a:srgbClr val="000000"/>
                </a:solidFill>
                <a:effectLst/>
                <a:latin typeface="Times New Roman" panose="02020603050405020304" pitchFamily="18" charset="0"/>
                <a:ea typeface="宋体" panose="02010600030101010101" pitchFamily="2" charset="-122"/>
              </a:rPr>
              <a:t>EQUIPMENTS and MATERIALS</a:t>
            </a:r>
            <a:endParaRPr lang="zh-CN" altLang="en-US" dirty="0"/>
          </a:p>
        </p:txBody>
      </p:sp>
      <p:sp>
        <p:nvSpPr>
          <p:cNvPr id="8" name="文本框 7">
            <a:extLst>
              <a:ext uri="{FF2B5EF4-FFF2-40B4-BE49-F238E27FC236}">
                <a16:creationId xmlns:a16="http://schemas.microsoft.com/office/drawing/2014/main" id="{0CEBD4D1-6B67-46A2-8DFA-40788CB00938}"/>
              </a:ext>
            </a:extLst>
          </p:cNvPr>
          <p:cNvSpPr txBox="1"/>
          <p:nvPr/>
        </p:nvSpPr>
        <p:spPr>
          <a:xfrm>
            <a:off x="829332" y="2938562"/>
            <a:ext cx="9817399" cy="3706079"/>
          </a:xfrm>
          <a:prstGeom prst="rect">
            <a:avLst/>
          </a:prstGeom>
          <a:noFill/>
        </p:spPr>
        <p:txBody>
          <a:bodyPr wrap="square">
            <a:spAutoFit/>
          </a:bodyPr>
          <a:lstStyle/>
          <a:p>
            <a:pPr marL="533400" algn="just">
              <a:lnSpc>
                <a:spcPct val="150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 laminar flow hood</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533400" algn="just">
              <a:lnSpc>
                <a:spcPct val="150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Incubator</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533400" algn="just">
              <a:lnSpc>
                <a:spcPct val="150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Loop</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533400" algn="just">
              <a:lnSpc>
                <a:spcPct val="150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Parafilm</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533400" algn="just">
              <a:lnSpc>
                <a:spcPct val="150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 </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Millipore syringe filter (0.45 </a:t>
            </a:r>
            <a:r>
              <a:rPr lang="en-US" altLang="zh-CN" sz="1800" kern="100" dirty="0">
                <a:solidFill>
                  <a:srgbClr val="252525"/>
                </a:solidFill>
                <a:effectLst/>
                <a:latin typeface="Times New Roman" panose="02020603050405020304" pitchFamily="18" charset="0"/>
                <a:ea typeface="宋体" panose="02010600030101010101" pitchFamily="2" charset="-122"/>
                <a:cs typeface="Times New Roman" panose="02020603050405020304" pitchFamily="18" charset="0"/>
              </a:rPr>
              <a:t>µm</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and a 2.5 mL syringe</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533400" algn="just">
              <a:lnSpc>
                <a:spcPct val="150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 × LB (Luria-Bertani) agar plates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533400" algn="just">
              <a:lnSpc>
                <a:spcPct val="150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 × sterile tube</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533400" algn="just">
              <a:lnSpc>
                <a:spcPct val="150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a:t>
            </a:r>
            <a:r>
              <a:rPr lang="it-IT"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ontaminated enzyme solution (labelled </a:t>
            </a:r>
            <a:r>
              <a:rPr lang="it-IT" altLang="zh-CN"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E</a:t>
            </a:r>
            <a:r>
              <a:rPr lang="it-IT"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533400" algn="just">
              <a:lnSpc>
                <a:spcPct val="150000"/>
              </a:lnSpc>
            </a:pP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8303865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13304430-A0D3-4652-A2E2-B835C715AAE4}"/>
              </a:ext>
            </a:extLst>
          </p:cNvPr>
          <p:cNvSpPr txBox="1"/>
          <p:nvPr/>
        </p:nvSpPr>
        <p:spPr>
          <a:xfrm>
            <a:off x="577190" y="302277"/>
            <a:ext cx="11185459" cy="4296689"/>
          </a:xfrm>
          <a:prstGeom prst="rect">
            <a:avLst/>
          </a:prstGeom>
          <a:noFill/>
        </p:spPr>
        <p:txBody>
          <a:bodyPr wrap="square" rtlCol="0">
            <a:spAutoFit/>
          </a:bodyPr>
          <a:lstStyle/>
          <a:p>
            <a:pPr>
              <a:lnSpc>
                <a:spcPct val="150000"/>
              </a:lnSpc>
              <a:spcBef>
                <a:spcPts val="600"/>
              </a:spcBef>
              <a:spcAft>
                <a:spcPts val="600"/>
              </a:spcAft>
            </a:pPr>
            <a:r>
              <a:rPr lang="en-US" altLang="zh-CN"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METHODS</a:t>
            </a:r>
            <a:endParaRPr lang="en-US" altLang="zh-CN" b="1" kern="100" dirty="0">
              <a:solidFill>
                <a:srgbClr val="000000"/>
              </a:solidFill>
              <a:latin typeface="Calibri" panose="020F0502020204030204" pitchFamily="34" charset="0"/>
              <a:ea typeface="宋体" panose="02010600030101010101" pitchFamily="2" charset="-122"/>
              <a:cs typeface="Times New Roman" panose="02020603050405020304" pitchFamily="18" charset="0"/>
            </a:endParaRPr>
          </a:p>
          <a:p>
            <a:pPr marL="342900" indent="-342900">
              <a:lnSpc>
                <a:spcPct val="150000"/>
              </a:lnSpc>
              <a:spcBef>
                <a:spcPts val="600"/>
              </a:spcBef>
              <a:spcAft>
                <a:spcPts val="600"/>
              </a:spcAft>
              <a:buAutoNum type="arabicPeriod"/>
            </a:pPr>
            <a:r>
              <a:rPr lang="en-US" altLang="zh-CN" sz="1800" kern="100" dirty="0">
                <a:effectLst/>
                <a:latin typeface="Times New Roman" panose="02020603050405020304" pitchFamily="18" charset="0"/>
                <a:ea typeface="宋体" panose="02010600030101010101" pitchFamily="2" charset="-122"/>
              </a:rPr>
              <a:t>Label two LB plates</a:t>
            </a:r>
            <a:endParaRPr lang="en-US" altLang="zh-CN" kern="100"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50000"/>
              </a:lnSpc>
              <a:spcBef>
                <a:spcPts val="600"/>
              </a:spcBef>
              <a:spcAft>
                <a:spcPts val="600"/>
              </a:spcAft>
              <a:buAutoNum type="arabicPeriod"/>
            </a:pP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50000"/>
              </a:lnSpc>
              <a:spcBef>
                <a:spcPts val="600"/>
              </a:spcBef>
              <a:spcAft>
                <a:spcPts val="600"/>
              </a:spcAft>
              <a:buAutoNum type="arabicPeriod"/>
            </a:pPr>
            <a:endParaRPr lang="en-US" altLang="zh-CN" kern="100"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50000"/>
              </a:lnSpc>
              <a:spcBef>
                <a:spcPts val="600"/>
              </a:spcBef>
              <a:spcAft>
                <a:spcPts val="600"/>
              </a:spcAft>
              <a:buAutoNum type="arabicPeriod"/>
            </a:pP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indent="-342900">
              <a:lnSpc>
                <a:spcPct val="150000"/>
              </a:lnSpc>
              <a:spcBef>
                <a:spcPts val="600"/>
              </a:spcBef>
              <a:spcAft>
                <a:spcPts val="600"/>
              </a:spcAft>
              <a:buFontTx/>
              <a:buAutoNum type="arabicPeriod"/>
            </a:pPr>
            <a:r>
              <a:rPr lang="en-US" altLang="zh-CN" sz="1800" kern="100" dirty="0">
                <a:effectLst/>
                <a:latin typeface="Times New Roman" panose="02020603050405020304" pitchFamily="18" charset="0"/>
                <a:ea typeface="Times New Roman" panose="02020603050405020304" pitchFamily="18" charset="0"/>
              </a:rPr>
              <a:t>According to </a:t>
            </a:r>
            <a:r>
              <a:rPr lang="en-US" altLang="zh-CN" sz="1800" kern="100" dirty="0">
                <a:solidFill>
                  <a:srgbClr val="FF0000"/>
                </a:solidFill>
                <a:effectLst/>
                <a:latin typeface="Times New Roman" panose="02020603050405020304" pitchFamily="18" charset="0"/>
                <a:ea typeface="Times New Roman" panose="02020603050405020304" pitchFamily="18" charset="0"/>
              </a:rPr>
              <a:t>Appendix </a:t>
            </a:r>
            <a:r>
              <a:rPr lang="en-US" altLang="zh-CN" sz="1800" kern="100" dirty="0">
                <a:solidFill>
                  <a:srgbClr val="FF0000"/>
                </a:solidFill>
                <a:effectLst/>
                <a:latin typeface="Times New Roman" panose="02020603050405020304" pitchFamily="18" charset="0"/>
                <a:ea typeface="宋体" panose="02010600030101010101" pitchFamily="2" charset="-122"/>
              </a:rPr>
              <a:t>E</a:t>
            </a:r>
            <a:r>
              <a:rPr lang="en-US" altLang="zh-CN" sz="1800" kern="100" dirty="0">
                <a:solidFill>
                  <a:srgbClr val="FF0000"/>
                </a:solidFill>
                <a:effectLst/>
                <a:latin typeface="Times New Roman" panose="02020603050405020304" pitchFamily="18" charset="0"/>
                <a:ea typeface="Times New Roman" panose="02020603050405020304" pitchFamily="18" charset="0"/>
              </a:rPr>
              <a:t> </a:t>
            </a:r>
            <a:r>
              <a:rPr lang="en-US" altLang="zh-CN" sz="1800" kern="100" dirty="0">
                <a:effectLst/>
                <a:latin typeface="Times New Roman" panose="02020603050405020304" pitchFamily="18" charset="0"/>
                <a:ea typeface="Times New Roman" panose="02020603050405020304" pitchFamily="18" charset="0"/>
              </a:rPr>
              <a:t>“M</a:t>
            </a:r>
            <a:r>
              <a:rPr lang="en-US" altLang="zh-CN" sz="1800" kern="100" dirty="0">
                <a:effectLst/>
                <a:latin typeface="Times New Roman" panose="02020603050405020304" pitchFamily="18" charset="0"/>
                <a:ea typeface="宋体" panose="02010600030101010101" pitchFamily="2" charset="-122"/>
              </a:rPr>
              <a:t>ethods for isolation of pure cultures of bacteria</a:t>
            </a:r>
            <a:r>
              <a:rPr lang="en-US" altLang="zh-CN" sz="1800" kern="100" dirty="0">
                <a:effectLst/>
                <a:latin typeface="Times New Roman" panose="02020603050405020304" pitchFamily="18" charset="0"/>
                <a:ea typeface="Times New Roman" panose="02020603050405020304" pitchFamily="18" charset="0"/>
              </a:rPr>
              <a:t>”, </a:t>
            </a:r>
            <a:r>
              <a:rPr lang="en-US" altLang="zh-CN" sz="1800" dirty="0">
                <a:solidFill>
                  <a:srgbClr val="000000"/>
                </a:solidFill>
                <a:effectLst/>
                <a:latin typeface="Times New Roman" panose="02020603050405020304" pitchFamily="18" charset="0"/>
                <a:ea typeface="Times New Roman" panose="02020603050405020304" pitchFamily="18" charset="0"/>
              </a:rPr>
              <a:t>take a loopful of the contaminated enzyme solution (</a:t>
            </a:r>
            <a:r>
              <a:rPr lang="it-IT" altLang="zh-CN" sz="1800" dirty="0">
                <a:solidFill>
                  <a:srgbClr val="000000"/>
                </a:solidFill>
                <a:effectLst/>
                <a:latin typeface="Times New Roman" panose="02020603050405020304" pitchFamily="18" charset="0"/>
                <a:ea typeface="Times New Roman" panose="02020603050405020304" pitchFamily="18" charset="0"/>
              </a:rPr>
              <a:t>labeled </a:t>
            </a:r>
            <a:r>
              <a:rPr lang="it-IT" altLang="zh-CN" sz="1800" b="1" dirty="0">
                <a:solidFill>
                  <a:srgbClr val="000000"/>
                </a:solidFill>
                <a:effectLst/>
                <a:latin typeface="Times New Roman" panose="02020603050405020304" pitchFamily="18" charset="0"/>
                <a:ea typeface="Times New Roman" panose="02020603050405020304" pitchFamily="18" charset="0"/>
              </a:rPr>
              <a:t>E</a:t>
            </a:r>
            <a:r>
              <a:rPr lang="en-US" altLang="zh-CN" sz="1800" dirty="0">
                <a:solidFill>
                  <a:srgbClr val="000000"/>
                </a:solidFill>
                <a:effectLst/>
                <a:latin typeface="Times New Roman" panose="02020603050405020304" pitchFamily="18" charset="0"/>
                <a:ea typeface="Times New Roman" panose="02020603050405020304" pitchFamily="18" charset="0"/>
              </a:rPr>
              <a:t>) and streak out for single colonies onto a labeled </a:t>
            </a:r>
            <a:r>
              <a:rPr lang="en-US" altLang="zh-CN" sz="1800" dirty="0">
                <a:solidFill>
                  <a:srgbClr val="000000"/>
                </a:solidFill>
                <a:effectLst/>
                <a:latin typeface="Times New Roman" panose="02020603050405020304" pitchFamily="18" charset="0"/>
                <a:ea typeface="宋体" panose="02010600030101010101" pitchFamily="2" charset="-122"/>
              </a:rPr>
              <a:t>LB</a:t>
            </a:r>
            <a:r>
              <a:rPr lang="en-US" altLang="zh-CN" sz="1800" dirty="0">
                <a:solidFill>
                  <a:srgbClr val="000000"/>
                </a:solidFill>
                <a:effectLst/>
                <a:latin typeface="Times New Roman" panose="02020603050405020304" pitchFamily="18" charset="0"/>
                <a:ea typeface="Times New Roman" panose="02020603050405020304" pitchFamily="18" charset="0"/>
              </a:rPr>
              <a:t> plate (labeled “before”). </a:t>
            </a:r>
            <a:endParaRPr lang="zh-CN" altLang="zh-CN" sz="1800" dirty="0">
              <a:effectLst/>
              <a:latin typeface="Times New Roman" panose="02020603050405020304" pitchFamily="18" charset="0"/>
              <a:ea typeface="Times New Roman" panose="02020603050405020304" pitchFamily="18" charset="0"/>
            </a:endParaRPr>
          </a:p>
          <a:p>
            <a:pPr marL="342900" indent="-342900">
              <a:lnSpc>
                <a:spcPct val="150000"/>
              </a:lnSpc>
              <a:spcBef>
                <a:spcPts val="600"/>
              </a:spcBef>
              <a:spcAft>
                <a:spcPts val="600"/>
              </a:spcAft>
              <a:buAutoNum type="arabicPeriod"/>
            </a:pP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p:txBody>
      </p:sp>
      <p:pic>
        <p:nvPicPr>
          <p:cNvPr id="8" name="图片 7">
            <a:extLst>
              <a:ext uri="{FF2B5EF4-FFF2-40B4-BE49-F238E27FC236}">
                <a16:creationId xmlns:a16="http://schemas.microsoft.com/office/drawing/2014/main" id="{78836158-31ED-4F84-85F6-F8AE081410FF}"/>
              </a:ext>
            </a:extLst>
          </p:cNvPr>
          <p:cNvPicPr/>
          <p:nvPr/>
        </p:nvPicPr>
        <p:blipFill>
          <a:blip r:embed="rId2">
            <a:extLst>
              <a:ext uri="{28A0092B-C50C-407E-A947-70E740481C1C}">
                <a14:useLocalDpi xmlns:a14="http://schemas.microsoft.com/office/drawing/2010/main" val="0"/>
              </a:ext>
            </a:extLst>
          </a:blip>
          <a:srcRect/>
          <a:stretch>
            <a:fillRect/>
          </a:stretch>
        </p:blipFill>
        <p:spPr>
          <a:xfrm>
            <a:off x="3736336" y="728921"/>
            <a:ext cx="4719328" cy="2303130"/>
          </a:xfrm>
          <a:prstGeom prst="rect">
            <a:avLst/>
          </a:prstGeom>
          <a:noFill/>
          <a:ln>
            <a:noFill/>
          </a:ln>
        </p:spPr>
      </p:pic>
      <p:pic>
        <p:nvPicPr>
          <p:cNvPr id="9" name="图片 8">
            <a:extLst>
              <a:ext uri="{FF2B5EF4-FFF2-40B4-BE49-F238E27FC236}">
                <a16:creationId xmlns:a16="http://schemas.microsoft.com/office/drawing/2014/main" id="{3B916DB1-49F1-47B1-A93C-BCDF8443A484}"/>
              </a:ext>
            </a:extLst>
          </p:cNvPr>
          <p:cNvPicPr/>
          <p:nvPr/>
        </p:nvPicPr>
        <p:blipFill>
          <a:blip r:embed="rId3" cstate="print">
            <a:extLst>
              <a:ext uri="{28A0092B-C50C-407E-A947-70E740481C1C}">
                <a14:useLocalDpi xmlns:a14="http://schemas.microsoft.com/office/drawing/2010/main" val="0"/>
              </a:ext>
            </a:extLst>
          </a:blip>
          <a:srcRect/>
          <a:stretch>
            <a:fillRect/>
          </a:stretch>
        </p:blipFill>
        <p:spPr>
          <a:xfrm>
            <a:off x="4343318" y="4064783"/>
            <a:ext cx="3234152" cy="2490940"/>
          </a:xfrm>
          <a:prstGeom prst="rect">
            <a:avLst/>
          </a:prstGeom>
          <a:noFill/>
          <a:ln>
            <a:noFill/>
          </a:ln>
        </p:spPr>
      </p:pic>
    </p:spTree>
    <p:extLst>
      <p:ext uri="{BB962C8B-B14F-4D97-AF65-F5344CB8AC3E}">
        <p14:creationId xmlns:p14="http://schemas.microsoft.com/office/powerpoint/2010/main" val="3052057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EC3F43CA-1727-42D3-B1A1-C015516E6356}"/>
              </a:ext>
            </a:extLst>
          </p:cNvPr>
          <p:cNvSpPr txBox="1"/>
          <p:nvPr/>
        </p:nvSpPr>
        <p:spPr>
          <a:xfrm>
            <a:off x="577190" y="302277"/>
            <a:ext cx="11185459" cy="2019142"/>
          </a:xfrm>
          <a:prstGeom prst="rect">
            <a:avLst/>
          </a:prstGeom>
          <a:noFill/>
        </p:spPr>
        <p:txBody>
          <a:bodyPr wrap="square" rtlCol="0">
            <a:spAutoFit/>
          </a:bodyPr>
          <a:lstStyle/>
          <a:p>
            <a:pPr>
              <a:lnSpc>
                <a:spcPct val="150000"/>
              </a:lnSpc>
              <a:spcBef>
                <a:spcPts val="600"/>
              </a:spcBef>
              <a:spcAft>
                <a:spcPts val="600"/>
              </a:spcAft>
            </a:pPr>
            <a:r>
              <a:rPr lang="en-US" altLang="zh-CN"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METHODS</a:t>
            </a:r>
            <a:endParaRPr lang="en-US" altLang="zh-CN" b="1" kern="100" dirty="0">
              <a:solidFill>
                <a:srgbClr val="000000"/>
              </a:solidFill>
              <a:latin typeface="Calibri" panose="020F0502020204030204" pitchFamily="34" charset="0"/>
              <a:ea typeface="宋体" panose="02010600030101010101" pitchFamily="2" charset="-122"/>
              <a:cs typeface="Times New Roman" panose="02020603050405020304" pitchFamily="18" charset="0"/>
            </a:endParaRPr>
          </a:p>
          <a:p>
            <a:pPr>
              <a:lnSpc>
                <a:spcPct val="150000"/>
              </a:lnSpc>
              <a:spcBef>
                <a:spcPts val="600"/>
              </a:spcBef>
              <a:spcAft>
                <a:spcPts val="600"/>
              </a:spcAft>
            </a:pPr>
            <a:r>
              <a:rPr lang="en-US" altLang="zh-CN" b="1" kern="100" dirty="0">
                <a:solidFill>
                  <a:srgbClr val="000000"/>
                </a:solidFill>
                <a:latin typeface="Calibri" panose="020F0502020204030204" pitchFamily="34" charset="0"/>
                <a:ea typeface="宋体" panose="02010600030101010101" pitchFamily="2" charset="-122"/>
                <a:cs typeface="Times New Roman" panose="02020603050405020304" pitchFamily="18" charset="0"/>
              </a:rPr>
              <a:t>3. </a:t>
            </a:r>
            <a:r>
              <a:rPr lang="en-US" altLang="zh-CN" sz="1800" dirty="0">
                <a:solidFill>
                  <a:srgbClr val="000000"/>
                </a:solidFill>
                <a:effectLst/>
                <a:latin typeface="Times New Roman" panose="02020603050405020304" pitchFamily="18" charset="0"/>
                <a:ea typeface="Times New Roman" panose="02020603050405020304" pitchFamily="18" charset="0"/>
              </a:rPr>
              <a:t>As the demonstrator shows, attach one filter to one syringe, and add 1~2 mL contaminated enzyme solution into syringe. Pass the liquid through a Millipore filter into </a:t>
            </a:r>
            <a:r>
              <a:rPr lang="en-US" altLang="zh-CN" sz="1800" b="1" dirty="0">
                <a:solidFill>
                  <a:srgbClr val="000000"/>
                </a:solidFill>
                <a:effectLst/>
                <a:latin typeface="Times New Roman" panose="02020603050405020304" pitchFamily="18" charset="0"/>
                <a:ea typeface="Times New Roman" panose="02020603050405020304" pitchFamily="18" charset="0"/>
              </a:rPr>
              <a:t>a sterile, labeled </a:t>
            </a:r>
            <a:r>
              <a:rPr lang="en-US" altLang="zh-CN" sz="1800" b="1" dirty="0">
                <a:solidFill>
                  <a:srgbClr val="000000"/>
                </a:solidFill>
                <a:effectLst/>
                <a:latin typeface="Times New Roman" panose="02020603050405020304" pitchFamily="18" charset="0"/>
                <a:ea typeface="宋体" panose="02010600030101010101" pitchFamily="2" charset="-122"/>
              </a:rPr>
              <a:t>tube</a:t>
            </a:r>
            <a:r>
              <a:rPr lang="en-US" altLang="zh-CN" sz="1800" dirty="0">
                <a:solidFill>
                  <a:srgbClr val="000000"/>
                </a:solidFill>
                <a:effectLst/>
                <a:latin typeface="Times New Roman" panose="02020603050405020304" pitchFamily="18" charset="0"/>
                <a:ea typeface="Times New Roman" panose="02020603050405020304" pitchFamily="18" charset="0"/>
              </a:rPr>
              <a:t>.</a:t>
            </a:r>
            <a:endParaRPr lang="zh-CN" altLang="zh-CN" sz="1800" dirty="0">
              <a:effectLst/>
              <a:latin typeface="Times New Roman" panose="02020603050405020304" pitchFamily="18" charset="0"/>
              <a:ea typeface="Times New Roman" panose="02020603050405020304" pitchFamily="18" charset="0"/>
            </a:endParaRPr>
          </a:p>
          <a:p>
            <a:pPr>
              <a:lnSpc>
                <a:spcPct val="150000"/>
              </a:lnSpc>
              <a:spcBef>
                <a:spcPts val="600"/>
              </a:spcBef>
              <a:spcAft>
                <a:spcPts val="600"/>
              </a:spcAft>
            </a:pPr>
            <a:endParaRPr lang="en-US" altLang="zh-CN" b="1" kern="100" dirty="0">
              <a:solidFill>
                <a:srgbClr val="000000"/>
              </a:solidFill>
              <a:latin typeface="Calibri" panose="020F0502020204030204" pitchFamily="34" charset="0"/>
              <a:ea typeface="宋体" panose="02010600030101010101" pitchFamily="2" charset="-122"/>
              <a:cs typeface="Times New Roman" panose="02020603050405020304" pitchFamily="18" charset="0"/>
            </a:endParaRPr>
          </a:p>
        </p:txBody>
      </p:sp>
      <p:pic>
        <p:nvPicPr>
          <p:cNvPr id="5" name="图片 4">
            <a:extLst>
              <a:ext uri="{FF2B5EF4-FFF2-40B4-BE49-F238E27FC236}">
                <a16:creationId xmlns:a16="http://schemas.microsoft.com/office/drawing/2014/main" id="{EC58C28F-D537-4C60-BB60-2C8161C71721}"/>
              </a:ext>
            </a:extLst>
          </p:cNvPr>
          <p:cNvPicPr/>
          <p:nvPr/>
        </p:nvPicPr>
        <p:blipFill rotWithShape="1">
          <a:blip r:embed="rId2">
            <a:extLst>
              <a:ext uri="{28A0092B-C50C-407E-A947-70E740481C1C}">
                <a14:useLocalDpi xmlns:a14="http://schemas.microsoft.com/office/drawing/2010/main" val="0"/>
              </a:ext>
            </a:extLst>
          </a:blip>
          <a:srcRect/>
          <a:stretch/>
        </p:blipFill>
        <p:spPr>
          <a:xfrm>
            <a:off x="1630324" y="1881940"/>
            <a:ext cx="2962942" cy="2980683"/>
          </a:xfrm>
          <a:prstGeom prst="rect">
            <a:avLst/>
          </a:prstGeom>
          <a:noFill/>
          <a:ln>
            <a:noFill/>
          </a:ln>
        </p:spPr>
      </p:pic>
      <p:sp>
        <p:nvSpPr>
          <p:cNvPr id="7" name="文本框 6">
            <a:extLst>
              <a:ext uri="{FF2B5EF4-FFF2-40B4-BE49-F238E27FC236}">
                <a16:creationId xmlns:a16="http://schemas.microsoft.com/office/drawing/2014/main" id="{61522E5B-C058-4743-AED5-EA0AACF4C8FF}"/>
              </a:ext>
            </a:extLst>
          </p:cNvPr>
          <p:cNvSpPr txBox="1"/>
          <p:nvPr/>
        </p:nvSpPr>
        <p:spPr>
          <a:xfrm>
            <a:off x="5483368" y="2451817"/>
            <a:ext cx="6096000" cy="1289071"/>
          </a:xfrm>
          <a:prstGeom prst="rect">
            <a:avLst/>
          </a:prstGeom>
          <a:noFill/>
        </p:spPr>
        <p:txBody>
          <a:bodyPr wrap="square">
            <a:spAutoFit/>
          </a:bodyPr>
          <a:lstStyle/>
          <a:p>
            <a:pPr lvl="0" algn="just">
              <a:lnSpc>
                <a:spcPct val="150000"/>
              </a:lnSpc>
              <a:buClr>
                <a:srgbClr val="000000"/>
              </a:buClr>
            </a:pPr>
            <a:r>
              <a:rPr lang="en-US" altLang="zh-CN" sz="1800" dirty="0">
                <a:solidFill>
                  <a:srgbClr val="000000"/>
                </a:solidFill>
                <a:effectLst/>
                <a:latin typeface="Times New Roman" panose="02020603050405020304" pitchFamily="18" charset="0"/>
                <a:ea typeface="Times New Roman" panose="02020603050405020304" pitchFamily="18" charset="0"/>
              </a:rPr>
              <a:t>4. Aseptically inoculate a loopful of the filtered solution onto a second labeled </a:t>
            </a:r>
            <a:r>
              <a:rPr lang="en-US" altLang="zh-CN" sz="1800" dirty="0">
                <a:solidFill>
                  <a:srgbClr val="000000"/>
                </a:solidFill>
                <a:effectLst/>
                <a:latin typeface="Times New Roman" panose="02020603050405020304" pitchFamily="18" charset="0"/>
                <a:ea typeface="宋体" panose="02010600030101010101" pitchFamily="2" charset="-122"/>
              </a:rPr>
              <a:t>LB</a:t>
            </a:r>
            <a:r>
              <a:rPr lang="en-US" altLang="zh-CN" sz="1800" dirty="0">
                <a:solidFill>
                  <a:srgbClr val="000000"/>
                </a:solidFill>
                <a:effectLst/>
                <a:latin typeface="Times New Roman" panose="02020603050405020304" pitchFamily="18" charset="0"/>
                <a:ea typeface="Times New Roman" panose="02020603050405020304" pitchFamily="18" charset="0"/>
              </a:rPr>
              <a:t> plate, and streak out for single colonies.</a:t>
            </a:r>
            <a:endParaRPr lang="en-US" altLang="zh-CN" dirty="0">
              <a:latin typeface="Times New Roman" panose="02020603050405020304" pitchFamily="18" charset="0"/>
              <a:ea typeface="Times New Roman" panose="02020603050405020304" pitchFamily="18" charset="0"/>
            </a:endParaRPr>
          </a:p>
          <a:p>
            <a:pPr lvl="0" algn="just">
              <a:lnSpc>
                <a:spcPct val="150000"/>
              </a:lnSpc>
              <a:buClr>
                <a:srgbClr val="000000"/>
              </a:buClr>
            </a:pPr>
            <a:r>
              <a:rPr lang="en-US" altLang="zh-CN" sz="1800" dirty="0">
                <a:solidFill>
                  <a:srgbClr val="000000"/>
                </a:solidFill>
                <a:effectLst/>
                <a:latin typeface="Times New Roman" panose="02020603050405020304" pitchFamily="18" charset="0"/>
                <a:ea typeface="Times New Roman" panose="02020603050405020304" pitchFamily="18" charset="0"/>
              </a:rPr>
              <a:t>5. Incubate both plates at 37 </a:t>
            </a:r>
            <a:r>
              <a:rPr lang="en-US" altLang="zh-CN" sz="1800" baseline="30000" dirty="0" err="1">
                <a:solidFill>
                  <a:srgbClr val="000000"/>
                </a:solidFill>
                <a:effectLst/>
                <a:latin typeface="Times New Roman" panose="02020603050405020304" pitchFamily="18" charset="0"/>
                <a:ea typeface="Times New Roman" panose="02020603050405020304" pitchFamily="18" charset="0"/>
              </a:rPr>
              <a:t>o</a:t>
            </a:r>
            <a:r>
              <a:rPr lang="en-US" altLang="zh-CN" sz="1800" dirty="0" err="1">
                <a:solidFill>
                  <a:srgbClr val="000000"/>
                </a:solidFill>
                <a:effectLst/>
                <a:latin typeface="Times New Roman" panose="02020603050405020304" pitchFamily="18" charset="0"/>
                <a:ea typeface="Times New Roman" panose="02020603050405020304" pitchFamily="18" charset="0"/>
              </a:rPr>
              <a:t>C</a:t>
            </a:r>
            <a:r>
              <a:rPr lang="en-US" altLang="zh-CN" sz="1800" dirty="0">
                <a:solidFill>
                  <a:srgbClr val="000000"/>
                </a:solidFill>
                <a:effectLst/>
                <a:latin typeface="Times New Roman" panose="02020603050405020304" pitchFamily="18" charset="0"/>
                <a:ea typeface="Times New Roman" panose="02020603050405020304" pitchFamily="18" charset="0"/>
              </a:rPr>
              <a:t> for 24 hours.</a:t>
            </a:r>
            <a:endParaRPr lang="zh-CN" altLang="zh-CN"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4912276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2CA55BF-EA73-4A58-9BEF-3306117A5F3F}"/>
              </a:ext>
            </a:extLst>
          </p:cNvPr>
          <p:cNvSpPr txBox="1"/>
          <p:nvPr/>
        </p:nvSpPr>
        <p:spPr>
          <a:xfrm>
            <a:off x="829338" y="496769"/>
            <a:ext cx="10193080" cy="2166875"/>
          </a:xfrm>
          <a:prstGeom prst="rect">
            <a:avLst/>
          </a:prstGeom>
          <a:noFill/>
        </p:spPr>
        <p:txBody>
          <a:bodyPr wrap="square">
            <a:spAutoFit/>
          </a:bodyPr>
          <a:lstStyle/>
          <a:p>
            <a:pPr algn="l">
              <a:lnSpc>
                <a:spcPct val="150000"/>
              </a:lnSpc>
            </a:pPr>
            <a:r>
              <a:rPr lang="en-US" altLang="zh-CN" sz="2000" b="1" i="0" u="none" strike="noStrike" baseline="0" dirty="0">
                <a:latin typeface="TimesNewRomanPS-BoldMT"/>
              </a:rPr>
              <a:t>EXP 4B</a:t>
            </a:r>
          </a:p>
          <a:p>
            <a:pPr algn="l">
              <a:lnSpc>
                <a:spcPct val="150000"/>
              </a:lnSpc>
            </a:pPr>
            <a:r>
              <a:rPr lang="en-US" altLang="zh-CN" sz="1800" b="1" i="0" u="none" strike="noStrike" baseline="0" dirty="0">
                <a:latin typeface="TimesNewRomanPS-BoldMT"/>
              </a:rPr>
              <a:t>METHODS</a:t>
            </a:r>
          </a:p>
          <a:p>
            <a:pPr algn="l">
              <a:lnSpc>
                <a:spcPct val="150000"/>
              </a:lnSpc>
            </a:pPr>
            <a:r>
              <a:rPr lang="en-US" altLang="zh-CN" sz="1800" b="0" i="0" u="none" strike="noStrike" baseline="0" dirty="0">
                <a:latin typeface="TimesNewRomanPSMT"/>
              </a:rPr>
              <a:t>1. Examine the LB plates streaked with contaminated solution before and after filtration, for the presence of microbial growth.</a:t>
            </a:r>
          </a:p>
          <a:p>
            <a:pPr algn="l">
              <a:lnSpc>
                <a:spcPct val="150000"/>
              </a:lnSpc>
            </a:pPr>
            <a:r>
              <a:rPr lang="en-US" altLang="zh-CN" sz="1800" b="0" i="0" u="none" strike="noStrike" baseline="0" dirty="0">
                <a:latin typeface="TimesNewRomanPSMT"/>
              </a:rPr>
              <a:t>2. Record your results in Worksheet 4.</a:t>
            </a:r>
            <a:endParaRPr lang="zh-CN" altLang="en-US" dirty="0"/>
          </a:p>
        </p:txBody>
      </p:sp>
      <p:pic>
        <p:nvPicPr>
          <p:cNvPr id="7" name="图片 6">
            <a:extLst>
              <a:ext uri="{FF2B5EF4-FFF2-40B4-BE49-F238E27FC236}">
                <a16:creationId xmlns:a16="http://schemas.microsoft.com/office/drawing/2014/main" id="{5106102D-7274-4959-8F5C-E0FC0F86F14F}"/>
              </a:ext>
            </a:extLst>
          </p:cNvPr>
          <p:cNvPicPr>
            <a:picLocks noChangeAspect="1"/>
          </p:cNvPicPr>
          <p:nvPr/>
        </p:nvPicPr>
        <p:blipFill>
          <a:blip r:embed="rId2"/>
          <a:stretch>
            <a:fillRect/>
          </a:stretch>
        </p:blipFill>
        <p:spPr>
          <a:xfrm>
            <a:off x="1435394" y="2663644"/>
            <a:ext cx="8980967" cy="4198894"/>
          </a:xfrm>
          <a:prstGeom prst="rect">
            <a:avLst/>
          </a:prstGeom>
        </p:spPr>
      </p:pic>
      <p:sp>
        <p:nvSpPr>
          <p:cNvPr id="8" name="文本框 7">
            <a:extLst>
              <a:ext uri="{FF2B5EF4-FFF2-40B4-BE49-F238E27FC236}">
                <a16:creationId xmlns:a16="http://schemas.microsoft.com/office/drawing/2014/main" id="{E9408D32-AB45-460F-B608-F9AEF0B5B4CC}"/>
              </a:ext>
            </a:extLst>
          </p:cNvPr>
          <p:cNvSpPr txBox="1"/>
          <p:nvPr/>
        </p:nvSpPr>
        <p:spPr>
          <a:xfrm>
            <a:off x="326063" y="127437"/>
            <a:ext cx="1006549" cy="369332"/>
          </a:xfrm>
          <a:prstGeom prst="rect">
            <a:avLst/>
          </a:prstGeom>
          <a:noFill/>
        </p:spPr>
        <p:txBody>
          <a:bodyPr wrap="square" rtlCol="0">
            <a:spAutoFit/>
          </a:bodyPr>
          <a:lstStyle/>
          <a:p>
            <a:r>
              <a:rPr lang="zh-CN" altLang="en-US" b="1" dirty="0">
                <a:solidFill>
                  <a:srgbClr val="FF0000"/>
                </a:solidFill>
              </a:rPr>
              <a:t>本周：</a:t>
            </a:r>
          </a:p>
        </p:txBody>
      </p:sp>
    </p:spTree>
    <p:extLst>
      <p:ext uri="{BB962C8B-B14F-4D97-AF65-F5344CB8AC3E}">
        <p14:creationId xmlns:p14="http://schemas.microsoft.com/office/powerpoint/2010/main" val="4056861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D970E833-666E-4707-B568-33D51EDD6907}"/>
              </a:ext>
            </a:extLst>
          </p:cNvPr>
          <p:cNvPicPr>
            <a:picLocks noChangeAspect="1"/>
          </p:cNvPicPr>
          <p:nvPr/>
        </p:nvPicPr>
        <p:blipFill>
          <a:blip r:embed="rId2"/>
          <a:stretch>
            <a:fillRect/>
          </a:stretch>
        </p:blipFill>
        <p:spPr>
          <a:xfrm>
            <a:off x="1030147" y="761999"/>
            <a:ext cx="8754578" cy="4183075"/>
          </a:xfrm>
          <a:prstGeom prst="rect">
            <a:avLst/>
          </a:prstGeom>
        </p:spPr>
      </p:pic>
    </p:spTree>
    <p:extLst>
      <p:ext uri="{BB962C8B-B14F-4D97-AF65-F5344CB8AC3E}">
        <p14:creationId xmlns:p14="http://schemas.microsoft.com/office/powerpoint/2010/main" val="2175229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C2D192-B35E-4B9D-B090-960FF3C21D05}"/>
              </a:ext>
            </a:extLst>
          </p:cNvPr>
          <p:cNvSpPr>
            <a:spLocks noGrp="1"/>
          </p:cNvSpPr>
          <p:nvPr>
            <p:ph type="title"/>
          </p:nvPr>
        </p:nvSpPr>
        <p:spPr>
          <a:xfrm>
            <a:off x="901995" y="450185"/>
            <a:ext cx="10515600" cy="1325563"/>
          </a:xfrm>
        </p:spPr>
        <p:txBody>
          <a:bodyPr>
            <a:normAutofit fontScale="90000"/>
          </a:bodyPr>
          <a:lstStyle/>
          <a:p>
            <a:pPr>
              <a:spcBef>
                <a:spcPts val="1200"/>
              </a:spcBef>
              <a:spcAft>
                <a:spcPts val="1200"/>
              </a:spcAft>
            </a:pPr>
            <a:r>
              <a:rPr lang="en-US" altLang="zh-CN" sz="3200" b="1" dirty="0">
                <a:latin typeface="Times New Roman" panose="02020603050405020304" pitchFamily="18" charset="0"/>
                <a:ea typeface="宋体" panose="02010600030101010101" pitchFamily="2" charset="-122"/>
              </a:rPr>
              <a:t>EXPERIMENT 5: </a:t>
            </a:r>
            <a:br>
              <a:rPr lang="en-US" altLang="zh-CN" sz="3200" b="1" dirty="0">
                <a:latin typeface="Times New Roman" panose="02020603050405020304" pitchFamily="18" charset="0"/>
                <a:ea typeface="宋体" panose="02010600030101010101" pitchFamily="2" charset="-122"/>
              </a:rPr>
            </a:br>
            <a:r>
              <a:rPr lang="en-US" altLang="zh-CN" sz="3200" b="1" dirty="0">
                <a:latin typeface="Times New Roman" panose="02020603050405020304" pitchFamily="18" charset="0"/>
                <a:ea typeface="宋体" panose="02010600030101010101" pitchFamily="2" charset="-122"/>
              </a:rPr>
              <a:t>         Isolation and purification of marine microorganism</a:t>
            </a:r>
            <a:br>
              <a:rPr lang="en-US" altLang="zh-CN" sz="3200" b="1" dirty="0">
                <a:latin typeface="Times New Roman" panose="02020603050405020304" pitchFamily="18" charset="0"/>
                <a:ea typeface="宋体" panose="02010600030101010101" pitchFamily="2" charset="-122"/>
              </a:rPr>
            </a:br>
            <a:r>
              <a:rPr lang="en-US" altLang="zh-CN" sz="3200" b="1" dirty="0">
                <a:latin typeface="Times New Roman" panose="02020603050405020304" pitchFamily="18" charset="0"/>
                <a:ea typeface="宋体" panose="02010600030101010101" pitchFamily="2" charset="-122"/>
              </a:rPr>
              <a:t>             </a:t>
            </a:r>
            <a:r>
              <a:rPr lang="zh-CN" altLang="en-US" sz="3200" b="1" dirty="0">
                <a:latin typeface="Times New Roman" panose="02020603050405020304" pitchFamily="18" charset="0"/>
                <a:ea typeface="宋体" panose="02010600030101010101" pitchFamily="2" charset="-122"/>
              </a:rPr>
              <a:t>分离              纯化               海洋微生物</a:t>
            </a:r>
          </a:p>
        </p:txBody>
      </p:sp>
      <p:sp>
        <p:nvSpPr>
          <p:cNvPr id="4" name="文本框 3">
            <a:extLst>
              <a:ext uri="{FF2B5EF4-FFF2-40B4-BE49-F238E27FC236}">
                <a16:creationId xmlns:a16="http://schemas.microsoft.com/office/drawing/2014/main" id="{3F962AD9-F5A1-4FF5-9054-E24865803C57}"/>
              </a:ext>
            </a:extLst>
          </p:cNvPr>
          <p:cNvSpPr txBox="1"/>
          <p:nvPr/>
        </p:nvSpPr>
        <p:spPr>
          <a:xfrm>
            <a:off x="534830" y="2162175"/>
            <a:ext cx="11249929" cy="3644396"/>
          </a:xfrm>
          <a:prstGeom prst="rect">
            <a:avLst/>
          </a:prstGeom>
          <a:noFill/>
        </p:spPr>
        <p:txBody>
          <a:bodyPr wrap="square" rtlCol="0">
            <a:spAutoFit/>
          </a:bodyPr>
          <a:lstStyle/>
          <a:p>
            <a:r>
              <a:rPr lang="en-US" altLang="zh-CN"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INTRODUCTION</a:t>
            </a:r>
            <a:r>
              <a:rPr lang="zh-CN" altLang="en-US"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en-US" altLang="zh-CN"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50000"/>
              </a:lnSpc>
            </a:pPr>
            <a:r>
              <a:rPr lang="en-US" altLang="zh-CN" b="1" kern="100" dirty="0">
                <a:solidFill>
                  <a:srgbClr val="FF0000"/>
                </a:solidFill>
                <a:latin typeface="Times New Roman" panose="02020603050405020304" pitchFamily="18" charset="0"/>
              </a:rPr>
              <a:t>     </a:t>
            </a:r>
            <a:r>
              <a:rPr lang="en-US" altLang="zh-CN" sz="1800" kern="100" dirty="0">
                <a:solidFill>
                  <a:srgbClr val="000000"/>
                </a:solidFill>
                <a:effectLst/>
                <a:latin typeface="Times New Roman" panose="02020603050405020304" pitchFamily="18" charset="0"/>
                <a:ea typeface="宋体" panose="02010600030101010101" pitchFamily="2" charset="-122"/>
              </a:rPr>
              <a:t>In order to characterize an individual species</a:t>
            </a:r>
            <a:r>
              <a:rPr lang="en-US" altLang="zh-CN" sz="1800" b="1" kern="100" dirty="0">
                <a:solidFill>
                  <a:srgbClr val="000000"/>
                </a:solidFill>
                <a:effectLst/>
                <a:latin typeface="Times New Roman" panose="02020603050405020304" pitchFamily="18" charset="0"/>
                <a:ea typeface="宋体" panose="02010600030101010101" pitchFamily="2" charset="-122"/>
              </a:rPr>
              <a:t>, </a:t>
            </a:r>
            <a:r>
              <a:rPr lang="en-US" altLang="zh-CN" sz="1800" b="1" kern="100" dirty="0">
                <a:solidFill>
                  <a:srgbClr val="FF0000"/>
                </a:solidFill>
                <a:effectLst/>
                <a:latin typeface="Times New Roman" panose="02020603050405020304" pitchFamily="18" charset="0"/>
                <a:ea typeface="宋体" panose="02010600030101010101" pitchFamily="2" charset="-122"/>
              </a:rPr>
              <a:t>a pure culture (</a:t>
            </a:r>
            <a:r>
              <a:rPr lang="zh-CN" altLang="en-US" sz="1800" b="1" kern="100" dirty="0">
                <a:solidFill>
                  <a:srgbClr val="FF0000"/>
                </a:solidFill>
                <a:effectLst/>
                <a:latin typeface="Times New Roman" panose="02020603050405020304" pitchFamily="18" charset="0"/>
                <a:ea typeface="宋体" panose="02010600030101010101" pitchFamily="2" charset="-122"/>
              </a:rPr>
              <a:t>纯培养物</a:t>
            </a:r>
            <a:r>
              <a:rPr lang="en-US" altLang="zh-CN" sz="1800" b="1" kern="100" dirty="0">
                <a:solidFill>
                  <a:srgbClr val="FF0000"/>
                </a:solidFill>
                <a:effectLst/>
                <a:latin typeface="Times New Roman" panose="02020603050405020304" pitchFamily="18" charset="0"/>
                <a:ea typeface="宋体" panose="02010600030101010101" pitchFamily="2" charset="-122"/>
              </a:rPr>
              <a:t>) </a:t>
            </a:r>
            <a:r>
              <a:rPr lang="en-US" altLang="zh-CN" sz="1800" kern="100" dirty="0">
                <a:solidFill>
                  <a:srgbClr val="000000"/>
                </a:solidFill>
                <a:effectLst/>
                <a:latin typeface="Times New Roman" panose="02020603050405020304" pitchFamily="18" charset="0"/>
                <a:ea typeface="宋体" panose="02010600030101010101" pitchFamily="2" charset="-122"/>
              </a:rPr>
              <a:t>is needed.</a:t>
            </a:r>
          </a:p>
          <a:p>
            <a:pPr algn="just">
              <a:lnSpc>
                <a:spcPct val="150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 pure culture </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is a population of cells arising from a single cell. </a:t>
            </a:r>
            <a:r>
              <a:rPr lang="en-US" altLang="zh-CN" sz="1800" b="1" kern="100" dirty="0">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A single colony </a:t>
            </a:r>
            <a:r>
              <a:rPr lang="en-US" altLang="zh-CN"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单一菌落</a:t>
            </a:r>
            <a:r>
              <a:rPr lang="en-US" altLang="zh-CN" b="1" kern="100" dirty="0">
                <a:solidFill>
                  <a:srgbClr val="FF0000"/>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of bacteria on an agar plate is a pure culture of that organism.</a:t>
            </a:r>
          </a:p>
          <a:p>
            <a:pPr algn="just">
              <a:lnSpc>
                <a:spcPct val="150000"/>
              </a:lnSpc>
            </a:pP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kern="100" dirty="0">
                <a:solidFill>
                  <a:srgbClr val="FF0000"/>
                </a:solidFill>
                <a:effectLst/>
                <a:latin typeface="Times New Roman" panose="02020603050405020304" pitchFamily="18" charset="0"/>
                <a:ea typeface="Times New Roman" panose="02020603050405020304" pitchFamily="18" charset="0"/>
              </a:rPr>
              <a:t>A serial dilution (</a:t>
            </a:r>
            <a:r>
              <a:rPr lang="zh-CN" altLang="en-US" sz="1800" b="1" kern="100" dirty="0">
                <a:solidFill>
                  <a:srgbClr val="FF0000"/>
                </a:solidFill>
                <a:effectLst/>
                <a:latin typeface="Times New Roman" panose="02020603050405020304" pitchFamily="18" charset="0"/>
                <a:ea typeface="Times New Roman" panose="02020603050405020304" pitchFamily="18" charset="0"/>
              </a:rPr>
              <a:t>梯度稀释</a:t>
            </a:r>
            <a:r>
              <a:rPr lang="en-US" altLang="zh-CN" sz="1800" b="1" kern="100" dirty="0">
                <a:solidFill>
                  <a:srgbClr val="FF0000"/>
                </a:solidFill>
                <a:effectLst/>
                <a:latin typeface="Times New Roman" panose="02020603050405020304" pitchFamily="18" charset="0"/>
                <a:ea typeface="Times New Roman" panose="02020603050405020304" pitchFamily="18" charset="0"/>
              </a:rPr>
              <a:t>)</a:t>
            </a:r>
            <a:r>
              <a:rPr lang="en-US" altLang="zh-CN" sz="1800" kern="100" dirty="0">
                <a:solidFill>
                  <a:srgbClr val="FF0000"/>
                </a:solidFill>
                <a:effectLst/>
                <a:latin typeface="Times New Roman" panose="02020603050405020304" pitchFamily="18" charset="0"/>
                <a:ea typeface="Times New Roman" panose="02020603050405020304" pitchFamily="18" charset="0"/>
              </a:rPr>
              <a:t> </a:t>
            </a:r>
            <a:r>
              <a:rPr lang="en-US" altLang="zh-CN" kern="100" dirty="0">
                <a:solidFill>
                  <a:srgbClr val="FF0000"/>
                </a:solidFill>
                <a:latin typeface="Times New Roman" panose="02020603050405020304" pitchFamily="18" charset="0"/>
                <a:ea typeface="Times New Roman" panose="02020603050405020304" pitchFamily="18" charset="0"/>
              </a:rPr>
              <a:t>and</a:t>
            </a:r>
            <a:r>
              <a:rPr lang="zh-CN" altLang="en-US" kern="100" dirty="0">
                <a:solidFill>
                  <a:srgbClr val="FF0000"/>
                </a:solidFill>
                <a:latin typeface="Times New Roman" panose="02020603050405020304" pitchFamily="18" charset="0"/>
                <a:ea typeface="Times New Roman" panose="02020603050405020304" pitchFamily="18" charset="0"/>
              </a:rPr>
              <a:t> </a:t>
            </a:r>
            <a:r>
              <a:rPr lang="en-US" altLang="zh-CN" b="1" kern="100" dirty="0">
                <a:solidFill>
                  <a:srgbClr val="FF0000"/>
                </a:solidFill>
                <a:latin typeface="Times New Roman" panose="02020603050405020304" pitchFamily="18" charset="0"/>
                <a:ea typeface="Times New Roman" panose="02020603050405020304" pitchFamily="18" charset="0"/>
              </a:rPr>
              <a:t>s</a:t>
            </a:r>
            <a:r>
              <a:rPr lang="en-US" altLang="zh-CN" sz="1800" b="1" kern="100" dirty="0">
                <a:solidFill>
                  <a:srgbClr val="FF0000"/>
                </a:solidFill>
                <a:effectLst/>
                <a:latin typeface="Times New Roman" panose="02020603050405020304" pitchFamily="18" charset="0"/>
                <a:ea typeface="Times New Roman" panose="02020603050405020304" pitchFamily="18" charset="0"/>
              </a:rPr>
              <a:t>treaking </a:t>
            </a:r>
            <a:r>
              <a:rPr lang="en-US" altLang="zh-CN" b="1" kern="100" dirty="0">
                <a:solidFill>
                  <a:srgbClr val="FF0000"/>
                </a:solidFill>
                <a:latin typeface="Times New Roman" panose="02020603050405020304" pitchFamily="18" charset="0"/>
                <a:ea typeface="Times New Roman" panose="02020603050405020304" pitchFamily="18" charset="0"/>
              </a:rPr>
              <a:t>(</a:t>
            </a:r>
            <a:r>
              <a:rPr lang="zh-CN" altLang="en-US" b="1" kern="100" dirty="0">
                <a:solidFill>
                  <a:srgbClr val="FF0000"/>
                </a:solidFill>
                <a:latin typeface="Times New Roman" panose="02020603050405020304" pitchFamily="18" charset="0"/>
                <a:ea typeface="Times New Roman" panose="02020603050405020304" pitchFamily="18" charset="0"/>
              </a:rPr>
              <a:t>划线</a:t>
            </a:r>
            <a:r>
              <a:rPr lang="en-US" altLang="zh-CN" b="1" kern="100" dirty="0">
                <a:solidFill>
                  <a:srgbClr val="FF0000"/>
                </a:solidFill>
                <a:latin typeface="Times New Roman" panose="02020603050405020304" pitchFamily="18" charset="0"/>
                <a:ea typeface="Times New Roman" panose="02020603050405020304" pitchFamily="18" charset="0"/>
              </a:rPr>
              <a:t>)</a:t>
            </a:r>
            <a:r>
              <a:rPr lang="en-US" altLang="zh-CN" sz="1800" kern="100" dirty="0">
                <a:solidFill>
                  <a:srgbClr val="000000"/>
                </a:solidFill>
                <a:effectLst/>
                <a:latin typeface="Times New Roman" panose="02020603050405020304" pitchFamily="18" charset="0"/>
                <a:ea typeface="Times New Roman" panose="02020603050405020304" pitchFamily="18" charset="0"/>
              </a:rPr>
              <a:t> are techniques used to isolate a pure strain from a single species of microorganism. </a:t>
            </a:r>
            <a:endPar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50000"/>
              </a:lnSpc>
            </a:pPr>
            <a:r>
              <a:rPr lang="en-US" altLang="zh-CN" kern="1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kern="100" dirty="0">
                <a:solidFill>
                  <a:srgbClr val="FF0000"/>
                </a:solidFill>
                <a:effectLst/>
                <a:latin typeface="Times New Roman" panose="02020603050405020304" pitchFamily="18" charset="0"/>
                <a:ea typeface="Times New Roman" panose="02020603050405020304" pitchFamily="18" charset="0"/>
              </a:rPr>
              <a:t>Halo</a:t>
            </a:r>
            <a:r>
              <a:rPr lang="en-US" altLang="zh-CN" sz="1800" b="1" kern="100" dirty="0">
                <a:solidFill>
                  <a:srgbClr val="00B0F0"/>
                </a:solidFill>
                <a:effectLst/>
                <a:latin typeface="Times New Roman" panose="02020603050405020304" pitchFamily="18" charset="0"/>
                <a:ea typeface="Times New Roman" panose="02020603050405020304" pitchFamily="18" charset="0"/>
              </a:rPr>
              <a:t>philes (</a:t>
            </a:r>
            <a:r>
              <a:rPr lang="zh-CN" altLang="en-US" sz="1800" b="1" kern="100" dirty="0">
                <a:solidFill>
                  <a:srgbClr val="00B0F0"/>
                </a:solidFill>
                <a:effectLst/>
                <a:latin typeface="Times New Roman" panose="02020603050405020304" pitchFamily="18" charset="0"/>
                <a:ea typeface="Times New Roman" panose="02020603050405020304" pitchFamily="18" charset="0"/>
              </a:rPr>
              <a:t>嗜盐</a:t>
            </a:r>
            <a:r>
              <a:rPr lang="zh-CN" altLang="en-US" b="1" kern="100" dirty="0">
                <a:solidFill>
                  <a:srgbClr val="00B0F0"/>
                </a:solidFill>
                <a:latin typeface="Times New Roman" panose="02020603050405020304" pitchFamily="18" charset="0"/>
                <a:ea typeface="Times New Roman" panose="02020603050405020304" pitchFamily="18" charset="0"/>
              </a:rPr>
              <a:t>菌</a:t>
            </a:r>
            <a:r>
              <a:rPr lang="en-US" altLang="zh-CN" sz="1800" b="1" kern="100" dirty="0">
                <a:solidFill>
                  <a:srgbClr val="00B0F0"/>
                </a:solidFill>
                <a:effectLst/>
                <a:latin typeface="Times New Roman" panose="02020603050405020304" pitchFamily="18" charset="0"/>
                <a:ea typeface="Times New Roman" panose="02020603050405020304" pitchFamily="18" charset="0"/>
              </a:rPr>
              <a:t>)</a:t>
            </a:r>
            <a:r>
              <a:rPr lang="en-US" altLang="zh-CN" sz="1800" kern="100" dirty="0">
                <a:solidFill>
                  <a:srgbClr val="000000"/>
                </a:solidFill>
                <a:effectLst/>
                <a:latin typeface="Times New Roman" panose="02020603050405020304" pitchFamily="18" charset="0"/>
                <a:ea typeface="Times New Roman" panose="02020603050405020304" pitchFamily="18" charset="0"/>
              </a:rPr>
              <a:t> require sodium chloride (salt) for growth, in contrast to </a:t>
            </a:r>
            <a:r>
              <a:rPr lang="en-US" altLang="zh-CN" sz="1800" kern="100" dirty="0">
                <a:solidFill>
                  <a:srgbClr val="FF0000"/>
                </a:solidFill>
                <a:effectLst/>
                <a:latin typeface="Times New Roman" panose="02020603050405020304" pitchFamily="18" charset="0"/>
                <a:ea typeface="Times New Roman" panose="02020603050405020304" pitchFamily="18" charset="0"/>
              </a:rPr>
              <a:t>halo</a:t>
            </a:r>
            <a:r>
              <a:rPr lang="en-US" altLang="zh-CN" sz="1800" kern="100" dirty="0">
                <a:solidFill>
                  <a:srgbClr val="00B0F0"/>
                </a:solidFill>
                <a:effectLst/>
                <a:latin typeface="Times New Roman" panose="02020603050405020304" pitchFamily="18" charset="0"/>
                <a:ea typeface="Times New Roman" panose="02020603050405020304" pitchFamily="18" charset="0"/>
              </a:rPr>
              <a:t>tolerant </a:t>
            </a:r>
            <a:r>
              <a:rPr lang="en-US" altLang="zh-CN" kern="100" dirty="0">
                <a:solidFill>
                  <a:srgbClr val="00B0F0"/>
                </a:solidFill>
                <a:latin typeface="Times New Roman" panose="02020603050405020304" pitchFamily="18" charset="0"/>
                <a:ea typeface="Times New Roman" panose="02020603050405020304" pitchFamily="18" charset="0"/>
              </a:rPr>
              <a:t>(</a:t>
            </a:r>
            <a:r>
              <a:rPr lang="zh-CN" altLang="en-US" kern="100" dirty="0">
                <a:solidFill>
                  <a:srgbClr val="00B0F0"/>
                </a:solidFill>
                <a:latin typeface="Times New Roman" panose="02020603050405020304" pitchFamily="18" charset="0"/>
                <a:ea typeface="Times New Roman" panose="02020603050405020304" pitchFamily="18" charset="0"/>
              </a:rPr>
              <a:t>耐盐的</a:t>
            </a:r>
            <a:r>
              <a:rPr lang="en-US" altLang="zh-CN" kern="100" dirty="0">
                <a:solidFill>
                  <a:srgbClr val="00B0F0"/>
                </a:solidFill>
                <a:latin typeface="Times New Roman" panose="02020603050405020304" pitchFamily="18" charset="0"/>
                <a:ea typeface="Times New Roman" panose="02020603050405020304" pitchFamily="18" charset="0"/>
              </a:rPr>
              <a:t>)</a:t>
            </a:r>
            <a:r>
              <a:rPr lang="en-US" altLang="zh-CN" sz="1800" kern="100" dirty="0">
                <a:solidFill>
                  <a:srgbClr val="000000"/>
                </a:solidFill>
                <a:effectLst/>
                <a:latin typeface="Times New Roman" panose="02020603050405020304" pitchFamily="18" charset="0"/>
                <a:ea typeface="Times New Roman" panose="02020603050405020304" pitchFamily="18" charset="0"/>
              </a:rPr>
              <a:t> organisms, which do not require salt but can grow under saline conditions.</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pPr>
            <a:r>
              <a:rPr lang="zh-CN" altLang="en-US" dirty="0"/>
              <a:t> </a:t>
            </a:r>
          </a:p>
        </p:txBody>
      </p:sp>
    </p:spTree>
    <p:extLst>
      <p:ext uri="{BB962C8B-B14F-4D97-AF65-F5344CB8AC3E}">
        <p14:creationId xmlns:p14="http://schemas.microsoft.com/office/powerpoint/2010/main" val="5459892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BE4D5EB-2D2A-4AC1-925A-A7AE02DB9AAF}"/>
              </a:ext>
            </a:extLst>
          </p:cNvPr>
          <p:cNvSpPr txBox="1"/>
          <p:nvPr/>
        </p:nvSpPr>
        <p:spPr>
          <a:xfrm>
            <a:off x="758455" y="556549"/>
            <a:ext cx="10994065" cy="1709892"/>
          </a:xfrm>
          <a:prstGeom prst="rect">
            <a:avLst/>
          </a:prstGeom>
          <a:noFill/>
        </p:spPr>
        <p:txBody>
          <a:bodyPr wrap="square">
            <a:spAutoFit/>
          </a:bodyPr>
          <a:lstStyle/>
          <a:p>
            <a:pPr algn="just">
              <a:lnSpc>
                <a:spcPct val="150000"/>
              </a:lnSpc>
            </a:pPr>
            <a:r>
              <a:rPr lang="en-US" altLang="zh-CN" kern="1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altLang="zh-C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Bacteria on an agar plate can be stored at </a:t>
            </a:r>
            <a:r>
              <a:rPr lang="en-US" altLang="zh-CN" sz="1800" kern="1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4 °C</a:t>
            </a:r>
            <a:r>
              <a:rPr lang="en-US" altLang="zh-C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for a few weeks. However, if you want to store bacteria for a longer time, you will need to establish </a:t>
            </a:r>
            <a:r>
              <a:rPr lang="en-US" altLang="zh-CN" sz="1800" b="1" kern="1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glycerol stocks (</a:t>
            </a:r>
            <a:r>
              <a:rPr lang="zh-CN" altLang="en-US" sz="1800" b="1" kern="1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甘油保存管</a:t>
            </a:r>
            <a:r>
              <a:rPr lang="en-US" altLang="zh-CN" sz="1800" b="1" kern="1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a:t>
            </a:r>
            <a:r>
              <a:rPr lang="en-US" altLang="zh-C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The addition of glycerol stabilizes the frozen bacteria, preventing damage to the cell membranes and keeping the cells alive. A glycerol stock of bacteria can be stored stably at </a:t>
            </a:r>
            <a:r>
              <a:rPr lang="en-US" altLang="zh-CN" sz="1800" kern="100"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-80 °C</a:t>
            </a:r>
            <a:r>
              <a:rPr lang="en-US" altLang="zh-CN" sz="18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for many years.</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85EAFB06-F9E7-437A-B290-6B262F0DFA04}"/>
              </a:ext>
            </a:extLst>
          </p:cNvPr>
          <p:cNvSpPr txBox="1"/>
          <p:nvPr/>
        </p:nvSpPr>
        <p:spPr>
          <a:xfrm>
            <a:off x="694660" y="2436561"/>
            <a:ext cx="11291778" cy="3028008"/>
          </a:xfrm>
          <a:prstGeom prst="rect">
            <a:avLst/>
          </a:prstGeom>
          <a:noFill/>
        </p:spPr>
        <p:txBody>
          <a:bodyPr wrap="square">
            <a:spAutoFit/>
          </a:bodyPr>
          <a:lstStyle/>
          <a:p>
            <a:pPr algn="l">
              <a:lnSpc>
                <a:spcPct val="150000"/>
              </a:lnSpc>
              <a:spcBef>
                <a:spcPts val="600"/>
              </a:spcBef>
              <a:spcAft>
                <a:spcPts val="600"/>
              </a:spcAft>
            </a:pPr>
            <a:r>
              <a:rPr lang="en-US" altLang="zh-CN"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OBJECTIVES</a:t>
            </a: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marL="457200" indent="-457200" algn="just">
              <a:lnSpc>
                <a:spcPct val="150000"/>
              </a:lnSpc>
            </a:pPr>
            <a:r>
              <a:rPr lang="en-US" altLang="zh-CN" sz="1800"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the end of this experiment, you should:</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just">
              <a:lnSpc>
                <a:spcPct val="150000"/>
              </a:lnSpc>
              <a:buFont typeface="+mj-lt"/>
              <a:buAutoNum type="arabicPeriod"/>
            </a:pPr>
            <a:r>
              <a:rPr lang="en-US" altLang="zh-CN" sz="1800" dirty="0">
                <a:solidFill>
                  <a:srgbClr val="FF0000"/>
                </a:solidFill>
                <a:effectLst/>
                <a:latin typeface="Times New Roman" panose="02020603050405020304" pitchFamily="18" charset="0"/>
                <a:ea typeface="宋体" panose="02010600030101010101" pitchFamily="2" charset="-122"/>
              </a:rPr>
              <a:t>Be able to isolate microorganism from a certain environment</a:t>
            </a:r>
            <a:endParaRPr lang="zh-CN" altLang="zh-CN" sz="1800" dirty="0">
              <a:solidFill>
                <a:srgbClr val="FF0000"/>
              </a:solidFill>
              <a:effectLst/>
              <a:latin typeface="Times New Roman" panose="02020603050405020304" pitchFamily="18" charset="0"/>
              <a:ea typeface="宋体" panose="02010600030101010101" pitchFamily="2" charset="-122"/>
            </a:endParaRPr>
          </a:p>
          <a:p>
            <a:pPr marL="342900" lvl="0" indent="342900" algn="just">
              <a:lnSpc>
                <a:spcPct val="150000"/>
              </a:lnSpc>
              <a:buFont typeface="+mj-lt"/>
              <a:buAutoNum type="arabicPeriod"/>
            </a:pPr>
            <a:r>
              <a:rPr lang="en-US" altLang="zh-CN" sz="1800" dirty="0">
                <a:solidFill>
                  <a:srgbClr val="FF0000"/>
                </a:solidFill>
                <a:effectLst/>
                <a:latin typeface="Times New Roman" panose="02020603050405020304" pitchFamily="18" charset="0"/>
                <a:ea typeface="宋体" panose="02010600030101010101" pitchFamily="2" charset="-122"/>
              </a:rPr>
              <a:t>Know the basic traits of marine microorganism</a:t>
            </a:r>
            <a:endParaRPr lang="zh-CN" altLang="zh-CN" sz="1800" dirty="0">
              <a:solidFill>
                <a:srgbClr val="FF0000"/>
              </a:solidFill>
              <a:effectLst/>
              <a:latin typeface="Times New Roman" panose="02020603050405020304" pitchFamily="18" charset="0"/>
              <a:ea typeface="宋体" panose="02010600030101010101" pitchFamily="2" charset="-122"/>
            </a:endParaRPr>
          </a:p>
          <a:p>
            <a:pPr marL="342900" lvl="0" indent="342900" algn="just">
              <a:lnSpc>
                <a:spcPct val="150000"/>
              </a:lnSpc>
              <a:buFont typeface="+mj-lt"/>
              <a:buAutoNum type="arabicPeriod"/>
            </a:pPr>
            <a:r>
              <a:rPr lang="en-US" altLang="zh-CN" sz="1800" dirty="0">
                <a:solidFill>
                  <a:srgbClr val="FF0000"/>
                </a:solidFill>
                <a:effectLst/>
                <a:latin typeface="Times New Roman" panose="02020603050405020304" pitchFamily="18" charset="0"/>
                <a:ea typeface="宋体" panose="02010600030101010101" pitchFamily="2" charset="-122"/>
              </a:rPr>
              <a:t>Know the differences between halotolerance bacterial and halophiles</a:t>
            </a:r>
            <a:endParaRPr lang="zh-CN" altLang="zh-CN" sz="1800" dirty="0">
              <a:solidFill>
                <a:srgbClr val="FF0000"/>
              </a:solidFill>
              <a:effectLst/>
              <a:latin typeface="Times New Roman" panose="02020603050405020304" pitchFamily="18" charset="0"/>
              <a:ea typeface="宋体" panose="02010600030101010101" pitchFamily="2" charset="-122"/>
            </a:endParaRPr>
          </a:p>
          <a:p>
            <a:pPr marL="342900" lvl="0" indent="342900" algn="just">
              <a:lnSpc>
                <a:spcPct val="150000"/>
              </a:lnSpc>
              <a:buFont typeface="+mj-lt"/>
              <a:buAutoNum type="arabicPeriod"/>
            </a:pPr>
            <a:r>
              <a:rPr lang="en-US" altLang="zh-CN" sz="1800" dirty="0">
                <a:solidFill>
                  <a:srgbClr val="000000"/>
                </a:solidFill>
                <a:effectLst/>
                <a:latin typeface="Times New Roman" panose="02020603050405020304" pitchFamily="18" charset="0"/>
                <a:ea typeface="宋体" panose="02010600030101010101" pitchFamily="2" charset="-122"/>
              </a:rPr>
              <a:t>Know how to streak a single colony from cultured plates</a:t>
            </a:r>
            <a:endParaRPr lang="zh-CN" altLang="zh-CN" sz="1800" dirty="0">
              <a:effectLst/>
              <a:latin typeface="Times New Roman" panose="02020603050405020304" pitchFamily="18" charset="0"/>
              <a:ea typeface="宋体" panose="02010600030101010101" pitchFamily="2" charset="-122"/>
            </a:endParaRPr>
          </a:p>
          <a:p>
            <a:pPr marL="342900" lvl="0" indent="342900" algn="just">
              <a:lnSpc>
                <a:spcPct val="150000"/>
              </a:lnSpc>
              <a:buFont typeface="+mj-lt"/>
              <a:buAutoNum type="arabicPeriod"/>
            </a:pPr>
            <a:r>
              <a:rPr lang="en-US" altLang="zh-CN" sz="1800" dirty="0">
                <a:solidFill>
                  <a:srgbClr val="000000"/>
                </a:solidFill>
                <a:effectLst/>
                <a:latin typeface="Times New Roman" panose="02020603050405020304" pitchFamily="18" charset="0"/>
                <a:ea typeface="宋体" panose="02010600030101010101" pitchFamily="2" charset="-122"/>
              </a:rPr>
              <a:t>Know how to do the long-term preservation of microorganisms	</a:t>
            </a:r>
            <a:endParaRPr lang="zh-CN" altLang="zh-CN" sz="18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4293295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D4F4E3C0-2EF1-4E13-881C-F4A2244DA6A1}"/>
              </a:ext>
            </a:extLst>
          </p:cNvPr>
          <p:cNvSpPr txBox="1"/>
          <p:nvPr/>
        </p:nvSpPr>
        <p:spPr>
          <a:xfrm>
            <a:off x="1056166" y="494775"/>
            <a:ext cx="9923721" cy="4695324"/>
          </a:xfrm>
          <a:prstGeom prst="rect">
            <a:avLst/>
          </a:prstGeom>
          <a:noFill/>
        </p:spPr>
        <p:txBody>
          <a:bodyPr wrap="square">
            <a:spAutoFit/>
          </a:bodyPr>
          <a:lstStyle/>
          <a:p>
            <a:pPr algn="l">
              <a:lnSpc>
                <a:spcPct val="150000"/>
              </a:lnSpc>
              <a:spcBef>
                <a:spcPts val="600"/>
              </a:spcBef>
              <a:spcAft>
                <a:spcPts val="600"/>
              </a:spcAft>
            </a:pPr>
            <a:r>
              <a:rPr lang="en-US" altLang="zh-CN"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EQUIPMENTS and MATERIALS</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marL="533400" algn="just">
              <a:lnSpc>
                <a:spcPct val="150000"/>
              </a:lnSpc>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 laminar flow hood</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marL="533400" algn="just">
              <a:lnSpc>
                <a:spcPct val="150000"/>
              </a:lnSpc>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Incubator</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marL="533400" algn="just">
              <a:lnSpc>
                <a:spcPct val="150000"/>
              </a:lnSpc>
            </a:pP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Vortexer</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涡旋振荡器</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marL="533400" algn="just">
              <a:lnSpc>
                <a:spcPct val="150000"/>
              </a:lnSpc>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Pipettes and tips</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marL="533400" algn="just">
              <a:lnSpc>
                <a:spcPct val="150000"/>
              </a:lnSpc>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Parafilm</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marL="533400" algn="just">
              <a:lnSpc>
                <a:spcPct val="150000"/>
              </a:lnSpc>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Water samples from ocean (O) or salt field (S)</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marL="533400" algn="just">
              <a:lnSpc>
                <a:spcPct val="150000"/>
              </a:lnSpc>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Sterile Spreader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涂布器</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marL="533400" algn="just">
              <a:lnSpc>
                <a:spcPct val="150000"/>
              </a:lnSpc>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3 × MBA plates (from Exp. 3)</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marL="533400" algn="just">
              <a:lnSpc>
                <a:spcPct val="150000"/>
              </a:lnSpc>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Sterile 3% (w/v) NaCl saline</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a:p>
            <a:pPr marL="533400" algn="just">
              <a:lnSpc>
                <a:spcPct val="150000"/>
              </a:lnSpc>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50 mL sterile tubes</a:t>
            </a: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9786077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714530C2-9509-4378-88E3-66AF9A156A7E}"/>
              </a:ext>
            </a:extLst>
          </p:cNvPr>
          <p:cNvSpPr txBox="1"/>
          <p:nvPr/>
        </p:nvSpPr>
        <p:spPr>
          <a:xfrm>
            <a:off x="1056166" y="494775"/>
            <a:ext cx="9923721" cy="951479"/>
          </a:xfrm>
          <a:prstGeom prst="rect">
            <a:avLst/>
          </a:prstGeom>
          <a:noFill/>
        </p:spPr>
        <p:txBody>
          <a:bodyPr wrap="square">
            <a:spAutoFit/>
          </a:bodyPr>
          <a:lstStyle/>
          <a:p>
            <a:pPr algn="l">
              <a:lnSpc>
                <a:spcPct val="150000"/>
              </a:lnSpc>
              <a:spcBef>
                <a:spcPts val="600"/>
              </a:spcBef>
              <a:spcAft>
                <a:spcPts val="600"/>
              </a:spcAft>
            </a:pPr>
            <a:r>
              <a:rPr lang="en-US" altLang="zh-CN"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METHODS</a:t>
            </a:r>
          </a:p>
          <a:p>
            <a:pPr algn="l">
              <a:lnSpc>
                <a:spcPct val="150000"/>
              </a:lnSpc>
              <a:spcBef>
                <a:spcPts val="600"/>
              </a:spcBef>
              <a:spcAft>
                <a:spcPts val="600"/>
              </a:spcAft>
            </a:pPr>
            <a:endParaRPr lang="zh-CN" altLang="zh-CN" sz="1400" kern="100" dirty="0">
              <a:effectLst/>
              <a:latin typeface="Calibri" panose="020F0502020204030204" pitchFamily="34" charset="0"/>
              <a:ea typeface="宋体" panose="02010600030101010101" pitchFamily="2" charset="-122"/>
              <a:cs typeface="Times New Roman" panose="02020603050405020304" pitchFamily="18" charset="0"/>
            </a:endParaRPr>
          </a:p>
        </p:txBody>
      </p:sp>
      <p:pic>
        <p:nvPicPr>
          <p:cNvPr id="6" name="图片 5">
            <a:extLst>
              <a:ext uri="{FF2B5EF4-FFF2-40B4-BE49-F238E27FC236}">
                <a16:creationId xmlns:a16="http://schemas.microsoft.com/office/drawing/2014/main" id="{0EFDAEAD-770C-42DC-9664-E8FCFF064111}"/>
              </a:ext>
            </a:extLst>
          </p:cNvPr>
          <p:cNvPicPr>
            <a:picLocks noChangeAspect="1"/>
          </p:cNvPicPr>
          <p:nvPr/>
        </p:nvPicPr>
        <p:blipFill rotWithShape="1">
          <a:blip r:embed="rId2"/>
          <a:srcRect t="12194"/>
          <a:stretch/>
        </p:blipFill>
        <p:spPr>
          <a:xfrm>
            <a:off x="5063700" y="970514"/>
            <a:ext cx="6504524" cy="3267429"/>
          </a:xfrm>
          <a:prstGeom prst="rect">
            <a:avLst/>
          </a:prstGeom>
        </p:spPr>
      </p:pic>
      <p:sp>
        <p:nvSpPr>
          <p:cNvPr id="7" name="文本框 6">
            <a:extLst>
              <a:ext uri="{FF2B5EF4-FFF2-40B4-BE49-F238E27FC236}">
                <a16:creationId xmlns:a16="http://schemas.microsoft.com/office/drawing/2014/main" id="{4B397005-F970-44B9-8603-39ADEE6F2B08}"/>
              </a:ext>
            </a:extLst>
          </p:cNvPr>
          <p:cNvSpPr txBox="1"/>
          <p:nvPr/>
        </p:nvSpPr>
        <p:spPr>
          <a:xfrm>
            <a:off x="1212113" y="1123088"/>
            <a:ext cx="5026056" cy="646331"/>
          </a:xfrm>
          <a:prstGeom prst="rect">
            <a:avLst/>
          </a:prstGeom>
          <a:noFill/>
        </p:spPr>
        <p:txBody>
          <a:bodyPr wrap="none" rtlCol="0">
            <a:spAutoFit/>
          </a:bodyPr>
          <a:lstStyle/>
          <a:p>
            <a:r>
              <a:rPr lang="en-US" altLang="zh-CN" sz="1800" b="1" kern="1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1. Preparation of dilutions for spreading (Fig.5.1)</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endParaRPr lang="zh-CN" altLang="en-US" dirty="0"/>
          </a:p>
        </p:txBody>
      </p:sp>
      <p:sp>
        <p:nvSpPr>
          <p:cNvPr id="9" name="文本框 8">
            <a:extLst>
              <a:ext uri="{FF2B5EF4-FFF2-40B4-BE49-F238E27FC236}">
                <a16:creationId xmlns:a16="http://schemas.microsoft.com/office/drawing/2014/main" id="{F20E7FC2-CB26-44DF-8DC5-AFFA386E0B60}"/>
              </a:ext>
            </a:extLst>
          </p:cNvPr>
          <p:cNvSpPr txBox="1"/>
          <p:nvPr/>
        </p:nvSpPr>
        <p:spPr>
          <a:xfrm>
            <a:off x="1194594" y="3059668"/>
            <a:ext cx="6096000" cy="646331"/>
          </a:xfrm>
          <a:prstGeom prst="rect">
            <a:avLst/>
          </a:prstGeom>
          <a:noFill/>
        </p:spPr>
        <p:txBody>
          <a:bodyPr wrap="square">
            <a:spAutoFit/>
          </a:bodyPr>
          <a:lstStyle/>
          <a:p>
            <a:r>
              <a:rPr lang="en-US" altLang="zh-CN" sz="1800" b="1" kern="100" dirty="0">
                <a:solidFill>
                  <a:srgbClr val="000000"/>
                </a:solidFill>
                <a:effectLst/>
                <a:latin typeface="Times New Roman" panose="02020603050405020304" pitchFamily="18" charset="0"/>
                <a:ea typeface="宋体" panose="02010600030101010101" pitchFamily="2" charset="-122"/>
              </a:rPr>
              <a:t>2. Spread plate method</a:t>
            </a:r>
          </a:p>
          <a:p>
            <a:r>
              <a:rPr lang="en-US" altLang="zh-CN" b="1" kern="100" dirty="0">
                <a:solidFill>
                  <a:srgbClr val="000000"/>
                </a:solidFill>
                <a:latin typeface="Times New Roman" panose="02020603050405020304" pitchFamily="18" charset="0"/>
                <a:ea typeface="宋体" panose="02010600030101010101" pitchFamily="2" charset="-122"/>
              </a:rPr>
              <a:t>           </a:t>
            </a:r>
            <a:r>
              <a:rPr lang="en-US" altLang="zh-CN" kern="100" dirty="0">
                <a:solidFill>
                  <a:srgbClr val="000000"/>
                </a:solidFill>
                <a:latin typeface="Times New Roman" panose="02020603050405020304" pitchFamily="18" charset="0"/>
                <a:ea typeface="宋体" panose="02010600030101010101" pitchFamily="2" charset="-122"/>
              </a:rPr>
              <a:t>Three MBA plates each group.</a:t>
            </a:r>
            <a:r>
              <a:rPr lang="en-US" altLang="zh-CN" sz="1800" kern="100" dirty="0">
                <a:solidFill>
                  <a:srgbClr val="000000"/>
                </a:solidFill>
                <a:effectLst/>
                <a:latin typeface="Times New Roman" panose="02020603050405020304" pitchFamily="18" charset="0"/>
                <a:ea typeface="宋体" panose="02010600030101010101" pitchFamily="2" charset="-122"/>
              </a:rPr>
              <a:t> </a:t>
            </a:r>
            <a:endParaRPr lang="zh-CN" altLang="en-US" dirty="0"/>
          </a:p>
        </p:txBody>
      </p:sp>
      <p:sp>
        <p:nvSpPr>
          <p:cNvPr id="11" name="文本框 10">
            <a:extLst>
              <a:ext uri="{FF2B5EF4-FFF2-40B4-BE49-F238E27FC236}">
                <a16:creationId xmlns:a16="http://schemas.microsoft.com/office/drawing/2014/main" id="{A6B63D09-1FA5-408F-A5B1-0D22829E7449}"/>
              </a:ext>
            </a:extLst>
          </p:cNvPr>
          <p:cNvSpPr txBox="1"/>
          <p:nvPr/>
        </p:nvSpPr>
        <p:spPr>
          <a:xfrm>
            <a:off x="985685" y="5418740"/>
            <a:ext cx="10504967" cy="874407"/>
          </a:xfrm>
          <a:prstGeom prst="rect">
            <a:avLst/>
          </a:prstGeom>
          <a:noFill/>
        </p:spPr>
        <p:txBody>
          <a:bodyPr wrap="square">
            <a:spAutoFit/>
          </a:bodyPr>
          <a:lstStyle/>
          <a:p>
            <a:pPr>
              <a:lnSpc>
                <a:spcPct val="150000"/>
              </a:lnSpc>
            </a:pPr>
            <a:r>
              <a:rPr lang="zh-CN" altLang="en-US" dirty="0"/>
              <a:t>下周三前</a:t>
            </a:r>
            <a:r>
              <a:rPr lang="en-US" altLang="zh-CN" dirty="0"/>
              <a:t>(10</a:t>
            </a:r>
            <a:r>
              <a:rPr lang="zh-CN" altLang="en-US" dirty="0"/>
              <a:t>月</a:t>
            </a:r>
            <a:r>
              <a:rPr lang="en-US" altLang="zh-CN" dirty="0"/>
              <a:t>23</a:t>
            </a:r>
            <a:r>
              <a:rPr lang="zh-CN" altLang="en-US" dirty="0"/>
              <a:t>日</a:t>
            </a:r>
            <a:r>
              <a:rPr lang="en-US" altLang="zh-CN" dirty="0"/>
              <a:t>)</a:t>
            </a:r>
            <a:r>
              <a:rPr lang="zh-CN" altLang="en-US" dirty="0"/>
              <a:t>提交</a:t>
            </a:r>
            <a:r>
              <a:rPr lang="en-US" altLang="zh-CN" dirty="0">
                <a:solidFill>
                  <a:srgbClr val="FF0000"/>
                </a:solidFill>
              </a:rPr>
              <a:t>EXP 4</a:t>
            </a:r>
            <a:r>
              <a:rPr lang="zh-CN" altLang="en-US" dirty="0"/>
              <a:t>的实验报告，文件名按模板建议“姓名</a:t>
            </a:r>
            <a:r>
              <a:rPr lang="en-US" altLang="zh-CN" dirty="0"/>
              <a:t>-</a:t>
            </a:r>
            <a:r>
              <a:rPr lang="zh-CN" altLang="en-US" dirty="0"/>
              <a:t>学号</a:t>
            </a:r>
            <a:r>
              <a:rPr lang="en-US" altLang="zh-CN" dirty="0"/>
              <a:t>-</a:t>
            </a:r>
            <a:r>
              <a:rPr lang="zh-CN" altLang="en-US" dirty="0"/>
              <a:t>实验报告</a:t>
            </a:r>
            <a:r>
              <a:rPr lang="en-US" altLang="zh-CN" dirty="0"/>
              <a:t>4</a:t>
            </a:r>
            <a:r>
              <a:rPr lang="zh-CN" altLang="en-US" dirty="0"/>
              <a:t>” ，钉钉私信提交，收到后均会回复！</a:t>
            </a:r>
          </a:p>
        </p:txBody>
      </p:sp>
    </p:spTree>
    <p:extLst>
      <p:ext uri="{BB962C8B-B14F-4D97-AF65-F5344CB8AC3E}">
        <p14:creationId xmlns:p14="http://schemas.microsoft.com/office/powerpoint/2010/main" val="253076896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1">
      <a:majorFont>
        <a:latin typeface="Arial"/>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600</TotalTime>
  <Words>828</Words>
  <Application>Microsoft Office PowerPoint</Application>
  <PresentationFormat>宽屏</PresentationFormat>
  <Paragraphs>75</Paragraphs>
  <Slides>13</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13</vt:i4>
      </vt:variant>
    </vt:vector>
  </HeadingPairs>
  <TitlesOfParts>
    <vt:vector size="24" baseType="lpstr">
      <vt:lpstr>TimesNewRomanPS-BoldMT</vt:lpstr>
      <vt:lpstr>TimesNewRomanPSMT</vt:lpstr>
      <vt:lpstr>等线</vt:lpstr>
      <vt:lpstr>华文新魏</vt:lpstr>
      <vt:lpstr>宋体</vt:lpstr>
      <vt:lpstr>微软雅黑</vt:lpstr>
      <vt:lpstr>Arial</vt:lpstr>
      <vt:lpstr>Calibri</vt:lpstr>
      <vt:lpstr>Times New Roman</vt:lpstr>
      <vt:lpstr>Wingdings</vt:lpstr>
      <vt:lpstr>Office 主题​​</vt:lpstr>
      <vt:lpstr>PowerPoint 演示文稿</vt:lpstr>
      <vt:lpstr>Exp1 讨论题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EXPERIMENT 5:           Isolation and purification of marine microorganism              分离              纯化               海洋微生物</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 品美</dc:creator>
  <cp:lastModifiedBy>不纠结</cp:lastModifiedBy>
  <cp:revision>61</cp:revision>
  <dcterms:created xsi:type="dcterms:W3CDTF">2022-10-19T06:09:22Z</dcterms:created>
  <dcterms:modified xsi:type="dcterms:W3CDTF">2024-10-16T08:37:29Z</dcterms:modified>
</cp:coreProperties>
</file>