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416" r:id="rId3"/>
    <p:sldId id="451" r:id="rId4"/>
    <p:sldId id="261" r:id="rId5"/>
    <p:sldId id="453" r:id="rId6"/>
    <p:sldId id="260" r:id="rId7"/>
    <p:sldId id="457" r:id="rId8"/>
    <p:sldId id="455" r:id="rId9"/>
    <p:sldId id="456" r:id="rId10"/>
    <p:sldId id="258" r:id="rId11"/>
    <p:sldId id="259" r:id="rId12"/>
    <p:sldId id="26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品美" initials="王" lastIdx="1" clrIdx="0">
    <p:extLst>
      <p:ext uri="{19B8F6BF-5375-455C-9EA6-DF929625EA0E}">
        <p15:presenceInfo xmlns:p15="http://schemas.microsoft.com/office/powerpoint/2012/main" userId="e8f830cc432226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FDBF-89A8-4CED-B1CB-8523A4352154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DAD64-272D-4D61-A36F-873F86E3F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8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006FD-638D-4E6C-9CCF-3D4658AF7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26C3BD-298E-40CE-B079-5429E579C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B538D-F6E0-4A06-9EE8-858751E8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B3C53-623A-4BEE-8264-329FFCBC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AF78D-8C63-4A04-A86E-AFC517B5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6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7606-93A3-409D-B67D-4FD5C28B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501F3-54A8-4E88-A3E1-CA35644C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8289A-ED03-4119-BDF9-32C49A61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58A37-1224-4F61-93AC-777F9C87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B6D122-B720-4B3A-9451-B908871C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7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A8940-2223-4034-827E-C66B0DC5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1540F-5E47-4F02-BC39-548C4D1F1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CA5E3-0EE4-4004-BC45-399894C3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BA87E-68F9-4719-97F4-D5491FF5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3E54F-6F63-4A7E-8958-CDA3A188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17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4CACA-7F2A-4EA8-B20E-9C9D2FCD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507A7-061B-4774-9A0A-70355BD1E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FF3495-257B-451B-AD86-BB85632C7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701B8-0B5D-480D-A662-954FD27D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FB4FF5-5196-4430-9149-11770DA1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683778-FABB-4B38-AE8F-2F2EAB0E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0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67C9A-BA36-4894-9FD1-16179F49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7A235-C146-422A-8F20-D1E00A930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CF70E-8B3D-4B04-B049-BBB65E939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F0D9C5-A73A-4807-95D6-A8C20F01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EA4A2D-70A3-41C5-BF83-37E9357F9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51BA9A-A40B-4546-B056-90AE17F8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C488D-5F5D-4EF2-B7FE-B81B9E9E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2C24C4-A76A-4840-87AA-F1F5EB4D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2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AE834-F633-48DE-845F-C3A0DBC8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67D939-5B66-4A3E-83BD-2966FF85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96AB21-D046-481B-A10B-3EABDFE4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BD405-D7BD-42B1-8AF2-FB472B1F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6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779A2-9955-44BA-8041-6F24F488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41C96A-B38C-40EF-9163-313AEAA5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1D85E-CE56-49E9-BC4F-18D7A8F7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AD677-E45D-4730-8424-65A7836F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A9A7E-4898-45EE-BE31-AA968E90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739831-9F0B-45CB-8CF6-AFB68672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76B78C-2068-4871-9F08-950BCDE5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92DF1-703C-40A6-998B-252EC10A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D0B59E-E9CE-4A06-A19F-79BD2F0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2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DDAD4-C235-4A27-95F5-39163ACE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D2C910-359C-4782-A437-58BDC984C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58ACDE-F736-47D4-9A11-B6E49B04E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8C8F96-3A39-49E7-B37F-9E76A9BD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49BC48-7099-46F4-8EA6-D302DBDB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E9815-98AD-4FA7-9D12-CAB79969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5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8B78E-CFE3-43A4-A145-6E00D043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F2C2A-5583-45D6-AFEE-30B2BF219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9F7E2-BE40-4E0D-B663-BF1F33A0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04631-ECAC-4FFC-B2C2-E659E911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4577D-EDD8-4915-B19A-D7C1D9A7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37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A74BB-AC70-481B-8B87-B19990EE7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B02042-CF7A-4DA6-8D3A-FAFDB666C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7B368-1400-4E38-98BD-7524ECD5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D7664-C763-4AE6-8A93-B79CF803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15E55-98D1-458D-837D-42FC5787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2FDC02-FD09-48CA-8E4D-D8DA968B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886474-27AA-403B-9ADE-D13F112B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5D2D0-624B-4BCC-9907-C0CC11CDC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4D99-D46D-446B-991C-B1A1FE191A29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87C87-6CAF-41C1-8ABA-31391E87B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9B6B0-F241-4667-9973-6C60F617B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1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8868EC-50BF-4926-8A23-88419186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" y="0"/>
            <a:ext cx="1213575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345487-F6B9-45D3-8ECA-1E103F349561}"/>
              </a:ext>
            </a:extLst>
          </p:cNvPr>
          <p:cNvSpPr txBox="1"/>
          <p:nvPr/>
        </p:nvSpPr>
        <p:spPr>
          <a:xfrm>
            <a:off x="463688" y="829733"/>
            <a:ext cx="1127905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海洋微生物学及实验</a:t>
            </a:r>
            <a:endParaRPr lang="en-US" altLang="zh-CN" sz="96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2024-2025</a:t>
            </a:r>
            <a:r>
              <a:rPr lang="zh-CN" altLang="en-US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学年 冬第二周</a:t>
            </a:r>
          </a:p>
        </p:txBody>
      </p:sp>
    </p:spTree>
    <p:extLst>
      <p:ext uri="{BB962C8B-B14F-4D97-AF65-F5344CB8AC3E}">
        <p14:creationId xmlns:p14="http://schemas.microsoft.com/office/powerpoint/2010/main" val="401743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B74B015-D706-47CF-B257-BE433891F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546" y="0"/>
            <a:ext cx="479036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7928DED-7701-4093-8B52-EA7E88C6A0C1}"/>
              </a:ext>
            </a:extLst>
          </p:cNvPr>
          <p:cNvSpPr/>
          <p:nvPr/>
        </p:nvSpPr>
        <p:spPr>
          <a:xfrm>
            <a:off x="4332371" y="884534"/>
            <a:ext cx="3787502" cy="9223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27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B107-EBDF-4E20-9556-D40CE74DF654}" type="slidenum">
              <a:rPr lang="en-AU" smtClean="0"/>
              <a:t>3</a:t>
            </a:fld>
            <a:endParaRPr lang="en-AU"/>
          </a:p>
        </p:txBody>
      </p:sp>
      <p:sp>
        <p:nvSpPr>
          <p:cNvPr id="7" name="Title 1"/>
          <p:cNvSpPr txBox="1"/>
          <p:nvPr/>
        </p:nvSpPr>
        <p:spPr>
          <a:xfrm>
            <a:off x="503706" y="552212"/>
            <a:ext cx="11417632" cy="12349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7070"/>
            <a:r>
              <a:rPr sz="2800" b="1" dirty="0">
                <a:latin typeface="+mn-lt"/>
              </a:rPr>
              <a:t>EXPERIMENT </a:t>
            </a:r>
            <a:r>
              <a:rPr lang="en-US" sz="2800" b="1" dirty="0">
                <a:latin typeface="+mn-lt"/>
              </a:rPr>
              <a:t>11</a:t>
            </a:r>
            <a:r>
              <a:rPr sz="2800" b="1" dirty="0">
                <a:latin typeface="+mn-lt"/>
              </a:rPr>
              <a:t>: 	</a:t>
            </a:r>
            <a:r>
              <a:rPr lang="en-US" altLang="zh-CN" sz="2800" b="1" dirty="0">
                <a:latin typeface="+mn-lt"/>
              </a:rPr>
              <a:t>PLAQUE ASSAY OF BACTERIOPHAGES</a:t>
            </a:r>
          </a:p>
          <a:p>
            <a:pPr defTabSz="687070"/>
            <a:endParaRPr lang="en-US" altLang="zh-CN" sz="1900" kern="0" dirty="0">
              <a:solidFill>
                <a:srgbClr val="FF0000"/>
              </a:solidFill>
            </a:endParaRPr>
          </a:p>
          <a:p>
            <a:pPr defTabSz="687070"/>
            <a:r>
              <a:rPr lang="en-US" altLang="zh-CN" sz="1900" kern="0" dirty="0">
                <a:solidFill>
                  <a:srgbClr val="FF0000"/>
                </a:solidFill>
              </a:rPr>
              <a:t>Exp 11A </a:t>
            </a:r>
            <a:r>
              <a:rPr lang="zh-CN" altLang="en-US" sz="1900" kern="0" dirty="0">
                <a:solidFill>
                  <a:srgbClr val="FF0000"/>
                </a:solidFill>
              </a:rPr>
              <a:t>噬菌体平板的配制</a:t>
            </a:r>
            <a:endParaRPr lang="en-US" altLang="zh-CN" sz="1900" kern="0" dirty="0">
              <a:solidFill>
                <a:srgbClr val="FF0000"/>
              </a:solidFill>
            </a:endParaRPr>
          </a:p>
          <a:p>
            <a:pPr defTabSz="687070"/>
            <a:endParaRPr lang="en-US" altLang="zh-CN" sz="19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285" y="1550829"/>
            <a:ext cx="110744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dirty="0"/>
              <a:t>Viruses</a:t>
            </a:r>
            <a:r>
              <a:rPr lang="en-US" altLang="zh-CN" sz="2200" dirty="0"/>
              <a:t> are commonly characterized according to the type of cell they infect. </a:t>
            </a:r>
          </a:p>
          <a:p>
            <a:r>
              <a:rPr lang="en-US" altLang="zh-CN" sz="2200" dirty="0"/>
              <a:t>              Animal viruses; plant viruses; bacterial viruses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r>
              <a:rPr lang="en-US" altLang="zh-CN" sz="2200" dirty="0"/>
              <a:t>              What is the host of  phage T4?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sz="2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u="sng" dirty="0">
                <a:solidFill>
                  <a:srgbClr val="0000CC"/>
                </a:solidFill>
              </a:rPr>
              <a:t>Bacteriophages</a:t>
            </a:r>
            <a:r>
              <a:rPr lang="en-US" altLang="zh-CN" sz="2200" dirty="0"/>
              <a:t> are among the most common and diverse entities in the biosphere.</a:t>
            </a:r>
          </a:p>
          <a:p>
            <a:endParaRPr lang="en-US" altLang="zh-CN" sz="2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u="sng" dirty="0">
                <a:solidFill>
                  <a:srgbClr val="0000CC"/>
                </a:solidFill>
              </a:rPr>
              <a:t>Plaques (</a:t>
            </a:r>
            <a:r>
              <a:rPr lang="zh-CN" altLang="en-US" sz="2200" b="1" u="sng" dirty="0">
                <a:solidFill>
                  <a:srgbClr val="0000CC"/>
                </a:solidFill>
              </a:rPr>
              <a:t>噬菌斑</a:t>
            </a:r>
            <a:r>
              <a:rPr lang="en-US" altLang="zh-CN" sz="2200" b="1" u="sng" dirty="0">
                <a:solidFill>
                  <a:srgbClr val="0000CC"/>
                </a:solidFill>
              </a:rPr>
              <a:t>)</a:t>
            </a:r>
            <a:r>
              <a:rPr lang="en-US" altLang="zh-CN" sz="2200" dirty="0"/>
              <a:t> are produced because the virus does not infect all of the host cells. Uninfected cells grow and form a lawn covering the plate.  Infected cells lyse, release phages which infect nearby cells to form a clear area in the lawn. </a:t>
            </a:r>
          </a:p>
          <a:p>
            <a:r>
              <a:rPr lang="en-US" altLang="zh-CN" sz="2200" dirty="0"/>
              <a:t>           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dirty="0"/>
              <a:t>The drop-on-plate plaque assay </a:t>
            </a:r>
            <a:r>
              <a:rPr lang="en-US" altLang="zh-CN" sz="2200" dirty="0"/>
              <a:t>is used to determine the </a:t>
            </a:r>
            <a:r>
              <a:rPr lang="en-US" altLang="zh-CN" sz="2200" b="1" dirty="0">
                <a:solidFill>
                  <a:srgbClr val="FF0000"/>
                </a:solidFill>
              </a:rPr>
              <a:t>titer (</a:t>
            </a:r>
            <a:r>
              <a:rPr lang="zh-CN" altLang="en-US" sz="2200" b="1" dirty="0">
                <a:solidFill>
                  <a:srgbClr val="FF0000"/>
                </a:solidFill>
              </a:rPr>
              <a:t>效价</a:t>
            </a:r>
            <a:r>
              <a:rPr lang="en-US" altLang="zh-CN" sz="2200" b="1" dirty="0">
                <a:solidFill>
                  <a:srgbClr val="FF0000"/>
                </a:solidFill>
              </a:rPr>
              <a:t>) </a:t>
            </a:r>
            <a:r>
              <a:rPr lang="en-US" altLang="zh-CN" sz="2200" dirty="0"/>
              <a:t>of a phage stock, which is given as </a:t>
            </a:r>
            <a:r>
              <a:rPr lang="en-US" altLang="zh-CN" sz="2200" dirty="0">
                <a:solidFill>
                  <a:srgbClr val="FF0000"/>
                </a:solidFill>
              </a:rPr>
              <a:t>plaque forming units/mL (</a:t>
            </a:r>
            <a:r>
              <a:rPr lang="en-US" altLang="zh-CN" sz="2200" dirty="0" err="1">
                <a:solidFill>
                  <a:srgbClr val="FF0000"/>
                </a:solidFill>
              </a:rPr>
              <a:t>pfu</a:t>
            </a:r>
            <a:r>
              <a:rPr lang="en-US" altLang="zh-CN" sz="2200" dirty="0">
                <a:solidFill>
                  <a:srgbClr val="FF0000"/>
                </a:solidFill>
              </a:rPr>
              <a:t>/mL)</a:t>
            </a:r>
            <a:r>
              <a:rPr lang="en-US" altLang="zh-CN" sz="2200" dirty="0"/>
              <a:t>. </a:t>
            </a:r>
          </a:p>
          <a:p>
            <a:r>
              <a:rPr lang="en-US" altLang="zh-CN" sz="2200" dirty="0"/>
              <a:t>               </a:t>
            </a:r>
          </a:p>
          <a:p>
            <a:r>
              <a:rPr lang="en-US" altLang="zh-CN" sz="2200" dirty="0">
                <a:solidFill>
                  <a:srgbClr val="FF0000"/>
                </a:solidFill>
              </a:rPr>
              <a:t>                 </a:t>
            </a:r>
            <a:r>
              <a:rPr lang="en-US" altLang="zh-CN" sz="2200" dirty="0" err="1">
                <a:solidFill>
                  <a:srgbClr val="FF0000"/>
                </a:solidFill>
              </a:rPr>
              <a:t>pfu</a:t>
            </a:r>
            <a:r>
              <a:rPr lang="en-US" altLang="zh-CN" sz="2200" dirty="0">
                <a:solidFill>
                  <a:srgbClr val="FF0000"/>
                </a:solidFill>
              </a:rPr>
              <a:t>/mL = the number of phages in the stock  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062A2E-0058-4D70-B0FB-465DD47F1642}"/>
              </a:ext>
            </a:extLst>
          </p:cNvPr>
          <p:cNvSpPr txBox="1"/>
          <p:nvPr/>
        </p:nvSpPr>
        <p:spPr>
          <a:xfrm flipH="1">
            <a:off x="8141092" y="996831"/>
            <a:ext cx="49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噬菌体的噬菌斑测定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769698-195E-49EE-B40C-723A4DF0A6CD}"/>
              </a:ext>
            </a:extLst>
          </p:cNvPr>
          <p:cNvSpPr txBox="1"/>
          <p:nvPr/>
        </p:nvSpPr>
        <p:spPr>
          <a:xfrm>
            <a:off x="256032" y="1365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上周实验：</a:t>
            </a:r>
          </a:p>
        </p:txBody>
      </p:sp>
    </p:spTree>
    <p:extLst>
      <p:ext uri="{BB962C8B-B14F-4D97-AF65-F5344CB8AC3E}">
        <p14:creationId xmlns:p14="http://schemas.microsoft.com/office/powerpoint/2010/main" val="138890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 rot="19258596">
            <a:off x="3597597" y="718757"/>
            <a:ext cx="676356" cy="2337995"/>
            <a:chOff x="5599228" y="510623"/>
            <a:chExt cx="905237" cy="2184559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5709843" y="701887"/>
              <a:ext cx="24967" cy="172393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6334792" y="673840"/>
              <a:ext cx="23451" cy="172388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hord 27"/>
            <p:cNvSpPr/>
            <p:nvPr/>
          </p:nvSpPr>
          <p:spPr>
            <a:xfrm rot="16200000">
              <a:off x="5759430" y="2103359"/>
              <a:ext cx="534080" cy="649565"/>
            </a:xfrm>
            <a:prstGeom prst="chord">
              <a:avLst>
                <a:gd name="adj1" fmla="val 5021957"/>
                <a:gd name="adj2" fmla="val 16323310"/>
              </a:avLst>
            </a:prstGeom>
            <a:solidFill>
              <a:srgbClr val="C55A1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599228" y="510623"/>
              <a:ext cx="905237" cy="19126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Can 30"/>
          <p:cNvSpPr/>
          <p:nvPr/>
        </p:nvSpPr>
        <p:spPr>
          <a:xfrm>
            <a:off x="519789" y="2921283"/>
            <a:ext cx="3427664" cy="763487"/>
          </a:xfrm>
          <a:prstGeom prst="can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6565" y="2601683"/>
            <a:ext cx="3418056" cy="342967"/>
          </a:xfrm>
          <a:prstGeom prst="ellipse">
            <a:avLst/>
          </a:prstGeom>
          <a:solidFill>
            <a:schemeClr val="bg2">
              <a:lumMod val="75000"/>
              <a:alpha val="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545244" y="2807096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28920" y="2810105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/>
          <a:srcRect l="69205" t="37576" r="3712" b="43091"/>
          <a:stretch>
            <a:fillRect/>
          </a:stretch>
        </p:blipFill>
        <p:spPr>
          <a:xfrm rot="20392648">
            <a:off x="1883181" y="1381354"/>
            <a:ext cx="1247787" cy="952408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2"/>
          <a:srcRect l="69205" t="37576" r="3712" b="43091"/>
          <a:stretch>
            <a:fillRect/>
          </a:stretch>
        </p:blipFill>
        <p:spPr>
          <a:xfrm rot="15799440">
            <a:off x="2609091" y="4060290"/>
            <a:ext cx="1247786" cy="81305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441830" y="5539692"/>
            <a:ext cx="679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Allow to set for 2-3 min in sterile hood with air flow.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1830" y="1182394"/>
            <a:ext cx="3362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</a:t>
            </a:r>
            <a:r>
              <a:rPr lang="en-US" altLang="zh-CN" sz="2400" dirty="0">
                <a:solidFill>
                  <a:srgbClr val="FF0000"/>
                </a:solidFill>
              </a:rPr>
              <a:t>m</a:t>
            </a:r>
            <a:r>
              <a:rPr lang="el-GR" sz="2400" dirty="0">
                <a:solidFill>
                  <a:srgbClr val="FF0000"/>
                </a:solidFill>
              </a:rPr>
              <a:t>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/>
              <a:t>E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coli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culture (</a:t>
            </a:r>
            <a:r>
              <a:rPr lang="en-US" sz="2400" b="1" dirty="0" err="1">
                <a:solidFill>
                  <a:srgbClr val="0000CC"/>
                </a:solidFill>
              </a:rPr>
              <a:t>Ec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4691739" y="2284227"/>
            <a:ext cx="298847" cy="1867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974884" y="1657449"/>
            <a:ext cx="466946" cy="648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996538" y="2271569"/>
            <a:ext cx="445292" cy="577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25695" y="2848606"/>
            <a:ext cx="3995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 mL </a:t>
            </a:r>
            <a:r>
              <a:rPr lang="en-US" altLang="zh-CN" sz="2400" dirty="0"/>
              <a:t>pre-melted overlay agar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8192" y="3610166"/>
            <a:ext cx="2578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Solid NA plate (</a:t>
            </a:r>
            <a:r>
              <a:rPr lang="en-US" sz="2400" b="1" dirty="0">
                <a:solidFill>
                  <a:srgbClr val="0000CC"/>
                </a:solidFill>
              </a:rPr>
              <a:t>NA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68" name="Right Bracket 67"/>
          <p:cNvSpPr/>
          <p:nvPr/>
        </p:nvSpPr>
        <p:spPr>
          <a:xfrm>
            <a:off x="9793880" y="1430242"/>
            <a:ext cx="203979" cy="1899430"/>
          </a:xfrm>
          <a:prstGeom prst="rightBracke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0049896" y="1751910"/>
            <a:ext cx="18270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Mix evenly by inverting ( Do not vortex)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008" y="379271"/>
            <a:ext cx="10946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Step 2</a:t>
            </a:r>
            <a:r>
              <a:rPr lang="en-US" altLang="zh-CN" sz="2400" dirty="0">
                <a:solidFill>
                  <a:srgbClr val="FF0000"/>
                </a:solidFill>
              </a:rPr>
              <a:t>. Making double-layer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 plate for plaque assay.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55439" y="6338857"/>
            <a:ext cx="2743200" cy="365125"/>
          </a:xfrm>
        </p:spPr>
        <p:txBody>
          <a:bodyPr/>
          <a:lstStyle/>
          <a:p>
            <a:fld id="{6526B107-EBDF-4E20-9556-D40CE74DF654}" type="slidenum">
              <a:rPr lang="en-AU" smtClean="0"/>
              <a:t>4</a:t>
            </a:fld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5511328" y="3669239"/>
            <a:ext cx="64515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Pour about 3 mL overlay agar for each NA plate quickly, as agar will start to solidify at room temperature.</a:t>
            </a:r>
          </a:p>
          <a:p>
            <a:r>
              <a:rPr lang="en-US" sz="2200" dirty="0">
                <a:solidFill>
                  <a:srgbClr val="0000FF"/>
                </a:solidFill>
              </a:rPr>
              <a:t>If overlay has lumps or uneven surface, repeat on new NA plate.</a:t>
            </a:r>
          </a:p>
        </p:txBody>
      </p:sp>
      <p:sp>
        <p:nvSpPr>
          <p:cNvPr id="46" name="Can 45"/>
          <p:cNvSpPr/>
          <p:nvPr/>
        </p:nvSpPr>
        <p:spPr>
          <a:xfrm>
            <a:off x="1805479" y="5349265"/>
            <a:ext cx="3427664" cy="763487"/>
          </a:xfrm>
          <a:prstGeom prst="can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812255" y="5029665"/>
            <a:ext cx="3418056" cy="342967"/>
          </a:xfrm>
          <a:prstGeom prst="ellipse">
            <a:avLst/>
          </a:prstGeom>
          <a:solidFill>
            <a:schemeClr val="bg2">
              <a:lumMod val="75000"/>
              <a:alpha val="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>
            <a:off x="1830933" y="5235078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214609" y="5238087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809279" y="5381461"/>
            <a:ext cx="3436733" cy="33613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504070" y="6074508"/>
            <a:ext cx="293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Double-layer NA plate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4D50A0D-2051-44C0-B63A-E3CACC7EF3C7}"/>
              </a:ext>
            </a:extLst>
          </p:cNvPr>
          <p:cNvSpPr txBox="1"/>
          <p:nvPr/>
        </p:nvSpPr>
        <p:spPr>
          <a:xfrm>
            <a:off x="80467" y="644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上周实验：</a:t>
            </a:r>
          </a:p>
        </p:txBody>
      </p:sp>
    </p:spTree>
    <p:extLst>
      <p:ext uri="{BB962C8B-B14F-4D97-AF65-F5344CB8AC3E}">
        <p14:creationId xmlns:p14="http://schemas.microsoft.com/office/powerpoint/2010/main" val="208421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8" y="3303517"/>
            <a:ext cx="512164" cy="12698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989333" y="4804991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>
                <a:solidFill>
                  <a:srgbClr val="0000CC"/>
                </a:solidFill>
              </a:rPr>
              <a:t>25-fold</a:t>
            </a:r>
            <a:endParaRPr lang="zh-CN" altLang="en-US" sz="1500" b="1" dirty="0">
              <a:solidFill>
                <a:srgbClr val="0000CC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6533" y="4671822"/>
            <a:ext cx="13152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/>
              <a:t>Phage</a:t>
            </a:r>
            <a:r>
              <a:rPr lang="zh-CN" altLang="en-US" sz="1500" dirty="0"/>
              <a:t> </a:t>
            </a:r>
            <a:r>
              <a:rPr lang="en-US" altLang="zh-CN" sz="1500" dirty="0"/>
              <a:t>stock</a:t>
            </a:r>
          </a:p>
          <a:p>
            <a:pPr algn="ctr"/>
            <a:r>
              <a:rPr lang="en-US" altLang="zh-CN" sz="1500" dirty="0"/>
              <a:t>(</a:t>
            </a:r>
            <a:r>
              <a:rPr lang="en-US" altLang="zh-CN" sz="1500" b="1" dirty="0">
                <a:solidFill>
                  <a:srgbClr val="0000CC"/>
                </a:solidFill>
              </a:rPr>
              <a:t>T4</a:t>
            </a:r>
            <a:r>
              <a:rPr lang="en-US" altLang="zh-CN" sz="1500" dirty="0"/>
              <a:t>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54959" t="44931" r="29053" b="32564"/>
          <a:stretch>
            <a:fillRect/>
          </a:stretch>
        </p:blipFill>
        <p:spPr>
          <a:xfrm rot="5654791" flipH="1">
            <a:off x="1808577" y="2235919"/>
            <a:ext cx="746252" cy="118868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/>
          <a:srcRect l="54959" t="44931" r="29053" b="32564"/>
          <a:stretch>
            <a:fillRect/>
          </a:stretch>
        </p:blipFill>
        <p:spPr>
          <a:xfrm rot="5654791" flipH="1">
            <a:off x="3616207" y="2290553"/>
            <a:ext cx="746252" cy="11886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72651" y="2903668"/>
            <a:ext cx="971255" cy="16407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24048" y="2944024"/>
            <a:ext cx="971255" cy="16407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7828" y="654170"/>
            <a:ext cx="5825219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i="1" dirty="0"/>
              <a:t>Step 3 </a:t>
            </a:r>
            <a:r>
              <a:rPr lang="en-US" altLang="zh-CN" sz="2200" dirty="0"/>
              <a:t>: Serial</a:t>
            </a:r>
            <a:r>
              <a:rPr lang="zh-CN" altLang="en-US" sz="2200" dirty="0"/>
              <a:t> </a:t>
            </a:r>
            <a:r>
              <a:rPr lang="en-US" altLang="zh-CN" sz="2200" dirty="0"/>
              <a:t>dilution of T4 </a:t>
            </a:r>
            <a:r>
              <a:rPr lang="en-US" sz="2200" dirty="0"/>
              <a:t>using Buffer.</a:t>
            </a:r>
            <a:r>
              <a:rPr lang="zh-CN" altLang="en-US" sz="2200" dirty="0"/>
              <a:t> </a:t>
            </a:r>
            <a:r>
              <a:rPr lang="en-US" altLang="zh-CN" sz="2200" dirty="0"/>
              <a:t>Pipetting up and down to mix completely.</a:t>
            </a:r>
            <a:endParaRPr lang="en-US" sz="2200" dirty="0"/>
          </a:p>
        </p:txBody>
      </p:sp>
      <p:sp>
        <p:nvSpPr>
          <p:cNvPr id="36" name="TextBox 35"/>
          <p:cNvSpPr txBox="1"/>
          <p:nvPr/>
        </p:nvSpPr>
        <p:spPr>
          <a:xfrm>
            <a:off x="6430304" y="527753"/>
            <a:ext cx="5353438" cy="205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200" dirty="0"/>
              <a:t>Step 4: Add 10 </a:t>
            </a:r>
            <a:r>
              <a:rPr lang="en-US" altLang="zh-CN" sz="2200" dirty="0" err="1"/>
              <a:t>μL</a:t>
            </a:r>
            <a:r>
              <a:rPr lang="en-US" altLang="zh-CN" sz="2200" dirty="0"/>
              <a:t> drops of phage</a:t>
            </a:r>
            <a:r>
              <a:rPr lang="zh-CN" altLang="en-US" sz="2200" dirty="0"/>
              <a:t> </a:t>
            </a:r>
            <a:r>
              <a:rPr lang="en-US" altLang="zh-CN" sz="2200" dirty="0"/>
              <a:t>onto labelled</a:t>
            </a:r>
            <a:r>
              <a:rPr lang="zh-CN" altLang="en-US" sz="2200" dirty="0"/>
              <a:t> </a:t>
            </a:r>
            <a:r>
              <a:rPr lang="en-US" altLang="zh-CN" sz="2200" dirty="0"/>
              <a:t>double-layer</a:t>
            </a:r>
            <a:r>
              <a:rPr lang="zh-CN" altLang="en-US" sz="2200" dirty="0"/>
              <a:t> </a:t>
            </a:r>
            <a:r>
              <a:rPr lang="en-US" altLang="zh-CN" sz="2200" dirty="0"/>
              <a:t>plate (duplicate for each dilution). 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/>
              <a:t>Set at the plates in the hood for </a:t>
            </a:r>
            <a:r>
              <a:rPr lang="en-US" altLang="zh-CN" sz="2000" b="1" dirty="0">
                <a:solidFill>
                  <a:srgbClr val="FF0000"/>
                </a:solidFill>
              </a:rPr>
              <a:t>5 min without air flow and moving.</a:t>
            </a: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814487" y="2148137"/>
            <a:ext cx="85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5-fold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603637" y="2162749"/>
            <a:ext cx="851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5-fold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0241" y="5299724"/>
            <a:ext cx="397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Each dilution should be more than 30 </a:t>
            </a:r>
            <a:r>
              <a:rPr lang="en-US" altLang="zh-CN" dirty="0" err="1"/>
              <a:t>μL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247" y="4783940"/>
            <a:ext cx="7777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>
                <a:solidFill>
                  <a:srgbClr val="0000CC"/>
                </a:solidFill>
              </a:rPr>
              <a:t>5-fold</a:t>
            </a:r>
            <a:endParaRPr lang="zh-CN" altLang="en-US" sz="1500" b="1" dirty="0">
              <a:solidFill>
                <a:srgbClr val="0000CC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0A33A9-36A7-451C-B723-2F5741438AD0}"/>
              </a:ext>
            </a:extLst>
          </p:cNvPr>
          <p:cNvGrpSpPr/>
          <p:nvPr/>
        </p:nvGrpSpPr>
        <p:grpSpPr>
          <a:xfrm>
            <a:off x="7593904" y="2675421"/>
            <a:ext cx="2358171" cy="2350963"/>
            <a:chOff x="7310369" y="2895160"/>
            <a:chExt cx="3156668" cy="315666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A82826-33C7-454C-8153-AD62953161AB}"/>
                </a:ext>
              </a:extLst>
            </p:cNvPr>
            <p:cNvSpPr/>
            <p:nvPr/>
          </p:nvSpPr>
          <p:spPr>
            <a:xfrm>
              <a:off x="7310369" y="2895160"/>
              <a:ext cx="3156668" cy="31566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00BDB6D-D77B-4812-8F1B-91C7B9CFFA73}"/>
                </a:ext>
              </a:extLst>
            </p:cNvPr>
            <p:cNvSpPr/>
            <p:nvPr/>
          </p:nvSpPr>
          <p:spPr>
            <a:xfrm>
              <a:off x="8739351" y="4340451"/>
              <a:ext cx="318053" cy="3071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B8BA7F1-D2B4-4BD6-AC45-654E63E3306C}"/>
              </a:ext>
            </a:extLst>
          </p:cNvPr>
          <p:cNvSpPr txBox="1"/>
          <p:nvPr/>
        </p:nvSpPr>
        <p:spPr>
          <a:xfrm>
            <a:off x="10091540" y="4571264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 </a:t>
            </a:r>
            <a:r>
              <a:rPr lang="en-US" altLang="zh-CN" dirty="0" err="1"/>
              <a:t>μL</a:t>
            </a:r>
            <a:r>
              <a:rPr lang="en-US" altLang="zh-CN" dirty="0"/>
              <a:t> drop</a:t>
            </a:r>
            <a:endParaRPr lang="zh-CN" altLang="en-US" dirty="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247D00F-6B03-4BF8-B09A-4578F36C6647}"/>
              </a:ext>
            </a:extLst>
          </p:cNvPr>
          <p:cNvSpPr txBox="1"/>
          <p:nvPr/>
        </p:nvSpPr>
        <p:spPr>
          <a:xfrm>
            <a:off x="6430304" y="5580298"/>
            <a:ext cx="5589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+mj-lt"/>
              </a:rPr>
              <a:t>** Teaching assistant will transfer your plates to incubate at 37 °C. After 4-5 hours, the plaques appear.</a:t>
            </a:r>
            <a:endParaRPr lang="zh-CN" altLang="en-US" sz="2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1501A5-5E5E-4239-A0A0-E8F976ED502D}"/>
              </a:ext>
            </a:extLst>
          </p:cNvPr>
          <p:cNvSpPr txBox="1"/>
          <p:nvPr/>
        </p:nvSpPr>
        <p:spPr>
          <a:xfrm>
            <a:off x="256032" y="1365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上周实验：</a:t>
            </a:r>
          </a:p>
        </p:txBody>
      </p:sp>
    </p:spTree>
    <p:extLst>
      <p:ext uri="{BB962C8B-B14F-4D97-AF65-F5344CB8AC3E}">
        <p14:creationId xmlns:p14="http://schemas.microsoft.com/office/powerpoint/2010/main" val="26162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8996" y="1840064"/>
            <a:ext cx="1061234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2800" b="1" dirty="0">
                <a:solidFill>
                  <a:srgbClr val="FF0000"/>
                </a:solidFill>
              </a:rPr>
              <a:t>EXP 11B</a:t>
            </a:r>
            <a:endParaRPr lang="zh-CN" altLang="zh-CN" sz="2800" b="1" dirty="0">
              <a:solidFill>
                <a:srgbClr val="FF0000"/>
              </a:solidFill>
            </a:endParaRPr>
          </a:p>
          <a:p>
            <a:endParaRPr lang="en-AU" altLang="zh-CN" sz="2800" b="1" cap="all" dirty="0"/>
          </a:p>
          <a:p>
            <a:r>
              <a:rPr lang="en-AU" altLang="zh-CN" sz="2800" b="1" cap="all" dirty="0"/>
              <a:t>METHODS</a:t>
            </a:r>
            <a:endParaRPr lang="zh-CN" altLang="zh-CN" sz="2800" b="1" dirty="0"/>
          </a:p>
          <a:p>
            <a:pPr lvl="0" algn="just"/>
            <a:r>
              <a:rPr lang="en-US" altLang="zh-CN" sz="2800" dirty="0"/>
              <a:t>Count the plaques on the plates those have countable numbers. If there are too many plaques, the entire drop area will be clear (record as “clear”).</a:t>
            </a:r>
            <a:r>
              <a:rPr lang="en-US" altLang="zh-CN" sz="2800" b="1" dirty="0"/>
              <a:t> </a:t>
            </a:r>
          </a:p>
          <a:p>
            <a:pPr lvl="0"/>
            <a:endParaRPr lang="en-US" altLang="zh-CN" sz="2800" b="1" dirty="0"/>
          </a:p>
          <a:p>
            <a:pPr lvl="0"/>
            <a:r>
              <a:rPr lang="en-US" altLang="zh-CN" sz="2800" b="1" dirty="0"/>
              <a:t>Determine the </a:t>
            </a:r>
            <a:r>
              <a:rPr lang="en-US" altLang="zh-CN" sz="2800" b="1" dirty="0" err="1"/>
              <a:t>titre</a:t>
            </a:r>
            <a:r>
              <a:rPr lang="en-US" altLang="zh-CN" sz="2800" b="1" dirty="0"/>
              <a:t> of the phage stock per mL, as </a:t>
            </a:r>
            <a:r>
              <a:rPr lang="en-US" altLang="zh-CN" sz="2800" b="1" dirty="0">
                <a:solidFill>
                  <a:srgbClr val="FF0000"/>
                </a:solidFill>
              </a:rPr>
              <a:t>plaque forming units/mL </a:t>
            </a:r>
            <a:r>
              <a:rPr lang="en-US" altLang="zh-CN" sz="2800" b="1" u="sng" dirty="0">
                <a:solidFill>
                  <a:srgbClr val="FF0000"/>
                </a:solidFill>
              </a:rPr>
              <a:t>(pfu/mL).</a:t>
            </a:r>
          </a:p>
        </p:txBody>
      </p:sp>
      <p:sp>
        <p:nvSpPr>
          <p:cNvPr id="5" name="矩形 4"/>
          <p:cNvSpPr/>
          <p:nvPr/>
        </p:nvSpPr>
        <p:spPr>
          <a:xfrm>
            <a:off x="598996" y="895961"/>
            <a:ext cx="117490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7070"/>
            <a:r>
              <a:rPr lang="en-US" altLang="zh-CN" sz="3000" b="1" dirty="0"/>
              <a:t>EXPERIMENT 11: 	PLAQUE ASSAY OF BACTERIOPHAGES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8DD039-2C11-42F2-B1FE-8EA0F9CF3FBB}"/>
              </a:ext>
            </a:extLst>
          </p:cNvPr>
          <p:cNvSpPr txBox="1"/>
          <p:nvPr/>
        </p:nvSpPr>
        <p:spPr>
          <a:xfrm>
            <a:off x="256032" y="1365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本周：</a:t>
            </a:r>
          </a:p>
        </p:txBody>
      </p:sp>
    </p:spTree>
    <p:extLst>
      <p:ext uri="{BB962C8B-B14F-4D97-AF65-F5344CB8AC3E}">
        <p14:creationId xmlns:p14="http://schemas.microsoft.com/office/powerpoint/2010/main" val="26638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C12E090-1BD5-491F-8EAC-76EED2A8C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7"/>
          <a:stretch/>
        </p:blipFill>
        <p:spPr>
          <a:xfrm>
            <a:off x="2621851" y="292607"/>
            <a:ext cx="6143625" cy="52884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582A2C9-08BF-4BFC-92EB-624103A8745A}"/>
              </a:ext>
            </a:extLst>
          </p:cNvPr>
          <p:cNvSpPr txBox="1"/>
          <p:nvPr/>
        </p:nvSpPr>
        <p:spPr>
          <a:xfrm>
            <a:off x="903767" y="6034801"/>
            <a:ext cx="1038446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***</a:t>
            </a:r>
            <a:r>
              <a:rPr lang="zh-CN" altLang="en-US" dirty="0"/>
              <a:t>下周三前 </a:t>
            </a:r>
            <a:r>
              <a:rPr lang="en-US" altLang="zh-CN" dirty="0"/>
              <a:t>(11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</a:t>
            </a:r>
            <a:r>
              <a:rPr lang="en-US" altLang="zh-CN" dirty="0"/>
              <a:t>12 </a:t>
            </a:r>
            <a:r>
              <a:rPr lang="zh-CN" altLang="en-US" dirty="0"/>
              <a:t>点前</a:t>
            </a:r>
            <a:r>
              <a:rPr lang="en-US" altLang="zh-CN" dirty="0"/>
              <a:t>) </a:t>
            </a:r>
            <a:r>
              <a:rPr lang="zh-CN" altLang="en-US" dirty="0"/>
              <a:t>提交</a:t>
            </a:r>
            <a:r>
              <a:rPr lang="en-US" altLang="zh-CN" dirty="0">
                <a:solidFill>
                  <a:srgbClr val="FF0000"/>
                </a:solidFill>
              </a:rPr>
              <a:t>EXP 8,9,11 </a:t>
            </a:r>
            <a:r>
              <a:rPr lang="zh-CN" altLang="en-US" dirty="0"/>
              <a:t>的实验报告，钉钉提交，收到后均会回复！</a:t>
            </a:r>
          </a:p>
        </p:txBody>
      </p:sp>
    </p:spTree>
    <p:extLst>
      <p:ext uri="{BB962C8B-B14F-4D97-AF65-F5344CB8AC3E}">
        <p14:creationId xmlns:p14="http://schemas.microsoft.com/office/powerpoint/2010/main" val="363759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33720" y="110228"/>
            <a:ext cx="11110433" cy="8785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7070"/>
            <a:r>
              <a:rPr sz="2800" b="1" dirty="0">
                <a:latin typeface="+mn-lt"/>
              </a:rPr>
              <a:t>EXPERIMENT </a:t>
            </a:r>
            <a:r>
              <a:rPr lang="en-US" sz="2800" b="1" dirty="0">
                <a:latin typeface="+mn-lt"/>
              </a:rPr>
              <a:t>12</a:t>
            </a:r>
            <a:r>
              <a:rPr sz="2800" b="1" dirty="0">
                <a:latin typeface="+mn-lt"/>
              </a:rPr>
              <a:t>: 	</a:t>
            </a:r>
            <a:r>
              <a:rPr lang="en-AU" sz="2800" b="1" dirty="0">
                <a:latin typeface="+mn-lt"/>
              </a:rPr>
              <a:t>A</a:t>
            </a:r>
            <a:r>
              <a:rPr lang="en-US" sz="2800" b="1" dirty="0" err="1">
                <a:latin typeface="+mn-lt"/>
              </a:rPr>
              <a:t>lpha</a:t>
            </a:r>
            <a:r>
              <a:rPr sz="2800" b="1" dirty="0">
                <a:latin typeface="+mn-lt"/>
              </a:rPr>
              <a:t>-amylase, an </a:t>
            </a:r>
            <a:r>
              <a:rPr lang="en-US" sz="2800" b="1" dirty="0">
                <a:latin typeface="+mn-lt"/>
              </a:rPr>
              <a:t>industrial e</a:t>
            </a:r>
            <a:r>
              <a:rPr sz="2800" b="1" dirty="0">
                <a:latin typeface="+mn-lt"/>
              </a:rPr>
              <a:t>nzyme </a:t>
            </a:r>
            <a:r>
              <a:rPr lang="en-US" sz="2800" b="1" dirty="0">
                <a:latin typeface="+mn-lt"/>
              </a:rPr>
              <a:t>produced by</a:t>
            </a:r>
            <a:r>
              <a:rPr sz="2800" b="1" dirty="0">
                <a:latin typeface="+mn-lt"/>
              </a:rPr>
              <a:t> marine </a:t>
            </a:r>
            <a:r>
              <a:rPr lang="en-US" sz="2800" b="1" dirty="0">
                <a:latin typeface="+mn-lt"/>
              </a:rPr>
              <a:t>bacteria</a:t>
            </a:r>
            <a:r>
              <a:rPr lang="zh-CN" sz="2800" b="1" dirty="0">
                <a:latin typeface="+mn-lt"/>
              </a:rPr>
              <a:t> </a:t>
            </a:r>
            <a:endParaRPr lang="en-US" sz="28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4539" y="1061322"/>
            <a:ext cx="11328793" cy="5087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00CC"/>
                </a:solidFill>
                <a:sym typeface="+mn-ea"/>
              </a:rPr>
              <a:t>Expt. 12A</a:t>
            </a:r>
            <a:endParaRPr lang="en-US" altLang="zh-CN" sz="2400" b="1" cap="all" dirty="0"/>
          </a:p>
          <a:p>
            <a:pPr>
              <a:lnSpc>
                <a:spcPct val="150000"/>
              </a:lnSpc>
            </a:pPr>
            <a:r>
              <a:rPr lang="en-AU" altLang="zh-CN" sz="2500" dirty="0"/>
              <a:t>1 × </a:t>
            </a:r>
            <a:r>
              <a:rPr lang="en-US" altLang="zh-CN" sz="2500" dirty="0"/>
              <a:t>TSA (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AU" altLang="zh-CN" sz="2500" b="1" dirty="0">
                <a:solidFill>
                  <a:srgbClr val="FF0000"/>
                </a:solidFill>
              </a:rPr>
              <a:t>TSA</a:t>
            </a:r>
            <a:r>
              <a:rPr lang="en-AU" altLang="zh-CN" sz="2500" dirty="0"/>
              <a:t>”</a:t>
            </a:r>
            <a:r>
              <a:rPr lang="en-US" altLang="zh-CN" sz="2500" dirty="0"/>
              <a:t>)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dirty="0"/>
              <a:t>1 × </a:t>
            </a:r>
            <a:r>
              <a:rPr lang="en-US" altLang="zh-CN" sz="2500" dirty="0"/>
              <a:t>TSA plus 0.2% starch plate (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AU" altLang="zh-CN" sz="2500" b="1" dirty="0">
                <a:solidFill>
                  <a:srgbClr val="FF0000"/>
                </a:solidFill>
              </a:rPr>
              <a:t>TSA/0.2%S</a:t>
            </a:r>
            <a:r>
              <a:rPr lang="en-AU" altLang="zh-CN" sz="2500" dirty="0"/>
              <a:t>”</a:t>
            </a:r>
            <a:r>
              <a:rPr lang="en-US" altLang="zh-CN" sz="2500" dirty="0"/>
              <a:t>)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dirty="0"/>
              <a:t>Three overnight (O/N) strains cultures in 1.5 mL tubes: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b="1" i="1" dirty="0">
                <a:solidFill>
                  <a:srgbClr val="FF0000"/>
                </a:solidFill>
              </a:rPr>
              <a:t>E</a:t>
            </a:r>
            <a:r>
              <a:rPr lang="en-AU" altLang="zh-CN" sz="2500" i="1" dirty="0"/>
              <a:t>scherichia </a:t>
            </a:r>
            <a:r>
              <a:rPr lang="en-AU" altLang="zh-CN" sz="2500" b="1" i="1" dirty="0">
                <a:solidFill>
                  <a:srgbClr val="FF0000"/>
                </a:solidFill>
              </a:rPr>
              <a:t>c</a:t>
            </a:r>
            <a:r>
              <a:rPr lang="en-AU" altLang="zh-CN" sz="2500" i="1" dirty="0"/>
              <a:t>oli</a:t>
            </a:r>
            <a:r>
              <a:rPr lang="en-AU" altLang="zh-CN" sz="2500" dirty="0"/>
              <a:t>, 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AU" altLang="zh-CN" sz="2500" dirty="0" err="1">
                <a:solidFill>
                  <a:srgbClr val="FF0000"/>
                </a:solidFill>
              </a:rPr>
              <a:t>Ec</a:t>
            </a:r>
            <a:r>
              <a:rPr lang="en-AU" altLang="zh-CN" sz="2500" dirty="0"/>
              <a:t>”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US" altLang="zh-CN" sz="2500" b="1" i="1" dirty="0">
                <a:solidFill>
                  <a:srgbClr val="FF0000"/>
                </a:solidFill>
              </a:rPr>
              <a:t>B</a:t>
            </a:r>
            <a:r>
              <a:rPr lang="en-AU" altLang="zh-CN" sz="2500" i="1" dirty="0" err="1"/>
              <a:t>acillus</a:t>
            </a:r>
            <a:r>
              <a:rPr lang="en-US" altLang="zh-CN" sz="2500" i="1" dirty="0"/>
              <a:t> </a:t>
            </a:r>
            <a:r>
              <a:rPr lang="en-US" altLang="zh-CN" sz="2500" b="1" i="1" dirty="0">
                <a:solidFill>
                  <a:srgbClr val="FF0000"/>
                </a:solidFill>
              </a:rPr>
              <a:t>s</a:t>
            </a:r>
            <a:r>
              <a:rPr lang="en-US" altLang="zh-CN" sz="2500" i="1" dirty="0"/>
              <a:t>ubtilis</a:t>
            </a:r>
            <a:r>
              <a:rPr lang="en-AU" altLang="zh-CN" sz="2500" dirty="0"/>
              <a:t>, 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US" altLang="zh-CN" sz="2500" dirty="0">
                <a:solidFill>
                  <a:srgbClr val="FF0000"/>
                </a:solidFill>
              </a:rPr>
              <a:t>Bs</a:t>
            </a:r>
            <a:r>
              <a:rPr lang="en-AU" altLang="zh-CN" sz="2500" dirty="0"/>
              <a:t>”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b="1" i="1" dirty="0">
                <a:solidFill>
                  <a:srgbClr val="FF0000"/>
                </a:solidFill>
              </a:rPr>
              <a:t>B</a:t>
            </a:r>
            <a:r>
              <a:rPr lang="en-AU" altLang="zh-CN" sz="2500" i="1" dirty="0"/>
              <a:t>acillus </a:t>
            </a:r>
            <a:r>
              <a:rPr lang="en-AU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AU" altLang="zh-CN" sz="2500" i="1" dirty="0" err="1"/>
              <a:t>myloliquefaciens</a:t>
            </a:r>
            <a:r>
              <a:rPr lang="en-AU" altLang="zh-CN" sz="2500" i="1" dirty="0"/>
              <a:t> </a:t>
            </a:r>
            <a:r>
              <a:rPr lang="en-AU" altLang="zh-CN" sz="2500" dirty="0"/>
              <a:t>(isolated from seawater), 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AU" altLang="zh-CN" sz="2500" dirty="0">
                <a:solidFill>
                  <a:srgbClr val="FF0000"/>
                </a:solidFill>
              </a:rPr>
              <a:t>Ba</a:t>
            </a:r>
            <a:r>
              <a:rPr lang="en-AU" altLang="zh-CN" sz="2500" dirty="0"/>
              <a:t>”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dirty="0"/>
              <a:t>Your culture of isolated strain, </a:t>
            </a:r>
            <a:r>
              <a:rPr lang="en-AU" altLang="zh-CN" sz="2500" dirty="0" err="1"/>
              <a:t>labeled</a:t>
            </a:r>
            <a:r>
              <a:rPr lang="en-AU" altLang="zh-CN" sz="2500" dirty="0"/>
              <a:t> “</a:t>
            </a:r>
            <a:r>
              <a:rPr lang="en-AU" altLang="zh-CN" sz="2500" dirty="0">
                <a:solidFill>
                  <a:srgbClr val="FF0000"/>
                </a:solidFill>
              </a:rPr>
              <a:t>Y</a:t>
            </a:r>
            <a:r>
              <a:rPr lang="en-AU" altLang="zh-CN" sz="2500" dirty="0"/>
              <a:t>”.</a:t>
            </a:r>
            <a:endParaRPr lang="zh-CN" altLang="zh-CN" sz="2500" b="1" dirty="0"/>
          </a:p>
          <a:p>
            <a:pPr>
              <a:lnSpc>
                <a:spcPct val="150000"/>
              </a:lnSpc>
            </a:pPr>
            <a:r>
              <a:rPr lang="en-AU" altLang="zh-CN" sz="2500" dirty="0">
                <a:solidFill>
                  <a:srgbClr val="FF0000"/>
                </a:solidFill>
              </a:rPr>
              <a:t>10 </a:t>
            </a:r>
            <a:r>
              <a:rPr lang="en-AU" altLang="zh-CN" sz="2500" dirty="0" err="1">
                <a:solidFill>
                  <a:srgbClr val="FF0000"/>
                </a:solidFill>
              </a:rPr>
              <a:t>μL</a:t>
            </a:r>
            <a:r>
              <a:rPr lang="en-AU" altLang="zh-CN" sz="2500" dirty="0">
                <a:solidFill>
                  <a:srgbClr val="FF0000"/>
                </a:solidFill>
              </a:rPr>
              <a:t> pipette and tips </a:t>
            </a:r>
            <a:endParaRPr lang="zh-CN" altLang="en-US" sz="2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B107-EBDF-4E20-9556-D40CE74DF65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68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2999" y="256801"/>
            <a:ext cx="11328793" cy="3254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00CC"/>
                </a:solidFill>
                <a:sym typeface="+mn-ea"/>
              </a:rPr>
              <a:t>Expt. 12A</a:t>
            </a:r>
            <a:endParaRPr lang="en-US" altLang="zh-CN" sz="2400" b="1" cap="all" dirty="0"/>
          </a:p>
          <a:p>
            <a:pPr lvl="0" algn="just">
              <a:lnSpc>
                <a:spcPct val="150000"/>
              </a:lnSpc>
            </a:pPr>
            <a:r>
              <a:rPr lang="en-US" altLang="zh-CN" sz="2000" dirty="0"/>
              <a:t>1. In a sterile hood, label your TSA/0.2% starch plate on the base (agar side) around the edge in small letters, with your group number and date. </a:t>
            </a:r>
            <a:endParaRPr lang="zh-CN" altLang="zh-CN" sz="2000" dirty="0"/>
          </a:p>
          <a:p>
            <a:pPr lvl="0" algn="just">
              <a:lnSpc>
                <a:spcPct val="150000"/>
              </a:lnSpc>
            </a:pPr>
            <a:r>
              <a:rPr lang="en-US" altLang="zh-CN" sz="2000" dirty="0"/>
              <a:t>2. Divide the base of the plate into 4 sections and label the sections </a:t>
            </a:r>
            <a:r>
              <a:rPr lang="en-US" altLang="zh-CN" sz="2000" dirty="0" err="1"/>
              <a:t>Ec</a:t>
            </a:r>
            <a:r>
              <a:rPr lang="en-US" altLang="zh-CN" sz="2000" dirty="0"/>
              <a:t>, Bs, Ba, and Y as indicated in Fig. a.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000" dirty="0"/>
              <a:t>3. Add a 5 </a:t>
            </a:r>
            <a:r>
              <a:rPr lang="en-US" altLang="zh-CN" sz="2000" dirty="0" err="1"/>
              <a:t>μL</a:t>
            </a:r>
            <a:r>
              <a:rPr lang="en-US" altLang="zh-CN" sz="2000" dirty="0"/>
              <a:t> drop of </a:t>
            </a:r>
            <a:r>
              <a:rPr lang="en-US" altLang="zh-CN" sz="2000" i="1" dirty="0"/>
              <a:t>E. coli</a:t>
            </a:r>
            <a:r>
              <a:rPr lang="en-US" altLang="zh-CN" sz="2000" dirty="0"/>
              <a:t> on to the representative plate section, as shown in Fig. b.</a:t>
            </a:r>
            <a:endParaRPr lang="zh-CN" altLang="zh-CN" sz="2000" dirty="0"/>
          </a:p>
          <a:p>
            <a:pPr lvl="0" algn="just">
              <a:lnSpc>
                <a:spcPct val="150000"/>
              </a:lnSpc>
            </a:pPr>
            <a:r>
              <a:rPr lang="en-US" altLang="zh-CN" sz="2000" dirty="0"/>
              <a:t>Place strains </a:t>
            </a:r>
            <a:r>
              <a:rPr lang="en-US" altLang="zh-CN" sz="2000" i="1" dirty="0"/>
              <a:t>B. </a:t>
            </a:r>
            <a:r>
              <a:rPr lang="en-US" altLang="zh-CN" sz="2000" i="1" dirty="0" err="1"/>
              <a:t>subtilis</a:t>
            </a:r>
            <a:r>
              <a:rPr lang="en-US" altLang="zh-CN" sz="2000" dirty="0"/>
              <a:t>, </a:t>
            </a:r>
            <a:r>
              <a:rPr lang="en-US" altLang="zh-CN" sz="2000" i="1" dirty="0"/>
              <a:t>B. </a:t>
            </a:r>
            <a:r>
              <a:rPr lang="en-US" altLang="zh-CN" sz="2000" i="1" dirty="0" err="1"/>
              <a:t>amyloliquefaciens</a:t>
            </a:r>
            <a:r>
              <a:rPr lang="en-US" altLang="zh-CN" sz="2000" dirty="0"/>
              <a:t> and your culture </a:t>
            </a:r>
            <a:r>
              <a:rPr lang="en-US" altLang="zh-CN" sz="2000" dirty="0">
                <a:solidFill>
                  <a:srgbClr val="FF0000"/>
                </a:solidFill>
              </a:rPr>
              <a:t>using fresh tips </a:t>
            </a:r>
            <a:r>
              <a:rPr lang="en-US" altLang="zh-CN" sz="2000" dirty="0"/>
              <a:t>as in step 3.</a:t>
            </a:r>
            <a:endParaRPr lang="zh-CN" altLang="zh-CN" sz="20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1861993" y="3712203"/>
            <a:ext cx="9326494" cy="3158158"/>
            <a:chOff x="1861993" y="3712203"/>
            <a:chExt cx="9326494" cy="3158158"/>
          </a:xfrm>
        </p:grpSpPr>
        <p:grpSp>
          <p:nvGrpSpPr>
            <p:cNvPr id="45" name="组合 44"/>
            <p:cNvGrpSpPr/>
            <p:nvPr/>
          </p:nvGrpSpPr>
          <p:grpSpPr>
            <a:xfrm>
              <a:off x="6510486" y="3937360"/>
              <a:ext cx="4678001" cy="2933001"/>
              <a:chOff x="6510486" y="3937360"/>
              <a:chExt cx="4678001" cy="2933001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6546714" y="3937360"/>
                <a:ext cx="2840476" cy="2752928"/>
                <a:chOff x="6546714" y="3937360"/>
                <a:chExt cx="2840476" cy="2752928"/>
              </a:xfrm>
            </p:grpSpPr>
            <p:sp>
              <p:nvSpPr>
                <p:cNvPr id="4" name="椭圆 3"/>
                <p:cNvSpPr/>
                <p:nvPr/>
              </p:nvSpPr>
              <p:spPr>
                <a:xfrm>
                  <a:off x="6546714" y="3937360"/>
                  <a:ext cx="2840476" cy="27529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" name="直接连接符 10"/>
                <p:cNvCxnSpPr>
                  <a:stCxn id="4" idx="0"/>
                  <a:endCxn id="4" idx="4"/>
                </p:cNvCxnSpPr>
                <p:nvPr/>
              </p:nvCxnSpPr>
              <p:spPr>
                <a:xfrm>
                  <a:off x="7966952" y="3937360"/>
                  <a:ext cx="0" cy="27529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/>
                <p:cNvSpPr txBox="1"/>
                <p:nvPr/>
              </p:nvSpPr>
              <p:spPr>
                <a:xfrm rot="19366306">
                  <a:off x="6722265" y="4195024"/>
                  <a:ext cx="9845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/>
                    <a:t>G1  15/11  </a:t>
                  </a:r>
                  <a:endParaRPr lang="zh-CN" altLang="en-US" sz="1400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 rot="1320483">
                  <a:off x="7911076" y="4027206"/>
                  <a:ext cx="96308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dirty="0"/>
                    <a:t>TSA/0.2%S</a:t>
                  </a:r>
                  <a:endParaRPr lang="zh-CN" altLang="en-US" sz="1400" dirty="0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6510486" y="4620636"/>
                <a:ext cx="4678001" cy="2249725"/>
                <a:chOff x="6510486" y="4620636"/>
                <a:chExt cx="4678001" cy="2249725"/>
              </a:xfrm>
            </p:grpSpPr>
            <p:cxnSp>
              <p:nvCxnSpPr>
                <p:cNvPr id="9" name="直接连接符 8"/>
                <p:cNvCxnSpPr>
                  <a:stCxn id="4" idx="2"/>
                  <a:endCxn id="4" idx="6"/>
                </p:cNvCxnSpPr>
                <p:nvPr/>
              </p:nvCxnSpPr>
              <p:spPr>
                <a:xfrm>
                  <a:off x="6546714" y="5313824"/>
                  <a:ext cx="28404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椭圆 11"/>
                <p:cNvSpPr/>
                <p:nvPr/>
              </p:nvSpPr>
              <p:spPr>
                <a:xfrm>
                  <a:off x="7266561" y="4620636"/>
                  <a:ext cx="252920" cy="243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椭圆 12"/>
                <p:cNvSpPr/>
                <p:nvPr/>
              </p:nvSpPr>
              <p:spPr>
                <a:xfrm>
                  <a:off x="8333361" y="4651440"/>
                  <a:ext cx="252920" cy="243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8359301" y="5849890"/>
                  <a:ext cx="252920" cy="243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7266560" y="5759099"/>
                  <a:ext cx="252920" cy="243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 rot="17172853">
                  <a:off x="6546714" y="4894631"/>
                  <a:ext cx="2968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Y</a:t>
                  </a:r>
                  <a:endParaRPr lang="zh-CN" altLang="en-US" dirty="0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 rot="3412593">
                  <a:off x="9041961" y="4672808"/>
                  <a:ext cx="2968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E</a:t>
                  </a:r>
                  <a:endParaRPr lang="zh-CN" altLang="en-US" dirty="0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 rot="18970811">
                  <a:off x="8646570" y="6042053"/>
                  <a:ext cx="4074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err="1"/>
                    <a:t>Bc</a:t>
                  </a:r>
                  <a:endParaRPr lang="zh-CN" altLang="en-US" dirty="0"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 rot="2933317">
                  <a:off x="6652686" y="5799494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Ba</a:t>
                  </a:r>
                  <a:endParaRPr lang="zh-CN" altLang="en-US" dirty="0"/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9166765" y="6379433"/>
                  <a:ext cx="252920" cy="2431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9503923" y="6501029"/>
                  <a:ext cx="16845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Single 5 </a:t>
                  </a:r>
                  <a:r>
                    <a:rPr lang="en-US" altLang="zh-CN" dirty="0" err="1"/>
                    <a:t>μL</a:t>
                  </a:r>
                  <a:r>
                    <a:rPr lang="en-US" altLang="zh-CN" dirty="0"/>
                    <a:t> drop</a:t>
                  </a:r>
                  <a:endParaRPr lang="zh-CN" altLang="en-US" dirty="0"/>
                </a:p>
              </p:txBody>
            </p:sp>
          </p:grpSp>
        </p:grpSp>
        <p:grpSp>
          <p:nvGrpSpPr>
            <p:cNvPr id="42" name="组合 41"/>
            <p:cNvGrpSpPr/>
            <p:nvPr/>
          </p:nvGrpSpPr>
          <p:grpSpPr>
            <a:xfrm>
              <a:off x="2578895" y="3969505"/>
              <a:ext cx="2876704" cy="2752928"/>
              <a:chOff x="2073057" y="4009934"/>
              <a:chExt cx="2876704" cy="275292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2109285" y="4009934"/>
                <a:ext cx="2840476" cy="275292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" name="直接连接符 25"/>
              <p:cNvCxnSpPr>
                <a:stCxn id="25" idx="2"/>
                <a:endCxn id="25" idx="6"/>
              </p:cNvCxnSpPr>
              <p:nvPr/>
            </p:nvCxnSpPr>
            <p:spPr>
              <a:xfrm>
                <a:off x="2109285" y="5386398"/>
                <a:ext cx="284047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>
                <a:stCxn id="25" idx="0"/>
                <a:endCxn id="25" idx="4"/>
              </p:cNvCxnSpPr>
              <p:nvPr/>
            </p:nvCxnSpPr>
            <p:spPr>
              <a:xfrm>
                <a:off x="3529523" y="4009934"/>
                <a:ext cx="0" cy="2752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 rot="17172853">
                <a:off x="2109285" y="4967205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Y</a:t>
                </a:r>
                <a:endParaRPr lang="zh-CN" altLang="en-US" dirty="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 rot="19366306">
                <a:off x="2273947" y="4276233"/>
                <a:ext cx="9845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G1  15/11  </a:t>
                </a:r>
                <a:endParaRPr lang="zh-CN" altLang="en-US" sz="1400" dirty="0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 rot="1597974">
                <a:off x="3520028" y="4136917"/>
                <a:ext cx="9630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TSA/0.2%S</a:t>
                </a:r>
                <a:endParaRPr lang="zh-CN" altLang="en-US" sz="1400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 rot="3412593">
                <a:off x="4604532" y="4745382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E</a:t>
                </a:r>
                <a:endParaRPr lang="zh-CN" altLang="en-US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 rot="18970811">
                <a:off x="4209141" y="6114627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/>
                  <a:t>Bc</a:t>
                </a:r>
                <a:endParaRPr lang="zh-CN" altLang="en-US" dirty="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 rot="2933317">
                <a:off x="2215257" y="5872068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Ba</a:t>
                </a:r>
                <a:endParaRPr lang="zh-CN" altLang="en-US" dirty="0"/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1861993" y="3712203"/>
              <a:ext cx="5256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a)                                                                                 b)</a:t>
              </a:r>
              <a:endParaRPr lang="zh-CN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51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9135" y="1411009"/>
            <a:ext cx="11211339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000" dirty="0"/>
              <a:t>4. Repeat to drop the four strain cultures on TSA plate.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en-US" altLang="zh-CN" sz="2000" dirty="0"/>
              <a:t>5. Allow the drops to </a:t>
            </a:r>
            <a:r>
              <a:rPr lang="en-US" altLang="zh-CN" sz="2000" dirty="0">
                <a:solidFill>
                  <a:srgbClr val="FF0000"/>
                </a:solidFill>
              </a:rPr>
              <a:t>soak into the agar for at least 15 minutes</a:t>
            </a:r>
            <a:r>
              <a:rPr lang="en-US" altLang="zh-CN" sz="2000" dirty="0"/>
              <a:t>. Parafilm the plates and invert plates so base is on top, and then incubate for 24 h at </a:t>
            </a:r>
            <a:r>
              <a:rPr lang="en-US" altLang="zh-CN" sz="2000" dirty="0">
                <a:solidFill>
                  <a:srgbClr val="FF0000"/>
                </a:solidFill>
              </a:rPr>
              <a:t>30-37 °C</a:t>
            </a:r>
            <a:r>
              <a:rPr lang="en-US" altLang="zh-CN" sz="2000" dirty="0"/>
              <a:t>.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2045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9072" y="238454"/>
            <a:ext cx="110041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7070"/>
            <a:r>
              <a:rPr lang="en-US" altLang="zh-CN" sz="2800" b="1" dirty="0"/>
              <a:t>EXPERIMENT 13: Marine microbes in pollution control </a:t>
            </a:r>
          </a:p>
        </p:txBody>
      </p:sp>
      <p:sp>
        <p:nvSpPr>
          <p:cNvPr id="6" name="矩形 5"/>
          <p:cNvSpPr/>
          <p:nvPr/>
        </p:nvSpPr>
        <p:spPr>
          <a:xfrm>
            <a:off x="600634" y="761674"/>
            <a:ext cx="11113274" cy="5547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sym typeface="+mn-ea"/>
              </a:rPr>
              <a:t>Expt. 13A</a:t>
            </a:r>
            <a:endParaRPr lang="en-AU" altLang="zh-CN" sz="2800" b="1" cap="all" dirty="0"/>
          </a:p>
          <a:p>
            <a:pPr>
              <a:lnSpc>
                <a:spcPct val="150000"/>
              </a:lnSpc>
            </a:pPr>
            <a:r>
              <a:rPr lang="en-AU" altLang="zh-CN" sz="2000" b="1" cap="all" dirty="0"/>
              <a:t>Materials</a:t>
            </a:r>
            <a:endParaRPr lang="zh-CN" altLang="zh-CN" sz="2000" b="1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1 × LB agar plate 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LB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1 × LB plus Oil plate 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OIL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1 × LB plus Neutral Red plate 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NB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1 × LB plus Oil and Neutral Red plate 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OIL/NB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Fresh liquid culture of </a:t>
            </a:r>
            <a:r>
              <a:rPr lang="en-US" altLang="zh-CN" sz="2000" b="1" i="1" dirty="0">
                <a:solidFill>
                  <a:srgbClr val="FF0000"/>
                </a:solidFill>
              </a:rPr>
              <a:t>P</a:t>
            </a:r>
            <a:r>
              <a:rPr lang="en-US" altLang="zh-CN" sz="2000" i="1" dirty="0"/>
              <a:t>seudomonas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000" i="1" dirty="0" err="1"/>
              <a:t>eruginosa</a:t>
            </a:r>
            <a:r>
              <a:rPr lang="en-US" altLang="zh-CN" sz="2000" i="1" dirty="0"/>
              <a:t> </a:t>
            </a:r>
            <a:r>
              <a:rPr lang="en-US" altLang="zh-CN" sz="2000" dirty="0"/>
              <a:t>in 1.5 mL tube 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Pa</a:t>
            </a:r>
            <a:r>
              <a:rPr lang="en-US" altLang="zh-CN" sz="2000" dirty="0"/>
              <a:t> 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Fresh liquid culture of </a:t>
            </a:r>
            <a:r>
              <a:rPr lang="en-US" altLang="zh-CN" sz="2000" b="1" i="1" dirty="0">
                <a:solidFill>
                  <a:srgbClr val="FF0000"/>
                </a:solidFill>
              </a:rPr>
              <a:t>S</a:t>
            </a:r>
            <a:r>
              <a:rPr lang="en-US" altLang="zh-CN" sz="2000" i="1" dirty="0"/>
              <a:t>taphylococcus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e</a:t>
            </a:r>
            <a:r>
              <a:rPr lang="en-US" altLang="zh-CN" sz="2000" i="1" dirty="0" err="1"/>
              <a:t>pidermidis</a:t>
            </a:r>
            <a:r>
              <a:rPr lang="en-US" altLang="zh-CN" sz="2000" i="1" dirty="0"/>
              <a:t> </a:t>
            </a:r>
            <a:r>
              <a:rPr lang="en-US" altLang="zh-CN" sz="2000" dirty="0"/>
              <a:t>in 1.5 mL tube 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Se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Fresh liquid culture of </a:t>
            </a:r>
            <a:r>
              <a:rPr lang="en-US" altLang="zh-CN" sz="2000" b="1" i="1" dirty="0">
                <a:solidFill>
                  <a:srgbClr val="FF0000"/>
                </a:solidFill>
              </a:rPr>
              <a:t>E</a:t>
            </a:r>
            <a:r>
              <a:rPr lang="en-US" altLang="zh-CN" sz="2000" i="1" dirty="0"/>
              <a:t>. </a:t>
            </a:r>
            <a:r>
              <a:rPr lang="en-US" altLang="zh-CN" sz="2000" b="1" i="1" dirty="0">
                <a:solidFill>
                  <a:srgbClr val="FF0000"/>
                </a:solidFill>
              </a:rPr>
              <a:t>c</a:t>
            </a:r>
            <a:r>
              <a:rPr lang="en-US" altLang="zh-CN" sz="2000" i="1" dirty="0"/>
              <a:t>oli</a:t>
            </a:r>
            <a:r>
              <a:rPr lang="en-US" altLang="zh-CN" sz="2000" dirty="0"/>
              <a:t> in 1.5 mL tube      (</a:t>
            </a:r>
            <a:r>
              <a:rPr lang="en-US" altLang="zh-CN" sz="2000" b="1" dirty="0"/>
              <a:t>labeled “</a:t>
            </a:r>
            <a:r>
              <a:rPr lang="en-US" altLang="zh-CN" sz="2000" dirty="0" err="1">
                <a:solidFill>
                  <a:srgbClr val="FF0000"/>
                </a:solidFill>
              </a:rPr>
              <a:t>Ec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Fresh liquid culture of your strain in liquid culture  (</a:t>
            </a:r>
            <a:r>
              <a:rPr lang="en-US" altLang="zh-CN" sz="2000" b="1" dirty="0"/>
              <a:t>labeled “</a:t>
            </a:r>
            <a:r>
              <a:rPr lang="en-US" altLang="zh-CN" sz="2000" dirty="0">
                <a:solidFill>
                  <a:srgbClr val="FF0000"/>
                </a:solidFill>
              </a:rPr>
              <a:t>Y</a:t>
            </a:r>
            <a:r>
              <a:rPr lang="en-US" altLang="zh-CN" sz="2000" dirty="0"/>
              <a:t> </a:t>
            </a:r>
            <a:r>
              <a:rPr lang="en-US" altLang="zh-CN" sz="2000" b="1" dirty="0"/>
              <a:t>”</a:t>
            </a:r>
            <a:r>
              <a:rPr lang="en-US" altLang="zh-CN" sz="2000" dirty="0"/>
              <a:t>)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3704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Administrator\Desktop\图片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983" y="3691558"/>
            <a:ext cx="7140243" cy="307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352508" y="684576"/>
            <a:ext cx="10715708" cy="2954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0000CC"/>
                </a:solidFill>
                <a:sym typeface="+mn-ea"/>
              </a:rPr>
              <a:t>Expt. 13A</a:t>
            </a:r>
            <a:endParaRPr lang="en-US" altLang="zh-CN" sz="2200" b="1" dirty="0"/>
          </a:p>
          <a:p>
            <a:r>
              <a:rPr lang="en-US" altLang="zh-CN" sz="2200" b="1" dirty="0"/>
              <a:t>METHODS</a:t>
            </a:r>
            <a:endParaRPr lang="zh-CN" altLang="zh-CN" sz="2200" dirty="0"/>
          </a:p>
          <a:p>
            <a:pPr lvl="0" algn="just">
              <a:lnSpc>
                <a:spcPct val="120000"/>
              </a:lnSpc>
            </a:pPr>
            <a:r>
              <a:rPr lang="en-US" altLang="zh-CN" sz="2000" dirty="0"/>
              <a:t>1. Label the base of plates as shown in Fig. a, and streak each strain onto LB agar plate as shown in Fig. b. </a:t>
            </a:r>
            <a:endParaRPr lang="zh-CN" altLang="zh-CN" sz="2000" dirty="0"/>
          </a:p>
          <a:p>
            <a:pPr lvl="0" algn="just">
              <a:lnSpc>
                <a:spcPct val="120000"/>
              </a:lnSpc>
            </a:pPr>
            <a:r>
              <a:rPr lang="en-US" altLang="zh-CN" sz="2000" dirty="0"/>
              <a:t>2. Repeat to streak the four strain cultures on the “OIL”, “NB” and “OIL/NB” plate, respectively.</a:t>
            </a:r>
            <a:endParaRPr lang="zh-CN" altLang="zh-CN" sz="2000" dirty="0"/>
          </a:p>
          <a:p>
            <a:pPr lvl="0" algn="just">
              <a:lnSpc>
                <a:spcPct val="120000"/>
              </a:lnSpc>
            </a:pPr>
            <a:r>
              <a:rPr lang="en-US" altLang="zh-CN" sz="2000" dirty="0"/>
              <a:t>3. Allow the drops to </a:t>
            </a:r>
            <a:r>
              <a:rPr lang="en-US" altLang="zh-CN" sz="2000" dirty="0">
                <a:solidFill>
                  <a:srgbClr val="FF0000"/>
                </a:solidFill>
              </a:rPr>
              <a:t>soak into the agar for at least 15 minutes</a:t>
            </a:r>
            <a:r>
              <a:rPr lang="en-US" altLang="zh-CN" sz="2000" dirty="0"/>
              <a:t>. Parafilm the plates and invert plates so base is on top, and then incubate plates at </a:t>
            </a:r>
            <a:r>
              <a:rPr lang="en-US" altLang="zh-CN" sz="2000" dirty="0">
                <a:solidFill>
                  <a:srgbClr val="FF0000"/>
                </a:solidFill>
              </a:rPr>
              <a:t>30-37 °C</a:t>
            </a:r>
            <a:r>
              <a:rPr lang="en-US" altLang="zh-CN" sz="2000" dirty="0"/>
              <a:t> for 3-5 days. </a:t>
            </a:r>
            <a:endParaRPr lang="zh-CN" altLang="zh-CN" sz="2000" dirty="0"/>
          </a:p>
        </p:txBody>
      </p:sp>
      <p:sp>
        <p:nvSpPr>
          <p:cNvPr id="4" name="矩形 3"/>
          <p:cNvSpPr/>
          <p:nvPr/>
        </p:nvSpPr>
        <p:spPr>
          <a:xfrm>
            <a:off x="457510" y="87379"/>
            <a:ext cx="110041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7070"/>
            <a:r>
              <a:rPr lang="en-US" altLang="zh-CN" sz="2800" b="1" dirty="0"/>
              <a:t>EXPERIMENT 13: Marine microbes in pollution control </a:t>
            </a:r>
          </a:p>
        </p:txBody>
      </p:sp>
    </p:spTree>
    <p:extLst>
      <p:ext uri="{BB962C8B-B14F-4D97-AF65-F5344CB8AC3E}">
        <p14:creationId xmlns:p14="http://schemas.microsoft.com/office/powerpoint/2010/main" val="3157872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990</Words>
  <Application>Microsoft Office PowerPoint</Application>
  <PresentationFormat>宽屏</PresentationFormat>
  <Paragraphs>103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华文新魏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品美</dc:creator>
  <cp:lastModifiedBy>不纠结</cp:lastModifiedBy>
  <cp:revision>111</cp:revision>
  <dcterms:created xsi:type="dcterms:W3CDTF">2022-10-19T06:09:22Z</dcterms:created>
  <dcterms:modified xsi:type="dcterms:W3CDTF">2024-11-13T06:54:46Z</dcterms:modified>
</cp:coreProperties>
</file>