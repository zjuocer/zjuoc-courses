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7" r:id="rId2"/>
    <p:sldId id="413" r:id="rId3"/>
    <p:sldId id="421" r:id="rId4"/>
    <p:sldId id="256" r:id="rId5"/>
    <p:sldId id="414" r:id="rId6"/>
    <p:sldId id="415" r:id="rId7"/>
    <p:sldId id="416" r:id="rId8"/>
    <p:sldId id="417" r:id="rId9"/>
    <p:sldId id="419" r:id="rId10"/>
    <p:sldId id="418" r:id="rId11"/>
    <p:sldId id="422" r:id="rId12"/>
    <p:sldId id="420" r:id="rId13"/>
    <p:sldId id="423" r:id="rId14"/>
    <p:sldId id="424" r:id="rId15"/>
    <p:sldId id="425" r:id="rId16"/>
    <p:sldId id="426" r:id="rId17"/>
    <p:sldId id="428" r:id="rId18"/>
    <p:sldId id="427" r:id="rId19"/>
    <p:sldId id="429"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 品美" initials="王" lastIdx="1" clrIdx="0">
    <p:extLst>
      <p:ext uri="{19B8F6BF-5375-455C-9EA6-DF929625EA0E}">
        <p15:presenceInfo xmlns:p15="http://schemas.microsoft.com/office/powerpoint/2012/main" userId="e8f830cc432226c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85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6FFDBF-89A8-4CED-B1CB-8523A4352154}" type="datetimeFigureOut">
              <a:rPr lang="zh-CN" altLang="en-US" smtClean="0"/>
              <a:t>2024/9/11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D64-272D-4D61-A36F-873F86E3FEC9}" type="slidenum">
              <a:rPr lang="zh-CN" altLang="en-US" smtClean="0"/>
              <a:t>‹#›</a:t>
            </a:fld>
            <a:endParaRPr lang="zh-CN" altLang="en-US"/>
          </a:p>
        </p:txBody>
      </p:sp>
    </p:spTree>
    <p:extLst>
      <p:ext uri="{BB962C8B-B14F-4D97-AF65-F5344CB8AC3E}">
        <p14:creationId xmlns:p14="http://schemas.microsoft.com/office/powerpoint/2010/main" val="2617688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5006FD-638D-4E6C-9CCF-3D4658AF701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C26C3BD-298E-40CE-B079-5429E579C1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DCB538D-F6E0-4A06-9EE8-858751E87754}"/>
              </a:ext>
            </a:extLst>
          </p:cNvPr>
          <p:cNvSpPr>
            <a:spLocks noGrp="1"/>
          </p:cNvSpPr>
          <p:nvPr>
            <p:ph type="dt" sz="half" idx="10"/>
          </p:nvPr>
        </p:nvSpPr>
        <p:spPr/>
        <p:txBody>
          <a:bodyPr/>
          <a:lstStyle/>
          <a:p>
            <a:fld id="{348C4D99-D46D-446B-991C-B1A1FE191A29}"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2C9B3C53-623A-4BEE-8264-329FFCBCA0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CAF78D-8C63-4A04-A86E-AFC517B51F32}"/>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2281063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397606-93A3-409D-B67D-4FD5C28BFDB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D6501F3-54A8-4E88-A3E1-CA35644C8E2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F68289A-ED03-4119-BDF9-32C49A6106D4}"/>
              </a:ext>
            </a:extLst>
          </p:cNvPr>
          <p:cNvSpPr>
            <a:spLocks noGrp="1"/>
          </p:cNvSpPr>
          <p:nvPr>
            <p:ph type="dt" sz="half" idx="10"/>
          </p:nvPr>
        </p:nvSpPr>
        <p:spPr/>
        <p:txBody>
          <a:bodyPr/>
          <a:lstStyle/>
          <a:p>
            <a:fld id="{348C4D99-D46D-446B-991C-B1A1FE191A29}"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71F58A37-1224-4F61-93AC-777F9C8702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B6D122-B720-4B3A-9451-B908871C2407}"/>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08637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4A8940-2223-4034-827E-C66B0DC5714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1A1540F-5E47-4F02-BC39-548C4D1F12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EACA5E3-0EE4-4004-BC45-399894C3C63D}"/>
              </a:ext>
            </a:extLst>
          </p:cNvPr>
          <p:cNvSpPr>
            <a:spLocks noGrp="1"/>
          </p:cNvSpPr>
          <p:nvPr>
            <p:ph type="dt" sz="half" idx="10"/>
          </p:nvPr>
        </p:nvSpPr>
        <p:spPr/>
        <p:txBody>
          <a:bodyPr/>
          <a:lstStyle/>
          <a:p>
            <a:fld id="{348C4D99-D46D-446B-991C-B1A1FE191A29}"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C18BA87E-68F9-4719-97F4-D5491FF51B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9D3E54F-6F63-4A7E-8958-CDA3A188AC97}"/>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2833175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C4CACA-7F2A-4EA8-B20E-9C9D2FCD138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D4507A7-061B-4774-9A0A-70355BD1EB7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CFF3495-257B-451B-AD86-BB85632C712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D0701B8-0B5D-480D-A662-954FD27DABC8}"/>
              </a:ext>
            </a:extLst>
          </p:cNvPr>
          <p:cNvSpPr>
            <a:spLocks noGrp="1"/>
          </p:cNvSpPr>
          <p:nvPr>
            <p:ph type="dt" sz="half" idx="10"/>
          </p:nvPr>
        </p:nvSpPr>
        <p:spPr/>
        <p:txBody>
          <a:bodyPr/>
          <a:lstStyle/>
          <a:p>
            <a:fld id="{348C4D99-D46D-446B-991C-B1A1FE191A29}"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C4FB4FF5-5196-4430-9149-11770DA1969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9683778-FABB-4B38-AE8F-2F2EAB0EBA6D}"/>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730808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67C9A-BA36-4894-9FD1-16179F49870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B7A235-C146-422A-8F20-D1E00A930D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14CF70E-8B3D-4B04-B049-BBB65E939EE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DF0D9C5-A73A-4807-95D6-A8C20F01F3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AEA4A2D-70A3-41C5-BF83-37E9357F97C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751BA9A-A40B-4546-B056-90AE17F813B4}"/>
              </a:ext>
            </a:extLst>
          </p:cNvPr>
          <p:cNvSpPr>
            <a:spLocks noGrp="1"/>
          </p:cNvSpPr>
          <p:nvPr>
            <p:ph type="dt" sz="half" idx="10"/>
          </p:nvPr>
        </p:nvSpPr>
        <p:spPr/>
        <p:txBody>
          <a:bodyPr/>
          <a:lstStyle/>
          <a:p>
            <a:fld id="{348C4D99-D46D-446B-991C-B1A1FE191A29}" type="datetimeFigureOut">
              <a:rPr lang="zh-CN" altLang="en-US" smtClean="0"/>
              <a:t>2024/9/11</a:t>
            </a:fld>
            <a:endParaRPr lang="zh-CN" altLang="en-US"/>
          </a:p>
        </p:txBody>
      </p:sp>
      <p:sp>
        <p:nvSpPr>
          <p:cNvPr id="8" name="页脚占位符 7">
            <a:extLst>
              <a:ext uri="{FF2B5EF4-FFF2-40B4-BE49-F238E27FC236}">
                <a16:creationId xmlns:a16="http://schemas.microsoft.com/office/drawing/2014/main" id="{1F5C488D-5F5D-4EF2-B7FE-B81B9E9EA9C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D2C24C4-A76A-4840-87AA-F1F5EB4D7624}"/>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3401823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2AE834-F633-48DE-845F-C3A0DBC8C37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367D939-5B66-4A3E-83BD-2966FF85E9E4}"/>
              </a:ext>
            </a:extLst>
          </p:cNvPr>
          <p:cNvSpPr>
            <a:spLocks noGrp="1"/>
          </p:cNvSpPr>
          <p:nvPr>
            <p:ph type="dt" sz="half" idx="10"/>
          </p:nvPr>
        </p:nvSpPr>
        <p:spPr/>
        <p:txBody>
          <a:bodyPr/>
          <a:lstStyle/>
          <a:p>
            <a:fld id="{348C4D99-D46D-446B-991C-B1A1FE191A29}" type="datetimeFigureOut">
              <a:rPr lang="zh-CN" altLang="en-US" smtClean="0"/>
              <a:t>2024/9/11</a:t>
            </a:fld>
            <a:endParaRPr lang="zh-CN" altLang="en-US"/>
          </a:p>
        </p:txBody>
      </p:sp>
      <p:sp>
        <p:nvSpPr>
          <p:cNvPr id="4" name="页脚占位符 3">
            <a:extLst>
              <a:ext uri="{FF2B5EF4-FFF2-40B4-BE49-F238E27FC236}">
                <a16:creationId xmlns:a16="http://schemas.microsoft.com/office/drawing/2014/main" id="{CD96AB21-D046-481B-A10B-3EABDFE426A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96BD405-D7BD-42B1-8AF2-FB472B1F7666}"/>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743160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58779A2-9955-44BA-8041-6F24F488AE1B}"/>
              </a:ext>
            </a:extLst>
          </p:cNvPr>
          <p:cNvSpPr>
            <a:spLocks noGrp="1"/>
          </p:cNvSpPr>
          <p:nvPr>
            <p:ph type="dt" sz="half" idx="10"/>
          </p:nvPr>
        </p:nvSpPr>
        <p:spPr/>
        <p:txBody>
          <a:bodyPr/>
          <a:lstStyle/>
          <a:p>
            <a:fld id="{348C4D99-D46D-446B-991C-B1A1FE191A29}" type="datetimeFigureOut">
              <a:rPr lang="zh-CN" altLang="en-US" smtClean="0"/>
              <a:t>2024/9/11</a:t>
            </a:fld>
            <a:endParaRPr lang="zh-CN" altLang="en-US"/>
          </a:p>
        </p:txBody>
      </p:sp>
      <p:sp>
        <p:nvSpPr>
          <p:cNvPr id="3" name="页脚占位符 2">
            <a:extLst>
              <a:ext uri="{FF2B5EF4-FFF2-40B4-BE49-F238E27FC236}">
                <a16:creationId xmlns:a16="http://schemas.microsoft.com/office/drawing/2014/main" id="{5A41C96A-B38C-40EF-9163-313AEAA55ED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321D85E-CE56-49E9-BC4F-18D7A8F7E348}"/>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497909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BAD677-E45D-4730-8424-65A7836FA27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63A9A7E-4898-45EE-BE31-AA968E90DF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E739831-9F0B-45CB-8CF6-AFB686723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976B78C-2068-4871-9F08-950BCDE52277}"/>
              </a:ext>
            </a:extLst>
          </p:cNvPr>
          <p:cNvSpPr>
            <a:spLocks noGrp="1"/>
          </p:cNvSpPr>
          <p:nvPr>
            <p:ph type="dt" sz="half" idx="10"/>
          </p:nvPr>
        </p:nvSpPr>
        <p:spPr/>
        <p:txBody>
          <a:bodyPr/>
          <a:lstStyle/>
          <a:p>
            <a:fld id="{348C4D99-D46D-446B-991C-B1A1FE191A29}"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EA292DF1-703C-40A6-998B-252EC10AAA1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BD0B59E-E9CE-4A06-A19F-79BD2F085038}"/>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78426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6DDAD4-C235-4A27-95F5-39163ACE3C6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4D2C910-359C-4782-A437-58BDC984C2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F58ACDE-F736-47D4-9A11-B6E49B04E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B8C8F96-3A39-49E7-B37F-9E76A9BD310F}"/>
              </a:ext>
            </a:extLst>
          </p:cNvPr>
          <p:cNvSpPr>
            <a:spLocks noGrp="1"/>
          </p:cNvSpPr>
          <p:nvPr>
            <p:ph type="dt" sz="half" idx="10"/>
          </p:nvPr>
        </p:nvSpPr>
        <p:spPr/>
        <p:txBody>
          <a:bodyPr/>
          <a:lstStyle/>
          <a:p>
            <a:fld id="{348C4D99-D46D-446B-991C-B1A1FE191A29}"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5549BC48-7099-46F4-8EA6-D302DBDB327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5BE9815-98AD-4FA7-9D12-CAB799699AB1}"/>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82258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48B78E-CFE3-43A4-A145-6E00D043F18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A3F2C2A-5583-45D6-AFEE-30B2BF2199F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999F7E2-BE40-4E0D-B663-BF1F33A0EFF6}"/>
              </a:ext>
            </a:extLst>
          </p:cNvPr>
          <p:cNvSpPr>
            <a:spLocks noGrp="1"/>
          </p:cNvSpPr>
          <p:nvPr>
            <p:ph type="dt" sz="half" idx="10"/>
          </p:nvPr>
        </p:nvSpPr>
        <p:spPr/>
        <p:txBody>
          <a:bodyPr/>
          <a:lstStyle/>
          <a:p>
            <a:fld id="{348C4D99-D46D-446B-991C-B1A1FE191A29}"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93C04631-ECAC-4FFC-B2C2-E659E911F4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C4577D-EDD8-4915-B19A-D7C1D9A7986E}"/>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149373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28A74BB-AC70-481B-8B87-B19990EE78A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4B02042-CF7A-4DA6-8D3A-FAFDB666CB1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C37B368-1400-4E38-98BD-7524ECD56834}"/>
              </a:ext>
            </a:extLst>
          </p:cNvPr>
          <p:cNvSpPr>
            <a:spLocks noGrp="1"/>
          </p:cNvSpPr>
          <p:nvPr>
            <p:ph type="dt" sz="half" idx="10"/>
          </p:nvPr>
        </p:nvSpPr>
        <p:spPr/>
        <p:txBody>
          <a:bodyPr/>
          <a:lstStyle/>
          <a:p>
            <a:fld id="{348C4D99-D46D-446B-991C-B1A1FE191A29}"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6CAD7664-C763-4AE6-8A93-B79CF803BE7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C15E55-98D1-458D-837D-42FC5787B36C}"/>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3317965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32FDC02-FD09-48CA-8E4D-D8DA968B86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1886474-27AA-403B-9ADE-D13F112B3B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CD5D2D0-624B-4BCC-9907-C0CC11CDCB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8C4D99-D46D-446B-991C-B1A1FE191A29}"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7D287C87-6CAF-41C1-8ABA-31391E87B3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69B6B0-F241-4667-9973-6C60F617B0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2146516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wangpinmei@zju.edu.c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mailto:wangpinmei@zju.edu.c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E8868EC-50BF-4926-8A23-88419186DA5A}"/>
              </a:ext>
            </a:extLst>
          </p:cNvPr>
          <p:cNvPicPr>
            <a:picLocks noChangeAspect="1"/>
          </p:cNvPicPr>
          <p:nvPr/>
        </p:nvPicPr>
        <p:blipFill>
          <a:blip r:embed="rId2"/>
          <a:stretch>
            <a:fillRect/>
          </a:stretch>
        </p:blipFill>
        <p:spPr>
          <a:xfrm>
            <a:off x="28120" y="0"/>
            <a:ext cx="12135759" cy="6858000"/>
          </a:xfrm>
          <a:prstGeom prst="rect">
            <a:avLst/>
          </a:prstGeom>
        </p:spPr>
      </p:pic>
      <p:sp>
        <p:nvSpPr>
          <p:cNvPr id="6" name="文本框 5">
            <a:extLst>
              <a:ext uri="{FF2B5EF4-FFF2-40B4-BE49-F238E27FC236}">
                <a16:creationId xmlns:a16="http://schemas.microsoft.com/office/drawing/2014/main" id="{3B345487-F6B9-45D3-8ECA-1E103F349561}"/>
              </a:ext>
            </a:extLst>
          </p:cNvPr>
          <p:cNvSpPr txBox="1"/>
          <p:nvPr/>
        </p:nvSpPr>
        <p:spPr>
          <a:xfrm>
            <a:off x="463688" y="829733"/>
            <a:ext cx="11279050" cy="2400657"/>
          </a:xfrm>
          <a:prstGeom prst="rect">
            <a:avLst/>
          </a:prstGeom>
          <a:noFill/>
        </p:spPr>
        <p:txBody>
          <a:bodyPr wrap="none" rtlCol="0">
            <a:spAutoFit/>
          </a:bodyPr>
          <a:lstStyle/>
          <a:p>
            <a:r>
              <a:rPr lang="zh-CN" altLang="en-US" sz="9600" b="1" dirty="0">
                <a:solidFill>
                  <a:schemeClr val="bg1"/>
                </a:solidFill>
                <a:latin typeface="华文新魏" panose="02010800040101010101" pitchFamily="2" charset="-122"/>
                <a:ea typeface="华文新魏" panose="02010800040101010101" pitchFamily="2" charset="-122"/>
                <a:cs typeface="Arial" panose="020B0604020202020204" pitchFamily="34" charset="0"/>
              </a:rPr>
              <a:t>海洋微生物学及实验</a:t>
            </a:r>
            <a:endParaRPr lang="en-US" altLang="zh-CN" sz="9600" b="1" dirty="0">
              <a:solidFill>
                <a:schemeClr val="bg1"/>
              </a:solidFill>
              <a:latin typeface="华文新魏" panose="02010800040101010101" pitchFamily="2" charset="-122"/>
              <a:ea typeface="华文新魏" panose="02010800040101010101" pitchFamily="2" charset="-122"/>
              <a:cs typeface="Arial" panose="020B0604020202020204" pitchFamily="34" charset="0"/>
            </a:endParaRPr>
          </a:p>
          <a:p>
            <a:pPr algn="ctr"/>
            <a:r>
              <a:rPr lang="en-US" altLang="zh-CN" sz="5400" b="1" dirty="0">
                <a:solidFill>
                  <a:srgbClr val="FFFF00"/>
                </a:solidFill>
                <a:latin typeface="华文新魏" panose="02010800040101010101" pitchFamily="2" charset="-122"/>
                <a:ea typeface="华文新魏" panose="02010800040101010101" pitchFamily="2" charset="-122"/>
                <a:cs typeface="Arial" panose="020B0604020202020204" pitchFamily="34" charset="0"/>
              </a:rPr>
              <a:t>2024-2025</a:t>
            </a:r>
            <a:r>
              <a:rPr lang="zh-CN" altLang="en-US" sz="5400" b="1" dirty="0">
                <a:solidFill>
                  <a:srgbClr val="FFFF00"/>
                </a:solidFill>
                <a:latin typeface="华文新魏" panose="02010800040101010101" pitchFamily="2" charset="-122"/>
                <a:ea typeface="华文新魏" panose="02010800040101010101" pitchFamily="2" charset="-122"/>
                <a:cs typeface="Arial" panose="020B0604020202020204" pitchFamily="34" charset="0"/>
              </a:rPr>
              <a:t>学年 秋第一周</a:t>
            </a:r>
          </a:p>
        </p:txBody>
      </p:sp>
    </p:spTree>
    <p:extLst>
      <p:ext uri="{BB962C8B-B14F-4D97-AF65-F5344CB8AC3E}">
        <p14:creationId xmlns:p14="http://schemas.microsoft.com/office/powerpoint/2010/main" val="4017438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5094CC-4271-4F31-B60D-E5F44020640D}"/>
              </a:ext>
            </a:extLst>
          </p:cNvPr>
          <p:cNvSpPr>
            <a:spLocks noGrp="1"/>
          </p:cNvSpPr>
          <p:nvPr>
            <p:ph type="title"/>
          </p:nvPr>
        </p:nvSpPr>
        <p:spPr>
          <a:xfrm>
            <a:off x="321254" y="7221"/>
            <a:ext cx="7793037" cy="911225"/>
          </a:xfrm>
        </p:spPr>
        <p:txBody>
          <a:bodyPr/>
          <a:lstStyle/>
          <a:p>
            <a:r>
              <a:rPr lang="zh-CN" altLang="en-US" dirty="0"/>
              <a:t>成绩构成</a:t>
            </a:r>
          </a:p>
        </p:txBody>
      </p:sp>
      <p:graphicFrame>
        <p:nvGraphicFramePr>
          <p:cNvPr id="4" name="表格 3">
            <a:extLst>
              <a:ext uri="{FF2B5EF4-FFF2-40B4-BE49-F238E27FC236}">
                <a16:creationId xmlns:a16="http://schemas.microsoft.com/office/drawing/2014/main" id="{A8E9F072-4BA9-4EA6-8158-6DEEF69B2535}"/>
              </a:ext>
            </a:extLst>
          </p:cNvPr>
          <p:cNvGraphicFramePr>
            <a:graphicFrameLocks noGrp="1"/>
          </p:cNvGraphicFramePr>
          <p:nvPr>
            <p:extLst>
              <p:ext uri="{D42A27DB-BD31-4B8C-83A1-F6EECF244321}">
                <p14:modId xmlns:p14="http://schemas.microsoft.com/office/powerpoint/2010/main" val="571077880"/>
              </p:ext>
            </p:extLst>
          </p:nvPr>
        </p:nvGraphicFramePr>
        <p:xfrm>
          <a:off x="1932167" y="1029846"/>
          <a:ext cx="8327667" cy="5703205"/>
        </p:xfrm>
        <a:graphic>
          <a:graphicData uri="http://schemas.openxmlformats.org/drawingml/2006/table">
            <a:tbl>
              <a:tblPr firstRow="1" bandRow="1">
                <a:tableStyleId>{2D5ABB26-0587-4C30-8999-92F81FD0307C}</a:tableStyleId>
              </a:tblPr>
              <a:tblGrid>
                <a:gridCol w="1282811">
                  <a:extLst>
                    <a:ext uri="{9D8B030D-6E8A-4147-A177-3AD203B41FA5}">
                      <a16:colId xmlns:a16="http://schemas.microsoft.com/office/drawing/2014/main" val="2342562092"/>
                    </a:ext>
                  </a:extLst>
                </a:gridCol>
                <a:gridCol w="1025719">
                  <a:extLst>
                    <a:ext uri="{9D8B030D-6E8A-4147-A177-3AD203B41FA5}">
                      <a16:colId xmlns:a16="http://schemas.microsoft.com/office/drawing/2014/main" val="3656708162"/>
                    </a:ext>
                  </a:extLst>
                </a:gridCol>
                <a:gridCol w="6019137">
                  <a:extLst>
                    <a:ext uri="{9D8B030D-6E8A-4147-A177-3AD203B41FA5}">
                      <a16:colId xmlns:a16="http://schemas.microsoft.com/office/drawing/2014/main" val="2814951401"/>
                    </a:ext>
                  </a:extLst>
                </a:gridCol>
              </a:tblGrid>
              <a:tr h="467533">
                <a:tc>
                  <a:txBody>
                    <a:bodyPr/>
                    <a:lstStyle/>
                    <a:p>
                      <a:pPr algn="l">
                        <a:lnSpc>
                          <a:spcPct val="150000"/>
                        </a:lnSpc>
                        <a:spcAft>
                          <a:spcPts val="0"/>
                        </a:spcAft>
                      </a:pPr>
                      <a:r>
                        <a:rPr lang="zh-CN" sz="1800" b="1" kern="100" dirty="0">
                          <a:effectLst/>
                          <a:latin typeface="微软雅黑" panose="020B0503020204020204" pitchFamily="34" charset="-122"/>
                          <a:ea typeface="微软雅黑" panose="020B0503020204020204" pitchFamily="34" charset="-122"/>
                          <a:cs typeface="宋体" panose="02010600030101010101" pitchFamily="2" charset="-122"/>
                        </a:rPr>
                        <a:t>考核环节</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sz="1800" b="1" kern="100" dirty="0">
                          <a:effectLst/>
                          <a:latin typeface="微软雅黑" panose="020B0503020204020204" pitchFamily="34" charset="-122"/>
                          <a:ea typeface="微软雅黑" panose="020B0503020204020204" pitchFamily="34" charset="-122"/>
                          <a:cs typeface="宋体" panose="02010600030101010101" pitchFamily="2" charset="-122"/>
                        </a:rPr>
                        <a:t>分值</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spcAft>
                          <a:spcPts val="0"/>
                        </a:spcAft>
                      </a:pPr>
                      <a:r>
                        <a:rPr lang="zh-CN" sz="1800" b="1" kern="100" dirty="0">
                          <a:effectLst/>
                          <a:latin typeface="微软雅黑" panose="020B0503020204020204" pitchFamily="34" charset="-122"/>
                          <a:ea typeface="微软雅黑" panose="020B0503020204020204" pitchFamily="34" charset="-122"/>
                          <a:cs typeface="宋体" panose="02010600030101010101" pitchFamily="2" charset="-122"/>
                        </a:rPr>
                        <a:t>考核</a:t>
                      </a:r>
                      <a:r>
                        <a:rPr lang="en-US" sz="1800" b="1" kern="100" dirty="0">
                          <a:effectLst/>
                          <a:latin typeface="微软雅黑" panose="020B0503020204020204" pitchFamily="34" charset="-122"/>
                          <a:ea typeface="微软雅黑" panose="020B0503020204020204" pitchFamily="34" charset="-122"/>
                          <a:cs typeface="宋体" panose="02010600030101010101" pitchFamily="2" charset="-122"/>
                        </a:rPr>
                        <a:t>/</a:t>
                      </a:r>
                      <a:r>
                        <a:rPr lang="zh-CN" sz="1800" b="1" kern="100" dirty="0">
                          <a:effectLst/>
                          <a:latin typeface="微软雅黑" panose="020B0503020204020204" pitchFamily="34" charset="-122"/>
                          <a:ea typeface="微软雅黑" panose="020B0503020204020204" pitchFamily="34" charset="-122"/>
                          <a:cs typeface="宋体" panose="02010600030101010101" pitchFamily="2" charset="-122"/>
                        </a:rPr>
                        <a:t>评价细则</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839738"/>
                  </a:ext>
                </a:extLst>
              </a:tr>
              <a:tr h="525364">
                <a:tc>
                  <a:txBody>
                    <a:bodyPr/>
                    <a:lstStyle/>
                    <a:p>
                      <a:pPr algn="l">
                        <a:lnSpc>
                          <a:spcPct val="1500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平时成绩</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1800" kern="100" dirty="0">
                          <a:effectLst/>
                          <a:latin typeface="微软雅黑" panose="020B0503020204020204" pitchFamily="34" charset="-122"/>
                          <a:ea typeface="微软雅黑" panose="020B0503020204020204" pitchFamily="34" charset="-122"/>
                          <a:cs typeface="宋体" panose="02010600030101010101" pitchFamily="2" charset="-122"/>
                        </a:rPr>
                        <a:t>10</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spcAft>
                          <a:spcPts val="0"/>
                        </a:spcAft>
                      </a:pP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rPr>
                        <a:t>考勤、</a:t>
                      </a:r>
                      <a:r>
                        <a:rPr lang="en-US" sz="1800" kern="100" dirty="0">
                          <a:effectLst/>
                          <a:latin typeface="微软雅黑" panose="020B0503020204020204" pitchFamily="34" charset="-122"/>
                          <a:ea typeface="微软雅黑" panose="020B0503020204020204" pitchFamily="34" charset="-122"/>
                          <a:cs typeface="宋体" panose="02010600030101010101" pitchFamily="2" charset="-122"/>
                        </a:rPr>
                        <a:t>MOOC</a:t>
                      </a: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rPr>
                        <a:t>、学在浙大</a:t>
                      </a: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的讨论、测验等，按总成绩的</a:t>
                      </a:r>
                      <a:r>
                        <a:rPr lang="en-US" sz="1800" kern="100" dirty="0">
                          <a:effectLst/>
                          <a:latin typeface="微软雅黑" panose="020B0503020204020204" pitchFamily="34" charset="-122"/>
                          <a:ea typeface="微软雅黑" panose="020B0503020204020204" pitchFamily="34" charset="-122"/>
                          <a:cs typeface="宋体" panose="02010600030101010101" pitchFamily="2" charset="-122"/>
                        </a:rPr>
                        <a:t>10%</a:t>
                      </a: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计入成绩。</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9162785"/>
                  </a:ext>
                </a:extLst>
              </a:tr>
              <a:tr h="722396">
                <a:tc>
                  <a:txBody>
                    <a:bodyPr/>
                    <a:lstStyle/>
                    <a:p>
                      <a:pPr algn="l">
                        <a:lnSpc>
                          <a:spcPct val="1500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期中考试</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1800" kern="100" dirty="0">
                          <a:effectLst/>
                          <a:latin typeface="微软雅黑" panose="020B0503020204020204" pitchFamily="34" charset="-122"/>
                          <a:ea typeface="微软雅黑" panose="020B0503020204020204" pitchFamily="34" charset="-122"/>
                          <a:cs typeface="宋体" panose="02010600030101010101" pitchFamily="2" charset="-122"/>
                        </a:rPr>
                        <a:t>20</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考核</a:t>
                      </a:r>
                      <a:r>
                        <a:rPr lang="en-US" sz="1800" kern="100" dirty="0">
                          <a:effectLst/>
                          <a:latin typeface="微软雅黑" panose="020B0503020204020204" pitchFamily="34" charset="-122"/>
                          <a:ea typeface="微软雅黑" panose="020B0503020204020204" pitchFamily="34" charset="-122"/>
                          <a:cs typeface="宋体" panose="02010600030101010101" pitchFamily="2" charset="-122"/>
                        </a:rPr>
                        <a:t>Lecture1-</a:t>
                      </a:r>
                      <a:r>
                        <a:rPr lang="en-US" altLang="zh-CN" sz="1800" kern="100" dirty="0">
                          <a:effectLst/>
                          <a:latin typeface="微软雅黑" panose="020B0503020204020204" pitchFamily="34" charset="-122"/>
                          <a:ea typeface="微软雅黑" panose="020B0503020204020204" pitchFamily="34" charset="-122"/>
                          <a:cs typeface="宋体" panose="02010600030101010101" pitchFamily="2" charset="-122"/>
                        </a:rPr>
                        <a:t>10</a:t>
                      </a: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的教学内容掌握情况，以卷面成绩的</a:t>
                      </a:r>
                      <a:r>
                        <a:rPr lang="en-US" sz="1800" kern="100"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20%</a:t>
                      </a: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计入课程总成绩。</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1370123"/>
                  </a:ext>
                </a:extLst>
              </a:tr>
              <a:tr h="588612">
                <a:tc>
                  <a:txBody>
                    <a:bodyPr/>
                    <a:lstStyle/>
                    <a:p>
                      <a:pPr algn="l">
                        <a:lnSpc>
                          <a:spcPct val="150000"/>
                        </a:lnSpc>
                        <a:spcAft>
                          <a:spcPts val="0"/>
                        </a:spcAft>
                      </a:pPr>
                      <a:r>
                        <a:rPr lang="zh-CN" sz="1800" kern="100">
                          <a:effectLst/>
                          <a:latin typeface="微软雅黑" panose="020B0503020204020204" pitchFamily="34" charset="-122"/>
                          <a:ea typeface="微软雅黑" panose="020B0503020204020204" pitchFamily="34" charset="-122"/>
                          <a:cs typeface="宋体" panose="02010600030101010101" pitchFamily="2" charset="-122"/>
                        </a:rPr>
                        <a:t>期末考试</a:t>
                      </a:r>
                      <a:endParaRPr lang="zh-CN" sz="1800" kern="10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1800" kern="100" dirty="0">
                          <a:effectLst/>
                          <a:latin typeface="微软雅黑" panose="020B0503020204020204" pitchFamily="34" charset="-122"/>
                          <a:ea typeface="微软雅黑" panose="020B0503020204020204" pitchFamily="34" charset="-122"/>
                          <a:cs typeface="宋体" panose="02010600030101010101" pitchFamily="2" charset="-122"/>
                        </a:rPr>
                        <a:t>30</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全部教学内容，以卷面成绩的</a:t>
                      </a:r>
                      <a:r>
                        <a:rPr lang="en-US" sz="1800" kern="100"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30%</a:t>
                      </a: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计入课程总成绩。</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9768652"/>
                  </a:ext>
                </a:extLst>
              </a:tr>
              <a:tr h="483042">
                <a:tc rowSpan="3">
                  <a:txBody>
                    <a:bodyPr/>
                    <a:lstStyle/>
                    <a:p>
                      <a:pPr algn="l">
                        <a:lnSpc>
                          <a:spcPct val="1500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课程实验</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lnSpc>
                          <a:spcPct val="150000"/>
                        </a:lnSpc>
                        <a:spcAft>
                          <a:spcPts val="0"/>
                        </a:spcAft>
                      </a:pPr>
                      <a:r>
                        <a:rPr lang="en-US" sz="1800" kern="100" dirty="0">
                          <a:effectLst/>
                          <a:latin typeface="微软雅黑" panose="020B0503020204020204" pitchFamily="34" charset="-122"/>
                          <a:ea typeface="微软雅黑" panose="020B0503020204020204" pitchFamily="34" charset="-122"/>
                          <a:cs typeface="宋体" panose="02010600030101010101" pitchFamily="2" charset="-122"/>
                        </a:rPr>
                        <a:t>40</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spcAft>
                          <a:spcPts val="0"/>
                        </a:spcAft>
                        <a:tabLst>
                          <a:tab pos="914400" algn="l"/>
                        </a:tabLst>
                      </a:pPr>
                      <a:r>
                        <a:rPr lang="en-US" sz="1800" b="1"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16</a:t>
                      </a:r>
                      <a:r>
                        <a:rPr lang="zh-CN" sz="1800" b="1"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个线下实验</a:t>
                      </a:r>
                      <a:r>
                        <a:rPr 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，每个实验过程与完成情况：</a:t>
                      </a:r>
                      <a:endParaRPr lang="en-US"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endParaRPr>
                    </a:p>
                    <a:p>
                      <a:pPr algn="l">
                        <a:lnSpc>
                          <a:spcPct val="150000"/>
                        </a:lnSpc>
                        <a:spcAft>
                          <a:spcPts val="0"/>
                        </a:spcAft>
                        <a:tabLst>
                          <a:tab pos="914400" algn="l"/>
                        </a:tabLst>
                      </a:pPr>
                      <a:r>
                        <a:rPr lang="en-US"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                        </a:t>
                      </a:r>
                      <a:r>
                        <a:rPr 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每个实验</a:t>
                      </a:r>
                      <a:r>
                        <a:rPr lang="en-US"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1</a:t>
                      </a:r>
                      <a:r>
                        <a:rPr 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分；共</a:t>
                      </a:r>
                      <a:r>
                        <a:rPr lang="en-US"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16</a:t>
                      </a:r>
                      <a:r>
                        <a:rPr 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分</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4236483"/>
                  </a:ext>
                </a:extLst>
              </a:tr>
              <a:tr h="370840">
                <a:tc vMerge="1">
                  <a:txBody>
                    <a:bodyPr/>
                    <a:lstStyle/>
                    <a:p>
                      <a:pPr algn="l">
                        <a:lnSpc>
                          <a:spcPct val="130000"/>
                        </a:lnSpc>
                        <a:spcAft>
                          <a:spcPts val="0"/>
                        </a:spcAft>
                        <a:tabLst>
                          <a:tab pos="914400" algn="l"/>
                        </a:tabLst>
                      </a:pP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a:spcAft>
                          <a:spcPts val="0"/>
                        </a:spcAft>
                      </a:pPr>
                      <a:endParaRPr lang="zh-CN" sz="1800" kern="100" dirty="0">
                        <a:effectLst/>
                        <a:latin typeface="微软雅黑" panose="020B0503020204020204" pitchFamily="34" charset="-122"/>
                        <a:ea typeface="微软雅黑" panose="020B0503020204020204" pitchFamily="34"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pPr>
                      <a:r>
                        <a:rPr lang="en-US" altLang="zh-CN" sz="1800" b="1"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sz="1800" b="1"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虚拟仿真实验操作</a:t>
                      </a:r>
                      <a:r>
                        <a:rPr lang="zh-CN"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：在规定时间期限内完成，</a:t>
                      </a:r>
                      <a:endParaRPr lang="en-US"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endParaRPr>
                    </a:p>
                    <a:p>
                      <a:pPr algn="l">
                        <a:lnSpc>
                          <a:spcPct val="150000"/>
                        </a:lnSpc>
                      </a:pPr>
                      <a:r>
                        <a:rPr lang="en-US"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检查完成情况</a:t>
                      </a:r>
                      <a:r>
                        <a:rPr lang="zh-CN" altLang="en-US"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a:t>
                      </a:r>
                      <a:r>
                        <a:rPr lang="zh-CN"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满分</a:t>
                      </a:r>
                      <a:r>
                        <a:rPr lang="en-US"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4</a:t>
                      </a:r>
                      <a:r>
                        <a:rPr lang="zh-CN"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分</a:t>
                      </a:r>
                      <a:r>
                        <a:rPr lang="zh-CN" altLang="en-US"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a:t>
                      </a:r>
                      <a:endParaRPr lang="zh-CN" altLang="en-US" sz="1800" dirty="0">
                        <a:latin typeface="微软雅黑" panose="020B0503020204020204" pitchFamily="34" charset="-122"/>
                        <a:ea typeface="微软雅黑" panose="020B0503020204020204" pitchFamily="34"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4045919"/>
                  </a:ext>
                </a:extLst>
              </a:tr>
              <a:tr h="370840">
                <a:tc vMerge="1">
                  <a:txBody>
                    <a:bodyPr/>
                    <a:lstStyle/>
                    <a:p>
                      <a:pPr algn="l">
                        <a:lnSpc>
                          <a:spcPct val="130000"/>
                        </a:lnSpc>
                        <a:spcAft>
                          <a:spcPts val="0"/>
                        </a:spcAft>
                      </a:pP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a:spcAft>
                          <a:spcPts val="0"/>
                        </a:spcAft>
                      </a:pPr>
                      <a:endParaRPr lang="zh-CN" sz="1800" kern="100" dirty="0">
                        <a:effectLst/>
                        <a:latin typeface="微软雅黑" panose="020B0503020204020204" pitchFamily="34" charset="-122"/>
                        <a:ea typeface="微软雅黑" panose="020B0503020204020204" pitchFamily="34"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b="1"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sz="1800" b="1"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实验报告</a:t>
                      </a:r>
                      <a:r>
                        <a:rPr lang="zh-CN"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16</a:t>
                      </a:r>
                      <a:r>
                        <a:rPr lang="zh-CN"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个标准规范要求的线下实验报告，</a:t>
                      </a:r>
                      <a:endParaRPr lang="en-US"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每个</a:t>
                      </a:r>
                      <a:r>
                        <a:rPr lang="en-US"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5</a:t>
                      </a:r>
                      <a:r>
                        <a:rPr lang="zh-CN"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分，按总分的</a:t>
                      </a:r>
                      <a:r>
                        <a:rPr lang="en-US" altLang="zh-CN" sz="1800" kern="100"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25%</a:t>
                      </a:r>
                      <a:r>
                        <a:rPr lang="zh-CN"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计入总成绩。</a:t>
                      </a:r>
                      <a:endParaRPr lang="zh-CN" altLang="en-US" sz="1800" dirty="0">
                        <a:latin typeface="微软雅黑" panose="020B0503020204020204" pitchFamily="34" charset="-122"/>
                        <a:ea typeface="微软雅黑" panose="020B0503020204020204" pitchFamily="34"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4207131"/>
                  </a:ext>
                </a:extLst>
              </a:tr>
              <a:tr h="370840">
                <a:tc gridSpan="3">
                  <a:txBody>
                    <a:bodyPr/>
                    <a:lstStyle/>
                    <a:p>
                      <a:pPr algn="l">
                        <a:lnSpc>
                          <a:spcPct val="150000"/>
                        </a:lnSpc>
                        <a:spcAft>
                          <a:spcPts val="0"/>
                        </a:spcAft>
                      </a:pPr>
                      <a:r>
                        <a:rPr 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注： 期末考试成绩</a:t>
                      </a:r>
                      <a:r>
                        <a:rPr lang="zh-CN" sz="1800" kern="100"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低于</a:t>
                      </a:r>
                      <a:r>
                        <a:rPr lang="en-US" sz="1800" kern="100"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50%</a:t>
                      </a:r>
                      <a:r>
                        <a:rPr 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分数，总评不能及格；</a:t>
                      </a:r>
                      <a:endParaRPr lang="en-US"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endParaRPr>
                    </a:p>
                    <a:p>
                      <a:pPr algn="l">
                        <a:lnSpc>
                          <a:spcPct val="150000"/>
                        </a:lnSpc>
                        <a:spcAft>
                          <a:spcPts val="0"/>
                        </a:spcAft>
                      </a:pPr>
                      <a:r>
                        <a:rPr lang="en-US" alt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       </a:t>
                      </a:r>
                      <a:r>
                        <a:rPr 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 实验成绩低于</a:t>
                      </a:r>
                      <a:r>
                        <a:rPr lang="en-US" sz="1800" kern="100"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40</a:t>
                      </a:r>
                      <a:r>
                        <a:rPr lang="zh-CN" sz="1800" kern="100"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分的</a:t>
                      </a:r>
                      <a:r>
                        <a:rPr lang="en-US" sz="1800" kern="100"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60%</a:t>
                      </a:r>
                      <a:r>
                        <a:rPr lang="zh-CN" sz="1800" kern="100" dirty="0">
                          <a:solidFill>
                            <a:srgbClr val="080808"/>
                          </a:solidFill>
                          <a:effectLst/>
                          <a:latin typeface="微软雅黑" panose="020B0503020204020204" pitchFamily="34" charset="-122"/>
                          <a:ea typeface="微软雅黑" panose="020B0503020204020204" pitchFamily="34" charset="-122"/>
                          <a:cs typeface="宋体" panose="02010600030101010101" pitchFamily="2" charset="-122"/>
                        </a:rPr>
                        <a:t>，总评不能及格。</a:t>
                      </a:r>
                      <a:endParaRPr lang="zh-CN" sz="18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79634"/>
                  </a:ext>
                </a:extLst>
              </a:tr>
            </a:tbl>
          </a:graphicData>
        </a:graphic>
      </p:graphicFrame>
      <p:cxnSp>
        <p:nvCxnSpPr>
          <p:cNvPr id="5" name="直接箭头连接符 4">
            <a:extLst>
              <a:ext uri="{FF2B5EF4-FFF2-40B4-BE49-F238E27FC236}">
                <a16:creationId xmlns:a16="http://schemas.microsoft.com/office/drawing/2014/main" id="{68A0A1EF-6B70-4E32-B980-2901D8E526E6}"/>
              </a:ext>
            </a:extLst>
          </p:cNvPr>
          <p:cNvCxnSpPr/>
          <p:nvPr/>
        </p:nvCxnSpPr>
        <p:spPr>
          <a:xfrm flipV="1">
            <a:off x="5523470" y="624016"/>
            <a:ext cx="1241854" cy="100089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ABC174F3-D15E-4A2A-83C6-9004D477EF7D}"/>
              </a:ext>
            </a:extLst>
          </p:cNvPr>
          <p:cNvPicPr>
            <a:picLocks noChangeAspect="1"/>
          </p:cNvPicPr>
          <p:nvPr/>
        </p:nvPicPr>
        <p:blipFill>
          <a:blip r:embed="rId2"/>
          <a:stretch>
            <a:fillRect/>
          </a:stretch>
        </p:blipFill>
        <p:spPr>
          <a:xfrm>
            <a:off x="4404962" y="193821"/>
            <a:ext cx="2237015" cy="430195"/>
          </a:xfrm>
          <a:prstGeom prst="rect">
            <a:avLst/>
          </a:prstGeom>
        </p:spPr>
      </p:pic>
      <p:pic>
        <p:nvPicPr>
          <p:cNvPr id="6" name="图片 5">
            <a:extLst>
              <a:ext uri="{FF2B5EF4-FFF2-40B4-BE49-F238E27FC236}">
                <a16:creationId xmlns:a16="http://schemas.microsoft.com/office/drawing/2014/main" id="{3AFF5A1C-1887-4468-B1CD-03087349EBE7}"/>
              </a:ext>
            </a:extLst>
          </p:cNvPr>
          <p:cNvPicPr>
            <a:picLocks noChangeAspect="1"/>
          </p:cNvPicPr>
          <p:nvPr/>
        </p:nvPicPr>
        <p:blipFill>
          <a:blip r:embed="rId3"/>
          <a:stretch>
            <a:fillRect/>
          </a:stretch>
        </p:blipFill>
        <p:spPr>
          <a:xfrm>
            <a:off x="6789776" y="7221"/>
            <a:ext cx="2551734" cy="1060945"/>
          </a:xfrm>
          <a:prstGeom prst="rect">
            <a:avLst/>
          </a:prstGeom>
        </p:spPr>
      </p:pic>
      <p:sp>
        <p:nvSpPr>
          <p:cNvPr id="8" name="文本框 7">
            <a:extLst>
              <a:ext uri="{FF2B5EF4-FFF2-40B4-BE49-F238E27FC236}">
                <a16:creationId xmlns:a16="http://schemas.microsoft.com/office/drawing/2014/main" id="{2E9CDC21-17BD-43DC-A6E4-FDF3CFAA6078}"/>
              </a:ext>
            </a:extLst>
          </p:cNvPr>
          <p:cNvSpPr txBox="1"/>
          <p:nvPr/>
        </p:nvSpPr>
        <p:spPr>
          <a:xfrm>
            <a:off x="9365962" y="462833"/>
            <a:ext cx="1511952" cy="369332"/>
          </a:xfrm>
          <a:prstGeom prst="rect">
            <a:avLst/>
          </a:prstGeom>
          <a:noFill/>
        </p:spPr>
        <p:txBody>
          <a:bodyPr wrap="none" rtlCol="0">
            <a:spAutoFit/>
          </a:bodyPr>
          <a:lstStyle/>
          <a:p>
            <a:r>
              <a:rPr lang="en-US" altLang="zh-CN" dirty="0"/>
              <a:t>9</a:t>
            </a:r>
            <a:r>
              <a:rPr lang="zh-CN" altLang="en-US" dirty="0"/>
              <a:t>月</a:t>
            </a:r>
            <a:r>
              <a:rPr lang="en-US" altLang="zh-CN" dirty="0"/>
              <a:t>23</a:t>
            </a:r>
            <a:r>
              <a:rPr lang="zh-CN" altLang="en-US" dirty="0"/>
              <a:t>日开课</a:t>
            </a:r>
          </a:p>
        </p:txBody>
      </p:sp>
    </p:spTree>
    <p:extLst>
      <p:ext uri="{BB962C8B-B14F-4D97-AF65-F5344CB8AC3E}">
        <p14:creationId xmlns:p14="http://schemas.microsoft.com/office/powerpoint/2010/main" val="2590675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DBDA055B-621B-4652-942C-74CCDA0CD4AA}"/>
              </a:ext>
            </a:extLst>
          </p:cNvPr>
          <p:cNvGraphicFramePr>
            <a:graphicFrameLocks noGrp="1"/>
          </p:cNvGraphicFramePr>
          <p:nvPr>
            <p:extLst>
              <p:ext uri="{D42A27DB-BD31-4B8C-83A1-F6EECF244321}">
                <p14:modId xmlns:p14="http://schemas.microsoft.com/office/powerpoint/2010/main" val="236852574"/>
              </p:ext>
            </p:extLst>
          </p:nvPr>
        </p:nvGraphicFramePr>
        <p:xfrm>
          <a:off x="811599" y="1884207"/>
          <a:ext cx="4320000" cy="3332480"/>
        </p:xfrm>
        <a:graphic>
          <a:graphicData uri="http://schemas.openxmlformats.org/drawingml/2006/table">
            <a:tbl>
              <a:tblPr firstRow="1" bandRow="1">
                <a:tableStyleId>{5C22544A-7EE6-4342-B048-85BDC9FD1C3A}</a:tableStyleId>
              </a:tblPr>
              <a:tblGrid>
                <a:gridCol w="1990123">
                  <a:extLst>
                    <a:ext uri="{9D8B030D-6E8A-4147-A177-3AD203B41FA5}">
                      <a16:colId xmlns:a16="http://schemas.microsoft.com/office/drawing/2014/main" val="1504757527"/>
                    </a:ext>
                  </a:extLst>
                </a:gridCol>
                <a:gridCol w="2329877">
                  <a:extLst>
                    <a:ext uri="{9D8B030D-6E8A-4147-A177-3AD203B41FA5}">
                      <a16:colId xmlns:a16="http://schemas.microsoft.com/office/drawing/2014/main" val="762667415"/>
                    </a:ext>
                  </a:extLst>
                </a:gridCol>
              </a:tblGrid>
              <a:tr h="315990">
                <a:tc>
                  <a:txBody>
                    <a:bodyPr/>
                    <a:lstStyle/>
                    <a:p>
                      <a:r>
                        <a:rPr lang="zh-CN" altLang="en-US" dirty="0"/>
                        <a:t>组号（共</a:t>
                      </a:r>
                      <a:r>
                        <a:rPr lang="en-US" altLang="zh-CN" dirty="0"/>
                        <a:t>19</a:t>
                      </a:r>
                      <a:r>
                        <a:rPr lang="zh-CN" altLang="en-US" dirty="0"/>
                        <a:t>人）</a:t>
                      </a:r>
                    </a:p>
                  </a:txBody>
                  <a:tcPr/>
                </a:tc>
                <a:tc>
                  <a:txBody>
                    <a:bodyPr/>
                    <a:lstStyle/>
                    <a:p>
                      <a:endParaRPr lang="zh-CN" altLang="en-US" dirty="0"/>
                    </a:p>
                  </a:txBody>
                  <a:tcPr/>
                </a:tc>
                <a:extLst>
                  <a:ext uri="{0D108BD9-81ED-4DB2-BD59-A6C34878D82A}">
                    <a16:rowId xmlns:a16="http://schemas.microsoft.com/office/drawing/2014/main" val="1937480406"/>
                  </a:ext>
                </a:extLst>
              </a:tr>
              <a:tr h="370840">
                <a:tc>
                  <a:txBody>
                    <a:bodyPr/>
                    <a:lstStyle/>
                    <a:p>
                      <a:r>
                        <a:rPr lang="en-US" altLang="zh-CN" dirty="0"/>
                        <a:t>A</a:t>
                      </a:r>
                      <a:r>
                        <a:rPr lang="zh-CN" altLang="en-US" dirty="0"/>
                        <a:t>（</a:t>
                      </a:r>
                      <a:r>
                        <a:rPr lang="en-US" altLang="zh-CN" dirty="0"/>
                        <a:t>2</a:t>
                      </a:r>
                      <a:r>
                        <a:rPr lang="zh-CN" altLang="en-US" dirty="0"/>
                        <a:t>人）</a:t>
                      </a:r>
                    </a:p>
                  </a:txBody>
                  <a:tcPr/>
                </a:tc>
                <a:tc>
                  <a:txBody>
                    <a:bodyPr/>
                    <a:lstStyle/>
                    <a:p>
                      <a:endParaRPr lang="zh-CN" altLang="en-US" dirty="0"/>
                    </a:p>
                  </a:txBody>
                  <a:tcPr/>
                </a:tc>
                <a:extLst>
                  <a:ext uri="{0D108BD9-81ED-4DB2-BD59-A6C34878D82A}">
                    <a16:rowId xmlns:a16="http://schemas.microsoft.com/office/drawing/2014/main" val="3430693419"/>
                  </a:ext>
                </a:extLst>
              </a:tr>
              <a:tr h="370840">
                <a:tc>
                  <a:txBody>
                    <a:bodyPr/>
                    <a:lstStyle/>
                    <a:p>
                      <a:r>
                        <a:rPr lang="en-US" altLang="zh-CN" dirty="0"/>
                        <a:t>B</a:t>
                      </a:r>
                      <a:r>
                        <a:rPr lang="zh-CN" altLang="en-US" dirty="0"/>
                        <a:t>（</a:t>
                      </a:r>
                      <a:r>
                        <a:rPr lang="en-US" altLang="zh-CN" dirty="0"/>
                        <a:t>2</a:t>
                      </a:r>
                      <a:r>
                        <a:rPr lang="zh-CN" altLang="en-US" dirty="0"/>
                        <a:t>人）</a:t>
                      </a:r>
                    </a:p>
                  </a:txBody>
                  <a:tcPr/>
                </a:tc>
                <a:tc>
                  <a:txBody>
                    <a:bodyPr/>
                    <a:lstStyle/>
                    <a:p>
                      <a:endParaRPr lang="zh-CN" altLang="en-US" dirty="0"/>
                    </a:p>
                  </a:txBody>
                  <a:tcPr/>
                </a:tc>
                <a:extLst>
                  <a:ext uri="{0D108BD9-81ED-4DB2-BD59-A6C34878D82A}">
                    <a16:rowId xmlns:a16="http://schemas.microsoft.com/office/drawing/2014/main" val="2414074154"/>
                  </a:ext>
                </a:extLst>
              </a:tr>
              <a:tr h="370840">
                <a:tc>
                  <a:txBody>
                    <a:bodyPr/>
                    <a:lstStyle/>
                    <a:p>
                      <a:r>
                        <a:rPr lang="en-US" altLang="zh-CN" dirty="0"/>
                        <a:t>C</a:t>
                      </a:r>
                      <a:r>
                        <a:rPr lang="zh-CN" altLang="en-US" dirty="0"/>
                        <a:t>（</a:t>
                      </a:r>
                      <a:r>
                        <a:rPr lang="en-US" altLang="zh-CN" dirty="0"/>
                        <a:t>2</a:t>
                      </a:r>
                      <a:r>
                        <a:rPr lang="zh-CN" altLang="en-US" dirty="0"/>
                        <a:t>人）</a:t>
                      </a:r>
                    </a:p>
                  </a:txBody>
                  <a:tcPr/>
                </a:tc>
                <a:tc>
                  <a:txBody>
                    <a:bodyPr/>
                    <a:lstStyle/>
                    <a:p>
                      <a:endParaRPr lang="zh-CN" altLang="en-US" dirty="0"/>
                    </a:p>
                  </a:txBody>
                  <a:tcPr/>
                </a:tc>
                <a:extLst>
                  <a:ext uri="{0D108BD9-81ED-4DB2-BD59-A6C34878D82A}">
                    <a16:rowId xmlns:a16="http://schemas.microsoft.com/office/drawing/2014/main" val="695924845"/>
                  </a:ext>
                </a:extLst>
              </a:tr>
              <a:tr h="370840">
                <a:tc>
                  <a:txBody>
                    <a:bodyPr/>
                    <a:lstStyle/>
                    <a:p>
                      <a:r>
                        <a:rPr lang="en-US" altLang="zh-CN" dirty="0"/>
                        <a:t>D</a:t>
                      </a:r>
                      <a:r>
                        <a:rPr lang="zh-CN" altLang="en-US" dirty="0"/>
                        <a:t>（</a:t>
                      </a:r>
                      <a:r>
                        <a:rPr lang="en-US" altLang="zh-CN" dirty="0"/>
                        <a:t>2</a:t>
                      </a:r>
                      <a:r>
                        <a:rPr lang="zh-CN" altLang="en-US" dirty="0"/>
                        <a:t>人）</a:t>
                      </a:r>
                    </a:p>
                  </a:txBody>
                  <a:tcPr/>
                </a:tc>
                <a:tc>
                  <a:txBody>
                    <a:bodyPr/>
                    <a:lstStyle/>
                    <a:p>
                      <a:endParaRPr lang="zh-CN" altLang="en-US" dirty="0"/>
                    </a:p>
                  </a:txBody>
                  <a:tcPr/>
                </a:tc>
                <a:extLst>
                  <a:ext uri="{0D108BD9-81ED-4DB2-BD59-A6C34878D82A}">
                    <a16:rowId xmlns:a16="http://schemas.microsoft.com/office/drawing/2014/main" val="3425294017"/>
                  </a:ext>
                </a:extLst>
              </a:tr>
              <a:tr h="370840">
                <a:tc>
                  <a:txBody>
                    <a:bodyPr/>
                    <a:lstStyle/>
                    <a:p>
                      <a:r>
                        <a:rPr lang="en-US" altLang="zh-CN" dirty="0"/>
                        <a:t>E</a:t>
                      </a:r>
                      <a:r>
                        <a:rPr lang="zh-CN" altLang="en-US" dirty="0"/>
                        <a:t>（</a:t>
                      </a:r>
                      <a:r>
                        <a:rPr lang="en-US" altLang="zh-CN" dirty="0"/>
                        <a:t>2</a:t>
                      </a:r>
                      <a:r>
                        <a:rPr lang="zh-CN" altLang="en-US" dirty="0"/>
                        <a:t>人）</a:t>
                      </a:r>
                    </a:p>
                  </a:txBody>
                  <a:tcPr/>
                </a:tc>
                <a:tc>
                  <a:txBody>
                    <a:bodyPr/>
                    <a:lstStyle/>
                    <a:p>
                      <a:endParaRPr lang="zh-CN" altLang="en-US" dirty="0"/>
                    </a:p>
                  </a:txBody>
                  <a:tcPr/>
                </a:tc>
                <a:extLst>
                  <a:ext uri="{0D108BD9-81ED-4DB2-BD59-A6C34878D82A}">
                    <a16:rowId xmlns:a16="http://schemas.microsoft.com/office/drawing/2014/main" val="567160123"/>
                  </a:ext>
                </a:extLst>
              </a:tr>
              <a:tr h="370840">
                <a:tc>
                  <a:txBody>
                    <a:bodyPr/>
                    <a:lstStyle/>
                    <a:p>
                      <a:r>
                        <a:rPr lang="en-US" altLang="zh-CN" dirty="0"/>
                        <a:t>F</a:t>
                      </a:r>
                      <a:r>
                        <a:rPr lang="zh-CN" altLang="en-US" dirty="0"/>
                        <a:t>（</a:t>
                      </a:r>
                      <a:r>
                        <a:rPr lang="en-US" altLang="zh-CN" dirty="0"/>
                        <a:t>3</a:t>
                      </a:r>
                      <a:r>
                        <a:rPr lang="zh-CN" altLang="en-US" dirty="0"/>
                        <a:t>人）</a:t>
                      </a:r>
                    </a:p>
                  </a:txBody>
                  <a:tcPr/>
                </a:tc>
                <a:tc>
                  <a:txBody>
                    <a:bodyPr/>
                    <a:lstStyle/>
                    <a:p>
                      <a:endParaRPr lang="zh-CN" altLang="en-US" dirty="0"/>
                    </a:p>
                  </a:txBody>
                  <a:tcPr/>
                </a:tc>
                <a:extLst>
                  <a:ext uri="{0D108BD9-81ED-4DB2-BD59-A6C34878D82A}">
                    <a16:rowId xmlns:a16="http://schemas.microsoft.com/office/drawing/2014/main" val="1743515835"/>
                  </a:ext>
                </a:extLst>
              </a:tr>
              <a:tr h="370840">
                <a:tc>
                  <a:txBody>
                    <a:bodyPr/>
                    <a:lstStyle/>
                    <a:p>
                      <a:r>
                        <a:rPr lang="en-US" altLang="zh-CN" dirty="0"/>
                        <a:t>G</a:t>
                      </a:r>
                      <a:r>
                        <a:rPr lang="zh-CN" altLang="en-US" dirty="0"/>
                        <a:t>（</a:t>
                      </a:r>
                      <a:r>
                        <a:rPr lang="en-US" altLang="zh-CN" dirty="0"/>
                        <a:t>3</a:t>
                      </a:r>
                      <a:r>
                        <a:rPr lang="zh-CN" altLang="en-US" dirty="0"/>
                        <a:t>人）</a:t>
                      </a:r>
                    </a:p>
                  </a:txBody>
                  <a:tcPr/>
                </a:tc>
                <a:tc>
                  <a:txBody>
                    <a:bodyPr/>
                    <a:lstStyle/>
                    <a:p>
                      <a:endParaRPr lang="zh-CN" altLang="en-US" dirty="0"/>
                    </a:p>
                  </a:txBody>
                  <a:tcPr/>
                </a:tc>
                <a:extLst>
                  <a:ext uri="{0D108BD9-81ED-4DB2-BD59-A6C34878D82A}">
                    <a16:rowId xmlns:a16="http://schemas.microsoft.com/office/drawing/2014/main" val="6269022"/>
                  </a:ext>
                </a:extLst>
              </a:tr>
              <a:tr h="370840">
                <a:tc>
                  <a:txBody>
                    <a:bodyPr/>
                    <a:lstStyle/>
                    <a:p>
                      <a:r>
                        <a:rPr lang="en-US" altLang="zh-CN" dirty="0"/>
                        <a:t>H</a:t>
                      </a:r>
                      <a:r>
                        <a:rPr lang="zh-CN" altLang="en-US" dirty="0"/>
                        <a:t>（</a:t>
                      </a:r>
                      <a:r>
                        <a:rPr lang="en-US" altLang="zh-CN" dirty="0"/>
                        <a:t>3</a:t>
                      </a:r>
                      <a:r>
                        <a:rPr lang="zh-CN" altLang="en-US" dirty="0"/>
                        <a:t>人）</a:t>
                      </a:r>
                    </a:p>
                  </a:txBody>
                  <a:tcPr/>
                </a:tc>
                <a:tc>
                  <a:txBody>
                    <a:bodyPr/>
                    <a:lstStyle/>
                    <a:p>
                      <a:endParaRPr lang="zh-CN" altLang="en-US" dirty="0"/>
                    </a:p>
                  </a:txBody>
                  <a:tcPr/>
                </a:tc>
                <a:extLst>
                  <a:ext uri="{0D108BD9-81ED-4DB2-BD59-A6C34878D82A}">
                    <a16:rowId xmlns:a16="http://schemas.microsoft.com/office/drawing/2014/main" val="4148056764"/>
                  </a:ext>
                </a:extLst>
              </a:tr>
            </a:tbl>
          </a:graphicData>
        </a:graphic>
      </p:graphicFrame>
      <p:sp>
        <p:nvSpPr>
          <p:cNvPr id="5" name="文本框 4">
            <a:extLst>
              <a:ext uri="{FF2B5EF4-FFF2-40B4-BE49-F238E27FC236}">
                <a16:creationId xmlns:a16="http://schemas.microsoft.com/office/drawing/2014/main" id="{6D39993F-F17E-4863-A194-7A82EFD82FFA}"/>
              </a:ext>
            </a:extLst>
          </p:cNvPr>
          <p:cNvSpPr txBox="1"/>
          <p:nvPr/>
        </p:nvSpPr>
        <p:spPr>
          <a:xfrm>
            <a:off x="6326660" y="2487278"/>
            <a:ext cx="2893741" cy="1200329"/>
          </a:xfrm>
          <a:prstGeom prst="rect">
            <a:avLst/>
          </a:prstGeom>
          <a:noFill/>
        </p:spPr>
        <p:txBody>
          <a:bodyPr wrap="none" rtlCol="0">
            <a:spAutoFit/>
          </a:bodyPr>
          <a:lstStyle/>
          <a:p>
            <a:r>
              <a:rPr lang="zh-CN" altLang="en-US" dirty="0"/>
              <a:t>实验课教师：王品美</a:t>
            </a:r>
            <a:endParaRPr lang="en-US" altLang="zh-CN" dirty="0"/>
          </a:p>
          <a:p>
            <a:r>
              <a:rPr lang="en-US" altLang="zh-CN" dirty="0">
                <a:hlinkClick r:id="rId2"/>
              </a:rPr>
              <a:t>wangpinmei@zju.edu.cn</a:t>
            </a:r>
            <a:endParaRPr lang="en-US" altLang="zh-CN" dirty="0"/>
          </a:p>
          <a:p>
            <a:endParaRPr lang="en-US" altLang="zh-CN" dirty="0"/>
          </a:p>
          <a:p>
            <a:r>
              <a:rPr lang="zh-CN" altLang="en-US" dirty="0"/>
              <a:t>助教：陈溢辉</a:t>
            </a:r>
          </a:p>
        </p:txBody>
      </p:sp>
      <p:sp>
        <p:nvSpPr>
          <p:cNvPr id="6" name="文本框 5">
            <a:extLst>
              <a:ext uri="{FF2B5EF4-FFF2-40B4-BE49-F238E27FC236}">
                <a16:creationId xmlns:a16="http://schemas.microsoft.com/office/drawing/2014/main" id="{0FE7C502-B8BA-4011-8BB2-D99E7C099E91}"/>
              </a:ext>
            </a:extLst>
          </p:cNvPr>
          <p:cNvSpPr txBox="1"/>
          <p:nvPr/>
        </p:nvSpPr>
        <p:spPr>
          <a:xfrm>
            <a:off x="1797908" y="982361"/>
            <a:ext cx="3889206" cy="874407"/>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en-US" dirty="0"/>
              <a:t>课程</a:t>
            </a:r>
            <a:r>
              <a:rPr lang="en-US" altLang="zh-CN" dirty="0"/>
              <a:t>PPT</a:t>
            </a:r>
            <a:r>
              <a:rPr lang="zh-CN" altLang="en-US" dirty="0"/>
              <a:t>、通知主要在钉钉发布</a:t>
            </a:r>
            <a:endParaRPr lang="en-US" altLang="zh-CN" dirty="0"/>
          </a:p>
          <a:p>
            <a:pPr marL="285750" indent="-285750">
              <a:lnSpc>
                <a:spcPct val="150000"/>
              </a:lnSpc>
              <a:buFont typeface="Wingdings" panose="05000000000000000000" pitchFamily="2" charset="2"/>
              <a:buChar char="Ø"/>
            </a:pPr>
            <a:r>
              <a:rPr lang="zh-CN" altLang="en-US" dirty="0"/>
              <a:t>学在浙大：讨论、课程</a:t>
            </a:r>
            <a:r>
              <a:rPr lang="en-US" altLang="zh-CN" dirty="0"/>
              <a:t>PPT</a:t>
            </a:r>
            <a:r>
              <a:rPr lang="zh-CN" altLang="en-US" dirty="0"/>
              <a:t>等资源</a:t>
            </a:r>
          </a:p>
        </p:txBody>
      </p:sp>
      <p:sp>
        <p:nvSpPr>
          <p:cNvPr id="7" name="文本框 6">
            <a:extLst>
              <a:ext uri="{FF2B5EF4-FFF2-40B4-BE49-F238E27FC236}">
                <a16:creationId xmlns:a16="http://schemas.microsoft.com/office/drawing/2014/main" id="{F7F34521-287A-4744-9C75-423BBA69CBD3}"/>
              </a:ext>
            </a:extLst>
          </p:cNvPr>
          <p:cNvSpPr txBox="1"/>
          <p:nvPr/>
        </p:nvSpPr>
        <p:spPr>
          <a:xfrm>
            <a:off x="987853" y="5555884"/>
            <a:ext cx="5955476" cy="458908"/>
          </a:xfrm>
          <a:prstGeom prst="rect">
            <a:avLst/>
          </a:prstGeom>
          <a:noFill/>
        </p:spPr>
        <p:txBody>
          <a:bodyPr wrap="none" rtlCol="0">
            <a:spAutoFit/>
          </a:bodyPr>
          <a:lstStyle/>
          <a:p>
            <a:pPr>
              <a:lnSpc>
                <a:spcPct val="150000"/>
              </a:lnSpc>
            </a:pPr>
            <a:r>
              <a:rPr lang="zh-CN" altLang="en-US" dirty="0"/>
              <a:t>每周实验结束后，每周一个小组协助助教打扫卫生、收尾</a:t>
            </a:r>
          </a:p>
        </p:txBody>
      </p:sp>
    </p:spTree>
    <p:extLst>
      <p:ext uri="{BB962C8B-B14F-4D97-AF65-F5344CB8AC3E}">
        <p14:creationId xmlns:p14="http://schemas.microsoft.com/office/powerpoint/2010/main" val="1644379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00C1253-E648-4C4E-B2C8-1B3B0EEB77CC}"/>
              </a:ext>
            </a:extLst>
          </p:cNvPr>
          <p:cNvSpPr>
            <a:spLocks noChangeArrowheads="1"/>
          </p:cNvSpPr>
          <p:nvPr/>
        </p:nvSpPr>
        <p:spPr bwMode="auto">
          <a:xfrm>
            <a:off x="3951822" y="179172"/>
            <a:ext cx="428835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zh-CN" altLang="en-US" sz="4000" dirty="0"/>
              <a:t>实验安全注意事项</a:t>
            </a:r>
          </a:p>
        </p:txBody>
      </p:sp>
      <p:pic>
        <p:nvPicPr>
          <p:cNvPr id="8" name="图片 7">
            <a:extLst>
              <a:ext uri="{FF2B5EF4-FFF2-40B4-BE49-F238E27FC236}">
                <a16:creationId xmlns:a16="http://schemas.microsoft.com/office/drawing/2014/main" id="{C97F190C-92D8-43FB-A0F5-18296397F149}"/>
              </a:ext>
            </a:extLst>
          </p:cNvPr>
          <p:cNvPicPr>
            <a:picLocks noChangeAspect="1"/>
          </p:cNvPicPr>
          <p:nvPr/>
        </p:nvPicPr>
        <p:blipFill rotWithShape="1">
          <a:blip r:embed="rId2"/>
          <a:srcRect t="2342" b="13154"/>
          <a:stretch/>
        </p:blipFill>
        <p:spPr>
          <a:xfrm>
            <a:off x="1540710" y="883509"/>
            <a:ext cx="9110579" cy="5795319"/>
          </a:xfrm>
          <a:prstGeom prst="rect">
            <a:avLst/>
          </a:prstGeom>
        </p:spPr>
      </p:pic>
    </p:spTree>
    <p:extLst>
      <p:ext uri="{BB962C8B-B14F-4D97-AF65-F5344CB8AC3E}">
        <p14:creationId xmlns:p14="http://schemas.microsoft.com/office/powerpoint/2010/main" val="3530031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3311A95-A13F-457A-AF86-4EA08AC5A6DA}"/>
              </a:ext>
            </a:extLst>
          </p:cNvPr>
          <p:cNvPicPr>
            <a:picLocks noChangeAspect="1"/>
          </p:cNvPicPr>
          <p:nvPr/>
        </p:nvPicPr>
        <p:blipFill>
          <a:blip r:embed="rId2"/>
          <a:stretch>
            <a:fillRect/>
          </a:stretch>
        </p:blipFill>
        <p:spPr>
          <a:xfrm>
            <a:off x="1596975" y="770237"/>
            <a:ext cx="8998049" cy="4666735"/>
          </a:xfrm>
          <a:prstGeom prst="rect">
            <a:avLst/>
          </a:prstGeom>
        </p:spPr>
      </p:pic>
      <p:sp>
        <p:nvSpPr>
          <p:cNvPr id="7" name="文本框 6">
            <a:extLst>
              <a:ext uri="{FF2B5EF4-FFF2-40B4-BE49-F238E27FC236}">
                <a16:creationId xmlns:a16="http://schemas.microsoft.com/office/drawing/2014/main" id="{345B4AD7-0B24-47D8-B5A6-BCD3C9616033}"/>
              </a:ext>
            </a:extLst>
          </p:cNvPr>
          <p:cNvSpPr txBox="1"/>
          <p:nvPr/>
        </p:nvSpPr>
        <p:spPr>
          <a:xfrm>
            <a:off x="1885950" y="5540117"/>
            <a:ext cx="8529901" cy="646331"/>
          </a:xfrm>
          <a:prstGeom prst="rect">
            <a:avLst/>
          </a:prstGeom>
          <a:noFill/>
        </p:spPr>
        <p:txBody>
          <a:bodyPr wrap="square">
            <a:spAutoFit/>
          </a:bodyPr>
          <a:lstStyle/>
          <a:p>
            <a:r>
              <a:rPr lang="en-US" altLang="zh-CN" dirty="0"/>
              <a:t>***N</a:t>
            </a:r>
            <a:r>
              <a:rPr lang="zh-CN" altLang="en-US" dirty="0"/>
              <a:t>otify your teacher or TA of any </a:t>
            </a:r>
            <a:r>
              <a:rPr lang="en-US" altLang="zh-CN" dirty="0"/>
              <a:t>INJURIES (</a:t>
            </a:r>
            <a:r>
              <a:rPr lang="zh-CN" altLang="en-US" dirty="0"/>
              <a:t>受伤</a:t>
            </a:r>
            <a:r>
              <a:rPr lang="en-US" altLang="zh-CN" dirty="0"/>
              <a:t>)</a:t>
            </a:r>
            <a:r>
              <a:rPr lang="zh-CN" altLang="en-US" dirty="0"/>
              <a:t> ; there is a medical first aid kit in the hallway.</a:t>
            </a:r>
          </a:p>
        </p:txBody>
      </p:sp>
    </p:spTree>
    <p:extLst>
      <p:ext uri="{BB962C8B-B14F-4D97-AF65-F5344CB8AC3E}">
        <p14:creationId xmlns:p14="http://schemas.microsoft.com/office/powerpoint/2010/main" val="4082304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8E0EB46-E35F-41A8-AD19-E4FF7267F8B9}"/>
              </a:ext>
            </a:extLst>
          </p:cNvPr>
          <p:cNvPicPr>
            <a:picLocks noChangeAspect="1"/>
          </p:cNvPicPr>
          <p:nvPr/>
        </p:nvPicPr>
        <p:blipFill>
          <a:blip r:embed="rId2"/>
          <a:stretch>
            <a:fillRect/>
          </a:stretch>
        </p:blipFill>
        <p:spPr>
          <a:xfrm>
            <a:off x="1482811" y="2183912"/>
            <a:ext cx="9547654" cy="1940401"/>
          </a:xfrm>
          <a:prstGeom prst="rect">
            <a:avLst/>
          </a:prstGeom>
        </p:spPr>
      </p:pic>
    </p:spTree>
    <p:extLst>
      <p:ext uri="{BB962C8B-B14F-4D97-AF65-F5344CB8AC3E}">
        <p14:creationId xmlns:p14="http://schemas.microsoft.com/office/powerpoint/2010/main" val="1400509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A7DCBE5-57E0-4469-83B0-1C3E9D3C48D0}"/>
              </a:ext>
            </a:extLst>
          </p:cNvPr>
          <p:cNvSpPr txBox="1"/>
          <p:nvPr/>
        </p:nvSpPr>
        <p:spPr>
          <a:xfrm>
            <a:off x="259490" y="2308243"/>
            <a:ext cx="5778332" cy="212090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t>实验手册的介绍</a:t>
            </a:r>
            <a:endParaRPr lang="en-US" altLang="zh-CN" dirty="0"/>
          </a:p>
          <a:p>
            <a:pPr marL="285750" indent="-285750">
              <a:lnSpc>
                <a:spcPct val="150000"/>
              </a:lnSpc>
              <a:buFont typeface="Wingdings" panose="05000000000000000000" pitchFamily="2" charset="2"/>
              <a:buChar char="Ø"/>
            </a:pPr>
            <a:r>
              <a:rPr lang="zh-CN" altLang="en-US" dirty="0"/>
              <a:t>实验报告</a:t>
            </a:r>
            <a:endParaRPr lang="en-US" altLang="zh-CN" dirty="0"/>
          </a:p>
          <a:p>
            <a:pPr>
              <a:lnSpc>
                <a:spcPct val="150000"/>
              </a:lnSpc>
            </a:pPr>
            <a:r>
              <a:rPr lang="zh-CN" altLang="en-US" dirty="0"/>
              <a:t>按模板，电子版提交至邮箱 </a:t>
            </a:r>
            <a:r>
              <a:rPr lang="en-US" altLang="zh-CN" dirty="0">
                <a:hlinkClick r:id="rId2"/>
              </a:rPr>
              <a:t>wangpinmei@zju.edu.cn</a:t>
            </a:r>
            <a:endParaRPr lang="en-US" altLang="zh-CN" dirty="0"/>
          </a:p>
          <a:p>
            <a:pPr>
              <a:lnSpc>
                <a:spcPct val="150000"/>
              </a:lnSpc>
            </a:pPr>
            <a:r>
              <a:rPr lang="zh-CN" altLang="en-US" dirty="0"/>
              <a:t>每个实验报告满分</a:t>
            </a:r>
            <a:r>
              <a:rPr lang="en-US" altLang="zh-CN" dirty="0"/>
              <a:t>5</a:t>
            </a:r>
            <a:r>
              <a:rPr lang="zh-CN" altLang="en-US" dirty="0"/>
              <a:t>分</a:t>
            </a:r>
            <a:endParaRPr lang="en-US" altLang="zh-CN" dirty="0"/>
          </a:p>
          <a:p>
            <a:pPr marL="285750" indent="-285750">
              <a:lnSpc>
                <a:spcPct val="150000"/>
              </a:lnSpc>
              <a:buFont typeface="Wingdings" panose="05000000000000000000" pitchFamily="2" charset="2"/>
              <a:buChar char="Ø"/>
            </a:pPr>
            <a:r>
              <a:rPr lang="zh-CN" altLang="en-US" dirty="0"/>
              <a:t>秋学期实验安排</a:t>
            </a:r>
          </a:p>
        </p:txBody>
      </p:sp>
      <p:pic>
        <p:nvPicPr>
          <p:cNvPr id="7" name="图片 6">
            <a:extLst>
              <a:ext uri="{FF2B5EF4-FFF2-40B4-BE49-F238E27FC236}">
                <a16:creationId xmlns:a16="http://schemas.microsoft.com/office/drawing/2014/main" id="{A79016CD-37AF-471D-AA6F-95AE4945F17A}"/>
              </a:ext>
            </a:extLst>
          </p:cNvPr>
          <p:cNvPicPr>
            <a:picLocks noChangeAspect="1"/>
          </p:cNvPicPr>
          <p:nvPr/>
        </p:nvPicPr>
        <p:blipFill>
          <a:blip r:embed="rId3"/>
          <a:stretch>
            <a:fillRect/>
          </a:stretch>
        </p:blipFill>
        <p:spPr>
          <a:xfrm>
            <a:off x="6095999" y="0"/>
            <a:ext cx="5700713" cy="6858000"/>
          </a:xfrm>
          <a:prstGeom prst="rect">
            <a:avLst/>
          </a:prstGeom>
        </p:spPr>
      </p:pic>
    </p:spTree>
    <p:extLst>
      <p:ext uri="{BB962C8B-B14F-4D97-AF65-F5344CB8AC3E}">
        <p14:creationId xmlns:p14="http://schemas.microsoft.com/office/powerpoint/2010/main" val="1658272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73444EB-51B1-4D7D-A65F-1548D2E5D3F5}"/>
              </a:ext>
            </a:extLst>
          </p:cNvPr>
          <p:cNvSpPr txBox="1"/>
          <p:nvPr/>
        </p:nvSpPr>
        <p:spPr>
          <a:xfrm>
            <a:off x="810912" y="309894"/>
            <a:ext cx="10032142" cy="1384995"/>
          </a:xfrm>
          <a:prstGeom prst="rect">
            <a:avLst/>
          </a:prstGeom>
          <a:noFill/>
        </p:spPr>
        <p:txBody>
          <a:bodyPr wrap="square">
            <a:spAutoFit/>
          </a:bodyPr>
          <a:lstStyle/>
          <a:p>
            <a:pPr>
              <a:spcBef>
                <a:spcPts val="1200"/>
              </a:spcBef>
              <a:spcAft>
                <a:spcPts val="1200"/>
              </a:spcAft>
            </a:pPr>
            <a:r>
              <a:rPr lang="en-US" altLang="zh-CN" sz="3200" b="1" dirty="0">
                <a:effectLst/>
                <a:latin typeface="Times New Roman" panose="02020603050405020304" pitchFamily="18" charset="0"/>
                <a:ea typeface="宋体" panose="02010600030101010101" pitchFamily="2" charset="-122"/>
                <a:cs typeface="宋体" panose="02010600030101010101" pitchFamily="2" charset="-122"/>
              </a:rPr>
              <a:t>EXPERIMENT 1: Observing microorganism</a:t>
            </a:r>
          </a:p>
          <a:p>
            <a:pPr>
              <a:spcBef>
                <a:spcPts val="1200"/>
              </a:spcBef>
              <a:spcAft>
                <a:spcPts val="1200"/>
              </a:spcAft>
            </a:pPr>
            <a:r>
              <a:rPr lang="zh-CN" altLang="en-US" sz="3200" b="1" dirty="0">
                <a:latin typeface="Times New Roman" panose="02020603050405020304" pitchFamily="18" charset="0"/>
                <a:ea typeface="宋体" panose="02010600030101010101" pitchFamily="2" charset="-122"/>
                <a:cs typeface="宋体" panose="02010600030101010101" pitchFamily="2" charset="-122"/>
              </a:rPr>
              <a:t>                                微生物的观察 </a:t>
            </a:r>
            <a:endParaRPr lang="zh-CN" altLang="zh-CN" sz="3200" b="1"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a:extLst>
              <a:ext uri="{FF2B5EF4-FFF2-40B4-BE49-F238E27FC236}">
                <a16:creationId xmlns:a16="http://schemas.microsoft.com/office/drawing/2014/main" id="{4B129E85-60AD-4B86-886D-D7AB0D009129}"/>
              </a:ext>
            </a:extLst>
          </p:cNvPr>
          <p:cNvSpPr txBox="1"/>
          <p:nvPr/>
        </p:nvSpPr>
        <p:spPr>
          <a:xfrm>
            <a:off x="729421" y="1791730"/>
            <a:ext cx="10733158" cy="5632311"/>
          </a:xfrm>
          <a:prstGeom prst="rect">
            <a:avLst/>
          </a:prstGeom>
          <a:noFill/>
        </p:spPr>
        <p:txBody>
          <a:bodyPr wrap="square" rtlCol="0">
            <a:spAutoFit/>
          </a:bodyPr>
          <a:lstStyle/>
          <a:p>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INTRODUCTION</a:t>
            </a:r>
            <a:r>
              <a:rPr lang="zh-CN" alt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pPr>
            <a:r>
              <a:rPr lang="en-US" altLang="zh-CN" sz="1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Microorganisms</a:t>
            </a:r>
            <a:r>
              <a:rPr lang="en-US" altLang="zh-CN"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grow tremendously fast when supplied with an abundance of nutrients. Different types of microorganism will produce different-looking </a:t>
            </a:r>
            <a:r>
              <a:rPr lang="en-US" altLang="zh-CN" sz="1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colonies</a:t>
            </a:r>
            <a:r>
              <a:rPr lang="en-US" altLang="zh-CN" sz="1800" b="1" kern="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菌落</a:t>
            </a:r>
            <a:r>
              <a:rPr lang="en-US" altLang="zh-CN" sz="1800" b="1" kern="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some colonies may be colored, some colonies are circular in shape, and others are irregular. </a:t>
            </a:r>
            <a:r>
              <a:rPr lang="en-US" altLang="zh-CN" sz="1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 characteristics of a colony (shape, size, pigmentation, etc.)</a:t>
            </a:r>
            <a:r>
              <a:rPr lang="en-US" altLang="zh-CN"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are termed the colony morphology. Colony morphology is a way scientists can identify microorganisms.</a:t>
            </a:r>
          </a:p>
          <a:p>
            <a:pPr algn="just">
              <a:lnSpc>
                <a:spcPct val="150000"/>
              </a:lnSpc>
            </a:pPr>
            <a:r>
              <a:rPr lang="en-US" altLang="zh-CN" sz="1800" dirty="0">
                <a:solidFill>
                  <a:srgbClr val="000000"/>
                </a:solidFill>
                <a:effectLst/>
                <a:latin typeface="Times New Roman" panose="02020603050405020304" pitchFamily="18" charset="0"/>
                <a:ea typeface="宋体" panose="02010600030101010101" pitchFamily="2" charset="-122"/>
              </a:rPr>
              <a:t>       Although bacterial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细菌的</a:t>
            </a:r>
            <a:r>
              <a:rPr lang="en-US" altLang="zh-CN" sz="1800" dirty="0">
                <a:solidFill>
                  <a:srgbClr val="000000"/>
                </a:solidFill>
                <a:effectLst/>
                <a:latin typeface="Times New Roman" panose="02020603050405020304" pitchFamily="18" charset="0"/>
                <a:ea typeface="宋体" panose="02010600030101010101" pitchFamily="2" charset="-122"/>
              </a:rPr>
              <a:t>) and fungal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真菌的</a:t>
            </a:r>
            <a:r>
              <a:rPr lang="en-US" altLang="zh-CN" sz="1800" dirty="0">
                <a:solidFill>
                  <a:srgbClr val="000000"/>
                </a:solidFill>
                <a:effectLst/>
                <a:latin typeface="Times New Roman" panose="02020603050405020304" pitchFamily="18" charset="0"/>
                <a:ea typeface="宋体" panose="02010600030101010101" pitchFamily="2" charset="-122"/>
              </a:rPr>
              <a:t>) colonies have many characteristics and some can be rare, there are a few basic characteristics that you can identify for all colonies, such as </a:t>
            </a:r>
            <a:r>
              <a:rPr lang="en-US" altLang="zh-CN" sz="1800" dirty="0">
                <a:solidFill>
                  <a:srgbClr val="FF0000"/>
                </a:solidFill>
                <a:effectLst/>
                <a:latin typeface="Times New Roman" panose="02020603050405020304" pitchFamily="18" charset="0"/>
                <a:ea typeface="宋体" panose="02010600030101010101" pitchFamily="2" charset="-122"/>
              </a:rPr>
              <a:t>form, elevation, margin, surface, opacity, and color </a:t>
            </a:r>
            <a:r>
              <a:rPr lang="en-US" altLang="zh-CN" sz="1800" dirty="0">
                <a:solidFill>
                  <a:srgbClr val="000000"/>
                </a:solidFill>
                <a:effectLst/>
                <a:latin typeface="Times New Roman" panose="02020603050405020304" pitchFamily="18" charset="0"/>
                <a:ea typeface="宋体" panose="02010600030101010101" pitchFamily="2" charset="-122"/>
              </a:rPr>
              <a:t>(Appendix A).</a:t>
            </a:r>
          </a:p>
          <a:p>
            <a:pPr algn="just">
              <a:lnSpc>
                <a:spcPct val="150000"/>
              </a:lnSpc>
            </a:pPr>
            <a:r>
              <a:rPr lang="en-US" altLang="zh-CN" sz="1800" dirty="0">
                <a:solidFill>
                  <a:srgbClr val="000000"/>
                </a:solidFill>
                <a:effectLst/>
                <a:latin typeface="Times New Roman" panose="02020603050405020304" pitchFamily="18" charset="0"/>
                <a:ea typeface="宋体" panose="02010600030101010101" pitchFamily="2" charset="-122"/>
              </a:rPr>
              <a:t>       For </a:t>
            </a:r>
            <a:r>
              <a:rPr lang="en-US" altLang="zh-CN" sz="1800" dirty="0">
                <a:solidFill>
                  <a:srgbClr val="FF0000"/>
                </a:solidFill>
                <a:effectLst/>
                <a:latin typeface="Times New Roman" panose="02020603050405020304" pitchFamily="18" charset="0"/>
                <a:ea typeface="宋体" panose="02010600030101010101" pitchFamily="2" charset="-122"/>
              </a:rPr>
              <a:t>bacterium</a:t>
            </a:r>
            <a:r>
              <a:rPr lang="en-US" altLang="zh-CN" dirty="0">
                <a:solidFill>
                  <a:srgbClr val="000000"/>
                </a:solidFill>
                <a:latin typeface="Times New Roman" panose="02020603050405020304" pitchFamily="18" charset="0"/>
                <a:ea typeface="宋体" panose="02010600030101010101" pitchFamily="2" charset="-122"/>
              </a:rPr>
              <a:t>/</a:t>
            </a:r>
            <a:r>
              <a:rPr lang="en-US" altLang="zh-CN" sz="1800" dirty="0">
                <a:solidFill>
                  <a:srgbClr val="FF0000"/>
                </a:solidFill>
                <a:effectLst/>
                <a:latin typeface="Times New Roman" panose="02020603050405020304" pitchFamily="18" charset="0"/>
                <a:ea typeface="宋体" panose="02010600030101010101" pitchFamily="2" charset="-122"/>
              </a:rPr>
              <a:t>bacteria</a:t>
            </a:r>
            <a:r>
              <a:rPr lang="en-US" altLang="zh-CN" sz="1800" dirty="0">
                <a:solidFill>
                  <a:srgbClr val="000000"/>
                </a:solidFill>
                <a:effectLst/>
                <a:latin typeface="Times New Roman" panose="02020603050405020304" pitchFamily="18" charset="0"/>
                <a:ea typeface="宋体" panose="02010600030101010101" pitchFamily="2" charset="-122"/>
              </a:rPr>
              <a:t>, </a:t>
            </a:r>
            <a:r>
              <a:rPr lang="en-US" altLang="zh-CN" sz="1800" dirty="0">
                <a:solidFill>
                  <a:srgbClr val="000000"/>
                </a:solidFill>
                <a:effectLst/>
                <a:latin typeface="Times New Roman" panose="02020603050405020304" pitchFamily="18" charset="0"/>
                <a:ea typeface="Times New Roman" panose="02020603050405020304" pitchFamily="18" charset="0"/>
              </a:rPr>
              <a:t>each distinct circular colony should represent an individual bacterial cell or group that has divided repeatedly. Most bacterial colonies appear white, cream, or yellow in color, and fairly circular in shape.</a:t>
            </a:r>
          </a:p>
          <a:p>
            <a:pPr algn="just">
              <a:lnSpc>
                <a:spcPct val="150000"/>
              </a:lnSpc>
            </a:pP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Fungus/fungi</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Times New Roman" panose="02020603050405020304" pitchFamily="18" charset="0"/>
              </a:rPr>
              <a:t>Yeast </a:t>
            </a:r>
            <a:r>
              <a:rPr lang="en-US" altLang="zh-CN" dirty="0">
                <a:solidFill>
                  <a:srgbClr val="000000"/>
                </a:solidFill>
                <a:latin typeface="Times New Roman" panose="02020603050405020304" pitchFamily="18" charset="0"/>
                <a:ea typeface="Times New Roman" panose="02020603050405020304" pitchFamily="18" charset="0"/>
              </a:rPr>
              <a:t>(</a:t>
            </a:r>
            <a:r>
              <a:rPr lang="zh-CN" altLang="en-US" dirty="0">
                <a:solidFill>
                  <a:srgbClr val="000000"/>
                </a:solidFill>
                <a:latin typeface="Times New Roman" panose="02020603050405020304" pitchFamily="18" charset="0"/>
                <a:ea typeface="Times New Roman" panose="02020603050405020304" pitchFamily="18" charset="0"/>
              </a:rPr>
              <a:t>酵母</a:t>
            </a:r>
            <a:r>
              <a:rPr lang="en-US" altLang="zh-CN" dirty="0">
                <a:solidFill>
                  <a:srgbClr val="000000"/>
                </a:solidFill>
                <a:latin typeface="Times New Roman" panose="02020603050405020304" pitchFamily="18" charset="0"/>
                <a:ea typeface="Times New Roman" panose="02020603050405020304" pitchFamily="18" charset="0"/>
              </a:rPr>
              <a:t>)</a:t>
            </a:r>
            <a:r>
              <a:rPr lang="zh-CN" altLang="en-US" dirty="0">
                <a:solidFill>
                  <a:srgbClr val="000000"/>
                </a:solidFill>
                <a:latin typeface="Times New Roman" panose="02020603050405020304" pitchFamily="18" charset="0"/>
                <a:ea typeface="Times New Roman" panose="02020603050405020304" pitchFamily="18" charset="0"/>
              </a:rPr>
              <a:t> </a:t>
            </a:r>
            <a:r>
              <a:rPr lang="en-US" altLang="zh-CN" sz="1800" dirty="0">
                <a:solidFill>
                  <a:srgbClr val="000000"/>
                </a:solidFill>
                <a:effectLst/>
                <a:latin typeface="Times New Roman" panose="02020603050405020304" pitchFamily="18" charset="0"/>
                <a:ea typeface="Times New Roman" panose="02020603050405020304" pitchFamily="18" charset="0"/>
              </a:rPr>
              <a:t>colonies generally look similar to bacterial colonies. Molds are actually fungi, and they often appear whitish grey, with fuzzy edges.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3982595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0DC0740-C637-49FE-9536-284869D2E8F9}"/>
              </a:ext>
            </a:extLst>
          </p:cNvPr>
          <p:cNvPicPr>
            <a:picLocks noChangeAspect="1"/>
          </p:cNvPicPr>
          <p:nvPr/>
        </p:nvPicPr>
        <p:blipFill>
          <a:blip r:embed="rId2"/>
          <a:stretch>
            <a:fillRect/>
          </a:stretch>
        </p:blipFill>
        <p:spPr>
          <a:xfrm>
            <a:off x="825328" y="822495"/>
            <a:ext cx="10726126" cy="5269385"/>
          </a:xfrm>
          <a:prstGeom prst="rect">
            <a:avLst/>
          </a:prstGeom>
        </p:spPr>
      </p:pic>
    </p:spTree>
    <p:extLst>
      <p:ext uri="{BB962C8B-B14F-4D97-AF65-F5344CB8AC3E}">
        <p14:creationId xmlns:p14="http://schemas.microsoft.com/office/powerpoint/2010/main" val="3605355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7E36651-7E86-4027-B871-D1FA3B6A71D4}"/>
              </a:ext>
            </a:extLst>
          </p:cNvPr>
          <p:cNvPicPr>
            <a:picLocks noChangeAspect="1"/>
          </p:cNvPicPr>
          <p:nvPr/>
        </p:nvPicPr>
        <p:blipFill>
          <a:blip r:embed="rId2"/>
          <a:stretch>
            <a:fillRect/>
          </a:stretch>
        </p:blipFill>
        <p:spPr>
          <a:xfrm>
            <a:off x="2405062" y="823912"/>
            <a:ext cx="7381875" cy="5210175"/>
          </a:xfrm>
          <a:prstGeom prst="rect">
            <a:avLst/>
          </a:prstGeom>
        </p:spPr>
      </p:pic>
      <p:sp>
        <p:nvSpPr>
          <p:cNvPr id="6" name="文本框 5">
            <a:extLst>
              <a:ext uri="{FF2B5EF4-FFF2-40B4-BE49-F238E27FC236}">
                <a16:creationId xmlns:a16="http://schemas.microsoft.com/office/drawing/2014/main" id="{65FE1309-3A66-4785-99F5-0BBBA25B5C2D}"/>
              </a:ext>
            </a:extLst>
          </p:cNvPr>
          <p:cNvSpPr txBox="1"/>
          <p:nvPr/>
        </p:nvSpPr>
        <p:spPr>
          <a:xfrm>
            <a:off x="2625811" y="889687"/>
            <a:ext cx="646331" cy="369332"/>
          </a:xfrm>
          <a:prstGeom prst="rect">
            <a:avLst/>
          </a:prstGeom>
          <a:noFill/>
        </p:spPr>
        <p:txBody>
          <a:bodyPr wrap="none" rtlCol="0">
            <a:spAutoFit/>
          </a:bodyPr>
          <a:lstStyle/>
          <a:p>
            <a:r>
              <a:rPr lang="zh-CN" altLang="en-US" dirty="0"/>
              <a:t>形状</a:t>
            </a:r>
          </a:p>
        </p:txBody>
      </p:sp>
      <p:sp>
        <p:nvSpPr>
          <p:cNvPr id="8" name="文本框 7">
            <a:extLst>
              <a:ext uri="{FF2B5EF4-FFF2-40B4-BE49-F238E27FC236}">
                <a16:creationId xmlns:a16="http://schemas.microsoft.com/office/drawing/2014/main" id="{0A32A9C4-E606-4F49-9B70-84CCCFAEDD14}"/>
              </a:ext>
            </a:extLst>
          </p:cNvPr>
          <p:cNvSpPr txBox="1"/>
          <p:nvPr/>
        </p:nvSpPr>
        <p:spPr>
          <a:xfrm>
            <a:off x="2625811" y="3128940"/>
            <a:ext cx="646331" cy="369332"/>
          </a:xfrm>
          <a:prstGeom prst="rect">
            <a:avLst/>
          </a:prstGeom>
          <a:noFill/>
        </p:spPr>
        <p:txBody>
          <a:bodyPr wrap="none" rtlCol="0">
            <a:spAutoFit/>
          </a:bodyPr>
          <a:lstStyle/>
          <a:p>
            <a:r>
              <a:rPr lang="zh-CN" altLang="en-US" dirty="0"/>
              <a:t>高度</a:t>
            </a:r>
          </a:p>
        </p:txBody>
      </p:sp>
      <p:sp>
        <p:nvSpPr>
          <p:cNvPr id="11" name="文本框 10">
            <a:extLst>
              <a:ext uri="{FF2B5EF4-FFF2-40B4-BE49-F238E27FC236}">
                <a16:creationId xmlns:a16="http://schemas.microsoft.com/office/drawing/2014/main" id="{F92717C4-D2C6-423E-845D-B052E1C83944}"/>
              </a:ext>
            </a:extLst>
          </p:cNvPr>
          <p:cNvSpPr txBox="1"/>
          <p:nvPr/>
        </p:nvSpPr>
        <p:spPr>
          <a:xfrm>
            <a:off x="2625810" y="4212181"/>
            <a:ext cx="646331" cy="369332"/>
          </a:xfrm>
          <a:prstGeom prst="rect">
            <a:avLst/>
          </a:prstGeom>
          <a:noFill/>
        </p:spPr>
        <p:txBody>
          <a:bodyPr wrap="none" rtlCol="0">
            <a:spAutoFit/>
          </a:bodyPr>
          <a:lstStyle/>
          <a:p>
            <a:r>
              <a:rPr lang="zh-CN" altLang="en-US" dirty="0"/>
              <a:t>边缘</a:t>
            </a:r>
          </a:p>
        </p:txBody>
      </p:sp>
      <p:sp>
        <p:nvSpPr>
          <p:cNvPr id="12" name="文本框 11">
            <a:extLst>
              <a:ext uri="{FF2B5EF4-FFF2-40B4-BE49-F238E27FC236}">
                <a16:creationId xmlns:a16="http://schemas.microsoft.com/office/drawing/2014/main" id="{CE81BB46-A88D-4A77-9427-1CD004B3BDE9}"/>
              </a:ext>
            </a:extLst>
          </p:cNvPr>
          <p:cNvSpPr txBox="1"/>
          <p:nvPr/>
        </p:nvSpPr>
        <p:spPr>
          <a:xfrm>
            <a:off x="3768811" y="4058292"/>
            <a:ext cx="5246949" cy="307777"/>
          </a:xfrm>
          <a:prstGeom prst="rect">
            <a:avLst/>
          </a:prstGeom>
          <a:noFill/>
        </p:spPr>
        <p:txBody>
          <a:bodyPr wrap="none" rtlCol="0">
            <a:spAutoFit/>
          </a:bodyPr>
          <a:lstStyle/>
          <a:p>
            <a:r>
              <a:rPr lang="zh-CN" altLang="en-US" sz="1400" dirty="0">
                <a:solidFill>
                  <a:srgbClr val="0070C0"/>
                </a:solidFill>
              </a:rPr>
              <a:t>隆起             凸起        扁平      中间凸起           环形；火山口状</a:t>
            </a:r>
          </a:p>
        </p:txBody>
      </p:sp>
      <p:sp>
        <p:nvSpPr>
          <p:cNvPr id="13" name="文本框 12">
            <a:extLst>
              <a:ext uri="{FF2B5EF4-FFF2-40B4-BE49-F238E27FC236}">
                <a16:creationId xmlns:a16="http://schemas.microsoft.com/office/drawing/2014/main" id="{42896733-E496-4640-A3D1-34165B494EBA}"/>
              </a:ext>
            </a:extLst>
          </p:cNvPr>
          <p:cNvSpPr txBox="1"/>
          <p:nvPr/>
        </p:nvSpPr>
        <p:spPr>
          <a:xfrm>
            <a:off x="3472524" y="5880198"/>
            <a:ext cx="5607625" cy="307777"/>
          </a:xfrm>
          <a:prstGeom prst="rect">
            <a:avLst/>
          </a:prstGeom>
          <a:noFill/>
        </p:spPr>
        <p:txBody>
          <a:bodyPr wrap="none" rtlCol="0">
            <a:spAutoFit/>
          </a:bodyPr>
          <a:lstStyle/>
          <a:p>
            <a:r>
              <a:rPr lang="zh-CN" altLang="en-US" sz="1400" dirty="0">
                <a:solidFill>
                  <a:srgbClr val="0070C0"/>
                </a:solidFill>
              </a:rPr>
              <a:t>全缘            波状               丝状               卷曲             瓣状；裂片状</a:t>
            </a:r>
          </a:p>
        </p:txBody>
      </p:sp>
    </p:spTree>
    <p:extLst>
      <p:ext uri="{BB962C8B-B14F-4D97-AF65-F5344CB8AC3E}">
        <p14:creationId xmlns:p14="http://schemas.microsoft.com/office/powerpoint/2010/main" val="2218421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33D3626-885B-456B-B9A2-B26DD04B166B}"/>
              </a:ext>
            </a:extLst>
          </p:cNvPr>
          <p:cNvSpPr txBox="1"/>
          <p:nvPr/>
        </p:nvSpPr>
        <p:spPr>
          <a:xfrm>
            <a:off x="1322173" y="1340708"/>
            <a:ext cx="2031325" cy="646331"/>
          </a:xfrm>
          <a:prstGeom prst="rect">
            <a:avLst/>
          </a:prstGeom>
          <a:noFill/>
        </p:spPr>
        <p:txBody>
          <a:bodyPr wrap="none" rtlCol="0">
            <a:spAutoFit/>
          </a:bodyPr>
          <a:lstStyle/>
          <a:p>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OBJECTIVES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p>
        </p:txBody>
      </p:sp>
      <p:sp>
        <p:nvSpPr>
          <p:cNvPr id="7" name="文本框 6">
            <a:extLst>
              <a:ext uri="{FF2B5EF4-FFF2-40B4-BE49-F238E27FC236}">
                <a16:creationId xmlns:a16="http://schemas.microsoft.com/office/drawing/2014/main" id="{259CAC3C-3803-482F-86EC-1797B061AE7F}"/>
              </a:ext>
            </a:extLst>
          </p:cNvPr>
          <p:cNvSpPr txBox="1"/>
          <p:nvPr/>
        </p:nvSpPr>
        <p:spPr>
          <a:xfrm>
            <a:off x="907102" y="1893992"/>
            <a:ext cx="9708748" cy="2031325"/>
          </a:xfrm>
          <a:prstGeom prst="rect">
            <a:avLst/>
          </a:prstGeom>
          <a:noFill/>
        </p:spPr>
        <p:txBody>
          <a:bodyPr wrap="none" rtlCol="0">
            <a:spAutoFit/>
          </a:bodyPr>
          <a:lstStyle/>
          <a:p>
            <a:pPr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the end of this experiment, you should:</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50000"/>
              </a:lnSpc>
              <a:buFont typeface="+mj-lt"/>
              <a:buAutoNum type="arabicPeriod"/>
            </a:pPr>
            <a:r>
              <a:rPr lang="en-US" altLang="zh-CN" sz="1800" dirty="0">
                <a:solidFill>
                  <a:srgbClr val="FF0000"/>
                </a:solidFill>
                <a:effectLst/>
                <a:latin typeface="Times New Roman" panose="02020603050405020304" pitchFamily="18" charset="0"/>
                <a:ea typeface="宋体" panose="02010600030101010101" pitchFamily="2" charset="-122"/>
              </a:rPr>
              <a:t>Be able to describe of microorganism on plates  </a:t>
            </a:r>
            <a:r>
              <a:rPr lang="zh-CN" altLang="en-US" sz="1800" dirty="0">
                <a:solidFill>
                  <a:srgbClr val="FF0000"/>
                </a:solidFill>
                <a:effectLst/>
                <a:latin typeface="Times New Roman" panose="02020603050405020304" pitchFamily="18" charset="0"/>
                <a:ea typeface="宋体" panose="02010600030101010101" pitchFamily="2" charset="-122"/>
              </a:rPr>
              <a:t>（</a:t>
            </a:r>
            <a:r>
              <a:rPr lang="en-US" altLang="zh-CN" sz="1800" dirty="0">
                <a:solidFill>
                  <a:srgbClr val="FF0000"/>
                </a:solidFill>
                <a:effectLst/>
                <a:latin typeface="Times New Roman" panose="02020603050405020304" pitchFamily="18" charset="0"/>
                <a:ea typeface="宋体" panose="02010600030101010101" pitchFamily="2" charset="-122"/>
              </a:rPr>
              <a:t>Exp</a:t>
            </a:r>
            <a:r>
              <a:rPr lang="en-US" altLang="zh-CN" dirty="0">
                <a:solidFill>
                  <a:srgbClr val="FF0000"/>
                </a:solidFill>
                <a:latin typeface="Times New Roman" panose="02020603050405020304" pitchFamily="18" charset="0"/>
                <a:ea typeface="宋体" panose="02010600030101010101" pitchFamily="2" charset="-122"/>
              </a:rPr>
              <a:t>.1A</a:t>
            </a:r>
            <a:r>
              <a:rPr lang="zh-CN" altLang="en-US" sz="1800" dirty="0">
                <a:solidFill>
                  <a:srgbClr val="FF0000"/>
                </a:solidFill>
                <a:effectLst/>
                <a:latin typeface="Times New Roman" panose="02020603050405020304" pitchFamily="18" charset="0"/>
                <a:ea typeface="宋体" panose="02010600030101010101" pitchFamily="2" charset="-122"/>
              </a:rPr>
              <a:t>）</a:t>
            </a:r>
            <a:endParaRPr lang="zh-CN" altLang="zh-CN" sz="1800" dirty="0">
              <a:solidFill>
                <a:srgbClr val="FF0000"/>
              </a:solidFill>
              <a:effectLst/>
              <a:latin typeface="Times New Roman" panose="02020603050405020304" pitchFamily="18" charset="0"/>
              <a:ea typeface="宋体" panose="02010600030101010101" pitchFamily="2" charset="-122"/>
            </a:endParaRPr>
          </a:p>
          <a:p>
            <a:pPr marL="342900" lvl="0" indent="-342900" algn="just">
              <a:lnSpc>
                <a:spcPct val="150000"/>
              </a:lnSpc>
              <a:buFont typeface="+mj-lt"/>
              <a:buAutoNum type="arabicPeriod"/>
            </a:pPr>
            <a:r>
              <a:rPr lang="en-US" altLang="zh-CN" sz="1800" dirty="0">
                <a:solidFill>
                  <a:srgbClr val="000000"/>
                </a:solidFill>
                <a:effectLst/>
                <a:latin typeface="Times New Roman" panose="02020603050405020304" pitchFamily="18" charset="0"/>
                <a:ea typeface="宋体" panose="02010600030101010101" pitchFamily="2" charset="-122"/>
              </a:rPr>
              <a:t>Be familiar with the procedures for setting up an optical microscope for bright-field microscopy</a:t>
            </a:r>
            <a:endParaRPr lang="zh-CN" altLang="zh-CN" sz="1800" dirty="0">
              <a:effectLst/>
              <a:latin typeface="Times New Roman" panose="02020603050405020304" pitchFamily="18" charset="0"/>
              <a:ea typeface="宋体" panose="02010600030101010101" pitchFamily="2" charset="-122"/>
            </a:endParaRPr>
          </a:p>
          <a:p>
            <a:pPr marL="342900" lvl="0" indent="-342900" algn="just">
              <a:lnSpc>
                <a:spcPct val="150000"/>
              </a:lnSpc>
              <a:buFont typeface="+mj-lt"/>
              <a:buAutoNum type="arabicPeriod"/>
            </a:pPr>
            <a:r>
              <a:rPr lang="en-US" altLang="zh-CN" sz="1800" dirty="0">
                <a:solidFill>
                  <a:srgbClr val="000000"/>
                </a:solidFill>
                <a:effectLst/>
                <a:latin typeface="Times New Roman" panose="02020603050405020304" pitchFamily="18" charset="0"/>
                <a:ea typeface="宋体" panose="02010600030101010101" pitchFamily="2" charset="-122"/>
              </a:rPr>
              <a:t>Have a good working knowledge of the examination of microorganisms by bright-field microscopy</a:t>
            </a:r>
            <a:endParaRPr lang="zh-CN" altLang="zh-CN" sz="1800" dirty="0">
              <a:effectLst/>
              <a:latin typeface="Times New Roman" panose="02020603050405020304" pitchFamily="18" charset="0"/>
              <a:ea typeface="宋体" panose="02010600030101010101" pitchFamily="2" charset="-122"/>
            </a:endParaRPr>
          </a:p>
          <a:p>
            <a:endParaRPr lang="zh-CN" altLang="en-US" dirty="0"/>
          </a:p>
        </p:txBody>
      </p:sp>
    </p:spTree>
    <p:extLst>
      <p:ext uri="{BB962C8B-B14F-4D97-AF65-F5344CB8AC3E}">
        <p14:creationId xmlns:p14="http://schemas.microsoft.com/office/powerpoint/2010/main" val="830386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58E0EE3-0EAF-4174-BADD-0F0BE767ED6B}"/>
              </a:ext>
            </a:extLst>
          </p:cNvPr>
          <p:cNvSpPr txBox="1"/>
          <p:nvPr/>
        </p:nvSpPr>
        <p:spPr>
          <a:xfrm>
            <a:off x="3801247" y="1648027"/>
            <a:ext cx="6094970" cy="3784369"/>
          </a:xfrm>
          <a:prstGeom prst="rect">
            <a:avLst/>
          </a:prstGeom>
          <a:noFill/>
        </p:spPr>
        <p:txBody>
          <a:bodyPr wrap="square">
            <a:spAutoFit/>
          </a:bodyPr>
          <a:lstStyle/>
          <a:p>
            <a:pPr algn="just">
              <a:lnSpc>
                <a:spcPct val="150000"/>
              </a:lnSpc>
              <a:tabLst>
                <a:tab pos="270510" algn="l"/>
              </a:tabLst>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Plates of microorganisms </a:t>
            </a:r>
            <a:r>
              <a:rPr lang="zh-CN"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（微生物平板）</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 </a:t>
            </a:r>
            <a:r>
              <a:rPr lang="en-US" altLang="zh-CN" sz="18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Escherichia coli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（大肠杆菌）</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 </a:t>
            </a:r>
            <a:r>
              <a:rPr lang="en-US" altLang="zh-CN" sz="18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Bacillus subtilis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（枯草芽孢杆菌）</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 </a:t>
            </a:r>
            <a:r>
              <a:rPr lang="en-US" altLang="zh-CN" sz="18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Staphylococcus epidermidis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（表皮葡萄球菌）</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r>
              <a:rPr lang="en-US" altLang="zh-CN" sz="18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Staphylococcus aureus</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（金黄色葡萄球菌）</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  </a:t>
            </a:r>
            <a:r>
              <a:rPr lang="en-US" altLang="zh-CN" sz="18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Pseudomonas aeruginosa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（铜绿假单胞菌）</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  </a:t>
            </a:r>
            <a:r>
              <a:rPr lang="en-US" altLang="zh-CN" sz="1800" i="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Actinobacillus</a:t>
            </a:r>
            <a:r>
              <a:rPr lang="en-US" altLang="zh-CN" sz="18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（放线菌）</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Saccharomyces cerevisiae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（酿酒酵母）</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  </a:t>
            </a:r>
            <a:r>
              <a:rPr lang="en-US" altLang="zh-CN" sz="1800" i="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Aspergillus</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（曲霉）</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6" name="左大括号 5">
            <a:extLst>
              <a:ext uri="{FF2B5EF4-FFF2-40B4-BE49-F238E27FC236}">
                <a16:creationId xmlns:a16="http://schemas.microsoft.com/office/drawing/2014/main" id="{9E1CF3A3-2FD9-4DDD-91D0-C2818063DFA3}"/>
              </a:ext>
            </a:extLst>
          </p:cNvPr>
          <p:cNvSpPr/>
          <p:nvPr/>
        </p:nvSpPr>
        <p:spPr>
          <a:xfrm>
            <a:off x="4170406" y="2273643"/>
            <a:ext cx="135924" cy="2193324"/>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左大括号 6">
            <a:extLst>
              <a:ext uri="{FF2B5EF4-FFF2-40B4-BE49-F238E27FC236}">
                <a16:creationId xmlns:a16="http://schemas.microsoft.com/office/drawing/2014/main" id="{31C4FE5D-AB42-441F-8B05-531A15CF91CE}"/>
              </a:ext>
            </a:extLst>
          </p:cNvPr>
          <p:cNvSpPr/>
          <p:nvPr/>
        </p:nvSpPr>
        <p:spPr>
          <a:xfrm>
            <a:off x="4170406" y="4800600"/>
            <a:ext cx="135924" cy="473676"/>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EA5CAE83-9747-4361-A3BA-054EF6687583}"/>
              </a:ext>
            </a:extLst>
          </p:cNvPr>
          <p:cNvSpPr txBox="1"/>
          <p:nvPr/>
        </p:nvSpPr>
        <p:spPr>
          <a:xfrm>
            <a:off x="1638714" y="2887702"/>
            <a:ext cx="2365648" cy="646331"/>
          </a:xfrm>
          <a:prstGeom prst="rect">
            <a:avLst/>
          </a:prstGeom>
          <a:noFill/>
        </p:spPr>
        <p:txBody>
          <a:bodyPr wrap="none" rtlCol="0">
            <a:spAutoFit/>
          </a:bodyPr>
          <a:lstStyle/>
          <a:p>
            <a:r>
              <a:rPr lang="zh-CN" altLang="en-US" dirty="0"/>
              <a:t>细菌（原核）</a:t>
            </a:r>
            <a:endParaRPr lang="en-US" altLang="zh-CN" dirty="0"/>
          </a:p>
          <a:p>
            <a:r>
              <a:rPr lang="en-US" altLang="zh-CN" dirty="0"/>
              <a:t>Bacterium/bacteria</a:t>
            </a:r>
            <a:endParaRPr lang="zh-CN" altLang="en-US" dirty="0"/>
          </a:p>
        </p:txBody>
      </p:sp>
      <p:sp>
        <p:nvSpPr>
          <p:cNvPr id="9" name="文本框 8">
            <a:extLst>
              <a:ext uri="{FF2B5EF4-FFF2-40B4-BE49-F238E27FC236}">
                <a16:creationId xmlns:a16="http://schemas.microsoft.com/office/drawing/2014/main" id="{AF4E088D-01C9-4A68-BCEB-0CFA05594511}"/>
              </a:ext>
            </a:extLst>
          </p:cNvPr>
          <p:cNvSpPr txBox="1"/>
          <p:nvPr/>
        </p:nvSpPr>
        <p:spPr>
          <a:xfrm>
            <a:off x="2247753" y="4714272"/>
            <a:ext cx="1664238" cy="646331"/>
          </a:xfrm>
          <a:prstGeom prst="rect">
            <a:avLst/>
          </a:prstGeom>
          <a:noFill/>
        </p:spPr>
        <p:txBody>
          <a:bodyPr wrap="none" rtlCol="0">
            <a:spAutoFit/>
          </a:bodyPr>
          <a:lstStyle/>
          <a:p>
            <a:r>
              <a:rPr lang="zh-CN" altLang="en-US" dirty="0"/>
              <a:t>真菌（真核）</a:t>
            </a:r>
            <a:endParaRPr lang="en-US" altLang="zh-CN" dirty="0"/>
          </a:p>
          <a:p>
            <a:r>
              <a:rPr lang="en-US" altLang="zh-CN" dirty="0"/>
              <a:t>Fungus/fungi</a:t>
            </a:r>
            <a:endParaRPr lang="zh-CN" altLang="en-US" dirty="0"/>
          </a:p>
        </p:txBody>
      </p:sp>
      <p:sp>
        <p:nvSpPr>
          <p:cNvPr id="10" name="文本框 9">
            <a:extLst>
              <a:ext uri="{FF2B5EF4-FFF2-40B4-BE49-F238E27FC236}">
                <a16:creationId xmlns:a16="http://schemas.microsoft.com/office/drawing/2014/main" id="{253F86F5-F07F-4F6A-9197-A99194213462}"/>
              </a:ext>
            </a:extLst>
          </p:cNvPr>
          <p:cNvSpPr txBox="1"/>
          <p:nvPr/>
        </p:nvSpPr>
        <p:spPr>
          <a:xfrm>
            <a:off x="1297154" y="413952"/>
            <a:ext cx="1402948" cy="523220"/>
          </a:xfrm>
          <a:prstGeom prst="rect">
            <a:avLst/>
          </a:prstGeom>
          <a:noFill/>
        </p:spPr>
        <p:txBody>
          <a:bodyPr wrap="none" rtlCol="0">
            <a:spAutoFit/>
          </a:bodyPr>
          <a:lstStyle/>
          <a:p>
            <a:r>
              <a:rPr lang="en-US" altLang="zh-CN" sz="2800" dirty="0"/>
              <a:t>EXP 1A</a:t>
            </a:r>
            <a:endParaRPr lang="zh-CN" altLang="en-US" sz="2800" dirty="0"/>
          </a:p>
        </p:txBody>
      </p:sp>
    </p:spTree>
    <p:extLst>
      <p:ext uri="{BB962C8B-B14F-4D97-AF65-F5344CB8AC3E}">
        <p14:creationId xmlns:p14="http://schemas.microsoft.com/office/powerpoint/2010/main" val="3955409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3B40B4EA-AC8E-4175-8167-DC1F13DF3914}"/>
              </a:ext>
            </a:extLst>
          </p:cNvPr>
          <p:cNvPicPr>
            <a:picLocks noChangeAspect="1"/>
          </p:cNvPicPr>
          <p:nvPr/>
        </p:nvPicPr>
        <p:blipFill>
          <a:blip r:embed="rId2"/>
          <a:stretch>
            <a:fillRect/>
          </a:stretch>
        </p:blipFill>
        <p:spPr>
          <a:xfrm>
            <a:off x="1278410" y="337880"/>
            <a:ext cx="8572500" cy="2314575"/>
          </a:xfrm>
          <a:prstGeom prst="rect">
            <a:avLst/>
          </a:prstGeom>
        </p:spPr>
      </p:pic>
      <p:pic>
        <p:nvPicPr>
          <p:cNvPr id="8" name="图片 7">
            <a:extLst>
              <a:ext uri="{FF2B5EF4-FFF2-40B4-BE49-F238E27FC236}">
                <a16:creationId xmlns:a16="http://schemas.microsoft.com/office/drawing/2014/main" id="{766C5435-2085-4A8C-ABE0-F417F8B81587}"/>
              </a:ext>
            </a:extLst>
          </p:cNvPr>
          <p:cNvPicPr>
            <a:picLocks noChangeAspect="1"/>
          </p:cNvPicPr>
          <p:nvPr/>
        </p:nvPicPr>
        <p:blipFill>
          <a:blip r:embed="rId3"/>
          <a:stretch>
            <a:fillRect/>
          </a:stretch>
        </p:blipFill>
        <p:spPr>
          <a:xfrm>
            <a:off x="2005073" y="2811163"/>
            <a:ext cx="2635950" cy="4046837"/>
          </a:xfrm>
          <a:prstGeom prst="rect">
            <a:avLst/>
          </a:prstGeom>
        </p:spPr>
      </p:pic>
      <p:sp>
        <p:nvSpPr>
          <p:cNvPr id="9" name="文本框 8">
            <a:extLst>
              <a:ext uri="{FF2B5EF4-FFF2-40B4-BE49-F238E27FC236}">
                <a16:creationId xmlns:a16="http://schemas.microsoft.com/office/drawing/2014/main" id="{CAC85BB9-8738-45C6-9E5E-3E75D97E6779}"/>
              </a:ext>
            </a:extLst>
          </p:cNvPr>
          <p:cNvSpPr txBox="1"/>
          <p:nvPr/>
        </p:nvSpPr>
        <p:spPr>
          <a:xfrm>
            <a:off x="871151" y="3429000"/>
            <a:ext cx="928459" cy="369332"/>
          </a:xfrm>
          <a:prstGeom prst="rect">
            <a:avLst/>
          </a:prstGeom>
          <a:noFill/>
        </p:spPr>
        <p:txBody>
          <a:bodyPr wrap="none" rtlCol="0">
            <a:spAutoFit/>
          </a:bodyPr>
          <a:lstStyle/>
          <a:p>
            <a:r>
              <a:rPr lang="en-US" altLang="zh-CN" dirty="0"/>
              <a:t>Page 8</a:t>
            </a:r>
            <a:endParaRPr lang="zh-CN" altLang="en-US" dirty="0"/>
          </a:p>
        </p:txBody>
      </p:sp>
      <p:cxnSp>
        <p:nvCxnSpPr>
          <p:cNvPr id="13" name="直接连接符 12">
            <a:extLst>
              <a:ext uri="{FF2B5EF4-FFF2-40B4-BE49-F238E27FC236}">
                <a16:creationId xmlns:a16="http://schemas.microsoft.com/office/drawing/2014/main" id="{B117CB88-9951-4551-9D80-956C6E15B346}"/>
              </a:ext>
            </a:extLst>
          </p:cNvPr>
          <p:cNvCxnSpPr/>
          <p:nvPr/>
        </p:nvCxnSpPr>
        <p:spPr>
          <a:xfrm>
            <a:off x="6913605" y="2539314"/>
            <a:ext cx="124803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7490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A727B-900B-4ACB-8FB8-62B0644D2CD3}"/>
              </a:ext>
            </a:extLst>
          </p:cNvPr>
          <p:cNvSpPr>
            <a:spLocks noGrp="1"/>
          </p:cNvSpPr>
          <p:nvPr>
            <p:ph type="title"/>
          </p:nvPr>
        </p:nvSpPr>
        <p:spPr>
          <a:xfrm>
            <a:off x="838200" y="340411"/>
            <a:ext cx="10515600" cy="1574886"/>
          </a:xfrm>
        </p:spPr>
        <p:txBody>
          <a:bodyPr>
            <a:normAutofit/>
          </a:bodyPr>
          <a:lstStyle/>
          <a:p>
            <a:pPr>
              <a:lnSpc>
                <a:spcPct val="100000"/>
              </a:lnSpc>
            </a:pPr>
            <a:r>
              <a:rPr lang="en-US" altLang="zh-CN" sz="3200" b="1" dirty="0">
                <a:effectLst/>
                <a:latin typeface="Times New Roman" panose="02020603050405020304" pitchFamily="18" charset="0"/>
                <a:ea typeface="宋体" panose="02010600030101010101" pitchFamily="2" charset="-122"/>
                <a:cs typeface="宋体" panose="02010600030101010101" pitchFamily="2" charset="-122"/>
              </a:rPr>
              <a:t>EXPERIMENT 2: Contamination and aseptic techniques</a:t>
            </a:r>
            <a:br>
              <a:rPr lang="en-US" altLang="zh-CN" sz="3200" b="1" dirty="0">
                <a:effectLst/>
                <a:latin typeface="Times New Roman" panose="02020603050405020304" pitchFamily="18" charset="0"/>
                <a:ea typeface="宋体" panose="02010600030101010101" pitchFamily="2" charset="-122"/>
                <a:cs typeface="宋体" panose="02010600030101010101" pitchFamily="2" charset="-122"/>
              </a:rPr>
            </a:br>
            <a:r>
              <a:rPr lang="en-US" altLang="zh-CN" sz="3200" b="1" dirty="0">
                <a:effectLst/>
                <a:latin typeface="Times New Roman" panose="02020603050405020304" pitchFamily="18" charset="0"/>
                <a:ea typeface="宋体" panose="02010600030101010101" pitchFamily="2" charset="-122"/>
                <a:cs typeface="宋体" panose="02010600030101010101" pitchFamily="2" charset="-122"/>
              </a:rPr>
              <a:t>                                 </a:t>
            </a:r>
            <a:r>
              <a:rPr lang="zh-CN" altLang="en-US" sz="3200" b="1" dirty="0">
                <a:effectLst/>
                <a:latin typeface="Times New Roman" panose="02020603050405020304" pitchFamily="18" charset="0"/>
                <a:ea typeface="宋体" panose="02010600030101010101" pitchFamily="2" charset="-122"/>
                <a:cs typeface="宋体" panose="02010600030101010101" pitchFamily="2" charset="-122"/>
              </a:rPr>
              <a:t>污染与无菌技术</a:t>
            </a:r>
            <a:endParaRPr lang="zh-CN" altLang="en-US" sz="3200" dirty="0"/>
          </a:p>
        </p:txBody>
      </p:sp>
      <p:sp>
        <p:nvSpPr>
          <p:cNvPr id="6" name="文本框 5">
            <a:extLst>
              <a:ext uri="{FF2B5EF4-FFF2-40B4-BE49-F238E27FC236}">
                <a16:creationId xmlns:a16="http://schemas.microsoft.com/office/drawing/2014/main" id="{C89B0A40-5702-4CC9-9DF4-7942E066F403}"/>
              </a:ext>
            </a:extLst>
          </p:cNvPr>
          <p:cNvSpPr txBox="1"/>
          <p:nvPr/>
        </p:nvSpPr>
        <p:spPr>
          <a:xfrm>
            <a:off x="630266" y="2539654"/>
            <a:ext cx="10931468" cy="4274503"/>
          </a:xfrm>
          <a:prstGeom prst="rect">
            <a:avLst/>
          </a:prstGeom>
          <a:noFill/>
        </p:spPr>
        <p:txBody>
          <a:bodyPr wrap="square" rtlCol="0">
            <a:spAutoFit/>
          </a:bodyPr>
          <a:lstStyle/>
          <a:p>
            <a:pPr algn="l">
              <a:lnSpc>
                <a:spcPct val="150000"/>
              </a:lnSpc>
              <a:spcBef>
                <a:spcPts val="600"/>
              </a:spcBef>
              <a:spcAft>
                <a:spcPts val="600"/>
              </a:spcAft>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INTRODUCTION</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Contamination</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by microorganisms is a major problem in lab. Bacteria, mycoplasma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支原体</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yeast, and fungal spores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孢子</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may be introduced via the operator, the atmosphere, work surfaces, solutions and many other sources.     </a:t>
            </a:r>
          </a:p>
          <a:p>
            <a:pPr algn="just">
              <a:lnSpc>
                <a:spcPct val="150000"/>
              </a:lnSpc>
            </a:pP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u="sng"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Aseptic technique</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无菌技术</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is a combination of procedures designed to reduce the probability of infection. </a:t>
            </a:r>
          </a:p>
          <a:p>
            <a:pPr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anose="02010600030101010101" pitchFamily="2" charset="-122"/>
              </a:rPr>
              <a:t>Proper aseptic technique</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Ø"/>
            </a:pP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Autoclave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高压灭菌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or sterile filter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过滤除菌，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Exp </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4</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marL="285750" indent="-285750" algn="just">
              <a:lnSpc>
                <a:spcPct val="150000"/>
              </a:lnSpc>
              <a:buFont typeface="Wingdings" panose="05000000000000000000" pitchFamily="2" charset="2"/>
              <a:buChar char="Ø"/>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70% ethanol (EtOH)</a:t>
            </a:r>
          </a:p>
          <a:p>
            <a:pPr marL="285750" indent="-285750" algn="just">
              <a:lnSpc>
                <a:spcPct val="150000"/>
              </a:lnSpc>
              <a:buFont typeface="Wingdings" panose="05000000000000000000" pitchFamily="2" charset="2"/>
              <a:buChar char="Ø"/>
            </a:pP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Ultraviolet sterilization (UV)</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紫外灭菌</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p>
          <a:p>
            <a:pPr marL="285750" indent="-285750" algn="just">
              <a:lnSpc>
                <a:spcPct val="150000"/>
              </a:lnSpc>
              <a:buFont typeface="Wingdings" panose="05000000000000000000" pitchFamily="2" charset="2"/>
              <a:buChar char="Ø"/>
            </a:pP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Ethylene oxide sterilization (</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环氧乙烷灭菌</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p>
          <a:p>
            <a:pPr algn="just">
              <a:lnSpc>
                <a:spcPct val="150000"/>
              </a:lnSpc>
            </a:pP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55614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2C00282-0366-4577-8AFF-CFB89ADDEB90}"/>
              </a:ext>
            </a:extLst>
          </p:cNvPr>
          <p:cNvSpPr txBox="1"/>
          <p:nvPr/>
        </p:nvSpPr>
        <p:spPr>
          <a:xfrm>
            <a:off x="1156900" y="566865"/>
            <a:ext cx="9612013" cy="4613699"/>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General Rules of aseptic technique in lab:</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50000"/>
              </a:lnSpc>
              <a:buFont typeface="+mj-lt"/>
              <a:buAutoNum type="arabicPeriod"/>
              <a:tabLst>
                <a:tab pos="914400" algn="l"/>
              </a:tabLst>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Use sterile tips, reagents and media</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for work to keep them that way.  (Autoclave or sterile filter as appropriate; do not reuse tips; clean the outside of reagent bottles with 70% ethanol (EtOH) when necessary.)</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50000"/>
              </a:lnSpc>
              <a:buFont typeface="+mj-lt"/>
              <a:buAutoNum type="arabicPeriod"/>
              <a:tabLst>
                <a:tab pos="914400" algn="l"/>
              </a:tabLst>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Wear gloves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–but note that these are to protect you, and are not inherently clean!</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50000"/>
              </a:lnSpc>
              <a:buFont typeface="+mj-lt"/>
              <a:buAutoNum type="arabicPeriod"/>
              <a:tabLst>
                <a:tab pos="914400" algn="l"/>
              </a:tabLst>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Keep the work surface clean</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-clean with 70% </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EtOH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and keep the work area clear enough to allow work without reaching over an item and preventing inadvertent brushing of a sterile tip against another object.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50000"/>
              </a:lnSpc>
              <a:buFont typeface="+mj-lt"/>
              <a:buAutoNum type="arabicPeriod"/>
              <a:tabLst>
                <a:tab pos="914400" algn="l"/>
              </a:tabLst>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Keep bottles, flasks and tubes covered as much as possible.</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50000"/>
              </a:lnSpc>
              <a:buFont typeface="+mj-lt"/>
              <a:buAutoNum type="arabicPeriod"/>
              <a:tabLst>
                <a:tab pos="914400" algn="l"/>
              </a:tabLst>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Clean bench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实验操作台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surface and your glove with 70% EtOH often (s), and dry them with paper towels.</a:t>
            </a:r>
            <a:endParaRPr lang="zh-CN" altLang="en-US" dirty="0"/>
          </a:p>
        </p:txBody>
      </p:sp>
    </p:spTree>
    <p:extLst>
      <p:ext uri="{BB962C8B-B14F-4D97-AF65-F5344CB8AC3E}">
        <p14:creationId xmlns:p14="http://schemas.microsoft.com/office/powerpoint/2010/main" val="1592798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400BC36-1AC2-4033-979A-05B4F90F4747}"/>
              </a:ext>
            </a:extLst>
          </p:cNvPr>
          <p:cNvSpPr txBox="1"/>
          <p:nvPr/>
        </p:nvSpPr>
        <p:spPr>
          <a:xfrm>
            <a:off x="963569" y="1413259"/>
            <a:ext cx="10483164" cy="664862"/>
          </a:xfrm>
          <a:prstGeom prst="rect">
            <a:avLst/>
          </a:prstGeom>
          <a:noFill/>
        </p:spPr>
        <p:txBody>
          <a:bodyPr wrap="square">
            <a:spAutoFit/>
          </a:bodyPr>
          <a:lstStyle/>
          <a:p>
            <a:pPr algn="just">
              <a:lnSpc>
                <a:spcPct val="150000"/>
              </a:lnSpc>
            </a:pPr>
            <a:r>
              <a:rPr lang="en-US"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Most cell culture work is done in </a:t>
            </a:r>
            <a:r>
              <a:rPr lang="en-US" altLang="zh-CN" sz="2800" u="sng"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 laminar flow hood</a:t>
            </a:r>
            <a:r>
              <a:rPr lang="en-US" altLang="zh-CN" sz="2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超净台</a:t>
            </a:r>
            <a:r>
              <a:rPr lang="en-US" altLang="zh-CN" sz="2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F8E225A7-01C6-447B-AA93-1F4CADA3CEC1}"/>
              </a:ext>
            </a:extLst>
          </p:cNvPr>
          <p:cNvSpPr txBox="1"/>
          <p:nvPr/>
        </p:nvSpPr>
        <p:spPr>
          <a:xfrm>
            <a:off x="1912981" y="2729142"/>
            <a:ext cx="4115935" cy="2585323"/>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en-US" altLang="zh-CN" sz="2800" b="1" u="sng" dirty="0">
                <a:effectLst/>
                <a:latin typeface="Times New Roman" panose="02020603050405020304" pitchFamily="18" charset="0"/>
                <a:ea typeface="Times New Roman" panose="02020603050405020304" pitchFamily="18" charset="0"/>
                <a:cs typeface="Times New Roman" panose="02020603050405020304" pitchFamily="18" charset="0"/>
              </a:rPr>
              <a:t>Start-up </a:t>
            </a:r>
            <a:r>
              <a:rPr lang="en-US" altLang="zh-CN" sz="2800" b="1" u="sng" dirty="0">
                <a:latin typeface="Times New Roman" panose="02020603050405020304" pitchFamily="18" charset="0"/>
                <a:ea typeface="Times New Roman" panose="02020603050405020304" pitchFamily="18" charset="0"/>
                <a:cs typeface="Times New Roman" panose="02020603050405020304" pitchFamily="18" charset="0"/>
              </a:rPr>
              <a:t>I</a:t>
            </a:r>
            <a:r>
              <a:rPr lang="en-US" altLang="zh-CN" sz="2800" b="1" u="sng" dirty="0">
                <a:effectLst/>
                <a:latin typeface="Times New Roman" panose="02020603050405020304" pitchFamily="18" charset="0"/>
                <a:ea typeface="Times New Roman" panose="02020603050405020304" pitchFamily="18" charset="0"/>
                <a:cs typeface="Times New Roman" panose="02020603050405020304" pitchFamily="18" charset="0"/>
              </a:rPr>
              <a:t>n The Hood</a:t>
            </a:r>
          </a:p>
          <a:p>
            <a:pPr marL="285750" indent="-285750">
              <a:lnSpc>
                <a:spcPct val="150000"/>
              </a:lnSpc>
              <a:buFont typeface="Wingdings" panose="05000000000000000000" pitchFamily="2" charset="2"/>
              <a:buChar char="Ø"/>
            </a:pPr>
            <a:r>
              <a:rPr lang="en-US" altLang="zh-CN" sz="2800" b="1" u="sng" kern="100" dirty="0">
                <a:effectLst/>
                <a:latin typeface="Times New Roman" panose="02020603050405020304" pitchFamily="18" charset="0"/>
                <a:ea typeface="宋体" panose="02010600030101010101" pitchFamily="2" charset="-122"/>
                <a:cs typeface="Times New Roman" panose="02020603050405020304" pitchFamily="18" charset="0"/>
              </a:rPr>
              <a:t>Working In The Hood</a:t>
            </a:r>
            <a:endParaRPr lang="en-US" altLang="zh-CN" sz="2800" b="1" u="sng"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Wingdings" panose="05000000000000000000" pitchFamily="2" charset="2"/>
              <a:buChar char="Ø"/>
            </a:pPr>
            <a:r>
              <a:rPr lang="en-US" altLang="zh-CN" sz="2800" b="1" u="sng" dirty="0">
                <a:effectLst/>
                <a:latin typeface="Times New Roman" panose="02020603050405020304" pitchFamily="18" charset="0"/>
                <a:ea typeface="Times New Roman" panose="02020603050405020304" pitchFamily="18" charset="0"/>
                <a:cs typeface="Times New Roman" panose="02020603050405020304" pitchFamily="18" charset="0"/>
              </a:rPr>
              <a:t>When You </a:t>
            </a:r>
            <a:r>
              <a:rPr lang="en-US" altLang="zh-CN" sz="2800" b="1" u="sng" dirty="0">
                <a:latin typeface="Times New Roman" panose="02020603050405020304" pitchFamily="18" charset="0"/>
                <a:ea typeface="Times New Roman" panose="02020603050405020304" pitchFamily="18" charset="0"/>
                <a:cs typeface="Times New Roman" panose="02020603050405020304" pitchFamily="18" charset="0"/>
              </a:rPr>
              <a:t>A</a:t>
            </a:r>
            <a:r>
              <a:rPr lang="en-US" altLang="zh-CN" sz="2800" b="1" u="sng" dirty="0">
                <a:effectLst/>
                <a:latin typeface="Times New Roman" panose="02020603050405020304" pitchFamily="18" charset="0"/>
                <a:ea typeface="Times New Roman" panose="02020603050405020304" pitchFamily="18" charset="0"/>
                <a:cs typeface="Times New Roman" panose="02020603050405020304" pitchFamily="18" charset="0"/>
              </a:rPr>
              <a:t>re Finished</a:t>
            </a:r>
            <a:endParaRPr lang="zh-CN" altLang="zh-CN" sz="28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zh-CN" altLang="zh-CN" sz="1800" dirty="0">
              <a:effectLst/>
              <a:latin typeface="Times New Roman" panose="02020603050405020304" pitchFamily="18" charset="0"/>
              <a:ea typeface="Times New Roman" panose="02020603050405020304" pitchFamily="18" charset="0"/>
            </a:endParaRPr>
          </a:p>
          <a:p>
            <a:endParaRPr lang="zh-CN" altLang="en-US" dirty="0"/>
          </a:p>
        </p:txBody>
      </p:sp>
    </p:spTree>
    <p:extLst>
      <p:ext uri="{BB962C8B-B14F-4D97-AF65-F5344CB8AC3E}">
        <p14:creationId xmlns:p14="http://schemas.microsoft.com/office/powerpoint/2010/main" val="3725482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8768CA7-A137-4A3E-B75D-A4DCEAEDB975}"/>
              </a:ext>
            </a:extLst>
          </p:cNvPr>
          <p:cNvSpPr>
            <a:spLocks noGrp="1"/>
          </p:cNvSpPr>
          <p:nvPr>
            <p:ph idx="1"/>
          </p:nvPr>
        </p:nvSpPr>
        <p:spPr>
          <a:xfrm>
            <a:off x="1676400" y="1059506"/>
            <a:ext cx="10515600" cy="4351338"/>
          </a:xfrm>
        </p:spPr>
        <p:txBody>
          <a:bodyPr/>
          <a:lstStyle/>
          <a:p>
            <a:pPr marL="0" indent="0" algn="l">
              <a:lnSpc>
                <a:spcPct val="150000"/>
              </a:lnSpc>
              <a:spcBef>
                <a:spcPts val="600"/>
              </a:spcBef>
              <a:spcAft>
                <a:spcPts val="600"/>
              </a:spcAft>
              <a:buNone/>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OBJECTIVES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0" indent="0" algn="just">
              <a:lnSpc>
                <a:spcPct val="150000"/>
              </a:lnSpc>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the end of this experiment, you should:</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50000"/>
              </a:lnSpc>
              <a:buFont typeface="+mj-lt"/>
              <a:buAutoNum type="arabicPeriod"/>
            </a:pPr>
            <a:r>
              <a:rPr lang="en-US" altLang="zh-CN" sz="1800" dirty="0">
                <a:solidFill>
                  <a:srgbClr val="000000"/>
                </a:solidFill>
                <a:effectLst/>
                <a:latin typeface="Times New Roman" panose="02020603050405020304" pitchFamily="18" charset="0"/>
                <a:ea typeface="宋体" panose="02010600030101010101" pitchFamily="2" charset="-122"/>
              </a:rPr>
              <a:t>Know that microorganisms are ubiquitous</a:t>
            </a:r>
            <a:endParaRPr lang="zh-CN" altLang="zh-CN" sz="1800" dirty="0">
              <a:effectLst/>
              <a:latin typeface="Times New Roman" panose="02020603050405020304" pitchFamily="18" charset="0"/>
              <a:ea typeface="宋体" panose="02010600030101010101" pitchFamily="2" charset="-122"/>
            </a:endParaRPr>
          </a:p>
          <a:p>
            <a:pPr marL="342900" lvl="0" indent="-342900" algn="just">
              <a:lnSpc>
                <a:spcPct val="150000"/>
              </a:lnSpc>
              <a:buFont typeface="+mj-lt"/>
              <a:buAutoNum type="arabicPeriod"/>
            </a:pPr>
            <a:r>
              <a:rPr lang="en-US" altLang="zh-CN" sz="1800" dirty="0">
                <a:solidFill>
                  <a:srgbClr val="000000"/>
                </a:solidFill>
                <a:effectLst/>
                <a:latin typeface="Times New Roman" panose="02020603050405020304" pitchFamily="18" charset="0"/>
                <a:ea typeface="宋体" panose="02010600030101010101" pitchFamily="2" charset="-122"/>
              </a:rPr>
              <a:t>Know why aseptic technique is essential in the laboratory</a:t>
            </a:r>
            <a:endParaRPr lang="zh-CN" altLang="zh-CN" sz="1800" dirty="0">
              <a:effectLst/>
              <a:latin typeface="Times New Roman" panose="02020603050405020304" pitchFamily="18" charset="0"/>
              <a:ea typeface="宋体" panose="02010600030101010101" pitchFamily="2" charset="-122"/>
            </a:endParaRPr>
          </a:p>
          <a:p>
            <a:pPr marL="342900" lvl="0" indent="-342900" algn="just">
              <a:lnSpc>
                <a:spcPct val="150000"/>
              </a:lnSpc>
              <a:buFont typeface="+mj-lt"/>
              <a:buAutoNum type="arabicPeriod"/>
            </a:pPr>
            <a:r>
              <a:rPr lang="en-US" altLang="zh-CN" sz="1800" dirty="0">
                <a:solidFill>
                  <a:srgbClr val="000000"/>
                </a:solidFill>
                <a:effectLst/>
                <a:latin typeface="Times New Roman" panose="02020603050405020304" pitchFamily="18" charset="0"/>
                <a:ea typeface="宋体" panose="02010600030101010101" pitchFamily="2" charset="-122"/>
              </a:rPr>
              <a:t>Know how to use a laminar flow hood		</a:t>
            </a:r>
            <a:endParaRPr lang="zh-CN" altLang="zh-CN" sz="1800" dirty="0">
              <a:effectLst/>
              <a:latin typeface="Times New Roman" panose="02020603050405020304" pitchFamily="18" charset="0"/>
              <a:ea typeface="宋体" panose="02010600030101010101" pitchFamily="2" charset="-122"/>
            </a:endParaRPr>
          </a:p>
          <a:p>
            <a:pPr marL="342900" lvl="0" indent="-342900" algn="just">
              <a:lnSpc>
                <a:spcPct val="150000"/>
              </a:lnSpc>
              <a:buFont typeface="+mj-lt"/>
              <a:buAutoNum type="arabicPeriod"/>
            </a:pPr>
            <a:r>
              <a:rPr lang="en-US" altLang="zh-CN" sz="1800" dirty="0">
                <a:solidFill>
                  <a:srgbClr val="000000"/>
                </a:solidFill>
                <a:effectLst/>
                <a:latin typeface="Times New Roman" panose="02020603050405020304" pitchFamily="18" charset="0"/>
                <a:ea typeface="宋体" panose="02010600030101010101" pitchFamily="2" charset="-122"/>
              </a:rPr>
              <a:t>Be able to describe bacterial colonies on the surface of agar media</a:t>
            </a:r>
            <a:endParaRPr lang="zh-CN" altLang="zh-CN" sz="1800" dirty="0">
              <a:effectLst/>
              <a:latin typeface="Times New Roman" panose="02020603050405020304" pitchFamily="18" charset="0"/>
              <a:ea typeface="宋体" panose="02010600030101010101" pitchFamily="2" charset="-122"/>
            </a:endParaRPr>
          </a:p>
          <a:p>
            <a:endParaRPr lang="zh-CN" altLang="en-US" dirty="0"/>
          </a:p>
        </p:txBody>
      </p:sp>
    </p:spTree>
    <p:extLst>
      <p:ext uri="{BB962C8B-B14F-4D97-AF65-F5344CB8AC3E}">
        <p14:creationId xmlns:p14="http://schemas.microsoft.com/office/powerpoint/2010/main" val="1083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088756-B197-441B-87A0-BDA8F51CF9E2}"/>
              </a:ext>
            </a:extLst>
          </p:cNvPr>
          <p:cNvSpPr>
            <a:spLocks noGrp="1"/>
          </p:cNvSpPr>
          <p:nvPr>
            <p:ph type="title"/>
          </p:nvPr>
        </p:nvSpPr>
        <p:spPr/>
        <p:txBody>
          <a:bodyPr/>
          <a:lstStyle/>
          <a:p>
            <a:r>
              <a:rPr lang="en-US" altLang="zh-CN" dirty="0"/>
              <a:t>Exp.2A </a:t>
            </a:r>
            <a:endParaRPr lang="zh-CN" altLang="en-US" dirty="0"/>
          </a:p>
        </p:txBody>
      </p:sp>
      <p:sp>
        <p:nvSpPr>
          <p:cNvPr id="5" name="文本框 4">
            <a:extLst>
              <a:ext uri="{FF2B5EF4-FFF2-40B4-BE49-F238E27FC236}">
                <a16:creationId xmlns:a16="http://schemas.microsoft.com/office/drawing/2014/main" id="{040F6D47-066F-4F9C-923C-4871BD10E548}"/>
              </a:ext>
            </a:extLst>
          </p:cNvPr>
          <p:cNvSpPr txBox="1"/>
          <p:nvPr/>
        </p:nvSpPr>
        <p:spPr>
          <a:xfrm>
            <a:off x="1397858" y="1791084"/>
            <a:ext cx="8005634" cy="3030317"/>
          </a:xfrm>
          <a:prstGeom prst="rect">
            <a:avLst/>
          </a:prstGeom>
          <a:noFill/>
        </p:spPr>
        <p:txBody>
          <a:bodyPr wrap="square">
            <a:spAutoFit/>
          </a:bodyPr>
          <a:lstStyle/>
          <a:p>
            <a:pPr algn="l">
              <a:lnSpc>
                <a:spcPct val="150000"/>
              </a:lnSpc>
              <a:spcBef>
                <a:spcPts val="600"/>
              </a:spcBef>
              <a:spcAft>
                <a:spcPts val="600"/>
              </a:spcAft>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EQUIPMENTS and MATERIALS</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 laminar flow hood</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Incubator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培养箱</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Parafilm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封口膜</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 × </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LB (Luria-Bertani) agar plates (Appendix D)</a:t>
            </a: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Sterile cotton swabs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无菌棉签</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70% EtOH in a spray bottle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装有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70%</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乙醇的喷壶</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0514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DBC8BC-1574-4ABC-A3CA-BC1006730D0B}"/>
              </a:ext>
            </a:extLst>
          </p:cNvPr>
          <p:cNvSpPr>
            <a:spLocks noGrp="1"/>
          </p:cNvSpPr>
          <p:nvPr>
            <p:ph type="title"/>
          </p:nvPr>
        </p:nvSpPr>
        <p:spPr/>
        <p:txBody>
          <a:bodyPr/>
          <a:lstStyle/>
          <a:p>
            <a:r>
              <a:rPr lang="en-US" altLang="zh-CN" dirty="0"/>
              <a:t>Exp.2A  (Page15)</a:t>
            </a:r>
            <a:endParaRPr lang="zh-CN" altLang="en-US" dirty="0"/>
          </a:p>
        </p:txBody>
      </p:sp>
      <p:sp>
        <p:nvSpPr>
          <p:cNvPr id="3" name="内容占位符 2">
            <a:extLst>
              <a:ext uri="{FF2B5EF4-FFF2-40B4-BE49-F238E27FC236}">
                <a16:creationId xmlns:a16="http://schemas.microsoft.com/office/drawing/2014/main" id="{DFFD30C0-D6B6-49F1-8918-B729ECF38376}"/>
              </a:ext>
            </a:extLst>
          </p:cNvPr>
          <p:cNvSpPr>
            <a:spLocks noGrp="1"/>
          </p:cNvSpPr>
          <p:nvPr>
            <p:ph idx="1"/>
          </p:nvPr>
        </p:nvSpPr>
        <p:spPr/>
        <p:txBody>
          <a:bodyPr>
            <a:normAutofit fontScale="70000" lnSpcReduction="20000"/>
          </a:bodyPr>
          <a:lstStyle/>
          <a:p>
            <a:pPr marL="0" indent="0">
              <a:lnSpc>
                <a:spcPct val="160000"/>
              </a:lnSpc>
              <a:buNone/>
            </a:pPr>
            <a:r>
              <a:rPr lang="en-US" altLang="zh-CN" dirty="0"/>
              <a:t>Method</a:t>
            </a:r>
          </a:p>
          <a:p>
            <a:pPr marL="514350" indent="-514350">
              <a:lnSpc>
                <a:spcPct val="160000"/>
              </a:lnSpc>
              <a:buAutoNum type="arabicPeriod"/>
            </a:pPr>
            <a:r>
              <a:rPr lang="en-US" altLang="zh-CN" dirty="0"/>
              <a:t>Label all plates </a:t>
            </a:r>
            <a:r>
              <a:rPr lang="en-US" altLang="zh-CN" dirty="0">
                <a:solidFill>
                  <a:srgbClr val="FF0000"/>
                </a:solidFill>
              </a:rPr>
              <a:t>on the base </a:t>
            </a:r>
            <a:r>
              <a:rPr lang="en-US" altLang="zh-CN" dirty="0"/>
              <a:t>(agar side) around the edge in </a:t>
            </a:r>
            <a:r>
              <a:rPr lang="en-US" altLang="zh-CN" dirty="0">
                <a:solidFill>
                  <a:srgbClr val="FF0000"/>
                </a:solidFill>
              </a:rPr>
              <a:t>small letters</a:t>
            </a:r>
            <a:r>
              <a:rPr lang="en-US" altLang="zh-CN" dirty="0"/>
              <a:t>. Divide a LB plate into 3 sections. (Fig.2.1)</a:t>
            </a:r>
          </a:p>
          <a:p>
            <a:pPr marL="514350" indent="-514350">
              <a:lnSpc>
                <a:spcPct val="160000"/>
              </a:lnSpc>
              <a:buAutoNum type="arabicPeriod"/>
            </a:pPr>
            <a:r>
              <a:rPr lang="en-US" altLang="zh-CN" dirty="0"/>
              <a:t>Inoculate each section of the plate with the appropriate swab.</a:t>
            </a:r>
          </a:p>
          <a:p>
            <a:pPr marL="514350" indent="-514350">
              <a:lnSpc>
                <a:spcPct val="160000"/>
              </a:lnSpc>
              <a:buAutoNum type="arabicPeriod"/>
            </a:pPr>
            <a:r>
              <a:rPr lang="en-US" altLang="zh-CN" dirty="0"/>
              <a:t>Divide another LB plate into 2 sections.</a:t>
            </a:r>
          </a:p>
          <a:p>
            <a:pPr marL="514350" indent="-514350">
              <a:lnSpc>
                <a:spcPct val="160000"/>
              </a:lnSpc>
              <a:buFont typeface="Arial" panose="020B0604020202020204" pitchFamily="34" charset="0"/>
              <a:buAutoNum type="arabicPeriod"/>
            </a:pPr>
            <a:r>
              <a:rPr lang="en-US" altLang="zh-CN" dirty="0"/>
              <a:t>Open the 3</a:t>
            </a:r>
            <a:r>
              <a:rPr lang="en-US" altLang="zh-CN" baseline="30000" dirty="0"/>
              <a:t>rd</a:t>
            </a:r>
            <a:r>
              <a:rPr lang="en-US" altLang="zh-CN" dirty="0"/>
              <a:t> LB plate opened in the hood after UV for 20 mins. (at least 30 mins)</a:t>
            </a:r>
          </a:p>
          <a:p>
            <a:pPr marL="514350" indent="-514350">
              <a:lnSpc>
                <a:spcPct val="160000"/>
              </a:lnSpc>
              <a:buAutoNum type="arabicPeriod"/>
            </a:pPr>
            <a:r>
              <a:rPr lang="en-US" altLang="zh-CN" dirty="0"/>
              <a:t>Open the 4</a:t>
            </a:r>
            <a:r>
              <a:rPr lang="en-US" altLang="zh-CN" baseline="30000" dirty="0"/>
              <a:t>th</a:t>
            </a:r>
            <a:r>
              <a:rPr lang="en-US" altLang="zh-CN" dirty="0"/>
              <a:t> LB plate and one blood plate near to</a:t>
            </a:r>
            <a:r>
              <a:rPr lang="zh-CN" altLang="en-US" dirty="0"/>
              <a:t> </a:t>
            </a:r>
            <a:r>
              <a:rPr lang="en-US" altLang="zh-CN" dirty="0"/>
              <a:t>window. (at least 30 mins)</a:t>
            </a:r>
            <a:endParaRPr lang="zh-CN" altLang="en-US" dirty="0"/>
          </a:p>
        </p:txBody>
      </p:sp>
    </p:spTree>
    <p:extLst>
      <p:ext uri="{BB962C8B-B14F-4D97-AF65-F5344CB8AC3E}">
        <p14:creationId xmlns:p14="http://schemas.microsoft.com/office/powerpoint/2010/main" val="347371991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1201</Words>
  <Application>Microsoft Office PowerPoint</Application>
  <PresentationFormat>宽屏</PresentationFormat>
  <Paragraphs>122</Paragraphs>
  <Slides>19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等线</vt:lpstr>
      <vt:lpstr>华文新魏</vt:lpstr>
      <vt:lpstr>宋体</vt:lpstr>
      <vt:lpstr>微软雅黑</vt:lpstr>
      <vt:lpstr>Arial</vt:lpstr>
      <vt:lpstr>Calibri</vt:lpstr>
      <vt:lpstr>Times New Roman</vt:lpstr>
      <vt:lpstr>Wingdings</vt:lpstr>
      <vt:lpstr>Office 主题​​</vt:lpstr>
      <vt:lpstr>PowerPoint 演示文稿</vt:lpstr>
      <vt:lpstr>成绩构成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EXPERIMENT 2: Contamination and aseptic techniques                                  污染与无菌技术</vt:lpstr>
      <vt:lpstr>PowerPoint 演示文稿</vt:lpstr>
      <vt:lpstr>PowerPoint 演示文稿</vt:lpstr>
      <vt:lpstr>PowerPoint 演示文稿</vt:lpstr>
      <vt:lpstr>Exp.2A </vt:lpstr>
      <vt:lpstr>Exp.2A  (Page15)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 品美</dc:creator>
  <cp:lastModifiedBy>不纠结</cp:lastModifiedBy>
  <cp:revision>36</cp:revision>
  <dcterms:created xsi:type="dcterms:W3CDTF">2022-10-19T06:09:22Z</dcterms:created>
  <dcterms:modified xsi:type="dcterms:W3CDTF">2024-09-11T05:54:21Z</dcterms:modified>
</cp:coreProperties>
</file>